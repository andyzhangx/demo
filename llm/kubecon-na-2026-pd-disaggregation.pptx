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operating model, not a benchmark claim. Prefill computes the prompt state; decode consumes that state to generate tokens. This is a conceptual title diagram, not the full request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agenda brief. Spend the time on the problem, the orchestration abstraction, and production tradeoffs. Preserve the advanced diagrams for a faster walkthrough or questions if needed.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typical workload characteristics, not universal hardware laws. Prefill latency contributes to TTFT; decode performance is also governed by inter-token latency, active KV memory, and concurrency. No timing or token-size ratio is implied by the diagram.</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claim every aggregated deployment performs poorly. Continuous batching and chunked prefill can reduce interference. The point is that a shared resource and scaling boundary still constrains independent capacity shaping.</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data direction is prefill to decode. The low-level transfer can be a decode-initiated pull. Network and transport support depend on the deployment. Separate pools allow different instance types, replica counts, and tensor-parallel settings.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value is independent capacity shaping. Long prompts alone do not prove P/D wins; combine workload measurements with transfer-fabric and operational constraints. A fast GPU-to-GPU path lowers the barrier; cross-node P/D requires closer attention to the transfer path.</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blanket promises. The break-even point is empirical and model-, traffic-, and fabric-dependent. Aggregated serving can be simpler and faster for the wrong P/D workload.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operational dependency map, not a request-flow diagram. Explain why assembling correct components by hand still leaves brittle contracts between them.</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checked 2026-10-20. This is a capability and abstraction map, not a maturity, performance, or market-share ranking. The Kubernetes packaging column highlights a representative API; it is not an exhaustive feature inventory. Dynamo has a Kubernetes Operator and DynamoGraphDeployment: do not characterize it as lacking declarative orchestration. AIBrix StormService/RoleSet manages multi-role workloads. KServe LLMInferenceService explicitly wraps llm-d architecture, so it is not a separate underlying P/D engine. Ray Serve models P/D as application deployments; KubeRay supplies Kubernetes lifecycle management. The vLLM Production Stack tutorial supplies a Helm-based P/D deployment using LMCache/NIXL and a router; its sample versions are not a recommendation. LWS DisaggregatedSet is a workload controller, not a complete serving data plane. SGLang, vLLM and TensorRT-LLM are engines; NIXL, LMCache and Mooncake are transfer/cache building blocks, not standalone Kubernetes serving platforms. Latest documentation can describe newer or alpha capabilities: validate release compatibility and production maturity separately. Replace the old claim that the ecosystem lacks a declarative Kubernetes abstraction.</a:t>
            </a:r>
          </a:p>
          <a:p/>
          <a:p>
            <a:r>
              <a:t>Narrative source: kubecon-na-2026-pd-disaggregation.md</a:t>
            </a:r>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Narrative source: kubecon-na-2026-pd-disaggregation.md</a:t>
            </a: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capability progression, not a strict ownership chain. InferencePool is the Gateway API Inference Extension routing abstraction. KAITO manages the objects and wiring around the runtime.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mental model persists: declare intent, observe status, and let controllers reconcile. InferencePool belongs to GWIE rather than being a KAITO-defined CRD. These objects have distinct jobs and should not be presented as interchangeable.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Avoid calling KAITO the scheduler or vLLM the orchestrator. The EPP participates in the Gateway request-routing decision; the decode-side routing proxy orchestrates the P/D request lifecycle.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ecosystem building blocks, not all resources owned by the same controller. KEDA ScaledObjects target the InferenceSet scale subresource; KEDA and HPA implement the scaling loop. Runtime and transport versions matter.</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MRI P/D documentation supports per-role replica, instance-type, preset, and vLLM settings. Do not imply this slide is a literal schema or that the proposed MRI scaling UX on slide 25 is already implemented.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topology, not a port-level deployment diagram. The Gateway consults the EPP, then sends the request to the selected decode pod routing sidecar. That sidecar calls prefill, forwards metadata to local decode, and streams the response back through the Gateway. The return line is a summarized path. KV data moves from prefill memory to decode; transport initiation may be a decode-side read. Gateway installation/lifecycle is separate from MRI.</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MRI creates child InferenceSets and a routing pool; InferenceSets reconcile Workspaces. The diagram deliberately distinguishes generated resource relationships from routing configuration. HTTPRoute requires a parent Gateway; it is not owned by the pool in a strict Kubernetes owner-reference sense.</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sequence, not a timing chart. Gateway and EPP are combined into one lane for space; the EPP makes the endpoint decision. Prefill returns metadata to the decode proxy. The decode runtime then obtains the KV tensors and generates tokens. The NIXL path can be decode-initiated; arrow 5 shows payload direction only. The stream travels via the proxy and Gateway. No duration is implied.</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NIXL connector is configured at the serving runtime. Exact transport, ports, and handshake fields depend on runtime versions. Do not label one transfer protocol or port number as a universal invariant.</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hard-code example listener ports as a universal contract. The external serving Service must target the routing sidecar, while local forwarding reaches the decode runtime. Health probes must hit the correct process. The exact port mapping and command flags depend on installed KAITO, llm-d, and vLLM versions.</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is reduced configuration drift, not the removal of all operational complexity. Operators still need observability, fabric validation, failure testing, and version-aware troubleshooting.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native vllm:num_requests_waiting for prefill and vllm:num_requests_running for decode as primary role-specific signals. Verify availability and aggregation on the actual runtime. KV utilization and latency add diagnostic context; a derived signal becomes a control input only after its semantics and safety policy are validated. This is a control-pattern recommendation, not a claim about an automatically available MRI feature.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Narrative source: kubecon-na-2026-pd-disaggregation.md</a:t>
            </a:r>
          </a:p>
          <a:p>
            <a:r>
              <a:t>References:</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Narrative source: kubecon-na-2026-pd-disaggregation.md</a:t>
            </a:r>
          </a:p>
          <a:p>
            <a:r>
              <a:t>References:</a:t>
            </a:r>
          </a:p>
          <a:p>
            <a:r>
              <a:t>https://github.com/andyzhangx/demo/blob/26c3e14a340d4b0aae5c820b43087d71b85d1554/llm/kaito-llm-d/kaito-role-aware-autoscaling-for-pd.md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evaluation protocol, not a result. Match GPU budget or cost budget and state the comparison basis. Report latency percentiles and achieved throughput at matched load. Include transport and hardware topology, model and runtime versions, warm-up, run duration, and sampling method. No synthetic performance curves should be mistaken for measurements.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Replaces the original [X]% / [Y]% placeholders. There is no numeric claim or implied performance curve. Collect TTFT percentiles under prompt-heavy traffic and report the request rate, concurrency, prompt/output distributions, model, hardware, and cost comparison. Include the effect of KV-transfer overhead.</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benchmark results are supplied. High utilization alone does not prove better efficiency. Record achieved output throughput and successful requests under agreed TTFT and inter-token-latency limits; report total GPU-hours or cost for both phases and associated infrastructure.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aid, not experimental data. Prompt and output lengths interact with concurrency, model size, parallelism, and hardware. Validate both latency and cost. Even the strongest candidate cell is not a guaranteed P/D win.</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conceptual dependency diagram. Actual transport support is version- and hardware-dependent. Do not assert a specific RDMA or non-RDMA configuration without validating the deployment. Include fabric contention and failure cases in production testing.</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represents logical serving readiness, not a mandatory serial process startup order. Probe the correct process and listener. Test whether unready backends are excluded, how endpoints appear in the EPP, and how sidecars behave while the model warms up.</a:t>
            </a:r>
          </a:p>
          <a:p/>
          <a:p>
            <a:r>
              <a:t>Narrative source: kubecon-na-2026-pd-disaggregation.md</a:t>
            </a:r>
          </a:p>
          <a:p>
            <a:r>
              <a:t>References:</a:t>
            </a:r>
          </a:p>
          <a:p>
            <a:r>
              <a:t>https://kaito-project.github.io/kaito/docs/prefill-decode-disaggregation</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vllm:num_requests_waiting and vllm:num_requests_running are the primary role-specific signals. KV utilization can inform a safety guard only with explicit tested semantics. Validate availability, role scope, units and freshness. Derived metrics require aggregation and collection; their names are not native vLLM outputs.</a:t>
            </a:r>
          </a:p>
          <a:p/>
          <a:p>
            <a:r>
              <a:t>Narrative source: kubecon-na-2026-pd-disaggregation.md</a:t>
            </a:r>
          </a:p>
          <a:p>
            <a:r>
              <a:t>References:</a:t>
            </a:r>
          </a:p>
          <a:p>
            <a:r>
              <a:t>https://github.com/andyzhangx/demo/blob/26c3e14a340d4b0aae5c820b43087d71b85d1554/llm/kaito-llm-d/kaito-role-aware-autoscaling-for-pd.md</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gates to decide whether to keep, tune, or reject P/D. Do not infer a generic performance percentage. Operators still own resource placement, network policy, observability, failure recovery, and upgrades.</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a measurable aggregated baseline. Keep an operationally viable rollback path and compare like-for-like cost and SLO. Per-role autoscaling should follow validated signals; avoid changing topology, parallelism, transport, and autoscaling all at once.</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outline, not evidence of a demo run. Before presenting: verify installed CRD versions, Gateway, supported model/preset, fabric connectivity, and metric availability. Use docs appropriate to that version. Do not present the proposed MRI autoscaling UX as an available manifest.</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talk recommendations derived from the source outline, not a published project delivery timeline. Keep the distinction between current capability and proposed user experience explicit.</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Restate the thesis without claiming unmeasured speedups. P/D is useful when the workload and infrastructure justify independent capacity shaping. KAITO aims to make that topology a normal Kubernetes operating model.</a:t>
            </a:r>
          </a:p>
          <a:p/>
          <a:p>
            <a:r>
              <a:t>Narrative source: kubecon-na-2026-pd-disaggregation.md</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workload, fabric, and operational constraints to guide questions. Both links are clickable in PowerPoint. Full URLs are retained here for export formats that do not preserve hyperlinks.</a:t>
            </a:r>
          </a:p>
          <a:p/>
          <a:p>
            <a:r>
              <a:t>Narrative source: kubecon-na-2026-pd-disaggregation.md</a:t>
            </a:r>
          </a:p>
          <a:p>
            <a:r>
              <a:t>References:</a:t>
            </a:r>
          </a:p>
          <a:p>
            <a:r>
              <a:t>https://kaito-project.github.io/kaito/docs/prefill-decode-disaggregation</a:t>
            </a:r>
          </a:p>
          <a:p>
            <a:r>
              <a:t>https://kaito-project.github.io/kaito/docs/keda-autoscaler-inference</a:t>
            </a:r>
          </a:p>
          <a:p>
            <a:r>
              <a:t>Design: all diagrams, labels, tables and arrows are native editable PowerPoint objects.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kaito-project.github.io/kaito/docs/prefill-decode-disaggregation" TargetMode="External"/><Relationship Id="rId3" Type="http://schemas.openxmlformats.org/officeDocument/2006/relationships/hyperlink" Target="https://kaito-project.github.io/kaito/docs/keda-autoscaler-inference" TargetMode="External"/><Relationship Id="rId4"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CLOUD NATIVE AI + INFERENCE DAY / 20-MINUTE TALK</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Prefill Here, Decode There</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01 / 43</a:t>
            </a:r>
          </a:p>
        </p:txBody>
      </p:sp>
      <p:sp>
        <p:nvSpPr>
          <p:cNvPr id="7" name="TextBox 6"/>
          <p:cNvSpPr txBox="1"/>
          <p:nvPr/>
        </p:nvSpPr>
        <p:spPr>
          <a:xfrm>
            <a:off x="475488" y="1554480"/>
            <a:ext cx="9966960" cy="914400"/>
          </a:xfrm>
          <a:prstGeom prst="rect">
            <a:avLst/>
          </a:prstGeom>
          <a:noFill/>
        </p:spPr>
        <p:txBody>
          <a:bodyPr wrap="square" lIns="13716" rIns="13716" tIns="13716" bIns="13716">
            <a:spAutoFit/>
          </a:bodyPr>
          <a:lstStyle/>
          <a:p>
            <a:pPr>
              <a:spcBef>
                <a:spcPts val="0"/>
              </a:spcBef>
              <a:spcAft>
                <a:spcPts val="500"/>
              </a:spcAft>
              <a:defRPr sz="2500" b="0">
                <a:solidFill>
                  <a:srgbClr val="FFFFFF"/>
                </a:solidFill>
                <a:latin typeface="Arial"/>
              </a:defRPr>
            </a:pPr>
            <a:r>
              <a:t>Kubernetes-native LLM inference disaggregation</a:t>
            </a:r>
          </a:p>
          <a:p>
            <a:pPr>
              <a:spcBef>
                <a:spcPts val="0"/>
              </a:spcBef>
              <a:spcAft>
                <a:spcPts val="500"/>
              </a:spcAft>
              <a:defRPr sz="2500" b="0">
                <a:solidFill>
                  <a:srgbClr val="FFFFFF"/>
                </a:solidFill>
                <a:latin typeface="Arial"/>
              </a:defRPr>
            </a:pPr>
            <a:r>
              <a:t>with KAITO and llm-d</a:t>
            </a:r>
          </a:p>
        </p:txBody>
      </p:sp>
      <p:sp>
        <p:nvSpPr>
          <p:cNvPr id="8" name="Rounded Rectangle 7"/>
          <p:cNvSpPr/>
          <p:nvPr/>
        </p:nvSpPr>
        <p:spPr>
          <a:xfrm>
            <a:off x="502920" y="2880360"/>
            <a:ext cx="23774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912364"/>
            <a:ext cx="22494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ONE DECLARATIVE SERVICE</a:t>
            </a:r>
          </a:p>
        </p:txBody>
      </p:sp>
      <p:sp>
        <p:nvSpPr>
          <p:cNvPr id="10" name="Rounded Rectangle 9"/>
          <p:cNvSpPr/>
          <p:nvPr/>
        </p:nvSpPr>
        <p:spPr>
          <a:xfrm>
            <a:off x="502920" y="3566160"/>
            <a:ext cx="29718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657600"/>
            <a:ext cx="50292" cy="1234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85032"/>
            <a:ext cx="26974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2563EB"/>
                </a:solidFill>
                <a:latin typeface="Arial"/>
              </a:defRPr>
            </a:pPr>
            <a:r>
              <a:t>KAITO</a:t>
            </a:r>
          </a:p>
        </p:txBody>
      </p:sp>
      <p:sp>
        <p:nvSpPr>
          <p:cNvPr id="13" name="TextBox 12"/>
          <p:cNvSpPr txBox="1"/>
          <p:nvPr/>
        </p:nvSpPr>
        <p:spPr>
          <a:xfrm>
            <a:off x="649224" y="4123944"/>
            <a:ext cx="26791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Declare the serving topology</a:t>
            </a:r>
          </a:p>
        </p:txBody>
      </p:sp>
      <p:sp>
        <p:nvSpPr>
          <p:cNvPr id="14" name="Rounded Rectangle 13"/>
          <p:cNvSpPr/>
          <p:nvPr/>
        </p:nvSpPr>
        <p:spPr>
          <a:xfrm>
            <a:off x="4572000" y="3566160"/>
            <a:ext cx="27432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0" y="3657600"/>
            <a:ext cx="50292" cy="12344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09160" y="3685032"/>
            <a:ext cx="24688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087F8C"/>
                </a:solidFill>
                <a:latin typeface="Arial"/>
              </a:defRPr>
            </a:pPr>
            <a:r>
              <a:t>Prefill</a:t>
            </a:r>
          </a:p>
        </p:txBody>
      </p:sp>
      <p:sp>
        <p:nvSpPr>
          <p:cNvPr id="17" name="TextBox 16"/>
          <p:cNvSpPr txBox="1"/>
          <p:nvPr/>
        </p:nvSpPr>
        <p:spPr>
          <a:xfrm>
            <a:off x="4718304" y="4123944"/>
            <a:ext cx="24505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KV cache</a:t>
            </a:r>
          </a:p>
        </p:txBody>
      </p:sp>
      <p:sp>
        <p:nvSpPr>
          <p:cNvPr id="18" name="Rounded Rectangle 17"/>
          <p:cNvSpPr/>
          <p:nvPr/>
        </p:nvSpPr>
        <p:spPr>
          <a:xfrm>
            <a:off x="8458200" y="3566160"/>
            <a:ext cx="3200400" cy="14173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58200" y="3657600"/>
            <a:ext cx="50292" cy="12344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0" y="3685032"/>
            <a:ext cx="2926080" cy="393192"/>
          </a:xfrm>
          <a:prstGeom prst="rect">
            <a:avLst/>
          </a:prstGeom>
          <a:noFill/>
        </p:spPr>
        <p:txBody>
          <a:bodyPr wrap="square" lIns="13716" rIns="13716" tIns="13716" bIns="13716">
            <a:spAutoFit/>
          </a:bodyPr>
          <a:lstStyle/>
          <a:p>
            <a:pPr algn="ctr">
              <a:spcBef>
                <a:spcPts val="0"/>
              </a:spcBef>
              <a:spcAft>
                <a:spcPts val="500"/>
              </a:spcAft>
              <a:defRPr sz="2500" b="1">
                <a:solidFill>
                  <a:srgbClr val="7354B8"/>
                </a:solidFill>
                <a:latin typeface="Arial"/>
              </a:defRPr>
            </a:pPr>
            <a:r>
              <a:t>Decode</a:t>
            </a:r>
          </a:p>
        </p:txBody>
      </p:sp>
      <p:sp>
        <p:nvSpPr>
          <p:cNvPr id="21" name="TextBox 20"/>
          <p:cNvSpPr txBox="1"/>
          <p:nvPr/>
        </p:nvSpPr>
        <p:spPr>
          <a:xfrm>
            <a:off x="8604504" y="4123944"/>
            <a:ext cx="2907792" cy="7680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cache → token stream</a:t>
            </a:r>
          </a:p>
        </p:txBody>
      </p:sp>
      <p:cxnSp>
        <p:nvCxnSpPr>
          <p:cNvPr id="22" name="Connector 21"/>
          <p:cNvCxnSpPr/>
          <p:nvPr/>
        </p:nvCxnSpPr>
        <p:spPr>
          <a:xfrm>
            <a:off x="3474720" y="4251960"/>
            <a:ext cx="1097280" cy="0"/>
          </a:xfrm>
          <a:prstGeom prst="line">
            <a:avLst/>
          </a:prstGeom>
          <a:ln w="25400">
            <a:solidFill>
              <a:srgbClr val="AFC3D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200" y="4251960"/>
            <a:ext cx="11430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06640" y="3758184"/>
            <a:ext cx="960120" cy="338328"/>
          </a:xfrm>
          <a:prstGeom prst="rect">
            <a:avLst/>
          </a:prstGeom>
          <a:noFill/>
        </p:spPr>
        <p:txBody>
          <a:bodyPr wrap="square" lIns="13716" rIns="13716" tIns="13716" bIns="13716">
            <a:spAutoFit/>
          </a:bodyPr>
          <a:lstStyle/>
          <a:p>
            <a:pPr algn="ctr">
              <a:spcBef>
                <a:spcPts val="0"/>
              </a:spcBef>
              <a:spcAft>
                <a:spcPts val="500"/>
              </a:spcAft>
              <a:defRPr sz="1200" b="0">
                <a:solidFill>
                  <a:srgbClr val="AFC3DF"/>
                </a:solidFill>
                <a:latin typeface="Arial"/>
              </a:defRPr>
            </a:pPr>
            <a:r>
              <a:t>KV data</a:t>
            </a:r>
          </a:p>
        </p:txBody>
      </p:sp>
      <p:sp>
        <p:nvSpPr>
          <p:cNvPr id="25" name="TextBox 24"/>
          <p:cNvSpPr txBox="1"/>
          <p:nvPr/>
        </p:nvSpPr>
        <p:spPr>
          <a:xfrm>
            <a:off x="502920" y="5641848"/>
            <a:ext cx="10789920" cy="457200"/>
          </a:xfrm>
          <a:prstGeom prst="rect">
            <a:avLst/>
          </a:prstGeom>
          <a:noFill/>
        </p:spPr>
        <p:txBody>
          <a:bodyPr wrap="square" lIns="13716" rIns="13716" tIns="13716" bIns="13716">
            <a:spAutoFit/>
          </a:bodyPr>
          <a:lstStyle/>
          <a:p>
            <a:pPr>
              <a:spcBef>
                <a:spcPts val="0"/>
              </a:spcBef>
              <a:spcAft>
                <a:spcPts val="500"/>
              </a:spcAft>
              <a:defRPr sz="2100" b="0">
                <a:solidFill>
                  <a:srgbClr val="AFC3DF"/>
                </a:solidFill>
                <a:latin typeface="Arial"/>
              </a:defRPr>
            </a:pPr>
            <a:r>
              <a:t>Separate the phases. Keep a Kubernetes-native operating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AGENDA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route from idea to production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Four questions connect the architecture to the operating tradeoffs.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02 / 43</a:t>
            </a:r>
          </a:p>
        </p:txBody>
      </p:sp>
      <p:sp>
        <p:nvSpPr>
          <p:cNvPr id="8" name="Rounded Rectangle 7"/>
          <p:cNvSpPr/>
          <p:nvPr/>
        </p:nvSpPr>
        <p:spPr>
          <a:xfrm>
            <a:off x="457200"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 y="245059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40080"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Why split?</a:t>
            </a:r>
          </a:p>
        </p:txBody>
      </p:sp>
      <p:sp>
        <p:nvSpPr>
          <p:cNvPr id="12" name="TextBox 11"/>
          <p:cNvSpPr txBox="1"/>
          <p:nvPr/>
        </p:nvSpPr>
        <p:spPr>
          <a:xfrm>
            <a:off x="640080"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Two phases</a:t>
            </a:r>
          </a:p>
          <a:p>
            <a:pPr>
              <a:spcBef>
                <a:spcPts val="0"/>
              </a:spcBef>
              <a:spcAft>
                <a:spcPts val="500"/>
              </a:spcAft>
              <a:defRPr sz="1800" b="0">
                <a:solidFill>
                  <a:srgbClr val="172941"/>
                </a:solidFill>
                <a:latin typeface="Arial"/>
              </a:defRPr>
            </a:pPr>
            <a:r>
              <a:t>Two bottlenecks</a:t>
            </a:r>
          </a:p>
        </p:txBody>
      </p:sp>
      <p:cxnSp>
        <p:nvCxnSpPr>
          <p:cNvPr id="13" name="Connector 12"/>
          <p:cNvCxnSpPr/>
          <p:nvPr/>
        </p:nvCxnSpPr>
        <p:spPr>
          <a:xfrm>
            <a:off x="3163824" y="3593592"/>
            <a:ext cx="146304"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10128"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245059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7" name="TextBox 16"/>
          <p:cNvSpPr txBox="1"/>
          <p:nvPr/>
        </p:nvSpPr>
        <p:spPr>
          <a:xfrm>
            <a:off x="3493008"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Why hard?</a:t>
            </a:r>
          </a:p>
        </p:txBody>
      </p:sp>
      <p:sp>
        <p:nvSpPr>
          <p:cNvPr id="18" name="TextBox 17"/>
          <p:cNvSpPr txBox="1"/>
          <p:nvPr/>
        </p:nvSpPr>
        <p:spPr>
          <a:xfrm>
            <a:off x="3493008"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Routing, KV transfer</a:t>
            </a:r>
          </a:p>
          <a:p>
            <a:pPr>
              <a:spcBef>
                <a:spcPts val="0"/>
              </a:spcBef>
              <a:spcAft>
                <a:spcPts val="500"/>
              </a:spcAft>
              <a:defRPr sz="1800" b="0">
                <a:solidFill>
                  <a:srgbClr val="172941"/>
                </a:solidFill>
                <a:latin typeface="Arial"/>
              </a:defRPr>
            </a:pPr>
            <a:r>
              <a:t>Kubernetes contracts</a:t>
            </a:r>
          </a:p>
        </p:txBody>
      </p:sp>
      <p:cxnSp>
        <p:nvCxnSpPr>
          <p:cNvPr id="19" name="Connector 18"/>
          <p:cNvCxnSpPr/>
          <p:nvPr/>
        </p:nvCxnSpPr>
        <p:spPr>
          <a:xfrm>
            <a:off x="6016752" y="3593592"/>
            <a:ext cx="146304" cy="0"/>
          </a:xfrm>
          <a:prstGeom prst="line">
            <a:avLst/>
          </a:prstGeom>
          <a:ln w="1778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63056"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27648" y="245059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5936"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3" name="TextBox 22"/>
          <p:cNvSpPr txBox="1"/>
          <p:nvPr/>
        </p:nvSpPr>
        <p:spPr>
          <a:xfrm>
            <a:off x="6345936"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The solution</a:t>
            </a:r>
          </a:p>
        </p:txBody>
      </p:sp>
      <p:sp>
        <p:nvSpPr>
          <p:cNvPr id="24" name="TextBox 23"/>
          <p:cNvSpPr txBox="1"/>
          <p:nvPr/>
        </p:nvSpPr>
        <p:spPr>
          <a:xfrm>
            <a:off x="6345936"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KAITO + llm-d</a:t>
            </a:r>
          </a:p>
          <a:p>
            <a:pPr>
              <a:spcBef>
                <a:spcPts val="0"/>
              </a:spcBef>
              <a:spcAft>
                <a:spcPts val="500"/>
              </a:spcAft>
              <a:defRPr sz="1800" b="0">
                <a:solidFill>
                  <a:srgbClr val="172941"/>
                </a:solidFill>
                <a:latin typeface="Arial"/>
              </a:defRPr>
            </a:pPr>
            <a:r>
              <a:t>One declared topology</a:t>
            </a:r>
          </a:p>
        </p:txBody>
      </p:sp>
      <p:cxnSp>
        <p:nvCxnSpPr>
          <p:cNvPr id="25" name="Connector 24"/>
          <p:cNvCxnSpPr/>
          <p:nvPr/>
        </p:nvCxnSpPr>
        <p:spPr>
          <a:xfrm>
            <a:off x="8869680" y="3593592"/>
            <a:ext cx="146304"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267712"/>
            <a:ext cx="2706624" cy="26974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80576" y="245059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98863" y="2606040"/>
            <a:ext cx="2340864"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9" name="TextBox 28"/>
          <p:cNvSpPr txBox="1"/>
          <p:nvPr/>
        </p:nvSpPr>
        <p:spPr>
          <a:xfrm>
            <a:off x="9198863" y="2980944"/>
            <a:ext cx="2340864"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When to split?</a:t>
            </a:r>
          </a:p>
        </p:txBody>
      </p:sp>
      <p:sp>
        <p:nvSpPr>
          <p:cNvPr id="30" name="TextBox 29"/>
          <p:cNvSpPr txBox="1"/>
          <p:nvPr/>
        </p:nvSpPr>
        <p:spPr>
          <a:xfrm>
            <a:off x="9198863" y="3584448"/>
            <a:ext cx="2340864" cy="1234440"/>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Role-aware scaling</a:t>
            </a:r>
          </a:p>
          <a:p>
            <a:pPr>
              <a:spcBef>
                <a:spcPts val="0"/>
              </a:spcBef>
              <a:spcAft>
                <a:spcPts val="500"/>
              </a:spcAft>
              <a:defRPr sz="1800" b="0">
                <a:solidFill>
                  <a:srgbClr val="172941"/>
                </a:solidFill>
                <a:latin typeface="Arial"/>
              </a:defRPr>
            </a:pPr>
            <a:r>
              <a:t>Measured tradeoffs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request. Two different GPU workloads.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Prefill processes the input; decode repeatedly generates the next token.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P/D is about matching capacity to two very different phases.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03 / 43</a:t>
            </a:r>
          </a:p>
        </p:txBody>
      </p:sp>
      <p:sp>
        <p:nvSpPr>
          <p:cNvPr id="10" name="Rounded Rectangle 9"/>
          <p:cNvSpPr/>
          <p:nvPr/>
        </p:nvSpPr>
        <p:spPr>
          <a:xfrm>
            <a:off x="50292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31720"/>
            <a:ext cx="50292" cy="80467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Prompt</a:t>
            </a:r>
          </a:p>
        </p:txBody>
      </p:sp>
      <p:sp>
        <p:nvSpPr>
          <p:cNvPr id="13" name="TextBox 12"/>
          <p:cNvSpPr txBox="1"/>
          <p:nvPr/>
        </p:nvSpPr>
        <p:spPr>
          <a:xfrm>
            <a:off x="64922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Input tokens</a:t>
            </a:r>
          </a:p>
        </p:txBody>
      </p:sp>
      <p:sp>
        <p:nvSpPr>
          <p:cNvPr id="14" name="Rounded Rectangle 13"/>
          <p:cNvSpPr/>
          <p:nvPr/>
        </p:nvSpPr>
        <p:spPr>
          <a:xfrm>
            <a:off x="2743200" y="2240280"/>
            <a:ext cx="27432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2331720"/>
            <a:ext cx="50292" cy="8046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80360" y="2359152"/>
            <a:ext cx="24688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PREFILL</a:t>
            </a:r>
          </a:p>
        </p:txBody>
      </p:sp>
      <p:sp>
        <p:nvSpPr>
          <p:cNvPr id="17" name="TextBox 16"/>
          <p:cNvSpPr txBox="1"/>
          <p:nvPr/>
        </p:nvSpPr>
        <p:spPr>
          <a:xfrm>
            <a:off x="2889504" y="2798064"/>
            <a:ext cx="24505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Process the prompt once</a:t>
            </a:r>
          </a:p>
        </p:txBody>
      </p:sp>
      <p:sp>
        <p:nvSpPr>
          <p:cNvPr id="18" name="Rounded Rectangle 17"/>
          <p:cNvSpPr/>
          <p:nvPr/>
        </p:nvSpPr>
        <p:spPr>
          <a:xfrm>
            <a:off x="5943600" y="2240280"/>
            <a:ext cx="18288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43600" y="2331720"/>
            <a:ext cx="50292" cy="80467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80760" y="2359152"/>
            <a:ext cx="15544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AE641A"/>
                </a:solidFill>
                <a:latin typeface="Arial"/>
              </a:defRPr>
            </a:pPr>
            <a:r>
              <a:t>KV cache</a:t>
            </a:r>
          </a:p>
        </p:txBody>
      </p:sp>
      <p:sp>
        <p:nvSpPr>
          <p:cNvPr id="21" name="TextBox 20"/>
          <p:cNvSpPr txBox="1"/>
          <p:nvPr/>
        </p:nvSpPr>
        <p:spPr>
          <a:xfrm>
            <a:off x="6089904" y="2798064"/>
            <a:ext cx="15361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Attention state</a:t>
            </a:r>
          </a:p>
        </p:txBody>
      </p:sp>
      <p:sp>
        <p:nvSpPr>
          <p:cNvPr id="22" name="Rounded Rectangle 21"/>
          <p:cNvSpPr/>
          <p:nvPr/>
        </p:nvSpPr>
        <p:spPr>
          <a:xfrm>
            <a:off x="8229600" y="2240280"/>
            <a:ext cx="3429000" cy="9875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29600" y="2331720"/>
            <a:ext cx="50292" cy="8046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66760" y="2359152"/>
            <a:ext cx="315468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DECODE</a:t>
            </a:r>
          </a:p>
        </p:txBody>
      </p:sp>
      <p:sp>
        <p:nvSpPr>
          <p:cNvPr id="25" name="TextBox 24"/>
          <p:cNvSpPr txBox="1"/>
          <p:nvPr/>
        </p:nvSpPr>
        <p:spPr>
          <a:xfrm>
            <a:off x="8375904" y="2798064"/>
            <a:ext cx="3136392" cy="3383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tokens iteratively</a:t>
            </a:r>
          </a:p>
        </p:txBody>
      </p:sp>
      <p:cxnSp>
        <p:nvCxnSpPr>
          <p:cNvPr id="26" name="Connector 25"/>
          <p:cNvCxnSpPr/>
          <p:nvPr/>
        </p:nvCxnSpPr>
        <p:spPr>
          <a:xfrm>
            <a:off x="2331720" y="2734056"/>
            <a:ext cx="41148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486400" y="2734056"/>
            <a:ext cx="4572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72400" y="2734056"/>
            <a:ext cx="4572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502920"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7512" y="386791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 compute-bound</a:t>
            </a:r>
          </a:p>
        </p:txBody>
      </p:sp>
      <p:sp>
        <p:nvSpPr>
          <p:cNvPr id="32" name="TextBox 31"/>
          <p:cNvSpPr txBox="1"/>
          <p:nvPr/>
        </p:nvSpPr>
        <p:spPr>
          <a:xfrm>
            <a:off x="685800"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Prompt pressure • time to first token</a:t>
            </a:r>
          </a:p>
        </p:txBody>
      </p:sp>
      <p:sp>
        <p:nvSpPr>
          <p:cNvPr id="33" name="Rounded Rectangle 32"/>
          <p:cNvSpPr/>
          <p:nvPr/>
        </p:nvSpPr>
        <p:spPr>
          <a:xfrm>
            <a:off x="6199632" y="3685032"/>
            <a:ext cx="5440680" cy="17465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364224" y="386791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2512" y="405079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 bandwidth-bound</a:t>
            </a:r>
          </a:p>
        </p:txBody>
      </p:sp>
      <p:sp>
        <p:nvSpPr>
          <p:cNvPr id="36" name="TextBox 35"/>
          <p:cNvSpPr txBox="1"/>
          <p:nvPr/>
        </p:nvSpPr>
        <p:spPr>
          <a:xfrm>
            <a:off x="6382512" y="4654296"/>
            <a:ext cx="5074920" cy="630935"/>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Active KV memory • steady token delivery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shared pool couples two capacity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Aggregated serving is simple—but prefill bursts and active decoding share resources.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compromise is not only performance. It is how you size and scale the service.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04 / 43</a:t>
            </a:r>
          </a:p>
        </p:txBody>
      </p:sp>
      <p:sp>
        <p:nvSpPr>
          <p:cNvPr id="10" name="Rounded Rectangle 9"/>
          <p:cNvSpPr/>
          <p:nvPr/>
        </p:nvSpPr>
        <p:spPr>
          <a:xfrm>
            <a:off x="502920" y="2103120"/>
            <a:ext cx="653796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40864"/>
            <a:ext cx="6035040" cy="411480"/>
          </a:xfrm>
          <a:prstGeom prst="rect">
            <a:avLst/>
          </a:prstGeom>
          <a:noFill/>
        </p:spPr>
        <p:txBody>
          <a:bodyPr wrap="square" lIns="13716" rIns="13716" tIns="13716" bIns="13716">
            <a:spAutoFit/>
          </a:bodyPr>
          <a:lstStyle/>
          <a:p>
            <a:pPr>
              <a:spcBef>
                <a:spcPts val="0"/>
              </a:spcBef>
              <a:spcAft>
                <a:spcPts val="500"/>
              </a:spcAft>
              <a:defRPr sz="1700" b="1">
                <a:solidFill>
                  <a:srgbClr val="2563EB"/>
                </a:solidFill>
                <a:latin typeface="Arial"/>
              </a:defRPr>
            </a:pPr>
            <a:r>
              <a:t>SHARED GPU POOL</a:t>
            </a:r>
          </a:p>
        </p:txBody>
      </p:sp>
      <p:sp>
        <p:nvSpPr>
          <p:cNvPr id="12" name="Rounded Rectangle 11"/>
          <p:cNvSpPr/>
          <p:nvPr/>
        </p:nvSpPr>
        <p:spPr>
          <a:xfrm>
            <a:off x="78638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9611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5" name="Rounded Rectangle 14"/>
          <p:cNvSpPr/>
          <p:nvPr/>
        </p:nvSpPr>
        <p:spPr>
          <a:xfrm>
            <a:off x="89611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17" name="Rounded Rectangle 16"/>
          <p:cNvSpPr/>
          <p:nvPr/>
        </p:nvSpPr>
        <p:spPr>
          <a:xfrm>
            <a:off x="279806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90779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7180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0" name="Rounded Rectangle 19"/>
          <p:cNvSpPr/>
          <p:nvPr/>
        </p:nvSpPr>
        <p:spPr>
          <a:xfrm>
            <a:off x="290779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2" name="Rounded Rectangle 21"/>
          <p:cNvSpPr/>
          <p:nvPr/>
        </p:nvSpPr>
        <p:spPr>
          <a:xfrm>
            <a:off x="4809744" y="3054096"/>
            <a:ext cx="1810512" cy="146304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919472" y="3255264"/>
            <a:ext cx="1581912"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83480" y="3287268"/>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25" name="Rounded Rectangle 24"/>
          <p:cNvSpPr/>
          <p:nvPr/>
        </p:nvSpPr>
        <p:spPr>
          <a:xfrm>
            <a:off x="4919472" y="3785615"/>
            <a:ext cx="1581912"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3480" y="3817620"/>
            <a:ext cx="1453895"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7" name="TextBox 26"/>
          <p:cNvSpPr txBox="1"/>
          <p:nvPr/>
        </p:nvSpPr>
        <p:spPr>
          <a:xfrm>
            <a:off x="749808" y="4809744"/>
            <a:ext cx="5943600" cy="41148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deployment • one coupled scaling boundary</a:t>
            </a:r>
          </a:p>
        </p:txBody>
      </p:sp>
      <p:sp>
        <p:nvSpPr>
          <p:cNvPr id="28" name="Rounded Rectangle 27"/>
          <p:cNvSpPr/>
          <p:nvPr/>
        </p:nvSpPr>
        <p:spPr>
          <a:xfrm>
            <a:off x="7360920" y="2103120"/>
            <a:ext cx="4315968"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525512" y="22860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43800" y="2468879"/>
            <a:ext cx="3950207"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operational tension</a:t>
            </a:r>
          </a:p>
        </p:txBody>
      </p:sp>
      <p:sp>
        <p:nvSpPr>
          <p:cNvPr id="31" name="TextBox 30"/>
          <p:cNvSpPr txBox="1"/>
          <p:nvPr/>
        </p:nvSpPr>
        <p:spPr>
          <a:xfrm>
            <a:off x="7543800" y="3072384"/>
            <a:ext cx="3950207" cy="23134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Prompt bursts can disrupt token delivery.</a:t>
            </a:r>
          </a:p>
          <a:p>
            <a:pPr>
              <a:spcBef>
                <a:spcPts val="0"/>
              </a:spcBef>
              <a:spcAft>
                <a:spcPts val="500"/>
              </a:spcAft>
              <a:defRPr sz="1900" b="0">
                <a:solidFill>
                  <a:srgbClr val="172941"/>
                </a:solidFill>
                <a:latin typeface="Arial"/>
              </a:defRPr>
            </a:pPr>
          </a:p>
          <a:p>
            <a:pPr>
              <a:spcBef>
                <a:spcPts val="0"/>
              </a:spcBef>
              <a:spcAft>
                <a:spcPts val="500"/>
              </a:spcAft>
              <a:defRPr sz="1900" b="0">
                <a:solidFill>
                  <a:srgbClr val="172941"/>
                </a:solidFill>
                <a:latin typeface="Arial"/>
              </a:defRPr>
            </a:pPr>
            <a:r>
              <a:t>Scaling adds both phases, even when only one is saturated.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Split the phases. Tune the pools independently.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introduces a KV-transfer boundary between prompt processing and generation.</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transfer path must be fast enough to justify the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05 / 43</a:t>
            </a:r>
          </a:p>
        </p:txBody>
      </p:sp>
      <p:sp>
        <p:nvSpPr>
          <p:cNvPr id="10" name="Rounded Rectangle 9"/>
          <p:cNvSpPr/>
          <p:nvPr/>
        </p:nvSpPr>
        <p:spPr>
          <a:xfrm>
            <a:off x="502920" y="2194560"/>
            <a:ext cx="4114800" cy="315468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087F8C"/>
                </a:solidFill>
                <a:latin typeface="Arial"/>
              </a:defRPr>
            </a:pPr>
            <a:r>
              <a:t>PREFILL POOL</a:t>
            </a:r>
          </a:p>
        </p:txBody>
      </p:sp>
      <p:sp>
        <p:nvSpPr>
          <p:cNvPr id="12" name="Rounded Rectangle 11"/>
          <p:cNvSpPr/>
          <p:nvPr/>
        </p:nvSpPr>
        <p:spPr>
          <a:xfrm>
            <a:off x="777240"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3200400"/>
            <a:ext cx="50292" cy="8595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087F8C"/>
                </a:solidFill>
                <a:latin typeface="Arial"/>
              </a:defRPr>
            </a:pPr>
            <a:r>
              <a:t>Prompt processing</a:t>
            </a:r>
          </a:p>
        </p:txBody>
      </p:sp>
      <p:sp>
        <p:nvSpPr>
          <p:cNvPr id="15" name="TextBox 14"/>
          <p:cNvSpPr txBox="1"/>
          <p:nvPr/>
        </p:nvSpPr>
        <p:spPr>
          <a:xfrm>
            <a:off x="923544"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 latency</a:t>
            </a:r>
          </a:p>
        </p:txBody>
      </p:sp>
      <p:sp>
        <p:nvSpPr>
          <p:cNvPr id="16" name="TextBox 15"/>
          <p:cNvSpPr txBox="1"/>
          <p:nvPr/>
        </p:nvSpPr>
        <p:spPr>
          <a:xfrm>
            <a:off x="749808"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087F8C"/>
                </a:solidFill>
                <a:latin typeface="Arial"/>
              </a:defRPr>
            </a:pPr>
            <a:r>
              <a:t>Choose replicas and parallelism</a:t>
            </a:r>
          </a:p>
          <a:p>
            <a:pPr>
              <a:spcBef>
                <a:spcPts val="0"/>
              </a:spcBef>
              <a:spcAft>
                <a:spcPts val="500"/>
              </a:spcAft>
              <a:defRPr sz="1700" b="0">
                <a:solidFill>
                  <a:srgbClr val="087F8C"/>
                </a:solidFill>
                <a:latin typeface="Arial"/>
              </a:defRPr>
            </a:pPr>
            <a:r>
              <a:t>for prompt pressure.</a:t>
            </a:r>
          </a:p>
        </p:txBody>
      </p:sp>
      <p:sp>
        <p:nvSpPr>
          <p:cNvPr id="17" name="Rounded Rectangle 16"/>
          <p:cNvSpPr/>
          <p:nvPr/>
        </p:nvSpPr>
        <p:spPr>
          <a:xfrm>
            <a:off x="7571231" y="2194560"/>
            <a:ext cx="4114800" cy="315468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99831" y="2432304"/>
            <a:ext cx="3657600" cy="438912"/>
          </a:xfrm>
          <a:prstGeom prst="rect">
            <a:avLst/>
          </a:prstGeom>
          <a:noFill/>
        </p:spPr>
        <p:txBody>
          <a:bodyPr wrap="square" lIns="13716" rIns="13716" tIns="13716" bIns="13716">
            <a:spAutoFit/>
          </a:bodyPr>
          <a:lstStyle/>
          <a:p>
            <a:pPr>
              <a:spcBef>
                <a:spcPts val="0"/>
              </a:spcBef>
              <a:spcAft>
                <a:spcPts val="500"/>
              </a:spcAft>
              <a:defRPr sz="2300" b="1">
                <a:solidFill>
                  <a:srgbClr val="7354B8"/>
                </a:solidFill>
                <a:latin typeface="Arial"/>
              </a:defRPr>
            </a:pPr>
            <a:r>
              <a:t>DECODE POOL</a:t>
            </a:r>
          </a:p>
        </p:txBody>
      </p:sp>
      <p:sp>
        <p:nvSpPr>
          <p:cNvPr id="19" name="Rounded Rectangle 18"/>
          <p:cNvSpPr/>
          <p:nvPr/>
        </p:nvSpPr>
        <p:spPr>
          <a:xfrm>
            <a:off x="7845552" y="3108960"/>
            <a:ext cx="3566160" cy="1042415"/>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845552" y="3200400"/>
            <a:ext cx="50292" cy="8595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82712" y="3227832"/>
            <a:ext cx="329184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7354B8"/>
                </a:solidFill>
                <a:latin typeface="Arial"/>
              </a:defRPr>
            </a:pPr>
            <a:r>
              <a:t>Token generation</a:t>
            </a:r>
          </a:p>
        </p:txBody>
      </p:sp>
      <p:sp>
        <p:nvSpPr>
          <p:cNvPr id="22" name="TextBox 21"/>
          <p:cNvSpPr txBox="1"/>
          <p:nvPr/>
        </p:nvSpPr>
        <p:spPr>
          <a:xfrm>
            <a:off x="7991856" y="3666744"/>
            <a:ext cx="3273552" cy="393191"/>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active KV memory</a:t>
            </a:r>
          </a:p>
        </p:txBody>
      </p:sp>
      <p:sp>
        <p:nvSpPr>
          <p:cNvPr id="23" name="TextBox 22"/>
          <p:cNvSpPr txBox="1"/>
          <p:nvPr/>
        </p:nvSpPr>
        <p:spPr>
          <a:xfrm>
            <a:off x="7818120" y="4553712"/>
            <a:ext cx="3566160" cy="713232"/>
          </a:xfrm>
          <a:prstGeom prst="rect">
            <a:avLst/>
          </a:prstGeom>
          <a:noFill/>
        </p:spPr>
        <p:txBody>
          <a:bodyPr wrap="square" lIns="13716" rIns="13716" tIns="13716" bIns="13716">
            <a:spAutoFit/>
          </a:bodyPr>
          <a:lstStyle/>
          <a:p>
            <a:pPr>
              <a:spcBef>
                <a:spcPts val="0"/>
              </a:spcBef>
              <a:spcAft>
                <a:spcPts val="500"/>
              </a:spcAft>
              <a:defRPr sz="1700" b="0">
                <a:solidFill>
                  <a:srgbClr val="7354B8"/>
                </a:solidFill>
                <a:latin typeface="Arial"/>
              </a:defRPr>
            </a:pPr>
            <a:r>
              <a:t>Choose replicas and parallelism</a:t>
            </a:r>
          </a:p>
          <a:p>
            <a:pPr>
              <a:spcBef>
                <a:spcPts val="0"/>
              </a:spcBef>
              <a:spcAft>
                <a:spcPts val="500"/>
              </a:spcAft>
              <a:defRPr sz="1700" b="0">
                <a:solidFill>
                  <a:srgbClr val="7354B8"/>
                </a:solidFill>
                <a:latin typeface="Arial"/>
              </a:defRPr>
            </a:pPr>
            <a:r>
              <a:t>for sustained generation.</a:t>
            </a:r>
          </a:p>
        </p:txBody>
      </p:sp>
      <p:cxnSp>
        <p:nvCxnSpPr>
          <p:cNvPr id="24" name="Connector 23"/>
          <p:cNvCxnSpPr/>
          <p:nvPr/>
        </p:nvCxnSpPr>
        <p:spPr>
          <a:xfrm>
            <a:off x="4617720" y="3639312"/>
            <a:ext cx="2953511"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773168" y="2816352"/>
            <a:ext cx="2651760" cy="594360"/>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KV cache transfer</a:t>
            </a:r>
          </a:p>
        </p:txBody>
      </p:sp>
      <p:sp>
        <p:nvSpPr>
          <p:cNvPr id="26" name="TextBox 25"/>
          <p:cNvSpPr txBox="1"/>
          <p:nvPr/>
        </p:nvSpPr>
        <p:spPr>
          <a:xfrm>
            <a:off x="4736592" y="3977639"/>
            <a:ext cx="2697480" cy="1005840"/>
          </a:xfrm>
          <a:prstGeom prst="rect">
            <a:avLst/>
          </a:prstGeom>
          <a:noFill/>
        </p:spPr>
        <p:txBody>
          <a:bodyPr wrap="square" lIns="13716" rIns="13716" tIns="13716" bIns="13716">
            <a:spAutoFit/>
          </a:bodyPr>
          <a:lstStyle/>
          <a:p>
            <a:pPr algn="ctr">
              <a:spcBef>
                <a:spcPts val="0"/>
              </a:spcBef>
              <a:spcAft>
                <a:spcPts val="500"/>
              </a:spcAft>
              <a:defRPr sz="1700" b="0">
                <a:solidFill>
                  <a:srgbClr val="586A80"/>
                </a:solidFill>
                <a:latin typeface="Arial"/>
              </a:defRPr>
            </a:pPr>
            <a:r>
              <a:t>New cost:</a:t>
            </a:r>
          </a:p>
          <a:p>
            <a:pPr algn="ctr">
              <a:spcBef>
                <a:spcPts val="0"/>
              </a:spcBef>
              <a:spcAft>
                <a:spcPts val="500"/>
              </a:spcAft>
              <a:defRPr sz="1700" b="0">
                <a:solidFill>
                  <a:srgbClr val="586A80"/>
                </a:solidFill>
                <a:latin typeface="Arial"/>
              </a:defRPr>
            </a:pPr>
            <a:r>
              <a:t>transfer + coordination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P/D fits when the phases need different shapes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traffic profile, not the architecture trend.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06 / 43</a:t>
            </a:r>
          </a:p>
        </p:txBody>
      </p:sp>
      <p:sp>
        <p:nvSpPr>
          <p:cNvPr id="8" name="Rounded Rectangle 7"/>
          <p:cNvSpPr/>
          <p:nvPr/>
        </p:nvSpPr>
        <p:spPr>
          <a:xfrm>
            <a:off x="502920"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PROMPT PRESSURE</a:t>
            </a:r>
          </a:p>
        </p:txBody>
      </p:sp>
      <p:sp>
        <p:nvSpPr>
          <p:cNvPr id="11" name="TextBox 10"/>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Long prompts</a:t>
            </a:r>
          </a:p>
        </p:txBody>
      </p:sp>
      <p:sp>
        <p:nvSpPr>
          <p:cNvPr id="12" name="TextBox 11"/>
          <p:cNvSpPr txBox="1"/>
          <p:nvPr/>
        </p:nvSpPr>
        <p:spPr>
          <a:xfrm>
            <a:off x="685800"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RAG and retrieval add significant prefill work.</a:t>
            </a:r>
          </a:p>
        </p:txBody>
      </p:sp>
      <p:sp>
        <p:nvSpPr>
          <p:cNvPr id="13" name="Rounded Rectangle 12"/>
          <p:cNvSpPr/>
          <p:nvPr/>
        </p:nvSpPr>
        <p:spPr>
          <a:xfrm>
            <a:off x="4288536"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GENERATION PRESSURE</a:t>
            </a:r>
          </a:p>
        </p:txBody>
      </p:sp>
      <p:sp>
        <p:nvSpPr>
          <p:cNvPr id="16" name="TextBox 15"/>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Long generations</a:t>
            </a:r>
          </a:p>
        </p:txBody>
      </p:sp>
      <p:sp>
        <p:nvSpPr>
          <p:cNvPr id="17" name="TextBox 16"/>
          <p:cNvSpPr txBox="1"/>
          <p:nvPr/>
        </p:nvSpPr>
        <p:spPr>
          <a:xfrm>
            <a:off x="4471416"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High concurrency keeps decode busy and KV state resident.</a:t>
            </a:r>
          </a:p>
        </p:txBody>
      </p:sp>
      <p:sp>
        <p:nvSpPr>
          <p:cNvPr id="18" name="Rounded Rectangle 17"/>
          <p:cNvSpPr/>
          <p:nvPr/>
        </p:nvSpPr>
        <p:spPr>
          <a:xfrm>
            <a:off x="8074152" y="2148840"/>
            <a:ext cx="3611880" cy="3154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CAPACITY MISMATCH</a:t>
            </a:r>
          </a:p>
        </p:txBody>
      </p:sp>
      <p:sp>
        <p:nvSpPr>
          <p:cNvPr id="21" name="TextBox 20"/>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Different resources</a:t>
            </a:r>
          </a:p>
        </p:txBody>
      </p:sp>
      <p:sp>
        <p:nvSpPr>
          <p:cNvPr id="22" name="TextBox 21"/>
          <p:cNvSpPr txBox="1"/>
          <p:nvPr/>
        </p:nvSpPr>
        <p:spPr>
          <a:xfrm>
            <a:off x="8257031" y="3465576"/>
            <a:ext cx="3246120" cy="1691640"/>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Each phase needs its own scaling or parallelism choices.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01 / THE PROBLEM</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Keep aggregated serving when simplicity wins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P/D is an option, not a default.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Small workload + slow transfer fabric is a strong reason not to split.</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07 / 43</a:t>
            </a:r>
          </a:p>
        </p:txBody>
      </p:sp>
      <p:sp>
        <p:nvSpPr>
          <p:cNvPr id="10" name="Rounded Rectangle 9"/>
          <p:cNvSpPr/>
          <p:nvPr/>
        </p:nvSpPr>
        <p:spPr>
          <a:xfrm>
            <a:off x="502920"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5915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When aggregated fits</a:t>
            </a:r>
          </a:p>
        </p:txBody>
      </p:sp>
      <p:sp>
        <p:nvSpPr>
          <p:cNvPr id="13" name="TextBox 12"/>
          <p:cNvSpPr txBox="1"/>
          <p:nvPr/>
        </p:nvSpPr>
        <p:spPr>
          <a:xfrm>
            <a:off x="685800"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Small models or short prompts</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Low request concurrency</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Simple, stable capacity needs</a:t>
            </a:r>
          </a:p>
        </p:txBody>
      </p:sp>
      <p:sp>
        <p:nvSpPr>
          <p:cNvPr id="14" name="Rounded Rectangle 13"/>
          <p:cNvSpPr/>
          <p:nvPr/>
        </p:nvSpPr>
        <p:spPr>
          <a:xfrm>
            <a:off x="6199632" y="2176272"/>
            <a:ext cx="5440680" cy="3246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64224" y="2359152"/>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2542032"/>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The split adds real costs</a:t>
            </a:r>
          </a:p>
        </p:txBody>
      </p:sp>
      <p:sp>
        <p:nvSpPr>
          <p:cNvPr id="17" name="TextBox 16"/>
          <p:cNvSpPr txBox="1"/>
          <p:nvPr/>
        </p:nvSpPr>
        <p:spPr>
          <a:xfrm>
            <a:off x="6382512" y="3145536"/>
            <a:ext cx="5074920" cy="2130551"/>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KV transfer across the fabric</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More routing and runtime wiring</a:t>
            </a:r>
          </a:p>
          <a:p>
            <a:pPr>
              <a:spcBef>
                <a:spcPts val="0"/>
              </a:spcBef>
              <a:spcAft>
                <a:spcPts val="500"/>
              </a:spcAft>
              <a:defRPr sz="2000" b="0">
                <a:solidFill>
                  <a:srgbClr val="172941"/>
                </a:solidFill>
                <a:latin typeface="Arial"/>
              </a:defRPr>
            </a:pPr>
          </a:p>
          <a:p>
            <a:pPr>
              <a:spcBef>
                <a:spcPts val="0"/>
              </a:spcBef>
              <a:spcAft>
                <a:spcPts val="500"/>
              </a:spcAft>
              <a:defRPr sz="2000" b="0">
                <a:solidFill>
                  <a:srgbClr val="172941"/>
                </a:solidFill>
                <a:latin typeface="Arial"/>
              </a:defRPr>
            </a:pPr>
            <a:r>
              <a:t>Additional failure boundaries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THE ORCHESTRATION GAP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hard part is the Kubernetes wiring</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two-pool idea expands into a network of runtime contracts.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Correct routing, transfer settings, labels, ports, and readiness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08 / 43</a:t>
            </a:r>
          </a:p>
        </p:txBody>
      </p:sp>
      <p:sp>
        <p:nvSpPr>
          <p:cNvPr id="10" name="Rounded Rectangle 9"/>
          <p:cNvSpPr/>
          <p:nvPr/>
        </p:nvSpPr>
        <p:spPr>
          <a:xfrm>
            <a:off x="4407408" y="3136392"/>
            <a:ext cx="3383280" cy="9601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07408" y="3227832"/>
            <a:ext cx="50292" cy="7772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44568" y="3255264"/>
            <a:ext cx="3108960"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One model service</a:t>
            </a:r>
          </a:p>
        </p:txBody>
      </p:sp>
      <p:sp>
        <p:nvSpPr>
          <p:cNvPr id="13" name="TextBox 12"/>
          <p:cNvSpPr txBox="1"/>
          <p:nvPr/>
        </p:nvSpPr>
        <p:spPr>
          <a:xfrm>
            <a:off x="4553712" y="3694176"/>
            <a:ext cx="3090672" cy="3108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Two role-specific backends</a:t>
            </a:r>
          </a:p>
        </p:txBody>
      </p:sp>
      <p:sp>
        <p:nvSpPr>
          <p:cNvPr id="14" name="Rounded Rectangle 13"/>
          <p:cNvSpPr/>
          <p:nvPr/>
        </p:nvSpPr>
        <p:spPr>
          <a:xfrm>
            <a:off x="502920"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194560"/>
            <a:ext cx="50292" cy="9601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Routing topology</a:t>
            </a:r>
          </a:p>
        </p:txBody>
      </p:sp>
      <p:sp>
        <p:nvSpPr>
          <p:cNvPr id="17" name="TextBox 16"/>
          <p:cNvSpPr txBox="1"/>
          <p:nvPr/>
        </p:nvSpPr>
        <p:spPr>
          <a:xfrm>
            <a:off x="649224"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endpoint selection</a:t>
            </a:r>
          </a:p>
        </p:txBody>
      </p:sp>
      <p:sp>
        <p:nvSpPr>
          <p:cNvPr id="18" name="Rounded Rectangle 17"/>
          <p:cNvSpPr/>
          <p:nvPr/>
        </p:nvSpPr>
        <p:spPr>
          <a:xfrm>
            <a:off x="502920"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27939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KV-transfer contract</a:t>
            </a:r>
          </a:p>
        </p:txBody>
      </p:sp>
      <p:sp>
        <p:nvSpPr>
          <p:cNvPr id="21" name="TextBox 20"/>
          <p:cNvSpPr txBox="1"/>
          <p:nvPr/>
        </p:nvSpPr>
        <p:spPr>
          <a:xfrm>
            <a:off x="649224"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Connector + transport settings</a:t>
            </a:r>
          </a:p>
        </p:txBody>
      </p:sp>
      <p:sp>
        <p:nvSpPr>
          <p:cNvPr id="22" name="Rounded Rectangle 21"/>
          <p:cNvSpPr/>
          <p:nvPr/>
        </p:nvSpPr>
        <p:spPr>
          <a:xfrm>
            <a:off x="8257031" y="2103120"/>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57031" y="219456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94192" y="2221991"/>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Decode-side proxy</a:t>
            </a:r>
          </a:p>
        </p:txBody>
      </p:sp>
      <p:sp>
        <p:nvSpPr>
          <p:cNvPr id="25" name="TextBox 24"/>
          <p:cNvSpPr txBox="1"/>
          <p:nvPr/>
        </p:nvSpPr>
        <p:spPr>
          <a:xfrm>
            <a:off x="8403336" y="2660904"/>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Request orchestration</a:t>
            </a:r>
          </a:p>
        </p:txBody>
      </p:sp>
      <p:sp>
        <p:nvSpPr>
          <p:cNvPr id="26" name="Rounded Rectangle 25"/>
          <p:cNvSpPr/>
          <p:nvPr/>
        </p:nvSpPr>
        <p:spPr>
          <a:xfrm>
            <a:off x="8257031" y="4187952"/>
            <a:ext cx="3429000"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57031" y="4279392"/>
            <a:ext cx="50292" cy="9601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94192" y="4306824"/>
            <a:ext cx="31546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AE641A"/>
                </a:solidFill>
                <a:latin typeface="Arial"/>
              </a:defRPr>
            </a:pPr>
            <a:r>
              <a:t>Lifecycle + scaling</a:t>
            </a:r>
          </a:p>
        </p:txBody>
      </p:sp>
      <p:sp>
        <p:nvSpPr>
          <p:cNvPr id="29" name="TextBox 28"/>
          <p:cNvSpPr txBox="1"/>
          <p:nvPr/>
        </p:nvSpPr>
        <p:spPr>
          <a:xfrm>
            <a:off x="8403336" y="4745736"/>
            <a:ext cx="3136392"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Ports, labels, probes, replicas</a:t>
            </a:r>
          </a:p>
        </p:txBody>
      </p:sp>
      <p:cxnSp>
        <p:nvCxnSpPr>
          <p:cNvPr id="30" name="Connector 29"/>
          <p:cNvCxnSpPr/>
          <p:nvPr/>
        </p:nvCxnSpPr>
        <p:spPr>
          <a:xfrm>
            <a:off x="3931920" y="2679192"/>
            <a:ext cx="22860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160520" y="2679192"/>
            <a:ext cx="0" cy="7498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160520" y="3429000"/>
            <a:ext cx="2468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931920" y="4754880"/>
            <a:ext cx="22860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4160520" y="3813048"/>
            <a:ext cx="0" cy="941832"/>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160520" y="3813048"/>
            <a:ext cx="2468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790688" y="3429000"/>
            <a:ext cx="22860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8019288" y="2679192"/>
            <a:ext cx="0" cy="7498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019288" y="2679192"/>
            <a:ext cx="237743"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790688" y="3813048"/>
            <a:ext cx="22860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8019288" y="3813048"/>
            <a:ext cx="0" cy="941832"/>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019288" y="4754880"/>
            <a:ext cx="237743"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02 / ECOSYSTEM LANDSCAPE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Open-source P/D: several paths, different abstractions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Representative approaches—not an adoption ranking or mutually exclusive stacks.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Declarative APIs already exist. The opportunity is simpler integration—not the first CRD.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09 / 43</a:t>
            </a:r>
          </a:p>
        </p:txBody>
      </p:sp>
      <p:sp>
        <p:nvSpPr>
          <p:cNvPr id="10" name="Rectangle 9"/>
          <p:cNvSpPr/>
          <p:nvPr/>
        </p:nvSpPr>
        <p:spPr>
          <a:xfrm>
            <a:off x="502920" y="1938528"/>
            <a:ext cx="285750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2016252"/>
            <a:ext cx="2679191"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APPROACH</a:t>
            </a:r>
          </a:p>
        </p:txBody>
      </p:sp>
      <p:sp>
        <p:nvSpPr>
          <p:cNvPr id="12" name="Rectangle 11"/>
          <p:cNvSpPr/>
          <p:nvPr/>
        </p:nvSpPr>
        <p:spPr>
          <a:xfrm>
            <a:off x="3383280" y="1938528"/>
            <a:ext cx="3936491"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83864" y="2016252"/>
            <a:ext cx="3758184"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SERVING / ROUTING PATH</a:t>
            </a:r>
          </a:p>
        </p:txBody>
      </p:sp>
      <p:sp>
        <p:nvSpPr>
          <p:cNvPr id="14" name="Rectangle 13"/>
          <p:cNvSpPr/>
          <p:nvPr/>
        </p:nvSpPr>
        <p:spPr>
          <a:xfrm>
            <a:off x="7342632" y="1938528"/>
            <a:ext cx="4320540" cy="406908"/>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43216" y="2016252"/>
            <a:ext cx="4142232" cy="292608"/>
          </a:xfrm>
          <a:prstGeom prst="rect">
            <a:avLst/>
          </a:prstGeom>
          <a:noFill/>
        </p:spPr>
        <p:txBody>
          <a:bodyPr wrap="square" lIns="13716" rIns="13716" tIns="13716" bIns="13716">
            <a:spAutoFit/>
          </a:bodyPr>
          <a:lstStyle/>
          <a:p>
            <a:pPr>
              <a:spcBef>
                <a:spcPts val="0"/>
              </a:spcBef>
              <a:spcAft>
                <a:spcPts val="500"/>
              </a:spcAft>
              <a:defRPr sz="1300" b="1">
                <a:solidFill>
                  <a:srgbClr val="FFFFFF"/>
                </a:solidFill>
                <a:latin typeface="Arial"/>
              </a:defRPr>
            </a:pPr>
            <a:r>
              <a:t>KUBERNETES PACKAGING</a:t>
            </a:r>
          </a:p>
        </p:txBody>
      </p:sp>
      <p:sp>
        <p:nvSpPr>
          <p:cNvPr id="16" name="Rectangle 15"/>
          <p:cNvSpPr/>
          <p:nvPr/>
        </p:nvSpPr>
        <p:spPr>
          <a:xfrm>
            <a:off x="502920" y="2368296"/>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 y="2446020"/>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NVIDIA Dynamo</a:t>
            </a:r>
          </a:p>
        </p:txBody>
      </p:sp>
      <p:sp>
        <p:nvSpPr>
          <p:cNvPr id="18" name="Rectangle 17"/>
          <p:cNvSpPr/>
          <p:nvPr/>
        </p:nvSpPr>
        <p:spPr>
          <a:xfrm>
            <a:off x="3383280" y="2368296"/>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83864" y="2446020"/>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Integrated inference stack</a:t>
            </a:r>
          </a:p>
        </p:txBody>
      </p:sp>
      <p:sp>
        <p:nvSpPr>
          <p:cNvPr id="20" name="Rectangle 19"/>
          <p:cNvSpPr/>
          <p:nvPr/>
        </p:nvSpPr>
        <p:spPr>
          <a:xfrm>
            <a:off x="7342632" y="2368296"/>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43216" y="2446020"/>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Operator + DynamoGraphDeployment</a:t>
            </a:r>
          </a:p>
        </p:txBody>
      </p:sp>
      <p:sp>
        <p:nvSpPr>
          <p:cNvPr id="22" name="Rectangle 21"/>
          <p:cNvSpPr/>
          <p:nvPr/>
        </p:nvSpPr>
        <p:spPr>
          <a:xfrm>
            <a:off x="502920" y="2798064"/>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03504" y="2875788"/>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llm-d</a:t>
            </a:r>
          </a:p>
        </p:txBody>
      </p:sp>
      <p:sp>
        <p:nvSpPr>
          <p:cNvPr id="24" name="Rectangle 23"/>
          <p:cNvSpPr/>
          <p:nvPr/>
        </p:nvSpPr>
        <p:spPr>
          <a:xfrm>
            <a:off x="3383280" y="2798064"/>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83864" y="2875788"/>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EPP + routing sidecar</a:t>
            </a:r>
          </a:p>
        </p:txBody>
      </p:sp>
      <p:sp>
        <p:nvSpPr>
          <p:cNvPr id="26" name="Rectangle 25"/>
          <p:cNvSpPr/>
          <p:nvPr/>
        </p:nvSpPr>
        <p:spPr>
          <a:xfrm>
            <a:off x="7342632" y="2798064"/>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43216" y="2875788"/>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Gateway API / InferencePool</a:t>
            </a:r>
          </a:p>
        </p:txBody>
      </p:sp>
      <p:sp>
        <p:nvSpPr>
          <p:cNvPr id="28" name="Rectangle 27"/>
          <p:cNvSpPr/>
          <p:nvPr/>
        </p:nvSpPr>
        <p:spPr>
          <a:xfrm>
            <a:off x="502920" y="3227832"/>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3504" y="3305556"/>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AIBrix</a:t>
            </a:r>
          </a:p>
        </p:txBody>
      </p:sp>
      <p:sp>
        <p:nvSpPr>
          <p:cNvPr id="30" name="Rectangle 29"/>
          <p:cNvSpPr/>
          <p:nvPr/>
        </p:nvSpPr>
        <p:spPr>
          <a:xfrm>
            <a:off x="3383280" y="3227832"/>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3864" y="3305556"/>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P/D-aware gateway + engines</a:t>
            </a:r>
          </a:p>
        </p:txBody>
      </p:sp>
      <p:sp>
        <p:nvSpPr>
          <p:cNvPr id="32" name="Rectangle 31"/>
          <p:cNvSpPr/>
          <p:nvPr/>
        </p:nvSpPr>
        <p:spPr>
          <a:xfrm>
            <a:off x="7342632" y="3227832"/>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43216" y="3305556"/>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StormService / RoleSet</a:t>
            </a:r>
          </a:p>
        </p:txBody>
      </p:sp>
      <p:sp>
        <p:nvSpPr>
          <p:cNvPr id="34" name="Rectangle 33"/>
          <p:cNvSpPr/>
          <p:nvPr/>
        </p:nvSpPr>
        <p:spPr>
          <a:xfrm>
            <a:off x="502920" y="3657600"/>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 y="3735324"/>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KServe + llm-d</a:t>
            </a:r>
          </a:p>
        </p:txBody>
      </p:sp>
      <p:sp>
        <p:nvSpPr>
          <p:cNvPr id="36" name="Rectangle 35"/>
          <p:cNvSpPr/>
          <p:nvPr/>
        </p:nvSpPr>
        <p:spPr>
          <a:xfrm>
            <a:off x="3383280" y="3657600"/>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83864" y="3735324"/>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llm-d serving integration</a:t>
            </a:r>
          </a:p>
        </p:txBody>
      </p:sp>
      <p:sp>
        <p:nvSpPr>
          <p:cNvPr id="38" name="Rectangle 37"/>
          <p:cNvSpPr/>
          <p:nvPr/>
        </p:nvSpPr>
        <p:spPr>
          <a:xfrm>
            <a:off x="7342632" y="3657600"/>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6" y="3735324"/>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LLMInferenceService</a:t>
            </a:r>
          </a:p>
        </p:txBody>
      </p:sp>
      <p:sp>
        <p:nvSpPr>
          <p:cNvPr id="40" name="Rectangle 39"/>
          <p:cNvSpPr/>
          <p:nvPr/>
        </p:nvSpPr>
        <p:spPr>
          <a:xfrm>
            <a:off x="502920" y="4087368"/>
            <a:ext cx="285750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03504" y="4165091"/>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Ray Serve + KubeRay</a:t>
            </a:r>
          </a:p>
        </p:txBody>
      </p:sp>
      <p:sp>
        <p:nvSpPr>
          <p:cNvPr id="42" name="Rectangle 41"/>
          <p:cNvSpPr/>
          <p:nvPr/>
        </p:nvSpPr>
        <p:spPr>
          <a:xfrm>
            <a:off x="3383280" y="4087368"/>
            <a:ext cx="3936491"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483864" y="4165091"/>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P/D app + vLLM KV connectors</a:t>
            </a:r>
          </a:p>
        </p:txBody>
      </p:sp>
      <p:sp>
        <p:nvSpPr>
          <p:cNvPr id="44" name="Rectangle 43"/>
          <p:cNvSpPr/>
          <p:nvPr/>
        </p:nvSpPr>
        <p:spPr>
          <a:xfrm>
            <a:off x="7342632" y="4087368"/>
            <a:ext cx="4320540" cy="40690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43216" y="4165091"/>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RayService + Serve configuration</a:t>
            </a:r>
          </a:p>
        </p:txBody>
      </p:sp>
      <p:sp>
        <p:nvSpPr>
          <p:cNvPr id="46" name="Rectangle 45"/>
          <p:cNvSpPr/>
          <p:nvPr/>
        </p:nvSpPr>
        <p:spPr>
          <a:xfrm>
            <a:off x="502920" y="4517136"/>
            <a:ext cx="285750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03504" y="4594859"/>
            <a:ext cx="2679191" cy="292608"/>
          </a:xfrm>
          <a:prstGeom prst="rect">
            <a:avLst/>
          </a:prstGeom>
          <a:noFill/>
        </p:spPr>
        <p:txBody>
          <a:bodyPr wrap="square" lIns="13716" rIns="13716" tIns="13716" bIns="13716">
            <a:spAutoFit/>
          </a:bodyPr>
          <a:lstStyle/>
          <a:p>
            <a:pPr>
              <a:spcBef>
                <a:spcPts val="0"/>
              </a:spcBef>
              <a:spcAft>
                <a:spcPts val="500"/>
              </a:spcAft>
              <a:defRPr sz="1400" b="1">
                <a:solidFill>
                  <a:srgbClr val="2563EB"/>
                </a:solidFill>
                <a:latin typeface="Arial"/>
              </a:defRPr>
            </a:pPr>
            <a:r>
              <a:t>vLLM Production Stack</a:t>
            </a:r>
          </a:p>
        </p:txBody>
      </p:sp>
      <p:sp>
        <p:nvSpPr>
          <p:cNvPr id="48" name="Rectangle 47"/>
          <p:cNvSpPr/>
          <p:nvPr/>
        </p:nvSpPr>
        <p:spPr>
          <a:xfrm>
            <a:off x="3383280" y="4517136"/>
            <a:ext cx="3936491"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83864" y="4594859"/>
            <a:ext cx="3758184"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vLLM + LMCache / NIXL + router</a:t>
            </a:r>
          </a:p>
        </p:txBody>
      </p:sp>
      <p:sp>
        <p:nvSpPr>
          <p:cNvPr id="50" name="Rectangle 49"/>
          <p:cNvSpPr/>
          <p:nvPr/>
        </p:nvSpPr>
        <p:spPr>
          <a:xfrm>
            <a:off x="7342632" y="4517136"/>
            <a:ext cx="4320540" cy="406908"/>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443216" y="4594859"/>
            <a:ext cx="4142232" cy="292608"/>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Helm-managed P/D deployment</a:t>
            </a:r>
          </a:p>
        </p:txBody>
      </p:sp>
      <p:sp>
        <p:nvSpPr>
          <p:cNvPr id="52" name="Rounded Rectangle 51"/>
          <p:cNvSpPr/>
          <p:nvPr/>
        </p:nvSpPr>
        <p:spPr>
          <a:xfrm>
            <a:off x="502920" y="5074920"/>
            <a:ext cx="11183112" cy="521207"/>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5193792"/>
            <a:ext cx="10881360" cy="292608"/>
          </a:xfrm>
          <a:prstGeom prst="rect">
            <a:avLst/>
          </a:prstGeom>
          <a:noFill/>
        </p:spPr>
        <p:txBody>
          <a:bodyPr wrap="square" lIns="13716" rIns="13716" tIns="13716" bIns="13716">
            <a:spAutoFit/>
          </a:bodyPr>
          <a:lstStyle/>
          <a:p>
            <a:pPr>
              <a:spcBef>
                <a:spcPts val="0"/>
              </a:spcBef>
              <a:spcAft>
                <a:spcPts val="500"/>
              </a:spcAft>
              <a:defRPr sz="1500" b="0">
                <a:solidFill>
                  <a:srgbClr val="087F8C"/>
                </a:solidFill>
                <a:latin typeface="Arial"/>
              </a:defRPr>
            </a:pPr>
            <a:r>
              <a:t>Also: LWS DisaggregatedSet orchestrates roles; engines and KV transport remain separate.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INTEGRATION RATIONALE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Why llm-d is the best fit for KAITO’s P/D integration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For teams choosing KAITO’s Kubernetes operating model—not a universal best-platform claim.</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owns deployment intent and lifecycle; llm-d supplies reusable inference routing.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10 / 43</a:t>
            </a:r>
          </a:p>
        </p:txBody>
      </p:sp>
      <p:sp>
        <p:nvSpPr>
          <p:cNvPr id="10" name="Rounded Rectangle 9"/>
          <p:cNvSpPr/>
          <p:nvPr/>
        </p:nvSpPr>
        <p:spPr>
          <a:xfrm>
            <a:off x="502920"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066544"/>
            <a:ext cx="50292" cy="9326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KAITO</a:t>
            </a:r>
          </a:p>
        </p:txBody>
      </p:sp>
      <p:sp>
        <p:nvSpPr>
          <p:cNvPr id="13" name="TextBox 12"/>
          <p:cNvSpPr txBox="1"/>
          <p:nvPr/>
        </p:nvSpPr>
        <p:spPr>
          <a:xfrm>
            <a:off x="649224"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MRI → child InferenceSets</a:t>
            </a:r>
          </a:p>
        </p:txBody>
      </p:sp>
      <p:sp>
        <p:nvSpPr>
          <p:cNvPr id="14" name="Rounded Rectangle 13"/>
          <p:cNvSpPr/>
          <p:nvPr/>
        </p:nvSpPr>
        <p:spPr>
          <a:xfrm>
            <a:off x="4443984" y="1975104"/>
            <a:ext cx="3310128"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43984" y="2066544"/>
            <a:ext cx="50292" cy="93268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81144" y="2093976"/>
            <a:ext cx="3035808"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llm-d</a:t>
            </a:r>
          </a:p>
        </p:txBody>
      </p:sp>
      <p:sp>
        <p:nvSpPr>
          <p:cNvPr id="17" name="TextBox 16"/>
          <p:cNvSpPr txBox="1"/>
          <p:nvPr/>
        </p:nvSpPr>
        <p:spPr>
          <a:xfrm>
            <a:off x="4590288" y="2532888"/>
            <a:ext cx="3017520"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decode routing sidecar</a:t>
            </a:r>
          </a:p>
        </p:txBody>
      </p:sp>
      <p:sp>
        <p:nvSpPr>
          <p:cNvPr id="18" name="Rounded Rectangle 17"/>
          <p:cNvSpPr/>
          <p:nvPr/>
        </p:nvSpPr>
        <p:spPr>
          <a:xfrm>
            <a:off x="8385048" y="1975104"/>
            <a:ext cx="3300984" cy="11155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385048" y="2066544"/>
            <a:ext cx="50292" cy="93268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22208" y="2093976"/>
            <a:ext cx="302666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vLLM + NIXL</a:t>
            </a:r>
          </a:p>
        </p:txBody>
      </p:sp>
      <p:sp>
        <p:nvSpPr>
          <p:cNvPr id="21" name="TextBox 20"/>
          <p:cNvSpPr txBox="1"/>
          <p:nvPr/>
        </p:nvSpPr>
        <p:spPr>
          <a:xfrm>
            <a:off x="8531352" y="2532888"/>
            <a:ext cx="3008376" cy="4663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Execute phases + move KV</a:t>
            </a:r>
          </a:p>
        </p:txBody>
      </p:sp>
      <p:sp>
        <p:nvSpPr>
          <p:cNvPr id="22" name="TextBox 21"/>
          <p:cNvSpPr txBox="1"/>
          <p:nvPr/>
        </p:nvSpPr>
        <p:spPr>
          <a:xfrm>
            <a:off x="3877056"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3" name="TextBox 22"/>
          <p:cNvSpPr txBox="1"/>
          <p:nvPr/>
        </p:nvSpPr>
        <p:spPr>
          <a:xfrm>
            <a:off x="7818120" y="2304288"/>
            <a:ext cx="493776" cy="457200"/>
          </a:xfrm>
          <a:prstGeom prst="rect">
            <a:avLst/>
          </a:prstGeom>
          <a:noFill/>
        </p:spPr>
        <p:txBody>
          <a:bodyPr wrap="square" lIns="13716" rIns="13716" tIns="13716" bIns="13716">
            <a:spAutoFit/>
          </a:bodyPr>
          <a:lstStyle/>
          <a:p>
            <a:pPr algn="ctr">
              <a:spcBef>
                <a:spcPts val="0"/>
              </a:spcBef>
              <a:spcAft>
                <a:spcPts val="500"/>
              </a:spcAft>
              <a:defRPr sz="2600" b="1">
                <a:solidFill>
                  <a:srgbClr val="586A80"/>
                </a:solidFill>
                <a:latin typeface="Arial"/>
              </a:defRPr>
            </a:pPr>
            <a:r>
              <a:t>+</a:t>
            </a:r>
          </a:p>
        </p:txBody>
      </p:sp>
      <p:sp>
        <p:nvSpPr>
          <p:cNvPr id="24" name="Rounded Rectangle 23"/>
          <p:cNvSpPr/>
          <p:nvPr/>
        </p:nvSpPr>
        <p:spPr>
          <a:xfrm>
            <a:off x="502920"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67512" y="3456432"/>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Reuse the API model</a:t>
            </a:r>
          </a:p>
        </p:txBody>
      </p:sp>
      <p:sp>
        <p:nvSpPr>
          <p:cNvPr id="27" name="TextBox 26"/>
          <p:cNvSpPr txBox="1"/>
          <p:nvPr/>
        </p:nvSpPr>
        <p:spPr>
          <a:xfrm>
            <a:off x="685800"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Keep Workspace / InferenceSet.</a:t>
            </a:r>
          </a:p>
          <a:p>
            <a:pPr>
              <a:spcBef>
                <a:spcPts val="0"/>
              </a:spcBef>
              <a:spcAft>
                <a:spcPts val="500"/>
              </a:spcAft>
              <a:defRPr sz="1400" b="0">
                <a:solidFill>
                  <a:srgbClr val="172941"/>
                </a:solidFill>
                <a:latin typeface="Arial"/>
              </a:defRPr>
            </a:pPr>
            <a:r>
              <a:t>Add role-specific replicas, GPU</a:t>
            </a:r>
          </a:p>
          <a:p>
            <a:pPr>
              <a:spcBef>
                <a:spcPts val="0"/>
              </a:spcBef>
              <a:spcAft>
                <a:spcPts val="500"/>
              </a:spcAft>
              <a:defRPr sz="1400" b="0">
                <a:solidFill>
                  <a:srgbClr val="172941"/>
                </a:solidFill>
                <a:latin typeface="Arial"/>
              </a:defRPr>
            </a:pPr>
            <a:r>
              <a:t>instance types and runtime settings.</a:t>
            </a:r>
          </a:p>
        </p:txBody>
      </p:sp>
      <p:sp>
        <p:nvSpPr>
          <p:cNvPr id="28" name="Rounded Rectangle 27"/>
          <p:cNvSpPr/>
          <p:nvPr/>
        </p:nvSpPr>
        <p:spPr>
          <a:xfrm>
            <a:off x="4288536"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53127" y="3456432"/>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71416"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Integrate, do not rebuild</a:t>
            </a:r>
          </a:p>
        </p:txBody>
      </p:sp>
      <p:sp>
        <p:nvSpPr>
          <p:cNvPr id="31" name="TextBox 30"/>
          <p:cNvSpPr txBox="1"/>
          <p:nvPr/>
        </p:nvSpPr>
        <p:spPr>
          <a:xfrm>
            <a:off x="4471416"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Reuse P/D-aware endpoint selection</a:t>
            </a:r>
          </a:p>
          <a:p>
            <a:pPr>
              <a:spcBef>
                <a:spcPts val="0"/>
              </a:spcBef>
              <a:spcAft>
                <a:spcPts val="500"/>
              </a:spcAft>
              <a:defRPr sz="1400" b="0">
                <a:solidFill>
                  <a:srgbClr val="172941"/>
                </a:solidFill>
                <a:latin typeface="Arial"/>
              </a:defRPr>
            </a:pPr>
            <a:r>
              <a:t>and request orchestration. KAITO</a:t>
            </a:r>
          </a:p>
          <a:p>
            <a:pPr>
              <a:spcBef>
                <a:spcPts val="0"/>
              </a:spcBef>
              <a:spcAft>
                <a:spcPts val="500"/>
              </a:spcAft>
              <a:defRPr sz="1400" b="0">
                <a:solidFill>
                  <a:srgbClr val="172941"/>
                </a:solidFill>
                <a:latin typeface="Arial"/>
              </a:defRPr>
            </a:pPr>
            <a:r>
              <a:t>wires sidecars, ports and the pool.</a:t>
            </a:r>
          </a:p>
        </p:txBody>
      </p:sp>
      <p:sp>
        <p:nvSpPr>
          <p:cNvPr id="32" name="Rounded Rectangle 31"/>
          <p:cNvSpPr/>
          <p:nvPr/>
        </p:nvSpPr>
        <p:spPr>
          <a:xfrm>
            <a:off x="8074152" y="3273552"/>
            <a:ext cx="3611880" cy="1938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238744" y="3456432"/>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36393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Clear ownership</a:t>
            </a:r>
          </a:p>
        </p:txBody>
      </p:sp>
      <p:sp>
        <p:nvSpPr>
          <p:cNvPr id="35" name="TextBox 34"/>
          <p:cNvSpPr txBox="1"/>
          <p:nvPr/>
        </p:nvSpPr>
        <p:spPr>
          <a:xfrm>
            <a:off x="8257031" y="4242816"/>
            <a:ext cx="3246120" cy="822960"/>
          </a:xfrm>
          <a:prstGeom prst="rect">
            <a:avLst/>
          </a:prstGeom>
          <a:noFill/>
        </p:spPr>
        <p:txBody>
          <a:bodyPr wrap="square" lIns="13716" rIns="13716" tIns="13716" bIns="13716">
            <a:spAutoFit/>
          </a:bodyPr>
          <a:lstStyle/>
          <a:p>
            <a:pPr>
              <a:spcBef>
                <a:spcPts val="0"/>
              </a:spcBef>
              <a:spcAft>
                <a:spcPts val="500"/>
              </a:spcAft>
              <a:defRPr sz="1400" b="0">
                <a:solidFill>
                  <a:srgbClr val="172941"/>
                </a:solidFill>
                <a:latin typeface="Arial"/>
              </a:defRPr>
            </a:pPr>
            <a:r>
              <a:t>Use Gateway API / InferencePool.</a:t>
            </a:r>
          </a:p>
          <a:p>
            <a:pPr>
              <a:spcBef>
                <a:spcPts val="0"/>
              </a:spcBef>
              <a:spcAft>
                <a:spcPts val="500"/>
              </a:spcAft>
              <a:defRPr sz="1400" b="0">
                <a:solidFill>
                  <a:srgbClr val="172941"/>
                </a:solidFill>
                <a:latin typeface="Arial"/>
              </a:defRPr>
            </a:pPr>
            <a:r>
              <a:t>Keep routing plugins upstream;</a:t>
            </a:r>
          </a:p>
          <a:p>
            <a:pPr>
              <a:spcBef>
                <a:spcPts val="0"/>
              </a:spcBef>
              <a:spcAft>
                <a:spcPts val="500"/>
              </a:spcAft>
              <a:defRPr sz="1400" b="0">
                <a:solidFill>
                  <a:srgbClr val="172941"/>
                </a:solidFill>
                <a:latin typeface="Arial"/>
              </a:defRPr>
            </a:pPr>
            <a:r>
              <a:t>avoid adding a second serving API.</a:t>
            </a:r>
          </a:p>
        </p:txBody>
      </p:sp>
      <p:sp>
        <p:nvSpPr>
          <p:cNvPr id="36" name="TextBox 35"/>
          <p:cNvSpPr txBox="1"/>
          <p:nvPr/>
        </p:nvSpPr>
        <p:spPr>
          <a:xfrm>
            <a:off x="530352" y="5285232"/>
            <a:ext cx="11109960" cy="365760"/>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Current scope: alpha MRI • vLLM + Istio • GPU connectivity for KV transfer • scaling policy still needs 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KAITO turns inference topology into Kubernetes APIs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control-plane progression from model serving to distributed inference.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is the abstraction and orchestration layer—not the model server.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11 / 43</a:t>
            </a:r>
          </a:p>
        </p:txBody>
      </p:sp>
      <p:sp>
        <p:nvSpPr>
          <p:cNvPr id="10" name="Rounded Rectangle 9"/>
          <p:cNvSpPr/>
          <p:nvPr/>
        </p:nvSpPr>
        <p:spPr>
          <a:xfrm>
            <a:off x="502920" y="3108960"/>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3200400"/>
            <a:ext cx="50292" cy="1216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27832"/>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Workspace</a:t>
            </a:r>
          </a:p>
        </p:txBody>
      </p:sp>
      <p:sp>
        <p:nvSpPr>
          <p:cNvPr id="13" name="TextBox 12"/>
          <p:cNvSpPr txBox="1"/>
          <p:nvPr/>
        </p:nvSpPr>
        <p:spPr>
          <a:xfrm>
            <a:off x="649224" y="3666744"/>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 a serving</a:t>
            </a:r>
          </a:p>
          <a:p>
            <a:pPr algn="ctr">
              <a:spcBef>
                <a:spcPts val="0"/>
              </a:spcBef>
              <a:spcAft>
                <a:spcPts val="500"/>
              </a:spcAft>
              <a:defRPr sz="1400" b="0">
                <a:solidFill>
                  <a:srgbClr val="586A80"/>
                </a:solidFill>
                <a:latin typeface="Arial"/>
              </a:defRPr>
            </a:pPr>
            <a:r>
              <a:t>or tuning workload</a:t>
            </a:r>
          </a:p>
        </p:txBody>
      </p:sp>
      <p:sp>
        <p:nvSpPr>
          <p:cNvPr id="14" name="TextBox 13"/>
          <p:cNvSpPr txBox="1"/>
          <p:nvPr/>
        </p:nvSpPr>
        <p:spPr>
          <a:xfrm>
            <a:off x="502920" y="4690872"/>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2563EB"/>
                </a:solidFill>
                <a:latin typeface="Arial"/>
              </a:defRPr>
            </a:pPr>
            <a:r>
              <a:t>SERVE</a:t>
            </a:r>
          </a:p>
        </p:txBody>
      </p:sp>
      <p:cxnSp>
        <p:nvCxnSpPr>
          <p:cNvPr id="15" name="Connector 14"/>
          <p:cNvCxnSpPr/>
          <p:nvPr/>
        </p:nvCxnSpPr>
        <p:spPr>
          <a:xfrm>
            <a:off x="3191256" y="3794760"/>
            <a:ext cx="9144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3282696" y="3502152"/>
            <a:ext cx="0" cy="2926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282696" y="3502152"/>
            <a:ext cx="82295"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364991" y="2816352"/>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64991" y="2907792"/>
            <a:ext cx="50292" cy="12161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02151" y="2935224"/>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InferenceSet</a:t>
            </a:r>
          </a:p>
        </p:txBody>
      </p:sp>
      <p:sp>
        <p:nvSpPr>
          <p:cNvPr id="21" name="TextBox 20"/>
          <p:cNvSpPr txBox="1"/>
          <p:nvPr/>
        </p:nvSpPr>
        <p:spPr>
          <a:xfrm>
            <a:off x="3511296" y="3374136"/>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serving</a:t>
            </a:r>
          </a:p>
          <a:p>
            <a:pPr algn="ctr">
              <a:spcBef>
                <a:spcPts val="0"/>
              </a:spcBef>
              <a:spcAft>
                <a:spcPts val="500"/>
              </a:spcAft>
              <a:defRPr sz="1400" b="0">
                <a:solidFill>
                  <a:srgbClr val="586A80"/>
                </a:solidFill>
                <a:latin typeface="Arial"/>
              </a:defRPr>
            </a:pPr>
            <a:r>
              <a:t>replicas</a:t>
            </a:r>
          </a:p>
        </p:txBody>
      </p:sp>
      <p:sp>
        <p:nvSpPr>
          <p:cNvPr id="22" name="TextBox 21"/>
          <p:cNvSpPr txBox="1"/>
          <p:nvPr/>
        </p:nvSpPr>
        <p:spPr>
          <a:xfrm>
            <a:off x="3364991" y="4398264"/>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087F8C"/>
                </a:solidFill>
                <a:latin typeface="Arial"/>
              </a:defRPr>
            </a:pPr>
            <a:r>
              <a:t>SCALE</a:t>
            </a:r>
          </a:p>
        </p:txBody>
      </p:sp>
      <p:cxnSp>
        <p:nvCxnSpPr>
          <p:cNvPr id="23" name="Connector 22"/>
          <p:cNvCxnSpPr/>
          <p:nvPr/>
        </p:nvCxnSpPr>
        <p:spPr>
          <a:xfrm>
            <a:off x="6053327" y="3502152"/>
            <a:ext cx="91441"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6144768" y="3209544"/>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144768" y="3209544"/>
            <a:ext cx="8229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227064" y="2523744"/>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27064" y="2615184"/>
            <a:ext cx="50292" cy="12161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64224" y="2642615"/>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InferencePool</a:t>
            </a:r>
          </a:p>
        </p:txBody>
      </p:sp>
      <p:sp>
        <p:nvSpPr>
          <p:cNvPr id="29" name="TextBox 28"/>
          <p:cNvSpPr txBox="1"/>
          <p:nvPr/>
        </p:nvSpPr>
        <p:spPr>
          <a:xfrm>
            <a:off x="6373368" y="3081528"/>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Expose routing-facing</a:t>
            </a:r>
          </a:p>
          <a:p>
            <a:pPr algn="ctr">
              <a:spcBef>
                <a:spcPts val="0"/>
              </a:spcBef>
              <a:spcAft>
                <a:spcPts val="500"/>
              </a:spcAft>
              <a:defRPr sz="1400" b="0">
                <a:solidFill>
                  <a:srgbClr val="586A80"/>
                </a:solidFill>
                <a:latin typeface="Arial"/>
              </a:defRPr>
            </a:pPr>
            <a:r>
              <a:t>backend groups</a:t>
            </a:r>
          </a:p>
        </p:txBody>
      </p:sp>
      <p:sp>
        <p:nvSpPr>
          <p:cNvPr id="30" name="TextBox 29"/>
          <p:cNvSpPr txBox="1"/>
          <p:nvPr/>
        </p:nvSpPr>
        <p:spPr>
          <a:xfrm>
            <a:off x="6227064" y="4105656"/>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7354B8"/>
                </a:solidFill>
                <a:latin typeface="Arial"/>
              </a:defRPr>
            </a:pPr>
            <a:r>
              <a:t>ROUTE</a:t>
            </a:r>
          </a:p>
        </p:txBody>
      </p:sp>
      <p:cxnSp>
        <p:nvCxnSpPr>
          <p:cNvPr id="31" name="Connector 30"/>
          <p:cNvCxnSpPr/>
          <p:nvPr/>
        </p:nvCxnSpPr>
        <p:spPr>
          <a:xfrm>
            <a:off x="8915400" y="3209544"/>
            <a:ext cx="9144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9006840" y="2916936"/>
            <a:ext cx="0" cy="292608"/>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006840" y="2916936"/>
            <a:ext cx="8229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9089136" y="2231136"/>
            <a:ext cx="2688336" cy="13990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089136" y="2322576"/>
            <a:ext cx="50292" cy="121615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2350008"/>
            <a:ext cx="2414016" cy="393192"/>
          </a:xfrm>
          <a:prstGeom prst="rect">
            <a:avLst/>
          </a:prstGeom>
          <a:noFill/>
        </p:spPr>
        <p:txBody>
          <a:bodyPr wrap="square" lIns="13716" rIns="13716" tIns="13716" bIns="13716">
            <a:spAutoFit/>
          </a:bodyPr>
          <a:lstStyle/>
          <a:p>
            <a:pPr algn="ctr">
              <a:spcBef>
                <a:spcPts val="0"/>
              </a:spcBef>
              <a:spcAft>
                <a:spcPts val="500"/>
              </a:spcAft>
              <a:defRPr sz="1600" b="1">
                <a:solidFill>
                  <a:srgbClr val="AE641A"/>
                </a:solidFill>
                <a:latin typeface="Arial"/>
              </a:defRPr>
            </a:pPr>
            <a:r>
              <a:t>MultiRoleInference</a:t>
            </a:r>
          </a:p>
        </p:txBody>
      </p:sp>
      <p:sp>
        <p:nvSpPr>
          <p:cNvPr id="37" name="TextBox 36"/>
          <p:cNvSpPr txBox="1"/>
          <p:nvPr/>
        </p:nvSpPr>
        <p:spPr>
          <a:xfrm>
            <a:off x="9235440" y="2788920"/>
            <a:ext cx="2395728" cy="7498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Describe role-specific</a:t>
            </a:r>
          </a:p>
          <a:p>
            <a:pPr algn="ctr">
              <a:spcBef>
                <a:spcPts val="0"/>
              </a:spcBef>
              <a:spcAft>
                <a:spcPts val="500"/>
              </a:spcAft>
              <a:defRPr sz="1400" b="0">
                <a:solidFill>
                  <a:srgbClr val="586A80"/>
                </a:solidFill>
                <a:latin typeface="Arial"/>
              </a:defRPr>
            </a:pPr>
            <a:r>
              <a:t>serving topology</a:t>
            </a:r>
          </a:p>
        </p:txBody>
      </p:sp>
      <p:sp>
        <p:nvSpPr>
          <p:cNvPr id="38" name="TextBox 37"/>
          <p:cNvSpPr txBox="1"/>
          <p:nvPr/>
        </p:nvSpPr>
        <p:spPr>
          <a:xfrm>
            <a:off x="9089136" y="3813048"/>
            <a:ext cx="2688336" cy="365760"/>
          </a:xfrm>
          <a:prstGeom prst="rect">
            <a:avLst/>
          </a:prstGeom>
          <a:noFill/>
        </p:spPr>
        <p:txBody>
          <a:bodyPr wrap="square" lIns="13716" rIns="13716" tIns="13716" bIns="13716">
            <a:spAutoFit/>
          </a:bodyPr>
          <a:lstStyle/>
          <a:p>
            <a:pPr algn="ctr">
              <a:spcBef>
                <a:spcPts val="0"/>
              </a:spcBef>
              <a:spcAft>
                <a:spcPts val="500"/>
              </a:spcAft>
              <a:defRPr sz="1200" b="1">
                <a:solidFill>
                  <a:srgbClr val="AE641A"/>
                </a:solidFill>
                <a:latin typeface="Arial"/>
              </a:defRPr>
            </a:pPr>
            <a:r>
              <a:t>COMPOSE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continuous API model as serving gets harder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Add capabilities without asking users to hand-assemble a new stack.</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12 / 43</a:t>
            </a:r>
          </a:p>
        </p:txBody>
      </p:sp>
      <p:sp>
        <p:nvSpPr>
          <p:cNvPr id="8" name="Rectangle 7"/>
          <p:cNvSpPr/>
          <p:nvPr/>
        </p:nvSpPr>
        <p:spPr>
          <a:xfrm>
            <a:off x="502920" y="2212848"/>
            <a:ext cx="281178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31720"/>
            <a:ext cx="261518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USER NEED</a:t>
            </a:r>
          </a:p>
        </p:txBody>
      </p:sp>
      <p:sp>
        <p:nvSpPr>
          <p:cNvPr id="10" name="Rectangle 9"/>
          <p:cNvSpPr/>
          <p:nvPr/>
        </p:nvSpPr>
        <p:spPr>
          <a:xfrm>
            <a:off x="3337560" y="2212848"/>
            <a:ext cx="3360420"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2331720"/>
            <a:ext cx="3163824"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KUBERNETES OBJECT</a:t>
            </a:r>
          </a:p>
        </p:txBody>
      </p:sp>
      <p:sp>
        <p:nvSpPr>
          <p:cNvPr id="12" name="Rectangle 11"/>
          <p:cNvSpPr/>
          <p:nvPr/>
        </p:nvSpPr>
        <p:spPr>
          <a:xfrm>
            <a:off x="6720840" y="2212848"/>
            <a:ext cx="4988052" cy="580644"/>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30568" y="2331720"/>
            <a:ext cx="4791456" cy="420624"/>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PLATFORM RESPONSIBILITY</a:t>
            </a:r>
          </a:p>
        </p:txBody>
      </p:sp>
      <p:sp>
        <p:nvSpPr>
          <p:cNvPr id="14" name="Rectangle 13"/>
          <p:cNvSpPr/>
          <p:nvPr/>
        </p:nvSpPr>
        <p:spPr>
          <a:xfrm>
            <a:off x="502920" y="2816352"/>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2935224"/>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Run one model</a:t>
            </a:r>
          </a:p>
        </p:txBody>
      </p:sp>
      <p:sp>
        <p:nvSpPr>
          <p:cNvPr id="16" name="Rectangle 15"/>
          <p:cNvSpPr/>
          <p:nvPr/>
        </p:nvSpPr>
        <p:spPr>
          <a:xfrm>
            <a:off x="3337560" y="2816352"/>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47288" y="2935224"/>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Workspace</a:t>
            </a:r>
          </a:p>
        </p:txBody>
      </p:sp>
      <p:sp>
        <p:nvSpPr>
          <p:cNvPr id="18" name="Rectangle 17"/>
          <p:cNvSpPr/>
          <p:nvPr/>
        </p:nvSpPr>
        <p:spPr>
          <a:xfrm>
            <a:off x="6720840" y="2816352"/>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30568" y="2935224"/>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Provision and run the workload</a:t>
            </a:r>
          </a:p>
        </p:txBody>
      </p:sp>
      <p:sp>
        <p:nvSpPr>
          <p:cNvPr id="20" name="Rectangle 19"/>
          <p:cNvSpPr/>
          <p:nvPr/>
        </p:nvSpPr>
        <p:spPr>
          <a:xfrm>
            <a:off x="502920" y="3419856"/>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538728"/>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Add replicas</a:t>
            </a:r>
          </a:p>
        </p:txBody>
      </p:sp>
      <p:sp>
        <p:nvSpPr>
          <p:cNvPr id="22" name="Rectangle 21"/>
          <p:cNvSpPr/>
          <p:nvPr/>
        </p:nvSpPr>
        <p:spPr>
          <a:xfrm>
            <a:off x="3337560" y="3419856"/>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538728"/>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InferenceSet</a:t>
            </a:r>
          </a:p>
        </p:txBody>
      </p:sp>
      <p:sp>
        <p:nvSpPr>
          <p:cNvPr id="24" name="Rectangle 23"/>
          <p:cNvSpPr/>
          <p:nvPr/>
        </p:nvSpPr>
        <p:spPr>
          <a:xfrm>
            <a:off x="6720840" y="3419856"/>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30568" y="3538728"/>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Manage the replica set</a:t>
            </a:r>
          </a:p>
        </p:txBody>
      </p:sp>
      <p:sp>
        <p:nvSpPr>
          <p:cNvPr id="26" name="Rectangle 25"/>
          <p:cNvSpPr/>
          <p:nvPr/>
        </p:nvSpPr>
        <p:spPr>
          <a:xfrm>
            <a:off x="502920" y="4023360"/>
            <a:ext cx="281178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142232"/>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Route intelligently</a:t>
            </a:r>
          </a:p>
        </p:txBody>
      </p:sp>
      <p:sp>
        <p:nvSpPr>
          <p:cNvPr id="28" name="Rectangle 27"/>
          <p:cNvSpPr/>
          <p:nvPr/>
        </p:nvSpPr>
        <p:spPr>
          <a:xfrm>
            <a:off x="3337560" y="4023360"/>
            <a:ext cx="3360420"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47288" y="4142232"/>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InferencePool</a:t>
            </a:r>
          </a:p>
        </p:txBody>
      </p:sp>
      <p:sp>
        <p:nvSpPr>
          <p:cNvPr id="30" name="Rectangle 29"/>
          <p:cNvSpPr/>
          <p:nvPr/>
        </p:nvSpPr>
        <p:spPr>
          <a:xfrm>
            <a:off x="6720840" y="4023360"/>
            <a:ext cx="4988052" cy="5806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30568" y="4142232"/>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Integrate inference-aware routing</a:t>
            </a:r>
          </a:p>
        </p:txBody>
      </p:sp>
      <p:sp>
        <p:nvSpPr>
          <p:cNvPr id="32" name="Rectangle 31"/>
          <p:cNvSpPr/>
          <p:nvPr/>
        </p:nvSpPr>
        <p:spPr>
          <a:xfrm>
            <a:off x="502920" y="4626864"/>
            <a:ext cx="281178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4745736"/>
            <a:ext cx="2615184" cy="420624"/>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Split roles</a:t>
            </a:r>
          </a:p>
        </p:txBody>
      </p:sp>
      <p:sp>
        <p:nvSpPr>
          <p:cNvPr id="34" name="Rectangle 33"/>
          <p:cNvSpPr/>
          <p:nvPr/>
        </p:nvSpPr>
        <p:spPr>
          <a:xfrm>
            <a:off x="3337560" y="4626864"/>
            <a:ext cx="3360420"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7288" y="4745736"/>
            <a:ext cx="3163824"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MultiRoleInference</a:t>
            </a:r>
          </a:p>
        </p:txBody>
      </p:sp>
      <p:sp>
        <p:nvSpPr>
          <p:cNvPr id="36" name="Rectangle 35"/>
          <p:cNvSpPr/>
          <p:nvPr/>
        </p:nvSpPr>
        <p:spPr>
          <a:xfrm>
            <a:off x="6720840" y="4626864"/>
            <a:ext cx="4988052" cy="58064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30568" y="4745736"/>
            <a:ext cx="4791456" cy="420624"/>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Reconcile a multi-role topology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Clear responsibilities across the stack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stack works because each layer has a different job.</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KAITO composes the platform; llm-d routes; the runtime executes.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13 / 43</a:t>
            </a:r>
          </a:p>
        </p:txBody>
      </p:sp>
      <p:sp>
        <p:nvSpPr>
          <p:cNvPr id="10" name="Rounded Rectangle 9"/>
          <p:cNvSpPr/>
          <p:nvPr/>
        </p:nvSpPr>
        <p:spPr>
          <a:xfrm>
            <a:off x="502920" y="2130552"/>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395728"/>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2563EB"/>
                </a:solidFill>
                <a:latin typeface="Arial"/>
              </a:defRPr>
            </a:pPr>
            <a:r>
              <a:t>KAITO</a:t>
            </a:r>
          </a:p>
        </p:txBody>
      </p:sp>
      <p:sp>
        <p:nvSpPr>
          <p:cNvPr id="12" name="TextBox 11"/>
          <p:cNvSpPr txBox="1"/>
          <p:nvPr/>
        </p:nvSpPr>
        <p:spPr>
          <a:xfrm>
            <a:off x="4389120" y="2395728"/>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Declarative APIs • child resources • lifecycle orchestration</a:t>
            </a:r>
          </a:p>
        </p:txBody>
      </p:sp>
      <p:cxnSp>
        <p:nvCxnSpPr>
          <p:cNvPr id="13" name="Connector 12"/>
          <p:cNvCxnSpPr/>
          <p:nvPr/>
        </p:nvCxnSpPr>
        <p:spPr>
          <a:xfrm>
            <a:off x="6099048" y="3072384"/>
            <a:ext cx="0" cy="182880"/>
          </a:xfrm>
          <a:prstGeom prst="line">
            <a:avLst/>
          </a:prstGeom>
          <a:ln w="1905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02920" y="3255264"/>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520440"/>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087F8C"/>
                </a:solidFill>
                <a:latin typeface="Arial"/>
              </a:defRPr>
            </a:pPr>
            <a:r>
              <a:t>llm-d Router / EPP</a:t>
            </a:r>
          </a:p>
        </p:txBody>
      </p:sp>
      <p:sp>
        <p:nvSpPr>
          <p:cNvPr id="16" name="TextBox 15"/>
          <p:cNvSpPr txBox="1"/>
          <p:nvPr/>
        </p:nvSpPr>
        <p:spPr>
          <a:xfrm>
            <a:off x="4389120" y="3520440"/>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Inference-aware endpoint selection and scheduling</a:t>
            </a:r>
          </a:p>
        </p:txBody>
      </p:sp>
      <p:cxnSp>
        <p:nvCxnSpPr>
          <p:cNvPr id="17" name="Connector 16"/>
          <p:cNvCxnSpPr/>
          <p:nvPr/>
        </p:nvCxnSpPr>
        <p:spPr>
          <a:xfrm>
            <a:off x="6099048" y="4197096"/>
            <a:ext cx="0" cy="18288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02920" y="4379976"/>
            <a:ext cx="11183112" cy="9418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645152"/>
            <a:ext cx="3493008" cy="384048"/>
          </a:xfrm>
          <a:prstGeom prst="rect">
            <a:avLst/>
          </a:prstGeom>
          <a:noFill/>
        </p:spPr>
        <p:txBody>
          <a:bodyPr wrap="square" lIns="13716" rIns="13716" tIns="13716" bIns="13716">
            <a:spAutoFit/>
          </a:bodyPr>
          <a:lstStyle/>
          <a:p>
            <a:pPr>
              <a:spcBef>
                <a:spcPts val="0"/>
              </a:spcBef>
              <a:spcAft>
                <a:spcPts val="500"/>
              </a:spcAft>
              <a:defRPr sz="1800" b="1">
                <a:solidFill>
                  <a:srgbClr val="7354B8"/>
                </a:solidFill>
                <a:latin typeface="Arial"/>
              </a:defRPr>
            </a:pPr>
            <a:r>
              <a:t>Runtime + KV transport</a:t>
            </a:r>
          </a:p>
        </p:txBody>
      </p:sp>
      <p:sp>
        <p:nvSpPr>
          <p:cNvPr id="20" name="TextBox 19"/>
          <p:cNvSpPr txBox="1"/>
          <p:nvPr/>
        </p:nvSpPr>
        <p:spPr>
          <a:xfrm>
            <a:off x="4389120" y="4645152"/>
            <a:ext cx="7040880" cy="457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Prefill computation • KV movement • token generation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stack is composable—not a custom monolith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Kubernetes resources connect routing, execution, transfer, and scaling.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14 / 43</a:t>
            </a:r>
          </a:p>
        </p:txBody>
      </p:sp>
      <p:sp>
        <p:nvSpPr>
          <p:cNvPr id="8" name="Rounded Rectangle 7"/>
          <p:cNvSpPr/>
          <p:nvPr/>
        </p:nvSpPr>
        <p:spPr>
          <a:xfrm>
            <a:off x="502920"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67712"/>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Gateway API + GWIE</a:t>
            </a:r>
          </a:p>
        </p:txBody>
      </p:sp>
      <p:sp>
        <p:nvSpPr>
          <p:cNvPr id="11" name="TextBox 10"/>
          <p:cNvSpPr txBox="1"/>
          <p:nvPr/>
        </p:nvSpPr>
        <p:spPr>
          <a:xfrm>
            <a:off x="649224"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Gateway • HTTPRoute • InferencePool</a:t>
            </a:r>
          </a:p>
        </p:txBody>
      </p:sp>
      <p:sp>
        <p:nvSpPr>
          <p:cNvPr id="12" name="Rounded Rectangle 11"/>
          <p:cNvSpPr/>
          <p:nvPr/>
        </p:nvSpPr>
        <p:spPr>
          <a:xfrm>
            <a:off x="4288536"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2267712"/>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llm-d</a:t>
            </a:r>
          </a:p>
        </p:txBody>
      </p:sp>
      <p:sp>
        <p:nvSpPr>
          <p:cNvPr id="15" name="TextBox 14"/>
          <p:cNvSpPr txBox="1"/>
          <p:nvPr/>
        </p:nvSpPr>
        <p:spPr>
          <a:xfrm>
            <a:off x="4434840"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EPP + routing sidecar</a:t>
            </a:r>
          </a:p>
        </p:txBody>
      </p:sp>
      <p:sp>
        <p:nvSpPr>
          <p:cNvPr id="16" name="Rounded Rectangle 15"/>
          <p:cNvSpPr/>
          <p:nvPr/>
        </p:nvSpPr>
        <p:spPr>
          <a:xfrm>
            <a:off x="8074152" y="2176272"/>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2267712"/>
            <a:ext cx="50292" cy="11887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2295144"/>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vLLM</a:t>
            </a:r>
          </a:p>
        </p:txBody>
      </p:sp>
      <p:sp>
        <p:nvSpPr>
          <p:cNvPr id="19" name="TextBox 18"/>
          <p:cNvSpPr txBox="1"/>
          <p:nvPr/>
        </p:nvSpPr>
        <p:spPr>
          <a:xfrm>
            <a:off x="8220456" y="2734056"/>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Serving runtime</a:t>
            </a:r>
          </a:p>
        </p:txBody>
      </p:sp>
      <p:sp>
        <p:nvSpPr>
          <p:cNvPr id="20" name="Rounded Rectangle 19"/>
          <p:cNvSpPr/>
          <p:nvPr/>
        </p:nvSpPr>
        <p:spPr>
          <a:xfrm>
            <a:off x="502920"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4069079"/>
            <a:ext cx="50292" cy="11887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NIXL</a:t>
            </a:r>
          </a:p>
        </p:txBody>
      </p:sp>
      <p:sp>
        <p:nvSpPr>
          <p:cNvPr id="23" name="TextBox 22"/>
          <p:cNvSpPr txBox="1"/>
          <p:nvPr/>
        </p:nvSpPr>
        <p:spPr>
          <a:xfrm>
            <a:off x="649224"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KV-transfer integration</a:t>
            </a:r>
          </a:p>
        </p:txBody>
      </p:sp>
      <p:sp>
        <p:nvSpPr>
          <p:cNvPr id="24" name="Rounded Rectangle 23"/>
          <p:cNvSpPr/>
          <p:nvPr/>
        </p:nvSpPr>
        <p:spPr>
          <a:xfrm>
            <a:off x="4288536"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88536" y="4069079"/>
            <a:ext cx="50292" cy="118872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25696"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KEDA</a:t>
            </a:r>
          </a:p>
        </p:txBody>
      </p:sp>
      <p:sp>
        <p:nvSpPr>
          <p:cNvPr id="27" name="TextBox 26"/>
          <p:cNvSpPr txBox="1"/>
          <p:nvPr/>
        </p:nvSpPr>
        <p:spPr>
          <a:xfrm>
            <a:off x="4434840"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InferenceSet autoscaling</a:t>
            </a:r>
          </a:p>
        </p:txBody>
      </p:sp>
      <p:sp>
        <p:nvSpPr>
          <p:cNvPr id="28" name="Rounded Rectangle 27"/>
          <p:cNvSpPr/>
          <p:nvPr/>
        </p:nvSpPr>
        <p:spPr>
          <a:xfrm>
            <a:off x="8074152" y="3977639"/>
            <a:ext cx="3611880" cy="13716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4152" y="4069079"/>
            <a:ext cx="50292" cy="11887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4096511"/>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KAITO</a:t>
            </a:r>
          </a:p>
        </p:txBody>
      </p:sp>
      <p:sp>
        <p:nvSpPr>
          <p:cNvPr id="31" name="TextBox 30"/>
          <p:cNvSpPr txBox="1"/>
          <p:nvPr/>
        </p:nvSpPr>
        <p:spPr>
          <a:xfrm>
            <a:off x="8220456" y="4535423"/>
            <a:ext cx="3319272" cy="7223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the declared topology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KAITO + LLM-D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Declare roles once with MultiRoleInference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logical service, two independently configurable child InferenceSets.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Role settings describe capacity; controller reconciliation supplies the wiring.</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15 / 43</a:t>
            </a:r>
          </a:p>
        </p:txBody>
      </p:sp>
      <p:sp>
        <p:nvSpPr>
          <p:cNvPr id="10" name="Rounded Rectangle 9"/>
          <p:cNvSpPr/>
          <p:nvPr/>
        </p:nvSpPr>
        <p:spPr>
          <a:xfrm>
            <a:off x="4069080" y="2057400"/>
            <a:ext cx="4050791"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69080" y="2148840"/>
            <a:ext cx="50292" cy="68580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06240" y="2176272"/>
            <a:ext cx="377647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2563EB"/>
                </a:solidFill>
                <a:latin typeface="Arial"/>
              </a:defRPr>
            </a:pPr>
            <a:r>
              <a:t>MultiRoleInference</a:t>
            </a:r>
          </a:p>
        </p:txBody>
      </p:sp>
      <p:sp>
        <p:nvSpPr>
          <p:cNvPr id="13" name="TextBox 12"/>
          <p:cNvSpPr txBox="1"/>
          <p:nvPr/>
        </p:nvSpPr>
        <p:spPr>
          <a:xfrm>
            <a:off x="4215384" y="2615184"/>
            <a:ext cx="3758183" cy="21945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desired topology</a:t>
            </a:r>
          </a:p>
        </p:txBody>
      </p:sp>
      <p:sp>
        <p:nvSpPr>
          <p:cNvPr id="14" name="Rounded Rectangle 13"/>
          <p:cNvSpPr/>
          <p:nvPr/>
        </p:nvSpPr>
        <p:spPr>
          <a:xfrm>
            <a:off x="731520"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648456"/>
            <a:ext cx="50292" cy="149047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InferenceSet</a:t>
            </a:r>
          </a:p>
        </p:txBody>
      </p:sp>
      <p:sp>
        <p:nvSpPr>
          <p:cNvPr id="17" name="TextBox 16"/>
          <p:cNvSpPr txBox="1"/>
          <p:nvPr/>
        </p:nvSpPr>
        <p:spPr>
          <a:xfrm>
            <a:off x="877824"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sp>
        <p:nvSpPr>
          <p:cNvPr id="18" name="Rounded Rectangle 17"/>
          <p:cNvSpPr/>
          <p:nvPr/>
        </p:nvSpPr>
        <p:spPr>
          <a:xfrm>
            <a:off x="6428232" y="3557016"/>
            <a:ext cx="5029200" cy="167335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28232" y="3648456"/>
            <a:ext cx="50292" cy="149047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65392" y="3675888"/>
            <a:ext cx="47548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InferenceSet</a:t>
            </a:r>
          </a:p>
        </p:txBody>
      </p:sp>
      <p:sp>
        <p:nvSpPr>
          <p:cNvPr id="21" name="TextBox 20"/>
          <p:cNvSpPr txBox="1"/>
          <p:nvPr/>
        </p:nvSpPr>
        <p:spPr>
          <a:xfrm>
            <a:off x="6574536" y="4114800"/>
            <a:ext cx="4736592" cy="102412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Replica count • instance type</a:t>
            </a:r>
          </a:p>
          <a:p>
            <a:pPr algn="ctr">
              <a:spcBef>
                <a:spcPts val="0"/>
              </a:spcBef>
              <a:spcAft>
                <a:spcPts val="500"/>
              </a:spcAft>
              <a:defRPr sz="1400" b="0">
                <a:solidFill>
                  <a:srgbClr val="586A80"/>
                </a:solidFill>
                <a:latin typeface="Arial"/>
              </a:defRPr>
            </a:pPr>
            <a:r>
              <a:t>Tensor parallelism • vLLM configuration</a:t>
            </a:r>
          </a:p>
        </p:txBody>
      </p:sp>
      <p:cxnSp>
        <p:nvCxnSpPr>
          <p:cNvPr id="22" name="Connector 21"/>
          <p:cNvCxnSpPr/>
          <p:nvPr/>
        </p:nvCxnSpPr>
        <p:spPr>
          <a:xfrm>
            <a:off x="6089904" y="2926080"/>
            <a:ext cx="0" cy="292608"/>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246120" y="3218688"/>
            <a:ext cx="284378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46120" y="3218688"/>
            <a:ext cx="0" cy="338328"/>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089904" y="3218688"/>
            <a:ext cx="2852928"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42832" y="3218688"/>
            <a:ext cx="0" cy="3383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ARCHITECTURE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API endpoint, a role-aware serving path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arrows: request/data flow. Dashed arrows: scheduling or reconciliation.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16 / 43</a:t>
            </a:r>
          </a:p>
        </p:txBody>
      </p:sp>
      <p:sp>
        <p:nvSpPr>
          <p:cNvPr id="8" name="Rounded Rectangle 7"/>
          <p:cNvSpPr/>
          <p:nvPr/>
        </p:nvSpPr>
        <p:spPr>
          <a:xfrm>
            <a:off x="502920" y="2350008"/>
            <a:ext cx="1234440"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2468879"/>
            <a:ext cx="960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Client</a:t>
            </a:r>
          </a:p>
        </p:txBody>
      </p:sp>
      <p:sp>
        <p:nvSpPr>
          <p:cNvPr id="11" name="TextBox 10"/>
          <p:cNvSpPr txBox="1"/>
          <p:nvPr/>
        </p:nvSpPr>
        <p:spPr>
          <a:xfrm>
            <a:off x="649224" y="2907792"/>
            <a:ext cx="941832"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API call</a:t>
            </a:r>
          </a:p>
        </p:txBody>
      </p:sp>
      <p:sp>
        <p:nvSpPr>
          <p:cNvPr id="12" name="Rounded Rectangle 11"/>
          <p:cNvSpPr/>
          <p:nvPr/>
        </p:nvSpPr>
        <p:spPr>
          <a:xfrm>
            <a:off x="2157984" y="2350008"/>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57984" y="2441448"/>
            <a:ext cx="50292"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95144" y="2468879"/>
            <a:ext cx="1627632" cy="393192"/>
          </a:xfrm>
          <a:prstGeom prst="rect">
            <a:avLst/>
          </a:prstGeom>
          <a:noFill/>
        </p:spPr>
        <p:txBody>
          <a:bodyPr wrap="square" lIns="13716" rIns="13716" tIns="13716" bIns="13716">
            <a:spAutoFit/>
          </a:bodyPr>
          <a:lstStyle/>
          <a:p>
            <a:pPr algn="ctr">
              <a:spcBef>
                <a:spcPts val="0"/>
              </a:spcBef>
              <a:spcAft>
                <a:spcPts val="500"/>
              </a:spcAft>
              <a:defRPr sz="1900" b="1">
                <a:solidFill>
                  <a:srgbClr val="2563EB"/>
                </a:solidFill>
                <a:latin typeface="Arial"/>
              </a:defRPr>
            </a:pPr>
            <a:r>
              <a:t>Gateway</a:t>
            </a:r>
          </a:p>
        </p:txBody>
      </p:sp>
      <p:sp>
        <p:nvSpPr>
          <p:cNvPr id="15" name="TextBox 14"/>
          <p:cNvSpPr txBox="1"/>
          <p:nvPr/>
        </p:nvSpPr>
        <p:spPr>
          <a:xfrm>
            <a:off x="2304288" y="2907792"/>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HTTPRoute</a:t>
            </a:r>
          </a:p>
        </p:txBody>
      </p:sp>
      <p:sp>
        <p:nvSpPr>
          <p:cNvPr id="16" name="Rounded Rectangle 15"/>
          <p:cNvSpPr/>
          <p:nvPr/>
        </p:nvSpPr>
        <p:spPr>
          <a:xfrm>
            <a:off x="2157984" y="4114800"/>
            <a:ext cx="1901952"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57984" y="4206240"/>
            <a:ext cx="50292" cy="82296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295144" y="4233672"/>
            <a:ext cx="162763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llm-d EPP</a:t>
            </a:r>
          </a:p>
        </p:txBody>
      </p:sp>
      <p:sp>
        <p:nvSpPr>
          <p:cNvPr id="19" name="TextBox 18"/>
          <p:cNvSpPr txBox="1"/>
          <p:nvPr/>
        </p:nvSpPr>
        <p:spPr>
          <a:xfrm>
            <a:off x="2304288" y="4672583"/>
            <a:ext cx="1609344"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Pick P + D</a:t>
            </a:r>
          </a:p>
        </p:txBody>
      </p:sp>
      <p:sp>
        <p:nvSpPr>
          <p:cNvPr id="20" name="Rounded Rectangle 19"/>
          <p:cNvSpPr/>
          <p:nvPr/>
        </p:nvSpPr>
        <p:spPr>
          <a:xfrm>
            <a:off x="4636008" y="2350008"/>
            <a:ext cx="2322576" cy="10058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36008" y="2441448"/>
            <a:ext cx="50292" cy="82296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73168" y="2468879"/>
            <a:ext cx="2048256"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proxy</a:t>
            </a:r>
          </a:p>
        </p:txBody>
      </p:sp>
      <p:sp>
        <p:nvSpPr>
          <p:cNvPr id="23" name="TextBox 22"/>
          <p:cNvSpPr txBox="1"/>
          <p:nvPr/>
        </p:nvSpPr>
        <p:spPr>
          <a:xfrm>
            <a:off x="4782312" y="2907792"/>
            <a:ext cx="2029968" cy="35661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Orchestrate request</a:t>
            </a:r>
          </a:p>
        </p:txBody>
      </p:sp>
      <p:sp>
        <p:nvSpPr>
          <p:cNvPr id="24" name="Rounded Rectangle 23"/>
          <p:cNvSpPr/>
          <p:nvPr/>
        </p:nvSpPr>
        <p:spPr>
          <a:xfrm>
            <a:off x="8641080" y="2176272"/>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41080" y="2267712"/>
            <a:ext cx="50292" cy="9601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78240" y="2295144"/>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Prefill workers</a:t>
            </a:r>
          </a:p>
        </p:txBody>
      </p:sp>
      <p:sp>
        <p:nvSpPr>
          <p:cNvPr id="27" name="TextBox 26"/>
          <p:cNvSpPr txBox="1"/>
          <p:nvPr/>
        </p:nvSpPr>
        <p:spPr>
          <a:xfrm>
            <a:off x="8787384" y="2734056"/>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Compute prompt KV</a:t>
            </a:r>
          </a:p>
        </p:txBody>
      </p:sp>
      <p:sp>
        <p:nvSpPr>
          <p:cNvPr id="28" name="Rounded Rectangle 27"/>
          <p:cNvSpPr/>
          <p:nvPr/>
        </p:nvSpPr>
        <p:spPr>
          <a:xfrm>
            <a:off x="8641080" y="4114800"/>
            <a:ext cx="2999232" cy="1143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41080" y="4206240"/>
            <a:ext cx="50292" cy="9601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0" y="4233672"/>
            <a:ext cx="2724912"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Decode workers</a:t>
            </a:r>
          </a:p>
        </p:txBody>
      </p:sp>
      <p:sp>
        <p:nvSpPr>
          <p:cNvPr id="31" name="TextBox 30"/>
          <p:cNvSpPr txBox="1"/>
          <p:nvPr/>
        </p:nvSpPr>
        <p:spPr>
          <a:xfrm>
            <a:off x="8787384" y="4672583"/>
            <a:ext cx="2706624" cy="4937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 token stream</a:t>
            </a:r>
          </a:p>
        </p:txBody>
      </p:sp>
      <p:cxnSp>
        <p:nvCxnSpPr>
          <p:cNvPr id="32" name="Connector 31"/>
          <p:cNvCxnSpPr/>
          <p:nvPr/>
        </p:nvCxnSpPr>
        <p:spPr>
          <a:xfrm>
            <a:off x="1737360" y="2852928"/>
            <a:ext cx="42062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059936" y="2852928"/>
            <a:ext cx="57607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288036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383280" y="3355848"/>
            <a:ext cx="0" cy="75895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502920" y="4279392"/>
            <a:ext cx="1463040" cy="640080"/>
          </a:xfrm>
          <a:prstGeom prst="rect">
            <a:avLst/>
          </a:prstGeom>
          <a:noFill/>
        </p:spPr>
        <p:txBody>
          <a:bodyPr wrap="square" lIns="13716" rIns="13716" tIns="13716" bIns="13716">
            <a:spAutoFit/>
          </a:bodyPr>
          <a:lstStyle/>
          <a:p>
            <a:pPr algn="ctr">
              <a:spcBef>
                <a:spcPts val="0"/>
              </a:spcBef>
              <a:spcAft>
                <a:spcPts val="500"/>
              </a:spcAft>
              <a:defRPr sz="1200" b="0">
                <a:solidFill>
                  <a:srgbClr val="586A80"/>
                </a:solidFill>
                <a:latin typeface="Arial"/>
              </a:defRPr>
            </a:pPr>
            <a:r>
              <a:t>Scheduling</a:t>
            </a:r>
          </a:p>
          <a:p>
            <a:pPr algn="ctr">
              <a:spcBef>
                <a:spcPts val="0"/>
              </a:spcBef>
              <a:spcAft>
                <a:spcPts val="500"/>
              </a:spcAft>
              <a:defRPr sz="1200" b="0">
                <a:solidFill>
                  <a:srgbClr val="586A80"/>
                </a:solidFill>
                <a:latin typeface="Arial"/>
              </a:defRPr>
            </a:pPr>
            <a:r>
              <a:t>selection</a:t>
            </a:r>
          </a:p>
        </p:txBody>
      </p:sp>
      <p:cxnSp>
        <p:nvCxnSpPr>
          <p:cNvPr id="37" name="Connector 36"/>
          <p:cNvCxnSpPr/>
          <p:nvPr/>
        </p:nvCxnSpPr>
        <p:spPr>
          <a:xfrm>
            <a:off x="6958584" y="2670048"/>
            <a:ext cx="676656"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635240" y="2670048"/>
            <a:ext cx="0" cy="64008"/>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635240" y="2734056"/>
            <a:ext cx="10058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7086600" y="2066543"/>
            <a:ext cx="1371600" cy="384048"/>
          </a:xfrm>
          <a:prstGeom prst="rect">
            <a:avLst/>
          </a:prstGeom>
          <a:noFill/>
        </p:spPr>
        <p:txBody>
          <a:bodyPr wrap="square" lIns="13716" rIns="13716" tIns="13716" bIns="13716">
            <a:spAutoFit/>
          </a:bodyPr>
          <a:lstStyle/>
          <a:p>
            <a:pPr>
              <a:spcBef>
                <a:spcPts val="0"/>
              </a:spcBef>
              <a:spcAft>
                <a:spcPts val="500"/>
              </a:spcAft>
              <a:defRPr sz="1300" b="1">
                <a:solidFill>
                  <a:srgbClr val="2563EB"/>
                </a:solidFill>
                <a:latin typeface="Arial"/>
              </a:defRPr>
            </a:pPr>
            <a:r>
              <a:t>Prompt</a:t>
            </a:r>
          </a:p>
        </p:txBody>
      </p:sp>
      <p:cxnSp>
        <p:nvCxnSpPr>
          <p:cNvPr id="41" name="Connector 40"/>
          <p:cNvCxnSpPr/>
          <p:nvPr/>
        </p:nvCxnSpPr>
        <p:spPr>
          <a:xfrm>
            <a:off x="5797296" y="3355848"/>
            <a:ext cx="0" cy="133502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797296" y="4690872"/>
            <a:ext cx="28437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925312" y="4050791"/>
            <a:ext cx="2468880" cy="502920"/>
          </a:xfrm>
          <a:prstGeom prst="rect">
            <a:avLst/>
          </a:prstGeom>
          <a:noFill/>
        </p:spPr>
        <p:txBody>
          <a:bodyPr wrap="square" lIns="13716" rIns="13716" tIns="13716" bIns="13716">
            <a:spAutoFit/>
          </a:bodyPr>
          <a:lstStyle/>
          <a:p>
            <a:pPr>
              <a:spcBef>
                <a:spcPts val="0"/>
              </a:spcBef>
              <a:spcAft>
                <a:spcPts val="500"/>
              </a:spcAft>
              <a:defRPr sz="1200" b="1">
                <a:solidFill>
                  <a:srgbClr val="2563EB"/>
                </a:solidFill>
                <a:latin typeface="Arial"/>
              </a:defRPr>
            </a:pPr>
            <a:r>
              <a:t>Decode + KV metadata</a:t>
            </a:r>
          </a:p>
        </p:txBody>
      </p:sp>
      <p:cxnSp>
        <p:nvCxnSpPr>
          <p:cNvPr id="44" name="Connector 43"/>
          <p:cNvCxnSpPr/>
          <p:nvPr/>
        </p:nvCxnSpPr>
        <p:spPr>
          <a:xfrm>
            <a:off x="10158984" y="3319272"/>
            <a:ext cx="0" cy="795528"/>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10360152" y="3502152"/>
            <a:ext cx="1225296" cy="365760"/>
          </a:xfrm>
          <a:prstGeom prst="rect">
            <a:avLst/>
          </a:prstGeom>
          <a:noFill/>
        </p:spPr>
        <p:txBody>
          <a:bodyPr wrap="square" lIns="13716" rIns="13716" tIns="13716" bIns="13716">
            <a:spAutoFit/>
          </a:bodyPr>
          <a:lstStyle/>
          <a:p>
            <a:pPr>
              <a:spcBef>
                <a:spcPts val="0"/>
              </a:spcBef>
              <a:spcAft>
                <a:spcPts val="500"/>
              </a:spcAft>
              <a:defRPr sz="1200" b="1">
                <a:solidFill>
                  <a:srgbClr val="087F8C"/>
                </a:solidFill>
                <a:latin typeface="Arial"/>
              </a:defRPr>
            </a:pPr>
            <a:r>
              <a:t>KV data</a:t>
            </a:r>
          </a:p>
        </p:txBody>
      </p:sp>
      <p:cxnSp>
        <p:nvCxnSpPr>
          <p:cNvPr id="46" name="Connector 45"/>
          <p:cNvCxnSpPr/>
          <p:nvPr/>
        </p:nvCxnSpPr>
        <p:spPr>
          <a:xfrm flipH="1">
            <a:off x="8046720" y="5056632"/>
            <a:ext cx="59436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046720" y="5056632"/>
            <a:ext cx="0" cy="46634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886968" y="5522976"/>
            <a:ext cx="7159752"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86968" y="3355848"/>
            <a:ext cx="0" cy="2167128"/>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4160520" y="5596128"/>
            <a:ext cx="4937760" cy="256032"/>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Token stream returns through proxy + Gateway</a:t>
            </a:r>
          </a:p>
        </p:txBody>
      </p:sp>
      <p:sp>
        <p:nvSpPr>
          <p:cNvPr id="51" name="Rounded Rectangle 50"/>
          <p:cNvSpPr/>
          <p:nvPr/>
        </p:nvSpPr>
        <p:spPr>
          <a:xfrm>
            <a:off x="502920" y="6053328"/>
            <a:ext cx="11183112"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66928" y="6085332"/>
            <a:ext cx="11055096"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KAITO RECONCILES THE SERVING TOPOLOGY; THE GATEWAY IS THE API ENTRY POINT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RESOURCE OWNERSHIP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From one MRI to a reconciled resource graph</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Solid connectors: generated resources. Dashed connector: routing configuration.</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17 / 43</a:t>
            </a:r>
          </a:p>
        </p:txBody>
      </p:sp>
      <p:sp>
        <p:nvSpPr>
          <p:cNvPr id="8" name="Rounded Rectangle 7"/>
          <p:cNvSpPr/>
          <p:nvPr/>
        </p:nvSpPr>
        <p:spPr>
          <a:xfrm>
            <a:off x="4059936" y="1993392"/>
            <a:ext cx="4078224" cy="804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59936" y="2084832"/>
            <a:ext cx="50292" cy="62179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97096" y="2112264"/>
            <a:ext cx="3803904"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MultiRoleInference</a:t>
            </a:r>
          </a:p>
        </p:txBody>
      </p:sp>
      <p:sp>
        <p:nvSpPr>
          <p:cNvPr id="11" name="Rounded Rectangle 10"/>
          <p:cNvSpPr/>
          <p:nvPr/>
        </p:nvSpPr>
        <p:spPr>
          <a:xfrm>
            <a:off x="502920"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3474720"/>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14" name="TextBox 13"/>
          <p:cNvSpPr txBox="1"/>
          <p:nvPr/>
        </p:nvSpPr>
        <p:spPr>
          <a:xfrm>
            <a:off x="649224"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Role-specific serving template</a:t>
            </a:r>
          </a:p>
        </p:txBody>
      </p:sp>
      <p:sp>
        <p:nvSpPr>
          <p:cNvPr id="15" name="Rounded Rectangle 14"/>
          <p:cNvSpPr/>
          <p:nvPr/>
        </p:nvSpPr>
        <p:spPr>
          <a:xfrm>
            <a:off x="4398264"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3502152"/>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18" name="TextBox 17"/>
          <p:cNvSpPr txBox="1"/>
          <p:nvPr/>
        </p:nvSpPr>
        <p:spPr>
          <a:xfrm>
            <a:off x="4544568"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Runtime + routing sidecar</a:t>
            </a:r>
          </a:p>
        </p:txBody>
      </p:sp>
      <p:sp>
        <p:nvSpPr>
          <p:cNvPr id="19" name="Rounded Rectangle 18"/>
          <p:cNvSpPr/>
          <p:nvPr/>
        </p:nvSpPr>
        <p:spPr>
          <a:xfrm>
            <a:off x="8293608" y="3383280"/>
            <a:ext cx="338328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93608" y="3474720"/>
            <a:ext cx="50292" cy="73152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30768" y="3502152"/>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InferencePool</a:t>
            </a:r>
          </a:p>
        </p:txBody>
      </p:sp>
      <p:sp>
        <p:nvSpPr>
          <p:cNvPr id="22" name="TextBox 21"/>
          <p:cNvSpPr txBox="1"/>
          <p:nvPr/>
        </p:nvSpPr>
        <p:spPr>
          <a:xfrm>
            <a:off x="8439912" y="3941064"/>
            <a:ext cx="309067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Routing-facing backend group</a:t>
            </a:r>
          </a:p>
        </p:txBody>
      </p:sp>
      <p:cxnSp>
        <p:nvCxnSpPr>
          <p:cNvPr id="23" name="Connector 22"/>
          <p:cNvCxnSpPr/>
          <p:nvPr/>
        </p:nvCxnSpPr>
        <p:spPr>
          <a:xfrm>
            <a:off x="6089904" y="2798064"/>
            <a:ext cx="0" cy="28346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194560" y="3081528"/>
            <a:ext cx="3895344"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2194560" y="3081528"/>
            <a:ext cx="0" cy="30175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89904" y="2798064"/>
            <a:ext cx="0" cy="283464"/>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089904" y="3081528"/>
            <a:ext cx="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9904" y="3081528"/>
            <a:ext cx="0" cy="301752"/>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089904" y="2798064"/>
            <a:ext cx="0" cy="283464"/>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089904" y="3081528"/>
            <a:ext cx="3895344"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85248" y="3081528"/>
            <a:ext cx="0" cy="301752"/>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502920"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 y="4901183"/>
            <a:ext cx="50292" cy="6400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Workspaces → Pods</a:t>
            </a:r>
          </a:p>
        </p:txBody>
      </p:sp>
      <p:sp>
        <p:nvSpPr>
          <p:cNvPr id="35" name="Rounded Rectangle 34"/>
          <p:cNvSpPr/>
          <p:nvPr/>
        </p:nvSpPr>
        <p:spPr>
          <a:xfrm>
            <a:off x="4398264"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98264" y="4901183"/>
            <a:ext cx="50292" cy="6400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5424" y="4928616"/>
            <a:ext cx="310896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Workspaces → Pods</a:t>
            </a:r>
          </a:p>
        </p:txBody>
      </p:sp>
      <p:sp>
        <p:nvSpPr>
          <p:cNvPr id="38" name="Rounded Rectangle 37"/>
          <p:cNvSpPr/>
          <p:nvPr/>
        </p:nvSpPr>
        <p:spPr>
          <a:xfrm>
            <a:off x="8293608" y="4809744"/>
            <a:ext cx="3383280" cy="8229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93608" y="4901183"/>
            <a:ext cx="50292" cy="6400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30768" y="4928616"/>
            <a:ext cx="310896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2563EB"/>
                </a:solidFill>
                <a:latin typeface="Arial"/>
              </a:defRPr>
            </a:pPr>
            <a:r>
              <a:t>EPP config + HTTPRoute</a:t>
            </a:r>
          </a:p>
        </p:txBody>
      </p:sp>
      <p:cxnSp>
        <p:nvCxnSpPr>
          <p:cNvPr id="41" name="Connector 40"/>
          <p:cNvCxnSpPr/>
          <p:nvPr/>
        </p:nvCxnSpPr>
        <p:spPr>
          <a:xfrm>
            <a:off x="2194560" y="4297680"/>
            <a:ext cx="0" cy="51206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089904" y="4297680"/>
            <a:ext cx="0" cy="512064"/>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9985248" y="4297680"/>
            <a:ext cx="0" cy="512064"/>
          </a:xfrm>
          <a:prstGeom prst="line">
            <a:avLst/>
          </a:prstGeom>
          <a:ln w="25400">
            <a:solidFill>
              <a:srgbClr val="2563EB"/>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1207" y="5925312"/>
            <a:ext cx="11064240" cy="365760"/>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Less hand-maintained glue: role labels, ports, sidecar configuration, and routing bindings.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REQUEST LIFECYCLE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request crosses four distinct boundaries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Request orchestration and KV-data movement are separate paths.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18 / 43</a:t>
            </a:r>
          </a:p>
        </p:txBody>
      </p:sp>
      <p:sp>
        <p:nvSpPr>
          <p:cNvPr id="8" name="Rounded Rectangle 7"/>
          <p:cNvSpPr/>
          <p:nvPr/>
        </p:nvSpPr>
        <p:spPr>
          <a:xfrm>
            <a:off x="182879"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79" y="2084832"/>
            <a:ext cx="50292" cy="4114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2563EB"/>
                </a:solidFill>
                <a:latin typeface="Arial"/>
              </a:defRPr>
            </a:pPr>
            <a:r>
              <a:t>Gateway + EPP</a:t>
            </a:r>
          </a:p>
        </p:txBody>
      </p:sp>
      <p:cxnSp>
        <p:nvCxnSpPr>
          <p:cNvPr id="11" name="Connector 10"/>
          <p:cNvCxnSpPr/>
          <p:nvPr/>
        </p:nvCxnSpPr>
        <p:spPr>
          <a:xfrm>
            <a:off x="13258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92608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92608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proxy</a:t>
            </a:r>
          </a:p>
        </p:txBody>
      </p:sp>
      <p:cxnSp>
        <p:nvCxnSpPr>
          <p:cNvPr id="15" name="Connector 14"/>
          <p:cNvCxnSpPr/>
          <p:nvPr/>
        </p:nvCxnSpPr>
        <p:spPr>
          <a:xfrm>
            <a:off x="406908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87568"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87568" y="2084832"/>
            <a:ext cx="50292" cy="4114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4728"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087F8C"/>
                </a:solidFill>
                <a:latin typeface="Arial"/>
              </a:defRPr>
            </a:pPr>
            <a:r>
              <a:t>Prefill worker</a:t>
            </a:r>
          </a:p>
        </p:txBody>
      </p:sp>
      <p:cxnSp>
        <p:nvCxnSpPr>
          <p:cNvPr id="19" name="Connector 18"/>
          <p:cNvCxnSpPr/>
          <p:nvPr/>
        </p:nvCxnSpPr>
        <p:spPr>
          <a:xfrm>
            <a:off x="6830568"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32520" y="1993392"/>
            <a:ext cx="2286000" cy="5943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32520" y="2084832"/>
            <a:ext cx="50292" cy="4114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0" y="2112264"/>
            <a:ext cx="2011680" cy="39319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Decode runtime</a:t>
            </a:r>
          </a:p>
        </p:txBody>
      </p:sp>
      <p:cxnSp>
        <p:nvCxnSpPr>
          <p:cNvPr id="23" name="Connector 22"/>
          <p:cNvCxnSpPr/>
          <p:nvPr/>
        </p:nvCxnSpPr>
        <p:spPr>
          <a:xfrm>
            <a:off x="9875520" y="2596896"/>
            <a:ext cx="0" cy="3300984"/>
          </a:xfrm>
          <a:prstGeom prst="line">
            <a:avLst/>
          </a:prstGeom>
          <a:ln w="12700">
            <a:solidFill>
              <a:srgbClr val="D9E2EE"/>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325880" y="2852928"/>
            <a:ext cx="274320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408176" y="2560320"/>
            <a:ext cx="260604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1  Route to selected decode</a:t>
            </a:r>
          </a:p>
        </p:txBody>
      </p:sp>
      <p:cxnSp>
        <p:nvCxnSpPr>
          <p:cNvPr id="26" name="Connector 25"/>
          <p:cNvCxnSpPr/>
          <p:nvPr/>
        </p:nvCxnSpPr>
        <p:spPr>
          <a:xfrm>
            <a:off x="4069080" y="3410712"/>
            <a:ext cx="27614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151376" y="3118104"/>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2  Execute prefill</a:t>
            </a:r>
          </a:p>
        </p:txBody>
      </p:sp>
      <p:cxnSp>
        <p:nvCxnSpPr>
          <p:cNvPr id="28" name="Connector 27"/>
          <p:cNvCxnSpPr/>
          <p:nvPr/>
        </p:nvCxnSpPr>
        <p:spPr>
          <a:xfrm flipH="1">
            <a:off x="4069080" y="3968496"/>
            <a:ext cx="2761488"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151376" y="3675887"/>
            <a:ext cx="2624327" cy="265176"/>
          </a:xfrm>
          <a:prstGeom prst="rect">
            <a:avLst/>
          </a:prstGeom>
          <a:noFill/>
        </p:spPr>
        <p:txBody>
          <a:bodyPr wrap="square" lIns="13716" rIns="13716" tIns="13716" bIns="13716">
            <a:spAutoFit/>
          </a:bodyPr>
          <a:lstStyle/>
          <a:p>
            <a:pPr>
              <a:spcBef>
                <a:spcPts val="0"/>
              </a:spcBef>
              <a:spcAft>
                <a:spcPts val="500"/>
              </a:spcAft>
              <a:defRPr sz="1100" b="1">
                <a:solidFill>
                  <a:srgbClr val="586A80"/>
                </a:solidFill>
                <a:latin typeface="Arial"/>
              </a:defRPr>
            </a:pPr>
            <a:r>
              <a:t>3  Return KV-transfer metadata</a:t>
            </a:r>
          </a:p>
        </p:txBody>
      </p:sp>
      <p:cxnSp>
        <p:nvCxnSpPr>
          <p:cNvPr id="30" name="Connector 29"/>
          <p:cNvCxnSpPr/>
          <p:nvPr/>
        </p:nvCxnSpPr>
        <p:spPr>
          <a:xfrm>
            <a:off x="4069080" y="4526280"/>
            <a:ext cx="58064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151376" y="4233672"/>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4  Start decode with metadata</a:t>
            </a:r>
          </a:p>
        </p:txBody>
      </p:sp>
      <p:cxnSp>
        <p:nvCxnSpPr>
          <p:cNvPr id="32" name="Connector 31"/>
          <p:cNvCxnSpPr/>
          <p:nvPr/>
        </p:nvCxnSpPr>
        <p:spPr>
          <a:xfrm>
            <a:off x="6830568" y="5084064"/>
            <a:ext cx="304495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912864" y="4791455"/>
            <a:ext cx="2907792" cy="265176"/>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5  KV data (prefill → decode)</a:t>
            </a:r>
          </a:p>
        </p:txBody>
      </p:sp>
      <p:cxnSp>
        <p:nvCxnSpPr>
          <p:cNvPr id="34" name="Connector 33"/>
          <p:cNvCxnSpPr/>
          <p:nvPr/>
        </p:nvCxnSpPr>
        <p:spPr>
          <a:xfrm flipH="1">
            <a:off x="4069080" y="5641848"/>
            <a:ext cx="580644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151376" y="5349240"/>
            <a:ext cx="5669280" cy="265176"/>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6  Token stream → proxy → Gateway</a:t>
            </a:r>
          </a:p>
        </p:txBody>
      </p:sp>
      <p:sp>
        <p:nvSpPr>
          <p:cNvPr id="36" name="TextBox 35"/>
          <p:cNvSpPr txBox="1"/>
          <p:nvPr/>
        </p:nvSpPr>
        <p:spPr>
          <a:xfrm>
            <a:off x="502920" y="6117336"/>
            <a:ext cx="11155680" cy="265176"/>
          </a:xfrm>
          <a:prstGeom prst="rect">
            <a:avLst/>
          </a:prstGeom>
          <a:noFill/>
        </p:spPr>
        <p:txBody>
          <a:bodyPr wrap="square" lIns="13716" rIns="13716" tIns="13716" bIns="13716">
            <a:spAutoFit/>
          </a:bodyPr>
          <a:lstStyle/>
          <a:p>
            <a:pPr>
              <a:spcBef>
                <a:spcPts val="0"/>
              </a:spcBef>
              <a:spcAft>
                <a:spcPts val="500"/>
              </a:spcAft>
              <a:defRPr sz="1400" b="0">
                <a:solidFill>
                  <a:srgbClr val="586A80"/>
                </a:solidFill>
                <a:latin typeface="Arial"/>
              </a:defRPr>
            </a:pPr>
            <a:r>
              <a:t>KV-transfer metadata identifies remote state; it is not the KV tensor payload.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KV TRANSFER</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Metadata is not the KV payload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Keep control messages and the high-volume data path distinct.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Do not read a request arrow as a KV-transfer arrow.</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19 / 43</a:t>
            </a:r>
          </a:p>
        </p:txBody>
      </p:sp>
      <p:sp>
        <p:nvSpPr>
          <p:cNvPr id="10" name="Rounded Rectangle 9"/>
          <p:cNvSpPr/>
          <p:nvPr/>
        </p:nvSpPr>
        <p:spPr>
          <a:xfrm>
            <a:off x="502920"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86000"/>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proxy</a:t>
            </a:r>
          </a:p>
        </p:txBody>
      </p:sp>
      <p:sp>
        <p:nvSpPr>
          <p:cNvPr id="13" name="TextBox 12"/>
          <p:cNvSpPr txBox="1"/>
          <p:nvPr/>
        </p:nvSpPr>
        <p:spPr>
          <a:xfrm>
            <a:off x="649224"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HTTP orchestration</a:t>
            </a:r>
          </a:p>
        </p:txBody>
      </p:sp>
      <p:sp>
        <p:nvSpPr>
          <p:cNvPr id="14" name="Rounded Rectangle 13"/>
          <p:cNvSpPr/>
          <p:nvPr/>
        </p:nvSpPr>
        <p:spPr>
          <a:xfrm>
            <a:off x="8577072" y="2194560"/>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577072" y="2286000"/>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14232" y="2313432"/>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worker</a:t>
            </a:r>
          </a:p>
        </p:txBody>
      </p:sp>
      <p:sp>
        <p:nvSpPr>
          <p:cNvPr id="17" name="TextBox 16"/>
          <p:cNvSpPr txBox="1"/>
          <p:nvPr/>
        </p:nvSpPr>
        <p:spPr>
          <a:xfrm>
            <a:off x="8723376" y="2752344"/>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Owns newly computed KV</a:t>
            </a:r>
          </a:p>
        </p:txBody>
      </p:sp>
      <p:cxnSp>
        <p:nvCxnSpPr>
          <p:cNvPr id="18" name="Connector 17"/>
          <p:cNvCxnSpPr/>
          <p:nvPr/>
        </p:nvCxnSpPr>
        <p:spPr>
          <a:xfrm>
            <a:off x="3611880" y="2569464"/>
            <a:ext cx="4965192"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721608" y="2048256"/>
            <a:ext cx="4727448" cy="365760"/>
          </a:xfrm>
          <a:prstGeom prst="rect">
            <a:avLst/>
          </a:prstGeom>
          <a:noFill/>
        </p:spPr>
        <p:txBody>
          <a:bodyPr wrap="square" lIns="13716" rIns="13716" tIns="13716" bIns="13716">
            <a:spAutoFit/>
          </a:bodyPr>
          <a:lstStyle/>
          <a:p>
            <a:pPr algn="ctr">
              <a:spcBef>
                <a:spcPts val="0"/>
              </a:spcBef>
              <a:spcAft>
                <a:spcPts val="500"/>
              </a:spcAft>
              <a:defRPr sz="1600" b="1">
                <a:solidFill>
                  <a:srgbClr val="2563EB"/>
                </a:solidFill>
                <a:latin typeface="Arial"/>
              </a:defRPr>
            </a:pPr>
            <a:r>
              <a:t>Prompt request</a:t>
            </a:r>
          </a:p>
        </p:txBody>
      </p:sp>
      <p:cxnSp>
        <p:nvCxnSpPr>
          <p:cNvPr id="20" name="Connector 19"/>
          <p:cNvCxnSpPr/>
          <p:nvPr/>
        </p:nvCxnSpPr>
        <p:spPr>
          <a:xfrm flipH="1">
            <a:off x="3611880" y="3054096"/>
            <a:ext cx="4965192" cy="0"/>
          </a:xfrm>
          <a:prstGeom prst="line">
            <a:avLst/>
          </a:prstGeom>
          <a:ln w="25400">
            <a:solidFill>
              <a:srgbClr val="586A80"/>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703320" y="3136392"/>
            <a:ext cx="4754880" cy="393192"/>
          </a:xfrm>
          <a:prstGeom prst="rect">
            <a:avLst/>
          </a:prstGeom>
          <a:noFill/>
        </p:spPr>
        <p:txBody>
          <a:bodyPr wrap="square" lIns="13716" rIns="13716" tIns="13716" bIns="13716">
            <a:spAutoFit/>
          </a:bodyPr>
          <a:lstStyle/>
          <a:p>
            <a:pPr algn="ctr">
              <a:spcBef>
                <a:spcPts val="0"/>
              </a:spcBef>
              <a:spcAft>
                <a:spcPts val="500"/>
              </a:spcAft>
              <a:defRPr sz="1500" b="0">
                <a:solidFill>
                  <a:srgbClr val="586A80"/>
                </a:solidFill>
                <a:latin typeface="Arial"/>
              </a:defRPr>
            </a:pPr>
            <a:r>
              <a:t>Response: KV-transfer metadata</a:t>
            </a:r>
          </a:p>
        </p:txBody>
      </p:sp>
      <p:sp>
        <p:nvSpPr>
          <p:cNvPr id="22" name="Rounded Rectangle 21"/>
          <p:cNvSpPr/>
          <p:nvPr/>
        </p:nvSpPr>
        <p:spPr>
          <a:xfrm>
            <a:off x="502920"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379976"/>
            <a:ext cx="50292" cy="95097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7354B8"/>
                </a:solidFill>
                <a:latin typeface="Arial"/>
              </a:defRPr>
            </a:pPr>
            <a:r>
              <a:t>Decode runtime</a:t>
            </a:r>
          </a:p>
        </p:txBody>
      </p:sp>
      <p:sp>
        <p:nvSpPr>
          <p:cNvPr id="25" name="TextBox 24"/>
          <p:cNvSpPr txBox="1"/>
          <p:nvPr/>
        </p:nvSpPr>
        <p:spPr>
          <a:xfrm>
            <a:off x="649224"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Uses KV to generate tokens</a:t>
            </a:r>
          </a:p>
        </p:txBody>
      </p:sp>
      <p:sp>
        <p:nvSpPr>
          <p:cNvPr id="26" name="Rounded Rectangle 25"/>
          <p:cNvSpPr/>
          <p:nvPr/>
        </p:nvSpPr>
        <p:spPr>
          <a:xfrm>
            <a:off x="8577072" y="4288536"/>
            <a:ext cx="3108960" cy="113385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577072" y="4379976"/>
            <a:ext cx="50292" cy="95097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714232" y="4407408"/>
            <a:ext cx="283464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Prefill KV memory</a:t>
            </a:r>
          </a:p>
        </p:txBody>
      </p:sp>
      <p:sp>
        <p:nvSpPr>
          <p:cNvPr id="29" name="TextBox 28"/>
          <p:cNvSpPr txBox="1"/>
          <p:nvPr/>
        </p:nvSpPr>
        <p:spPr>
          <a:xfrm>
            <a:off x="8723376" y="4846320"/>
            <a:ext cx="2816352" cy="48463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Remote transfer source</a:t>
            </a:r>
          </a:p>
        </p:txBody>
      </p:sp>
      <p:cxnSp>
        <p:nvCxnSpPr>
          <p:cNvPr id="30" name="Connector 29"/>
          <p:cNvCxnSpPr/>
          <p:nvPr/>
        </p:nvCxnSpPr>
        <p:spPr>
          <a:xfrm>
            <a:off x="2057400" y="3328416"/>
            <a:ext cx="0" cy="96012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21207" y="3639312"/>
            <a:ext cx="1325880" cy="457200"/>
          </a:xfrm>
          <a:prstGeom prst="rect">
            <a:avLst/>
          </a:prstGeom>
          <a:noFill/>
        </p:spPr>
        <p:txBody>
          <a:bodyPr wrap="square" lIns="13716" rIns="13716" tIns="13716" bIns="13716">
            <a:spAutoFit/>
          </a:bodyPr>
          <a:lstStyle/>
          <a:p>
            <a:pPr>
              <a:spcBef>
                <a:spcPts val="0"/>
              </a:spcBef>
              <a:spcAft>
                <a:spcPts val="500"/>
              </a:spcAft>
              <a:defRPr sz="1200" b="0">
                <a:solidFill>
                  <a:srgbClr val="7354B8"/>
                </a:solidFill>
                <a:latin typeface="Arial"/>
              </a:defRPr>
            </a:pPr>
            <a:r>
              <a:t>Metadata</a:t>
            </a:r>
          </a:p>
        </p:txBody>
      </p:sp>
      <p:cxnSp>
        <p:nvCxnSpPr>
          <p:cNvPr id="32" name="Connector 31"/>
          <p:cNvCxnSpPr/>
          <p:nvPr/>
        </p:nvCxnSpPr>
        <p:spPr>
          <a:xfrm flipH="1">
            <a:off x="3611880" y="4837176"/>
            <a:ext cx="496519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3703320" y="4325112"/>
            <a:ext cx="4754880" cy="384048"/>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KV tensor data: prefill → decode</a:t>
            </a:r>
          </a:p>
        </p:txBody>
      </p:sp>
      <p:sp>
        <p:nvSpPr>
          <p:cNvPr id="34" name="TextBox 33"/>
          <p:cNvSpPr txBox="1"/>
          <p:nvPr/>
        </p:nvSpPr>
        <p:spPr>
          <a:xfrm>
            <a:off x="3730752" y="5047488"/>
            <a:ext cx="4718304" cy="5120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A decode-initiated read can drive the transfer.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RUNTIME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decode pod contains two different roles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routing sidecar coordinates the request; vLLM executes decode.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Generated Service targetPorts, probes, and runtime arguments must agree.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20 / 43</a:t>
            </a:r>
          </a:p>
        </p:txBody>
      </p:sp>
      <p:sp>
        <p:nvSpPr>
          <p:cNvPr id="10" name="Rounded Rectangle 9"/>
          <p:cNvSpPr/>
          <p:nvPr/>
        </p:nvSpPr>
        <p:spPr>
          <a:xfrm>
            <a:off x="2743200" y="2157984"/>
            <a:ext cx="8942832" cy="3355848"/>
          </a:xfrm>
          <a:prstGeom prst="roundRect">
            <a:avLst>
              <a:gd name="adj" fmla="val 10000"/>
            </a:avLst>
          </a:prstGeom>
          <a:solidFill>
            <a:srgbClr val="F0EBFA"/>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80944" y="2368296"/>
            <a:ext cx="8138160" cy="365760"/>
          </a:xfrm>
          <a:prstGeom prst="rect">
            <a:avLst/>
          </a:prstGeom>
          <a:noFill/>
        </p:spPr>
        <p:txBody>
          <a:bodyPr wrap="square" lIns="13716" rIns="13716" tIns="13716" bIns="13716">
            <a:spAutoFit/>
          </a:bodyPr>
          <a:lstStyle/>
          <a:p>
            <a:pPr>
              <a:spcBef>
                <a:spcPts val="0"/>
              </a:spcBef>
              <a:spcAft>
                <a:spcPts val="500"/>
              </a:spcAft>
              <a:defRPr sz="1600" b="1">
                <a:solidFill>
                  <a:srgbClr val="7354B8"/>
                </a:solidFill>
                <a:latin typeface="Arial"/>
              </a:defRPr>
            </a:pPr>
            <a:r>
              <a:t>DECODE POD  /  SHARED POD NETWORK</a:t>
            </a:r>
          </a:p>
        </p:txBody>
      </p:sp>
      <p:sp>
        <p:nvSpPr>
          <p:cNvPr id="12" name="Rounded Rectangle 11"/>
          <p:cNvSpPr/>
          <p:nvPr/>
        </p:nvSpPr>
        <p:spPr>
          <a:xfrm>
            <a:off x="3017520" y="3172968"/>
            <a:ext cx="297180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0175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79" y="3291840"/>
            <a:ext cx="269748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llm-d routing</a:t>
            </a:r>
          </a:p>
          <a:p>
            <a:pPr algn="ctr">
              <a:spcBef>
                <a:spcPts val="0"/>
              </a:spcBef>
              <a:spcAft>
                <a:spcPts val="500"/>
              </a:spcAft>
              <a:defRPr sz="2000" b="1">
                <a:solidFill>
                  <a:srgbClr val="7354B8"/>
                </a:solidFill>
                <a:latin typeface="Arial"/>
              </a:defRPr>
            </a:pPr>
            <a:r>
              <a:t>sidecar</a:t>
            </a:r>
          </a:p>
        </p:txBody>
      </p:sp>
      <p:sp>
        <p:nvSpPr>
          <p:cNvPr id="15" name="TextBox 14"/>
          <p:cNvSpPr txBox="1"/>
          <p:nvPr/>
        </p:nvSpPr>
        <p:spPr>
          <a:xfrm>
            <a:off x="3163824" y="3995928"/>
            <a:ext cx="267919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Receives inference requests</a:t>
            </a:r>
          </a:p>
        </p:txBody>
      </p:sp>
      <p:sp>
        <p:nvSpPr>
          <p:cNvPr id="16" name="Rounded Rectangle 15"/>
          <p:cNvSpPr/>
          <p:nvPr/>
        </p:nvSpPr>
        <p:spPr>
          <a:xfrm>
            <a:off x="8275320" y="3172968"/>
            <a:ext cx="3108960" cy="16002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75320" y="3264408"/>
            <a:ext cx="50292" cy="1417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80" y="3291840"/>
            <a:ext cx="2834640" cy="658368"/>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vLLM decode</a:t>
            </a:r>
          </a:p>
          <a:p>
            <a:pPr algn="ctr">
              <a:spcBef>
                <a:spcPts val="0"/>
              </a:spcBef>
              <a:spcAft>
                <a:spcPts val="500"/>
              </a:spcAft>
              <a:defRPr sz="2000" b="1">
                <a:solidFill>
                  <a:srgbClr val="7354B8"/>
                </a:solidFill>
                <a:latin typeface="Arial"/>
              </a:defRPr>
            </a:pPr>
            <a:r>
              <a:t>runtime</a:t>
            </a:r>
          </a:p>
        </p:txBody>
      </p:sp>
      <p:sp>
        <p:nvSpPr>
          <p:cNvPr id="19" name="TextBox 18"/>
          <p:cNvSpPr txBox="1"/>
          <p:nvPr/>
        </p:nvSpPr>
        <p:spPr>
          <a:xfrm>
            <a:off x="8421624" y="3995928"/>
            <a:ext cx="2816352" cy="68580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Local backend listener</a:t>
            </a:r>
          </a:p>
        </p:txBody>
      </p:sp>
      <p:sp>
        <p:nvSpPr>
          <p:cNvPr id="20" name="Rounded Rectangle 19"/>
          <p:cNvSpPr/>
          <p:nvPr/>
        </p:nvSpPr>
        <p:spPr>
          <a:xfrm>
            <a:off x="502920" y="3355848"/>
            <a:ext cx="1764792" cy="11704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2920" y="3447288"/>
            <a:ext cx="50292" cy="9875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474720"/>
            <a:ext cx="149047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2563EB"/>
                </a:solidFill>
                <a:latin typeface="Arial"/>
              </a:defRPr>
            </a:pPr>
            <a:r>
              <a:t>Gateway</a:t>
            </a:r>
          </a:p>
        </p:txBody>
      </p:sp>
      <p:sp>
        <p:nvSpPr>
          <p:cNvPr id="23" name="TextBox 22"/>
          <p:cNvSpPr txBox="1"/>
          <p:nvPr/>
        </p:nvSpPr>
        <p:spPr>
          <a:xfrm>
            <a:off x="649224" y="3913632"/>
            <a:ext cx="1472184" cy="52120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Via Service</a:t>
            </a:r>
          </a:p>
        </p:txBody>
      </p:sp>
      <p:cxnSp>
        <p:nvCxnSpPr>
          <p:cNvPr id="24" name="Connector 23"/>
          <p:cNvCxnSpPr/>
          <p:nvPr/>
        </p:nvCxnSpPr>
        <p:spPr>
          <a:xfrm>
            <a:off x="2267712" y="3931920"/>
            <a:ext cx="74980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989320" y="3959352"/>
            <a:ext cx="22860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126480" y="3401568"/>
            <a:ext cx="2011680" cy="438912"/>
          </a:xfrm>
          <a:prstGeom prst="rect">
            <a:avLst/>
          </a:prstGeom>
          <a:noFill/>
        </p:spPr>
        <p:txBody>
          <a:bodyPr wrap="square" lIns="13716" rIns="13716" tIns="13716" bIns="13716">
            <a:spAutoFit/>
          </a:bodyPr>
          <a:lstStyle/>
          <a:p>
            <a:pPr algn="ctr">
              <a:spcBef>
                <a:spcPts val="0"/>
              </a:spcBef>
              <a:spcAft>
                <a:spcPts val="500"/>
              </a:spcAft>
              <a:defRPr sz="1400" b="1">
                <a:solidFill>
                  <a:srgbClr val="7354B8"/>
                </a:solidFill>
                <a:latin typeface="Arial"/>
              </a:defRPr>
            </a:pPr>
            <a:r>
              <a:t>Local forwarding</a:t>
            </a:r>
          </a:p>
        </p:txBody>
      </p:sp>
      <p:sp>
        <p:nvSpPr>
          <p:cNvPr id="27" name="TextBox 26"/>
          <p:cNvSpPr txBox="1"/>
          <p:nvPr/>
        </p:nvSpPr>
        <p:spPr>
          <a:xfrm>
            <a:off x="6126480" y="4224528"/>
            <a:ext cx="2011680" cy="50292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Distinct listeners</a:t>
            </a:r>
          </a:p>
        </p:txBody>
      </p:sp>
      <p:sp>
        <p:nvSpPr>
          <p:cNvPr id="28" name="TextBox 27"/>
          <p:cNvSpPr txBox="1"/>
          <p:nvPr/>
        </p:nvSpPr>
        <p:spPr>
          <a:xfrm>
            <a:off x="3054096" y="5047488"/>
            <a:ext cx="8138160" cy="301752"/>
          </a:xfrm>
          <a:prstGeom prst="rect">
            <a:avLst/>
          </a:prstGeom>
          <a:noFill/>
        </p:spPr>
        <p:txBody>
          <a:bodyPr wrap="square" lIns="13716" rIns="13716" tIns="13716" bIns="13716">
            <a:spAutoFit/>
          </a:bodyPr>
          <a:lstStyle/>
          <a:p>
            <a:pPr>
              <a:spcBef>
                <a:spcPts val="0"/>
              </a:spcBef>
              <a:spcAft>
                <a:spcPts val="500"/>
              </a:spcAft>
              <a:defRPr sz="1300" b="0">
                <a:solidFill>
                  <a:srgbClr val="586A80"/>
                </a:solidFill>
                <a:latin typeface="Arial"/>
              </a:defRPr>
            </a:pPr>
            <a:r>
              <a:t>Illustrative topology; use the generated manifest for actual port numbers.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03 / OPERATOR VALUE</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abstraction removes assembly—not visibility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declared topology replaces repetitive runtime wiring.</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21 / 43</a:t>
            </a:r>
          </a:p>
        </p:txBody>
      </p:sp>
      <p:sp>
        <p:nvSpPr>
          <p:cNvPr id="8" name="Rounded Rectangle 7"/>
          <p:cNvSpPr/>
          <p:nvPr/>
        </p:nvSpPr>
        <p:spPr>
          <a:xfrm>
            <a:off x="502920"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3172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Before: manual assembly</a:t>
            </a:r>
          </a:p>
        </p:txBody>
      </p:sp>
      <p:sp>
        <p:nvSpPr>
          <p:cNvPr id="11" name="TextBox 10"/>
          <p:cNvSpPr txBox="1"/>
          <p:nvPr/>
        </p:nvSpPr>
        <p:spPr>
          <a:xfrm>
            <a:off x="685800"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Pair role deployments and Services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Align labels, ports, env vars, probes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Wire sidecars and routing config</a:t>
            </a:r>
          </a:p>
        </p:txBody>
      </p:sp>
      <p:cxnSp>
        <p:nvCxnSpPr>
          <p:cNvPr id="12" name="Connector 11"/>
          <p:cNvCxnSpPr/>
          <p:nvPr/>
        </p:nvCxnSpPr>
        <p:spPr>
          <a:xfrm>
            <a:off x="5559552" y="3794760"/>
            <a:ext cx="978408" cy="0"/>
          </a:xfrm>
          <a:prstGeom prst="line">
            <a:avLst/>
          </a:prstGeom>
          <a:ln w="381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793992" y="2148840"/>
            <a:ext cx="4892040" cy="34290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58583"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976872" y="2514600"/>
            <a:ext cx="4526279"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After: declared intent</a:t>
            </a:r>
          </a:p>
        </p:txBody>
      </p:sp>
      <p:sp>
        <p:nvSpPr>
          <p:cNvPr id="16" name="TextBox 15"/>
          <p:cNvSpPr txBox="1"/>
          <p:nvPr/>
        </p:nvSpPr>
        <p:spPr>
          <a:xfrm>
            <a:off x="6976872" y="3118104"/>
            <a:ext cx="4526279" cy="23134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Describe roles in MultiRoleInference</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Inspect generated child resources</a:t>
            </a:r>
          </a:p>
          <a:p>
            <a:pPr>
              <a:spcBef>
                <a:spcPts val="0"/>
              </a:spcBef>
              <a:spcAft>
                <a:spcPts val="500"/>
              </a:spcAft>
              <a:defRPr sz="1800" b="0">
                <a:solidFill>
                  <a:srgbClr val="172941"/>
                </a:solidFill>
                <a:latin typeface="Arial"/>
              </a:defRPr>
            </a:pPr>
          </a:p>
          <a:p>
            <a:pPr>
              <a:spcBef>
                <a:spcPts val="0"/>
              </a:spcBef>
              <a:spcAft>
                <a:spcPts val="500"/>
              </a:spcAft>
              <a:defRPr sz="1800" b="0">
                <a:solidFill>
                  <a:srgbClr val="172941"/>
                </a:solidFill>
                <a:latin typeface="Arial"/>
              </a:defRPr>
            </a:pPr>
            <a:r>
              <a:t>Operate through Kubernetes APIs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Autoscale the role that is actually saturated</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Different bottlenecks deserve different signals and scale decisions.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Independent scaling only helps when the metrics match each role.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22 / 43</a:t>
            </a:r>
          </a:p>
        </p:txBody>
      </p:sp>
      <p:sp>
        <p:nvSpPr>
          <p:cNvPr id="10" name="Rounded Rectangle 9"/>
          <p:cNvSpPr/>
          <p:nvPr/>
        </p:nvSpPr>
        <p:spPr>
          <a:xfrm>
            <a:off x="502920"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PREFILL</a:t>
            </a:r>
          </a:p>
        </p:txBody>
      </p:sp>
      <p:sp>
        <p:nvSpPr>
          <p:cNvPr id="13" name="TextBox 12"/>
          <p:cNvSpPr txBox="1"/>
          <p:nvPr/>
        </p:nvSpPr>
        <p:spPr>
          <a:xfrm>
            <a:off x="685800"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prompt latency</a:t>
            </a:r>
          </a:p>
          <a:p>
            <a:pPr>
              <a:spcBef>
                <a:spcPts val="0"/>
              </a:spcBef>
              <a:spcAft>
                <a:spcPts val="500"/>
              </a:spcAft>
              <a:defRPr sz="2200" b="0">
                <a:solidFill>
                  <a:srgbClr val="172941"/>
                </a:solidFill>
                <a:latin typeface="Arial"/>
              </a:defRPr>
            </a:pPr>
            <a:r>
              <a:t>and time to first token.</a:t>
            </a:r>
          </a:p>
        </p:txBody>
      </p:sp>
      <p:sp>
        <p:nvSpPr>
          <p:cNvPr id="14" name="Rounded Rectangle 13"/>
          <p:cNvSpPr/>
          <p:nvPr/>
        </p:nvSpPr>
        <p:spPr>
          <a:xfrm>
            <a:off x="502920" y="4892040"/>
            <a:ext cx="544068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Primary signal: vLLM waiting requests</a:t>
            </a:r>
          </a:p>
        </p:txBody>
      </p:sp>
      <p:sp>
        <p:nvSpPr>
          <p:cNvPr id="16" name="Rounded Rectangle 15"/>
          <p:cNvSpPr/>
          <p:nvPr/>
        </p:nvSpPr>
        <p:spPr>
          <a:xfrm>
            <a:off x="6199632" y="2148840"/>
            <a:ext cx="5440680" cy="24688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82512" y="2514600"/>
            <a:ext cx="50749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DECODE</a:t>
            </a:r>
          </a:p>
        </p:txBody>
      </p:sp>
      <p:sp>
        <p:nvSpPr>
          <p:cNvPr id="19" name="TextBox 18"/>
          <p:cNvSpPr txBox="1"/>
          <p:nvPr/>
        </p:nvSpPr>
        <p:spPr>
          <a:xfrm>
            <a:off x="6382512" y="3118104"/>
            <a:ext cx="5074920" cy="1353312"/>
          </a:xfrm>
          <a:prstGeom prst="rect">
            <a:avLst/>
          </a:prstGeom>
          <a:noFill/>
        </p:spPr>
        <p:txBody>
          <a:bodyPr wrap="square" lIns="13716" rIns="13716" tIns="13716" bIns="13716">
            <a:spAutoFit/>
          </a:bodyPr>
          <a:lstStyle/>
          <a:p>
            <a:pPr>
              <a:spcBef>
                <a:spcPts val="0"/>
              </a:spcBef>
              <a:spcAft>
                <a:spcPts val="500"/>
              </a:spcAft>
              <a:defRPr sz="2200" b="0">
                <a:solidFill>
                  <a:srgbClr val="172941"/>
                </a:solidFill>
                <a:latin typeface="Arial"/>
              </a:defRPr>
            </a:pPr>
            <a:r>
              <a:t>Protect token delivery</a:t>
            </a:r>
          </a:p>
          <a:p>
            <a:pPr>
              <a:spcBef>
                <a:spcPts val="0"/>
              </a:spcBef>
              <a:spcAft>
                <a:spcPts val="500"/>
              </a:spcAft>
              <a:defRPr sz="2200" b="0">
                <a:solidFill>
                  <a:srgbClr val="172941"/>
                </a:solidFill>
                <a:latin typeface="Arial"/>
              </a:defRPr>
            </a:pPr>
            <a:r>
              <a:t>and sustained throughput.</a:t>
            </a:r>
          </a:p>
        </p:txBody>
      </p:sp>
      <p:sp>
        <p:nvSpPr>
          <p:cNvPr id="20" name="Rounded Rectangle 19"/>
          <p:cNvSpPr/>
          <p:nvPr/>
        </p:nvSpPr>
        <p:spPr>
          <a:xfrm>
            <a:off x="6199632" y="4892040"/>
            <a:ext cx="544068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4924044"/>
            <a:ext cx="531266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Primary signal: vLLM running requests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EXISTING CAPABILITY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Today: KEDA targets the InferenceSet scale API</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Documented KAITO examples cover both scheduled and metric-based scaling.</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The scale target is the InferenceSet—not a manually scaled workload Pod.</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23 / 43</a:t>
            </a:r>
          </a:p>
        </p:txBody>
      </p:sp>
      <p:sp>
        <p:nvSpPr>
          <p:cNvPr id="10" name="Rounded Rectangle 9"/>
          <p:cNvSpPr/>
          <p:nvPr/>
        </p:nvSpPr>
        <p:spPr>
          <a:xfrm>
            <a:off x="502920" y="2020824"/>
            <a:ext cx="219456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52828"/>
            <a:ext cx="206654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DOCUMENTED TODAY</a:t>
            </a:r>
          </a:p>
        </p:txBody>
      </p:sp>
      <p:sp>
        <p:nvSpPr>
          <p:cNvPr id="12" name="Rounded Rectangle 11"/>
          <p:cNvSpPr/>
          <p:nvPr/>
        </p:nvSpPr>
        <p:spPr>
          <a:xfrm>
            <a:off x="502920"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44368"/>
            <a:ext cx="50292" cy="1069848"/>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AE641A"/>
                </a:solidFill>
                <a:latin typeface="Arial"/>
              </a:defRPr>
            </a:pPr>
            <a:r>
              <a:t>Trigger</a:t>
            </a:r>
          </a:p>
        </p:txBody>
      </p:sp>
      <p:sp>
        <p:nvSpPr>
          <p:cNvPr id="15" name="TextBox 14"/>
          <p:cNvSpPr txBox="1"/>
          <p:nvPr/>
        </p:nvSpPr>
        <p:spPr>
          <a:xfrm>
            <a:off x="649224"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Cron or Prometheus query</a:t>
            </a:r>
          </a:p>
        </p:txBody>
      </p:sp>
      <p:sp>
        <p:nvSpPr>
          <p:cNvPr id="16" name="Rounded Rectangle 15"/>
          <p:cNvSpPr/>
          <p:nvPr/>
        </p:nvSpPr>
        <p:spPr>
          <a:xfrm>
            <a:off x="4498848"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98848" y="2944368"/>
            <a:ext cx="50292" cy="106984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KEDA / HPA</a:t>
            </a:r>
          </a:p>
        </p:txBody>
      </p:sp>
      <p:sp>
        <p:nvSpPr>
          <p:cNvPr id="19" name="TextBox 18"/>
          <p:cNvSpPr txBox="1"/>
          <p:nvPr/>
        </p:nvSpPr>
        <p:spPr>
          <a:xfrm>
            <a:off x="4645152"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ScaledObject target</a:t>
            </a:r>
          </a:p>
        </p:txBody>
      </p:sp>
      <p:sp>
        <p:nvSpPr>
          <p:cNvPr id="20" name="Rounded Rectangle 19"/>
          <p:cNvSpPr/>
          <p:nvPr/>
        </p:nvSpPr>
        <p:spPr>
          <a:xfrm>
            <a:off x="8485632" y="2852928"/>
            <a:ext cx="3200400" cy="12527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485632" y="2944368"/>
            <a:ext cx="50292" cy="106984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22792" y="2971800"/>
            <a:ext cx="292608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InferenceSet</a:t>
            </a:r>
          </a:p>
        </p:txBody>
      </p:sp>
      <p:sp>
        <p:nvSpPr>
          <p:cNvPr id="23" name="TextBox 22"/>
          <p:cNvSpPr txBox="1"/>
          <p:nvPr/>
        </p:nvSpPr>
        <p:spPr>
          <a:xfrm>
            <a:off x="8631936" y="3410712"/>
            <a:ext cx="2907792" cy="60350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Scale subresource</a:t>
            </a:r>
          </a:p>
        </p:txBody>
      </p:sp>
      <p:cxnSp>
        <p:nvCxnSpPr>
          <p:cNvPr id="24" name="Connector 23"/>
          <p:cNvCxnSpPr/>
          <p:nvPr/>
        </p:nvCxnSpPr>
        <p:spPr>
          <a:xfrm>
            <a:off x="3703320" y="3474720"/>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99248" y="3474720"/>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2920" y="4617720"/>
            <a:ext cx="11183112" cy="8412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855464"/>
            <a:ext cx="3291840" cy="329184"/>
          </a:xfrm>
          <a:prstGeom prst="rect">
            <a:avLst/>
          </a:prstGeom>
          <a:noFill/>
        </p:spPr>
        <p:txBody>
          <a:bodyPr wrap="square" lIns="13716" rIns="13716" tIns="13716" bIns="13716">
            <a:spAutoFit/>
          </a:bodyPr>
          <a:lstStyle/>
          <a:p>
            <a:pPr>
              <a:spcBef>
                <a:spcPts val="0"/>
              </a:spcBef>
              <a:spcAft>
                <a:spcPts val="500"/>
              </a:spcAft>
              <a:defRPr sz="1700" b="1">
                <a:solidFill>
                  <a:srgbClr val="586A80"/>
                </a:solidFill>
                <a:latin typeface="Arial"/>
              </a:defRPr>
            </a:pPr>
            <a:r>
              <a:t>Documented queue signal</a:t>
            </a:r>
          </a:p>
        </p:txBody>
      </p:sp>
      <p:sp>
        <p:nvSpPr>
          <p:cNvPr id="28" name="TextBox 27"/>
          <p:cNvSpPr txBox="1"/>
          <p:nvPr/>
        </p:nvSpPr>
        <p:spPr>
          <a:xfrm>
            <a:off x="4297680" y="4855464"/>
            <a:ext cx="7040880" cy="338328"/>
          </a:xfrm>
          <a:prstGeom prst="rect">
            <a:avLst/>
          </a:prstGeom>
          <a:noFill/>
        </p:spPr>
        <p:txBody>
          <a:bodyPr wrap="square" lIns="13716" rIns="13716" tIns="13716" bIns="13716">
            <a:spAutoFit/>
          </a:bodyPr>
          <a:lstStyle/>
          <a:p>
            <a:pPr>
              <a:spcBef>
                <a:spcPts val="0"/>
              </a:spcBef>
              <a:spcAft>
                <a:spcPts val="500"/>
              </a:spcAft>
              <a:defRPr sz="1900" b="0">
                <a:solidFill>
                  <a:srgbClr val="087F8C"/>
                </a:solidFill>
                <a:latin typeface="Courier New"/>
              </a:defRPr>
            </a:pPr>
            <a:r>
              <a:t>vllm:num_requests_waiting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PER-ROLE AUTOSCALING</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independent control loops, one logical service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Conceptual design: validate signals and thresholds for the actual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24 / 43</a:t>
            </a:r>
          </a:p>
        </p:txBody>
      </p:sp>
      <p:sp>
        <p:nvSpPr>
          <p:cNvPr id="8" name="Rounded Rectangle 7"/>
          <p:cNvSpPr/>
          <p:nvPr/>
        </p:nvSpPr>
        <p:spPr>
          <a:xfrm>
            <a:off x="502920" y="2267712"/>
            <a:ext cx="137160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299716"/>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0" name="Rounded Rectangle 9"/>
          <p:cNvSpPr/>
          <p:nvPr/>
        </p:nvSpPr>
        <p:spPr>
          <a:xfrm>
            <a:off x="2212848" y="2194560"/>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1284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350008" y="2313432"/>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Waiting requests</a:t>
            </a:r>
          </a:p>
        </p:txBody>
      </p:sp>
      <p:sp>
        <p:nvSpPr>
          <p:cNvPr id="13" name="TextBox 12"/>
          <p:cNvSpPr txBox="1"/>
          <p:nvPr/>
        </p:nvSpPr>
        <p:spPr>
          <a:xfrm>
            <a:off x="2359152" y="2752344"/>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14" name="Rounded Rectangle 13"/>
          <p:cNvSpPr/>
          <p:nvPr/>
        </p:nvSpPr>
        <p:spPr>
          <a:xfrm>
            <a:off x="5486400" y="2194560"/>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0"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23560" y="2313432"/>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KEDA / HPA</a:t>
            </a:r>
          </a:p>
        </p:txBody>
      </p:sp>
      <p:sp>
        <p:nvSpPr>
          <p:cNvPr id="17" name="TextBox 16"/>
          <p:cNvSpPr txBox="1"/>
          <p:nvPr/>
        </p:nvSpPr>
        <p:spPr>
          <a:xfrm>
            <a:off x="5632704" y="2752344"/>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18" name="Rounded Rectangle 17"/>
          <p:cNvSpPr/>
          <p:nvPr/>
        </p:nvSpPr>
        <p:spPr>
          <a:xfrm>
            <a:off x="8522208" y="2194560"/>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22208" y="2286000"/>
            <a:ext cx="50292" cy="90525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59368" y="2313432"/>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087F8C"/>
                </a:solidFill>
                <a:latin typeface="Arial"/>
              </a:defRPr>
            </a:pPr>
            <a:r>
              <a:t>Prefill InferenceSet</a:t>
            </a:r>
          </a:p>
        </p:txBody>
      </p:sp>
      <p:sp>
        <p:nvSpPr>
          <p:cNvPr id="21" name="TextBox 20"/>
          <p:cNvSpPr txBox="1"/>
          <p:nvPr/>
        </p:nvSpPr>
        <p:spPr>
          <a:xfrm>
            <a:off x="8668512" y="2752344"/>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22" name="Connector 21"/>
          <p:cNvCxnSpPr/>
          <p:nvPr/>
        </p:nvCxnSpPr>
        <p:spPr>
          <a:xfrm>
            <a:off x="4818888" y="2724912"/>
            <a:ext cx="667512"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863840" y="2724912"/>
            <a:ext cx="65836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104120" y="3282696"/>
            <a:ext cx="0" cy="347472"/>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511296" y="3630168"/>
            <a:ext cx="6592824"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511296" y="3282696"/>
            <a:ext cx="0" cy="347472"/>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502920" y="4160520"/>
            <a:ext cx="137160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192524"/>
            <a:ext cx="124358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9" name="Rounded Rectangle 28"/>
          <p:cNvSpPr/>
          <p:nvPr/>
        </p:nvSpPr>
        <p:spPr>
          <a:xfrm>
            <a:off x="2212848" y="4087368"/>
            <a:ext cx="26060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21284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50008" y="4206240"/>
            <a:ext cx="23317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Running requests</a:t>
            </a:r>
          </a:p>
        </p:txBody>
      </p:sp>
      <p:sp>
        <p:nvSpPr>
          <p:cNvPr id="32" name="TextBox 31"/>
          <p:cNvSpPr txBox="1"/>
          <p:nvPr/>
        </p:nvSpPr>
        <p:spPr>
          <a:xfrm>
            <a:off x="2359152" y="4645151"/>
            <a:ext cx="23134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Observe</a:t>
            </a:r>
          </a:p>
        </p:txBody>
      </p:sp>
      <p:sp>
        <p:nvSpPr>
          <p:cNvPr id="33" name="Rounded Rectangle 32"/>
          <p:cNvSpPr/>
          <p:nvPr/>
        </p:nvSpPr>
        <p:spPr>
          <a:xfrm>
            <a:off x="5486400" y="4087368"/>
            <a:ext cx="2377440"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0"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23560" y="4206240"/>
            <a:ext cx="2103120"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KEDA / HPA</a:t>
            </a:r>
          </a:p>
        </p:txBody>
      </p:sp>
      <p:sp>
        <p:nvSpPr>
          <p:cNvPr id="36" name="TextBox 35"/>
          <p:cNvSpPr txBox="1"/>
          <p:nvPr/>
        </p:nvSpPr>
        <p:spPr>
          <a:xfrm>
            <a:off x="5632704" y="4645151"/>
            <a:ext cx="2084832"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Decide</a:t>
            </a:r>
          </a:p>
        </p:txBody>
      </p:sp>
      <p:sp>
        <p:nvSpPr>
          <p:cNvPr id="37" name="Rounded Rectangle 36"/>
          <p:cNvSpPr/>
          <p:nvPr/>
        </p:nvSpPr>
        <p:spPr>
          <a:xfrm>
            <a:off x="8522208" y="4087368"/>
            <a:ext cx="3163824" cy="10881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522208" y="4178807"/>
            <a:ext cx="50292" cy="90525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59368" y="4206240"/>
            <a:ext cx="2889504" cy="393192"/>
          </a:xfrm>
          <a:prstGeom prst="rect">
            <a:avLst/>
          </a:prstGeom>
          <a:noFill/>
        </p:spPr>
        <p:txBody>
          <a:bodyPr wrap="square" lIns="13716" rIns="13716" tIns="13716" bIns="13716">
            <a:spAutoFit/>
          </a:bodyPr>
          <a:lstStyle/>
          <a:p>
            <a:pPr algn="ctr">
              <a:spcBef>
                <a:spcPts val="0"/>
              </a:spcBef>
              <a:spcAft>
                <a:spcPts val="500"/>
              </a:spcAft>
              <a:defRPr sz="1700" b="1">
                <a:solidFill>
                  <a:srgbClr val="7354B8"/>
                </a:solidFill>
                <a:latin typeface="Arial"/>
              </a:defRPr>
            </a:pPr>
            <a:r>
              <a:t>Decode InferenceSet</a:t>
            </a:r>
          </a:p>
        </p:txBody>
      </p:sp>
      <p:sp>
        <p:nvSpPr>
          <p:cNvPr id="40" name="TextBox 39"/>
          <p:cNvSpPr txBox="1"/>
          <p:nvPr/>
        </p:nvSpPr>
        <p:spPr>
          <a:xfrm>
            <a:off x="8668512" y="4645151"/>
            <a:ext cx="2871216" cy="438912"/>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replicas</a:t>
            </a:r>
          </a:p>
        </p:txBody>
      </p:sp>
      <p:cxnSp>
        <p:nvCxnSpPr>
          <p:cNvPr id="41" name="Connector 40"/>
          <p:cNvCxnSpPr/>
          <p:nvPr/>
        </p:nvCxnSpPr>
        <p:spPr>
          <a:xfrm>
            <a:off x="4818888" y="4617720"/>
            <a:ext cx="66751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7863840" y="4617720"/>
            <a:ext cx="65836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104120" y="5175504"/>
            <a:ext cx="0" cy="347472"/>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3511296" y="5522976"/>
            <a:ext cx="6592824"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511296" y="5175504"/>
            <a:ext cx="0" cy="347472"/>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521207" y="6025896"/>
            <a:ext cx="11064240" cy="329184"/>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Add stabilization, warm-up awareness, and safe scale-down behavior to each loop.</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POLICY BOUNDARY</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One service, independently managed role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Coordinate P/D at the service level; make capacity decisions separately for each role.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Scale a complete serving replica—not an individual tensor-parallel worker.</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25 / 43</a:t>
            </a:r>
          </a:p>
        </p:txBody>
      </p:sp>
      <p:sp>
        <p:nvSpPr>
          <p:cNvPr id="10" name="Rounded Rectangle 9"/>
          <p:cNvSpPr/>
          <p:nvPr/>
        </p:nvSpPr>
        <p:spPr>
          <a:xfrm>
            <a:off x="502920" y="2029968"/>
            <a:ext cx="393192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061972"/>
            <a:ext cx="380390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DESIGN PATTERN / PER-ROLE CONTROL</a:t>
            </a:r>
          </a:p>
        </p:txBody>
      </p:sp>
      <p:sp>
        <p:nvSpPr>
          <p:cNvPr id="12" name="Rounded Rectangle 11"/>
          <p:cNvSpPr/>
          <p:nvPr/>
        </p:nvSpPr>
        <p:spPr>
          <a:xfrm>
            <a:off x="502920" y="2880360"/>
            <a:ext cx="3291840" cy="20299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2971800"/>
            <a:ext cx="50292" cy="18470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999232"/>
            <a:ext cx="301752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Service-level intent</a:t>
            </a:r>
          </a:p>
        </p:txBody>
      </p:sp>
      <p:sp>
        <p:nvSpPr>
          <p:cNvPr id="15" name="TextBox 14"/>
          <p:cNvSpPr txBox="1"/>
          <p:nvPr/>
        </p:nvSpPr>
        <p:spPr>
          <a:xfrm>
            <a:off x="649224" y="3438144"/>
            <a:ext cx="2999232" cy="13807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latency objective</a:t>
            </a:r>
          </a:p>
          <a:p>
            <a:pPr algn="ctr">
              <a:spcBef>
                <a:spcPts val="0"/>
              </a:spcBef>
              <a:spcAft>
                <a:spcPts val="500"/>
              </a:spcAft>
              <a:defRPr sz="1400" b="0">
                <a:solidFill>
                  <a:srgbClr val="586A80"/>
                </a:solidFill>
                <a:latin typeface="Arial"/>
              </a:defRPr>
            </a:pPr>
            <a:r>
              <a:t>Decode: delivery objective</a:t>
            </a:r>
          </a:p>
        </p:txBody>
      </p:sp>
      <p:sp>
        <p:nvSpPr>
          <p:cNvPr id="16" name="Rounded Rectangle 15"/>
          <p:cNvSpPr/>
          <p:nvPr/>
        </p:nvSpPr>
        <p:spPr>
          <a:xfrm>
            <a:off x="4572000" y="3227832"/>
            <a:ext cx="3017520" cy="134416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3319272"/>
            <a:ext cx="50292" cy="116128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3346703"/>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Policy reconciliation</a:t>
            </a:r>
          </a:p>
        </p:txBody>
      </p:sp>
      <p:sp>
        <p:nvSpPr>
          <p:cNvPr id="19" name="TextBox 18"/>
          <p:cNvSpPr txBox="1"/>
          <p:nvPr/>
        </p:nvSpPr>
        <p:spPr>
          <a:xfrm>
            <a:off x="4718304" y="3785615"/>
            <a:ext cx="2724912" cy="69494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Independent role targets</a:t>
            </a:r>
          </a:p>
        </p:txBody>
      </p:sp>
      <p:sp>
        <p:nvSpPr>
          <p:cNvPr id="20" name="Rounded Rectangle 19"/>
          <p:cNvSpPr/>
          <p:nvPr/>
        </p:nvSpPr>
        <p:spPr>
          <a:xfrm>
            <a:off x="8366760" y="2706624"/>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366760" y="2798064"/>
            <a:ext cx="50292" cy="88696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03920" y="2825496"/>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scale target</a:t>
            </a:r>
          </a:p>
        </p:txBody>
      </p:sp>
      <p:sp>
        <p:nvSpPr>
          <p:cNvPr id="23" name="TextBox 22"/>
          <p:cNvSpPr txBox="1"/>
          <p:nvPr/>
        </p:nvSpPr>
        <p:spPr>
          <a:xfrm>
            <a:off x="8513064" y="3264408"/>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sp>
        <p:nvSpPr>
          <p:cNvPr id="24" name="Rounded Rectangle 23"/>
          <p:cNvSpPr/>
          <p:nvPr/>
        </p:nvSpPr>
        <p:spPr>
          <a:xfrm>
            <a:off x="8366760" y="4233672"/>
            <a:ext cx="3319272" cy="106984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66760" y="4325112"/>
            <a:ext cx="50292" cy="88696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03920" y="4352544"/>
            <a:ext cx="3044952"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scale target</a:t>
            </a:r>
          </a:p>
        </p:txBody>
      </p:sp>
      <p:sp>
        <p:nvSpPr>
          <p:cNvPr id="27" name="TextBox 26"/>
          <p:cNvSpPr txBox="1"/>
          <p:nvPr/>
        </p:nvSpPr>
        <p:spPr>
          <a:xfrm>
            <a:off x="8513064" y="4791455"/>
            <a:ext cx="3026664" cy="420623"/>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Generated policy + target</a:t>
            </a:r>
          </a:p>
        </p:txBody>
      </p:sp>
      <p:cxnSp>
        <p:nvCxnSpPr>
          <p:cNvPr id="28" name="Connector 27"/>
          <p:cNvCxnSpPr/>
          <p:nvPr/>
        </p:nvCxnSpPr>
        <p:spPr>
          <a:xfrm>
            <a:off x="3794760" y="3886200"/>
            <a:ext cx="77724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589520" y="3749039"/>
            <a:ext cx="36575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7955279" y="3246120"/>
            <a:ext cx="0" cy="50291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955279" y="3246120"/>
            <a:ext cx="41148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589520" y="4041648"/>
            <a:ext cx="36575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955279" y="4041648"/>
            <a:ext cx="0" cy="73152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955279" y="4773168"/>
            <a:ext cx="41148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CONTROL-LOOP DESIGN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Observe each role. Act on its own capacity.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feedback loops connect role-specific load to role-specific serving capacity.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Routing chooses where requests go; autoscaling changes how much capacity is available.</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26 / 43</a:t>
            </a:r>
          </a:p>
        </p:txBody>
      </p:sp>
      <p:sp>
        <p:nvSpPr>
          <p:cNvPr id="10" name="Rounded Rectangle 9"/>
          <p:cNvSpPr/>
          <p:nvPr/>
        </p:nvSpPr>
        <p:spPr>
          <a:xfrm>
            <a:off x="502920"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Role-specific policies</a:t>
            </a:r>
          </a:p>
        </p:txBody>
      </p:sp>
      <p:sp>
        <p:nvSpPr>
          <p:cNvPr id="13" name="TextBox 12"/>
          <p:cNvSpPr txBox="1"/>
          <p:nvPr/>
        </p:nvSpPr>
        <p:spPr>
          <a:xfrm>
            <a:off x="649224"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Signals, thresholds and bounds</a:t>
            </a:r>
          </a:p>
        </p:txBody>
      </p:sp>
      <p:sp>
        <p:nvSpPr>
          <p:cNvPr id="14" name="Rounded Rectangle 13"/>
          <p:cNvSpPr/>
          <p:nvPr/>
        </p:nvSpPr>
        <p:spPr>
          <a:xfrm>
            <a:off x="4498848"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498848"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Independent decisions</a:t>
            </a:r>
          </a:p>
        </p:txBody>
      </p:sp>
      <p:sp>
        <p:nvSpPr>
          <p:cNvPr id="17" name="TextBox 16"/>
          <p:cNvSpPr txBox="1"/>
          <p:nvPr/>
        </p:nvSpPr>
        <p:spPr>
          <a:xfrm>
            <a:off x="4645152"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One controller per target</a:t>
            </a:r>
          </a:p>
        </p:txBody>
      </p:sp>
      <p:sp>
        <p:nvSpPr>
          <p:cNvPr id="18" name="Rounded Rectangle 17"/>
          <p:cNvSpPr/>
          <p:nvPr/>
        </p:nvSpPr>
        <p:spPr>
          <a:xfrm>
            <a:off x="8485632" y="2039112"/>
            <a:ext cx="3200400" cy="106070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85632" y="2130552"/>
            <a:ext cx="50292" cy="87782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157984"/>
            <a:ext cx="292608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Serving capacity</a:t>
            </a:r>
          </a:p>
        </p:txBody>
      </p:sp>
      <p:sp>
        <p:nvSpPr>
          <p:cNvPr id="21" name="TextBox 20"/>
          <p:cNvSpPr txBox="1"/>
          <p:nvPr/>
        </p:nvSpPr>
        <p:spPr>
          <a:xfrm>
            <a:off x="8631936" y="2596896"/>
            <a:ext cx="2907792" cy="411479"/>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Count model-ready replicas</a:t>
            </a:r>
          </a:p>
        </p:txBody>
      </p:sp>
      <p:cxnSp>
        <p:nvCxnSpPr>
          <p:cNvPr id="22" name="Connector 21"/>
          <p:cNvCxnSpPr/>
          <p:nvPr/>
        </p:nvCxnSpPr>
        <p:spPr>
          <a:xfrm>
            <a:off x="3703320" y="2569464"/>
            <a:ext cx="79552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99248" y="2569464"/>
            <a:ext cx="786384"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vLLM /metrics</a:t>
            </a:r>
          </a:p>
        </p:txBody>
      </p:sp>
      <p:sp>
        <p:nvSpPr>
          <p:cNvPr id="27" name="TextBox 26"/>
          <p:cNvSpPr txBox="1"/>
          <p:nvPr/>
        </p:nvSpPr>
        <p:spPr>
          <a:xfrm>
            <a:off x="649224"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Waiting requests</a:t>
            </a:r>
          </a:p>
        </p:txBody>
      </p:sp>
      <p:sp>
        <p:nvSpPr>
          <p:cNvPr id="28" name="Rounded Rectangle 27"/>
          <p:cNvSpPr/>
          <p:nvPr/>
        </p:nvSpPr>
        <p:spPr>
          <a:xfrm>
            <a:off x="4498848"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98848"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36008"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autoscaler</a:t>
            </a:r>
          </a:p>
        </p:txBody>
      </p:sp>
      <p:sp>
        <p:nvSpPr>
          <p:cNvPr id="31" name="TextBox 30"/>
          <p:cNvSpPr txBox="1"/>
          <p:nvPr/>
        </p:nvSpPr>
        <p:spPr>
          <a:xfrm>
            <a:off x="4645152"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32" name="Rounded Rectangle 31"/>
          <p:cNvSpPr/>
          <p:nvPr/>
        </p:nvSpPr>
        <p:spPr>
          <a:xfrm>
            <a:off x="8485632" y="3557016"/>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85632" y="3648456"/>
            <a:ext cx="50292" cy="7315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22792" y="3675888"/>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087F8C"/>
                </a:solidFill>
                <a:latin typeface="Arial"/>
              </a:defRPr>
            </a:pPr>
            <a:r>
              <a:t>Prefill replicas</a:t>
            </a:r>
          </a:p>
        </p:txBody>
      </p:sp>
      <p:sp>
        <p:nvSpPr>
          <p:cNvPr id="35" name="TextBox 34"/>
          <p:cNvSpPr txBox="1"/>
          <p:nvPr/>
        </p:nvSpPr>
        <p:spPr>
          <a:xfrm>
            <a:off x="8631936" y="4114800"/>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36" name="Connector 35"/>
          <p:cNvCxnSpPr/>
          <p:nvPr/>
        </p:nvCxnSpPr>
        <p:spPr>
          <a:xfrm>
            <a:off x="3703320" y="4014216"/>
            <a:ext cx="79552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7699248" y="4014216"/>
            <a:ext cx="78638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02920"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vLLM /metrics</a:t>
            </a:r>
          </a:p>
        </p:txBody>
      </p:sp>
      <p:sp>
        <p:nvSpPr>
          <p:cNvPr id="41" name="TextBox 40"/>
          <p:cNvSpPr txBox="1"/>
          <p:nvPr/>
        </p:nvSpPr>
        <p:spPr>
          <a:xfrm>
            <a:off x="649224"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Running requests</a:t>
            </a:r>
          </a:p>
        </p:txBody>
      </p:sp>
      <p:sp>
        <p:nvSpPr>
          <p:cNvPr id="42" name="Rounded Rectangle 41"/>
          <p:cNvSpPr/>
          <p:nvPr/>
        </p:nvSpPr>
        <p:spPr>
          <a:xfrm>
            <a:off x="4498848"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498848"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636008"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autoscaler</a:t>
            </a:r>
          </a:p>
        </p:txBody>
      </p:sp>
      <p:sp>
        <p:nvSpPr>
          <p:cNvPr id="45" name="TextBox 44"/>
          <p:cNvSpPr txBox="1"/>
          <p:nvPr/>
        </p:nvSpPr>
        <p:spPr>
          <a:xfrm>
            <a:off x="4645152"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Evaluate this role independently</a:t>
            </a:r>
          </a:p>
        </p:txBody>
      </p:sp>
      <p:sp>
        <p:nvSpPr>
          <p:cNvPr id="46" name="Rounded Rectangle 45"/>
          <p:cNvSpPr/>
          <p:nvPr/>
        </p:nvSpPr>
        <p:spPr>
          <a:xfrm>
            <a:off x="8485632" y="4636008"/>
            <a:ext cx="3200400" cy="9144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485632" y="4727448"/>
            <a:ext cx="50292" cy="7315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22792" y="4754880"/>
            <a:ext cx="2926080" cy="393192"/>
          </a:xfrm>
          <a:prstGeom prst="rect">
            <a:avLst/>
          </a:prstGeom>
          <a:noFill/>
        </p:spPr>
        <p:txBody>
          <a:bodyPr wrap="square" lIns="13716" rIns="13716" tIns="13716" bIns="13716">
            <a:spAutoFit/>
          </a:bodyPr>
          <a:lstStyle/>
          <a:p>
            <a:pPr algn="ctr">
              <a:spcBef>
                <a:spcPts val="0"/>
              </a:spcBef>
              <a:spcAft>
                <a:spcPts val="500"/>
              </a:spcAft>
              <a:defRPr sz="1800" b="1">
                <a:solidFill>
                  <a:srgbClr val="7354B8"/>
                </a:solidFill>
                <a:latin typeface="Arial"/>
              </a:defRPr>
            </a:pPr>
            <a:r>
              <a:t>Decode replicas</a:t>
            </a:r>
          </a:p>
        </p:txBody>
      </p:sp>
      <p:sp>
        <p:nvSpPr>
          <p:cNvPr id="49" name="TextBox 48"/>
          <p:cNvSpPr txBox="1"/>
          <p:nvPr/>
        </p:nvSpPr>
        <p:spPr>
          <a:xfrm>
            <a:off x="8631936" y="5193792"/>
            <a:ext cx="2907792" cy="26517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Reconcile serving capacity</a:t>
            </a:r>
          </a:p>
        </p:txBody>
      </p:sp>
      <p:cxnSp>
        <p:nvCxnSpPr>
          <p:cNvPr id="50" name="Connector 49"/>
          <p:cNvCxnSpPr/>
          <p:nvPr/>
        </p:nvCxnSpPr>
        <p:spPr>
          <a:xfrm>
            <a:off x="3703320" y="5093208"/>
            <a:ext cx="79552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7699248" y="5093208"/>
            <a:ext cx="78638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VLLM-NATIVE METRICS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Two native gauges, two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per-replica role aggregation; tune thresholds against the deployed model and workload.</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thresholds only. Verify actual /metrics output before enabling either policy.</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27 / 43</a:t>
            </a:r>
          </a:p>
        </p:txBody>
      </p:sp>
      <p:sp>
        <p:nvSpPr>
          <p:cNvPr id="10" name="Rounded Rectangle 9"/>
          <p:cNvSpPr/>
          <p:nvPr/>
        </p:nvSpPr>
        <p:spPr>
          <a:xfrm>
            <a:off x="502920"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267712"/>
            <a:ext cx="14630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PREFILL</a:t>
            </a:r>
          </a:p>
        </p:txBody>
      </p:sp>
      <p:sp>
        <p:nvSpPr>
          <p:cNvPr id="13" name="TextBox 12"/>
          <p:cNvSpPr txBox="1"/>
          <p:nvPr/>
        </p:nvSpPr>
        <p:spPr>
          <a:xfrm>
            <a:off x="685800"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Courier New"/>
              </a:defRPr>
            </a:pPr>
            <a:r>
              <a:t>vllm:num_requests_waiting</a:t>
            </a:r>
          </a:p>
        </p:txBody>
      </p:sp>
      <p:sp>
        <p:nvSpPr>
          <p:cNvPr id="14" name="TextBox 13"/>
          <p:cNvSpPr txBox="1"/>
          <p:nvPr/>
        </p:nvSpPr>
        <p:spPr>
          <a:xfrm>
            <a:off x="685800"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Queue inside the prefill engine.</a:t>
            </a:r>
          </a:p>
          <a:p>
            <a:pPr>
              <a:spcBef>
                <a:spcPts val="0"/>
              </a:spcBef>
              <a:spcAft>
                <a:spcPts val="500"/>
              </a:spcAft>
              <a:defRPr sz="1800" b="0">
                <a:solidFill>
                  <a:srgbClr val="172941"/>
                </a:solidFill>
                <a:latin typeface="Arial"/>
              </a:defRPr>
            </a:pPr>
            <a:r>
              <a:t>Protect prompt admission latency.</a:t>
            </a:r>
          </a:p>
        </p:txBody>
      </p:sp>
      <p:sp>
        <p:nvSpPr>
          <p:cNvPr id="15" name="Rounded Rectangle 14"/>
          <p:cNvSpPr/>
          <p:nvPr/>
        </p:nvSpPr>
        <p:spPr>
          <a:xfrm>
            <a:off x="685800"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&lt; 1</a:t>
            </a:r>
          </a:p>
        </p:txBody>
      </p:sp>
      <p:sp>
        <p:nvSpPr>
          <p:cNvPr id="17" name="TextBox 16"/>
          <p:cNvSpPr txBox="1"/>
          <p:nvPr/>
        </p:nvSpPr>
        <p:spPr>
          <a:xfrm>
            <a:off x="74066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down</a:t>
            </a:r>
          </a:p>
        </p:txBody>
      </p:sp>
      <p:sp>
        <p:nvSpPr>
          <p:cNvPr id="18" name="Rounded Rectangle 17"/>
          <p:cNvSpPr/>
          <p:nvPr/>
        </p:nvSpPr>
        <p:spPr>
          <a:xfrm>
            <a:off x="2386584"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Between</a:t>
            </a:r>
          </a:p>
        </p:txBody>
      </p:sp>
      <p:sp>
        <p:nvSpPr>
          <p:cNvPr id="20" name="TextBox 19"/>
          <p:cNvSpPr txBox="1"/>
          <p:nvPr/>
        </p:nvSpPr>
        <p:spPr>
          <a:xfrm>
            <a:off x="2441448"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Hold</a:t>
            </a:r>
          </a:p>
        </p:txBody>
      </p:sp>
      <p:sp>
        <p:nvSpPr>
          <p:cNvPr id="21" name="Rounded Rectangle 20"/>
          <p:cNvSpPr/>
          <p:nvPr/>
        </p:nvSpPr>
        <p:spPr>
          <a:xfrm>
            <a:off x="4087368" y="4251960"/>
            <a:ext cx="1572768" cy="7589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087F8C"/>
                </a:solidFill>
                <a:latin typeface="Arial"/>
              </a:defRPr>
            </a:pPr>
            <a:r>
              <a:t>&gt; 8</a:t>
            </a:r>
          </a:p>
        </p:txBody>
      </p:sp>
      <p:sp>
        <p:nvSpPr>
          <p:cNvPr id="23" name="TextBox 22"/>
          <p:cNvSpPr txBox="1"/>
          <p:nvPr/>
        </p:nvSpPr>
        <p:spPr>
          <a:xfrm>
            <a:off x="4142232"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087F8C"/>
                </a:solidFill>
                <a:latin typeface="Arial"/>
              </a:defRPr>
            </a:pPr>
            <a:r>
              <a:t>Scale up</a:t>
            </a:r>
          </a:p>
        </p:txBody>
      </p:sp>
      <p:sp>
        <p:nvSpPr>
          <p:cNvPr id="24" name="TextBox 23"/>
          <p:cNvSpPr txBox="1"/>
          <p:nvPr/>
        </p:nvSpPr>
        <p:spPr>
          <a:xfrm>
            <a:off x="685800"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1–8 role replicas</a:t>
            </a:r>
          </a:p>
        </p:txBody>
      </p:sp>
      <p:sp>
        <p:nvSpPr>
          <p:cNvPr id="25" name="Rounded Rectangle 24"/>
          <p:cNvSpPr/>
          <p:nvPr/>
        </p:nvSpPr>
        <p:spPr>
          <a:xfrm>
            <a:off x="6199632" y="2084831"/>
            <a:ext cx="5440680" cy="3474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82512" y="2267712"/>
            <a:ext cx="14630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2299716"/>
            <a:ext cx="133502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DECODE</a:t>
            </a:r>
          </a:p>
        </p:txBody>
      </p:sp>
      <p:sp>
        <p:nvSpPr>
          <p:cNvPr id="28" name="TextBox 27"/>
          <p:cNvSpPr txBox="1"/>
          <p:nvPr/>
        </p:nvSpPr>
        <p:spPr>
          <a:xfrm>
            <a:off x="6382512" y="2798064"/>
            <a:ext cx="5074920" cy="402336"/>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Courier New"/>
              </a:defRPr>
            </a:pPr>
            <a:r>
              <a:t>vllm:num_requests_running</a:t>
            </a:r>
          </a:p>
        </p:txBody>
      </p:sp>
      <p:sp>
        <p:nvSpPr>
          <p:cNvPr id="29" name="TextBox 28"/>
          <p:cNvSpPr txBox="1"/>
          <p:nvPr/>
        </p:nvSpPr>
        <p:spPr>
          <a:xfrm>
            <a:off x="6382512" y="3346704"/>
            <a:ext cx="5074920" cy="704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Requests in decode execution batches.</a:t>
            </a:r>
          </a:p>
          <a:p>
            <a:pPr>
              <a:spcBef>
                <a:spcPts val="0"/>
              </a:spcBef>
              <a:spcAft>
                <a:spcPts val="500"/>
              </a:spcAft>
              <a:defRPr sz="1800" b="0">
                <a:solidFill>
                  <a:srgbClr val="172941"/>
                </a:solidFill>
                <a:latin typeface="Arial"/>
              </a:defRPr>
            </a:pPr>
            <a:r>
              <a:t>Protect token delivery under load.</a:t>
            </a:r>
          </a:p>
        </p:txBody>
      </p:sp>
      <p:sp>
        <p:nvSpPr>
          <p:cNvPr id="30" name="Rounded Rectangle 29"/>
          <p:cNvSpPr/>
          <p:nvPr/>
        </p:nvSpPr>
        <p:spPr>
          <a:xfrm>
            <a:off x="6382512"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&lt; 4</a:t>
            </a:r>
          </a:p>
        </p:txBody>
      </p:sp>
      <p:sp>
        <p:nvSpPr>
          <p:cNvPr id="32" name="TextBox 31"/>
          <p:cNvSpPr txBox="1"/>
          <p:nvPr/>
        </p:nvSpPr>
        <p:spPr>
          <a:xfrm>
            <a:off x="6437376"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down</a:t>
            </a:r>
          </a:p>
        </p:txBody>
      </p:sp>
      <p:sp>
        <p:nvSpPr>
          <p:cNvPr id="33" name="Rounded Rectangle 32"/>
          <p:cNvSpPr/>
          <p:nvPr/>
        </p:nvSpPr>
        <p:spPr>
          <a:xfrm>
            <a:off x="8083296"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38160"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Between</a:t>
            </a:r>
          </a:p>
        </p:txBody>
      </p:sp>
      <p:sp>
        <p:nvSpPr>
          <p:cNvPr id="35" name="TextBox 34"/>
          <p:cNvSpPr txBox="1"/>
          <p:nvPr/>
        </p:nvSpPr>
        <p:spPr>
          <a:xfrm>
            <a:off x="8138160"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Hold</a:t>
            </a:r>
          </a:p>
        </p:txBody>
      </p:sp>
      <p:sp>
        <p:nvSpPr>
          <p:cNvPr id="36" name="Rounded Rectangle 35"/>
          <p:cNvSpPr/>
          <p:nvPr/>
        </p:nvSpPr>
        <p:spPr>
          <a:xfrm>
            <a:off x="9784080" y="4251960"/>
            <a:ext cx="1572768" cy="7589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838944" y="4334256"/>
            <a:ext cx="1463040" cy="256032"/>
          </a:xfrm>
          <a:prstGeom prst="rect">
            <a:avLst/>
          </a:prstGeom>
          <a:noFill/>
        </p:spPr>
        <p:txBody>
          <a:bodyPr wrap="square" lIns="13716" rIns="13716" tIns="13716" bIns="13716">
            <a:spAutoFit/>
          </a:bodyPr>
          <a:lstStyle/>
          <a:p>
            <a:pPr algn="ctr">
              <a:spcBef>
                <a:spcPts val="0"/>
              </a:spcBef>
              <a:spcAft>
                <a:spcPts val="500"/>
              </a:spcAft>
              <a:defRPr sz="1600" b="1">
                <a:solidFill>
                  <a:srgbClr val="7354B8"/>
                </a:solidFill>
                <a:latin typeface="Arial"/>
              </a:defRPr>
            </a:pPr>
            <a:r>
              <a:t>&gt; 24</a:t>
            </a:r>
          </a:p>
        </p:txBody>
      </p:sp>
      <p:sp>
        <p:nvSpPr>
          <p:cNvPr id="38" name="TextBox 37"/>
          <p:cNvSpPr txBox="1"/>
          <p:nvPr/>
        </p:nvSpPr>
        <p:spPr>
          <a:xfrm>
            <a:off x="9838944" y="4672584"/>
            <a:ext cx="1463040" cy="228600"/>
          </a:xfrm>
          <a:prstGeom prst="rect">
            <a:avLst/>
          </a:prstGeom>
          <a:noFill/>
        </p:spPr>
        <p:txBody>
          <a:bodyPr wrap="square" lIns="13716" rIns="13716" tIns="13716" bIns="13716">
            <a:spAutoFit/>
          </a:bodyPr>
          <a:lstStyle/>
          <a:p>
            <a:pPr algn="ctr">
              <a:spcBef>
                <a:spcPts val="0"/>
              </a:spcBef>
              <a:spcAft>
                <a:spcPts val="500"/>
              </a:spcAft>
              <a:defRPr sz="1300" b="0">
                <a:solidFill>
                  <a:srgbClr val="7354B8"/>
                </a:solidFill>
                <a:latin typeface="Arial"/>
              </a:defRPr>
            </a:pPr>
            <a:r>
              <a:t>Scale up</a:t>
            </a:r>
          </a:p>
        </p:txBody>
      </p:sp>
      <p:sp>
        <p:nvSpPr>
          <p:cNvPr id="39" name="TextBox 38"/>
          <p:cNvSpPr txBox="1"/>
          <p:nvPr/>
        </p:nvSpPr>
        <p:spPr>
          <a:xfrm>
            <a:off x="6382512" y="5202936"/>
            <a:ext cx="5074920" cy="274320"/>
          </a:xfrm>
          <a:prstGeom prst="rect">
            <a:avLst/>
          </a:prstGeom>
          <a:noFill/>
        </p:spPr>
        <p:txBody>
          <a:bodyPr wrap="square" lIns="13716" rIns="13716" tIns="13716" bIns="13716">
            <a:spAutoFit/>
          </a:bodyPr>
          <a:lstStyle/>
          <a:p>
            <a:pPr>
              <a:spcBef>
                <a:spcPts val="0"/>
              </a:spcBef>
              <a:spcAft>
                <a:spcPts val="500"/>
              </a:spcAft>
              <a:defRPr sz="1500" b="0">
                <a:solidFill>
                  <a:srgbClr val="586A80"/>
                </a:solidFill>
                <a:latin typeface="Arial"/>
              </a:defRPr>
            </a:pPr>
            <a:r>
              <a:t>Example bounds: 2–16 role replicas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ROLE-SPECIFIC DECISIONS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Different roles need different scaling policies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Use the same safety contract, but tune each role against its own workload and objective.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Illustrative policy—not universal tuning. Validate thresholds, cooldown and model warm-up.</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28 / 43</a:t>
            </a:r>
          </a:p>
        </p:txBody>
      </p:sp>
      <p:sp>
        <p:nvSpPr>
          <p:cNvPr id="10" name="Rectangle 9"/>
          <p:cNvSpPr/>
          <p:nvPr/>
        </p:nvSpPr>
        <p:spPr>
          <a:xfrm>
            <a:off x="502920" y="2057400"/>
            <a:ext cx="2903220"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2706624"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POLICY</a:t>
            </a:r>
          </a:p>
        </p:txBody>
      </p:sp>
      <p:sp>
        <p:nvSpPr>
          <p:cNvPr id="12" name="Rectangle 11"/>
          <p:cNvSpPr/>
          <p:nvPr/>
        </p:nvSpPr>
        <p:spPr>
          <a:xfrm>
            <a:off x="3429000"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38728"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PREFILL</a:t>
            </a:r>
          </a:p>
        </p:txBody>
      </p:sp>
      <p:sp>
        <p:nvSpPr>
          <p:cNvPr id="14" name="Rectangle 13"/>
          <p:cNvSpPr/>
          <p:nvPr/>
        </p:nvSpPr>
        <p:spPr>
          <a:xfrm>
            <a:off x="7552944" y="2057400"/>
            <a:ext cx="4101083"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62671" y="2176272"/>
            <a:ext cx="3904487"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DECODE</a:t>
            </a:r>
          </a:p>
        </p:txBody>
      </p:sp>
      <p:sp>
        <p:nvSpPr>
          <p:cNvPr id="16" name="Rectangle 15"/>
          <p:cNvSpPr/>
          <p:nvPr/>
        </p:nvSpPr>
        <p:spPr>
          <a:xfrm>
            <a:off x="502920" y="2642616"/>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761488"/>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Primary signal</a:t>
            </a:r>
          </a:p>
        </p:txBody>
      </p:sp>
      <p:sp>
        <p:nvSpPr>
          <p:cNvPr id="18" name="Rectangle 17"/>
          <p:cNvSpPr/>
          <p:nvPr/>
        </p:nvSpPr>
        <p:spPr>
          <a:xfrm>
            <a:off x="3429000"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Waiting requests</a:t>
            </a:r>
          </a:p>
        </p:txBody>
      </p:sp>
      <p:sp>
        <p:nvSpPr>
          <p:cNvPr id="20" name="Rectangle 19"/>
          <p:cNvSpPr/>
          <p:nvPr/>
        </p:nvSpPr>
        <p:spPr>
          <a:xfrm>
            <a:off x="7552944" y="2642616"/>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62671" y="2761488"/>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requests</a:t>
            </a:r>
          </a:p>
        </p:txBody>
      </p:sp>
      <p:sp>
        <p:nvSpPr>
          <p:cNvPr id="22" name="Rectangle 21"/>
          <p:cNvSpPr/>
          <p:nvPr/>
        </p:nvSpPr>
        <p:spPr>
          <a:xfrm>
            <a:off x="502920" y="3227832"/>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346704"/>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replica range</a:t>
            </a:r>
          </a:p>
        </p:txBody>
      </p:sp>
      <p:sp>
        <p:nvSpPr>
          <p:cNvPr id="24" name="Rectangle 23"/>
          <p:cNvSpPr/>
          <p:nvPr/>
        </p:nvSpPr>
        <p:spPr>
          <a:xfrm>
            <a:off x="3429000"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38728"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1–8</a:t>
            </a:r>
          </a:p>
        </p:txBody>
      </p:sp>
      <p:sp>
        <p:nvSpPr>
          <p:cNvPr id="26" name="Rectangle 25"/>
          <p:cNvSpPr/>
          <p:nvPr/>
        </p:nvSpPr>
        <p:spPr>
          <a:xfrm>
            <a:off x="7552944" y="3227832"/>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62671" y="3346704"/>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2–16</a:t>
            </a:r>
          </a:p>
        </p:txBody>
      </p:sp>
      <p:sp>
        <p:nvSpPr>
          <p:cNvPr id="28" name="Rectangle 27"/>
          <p:cNvSpPr/>
          <p:nvPr/>
        </p:nvSpPr>
        <p:spPr>
          <a:xfrm>
            <a:off x="502920" y="3813048"/>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3931920"/>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scale-up</a:t>
            </a:r>
          </a:p>
        </p:txBody>
      </p:sp>
      <p:sp>
        <p:nvSpPr>
          <p:cNvPr id="30" name="Rectangle 29"/>
          <p:cNvSpPr/>
          <p:nvPr/>
        </p:nvSpPr>
        <p:spPr>
          <a:xfrm>
            <a:off x="3429000"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38728"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8</a:t>
            </a:r>
          </a:p>
        </p:txBody>
      </p:sp>
      <p:sp>
        <p:nvSpPr>
          <p:cNvPr id="32" name="Rectangle 31"/>
          <p:cNvSpPr/>
          <p:nvPr/>
        </p:nvSpPr>
        <p:spPr>
          <a:xfrm>
            <a:off x="7552944" y="3813048"/>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62671" y="3931920"/>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&gt; 24</a:t>
            </a:r>
          </a:p>
        </p:txBody>
      </p:sp>
      <p:sp>
        <p:nvSpPr>
          <p:cNvPr id="34" name="Rectangle 33"/>
          <p:cNvSpPr/>
          <p:nvPr/>
        </p:nvSpPr>
        <p:spPr>
          <a:xfrm>
            <a:off x="502920" y="4398264"/>
            <a:ext cx="2903220"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4517136"/>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Example scale-down</a:t>
            </a:r>
          </a:p>
        </p:txBody>
      </p:sp>
      <p:sp>
        <p:nvSpPr>
          <p:cNvPr id="36" name="Rectangle 35"/>
          <p:cNvSpPr/>
          <p:nvPr/>
        </p:nvSpPr>
        <p:spPr>
          <a:xfrm>
            <a:off x="3429000"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38728"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1</a:t>
            </a:r>
          </a:p>
        </p:txBody>
      </p:sp>
      <p:sp>
        <p:nvSpPr>
          <p:cNvPr id="38" name="Rectangle 37"/>
          <p:cNvSpPr/>
          <p:nvPr/>
        </p:nvSpPr>
        <p:spPr>
          <a:xfrm>
            <a:off x="7552944" y="4398264"/>
            <a:ext cx="4101083"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62671" y="4517136"/>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Signal &lt; 4</a:t>
            </a:r>
          </a:p>
        </p:txBody>
      </p:sp>
      <p:sp>
        <p:nvSpPr>
          <p:cNvPr id="40" name="Rectangle 39"/>
          <p:cNvSpPr/>
          <p:nvPr/>
        </p:nvSpPr>
        <p:spPr>
          <a:xfrm>
            <a:off x="502920" y="4983480"/>
            <a:ext cx="2903220"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2648" y="5102352"/>
            <a:ext cx="2706624"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Shared guardrails</a:t>
            </a:r>
          </a:p>
        </p:txBody>
      </p:sp>
      <p:sp>
        <p:nvSpPr>
          <p:cNvPr id="42" name="Rectangle 41"/>
          <p:cNvSpPr/>
          <p:nvPr/>
        </p:nvSpPr>
        <p:spPr>
          <a:xfrm>
            <a:off x="3429000"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538728"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
        <p:nvSpPr>
          <p:cNvPr id="44" name="Rectangle 43"/>
          <p:cNvSpPr/>
          <p:nvPr/>
        </p:nvSpPr>
        <p:spPr>
          <a:xfrm>
            <a:off x="7552944" y="4983480"/>
            <a:ext cx="4101083"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62671" y="5102352"/>
            <a:ext cx="3904487"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Readiness + fresh metrics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OPERATIONAL SAFEGUARDS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Safe autoscaling starts with ownership and valid data</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happy path is small. Correct handoff and failure behavior make it operable.</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Avoid competing controllers, count only ready capacity, and protect in-flight requests.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29 / 43</a:t>
            </a:r>
          </a:p>
        </p:txBody>
      </p:sp>
      <p:sp>
        <p:nvSpPr>
          <p:cNvPr id="10" name="Rounded Rectangle 9"/>
          <p:cNvSpPr/>
          <p:nvPr/>
        </p:nvSpPr>
        <p:spPr>
          <a:xfrm>
            <a:off x="502920"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233172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01 / REPLICA OWNERSHIP</a:t>
            </a:r>
          </a:p>
        </p:txBody>
      </p:sp>
      <p:sp>
        <p:nvSpPr>
          <p:cNvPr id="13" name="TextBox 12"/>
          <p:cNvSpPr txBox="1"/>
          <p:nvPr/>
        </p:nvSpPr>
        <p:spPr>
          <a:xfrm>
            <a:off x="685800"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Choose one writer</a:t>
            </a:r>
          </a:p>
        </p:txBody>
      </p:sp>
      <p:sp>
        <p:nvSpPr>
          <p:cNvPr id="14" name="TextBox 13"/>
          <p:cNvSpPr txBox="1"/>
          <p:nvPr/>
        </p:nvSpPr>
        <p:spPr>
          <a:xfrm>
            <a:off x="685800"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One policy owns replica count</a:t>
            </a:r>
          </a:p>
          <a:p>
            <a:pPr>
              <a:spcBef>
                <a:spcPts val="0"/>
              </a:spcBef>
              <a:spcAft>
                <a:spcPts val="500"/>
              </a:spcAft>
              <a:defRPr sz="1700" b="0">
                <a:solidFill>
                  <a:srgbClr val="172941"/>
                </a:solidFill>
                <a:latin typeface="Arial"/>
              </a:defRPr>
            </a:pPr>
            <a:r>
              <a:t>Separate targets for P and D</a:t>
            </a:r>
          </a:p>
          <a:p>
            <a:pPr>
              <a:spcBef>
                <a:spcPts val="0"/>
              </a:spcBef>
              <a:spcAft>
                <a:spcPts val="500"/>
              </a:spcAft>
              <a:defRPr sz="1700" b="0">
                <a:solidFill>
                  <a:srgbClr val="172941"/>
                </a:solidFill>
                <a:latin typeface="Arial"/>
              </a:defRPr>
            </a:pPr>
            <a:r>
              <a:t>No competing autoscalers</a:t>
            </a:r>
          </a:p>
        </p:txBody>
      </p:sp>
      <p:sp>
        <p:nvSpPr>
          <p:cNvPr id="15" name="Rounded Rectangle 14"/>
          <p:cNvSpPr/>
          <p:nvPr/>
        </p:nvSpPr>
        <p:spPr>
          <a:xfrm>
            <a:off x="4288536"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53127" y="233172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1416"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02 / METRIC AVAILABILITY</a:t>
            </a:r>
          </a:p>
        </p:txBody>
      </p:sp>
      <p:sp>
        <p:nvSpPr>
          <p:cNvPr id="18" name="TextBox 17"/>
          <p:cNvSpPr txBox="1"/>
          <p:nvPr/>
        </p:nvSpPr>
        <p:spPr>
          <a:xfrm>
            <a:off x="4471416"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Verify real signals</a:t>
            </a:r>
          </a:p>
        </p:txBody>
      </p:sp>
      <p:sp>
        <p:nvSpPr>
          <p:cNvPr id="19" name="TextBox 18"/>
          <p:cNvSpPr txBox="1"/>
          <p:nvPr/>
        </p:nvSpPr>
        <p:spPr>
          <a:xfrm>
            <a:off x="4471416"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Inspect actual /metrics</a:t>
            </a:r>
          </a:p>
          <a:p>
            <a:pPr>
              <a:spcBef>
                <a:spcPts val="0"/>
              </a:spcBef>
              <a:spcAft>
                <a:spcPts val="500"/>
              </a:spcAft>
              <a:defRPr sz="1700" b="0">
                <a:solidFill>
                  <a:srgbClr val="172941"/>
                </a:solidFill>
                <a:latin typeface="Arial"/>
              </a:defRPr>
            </a:pPr>
            <a:r>
              <a:t>Scope samples per role</a:t>
            </a:r>
          </a:p>
          <a:p>
            <a:pPr>
              <a:spcBef>
                <a:spcPts val="0"/>
              </a:spcBef>
              <a:spcAft>
                <a:spcPts val="500"/>
              </a:spcAft>
              <a:defRPr sz="1700" b="0">
                <a:solidFill>
                  <a:srgbClr val="172941"/>
                </a:solidFill>
                <a:latin typeface="Arial"/>
              </a:defRPr>
            </a:pPr>
            <a:r>
              <a:t>Missing is not zero</a:t>
            </a:r>
          </a:p>
          <a:p>
            <a:pPr>
              <a:spcBef>
                <a:spcPts val="0"/>
              </a:spcBef>
              <a:spcAft>
                <a:spcPts val="500"/>
              </a:spcAft>
              <a:defRPr sz="1700" b="0">
                <a:solidFill>
                  <a:srgbClr val="172941"/>
                </a:solidFill>
                <a:latin typeface="Arial"/>
              </a:defRPr>
            </a:pPr>
            <a:r>
              <a:t>On failure: hold + report</a:t>
            </a:r>
          </a:p>
        </p:txBody>
      </p:sp>
      <p:sp>
        <p:nvSpPr>
          <p:cNvPr id="20" name="Rounded Rectangle 19"/>
          <p:cNvSpPr/>
          <p:nvPr/>
        </p:nvSpPr>
        <p:spPr>
          <a:xfrm>
            <a:off x="8074152" y="2148840"/>
            <a:ext cx="3611880" cy="30632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38744" y="233172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57031" y="248716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03 / LIFECYCLE</a:t>
            </a:r>
          </a:p>
        </p:txBody>
      </p:sp>
      <p:sp>
        <p:nvSpPr>
          <p:cNvPr id="23" name="TextBox 22"/>
          <p:cNvSpPr txBox="1"/>
          <p:nvPr/>
        </p:nvSpPr>
        <p:spPr>
          <a:xfrm>
            <a:off x="8257031" y="286207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Make handoff explicit</a:t>
            </a:r>
          </a:p>
        </p:txBody>
      </p:sp>
      <p:sp>
        <p:nvSpPr>
          <p:cNvPr id="24" name="TextBox 23"/>
          <p:cNvSpPr txBox="1"/>
          <p:nvPr/>
        </p:nvSpPr>
        <p:spPr>
          <a:xfrm>
            <a:off x="8257031" y="3465576"/>
            <a:ext cx="3246120" cy="1600200"/>
          </a:xfrm>
          <a:prstGeom prst="rect">
            <a:avLst/>
          </a:prstGeom>
          <a:noFill/>
        </p:spPr>
        <p:txBody>
          <a:bodyPr wrap="square" lIns="13716" rIns="13716" tIns="13716" bIns="13716">
            <a:spAutoFit/>
          </a:bodyPr>
          <a:lstStyle/>
          <a:p>
            <a:pPr>
              <a:spcBef>
                <a:spcPts val="0"/>
              </a:spcBef>
              <a:spcAft>
                <a:spcPts val="500"/>
              </a:spcAft>
              <a:defRPr sz="1700" b="0">
                <a:solidFill>
                  <a:srgbClr val="172941"/>
                </a:solidFill>
                <a:latin typeface="Arial"/>
              </a:defRPr>
            </a:pPr>
            <a:r>
              <a:t>Stop the old writer first</a:t>
            </a:r>
          </a:p>
          <a:p>
            <a:pPr>
              <a:spcBef>
                <a:spcPts val="0"/>
              </a:spcBef>
              <a:spcAft>
                <a:spcPts val="500"/>
              </a:spcAft>
              <a:defRPr sz="1700" b="0">
                <a:solidFill>
                  <a:srgbClr val="172941"/>
                </a:solidFill>
                <a:latin typeface="Arial"/>
              </a:defRPr>
            </a:pPr>
            <a:r>
              <a:t>Delete only owned scalers</a:t>
            </a:r>
          </a:p>
          <a:p>
            <a:pPr>
              <a:spcBef>
                <a:spcPts val="0"/>
              </a:spcBef>
              <a:spcAft>
                <a:spcPts val="500"/>
              </a:spcAft>
              <a:defRPr sz="1700" b="0">
                <a:solidFill>
                  <a:srgbClr val="172941"/>
                </a:solidFill>
                <a:latin typeface="Arial"/>
              </a:defRPr>
            </a:pPr>
            <a:r>
              <a:t>Allow model warm-up</a:t>
            </a:r>
          </a:p>
          <a:p>
            <a:pPr>
              <a:spcBef>
                <a:spcPts val="0"/>
              </a:spcBef>
              <a:spcAft>
                <a:spcPts val="500"/>
              </a:spcAft>
              <a:defRPr sz="1700" b="0">
                <a:solidFill>
                  <a:srgbClr val="172941"/>
                </a:solidFill>
                <a:latin typeface="Arial"/>
              </a:defRPr>
            </a:pPr>
            <a:r>
              <a:t>Test safe scale-down</a:t>
            </a:r>
          </a:p>
        </p:txBody>
      </p:sp>
      <p:sp>
        <p:nvSpPr>
          <p:cNvPr id="25" name="TextBox 24"/>
          <p:cNvSpPr txBox="1"/>
          <p:nvPr/>
        </p:nvSpPr>
        <p:spPr>
          <a:xfrm>
            <a:off x="521207" y="5458968"/>
            <a:ext cx="11064240" cy="301752"/>
          </a:xfrm>
          <a:prstGeom prst="rect">
            <a:avLst/>
          </a:prstGeom>
          <a:noFill/>
        </p:spPr>
        <p:txBody>
          <a:bodyPr wrap="square" lIns="13716" rIns="13716" tIns="13716" bIns="13716">
            <a:spAutoFit/>
          </a:bodyPr>
          <a:lstStyle/>
          <a:p>
            <a:pPr>
              <a:spcBef>
                <a:spcPts val="0"/>
              </a:spcBef>
              <a:spcAft>
                <a:spcPts val="500"/>
              </a:spcAft>
              <a:defRPr sz="1600" b="0">
                <a:solidFill>
                  <a:srgbClr val="586A80"/>
                </a:solidFill>
                <a:latin typeface="Arial"/>
              </a:defRPr>
            </a:pPr>
            <a:r>
              <a:t>On missing or invalid signals: hold decisions and report the problem. Missing is not zero.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04 / SIGNAL INTERPRETATION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Derived signals add context to scaling decisions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Aggregate native vLLM metrics to understand KV utilization, latency and throughput.</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KV occupancy is not demand. High or low throughput alone should not change replica counts.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30 / 43</a:t>
            </a:r>
          </a:p>
        </p:txBody>
      </p:sp>
      <p:sp>
        <p:nvSpPr>
          <p:cNvPr id="10" name="Rectangle 9"/>
          <p:cNvSpPr/>
          <p:nvPr/>
        </p:nvSpPr>
        <p:spPr>
          <a:xfrm>
            <a:off x="502920" y="2057400"/>
            <a:ext cx="4027931"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176272"/>
            <a:ext cx="3831335"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NATIVE INPUT (vllm: PREFIX)</a:t>
            </a:r>
          </a:p>
        </p:txBody>
      </p:sp>
      <p:sp>
        <p:nvSpPr>
          <p:cNvPr id="12" name="Rectangle 11"/>
          <p:cNvSpPr/>
          <p:nvPr/>
        </p:nvSpPr>
        <p:spPr>
          <a:xfrm>
            <a:off x="4553712" y="2057400"/>
            <a:ext cx="30861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63440" y="2176272"/>
            <a:ext cx="28895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DERIVATION</a:t>
            </a:r>
          </a:p>
        </p:txBody>
      </p:sp>
      <p:sp>
        <p:nvSpPr>
          <p:cNvPr id="14" name="Rectangle 13"/>
          <p:cNvSpPr/>
          <p:nvPr/>
        </p:nvSpPr>
        <p:spPr>
          <a:xfrm>
            <a:off x="7662671" y="2057400"/>
            <a:ext cx="4000500" cy="6903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399" y="2176272"/>
            <a:ext cx="3803904" cy="53035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DECISION SUPPORT</a:t>
            </a:r>
          </a:p>
        </p:txBody>
      </p:sp>
      <p:sp>
        <p:nvSpPr>
          <p:cNvPr id="16" name="Rectangle 15"/>
          <p:cNvSpPr/>
          <p:nvPr/>
        </p:nvSpPr>
        <p:spPr>
          <a:xfrm>
            <a:off x="502920" y="2770632"/>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2889504"/>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18" name="Rectangle 17"/>
          <p:cNvSpPr/>
          <p:nvPr/>
        </p:nvSpPr>
        <p:spPr>
          <a:xfrm>
            <a:off x="4553712" y="2770632"/>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2889504"/>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max(role samples)</a:t>
            </a:r>
          </a:p>
        </p:txBody>
      </p:sp>
      <p:sp>
        <p:nvSpPr>
          <p:cNvPr id="20" name="Rectangle 19"/>
          <p:cNvSpPr/>
          <p:nvPr/>
        </p:nvSpPr>
        <p:spPr>
          <a:xfrm>
            <a:off x="7662671" y="2770632"/>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399" y="2889504"/>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Candidate downscale guard</a:t>
            </a:r>
          </a:p>
        </p:txBody>
      </p:sp>
      <p:sp>
        <p:nvSpPr>
          <p:cNvPr id="22" name="Rectangle 21"/>
          <p:cNvSpPr/>
          <p:nvPr/>
        </p:nvSpPr>
        <p:spPr>
          <a:xfrm>
            <a:off x="502920" y="3483864"/>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602736"/>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kv_cache_usage_perc</a:t>
            </a:r>
          </a:p>
        </p:txBody>
      </p:sp>
      <p:sp>
        <p:nvSpPr>
          <p:cNvPr id="24" name="Rectangle 23"/>
          <p:cNvSpPr/>
          <p:nvPr/>
        </p:nvSpPr>
        <p:spPr>
          <a:xfrm>
            <a:off x="4553712" y="3483864"/>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63440" y="3602736"/>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1 - max(role samples)</a:t>
            </a:r>
          </a:p>
        </p:txBody>
      </p:sp>
      <p:sp>
        <p:nvSpPr>
          <p:cNvPr id="26" name="Rectangle 25"/>
          <p:cNvSpPr/>
          <p:nvPr/>
        </p:nvSpPr>
        <p:spPr>
          <a:xfrm>
            <a:off x="7662671" y="3483864"/>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399" y="3602736"/>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Minimum free fraction;</a:t>
            </a:r>
          </a:p>
          <a:p>
            <a:pPr>
              <a:spcBef>
                <a:spcPts val="0"/>
              </a:spcBef>
              <a:spcAft>
                <a:spcPts val="500"/>
              </a:spcAft>
              <a:defRPr sz="1500" b="0">
                <a:solidFill>
                  <a:srgbClr val="172941"/>
                </a:solidFill>
                <a:latin typeface="Arial"/>
              </a:defRPr>
            </a:pPr>
            <a:r>
              <a:t>not effective request capacity</a:t>
            </a:r>
          </a:p>
        </p:txBody>
      </p:sp>
      <p:sp>
        <p:nvSpPr>
          <p:cNvPr id="28" name="Rectangle 27"/>
          <p:cNvSpPr/>
          <p:nvPr/>
        </p:nvSpPr>
        <p:spPr>
          <a:xfrm>
            <a:off x="502920" y="4197096"/>
            <a:ext cx="4027931"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315968"/>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time_to_first_token_seconds</a:t>
            </a:r>
          </a:p>
          <a:p>
            <a:pPr>
              <a:spcBef>
                <a:spcPts val="0"/>
              </a:spcBef>
              <a:spcAft>
                <a:spcPts val="500"/>
              </a:spcAft>
              <a:defRPr sz="1500" b="0">
                <a:solidFill>
                  <a:srgbClr val="2563EB"/>
                </a:solidFill>
                <a:latin typeface="Arial"/>
              </a:defRPr>
            </a:pPr>
            <a:r>
              <a:t>(histogram buckets)</a:t>
            </a:r>
          </a:p>
        </p:txBody>
      </p:sp>
      <p:sp>
        <p:nvSpPr>
          <p:cNvPr id="30" name="Rectangle 29"/>
          <p:cNvSpPr/>
          <p:nvPr/>
        </p:nvSpPr>
        <p:spPr>
          <a:xfrm>
            <a:off x="4553712" y="4197096"/>
            <a:ext cx="30861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63440" y="4315968"/>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P95 over bucket rates</a:t>
            </a:r>
          </a:p>
        </p:txBody>
      </p:sp>
      <p:sp>
        <p:nvSpPr>
          <p:cNvPr id="32" name="Rectangle 31"/>
          <p:cNvSpPr/>
          <p:nvPr/>
        </p:nvSpPr>
        <p:spPr>
          <a:xfrm>
            <a:off x="7662671" y="4197096"/>
            <a:ext cx="40005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72399" y="4315968"/>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Latency tail; tune prefill policy</a:t>
            </a:r>
          </a:p>
        </p:txBody>
      </p:sp>
      <p:sp>
        <p:nvSpPr>
          <p:cNvPr id="34" name="Rectangle 33"/>
          <p:cNvSpPr/>
          <p:nvPr/>
        </p:nvSpPr>
        <p:spPr>
          <a:xfrm>
            <a:off x="502920" y="4910328"/>
            <a:ext cx="4027931"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2648" y="5029200"/>
            <a:ext cx="3831335" cy="53035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generation_tokens_total</a:t>
            </a:r>
          </a:p>
        </p:txBody>
      </p:sp>
      <p:sp>
        <p:nvSpPr>
          <p:cNvPr id="36" name="Rectangle 35"/>
          <p:cNvSpPr/>
          <p:nvPr/>
        </p:nvSpPr>
        <p:spPr>
          <a:xfrm>
            <a:off x="4553712" y="4910328"/>
            <a:ext cx="30861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63440" y="5029200"/>
            <a:ext cx="28895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sum(rate(counter[5m]))</a:t>
            </a:r>
          </a:p>
        </p:txBody>
      </p:sp>
      <p:sp>
        <p:nvSpPr>
          <p:cNvPr id="38" name="Rectangle 37"/>
          <p:cNvSpPr/>
          <p:nvPr/>
        </p:nvSpPr>
        <p:spPr>
          <a:xfrm>
            <a:off x="7662671" y="4910328"/>
            <a:ext cx="4000500" cy="69037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399" y="5029200"/>
            <a:ext cx="3803904" cy="53035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Output throughput;</a:t>
            </a:r>
          </a:p>
          <a:p>
            <a:pPr>
              <a:spcBef>
                <a:spcPts val="0"/>
              </a:spcBef>
              <a:spcAft>
                <a:spcPts val="500"/>
              </a:spcAft>
              <a:defRPr sz="1500" b="0">
                <a:solidFill>
                  <a:srgbClr val="172941"/>
                </a:solidFill>
                <a:latin typeface="Arial"/>
              </a:defRPr>
            </a:pPr>
            <a:r>
              <a:t>observe and benchmark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EVALUATION PLAN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Benchmark the operating point—not only the peak</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Compare aggregated and P/D deployments under the same constraints.</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No measured results are supplied in the source material.</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31 / 43</a:t>
            </a:r>
          </a:p>
        </p:txBody>
      </p:sp>
      <p:sp>
        <p:nvSpPr>
          <p:cNvPr id="10" name="Rounded Rectangle 9"/>
          <p:cNvSpPr/>
          <p:nvPr/>
        </p:nvSpPr>
        <p:spPr>
          <a:xfrm>
            <a:off x="502920" y="2167128"/>
            <a:ext cx="301752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286000"/>
            <a:ext cx="274320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Workload replay</a:t>
            </a:r>
          </a:p>
        </p:txBody>
      </p:sp>
      <p:sp>
        <p:nvSpPr>
          <p:cNvPr id="13" name="TextBox 12"/>
          <p:cNvSpPr txBox="1"/>
          <p:nvPr/>
        </p:nvSpPr>
        <p:spPr>
          <a:xfrm>
            <a:off x="649224" y="2724912"/>
            <a:ext cx="272491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 model, traffic, and SLO</a:t>
            </a:r>
          </a:p>
        </p:txBody>
      </p:sp>
      <p:sp>
        <p:nvSpPr>
          <p:cNvPr id="14" name="Rounded Rectangle 13"/>
          <p:cNvSpPr/>
          <p:nvPr/>
        </p:nvSpPr>
        <p:spPr>
          <a:xfrm>
            <a:off x="4617720" y="2167128"/>
            <a:ext cx="3063240"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17720" y="2258568"/>
            <a:ext cx="50292" cy="101498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0" y="2286000"/>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2563EB"/>
                </a:solidFill>
                <a:latin typeface="Arial"/>
              </a:defRPr>
            </a:pPr>
            <a:r>
              <a:t>Aggregated</a:t>
            </a:r>
          </a:p>
        </p:txBody>
      </p:sp>
      <p:sp>
        <p:nvSpPr>
          <p:cNvPr id="17" name="TextBox 16"/>
          <p:cNvSpPr txBox="1"/>
          <p:nvPr/>
        </p:nvSpPr>
        <p:spPr>
          <a:xfrm>
            <a:off x="4764024" y="2724912"/>
            <a:ext cx="2770632"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Baseline configuration</a:t>
            </a:r>
          </a:p>
        </p:txBody>
      </p:sp>
      <p:sp>
        <p:nvSpPr>
          <p:cNvPr id="18" name="Rounded Rectangle 17"/>
          <p:cNvSpPr/>
          <p:nvPr/>
        </p:nvSpPr>
        <p:spPr>
          <a:xfrm>
            <a:off x="8641080" y="2167128"/>
            <a:ext cx="3044952" cy="11978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41080" y="2258568"/>
            <a:ext cx="50292" cy="101498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2286000"/>
            <a:ext cx="2770632" cy="393192"/>
          </a:xfrm>
          <a:prstGeom prst="rect">
            <a:avLst/>
          </a:prstGeom>
          <a:noFill/>
        </p:spPr>
        <p:txBody>
          <a:bodyPr wrap="square" lIns="13716" rIns="13716" tIns="13716" bIns="13716">
            <a:spAutoFit/>
          </a:bodyPr>
          <a:lstStyle/>
          <a:p>
            <a:pPr algn="ctr">
              <a:spcBef>
                <a:spcPts val="0"/>
              </a:spcBef>
              <a:spcAft>
                <a:spcPts val="500"/>
              </a:spcAft>
              <a:defRPr sz="2100" b="1">
                <a:solidFill>
                  <a:srgbClr val="087F8C"/>
                </a:solidFill>
                <a:latin typeface="Arial"/>
              </a:defRPr>
            </a:pPr>
            <a:r>
              <a:t>Disaggregated</a:t>
            </a:r>
          </a:p>
        </p:txBody>
      </p:sp>
      <p:sp>
        <p:nvSpPr>
          <p:cNvPr id="21" name="TextBox 20"/>
          <p:cNvSpPr txBox="1"/>
          <p:nvPr/>
        </p:nvSpPr>
        <p:spPr>
          <a:xfrm>
            <a:off x="8787384" y="2724912"/>
            <a:ext cx="2752344" cy="548640"/>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Prefill + decode configuration</a:t>
            </a:r>
          </a:p>
        </p:txBody>
      </p:sp>
      <p:cxnSp>
        <p:nvCxnSpPr>
          <p:cNvPr id="22" name="Connector 21"/>
          <p:cNvCxnSpPr/>
          <p:nvPr/>
        </p:nvCxnSpPr>
        <p:spPr>
          <a:xfrm>
            <a:off x="3520440" y="2615184"/>
            <a:ext cx="109728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520440" y="2926080"/>
            <a:ext cx="50292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023360" y="2926080"/>
            <a:ext cx="0" cy="768096"/>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023360" y="3694176"/>
            <a:ext cx="6144768"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68128" y="3364992"/>
            <a:ext cx="0" cy="329184"/>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502920" y="4005072"/>
            <a:ext cx="2903220"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12648" y="4123944"/>
            <a:ext cx="2706624"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HOLD CONSTANT</a:t>
            </a:r>
          </a:p>
        </p:txBody>
      </p:sp>
      <p:sp>
        <p:nvSpPr>
          <p:cNvPr id="29" name="Rectangle 28"/>
          <p:cNvSpPr/>
          <p:nvPr/>
        </p:nvSpPr>
        <p:spPr>
          <a:xfrm>
            <a:off x="3429000" y="4005072"/>
            <a:ext cx="8234171" cy="516635"/>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38728" y="4123944"/>
            <a:ext cx="8037575" cy="356615"/>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REPORT WITH THE RESULT</a:t>
            </a:r>
          </a:p>
        </p:txBody>
      </p:sp>
      <p:sp>
        <p:nvSpPr>
          <p:cNvPr id="31" name="Rectangle 30"/>
          <p:cNvSpPr/>
          <p:nvPr/>
        </p:nvSpPr>
        <p:spPr>
          <a:xfrm>
            <a:off x="502920" y="4544568"/>
            <a:ext cx="2903220"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 y="4663440"/>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Model + traffic</a:t>
            </a:r>
          </a:p>
        </p:txBody>
      </p:sp>
      <p:sp>
        <p:nvSpPr>
          <p:cNvPr id="33" name="Rectangle 32"/>
          <p:cNvSpPr/>
          <p:nvPr/>
        </p:nvSpPr>
        <p:spPr>
          <a:xfrm>
            <a:off x="3429000" y="4544568"/>
            <a:ext cx="8234171" cy="51663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538728" y="4663440"/>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Version, quantization, prompt/output lengths, concurrency</a:t>
            </a:r>
          </a:p>
        </p:txBody>
      </p:sp>
      <p:sp>
        <p:nvSpPr>
          <p:cNvPr id="35" name="Rectangle 34"/>
          <p:cNvSpPr/>
          <p:nvPr/>
        </p:nvSpPr>
        <p:spPr>
          <a:xfrm>
            <a:off x="502920" y="5084064"/>
            <a:ext cx="2903220"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5202936"/>
            <a:ext cx="2706624" cy="356615"/>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SLO</a:t>
            </a:r>
          </a:p>
        </p:txBody>
      </p:sp>
      <p:sp>
        <p:nvSpPr>
          <p:cNvPr id="37" name="Rectangle 36"/>
          <p:cNvSpPr/>
          <p:nvPr/>
        </p:nvSpPr>
        <p:spPr>
          <a:xfrm>
            <a:off x="3429000" y="5084064"/>
            <a:ext cx="8234171" cy="516635"/>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538728" y="5202936"/>
            <a:ext cx="8037575" cy="356615"/>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GPU budget, fabric, TTFT/ITL target, warm-up and duration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TTFT: measure the tail under prompt pressure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No performance numbers are available in the source.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32 / 43</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TTFT METRIC</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p50 / median</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p95 / tail</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p99 / extreme tail</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087F8C"/>
                </a:solidFill>
                <a:latin typeface="Arial"/>
              </a:defRPr>
            </a:pPr>
            <a:r>
              <a:t>Question to answer</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Does P/D reduce tail TTFT at the same offered load and cost budget?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BENCHMARK SCORECARD</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Throughput: count useful work inside the SLO</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Measurement plan only. Report useful throughput and its cost together.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33 / 43</a:t>
            </a:r>
          </a:p>
        </p:txBody>
      </p:sp>
      <p:sp>
        <p:nvSpPr>
          <p:cNvPr id="8" name="Rounded Rectangle 7"/>
          <p:cNvSpPr/>
          <p:nvPr/>
        </p:nvSpPr>
        <p:spPr>
          <a:xfrm>
            <a:off x="502920" y="1993392"/>
            <a:ext cx="2651760" cy="310896"/>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25396"/>
            <a:ext cx="2523744" cy="237744"/>
          </a:xfrm>
          <a:prstGeom prst="rect">
            <a:avLst/>
          </a:prstGeom>
          <a:noFill/>
        </p:spPr>
        <p:txBody>
          <a:bodyPr wrap="square" lIns="13716" rIns="13716" tIns="13716" bIns="13716">
            <a:spAutoFit/>
          </a:bodyPr>
          <a:lstStyle/>
          <a:p>
            <a:pPr algn="ctr">
              <a:spcBef>
                <a:spcPts val="0"/>
              </a:spcBef>
              <a:spcAft>
                <a:spcPts val="500"/>
              </a:spcAft>
              <a:defRPr sz="1000" b="1">
                <a:solidFill>
                  <a:srgbClr val="AE641A"/>
                </a:solidFill>
                <a:latin typeface="Arial"/>
              </a:defRPr>
            </a:pPr>
            <a:r>
              <a:t>AWAITING MEASURED RESULTS</a:t>
            </a:r>
          </a:p>
        </p:txBody>
      </p:sp>
      <p:sp>
        <p:nvSpPr>
          <p:cNvPr id="10" name="Rectangle 9"/>
          <p:cNvSpPr/>
          <p:nvPr/>
        </p:nvSpPr>
        <p:spPr>
          <a:xfrm>
            <a:off x="502920" y="2624328"/>
            <a:ext cx="3195828"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2743200"/>
            <a:ext cx="2999232"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MEASURE</a:t>
            </a:r>
          </a:p>
        </p:txBody>
      </p:sp>
      <p:sp>
        <p:nvSpPr>
          <p:cNvPr id="12" name="Rectangle 11"/>
          <p:cNvSpPr/>
          <p:nvPr/>
        </p:nvSpPr>
        <p:spPr>
          <a:xfrm>
            <a:off x="3721608" y="2624328"/>
            <a:ext cx="3954779"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31336" y="2743200"/>
            <a:ext cx="3758183"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AGGREGATED</a:t>
            </a:r>
          </a:p>
        </p:txBody>
      </p:sp>
      <p:sp>
        <p:nvSpPr>
          <p:cNvPr id="14" name="Rectangle 13"/>
          <p:cNvSpPr/>
          <p:nvPr/>
        </p:nvSpPr>
        <p:spPr>
          <a:xfrm>
            <a:off x="7699248" y="2624328"/>
            <a:ext cx="3963924" cy="562356"/>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08975" y="2743200"/>
            <a:ext cx="3767328" cy="402336"/>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P/D</a:t>
            </a:r>
          </a:p>
        </p:txBody>
      </p:sp>
      <p:sp>
        <p:nvSpPr>
          <p:cNvPr id="16" name="Rectangle 15"/>
          <p:cNvSpPr/>
          <p:nvPr/>
        </p:nvSpPr>
        <p:spPr>
          <a:xfrm>
            <a:off x="502920" y="3209544"/>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8" y="3328416"/>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Output tokens / second</a:t>
            </a:r>
          </a:p>
        </p:txBody>
      </p:sp>
      <p:sp>
        <p:nvSpPr>
          <p:cNvPr id="18" name="Rectangle 17"/>
          <p:cNvSpPr/>
          <p:nvPr/>
        </p:nvSpPr>
        <p:spPr>
          <a:xfrm>
            <a:off x="3721608" y="3209544"/>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31336" y="3328416"/>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0" name="Rectangle 19"/>
          <p:cNvSpPr/>
          <p:nvPr/>
        </p:nvSpPr>
        <p:spPr>
          <a:xfrm>
            <a:off x="7699248" y="3209544"/>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8975" y="3328416"/>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2" name="Rectangle 21"/>
          <p:cNvSpPr/>
          <p:nvPr/>
        </p:nvSpPr>
        <p:spPr>
          <a:xfrm>
            <a:off x="502920" y="3794760"/>
            <a:ext cx="3195828"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2648" y="3913632"/>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Requests meeting SLO</a:t>
            </a:r>
          </a:p>
        </p:txBody>
      </p:sp>
      <p:sp>
        <p:nvSpPr>
          <p:cNvPr id="24" name="Rectangle 23"/>
          <p:cNvSpPr/>
          <p:nvPr/>
        </p:nvSpPr>
        <p:spPr>
          <a:xfrm>
            <a:off x="3721608" y="3794760"/>
            <a:ext cx="3954779"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31336" y="3913632"/>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6" name="Rectangle 25"/>
          <p:cNvSpPr/>
          <p:nvPr/>
        </p:nvSpPr>
        <p:spPr>
          <a:xfrm>
            <a:off x="7699248" y="3794760"/>
            <a:ext cx="3963924" cy="562356"/>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08975" y="3913632"/>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28" name="Rectangle 27"/>
          <p:cNvSpPr/>
          <p:nvPr/>
        </p:nvSpPr>
        <p:spPr>
          <a:xfrm>
            <a:off x="502920" y="4379976"/>
            <a:ext cx="3195828"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8" y="4498848"/>
            <a:ext cx="2999232" cy="402336"/>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Cost / useful output</a:t>
            </a:r>
          </a:p>
        </p:txBody>
      </p:sp>
      <p:sp>
        <p:nvSpPr>
          <p:cNvPr id="30" name="Rectangle 29"/>
          <p:cNvSpPr/>
          <p:nvPr/>
        </p:nvSpPr>
        <p:spPr>
          <a:xfrm>
            <a:off x="3721608" y="4379976"/>
            <a:ext cx="3954779"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831336" y="4498848"/>
            <a:ext cx="3758183"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2" name="Rectangle 31"/>
          <p:cNvSpPr/>
          <p:nvPr/>
        </p:nvSpPr>
        <p:spPr>
          <a:xfrm>
            <a:off x="7699248" y="4379976"/>
            <a:ext cx="3963924" cy="56235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08975" y="4498848"/>
            <a:ext cx="3767328" cy="402336"/>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Not measured</a:t>
            </a:r>
          </a:p>
        </p:txBody>
      </p:sp>
      <p:sp>
        <p:nvSpPr>
          <p:cNvPr id="34" name="Rounded Rectangle 33"/>
          <p:cNvSpPr/>
          <p:nvPr/>
        </p:nvSpPr>
        <p:spPr>
          <a:xfrm>
            <a:off x="502920" y="5212080"/>
            <a:ext cx="11183112" cy="98755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13232" y="5376672"/>
            <a:ext cx="10698480" cy="320040"/>
          </a:xfrm>
          <a:prstGeom prst="rect">
            <a:avLst/>
          </a:prstGeom>
          <a:noFill/>
        </p:spPr>
        <p:txBody>
          <a:bodyPr wrap="square" lIns="13716" rIns="13716" tIns="13716" bIns="13716">
            <a:spAutoFit/>
          </a:bodyPr>
          <a:lstStyle/>
          <a:p>
            <a:pPr>
              <a:spcBef>
                <a:spcPts val="0"/>
              </a:spcBef>
              <a:spcAft>
                <a:spcPts val="500"/>
              </a:spcAft>
              <a:defRPr sz="1900" b="1">
                <a:solidFill>
                  <a:srgbClr val="7354B8"/>
                </a:solidFill>
                <a:latin typeface="Arial"/>
              </a:defRPr>
            </a:pPr>
            <a:r>
              <a:t>Utilization is context—not the success metric.</a:t>
            </a:r>
          </a:p>
        </p:txBody>
      </p:sp>
      <p:sp>
        <p:nvSpPr>
          <p:cNvPr id="36" name="TextBox 35"/>
          <p:cNvSpPr txBox="1"/>
          <p:nvPr/>
        </p:nvSpPr>
        <p:spPr>
          <a:xfrm>
            <a:off x="713232" y="5788152"/>
            <a:ext cx="10698480" cy="274320"/>
          </a:xfrm>
          <a:prstGeom prst="rect">
            <a:avLst/>
          </a:prstGeom>
          <a:noFill/>
        </p:spPr>
        <p:txBody>
          <a:bodyPr wrap="square" lIns="13716" rIns="13716" tIns="13716" bIns="13716">
            <a:spAutoFit/>
          </a:bodyPr>
          <a:lstStyle/>
          <a:p>
            <a:pPr>
              <a:spcBef>
                <a:spcPts val="0"/>
              </a:spcBef>
              <a:spcAft>
                <a:spcPts val="500"/>
              </a:spcAft>
              <a:defRPr sz="1600" b="0">
                <a:solidFill>
                  <a:srgbClr val="172941"/>
                </a:solidFill>
                <a:latin typeface="Arial"/>
              </a:defRPr>
            </a:pPr>
            <a:r>
              <a:t>Compare steady token delivery, SLO goodput, active KV usage, and GPU-hours.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05 / WORKLOAD DECISION MAP</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The break-even boundary is a measurement problem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Qualitative candidates only—not a measured heatmap or a performance guarantee.</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34 / 43</a:t>
            </a:r>
          </a:p>
        </p:txBody>
      </p:sp>
      <p:sp>
        <p:nvSpPr>
          <p:cNvPr id="8" name="Rectangle 7"/>
          <p:cNvSpPr/>
          <p:nvPr/>
        </p:nvSpPr>
        <p:spPr>
          <a:xfrm>
            <a:off x="502920" y="2267712"/>
            <a:ext cx="3040380"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86584"/>
            <a:ext cx="2843784"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WORKLOAD</a:t>
            </a:r>
          </a:p>
        </p:txBody>
      </p:sp>
      <p:sp>
        <p:nvSpPr>
          <p:cNvPr id="10" name="Rectangle 9"/>
          <p:cNvSpPr/>
          <p:nvPr/>
        </p:nvSpPr>
        <p:spPr>
          <a:xfrm>
            <a:off x="3566160"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5888"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SHORT OUTPUT</a:t>
            </a:r>
          </a:p>
        </p:txBody>
      </p:sp>
      <p:sp>
        <p:nvSpPr>
          <p:cNvPr id="12" name="Rectangle 11"/>
          <p:cNvSpPr/>
          <p:nvPr/>
        </p:nvSpPr>
        <p:spPr>
          <a:xfrm>
            <a:off x="7626096" y="2267712"/>
            <a:ext cx="4037076" cy="78181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35823" y="2386584"/>
            <a:ext cx="3840480" cy="621792"/>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LONG OUTPUT</a:t>
            </a:r>
          </a:p>
        </p:txBody>
      </p:sp>
      <p:sp>
        <p:nvSpPr>
          <p:cNvPr id="14" name="Rectangle 13"/>
          <p:cNvSpPr/>
          <p:nvPr/>
        </p:nvSpPr>
        <p:spPr>
          <a:xfrm>
            <a:off x="502920" y="3072384"/>
            <a:ext cx="3040380"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91256"/>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Short prompt</a:t>
            </a:r>
          </a:p>
        </p:txBody>
      </p:sp>
      <p:sp>
        <p:nvSpPr>
          <p:cNvPr id="16" name="Rectangle 15"/>
          <p:cNvSpPr/>
          <p:nvPr/>
        </p:nvSpPr>
        <p:spPr>
          <a:xfrm>
            <a:off x="3566160"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Start with aggregated</a:t>
            </a:r>
          </a:p>
        </p:txBody>
      </p:sp>
      <p:sp>
        <p:nvSpPr>
          <p:cNvPr id="18" name="Rectangle 17"/>
          <p:cNvSpPr/>
          <p:nvPr/>
        </p:nvSpPr>
        <p:spPr>
          <a:xfrm>
            <a:off x="7626096" y="3072384"/>
            <a:ext cx="4037076" cy="7818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35823" y="3191256"/>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decode pressure</a:t>
            </a:r>
          </a:p>
        </p:txBody>
      </p:sp>
      <p:sp>
        <p:nvSpPr>
          <p:cNvPr id="20" name="Rectangle 19"/>
          <p:cNvSpPr/>
          <p:nvPr/>
        </p:nvSpPr>
        <p:spPr>
          <a:xfrm>
            <a:off x="502920" y="3877056"/>
            <a:ext cx="3040380"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95928"/>
            <a:ext cx="2843784" cy="621792"/>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Long prompt</a:t>
            </a:r>
          </a:p>
        </p:txBody>
      </p:sp>
      <p:sp>
        <p:nvSpPr>
          <p:cNvPr id="22" name="Rectangle 21"/>
          <p:cNvSpPr/>
          <p:nvPr/>
        </p:nvSpPr>
        <p:spPr>
          <a:xfrm>
            <a:off x="3566160"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75888"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Evaluate prefill isolation</a:t>
            </a:r>
          </a:p>
        </p:txBody>
      </p:sp>
      <p:sp>
        <p:nvSpPr>
          <p:cNvPr id="24" name="Rectangle 23"/>
          <p:cNvSpPr/>
          <p:nvPr/>
        </p:nvSpPr>
        <p:spPr>
          <a:xfrm>
            <a:off x="7626096" y="3877056"/>
            <a:ext cx="4037076" cy="78181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35823" y="3995928"/>
            <a:ext cx="3840480" cy="621792"/>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Strong P/D candidate to test</a:t>
            </a:r>
          </a:p>
        </p:txBody>
      </p:sp>
      <p:sp>
        <p:nvSpPr>
          <p:cNvPr id="26" name="Rounded Rectangle 25"/>
          <p:cNvSpPr/>
          <p:nvPr/>
        </p:nvSpPr>
        <p:spPr>
          <a:xfrm>
            <a:off x="502920" y="5029200"/>
            <a:ext cx="11183112" cy="8046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221224"/>
            <a:ext cx="10716768" cy="429768"/>
          </a:xfrm>
          <a:prstGeom prst="rect">
            <a:avLst/>
          </a:prstGeom>
          <a:noFill/>
        </p:spPr>
        <p:txBody>
          <a:bodyPr wrap="square" lIns="13716" rIns="13716" tIns="13716" bIns="13716">
            <a:spAutoFit/>
          </a:bodyPr>
          <a:lstStyle/>
          <a:p>
            <a:pPr>
              <a:spcBef>
                <a:spcPts val="0"/>
              </a:spcBef>
              <a:spcAft>
                <a:spcPts val="500"/>
              </a:spcAft>
              <a:defRPr sz="1700" b="1">
                <a:solidFill>
                  <a:srgbClr val="AE641A"/>
                </a:solidFill>
                <a:latin typeface="Arial"/>
              </a:defRPr>
            </a:pPr>
            <a:r>
              <a:t>Concurrency, GPU budget, and transfer fabric can change the result in every cell.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#1: KV transfer is a dependency</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healthy inference API does not prove the KV-data path is healthy.</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Measure the transfer path end to end, including cross-node deployments.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35 / 43</a:t>
            </a:r>
          </a:p>
        </p:txBody>
      </p:sp>
      <p:sp>
        <p:nvSpPr>
          <p:cNvPr id="10" name="Rounded Rectangle 9"/>
          <p:cNvSpPr/>
          <p:nvPr/>
        </p:nvSpPr>
        <p:spPr>
          <a:xfrm>
            <a:off x="502920"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377440"/>
            <a:ext cx="50292" cy="10058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Prefill memory</a:t>
            </a:r>
          </a:p>
        </p:txBody>
      </p:sp>
      <p:sp>
        <p:nvSpPr>
          <p:cNvPr id="13" name="TextBox 12"/>
          <p:cNvSpPr txBox="1"/>
          <p:nvPr/>
        </p:nvSpPr>
        <p:spPr>
          <a:xfrm>
            <a:off x="649224"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source</a:t>
            </a:r>
          </a:p>
        </p:txBody>
      </p:sp>
      <p:sp>
        <p:nvSpPr>
          <p:cNvPr id="14" name="Rounded Rectangle 13"/>
          <p:cNvSpPr/>
          <p:nvPr/>
        </p:nvSpPr>
        <p:spPr>
          <a:xfrm>
            <a:off x="455371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2377440"/>
            <a:ext cx="50292" cy="100584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90872" y="2404872"/>
            <a:ext cx="2788920" cy="393192"/>
          </a:xfrm>
          <a:prstGeom prst="rect">
            <a:avLst/>
          </a:prstGeom>
          <a:noFill/>
        </p:spPr>
        <p:txBody>
          <a:bodyPr wrap="square" lIns="13716" rIns="13716" tIns="13716" bIns="13716">
            <a:spAutoFit/>
          </a:bodyPr>
          <a:lstStyle/>
          <a:p>
            <a:pPr algn="ctr">
              <a:spcBef>
                <a:spcPts val="0"/>
              </a:spcBef>
              <a:spcAft>
                <a:spcPts val="500"/>
              </a:spcAft>
              <a:defRPr sz="2100" b="1">
                <a:solidFill>
                  <a:srgbClr val="AE641A"/>
                </a:solidFill>
                <a:latin typeface="Arial"/>
              </a:defRPr>
            </a:pPr>
            <a:r>
              <a:t>Transfer fabric</a:t>
            </a:r>
          </a:p>
        </p:txBody>
      </p:sp>
      <p:sp>
        <p:nvSpPr>
          <p:cNvPr id="17" name="TextBox 16"/>
          <p:cNvSpPr txBox="1"/>
          <p:nvPr/>
        </p:nvSpPr>
        <p:spPr>
          <a:xfrm>
            <a:off x="470001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Bandwidth + latency + topology</a:t>
            </a:r>
          </a:p>
        </p:txBody>
      </p:sp>
      <p:sp>
        <p:nvSpPr>
          <p:cNvPr id="18" name="Rounded Rectangle 17"/>
          <p:cNvSpPr/>
          <p:nvPr/>
        </p:nvSpPr>
        <p:spPr>
          <a:xfrm>
            <a:off x="8622792" y="2286000"/>
            <a:ext cx="3063240" cy="118872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22792" y="2377440"/>
            <a:ext cx="50292" cy="10058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59952" y="2404872"/>
            <a:ext cx="278892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Decode memory</a:t>
            </a:r>
          </a:p>
        </p:txBody>
      </p:sp>
      <p:sp>
        <p:nvSpPr>
          <p:cNvPr id="21" name="TextBox 20"/>
          <p:cNvSpPr txBox="1"/>
          <p:nvPr/>
        </p:nvSpPr>
        <p:spPr>
          <a:xfrm>
            <a:off x="8769096" y="2843784"/>
            <a:ext cx="2770632" cy="53949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KV destination</a:t>
            </a:r>
          </a:p>
        </p:txBody>
      </p:sp>
      <p:cxnSp>
        <p:nvCxnSpPr>
          <p:cNvPr id="22" name="Connector 21"/>
          <p:cNvCxnSpPr/>
          <p:nvPr/>
        </p:nvCxnSpPr>
        <p:spPr>
          <a:xfrm>
            <a:off x="3566160" y="2880360"/>
            <a:ext cx="987552"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616952" y="2880360"/>
            <a:ext cx="1005840"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02920"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 y="4224527"/>
            <a:ext cx="50292" cy="117043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087F8C"/>
                </a:solidFill>
                <a:latin typeface="Arial"/>
              </a:defRPr>
            </a:pPr>
            <a:r>
              <a:t>Observe</a:t>
            </a:r>
          </a:p>
        </p:txBody>
      </p:sp>
      <p:sp>
        <p:nvSpPr>
          <p:cNvPr id="27" name="TextBox 26"/>
          <p:cNvSpPr txBox="1"/>
          <p:nvPr/>
        </p:nvSpPr>
        <p:spPr>
          <a:xfrm>
            <a:off x="649224"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Transfer duration</a:t>
            </a:r>
          </a:p>
          <a:p>
            <a:pPr algn="ctr">
              <a:spcBef>
                <a:spcPts val="0"/>
              </a:spcBef>
              <a:spcAft>
                <a:spcPts val="500"/>
              </a:spcAft>
              <a:defRPr sz="1400" b="0">
                <a:solidFill>
                  <a:srgbClr val="586A80"/>
                </a:solidFill>
                <a:latin typeface="Arial"/>
              </a:defRPr>
            </a:pPr>
            <a:r>
              <a:t>Errors and retries</a:t>
            </a:r>
          </a:p>
        </p:txBody>
      </p:sp>
      <p:sp>
        <p:nvSpPr>
          <p:cNvPr id="28" name="Rounded Rectangle 27"/>
          <p:cNvSpPr/>
          <p:nvPr/>
        </p:nvSpPr>
        <p:spPr>
          <a:xfrm>
            <a:off x="4288536"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8536" y="4224527"/>
            <a:ext cx="50292" cy="1170432"/>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25696"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AE641A"/>
                </a:solidFill>
                <a:latin typeface="Arial"/>
              </a:defRPr>
            </a:pPr>
            <a:r>
              <a:t>Validate</a:t>
            </a:r>
          </a:p>
        </p:txBody>
      </p:sp>
      <p:sp>
        <p:nvSpPr>
          <p:cNvPr id="31" name="TextBox 30"/>
          <p:cNvSpPr txBox="1"/>
          <p:nvPr/>
        </p:nvSpPr>
        <p:spPr>
          <a:xfrm>
            <a:off x="4434840"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Node / GPU placement</a:t>
            </a:r>
          </a:p>
          <a:p>
            <a:pPr algn="ctr">
              <a:spcBef>
                <a:spcPts val="0"/>
              </a:spcBef>
              <a:spcAft>
                <a:spcPts val="500"/>
              </a:spcAft>
              <a:defRPr sz="1400" b="0">
                <a:solidFill>
                  <a:srgbClr val="586A80"/>
                </a:solidFill>
                <a:latin typeface="Arial"/>
              </a:defRPr>
            </a:pPr>
            <a:r>
              <a:t>Transport configuration</a:t>
            </a:r>
          </a:p>
        </p:txBody>
      </p:sp>
      <p:sp>
        <p:nvSpPr>
          <p:cNvPr id="32" name="Rounded Rectangle 31"/>
          <p:cNvSpPr/>
          <p:nvPr/>
        </p:nvSpPr>
        <p:spPr>
          <a:xfrm>
            <a:off x="8074152" y="4133087"/>
            <a:ext cx="3611880" cy="135331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74152" y="4224527"/>
            <a:ext cx="50292" cy="117043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11312" y="4251959"/>
            <a:ext cx="3337560" cy="393192"/>
          </a:xfrm>
          <a:prstGeom prst="rect">
            <a:avLst/>
          </a:prstGeom>
          <a:noFill/>
        </p:spPr>
        <p:txBody>
          <a:bodyPr wrap="square" lIns="13716" rIns="13716" tIns="13716" bIns="13716">
            <a:spAutoFit/>
          </a:bodyPr>
          <a:lstStyle/>
          <a:p>
            <a:pPr algn="ctr">
              <a:spcBef>
                <a:spcPts val="0"/>
              </a:spcBef>
              <a:spcAft>
                <a:spcPts val="500"/>
              </a:spcAft>
              <a:defRPr sz="2000" b="1">
                <a:solidFill>
                  <a:srgbClr val="7354B8"/>
                </a:solidFill>
                <a:latin typeface="Arial"/>
              </a:defRPr>
            </a:pPr>
            <a:r>
              <a:t>Compare</a:t>
            </a:r>
          </a:p>
        </p:txBody>
      </p:sp>
      <p:sp>
        <p:nvSpPr>
          <p:cNvPr id="35" name="TextBox 34"/>
          <p:cNvSpPr txBox="1"/>
          <p:nvPr/>
        </p:nvSpPr>
        <p:spPr>
          <a:xfrm>
            <a:off x="8220456" y="4690871"/>
            <a:ext cx="3319272" cy="704088"/>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Same-node vs cross-node</a:t>
            </a:r>
          </a:p>
          <a:p>
            <a:pPr algn="ctr">
              <a:spcBef>
                <a:spcPts val="0"/>
              </a:spcBef>
              <a:spcAft>
                <a:spcPts val="500"/>
              </a:spcAft>
              <a:defRPr sz="1400" b="0">
                <a:solidFill>
                  <a:srgbClr val="586A80"/>
                </a:solidFill>
                <a:latin typeface="Arial"/>
              </a:defRPr>
            </a:pPr>
            <a:r>
              <a:t>Latency and cost impact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#2: readiness is a chain</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A Running pod is only one part of a usable serving path.</a:t>
            </a:r>
          </a:p>
        </p:txBody>
      </p:sp>
      <p:sp>
        <p:nvSpPr>
          <p:cNvPr id="5" name="Rectangle 4"/>
          <p:cNvSpPr/>
          <p:nvPr/>
        </p:nvSpPr>
        <p:spPr>
          <a:xfrm>
            <a:off x="457200" y="5833872"/>
            <a:ext cx="11274552" cy="484632"/>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1792" y="5934456"/>
            <a:ext cx="10945368" cy="283464"/>
          </a:xfrm>
          <a:prstGeom prst="rect">
            <a:avLst/>
          </a:prstGeom>
          <a:noFill/>
        </p:spPr>
        <p:txBody>
          <a:bodyPr wrap="square" lIns="13716" rIns="13716" tIns="13716" bIns="13716">
            <a:spAutoFit/>
          </a:bodyPr>
          <a:lstStyle/>
          <a:p>
            <a:pPr>
              <a:spcBef>
                <a:spcPts val="0"/>
              </a:spcBef>
              <a:spcAft>
                <a:spcPts val="500"/>
              </a:spcAft>
              <a:defRPr sz="1500" b="1">
                <a:solidFill>
                  <a:srgbClr val="172941"/>
                </a:solidFill>
                <a:latin typeface="Arial"/>
              </a:defRPr>
            </a:pPr>
            <a:r>
              <a:t>Make routing eligibility depend on the right readiness contracts.</a:t>
            </a:r>
          </a:p>
        </p:txBody>
      </p:sp>
      <p:cxnSp>
        <p:nvCxnSpPr>
          <p:cNvPr id="7" name="Connector 6"/>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9" name="TextBox 8"/>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36 / 43</a:t>
            </a:r>
          </a:p>
        </p:txBody>
      </p:sp>
      <p:sp>
        <p:nvSpPr>
          <p:cNvPr id="10" name="Rounded Rectangle 9"/>
          <p:cNvSpPr/>
          <p:nvPr/>
        </p:nvSpPr>
        <p:spPr>
          <a:xfrm>
            <a:off x="502920"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14600"/>
            <a:ext cx="50292" cy="143560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087F8C"/>
                </a:solidFill>
                <a:latin typeface="Arial"/>
              </a:defRPr>
            </a:pPr>
            <a:r>
              <a:t>Model ready</a:t>
            </a:r>
          </a:p>
        </p:txBody>
      </p:sp>
      <p:sp>
        <p:nvSpPr>
          <p:cNvPr id="13" name="TextBox 12"/>
          <p:cNvSpPr txBox="1"/>
          <p:nvPr/>
        </p:nvSpPr>
        <p:spPr>
          <a:xfrm>
            <a:off x="649224"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Weights loaded</a:t>
            </a:r>
          </a:p>
          <a:p>
            <a:pPr algn="ctr">
              <a:spcBef>
                <a:spcPts val="0"/>
              </a:spcBef>
              <a:spcAft>
                <a:spcPts val="500"/>
              </a:spcAft>
              <a:defRPr sz="1400" b="0">
                <a:solidFill>
                  <a:srgbClr val="586A80"/>
                </a:solidFill>
                <a:latin typeface="Arial"/>
              </a:defRPr>
            </a:pPr>
            <a:r>
              <a:t>Runtime responsive</a:t>
            </a:r>
          </a:p>
        </p:txBody>
      </p:sp>
      <p:cxnSp>
        <p:nvCxnSpPr>
          <p:cNvPr id="14" name="Connector 13"/>
          <p:cNvCxnSpPr/>
          <p:nvPr/>
        </p:nvCxnSpPr>
        <p:spPr>
          <a:xfrm>
            <a:off x="4114800" y="3236976"/>
            <a:ext cx="173736" cy="0"/>
          </a:xfrm>
          <a:prstGeom prst="line">
            <a:avLst/>
          </a:prstGeom>
          <a:ln w="1905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288536"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88536" y="2514600"/>
            <a:ext cx="50292" cy="143560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25696"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7354B8"/>
                </a:solidFill>
                <a:latin typeface="Arial"/>
              </a:defRPr>
            </a:pPr>
            <a:r>
              <a:t>Proxy ready</a:t>
            </a:r>
          </a:p>
        </p:txBody>
      </p:sp>
      <p:sp>
        <p:nvSpPr>
          <p:cNvPr id="18" name="TextBox 17"/>
          <p:cNvSpPr txBox="1"/>
          <p:nvPr/>
        </p:nvSpPr>
        <p:spPr>
          <a:xfrm>
            <a:off x="4434840"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Correct local backend</a:t>
            </a:r>
          </a:p>
          <a:p>
            <a:pPr algn="ctr">
              <a:spcBef>
                <a:spcPts val="0"/>
              </a:spcBef>
              <a:spcAft>
                <a:spcPts val="500"/>
              </a:spcAft>
              <a:defRPr sz="1400" b="0">
                <a:solidFill>
                  <a:srgbClr val="586A80"/>
                </a:solidFill>
                <a:latin typeface="Arial"/>
              </a:defRPr>
            </a:pPr>
            <a:r>
              <a:t>Healthy listeners</a:t>
            </a:r>
          </a:p>
        </p:txBody>
      </p:sp>
      <p:cxnSp>
        <p:nvCxnSpPr>
          <p:cNvPr id="19" name="Connector 18"/>
          <p:cNvCxnSpPr/>
          <p:nvPr/>
        </p:nvCxnSpPr>
        <p:spPr>
          <a:xfrm>
            <a:off x="7900416" y="3236976"/>
            <a:ext cx="173735" cy="0"/>
          </a:xfrm>
          <a:prstGeom prst="line">
            <a:avLst/>
          </a:prstGeom>
          <a:ln w="1905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74152" y="2423160"/>
            <a:ext cx="3611880" cy="161848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4152" y="2514600"/>
            <a:ext cx="50292" cy="143560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11312" y="2542032"/>
            <a:ext cx="3337560" cy="393192"/>
          </a:xfrm>
          <a:prstGeom prst="rect">
            <a:avLst/>
          </a:prstGeom>
          <a:noFill/>
        </p:spPr>
        <p:txBody>
          <a:bodyPr wrap="square" lIns="13716" rIns="13716" tIns="13716" bIns="13716">
            <a:spAutoFit/>
          </a:bodyPr>
          <a:lstStyle/>
          <a:p>
            <a:pPr algn="ctr">
              <a:spcBef>
                <a:spcPts val="0"/>
              </a:spcBef>
              <a:spcAft>
                <a:spcPts val="500"/>
              </a:spcAft>
              <a:defRPr sz="2300" b="1">
                <a:solidFill>
                  <a:srgbClr val="2563EB"/>
                </a:solidFill>
                <a:latin typeface="Arial"/>
              </a:defRPr>
            </a:pPr>
            <a:r>
              <a:t>Route ready</a:t>
            </a:r>
          </a:p>
        </p:txBody>
      </p:sp>
      <p:sp>
        <p:nvSpPr>
          <p:cNvPr id="23" name="TextBox 22"/>
          <p:cNvSpPr txBox="1"/>
          <p:nvPr/>
        </p:nvSpPr>
        <p:spPr>
          <a:xfrm>
            <a:off x="8220456" y="2980944"/>
            <a:ext cx="3319272" cy="969264"/>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Labels and endpoints</a:t>
            </a:r>
          </a:p>
          <a:p>
            <a:pPr algn="ctr">
              <a:spcBef>
                <a:spcPts val="0"/>
              </a:spcBef>
              <a:spcAft>
                <a:spcPts val="500"/>
              </a:spcAft>
              <a:defRPr sz="1400" b="0">
                <a:solidFill>
                  <a:srgbClr val="586A80"/>
                </a:solidFill>
                <a:latin typeface="Arial"/>
              </a:defRPr>
            </a:pPr>
            <a:r>
              <a:t>Ports and pool wiring</a:t>
            </a:r>
          </a:p>
        </p:txBody>
      </p:sp>
      <p:sp>
        <p:nvSpPr>
          <p:cNvPr id="24" name="Rounded Rectangle 23"/>
          <p:cNvSpPr/>
          <p:nvPr/>
        </p:nvSpPr>
        <p:spPr>
          <a:xfrm>
            <a:off x="502920" y="4590288"/>
            <a:ext cx="11183112" cy="86868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846320"/>
            <a:ext cx="10725912" cy="411480"/>
          </a:xfrm>
          <a:prstGeom prst="rect">
            <a:avLst/>
          </a:prstGeom>
          <a:noFill/>
        </p:spPr>
        <p:txBody>
          <a:bodyPr wrap="square" lIns="13716" rIns="13716" tIns="13716" bIns="13716">
            <a:spAutoFit/>
          </a:bodyPr>
          <a:lstStyle/>
          <a:p>
            <a:pPr>
              <a:spcBef>
                <a:spcPts val="0"/>
              </a:spcBef>
              <a:spcAft>
                <a:spcPts val="500"/>
              </a:spcAft>
              <a:defRPr sz="1900" b="0">
                <a:solidFill>
                  <a:srgbClr val="586A80"/>
                </a:solidFill>
                <a:latin typeface="Arial"/>
              </a:defRPr>
            </a:pPr>
            <a:r>
              <a:t>Test startup, partial failure, replacement, and rollout—not only the steady state.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PRODUCTION LESSONS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Production lesson #3: use role-appropriate signals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One dashboard can show both phases; one scaling signal should not govern both.</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37 / 43</a:t>
            </a:r>
          </a:p>
        </p:txBody>
      </p:sp>
      <p:sp>
        <p:nvSpPr>
          <p:cNvPr id="8" name="Rectangle 7"/>
          <p:cNvSpPr/>
          <p:nvPr/>
        </p:nvSpPr>
        <p:spPr>
          <a:xfrm>
            <a:off x="502920" y="2240280"/>
            <a:ext cx="202539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359152"/>
            <a:ext cx="182880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ROLE</a:t>
            </a:r>
          </a:p>
        </p:txBody>
      </p:sp>
      <p:sp>
        <p:nvSpPr>
          <p:cNvPr id="10" name="Rectangle 9"/>
          <p:cNvSpPr/>
          <p:nvPr/>
        </p:nvSpPr>
        <p:spPr>
          <a:xfrm>
            <a:off x="2551176" y="2240280"/>
            <a:ext cx="3771900"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60904" y="2359152"/>
            <a:ext cx="3575304"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USEFUL SIGNALS</a:t>
            </a:r>
          </a:p>
        </p:txBody>
      </p:sp>
      <p:sp>
        <p:nvSpPr>
          <p:cNvPr id="12" name="Rectangle 11"/>
          <p:cNvSpPr/>
          <p:nvPr/>
        </p:nvSpPr>
        <p:spPr>
          <a:xfrm>
            <a:off x="6345936" y="2240280"/>
            <a:ext cx="5317236" cy="754380"/>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5664" y="2359152"/>
            <a:ext cx="5120640" cy="594359"/>
          </a:xfrm>
          <a:prstGeom prst="rect">
            <a:avLst/>
          </a:prstGeom>
          <a:noFill/>
        </p:spPr>
        <p:txBody>
          <a:bodyPr wrap="square" lIns="13716" rIns="13716" tIns="13716" bIns="13716">
            <a:spAutoFit/>
          </a:bodyPr>
          <a:lstStyle/>
          <a:p>
            <a:pPr>
              <a:spcBef>
                <a:spcPts val="0"/>
              </a:spcBef>
              <a:spcAft>
                <a:spcPts val="500"/>
              </a:spcAft>
              <a:defRPr sz="1400" b="1">
                <a:solidFill>
                  <a:srgbClr val="FFFFFF"/>
                </a:solidFill>
                <a:latin typeface="Arial"/>
              </a:defRPr>
            </a:pPr>
            <a:r>
              <a:t>WATCH OUT FOR</a:t>
            </a:r>
          </a:p>
        </p:txBody>
      </p:sp>
      <p:sp>
        <p:nvSpPr>
          <p:cNvPr id="14" name="Rectangle 13"/>
          <p:cNvSpPr/>
          <p:nvPr/>
        </p:nvSpPr>
        <p:spPr>
          <a:xfrm>
            <a:off x="502920" y="301752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 y="313639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Prefill</a:t>
            </a:r>
          </a:p>
        </p:txBody>
      </p:sp>
      <p:sp>
        <p:nvSpPr>
          <p:cNvPr id="16" name="Rectangle 15"/>
          <p:cNvSpPr/>
          <p:nvPr/>
        </p:nvSpPr>
        <p:spPr>
          <a:xfrm>
            <a:off x="2551176" y="301752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313639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Queue / prompt pressure</a:t>
            </a:r>
          </a:p>
        </p:txBody>
      </p:sp>
      <p:sp>
        <p:nvSpPr>
          <p:cNvPr id="18" name="Rectangle 17"/>
          <p:cNvSpPr/>
          <p:nvPr/>
        </p:nvSpPr>
        <p:spPr>
          <a:xfrm>
            <a:off x="6345936" y="301752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313639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Averages that hide burst and tail latency</a:t>
            </a:r>
          </a:p>
        </p:txBody>
      </p:sp>
      <p:sp>
        <p:nvSpPr>
          <p:cNvPr id="20" name="Rectangle 19"/>
          <p:cNvSpPr/>
          <p:nvPr/>
        </p:nvSpPr>
        <p:spPr>
          <a:xfrm>
            <a:off x="502920" y="3794760"/>
            <a:ext cx="202539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2648" y="391363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Decode</a:t>
            </a:r>
          </a:p>
        </p:txBody>
      </p:sp>
      <p:sp>
        <p:nvSpPr>
          <p:cNvPr id="22" name="Rectangle 21"/>
          <p:cNvSpPr/>
          <p:nvPr/>
        </p:nvSpPr>
        <p:spPr>
          <a:xfrm>
            <a:off x="2551176" y="3794760"/>
            <a:ext cx="3771900"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60904" y="391363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Running load; observe KV usage</a:t>
            </a:r>
          </a:p>
        </p:txBody>
      </p:sp>
      <p:sp>
        <p:nvSpPr>
          <p:cNvPr id="24" name="Rectangle 23"/>
          <p:cNvSpPr/>
          <p:nvPr/>
        </p:nvSpPr>
        <p:spPr>
          <a:xfrm>
            <a:off x="6345936" y="3794760"/>
            <a:ext cx="5317236" cy="754380"/>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55664" y="391363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Evicting active work during scale-down</a:t>
            </a:r>
          </a:p>
        </p:txBody>
      </p:sp>
      <p:sp>
        <p:nvSpPr>
          <p:cNvPr id="26" name="Rectangle 25"/>
          <p:cNvSpPr/>
          <p:nvPr/>
        </p:nvSpPr>
        <p:spPr>
          <a:xfrm>
            <a:off x="502920" y="4572000"/>
            <a:ext cx="202539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2648" y="4690872"/>
            <a:ext cx="1828800" cy="594359"/>
          </a:xfrm>
          <a:prstGeom prst="rect">
            <a:avLst/>
          </a:prstGeom>
          <a:noFill/>
        </p:spPr>
        <p:txBody>
          <a:bodyPr wrap="square" lIns="13716" rIns="13716" tIns="13716" bIns="13716">
            <a:spAutoFit/>
          </a:bodyPr>
          <a:lstStyle/>
          <a:p>
            <a:pPr>
              <a:spcBef>
                <a:spcPts val="0"/>
              </a:spcBef>
              <a:spcAft>
                <a:spcPts val="500"/>
              </a:spcAft>
              <a:defRPr sz="1500" b="0">
                <a:solidFill>
                  <a:srgbClr val="2563EB"/>
                </a:solidFill>
                <a:latin typeface="Arial"/>
              </a:defRPr>
            </a:pPr>
            <a:r>
              <a:t>Both</a:t>
            </a:r>
          </a:p>
        </p:txBody>
      </p:sp>
      <p:sp>
        <p:nvSpPr>
          <p:cNvPr id="28" name="Rectangle 27"/>
          <p:cNvSpPr/>
          <p:nvPr/>
        </p:nvSpPr>
        <p:spPr>
          <a:xfrm>
            <a:off x="2551176" y="4572000"/>
            <a:ext cx="3771900"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660904" y="4690872"/>
            <a:ext cx="3575304"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Warm-up + SLO + capacity</a:t>
            </a:r>
          </a:p>
        </p:txBody>
      </p:sp>
      <p:sp>
        <p:nvSpPr>
          <p:cNvPr id="30" name="Rectangle 29"/>
          <p:cNvSpPr/>
          <p:nvPr/>
        </p:nvSpPr>
        <p:spPr>
          <a:xfrm>
            <a:off x="6345936" y="4572000"/>
            <a:ext cx="5317236" cy="7543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5664" y="4690872"/>
            <a:ext cx="5120640" cy="594359"/>
          </a:xfrm>
          <a:prstGeom prst="rect">
            <a:avLst/>
          </a:prstGeom>
          <a:noFill/>
        </p:spPr>
        <p:txBody>
          <a:bodyPr wrap="square" lIns="13716" rIns="13716" tIns="13716" bIns="13716">
            <a:spAutoFit/>
          </a:bodyPr>
          <a:lstStyle/>
          <a:p>
            <a:pPr>
              <a:spcBef>
                <a:spcPts val="0"/>
              </a:spcBef>
              <a:spcAft>
                <a:spcPts val="500"/>
              </a:spcAft>
              <a:defRPr sz="1500" b="0">
                <a:solidFill>
                  <a:srgbClr val="172941"/>
                </a:solidFill>
                <a:latin typeface="Arial"/>
              </a:defRPr>
            </a:pPr>
            <a:r>
              <a:t>Oscillation, slow model load, fabric limits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TRADEOFFS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 production decision has four gates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The benchmark is one gate; the operating model is another.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38 / 43</a:t>
            </a:r>
          </a:p>
        </p:txBody>
      </p:sp>
      <p:sp>
        <p:nvSpPr>
          <p:cNvPr id="8" name="Rounded Rectangle 7"/>
          <p:cNvSpPr/>
          <p:nvPr/>
        </p:nvSpPr>
        <p:spPr>
          <a:xfrm>
            <a:off x="502920"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37744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01</a:t>
            </a:r>
          </a:p>
        </p:txBody>
      </p:sp>
      <p:sp>
        <p:nvSpPr>
          <p:cNvPr id="11" name="TextBox 10"/>
          <p:cNvSpPr txBox="1"/>
          <p:nvPr/>
        </p:nvSpPr>
        <p:spPr>
          <a:xfrm>
            <a:off x="685800"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Workload fit</a:t>
            </a:r>
          </a:p>
        </p:txBody>
      </p:sp>
      <p:sp>
        <p:nvSpPr>
          <p:cNvPr id="12" name="TextBox 11"/>
          <p:cNvSpPr txBox="1"/>
          <p:nvPr/>
        </p:nvSpPr>
        <p:spPr>
          <a:xfrm>
            <a:off x="685800"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 prompt and generation pressure diverge enough?</a:t>
            </a:r>
          </a:p>
        </p:txBody>
      </p:sp>
      <p:sp>
        <p:nvSpPr>
          <p:cNvPr id="13" name="Rounded Rectangle 12"/>
          <p:cNvSpPr/>
          <p:nvPr/>
        </p:nvSpPr>
        <p:spPr>
          <a:xfrm>
            <a:off x="3364991"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529584" y="237744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47872"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02</a:t>
            </a:r>
          </a:p>
        </p:txBody>
      </p:sp>
      <p:sp>
        <p:nvSpPr>
          <p:cNvPr id="16" name="TextBox 15"/>
          <p:cNvSpPr txBox="1"/>
          <p:nvPr/>
        </p:nvSpPr>
        <p:spPr>
          <a:xfrm>
            <a:off x="3547872"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Transfer path</a:t>
            </a:r>
          </a:p>
        </p:txBody>
      </p:sp>
      <p:sp>
        <p:nvSpPr>
          <p:cNvPr id="17" name="TextBox 16"/>
          <p:cNvSpPr txBox="1"/>
          <p:nvPr/>
        </p:nvSpPr>
        <p:spPr>
          <a:xfrm>
            <a:off x="3547872"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KV movement stay inside the latency budget?</a:t>
            </a:r>
          </a:p>
        </p:txBody>
      </p:sp>
      <p:sp>
        <p:nvSpPr>
          <p:cNvPr id="18" name="Rounded Rectangle 17"/>
          <p:cNvSpPr/>
          <p:nvPr/>
        </p:nvSpPr>
        <p:spPr>
          <a:xfrm>
            <a:off x="6227064"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91655" y="237744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03</a:t>
            </a:r>
          </a:p>
        </p:txBody>
      </p:sp>
      <p:sp>
        <p:nvSpPr>
          <p:cNvPr id="21" name="TextBox 20"/>
          <p:cNvSpPr txBox="1"/>
          <p:nvPr/>
        </p:nvSpPr>
        <p:spPr>
          <a:xfrm>
            <a:off x="6409944"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Operational fit</a:t>
            </a:r>
          </a:p>
        </p:txBody>
      </p:sp>
      <p:sp>
        <p:nvSpPr>
          <p:cNvPr id="22" name="TextBox 21"/>
          <p:cNvSpPr txBox="1"/>
          <p:nvPr/>
        </p:nvSpPr>
        <p:spPr>
          <a:xfrm>
            <a:off x="6409944"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Can the team observe, scale, and debug both roles?</a:t>
            </a:r>
          </a:p>
        </p:txBody>
      </p:sp>
      <p:sp>
        <p:nvSpPr>
          <p:cNvPr id="23" name="Rounded Rectangle 22"/>
          <p:cNvSpPr/>
          <p:nvPr/>
        </p:nvSpPr>
        <p:spPr>
          <a:xfrm>
            <a:off x="9089136" y="2194560"/>
            <a:ext cx="2688336" cy="33101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53728" y="237744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72016" y="253288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04</a:t>
            </a:r>
          </a:p>
        </p:txBody>
      </p:sp>
      <p:sp>
        <p:nvSpPr>
          <p:cNvPr id="26" name="TextBox 25"/>
          <p:cNvSpPr txBox="1"/>
          <p:nvPr/>
        </p:nvSpPr>
        <p:spPr>
          <a:xfrm>
            <a:off x="9272016" y="2907791"/>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Measured win</a:t>
            </a:r>
          </a:p>
        </p:txBody>
      </p:sp>
      <p:sp>
        <p:nvSpPr>
          <p:cNvPr id="27" name="TextBox 26"/>
          <p:cNvSpPr txBox="1"/>
          <p:nvPr/>
        </p:nvSpPr>
        <p:spPr>
          <a:xfrm>
            <a:off x="9272016" y="3511296"/>
            <a:ext cx="2322576" cy="1847088"/>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Does SLO goodput improve at acceptable total cost?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06 / ADOPTION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Adopt P/D in reversible steps</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Start with the simplest serving model that meets the workload.</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39 / 43</a:t>
            </a:r>
          </a:p>
        </p:txBody>
      </p:sp>
      <p:sp>
        <p:nvSpPr>
          <p:cNvPr id="8" name="Rounded Rectangle 7"/>
          <p:cNvSpPr/>
          <p:nvPr/>
        </p:nvSpPr>
        <p:spPr>
          <a:xfrm>
            <a:off x="502920"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51460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STEP 1</a:t>
            </a:r>
          </a:p>
        </p:txBody>
      </p:sp>
      <p:sp>
        <p:nvSpPr>
          <p:cNvPr id="11" name="TextBox 10"/>
          <p:cNvSpPr txBox="1"/>
          <p:nvPr/>
        </p:nvSpPr>
        <p:spPr>
          <a:xfrm>
            <a:off x="685800"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Baseline</a:t>
            </a:r>
          </a:p>
        </p:txBody>
      </p:sp>
      <p:sp>
        <p:nvSpPr>
          <p:cNvPr id="12" name="TextBox 11"/>
          <p:cNvSpPr txBox="1"/>
          <p:nvPr/>
        </p:nvSpPr>
        <p:spPr>
          <a:xfrm>
            <a:off x="685800"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Run aggregated.</a:t>
            </a:r>
          </a:p>
          <a:p>
            <a:pPr>
              <a:spcBef>
                <a:spcPts val="0"/>
              </a:spcBef>
              <a:spcAft>
                <a:spcPts val="500"/>
              </a:spcAft>
              <a:defRPr sz="1800" b="0">
                <a:solidFill>
                  <a:srgbClr val="172941"/>
                </a:solidFill>
                <a:latin typeface="Arial"/>
              </a:defRPr>
            </a:pPr>
            <a:r>
              <a:t>Measure traffic + SLO.</a:t>
            </a:r>
          </a:p>
        </p:txBody>
      </p:sp>
      <p:cxnSp>
        <p:nvCxnSpPr>
          <p:cNvPr id="13" name="Connector 12"/>
          <p:cNvCxnSpPr/>
          <p:nvPr/>
        </p:nvCxnSpPr>
        <p:spPr>
          <a:xfrm>
            <a:off x="3191256" y="3803904"/>
            <a:ext cx="173735" cy="0"/>
          </a:xfrm>
          <a:prstGeom prst="line">
            <a:avLst/>
          </a:prstGeom>
          <a:ln w="1778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64991"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29584" y="251460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47872"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STEP 2</a:t>
            </a:r>
          </a:p>
        </p:txBody>
      </p:sp>
      <p:sp>
        <p:nvSpPr>
          <p:cNvPr id="17" name="TextBox 16"/>
          <p:cNvSpPr txBox="1"/>
          <p:nvPr/>
        </p:nvSpPr>
        <p:spPr>
          <a:xfrm>
            <a:off x="3547872"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Separate</a:t>
            </a:r>
          </a:p>
        </p:txBody>
      </p:sp>
      <p:sp>
        <p:nvSpPr>
          <p:cNvPr id="18" name="TextBox 17"/>
          <p:cNvSpPr txBox="1"/>
          <p:nvPr/>
        </p:nvSpPr>
        <p:spPr>
          <a:xfrm>
            <a:off x="3547872"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Declare roles.</a:t>
            </a:r>
          </a:p>
          <a:p>
            <a:pPr>
              <a:spcBef>
                <a:spcPts val="0"/>
              </a:spcBef>
              <a:spcAft>
                <a:spcPts val="500"/>
              </a:spcAft>
              <a:defRPr sz="1800" b="0">
                <a:solidFill>
                  <a:srgbClr val="172941"/>
                </a:solidFill>
                <a:latin typeface="Arial"/>
              </a:defRPr>
            </a:pPr>
            <a:r>
              <a:t>Validate KV + routing.</a:t>
            </a:r>
          </a:p>
        </p:txBody>
      </p:sp>
      <p:cxnSp>
        <p:nvCxnSpPr>
          <p:cNvPr id="19" name="Connector 18"/>
          <p:cNvCxnSpPr/>
          <p:nvPr/>
        </p:nvCxnSpPr>
        <p:spPr>
          <a:xfrm>
            <a:off x="6053327" y="3803904"/>
            <a:ext cx="173737"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91655" y="251460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STEP 3</a:t>
            </a:r>
          </a:p>
        </p:txBody>
      </p:sp>
      <p:sp>
        <p:nvSpPr>
          <p:cNvPr id="23" name="TextBox 22"/>
          <p:cNvSpPr txBox="1"/>
          <p:nvPr/>
        </p:nvSpPr>
        <p:spPr>
          <a:xfrm>
            <a:off x="6409944"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Tune</a:t>
            </a:r>
          </a:p>
        </p:txBody>
      </p:sp>
      <p:sp>
        <p:nvSpPr>
          <p:cNvPr id="24" name="TextBox 23"/>
          <p:cNvSpPr txBox="1"/>
          <p:nvPr/>
        </p:nvSpPr>
        <p:spPr>
          <a:xfrm>
            <a:off x="6409944"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Set role capacity.</a:t>
            </a:r>
          </a:p>
          <a:p>
            <a:pPr>
              <a:spcBef>
                <a:spcPts val="0"/>
              </a:spcBef>
              <a:spcAft>
                <a:spcPts val="500"/>
              </a:spcAft>
              <a:defRPr sz="1800" b="0">
                <a:solidFill>
                  <a:srgbClr val="172941"/>
                </a:solidFill>
                <a:latin typeface="Arial"/>
              </a:defRPr>
            </a:pPr>
            <a:r>
              <a:t>Benchmark at fixed cost.</a:t>
            </a:r>
          </a:p>
        </p:txBody>
      </p:sp>
      <p:cxnSp>
        <p:nvCxnSpPr>
          <p:cNvPr id="25" name="Connector 24"/>
          <p:cNvCxnSpPr/>
          <p:nvPr/>
        </p:nvCxnSpPr>
        <p:spPr>
          <a:xfrm>
            <a:off x="8915400" y="3803904"/>
            <a:ext cx="173736"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89136" y="2331720"/>
            <a:ext cx="2688336" cy="309067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253728" y="2514600"/>
            <a:ext cx="347472" cy="5943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72016" y="2670048"/>
            <a:ext cx="2322576" cy="256032"/>
          </a:xfrm>
          <a:prstGeom prst="rect">
            <a:avLst/>
          </a:prstGeom>
          <a:noFill/>
        </p:spPr>
        <p:txBody>
          <a:bodyPr wrap="square" lIns="13716" rIns="13716" tIns="13716" bIns="13716">
            <a:spAutoFit/>
          </a:bodyPr>
          <a:lstStyle/>
          <a:p>
            <a:pPr>
              <a:spcBef>
                <a:spcPts val="0"/>
              </a:spcBef>
              <a:spcAft>
                <a:spcPts val="500"/>
              </a:spcAft>
              <a:defRPr sz="1100" b="1">
                <a:solidFill>
                  <a:srgbClr val="AE641A"/>
                </a:solidFill>
                <a:latin typeface="Arial"/>
              </a:defRPr>
            </a:pPr>
            <a:r>
              <a:t>STEP 4</a:t>
            </a:r>
          </a:p>
        </p:txBody>
      </p:sp>
      <p:sp>
        <p:nvSpPr>
          <p:cNvPr id="29" name="TextBox 28"/>
          <p:cNvSpPr txBox="1"/>
          <p:nvPr/>
        </p:nvSpPr>
        <p:spPr>
          <a:xfrm>
            <a:off x="9272016" y="3044952"/>
            <a:ext cx="2322576" cy="420624"/>
          </a:xfrm>
          <a:prstGeom prst="rect">
            <a:avLst/>
          </a:prstGeom>
          <a:noFill/>
        </p:spPr>
        <p:txBody>
          <a:bodyPr wrap="square" lIns="13716" rIns="13716" tIns="13716" bIns="13716">
            <a:spAutoFit/>
          </a:bodyPr>
          <a:lstStyle/>
          <a:p>
            <a:pPr>
              <a:spcBef>
                <a:spcPts val="0"/>
              </a:spcBef>
              <a:spcAft>
                <a:spcPts val="500"/>
              </a:spcAft>
              <a:defRPr sz="2000" b="1">
                <a:solidFill>
                  <a:srgbClr val="AE641A"/>
                </a:solidFill>
                <a:latin typeface="Arial"/>
              </a:defRPr>
            </a:pPr>
            <a:r>
              <a:t>Operate</a:t>
            </a:r>
          </a:p>
        </p:txBody>
      </p:sp>
      <p:sp>
        <p:nvSpPr>
          <p:cNvPr id="30" name="TextBox 29"/>
          <p:cNvSpPr txBox="1"/>
          <p:nvPr/>
        </p:nvSpPr>
        <p:spPr>
          <a:xfrm>
            <a:off x="9272016" y="3648456"/>
            <a:ext cx="2322576" cy="1627632"/>
          </a:xfrm>
          <a:prstGeom prst="rect">
            <a:avLst/>
          </a:prstGeom>
          <a:noFill/>
        </p:spPr>
        <p:txBody>
          <a:bodyPr wrap="square" lIns="13716" rIns="13716" tIns="13716" bIns="13716">
            <a:spAutoFit/>
          </a:bodyPr>
          <a:lstStyle/>
          <a:p>
            <a:pPr>
              <a:spcBef>
                <a:spcPts val="0"/>
              </a:spcBef>
              <a:spcAft>
                <a:spcPts val="500"/>
              </a:spcAft>
              <a:defRPr sz="1800" b="0">
                <a:solidFill>
                  <a:srgbClr val="172941"/>
                </a:solidFill>
                <a:latin typeface="Arial"/>
              </a:defRPr>
            </a:pPr>
            <a:r>
              <a:t>Add scale policies.</a:t>
            </a:r>
          </a:p>
          <a:p>
            <a:pPr>
              <a:spcBef>
                <a:spcPts val="0"/>
              </a:spcBef>
              <a:spcAft>
                <a:spcPts val="500"/>
              </a:spcAft>
              <a:defRPr sz="1800" b="0">
                <a:solidFill>
                  <a:srgbClr val="172941"/>
                </a:solidFill>
                <a:latin typeface="Arial"/>
              </a:defRPr>
            </a:pPr>
            <a:r>
              <a:t>Test failure + rollback.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DEMO PATH</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Demo: follow the intent into the running system</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Show the same service at the API, controller, and traffic layers.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40 / 43</a:t>
            </a:r>
          </a:p>
        </p:txBody>
      </p:sp>
      <p:sp>
        <p:nvSpPr>
          <p:cNvPr id="8" name="Rounded Rectangle 7"/>
          <p:cNvSpPr/>
          <p:nvPr/>
        </p:nvSpPr>
        <p:spPr>
          <a:xfrm>
            <a:off x="502920"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1  Declare</a:t>
            </a:r>
          </a:p>
        </p:txBody>
      </p:sp>
      <p:sp>
        <p:nvSpPr>
          <p:cNvPr id="11" name="TextBox 10"/>
          <p:cNvSpPr txBox="1"/>
          <p:nvPr/>
        </p:nvSpPr>
        <p:spPr>
          <a:xfrm>
            <a:off x="685800"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the MRI</a:t>
            </a:r>
          </a:p>
          <a:p>
            <a:pPr>
              <a:spcBef>
                <a:spcPts val="0"/>
              </a:spcBef>
              <a:spcAft>
                <a:spcPts val="500"/>
              </a:spcAft>
              <a:defRPr sz="2000" b="0">
                <a:solidFill>
                  <a:srgbClr val="172941"/>
                </a:solidFill>
                <a:latin typeface="Arial"/>
              </a:defRPr>
            </a:pPr>
            <a:r>
              <a:t>and its role settings.</a:t>
            </a:r>
          </a:p>
        </p:txBody>
      </p:sp>
      <p:sp>
        <p:nvSpPr>
          <p:cNvPr id="12" name="Rounded Rectangle 11"/>
          <p:cNvSpPr/>
          <p:nvPr/>
        </p:nvSpPr>
        <p:spPr>
          <a:xfrm>
            <a:off x="4288536"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53127"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1416"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2  Reconcile</a:t>
            </a:r>
          </a:p>
        </p:txBody>
      </p:sp>
      <p:sp>
        <p:nvSpPr>
          <p:cNvPr id="15" name="TextBox 14"/>
          <p:cNvSpPr txBox="1"/>
          <p:nvPr/>
        </p:nvSpPr>
        <p:spPr>
          <a:xfrm>
            <a:off x="4471416"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Inspect child InferenceSets,</a:t>
            </a:r>
          </a:p>
          <a:p>
            <a:pPr>
              <a:spcBef>
                <a:spcPts val="0"/>
              </a:spcBef>
              <a:spcAft>
                <a:spcPts val="500"/>
              </a:spcAft>
              <a:defRPr sz="2000" b="0">
                <a:solidFill>
                  <a:srgbClr val="172941"/>
                </a:solidFill>
                <a:latin typeface="Arial"/>
              </a:defRPr>
            </a:pPr>
            <a:r>
              <a:t>Workspaces, and routing.</a:t>
            </a:r>
          </a:p>
        </p:txBody>
      </p:sp>
      <p:sp>
        <p:nvSpPr>
          <p:cNvPr id="16" name="Rounded Rectangle 15"/>
          <p:cNvSpPr/>
          <p:nvPr/>
        </p:nvSpPr>
        <p:spPr>
          <a:xfrm>
            <a:off x="8074152" y="2240280"/>
            <a:ext cx="3611880" cy="277063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1" y="2606040"/>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3  Verify</a:t>
            </a:r>
          </a:p>
        </p:txBody>
      </p:sp>
      <p:sp>
        <p:nvSpPr>
          <p:cNvPr id="19" name="TextBox 18"/>
          <p:cNvSpPr txBox="1"/>
          <p:nvPr/>
        </p:nvSpPr>
        <p:spPr>
          <a:xfrm>
            <a:off x="8257031" y="3209544"/>
            <a:ext cx="3246120" cy="1655063"/>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Send one request.</a:t>
            </a:r>
          </a:p>
          <a:p>
            <a:pPr>
              <a:spcBef>
                <a:spcPts val="0"/>
              </a:spcBef>
              <a:spcAft>
                <a:spcPts val="500"/>
              </a:spcAft>
              <a:defRPr sz="2000" b="0">
                <a:solidFill>
                  <a:srgbClr val="172941"/>
                </a:solidFill>
                <a:latin typeface="Arial"/>
              </a:defRPr>
            </a:pPr>
            <a:r>
              <a:t>Observe both roles.</a:t>
            </a:r>
          </a:p>
        </p:txBody>
      </p:sp>
      <p:sp>
        <p:nvSpPr>
          <p:cNvPr id="20" name="TextBox 19"/>
          <p:cNvSpPr txBox="1"/>
          <p:nvPr/>
        </p:nvSpPr>
        <p:spPr>
          <a:xfrm>
            <a:off x="521207" y="5449824"/>
            <a:ext cx="11064240" cy="39319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Optional: apply a verified KEDA policy to one child InferenceSet and observe scaling.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07 / DIRECTION</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Next: make multi-role serving easier to operate</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Recommended areas of work—not release commitments.</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41 / 43</a:t>
            </a:r>
          </a:p>
        </p:txBody>
      </p:sp>
      <p:sp>
        <p:nvSpPr>
          <p:cNvPr id="8" name="Rounded Rectangle 7"/>
          <p:cNvSpPr/>
          <p:nvPr/>
        </p:nvSpPr>
        <p:spPr>
          <a:xfrm>
            <a:off x="502920"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67512" y="2423160"/>
            <a:ext cx="347472" cy="5943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087F8C"/>
                </a:solidFill>
                <a:latin typeface="Arial"/>
              </a:defRPr>
            </a:pPr>
            <a:r>
              <a:t>DIRECTION</a:t>
            </a:r>
          </a:p>
        </p:txBody>
      </p:sp>
      <p:sp>
        <p:nvSpPr>
          <p:cNvPr id="11" name="TextBox 10"/>
          <p:cNvSpPr txBox="1"/>
          <p:nvPr/>
        </p:nvSpPr>
        <p:spPr>
          <a:xfrm>
            <a:off x="685800"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087F8C"/>
                </a:solidFill>
                <a:latin typeface="Arial"/>
              </a:defRPr>
            </a:pPr>
            <a:r>
              <a:t>Scaling UX</a:t>
            </a:r>
          </a:p>
        </p:txBody>
      </p:sp>
      <p:sp>
        <p:nvSpPr>
          <p:cNvPr id="12" name="TextBox 11"/>
          <p:cNvSpPr txBox="1"/>
          <p:nvPr/>
        </p:nvSpPr>
        <p:spPr>
          <a:xfrm>
            <a:off x="685800"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Express per-role policy</a:t>
            </a:r>
          </a:p>
          <a:p>
            <a:pPr>
              <a:spcBef>
                <a:spcPts val="0"/>
              </a:spcBef>
              <a:spcAft>
                <a:spcPts val="500"/>
              </a:spcAft>
              <a:defRPr sz="2000" b="0">
                <a:solidFill>
                  <a:srgbClr val="172941"/>
                </a:solidFill>
                <a:latin typeface="Arial"/>
              </a:defRPr>
            </a:pPr>
            <a:r>
              <a:t>without repetitive plumbing.</a:t>
            </a:r>
          </a:p>
        </p:txBody>
      </p:sp>
      <p:sp>
        <p:nvSpPr>
          <p:cNvPr id="13" name="Rounded Rectangle 12"/>
          <p:cNvSpPr/>
          <p:nvPr/>
        </p:nvSpPr>
        <p:spPr>
          <a:xfrm>
            <a:off x="4288536"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53127" y="2423160"/>
            <a:ext cx="347472" cy="5943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71416"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2563EB"/>
                </a:solidFill>
                <a:latin typeface="Arial"/>
              </a:defRPr>
            </a:pPr>
            <a:r>
              <a:t>DIRECTION</a:t>
            </a:r>
          </a:p>
        </p:txBody>
      </p:sp>
      <p:sp>
        <p:nvSpPr>
          <p:cNvPr id="16" name="TextBox 15"/>
          <p:cNvSpPr txBox="1"/>
          <p:nvPr/>
        </p:nvSpPr>
        <p:spPr>
          <a:xfrm>
            <a:off x="4471416"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2563EB"/>
                </a:solidFill>
                <a:latin typeface="Arial"/>
              </a:defRPr>
            </a:pPr>
            <a:r>
              <a:t>Observability</a:t>
            </a:r>
          </a:p>
        </p:txBody>
      </p:sp>
      <p:sp>
        <p:nvSpPr>
          <p:cNvPr id="17" name="TextBox 16"/>
          <p:cNvSpPr txBox="1"/>
          <p:nvPr/>
        </p:nvSpPr>
        <p:spPr>
          <a:xfrm>
            <a:off x="4471416"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Connect request latency,</a:t>
            </a:r>
          </a:p>
          <a:p>
            <a:pPr>
              <a:spcBef>
                <a:spcPts val="0"/>
              </a:spcBef>
              <a:spcAft>
                <a:spcPts val="500"/>
              </a:spcAft>
              <a:defRPr sz="2000" b="0">
                <a:solidFill>
                  <a:srgbClr val="172941"/>
                </a:solidFill>
                <a:latin typeface="Arial"/>
              </a:defRPr>
            </a:pPr>
            <a:r>
              <a:t>role load, and KV transfer.</a:t>
            </a:r>
          </a:p>
        </p:txBody>
      </p:sp>
      <p:sp>
        <p:nvSpPr>
          <p:cNvPr id="18" name="Rounded Rectangle 17"/>
          <p:cNvSpPr/>
          <p:nvPr/>
        </p:nvSpPr>
        <p:spPr>
          <a:xfrm>
            <a:off x="8074152" y="2240280"/>
            <a:ext cx="3611880" cy="313639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38744" y="2423160"/>
            <a:ext cx="347472" cy="5943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1" y="2578608"/>
            <a:ext cx="3246120" cy="256032"/>
          </a:xfrm>
          <a:prstGeom prst="rect">
            <a:avLst/>
          </a:prstGeom>
          <a:noFill/>
        </p:spPr>
        <p:txBody>
          <a:bodyPr wrap="square" lIns="13716" rIns="13716" tIns="13716" bIns="13716">
            <a:spAutoFit/>
          </a:bodyPr>
          <a:lstStyle/>
          <a:p>
            <a:pPr>
              <a:spcBef>
                <a:spcPts val="0"/>
              </a:spcBef>
              <a:spcAft>
                <a:spcPts val="500"/>
              </a:spcAft>
              <a:defRPr sz="1100" b="1">
                <a:solidFill>
                  <a:srgbClr val="7354B8"/>
                </a:solidFill>
                <a:latin typeface="Arial"/>
              </a:defRPr>
            </a:pPr>
            <a:r>
              <a:t>DIRECTION</a:t>
            </a:r>
          </a:p>
        </p:txBody>
      </p:sp>
      <p:sp>
        <p:nvSpPr>
          <p:cNvPr id="21" name="TextBox 20"/>
          <p:cNvSpPr txBox="1"/>
          <p:nvPr/>
        </p:nvSpPr>
        <p:spPr>
          <a:xfrm>
            <a:off x="8257031" y="2953512"/>
            <a:ext cx="3246120" cy="420624"/>
          </a:xfrm>
          <a:prstGeom prst="rect">
            <a:avLst/>
          </a:prstGeom>
          <a:noFill/>
        </p:spPr>
        <p:txBody>
          <a:bodyPr wrap="square" lIns="13716" rIns="13716" tIns="13716" bIns="13716">
            <a:spAutoFit/>
          </a:bodyPr>
          <a:lstStyle/>
          <a:p>
            <a:pPr>
              <a:spcBef>
                <a:spcPts val="0"/>
              </a:spcBef>
              <a:spcAft>
                <a:spcPts val="500"/>
              </a:spcAft>
              <a:defRPr sz="2000" b="1">
                <a:solidFill>
                  <a:srgbClr val="7354B8"/>
                </a:solidFill>
                <a:latin typeface="Arial"/>
              </a:defRPr>
            </a:pPr>
            <a:r>
              <a:t>Topology UX</a:t>
            </a:r>
          </a:p>
        </p:txBody>
      </p:sp>
      <p:sp>
        <p:nvSpPr>
          <p:cNvPr id="22" name="TextBox 21"/>
          <p:cNvSpPr txBox="1"/>
          <p:nvPr/>
        </p:nvSpPr>
        <p:spPr>
          <a:xfrm>
            <a:off x="8257031" y="3557016"/>
            <a:ext cx="3246120" cy="1673352"/>
          </a:xfrm>
          <a:prstGeom prst="rect">
            <a:avLst/>
          </a:prstGeom>
          <a:noFill/>
        </p:spPr>
        <p:txBody>
          <a:bodyPr wrap="square" lIns="13716" rIns="13716" tIns="13716" bIns="13716">
            <a:spAutoFit/>
          </a:bodyPr>
          <a:lstStyle/>
          <a:p>
            <a:pPr>
              <a:spcBef>
                <a:spcPts val="0"/>
              </a:spcBef>
              <a:spcAft>
                <a:spcPts val="500"/>
              </a:spcAft>
              <a:defRPr sz="2000" b="0">
                <a:solidFill>
                  <a:srgbClr val="172941"/>
                </a:solidFill>
                <a:latin typeface="Arial"/>
              </a:defRPr>
            </a:pPr>
            <a:r>
              <a:t>Keep richer serving layouts</a:t>
            </a:r>
          </a:p>
          <a:p>
            <a:pPr>
              <a:spcBef>
                <a:spcPts val="0"/>
              </a:spcBef>
              <a:spcAft>
                <a:spcPts val="500"/>
              </a:spcAft>
              <a:defRPr sz="2000" b="0">
                <a:solidFill>
                  <a:srgbClr val="172941"/>
                </a:solidFill>
                <a:latin typeface="Arial"/>
              </a:defRPr>
            </a:pPr>
            <a:r>
              <a:t>inside the same API model.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2563EB"/>
                </a:solidFill>
                <a:latin typeface="Arial"/>
              </a:defRPr>
            </a:pPr>
            <a:r>
              <a:t>08 / TAKEAWAYS</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172941"/>
                </a:solidFill>
                <a:latin typeface="Arial"/>
              </a:defRPr>
            </a:pPr>
            <a:r>
              <a:t>Three things to remember</a:t>
            </a:r>
          </a:p>
        </p:txBody>
      </p:sp>
      <p:sp>
        <p:nvSpPr>
          <p:cNvPr id="4" name="TextBox 3"/>
          <p:cNvSpPr txBox="1"/>
          <p:nvPr/>
        </p:nvSpPr>
        <p:spPr>
          <a:xfrm>
            <a:off x="475488" y="1399032"/>
            <a:ext cx="11155680" cy="484632"/>
          </a:xfrm>
          <a:prstGeom prst="rect">
            <a:avLst/>
          </a:prstGeom>
          <a:noFill/>
        </p:spPr>
        <p:txBody>
          <a:bodyPr wrap="square" lIns="13716" rIns="13716" tIns="13716" bIns="13716">
            <a:spAutoFit/>
          </a:bodyPr>
          <a:lstStyle/>
          <a:p>
            <a:pPr>
              <a:spcBef>
                <a:spcPts val="0"/>
              </a:spcBef>
              <a:spcAft>
                <a:spcPts val="500"/>
              </a:spcAft>
              <a:defRPr sz="1700" b="0">
                <a:solidFill>
                  <a:srgbClr val="586A80"/>
                </a:solidFill>
                <a:latin typeface="Arial"/>
              </a:defRPr>
            </a:pPr>
            <a:r>
              <a:t>Independent capacity is the opportunity. Reconciled topology is the enabler.</a:t>
            </a:r>
          </a:p>
        </p:txBody>
      </p:sp>
      <p:cxnSp>
        <p:nvCxnSpPr>
          <p:cNvPr id="5" name="Connector 4"/>
          <p:cNvCxnSpPr/>
          <p:nvPr/>
        </p:nvCxnSpPr>
        <p:spPr>
          <a:xfrm>
            <a:off x="457200" y="6510528"/>
            <a:ext cx="11274552"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586A80"/>
                </a:solidFill>
                <a:latin typeface="Arial"/>
              </a:defRPr>
            </a:pPr>
            <a:r>
              <a:t>KUBECON + CLOUDNATIVECON NORTH AMERICA 2026  /  KAITO + llm-d</a:t>
            </a:r>
          </a:p>
        </p:txBody>
      </p:sp>
      <p:sp>
        <p:nvSpPr>
          <p:cNvPr id="7" name="TextBox 6"/>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586A80"/>
                </a:solidFill>
                <a:latin typeface="Arial"/>
              </a:defRPr>
            </a:pPr>
            <a:r>
              <a:t>42 / 43</a:t>
            </a:r>
          </a:p>
        </p:txBody>
      </p:sp>
      <p:sp>
        <p:nvSpPr>
          <p:cNvPr id="8" name="Rounded Rectangle 7"/>
          <p:cNvSpPr/>
          <p:nvPr/>
        </p:nvSpPr>
        <p:spPr>
          <a:xfrm>
            <a:off x="502920" y="2395728"/>
            <a:ext cx="548640" cy="310896"/>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427732"/>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087F8C"/>
                </a:solidFill>
                <a:latin typeface="Arial"/>
              </a:defRPr>
            </a:pPr>
            <a:r>
              <a:t>01</a:t>
            </a:r>
          </a:p>
        </p:txBody>
      </p:sp>
      <p:sp>
        <p:nvSpPr>
          <p:cNvPr id="10" name="TextBox 9"/>
          <p:cNvSpPr txBox="1"/>
          <p:nvPr/>
        </p:nvSpPr>
        <p:spPr>
          <a:xfrm>
            <a:off x="1298448" y="2249424"/>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087F8C"/>
                </a:solidFill>
                <a:latin typeface="Arial"/>
              </a:defRPr>
            </a:pPr>
            <a:r>
              <a:t>Split for a reason</a:t>
            </a:r>
          </a:p>
        </p:txBody>
      </p:sp>
      <p:sp>
        <p:nvSpPr>
          <p:cNvPr id="11" name="TextBox 10"/>
          <p:cNvSpPr txBox="1"/>
          <p:nvPr/>
        </p:nvSpPr>
        <p:spPr>
          <a:xfrm>
            <a:off x="5230368" y="2295144"/>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Prefill and decode have different bottlenecks.</a:t>
            </a:r>
          </a:p>
        </p:txBody>
      </p:sp>
      <p:sp>
        <p:nvSpPr>
          <p:cNvPr id="12" name="Rounded Rectangle 11"/>
          <p:cNvSpPr/>
          <p:nvPr/>
        </p:nvSpPr>
        <p:spPr>
          <a:xfrm>
            <a:off x="502920" y="3483863"/>
            <a:ext cx="548640" cy="310896"/>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3515868"/>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2563EB"/>
                </a:solidFill>
                <a:latin typeface="Arial"/>
              </a:defRPr>
            </a:pPr>
            <a:r>
              <a:t>02</a:t>
            </a:r>
          </a:p>
        </p:txBody>
      </p:sp>
      <p:sp>
        <p:nvSpPr>
          <p:cNvPr id="14" name="TextBox 13"/>
          <p:cNvSpPr txBox="1"/>
          <p:nvPr/>
        </p:nvSpPr>
        <p:spPr>
          <a:xfrm>
            <a:off x="1298448" y="3337560"/>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2563EB"/>
                </a:solidFill>
                <a:latin typeface="Arial"/>
              </a:defRPr>
            </a:pPr>
            <a:r>
              <a:t>Declare the topology</a:t>
            </a:r>
          </a:p>
        </p:txBody>
      </p:sp>
      <p:sp>
        <p:nvSpPr>
          <p:cNvPr id="15" name="TextBox 14"/>
          <p:cNvSpPr txBox="1"/>
          <p:nvPr/>
        </p:nvSpPr>
        <p:spPr>
          <a:xfrm>
            <a:off x="5230368" y="3383279"/>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KAITO composes the resources; llm-d routes the work.</a:t>
            </a:r>
          </a:p>
        </p:txBody>
      </p:sp>
      <p:sp>
        <p:nvSpPr>
          <p:cNvPr id="16" name="Rounded Rectangle 15"/>
          <p:cNvSpPr/>
          <p:nvPr/>
        </p:nvSpPr>
        <p:spPr>
          <a:xfrm>
            <a:off x="502920" y="4572000"/>
            <a:ext cx="548640" cy="310896"/>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604004"/>
            <a:ext cx="420623" cy="237744"/>
          </a:xfrm>
          <a:prstGeom prst="rect">
            <a:avLst/>
          </a:prstGeom>
          <a:noFill/>
        </p:spPr>
        <p:txBody>
          <a:bodyPr wrap="square" lIns="13716" rIns="13716" tIns="13716" bIns="13716">
            <a:spAutoFit/>
          </a:bodyPr>
          <a:lstStyle/>
          <a:p>
            <a:pPr algn="ctr">
              <a:spcBef>
                <a:spcPts val="0"/>
              </a:spcBef>
              <a:spcAft>
                <a:spcPts val="500"/>
              </a:spcAft>
              <a:defRPr sz="1000" b="1">
                <a:solidFill>
                  <a:srgbClr val="7354B8"/>
                </a:solidFill>
                <a:latin typeface="Arial"/>
              </a:defRPr>
            </a:pPr>
            <a:r>
              <a:t>03</a:t>
            </a:r>
          </a:p>
        </p:txBody>
      </p:sp>
      <p:sp>
        <p:nvSpPr>
          <p:cNvPr id="18" name="TextBox 17"/>
          <p:cNvSpPr txBox="1"/>
          <p:nvPr/>
        </p:nvSpPr>
        <p:spPr>
          <a:xfrm>
            <a:off x="1298448" y="4425696"/>
            <a:ext cx="3794760" cy="438912"/>
          </a:xfrm>
          <a:prstGeom prst="rect">
            <a:avLst/>
          </a:prstGeom>
          <a:noFill/>
        </p:spPr>
        <p:txBody>
          <a:bodyPr wrap="square" lIns="13716" rIns="13716" tIns="13716" bIns="13716">
            <a:spAutoFit/>
          </a:bodyPr>
          <a:lstStyle/>
          <a:p>
            <a:pPr>
              <a:spcBef>
                <a:spcPts val="0"/>
              </a:spcBef>
              <a:spcAft>
                <a:spcPts val="500"/>
              </a:spcAft>
              <a:defRPr sz="2400" b="1">
                <a:solidFill>
                  <a:srgbClr val="7354B8"/>
                </a:solidFill>
                <a:latin typeface="Arial"/>
              </a:defRPr>
            </a:pPr>
            <a:r>
              <a:t>Prove the tradeoff</a:t>
            </a:r>
          </a:p>
        </p:txBody>
      </p:sp>
      <p:sp>
        <p:nvSpPr>
          <p:cNvPr id="19" name="TextBox 18"/>
          <p:cNvSpPr txBox="1"/>
          <p:nvPr/>
        </p:nvSpPr>
        <p:spPr>
          <a:xfrm>
            <a:off x="5230368" y="4471416"/>
            <a:ext cx="6355080" cy="713232"/>
          </a:xfrm>
          <a:prstGeom prst="rect">
            <a:avLst/>
          </a:prstGeom>
          <a:noFill/>
        </p:spPr>
        <p:txBody>
          <a:bodyPr wrap="square" lIns="13716" rIns="13716" tIns="13716" bIns="13716">
            <a:spAutoFit/>
          </a:bodyPr>
          <a:lstStyle/>
          <a:p>
            <a:pPr>
              <a:spcBef>
                <a:spcPts val="0"/>
              </a:spcBef>
              <a:spcAft>
                <a:spcPts val="500"/>
              </a:spcAft>
              <a:defRPr sz="1900" b="0">
                <a:solidFill>
                  <a:srgbClr val="172941"/>
                </a:solidFill>
                <a:latin typeface="Arial"/>
              </a:defRPr>
            </a:pPr>
            <a:r>
              <a:t>Use role-aware metrics and measure against a baseline.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02039"/>
        </a:solidFill>
        <a:effectLst/>
      </p:bgPr>
    </p:bg>
    <p:spTree>
      <p:nvGrpSpPr>
        <p:cNvPr id="1" name=""/>
        <p:cNvGrpSpPr/>
        <p:nvPr/>
      </p:nvGrpSpPr>
      <p:grpSpPr/>
      <p:sp>
        <p:nvSpPr>
          <p:cNvPr id="2" name="TextBox 1"/>
          <p:cNvSpPr txBox="1"/>
          <p:nvPr/>
        </p:nvSpPr>
        <p:spPr>
          <a:xfrm>
            <a:off x="457200" y="246888"/>
            <a:ext cx="10789920" cy="256032"/>
          </a:xfrm>
          <a:prstGeom prst="rect">
            <a:avLst/>
          </a:prstGeom>
          <a:noFill/>
        </p:spPr>
        <p:txBody>
          <a:bodyPr wrap="square" lIns="13716" rIns="13716" tIns="13716" bIns="13716">
            <a:spAutoFit/>
          </a:bodyPr>
          <a:lstStyle/>
          <a:p>
            <a:pPr>
              <a:spcBef>
                <a:spcPts val="0"/>
              </a:spcBef>
              <a:spcAft>
                <a:spcPts val="500"/>
              </a:spcAft>
              <a:defRPr sz="1000" b="1">
                <a:solidFill>
                  <a:srgbClr val="AFC3DF"/>
                </a:solidFill>
                <a:latin typeface="Arial"/>
              </a:defRPr>
            </a:pPr>
            <a:r>
              <a:t>08 / Q&amp;A</a:t>
            </a:r>
          </a:p>
        </p:txBody>
      </p:sp>
      <p:sp>
        <p:nvSpPr>
          <p:cNvPr id="3" name="TextBox 2"/>
          <p:cNvSpPr txBox="1"/>
          <p:nvPr/>
        </p:nvSpPr>
        <p:spPr>
          <a:xfrm>
            <a:off x="457200" y="758952"/>
            <a:ext cx="11247120" cy="566928"/>
          </a:xfrm>
          <a:prstGeom prst="rect">
            <a:avLst/>
          </a:prstGeom>
          <a:noFill/>
        </p:spPr>
        <p:txBody>
          <a:bodyPr wrap="square" lIns="13716" rIns="13716" tIns="13716" bIns="13716">
            <a:spAutoFit/>
          </a:bodyPr>
          <a:lstStyle/>
          <a:p>
            <a:pPr>
              <a:spcBef>
                <a:spcPts val="0"/>
              </a:spcBef>
              <a:spcAft>
                <a:spcPts val="500"/>
              </a:spcAft>
              <a:defRPr sz="2900" b="1">
                <a:solidFill>
                  <a:srgbClr val="FFFFFF"/>
                </a:solidFill>
                <a:latin typeface="Arial"/>
              </a:defRPr>
            </a:pPr>
            <a:r>
              <a:t>Questions? Start with your workload.</a:t>
            </a:r>
          </a:p>
        </p:txBody>
      </p:sp>
      <p:cxnSp>
        <p:nvCxnSpPr>
          <p:cNvPr id="4" name="Connector 3"/>
          <p:cNvCxnSpPr/>
          <p:nvPr/>
        </p:nvCxnSpPr>
        <p:spPr>
          <a:xfrm>
            <a:off x="457200" y="6510528"/>
            <a:ext cx="11274552" cy="0"/>
          </a:xfrm>
          <a:prstGeom prst="line">
            <a:avLst/>
          </a:prstGeom>
          <a:ln w="8890">
            <a:solidFill>
              <a:srgbClr val="586A8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74536"/>
            <a:ext cx="10515600" cy="182880"/>
          </a:xfrm>
          <a:prstGeom prst="rect">
            <a:avLst/>
          </a:prstGeom>
          <a:noFill/>
        </p:spPr>
        <p:txBody>
          <a:bodyPr wrap="square" lIns="13716" rIns="13716" tIns="13716" bIns="13716">
            <a:spAutoFit/>
          </a:bodyPr>
          <a:lstStyle/>
          <a:p>
            <a:pPr>
              <a:spcBef>
                <a:spcPts val="0"/>
              </a:spcBef>
              <a:spcAft>
                <a:spcPts val="500"/>
              </a:spcAft>
              <a:defRPr sz="800" b="0">
                <a:solidFill>
                  <a:srgbClr val="AFC3DF"/>
                </a:solidFill>
                <a:latin typeface="Arial"/>
              </a:defRPr>
            </a:pPr>
            <a:r>
              <a:t>KUBECON + CLOUDNATIVECON NORTH AMERICA 2026  /  KAITO + llm-d</a:t>
            </a:r>
          </a:p>
        </p:txBody>
      </p:sp>
      <p:sp>
        <p:nvSpPr>
          <p:cNvPr id="6" name="TextBox 5"/>
          <p:cNvSpPr txBox="1"/>
          <p:nvPr/>
        </p:nvSpPr>
        <p:spPr>
          <a:xfrm>
            <a:off x="11091672" y="6556248"/>
            <a:ext cx="640080" cy="219456"/>
          </a:xfrm>
          <a:prstGeom prst="rect">
            <a:avLst/>
          </a:prstGeom>
          <a:noFill/>
        </p:spPr>
        <p:txBody>
          <a:bodyPr wrap="square" lIns="13716" rIns="13716" tIns="13716" bIns="13716">
            <a:spAutoFit/>
          </a:bodyPr>
          <a:lstStyle/>
          <a:p>
            <a:pPr algn="r">
              <a:spcBef>
                <a:spcPts val="0"/>
              </a:spcBef>
              <a:spcAft>
                <a:spcPts val="500"/>
              </a:spcAft>
              <a:defRPr sz="900" b="0">
                <a:solidFill>
                  <a:srgbClr val="AFC3DF"/>
                </a:solidFill>
                <a:latin typeface="Arial"/>
              </a:defRPr>
            </a:pPr>
            <a:r>
              <a:t>43 / 43</a:t>
            </a:r>
          </a:p>
        </p:txBody>
      </p:sp>
      <p:sp>
        <p:nvSpPr>
          <p:cNvPr id="7" name="TextBox 6"/>
          <p:cNvSpPr txBox="1"/>
          <p:nvPr/>
        </p:nvSpPr>
        <p:spPr>
          <a:xfrm>
            <a:off x="502920" y="1618488"/>
            <a:ext cx="10789920" cy="960120"/>
          </a:xfrm>
          <a:prstGeom prst="rect">
            <a:avLst/>
          </a:prstGeom>
          <a:noFill/>
        </p:spPr>
        <p:txBody>
          <a:bodyPr wrap="square" lIns="13716" rIns="13716" tIns="13716" bIns="13716">
            <a:spAutoFit/>
          </a:bodyPr>
          <a:lstStyle/>
          <a:p>
            <a:pPr>
              <a:spcBef>
                <a:spcPts val="0"/>
              </a:spcBef>
              <a:spcAft>
                <a:spcPts val="500"/>
              </a:spcAft>
              <a:defRPr sz="2600" b="1">
                <a:solidFill>
                  <a:srgbClr val="FFFFFF"/>
                </a:solidFill>
                <a:latin typeface="Arial"/>
              </a:defRPr>
            </a:pPr>
            <a:r>
              <a:t>Which phase limits you today—</a:t>
            </a:r>
          </a:p>
          <a:p>
            <a:pPr>
              <a:spcBef>
                <a:spcPts val="0"/>
              </a:spcBef>
              <a:spcAft>
                <a:spcPts val="500"/>
              </a:spcAft>
              <a:defRPr sz="2600" b="1">
                <a:solidFill>
                  <a:srgbClr val="FFFFFF"/>
                </a:solidFill>
                <a:latin typeface="Arial"/>
              </a:defRPr>
            </a:pPr>
            <a:r>
              <a:t>prompt processing, token delivery, or the KV path?</a:t>
            </a:r>
          </a:p>
        </p:txBody>
      </p:sp>
      <p:sp>
        <p:nvSpPr>
          <p:cNvPr id="8" name="Rounded Rectangle 7"/>
          <p:cNvSpPr/>
          <p:nvPr/>
        </p:nvSpPr>
        <p:spPr>
          <a:xfrm>
            <a:off x="502920"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3090672"/>
            <a:ext cx="50292" cy="109728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087F8C"/>
                </a:solidFill>
                <a:latin typeface="Arial"/>
              </a:defRPr>
            </a:pPr>
            <a:r>
              <a:t>Workload</a:t>
            </a:r>
          </a:p>
        </p:txBody>
      </p:sp>
      <p:sp>
        <p:nvSpPr>
          <p:cNvPr id="11" name="TextBox 10"/>
          <p:cNvSpPr txBox="1"/>
          <p:nvPr/>
        </p:nvSpPr>
        <p:spPr>
          <a:xfrm>
            <a:off x="649224"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Prompt + output lengths</a:t>
            </a:r>
          </a:p>
        </p:txBody>
      </p:sp>
      <p:sp>
        <p:nvSpPr>
          <p:cNvPr id="12" name="Rounded Rectangle 11"/>
          <p:cNvSpPr/>
          <p:nvPr/>
        </p:nvSpPr>
        <p:spPr>
          <a:xfrm>
            <a:off x="4288536"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8536" y="3090672"/>
            <a:ext cx="50292" cy="109728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5696"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2563EB"/>
                </a:solidFill>
                <a:latin typeface="Arial"/>
              </a:defRPr>
            </a:pPr>
            <a:r>
              <a:t>Infrastructure</a:t>
            </a:r>
          </a:p>
        </p:txBody>
      </p:sp>
      <p:sp>
        <p:nvSpPr>
          <p:cNvPr id="15" name="TextBox 14"/>
          <p:cNvSpPr txBox="1"/>
          <p:nvPr/>
        </p:nvSpPr>
        <p:spPr>
          <a:xfrm>
            <a:off x="4434840"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GPU topology + fabric</a:t>
            </a:r>
          </a:p>
        </p:txBody>
      </p:sp>
      <p:sp>
        <p:nvSpPr>
          <p:cNvPr id="16" name="Rounded Rectangle 15"/>
          <p:cNvSpPr/>
          <p:nvPr/>
        </p:nvSpPr>
        <p:spPr>
          <a:xfrm>
            <a:off x="8074152" y="2999232"/>
            <a:ext cx="3611880" cy="12801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4152" y="3090672"/>
            <a:ext cx="50292" cy="109728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1312" y="3118103"/>
            <a:ext cx="3337560" cy="393192"/>
          </a:xfrm>
          <a:prstGeom prst="rect">
            <a:avLst/>
          </a:prstGeom>
          <a:noFill/>
        </p:spPr>
        <p:txBody>
          <a:bodyPr wrap="square" lIns="13716" rIns="13716" tIns="13716" bIns="13716">
            <a:spAutoFit/>
          </a:bodyPr>
          <a:lstStyle/>
          <a:p>
            <a:pPr algn="ctr">
              <a:spcBef>
                <a:spcPts val="0"/>
              </a:spcBef>
              <a:spcAft>
                <a:spcPts val="500"/>
              </a:spcAft>
              <a:defRPr sz="2200" b="1">
                <a:solidFill>
                  <a:srgbClr val="7354B8"/>
                </a:solidFill>
                <a:latin typeface="Arial"/>
              </a:defRPr>
            </a:pPr>
            <a:r>
              <a:t>Operations</a:t>
            </a:r>
          </a:p>
        </p:txBody>
      </p:sp>
      <p:sp>
        <p:nvSpPr>
          <p:cNvPr id="19" name="TextBox 18"/>
          <p:cNvSpPr txBox="1"/>
          <p:nvPr/>
        </p:nvSpPr>
        <p:spPr>
          <a:xfrm>
            <a:off x="8220456" y="3557016"/>
            <a:ext cx="3319272" cy="630936"/>
          </a:xfrm>
          <a:prstGeom prst="rect">
            <a:avLst/>
          </a:prstGeom>
          <a:noFill/>
        </p:spPr>
        <p:txBody>
          <a:bodyPr wrap="square" lIns="13716" rIns="13716" tIns="13716" bIns="13716">
            <a:spAutoFit/>
          </a:bodyPr>
          <a:lstStyle/>
          <a:p>
            <a:pPr algn="ctr">
              <a:spcBef>
                <a:spcPts val="0"/>
              </a:spcBef>
              <a:spcAft>
                <a:spcPts val="500"/>
              </a:spcAft>
              <a:defRPr sz="1400" b="0">
                <a:solidFill>
                  <a:srgbClr val="586A80"/>
                </a:solidFill>
                <a:latin typeface="Arial"/>
              </a:defRPr>
            </a:pPr>
            <a:r>
              <a:t>SLO + scaling signals</a:t>
            </a:r>
          </a:p>
        </p:txBody>
      </p:sp>
      <p:sp>
        <p:nvSpPr>
          <p:cNvPr id="20" name="TextBox 19"/>
          <p:cNvSpPr txBox="1"/>
          <p:nvPr/>
        </p:nvSpPr>
        <p:spPr>
          <a:xfrm>
            <a:off x="502920" y="4809744"/>
            <a:ext cx="11155680" cy="329184"/>
          </a:xfrm>
          <a:prstGeom prst="rect">
            <a:avLst/>
          </a:prstGeom>
          <a:noFill/>
        </p:spPr>
        <p:txBody>
          <a:bodyPr wrap="square" lIns="13716" rIns="13716" tIns="13716" bIns="13716">
            <a:spAutoFit/>
          </a:bodyPr>
          <a:lstStyle/>
          <a:p>
            <a:pPr>
              <a:spcBef>
                <a:spcPts val="0"/>
              </a:spcBef>
              <a:spcAft>
                <a:spcPts val="500"/>
              </a:spcAft>
              <a:defRPr sz="1800" b="1">
                <a:solidFill>
                  <a:srgbClr val="AFC3DF"/>
                </a:solidFill>
                <a:latin typeface="Arial"/>
              </a:defRPr>
            </a:pPr>
            <a:r>
              <a:t>Continue with the implementation guides</a:t>
            </a:r>
          </a:p>
        </p:txBody>
      </p:sp>
      <p:sp>
        <p:nvSpPr>
          <p:cNvPr id="21" name="TextBox 20"/>
          <p:cNvSpPr txBox="1"/>
          <p:nvPr/>
        </p:nvSpPr>
        <p:spPr>
          <a:xfrm>
            <a:off x="502920" y="536752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2"/>
              </a:rPr>
              <a:t>KAITO: prefill/decode disaggregation</a:t>
            </a:r>
          </a:p>
        </p:txBody>
      </p:sp>
      <p:sp>
        <p:nvSpPr>
          <p:cNvPr id="22" name="TextBox 21"/>
          <p:cNvSpPr txBox="1"/>
          <p:nvPr/>
        </p:nvSpPr>
        <p:spPr>
          <a:xfrm>
            <a:off x="502920" y="5779008"/>
            <a:ext cx="10972800" cy="310896"/>
          </a:xfrm>
          <a:prstGeom prst="rect">
            <a:avLst/>
          </a:prstGeom>
          <a:noFill/>
        </p:spPr>
        <p:txBody>
          <a:bodyPr wrap="square" lIns="13716" rIns="13716" tIns="13716" bIns="13716">
            <a:spAutoFit/>
          </a:bodyPr>
          <a:lstStyle/>
          <a:p>
            <a:pPr>
              <a:spcBef>
                <a:spcPts val="0"/>
              </a:spcBef>
              <a:spcAft>
                <a:spcPts val="500"/>
              </a:spcAft>
              <a:defRPr sz="1500" b="0">
                <a:solidFill>
                  <a:srgbClr val="FFFFFF"/>
                </a:solidFill>
                <a:latin typeface="Arial"/>
              </a:defRPr>
            </a:pPr>
            <a:r>
              <a:rPr>
                <a:hlinkClick r:id="rId3"/>
              </a:rPr>
              <a:t>KAITO: KEDA autoscaling for InferenceSet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Prefill Here, Decode There</dc:title>
  <dc:subject>Kubernetes-native LLM inference disaggregation with KAITO and llm-d</dc:subject>
  <dc:creator>Andy Zhang</dc:creator>
  <cp:keywords>KubeCon, KAITO, llm-d, prefill, decode, editable diagrams</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