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868680"/>
            <a:ext cx="6766560" cy="114300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8" y="914400"/>
            <a:ext cx="6675120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ptos Display"/>
              </a:rPr>
              <a:t>Prefill Here, Decode There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68096" y="1874519"/>
            <a:ext cx="7680960" cy="8229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100" b="0">
                <a:solidFill>
                  <a:srgbClr val="C9D6FF"/>
                </a:solidFill>
                <a:latin typeface="Aptos"/>
              </a:rPr>
              <a:t>Kubernetes-Native LLM Inference Disaggregation with KAITO and llm-d</a:t>
            </a:r>
          </a:p>
        </p:txBody>
      </p:sp>
      <p:sp>
        <p:nvSpPr>
          <p:cNvPr id="6" name="Rectangle 5"/>
          <p:cNvSpPr/>
          <p:nvPr/>
        </p:nvSpPr>
        <p:spPr>
          <a:xfrm>
            <a:off x="786384" y="2907792"/>
            <a:ext cx="4297680" cy="17373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Aptos"/>
              </a:rPr>
              <a:t>KubeCon + CloudNativeCon North America 2026
KAITO · llm-d · GWIE · KEDA
Generated directly from the markdown deck outline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12280" y="1417320"/>
            <a:ext cx="4480560" cy="3291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086600" y="1737360"/>
            <a:ext cx="384048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600" b="1">
                <a:solidFill>
                  <a:srgbClr val="2563EB"/>
                </a:solidFill>
                <a:latin typeface="Aptos"/>
              </a:rPr>
              <a:t>Serving topology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2331720"/>
            <a:ext cx="3383280" cy="640080"/>
          </a:xfrm>
          <a:prstGeom prst="roundRect">
            <a:avLst/>
          </a:prstGeom>
          <a:solidFill>
            <a:srgbClr val="FFEDD5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2400" b="1">
                <a:solidFill>
                  <a:srgbClr val="0F172A"/>
                </a:solidFill>
                <a:latin typeface="Aptos"/>
              </a:rPr>
              <a:t>prefill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0" y="3246120"/>
            <a:ext cx="3383280" cy="640080"/>
          </a:xfrm>
          <a:prstGeom prst="roundRect">
            <a:avLst/>
          </a:prstGeom>
          <a:solidFill>
            <a:srgbClr val="EDE9FE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2400" b="1">
                <a:solidFill>
                  <a:srgbClr val="0F172A"/>
                </a:solidFill>
                <a:latin typeface="Aptos"/>
              </a:rPr>
              <a:t>KV handoff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0" y="4160520"/>
            <a:ext cx="3383280" cy="64008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2400" b="1">
                <a:solidFill>
                  <a:srgbClr val="0F172A"/>
                </a:solidFill>
                <a:latin typeface="Aptos"/>
              </a:rPr>
              <a:t>decode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006840" y="2971800"/>
            <a:ext cx="0" cy="274320"/>
          </a:xfrm>
          <a:prstGeom prst="line">
            <a:avLst/>
          </a:prstGeom>
          <a:ln w="381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006840" y="3886200"/>
            <a:ext cx="0" cy="274320"/>
          </a:xfrm>
          <a:prstGeom prst="line">
            <a:avLst/>
          </a:prstGeom>
          <a:ln w="381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The core question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234440"/>
            <a:ext cx="10698480" cy="1143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2800" b="1">
                <a:solidFill>
                  <a:srgbClr val="0F172A"/>
                </a:solidFill>
                <a:latin typeface="Aptos"/>
              </a:rPr>
              <a:t>Why does one LLM request turn into two very different systems problems?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0120" y="2743200"/>
            <a:ext cx="4389120" cy="1920240"/>
          </a:xfrm>
          <a:prstGeom prst="roundRect">
            <a:avLst/>
          </a:prstGeom>
          <a:solidFill>
            <a:srgbClr val="FFEDD5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1124712" y="2834640"/>
            <a:ext cx="405993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Prefill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273552"/>
            <a:ext cx="4023360" cy="1261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compute-heavy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TTFT-sensitive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prompt bursts hurt first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12280" y="2743200"/>
            <a:ext cx="4389120" cy="192024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6976872" y="2834640"/>
            <a:ext cx="405993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Decode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95160" y="3273552"/>
            <a:ext cx="4023360" cy="1261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memory / KV heavy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throughput-sensitive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generation dominates later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40680" y="3703320"/>
            <a:ext cx="1280160" cy="0"/>
          </a:xfrm>
          <a:prstGeom prst="line">
            <a:avLst/>
          </a:prstGeom>
          <a:ln w="381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One request, two phases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965960"/>
            <a:ext cx="10241280" cy="1920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34440" y="2395728"/>
            <a:ext cx="3657600" cy="822960"/>
          </a:xfrm>
          <a:prstGeom prst="roundRect">
            <a:avLst/>
          </a:prstGeom>
          <a:solidFill>
            <a:srgbClr val="FFEDD5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3000" b="1">
                <a:solidFill>
                  <a:srgbClr val="0F172A"/>
                </a:solidFill>
                <a:latin typeface="Aptos"/>
              </a:rPr>
              <a:t>Prefill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2395728"/>
            <a:ext cx="3657600" cy="82296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3000" b="1">
                <a:solidFill>
                  <a:srgbClr val="0F172A"/>
                </a:solidFill>
                <a:latin typeface="Aptos"/>
              </a:rPr>
              <a:t>Decode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892040" y="2807208"/>
            <a:ext cx="2377440" cy="0"/>
          </a:xfrm>
          <a:prstGeom prst="line">
            <a:avLst/>
          </a:prstGeom>
          <a:ln w="508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1874519" y="4343400"/>
            <a:ext cx="8412480" cy="7315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2400" b="1">
                <a:solidFill>
                  <a:srgbClr val="334155"/>
                </a:solidFill>
                <a:latin typeface="Aptos"/>
              </a:rPr>
              <a:t>One request. Two phases. Two very different bottlenecks.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Prefill profile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compute-bound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latency-sensitive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prompt-heavy bursts hurt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Make it feel operational, not academic.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Decode profile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memory-bandwidth-bound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KV-cache-sensitive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throughput-oriented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Contrast directly with prefill.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Why shared GPU pools are a compromise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one pool, two conflicting optimization goals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This is the first “pain” slide.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What goes wrong in practice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overprovisioning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unstable TTFT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poor utilization under mixed traffic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Make the problem concrete for platform teams.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What P/D disaggregation changes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separate prefill and decode pools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independent scaling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KV handoff becomes required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Introduce both the benefit and the cost.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Why P/D is still hard on Kubernetes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topology-aware routing and endpoint selection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KV transfer protocol and data path validation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decode-side sidecar lifecycle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targetPort / env / label contracts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role-specific autoscaling and startup ordering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Emphasize orchestration complexity.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Existing approaches in the ecosystem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NVIDIA Dynamo: powerful, but tightly coupled to the NVIDIA stack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llm-d standalone: Kubernetes-native, but still operationally manual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need for a declarative Kubernetes abstraction layer on top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Keep this balanced and brief.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What KAITO 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234440"/>
            <a:ext cx="10789920" cy="868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2400" b="1">
                <a:solidFill>
                  <a:srgbClr val="0F172A"/>
                </a:solidFill>
                <a:latin typeface="Aptos"/>
              </a:rPr>
              <a:t>KAITO is the Kubernetes control-plane layer that takes you from model serving to distributed inference.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743200"/>
            <a:ext cx="2514600" cy="164592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2200" b="1">
                <a:solidFill>
                  <a:srgbClr val="0F172A"/>
                </a:solidFill>
                <a:latin typeface="Aptos"/>
              </a:rPr>
              <a:t>Workspace
run one model workload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57016" y="2743200"/>
            <a:ext cx="2514600" cy="1645920"/>
          </a:xfrm>
          <a:prstGeom prst="roundRect">
            <a:avLst/>
          </a:prstGeom>
          <a:solidFill>
            <a:srgbClr val="DCFCE7"/>
          </a:solidFill>
          <a:ln w="1587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2200" b="1">
                <a:solidFill>
                  <a:srgbClr val="0F172A"/>
                </a:solidFill>
                <a:latin typeface="Aptos"/>
              </a:rPr>
              <a:t>InferenceSet
replicas + autoscaling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264408" y="3566160"/>
            <a:ext cx="292608" cy="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364224" y="2743200"/>
            <a:ext cx="2514600" cy="1645920"/>
          </a:xfrm>
          <a:prstGeom prst="roundRect">
            <a:avLst/>
          </a:prstGeom>
          <a:solidFill>
            <a:srgbClr val="FFEDD5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2200" b="1">
                <a:solidFill>
                  <a:srgbClr val="0F172A"/>
                </a:solidFill>
                <a:latin typeface="Aptos"/>
              </a:rPr>
              <a:t>InferencePool
inference-aware routing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71616" y="3566160"/>
            <a:ext cx="292608" cy="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171432" y="2743200"/>
            <a:ext cx="2514600" cy="1645920"/>
          </a:xfrm>
          <a:prstGeom prst="roundRect">
            <a:avLst/>
          </a:prstGeom>
          <a:solidFill>
            <a:srgbClr val="EDE9FE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MultiRoleInference
distributed topology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878824" y="3566160"/>
            <a:ext cx="292608" cy="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1143000" y="4892040"/>
            <a:ext cx="9966960" cy="7315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800" b="1">
                <a:solidFill>
                  <a:srgbClr val="334155"/>
                </a:solidFill>
                <a:latin typeface="Aptos"/>
              </a:rPr>
              <a:t>Same platform. Higher-level objects as the serving problem gets harder.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KAITO’s object model in one view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371600"/>
            <a:ext cx="2514600" cy="4297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941832" y="1463040"/>
            <a:ext cx="218541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Workspace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901952"/>
            <a:ext cx="2148840" cy="3639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Run a model workload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Serving or tuning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Basic building block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965960"/>
            <a:ext cx="2514600" cy="3703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3593592" y="2057400"/>
            <a:ext cx="218541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InferenceSet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2496312"/>
            <a:ext cx="2148840" cy="30449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Replica management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Autoscaling boundary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Scale-out for inference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60" y="2560320"/>
            <a:ext cx="2514600" cy="31089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3" name="Rectangle 12"/>
          <p:cNvSpPr/>
          <p:nvPr/>
        </p:nvSpPr>
        <p:spPr>
          <a:xfrm>
            <a:off x="6245352" y="2651760"/>
            <a:ext cx="218541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InferencePool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3090672"/>
            <a:ext cx="2148840" cy="2450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Inference-aware routing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Gateway-facing backend set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Connects serving to GWIE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32520" y="3154680"/>
            <a:ext cx="2514600" cy="25146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6" name="Rectangle 15"/>
          <p:cNvSpPr/>
          <p:nvPr/>
        </p:nvSpPr>
        <p:spPr>
          <a:xfrm>
            <a:off x="8897112" y="3246120"/>
            <a:ext cx="218541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MultiRoleInference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3685032"/>
            <a:ext cx="2148840" cy="1856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One logical service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Role-specific backends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P/D and richer topology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291840" y="3429000"/>
            <a:ext cx="137160" cy="320039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943600" y="3749039"/>
            <a:ext cx="137160" cy="320041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595360" y="4069080"/>
            <a:ext cx="137160" cy="32004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KAITO starts with serving: `Workspace`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the basic workload entrypoint for model serving and tuning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good mental model: one model workload, one Kubernetes object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the place where KAITO begins before scaling and routing enter the picture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Keep this simple.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KAITO scales serving: `InferenceSet` + `InferencePool`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InferenceSet adds replicas and autoscaling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InferencePool adds inference-aware routing through GWIE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together, they move KAITO from “run a model” to “operate a serving system”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This is where KAITO starts to look like a serving platform, not just a deployment helper.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KAITO extends naturally to distributed inference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MultiRoleInference is the object for richer topologies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one logical service can expand into prefill and decode backends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the same Kubernetes object model continues even when the topology becomes distributed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This is the transition slide from “what KAITO is” to “why KAITO matters for P/D.”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Why KAITO matters here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turns topology into declarative APIs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gives users a continuous path from Workspace to InferenceSet to InferencePool to MultiRoleInference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synthesizes lower-level objects automatically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keeps the same platform model even as the topology becomes distributed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Explain the operator value.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What the llm-d Router brings to the stack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EPP for Gateway API Inference Extension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model-aware and role-aware endpoint selection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KV-cache-aware and P/D-aware plugin chain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future advanced scheduling surface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Explain that Gateway API Inference Extension gives the abstraction pattern, and the llm-d Router provides the advanced EPP implementation KAITO uses.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KAITO + llm-d Router + GWIE: division of labor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2926080" cy="219456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1920240"/>
            <a:ext cx="259689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KAITO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59152"/>
            <a:ext cx="2560320" cy="1536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declarative abstraction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orchestration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object model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7720" y="1828800"/>
            <a:ext cx="2926080" cy="2194560"/>
          </a:xfrm>
          <a:prstGeom prst="roundRect">
            <a:avLst/>
          </a:prstGeom>
          <a:solidFill>
            <a:srgbClr val="DCFCE7"/>
          </a:solidFill>
          <a:ln w="1587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4782312" y="1920240"/>
            <a:ext cx="259689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GWIE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2359152"/>
            <a:ext cx="2560320" cy="1536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inference routing contract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InferencePool model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Kubernetes-native routing pattern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1828800"/>
            <a:ext cx="2926080" cy="2194560"/>
          </a:xfrm>
          <a:prstGeom prst="roundRect">
            <a:avLst/>
          </a:prstGeom>
          <a:solidFill>
            <a:srgbClr val="FFEDD5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3" name="Rectangle 12"/>
          <p:cNvSpPr/>
          <p:nvPr/>
        </p:nvSpPr>
        <p:spPr>
          <a:xfrm>
            <a:off x="8577072" y="1920240"/>
            <a:ext cx="259689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llm-d Router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2359152"/>
            <a:ext cx="2560320" cy="1536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EPP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routing + scheduling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KV/P-D-aware plugins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749039" y="2971800"/>
            <a:ext cx="822961" cy="0"/>
          </a:xfrm>
          <a:prstGeom prst="line">
            <a:avLst/>
          </a:prstGeom>
          <a:ln w="381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543800" y="2971800"/>
            <a:ext cx="822960" cy="0"/>
          </a:xfrm>
          <a:prstGeom prst="line">
            <a:avLst/>
          </a:prstGeom>
          <a:ln w="381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End-to-end architecture diagram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43200"/>
            <a:ext cx="109728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Client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83080" y="2743200"/>
            <a:ext cx="137160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Gateway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2468880"/>
            <a:ext cx="2011680" cy="1280160"/>
          </a:xfrm>
          <a:prstGeom prst="roundRect">
            <a:avLst/>
          </a:prstGeom>
          <a:solidFill>
            <a:srgbClr val="DCFCE7"/>
          </a:solidFill>
          <a:ln w="1587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900" b="1">
                <a:solidFill>
                  <a:srgbClr val="0F172A"/>
                </a:solidFill>
                <a:latin typeface="Aptos"/>
              </a:rPr>
              <a:t>InferencePool
+ llm-d EPP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97880" y="1600200"/>
            <a:ext cx="2377440" cy="1234440"/>
          </a:xfrm>
          <a:prstGeom prst="roundRect">
            <a:avLst/>
          </a:prstGeom>
          <a:solidFill>
            <a:srgbClr val="FFEDD5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900" b="1">
                <a:solidFill>
                  <a:srgbClr val="0F172A"/>
                </a:solidFill>
                <a:latin typeface="Aptos"/>
              </a:rPr>
              <a:t>Prefill
child InferenceSet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97880" y="3886200"/>
            <a:ext cx="2377440" cy="123444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900" b="1">
                <a:solidFill>
                  <a:srgbClr val="0F172A"/>
                </a:solidFill>
                <a:latin typeface="Aptos"/>
              </a:rPr>
              <a:t>Decode
child InferenceSet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15400" y="2468880"/>
            <a:ext cx="2377440" cy="12801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KV handoff
NIXL + sidecar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600200" y="3108960"/>
            <a:ext cx="182880" cy="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154680" y="3108960"/>
            <a:ext cx="274320" cy="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5440680" y="2240280"/>
            <a:ext cx="457200" cy="594360"/>
          </a:xfrm>
          <a:prstGeom prst="line">
            <a:avLst/>
          </a:prstGeom>
          <a:ln w="2540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440680" y="3383280"/>
            <a:ext cx="457200" cy="114300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275320" y="2240280"/>
            <a:ext cx="640080" cy="548640"/>
          </a:xfrm>
          <a:prstGeom prst="line">
            <a:avLst/>
          </a:prstGeom>
          <a:ln w="254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8275320" y="3429000"/>
            <a:ext cx="640080" cy="1097280"/>
          </a:xfrm>
          <a:prstGeom prst="line">
            <a:avLst/>
          </a:prstGeom>
          <a:ln w="254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383280" y="5440680"/>
            <a:ext cx="548640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600" b="1">
                <a:solidFill>
                  <a:srgbClr val="334155"/>
                </a:solidFill>
                <a:latin typeface="Aptos"/>
              </a:rPr>
              <a:t>Gateway routes requests; KV data moves directly between pods.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What MultiRoleInference declares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one logical inference service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two roles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role-specific scaling and runtime behavior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a single user-facing object for the whole P/D topology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Show the API intent before the generated objects.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20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What MultiRoleInference generates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child InferenceSet for prefill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child InferenceSet for decode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decode-side llm-d routing sidecar injection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one InferencePool with correct targetPort wiring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llm-d Router EPP deployment and plugin chain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per-role autoscaling hooks via child InferenceSets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Show what KAITO creates for the user.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21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Why the decode-side sidecar exists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stable client-facing entrypoint on port 5000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internal prefill coordination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local decode remains stream owner on vLLM port 5001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This is a good concrete implementation slide.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22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Request flow, part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request enters gateway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gateway targets the InferencePool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llm-d Router EPP decides whether prefill work is needed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decode endpoint is selected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Animate this if possible.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23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Request flow, part 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decode-side sidecar coordinates prefill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prefill builds KV cache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KV moves pod-to-pod via NIXL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local decode streams output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Keep it stepwise, not all at once.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24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Why KV transfer matters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P/D is only useful if KV movement is fast and reliable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validate the transfer path and side-channel setup early in production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This is a good operational-truth slide.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25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Why CPU-era autoscaling breaks for LLM inference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234440"/>
            <a:ext cx="10972800" cy="822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2400" b="1">
                <a:solidFill>
                  <a:srgbClr val="0F172A"/>
                </a:solidFill>
                <a:latin typeface="Aptos"/>
              </a:rPr>
              <a:t>Traditional CPU-based autoscaling proxies do not capture GPU-bound inference pain.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86000"/>
            <a:ext cx="5120640" cy="28803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941832" y="2377440"/>
            <a:ext cx="479145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Classic web-service HPA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816352"/>
            <a:ext cx="4754880" cy="2221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CPU utilization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memory utilization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request-per-pod as a rough proxy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works for stateless request/response services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2286000"/>
            <a:ext cx="5120640" cy="28803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6473952" y="2377440"/>
            <a:ext cx="479145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LLM inference autoscaling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816352"/>
            <a:ext cx="4754880" cy="2221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waiting requests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token generation pressure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active KV memory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prompt / generation mix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CPU can look fine while TTFT is already bad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26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Why KEDA fits modern inference workloads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2331720"/>
            <a:ext cx="3291840" cy="109728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Aptos"/>
              </a:rPr>
              <a:t>KEDA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1417320"/>
            <a:ext cx="2331720" cy="868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external metrics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4160520"/>
            <a:ext cx="2331720" cy="868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cron triggers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06840" y="1417320"/>
            <a:ext cx="2331720" cy="868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scale decisions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06840" y="4160520"/>
            <a:ext cx="2331720" cy="868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inference workloads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00400" y="1874519"/>
            <a:ext cx="1234440" cy="822961"/>
          </a:xfrm>
          <a:prstGeom prst="line">
            <a:avLst/>
          </a:prstGeom>
          <a:ln w="3175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3200400" y="3063240"/>
            <a:ext cx="1234440" cy="1554480"/>
          </a:xfrm>
          <a:prstGeom prst="line">
            <a:avLst/>
          </a:prstGeom>
          <a:ln w="3175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7726679" y="1874519"/>
            <a:ext cx="1280161" cy="822961"/>
          </a:xfrm>
          <a:prstGeom prst="line">
            <a:avLst/>
          </a:prstGeom>
          <a:ln w="3175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726679" y="3063240"/>
            <a:ext cx="1280161" cy="1554480"/>
          </a:xfrm>
          <a:prstGeom prst="line">
            <a:avLst/>
          </a:prstGeom>
          <a:ln w="3175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1828800" y="5486400"/>
            <a:ext cx="859536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600" b="1">
                <a:solidFill>
                  <a:srgbClr val="334155"/>
                </a:solidFill>
                <a:latin typeface="Aptos"/>
              </a:rPr>
              <a:t>KEDA shifts autoscaling from generic resource proxies to workload-aware external signals.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27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How the KAITO KEDA scaler works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68880"/>
            <a:ext cx="1874519" cy="123444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Aptos"/>
              </a:rPr>
              <a:t>InferenceSet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377439" y="3090672"/>
            <a:ext cx="365761" cy="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743200" y="2468880"/>
            <a:ext cx="1874519" cy="12344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Aptos"/>
              </a:rPr>
              <a:t>annotations
scaledobject.kaito.sh/*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617719" y="3090672"/>
            <a:ext cx="365761" cy="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983480" y="2468880"/>
            <a:ext cx="1874519" cy="1234440"/>
          </a:xfrm>
          <a:prstGeom prst="roundRect">
            <a:avLst/>
          </a:prstGeom>
          <a:solidFill>
            <a:srgbClr val="DCFCE7"/>
          </a:solidFill>
          <a:ln w="1587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Aptos"/>
              </a:rPr>
              <a:t>KEDA KAITO
scaler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7999" y="3090672"/>
            <a:ext cx="365761" cy="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223760" y="2468880"/>
            <a:ext cx="1874519" cy="1234440"/>
          </a:xfrm>
          <a:prstGeom prst="roundRect">
            <a:avLst/>
          </a:prstGeom>
          <a:solidFill>
            <a:srgbClr val="FFEDD5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Aptos"/>
              </a:rPr>
              <a:t>ScaledObject
+ HPA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098279" y="3090672"/>
            <a:ext cx="365761" cy="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464040" y="2468880"/>
            <a:ext cx="1874519" cy="12344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Aptos"/>
              </a:rPr>
              <a:t>replicas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4434840"/>
            <a:ext cx="10241280" cy="7315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700" b="1">
                <a:solidFill>
                  <a:srgbClr val="334155"/>
                </a:solidFill>
                <a:latin typeface="Aptos"/>
              </a:rPr>
              <a:t>Directly scrapes inference metrics from vLLM pods — no separate Prometheus dependency required for this flow.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28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Independent autoscaling by role in P/D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691640"/>
            <a:ext cx="4846320" cy="3611880"/>
          </a:xfrm>
          <a:prstGeom prst="roundRect">
            <a:avLst/>
          </a:prstGeom>
          <a:solidFill>
            <a:srgbClr val="FFEDD5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1783080"/>
            <a:ext cx="451713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Prefill autoscaling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221992"/>
            <a:ext cx="4480560" cy="2953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Scale on prompt pressure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Example signal: vllm:num_requests_waiting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Bias toward faster scale-up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Goal: protect TTFT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1691640"/>
            <a:ext cx="4846320" cy="361188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6656832" y="1783080"/>
            <a:ext cx="451713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Decode autoscaling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221992"/>
            <a:ext cx="4480560" cy="2953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Scale on sustained generation pressure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Examples: KV/cache pressure, decode saturation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Bias toward throughput stability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Goal: protect sustained token generation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17320" y="5623560"/>
            <a:ext cx="94183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700" b="1">
                <a:solidFill>
                  <a:srgbClr val="334155"/>
                </a:solidFill>
                <a:latin typeface="Aptos"/>
              </a:rPr>
              <a:t>Once prefill and decode are separate backends, they should scale like separate backends.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29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Why this abstraction helps operators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fewer manually coordinated objects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fewer implicit contracts around ports / labels / env / targetPort wiring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one user-facing MRI object instead of hand-wired child resources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easier to reason about desired topology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Bring the value back to the platform team audience.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30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Evaluation results: TTFT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colocated vs disaggregated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explain which workloads gain most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One chart, one interpretation.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31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Evaluation results: throughput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compare throughput under mixed load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Keep narration high signal.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32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Evaluation results: utilization / efficiency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show GPU utilization or capacity efficiency under asymmetric traffic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Reinforce the “why separate pools” message.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33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When to use P/D, and when not to</a:t>
            </a:r>
          </a:p>
        </p:txBody>
      </p:sp>
      <p:sp>
        <p:nvSpPr>
          <p:cNvPr id="6" name="Rectangle 5"/>
          <p:cNvSpPr/>
          <p:nvPr/>
        </p:nvSpPr>
        <p:spPr>
          <a:xfrm>
            <a:off x="3703320" y="1005840"/>
            <a:ext cx="4754880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KV transfer cost / fabric quality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146304" y="2743200"/>
            <a:ext cx="914400" cy="1463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500" b="1">
                <a:solidFill>
                  <a:srgbClr val="0F172A"/>
                </a:solidFill>
                <a:latin typeface="Aptos"/>
              </a:rPr>
              <a:t>Prefill / decode difference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691640"/>
            <a:ext cx="4754880" cy="1828800"/>
          </a:xfrm>
          <a:prstGeom prst="roundRect">
            <a:avLst/>
          </a:prstGeom>
          <a:solidFill>
            <a:srgbClr val="FEE2E2"/>
          </a:solidFill>
          <a:ln w="15875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1307592" y="1783080"/>
            <a:ext cx="442569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Stay aggregated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221992"/>
            <a:ext cx="4389120" cy="1170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Small models, short prompts, low concurrency, simple traffic.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691640"/>
            <a:ext cx="4754880" cy="18288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6336792" y="1783080"/>
            <a:ext cx="442569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Usually stay aggregated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2221992"/>
            <a:ext cx="4389120" cy="1170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You can try P/D, but the operational gain is often limited.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840480"/>
            <a:ext cx="4754880" cy="1828800"/>
          </a:xfrm>
          <a:prstGeom prst="roundRect">
            <a:avLst/>
          </a:prstGeom>
          <a:solidFill>
            <a:srgbClr val="FFEDD5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1307592" y="3931920"/>
            <a:ext cx="442569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Maybe later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370832"/>
            <a:ext cx="4389120" cy="1170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There may be value, but a weak transfer path will erase it.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840480"/>
            <a:ext cx="4754880" cy="1828800"/>
          </a:xfrm>
          <a:prstGeom prst="roundRect">
            <a:avLst/>
          </a:prstGeom>
          <a:solidFill>
            <a:srgbClr val="DCFCE7"/>
          </a:solidFill>
          <a:ln w="1587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0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6336792" y="3931920"/>
            <a:ext cx="4425696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"/>
              </a:rPr>
              <a:t>Strong candidate for P/D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4370832"/>
            <a:ext cx="4389120" cy="1170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Long prompts, retrieval-heavy traffic, long generations, high concurrency, or different scaling / parallelism needs.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1234440"/>
            <a:ext cx="475488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300" b="1">
                <a:solidFill>
                  <a:srgbClr val="64748B"/>
                </a:solidFill>
                <a:latin typeface="Aptos"/>
              </a:rPr>
              <a:t>transfer expensive / weak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2200" y="1234440"/>
            <a:ext cx="475488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300" b="1">
                <a:solidFill>
                  <a:srgbClr val="64748B"/>
                </a:solidFill>
                <a:latin typeface="Aptos"/>
              </a:rPr>
              <a:t>transfer cheap / strong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46304" y="2148840"/>
            <a:ext cx="86868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300" b="1">
                <a:solidFill>
                  <a:srgbClr val="64748B"/>
                </a:solidFill>
                <a:latin typeface="Aptos"/>
              </a:rPr>
              <a:t>similar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" y="4343400"/>
            <a:ext cx="960120" cy="8686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/>
            <a:r>
              <a:rPr sz="1300" b="1">
                <a:solidFill>
                  <a:srgbClr val="64748B"/>
                </a:solidFill>
                <a:latin typeface="Aptos"/>
              </a:rPr>
              <a:t>meaningfully
different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34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Production lessons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startup ordering matters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decode-side sidecar placement rules matter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service / targetPort / label contracts matter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KV transfer path and side-channel setup must be verified early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Give practical advice, not just architecture.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82880"/>
            <a:ext cx="640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35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109728"/>
            <a:ext cx="103327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What’s next for KAITO + llm-d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728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9875520" cy="4526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near term: precise prefix-cache routing based on KV events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near term: tiered prefix cache across HBM, CPU RAM, and optional filesystem tiers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next topology: E/P/D and speculative decoding</a:t>
            </a:r>
          </a:p>
          <a:p>
            <a:pPr>
              <a:spcAft>
                <a:spcPts val="800"/>
              </a:spcAft>
              <a:defRPr sz="2100">
                <a:solidFill>
                  <a:srgbClr val="334155"/>
                </a:solidFill>
              </a:defRPr>
            </a:pPr>
            <a:r>
              <a:t>larger-scale systems: Wide Expert Parallelism and richer cross-node transport optimization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5623560"/>
            <a:ext cx="288036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ptos"/>
              </a:rPr>
              <a:t>End with a concrete roadmap, not a vague future-work cloud.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