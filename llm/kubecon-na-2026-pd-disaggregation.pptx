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operating model, not a benchmark claim. Prefill computes the prompt state; decode consumes that state to generate tokens. This is a conceptual title diagram, not the full request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agenda brief. Spend the time on the problem, the orchestration abstraction, and production tradeoffs. Preserve the advanced diagrams for a faster walkthrough or questions if needed.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typical workload characteristics, not universal hardware laws. Prefill latency contributes to TTFT; decode performance is also governed by inter-token latency, active KV memory, and concurrency. No timing or token-size ratio is implied by the diagram.</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every aggregated deployment performs poorly. Continuous batching and chunked prefill can reduce interference. The point is that a shared resource and scaling boundary still constrains independent capacity shaping.</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Zhong et al., DistServe: Disaggregating Prefill and Decoding for Goodput-optimized Large Language Model Serving, arXiv:2401.09670v2, 19 March 2024, CC BY-SA 4.0. These are reproduced external research figures, not KAITO/llm-d measurements, not a reproduction performed for this deck, and not a benchmark of current vLLM scheduling. Captions identify a 13B LLM; sections 2–3 analyze A100 behavior. The individual figure captions do not specify every engine, kernel, model identifier or software version, so do not infer a current-deployment performance guarantee. Figure SVGs are kept verbatim in kubecon-pd-assets/motivation; their PNGs are mechanical rasterizations with axes and data intact. Source and license are visible on the slide and documented with hashes.</a:t>
            </a:r>
          </a:p>
          <a:p>
            <a:r>
              <a:t>Figure 2 compares decode-only batches (orange) with decoding plus one prefill (blue). Left panel: 128 input tokens; right panel: 1024 input tokens. Both axes remain as published. The y-axis is batch execution latency, not client TTFT or end-to-end request latency. The two panels have different y-axis and batch-size scales: compare the within-panel mixed-vs-decode-only gap, not apparent slopes or heights across panels. The blue horizontal line is the source prefill-only execution reference; the source arrows label decode and prefill slowdowns. The longer prefill increases the interference shown in this experiment. One chart, one interpretation: a new prompt can delay existing token streams in a shared execution boundary. Continuous batching, chunked prefill and better scheduling can mitigate the effect; this figure does not prove that every colocated or modern chunked-prefill implementation suffers the same penalty. P/D separates the execution pools, but introduces a KV-transfer boundary that must earn its cost.</a:t>
            </a:r>
          </a:p>
          <a:p/>
          <a:p>
            <a:r>
              <a:t>Narrative source: kubecon-na-2026-pd-disaggregation.md</a:t>
            </a:r>
          </a:p>
          <a:p>
            <a:r>
              <a:t>References:</a:t>
            </a:r>
          </a:p>
          <a:p>
            <a:r>
              <a:t>https://arxiv.org/html/2401.09670v2#S2.F2</a:t>
            </a:r>
          </a:p>
          <a:p>
            <a:r>
              <a:t>https://arxiv.org/html/2401.09670v2#S2.SS3</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Zhong et al., DistServe: Disaggregating Prefill and Decoding for Goodput-optimized Large Language Model Serving, arXiv:2401.09670v2, 19 March 2024, CC BY-SA 4.0. These are reproduced external research figures, not KAITO/llm-d measurements, not a reproduction performed for this deck, and not a benchmark of current vLLM scheduling. Captions identify a 13B LLM; sections 2–3 analyze A100 behavior. The individual figure captions do not specify every engine, kernel, model identifier or software version, so do not infer a current-deployment performance guarantee. Figure SVGs are kept verbatim in kubecon-pd-assets/motivation; their PNGs are mechanical rasterizations with axes and data intact. Source and license are visible on the slide and documented with hashes.</a:t>
            </a:r>
          </a:p>
          <a:p>
            <a:r>
              <a:t>Figure 3 is reproduced as published: prefill-only throughput on the left, decoding-only throughput on the right, with input lengths 128, 256, 512 and 1024. The x-axis is batch size on powers-of-two ticks. Do not compare absolute left-versus-right token throughput as equivalent useful work: prefill processes prompt tokens, whereas decode produces output tokens. Read the shape within each panel. Prefill throughput plateaus earlier; additional batching can add latency once computation is saturated. Decode benefits more from batching in this setup, amortizing weight-memory traffic across requests. This supports separate batching and resource planning, not unlimited decode batching: active KV capacity, latency SLOs, model architecture and compute saturation still bound it. The paper discusses compute-dominant prefill and memory-bandwidth-dominant decode; these are common regimes, not immutable properties of every model, batch size, hardware or context length. No current-AKS numerical threshold or universal GPU-size rule is inferred.</a:t>
            </a:r>
          </a:p>
          <a:p/>
          <a:p>
            <a:r>
              <a:t>Narrative source: kubecon-na-2026-pd-disaggregation.md</a:t>
            </a:r>
          </a:p>
          <a:p>
            <a:r>
              <a:t>References:</a:t>
            </a:r>
          </a:p>
          <a:p>
            <a:r>
              <a:t>https://arxiv.org/html/2401.09670v2#S3.F3</a:t>
            </a:r>
          </a:p>
          <a:p>
            <a:r>
              <a:t>https://arxiv.org/html/2401.09670v2#S3.SS1</a:t>
            </a:r>
          </a:p>
          <a:p>
            <a:r>
              <a:t>https://arxiv.org/html/2401.09670v2#S3.SS2</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Dynamo disaggregated-serving overview describes compute-bound prefill and memory-bandwidth-bound decode, with independent pools, batching, hardware and parallelism choices. These are common regimes rather than universal laws: model, context length, batch size and hardware change the limiting resource. Dynamo-specific worker orchestration and NIXL setup are not presented as KAITO architecture. Conceptual synthesis, not measured performance data. DistServe section 2.3 identifies resource and parallelism coupling as distinct from prefill/decode execution interference: a colocated deployment shares devices, resource allocation and a parallelism plan even when the two phases have different bottlenecks and latency constraints. Separate pools permit different hardware, tensor-parallel degrees, batching policies and replica counts, subject to runtime/connector compatibility; they do not imply every choice is supported by current KAITO. The two demand cards are first investigation directions, not a deterministic scaler: longer prompts also increase decode KV state and transfer bytes, so inspect both roles and the end-to-end SLO before changing capacity. Likewise larger decode batches must respect ITL and KV limits. Shared pools can still benefit from chunked prefill, continuous batching and scheduling improvements. P/D becomes worthwhile only when independent capacity tuning or interference isolation creates a measured gain larger than transfer, duplicated model residency and operational overhead. No fixed P:D ratio, GPU savings or current autoscaler implementation is claimed.</a:t>
            </a:r>
          </a:p>
          <a:p/>
          <a:p>
            <a:r>
              <a:t>Narrative source: kubecon-na-2026-pd-disaggregation.md</a:t>
            </a:r>
          </a:p>
          <a:p>
            <a:r>
              <a:t>References:</a:t>
            </a:r>
          </a:p>
          <a:p>
            <a:r>
              <a:t>https://docs.nvidia.com/dynamo/dev/kubernetes/disaggregated-serving/overview</a:t>
            </a:r>
          </a:p>
          <a:p>
            <a:r>
              <a:t>https://arxiv.org/html/2401.09670v2#S2.SS3</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data direction is prefill to decode. The low-level transfer can be a decode-initiated pull. Network and transport support depend on the deployment. Separate pools allow different instance types, replica counts, and tensor-parallel settings.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value is independent capacity shaping. Long prompts alone do not prove P/D wins; combine workload measurements with transfer-fabric and operational constraints. A fast GPU-to-GPU path lowers the barrier; cross-node P/D requires closer attention to the transfer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blanket promises. The break-even point is empirical and model-, traffic-, and fabric-dependent. Aggregated serving can be simpler and faster for the wrong P/D workload.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operational dependency map, not a request-flow diagram. Explain why assembling correct components by hand still leaves brittle contracts between them.</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2026-10-20. This is a capability and abstraction map, not a maturity, performance, or market-share ranking. The Kubernetes packaging column highlights a representative API; it is not an exhaustive feature inventory. Dynamo has a Kubernetes Operator and DynamoGraphDeployment: do not characterize it as lacking declarative orchestration. AIBrix StormService/RoleSet manages multi-role workloads. KServe LLMInferenceService explicitly wraps llm-d architecture, so it is not a separate underlying P/D engine. Ray Serve models P/D as application deployments; KubeRay supplies Kubernetes lifecycle management. The vLLM Production Stack tutorial supplies a Helm-based P/D deployment using LMCache/NIXL and a router; its sample versions are not a recommendation. LWS DisaggregatedSet is a workload controller, not a complete serving data plane. SGLang, vLLM and TensorRT-LLM are engines; NIXL, LMCache and Mooncake are transfer/cache building blocks, not standalone Kubernetes serving platforms. Latest documentation can describe newer or alpha capabilities: validate release compatibility and production maturity separately. Replace the old claim that the ecosystem lacks a declarative Kubernetes abstraction.</a:t>
            </a:r>
          </a:p>
          <a:p/>
          <a:p>
            <a:r>
              <a:t>Narrative source: kubecon-na-2026-pd-disaggregation.md</a:t>
            </a:r>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Narrative source: kubecon-na-2026-pd-disaggregation.md</a:t>
            </a: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capability progression, not a strict ownership chain. InferencePool is the Gateway API Inference Extension routing abstraction. KAITO manages the objects and wiring around the runtime.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mental model persists: declare intent, observe status, and let controllers reconcile. InferencePool belongs to GWIE rather than being a KAITO-defined CRD. These objects have distinct jobs and should not be presented as interchangeable.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calling KAITO the scheduler or vLLM the orchestrator. The EPP participates in the Gateway request-routing decision; the decode-side routing proxy orchestrates the P/D request lifecycle.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ecosystem building blocks, not all resources owned by the same controller. KEDA ScaledObjects target the InferenceSet scale subresource; KEDA and HPA implement the scaling loop. Runtime and transport versions matter.</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MRI P/D documentation supports per-role replica, instance-type, preset, and vLLM settings. Do not imply this slide is a literal schema or that the proposed MRI scaling UX on slide 25 is already implemented.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topology, not a port-level deployment diagram. The Gateway consults the EPP, then sends the request to the selected decode pod routing sidecar. That sidecar calls prefill, forwards metadata to local decode, and streams the response back through the Gateway. The return line is a summarized path. KV data moves from prefill memory to decode; transport initiation may be a decode-side read. Gateway installation/lifecycle is separate from MRI.</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MRI creates child InferenceSets and a routing pool; InferenceSets reconcile Workspaces. The diagram deliberately distinguishes generated resource relationships from routing configuration. HTTPRoute requires a parent Gateway; it is not owned by the pool in a strict Kubernetes owner-reference sense.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sequence, not a timing chart. Gateway and EPP are combined into one lane for space; the EPP makes the endpoint decision. Prefill returns metadata to the decode proxy. The decode runtime then obtains the KV tensors and generates tokens. The NIXL path can be decode-initiated; arrow 5 shows payload direction only. The stream travels via the proxy and Gateway. No duration is implied.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NIXL connector is configured at the serving runtime. Exact transport, ports, and handshake fields depend on runtime versions. Do not label one transfer protocol or port number as a universal invariant.</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hard-code example listener ports as a universal contract. The external serving Service must target the routing sidecar, while local forwarding reaches the decode runtime. Health probes must hit the correct process. The exact port mapping and command flags depend on installed KAITO, llm-d, and vLLM versions.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is reduced configuration drift, not the removal of all operational complexity. Operators still need observability, fabric validation, failure testing, and version-aware troubleshooting.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native vllm:num_requests_waiting for prefill and vllm:num_requests_running for decode as primary role-specific signals. Verify availability and aggregation on the actual runtime. KV utilization and latency add diagnostic context; a derived signal becomes a control input only after its semantics and safety policy are validated. This is a control-pattern recommendation, not a claim about an automatically available MRI feature.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Narrative source: kubecon-na-2026-pd-disaggregation.md</a:t>
            </a:r>
          </a:p>
          <a:p>
            <a:r>
              <a:t>References:</a:t>
            </a:r>
          </a:p>
          <a:p>
            <a:r>
              <a:t>https://github.com/andyzhangx/demo/blob/26c3e14a340d4b0aae5c820b43087d71b85d1554/llm/kaito-llm-d/kaito-role-aware-autoscaling-for-pd.md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proposed annotation-first integration, not an existing deployable MRI API. Existing scaler source consumes InferenceSet.metadata.annotations and provisions an owned ScaledObject. It currently rejects MRI-owned children in create/update predicates; deliberately support only adapter-managed opt-in children, including cleanup events. MRI currently copies annotations to child spec.template.annotations; that placement does not configure this scaler. A new adapter must validate/version autoscaling.kaito.sh/roles, match entries by role type, project only allowed scalar/metrics keys into the matching child metadata, keep the policy blob out of workload templates, watch annotation-only changes, and remove stale owned output. One child InferenceSet and one ScaledObject per enabled role; KEDA/HPA targets that child scale subresource, not MRI or an individual Pod. A null role replicas value stops MRI steady-state replica enforcement but does not create an autoscaler. Reject fixed replicas plus policy and conflicting manually managed autoscalers; preserve unrelated annotations and perform ordered cleanup/handoff. KEDA, the scaler and metrics collection must be installed/configured separately. Sources are pinned in the design document: KAITO 3c831cad and scaler ba1f2340. The annotation block shown is generated output inside child metadata.annotations. Decode receives the analogous 2..16 / running / 24 / 4 policy.</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panel is a literal excerpt under MRI metadata.annotations; the right is a spec.roles excerpt, not the entire deployable resource. Full YAML: llm/kaito-llm-d/examples/proposed-pd-autoscaling-annotations.yaml in this repository. Model and instanceType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https://github.com/andyzhangx/demo/blob/master/llm/kaito-llm-d/examples/proposed-pd-autoscaling-annotations.yaml</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evaluation protocol, not a result. Match GPU budget or cost budget and state the comparison basis. Report latency percentiles and achieved throughput at matched load. Include transport and hardware topology, model and runtime versions, warm-up, run duration, and sampling method. No synthetic performance curves should be mistaken for measurements.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Replaces the original [X]% / [Y]% placeholders. There is no numeric claim or implied performance curve. Collect TTFT percentiles under prompt-heavy traffic and report the request rate, concurrency, prompt/output distributions, model, hardware, and cost comparison. Include the effect of KV-transfer overhead.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benchmark results are supplied. High utilization alone does not prove better efficiency. Record achieved output throughput and successful requests under agreed TTFT and inter-token-latency limits; report total GPU-hours or cost for both phases and associated infrastructure.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aid, not experimental data. Prompt and output lengths interact with concurrency, model size, parallelism, and hardware. Validate both latency and cost. Even the strongest candidate cell is not a guaranteed P/D win.</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One chart, one interpretation: this comparison trades a higher TTFT for more stable decoding, rather than proving a TTFT improvement. Values: standard median 227.9635 ms, p95 490.613 ms; write-mode median 645.135 ms, p95 1325.584 ms. Median is the mean of the middle two ordered observations; p95 is nearest-rank (95th of 100). Rounded to integer milliseconds on the slide. No SLO line is implied by the 1000 ms grid tick. The source recommends investigating P/D for high concurrency and long prompts because prefill interference is stronger, but has no prompt-length sweep supporting a quantified TTFT gain by workload. Do not narrate a fabricated long-prompt TTFT win.</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Keep narration high signal. Original Figure 4 shows request SLO attainment versus offered request rate, not measured token throughput. The source calls the joint-SLO benefit higher goodput; this slide retains the original y-axis instead of relabeling it as throughput. The orange outline focuses attention on about 8 req/s. The 29% and 73% callout comes from the exact Figure 3 arrays for standard TP4 and MORI-IO write, not visual digitization. Other configurations are retained as source context; do not narrate every curve. At this load the colocated configuration’s per-request ITL values account for failed joint SLOs; the P/D write configuration’s TTFT values account for its failures. This supports phase-interference interpretation, not an unqualified peak-throughput claim. Prompt/output lengths are fixed, so mixed-length traffic remains a validation gap. The source caption overstates improvement across all rates: at the lowest rate standard TP4 also reaches 100%, so this slide only highlights the loaded regime.</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Reinforce why separate pools: isolate prefill and decode, then judge useful service delivered at a fixed resource budget. The source configuration uses all 8 GPUs in both cases: standard 2×TP4 versus prefill TP4 + decode TP4. Derivation: 29/8=3.625 and 73/8=9.125 SLO passes per GPU in each 100-request trace; normalized ratio = (73/8)/(29/8) = 73/29 = 2.517241379, displayed 2.52×. This is a sample-specific SLO-pass efficiency proxy, NOT a time-normalized throughput-per-GPU metric, GPU busy percentage, independent capacity study, cost/energy result, or justification for dividing the GPU budget by 2.52. Do not claim fewer GPUs. There is no asymmetric traffic experiment or dynamic P/D autoscaling in this source; that business case still needs a controlled local benchmark. The same trace supports the preceding slide, so these are three interpretations of one study, not three independent confirmations.</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conceptual dependency diagram. Actual transport support is version- and hardware-dependent. Do not assert a specific RDMA or non-RDMA configuration without validating the deployment. Include fabric contention and failure cases in production testing.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represents logical serving readiness, not a mandatory serial process startup order. Probe the correct process and listener. Test whether unready backends are excluded, how endpoints appear in the EPP, and how sidecars behave while the model warms up.</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role-specific signals. KV utilization can inform a safety guard only with explicit tested semantics. Validate availability, role scope, units and freshness. Derived metrics require aggregation and collection; their names are not native vLLM outputs.</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gates to decide whether to keep, tune, or reject P/D. Do not infer a generic performance percentage. Operators still own resource placement, network policy, observability, failure recovery, and upgrades.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companion Markdown, Slide 34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Expands companion Markdown Slide 34 into concrete but unmeasured adoption scenarios. Small models, short prompts, low concurrency and simple traffic often favor aggregated serving, but those attributes are heuristics rather than hard cutoffs. Long prompts, retrieval-heavy traffic, long generation or high concurrency are reasons to investigate divergent P/D pressure, not sufficient conditions for a win. Use P/D when separate capacity/parallelism can address a demonstrated bottleneck and KV-transfer overhead does not eliminate that benefit. A single-node multi-GPU experiment can simplify the initial topology if the model and role placement fit; it is not a universal fastest or feasible configuration. Cross-node P/D raises the validation bar: test transfer payload sizes, sustained/tail latency, contention, reliability, network policy and failure recovery. Improve locality or transport before adding scale if KV transfer is already the bottleneck. Compare aggregated and P/D at the same model, request distribution, offered load and GPU/cost budget, measuring client-visible TTFT/ITL, SLO goodput, transfer tails and total GPU cost. Retain a reversible aggregated baseline; do not claim measured savings here.</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a measurable aggregated baseline. Keep an operationally viable rollback path and compare like-for-like cost and SLO. Per-role autoscaling should follow validated signals; avoid changing topology, parallelism, transport, and autoscaling all at once.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outline, not evidence of a demo run. Before presenting: verify installed CRD versions, Gateway, supported model/preset, fabric connectivity, and metric availability. Use docs appropriate to that version. Do not present the proposed MRI autoscaling UX as an available manifest.</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talk recommendations derived from the source outline, not a published project delivery timeline. Keep the distinction between current capability and proposed user experience explicit.</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Based on companion Markdown Slide 36 — What’s next for KAITO + llm-d. Near-term integration directions are precise prefix-cache routing driven by KV events and tiered prefix cache across GPU HBM, CPU RAM, and optional filesystem tiers. The next topology item is E/P/D: Encode, Prefill, Decode. Larger-scale work includes Wide Expert Parallelism and cross-node transport/communication optimization. These are presentation-level KAITO integration directions, not a dated release commitment or a claim that llm-d and its runtimes lack these capabilities today. Speculative decoding was removed from future work because the presenter confirms it is already implemented; this slide does not attempt to revalidate its support matrix or claim universal runtime support. Keep feature availability tied to the deployed KAITO/llm-d/runtime versions.</a:t>
            </a:r>
          </a:p>
          <a:p/>
          <a:p>
            <a:r>
              <a:t>Narrative source: kubecon-na-2026-pd-disaggregation.md</a:t>
            </a:r>
          </a:p>
          <a:p>
            <a:r>
              <a:t>References:</a:t>
            </a:r>
          </a:p>
          <a:p>
            <a:r>
              <a:t>kubecon-na-2026-pd-disaggregation.md#slide-36--whats-next-for-kaito--llm-d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thesis without claiming unmeasured speedups. P/D is useful when the workload and infrastructure justify independent capacity shaping. KAITO aims to make that topology a normal Kubernetes operating model.</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workload, fabric, and operational constraints to guide questions. Both links are clickable in PowerPoint. Full URLs are retained here for export formats that do not preserve hyperlinks.</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kaito-project.github.io/kaito/docs/prefill-decode-disaggregation" TargetMode="External"/><Relationship Id="rId3" Type="http://schemas.openxmlformats.org/officeDocument/2006/relationships/hyperlink" Target="https://kaito-project.github.io/kaito/docs/keda-autoscaler-inference" TargetMode="External"/><Relationship Id="rId4"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CLOUD NATIVE AI + INFERENCE DAY / 20-MINUTE TALK</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Prefill Here, Decode There</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01 / 54</a:t>
            </a:r>
          </a:p>
        </p:txBody>
      </p:sp>
      <p:sp>
        <p:nvSpPr>
          <p:cNvPr id="7" name="TextBox 6"/>
          <p:cNvSpPr txBox="1"/>
          <p:nvPr/>
        </p:nvSpPr>
        <p:spPr>
          <a:xfrm>
            <a:off x="475488" y="1554480"/>
            <a:ext cx="9966960" cy="914400"/>
          </a:xfrm>
          <a:prstGeom prst="rect">
            <a:avLst/>
          </a:prstGeom>
          <a:noFill/>
        </p:spPr>
        <p:txBody>
          <a:bodyPr wrap="square" lIns="13716" rIns="13716" tIns="13716" bIns="13716">
            <a:spAutoFit/>
          </a:bodyPr>
          <a:lstStyle/>
          <a:p>
            <a:pPr>
              <a:spcBef>
                <a:spcPts val="0"/>
              </a:spcBef>
              <a:spcAft>
                <a:spcPts val="500"/>
              </a:spcAft>
              <a:defRPr sz="2500" b="0">
                <a:solidFill>
                  <a:srgbClr val="FFFFFF"/>
                </a:solidFill>
                <a:latin typeface="Arial"/>
              </a:defRPr>
            </a:pPr>
            <a:r>
              <a:t>Kubernetes-native LLM inference disaggregation</a:t>
            </a:r>
          </a:p>
          <a:p>
            <a:pPr>
              <a:spcBef>
                <a:spcPts val="0"/>
              </a:spcBef>
              <a:spcAft>
                <a:spcPts val="500"/>
              </a:spcAft>
              <a:defRPr sz="2500" b="0">
                <a:solidFill>
                  <a:srgbClr val="FFFFFF"/>
                </a:solidFill>
                <a:latin typeface="Arial"/>
              </a:defRPr>
            </a:pPr>
            <a:r>
              <a:t>with KAITO and llm-d</a:t>
            </a:r>
          </a:p>
        </p:txBody>
      </p:sp>
      <p:sp>
        <p:nvSpPr>
          <p:cNvPr id="8" name="Rounded Rectangle 7"/>
          <p:cNvSpPr/>
          <p:nvPr/>
        </p:nvSpPr>
        <p:spPr>
          <a:xfrm>
            <a:off x="502920" y="2880360"/>
            <a:ext cx="23774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912364"/>
            <a:ext cx="22494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ONE DECLARATIVE SERVICE</a:t>
            </a:r>
          </a:p>
        </p:txBody>
      </p:sp>
      <p:sp>
        <p:nvSpPr>
          <p:cNvPr id="10" name="Rounded Rectangle 9"/>
          <p:cNvSpPr/>
          <p:nvPr/>
        </p:nvSpPr>
        <p:spPr>
          <a:xfrm>
            <a:off x="502920" y="3566160"/>
            <a:ext cx="29718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657600"/>
            <a:ext cx="50292" cy="1234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85032"/>
            <a:ext cx="26974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2563EB"/>
                </a:solidFill>
                <a:latin typeface="Arial"/>
              </a:defRPr>
            </a:pPr>
            <a:r>
              <a:t>KAITO</a:t>
            </a:r>
          </a:p>
        </p:txBody>
      </p:sp>
      <p:sp>
        <p:nvSpPr>
          <p:cNvPr id="13" name="TextBox 12"/>
          <p:cNvSpPr txBox="1"/>
          <p:nvPr/>
        </p:nvSpPr>
        <p:spPr>
          <a:xfrm>
            <a:off x="649224" y="4123944"/>
            <a:ext cx="26791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Declare the serving topology</a:t>
            </a:r>
          </a:p>
        </p:txBody>
      </p:sp>
      <p:sp>
        <p:nvSpPr>
          <p:cNvPr id="14" name="Rounded Rectangle 13"/>
          <p:cNvSpPr/>
          <p:nvPr/>
        </p:nvSpPr>
        <p:spPr>
          <a:xfrm>
            <a:off x="4572000" y="3566160"/>
            <a:ext cx="27432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0" y="3657600"/>
            <a:ext cx="50292" cy="1234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09160" y="3685032"/>
            <a:ext cx="24688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087F8C"/>
                </a:solidFill>
                <a:latin typeface="Arial"/>
              </a:defRPr>
            </a:pPr>
            <a:r>
              <a:t>Prefill</a:t>
            </a:r>
          </a:p>
        </p:txBody>
      </p:sp>
      <p:sp>
        <p:nvSpPr>
          <p:cNvPr id="17" name="TextBox 16"/>
          <p:cNvSpPr txBox="1"/>
          <p:nvPr/>
        </p:nvSpPr>
        <p:spPr>
          <a:xfrm>
            <a:off x="4718304" y="4123944"/>
            <a:ext cx="24505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KV cache</a:t>
            </a:r>
          </a:p>
        </p:txBody>
      </p:sp>
      <p:sp>
        <p:nvSpPr>
          <p:cNvPr id="18" name="Rounded Rectangle 17"/>
          <p:cNvSpPr/>
          <p:nvPr/>
        </p:nvSpPr>
        <p:spPr>
          <a:xfrm>
            <a:off x="8458200" y="3566160"/>
            <a:ext cx="32004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58200" y="3657600"/>
            <a:ext cx="50292" cy="12344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0" y="3685032"/>
            <a:ext cx="29260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7354B8"/>
                </a:solidFill>
                <a:latin typeface="Arial"/>
              </a:defRPr>
            </a:pPr>
            <a:r>
              <a:t>Decode</a:t>
            </a:r>
          </a:p>
        </p:txBody>
      </p:sp>
      <p:sp>
        <p:nvSpPr>
          <p:cNvPr id="21" name="TextBox 20"/>
          <p:cNvSpPr txBox="1"/>
          <p:nvPr/>
        </p:nvSpPr>
        <p:spPr>
          <a:xfrm>
            <a:off x="8604504" y="4123944"/>
            <a:ext cx="29077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cache → token stream</a:t>
            </a:r>
          </a:p>
        </p:txBody>
      </p:sp>
      <p:cxnSp>
        <p:nvCxnSpPr>
          <p:cNvPr id="22" name="Connector 21"/>
          <p:cNvCxnSpPr/>
          <p:nvPr/>
        </p:nvCxnSpPr>
        <p:spPr>
          <a:xfrm>
            <a:off x="3474720" y="4251960"/>
            <a:ext cx="1097280" cy="0"/>
          </a:xfrm>
          <a:prstGeom prst="line">
            <a:avLst/>
          </a:prstGeom>
          <a:ln w="25400">
            <a:solidFill>
              <a:srgbClr val="AFC3D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15200" y="4251960"/>
            <a:ext cx="11430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06640" y="3758184"/>
            <a:ext cx="960120" cy="338328"/>
          </a:xfrm>
          <a:prstGeom prst="rect">
            <a:avLst/>
          </a:prstGeom>
          <a:noFill/>
        </p:spPr>
        <p:txBody>
          <a:bodyPr wrap="square" lIns="13716" rIns="13716" tIns="13716" bIns="13716">
            <a:spAutoFit/>
          </a:bodyPr>
          <a:lstStyle/>
          <a:p>
            <a:pPr algn="ctr">
              <a:spcBef>
                <a:spcPts val="0"/>
              </a:spcBef>
              <a:spcAft>
                <a:spcPts val="500"/>
              </a:spcAft>
              <a:defRPr sz="1200" b="0">
                <a:solidFill>
                  <a:srgbClr val="AFC3DF"/>
                </a:solidFill>
                <a:latin typeface="Arial"/>
              </a:defRPr>
            </a:pPr>
            <a:r>
              <a:t>KV data</a:t>
            </a:r>
          </a:p>
        </p:txBody>
      </p:sp>
      <p:sp>
        <p:nvSpPr>
          <p:cNvPr id="25" name="TextBox 24"/>
          <p:cNvSpPr txBox="1"/>
          <p:nvPr/>
        </p:nvSpPr>
        <p:spPr>
          <a:xfrm>
            <a:off x="502920" y="5641848"/>
            <a:ext cx="10789920" cy="457200"/>
          </a:xfrm>
          <a:prstGeom prst="rect">
            <a:avLst/>
          </a:prstGeom>
          <a:noFill/>
        </p:spPr>
        <p:txBody>
          <a:bodyPr wrap="square" lIns="13716" rIns="13716" tIns="13716" bIns="13716">
            <a:spAutoFit/>
          </a:bodyPr>
          <a:lstStyle/>
          <a:p>
            <a:pPr>
              <a:spcBef>
                <a:spcPts val="0"/>
              </a:spcBef>
              <a:spcAft>
                <a:spcPts val="500"/>
              </a:spcAft>
              <a:defRPr sz="2100" b="0">
                <a:solidFill>
                  <a:srgbClr val="AFC3DF"/>
                </a:solidFill>
                <a:latin typeface="Arial"/>
              </a:defRPr>
            </a:pPr>
            <a:r>
              <a:t>Separate the phases. Keep a Kubernetes-native operating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AGENDA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route from idea to production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Four questions connect the architecture to the operating tradeoffs.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02 / 54</a:t>
            </a:r>
          </a:p>
        </p:txBody>
      </p:sp>
      <p:sp>
        <p:nvSpPr>
          <p:cNvPr id="8" name="Rounded Rectangle 7"/>
          <p:cNvSpPr/>
          <p:nvPr/>
        </p:nvSpPr>
        <p:spPr>
          <a:xfrm>
            <a:off x="457200"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245059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40080"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Why split?</a:t>
            </a:r>
          </a:p>
        </p:txBody>
      </p:sp>
      <p:sp>
        <p:nvSpPr>
          <p:cNvPr id="12" name="TextBox 11"/>
          <p:cNvSpPr txBox="1"/>
          <p:nvPr/>
        </p:nvSpPr>
        <p:spPr>
          <a:xfrm>
            <a:off x="640080"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Two phases</a:t>
            </a:r>
          </a:p>
          <a:p>
            <a:pPr>
              <a:spcBef>
                <a:spcPts val="0"/>
              </a:spcBef>
              <a:spcAft>
                <a:spcPts val="500"/>
              </a:spcAft>
              <a:defRPr sz="1800" b="0">
                <a:solidFill>
                  <a:srgbClr val="172941"/>
                </a:solidFill>
                <a:latin typeface="Arial"/>
              </a:defRPr>
            </a:pPr>
            <a:r>
              <a:t>Two bottlenecks</a:t>
            </a:r>
          </a:p>
        </p:txBody>
      </p:sp>
      <p:cxnSp>
        <p:nvCxnSpPr>
          <p:cNvPr id="13" name="Connector 12"/>
          <p:cNvCxnSpPr/>
          <p:nvPr/>
        </p:nvCxnSpPr>
        <p:spPr>
          <a:xfrm>
            <a:off x="3163824" y="3593592"/>
            <a:ext cx="146304"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10128"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245059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3008"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7" name="TextBox 16"/>
          <p:cNvSpPr txBox="1"/>
          <p:nvPr/>
        </p:nvSpPr>
        <p:spPr>
          <a:xfrm>
            <a:off x="3493008"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Why hard?</a:t>
            </a:r>
          </a:p>
        </p:txBody>
      </p:sp>
      <p:sp>
        <p:nvSpPr>
          <p:cNvPr id="18" name="TextBox 17"/>
          <p:cNvSpPr txBox="1"/>
          <p:nvPr/>
        </p:nvSpPr>
        <p:spPr>
          <a:xfrm>
            <a:off x="3493008"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Routing, KV transfer</a:t>
            </a:r>
          </a:p>
          <a:p>
            <a:pPr>
              <a:spcBef>
                <a:spcPts val="0"/>
              </a:spcBef>
              <a:spcAft>
                <a:spcPts val="500"/>
              </a:spcAft>
              <a:defRPr sz="1800" b="0">
                <a:solidFill>
                  <a:srgbClr val="172941"/>
                </a:solidFill>
                <a:latin typeface="Arial"/>
              </a:defRPr>
            </a:pPr>
            <a:r>
              <a:t>Kubernetes contracts</a:t>
            </a:r>
          </a:p>
        </p:txBody>
      </p:sp>
      <p:cxnSp>
        <p:nvCxnSpPr>
          <p:cNvPr id="19" name="Connector 18"/>
          <p:cNvCxnSpPr/>
          <p:nvPr/>
        </p:nvCxnSpPr>
        <p:spPr>
          <a:xfrm>
            <a:off x="6016752" y="3593592"/>
            <a:ext cx="146304" cy="0"/>
          </a:xfrm>
          <a:prstGeom prst="line">
            <a:avLst/>
          </a:prstGeom>
          <a:ln w="1778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63056"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7648" y="245059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3" name="TextBox 22"/>
          <p:cNvSpPr txBox="1"/>
          <p:nvPr/>
        </p:nvSpPr>
        <p:spPr>
          <a:xfrm>
            <a:off x="6345936"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The solution</a:t>
            </a:r>
          </a:p>
        </p:txBody>
      </p:sp>
      <p:sp>
        <p:nvSpPr>
          <p:cNvPr id="24" name="TextBox 23"/>
          <p:cNvSpPr txBox="1"/>
          <p:nvPr/>
        </p:nvSpPr>
        <p:spPr>
          <a:xfrm>
            <a:off x="6345936"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KAITO + llm-d</a:t>
            </a:r>
          </a:p>
          <a:p>
            <a:pPr>
              <a:spcBef>
                <a:spcPts val="0"/>
              </a:spcBef>
              <a:spcAft>
                <a:spcPts val="500"/>
              </a:spcAft>
              <a:defRPr sz="1800" b="0">
                <a:solidFill>
                  <a:srgbClr val="172941"/>
                </a:solidFill>
                <a:latin typeface="Arial"/>
              </a:defRPr>
            </a:pPr>
            <a:r>
              <a:t>One declared topology</a:t>
            </a:r>
          </a:p>
        </p:txBody>
      </p:sp>
      <p:cxnSp>
        <p:nvCxnSpPr>
          <p:cNvPr id="25" name="Connector 24"/>
          <p:cNvCxnSpPr/>
          <p:nvPr/>
        </p:nvCxnSpPr>
        <p:spPr>
          <a:xfrm>
            <a:off x="8869680" y="3593592"/>
            <a:ext cx="146304"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80576" y="245059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8863"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9" name="TextBox 28"/>
          <p:cNvSpPr txBox="1"/>
          <p:nvPr/>
        </p:nvSpPr>
        <p:spPr>
          <a:xfrm>
            <a:off x="9198863"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When to split?</a:t>
            </a:r>
          </a:p>
        </p:txBody>
      </p:sp>
      <p:sp>
        <p:nvSpPr>
          <p:cNvPr id="30" name="TextBox 29"/>
          <p:cNvSpPr txBox="1"/>
          <p:nvPr/>
        </p:nvSpPr>
        <p:spPr>
          <a:xfrm>
            <a:off x="9198863"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Role-aware scaling</a:t>
            </a:r>
          </a:p>
          <a:p>
            <a:pPr>
              <a:spcBef>
                <a:spcPts val="0"/>
              </a:spcBef>
              <a:spcAft>
                <a:spcPts val="500"/>
              </a:spcAft>
              <a:defRPr sz="1800" b="0">
                <a:solidFill>
                  <a:srgbClr val="172941"/>
                </a:solidFill>
                <a:latin typeface="Arial"/>
              </a:defRPr>
            </a:pPr>
            <a:r>
              <a:t>Measured tradeoffs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request. Two different GPU workloads.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Prefill processes the input; decode repeatedly generates the next token.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P/D is about matching capacity to two very different phases.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03 / 54</a:t>
            </a:r>
          </a:p>
        </p:txBody>
      </p:sp>
      <p:sp>
        <p:nvSpPr>
          <p:cNvPr id="10" name="Rounded Rectangle 9"/>
          <p:cNvSpPr/>
          <p:nvPr/>
        </p:nvSpPr>
        <p:spPr>
          <a:xfrm>
            <a:off x="50292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31720"/>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Prompt</a:t>
            </a:r>
          </a:p>
        </p:txBody>
      </p:sp>
      <p:sp>
        <p:nvSpPr>
          <p:cNvPr id="13" name="TextBox 12"/>
          <p:cNvSpPr txBox="1"/>
          <p:nvPr/>
        </p:nvSpPr>
        <p:spPr>
          <a:xfrm>
            <a:off x="64922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Input tokens</a:t>
            </a:r>
          </a:p>
        </p:txBody>
      </p:sp>
      <p:sp>
        <p:nvSpPr>
          <p:cNvPr id="14" name="Rounded Rectangle 13"/>
          <p:cNvSpPr/>
          <p:nvPr/>
        </p:nvSpPr>
        <p:spPr>
          <a:xfrm>
            <a:off x="2743200" y="2240280"/>
            <a:ext cx="27432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2331720"/>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359152"/>
            <a:ext cx="24688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PREFILL</a:t>
            </a:r>
          </a:p>
        </p:txBody>
      </p:sp>
      <p:sp>
        <p:nvSpPr>
          <p:cNvPr id="17" name="TextBox 16"/>
          <p:cNvSpPr txBox="1"/>
          <p:nvPr/>
        </p:nvSpPr>
        <p:spPr>
          <a:xfrm>
            <a:off x="2889504" y="2798064"/>
            <a:ext cx="24505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Process the prompt once</a:t>
            </a:r>
          </a:p>
        </p:txBody>
      </p:sp>
      <p:sp>
        <p:nvSpPr>
          <p:cNvPr id="18" name="Rounded Rectangle 17"/>
          <p:cNvSpPr/>
          <p:nvPr/>
        </p:nvSpPr>
        <p:spPr>
          <a:xfrm>
            <a:off x="594360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0" y="2331720"/>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KV cache</a:t>
            </a:r>
          </a:p>
        </p:txBody>
      </p:sp>
      <p:sp>
        <p:nvSpPr>
          <p:cNvPr id="21" name="TextBox 20"/>
          <p:cNvSpPr txBox="1"/>
          <p:nvPr/>
        </p:nvSpPr>
        <p:spPr>
          <a:xfrm>
            <a:off x="608990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Attention state</a:t>
            </a:r>
          </a:p>
        </p:txBody>
      </p:sp>
      <p:sp>
        <p:nvSpPr>
          <p:cNvPr id="22" name="Rounded Rectangle 21"/>
          <p:cNvSpPr/>
          <p:nvPr/>
        </p:nvSpPr>
        <p:spPr>
          <a:xfrm>
            <a:off x="8229600" y="2240280"/>
            <a:ext cx="34290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0" y="2331720"/>
            <a:ext cx="50292" cy="8046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359152"/>
            <a:ext cx="31546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DECODE</a:t>
            </a:r>
          </a:p>
        </p:txBody>
      </p:sp>
      <p:sp>
        <p:nvSpPr>
          <p:cNvPr id="25" name="TextBox 24"/>
          <p:cNvSpPr txBox="1"/>
          <p:nvPr/>
        </p:nvSpPr>
        <p:spPr>
          <a:xfrm>
            <a:off x="8375904" y="2798064"/>
            <a:ext cx="31363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tokens iteratively</a:t>
            </a:r>
          </a:p>
        </p:txBody>
      </p:sp>
      <p:cxnSp>
        <p:nvCxnSpPr>
          <p:cNvPr id="26" name="Connector 25"/>
          <p:cNvCxnSpPr/>
          <p:nvPr/>
        </p:nvCxnSpPr>
        <p:spPr>
          <a:xfrm>
            <a:off x="2331720" y="2734056"/>
            <a:ext cx="41148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86400" y="2734056"/>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72400" y="2734056"/>
            <a:ext cx="4572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02920"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7512" y="386791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 compute-bound</a:t>
            </a:r>
          </a:p>
        </p:txBody>
      </p:sp>
      <p:sp>
        <p:nvSpPr>
          <p:cNvPr id="32" name="TextBox 31"/>
          <p:cNvSpPr txBox="1"/>
          <p:nvPr/>
        </p:nvSpPr>
        <p:spPr>
          <a:xfrm>
            <a:off x="685800"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Prompt pressure • time to first token</a:t>
            </a:r>
          </a:p>
        </p:txBody>
      </p:sp>
      <p:sp>
        <p:nvSpPr>
          <p:cNvPr id="33" name="Rounded Rectangle 32"/>
          <p:cNvSpPr/>
          <p:nvPr/>
        </p:nvSpPr>
        <p:spPr>
          <a:xfrm>
            <a:off x="6199632"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364224" y="386791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2512"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 bandwidth-bound</a:t>
            </a:r>
          </a:p>
        </p:txBody>
      </p:sp>
      <p:sp>
        <p:nvSpPr>
          <p:cNvPr id="36" name="TextBox 35"/>
          <p:cNvSpPr txBox="1"/>
          <p:nvPr/>
        </p:nvSpPr>
        <p:spPr>
          <a:xfrm>
            <a:off x="6382512"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Active KV memory • steady token delivery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shared pool couples two capacity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Aggregated serving is simple—but prefill bursts and active decoding share resources.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compromise is not only performance. It is how you size and scale the service.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04 / 54</a:t>
            </a:r>
          </a:p>
        </p:txBody>
      </p:sp>
      <p:sp>
        <p:nvSpPr>
          <p:cNvPr id="10" name="Rounded Rectangle 9"/>
          <p:cNvSpPr/>
          <p:nvPr/>
        </p:nvSpPr>
        <p:spPr>
          <a:xfrm>
            <a:off x="502920" y="2103120"/>
            <a:ext cx="653796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40864"/>
            <a:ext cx="6035040" cy="411480"/>
          </a:xfrm>
          <a:prstGeom prst="rect">
            <a:avLst/>
          </a:prstGeom>
          <a:noFill/>
        </p:spPr>
        <p:txBody>
          <a:bodyPr wrap="square" lIns="13716" rIns="13716" tIns="13716" bIns="13716">
            <a:spAutoFit/>
          </a:bodyPr>
          <a:lstStyle/>
          <a:p>
            <a:pPr>
              <a:spcBef>
                <a:spcPts val="0"/>
              </a:spcBef>
              <a:spcAft>
                <a:spcPts val="500"/>
              </a:spcAft>
              <a:defRPr sz="1700" b="1">
                <a:solidFill>
                  <a:srgbClr val="2563EB"/>
                </a:solidFill>
                <a:latin typeface="Arial"/>
              </a:defRPr>
            </a:pPr>
            <a:r>
              <a:t>SHARED GPU POOL</a:t>
            </a:r>
          </a:p>
        </p:txBody>
      </p:sp>
      <p:sp>
        <p:nvSpPr>
          <p:cNvPr id="12" name="Rounded Rectangle 11"/>
          <p:cNvSpPr/>
          <p:nvPr/>
        </p:nvSpPr>
        <p:spPr>
          <a:xfrm>
            <a:off x="78638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611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5" name="Rounded Rectangle 14"/>
          <p:cNvSpPr/>
          <p:nvPr/>
        </p:nvSpPr>
        <p:spPr>
          <a:xfrm>
            <a:off x="89611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17" name="Rounded Rectangle 16"/>
          <p:cNvSpPr/>
          <p:nvPr/>
        </p:nvSpPr>
        <p:spPr>
          <a:xfrm>
            <a:off x="279806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90779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7180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0" name="Rounded Rectangle 19"/>
          <p:cNvSpPr/>
          <p:nvPr/>
        </p:nvSpPr>
        <p:spPr>
          <a:xfrm>
            <a:off x="290779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2" name="Rounded Rectangle 21"/>
          <p:cNvSpPr/>
          <p:nvPr/>
        </p:nvSpPr>
        <p:spPr>
          <a:xfrm>
            <a:off x="480974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1947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8348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5" name="Rounded Rectangle 24"/>
          <p:cNvSpPr/>
          <p:nvPr/>
        </p:nvSpPr>
        <p:spPr>
          <a:xfrm>
            <a:off x="491947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7" name="TextBox 26"/>
          <p:cNvSpPr txBox="1"/>
          <p:nvPr/>
        </p:nvSpPr>
        <p:spPr>
          <a:xfrm>
            <a:off x="749808" y="4809744"/>
            <a:ext cx="5943600" cy="41148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deployment • one coupled scaling boundary</a:t>
            </a:r>
          </a:p>
        </p:txBody>
      </p:sp>
      <p:sp>
        <p:nvSpPr>
          <p:cNvPr id="28" name="Rounded Rectangle 27"/>
          <p:cNvSpPr/>
          <p:nvPr/>
        </p:nvSpPr>
        <p:spPr>
          <a:xfrm>
            <a:off x="7360920" y="2103120"/>
            <a:ext cx="4315968"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25512"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43800" y="2468879"/>
            <a:ext cx="3950207"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operational tension</a:t>
            </a:r>
          </a:p>
        </p:txBody>
      </p:sp>
      <p:sp>
        <p:nvSpPr>
          <p:cNvPr id="31" name="TextBox 30"/>
          <p:cNvSpPr txBox="1"/>
          <p:nvPr/>
        </p:nvSpPr>
        <p:spPr>
          <a:xfrm>
            <a:off x="7543800" y="3072384"/>
            <a:ext cx="3950207" cy="23134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Prompt bursts can disrupt token delivery.</a:t>
            </a:r>
          </a:p>
          <a:p>
            <a:pPr>
              <a:spcBef>
                <a:spcPts val="0"/>
              </a:spcBef>
              <a:spcAft>
                <a:spcPts val="500"/>
              </a:spcAft>
              <a:defRPr sz="1900" b="0">
                <a:solidFill>
                  <a:srgbClr val="172941"/>
                </a:solidFill>
                <a:latin typeface="Arial"/>
              </a:defRPr>
            </a:pPr>
          </a:p>
          <a:p>
            <a:pPr>
              <a:spcBef>
                <a:spcPts val="0"/>
              </a:spcBef>
              <a:spcAft>
                <a:spcPts val="500"/>
              </a:spcAft>
              <a:defRPr sz="1900" b="0">
                <a:solidFill>
                  <a:srgbClr val="172941"/>
                </a:solidFill>
                <a:latin typeface="Arial"/>
              </a:defRPr>
            </a:pPr>
            <a:r>
              <a:t>Scaling adds both phases, even when only one is saturated.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INTERFERENCE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prefill can stall an entire decode batch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study: 13B LLM batch execution latency—not client TTFT. Panel scales differ.</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 long prompt can delay many token streams—not just the request carrying that prompt.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05 / 54</a:t>
            </a:r>
          </a:p>
        </p:txBody>
      </p:sp>
      <p:sp>
        <p:nvSpPr>
          <p:cNvPr id="10" name="TextBox 9"/>
          <p:cNvSpPr txBox="1"/>
          <p:nvPr/>
        </p:nvSpPr>
        <p:spPr>
          <a:xfrm>
            <a:off x="1472184" y="1975104"/>
            <a:ext cx="437997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SHORTER PREFILL: 128 INPUT TOKENS</a:t>
            </a:r>
          </a:p>
        </p:txBody>
      </p:sp>
      <p:sp>
        <p:nvSpPr>
          <p:cNvPr id="11" name="TextBox 10"/>
          <p:cNvSpPr txBox="1"/>
          <p:nvPr/>
        </p:nvSpPr>
        <p:spPr>
          <a:xfrm>
            <a:off x="6199632" y="1975104"/>
            <a:ext cx="451713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AE641A"/>
                </a:solidFill>
                <a:latin typeface="Arial"/>
              </a:defRPr>
            </a:pPr>
            <a:r>
              <a:t>LONGER PREFILL: 1,024 INPUT TOKENS</a:t>
            </a:r>
          </a:p>
        </p:txBody>
      </p:sp>
      <p:pic>
        <p:nvPicPr>
          <p:cNvPr id="12" name="Picture 11" descr="distserve-fig2-interference.png"/>
          <p:cNvPicPr>
            <a:picLocks noChangeAspect="1"/>
          </p:cNvPicPr>
          <p:nvPr/>
        </p:nvPicPr>
        <p:blipFill>
          <a:blip r:embed="rId2"/>
          <a:stretch>
            <a:fillRect/>
          </a:stretch>
        </p:blipFill>
        <p:spPr>
          <a:xfrm>
            <a:off x="1847088" y="2313432"/>
            <a:ext cx="8503920" cy="3342681"/>
          </a:xfrm>
          <a:prstGeom prst="rect">
            <a:avLst/>
          </a:prstGeom>
        </p:spPr>
      </p:pic>
      <p:sp>
        <p:nvSpPr>
          <p:cNvPr id="13" name="TextBox 12"/>
          <p:cNvSpPr txBox="1"/>
          <p:nvPr/>
        </p:nvSpPr>
        <p:spPr>
          <a:xfrm>
            <a:off x="594360" y="5641848"/>
            <a:ext cx="10405872" cy="128016"/>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Source: Zhong et al., DistServe (2024), Fig. 2 • arxiv.org/abs/2401.09670v2 • CC BY-SA 4.0 • external study, not KAITO results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RESOURCE SHAPE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two phases prefer different batching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study: phase-only throughput as batch size changes for a 13B LLM.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Prefill and decode need different tuning—not one shared batch, parallelism and replica policy.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06 / 54</a:t>
            </a:r>
          </a:p>
        </p:txBody>
      </p:sp>
      <p:sp>
        <p:nvSpPr>
          <p:cNvPr id="10" name="TextBox 9"/>
          <p:cNvSpPr txBox="1"/>
          <p:nvPr/>
        </p:nvSpPr>
        <p:spPr>
          <a:xfrm>
            <a:off x="1472184" y="1975104"/>
            <a:ext cx="437997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PREFILL: EARLIER THROUGHPUT PLATEAU</a:t>
            </a:r>
          </a:p>
        </p:txBody>
      </p:sp>
      <p:sp>
        <p:nvSpPr>
          <p:cNvPr id="11" name="TextBox 10"/>
          <p:cNvSpPr txBox="1"/>
          <p:nvPr/>
        </p:nvSpPr>
        <p:spPr>
          <a:xfrm>
            <a:off x="6199632" y="1975104"/>
            <a:ext cx="451713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7354B8"/>
                </a:solidFill>
                <a:latin typeface="Arial"/>
              </a:defRPr>
            </a:pPr>
            <a:r>
              <a:t>DECODE: BATCHING AMORTIZES WORK</a:t>
            </a:r>
          </a:p>
        </p:txBody>
      </p:sp>
      <p:pic>
        <p:nvPicPr>
          <p:cNvPr id="12" name="Picture 11" descr="distserve-fig3-throughput.png"/>
          <p:cNvPicPr>
            <a:picLocks noChangeAspect="1"/>
          </p:cNvPicPr>
          <p:nvPr/>
        </p:nvPicPr>
        <p:blipFill>
          <a:blip r:embed="rId2"/>
          <a:stretch>
            <a:fillRect/>
          </a:stretch>
        </p:blipFill>
        <p:spPr>
          <a:xfrm>
            <a:off x="1847088" y="2313432"/>
            <a:ext cx="8503920" cy="3249156"/>
          </a:xfrm>
          <a:prstGeom prst="rect">
            <a:avLst/>
          </a:prstGeom>
        </p:spPr>
      </p:pic>
      <p:sp>
        <p:nvSpPr>
          <p:cNvPr id="13" name="TextBox 12"/>
          <p:cNvSpPr txBox="1"/>
          <p:nvPr/>
        </p:nvSpPr>
        <p:spPr>
          <a:xfrm>
            <a:off x="594360" y="5641848"/>
            <a:ext cx="10405872" cy="128016"/>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Source: Zhong et al., DistServe (2024), Fig. 3 • arxiv.org/abs/2401.09670v2 • CC BY-SA 4.0 • external study, not KAITO results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CAPACITY CONTROL</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Independent pools remove a forced compromise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payoff is a separate capacity decision for each phase—not separation for its own sake.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Split only when phase-specific gains outweigh KV transfer, duplicated weights and operational cost.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07 / 54</a:t>
            </a:r>
          </a:p>
        </p:txBody>
      </p:sp>
      <p:sp>
        <p:nvSpPr>
          <p:cNvPr id="10" name="Rounded Rectangle 9"/>
          <p:cNvSpPr/>
          <p:nvPr/>
        </p:nvSpPr>
        <p:spPr>
          <a:xfrm>
            <a:off x="502920" y="2148840"/>
            <a:ext cx="5449824" cy="2212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840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INPUT SIDE</a:t>
            </a:r>
          </a:p>
        </p:txBody>
      </p:sp>
      <p:sp>
        <p:nvSpPr>
          <p:cNvPr id="13" name="TextBox 12"/>
          <p:cNvSpPr txBox="1"/>
          <p:nvPr/>
        </p:nvSpPr>
        <p:spPr>
          <a:xfrm>
            <a:off x="685800" y="2862072"/>
            <a:ext cx="50840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Prompt-heavy demand</a:t>
            </a:r>
          </a:p>
        </p:txBody>
      </p:sp>
      <p:sp>
        <p:nvSpPr>
          <p:cNvPr id="14" name="TextBox 13"/>
          <p:cNvSpPr txBox="1"/>
          <p:nvPr/>
        </p:nvSpPr>
        <p:spPr>
          <a:xfrm>
            <a:off x="685800" y="3465576"/>
            <a:ext cx="5084064" cy="74980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Usually compute-bound; target TTFT.</a:t>
            </a:r>
          </a:p>
          <a:p>
            <a:pPr>
              <a:spcBef>
                <a:spcPts val="0"/>
              </a:spcBef>
              <a:spcAft>
                <a:spcPts val="500"/>
              </a:spcAft>
              <a:defRPr sz="1800" b="0">
                <a:solidFill>
                  <a:srgbClr val="172941"/>
                </a:solidFill>
                <a:latin typeface="Arial"/>
              </a:defRPr>
            </a:pPr>
            <a:r>
              <a:t>Tune prefill capacity / parallelism first.</a:t>
            </a:r>
          </a:p>
        </p:txBody>
      </p:sp>
      <p:sp>
        <p:nvSpPr>
          <p:cNvPr id="15" name="Rounded Rectangle 14"/>
          <p:cNvSpPr/>
          <p:nvPr/>
        </p:nvSpPr>
        <p:spPr>
          <a:xfrm>
            <a:off x="6199632" y="2148840"/>
            <a:ext cx="5449824" cy="2212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487168"/>
            <a:ext cx="50840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OUTPUT SIDE</a:t>
            </a:r>
          </a:p>
        </p:txBody>
      </p:sp>
      <p:sp>
        <p:nvSpPr>
          <p:cNvPr id="18" name="TextBox 17"/>
          <p:cNvSpPr txBox="1"/>
          <p:nvPr/>
        </p:nvSpPr>
        <p:spPr>
          <a:xfrm>
            <a:off x="6382512" y="2862072"/>
            <a:ext cx="50840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Generation-heavy demand</a:t>
            </a:r>
          </a:p>
        </p:txBody>
      </p:sp>
      <p:sp>
        <p:nvSpPr>
          <p:cNvPr id="19" name="TextBox 18"/>
          <p:cNvSpPr txBox="1"/>
          <p:nvPr/>
        </p:nvSpPr>
        <p:spPr>
          <a:xfrm>
            <a:off x="6382512" y="3465576"/>
            <a:ext cx="5084064" cy="74980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Often bandwidth-bound; target ITL.</a:t>
            </a:r>
          </a:p>
          <a:p>
            <a:pPr>
              <a:spcBef>
                <a:spcPts val="0"/>
              </a:spcBef>
              <a:spcAft>
                <a:spcPts val="500"/>
              </a:spcAft>
              <a:defRPr sz="1800" b="0">
                <a:solidFill>
                  <a:srgbClr val="172941"/>
                </a:solidFill>
                <a:latin typeface="Arial"/>
              </a:defRPr>
            </a:pPr>
            <a:r>
              <a:t>Tune decode capacity / batching first.</a:t>
            </a:r>
          </a:p>
        </p:txBody>
      </p:sp>
      <p:sp>
        <p:nvSpPr>
          <p:cNvPr id="20" name="Rounded Rectangle 19"/>
          <p:cNvSpPr/>
          <p:nvPr/>
        </p:nvSpPr>
        <p:spPr>
          <a:xfrm>
            <a:off x="594360"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4360" y="4590288"/>
            <a:ext cx="50292" cy="8321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Different latency targets</a:t>
            </a:r>
          </a:p>
        </p:txBody>
      </p:sp>
      <p:sp>
        <p:nvSpPr>
          <p:cNvPr id="23" name="TextBox 22"/>
          <p:cNvSpPr txBox="1"/>
          <p:nvPr/>
        </p:nvSpPr>
        <p:spPr>
          <a:xfrm>
            <a:off x="740664"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TTFT versus token delivery</a:t>
            </a:r>
          </a:p>
        </p:txBody>
      </p:sp>
      <p:sp>
        <p:nvSpPr>
          <p:cNvPr id="24" name="Rounded Rectangle 23"/>
          <p:cNvSpPr/>
          <p:nvPr/>
        </p:nvSpPr>
        <p:spPr>
          <a:xfrm>
            <a:off x="4334256"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34256" y="4590288"/>
            <a:ext cx="50292" cy="8321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1416"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Different resource needs</a:t>
            </a:r>
          </a:p>
        </p:txBody>
      </p:sp>
      <p:sp>
        <p:nvSpPr>
          <p:cNvPr id="27" name="TextBox 26"/>
          <p:cNvSpPr txBox="1"/>
          <p:nvPr/>
        </p:nvSpPr>
        <p:spPr>
          <a:xfrm>
            <a:off x="4480560"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bandwidth, active KV</a:t>
            </a:r>
          </a:p>
        </p:txBody>
      </p:sp>
      <p:sp>
        <p:nvSpPr>
          <p:cNvPr id="28" name="Rounded Rectangle 27"/>
          <p:cNvSpPr/>
          <p:nvPr/>
        </p:nvSpPr>
        <p:spPr>
          <a:xfrm>
            <a:off x="8074152"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590288"/>
            <a:ext cx="50292" cy="8321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Different capacity knobs</a:t>
            </a:r>
          </a:p>
        </p:txBody>
      </p:sp>
      <p:sp>
        <p:nvSpPr>
          <p:cNvPr id="31" name="TextBox 30"/>
          <p:cNvSpPr txBox="1"/>
          <p:nvPr/>
        </p:nvSpPr>
        <p:spPr>
          <a:xfrm>
            <a:off x="8220456"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Replicas, TP, batching policy</a:t>
            </a:r>
          </a:p>
        </p:txBody>
      </p:sp>
      <p:sp>
        <p:nvSpPr>
          <p:cNvPr id="32" name="TextBox 31"/>
          <p:cNvSpPr txBox="1"/>
          <p:nvPr/>
        </p:nvSpPr>
        <p:spPr>
          <a:xfrm>
            <a:off x="594360" y="5641848"/>
            <a:ext cx="10789920" cy="128016"/>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Sources: NVIDIA Dynamo disaggregated-serving overview + DistServe §2.3 • Conceptual; bottlenecks depend on workload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Split the phases. Tune the pools independently.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introduces a KV-transfer boundary between prompt processing and generation.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transfer path must be fast enough to justify the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08 / 54</a:t>
            </a:r>
          </a:p>
        </p:txBody>
      </p:sp>
      <p:sp>
        <p:nvSpPr>
          <p:cNvPr id="10" name="Rounded Rectangle 9"/>
          <p:cNvSpPr/>
          <p:nvPr/>
        </p:nvSpPr>
        <p:spPr>
          <a:xfrm>
            <a:off x="502920" y="2194560"/>
            <a:ext cx="4114800" cy="315468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087F8C"/>
                </a:solidFill>
                <a:latin typeface="Arial"/>
              </a:defRPr>
            </a:pPr>
            <a:r>
              <a:t>PREFILL POOL</a:t>
            </a:r>
          </a:p>
        </p:txBody>
      </p:sp>
      <p:sp>
        <p:nvSpPr>
          <p:cNvPr id="12" name="Rounded Rectangle 11"/>
          <p:cNvSpPr/>
          <p:nvPr/>
        </p:nvSpPr>
        <p:spPr>
          <a:xfrm>
            <a:off x="777240"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200400"/>
            <a:ext cx="50292" cy="8595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Prompt processing</a:t>
            </a:r>
          </a:p>
        </p:txBody>
      </p:sp>
      <p:sp>
        <p:nvSpPr>
          <p:cNvPr id="15" name="TextBox 14"/>
          <p:cNvSpPr txBox="1"/>
          <p:nvPr/>
        </p:nvSpPr>
        <p:spPr>
          <a:xfrm>
            <a:off x="923544"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 latency</a:t>
            </a:r>
          </a:p>
        </p:txBody>
      </p:sp>
      <p:sp>
        <p:nvSpPr>
          <p:cNvPr id="16" name="TextBox 15"/>
          <p:cNvSpPr txBox="1"/>
          <p:nvPr/>
        </p:nvSpPr>
        <p:spPr>
          <a:xfrm>
            <a:off x="749808"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Choose replicas and parallelism</a:t>
            </a:r>
          </a:p>
          <a:p>
            <a:pPr>
              <a:spcBef>
                <a:spcPts val="0"/>
              </a:spcBef>
              <a:spcAft>
                <a:spcPts val="500"/>
              </a:spcAft>
              <a:defRPr sz="1700" b="0">
                <a:solidFill>
                  <a:srgbClr val="087F8C"/>
                </a:solidFill>
                <a:latin typeface="Arial"/>
              </a:defRPr>
            </a:pPr>
            <a:r>
              <a:t>for prompt pressure.</a:t>
            </a:r>
          </a:p>
        </p:txBody>
      </p:sp>
      <p:sp>
        <p:nvSpPr>
          <p:cNvPr id="17" name="Rounded Rectangle 16"/>
          <p:cNvSpPr/>
          <p:nvPr/>
        </p:nvSpPr>
        <p:spPr>
          <a:xfrm>
            <a:off x="7571231" y="2194560"/>
            <a:ext cx="4114800" cy="315468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99831"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7354B8"/>
                </a:solidFill>
                <a:latin typeface="Arial"/>
              </a:defRPr>
            </a:pPr>
            <a:r>
              <a:t>DECODE POOL</a:t>
            </a:r>
          </a:p>
        </p:txBody>
      </p:sp>
      <p:sp>
        <p:nvSpPr>
          <p:cNvPr id="19" name="Rounded Rectangle 18"/>
          <p:cNvSpPr/>
          <p:nvPr/>
        </p:nvSpPr>
        <p:spPr>
          <a:xfrm>
            <a:off x="7845552"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45552" y="3200400"/>
            <a:ext cx="50292" cy="8595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82712"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Token generation</a:t>
            </a:r>
          </a:p>
        </p:txBody>
      </p:sp>
      <p:sp>
        <p:nvSpPr>
          <p:cNvPr id="22" name="TextBox 21"/>
          <p:cNvSpPr txBox="1"/>
          <p:nvPr/>
        </p:nvSpPr>
        <p:spPr>
          <a:xfrm>
            <a:off x="7991856"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active KV memory</a:t>
            </a:r>
          </a:p>
        </p:txBody>
      </p:sp>
      <p:sp>
        <p:nvSpPr>
          <p:cNvPr id="23" name="TextBox 22"/>
          <p:cNvSpPr txBox="1"/>
          <p:nvPr/>
        </p:nvSpPr>
        <p:spPr>
          <a:xfrm>
            <a:off x="7818120"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7354B8"/>
                </a:solidFill>
                <a:latin typeface="Arial"/>
              </a:defRPr>
            </a:pPr>
            <a:r>
              <a:t>Choose replicas and parallelism</a:t>
            </a:r>
          </a:p>
          <a:p>
            <a:pPr>
              <a:spcBef>
                <a:spcPts val="0"/>
              </a:spcBef>
              <a:spcAft>
                <a:spcPts val="500"/>
              </a:spcAft>
              <a:defRPr sz="1700" b="0">
                <a:solidFill>
                  <a:srgbClr val="7354B8"/>
                </a:solidFill>
                <a:latin typeface="Arial"/>
              </a:defRPr>
            </a:pPr>
            <a:r>
              <a:t>for sustained generation.</a:t>
            </a:r>
          </a:p>
        </p:txBody>
      </p:sp>
      <p:cxnSp>
        <p:nvCxnSpPr>
          <p:cNvPr id="24" name="Connector 23"/>
          <p:cNvCxnSpPr/>
          <p:nvPr/>
        </p:nvCxnSpPr>
        <p:spPr>
          <a:xfrm>
            <a:off x="4617720" y="3639312"/>
            <a:ext cx="2953511"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773168" y="2816352"/>
            <a:ext cx="2651760" cy="594360"/>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KV cache transfer</a:t>
            </a:r>
          </a:p>
        </p:txBody>
      </p:sp>
      <p:sp>
        <p:nvSpPr>
          <p:cNvPr id="26" name="TextBox 25"/>
          <p:cNvSpPr txBox="1"/>
          <p:nvPr/>
        </p:nvSpPr>
        <p:spPr>
          <a:xfrm>
            <a:off x="4736592" y="3977639"/>
            <a:ext cx="2697480" cy="1005840"/>
          </a:xfrm>
          <a:prstGeom prst="rect">
            <a:avLst/>
          </a:prstGeom>
          <a:noFill/>
        </p:spPr>
        <p:txBody>
          <a:bodyPr wrap="square" lIns="13716" rIns="13716" tIns="13716" bIns="13716">
            <a:spAutoFit/>
          </a:bodyPr>
          <a:lstStyle/>
          <a:p>
            <a:pPr algn="ctr">
              <a:spcBef>
                <a:spcPts val="0"/>
              </a:spcBef>
              <a:spcAft>
                <a:spcPts val="500"/>
              </a:spcAft>
              <a:defRPr sz="1700" b="0">
                <a:solidFill>
                  <a:srgbClr val="586A80"/>
                </a:solidFill>
                <a:latin typeface="Arial"/>
              </a:defRPr>
            </a:pPr>
            <a:r>
              <a:t>New cost:</a:t>
            </a:r>
          </a:p>
          <a:p>
            <a:pPr algn="ctr">
              <a:spcBef>
                <a:spcPts val="0"/>
              </a:spcBef>
              <a:spcAft>
                <a:spcPts val="500"/>
              </a:spcAft>
              <a:defRPr sz="1700" b="0">
                <a:solidFill>
                  <a:srgbClr val="586A80"/>
                </a:solidFill>
                <a:latin typeface="Arial"/>
              </a:defRPr>
            </a:pPr>
            <a:r>
              <a:t>transfer + coordination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P/D fits when the phases need different shapes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traffic profile, not the architecture trend.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09 / 54</a:t>
            </a:r>
          </a:p>
        </p:txBody>
      </p:sp>
      <p:sp>
        <p:nvSpPr>
          <p:cNvPr id="8" name="Rounded Rectangle 7"/>
          <p:cNvSpPr/>
          <p:nvPr/>
        </p:nvSpPr>
        <p:spPr>
          <a:xfrm>
            <a:off x="502920"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PROMPT PRESSURE</a:t>
            </a:r>
          </a:p>
        </p:txBody>
      </p:sp>
      <p:sp>
        <p:nvSpPr>
          <p:cNvPr id="11" name="TextBox 10"/>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Long prompts</a:t>
            </a:r>
          </a:p>
        </p:txBody>
      </p:sp>
      <p:sp>
        <p:nvSpPr>
          <p:cNvPr id="12" name="TextBox 11"/>
          <p:cNvSpPr txBox="1"/>
          <p:nvPr/>
        </p:nvSpPr>
        <p:spPr>
          <a:xfrm>
            <a:off x="685800"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RAG and retrieval add significant prefill work.</a:t>
            </a:r>
          </a:p>
        </p:txBody>
      </p:sp>
      <p:sp>
        <p:nvSpPr>
          <p:cNvPr id="13" name="Rounded Rectangle 12"/>
          <p:cNvSpPr/>
          <p:nvPr/>
        </p:nvSpPr>
        <p:spPr>
          <a:xfrm>
            <a:off x="4288536"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GENERATION PRESSURE</a:t>
            </a:r>
          </a:p>
        </p:txBody>
      </p:sp>
      <p:sp>
        <p:nvSpPr>
          <p:cNvPr id="16" name="TextBox 15"/>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Long generations</a:t>
            </a:r>
          </a:p>
        </p:txBody>
      </p:sp>
      <p:sp>
        <p:nvSpPr>
          <p:cNvPr id="17" name="TextBox 16"/>
          <p:cNvSpPr txBox="1"/>
          <p:nvPr/>
        </p:nvSpPr>
        <p:spPr>
          <a:xfrm>
            <a:off x="4471416"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High concurrency keeps decode busy and KV state resident.</a:t>
            </a:r>
          </a:p>
        </p:txBody>
      </p:sp>
      <p:sp>
        <p:nvSpPr>
          <p:cNvPr id="18" name="Rounded Rectangle 17"/>
          <p:cNvSpPr/>
          <p:nvPr/>
        </p:nvSpPr>
        <p:spPr>
          <a:xfrm>
            <a:off x="8074152"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CAPACITY MISMATCH</a:t>
            </a:r>
          </a:p>
        </p:txBody>
      </p:sp>
      <p:sp>
        <p:nvSpPr>
          <p:cNvPr id="21" name="TextBox 20"/>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Different resources</a:t>
            </a:r>
          </a:p>
        </p:txBody>
      </p:sp>
      <p:sp>
        <p:nvSpPr>
          <p:cNvPr id="22" name="TextBox 21"/>
          <p:cNvSpPr txBox="1"/>
          <p:nvPr/>
        </p:nvSpPr>
        <p:spPr>
          <a:xfrm>
            <a:off x="8257031"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Each phase needs its own scaling or parallelism choices.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Keep aggregated serving when simplicity wins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is an option, not a default.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Small workload + slow transfer fabric is a strong reason not to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10 / 54</a:t>
            </a:r>
          </a:p>
        </p:txBody>
      </p:sp>
      <p:sp>
        <p:nvSpPr>
          <p:cNvPr id="10" name="Rounded Rectangle 9"/>
          <p:cNvSpPr/>
          <p:nvPr/>
        </p:nvSpPr>
        <p:spPr>
          <a:xfrm>
            <a:off x="502920"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5915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When aggregated fits</a:t>
            </a:r>
          </a:p>
        </p:txBody>
      </p:sp>
      <p:sp>
        <p:nvSpPr>
          <p:cNvPr id="13" name="TextBox 12"/>
          <p:cNvSpPr txBox="1"/>
          <p:nvPr/>
        </p:nvSpPr>
        <p:spPr>
          <a:xfrm>
            <a:off x="685800"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Small models or short prompts</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Low request concurrency</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Simple, stable capacity needs</a:t>
            </a:r>
          </a:p>
        </p:txBody>
      </p:sp>
      <p:sp>
        <p:nvSpPr>
          <p:cNvPr id="14" name="Rounded Rectangle 13"/>
          <p:cNvSpPr/>
          <p:nvPr/>
        </p:nvSpPr>
        <p:spPr>
          <a:xfrm>
            <a:off x="6199632"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64224" y="235915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split adds real costs</a:t>
            </a:r>
          </a:p>
        </p:txBody>
      </p:sp>
      <p:sp>
        <p:nvSpPr>
          <p:cNvPr id="17" name="TextBox 16"/>
          <p:cNvSpPr txBox="1"/>
          <p:nvPr/>
        </p:nvSpPr>
        <p:spPr>
          <a:xfrm>
            <a:off x="6382512"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KV transfer across the fabric</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More routing and runtime wiring</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Additional failure boundaries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THE ORCHESTRATION GAP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hard part is the Kubernetes wiring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two-pool idea expands into a network of runtime contracts.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Correct routing, transfer settings, labels, ports, and readiness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11 / 54</a:t>
            </a:r>
          </a:p>
        </p:txBody>
      </p:sp>
      <p:sp>
        <p:nvSpPr>
          <p:cNvPr id="10" name="Rounded Rectangle 9"/>
          <p:cNvSpPr/>
          <p:nvPr/>
        </p:nvSpPr>
        <p:spPr>
          <a:xfrm>
            <a:off x="4407408" y="3136392"/>
            <a:ext cx="3383280" cy="960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3227832"/>
            <a:ext cx="50292" cy="7772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8" y="3255264"/>
            <a:ext cx="310896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One model service</a:t>
            </a:r>
          </a:p>
        </p:txBody>
      </p:sp>
      <p:sp>
        <p:nvSpPr>
          <p:cNvPr id="13" name="TextBox 12"/>
          <p:cNvSpPr txBox="1"/>
          <p:nvPr/>
        </p:nvSpPr>
        <p:spPr>
          <a:xfrm>
            <a:off x="4553712" y="3694176"/>
            <a:ext cx="3090672" cy="3108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Two role-specific backends</a:t>
            </a:r>
          </a:p>
        </p:txBody>
      </p:sp>
      <p:sp>
        <p:nvSpPr>
          <p:cNvPr id="14" name="Rounded Rectangle 13"/>
          <p:cNvSpPr/>
          <p:nvPr/>
        </p:nvSpPr>
        <p:spPr>
          <a:xfrm>
            <a:off x="502920"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194560"/>
            <a:ext cx="50292" cy="9601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Routing topology</a:t>
            </a:r>
          </a:p>
        </p:txBody>
      </p:sp>
      <p:sp>
        <p:nvSpPr>
          <p:cNvPr id="17" name="TextBox 16"/>
          <p:cNvSpPr txBox="1"/>
          <p:nvPr/>
        </p:nvSpPr>
        <p:spPr>
          <a:xfrm>
            <a:off x="649224"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endpoint selection</a:t>
            </a:r>
          </a:p>
        </p:txBody>
      </p:sp>
      <p:sp>
        <p:nvSpPr>
          <p:cNvPr id="18" name="Rounded Rectangle 17"/>
          <p:cNvSpPr/>
          <p:nvPr/>
        </p:nvSpPr>
        <p:spPr>
          <a:xfrm>
            <a:off x="502920"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27939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KV-transfer contract</a:t>
            </a:r>
          </a:p>
        </p:txBody>
      </p:sp>
      <p:sp>
        <p:nvSpPr>
          <p:cNvPr id="21" name="TextBox 20"/>
          <p:cNvSpPr txBox="1"/>
          <p:nvPr/>
        </p:nvSpPr>
        <p:spPr>
          <a:xfrm>
            <a:off x="649224"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Connector + transport settings</a:t>
            </a:r>
          </a:p>
        </p:txBody>
      </p:sp>
      <p:sp>
        <p:nvSpPr>
          <p:cNvPr id="22" name="Rounded Rectangle 21"/>
          <p:cNvSpPr/>
          <p:nvPr/>
        </p:nvSpPr>
        <p:spPr>
          <a:xfrm>
            <a:off x="8257031"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57031" y="219456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Decode-side proxy</a:t>
            </a:r>
          </a:p>
        </p:txBody>
      </p:sp>
      <p:sp>
        <p:nvSpPr>
          <p:cNvPr id="25" name="TextBox 24"/>
          <p:cNvSpPr txBox="1"/>
          <p:nvPr/>
        </p:nvSpPr>
        <p:spPr>
          <a:xfrm>
            <a:off x="8403336"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Request orchestration</a:t>
            </a:r>
          </a:p>
        </p:txBody>
      </p:sp>
      <p:sp>
        <p:nvSpPr>
          <p:cNvPr id="26" name="Rounded Rectangle 25"/>
          <p:cNvSpPr/>
          <p:nvPr/>
        </p:nvSpPr>
        <p:spPr>
          <a:xfrm>
            <a:off x="8257031"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57031" y="4279392"/>
            <a:ext cx="50292" cy="9601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4192"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AE641A"/>
                </a:solidFill>
                <a:latin typeface="Arial"/>
              </a:defRPr>
            </a:pPr>
            <a:r>
              <a:t>Lifecycle + scaling</a:t>
            </a:r>
          </a:p>
        </p:txBody>
      </p:sp>
      <p:sp>
        <p:nvSpPr>
          <p:cNvPr id="29" name="TextBox 28"/>
          <p:cNvSpPr txBox="1"/>
          <p:nvPr/>
        </p:nvSpPr>
        <p:spPr>
          <a:xfrm>
            <a:off x="8403336"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Ports, labels, probes, replicas</a:t>
            </a:r>
          </a:p>
        </p:txBody>
      </p:sp>
      <p:cxnSp>
        <p:nvCxnSpPr>
          <p:cNvPr id="30" name="Connector 29"/>
          <p:cNvCxnSpPr/>
          <p:nvPr/>
        </p:nvCxnSpPr>
        <p:spPr>
          <a:xfrm>
            <a:off x="3931920" y="2679192"/>
            <a:ext cx="22860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160520" y="2679192"/>
            <a:ext cx="0" cy="7498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160520" y="3429000"/>
            <a:ext cx="2468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931920" y="4754880"/>
            <a:ext cx="22860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160520" y="3813048"/>
            <a:ext cx="0" cy="941832"/>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60520" y="3813048"/>
            <a:ext cx="2468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90688" y="3429000"/>
            <a:ext cx="22860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019288" y="2679192"/>
            <a:ext cx="0" cy="7498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19288" y="2679192"/>
            <a:ext cx="237743"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790688" y="3813048"/>
            <a:ext cx="22860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019288" y="3813048"/>
            <a:ext cx="0" cy="941832"/>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19288" y="4754880"/>
            <a:ext cx="237743"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ECOSYSTEM LANDSCAPE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Open-source P/D: several paths, different abstractions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Representative approaches—not an adoption ranking or mutually exclusive stacks.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Declarative APIs already exist. The opportunity is simpler integration—not the first CRD.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12 / 54</a:t>
            </a:r>
          </a:p>
        </p:txBody>
      </p:sp>
      <p:sp>
        <p:nvSpPr>
          <p:cNvPr id="10" name="Rectangle 9"/>
          <p:cNvSpPr/>
          <p:nvPr/>
        </p:nvSpPr>
        <p:spPr>
          <a:xfrm>
            <a:off x="502920" y="1938528"/>
            <a:ext cx="285750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2016252"/>
            <a:ext cx="2679191"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APPROACH</a:t>
            </a:r>
          </a:p>
        </p:txBody>
      </p:sp>
      <p:sp>
        <p:nvSpPr>
          <p:cNvPr id="12" name="Rectangle 11"/>
          <p:cNvSpPr/>
          <p:nvPr/>
        </p:nvSpPr>
        <p:spPr>
          <a:xfrm>
            <a:off x="3383280" y="1938528"/>
            <a:ext cx="3936491"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3864" y="2016252"/>
            <a:ext cx="3758184"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SERVING / ROUTING PATH</a:t>
            </a:r>
          </a:p>
        </p:txBody>
      </p:sp>
      <p:sp>
        <p:nvSpPr>
          <p:cNvPr id="14" name="Rectangle 13"/>
          <p:cNvSpPr/>
          <p:nvPr/>
        </p:nvSpPr>
        <p:spPr>
          <a:xfrm>
            <a:off x="7342632" y="1938528"/>
            <a:ext cx="432054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43216" y="2016252"/>
            <a:ext cx="4142232"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KUBERNETES PACKAGING</a:t>
            </a:r>
          </a:p>
        </p:txBody>
      </p:sp>
      <p:sp>
        <p:nvSpPr>
          <p:cNvPr id="16" name="Rectangle 15"/>
          <p:cNvSpPr/>
          <p:nvPr/>
        </p:nvSpPr>
        <p:spPr>
          <a:xfrm>
            <a:off x="502920" y="2368296"/>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 y="2446020"/>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NVIDIA Dynamo</a:t>
            </a:r>
          </a:p>
        </p:txBody>
      </p:sp>
      <p:sp>
        <p:nvSpPr>
          <p:cNvPr id="18" name="Rectangle 17"/>
          <p:cNvSpPr/>
          <p:nvPr/>
        </p:nvSpPr>
        <p:spPr>
          <a:xfrm>
            <a:off x="3383280" y="2368296"/>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3864" y="2446020"/>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Integrated inference stack</a:t>
            </a:r>
          </a:p>
        </p:txBody>
      </p:sp>
      <p:sp>
        <p:nvSpPr>
          <p:cNvPr id="20" name="Rectangle 19"/>
          <p:cNvSpPr/>
          <p:nvPr/>
        </p:nvSpPr>
        <p:spPr>
          <a:xfrm>
            <a:off x="7342632" y="2368296"/>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43216" y="2446020"/>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Operator + DynamoGraphDeployment</a:t>
            </a:r>
          </a:p>
        </p:txBody>
      </p:sp>
      <p:sp>
        <p:nvSpPr>
          <p:cNvPr id="22" name="Rectangle 21"/>
          <p:cNvSpPr/>
          <p:nvPr/>
        </p:nvSpPr>
        <p:spPr>
          <a:xfrm>
            <a:off x="502920" y="2798064"/>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2875788"/>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llm-d</a:t>
            </a:r>
          </a:p>
        </p:txBody>
      </p:sp>
      <p:sp>
        <p:nvSpPr>
          <p:cNvPr id="24" name="Rectangle 23"/>
          <p:cNvSpPr/>
          <p:nvPr/>
        </p:nvSpPr>
        <p:spPr>
          <a:xfrm>
            <a:off x="3383280" y="2798064"/>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83864" y="2875788"/>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EPP + routing sidecar</a:t>
            </a:r>
          </a:p>
        </p:txBody>
      </p:sp>
      <p:sp>
        <p:nvSpPr>
          <p:cNvPr id="26" name="Rectangle 25"/>
          <p:cNvSpPr/>
          <p:nvPr/>
        </p:nvSpPr>
        <p:spPr>
          <a:xfrm>
            <a:off x="7342632" y="2798064"/>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43216" y="2875788"/>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Gateway API / InferencePool</a:t>
            </a:r>
          </a:p>
        </p:txBody>
      </p:sp>
      <p:sp>
        <p:nvSpPr>
          <p:cNvPr id="28" name="Rectangle 27"/>
          <p:cNvSpPr/>
          <p:nvPr/>
        </p:nvSpPr>
        <p:spPr>
          <a:xfrm>
            <a:off x="502920" y="3227832"/>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3504" y="3305556"/>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AIBrix</a:t>
            </a:r>
          </a:p>
        </p:txBody>
      </p:sp>
      <p:sp>
        <p:nvSpPr>
          <p:cNvPr id="30" name="Rectangle 29"/>
          <p:cNvSpPr/>
          <p:nvPr/>
        </p:nvSpPr>
        <p:spPr>
          <a:xfrm>
            <a:off x="3383280" y="3227832"/>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83864" y="3305556"/>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gateway + engines</a:t>
            </a:r>
          </a:p>
        </p:txBody>
      </p:sp>
      <p:sp>
        <p:nvSpPr>
          <p:cNvPr id="32" name="Rectangle 31"/>
          <p:cNvSpPr/>
          <p:nvPr/>
        </p:nvSpPr>
        <p:spPr>
          <a:xfrm>
            <a:off x="7342632" y="3227832"/>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43216" y="3305556"/>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StormService / RoleSet</a:t>
            </a:r>
          </a:p>
        </p:txBody>
      </p:sp>
      <p:sp>
        <p:nvSpPr>
          <p:cNvPr id="34" name="Rectangle 33"/>
          <p:cNvSpPr/>
          <p:nvPr/>
        </p:nvSpPr>
        <p:spPr>
          <a:xfrm>
            <a:off x="502920" y="3657600"/>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 y="3735324"/>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KServe + llm-d</a:t>
            </a:r>
          </a:p>
        </p:txBody>
      </p:sp>
      <p:sp>
        <p:nvSpPr>
          <p:cNvPr id="36" name="Rectangle 35"/>
          <p:cNvSpPr/>
          <p:nvPr/>
        </p:nvSpPr>
        <p:spPr>
          <a:xfrm>
            <a:off x="3383280" y="3657600"/>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83864" y="3735324"/>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llm-d serving integration</a:t>
            </a:r>
          </a:p>
        </p:txBody>
      </p:sp>
      <p:sp>
        <p:nvSpPr>
          <p:cNvPr id="38" name="Rectangle 37"/>
          <p:cNvSpPr/>
          <p:nvPr/>
        </p:nvSpPr>
        <p:spPr>
          <a:xfrm>
            <a:off x="7342632" y="3657600"/>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43216" y="3735324"/>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LLMInferenceService</a:t>
            </a:r>
          </a:p>
        </p:txBody>
      </p:sp>
      <p:sp>
        <p:nvSpPr>
          <p:cNvPr id="40" name="Rectangle 39"/>
          <p:cNvSpPr/>
          <p:nvPr/>
        </p:nvSpPr>
        <p:spPr>
          <a:xfrm>
            <a:off x="502920" y="4087368"/>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3504" y="4165091"/>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Ray Serve + KubeRay</a:t>
            </a:r>
          </a:p>
        </p:txBody>
      </p:sp>
      <p:sp>
        <p:nvSpPr>
          <p:cNvPr id="42" name="Rectangle 41"/>
          <p:cNvSpPr/>
          <p:nvPr/>
        </p:nvSpPr>
        <p:spPr>
          <a:xfrm>
            <a:off x="3383280" y="4087368"/>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83864" y="4165091"/>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 app + vLLM KV connectors</a:t>
            </a:r>
          </a:p>
        </p:txBody>
      </p:sp>
      <p:sp>
        <p:nvSpPr>
          <p:cNvPr id="44" name="Rectangle 43"/>
          <p:cNvSpPr/>
          <p:nvPr/>
        </p:nvSpPr>
        <p:spPr>
          <a:xfrm>
            <a:off x="7342632" y="4087368"/>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43216" y="4165091"/>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RayService + Serve configuration</a:t>
            </a:r>
          </a:p>
        </p:txBody>
      </p:sp>
      <p:sp>
        <p:nvSpPr>
          <p:cNvPr id="46" name="Rectangle 45"/>
          <p:cNvSpPr/>
          <p:nvPr/>
        </p:nvSpPr>
        <p:spPr>
          <a:xfrm>
            <a:off x="502920" y="4517136"/>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4" y="4594859"/>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vLLM Production Stack</a:t>
            </a:r>
          </a:p>
        </p:txBody>
      </p:sp>
      <p:sp>
        <p:nvSpPr>
          <p:cNvPr id="48" name="Rectangle 47"/>
          <p:cNvSpPr/>
          <p:nvPr/>
        </p:nvSpPr>
        <p:spPr>
          <a:xfrm>
            <a:off x="3383280" y="4517136"/>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83864" y="4594859"/>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vLLM + LMCache / NIXL + router</a:t>
            </a:r>
          </a:p>
        </p:txBody>
      </p:sp>
      <p:sp>
        <p:nvSpPr>
          <p:cNvPr id="50" name="Rectangle 49"/>
          <p:cNvSpPr/>
          <p:nvPr/>
        </p:nvSpPr>
        <p:spPr>
          <a:xfrm>
            <a:off x="7342632" y="4517136"/>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43216" y="4594859"/>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Helm-managed P/D deployment</a:t>
            </a:r>
          </a:p>
        </p:txBody>
      </p:sp>
      <p:sp>
        <p:nvSpPr>
          <p:cNvPr id="52" name="Rounded Rectangle 51"/>
          <p:cNvSpPr/>
          <p:nvPr/>
        </p:nvSpPr>
        <p:spPr>
          <a:xfrm>
            <a:off x="502920" y="5074920"/>
            <a:ext cx="11183112" cy="521207"/>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5193792"/>
            <a:ext cx="10881360" cy="292608"/>
          </a:xfrm>
          <a:prstGeom prst="rect">
            <a:avLst/>
          </a:prstGeom>
          <a:noFill/>
        </p:spPr>
        <p:txBody>
          <a:bodyPr wrap="square" lIns="13716" rIns="13716" tIns="13716" bIns="13716">
            <a:spAutoFit/>
          </a:bodyPr>
          <a:lstStyle/>
          <a:p>
            <a:pPr>
              <a:spcBef>
                <a:spcPts val="0"/>
              </a:spcBef>
              <a:spcAft>
                <a:spcPts val="500"/>
              </a:spcAft>
              <a:defRPr sz="1500" b="0">
                <a:solidFill>
                  <a:srgbClr val="087F8C"/>
                </a:solidFill>
                <a:latin typeface="Arial"/>
              </a:defRPr>
            </a:pPr>
            <a:r>
              <a:t>Also: LWS DisaggregatedSet orchestrates roles; engines and KV transport remain separate.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INTEGRATION RATIONALE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Why llm-d is the best fit for KAITO’s P/D integration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For teams choosing KAITO’s Kubernetes operating model—not a universal best-platform claim.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owns deployment intent and lifecycle; llm-d supplies reusable inference routing.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13 / 54</a:t>
            </a:r>
          </a:p>
        </p:txBody>
      </p:sp>
      <p:sp>
        <p:nvSpPr>
          <p:cNvPr id="10" name="Rounded Rectangle 9"/>
          <p:cNvSpPr/>
          <p:nvPr/>
        </p:nvSpPr>
        <p:spPr>
          <a:xfrm>
            <a:off x="502920"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066544"/>
            <a:ext cx="50292" cy="9326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KAITO</a:t>
            </a:r>
          </a:p>
        </p:txBody>
      </p:sp>
      <p:sp>
        <p:nvSpPr>
          <p:cNvPr id="13" name="TextBox 12"/>
          <p:cNvSpPr txBox="1"/>
          <p:nvPr/>
        </p:nvSpPr>
        <p:spPr>
          <a:xfrm>
            <a:off x="649224"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MRI → child InferenceSets</a:t>
            </a:r>
          </a:p>
        </p:txBody>
      </p:sp>
      <p:sp>
        <p:nvSpPr>
          <p:cNvPr id="14" name="Rounded Rectangle 13"/>
          <p:cNvSpPr/>
          <p:nvPr/>
        </p:nvSpPr>
        <p:spPr>
          <a:xfrm>
            <a:off x="4443984"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43984" y="2066544"/>
            <a:ext cx="50292" cy="93268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1144"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llm-d</a:t>
            </a:r>
          </a:p>
        </p:txBody>
      </p:sp>
      <p:sp>
        <p:nvSpPr>
          <p:cNvPr id="17" name="TextBox 16"/>
          <p:cNvSpPr txBox="1"/>
          <p:nvPr/>
        </p:nvSpPr>
        <p:spPr>
          <a:xfrm>
            <a:off x="4590288"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decode routing sidecar</a:t>
            </a:r>
          </a:p>
        </p:txBody>
      </p:sp>
      <p:sp>
        <p:nvSpPr>
          <p:cNvPr id="18" name="Rounded Rectangle 17"/>
          <p:cNvSpPr/>
          <p:nvPr/>
        </p:nvSpPr>
        <p:spPr>
          <a:xfrm>
            <a:off x="8385048" y="1975104"/>
            <a:ext cx="3300984"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85048" y="2066544"/>
            <a:ext cx="50292" cy="93268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22208" y="2093976"/>
            <a:ext cx="302666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vLLM + NIXL</a:t>
            </a:r>
          </a:p>
        </p:txBody>
      </p:sp>
      <p:sp>
        <p:nvSpPr>
          <p:cNvPr id="21" name="TextBox 20"/>
          <p:cNvSpPr txBox="1"/>
          <p:nvPr/>
        </p:nvSpPr>
        <p:spPr>
          <a:xfrm>
            <a:off x="8531352" y="2532888"/>
            <a:ext cx="3008376"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Execute phases + move KV</a:t>
            </a:r>
          </a:p>
        </p:txBody>
      </p:sp>
      <p:sp>
        <p:nvSpPr>
          <p:cNvPr id="22" name="TextBox 21"/>
          <p:cNvSpPr txBox="1"/>
          <p:nvPr/>
        </p:nvSpPr>
        <p:spPr>
          <a:xfrm>
            <a:off x="3877056"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3" name="TextBox 22"/>
          <p:cNvSpPr txBox="1"/>
          <p:nvPr/>
        </p:nvSpPr>
        <p:spPr>
          <a:xfrm>
            <a:off x="7818120"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4" name="Rounded Rectangle 23"/>
          <p:cNvSpPr/>
          <p:nvPr/>
        </p:nvSpPr>
        <p:spPr>
          <a:xfrm>
            <a:off x="502920"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7512" y="345643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Reuse the API model</a:t>
            </a:r>
          </a:p>
        </p:txBody>
      </p:sp>
      <p:sp>
        <p:nvSpPr>
          <p:cNvPr id="27" name="TextBox 26"/>
          <p:cNvSpPr txBox="1"/>
          <p:nvPr/>
        </p:nvSpPr>
        <p:spPr>
          <a:xfrm>
            <a:off x="685800"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Keep Workspace / InferenceSet.</a:t>
            </a:r>
          </a:p>
          <a:p>
            <a:pPr>
              <a:spcBef>
                <a:spcPts val="0"/>
              </a:spcBef>
              <a:spcAft>
                <a:spcPts val="500"/>
              </a:spcAft>
              <a:defRPr sz="1400" b="0">
                <a:solidFill>
                  <a:srgbClr val="172941"/>
                </a:solidFill>
                <a:latin typeface="Arial"/>
              </a:defRPr>
            </a:pPr>
            <a:r>
              <a:t>Add role-specific replicas, GPU</a:t>
            </a:r>
          </a:p>
          <a:p>
            <a:pPr>
              <a:spcBef>
                <a:spcPts val="0"/>
              </a:spcBef>
              <a:spcAft>
                <a:spcPts val="500"/>
              </a:spcAft>
              <a:defRPr sz="1400" b="0">
                <a:solidFill>
                  <a:srgbClr val="172941"/>
                </a:solidFill>
                <a:latin typeface="Arial"/>
              </a:defRPr>
            </a:pPr>
            <a:r>
              <a:t>instance types and runtime settings.</a:t>
            </a:r>
          </a:p>
        </p:txBody>
      </p:sp>
      <p:sp>
        <p:nvSpPr>
          <p:cNvPr id="28" name="Rounded Rectangle 27"/>
          <p:cNvSpPr/>
          <p:nvPr/>
        </p:nvSpPr>
        <p:spPr>
          <a:xfrm>
            <a:off x="4288536"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53127" y="345643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1416"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Integrate, do not rebuild</a:t>
            </a:r>
          </a:p>
        </p:txBody>
      </p:sp>
      <p:sp>
        <p:nvSpPr>
          <p:cNvPr id="31" name="TextBox 30"/>
          <p:cNvSpPr txBox="1"/>
          <p:nvPr/>
        </p:nvSpPr>
        <p:spPr>
          <a:xfrm>
            <a:off x="4471416"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Reuse P/D-aware endpoint selection</a:t>
            </a:r>
          </a:p>
          <a:p>
            <a:pPr>
              <a:spcBef>
                <a:spcPts val="0"/>
              </a:spcBef>
              <a:spcAft>
                <a:spcPts val="500"/>
              </a:spcAft>
              <a:defRPr sz="1400" b="0">
                <a:solidFill>
                  <a:srgbClr val="172941"/>
                </a:solidFill>
                <a:latin typeface="Arial"/>
              </a:defRPr>
            </a:pPr>
            <a:r>
              <a:t>and request orchestration. KAITO</a:t>
            </a:r>
          </a:p>
          <a:p>
            <a:pPr>
              <a:spcBef>
                <a:spcPts val="0"/>
              </a:spcBef>
              <a:spcAft>
                <a:spcPts val="500"/>
              </a:spcAft>
              <a:defRPr sz="1400" b="0">
                <a:solidFill>
                  <a:srgbClr val="172941"/>
                </a:solidFill>
                <a:latin typeface="Arial"/>
              </a:defRPr>
            </a:pPr>
            <a:r>
              <a:t>wires sidecars, ports and the pool.</a:t>
            </a:r>
          </a:p>
        </p:txBody>
      </p:sp>
      <p:sp>
        <p:nvSpPr>
          <p:cNvPr id="32" name="Rounded Rectangle 31"/>
          <p:cNvSpPr/>
          <p:nvPr/>
        </p:nvSpPr>
        <p:spPr>
          <a:xfrm>
            <a:off x="8074152"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38744" y="345643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Clear ownership</a:t>
            </a:r>
          </a:p>
        </p:txBody>
      </p:sp>
      <p:sp>
        <p:nvSpPr>
          <p:cNvPr id="35" name="TextBox 34"/>
          <p:cNvSpPr txBox="1"/>
          <p:nvPr/>
        </p:nvSpPr>
        <p:spPr>
          <a:xfrm>
            <a:off x="8257031"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Use Gateway API / InferencePool.</a:t>
            </a:r>
          </a:p>
          <a:p>
            <a:pPr>
              <a:spcBef>
                <a:spcPts val="0"/>
              </a:spcBef>
              <a:spcAft>
                <a:spcPts val="500"/>
              </a:spcAft>
              <a:defRPr sz="1400" b="0">
                <a:solidFill>
                  <a:srgbClr val="172941"/>
                </a:solidFill>
                <a:latin typeface="Arial"/>
              </a:defRPr>
            </a:pPr>
            <a:r>
              <a:t>Keep routing plugins upstream;</a:t>
            </a:r>
          </a:p>
          <a:p>
            <a:pPr>
              <a:spcBef>
                <a:spcPts val="0"/>
              </a:spcBef>
              <a:spcAft>
                <a:spcPts val="500"/>
              </a:spcAft>
              <a:defRPr sz="1400" b="0">
                <a:solidFill>
                  <a:srgbClr val="172941"/>
                </a:solidFill>
                <a:latin typeface="Arial"/>
              </a:defRPr>
            </a:pPr>
            <a:r>
              <a:t>avoid adding a second serving API.</a:t>
            </a:r>
          </a:p>
        </p:txBody>
      </p:sp>
      <p:sp>
        <p:nvSpPr>
          <p:cNvPr id="36" name="TextBox 35"/>
          <p:cNvSpPr txBox="1"/>
          <p:nvPr/>
        </p:nvSpPr>
        <p:spPr>
          <a:xfrm>
            <a:off x="530352" y="5285232"/>
            <a:ext cx="11109960" cy="365760"/>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Current scope: alpha MRI • vLLM + Istio • GPU connectivity for KV transfer • scaling policy still needs design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turns inference topology into Kubernetes APIs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control-plane progression from model serving to distributed inference.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is the abstraction and orchestration layer—not the model server.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14 / 54</a:t>
            </a:r>
          </a:p>
        </p:txBody>
      </p:sp>
      <p:sp>
        <p:nvSpPr>
          <p:cNvPr id="10" name="Rounded Rectangle 9"/>
          <p:cNvSpPr/>
          <p:nvPr/>
        </p:nvSpPr>
        <p:spPr>
          <a:xfrm>
            <a:off x="502920" y="3108960"/>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00400"/>
            <a:ext cx="50292" cy="1216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27832"/>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Workspace</a:t>
            </a:r>
          </a:p>
        </p:txBody>
      </p:sp>
      <p:sp>
        <p:nvSpPr>
          <p:cNvPr id="13" name="TextBox 12"/>
          <p:cNvSpPr txBox="1"/>
          <p:nvPr/>
        </p:nvSpPr>
        <p:spPr>
          <a:xfrm>
            <a:off x="649224" y="3666744"/>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 a serving</a:t>
            </a:r>
          </a:p>
          <a:p>
            <a:pPr algn="ctr">
              <a:spcBef>
                <a:spcPts val="0"/>
              </a:spcBef>
              <a:spcAft>
                <a:spcPts val="500"/>
              </a:spcAft>
              <a:defRPr sz="1400" b="0">
                <a:solidFill>
                  <a:srgbClr val="586A80"/>
                </a:solidFill>
                <a:latin typeface="Arial"/>
              </a:defRPr>
            </a:pPr>
            <a:r>
              <a:t>or tuning workload</a:t>
            </a:r>
          </a:p>
        </p:txBody>
      </p:sp>
      <p:sp>
        <p:nvSpPr>
          <p:cNvPr id="14" name="TextBox 13"/>
          <p:cNvSpPr txBox="1"/>
          <p:nvPr/>
        </p:nvSpPr>
        <p:spPr>
          <a:xfrm>
            <a:off x="502920" y="4690872"/>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2563EB"/>
                </a:solidFill>
                <a:latin typeface="Arial"/>
              </a:defRPr>
            </a:pPr>
            <a:r>
              <a:t>SERVE</a:t>
            </a:r>
          </a:p>
        </p:txBody>
      </p:sp>
      <p:cxnSp>
        <p:nvCxnSpPr>
          <p:cNvPr id="15" name="Connector 14"/>
          <p:cNvCxnSpPr/>
          <p:nvPr/>
        </p:nvCxnSpPr>
        <p:spPr>
          <a:xfrm>
            <a:off x="3191256" y="3794760"/>
            <a:ext cx="9144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282696" y="3502152"/>
            <a:ext cx="0" cy="2926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282696" y="3502152"/>
            <a:ext cx="82295"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364991" y="2816352"/>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64991" y="2907792"/>
            <a:ext cx="50292" cy="12161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1" y="2935224"/>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InferenceSet</a:t>
            </a:r>
          </a:p>
        </p:txBody>
      </p:sp>
      <p:sp>
        <p:nvSpPr>
          <p:cNvPr id="21" name="TextBox 20"/>
          <p:cNvSpPr txBox="1"/>
          <p:nvPr/>
        </p:nvSpPr>
        <p:spPr>
          <a:xfrm>
            <a:off x="3511296" y="3374136"/>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serving</a:t>
            </a:r>
          </a:p>
          <a:p>
            <a:pPr algn="ctr">
              <a:spcBef>
                <a:spcPts val="0"/>
              </a:spcBef>
              <a:spcAft>
                <a:spcPts val="500"/>
              </a:spcAft>
              <a:defRPr sz="1400" b="0">
                <a:solidFill>
                  <a:srgbClr val="586A80"/>
                </a:solidFill>
                <a:latin typeface="Arial"/>
              </a:defRPr>
            </a:pPr>
            <a:r>
              <a:t>replicas</a:t>
            </a:r>
          </a:p>
        </p:txBody>
      </p:sp>
      <p:sp>
        <p:nvSpPr>
          <p:cNvPr id="22" name="TextBox 21"/>
          <p:cNvSpPr txBox="1"/>
          <p:nvPr/>
        </p:nvSpPr>
        <p:spPr>
          <a:xfrm>
            <a:off x="3364991" y="4398264"/>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087F8C"/>
                </a:solidFill>
                <a:latin typeface="Arial"/>
              </a:defRPr>
            </a:pPr>
            <a:r>
              <a:t>SCALE</a:t>
            </a:r>
          </a:p>
        </p:txBody>
      </p:sp>
      <p:cxnSp>
        <p:nvCxnSpPr>
          <p:cNvPr id="23" name="Connector 22"/>
          <p:cNvCxnSpPr/>
          <p:nvPr/>
        </p:nvCxnSpPr>
        <p:spPr>
          <a:xfrm>
            <a:off x="6053327" y="3502152"/>
            <a:ext cx="91441"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144768" y="3209544"/>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144768" y="3209544"/>
            <a:ext cx="8229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27064" y="2523744"/>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7064" y="2615184"/>
            <a:ext cx="50292" cy="12161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64224" y="2642615"/>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InferencePool</a:t>
            </a:r>
          </a:p>
        </p:txBody>
      </p:sp>
      <p:sp>
        <p:nvSpPr>
          <p:cNvPr id="29" name="TextBox 28"/>
          <p:cNvSpPr txBox="1"/>
          <p:nvPr/>
        </p:nvSpPr>
        <p:spPr>
          <a:xfrm>
            <a:off x="6373368" y="3081528"/>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Expose routing-facing</a:t>
            </a:r>
          </a:p>
          <a:p>
            <a:pPr algn="ctr">
              <a:spcBef>
                <a:spcPts val="0"/>
              </a:spcBef>
              <a:spcAft>
                <a:spcPts val="500"/>
              </a:spcAft>
              <a:defRPr sz="1400" b="0">
                <a:solidFill>
                  <a:srgbClr val="586A80"/>
                </a:solidFill>
                <a:latin typeface="Arial"/>
              </a:defRPr>
            </a:pPr>
            <a:r>
              <a:t>backend groups</a:t>
            </a:r>
          </a:p>
        </p:txBody>
      </p:sp>
      <p:sp>
        <p:nvSpPr>
          <p:cNvPr id="30" name="TextBox 29"/>
          <p:cNvSpPr txBox="1"/>
          <p:nvPr/>
        </p:nvSpPr>
        <p:spPr>
          <a:xfrm>
            <a:off x="6227064" y="4105656"/>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ROUTE</a:t>
            </a:r>
          </a:p>
        </p:txBody>
      </p:sp>
      <p:cxnSp>
        <p:nvCxnSpPr>
          <p:cNvPr id="31" name="Connector 30"/>
          <p:cNvCxnSpPr/>
          <p:nvPr/>
        </p:nvCxnSpPr>
        <p:spPr>
          <a:xfrm>
            <a:off x="8915400" y="3209544"/>
            <a:ext cx="9144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006840" y="2916936"/>
            <a:ext cx="0" cy="2926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006840" y="2916936"/>
            <a:ext cx="8229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089136" y="2231136"/>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089136" y="2322576"/>
            <a:ext cx="50292" cy="121615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2350008"/>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AE641A"/>
                </a:solidFill>
                <a:latin typeface="Arial"/>
              </a:defRPr>
            </a:pPr>
            <a:r>
              <a:t>MultiRoleInference</a:t>
            </a:r>
          </a:p>
        </p:txBody>
      </p:sp>
      <p:sp>
        <p:nvSpPr>
          <p:cNvPr id="37" name="TextBox 36"/>
          <p:cNvSpPr txBox="1"/>
          <p:nvPr/>
        </p:nvSpPr>
        <p:spPr>
          <a:xfrm>
            <a:off x="9235440" y="2788920"/>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Describe role-specific</a:t>
            </a:r>
          </a:p>
          <a:p>
            <a:pPr algn="ctr">
              <a:spcBef>
                <a:spcPts val="0"/>
              </a:spcBef>
              <a:spcAft>
                <a:spcPts val="500"/>
              </a:spcAft>
              <a:defRPr sz="1400" b="0">
                <a:solidFill>
                  <a:srgbClr val="586A80"/>
                </a:solidFill>
                <a:latin typeface="Arial"/>
              </a:defRPr>
            </a:pPr>
            <a:r>
              <a:t>serving topology</a:t>
            </a:r>
          </a:p>
        </p:txBody>
      </p:sp>
      <p:sp>
        <p:nvSpPr>
          <p:cNvPr id="38" name="TextBox 37"/>
          <p:cNvSpPr txBox="1"/>
          <p:nvPr/>
        </p:nvSpPr>
        <p:spPr>
          <a:xfrm>
            <a:off x="9089136" y="3813048"/>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AE641A"/>
                </a:solidFill>
                <a:latin typeface="Arial"/>
              </a:defRPr>
            </a:pPr>
            <a:r>
              <a:t>COMPOSE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continuous API model as serving gets harder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Add capabilities without asking users to hand-assemble a new stack.</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15 / 54</a:t>
            </a:r>
          </a:p>
        </p:txBody>
      </p:sp>
      <p:sp>
        <p:nvSpPr>
          <p:cNvPr id="8" name="Rectangle 7"/>
          <p:cNvSpPr/>
          <p:nvPr/>
        </p:nvSpPr>
        <p:spPr>
          <a:xfrm>
            <a:off x="502920" y="2212848"/>
            <a:ext cx="281178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31720"/>
            <a:ext cx="261518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USER NEED</a:t>
            </a:r>
          </a:p>
        </p:txBody>
      </p:sp>
      <p:sp>
        <p:nvSpPr>
          <p:cNvPr id="10" name="Rectangle 9"/>
          <p:cNvSpPr/>
          <p:nvPr/>
        </p:nvSpPr>
        <p:spPr>
          <a:xfrm>
            <a:off x="3337560" y="2212848"/>
            <a:ext cx="336042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331720"/>
            <a:ext cx="316382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KUBERNETES OBJECT</a:t>
            </a:r>
          </a:p>
        </p:txBody>
      </p:sp>
      <p:sp>
        <p:nvSpPr>
          <p:cNvPr id="12" name="Rectangle 11"/>
          <p:cNvSpPr/>
          <p:nvPr/>
        </p:nvSpPr>
        <p:spPr>
          <a:xfrm>
            <a:off x="6720840" y="2212848"/>
            <a:ext cx="4988052"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30568" y="2331720"/>
            <a:ext cx="4791456"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PLATFORM RESPONSIBILITY</a:t>
            </a:r>
          </a:p>
        </p:txBody>
      </p:sp>
      <p:sp>
        <p:nvSpPr>
          <p:cNvPr id="14" name="Rectangle 13"/>
          <p:cNvSpPr/>
          <p:nvPr/>
        </p:nvSpPr>
        <p:spPr>
          <a:xfrm>
            <a:off x="502920" y="2816352"/>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2935224"/>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Run one model</a:t>
            </a:r>
          </a:p>
        </p:txBody>
      </p:sp>
      <p:sp>
        <p:nvSpPr>
          <p:cNvPr id="16" name="Rectangle 15"/>
          <p:cNvSpPr/>
          <p:nvPr/>
        </p:nvSpPr>
        <p:spPr>
          <a:xfrm>
            <a:off x="3337560" y="2816352"/>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47288" y="2935224"/>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Workspace</a:t>
            </a:r>
          </a:p>
        </p:txBody>
      </p:sp>
      <p:sp>
        <p:nvSpPr>
          <p:cNvPr id="18" name="Rectangle 17"/>
          <p:cNvSpPr/>
          <p:nvPr/>
        </p:nvSpPr>
        <p:spPr>
          <a:xfrm>
            <a:off x="6720840" y="2816352"/>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0568" y="2935224"/>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Provision and run the workload</a:t>
            </a:r>
          </a:p>
        </p:txBody>
      </p:sp>
      <p:sp>
        <p:nvSpPr>
          <p:cNvPr id="20" name="Rectangle 19"/>
          <p:cNvSpPr/>
          <p:nvPr/>
        </p:nvSpPr>
        <p:spPr>
          <a:xfrm>
            <a:off x="502920" y="3419856"/>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538728"/>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Add replicas</a:t>
            </a:r>
          </a:p>
        </p:txBody>
      </p:sp>
      <p:sp>
        <p:nvSpPr>
          <p:cNvPr id="22" name="Rectangle 21"/>
          <p:cNvSpPr/>
          <p:nvPr/>
        </p:nvSpPr>
        <p:spPr>
          <a:xfrm>
            <a:off x="3337560" y="3419856"/>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47288" y="3538728"/>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InferenceSet</a:t>
            </a:r>
          </a:p>
        </p:txBody>
      </p:sp>
      <p:sp>
        <p:nvSpPr>
          <p:cNvPr id="24" name="Rectangle 23"/>
          <p:cNvSpPr/>
          <p:nvPr/>
        </p:nvSpPr>
        <p:spPr>
          <a:xfrm>
            <a:off x="6720840" y="3419856"/>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0568" y="3538728"/>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Manage the replica set</a:t>
            </a:r>
          </a:p>
        </p:txBody>
      </p:sp>
      <p:sp>
        <p:nvSpPr>
          <p:cNvPr id="26" name="Rectangle 25"/>
          <p:cNvSpPr/>
          <p:nvPr/>
        </p:nvSpPr>
        <p:spPr>
          <a:xfrm>
            <a:off x="502920" y="4023360"/>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142232"/>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Route intelligently</a:t>
            </a:r>
          </a:p>
        </p:txBody>
      </p:sp>
      <p:sp>
        <p:nvSpPr>
          <p:cNvPr id="28" name="Rectangle 27"/>
          <p:cNvSpPr/>
          <p:nvPr/>
        </p:nvSpPr>
        <p:spPr>
          <a:xfrm>
            <a:off x="3337560" y="4023360"/>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47288" y="4142232"/>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InferencePool</a:t>
            </a:r>
          </a:p>
        </p:txBody>
      </p:sp>
      <p:sp>
        <p:nvSpPr>
          <p:cNvPr id="30" name="Rectangle 29"/>
          <p:cNvSpPr/>
          <p:nvPr/>
        </p:nvSpPr>
        <p:spPr>
          <a:xfrm>
            <a:off x="6720840" y="4023360"/>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30568" y="4142232"/>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Integrate inference-aware routing</a:t>
            </a:r>
          </a:p>
        </p:txBody>
      </p:sp>
      <p:sp>
        <p:nvSpPr>
          <p:cNvPr id="32" name="Rectangle 31"/>
          <p:cNvSpPr/>
          <p:nvPr/>
        </p:nvSpPr>
        <p:spPr>
          <a:xfrm>
            <a:off x="502920" y="4626864"/>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4745736"/>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Split roles</a:t>
            </a:r>
          </a:p>
        </p:txBody>
      </p:sp>
      <p:sp>
        <p:nvSpPr>
          <p:cNvPr id="34" name="Rectangle 33"/>
          <p:cNvSpPr/>
          <p:nvPr/>
        </p:nvSpPr>
        <p:spPr>
          <a:xfrm>
            <a:off x="3337560" y="4626864"/>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7288" y="4745736"/>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MultiRoleInference</a:t>
            </a:r>
          </a:p>
        </p:txBody>
      </p:sp>
      <p:sp>
        <p:nvSpPr>
          <p:cNvPr id="36" name="Rectangle 35"/>
          <p:cNvSpPr/>
          <p:nvPr/>
        </p:nvSpPr>
        <p:spPr>
          <a:xfrm>
            <a:off x="6720840" y="4626864"/>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30568" y="4745736"/>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Reconcile a multi-role topology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Clear responsibilities across the stack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stack works because each layer has a different job.</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composes the platform; llm-d routes; the runtime executes.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16 / 54</a:t>
            </a:r>
          </a:p>
        </p:txBody>
      </p:sp>
      <p:sp>
        <p:nvSpPr>
          <p:cNvPr id="10" name="Rounded Rectangle 9"/>
          <p:cNvSpPr/>
          <p:nvPr/>
        </p:nvSpPr>
        <p:spPr>
          <a:xfrm>
            <a:off x="502920" y="2130552"/>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95728"/>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KAITO</a:t>
            </a:r>
          </a:p>
        </p:txBody>
      </p:sp>
      <p:sp>
        <p:nvSpPr>
          <p:cNvPr id="12" name="TextBox 11"/>
          <p:cNvSpPr txBox="1"/>
          <p:nvPr/>
        </p:nvSpPr>
        <p:spPr>
          <a:xfrm>
            <a:off x="4389120" y="2395728"/>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Declarative APIs • child resources • lifecycle orchestration</a:t>
            </a:r>
          </a:p>
        </p:txBody>
      </p:sp>
      <p:cxnSp>
        <p:nvCxnSpPr>
          <p:cNvPr id="13" name="Connector 12"/>
          <p:cNvCxnSpPr/>
          <p:nvPr/>
        </p:nvCxnSpPr>
        <p:spPr>
          <a:xfrm>
            <a:off x="6099048" y="3072384"/>
            <a:ext cx="0" cy="18288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2920" y="3255264"/>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20440"/>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llm-d Router / EPP</a:t>
            </a:r>
          </a:p>
        </p:txBody>
      </p:sp>
      <p:sp>
        <p:nvSpPr>
          <p:cNvPr id="16" name="TextBox 15"/>
          <p:cNvSpPr txBox="1"/>
          <p:nvPr/>
        </p:nvSpPr>
        <p:spPr>
          <a:xfrm>
            <a:off x="4389120" y="3520440"/>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Inference-aware endpoint selection and scheduling</a:t>
            </a:r>
          </a:p>
        </p:txBody>
      </p:sp>
      <p:cxnSp>
        <p:nvCxnSpPr>
          <p:cNvPr id="17" name="Connector 16"/>
          <p:cNvCxnSpPr/>
          <p:nvPr/>
        </p:nvCxnSpPr>
        <p:spPr>
          <a:xfrm>
            <a:off x="6099048" y="4197096"/>
            <a:ext cx="0" cy="18288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2920" y="4379976"/>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45152"/>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7354B8"/>
                </a:solidFill>
                <a:latin typeface="Arial"/>
              </a:defRPr>
            </a:pPr>
            <a:r>
              <a:t>Runtime + KV transport</a:t>
            </a:r>
          </a:p>
        </p:txBody>
      </p:sp>
      <p:sp>
        <p:nvSpPr>
          <p:cNvPr id="20" name="TextBox 19"/>
          <p:cNvSpPr txBox="1"/>
          <p:nvPr/>
        </p:nvSpPr>
        <p:spPr>
          <a:xfrm>
            <a:off x="4389120" y="4645152"/>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Prefill computation • KV movement • token generation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stack is composable—not a custom monolith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Kubernetes resources connect routing, execution, transfer, and scaling.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17 / 54</a:t>
            </a:r>
          </a:p>
        </p:txBody>
      </p:sp>
      <p:sp>
        <p:nvSpPr>
          <p:cNvPr id="8" name="Rounded Rectangle 7"/>
          <p:cNvSpPr/>
          <p:nvPr/>
        </p:nvSpPr>
        <p:spPr>
          <a:xfrm>
            <a:off x="502920"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67712"/>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Gateway API + GWIE</a:t>
            </a:r>
          </a:p>
        </p:txBody>
      </p:sp>
      <p:sp>
        <p:nvSpPr>
          <p:cNvPr id="11" name="TextBox 10"/>
          <p:cNvSpPr txBox="1"/>
          <p:nvPr/>
        </p:nvSpPr>
        <p:spPr>
          <a:xfrm>
            <a:off x="649224"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Gateway • HTTPRoute • InferencePool</a:t>
            </a:r>
          </a:p>
        </p:txBody>
      </p:sp>
      <p:sp>
        <p:nvSpPr>
          <p:cNvPr id="12" name="Rounded Rectangle 11"/>
          <p:cNvSpPr/>
          <p:nvPr/>
        </p:nvSpPr>
        <p:spPr>
          <a:xfrm>
            <a:off x="4288536"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2267712"/>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llm-d</a:t>
            </a:r>
          </a:p>
        </p:txBody>
      </p:sp>
      <p:sp>
        <p:nvSpPr>
          <p:cNvPr id="15" name="TextBox 14"/>
          <p:cNvSpPr txBox="1"/>
          <p:nvPr/>
        </p:nvSpPr>
        <p:spPr>
          <a:xfrm>
            <a:off x="4434840"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routing sidecar</a:t>
            </a:r>
          </a:p>
        </p:txBody>
      </p:sp>
      <p:sp>
        <p:nvSpPr>
          <p:cNvPr id="16" name="Rounded Rectangle 15"/>
          <p:cNvSpPr/>
          <p:nvPr/>
        </p:nvSpPr>
        <p:spPr>
          <a:xfrm>
            <a:off x="8074152"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2267712"/>
            <a:ext cx="50292" cy="11887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vLLM</a:t>
            </a:r>
          </a:p>
        </p:txBody>
      </p:sp>
      <p:sp>
        <p:nvSpPr>
          <p:cNvPr id="19" name="TextBox 18"/>
          <p:cNvSpPr txBox="1"/>
          <p:nvPr/>
        </p:nvSpPr>
        <p:spPr>
          <a:xfrm>
            <a:off x="8220456"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Serving runtime</a:t>
            </a:r>
          </a:p>
        </p:txBody>
      </p:sp>
      <p:sp>
        <p:nvSpPr>
          <p:cNvPr id="20" name="Rounded Rectangle 19"/>
          <p:cNvSpPr/>
          <p:nvPr/>
        </p:nvSpPr>
        <p:spPr>
          <a:xfrm>
            <a:off x="502920"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69079"/>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NIXL</a:t>
            </a:r>
          </a:p>
        </p:txBody>
      </p:sp>
      <p:sp>
        <p:nvSpPr>
          <p:cNvPr id="23" name="TextBox 22"/>
          <p:cNvSpPr txBox="1"/>
          <p:nvPr/>
        </p:nvSpPr>
        <p:spPr>
          <a:xfrm>
            <a:off x="649224"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KV-transfer integration</a:t>
            </a:r>
          </a:p>
        </p:txBody>
      </p:sp>
      <p:sp>
        <p:nvSpPr>
          <p:cNvPr id="24" name="Rounded Rectangle 23"/>
          <p:cNvSpPr/>
          <p:nvPr/>
        </p:nvSpPr>
        <p:spPr>
          <a:xfrm>
            <a:off x="4288536"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88536" y="4069079"/>
            <a:ext cx="50292" cy="11887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25696"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KEDA</a:t>
            </a:r>
          </a:p>
        </p:txBody>
      </p:sp>
      <p:sp>
        <p:nvSpPr>
          <p:cNvPr id="27" name="TextBox 26"/>
          <p:cNvSpPr txBox="1"/>
          <p:nvPr/>
        </p:nvSpPr>
        <p:spPr>
          <a:xfrm>
            <a:off x="4434840"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InferenceSet autoscaling</a:t>
            </a:r>
          </a:p>
        </p:txBody>
      </p:sp>
      <p:sp>
        <p:nvSpPr>
          <p:cNvPr id="28" name="Rounded Rectangle 27"/>
          <p:cNvSpPr/>
          <p:nvPr/>
        </p:nvSpPr>
        <p:spPr>
          <a:xfrm>
            <a:off x="8074152"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069079"/>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KAITO</a:t>
            </a:r>
          </a:p>
        </p:txBody>
      </p:sp>
      <p:sp>
        <p:nvSpPr>
          <p:cNvPr id="31" name="TextBox 30"/>
          <p:cNvSpPr txBox="1"/>
          <p:nvPr/>
        </p:nvSpPr>
        <p:spPr>
          <a:xfrm>
            <a:off x="8220456"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the declared topology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Declare roles once with MultiRoleInference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logical service, two independently configurable child InferenceSets.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Role settings describe capacity; controller reconciliation supplies the wiring.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18 / 54</a:t>
            </a:r>
          </a:p>
        </p:txBody>
      </p:sp>
      <p:sp>
        <p:nvSpPr>
          <p:cNvPr id="10" name="Rounded Rectangle 9"/>
          <p:cNvSpPr/>
          <p:nvPr/>
        </p:nvSpPr>
        <p:spPr>
          <a:xfrm>
            <a:off x="4069080" y="2057400"/>
            <a:ext cx="4050791"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2148840"/>
            <a:ext cx="50292" cy="685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2176272"/>
            <a:ext cx="377647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MultiRoleInference</a:t>
            </a:r>
          </a:p>
        </p:txBody>
      </p:sp>
      <p:sp>
        <p:nvSpPr>
          <p:cNvPr id="13" name="TextBox 12"/>
          <p:cNvSpPr txBox="1"/>
          <p:nvPr/>
        </p:nvSpPr>
        <p:spPr>
          <a:xfrm>
            <a:off x="4215384" y="2615184"/>
            <a:ext cx="3758183" cy="21945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desired topology</a:t>
            </a:r>
          </a:p>
        </p:txBody>
      </p:sp>
      <p:sp>
        <p:nvSpPr>
          <p:cNvPr id="14" name="Rounded Rectangle 13"/>
          <p:cNvSpPr/>
          <p:nvPr/>
        </p:nvSpPr>
        <p:spPr>
          <a:xfrm>
            <a:off x="731520"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648456"/>
            <a:ext cx="50292" cy="14904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InferenceSet</a:t>
            </a:r>
          </a:p>
        </p:txBody>
      </p:sp>
      <p:sp>
        <p:nvSpPr>
          <p:cNvPr id="17" name="TextBox 16"/>
          <p:cNvSpPr txBox="1"/>
          <p:nvPr/>
        </p:nvSpPr>
        <p:spPr>
          <a:xfrm>
            <a:off x="877824"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sp>
        <p:nvSpPr>
          <p:cNvPr id="18" name="Rounded Rectangle 17"/>
          <p:cNvSpPr/>
          <p:nvPr/>
        </p:nvSpPr>
        <p:spPr>
          <a:xfrm>
            <a:off x="6428232"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28232" y="3648456"/>
            <a:ext cx="50292" cy="14904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InferenceSet</a:t>
            </a:r>
          </a:p>
        </p:txBody>
      </p:sp>
      <p:sp>
        <p:nvSpPr>
          <p:cNvPr id="21" name="TextBox 20"/>
          <p:cNvSpPr txBox="1"/>
          <p:nvPr/>
        </p:nvSpPr>
        <p:spPr>
          <a:xfrm>
            <a:off x="6574536"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cxnSp>
        <p:nvCxnSpPr>
          <p:cNvPr id="22" name="Connector 21"/>
          <p:cNvCxnSpPr/>
          <p:nvPr/>
        </p:nvCxnSpPr>
        <p:spPr>
          <a:xfrm>
            <a:off x="6089904" y="2926080"/>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246120" y="3218688"/>
            <a:ext cx="284378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46120" y="3218688"/>
            <a:ext cx="0" cy="338328"/>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89904" y="3218688"/>
            <a:ext cx="2852928"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42832" y="3218688"/>
            <a:ext cx="0" cy="3383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ARCHITECTURE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API endpoint, a role-aware serving path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arrows: request/data flow. Dashed arrows: scheduling or reconciliation.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19 / 54</a:t>
            </a:r>
          </a:p>
        </p:txBody>
      </p:sp>
      <p:sp>
        <p:nvSpPr>
          <p:cNvPr id="8" name="Rounded Rectangle 7"/>
          <p:cNvSpPr/>
          <p:nvPr/>
        </p:nvSpPr>
        <p:spPr>
          <a:xfrm>
            <a:off x="502920" y="2350008"/>
            <a:ext cx="1234440"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68879"/>
            <a:ext cx="960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Client</a:t>
            </a:r>
          </a:p>
        </p:txBody>
      </p:sp>
      <p:sp>
        <p:nvSpPr>
          <p:cNvPr id="11" name="TextBox 10"/>
          <p:cNvSpPr txBox="1"/>
          <p:nvPr/>
        </p:nvSpPr>
        <p:spPr>
          <a:xfrm>
            <a:off x="649224" y="2907792"/>
            <a:ext cx="941832"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API call</a:t>
            </a:r>
          </a:p>
        </p:txBody>
      </p:sp>
      <p:sp>
        <p:nvSpPr>
          <p:cNvPr id="12" name="Rounded Rectangle 11"/>
          <p:cNvSpPr/>
          <p:nvPr/>
        </p:nvSpPr>
        <p:spPr>
          <a:xfrm>
            <a:off x="2157984" y="2350008"/>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57984"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95144" y="2468879"/>
            <a:ext cx="162763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Gateway</a:t>
            </a:r>
          </a:p>
        </p:txBody>
      </p:sp>
      <p:sp>
        <p:nvSpPr>
          <p:cNvPr id="15" name="TextBox 14"/>
          <p:cNvSpPr txBox="1"/>
          <p:nvPr/>
        </p:nvSpPr>
        <p:spPr>
          <a:xfrm>
            <a:off x="2304288" y="2907792"/>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HTTPRoute</a:t>
            </a:r>
          </a:p>
        </p:txBody>
      </p:sp>
      <p:sp>
        <p:nvSpPr>
          <p:cNvPr id="16" name="Rounded Rectangle 15"/>
          <p:cNvSpPr/>
          <p:nvPr/>
        </p:nvSpPr>
        <p:spPr>
          <a:xfrm>
            <a:off x="2157984" y="4114800"/>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57984" y="4206240"/>
            <a:ext cx="50292" cy="8229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95144" y="4233672"/>
            <a:ext cx="162763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llm-d EPP</a:t>
            </a:r>
          </a:p>
        </p:txBody>
      </p:sp>
      <p:sp>
        <p:nvSpPr>
          <p:cNvPr id="19" name="TextBox 18"/>
          <p:cNvSpPr txBox="1"/>
          <p:nvPr/>
        </p:nvSpPr>
        <p:spPr>
          <a:xfrm>
            <a:off x="2304288" y="4672583"/>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Pick P + D</a:t>
            </a:r>
          </a:p>
        </p:txBody>
      </p:sp>
      <p:sp>
        <p:nvSpPr>
          <p:cNvPr id="20" name="Rounded Rectangle 19"/>
          <p:cNvSpPr/>
          <p:nvPr/>
        </p:nvSpPr>
        <p:spPr>
          <a:xfrm>
            <a:off x="4636008" y="2350008"/>
            <a:ext cx="2322576"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36008" y="2441448"/>
            <a:ext cx="50292" cy="82296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73168" y="2468879"/>
            <a:ext cx="2048256"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proxy</a:t>
            </a:r>
          </a:p>
        </p:txBody>
      </p:sp>
      <p:sp>
        <p:nvSpPr>
          <p:cNvPr id="23" name="TextBox 22"/>
          <p:cNvSpPr txBox="1"/>
          <p:nvPr/>
        </p:nvSpPr>
        <p:spPr>
          <a:xfrm>
            <a:off x="4782312" y="2907792"/>
            <a:ext cx="2029968"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Orchestrate request</a:t>
            </a:r>
          </a:p>
        </p:txBody>
      </p:sp>
      <p:sp>
        <p:nvSpPr>
          <p:cNvPr id="24" name="Rounded Rectangle 23"/>
          <p:cNvSpPr/>
          <p:nvPr/>
        </p:nvSpPr>
        <p:spPr>
          <a:xfrm>
            <a:off x="8641080" y="2176272"/>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1080" y="226771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0" y="2295144"/>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Prefill workers</a:t>
            </a:r>
          </a:p>
        </p:txBody>
      </p:sp>
      <p:sp>
        <p:nvSpPr>
          <p:cNvPr id="27" name="TextBox 26"/>
          <p:cNvSpPr txBox="1"/>
          <p:nvPr/>
        </p:nvSpPr>
        <p:spPr>
          <a:xfrm>
            <a:off x="8787384" y="2734056"/>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prompt KV</a:t>
            </a:r>
          </a:p>
        </p:txBody>
      </p:sp>
      <p:sp>
        <p:nvSpPr>
          <p:cNvPr id="28" name="Rounded Rectangle 27"/>
          <p:cNvSpPr/>
          <p:nvPr/>
        </p:nvSpPr>
        <p:spPr>
          <a:xfrm>
            <a:off x="8641080" y="4114800"/>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80" y="420624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0" y="4233672"/>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Decode workers</a:t>
            </a:r>
          </a:p>
        </p:txBody>
      </p:sp>
      <p:sp>
        <p:nvSpPr>
          <p:cNvPr id="31" name="TextBox 30"/>
          <p:cNvSpPr txBox="1"/>
          <p:nvPr/>
        </p:nvSpPr>
        <p:spPr>
          <a:xfrm>
            <a:off x="8787384" y="4672583"/>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 stream</a:t>
            </a:r>
          </a:p>
        </p:txBody>
      </p:sp>
      <p:cxnSp>
        <p:nvCxnSpPr>
          <p:cNvPr id="32" name="Connector 31"/>
          <p:cNvCxnSpPr/>
          <p:nvPr/>
        </p:nvCxnSpPr>
        <p:spPr>
          <a:xfrm>
            <a:off x="1737360" y="2852928"/>
            <a:ext cx="42062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059936" y="2852928"/>
            <a:ext cx="57607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88036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38328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02920" y="4279392"/>
            <a:ext cx="1463040" cy="640080"/>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Scheduling</a:t>
            </a:r>
          </a:p>
          <a:p>
            <a:pPr algn="ctr">
              <a:spcBef>
                <a:spcPts val="0"/>
              </a:spcBef>
              <a:spcAft>
                <a:spcPts val="500"/>
              </a:spcAft>
              <a:defRPr sz="1200" b="0">
                <a:solidFill>
                  <a:srgbClr val="586A80"/>
                </a:solidFill>
                <a:latin typeface="Arial"/>
              </a:defRPr>
            </a:pPr>
            <a:r>
              <a:t>selection</a:t>
            </a:r>
          </a:p>
        </p:txBody>
      </p:sp>
      <p:cxnSp>
        <p:nvCxnSpPr>
          <p:cNvPr id="37" name="Connector 36"/>
          <p:cNvCxnSpPr/>
          <p:nvPr/>
        </p:nvCxnSpPr>
        <p:spPr>
          <a:xfrm>
            <a:off x="6958584" y="2670048"/>
            <a:ext cx="676656"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635240" y="2670048"/>
            <a:ext cx="0" cy="640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635240" y="2734056"/>
            <a:ext cx="10058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86600" y="2066543"/>
            <a:ext cx="1371600" cy="384048"/>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Arial"/>
              </a:defRPr>
            </a:pPr>
            <a:r>
              <a:t>Prompt</a:t>
            </a:r>
          </a:p>
        </p:txBody>
      </p:sp>
      <p:cxnSp>
        <p:nvCxnSpPr>
          <p:cNvPr id="41" name="Connector 40"/>
          <p:cNvCxnSpPr/>
          <p:nvPr/>
        </p:nvCxnSpPr>
        <p:spPr>
          <a:xfrm>
            <a:off x="5797296" y="3355848"/>
            <a:ext cx="0" cy="133502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797296" y="4690872"/>
            <a:ext cx="28437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25312" y="4050791"/>
            <a:ext cx="2468880" cy="50292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Decode + KV metadata</a:t>
            </a:r>
          </a:p>
        </p:txBody>
      </p:sp>
      <p:cxnSp>
        <p:nvCxnSpPr>
          <p:cNvPr id="44" name="Connector 43"/>
          <p:cNvCxnSpPr/>
          <p:nvPr/>
        </p:nvCxnSpPr>
        <p:spPr>
          <a:xfrm>
            <a:off x="10158984" y="3319272"/>
            <a:ext cx="0" cy="795528"/>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0360152" y="3502152"/>
            <a:ext cx="1225296" cy="36576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KV data</a:t>
            </a:r>
          </a:p>
        </p:txBody>
      </p:sp>
      <p:cxnSp>
        <p:nvCxnSpPr>
          <p:cNvPr id="46" name="Connector 45"/>
          <p:cNvCxnSpPr/>
          <p:nvPr/>
        </p:nvCxnSpPr>
        <p:spPr>
          <a:xfrm flipH="1">
            <a:off x="8046720" y="5056632"/>
            <a:ext cx="59436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46720" y="5056632"/>
            <a:ext cx="0" cy="46634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886968" y="5522976"/>
            <a:ext cx="7159752"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86968" y="3355848"/>
            <a:ext cx="0" cy="21671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160520" y="5596128"/>
            <a:ext cx="4937760" cy="256032"/>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Token stream returns through proxy + Gateway</a:t>
            </a:r>
          </a:p>
        </p:txBody>
      </p:sp>
      <p:sp>
        <p:nvSpPr>
          <p:cNvPr id="51" name="Rounded Rectangle 50"/>
          <p:cNvSpPr/>
          <p:nvPr/>
        </p:nvSpPr>
        <p:spPr>
          <a:xfrm>
            <a:off x="502920" y="6053328"/>
            <a:ext cx="11183112"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6928" y="6085332"/>
            <a:ext cx="11055096"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KAITO RECONCILES THE SERVING TOPOLOGY; THE GATEWAY IS THE API ENTRY POINT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RESOURCE OWNERSHIP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From one MRI to a reconciled resource graph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connectors: generated resources. Dashed connector: routing configuration.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20 / 54</a:t>
            </a:r>
          </a:p>
        </p:txBody>
      </p:sp>
      <p:sp>
        <p:nvSpPr>
          <p:cNvPr id="8" name="Rounded Rectangle 7"/>
          <p:cNvSpPr/>
          <p:nvPr/>
        </p:nvSpPr>
        <p:spPr>
          <a:xfrm>
            <a:off x="4059936" y="1993392"/>
            <a:ext cx="4078224" cy="804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59936" y="2084832"/>
            <a:ext cx="50292" cy="6217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7096" y="2112264"/>
            <a:ext cx="380390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MultiRoleInference</a:t>
            </a:r>
          </a:p>
        </p:txBody>
      </p:sp>
      <p:sp>
        <p:nvSpPr>
          <p:cNvPr id="11" name="Rounded Rectangle 10"/>
          <p:cNvSpPr/>
          <p:nvPr/>
        </p:nvSpPr>
        <p:spPr>
          <a:xfrm>
            <a:off x="502920"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474720"/>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14" name="TextBox 13"/>
          <p:cNvSpPr txBox="1"/>
          <p:nvPr/>
        </p:nvSpPr>
        <p:spPr>
          <a:xfrm>
            <a:off x="649224"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Role-specific serving template</a:t>
            </a:r>
          </a:p>
        </p:txBody>
      </p:sp>
      <p:sp>
        <p:nvSpPr>
          <p:cNvPr id="15" name="Rounded Rectangle 14"/>
          <p:cNvSpPr/>
          <p:nvPr/>
        </p:nvSpPr>
        <p:spPr>
          <a:xfrm>
            <a:off x="4398264"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18" name="TextBox 17"/>
          <p:cNvSpPr txBox="1"/>
          <p:nvPr/>
        </p:nvSpPr>
        <p:spPr>
          <a:xfrm>
            <a:off x="4544568"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Runtime + routing sidecar</a:t>
            </a:r>
          </a:p>
        </p:txBody>
      </p:sp>
      <p:sp>
        <p:nvSpPr>
          <p:cNvPr id="19" name="Rounded Rectangle 18"/>
          <p:cNvSpPr/>
          <p:nvPr/>
        </p:nvSpPr>
        <p:spPr>
          <a:xfrm>
            <a:off x="8293608"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93608" y="3474720"/>
            <a:ext cx="50292"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30768" y="3502152"/>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InferencePool</a:t>
            </a:r>
          </a:p>
        </p:txBody>
      </p:sp>
      <p:sp>
        <p:nvSpPr>
          <p:cNvPr id="22" name="TextBox 21"/>
          <p:cNvSpPr txBox="1"/>
          <p:nvPr/>
        </p:nvSpPr>
        <p:spPr>
          <a:xfrm>
            <a:off x="8439912"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Routing-facing backend group</a:t>
            </a:r>
          </a:p>
        </p:txBody>
      </p:sp>
      <p:cxnSp>
        <p:nvCxnSpPr>
          <p:cNvPr id="23" name="Connector 22"/>
          <p:cNvCxnSpPr/>
          <p:nvPr/>
        </p:nvCxnSpPr>
        <p:spPr>
          <a:xfrm>
            <a:off x="6089904" y="2798064"/>
            <a:ext cx="0" cy="28346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194560" y="3081528"/>
            <a:ext cx="389534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194560" y="3081528"/>
            <a:ext cx="0" cy="30175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89904" y="2798064"/>
            <a:ext cx="0" cy="28346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089904" y="3081528"/>
            <a:ext cx="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89904" y="3081528"/>
            <a:ext cx="0" cy="301752"/>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089904" y="2798064"/>
            <a:ext cx="0" cy="28346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089904" y="3081528"/>
            <a:ext cx="3895344"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85248" y="3081528"/>
            <a:ext cx="0" cy="301752"/>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02920"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01183"/>
            <a:ext cx="50292" cy="6400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Workspaces → Pods</a:t>
            </a:r>
          </a:p>
        </p:txBody>
      </p:sp>
      <p:sp>
        <p:nvSpPr>
          <p:cNvPr id="35" name="Rounded Rectangle 34"/>
          <p:cNvSpPr/>
          <p:nvPr/>
        </p:nvSpPr>
        <p:spPr>
          <a:xfrm>
            <a:off x="4398264"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98264" y="4901183"/>
            <a:ext cx="50292" cy="6400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Workspaces → Pods</a:t>
            </a:r>
          </a:p>
        </p:txBody>
      </p:sp>
      <p:sp>
        <p:nvSpPr>
          <p:cNvPr id="38" name="Rounded Rectangle 37"/>
          <p:cNvSpPr/>
          <p:nvPr/>
        </p:nvSpPr>
        <p:spPr>
          <a:xfrm>
            <a:off x="8293608"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8" y="4901183"/>
            <a:ext cx="50292" cy="6400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30768" y="4928616"/>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EPP config + HTTPRoute</a:t>
            </a:r>
          </a:p>
        </p:txBody>
      </p:sp>
      <p:cxnSp>
        <p:nvCxnSpPr>
          <p:cNvPr id="41" name="Connector 40"/>
          <p:cNvCxnSpPr/>
          <p:nvPr/>
        </p:nvCxnSpPr>
        <p:spPr>
          <a:xfrm>
            <a:off x="2194560" y="4297680"/>
            <a:ext cx="0" cy="51206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089904" y="4297680"/>
            <a:ext cx="0" cy="512064"/>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985248" y="4297680"/>
            <a:ext cx="0" cy="512064"/>
          </a:xfrm>
          <a:prstGeom prst="line">
            <a:avLst/>
          </a:prstGeom>
          <a:ln w="25400">
            <a:solidFill>
              <a:srgbClr val="2563E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21207" y="5925312"/>
            <a:ext cx="11064240" cy="36576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Less hand-maintained glue: role labels, ports, sidecar configuration, and routing bindings.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REQUEST LIFECYCLE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request crosses four distinct boundaries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Request orchestration and KV-data movement are separate paths.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21 / 54</a:t>
            </a:r>
          </a:p>
        </p:txBody>
      </p:sp>
      <p:sp>
        <p:nvSpPr>
          <p:cNvPr id="8" name="Rounded Rectangle 7"/>
          <p:cNvSpPr/>
          <p:nvPr/>
        </p:nvSpPr>
        <p:spPr>
          <a:xfrm>
            <a:off x="182879"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79" y="2084832"/>
            <a:ext cx="50292"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2563EB"/>
                </a:solidFill>
                <a:latin typeface="Arial"/>
              </a:defRPr>
            </a:pPr>
            <a:r>
              <a:t>Gateway + EPP</a:t>
            </a:r>
          </a:p>
        </p:txBody>
      </p:sp>
      <p:cxnSp>
        <p:nvCxnSpPr>
          <p:cNvPr id="11" name="Connector 10"/>
          <p:cNvCxnSpPr/>
          <p:nvPr/>
        </p:nvCxnSpPr>
        <p:spPr>
          <a:xfrm>
            <a:off x="13258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2608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2608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proxy</a:t>
            </a:r>
          </a:p>
        </p:txBody>
      </p:sp>
      <p:cxnSp>
        <p:nvCxnSpPr>
          <p:cNvPr id="15" name="Connector 14"/>
          <p:cNvCxnSpPr/>
          <p:nvPr/>
        </p:nvCxnSpPr>
        <p:spPr>
          <a:xfrm>
            <a:off x="40690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87568"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87568" y="2084832"/>
            <a:ext cx="50292" cy="4114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24728"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087F8C"/>
                </a:solidFill>
                <a:latin typeface="Arial"/>
              </a:defRPr>
            </a:pPr>
            <a:r>
              <a:t>Prefill worker</a:t>
            </a:r>
          </a:p>
        </p:txBody>
      </p:sp>
      <p:cxnSp>
        <p:nvCxnSpPr>
          <p:cNvPr id="19" name="Connector 18"/>
          <p:cNvCxnSpPr/>
          <p:nvPr/>
        </p:nvCxnSpPr>
        <p:spPr>
          <a:xfrm>
            <a:off x="6830568"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3252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3252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runtime</a:t>
            </a:r>
          </a:p>
        </p:txBody>
      </p:sp>
      <p:cxnSp>
        <p:nvCxnSpPr>
          <p:cNvPr id="23" name="Connector 22"/>
          <p:cNvCxnSpPr/>
          <p:nvPr/>
        </p:nvCxnSpPr>
        <p:spPr>
          <a:xfrm>
            <a:off x="987552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25880" y="2852928"/>
            <a:ext cx="274320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408176" y="2560320"/>
            <a:ext cx="260604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1  Route to selected decode</a:t>
            </a:r>
          </a:p>
        </p:txBody>
      </p:sp>
      <p:cxnSp>
        <p:nvCxnSpPr>
          <p:cNvPr id="26" name="Connector 25"/>
          <p:cNvCxnSpPr/>
          <p:nvPr/>
        </p:nvCxnSpPr>
        <p:spPr>
          <a:xfrm>
            <a:off x="4069080" y="3410712"/>
            <a:ext cx="27614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151376" y="3118104"/>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2  Execute prefill</a:t>
            </a:r>
          </a:p>
        </p:txBody>
      </p:sp>
      <p:cxnSp>
        <p:nvCxnSpPr>
          <p:cNvPr id="28" name="Connector 27"/>
          <p:cNvCxnSpPr/>
          <p:nvPr/>
        </p:nvCxnSpPr>
        <p:spPr>
          <a:xfrm flipH="1">
            <a:off x="4069080" y="3968496"/>
            <a:ext cx="2761488"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151376" y="3675887"/>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3  Return KV-transfer metadata</a:t>
            </a:r>
          </a:p>
        </p:txBody>
      </p:sp>
      <p:cxnSp>
        <p:nvCxnSpPr>
          <p:cNvPr id="30" name="Connector 29"/>
          <p:cNvCxnSpPr/>
          <p:nvPr/>
        </p:nvCxnSpPr>
        <p:spPr>
          <a:xfrm>
            <a:off x="4069080" y="4526280"/>
            <a:ext cx="58064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1376" y="4233672"/>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4  Start decode with metadata</a:t>
            </a:r>
          </a:p>
        </p:txBody>
      </p:sp>
      <p:cxnSp>
        <p:nvCxnSpPr>
          <p:cNvPr id="32" name="Connector 31"/>
          <p:cNvCxnSpPr/>
          <p:nvPr/>
        </p:nvCxnSpPr>
        <p:spPr>
          <a:xfrm>
            <a:off x="6830568" y="5084064"/>
            <a:ext cx="304495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912864" y="4791455"/>
            <a:ext cx="2907792" cy="265176"/>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5  KV data (prefill → decode)</a:t>
            </a:r>
          </a:p>
        </p:txBody>
      </p:sp>
      <p:cxnSp>
        <p:nvCxnSpPr>
          <p:cNvPr id="34" name="Connector 33"/>
          <p:cNvCxnSpPr/>
          <p:nvPr/>
        </p:nvCxnSpPr>
        <p:spPr>
          <a:xfrm flipH="1">
            <a:off x="4069080" y="5641848"/>
            <a:ext cx="580644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151376" y="5349240"/>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6  Token stream → proxy → Gateway</a:t>
            </a:r>
          </a:p>
        </p:txBody>
      </p:sp>
      <p:sp>
        <p:nvSpPr>
          <p:cNvPr id="36" name="TextBox 35"/>
          <p:cNvSpPr txBox="1"/>
          <p:nvPr/>
        </p:nvSpPr>
        <p:spPr>
          <a:xfrm>
            <a:off x="502920" y="6117336"/>
            <a:ext cx="11155680" cy="26517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KV-transfer metadata identifies remote state; it is not the KV tensor payload.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KV TRANSFER</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Metadata is not the KV payload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Keep control messages and the high-volume data path distinct.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Do not read a request arrow as a KV-transfer arrow.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22 / 54</a:t>
            </a:r>
          </a:p>
        </p:txBody>
      </p:sp>
      <p:sp>
        <p:nvSpPr>
          <p:cNvPr id="10" name="Rounded Rectangle 9"/>
          <p:cNvSpPr/>
          <p:nvPr/>
        </p:nvSpPr>
        <p:spPr>
          <a:xfrm>
            <a:off x="502920"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86000"/>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proxy</a:t>
            </a:r>
          </a:p>
        </p:txBody>
      </p:sp>
      <p:sp>
        <p:nvSpPr>
          <p:cNvPr id="13" name="TextBox 12"/>
          <p:cNvSpPr txBox="1"/>
          <p:nvPr/>
        </p:nvSpPr>
        <p:spPr>
          <a:xfrm>
            <a:off x="649224"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 orchestration</a:t>
            </a:r>
          </a:p>
        </p:txBody>
      </p:sp>
      <p:sp>
        <p:nvSpPr>
          <p:cNvPr id="14" name="Rounded Rectangle 13"/>
          <p:cNvSpPr/>
          <p:nvPr/>
        </p:nvSpPr>
        <p:spPr>
          <a:xfrm>
            <a:off x="8577072"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77072" y="2286000"/>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14232"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worker</a:t>
            </a:r>
          </a:p>
        </p:txBody>
      </p:sp>
      <p:sp>
        <p:nvSpPr>
          <p:cNvPr id="17" name="TextBox 16"/>
          <p:cNvSpPr txBox="1"/>
          <p:nvPr/>
        </p:nvSpPr>
        <p:spPr>
          <a:xfrm>
            <a:off x="8723376"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Owns newly computed KV</a:t>
            </a:r>
          </a:p>
        </p:txBody>
      </p:sp>
      <p:cxnSp>
        <p:nvCxnSpPr>
          <p:cNvPr id="18" name="Connector 17"/>
          <p:cNvCxnSpPr/>
          <p:nvPr/>
        </p:nvCxnSpPr>
        <p:spPr>
          <a:xfrm>
            <a:off x="3611880" y="2569464"/>
            <a:ext cx="496519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721608" y="2048256"/>
            <a:ext cx="4727448" cy="365760"/>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Prompt request</a:t>
            </a:r>
          </a:p>
        </p:txBody>
      </p:sp>
      <p:cxnSp>
        <p:nvCxnSpPr>
          <p:cNvPr id="20" name="Connector 19"/>
          <p:cNvCxnSpPr/>
          <p:nvPr/>
        </p:nvCxnSpPr>
        <p:spPr>
          <a:xfrm flipH="1">
            <a:off x="3611880" y="3054096"/>
            <a:ext cx="4965192"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703320" y="3136392"/>
            <a:ext cx="4754880" cy="393192"/>
          </a:xfrm>
          <a:prstGeom prst="rect">
            <a:avLst/>
          </a:prstGeom>
          <a:noFill/>
        </p:spPr>
        <p:txBody>
          <a:bodyPr wrap="square" lIns="13716" rIns="13716" tIns="13716" bIns="13716">
            <a:spAutoFit/>
          </a:bodyPr>
          <a:lstStyle/>
          <a:p>
            <a:pPr algn="ctr">
              <a:spcBef>
                <a:spcPts val="0"/>
              </a:spcBef>
              <a:spcAft>
                <a:spcPts val="500"/>
              </a:spcAft>
              <a:defRPr sz="1500" b="0">
                <a:solidFill>
                  <a:srgbClr val="586A80"/>
                </a:solidFill>
                <a:latin typeface="Arial"/>
              </a:defRPr>
            </a:pPr>
            <a:r>
              <a:t>Response: KV-transfer metadata</a:t>
            </a:r>
          </a:p>
        </p:txBody>
      </p:sp>
      <p:sp>
        <p:nvSpPr>
          <p:cNvPr id="22" name="Rounded Rectangle 21"/>
          <p:cNvSpPr/>
          <p:nvPr/>
        </p:nvSpPr>
        <p:spPr>
          <a:xfrm>
            <a:off x="502920"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379976"/>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runtime</a:t>
            </a:r>
          </a:p>
        </p:txBody>
      </p:sp>
      <p:sp>
        <p:nvSpPr>
          <p:cNvPr id="25" name="TextBox 24"/>
          <p:cNvSpPr txBox="1"/>
          <p:nvPr/>
        </p:nvSpPr>
        <p:spPr>
          <a:xfrm>
            <a:off x="649224"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Uses KV to generate tokens</a:t>
            </a:r>
          </a:p>
        </p:txBody>
      </p:sp>
      <p:sp>
        <p:nvSpPr>
          <p:cNvPr id="26" name="Rounded Rectangle 25"/>
          <p:cNvSpPr/>
          <p:nvPr/>
        </p:nvSpPr>
        <p:spPr>
          <a:xfrm>
            <a:off x="8577072"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77072" y="4379976"/>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14232"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KV memory</a:t>
            </a:r>
          </a:p>
        </p:txBody>
      </p:sp>
      <p:sp>
        <p:nvSpPr>
          <p:cNvPr id="29" name="TextBox 28"/>
          <p:cNvSpPr txBox="1"/>
          <p:nvPr/>
        </p:nvSpPr>
        <p:spPr>
          <a:xfrm>
            <a:off x="8723376"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Remote transfer source</a:t>
            </a:r>
          </a:p>
        </p:txBody>
      </p:sp>
      <p:cxnSp>
        <p:nvCxnSpPr>
          <p:cNvPr id="30" name="Connector 29"/>
          <p:cNvCxnSpPr/>
          <p:nvPr/>
        </p:nvCxnSpPr>
        <p:spPr>
          <a:xfrm>
            <a:off x="2057400" y="3328416"/>
            <a:ext cx="0" cy="96012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21207" y="3639312"/>
            <a:ext cx="1325880" cy="457200"/>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Metadata</a:t>
            </a:r>
          </a:p>
        </p:txBody>
      </p:sp>
      <p:cxnSp>
        <p:nvCxnSpPr>
          <p:cNvPr id="32" name="Connector 31"/>
          <p:cNvCxnSpPr/>
          <p:nvPr/>
        </p:nvCxnSpPr>
        <p:spPr>
          <a:xfrm flipH="1">
            <a:off x="3611880" y="4837176"/>
            <a:ext cx="496519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03320" y="4325112"/>
            <a:ext cx="4754880" cy="384048"/>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KV tensor data: prefill → decode</a:t>
            </a:r>
          </a:p>
        </p:txBody>
      </p:sp>
      <p:sp>
        <p:nvSpPr>
          <p:cNvPr id="34" name="TextBox 33"/>
          <p:cNvSpPr txBox="1"/>
          <p:nvPr/>
        </p:nvSpPr>
        <p:spPr>
          <a:xfrm>
            <a:off x="3730752" y="5047488"/>
            <a:ext cx="4718304" cy="5120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 decode-initiated read can drive the transfer.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RUNTIME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decode pod contains two different roles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routing sidecar coordinates the request; vLLM executes decode.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Generated Service targetPorts, probes, and runtime arguments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23 / 54</a:t>
            </a:r>
          </a:p>
        </p:txBody>
      </p:sp>
      <p:sp>
        <p:nvSpPr>
          <p:cNvPr id="10" name="Rounded Rectangle 9"/>
          <p:cNvSpPr/>
          <p:nvPr/>
        </p:nvSpPr>
        <p:spPr>
          <a:xfrm>
            <a:off x="2743200" y="2157984"/>
            <a:ext cx="8942832" cy="3355848"/>
          </a:xfrm>
          <a:prstGeom prst="roundRect">
            <a:avLst>
              <a:gd name="adj" fmla="val 10000"/>
            </a:avLst>
          </a:prstGeom>
          <a:solidFill>
            <a:srgbClr val="F0EBFA"/>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0944" y="2368296"/>
            <a:ext cx="8138160" cy="365760"/>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DECODE POD  /  SHARED POD NETWORK</a:t>
            </a:r>
          </a:p>
        </p:txBody>
      </p:sp>
      <p:sp>
        <p:nvSpPr>
          <p:cNvPr id="12" name="Rounded Rectangle 11"/>
          <p:cNvSpPr/>
          <p:nvPr/>
        </p:nvSpPr>
        <p:spPr>
          <a:xfrm>
            <a:off x="3017520" y="3172968"/>
            <a:ext cx="297180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0175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79" y="3291840"/>
            <a:ext cx="269748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llm-d routing</a:t>
            </a:r>
          </a:p>
          <a:p>
            <a:pPr algn="ctr">
              <a:spcBef>
                <a:spcPts val="0"/>
              </a:spcBef>
              <a:spcAft>
                <a:spcPts val="500"/>
              </a:spcAft>
              <a:defRPr sz="2000" b="1">
                <a:solidFill>
                  <a:srgbClr val="7354B8"/>
                </a:solidFill>
                <a:latin typeface="Arial"/>
              </a:defRPr>
            </a:pPr>
            <a:r>
              <a:t>sidecar</a:t>
            </a:r>
          </a:p>
        </p:txBody>
      </p:sp>
      <p:sp>
        <p:nvSpPr>
          <p:cNvPr id="15" name="TextBox 14"/>
          <p:cNvSpPr txBox="1"/>
          <p:nvPr/>
        </p:nvSpPr>
        <p:spPr>
          <a:xfrm>
            <a:off x="3163824" y="3995928"/>
            <a:ext cx="267919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Receives inference requests</a:t>
            </a:r>
          </a:p>
        </p:txBody>
      </p:sp>
      <p:sp>
        <p:nvSpPr>
          <p:cNvPr id="16" name="Rounded Rectangle 15"/>
          <p:cNvSpPr/>
          <p:nvPr/>
        </p:nvSpPr>
        <p:spPr>
          <a:xfrm>
            <a:off x="8275320" y="3172968"/>
            <a:ext cx="310896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753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3291840"/>
            <a:ext cx="283464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vLLM decode</a:t>
            </a:r>
          </a:p>
          <a:p>
            <a:pPr algn="ctr">
              <a:spcBef>
                <a:spcPts val="0"/>
              </a:spcBef>
              <a:spcAft>
                <a:spcPts val="500"/>
              </a:spcAft>
              <a:defRPr sz="2000" b="1">
                <a:solidFill>
                  <a:srgbClr val="7354B8"/>
                </a:solidFill>
                <a:latin typeface="Arial"/>
              </a:defRPr>
            </a:pPr>
            <a:r>
              <a:t>runtime</a:t>
            </a:r>
          </a:p>
        </p:txBody>
      </p:sp>
      <p:sp>
        <p:nvSpPr>
          <p:cNvPr id="19" name="TextBox 18"/>
          <p:cNvSpPr txBox="1"/>
          <p:nvPr/>
        </p:nvSpPr>
        <p:spPr>
          <a:xfrm>
            <a:off x="8421624" y="3995928"/>
            <a:ext cx="281635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Local backend listener</a:t>
            </a:r>
          </a:p>
        </p:txBody>
      </p:sp>
      <p:sp>
        <p:nvSpPr>
          <p:cNvPr id="20" name="Rounded Rectangle 19"/>
          <p:cNvSpPr/>
          <p:nvPr/>
        </p:nvSpPr>
        <p:spPr>
          <a:xfrm>
            <a:off x="502920" y="3355848"/>
            <a:ext cx="1764792" cy="11704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447288"/>
            <a:ext cx="50292" cy="9875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474720"/>
            <a:ext cx="149047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Gateway</a:t>
            </a:r>
          </a:p>
        </p:txBody>
      </p:sp>
      <p:sp>
        <p:nvSpPr>
          <p:cNvPr id="23" name="TextBox 22"/>
          <p:cNvSpPr txBox="1"/>
          <p:nvPr/>
        </p:nvSpPr>
        <p:spPr>
          <a:xfrm>
            <a:off x="649224" y="3913632"/>
            <a:ext cx="1472184" cy="5212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Via Service</a:t>
            </a:r>
          </a:p>
        </p:txBody>
      </p:sp>
      <p:cxnSp>
        <p:nvCxnSpPr>
          <p:cNvPr id="24" name="Connector 23"/>
          <p:cNvCxnSpPr/>
          <p:nvPr/>
        </p:nvCxnSpPr>
        <p:spPr>
          <a:xfrm>
            <a:off x="2267712" y="3931920"/>
            <a:ext cx="74980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989320" y="3959352"/>
            <a:ext cx="22860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126480" y="3401568"/>
            <a:ext cx="2011680" cy="43891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Local forwarding</a:t>
            </a:r>
          </a:p>
        </p:txBody>
      </p:sp>
      <p:sp>
        <p:nvSpPr>
          <p:cNvPr id="27" name="TextBox 26"/>
          <p:cNvSpPr txBox="1"/>
          <p:nvPr/>
        </p:nvSpPr>
        <p:spPr>
          <a:xfrm>
            <a:off x="6126480" y="4224528"/>
            <a:ext cx="2011680" cy="50292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Distinct listeners</a:t>
            </a:r>
          </a:p>
        </p:txBody>
      </p:sp>
      <p:sp>
        <p:nvSpPr>
          <p:cNvPr id="28" name="TextBox 27"/>
          <p:cNvSpPr txBox="1"/>
          <p:nvPr/>
        </p:nvSpPr>
        <p:spPr>
          <a:xfrm>
            <a:off x="3054096" y="5047488"/>
            <a:ext cx="8138160" cy="301752"/>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Illustrative topology; use the generated manifest for actual port numbers.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OPERATOR VALUE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abstraction removes assembly—not visibility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declared topology replaces repetitive runtime wiring.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24 / 54</a:t>
            </a:r>
          </a:p>
        </p:txBody>
      </p:sp>
      <p:sp>
        <p:nvSpPr>
          <p:cNvPr id="8" name="Rounded Rectangle 7"/>
          <p:cNvSpPr/>
          <p:nvPr/>
        </p:nvSpPr>
        <p:spPr>
          <a:xfrm>
            <a:off x="502920"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Before: manual assembly</a:t>
            </a:r>
          </a:p>
        </p:txBody>
      </p:sp>
      <p:sp>
        <p:nvSpPr>
          <p:cNvPr id="11" name="TextBox 10"/>
          <p:cNvSpPr txBox="1"/>
          <p:nvPr/>
        </p:nvSpPr>
        <p:spPr>
          <a:xfrm>
            <a:off x="685800"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Pair role deployments and Services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Align labels, ports, env vars, probes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Wire sidecars and routing config</a:t>
            </a:r>
          </a:p>
        </p:txBody>
      </p:sp>
      <p:cxnSp>
        <p:nvCxnSpPr>
          <p:cNvPr id="12" name="Connector 11"/>
          <p:cNvCxnSpPr/>
          <p:nvPr/>
        </p:nvCxnSpPr>
        <p:spPr>
          <a:xfrm>
            <a:off x="5559552" y="3794760"/>
            <a:ext cx="978408" cy="0"/>
          </a:xfrm>
          <a:prstGeom prst="line">
            <a:avLst/>
          </a:prstGeom>
          <a:ln w="381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793992"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3"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76872"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After: declared intent</a:t>
            </a:r>
          </a:p>
        </p:txBody>
      </p:sp>
      <p:sp>
        <p:nvSpPr>
          <p:cNvPr id="16" name="TextBox 15"/>
          <p:cNvSpPr txBox="1"/>
          <p:nvPr/>
        </p:nvSpPr>
        <p:spPr>
          <a:xfrm>
            <a:off x="6976872"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Describe roles in MultiRoleInference</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Inspect generated child resources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Operate through Kubernetes APIs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Autoscale the role that is actually saturated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Different bottlenecks deserve different signals and scale decisions.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Independent scaling only helps when the metrics match each role.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25 / 54</a:t>
            </a:r>
          </a:p>
        </p:txBody>
      </p:sp>
      <p:sp>
        <p:nvSpPr>
          <p:cNvPr id="10" name="Rounded Rectangle 9"/>
          <p:cNvSpPr/>
          <p:nvPr/>
        </p:nvSpPr>
        <p:spPr>
          <a:xfrm>
            <a:off x="502920"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a:t>
            </a:r>
          </a:p>
        </p:txBody>
      </p:sp>
      <p:sp>
        <p:nvSpPr>
          <p:cNvPr id="13" name="TextBox 12"/>
          <p:cNvSpPr txBox="1"/>
          <p:nvPr/>
        </p:nvSpPr>
        <p:spPr>
          <a:xfrm>
            <a:off x="685800"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prompt latency</a:t>
            </a:r>
          </a:p>
          <a:p>
            <a:pPr>
              <a:spcBef>
                <a:spcPts val="0"/>
              </a:spcBef>
              <a:spcAft>
                <a:spcPts val="500"/>
              </a:spcAft>
              <a:defRPr sz="2200" b="0">
                <a:solidFill>
                  <a:srgbClr val="172941"/>
                </a:solidFill>
                <a:latin typeface="Arial"/>
              </a:defRPr>
            </a:pPr>
            <a:r>
              <a:t>and time to first token.</a:t>
            </a:r>
          </a:p>
        </p:txBody>
      </p:sp>
      <p:sp>
        <p:nvSpPr>
          <p:cNvPr id="14" name="Rounded Rectangle 13"/>
          <p:cNvSpPr/>
          <p:nvPr/>
        </p:nvSpPr>
        <p:spPr>
          <a:xfrm>
            <a:off x="502920" y="4892040"/>
            <a:ext cx="544068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Primary signal: vLLM waiting requests</a:t>
            </a:r>
          </a:p>
        </p:txBody>
      </p:sp>
      <p:sp>
        <p:nvSpPr>
          <p:cNvPr id="16" name="Rounded Rectangle 15"/>
          <p:cNvSpPr/>
          <p:nvPr/>
        </p:nvSpPr>
        <p:spPr>
          <a:xfrm>
            <a:off x="6199632"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a:t>
            </a:r>
          </a:p>
        </p:txBody>
      </p:sp>
      <p:sp>
        <p:nvSpPr>
          <p:cNvPr id="19" name="TextBox 18"/>
          <p:cNvSpPr txBox="1"/>
          <p:nvPr/>
        </p:nvSpPr>
        <p:spPr>
          <a:xfrm>
            <a:off x="6382512"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token delivery</a:t>
            </a:r>
          </a:p>
          <a:p>
            <a:pPr>
              <a:spcBef>
                <a:spcPts val="0"/>
              </a:spcBef>
              <a:spcAft>
                <a:spcPts val="500"/>
              </a:spcAft>
              <a:defRPr sz="2200" b="0">
                <a:solidFill>
                  <a:srgbClr val="172941"/>
                </a:solidFill>
                <a:latin typeface="Arial"/>
              </a:defRPr>
            </a:pPr>
            <a:r>
              <a:t>and sustained throughput.</a:t>
            </a:r>
          </a:p>
        </p:txBody>
      </p:sp>
      <p:sp>
        <p:nvSpPr>
          <p:cNvPr id="20" name="Rounded Rectangle 19"/>
          <p:cNvSpPr/>
          <p:nvPr/>
        </p:nvSpPr>
        <p:spPr>
          <a:xfrm>
            <a:off x="6199632" y="4892040"/>
            <a:ext cx="544068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Primary signal: vLLM running requests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EXISTING CAPABILITY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Today: KEDA targets the InferenceSet scale API</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Documented KAITO examples cover both scheduled and metric-based scaling.</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scale target is the InferenceSet—not a manually scaled workload Pod.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26 / 54</a:t>
            </a:r>
          </a:p>
        </p:txBody>
      </p:sp>
      <p:sp>
        <p:nvSpPr>
          <p:cNvPr id="10" name="Rounded Rectangle 9"/>
          <p:cNvSpPr/>
          <p:nvPr/>
        </p:nvSpPr>
        <p:spPr>
          <a:xfrm>
            <a:off x="502920" y="2020824"/>
            <a:ext cx="219456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52828"/>
            <a:ext cx="206654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DOCUMENTED TODAY</a:t>
            </a:r>
          </a:p>
        </p:txBody>
      </p:sp>
      <p:sp>
        <p:nvSpPr>
          <p:cNvPr id="12" name="Rounded Rectangle 11"/>
          <p:cNvSpPr/>
          <p:nvPr/>
        </p:nvSpPr>
        <p:spPr>
          <a:xfrm>
            <a:off x="502920"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44368"/>
            <a:ext cx="50292" cy="1069848"/>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Trigger</a:t>
            </a:r>
          </a:p>
        </p:txBody>
      </p:sp>
      <p:sp>
        <p:nvSpPr>
          <p:cNvPr id="15" name="TextBox 14"/>
          <p:cNvSpPr txBox="1"/>
          <p:nvPr/>
        </p:nvSpPr>
        <p:spPr>
          <a:xfrm>
            <a:off x="649224"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Cron or Prometheus query</a:t>
            </a:r>
          </a:p>
        </p:txBody>
      </p:sp>
      <p:sp>
        <p:nvSpPr>
          <p:cNvPr id="16" name="Rounded Rectangle 15"/>
          <p:cNvSpPr/>
          <p:nvPr/>
        </p:nvSpPr>
        <p:spPr>
          <a:xfrm>
            <a:off x="4498848"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98848" y="2944368"/>
            <a:ext cx="50292" cy="10698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KEDA / HPA</a:t>
            </a:r>
          </a:p>
        </p:txBody>
      </p:sp>
      <p:sp>
        <p:nvSpPr>
          <p:cNvPr id="19" name="TextBox 18"/>
          <p:cNvSpPr txBox="1"/>
          <p:nvPr/>
        </p:nvSpPr>
        <p:spPr>
          <a:xfrm>
            <a:off x="4645152"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 target</a:t>
            </a:r>
          </a:p>
        </p:txBody>
      </p:sp>
      <p:sp>
        <p:nvSpPr>
          <p:cNvPr id="20" name="Rounded Rectangle 19"/>
          <p:cNvSpPr/>
          <p:nvPr/>
        </p:nvSpPr>
        <p:spPr>
          <a:xfrm>
            <a:off x="8485632"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85632" y="2944368"/>
            <a:ext cx="50292" cy="10698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InferenceSet</a:t>
            </a:r>
          </a:p>
        </p:txBody>
      </p:sp>
      <p:sp>
        <p:nvSpPr>
          <p:cNvPr id="23" name="TextBox 22"/>
          <p:cNvSpPr txBox="1"/>
          <p:nvPr/>
        </p:nvSpPr>
        <p:spPr>
          <a:xfrm>
            <a:off x="8631936"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subresource</a:t>
            </a:r>
          </a:p>
        </p:txBody>
      </p:sp>
      <p:cxnSp>
        <p:nvCxnSpPr>
          <p:cNvPr id="24" name="Connector 23"/>
          <p:cNvCxnSpPr/>
          <p:nvPr/>
        </p:nvCxnSpPr>
        <p:spPr>
          <a:xfrm>
            <a:off x="3703320" y="3474720"/>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99248" y="3474720"/>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2920" y="4617720"/>
            <a:ext cx="11183112" cy="8412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855464"/>
            <a:ext cx="3291840" cy="329184"/>
          </a:xfrm>
          <a:prstGeom prst="rect">
            <a:avLst/>
          </a:prstGeom>
          <a:noFill/>
        </p:spPr>
        <p:txBody>
          <a:bodyPr wrap="square" lIns="13716" rIns="13716" tIns="13716" bIns="13716">
            <a:spAutoFit/>
          </a:bodyPr>
          <a:lstStyle/>
          <a:p>
            <a:pPr>
              <a:spcBef>
                <a:spcPts val="0"/>
              </a:spcBef>
              <a:spcAft>
                <a:spcPts val="500"/>
              </a:spcAft>
              <a:defRPr sz="1700" b="1">
                <a:solidFill>
                  <a:srgbClr val="586A80"/>
                </a:solidFill>
                <a:latin typeface="Arial"/>
              </a:defRPr>
            </a:pPr>
            <a:r>
              <a:t>Documented queue signal</a:t>
            </a:r>
          </a:p>
        </p:txBody>
      </p:sp>
      <p:sp>
        <p:nvSpPr>
          <p:cNvPr id="28" name="TextBox 27"/>
          <p:cNvSpPr txBox="1"/>
          <p:nvPr/>
        </p:nvSpPr>
        <p:spPr>
          <a:xfrm>
            <a:off x="4297680" y="4855464"/>
            <a:ext cx="7040880" cy="338328"/>
          </a:xfrm>
          <a:prstGeom prst="rect">
            <a:avLst/>
          </a:prstGeom>
          <a:noFill/>
        </p:spPr>
        <p:txBody>
          <a:bodyPr wrap="square" lIns="13716" rIns="13716" tIns="13716" bIns="13716">
            <a:spAutoFit/>
          </a:bodyPr>
          <a:lstStyle/>
          <a:p>
            <a:pPr>
              <a:spcBef>
                <a:spcPts val="0"/>
              </a:spcBef>
              <a:spcAft>
                <a:spcPts val="500"/>
              </a:spcAft>
              <a:defRPr sz="1900" b="0">
                <a:solidFill>
                  <a:srgbClr val="087F8C"/>
                </a:solidFill>
                <a:latin typeface="Courier New"/>
              </a:defRPr>
            </a:pPr>
            <a:r>
              <a:t>vllm:num_requests_waiting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independent control loops, one logical service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Conceptual design: validate signals and thresholds for the actual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27 / 54</a:t>
            </a:r>
          </a:p>
        </p:txBody>
      </p:sp>
      <p:sp>
        <p:nvSpPr>
          <p:cNvPr id="8" name="Rounded Rectangle 7"/>
          <p:cNvSpPr/>
          <p:nvPr/>
        </p:nvSpPr>
        <p:spPr>
          <a:xfrm>
            <a:off x="502920" y="2267712"/>
            <a:ext cx="137160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299716"/>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0" name="Rounded Rectangle 9"/>
          <p:cNvSpPr/>
          <p:nvPr/>
        </p:nvSpPr>
        <p:spPr>
          <a:xfrm>
            <a:off x="2212848" y="2194560"/>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1284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50008" y="2313432"/>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Waiting requests</a:t>
            </a:r>
          </a:p>
        </p:txBody>
      </p:sp>
      <p:sp>
        <p:nvSpPr>
          <p:cNvPr id="13" name="TextBox 12"/>
          <p:cNvSpPr txBox="1"/>
          <p:nvPr/>
        </p:nvSpPr>
        <p:spPr>
          <a:xfrm>
            <a:off x="2359152" y="2752344"/>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14" name="Rounded Rectangle 13"/>
          <p:cNvSpPr/>
          <p:nvPr/>
        </p:nvSpPr>
        <p:spPr>
          <a:xfrm>
            <a:off x="5486400" y="2194560"/>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0"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23560" y="2313432"/>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KEDA / HPA</a:t>
            </a:r>
          </a:p>
        </p:txBody>
      </p:sp>
      <p:sp>
        <p:nvSpPr>
          <p:cNvPr id="17" name="TextBox 16"/>
          <p:cNvSpPr txBox="1"/>
          <p:nvPr/>
        </p:nvSpPr>
        <p:spPr>
          <a:xfrm>
            <a:off x="5632704" y="2752344"/>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18" name="Rounded Rectangle 17"/>
          <p:cNvSpPr/>
          <p:nvPr/>
        </p:nvSpPr>
        <p:spPr>
          <a:xfrm>
            <a:off x="8522208" y="2194560"/>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2220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59368" y="2313432"/>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21" name="TextBox 20"/>
          <p:cNvSpPr txBox="1"/>
          <p:nvPr/>
        </p:nvSpPr>
        <p:spPr>
          <a:xfrm>
            <a:off x="8668512" y="2752344"/>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22" name="Connector 21"/>
          <p:cNvCxnSpPr/>
          <p:nvPr/>
        </p:nvCxnSpPr>
        <p:spPr>
          <a:xfrm>
            <a:off x="4818888" y="2724912"/>
            <a:ext cx="6675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863840" y="2724912"/>
            <a:ext cx="65836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104120" y="3282696"/>
            <a:ext cx="0" cy="347472"/>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511296" y="3630168"/>
            <a:ext cx="6592824"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511296" y="3282696"/>
            <a:ext cx="0" cy="34747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 y="4160520"/>
            <a:ext cx="137160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192524"/>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9" name="Rounded Rectangle 28"/>
          <p:cNvSpPr/>
          <p:nvPr/>
        </p:nvSpPr>
        <p:spPr>
          <a:xfrm>
            <a:off x="2212848" y="4087368"/>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21284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50008" y="4206240"/>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Running requests</a:t>
            </a:r>
          </a:p>
        </p:txBody>
      </p:sp>
      <p:sp>
        <p:nvSpPr>
          <p:cNvPr id="32" name="TextBox 31"/>
          <p:cNvSpPr txBox="1"/>
          <p:nvPr/>
        </p:nvSpPr>
        <p:spPr>
          <a:xfrm>
            <a:off x="2359152" y="4645151"/>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33" name="Rounded Rectangle 32"/>
          <p:cNvSpPr/>
          <p:nvPr/>
        </p:nvSpPr>
        <p:spPr>
          <a:xfrm>
            <a:off x="5486400" y="4087368"/>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0"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23560" y="4206240"/>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KEDA / HPA</a:t>
            </a:r>
          </a:p>
        </p:txBody>
      </p:sp>
      <p:sp>
        <p:nvSpPr>
          <p:cNvPr id="36" name="TextBox 35"/>
          <p:cNvSpPr txBox="1"/>
          <p:nvPr/>
        </p:nvSpPr>
        <p:spPr>
          <a:xfrm>
            <a:off x="5632704" y="4645151"/>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37" name="Rounded Rectangle 36"/>
          <p:cNvSpPr/>
          <p:nvPr/>
        </p:nvSpPr>
        <p:spPr>
          <a:xfrm>
            <a:off x="8522208" y="4087368"/>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2220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59368" y="4206240"/>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40" name="TextBox 39"/>
          <p:cNvSpPr txBox="1"/>
          <p:nvPr/>
        </p:nvSpPr>
        <p:spPr>
          <a:xfrm>
            <a:off x="8668512" y="4645151"/>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41" name="Connector 40"/>
          <p:cNvCxnSpPr/>
          <p:nvPr/>
        </p:nvCxnSpPr>
        <p:spPr>
          <a:xfrm>
            <a:off x="4818888" y="4617720"/>
            <a:ext cx="66751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863840" y="4617720"/>
            <a:ext cx="65836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04120" y="5175504"/>
            <a:ext cx="0" cy="347472"/>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3511296" y="5522976"/>
            <a:ext cx="6592824"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511296" y="5175504"/>
            <a:ext cx="0" cy="347472"/>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1207" y="6025896"/>
            <a:ext cx="11064240" cy="329184"/>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Add stabilization, warm-up awareness, and safe scale-down behavior to each loop.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POLICY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service, independently managed role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Coordinate P/D at the service level; make capacity decisions separately for each role.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Scale a complete serving replica—not an individual tensor-parallel worker.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28 / 54</a:t>
            </a:r>
          </a:p>
        </p:txBody>
      </p:sp>
      <p:sp>
        <p:nvSpPr>
          <p:cNvPr id="10" name="Rounded Rectangle 9"/>
          <p:cNvSpPr/>
          <p:nvPr/>
        </p:nvSpPr>
        <p:spPr>
          <a:xfrm>
            <a:off x="502920" y="2029968"/>
            <a:ext cx="393192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61972"/>
            <a:ext cx="380390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DESIGN PATTERN / PER-ROLE CONTROL</a:t>
            </a:r>
          </a:p>
        </p:txBody>
      </p:sp>
      <p:sp>
        <p:nvSpPr>
          <p:cNvPr id="12" name="Rounded Rectangle 11"/>
          <p:cNvSpPr/>
          <p:nvPr/>
        </p:nvSpPr>
        <p:spPr>
          <a:xfrm>
            <a:off x="502920" y="2880360"/>
            <a:ext cx="3291840" cy="20299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71800"/>
            <a:ext cx="50292" cy="18470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99232"/>
            <a:ext cx="301752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Service-level intent</a:t>
            </a:r>
          </a:p>
        </p:txBody>
      </p:sp>
      <p:sp>
        <p:nvSpPr>
          <p:cNvPr id="15" name="TextBox 14"/>
          <p:cNvSpPr txBox="1"/>
          <p:nvPr/>
        </p:nvSpPr>
        <p:spPr>
          <a:xfrm>
            <a:off x="649224" y="3438144"/>
            <a:ext cx="2999232" cy="13807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latency objective</a:t>
            </a:r>
          </a:p>
          <a:p>
            <a:pPr algn="ctr">
              <a:spcBef>
                <a:spcPts val="0"/>
              </a:spcBef>
              <a:spcAft>
                <a:spcPts val="500"/>
              </a:spcAft>
              <a:defRPr sz="1400" b="0">
                <a:solidFill>
                  <a:srgbClr val="586A80"/>
                </a:solidFill>
                <a:latin typeface="Arial"/>
              </a:defRPr>
            </a:pPr>
            <a:r>
              <a:t>Decode: delivery objective</a:t>
            </a:r>
          </a:p>
        </p:txBody>
      </p:sp>
      <p:sp>
        <p:nvSpPr>
          <p:cNvPr id="16" name="Rounded Rectangle 15"/>
          <p:cNvSpPr/>
          <p:nvPr/>
        </p:nvSpPr>
        <p:spPr>
          <a:xfrm>
            <a:off x="4572000" y="3227832"/>
            <a:ext cx="3017520" cy="13441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3319272"/>
            <a:ext cx="50292" cy="11612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3346703"/>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Policy reconciliation</a:t>
            </a:r>
          </a:p>
        </p:txBody>
      </p:sp>
      <p:sp>
        <p:nvSpPr>
          <p:cNvPr id="19" name="TextBox 18"/>
          <p:cNvSpPr txBox="1"/>
          <p:nvPr/>
        </p:nvSpPr>
        <p:spPr>
          <a:xfrm>
            <a:off x="4718304" y="3785615"/>
            <a:ext cx="2724912" cy="6949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Independent role targets</a:t>
            </a:r>
          </a:p>
        </p:txBody>
      </p:sp>
      <p:sp>
        <p:nvSpPr>
          <p:cNvPr id="20" name="Rounded Rectangle 19"/>
          <p:cNvSpPr/>
          <p:nvPr/>
        </p:nvSpPr>
        <p:spPr>
          <a:xfrm>
            <a:off x="8366760" y="2706624"/>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66760" y="2798064"/>
            <a:ext cx="50292" cy="88696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3920" y="2825496"/>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scale target</a:t>
            </a:r>
          </a:p>
        </p:txBody>
      </p:sp>
      <p:sp>
        <p:nvSpPr>
          <p:cNvPr id="23" name="TextBox 22"/>
          <p:cNvSpPr txBox="1"/>
          <p:nvPr/>
        </p:nvSpPr>
        <p:spPr>
          <a:xfrm>
            <a:off x="8513064" y="3264408"/>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sp>
        <p:nvSpPr>
          <p:cNvPr id="24" name="Rounded Rectangle 23"/>
          <p:cNvSpPr/>
          <p:nvPr/>
        </p:nvSpPr>
        <p:spPr>
          <a:xfrm>
            <a:off x="8366760" y="4233672"/>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66760" y="4325112"/>
            <a:ext cx="50292" cy="88696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3920" y="4352544"/>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scale target</a:t>
            </a:r>
          </a:p>
        </p:txBody>
      </p:sp>
      <p:sp>
        <p:nvSpPr>
          <p:cNvPr id="27" name="TextBox 26"/>
          <p:cNvSpPr txBox="1"/>
          <p:nvPr/>
        </p:nvSpPr>
        <p:spPr>
          <a:xfrm>
            <a:off x="8513064" y="4791455"/>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cxnSp>
        <p:nvCxnSpPr>
          <p:cNvPr id="28" name="Connector 27"/>
          <p:cNvCxnSpPr/>
          <p:nvPr/>
        </p:nvCxnSpPr>
        <p:spPr>
          <a:xfrm>
            <a:off x="3794760" y="3886200"/>
            <a:ext cx="7772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89520" y="3749039"/>
            <a:ext cx="36575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955279" y="3246120"/>
            <a:ext cx="0" cy="50291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955279" y="3246120"/>
            <a:ext cx="41148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589520" y="4041648"/>
            <a:ext cx="36575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955279" y="4041648"/>
            <a:ext cx="0" cy="73152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955279" y="4773168"/>
            <a:ext cx="41148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CONTROL-LOOP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Observe each role. Act on its own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feedback loops connect role-specific load to role-specific serving capacity.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Routing chooses where requests go; autoscaling changes how much capacity is available.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29 / 54</a:t>
            </a:r>
          </a:p>
        </p:txBody>
      </p:sp>
      <p:sp>
        <p:nvSpPr>
          <p:cNvPr id="10" name="Rounded Rectangle 9"/>
          <p:cNvSpPr/>
          <p:nvPr/>
        </p:nvSpPr>
        <p:spPr>
          <a:xfrm>
            <a:off x="502920"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Role-specific policies</a:t>
            </a:r>
          </a:p>
        </p:txBody>
      </p:sp>
      <p:sp>
        <p:nvSpPr>
          <p:cNvPr id="13" name="TextBox 12"/>
          <p:cNvSpPr txBox="1"/>
          <p:nvPr/>
        </p:nvSpPr>
        <p:spPr>
          <a:xfrm>
            <a:off x="649224"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Signals, thresholds and bounds</a:t>
            </a:r>
          </a:p>
        </p:txBody>
      </p:sp>
      <p:sp>
        <p:nvSpPr>
          <p:cNvPr id="14" name="Rounded Rectangle 13"/>
          <p:cNvSpPr/>
          <p:nvPr/>
        </p:nvSpPr>
        <p:spPr>
          <a:xfrm>
            <a:off x="4498848"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98848"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Independent decisions</a:t>
            </a:r>
          </a:p>
        </p:txBody>
      </p:sp>
      <p:sp>
        <p:nvSpPr>
          <p:cNvPr id="17" name="TextBox 16"/>
          <p:cNvSpPr txBox="1"/>
          <p:nvPr/>
        </p:nvSpPr>
        <p:spPr>
          <a:xfrm>
            <a:off x="4645152"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controller per target</a:t>
            </a:r>
          </a:p>
        </p:txBody>
      </p:sp>
      <p:sp>
        <p:nvSpPr>
          <p:cNvPr id="18" name="Rounded Rectangle 17"/>
          <p:cNvSpPr/>
          <p:nvPr/>
        </p:nvSpPr>
        <p:spPr>
          <a:xfrm>
            <a:off x="8485632"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85632"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Serving capacity</a:t>
            </a:r>
          </a:p>
        </p:txBody>
      </p:sp>
      <p:sp>
        <p:nvSpPr>
          <p:cNvPr id="21" name="TextBox 20"/>
          <p:cNvSpPr txBox="1"/>
          <p:nvPr/>
        </p:nvSpPr>
        <p:spPr>
          <a:xfrm>
            <a:off x="8631936"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Count model-ready replicas</a:t>
            </a:r>
          </a:p>
        </p:txBody>
      </p:sp>
      <p:cxnSp>
        <p:nvCxnSpPr>
          <p:cNvPr id="22" name="Connector 21"/>
          <p:cNvCxnSpPr/>
          <p:nvPr/>
        </p:nvCxnSpPr>
        <p:spPr>
          <a:xfrm>
            <a:off x="3703320" y="2569464"/>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99248" y="2569464"/>
            <a:ext cx="7863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vLLM /metrics</a:t>
            </a:r>
          </a:p>
        </p:txBody>
      </p:sp>
      <p:sp>
        <p:nvSpPr>
          <p:cNvPr id="27" name="TextBox 26"/>
          <p:cNvSpPr txBox="1"/>
          <p:nvPr/>
        </p:nvSpPr>
        <p:spPr>
          <a:xfrm>
            <a:off x="649224"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Waiting requests</a:t>
            </a:r>
          </a:p>
        </p:txBody>
      </p:sp>
      <p:sp>
        <p:nvSpPr>
          <p:cNvPr id="28" name="Rounded Rectangle 27"/>
          <p:cNvSpPr/>
          <p:nvPr/>
        </p:nvSpPr>
        <p:spPr>
          <a:xfrm>
            <a:off x="4498848"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98848"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6008"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autoscaler</a:t>
            </a:r>
          </a:p>
        </p:txBody>
      </p:sp>
      <p:sp>
        <p:nvSpPr>
          <p:cNvPr id="31" name="TextBox 30"/>
          <p:cNvSpPr txBox="1"/>
          <p:nvPr/>
        </p:nvSpPr>
        <p:spPr>
          <a:xfrm>
            <a:off x="4645152"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32" name="Rounded Rectangle 31"/>
          <p:cNvSpPr/>
          <p:nvPr/>
        </p:nvSpPr>
        <p:spPr>
          <a:xfrm>
            <a:off x="8485632"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85632"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22792"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replicas</a:t>
            </a:r>
          </a:p>
        </p:txBody>
      </p:sp>
      <p:sp>
        <p:nvSpPr>
          <p:cNvPr id="35" name="TextBox 34"/>
          <p:cNvSpPr txBox="1"/>
          <p:nvPr/>
        </p:nvSpPr>
        <p:spPr>
          <a:xfrm>
            <a:off x="8631936"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36" name="Connector 35"/>
          <p:cNvCxnSpPr/>
          <p:nvPr/>
        </p:nvCxnSpPr>
        <p:spPr>
          <a:xfrm>
            <a:off x="3703320" y="4014216"/>
            <a:ext cx="79552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99248" y="4014216"/>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02920"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vLLM /metrics</a:t>
            </a:r>
          </a:p>
        </p:txBody>
      </p:sp>
      <p:sp>
        <p:nvSpPr>
          <p:cNvPr id="41" name="TextBox 40"/>
          <p:cNvSpPr txBox="1"/>
          <p:nvPr/>
        </p:nvSpPr>
        <p:spPr>
          <a:xfrm>
            <a:off x="649224"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Running requests</a:t>
            </a:r>
          </a:p>
        </p:txBody>
      </p:sp>
      <p:sp>
        <p:nvSpPr>
          <p:cNvPr id="42" name="Rounded Rectangle 41"/>
          <p:cNvSpPr/>
          <p:nvPr/>
        </p:nvSpPr>
        <p:spPr>
          <a:xfrm>
            <a:off x="4498848"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498848"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36008"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autoscaler</a:t>
            </a:r>
          </a:p>
        </p:txBody>
      </p:sp>
      <p:sp>
        <p:nvSpPr>
          <p:cNvPr id="45" name="TextBox 44"/>
          <p:cNvSpPr txBox="1"/>
          <p:nvPr/>
        </p:nvSpPr>
        <p:spPr>
          <a:xfrm>
            <a:off x="4645152"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46" name="Rounded Rectangle 45"/>
          <p:cNvSpPr/>
          <p:nvPr/>
        </p:nvSpPr>
        <p:spPr>
          <a:xfrm>
            <a:off x="8485632"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485632"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22792"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replicas</a:t>
            </a:r>
          </a:p>
        </p:txBody>
      </p:sp>
      <p:sp>
        <p:nvSpPr>
          <p:cNvPr id="49" name="TextBox 48"/>
          <p:cNvSpPr txBox="1"/>
          <p:nvPr/>
        </p:nvSpPr>
        <p:spPr>
          <a:xfrm>
            <a:off x="8631936"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50" name="Connector 49"/>
          <p:cNvCxnSpPr/>
          <p:nvPr/>
        </p:nvCxnSpPr>
        <p:spPr>
          <a:xfrm>
            <a:off x="3703320" y="5093208"/>
            <a:ext cx="79552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699248" y="5093208"/>
            <a:ext cx="78638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VLLM-NATIVE METRICS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native gauges, two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per-replica role aggregation; tune thresholds against the deployed model and workload.</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thresholds only. Verify actual /metrics output before enabling either policy.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30 / 54</a:t>
            </a:r>
          </a:p>
        </p:txBody>
      </p:sp>
      <p:sp>
        <p:nvSpPr>
          <p:cNvPr id="10" name="Rounded Rectangle 9"/>
          <p:cNvSpPr/>
          <p:nvPr/>
        </p:nvSpPr>
        <p:spPr>
          <a:xfrm>
            <a:off x="502920"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267712"/>
            <a:ext cx="14630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3" name="TextBox 12"/>
          <p:cNvSpPr txBox="1"/>
          <p:nvPr/>
        </p:nvSpPr>
        <p:spPr>
          <a:xfrm>
            <a:off x="685800"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Courier New"/>
              </a:defRPr>
            </a:pPr>
            <a:r>
              <a:t>vllm:num_requests_waiting</a:t>
            </a:r>
          </a:p>
        </p:txBody>
      </p:sp>
      <p:sp>
        <p:nvSpPr>
          <p:cNvPr id="14" name="TextBox 13"/>
          <p:cNvSpPr txBox="1"/>
          <p:nvPr/>
        </p:nvSpPr>
        <p:spPr>
          <a:xfrm>
            <a:off x="685800"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Queue inside the prefill engine.</a:t>
            </a:r>
          </a:p>
          <a:p>
            <a:pPr>
              <a:spcBef>
                <a:spcPts val="0"/>
              </a:spcBef>
              <a:spcAft>
                <a:spcPts val="500"/>
              </a:spcAft>
              <a:defRPr sz="1800" b="0">
                <a:solidFill>
                  <a:srgbClr val="172941"/>
                </a:solidFill>
                <a:latin typeface="Arial"/>
              </a:defRPr>
            </a:pPr>
            <a:r>
              <a:t>Protect prompt admission latency.</a:t>
            </a:r>
          </a:p>
        </p:txBody>
      </p:sp>
      <p:sp>
        <p:nvSpPr>
          <p:cNvPr id="15" name="Rounded Rectangle 14"/>
          <p:cNvSpPr/>
          <p:nvPr/>
        </p:nvSpPr>
        <p:spPr>
          <a:xfrm>
            <a:off x="685800"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&lt; 1</a:t>
            </a:r>
          </a:p>
        </p:txBody>
      </p:sp>
      <p:sp>
        <p:nvSpPr>
          <p:cNvPr id="17" name="TextBox 16"/>
          <p:cNvSpPr txBox="1"/>
          <p:nvPr/>
        </p:nvSpPr>
        <p:spPr>
          <a:xfrm>
            <a:off x="74066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down</a:t>
            </a:r>
          </a:p>
        </p:txBody>
      </p:sp>
      <p:sp>
        <p:nvSpPr>
          <p:cNvPr id="18" name="Rounded Rectangle 17"/>
          <p:cNvSpPr/>
          <p:nvPr/>
        </p:nvSpPr>
        <p:spPr>
          <a:xfrm>
            <a:off x="2386584"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41448"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Between</a:t>
            </a:r>
          </a:p>
        </p:txBody>
      </p:sp>
      <p:sp>
        <p:nvSpPr>
          <p:cNvPr id="20" name="TextBox 19"/>
          <p:cNvSpPr txBox="1"/>
          <p:nvPr/>
        </p:nvSpPr>
        <p:spPr>
          <a:xfrm>
            <a:off x="2441448"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Hold</a:t>
            </a:r>
          </a:p>
        </p:txBody>
      </p:sp>
      <p:sp>
        <p:nvSpPr>
          <p:cNvPr id="21" name="Rounded Rectangle 20"/>
          <p:cNvSpPr/>
          <p:nvPr/>
        </p:nvSpPr>
        <p:spPr>
          <a:xfrm>
            <a:off x="4087368"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&gt; 8</a:t>
            </a:r>
          </a:p>
        </p:txBody>
      </p:sp>
      <p:sp>
        <p:nvSpPr>
          <p:cNvPr id="23" name="TextBox 22"/>
          <p:cNvSpPr txBox="1"/>
          <p:nvPr/>
        </p:nvSpPr>
        <p:spPr>
          <a:xfrm>
            <a:off x="4142232"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up</a:t>
            </a:r>
          </a:p>
        </p:txBody>
      </p:sp>
      <p:sp>
        <p:nvSpPr>
          <p:cNvPr id="24" name="TextBox 23"/>
          <p:cNvSpPr txBox="1"/>
          <p:nvPr/>
        </p:nvSpPr>
        <p:spPr>
          <a:xfrm>
            <a:off x="685800"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1–8 role replicas</a:t>
            </a:r>
          </a:p>
        </p:txBody>
      </p:sp>
      <p:sp>
        <p:nvSpPr>
          <p:cNvPr id="25" name="Rounded Rectangle 24"/>
          <p:cNvSpPr/>
          <p:nvPr/>
        </p:nvSpPr>
        <p:spPr>
          <a:xfrm>
            <a:off x="6199632"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82512" y="2267712"/>
            <a:ext cx="14630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8" name="TextBox 27"/>
          <p:cNvSpPr txBox="1"/>
          <p:nvPr/>
        </p:nvSpPr>
        <p:spPr>
          <a:xfrm>
            <a:off x="6382512"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Courier New"/>
              </a:defRPr>
            </a:pPr>
            <a:r>
              <a:t>vllm:num_requests_running</a:t>
            </a:r>
          </a:p>
        </p:txBody>
      </p:sp>
      <p:sp>
        <p:nvSpPr>
          <p:cNvPr id="29" name="TextBox 28"/>
          <p:cNvSpPr txBox="1"/>
          <p:nvPr/>
        </p:nvSpPr>
        <p:spPr>
          <a:xfrm>
            <a:off x="6382512"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Requests in decode execution batches.</a:t>
            </a:r>
          </a:p>
          <a:p>
            <a:pPr>
              <a:spcBef>
                <a:spcPts val="0"/>
              </a:spcBef>
              <a:spcAft>
                <a:spcPts val="500"/>
              </a:spcAft>
              <a:defRPr sz="1800" b="0">
                <a:solidFill>
                  <a:srgbClr val="172941"/>
                </a:solidFill>
                <a:latin typeface="Arial"/>
              </a:defRPr>
            </a:pPr>
            <a:r>
              <a:t>Protect token delivery under load.</a:t>
            </a:r>
          </a:p>
        </p:txBody>
      </p:sp>
      <p:sp>
        <p:nvSpPr>
          <p:cNvPr id="30" name="Rounded Rectangle 29"/>
          <p:cNvSpPr/>
          <p:nvPr/>
        </p:nvSpPr>
        <p:spPr>
          <a:xfrm>
            <a:off x="6382512"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37376"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&lt; 4</a:t>
            </a:r>
          </a:p>
        </p:txBody>
      </p:sp>
      <p:sp>
        <p:nvSpPr>
          <p:cNvPr id="32" name="TextBox 31"/>
          <p:cNvSpPr txBox="1"/>
          <p:nvPr/>
        </p:nvSpPr>
        <p:spPr>
          <a:xfrm>
            <a:off x="6437376"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down</a:t>
            </a:r>
          </a:p>
        </p:txBody>
      </p:sp>
      <p:sp>
        <p:nvSpPr>
          <p:cNvPr id="33" name="Rounded Rectangle 32"/>
          <p:cNvSpPr/>
          <p:nvPr/>
        </p:nvSpPr>
        <p:spPr>
          <a:xfrm>
            <a:off x="8083296"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38160"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Between</a:t>
            </a:r>
          </a:p>
        </p:txBody>
      </p:sp>
      <p:sp>
        <p:nvSpPr>
          <p:cNvPr id="35" name="TextBox 34"/>
          <p:cNvSpPr txBox="1"/>
          <p:nvPr/>
        </p:nvSpPr>
        <p:spPr>
          <a:xfrm>
            <a:off x="8138160"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Hold</a:t>
            </a:r>
          </a:p>
        </p:txBody>
      </p:sp>
      <p:sp>
        <p:nvSpPr>
          <p:cNvPr id="36" name="Rounded Rectangle 35"/>
          <p:cNvSpPr/>
          <p:nvPr/>
        </p:nvSpPr>
        <p:spPr>
          <a:xfrm>
            <a:off x="9784080"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3894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&gt; 24</a:t>
            </a:r>
          </a:p>
        </p:txBody>
      </p:sp>
      <p:sp>
        <p:nvSpPr>
          <p:cNvPr id="38" name="TextBox 37"/>
          <p:cNvSpPr txBox="1"/>
          <p:nvPr/>
        </p:nvSpPr>
        <p:spPr>
          <a:xfrm>
            <a:off x="983894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up</a:t>
            </a:r>
          </a:p>
        </p:txBody>
      </p:sp>
      <p:sp>
        <p:nvSpPr>
          <p:cNvPr id="39" name="TextBox 38"/>
          <p:cNvSpPr txBox="1"/>
          <p:nvPr/>
        </p:nvSpPr>
        <p:spPr>
          <a:xfrm>
            <a:off x="6382512"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2–16 role replicas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ROLE-SPECIFIC DECISIONS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Different roles need different scaling policies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the same safety contract, but tune each role against its own workload and objective.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policy—not universal tuning. Validate thresholds, cooldown and model warm-up.</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31 / 54</a:t>
            </a:r>
          </a:p>
        </p:txBody>
      </p:sp>
      <p:sp>
        <p:nvSpPr>
          <p:cNvPr id="10" name="Rectangle 9"/>
          <p:cNvSpPr/>
          <p:nvPr/>
        </p:nvSpPr>
        <p:spPr>
          <a:xfrm>
            <a:off x="502920" y="2057400"/>
            <a:ext cx="2903220"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2706624"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POLICY</a:t>
            </a:r>
          </a:p>
        </p:txBody>
      </p:sp>
      <p:sp>
        <p:nvSpPr>
          <p:cNvPr id="12" name="Rectangle 11"/>
          <p:cNvSpPr/>
          <p:nvPr/>
        </p:nvSpPr>
        <p:spPr>
          <a:xfrm>
            <a:off x="3429000"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38728"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PREFILL</a:t>
            </a:r>
          </a:p>
        </p:txBody>
      </p:sp>
      <p:sp>
        <p:nvSpPr>
          <p:cNvPr id="14" name="Rectangle 13"/>
          <p:cNvSpPr/>
          <p:nvPr/>
        </p:nvSpPr>
        <p:spPr>
          <a:xfrm>
            <a:off x="7552944"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62671"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DECODE</a:t>
            </a:r>
          </a:p>
        </p:txBody>
      </p:sp>
      <p:sp>
        <p:nvSpPr>
          <p:cNvPr id="16" name="Rectangle 15"/>
          <p:cNvSpPr/>
          <p:nvPr/>
        </p:nvSpPr>
        <p:spPr>
          <a:xfrm>
            <a:off x="502920" y="2642616"/>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761488"/>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Primary signal</a:t>
            </a:r>
          </a:p>
        </p:txBody>
      </p:sp>
      <p:sp>
        <p:nvSpPr>
          <p:cNvPr id="18" name="Rectangle 17"/>
          <p:cNvSpPr/>
          <p:nvPr/>
        </p:nvSpPr>
        <p:spPr>
          <a:xfrm>
            <a:off x="3429000"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38728"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Waiting requests</a:t>
            </a:r>
          </a:p>
        </p:txBody>
      </p:sp>
      <p:sp>
        <p:nvSpPr>
          <p:cNvPr id="20" name="Rectangle 19"/>
          <p:cNvSpPr/>
          <p:nvPr/>
        </p:nvSpPr>
        <p:spPr>
          <a:xfrm>
            <a:off x="7552944"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62671"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requests</a:t>
            </a:r>
          </a:p>
        </p:txBody>
      </p:sp>
      <p:sp>
        <p:nvSpPr>
          <p:cNvPr id="22" name="Rectangle 21"/>
          <p:cNvSpPr/>
          <p:nvPr/>
        </p:nvSpPr>
        <p:spPr>
          <a:xfrm>
            <a:off x="502920" y="3227832"/>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346704"/>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replica range</a:t>
            </a:r>
          </a:p>
        </p:txBody>
      </p:sp>
      <p:sp>
        <p:nvSpPr>
          <p:cNvPr id="24" name="Rectangle 23"/>
          <p:cNvSpPr/>
          <p:nvPr/>
        </p:nvSpPr>
        <p:spPr>
          <a:xfrm>
            <a:off x="3429000"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38728"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1–8</a:t>
            </a:r>
          </a:p>
        </p:txBody>
      </p:sp>
      <p:sp>
        <p:nvSpPr>
          <p:cNvPr id="26" name="Rectangle 25"/>
          <p:cNvSpPr/>
          <p:nvPr/>
        </p:nvSpPr>
        <p:spPr>
          <a:xfrm>
            <a:off x="7552944"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62671"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2–16</a:t>
            </a:r>
          </a:p>
        </p:txBody>
      </p:sp>
      <p:sp>
        <p:nvSpPr>
          <p:cNvPr id="28" name="Rectangle 27"/>
          <p:cNvSpPr/>
          <p:nvPr/>
        </p:nvSpPr>
        <p:spPr>
          <a:xfrm>
            <a:off x="502920" y="3813048"/>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3931920"/>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scale-up</a:t>
            </a:r>
          </a:p>
        </p:txBody>
      </p:sp>
      <p:sp>
        <p:nvSpPr>
          <p:cNvPr id="30" name="Rectangle 29"/>
          <p:cNvSpPr/>
          <p:nvPr/>
        </p:nvSpPr>
        <p:spPr>
          <a:xfrm>
            <a:off x="3429000"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38728"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8</a:t>
            </a:r>
          </a:p>
        </p:txBody>
      </p:sp>
      <p:sp>
        <p:nvSpPr>
          <p:cNvPr id="32" name="Rectangle 31"/>
          <p:cNvSpPr/>
          <p:nvPr/>
        </p:nvSpPr>
        <p:spPr>
          <a:xfrm>
            <a:off x="7552944"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62671"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24</a:t>
            </a:r>
          </a:p>
        </p:txBody>
      </p:sp>
      <p:sp>
        <p:nvSpPr>
          <p:cNvPr id="34" name="Rectangle 33"/>
          <p:cNvSpPr/>
          <p:nvPr/>
        </p:nvSpPr>
        <p:spPr>
          <a:xfrm>
            <a:off x="502920" y="4398264"/>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4517136"/>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scale-down</a:t>
            </a:r>
          </a:p>
        </p:txBody>
      </p:sp>
      <p:sp>
        <p:nvSpPr>
          <p:cNvPr id="36" name="Rectangle 35"/>
          <p:cNvSpPr/>
          <p:nvPr/>
        </p:nvSpPr>
        <p:spPr>
          <a:xfrm>
            <a:off x="3429000"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38728"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1</a:t>
            </a:r>
          </a:p>
        </p:txBody>
      </p:sp>
      <p:sp>
        <p:nvSpPr>
          <p:cNvPr id="38" name="Rectangle 37"/>
          <p:cNvSpPr/>
          <p:nvPr/>
        </p:nvSpPr>
        <p:spPr>
          <a:xfrm>
            <a:off x="7552944"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62671"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4</a:t>
            </a:r>
          </a:p>
        </p:txBody>
      </p:sp>
      <p:sp>
        <p:nvSpPr>
          <p:cNvPr id="40" name="Rectangle 39"/>
          <p:cNvSpPr/>
          <p:nvPr/>
        </p:nvSpPr>
        <p:spPr>
          <a:xfrm>
            <a:off x="502920" y="4983480"/>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 y="5102352"/>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Shared guardrails</a:t>
            </a:r>
          </a:p>
        </p:txBody>
      </p:sp>
      <p:sp>
        <p:nvSpPr>
          <p:cNvPr id="42" name="Rectangle 41"/>
          <p:cNvSpPr/>
          <p:nvPr/>
        </p:nvSpPr>
        <p:spPr>
          <a:xfrm>
            <a:off x="3429000"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38728"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
        <p:nvSpPr>
          <p:cNvPr id="44" name="Rectangle 43"/>
          <p:cNvSpPr/>
          <p:nvPr/>
        </p:nvSpPr>
        <p:spPr>
          <a:xfrm>
            <a:off x="7552944"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62671"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OPERATIONAL SAFEGUARDS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Safe autoscaling starts with ownership and valid data</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happy path is small. Correct handoff and failure behavior make it operable.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Avoid competing controllers, count only ready capacity, and protect in-flight requests.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32 / 54</a:t>
            </a:r>
          </a:p>
        </p:txBody>
      </p:sp>
      <p:sp>
        <p:nvSpPr>
          <p:cNvPr id="10" name="Rounded Rectangle 9"/>
          <p:cNvSpPr/>
          <p:nvPr/>
        </p:nvSpPr>
        <p:spPr>
          <a:xfrm>
            <a:off x="502920"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01 / REPLICA OWNERSHIP</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Choose one writer</a:t>
            </a:r>
          </a:p>
        </p:txBody>
      </p:sp>
      <p:sp>
        <p:nvSpPr>
          <p:cNvPr id="14" name="TextBox 13"/>
          <p:cNvSpPr txBox="1"/>
          <p:nvPr/>
        </p:nvSpPr>
        <p:spPr>
          <a:xfrm>
            <a:off x="685800"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One policy owns replica count</a:t>
            </a:r>
          </a:p>
          <a:p>
            <a:pPr>
              <a:spcBef>
                <a:spcPts val="0"/>
              </a:spcBef>
              <a:spcAft>
                <a:spcPts val="500"/>
              </a:spcAft>
              <a:defRPr sz="1700" b="0">
                <a:solidFill>
                  <a:srgbClr val="172941"/>
                </a:solidFill>
                <a:latin typeface="Arial"/>
              </a:defRPr>
            </a:pPr>
            <a:r>
              <a:t>Separate targets for P and D</a:t>
            </a:r>
          </a:p>
          <a:p>
            <a:pPr>
              <a:spcBef>
                <a:spcPts val="0"/>
              </a:spcBef>
              <a:spcAft>
                <a:spcPts val="500"/>
              </a:spcAft>
              <a:defRPr sz="1700" b="0">
                <a:solidFill>
                  <a:srgbClr val="172941"/>
                </a:solidFill>
                <a:latin typeface="Arial"/>
              </a:defRPr>
            </a:pPr>
            <a:r>
              <a:t>No competing autoscalers</a:t>
            </a:r>
          </a:p>
        </p:txBody>
      </p:sp>
      <p:sp>
        <p:nvSpPr>
          <p:cNvPr id="15" name="Rounded Rectangle 14"/>
          <p:cNvSpPr/>
          <p:nvPr/>
        </p:nvSpPr>
        <p:spPr>
          <a:xfrm>
            <a:off x="4288536"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02 / METRIC AVAILABILITY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Verify real signals</a:t>
            </a:r>
          </a:p>
        </p:txBody>
      </p:sp>
      <p:sp>
        <p:nvSpPr>
          <p:cNvPr id="19" name="TextBox 18"/>
          <p:cNvSpPr txBox="1"/>
          <p:nvPr/>
        </p:nvSpPr>
        <p:spPr>
          <a:xfrm>
            <a:off x="4471416"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Inspect actual /metrics</a:t>
            </a:r>
          </a:p>
          <a:p>
            <a:pPr>
              <a:spcBef>
                <a:spcPts val="0"/>
              </a:spcBef>
              <a:spcAft>
                <a:spcPts val="500"/>
              </a:spcAft>
              <a:defRPr sz="1700" b="0">
                <a:solidFill>
                  <a:srgbClr val="172941"/>
                </a:solidFill>
                <a:latin typeface="Arial"/>
              </a:defRPr>
            </a:pPr>
            <a:r>
              <a:t>Scope samples per role</a:t>
            </a:r>
          </a:p>
          <a:p>
            <a:pPr>
              <a:spcBef>
                <a:spcPts val="0"/>
              </a:spcBef>
              <a:spcAft>
                <a:spcPts val="500"/>
              </a:spcAft>
              <a:defRPr sz="1700" b="0">
                <a:solidFill>
                  <a:srgbClr val="172941"/>
                </a:solidFill>
                <a:latin typeface="Arial"/>
              </a:defRPr>
            </a:pPr>
            <a:r>
              <a:t>Missing is not zero</a:t>
            </a:r>
          </a:p>
          <a:p>
            <a:pPr>
              <a:spcBef>
                <a:spcPts val="0"/>
              </a:spcBef>
              <a:spcAft>
                <a:spcPts val="500"/>
              </a:spcAft>
              <a:defRPr sz="1700" b="0">
                <a:solidFill>
                  <a:srgbClr val="172941"/>
                </a:solidFill>
                <a:latin typeface="Arial"/>
              </a:defRPr>
            </a:pPr>
            <a:r>
              <a:t>On failure: hold + report</a:t>
            </a:r>
          </a:p>
        </p:txBody>
      </p:sp>
      <p:sp>
        <p:nvSpPr>
          <p:cNvPr id="20" name="Rounded Rectangle 19"/>
          <p:cNvSpPr/>
          <p:nvPr/>
        </p:nvSpPr>
        <p:spPr>
          <a:xfrm>
            <a:off x="8074152"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03 / LIFECYCLE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Make handoff explicit</a:t>
            </a:r>
          </a:p>
        </p:txBody>
      </p:sp>
      <p:sp>
        <p:nvSpPr>
          <p:cNvPr id="24" name="TextBox 23"/>
          <p:cNvSpPr txBox="1"/>
          <p:nvPr/>
        </p:nvSpPr>
        <p:spPr>
          <a:xfrm>
            <a:off x="8257031"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Stop the old writer first</a:t>
            </a:r>
          </a:p>
          <a:p>
            <a:pPr>
              <a:spcBef>
                <a:spcPts val="0"/>
              </a:spcBef>
              <a:spcAft>
                <a:spcPts val="500"/>
              </a:spcAft>
              <a:defRPr sz="1700" b="0">
                <a:solidFill>
                  <a:srgbClr val="172941"/>
                </a:solidFill>
                <a:latin typeface="Arial"/>
              </a:defRPr>
            </a:pPr>
            <a:r>
              <a:t>Delete only owned scalers</a:t>
            </a:r>
          </a:p>
          <a:p>
            <a:pPr>
              <a:spcBef>
                <a:spcPts val="0"/>
              </a:spcBef>
              <a:spcAft>
                <a:spcPts val="500"/>
              </a:spcAft>
              <a:defRPr sz="1700" b="0">
                <a:solidFill>
                  <a:srgbClr val="172941"/>
                </a:solidFill>
                <a:latin typeface="Arial"/>
              </a:defRPr>
            </a:pPr>
            <a:r>
              <a:t>Allow model warm-up</a:t>
            </a:r>
          </a:p>
          <a:p>
            <a:pPr>
              <a:spcBef>
                <a:spcPts val="0"/>
              </a:spcBef>
              <a:spcAft>
                <a:spcPts val="500"/>
              </a:spcAft>
              <a:defRPr sz="1700" b="0">
                <a:solidFill>
                  <a:srgbClr val="172941"/>
                </a:solidFill>
                <a:latin typeface="Arial"/>
              </a:defRPr>
            </a:pPr>
            <a:r>
              <a:t>Test safe scale-down</a:t>
            </a:r>
          </a:p>
        </p:txBody>
      </p:sp>
      <p:sp>
        <p:nvSpPr>
          <p:cNvPr id="25" name="TextBox 24"/>
          <p:cNvSpPr txBox="1"/>
          <p:nvPr/>
        </p:nvSpPr>
        <p:spPr>
          <a:xfrm>
            <a:off x="521207" y="5458968"/>
            <a:ext cx="11064240" cy="301752"/>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On missing or invalid signals: hold decisions and report the problem. Missing is not zero.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SIGNAL INTERPRETATION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Derived signals add context to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 native vLLM metrics to understand KV utilization, latency and throughput.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KV occupancy is not demand. High or low throughput alone should not change replica counts.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33 / 54</a:t>
            </a:r>
          </a:p>
        </p:txBody>
      </p:sp>
      <p:sp>
        <p:nvSpPr>
          <p:cNvPr id="10" name="Rectangle 9"/>
          <p:cNvSpPr/>
          <p:nvPr/>
        </p:nvSpPr>
        <p:spPr>
          <a:xfrm>
            <a:off x="502920" y="2057400"/>
            <a:ext cx="4027931"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3831335"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NATIVE INPUT (vllm: PREFIX)</a:t>
            </a:r>
          </a:p>
        </p:txBody>
      </p:sp>
      <p:sp>
        <p:nvSpPr>
          <p:cNvPr id="12" name="Rectangle 11"/>
          <p:cNvSpPr/>
          <p:nvPr/>
        </p:nvSpPr>
        <p:spPr>
          <a:xfrm>
            <a:off x="4553712" y="2057400"/>
            <a:ext cx="30861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63440" y="2176272"/>
            <a:ext cx="28895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DERIVATION</a:t>
            </a:r>
          </a:p>
        </p:txBody>
      </p:sp>
      <p:sp>
        <p:nvSpPr>
          <p:cNvPr id="14" name="Rectangle 13"/>
          <p:cNvSpPr/>
          <p:nvPr/>
        </p:nvSpPr>
        <p:spPr>
          <a:xfrm>
            <a:off x="7662671" y="2057400"/>
            <a:ext cx="40005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399" y="2176272"/>
            <a:ext cx="38039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DECISION SUPPORT</a:t>
            </a:r>
          </a:p>
        </p:txBody>
      </p:sp>
      <p:sp>
        <p:nvSpPr>
          <p:cNvPr id="16" name="Rectangle 15"/>
          <p:cNvSpPr/>
          <p:nvPr/>
        </p:nvSpPr>
        <p:spPr>
          <a:xfrm>
            <a:off x="502920" y="2770632"/>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889504"/>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18" name="Rectangle 17"/>
          <p:cNvSpPr/>
          <p:nvPr/>
        </p:nvSpPr>
        <p:spPr>
          <a:xfrm>
            <a:off x="4553712" y="2770632"/>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2889504"/>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max(role samples)</a:t>
            </a:r>
          </a:p>
        </p:txBody>
      </p:sp>
      <p:sp>
        <p:nvSpPr>
          <p:cNvPr id="20" name="Rectangle 19"/>
          <p:cNvSpPr/>
          <p:nvPr/>
        </p:nvSpPr>
        <p:spPr>
          <a:xfrm>
            <a:off x="7662671" y="2770632"/>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399" y="2889504"/>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Candidate downscale guard</a:t>
            </a:r>
          </a:p>
        </p:txBody>
      </p:sp>
      <p:sp>
        <p:nvSpPr>
          <p:cNvPr id="22" name="Rectangle 21"/>
          <p:cNvSpPr/>
          <p:nvPr/>
        </p:nvSpPr>
        <p:spPr>
          <a:xfrm>
            <a:off x="502920" y="3483864"/>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602736"/>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24" name="Rectangle 23"/>
          <p:cNvSpPr/>
          <p:nvPr/>
        </p:nvSpPr>
        <p:spPr>
          <a:xfrm>
            <a:off x="4553712" y="3483864"/>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63440" y="3602736"/>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1 - max(role samples)</a:t>
            </a:r>
          </a:p>
        </p:txBody>
      </p:sp>
      <p:sp>
        <p:nvSpPr>
          <p:cNvPr id="26" name="Rectangle 25"/>
          <p:cNvSpPr/>
          <p:nvPr/>
        </p:nvSpPr>
        <p:spPr>
          <a:xfrm>
            <a:off x="7662671" y="3483864"/>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399" y="3602736"/>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Minimum free fraction;</a:t>
            </a:r>
          </a:p>
          <a:p>
            <a:pPr>
              <a:spcBef>
                <a:spcPts val="0"/>
              </a:spcBef>
              <a:spcAft>
                <a:spcPts val="500"/>
              </a:spcAft>
              <a:defRPr sz="1500" b="0">
                <a:solidFill>
                  <a:srgbClr val="172941"/>
                </a:solidFill>
                <a:latin typeface="Arial"/>
              </a:defRPr>
            </a:pPr>
            <a:r>
              <a:t>not effective request capacity</a:t>
            </a:r>
          </a:p>
        </p:txBody>
      </p:sp>
      <p:sp>
        <p:nvSpPr>
          <p:cNvPr id="28" name="Rectangle 27"/>
          <p:cNvSpPr/>
          <p:nvPr/>
        </p:nvSpPr>
        <p:spPr>
          <a:xfrm>
            <a:off x="502920" y="4197096"/>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315968"/>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time_to_first_token_seconds</a:t>
            </a:r>
          </a:p>
          <a:p>
            <a:pPr>
              <a:spcBef>
                <a:spcPts val="0"/>
              </a:spcBef>
              <a:spcAft>
                <a:spcPts val="500"/>
              </a:spcAft>
              <a:defRPr sz="1500" b="0">
                <a:solidFill>
                  <a:srgbClr val="2563EB"/>
                </a:solidFill>
                <a:latin typeface="Arial"/>
              </a:defRPr>
            </a:pPr>
            <a:r>
              <a:t>(histogram buckets)</a:t>
            </a:r>
          </a:p>
        </p:txBody>
      </p:sp>
      <p:sp>
        <p:nvSpPr>
          <p:cNvPr id="30" name="Rectangle 29"/>
          <p:cNvSpPr/>
          <p:nvPr/>
        </p:nvSpPr>
        <p:spPr>
          <a:xfrm>
            <a:off x="4553712" y="4197096"/>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4315968"/>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P95 over bucket rates</a:t>
            </a:r>
          </a:p>
        </p:txBody>
      </p:sp>
      <p:sp>
        <p:nvSpPr>
          <p:cNvPr id="32" name="Rectangle 31"/>
          <p:cNvSpPr/>
          <p:nvPr/>
        </p:nvSpPr>
        <p:spPr>
          <a:xfrm>
            <a:off x="7662671" y="4197096"/>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399" y="4315968"/>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Latency tail; tune prefill policy</a:t>
            </a:r>
          </a:p>
        </p:txBody>
      </p:sp>
      <p:sp>
        <p:nvSpPr>
          <p:cNvPr id="34" name="Rectangle 33"/>
          <p:cNvSpPr/>
          <p:nvPr/>
        </p:nvSpPr>
        <p:spPr>
          <a:xfrm>
            <a:off x="502920" y="4910328"/>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5029200"/>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generation_tokens_total</a:t>
            </a:r>
          </a:p>
        </p:txBody>
      </p:sp>
      <p:sp>
        <p:nvSpPr>
          <p:cNvPr id="36" name="Rectangle 35"/>
          <p:cNvSpPr/>
          <p:nvPr/>
        </p:nvSpPr>
        <p:spPr>
          <a:xfrm>
            <a:off x="4553712" y="4910328"/>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5029200"/>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sum(rate(counter[5m]))</a:t>
            </a:r>
          </a:p>
        </p:txBody>
      </p:sp>
      <p:sp>
        <p:nvSpPr>
          <p:cNvPr id="38" name="Rectangle 37"/>
          <p:cNvSpPr/>
          <p:nvPr/>
        </p:nvSpPr>
        <p:spPr>
          <a:xfrm>
            <a:off x="7662671" y="4910328"/>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399" y="5029200"/>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Output throughput;</a:t>
            </a:r>
          </a:p>
          <a:p>
            <a:pPr>
              <a:spcBef>
                <a:spcPts val="0"/>
              </a:spcBef>
              <a:spcAft>
                <a:spcPts val="500"/>
              </a:spcAft>
              <a:defRPr sz="1500" b="0">
                <a:solidFill>
                  <a:srgbClr val="172941"/>
                </a:solidFill>
                <a:latin typeface="Arial"/>
              </a:defRPr>
            </a:pPr>
            <a:r>
              <a:t>observe and benchmark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IMPLEMENTATION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annotations wire each role to its own scaler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Reuse existing InferenceSet scaling; add an explicit MRI-to-role policy adapter.</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Proposed MRI integration—not enabled today by adding annotations alone.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34 / 54</a:t>
            </a:r>
          </a:p>
        </p:txBody>
      </p:sp>
      <p:sp>
        <p:nvSpPr>
          <p:cNvPr id="10" name="Rounded Rectangle 9"/>
          <p:cNvSpPr/>
          <p:nvPr/>
        </p:nvSpPr>
        <p:spPr>
          <a:xfrm>
            <a:off x="502920" y="2048256"/>
            <a:ext cx="2971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9696"/>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67128"/>
            <a:ext cx="2697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MultiRoleInference</a:t>
            </a:r>
          </a:p>
        </p:txBody>
      </p:sp>
      <p:sp>
        <p:nvSpPr>
          <p:cNvPr id="13" name="TextBox 12"/>
          <p:cNvSpPr txBox="1"/>
          <p:nvPr/>
        </p:nvSpPr>
        <p:spPr>
          <a:xfrm>
            <a:off x="649224" y="2606040"/>
            <a:ext cx="2679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autoscaling.kaito.sh/roles</a:t>
            </a:r>
          </a:p>
        </p:txBody>
      </p:sp>
      <p:sp>
        <p:nvSpPr>
          <p:cNvPr id="14" name="Rounded Rectangle 13"/>
          <p:cNvSpPr/>
          <p:nvPr/>
        </p:nvSpPr>
        <p:spPr>
          <a:xfrm>
            <a:off x="3877056" y="2048256"/>
            <a:ext cx="29992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7056" y="2139696"/>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14216" y="2167128"/>
            <a:ext cx="27249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MRI adapter (new)</a:t>
            </a:r>
          </a:p>
        </p:txBody>
      </p:sp>
      <p:sp>
        <p:nvSpPr>
          <p:cNvPr id="17" name="TextBox 16"/>
          <p:cNvSpPr txBox="1"/>
          <p:nvPr/>
        </p:nvSpPr>
        <p:spPr>
          <a:xfrm>
            <a:off x="4023360" y="2606040"/>
            <a:ext cx="27066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Validate + project by role</a:t>
            </a:r>
          </a:p>
        </p:txBody>
      </p:sp>
      <p:sp>
        <p:nvSpPr>
          <p:cNvPr id="18" name="Rounded Rectangle 17"/>
          <p:cNvSpPr/>
          <p:nvPr/>
        </p:nvSpPr>
        <p:spPr>
          <a:xfrm>
            <a:off x="7315200" y="2048256"/>
            <a:ext cx="43708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0" y="2139696"/>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167128"/>
            <a:ext cx="40965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Role InferenceSet metadata</a:t>
            </a:r>
          </a:p>
        </p:txBody>
      </p:sp>
      <p:sp>
        <p:nvSpPr>
          <p:cNvPr id="21" name="TextBox 20"/>
          <p:cNvSpPr txBox="1"/>
          <p:nvPr/>
        </p:nvSpPr>
        <p:spPr>
          <a:xfrm>
            <a:off x="7461504" y="2606040"/>
            <a:ext cx="40782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scaledobject.kaito.sh/*</a:t>
            </a:r>
          </a:p>
        </p:txBody>
      </p:sp>
      <p:cxnSp>
        <p:nvCxnSpPr>
          <p:cNvPr id="22" name="Connector 21"/>
          <p:cNvCxnSpPr/>
          <p:nvPr/>
        </p:nvCxnSpPr>
        <p:spPr>
          <a:xfrm>
            <a:off x="3474720" y="2542032"/>
            <a:ext cx="40233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76288" y="2542032"/>
            <a:ext cx="4389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255264"/>
            <a:ext cx="5559552" cy="2340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401568"/>
            <a:ext cx="5193792" cy="27432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GENERATED PREFILL CHILD ANNOTATIONS</a:t>
            </a:r>
          </a:p>
        </p:txBody>
      </p:sp>
      <p:sp>
        <p:nvSpPr>
          <p:cNvPr id="26" name="TextBox 25"/>
          <p:cNvSpPr txBox="1"/>
          <p:nvPr/>
        </p:nvSpPr>
        <p:spPr>
          <a:xfrm>
            <a:off x="685800" y="3831336"/>
            <a:ext cx="5193792" cy="1609344"/>
          </a:xfrm>
          <a:prstGeom prst="rect">
            <a:avLst/>
          </a:prstGeom>
          <a:noFill/>
        </p:spPr>
        <p:txBody>
          <a:bodyPr wrap="square" lIns="13716" rIns="13716" tIns="13716" bIns="13716">
            <a:spAutoFit/>
          </a:bodyPr>
          <a:lstStyle/>
          <a:p>
            <a:pPr>
              <a:spcBef>
                <a:spcPts val="0"/>
              </a:spcBef>
              <a:spcAft>
                <a:spcPts val="0"/>
              </a:spcAft>
              <a:defRPr sz="1160" b="0">
                <a:solidFill>
                  <a:srgbClr val="172941"/>
                </a:solidFill>
                <a:latin typeface="Courier New"/>
              </a:defRPr>
            </a:pPr>
            <a:r>
              <a:t>scaledobject.kaito.sh/auto-provision: "true"</a:t>
            </a:r>
          </a:p>
          <a:p>
            <a:pPr>
              <a:spcBef>
                <a:spcPts val="0"/>
              </a:spcBef>
              <a:spcAft>
                <a:spcPts val="0"/>
              </a:spcAft>
              <a:defRPr sz="1160" b="0">
                <a:solidFill>
                  <a:srgbClr val="172941"/>
                </a:solidFill>
                <a:latin typeface="Courier New"/>
              </a:defRPr>
            </a:pPr>
            <a:r>
              <a:t>scaledobject.kaito.sh/min-replicas: "1"</a:t>
            </a:r>
          </a:p>
          <a:p>
            <a:pPr>
              <a:spcBef>
                <a:spcPts val="0"/>
              </a:spcBef>
              <a:spcAft>
                <a:spcPts val="0"/>
              </a:spcAft>
              <a:defRPr sz="1160" b="0">
                <a:solidFill>
                  <a:srgbClr val="172941"/>
                </a:solidFill>
                <a:latin typeface="Courier New"/>
              </a:defRPr>
            </a:pPr>
            <a:r>
              <a:t>scaledobject.kaito.sh/max-replicas: "8"</a:t>
            </a:r>
          </a:p>
          <a:p>
            <a:pPr>
              <a:spcBef>
                <a:spcPts val="0"/>
              </a:spcBef>
              <a:spcAft>
                <a:spcPts val="0"/>
              </a:spcAft>
              <a:defRPr sz="1160" b="0">
                <a:solidFill>
                  <a:srgbClr val="172941"/>
                </a:solidFill>
                <a:latin typeface="Courier New"/>
              </a:defRPr>
            </a:pPr>
            <a:r>
              <a:t>scaledobject.kaito.sh/combinepolicy: AND</a:t>
            </a:r>
          </a:p>
          <a:p>
            <a:pPr>
              <a:spcBef>
                <a:spcPts val="0"/>
              </a:spcBef>
              <a:spcAft>
                <a:spcPts val="0"/>
              </a:spcAft>
              <a:defRPr sz="1160" b="0">
                <a:solidFill>
                  <a:srgbClr val="172941"/>
                </a:solidFill>
                <a:latin typeface="Courier New"/>
              </a:defRPr>
            </a:pPr>
            <a:r>
              <a:t>scaledobject.kaito.sh/metrics: |</a:t>
            </a:r>
          </a:p>
          <a:p>
            <a:pPr>
              <a:spcBef>
                <a:spcPts val="0"/>
              </a:spcBef>
              <a:spcAft>
                <a:spcPts val="0"/>
              </a:spcAft>
              <a:defRPr sz="1160" b="0">
                <a:solidFill>
                  <a:srgbClr val="172941"/>
                </a:solidFill>
                <a:latin typeface="Courier New"/>
              </a:defRPr>
            </a:pPr>
            <a:r>
              <a:t>  - name: vllm:num_requests_waiting</a:t>
            </a:r>
          </a:p>
          <a:p>
            <a:pPr>
              <a:spcBef>
                <a:spcPts val="0"/>
              </a:spcBef>
              <a:spcAft>
                <a:spcPts val="0"/>
              </a:spcAft>
              <a:defRPr sz="1160" b="0">
                <a:solidFill>
                  <a:srgbClr val="172941"/>
                </a:solidFill>
                <a:latin typeface="Courier New"/>
              </a:defRPr>
            </a:pPr>
            <a:r>
              <a:t>    type: gauge</a:t>
            </a:r>
          </a:p>
          <a:p>
            <a:pPr>
              <a:spcBef>
                <a:spcPts val="0"/>
              </a:spcBef>
              <a:spcAft>
                <a:spcPts val="0"/>
              </a:spcAft>
              <a:defRPr sz="1160" b="0">
                <a:solidFill>
                  <a:srgbClr val="172941"/>
                </a:solidFill>
                <a:latin typeface="Courier New"/>
              </a:defRPr>
            </a:pPr>
            <a:r>
              <a:t>    upthreshold: 8</a:t>
            </a:r>
          </a:p>
          <a:p>
            <a:pPr>
              <a:spcBef>
                <a:spcPts val="0"/>
              </a:spcBef>
              <a:spcAft>
                <a:spcPts val="0"/>
              </a:spcAft>
              <a:defRPr sz="1160" b="0">
                <a:solidFill>
                  <a:srgbClr val="172941"/>
                </a:solidFill>
                <a:latin typeface="Courier New"/>
              </a:defRPr>
            </a:pPr>
            <a:r>
              <a:t>    downthreshold: 1</a:t>
            </a:r>
          </a:p>
        </p:txBody>
      </p:sp>
      <p:sp>
        <p:nvSpPr>
          <p:cNvPr id="27" name="TextBox 26"/>
          <p:cNvSpPr txBox="1"/>
          <p:nvPr/>
        </p:nvSpPr>
        <p:spPr>
          <a:xfrm>
            <a:off x="6400800" y="3282696"/>
            <a:ext cx="5166360" cy="301752"/>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ONE PATH PER ROLE</a:t>
            </a:r>
          </a:p>
        </p:txBody>
      </p:sp>
      <p:sp>
        <p:nvSpPr>
          <p:cNvPr id="28" name="TextBox 27"/>
          <p:cNvSpPr txBox="1"/>
          <p:nvPr/>
        </p:nvSpPr>
        <p:spPr>
          <a:xfrm>
            <a:off x="6400800" y="3675887"/>
            <a:ext cx="5166360" cy="7132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Scaler provisions ScaledObject</a:t>
            </a:r>
          </a:p>
          <a:p>
            <a:pPr>
              <a:spcBef>
                <a:spcPts val="0"/>
              </a:spcBef>
              <a:spcAft>
                <a:spcPts val="500"/>
              </a:spcAft>
              <a:defRPr sz="1800" b="0">
                <a:solidFill>
                  <a:srgbClr val="172941"/>
                </a:solidFill>
                <a:latin typeface="Arial"/>
              </a:defRPr>
            </a:pPr>
            <a:r>
              <a:t>KEDA / HPA writes InferenceSet /scale</a:t>
            </a:r>
          </a:p>
        </p:txBody>
      </p:sp>
      <p:sp>
        <p:nvSpPr>
          <p:cNvPr id="29" name="TextBox 28"/>
          <p:cNvSpPr txBox="1"/>
          <p:nvPr/>
        </p:nvSpPr>
        <p:spPr>
          <a:xfrm>
            <a:off x="6400800" y="4544568"/>
            <a:ext cx="5166360" cy="1033271"/>
          </a:xfrm>
          <a:prstGeom prst="rect">
            <a:avLst/>
          </a:prstGeom>
          <a:noFill/>
        </p:spPr>
        <p:txBody>
          <a:bodyPr wrap="square" lIns="13716" rIns="13716" tIns="13716" bIns="13716">
            <a:spAutoFit/>
          </a:bodyPr>
          <a:lstStyle/>
          <a:p>
            <a:pPr>
              <a:spcBef>
                <a:spcPts val="0"/>
              </a:spcBef>
              <a:spcAft>
                <a:spcPts val="500"/>
              </a:spcAft>
              <a:defRPr sz="1500" b="0">
                <a:solidFill>
                  <a:srgbClr val="AE641A"/>
                </a:solidFill>
                <a:latin typeface="Arial"/>
              </a:defRPr>
            </a:pPr>
            <a:r>
              <a:t>Required: opt in MRI-owned children</a:t>
            </a:r>
          </a:p>
          <a:p>
            <a:pPr>
              <a:spcBef>
                <a:spcPts val="0"/>
              </a:spcBef>
              <a:spcAft>
                <a:spcPts val="500"/>
              </a:spcAft>
              <a:defRPr sz="1500" b="0">
                <a:solidFill>
                  <a:srgbClr val="AE641A"/>
                </a:solidFill>
                <a:latin typeface="Arial"/>
              </a:defRPr>
            </a:pPr>
            <a:r>
              <a:t>Write metadata, not template annotations</a:t>
            </a:r>
          </a:p>
          <a:p>
            <a:pPr>
              <a:spcBef>
                <a:spcPts val="0"/>
              </a:spcBef>
              <a:spcAft>
                <a:spcPts val="500"/>
              </a:spcAft>
              <a:defRPr sz="1500" b="0">
                <a:solidFill>
                  <a:srgbClr val="AE641A"/>
                </a:solidFill>
                <a:latin typeface="Arial"/>
              </a:defRPr>
            </a:pPr>
            <a:r>
              <a:t>replicas: null releases MRI enforcement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ANNOTATION EXAMPLE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Example: one MRI policy, independent P/D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Illustrative policy excerpts. Full proposed manifest is linked in the speaker notes.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Requires the MRI adapter + child opt-in above. Thresholds are examples, not production tuning.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35 / 54</a:t>
            </a:r>
          </a:p>
        </p:txBody>
      </p:sp>
      <p:sp>
        <p:nvSpPr>
          <p:cNvPr id="10" name="Rounded Rectangle 9"/>
          <p:cNvSpPr/>
          <p:nvPr/>
        </p:nvSpPr>
        <p:spPr>
          <a:xfrm>
            <a:off x="502920" y="2029968"/>
            <a:ext cx="5669280" cy="3685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303520" cy="22860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Courier New"/>
              </a:defRPr>
            </a:pPr>
            <a:r>
              <a:t>MRI metadata.annotations</a:t>
            </a:r>
          </a:p>
        </p:txBody>
      </p:sp>
      <p:sp>
        <p:nvSpPr>
          <p:cNvPr id="12" name="TextBox 11"/>
          <p:cNvSpPr txBox="1"/>
          <p:nvPr/>
        </p:nvSpPr>
        <p:spPr>
          <a:xfrm>
            <a:off x="685800" y="2423160"/>
            <a:ext cx="5303520" cy="3282696"/>
          </a:xfrm>
          <a:prstGeom prst="rect">
            <a:avLst/>
          </a:prstGeom>
          <a:noFill/>
        </p:spPr>
        <p:txBody>
          <a:bodyPr wrap="square" lIns="13716" rIns="13716" tIns="13716" bIns="13716">
            <a:spAutoFit/>
          </a:bodyPr>
          <a:lstStyle/>
          <a:p>
            <a:pPr>
              <a:lnSpc>
                <a:spcPts val="1220"/>
              </a:lnSpc>
              <a:spcBef>
                <a:spcPts val="0"/>
              </a:spcBef>
              <a:spcAft>
                <a:spcPts val="0"/>
              </a:spcAft>
              <a:defRPr sz="1070" b="0">
                <a:solidFill>
                  <a:srgbClr val="172941"/>
                </a:solidFill>
                <a:latin typeface="Courier New"/>
              </a:defRPr>
            </a:pPr>
            <a:r>
              <a:t>autoscaling.kaito.sh/roles: |</a:t>
            </a:r>
          </a:p>
          <a:p>
            <a:pPr>
              <a:lnSpc>
                <a:spcPts val="1220"/>
              </a:lnSpc>
              <a:spcBef>
                <a:spcPts val="0"/>
              </a:spcBef>
              <a:spcAft>
                <a:spcPts val="0"/>
              </a:spcAft>
              <a:defRPr sz="1070" b="0">
                <a:solidFill>
                  <a:srgbClr val="172941"/>
                </a:solidFill>
                <a:latin typeface="Courier New"/>
              </a:defRPr>
            </a:pPr>
            <a:r>
              <a:t>  version: v1alpha1</a:t>
            </a:r>
          </a:p>
          <a:p>
            <a:pPr>
              <a:lnSpc>
                <a:spcPts val="1220"/>
              </a:lnSpc>
              <a:spcBef>
                <a:spcPts val="0"/>
              </a:spcBef>
              <a:spcAft>
                <a:spcPts val="0"/>
              </a:spcAft>
              <a:defRPr sz="1070" b="0">
                <a:solidFill>
                  <a:srgbClr val="172941"/>
                </a:solidFill>
                <a:latin typeface="Courier New"/>
              </a:defRPr>
            </a:pPr>
            <a:r>
              <a:t>  roles:</a:t>
            </a:r>
          </a:p>
          <a:p>
            <a:pPr>
              <a:lnSpc>
                <a:spcPts val="1220"/>
              </a:lnSpc>
              <a:spcBef>
                <a:spcPts val="0"/>
              </a:spcBef>
              <a:spcAft>
                <a:spcPts val="0"/>
              </a:spcAft>
              <a:defRPr sz="1070" b="0">
                <a:solidFill>
                  <a:srgbClr val="172941"/>
                </a:solidFill>
                <a:latin typeface="Courier New"/>
              </a:defRPr>
            </a:pPr>
            <a:r>
              <a:t>    prefill:</a:t>
            </a:r>
          </a:p>
          <a:p>
            <a:pPr>
              <a:lnSpc>
                <a:spcPts val="1220"/>
              </a:lnSpc>
              <a:spcBef>
                <a:spcPts val="0"/>
              </a:spcBef>
              <a:spcAft>
                <a:spcPts val="0"/>
              </a:spcAft>
              <a:defRPr sz="1070" b="0">
                <a:solidFill>
                  <a:srgbClr val="172941"/>
                </a:solidFill>
                <a:latin typeface="Courier New"/>
              </a:defRPr>
            </a:pPr>
            <a:r>
              <a:t>      min-replicas: "1"</a:t>
            </a:r>
          </a:p>
          <a:p>
            <a:pPr>
              <a:lnSpc>
                <a:spcPts val="1220"/>
              </a:lnSpc>
              <a:spcBef>
                <a:spcPts val="0"/>
              </a:spcBef>
              <a:spcAft>
                <a:spcPts val="0"/>
              </a:spcAft>
              <a:defRPr sz="1070" b="0">
                <a:solidFill>
                  <a:srgbClr val="172941"/>
                </a:solidFill>
                <a:latin typeface="Courier New"/>
              </a:defRPr>
            </a:pPr>
            <a:r>
              <a:t>      max-replicas: "8"</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vllm:num_requests_waiting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8</a:t>
            </a:r>
          </a:p>
          <a:p>
            <a:pPr>
              <a:lnSpc>
                <a:spcPts val="1220"/>
              </a:lnSpc>
              <a:spcBef>
                <a:spcPts val="0"/>
              </a:spcBef>
              <a:spcAft>
                <a:spcPts val="0"/>
              </a:spcAft>
              <a:defRPr sz="1070" b="0">
                <a:solidFill>
                  <a:srgbClr val="172941"/>
                </a:solidFill>
                <a:latin typeface="Courier New"/>
              </a:defRPr>
            </a:pPr>
            <a:r>
              <a:t>        downthreshold: 1</a:t>
            </a:r>
          </a:p>
          <a:p>
            <a:pPr>
              <a:lnSpc>
                <a:spcPts val="1220"/>
              </a:lnSpc>
              <a:spcBef>
                <a:spcPts val="0"/>
              </a:spcBef>
              <a:spcAft>
                <a:spcPts val="0"/>
              </a:spcAft>
              <a:defRPr sz="1070" b="0">
                <a:solidFill>
                  <a:srgbClr val="172941"/>
                </a:solidFill>
                <a:latin typeface="Courier New"/>
              </a:defRPr>
            </a:pPr>
            <a:r>
              <a:t>    decode:</a:t>
            </a:r>
          </a:p>
          <a:p>
            <a:pPr>
              <a:lnSpc>
                <a:spcPts val="1220"/>
              </a:lnSpc>
              <a:spcBef>
                <a:spcPts val="0"/>
              </a:spcBef>
              <a:spcAft>
                <a:spcPts val="0"/>
              </a:spcAft>
              <a:defRPr sz="1070" b="0">
                <a:solidFill>
                  <a:srgbClr val="172941"/>
                </a:solidFill>
                <a:latin typeface="Courier New"/>
              </a:defRPr>
            </a:pPr>
            <a:r>
              <a:t>      min-replicas: "2"</a:t>
            </a:r>
          </a:p>
          <a:p>
            <a:pPr>
              <a:lnSpc>
                <a:spcPts val="1220"/>
              </a:lnSpc>
              <a:spcBef>
                <a:spcPts val="0"/>
              </a:spcBef>
              <a:spcAft>
                <a:spcPts val="0"/>
              </a:spcAft>
              <a:defRPr sz="1070" b="0">
                <a:solidFill>
                  <a:srgbClr val="172941"/>
                </a:solidFill>
                <a:latin typeface="Courier New"/>
              </a:defRPr>
            </a:pPr>
            <a:r>
              <a:t>      max-replicas: "16"</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vllm:num_requests_running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24</a:t>
            </a:r>
          </a:p>
          <a:p>
            <a:pPr>
              <a:lnSpc>
                <a:spcPts val="1220"/>
              </a:lnSpc>
              <a:spcBef>
                <a:spcPts val="0"/>
              </a:spcBef>
              <a:spcAft>
                <a:spcPts val="0"/>
              </a:spcAft>
              <a:defRPr sz="1070" b="0">
                <a:solidFill>
                  <a:srgbClr val="172941"/>
                </a:solidFill>
                <a:latin typeface="Courier New"/>
              </a:defRPr>
            </a:pPr>
            <a:r>
              <a:t>        downthreshold: 4</a:t>
            </a:r>
          </a:p>
        </p:txBody>
      </p:sp>
      <p:sp>
        <p:nvSpPr>
          <p:cNvPr id="13" name="Rounded Rectangle 12"/>
          <p:cNvSpPr/>
          <p:nvPr/>
        </p:nvSpPr>
        <p:spPr>
          <a:xfrm>
            <a:off x="6419088" y="2029968"/>
            <a:ext cx="5266944" cy="141732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01968" y="2157984"/>
            <a:ext cx="4901184" cy="274320"/>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Courier New"/>
              </a:defRPr>
            </a:pPr>
            <a:r>
              <a:t>MRI spec.roles (excerpt)</a:t>
            </a:r>
          </a:p>
        </p:txBody>
      </p:sp>
      <p:sp>
        <p:nvSpPr>
          <p:cNvPr id="15" name="TextBox 14"/>
          <p:cNvSpPr txBox="1"/>
          <p:nvPr/>
        </p:nvSpPr>
        <p:spPr>
          <a:xfrm>
            <a:off x="6601968" y="2587752"/>
            <a:ext cx="4901184" cy="722376"/>
          </a:xfrm>
          <a:prstGeom prst="rect">
            <a:avLst/>
          </a:prstGeom>
          <a:noFill/>
        </p:spPr>
        <p:txBody>
          <a:bodyPr wrap="square" lIns="13716" rIns="13716" tIns="13716" bIns="13716">
            <a:spAutoFit/>
          </a:bodyPr>
          <a:lstStyle/>
          <a:p>
            <a:pPr>
              <a:spcBef>
                <a:spcPts val="0"/>
              </a:spcBef>
              <a:spcAft>
                <a:spcPts val="0"/>
              </a:spcAft>
              <a:defRPr sz="1200" b="0">
                <a:solidFill>
                  <a:srgbClr val="172941"/>
                </a:solidFill>
                <a:latin typeface="Courier New"/>
              </a:defRPr>
            </a:pPr>
            <a:r>
              <a:t>- type: prefill</a:t>
            </a:r>
          </a:p>
          <a:p>
            <a:pPr>
              <a:spcBef>
                <a:spcPts val="0"/>
              </a:spcBef>
              <a:spcAft>
                <a:spcPts val="0"/>
              </a:spcAft>
              <a:defRPr sz="1200" b="0">
                <a:solidFill>
                  <a:srgbClr val="172941"/>
                </a:solidFill>
                <a:latin typeface="Courier New"/>
              </a:defRPr>
            </a:pPr>
            <a:r>
              <a:t>  replicas: null</a:t>
            </a:r>
          </a:p>
          <a:p>
            <a:pPr>
              <a:spcBef>
                <a:spcPts val="0"/>
              </a:spcBef>
              <a:spcAft>
                <a:spcPts val="0"/>
              </a:spcAft>
              <a:defRPr sz="1200" b="0">
                <a:solidFill>
                  <a:srgbClr val="172941"/>
                </a:solidFill>
                <a:latin typeface="Courier New"/>
              </a:defRPr>
            </a:pPr>
            <a:r>
              <a:t>- type: decode</a:t>
            </a:r>
          </a:p>
          <a:p>
            <a:pPr>
              <a:spcBef>
                <a:spcPts val="0"/>
              </a:spcBef>
              <a:spcAft>
                <a:spcPts val="0"/>
              </a:spcAft>
              <a:defRPr sz="1200" b="0">
                <a:solidFill>
                  <a:srgbClr val="172941"/>
                </a:solidFill>
                <a:latin typeface="Courier New"/>
              </a:defRPr>
            </a:pPr>
            <a:r>
              <a:t>  replicas: null</a:t>
            </a:r>
          </a:p>
        </p:txBody>
      </p:sp>
      <p:sp>
        <p:nvSpPr>
          <p:cNvPr id="16" name="TextBox 15"/>
          <p:cNvSpPr txBox="1"/>
          <p:nvPr/>
        </p:nvSpPr>
        <p:spPr>
          <a:xfrm>
            <a:off x="6437376" y="3639312"/>
            <a:ext cx="5202936" cy="283464"/>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ROLE AVERAGES / START AT P=1, D=2</a:t>
            </a:r>
          </a:p>
        </p:txBody>
      </p:sp>
      <p:sp>
        <p:nvSpPr>
          <p:cNvPr id="17" name="TextBox 16"/>
          <p:cNvSpPr txBox="1"/>
          <p:nvPr/>
        </p:nvSpPr>
        <p:spPr>
          <a:xfrm>
            <a:off x="6437376" y="4105656"/>
            <a:ext cx="5202936" cy="640080"/>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Waiting=12; running=12</a:t>
            </a:r>
          </a:p>
          <a:p>
            <a:pPr>
              <a:spcBef>
                <a:spcPts val="0"/>
              </a:spcBef>
              <a:spcAft>
                <a:spcPts val="500"/>
              </a:spcAft>
              <a:defRPr sz="1700" b="0">
                <a:solidFill>
                  <a:srgbClr val="087F8C"/>
                </a:solidFill>
                <a:latin typeface="Arial"/>
              </a:defRPr>
            </a:pPr>
            <a:r>
              <a:t>Prefill scales up; decode holds.</a:t>
            </a:r>
          </a:p>
        </p:txBody>
      </p:sp>
      <p:sp>
        <p:nvSpPr>
          <p:cNvPr id="18" name="TextBox 17"/>
          <p:cNvSpPr txBox="1"/>
          <p:nvPr/>
        </p:nvSpPr>
        <p:spPr>
          <a:xfrm>
            <a:off x="6437376" y="4937760"/>
            <a:ext cx="5202936" cy="621792"/>
          </a:xfrm>
          <a:prstGeom prst="rect">
            <a:avLst/>
          </a:prstGeom>
          <a:noFill/>
        </p:spPr>
        <p:txBody>
          <a:bodyPr wrap="square" lIns="13716" rIns="13716" tIns="13716" bIns="13716">
            <a:spAutoFit/>
          </a:bodyPr>
          <a:lstStyle/>
          <a:p>
            <a:pPr>
              <a:spcBef>
                <a:spcPts val="0"/>
              </a:spcBef>
              <a:spcAft>
                <a:spcPts val="500"/>
              </a:spcAft>
              <a:defRPr sz="1600" b="0">
                <a:solidFill>
                  <a:srgbClr val="7354B8"/>
                </a:solidFill>
                <a:latin typeface="Arial"/>
              </a:defRPr>
            </a:pPr>
            <a:r>
              <a:t>Running later rises above 24:</a:t>
            </a:r>
          </a:p>
          <a:p>
            <a:pPr>
              <a:spcBef>
                <a:spcPts val="0"/>
              </a:spcBef>
              <a:spcAft>
                <a:spcPts val="500"/>
              </a:spcAft>
              <a:defRPr sz="1600" b="0">
                <a:solidFill>
                  <a:srgbClr val="7354B8"/>
                </a:solidFill>
                <a:latin typeface="Arial"/>
              </a:defRPr>
            </a:pPr>
            <a:r>
              <a:t>decode can scale up independently.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EVALUATION PLAN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Benchmark the operating point—not only the peak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Compare aggregated and P/D deployments under the same constraints.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Local KAITO evaluation plan; external reference results follow.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36 / 54</a:t>
            </a:r>
          </a:p>
        </p:txBody>
      </p:sp>
      <p:sp>
        <p:nvSpPr>
          <p:cNvPr id="10" name="Rounded Rectangle 9"/>
          <p:cNvSpPr/>
          <p:nvPr/>
        </p:nvSpPr>
        <p:spPr>
          <a:xfrm>
            <a:off x="502920" y="2167128"/>
            <a:ext cx="301752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286000"/>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Workload replay</a:t>
            </a:r>
          </a:p>
        </p:txBody>
      </p:sp>
      <p:sp>
        <p:nvSpPr>
          <p:cNvPr id="13" name="TextBox 12"/>
          <p:cNvSpPr txBox="1"/>
          <p:nvPr/>
        </p:nvSpPr>
        <p:spPr>
          <a:xfrm>
            <a:off x="649224" y="2724912"/>
            <a:ext cx="272491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 model, traffic, and SLO</a:t>
            </a:r>
          </a:p>
        </p:txBody>
      </p:sp>
      <p:sp>
        <p:nvSpPr>
          <p:cNvPr id="14" name="Rounded Rectangle 13"/>
          <p:cNvSpPr/>
          <p:nvPr/>
        </p:nvSpPr>
        <p:spPr>
          <a:xfrm>
            <a:off x="4617720" y="2167128"/>
            <a:ext cx="306324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6177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286000"/>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Aggregated</a:t>
            </a:r>
          </a:p>
        </p:txBody>
      </p:sp>
      <p:sp>
        <p:nvSpPr>
          <p:cNvPr id="17" name="TextBox 16"/>
          <p:cNvSpPr txBox="1"/>
          <p:nvPr/>
        </p:nvSpPr>
        <p:spPr>
          <a:xfrm>
            <a:off x="4764024" y="2724912"/>
            <a:ext cx="277063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Baseline configuration</a:t>
            </a:r>
          </a:p>
        </p:txBody>
      </p:sp>
      <p:sp>
        <p:nvSpPr>
          <p:cNvPr id="18" name="Rounded Rectangle 17"/>
          <p:cNvSpPr/>
          <p:nvPr/>
        </p:nvSpPr>
        <p:spPr>
          <a:xfrm>
            <a:off x="8641080" y="2167128"/>
            <a:ext cx="3044952"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1080" y="2258568"/>
            <a:ext cx="50292" cy="101498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2286000"/>
            <a:ext cx="2770632"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Disaggregated</a:t>
            </a:r>
          </a:p>
        </p:txBody>
      </p:sp>
      <p:sp>
        <p:nvSpPr>
          <p:cNvPr id="21" name="TextBox 20"/>
          <p:cNvSpPr txBox="1"/>
          <p:nvPr/>
        </p:nvSpPr>
        <p:spPr>
          <a:xfrm>
            <a:off x="8787384" y="2724912"/>
            <a:ext cx="2752344"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 decode configuration</a:t>
            </a:r>
          </a:p>
        </p:txBody>
      </p:sp>
      <p:cxnSp>
        <p:nvCxnSpPr>
          <p:cNvPr id="22" name="Connector 21"/>
          <p:cNvCxnSpPr/>
          <p:nvPr/>
        </p:nvCxnSpPr>
        <p:spPr>
          <a:xfrm>
            <a:off x="3520440" y="2615184"/>
            <a:ext cx="109728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520440" y="2926080"/>
            <a:ext cx="50292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023360" y="2926080"/>
            <a:ext cx="0" cy="768096"/>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023360" y="3694176"/>
            <a:ext cx="6144768"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68128" y="3364992"/>
            <a:ext cx="0" cy="32918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02920" y="4005072"/>
            <a:ext cx="2903220"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 y="4123944"/>
            <a:ext cx="2706624"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HOLD CONSTANT</a:t>
            </a:r>
          </a:p>
        </p:txBody>
      </p:sp>
      <p:sp>
        <p:nvSpPr>
          <p:cNvPr id="29" name="Rectangle 28"/>
          <p:cNvSpPr/>
          <p:nvPr/>
        </p:nvSpPr>
        <p:spPr>
          <a:xfrm>
            <a:off x="3429000" y="4005072"/>
            <a:ext cx="8234171"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8728" y="4123944"/>
            <a:ext cx="8037575"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REPORT WITH THE RESULT</a:t>
            </a:r>
          </a:p>
        </p:txBody>
      </p:sp>
      <p:sp>
        <p:nvSpPr>
          <p:cNvPr id="31" name="Rectangle 30"/>
          <p:cNvSpPr/>
          <p:nvPr/>
        </p:nvSpPr>
        <p:spPr>
          <a:xfrm>
            <a:off x="502920" y="4544568"/>
            <a:ext cx="2903220"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2648" y="4663440"/>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Model + traffic</a:t>
            </a:r>
          </a:p>
        </p:txBody>
      </p:sp>
      <p:sp>
        <p:nvSpPr>
          <p:cNvPr id="33" name="Rectangle 32"/>
          <p:cNvSpPr/>
          <p:nvPr/>
        </p:nvSpPr>
        <p:spPr>
          <a:xfrm>
            <a:off x="3429000" y="4544568"/>
            <a:ext cx="8234171"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38728" y="4663440"/>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Version, quantization, prompt/output lengths, concurrency</a:t>
            </a:r>
          </a:p>
        </p:txBody>
      </p:sp>
      <p:sp>
        <p:nvSpPr>
          <p:cNvPr id="35" name="Rectangle 34"/>
          <p:cNvSpPr/>
          <p:nvPr/>
        </p:nvSpPr>
        <p:spPr>
          <a:xfrm>
            <a:off x="502920" y="5084064"/>
            <a:ext cx="2903220"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5202936"/>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SLO</a:t>
            </a:r>
          </a:p>
        </p:txBody>
      </p:sp>
      <p:sp>
        <p:nvSpPr>
          <p:cNvPr id="37" name="Rectangle 36"/>
          <p:cNvSpPr/>
          <p:nvPr/>
        </p:nvSpPr>
        <p:spPr>
          <a:xfrm>
            <a:off x="3429000" y="5084064"/>
            <a:ext cx="8234171"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38728" y="5202936"/>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GPU budget, fabric, TTFT/ITL target, warm-up and duration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TTFT: measure the tail under prompt pressure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Local measurement plan. External benchmark results are separate—not KAITO data.</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37 / 54</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TTFT METRIC</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p50 / median</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p95 / tail</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p99 / extreme tail</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087F8C"/>
                </a:solidFill>
                <a:latin typeface="Arial"/>
              </a:defRPr>
            </a:pPr>
            <a:r>
              <a:t>Question to answer</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Does P/D reduce tail TTFT at the same offered load and cost budget?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Throughput: count useful work inside the SLO</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Local measurement plan. Report useful throughput and its cost together.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38 / 54</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Output tokens / second</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Requests meeting SLO</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useful output</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7354B8"/>
                </a:solidFill>
                <a:latin typeface="Arial"/>
              </a:defRPr>
            </a:pPr>
            <a:r>
              <a:t>Utilization is context—not the success metric.</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Compare steady token delivery, SLO goodput, active KV usage, and GPU-hours.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WORKLOAD DECISION 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break-even boundary is a measurement problem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Qualitative candidates only—not a measured heatmap or a performance guarantee.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39 / 54</a:t>
            </a:r>
          </a:p>
        </p:txBody>
      </p:sp>
      <p:sp>
        <p:nvSpPr>
          <p:cNvPr id="8" name="Rectangle 7"/>
          <p:cNvSpPr/>
          <p:nvPr/>
        </p:nvSpPr>
        <p:spPr>
          <a:xfrm>
            <a:off x="502920" y="2267712"/>
            <a:ext cx="3040380"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86584"/>
            <a:ext cx="2843784"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WORKLOAD</a:t>
            </a:r>
          </a:p>
        </p:txBody>
      </p:sp>
      <p:sp>
        <p:nvSpPr>
          <p:cNvPr id="10" name="Rectangle 9"/>
          <p:cNvSpPr/>
          <p:nvPr/>
        </p:nvSpPr>
        <p:spPr>
          <a:xfrm>
            <a:off x="3566160"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8"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SHORT OUTPUT</a:t>
            </a:r>
          </a:p>
        </p:txBody>
      </p:sp>
      <p:sp>
        <p:nvSpPr>
          <p:cNvPr id="12" name="Rectangle 11"/>
          <p:cNvSpPr/>
          <p:nvPr/>
        </p:nvSpPr>
        <p:spPr>
          <a:xfrm>
            <a:off x="7626096"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35823"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LONG OUTPUT</a:t>
            </a:r>
          </a:p>
        </p:txBody>
      </p:sp>
      <p:sp>
        <p:nvSpPr>
          <p:cNvPr id="14" name="Rectangle 13"/>
          <p:cNvSpPr/>
          <p:nvPr/>
        </p:nvSpPr>
        <p:spPr>
          <a:xfrm>
            <a:off x="502920" y="3072384"/>
            <a:ext cx="3040380"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91256"/>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Short prompt</a:t>
            </a:r>
          </a:p>
        </p:txBody>
      </p:sp>
      <p:sp>
        <p:nvSpPr>
          <p:cNvPr id="16" name="Rectangle 15"/>
          <p:cNvSpPr/>
          <p:nvPr/>
        </p:nvSpPr>
        <p:spPr>
          <a:xfrm>
            <a:off x="3566160"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Start with aggregated</a:t>
            </a:r>
          </a:p>
        </p:txBody>
      </p:sp>
      <p:sp>
        <p:nvSpPr>
          <p:cNvPr id="18" name="Rectangle 17"/>
          <p:cNvSpPr/>
          <p:nvPr/>
        </p:nvSpPr>
        <p:spPr>
          <a:xfrm>
            <a:off x="7626096"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35823"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decode pressure</a:t>
            </a:r>
          </a:p>
        </p:txBody>
      </p:sp>
      <p:sp>
        <p:nvSpPr>
          <p:cNvPr id="20" name="Rectangle 19"/>
          <p:cNvSpPr/>
          <p:nvPr/>
        </p:nvSpPr>
        <p:spPr>
          <a:xfrm>
            <a:off x="502920" y="3877056"/>
            <a:ext cx="3040380"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95928"/>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Long prompt</a:t>
            </a:r>
          </a:p>
        </p:txBody>
      </p:sp>
      <p:sp>
        <p:nvSpPr>
          <p:cNvPr id="22" name="Rectangle 21"/>
          <p:cNvSpPr/>
          <p:nvPr/>
        </p:nvSpPr>
        <p:spPr>
          <a:xfrm>
            <a:off x="3566160"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75888"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prefill isolation</a:t>
            </a:r>
          </a:p>
        </p:txBody>
      </p:sp>
      <p:sp>
        <p:nvSpPr>
          <p:cNvPr id="24" name="Rectangle 23"/>
          <p:cNvSpPr/>
          <p:nvPr/>
        </p:nvSpPr>
        <p:spPr>
          <a:xfrm>
            <a:off x="7626096"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35823"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Strong P/D candidate to test</a:t>
            </a:r>
          </a:p>
        </p:txBody>
      </p:sp>
      <p:sp>
        <p:nvSpPr>
          <p:cNvPr id="26" name="Rounded Rectangle 25"/>
          <p:cNvSpPr/>
          <p:nvPr/>
        </p:nvSpPr>
        <p:spPr>
          <a:xfrm>
            <a:off x="502920" y="5029200"/>
            <a:ext cx="11183112" cy="8046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221224"/>
            <a:ext cx="10716768" cy="429768"/>
          </a:xfrm>
          <a:prstGeom prst="rect">
            <a:avLst/>
          </a:prstGeom>
          <a:noFill/>
        </p:spPr>
        <p:txBody>
          <a:bodyPr wrap="square" lIns="13716" rIns="13716" tIns="13716" bIns="13716">
            <a:spAutoFit/>
          </a:bodyPr>
          <a:lstStyle/>
          <a:p>
            <a:pPr>
              <a:spcBef>
                <a:spcPts val="0"/>
              </a:spcBef>
              <a:spcAft>
                <a:spcPts val="500"/>
              </a:spcAft>
              <a:defRPr sz="1700" b="1">
                <a:solidFill>
                  <a:srgbClr val="AE641A"/>
                </a:solidFill>
                <a:latin typeface="Arial"/>
              </a:defRPr>
            </a:pPr>
            <a:r>
              <a:t>Concurrency, GPU budget, and transfer fabric can change the result in every cell.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TTFT</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TTFT is a trade-off</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No TTFT win in this setup: measure first-token latency separately from streaming quality.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40 / 54</a:t>
            </a:r>
          </a:p>
        </p:txBody>
      </p:sp>
      <p:sp>
        <p:nvSpPr>
          <p:cNvPr id="10" name="TextBox 9"/>
          <p:cNvSpPr txBox="1"/>
          <p:nvPr/>
        </p:nvSpPr>
        <p:spPr>
          <a:xfrm>
            <a:off x="594360" y="1975104"/>
            <a:ext cx="6126480" cy="283464"/>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TTFT (ms) • lower is better • 8 offered req/s</a:t>
            </a:r>
          </a:p>
        </p:txBody>
      </p:sp>
      <p:cxnSp>
        <p:nvCxnSpPr>
          <p:cNvPr id="11" name="Connector 10"/>
          <p:cNvCxnSpPr/>
          <p:nvPr/>
        </p:nvCxnSpPr>
        <p:spPr>
          <a:xfrm>
            <a:off x="1051560" y="5166360"/>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12064" y="5056632"/>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0</a:t>
            </a:r>
          </a:p>
        </p:txBody>
      </p:sp>
      <p:cxnSp>
        <p:nvCxnSpPr>
          <p:cNvPr id="13" name="Connector 12"/>
          <p:cNvCxnSpPr/>
          <p:nvPr/>
        </p:nvCxnSpPr>
        <p:spPr>
          <a:xfrm>
            <a:off x="1051560" y="4291584"/>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12064" y="4181856"/>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500</a:t>
            </a:r>
          </a:p>
        </p:txBody>
      </p:sp>
      <p:cxnSp>
        <p:nvCxnSpPr>
          <p:cNvPr id="15" name="Connector 14"/>
          <p:cNvCxnSpPr/>
          <p:nvPr/>
        </p:nvCxnSpPr>
        <p:spPr>
          <a:xfrm>
            <a:off x="1051560" y="3416808"/>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12064" y="3307080"/>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1000</a:t>
            </a:r>
          </a:p>
        </p:txBody>
      </p:sp>
      <p:cxnSp>
        <p:nvCxnSpPr>
          <p:cNvPr id="17" name="Connector 16"/>
          <p:cNvCxnSpPr/>
          <p:nvPr/>
        </p:nvCxnSpPr>
        <p:spPr>
          <a:xfrm>
            <a:off x="1051560" y="2542032"/>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12064" y="2432303"/>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1500</a:t>
            </a:r>
          </a:p>
        </p:txBody>
      </p:sp>
      <p:sp>
        <p:nvSpPr>
          <p:cNvPr id="19" name="Rectangle 18"/>
          <p:cNvSpPr/>
          <p:nvPr/>
        </p:nvSpPr>
        <p:spPr>
          <a:xfrm>
            <a:off x="1728216" y="4767526"/>
            <a:ext cx="603504" cy="398833"/>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09344" y="4493206"/>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228</a:t>
            </a:r>
          </a:p>
        </p:txBody>
      </p:sp>
      <p:sp>
        <p:nvSpPr>
          <p:cNvPr id="21" name="Rectangle 20"/>
          <p:cNvSpPr/>
          <p:nvPr/>
        </p:nvSpPr>
        <p:spPr>
          <a:xfrm>
            <a:off x="2560320" y="4037662"/>
            <a:ext cx="603504" cy="112869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41448" y="3763342"/>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645</a:t>
            </a:r>
          </a:p>
        </p:txBody>
      </p:sp>
      <p:sp>
        <p:nvSpPr>
          <p:cNvPr id="23" name="TextBox 22"/>
          <p:cNvSpPr txBox="1"/>
          <p:nvPr/>
        </p:nvSpPr>
        <p:spPr>
          <a:xfrm>
            <a:off x="1792224" y="5266944"/>
            <a:ext cx="143560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172941"/>
                </a:solidFill>
                <a:latin typeface="Arial"/>
              </a:defRPr>
            </a:pPr>
            <a:r>
              <a:t>p50</a:t>
            </a:r>
          </a:p>
        </p:txBody>
      </p:sp>
      <p:sp>
        <p:nvSpPr>
          <p:cNvPr id="24" name="Rectangle 23"/>
          <p:cNvSpPr/>
          <p:nvPr/>
        </p:nvSpPr>
        <p:spPr>
          <a:xfrm>
            <a:off x="4443984" y="4308007"/>
            <a:ext cx="603504" cy="8583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5112" y="4033687"/>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491</a:t>
            </a:r>
          </a:p>
        </p:txBody>
      </p:sp>
      <p:sp>
        <p:nvSpPr>
          <p:cNvPr id="26" name="Rectangle 25"/>
          <p:cNvSpPr/>
          <p:nvPr/>
        </p:nvSpPr>
        <p:spPr>
          <a:xfrm>
            <a:off x="5276088" y="2847181"/>
            <a:ext cx="603504" cy="23191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57216" y="2572861"/>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1326</a:t>
            </a:r>
          </a:p>
        </p:txBody>
      </p:sp>
      <p:sp>
        <p:nvSpPr>
          <p:cNvPr id="28" name="TextBox 27"/>
          <p:cNvSpPr txBox="1"/>
          <p:nvPr/>
        </p:nvSpPr>
        <p:spPr>
          <a:xfrm>
            <a:off x="4507992" y="5266944"/>
            <a:ext cx="143560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172941"/>
                </a:solidFill>
                <a:latin typeface="Arial"/>
              </a:defRPr>
            </a:pPr>
            <a:r>
              <a:t>p95</a:t>
            </a:r>
          </a:p>
        </p:txBody>
      </p:sp>
      <p:sp>
        <p:nvSpPr>
          <p:cNvPr id="29" name="Rectangle 28"/>
          <p:cNvSpPr/>
          <p:nvPr/>
        </p:nvSpPr>
        <p:spPr>
          <a:xfrm>
            <a:off x="960120" y="2359152"/>
            <a:ext cx="137160"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70432" y="2276856"/>
            <a:ext cx="2103120" cy="228600"/>
          </a:xfrm>
          <a:prstGeom prst="rect">
            <a:avLst/>
          </a:prstGeom>
          <a:noFill/>
        </p:spPr>
        <p:txBody>
          <a:bodyPr wrap="square" lIns="13716" rIns="13716" tIns="13716" bIns="13716">
            <a:spAutoFit/>
          </a:bodyPr>
          <a:lstStyle/>
          <a:p>
            <a:pPr>
              <a:spcBef>
                <a:spcPts val="0"/>
              </a:spcBef>
              <a:spcAft>
                <a:spcPts val="500"/>
              </a:spcAft>
              <a:defRPr sz="1100" b="0">
                <a:solidFill>
                  <a:srgbClr val="172941"/>
                </a:solidFill>
                <a:latin typeface="Arial"/>
              </a:defRPr>
            </a:pPr>
            <a:r>
              <a:t>Colocated: 2× TP4</a:t>
            </a:r>
          </a:p>
        </p:txBody>
      </p:sp>
      <p:sp>
        <p:nvSpPr>
          <p:cNvPr id="31" name="Rectangle 30"/>
          <p:cNvSpPr/>
          <p:nvPr/>
        </p:nvSpPr>
        <p:spPr>
          <a:xfrm>
            <a:off x="3694176" y="2359152"/>
            <a:ext cx="137160" cy="10972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04487" y="2276856"/>
            <a:ext cx="2560320" cy="228600"/>
          </a:xfrm>
          <a:prstGeom prst="rect">
            <a:avLst/>
          </a:prstGeom>
          <a:noFill/>
        </p:spPr>
        <p:txBody>
          <a:bodyPr wrap="square" lIns="13716" rIns="13716" tIns="13716" bIns="13716">
            <a:spAutoFit/>
          </a:bodyPr>
          <a:lstStyle/>
          <a:p>
            <a:pPr>
              <a:spcBef>
                <a:spcPts val="0"/>
              </a:spcBef>
              <a:spcAft>
                <a:spcPts val="500"/>
              </a:spcAft>
              <a:defRPr sz="1100" b="0">
                <a:solidFill>
                  <a:srgbClr val="172941"/>
                </a:solidFill>
                <a:latin typeface="Arial"/>
              </a:defRPr>
            </a:pPr>
            <a:r>
              <a:t>P/D: write, TP4 + TP4</a:t>
            </a:r>
          </a:p>
        </p:txBody>
      </p:sp>
      <p:sp>
        <p:nvSpPr>
          <p:cNvPr id="33" name="TextBox 32"/>
          <p:cNvSpPr txBox="1"/>
          <p:nvPr/>
        </p:nvSpPr>
        <p:spPr>
          <a:xfrm>
            <a:off x="7114032" y="2395728"/>
            <a:ext cx="4507992" cy="640080"/>
          </a:xfrm>
          <a:prstGeom prst="rect">
            <a:avLst/>
          </a:prstGeom>
          <a:noFill/>
        </p:spPr>
        <p:txBody>
          <a:bodyPr wrap="square" lIns="13716" rIns="13716" tIns="13716" bIns="13716">
            <a:spAutoFit/>
          </a:bodyPr>
          <a:lstStyle/>
          <a:p>
            <a:pPr>
              <a:spcBef>
                <a:spcPts val="0"/>
              </a:spcBef>
              <a:spcAft>
                <a:spcPts val="500"/>
              </a:spcAft>
              <a:defRPr sz="2300" b="1">
                <a:solidFill>
                  <a:srgbClr val="AE641A"/>
                </a:solidFill>
                <a:latin typeface="Arial"/>
              </a:defRPr>
            </a:pPr>
            <a:r>
              <a:t>First token is slower here.</a:t>
            </a:r>
          </a:p>
        </p:txBody>
      </p:sp>
      <p:sp>
        <p:nvSpPr>
          <p:cNvPr id="34" name="TextBox 33"/>
          <p:cNvSpPr txBox="1"/>
          <p:nvPr/>
        </p:nvSpPr>
        <p:spPr>
          <a:xfrm>
            <a:off x="7114032" y="3255264"/>
            <a:ext cx="4434840" cy="987552"/>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Long prompts + concurrency can</a:t>
            </a:r>
          </a:p>
          <a:p>
            <a:pPr>
              <a:spcBef>
                <a:spcPts val="0"/>
              </a:spcBef>
              <a:spcAft>
                <a:spcPts val="500"/>
              </a:spcAft>
              <a:defRPr sz="1700" b="0">
                <a:solidFill>
                  <a:srgbClr val="172941"/>
                </a:solidFill>
                <a:latin typeface="Arial"/>
              </a:defRPr>
            </a:pPr>
            <a:r>
              <a:t>make decode isolation valuable.</a:t>
            </a:r>
          </a:p>
          <a:p>
            <a:pPr>
              <a:spcBef>
                <a:spcPts val="0"/>
              </a:spcBef>
              <a:spcAft>
                <a:spcPts val="500"/>
              </a:spcAft>
              <a:defRPr sz="1700" b="0">
                <a:solidFill>
                  <a:srgbClr val="172941"/>
                </a:solidFill>
                <a:latin typeface="Arial"/>
              </a:defRPr>
            </a:pPr>
            <a:r>
              <a:t>That does not imply lower TTFT.</a:t>
            </a:r>
          </a:p>
        </p:txBody>
      </p:sp>
      <p:sp>
        <p:nvSpPr>
          <p:cNvPr id="35" name="TextBox 34"/>
          <p:cNvSpPr txBox="1"/>
          <p:nvPr/>
        </p:nvSpPr>
        <p:spPr>
          <a:xfrm>
            <a:off x="7114032" y="4654296"/>
            <a:ext cx="4434840" cy="768096"/>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No prompt-length sweep was published.</a:t>
            </a:r>
          </a:p>
          <a:p>
            <a:pPr>
              <a:spcBef>
                <a:spcPts val="0"/>
              </a:spcBef>
              <a:spcAft>
                <a:spcPts val="500"/>
              </a:spcAft>
              <a:defRPr sz="1500" b="0">
                <a:solidFill>
                  <a:srgbClr val="586A80"/>
                </a:solidFill>
                <a:latin typeface="Arial"/>
              </a:defRPr>
            </a:pPr>
            <a:r>
              <a:t>Do not infer which prompts gain most.</a:t>
            </a:r>
          </a:p>
        </p:txBody>
      </p:sp>
      <p:sp>
        <p:nvSpPr>
          <p:cNvPr id="36" name="TextBox 35"/>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vLLM blog (Apr 7, 2026), Figure 3 data. Median / nearest-rank p95 computed from 100 requests; see notes.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SLO ATTAINMENT</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useful throughput under 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Two phases, one pool: removing decode interference improves SLO attainment—not every latency metric.</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41 / 54</a:t>
            </a:r>
          </a:p>
        </p:txBody>
      </p:sp>
      <p:pic>
        <p:nvPicPr>
          <p:cNvPr id="10" name="Picture 9" descr="moriio-slo-attainment.png"/>
          <p:cNvPicPr>
            <a:picLocks noChangeAspect="1"/>
          </p:cNvPicPr>
          <p:nvPr/>
        </p:nvPicPr>
        <p:blipFill>
          <a:blip r:embed="rId2"/>
          <a:stretch>
            <a:fillRect/>
          </a:stretch>
        </p:blipFill>
        <p:spPr>
          <a:xfrm>
            <a:off x="502920" y="1947672"/>
            <a:ext cx="6089904" cy="3666763"/>
          </a:xfrm>
          <a:prstGeom prst="rect">
            <a:avLst/>
          </a:prstGeom>
        </p:spPr>
      </p:pic>
      <p:sp>
        <p:nvSpPr>
          <p:cNvPr id="11" name="Rounded Rectangle 10"/>
          <p:cNvSpPr/>
          <p:nvPr/>
        </p:nvSpPr>
        <p:spPr>
          <a:xfrm>
            <a:off x="5093208" y="2148840"/>
            <a:ext cx="557784" cy="2569464"/>
          </a:xfrm>
          <a:prstGeom prst="roundRect">
            <a:avLst>
              <a:gd name="adj" fmla="val 10000"/>
            </a:avLst>
          </a:prstGeom>
          <a:noFill/>
          <a:ln w="12700">
            <a:solidFill>
              <a:srgbClr val="AE6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2592" y="2176272"/>
            <a:ext cx="4535424" cy="393192"/>
          </a:xfrm>
          <a:prstGeom prst="rect">
            <a:avLst/>
          </a:prstGeom>
          <a:noFill/>
        </p:spPr>
        <p:txBody>
          <a:bodyPr wrap="square" lIns="13716" rIns="13716" tIns="13716" bIns="13716">
            <a:spAutoFit/>
          </a:bodyPr>
          <a:lstStyle/>
          <a:p>
            <a:pPr>
              <a:spcBef>
                <a:spcPts val="0"/>
              </a:spcBef>
              <a:spcAft>
                <a:spcPts val="500"/>
              </a:spcAft>
              <a:defRPr sz="1400" b="1">
                <a:solidFill>
                  <a:srgbClr val="AE641A"/>
                </a:solidFill>
                <a:latin typeface="Arial"/>
              </a:defRPr>
            </a:pPr>
            <a:r>
              <a:t>FOCUS: 8 OFFERED REQ/S</a:t>
            </a:r>
          </a:p>
        </p:txBody>
      </p:sp>
      <p:sp>
        <p:nvSpPr>
          <p:cNvPr id="13" name="TextBox 12"/>
          <p:cNvSpPr txBox="1"/>
          <p:nvPr/>
        </p:nvSpPr>
        <p:spPr>
          <a:xfrm>
            <a:off x="7022592" y="2779776"/>
            <a:ext cx="4535424" cy="621792"/>
          </a:xfrm>
          <a:prstGeom prst="rect">
            <a:avLst/>
          </a:prstGeom>
          <a:noFill/>
        </p:spPr>
        <p:txBody>
          <a:bodyPr wrap="square" lIns="13716" rIns="13716" tIns="13716" bIns="13716">
            <a:spAutoFit/>
          </a:bodyPr>
          <a:lstStyle/>
          <a:p>
            <a:pPr>
              <a:spcBef>
                <a:spcPts val="0"/>
              </a:spcBef>
              <a:spcAft>
                <a:spcPts val="500"/>
              </a:spcAft>
              <a:defRPr sz="3200" b="1">
                <a:solidFill>
                  <a:srgbClr val="087F8C"/>
                </a:solidFill>
                <a:latin typeface="Arial"/>
              </a:defRPr>
            </a:pPr>
            <a:r>
              <a:t>29% → 73%</a:t>
            </a:r>
          </a:p>
        </p:txBody>
      </p:sp>
      <p:sp>
        <p:nvSpPr>
          <p:cNvPr id="14" name="TextBox 13"/>
          <p:cNvSpPr txBox="1"/>
          <p:nvPr/>
        </p:nvSpPr>
        <p:spPr>
          <a:xfrm>
            <a:off x="7022592" y="3575304"/>
            <a:ext cx="4535424" cy="877824"/>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Joint SLO passes at this load</a:t>
            </a:r>
          </a:p>
          <a:p>
            <a:pPr>
              <a:spcBef>
                <a:spcPts val="0"/>
              </a:spcBef>
              <a:spcAft>
                <a:spcPts val="500"/>
              </a:spcAft>
              <a:defRPr sz="1600" b="0">
                <a:solidFill>
                  <a:srgbClr val="172941"/>
                </a:solidFill>
                <a:latin typeface="Arial"/>
              </a:defRPr>
            </a:pPr>
            <a:r>
              <a:t>Colocated 2× TP4 → P/D write</a:t>
            </a:r>
          </a:p>
          <a:p>
            <a:pPr>
              <a:spcBef>
                <a:spcPts val="0"/>
              </a:spcBef>
              <a:spcAft>
                <a:spcPts val="500"/>
              </a:spcAft>
              <a:defRPr sz="1600" b="0">
                <a:solidFill>
                  <a:srgbClr val="172941"/>
                </a:solidFill>
                <a:latin typeface="Arial"/>
              </a:defRPr>
            </a:pPr>
            <a:r>
              <a:t>TTFT ≤1 s AND ITL ≤50 ms</a:t>
            </a:r>
          </a:p>
        </p:txBody>
      </p:sp>
      <p:sp>
        <p:nvSpPr>
          <p:cNvPr id="15" name="TextBox 14"/>
          <p:cNvSpPr txBox="1"/>
          <p:nvPr/>
        </p:nvSpPr>
        <p:spPr>
          <a:xfrm>
            <a:off x="7022592" y="4736592"/>
            <a:ext cx="4535424" cy="81381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Concurrent P/D phases; fixed 2K/1K.</a:t>
            </a:r>
          </a:p>
          <a:p>
            <a:pPr>
              <a:spcBef>
                <a:spcPts val="0"/>
              </a:spcBef>
              <a:spcAft>
                <a:spcPts val="500"/>
              </a:spcAft>
              <a:defRPr sz="1400" b="0">
                <a:solidFill>
                  <a:srgbClr val="586A80"/>
                </a:solidFill>
                <a:latin typeface="Arial"/>
              </a:defRPr>
            </a:pPr>
            <a:r>
              <a:t>Not a heterogeneous traffic benchmark</a:t>
            </a:r>
          </a:p>
          <a:p>
            <a:pPr>
              <a:spcBef>
                <a:spcPts val="0"/>
              </a:spcBef>
              <a:spcAft>
                <a:spcPts val="500"/>
              </a:spcAft>
              <a:defRPr sz="1400" b="0">
                <a:solidFill>
                  <a:srgbClr val="586A80"/>
                </a:solidFill>
                <a:latin typeface="Arial"/>
              </a:defRPr>
            </a:pPr>
            <a:r>
              <a:t>or an absolute tokens/s result.</a:t>
            </a:r>
          </a:p>
        </p:txBody>
      </p:sp>
      <p:sp>
        <p:nvSpPr>
          <p:cNvPr id="16" name="TextBox 15"/>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vLLM blog Figure 4, reproduced with attribution; highlighted region at 8 req/s. Callout uses pinned Figure 3 arrays.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EFFICIENCY PROXY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more SLO passes per GPU</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More useful work on the same eight GPUs—not measured GPU utilization or proof that fewer GPUs suffice.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42 / 54</a:t>
            </a:r>
          </a:p>
        </p:txBody>
      </p:sp>
      <p:sp>
        <p:nvSpPr>
          <p:cNvPr id="10" name="TextBox 9"/>
          <p:cNvSpPr txBox="1"/>
          <p:nvPr/>
        </p:nvSpPr>
        <p:spPr>
          <a:xfrm>
            <a:off x="603504" y="2057400"/>
            <a:ext cx="5952744" cy="347472"/>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NORMALIZED SLO PASSES / GPU</a:t>
            </a:r>
          </a:p>
        </p:txBody>
      </p:sp>
      <p:sp>
        <p:nvSpPr>
          <p:cNvPr id="11" name="TextBox 10"/>
          <p:cNvSpPr txBox="1"/>
          <p:nvPr/>
        </p:nvSpPr>
        <p:spPr>
          <a:xfrm>
            <a:off x="603504" y="2871216"/>
            <a:ext cx="1600200" cy="338328"/>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Colocated</a:t>
            </a:r>
          </a:p>
        </p:txBody>
      </p:sp>
      <p:sp>
        <p:nvSpPr>
          <p:cNvPr id="12" name="Rectangle 11"/>
          <p:cNvSpPr/>
          <p:nvPr/>
        </p:nvSpPr>
        <p:spPr>
          <a:xfrm>
            <a:off x="2322576" y="2889504"/>
            <a:ext cx="1460284" cy="44805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01732" y="2880360"/>
            <a:ext cx="832104" cy="42976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1.00×</a:t>
            </a:r>
          </a:p>
        </p:txBody>
      </p:sp>
      <p:sp>
        <p:nvSpPr>
          <p:cNvPr id="14" name="TextBox 13"/>
          <p:cNvSpPr txBox="1"/>
          <p:nvPr/>
        </p:nvSpPr>
        <p:spPr>
          <a:xfrm>
            <a:off x="603504" y="3977640"/>
            <a:ext cx="1600200" cy="338328"/>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P/D write</a:t>
            </a:r>
          </a:p>
        </p:txBody>
      </p:sp>
      <p:sp>
        <p:nvSpPr>
          <p:cNvPr id="15" name="Rectangle 14"/>
          <p:cNvSpPr/>
          <p:nvPr/>
        </p:nvSpPr>
        <p:spPr>
          <a:xfrm>
            <a:off x="2322576" y="3995928"/>
            <a:ext cx="3675887" cy="4480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17336" y="3986784"/>
            <a:ext cx="832104" cy="42976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2.52×</a:t>
            </a:r>
          </a:p>
        </p:txBody>
      </p:sp>
      <p:sp>
        <p:nvSpPr>
          <p:cNvPr id="17" name="TextBox 16"/>
          <p:cNvSpPr txBox="1"/>
          <p:nvPr/>
        </p:nvSpPr>
        <p:spPr>
          <a:xfrm>
            <a:off x="603504" y="4937760"/>
            <a:ext cx="5952744" cy="512064"/>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Same 100-request workload and 8-GPU budget.</a:t>
            </a:r>
          </a:p>
          <a:p>
            <a:pPr>
              <a:spcBef>
                <a:spcPts val="0"/>
              </a:spcBef>
              <a:spcAft>
                <a:spcPts val="500"/>
              </a:spcAft>
              <a:defRPr sz="1300" b="0">
                <a:solidFill>
                  <a:srgbClr val="586A80"/>
                </a:solidFill>
                <a:latin typeface="Arial"/>
              </a:defRPr>
            </a:pPr>
            <a:r>
              <a:t>A comparison-specific efficiency proxy, not sustained capacity.</a:t>
            </a:r>
          </a:p>
        </p:txBody>
      </p:sp>
      <p:sp>
        <p:nvSpPr>
          <p:cNvPr id="18" name="Rectangle 17"/>
          <p:cNvSpPr/>
          <p:nvPr/>
        </p:nvSpPr>
        <p:spPr>
          <a:xfrm>
            <a:off x="7123176" y="2167128"/>
            <a:ext cx="1961388"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32904" y="2286000"/>
            <a:ext cx="1764792"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20" name="Rectangle 19"/>
          <p:cNvSpPr/>
          <p:nvPr/>
        </p:nvSpPr>
        <p:spPr>
          <a:xfrm>
            <a:off x="9107424" y="2167128"/>
            <a:ext cx="1074420"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17152" y="2286000"/>
            <a:ext cx="877824"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2× TP4</a:t>
            </a:r>
          </a:p>
        </p:txBody>
      </p:sp>
      <p:sp>
        <p:nvSpPr>
          <p:cNvPr id="22" name="Rectangle 21"/>
          <p:cNvSpPr/>
          <p:nvPr/>
        </p:nvSpPr>
        <p:spPr>
          <a:xfrm>
            <a:off x="10204704" y="2167128"/>
            <a:ext cx="964692"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14432" y="2286000"/>
            <a:ext cx="768096"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24" name="Rectangle 23"/>
          <p:cNvSpPr/>
          <p:nvPr/>
        </p:nvSpPr>
        <p:spPr>
          <a:xfrm>
            <a:off x="7123176" y="2916936"/>
            <a:ext cx="1961388"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2904" y="3035808"/>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Total GPUs</a:t>
            </a:r>
          </a:p>
        </p:txBody>
      </p:sp>
      <p:sp>
        <p:nvSpPr>
          <p:cNvPr id="26" name="Rectangle 25"/>
          <p:cNvSpPr/>
          <p:nvPr/>
        </p:nvSpPr>
        <p:spPr>
          <a:xfrm>
            <a:off x="9107424" y="2916936"/>
            <a:ext cx="1074420"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17152" y="3035808"/>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8</a:t>
            </a:r>
          </a:p>
        </p:txBody>
      </p:sp>
      <p:sp>
        <p:nvSpPr>
          <p:cNvPr id="28" name="Rectangle 27"/>
          <p:cNvSpPr/>
          <p:nvPr/>
        </p:nvSpPr>
        <p:spPr>
          <a:xfrm>
            <a:off x="10204704" y="2916936"/>
            <a:ext cx="964692"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14432" y="3035808"/>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8</a:t>
            </a:r>
          </a:p>
        </p:txBody>
      </p:sp>
      <p:sp>
        <p:nvSpPr>
          <p:cNvPr id="30" name="Rectangle 29"/>
          <p:cNvSpPr/>
          <p:nvPr/>
        </p:nvSpPr>
        <p:spPr>
          <a:xfrm>
            <a:off x="7123176" y="3666744"/>
            <a:ext cx="1961388"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32904" y="3785615"/>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Joint SLO passes</a:t>
            </a:r>
          </a:p>
        </p:txBody>
      </p:sp>
      <p:sp>
        <p:nvSpPr>
          <p:cNvPr id="32" name="Rectangle 31"/>
          <p:cNvSpPr/>
          <p:nvPr/>
        </p:nvSpPr>
        <p:spPr>
          <a:xfrm>
            <a:off x="9107424" y="3666744"/>
            <a:ext cx="1074420"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17152" y="3785615"/>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29 / 100</a:t>
            </a:r>
          </a:p>
        </p:txBody>
      </p:sp>
      <p:sp>
        <p:nvSpPr>
          <p:cNvPr id="34" name="Rectangle 33"/>
          <p:cNvSpPr/>
          <p:nvPr/>
        </p:nvSpPr>
        <p:spPr>
          <a:xfrm>
            <a:off x="10204704" y="3666744"/>
            <a:ext cx="964692"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14432" y="3785615"/>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73 / 100</a:t>
            </a:r>
          </a:p>
        </p:txBody>
      </p:sp>
      <p:sp>
        <p:nvSpPr>
          <p:cNvPr id="36" name="Rectangle 35"/>
          <p:cNvSpPr/>
          <p:nvPr/>
        </p:nvSpPr>
        <p:spPr>
          <a:xfrm>
            <a:off x="7123176" y="4416552"/>
            <a:ext cx="1961388"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32904" y="4535424"/>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SLO passes / GPU</a:t>
            </a:r>
          </a:p>
        </p:txBody>
      </p:sp>
      <p:sp>
        <p:nvSpPr>
          <p:cNvPr id="38" name="Rectangle 37"/>
          <p:cNvSpPr/>
          <p:nvPr/>
        </p:nvSpPr>
        <p:spPr>
          <a:xfrm>
            <a:off x="9107424" y="4416552"/>
            <a:ext cx="1074420"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217152" y="4535424"/>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3.625</a:t>
            </a:r>
          </a:p>
        </p:txBody>
      </p:sp>
      <p:sp>
        <p:nvSpPr>
          <p:cNvPr id="40" name="Rectangle 39"/>
          <p:cNvSpPr/>
          <p:nvPr/>
        </p:nvSpPr>
        <p:spPr>
          <a:xfrm>
            <a:off x="10204704" y="4416552"/>
            <a:ext cx="964692"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314432" y="4535424"/>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9.125</a:t>
            </a:r>
          </a:p>
        </p:txBody>
      </p:sp>
      <p:sp>
        <p:nvSpPr>
          <p:cNvPr id="42" name="TextBox 41"/>
          <p:cNvSpPr txBox="1"/>
          <p:nvPr/>
        </p:nvSpPr>
        <p:spPr>
          <a:xfrm>
            <a:off x="7123176" y="5230368"/>
            <a:ext cx="4315968" cy="338328"/>
          </a:xfrm>
          <a:prstGeom prst="rect">
            <a:avLst/>
          </a:prstGeom>
          <a:noFill/>
        </p:spPr>
        <p:txBody>
          <a:bodyPr wrap="square" lIns="13716" rIns="13716" tIns="13716" bIns="13716">
            <a:spAutoFit/>
          </a:bodyPr>
          <a:lstStyle/>
          <a:p>
            <a:pPr>
              <a:spcBef>
                <a:spcPts val="0"/>
              </a:spcBef>
              <a:spcAft>
                <a:spcPts val="500"/>
              </a:spcAft>
              <a:defRPr sz="1200" b="0">
                <a:solidFill>
                  <a:srgbClr val="AE641A"/>
                </a:solidFill>
                <a:latin typeface="Arial"/>
              </a:defRPr>
            </a:pPr>
            <a:r>
              <a:t>No GPU savings or utilization claim.</a:t>
            </a:r>
          </a:p>
        </p:txBody>
      </p:sp>
      <p:sp>
        <p:nvSpPr>
          <p:cNvPr id="43" name="TextBox 42"/>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pinned vLLM Figure 3 arrays. Derived proxy = (SLO passes / 8 GPUs), normalized to colocated; not req/s/GPU.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#1: KV transfer is a dependency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healthy inference API does not prove the KV-data path is healthy.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Measure the transfer path end to end, including cross-node deployments.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43 / 54</a:t>
            </a:r>
          </a:p>
        </p:txBody>
      </p:sp>
      <p:sp>
        <p:nvSpPr>
          <p:cNvPr id="10" name="Rounded Rectangle 9"/>
          <p:cNvSpPr/>
          <p:nvPr/>
        </p:nvSpPr>
        <p:spPr>
          <a:xfrm>
            <a:off x="502920"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77440"/>
            <a:ext cx="50292" cy="10058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Prefill memory</a:t>
            </a:r>
          </a:p>
        </p:txBody>
      </p:sp>
      <p:sp>
        <p:nvSpPr>
          <p:cNvPr id="13" name="TextBox 12"/>
          <p:cNvSpPr txBox="1"/>
          <p:nvPr/>
        </p:nvSpPr>
        <p:spPr>
          <a:xfrm>
            <a:off x="649224"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source</a:t>
            </a:r>
          </a:p>
        </p:txBody>
      </p:sp>
      <p:sp>
        <p:nvSpPr>
          <p:cNvPr id="14" name="Rounded Rectangle 13"/>
          <p:cNvSpPr/>
          <p:nvPr/>
        </p:nvSpPr>
        <p:spPr>
          <a:xfrm>
            <a:off x="455371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2377440"/>
            <a:ext cx="50292" cy="100584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404872"/>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AE641A"/>
                </a:solidFill>
                <a:latin typeface="Arial"/>
              </a:defRPr>
            </a:pPr>
            <a:r>
              <a:t>Transfer fabric</a:t>
            </a:r>
          </a:p>
        </p:txBody>
      </p:sp>
      <p:sp>
        <p:nvSpPr>
          <p:cNvPr id="17" name="TextBox 16"/>
          <p:cNvSpPr txBox="1"/>
          <p:nvPr/>
        </p:nvSpPr>
        <p:spPr>
          <a:xfrm>
            <a:off x="470001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latency + topology</a:t>
            </a:r>
          </a:p>
        </p:txBody>
      </p:sp>
      <p:sp>
        <p:nvSpPr>
          <p:cNvPr id="18" name="Rounded Rectangle 17"/>
          <p:cNvSpPr/>
          <p:nvPr/>
        </p:nvSpPr>
        <p:spPr>
          <a:xfrm>
            <a:off x="862279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22792" y="2377440"/>
            <a:ext cx="50292" cy="10058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59952"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Decode memory</a:t>
            </a:r>
          </a:p>
        </p:txBody>
      </p:sp>
      <p:sp>
        <p:nvSpPr>
          <p:cNvPr id="21" name="TextBox 20"/>
          <p:cNvSpPr txBox="1"/>
          <p:nvPr/>
        </p:nvSpPr>
        <p:spPr>
          <a:xfrm>
            <a:off x="876909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destination</a:t>
            </a:r>
          </a:p>
        </p:txBody>
      </p:sp>
      <p:cxnSp>
        <p:nvCxnSpPr>
          <p:cNvPr id="22" name="Connector 21"/>
          <p:cNvCxnSpPr/>
          <p:nvPr/>
        </p:nvCxnSpPr>
        <p:spPr>
          <a:xfrm>
            <a:off x="3566160" y="2880360"/>
            <a:ext cx="98755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16952" y="2880360"/>
            <a:ext cx="1005840"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224527"/>
            <a:ext cx="50292" cy="117043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Observe</a:t>
            </a:r>
          </a:p>
        </p:txBody>
      </p:sp>
      <p:sp>
        <p:nvSpPr>
          <p:cNvPr id="27" name="TextBox 26"/>
          <p:cNvSpPr txBox="1"/>
          <p:nvPr/>
        </p:nvSpPr>
        <p:spPr>
          <a:xfrm>
            <a:off x="649224"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Transfer duration</a:t>
            </a:r>
          </a:p>
          <a:p>
            <a:pPr algn="ctr">
              <a:spcBef>
                <a:spcPts val="0"/>
              </a:spcBef>
              <a:spcAft>
                <a:spcPts val="500"/>
              </a:spcAft>
              <a:defRPr sz="1400" b="0">
                <a:solidFill>
                  <a:srgbClr val="586A80"/>
                </a:solidFill>
                <a:latin typeface="Arial"/>
              </a:defRPr>
            </a:pPr>
            <a:r>
              <a:t>Errors and retries</a:t>
            </a:r>
          </a:p>
        </p:txBody>
      </p:sp>
      <p:sp>
        <p:nvSpPr>
          <p:cNvPr id="28" name="Rounded Rectangle 27"/>
          <p:cNvSpPr/>
          <p:nvPr/>
        </p:nvSpPr>
        <p:spPr>
          <a:xfrm>
            <a:off x="4288536"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8536" y="4224527"/>
            <a:ext cx="50292" cy="117043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25696"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AE641A"/>
                </a:solidFill>
                <a:latin typeface="Arial"/>
              </a:defRPr>
            </a:pPr>
            <a:r>
              <a:t>Validate</a:t>
            </a:r>
          </a:p>
        </p:txBody>
      </p:sp>
      <p:sp>
        <p:nvSpPr>
          <p:cNvPr id="31" name="TextBox 30"/>
          <p:cNvSpPr txBox="1"/>
          <p:nvPr/>
        </p:nvSpPr>
        <p:spPr>
          <a:xfrm>
            <a:off x="4434840"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Node / GPU placement</a:t>
            </a:r>
          </a:p>
          <a:p>
            <a:pPr algn="ctr">
              <a:spcBef>
                <a:spcPts val="0"/>
              </a:spcBef>
              <a:spcAft>
                <a:spcPts val="500"/>
              </a:spcAft>
              <a:defRPr sz="1400" b="0">
                <a:solidFill>
                  <a:srgbClr val="586A80"/>
                </a:solidFill>
                <a:latin typeface="Arial"/>
              </a:defRPr>
            </a:pPr>
            <a:r>
              <a:t>Transport configuration</a:t>
            </a:r>
          </a:p>
        </p:txBody>
      </p:sp>
      <p:sp>
        <p:nvSpPr>
          <p:cNvPr id="32" name="Rounded Rectangle 31"/>
          <p:cNvSpPr/>
          <p:nvPr/>
        </p:nvSpPr>
        <p:spPr>
          <a:xfrm>
            <a:off x="8074152"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4152" y="4224527"/>
            <a:ext cx="50292" cy="117043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11312"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Compare</a:t>
            </a:r>
          </a:p>
        </p:txBody>
      </p:sp>
      <p:sp>
        <p:nvSpPr>
          <p:cNvPr id="35" name="TextBox 34"/>
          <p:cNvSpPr txBox="1"/>
          <p:nvPr/>
        </p:nvSpPr>
        <p:spPr>
          <a:xfrm>
            <a:off x="8220456"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Same-node vs cross-node</a:t>
            </a:r>
          </a:p>
          <a:p>
            <a:pPr algn="ctr">
              <a:spcBef>
                <a:spcPts val="0"/>
              </a:spcBef>
              <a:spcAft>
                <a:spcPts val="500"/>
              </a:spcAft>
              <a:defRPr sz="1400" b="0">
                <a:solidFill>
                  <a:srgbClr val="586A80"/>
                </a:solidFill>
                <a:latin typeface="Arial"/>
              </a:defRPr>
            </a:pPr>
            <a:r>
              <a:t>Latency and cost impact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#2: readiness is a chain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Running pod is only one part of a usable serving path.</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Make routing eligibility depend on the right readiness contracts.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44 / 54</a:t>
            </a:r>
          </a:p>
        </p:txBody>
      </p:sp>
      <p:sp>
        <p:nvSpPr>
          <p:cNvPr id="10" name="Rounded Rectangle 9"/>
          <p:cNvSpPr/>
          <p:nvPr/>
        </p:nvSpPr>
        <p:spPr>
          <a:xfrm>
            <a:off x="502920"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14600"/>
            <a:ext cx="50292" cy="143560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Model ready</a:t>
            </a:r>
          </a:p>
        </p:txBody>
      </p:sp>
      <p:sp>
        <p:nvSpPr>
          <p:cNvPr id="13" name="TextBox 12"/>
          <p:cNvSpPr txBox="1"/>
          <p:nvPr/>
        </p:nvSpPr>
        <p:spPr>
          <a:xfrm>
            <a:off x="649224"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Weights loaded</a:t>
            </a:r>
          </a:p>
          <a:p>
            <a:pPr algn="ctr">
              <a:spcBef>
                <a:spcPts val="0"/>
              </a:spcBef>
              <a:spcAft>
                <a:spcPts val="500"/>
              </a:spcAft>
              <a:defRPr sz="1400" b="0">
                <a:solidFill>
                  <a:srgbClr val="586A80"/>
                </a:solidFill>
                <a:latin typeface="Arial"/>
              </a:defRPr>
            </a:pPr>
            <a:r>
              <a:t>Runtime responsive</a:t>
            </a:r>
          </a:p>
        </p:txBody>
      </p:sp>
      <p:cxnSp>
        <p:nvCxnSpPr>
          <p:cNvPr id="14" name="Connector 13"/>
          <p:cNvCxnSpPr/>
          <p:nvPr/>
        </p:nvCxnSpPr>
        <p:spPr>
          <a:xfrm>
            <a:off x="4114800" y="3236976"/>
            <a:ext cx="173736" cy="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88536"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88536" y="2514600"/>
            <a:ext cx="50292" cy="143560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25696"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Proxy ready</a:t>
            </a:r>
          </a:p>
        </p:txBody>
      </p:sp>
      <p:sp>
        <p:nvSpPr>
          <p:cNvPr id="18" name="TextBox 17"/>
          <p:cNvSpPr txBox="1"/>
          <p:nvPr/>
        </p:nvSpPr>
        <p:spPr>
          <a:xfrm>
            <a:off x="4434840"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Correct local backend</a:t>
            </a:r>
          </a:p>
          <a:p>
            <a:pPr algn="ctr">
              <a:spcBef>
                <a:spcPts val="0"/>
              </a:spcBef>
              <a:spcAft>
                <a:spcPts val="500"/>
              </a:spcAft>
              <a:defRPr sz="1400" b="0">
                <a:solidFill>
                  <a:srgbClr val="586A80"/>
                </a:solidFill>
                <a:latin typeface="Arial"/>
              </a:defRPr>
            </a:pPr>
            <a:r>
              <a:t>Healthy listeners</a:t>
            </a:r>
          </a:p>
        </p:txBody>
      </p:sp>
      <p:cxnSp>
        <p:nvCxnSpPr>
          <p:cNvPr id="19" name="Connector 18"/>
          <p:cNvCxnSpPr/>
          <p:nvPr/>
        </p:nvCxnSpPr>
        <p:spPr>
          <a:xfrm>
            <a:off x="7900416" y="3236976"/>
            <a:ext cx="173735" cy="0"/>
          </a:xfrm>
          <a:prstGeom prst="line">
            <a:avLst/>
          </a:prstGeom>
          <a:ln w="1905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74152"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4152" y="2514600"/>
            <a:ext cx="50292" cy="14356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2"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2563EB"/>
                </a:solidFill>
                <a:latin typeface="Arial"/>
              </a:defRPr>
            </a:pPr>
            <a:r>
              <a:t>Route ready</a:t>
            </a:r>
          </a:p>
        </p:txBody>
      </p:sp>
      <p:sp>
        <p:nvSpPr>
          <p:cNvPr id="23" name="TextBox 22"/>
          <p:cNvSpPr txBox="1"/>
          <p:nvPr/>
        </p:nvSpPr>
        <p:spPr>
          <a:xfrm>
            <a:off x="8220456"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Labels and endpoints</a:t>
            </a:r>
          </a:p>
          <a:p>
            <a:pPr algn="ctr">
              <a:spcBef>
                <a:spcPts val="0"/>
              </a:spcBef>
              <a:spcAft>
                <a:spcPts val="500"/>
              </a:spcAft>
              <a:defRPr sz="1400" b="0">
                <a:solidFill>
                  <a:srgbClr val="586A80"/>
                </a:solidFill>
                <a:latin typeface="Arial"/>
              </a:defRPr>
            </a:pPr>
            <a:r>
              <a:t>Ports and pool wiring</a:t>
            </a:r>
          </a:p>
        </p:txBody>
      </p:sp>
      <p:sp>
        <p:nvSpPr>
          <p:cNvPr id="24" name="Rounded Rectangle 23"/>
          <p:cNvSpPr/>
          <p:nvPr/>
        </p:nvSpPr>
        <p:spPr>
          <a:xfrm>
            <a:off x="502920" y="4590288"/>
            <a:ext cx="11183112"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846320"/>
            <a:ext cx="10725912" cy="411480"/>
          </a:xfrm>
          <a:prstGeom prst="rect">
            <a:avLst/>
          </a:prstGeom>
          <a:noFill/>
        </p:spPr>
        <p:txBody>
          <a:bodyPr wrap="square" lIns="13716" rIns="13716" tIns="13716" bIns="13716">
            <a:spAutoFit/>
          </a:bodyPr>
          <a:lstStyle/>
          <a:p>
            <a:pPr>
              <a:spcBef>
                <a:spcPts val="0"/>
              </a:spcBef>
              <a:spcAft>
                <a:spcPts val="500"/>
              </a:spcAft>
              <a:defRPr sz="1900" b="0">
                <a:solidFill>
                  <a:srgbClr val="586A80"/>
                </a:solidFill>
                <a:latin typeface="Arial"/>
              </a:defRPr>
            </a:pPr>
            <a:r>
              <a:t>Test startup, partial failure, replacement, and rollout—not only the steady state.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#3: use role-appropriate signals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dashboard can show both phases; one scaling signal should not govern both.</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45 / 54</a:t>
            </a:r>
          </a:p>
        </p:txBody>
      </p:sp>
      <p:sp>
        <p:nvSpPr>
          <p:cNvPr id="8" name="Rectangle 7"/>
          <p:cNvSpPr/>
          <p:nvPr/>
        </p:nvSpPr>
        <p:spPr>
          <a:xfrm>
            <a:off x="502920" y="2240280"/>
            <a:ext cx="202539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59152"/>
            <a:ext cx="182880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ROLE</a:t>
            </a:r>
          </a:p>
        </p:txBody>
      </p:sp>
      <p:sp>
        <p:nvSpPr>
          <p:cNvPr id="10" name="Rectangle 9"/>
          <p:cNvSpPr/>
          <p:nvPr/>
        </p:nvSpPr>
        <p:spPr>
          <a:xfrm>
            <a:off x="2551176" y="2240280"/>
            <a:ext cx="3771900"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60904" y="2359152"/>
            <a:ext cx="3575304"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USEFUL SIGNALS</a:t>
            </a:r>
          </a:p>
        </p:txBody>
      </p:sp>
      <p:sp>
        <p:nvSpPr>
          <p:cNvPr id="12" name="Rectangle 11"/>
          <p:cNvSpPr/>
          <p:nvPr/>
        </p:nvSpPr>
        <p:spPr>
          <a:xfrm>
            <a:off x="6345936" y="2240280"/>
            <a:ext cx="531723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2359152"/>
            <a:ext cx="512064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WATCH OUT FOR</a:t>
            </a:r>
          </a:p>
        </p:txBody>
      </p:sp>
      <p:sp>
        <p:nvSpPr>
          <p:cNvPr id="14" name="Rectangle 13"/>
          <p:cNvSpPr/>
          <p:nvPr/>
        </p:nvSpPr>
        <p:spPr>
          <a:xfrm>
            <a:off x="502920" y="301752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3639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Prefill</a:t>
            </a:r>
          </a:p>
        </p:txBody>
      </p:sp>
      <p:sp>
        <p:nvSpPr>
          <p:cNvPr id="16" name="Rectangle 15"/>
          <p:cNvSpPr/>
          <p:nvPr/>
        </p:nvSpPr>
        <p:spPr>
          <a:xfrm>
            <a:off x="2551176" y="301752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60904" y="313639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Queue / prompt pressure</a:t>
            </a:r>
          </a:p>
        </p:txBody>
      </p:sp>
      <p:sp>
        <p:nvSpPr>
          <p:cNvPr id="18" name="Rectangle 17"/>
          <p:cNvSpPr/>
          <p:nvPr/>
        </p:nvSpPr>
        <p:spPr>
          <a:xfrm>
            <a:off x="6345936" y="301752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313639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Averages that hide burst and tail latency</a:t>
            </a:r>
          </a:p>
        </p:txBody>
      </p:sp>
      <p:sp>
        <p:nvSpPr>
          <p:cNvPr id="20" name="Rectangle 19"/>
          <p:cNvSpPr/>
          <p:nvPr/>
        </p:nvSpPr>
        <p:spPr>
          <a:xfrm>
            <a:off x="502920" y="3794760"/>
            <a:ext cx="202539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1363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Decode</a:t>
            </a:r>
          </a:p>
        </p:txBody>
      </p:sp>
      <p:sp>
        <p:nvSpPr>
          <p:cNvPr id="22" name="Rectangle 21"/>
          <p:cNvSpPr/>
          <p:nvPr/>
        </p:nvSpPr>
        <p:spPr>
          <a:xfrm>
            <a:off x="2551176" y="3794760"/>
            <a:ext cx="3771900"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60904" y="391363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load; observe KV usage</a:t>
            </a:r>
          </a:p>
        </p:txBody>
      </p:sp>
      <p:sp>
        <p:nvSpPr>
          <p:cNvPr id="24" name="Rectangle 23"/>
          <p:cNvSpPr/>
          <p:nvPr/>
        </p:nvSpPr>
        <p:spPr>
          <a:xfrm>
            <a:off x="6345936" y="3794760"/>
            <a:ext cx="531723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391363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Evicting active work during scale-down</a:t>
            </a:r>
          </a:p>
        </p:txBody>
      </p:sp>
      <p:sp>
        <p:nvSpPr>
          <p:cNvPr id="26" name="Rectangle 25"/>
          <p:cNvSpPr/>
          <p:nvPr/>
        </p:nvSpPr>
        <p:spPr>
          <a:xfrm>
            <a:off x="502920" y="457200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69087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Both</a:t>
            </a:r>
          </a:p>
        </p:txBody>
      </p:sp>
      <p:sp>
        <p:nvSpPr>
          <p:cNvPr id="28" name="Rectangle 27"/>
          <p:cNvSpPr/>
          <p:nvPr/>
        </p:nvSpPr>
        <p:spPr>
          <a:xfrm>
            <a:off x="2551176" y="457200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660904" y="469087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Warm-up + SLO + capacity</a:t>
            </a:r>
          </a:p>
        </p:txBody>
      </p:sp>
      <p:sp>
        <p:nvSpPr>
          <p:cNvPr id="30" name="Rectangle 29"/>
          <p:cNvSpPr/>
          <p:nvPr/>
        </p:nvSpPr>
        <p:spPr>
          <a:xfrm>
            <a:off x="6345936" y="457200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469087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Oscillation, slow model load, fabric limits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TRADEOFFS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production decision has four gates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benchmark is one gate; the operating model is another.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46 / 54</a:t>
            </a:r>
          </a:p>
        </p:txBody>
      </p:sp>
      <p:sp>
        <p:nvSpPr>
          <p:cNvPr id="8" name="Rounded Rectangle 7"/>
          <p:cNvSpPr/>
          <p:nvPr/>
        </p:nvSpPr>
        <p:spPr>
          <a:xfrm>
            <a:off x="502920"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7744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85800"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Workload fit</a:t>
            </a:r>
          </a:p>
        </p:txBody>
      </p:sp>
      <p:sp>
        <p:nvSpPr>
          <p:cNvPr id="12" name="TextBox 11"/>
          <p:cNvSpPr txBox="1"/>
          <p:nvPr/>
        </p:nvSpPr>
        <p:spPr>
          <a:xfrm>
            <a:off x="685800"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 prompt and generation pressure diverge enough?</a:t>
            </a:r>
          </a:p>
        </p:txBody>
      </p:sp>
      <p:sp>
        <p:nvSpPr>
          <p:cNvPr id="13" name="Rounded Rectangle 12"/>
          <p:cNvSpPr/>
          <p:nvPr/>
        </p:nvSpPr>
        <p:spPr>
          <a:xfrm>
            <a:off x="3364991"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9584" y="237744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6" name="TextBox 15"/>
          <p:cNvSpPr txBox="1"/>
          <p:nvPr/>
        </p:nvSpPr>
        <p:spPr>
          <a:xfrm>
            <a:off x="3547872"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Transfer path</a:t>
            </a:r>
          </a:p>
        </p:txBody>
      </p:sp>
      <p:sp>
        <p:nvSpPr>
          <p:cNvPr id="17" name="TextBox 16"/>
          <p:cNvSpPr txBox="1"/>
          <p:nvPr/>
        </p:nvSpPr>
        <p:spPr>
          <a:xfrm>
            <a:off x="3547872"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KV movement stay inside the latency budget?</a:t>
            </a:r>
          </a:p>
        </p:txBody>
      </p:sp>
      <p:sp>
        <p:nvSpPr>
          <p:cNvPr id="18" name="Rounded Rectangle 17"/>
          <p:cNvSpPr/>
          <p:nvPr/>
        </p:nvSpPr>
        <p:spPr>
          <a:xfrm>
            <a:off x="6227064"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91655" y="237744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1" name="TextBox 20"/>
          <p:cNvSpPr txBox="1"/>
          <p:nvPr/>
        </p:nvSpPr>
        <p:spPr>
          <a:xfrm>
            <a:off x="6409944"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Operational fit</a:t>
            </a:r>
          </a:p>
        </p:txBody>
      </p:sp>
      <p:sp>
        <p:nvSpPr>
          <p:cNvPr id="22" name="TextBox 21"/>
          <p:cNvSpPr txBox="1"/>
          <p:nvPr/>
        </p:nvSpPr>
        <p:spPr>
          <a:xfrm>
            <a:off x="6409944"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the team observe, scale, and debug both roles?</a:t>
            </a:r>
          </a:p>
        </p:txBody>
      </p:sp>
      <p:sp>
        <p:nvSpPr>
          <p:cNvPr id="23" name="Rounded Rectangle 22"/>
          <p:cNvSpPr/>
          <p:nvPr/>
        </p:nvSpPr>
        <p:spPr>
          <a:xfrm>
            <a:off x="9089136"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53728" y="237744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72016"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6" name="TextBox 25"/>
          <p:cNvSpPr txBox="1"/>
          <p:nvPr/>
        </p:nvSpPr>
        <p:spPr>
          <a:xfrm>
            <a:off x="9272016"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Measured win</a:t>
            </a:r>
          </a:p>
        </p:txBody>
      </p:sp>
      <p:sp>
        <p:nvSpPr>
          <p:cNvPr id="27" name="TextBox 26"/>
          <p:cNvSpPr txBox="1"/>
          <p:nvPr/>
        </p:nvSpPr>
        <p:spPr>
          <a:xfrm>
            <a:off x="9272016"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Does SLO goodput improve at acceptable total cost?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DECISION MATRIX</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When should you use P/D—and when not?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Two axes matter: how different the roles are, and what the KV-transfer path costs.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Use P/D when the roles want different capacity AND KV transfer does not erase the gain.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47 / 54</a:t>
            </a:r>
          </a:p>
        </p:txBody>
      </p:sp>
      <p:sp>
        <p:nvSpPr>
          <p:cNvPr id="10" name="TextBox 9"/>
          <p:cNvSpPr txBox="1"/>
          <p:nvPr/>
        </p:nvSpPr>
        <p:spPr>
          <a:xfrm>
            <a:off x="2176272"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AE641A"/>
                </a:solidFill>
                <a:latin typeface="Arial"/>
              </a:defRPr>
            </a:pPr>
            <a:r>
              <a:t>EXPENSIVE / WEAK KV TRANSFER</a:t>
            </a:r>
          </a:p>
        </p:txBody>
      </p:sp>
      <p:sp>
        <p:nvSpPr>
          <p:cNvPr id="11" name="TextBox 10"/>
          <p:cNvSpPr txBox="1"/>
          <p:nvPr/>
        </p:nvSpPr>
        <p:spPr>
          <a:xfrm>
            <a:off x="7031736"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CHEAP / FAST ENOUGH KV TRANSFER</a:t>
            </a:r>
          </a:p>
        </p:txBody>
      </p:sp>
      <p:sp>
        <p:nvSpPr>
          <p:cNvPr id="12" name="TextBox 11"/>
          <p:cNvSpPr txBox="1"/>
          <p:nvPr/>
        </p:nvSpPr>
        <p:spPr>
          <a:xfrm>
            <a:off x="502920" y="2651760"/>
            <a:ext cx="1417320" cy="841248"/>
          </a:xfrm>
          <a:prstGeom prst="rect">
            <a:avLst/>
          </a:prstGeom>
          <a:noFill/>
        </p:spPr>
        <p:txBody>
          <a:bodyPr wrap="square" lIns="13716" rIns="13716" tIns="13716" bIns="13716">
            <a:spAutoFit/>
          </a:bodyPr>
          <a:lstStyle/>
          <a:p>
            <a:pPr>
              <a:spcBef>
                <a:spcPts val="0"/>
              </a:spcBef>
              <a:spcAft>
                <a:spcPts val="500"/>
              </a:spcAft>
              <a:defRPr sz="1400" b="1">
                <a:solidFill>
                  <a:srgbClr val="172941"/>
                </a:solidFill>
                <a:latin typeface="Arial"/>
              </a:defRPr>
            </a:pPr>
            <a:r>
              <a:t>Different</a:t>
            </a:r>
          </a:p>
          <a:p>
            <a:pPr>
              <a:spcBef>
                <a:spcPts val="0"/>
              </a:spcBef>
              <a:spcAft>
                <a:spcPts val="500"/>
              </a:spcAft>
              <a:defRPr sz="1400" b="1">
                <a:solidFill>
                  <a:srgbClr val="172941"/>
                </a:solidFill>
                <a:latin typeface="Arial"/>
              </a:defRPr>
            </a:pPr>
            <a:r>
              <a:t>bottlenecks /</a:t>
            </a:r>
          </a:p>
          <a:p>
            <a:pPr>
              <a:spcBef>
                <a:spcPts val="0"/>
              </a:spcBef>
              <a:spcAft>
                <a:spcPts val="500"/>
              </a:spcAft>
              <a:defRPr sz="1400" b="1">
                <a:solidFill>
                  <a:srgbClr val="172941"/>
                </a:solidFill>
                <a:latin typeface="Arial"/>
              </a:defRPr>
            </a:pPr>
            <a:r>
              <a:t>scaling needs</a:t>
            </a:r>
          </a:p>
        </p:txBody>
      </p:sp>
      <p:sp>
        <p:nvSpPr>
          <p:cNvPr id="13" name="TextBox 12"/>
          <p:cNvSpPr txBox="1"/>
          <p:nvPr/>
        </p:nvSpPr>
        <p:spPr>
          <a:xfrm>
            <a:off x="502920" y="4334256"/>
            <a:ext cx="1417320" cy="731520"/>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Similar</a:t>
            </a:r>
          </a:p>
          <a:p>
            <a:pPr>
              <a:spcBef>
                <a:spcPts val="0"/>
              </a:spcBef>
              <a:spcAft>
                <a:spcPts val="500"/>
              </a:spcAft>
              <a:defRPr sz="1400" b="1">
                <a:solidFill>
                  <a:srgbClr val="586A80"/>
                </a:solidFill>
                <a:latin typeface="Arial"/>
              </a:defRPr>
            </a:pPr>
            <a:r>
              <a:t>bottlenecks /</a:t>
            </a:r>
          </a:p>
          <a:p>
            <a:pPr>
              <a:spcBef>
                <a:spcPts val="0"/>
              </a:spcBef>
              <a:spcAft>
                <a:spcPts val="500"/>
              </a:spcAft>
              <a:defRPr sz="1400" b="1">
                <a:solidFill>
                  <a:srgbClr val="586A80"/>
                </a:solidFill>
                <a:latin typeface="Arial"/>
              </a:defRPr>
            </a:pPr>
            <a:r>
              <a:t>scaling needs</a:t>
            </a:r>
          </a:p>
        </p:txBody>
      </p:sp>
      <p:sp>
        <p:nvSpPr>
          <p:cNvPr id="14" name="Rounded Rectangle 13"/>
          <p:cNvSpPr/>
          <p:nvPr/>
        </p:nvSpPr>
        <p:spPr>
          <a:xfrm>
            <a:off x="2103120" y="2450592"/>
            <a:ext cx="4617720" cy="135331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596896"/>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AE641A"/>
                </a:solidFill>
                <a:latin typeface="Arial"/>
              </a:defRPr>
            </a:pPr>
            <a:r>
              <a:t>IMPROVE TOPOLOGY FIRST</a:t>
            </a:r>
          </a:p>
        </p:txBody>
      </p:sp>
      <p:sp>
        <p:nvSpPr>
          <p:cNvPr id="16" name="TextBox 15"/>
          <p:cNvSpPr txBox="1"/>
          <p:nvPr/>
        </p:nvSpPr>
        <p:spPr>
          <a:xfrm>
            <a:off x="2267712" y="3063240"/>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Independent capacity may help.</a:t>
            </a:r>
          </a:p>
          <a:p>
            <a:pPr>
              <a:spcBef>
                <a:spcPts val="0"/>
              </a:spcBef>
              <a:spcAft>
                <a:spcPts val="500"/>
              </a:spcAft>
              <a:defRPr sz="1500" b="0">
                <a:solidFill>
                  <a:srgbClr val="172941"/>
                </a:solidFill>
                <a:latin typeface="Arial"/>
              </a:defRPr>
            </a:pPr>
            <a:r>
              <a:t>Transfer overhead may erase the gain.</a:t>
            </a:r>
          </a:p>
        </p:txBody>
      </p:sp>
      <p:sp>
        <p:nvSpPr>
          <p:cNvPr id="17" name="Rounded Rectangle 16"/>
          <p:cNvSpPr/>
          <p:nvPr/>
        </p:nvSpPr>
        <p:spPr>
          <a:xfrm>
            <a:off x="6967728" y="2450592"/>
            <a:ext cx="4718304" cy="135331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0" y="2596896"/>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47952"/>
                </a:solidFill>
                <a:latin typeface="Arial"/>
              </a:defRPr>
            </a:pPr>
            <a:r>
              <a:t>STRONG P/D CANDIDATE</a:t>
            </a:r>
          </a:p>
        </p:txBody>
      </p:sp>
      <p:sp>
        <p:nvSpPr>
          <p:cNvPr id="19" name="TextBox 18"/>
          <p:cNvSpPr txBox="1"/>
          <p:nvPr/>
        </p:nvSpPr>
        <p:spPr>
          <a:xfrm>
            <a:off x="7132320" y="3063240"/>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capacity or parallelism.</a:t>
            </a:r>
          </a:p>
          <a:p>
            <a:pPr>
              <a:spcBef>
                <a:spcPts val="0"/>
              </a:spcBef>
              <a:spcAft>
                <a:spcPts val="500"/>
              </a:spcAft>
              <a:defRPr sz="1500" b="0">
                <a:solidFill>
                  <a:srgbClr val="172941"/>
                </a:solidFill>
                <a:latin typeface="Arial"/>
              </a:defRPr>
            </a:pPr>
            <a:r>
              <a:t>Validate the gain at matched SLO + cost.</a:t>
            </a:r>
          </a:p>
        </p:txBody>
      </p:sp>
      <p:sp>
        <p:nvSpPr>
          <p:cNvPr id="20" name="Rounded Rectangle 19"/>
          <p:cNvSpPr/>
          <p:nvPr/>
        </p:nvSpPr>
        <p:spPr>
          <a:xfrm>
            <a:off x="2103120" y="4014215"/>
            <a:ext cx="4617720" cy="1353312"/>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267712" y="4160520"/>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586A80"/>
                </a:solidFill>
                <a:latin typeface="Arial"/>
              </a:defRPr>
            </a:pPr>
            <a:r>
              <a:t>STAY AGGREGATED</a:t>
            </a:r>
          </a:p>
        </p:txBody>
      </p:sp>
      <p:sp>
        <p:nvSpPr>
          <p:cNvPr id="22" name="TextBox 21"/>
          <p:cNvSpPr txBox="1"/>
          <p:nvPr/>
        </p:nvSpPr>
        <p:spPr>
          <a:xfrm>
            <a:off x="2267712" y="4626864"/>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Little role separation benefit,</a:t>
            </a:r>
          </a:p>
          <a:p>
            <a:pPr>
              <a:spcBef>
                <a:spcPts val="0"/>
              </a:spcBef>
              <a:spcAft>
                <a:spcPts val="500"/>
              </a:spcAft>
              <a:defRPr sz="1500" b="0">
                <a:solidFill>
                  <a:srgbClr val="172941"/>
                </a:solidFill>
                <a:latin typeface="Arial"/>
              </a:defRPr>
            </a:pPr>
            <a:r>
              <a:t>plus an expensive transfer path.</a:t>
            </a:r>
          </a:p>
        </p:txBody>
      </p:sp>
      <p:sp>
        <p:nvSpPr>
          <p:cNvPr id="23" name="Rounded Rectangle 22"/>
          <p:cNvSpPr/>
          <p:nvPr/>
        </p:nvSpPr>
        <p:spPr>
          <a:xfrm>
            <a:off x="6967728" y="4014215"/>
            <a:ext cx="4718304" cy="13533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0" y="4160520"/>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563EB"/>
                </a:solidFill>
                <a:latin typeface="Arial"/>
              </a:defRPr>
            </a:pPr>
            <a:r>
              <a:t>USUALLY STAY AGGREGATED</a:t>
            </a:r>
          </a:p>
        </p:txBody>
      </p:sp>
      <p:sp>
        <p:nvSpPr>
          <p:cNvPr id="25" name="TextBox 24"/>
          <p:cNvSpPr txBox="1"/>
          <p:nvPr/>
        </p:nvSpPr>
        <p:spPr>
          <a:xfrm>
            <a:off x="7132320" y="4626864"/>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Fast fabric alone is not a reason to split.</a:t>
            </a:r>
          </a:p>
          <a:p>
            <a:pPr>
              <a:spcBef>
                <a:spcPts val="0"/>
              </a:spcBef>
              <a:spcAft>
                <a:spcPts val="500"/>
              </a:spcAft>
              <a:defRPr sz="1500" b="0">
                <a:solidFill>
                  <a:srgbClr val="172941"/>
                </a:solidFill>
                <a:latin typeface="Arial"/>
              </a:defRPr>
            </a:pPr>
            <a:r>
              <a:t>Operational gains may be limited.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ADOPTION EXAMPLES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Apply the matrix to your workload and topology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Workload shape suggests a candidate. Measurement decides whether to keep it.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 long prompt or a fast interconnect alone is not enough—both axes must justify separation.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48 / 54</a:t>
            </a:r>
          </a:p>
        </p:txBody>
      </p:sp>
      <p:sp>
        <p:nvSpPr>
          <p:cNvPr id="10" name="Rounded Rectangle 9"/>
          <p:cNvSpPr/>
          <p:nvPr/>
        </p:nvSpPr>
        <p:spPr>
          <a:xfrm>
            <a:off x="502920"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2860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SIMILAR ROLES</a:t>
            </a:r>
          </a:p>
        </p:txBody>
      </p:sp>
      <p:sp>
        <p:nvSpPr>
          <p:cNvPr id="13" name="TextBox 12"/>
          <p:cNvSpPr txBox="1"/>
          <p:nvPr/>
        </p:nvSpPr>
        <p:spPr>
          <a:xfrm>
            <a:off x="685800"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Keep it simple</a:t>
            </a:r>
          </a:p>
        </p:txBody>
      </p:sp>
      <p:sp>
        <p:nvSpPr>
          <p:cNvPr id="14" name="TextBox 13"/>
          <p:cNvSpPr txBox="1"/>
          <p:nvPr/>
        </p:nvSpPr>
        <p:spPr>
          <a:xfrm>
            <a:off x="685800"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Small model, short prompts</a:t>
            </a:r>
          </a:p>
          <a:p>
            <a:pPr>
              <a:spcBef>
                <a:spcPts val="0"/>
              </a:spcBef>
              <a:spcAft>
                <a:spcPts val="500"/>
              </a:spcAft>
              <a:defRPr sz="1500" b="0">
                <a:solidFill>
                  <a:srgbClr val="172941"/>
                </a:solidFill>
                <a:latin typeface="Arial"/>
              </a:defRPr>
            </a:pPr>
            <a:r>
              <a:t>Low concurrency</a:t>
            </a:r>
          </a:p>
          <a:p>
            <a:pPr>
              <a:spcBef>
                <a:spcPts val="0"/>
              </a:spcBef>
              <a:spcAft>
                <a:spcPts val="500"/>
              </a:spcAft>
              <a:defRPr sz="1500" b="0">
                <a:solidFill>
                  <a:srgbClr val="172941"/>
                </a:solidFill>
                <a:latin typeface="Arial"/>
              </a:defRPr>
            </a:pPr>
            <a:r>
              <a:t>Similar P/D scaling needs</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Start with aggregated.</a:t>
            </a:r>
          </a:p>
        </p:txBody>
      </p:sp>
      <p:sp>
        <p:nvSpPr>
          <p:cNvPr id="15" name="Rounded Rectangle 14"/>
          <p:cNvSpPr/>
          <p:nvPr/>
        </p:nvSpPr>
        <p:spPr>
          <a:xfrm>
            <a:off x="4288536"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2860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STRONG CANDIDATE</a:t>
            </a:r>
          </a:p>
        </p:txBody>
      </p:sp>
      <p:sp>
        <p:nvSpPr>
          <p:cNvPr id="18" name="TextBox 17"/>
          <p:cNvSpPr txBox="1"/>
          <p:nvPr/>
        </p:nvSpPr>
        <p:spPr>
          <a:xfrm>
            <a:off x="4471416"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Benchmark P/D</a:t>
            </a:r>
          </a:p>
        </p:txBody>
      </p:sp>
      <p:sp>
        <p:nvSpPr>
          <p:cNvPr id="19" name="TextBox 18"/>
          <p:cNvSpPr txBox="1"/>
          <p:nvPr/>
        </p:nvSpPr>
        <p:spPr>
          <a:xfrm>
            <a:off x="4471416"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Different scaling or TP needs</a:t>
            </a:r>
          </a:p>
          <a:p>
            <a:pPr>
              <a:spcBef>
                <a:spcPts val="0"/>
              </a:spcBef>
              <a:spcAft>
                <a:spcPts val="500"/>
              </a:spcAft>
              <a:defRPr sz="1500" b="0">
                <a:solidFill>
                  <a:srgbClr val="172941"/>
                </a:solidFill>
                <a:latin typeface="Arial"/>
              </a:defRPr>
            </a:pPr>
            <a:r>
              <a:t>Cheap, reliable KV transfer</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Test independent role capacity.</a:t>
            </a:r>
          </a:p>
        </p:txBody>
      </p:sp>
      <p:sp>
        <p:nvSpPr>
          <p:cNvPr id="20" name="Rounded Rectangle 19"/>
          <p:cNvSpPr/>
          <p:nvPr/>
        </p:nvSpPr>
        <p:spPr>
          <a:xfrm>
            <a:off x="8074152"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TRANSFER-LIMITED</a:t>
            </a:r>
          </a:p>
        </p:txBody>
      </p:sp>
      <p:sp>
        <p:nvSpPr>
          <p:cNvPr id="23" name="TextBox 22"/>
          <p:cNvSpPr txBox="1"/>
          <p:nvPr/>
        </p:nvSpPr>
        <p:spPr>
          <a:xfrm>
            <a:off x="8257031"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Fix the path first</a:t>
            </a:r>
          </a:p>
        </p:txBody>
      </p:sp>
      <p:sp>
        <p:nvSpPr>
          <p:cNvPr id="24" name="TextBox 23"/>
          <p:cNvSpPr txBox="1"/>
          <p:nvPr/>
        </p:nvSpPr>
        <p:spPr>
          <a:xfrm>
            <a:off x="8257031"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Costly or unstable KV path</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Improve locality or transport.</a:t>
            </a:r>
          </a:p>
          <a:p>
            <a:pPr>
              <a:spcBef>
                <a:spcPts val="0"/>
              </a:spcBef>
              <a:spcAft>
                <a:spcPts val="500"/>
              </a:spcAft>
              <a:defRPr sz="1500" b="0">
                <a:solidFill>
                  <a:srgbClr val="172941"/>
                </a:solidFill>
                <a:latin typeface="Arial"/>
              </a:defRPr>
            </a:pPr>
            <a:r>
              <a:t>Then reassess P/D.</a:t>
            </a:r>
          </a:p>
        </p:txBody>
      </p:sp>
      <p:sp>
        <p:nvSpPr>
          <p:cNvPr id="25" name="TextBox 24"/>
          <p:cNvSpPr txBox="1"/>
          <p:nvPr/>
        </p:nvSpPr>
        <p:spPr>
          <a:xfrm>
            <a:off x="521207" y="5431536"/>
            <a:ext cx="11064240" cy="320040"/>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Start with a simple topology; measure client TTFT / ITL, KV-transfer tails, SLO goodput and total cost.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ADOPTION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Adopt P/D in reversible steps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simplest serving model that meets the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49 / 54</a:t>
            </a:r>
          </a:p>
        </p:txBody>
      </p:sp>
      <p:sp>
        <p:nvSpPr>
          <p:cNvPr id="8" name="Rounded Rectangle 7"/>
          <p:cNvSpPr/>
          <p:nvPr/>
        </p:nvSpPr>
        <p:spPr>
          <a:xfrm>
            <a:off x="502920"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5146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STEP 1</a:t>
            </a:r>
          </a:p>
        </p:txBody>
      </p:sp>
      <p:sp>
        <p:nvSpPr>
          <p:cNvPr id="11" name="TextBox 10"/>
          <p:cNvSpPr txBox="1"/>
          <p:nvPr/>
        </p:nvSpPr>
        <p:spPr>
          <a:xfrm>
            <a:off x="685800"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Baseline</a:t>
            </a:r>
          </a:p>
        </p:txBody>
      </p:sp>
      <p:sp>
        <p:nvSpPr>
          <p:cNvPr id="12" name="TextBox 11"/>
          <p:cNvSpPr txBox="1"/>
          <p:nvPr/>
        </p:nvSpPr>
        <p:spPr>
          <a:xfrm>
            <a:off x="685800"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Run aggregated.</a:t>
            </a:r>
          </a:p>
          <a:p>
            <a:pPr>
              <a:spcBef>
                <a:spcPts val="0"/>
              </a:spcBef>
              <a:spcAft>
                <a:spcPts val="500"/>
              </a:spcAft>
              <a:defRPr sz="1800" b="0">
                <a:solidFill>
                  <a:srgbClr val="172941"/>
                </a:solidFill>
                <a:latin typeface="Arial"/>
              </a:defRPr>
            </a:pPr>
            <a:r>
              <a:t>Measure traffic + SLO.</a:t>
            </a:r>
          </a:p>
        </p:txBody>
      </p:sp>
      <p:cxnSp>
        <p:nvCxnSpPr>
          <p:cNvPr id="13" name="Connector 12"/>
          <p:cNvCxnSpPr/>
          <p:nvPr/>
        </p:nvCxnSpPr>
        <p:spPr>
          <a:xfrm>
            <a:off x="3191256" y="3803904"/>
            <a:ext cx="173735"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64991"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29584" y="25146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STEP 2</a:t>
            </a:r>
          </a:p>
        </p:txBody>
      </p:sp>
      <p:sp>
        <p:nvSpPr>
          <p:cNvPr id="17" name="TextBox 16"/>
          <p:cNvSpPr txBox="1"/>
          <p:nvPr/>
        </p:nvSpPr>
        <p:spPr>
          <a:xfrm>
            <a:off x="3547872"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Separate</a:t>
            </a:r>
          </a:p>
        </p:txBody>
      </p:sp>
      <p:sp>
        <p:nvSpPr>
          <p:cNvPr id="18" name="TextBox 17"/>
          <p:cNvSpPr txBox="1"/>
          <p:nvPr/>
        </p:nvSpPr>
        <p:spPr>
          <a:xfrm>
            <a:off x="3547872"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Declare roles.</a:t>
            </a:r>
          </a:p>
          <a:p>
            <a:pPr>
              <a:spcBef>
                <a:spcPts val="0"/>
              </a:spcBef>
              <a:spcAft>
                <a:spcPts val="500"/>
              </a:spcAft>
              <a:defRPr sz="1800" b="0">
                <a:solidFill>
                  <a:srgbClr val="172941"/>
                </a:solidFill>
                <a:latin typeface="Arial"/>
              </a:defRPr>
            </a:pPr>
            <a:r>
              <a:t>Validate KV + routing.</a:t>
            </a:r>
          </a:p>
        </p:txBody>
      </p:sp>
      <p:cxnSp>
        <p:nvCxnSpPr>
          <p:cNvPr id="19" name="Connector 18"/>
          <p:cNvCxnSpPr/>
          <p:nvPr/>
        </p:nvCxnSpPr>
        <p:spPr>
          <a:xfrm>
            <a:off x="6053327" y="3803904"/>
            <a:ext cx="173737"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91655" y="251460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9944"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STEP 3</a:t>
            </a:r>
          </a:p>
        </p:txBody>
      </p:sp>
      <p:sp>
        <p:nvSpPr>
          <p:cNvPr id="23" name="TextBox 22"/>
          <p:cNvSpPr txBox="1"/>
          <p:nvPr/>
        </p:nvSpPr>
        <p:spPr>
          <a:xfrm>
            <a:off x="6409944"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Tune</a:t>
            </a:r>
          </a:p>
        </p:txBody>
      </p:sp>
      <p:sp>
        <p:nvSpPr>
          <p:cNvPr id="24" name="TextBox 23"/>
          <p:cNvSpPr txBox="1"/>
          <p:nvPr/>
        </p:nvSpPr>
        <p:spPr>
          <a:xfrm>
            <a:off x="6409944"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Set role capacity.</a:t>
            </a:r>
          </a:p>
          <a:p>
            <a:pPr>
              <a:spcBef>
                <a:spcPts val="0"/>
              </a:spcBef>
              <a:spcAft>
                <a:spcPts val="500"/>
              </a:spcAft>
              <a:defRPr sz="1800" b="0">
                <a:solidFill>
                  <a:srgbClr val="172941"/>
                </a:solidFill>
                <a:latin typeface="Arial"/>
              </a:defRPr>
            </a:pPr>
            <a:r>
              <a:t>Benchmark at fixed cost.</a:t>
            </a:r>
          </a:p>
        </p:txBody>
      </p:sp>
      <p:cxnSp>
        <p:nvCxnSpPr>
          <p:cNvPr id="25" name="Connector 24"/>
          <p:cNvCxnSpPr/>
          <p:nvPr/>
        </p:nvCxnSpPr>
        <p:spPr>
          <a:xfrm>
            <a:off x="8915400" y="3803904"/>
            <a:ext cx="173736"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89136"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253728" y="25146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72016"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STEP 4</a:t>
            </a:r>
          </a:p>
        </p:txBody>
      </p:sp>
      <p:sp>
        <p:nvSpPr>
          <p:cNvPr id="29" name="TextBox 28"/>
          <p:cNvSpPr txBox="1"/>
          <p:nvPr/>
        </p:nvSpPr>
        <p:spPr>
          <a:xfrm>
            <a:off x="9272016"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Operate</a:t>
            </a:r>
          </a:p>
        </p:txBody>
      </p:sp>
      <p:sp>
        <p:nvSpPr>
          <p:cNvPr id="30" name="TextBox 29"/>
          <p:cNvSpPr txBox="1"/>
          <p:nvPr/>
        </p:nvSpPr>
        <p:spPr>
          <a:xfrm>
            <a:off x="9272016"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Add scale policies.</a:t>
            </a:r>
          </a:p>
          <a:p>
            <a:pPr>
              <a:spcBef>
                <a:spcPts val="0"/>
              </a:spcBef>
              <a:spcAft>
                <a:spcPts val="500"/>
              </a:spcAft>
              <a:defRPr sz="1800" b="0">
                <a:solidFill>
                  <a:srgbClr val="172941"/>
                </a:solidFill>
                <a:latin typeface="Arial"/>
              </a:defRPr>
            </a:pPr>
            <a:r>
              <a:t>Test failure + rollback.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DEMO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Demo: follow the intent into the running system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Show the same service at the API, controller, and traffic layers.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50 / 54</a:t>
            </a:r>
          </a:p>
        </p:txBody>
      </p:sp>
      <p:sp>
        <p:nvSpPr>
          <p:cNvPr id="8" name="Rounded Rectangle 7"/>
          <p:cNvSpPr/>
          <p:nvPr/>
        </p:nvSpPr>
        <p:spPr>
          <a:xfrm>
            <a:off x="502920"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1  Declare</a:t>
            </a:r>
          </a:p>
        </p:txBody>
      </p:sp>
      <p:sp>
        <p:nvSpPr>
          <p:cNvPr id="11" name="TextBox 10"/>
          <p:cNvSpPr txBox="1"/>
          <p:nvPr/>
        </p:nvSpPr>
        <p:spPr>
          <a:xfrm>
            <a:off x="685800"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the MRI</a:t>
            </a:r>
          </a:p>
          <a:p>
            <a:pPr>
              <a:spcBef>
                <a:spcPts val="0"/>
              </a:spcBef>
              <a:spcAft>
                <a:spcPts val="500"/>
              </a:spcAft>
              <a:defRPr sz="2000" b="0">
                <a:solidFill>
                  <a:srgbClr val="172941"/>
                </a:solidFill>
                <a:latin typeface="Arial"/>
              </a:defRPr>
            </a:pPr>
            <a:r>
              <a:t>and its role settings.</a:t>
            </a:r>
          </a:p>
        </p:txBody>
      </p:sp>
      <p:sp>
        <p:nvSpPr>
          <p:cNvPr id="12" name="Rounded Rectangle 11"/>
          <p:cNvSpPr/>
          <p:nvPr/>
        </p:nvSpPr>
        <p:spPr>
          <a:xfrm>
            <a:off x="4288536"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53127"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1416"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2  Reconcile</a:t>
            </a:r>
          </a:p>
        </p:txBody>
      </p:sp>
      <p:sp>
        <p:nvSpPr>
          <p:cNvPr id="15" name="TextBox 14"/>
          <p:cNvSpPr txBox="1"/>
          <p:nvPr/>
        </p:nvSpPr>
        <p:spPr>
          <a:xfrm>
            <a:off x="4471416"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child InferenceSets,</a:t>
            </a:r>
          </a:p>
          <a:p>
            <a:pPr>
              <a:spcBef>
                <a:spcPts val="0"/>
              </a:spcBef>
              <a:spcAft>
                <a:spcPts val="500"/>
              </a:spcAft>
              <a:defRPr sz="2000" b="0">
                <a:solidFill>
                  <a:srgbClr val="172941"/>
                </a:solidFill>
                <a:latin typeface="Arial"/>
              </a:defRPr>
            </a:pPr>
            <a:r>
              <a:t>Workspaces, and routing.</a:t>
            </a:r>
          </a:p>
        </p:txBody>
      </p:sp>
      <p:sp>
        <p:nvSpPr>
          <p:cNvPr id="16" name="Rounded Rectangle 15"/>
          <p:cNvSpPr/>
          <p:nvPr/>
        </p:nvSpPr>
        <p:spPr>
          <a:xfrm>
            <a:off x="8074152"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1"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3  Verify</a:t>
            </a:r>
          </a:p>
        </p:txBody>
      </p:sp>
      <p:sp>
        <p:nvSpPr>
          <p:cNvPr id="19" name="TextBox 18"/>
          <p:cNvSpPr txBox="1"/>
          <p:nvPr/>
        </p:nvSpPr>
        <p:spPr>
          <a:xfrm>
            <a:off x="8257031"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Send one request.</a:t>
            </a:r>
          </a:p>
          <a:p>
            <a:pPr>
              <a:spcBef>
                <a:spcPts val="0"/>
              </a:spcBef>
              <a:spcAft>
                <a:spcPts val="500"/>
              </a:spcAft>
              <a:defRPr sz="2000" b="0">
                <a:solidFill>
                  <a:srgbClr val="172941"/>
                </a:solidFill>
                <a:latin typeface="Arial"/>
              </a:defRPr>
            </a:pPr>
            <a:r>
              <a:t>Observe both roles.</a:t>
            </a:r>
          </a:p>
        </p:txBody>
      </p:sp>
      <p:sp>
        <p:nvSpPr>
          <p:cNvPr id="20" name="TextBox 19"/>
          <p:cNvSpPr txBox="1"/>
          <p:nvPr/>
        </p:nvSpPr>
        <p:spPr>
          <a:xfrm>
            <a:off x="521207" y="5449824"/>
            <a:ext cx="11064240" cy="39319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Optional: apply a verified KEDA policy to one child InferenceSet and observe scaling.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DIRECTION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Next: make multi-role serving easier to operate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Recommended areas of work—not release commitments.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51 / 54</a:t>
            </a:r>
          </a:p>
        </p:txBody>
      </p:sp>
      <p:sp>
        <p:nvSpPr>
          <p:cNvPr id="8" name="Rounded Rectangle 7"/>
          <p:cNvSpPr/>
          <p:nvPr/>
        </p:nvSpPr>
        <p:spPr>
          <a:xfrm>
            <a:off x="502920"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DIRECTION</a:t>
            </a:r>
          </a:p>
        </p:txBody>
      </p:sp>
      <p:sp>
        <p:nvSpPr>
          <p:cNvPr id="11" name="TextBox 10"/>
          <p:cNvSpPr txBox="1"/>
          <p:nvPr/>
        </p:nvSpPr>
        <p:spPr>
          <a:xfrm>
            <a:off x="685800"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Scaling UX</a:t>
            </a:r>
          </a:p>
        </p:txBody>
      </p:sp>
      <p:sp>
        <p:nvSpPr>
          <p:cNvPr id="12" name="TextBox 11"/>
          <p:cNvSpPr txBox="1"/>
          <p:nvPr/>
        </p:nvSpPr>
        <p:spPr>
          <a:xfrm>
            <a:off x="685800"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Express per-role policy</a:t>
            </a:r>
          </a:p>
          <a:p>
            <a:pPr>
              <a:spcBef>
                <a:spcPts val="0"/>
              </a:spcBef>
              <a:spcAft>
                <a:spcPts val="500"/>
              </a:spcAft>
              <a:defRPr sz="2000" b="0">
                <a:solidFill>
                  <a:srgbClr val="172941"/>
                </a:solidFill>
                <a:latin typeface="Arial"/>
              </a:defRPr>
            </a:pPr>
            <a:r>
              <a:t>without repetitive plumbing.</a:t>
            </a:r>
          </a:p>
        </p:txBody>
      </p:sp>
      <p:sp>
        <p:nvSpPr>
          <p:cNvPr id="13" name="Rounded Rectangle 12"/>
          <p:cNvSpPr/>
          <p:nvPr/>
        </p:nvSpPr>
        <p:spPr>
          <a:xfrm>
            <a:off x="4288536"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DIRECTION</a:t>
            </a:r>
          </a:p>
        </p:txBody>
      </p:sp>
      <p:sp>
        <p:nvSpPr>
          <p:cNvPr id="16" name="TextBox 15"/>
          <p:cNvSpPr txBox="1"/>
          <p:nvPr/>
        </p:nvSpPr>
        <p:spPr>
          <a:xfrm>
            <a:off x="4471416"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Observability</a:t>
            </a:r>
          </a:p>
        </p:txBody>
      </p:sp>
      <p:sp>
        <p:nvSpPr>
          <p:cNvPr id="17" name="TextBox 16"/>
          <p:cNvSpPr txBox="1"/>
          <p:nvPr/>
        </p:nvSpPr>
        <p:spPr>
          <a:xfrm>
            <a:off x="4471416"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Connect request latency,</a:t>
            </a:r>
          </a:p>
          <a:p>
            <a:pPr>
              <a:spcBef>
                <a:spcPts val="0"/>
              </a:spcBef>
              <a:spcAft>
                <a:spcPts val="500"/>
              </a:spcAft>
              <a:defRPr sz="2000" b="0">
                <a:solidFill>
                  <a:srgbClr val="172941"/>
                </a:solidFill>
                <a:latin typeface="Arial"/>
              </a:defRPr>
            </a:pPr>
            <a:r>
              <a:t>role load, and KV transfer.</a:t>
            </a:r>
          </a:p>
        </p:txBody>
      </p:sp>
      <p:sp>
        <p:nvSpPr>
          <p:cNvPr id="18" name="Rounded Rectangle 17"/>
          <p:cNvSpPr/>
          <p:nvPr/>
        </p:nvSpPr>
        <p:spPr>
          <a:xfrm>
            <a:off x="8074152"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DIRECTION</a:t>
            </a:r>
          </a:p>
        </p:txBody>
      </p:sp>
      <p:sp>
        <p:nvSpPr>
          <p:cNvPr id="21" name="TextBox 20"/>
          <p:cNvSpPr txBox="1"/>
          <p:nvPr/>
        </p:nvSpPr>
        <p:spPr>
          <a:xfrm>
            <a:off x="8257031"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Topology UX</a:t>
            </a:r>
          </a:p>
        </p:txBody>
      </p:sp>
      <p:sp>
        <p:nvSpPr>
          <p:cNvPr id="22" name="TextBox 21"/>
          <p:cNvSpPr txBox="1"/>
          <p:nvPr/>
        </p:nvSpPr>
        <p:spPr>
          <a:xfrm>
            <a:off x="8257031"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Keep richer serving layouts</a:t>
            </a:r>
          </a:p>
          <a:p>
            <a:pPr>
              <a:spcBef>
                <a:spcPts val="0"/>
              </a:spcBef>
              <a:spcAft>
                <a:spcPts val="500"/>
              </a:spcAft>
              <a:defRPr sz="2000" b="0">
                <a:solidFill>
                  <a:srgbClr val="172941"/>
                </a:solidFill>
                <a:latin typeface="Arial"/>
              </a:defRPr>
            </a:pPr>
            <a:r>
              <a:t>inside the same API model.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INTEGRATION ROADMAP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What’s next for KAITO + llm-d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Build on P/D with better cache reuse, richer role layouts and larger-scale execution.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Integration directions—not release dates or claims that every upstream capability is new.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52 / 54</a:t>
            </a:r>
          </a:p>
        </p:txBody>
      </p:sp>
      <p:sp>
        <p:nvSpPr>
          <p:cNvPr id="10" name="Rounded Rectangle 9"/>
          <p:cNvSpPr/>
          <p:nvPr/>
        </p:nvSpPr>
        <p:spPr>
          <a:xfrm>
            <a:off x="502920"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NEAR TERM</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Cache-aware serving</a:t>
            </a:r>
          </a:p>
        </p:txBody>
      </p:sp>
      <p:sp>
        <p:nvSpPr>
          <p:cNvPr id="14" name="TextBox 13"/>
          <p:cNvSpPr txBox="1"/>
          <p:nvPr/>
        </p:nvSpPr>
        <p:spPr>
          <a:xfrm>
            <a:off x="685800"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KV-event-based</a:t>
            </a:r>
          </a:p>
          <a:p>
            <a:pPr>
              <a:spcBef>
                <a:spcPts val="0"/>
              </a:spcBef>
              <a:spcAft>
                <a:spcPts val="500"/>
              </a:spcAft>
              <a:defRPr sz="1700" b="0">
                <a:solidFill>
                  <a:srgbClr val="172941"/>
                </a:solidFill>
                <a:latin typeface="Arial"/>
              </a:defRPr>
            </a:pPr>
            <a:r>
              <a:t>prefix-cache routing</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Tiered cache: HBM + CPU RAM</a:t>
            </a:r>
          </a:p>
          <a:p>
            <a:pPr>
              <a:spcBef>
                <a:spcPts val="0"/>
              </a:spcBef>
              <a:spcAft>
                <a:spcPts val="500"/>
              </a:spcAft>
              <a:defRPr sz="1700" b="0">
                <a:solidFill>
                  <a:srgbClr val="172941"/>
                </a:solidFill>
                <a:latin typeface="Arial"/>
              </a:defRPr>
            </a:pPr>
            <a:r>
              <a:t>+ optional filesystem tiers</a:t>
            </a:r>
          </a:p>
        </p:txBody>
      </p:sp>
      <p:sp>
        <p:nvSpPr>
          <p:cNvPr id="15" name="Rounded Rectangle 14"/>
          <p:cNvSpPr/>
          <p:nvPr/>
        </p:nvSpPr>
        <p:spPr>
          <a:xfrm>
            <a:off x="4288536"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NEXT TOPOLOGY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E/P/D</a:t>
            </a:r>
          </a:p>
        </p:txBody>
      </p:sp>
      <p:sp>
        <p:nvSpPr>
          <p:cNvPr id="19" name="TextBox 18"/>
          <p:cNvSpPr txBox="1"/>
          <p:nvPr/>
        </p:nvSpPr>
        <p:spPr>
          <a:xfrm>
            <a:off x="4471416"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Encode / Prefill / Decode</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Extend role-based serving</a:t>
            </a:r>
          </a:p>
          <a:p>
            <a:pPr>
              <a:spcBef>
                <a:spcPts val="0"/>
              </a:spcBef>
              <a:spcAft>
                <a:spcPts val="500"/>
              </a:spcAft>
              <a:defRPr sz="1700" b="0">
                <a:solidFill>
                  <a:srgbClr val="172941"/>
                </a:solidFill>
                <a:latin typeface="Arial"/>
              </a:defRPr>
            </a:pPr>
            <a:r>
              <a:t>to richer inference topologies.</a:t>
            </a:r>
          </a:p>
        </p:txBody>
      </p:sp>
      <p:sp>
        <p:nvSpPr>
          <p:cNvPr id="20" name="Rounded Rectangle 19"/>
          <p:cNvSpPr/>
          <p:nvPr/>
        </p:nvSpPr>
        <p:spPr>
          <a:xfrm>
            <a:off x="8074152"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AT LARGER SCALE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Larger-scale systems</a:t>
            </a:r>
          </a:p>
        </p:txBody>
      </p:sp>
      <p:sp>
        <p:nvSpPr>
          <p:cNvPr id="24" name="TextBox 23"/>
          <p:cNvSpPr txBox="1"/>
          <p:nvPr/>
        </p:nvSpPr>
        <p:spPr>
          <a:xfrm>
            <a:off x="8257031"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Wide Expert Parallelism</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Cross-node transport</a:t>
            </a:r>
          </a:p>
          <a:p>
            <a:pPr>
              <a:spcBef>
                <a:spcPts val="0"/>
              </a:spcBef>
              <a:spcAft>
                <a:spcPts val="500"/>
              </a:spcAft>
              <a:defRPr sz="1700" b="0">
                <a:solidFill>
                  <a:srgbClr val="172941"/>
                </a:solidFill>
                <a:latin typeface="Arial"/>
              </a:defRPr>
            </a:pPr>
            <a:r>
              <a:t>and communication</a:t>
            </a:r>
          </a:p>
          <a:p>
            <a:pPr>
              <a:spcBef>
                <a:spcPts val="0"/>
              </a:spcBef>
              <a:spcAft>
                <a:spcPts val="500"/>
              </a:spcAft>
              <a:defRPr sz="1700" b="0">
                <a:solidFill>
                  <a:srgbClr val="172941"/>
                </a:solidFill>
                <a:latin typeface="Arial"/>
              </a:defRPr>
            </a:pPr>
            <a:r>
              <a:t>optimization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08 / TAKEAWAYS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Three things to remember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capacity is the opportunity. Reconciled topology is the enabler.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53 / 54</a:t>
            </a:r>
          </a:p>
        </p:txBody>
      </p:sp>
      <p:sp>
        <p:nvSpPr>
          <p:cNvPr id="8" name="Rounded Rectangle 7"/>
          <p:cNvSpPr/>
          <p:nvPr/>
        </p:nvSpPr>
        <p:spPr>
          <a:xfrm>
            <a:off x="502920" y="2395728"/>
            <a:ext cx="5486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427732"/>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01</a:t>
            </a:r>
          </a:p>
        </p:txBody>
      </p:sp>
      <p:sp>
        <p:nvSpPr>
          <p:cNvPr id="10" name="TextBox 9"/>
          <p:cNvSpPr txBox="1"/>
          <p:nvPr/>
        </p:nvSpPr>
        <p:spPr>
          <a:xfrm>
            <a:off x="1298448" y="2249424"/>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087F8C"/>
                </a:solidFill>
                <a:latin typeface="Arial"/>
              </a:defRPr>
            </a:pPr>
            <a:r>
              <a:t>Split for a reason</a:t>
            </a:r>
          </a:p>
        </p:txBody>
      </p:sp>
      <p:sp>
        <p:nvSpPr>
          <p:cNvPr id="11" name="TextBox 10"/>
          <p:cNvSpPr txBox="1"/>
          <p:nvPr/>
        </p:nvSpPr>
        <p:spPr>
          <a:xfrm>
            <a:off x="5230368" y="2295144"/>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Prefill and decode have different bottlenecks.</a:t>
            </a:r>
          </a:p>
        </p:txBody>
      </p:sp>
      <p:sp>
        <p:nvSpPr>
          <p:cNvPr id="12" name="Rounded Rectangle 11"/>
          <p:cNvSpPr/>
          <p:nvPr/>
        </p:nvSpPr>
        <p:spPr>
          <a:xfrm>
            <a:off x="502920" y="3483863"/>
            <a:ext cx="5486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515868"/>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02</a:t>
            </a:r>
          </a:p>
        </p:txBody>
      </p:sp>
      <p:sp>
        <p:nvSpPr>
          <p:cNvPr id="14" name="TextBox 13"/>
          <p:cNvSpPr txBox="1"/>
          <p:nvPr/>
        </p:nvSpPr>
        <p:spPr>
          <a:xfrm>
            <a:off x="1298448" y="3337560"/>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2563EB"/>
                </a:solidFill>
                <a:latin typeface="Arial"/>
              </a:defRPr>
            </a:pPr>
            <a:r>
              <a:t>Declare the topology</a:t>
            </a:r>
          </a:p>
        </p:txBody>
      </p:sp>
      <p:sp>
        <p:nvSpPr>
          <p:cNvPr id="15" name="TextBox 14"/>
          <p:cNvSpPr txBox="1"/>
          <p:nvPr/>
        </p:nvSpPr>
        <p:spPr>
          <a:xfrm>
            <a:off x="5230368" y="3383279"/>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KAITO composes the resources; llm-d routes the work.</a:t>
            </a:r>
          </a:p>
        </p:txBody>
      </p:sp>
      <p:sp>
        <p:nvSpPr>
          <p:cNvPr id="16" name="Rounded Rectangle 15"/>
          <p:cNvSpPr/>
          <p:nvPr/>
        </p:nvSpPr>
        <p:spPr>
          <a:xfrm>
            <a:off x="502920" y="4572000"/>
            <a:ext cx="5486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604004"/>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03</a:t>
            </a:r>
          </a:p>
        </p:txBody>
      </p:sp>
      <p:sp>
        <p:nvSpPr>
          <p:cNvPr id="18" name="TextBox 17"/>
          <p:cNvSpPr txBox="1"/>
          <p:nvPr/>
        </p:nvSpPr>
        <p:spPr>
          <a:xfrm>
            <a:off x="1298448" y="4425696"/>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7354B8"/>
                </a:solidFill>
                <a:latin typeface="Arial"/>
              </a:defRPr>
            </a:pPr>
            <a:r>
              <a:t>Prove the tradeoff</a:t>
            </a:r>
          </a:p>
        </p:txBody>
      </p:sp>
      <p:sp>
        <p:nvSpPr>
          <p:cNvPr id="19" name="TextBox 18"/>
          <p:cNvSpPr txBox="1"/>
          <p:nvPr/>
        </p:nvSpPr>
        <p:spPr>
          <a:xfrm>
            <a:off x="5230368" y="4471416"/>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Use role-aware metrics and measure against a baseline.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08 / Q&amp;A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Questions? Start with your workload.</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54 / 54</a:t>
            </a:r>
          </a:p>
        </p:txBody>
      </p:sp>
      <p:sp>
        <p:nvSpPr>
          <p:cNvPr id="7" name="TextBox 6"/>
          <p:cNvSpPr txBox="1"/>
          <p:nvPr/>
        </p:nvSpPr>
        <p:spPr>
          <a:xfrm>
            <a:off x="502920" y="1618488"/>
            <a:ext cx="10789920" cy="960120"/>
          </a:xfrm>
          <a:prstGeom prst="rect">
            <a:avLst/>
          </a:prstGeom>
          <a:noFill/>
        </p:spPr>
        <p:txBody>
          <a:bodyPr wrap="square" lIns="13716" rIns="13716" tIns="13716" bIns="13716">
            <a:spAutoFit/>
          </a:bodyPr>
          <a:lstStyle/>
          <a:p>
            <a:pPr>
              <a:spcBef>
                <a:spcPts val="0"/>
              </a:spcBef>
              <a:spcAft>
                <a:spcPts val="500"/>
              </a:spcAft>
              <a:defRPr sz="2600" b="1">
                <a:solidFill>
                  <a:srgbClr val="FFFFFF"/>
                </a:solidFill>
                <a:latin typeface="Arial"/>
              </a:defRPr>
            </a:pPr>
            <a:r>
              <a:t>Which phase limits you today—</a:t>
            </a:r>
          </a:p>
          <a:p>
            <a:pPr>
              <a:spcBef>
                <a:spcPts val="0"/>
              </a:spcBef>
              <a:spcAft>
                <a:spcPts val="500"/>
              </a:spcAft>
              <a:defRPr sz="2600" b="1">
                <a:solidFill>
                  <a:srgbClr val="FFFFFF"/>
                </a:solidFill>
                <a:latin typeface="Arial"/>
              </a:defRPr>
            </a:pPr>
            <a:r>
              <a:t>prompt processing, token delivery, or the KV path?</a:t>
            </a:r>
          </a:p>
        </p:txBody>
      </p:sp>
      <p:sp>
        <p:nvSpPr>
          <p:cNvPr id="8" name="Rounded Rectangle 7"/>
          <p:cNvSpPr/>
          <p:nvPr/>
        </p:nvSpPr>
        <p:spPr>
          <a:xfrm>
            <a:off x="502920"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3090672"/>
            <a:ext cx="50292" cy="1097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Workload</a:t>
            </a:r>
          </a:p>
        </p:txBody>
      </p:sp>
      <p:sp>
        <p:nvSpPr>
          <p:cNvPr id="11" name="TextBox 10"/>
          <p:cNvSpPr txBox="1"/>
          <p:nvPr/>
        </p:nvSpPr>
        <p:spPr>
          <a:xfrm>
            <a:off x="649224"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output lengths</a:t>
            </a:r>
          </a:p>
        </p:txBody>
      </p:sp>
      <p:sp>
        <p:nvSpPr>
          <p:cNvPr id="12" name="Rounded Rectangle 11"/>
          <p:cNvSpPr/>
          <p:nvPr/>
        </p:nvSpPr>
        <p:spPr>
          <a:xfrm>
            <a:off x="4288536"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3090672"/>
            <a:ext cx="50292" cy="10972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Infrastructure</a:t>
            </a:r>
          </a:p>
        </p:txBody>
      </p:sp>
      <p:sp>
        <p:nvSpPr>
          <p:cNvPr id="15" name="TextBox 14"/>
          <p:cNvSpPr txBox="1"/>
          <p:nvPr/>
        </p:nvSpPr>
        <p:spPr>
          <a:xfrm>
            <a:off x="4434840"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GPU topology + fabric</a:t>
            </a:r>
          </a:p>
        </p:txBody>
      </p:sp>
      <p:sp>
        <p:nvSpPr>
          <p:cNvPr id="16" name="Rounded Rectangle 15"/>
          <p:cNvSpPr/>
          <p:nvPr/>
        </p:nvSpPr>
        <p:spPr>
          <a:xfrm>
            <a:off x="8074152"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3090672"/>
            <a:ext cx="50292" cy="10972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Operations</a:t>
            </a:r>
          </a:p>
        </p:txBody>
      </p:sp>
      <p:sp>
        <p:nvSpPr>
          <p:cNvPr id="19" name="TextBox 18"/>
          <p:cNvSpPr txBox="1"/>
          <p:nvPr/>
        </p:nvSpPr>
        <p:spPr>
          <a:xfrm>
            <a:off x="8220456"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SLO + scaling signals</a:t>
            </a:r>
          </a:p>
        </p:txBody>
      </p:sp>
      <p:sp>
        <p:nvSpPr>
          <p:cNvPr id="20" name="TextBox 19"/>
          <p:cNvSpPr txBox="1"/>
          <p:nvPr/>
        </p:nvSpPr>
        <p:spPr>
          <a:xfrm>
            <a:off x="502920" y="4809744"/>
            <a:ext cx="11155680" cy="329184"/>
          </a:xfrm>
          <a:prstGeom prst="rect">
            <a:avLst/>
          </a:prstGeom>
          <a:noFill/>
        </p:spPr>
        <p:txBody>
          <a:bodyPr wrap="square" lIns="13716" rIns="13716" tIns="13716" bIns="13716">
            <a:spAutoFit/>
          </a:bodyPr>
          <a:lstStyle/>
          <a:p>
            <a:pPr>
              <a:spcBef>
                <a:spcPts val="0"/>
              </a:spcBef>
              <a:spcAft>
                <a:spcPts val="500"/>
              </a:spcAft>
              <a:defRPr sz="1800" b="1">
                <a:solidFill>
                  <a:srgbClr val="AFC3DF"/>
                </a:solidFill>
                <a:latin typeface="Arial"/>
              </a:defRPr>
            </a:pPr>
            <a:r>
              <a:t>Continue with the implementation guides</a:t>
            </a:r>
          </a:p>
        </p:txBody>
      </p:sp>
      <p:sp>
        <p:nvSpPr>
          <p:cNvPr id="21" name="TextBox 20"/>
          <p:cNvSpPr txBox="1"/>
          <p:nvPr/>
        </p:nvSpPr>
        <p:spPr>
          <a:xfrm>
            <a:off x="502920" y="536752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2"/>
              </a:rPr>
              <a:t>KAITO: prefill/decode disaggregation</a:t>
            </a:r>
          </a:p>
        </p:txBody>
      </p:sp>
      <p:sp>
        <p:nvSpPr>
          <p:cNvPr id="22" name="TextBox 21"/>
          <p:cNvSpPr txBox="1"/>
          <p:nvPr/>
        </p:nvSpPr>
        <p:spPr>
          <a:xfrm>
            <a:off x="502920" y="577900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3"/>
              </a:rPr>
              <a:t>KAITO: KEDA autoscaling for InferenceSet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Prefill Here, Decode There</dc:title>
  <dc:subject>Kubernetes-native LLM inference disaggregation with KAITO and llm-d</dc:subject>
  <dc:creator>Andy Zhang</dc:creator>
  <cp:keywords>KubeCon, KAITO, llm-d, prefill, decode, editable diagrams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