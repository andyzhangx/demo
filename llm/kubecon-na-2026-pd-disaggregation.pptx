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Today we're looking at a simple idea: process the prompt here, and generate the answer there. KAITO and llm-d can make that split feel like a Kubernetes service rather than hand-wired components. The goal is independent capacity with a familiar operating model.</a:t>
            </a:r>
          </a:p>
          <a:p/>
          <a:p>
            <a:r>
              <a:t>REFERENCE NOTES (NOT SPOKEN)</a:t>
            </a:r>
          </a:p>
          <a:p/>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We'll follow four questions. Why separate prefill and decode? What makes that difficult to operate? How do KAITO and llm-d divide the work? And how do we decide whether the extra complexity pays off?</a:t>
            </a:r>
          </a:p>
          <a:p/>
          <a:p>
            <a:r>
              <a:t>REFERENCE NOTES (NOT SPOKEN)</a:t>
            </a:r>
          </a:p>
          <a:p/>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Let's start with what the model actually does. For this teaching example, we're treating each word and punctuation mark as a token. Prefill processes the five prompt positions with causal attention and builds their per-layer keys and values. The final prompt position predicts the first output token, 'Kubernetes.' Importantly, selecting that token doesn't put its keys and values in the cache yet. Those appear when the next step consumes it.</a:t>
            </a:r>
          </a:p>
          <a:p/>
          <a:p>
            <a:r>
              <a:t>REFERENCE NOTES (NOT SPOKEN)</a:t>
            </a:r>
          </a:p>
          <a:p/>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Exact prompt: What does Kubernetes do? Exact output: Kubernetes helps teams deploy and scale applications.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the complete word Kubernetes.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Now decode consumes 'Kubernetes,' reads the existing history, adds that consumed token's keys and values, and predicts 'helps.' Then it repeats. We're reusing old keys and values, not avoiding all attention work. On the client timeline, time to first token is the initial wait. Inter-token latency is each subsequent gap. Average time per output token summarizes those later intervals; it isn't the same thing as an individual gap or its percentile.</a:t>
            </a:r>
          </a:p>
          <a:p/>
          <a:p>
            <a:r>
              <a:t>REFERENCE NOTES (NOT SPOKEN)</a:t>
            </a:r>
          </a:p>
          <a:p/>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Continue slide 3. Exact output: Kubernetes helps teams deploy and scale applications. Prefill selected y1 = Kubernetes with only prompt KV cached. Decode step i consumes yi with cache for prompt plus y1 through y(i-1), appends per-layer K/V for yi, then selects y(i+1) from the new position logits. Six rows: Kubernetes -&gt; helps; helps -&gt; teams; teams -&gt; deploy; deploy -&gt; and; and -&gt; scale; scale -&gt; applications. After row 6, cached output positions are y1-y6 and y7 (applications) is selected but not consumed or cached. The omitted final step consumes y7 (applications) and selects y8 (period). If generation continues, consuming the period could select EOS; EOS is normally hidden and need not be consumed into KV on stopping. No EOS ID or actual model decision is asserted.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words under the one-word-per-token teaching assumption; the later word applications and punctuation are omitted. TTFT means time to first token: request submission to first received token, which is a whole word only in this schematic. Each ITL is the gap between successive received tokens. Five gaps are shown, not timing measurements; durations are not to scale. In real systems the first token need not be a complete word. Queueing, orchestration, transport, detokenization and stream buffering may change client-observed arrival grouping and latency. A real stream chunk may contain multiple tokens. Average time per output token is not each ITL sample or percentile. These phase semantics cover colocated and disaggregated serving and do not mandate a worker boundary; colocated serving needs no inter-worker KV transfer.</a:t>
            </a:r>
          </a:p>
          <a:p/>
          <a:p>
            <a:r>
              <a:t>Narrative source: kubecon-na-2026-pd-disaggregation.md</a:t>
            </a:r>
          </a:p>
          <a:p>
            <a:r>
              <a:t>References:</a:t>
            </a:r>
          </a:p>
          <a:p>
            <a:r>
              <a:t>https://huggingface.co/docs/transformers/en/cache_explanation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queues and delivery matter too. What we ultimately want is goodput: requests that meet both latency targets, not just a large aggregate token counter.</a:t>
            </a:r>
          </a:p>
          <a:p/>
          <a:p>
            <a:r>
              <a:t>REFERENCE NOTES (NOT SPOKEN)</a:t>
            </a:r>
          </a:p>
          <a:p/>
          <a:p>
            <a:r>
              <a:t>Primary mapping, not exclusive causation: prefill latency mainly shapes TTFT (time to first token), while decode mainly shapes ITL (inter-token latency) and per-request TPOT (average time per output token after the first). Lower latency is better at matched workload and quality. TTFT is not pure prefill compute: request queueing, routing, input processing/tokenization, scheduling, and delivery contribute; disaggregated serving can also add KV-transfer and coordination time on the first-token critical path, depending on the protocol. No worker ordering or first-token delivery worker is mandated.</a:t>
            </a:r>
          </a:p>
          <a:p/>
          <a:p>
            <a:r>
              <a:t>At a client measurement boundary, TTFT is request submission to receipt of the first output token. ITL describes gaps between successive output tokens in a one-token-per-event stream. The cited vLLM inter_token_latency_seconds histogram actually records consecutive streamed output events, which can contain multiple tokens; request_time_per_output_token_seconds records one TPOT sample per finished request. For Nout &gt; 1, TPOT = (end-to-end latency - TTFT)/(Nout - 1) at the source metric boundaries. ITL and TPOT distributions, means and percentiles are not interchangeable: multi-token events and different request/event weighting change them. With consistent client boundaries and TPOT measured from first to last received token, total response latency to the last token is approximately TTFT + (Nout - 1) × TPOT. This is not an exact claim about HTTP request-close time. For no more than one generated token, vLLM server records TPOT as zero whereas its benchmark excludes the request from TPOT statistics.</a:t>
            </a:r>
          </a:p>
          <a:p/>
          <a:p>
            <a:r>
              <a:t>vLLM frontend/engine timing is not identical to client timing: the documented frontend arrival_time starts at tokenization, and engine prefill time runs from the most recent SCHEDULED to first NEW_TOKENS. Client timing additionally observes network and delivery overhead. ITL/TPOT can include scheduling gaps, preemption, contention, detokenization, transport and stream buffering rather than only GPU decode compute. Colocated prefill bursts can stall existing decode streams; chunked prefill and scheduling can mitigate this.</a:t>
            </a:r>
          </a:p>
          <a:p/>
          <a:p>
            <a:r>
              <a:t>Supporting role metrics: prefill latency and input-token processing throughput (input tok/s); decode output-token throughput (output tok/s). State the aggregation scope, time window, prompt/output lengths and prefix-cache accounting. Aggregate output tok/s is across concurrent requests and is not the speed experienced by one request. After the first token, a single request has approximately 1/TPOT output tok/s at matching boundaries; larger decode batches may raise aggregate throughput while worsening per-request ITL/TPOT. Input and output tok/s measure different work and must not be compared as equivalent productivity.</a:t>
            </a:r>
          </a:p>
          <a:p/>
          <a:p>
            <a:r>
              <a:t>Both phases affect end-to-end latency and system capacity. SLO goodput here means requests/s meeting both TTFT and token-delivery latency targets, not all completed requests or raw token throughput. The word often qualifies compute-bound prefill and memory-bandwidth-bound decode: bottlenecks depend on model, batch size, context, hardware and scheduling. Prefill populates the KV cache; longer prompts also increase decode attention/KV cost. HBM KV occupancy is a resource-capacity pressure indicator, not memory bandwidth or a primary latency metric. Conceptual mapping only: no measured speedups or performance data.</a:t>
            </a:r>
          </a:p>
          <a:p/>
          <a:p>
            <a:r>
              <a:t>Narrative source: kubecon-na-2026-pd-disaggregation.md</a:t>
            </a:r>
          </a:p>
          <a:p>
            <a:r>
              <a:t>References:</a:t>
            </a:r>
          </a:p>
          <a:p>
            <a:r>
              <a:t>https://docs.vllm.ai/en/latest/design/metrics/</a:t>
            </a:r>
          </a:p>
          <a:p>
            <a:r>
              <a:t>https://docs.vllm.ai/en/latest/benchmarking/cli/#understanding-the-latency-metrics</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In aggregated serving, both phases share a GPU pool and scaling boundary. That's a reasonable starting point. But prompt bursts can compete with ongoing generation, and scaling adds both phases together. Even with good scheduling, capacity remains a coupled decision.</a:t>
            </a:r>
          </a:p>
          <a:p/>
          <a:p>
            <a:r>
              <a:t>REFERENCE NOTES (NOT SPOKEN)</a:t>
            </a:r>
          </a:p>
          <a:p/>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 A is an ongoing request and B is a new arrival. Each D block means a decode execution step for A; D isn't a token or a request name. On the shared GPU, B's prefill can interrupt A. Chunked prefill can reduce that pause. Separate workers remove that direct execution conflict, although B still needs a KV handoff and other latency sources remain.</a:t>
            </a:r>
          </a:p>
          <a:p/>
          <a:p>
            <a:r>
              <a:t>REFERENCE NOTES (NOT SPOKEN)</a:t>
            </a:r>
          </a:p>
          <a:p/>
          <a:p>
            <a:r>
              <a:t>Original author-created conceptual schedule, not a reproduced research figure, trace or benchmark. Source basis: NVIDIA Dynamo introduction, published 18 March 2025 (page metadata), and current disaggregated-serving overview, accessed 22 October 2026. A is one ongoing request; B is a different newly arriving request. Each purple A block represents some decode execution, not a measured token duration or count. The shared-GPU example chooses a simple non-chunked prefill scheduling interval to explain how prompt processing can delay ongoing decode. Real schedulers can chunk or interleave prefill, use decode-priority policies or mixed batches, and mitigate interference; not all colocated serving has a contiguous pause. Separate GPUs let A continue without executing B prefill on its decode GPU. Equally spaced symbols are for readability only, not a promise of constant ITL or a measured improvement. B still requires KV transfer before its own decode; that transfer and B decode are omitted from this schedule, not assumed free. Queueing, KV movement, memory contention, batching and shared infrastructure can still affect either stream. The split uses an additional worker in this structural sketch; it is not an equal-budget performance comparison. No latency numbers, speedup, throughput, model or GPU recommendation is inferred.</a:t>
            </a:r>
          </a:p>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batching opportunities are different too. Prefill can process many prompt positions together, while respecting causal attention. Ordinary decode advances one newest input position for each independent request. So decode finds parallelism across active sequences. More concurrency can improve aggregate efficiency, but it can also lengthen each iteration and consume more KV memory. The latency budget still matters.</a:t>
            </a:r>
          </a:p>
          <a:p/>
          <a:p>
            <a:r>
              <a:t>REFERENCE NOTES (NOT SPOKEN)</a:t>
            </a:r>
          </a:p>
          <a:p/>
          <a:p>
            <a:r>
              <a:t>Original author-created conceptual batching illustration, not measured curves or reproduced vendor artwork. Dated sources: NVIDIA Dynamo introduction, 18 March 2025; Anatomy of vLLM, article dated 5 September 2025 (published repository 8 September; analyzes an August 9 snapshot). Also current vLLM disaggregated-prefill and Dynamo disaggregated-serving documentation, accessed 22 October 2026. Prefill has many prompt input positions from one or more requests in a forward pass; their p/q labels are schematic positions, not words, actual tokenizer IDs or optimal batch counts. Causal attention still applies: parallel processing does not let a position attend to future positions. Uncached prompt positions may be split across multiple chunks/passes, and prefix reuse can skip cached positions. Ordinary autoregressive decode consumes one newest input position per active sequence, attends to the sequence’s previous KV history, appends that position’s per-layer KV, then selects the next output token. The consumed token is not the newly selected output token of that same step. Independent requests can share a decode batch, but generation remains sequential within each request. The diagram represents three independent sequences, not three successive tokens from one sequence. Speculative decoding and multi-token methods are outside this ordinary-decode illustration. vLLM V1 can mix decode with chunked prefill in one scheduled step, so these conceptual units do not mandate separate physical passes or workers. Longer prompts provide within-request parallel work for prefill; more active sequences provide cross-request decode batching. Larger decode batches can amortize work but increase iteration time, ITL and KV-memory demand; no monotonic throughput improvement, ideal batch size, fixed worker count or latency number is claimed. Both phases use memory and compute. Independent phase tuning may help but remains workload-dependent. P/D additionally requires KV transfer and coordination; see slide7 and slide9 for that tradeoff. This slide deliberately explains batching units, not the independent capacity allocation shown on slide9.</a:t>
            </a:r>
          </a:p>
          <a:p/>
          <a:p>
            <a:r>
              <a:t>Narrative source: kubecon-na-2026-pd-disaggregation.md</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This is the real motivation: two capacity decisions instead of one compromise. Prompt-heavy demand may need a different replica count or parallelism setting from generation-heavy demand. Those choices remain runtime-dependent. Separation is worthwhile only when the benefit exceeds KV transfer, duplicated model weights, and the extra work of operating two pools.</a:t>
            </a:r>
          </a:p>
          <a:p/>
          <a:p>
            <a:r>
              <a:t>REFERENCE NOTES (NOT SPOKEN)</a:t>
            </a:r>
          </a:p>
          <a:p/>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Here's the resulting shape: prefill and decode pools with a new boundary between them. Data moves from prefill memory to decode memory, even when decode initiates the read. Transfer and coordination must fit the service's latency and cost budgets.</a:t>
            </a:r>
          </a:p>
          <a:p/>
          <a:p>
            <a:r>
              <a:t>REFERENCE NOTES (NOT SPOKEN)</a:t>
            </a:r>
          </a:p>
          <a:p/>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Look for phases that want different shapes. Retrieval-heavy prompts create prefill pressure. Long answers and high concurrency keep decode busy with resident state. These are reasons to investigate, not automatic wins. Can independent capacity address a bottleneck we actually observe?</a:t>
            </a:r>
          </a:p>
          <a:p/>
          <a:p>
            <a:r>
              <a:t>REFERENCE NOTES (NOT SPOKEN)</a:t>
            </a:r>
          </a:p>
          <a:p/>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Sometimes the right answer is to stay aggregated. Small models, short prompts, and low concurrency often don't justify another transfer path and more failure boundaries. If the existing service meets its targets simply and predictably, splitting it because it's fashionable would be a step backward.</a:t>
            </a:r>
          </a:p>
          <a:p/>
          <a:p>
            <a:r>
              <a:t>REFERENCE NOTES (NOT SPOKEN)</a:t>
            </a:r>
          </a:p>
          <a:p/>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conceptual split is easy. The Kubernetes wiring is where the work expands. Endpoint selection, the decode proxy, transfer settings, labels, ports, and readiness all have to agree. Individually valid manifests can still form a broken service. That's the orchestration gap we're trying to close, rather than inventing another model execution engine.</a:t>
            </a:r>
          </a:p>
          <a:p/>
          <a:p>
            <a:r>
              <a:t>REFERENCE NOTES (NOT SPOKEN)</a:t>
            </a:r>
          </a:p>
          <a:p/>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There are already several credible approaches here. Dynamo offers an integrated stack; llm-d provides reusable routing components; KServe, AIBrix, Ray, and the vLLM Production Stack bring different packaging choices. Declarative APIs are not new. Our question is narrower: what's the cleanest way to bring this capability into KAITO's existing operating model?</a:t>
            </a:r>
          </a:p>
          <a:p/>
          <a:p>
            <a:r>
              <a:t>REFERENCE NOTES (NOT SPOKEN)</a:t>
            </a:r>
          </a:p>
          <a:p/>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KAITO's API model grows with the serving problem. Workspace runs a workload, InferenceSet manages serving replicas, InferencePool exposes routing-facing backends, and MultiRoleInference describes the composed topology. These are complementary capabilities, not a strict ownership chain. In particular, InferencePool comes from the Gateway API Inference Extension rather than being a KAITO-specific invention.</a:t>
            </a:r>
          </a:p>
          <a:p/>
          <a:p>
            <a:r>
              <a:t>REFERENCE NOTES (NOT SPOKEN)</a:t>
            </a:r>
          </a:p>
          <a:p/>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experience should stay recognizable as the system grows: declare intent, inspect status, and let controllers reconcile. Adding replicas or splitting roles shouldn't replace that mental model. Each resource retains a distinct responsibility while the platform handles more integration work.</a:t>
            </a:r>
          </a:p>
          <a:p/>
          <a:p>
            <a:r>
              <a:t>REFERENCE NOTES (NOT SPOKEN)</a:t>
            </a:r>
          </a:p>
          <a:p/>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Keep these responsibilities separate when debugging. KAITO reconciles resources and lifecycle. The llm-d endpoint picker participates in routing decisions, and its decode-side proxy coordinates the request. The runtime performs inference and transfers KV state. Knowing which layer owns a failure is much more useful than calling everything 'the serving stack.'</a:t>
            </a:r>
          </a:p>
          <a:p/>
          <a:p>
            <a:r>
              <a:t>REFERENCE NOTES (NOT SPOKEN)</a:t>
            </a:r>
          </a:p>
          <a:p/>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This composition uses familiar ecosystem pieces instead of hiding them inside a monolith. Gateway APIs expose traffic, llm-d routes, vLLM executes, NIXL connects KV transfer, and KEDA can scale an InferenceSet. KAITO reconciles the declared topology. These components still need compatible versions, and they aren't all installed or owned by one controller.</a:t>
            </a:r>
          </a:p>
          <a:p/>
          <a:p>
            <a:r>
              <a:t>REFERENCE NOTES (NOT SPOKEN)</a:t>
            </a:r>
          </a:p>
          <a:p/>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MultiRoleInference, or MRI, is the central declaration. It describes one logical service with separate prefill and decode InferenceSets. Each role can carry its own capacity and runtime settings. The controller supplies the connecting configuration. Independent replica settings are available here; an automatic service-level scaling policy is a separate topic we'll come to shortly.</a:t>
            </a:r>
          </a:p>
          <a:p/>
          <a:p>
            <a:r>
              <a:t>REFERENCE NOTES (NOT SPOKEN)</a:t>
            </a:r>
          </a:p>
          <a:p/>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Follow a request from the left. The Gateway consults the endpoint picker, then forwards to the selected decode proxy. That proxy invokes prefill and passes the returned transfer metadata to decode. KV data moves between the workers, and the token stream returns through the proxy and Gateway. KAITO reconciles this topology rather than sitting in the request path.</a:t>
            </a:r>
          </a:p>
          <a:p/>
          <a:p>
            <a:r>
              <a:t>REFERENCE NOTES (NOT SPOKEN)</a:t>
            </a:r>
          </a:p>
          <a:p/>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Here's the same service as a resource graph. MRI creates role-specific InferenceSets and a routing pool. InferenceSets reconcile Workspaces and their workloads. Routing configuration connects to the Gateway. We reduce hand-maintained glue while keeping generated resources available for inspection and troubleshooting.</a:t>
            </a:r>
          </a:p>
          <a:p/>
          <a:p>
            <a:r>
              <a:t>REFERENCE NOTES (NOT SPOKEN)</a:t>
            </a:r>
          </a:p>
          <a:p/>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sequence highlights an important distinction. Prefill returns metadata identifying remote KV state; decode then obtains the tensors and continues generation. Those are separate operations. The payload arrow shows data direction, not necessarily which side initiates transfer, and doesn't imply timing.</a:t>
            </a:r>
          </a:p>
          <a:p/>
          <a:p>
            <a:r>
              <a:t>REFERENCE NOTES (NOT SPOKEN)</a:t>
            </a:r>
          </a:p>
          <a:p/>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Think of this as a control path and a data path. The proxy exchanges HTTP requests and transfer metadata. The runtime moves the much larger KV tensors between memories. If requests route successfully but generation stalls, the data path still deserves investigation. A healthy control exchange doesn't prove that the KV transfer succeeded.</a:t>
            </a:r>
          </a:p>
          <a:p/>
          <a:p>
            <a:r>
              <a:t>REFERENCE NOTES (NOT SPOKEN)</a:t>
            </a:r>
          </a:p>
          <a:p/>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Inside the decode pod, the sidecar and vLLM have different jobs and different listeners. External inference traffic needs to reach the routing sidecar; local forwarding reaches the runtime. That sounds small, but a mismatched target port or probe can break the whole path. Use the generated manifests for the installed versions, not remembered example ports.</a:t>
            </a:r>
          </a:p>
          <a:p/>
          <a:p>
            <a:r>
              <a:t>REFERENCE NOTES (NOT SPOKEN)</a:t>
            </a:r>
          </a:p>
          <a:p/>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abstraction removes assembly, not visibility. Instead of pairing deployments, labels, services, and sidecars by hand, we declare roles and inspect generated objects. Operators still own observability and failure testing. The win is reproducibility and fewer opportunities for configuration drift.</a:t>
            </a:r>
          </a:p>
          <a:p/>
          <a:p>
            <a:r>
              <a:t>REFERENCE NOTES (NOT SPOKEN)</a:t>
            </a:r>
          </a:p>
          <a:p/>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Once the roles are separate, scaling should reflect their different pressures. A useful starting signal for prefill is waiting requests. For decode, it's running requests. These are native vLLM gauges, but they need role-scoped interpretation. This is a recommended control pattern, not a claim that MRI automatically supplies these policies today.</a:t>
            </a:r>
          </a:p>
          <a:p/>
          <a:p>
            <a:r>
              <a:t>REFERENCE NOTES (NOT SPOKEN)</a:t>
            </a:r>
          </a:p>
          <a:p/>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What exists today is the KEDA-to-InferenceSet scaling path. Documented examples use scheduled triggers or Prometheus queries, including the waiting-request metric. KEDA and HPA act on the InferenceSet scale API, and KAITO reconciles the resulting capacity. KEDA is a separate installation; this existing mechanism doesn't by itself define an MRI-wide policy.</a:t>
            </a:r>
          </a:p>
          <a:p/>
          <a:p>
            <a:r>
              <a:t>REFERENCE NOTES (NOT SPOKEN)</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proposed pattern has two independent loops: prefill load drives prefill capacity, and decode load drives decode capacity. One ScaledObject per target is one implementation. Each loop needs stabilization, warm-up awareness, safe scale-down, and one authoritative replica-count writer.</a:t>
            </a:r>
          </a:p>
          <a:p/>
          <a:p>
            <a:r>
              <a:t>REFERENCE NOTES (NOT SPOKEN)</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At the service level, we care about both the initial wait and the delivery pace. At the capacity level, we make separate decisions for each role. And we scale a complete serving replica, not an arbitrary tensor-parallel worker. This diagram describes the policy boundary; automatic projection of service intent is still design work.</a:t>
            </a:r>
          </a:p>
          <a:p/>
          <a:p>
            <a:r>
              <a:t>REFERENCE NOTES (NOT SPOKEN)</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Routing and scaling solve different problems. Routing chooses among the capacity we have; scaling changes how much model-ready capacity exists. Each role needs correctly scoped metrics and its own decision loop. Count a new replica only when it can serve, and avoid counting the same engine multiple times through different worker series.</a:t>
            </a:r>
          </a:p>
          <a:p/>
          <a:p>
            <a:r>
              <a:t>REFERENCE NOTES (NOT SPOKEN)</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 are illustrative thresholds, not production recommendations. Prefill scales up above eight waiting requests and down below one. Decode uses running requests, above twenty-four or below four. Values between or equal to those thresholds hold. Validate per-replica aggregation first: engine queues don't include requests still waiting upstream, and missing data must never quietly become zero load.</a:t>
            </a:r>
          </a:p>
          <a:p/>
          <a:p>
            <a:r>
              <a:t>REFERENCE NOTES (NOT SPOKEN)</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policies differ, but their safety contract should match: fresh data, readiness, bounds, stabilization, and protection for in-flight work. The replica ranges are examples. Tune each role against its own workload and objective rather than copying these numbers into production.</a:t>
            </a:r>
          </a:p>
          <a:p/>
          <a:p>
            <a:r>
              <a:t>REFERENCE NOTES (NOT SPOKEN)</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most important safeguards aren't clever formulas. Choose one replica-count writer, make ownership handoff explicit, and verify the real metrics. When data is missing or invalid, the intended behavior is to hold and report the problem. Test that behavior end to end, especially during partial scrape failures, model loading, and scale-down.</a:t>
            </a:r>
          </a:p>
          <a:p/>
          <a:p>
            <a:r>
              <a:t>REFERENCE NOTES (NOT SPOKEN)</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Derived signals add useful context. Maximum KV occupancy can inform a downscale guard, but it isn't demand or available request capacity. Histogram rates can describe latency tails, and token-counter rates show throughput. Start by observing these signals. Promoting them into control inputs requires tested semantics, correct aggregation, and a reliable query or adapter path.</a:t>
            </a:r>
          </a:p>
          <a:p/>
          <a:p>
            <a:r>
              <a:t>REFERENCE NOTES (NOT SPOKEN)</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Here's a concrete integration proposal, not a feature enabled by adding annotations today. A new MRI adapter would validate role policies and project allowed annotations onto each child InferenceSet's metadata. The scaler could then create the corresponding ScaledObject. That needs explicit child opt-in and ownership handling; putting annotations in workload templates isn't sufficient.</a:t>
            </a:r>
          </a:p>
          <a:p/>
          <a:p>
            <a:r>
              <a:t>REFERENCE NOTES (NOT SPOKEN)</a:t>
            </a:r>
          </a:p>
          <a:p/>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In this proposed example, prefill and decode carry separate policies. If waiting requests reach twelve while running requests are twelve, prefill requests more capacity and decode holds. Later, decode can scale independently. Null replicas releases MRI's fixed-replica enforcement; it doesn't create an autoscaler. Readiness, cooldown, bounds, and full metric coverage still govern the actual changes.</a:t>
            </a:r>
          </a:p>
          <a:p/>
          <a:p>
            <a:r>
              <a:t>REFERENCE NOTES (NOT SPOKEN)</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Now we need to prove that the topology helps. Compare aggregated and disaggregated serving with the same model, traffic, SLO, and stated GPU or cost budget. Record versions, placement, fabric, warm-up, and duration. This is our local evaluation plan, not a results slide. Without those controls, a bigger deployment can masquerade as a better architecture.</a:t>
            </a:r>
          </a:p>
          <a:p/>
          <a:p>
            <a:r>
              <a:t>REFERENCE NOTES (NOT SPOKEN)</a:t>
            </a:r>
          </a:p>
          <a:p/>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For first-token latency, look beyond the median. Under matched prompt-heavy load, do the tails improve once transfer overhead is included? These cells are intentionally unmeasured. An honest scorecard is more useful than a percentage borrowed from a different model or system.</a:t>
            </a:r>
          </a:p>
          <a:p/>
          <a:p>
            <a:r>
              <a:t>REFERENCE NOTES (NOT SPOKEN)</a:t>
            </a:r>
          </a:p>
          <a:p/>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Record output tokens, requests meeting the latency targets, and total cost of useful output. High GPU utilization alone isn't success: busy GPUs can still leave users waiting. Include both role pools and supporting infrastructure in the comparison.</a:t>
            </a:r>
          </a:p>
          <a:p/>
          <a:p>
            <a:r>
              <a:t>REFERENCE NOTES (NOT SPOKEN)</a:t>
            </a:r>
          </a:p>
          <a:p/>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This map helps choose experiments, not predict results. Short prompts and short answers suggest starting aggregated. Longer prompts invite a prefill-isolation test; longer answers invite a decode-pressure test. When both are long, P/D becomes an interesting candidate. Concurrency, the model, and transfer cost can still change the answer in every cell.</a:t>
            </a:r>
          </a:p>
          <a:p/>
          <a:p>
            <a:r>
              <a:t>REFERENCE NOTES (NOT SPOKEN)</a:t>
            </a:r>
          </a:p>
          <a:p/>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Here's an external result from AMD and Embedded LLM, published on the vLLM blog using MORI-IO, not KAITO or llm-d. Qwen runs on eight MI300X GPUs with fixed two-thousand-token inputs and one-thousand-token outputs. At eight offered requests per second, median TTFT rises from about 228 to 645 milliseconds, and p95 also worsens. In this setup, separation doesn't win on first-token latency. There was no prompt-length sweep to support a different claim.</a:t>
            </a:r>
          </a:p>
          <a:p/>
          <a:p>
            <a:r>
              <a:t>REFERENCE NOTES (NOT SPOKEN)</a:t>
            </a:r>
          </a:p>
          <a:p/>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same external study tells a different story about the joint SLO. Using the pinned hundred-request arrays, passes rise from twenty-nine to seventy-three percent at this load. The criterion combines TTFT within one second with the source's per-request ITL value within fifty milliseconds. Better streaming behavior can outweigh slower first tokens. This is SLO attainment, not a measurement of absolute tokens per second.</a:t>
            </a:r>
          </a:p>
          <a:p/>
          <a:p>
            <a:r>
              <a:t>REFERENCE NOTES (NOT SPOKEN)</a:t>
            </a:r>
          </a:p>
          <a:p/>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Both configurations used all eight GPUs. Dividing the passing requests by that equal budget gives a normalized ratio of about 2.52. That's a useful, comparison-specific efficiency proxy from the same trace, not another independent experiment. It doesn't measure sustained capacity or GPU utilization, and it certainly doesn't show that we can remove GPUs while preserving the result.</a:t>
            </a:r>
          </a:p>
          <a:p/>
          <a:p>
            <a:r>
              <a:t>REFERENCE NOTES (NOT SPOKEN)</a:t>
            </a:r>
          </a:p>
          <a:p/>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first operational lesson is to treat KV transfer as a real dependency. Measure its duration, errors, and retries independently of API health. Validate placement and transport settings, and compare same-node with cross-node behavior. What matters is the actual payload path under contention and failure, not simply whether two pods can exchange HTTP requests.</a:t>
            </a:r>
          </a:p>
          <a:p/>
          <a:p>
            <a:r>
              <a:t>REFERENCE NOTES (NOT SPOKEN)</a:t>
            </a:r>
          </a:p>
          <a:p/>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Second, readiness is a chain of contracts. The model must be loaded, the proxy must reach the correct backend, and routing must select only eligible endpoints. A Running pod doesn't establish any of that by itself. Test startup, replacement, partial failure, and rollout, when those contracts are most likely to disagree.</a:t>
            </a:r>
          </a:p>
          <a:p/>
          <a:p>
            <a:r>
              <a:t>REFERENCE NOTES (NOT SPOKEN)</a:t>
            </a:r>
          </a:p>
          <a:p/>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Keep the dashboard unified but interpretation role-specific. Prefill queues reveal prompt pressure; running decode requests reveal generation load. KV usage adds context for safe scale-down. Watch warm-up, oscillation, and the end-to-end SLO so that a locally sensible decision doesn't harm the service.</a:t>
            </a:r>
          </a:p>
          <a:p/>
          <a:p>
            <a:r>
              <a:t>REFERENCE NOTES (NOT SPOKEN)</a:t>
            </a:r>
          </a:p>
          <a:p/>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Pass four gates before adopting P/D. Does the workload benefit from separation? Does transfer fit the budget? Can the team operate both roles? And does a controlled comparison show better useful service at acceptable cost? A benchmark doesn't answer every operational question, and a clean API doesn't prove performance.</a:t>
            </a:r>
          </a:p>
          <a:p/>
          <a:p>
            <a:r>
              <a:t>REFERENCE NOTES (NOT SPOKEN)</a:t>
            </a:r>
          </a:p>
          <a:p/>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The strongest candidate is the top right: genuinely different capacity needs and a transfer path that's fast enough. If transfer is expensive, improve the topology before adding scale. If the roles want similar resources, even excellent networking may not justify separation. Fast fabric makes a split possible; it doesn't create the reason to split.</a:t>
            </a:r>
          </a:p>
          <a:p/>
          <a:p>
            <a:r>
              <a:t>REFERENCE NOTES (NOT SPOKEN)</a:t>
            </a:r>
          </a:p>
          <a:p/>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Apply the matrix to real workloads. Small, lightly loaded services can stay simple. Divergent bottlenecks with reliable transfer deserve a benchmark. Transfer-limited services need locality or transport work first. Start with a manageable topology, measure client latency and total cost, and retain the aggregated baseline.</a:t>
            </a:r>
          </a:p>
          <a:p/>
          <a:p>
            <a:r>
              <a:t>REFERENCE NOTES (NOT SPOKEN)</a:t>
            </a:r>
          </a:p>
          <a:p/>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Keep adoption reversible. Establish the aggregated baseline, separate roles, validate routing and KV movement, then tune capacity at fixed cost. Add autoscaling after the signals are trustworthy. Changing topology, parallelism, transport, and scaling together makes improvements and regressions harder to explain.</a:t>
            </a:r>
          </a:p>
          <a:p/>
          <a:p>
            <a:r>
              <a:t>REFERENCE NOTES (NOT SPOKEN)</a:t>
            </a:r>
          </a:p>
          <a:p/>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For a demo, follow one service through its MRI declaration, reconciled children, and a request using both roles. That connects intent to execution. Scaling is an optional follow-up with a verified policy; the proposed annotation example isn't something to apply unchanged and expect to work.</a:t>
            </a:r>
          </a:p>
          <a:p/>
          <a:p>
            <a:r>
              <a:t>REFERENCE NOTES (NOT SPOKEN)</a:t>
            </a:r>
          </a:p>
          <a:p/>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Next, we want less repetitive scaling configuration, better connections between request latency and role-level signals, and a consistent API for richer topologies. These are recommended directions, not release commitments. The objective is less operational guesswork without hiding important system boundaries.</a:t>
            </a:r>
          </a:p>
          <a:p/>
          <a:p>
            <a:r>
              <a:t>REFERENCE NOTES (NOT SPOKEN)</a:t>
            </a:r>
          </a:p>
          <a:p/>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Looking further ahead, integration directions include KV-event-driven prefix-cache routing, cache tiers across GPU and CPU memory with optional filesystem storage, and encode-prefill-decode layouts. Larger systems also bring expert parallelism and cross-node communication challenges. These aren't claims that upstream features are all new; the work is integrating them cleanly into KAITO's supported operating model.</a:t>
            </a:r>
          </a:p>
          <a:p/>
          <a:p>
            <a:r>
              <a:t>REFERENCE NOTES (NOT SPOKEN)</a:t>
            </a:r>
          </a:p>
          <a:p/>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Remember three things. Split because the phases need different capacity. Declare the topology so KAITO composes resources while llm-d routes. And prove the tradeoff with role-aware signals and a fair baseline. Independent capacity is the opportunity; reliable orchestration makes it usable.</a:t>
            </a:r>
          </a:p>
          <a:p/>
          <a:p>
            <a:r>
              <a:t>REFERENCE NOTES (NOT SPOKEN)</a:t>
            </a:r>
          </a:p>
          <a:p/>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p>
            <a:r>
              <a:t>Thanks. What's limiting your workload: prompt processing, token delivery, or KV movement? Prompt and output lengths, GPU topology, and latency targets shape the answer. The linked KAITO guides cover disaggregation and the existing InferenceSet autoscaling path if you'd like to go deeper.</a:t>
            </a:r>
          </a:p>
          <a:p/>
          <a:p>
            <a:r>
              <a:t>REFERENCE NOTES (NOT SPOKEN)</a:t>
            </a:r>
          </a:p>
          <a:p/>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Prompt: “What does Kubernetes do?”</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caches the prompt, then selects “Kubernetes”. Its K/V is not cached until it is consumed.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5603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Teaching example  /  One word per token</a:t>
            </a:r>
          </a:p>
        </p:txBody>
      </p:sp>
      <p:sp>
        <p:nvSpPr>
          <p:cNvPr id="11" name="Rounded Rectangle 10"/>
          <p:cNvSpPr/>
          <p:nvPr/>
        </p:nvSpPr>
        <p:spPr>
          <a:xfrm>
            <a:off x="594360"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What</a:t>
            </a:r>
          </a:p>
        </p:txBody>
      </p:sp>
      <p:sp>
        <p:nvSpPr>
          <p:cNvPr id="13" name="Rounded Rectangle 12"/>
          <p:cNvSpPr/>
          <p:nvPr/>
        </p:nvSpPr>
        <p:spPr>
          <a:xfrm>
            <a:off x="2798064"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1216"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does</a:t>
            </a:r>
          </a:p>
        </p:txBody>
      </p:sp>
      <p:sp>
        <p:nvSpPr>
          <p:cNvPr id="15" name="Rounded Rectangle 14"/>
          <p:cNvSpPr/>
          <p:nvPr/>
        </p:nvSpPr>
        <p:spPr>
          <a:xfrm>
            <a:off x="5001768"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Kubernetes</a:t>
            </a:r>
          </a:p>
        </p:txBody>
      </p:sp>
      <p:sp>
        <p:nvSpPr>
          <p:cNvPr id="17" name="Rounded Rectangle 16"/>
          <p:cNvSpPr/>
          <p:nvPr/>
        </p:nvSpPr>
        <p:spPr>
          <a:xfrm>
            <a:off x="7205472"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78624"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a:t>
            </a:r>
          </a:p>
        </p:txBody>
      </p:sp>
      <p:sp>
        <p:nvSpPr>
          <p:cNvPr id="19" name="Rounded Rectangle 18"/>
          <p:cNvSpPr/>
          <p:nvPr/>
        </p:nvSpPr>
        <p:spPr>
          <a:xfrm>
            <a:off x="9409176"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82328"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a:t>
            </a:r>
          </a:p>
        </p:txBody>
      </p:sp>
      <p:sp>
        <p:nvSpPr>
          <p:cNvPr id="21" name="TextBox 20"/>
          <p:cNvSpPr txBox="1"/>
          <p:nvPr/>
        </p:nvSpPr>
        <p:spPr>
          <a:xfrm>
            <a:off x="594360" y="3236976"/>
            <a:ext cx="10991088" cy="29260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Process the prompt positions together, with attention only to earlier or current positions.</a:t>
            </a:r>
          </a:p>
        </p:txBody>
      </p:sp>
      <p:sp>
        <p:nvSpPr>
          <p:cNvPr id="22" name="Rounded Rectangle 21"/>
          <p:cNvSpPr/>
          <p:nvPr/>
        </p:nvSpPr>
        <p:spPr>
          <a:xfrm>
            <a:off x="594360" y="3813048"/>
            <a:ext cx="2743200"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3904487"/>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931920"/>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5 prompt positions</a:t>
            </a:r>
          </a:p>
        </p:txBody>
      </p:sp>
      <p:sp>
        <p:nvSpPr>
          <p:cNvPr id="25" name="TextBox 24"/>
          <p:cNvSpPr txBox="1"/>
          <p:nvPr/>
        </p:nvSpPr>
        <p:spPr>
          <a:xfrm>
            <a:off x="740664" y="4370831"/>
            <a:ext cx="2450592"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4 words + punctuation</a:t>
            </a:r>
          </a:p>
        </p:txBody>
      </p:sp>
      <p:sp>
        <p:nvSpPr>
          <p:cNvPr id="26" name="Rounded Rectangle 25"/>
          <p:cNvSpPr/>
          <p:nvPr/>
        </p:nvSpPr>
        <p:spPr>
          <a:xfrm>
            <a:off x="3794760" y="3813048"/>
            <a:ext cx="380390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94760" y="3904487"/>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1920" y="3931920"/>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Causal prefill</a:t>
            </a:r>
          </a:p>
        </p:txBody>
      </p:sp>
      <p:sp>
        <p:nvSpPr>
          <p:cNvPr id="29" name="TextBox 28"/>
          <p:cNvSpPr txBox="1"/>
          <p:nvPr/>
        </p:nvSpPr>
        <p:spPr>
          <a:xfrm>
            <a:off x="3941064" y="4370831"/>
            <a:ext cx="351129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30" name="Rounded Rectangle 29"/>
          <p:cNvSpPr/>
          <p:nvPr/>
        </p:nvSpPr>
        <p:spPr>
          <a:xfrm>
            <a:off x="8229600" y="3813048"/>
            <a:ext cx="335584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3904487"/>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931920"/>
            <a:ext cx="3081528"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Select “Kubernetes”</a:t>
            </a:r>
          </a:p>
        </p:txBody>
      </p:sp>
      <p:sp>
        <p:nvSpPr>
          <p:cNvPr id="33" name="TextBox 32"/>
          <p:cNvSpPr txBox="1"/>
          <p:nvPr/>
        </p:nvSpPr>
        <p:spPr>
          <a:xfrm>
            <a:off x="8375904" y="4370831"/>
            <a:ext cx="306324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Final prompt-position logits</a:t>
            </a:r>
          </a:p>
        </p:txBody>
      </p:sp>
      <p:cxnSp>
        <p:nvCxnSpPr>
          <p:cNvPr id="34" name="Connector 33"/>
          <p:cNvCxnSpPr/>
          <p:nvPr/>
        </p:nvCxnSpPr>
        <p:spPr>
          <a:xfrm>
            <a:off x="3337560" y="4361688"/>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98664" y="4361688"/>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96712" y="4928616"/>
            <a:ext cx="0" cy="173736"/>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94360" y="5120640"/>
            <a:ext cx="10991088"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193792"/>
            <a:ext cx="10625328" cy="26517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Prompt KV = per-layer attention keys + values for the 5 processed prompt positions.</a:t>
            </a:r>
          </a:p>
        </p:txBody>
      </p:sp>
      <p:sp>
        <p:nvSpPr>
          <p:cNvPr id="39" name="TextBox 38"/>
          <p:cNvSpPr txBox="1"/>
          <p:nvPr/>
        </p:nvSpPr>
        <p:spPr>
          <a:xfrm>
            <a:off x="594360" y="5596128"/>
            <a:ext cx="10991088" cy="201168"/>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output: “Kubernetes helps teams deploy and scale applications.”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TextBox 9"/>
          <p:cNvSpPr txBox="1"/>
          <p:nvPr/>
        </p:nvSpPr>
        <p:spPr>
          <a:xfrm>
            <a:off x="594360" y="1920240"/>
            <a:ext cx="10991088" cy="219456"/>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
        <p:nvSpPr>
          <p:cNvPr id="11" name="Rectangle 10"/>
          <p:cNvSpPr/>
          <p:nvPr/>
        </p:nvSpPr>
        <p:spPr>
          <a:xfrm>
            <a:off x="594360" y="2221992"/>
            <a:ext cx="667512"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67712"/>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3" name="Rectangle 12"/>
          <p:cNvSpPr/>
          <p:nvPr/>
        </p:nvSpPr>
        <p:spPr>
          <a:xfrm>
            <a:off x="1280160" y="2221992"/>
            <a:ext cx="283464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53312" y="2267712"/>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5" name="Rectangle 14"/>
          <p:cNvSpPr/>
          <p:nvPr/>
        </p:nvSpPr>
        <p:spPr>
          <a:xfrm>
            <a:off x="4160520" y="2221992"/>
            <a:ext cx="3675887"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3672" y="2267712"/>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7" name="Rectangle 16"/>
          <p:cNvSpPr/>
          <p:nvPr/>
        </p:nvSpPr>
        <p:spPr>
          <a:xfrm>
            <a:off x="7882127" y="2221992"/>
            <a:ext cx="370332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2267712"/>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9" name="Rectangle 18"/>
          <p:cNvSpPr/>
          <p:nvPr/>
        </p:nvSpPr>
        <p:spPr>
          <a:xfrm>
            <a:off x="594360" y="2587752"/>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61975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1</a:t>
            </a:r>
          </a:p>
        </p:txBody>
      </p:sp>
      <p:sp>
        <p:nvSpPr>
          <p:cNvPr id="21" name="TextBox 20"/>
          <p:cNvSpPr txBox="1"/>
          <p:nvPr/>
        </p:nvSpPr>
        <p:spPr>
          <a:xfrm>
            <a:off x="1362456" y="261975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Kubernetes</a:t>
            </a:r>
          </a:p>
        </p:txBody>
      </p:sp>
      <p:sp>
        <p:nvSpPr>
          <p:cNvPr id="22" name="TextBox 21"/>
          <p:cNvSpPr txBox="1"/>
          <p:nvPr/>
        </p:nvSpPr>
        <p:spPr>
          <a:xfrm>
            <a:off x="4242816" y="261975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“Kubernetes”</a:t>
            </a:r>
          </a:p>
        </p:txBody>
      </p:sp>
      <p:sp>
        <p:nvSpPr>
          <p:cNvPr id="23" name="TextBox 22"/>
          <p:cNvSpPr txBox="1"/>
          <p:nvPr/>
        </p:nvSpPr>
        <p:spPr>
          <a:xfrm>
            <a:off x="7964424" y="261975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4" name="Rectangle 23"/>
          <p:cNvSpPr/>
          <p:nvPr/>
        </p:nvSpPr>
        <p:spPr>
          <a:xfrm>
            <a:off x="594360" y="2880360"/>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912364"/>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2</a:t>
            </a:r>
          </a:p>
        </p:txBody>
      </p:sp>
      <p:sp>
        <p:nvSpPr>
          <p:cNvPr id="26" name="TextBox 25"/>
          <p:cNvSpPr txBox="1"/>
          <p:nvPr/>
        </p:nvSpPr>
        <p:spPr>
          <a:xfrm>
            <a:off x="1362456" y="2912364"/>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7" name="TextBox 26"/>
          <p:cNvSpPr txBox="1"/>
          <p:nvPr/>
        </p:nvSpPr>
        <p:spPr>
          <a:xfrm>
            <a:off x="4242816" y="2912364"/>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“helps”</a:t>
            </a:r>
          </a:p>
        </p:txBody>
      </p:sp>
      <p:sp>
        <p:nvSpPr>
          <p:cNvPr id="28" name="TextBox 27"/>
          <p:cNvSpPr txBox="1"/>
          <p:nvPr/>
        </p:nvSpPr>
        <p:spPr>
          <a:xfrm>
            <a:off x="7964424" y="2912364"/>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29" name="Rectangle 28"/>
          <p:cNvSpPr/>
          <p:nvPr/>
        </p:nvSpPr>
        <p:spPr>
          <a:xfrm>
            <a:off x="594360" y="3172968"/>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204972"/>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3</a:t>
            </a:r>
          </a:p>
        </p:txBody>
      </p:sp>
      <p:sp>
        <p:nvSpPr>
          <p:cNvPr id="31" name="TextBox 30"/>
          <p:cNvSpPr txBox="1"/>
          <p:nvPr/>
        </p:nvSpPr>
        <p:spPr>
          <a:xfrm>
            <a:off x="1362456" y="3204972"/>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32" name="TextBox 31"/>
          <p:cNvSpPr txBox="1"/>
          <p:nvPr/>
        </p:nvSpPr>
        <p:spPr>
          <a:xfrm>
            <a:off x="4242816" y="3204972"/>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“teams”</a:t>
            </a:r>
          </a:p>
        </p:txBody>
      </p:sp>
      <p:sp>
        <p:nvSpPr>
          <p:cNvPr id="33" name="TextBox 32"/>
          <p:cNvSpPr txBox="1"/>
          <p:nvPr/>
        </p:nvSpPr>
        <p:spPr>
          <a:xfrm>
            <a:off x="7964424" y="3204972"/>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4" name="Rectangle 33"/>
          <p:cNvSpPr/>
          <p:nvPr/>
        </p:nvSpPr>
        <p:spPr>
          <a:xfrm>
            <a:off x="594360" y="3465576"/>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3497580"/>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4</a:t>
            </a:r>
          </a:p>
        </p:txBody>
      </p:sp>
      <p:sp>
        <p:nvSpPr>
          <p:cNvPr id="36" name="TextBox 35"/>
          <p:cNvSpPr txBox="1"/>
          <p:nvPr/>
        </p:nvSpPr>
        <p:spPr>
          <a:xfrm>
            <a:off x="1362456" y="3497580"/>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7" name="TextBox 36"/>
          <p:cNvSpPr txBox="1"/>
          <p:nvPr/>
        </p:nvSpPr>
        <p:spPr>
          <a:xfrm>
            <a:off x="4242816" y="3497580"/>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“deploy”</a:t>
            </a:r>
          </a:p>
        </p:txBody>
      </p:sp>
      <p:sp>
        <p:nvSpPr>
          <p:cNvPr id="38" name="TextBox 37"/>
          <p:cNvSpPr txBox="1"/>
          <p:nvPr/>
        </p:nvSpPr>
        <p:spPr>
          <a:xfrm>
            <a:off x="7964424" y="3497580"/>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39" name="Rectangle 38"/>
          <p:cNvSpPr/>
          <p:nvPr/>
        </p:nvSpPr>
        <p:spPr>
          <a:xfrm>
            <a:off x="594360" y="3758184"/>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3790188"/>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5</a:t>
            </a:r>
          </a:p>
        </p:txBody>
      </p:sp>
      <p:sp>
        <p:nvSpPr>
          <p:cNvPr id="41" name="TextBox 40"/>
          <p:cNvSpPr txBox="1"/>
          <p:nvPr/>
        </p:nvSpPr>
        <p:spPr>
          <a:xfrm>
            <a:off x="1362456" y="3790188"/>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42" name="TextBox 41"/>
          <p:cNvSpPr txBox="1"/>
          <p:nvPr/>
        </p:nvSpPr>
        <p:spPr>
          <a:xfrm>
            <a:off x="4242816" y="3790188"/>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“and”</a:t>
            </a:r>
          </a:p>
        </p:txBody>
      </p:sp>
      <p:sp>
        <p:nvSpPr>
          <p:cNvPr id="43" name="TextBox 42"/>
          <p:cNvSpPr txBox="1"/>
          <p:nvPr/>
        </p:nvSpPr>
        <p:spPr>
          <a:xfrm>
            <a:off x="7964424" y="3790188"/>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4" name="Rectangle 43"/>
          <p:cNvSpPr/>
          <p:nvPr/>
        </p:nvSpPr>
        <p:spPr>
          <a:xfrm>
            <a:off x="594360" y="4050791"/>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08279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6</a:t>
            </a:r>
          </a:p>
        </p:txBody>
      </p:sp>
      <p:sp>
        <p:nvSpPr>
          <p:cNvPr id="46" name="TextBox 45"/>
          <p:cNvSpPr txBox="1"/>
          <p:nvPr/>
        </p:nvSpPr>
        <p:spPr>
          <a:xfrm>
            <a:off x="1362456" y="408279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7" name="TextBox 46"/>
          <p:cNvSpPr txBox="1"/>
          <p:nvPr/>
        </p:nvSpPr>
        <p:spPr>
          <a:xfrm>
            <a:off x="4242816" y="408279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“scale”</a:t>
            </a:r>
          </a:p>
        </p:txBody>
      </p:sp>
      <p:sp>
        <p:nvSpPr>
          <p:cNvPr id="48" name="TextBox 47"/>
          <p:cNvSpPr txBox="1"/>
          <p:nvPr/>
        </p:nvSpPr>
        <p:spPr>
          <a:xfrm>
            <a:off x="7964424" y="408279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applications</a:t>
            </a:r>
          </a:p>
        </p:txBody>
      </p:sp>
      <p:sp>
        <p:nvSpPr>
          <p:cNvPr id="49" name="TextBox 48"/>
          <p:cNvSpPr txBox="1"/>
          <p:nvPr/>
        </p:nvSpPr>
        <p:spPr>
          <a:xfrm>
            <a:off x="594360" y="4425696"/>
            <a:ext cx="10991088" cy="22860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Repeat until the answer is complete. Each selected token becomes the next input.</a:t>
            </a:r>
          </a:p>
        </p:txBody>
      </p:sp>
      <p:sp>
        <p:nvSpPr>
          <p:cNvPr id="50" name="TextBox 49"/>
          <p:cNvSpPr txBox="1"/>
          <p:nvPr/>
        </p:nvSpPr>
        <p:spPr>
          <a:xfrm>
            <a:off x="594360" y="4736592"/>
            <a:ext cx="10881360" cy="219456"/>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arrivals  /  First 6 words shown  /  Schematic, not to scale</a:t>
            </a:r>
          </a:p>
        </p:txBody>
      </p:sp>
      <p:sp>
        <p:nvSpPr>
          <p:cNvPr id="51" name="Rounded Rectangle 50"/>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 y="5349240"/>
            <a:ext cx="1280160" cy="22860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Request</a:t>
            </a:r>
          </a:p>
        </p:txBody>
      </p:sp>
      <p:sp>
        <p:nvSpPr>
          <p:cNvPr id="53" name="Rounded Rectangle 52"/>
          <p:cNvSpPr/>
          <p:nvPr/>
        </p:nvSpPr>
        <p:spPr>
          <a:xfrm>
            <a:off x="3703320" y="5285232"/>
            <a:ext cx="157276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26180" y="5349240"/>
            <a:ext cx="1527048" cy="22860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Kubernetes</a:t>
            </a:r>
          </a:p>
        </p:txBody>
      </p:sp>
      <p:cxnSp>
        <p:nvCxnSpPr>
          <p:cNvPr id="55" name="Connector 54"/>
          <p:cNvCxnSpPr/>
          <p:nvPr/>
        </p:nvCxnSpPr>
        <p:spPr>
          <a:xfrm>
            <a:off x="1920240" y="5463540"/>
            <a:ext cx="17830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5047488"/>
            <a:ext cx="31089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word</a:t>
            </a:r>
          </a:p>
        </p:txBody>
      </p:sp>
      <p:sp>
        <p:nvSpPr>
          <p:cNvPr id="57" name="Rounded Rectangle 56"/>
          <p:cNvSpPr/>
          <p:nvPr/>
        </p:nvSpPr>
        <p:spPr>
          <a:xfrm>
            <a:off x="54406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354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helps</a:t>
            </a:r>
          </a:p>
        </p:txBody>
      </p:sp>
      <p:cxnSp>
        <p:nvCxnSpPr>
          <p:cNvPr id="59" name="Connector 58"/>
          <p:cNvCxnSpPr/>
          <p:nvPr/>
        </p:nvCxnSpPr>
        <p:spPr>
          <a:xfrm>
            <a:off x="52760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703320" y="5047488"/>
            <a:ext cx="17373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1" name="Rounded Rectangle 60"/>
          <p:cNvSpPr/>
          <p:nvPr/>
        </p:nvSpPr>
        <p:spPr>
          <a:xfrm>
            <a:off x="66751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9798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teams</a:t>
            </a:r>
          </a:p>
        </p:txBody>
      </p:sp>
      <p:cxnSp>
        <p:nvCxnSpPr>
          <p:cNvPr id="63" name="Connector 62"/>
          <p:cNvCxnSpPr/>
          <p:nvPr/>
        </p:nvCxnSpPr>
        <p:spPr>
          <a:xfrm>
            <a:off x="65105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4068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5" name="Rounded Rectangle 64"/>
          <p:cNvSpPr/>
          <p:nvPr/>
        </p:nvSpPr>
        <p:spPr>
          <a:xfrm>
            <a:off x="79095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3242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deploy</a:t>
            </a:r>
          </a:p>
        </p:txBody>
      </p:sp>
      <p:cxnSp>
        <p:nvCxnSpPr>
          <p:cNvPr id="67" name="Connector 66"/>
          <p:cNvCxnSpPr/>
          <p:nvPr/>
        </p:nvCxnSpPr>
        <p:spPr>
          <a:xfrm>
            <a:off x="7744967" y="5463540"/>
            <a:ext cx="164593"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751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9" name="Rounded Rectangle 68"/>
          <p:cNvSpPr/>
          <p:nvPr/>
        </p:nvSpPr>
        <p:spPr>
          <a:xfrm>
            <a:off x="91440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686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and</a:t>
            </a:r>
          </a:p>
        </p:txBody>
      </p:sp>
      <p:cxnSp>
        <p:nvCxnSpPr>
          <p:cNvPr id="71" name="Connector 70"/>
          <p:cNvCxnSpPr/>
          <p:nvPr/>
        </p:nvCxnSpPr>
        <p:spPr>
          <a:xfrm>
            <a:off x="89794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9095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3" name="Rounded Rectangle 72"/>
          <p:cNvSpPr/>
          <p:nvPr/>
        </p:nvSpPr>
        <p:spPr>
          <a:xfrm>
            <a:off x="103784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0130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scale</a:t>
            </a:r>
          </a:p>
        </p:txBody>
      </p:sp>
      <p:cxnSp>
        <p:nvCxnSpPr>
          <p:cNvPr id="75" name="Connector 74"/>
          <p:cNvCxnSpPr/>
          <p:nvPr/>
        </p:nvCxnSpPr>
        <p:spPr>
          <a:xfrm>
            <a:off x="102138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1440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performance targets.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mainly shapes the wait for the first token; decode shapes the pace after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Both affect total response latency and SLO goodput: requests/s meeting the latency targets.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1975104"/>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066544"/>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93976"/>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532888"/>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uncached input</a:t>
            </a:r>
          </a:p>
        </p:txBody>
      </p:sp>
      <p:sp>
        <p:nvSpPr>
          <p:cNvPr id="18" name="Rounded Rectangle 17"/>
          <p:cNvSpPr/>
          <p:nvPr/>
        </p:nvSpPr>
        <p:spPr>
          <a:xfrm>
            <a:off x="594360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066544"/>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1975104"/>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066544"/>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093976"/>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532888"/>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468880"/>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468880"/>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468880"/>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401568"/>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99632"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64224" y="3401568"/>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 TTFT</a:t>
            </a:r>
          </a:p>
        </p:txBody>
      </p:sp>
      <p:sp>
        <p:nvSpPr>
          <p:cNvPr id="34" name="TextBox 33"/>
          <p:cNvSpPr txBox="1"/>
          <p:nvPr/>
        </p:nvSpPr>
        <p:spPr>
          <a:xfrm>
            <a:off x="694944" y="4014215"/>
            <a:ext cx="5029200" cy="301752"/>
          </a:xfrm>
          <a:prstGeom prst="rect">
            <a:avLst/>
          </a:prstGeom>
          <a:noFill/>
        </p:spPr>
        <p:txBody>
          <a:bodyPr wrap="square" lIns="13716" rIns="13716" tIns="13716" bIns="13716">
            <a:spAutoFit/>
          </a:bodyPr>
          <a:lstStyle/>
          <a:p>
            <a:pPr>
              <a:spcBef>
                <a:spcPts val="0"/>
              </a:spcBef>
              <a:spcAft>
                <a:spcPts val="500"/>
              </a:spcAft>
              <a:defRPr sz="1800" b="1">
                <a:solidFill>
                  <a:srgbClr val="172941"/>
                </a:solidFill>
                <a:latin typeface="Arial"/>
              </a:defRPr>
            </a:pPr>
            <a:r>
              <a:t>Time to first token • lower is better</a:t>
            </a:r>
          </a:p>
        </p:txBody>
      </p:sp>
      <p:sp>
        <p:nvSpPr>
          <p:cNvPr id="35" name="TextBox 34"/>
          <p:cNvSpPr txBox="1"/>
          <p:nvPr/>
        </p:nvSpPr>
        <p:spPr>
          <a:xfrm>
            <a:off x="694944" y="4498848"/>
            <a:ext cx="5029200" cy="5943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Track prefill latency + input tok/s</a:t>
            </a:r>
          </a:p>
          <a:p>
            <a:pPr>
              <a:spcBef>
                <a:spcPts val="0"/>
              </a:spcBef>
              <a:spcAft>
                <a:spcPts val="500"/>
              </a:spcAft>
              <a:defRPr sz="1700" b="0">
                <a:solidFill>
                  <a:srgbClr val="586A80"/>
                </a:solidFill>
                <a:latin typeface="Arial"/>
              </a:defRPr>
            </a:pPr>
            <a:r>
              <a:t>Often compute-bound</a:t>
            </a:r>
          </a:p>
        </p:txBody>
      </p:sp>
      <p:sp>
        <p:nvSpPr>
          <p:cNvPr id="36" name="TextBox 35"/>
          <p:cNvSpPr txBox="1"/>
          <p:nvPr/>
        </p:nvSpPr>
        <p:spPr>
          <a:xfrm>
            <a:off x="6391656"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 ITL / TPOT</a:t>
            </a:r>
          </a:p>
        </p:txBody>
      </p:sp>
      <p:sp>
        <p:nvSpPr>
          <p:cNvPr id="37" name="TextBox 36"/>
          <p:cNvSpPr txBox="1"/>
          <p:nvPr/>
        </p:nvSpPr>
        <p:spPr>
          <a:xfrm>
            <a:off x="6391656" y="4014215"/>
            <a:ext cx="5029200" cy="393192"/>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Inter-token latency / avg. time per output token</a:t>
            </a:r>
          </a:p>
        </p:txBody>
      </p:sp>
      <p:sp>
        <p:nvSpPr>
          <p:cNvPr id="38" name="TextBox 37"/>
          <p:cNvSpPr txBox="1"/>
          <p:nvPr/>
        </p:nvSpPr>
        <p:spPr>
          <a:xfrm>
            <a:off x="6391656" y="4498848"/>
            <a:ext cx="5029200" cy="749808"/>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Lower is better • track aggregate output tok/s</a:t>
            </a:r>
          </a:p>
          <a:p>
            <a:pPr>
              <a:spcBef>
                <a:spcPts val="0"/>
              </a:spcBef>
              <a:spcAft>
                <a:spcPts val="500"/>
              </a:spcAft>
              <a:defRPr sz="1700" b="0">
                <a:solidFill>
                  <a:srgbClr val="586A80"/>
                </a:solidFill>
                <a:latin typeface="Arial"/>
              </a:defRPr>
            </a:pPr>
            <a:r>
              <a:t>Often memory-bandwidth-bound</a:t>
            </a:r>
          </a:p>
        </p:txBody>
      </p:sp>
      <p:sp>
        <p:nvSpPr>
          <p:cNvPr id="39" name="TextBox 38"/>
          <p:cNvSpPr txBox="1"/>
          <p:nvPr/>
        </p:nvSpPr>
        <p:spPr>
          <a:xfrm>
            <a:off x="594360" y="5550408"/>
            <a:ext cx="10991088" cy="210312"/>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Not exclusive: queueing / delivery also affect TTFT; shared prefill can stall decode. Sources: vLLM metrics; NVIDIA Dynamo.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execution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Long prefills can interrupt token delivery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is already decoding. B arrives with a new prompt. Where should B run?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Separate GPUs remove direct prefill execution from the decode GPU—not every source of latency.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594360" y="1938528"/>
            <a:ext cx="10972800" cy="256032"/>
          </a:xfrm>
          <a:prstGeom prst="rect">
            <a:avLst/>
          </a:prstGeom>
          <a:noFill/>
        </p:spPr>
        <p:txBody>
          <a:bodyPr wrap="square" lIns="13716" rIns="13716" tIns="13716" bIns="13716">
            <a:spAutoFit/>
          </a:bodyPr>
          <a:lstStyle/>
          <a:p>
            <a:pPr>
              <a:spcBef>
                <a:spcPts val="0"/>
              </a:spcBef>
              <a:spcAft>
                <a:spcPts val="500"/>
              </a:spcAft>
              <a:defRPr sz="1200" b="1">
                <a:solidFill>
                  <a:srgbClr val="AE641A"/>
                </a:solidFill>
                <a:latin typeface="Arial"/>
              </a:defRPr>
            </a:pPr>
            <a:r>
              <a:t>Conceptual schedule · Not a benchmark · Block widths and gaps are not timings</a:t>
            </a:r>
          </a:p>
        </p:txBody>
      </p:sp>
      <p:sp>
        <p:nvSpPr>
          <p:cNvPr id="11" name="Rounded Rectangle 10"/>
          <p:cNvSpPr/>
          <p:nvPr/>
        </p:nvSpPr>
        <p:spPr>
          <a:xfrm>
            <a:off x="502920" y="2359152"/>
            <a:ext cx="11183112" cy="11612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2560320"/>
            <a:ext cx="2423160" cy="329184"/>
          </a:xfrm>
          <a:prstGeom prst="rect">
            <a:avLst/>
          </a:prstGeom>
          <a:noFill/>
        </p:spPr>
        <p:txBody>
          <a:bodyPr wrap="square" lIns="13716" rIns="13716" tIns="13716" bIns="13716">
            <a:spAutoFit/>
          </a:bodyPr>
          <a:lstStyle/>
          <a:p>
            <a:pPr>
              <a:spcBef>
                <a:spcPts val="0"/>
              </a:spcBef>
              <a:spcAft>
                <a:spcPts val="500"/>
              </a:spcAft>
              <a:defRPr sz="2100" b="1">
                <a:solidFill>
                  <a:srgbClr val="172941"/>
                </a:solidFill>
                <a:latin typeface="Arial"/>
              </a:defRPr>
            </a:pPr>
            <a:r>
              <a:t>Shared GPU</a:t>
            </a:r>
          </a:p>
        </p:txBody>
      </p:sp>
      <p:sp>
        <p:nvSpPr>
          <p:cNvPr id="13" name="TextBox 12"/>
          <p:cNvSpPr txBox="1"/>
          <p:nvPr/>
        </p:nvSpPr>
        <p:spPr>
          <a:xfrm>
            <a:off x="694944" y="3008376"/>
            <a:ext cx="2423160" cy="256032"/>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One worker does both</a:t>
            </a:r>
          </a:p>
        </p:txBody>
      </p:sp>
      <p:sp>
        <p:nvSpPr>
          <p:cNvPr id="14" name="Rounded Rectangle 13"/>
          <p:cNvSpPr/>
          <p:nvPr/>
        </p:nvSpPr>
        <p:spPr>
          <a:xfrm>
            <a:off x="342900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D</a:t>
            </a:r>
          </a:p>
        </p:txBody>
      </p:sp>
      <p:sp>
        <p:nvSpPr>
          <p:cNvPr id="16" name="Rounded Rectangle 15"/>
          <p:cNvSpPr/>
          <p:nvPr/>
        </p:nvSpPr>
        <p:spPr>
          <a:xfrm>
            <a:off x="461772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515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D</a:t>
            </a:r>
          </a:p>
        </p:txBody>
      </p:sp>
      <p:sp>
        <p:nvSpPr>
          <p:cNvPr id="18" name="Rounded Rectangle 17"/>
          <p:cNvSpPr/>
          <p:nvPr/>
        </p:nvSpPr>
        <p:spPr>
          <a:xfrm>
            <a:off x="5806440" y="2825496"/>
            <a:ext cx="2743200" cy="44805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3872" y="2907792"/>
            <a:ext cx="268833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Prefill B</a:t>
            </a:r>
          </a:p>
        </p:txBody>
      </p:sp>
      <p:sp>
        <p:nvSpPr>
          <p:cNvPr id="20" name="Rounded Rectangle 19"/>
          <p:cNvSpPr/>
          <p:nvPr/>
        </p:nvSpPr>
        <p:spPr>
          <a:xfrm>
            <a:off x="873252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5995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D</a:t>
            </a:r>
          </a:p>
        </p:txBody>
      </p:sp>
      <p:sp>
        <p:nvSpPr>
          <p:cNvPr id="22" name="Rounded Rectangle 21"/>
          <p:cNvSpPr/>
          <p:nvPr/>
        </p:nvSpPr>
        <p:spPr>
          <a:xfrm>
            <a:off x="9921240" y="2825496"/>
            <a:ext cx="1005840" cy="44805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48672" y="2907792"/>
            <a:ext cx="950976" cy="274320"/>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D</a:t>
            </a:r>
          </a:p>
        </p:txBody>
      </p:sp>
      <p:sp>
        <p:nvSpPr>
          <p:cNvPr id="24" name="TextBox 23"/>
          <p:cNvSpPr txBox="1"/>
          <p:nvPr/>
        </p:nvSpPr>
        <p:spPr>
          <a:xfrm>
            <a:off x="5696712" y="2450592"/>
            <a:ext cx="2971800" cy="274320"/>
          </a:xfrm>
          <a:prstGeom prst="rect">
            <a:avLst/>
          </a:prstGeom>
          <a:noFill/>
        </p:spPr>
        <p:txBody>
          <a:bodyPr wrap="square" lIns="13716" rIns="13716" tIns="13716" bIns="13716">
            <a:spAutoFit/>
          </a:bodyPr>
          <a:lstStyle/>
          <a:p>
            <a:pPr algn="ctr">
              <a:spcBef>
                <a:spcPts val="0"/>
              </a:spcBef>
              <a:spcAft>
                <a:spcPts val="500"/>
              </a:spcAft>
              <a:defRPr sz="1500" b="1">
                <a:solidFill>
                  <a:srgbClr val="AE641A"/>
                </a:solidFill>
                <a:latin typeface="Arial"/>
              </a:defRPr>
            </a:pPr>
            <a:r>
              <a:t>A waits while B runs prefill</a:t>
            </a:r>
          </a:p>
        </p:txBody>
      </p:sp>
      <p:sp>
        <p:nvSpPr>
          <p:cNvPr id="25" name="Rounded Rectangle 24"/>
          <p:cNvSpPr/>
          <p:nvPr/>
        </p:nvSpPr>
        <p:spPr>
          <a:xfrm>
            <a:off x="502920" y="3712463"/>
            <a:ext cx="11183112" cy="16367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4944" y="3931920"/>
            <a:ext cx="2423160" cy="374904"/>
          </a:xfrm>
          <a:prstGeom prst="rect">
            <a:avLst/>
          </a:prstGeom>
          <a:noFill/>
        </p:spPr>
        <p:txBody>
          <a:bodyPr wrap="square" lIns="13716" rIns="13716" tIns="13716" bIns="13716">
            <a:spAutoFit/>
          </a:bodyPr>
          <a:lstStyle/>
          <a:p>
            <a:pPr>
              <a:spcBef>
                <a:spcPts val="0"/>
              </a:spcBef>
              <a:spcAft>
                <a:spcPts val="500"/>
              </a:spcAft>
              <a:defRPr sz="2100" b="1">
                <a:solidFill>
                  <a:srgbClr val="172941"/>
                </a:solidFill>
                <a:latin typeface="Arial"/>
              </a:defRPr>
            </a:pPr>
            <a:r>
              <a:t>Separate GPUs</a:t>
            </a:r>
          </a:p>
        </p:txBody>
      </p:sp>
      <p:sp>
        <p:nvSpPr>
          <p:cNvPr id="27" name="TextBox 26"/>
          <p:cNvSpPr txBox="1"/>
          <p:nvPr/>
        </p:nvSpPr>
        <p:spPr>
          <a:xfrm>
            <a:off x="694944" y="4434840"/>
            <a:ext cx="2423160"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Prefill worker</a:t>
            </a:r>
          </a:p>
        </p:txBody>
      </p:sp>
      <p:sp>
        <p:nvSpPr>
          <p:cNvPr id="28" name="TextBox 27"/>
          <p:cNvSpPr txBox="1"/>
          <p:nvPr/>
        </p:nvSpPr>
        <p:spPr>
          <a:xfrm>
            <a:off x="694944" y="4901184"/>
            <a:ext cx="24231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Decode worker</a:t>
            </a:r>
          </a:p>
        </p:txBody>
      </p:sp>
      <p:sp>
        <p:nvSpPr>
          <p:cNvPr id="29" name="Rounded Rectangle 28"/>
          <p:cNvSpPr/>
          <p:nvPr/>
        </p:nvSpPr>
        <p:spPr>
          <a:xfrm>
            <a:off x="5806440" y="4343400"/>
            <a:ext cx="274320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33872" y="4398264"/>
            <a:ext cx="2688336"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Prefill B</a:t>
            </a:r>
          </a:p>
        </p:txBody>
      </p:sp>
      <p:sp>
        <p:nvSpPr>
          <p:cNvPr id="31" name="TextBox 30"/>
          <p:cNvSpPr txBox="1"/>
          <p:nvPr/>
        </p:nvSpPr>
        <p:spPr>
          <a:xfrm>
            <a:off x="8750808" y="4398264"/>
            <a:ext cx="2560320" cy="265176"/>
          </a:xfrm>
          <a:prstGeom prst="rect">
            <a:avLst/>
          </a:prstGeom>
          <a:noFill/>
        </p:spPr>
        <p:txBody>
          <a:bodyPr wrap="square" lIns="13716" rIns="13716" tIns="13716" bIns="13716">
            <a:spAutoFit/>
          </a:bodyPr>
          <a:lstStyle/>
          <a:p>
            <a:pPr>
              <a:spcBef>
                <a:spcPts val="0"/>
              </a:spcBef>
              <a:spcAft>
                <a:spcPts val="500"/>
              </a:spcAft>
              <a:defRPr sz="1300" b="0">
                <a:solidFill>
                  <a:srgbClr val="AE641A"/>
                </a:solidFill>
                <a:latin typeface="Arial"/>
              </a:defRPr>
            </a:pPr>
            <a:r>
              <a:t>B still needs KV handoff</a:t>
            </a:r>
          </a:p>
        </p:txBody>
      </p:sp>
      <p:sp>
        <p:nvSpPr>
          <p:cNvPr id="32" name="Rounded Rectangle 31"/>
          <p:cNvSpPr/>
          <p:nvPr/>
        </p:nvSpPr>
        <p:spPr>
          <a:xfrm>
            <a:off x="342900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4728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34" name="Rounded Rectangle 33"/>
          <p:cNvSpPr/>
          <p:nvPr/>
        </p:nvSpPr>
        <p:spPr>
          <a:xfrm>
            <a:off x="461772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600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36" name="Rounded Rectangle 35"/>
          <p:cNvSpPr/>
          <p:nvPr/>
        </p:nvSpPr>
        <p:spPr>
          <a:xfrm>
            <a:off x="580644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2472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38" name="Rounded Rectangle 37"/>
          <p:cNvSpPr/>
          <p:nvPr/>
        </p:nvSpPr>
        <p:spPr>
          <a:xfrm>
            <a:off x="699516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1344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40" name="Rounded Rectangle 39"/>
          <p:cNvSpPr/>
          <p:nvPr/>
        </p:nvSpPr>
        <p:spPr>
          <a:xfrm>
            <a:off x="8183879"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02167"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42" name="Rounded Rectangle 41"/>
          <p:cNvSpPr/>
          <p:nvPr/>
        </p:nvSpPr>
        <p:spPr>
          <a:xfrm>
            <a:off x="937260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9088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44" name="Rounded Rectangle 43"/>
          <p:cNvSpPr/>
          <p:nvPr/>
        </p:nvSpPr>
        <p:spPr>
          <a:xfrm>
            <a:off x="10561320" y="4828032"/>
            <a:ext cx="731520"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79608" y="4873752"/>
            <a:ext cx="694944" cy="256032"/>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D</a:t>
            </a:r>
          </a:p>
        </p:txBody>
      </p:sp>
      <p:sp>
        <p:nvSpPr>
          <p:cNvPr id="46" name="TextBox 45"/>
          <p:cNvSpPr txBox="1"/>
          <p:nvPr/>
        </p:nvSpPr>
        <p:spPr>
          <a:xfrm>
            <a:off x="3429000" y="3867912"/>
            <a:ext cx="7909560" cy="256032"/>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A can continue decoding while B runs prefill elsewhere</a:t>
            </a:r>
          </a:p>
        </p:txBody>
      </p:sp>
      <p:sp>
        <p:nvSpPr>
          <p:cNvPr id="47" name="TextBox 46"/>
          <p:cNvSpPr txBox="1"/>
          <p:nvPr/>
        </p:nvSpPr>
        <p:spPr>
          <a:xfrm>
            <a:off x="594360" y="5458968"/>
            <a:ext cx="10927080" cy="210312"/>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A = ongoing decode; B = new request. Chunked prefill can mitigate the shared-worker pause.</a:t>
            </a:r>
          </a:p>
        </p:txBody>
      </p:sp>
      <p:sp>
        <p:nvSpPr>
          <p:cNvPr id="48" name="TextBox 47"/>
          <p:cNvSpPr txBox="1"/>
          <p:nvPr/>
        </p:nvSpPr>
        <p:spPr>
          <a:xfrm>
            <a:off x="594360" y="5687568"/>
            <a:ext cx="10927080" cy="13716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Original conceptual illustration; sources: NVIDIA and vLLM (2025) + current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different batching units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and decode batch different work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many prompt positions; ordinary decode advances many independent requests.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finds parallel work in prompt length; decode finds it across active sequences.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594360" y="1938528"/>
            <a:ext cx="10972800" cy="256032"/>
          </a:xfrm>
          <a:prstGeom prst="rect">
            <a:avLst/>
          </a:prstGeom>
          <a:noFill/>
        </p:spPr>
        <p:txBody>
          <a:bodyPr wrap="square" lIns="13716" rIns="13716" tIns="13716" bIns="13716">
            <a:spAutoFit/>
          </a:bodyPr>
          <a:lstStyle/>
          <a:p>
            <a:pPr>
              <a:spcBef>
                <a:spcPts val="0"/>
              </a:spcBef>
              <a:spcAft>
                <a:spcPts val="500"/>
              </a:spcAft>
              <a:defRPr sz="1200" b="1">
                <a:solidFill>
                  <a:srgbClr val="AE641A"/>
                </a:solidFill>
                <a:latin typeface="Arial"/>
              </a:defRPr>
            </a:pPr>
            <a:r>
              <a:t>Conceptual illustration · Not a benchmark · Tokens and request counts are schematic</a:t>
            </a:r>
          </a:p>
        </p:txBody>
      </p:sp>
      <p:sp>
        <p:nvSpPr>
          <p:cNvPr id="11" name="Rounded Rectangle 10"/>
          <p:cNvSpPr/>
          <p:nvPr/>
        </p:nvSpPr>
        <p:spPr>
          <a:xfrm>
            <a:off x="502920" y="2359152"/>
            <a:ext cx="5477256" cy="29900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 y="2569464"/>
            <a:ext cx="64008" cy="3657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2523744"/>
            <a:ext cx="4910328" cy="420624"/>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Prefill</a:t>
            </a:r>
          </a:p>
        </p:txBody>
      </p:sp>
      <p:sp>
        <p:nvSpPr>
          <p:cNvPr id="14" name="TextBox 13"/>
          <p:cNvSpPr txBox="1"/>
          <p:nvPr/>
        </p:nvSpPr>
        <p:spPr>
          <a:xfrm>
            <a:off x="704088" y="3026664"/>
            <a:ext cx="5074920" cy="292608"/>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Many input positions in one forward pass</a:t>
            </a:r>
          </a:p>
        </p:txBody>
      </p:sp>
      <p:sp>
        <p:nvSpPr>
          <p:cNvPr id="15" name="Rounded Rectangle 14"/>
          <p:cNvSpPr/>
          <p:nvPr/>
        </p:nvSpPr>
        <p:spPr>
          <a:xfrm>
            <a:off x="6208776" y="2359152"/>
            <a:ext cx="5477256" cy="29900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73368" y="2569464"/>
            <a:ext cx="64008" cy="3657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2523744"/>
            <a:ext cx="4910328" cy="420624"/>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Decode</a:t>
            </a:r>
          </a:p>
        </p:txBody>
      </p:sp>
      <p:sp>
        <p:nvSpPr>
          <p:cNvPr id="18" name="TextBox 17"/>
          <p:cNvSpPr txBox="1"/>
          <p:nvPr/>
        </p:nvSpPr>
        <p:spPr>
          <a:xfrm>
            <a:off x="6409944" y="3026664"/>
            <a:ext cx="5074920" cy="292608"/>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One newest input position per active request</a:t>
            </a:r>
          </a:p>
        </p:txBody>
      </p:sp>
      <p:sp>
        <p:nvSpPr>
          <p:cNvPr id="19" name="TextBox 18"/>
          <p:cNvSpPr txBox="1"/>
          <p:nvPr/>
        </p:nvSpPr>
        <p:spPr>
          <a:xfrm>
            <a:off x="713232" y="3657600"/>
            <a:ext cx="1225296" cy="283464"/>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Request A</a:t>
            </a:r>
          </a:p>
        </p:txBody>
      </p:sp>
      <p:sp>
        <p:nvSpPr>
          <p:cNvPr id="20" name="Rounded Rectangle 19"/>
          <p:cNvSpPr/>
          <p:nvPr/>
        </p:nvSpPr>
        <p:spPr>
          <a:xfrm>
            <a:off x="209397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769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p1</a:t>
            </a:r>
          </a:p>
        </p:txBody>
      </p:sp>
      <p:sp>
        <p:nvSpPr>
          <p:cNvPr id="22" name="Rounded Rectangle 21"/>
          <p:cNvSpPr/>
          <p:nvPr/>
        </p:nvSpPr>
        <p:spPr>
          <a:xfrm>
            <a:off x="282549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3921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p2</a:t>
            </a:r>
          </a:p>
        </p:txBody>
      </p:sp>
      <p:sp>
        <p:nvSpPr>
          <p:cNvPr id="24" name="Rounded Rectangle 23"/>
          <p:cNvSpPr/>
          <p:nvPr/>
        </p:nvSpPr>
        <p:spPr>
          <a:xfrm>
            <a:off x="355701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7073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p3</a:t>
            </a:r>
          </a:p>
        </p:txBody>
      </p:sp>
      <p:sp>
        <p:nvSpPr>
          <p:cNvPr id="26" name="Rounded Rectangle 25"/>
          <p:cNvSpPr/>
          <p:nvPr/>
        </p:nvSpPr>
        <p:spPr>
          <a:xfrm>
            <a:off x="4288536" y="3602736"/>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02252" y="3671315"/>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p4</a:t>
            </a:r>
          </a:p>
        </p:txBody>
      </p:sp>
      <p:sp>
        <p:nvSpPr>
          <p:cNvPr id="28" name="TextBox 27"/>
          <p:cNvSpPr txBox="1"/>
          <p:nvPr/>
        </p:nvSpPr>
        <p:spPr>
          <a:xfrm>
            <a:off x="713232" y="4187951"/>
            <a:ext cx="1225296" cy="283464"/>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Request B</a:t>
            </a:r>
          </a:p>
        </p:txBody>
      </p:sp>
      <p:sp>
        <p:nvSpPr>
          <p:cNvPr id="29" name="Rounded Rectangle 28"/>
          <p:cNvSpPr/>
          <p:nvPr/>
        </p:nvSpPr>
        <p:spPr>
          <a:xfrm>
            <a:off x="209397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0769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q1</a:t>
            </a:r>
          </a:p>
        </p:txBody>
      </p:sp>
      <p:sp>
        <p:nvSpPr>
          <p:cNvPr id="31" name="Rounded Rectangle 30"/>
          <p:cNvSpPr/>
          <p:nvPr/>
        </p:nvSpPr>
        <p:spPr>
          <a:xfrm>
            <a:off x="282549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3921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q2</a:t>
            </a:r>
          </a:p>
        </p:txBody>
      </p:sp>
      <p:sp>
        <p:nvSpPr>
          <p:cNvPr id="33" name="Rounded Rectangle 32"/>
          <p:cNvSpPr/>
          <p:nvPr/>
        </p:nvSpPr>
        <p:spPr>
          <a:xfrm>
            <a:off x="3557016" y="4133087"/>
            <a:ext cx="594360"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70732" y="4201668"/>
            <a:ext cx="566928" cy="265176"/>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q3</a:t>
            </a:r>
          </a:p>
        </p:txBody>
      </p:sp>
      <p:sp>
        <p:nvSpPr>
          <p:cNvPr id="35" name="TextBox 34"/>
          <p:cNvSpPr txBox="1"/>
          <p:nvPr/>
        </p:nvSpPr>
        <p:spPr>
          <a:xfrm>
            <a:off x="722376" y="4828032"/>
            <a:ext cx="4974336" cy="292608"/>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Batch prompt positions from one or more requests.</a:t>
            </a:r>
          </a:p>
        </p:txBody>
      </p:sp>
      <p:sp>
        <p:nvSpPr>
          <p:cNvPr id="36" name="TextBox 35"/>
          <p:cNvSpPr txBox="1"/>
          <p:nvPr/>
        </p:nvSpPr>
        <p:spPr>
          <a:xfrm>
            <a:off x="6419088" y="3438144"/>
            <a:ext cx="1252728"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Request</a:t>
            </a:r>
          </a:p>
        </p:txBody>
      </p:sp>
      <p:sp>
        <p:nvSpPr>
          <p:cNvPr id="37" name="TextBox 36"/>
          <p:cNvSpPr txBox="1"/>
          <p:nvPr/>
        </p:nvSpPr>
        <p:spPr>
          <a:xfrm>
            <a:off x="7699248" y="3438144"/>
            <a:ext cx="1197864"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Read history</a:t>
            </a:r>
          </a:p>
        </p:txBody>
      </p:sp>
      <p:sp>
        <p:nvSpPr>
          <p:cNvPr id="38" name="TextBox 37"/>
          <p:cNvSpPr txBox="1"/>
          <p:nvPr/>
        </p:nvSpPr>
        <p:spPr>
          <a:xfrm>
            <a:off x="9244584" y="3438144"/>
            <a:ext cx="2148840" cy="210312"/>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Consume newest input</a:t>
            </a:r>
          </a:p>
        </p:txBody>
      </p:sp>
      <p:sp>
        <p:nvSpPr>
          <p:cNvPr id="39" name="TextBox 38"/>
          <p:cNvSpPr txBox="1"/>
          <p:nvPr/>
        </p:nvSpPr>
        <p:spPr>
          <a:xfrm>
            <a:off x="6419088" y="3785615"/>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A</a:t>
            </a:r>
          </a:p>
        </p:txBody>
      </p:sp>
      <p:sp>
        <p:nvSpPr>
          <p:cNvPr id="40" name="Rounded Rectangle 39"/>
          <p:cNvSpPr/>
          <p:nvPr/>
        </p:nvSpPr>
        <p:spPr>
          <a:xfrm>
            <a:off x="7680960" y="3749039"/>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08392" y="3781044"/>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42" name="TextBox 41"/>
          <p:cNvSpPr txBox="1"/>
          <p:nvPr/>
        </p:nvSpPr>
        <p:spPr>
          <a:xfrm>
            <a:off x="8887968" y="3767327"/>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43" name="Rounded Rectangle 42"/>
          <p:cNvSpPr/>
          <p:nvPr/>
        </p:nvSpPr>
        <p:spPr>
          <a:xfrm>
            <a:off x="9262872" y="3749039"/>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90304" y="3781044"/>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45" name="TextBox 44"/>
          <p:cNvSpPr txBox="1"/>
          <p:nvPr/>
        </p:nvSpPr>
        <p:spPr>
          <a:xfrm>
            <a:off x="6419088" y="4224528"/>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B</a:t>
            </a:r>
          </a:p>
        </p:txBody>
      </p:sp>
      <p:sp>
        <p:nvSpPr>
          <p:cNvPr id="46" name="Rounded Rectangle 45"/>
          <p:cNvSpPr/>
          <p:nvPr/>
        </p:nvSpPr>
        <p:spPr>
          <a:xfrm>
            <a:off x="7680960" y="4187952"/>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08392" y="4219956"/>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48" name="TextBox 47"/>
          <p:cNvSpPr txBox="1"/>
          <p:nvPr/>
        </p:nvSpPr>
        <p:spPr>
          <a:xfrm>
            <a:off x="8887968" y="4206240"/>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49" name="Rounded Rectangle 48"/>
          <p:cNvSpPr/>
          <p:nvPr/>
        </p:nvSpPr>
        <p:spPr>
          <a:xfrm>
            <a:off x="9262872" y="4187952"/>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90304" y="4219956"/>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51" name="TextBox 50"/>
          <p:cNvSpPr txBox="1"/>
          <p:nvPr/>
        </p:nvSpPr>
        <p:spPr>
          <a:xfrm>
            <a:off x="6419088" y="4663440"/>
            <a:ext cx="1106424" cy="246888"/>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C</a:t>
            </a:r>
          </a:p>
        </p:txBody>
      </p:sp>
      <p:sp>
        <p:nvSpPr>
          <p:cNvPr id="52" name="Rounded Rectangle 51"/>
          <p:cNvSpPr/>
          <p:nvPr/>
        </p:nvSpPr>
        <p:spPr>
          <a:xfrm>
            <a:off x="7680960" y="4626864"/>
            <a:ext cx="1115568" cy="32004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08392" y="4658868"/>
            <a:ext cx="1060704" cy="228600"/>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Prior KV</a:t>
            </a:r>
          </a:p>
        </p:txBody>
      </p:sp>
      <p:sp>
        <p:nvSpPr>
          <p:cNvPr id="54" name="TextBox 53"/>
          <p:cNvSpPr txBox="1"/>
          <p:nvPr/>
        </p:nvSpPr>
        <p:spPr>
          <a:xfrm>
            <a:off x="8887968" y="4645151"/>
            <a:ext cx="256032" cy="246888"/>
          </a:xfrm>
          <a:prstGeom prst="rect">
            <a:avLst/>
          </a:prstGeom>
          <a:noFill/>
        </p:spPr>
        <p:txBody>
          <a:bodyPr wrap="square" lIns="13716" rIns="13716" tIns="13716" bIns="13716">
            <a:spAutoFit/>
          </a:bodyPr>
          <a:lstStyle/>
          <a:p>
            <a:pPr algn="ctr">
              <a:spcBef>
                <a:spcPts val="0"/>
              </a:spcBef>
              <a:spcAft>
                <a:spcPts val="500"/>
              </a:spcAft>
              <a:defRPr sz="1500" b="1">
                <a:solidFill>
                  <a:srgbClr val="586A80"/>
                </a:solidFill>
                <a:latin typeface="Arial"/>
              </a:defRPr>
            </a:pPr>
            <a:r>
              <a:t>+</a:t>
            </a:r>
          </a:p>
        </p:txBody>
      </p:sp>
      <p:sp>
        <p:nvSpPr>
          <p:cNvPr id="55" name="Rounded Rectangle 54"/>
          <p:cNvSpPr/>
          <p:nvPr/>
        </p:nvSpPr>
        <p:spPr>
          <a:xfrm>
            <a:off x="9262872" y="4626864"/>
            <a:ext cx="1810512" cy="32004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90304" y="4658868"/>
            <a:ext cx="1755648" cy="228600"/>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One token</a:t>
            </a:r>
          </a:p>
        </p:txBody>
      </p:sp>
      <p:sp>
        <p:nvSpPr>
          <p:cNvPr id="57" name="TextBox 56"/>
          <p:cNvSpPr txBox="1"/>
          <p:nvPr/>
        </p:nvSpPr>
        <p:spPr>
          <a:xfrm>
            <a:off x="6419088" y="5111496"/>
            <a:ext cx="4983480" cy="210312"/>
          </a:xfrm>
          <a:prstGeom prst="rect">
            <a:avLst/>
          </a:prstGeom>
          <a:noFill/>
        </p:spPr>
        <p:txBody>
          <a:bodyPr wrap="square" lIns="13716" rIns="13716" tIns="13716" bIns="13716">
            <a:spAutoFit/>
          </a:bodyPr>
          <a:lstStyle/>
          <a:p>
            <a:pPr>
              <a:spcBef>
                <a:spcPts val="0"/>
              </a:spcBef>
              <a:spcAft>
                <a:spcPts val="500"/>
              </a:spcAft>
              <a:defRPr sz="1200" b="1">
                <a:solidFill>
                  <a:srgbClr val="7354B8"/>
                </a:solidFill>
                <a:latin typeface="Arial"/>
              </a:defRPr>
            </a:pPr>
            <a:r>
              <a:t>Then select a next output token for each request.</a:t>
            </a:r>
          </a:p>
        </p:txBody>
      </p:sp>
      <p:sp>
        <p:nvSpPr>
          <p:cNvPr id="58" name="TextBox 57"/>
          <p:cNvSpPr txBox="1"/>
          <p:nvPr/>
        </p:nvSpPr>
        <p:spPr>
          <a:xfrm>
            <a:off x="594360" y="5477256"/>
            <a:ext cx="10927080" cy="228600"/>
          </a:xfrm>
          <a:prstGeom prst="rect">
            <a:avLst/>
          </a:prstGeom>
          <a:noFill/>
        </p:spPr>
        <p:txBody>
          <a:bodyPr wrap="square" lIns="13716" rIns="13716" tIns="13716" bIns="13716">
            <a:spAutoFit/>
          </a:bodyPr>
          <a:lstStyle/>
          <a:p>
            <a:pPr>
              <a:spcBef>
                <a:spcPts val="0"/>
              </a:spcBef>
              <a:spcAft>
                <a:spcPts val="500"/>
              </a:spcAft>
              <a:defRPr sz="1300" b="1">
                <a:solidFill>
                  <a:srgbClr val="AE641A"/>
                </a:solidFill>
                <a:latin typeface="Arial"/>
              </a:defRPr>
            </a:pPr>
            <a:r>
              <a:t>More decode concurrency can increase ITL. Batch within latency and KV-memory budgets.</a:t>
            </a:r>
          </a:p>
        </p:txBody>
      </p:sp>
      <p:sp>
        <p:nvSpPr>
          <p:cNvPr id="59" name="TextBox 58"/>
          <p:cNvSpPr txBox="1"/>
          <p:nvPr/>
        </p:nvSpPr>
        <p:spPr>
          <a:xfrm>
            <a:off x="594360" y="5687568"/>
            <a:ext cx="10927080" cy="13716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Original conceptual illustration; sources: NVIDIA and vLLM (2025) + current documentation.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