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a standard decoder-only autoregressive Transformer with KV caching, no speculative decoding, and a simple single-request example. The visible words are conceptual blocks, not a claim about a real tokenizer or model output. The prompt is tokenized before the model executes. Prefill evaluates the uncached input positions; operations across positions can be batched within a layer, while the causal attention mask prevents each position from attending to future positions. Layers still execute according to model dependencies. Each layer stores attention keys and values for processed prompt tokens. These tensors are model state, not raw prompt text, model weights, or a cache of completed answers. The logits at the final prompt position define the next-token distribution; sampling or greedy selection yields the first generated token y1, shown illustratively as Paris. Its KV state is not yet included merely because it was sampled: the following forward pass processes y1 and appends its KV state. Serving engines can place first-token selection or delivery on different workers; this slide explains the computation, not the exact KAITO/llm-d transfer protocol. Chunked prefill may split prompt processing across scheduled chunks; prefix caching can skip reusable prompt positions. Thus one conceptual prefill phase is not necessarily one uninterrupted physical kernel or scheduler iteration. Client TTFT includes queueing, tokenization, prompt processing, selection/delivery and, where applicable, orchestration and transfer; it is not equal to pure GPU prefill latency.</a:t>
            </a:r>
          </a:p>
          <a:p/>
          <a:p>
            <a:r>
              <a:t>Narrative source: kubecon-na-2026-pd-disaggregation.md</a:t>
            </a:r>
          </a:p>
          <a:p>
            <a:r>
              <a:t>References:</a:t>
            </a:r>
          </a:p>
          <a:p>
            <a:r>
              <a:t>https://huggingface.co/docs/transformers/cache_explanation</a:t>
            </a:r>
          </a:p>
          <a:p>
            <a:r>
              <a:t>https://docs.nvidia.com/dynamo/dev/kubernetes/disaggregated-serving/overview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standard autoregressive decoder-only example from the preceding slide. Prefill selected y1 (Paris) from the final prompt logits. Decode step 1 feeds y1 and past prompt KV into the same model, computes and appends the per-layer K/V for y1, and selects y2 (a period). Step 2 feeds y2 and the updated cache, appends its K/V, and selects y3 (EOS). An EOS token is a model stop signal and normally not displayed as user text; other stopping criteria include output limits and configured stop strings. The example is schematic, not a captured tokenizer/model result. At selection time, the newly selected token has not yet been processed into KV; cache updates correspond to the consumed input token. For full-context attention, later steps attend over the stored KV context, so reuse avoids recomputing old K/V but does not eliminate reading past state or all attention computation. Standard cached context grows as tokens are consumed, though sliding-window policies, eviction, static allocations and architecture differences can bound or alter memory behavior. Standard autoregressive generation has a sequential dependency within one request; engines can batch different requests, and speculative decoding can accept multiple output tokens per iteration. Do not claim every modern engine emits exactly one token per physical GPU iteration. The timeline is not to scale. TTFT is measured from request submission to first received output token and includes client-visible overhead, not just prefill compute. ITL is the gap between successive received output tokens; network streaming and buffering can affect it. Average time per output token is a related aggregate, not the same statistic as each ITL sample or its percentile. No KV-transfer hop is required between phases when they are colocated. Phase semantics apply whether serving is aggregated or disaggregated.</a:t>
            </a:r>
          </a:p>
          <a:p/>
          <a:p>
            <a:r>
              <a:t>Narrative source: kubecon-na-2026-pd-disaggregation.md</a:t>
            </a:r>
          </a:p>
          <a:p>
            <a:r>
              <a:t>References:</a:t>
            </a:r>
          </a:p>
          <a:p>
            <a:r>
              <a:t>https://huggingface.co/docs/transformers/cache_explanation</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2 compares decode-only batches (orange) with decoding plus one prefill (blue). Left panel: 128 input tokens; right panel: 1024 input tokens. Both axes remain as published. The y-axis is batch execution latency, not client TTFT or end-to-end request latency. The two panels have different y-axis and batch-size scales: compare the within-panel mixed-vs-decode-only gap, not apparent slopes or heights across panels. The blue horizontal line is the source prefill-only execution reference; the source arrows label decode and prefill slowdowns. The longer prefill increases the interference shown in this experiment. One chart, one interpretation: a new prompt can delay existing token streams in a shared execution boundary. Continuous batching, chunked prefill and better scheduling can mitigate the effect; this figure does not prove that every colocated or modern chunked-prefill implementation suffers the same penalty. P/D separates the execution pools, but introduces a KV-transfer boundary that must earn its cost.</a:t>
            </a:r>
          </a:p>
          <a:p/>
          <a:p>
            <a:r>
              <a:t>Narrative source: kubecon-na-2026-pd-disaggregation.md</a:t>
            </a:r>
          </a:p>
          <a:p>
            <a:r>
              <a:t>References:</a:t>
            </a:r>
          </a:p>
          <a:p>
            <a:r>
              <a:t>https://arxiv.org/html/2401.09670v2#S2.F2</a:t>
            </a:r>
          </a:p>
          <a:p>
            <a:r>
              <a:t>https://arxiv.org/html/2401.09670v2#S2.SS3</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Zhong et al., DistServe: Disaggregating Prefill and Decoding for Goodput-optimized Large Language Model Serving, arXiv:2401.09670v2, 19 March 2024, CC BY-SA 4.0. These are reproduced external research figures, not KAITO/llm-d measurements, not a reproduction performed for this deck, and not a benchmark of current vLLM scheduling. Captions identify a 13B LLM; sections 2–3 analyze A100 behavior. The individual figure captions do not specify every engine, kernel, model identifier or software version, so do not infer a current-deployment performance guarantee. Figure SVGs are kept verbatim in kubecon-pd-assets/motivation; their PNGs are mechanical rasterizations with axes and data intact. Source and license are visible on the slide and documented with hashes.</a:t>
            </a:r>
          </a:p>
          <a:p>
            <a:r>
              <a:t>Figure 3 is reproduced as published: prefill-only throughput on the left, decoding-only throughput on the right, with input lengths 128, 256, 512 and 1024. The x-axis is batch size on powers-of-two ticks. Do not compare absolute left-versus-right token throughput as equivalent useful work: prefill processes prompt tokens, whereas decode produces output tokens. Read the shape within each panel. Prefill throughput plateaus earlier; additional batching can add latency once computation is saturated. Decode benefits more from batching in this setup, amortizing weight-memory traffic across requests. This supports separate batching and resource planning, not unlimited decode batching: active KV capacity, latency SLOs, model architecture and compute saturation still bound it. The paper discusses compute-dominant prefill and memory-bandwidth-dominant decode; these are common regimes, not immutable properties of every model, batch size, hardware or context length. No current-AKS numerical threshold or universal GPU-size rule is inferred.</a:t>
            </a:r>
          </a:p>
          <a:p/>
          <a:p>
            <a:r>
              <a:t>Narrative source: kubecon-na-2026-pd-disaggregation.md</a:t>
            </a:r>
          </a:p>
          <a:p>
            <a:r>
              <a:t>References:</a:t>
            </a:r>
          </a:p>
          <a:p>
            <a:r>
              <a:t>https://arxiv.org/html/2401.09670v2#S3.F3</a:t>
            </a:r>
          </a:p>
          <a:p>
            <a:r>
              <a:t>https://arxiv.org/html/2401.09670v2#S3.SS1</a:t>
            </a:r>
          </a:p>
          <a:p>
            <a:r>
              <a:t>https://arxiv.org/html/2401.09670v2#S3.SS2</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NVIDIA Dynamo disaggregated-serving overview describes compute-bound prefill and memory-bandwidth-bound decode, with independent pools, batching, hardware and parallelism choices. These are common regimes rather than universal laws: model, context length, batch size and hardware change the limiting resource. Dynamo-specific worker orchestration and NIXL setup are not presented as KAITO architecture. Conceptual synthesis, not measured performance data. DistServe section 2.3 identifies resource and parallelism coupling as distinct from prefill/decode execution interference: a colocated deployment shares devices, resource allocation and a parallelism plan even when the two phases have different bottlenecks and latency constraints. Separate pools permit different hardware, tensor-parallel degrees, batching policies and replica counts, subject to runtime/connector compatibility; they do not imply every choice is supported by current KAITO. The two demand cards are first investigation directions, not a deterministic scaler: longer prompts also increase decode KV state and transfer bytes, so inspect both roles and the end-to-end SLO before changing capacity. Likewise larger decode batches must respect ITL and KV limits. Shared pools can still benefit from chunked prefill, continuous batching and scheduling improvements. P/D becomes worthwhile only when independent capacity tuning or interference isolation creates a measured gain larger than transfer, duplicated model residency and operational overhead. No fixed P:D ratio, GPU savings or current autoscaler implementation is claimed.</a:t>
            </a:r>
          </a:p>
          <a:p/>
          <a:p>
            <a:r>
              <a:t>Narrative source: kubecon-na-2026-pd-disaggregation.md</a:t>
            </a:r>
          </a:p>
          <a:p>
            <a:r>
              <a:t>References:</a:t>
            </a:r>
          </a:p>
          <a:p>
            <a:r>
              <a:t>https://docs.nvidia.com/dynamo/dev/kubernetes/disaggregated-serving/overview</a:t>
            </a:r>
          </a:p>
          <a:p>
            <a:r>
              <a:t>https://arxiv.org/html/2401.09670v2#S2.SS3</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annotation-first integration, not an existing deployable MRI API. Existing scaler source consumes InferenceSet.metadata.annotations and provisions an owned ScaledObject. It currently rejects MRI-owned children in create/update predicates; deliberately support only adapter-managed opt-in children, including cleanup events. MRI currently copies annotations to child spec.template.annotations; that placement does not configure this scaler. A new adapter must validate/version autoscaling.kaito.sh/roles, match entries by role type, project only allowed scalar/metrics keys into the matching child metadata, keep the policy blob out of workload templates, watch annotation-only changes, and remove stale owned output. One child InferenceSet and one ScaledObject per enabled role; KEDA/HPA targets that child scale subresource, not MRI or an individual Pod. A null role replicas value stops MRI steady-state replica enforcement but does not create an autoscaler. Reject fixed replicas plus policy and conflicting manually managed autoscalers; preserve unrelated annotations and perform ordered cleanup/handoff. KEDA, the scaler and metrics collection must be installed/configured separately. Sources are pinned in the design document: KAITO 3c831cad and scaler ba1f2340. The annotation block shown is generated output inside child metadata.annotations. Decode receives the analogous 2..16 / running / 24 / 4 policy.</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One chart, one interpretation: this comparison trades a higher TTFT for more stable decoding, rather than proving a TTFT improvement. Values: standard median 227.9635 ms, p95 490.613 ms; write-mode median 645.135 ms, p95 1325.584 ms. Median is the mean of the middle two ordered observations; p95 is nearest-rank (95th of 100). Rounded to integer milliseconds on the slide. No SLO line is implied by the 1000 ms grid tick. The source recommends investigating P/D for high concurrency and long prompts because prefill interference is stronger, but has no prompt-length sweep supporting a quantified TTFT gain by workload. Do not narrate a fabricated long-prompt TTFT win.</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Keep narration high signal. Original Figure 4 shows request SLO attainment versus offered request rate, not measured token throughput. The source calls the joint-SLO benefit higher goodput; this slide retains the original y-axis instead of relabeling it as throughput. The orange outline focuses attention on about 8 req/s. The 29% and 73% callout comes from the exact Figure 3 arrays for standard TP4 and MORI-IO write, not visual digitization. Other configurations are retained as source context; do not narrate every curve. At this load the colocated configuration’s per-request ITL values account for failed joint SLOs; the P/D write configuration’s TTFT values account for its failures. This supports phase-interference interpretation, not an unqualified peak-throughput claim. Prompt/output lengths are fixed, so mixed-length traffic remains a validation gap. The source caption overstates improvement across all rates: at the lowest rate standard TP4 also reaches 100%, so this slide only highlights the loaded regime.</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External benchmark by AMD and Embedded LLM, published on the vLLM blog on 2026-04-07; not a KAITO or llm-d measurement and not a reproduction performed for this deck. Hardware: one node, 8 AMD MI300X GPUs. Model: Qwen/Qwen3-235B-A22B-FP8. Compare standard two independent TP4 instances with MORI-IO write-mode 1P+1D, TP4 per role; all eight GPUs used in either case. Synthetic random workload, fixed 2000-token input and 1000-token output, 100 requests at 8 offered requests/s for the per-request data. Concurrent prefill/decode phases, NOT a heterogeneous prompt-length or asymmetric-traffic sweep. Source software is a vLLM source build (no exact vLLM commit stated), ROCm 7.0.3, MORI 0.1.0; gpu_memory_utilization=0.9, max_model_len=4096, max_num_seqs=256, enable_expert_parallel=True.</a:t>
            </a:r>
          </a:p>
          <a:p>
            <a:r>
              <a:t>Provenance: the pinned Figure 3 JavaScript DATA arrays contain 100 paired TTFT/ITL values per configuration, in seconds. Joint pass criterion is TTFT &lt;=1 second and the published per-request ITL value &lt;=0.05 seconds. This reproduces the JavaScript predicate. It is NOT a p99-per-token ITL test and ITL aggregation inside each request is not documented by the exported arrays. Figure 3 arrays produce 29 standard TP4 passes and 73 write-mode passes. The post’s static Table 3 instead says 28 and 70; use the pinned arrays consistently and do not silently combine those snapshots. Figure 4 is reproduced as published; rates other than 8 are not digitized.</a:t>
            </a:r>
          </a:p>
          <a:p>
            <a:r>
              <a:t>No sustained tokens/s, completed requests/s, GPU busy utilization, energy, dollar cost, or fewer-GPU result is measured by this deck. The small 100-request trace has no error bars or repeated-run uncertainty. Results are evidence of a tradeoff in this setup, not a universal P/D win. All raw values and derivations are documented in kubecon-pd-assets/benchmarks/README.md.</a:t>
            </a:r>
          </a:p>
          <a:p>
            <a:r>
              <a:t>Reinforce why separate pools: isolate prefill and decode, then judge useful service delivered at a fixed resource budget. The source configuration uses all 8 GPUs in both cases: standard 2×TP4 versus prefill TP4 + decode TP4. Derivation: 29/8=3.625 and 73/8=9.125 SLO passes per GPU in each 100-request trace; normalized ratio = (73/8)/(29/8) = 73/29 = 2.517241379, displayed 2.52×. This is a sample-specific SLO-pass efficiency proxy, NOT a time-normalized throughput-per-GPU metric, GPU busy percentage, independent capacity study, cost/energy result, or justification for dividing the GPU budget by 2.52. Do not claim fewer GPUs. There is no asymmetric traffic experiment or dynamic P/D autoscaling in this source; that business case still needs a controlled local benchmark. The same trace supports the preceding slide, so these are three interpretations of one study, not three independent confirmations.</a:t>
            </a:r>
          </a:p>
          <a:p/>
          <a:p>
            <a:r>
              <a:t>Narrative source: kubecon-na-2026-pd-disaggregation.md</a:t>
            </a:r>
          </a:p>
          <a:p>
            <a:r>
              <a:t>References:</a:t>
            </a:r>
          </a:p>
          <a:p>
            <a:r>
              <a:t>https://vllm.ai/blog/2026-04-07-moriio-kv-connector</a:t>
            </a:r>
          </a:p>
          <a:p>
            <a:r>
              <a:t>https://github.com/vllm-project/vllm-project.github.io/blob/c4fa4eee56ed2c097a4e078c33955253db123018/assets/figures/2026-04-07-moriio-kv-connector/plotly-figure3.js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companion Markdown, Slide 34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Expands companion Markdown Slide 34 into concrete but unmeasured adoption scenarios. Small models, short prompts, low concurrency and simple traffic often favor aggregated serving, but those attributes are heuristics rather than hard cutoffs. Long prompts, retrieval-heavy traffic, long generation or high concurrency are reasons to investigate divergent P/D pressure, not sufficient conditions for a win. Use P/D when separate capacity/parallelism can address a demonstrated bottleneck and KV-transfer overhead does not eliminate that benefit. A single-node multi-GPU experiment can simplify the initial topology if the model and role placement fit; it is not a universal fastest or feasible configuration. Cross-node P/D raises the validation bar: test transfer payload sizes, sustained/tail latency, contention, reliability, network policy and failure recovery. Improve locality or transport before adding scale if KV transfer is already the bottleneck. Compare aggregated and P/D at the same model, request distribution, offered load and GPU/cost budget, measuring client-visible TTFT/ITL, SLO goodput, transfer tails and total GPU cost. Retain a reversible aggregated baseline; do not claim measured savings here.</a:t>
            </a:r>
          </a:p>
          <a:p/>
          <a:p>
            <a:r>
              <a:t>Narrative source: kubecon-na-2026-pd-disaggregation.md</a:t>
            </a:r>
          </a:p>
          <a:p>
            <a:r>
              <a:t>References:</a:t>
            </a:r>
          </a:p>
          <a:p>
            <a:r>
              <a:t>kubecon-na-2026-pd-disaggregation.md#slide-34--when-to-use-pd-and-when-not-to</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Based on companion Markdown Slide 36 — What’s next for KAITO + llm-d. Near-term integration directions are precise prefix-cache routing driven by KV events and tiered prefix cache across GPU HBM, CPU RAM, and optional filesystem tiers. The next topology item is E/P/D: Encode, Prefill, Decode. Larger-scale work includes Wide Expert Parallelism and cross-node transport/communication optimization. These are presentation-level KAITO integration directions, not a dated release commitment or a claim that llm-d and its runtimes lack these capabilities today. Speculative decoding was removed from future work because the presenter confirms it is already implemented; this slide does not attempt to revalidate its support matrix or claim universal runtime support. Keep feature availability tied to the deployed KAITO/llm-d/runtime versions.</a:t>
            </a:r>
          </a:p>
          <a:p/>
          <a:p>
            <a:r>
              <a:t>Narrative source: kubecon-na-2026-pd-disaggregation.md</a:t>
            </a:r>
          </a:p>
          <a:p>
            <a:r>
              <a:t>References:</a:t>
            </a:r>
          </a:p>
          <a:p>
            <a:r>
              <a:t>kubecon-na-2026-pd-disaggregation.md#slide-36--whats-next-for-kaito--llm-d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56</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56</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PREFILL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Prefill: process the prompt and prepare the first token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Example: “The capital of France is” → “ Paris”. Word-sized blocks are illustrative, not tokenizer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builds prompt KV state and produces logits used to select the first output token.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56</a:t>
            </a:r>
          </a:p>
        </p:txBody>
      </p:sp>
      <p:sp>
        <p:nvSpPr>
          <p:cNvPr id="10" name="TextBox 9"/>
          <p:cNvSpPr txBox="1"/>
          <p:nvPr/>
        </p:nvSpPr>
        <p:spPr>
          <a:xfrm>
            <a:off x="594360" y="1993392"/>
            <a:ext cx="10881360" cy="2743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INPUT PROMPT  /  MANY POSITIONS IN ONE MODEL PASS</a:t>
            </a:r>
          </a:p>
        </p:txBody>
      </p:sp>
      <p:sp>
        <p:nvSpPr>
          <p:cNvPr id="11" name="Rounded Rectangle 10"/>
          <p:cNvSpPr/>
          <p:nvPr/>
        </p:nvSpPr>
        <p:spPr>
          <a:xfrm>
            <a:off x="594360" y="2423160"/>
            <a:ext cx="1207008" cy="45720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496312"/>
            <a:ext cx="1097280" cy="274320"/>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The</a:t>
            </a:r>
          </a:p>
        </p:txBody>
      </p:sp>
      <p:sp>
        <p:nvSpPr>
          <p:cNvPr id="13" name="Rounded Rectangle 12"/>
          <p:cNvSpPr/>
          <p:nvPr/>
        </p:nvSpPr>
        <p:spPr>
          <a:xfrm>
            <a:off x="1984248" y="2423160"/>
            <a:ext cx="1207008" cy="45720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39112" y="2496312"/>
            <a:ext cx="1097280" cy="274320"/>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capital</a:t>
            </a:r>
          </a:p>
        </p:txBody>
      </p:sp>
      <p:sp>
        <p:nvSpPr>
          <p:cNvPr id="15" name="Rounded Rectangle 14"/>
          <p:cNvSpPr/>
          <p:nvPr/>
        </p:nvSpPr>
        <p:spPr>
          <a:xfrm>
            <a:off x="3374136" y="2423160"/>
            <a:ext cx="1207008" cy="45720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9000" y="2496312"/>
            <a:ext cx="1097280" cy="274320"/>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of</a:t>
            </a:r>
          </a:p>
        </p:txBody>
      </p:sp>
      <p:sp>
        <p:nvSpPr>
          <p:cNvPr id="17" name="Rounded Rectangle 16"/>
          <p:cNvSpPr/>
          <p:nvPr/>
        </p:nvSpPr>
        <p:spPr>
          <a:xfrm>
            <a:off x="4764024" y="2423160"/>
            <a:ext cx="1207008" cy="45720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18888" y="2496312"/>
            <a:ext cx="1097280" cy="274320"/>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France</a:t>
            </a:r>
          </a:p>
        </p:txBody>
      </p:sp>
      <p:sp>
        <p:nvSpPr>
          <p:cNvPr id="19" name="Rounded Rectangle 18"/>
          <p:cNvSpPr/>
          <p:nvPr/>
        </p:nvSpPr>
        <p:spPr>
          <a:xfrm>
            <a:off x="6153912" y="2423160"/>
            <a:ext cx="1207008" cy="45720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08776" y="2496312"/>
            <a:ext cx="1097280" cy="274320"/>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is</a:t>
            </a:r>
          </a:p>
        </p:txBody>
      </p:sp>
      <p:cxnSp>
        <p:nvCxnSpPr>
          <p:cNvPr id="21" name="Connector 20"/>
          <p:cNvCxnSpPr/>
          <p:nvPr/>
        </p:nvCxnSpPr>
        <p:spPr>
          <a:xfrm>
            <a:off x="7424927" y="2660904"/>
            <a:ext cx="566929"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083296" y="2258568"/>
            <a:ext cx="3502152" cy="9509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83296" y="2350008"/>
            <a:ext cx="50292" cy="76809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0456" y="2377440"/>
            <a:ext cx="3227832"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Tokenizer → token IDs</a:t>
            </a:r>
          </a:p>
        </p:txBody>
      </p:sp>
      <p:sp>
        <p:nvSpPr>
          <p:cNvPr id="25" name="TextBox 24"/>
          <p:cNvSpPr txBox="1"/>
          <p:nvPr/>
        </p:nvSpPr>
        <p:spPr>
          <a:xfrm>
            <a:off x="8229600" y="2816352"/>
            <a:ext cx="3209544" cy="30175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Actual token boundaries vary</a:t>
            </a:r>
          </a:p>
        </p:txBody>
      </p:sp>
      <p:sp>
        <p:nvSpPr>
          <p:cNvPr id="26" name="Rounded Rectangle 25"/>
          <p:cNvSpPr/>
          <p:nvPr/>
        </p:nvSpPr>
        <p:spPr>
          <a:xfrm>
            <a:off x="594360" y="3410712"/>
            <a:ext cx="2743200" cy="12344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 y="3502152"/>
            <a:ext cx="50292"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529584"/>
            <a:ext cx="246888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Prompt token IDs</a:t>
            </a:r>
          </a:p>
        </p:txBody>
      </p:sp>
      <p:sp>
        <p:nvSpPr>
          <p:cNvPr id="29" name="TextBox 28"/>
          <p:cNvSpPr txBox="1"/>
          <p:nvPr/>
        </p:nvSpPr>
        <p:spPr>
          <a:xfrm>
            <a:off x="740664" y="3968496"/>
            <a:ext cx="2450592" cy="5852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All uncached input positions</a:t>
            </a:r>
          </a:p>
        </p:txBody>
      </p:sp>
      <p:sp>
        <p:nvSpPr>
          <p:cNvPr id="30" name="Rounded Rectangle 29"/>
          <p:cNvSpPr/>
          <p:nvPr/>
        </p:nvSpPr>
        <p:spPr>
          <a:xfrm>
            <a:off x="3794760" y="3410712"/>
            <a:ext cx="3803904" cy="12344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794760" y="3502152"/>
            <a:ext cx="50292" cy="10515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31920" y="3529584"/>
            <a:ext cx="3529584"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Transformer forward pass</a:t>
            </a:r>
          </a:p>
        </p:txBody>
      </p:sp>
      <p:sp>
        <p:nvSpPr>
          <p:cNvPr id="33" name="TextBox 32"/>
          <p:cNvSpPr txBox="1"/>
          <p:nvPr/>
        </p:nvSpPr>
        <p:spPr>
          <a:xfrm>
            <a:off x="3941064" y="3968496"/>
            <a:ext cx="3511296" cy="5852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Causal attention across the prompt</a:t>
            </a:r>
          </a:p>
        </p:txBody>
      </p:sp>
      <p:sp>
        <p:nvSpPr>
          <p:cNvPr id="34" name="Rounded Rectangle 33"/>
          <p:cNvSpPr/>
          <p:nvPr/>
        </p:nvSpPr>
        <p:spPr>
          <a:xfrm>
            <a:off x="8229600" y="3410712"/>
            <a:ext cx="3355848" cy="12344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229600" y="3502152"/>
            <a:ext cx="50292" cy="10515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66760" y="3529584"/>
            <a:ext cx="3081528"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First output: “ Paris”</a:t>
            </a:r>
          </a:p>
        </p:txBody>
      </p:sp>
      <p:sp>
        <p:nvSpPr>
          <p:cNvPr id="37" name="TextBox 36"/>
          <p:cNvSpPr txBox="1"/>
          <p:nvPr/>
        </p:nvSpPr>
        <p:spPr>
          <a:xfrm>
            <a:off x="8375904" y="3968496"/>
            <a:ext cx="3063240" cy="5852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Select y1 from final-position logits</a:t>
            </a:r>
          </a:p>
        </p:txBody>
      </p:sp>
      <p:cxnSp>
        <p:nvCxnSpPr>
          <p:cNvPr id="38" name="Connector 37"/>
          <p:cNvCxnSpPr/>
          <p:nvPr/>
        </p:nvCxnSpPr>
        <p:spPr>
          <a:xfrm>
            <a:off x="3337560" y="4023360"/>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98664" y="4023360"/>
            <a:ext cx="63093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696712" y="4645152"/>
            <a:ext cx="0" cy="27432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94360" y="4956048"/>
            <a:ext cx="10991088" cy="566928"/>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093208"/>
            <a:ext cx="10625328" cy="310896"/>
          </a:xfrm>
          <a:prstGeom prst="rect">
            <a:avLst/>
          </a:prstGeom>
          <a:noFill/>
        </p:spPr>
        <p:txBody>
          <a:bodyPr wrap="square" lIns="13716" rIns="13716" tIns="13716" bIns="13716">
            <a:spAutoFit/>
          </a:bodyPr>
          <a:lstStyle/>
          <a:p>
            <a:pPr>
              <a:spcBef>
                <a:spcPts val="0"/>
              </a:spcBef>
              <a:spcAft>
                <a:spcPts val="500"/>
              </a:spcAft>
              <a:defRPr sz="1600" b="0">
                <a:solidFill>
                  <a:srgbClr val="087F8C"/>
                </a:solidFill>
                <a:latin typeface="Arial"/>
              </a:defRPr>
            </a:pPr>
            <a:r>
              <a:t>KV cache = per-layer attention keys + values for processed prompt tokens; reused during decode.</a:t>
            </a:r>
          </a:p>
        </p:txBody>
      </p:sp>
      <p:sp>
        <p:nvSpPr>
          <p:cNvPr id="43" name="TextBox 42"/>
          <p:cNvSpPr txBox="1"/>
          <p:nvPr/>
        </p:nvSpPr>
        <p:spPr>
          <a:xfrm>
            <a:off x="594360" y="5605272"/>
            <a:ext cx="10927080" cy="164592"/>
          </a:xfrm>
          <a:prstGeom prst="rect">
            <a:avLst/>
          </a:prstGeom>
          <a:noFill/>
        </p:spPr>
        <p:txBody>
          <a:bodyPr wrap="square" lIns="13716" rIns="13716" tIns="13716" bIns="13716">
            <a:spAutoFit/>
          </a:bodyPr>
          <a:lstStyle/>
          <a:p>
            <a:pPr>
              <a:spcBef>
                <a:spcPts val="0"/>
              </a:spcBef>
              <a:spcAft>
                <a:spcPts val="500"/>
              </a:spcAft>
              <a:defRPr sz="1000" b="0">
                <a:solidFill>
                  <a:srgbClr val="586A80"/>
                </a:solidFill>
                <a:latin typeface="Arial"/>
              </a:defRPr>
            </a:pPr>
            <a:r>
              <a:t>Parallel across prompt positions, with a causal mask—not permission to see future tokens.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FOUNDATIONS — DECODE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Decode: reuse KV state and generate the next token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Continue the same example: first output y1 = “ Paris”; then generate “.” and a stop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Decode does not rerun the whole prompt. Each step reuses past KV and appends the current token’s KV.</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56</a:t>
            </a:r>
          </a:p>
        </p:txBody>
      </p:sp>
      <p:sp>
        <p:nvSpPr>
          <p:cNvPr id="10" name="Rounded Rectangle 9"/>
          <p:cNvSpPr/>
          <p:nvPr/>
        </p:nvSpPr>
        <p:spPr>
          <a:xfrm>
            <a:off x="594360" y="2084831"/>
            <a:ext cx="5148072" cy="21122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2677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423160"/>
            <a:ext cx="4782312"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REUSE → COMPUTE → APPEND</a:t>
            </a:r>
          </a:p>
        </p:txBody>
      </p:sp>
      <p:sp>
        <p:nvSpPr>
          <p:cNvPr id="13" name="TextBox 12"/>
          <p:cNvSpPr txBox="1"/>
          <p:nvPr/>
        </p:nvSpPr>
        <p:spPr>
          <a:xfrm>
            <a:off x="777240" y="2798063"/>
            <a:ext cx="4782312"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Step 1: process “ Paris”</a:t>
            </a:r>
          </a:p>
        </p:txBody>
      </p:sp>
      <p:sp>
        <p:nvSpPr>
          <p:cNvPr id="14" name="TextBox 13"/>
          <p:cNvSpPr txBox="1"/>
          <p:nvPr/>
        </p:nvSpPr>
        <p:spPr>
          <a:xfrm>
            <a:off x="777240" y="3401568"/>
            <a:ext cx="4782312" cy="649224"/>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Input: y1 + prompt KV cache</a:t>
            </a:r>
          </a:p>
          <a:p>
            <a:pPr>
              <a:spcBef>
                <a:spcPts val="0"/>
              </a:spcBef>
              <a:spcAft>
                <a:spcPts val="500"/>
              </a:spcAft>
              <a:defRPr sz="1700" b="0">
                <a:solidFill>
                  <a:srgbClr val="172941"/>
                </a:solidFill>
                <a:latin typeface="Arial"/>
              </a:defRPr>
            </a:pPr>
            <a:r>
              <a:t>Append KV for y1; select y2 = “.”</a:t>
            </a:r>
          </a:p>
        </p:txBody>
      </p:sp>
      <p:sp>
        <p:nvSpPr>
          <p:cNvPr id="15" name="Rounded Rectangle 14"/>
          <p:cNvSpPr/>
          <p:nvPr/>
        </p:nvSpPr>
        <p:spPr>
          <a:xfrm>
            <a:off x="6428232" y="2084831"/>
            <a:ext cx="5148072" cy="21122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92824" y="22677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11112" y="2423160"/>
            <a:ext cx="4782312"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REPEAT UNTIL A STOP CONDITION</a:t>
            </a:r>
          </a:p>
        </p:txBody>
      </p:sp>
      <p:sp>
        <p:nvSpPr>
          <p:cNvPr id="18" name="TextBox 17"/>
          <p:cNvSpPr txBox="1"/>
          <p:nvPr/>
        </p:nvSpPr>
        <p:spPr>
          <a:xfrm>
            <a:off x="6611112" y="2798063"/>
            <a:ext cx="4782312"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Step 2: process “.”</a:t>
            </a:r>
          </a:p>
        </p:txBody>
      </p:sp>
      <p:sp>
        <p:nvSpPr>
          <p:cNvPr id="19" name="TextBox 18"/>
          <p:cNvSpPr txBox="1"/>
          <p:nvPr/>
        </p:nvSpPr>
        <p:spPr>
          <a:xfrm>
            <a:off x="6611112" y="3401568"/>
            <a:ext cx="4782312" cy="649224"/>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Input: y2 + KV for prompt and y1</a:t>
            </a:r>
          </a:p>
          <a:p>
            <a:pPr>
              <a:spcBef>
                <a:spcPts val="0"/>
              </a:spcBef>
              <a:spcAft>
                <a:spcPts val="500"/>
              </a:spcAft>
              <a:defRPr sz="1700" b="0">
                <a:solidFill>
                  <a:srgbClr val="172941"/>
                </a:solidFill>
                <a:latin typeface="Arial"/>
              </a:defRPr>
            </a:pPr>
            <a:r>
              <a:t>Append KV for y2; select y3 = EOS</a:t>
            </a:r>
          </a:p>
        </p:txBody>
      </p:sp>
      <p:cxnSp>
        <p:nvCxnSpPr>
          <p:cNvPr id="20" name="Connector 19"/>
          <p:cNvCxnSpPr/>
          <p:nvPr/>
        </p:nvCxnSpPr>
        <p:spPr>
          <a:xfrm>
            <a:off x="5742432" y="3191256"/>
            <a:ext cx="6858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4360" y="4288536"/>
            <a:ext cx="10963656"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CLIENT-VISIBLE TIMING  /  SCHEMATIC, NOT TO SCALE</a:t>
            </a:r>
          </a:p>
        </p:txBody>
      </p:sp>
      <p:sp>
        <p:nvSpPr>
          <p:cNvPr id="22" name="Rounded Rectangle 21"/>
          <p:cNvSpPr/>
          <p:nvPr/>
        </p:nvSpPr>
        <p:spPr>
          <a:xfrm>
            <a:off x="594360" y="4773168"/>
            <a:ext cx="3063240" cy="8595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4360" y="4864607"/>
            <a:ext cx="50292" cy="6766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4892040"/>
            <a:ext cx="27889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Request sent</a:t>
            </a:r>
          </a:p>
        </p:txBody>
      </p:sp>
      <p:sp>
        <p:nvSpPr>
          <p:cNvPr id="25" name="TextBox 24"/>
          <p:cNvSpPr txBox="1"/>
          <p:nvPr/>
        </p:nvSpPr>
        <p:spPr>
          <a:xfrm>
            <a:off x="740664" y="5330951"/>
            <a:ext cx="2770632" cy="21031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submitted</a:t>
            </a:r>
          </a:p>
        </p:txBody>
      </p:sp>
      <p:sp>
        <p:nvSpPr>
          <p:cNvPr id="26" name="Rounded Rectangle 25"/>
          <p:cNvSpPr/>
          <p:nvPr/>
        </p:nvSpPr>
        <p:spPr>
          <a:xfrm>
            <a:off x="4096512" y="4773168"/>
            <a:ext cx="3063240" cy="8595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096512" y="4864607"/>
            <a:ext cx="50292" cy="6766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33672" y="4892040"/>
            <a:ext cx="27889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 Paris”</a:t>
            </a:r>
          </a:p>
        </p:txBody>
      </p:sp>
      <p:sp>
        <p:nvSpPr>
          <p:cNvPr id="29" name="TextBox 28"/>
          <p:cNvSpPr txBox="1"/>
          <p:nvPr/>
        </p:nvSpPr>
        <p:spPr>
          <a:xfrm>
            <a:off x="4242816" y="5330951"/>
            <a:ext cx="2770632" cy="21031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First output token</a:t>
            </a:r>
          </a:p>
        </p:txBody>
      </p:sp>
      <p:sp>
        <p:nvSpPr>
          <p:cNvPr id="30" name="Rounded Rectangle 29"/>
          <p:cNvSpPr/>
          <p:nvPr/>
        </p:nvSpPr>
        <p:spPr>
          <a:xfrm>
            <a:off x="7598664" y="4773168"/>
            <a:ext cx="3063240" cy="8595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98664" y="4864607"/>
            <a:ext cx="50292" cy="6766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35824" y="4892040"/>
            <a:ext cx="27889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a:t>
            </a:r>
          </a:p>
        </p:txBody>
      </p:sp>
      <p:sp>
        <p:nvSpPr>
          <p:cNvPr id="33" name="TextBox 32"/>
          <p:cNvSpPr txBox="1"/>
          <p:nvPr/>
        </p:nvSpPr>
        <p:spPr>
          <a:xfrm>
            <a:off x="7744968" y="5330951"/>
            <a:ext cx="2770632" cy="21031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Next visible token</a:t>
            </a:r>
          </a:p>
        </p:txBody>
      </p:sp>
      <p:cxnSp>
        <p:nvCxnSpPr>
          <p:cNvPr id="34" name="Connector 33"/>
          <p:cNvCxnSpPr/>
          <p:nvPr/>
        </p:nvCxnSpPr>
        <p:spPr>
          <a:xfrm>
            <a:off x="3657600" y="519379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159752" y="5193792"/>
            <a:ext cx="4389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993392" y="4517136"/>
            <a:ext cx="2743200" cy="228600"/>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TTFT: request → first token</a:t>
            </a:r>
          </a:p>
        </p:txBody>
      </p:sp>
      <p:sp>
        <p:nvSpPr>
          <p:cNvPr id="37" name="TextBox 36"/>
          <p:cNvSpPr txBox="1"/>
          <p:nvPr/>
        </p:nvSpPr>
        <p:spPr>
          <a:xfrm>
            <a:off x="5824728" y="4517136"/>
            <a:ext cx="3913632" cy="228600"/>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ITL: gap between output tokens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56</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56</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INTERFERENCE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prefill can stall an entire decode batch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13B LLM batch execution latency—not client TTFT. Panel scales differ.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can delay many token streams—not just the request carrying that prompt.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SHORTER PREFILL: 128 INPUT TOKENS</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LONGER PREFILL: 1,024 INPUT TOKENS</a:t>
            </a:r>
          </a:p>
        </p:txBody>
      </p:sp>
      <p:pic>
        <p:nvPicPr>
          <p:cNvPr id="12" name="Picture 11" descr="distserve-fig2-interference.png"/>
          <p:cNvPicPr>
            <a:picLocks noChangeAspect="1"/>
          </p:cNvPicPr>
          <p:nvPr/>
        </p:nvPicPr>
        <p:blipFill>
          <a:blip r:embed="rId2"/>
          <a:stretch>
            <a:fillRect/>
          </a:stretch>
        </p:blipFill>
        <p:spPr>
          <a:xfrm>
            <a:off x="1847088" y="2313432"/>
            <a:ext cx="8503920" cy="3342681"/>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2 • arxiv.org/abs/2401.09670v2 • CC BY-SA 4.0 • external study, not KAITO results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RESOURCE SHAPE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two phases prefer different batching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study: phase-only throughput as batch size changes for a 13B LLM.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Prefill and decode need different tuning—not one shared batch, parallelism and replica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56</a:t>
            </a:r>
          </a:p>
        </p:txBody>
      </p:sp>
      <p:sp>
        <p:nvSpPr>
          <p:cNvPr id="10" name="TextBox 9"/>
          <p:cNvSpPr txBox="1"/>
          <p:nvPr/>
        </p:nvSpPr>
        <p:spPr>
          <a:xfrm>
            <a:off x="1472184" y="1975104"/>
            <a:ext cx="437997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PREFILL: EARLIER THROUGHPUT PLATEAU</a:t>
            </a:r>
          </a:p>
        </p:txBody>
      </p:sp>
      <p:sp>
        <p:nvSpPr>
          <p:cNvPr id="11" name="TextBox 10"/>
          <p:cNvSpPr txBox="1"/>
          <p:nvPr/>
        </p:nvSpPr>
        <p:spPr>
          <a:xfrm>
            <a:off x="6199632" y="1975104"/>
            <a:ext cx="4517136" cy="256032"/>
          </a:xfrm>
          <a:prstGeom prst="rect">
            <a:avLst/>
          </a:prstGeom>
          <a:noFill/>
        </p:spPr>
        <p:txBody>
          <a:bodyPr wrap="square" lIns="13716" rIns="13716" tIns="13716" bIns="13716">
            <a:spAutoFit/>
          </a:bodyPr>
          <a:lstStyle/>
          <a:p>
            <a:pPr algn="ctr">
              <a:spcBef>
                <a:spcPts val="0"/>
              </a:spcBef>
              <a:spcAft>
                <a:spcPts val="500"/>
              </a:spcAft>
              <a:defRPr sz="1300" b="1">
                <a:solidFill>
                  <a:srgbClr val="7354B8"/>
                </a:solidFill>
                <a:latin typeface="Arial"/>
              </a:defRPr>
            </a:pPr>
            <a:r>
              <a:t>DECODE: BATCHING AMORTIZES WORK</a:t>
            </a:r>
          </a:p>
        </p:txBody>
      </p:sp>
      <p:pic>
        <p:nvPicPr>
          <p:cNvPr id="12" name="Picture 11" descr="distserve-fig3-throughput.png"/>
          <p:cNvPicPr>
            <a:picLocks noChangeAspect="1"/>
          </p:cNvPicPr>
          <p:nvPr/>
        </p:nvPicPr>
        <p:blipFill>
          <a:blip r:embed="rId2"/>
          <a:stretch>
            <a:fillRect/>
          </a:stretch>
        </p:blipFill>
        <p:spPr>
          <a:xfrm>
            <a:off x="1847088" y="2313432"/>
            <a:ext cx="8503920" cy="3249156"/>
          </a:xfrm>
          <a:prstGeom prst="rect">
            <a:avLst/>
          </a:prstGeom>
        </p:spPr>
      </p:pic>
      <p:sp>
        <p:nvSpPr>
          <p:cNvPr id="13" name="TextBox 12"/>
          <p:cNvSpPr txBox="1"/>
          <p:nvPr/>
        </p:nvSpPr>
        <p:spPr>
          <a:xfrm>
            <a:off x="594360" y="5641848"/>
            <a:ext cx="10405872"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 Zhong et al., DistServe (2024), Fig. 3 • arxiv.org/abs/2401.09670v2 • CC BY-SA 4.0 • external study, not KAITO results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WHY SPLIT — CAPACITY CONTROL</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Independent pools remove a forced compromise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payoff is a separate capacity decision for each phase—not separation for its own sake.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Split only when phase-specific gains outweigh KV transfer, duplicated weights and operational cost.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56</a:t>
            </a:r>
          </a:p>
        </p:txBody>
      </p:sp>
      <p:sp>
        <p:nvSpPr>
          <p:cNvPr id="10" name="Rounded Rectangle 9"/>
          <p:cNvSpPr/>
          <p:nvPr/>
        </p:nvSpPr>
        <p:spPr>
          <a:xfrm>
            <a:off x="502920"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INPUT SIDE</a:t>
            </a:r>
          </a:p>
        </p:txBody>
      </p:sp>
      <p:sp>
        <p:nvSpPr>
          <p:cNvPr id="13" name="TextBox 12"/>
          <p:cNvSpPr txBox="1"/>
          <p:nvPr/>
        </p:nvSpPr>
        <p:spPr>
          <a:xfrm>
            <a:off x="685800"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Prompt-heavy demand</a:t>
            </a:r>
          </a:p>
        </p:txBody>
      </p:sp>
      <p:sp>
        <p:nvSpPr>
          <p:cNvPr id="14" name="TextBox 13"/>
          <p:cNvSpPr txBox="1"/>
          <p:nvPr/>
        </p:nvSpPr>
        <p:spPr>
          <a:xfrm>
            <a:off x="685800"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Usually compute-bound; target TTFT.</a:t>
            </a:r>
          </a:p>
          <a:p>
            <a:pPr>
              <a:spcBef>
                <a:spcPts val="0"/>
              </a:spcBef>
              <a:spcAft>
                <a:spcPts val="500"/>
              </a:spcAft>
              <a:defRPr sz="1800" b="0">
                <a:solidFill>
                  <a:srgbClr val="172941"/>
                </a:solidFill>
                <a:latin typeface="Arial"/>
              </a:defRPr>
            </a:pPr>
            <a:r>
              <a:t>Tune prefill capacity / parallelism first.</a:t>
            </a:r>
          </a:p>
        </p:txBody>
      </p:sp>
      <p:sp>
        <p:nvSpPr>
          <p:cNvPr id="15" name="Rounded Rectangle 14"/>
          <p:cNvSpPr/>
          <p:nvPr/>
        </p:nvSpPr>
        <p:spPr>
          <a:xfrm>
            <a:off x="6199632" y="2148840"/>
            <a:ext cx="5449824" cy="2212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82512" y="2487168"/>
            <a:ext cx="50840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OUTPUT SIDE</a:t>
            </a:r>
          </a:p>
        </p:txBody>
      </p:sp>
      <p:sp>
        <p:nvSpPr>
          <p:cNvPr id="18" name="TextBox 17"/>
          <p:cNvSpPr txBox="1"/>
          <p:nvPr/>
        </p:nvSpPr>
        <p:spPr>
          <a:xfrm>
            <a:off x="6382512" y="2862072"/>
            <a:ext cx="50840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Generation-heavy demand</a:t>
            </a:r>
          </a:p>
        </p:txBody>
      </p:sp>
      <p:sp>
        <p:nvSpPr>
          <p:cNvPr id="19" name="TextBox 18"/>
          <p:cNvSpPr txBox="1"/>
          <p:nvPr/>
        </p:nvSpPr>
        <p:spPr>
          <a:xfrm>
            <a:off x="6382512" y="3465576"/>
            <a:ext cx="5084064" cy="74980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Often bandwidth-bound; target ITL.</a:t>
            </a:r>
          </a:p>
          <a:p>
            <a:pPr>
              <a:spcBef>
                <a:spcPts val="0"/>
              </a:spcBef>
              <a:spcAft>
                <a:spcPts val="500"/>
              </a:spcAft>
              <a:defRPr sz="1800" b="0">
                <a:solidFill>
                  <a:srgbClr val="172941"/>
                </a:solidFill>
                <a:latin typeface="Arial"/>
              </a:defRPr>
            </a:pPr>
            <a:r>
              <a:t>Tune decode capacity / batching first.</a:t>
            </a:r>
          </a:p>
        </p:txBody>
      </p:sp>
      <p:sp>
        <p:nvSpPr>
          <p:cNvPr id="20" name="Rounded Rectangle 19"/>
          <p:cNvSpPr/>
          <p:nvPr/>
        </p:nvSpPr>
        <p:spPr>
          <a:xfrm>
            <a:off x="594360"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590288"/>
            <a:ext cx="50292" cy="8321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Different latency targets</a:t>
            </a:r>
          </a:p>
        </p:txBody>
      </p:sp>
      <p:sp>
        <p:nvSpPr>
          <p:cNvPr id="23" name="TextBox 22"/>
          <p:cNvSpPr txBox="1"/>
          <p:nvPr/>
        </p:nvSpPr>
        <p:spPr>
          <a:xfrm>
            <a:off x="740664"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TTFT versus token delivery</a:t>
            </a:r>
          </a:p>
        </p:txBody>
      </p:sp>
      <p:sp>
        <p:nvSpPr>
          <p:cNvPr id="24" name="Rounded Rectangle 23"/>
          <p:cNvSpPr/>
          <p:nvPr/>
        </p:nvSpPr>
        <p:spPr>
          <a:xfrm>
            <a:off x="4334256"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6" y="4590288"/>
            <a:ext cx="50292" cy="8321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1416"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Different resource needs</a:t>
            </a:r>
          </a:p>
        </p:txBody>
      </p:sp>
      <p:sp>
        <p:nvSpPr>
          <p:cNvPr id="27" name="TextBox 26"/>
          <p:cNvSpPr txBox="1"/>
          <p:nvPr/>
        </p:nvSpPr>
        <p:spPr>
          <a:xfrm>
            <a:off x="4480560"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bandwidth, active KV</a:t>
            </a:r>
          </a:p>
        </p:txBody>
      </p:sp>
      <p:sp>
        <p:nvSpPr>
          <p:cNvPr id="28" name="Rounded Rectangle 27"/>
          <p:cNvSpPr/>
          <p:nvPr/>
        </p:nvSpPr>
        <p:spPr>
          <a:xfrm>
            <a:off x="8074152" y="4498848"/>
            <a:ext cx="3520440" cy="101498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590288"/>
            <a:ext cx="50292" cy="8321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617720"/>
            <a:ext cx="324612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Different capacity knobs</a:t>
            </a:r>
          </a:p>
        </p:txBody>
      </p:sp>
      <p:sp>
        <p:nvSpPr>
          <p:cNvPr id="31" name="TextBox 30"/>
          <p:cNvSpPr txBox="1"/>
          <p:nvPr/>
        </p:nvSpPr>
        <p:spPr>
          <a:xfrm>
            <a:off x="8220456" y="5056631"/>
            <a:ext cx="3227832" cy="36576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Replicas, TP, batching policy</a:t>
            </a:r>
          </a:p>
        </p:txBody>
      </p:sp>
      <p:sp>
        <p:nvSpPr>
          <p:cNvPr id="32" name="TextBox 31"/>
          <p:cNvSpPr txBox="1"/>
          <p:nvPr/>
        </p:nvSpPr>
        <p:spPr>
          <a:xfrm>
            <a:off x="594360" y="5641848"/>
            <a:ext cx="10789920" cy="128016"/>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Sources: NVIDIA Dynamo disaggregated-serving overview + DistServe §2.3 • Conceptual; bottlenecks depend on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56</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56</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56</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56</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56</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56</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56</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56</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56</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56</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56</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56</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56</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56</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56</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56</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56</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56</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56</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56</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56</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56</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56</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56</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56</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56</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IMPLEMENTATION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annotations wire each role to its own scaler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Reuse existing InferenceSet scaling; add an explicit MRI-to-role policy adapter.</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Proposed MRI integration—not enabled today by adding annotations alone.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56</a:t>
            </a:r>
          </a:p>
        </p:txBody>
      </p:sp>
      <p:sp>
        <p:nvSpPr>
          <p:cNvPr id="10" name="Rounded Rectangle 9"/>
          <p:cNvSpPr/>
          <p:nvPr/>
        </p:nvSpPr>
        <p:spPr>
          <a:xfrm>
            <a:off x="502920" y="2048256"/>
            <a:ext cx="2971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9696"/>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67128"/>
            <a:ext cx="2697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MultiRoleInference</a:t>
            </a:r>
          </a:p>
        </p:txBody>
      </p:sp>
      <p:sp>
        <p:nvSpPr>
          <p:cNvPr id="13" name="TextBox 12"/>
          <p:cNvSpPr txBox="1"/>
          <p:nvPr/>
        </p:nvSpPr>
        <p:spPr>
          <a:xfrm>
            <a:off x="649224" y="2606040"/>
            <a:ext cx="2679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autoscaling.kaito.sh/roles</a:t>
            </a:r>
          </a:p>
        </p:txBody>
      </p:sp>
      <p:sp>
        <p:nvSpPr>
          <p:cNvPr id="14" name="Rounded Rectangle 13"/>
          <p:cNvSpPr/>
          <p:nvPr/>
        </p:nvSpPr>
        <p:spPr>
          <a:xfrm>
            <a:off x="3877056" y="2048256"/>
            <a:ext cx="29992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77056" y="2139696"/>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014216" y="2167128"/>
            <a:ext cx="27249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MRI adapter (new)</a:t>
            </a:r>
          </a:p>
        </p:txBody>
      </p:sp>
      <p:sp>
        <p:nvSpPr>
          <p:cNvPr id="17" name="TextBox 16"/>
          <p:cNvSpPr txBox="1"/>
          <p:nvPr/>
        </p:nvSpPr>
        <p:spPr>
          <a:xfrm>
            <a:off x="4023360" y="2606040"/>
            <a:ext cx="27066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Validate + project by role</a:t>
            </a:r>
          </a:p>
        </p:txBody>
      </p:sp>
      <p:sp>
        <p:nvSpPr>
          <p:cNvPr id="18" name="Rounded Rectangle 17"/>
          <p:cNvSpPr/>
          <p:nvPr/>
        </p:nvSpPr>
        <p:spPr>
          <a:xfrm>
            <a:off x="7315200" y="2048256"/>
            <a:ext cx="4370832"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315200" y="2139696"/>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52360" y="2167128"/>
            <a:ext cx="409651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Role InferenceSet metadata</a:t>
            </a:r>
          </a:p>
        </p:txBody>
      </p:sp>
      <p:sp>
        <p:nvSpPr>
          <p:cNvPr id="21" name="TextBox 20"/>
          <p:cNvSpPr txBox="1"/>
          <p:nvPr/>
        </p:nvSpPr>
        <p:spPr>
          <a:xfrm>
            <a:off x="7461504" y="2606040"/>
            <a:ext cx="4078224"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scaledobject.kaito.sh/*</a:t>
            </a:r>
          </a:p>
        </p:txBody>
      </p:sp>
      <p:cxnSp>
        <p:nvCxnSpPr>
          <p:cNvPr id="22" name="Connector 21"/>
          <p:cNvCxnSpPr/>
          <p:nvPr/>
        </p:nvCxnSpPr>
        <p:spPr>
          <a:xfrm>
            <a:off x="3474720" y="2542032"/>
            <a:ext cx="40233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6288" y="2542032"/>
            <a:ext cx="4389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255264"/>
            <a:ext cx="5559552" cy="2340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401568"/>
            <a:ext cx="5193792" cy="27432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GENERATED PREFILL CHILD ANNOTATIONS</a:t>
            </a:r>
          </a:p>
        </p:txBody>
      </p:sp>
      <p:sp>
        <p:nvSpPr>
          <p:cNvPr id="26" name="TextBox 25"/>
          <p:cNvSpPr txBox="1"/>
          <p:nvPr/>
        </p:nvSpPr>
        <p:spPr>
          <a:xfrm>
            <a:off x="685800" y="3831336"/>
            <a:ext cx="5193792" cy="1609344"/>
          </a:xfrm>
          <a:prstGeom prst="rect">
            <a:avLst/>
          </a:prstGeom>
          <a:noFill/>
        </p:spPr>
        <p:txBody>
          <a:bodyPr wrap="square" lIns="13716" rIns="13716" tIns="13716" bIns="13716">
            <a:spAutoFit/>
          </a:bodyPr>
          <a:lstStyle/>
          <a:p>
            <a:pPr>
              <a:spcBef>
                <a:spcPts val="0"/>
              </a:spcBef>
              <a:spcAft>
                <a:spcPts val="0"/>
              </a:spcAft>
              <a:defRPr sz="1160" b="0">
                <a:solidFill>
                  <a:srgbClr val="172941"/>
                </a:solidFill>
                <a:latin typeface="Courier New"/>
              </a:defRPr>
            </a:pPr>
            <a:r>
              <a:t>scaledobject.kaito.sh/auto-provision: "true"</a:t>
            </a:r>
          </a:p>
          <a:p>
            <a:pPr>
              <a:spcBef>
                <a:spcPts val="0"/>
              </a:spcBef>
              <a:spcAft>
                <a:spcPts val="0"/>
              </a:spcAft>
              <a:defRPr sz="1160" b="0">
                <a:solidFill>
                  <a:srgbClr val="172941"/>
                </a:solidFill>
                <a:latin typeface="Courier New"/>
              </a:defRPr>
            </a:pPr>
            <a:r>
              <a:t>scaledobject.kaito.sh/min-replicas: "1"</a:t>
            </a:r>
          </a:p>
          <a:p>
            <a:pPr>
              <a:spcBef>
                <a:spcPts val="0"/>
              </a:spcBef>
              <a:spcAft>
                <a:spcPts val="0"/>
              </a:spcAft>
              <a:defRPr sz="1160" b="0">
                <a:solidFill>
                  <a:srgbClr val="172941"/>
                </a:solidFill>
                <a:latin typeface="Courier New"/>
              </a:defRPr>
            </a:pPr>
            <a:r>
              <a:t>scaledobject.kaito.sh/max-replicas: "8"</a:t>
            </a:r>
          </a:p>
          <a:p>
            <a:pPr>
              <a:spcBef>
                <a:spcPts val="0"/>
              </a:spcBef>
              <a:spcAft>
                <a:spcPts val="0"/>
              </a:spcAft>
              <a:defRPr sz="1160" b="0">
                <a:solidFill>
                  <a:srgbClr val="172941"/>
                </a:solidFill>
                <a:latin typeface="Courier New"/>
              </a:defRPr>
            </a:pPr>
            <a:r>
              <a:t>scaledobject.kaito.sh/combinepolicy: AND</a:t>
            </a:r>
          </a:p>
          <a:p>
            <a:pPr>
              <a:spcBef>
                <a:spcPts val="0"/>
              </a:spcBef>
              <a:spcAft>
                <a:spcPts val="0"/>
              </a:spcAft>
              <a:defRPr sz="1160" b="0">
                <a:solidFill>
                  <a:srgbClr val="172941"/>
                </a:solidFill>
                <a:latin typeface="Courier New"/>
              </a:defRPr>
            </a:pPr>
            <a:r>
              <a:t>scaledobject.kaito.sh/metrics: |</a:t>
            </a:r>
          </a:p>
          <a:p>
            <a:pPr>
              <a:spcBef>
                <a:spcPts val="0"/>
              </a:spcBef>
              <a:spcAft>
                <a:spcPts val="0"/>
              </a:spcAft>
              <a:defRPr sz="1160" b="0">
                <a:solidFill>
                  <a:srgbClr val="172941"/>
                </a:solidFill>
                <a:latin typeface="Courier New"/>
              </a:defRPr>
            </a:pPr>
            <a:r>
              <a:t>  - name: vllm:num_requests_waiting</a:t>
            </a:r>
          </a:p>
          <a:p>
            <a:pPr>
              <a:spcBef>
                <a:spcPts val="0"/>
              </a:spcBef>
              <a:spcAft>
                <a:spcPts val="0"/>
              </a:spcAft>
              <a:defRPr sz="1160" b="0">
                <a:solidFill>
                  <a:srgbClr val="172941"/>
                </a:solidFill>
                <a:latin typeface="Courier New"/>
              </a:defRPr>
            </a:pPr>
            <a:r>
              <a:t>    type: gauge</a:t>
            </a:r>
          </a:p>
          <a:p>
            <a:pPr>
              <a:spcBef>
                <a:spcPts val="0"/>
              </a:spcBef>
              <a:spcAft>
                <a:spcPts val="0"/>
              </a:spcAft>
              <a:defRPr sz="1160" b="0">
                <a:solidFill>
                  <a:srgbClr val="172941"/>
                </a:solidFill>
                <a:latin typeface="Courier New"/>
              </a:defRPr>
            </a:pPr>
            <a:r>
              <a:t>    upthreshold: 8</a:t>
            </a:r>
          </a:p>
          <a:p>
            <a:pPr>
              <a:spcBef>
                <a:spcPts val="0"/>
              </a:spcBef>
              <a:spcAft>
                <a:spcPts val="0"/>
              </a:spcAft>
              <a:defRPr sz="1160" b="0">
                <a:solidFill>
                  <a:srgbClr val="172941"/>
                </a:solidFill>
                <a:latin typeface="Courier New"/>
              </a:defRPr>
            </a:pPr>
            <a:r>
              <a:t>    downthreshold: 1</a:t>
            </a:r>
          </a:p>
        </p:txBody>
      </p:sp>
      <p:sp>
        <p:nvSpPr>
          <p:cNvPr id="27" name="TextBox 26"/>
          <p:cNvSpPr txBox="1"/>
          <p:nvPr/>
        </p:nvSpPr>
        <p:spPr>
          <a:xfrm>
            <a:off x="6400800" y="3282696"/>
            <a:ext cx="5166360" cy="301752"/>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ONE PATH PER ROLE</a:t>
            </a:r>
          </a:p>
        </p:txBody>
      </p:sp>
      <p:sp>
        <p:nvSpPr>
          <p:cNvPr id="28" name="TextBox 27"/>
          <p:cNvSpPr txBox="1"/>
          <p:nvPr/>
        </p:nvSpPr>
        <p:spPr>
          <a:xfrm>
            <a:off x="6400800" y="3675887"/>
            <a:ext cx="5166360" cy="7132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Scaler provisions ScaledObject</a:t>
            </a:r>
          </a:p>
          <a:p>
            <a:pPr>
              <a:spcBef>
                <a:spcPts val="0"/>
              </a:spcBef>
              <a:spcAft>
                <a:spcPts val="500"/>
              </a:spcAft>
              <a:defRPr sz="1800" b="0">
                <a:solidFill>
                  <a:srgbClr val="172941"/>
                </a:solidFill>
                <a:latin typeface="Arial"/>
              </a:defRPr>
            </a:pPr>
            <a:r>
              <a:t>KEDA / HPA writes InferenceSet /scale</a:t>
            </a:r>
          </a:p>
        </p:txBody>
      </p:sp>
      <p:sp>
        <p:nvSpPr>
          <p:cNvPr id="29" name="TextBox 28"/>
          <p:cNvSpPr txBox="1"/>
          <p:nvPr/>
        </p:nvSpPr>
        <p:spPr>
          <a:xfrm>
            <a:off x="6400800" y="4544568"/>
            <a:ext cx="5166360" cy="1033271"/>
          </a:xfrm>
          <a:prstGeom prst="rect">
            <a:avLst/>
          </a:prstGeom>
          <a:noFill/>
        </p:spPr>
        <p:txBody>
          <a:bodyPr wrap="square" lIns="13716" rIns="13716" tIns="13716" bIns="13716">
            <a:spAutoFit/>
          </a:bodyPr>
          <a:lstStyle/>
          <a:p>
            <a:pPr>
              <a:spcBef>
                <a:spcPts val="0"/>
              </a:spcBef>
              <a:spcAft>
                <a:spcPts val="500"/>
              </a:spcAft>
              <a:defRPr sz="1500" b="0">
                <a:solidFill>
                  <a:srgbClr val="AE641A"/>
                </a:solidFill>
                <a:latin typeface="Arial"/>
              </a:defRPr>
            </a:pPr>
            <a:r>
              <a:t>Required: opt in MRI-owned children</a:t>
            </a:r>
          </a:p>
          <a:p>
            <a:pPr>
              <a:spcBef>
                <a:spcPts val="0"/>
              </a:spcBef>
              <a:spcAft>
                <a:spcPts val="500"/>
              </a:spcAft>
              <a:defRPr sz="1500" b="0">
                <a:solidFill>
                  <a:srgbClr val="AE641A"/>
                </a:solidFill>
                <a:latin typeface="Arial"/>
              </a:defRPr>
            </a:pPr>
            <a:r>
              <a:t>Write metadata, not template annotations</a:t>
            </a:r>
          </a:p>
          <a:p>
            <a:pPr>
              <a:spcBef>
                <a:spcPts val="0"/>
              </a:spcBef>
              <a:spcAft>
                <a:spcPts val="500"/>
              </a:spcAft>
              <a:defRPr sz="1500" b="0">
                <a:solidFill>
                  <a:srgbClr val="AE641A"/>
                </a:solidFill>
                <a:latin typeface="Arial"/>
              </a:defRPr>
            </a:pPr>
            <a:r>
              <a:t>replicas: null releases MRI enforcement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KAITO ANNOTATION EXAMPLE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Example: one MRI policy, independent P/D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Illustrative policy excerpts. Full proposed manifest is linked in the speaker notes.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Requires the MRI adapter + child opt-in above. Thresholds are examples, not production tuning.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56</a:t>
            </a:r>
          </a:p>
        </p:txBody>
      </p:sp>
      <p:sp>
        <p:nvSpPr>
          <p:cNvPr id="10" name="Rounded Rectangle 9"/>
          <p:cNvSpPr/>
          <p:nvPr/>
        </p:nvSpPr>
        <p:spPr>
          <a:xfrm>
            <a:off x="502920" y="2029968"/>
            <a:ext cx="5669280" cy="3685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5303520" cy="22860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Courier New"/>
              </a:defRPr>
            </a:pPr>
            <a:r>
              <a:t>MRI metadata.annotations</a:t>
            </a:r>
          </a:p>
        </p:txBody>
      </p:sp>
      <p:sp>
        <p:nvSpPr>
          <p:cNvPr id="12" name="TextBox 11"/>
          <p:cNvSpPr txBox="1"/>
          <p:nvPr/>
        </p:nvSpPr>
        <p:spPr>
          <a:xfrm>
            <a:off x="685800" y="2423160"/>
            <a:ext cx="5303520" cy="3282696"/>
          </a:xfrm>
          <a:prstGeom prst="rect">
            <a:avLst/>
          </a:prstGeom>
          <a:noFill/>
        </p:spPr>
        <p:txBody>
          <a:bodyPr wrap="square" lIns="13716" rIns="13716" tIns="13716" bIns="13716">
            <a:spAutoFit/>
          </a:bodyPr>
          <a:lstStyle/>
          <a:p>
            <a:pPr>
              <a:lnSpc>
                <a:spcPts val="1220"/>
              </a:lnSpc>
              <a:spcBef>
                <a:spcPts val="0"/>
              </a:spcBef>
              <a:spcAft>
                <a:spcPts val="0"/>
              </a:spcAft>
              <a:defRPr sz="1070" b="0">
                <a:solidFill>
                  <a:srgbClr val="172941"/>
                </a:solidFill>
                <a:latin typeface="Courier New"/>
              </a:defRPr>
            </a:pPr>
            <a:r>
              <a:t>autoscaling.kaito.sh/roles: |</a:t>
            </a:r>
          </a:p>
          <a:p>
            <a:pPr>
              <a:lnSpc>
                <a:spcPts val="1220"/>
              </a:lnSpc>
              <a:spcBef>
                <a:spcPts val="0"/>
              </a:spcBef>
              <a:spcAft>
                <a:spcPts val="0"/>
              </a:spcAft>
              <a:defRPr sz="1070" b="0">
                <a:solidFill>
                  <a:srgbClr val="172941"/>
                </a:solidFill>
                <a:latin typeface="Courier New"/>
              </a:defRPr>
            </a:pPr>
            <a:r>
              <a:t>  version: v1alpha1</a:t>
            </a:r>
          </a:p>
          <a:p>
            <a:pPr>
              <a:lnSpc>
                <a:spcPts val="1220"/>
              </a:lnSpc>
              <a:spcBef>
                <a:spcPts val="0"/>
              </a:spcBef>
              <a:spcAft>
                <a:spcPts val="0"/>
              </a:spcAft>
              <a:defRPr sz="1070" b="0">
                <a:solidFill>
                  <a:srgbClr val="172941"/>
                </a:solidFill>
                <a:latin typeface="Courier New"/>
              </a:defRPr>
            </a:pPr>
            <a:r>
              <a:t>  roles:</a:t>
            </a:r>
          </a:p>
          <a:p>
            <a:pPr>
              <a:lnSpc>
                <a:spcPts val="1220"/>
              </a:lnSpc>
              <a:spcBef>
                <a:spcPts val="0"/>
              </a:spcBef>
              <a:spcAft>
                <a:spcPts val="0"/>
              </a:spcAft>
              <a:defRPr sz="1070" b="0">
                <a:solidFill>
                  <a:srgbClr val="172941"/>
                </a:solidFill>
                <a:latin typeface="Courier New"/>
              </a:defRPr>
            </a:pPr>
            <a:r>
              <a:t>    prefill:</a:t>
            </a:r>
          </a:p>
          <a:p>
            <a:pPr>
              <a:lnSpc>
                <a:spcPts val="1220"/>
              </a:lnSpc>
              <a:spcBef>
                <a:spcPts val="0"/>
              </a:spcBef>
              <a:spcAft>
                <a:spcPts val="0"/>
              </a:spcAft>
              <a:defRPr sz="1070" b="0">
                <a:solidFill>
                  <a:srgbClr val="172941"/>
                </a:solidFill>
                <a:latin typeface="Courier New"/>
              </a:defRPr>
            </a:pPr>
            <a:r>
              <a:t>      min-replicas: "1"</a:t>
            </a:r>
          </a:p>
          <a:p>
            <a:pPr>
              <a:lnSpc>
                <a:spcPts val="1220"/>
              </a:lnSpc>
              <a:spcBef>
                <a:spcPts val="0"/>
              </a:spcBef>
              <a:spcAft>
                <a:spcPts val="0"/>
              </a:spcAft>
              <a:defRPr sz="1070" b="0">
                <a:solidFill>
                  <a:srgbClr val="172941"/>
                </a:solidFill>
                <a:latin typeface="Courier New"/>
              </a:defRPr>
            </a:pPr>
            <a:r>
              <a:t>      max-replicas: "8"</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vllm:num_requests_waiting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8</a:t>
            </a:r>
          </a:p>
          <a:p>
            <a:pPr>
              <a:lnSpc>
                <a:spcPts val="1220"/>
              </a:lnSpc>
              <a:spcBef>
                <a:spcPts val="0"/>
              </a:spcBef>
              <a:spcAft>
                <a:spcPts val="0"/>
              </a:spcAft>
              <a:defRPr sz="1070" b="0">
                <a:solidFill>
                  <a:srgbClr val="172941"/>
                </a:solidFill>
                <a:latin typeface="Courier New"/>
              </a:defRPr>
            </a:pPr>
            <a:r>
              <a:t>        downthreshold: 1</a:t>
            </a:r>
          </a:p>
          <a:p>
            <a:pPr>
              <a:lnSpc>
                <a:spcPts val="1220"/>
              </a:lnSpc>
              <a:spcBef>
                <a:spcPts val="0"/>
              </a:spcBef>
              <a:spcAft>
                <a:spcPts val="0"/>
              </a:spcAft>
              <a:defRPr sz="1070" b="0">
                <a:solidFill>
                  <a:srgbClr val="172941"/>
                </a:solidFill>
                <a:latin typeface="Courier New"/>
              </a:defRPr>
            </a:pPr>
            <a:r>
              <a:t>    decode:</a:t>
            </a:r>
          </a:p>
          <a:p>
            <a:pPr>
              <a:lnSpc>
                <a:spcPts val="1220"/>
              </a:lnSpc>
              <a:spcBef>
                <a:spcPts val="0"/>
              </a:spcBef>
              <a:spcAft>
                <a:spcPts val="0"/>
              </a:spcAft>
              <a:defRPr sz="1070" b="0">
                <a:solidFill>
                  <a:srgbClr val="172941"/>
                </a:solidFill>
                <a:latin typeface="Courier New"/>
              </a:defRPr>
            </a:pPr>
            <a:r>
              <a:t>      min-replicas: "2"</a:t>
            </a:r>
          </a:p>
          <a:p>
            <a:pPr>
              <a:lnSpc>
                <a:spcPts val="1220"/>
              </a:lnSpc>
              <a:spcBef>
                <a:spcPts val="0"/>
              </a:spcBef>
              <a:spcAft>
                <a:spcPts val="0"/>
              </a:spcAft>
              <a:defRPr sz="1070" b="0">
                <a:solidFill>
                  <a:srgbClr val="172941"/>
                </a:solidFill>
                <a:latin typeface="Courier New"/>
              </a:defRPr>
            </a:pPr>
            <a:r>
              <a:t>      max-replicas: "16"</a:t>
            </a:r>
          </a:p>
          <a:p>
            <a:pPr>
              <a:lnSpc>
                <a:spcPts val="1220"/>
              </a:lnSpc>
              <a:spcBef>
                <a:spcPts val="0"/>
              </a:spcBef>
              <a:spcAft>
                <a:spcPts val="0"/>
              </a:spcAft>
              <a:defRPr sz="1070" b="0">
                <a:solidFill>
                  <a:srgbClr val="172941"/>
                </a:solidFill>
                <a:latin typeface="Courier New"/>
              </a:defRPr>
            </a:pPr>
            <a:r>
              <a:t>      combinepolicy: AND</a:t>
            </a:r>
          </a:p>
          <a:p>
            <a:pPr>
              <a:lnSpc>
                <a:spcPts val="1220"/>
              </a:lnSpc>
              <a:spcBef>
                <a:spcPts val="0"/>
              </a:spcBef>
              <a:spcAft>
                <a:spcPts val="0"/>
              </a:spcAft>
              <a:defRPr sz="1070" b="0">
                <a:solidFill>
                  <a:srgbClr val="172941"/>
                </a:solidFill>
                <a:latin typeface="Courier New"/>
              </a:defRPr>
            </a:pPr>
            <a:r>
              <a:t>      metrics:</a:t>
            </a:r>
          </a:p>
          <a:p>
            <a:pPr>
              <a:lnSpc>
                <a:spcPts val="1220"/>
              </a:lnSpc>
              <a:spcBef>
                <a:spcPts val="0"/>
              </a:spcBef>
              <a:spcAft>
                <a:spcPts val="0"/>
              </a:spcAft>
              <a:defRPr sz="1070" b="0">
                <a:solidFill>
                  <a:srgbClr val="172941"/>
                </a:solidFill>
                <a:latin typeface="Courier New"/>
              </a:defRPr>
            </a:pPr>
            <a:r>
              <a:t>      - name: vllm:num_requests_running</a:t>
            </a:r>
          </a:p>
          <a:p>
            <a:pPr>
              <a:lnSpc>
                <a:spcPts val="1220"/>
              </a:lnSpc>
              <a:spcBef>
                <a:spcPts val="0"/>
              </a:spcBef>
              <a:spcAft>
                <a:spcPts val="0"/>
              </a:spcAft>
              <a:defRPr sz="1070" b="0">
                <a:solidFill>
                  <a:srgbClr val="172941"/>
                </a:solidFill>
                <a:latin typeface="Courier New"/>
              </a:defRPr>
            </a:pPr>
            <a:r>
              <a:t>        type: gauge</a:t>
            </a:r>
          </a:p>
          <a:p>
            <a:pPr>
              <a:lnSpc>
                <a:spcPts val="1220"/>
              </a:lnSpc>
              <a:spcBef>
                <a:spcPts val="0"/>
              </a:spcBef>
              <a:spcAft>
                <a:spcPts val="0"/>
              </a:spcAft>
              <a:defRPr sz="1070" b="0">
                <a:solidFill>
                  <a:srgbClr val="172941"/>
                </a:solidFill>
                <a:latin typeface="Courier New"/>
              </a:defRPr>
            </a:pPr>
            <a:r>
              <a:t>        upthreshold: 24</a:t>
            </a:r>
          </a:p>
          <a:p>
            <a:pPr>
              <a:lnSpc>
                <a:spcPts val="1220"/>
              </a:lnSpc>
              <a:spcBef>
                <a:spcPts val="0"/>
              </a:spcBef>
              <a:spcAft>
                <a:spcPts val="0"/>
              </a:spcAft>
              <a:defRPr sz="1070" b="0">
                <a:solidFill>
                  <a:srgbClr val="172941"/>
                </a:solidFill>
                <a:latin typeface="Courier New"/>
              </a:defRPr>
            </a:pPr>
            <a:r>
              <a:t>        downthreshold: 4</a:t>
            </a:r>
          </a:p>
        </p:txBody>
      </p:sp>
      <p:sp>
        <p:nvSpPr>
          <p:cNvPr id="13" name="Rounded Rectangle 12"/>
          <p:cNvSpPr/>
          <p:nvPr/>
        </p:nvSpPr>
        <p:spPr>
          <a:xfrm>
            <a:off x="6419088" y="2029968"/>
            <a:ext cx="5266944" cy="141732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01968" y="2157984"/>
            <a:ext cx="4901184" cy="274320"/>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Courier New"/>
              </a:defRPr>
            </a:pPr>
            <a:r>
              <a:t>MRI spec.roles (excerpt)</a:t>
            </a:r>
          </a:p>
        </p:txBody>
      </p:sp>
      <p:sp>
        <p:nvSpPr>
          <p:cNvPr id="15" name="TextBox 14"/>
          <p:cNvSpPr txBox="1"/>
          <p:nvPr/>
        </p:nvSpPr>
        <p:spPr>
          <a:xfrm>
            <a:off x="6601968" y="2587752"/>
            <a:ext cx="4901184" cy="722376"/>
          </a:xfrm>
          <a:prstGeom prst="rect">
            <a:avLst/>
          </a:prstGeom>
          <a:noFill/>
        </p:spPr>
        <p:txBody>
          <a:bodyPr wrap="square" lIns="13716" rIns="13716" tIns="13716" bIns="13716">
            <a:spAutoFit/>
          </a:bodyPr>
          <a:lstStyle/>
          <a:p>
            <a:pPr>
              <a:spcBef>
                <a:spcPts val="0"/>
              </a:spcBef>
              <a:spcAft>
                <a:spcPts val="0"/>
              </a:spcAft>
              <a:defRPr sz="1200" b="0">
                <a:solidFill>
                  <a:srgbClr val="172941"/>
                </a:solidFill>
                <a:latin typeface="Courier New"/>
              </a:defRPr>
            </a:pPr>
            <a:r>
              <a:t>- type: prefill</a:t>
            </a:r>
          </a:p>
          <a:p>
            <a:pPr>
              <a:spcBef>
                <a:spcPts val="0"/>
              </a:spcBef>
              <a:spcAft>
                <a:spcPts val="0"/>
              </a:spcAft>
              <a:defRPr sz="1200" b="0">
                <a:solidFill>
                  <a:srgbClr val="172941"/>
                </a:solidFill>
                <a:latin typeface="Courier New"/>
              </a:defRPr>
            </a:pPr>
            <a:r>
              <a:t>  replicas: null</a:t>
            </a:r>
          </a:p>
          <a:p>
            <a:pPr>
              <a:spcBef>
                <a:spcPts val="0"/>
              </a:spcBef>
              <a:spcAft>
                <a:spcPts val="0"/>
              </a:spcAft>
              <a:defRPr sz="1200" b="0">
                <a:solidFill>
                  <a:srgbClr val="172941"/>
                </a:solidFill>
                <a:latin typeface="Courier New"/>
              </a:defRPr>
            </a:pPr>
            <a:r>
              <a:t>- type: decode</a:t>
            </a:r>
          </a:p>
          <a:p>
            <a:pPr>
              <a:spcBef>
                <a:spcPts val="0"/>
              </a:spcBef>
              <a:spcAft>
                <a:spcPts val="0"/>
              </a:spcAft>
              <a:defRPr sz="1200" b="0">
                <a:solidFill>
                  <a:srgbClr val="172941"/>
                </a:solidFill>
                <a:latin typeface="Courier New"/>
              </a:defRPr>
            </a:pPr>
            <a:r>
              <a:t>  replicas: null</a:t>
            </a:r>
          </a:p>
        </p:txBody>
      </p:sp>
      <p:sp>
        <p:nvSpPr>
          <p:cNvPr id="16" name="TextBox 15"/>
          <p:cNvSpPr txBox="1"/>
          <p:nvPr/>
        </p:nvSpPr>
        <p:spPr>
          <a:xfrm>
            <a:off x="6437376" y="3639312"/>
            <a:ext cx="5202936" cy="283464"/>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ROLE AVERAGES / START AT P=1, D=2</a:t>
            </a:r>
          </a:p>
        </p:txBody>
      </p:sp>
      <p:sp>
        <p:nvSpPr>
          <p:cNvPr id="17" name="TextBox 16"/>
          <p:cNvSpPr txBox="1"/>
          <p:nvPr/>
        </p:nvSpPr>
        <p:spPr>
          <a:xfrm>
            <a:off x="6437376" y="4105656"/>
            <a:ext cx="5202936" cy="640080"/>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Waiting=12; running=12</a:t>
            </a:r>
          </a:p>
          <a:p>
            <a:pPr>
              <a:spcBef>
                <a:spcPts val="0"/>
              </a:spcBef>
              <a:spcAft>
                <a:spcPts val="500"/>
              </a:spcAft>
              <a:defRPr sz="1700" b="0">
                <a:solidFill>
                  <a:srgbClr val="087F8C"/>
                </a:solidFill>
                <a:latin typeface="Arial"/>
              </a:defRPr>
            </a:pPr>
            <a:r>
              <a:t>Prefill scales up; decode holds.</a:t>
            </a:r>
          </a:p>
        </p:txBody>
      </p:sp>
      <p:sp>
        <p:nvSpPr>
          <p:cNvPr id="18" name="TextBox 17"/>
          <p:cNvSpPr txBox="1"/>
          <p:nvPr/>
        </p:nvSpPr>
        <p:spPr>
          <a:xfrm>
            <a:off x="6437376" y="4937760"/>
            <a:ext cx="5202936" cy="621792"/>
          </a:xfrm>
          <a:prstGeom prst="rect">
            <a:avLst/>
          </a:prstGeom>
          <a:noFill/>
        </p:spPr>
        <p:txBody>
          <a:bodyPr wrap="square" lIns="13716" rIns="13716" tIns="13716" bIns="13716">
            <a:spAutoFit/>
          </a:bodyPr>
          <a:lstStyle/>
          <a:p>
            <a:pPr>
              <a:spcBef>
                <a:spcPts val="0"/>
              </a:spcBef>
              <a:spcAft>
                <a:spcPts val="500"/>
              </a:spcAft>
              <a:defRPr sz="1600" b="0">
                <a:solidFill>
                  <a:srgbClr val="7354B8"/>
                </a:solidFill>
                <a:latin typeface="Arial"/>
              </a:defRPr>
            </a:pPr>
            <a:r>
              <a:t>Running later rises above 24:</a:t>
            </a:r>
          </a:p>
          <a:p>
            <a:pPr>
              <a:spcBef>
                <a:spcPts val="0"/>
              </a:spcBef>
              <a:spcAft>
                <a:spcPts val="500"/>
              </a:spcAft>
              <a:defRPr sz="1600" b="0">
                <a:solidFill>
                  <a:srgbClr val="7354B8"/>
                </a:solidFill>
                <a:latin typeface="Arial"/>
              </a:defRPr>
            </a:pPr>
            <a:r>
              <a:t>decode can scale up independently.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Local KAITO evaluation plan; external reference results follow.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56</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External benchmark results are separate—not KAITO data.</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Local measurement plan.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56</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56</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TTFT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TTFT is a trade-off</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TTFT win in this setup: measure first-token latency separately from streaming quality.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56</a:t>
            </a:r>
          </a:p>
        </p:txBody>
      </p:sp>
      <p:sp>
        <p:nvSpPr>
          <p:cNvPr id="10" name="TextBox 9"/>
          <p:cNvSpPr txBox="1"/>
          <p:nvPr/>
        </p:nvSpPr>
        <p:spPr>
          <a:xfrm>
            <a:off x="594360" y="1975104"/>
            <a:ext cx="6126480" cy="283464"/>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TTFT (ms) • lower is better • 8 offered req/s</a:t>
            </a:r>
          </a:p>
        </p:txBody>
      </p:sp>
      <p:cxnSp>
        <p:nvCxnSpPr>
          <p:cNvPr id="11" name="Connector 10"/>
          <p:cNvCxnSpPr/>
          <p:nvPr/>
        </p:nvCxnSpPr>
        <p:spPr>
          <a:xfrm>
            <a:off x="1051560" y="5166360"/>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12064" y="5056632"/>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0</a:t>
            </a:r>
          </a:p>
        </p:txBody>
      </p:sp>
      <p:cxnSp>
        <p:nvCxnSpPr>
          <p:cNvPr id="13" name="Connector 12"/>
          <p:cNvCxnSpPr/>
          <p:nvPr/>
        </p:nvCxnSpPr>
        <p:spPr>
          <a:xfrm>
            <a:off x="1051560" y="4291584"/>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2064" y="4181856"/>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500</a:t>
            </a:r>
          </a:p>
        </p:txBody>
      </p:sp>
      <p:cxnSp>
        <p:nvCxnSpPr>
          <p:cNvPr id="15" name="Connector 14"/>
          <p:cNvCxnSpPr/>
          <p:nvPr/>
        </p:nvCxnSpPr>
        <p:spPr>
          <a:xfrm>
            <a:off x="1051560" y="3416808"/>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12064" y="3307080"/>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1000</a:t>
            </a:r>
          </a:p>
        </p:txBody>
      </p:sp>
      <p:cxnSp>
        <p:nvCxnSpPr>
          <p:cNvPr id="17" name="Connector 16"/>
          <p:cNvCxnSpPr/>
          <p:nvPr/>
        </p:nvCxnSpPr>
        <p:spPr>
          <a:xfrm>
            <a:off x="1051560" y="2542032"/>
            <a:ext cx="5486400" cy="0"/>
          </a:xfrm>
          <a:prstGeom prst="line">
            <a:avLst/>
          </a:prstGeom>
          <a:ln w="254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 y="2432303"/>
            <a:ext cx="448056" cy="219456"/>
          </a:xfrm>
          <a:prstGeom prst="rect">
            <a:avLst/>
          </a:prstGeom>
          <a:noFill/>
        </p:spPr>
        <p:txBody>
          <a:bodyPr wrap="square" lIns="13716" rIns="13716" tIns="13716" bIns="13716">
            <a:spAutoFit/>
          </a:bodyPr>
          <a:lstStyle/>
          <a:p>
            <a:pPr algn="r">
              <a:spcBef>
                <a:spcPts val="0"/>
              </a:spcBef>
              <a:spcAft>
                <a:spcPts val="500"/>
              </a:spcAft>
              <a:defRPr sz="1000" b="0">
                <a:solidFill>
                  <a:srgbClr val="586A80"/>
                </a:solidFill>
                <a:latin typeface="Arial"/>
              </a:defRPr>
            </a:pPr>
            <a:r>
              <a:t>1500</a:t>
            </a:r>
          </a:p>
        </p:txBody>
      </p:sp>
      <p:sp>
        <p:nvSpPr>
          <p:cNvPr id="19" name="Rectangle 18"/>
          <p:cNvSpPr/>
          <p:nvPr/>
        </p:nvSpPr>
        <p:spPr>
          <a:xfrm>
            <a:off x="1728216" y="4767526"/>
            <a:ext cx="603504" cy="398833"/>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09344" y="4493206"/>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228</a:t>
            </a:r>
          </a:p>
        </p:txBody>
      </p:sp>
      <p:sp>
        <p:nvSpPr>
          <p:cNvPr id="21" name="Rectangle 20"/>
          <p:cNvSpPr/>
          <p:nvPr/>
        </p:nvSpPr>
        <p:spPr>
          <a:xfrm>
            <a:off x="2560320" y="4037662"/>
            <a:ext cx="603504" cy="112869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441448" y="3763342"/>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645</a:t>
            </a:r>
          </a:p>
        </p:txBody>
      </p:sp>
      <p:sp>
        <p:nvSpPr>
          <p:cNvPr id="23" name="TextBox 22"/>
          <p:cNvSpPr txBox="1"/>
          <p:nvPr/>
        </p:nvSpPr>
        <p:spPr>
          <a:xfrm>
            <a:off x="1792224"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p50</a:t>
            </a:r>
          </a:p>
        </p:txBody>
      </p:sp>
      <p:sp>
        <p:nvSpPr>
          <p:cNvPr id="24" name="Rectangle 23"/>
          <p:cNvSpPr/>
          <p:nvPr/>
        </p:nvSpPr>
        <p:spPr>
          <a:xfrm>
            <a:off x="4443984" y="4308007"/>
            <a:ext cx="603504" cy="8583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25112" y="4033687"/>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2563EB"/>
                </a:solidFill>
                <a:latin typeface="Arial"/>
              </a:defRPr>
            </a:pPr>
            <a:r>
              <a:t>491</a:t>
            </a:r>
          </a:p>
        </p:txBody>
      </p:sp>
      <p:sp>
        <p:nvSpPr>
          <p:cNvPr id="26" name="Rectangle 25"/>
          <p:cNvSpPr/>
          <p:nvPr/>
        </p:nvSpPr>
        <p:spPr>
          <a:xfrm>
            <a:off x="5276088" y="2847181"/>
            <a:ext cx="603504" cy="23191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57216" y="2572861"/>
            <a:ext cx="84124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1326</a:t>
            </a:r>
          </a:p>
        </p:txBody>
      </p:sp>
      <p:sp>
        <p:nvSpPr>
          <p:cNvPr id="28" name="TextBox 27"/>
          <p:cNvSpPr txBox="1"/>
          <p:nvPr/>
        </p:nvSpPr>
        <p:spPr>
          <a:xfrm>
            <a:off x="4507992" y="5266944"/>
            <a:ext cx="1435608" cy="246888"/>
          </a:xfrm>
          <a:prstGeom prst="rect">
            <a:avLst/>
          </a:prstGeom>
          <a:noFill/>
        </p:spPr>
        <p:txBody>
          <a:bodyPr wrap="square" lIns="13716" rIns="13716" tIns="13716" bIns="13716">
            <a:spAutoFit/>
          </a:bodyPr>
          <a:lstStyle/>
          <a:p>
            <a:pPr algn="ctr">
              <a:spcBef>
                <a:spcPts val="0"/>
              </a:spcBef>
              <a:spcAft>
                <a:spcPts val="500"/>
              </a:spcAft>
              <a:defRPr sz="1300" b="1">
                <a:solidFill>
                  <a:srgbClr val="172941"/>
                </a:solidFill>
                <a:latin typeface="Arial"/>
              </a:defRPr>
            </a:pPr>
            <a:r>
              <a:t>p95</a:t>
            </a:r>
          </a:p>
        </p:txBody>
      </p:sp>
      <p:sp>
        <p:nvSpPr>
          <p:cNvPr id="29" name="Rectangle 28"/>
          <p:cNvSpPr/>
          <p:nvPr/>
        </p:nvSpPr>
        <p:spPr>
          <a:xfrm>
            <a:off x="960120" y="2359152"/>
            <a:ext cx="137160" cy="10972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70432" y="2276856"/>
            <a:ext cx="21031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Colocated: 2× TP4</a:t>
            </a:r>
          </a:p>
        </p:txBody>
      </p:sp>
      <p:sp>
        <p:nvSpPr>
          <p:cNvPr id="31" name="Rectangle 30"/>
          <p:cNvSpPr/>
          <p:nvPr/>
        </p:nvSpPr>
        <p:spPr>
          <a:xfrm>
            <a:off x="3694176" y="2359152"/>
            <a:ext cx="137160" cy="10972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04487" y="2276856"/>
            <a:ext cx="2560320" cy="228600"/>
          </a:xfrm>
          <a:prstGeom prst="rect">
            <a:avLst/>
          </a:prstGeom>
          <a:noFill/>
        </p:spPr>
        <p:txBody>
          <a:bodyPr wrap="square" lIns="13716" rIns="13716" tIns="13716" bIns="13716">
            <a:spAutoFit/>
          </a:bodyPr>
          <a:lstStyle/>
          <a:p>
            <a:pPr>
              <a:spcBef>
                <a:spcPts val="0"/>
              </a:spcBef>
              <a:spcAft>
                <a:spcPts val="500"/>
              </a:spcAft>
              <a:defRPr sz="1100" b="0">
                <a:solidFill>
                  <a:srgbClr val="172941"/>
                </a:solidFill>
                <a:latin typeface="Arial"/>
              </a:defRPr>
            </a:pPr>
            <a:r>
              <a:t>P/D: write, TP4 + TP4</a:t>
            </a:r>
          </a:p>
        </p:txBody>
      </p:sp>
      <p:sp>
        <p:nvSpPr>
          <p:cNvPr id="33" name="TextBox 32"/>
          <p:cNvSpPr txBox="1"/>
          <p:nvPr/>
        </p:nvSpPr>
        <p:spPr>
          <a:xfrm>
            <a:off x="7114032" y="2395728"/>
            <a:ext cx="4507992" cy="640080"/>
          </a:xfrm>
          <a:prstGeom prst="rect">
            <a:avLst/>
          </a:prstGeom>
          <a:noFill/>
        </p:spPr>
        <p:txBody>
          <a:bodyPr wrap="square" lIns="13716" rIns="13716" tIns="13716" bIns="13716">
            <a:spAutoFit/>
          </a:bodyPr>
          <a:lstStyle/>
          <a:p>
            <a:pPr>
              <a:spcBef>
                <a:spcPts val="0"/>
              </a:spcBef>
              <a:spcAft>
                <a:spcPts val="500"/>
              </a:spcAft>
              <a:defRPr sz="2300" b="1">
                <a:solidFill>
                  <a:srgbClr val="AE641A"/>
                </a:solidFill>
                <a:latin typeface="Arial"/>
              </a:defRPr>
            </a:pPr>
            <a:r>
              <a:t>First token is slower here.</a:t>
            </a:r>
          </a:p>
        </p:txBody>
      </p:sp>
      <p:sp>
        <p:nvSpPr>
          <p:cNvPr id="34" name="TextBox 33"/>
          <p:cNvSpPr txBox="1"/>
          <p:nvPr/>
        </p:nvSpPr>
        <p:spPr>
          <a:xfrm>
            <a:off x="7114032" y="3255264"/>
            <a:ext cx="4434840" cy="987552"/>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Long prompts + concurrency can</a:t>
            </a:r>
          </a:p>
          <a:p>
            <a:pPr>
              <a:spcBef>
                <a:spcPts val="0"/>
              </a:spcBef>
              <a:spcAft>
                <a:spcPts val="500"/>
              </a:spcAft>
              <a:defRPr sz="1700" b="0">
                <a:solidFill>
                  <a:srgbClr val="172941"/>
                </a:solidFill>
                <a:latin typeface="Arial"/>
              </a:defRPr>
            </a:pPr>
            <a:r>
              <a:t>make decode isolation valuable.</a:t>
            </a:r>
          </a:p>
          <a:p>
            <a:pPr>
              <a:spcBef>
                <a:spcPts val="0"/>
              </a:spcBef>
              <a:spcAft>
                <a:spcPts val="500"/>
              </a:spcAft>
              <a:defRPr sz="1700" b="0">
                <a:solidFill>
                  <a:srgbClr val="172941"/>
                </a:solidFill>
                <a:latin typeface="Arial"/>
              </a:defRPr>
            </a:pPr>
            <a:r>
              <a:t>That does not imply lower TTFT.</a:t>
            </a:r>
          </a:p>
        </p:txBody>
      </p:sp>
      <p:sp>
        <p:nvSpPr>
          <p:cNvPr id="35" name="TextBox 34"/>
          <p:cNvSpPr txBox="1"/>
          <p:nvPr/>
        </p:nvSpPr>
        <p:spPr>
          <a:xfrm>
            <a:off x="7114032" y="4654296"/>
            <a:ext cx="4434840" cy="768096"/>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No prompt-length sweep was published.</a:t>
            </a:r>
          </a:p>
          <a:p>
            <a:pPr>
              <a:spcBef>
                <a:spcPts val="0"/>
              </a:spcBef>
              <a:spcAft>
                <a:spcPts val="500"/>
              </a:spcAft>
              <a:defRPr sz="1500" b="0">
                <a:solidFill>
                  <a:srgbClr val="586A80"/>
                </a:solidFill>
                <a:latin typeface="Arial"/>
              </a:defRPr>
            </a:pPr>
            <a:r>
              <a:t>Do not infer which prompts gain most.</a:t>
            </a:r>
          </a:p>
        </p:txBody>
      </p:sp>
      <p:sp>
        <p:nvSpPr>
          <p:cNvPr id="36" name="TextBox 3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(Apr 7, 2026), Figure 3 data. Median / nearest-rank p95 computed from 100 requests; see notes.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SLO ATTAINMENT</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useful throughput under 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Two phases, one pool: removing decode interference improves SLO attainment—not every latency metric.</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43 / 56</a:t>
            </a:r>
          </a:p>
        </p:txBody>
      </p:sp>
      <p:pic>
        <p:nvPicPr>
          <p:cNvPr id="10" name="Picture 9" descr="moriio-slo-attainment.png"/>
          <p:cNvPicPr>
            <a:picLocks noChangeAspect="1"/>
          </p:cNvPicPr>
          <p:nvPr/>
        </p:nvPicPr>
        <p:blipFill>
          <a:blip r:embed="rId2"/>
          <a:stretch>
            <a:fillRect/>
          </a:stretch>
        </p:blipFill>
        <p:spPr>
          <a:xfrm>
            <a:off x="502920" y="1947672"/>
            <a:ext cx="6089904" cy="3666763"/>
          </a:xfrm>
          <a:prstGeom prst="rect">
            <a:avLst/>
          </a:prstGeom>
        </p:spPr>
      </p:pic>
      <p:sp>
        <p:nvSpPr>
          <p:cNvPr id="11" name="Rounded Rectangle 10"/>
          <p:cNvSpPr/>
          <p:nvPr/>
        </p:nvSpPr>
        <p:spPr>
          <a:xfrm>
            <a:off x="5093208" y="2148840"/>
            <a:ext cx="557784" cy="2569464"/>
          </a:xfrm>
          <a:prstGeom prst="roundRect">
            <a:avLst>
              <a:gd name="adj" fmla="val 10000"/>
            </a:avLst>
          </a:prstGeom>
          <a:noFill/>
          <a:ln w="12700">
            <a:solidFill>
              <a:srgbClr val="AE64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2592" y="2176272"/>
            <a:ext cx="4535424" cy="393192"/>
          </a:xfrm>
          <a:prstGeom prst="rect">
            <a:avLst/>
          </a:prstGeom>
          <a:noFill/>
        </p:spPr>
        <p:txBody>
          <a:bodyPr wrap="square" lIns="13716" rIns="13716" tIns="13716" bIns="13716">
            <a:spAutoFit/>
          </a:bodyPr>
          <a:lstStyle/>
          <a:p>
            <a:pPr>
              <a:spcBef>
                <a:spcPts val="0"/>
              </a:spcBef>
              <a:spcAft>
                <a:spcPts val="500"/>
              </a:spcAft>
              <a:defRPr sz="1400" b="1">
                <a:solidFill>
                  <a:srgbClr val="AE641A"/>
                </a:solidFill>
                <a:latin typeface="Arial"/>
              </a:defRPr>
            </a:pPr>
            <a:r>
              <a:t>FOCUS: 8 OFFERED REQ/S</a:t>
            </a:r>
          </a:p>
        </p:txBody>
      </p:sp>
      <p:sp>
        <p:nvSpPr>
          <p:cNvPr id="13" name="TextBox 12"/>
          <p:cNvSpPr txBox="1"/>
          <p:nvPr/>
        </p:nvSpPr>
        <p:spPr>
          <a:xfrm>
            <a:off x="7022592" y="2779776"/>
            <a:ext cx="4535424" cy="621792"/>
          </a:xfrm>
          <a:prstGeom prst="rect">
            <a:avLst/>
          </a:prstGeom>
          <a:noFill/>
        </p:spPr>
        <p:txBody>
          <a:bodyPr wrap="square" lIns="13716" rIns="13716" tIns="13716" bIns="13716">
            <a:spAutoFit/>
          </a:bodyPr>
          <a:lstStyle/>
          <a:p>
            <a:pPr>
              <a:spcBef>
                <a:spcPts val="0"/>
              </a:spcBef>
              <a:spcAft>
                <a:spcPts val="500"/>
              </a:spcAft>
              <a:defRPr sz="3200" b="1">
                <a:solidFill>
                  <a:srgbClr val="087F8C"/>
                </a:solidFill>
                <a:latin typeface="Arial"/>
              </a:defRPr>
            </a:pPr>
            <a:r>
              <a:t>29% → 73%</a:t>
            </a:r>
          </a:p>
        </p:txBody>
      </p:sp>
      <p:sp>
        <p:nvSpPr>
          <p:cNvPr id="14" name="TextBox 13"/>
          <p:cNvSpPr txBox="1"/>
          <p:nvPr/>
        </p:nvSpPr>
        <p:spPr>
          <a:xfrm>
            <a:off x="7022592" y="3575304"/>
            <a:ext cx="4535424" cy="877824"/>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Joint SLO passes at this load</a:t>
            </a:r>
          </a:p>
          <a:p>
            <a:pPr>
              <a:spcBef>
                <a:spcPts val="0"/>
              </a:spcBef>
              <a:spcAft>
                <a:spcPts val="500"/>
              </a:spcAft>
              <a:defRPr sz="1600" b="0">
                <a:solidFill>
                  <a:srgbClr val="172941"/>
                </a:solidFill>
                <a:latin typeface="Arial"/>
              </a:defRPr>
            </a:pPr>
            <a:r>
              <a:t>Colocated 2× TP4 → P/D write</a:t>
            </a:r>
          </a:p>
          <a:p>
            <a:pPr>
              <a:spcBef>
                <a:spcPts val="0"/>
              </a:spcBef>
              <a:spcAft>
                <a:spcPts val="500"/>
              </a:spcAft>
              <a:defRPr sz="1600" b="0">
                <a:solidFill>
                  <a:srgbClr val="172941"/>
                </a:solidFill>
                <a:latin typeface="Arial"/>
              </a:defRPr>
            </a:pPr>
            <a:r>
              <a:t>TTFT ≤1 s AND ITL ≤50 ms</a:t>
            </a:r>
          </a:p>
        </p:txBody>
      </p:sp>
      <p:sp>
        <p:nvSpPr>
          <p:cNvPr id="15" name="TextBox 14"/>
          <p:cNvSpPr txBox="1"/>
          <p:nvPr/>
        </p:nvSpPr>
        <p:spPr>
          <a:xfrm>
            <a:off x="7022592" y="4736592"/>
            <a:ext cx="4535424" cy="81381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Concurrent P/D phases; fixed 2K/1K.</a:t>
            </a:r>
          </a:p>
          <a:p>
            <a:pPr>
              <a:spcBef>
                <a:spcPts val="0"/>
              </a:spcBef>
              <a:spcAft>
                <a:spcPts val="500"/>
              </a:spcAft>
              <a:defRPr sz="1400" b="0">
                <a:solidFill>
                  <a:srgbClr val="586A80"/>
                </a:solidFill>
                <a:latin typeface="Arial"/>
              </a:defRPr>
            </a:pPr>
            <a:r>
              <a:t>Not a heterogeneous traffic benchmark</a:t>
            </a:r>
          </a:p>
          <a:p>
            <a:pPr>
              <a:spcBef>
                <a:spcPts val="0"/>
              </a:spcBef>
              <a:spcAft>
                <a:spcPts val="500"/>
              </a:spcAft>
              <a:defRPr sz="1400" b="0">
                <a:solidFill>
                  <a:srgbClr val="586A80"/>
                </a:solidFill>
                <a:latin typeface="Arial"/>
              </a:defRPr>
            </a:pPr>
            <a:r>
              <a:t>or an absolute tokens/s result.</a:t>
            </a:r>
          </a:p>
        </p:txBody>
      </p:sp>
      <p:sp>
        <p:nvSpPr>
          <p:cNvPr id="16" name="TextBox 15"/>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vLLM blog Figure 4, reproduced with attribution; highlighted region at 8 req/s. Callout uses pinned Figure 3 arrays.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PUBLIC BENCHMARK — EFFICIENCY PROXY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Evaluation results: more SLO passes per GPU</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External vLLM / MORI-IO study • Qwen3-235B-A22B-FP8 • one 8× MI300X node • 2K input / 1K output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More useful work on the same eight GPUs—not measured GPU utilization or proof that fewer GPUs suffice.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44 / 56</a:t>
            </a:r>
          </a:p>
        </p:txBody>
      </p:sp>
      <p:sp>
        <p:nvSpPr>
          <p:cNvPr id="10" name="TextBox 9"/>
          <p:cNvSpPr txBox="1"/>
          <p:nvPr/>
        </p:nvSpPr>
        <p:spPr>
          <a:xfrm>
            <a:off x="603504" y="2057400"/>
            <a:ext cx="5952744" cy="347472"/>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NORMALIZED SLO PASSES / GPU</a:t>
            </a:r>
          </a:p>
        </p:txBody>
      </p:sp>
      <p:sp>
        <p:nvSpPr>
          <p:cNvPr id="11" name="TextBox 10"/>
          <p:cNvSpPr txBox="1"/>
          <p:nvPr/>
        </p:nvSpPr>
        <p:spPr>
          <a:xfrm>
            <a:off x="603504" y="2871216"/>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Colocated</a:t>
            </a:r>
          </a:p>
        </p:txBody>
      </p:sp>
      <p:sp>
        <p:nvSpPr>
          <p:cNvPr id="12" name="Rectangle 11"/>
          <p:cNvSpPr/>
          <p:nvPr/>
        </p:nvSpPr>
        <p:spPr>
          <a:xfrm>
            <a:off x="2322576" y="2889504"/>
            <a:ext cx="1460284" cy="4480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01732" y="2880360"/>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1.00×</a:t>
            </a:r>
          </a:p>
        </p:txBody>
      </p:sp>
      <p:sp>
        <p:nvSpPr>
          <p:cNvPr id="14" name="TextBox 13"/>
          <p:cNvSpPr txBox="1"/>
          <p:nvPr/>
        </p:nvSpPr>
        <p:spPr>
          <a:xfrm>
            <a:off x="603504" y="3977640"/>
            <a:ext cx="1600200" cy="338328"/>
          </a:xfrm>
          <a:prstGeom prst="rect">
            <a:avLst/>
          </a:prstGeom>
          <a:noFill/>
        </p:spPr>
        <p:txBody>
          <a:bodyPr wrap="square" lIns="13716" rIns="13716" tIns="13716" bIns="13716">
            <a:spAutoFit/>
          </a:bodyPr>
          <a:lstStyle/>
          <a:p>
            <a:pPr>
              <a:spcBef>
                <a:spcPts val="0"/>
              </a:spcBef>
              <a:spcAft>
                <a:spcPts val="500"/>
              </a:spcAft>
              <a:defRPr sz="1600" b="1">
                <a:solidFill>
                  <a:srgbClr val="172941"/>
                </a:solidFill>
                <a:latin typeface="Arial"/>
              </a:defRPr>
            </a:pPr>
            <a:r>
              <a:t>P/D write</a:t>
            </a:r>
          </a:p>
        </p:txBody>
      </p:sp>
      <p:sp>
        <p:nvSpPr>
          <p:cNvPr id="15" name="Rectangle 14"/>
          <p:cNvSpPr/>
          <p:nvPr/>
        </p:nvSpPr>
        <p:spPr>
          <a:xfrm>
            <a:off x="2322576" y="3995928"/>
            <a:ext cx="3675887" cy="4480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17336" y="3986784"/>
            <a:ext cx="832104" cy="42976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2.52×</a:t>
            </a:r>
          </a:p>
        </p:txBody>
      </p:sp>
      <p:sp>
        <p:nvSpPr>
          <p:cNvPr id="17" name="TextBox 16"/>
          <p:cNvSpPr txBox="1"/>
          <p:nvPr/>
        </p:nvSpPr>
        <p:spPr>
          <a:xfrm>
            <a:off x="603504" y="4937760"/>
            <a:ext cx="5952744" cy="512064"/>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Same 100-request workload and 8-GPU budget.</a:t>
            </a:r>
          </a:p>
          <a:p>
            <a:pPr>
              <a:spcBef>
                <a:spcPts val="0"/>
              </a:spcBef>
              <a:spcAft>
                <a:spcPts val="500"/>
              </a:spcAft>
              <a:defRPr sz="1300" b="0">
                <a:solidFill>
                  <a:srgbClr val="586A80"/>
                </a:solidFill>
                <a:latin typeface="Arial"/>
              </a:defRPr>
            </a:pPr>
            <a:r>
              <a:t>A comparison-specific efficiency proxy, not sustained capacity.</a:t>
            </a:r>
          </a:p>
        </p:txBody>
      </p:sp>
      <p:sp>
        <p:nvSpPr>
          <p:cNvPr id="18" name="Rectangle 17"/>
          <p:cNvSpPr/>
          <p:nvPr/>
        </p:nvSpPr>
        <p:spPr>
          <a:xfrm>
            <a:off x="7123176" y="2167128"/>
            <a:ext cx="1961388"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32904" y="2286000"/>
            <a:ext cx="1764792"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20" name="Rectangle 19"/>
          <p:cNvSpPr/>
          <p:nvPr/>
        </p:nvSpPr>
        <p:spPr>
          <a:xfrm>
            <a:off x="9107424" y="2167128"/>
            <a:ext cx="1074420"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17152" y="2286000"/>
            <a:ext cx="877824"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2× TP4</a:t>
            </a:r>
          </a:p>
        </p:txBody>
      </p:sp>
      <p:sp>
        <p:nvSpPr>
          <p:cNvPr id="22" name="Rectangle 21"/>
          <p:cNvSpPr/>
          <p:nvPr/>
        </p:nvSpPr>
        <p:spPr>
          <a:xfrm>
            <a:off x="10204704" y="2167128"/>
            <a:ext cx="964692" cy="72694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14432" y="2286000"/>
            <a:ext cx="768096" cy="566927"/>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24" name="Rectangle 23"/>
          <p:cNvSpPr/>
          <p:nvPr/>
        </p:nvSpPr>
        <p:spPr>
          <a:xfrm>
            <a:off x="7123176" y="2916936"/>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32904" y="3035808"/>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Total GPUs</a:t>
            </a:r>
          </a:p>
        </p:txBody>
      </p:sp>
      <p:sp>
        <p:nvSpPr>
          <p:cNvPr id="26" name="Rectangle 25"/>
          <p:cNvSpPr/>
          <p:nvPr/>
        </p:nvSpPr>
        <p:spPr>
          <a:xfrm>
            <a:off x="9107424" y="2916936"/>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17152" y="3035808"/>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28" name="Rectangle 27"/>
          <p:cNvSpPr/>
          <p:nvPr/>
        </p:nvSpPr>
        <p:spPr>
          <a:xfrm>
            <a:off x="10204704" y="2916936"/>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432" y="3035808"/>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8</a:t>
            </a:r>
          </a:p>
        </p:txBody>
      </p:sp>
      <p:sp>
        <p:nvSpPr>
          <p:cNvPr id="30" name="Rectangle 29"/>
          <p:cNvSpPr/>
          <p:nvPr/>
        </p:nvSpPr>
        <p:spPr>
          <a:xfrm>
            <a:off x="7123176" y="3666744"/>
            <a:ext cx="1961388"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32904" y="3785615"/>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Joint SLO passes</a:t>
            </a:r>
          </a:p>
        </p:txBody>
      </p:sp>
      <p:sp>
        <p:nvSpPr>
          <p:cNvPr id="32" name="Rectangle 31"/>
          <p:cNvSpPr/>
          <p:nvPr/>
        </p:nvSpPr>
        <p:spPr>
          <a:xfrm>
            <a:off x="9107424" y="3666744"/>
            <a:ext cx="1074420"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17152" y="3785615"/>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29 / 100</a:t>
            </a:r>
          </a:p>
        </p:txBody>
      </p:sp>
      <p:sp>
        <p:nvSpPr>
          <p:cNvPr id="34" name="Rectangle 33"/>
          <p:cNvSpPr/>
          <p:nvPr/>
        </p:nvSpPr>
        <p:spPr>
          <a:xfrm>
            <a:off x="10204704" y="3666744"/>
            <a:ext cx="964692" cy="72694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14432" y="3785615"/>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73 / 100</a:t>
            </a:r>
          </a:p>
        </p:txBody>
      </p:sp>
      <p:sp>
        <p:nvSpPr>
          <p:cNvPr id="36" name="Rectangle 35"/>
          <p:cNvSpPr/>
          <p:nvPr/>
        </p:nvSpPr>
        <p:spPr>
          <a:xfrm>
            <a:off x="7123176" y="4416552"/>
            <a:ext cx="1961388"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32904" y="4535424"/>
            <a:ext cx="1764792" cy="566927"/>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SLO passes / GPU</a:t>
            </a:r>
          </a:p>
        </p:txBody>
      </p:sp>
      <p:sp>
        <p:nvSpPr>
          <p:cNvPr id="38" name="Rectangle 37"/>
          <p:cNvSpPr/>
          <p:nvPr/>
        </p:nvSpPr>
        <p:spPr>
          <a:xfrm>
            <a:off x="9107424" y="4416552"/>
            <a:ext cx="1074420"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17152" y="4535424"/>
            <a:ext cx="877824"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3.625</a:t>
            </a:r>
          </a:p>
        </p:txBody>
      </p:sp>
      <p:sp>
        <p:nvSpPr>
          <p:cNvPr id="40" name="Rectangle 39"/>
          <p:cNvSpPr/>
          <p:nvPr/>
        </p:nvSpPr>
        <p:spPr>
          <a:xfrm>
            <a:off x="10204704" y="4416552"/>
            <a:ext cx="964692" cy="72694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314432" y="4535424"/>
            <a:ext cx="768096" cy="566927"/>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9.125</a:t>
            </a:r>
          </a:p>
        </p:txBody>
      </p:sp>
      <p:sp>
        <p:nvSpPr>
          <p:cNvPr id="42" name="TextBox 41"/>
          <p:cNvSpPr txBox="1"/>
          <p:nvPr/>
        </p:nvSpPr>
        <p:spPr>
          <a:xfrm>
            <a:off x="7123176" y="5230368"/>
            <a:ext cx="4315968" cy="338328"/>
          </a:xfrm>
          <a:prstGeom prst="rect">
            <a:avLst/>
          </a:prstGeom>
          <a:noFill/>
        </p:spPr>
        <p:txBody>
          <a:bodyPr wrap="square" lIns="13716" rIns="13716" tIns="13716" bIns="13716">
            <a:spAutoFit/>
          </a:bodyPr>
          <a:lstStyle/>
          <a:p>
            <a:pPr>
              <a:spcBef>
                <a:spcPts val="0"/>
              </a:spcBef>
              <a:spcAft>
                <a:spcPts val="500"/>
              </a:spcAft>
              <a:defRPr sz="1200" b="0">
                <a:solidFill>
                  <a:srgbClr val="AE641A"/>
                </a:solidFill>
                <a:latin typeface="Arial"/>
              </a:defRPr>
            </a:pPr>
            <a:r>
              <a:t>No GPU savings or utilization claim.</a:t>
            </a:r>
          </a:p>
        </p:txBody>
      </p:sp>
      <p:sp>
        <p:nvSpPr>
          <p:cNvPr id="43" name="TextBox 42"/>
          <p:cNvSpPr txBox="1"/>
          <p:nvPr/>
        </p:nvSpPr>
        <p:spPr>
          <a:xfrm>
            <a:off x="594360" y="5568696"/>
            <a:ext cx="10881360" cy="164592"/>
          </a:xfrm>
          <a:prstGeom prst="rect">
            <a:avLst/>
          </a:prstGeom>
          <a:noFill/>
        </p:spPr>
        <p:txBody>
          <a:bodyPr wrap="square" lIns="13716" rIns="13716" tIns="13716" bIns="13716">
            <a:spAutoFit/>
          </a:bodyPr>
          <a:lstStyle/>
          <a:p>
            <a:pPr>
              <a:spcBef>
                <a:spcPts val="0"/>
              </a:spcBef>
              <a:spcAft>
                <a:spcPts val="500"/>
              </a:spcAft>
              <a:defRPr sz="900" b="0">
                <a:solidFill>
                  <a:srgbClr val="586A80"/>
                </a:solidFill>
                <a:latin typeface="Arial"/>
              </a:defRPr>
            </a:pPr>
            <a:r>
              <a:t>Source: pinned vLLM Figure 3 arrays. Derived proxy = (SLO passes / 8 GPUs), normalized to colocated; not req/s/GPU.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45 / 56</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46 / 56</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47 / 56</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48 / 56</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DECISION MATRIX</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When should you use P/D—and when not?</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Two axes matter: how different the roles are, and what the KV-transfer path costs.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Use P/D when the roles want different capacity AND KV transfer does not erase the gain.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49 / 56</a:t>
            </a:r>
          </a:p>
        </p:txBody>
      </p:sp>
      <p:sp>
        <p:nvSpPr>
          <p:cNvPr id="10" name="TextBox 9"/>
          <p:cNvSpPr txBox="1"/>
          <p:nvPr/>
        </p:nvSpPr>
        <p:spPr>
          <a:xfrm>
            <a:off x="2176272"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AE641A"/>
                </a:solidFill>
                <a:latin typeface="Arial"/>
              </a:defRPr>
            </a:pPr>
            <a:r>
              <a:t>EXPENSIVE / WEAK KV TRANSFER</a:t>
            </a:r>
          </a:p>
        </p:txBody>
      </p:sp>
      <p:sp>
        <p:nvSpPr>
          <p:cNvPr id="11" name="TextBox 10"/>
          <p:cNvSpPr txBox="1"/>
          <p:nvPr/>
        </p:nvSpPr>
        <p:spPr>
          <a:xfrm>
            <a:off x="7031736" y="1984248"/>
            <a:ext cx="4434840" cy="292608"/>
          </a:xfrm>
          <a:prstGeom prst="rect">
            <a:avLst/>
          </a:prstGeom>
          <a:noFill/>
        </p:spPr>
        <p:txBody>
          <a:bodyPr wrap="square" lIns="13716" rIns="13716" tIns="13716" bIns="13716">
            <a:spAutoFit/>
          </a:bodyPr>
          <a:lstStyle/>
          <a:p>
            <a:pPr algn="ctr">
              <a:spcBef>
                <a:spcPts val="0"/>
              </a:spcBef>
              <a:spcAft>
                <a:spcPts val="500"/>
              </a:spcAft>
              <a:defRPr sz="1300" b="1">
                <a:solidFill>
                  <a:srgbClr val="087F8C"/>
                </a:solidFill>
                <a:latin typeface="Arial"/>
              </a:defRPr>
            </a:pPr>
            <a:r>
              <a:t>CHEAP / FAST ENOUGH KV TRANSFER</a:t>
            </a:r>
          </a:p>
        </p:txBody>
      </p:sp>
      <p:sp>
        <p:nvSpPr>
          <p:cNvPr id="12" name="TextBox 11"/>
          <p:cNvSpPr txBox="1"/>
          <p:nvPr/>
        </p:nvSpPr>
        <p:spPr>
          <a:xfrm>
            <a:off x="502920" y="2651760"/>
            <a:ext cx="1417320" cy="841248"/>
          </a:xfrm>
          <a:prstGeom prst="rect">
            <a:avLst/>
          </a:prstGeom>
          <a:noFill/>
        </p:spPr>
        <p:txBody>
          <a:bodyPr wrap="square" lIns="13716" rIns="13716" tIns="13716" bIns="13716">
            <a:spAutoFit/>
          </a:bodyPr>
          <a:lstStyle/>
          <a:p>
            <a:pPr>
              <a:spcBef>
                <a:spcPts val="0"/>
              </a:spcBef>
              <a:spcAft>
                <a:spcPts val="500"/>
              </a:spcAft>
              <a:defRPr sz="1400" b="1">
                <a:solidFill>
                  <a:srgbClr val="172941"/>
                </a:solidFill>
                <a:latin typeface="Arial"/>
              </a:defRPr>
            </a:pPr>
            <a:r>
              <a:t>Different</a:t>
            </a:r>
          </a:p>
          <a:p>
            <a:pPr>
              <a:spcBef>
                <a:spcPts val="0"/>
              </a:spcBef>
              <a:spcAft>
                <a:spcPts val="500"/>
              </a:spcAft>
              <a:defRPr sz="1400" b="1">
                <a:solidFill>
                  <a:srgbClr val="172941"/>
                </a:solidFill>
                <a:latin typeface="Arial"/>
              </a:defRPr>
            </a:pPr>
            <a:r>
              <a:t>bottlenecks /</a:t>
            </a:r>
          </a:p>
          <a:p>
            <a:pPr>
              <a:spcBef>
                <a:spcPts val="0"/>
              </a:spcBef>
              <a:spcAft>
                <a:spcPts val="500"/>
              </a:spcAft>
              <a:defRPr sz="1400" b="1">
                <a:solidFill>
                  <a:srgbClr val="172941"/>
                </a:solidFill>
                <a:latin typeface="Arial"/>
              </a:defRPr>
            </a:pPr>
            <a:r>
              <a:t>scaling needs</a:t>
            </a:r>
          </a:p>
        </p:txBody>
      </p:sp>
      <p:sp>
        <p:nvSpPr>
          <p:cNvPr id="13" name="TextBox 12"/>
          <p:cNvSpPr txBox="1"/>
          <p:nvPr/>
        </p:nvSpPr>
        <p:spPr>
          <a:xfrm>
            <a:off x="502920" y="4334256"/>
            <a:ext cx="1417320" cy="731520"/>
          </a:xfrm>
          <a:prstGeom prst="rect">
            <a:avLst/>
          </a:prstGeom>
          <a:noFill/>
        </p:spPr>
        <p:txBody>
          <a:bodyPr wrap="square" lIns="13716" rIns="13716" tIns="13716" bIns="13716">
            <a:spAutoFit/>
          </a:bodyPr>
          <a:lstStyle/>
          <a:p>
            <a:pPr>
              <a:spcBef>
                <a:spcPts val="0"/>
              </a:spcBef>
              <a:spcAft>
                <a:spcPts val="500"/>
              </a:spcAft>
              <a:defRPr sz="1400" b="1">
                <a:solidFill>
                  <a:srgbClr val="586A80"/>
                </a:solidFill>
                <a:latin typeface="Arial"/>
              </a:defRPr>
            </a:pPr>
            <a:r>
              <a:t>Similar</a:t>
            </a:r>
          </a:p>
          <a:p>
            <a:pPr>
              <a:spcBef>
                <a:spcPts val="0"/>
              </a:spcBef>
              <a:spcAft>
                <a:spcPts val="500"/>
              </a:spcAft>
              <a:defRPr sz="1400" b="1">
                <a:solidFill>
                  <a:srgbClr val="586A80"/>
                </a:solidFill>
                <a:latin typeface="Arial"/>
              </a:defRPr>
            </a:pPr>
            <a:r>
              <a:t>bottlenecks /</a:t>
            </a:r>
          </a:p>
          <a:p>
            <a:pPr>
              <a:spcBef>
                <a:spcPts val="0"/>
              </a:spcBef>
              <a:spcAft>
                <a:spcPts val="500"/>
              </a:spcAft>
              <a:defRPr sz="1400" b="1">
                <a:solidFill>
                  <a:srgbClr val="586A80"/>
                </a:solidFill>
                <a:latin typeface="Arial"/>
              </a:defRPr>
            </a:pPr>
            <a:r>
              <a:t>scaling needs</a:t>
            </a:r>
          </a:p>
        </p:txBody>
      </p:sp>
      <p:sp>
        <p:nvSpPr>
          <p:cNvPr id="14" name="Rounded Rectangle 13"/>
          <p:cNvSpPr/>
          <p:nvPr/>
        </p:nvSpPr>
        <p:spPr>
          <a:xfrm>
            <a:off x="2103120" y="2450592"/>
            <a:ext cx="4617720" cy="135331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596896"/>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AE641A"/>
                </a:solidFill>
                <a:latin typeface="Arial"/>
              </a:defRPr>
            </a:pPr>
            <a:r>
              <a:t>IMPROVE TOPOLOGY FIRST</a:t>
            </a:r>
          </a:p>
        </p:txBody>
      </p:sp>
      <p:sp>
        <p:nvSpPr>
          <p:cNvPr id="16" name="TextBox 15"/>
          <p:cNvSpPr txBox="1"/>
          <p:nvPr/>
        </p:nvSpPr>
        <p:spPr>
          <a:xfrm>
            <a:off x="2267712" y="3063240"/>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Independent capacity may help.</a:t>
            </a:r>
          </a:p>
          <a:p>
            <a:pPr>
              <a:spcBef>
                <a:spcPts val="0"/>
              </a:spcBef>
              <a:spcAft>
                <a:spcPts val="500"/>
              </a:spcAft>
              <a:defRPr sz="1500" b="0">
                <a:solidFill>
                  <a:srgbClr val="172941"/>
                </a:solidFill>
                <a:latin typeface="Arial"/>
              </a:defRPr>
            </a:pPr>
            <a:r>
              <a:t>Transfer overhead may erase the gain.</a:t>
            </a:r>
          </a:p>
        </p:txBody>
      </p:sp>
      <p:sp>
        <p:nvSpPr>
          <p:cNvPr id="17" name="Rounded Rectangle 16"/>
          <p:cNvSpPr/>
          <p:nvPr/>
        </p:nvSpPr>
        <p:spPr>
          <a:xfrm>
            <a:off x="6967728" y="2450592"/>
            <a:ext cx="4718304" cy="135331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0" y="2596896"/>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47952"/>
                </a:solidFill>
                <a:latin typeface="Arial"/>
              </a:defRPr>
            </a:pPr>
            <a:r>
              <a:t>STRONG P/D CANDIDATE</a:t>
            </a:r>
          </a:p>
        </p:txBody>
      </p:sp>
      <p:sp>
        <p:nvSpPr>
          <p:cNvPr id="19" name="TextBox 18"/>
          <p:cNvSpPr txBox="1"/>
          <p:nvPr/>
        </p:nvSpPr>
        <p:spPr>
          <a:xfrm>
            <a:off x="7132320" y="3063240"/>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capacity or parallelism.</a:t>
            </a:r>
          </a:p>
          <a:p>
            <a:pPr>
              <a:spcBef>
                <a:spcPts val="0"/>
              </a:spcBef>
              <a:spcAft>
                <a:spcPts val="500"/>
              </a:spcAft>
              <a:defRPr sz="1500" b="0">
                <a:solidFill>
                  <a:srgbClr val="172941"/>
                </a:solidFill>
                <a:latin typeface="Arial"/>
              </a:defRPr>
            </a:pPr>
            <a:r>
              <a:t>Validate the gain at matched SLO + cost.</a:t>
            </a:r>
          </a:p>
        </p:txBody>
      </p:sp>
      <p:sp>
        <p:nvSpPr>
          <p:cNvPr id="20" name="Rounded Rectangle 19"/>
          <p:cNvSpPr/>
          <p:nvPr/>
        </p:nvSpPr>
        <p:spPr>
          <a:xfrm>
            <a:off x="2103120" y="4014215"/>
            <a:ext cx="4617720" cy="1353312"/>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67712" y="4160520"/>
            <a:ext cx="4288536" cy="283464"/>
          </a:xfrm>
          <a:prstGeom prst="rect">
            <a:avLst/>
          </a:prstGeom>
          <a:noFill/>
        </p:spPr>
        <p:txBody>
          <a:bodyPr wrap="square" lIns="13716" rIns="13716" tIns="13716" bIns="13716">
            <a:spAutoFit/>
          </a:bodyPr>
          <a:lstStyle/>
          <a:p>
            <a:pPr>
              <a:spcBef>
                <a:spcPts val="0"/>
              </a:spcBef>
              <a:spcAft>
                <a:spcPts val="500"/>
              </a:spcAft>
              <a:defRPr sz="1600" b="1">
                <a:solidFill>
                  <a:srgbClr val="586A80"/>
                </a:solidFill>
                <a:latin typeface="Arial"/>
              </a:defRPr>
            </a:pPr>
            <a:r>
              <a:t>STAY AGGREGATED</a:t>
            </a:r>
          </a:p>
        </p:txBody>
      </p:sp>
      <p:sp>
        <p:nvSpPr>
          <p:cNvPr id="22" name="TextBox 21"/>
          <p:cNvSpPr txBox="1"/>
          <p:nvPr/>
        </p:nvSpPr>
        <p:spPr>
          <a:xfrm>
            <a:off x="2267712" y="4626864"/>
            <a:ext cx="4288536"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Little role separation benefit,</a:t>
            </a:r>
          </a:p>
          <a:p>
            <a:pPr>
              <a:spcBef>
                <a:spcPts val="0"/>
              </a:spcBef>
              <a:spcAft>
                <a:spcPts val="500"/>
              </a:spcAft>
              <a:defRPr sz="1500" b="0">
                <a:solidFill>
                  <a:srgbClr val="172941"/>
                </a:solidFill>
                <a:latin typeface="Arial"/>
              </a:defRPr>
            </a:pPr>
            <a:r>
              <a:t>plus an expensive transfer path.</a:t>
            </a:r>
          </a:p>
        </p:txBody>
      </p:sp>
      <p:sp>
        <p:nvSpPr>
          <p:cNvPr id="23" name="Rounded Rectangle 22"/>
          <p:cNvSpPr/>
          <p:nvPr/>
        </p:nvSpPr>
        <p:spPr>
          <a:xfrm>
            <a:off x="6967728" y="4014215"/>
            <a:ext cx="4718304" cy="1353312"/>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0" y="4160520"/>
            <a:ext cx="4389120" cy="283464"/>
          </a:xfrm>
          <a:prstGeom prst="rect">
            <a:avLst/>
          </a:prstGeom>
          <a:noFill/>
        </p:spPr>
        <p:txBody>
          <a:bodyPr wrap="square" lIns="13716" rIns="13716" tIns="13716" bIns="13716">
            <a:spAutoFit/>
          </a:bodyPr>
          <a:lstStyle/>
          <a:p>
            <a:pPr>
              <a:spcBef>
                <a:spcPts val="0"/>
              </a:spcBef>
              <a:spcAft>
                <a:spcPts val="500"/>
              </a:spcAft>
              <a:defRPr sz="1600" b="1">
                <a:solidFill>
                  <a:srgbClr val="2563EB"/>
                </a:solidFill>
                <a:latin typeface="Arial"/>
              </a:defRPr>
            </a:pPr>
            <a:r>
              <a:t>USUALLY STAY AGGREGATED</a:t>
            </a:r>
          </a:p>
        </p:txBody>
      </p:sp>
      <p:sp>
        <p:nvSpPr>
          <p:cNvPr id="25" name="TextBox 24"/>
          <p:cNvSpPr txBox="1"/>
          <p:nvPr/>
        </p:nvSpPr>
        <p:spPr>
          <a:xfrm>
            <a:off x="7132320" y="4626864"/>
            <a:ext cx="4389120" cy="612648"/>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Fast fabric alone is not a reason to split.</a:t>
            </a:r>
          </a:p>
          <a:p>
            <a:pPr>
              <a:spcBef>
                <a:spcPts val="0"/>
              </a:spcBef>
              <a:spcAft>
                <a:spcPts val="500"/>
              </a:spcAft>
              <a:defRPr sz="1500" b="0">
                <a:solidFill>
                  <a:srgbClr val="172941"/>
                </a:solidFill>
                <a:latin typeface="Arial"/>
              </a:defRPr>
            </a:pPr>
            <a:r>
              <a:t>Operational gains may be limited.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P/D ADOPTION EXAMPLES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Apply the matrix to your workload and topology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Workload shape suggests a candidate. Measurement decides whether to keep it.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 long prompt or a fast interconnect alone is not enough—both axes must justify separation.</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50 / 56</a:t>
            </a:r>
          </a:p>
        </p:txBody>
      </p:sp>
      <p:sp>
        <p:nvSpPr>
          <p:cNvPr id="10" name="Rounded Rectangle 9"/>
          <p:cNvSpPr/>
          <p:nvPr/>
        </p:nvSpPr>
        <p:spPr>
          <a:xfrm>
            <a:off x="502920"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2860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SIMILAR ROLES</a:t>
            </a:r>
          </a:p>
        </p:txBody>
      </p:sp>
      <p:sp>
        <p:nvSpPr>
          <p:cNvPr id="13" name="TextBox 12"/>
          <p:cNvSpPr txBox="1"/>
          <p:nvPr/>
        </p:nvSpPr>
        <p:spPr>
          <a:xfrm>
            <a:off x="685800"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Keep it simple</a:t>
            </a:r>
          </a:p>
        </p:txBody>
      </p:sp>
      <p:sp>
        <p:nvSpPr>
          <p:cNvPr id="14" name="TextBox 13"/>
          <p:cNvSpPr txBox="1"/>
          <p:nvPr/>
        </p:nvSpPr>
        <p:spPr>
          <a:xfrm>
            <a:off x="685800"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Small model, short prompts</a:t>
            </a:r>
          </a:p>
          <a:p>
            <a:pPr>
              <a:spcBef>
                <a:spcPts val="0"/>
              </a:spcBef>
              <a:spcAft>
                <a:spcPts val="500"/>
              </a:spcAft>
              <a:defRPr sz="1500" b="0">
                <a:solidFill>
                  <a:srgbClr val="172941"/>
                </a:solidFill>
                <a:latin typeface="Arial"/>
              </a:defRPr>
            </a:pPr>
            <a:r>
              <a:t>Low concurrency</a:t>
            </a:r>
          </a:p>
          <a:p>
            <a:pPr>
              <a:spcBef>
                <a:spcPts val="0"/>
              </a:spcBef>
              <a:spcAft>
                <a:spcPts val="500"/>
              </a:spcAft>
              <a:defRPr sz="1500" b="0">
                <a:solidFill>
                  <a:srgbClr val="172941"/>
                </a:solidFill>
                <a:latin typeface="Arial"/>
              </a:defRPr>
            </a:pPr>
            <a:r>
              <a:t>Similar P/D scaling needs</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Start with aggregated.</a:t>
            </a:r>
          </a:p>
        </p:txBody>
      </p:sp>
      <p:sp>
        <p:nvSpPr>
          <p:cNvPr id="15" name="Rounded Rectangle 14"/>
          <p:cNvSpPr/>
          <p:nvPr/>
        </p:nvSpPr>
        <p:spPr>
          <a:xfrm>
            <a:off x="4288536"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2860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STRONG CANDIDATE</a:t>
            </a:r>
          </a:p>
        </p:txBody>
      </p:sp>
      <p:sp>
        <p:nvSpPr>
          <p:cNvPr id="18" name="TextBox 17"/>
          <p:cNvSpPr txBox="1"/>
          <p:nvPr/>
        </p:nvSpPr>
        <p:spPr>
          <a:xfrm>
            <a:off x="4471416"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Benchmark P/D</a:t>
            </a:r>
          </a:p>
        </p:txBody>
      </p:sp>
      <p:sp>
        <p:nvSpPr>
          <p:cNvPr id="19" name="TextBox 18"/>
          <p:cNvSpPr txBox="1"/>
          <p:nvPr/>
        </p:nvSpPr>
        <p:spPr>
          <a:xfrm>
            <a:off x="4471416"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Different scaling or TP needs</a:t>
            </a:r>
          </a:p>
          <a:p>
            <a:pPr>
              <a:spcBef>
                <a:spcPts val="0"/>
              </a:spcBef>
              <a:spcAft>
                <a:spcPts val="500"/>
              </a:spcAft>
              <a:defRPr sz="1500" b="0">
                <a:solidFill>
                  <a:srgbClr val="172941"/>
                </a:solidFill>
                <a:latin typeface="Arial"/>
              </a:defRPr>
            </a:pPr>
            <a:r>
              <a:t>Cheap, reliable KV transfer</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Test independent role capacity.</a:t>
            </a:r>
          </a:p>
        </p:txBody>
      </p:sp>
      <p:sp>
        <p:nvSpPr>
          <p:cNvPr id="20" name="Rounded Rectangle 19"/>
          <p:cNvSpPr/>
          <p:nvPr/>
        </p:nvSpPr>
        <p:spPr>
          <a:xfrm>
            <a:off x="8074152" y="210312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4144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TRANSFER-LIMITED</a:t>
            </a:r>
          </a:p>
        </p:txBody>
      </p:sp>
      <p:sp>
        <p:nvSpPr>
          <p:cNvPr id="23" name="TextBox 22"/>
          <p:cNvSpPr txBox="1"/>
          <p:nvPr/>
        </p:nvSpPr>
        <p:spPr>
          <a:xfrm>
            <a:off x="8257031" y="281635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Fix the path first</a:t>
            </a:r>
          </a:p>
        </p:txBody>
      </p:sp>
      <p:sp>
        <p:nvSpPr>
          <p:cNvPr id="24" name="TextBox 23"/>
          <p:cNvSpPr txBox="1"/>
          <p:nvPr/>
        </p:nvSpPr>
        <p:spPr>
          <a:xfrm>
            <a:off x="8257031" y="3419856"/>
            <a:ext cx="3246120" cy="1673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Different role bottlenecks</a:t>
            </a:r>
          </a:p>
          <a:p>
            <a:pPr>
              <a:spcBef>
                <a:spcPts val="0"/>
              </a:spcBef>
              <a:spcAft>
                <a:spcPts val="500"/>
              </a:spcAft>
              <a:defRPr sz="1500" b="0">
                <a:solidFill>
                  <a:srgbClr val="172941"/>
                </a:solidFill>
                <a:latin typeface="Arial"/>
              </a:defRPr>
            </a:pPr>
            <a:r>
              <a:t>Costly or unstable KV path</a:t>
            </a:r>
          </a:p>
          <a:p>
            <a:pPr>
              <a:spcBef>
                <a:spcPts val="0"/>
              </a:spcBef>
              <a:spcAft>
                <a:spcPts val="500"/>
              </a:spcAft>
              <a:defRPr sz="1500" b="0">
                <a:solidFill>
                  <a:srgbClr val="172941"/>
                </a:solidFill>
                <a:latin typeface="Arial"/>
              </a:defRPr>
            </a:pPr>
          </a:p>
          <a:p>
            <a:pPr>
              <a:spcBef>
                <a:spcPts val="0"/>
              </a:spcBef>
              <a:spcAft>
                <a:spcPts val="500"/>
              </a:spcAft>
              <a:defRPr sz="1500" b="0">
                <a:solidFill>
                  <a:srgbClr val="172941"/>
                </a:solidFill>
                <a:latin typeface="Arial"/>
              </a:defRPr>
            </a:pPr>
            <a:r>
              <a:t>Improve locality or transport.</a:t>
            </a:r>
          </a:p>
          <a:p>
            <a:pPr>
              <a:spcBef>
                <a:spcPts val="0"/>
              </a:spcBef>
              <a:spcAft>
                <a:spcPts val="500"/>
              </a:spcAft>
              <a:defRPr sz="1500" b="0">
                <a:solidFill>
                  <a:srgbClr val="172941"/>
                </a:solidFill>
                <a:latin typeface="Arial"/>
              </a:defRPr>
            </a:pPr>
            <a:r>
              <a:t>Then reassess P/D.</a:t>
            </a:r>
          </a:p>
        </p:txBody>
      </p:sp>
      <p:sp>
        <p:nvSpPr>
          <p:cNvPr id="25" name="TextBox 24"/>
          <p:cNvSpPr txBox="1"/>
          <p:nvPr/>
        </p:nvSpPr>
        <p:spPr>
          <a:xfrm>
            <a:off x="521207" y="5431536"/>
            <a:ext cx="11064240" cy="320040"/>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Start with a simple topology; measure client TTFT / ITL, KV-transfer tails, SLO goodput and total cost.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51 / 56</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52 / 56</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53 / 56</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INTEGRATION ROADMAP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What’s next for KAITO + llm-d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Build on P/D with better cache reuse, richer role layouts and larger-scale execution.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Integration directions—not release dates or claims that every upstream capability is new.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54 / 56</a:t>
            </a:r>
          </a:p>
        </p:txBody>
      </p:sp>
      <p:sp>
        <p:nvSpPr>
          <p:cNvPr id="10" name="Rounded Rectangle 9"/>
          <p:cNvSpPr/>
          <p:nvPr/>
        </p:nvSpPr>
        <p:spPr>
          <a:xfrm>
            <a:off x="502920"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NEAR TERM</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Cache-aware serving</a:t>
            </a:r>
          </a:p>
        </p:txBody>
      </p:sp>
      <p:sp>
        <p:nvSpPr>
          <p:cNvPr id="14" name="TextBox 13"/>
          <p:cNvSpPr txBox="1"/>
          <p:nvPr/>
        </p:nvSpPr>
        <p:spPr>
          <a:xfrm>
            <a:off x="685800"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KV-event-based</a:t>
            </a:r>
          </a:p>
          <a:p>
            <a:pPr>
              <a:spcBef>
                <a:spcPts val="0"/>
              </a:spcBef>
              <a:spcAft>
                <a:spcPts val="500"/>
              </a:spcAft>
              <a:defRPr sz="1700" b="0">
                <a:solidFill>
                  <a:srgbClr val="172941"/>
                </a:solidFill>
                <a:latin typeface="Arial"/>
              </a:defRPr>
            </a:pPr>
            <a:r>
              <a:t>prefix-cache routing</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Tiered cache: HBM + CPU RAM</a:t>
            </a:r>
          </a:p>
          <a:p>
            <a:pPr>
              <a:spcBef>
                <a:spcPts val="0"/>
              </a:spcBef>
              <a:spcAft>
                <a:spcPts val="500"/>
              </a:spcAft>
              <a:defRPr sz="1700" b="0">
                <a:solidFill>
                  <a:srgbClr val="172941"/>
                </a:solidFill>
                <a:latin typeface="Arial"/>
              </a:defRPr>
            </a:pPr>
            <a:r>
              <a:t>+ optional filesystem tiers</a:t>
            </a:r>
          </a:p>
        </p:txBody>
      </p:sp>
      <p:sp>
        <p:nvSpPr>
          <p:cNvPr id="15" name="Rounded Rectangle 14"/>
          <p:cNvSpPr/>
          <p:nvPr/>
        </p:nvSpPr>
        <p:spPr>
          <a:xfrm>
            <a:off x="4288536"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NEXT TOPOLOGY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E/P/D</a:t>
            </a:r>
          </a:p>
        </p:txBody>
      </p:sp>
      <p:sp>
        <p:nvSpPr>
          <p:cNvPr id="19" name="TextBox 18"/>
          <p:cNvSpPr txBox="1"/>
          <p:nvPr/>
        </p:nvSpPr>
        <p:spPr>
          <a:xfrm>
            <a:off x="4471416"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Encode / Prefill / Decode</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Extend role-based serving</a:t>
            </a:r>
          </a:p>
          <a:p>
            <a:pPr>
              <a:spcBef>
                <a:spcPts val="0"/>
              </a:spcBef>
              <a:spcAft>
                <a:spcPts val="500"/>
              </a:spcAft>
              <a:defRPr sz="1700" b="0">
                <a:solidFill>
                  <a:srgbClr val="172941"/>
                </a:solidFill>
                <a:latin typeface="Arial"/>
              </a:defRPr>
            </a:pPr>
            <a:r>
              <a:t>to richer inference topologies.</a:t>
            </a:r>
          </a:p>
        </p:txBody>
      </p:sp>
      <p:sp>
        <p:nvSpPr>
          <p:cNvPr id="20" name="Rounded Rectangle 19"/>
          <p:cNvSpPr/>
          <p:nvPr/>
        </p:nvSpPr>
        <p:spPr>
          <a:xfrm>
            <a:off x="8074152" y="2148840"/>
            <a:ext cx="3611880" cy="3401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AT LARGER SCALE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Larger-scale systems</a:t>
            </a:r>
          </a:p>
        </p:txBody>
      </p:sp>
      <p:sp>
        <p:nvSpPr>
          <p:cNvPr id="24" name="TextBox 23"/>
          <p:cNvSpPr txBox="1"/>
          <p:nvPr/>
        </p:nvSpPr>
        <p:spPr>
          <a:xfrm>
            <a:off x="8257031" y="3465576"/>
            <a:ext cx="3246120" cy="1938528"/>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Wide Expert Parallelism</a:t>
            </a:r>
          </a:p>
          <a:p>
            <a:pPr>
              <a:spcBef>
                <a:spcPts val="0"/>
              </a:spcBef>
              <a:spcAft>
                <a:spcPts val="500"/>
              </a:spcAft>
              <a:defRPr sz="1700" b="0">
                <a:solidFill>
                  <a:srgbClr val="172941"/>
                </a:solidFill>
                <a:latin typeface="Arial"/>
              </a:defRPr>
            </a:pPr>
          </a:p>
          <a:p>
            <a:pPr>
              <a:spcBef>
                <a:spcPts val="0"/>
              </a:spcBef>
              <a:spcAft>
                <a:spcPts val="500"/>
              </a:spcAft>
              <a:defRPr sz="1700" b="0">
                <a:solidFill>
                  <a:srgbClr val="172941"/>
                </a:solidFill>
                <a:latin typeface="Arial"/>
              </a:defRPr>
            </a:pPr>
            <a:r>
              <a:t>Cross-node transport</a:t>
            </a:r>
          </a:p>
          <a:p>
            <a:pPr>
              <a:spcBef>
                <a:spcPts val="0"/>
              </a:spcBef>
              <a:spcAft>
                <a:spcPts val="500"/>
              </a:spcAft>
              <a:defRPr sz="1700" b="0">
                <a:solidFill>
                  <a:srgbClr val="172941"/>
                </a:solidFill>
                <a:latin typeface="Arial"/>
              </a:defRPr>
            </a:pPr>
            <a:r>
              <a:t>and communication</a:t>
            </a:r>
          </a:p>
          <a:p>
            <a:pPr>
              <a:spcBef>
                <a:spcPts val="0"/>
              </a:spcBef>
              <a:spcAft>
                <a:spcPts val="500"/>
              </a:spcAft>
              <a:defRPr sz="1700" b="0">
                <a:solidFill>
                  <a:srgbClr val="172941"/>
                </a:solidFill>
                <a:latin typeface="Arial"/>
              </a:defRPr>
            </a:pPr>
            <a:r>
              <a:t>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55 / 56</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56 / 56</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