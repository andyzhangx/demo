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Today we're looking at a simple idea: process the prompt here, and generate the answer there. KAITO and llm-d can make that split feel like a Kubernetes service rather than hand-wired components. The goal is independent capacity with a familiar operating model.</a:t>
            </a:r>
          </a:p>
          <a:p/>
          <a:p>
            <a:r>
              <a:t>REFERENCE NOTES (NOT SPOKEN)</a:t>
            </a:r>
          </a:p>
          <a:p/>
          <a:p>
            <a:r>
              <a:t>Open on the operating model, not a benchmark claim. Prefill computes the prompt state; decode consumes that state to generate tokens. This is a conceptual title diagram, not the full request path.</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We'll follow four questions. Why separate prefill and decode? What makes that difficult to operate? How do KAITO and llm-d divide the work? And how do we decide whether the extra complexity pays off?</a:t>
            </a:r>
          </a:p>
          <a:p/>
          <a:p>
            <a:r>
              <a:t>REFERENCE NOTES (NOT SPOKEN)</a:t>
            </a:r>
          </a:p>
          <a:p/>
          <a:p>
            <a:r>
              <a:t>Keep this agenda brief. Spend the time on the problem, the orchestration abstraction, and production tradeoffs. Preserve the advanced diagrams for a faster walkthrough or questions if needed.</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Let's start with what the model actually does. For this teaching example, we're treating each word and punctuation mark as a token. Prefill processes the five prompt positions with causal attention and builds their per-layer keys and values. The final prompt position predicts the first output token, 'Kubernetes.' Importantly, selecting that token doesn't put its keys and values in the cache yet. Those appear when the next step consumes it.</a:t>
            </a:r>
          </a:p>
          <a:p/>
          <a:p>
            <a:r>
              <a:t>REFERENCE NOTES (NOT SPOKEN)</a:t>
            </a:r>
          </a:p>
          <a:p/>
          <a:p>
            <a:r>
              <a:t>Illustrative word-level tokens; not a real model tokenizer. For teaching only, assume each complete English word is one token and each punctuation mark is a separate token. Spaces are presentation separators, not extra positions. The prompt has four words plus a question mark (five positions); the output has seven words plus a period (eight positions). This is not BPE and does not describe Qwen or typical production tokenization: real tokenizers can split words into subwords and handle whitespace and punctuation differently. No tokenizer or model inference was run; the completion is authored, not a captured model response or evidence of a KAITO model deployment. Exact prompt: What does Kubernetes do? Exact output: Kubernetes helps teams deploy and scale applications. Scope: a standard decoder-only autoregressive Transformer with KV caching and no speculative decoding. Tokenization precedes model execution. Prefill processes all uncached prompt positions; operations across positions can be batched within a layer while a causal mask prevents attention to future positions. Layers still follow model dependencies. Every attention layer builds K/V for the positions it processes. KV tensors are model state, not prompt text, weights or cached answers. Final prompt-position logits select y1, illustrated as the complete word Kubernetes. This authored selection is a hypothetical model path, not a measured probability. Immediately after selection, only prompt KV is cached. The next forward pass consumes y1 and appends its K/V. Chunked prefill splits uncached positions into scheduled chunks; prefix caching can reuse cached prompt positions. Prefill is not necessarily one physical kernel or uninterrupted scheduler iteration. Phase semantics do not assign first-token selection or delivery to a particular worker or specify the KAITO/llm-d transfer protocol. Client TTFT also includes queueing, tokenization, orchestration, transfer and delivery.</a:t>
            </a:r>
          </a:p>
          <a:p/>
          <a:p>
            <a:r>
              <a:t>Narrative source: kubecon-na-2026-pd-disaggregation.md</a:t>
            </a:r>
          </a:p>
          <a:p>
            <a:r>
              <a:t>References:</a:t>
            </a:r>
          </a:p>
          <a:p>
            <a:r>
              <a:t>https://huggingface.co/docs/transformers/en/cache_explanation</a:t>
            </a:r>
          </a:p>
          <a:p>
            <a:r>
              <a:t>https://docs.nvidia.com/dynamo/dev/kubernetes/disaggregated-serving/overview</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Now decode consumes 'Kubernetes,' reads the existing history, adds that consumed token's keys and values, and predicts 'helps.' Then it repeats. We're reusing old keys and values, not avoiding all attention work. On the client timeline, time to first token is the initial wait. Inter-token latency is each subsequent gap. Average time per output token summarizes those later intervals; it isn't the same thing as an individual gap or its percentile.</a:t>
            </a:r>
          </a:p>
          <a:p/>
          <a:p>
            <a:r>
              <a:t>REFERENCE NOTES (NOT SPOKEN)</a:t>
            </a:r>
          </a:p>
          <a:p/>
          <a:p>
            <a:r>
              <a:t>Illustrative word-level tokens; not a real model tokenizer. For teaching only, assume each complete English word is one token and each punctuation mark is a separate token. Spaces are presentation separators, not extra positions. The prompt has four words plus a question mark (five positions); the output has seven words plus a period (eight positions). This is not BPE and does not describe Qwen or typical production tokenization: real tokenizers can split words into subwords and handle whitespace and punctuation differently. No tokenizer or model inference was run; the completion is authored, not a captured model response or evidence of a KAITO model deployment. Continue slide 3. Exact output: Kubernetes helps teams deploy and scale applications. Prefill selected y1 = Kubernetes with only prompt KV cached. Decode step i consumes yi with cache for prompt plus y1 through y(i-1), appends per-layer K/V for yi, then selects y(i+1) from the new position logits. Six rows: Kubernetes -&gt; helps; helps -&gt; teams; teams -&gt; deploy; deploy -&gt; and; and -&gt; scale; scale -&gt; applications. After row 6, cached output positions are y1-y6 and y7 (applications) is selected but not consumed or cached. The omitted final step consumes y7 (applications) and selects y8 (period). If generation continues, consuming the period could select EOS; EOS is normally hidden and need not be consumed into KV on stopping. No EOS ID or actual model decision is asserted. A token limit or stop string can also stop generation. With full-context attention each new query still reads cached history; caching avoids recomputing old K/V, not all attention work or history reads. Cache memory behavior depends on static allocation, sliding windows and eviction. Ordinary autoregressive decode is sequential within one request; cross-request batching is possible, and speculative decoding may accept multiple tokens per physical iteration. Client timeline shows the first six words under the one-word-per-token teaching assumption; the later word applications and punctuation are omitted. TTFT means time to first token: request submission to first received token, which is a whole word only in this schematic. Each ITL is the gap between successive received tokens. Five gaps are shown, not timing measurements; durations are not to scale. In real systems the first token need not be a complete word. Queueing, orchestration, transport, detokenization and stream buffering may change client-observed arrival grouping and latency. A real stream chunk may contain multiple tokens. Average time per output token is not each ITL sample or percentile. These phase semantics cover colocated and disaggregated serving and do not mandate a worker boundary; colocated serving needs no inter-worker KV transfer.</a:t>
            </a:r>
          </a:p>
          <a:p/>
          <a:p>
            <a:r>
              <a:t>Narrative source: kubecon-na-2026-pd-disaggregation.md</a:t>
            </a:r>
          </a:p>
          <a:p>
            <a:r>
              <a:t>References:</a:t>
            </a:r>
          </a:p>
          <a:p>
            <a:r>
              <a:t>https://huggingface.co/docs/transformers/en/cache_explanation</a:t>
            </a:r>
          </a:p>
          <a:p>
            <a:r>
              <a:t>https://docs.vllm.ai/en/stable/usage/metrics/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These phases create two different performance targets. Prefill often stresses compute and mainly shapes time to first token. Decode often stresses memory bandwidth and shapes the pace of the stream. Neither relationship is exclusive: queues and delivery matter too. What we ultimately want is goodput: requests that meet both latency targets, not just a large aggregate token counter.</a:t>
            </a:r>
          </a:p>
          <a:p/>
          <a:p>
            <a:r>
              <a:t>REFERENCE NOTES (NOT SPOKEN)</a:t>
            </a:r>
          </a:p>
          <a:p/>
          <a:p>
            <a:r>
              <a:t>Primary mapping, not exclusive causation: prefill latency mainly shapes TTFT (time to first token), while decode mainly shapes ITL (inter-token latency) and per-request TPOT (average time per output token after the first). Lower latency is better at matched workload and quality. TTFT is not pure prefill compute: request queueing, routing, input processing/tokenization, scheduling, and delivery contribute; disaggregated serving can also add KV-transfer and coordination time on the first-token critical path, depending on the protocol. No worker ordering or first-token delivery worker is mandated.</a:t>
            </a:r>
          </a:p>
          <a:p/>
          <a:p>
            <a:r>
              <a:t>At a client measurement boundary, TTFT is request submission to receipt of the first output token. ITL describes gaps between successive output tokens in a one-token-per-event stream. The cited vLLM inter_token_latency_seconds histogram actually records consecutive streamed output events, which can contain multiple tokens; request_time_per_output_token_seconds records one TPOT sample per finished request. For Nout &gt; 1, TPOT = (end-to-end latency - TTFT)/(Nout - 1) at the source metric boundaries. ITL and TPOT distributions, means and percentiles are not interchangeable: multi-token events and different request/event weighting change them. With consistent client boundaries and TPOT measured from first to last received token, total response latency to the last token is approximately TTFT + (Nout - 1) × TPOT. This is not an exact claim about HTTP request-close time. For no more than one generated token, vLLM server records TPOT as zero whereas its benchmark excludes the request from TPOT statistics.</a:t>
            </a:r>
          </a:p>
          <a:p/>
          <a:p>
            <a:r>
              <a:t>vLLM frontend/engine timing is not identical to client timing: the documented frontend arrival_time starts at tokenization, and engine prefill time runs from the most recent SCHEDULED to first NEW_TOKENS. Client timing additionally observes network and delivery overhead. ITL/TPOT can include scheduling gaps, preemption, contention, detokenization, transport and stream buffering rather than only GPU decode compute. Colocated prefill bursts can stall existing decode streams; chunked prefill and scheduling can mitigate this.</a:t>
            </a:r>
          </a:p>
          <a:p/>
          <a:p>
            <a:r>
              <a:t>Supporting role metrics: prefill latency and input-token processing throughput (input tok/s); decode output-token throughput (output tok/s). State the aggregation scope, time window, prompt/output lengths and prefix-cache accounting. Aggregate output tok/s is across concurrent requests and is not the speed experienced by one request. After the first token, a single request has approximately 1/TPOT output tok/s at matching boundaries; larger decode batches may raise aggregate throughput while worsening per-request ITL/TPOT. Input and output tok/s measure different work and must not be compared as equivalent productivity.</a:t>
            </a:r>
          </a:p>
          <a:p/>
          <a:p>
            <a:r>
              <a:t>Both phases affect end-to-end latency and system capacity. SLO goodput here means requests/s meeting both TTFT and token-delivery latency targets, not all completed requests or raw token throughput. The word often qualifies compute-bound prefill and memory-bandwidth-bound decode: bottlenecks depend on model, batch size, context, hardware and scheduling. Prefill populates the KV cache; longer prompts also increase decode attention/KV cost. HBM KV occupancy is a resource-capacity pressure indicator, not memory bandwidth or a primary latency metric. Conceptual mapping only: no measured speedups or performance data.</a:t>
            </a:r>
          </a:p>
          <a:p/>
          <a:p>
            <a:r>
              <a:t>Narrative source: kubecon-na-2026-pd-disaggregation.md</a:t>
            </a:r>
          </a:p>
          <a:p>
            <a:r>
              <a:t>References:</a:t>
            </a:r>
          </a:p>
          <a:p>
            <a:r>
              <a:t>https://docs.vllm.ai/en/latest/design/metrics/</a:t>
            </a:r>
          </a:p>
          <a:p>
            <a:r>
              <a:t>https://docs.vllm.ai/en/latest/benchmarking/cli/#understanding-the-latency-metrics</a:t>
            </a:r>
          </a:p>
          <a:p>
            <a:r>
              <a:t>https://docs.nvidia.com/dynamo/dev/kubernetes/disaggregated-serving/overview</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In aggregated serving, both phases share a GPU pool and scaling boundary. That's a reasonable starting point. But prompt bursts can compete with ongoing generation, and scaling adds both phases together. Even with good scheduling, capacity remains a coupled decision.</a:t>
            </a:r>
          </a:p>
          <a:p/>
          <a:p>
            <a:r>
              <a:t>REFERENCE NOTES (NOT SPOKEN)</a:t>
            </a:r>
          </a:p>
          <a:p/>
          <a:p>
            <a:r>
              <a:t>Do not claim every aggregated deployment performs poorly. Continuous batching and chunked prefill can reduce interference. The point is that a shared resource and scaling boundary still constrains independent capacity shaping.</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 A is an ongoing request and B is a new arrival. Each D block means a decode execution step for A; D isn't a token or a request name. On the shared GPU, B's prefill can interrupt A. Chunked prefill can reduce that pause. Separate workers remove that direct execution conflict, although B still needs a KV handoff and other latency sources remain.</a:t>
            </a:r>
          </a:p>
          <a:p/>
          <a:p>
            <a:r>
              <a:t>REFERENCE NOTES (NOT SPOKEN)</a:t>
            </a:r>
          </a:p>
          <a:p/>
          <a:p>
            <a:r>
              <a:t>Original author-created conceptual schedule, not a reproduced research figure, trace or benchmark. Source basis: NVIDIA Dynamo introduction, published 18 March 2025 (page metadata), and current disaggregated-serving overview, accessed 22 October 2026. A is one ongoing request; B is a different newly arriving request. Each purple A block represents some decode execution, not a measured token duration or count. The shared-GPU example chooses a simple non-chunked prefill scheduling interval to explain how prompt processing can delay ongoing decode. Real schedulers can chunk or interleave prefill, use decode-priority policies or mixed batches, and mitigate interference; not all colocated serving has a contiguous pause. Separate GPUs let A continue without executing B prefill on its decode GPU. Equally spaced symbols are for readability only, not a promise of constant ITL or a measured improvement. B still requires KV transfer before its own decode; that transfer and B decode are omitted from this schedule, not assumed free. Queueing, KV movement, memory contention, batching and shared infrastructure can still affect either stream. The split uses an additional worker in this structural sketch; it is not an equal-budget performance comparison. No latency numbers, speedup, throughput, model or GPU recommendation is inferred.</a:t>
            </a:r>
          </a:p>
          <a:p/>
          <a:p>
            <a:r>
              <a:t>Narrative source: kubecon-na-2026-pd-disaggregation.md</a:t>
            </a:r>
          </a:p>
          <a:p>
            <a:r>
              <a:t>References:</a:t>
            </a:r>
          </a:p>
          <a:p>
            <a:r>
              <a:t>https://developer.nvidia.com/blog/introducing-nvidia-dynamo-a-low-latency-distributed-inference-framework-for-scaling-reasoning-ai-models/</a:t>
            </a:r>
          </a:p>
          <a:p>
            <a:r>
              <a:t>https://vllm.ai/blog/2025-09-05-anatomy-of-vllm</a:t>
            </a:r>
          </a:p>
          <a:p>
            <a:r>
              <a:t>https://docs.nvidia.com/dynamo/kubernetes/disaggregated-serving/overview</a:t>
            </a:r>
          </a:p>
          <a:p>
            <a:r>
              <a:t>https://docs.vllm.ai/en/latest/features/disagg_prefill/</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batching opportunities are different too. Prefill can process many prompt positions together, while respecting causal attention. Ordinary decode advances one newest input position for each independent request. So decode finds parallelism across active sequences. More concurrency can improve aggregate efficiency, but it can also lengthen each iteration and consume more KV memory. The latency budget still matters.</a:t>
            </a:r>
          </a:p>
          <a:p/>
          <a:p>
            <a:r>
              <a:t>REFERENCE NOTES (NOT SPOKEN)</a:t>
            </a:r>
          </a:p>
          <a:p/>
          <a:p>
            <a:r>
              <a:t>Original author-created conceptual batching illustration, not measured curves or reproduced vendor artwork. Dated sources: NVIDIA Dynamo introduction, 18 March 2025; Anatomy of vLLM, article dated 5 September 2025 (published repository 8 September; analyzes an August 9 snapshot). Also current vLLM disaggregated-prefill and Dynamo disaggregated-serving documentation, accessed 22 October 2026. Prefill has many prompt input positions from one or more requests in a forward pass; their p/q labels are schematic positions, not words, actual tokenizer IDs or optimal batch counts. Causal attention still applies: parallel processing does not let a position attend to future positions. Uncached prompt positions may be split across multiple chunks/passes, and prefix reuse can skip cached positions. Ordinary autoregressive decode consumes one newest input position per active sequence, attends to the sequence’s previous KV history, appends that position’s per-layer KV, then selects the next output token. The consumed token is not the newly selected output token of that same step. Independent requests can share a decode batch, but generation remains sequential within each request. The diagram represents three independent sequences, not three successive tokens from one sequence. Speculative decoding and multi-token methods are outside this ordinary-decode illustration. vLLM V1 can mix decode with chunked prefill in one scheduled step, so these conceptual units do not mandate separate physical passes or workers. Longer prompts provide within-request parallel work for prefill; more active sequences provide cross-request decode batching. Larger decode batches can amortize work but increase iteration time, ITL and KV-memory demand; no monotonic throughput improvement, ideal batch size, fixed worker count or latency number is claimed. Both phases use memory and compute. Independent phase tuning may help but remains workload-dependent. P/D additionally requires KV transfer and coordination; see slide7 and slide9 for that tradeoff. This slide deliberately explains batching units, not the independent capacity allocation shown on slide9.</a:t>
            </a:r>
          </a:p>
          <a:p/>
          <a:p>
            <a:r>
              <a:t>Narrative source: kubecon-na-2026-pd-disaggregation.md</a:t>
            </a:r>
          </a:p>
          <a:p>
            <a:r>
              <a:t>References:</a:t>
            </a:r>
          </a:p>
          <a:p>
            <a:r>
              <a:t>https://developer.nvidia.com/blog/introducing-nvidia-dynamo-a-low-latency-distributed-inference-framework-for-scaling-reasoning-ai-models/</a:t>
            </a:r>
          </a:p>
          <a:p>
            <a:r>
              <a:t>https://vllm.ai/blog/2025-09-05-anatomy-of-vllm</a:t>
            </a:r>
          </a:p>
          <a:p>
            <a:r>
              <a:t>https://docs.nvidia.com/dynamo/kubernetes/disaggregated-serving/overview</a:t>
            </a:r>
          </a:p>
          <a:p>
            <a:r>
              <a:t>https://docs.vllm.ai/en/latest/features/disagg_prefill/</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This is the real motivation: two capacity decisions instead of one compromise. Prompt-heavy demand may need a different replica count or parallelism setting from generation-heavy demand. Those choices remain runtime-dependent. Separation is worthwhile only when the benefit exceeds KV transfer, duplicated model weights, and the extra work of operating two pools.</a:t>
            </a:r>
          </a:p>
          <a:p/>
          <a:p>
            <a:r>
              <a:t>REFERENCE NOTES (NOT SPOKEN)</a:t>
            </a:r>
          </a:p>
          <a:p/>
          <a:p>
            <a:r>
              <a:t>NVIDIA Dynamo disaggregated-serving overview describes compute-bound prefill and memory-bandwidth-bound decode, with independent pools, batching, hardware and parallelism choices. These are common regimes rather than universal laws: model, context length, batch size and hardware change the limiting resource. Dynamo-specific worker orchestration and NIXL setup are not presented as KAITO architecture. Conceptual synthesis, not measured performance data. DistServe section 2.3 identifies resource and parallelism coupling as distinct from prefill/decode execution interference: a colocated deployment shares devices, resource allocation and a parallelism plan even when the two phases have different bottlenecks and latency constraints. Separate pools permit different hardware, tensor-parallel degrees, batching policies and replica counts, subject to runtime/connector compatibility; they do not imply every choice is supported by current KAITO. The two demand cards are first investigation directions, not a deterministic scaler: longer prompts also increase decode KV state and transfer bytes, so inspect both roles and the end-to-end SLO before changing capacity. Likewise larger decode batches must respect ITL and KV limits. Shared pools can still benefit from chunked prefill, continuous batching and scheduling improvements. P/D becomes worthwhile only when independent capacity tuning or interference isolation creates a measured gain larger than transfer, duplicated model residency and operational overhead. No fixed P:D ratio, GPU savings or current autoscaler implementation is claimed.</a:t>
            </a:r>
          </a:p>
          <a:p/>
          <a:p>
            <a:r>
              <a:t>Narrative source: kubecon-na-2026-pd-disaggregation.md</a:t>
            </a:r>
          </a:p>
          <a:p>
            <a:r>
              <a:t>References:</a:t>
            </a:r>
          </a:p>
          <a:p>
            <a:r>
              <a:t>https://docs.nvidia.com/dynamo/dev/kubernetes/disaggregated-serving/overview</a:t>
            </a:r>
          </a:p>
          <a:p>
            <a:r>
              <a:t>https://arxiv.org/html/2401.09670v2#S2.SS3</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Here's the resulting shape: prefill and decode pools with a new boundary between them. Data moves from prefill memory to decode memory, even when decode initiates the read. Transfer and coordination must fit the service's latency and cost budgets.</a:t>
            </a:r>
          </a:p>
          <a:p/>
          <a:p>
            <a:r>
              <a:t>REFERENCE NOTES (NOT SPOKEN)</a:t>
            </a:r>
          </a:p>
          <a:p/>
          <a:p>
            <a:r>
              <a:t>Conceptual data direction is prefill to decode. The low-level transfer can be a decode-initiated pull. Network and transport support depend on the deployment. Separate pools allow different instance types, replica counts, and tensor-parallel settings.</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Look for phases that want different shapes. Retrieval-heavy prompts create prefill pressure. Long answers and high concurrency keep decode busy with resident state. These are reasons to investigate, not automatic wins. Can independent capacity address a bottleneck we actually observe?</a:t>
            </a:r>
          </a:p>
          <a:p/>
          <a:p>
            <a:r>
              <a:t>REFERENCE NOTES (NOT SPOKEN)</a:t>
            </a:r>
          </a:p>
          <a:p/>
          <a:p>
            <a:r>
              <a:t>The real value is independent capacity shaping. Long prompts alone do not prove P/D wins; combine workload measurements with transfer-fabric and operational constraints. A fast GPU-to-GPU path lowers the barrier; cross-node P/D requires closer attention to the transfer path.</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Sometimes the right answer is to stay aggregated. Small models, short prompts, and low concurrency often don't justify another transfer path and more failure boundaries. If the existing service meets its targets simply and predictably, splitting it because it's fashionable would be a step backward.</a:t>
            </a:r>
          </a:p>
          <a:p/>
          <a:p>
            <a:r>
              <a:t>REFERENCE NOTES (NOT SPOKEN)</a:t>
            </a:r>
          </a:p>
          <a:p/>
          <a:p>
            <a:r>
              <a:t>Avoid blanket promises. The break-even point is empirical and model-, traffic-, and fabric-dependent. Aggregated serving can be simpler and faster for the wrong P/D workload.</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conceptual split is easy. The Kubernetes wiring is where the work expands. Endpoint selection, the decode proxy, transfer settings, labels, ports, and readiness all have to agree. Individually valid manifests can still form a broken service. That's the orchestration gap we're trying to close, rather than inventing another model execution engine.</a:t>
            </a:r>
          </a:p>
          <a:p/>
          <a:p>
            <a:r>
              <a:t>REFERENCE NOTES (NOT SPOKEN)</a:t>
            </a:r>
          </a:p>
          <a:p/>
          <a:p>
            <a:r>
              <a:t>This is an operational dependency map, not a request-flow diagram. Explain why assembling correct components by hand still leaves brittle contracts between them.</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There are already several credible approaches here. Dynamo offers an integrated stack; llm-d provides reusable routing components; KServe, AIBrix, Ray, and the vLLM Production Stack bring different packaging choices. Declarative APIs are not new. Our question is narrower: what's the cleanest way to bring this capability into KAITO's existing operating model?</a:t>
            </a:r>
          </a:p>
          <a:p/>
          <a:p>
            <a:r>
              <a:t>REFERENCE NOTES (NOT SPOKEN)</a:t>
            </a:r>
          </a:p>
          <a:p/>
          <a:p>
            <a:r>
              <a:t>Sources checked 2026-10-20. This is a capability and abstraction map, not a maturity, performance, or market-share ranking. The Kubernetes packaging column highlights a representative API; it is not an exhaustive feature inventory. Dynamo has a Kubernetes Operator and DynamoGraphDeployment: do not characterize it as lacking declarative orchestration. AIBrix StormService/RoleSet manages multi-role workloads. KServe LLMInferenceService explicitly wraps llm-d architecture, so it is not a separate underlying P/D engine. Ray Serve models P/D as application deployments; KubeRay supplies Kubernetes lifecycle management. The vLLM Production Stack tutorial supplies a Helm-based P/D deployment using LMCache/NIXL and a router; its sample versions are not a recommendation. LWS DisaggregatedSet is a workload controller, not a complete serving data plane. SGLang, vLLM and TensorRT-LLM are engines; NIXL, LMCache and Mooncake are transfer/cache building blocks, not standalone Kubernetes serving platforms. Latest documentation can describe newer or alpha capabilities: validate release compatibility and production maturity separately. Replace the old claim that the ecosystem lacks a declarative Kubernetes abstraction.</a:t>
            </a:r>
          </a:p>
          <a:p/>
          <a:p>
            <a:r>
              <a:t>Narrative source: kubecon-na-2026-pd-disaggregation.md</a:t>
            </a:r>
          </a:p>
          <a:p>
            <a:r>
              <a:t>References:</a:t>
            </a:r>
          </a:p>
          <a:p>
            <a:r>
              <a:t>https://docs.nvidia.com/dynamo/v1.1.0/getting-started/kubernetes-deployment</a:t>
            </a:r>
          </a:p>
          <a:p>
            <a:r>
              <a:t>https://llm-d.ai/docs/architecture</a:t>
            </a:r>
          </a:p>
          <a:p>
            <a:r>
              <a:t>https://aibrix.readthedocs.io/latest/features/gateway-routing/pd-disaggregation.html</a:t>
            </a:r>
          </a:p>
          <a:p>
            <a:r>
              <a:t>https://aibrix.readthedocs.io/latest/designs/aibrix-stormservice.html</a:t>
            </a:r>
          </a:p>
          <a:p>
            <a:r>
              <a:t>https://kserve.github.io/website/docs/model-serving/generative-inference/llmisvc/llmisvc-overview</a:t>
            </a:r>
          </a:p>
          <a:p>
            <a:r>
              <a:t>https://docs.ray.io/en/latest/serve/llm/user-guides/prefill-decode.html</a:t>
            </a:r>
          </a:p>
          <a:p>
            <a:r>
              <a:t>https://docs.vllm.ai/projects/production-stack/en/latest/use_cases/disaggregated-prefill.html</a:t>
            </a:r>
          </a:p>
          <a:p>
            <a:r>
              <a:t>https://lws.sigs.k8s.io/docs/concepts/disaggregatedset/</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For that goal, llm-d is a good fit. KAITO keeps deployment intent and lifecycle. llm-d contributes endpoint selection and request orchestration. vLLM and NIXL execute the phases and move the state. This is an integration choice, not a universal platform ranking. Today's documented MRI scope is alpha, with vLLM, Istio, and suitable GPU connectivity as important constraints.</a:t>
            </a:r>
          </a:p>
          <a:p/>
          <a:p>
            <a:r>
              <a:t>REFERENCE NOTES (NOT SPOKEN)</a:t>
            </a:r>
          </a:p>
          <a:p/>
          <a:p>
            <a:r>
              <a:t>Best fit is an architecture recommendation relative to the goal of extending KAITO, not evidence that KAITO beats every serving platform. KAITO users already have Workspace/InferenceSet APIs, model presets and infrastructure lifecycle workflows. MRI reuses that model through role-specific child InferenceSets. The documented controller creates an InferencePool and llm-d EPP, injects the decode routing sidecar, and sets vLLM NIXL side-channel configuration. llm-d contributes P/D endpoint-selection plugins and request orchestration; vLLM and NIXL execute inference and transfer KV directly between pods. The three boxes are a composition diagram, not a sequential request path. Gateway/HTTPRoute, certificates, GPU capacity and fabric setup remain platform prerequisites; do not claim MRI provisions every cluster dependency automatically. Compared with introducing another serving platform API alongside KAITO, reusing llm-d components preserves KAITO as the user-facing orchestration entry point. KServe and AIBrix are legitimate alternative orchestration platforms; Dynamo offers an integrated stack; Ray Serve fits Ray-centric applications. Existing users of those platforms need not migrate solely to obtain P/D. Documented KAITO limitations: MRI is alpha, currently vLLM-only and requires Istio plus suitable GPU-to-GPU connectivity. Independent role replica settings do not imply an automatic MRI-level autoscaling policy. The existing KEDA-InferenceSet capability and proposed MRI policy UX are discussed later. No throughput, latency, cost, hardware-portability or superiority claim is made. Sources checked 2026-10-20.</a:t>
            </a:r>
          </a:p>
          <a:p/>
          <a:p>
            <a:r>
              <a:t>Narrative source: kubecon-na-2026-pd-disaggregation.md</a:t>
            </a:r>
          </a:p>
          <a:p>
            <a:r>
              <a:t>References:</a:t>
            </a:r>
          </a:p>
          <a:p>
            <a:r>
              <a:t>https://kaito-project.github.io/kaito/docs/prefill-decode-disaggregation</a:t>
            </a:r>
          </a:p>
          <a:p>
            <a:r>
              <a:t>https://kaito-project.github.io/kaito/docs/keda-autoscaler-inference</a:t>
            </a:r>
          </a:p>
          <a:p>
            <a:r>
              <a:t>https://llm-d.ai/docs/architecture</a:t>
            </a:r>
          </a:p>
          <a:p>
            <a:r>
              <a:t>https://kserve.github.io/website/docs/model-serving/generative-inference/llmisvc/llmisvc-overview</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KAITO's API model grows with the serving problem. Workspace runs a workload, InferenceSet manages serving replicas, InferencePool exposes routing-facing backends, and MultiRoleInference describes the composed topology. These are complementary capabilities, not a strict ownership chain. In particular, InferencePool comes from the Gateway API Inference Extension rather than being a KAITO-specific invention.</a:t>
            </a:r>
          </a:p>
          <a:p/>
          <a:p>
            <a:r>
              <a:t>REFERENCE NOTES (NOT SPOKEN)</a:t>
            </a:r>
          </a:p>
          <a:p/>
          <a:p>
            <a:r>
              <a:t>This is a capability progression, not a strict ownership chain. InferencePool is the Gateway API Inference Extension routing abstraction. KAITO manages the objects and wiring around the runtime.</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experience should stay recognizable as the system grows: declare intent, inspect status, and let controllers reconcile. Adding replicas or splitting roles shouldn't replace that mental model. Each resource retains a distinct responsibility while the platform handles more integration work.</a:t>
            </a:r>
          </a:p>
          <a:p/>
          <a:p>
            <a:r>
              <a:t>REFERENCE NOTES (NOT SPOKEN)</a:t>
            </a:r>
          </a:p>
          <a:p/>
          <a:p>
            <a:r>
              <a:t>The same mental model persists: declare intent, observe status, and let controllers reconcile. InferencePool belongs to GWIE rather than being a KAITO-defined CRD. These objects have distinct jobs and should not be presented as interchangeable.</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Keep these responsibilities separate when debugging. KAITO reconciles resources and lifecycle. The llm-d endpoint picker participates in routing decisions, and its decode-side proxy coordinates the request. The runtime performs inference and transfers KV state. Knowing which layer owns a failure is much more useful than calling everything 'the serving stack.'</a:t>
            </a:r>
          </a:p>
          <a:p/>
          <a:p>
            <a:r>
              <a:t>REFERENCE NOTES (NOT SPOKEN)</a:t>
            </a:r>
          </a:p>
          <a:p/>
          <a:p>
            <a:r>
              <a:t>Avoid calling KAITO the scheduler or vLLM the orchestrator. The EPP participates in the Gateway request-routing decision; the decode-side routing proxy orchestrates the P/D request lifecycle.</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This composition uses familiar ecosystem pieces instead of hiding them inside a monolith. Gateway APIs expose traffic, llm-d routes, vLLM executes, NIXL connects KV transfer, and KEDA can scale an InferenceSet. KAITO reconciles the declared topology. These components still need compatible versions, and they aren't all installed or owned by one controller.</a:t>
            </a:r>
          </a:p>
          <a:p/>
          <a:p>
            <a:r>
              <a:t>REFERENCE NOTES (NOT SPOKEN)</a:t>
            </a:r>
          </a:p>
          <a:p/>
          <a:p>
            <a:r>
              <a:t>These are ecosystem building blocks, not all resources owned by the same controller. KEDA ScaledObjects target the InferenceSet scale subresource; KEDA and HPA implement the scaling loop. Runtime and transport versions matter.</a:t>
            </a:r>
          </a:p>
          <a:p/>
          <a:p>
            <a:r>
              <a:t>Narrative source: kubecon-na-2026-pd-disaggregation.md</a:t>
            </a:r>
          </a:p>
          <a:p>
            <a:r>
              <a:t>References:</a:t>
            </a:r>
          </a:p>
          <a:p>
            <a:r>
              <a:t>https://kaito-project.github.io/kaito/docs/prefill-decode-disaggregation</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MultiRoleInference, or MRI, is the central declaration. It describes one logical service with separate prefill and decode InferenceSets. Each role can carry its own capacity and runtime settings. The controller supplies the connecting configuration. Independent replica settings are available here; an automatic service-level scaling policy is a separate topic we'll come to shortly.</a:t>
            </a:r>
          </a:p>
          <a:p/>
          <a:p>
            <a:r>
              <a:t>REFERENCE NOTES (NOT SPOKEN)</a:t>
            </a:r>
          </a:p>
          <a:p/>
          <a:p>
            <a:r>
              <a:t>The current MRI P/D documentation supports per-role replica, instance-type, preset, and vLLM settings. Do not imply this slide is a literal schema or that the proposed MRI scaling UX on slide 25 is already implemented.</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Follow a request from the left. The Gateway consults the endpoint picker, then forwards to the selected decode proxy. That proxy invokes prefill and passes the returned transfer metadata to decode. KV data moves between the workers, and the token stream returns through the proxy and Gateway. KAITO reconciles this topology rather than sitting in the request path.</a:t>
            </a:r>
          </a:p>
          <a:p/>
          <a:p>
            <a:r>
              <a:t>REFERENCE NOTES (NOT SPOKEN)</a:t>
            </a:r>
          </a:p>
          <a:p/>
          <a:p>
            <a:r>
              <a:t>Conceptual topology, not a port-level deployment diagram. The Gateway consults the EPP, then sends the request to the selected decode pod routing sidecar. That sidecar calls prefill, forwards metadata to local decode, and streams the response back through the Gateway. The return line is a summarized path. KV data moves from prefill memory to decode; transport initiation may be a decode-side read. Gateway installation/lifecycle is separate from MRI.</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Here's the same service as a resource graph. MRI creates role-specific InferenceSets and a routing pool. InferenceSets reconcile Workspaces and their workloads. Routing configuration connects to the Gateway. We reduce hand-maintained glue while keeping generated resources available for inspection and troubleshooting.</a:t>
            </a:r>
          </a:p>
          <a:p/>
          <a:p>
            <a:r>
              <a:t>REFERENCE NOTES (NOT SPOKEN)</a:t>
            </a:r>
          </a:p>
          <a:p/>
          <a:p>
            <a:r>
              <a:t>MRI creates child InferenceSets and a routing pool; InferenceSets reconcile Workspaces. The diagram deliberately distinguishes generated resource relationships from routing configuration. HTTPRoute requires a parent Gateway; it is not owned by the pool in a strict Kubernetes owner-reference sense.</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sequence highlights an important distinction. Prefill returns metadata identifying remote KV state; decode then obtains the tensors and continues generation. Those are separate operations. The payload arrow shows data direction, not necessarily which side initiates transfer, and doesn't imply timing.</a:t>
            </a:r>
          </a:p>
          <a:p/>
          <a:p>
            <a:r>
              <a:t>REFERENCE NOTES (NOT SPOKEN)</a:t>
            </a:r>
          </a:p>
          <a:p/>
          <a:p>
            <a:r>
              <a:t>Conceptual sequence, not a timing chart. Gateway and EPP are combined into one lane for space; the EPP makes the endpoint decision. Prefill returns metadata to the decode proxy. The decode runtime then obtains the KV tensors and generates tokens. The NIXL path can be decode-initiated; arrow 5 shows payload direction only. The stream travels via the proxy and Gateway. No duration is implied.</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Think of this as a control path and a data path. The proxy exchanges HTTP requests and transfer metadata. The runtime moves the much larger KV tensors between memories. If requests route successfully but generation stalls, the data path still deserves investigation. A healthy control exchange doesn't prove that the KV transfer succeeded.</a:t>
            </a:r>
          </a:p>
          <a:p/>
          <a:p>
            <a:r>
              <a:t>REFERENCE NOTES (NOT SPOKEN)</a:t>
            </a:r>
          </a:p>
          <a:p/>
          <a:p>
            <a:r>
              <a:t>The NIXL connector is configured at the serving runtime. Exact transport, ports, and handshake fields depend on runtime versions. Do not label one transfer protocol or port number as a universal invariant.</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Inside the decode pod, the sidecar and vLLM have different jobs and different listeners. External inference traffic needs to reach the routing sidecar; local forwarding reaches the runtime. That sounds small, but a mismatched target port or probe can break the whole path. Use the generated manifests for the installed versions, not remembered example ports.</a:t>
            </a:r>
          </a:p>
          <a:p/>
          <a:p>
            <a:r>
              <a:t>REFERENCE NOTES (NOT SPOKEN)</a:t>
            </a:r>
          </a:p>
          <a:p/>
          <a:p>
            <a:r>
              <a:t>Do not hard-code example listener ports as a universal contract. The external serving Service must target the routing sidecar, while local forwarding reaches the decode runtime. Health probes must hit the correct process. The exact port mapping and command flags depend on installed KAITO, llm-d, and vLLM versions.</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abstraction removes assembly, not visibility. Instead of pairing deployments, labels, services, and sidecars by hand, we declare roles and inspect generated objects. Operators still own observability and failure testing. The win is reproducibility and fewer opportunities for configuration drift.</a:t>
            </a:r>
          </a:p>
          <a:p/>
          <a:p>
            <a:r>
              <a:t>REFERENCE NOTES (NOT SPOKEN)</a:t>
            </a:r>
          </a:p>
          <a:p/>
          <a:p>
            <a:r>
              <a:t>The value is reduced configuration drift, not the removal of all operational complexity. Operators still need observability, fabric validation, failure testing, and version-aware troubleshooting.</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Once the roles are separate, scaling should reflect their different pressures. A useful starting signal for prefill is waiting requests. For decode, it's running requests. These are native vLLM gauges, but they need role-scoped interpretation. This is a recommended control pattern, not a claim that MRI automatically supplies these policies today.</a:t>
            </a:r>
          </a:p>
          <a:p/>
          <a:p>
            <a:r>
              <a:t>REFERENCE NOTES (NOT SPOKEN)</a:t>
            </a:r>
          </a:p>
          <a:p/>
          <a:p>
            <a:r>
              <a:t>Use native vllm:num_requests_waiting for prefill and vllm:num_requests_running for decode as primary role-specific signals. Verify availability and aggregation on the actual runtime. KV utilization and latency add diagnostic context; a derived signal becomes a control input only after its semantics and safety policy are validated. This is a control-pattern recommendation, not a claim about an automatically available MRI feature.</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Let’s look at how KAITO integrates with KEDA today. For metric-based scaling, we enable autoscaling on an InferenceSet through annotations. The dedicated KEDA KAITO external scaler uses those annotations to create a ScaledObject automatically.</a:t>
            </a:r>
          </a:p>
          <a:p/>
          <a:p>
            <a:r>
              <a:t>The scaler reads vLLM metrics directly from the inference pods, so this path does not require a separate Prometheus deployment. KEDA manages an HPA, which updates the InferenceSet’s desired replica count through its scale API. KAITO then reconciles the inference replicas.</a:t>
            </a:r>
          </a:p>
          <a:p/>
          <a:p>
            <a:r>
              <a:t>The guide’s example uses the average number of waiting requests as the scaling signal, with a target of ten and a maximum of five replicas. That is a queue-pressure signal, not GPU utilization and not request rate.</a:t>
            </a:r>
          </a:p>
          <a:p/>
          <a:p>
            <a:r>
              <a:t>For predictable traffic, KEDA’s built-in cron trigger is another option. That uses a manually configured ScaledObject and does not need the dedicated KAITO scaler.</a:t>
            </a:r>
          </a:p>
          <a:p/>
          <a:p>
            <a:r>
              <a:t>The important boundary is that this scales one InferenceSet as a unit. It does not yet give us independent prefill and decode scaling. That is the next step we will look at.</a:t>
            </a:r>
          </a:p>
          <a:p/>
          <a:p>
            <a:r>
              <a:t>REFERENCE NOTES (NOT SPOKEN)</a:t>
            </a:r>
          </a:p>
          <a:p/>
          <a:p>
            <a:r>
              <a:t>KAITO supports annotation-driven, metric-based autoscaling of an InferenceSet with KEDA and the dedicated KEDA KAITO external scaler. The external scaler reads scaledobject.kaito.sh/* annotations, automatically provisions the ScaledObject, and scrapes vLLM metrics directly from the associated inference pods. No separate Prometheus deployment is required for this integration. KEDA creates/manages the HPA; the Kubernetes HPA controller updates the InferenceSet /scale subresource, and KAITO reconciles the desired inference replicas.</a:t>
            </a:r>
          </a:p>
          <a:p/>
          <a:p>
            <a:r>
              <a:t>The guide’s example aggregates vllm:num_requests_waiting using average, with threshold/target 10 and maxReplicaCount 5. These are illustrative settings, not universal defaults or a fixed scaling-time guarantee. HPA stabilization, scaling policies, and workload readiness also affect observed scaling. Configure annotation keys and API versions for the deployed KAITO/scaler release; the guide and scaler repository can differ.</a:t>
            </a:r>
          </a:p>
          <a:p/>
          <a:p>
            <a:r>
              <a:t>Scheduled scaling is a separate option: a manually authored ScaledObject can use KEDA’s built-in cron trigger against the InferenceSet. It does not require the dedicated KAITO scaler. Do not describe the direct-metrics integration as a Prometheus-query path.</a:t>
            </a:r>
          </a:p>
          <a:p/>
          <a:p>
            <a:r>
              <a:t>Scaling here changes one InferenceSet replica count. Independent prefill/decode replica control is the proposed next step, not an existing capability demonstrated by this example.</a:t>
            </a:r>
          </a:p>
          <a:p/>
          <a:p>
            <a:r>
              <a:t>Narrative source: kubecon-na-2026-pd-disaggregation.md</a:t>
            </a:r>
          </a:p>
          <a:p>
            <a:r>
              <a:t>References:</a:t>
            </a:r>
          </a:p>
          <a:p>
            <a:r>
              <a:t>https://kaito-project.github.io/kaito/docs/keda-autoscaler-inference/</a:t>
            </a:r>
          </a:p>
          <a:p>
            <a:r>
              <a:t>https://github.com/kaito-project/keda-kaito-scaler</a:t>
            </a:r>
          </a:p>
          <a:p>
            <a:r>
              <a:t>https://keda.sh/docs/2.18/concepts/scaling-deployments/#scaling-custom-resources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proposed pattern has two independent loops: prefill load drives prefill capacity, and decode load drives decode capacity. One ScaledObject per target is one implementation. Each loop needs stabilization, warm-up awareness, safe scale-down, and one authoritative replica-count writer.</a:t>
            </a:r>
          </a:p>
          <a:p/>
          <a:p>
            <a:r>
              <a:t>REFERENCE NOTES (NOT SPOKEN)</a:t>
            </a:r>
          </a:p>
          <a:p/>
          <a:p>
            <a:r>
              <a:t>Conceptual two-loop design. A KEDA deployment can use one ScaledObject per target InferenceSet. Native vLLM waiting and running request gauges supply role-specific signals. Do not install conflicting autoscalers for one target. Metric aggregation, freshness, model warm-up and safe scale-down require verification. The following slides explain policy and signal choices independently of the configuration API.</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At the service level, we care about both the initial wait and the delivery pace. At the capacity level, we make separate decisions for each role. And we scale a complete serving replica, not an arbitrary tensor-parallel worker. This diagram describes the policy boundary; automatic projection of service intent is still design work.</a:t>
            </a:r>
          </a:p>
          <a:p/>
          <a:p>
            <a:r>
              <a:t>REFERENCE NOTES (NOT SPOKEN)</a:t>
            </a:r>
          </a:p>
          <a:p/>
          <a:p>
            <a:r>
              <a:t>Public-facing design pattern: express service objectives, reconcile independent role policies, and scale each role as a complete serving replica. Policy representation and controller-specific wiring are implementation details and intentionally omitted here. Existing KEDA/InferenceSet capability is described on the earlier slide; this diagram is not a claim that automatic service-level policy projection is already available. Keep one authoritative autoscaler per target.</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Routing and scaling solve different problems. Routing chooses among the capacity we have; scaling changes how much model-ready capacity exists. Each role needs correctly scoped metrics and its own decision loop. Count a new replica only when it can serve, and avoid counting the same engine multiple times through different worker series.</a:t>
            </a:r>
          </a:p>
          <a:p/>
          <a:p>
            <a:r>
              <a:t>REFERENCE NOTES (NOT SPOKEN)</a:t>
            </a:r>
          </a:p>
          <a:p/>
          <a:p>
            <a:r>
              <a:t>Architectural control pattern, independent of how policies are encoded. Each role has its own signals, controller decision and serving-replica target. KEDA/HPA targeting an InferenceSet is one implementation. Scope samples to the actual role and deduplicate engine/worker series. Scale complete serving replicas and account for model loading before counting new capacity as ready. Arrows show conceptual policy and metric flow, not strict ownership references or push-based scraping. The serving topology still coordinates P/D requests while the capacity loops act independently. Implementation-specific automatic policy projection is outside this talk slide.</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 are illustrative thresholds, not production recommendations. Prefill scales up above eight waiting requests and down below one. Decode uses running requests, above twenty-four or below four. Values between or equal to those thresholds hold. Validate per-replica aggregation first: engine queues don't include requests still waiting upstream, and missing data must never quietly become zero load.</a:t>
            </a:r>
          </a:p>
          <a:p/>
          <a:p>
            <a:r>
              <a:t>REFERENCE NOTES (NOT SPOKEN)</a:t>
            </a:r>
          </a:p>
          <a:p/>
          <a:p>
            <a:r>
              <a:t>Native vllm:num_requests_waiting and vllm:num_requests_running are the primary signals for the respective roles. Verify metric presence, type and units on the actual runtime. Engine-local queues exclude requests still waiting in the router/EPP. Thresholds and bounds are illustrative, not capacity recommendations. The design example uses bounded incremental adjustments; behavior still depends on readiness, stabilization, cooldown and the chosen controller. Equal-to-threshold values hold under the stated strict comparisons. KV utilization and latency support diagnosis; integrating them into automated decisions needs an explicit tested policy. Missing/stale/non-finite data must not become zero; hold/report semantics require implementation and validation.</a:t>
            </a:r>
          </a:p>
          <a:p/>
          <a:p>
            <a:r>
              <a:t>Narrative source: kubecon-na-2026-pd-disaggregation.md</a:t>
            </a:r>
          </a:p>
          <a:p>
            <a:r>
              <a:t>References:</a:t>
            </a:r>
          </a:p>
          <a:p>
            <a:r>
              <a:t>https://github.com/andyzhangx/demo/blob/26c3e14a340d4b0aae5c820b43087d71b85d1554/llm/kaito-llm-d/kaito-role-aware-autoscaling-for-pd.md</a:t>
            </a:r>
          </a:p>
          <a:p>
            <a:r>
              <a:t>https://docs.vllm.ai/en/stable/usage/metrics/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policies differ, but their safety contract should match: fresh data, readiness, bounds, stabilization, and protection for in-flight work. The replica ranges are examples. Tune each role against its own workload and objective rather than copying these numbers into production.</a:t>
            </a:r>
          </a:p>
          <a:p/>
          <a:p>
            <a:r>
              <a:t>REFERENCE NOTES (NOT SPOKEN)</a:t>
            </a:r>
          </a:p>
          <a:p/>
          <a:p>
            <a:r>
              <a:t>The slide explains policy semantics without exposing configuration syntax. Values are illustrative and match the source design: waiting-request thresholds 8/1 and bounds 1–8 for prefill; running-request thresholds 24/4 and bounds 2–16 for decode. Evaluate role-scoped per-replica aggregation, not a whole-service sum. Apply strict above/below comparisons, hold between/equal to thresholds, and enforce bounds, fresh-data checks, readiness, stabilization and cooldown for both roles. Scale-down also requires safe treatment of in-flight work. Policy ownership must be unambiguous. The underlying representation is intentionally outside the external presentation.</a:t>
            </a:r>
          </a:p>
          <a:p/>
          <a:p>
            <a:r>
              <a:t>Narrative source: kubecon-na-2026-pd-disaggregation.md</a:t>
            </a:r>
          </a:p>
          <a:p>
            <a:r>
              <a:t>References:</a:t>
            </a:r>
          </a:p>
          <a:p>
            <a:r>
              <a:t>https://github.com/andyzhangx/demo/blob/26c3e14a340d4b0aae5c820b43087d71b85d1554/llm/kaito-llm-d/kaito-role-aware-autoscaling-for-pd.md</a:t>
            </a:r>
          </a:p>
          <a:p>
            <a:r>
              <a:t>https://docs.vllm.ai/en/stable/usage/metrics/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most important safeguards aren't clever formulas. Choose one replica-count writer, make ownership handoff explicit, and verify the real metrics. When data is missing or invalid, the intended behavior is to hold and report the problem. Test that behavior end to end, especially during partial scrape failures, model loading, and scale-down.</a:t>
            </a:r>
          </a:p>
          <a:p/>
          <a:p>
            <a:r>
              <a:t>REFERENCE NOTES (NOT SPOKEN)</a:t>
            </a:r>
          </a:p>
          <a:p/>
          <a:p>
            <a:r>
              <a:t>Safety contract: do not let a fixed-replica reconciler and an autoscaler compete for the same target. Stop the old writer before handing over control, and never silently adopt/delete user-managed autoscalers. Missing, stale, unreachable or non-finite metric samples should prevent activation or hold active decisions and surface a condition/event. This is the required behavior, not an assertion that all controller/HPA fallback paths implement it today; verify end to end. Partial scrape coverage must not look like zero load. Readiness includes model loading and actual serving eligibility. Protect in-flight requests and KV state during scale-down.</a:t>
            </a:r>
          </a:p>
          <a:p/>
          <a:p>
            <a:r>
              <a:t>Narrative source: kubecon-na-2026-pd-disaggregation.md</a:t>
            </a:r>
          </a:p>
          <a:p>
            <a:r>
              <a:t>References:</a:t>
            </a:r>
          </a:p>
          <a:p>
            <a:r>
              <a:t>https://github.com/andyzhangx/demo/blob/26c3e14a340d4b0aae5c820b43087d71b85d1554/llm/kaito-llm-d/kaito-role-aware-autoscaling-for-pd.md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Derived signals add useful context. Maximum KV occupancy can inform a downscale guard, but it isn't demand or available request capacity. Histogram rates can describe latency tails, and token-counter rates show throughput. Start by observing these signals. Promoting them into control inputs requires tested semantics, correct aggregation, and a reliable query or adapter path.</a:t>
            </a:r>
          </a:p>
          <a:p/>
          <a:p>
            <a:r>
              <a:t>REFERENCE NOTES (NOT SPOKEN)</a:t>
            </a:r>
          </a:p>
          <a:p/>
          <a:p>
            <a:r>
              <a:t>These are derived-signal design examples, not metrics natively emitted by vLLM or a claim of current MRI integration support. All table input names have the vllm: prefix. Proposed recording-rule names: kaito:decode_kv_cache_usage_max = max valid role-scoped vllm:kv_cache_usage_perc; kaito:decode_kv_cache_free_fraction_min = 1 - that maximum; kaito:prefill_ttft_p95_seconds = histogram_quantile(0.95, summed per-series 5m bucket rates preserving workload/role and le); kaito:decode_generation_tokens_per_second = sum of reset-aware rate(vllm:generation_tokens_total[5m]). Generation tokens is a native Counter exposed with the _total suffix. KV usage is a fraction 0–1; 0.8 is 80%. Maximum usage and minimum free fraction are complements, not independent evidence, bytes or effective request capacity. A fleet maximum does not identify a safe removal target. Histogram quantiles need sufficient observations and are engine-local, not client P/D latency. Apply rate before summing counters, account for resets, deduplicate engines and require fresh/full role coverage. Recording-rule outputs do not appear on vLLM /metrics; a verified adapter/query integration is required. The desired guard allows high running load to scale up independently of KV occupancy, while low load permits scale-down only with safe KV utilization. Simply appending KV to the existing conservative AND list can suppress needed scale-up and is not this policy. Start with observation; promote a signal to control only after failure and workload tests.</a:t>
            </a:r>
          </a:p>
          <a:p/>
          <a:p>
            <a:r>
              <a:t>Narrative source: kubecon-na-2026-pd-disaggregation.md</a:t>
            </a:r>
          </a:p>
          <a:p>
            <a:r>
              <a:t>References:</a:t>
            </a:r>
          </a:p>
          <a:p>
            <a:r>
              <a:t>https://github.com/andyzhangx/demo/blob/26c3e14a340d4b0aae5c820b43087d71b85d1554/llm/kaito-llm-d/kaito-role-aware-autoscaling-for-pd.md</a:t>
            </a:r>
          </a:p>
          <a:p>
            <a:r>
              <a:t>https://docs.vllm.ai/en/stable/usage/metrics/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Here's a concrete integration proposal, not a feature enabled by adding annotations today. A new MRI adapter would validate role policies and project allowed annotations onto each child InferenceSet's metadata. The scaler could then create the corresponding ScaledObject. That needs explicit child opt-in and ownership handling; putting annotations in workload templates isn't sufficient.</a:t>
            </a:r>
          </a:p>
          <a:p/>
          <a:p>
            <a:r>
              <a:t>REFERENCE NOTES (NOT SPOKEN)</a:t>
            </a:r>
          </a:p>
          <a:p/>
          <a:p>
            <a:r>
              <a:t>This is the proposed annotation-first integration, not an existing deployable MRI API. Existing scaler source consumes InferenceSet.metadata.annotations and provisions an owned ScaledObject. It currently rejects MRI-owned children in create/update predicates; deliberately support only adapter-managed opt-in children, including cleanup events. MRI currently copies annotations to child spec.template.annotations; that placement does not configure this scaler. A new adapter must validate/version autoscaling.kaito.sh/roles, match entries by role type, project only allowed scalar/metrics keys into the matching child metadata, keep the policy blob out of workload templates, watch annotation-only changes, and remove stale owned output. One child InferenceSet and one ScaledObject per enabled role; KEDA/HPA targets that child scale subresource, not MRI or an individual Pod. A null role replicas value stops MRI steady-state replica enforcement but does not create an autoscaler. Reject fixed replicas plus policy and conflicting manually managed autoscalers; preserve unrelated annotations and perform ordered cleanup/handoff. KEDA, the scaler and metrics collection must be installed/configured separately. Sources are pinned in the design document: KAITO 3c831cad and scaler ba1f2340. The annotation block shown is generated output inside child metadata.annotations. Decode receives the analogous 2..16 / running / 24 / 4 policy.</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In this proposed example, prefill and decode carry separate policies. If waiting requests reach twelve while running requests are twelve, prefill requests more capacity and decode holds. Later, decode can scale independently. Null replicas releases MRI's fixed-replica enforcement; it doesn't create an autoscaler. Readiness, cooldown, bounds, and full metric coverage still govern the actual changes.</a:t>
            </a:r>
          </a:p>
          <a:p/>
          <a:p>
            <a:r>
              <a:t>REFERENCE NOTES (NOT SPOKEN)</a:t>
            </a:r>
          </a:p>
          <a:p/>
          <a:p>
            <a:r>
              <a:t>The left panel is a literal excerpt under MRI metadata.annotations; the right is a spec.roles excerpt, not the entire deployable resource. Full YAML: llm/kaito-llm-d/examples/proposed-pd-autoscaling-annotations.yaml in this repository. Model and instanceType values in that file are illustrative and not deployment-validated. Annotation policy is a proposal and needs the integration work on the preceding slide. Role replicas are null to stop MRI enforcement; the adapter must reject non-null replicas with an enabled policy and bootstrap minima safely. The modelpod source discovers Workspaces owned by the target InferenceSet and scrapes their Workspace Service /metrics endpoints, not every GPU worker individually. The gauge default is service-avg: sum matching label series within each service, then average across successfully scraped services. Treat this as a per-serving-replica signal only after verifying the runtime/service topology; do not use an MRI-wide total or include router/EPP queues. Current source skips failed services and can treat a partially absent metric as zero, so complete-coverage missing-is-not-zero hardening is still required, not an existing guarantee. Example: with P=1 and D=2, prefill waiting=12 is above 8, so prefill has an up decision while decode running=12 lies between 4 and 24, so decode holds. Later running above 24 can independently request decode scale-up. These are illustrative decision outcomes, not observed tests or guaranteed instantaneous replica counts: readiness, cooldown, stabilization, data availability and bounds still apply. Strict comparisons mean equality holds. The generated expression produces 2.0 when ready and above up-threshold, 0.5 below down-threshold, otherwise 1.0; raw desired replicas are ceil(current replicas times that result). The generated HPA behavior limits each directional change to at most one replica per configured cooldown period, subject to stabilization and bounds. The formula is not itself N+1/N-1 and an evaluation does not guarantee immediate scaling. Values below 1 for prefill or below 4 for decode can request scale-down only after safeguards and within minima. Each role has only one metric, so AND is trivial within a role; it does NOT mean prefill and decode must both be busy. Do not claim an asymmetric KV guard is implemented by appending KV to AND. Require deployed vLLM /metrics verification and full-role sample coverage before activation.</a:t>
            </a:r>
          </a:p>
          <a:p/>
          <a:p>
            <a:r>
              <a:t>Narrative source: kubecon-na-2026-pd-disaggregation.md</a:t>
            </a:r>
          </a:p>
          <a:p>
            <a:r>
              <a:t>References:</a:t>
            </a:r>
          </a:p>
          <a:p>
            <a:r>
              <a:t>https://github.com/andyzhangx/demo/blob/26c3e14a340d4b0aae5c820b43087d71b85d1554/llm/kaito-llm-d/kaito-role-aware-autoscaling-for-pd.md</a:t>
            </a:r>
          </a:p>
          <a:p>
            <a:r>
              <a:t>https://docs.vllm.ai/en/stable/usage/metrics/</a:t>
            </a:r>
          </a:p>
          <a:p>
            <a:r>
              <a:t>https://github.com/andyzhangx/demo/blob/master/llm/kaito-llm-d/examples/proposed-pd-autoscaling-annotations.yaml</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Now we need to prove that the topology helps. Compare aggregated and disaggregated serving with the same model, traffic, SLO, and stated GPU or cost budget. Record versions, placement, fabric, warm-up, and duration. This is our local evaluation plan, not a results slide. Without those controls, a bigger deployment can masquerade as a better architecture.</a:t>
            </a:r>
          </a:p>
          <a:p/>
          <a:p>
            <a:r>
              <a:t>REFERENCE NOTES (NOT SPOKEN)</a:t>
            </a:r>
          </a:p>
          <a:p/>
          <a:p>
            <a:r>
              <a:t>This slide is an evaluation protocol, not a result. Match GPU budget or cost budget and state the comparison basis. Report latency percentiles and achieved throughput at matched load. Include transport and hardware topology, model and runtime versions, warm-up, run duration, and sampling method. No synthetic performance curves should be mistaken for measurements.</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For first-token latency, look beyond the median. Under matched prompt-heavy load, do the tails improve once transfer overhead is included? These cells are intentionally unmeasured. An honest scorecard is more useful than a percentage borrowed from a different model or system.</a:t>
            </a:r>
          </a:p>
          <a:p/>
          <a:p>
            <a:r>
              <a:t>REFERENCE NOTES (NOT SPOKEN)</a:t>
            </a:r>
          </a:p>
          <a:p/>
          <a:p>
            <a:r>
              <a:t>Replaces the original [X]% / [Y]% placeholders. There is no numeric claim or implied performance curve. Collect TTFT percentiles under prompt-heavy traffic and report the request rate, concurrency, prompt/output distributions, model, hardware, and cost comparison. Include the effect of KV-transfer overhead.</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Record output tokens, requests meeting the latency targets, and total cost of useful output. High GPU utilization alone isn't success: busy GPUs can still leave users waiting. Include both role pools and supporting infrastructure in the comparison.</a:t>
            </a:r>
          </a:p>
          <a:p/>
          <a:p>
            <a:r>
              <a:t>REFERENCE NOTES (NOT SPOKEN)</a:t>
            </a:r>
          </a:p>
          <a:p/>
          <a:p>
            <a:r>
              <a:t>No benchmark results are supplied. High utilization alone does not prove better efficiency. Record achieved output throughput and successful requests under agreed TTFT and inter-token-latency limits; report total GPU-hours or cost for both phases and associated infrastructure.</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This map helps choose experiments, not predict results. Short prompts and short answers suggest starting aggregated. Longer prompts invite a prefill-isolation test; longer answers invite a decode-pressure test. When both are long, P/D becomes an interesting candidate. Concurrency, the model, and transfer cost can still change the answer in every cell.</a:t>
            </a:r>
          </a:p>
          <a:p/>
          <a:p>
            <a:r>
              <a:t>REFERENCE NOTES (NOT SPOKEN)</a:t>
            </a:r>
          </a:p>
          <a:p/>
          <a:p>
            <a:r>
              <a:t>A decision aid, not experimental data. Prompt and output lengths interact with concurrency, model size, parallelism, and hardware. Validate both latency and cost. Even the strongest candidate cell is not a guaranteed P/D win.</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Here's an external result from AMD and Embedded LLM, published on the vLLM blog using MORI-IO, not KAITO or llm-d. Qwen runs on eight MI300X GPUs with fixed two-thousand-token inputs and one-thousand-token outputs. At eight offered requests per second, median TTFT rises from about 228 to 645 milliseconds, and p95 also worsens. In this setup, separation doesn't win on first-token latency. There was no prompt-length sweep to support a different claim.</a:t>
            </a:r>
          </a:p>
          <a:p/>
          <a:p>
            <a:r>
              <a:t>REFERENCE NOTES (NOT SPOKEN)</a:t>
            </a:r>
          </a:p>
          <a:p/>
          <a:p>
            <a:r>
              <a:t>External benchmark by AMD and Embedded LLM, published on the vLLM blog on 2026-04-07; not a KAITO or llm-d measurement and not a reproduction performed for this deck. Hardware: one node, 8 AMD MI300X GPUs. Model: Qwen/Qwen3-235B-A22B-FP8. Compare standard two independent TP4 instances with MORI-IO write-mode 1P+1D, TP4 per role; all eight GPUs used in either case. Synthetic random workload, fixed 2000-token input and 1000-token output, 100 requests at 8 offered requests/s for the per-request data. Concurrent prefill/decode phases, NOT a heterogeneous prompt-length or asymmetric-traffic sweep. Source software is a vLLM source build (no exact vLLM commit stated), ROCm 7.0.3, MORI 0.1.0; gpu_memory_utilization=0.9, max_model_len=4096, max_num_seqs=256, enable_expert_parallel=True.</a:t>
            </a:r>
          </a:p>
          <a:p>
            <a:r>
              <a:t>Provenance: the pinned Figure 3 JavaScript DATA arrays contain 100 paired TTFT/ITL values per configuration, in seconds. Joint pass criterion is TTFT &lt;=1 second and the published per-request ITL value &lt;=0.05 seconds. This reproduces the JavaScript predicate. It is NOT a p99-per-token ITL test and ITL aggregation inside each request is not documented by the exported arrays. Figure 3 arrays produce 29 standard TP4 passes and 73 write-mode passes. The post’s static Table 3 instead says 28 and 70; use the pinned arrays consistently and do not silently combine those snapshots. Figure 4 is reproduced as published; rates other than 8 are not digitized.</a:t>
            </a:r>
          </a:p>
          <a:p>
            <a:r>
              <a:t>No sustained tokens/s, completed requests/s, GPU busy utilization, energy, dollar cost, or fewer-GPU result is measured by this deck. The small 100-request trace has no error bars or repeated-run uncertainty. Results are evidence of a tradeoff in this setup, not a universal P/D win. All raw values and derivations are documented in kubecon-pd-assets/benchmarks/README.md.</a:t>
            </a:r>
          </a:p>
          <a:p>
            <a:r>
              <a:t>One chart, one interpretation: this comparison trades a higher TTFT for more stable decoding, rather than proving a TTFT improvement. Values: standard median 227.9635 ms, p95 490.613 ms; write-mode median 645.135 ms, p95 1325.584 ms. Median is the mean of the middle two ordered observations; p95 is nearest-rank (95th of 100). Rounded to integer milliseconds on the slide. No SLO line is implied by the 1000 ms grid tick. The source recommends investigating P/D for high concurrency and long prompts because prefill interference is stronger, but has no prompt-length sweep supporting a quantified TTFT gain by workload. Do not narrate a fabricated long-prompt TTFT win.</a:t>
            </a:r>
          </a:p>
          <a:p/>
          <a:p>
            <a:r>
              <a:t>Narrative source: kubecon-na-2026-pd-disaggregation.md</a:t>
            </a:r>
          </a:p>
          <a:p>
            <a:r>
              <a:t>References:</a:t>
            </a:r>
          </a:p>
          <a:p>
            <a:r>
              <a:t>https://vllm.ai/blog/2026-04-07-moriio-kv-connector</a:t>
            </a:r>
          </a:p>
          <a:p>
            <a:r>
              <a:t>https://github.com/vllm-project/vllm-project.github.io/blob/c4fa4eee56ed2c097a4e078c33955253db123018/assets/figures/2026-04-07-moriio-kv-connector/plotly-figure3.js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same external study tells a different story about the joint SLO. Using the pinned hundred-request arrays, passes rise from twenty-nine to seventy-three percent at this load. The criterion combines TTFT within one second with the source's per-request ITL value within fifty milliseconds. Better streaming behavior can outweigh slower first tokens. This is SLO attainment, not a measurement of absolute tokens per second.</a:t>
            </a:r>
          </a:p>
          <a:p/>
          <a:p>
            <a:r>
              <a:t>REFERENCE NOTES (NOT SPOKEN)</a:t>
            </a:r>
          </a:p>
          <a:p/>
          <a:p>
            <a:r>
              <a:t>External benchmark by AMD and Embedded LLM, published on the vLLM blog on 2026-04-07; not a KAITO or llm-d measurement and not a reproduction performed for this deck. Hardware: one node, 8 AMD MI300X GPUs. Model: Qwen/Qwen3-235B-A22B-FP8. Compare standard two independent TP4 instances with MORI-IO write-mode 1P+1D, TP4 per role; all eight GPUs used in either case. Synthetic random workload, fixed 2000-token input and 1000-token output, 100 requests at 8 offered requests/s for the per-request data. Concurrent prefill/decode phases, NOT a heterogeneous prompt-length or asymmetric-traffic sweep. Source software is a vLLM source build (no exact vLLM commit stated), ROCm 7.0.3, MORI 0.1.0; gpu_memory_utilization=0.9, max_model_len=4096, max_num_seqs=256, enable_expert_parallel=True.</a:t>
            </a:r>
          </a:p>
          <a:p>
            <a:r>
              <a:t>Provenance: the pinned Figure 3 JavaScript DATA arrays contain 100 paired TTFT/ITL values per configuration, in seconds. Joint pass criterion is TTFT &lt;=1 second and the published per-request ITL value &lt;=0.05 seconds. This reproduces the JavaScript predicate. It is NOT a p99-per-token ITL test and ITL aggregation inside each request is not documented by the exported arrays. Figure 3 arrays produce 29 standard TP4 passes and 73 write-mode passes. The post’s static Table 3 instead says 28 and 70; use the pinned arrays consistently and do not silently combine those snapshots. Figure 4 is reproduced as published; rates other than 8 are not digitized.</a:t>
            </a:r>
          </a:p>
          <a:p>
            <a:r>
              <a:t>No sustained tokens/s, completed requests/s, GPU busy utilization, energy, dollar cost, or fewer-GPU result is measured by this deck. The small 100-request trace has no error bars or repeated-run uncertainty. Results are evidence of a tradeoff in this setup, not a universal P/D win. All raw values and derivations are documented in kubecon-pd-assets/benchmarks/README.md.</a:t>
            </a:r>
          </a:p>
          <a:p>
            <a:r>
              <a:t>Keep narration high signal. Original Figure 4 shows request SLO attainment versus offered request rate, not measured token throughput. The source calls the joint-SLO benefit higher goodput; this slide retains the original y-axis instead of relabeling it as throughput. The orange outline focuses attention on about 8 req/s. The 29% and 73% callout comes from the exact Figure 3 arrays for standard TP4 and MORI-IO write, not visual digitization. Other configurations are retained as source context; do not narrate every curve. At this load the colocated configuration’s per-request ITL values account for failed joint SLOs; the P/D write configuration’s TTFT values account for its failures. This supports phase-interference interpretation, not an unqualified peak-throughput claim. Prompt/output lengths are fixed, so mixed-length traffic remains a validation gap. The source caption overstates improvement across all rates: at the lowest rate standard TP4 also reaches 100%, so this slide only highlights the loaded regime.</a:t>
            </a:r>
          </a:p>
          <a:p/>
          <a:p>
            <a:r>
              <a:t>Narrative source: kubecon-na-2026-pd-disaggregation.md</a:t>
            </a:r>
          </a:p>
          <a:p>
            <a:r>
              <a:t>References:</a:t>
            </a:r>
          </a:p>
          <a:p>
            <a:r>
              <a:t>https://vllm.ai/blog/2026-04-07-moriio-kv-connector</a:t>
            </a:r>
          </a:p>
          <a:p>
            <a:r>
              <a:t>https://github.com/vllm-project/vllm-project.github.io/blob/c4fa4eee56ed2c097a4e078c33955253db123018/assets/figures/2026-04-07-moriio-kv-connector/plotly-figure3.js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Both configurations used all eight GPUs. Dividing the passing requests by that equal budget gives a normalized ratio of about 2.52. That's a useful, comparison-specific efficiency proxy from the same trace, not another independent experiment. It doesn't measure sustained capacity or GPU utilization, and it certainly doesn't show that we can remove GPUs while preserving the result.</a:t>
            </a:r>
          </a:p>
          <a:p/>
          <a:p>
            <a:r>
              <a:t>REFERENCE NOTES (NOT SPOKEN)</a:t>
            </a:r>
          </a:p>
          <a:p/>
          <a:p>
            <a:r>
              <a:t>External benchmark by AMD and Embedded LLM, published on the vLLM blog on 2026-04-07; not a KAITO or llm-d measurement and not a reproduction performed for this deck. Hardware: one node, 8 AMD MI300X GPUs. Model: Qwen/Qwen3-235B-A22B-FP8. Compare standard two independent TP4 instances with MORI-IO write-mode 1P+1D, TP4 per role; all eight GPUs used in either case. Synthetic random workload, fixed 2000-token input and 1000-token output, 100 requests at 8 offered requests/s for the per-request data. Concurrent prefill/decode phases, NOT a heterogeneous prompt-length or asymmetric-traffic sweep. Source software is a vLLM source build (no exact vLLM commit stated), ROCm 7.0.3, MORI 0.1.0; gpu_memory_utilization=0.9, max_model_len=4096, max_num_seqs=256, enable_expert_parallel=True.</a:t>
            </a:r>
          </a:p>
          <a:p>
            <a:r>
              <a:t>Provenance: the pinned Figure 3 JavaScript DATA arrays contain 100 paired TTFT/ITL values per configuration, in seconds. Joint pass criterion is TTFT &lt;=1 second and the published per-request ITL value &lt;=0.05 seconds. This reproduces the JavaScript predicate. It is NOT a p99-per-token ITL test and ITL aggregation inside each request is not documented by the exported arrays. Figure 3 arrays produce 29 standard TP4 passes and 73 write-mode passes. The post’s static Table 3 instead says 28 and 70; use the pinned arrays consistently and do not silently combine those snapshots. Figure 4 is reproduced as published; rates other than 8 are not digitized.</a:t>
            </a:r>
          </a:p>
          <a:p>
            <a:r>
              <a:t>No sustained tokens/s, completed requests/s, GPU busy utilization, energy, dollar cost, or fewer-GPU result is measured by this deck. The small 100-request trace has no error bars or repeated-run uncertainty. Results are evidence of a tradeoff in this setup, not a universal P/D win. All raw values and derivations are documented in kubecon-pd-assets/benchmarks/README.md.</a:t>
            </a:r>
          </a:p>
          <a:p>
            <a:r>
              <a:t>Reinforce why separate pools: isolate prefill and decode, then judge useful service delivered at a fixed resource budget. The source configuration uses all 8 GPUs in both cases: standard 2×TP4 versus prefill TP4 + decode TP4. Derivation: 29/8=3.625 and 73/8=9.125 SLO passes per GPU in each 100-request trace; normalized ratio = (73/8)/(29/8) = 73/29 = 2.517241379, displayed 2.52×. This is a sample-specific SLO-pass efficiency proxy, NOT a time-normalized throughput-per-GPU metric, GPU busy percentage, independent capacity study, cost/energy result, or justification for dividing the GPU budget by 2.52. Do not claim fewer GPUs. There is no asymmetric traffic experiment or dynamic P/D autoscaling in this source; that business case still needs a controlled local benchmark. The same trace supports the preceding slide, so these are three interpretations of one study, not three independent confirmations.</a:t>
            </a:r>
          </a:p>
          <a:p/>
          <a:p>
            <a:r>
              <a:t>Narrative source: kubecon-na-2026-pd-disaggregation.md</a:t>
            </a:r>
          </a:p>
          <a:p>
            <a:r>
              <a:t>References:</a:t>
            </a:r>
          </a:p>
          <a:p>
            <a:r>
              <a:t>https://vllm.ai/blog/2026-04-07-moriio-kv-connector</a:t>
            </a:r>
          </a:p>
          <a:p>
            <a:r>
              <a:t>https://github.com/vllm-project/vllm-project.github.io/blob/c4fa4eee56ed2c097a4e078c33955253db123018/assets/figures/2026-04-07-moriio-kv-connector/plotly-figure3.js</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first operational lesson is to treat KV transfer as a real dependency. Measure its duration, errors, and retries independently of API health. Validate placement and transport settings, and compare same-node with cross-node behavior. What matters is the actual payload path under contention and failure, not simply whether two pods can exchange HTTP requests.</a:t>
            </a:r>
          </a:p>
          <a:p/>
          <a:p>
            <a:r>
              <a:t>REFERENCE NOTES (NOT SPOKEN)</a:t>
            </a:r>
          </a:p>
          <a:p/>
          <a:p>
            <a:r>
              <a:t>A conceptual dependency diagram. Actual transport support is version- and hardware-dependent. Do not assert a specific RDMA or non-RDMA configuration without validating the deployment. Include fabric contention and failure cases in production testing.</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Second, readiness is a chain of contracts. The model must be loaded, the proxy must reach the correct backend, and routing must select only eligible endpoints. A Running pod doesn't establish any of that by itself. Test startup, replacement, partial failure, and rollout, when those contracts are most likely to disagree.</a:t>
            </a:r>
          </a:p>
          <a:p/>
          <a:p>
            <a:r>
              <a:t>REFERENCE NOTES (NOT SPOKEN)</a:t>
            </a:r>
          </a:p>
          <a:p/>
          <a:p>
            <a:r>
              <a:t>The chain represents logical serving readiness, not a mandatory serial process startup order. Probe the correct process and listener. Test whether unready backends are excluded, how endpoints appear in the EPP, and how sidecars behave while the model warms up.</a:t>
            </a:r>
          </a:p>
          <a:p/>
          <a:p>
            <a:r>
              <a:t>Narrative source: kubecon-na-2026-pd-disaggregation.md</a:t>
            </a:r>
          </a:p>
          <a:p>
            <a:r>
              <a:t>References:</a:t>
            </a:r>
          </a:p>
          <a:p>
            <a:r>
              <a:t>https://kaito-project.github.io/kaito/docs/prefill-decode-disaggregation</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Keep the dashboard unified but interpretation role-specific. Prefill queues reveal prompt pressure; running decode requests reveal generation load. KV usage adds context for safe scale-down. Watch warm-up, oscillation, and the end-to-end SLO so that a locally sensible decision doesn't harm the service.</a:t>
            </a:r>
          </a:p>
          <a:p/>
          <a:p>
            <a:r>
              <a:t>REFERENCE NOTES (NOT SPOKEN)</a:t>
            </a:r>
          </a:p>
          <a:p/>
          <a:p>
            <a:r>
              <a:t>Native vllm:num_requests_waiting and vllm:num_requests_running are the primary role-specific signals. KV utilization can inform a safety guard only with explicit tested semantics. Validate availability, role scope, units and freshness. Derived metrics require aggregation and collection; their names are not native vLLM outputs.</a:t>
            </a:r>
          </a:p>
          <a:p/>
          <a:p>
            <a:r>
              <a:t>Narrative source: kubecon-na-2026-pd-disaggregation.md</a:t>
            </a:r>
          </a:p>
          <a:p>
            <a:r>
              <a:t>References:</a:t>
            </a:r>
          </a:p>
          <a:p>
            <a:r>
              <a:t>https://github.com/andyzhangx/demo/blob/26c3e14a340d4b0aae5c820b43087d71b85d1554/llm/kaito-llm-d/kaito-role-aware-autoscaling-for-pd.md</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Pass four gates before adopting P/D. Does the workload benefit from separation? Does transfer fit the budget? Can the team operate both roles? And does a controlled comparison show better useful service at acceptable cost? A benchmark doesn't answer every operational question, and a clean API doesn't prove performance.</a:t>
            </a:r>
          </a:p>
          <a:p/>
          <a:p>
            <a:r>
              <a:t>REFERENCE NOTES (NOT SPOKEN)</a:t>
            </a:r>
          </a:p>
          <a:p/>
          <a:p>
            <a:r>
              <a:t>Use these gates to decide whether to keep, tune, or reject P/D. Do not infer a generic performance percentage. Operators still own resource placement, network policy, observability, failure recovery, and upgrades.</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The strongest candidate is the top right: genuinely different capacity needs and a transfer path that's fast enough. If transfer is expensive, improve the topology before adding scale. If the roles want similar resources, even excellent networking may not justify separation. Fast fabric makes a split possible; it doesn't create the reason to split.</a:t>
            </a:r>
          </a:p>
          <a:p/>
          <a:p>
            <a:r>
              <a:t>REFERENCE NOTES (NOT SPOKEN)</a:t>
            </a:r>
          </a:p>
          <a:p/>
          <a:p>
            <a:r>
              <a:t>Source: companion Markdown, Slide 34 — When to use P/D, and when not to. This is a qualitative decision matrix, not measured results or a performance guarantee. The horizontal axis increases from costly/weak transfer to cheap/fast-enough transfer; the vertical axis increases from similar role bottlenecks at the bottom to meaningfully different scaling, bottlenecks or parallelism at the top. Top-right is the strongest candidate; bottom-left stays aggregated. Top-left should first improve locality/transport or investigate same-node placement. Bottom-right usually remains aggregated because cheap transfer does not by itself create a reason for role separation. Cross-node placement is a risk factor to measure, not proof that fabric is weak: fast cross-node links can satisfy the right-hand condition. Likewise single-node transfer is not automatically free. Compare actual KV payload transfer cost, contention, tail latency, reliability and operational complexity. A strong candidate still requires a matched workload/cost/SLO benchmark.</a:t>
            </a:r>
          </a:p>
          <a:p/>
          <a:p>
            <a:r>
              <a:t>Narrative source: kubecon-na-2026-pd-disaggregation.md</a:t>
            </a:r>
          </a:p>
          <a:p>
            <a:r>
              <a:t>References:</a:t>
            </a:r>
          </a:p>
          <a:p>
            <a:r>
              <a:t>kubecon-na-2026-pd-disaggregation.md#slide-34--when-to-use-pd-and-when-not-to</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Apply the matrix to real workloads. Small, lightly loaded services can stay simple. Divergent bottlenecks with reliable transfer deserve a benchmark. Transfer-limited services need locality or transport work first. Start with a manageable topology, measure client latency and total cost, and retain the aggregated baseline.</a:t>
            </a:r>
          </a:p>
          <a:p/>
          <a:p>
            <a:r>
              <a:t>REFERENCE NOTES (NOT SPOKEN)</a:t>
            </a:r>
          </a:p>
          <a:p/>
          <a:p>
            <a:r>
              <a:t>Expands companion Markdown Slide 34 into concrete but unmeasured adoption scenarios. Small models, short prompts, low concurrency and simple traffic often favor aggregated serving, but those attributes are heuristics rather than hard cutoffs. Long prompts, retrieval-heavy traffic, long generation or high concurrency are reasons to investigate divergent P/D pressure, not sufficient conditions for a win. Use P/D when separate capacity/parallelism can address a demonstrated bottleneck and KV-transfer overhead does not eliminate that benefit. A single-node multi-GPU experiment can simplify the initial topology if the model and role placement fit; it is not a universal fastest or feasible configuration. Cross-node P/D raises the validation bar: test transfer payload sizes, sustained/tail latency, contention, reliability, network policy and failure recovery. Improve locality or transport before adding scale if KV transfer is already the bottleneck. Compare aggregated and P/D at the same model, request distribution, offered load and GPU/cost budget, measuring client-visible TTFT/ITL, SLO goodput, transfer tails and total GPU cost. Retain a reversible aggregated baseline; do not claim measured savings here.</a:t>
            </a:r>
          </a:p>
          <a:p/>
          <a:p>
            <a:r>
              <a:t>Narrative source: kubecon-na-2026-pd-disaggregation.md</a:t>
            </a:r>
          </a:p>
          <a:p>
            <a:r>
              <a:t>References:</a:t>
            </a:r>
          </a:p>
          <a:p>
            <a:r>
              <a:t>kubecon-na-2026-pd-disaggregation.md#slide-34--when-to-use-pd-and-when-not-to</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Keep adoption reversible. Establish the aggregated baseline, separate roles, validate routing and KV movement, then tune capacity at fixed cost. Add autoscaling after the signals are trustworthy. Changing topology, parallelism, transport, and scaling together makes improvements and regressions harder to explain.</a:t>
            </a:r>
          </a:p>
          <a:p/>
          <a:p>
            <a:r>
              <a:t>REFERENCE NOTES (NOT SPOKEN)</a:t>
            </a:r>
          </a:p>
          <a:p/>
          <a:p>
            <a:r>
              <a:t>Begin with a measurable aggregated baseline. Keep an operationally viable rollback path and compare like-for-like cost and SLO. Per-role autoscaling should follow validated signals; avoid changing topology, parallelism, transport, and autoscaling all at once.</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For a demo, follow one service through its MRI declaration, reconciled children, and a request using both roles. That connects intent to execution. Scaling is an optional follow-up with a verified policy; the proposed annotation example isn't something to apply unchanged and expect to work.</a:t>
            </a:r>
          </a:p>
          <a:p/>
          <a:p>
            <a:r>
              <a:t>REFERENCE NOTES (NOT SPOKEN)</a:t>
            </a:r>
          </a:p>
          <a:p/>
          <a:p>
            <a:r>
              <a:t>Demo outline, not evidence of a demo run. Before presenting: verify installed CRD versions, Gateway, supported model/preset, fabric connectivity, and metric availability. Use docs appropriate to that version. Do not present the proposed MRI autoscaling UX as an available manifest.</a:t>
            </a:r>
          </a:p>
          <a:p/>
          <a:p>
            <a:r>
              <a:t>Narrative source: kubecon-na-2026-pd-disaggregation.md</a:t>
            </a:r>
          </a:p>
          <a:p>
            <a:r>
              <a:t>References:</a:t>
            </a:r>
          </a:p>
          <a:p>
            <a:r>
              <a:t>https://kaito-project.github.io/kaito/docs/prefill-decode-disaggregation</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Next, we want less repetitive scaling configuration, better connections between request latency and role-level signals, and a consistent API for richer topologies. These are recommended directions, not release commitments. The objective is less operational guesswork without hiding important system boundaries.</a:t>
            </a:r>
          </a:p>
          <a:p/>
          <a:p>
            <a:r>
              <a:t>REFERENCE NOTES (NOT SPOKEN)</a:t>
            </a:r>
          </a:p>
          <a:p/>
          <a:p>
            <a:r>
              <a:t>These are talk recommendations derived from the source outline, not a published project delivery timeline. Keep the distinction between current capability and proposed user experience explicit.</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Looking further ahead, integration directions include KV-event-driven prefix-cache routing, cache tiers across GPU and CPU memory with optional filesystem storage, and encode-prefill-decode layouts. Larger systems also bring expert parallelism and cross-node communication challenges. These aren't claims that upstream features are all new; the work is integrating them cleanly into KAITO's supported operating model.</a:t>
            </a:r>
          </a:p>
          <a:p/>
          <a:p>
            <a:r>
              <a:t>REFERENCE NOTES (NOT SPOKEN)</a:t>
            </a:r>
          </a:p>
          <a:p/>
          <a:p>
            <a:r>
              <a:t>Based on companion Markdown Slide 36 — What’s next for KAITO + llm-d. Near-term integration directions are precise prefix-cache routing driven by KV events and tiered prefix cache across GPU HBM, CPU RAM, and optional filesystem tiers. The next topology item is E/P/D: Encode, Prefill, Decode. Larger-scale work includes Wide Expert Parallelism and cross-node transport/communication optimization. These are presentation-level KAITO integration directions, not a dated release commitment or a claim that llm-d and its runtimes lack these capabilities today. Speculative decoding was removed from future work because the presenter confirms it is already implemented; this slide does not attempt to revalidate its support matrix or claim universal runtime support. Keep feature availability tied to the deployed KAITO/llm-d/runtime versions.</a:t>
            </a:r>
          </a:p>
          <a:p/>
          <a:p>
            <a:r>
              <a:t>Narrative source: kubecon-na-2026-pd-disaggregation.md</a:t>
            </a:r>
          </a:p>
          <a:p>
            <a:r>
              <a:t>References:</a:t>
            </a:r>
          </a:p>
          <a:p>
            <a:r>
              <a:t>kubecon-na-2026-pd-disaggregation.md#slide-36--whats-next-for-kaito--llm-d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Remember three things. Split because the phases need different capacity. Declare the topology so KAITO composes resources while llm-d routes. And prove the tradeoff with role-aware signals and a fair baseline. Independent capacity is the opportunity; reliable orchestration makes it usable.</a:t>
            </a:r>
          </a:p>
          <a:p/>
          <a:p>
            <a:r>
              <a:t>REFERENCE NOTES (NOT SPOKEN)</a:t>
            </a:r>
          </a:p>
          <a:p/>
          <a:p>
            <a:r>
              <a:t>Restate the thesis without claiming unmeasured speedups. P/D is useful when the workload and infrastructure justify independent capacity shaping. KAITO aims to make that topology a normal Kubernetes operating model.</a:t>
            </a:r>
          </a:p>
          <a:p/>
          <a:p>
            <a:r>
              <a:t>Narrative source: kubecon-na-2026-pd-disaggregation.md</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p>
            <a:r>
              <a:t>Thanks. What's limiting your workload: prompt processing, token delivery, or KV movement? Prompt and output lengths, GPU topology, and latency targets shape the answer. The linked KAITO guides cover disaggregation and the existing InferenceSet autoscaling path if you'd like to go deeper.</a:t>
            </a:r>
          </a:p>
          <a:p/>
          <a:p>
            <a:r>
              <a:t>REFERENCE NOTES (NOT SPOKEN)</a:t>
            </a:r>
          </a:p>
          <a:p/>
          <a:p>
            <a:r>
              <a:t>Use workload, fabric, and operational constraints to guide questions. Both links are clickable in PowerPoint. Full URLs are retained here for export formats that do not preserve hyperlinks.</a:t>
            </a:r>
          </a:p>
          <a:p/>
          <a:p>
            <a:r>
              <a:t>Narrative source: kubecon-na-2026-pd-disaggregation.md</a:t>
            </a:r>
          </a:p>
          <a:p>
            <a:r>
              <a:t>References:</a:t>
            </a:r>
          </a:p>
          <a:p>
            <a:r>
              <a:t>https://kaito-project.github.io/kaito/docs/prefill-decode-disaggregation</a:t>
            </a:r>
          </a:p>
          <a:p>
            <a:r>
              <a:t>https://kaito-project.github.io/kaito/docs/keda-autoscaler-inference</a:t>
            </a:r>
          </a:p>
          <a:p>
            <a:r>
              <a:t>Design: all diagrams, labels, tables and arrows are native editable PowerPoint objects.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aito-project.github.io/kaito/docs/prefill-decode-disaggregation" TargetMode="External"/><Relationship Id="rId3" Type="http://schemas.openxmlformats.org/officeDocument/2006/relationships/hyperlink" Target="https://kaito-project.github.io/kaito/docs/keda-autoscaler-inference" TargetMode="External"/><Relationship Id="rId4"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039"/>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AFC3DF"/>
                </a:solidFill>
                <a:latin typeface="Arial"/>
              </a:defRPr>
            </a:pPr>
            <a:r>
              <a:t>Cloud Native AI + Inference Day / 20-minute talk</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FFFFFF"/>
                </a:solidFill>
                <a:latin typeface="Arial"/>
              </a:defRPr>
            </a:pPr>
            <a:r>
              <a:t>Prefill here, decode there</a:t>
            </a:r>
          </a:p>
        </p:txBody>
      </p:sp>
      <p:cxnSp>
        <p:nvCxnSpPr>
          <p:cNvPr id="4" name="Connector 3"/>
          <p:cNvCxnSpPr/>
          <p:nvPr/>
        </p:nvCxnSpPr>
        <p:spPr>
          <a:xfrm>
            <a:off x="457200" y="6510528"/>
            <a:ext cx="11274552" cy="0"/>
          </a:xfrm>
          <a:prstGeom prst="line">
            <a:avLst/>
          </a:prstGeom>
          <a:ln w="8890">
            <a:solidFill>
              <a:srgbClr val="586A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AFC3DF"/>
                </a:solidFill>
                <a:latin typeface="Arial"/>
              </a:defRPr>
            </a:pPr>
            <a:r>
              <a:t>KubeCon + CloudNativeCon North America 2026  /  KAITO + llm-d</a:t>
            </a:r>
          </a:p>
        </p:txBody>
      </p:sp>
      <p:sp>
        <p:nvSpPr>
          <p:cNvPr id="6" name="TextBox 5"/>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AFC3DF"/>
                </a:solidFill>
                <a:latin typeface="Arial"/>
              </a:defRPr>
            </a:pPr>
            <a:r>
              <a:t>01 / 56</a:t>
            </a:r>
          </a:p>
        </p:txBody>
      </p:sp>
      <p:sp>
        <p:nvSpPr>
          <p:cNvPr id="7" name="TextBox 6"/>
          <p:cNvSpPr txBox="1"/>
          <p:nvPr/>
        </p:nvSpPr>
        <p:spPr>
          <a:xfrm>
            <a:off x="475488" y="1554480"/>
            <a:ext cx="9966960" cy="914400"/>
          </a:xfrm>
          <a:prstGeom prst="rect">
            <a:avLst/>
          </a:prstGeom>
          <a:noFill/>
        </p:spPr>
        <p:txBody>
          <a:bodyPr wrap="square" lIns="13716" rIns="13716" tIns="13716" bIns="13716">
            <a:spAutoFit/>
          </a:bodyPr>
          <a:lstStyle/>
          <a:p>
            <a:pPr>
              <a:spcBef>
                <a:spcPts val="0"/>
              </a:spcBef>
              <a:spcAft>
                <a:spcPts val="500"/>
              </a:spcAft>
              <a:defRPr sz="2500" b="0">
                <a:solidFill>
                  <a:srgbClr val="FFFFFF"/>
                </a:solidFill>
                <a:latin typeface="Arial"/>
              </a:defRPr>
            </a:pPr>
            <a:r>
              <a:t>Kubernetes-native LLM inference disaggregation</a:t>
            </a:r>
          </a:p>
          <a:p>
            <a:pPr>
              <a:spcBef>
                <a:spcPts val="0"/>
              </a:spcBef>
              <a:spcAft>
                <a:spcPts val="500"/>
              </a:spcAft>
              <a:defRPr sz="2500" b="0">
                <a:solidFill>
                  <a:srgbClr val="FFFFFF"/>
                </a:solidFill>
                <a:latin typeface="Arial"/>
              </a:defRPr>
            </a:pPr>
            <a:r>
              <a:t>with KAITO and llm-d</a:t>
            </a:r>
          </a:p>
        </p:txBody>
      </p:sp>
      <p:sp>
        <p:nvSpPr>
          <p:cNvPr id="8" name="Rounded Rectangle 7"/>
          <p:cNvSpPr/>
          <p:nvPr/>
        </p:nvSpPr>
        <p:spPr>
          <a:xfrm>
            <a:off x="502920" y="2880360"/>
            <a:ext cx="2377440" cy="310896"/>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912364"/>
            <a:ext cx="224942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2563EB"/>
                </a:solidFill>
                <a:latin typeface="Arial"/>
              </a:defRPr>
            </a:pPr>
            <a:r>
              <a:t>One declarative service</a:t>
            </a:r>
          </a:p>
        </p:txBody>
      </p:sp>
      <p:sp>
        <p:nvSpPr>
          <p:cNvPr id="10" name="Rounded Rectangle 9"/>
          <p:cNvSpPr/>
          <p:nvPr/>
        </p:nvSpPr>
        <p:spPr>
          <a:xfrm>
            <a:off x="502920" y="3566160"/>
            <a:ext cx="2971800" cy="14173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657600"/>
            <a:ext cx="50292"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685032"/>
            <a:ext cx="2697480" cy="393192"/>
          </a:xfrm>
          <a:prstGeom prst="rect">
            <a:avLst/>
          </a:prstGeom>
          <a:noFill/>
        </p:spPr>
        <p:txBody>
          <a:bodyPr wrap="square" lIns="13716" rIns="13716" tIns="13716" bIns="13716">
            <a:spAutoFit/>
          </a:bodyPr>
          <a:lstStyle/>
          <a:p>
            <a:pPr algn="ctr">
              <a:spcBef>
                <a:spcPts val="0"/>
              </a:spcBef>
              <a:spcAft>
                <a:spcPts val="500"/>
              </a:spcAft>
              <a:defRPr sz="2500" b="1">
                <a:solidFill>
                  <a:srgbClr val="2563EB"/>
                </a:solidFill>
                <a:latin typeface="Arial"/>
              </a:defRPr>
            </a:pPr>
            <a:r>
              <a:t>KAITO</a:t>
            </a:r>
          </a:p>
        </p:txBody>
      </p:sp>
      <p:sp>
        <p:nvSpPr>
          <p:cNvPr id="13" name="TextBox 12"/>
          <p:cNvSpPr txBox="1"/>
          <p:nvPr/>
        </p:nvSpPr>
        <p:spPr>
          <a:xfrm>
            <a:off x="649224" y="4123944"/>
            <a:ext cx="2679192" cy="7680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Declare the serving topology</a:t>
            </a:r>
          </a:p>
        </p:txBody>
      </p:sp>
      <p:sp>
        <p:nvSpPr>
          <p:cNvPr id="14" name="Rounded Rectangle 13"/>
          <p:cNvSpPr/>
          <p:nvPr/>
        </p:nvSpPr>
        <p:spPr>
          <a:xfrm>
            <a:off x="4572000" y="3566160"/>
            <a:ext cx="2743200" cy="14173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0" y="3657600"/>
            <a:ext cx="50292" cy="1234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3685032"/>
            <a:ext cx="2468880" cy="393192"/>
          </a:xfrm>
          <a:prstGeom prst="rect">
            <a:avLst/>
          </a:prstGeom>
          <a:noFill/>
        </p:spPr>
        <p:txBody>
          <a:bodyPr wrap="square" lIns="13716" rIns="13716" tIns="13716" bIns="13716">
            <a:spAutoFit/>
          </a:bodyPr>
          <a:lstStyle/>
          <a:p>
            <a:pPr algn="ctr">
              <a:spcBef>
                <a:spcPts val="0"/>
              </a:spcBef>
              <a:spcAft>
                <a:spcPts val="500"/>
              </a:spcAft>
              <a:defRPr sz="2500" b="1">
                <a:solidFill>
                  <a:srgbClr val="087F8C"/>
                </a:solidFill>
                <a:latin typeface="Arial"/>
              </a:defRPr>
            </a:pPr>
            <a:r>
              <a:t>Prefill</a:t>
            </a:r>
          </a:p>
        </p:txBody>
      </p:sp>
      <p:sp>
        <p:nvSpPr>
          <p:cNvPr id="17" name="TextBox 16"/>
          <p:cNvSpPr txBox="1"/>
          <p:nvPr/>
        </p:nvSpPr>
        <p:spPr>
          <a:xfrm>
            <a:off x="4718304" y="4123944"/>
            <a:ext cx="2450592" cy="7680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Prompt → KV cache</a:t>
            </a:r>
          </a:p>
        </p:txBody>
      </p:sp>
      <p:sp>
        <p:nvSpPr>
          <p:cNvPr id="18" name="Rounded Rectangle 17"/>
          <p:cNvSpPr/>
          <p:nvPr/>
        </p:nvSpPr>
        <p:spPr>
          <a:xfrm>
            <a:off x="8458200" y="3566160"/>
            <a:ext cx="3200400" cy="14173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58200" y="3657600"/>
            <a:ext cx="50292" cy="123444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3685032"/>
            <a:ext cx="2926080" cy="393192"/>
          </a:xfrm>
          <a:prstGeom prst="rect">
            <a:avLst/>
          </a:prstGeom>
          <a:noFill/>
        </p:spPr>
        <p:txBody>
          <a:bodyPr wrap="square" lIns="13716" rIns="13716" tIns="13716" bIns="13716">
            <a:spAutoFit/>
          </a:bodyPr>
          <a:lstStyle/>
          <a:p>
            <a:pPr algn="ctr">
              <a:spcBef>
                <a:spcPts val="0"/>
              </a:spcBef>
              <a:spcAft>
                <a:spcPts val="500"/>
              </a:spcAft>
              <a:defRPr sz="2500" b="1">
                <a:solidFill>
                  <a:srgbClr val="7354B8"/>
                </a:solidFill>
                <a:latin typeface="Arial"/>
              </a:defRPr>
            </a:pPr>
            <a:r>
              <a:t>Decode</a:t>
            </a:r>
          </a:p>
        </p:txBody>
      </p:sp>
      <p:sp>
        <p:nvSpPr>
          <p:cNvPr id="21" name="TextBox 20"/>
          <p:cNvSpPr txBox="1"/>
          <p:nvPr/>
        </p:nvSpPr>
        <p:spPr>
          <a:xfrm>
            <a:off x="8604504" y="4123944"/>
            <a:ext cx="2907792" cy="7680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KV cache → token stream</a:t>
            </a:r>
          </a:p>
        </p:txBody>
      </p:sp>
      <p:cxnSp>
        <p:nvCxnSpPr>
          <p:cNvPr id="22" name="Connector 21"/>
          <p:cNvCxnSpPr/>
          <p:nvPr/>
        </p:nvCxnSpPr>
        <p:spPr>
          <a:xfrm>
            <a:off x="3474720" y="4251960"/>
            <a:ext cx="1097280" cy="0"/>
          </a:xfrm>
          <a:prstGeom prst="line">
            <a:avLst/>
          </a:prstGeom>
          <a:ln w="25400">
            <a:solidFill>
              <a:srgbClr val="AFC3D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4251960"/>
            <a:ext cx="11430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3758184"/>
            <a:ext cx="960120" cy="338328"/>
          </a:xfrm>
          <a:prstGeom prst="rect">
            <a:avLst/>
          </a:prstGeom>
          <a:noFill/>
        </p:spPr>
        <p:txBody>
          <a:bodyPr wrap="square" lIns="13716" rIns="13716" tIns="13716" bIns="13716">
            <a:spAutoFit/>
          </a:bodyPr>
          <a:lstStyle/>
          <a:p>
            <a:pPr algn="ctr">
              <a:spcBef>
                <a:spcPts val="0"/>
              </a:spcBef>
              <a:spcAft>
                <a:spcPts val="500"/>
              </a:spcAft>
              <a:defRPr sz="1200" b="0">
                <a:solidFill>
                  <a:srgbClr val="AFC3DF"/>
                </a:solidFill>
                <a:latin typeface="Arial"/>
              </a:defRPr>
            </a:pPr>
            <a:r>
              <a:t>KV data</a:t>
            </a:r>
          </a:p>
        </p:txBody>
      </p:sp>
      <p:sp>
        <p:nvSpPr>
          <p:cNvPr id="25" name="TextBox 24"/>
          <p:cNvSpPr txBox="1"/>
          <p:nvPr/>
        </p:nvSpPr>
        <p:spPr>
          <a:xfrm>
            <a:off x="502920" y="5641848"/>
            <a:ext cx="10789920" cy="457200"/>
          </a:xfrm>
          <a:prstGeom prst="rect">
            <a:avLst/>
          </a:prstGeom>
          <a:noFill/>
        </p:spPr>
        <p:txBody>
          <a:bodyPr wrap="square" lIns="13716" rIns="13716" tIns="13716" bIns="13716">
            <a:spAutoFit/>
          </a:bodyPr>
          <a:lstStyle/>
          <a:p>
            <a:pPr>
              <a:spcBef>
                <a:spcPts val="0"/>
              </a:spcBef>
              <a:spcAft>
                <a:spcPts val="500"/>
              </a:spcAft>
              <a:defRPr sz="2100" b="0">
                <a:solidFill>
                  <a:srgbClr val="AFC3DF"/>
                </a:solidFill>
                <a:latin typeface="Arial"/>
              </a:defRPr>
            </a:pPr>
            <a:r>
              <a:t>Separate the phases. Keep a Kubernetes-native operating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Agenda</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route from idea to production</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Four questions connect the architecture to the operating tradeoffs.</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02 / 56</a:t>
            </a:r>
          </a:p>
        </p:txBody>
      </p:sp>
      <p:sp>
        <p:nvSpPr>
          <p:cNvPr id="8" name="Rounded Rectangle 7"/>
          <p:cNvSpPr/>
          <p:nvPr/>
        </p:nvSpPr>
        <p:spPr>
          <a:xfrm>
            <a:off x="457200" y="2267712"/>
            <a:ext cx="2706624" cy="26974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2450592"/>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06040"/>
            <a:ext cx="2340864"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01</a:t>
            </a:r>
          </a:p>
        </p:txBody>
      </p:sp>
      <p:sp>
        <p:nvSpPr>
          <p:cNvPr id="11" name="TextBox 10"/>
          <p:cNvSpPr txBox="1"/>
          <p:nvPr/>
        </p:nvSpPr>
        <p:spPr>
          <a:xfrm>
            <a:off x="640080" y="2980944"/>
            <a:ext cx="2340864"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Why split?</a:t>
            </a:r>
          </a:p>
        </p:txBody>
      </p:sp>
      <p:sp>
        <p:nvSpPr>
          <p:cNvPr id="12" name="TextBox 11"/>
          <p:cNvSpPr txBox="1"/>
          <p:nvPr/>
        </p:nvSpPr>
        <p:spPr>
          <a:xfrm>
            <a:off x="640080" y="3584448"/>
            <a:ext cx="2340864" cy="1234440"/>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Two phases</a:t>
            </a:r>
          </a:p>
          <a:p>
            <a:pPr>
              <a:spcBef>
                <a:spcPts val="0"/>
              </a:spcBef>
              <a:spcAft>
                <a:spcPts val="500"/>
              </a:spcAft>
              <a:defRPr sz="1800" b="0">
                <a:solidFill>
                  <a:srgbClr val="172941"/>
                </a:solidFill>
                <a:latin typeface="Arial"/>
              </a:defRPr>
            </a:pPr>
            <a:r>
              <a:t>Two bottlenecks</a:t>
            </a:r>
          </a:p>
        </p:txBody>
      </p:sp>
      <p:cxnSp>
        <p:nvCxnSpPr>
          <p:cNvPr id="13" name="Connector 12"/>
          <p:cNvCxnSpPr/>
          <p:nvPr/>
        </p:nvCxnSpPr>
        <p:spPr>
          <a:xfrm>
            <a:off x="3163824" y="3593592"/>
            <a:ext cx="146304" cy="0"/>
          </a:xfrm>
          <a:prstGeom prst="line">
            <a:avLst/>
          </a:prstGeom>
          <a:ln w="1778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10128" y="2267712"/>
            <a:ext cx="2706624" cy="26974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2450592"/>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3008" y="2606040"/>
            <a:ext cx="2340864" cy="256032"/>
          </a:xfrm>
          <a:prstGeom prst="rect">
            <a:avLst/>
          </a:prstGeom>
          <a:noFill/>
        </p:spPr>
        <p:txBody>
          <a:bodyPr wrap="square" lIns="13716" rIns="13716" tIns="13716" bIns="13716">
            <a:spAutoFit/>
          </a:bodyPr>
          <a:lstStyle/>
          <a:p>
            <a:pPr>
              <a:spcBef>
                <a:spcPts val="0"/>
              </a:spcBef>
              <a:spcAft>
                <a:spcPts val="500"/>
              </a:spcAft>
              <a:defRPr sz="1100" b="1">
                <a:solidFill>
                  <a:srgbClr val="AE641A"/>
                </a:solidFill>
                <a:latin typeface="Arial"/>
              </a:defRPr>
            </a:pPr>
            <a:r>
              <a:t>02</a:t>
            </a:r>
          </a:p>
        </p:txBody>
      </p:sp>
      <p:sp>
        <p:nvSpPr>
          <p:cNvPr id="17" name="TextBox 16"/>
          <p:cNvSpPr txBox="1"/>
          <p:nvPr/>
        </p:nvSpPr>
        <p:spPr>
          <a:xfrm>
            <a:off x="3493008" y="2980944"/>
            <a:ext cx="2340864"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Why hard?</a:t>
            </a:r>
          </a:p>
        </p:txBody>
      </p:sp>
      <p:sp>
        <p:nvSpPr>
          <p:cNvPr id="18" name="TextBox 17"/>
          <p:cNvSpPr txBox="1"/>
          <p:nvPr/>
        </p:nvSpPr>
        <p:spPr>
          <a:xfrm>
            <a:off x="3493008" y="3584448"/>
            <a:ext cx="2340864" cy="1234440"/>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Routing, KV transfer</a:t>
            </a:r>
          </a:p>
          <a:p>
            <a:pPr>
              <a:spcBef>
                <a:spcPts val="0"/>
              </a:spcBef>
              <a:spcAft>
                <a:spcPts val="500"/>
              </a:spcAft>
              <a:defRPr sz="1800" b="0">
                <a:solidFill>
                  <a:srgbClr val="172941"/>
                </a:solidFill>
                <a:latin typeface="Arial"/>
              </a:defRPr>
            </a:pPr>
            <a:r>
              <a:t>Kubernetes contracts</a:t>
            </a:r>
          </a:p>
        </p:txBody>
      </p:sp>
      <p:cxnSp>
        <p:nvCxnSpPr>
          <p:cNvPr id="19" name="Connector 18"/>
          <p:cNvCxnSpPr/>
          <p:nvPr/>
        </p:nvCxnSpPr>
        <p:spPr>
          <a:xfrm>
            <a:off x="6016752" y="3593592"/>
            <a:ext cx="146304" cy="0"/>
          </a:xfrm>
          <a:prstGeom prst="line">
            <a:avLst/>
          </a:prstGeom>
          <a:ln w="17780">
            <a:solidFill>
              <a:srgbClr val="AE64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63056" y="2267712"/>
            <a:ext cx="2706624" cy="26974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27648" y="2450592"/>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2606040"/>
            <a:ext cx="2340864"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03</a:t>
            </a:r>
          </a:p>
        </p:txBody>
      </p:sp>
      <p:sp>
        <p:nvSpPr>
          <p:cNvPr id="23" name="TextBox 22"/>
          <p:cNvSpPr txBox="1"/>
          <p:nvPr/>
        </p:nvSpPr>
        <p:spPr>
          <a:xfrm>
            <a:off x="6345936" y="2980944"/>
            <a:ext cx="2340864"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The solution</a:t>
            </a:r>
          </a:p>
        </p:txBody>
      </p:sp>
      <p:sp>
        <p:nvSpPr>
          <p:cNvPr id="24" name="TextBox 23"/>
          <p:cNvSpPr txBox="1"/>
          <p:nvPr/>
        </p:nvSpPr>
        <p:spPr>
          <a:xfrm>
            <a:off x="6345936" y="3584448"/>
            <a:ext cx="2340864" cy="1234440"/>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KAITO + llm-d</a:t>
            </a:r>
          </a:p>
          <a:p>
            <a:pPr>
              <a:spcBef>
                <a:spcPts val="0"/>
              </a:spcBef>
              <a:spcAft>
                <a:spcPts val="500"/>
              </a:spcAft>
              <a:defRPr sz="1800" b="0">
                <a:solidFill>
                  <a:srgbClr val="172941"/>
                </a:solidFill>
                <a:latin typeface="Arial"/>
              </a:defRPr>
            </a:pPr>
            <a:r>
              <a:t>One declared topology</a:t>
            </a:r>
          </a:p>
        </p:txBody>
      </p:sp>
      <p:cxnSp>
        <p:nvCxnSpPr>
          <p:cNvPr id="25" name="Connector 24"/>
          <p:cNvCxnSpPr/>
          <p:nvPr/>
        </p:nvCxnSpPr>
        <p:spPr>
          <a:xfrm>
            <a:off x="8869680" y="3593592"/>
            <a:ext cx="146304" cy="0"/>
          </a:xfrm>
          <a:prstGeom prst="line">
            <a:avLst/>
          </a:prstGeom>
          <a:ln w="1778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267712"/>
            <a:ext cx="2706624" cy="26974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80576" y="2450592"/>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8863" y="2606040"/>
            <a:ext cx="2340864"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04</a:t>
            </a:r>
          </a:p>
        </p:txBody>
      </p:sp>
      <p:sp>
        <p:nvSpPr>
          <p:cNvPr id="29" name="TextBox 28"/>
          <p:cNvSpPr txBox="1"/>
          <p:nvPr/>
        </p:nvSpPr>
        <p:spPr>
          <a:xfrm>
            <a:off x="9198863" y="2980944"/>
            <a:ext cx="2340864"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When to split?</a:t>
            </a:r>
          </a:p>
        </p:txBody>
      </p:sp>
      <p:sp>
        <p:nvSpPr>
          <p:cNvPr id="30" name="TextBox 29"/>
          <p:cNvSpPr txBox="1"/>
          <p:nvPr/>
        </p:nvSpPr>
        <p:spPr>
          <a:xfrm>
            <a:off x="9198863" y="3584448"/>
            <a:ext cx="2340864" cy="1234440"/>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Role-aware scaling</a:t>
            </a:r>
          </a:p>
          <a:p>
            <a:pPr>
              <a:spcBef>
                <a:spcPts val="0"/>
              </a:spcBef>
              <a:spcAft>
                <a:spcPts val="500"/>
              </a:spcAft>
              <a:defRPr sz="1800" b="0">
                <a:solidFill>
                  <a:srgbClr val="172941"/>
                </a:solidFill>
                <a:latin typeface="Arial"/>
              </a:defRPr>
            </a:pPr>
            <a:r>
              <a:t>Measured tradeoffs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Foundations — prefill</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Prefill: read the prompt, select the first output token</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Prompt: “What does Kubernetes do?”</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Prefill caches the prompt, then selects “Kubernetes”. Its K/V is not cached until it is consumed.</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03 / 56</a:t>
            </a:r>
          </a:p>
        </p:txBody>
      </p:sp>
      <p:sp>
        <p:nvSpPr>
          <p:cNvPr id="10" name="TextBox 9"/>
          <p:cNvSpPr txBox="1"/>
          <p:nvPr/>
        </p:nvSpPr>
        <p:spPr>
          <a:xfrm>
            <a:off x="594360" y="1984248"/>
            <a:ext cx="10881360" cy="256032"/>
          </a:xfrm>
          <a:prstGeom prst="rect">
            <a:avLst/>
          </a:prstGeom>
          <a:noFill/>
        </p:spPr>
        <p:txBody>
          <a:bodyPr wrap="square" lIns="13716" rIns="13716" tIns="13716" bIns="13716">
            <a:spAutoFit/>
          </a:bodyPr>
          <a:lstStyle/>
          <a:p>
            <a:pPr>
              <a:spcBef>
                <a:spcPts val="0"/>
              </a:spcBef>
              <a:spcAft>
                <a:spcPts val="500"/>
              </a:spcAft>
              <a:defRPr sz="1200" b="1">
                <a:solidFill>
                  <a:srgbClr val="2563EB"/>
                </a:solidFill>
                <a:latin typeface="Arial"/>
              </a:defRPr>
            </a:pPr>
            <a:r>
              <a:t>Teaching example  /  One word per token</a:t>
            </a:r>
          </a:p>
        </p:txBody>
      </p:sp>
      <p:sp>
        <p:nvSpPr>
          <p:cNvPr id="11" name="Rounded Rectangle 10"/>
          <p:cNvSpPr/>
          <p:nvPr/>
        </p:nvSpPr>
        <p:spPr>
          <a:xfrm>
            <a:off x="594360" y="2386584"/>
            <a:ext cx="2176272" cy="6400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514600"/>
            <a:ext cx="2029968" cy="384048"/>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What</a:t>
            </a:r>
          </a:p>
        </p:txBody>
      </p:sp>
      <p:sp>
        <p:nvSpPr>
          <p:cNvPr id="13" name="Rounded Rectangle 12"/>
          <p:cNvSpPr/>
          <p:nvPr/>
        </p:nvSpPr>
        <p:spPr>
          <a:xfrm>
            <a:off x="2798064" y="2386584"/>
            <a:ext cx="2176272" cy="6400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71216" y="2514600"/>
            <a:ext cx="2029968" cy="384048"/>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does</a:t>
            </a:r>
          </a:p>
        </p:txBody>
      </p:sp>
      <p:sp>
        <p:nvSpPr>
          <p:cNvPr id="15" name="Rounded Rectangle 14"/>
          <p:cNvSpPr/>
          <p:nvPr/>
        </p:nvSpPr>
        <p:spPr>
          <a:xfrm>
            <a:off x="5001768" y="2386584"/>
            <a:ext cx="2176272" cy="6400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2514600"/>
            <a:ext cx="2029968" cy="384048"/>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Kubernetes</a:t>
            </a:r>
          </a:p>
        </p:txBody>
      </p:sp>
      <p:sp>
        <p:nvSpPr>
          <p:cNvPr id="17" name="Rounded Rectangle 16"/>
          <p:cNvSpPr/>
          <p:nvPr/>
        </p:nvSpPr>
        <p:spPr>
          <a:xfrm>
            <a:off x="7205472" y="2386584"/>
            <a:ext cx="2176272" cy="6400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78624" y="2514600"/>
            <a:ext cx="2029968" cy="384048"/>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do</a:t>
            </a:r>
          </a:p>
        </p:txBody>
      </p:sp>
      <p:sp>
        <p:nvSpPr>
          <p:cNvPr id="19" name="Rounded Rectangle 18"/>
          <p:cNvSpPr/>
          <p:nvPr/>
        </p:nvSpPr>
        <p:spPr>
          <a:xfrm>
            <a:off x="9409176" y="2386584"/>
            <a:ext cx="2176272" cy="6400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82328" y="2514600"/>
            <a:ext cx="2029968" cy="384048"/>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a:t>
            </a:r>
          </a:p>
        </p:txBody>
      </p:sp>
      <p:sp>
        <p:nvSpPr>
          <p:cNvPr id="21" name="TextBox 20"/>
          <p:cNvSpPr txBox="1"/>
          <p:nvPr/>
        </p:nvSpPr>
        <p:spPr>
          <a:xfrm>
            <a:off x="594360" y="3236976"/>
            <a:ext cx="10991088" cy="29260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Process the prompt positions together, with attention only to earlier or current positions.</a:t>
            </a:r>
          </a:p>
        </p:txBody>
      </p:sp>
      <p:sp>
        <p:nvSpPr>
          <p:cNvPr id="22" name="Rounded Rectangle 21"/>
          <p:cNvSpPr/>
          <p:nvPr/>
        </p:nvSpPr>
        <p:spPr>
          <a:xfrm>
            <a:off x="594360" y="3813048"/>
            <a:ext cx="2743200"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904487"/>
            <a:ext cx="50292" cy="9326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931920"/>
            <a:ext cx="2468880" cy="393192"/>
          </a:xfrm>
          <a:prstGeom prst="rect">
            <a:avLst/>
          </a:prstGeom>
          <a:noFill/>
        </p:spPr>
        <p:txBody>
          <a:bodyPr wrap="square" lIns="13716" rIns="13716" tIns="13716" bIns="13716">
            <a:spAutoFit/>
          </a:bodyPr>
          <a:lstStyle/>
          <a:p>
            <a:pPr algn="ctr">
              <a:spcBef>
                <a:spcPts val="0"/>
              </a:spcBef>
              <a:spcAft>
                <a:spcPts val="500"/>
              </a:spcAft>
              <a:defRPr sz="2000" b="1">
                <a:solidFill>
                  <a:srgbClr val="2563EB"/>
                </a:solidFill>
                <a:latin typeface="Arial"/>
              </a:defRPr>
            </a:pPr>
            <a:r>
              <a:t>5 prompt positions</a:t>
            </a:r>
          </a:p>
        </p:txBody>
      </p:sp>
      <p:sp>
        <p:nvSpPr>
          <p:cNvPr id="25" name="TextBox 24"/>
          <p:cNvSpPr txBox="1"/>
          <p:nvPr/>
        </p:nvSpPr>
        <p:spPr>
          <a:xfrm>
            <a:off x="740664" y="4370831"/>
            <a:ext cx="2450592"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4 words + punctuation</a:t>
            </a:r>
          </a:p>
        </p:txBody>
      </p:sp>
      <p:sp>
        <p:nvSpPr>
          <p:cNvPr id="26" name="Rounded Rectangle 25"/>
          <p:cNvSpPr/>
          <p:nvPr/>
        </p:nvSpPr>
        <p:spPr>
          <a:xfrm>
            <a:off x="3794760" y="3813048"/>
            <a:ext cx="3803904"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94760" y="3904487"/>
            <a:ext cx="50292" cy="93268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0" y="3931920"/>
            <a:ext cx="3529584" cy="393192"/>
          </a:xfrm>
          <a:prstGeom prst="rect">
            <a:avLst/>
          </a:prstGeom>
          <a:noFill/>
        </p:spPr>
        <p:txBody>
          <a:bodyPr wrap="square" lIns="13716" rIns="13716" tIns="13716" bIns="13716">
            <a:spAutoFit/>
          </a:bodyPr>
          <a:lstStyle/>
          <a:p>
            <a:pPr algn="ctr">
              <a:spcBef>
                <a:spcPts val="0"/>
              </a:spcBef>
              <a:spcAft>
                <a:spcPts val="500"/>
              </a:spcAft>
              <a:defRPr sz="2000" b="1">
                <a:solidFill>
                  <a:srgbClr val="087F8C"/>
                </a:solidFill>
                <a:latin typeface="Arial"/>
              </a:defRPr>
            </a:pPr>
            <a:r>
              <a:t>Causal prefill</a:t>
            </a:r>
          </a:p>
        </p:txBody>
      </p:sp>
      <p:sp>
        <p:nvSpPr>
          <p:cNvPr id="29" name="TextBox 28"/>
          <p:cNvSpPr txBox="1"/>
          <p:nvPr/>
        </p:nvSpPr>
        <p:spPr>
          <a:xfrm>
            <a:off x="3941064" y="4370831"/>
            <a:ext cx="3511296"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No attention to future positions</a:t>
            </a:r>
          </a:p>
        </p:txBody>
      </p:sp>
      <p:sp>
        <p:nvSpPr>
          <p:cNvPr id="30" name="Rounded Rectangle 29"/>
          <p:cNvSpPr/>
          <p:nvPr/>
        </p:nvSpPr>
        <p:spPr>
          <a:xfrm>
            <a:off x="8229600" y="3813048"/>
            <a:ext cx="3355848"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3904487"/>
            <a:ext cx="50292" cy="932688"/>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66760" y="3931920"/>
            <a:ext cx="3081528" cy="393192"/>
          </a:xfrm>
          <a:prstGeom prst="rect">
            <a:avLst/>
          </a:prstGeom>
          <a:noFill/>
        </p:spPr>
        <p:txBody>
          <a:bodyPr wrap="square" lIns="13716" rIns="13716" tIns="13716" bIns="13716">
            <a:spAutoFit/>
          </a:bodyPr>
          <a:lstStyle/>
          <a:p>
            <a:pPr algn="ctr">
              <a:spcBef>
                <a:spcPts val="0"/>
              </a:spcBef>
              <a:spcAft>
                <a:spcPts val="500"/>
              </a:spcAft>
              <a:defRPr sz="2000" b="1">
                <a:solidFill>
                  <a:srgbClr val="7354B8"/>
                </a:solidFill>
                <a:latin typeface="Arial"/>
              </a:defRPr>
            </a:pPr>
            <a:r>
              <a:t>Select “Kubernetes”</a:t>
            </a:r>
          </a:p>
        </p:txBody>
      </p:sp>
      <p:sp>
        <p:nvSpPr>
          <p:cNvPr id="33" name="TextBox 32"/>
          <p:cNvSpPr txBox="1"/>
          <p:nvPr/>
        </p:nvSpPr>
        <p:spPr>
          <a:xfrm>
            <a:off x="8375904" y="4370831"/>
            <a:ext cx="3063240"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Final prompt-position logits</a:t>
            </a:r>
          </a:p>
        </p:txBody>
      </p:sp>
      <p:cxnSp>
        <p:nvCxnSpPr>
          <p:cNvPr id="34" name="Connector 33"/>
          <p:cNvCxnSpPr/>
          <p:nvPr/>
        </p:nvCxnSpPr>
        <p:spPr>
          <a:xfrm>
            <a:off x="3337560" y="4361688"/>
            <a:ext cx="4572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598664" y="4361688"/>
            <a:ext cx="630936"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696712" y="4928616"/>
            <a:ext cx="0" cy="173736"/>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94360" y="5120640"/>
            <a:ext cx="10991088"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193792"/>
            <a:ext cx="10625328" cy="265176"/>
          </a:xfrm>
          <a:prstGeom prst="rect">
            <a:avLst/>
          </a:prstGeom>
          <a:noFill/>
        </p:spPr>
        <p:txBody>
          <a:bodyPr wrap="square" lIns="13716" rIns="13716" tIns="13716" bIns="13716">
            <a:spAutoFit/>
          </a:bodyPr>
          <a:lstStyle/>
          <a:p>
            <a:pPr>
              <a:spcBef>
                <a:spcPts val="0"/>
              </a:spcBef>
              <a:spcAft>
                <a:spcPts val="500"/>
              </a:spcAft>
              <a:defRPr sz="1600" b="0">
                <a:solidFill>
                  <a:srgbClr val="087F8C"/>
                </a:solidFill>
                <a:latin typeface="Arial"/>
              </a:defRPr>
            </a:pPr>
            <a:r>
              <a:t>Prompt KV = per-layer attention keys + values for the 5 processed prompt positions.</a:t>
            </a:r>
          </a:p>
        </p:txBody>
      </p:sp>
      <p:sp>
        <p:nvSpPr>
          <p:cNvPr id="39" name="TextBox 38"/>
          <p:cNvSpPr txBox="1"/>
          <p:nvPr/>
        </p:nvSpPr>
        <p:spPr>
          <a:xfrm>
            <a:off x="594360" y="5596128"/>
            <a:ext cx="10991088" cy="201168"/>
          </a:xfrm>
          <a:prstGeom prst="rect">
            <a:avLst/>
          </a:prstGeom>
          <a:noFill/>
        </p:spPr>
        <p:txBody>
          <a:bodyPr wrap="square" lIns="13716" rIns="13716" tIns="13716" bIns="13716">
            <a:spAutoFit/>
          </a:bodyPr>
          <a:lstStyle/>
          <a:p>
            <a:pPr>
              <a:spcBef>
                <a:spcPts val="0"/>
              </a:spcBef>
              <a:spcAft>
                <a:spcPts val="500"/>
              </a:spcAft>
              <a:defRPr sz="1100" b="0">
                <a:solidFill>
                  <a:srgbClr val="586A80"/>
                </a:solidFill>
                <a:latin typeface="Arial"/>
              </a:defRPr>
            </a:pPr>
            <a:r>
              <a:t>Illustrative word-level tokens; not a real model tokenizer.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Foundations — decode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Decode: consume one token, select the next, repeat</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Illustrative output: “Kubernetes helps teams deploy and scale applications.”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Append KV for the consumed token—not the newly selected token. Read past KV; do not recompute it.</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04 / 56</a:t>
            </a:r>
          </a:p>
        </p:txBody>
      </p:sp>
      <p:sp>
        <p:nvSpPr>
          <p:cNvPr id="10" name="TextBox 9"/>
          <p:cNvSpPr txBox="1"/>
          <p:nvPr/>
        </p:nvSpPr>
        <p:spPr>
          <a:xfrm>
            <a:off x="594360" y="1920240"/>
            <a:ext cx="10991088" cy="219456"/>
          </a:xfrm>
          <a:prstGeom prst="rect">
            <a:avLst/>
          </a:prstGeom>
          <a:noFill/>
        </p:spPr>
        <p:txBody>
          <a:bodyPr wrap="square" lIns="13716" rIns="13716" tIns="13716" bIns="13716">
            <a:spAutoFit/>
          </a:bodyPr>
          <a:lstStyle/>
          <a:p>
            <a:pPr>
              <a:spcBef>
                <a:spcPts val="0"/>
              </a:spcBef>
              <a:spcAft>
                <a:spcPts val="500"/>
              </a:spcAft>
              <a:defRPr sz="1100" b="0">
                <a:solidFill>
                  <a:srgbClr val="586A80"/>
                </a:solidFill>
                <a:latin typeface="Arial"/>
              </a:defRPr>
            </a:pPr>
            <a:r>
              <a:t>Illustrative word-level tokens; not a real model tokenizer.</a:t>
            </a:r>
          </a:p>
        </p:txBody>
      </p:sp>
      <p:sp>
        <p:nvSpPr>
          <p:cNvPr id="11" name="Rectangle 10"/>
          <p:cNvSpPr/>
          <p:nvPr/>
        </p:nvSpPr>
        <p:spPr>
          <a:xfrm>
            <a:off x="594360" y="2221992"/>
            <a:ext cx="667512" cy="31089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267712"/>
            <a:ext cx="521207" cy="219456"/>
          </a:xfrm>
          <a:prstGeom prst="rect">
            <a:avLst/>
          </a:prstGeom>
          <a:noFill/>
        </p:spPr>
        <p:txBody>
          <a:bodyPr wrap="square" lIns="13716" rIns="13716" tIns="13716" bIns="13716">
            <a:spAutoFit/>
          </a:bodyPr>
          <a:lstStyle/>
          <a:p>
            <a:pPr>
              <a:spcBef>
                <a:spcPts val="0"/>
              </a:spcBef>
              <a:spcAft>
                <a:spcPts val="500"/>
              </a:spcAft>
              <a:defRPr sz="1000" b="1">
                <a:solidFill>
                  <a:srgbClr val="FFFFFF"/>
                </a:solidFill>
                <a:latin typeface="Arial"/>
              </a:defRPr>
            </a:pPr>
            <a:r>
              <a:t>Step</a:t>
            </a:r>
          </a:p>
        </p:txBody>
      </p:sp>
      <p:sp>
        <p:nvSpPr>
          <p:cNvPr id="13" name="Rectangle 12"/>
          <p:cNvSpPr/>
          <p:nvPr/>
        </p:nvSpPr>
        <p:spPr>
          <a:xfrm>
            <a:off x="1280160" y="2221992"/>
            <a:ext cx="2834640" cy="31089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3312" y="2267712"/>
            <a:ext cx="2688336" cy="219456"/>
          </a:xfrm>
          <a:prstGeom prst="rect">
            <a:avLst/>
          </a:prstGeom>
          <a:noFill/>
        </p:spPr>
        <p:txBody>
          <a:bodyPr wrap="square" lIns="13716" rIns="13716" tIns="13716" bIns="13716">
            <a:spAutoFit/>
          </a:bodyPr>
          <a:lstStyle/>
          <a:p>
            <a:pPr>
              <a:spcBef>
                <a:spcPts val="0"/>
              </a:spcBef>
              <a:spcAft>
                <a:spcPts val="500"/>
              </a:spcAft>
              <a:defRPr sz="1000" b="1">
                <a:solidFill>
                  <a:srgbClr val="FFFFFF"/>
                </a:solidFill>
                <a:latin typeface="Arial"/>
              </a:defRPr>
            </a:pPr>
            <a:r>
              <a:t>Consume + read past KV</a:t>
            </a:r>
          </a:p>
        </p:txBody>
      </p:sp>
      <p:sp>
        <p:nvSpPr>
          <p:cNvPr id="15" name="Rectangle 14"/>
          <p:cNvSpPr/>
          <p:nvPr/>
        </p:nvSpPr>
        <p:spPr>
          <a:xfrm>
            <a:off x="4160520" y="2221992"/>
            <a:ext cx="3675887" cy="31089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33672" y="2267712"/>
            <a:ext cx="3529583" cy="219456"/>
          </a:xfrm>
          <a:prstGeom prst="rect">
            <a:avLst/>
          </a:prstGeom>
          <a:noFill/>
        </p:spPr>
        <p:txBody>
          <a:bodyPr wrap="square" lIns="13716" rIns="13716" tIns="13716" bIns="13716">
            <a:spAutoFit/>
          </a:bodyPr>
          <a:lstStyle/>
          <a:p>
            <a:pPr>
              <a:spcBef>
                <a:spcPts val="0"/>
              </a:spcBef>
              <a:spcAft>
                <a:spcPts val="500"/>
              </a:spcAft>
              <a:defRPr sz="1000" b="1">
                <a:solidFill>
                  <a:srgbClr val="FFFFFF"/>
                </a:solidFill>
                <a:latin typeface="Arial"/>
              </a:defRPr>
            </a:pPr>
            <a:r>
              <a:t>Append to per-layer KV</a:t>
            </a:r>
          </a:p>
        </p:txBody>
      </p:sp>
      <p:sp>
        <p:nvSpPr>
          <p:cNvPr id="17" name="Rectangle 16"/>
          <p:cNvSpPr/>
          <p:nvPr/>
        </p:nvSpPr>
        <p:spPr>
          <a:xfrm>
            <a:off x="7882127" y="2221992"/>
            <a:ext cx="3703320" cy="31089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2267712"/>
            <a:ext cx="3557015" cy="219456"/>
          </a:xfrm>
          <a:prstGeom prst="rect">
            <a:avLst/>
          </a:prstGeom>
          <a:noFill/>
        </p:spPr>
        <p:txBody>
          <a:bodyPr wrap="square" lIns="13716" rIns="13716" tIns="13716" bIns="13716">
            <a:spAutoFit/>
          </a:bodyPr>
          <a:lstStyle/>
          <a:p>
            <a:pPr>
              <a:spcBef>
                <a:spcPts val="0"/>
              </a:spcBef>
              <a:spcAft>
                <a:spcPts val="500"/>
              </a:spcAft>
              <a:defRPr sz="1000" b="1">
                <a:solidFill>
                  <a:srgbClr val="FFFFFF"/>
                </a:solidFill>
                <a:latin typeface="Arial"/>
              </a:defRPr>
            </a:pPr>
            <a:r>
              <a:t>Select next output</a:t>
            </a:r>
          </a:p>
        </p:txBody>
      </p:sp>
      <p:sp>
        <p:nvSpPr>
          <p:cNvPr id="19" name="Rectangle 18"/>
          <p:cNvSpPr/>
          <p:nvPr/>
        </p:nvSpPr>
        <p:spPr>
          <a:xfrm>
            <a:off x="594360" y="2587752"/>
            <a:ext cx="109910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2619756"/>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1</a:t>
            </a:r>
          </a:p>
        </p:txBody>
      </p:sp>
      <p:sp>
        <p:nvSpPr>
          <p:cNvPr id="21" name="TextBox 20"/>
          <p:cNvSpPr txBox="1"/>
          <p:nvPr/>
        </p:nvSpPr>
        <p:spPr>
          <a:xfrm>
            <a:off x="1362456" y="2619756"/>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Kubernetes</a:t>
            </a:r>
          </a:p>
        </p:txBody>
      </p:sp>
      <p:sp>
        <p:nvSpPr>
          <p:cNvPr id="22" name="TextBox 21"/>
          <p:cNvSpPr txBox="1"/>
          <p:nvPr/>
        </p:nvSpPr>
        <p:spPr>
          <a:xfrm>
            <a:off x="4242816" y="2619756"/>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“Kubernetes”</a:t>
            </a:r>
          </a:p>
        </p:txBody>
      </p:sp>
      <p:sp>
        <p:nvSpPr>
          <p:cNvPr id="23" name="TextBox 22"/>
          <p:cNvSpPr txBox="1"/>
          <p:nvPr/>
        </p:nvSpPr>
        <p:spPr>
          <a:xfrm>
            <a:off x="7964424" y="2619756"/>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helps</a:t>
            </a:r>
          </a:p>
        </p:txBody>
      </p:sp>
      <p:sp>
        <p:nvSpPr>
          <p:cNvPr id="24" name="Rectangle 23"/>
          <p:cNvSpPr/>
          <p:nvPr/>
        </p:nvSpPr>
        <p:spPr>
          <a:xfrm>
            <a:off x="594360" y="2880360"/>
            <a:ext cx="10991088" cy="27432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2912364"/>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2</a:t>
            </a:r>
          </a:p>
        </p:txBody>
      </p:sp>
      <p:sp>
        <p:nvSpPr>
          <p:cNvPr id="26" name="TextBox 25"/>
          <p:cNvSpPr txBox="1"/>
          <p:nvPr/>
        </p:nvSpPr>
        <p:spPr>
          <a:xfrm>
            <a:off x="1362456" y="2912364"/>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helps</a:t>
            </a:r>
          </a:p>
        </p:txBody>
      </p:sp>
      <p:sp>
        <p:nvSpPr>
          <p:cNvPr id="27" name="TextBox 26"/>
          <p:cNvSpPr txBox="1"/>
          <p:nvPr/>
        </p:nvSpPr>
        <p:spPr>
          <a:xfrm>
            <a:off x="4242816" y="2912364"/>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“helps”</a:t>
            </a:r>
          </a:p>
        </p:txBody>
      </p:sp>
      <p:sp>
        <p:nvSpPr>
          <p:cNvPr id="28" name="TextBox 27"/>
          <p:cNvSpPr txBox="1"/>
          <p:nvPr/>
        </p:nvSpPr>
        <p:spPr>
          <a:xfrm>
            <a:off x="7964424" y="2912364"/>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teams</a:t>
            </a:r>
          </a:p>
        </p:txBody>
      </p:sp>
      <p:sp>
        <p:nvSpPr>
          <p:cNvPr id="29" name="Rectangle 28"/>
          <p:cNvSpPr/>
          <p:nvPr/>
        </p:nvSpPr>
        <p:spPr>
          <a:xfrm>
            <a:off x="594360" y="3172968"/>
            <a:ext cx="109910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3204972"/>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3</a:t>
            </a:r>
          </a:p>
        </p:txBody>
      </p:sp>
      <p:sp>
        <p:nvSpPr>
          <p:cNvPr id="31" name="TextBox 30"/>
          <p:cNvSpPr txBox="1"/>
          <p:nvPr/>
        </p:nvSpPr>
        <p:spPr>
          <a:xfrm>
            <a:off x="1362456" y="3204972"/>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teams</a:t>
            </a:r>
          </a:p>
        </p:txBody>
      </p:sp>
      <p:sp>
        <p:nvSpPr>
          <p:cNvPr id="32" name="TextBox 31"/>
          <p:cNvSpPr txBox="1"/>
          <p:nvPr/>
        </p:nvSpPr>
        <p:spPr>
          <a:xfrm>
            <a:off x="4242816" y="3204972"/>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“teams”</a:t>
            </a:r>
          </a:p>
        </p:txBody>
      </p:sp>
      <p:sp>
        <p:nvSpPr>
          <p:cNvPr id="33" name="TextBox 32"/>
          <p:cNvSpPr txBox="1"/>
          <p:nvPr/>
        </p:nvSpPr>
        <p:spPr>
          <a:xfrm>
            <a:off x="7964424" y="3204972"/>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deploy</a:t>
            </a:r>
          </a:p>
        </p:txBody>
      </p:sp>
      <p:sp>
        <p:nvSpPr>
          <p:cNvPr id="34" name="Rectangle 33"/>
          <p:cNvSpPr/>
          <p:nvPr/>
        </p:nvSpPr>
        <p:spPr>
          <a:xfrm>
            <a:off x="594360" y="3465576"/>
            <a:ext cx="10991088" cy="27432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3497580"/>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4</a:t>
            </a:r>
          </a:p>
        </p:txBody>
      </p:sp>
      <p:sp>
        <p:nvSpPr>
          <p:cNvPr id="36" name="TextBox 35"/>
          <p:cNvSpPr txBox="1"/>
          <p:nvPr/>
        </p:nvSpPr>
        <p:spPr>
          <a:xfrm>
            <a:off x="1362456" y="3497580"/>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deploy</a:t>
            </a:r>
          </a:p>
        </p:txBody>
      </p:sp>
      <p:sp>
        <p:nvSpPr>
          <p:cNvPr id="37" name="TextBox 36"/>
          <p:cNvSpPr txBox="1"/>
          <p:nvPr/>
        </p:nvSpPr>
        <p:spPr>
          <a:xfrm>
            <a:off x="4242816" y="3497580"/>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“deploy”</a:t>
            </a:r>
          </a:p>
        </p:txBody>
      </p:sp>
      <p:sp>
        <p:nvSpPr>
          <p:cNvPr id="38" name="TextBox 37"/>
          <p:cNvSpPr txBox="1"/>
          <p:nvPr/>
        </p:nvSpPr>
        <p:spPr>
          <a:xfrm>
            <a:off x="7964424" y="3497580"/>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and</a:t>
            </a:r>
          </a:p>
        </p:txBody>
      </p:sp>
      <p:sp>
        <p:nvSpPr>
          <p:cNvPr id="39" name="Rectangle 38"/>
          <p:cNvSpPr/>
          <p:nvPr/>
        </p:nvSpPr>
        <p:spPr>
          <a:xfrm>
            <a:off x="594360" y="3758184"/>
            <a:ext cx="109910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7512" y="3790188"/>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5</a:t>
            </a:r>
          </a:p>
        </p:txBody>
      </p:sp>
      <p:sp>
        <p:nvSpPr>
          <p:cNvPr id="41" name="TextBox 40"/>
          <p:cNvSpPr txBox="1"/>
          <p:nvPr/>
        </p:nvSpPr>
        <p:spPr>
          <a:xfrm>
            <a:off x="1362456" y="3790188"/>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and</a:t>
            </a:r>
          </a:p>
        </p:txBody>
      </p:sp>
      <p:sp>
        <p:nvSpPr>
          <p:cNvPr id="42" name="TextBox 41"/>
          <p:cNvSpPr txBox="1"/>
          <p:nvPr/>
        </p:nvSpPr>
        <p:spPr>
          <a:xfrm>
            <a:off x="4242816" y="3790188"/>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“and”</a:t>
            </a:r>
          </a:p>
        </p:txBody>
      </p:sp>
      <p:sp>
        <p:nvSpPr>
          <p:cNvPr id="43" name="TextBox 42"/>
          <p:cNvSpPr txBox="1"/>
          <p:nvPr/>
        </p:nvSpPr>
        <p:spPr>
          <a:xfrm>
            <a:off x="7964424" y="3790188"/>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scale</a:t>
            </a:r>
          </a:p>
        </p:txBody>
      </p:sp>
      <p:sp>
        <p:nvSpPr>
          <p:cNvPr id="44" name="Rectangle 43"/>
          <p:cNvSpPr/>
          <p:nvPr/>
        </p:nvSpPr>
        <p:spPr>
          <a:xfrm>
            <a:off x="594360" y="4050791"/>
            <a:ext cx="10991088" cy="27432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4082796"/>
            <a:ext cx="502920" cy="237744"/>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6</a:t>
            </a:r>
          </a:p>
        </p:txBody>
      </p:sp>
      <p:sp>
        <p:nvSpPr>
          <p:cNvPr id="46" name="TextBox 45"/>
          <p:cNvSpPr txBox="1"/>
          <p:nvPr/>
        </p:nvSpPr>
        <p:spPr>
          <a:xfrm>
            <a:off x="1362456" y="4082796"/>
            <a:ext cx="26517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scale</a:t>
            </a:r>
          </a:p>
        </p:txBody>
      </p:sp>
      <p:sp>
        <p:nvSpPr>
          <p:cNvPr id="47" name="TextBox 46"/>
          <p:cNvSpPr txBox="1"/>
          <p:nvPr/>
        </p:nvSpPr>
        <p:spPr>
          <a:xfrm>
            <a:off x="4242816" y="4082796"/>
            <a:ext cx="3493008"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K/V for “scale”</a:t>
            </a:r>
          </a:p>
        </p:txBody>
      </p:sp>
      <p:sp>
        <p:nvSpPr>
          <p:cNvPr id="48" name="TextBox 47"/>
          <p:cNvSpPr txBox="1"/>
          <p:nvPr/>
        </p:nvSpPr>
        <p:spPr>
          <a:xfrm>
            <a:off x="7964424" y="4082796"/>
            <a:ext cx="352044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applications</a:t>
            </a:r>
          </a:p>
        </p:txBody>
      </p:sp>
      <p:sp>
        <p:nvSpPr>
          <p:cNvPr id="49" name="TextBox 48"/>
          <p:cNvSpPr txBox="1"/>
          <p:nvPr/>
        </p:nvSpPr>
        <p:spPr>
          <a:xfrm>
            <a:off x="594360" y="4425696"/>
            <a:ext cx="10991088" cy="228600"/>
          </a:xfrm>
          <a:prstGeom prst="rect">
            <a:avLst/>
          </a:prstGeom>
          <a:noFill/>
        </p:spPr>
        <p:txBody>
          <a:bodyPr wrap="square" lIns="13716" rIns="13716" tIns="13716" bIns="13716">
            <a:spAutoFit/>
          </a:bodyPr>
          <a:lstStyle/>
          <a:p>
            <a:pPr>
              <a:spcBef>
                <a:spcPts val="0"/>
              </a:spcBef>
              <a:spcAft>
                <a:spcPts val="500"/>
              </a:spcAft>
              <a:defRPr sz="1400" b="0">
                <a:solidFill>
                  <a:srgbClr val="586A80"/>
                </a:solidFill>
                <a:latin typeface="Arial"/>
              </a:defRPr>
            </a:pPr>
            <a:r>
              <a:t>Repeat until the answer is complete. Each selected token becomes the next input.</a:t>
            </a:r>
          </a:p>
        </p:txBody>
      </p:sp>
      <p:sp>
        <p:nvSpPr>
          <p:cNvPr id="50" name="TextBox 49"/>
          <p:cNvSpPr txBox="1"/>
          <p:nvPr/>
        </p:nvSpPr>
        <p:spPr>
          <a:xfrm>
            <a:off x="594360" y="4736592"/>
            <a:ext cx="10881360" cy="219456"/>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Client arrivals  /  First 6 words shown  /  Schematic, not to scale</a:t>
            </a:r>
          </a:p>
        </p:txBody>
      </p:sp>
      <p:sp>
        <p:nvSpPr>
          <p:cNvPr id="51" name="Rounded Rectangle 50"/>
          <p:cNvSpPr/>
          <p:nvPr/>
        </p:nvSpPr>
        <p:spPr>
          <a:xfrm>
            <a:off x="594360" y="5285232"/>
            <a:ext cx="1325880" cy="356616"/>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7220" y="5349240"/>
            <a:ext cx="1280160" cy="228600"/>
          </a:xfrm>
          <a:prstGeom prst="rect">
            <a:avLst/>
          </a:prstGeom>
          <a:noFill/>
        </p:spPr>
        <p:txBody>
          <a:bodyPr wrap="square" lIns="13716" rIns="13716" tIns="13716" bIns="13716">
            <a:spAutoFit/>
          </a:bodyPr>
          <a:lstStyle/>
          <a:p>
            <a:pPr algn="ctr">
              <a:spcBef>
                <a:spcPts val="0"/>
              </a:spcBef>
              <a:spcAft>
                <a:spcPts val="500"/>
              </a:spcAft>
              <a:defRPr sz="1200" b="1">
                <a:solidFill>
                  <a:srgbClr val="2563EB"/>
                </a:solidFill>
                <a:latin typeface="Arial"/>
              </a:defRPr>
            </a:pPr>
            <a:r>
              <a:t>Request</a:t>
            </a:r>
          </a:p>
        </p:txBody>
      </p:sp>
      <p:sp>
        <p:nvSpPr>
          <p:cNvPr id="53" name="Rounded Rectangle 52"/>
          <p:cNvSpPr/>
          <p:nvPr/>
        </p:nvSpPr>
        <p:spPr>
          <a:xfrm>
            <a:off x="3703320" y="5285232"/>
            <a:ext cx="1572768" cy="35661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26180" y="5349240"/>
            <a:ext cx="1527048" cy="228600"/>
          </a:xfrm>
          <a:prstGeom prst="rect">
            <a:avLst/>
          </a:prstGeom>
          <a:noFill/>
        </p:spPr>
        <p:txBody>
          <a:bodyPr wrap="square" lIns="13716" rIns="13716" tIns="13716" bIns="13716">
            <a:spAutoFit/>
          </a:bodyPr>
          <a:lstStyle/>
          <a:p>
            <a:pPr algn="ctr">
              <a:spcBef>
                <a:spcPts val="0"/>
              </a:spcBef>
              <a:spcAft>
                <a:spcPts val="500"/>
              </a:spcAft>
              <a:defRPr sz="1200" b="1">
                <a:solidFill>
                  <a:srgbClr val="087F8C"/>
                </a:solidFill>
                <a:latin typeface="Arial"/>
              </a:defRPr>
            </a:pPr>
            <a:r>
              <a:t>Kubernetes</a:t>
            </a:r>
          </a:p>
        </p:txBody>
      </p:sp>
      <p:cxnSp>
        <p:nvCxnSpPr>
          <p:cNvPr id="55" name="Connector 54"/>
          <p:cNvCxnSpPr/>
          <p:nvPr/>
        </p:nvCxnSpPr>
        <p:spPr>
          <a:xfrm>
            <a:off x="1920240" y="5463540"/>
            <a:ext cx="1783080" cy="0"/>
          </a:xfrm>
          <a:prstGeom prst="line">
            <a:avLst/>
          </a:prstGeom>
          <a:ln w="1778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5047488"/>
            <a:ext cx="3108960" cy="201168"/>
          </a:xfrm>
          <a:prstGeom prst="rect">
            <a:avLst/>
          </a:prstGeom>
          <a:noFill/>
        </p:spPr>
        <p:txBody>
          <a:bodyPr wrap="square" lIns="13716" rIns="13716" tIns="13716" bIns="13716">
            <a:spAutoFit/>
          </a:bodyPr>
          <a:lstStyle/>
          <a:p>
            <a:pPr algn="ctr">
              <a:spcBef>
                <a:spcPts val="0"/>
              </a:spcBef>
              <a:spcAft>
                <a:spcPts val="500"/>
              </a:spcAft>
              <a:defRPr sz="1100" b="1">
                <a:solidFill>
                  <a:srgbClr val="087F8C"/>
                </a:solidFill>
                <a:latin typeface="Arial"/>
              </a:defRPr>
            </a:pPr>
            <a:r>
              <a:t>TTFT → first word</a:t>
            </a:r>
          </a:p>
        </p:txBody>
      </p:sp>
      <p:sp>
        <p:nvSpPr>
          <p:cNvPr id="57" name="Rounded Rectangle 56"/>
          <p:cNvSpPr/>
          <p:nvPr/>
        </p:nvSpPr>
        <p:spPr>
          <a:xfrm>
            <a:off x="5440680" y="5285232"/>
            <a:ext cx="1069848"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63540" y="5349240"/>
            <a:ext cx="1024127" cy="22860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helps</a:t>
            </a:r>
          </a:p>
        </p:txBody>
      </p:sp>
      <p:cxnSp>
        <p:nvCxnSpPr>
          <p:cNvPr id="59" name="Connector 58"/>
          <p:cNvCxnSpPr/>
          <p:nvPr/>
        </p:nvCxnSpPr>
        <p:spPr>
          <a:xfrm>
            <a:off x="5276088" y="5463540"/>
            <a:ext cx="164592"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703320" y="5047488"/>
            <a:ext cx="1737360" cy="201168"/>
          </a:xfrm>
          <a:prstGeom prst="rect">
            <a:avLst/>
          </a:prstGeom>
          <a:noFill/>
        </p:spPr>
        <p:txBody>
          <a:bodyPr wrap="square" lIns="13716" rIns="13716" tIns="13716" bIns="13716">
            <a:spAutoFit/>
          </a:bodyPr>
          <a:lstStyle/>
          <a:p>
            <a:pPr algn="ctr">
              <a:spcBef>
                <a:spcPts val="0"/>
              </a:spcBef>
              <a:spcAft>
                <a:spcPts val="500"/>
              </a:spcAft>
              <a:defRPr sz="1100" b="1">
                <a:solidFill>
                  <a:srgbClr val="7354B8"/>
                </a:solidFill>
                <a:latin typeface="Arial"/>
              </a:defRPr>
            </a:pPr>
            <a:r>
              <a:t>ITL 1</a:t>
            </a:r>
          </a:p>
        </p:txBody>
      </p:sp>
      <p:sp>
        <p:nvSpPr>
          <p:cNvPr id="61" name="Rounded Rectangle 60"/>
          <p:cNvSpPr/>
          <p:nvPr/>
        </p:nvSpPr>
        <p:spPr>
          <a:xfrm>
            <a:off x="6675120" y="5285232"/>
            <a:ext cx="1069848"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97980" y="5349240"/>
            <a:ext cx="1024127" cy="22860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teams</a:t>
            </a:r>
          </a:p>
        </p:txBody>
      </p:sp>
      <p:cxnSp>
        <p:nvCxnSpPr>
          <p:cNvPr id="63" name="Connector 62"/>
          <p:cNvCxnSpPr/>
          <p:nvPr/>
        </p:nvCxnSpPr>
        <p:spPr>
          <a:xfrm>
            <a:off x="6510528" y="5463540"/>
            <a:ext cx="164592"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440680" y="5047488"/>
            <a:ext cx="1234439" cy="201168"/>
          </a:xfrm>
          <a:prstGeom prst="rect">
            <a:avLst/>
          </a:prstGeom>
          <a:noFill/>
        </p:spPr>
        <p:txBody>
          <a:bodyPr wrap="square" lIns="13716" rIns="13716" tIns="13716" bIns="13716">
            <a:spAutoFit/>
          </a:bodyPr>
          <a:lstStyle/>
          <a:p>
            <a:pPr algn="ctr">
              <a:spcBef>
                <a:spcPts val="0"/>
              </a:spcBef>
              <a:spcAft>
                <a:spcPts val="500"/>
              </a:spcAft>
              <a:defRPr sz="1100" b="1">
                <a:solidFill>
                  <a:srgbClr val="7354B8"/>
                </a:solidFill>
                <a:latin typeface="Arial"/>
              </a:defRPr>
            </a:pPr>
            <a:r>
              <a:t>ITL 2</a:t>
            </a:r>
          </a:p>
        </p:txBody>
      </p:sp>
      <p:sp>
        <p:nvSpPr>
          <p:cNvPr id="65" name="Rounded Rectangle 64"/>
          <p:cNvSpPr/>
          <p:nvPr/>
        </p:nvSpPr>
        <p:spPr>
          <a:xfrm>
            <a:off x="7909560" y="5285232"/>
            <a:ext cx="1069848"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32420" y="5349240"/>
            <a:ext cx="1024127" cy="22860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deploy</a:t>
            </a:r>
          </a:p>
        </p:txBody>
      </p:sp>
      <p:cxnSp>
        <p:nvCxnSpPr>
          <p:cNvPr id="67" name="Connector 66"/>
          <p:cNvCxnSpPr/>
          <p:nvPr/>
        </p:nvCxnSpPr>
        <p:spPr>
          <a:xfrm>
            <a:off x="7744967" y="5463540"/>
            <a:ext cx="164593"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675120" y="5047488"/>
            <a:ext cx="1234440" cy="201168"/>
          </a:xfrm>
          <a:prstGeom prst="rect">
            <a:avLst/>
          </a:prstGeom>
          <a:noFill/>
        </p:spPr>
        <p:txBody>
          <a:bodyPr wrap="square" lIns="13716" rIns="13716" tIns="13716" bIns="13716">
            <a:spAutoFit/>
          </a:bodyPr>
          <a:lstStyle/>
          <a:p>
            <a:pPr algn="ctr">
              <a:spcBef>
                <a:spcPts val="0"/>
              </a:spcBef>
              <a:spcAft>
                <a:spcPts val="500"/>
              </a:spcAft>
              <a:defRPr sz="1100" b="1">
                <a:solidFill>
                  <a:srgbClr val="7354B8"/>
                </a:solidFill>
                <a:latin typeface="Arial"/>
              </a:defRPr>
            </a:pPr>
            <a:r>
              <a:t>ITL 3</a:t>
            </a:r>
          </a:p>
        </p:txBody>
      </p:sp>
      <p:sp>
        <p:nvSpPr>
          <p:cNvPr id="69" name="Rounded Rectangle 68"/>
          <p:cNvSpPr/>
          <p:nvPr/>
        </p:nvSpPr>
        <p:spPr>
          <a:xfrm>
            <a:off x="9144000" y="5285232"/>
            <a:ext cx="1069848"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66860" y="5349240"/>
            <a:ext cx="1024127" cy="22860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and</a:t>
            </a:r>
          </a:p>
        </p:txBody>
      </p:sp>
      <p:cxnSp>
        <p:nvCxnSpPr>
          <p:cNvPr id="71" name="Connector 70"/>
          <p:cNvCxnSpPr/>
          <p:nvPr/>
        </p:nvCxnSpPr>
        <p:spPr>
          <a:xfrm>
            <a:off x="8979408" y="5463540"/>
            <a:ext cx="164592"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909560" y="5047488"/>
            <a:ext cx="1234439" cy="201168"/>
          </a:xfrm>
          <a:prstGeom prst="rect">
            <a:avLst/>
          </a:prstGeom>
          <a:noFill/>
        </p:spPr>
        <p:txBody>
          <a:bodyPr wrap="square" lIns="13716" rIns="13716" tIns="13716" bIns="13716">
            <a:spAutoFit/>
          </a:bodyPr>
          <a:lstStyle/>
          <a:p>
            <a:pPr algn="ctr">
              <a:spcBef>
                <a:spcPts val="0"/>
              </a:spcBef>
              <a:spcAft>
                <a:spcPts val="500"/>
              </a:spcAft>
              <a:defRPr sz="1100" b="1">
                <a:solidFill>
                  <a:srgbClr val="7354B8"/>
                </a:solidFill>
                <a:latin typeface="Arial"/>
              </a:defRPr>
            </a:pPr>
            <a:r>
              <a:t>ITL 4</a:t>
            </a:r>
          </a:p>
        </p:txBody>
      </p:sp>
      <p:sp>
        <p:nvSpPr>
          <p:cNvPr id="73" name="Rounded Rectangle 72"/>
          <p:cNvSpPr/>
          <p:nvPr/>
        </p:nvSpPr>
        <p:spPr>
          <a:xfrm>
            <a:off x="10378440" y="5285232"/>
            <a:ext cx="1069848"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401300" y="5349240"/>
            <a:ext cx="1024127" cy="22860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scale</a:t>
            </a:r>
          </a:p>
        </p:txBody>
      </p:sp>
      <p:cxnSp>
        <p:nvCxnSpPr>
          <p:cNvPr id="75" name="Connector 74"/>
          <p:cNvCxnSpPr/>
          <p:nvPr/>
        </p:nvCxnSpPr>
        <p:spPr>
          <a:xfrm>
            <a:off x="10213848" y="5463540"/>
            <a:ext cx="164592"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144000" y="5047488"/>
            <a:ext cx="1234439" cy="201168"/>
          </a:xfrm>
          <a:prstGeom prst="rect">
            <a:avLst/>
          </a:prstGeom>
          <a:noFill/>
        </p:spPr>
        <p:txBody>
          <a:bodyPr wrap="square" lIns="13716" rIns="13716" tIns="13716" bIns="13716">
            <a:spAutoFit/>
          </a:bodyPr>
          <a:lstStyle/>
          <a:p>
            <a:pPr algn="ctr">
              <a:spcBef>
                <a:spcPts val="0"/>
              </a:spcBef>
              <a:spcAft>
                <a:spcPts val="500"/>
              </a:spcAft>
              <a:defRPr sz="1100" b="1">
                <a:solidFill>
                  <a:srgbClr val="7354B8"/>
                </a:solidFill>
                <a:latin typeface="Arial"/>
              </a:defRPr>
            </a:pPr>
            <a:r>
              <a:t>ITL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The problem</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One request. Two different performance targets.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Prefill mainly shapes the wait for the first token; decode shapes the pace after it.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Both affect total response latency and SLO goodput: requests/s meeting the latency targets.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05 / 56</a:t>
            </a:r>
          </a:p>
        </p:txBody>
      </p:sp>
      <p:sp>
        <p:nvSpPr>
          <p:cNvPr id="10" name="Rounded Rectangle 9"/>
          <p:cNvSpPr/>
          <p:nvPr/>
        </p:nvSpPr>
        <p:spPr>
          <a:xfrm>
            <a:off x="502920" y="1975104"/>
            <a:ext cx="1828800"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66544"/>
            <a:ext cx="50292" cy="8046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93976"/>
            <a:ext cx="155448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2563EB"/>
                </a:solidFill>
                <a:latin typeface="Arial"/>
              </a:defRPr>
            </a:pPr>
            <a:r>
              <a:t>Prompt</a:t>
            </a:r>
          </a:p>
        </p:txBody>
      </p:sp>
      <p:sp>
        <p:nvSpPr>
          <p:cNvPr id="13" name="TextBox 12"/>
          <p:cNvSpPr txBox="1"/>
          <p:nvPr/>
        </p:nvSpPr>
        <p:spPr>
          <a:xfrm>
            <a:off x="649224" y="2532888"/>
            <a:ext cx="1536192"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Input tokens</a:t>
            </a:r>
          </a:p>
        </p:txBody>
      </p:sp>
      <p:sp>
        <p:nvSpPr>
          <p:cNvPr id="14" name="Rounded Rectangle 13"/>
          <p:cNvSpPr/>
          <p:nvPr/>
        </p:nvSpPr>
        <p:spPr>
          <a:xfrm>
            <a:off x="2743200" y="1975104"/>
            <a:ext cx="2743200"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2066544"/>
            <a:ext cx="50292" cy="8046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093976"/>
            <a:ext cx="246888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087F8C"/>
                </a:solidFill>
                <a:latin typeface="Arial"/>
              </a:defRPr>
            </a:pPr>
            <a:r>
              <a:t>Prefill</a:t>
            </a:r>
          </a:p>
        </p:txBody>
      </p:sp>
      <p:sp>
        <p:nvSpPr>
          <p:cNvPr id="17" name="TextBox 16"/>
          <p:cNvSpPr txBox="1"/>
          <p:nvPr/>
        </p:nvSpPr>
        <p:spPr>
          <a:xfrm>
            <a:off x="2889504" y="2532888"/>
            <a:ext cx="2450592"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Process uncached input</a:t>
            </a:r>
          </a:p>
        </p:txBody>
      </p:sp>
      <p:sp>
        <p:nvSpPr>
          <p:cNvPr id="18" name="Rounded Rectangle 17"/>
          <p:cNvSpPr/>
          <p:nvPr/>
        </p:nvSpPr>
        <p:spPr>
          <a:xfrm>
            <a:off x="5943600" y="1975104"/>
            <a:ext cx="1828800"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2066544"/>
            <a:ext cx="50292" cy="804672"/>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093976"/>
            <a:ext cx="155448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AE641A"/>
                </a:solidFill>
                <a:latin typeface="Arial"/>
              </a:defRPr>
            </a:pPr>
            <a:r>
              <a:t>KV cache</a:t>
            </a:r>
          </a:p>
        </p:txBody>
      </p:sp>
      <p:sp>
        <p:nvSpPr>
          <p:cNvPr id="21" name="TextBox 20"/>
          <p:cNvSpPr txBox="1"/>
          <p:nvPr/>
        </p:nvSpPr>
        <p:spPr>
          <a:xfrm>
            <a:off x="6089904" y="2532888"/>
            <a:ext cx="1536192"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Attention state</a:t>
            </a:r>
          </a:p>
        </p:txBody>
      </p:sp>
      <p:sp>
        <p:nvSpPr>
          <p:cNvPr id="22" name="Rounded Rectangle 21"/>
          <p:cNvSpPr/>
          <p:nvPr/>
        </p:nvSpPr>
        <p:spPr>
          <a:xfrm>
            <a:off x="8229600" y="1975104"/>
            <a:ext cx="3429000"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066544"/>
            <a:ext cx="50292" cy="80467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2093976"/>
            <a:ext cx="315468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7354B8"/>
                </a:solidFill>
                <a:latin typeface="Arial"/>
              </a:defRPr>
            </a:pPr>
            <a:r>
              <a:t>Decode</a:t>
            </a:r>
          </a:p>
        </p:txBody>
      </p:sp>
      <p:sp>
        <p:nvSpPr>
          <p:cNvPr id="25" name="TextBox 24"/>
          <p:cNvSpPr txBox="1"/>
          <p:nvPr/>
        </p:nvSpPr>
        <p:spPr>
          <a:xfrm>
            <a:off x="8375904" y="2532888"/>
            <a:ext cx="3136392"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Generate tokens iteratively</a:t>
            </a:r>
          </a:p>
        </p:txBody>
      </p:sp>
      <p:cxnSp>
        <p:nvCxnSpPr>
          <p:cNvPr id="26" name="Connector 25"/>
          <p:cNvCxnSpPr/>
          <p:nvPr/>
        </p:nvCxnSpPr>
        <p:spPr>
          <a:xfrm>
            <a:off x="2331720" y="2468880"/>
            <a:ext cx="411480" cy="0"/>
          </a:xfrm>
          <a:prstGeom prst="line">
            <a:avLst/>
          </a:prstGeom>
          <a:ln w="25400">
            <a:solidFill>
              <a:srgbClr val="586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0" y="2468880"/>
            <a:ext cx="4572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0" y="2468880"/>
            <a:ext cx="457200"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02920" y="3209544"/>
            <a:ext cx="5440680" cy="22402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7512" y="3401568"/>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99632" y="3209544"/>
            <a:ext cx="5440680" cy="22402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64224" y="3401568"/>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3566160"/>
            <a:ext cx="5029200" cy="393192"/>
          </a:xfrm>
          <a:prstGeom prst="rect">
            <a:avLst/>
          </a:prstGeom>
          <a:noFill/>
        </p:spPr>
        <p:txBody>
          <a:bodyPr wrap="square" lIns="13716" rIns="13716" tIns="13716" bIns="13716">
            <a:spAutoFit/>
          </a:bodyPr>
          <a:lstStyle/>
          <a:p>
            <a:pPr>
              <a:spcBef>
                <a:spcPts val="0"/>
              </a:spcBef>
              <a:spcAft>
                <a:spcPts val="500"/>
              </a:spcAft>
              <a:defRPr sz="2300" b="1">
                <a:solidFill>
                  <a:srgbClr val="087F8C"/>
                </a:solidFill>
                <a:latin typeface="Arial"/>
              </a:defRPr>
            </a:pPr>
            <a:r>
              <a:t>Prefill → TTFT</a:t>
            </a:r>
          </a:p>
        </p:txBody>
      </p:sp>
      <p:sp>
        <p:nvSpPr>
          <p:cNvPr id="34" name="TextBox 33"/>
          <p:cNvSpPr txBox="1"/>
          <p:nvPr/>
        </p:nvSpPr>
        <p:spPr>
          <a:xfrm>
            <a:off x="694944" y="4014215"/>
            <a:ext cx="5029200" cy="301752"/>
          </a:xfrm>
          <a:prstGeom prst="rect">
            <a:avLst/>
          </a:prstGeom>
          <a:noFill/>
        </p:spPr>
        <p:txBody>
          <a:bodyPr wrap="square" lIns="13716" rIns="13716" tIns="13716" bIns="13716">
            <a:spAutoFit/>
          </a:bodyPr>
          <a:lstStyle/>
          <a:p>
            <a:pPr>
              <a:spcBef>
                <a:spcPts val="0"/>
              </a:spcBef>
              <a:spcAft>
                <a:spcPts val="500"/>
              </a:spcAft>
              <a:defRPr sz="1800" b="1">
                <a:solidFill>
                  <a:srgbClr val="172941"/>
                </a:solidFill>
                <a:latin typeface="Arial"/>
              </a:defRPr>
            </a:pPr>
            <a:r>
              <a:t>Time to first token • lower is better</a:t>
            </a:r>
          </a:p>
        </p:txBody>
      </p:sp>
      <p:sp>
        <p:nvSpPr>
          <p:cNvPr id="35" name="TextBox 34"/>
          <p:cNvSpPr txBox="1"/>
          <p:nvPr/>
        </p:nvSpPr>
        <p:spPr>
          <a:xfrm>
            <a:off x="694944" y="4498848"/>
            <a:ext cx="5029200" cy="594360"/>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Track prefill latency + input tok/s</a:t>
            </a:r>
          </a:p>
          <a:p>
            <a:pPr>
              <a:spcBef>
                <a:spcPts val="0"/>
              </a:spcBef>
              <a:spcAft>
                <a:spcPts val="500"/>
              </a:spcAft>
              <a:defRPr sz="1700" b="0">
                <a:solidFill>
                  <a:srgbClr val="586A80"/>
                </a:solidFill>
                <a:latin typeface="Arial"/>
              </a:defRPr>
            </a:pPr>
            <a:r>
              <a:t>Often compute-bound</a:t>
            </a:r>
          </a:p>
        </p:txBody>
      </p:sp>
      <p:sp>
        <p:nvSpPr>
          <p:cNvPr id="36" name="TextBox 35"/>
          <p:cNvSpPr txBox="1"/>
          <p:nvPr/>
        </p:nvSpPr>
        <p:spPr>
          <a:xfrm>
            <a:off x="6391656" y="3566160"/>
            <a:ext cx="5029200" cy="393192"/>
          </a:xfrm>
          <a:prstGeom prst="rect">
            <a:avLst/>
          </a:prstGeom>
          <a:noFill/>
        </p:spPr>
        <p:txBody>
          <a:bodyPr wrap="square" lIns="13716" rIns="13716" tIns="13716" bIns="13716">
            <a:spAutoFit/>
          </a:bodyPr>
          <a:lstStyle/>
          <a:p>
            <a:pPr>
              <a:spcBef>
                <a:spcPts val="0"/>
              </a:spcBef>
              <a:spcAft>
                <a:spcPts val="500"/>
              </a:spcAft>
              <a:defRPr sz="2300" b="1">
                <a:solidFill>
                  <a:srgbClr val="7354B8"/>
                </a:solidFill>
                <a:latin typeface="Arial"/>
              </a:defRPr>
            </a:pPr>
            <a:r>
              <a:t>Decode → ITL / TPOT</a:t>
            </a:r>
          </a:p>
        </p:txBody>
      </p:sp>
      <p:sp>
        <p:nvSpPr>
          <p:cNvPr id="37" name="TextBox 36"/>
          <p:cNvSpPr txBox="1"/>
          <p:nvPr/>
        </p:nvSpPr>
        <p:spPr>
          <a:xfrm>
            <a:off x="6391656" y="4014215"/>
            <a:ext cx="5029200" cy="393192"/>
          </a:xfrm>
          <a:prstGeom prst="rect">
            <a:avLst/>
          </a:prstGeom>
          <a:noFill/>
        </p:spPr>
        <p:txBody>
          <a:bodyPr wrap="square" lIns="13716" rIns="13716" tIns="13716" bIns="13716">
            <a:spAutoFit/>
          </a:bodyPr>
          <a:lstStyle/>
          <a:p>
            <a:pPr>
              <a:spcBef>
                <a:spcPts val="0"/>
              </a:spcBef>
              <a:spcAft>
                <a:spcPts val="500"/>
              </a:spcAft>
              <a:defRPr sz="1600" b="1">
                <a:solidFill>
                  <a:srgbClr val="172941"/>
                </a:solidFill>
                <a:latin typeface="Arial"/>
              </a:defRPr>
            </a:pPr>
            <a:r>
              <a:t>Inter-token latency / avg. time per output token</a:t>
            </a:r>
          </a:p>
        </p:txBody>
      </p:sp>
      <p:sp>
        <p:nvSpPr>
          <p:cNvPr id="38" name="TextBox 37"/>
          <p:cNvSpPr txBox="1"/>
          <p:nvPr/>
        </p:nvSpPr>
        <p:spPr>
          <a:xfrm>
            <a:off x="6391656" y="4498848"/>
            <a:ext cx="5029200" cy="749808"/>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Lower is better • track aggregate output tok/s</a:t>
            </a:r>
          </a:p>
          <a:p>
            <a:pPr>
              <a:spcBef>
                <a:spcPts val="0"/>
              </a:spcBef>
              <a:spcAft>
                <a:spcPts val="500"/>
              </a:spcAft>
              <a:defRPr sz="1700" b="0">
                <a:solidFill>
                  <a:srgbClr val="586A80"/>
                </a:solidFill>
                <a:latin typeface="Arial"/>
              </a:defRPr>
            </a:pPr>
            <a:r>
              <a:t>Often memory-bandwidth-bound</a:t>
            </a:r>
          </a:p>
        </p:txBody>
      </p:sp>
      <p:sp>
        <p:nvSpPr>
          <p:cNvPr id="39" name="TextBox 38"/>
          <p:cNvSpPr txBox="1"/>
          <p:nvPr/>
        </p:nvSpPr>
        <p:spPr>
          <a:xfrm>
            <a:off x="594360" y="5550408"/>
            <a:ext cx="10991088" cy="210312"/>
          </a:xfrm>
          <a:prstGeom prst="rect">
            <a:avLst/>
          </a:prstGeom>
          <a:noFill/>
        </p:spPr>
        <p:txBody>
          <a:bodyPr wrap="square" lIns="13716" rIns="13716" tIns="13716" bIns="13716">
            <a:spAutoFit/>
          </a:bodyPr>
          <a:lstStyle/>
          <a:p>
            <a:pPr>
              <a:spcBef>
                <a:spcPts val="0"/>
              </a:spcBef>
              <a:spcAft>
                <a:spcPts val="500"/>
              </a:spcAft>
              <a:defRPr sz="1100" b="0">
                <a:solidFill>
                  <a:srgbClr val="586A80"/>
                </a:solidFill>
                <a:latin typeface="Arial"/>
              </a:defRPr>
            </a:pPr>
            <a:r>
              <a:t>Not exclusive: queueing / delivery also affect TTFT; shared prefill can stall decode. Sources: vLLM metrics; NVIDIA Dynamo.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The problem</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One shared pool couples two capacity decisions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Aggregated serving is simple—but prefill bursts and active decoding share resources.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The compromise is not only performance. It is how you size and scale the service.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06 / 56</a:t>
            </a:r>
          </a:p>
        </p:txBody>
      </p:sp>
      <p:sp>
        <p:nvSpPr>
          <p:cNvPr id="10" name="Rounded Rectangle 9"/>
          <p:cNvSpPr/>
          <p:nvPr/>
        </p:nvSpPr>
        <p:spPr>
          <a:xfrm>
            <a:off x="502920" y="2103120"/>
            <a:ext cx="6537960" cy="3429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40864"/>
            <a:ext cx="6035040" cy="411480"/>
          </a:xfrm>
          <a:prstGeom prst="rect">
            <a:avLst/>
          </a:prstGeom>
          <a:noFill/>
        </p:spPr>
        <p:txBody>
          <a:bodyPr wrap="square" lIns="13716" rIns="13716" tIns="13716" bIns="13716">
            <a:spAutoFit/>
          </a:bodyPr>
          <a:lstStyle/>
          <a:p>
            <a:pPr>
              <a:spcBef>
                <a:spcPts val="0"/>
              </a:spcBef>
              <a:spcAft>
                <a:spcPts val="500"/>
              </a:spcAft>
              <a:defRPr sz="1700" b="1">
                <a:solidFill>
                  <a:srgbClr val="2563EB"/>
                </a:solidFill>
                <a:latin typeface="Arial"/>
              </a:defRPr>
            </a:pPr>
            <a:r>
              <a:t>Shared GPU pool</a:t>
            </a:r>
          </a:p>
        </p:txBody>
      </p:sp>
      <p:sp>
        <p:nvSpPr>
          <p:cNvPr id="12" name="Rounded Rectangle 11"/>
          <p:cNvSpPr/>
          <p:nvPr/>
        </p:nvSpPr>
        <p:spPr>
          <a:xfrm>
            <a:off x="786384" y="3054096"/>
            <a:ext cx="1810512" cy="146304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3255264"/>
            <a:ext cx="1581912"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287268"/>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Prefill</a:t>
            </a:r>
          </a:p>
        </p:txBody>
      </p:sp>
      <p:sp>
        <p:nvSpPr>
          <p:cNvPr id="15" name="Rounded Rectangle 14"/>
          <p:cNvSpPr/>
          <p:nvPr/>
        </p:nvSpPr>
        <p:spPr>
          <a:xfrm>
            <a:off x="896112" y="3785615"/>
            <a:ext cx="1581912"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817620"/>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Decode</a:t>
            </a:r>
          </a:p>
        </p:txBody>
      </p:sp>
      <p:sp>
        <p:nvSpPr>
          <p:cNvPr id="17" name="Rounded Rectangle 16"/>
          <p:cNvSpPr/>
          <p:nvPr/>
        </p:nvSpPr>
        <p:spPr>
          <a:xfrm>
            <a:off x="2798064" y="3054096"/>
            <a:ext cx="1810512" cy="146304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907792" y="3255264"/>
            <a:ext cx="1581912"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3287268"/>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Prefill</a:t>
            </a:r>
          </a:p>
        </p:txBody>
      </p:sp>
      <p:sp>
        <p:nvSpPr>
          <p:cNvPr id="20" name="Rounded Rectangle 19"/>
          <p:cNvSpPr/>
          <p:nvPr/>
        </p:nvSpPr>
        <p:spPr>
          <a:xfrm>
            <a:off x="2907792" y="3785615"/>
            <a:ext cx="1581912"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3817620"/>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Decode</a:t>
            </a:r>
          </a:p>
        </p:txBody>
      </p:sp>
      <p:sp>
        <p:nvSpPr>
          <p:cNvPr id="22" name="Rounded Rectangle 21"/>
          <p:cNvSpPr/>
          <p:nvPr/>
        </p:nvSpPr>
        <p:spPr>
          <a:xfrm>
            <a:off x="4809744" y="3054096"/>
            <a:ext cx="1810512" cy="146304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19472" y="3255264"/>
            <a:ext cx="1581912"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3480" y="3287268"/>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Prefill</a:t>
            </a:r>
          </a:p>
        </p:txBody>
      </p:sp>
      <p:sp>
        <p:nvSpPr>
          <p:cNvPr id="25" name="Rounded Rectangle 24"/>
          <p:cNvSpPr/>
          <p:nvPr/>
        </p:nvSpPr>
        <p:spPr>
          <a:xfrm>
            <a:off x="4919472" y="3785615"/>
            <a:ext cx="1581912"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3480" y="3817620"/>
            <a:ext cx="1453895"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Decode</a:t>
            </a:r>
          </a:p>
        </p:txBody>
      </p:sp>
      <p:sp>
        <p:nvSpPr>
          <p:cNvPr id="27" name="TextBox 26"/>
          <p:cNvSpPr txBox="1"/>
          <p:nvPr/>
        </p:nvSpPr>
        <p:spPr>
          <a:xfrm>
            <a:off x="749808" y="4809744"/>
            <a:ext cx="5943600" cy="411480"/>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One deployment • one coupled scaling boundary</a:t>
            </a:r>
          </a:p>
        </p:txBody>
      </p:sp>
      <p:sp>
        <p:nvSpPr>
          <p:cNvPr id="28" name="Rounded Rectangle 27"/>
          <p:cNvSpPr/>
          <p:nvPr/>
        </p:nvSpPr>
        <p:spPr>
          <a:xfrm>
            <a:off x="7360920" y="2103120"/>
            <a:ext cx="4315968" cy="3429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25512" y="2286000"/>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2468879"/>
            <a:ext cx="3950207"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The operational tension</a:t>
            </a:r>
          </a:p>
        </p:txBody>
      </p:sp>
      <p:sp>
        <p:nvSpPr>
          <p:cNvPr id="31" name="TextBox 30"/>
          <p:cNvSpPr txBox="1"/>
          <p:nvPr/>
        </p:nvSpPr>
        <p:spPr>
          <a:xfrm>
            <a:off x="7543800" y="3072384"/>
            <a:ext cx="3950207" cy="2313432"/>
          </a:xfrm>
          <a:prstGeom prst="rect">
            <a:avLst/>
          </a:prstGeom>
          <a:noFill/>
        </p:spPr>
        <p:txBody>
          <a:bodyPr wrap="square" lIns="13716" rIns="13716" tIns="13716" bIns="13716">
            <a:spAutoFit/>
          </a:bodyPr>
          <a:lstStyle/>
          <a:p>
            <a:pPr>
              <a:spcBef>
                <a:spcPts val="0"/>
              </a:spcBef>
              <a:spcAft>
                <a:spcPts val="500"/>
              </a:spcAft>
              <a:defRPr sz="1900" b="0">
                <a:solidFill>
                  <a:srgbClr val="172941"/>
                </a:solidFill>
                <a:latin typeface="Arial"/>
              </a:defRPr>
            </a:pPr>
            <a:r>
              <a:t>Prompt bursts can disrupt token delivery.</a:t>
            </a:r>
          </a:p>
          <a:p>
            <a:pPr>
              <a:spcBef>
                <a:spcPts val="0"/>
              </a:spcBef>
              <a:spcAft>
                <a:spcPts val="500"/>
              </a:spcAft>
              <a:defRPr sz="1900" b="0">
                <a:solidFill>
                  <a:srgbClr val="172941"/>
                </a:solidFill>
                <a:latin typeface="Arial"/>
              </a:defRPr>
            </a:pPr>
          </a:p>
          <a:p>
            <a:pPr>
              <a:spcBef>
                <a:spcPts val="0"/>
              </a:spcBef>
              <a:spcAft>
                <a:spcPts val="500"/>
              </a:spcAft>
              <a:defRPr sz="1900" b="0">
                <a:solidFill>
                  <a:srgbClr val="172941"/>
                </a:solidFill>
                <a:latin typeface="Arial"/>
              </a:defRPr>
            </a:pPr>
            <a:r>
              <a:t>Scaling adds both phases, even when only one is saturated.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Why split — execution interference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Long prefills can interrupt token delivery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 is already decoding. B arrives with a new prompt. Where should B run?</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Separate GPUs remove direct prefill execution from the decode GPU—not every source of latency.</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07 / 56</a:t>
            </a:r>
          </a:p>
        </p:txBody>
      </p:sp>
      <p:sp>
        <p:nvSpPr>
          <p:cNvPr id="10" name="TextBox 9"/>
          <p:cNvSpPr txBox="1"/>
          <p:nvPr/>
        </p:nvSpPr>
        <p:spPr>
          <a:xfrm>
            <a:off x="594360" y="1938528"/>
            <a:ext cx="10972800" cy="256032"/>
          </a:xfrm>
          <a:prstGeom prst="rect">
            <a:avLst/>
          </a:prstGeom>
          <a:noFill/>
        </p:spPr>
        <p:txBody>
          <a:bodyPr wrap="square" lIns="13716" rIns="13716" tIns="13716" bIns="13716">
            <a:spAutoFit/>
          </a:bodyPr>
          <a:lstStyle/>
          <a:p>
            <a:pPr>
              <a:spcBef>
                <a:spcPts val="0"/>
              </a:spcBef>
              <a:spcAft>
                <a:spcPts val="500"/>
              </a:spcAft>
              <a:defRPr sz="1200" b="1">
                <a:solidFill>
                  <a:srgbClr val="AE641A"/>
                </a:solidFill>
                <a:latin typeface="Arial"/>
              </a:defRPr>
            </a:pPr>
            <a:r>
              <a:t>Conceptual schedule · Not a benchmark · Block widths and gaps are not timings</a:t>
            </a:r>
          </a:p>
        </p:txBody>
      </p:sp>
      <p:sp>
        <p:nvSpPr>
          <p:cNvPr id="11" name="Rounded Rectangle 10"/>
          <p:cNvSpPr/>
          <p:nvPr/>
        </p:nvSpPr>
        <p:spPr>
          <a:xfrm>
            <a:off x="502920" y="2359152"/>
            <a:ext cx="11183112" cy="11612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560320"/>
            <a:ext cx="2423160" cy="329184"/>
          </a:xfrm>
          <a:prstGeom prst="rect">
            <a:avLst/>
          </a:prstGeom>
          <a:noFill/>
        </p:spPr>
        <p:txBody>
          <a:bodyPr wrap="square" lIns="13716" rIns="13716" tIns="13716" bIns="13716">
            <a:spAutoFit/>
          </a:bodyPr>
          <a:lstStyle/>
          <a:p>
            <a:pPr>
              <a:spcBef>
                <a:spcPts val="0"/>
              </a:spcBef>
              <a:spcAft>
                <a:spcPts val="500"/>
              </a:spcAft>
              <a:defRPr sz="2100" b="1">
                <a:solidFill>
                  <a:srgbClr val="172941"/>
                </a:solidFill>
                <a:latin typeface="Arial"/>
              </a:defRPr>
            </a:pPr>
            <a:r>
              <a:t>Shared GPU</a:t>
            </a:r>
          </a:p>
        </p:txBody>
      </p:sp>
      <p:sp>
        <p:nvSpPr>
          <p:cNvPr id="13" name="TextBox 12"/>
          <p:cNvSpPr txBox="1"/>
          <p:nvPr/>
        </p:nvSpPr>
        <p:spPr>
          <a:xfrm>
            <a:off x="694944" y="3008376"/>
            <a:ext cx="2423160" cy="256032"/>
          </a:xfrm>
          <a:prstGeom prst="rect">
            <a:avLst/>
          </a:prstGeom>
          <a:noFill/>
        </p:spPr>
        <p:txBody>
          <a:bodyPr wrap="square" lIns="13716" rIns="13716" tIns="13716" bIns="13716">
            <a:spAutoFit/>
          </a:bodyPr>
          <a:lstStyle/>
          <a:p>
            <a:pPr>
              <a:spcBef>
                <a:spcPts val="0"/>
              </a:spcBef>
              <a:spcAft>
                <a:spcPts val="500"/>
              </a:spcAft>
              <a:defRPr sz="1400" b="0">
                <a:solidFill>
                  <a:srgbClr val="586A80"/>
                </a:solidFill>
                <a:latin typeface="Arial"/>
              </a:defRPr>
            </a:pPr>
            <a:r>
              <a:t>One worker does both</a:t>
            </a:r>
          </a:p>
        </p:txBody>
      </p:sp>
      <p:sp>
        <p:nvSpPr>
          <p:cNvPr id="14" name="Rounded Rectangle 13"/>
          <p:cNvSpPr/>
          <p:nvPr/>
        </p:nvSpPr>
        <p:spPr>
          <a:xfrm>
            <a:off x="3429000" y="2825496"/>
            <a:ext cx="1005840" cy="44805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907792"/>
            <a:ext cx="950976" cy="274320"/>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D</a:t>
            </a:r>
          </a:p>
        </p:txBody>
      </p:sp>
      <p:sp>
        <p:nvSpPr>
          <p:cNvPr id="16" name="Rounded Rectangle 15"/>
          <p:cNvSpPr/>
          <p:nvPr/>
        </p:nvSpPr>
        <p:spPr>
          <a:xfrm>
            <a:off x="4617720" y="2825496"/>
            <a:ext cx="1005840" cy="44805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2907792"/>
            <a:ext cx="950976" cy="274320"/>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D</a:t>
            </a:r>
          </a:p>
        </p:txBody>
      </p:sp>
      <p:sp>
        <p:nvSpPr>
          <p:cNvPr id="18" name="Rounded Rectangle 17"/>
          <p:cNvSpPr/>
          <p:nvPr/>
        </p:nvSpPr>
        <p:spPr>
          <a:xfrm>
            <a:off x="5806440" y="2825496"/>
            <a:ext cx="2743200" cy="44805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33872" y="2907792"/>
            <a:ext cx="2688336" cy="274320"/>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Prefill B</a:t>
            </a:r>
          </a:p>
        </p:txBody>
      </p:sp>
      <p:sp>
        <p:nvSpPr>
          <p:cNvPr id="20" name="Rounded Rectangle 19"/>
          <p:cNvSpPr/>
          <p:nvPr/>
        </p:nvSpPr>
        <p:spPr>
          <a:xfrm>
            <a:off x="8732520" y="2825496"/>
            <a:ext cx="1005840" cy="44805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59952" y="2907792"/>
            <a:ext cx="950976" cy="274320"/>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D</a:t>
            </a:r>
          </a:p>
        </p:txBody>
      </p:sp>
      <p:sp>
        <p:nvSpPr>
          <p:cNvPr id="22" name="Rounded Rectangle 21"/>
          <p:cNvSpPr/>
          <p:nvPr/>
        </p:nvSpPr>
        <p:spPr>
          <a:xfrm>
            <a:off x="9921240" y="2825496"/>
            <a:ext cx="1005840" cy="44805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48672" y="2907792"/>
            <a:ext cx="950976" cy="274320"/>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D</a:t>
            </a:r>
          </a:p>
        </p:txBody>
      </p:sp>
      <p:sp>
        <p:nvSpPr>
          <p:cNvPr id="24" name="TextBox 23"/>
          <p:cNvSpPr txBox="1"/>
          <p:nvPr/>
        </p:nvSpPr>
        <p:spPr>
          <a:xfrm>
            <a:off x="5696712" y="2450592"/>
            <a:ext cx="2971800" cy="274320"/>
          </a:xfrm>
          <a:prstGeom prst="rect">
            <a:avLst/>
          </a:prstGeom>
          <a:noFill/>
        </p:spPr>
        <p:txBody>
          <a:bodyPr wrap="square" lIns="13716" rIns="13716" tIns="13716" bIns="13716">
            <a:spAutoFit/>
          </a:bodyPr>
          <a:lstStyle/>
          <a:p>
            <a:pPr algn="ctr">
              <a:spcBef>
                <a:spcPts val="0"/>
              </a:spcBef>
              <a:spcAft>
                <a:spcPts val="500"/>
              </a:spcAft>
              <a:defRPr sz="1500" b="1">
                <a:solidFill>
                  <a:srgbClr val="AE641A"/>
                </a:solidFill>
                <a:latin typeface="Arial"/>
              </a:defRPr>
            </a:pPr>
            <a:r>
              <a:t>A waits while B runs prefill</a:t>
            </a:r>
          </a:p>
        </p:txBody>
      </p:sp>
      <p:sp>
        <p:nvSpPr>
          <p:cNvPr id="25" name="Rounded Rectangle 24"/>
          <p:cNvSpPr/>
          <p:nvPr/>
        </p:nvSpPr>
        <p:spPr>
          <a:xfrm>
            <a:off x="502920" y="3712463"/>
            <a:ext cx="11183112" cy="16367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931920"/>
            <a:ext cx="2423160" cy="374904"/>
          </a:xfrm>
          <a:prstGeom prst="rect">
            <a:avLst/>
          </a:prstGeom>
          <a:noFill/>
        </p:spPr>
        <p:txBody>
          <a:bodyPr wrap="square" lIns="13716" rIns="13716" tIns="13716" bIns="13716">
            <a:spAutoFit/>
          </a:bodyPr>
          <a:lstStyle/>
          <a:p>
            <a:pPr>
              <a:spcBef>
                <a:spcPts val="0"/>
              </a:spcBef>
              <a:spcAft>
                <a:spcPts val="500"/>
              </a:spcAft>
              <a:defRPr sz="2100" b="1">
                <a:solidFill>
                  <a:srgbClr val="172941"/>
                </a:solidFill>
                <a:latin typeface="Arial"/>
              </a:defRPr>
            </a:pPr>
            <a:r>
              <a:t>Separate GPUs</a:t>
            </a:r>
          </a:p>
        </p:txBody>
      </p:sp>
      <p:sp>
        <p:nvSpPr>
          <p:cNvPr id="27" name="TextBox 26"/>
          <p:cNvSpPr txBox="1"/>
          <p:nvPr/>
        </p:nvSpPr>
        <p:spPr>
          <a:xfrm>
            <a:off x="694944" y="4434840"/>
            <a:ext cx="2423160" cy="237744"/>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Prefill worker</a:t>
            </a:r>
          </a:p>
        </p:txBody>
      </p:sp>
      <p:sp>
        <p:nvSpPr>
          <p:cNvPr id="28" name="TextBox 27"/>
          <p:cNvSpPr txBox="1"/>
          <p:nvPr/>
        </p:nvSpPr>
        <p:spPr>
          <a:xfrm>
            <a:off x="694944" y="4901184"/>
            <a:ext cx="2423160" cy="237744"/>
          </a:xfrm>
          <a:prstGeom prst="rect">
            <a:avLst/>
          </a:prstGeom>
          <a:noFill/>
        </p:spPr>
        <p:txBody>
          <a:bodyPr wrap="square" lIns="13716" rIns="13716" tIns="13716" bIns="13716">
            <a:spAutoFit/>
          </a:bodyPr>
          <a:lstStyle/>
          <a:p>
            <a:pPr>
              <a:spcBef>
                <a:spcPts val="0"/>
              </a:spcBef>
              <a:spcAft>
                <a:spcPts val="500"/>
              </a:spcAft>
              <a:defRPr sz="1400" b="1">
                <a:solidFill>
                  <a:srgbClr val="7354B8"/>
                </a:solidFill>
                <a:latin typeface="Arial"/>
              </a:defRPr>
            </a:pPr>
            <a:r>
              <a:t>Decode worker</a:t>
            </a:r>
          </a:p>
        </p:txBody>
      </p:sp>
      <p:sp>
        <p:nvSpPr>
          <p:cNvPr id="29" name="Rounded Rectangle 28"/>
          <p:cNvSpPr/>
          <p:nvPr/>
        </p:nvSpPr>
        <p:spPr>
          <a:xfrm>
            <a:off x="5806440" y="4343400"/>
            <a:ext cx="274320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33872" y="4398264"/>
            <a:ext cx="2688336"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Prefill B</a:t>
            </a:r>
          </a:p>
        </p:txBody>
      </p:sp>
      <p:sp>
        <p:nvSpPr>
          <p:cNvPr id="31" name="TextBox 30"/>
          <p:cNvSpPr txBox="1"/>
          <p:nvPr/>
        </p:nvSpPr>
        <p:spPr>
          <a:xfrm>
            <a:off x="8750808" y="4398264"/>
            <a:ext cx="2560320" cy="265176"/>
          </a:xfrm>
          <a:prstGeom prst="rect">
            <a:avLst/>
          </a:prstGeom>
          <a:noFill/>
        </p:spPr>
        <p:txBody>
          <a:bodyPr wrap="square" lIns="13716" rIns="13716" tIns="13716" bIns="13716">
            <a:spAutoFit/>
          </a:bodyPr>
          <a:lstStyle/>
          <a:p>
            <a:pPr>
              <a:spcBef>
                <a:spcPts val="0"/>
              </a:spcBef>
              <a:spcAft>
                <a:spcPts val="500"/>
              </a:spcAft>
              <a:defRPr sz="1300" b="0">
                <a:solidFill>
                  <a:srgbClr val="AE641A"/>
                </a:solidFill>
                <a:latin typeface="Arial"/>
              </a:defRPr>
            </a:pPr>
            <a:r>
              <a:t>B still needs KV handoff</a:t>
            </a:r>
          </a:p>
        </p:txBody>
      </p:sp>
      <p:sp>
        <p:nvSpPr>
          <p:cNvPr id="32" name="Rounded Rectangle 31"/>
          <p:cNvSpPr/>
          <p:nvPr/>
        </p:nvSpPr>
        <p:spPr>
          <a:xfrm>
            <a:off x="342900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47288"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34" name="Rounded Rectangle 33"/>
          <p:cNvSpPr/>
          <p:nvPr/>
        </p:nvSpPr>
        <p:spPr>
          <a:xfrm>
            <a:off x="461772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36007"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36" name="Rounded Rectangle 35"/>
          <p:cNvSpPr/>
          <p:nvPr/>
        </p:nvSpPr>
        <p:spPr>
          <a:xfrm>
            <a:off x="580644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24727"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38" name="Rounded Rectangle 37"/>
          <p:cNvSpPr/>
          <p:nvPr/>
        </p:nvSpPr>
        <p:spPr>
          <a:xfrm>
            <a:off x="699516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13448"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40" name="Rounded Rectangle 39"/>
          <p:cNvSpPr/>
          <p:nvPr/>
        </p:nvSpPr>
        <p:spPr>
          <a:xfrm>
            <a:off x="8183879"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02167"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42" name="Rounded Rectangle 41"/>
          <p:cNvSpPr/>
          <p:nvPr/>
        </p:nvSpPr>
        <p:spPr>
          <a:xfrm>
            <a:off x="937260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90888"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44" name="Rounded Rectangle 43"/>
          <p:cNvSpPr/>
          <p:nvPr/>
        </p:nvSpPr>
        <p:spPr>
          <a:xfrm>
            <a:off x="10561320" y="4828032"/>
            <a:ext cx="731520" cy="35661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79608" y="4873752"/>
            <a:ext cx="694944" cy="256032"/>
          </a:xfrm>
          <a:prstGeom prst="rect">
            <a:avLst/>
          </a:prstGeom>
          <a:noFill/>
        </p:spPr>
        <p:txBody>
          <a:bodyPr wrap="square" lIns="13716" rIns="13716" tIns="13716" bIns="13716">
            <a:spAutoFit/>
          </a:bodyPr>
          <a:lstStyle/>
          <a:p>
            <a:pPr algn="ctr">
              <a:spcBef>
                <a:spcPts val="0"/>
              </a:spcBef>
              <a:spcAft>
                <a:spcPts val="500"/>
              </a:spcAft>
              <a:defRPr sz="1500" b="1">
                <a:solidFill>
                  <a:srgbClr val="7354B8"/>
                </a:solidFill>
                <a:latin typeface="Arial"/>
              </a:defRPr>
            </a:pPr>
            <a:r>
              <a:t>D</a:t>
            </a:r>
          </a:p>
        </p:txBody>
      </p:sp>
      <p:sp>
        <p:nvSpPr>
          <p:cNvPr id="46" name="TextBox 45"/>
          <p:cNvSpPr txBox="1"/>
          <p:nvPr/>
        </p:nvSpPr>
        <p:spPr>
          <a:xfrm>
            <a:off x="3429000" y="3867912"/>
            <a:ext cx="7909560" cy="256032"/>
          </a:xfrm>
          <a:prstGeom prst="rect">
            <a:avLst/>
          </a:prstGeom>
          <a:noFill/>
        </p:spPr>
        <p:txBody>
          <a:bodyPr wrap="square" lIns="13716" rIns="13716" tIns="13716" bIns="13716">
            <a:spAutoFit/>
          </a:bodyPr>
          <a:lstStyle/>
          <a:p>
            <a:pPr>
              <a:spcBef>
                <a:spcPts val="0"/>
              </a:spcBef>
              <a:spcAft>
                <a:spcPts val="500"/>
              </a:spcAft>
              <a:defRPr sz="1600" b="1">
                <a:solidFill>
                  <a:srgbClr val="7354B8"/>
                </a:solidFill>
                <a:latin typeface="Arial"/>
              </a:defRPr>
            </a:pPr>
            <a:r>
              <a:t>A can continue decoding while B runs prefill elsewhere</a:t>
            </a:r>
          </a:p>
        </p:txBody>
      </p:sp>
      <p:sp>
        <p:nvSpPr>
          <p:cNvPr id="47" name="TextBox 46"/>
          <p:cNvSpPr txBox="1"/>
          <p:nvPr/>
        </p:nvSpPr>
        <p:spPr>
          <a:xfrm>
            <a:off x="594360" y="5458968"/>
            <a:ext cx="10927080" cy="210312"/>
          </a:xfrm>
          <a:prstGeom prst="rect">
            <a:avLst/>
          </a:prstGeom>
          <a:noFill/>
        </p:spPr>
        <p:txBody>
          <a:bodyPr wrap="square" lIns="13716" rIns="13716" tIns="13716" bIns="13716">
            <a:spAutoFit/>
          </a:bodyPr>
          <a:lstStyle/>
          <a:p>
            <a:pPr>
              <a:spcBef>
                <a:spcPts val="0"/>
              </a:spcBef>
              <a:spcAft>
                <a:spcPts val="500"/>
              </a:spcAft>
              <a:defRPr sz="1100" b="0">
                <a:solidFill>
                  <a:srgbClr val="586A80"/>
                </a:solidFill>
                <a:latin typeface="Arial"/>
              </a:defRPr>
            </a:pPr>
            <a:r>
              <a:t>A = ongoing decode; B = new request. Chunked prefill can mitigate the shared-worker pause.</a:t>
            </a:r>
          </a:p>
        </p:txBody>
      </p:sp>
      <p:sp>
        <p:nvSpPr>
          <p:cNvPr id="48" name="TextBox 47"/>
          <p:cNvSpPr txBox="1"/>
          <p:nvPr/>
        </p:nvSpPr>
        <p:spPr>
          <a:xfrm>
            <a:off x="594360" y="5687568"/>
            <a:ext cx="10927080" cy="13716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Original conceptual illustration; sources: NVIDIA and vLLM (2025) + current documentation.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Why split — different batching units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Prefill and decode batch different work</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Prefill processes many prompt positions; ordinary decode advances many independent requests.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Prefill finds parallel work in prompt length; decode finds it across active sequences.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08 / 56</a:t>
            </a:r>
          </a:p>
        </p:txBody>
      </p:sp>
      <p:sp>
        <p:nvSpPr>
          <p:cNvPr id="10" name="TextBox 9"/>
          <p:cNvSpPr txBox="1"/>
          <p:nvPr/>
        </p:nvSpPr>
        <p:spPr>
          <a:xfrm>
            <a:off x="594360" y="1938528"/>
            <a:ext cx="10972800" cy="256032"/>
          </a:xfrm>
          <a:prstGeom prst="rect">
            <a:avLst/>
          </a:prstGeom>
          <a:noFill/>
        </p:spPr>
        <p:txBody>
          <a:bodyPr wrap="square" lIns="13716" rIns="13716" tIns="13716" bIns="13716">
            <a:spAutoFit/>
          </a:bodyPr>
          <a:lstStyle/>
          <a:p>
            <a:pPr>
              <a:spcBef>
                <a:spcPts val="0"/>
              </a:spcBef>
              <a:spcAft>
                <a:spcPts val="500"/>
              </a:spcAft>
              <a:defRPr sz="1200" b="1">
                <a:solidFill>
                  <a:srgbClr val="AE641A"/>
                </a:solidFill>
                <a:latin typeface="Arial"/>
              </a:defRPr>
            </a:pPr>
            <a:r>
              <a:t>Conceptual illustration · Not a benchmark · Tokens and request counts are schematic</a:t>
            </a:r>
          </a:p>
        </p:txBody>
      </p:sp>
      <p:sp>
        <p:nvSpPr>
          <p:cNvPr id="11" name="Rounded Rectangle 10"/>
          <p:cNvSpPr/>
          <p:nvPr/>
        </p:nvSpPr>
        <p:spPr>
          <a:xfrm>
            <a:off x="502920" y="2359152"/>
            <a:ext cx="5477256" cy="29900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 y="2569464"/>
            <a:ext cx="64008" cy="3657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23744"/>
            <a:ext cx="4910328" cy="420624"/>
          </a:xfrm>
          <a:prstGeom prst="rect">
            <a:avLst/>
          </a:prstGeom>
          <a:noFill/>
        </p:spPr>
        <p:txBody>
          <a:bodyPr wrap="square" lIns="13716" rIns="13716" tIns="13716" bIns="13716">
            <a:spAutoFit/>
          </a:bodyPr>
          <a:lstStyle/>
          <a:p>
            <a:pPr>
              <a:spcBef>
                <a:spcPts val="0"/>
              </a:spcBef>
              <a:spcAft>
                <a:spcPts val="500"/>
              </a:spcAft>
              <a:defRPr sz="2400" b="1">
                <a:solidFill>
                  <a:srgbClr val="087F8C"/>
                </a:solidFill>
                <a:latin typeface="Arial"/>
              </a:defRPr>
            </a:pPr>
            <a:r>
              <a:t>Prefill</a:t>
            </a:r>
          </a:p>
        </p:txBody>
      </p:sp>
      <p:sp>
        <p:nvSpPr>
          <p:cNvPr id="14" name="TextBox 13"/>
          <p:cNvSpPr txBox="1"/>
          <p:nvPr/>
        </p:nvSpPr>
        <p:spPr>
          <a:xfrm>
            <a:off x="704088" y="3026664"/>
            <a:ext cx="5074920" cy="292608"/>
          </a:xfrm>
          <a:prstGeom prst="rect">
            <a:avLst/>
          </a:prstGeom>
          <a:noFill/>
        </p:spPr>
        <p:txBody>
          <a:bodyPr wrap="square" lIns="13716" rIns="13716" tIns="13716" bIns="13716">
            <a:spAutoFit/>
          </a:bodyPr>
          <a:lstStyle/>
          <a:p>
            <a:pPr>
              <a:spcBef>
                <a:spcPts val="0"/>
              </a:spcBef>
              <a:spcAft>
                <a:spcPts val="500"/>
              </a:spcAft>
              <a:defRPr sz="1600" b="0">
                <a:solidFill>
                  <a:srgbClr val="172941"/>
                </a:solidFill>
                <a:latin typeface="Arial"/>
              </a:defRPr>
            </a:pPr>
            <a:r>
              <a:t>Many input positions in one forward pass</a:t>
            </a:r>
          </a:p>
        </p:txBody>
      </p:sp>
      <p:sp>
        <p:nvSpPr>
          <p:cNvPr id="15" name="Rounded Rectangle 14"/>
          <p:cNvSpPr/>
          <p:nvPr/>
        </p:nvSpPr>
        <p:spPr>
          <a:xfrm>
            <a:off x="6208776" y="2359152"/>
            <a:ext cx="5477256" cy="29900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3368" y="2569464"/>
            <a:ext cx="64008" cy="36576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2523744"/>
            <a:ext cx="4910328" cy="420624"/>
          </a:xfrm>
          <a:prstGeom prst="rect">
            <a:avLst/>
          </a:prstGeom>
          <a:noFill/>
        </p:spPr>
        <p:txBody>
          <a:bodyPr wrap="square" lIns="13716" rIns="13716" tIns="13716" bIns="13716">
            <a:spAutoFit/>
          </a:bodyPr>
          <a:lstStyle/>
          <a:p>
            <a:pPr>
              <a:spcBef>
                <a:spcPts val="0"/>
              </a:spcBef>
              <a:spcAft>
                <a:spcPts val="500"/>
              </a:spcAft>
              <a:defRPr sz="2400" b="1">
                <a:solidFill>
                  <a:srgbClr val="7354B8"/>
                </a:solidFill>
                <a:latin typeface="Arial"/>
              </a:defRPr>
            </a:pPr>
            <a:r>
              <a:t>Decode</a:t>
            </a:r>
          </a:p>
        </p:txBody>
      </p:sp>
      <p:sp>
        <p:nvSpPr>
          <p:cNvPr id="18" name="TextBox 17"/>
          <p:cNvSpPr txBox="1"/>
          <p:nvPr/>
        </p:nvSpPr>
        <p:spPr>
          <a:xfrm>
            <a:off x="6409944" y="3026664"/>
            <a:ext cx="5074920" cy="292608"/>
          </a:xfrm>
          <a:prstGeom prst="rect">
            <a:avLst/>
          </a:prstGeom>
          <a:noFill/>
        </p:spPr>
        <p:txBody>
          <a:bodyPr wrap="square" lIns="13716" rIns="13716" tIns="13716" bIns="13716">
            <a:spAutoFit/>
          </a:bodyPr>
          <a:lstStyle/>
          <a:p>
            <a:pPr>
              <a:spcBef>
                <a:spcPts val="0"/>
              </a:spcBef>
              <a:spcAft>
                <a:spcPts val="500"/>
              </a:spcAft>
              <a:defRPr sz="1600" b="0">
                <a:solidFill>
                  <a:srgbClr val="172941"/>
                </a:solidFill>
                <a:latin typeface="Arial"/>
              </a:defRPr>
            </a:pPr>
            <a:r>
              <a:t>One newest input position per active request</a:t>
            </a:r>
          </a:p>
        </p:txBody>
      </p:sp>
      <p:sp>
        <p:nvSpPr>
          <p:cNvPr id="19" name="TextBox 18"/>
          <p:cNvSpPr txBox="1"/>
          <p:nvPr/>
        </p:nvSpPr>
        <p:spPr>
          <a:xfrm>
            <a:off x="713232" y="3657600"/>
            <a:ext cx="1225296" cy="283464"/>
          </a:xfrm>
          <a:prstGeom prst="rect">
            <a:avLst/>
          </a:prstGeom>
          <a:noFill/>
        </p:spPr>
        <p:txBody>
          <a:bodyPr wrap="square" lIns="13716" rIns="13716" tIns="13716" bIns="13716">
            <a:spAutoFit/>
          </a:bodyPr>
          <a:lstStyle/>
          <a:p>
            <a:pPr>
              <a:spcBef>
                <a:spcPts val="0"/>
              </a:spcBef>
              <a:spcAft>
                <a:spcPts val="500"/>
              </a:spcAft>
              <a:defRPr sz="1500" b="1">
                <a:solidFill>
                  <a:srgbClr val="586A80"/>
                </a:solidFill>
                <a:latin typeface="Arial"/>
              </a:defRPr>
            </a:pPr>
            <a:r>
              <a:t>Request A</a:t>
            </a:r>
          </a:p>
        </p:txBody>
      </p:sp>
      <p:sp>
        <p:nvSpPr>
          <p:cNvPr id="20" name="Rounded Rectangle 19"/>
          <p:cNvSpPr/>
          <p:nvPr/>
        </p:nvSpPr>
        <p:spPr>
          <a:xfrm>
            <a:off x="2093976" y="3602736"/>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7692" y="3671315"/>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p1</a:t>
            </a:r>
          </a:p>
        </p:txBody>
      </p:sp>
      <p:sp>
        <p:nvSpPr>
          <p:cNvPr id="22" name="Rounded Rectangle 21"/>
          <p:cNvSpPr/>
          <p:nvPr/>
        </p:nvSpPr>
        <p:spPr>
          <a:xfrm>
            <a:off x="2825496" y="3602736"/>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9212" y="3671315"/>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p2</a:t>
            </a:r>
          </a:p>
        </p:txBody>
      </p:sp>
      <p:sp>
        <p:nvSpPr>
          <p:cNvPr id="24" name="Rounded Rectangle 23"/>
          <p:cNvSpPr/>
          <p:nvPr/>
        </p:nvSpPr>
        <p:spPr>
          <a:xfrm>
            <a:off x="3557016" y="3602736"/>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0732" y="3671315"/>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p3</a:t>
            </a:r>
          </a:p>
        </p:txBody>
      </p:sp>
      <p:sp>
        <p:nvSpPr>
          <p:cNvPr id="26" name="Rounded Rectangle 25"/>
          <p:cNvSpPr/>
          <p:nvPr/>
        </p:nvSpPr>
        <p:spPr>
          <a:xfrm>
            <a:off x="4288536" y="3602736"/>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02252" y="3671315"/>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p4</a:t>
            </a:r>
          </a:p>
        </p:txBody>
      </p:sp>
      <p:sp>
        <p:nvSpPr>
          <p:cNvPr id="28" name="TextBox 27"/>
          <p:cNvSpPr txBox="1"/>
          <p:nvPr/>
        </p:nvSpPr>
        <p:spPr>
          <a:xfrm>
            <a:off x="713232" y="4187951"/>
            <a:ext cx="1225296" cy="283464"/>
          </a:xfrm>
          <a:prstGeom prst="rect">
            <a:avLst/>
          </a:prstGeom>
          <a:noFill/>
        </p:spPr>
        <p:txBody>
          <a:bodyPr wrap="square" lIns="13716" rIns="13716" tIns="13716" bIns="13716">
            <a:spAutoFit/>
          </a:bodyPr>
          <a:lstStyle/>
          <a:p>
            <a:pPr>
              <a:spcBef>
                <a:spcPts val="0"/>
              </a:spcBef>
              <a:spcAft>
                <a:spcPts val="500"/>
              </a:spcAft>
              <a:defRPr sz="1500" b="1">
                <a:solidFill>
                  <a:srgbClr val="586A80"/>
                </a:solidFill>
                <a:latin typeface="Arial"/>
              </a:defRPr>
            </a:pPr>
            <a:r>
              <a:t>Request B</a:t>
            </a:r>
          </a:p>
        </p:txBody>
      </p:sp>
      <p:sp>
        <p:nvSpPr>
          <p:cNvPr id="29" name="Rounded Rectangle 28"/>
          <p:cNvSpPr/>
          <p:nvPr/>
        </p:nvSpPr>
        <p:spPr>
          <a:xfrm>
            <a:off x="2093976" y="4133087"/>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07692" y="4201668"/>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q1</a:t>
            </a:r>
          </a:p>
        </p:txBody>
      </p:sp>
      <p:sp>
        <p:nvSpPr>
          <p:cNvPr id="31" name="Rounded Rectangle 30"/>
          <p:cNvSpPr/>
          <p:nvPr/>
        </p:nvSpPr>
        <p:spPr>
          <a:xfrm>
            <a:off x="2825496" y="4133087"/>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39212" y="4201668"/>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q2</a:t>
            </a:r>
          </a:p>
        </p:txBody>
      </p:sp>
      <p:sp>
        <p:nvSpPr>
          <p:cNvPr id="33" name="Rounded Rectangle 32"/>
          <p:cNvSpPr/>
          <p:nvPr/>
        </p:nvSpPr>
        <p:spPr>
          <a:xfrm>
            <a:off x="3557016" y="4133087"/>
            <a:ext cx="594360" cy="39319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70732" y="4201668"/>
            <a:ext cx="566928" cy="265176"/>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q3</a:t>
            </a:r>
          </a:p>
        </p:txBody>
      </p:sp>
      <p:sp>
        <p:nvSpPr>
          <p:cNvPr id="35" name="TextBox 34"/>
          <p:cNvSpPr txBox="1"/>
          <p:nvPr/>
        </p:nvSpPr>
        <p:spPr>
          <a:xfrm>
            <a:off x="722376" y="4828032"/>
            <a:ext cx="4974336" cy="292608"/>
          </a:xfrm>
          <a:prstGeom prst="rect">
            <a:avLst/>
          </a:prstGeom>
          <a:noFill/>
        </p:spPr>
        <p:txBody>
          <a:bodyPr wrap="square" lIns="13716" rIns="13716" tIns="13716" bIns="13716">
            <a:spAutoFit/>
          </a:bodyPr>
          <a:lstStyle/>
          <a:p>
            <a:pPr>
              <a:spcBef>
                <a:spcPts val="0"/>
              </a:spcBef>
              <a:spcAft>
                <a:spcPts val="500"/>
              </a:spcAft>
              <a:defRPr sz="1400" b="1">
                <a:solidFill>
                  <a:srgbClr val="087F8C"/>
                </a:solidFill>
                <a:latin typeface="Arial"/>
              </a:defRPr>
            </a:pPr>
            <a:r>
              <a:t>Batch prompt positions from one or more requests.</a:t>
            </a:r>
          </a:p>
        </p:txBody>
      </p:sp>
      <p:sp>
        <p:nvSpPr>
          <p:cNvPr id="36" name="TextBox 35"/>
          <p:cNvSpPr txBox="1"/>
          <p:nvPr/>
        </p:nvSpPr>
        <p:spPr>
          <a:xfrm>
            <a:off x="6419088" y="3438144"/>
            <a:ext cx="1252728" cy="210312"/>
          </a:xfrm>
          <a:prstGeom prst="rect">
            <a:avLst/>
          </a:prstGeom>
          <a:noFill/>
        </p:spPr>
        <p:txBody>
          <a:bodyPr wrap="square" lIns="13716" rIns="13716" tIns="13716" bIns="13716">
            <a:spAutoFit/>
          </a:bodyPr>
          <a:lstStyle/>
          <a:p>
            <a:pPr>
              <a:spcBef>
                <a:spcPts val="0"/>
              </a:spcBef>
              <a:spcAft>
                <a:spcPts val="500"/>
              </a:spcAft>
              <a:defRPr sz="1100" b="1">
                <a:solidFill>
                  <a:srgbClr val="586A80"/>
                </a:solidFill>
                <a:latin typeface="Arial"/>
              </a:defRPr>
            </a:pPr>
            <a:r>
              <a:t>Request</a:t>
            </a:r>
          </a:p>
        </p:txBody>
      </p:sp>
      <p:sp>
        <p:nvSpPr>
          <p:cNvPr id="37" name="TextBox 36"/>
          <p:cNvSpPr txBox="1"/>
          <p:nvPr/>
        </p:nvSpPr>
        <p:spPr>
          <a:xfrm>
            <a:off x="7699248" y="3438144"/>
            <a:ext cx="1197864" cy="210312"/>
          </a:xfrm>
          <a:prstGeom prst="rect">
            <a:avLst/>
          </a:prstGeom>
          <a:noFill/>
        </p:spPr>
        <p:txBody>
          <a:bodyPr wrap="square" lIns="13716" rIns="13716" tIns="13716" bIns="13716">
            <a:spAutoFit/>
          </a:bodyPr>
          <a:lstStyle/>
          <a:p>
            <a:pPr>
              <a:spcBef>
                <a:spcPts val="0"/>
              </a:spcBef>
              <a:spcAft>
                <a:spcPts val="500"/>
              </a:spcAft>
              <a:defRPr sz="1100" b="1">
                <a:solidFill>
                  <a:srgbClr val="586A80"/>
                </a:solidFill>
                <a:latin typeface="Arial"/>
              </a:defRPr>
            </a:pPr>
            <a:r>
              <a:t>Read history</a:t>
            </a:r>
          </a:p>
        </p:txBody>
      </p:sp>
      <p:sp>
        <p:nvSpPr>
          <p:cNvPr id="38" name="TextBox 37"/>
          <p:cNvSpPr txBox="1"/>
          <p:nvPr/>
        </p:nvSpPr>
        <p:spPr>
          <a:xfrm>
            <a:off x="9244584" y="3438144"/>
            <a:ext cx="2148840" cy="210312"/>
          </a:xfrm>
          <a:prstGeom prst="rect">
            <a:avLst/>
          </a:prstGeom>
          <a:noFill/>
        </p:spPr>
        <p:txBody>
          <a:bodyPr wrap="square" lIns="13716" rIns="13716" tIns="13716" bIns="13716">
            <a:spAutoFit/>
          </a:bodyPr>
          <a:lstStyle/>
          <a:p>
            <a:pPr>
              <a:spcBef>
                <a:spcPts val="0"/>
              </a:spcBef>
              <a:spcAft>
                <a:spcPts val="500"/>
              </a:spcAft>
              <a:defRPr sz="1100" b="1">
                <a:solidFill>
                  <a:srgbClr val="586A80"/>
                </a:solidFill>
                <a:latin typeface="Arial"/>
              </a:defRPr>
            </a:pPr>
            <a:r>
              <a:t>Consume newest input</a:t>
            </a:r>
          </a:p>
        </p:txBody>
      </p:sp>
      <p:sp>
        <p:nvSpPr>
          <p:cNvPr id="39" name="TextBox 38"/>
          <p:cNvSpPr txBox="1"/>
          <p:nvPr/>
        </p:nvSpPr>
        <p:spPr>
          <a:xfrm>
            <a:off x="6419088" y="3785615"/>
            <a:ext cx="1106424" cy="246888"/>
          </a:xfrm>
          <a:prstGeom prst="rect">
            <a:avLst/>
          </a:prstGeom>
          <a:noFill/>
        </p:spPr>
        <p:txBody>
          <a:bodyPr wrap="square" lIns="13716" rIns="13716" tIns="13716" bIns="13716">
            <a:spAutoFit/>
          </a:bodyPr>
          <a:lstStyle/>
          <a:p>
            <a:pPr>
              <a:spcBef>
                <a:spcPts val="0"/>
              </a:spcBef>
              <a:spcAft>
                <a:spcPts val="500"/>
              </a:spcAft>
              <a:defRPr sz="1600" b="1">
                <a:solidFill>
                  <a:srgbClr val="7354B8"/>
                </a:solidFill>
                <a:latin typeface="Arial"/>
              </a:defRPr>
            </a:pPr>
            <a:r>
              <a:t>A</a:t>
            </a:r>
          </a:p>
        </p:txBody>
      </p:sp>
      <p:sp>
        <p:nvSpPr>
          <p:cNvPr id="40" name="Rounded Rectangle 39"/>
          <p:cNvSpPr/>
          <p:nvPr/>
        </p:nvSpPr>
        <p:spPr>
          <a:xfrm>
            <a:off x="7680960" y="3749039"/>
            <a:ext cx="1115568" cy="32004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08392" y="3781044"/>
            <a:ext cx="1060704" cy="228600"/>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Prior KV</a:t>
            </a:r>
          </a:p>
        </p:txBody>
      </p:sp>
      <p:sp>
        <p:nvSpPr>
          <p:cNvPr id="42" name="TextBox 41"/>
          <p:cNvSpPr txBox="1"/>
          <p:nvPr/>
        </p:nvSpPr>
        <p:spPr>
          <a:xfrm>
            <a:off x="8887968" y="3767327"/>
            <a:ext cx="256032" cy="246888"/>
          </a:xfrm>
          <a:prstGeom prst="rect">
            <a:avLst/>
          </a:prstGeom>
          <a:noFill/>
        </p:spPr>
        <p:txBody>
          <a:bodyPr wrap="square" lIns="13716" rIns="13716" tIns="13716" bIns="13716">
            <a:spAutoFit/>
          </a:bodyPr>
          <a:lstStyle/>
          <a:p>
            <a:pPr algn="ctr">
              <a:spcBef>
                <a:spcPts val="0"/>
              </a:spcBef>
              <a:spcAft>
                <a:spcPts val="500"/>
              </a:spcAft>
              <a:defRPr sz="1500" b="1">
                <a:solidFill>
                  <a:srgbClr val="586A80"/>
                </a:solidFill>
                <a:latin typeface="Arial"/>
              </a:defRPr>
            </a:pPr>
            <a:r>
              <a:t>+</a:t>
            </a:r>
          </a:p>
        </p:txBody>
      </p:sp>
      <p:sp>
        <p:nvSpPr>
          <p:cNvPr id="43" name="Rounded Rectangle 42"/>
          <p:cNvSpPr/>
          <p:nvPr/>
        </p:nvSpPr>
        <p:spPr>
          <a:xfrm>
            <a:off x="9262872" y="3749039"/>
            <a:ext cx="1810512" cy="32004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0304" y="3781044"/>
            <a:ext cx="1755648" cy="228600"/>
          </a:xfrm>
          <a:prstGeom prst="rect">
            <a:avLst/>
          </a:prstGeom>
          <a:noFill/>
        </p:spPr>
        <p:txBody>
          <a:bodyPr wrap="square" lIns="13716" rIns="13716" tIns="13716" bIns="13716">
            <a:spAutoFit/>
          </a:bodyPr>
          <a:lstStyle/>
          <a:p>
            <a:pPr algn="ctr">
              <a:spcBef>
                <a:spcPts val="0"/>
              </a:spcBef>
              <a:spcAft>
                <a:spcPts val="500"/>
              </a:spcAft>
              <a:defRPr sz="1300" b="1">
                <a:solidFill>
                  <a:srgbClr val="7354B8"/>
                </a:solidFill>
                <a:latin typeface="Arial"/>
              </a:defRPr>
            </a:pPr>
            <a:r>
              <a:t>One token</a:t>
            </a:r>
          </a:p>
        </p:txBody>
      </p:sp>
      <p:sp>
        <p:nvSpPr>
          <p:cNvPr id="45" name="TextBox 44"/>
          <p:cNvSpPr txBox="1"/>
          <p:nvPr/>
        </p:nvSpPr>
        <p:spPr>
          <a:xfrm>
            <a:off x="6419088" y="4224528"/>
            <a:ext cx="1106424" cy="246888"/>
          </a:xfrm>
          <a:prstGeom prst="rect">
            <a:avLst/>
          </a:prstGeom>
          <a:noFill/>
        </p:spPr>
        <p:txBody>
          <a:bodyPr wrap="square" lIns="13716" rIns="13716" tIns="13716" bIns="13716">
            <a:spAutoFit/>
          </a:bodyPr>
          <a:lstStyle/>
          <a:p>
            <a:pPr>
              <a:spcBef>
                <a:spcPts val="0"/>
              </a:spcBef>
              <a:spcAft>
                <a:spcPts val="500"/>
              </a:spcAft>
              <a:defRPr sz="1600" b="1">
                <a:solidFill>
                  <a:srgbClr val="7354B8"/>
                </a:solidFill>
                <a:latin typeface="Arial"/>
              </a:defRPr>
            </a:pPr>
            <a:r>
              <a:t>B</a:t>
            </a:r>
          </a:p>
        </p:txBody>
      </p:sp>
      <p:sp>
        <p:nvSpPr>
          <p:cNvPr id="46" name="Rounded Rectangle 45"/>
          <p:cNvSpPr/>
          <p:nvPr/>
        </p:nvSpPr>
        <p:spPr>
          <a:xfrm>
            <a:off x="7680960" y="4187952"/>
            <a:ext cx="1115568" cy="32004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08392" y="4219956"/>
            <a:ext cx="1060704" cy="228600"/>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Prior KV</a:t>
            </a:r>
          </a:p>
        </p:txBody>
      </p:sp>
      <p:sp>
        <p:nvSpPr>
          <p:cNvPr id="48" name="TextBox 47"/>
          <p:cNvSpPr txBox="1"/>
          <p:nvPr/>
        </p:nvSpPr>
        <p:spPr>
          <a:xfrm>
            <a:off x="8887968" y="4206240"/>
            <a:ext cx="256032" cy="246888"/>
          </a:xfrm>
          <a:prstGeom prst="rect">
            <a:avLst/>
          </a:prstGeom>
          <a:noFill/>
        </p:spPr>
        <p:txBody>
          <a:bodyPr wrap="square" lIns="13716" rIns="13716" tIns="13716" bIns="13716">
            <a:spAutoFit/>
          </a:bodyPr>
          <a:lstStyle/>
          <a:p>
            <a:pPr algn="ctr">
              <a:spcBef>
                <a:spcPts val="0"/>
              </a:spcBef>
              <a:spcAft>
                <a:spcPts val="500"/>
              </a:spcAft>
              <a:defRPr sz="1500" b="1">
                <a:solidFill>
                  <a:srgbClr val="586A80"/>
                </a:solidFill>
                <a:latin typeface="Arial"/>
              </a:defRPr>
            </a:pPr>
            <a:r>
              <a:t>+</a:t>
            </a:r>
          </a:p>
        </p:txBody>
      </p:sp>
      <p:sp>
        <p:nvSpPr>
          <p:cNvPr id="49" name="Rounded Rectangle 48"/>
          <p:cNvSpPr/>
          <p:nvPr/>
        </p:nvSpPr>
        <p:spPr>
          <a:xfrm>
            <a:off x="9262872" y="4187952"/>
            <a:ext cx="1810512" cy="32004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90304" y="4219956"/>
            <a:ext cx="1755648" cy="228600"/>
          </a:xfrm>
          <a:prstGeom prst="rect">
            <a:avLst/>
          </a:prstGeom>
          <a:noFill/>
        </p:spPr>
        <p:txBody>
          <a:bodyPr wrap="square" lIns="13716" rIns="13716" tIns="13716" bIns="13716">
            <a:spAutoFit/>
          </a:bodyPr>
          <a:lstStyle/>
          <a:p>
            <a:pPr algn="ctr">
              <a:spcBef>
                <a:spcPts val="0"/>
              </a:spcBef>
              <a:spcAft>
                <a:spcPts val="500"/>
              </a:spcAft>
              <a:defRPr sz="1300" b="1">
                <a:solidFill>
                  <a:srgbClr val="7354B8"/>
                </a:solidFill>
                <a:latin typeface="Arial"/>
              </a:defRPr>
            </a:pPr>
            <a:r>
              <a:t>One token</a:t>
            </a:r>
          </a:p>
        </p:txBody>
      </p:sp>
      <p:sp>
        <p:nvSpPr>
          <p:cNvPr id="51" name="TextBox 50"/>
          <p:cNvSpPr txBox="1"/>
          <p:nvPr/>
        </p:nvSpPr>
        <p:spPr>
          <a:xfrm>
            <a:off x="6419088" y="4663440"/>
            <a:ext cx="1106424" cy="246888"/>
          </a:xfrm>
          <a:prstGeom prst="rect">
            <a:avLst/>
          </a:prstGeom>
          <a:noFill/>
        </p:spPr>
        <p:txBody>
          <a:bodyPr wrap="square" lIns="13716" rIns="13716" tIns="13716" bIns="13716">
            <a:spAutoFit/>
          </a:bodyPr>
          <a:lstStyle/>
          <a:p>
            <a:pPr>
              <a:spcBef>
                <a:spcPts val="0"/>
              </a:spcBef>
              <a:spcAft>
                <a:spcPts val="500"/>
              </a:spcAft>
              <a:defRPr sz="1600" b="1">
                <a:solidFill>
                  <a:srgbClr val="7354B8"/>
                </a:solidFill>
                <a:latin typeface="Arial"/>
              </a:defRPr>
            </a:pPr>
            <a:r>
              <a:t>C</a:t>
            </a:r>
          </a:p>
        </p:txBody>
      </p:sp>
      <p:sp>
        <p:nvSpPr>
          <p:cNvPr id="52" name="Rounded Rectangle 51"/>
          <p:cNvSpPr/>
          <p:nvPr/>
        </p:nvSpPr>
        <p:spPr>
          <a:xfrm>
            <a:off x="7680960" y="4626864"/>
            <a:ext cx="1115568" cy="32004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08392" y="4658868"/>
            <a:ext cx="1060704" cy="228600"/>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Prior KV</a:t>
            </a:r>
          </a:p>
        </p:txBody>
      </p:sp>
      <p:sp>
        <p:nvSpPr>
          <p:cNvPr id="54" name="TextBox 53"/>
          <p:cNvSpPr txBox="1"/>
          <p:nvPr/>
        </p:nvSpPr>
        <p:spPr>
          <a:xfrm>
            <a:off x="8887968" y="4645151"/>
            <a:ext cx="256032" cy="246888"/>
          </a:xfrm>
          <a:prstGeom prst="rect">
            <a:avLst/>
          </a:prstGeom>
          <a:noFill/>
        </p:spPr>
        <p:txBody>
          <a:bodyPr wrap="square" lIns="13716" rIns="13716" tIns="13716" bIns="13716">
            <a:spAutoFit/>
          </a:bodyPr>
          <a:lstStyle/>
          <a:p>
            <a:pPr algn="ctr">
              <a:spcBef>
                <a:spcPts val="0"/>
              </a:spcBef>
              <a:spcAft>
                <a:spcPts val="500"/>
              </a:spcAft>
              <a:defRPr sz="1500" b="1">
                <a:solidFill>
                  <a:srgbClr val="586A80"/>
                </a:solidFill>
                <a:latin typeface="Arial"/>
              </a:defRPr>
            </a:pPr>
            <a:r>
              <a:t>+</a:t>
            </a:r>
          </a:p>
        </p:txBody>
      </p:sp>
      <p:sp>
        <p:nvSpPr>
          <p:cNvPr id="55" name="Rounded Rectangle 54"/>
          <p:cNvSpPr/>
          <p:nvPr/>
        </p:nvSpPr>
        <p:spPr>
          <a:xfrm>
            <a:off x="9262872" y="4626864"/>
            <a:ext cx="1810512" cy="32004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0304" y="4658868"/>
            <a:ext cx="1755648" cy="228600"/>
          </a:xfrm>
          <a:prstGeom prst="rect">
            <a:avLst/>
          </a:prstGeom>
          <a:noFill/>
        </p:spPr>
        <p:txBody>
          <a:bodyPr wrap="square" lIns="13716" rIns="13716" tIns="13716" bIns="13716">
            <a:spAutoFit/>
          </a:bodyPr>
          <a:lstStyle/>
          <a:p>
            <a:pPr algn="ctr">
              <a:spcBef>
                <a:spcPts val="0"/>
              </a:spcBef>
              <a:spcAft>
                <a:spcPts val="500"/>
              </a:spcAft>
              <a:defRPr sz="1300" b="1">
                <a:solidFill>
                  <a:srgbClr val="7354B8"/>
                </a:solidFill>
                <a:latin typeface="Arial"/>
              </a:defRPr>
            </a:pPr>
            <a:r>
              <a:t>One token</a:t>
            </a:r>
          </a:p>
        </p:txBody>
      </p:sp>
      <p:sp>
        <p:nvSpPr>
          <p:cNvPr id="57" name="TextBox 56"/>
          <p:cNvSpPr txBox="1"/>
          <p:nvPr/>
        </p:nvSpPr>
        <p:spPr>
          <a:xfrm>
            <a:off x="6419088" y="5111496"/>
            <a:ext cx="4983480" cy="210312"/>
          </a:xfrm>
          <a:prstGeom prst="rect">
            <a:avLst/>
          </a:prstGeom>
          <a:noFill/>
        </p:spPr>
        <p:txBody>
          <a:bodyPr wrap="square" lIns="13716" rIns="13716" tIns="13716" bIns="13716">
            <a:spAutoFit/>
          </a:bodyPr>
          <a:lstStyle/>
          <a:p>
            <a:pPr>
              <a:spcBef>
                <a:spcPts val="0"/>
              </a:spcBef>
              <a:spcAft>
                <a:spcPts val="500"/>
              </a:spcAft>
              <a:defRPr sz="1200" b="1">
                <a:solidFill>
                  <a:srgbClr val="7354B8"/>
                </a:solidFill>
                <a:latin typeface="Arial"/>
              </a:defRPr>
            </a:pPr>
            <a:r>
              <a:t>Then select a next output token for each request.</a:t>
            </a:r>
          </a:p>
        </p:txBody>
      </p:sp>
      <p:sp>
        <p:nvSpPr>
          <p:cNvPr id="58" name="TextBox 57"/>
          <p:cNvSpPr txBox="1"/>
          <p:nvPr/>
        </p:nvSpPr>
        <p:spPr>
          <a:xfrm>
            <a:off x="594360" y="5477256"/>
            <a:ext cx="10927080" cy="228600"/>
          </a:xfrm>
          <a:prstGeom prst="rect">
            <a:avLst/>
          </a:prstGeom>
          <a:noFill/>
        </p:spPr>
        <p:txBody>
          <a:bodyPr wrap="square" lIns="13716" rIns="13716" tIns="13716" bIns="13716">
            <a:spAutoFit/>
          </a:bodyPr>
          <a:lstStyle/>
          <a:p>
            <a:pPr>
              <a:spcBef>
                <a:spcPts val="0"/>
              </a:spcBef>
              <a:spcAft>
                <a:spcPts val="500"/>
              </a:spcAft>
              <a:defRPr sz="1300" b="1">
                <a:solidFill>
                  <a:srgbClr val="AE641A"/>
                </a:solidFill>
                <a:latin typeface="Arial"/>
              </a:defRPr>
            </a:pPr>
            <a:r>
              <a:t>More decode concurrency can increase ITL. Batch within latency and KV-memory budgets.</a:t>
            </a:r>
          </a:p>
        </p:txBody>
      </p:sp>
      <p:sp>
        <p:nvSpPr>
          <p:cNvPr id="59" name="TextBox 58"/>
          <p:cNvSpPr txBox="1"/>
          <p:nvPr/>
        </p:nvSpPr>
        <p:spPr>
          <a:xfrm>
            <a:off x="594360" y="5687568"/>
            <a:ext cx="10927080" cy="13716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Original conceptual illustration; sources: NVIDIA and vLLM (2025) + current documentation.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Why split — capacity control</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Independent pools remove a forced compromise</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payoff is a separate capacity decision for each phase—not separation for its own sake.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Split only when phase-specific gains outweigh KV transfer, duplicated weights and operational cost.</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09 / 56</a:t>
            </a:r>
          </a:p>
        </p:txBody>
      </p:sp>
      <p:sp>
        <p:nvSpPr>
          <p:cNvPr id="10" name="Rounded Rectangle 9"/>
          <p:cNvSpPr/>
          <p:nvPr/>
        </p:nvSpPr>
        <p:spPr>
          <a:xfrm>
            <a:off x="502920" y="2148840"/>
            <a:ext cx="5449824" cy="221284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33172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87168"/>
            <a:ext cx="5084064"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Input side</a:t>
            </a:r>
          </a:p>
        </p:txBody>
      </p:sp>
      <p:sp>
        <p:nvSpPr>
          <p:cNvPr id="13" name="TextBox 12"/>
          <p:cNvSpPr txBox="1"/>
          <p:nvPr/>
        </p:nvSpPr>
        <p:spPr>
          <a:xfrm>
            <a:off x="685800" y="2862072"/>
            <a:ext cx="5084064"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Prompt-heavy demand</a:t>
            </a:r>
          </a:p>
        </p:txBody>
      </p:sp>
      <p:sp>
        <p:nvSpPr>
          <p:cNvPr id="14" name="TextBox 13"/>
          <p:cNvSpPr txBox="1"/>
          <p:nvPr/>
        </p:nvSpPr>
        <p:spPr>
          <a:xfrm>
            <a:off x="685800" y="3465576"/>
            <a:ext cx="5084064" cy="74980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Usually compute-bound; target TTFT.</a:t>
            </a:r>
          </a:p>
          <a:p>
            <a:pPr>
              <a:spcBef>
                <a:spcPts val="0"/>
              </a:spcBef>
              <a:spcAft>
                <a:spcPts val="500"/>
              </a:spcAft>
              <a:defRPr sz="1800" b="0">
                <a:solidFill>
                  <a:srgbClr val="172941"/>
                </a:solidFill>
                <a:latin typeface="Arial"/>
              </a:defRPr>
            </a:pPr>
            <a:r>
              <a:t>Tune prefill capacity / parallelism first.</a:t>
            </a:r>
          </a:p>
        </p:txBody>
      </p:sp>
      <p:sp>
        <p:nvSpPr>
          <p:cNvPr id="15" name="Rounded Rectangle 14"/>
          <p:cNvSpPr/>
          <p:nvPr/>
        </p:nvSpPr>
        <p:spPr>
          <a:xfrm>
            <a:off x="6199632" y="2148840"/>
            <a:ext cx="5449824" cy="221284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64224" y="233172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487168"/>
            <a:ext cx="5084064"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Output side</a:t>
            </a:r>
          </a:p>
        </p:txBody>
      </p:sp>
      <p:sp>
        <p:nvSpPr>
          <p:cNvPr id="18" name="TextBox 17"/>
          <p:cNvSpPr txBox="1"/>
          <p:nvPr/>
        </p:nvSpPr>
        <p:spPr>
          <a:xfrm>
            <a:off x="6382512" y="2862072"/>
            <a:ext cx="5084064"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Generation-heavy demand</a:t>
            </a:r>
          </a:p>
        </p:txBody>
      </p:sp>
      <p:sp>
        <p:nvSpPr>
          <p:cNvPr id="19" name="TextBox 18"/>
          <p:cNvSpPr txBox="1"/>
          <p:nvPr/>
        </p:nvSpPr>
        <p:spPr>
          <a:xfrm>
            <a:off x="6382512" y="3465576"/>
            <a:ext cx="5084064" cy="74980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Often bandwidth-bound; target ITL.</a:t>
            </a:r>
          </a:p>
          <a:p>
            <a:pPr>
              <a:spcBef>
                <a:spcPts val="0"/>
              </a:spcBef>
              <a:spcAft>
                <a:spcPts val="500"/>
              </a:spcAft>
              <a:defRPr sz="1800" b="0">
                <a:solidFill>
                  <a:srgbClr val="172941"/>
                </a:solidFill>
                <a:latin typeface="Arial"/>
              </a:defRPr>
            </a:pPr>
            <a:r>
              <a:t>Tune decode capacity / batching first.</a:t>
            </a:r>
          </a:p>
        </p:txBody>
      </p:sp>
      <p:sp>
        <p:nvSpPr>
          <p:cNvPr id="20" name="Rounded Rectangle 19"/>
          <p:cNvSpPr/>
          <p:nvPr/>
        </p:nvSpPr>
        <p:spPr>
          <a:xfrm>
            <a:off x="594360" y="4498848"/>
            <a:ext cx="3520440" cy="101498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4590288"/>
            <a:ext cx="50292" cy="8321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617720"/>
            <a:ext cx="324612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2563EB"/>
                </a:solidFill>
                <a:latin typeface="Arial"/>
              </a:defRPr>
            </a:pPr>
            <a:r>
              <a:t>Different latency targets</a:t>
            </a:r>
          </a:p>
        </p:txBody>
      </p:sp>
      <p:sp>
        <p:nvSpPr>
          <p:cNvPr id="23" name="TextBox 22"/>
          <p:cNvSpPr txBox="1"/>
          <p:nvPr/>
        </p:nvSpPr>
        <p:spPr>
          <a:xfrm>
            <a:off x="740664" y="5056631"/>
            <a:ext cx="3227832" cy="36576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TTFT versus token delivery</a:t>
            </a:r>
          </a:p>
        </p:txBody>
      </p:sp>
      <p:sp>
        <p:nvSpPr>
          <p:cNvPr id="24" name="Rounded Rectangle 23"/>
          <p:cNvSpPr/>
          <p:nvPr/>
        </p:nvSpPr>
        <p:spPr>
          <a:xfrm>
            <a:off x="4334256" y="4498848"/>
            <a:ext cx="3520440" cy="101498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4256" y="4590288"/>
            <a:ext cx="50292" cy="8321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4617720"/>
            <a:ext cx="324612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Different resource needs</a:t>
            </a:r>
          </a:p>
        </p:txBody>
      </p:sp>
      <p:sp>
        <p:nvSpPr>
          <p:cNvPr id="27" name="TextBox 26"/>
          <p:cNvSpPr txBox="1"/>
          <p:nvPr/>
        </p:nvSpPr>
        <p:spPr>
          <a:xfrm>
            <a:off x="4480560" y="5056631"/>
            <a:ext cx="3227832" cy="36576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Compute, bandwidth, active KV</a:t>
            </a:r>
          </a:p>
        </p:txBody>
      </p:sp>
      <p:sp>
        <p:nvSpPr>
          <p:cNvPr id="28" name="Rounded Rectangle 27"/>
          <p:cNvSpPr/>
          <p:nvPr/>
        </p:nvSpPr>
        <p:spPr>
          <a:xfrm>
            <a:off x="8074152" y="4498848"/>
            <a:ext cx="3520440" cy="101498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4152" y="4590288"/>
            <a:ext cx="50292" cy="832104"/>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11312" y="4617720"/>
            <a:ext cx="324612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Different capacity knobs</a:t>
            </a:r>
          </a:p>
        </p:txBody>
      </p:sp>
      <p:sp>
        <p:nvSpPr>
          <p:cNvPr id="31" name="TextBox 30"/>
          <p:cNvSpPr txBox="1"/>
          <p:nvPr/>
        </p:nvSpPr>
        <p:spPr>
          <a:xfrm>
            <a:off x="8220456" y="5056631"/>
            <a:ext cx="3227832" cy="36576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Replicas, TP, batching policy</a:t>
            </a:r>
          </a:p>
        </p:txBody>
      </p:sp>
      <p:sp>
        <p:nvSpPr>
          <p:cNvPr id="32" name="TextBox 31"/>
          <p:cNvSpPr txBox="1"/>
          <p:nvPr/>
        </p:nvSpPr>
        <p:spPr>
          <a:xfrm>
            <a:off x="594360" y="5641848"/>
            <a:ext cx="10789920" cy="128016"/>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Sources: NVIDIA Dynamo disaggregated-serving overview + DistServe §2.3 • Conceptual; bottlenecks depend on workload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The problem</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Split the phases. Tune the pools independently.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P/D introduces a KV-transfer boundary between prompt processing and generation.</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The transfer path must be fast enough to justify the split.</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10 / 56</a:t>
            </a:r>
          </a:p>
        </p:txBody>
      </p:sp>
      <p:sp>
        <p:nvSpPr>
          <p:cNvPr id="10" name="Rounded Rectangle 9"/>
          <p:cNvSpPr/>
          <p:nvPr/>
        </p:nvSpPr>
        <p:spPr>
          <a:xfrm>
            <a:off x="502920" y="2194560"/>
            <a:ext cx="4114800" cy="315468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32304"/>
            <a:ext cx="3657600" cy="438912"/>
          </a:xfrm>
          <a:prstGeom prst="rect">
            <a:avLst/>
          </a:prstGeom>
          <a:noFill/>
        </p:spPr>
        <p:txBody>
          <a:bodyPr wrap="square" lIns="13716" rIns="13716" tIns="13716" bIns="13716">
            <a:spAutoFit/>
          </a:bodyPr>
          <a:lstStyle/>
          <a:p>
            <a:pPr>
              <a:spcBef>
                <a:spcPts val="0"/>
              </a:spcBef>
              <a:spcAft>
                <a:spcPts val="500"/>
              </a:spcAft>
              <a:defRPr sz="2300" b="1">
                <a:solidFill>
                  <a:srgbClr val="087F8C"/>
                </a:solidFill>
                <a:latin typeface="Arial"/>
              </a:defRPr>
            </a:pPr>
            <a:r>
              <a:t>Prefill pool</a:t>
            </a:r>
          </a:p>
        </p:txBody>
      </p:sp>
      <p:sp>
        <p:nvSpPr>
          <p:cNvPr id="12" name="Rounded Rectangle 11"/>
          <p:cNvSpPr/>
          <p:nvPr/>
        </p:nvSpPr>
        <p:spPr>
          <a:xfrm>
            <a:off x="777240" y="3108960"/>
            <a:ext cx="3566160" cy="1042415"/>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00400"/>
            <a:ext cx="50292" cy="8595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27832"/>
            <a:ext cx="329184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087F8C"/>
                </a:solidFill>
                <a:latin typeface="Arial"/>
              </a:defRPr>
            </a:pPr>
            <a:r>
              <a:t>Prompt processing</a:t>
            </a:r>
          </a:p>
        </p:txBody>
      </p:sp>
      <p:sp>
        <p:nvSpPr>
          <p:cNvPr id="15" name="TextBox 14"/>
          <p:cNvSpPr txBox="1"/>
          <p:nvPr/>
        </p:nvSpPr>
        <p:spPr>
          <a:xfrm>
            <a:off x="923544" y="3666744"/>
            <a:ext cx="3273552" cy="393191"/>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Compute + latency</a:t>
            </a:r>
          </a:p>
        </p:txBody>
      </p:sp>
      <p:sp>
        <p:nvSpPr>
          <p:cNvPr id="16" name="TextBox 15"/>
          <p:cNvSpPr txBox="1"/>
          <p:nvPr/>
        </p:nvSpPr>
        <p:spPr>
          <a:xfrm>
            <a:off x="749808" y="4553712"/>
            <a:ext cx="3566160" cy="713232"/>
          </a:xfrm>
          <a:prstGeom prst="rect">
            <a:avLst/>
          </a:prstGeom>
          <a:noFill/>
        </p:spPr>
        <p:txBody>
          <a:bodyPr wrap="square" lIns="13716" rIns="13716" tIns="13716" bIns="13716">
            <a:spAutoFit/>
          </a:bodyPr>
          <a:lstStyle/>
          <a:p>
            <a:pPr>
              <a:spcBef>
                <a:spcPts val="0"/>
              </a:spcBef>
              <a:spcAft>
                <a:spcPts val="500"/>
              </a:spcAft>
              <a:defRPr sz="1700" b="0">
                <a:solidFill>
                  <a:srgbClr val="087F8C"/>
                </a:solidFill>
                <a:latin typeface="Arial"/>
              </a:defRPr>
            </a:pPr>
            <a:r>
              <a:t>Choose replicas and parallelism</a:t>
            </a:r>
          </a:p>
          <a:p>
            <a:pPr>
              <a:spcBef>
                <a:spcPts val="0"/>
              </a:spcBef>
              <a:spcAft>
                <a:spcPts val="500"/>
              </a:spcAft>
              <a:defRPr sz="1700" b="0">
                <a:solidFill>
                  <a:srgbClr val="087F8C"/>
                </a:solidFill>
                <a:latin typeface="Arial"/>
              </a:defRPr>
            </a:pPr>
            <a:r>
              <a:t>for prompt pressure.</a:t>
            </a:r>
          </a:p>
        </p:txBody>
      </p:sp>
      <p:sp>
        <p:nvSpPr>
          <p:cNvPr id="17" name="Rounded Rectangle 16"/>
          <p:cNvSpPr/>
          <p:nvPr/>
        </p:nvSpPr>
        <p:spPr>
          <a:xfrm>
            <a:off x="7571231" y="2194560"/>
            <a:ext cx="4114800" cy="315468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99831" y="2432304"/>
            <a:ext cx="3657600" cy="438912"/>
          </a:xfrm>
          <a:prstGeom prst="rect">
            <a:avLst/>
          </a:prstGeom>
          <a:noFill/>
        </p:spPr>
        <p:txBody>
          <a:bodyPr wrap="square" lIns="13716" rIns="13716" tIns="13716" bIns="13716">
            <a:spAutoFit/>
          </a:bodyPr>
          <a:lstStyle/>
          <a:p>
            <a:pPr>
              <a:spcBef>
                <a:spcPts val="0"/>
              </a:spcBef>
              <a:spcAft>
                <a:spcPts val="500"/>
              </a:spcAft>
              <a:defRPr sz="2300" b="1">
                <a:solidFill>
                  <a:srgbClr val="7354B8"/>
                </a:solidFill>
                <a:latin typeface="Arial"/>
              </a:defRPr>
            </a:pPr>
            <a:r>
              <a:t>Decode pool</a:t>
            </a:r>
          </a:p>
        </p:txBody>
      </p:sp>
      <p:sp>
        <p:nvSpPr>
          <p:cNvPr id="19" name="Rounded Rectangle 18"/>
          <p:cNvSpPr/>
          <p:nvPr/>
        </p:nvSpPr>
        <p:spPr>
          <a:xfrm>
            <a:off x="7845552" y="3108960"/>
            <a:ext cx="3566160" cy="1042415"/>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45552" y="3200400"/>
            <a:ext cx="50292" cy="8595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82712" y="3227832"/>
            <a:ext cx="329184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7354B8"/>
                </a:solidFill>
                <a:latin typeface="Arial"/>
              </a:defRPr>
            </a:pPr>
            <a:r>
              <a:t>Token generation</a:t>
            </a:r>
          </a:p>
        </p:txBody>
      </p:sp>
      <p:sp>
        <p:nvSpPr>
          <p:cNvPr id="22" name="TextBox 21"/>
          <p:cNvSpPr txBox="1"/>
          <p:nvPr/>
        </p:nvSpPr>
        <p:spPr>
          <a:xfrm>
            <a:off x="7991856" y="3666744"/>
            <a:ext cx="3273552" cy="393191"/>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Bandwidth + active KV memory</a:t>
            </a:r>
          </a:p>
        </p:txBody>
      </p:sp>
      <p:sp>
        <p:nvSpPr>
          <p:cNvPr id="23" name="TextBox 22"/>
          <p:cNvSpPr txBox="1"/>
          <p:nvPr/>
        </p:nvSpPr>
        <p:spPr>
          <a:xfrm>
            <a:off x="7818120" y="4553712"/>
            <a:ext cx="3566160" cy="713232"/>
          </a:xfrm>
          <a:prstGeom prst="rect">
            <a:avLst/>
          </a:prstGeom>
          <a:noFill/>
        </p:spPr>
        <p:txBody>
          <a:bodyPr wrap="square" lIns="13716" rIns="13716" tIns="13716" bIns="13716">
            <a:spAutoFit/>
          </a:bodyPr>
          <a:lstStyle/>
          <a:p>
            <a:pPr>
              <a:spcBef>
                <a:spcPts val="0"/>
              </a:spcBef>
              <a:spcAft>
                <a:spcPts val="500"/>
              </a:spcAft>
              <a:defRPr sz="1700" b="0">
                <a:solidFill>
                  <a:srgbClr val="7354B8"/>
                </a:solidFill>
                <a:latin typeface="Arial"/>
              </a:defRPr>
            </a:pPr>
            <a:r>
              <a:t>Choose replicas and parallelism</a:t>
            </a:r>
          </a:p>
          <a:p>
            <a:pPr>
              <a:spcBef>
                <a:spcPts val="0"/>
              </a:spcBef>
              <a:spcAft>
                <a:spcPts val="500"/>
              </a:spcAft>
              <a:defRPr sz="1700" b="0">
                <a:solidFill>
                  <a:srgbClr val="7354B8"/>
                </a:solidFill>
                <a:latin typeface="Arial"/>
              </a:defRPr>
            </a:pPr>
            <a:r>
              <a:t>for sustained generation.</a:t>
            </a:r>
          </a:p>
        </p:txBody>
      </p:sp>
      <p:cxnSp>
        <p:nvCxnSpPr>
          <p:cNvPr id="24" name="Connector 23"/>
          <p:cNvCxnSpPr/>
          <p:nvPr/>
        </p:nvCxnSpPr>
        <p:spPr>
          <a:xfrm>
            <a:off x="4617720" y="3639312"/>
            <a:ext cx="2953511" cy="0"/>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773168" y="2816352"/>
            <a:ext cx="2651760" cy="594360"/>
          </a:xfrm>
          <a:prstGeom prst="rect">
            <a:avLst/>
          </a:prstGeom>
          <a:noFill/>
        </p:spPr>
        <p:txBody>
          <a:bodyPr wrap="square" lIns="13716" rIns="13716" tIns="13716" bIns="13716">
            <a:spAutoFit/>
          </a:bodyPr>
          <a:lstStyle/>
          <a:p>
            <a:pPr algn="ctr">
              <a:spcBef>
                <a:spcPts val="0"/>
              </a:spcBef>
              <a:spcAft>
                <a:spcPts val="500"/>
              </a:spcAft>
              <a:defRPr sz="2000" b="1">
                <a:solidFill>
                  <a:srgbClr val="087F8C"/>
                </a:solidFill>
                <a:latin typeface="Arial"/>
              </a:defRPr>
            </a:pPr>
            <a:r>
              <a:t>KV cache transfer</a:t>
            </a:r>
          </a:p>
        </p:txBody>
      </p:sp>
      <p:sp>
        <p:nvSpPr>
          <p:cNvPr id="26" name="TextBox 25"/>
          <p:cNvSpPr txBox="1"/>
          <p:nvPr/>
        </p:nvSpPr>
        <p:spPr>
          <a:xfrm>
            <a:off x="4736592" y="3977639"/>
            <a:ext cx="2697480" cy="1005840"/>
          </a:xfrm>
          <a:prstGeom prst="rect">
            <a:avLst/>
          </a:prstGeom>
          <a:noFill/>
        </p:spPr>
        <p:txBody>
          <a:bodyPr wrap="square" lIns="13716" rIns="13716" tIns="13716" bIns="13716">
            <a:spAutoFit/>
          </a:bodyPr>
          <a:lstStyle/>
          <a:p>
            <a:pPr algn="ctr">
              <a:spcBef>
                <a:spcPts val="0"/>
              </a:spcBef>
              <a:spcAft>
                <a:spcPts val="500"/>
              </a:spcAft>
              <a:defRPr sz="1700" b="0">
                <a:solidFill>
                  <a:srgbClr val="586A80"/>
                </a:solidFill>
                <a:latin typeface="Arial"/>
              </a:defRPr>
            </a:pPr>
            <a:r>
              <a:t>New cost:</a:t>
            </a:r>
          </a:p>
          <a:p>
            <a:pPr algn="ctr">
              <a:spcBef>
                <a:spcPts val="0"/>
              </a:spcBef>
              <a:spcAft>
                <a:spcPts val="500"/>
              </a:spcAft>
              <a:defRPr sz="1700" b="0">
                <a:solidFill>
                  <a:srgbClr val="586A80"/>
                </a:solidFill>
                <a:latin typeface="Arial"/>
              </a:defRPr>
            </a:pPr>
            <a:r>
              <a:t>transfer + coordination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The problem</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P/D fits when the phases need different shapes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Start with the traffic profile, not the architecture trend.</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11 / 56</a:t>
            </a:r>
          </a:p>
        </p:txBody>
      </p:sp>
      <p:sp>
        <p:nvSpPr>
          <p:cNvPr id="8" name="Rounded Rectangle 7"/>
          <p:cNvSpPr/>
          <p:nvPr/>
        </p:nvSpPr>
        <p:spPr>
          <a:xfrm>
            <a:off x="502920" y="2148840"/>
            <a:ext cx="3611880" cy="31546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33172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Prompt pressure</a:t>
            </a:r>
          </a:p>
        </p:txBody>
      </p:sp>
      <p:sp>
        <p:nvSpPr>
          <p:cNvPr id="11" name="TextBox 10"/>
          <p:cNvSpPr txBox="1"/>
          <p:nvPr/>
        </p:nvSpPr>
        <p:spPr>
          <a:xfrm>
            <a:off x="685800"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Long prompts</a:t>
            </a:r>
          </a:p>
        </p:txBody>
      </p:sp>
      <p:sp>
        <p:nvSpPr>
          <p:cNvPr id="12" name="TextBox 11"/>
          <p:cNvSpPr txBox="1"/>
          <p:nvPr/>
        </p:nvSpPr>
        <p:spPr>
          <a:xfrm>
            <a:off x="685800" y="3465576"/>
            <a:ext cx="3246120" cy="1691640"/>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RAG and retrieval add significant prefill work.</a:t>
            </a:r>
          </a:p>
        </p:txBody>
      </p:sp>
      <p:sp>
        <p:nvSpPr>
          <p:cNvPr id="13" name="Rounded Rectangle 12"/>
          <p:cNvSpPr/>
          <p:nvPr/>
        </p:nvSpPr>
        <p:spPr>
          <a:xfrm>
            <a:off x="4288536" y="2148840"/>
            <a:ext cx="3611880" cy="31546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53127" y="233172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Generation pressure</a:t>
            </a:r>
          </a:p>
        </p:txBody>
      </p:sp>
      <p:sp>
        <p:nvSpPr>
          <p:cNvPr id="16" name="TextBox 15"/>
          <p:cNvSpPr txBox="1"/>
          <p:nvPr/>
        </p:nvSpPr>
        <p:spPr>
          <a:xfrm>
            <a:off x="4471416"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Long generations</a:t>
            </a:r>
          </a:p>
        </p:txBody>
      </p:sp>
      <p:sp>
        <p:nvSpPr>
          <p:cNvPr id="17" name="TextBox 16"/>
          <p:cNvSpPr txBox="1"/>
          <p:nvPr/>
        </p:nvSpPr>
        <p:spPr>
          <a:xfrm>
            <a:off x="4471416" y="3465576"/>
            <a:ext cx="3246120" cy="1691640"/>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High concurrency keeps decode busy and KV state resident.</a:t>
            </a:r>
          </a:p>
        </p:txBody>
      </p:sp>
      <p:sp>
        <p:nvSpPr>
          <p:cNvPr id="18" name="Rounded Rectangle 17"/>
          <p:cNvSpPr/>
          <p:nvPr/>
        </p:nvSpPr>
        <p:spPr>
          <a:xfrm>
            <a:off x="8074152" y="2148840"/>
            <a:ext cx="3611880" cy="31546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233172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1"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Capacity mismatch</a:t>
            </a:r>
          </a:p>
        </p:txBody>
      </p:sp>
      <p:sp>
        <p:nvSpPr>
          <p:cNvPr id="21" name="TextBox 20"/>
          <p:cNvSpPr txBox="1"/>
          <p:nvPr/>
        </p:nvSpPr>
        <p:spPr>
          <a:xfrm>
            <a:off x="8257031"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Different resources</a:t>
            </a:r>
          </a:p>
        </p:txBody>
      </p:sp>
      <p:sp>
        <p:nvSpPr>
          <p:cNvPr id="22" name="TextBox 21"/>
          <p:cNvSpPr txBox="1"/>
          <p:nvPr/>
        </p:nvSpPr>
        <p:spPr>
          <a:xfrm>
            <a:off x="8257031" y="3465576"/>
            <a:ext cx="3246120" cy="1691640"/>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Each phase needs its own scaling or parallelism choices.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01 / The problem</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Keep aggregated serving when simplicity wins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P/D is an option, not a default.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Small workload + slow transfer fabric is a strong reason not to split.</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12 / 56</a:t>
            </a:r>
          </a:p>
        </p:txBody>
      </p:sp>
      <p:sp>
        <p:nvSpPr>
          <p:cNvPr id="10" name="Rounded Rectangle 9"/>
          <p:cNvSpPr/>
          <p:nvPr/>
        </p:nvSpPr>
        <p:spPr>
          <a:xfrm>
            <a:off x="502920" y="2176272"/>
            <a:ext cx="5440680" cy="32461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359152"/>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42032"/>
            <a:ext cx="50749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When aggregated fits</a:t>
            </a:r>
          </a:p>
        </p:txBody>
      </p:sp>
      <p:sp>
        <p:nvSpPr>
          <p:cNvPr id="13" name="TextBox 12"/>
          <p:cNvSpPr txBox="1"/>
          <p:nvPr/>
        </p:nvSpPr>
        <p:spPr>
          <a:xfrm>
            <a:off x="685800" y="3145536"/>
            <a:ext cx="5074920" cy="2130551"/>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Small models or short prompts</a:t>
            </a:r>
          </a:p>
          <a:p>
            <a:pPr>
              <a:spcBef>
                <a:spcPts val="0"/>
              </a:spcBef>
              <a:spcAft>
                <a:spcPts val="500"/>
              </a:spcAft>
              <a:defRPr sz="2000" b="0">
                <a:solidFill>
                  <a:srgbClr val="172941"/>
                </a:solidFill>
                <a:latin typeface="Arial"/>
              </a:defRPr>
            </a:pPr>
          </a:p>
          <a:p>
            <a:pPr>
              <a:spcBef>
                <a:spcPts val="0"/>
              </a:spcBef>
              <a:spcAft>
                <a:spcPts val="500"/>
              </a:spcAft>
              <a:defRPr sz="2000" b="0">
                <a:solidFill>
                  <a:srgbClr val="172941"/>
                </a:solidFill>
                <a:latin typeface="Arial"/>
              </a:defRPr>
            </a:pPr>
            <a:r>
              <a:t>Low request concurrency</a:t>
            </a:r>
          </a:p>
          <a:p>
            <a:pPr>
              <a:spcBef>
                <a:spcPts val="0"/>
              </a:spcBef>
              <a:spcAft>
                <a:spcPts val="500"/>
              </a:spcAft>
              <a:defRPr sz="2000" b="0">
                <a:solidFill>
                  <a:srgbClr val="172941"/>
                </a:solidFill>
                <a:latin typeface="Arial"/>
              </a:defRPr>
            </a:pPr>
          </a:p>
          <a:p>
            <a:pPr>
              <a:spcBef>
                <a:spcPts val="0"/>
              </a:spcBef>
              <a:spcAft>
                <a:spcPts val="500"/>
              </a:spcAft>
              <a:defRPr sz="2000" b="0">
                <a:solidFill>
                  <a:srgbClr val="172941"/>
                </a:solidFill>
                <a:latin typeface="Arial"/>
              </a:defRPr>
            </a:pPr>
            <a:r>
              <a:t>Simple, stable capacity needs</a:t>
            </a:r>
          </a:p>
        </p:txBody>
      </p:sp>
      <p:sp>
        <p:nvSpPr>
          <p:cNvPr id="14" name="Rounded Rectangle 13"/>
          <p:cNvSpPr/>
          <p:nvPr/>
        </p:nvSpPr>
        <p:spPr>
          <a:xfrm>
            <a:off x="6199632" y="2176272"/>
            <a:ext cx="5440680" cy="32461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64224" y="2359152"/>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542032"/>
            <a:ext cx="5074920"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The split adds real costs</a:t>
            </a:r>
          </a:p>
        </p:txBody>
      </p:sp>
      <p:sp>
        <p:nvSpPr>
          <p:cNvPr id="17" name="TextBox 16"/>
          <p:cNvSpPr txBox="1"/>
          <p:nvPr/>
        </p:nvSpPr>
        <p:spPr>
          <a:xfrm>
            <a:off x="6382512" y="3145536"/>
            <a:ext cx="5074920" cy="2130551"/>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KV transfer across the fabric</a:t>
            </a:r>
          </a:p>
          <a:p>
            <a:pPr>
              <a:spcBef>
                <a:spcPts val="0"/>
              </a:spcBef>
              <a:spcAft>
                <a:spcPts val="500"/>
              </a:spcAft>
              <a:defRPr sz="2000" b="0">
                <a:solidFill>
                  <a:srgbClr val="172941"/>
                </a:solidFill>
                <a:latin typeface="Arial"/>
              </a:defRPr>
            </a:pPr>
          </a:p>
          <a:p>
            <a:pPr>
              <a:spcBef>
                <a:spcPts val="0"/>
              </a:spcBef>
              <a:spcAft>
                <a:spcPts val="500"/>
              </a:spcAft>
              <a:defRPr sz="2000" b="0">
                <a:solidFill>
                  <a:srgbClr val="172941"/>
                </a:solidFill>
                <a:latin typeface="Arial"/>
              </a:defRPr>
            </a:pPr>
            <a:r>
              <a:t>More routing and runtime wiring</a:t>
            </a:r>
          </a:p>
          <a:p>
            <a:pPr>
              <a:spcBef>
                <a:spcPts val="0"/>
              </a:spcBef>
              <a:spcAft>
                <a:spcPts val="500"/>
              </a:spcAft>
              <a:defRPr sz="2000" b="0">
                <a:solidFill>
                  <a:srgbClr val="172941"/>
                </a:solidFill>
                <a:latin typeface="Arial"/>
              </a:defRPr>
            </a:pPr>
          </a:p>
          <a:p>
            <a:pPr>
              <a:spcBef>
                <a:spcPts val="0"/>
              </a:spcBef>
              <a:spcAft>
                <a:spcPts val="500"/>
              </a:spcAft>
              <a:defRPr sz="2000" b="0">
                <a:solidFill>
                  <a:srgbClr val="172941"/>
                </a:solidFill>
                <a:latin typeface="Arial"/>
              </a:defRPr>
            </a:pPr>
            <a:r>
              <a:t>Additional failure boundaries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02 / The orchestration gap</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hard part is the Kubernetes wiring</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two-pool idea expands into a network of runtime contracts.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Correct routing, transfer settings, labels, ports, and readiness must agree.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13 / 56</a:t>
            </a:r>
          </a:p>
        </p:txBody>
      </p:sp>
      <p:sp>
        <p:nvSpPr>
          <p:cNvPr id="10" name="Rounded Rectangle 9"/>
          <p:cNvSpPr/>
          <p:nvPr/>
        </p:nvSpPr>
        <p:spPr>
          <a:xfrm>
            <a:off x="4407408" y="3136392"/>
            <a:ext cx="3383280" cy="9601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3227832"/>
            <a:ext cx="5029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3255264"/>
            <a:ext cx="310896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2563EB"/>
                </a:solidFill>
                <a:latin typeface="Arial"/>
              </a:defRPr>
            </a:pPr>
            <a:r>
              <a:t>One model service</a:t>
            </a:r>
          </a:p>
        </p:txBody>
      </p:sp>
      <p:sp>
        <p:nvSpPr>
          <p:cNvPr id="13" name="TextBox 12"/>
          <p:cNvSpPr txBox="1"/>
          <p:nvPr/>
        </p:nvSpPr>
        <p:spPr>
          <a:xfrm>
            <a:off x="4553712" y="3694176"/>
            <a:ext cx="3090672" cy="3108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Two role-specific backends</a:t>
            </a:r>
          </a:p>
        </p:txBody>
      </p:sp>
      <p:sp>
        <p:nvSpPr>
          <p:cNvPr id="14" name="Rounded Rectangle 13"/>
          <p:cNvSpPr/>
          <p:nvPr/>
        </p:nvSpPr>
        <p:spPr>
          <a:xfrm>
            <a:off x="502920" y="2103120"/>
            <a:ext cx="3429000"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194560"/>
            <a:ext cx="50292"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221991"/>
            <a:ext cx="31546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2563EB"/>
                </a:solidFill>
                <a:latin typeface="Arial"/>
              </a:defRPr>
            </a:pPr>
            <a:r>
              <a:t>Routing topology</a:t>
            </a:r>
          </a:p>
        </p:txBody>
      </p:sp>
      <p:sp>
        <p:nvSpPr>
          <p:cNvPr id="17" name="TextBox 16"/>
          <p:cNvSpPr txBox="1"/>
          <p:nvPr/>
        </p:nvSpPr>
        <p:spPr>
          <a:xfrm>
            <a:off x="649224" y="2660904"/>
            <a:ext cx="3136392"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EPP + endpoint selection</a:t>
            </a:r>
          </a:p>
        </p:txBody>
      </p:sp>
      <p:sp>
        <p:nvSpPr>
          <p:cNvPr id="18" name="Rounded Rectangle 17"/>
          <p:cNvSpPr/>
          <p:nvPr/>
        </p:nvSpPr>
        <p:spPr>
          <a:xfrm>
            <a:off x="502920" y="4187952"/>
            <a:ext cx="3429000"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279392"/>
            <a:ext cx="50292" cy="960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06824"/>
            <a:ext cx="31546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KV-transfer contract</a:t>
            </a:r>
          </a:p>
        </p:txBody>
      </p:sp>
      <p:sp>
        <p:nvSpPr>
          <p:cNvPr id="21" name="TextBox 20"/>
          <p:cNvSpPr txBox="1"/>
          <p:nvPr/>
        </p:nvSpPr>
        <p:spPr>
          <a:xfrm>
            <a:off x="649224" y="4745736"/>
            <a:ext cx="3136392"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Connector + transport settings</a:t>
            </a:r>
          </a:p>
        </p:txBody>
      </p:sp>
      <p:sp>
        <p:nvSpPr>
          <p:cNvPr id="22" name="Rounded Rectangle 21"/>
          <p:cNvSpPr/>
          <p:nvPr/>
        </p:nvSpPr>
        <p:spPr>
          <a:xfrm>
            <a:off x="8257031" y="2103120"/>
            <a:ext cx="3429000"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57031" y="2194560"/>
            <a:ext cx="50292" cy="9601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2221991"/>
            <a:ext cx="31546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Decode-side proxy</a:t>
            </a:r>
          </a:p>
        </p:txBody>
      </p:sp>
      <p:sp>
        <p:nvSpPr>
          <p:cNvPr id="25" name="TextBox 24"/>
          <p:cNvSpPr txBox="1"/>
          <p:nvPr/>
        </p:nvSpPr>
        <p:spPr>
          <a:xfrm>
            <a:off x="8403336" y="2660904"/>
            <a:ext cx="3136392"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Request orchestration</a:t>
            </a:r>
          </a:p>
        </p:txBody>
      </p:sp>
      <p:sp>
        <p:nvSpPr>
          <p:cNvPr id="26" name="Rounded Rectangle 25"/>
          <p:cNvSpPr/>
          <p:nvPr/>
        </p:nvSpPr>
        <p:spPr>
          <a:xfrm>
            <a:off x="8257031" y="4187952"/>
            <a:ext cx="3429000"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7031" y="4279392"/>
            <a:ext cx="50292" cy="960120"/>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4192" y="4306824"/>
            <a:ext cx="31546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AE641A"/>
                </a:solidFill>
                <a:latin typeface="Arial"/>
              </a:defRPr>
            </a:pPr>
            <a:r>
              <a:t>Lifecycle + scaling</a:t>
            </a:r>
          </a:p>
        </p:txBody>
      </p:sp>
      <p:sp>
        <p:nvSpPr>
          <p:cNvPr id="29" name="TextBox 28"/>
          <p:cNvSpPr txBox="1"/>
          <p:nvPr/>
        </p:nvSpPr>
        <p:spPr>
          <a:xfrm>
            <a:off x="8403336" y="4745736"/>
            <a:ext cx="3136392"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Ports, labels, probes, replicas</a:t>
            </a:r>
          </a:p>
        </p:txBody>
      </p:sp>
      <p:cxnSp>
        <p:nvCxnSpPr>
          <p:cNvPr id="30" name="Connector 29"/>
          <p:cNvCxnSpPr/>
          <p:nvPr/>
        </p:nvCxnSpPr>
        <p:spPr>
          <a:xfrm>
            <a:off x="3931920" y="2679192"/>
            <a:ext cx="228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60520" y="2679192"/>
            <a:ext cx="0" cy="749808"/>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160520" y="3429000"/>
            <a:ext cx="246888"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931920" y="4754880"/>
            <a:ext cx="2286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160520" y="3813048"/>
            <a:ext cx="0" cy="941832"/>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160520" y="3813048"/>
            <a:ext cx="246888"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790688" y="3429000"/>
            <a:ext cx="228600"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019288" y="2679192"/>
            <a:ext cx="0" cy="749808"/>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19288" y="2679192"/>
            <a:ext cx="237743"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790688" y="3813048"/>
            <a:ext cx="228600" cy="0"/>
          </a:xfrm>
          <a:prstGeom prst="line">
            <a:avLst/>
          </a:prstGeom>
          <a:ln w="25400">
            <a:solidFill>
              <a:srgbClr val="AE64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19288" y="3813048"/>
            <a:ext cx="0" cy="941832"/>
          </a:xfrm>
          <a:prstGeom prst="line">
            <a:avLst/>
          </a:prstGeom>
          <a:ln w="25400">
            <a:solidFill>
              <a:srgbClr val="AE64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19288" y="4754880"/>
            <a:ext cx="237743" cy="0"/>
          </a:xfrm>
          <a:prstGeom prst="line">
            <a:avLst/>
          </a:prstGeom>
          <a:ln w="25400">
            <a:solidFill>
              <a:srgbClr val="AE641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02 / Ecosystem landscape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Open-source P/D: several paths, different abstractions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Representative approaches—not an adoption ranking or mutually exclusive stacks.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Declarative APIs already exist. The opportunity is simpler integration—not the first CRD.</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14 / 56</a:t>
            </a:r>
          </a:p>
        </p:txBody>
      </p:sp>
      <p:sp>
        <p:nvSpPr>
          <p:cNvPr id="10" name="Rectangle 9"/>
          <p:cNvSpPr/>
          <p:nvPr/>
        </p:nvSpPr>
        <p:spPr>
          <a:xfrm>
            <a:off x="502920" y="1938528"/>
            <a:ext cx="2857500" cy="406908"/>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016252"/>
            <a:ext cx="2679191" cy="292608"/>
          </a:xfrm>
          <a:prstGeom prst="rect">
            <a:avLst/>
          </a:prstGeom>
          <a:noFill/>
        </p:spPr>
        <p:txBody>
          <a:bodyPr wrap="square" lIns="13716" rIns="13716" tIns="13716" bIns="13716">
            <a:spAutoFit/>
          </a:bodyPr>
          <a:lstStyle/>
          <a:p>
            <a:pPr>
              <a:spcBef>
                <a:spcPts val="0"/>
              </a:spcBef>
              <a:spcAft>
                <a:spcPts val="500"/>
              </a:spcAft>
              <a:defRPr sz="1300" b="1">
                <a:solidFill>
                  <a:srgbClr val="FFFFFF"/>
                </a:solidFill>
                <a:latin typeface="Arial"/>
              </a:defRPr>
            </a:pPr>
            <a:r>
              <a:t>Approach</a:t>
            </a:r>
          </a:p>
        </p:txBody>
      </p:sp>
      <p:sp>
        <p:nvSpPr>
          <p:cNvPr id="12" name="Rectangle 11"/>
          <p:cNvSpPr/>
          <p:nvPr/>
        </p:nvSpPr>
        <p:spPr>
          <a:xfrm>
            <a:off x="3383280" y="1938528"/>
            <a:ext cx="3936491" cy="406908"/>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2016252"/>
            <a:ext cx="3758184" cy="292608"/>
          </a:xfrm>
          <a:prstGeom prst="rect">
            <a:avLst/>
          </a:prstGeom>
          <a:noFill/>
        </p:spPr>
        <p:txBody>
          <a:bodyPr wrap="square" lIns="13716" rIns="13716" tIns="13716" bIns="13716">
            <a:spAutoFit/>
          </a:bodyPr>
          <a:lstStyle/>
          <a:p>
            <a:pPr>
              <a:spcBef>
                <a:spcPts val="0"/>
              </a:spcBef>
              <a:spcAft>
                <a:spcPts val="500"/>
              </a:spcAft>
              <a:defRPr sz="1300" b="1">
                <a:solidFill>
                  <a:srgbClr val="FFFFFF"/>
                </a:solidFill>
                <a:latin typeface="Arial"/>
              </a:defRPr>
            </a:pPr>
            <a:r>
              <a:t>Serving / routing path</a:t>
            </a:r>
          </a:p>
        </p:txBody>
      </p:sp>
      <p:sp>
        <p:nvSpPr>
          <p:cNvPr id="14" name="Rectangle 13"/>
          <p:cNvSpPr/>
          <p:nvPr/>
        </p:nvSpPr>
        <p:spPr>
          <a:xfrm>
            <a:off x="7342632" y="1938528"/>
            <a:ext cx="4320540" cy="406908"/>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43216" y="2016252"/>
            <a:ext cx="4142232" cy="292608"/>
          </a:xfrm>
          <a:prstGeom prst="rect">
            <a:avLst/>
          </a:prstGeom>
          <a:noFill/>
        </p:spPr>
        <p:txBody>
          <a:bodyPr wrap="square" lIns="13716" rIns="13716" tIns="13716" bIns="13716">
            <a:spAutoFit/>
          </a:bodyPr>
          <a:lstStyle/>
          <a:p>
            <a:pPr>
              <a:spcBef>
                <a:spcPts val="0"/>
              </a:spcBef>
              <a:spcAft>
                <a:spcPts val="500"/>
              </a:spcAft>
              <a:defRPr sz="1300" b="1">
                <a:solidFill>
                  <a:srgbClr val="FFFFFF"/>
                </a:solidFill>
                <a:latin typeface="Arial"/>
              </a:defRPr>
            </a:pPr>
            <a:r>
              <a:t>Kubernetes packaging</a:t>
            </a:r>
          </a:p>
        </p:txBody>
      </p:sp>
      <p:sp>
        <p:nvSpPr>
          <p:cNvPr id="16" name="Rectangle 15"/>
          <p:cNvSpPr/>
          <p:nvPr/>
        </p:nvSpPr>
        <p:spPr>
          <a:xfrm>
            <a:off x="502920" y="2368296"/>
            <a:ext cx="285750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2446020"/>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NVIDIA Dynamo</a:t>
            </a:r>
          </a:p>
        </p:txBody>
      </p:sp>
      <p:sp>
        <p:nvSpPr>
          <p:cNvPr id="18" name="Rectangle 17"/>
          <p:cNvSpPr/>
          <p:nvPr/>
        </p:nvSpPr>
        <p:spPr>
          <a:xfrm>
            <a:off x="3383280" y="2368296"/>
            <a:ext cx="3936491"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2446020"/>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Integrated inference stack</a:t>
            </a:r>
          </a:p>
        </p:txBody>
      </p:sp>
      <p:sp>
        <p:nvSpPr>
          <p:cNvPr id="20" name="Rectangle 19"/>
          <p:cNvSpPr/>
          <p:nvPr/>
        </p:nvSpPr>
        <p:spPr>
          <a:xfrm>
            <a:off x="7342632" y="2368296"/>
            <a:ext cx="432054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2446020"/>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Operator + DynamoGraphDeployment</a:t>
            </a:r>
          </a:p>
        </p:txBody>
      </p:sp>
      <p:sp>
        <p:nvSpPr>
          <p:cNvPr id="22" name="Rectangle 21"/>
          <p:cNvSpPr/>
          <p:nvPr/>
        </p:nvSpPr>
        <p:spPr>
          <a:xfrm>
            <a:off x="502920" y="2798064"/>
            <a:ext cx="285750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2875788"/>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llm-d</a:t>
            </a:r>
          </a:p>
        </p:txBody>
      </p:sp>
      <p:sp>
        <p:nvSpPr>
          <p:cNvPr id="24" name="Rectangle 23"/>
          <p:cNvSpPr/>
          <p:nvPr/>
        </p:nvSpPr>
        <p:spPr>
          <a:xfrm>
            <a:off x="3383280" y="2798064"/>
            <a:ext cx="3936491"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83864" y="2875788"/>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P/D-aware EPP + routing sidecar</a:t>
            </a:r>
          </a:p>
        </p:txBody>
      </p:sp>
      <p:sp>
        <p:nvSpPr>
          <p:cNvPr id="26" name="Rectangle 25"/>
          <p:cNvSpPr/>
          <p:nvPr/>
        </p:nvSpPr>
        <p:spPr>
          <a:xfrm>
            <a:off x="7342632" y="2798064"/>
            <a:ext cx="432054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3216" y="2875788"/>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Gateway API / InferencePool</a:t>
            </a:r>
          </a:p>
        </p:txBody>
      </p:sp>
      <p:sp>
        <p:nvSpPr>
          <p:cNvPr id="28" name="Rectangle 27"/>
          <p:cNvSpPr/>
          <p:nvPr/>
        </p:nvSpPr>
        <p:spPr>
          <a:xfrm>
            <a:off x="502920" y="3227832"/>
            <a:ext cx="285750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 y="3305556"/>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AIBrix</a:t>
            </a:r>
          </a:p>
        </p:txBody>
      </p:sp>
      <p:sp>
        <p:nvSpPr>
          <p:cNvPr id="30" name="Rectangle 29"/>
          <p:cNvSpPr/>
          <p:nvPr/>
        </p:nvSpPr>
        <p:spPr>
          <a:xfrm>
            <a:off x="3383280" y="3227832"/>
            <a:ext cx="3936491"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83864" y="3305556"/>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P/D-aware gateway + engines</a:t>
            </a:r>
          </a:p>
        </p:txBody>
      </p:sp>
      <p:sp>
        <p:nvSpPr>
          <p:cNvPr id="32" name="Rectangle 31"/>
          <p:cNvSpPr/>
          <p:nvPr/>
        </p:nvSpPr>
        <p:spPr>
          <a:xfrm>
            <a:off x="7342632" y="3227832"/>
            <a:ext cx="432054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43216" y="3305556"/>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StormService / RoleSet</a:t>
            </a:r>
          </a:p>
        </p:txBody>
      </p:sp>
      <p:sp>
        <p:nvSpPr>
          <p:cNvPr id="34" name="Rectangle 33"/>
          <p:cNvSpPr/>
          <p:nvPr/>
        </p:nvSpPr>
        <p:spPr>
          <a:xfrm>
            <a:off x="502920" y="3657600"/>
            <a:ext cx="285750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 y="3735324"/>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KServe + llm-d</a:t>
            </a:r>
          </a:p>
        </p:txBody>
      </p:sp>
      <p:sp>
        <p:nvSpPr>
          <p:cNvPr id="36" name="Rectangle 35"/>
          <p:cNvSpPr/>
          <p:nvPr/>
        </p:nvSpPr>
        <p:spPr>
          <a:xfrm>
            <a:off x="3383280" y="3657600"/>
            <a:ext cx="3936491"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83864" y="3735324"/>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llm-d serving integration</a:t>
            </a:r>
          </a:p>
        </p:txBody>
      </p:sp>
      <p:sp>
        <p:nvSpPr>
          <p:cNvPr id="38" name="Rectangle 37"/>
          <p:cNvSpPr/>
          <p:nvPr/>
        </p:nvSpPr>
        <p:spPr>
          <a:xfrm>
            <a:off x="7342632" y="3657600"/>
            <a:ext cx="432054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43216" y="3735324"/>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LLMInferenceService</a:t>
            </a:r>
          </a:p>
        </p:txBody>
      </p:sp>
      <p:sp>
        <p:nvSpPr>
          <p:cNvPr id="40" name="Rectangle 39"/>
          <p:cNvSpPr/>
          <p:nvPr/>
        </p:nvSpPr>
        <p:spPr>
          <a:xfrm>
            <a:off x="502920" y="4087368"/>
            <a:ext cx="285750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3504" y="4165091"/>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Ray Serve + KubeRay</a:t>
            </a:r>
          </a:p>
        </p:txBody>
      </p:sp>
      <p:sp>
        <p:nvSpPr>
          <p:cNvPr id="42" name="Rectangle 41"/>
          <p:cNvSpPr/>
          <p:nvPr/>
        </p:nvSpPr>
        <p:spPr>
          <a:xfrm>
            <a:off x="3383280" y="4087368"/>
            <a:ext cx="3936491"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83864" y="4165091"/>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P/D app + vLLM KV connectors</a:t>
            </a:r>
          </a:p>
        </p:txBody>
      </p:sp>
      <p:sp>
        <p:nvSpPr>
          <p:cNvPr id="44" name="Rectangle 43"/>
          <p:cNvSpPr/>
          <p:nvPr/>
        </p:nvSpPr>
        <p:spPr>
          <a:xfrm>
            <a:off x="7342632" y="4087368"/>
            <a:ext cx="4320540" cy="4069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43216" y="4165091"/>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RayService + Serve configuration</a:t>
            </a:r>
          </a:p>
        </p:txBody>
      </p:sp>
      <p:sp>
        <p:nvSpPr>
          <p:cNvPr id="46" name="Rectangle 45"/>
          <p:cNvSpPr/>
          <p:nvPr/>
        </p:nvSpPr>
        <p:spPr>
          <a:xfrm>
            <a:off x="502920" y="4517136"/>
            <a:ext cx="285750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4" y="4594859"/>
            <a:ext cx="2679191" cy="292608"/>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vLLM Production Stack</a:t>
            </a:r>
          </a:p>
        </p:txBody>
      </p:sp>
      <p:sp>
        <p:nvSpPr>
          <p:cNvPr id="48" name="Rectangle 47"/>
          <p:cNvSpPr/>
          <p:nvPr/>
        </p:nvSpPr>
        <p:spPr>
          <a:xfrm>
            <a:off x="3383280" y="4517136"/>
            <a:ext cx="3936491"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83864" y="4594859"/>
            <a:ext cx="3758184"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vLLM + LMCache / NIXL + router</a:t>
            </a:r>
          </a:p>
        </p:txBody>
      </p:sp>
      <p:sp>
        <p:nvSpPr>
          <p:cNvPr id="50" name="Rectangle 49"/>
          <p:cNvSpPr/>
          <p:nvPr/>
        </p:nvSpPr>
        <p:spPr>
          <a:xfrm>
            <a:off x="7342632" y="4517136"/>
            <a:ext cx="4320540" cy="406908"/>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43216" y="4594859"/>
            <a:ext cx="4142232" cy="292608"/>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Helm-managed P/D deployment</a:t>
            </a:r>
          </a:p>
        </p:txBody>
      </p:sp>
      <p:sp>
        <p:nvSpPr>
          <p:cNvPr id="52" name="Rounded Rectangle 51"/>
          <p:cNvSpPr/>
          <p:nvPr/>
        </p:nvSpPr>
        <p:spPr>
          <a:xfrm>
            <a:off x="502920" y="5074920"/>
            <a:ext cx="11183112" cy="521207"/>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 y="5193792"/>
            <a:ext cx="10881360" cy="292608"/>
          </a:xfrm>
          <a:prstGeom prst="rect">
            <a:avLst/>
          </a:prstGeom>
          <a:noFill/>
        </p:spPr>
        <p:txBody>
          <a:bodyPr wrap="square" lIns="13716" rIns="13716" tIns="13716" bIns="13716">
            <a:spAutoFit/>
          </a:bodyPr>
          <a:lstStyle/>
          <a:p>
            <a:pPr>
              <a:spcBef>
                <a:spcPts val="0"/>
              </a:spcBef>
              <a:spcAft>
                <a:spcPts val="500"/>
              </a:spcAft>
              <a:defRPr sz="1500" b="0">
                <a:solidFill>
                  <a:srgbClr val="087F8C"/>
                </a:solidFill>
                <a:latin typeface="Arial"/>
              </a:defRPr>
            </a:pPr>
            <a:r>
              <a:t>Also: LWS DisaggregatedSet orchestrates roles; engines and KV transport remain separate.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Integration rationale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Why llm-d is the best fit for KAITO’s P/D integration</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For teams choosing KAITO’s Kubernetes operating model—not a universal best-platform claim.</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KAITO owns deployment intent and lifecycle; llm-d supplies reusable inference routing.</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15 / 56</a:t>
            </a:r>
          </a:p>
        </p:txBody>
      </p:sp>
      <p:sp>
        <p:nvSpPr>
          <p:cNvPr id="10" name="Rounded Rectangle 9"/>
          <p:cNvSpPr/>
          <p:nvPr/>
        </p:nvSpPr>
        <p:spPr>
          <a:xfrm>
            <a:off x="502920" y="1975104"/>
            <a:ext cx="3310128"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66544"/>
            <a:ext cx="50292" cy="9326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93976"/>
            <a:ext cx="3035808"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KAITO</a:t>
            </a:r>
          </a:p>
        </p:txBody>
      </p:sp>
      <p:sp>
        <p:nvSpPr>
          <p:cNvPr id="13" name="TextBox 12"/>
          <p:cNvSpPr txBox="1"/>
          <p:nvPr/>
        </p:nvSpPr>
        <p:spPr>
          <a:xfrm>
            <a:off x="649224" y="2532888"/>
            <a:ext cx="3017520"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MRI → child InferenceSets</a:t>
            </a:r>
          </a:p>
        </p:txBody>
      </p:sp>
      <p:sp>
        <p:nvSpPr>
          <p:cNvPr id="14" name="Rounded Rectangle 13"/>
          <p:cNvSpPr/>
          <p:nvPr/>
        </p:nvSpPr>
        <p:spPr>
          <a:xfrm>
            <a:off x="4443984" y="1975104"/>
            <a:ext cx="3310128"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3984" y="2066544"/>
            <a:ext cx="50292" cy="93268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093976"/>
            <a:ext cx="3035808" cy="393192"/>
          </a:xfrm>
          <a:prstGeom prst="rect">
            <a:avLst/>
          </a:prstGeom>
          <a:noFill/>
        </p:spPr>
        <p:txBody>
          <a:bodyPr wrap="square" lIns="13716" rIns="13716" tIns="13716" bIns="13716">
            <a:spAutoFit/>
          </a:bodyPr>
          <a:lstStyle/>
          <a:p>
            <a:pPr algn="ctr">
              <a:spcBef>
                <a:spcPts val="0"/>
              </a:spcBef>
              <a:spcAft>
                <a:spcPts val="500"/>
              </a:spcAft>
              <a:defRPr sz="2100" b="1">
                <a:solidFill>
                  <a:srgbClr val="087F8C"/>
                </a:solidFill>
                <a:latin typeface="Arial"/>
              </a:defRPr>
            </a:pPr>
            <a:r>
              <a:t>llm-d</a:t>
            </a:r>
          </a:p>
        </p:txBody>
      </p:sp>
      <p:sp>
        <p:nvSpPr>
          <p:cNvPr id="17" name="TextBox 16"/>
          <p:cNvSpPr txBox="1"/>
          <p:nvPr/>
        </p:nvSpPr>
        <p:spPr>
          <a:xfrm>
            <a:off x="4590288" y="2532888"/>
            <a:ext cx="3017520"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EPP + decode routing sidecar</a:t>
            </a:r>
          </a:p>
        </p:txBody>
      </p:sp>
      <p:sp>
        <p:nvSpPr>
          <p:cNvPr id="18" name="Rounded Rectangle 17"/>
          <p:cNvSpPr/>
          <p:nvPr/>
        </p:nvSpPr>
        <p:spPr>
          <a:xfrm>
            <a:off x="8385048" y="1975104"/>
            <a:ext cx="3300984" cy="1115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85048" y="2066544"/>
            <a:ext cx="50292" cy="932688"/>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22208" y="2093976"/>
            <a:ext cx="3026664" cy="393192"/>
          </a:xfrm>
          <a:prstGeom prst="rect">
            <a:avLst/>
          </a:prstGeom>
          <a:noFill/>
        </p:spPr>
        <p:txBody>
          <a:bodyPr wrap="square" lIns="13716" rIns="13716" tIns="13716" bIns="13716">
            <a:spAutoFit/>
          </a:bodyPr>
          <a:lstStyle/>
          <a:p>
            <a:pPr algn="ctr">
              <a:spcBef>
                <a:spcPts val="0"/>
              </a:spcBef>
              <a:spcAft>
                <a:spcPts val="500"/>
              </a:spcAft>
              <a:defRPr sz="2100" b="1">
                <a:solidFill>
                  <a:srgbClr val="7354B8"/>
                </a:solidFill>
                <a:latin typeface="Arial"/>
              </a:defRPr>
            </a:pPr>
            <a:r>
              <a:t>vLLM + NIXL</a:t>
            </a:r>
          </a:p>
        </p:txBody>
      </p:sp>
      <p:sp>
        <p:nvSpPr>
          <p:cNvPr id="21" name="TextBox 20"/>
          <p:cNvSpPr txBox="1"/>
          <p:nvPr/>
        </p:nvSpPr>
        <p:spPr>
          <a:xfrm>
            <a:off x="8531352" y="2532888"/>
            <a:ext cx="3008376" cy="4663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Execute phases + move KV</a:t>
            </a:r>
          </a:p>
        </p:txBody>
      </p:sp>
      <p:sp>
        <p:nvSpPr>
          <p:cNvPr id="22" name="TextBox 21"/>
          <p:cNvSpPr txBox="1"/>
          <p:nvPr/>
        </p:nvSpPr>
        <p:spPr>
          <a:xfrm>
            <a:off x="3877056" y="2304288"/>
            <a:ext cx="493776" cy="457200"/>
          </a:xfrm>
          <a:prstGeom prst="rect">
            <a:avLst/>
          </a:prstGeom>
          <a:noFill/>
        </p:spPr>
        <p:txBody>
          <a:bodyPr wrap="square" lIns="13716" rIns="13716" tIns="13716" bIns="13716">
            <a:spAutoFit/>
          </a:bodyPr>
          <a:lstStyle/>
          <a:p>
            <a:pPr algn="ctr">
              <a:spcBef>
                <a:spcPts val="0"/>
              </a:spcBef>
              <a:spcAft>
                <a:spcPts val="500"/>
              </a:spcAft>
              <a:defRPr sz="2600" b="1">
                <a:solidFill>
                  <a:srgbClr val="586A80"/>
                </a:solidFill>
                <a:latin typeface="Arial"/>
              </a:defRPr>
            </a:pPr>
            <a:r>
              <a:t>+</a:t>
            </a:r>
          </a:p>
        </p:txBody>
      </p:sp>
      <p:sp>
        <p:nvSpPr>
          <p:cNvPr id="23" name="TextBox 22"/>
          <p:cNvSpPr txBox="1"/>
          <p:nvPr/>
        </p:nvSpPr>
        <p:spPr>
          <a:xfrm>
            <a:off x="7818120" y="2304288"/>
            <a:ext cx="493776" cy="457200"/>
          </a:xfrm>
          <a:prstGeom prst="rect">
            <a:avLst/>
          </a:prstGeom>
          <a:noFill/>
        </p:spPr>
        <p:txBody>
          <a:bodyPr wrap="square" lIns="13716" rIns="13716" tIns="13716" bIns="13716">
            <a:spAutoFit/>
          </a:bodyPr>
          <a:lstStyle/>
          <a:p>
            <a:pPr algn="ctr">
              <a:spcBef>
                <a:spcPts val="0"/>
              </a:spcBef>
              <a:spcAft>
                <a:spcPts val="500"/>
              </a:spcAft>
              <a:defRPr sz="2600" b="1">
                <a:solidFill>
                  <a:srgbClr val="586A80"/>
                </a:solidFill>
                <a:latin typeface="Arial"/>
              </a:defRPr>
            </a:pPr>
            <a:r>
              <a:t>+</a:t>
            </a:r>
          </a:p>
        </p:txBody>
      </p:sp>
      <p:sp>
        <p:nvSpPr>
          <p:cNvPr id="24" name="Rounded Rectangle 23"/>
          <p:cNvSpPr/>
          <p:nvPr/>
        </p:nvSpPr>
        <p:spPr>
          <a:xfrm>
            <a:off x="502920" y="3273552"/>
            <a:ext cx="3611880" cy="1938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 y="3456432"/>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6393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Reuse the API model</a:t>
            </a:r>
          </a:p>
        </p:txBody>
      </p:sp>
      <p:sp>
        <p:nvSpPr>
          <p:cNvPr id="27" name="TextBox 26"/>
          <p:cNvSpPr txBox="1"/>
          <p:nvPr/>
        </p:nvSpPr>
        <p:spPr>
          <a:xfrm>
            <a:off x="685800" y="4242816"/>
            <a:ext cx="3246120" cy="822960"/>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Keep Workspace / InferenceSet.</a:t>
            </a:r>
          </a:p>
          <a:p>
            <a:pPr>
              <a:spcBef>
                <a:spcPts val="0"/>
              </a:spcBef>
              <a:spcAft>
                <a:spcPts val="500"/>
              </a:spcAft>
              <a:defRPr sz="1400" b="0">
                <a:solidFill>
                  <a:srgbClr val="172941"/>
                </a:solidFill>
                <a:latin typeface="Arial"/>
              </a:defRPr>
            </a:pPr>
            <a:r>
              <a:t>Add role-specific replicas, GPU</a:t>
            </a:r>
          </a:p>
          <a:p>
            <a:pPr>
              <a:spcBef>
                <a:spcPts val="0"/>
              </a:spcBef>
              <a:spcAft>
                <a:spcPts val="500"/>
              </a:spcAft>
              <a:defRPr sz="1400" b="0">
                <a:solidFill>
                  <a:srgbClr val="172941"/>
                </a:solidFill>
                <a:latin typeface="Arial"/>
              </a:defRPr>
            </a:pPr>
            <a:r>
              <a:t>instance types and runtime settings.</a:t>
            </a:r>
          </a:p>
        </p:txBody>
      </p:sp>
      <p:sp>
        <p:nvSpPr>
          <p:cNvPr id="28" name="Rounded Rectangle 27"/>
          <p:cNvSpPr/>
          <p:nvPr/>
        </p:nvSpPr>
        <p:spPr>
          <a:xfrm>
            <a:off x="4288536" y="3273552"/>
            <a:ext cx="3611880" cy="1938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53127" y="3456432"/>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71416" y="36393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Integrate, do not rebuild</a:t>
            </a:r>
          </a:p>
        </p:txBody>
      </p:sp>
      <p:sp>
        <p:nvSpPr>
          <p:cNvPr id="31" name="TextBox 30"/>
          <p:cNvSpPr txBox="1"/>
          <p:nvPr/>
        </p:nvSpPr>
        <p:spPr>
          <a:xfrm>
            <a:off x="4471416" y="4242816"/>
            <a:ext cx="3246120" cy="822960"/>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Reuse P/D-aware endpoint selection</a:t>
            </a:r>
          </a:p>
          <a:p>
            <a:pPr>
              <a:spcBef>
                <a:spcPts val="0"/>
              </a:spcBef>
              <a:spcAft>
                <a:spcPts val="500"/>
              </a:spcAft>
              <a:defRPr sz="1400" b="0">
                <a:solidFill>
                  <a:srgbClr val="172941"/>
                </a:solidFill>
                <a:latin typeface="Arial"/>
              </a:defRPr>
            </a:pPr>
            <a:r>
              <a:t>and request orchestration. KAITO</a:t>
            </a:r>
          </a:p>
          <a:p>
            <a:pPr>
              <a:spcBef>
                <a:spcPts val="0"/>
              </a:spcBef>
              <a:spcAft>
                <a:spcPts val="500"/>
              </a:spcAft>
              <a:defRPr sz="1400" b="0">
                <a:solidFill>
                  <a:srgbClr val="172941"/>
                </a:solidFill>
                <a:latin typeface="Arial"/>
              </a:defRPr>
            </a:pPr>
            <a:r>
              <a:t>wires sidecars, ports and the pool.</a:t>
            </a:r>
          </a:p>
        </p:txBody>
      </p:sp>
      <p:sp>
        <p:nvSpPr>
          <p:cNvPr id="32" name="Rounded Rectangle 31"/>
          <p:cNvSpPr/>
          <p:nvPr/>
        </p:nvSpPr>
        <p:spPr>
          <a:xfrm>
            <a:off x="8074152" y="3273552"/>
            <a:ext cx="3611880" cy="1938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38744" y="3456432"/>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7031" y="36393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Clear ownership</a:t>
            </a:r>
          </a:p>
        </p:txBody>
      </p:sp>
      <p:sp>
        <p:nvSpPr>
          <p:cNvPr id="35" name="TextBox 34"/>
          <p:cNvSpPr txBox="1"/>
          <p:nvPr/>
        </p:nvSpPr>
        <p:spPr>
          <a:xfrm>
            <a:off x="8257031" y="4242816"/>
            <a:ext cx="3246120" cy="822960"/>
          </a:xfrm>
          <a:prstGeom prst="rect">
            <a:avLst/>
          </a:prstGeom>
          <a:noFill/>
        </p:spPr>
        <p:txBody>
          <a:bodyPr wrap="square" lIns="13716" rIns="13716" tIns="13716" bIns="13716">
            <a:spAutoFit/>
          </a:bodyPr>
          <a:lstStyle/>
          <a:p>
            <a:pPr>
              <a:spcBef>
                <a:spcPts val="0"/>
              </a:spcBef>
              <a:spcAft>
                <a:spcPts val="500"/>
              </a:spcAft>
              <a:defRPr sz="1400" b="0">
                <a:solidFill>
                  <a:srgbClr val="172941"/>
                </a:solidFill>
                <a:latin typeface="Arial"/>
              </a:defRPr>
            </a:pPr>
            <a:r>
              <a:t>Use Gateway API / InferencePool.</a:t>
            </a:r>
          </a:p>
          <a:p>
            <a:pPr>
              <a:spcBef>
                <a:spcPts val="0"/>
              </a:spcBef>
              <a:spcAft>
                <a:spcPts val="500"/>
              </a:spcAft>
              <a:defRPr sz="1400" b="0">
                <a:solidFill>
                  <a:srgbClr val="172941"/>
                </a:solidFill>
                <a:latin typeface="Arial"/>
              </a:defRPr>
            </a:pPr>
            <a:r>
              <a:t>Keep routing plugins upstream;</a:t>
            </a:r>
          </a:p>
          <a:p>
            <a:pPr>
              <a:spcBef>
                <a:spcPts val="0"/>
              </a:spcBef>
              <a:spcAft>
                <a:spcPts val="500"/>
              </a:spcAft>
              <a:defRPr sz="1400" b="0">
                <a:solidFill>
                  <a:srgbClr val="172941"/>
                </a:solidFill>
                <a:latin typeface="Arial"/>
              </a:defRPr>
            </a:pPr>
            <a:r>
              <a:t>avoid adding a second serving API.</a:t>
            </a:r>
          </a:p>
        </p:txBody>
      </p:sp>
      <p:sp>
        <p:nvSpPr>
          <p:cNvPr id="36" name="TextBox 35"/>
          <p:cNvSpPr txBox="1"/>
          <p:nvPr/>
        </p:nvSpPr>
        <p:spPr>
          <a:xfrm>
            <a:off x="530352" y="5285232"/>
            <a:ext cx="11109960" cy="365760"/>
          </a:xfrm>
          <a:prstGeom prst="rect">
            <a:avLst/>
          </a:prstGeom>
          <a:noFill/>
        </p:spPr>
        <p:txBody>
          <a:bodyPr wrap="square" lIns="13716" rIns="13716" tIns="13716" bIns="13716">
            <a:spAutoFit/>
          </a:bodyPr>
          <a:lstStyle/>
          <a:p>
            <a:pPr>
              <a:spcBef>
                <a:spcPts val="0"/>
              </a:spcBef>
              <a:spcAft>
                <a:spcPts val="500"/>
              </a:spcAft>
              <a:defRPr sz="1300" b="0">
                <a:solidFill>
                  <a:srgbClr val="586A80"/>
                </a:solidFill>
                <a:latin typeface="Arial"/>
              </a:defRPr>
            </a:pPr>
            <a:r>
              <a:t>Current scope: alpha MRI • vLLM + Istio • GPU connectivity for KV transfer • scaling policy still needs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KAITO + llm-d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KAITO turns inference topology into Kubernetes APIs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 control-plane progression from model serving to distributed inference.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KAITO is the abstraction and orchestration layer—not the model server.</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16 / 56</a:t>
            </a:r>
          </a:p>
        </p:txBody>
      </p:sp>
      <p:sp>
        <p:nvSpPr>
          <p:cNvPr id="10" name="Rounded Rectangle 9"/>
          <p:cNvSpPr/>
          <p:nvPr/>
        </p:nvSpPr>
        <p:spPr>
          <a:xfrm>
            <a:off x="502920" y="3108960"/>
            <a:ext cx="2688336" cy="13990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200400"/>
            <a:ext cx="50292" cy="1216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27832"/>
            <a:ext cx="2414016" cy="393192"/>
          </a:xfrm>
          <a:prstGeom prst="rect">
            <a:avLst/>
          </a:prstGeom>
          <a:noFill/>
        </p:spPr>
        <p:txBody>
          <a:bodyPr wrap="square" lIns="13716" rIns="13716" tIns="13716" bIns="13716">
            <a:spAutoFit/>
          </a:bodyPr>
          <a:lstStyle/>
          <a:p>
            <a:pPr algn="ctr">
              <a:spcBef>
                <a:spcPts val="0"/>
              </a:spcBef>
              <a:spcAft>
                <a:spcPts val="500"/>
              </a:spcAft>
              <a:defRPr sz="1600" b="1">
                <a:solidFill>
                  <a:srgbClr val="2563EB"/>
                </a:solidFill>
                <a:latin typeface="Arial"/>
              </a:defRPr>
            </a:pPr>
            <a:r>
              <a:t>Workspace</a:t>
            </a:r>
          </a:p>
        </p:txBody>
      </p:sp>
      <p:sp>
        <p:nvSpPr>
          <p:cNvPr id="13" name="TextBox 12"/>
          <p:cNvSpPr txBox="1"/>
          <p:nvPr/>
        </p:nvSpPr>
        <p:spPr>
          <a:xfrm>
            <a:off x="649224" y="3666744"/>
            <a:ext cx="2395728" cy="74980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Run a serving</a:t>
            </a:r>
          </a:p>
          <a:p>
            <a:pPr algn="ctr">
              <a:spcBef>
                <a:spcPts val="0"/>
              </a:spcBef>
              <a:spcAft>
                <a:spcPts val="500"/>
              </a:spcAft>
              <a:defRPr sz="1400" b="0">
                <a:solidFill>
                  <a:srgbClr val="586A80"/>
                </a:solidFill>
                <a:latin typeface="Arial"/>
              </a:defRPr>
            </a:pPr>
            <a:r>
              <a:t>or tuning workload</a:t>
            </a:r>
          </a:p>
        </p:txBody>
      </p:sp>
      <p:sp>
        <p:nvSpPr>
          <p:cNvPr id="14" name="TextBox 13"/>
          <p:cNvSpPr txBox="1"/>
          <p:nvPr/>
        </p:nvSpPr>
        <p:spPr>
          <a:xfrm>
            <a:off x="502920" y="4690872"/>
            <a:ext cx="2688336" cy="365760"/>
          </a:xfrm>
          <a:prstGeom prst="rect">
            <a:avLst/>
          </a:prstGeom>
          <a:noFill/>
        </p:spPr>
        <p:txBody>
          <a:bodyPr wrap="square" lIns="13716" rIns="13716" tIns="13716" bIns="13716">
            <a:spAutoFit/>
          </a:bodyPr>
          <a:lstStyle/>
          <a:p>
            <a:pPr algn="ctr">
              <a:spcBef>
                <a:spcPts val="0"/>
              </a:spcBef>
              <a:spcAft>
                <a:spcPts val="500"/>
              </a:spcAft>
              <a:defRPr sz="1200" b="1">
                <a:solidFill>
                  <a:srgbClr val="2563EB"/>
                </a:solidFill>
                <a:latin typeface="Arial"/>
              </a:defRPr>
            </a:pPr>
            <a:r>
              <a:t>Serve</a:t>
            </a:r>
          </a:p>
        </p:txBody>
      </p:sp>
      <p:cxnSp>
        <p:nvCxnSpPr>
          <p:cNvPr id="15" name="Connector 14"/>
          <p:cNvCxnSpPr/>
          <p:nvPr/>
        </p:nvCxnSpPr>
        <p:spPr>
          <a:xfrm>
            <a:off x="3191256" y="3794760"/>
            <a:ext cx="9144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282696" y="3502152"/>
            <a:ext cx="0" cy="292608"/>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282696" y="3502152"/>
            <a:ext cx="82295"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64991" y="2816352"/>
            <a:ext cx="2688336" cy="13990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64991" y="2907792"/>
            <a:ext cx="50292" cy="12161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1" y="2935224"/>
            <a:ext cx="2414016" cy="393192"/>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InferenceSet</a:t>
            </a:r>
          </a:p>
        </p:txBody>
      </p:sp>
      <p:sp>
        <p:nvSpPr>
          <p:cNvPr id="21" name="TextBox 20"/>
          <p:cNvSpPr txBox="1"/>
          <p:nvPr/>
        </p:nvSpPr>
        <p:spPr>
          <a:xfrm>
            <a:off x="3511296" y="3374136"/>
            <a:ext cx="2395728" cy="74980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Scale serving</a:t>
            </a:r>
          </a:p>
          <a:p>
            <a:pPr algn="ctr">
              <a:spcBef>
                <a:spcPts val="0"/>
              </a:spcBef>
              <a:spcAft>
                <a:spcPts val="500"/>
              </a:spcAft>
              <a:defRPr sz="1400" b="0">
                <a:solidFill>
                  <a:srgbClr val="586A80"/>
                </a:solidFill>
                <a:latin typeface="Arial"/>
              </a:defRPr>
            </a:pPr>
            <a:r>
              <a:t>replicas</a:t>
            </a:r>
          </a:p>
        </p:txBody>
      </p:sp>
      <p:sp>
        <p:nvSpPr>
          <p:cNvPr id="22" name="TextBox 21"/>
          <p:cNvSpPr txBox="1"/>
          <p:nvPr/>
        </p:nvSpPr>
        <p:spPr>
          <a:xfrm>
            <a:off x="3364991" y="4398264"/>
            <a:ext cx="2688336" cy="365760"/>
          </a:xfrm>
          <a:prstGeom prst="rect">
            <a:avLst/>
          </a:prstGeom>
          <a:noFill/>
        </p:spPr>
        <p:txBody>
          <a:bodyPr wrap="square" lIns="13716" rIns="13716" tIns="13716" bIns="13716">
            <a:spAutoFit/>
          </a:bodyPr>
          <a:lstStyle/>
          <a:p>
            <a:pPr algn="ctr">
              <a:spcBef>
                <a:spcPts val="0"/>
              </a:spcBef>
              <a:spcAft>
                <a:spcPts val="500"/>
              </a:spcAft>
              <a:defRPr sz="1200" b="1">
                <a:solidFill>
                  <a:srgbClr val="087F8C"/>
                </a:solidFill>
                <a:latin typeface="Arial"/>
              </a:defRPr>
            </a:pPr>
            <a:r>
              <a:t>Scale</a:t>
            </a:r>
          </a:p>
        </p:txBody>
      </p:sp>
      <p:cxnSp>
        <p:nvCxnSpPr>
          <p:cNvPr id="23" name="Connector 22"/>
          <p:cNvCxnSpPr/>
          <p:nvPr/>
        </p:nvCxnSpPr>
        <p:spPr>
          <a:xfrm>
            <a:off x="6053327" y="3502152"/>
            <a:ext cx="91441"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144768" y="3209544"/>
            <a:ext cx="0" cy="292608"/>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44768" y="3209544"/>
            <a:ext cx="82296"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27064" y="2523744"/>
            <a:ext cx="2688336" cy="13990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27064" y="2615184"/>
            <a:ext cx="50292" cy="121615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2642615"/>
            <a:ext cx="2414016" cy="393192"/>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InferencePool</a:t>
            </a:r>
          </a:p>
        </p:txBody>
      </p:sp>
      <p:sp>
        <p:nvSpPr>
          <p:cNvPr id="29" name="TextBox 28"/>
          <p:cNvSpPr txBox="1"/>
          <p:nvPr/>
        </p:nvSpPr>
        <p:spPr>
          <a:xfrm>
            <a:off x="6373368" y="3081528"/>
            <a:ext cx="2395728" cy="74980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Expose routing-facing</a:t>
            </a:r>
          </a:p>
          <a:p>
            <a:pPr algn="ctr">
              <a:spcBef>
                <a:spcPts val="0"/>
              </a:spcBef>
              <a:spcAft>
                <a:spcPts val="500"/>
              </a:spcAft>
              <a:defRPr sz="1400" b="0">
                <a:solidFill>
                  <a:srgbClr val="586A80"/>
                </a:solidFill>
                <a:latin typeface="Arial"/>
              </a:defRPr>
            </a:pPr>
            <a:r>
              <a:t>backend groups</a:t>
            </a:r>
          </a:p>
        </p:txBody>
      </p:sp>
      <p:sp>
        <p:nvSpPr>
          <p:cNvPr id="30" name="TextBox 29"/>
          <p:cNvSpPr txBox="1"/>
          <p:nvPr/>
        </p:nvSpPr>
        <p:spPr>
          <a:xfrm>
            <a:off x="6227064" y="4105656"/>
            <a:ext cx="2688336" cy="365760"/>
          </a:xfrm>
          <a:prstGeom prst="rect">
            <a:avLst/>
          </a:prstGeom>
          <a:noFill/>
        </p:spPr>
        <p:txBody>
          <a:bodyPr wrap="square" lIns="13716" rIns="13716" tIns="13716" bIns="13716">
            <a:spAutoFit/>
          </a:bodyPr>
          <a:lstStyle/>
          <a:p>
            <a:pPr algn="ctr">
              <a:spcBef>
                <a:spcPts val="0"/>
              </a:spcBef>
              <a:spcAft>
                <a:spcPts val="500"/>
              </a:spcAft>
              <a:defRPr sz="1200" b="1">
                <a:solidFill>
                  <a:srgbClr val="7354B8"/>
                </a:solidFill>
                <a:latin typeface="Arial"/>
              </a:defRPr>
            </a:pPr>
            <a:r>
              <a:t>Route</a:t>
            </a:r>
          </a:p>
        </p:txBody>
      </p:sp>
      <p:cxnSp>
        <p:nvCxnSpPr>
          <p:cNvPr id="31" name="Connector 30"/>
          <p:cNvCxnSpPr/>
          <p:nvPr/>
        </p:nvCxnSpPr>
        <p:spPr>
          <a:xfrm>
            <a:off x="8915400" y="3209544"/>
            <a:ext cx="91440"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006840" y="2916936"/>
            <a:ext cx="0" cy="292608"/>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006840" y="2916936"/>
            <a:ext cx="82296"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089136" y="2231136"/>
            <a:ext cx="2688336" cy="13990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89136" y="2322576"/>
            <a:ext cx="50292" cy="1216152"/>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26296" y="2350008"/>
            <a:ext cx="2414016" cy="393192"/>
          </a:xfrm>
          <a:prstGeom prst="rect">
            <a:avLst/>
          </a:prstGeom>
          <a:noFill/>
        </p:spPr>
        <p:txBody>
          <a:bodyPr wrap="square" lIns="13716" rIns="13716" tIns="13716" bIns="13716">
            <a:spAutoFit/>
          </a:bodyPr>
          <a:lstStyle/>
          <a:p>
            <a:pPr algn="ctr">
              <a:spcBef>
                <a:spcPts val="0"/>
              </a:spcBef>
              <a:spcAft>
                <a:spcPts val="500"/>
              </a:spcAft>
              <a:defRPr sz="1600" b="1">
                <a:solidFill>
                  <a:srgbClr val="AE641A"/>
                </a:solidFill>
                <a:latin typeface="Arial"/>
              </a:defRPr>
            </a:pPr>
            <a:r>
              <a:t>MultiRoleInference</a:t>
            </a:r>
          </a:p>
        </p:txBody>
      </p:sp>
      <p:sp>
        <p:nvSpPr>
          <p:cNvPr id="37" name="TextBox 36"/>
          <p:cNvSpPr txBox="1"/>
          <p:nvPr/>
        </p:nvSpPr>
        <p:spPr>
          <a:xfrm>
            <a:off x="9235440" y="2788920"/>
            <a:ext cx="2395728" cy="74980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Describe role-specific</a:t>
            </a:r>
          </a:p>
          <a:p>
            <a:pPr algn="ctr">
              <a:spcBef>
                <a:spcPts val="0"/>
              </a:spcBef>
              <a:spcAft>
                <a:spcPts val="500"/>
              </a:spcAft>
              <a:defRPr sz="1400" b="0">
                <a:solidFill>
                  <a:srgbClr val="586A80"/>
                </a:solidFill>
                <a:latin typeface="Arial"/>
              </a:defRPr>
            </a:pPr>
            <a:r>
              <a:t>serving topology</a:t>
            </a:r>
          </a:p>
        </p:txBody>
      </p:sp>
      <p:sp>
        <p:nvSpPr>
          <p:cNvPr id="38" name="TextBox 37"/>
          <p:cNvSpPr txBox="1"/>
          <p:nvPr/>
        </p:nvSpPr>
        <p:spPr>
          <a:xfrm>
            <a:off x="9089136" y="3813048"/>
            <a:ext cx="2688336" cy="365760"/>
          </a:xfrm>
          <a:prstGeom prst="rect">
            <a:avLst/>
          </a:prstGeom>
          <a:noFill/>
        </p:spPr>
        <p:txBody>
          <a:bodyPr wrap="square" lIns="13716" rIns="13716" tIns="13716" bIns="13716">
            <a:spAutoFit/>
          </a:bodyPr>
          <a:lstStyle/>
          <a:p>
            <a:pPr algn="ctr">
              <a:spcBef>
                <a:spcPts val="0"/>
              </a:spcBef>
              <a:spcAft>
                <a:spcPts val="500"/>
              </a:spcAft>
              <a:defRPr sz="1200" b="1">
                <a:solidFill>
                  <a:srgbClr val="AE641A"/>
                </a:solidFill>
                <a:latin typeface="Arial"/>
              </a:defRPr>
            </a:pPr>
            <a:r>
              <a:t>Compose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KAITO + llm-d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 continuous API model as serving gets harder</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Add capabilities without asking users to hand-assemble a new stack.</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17 / 56</a:t>
            </a:r>
          </a:p>
        </p:txBody>
      </p:sp>
      <p:sp>
        <p:nvSpPr>
          <p:cNvPr id="8" name="Rectangle 7"/>
          <p:cNvSpPr/>
          <p:nvPr/>
        </p:nvSpPr>
        <p:spPr>
          <a:xfrm>
            <a:off x="502920" y="2212848"/>
            <a:ext cx="2811780" cy="580644"/>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331720"/>
            <a:ext cx="2615184" cy="420624"/>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User need</a:t>
            </a:r>
          </a:p>
        </p:txBody>
      </p:sp>
      <p:sp>
        <p:nvSpPr>
          <p:cNvPr id="10" name="Rectangle 9"/>
          <p:cNvSpPr/>
          <p:nvPr/>
        </p:nvSpPr>
        <p:spPr>
          <a:xfrm>
            <a:off x="3337560" y="2212848"/>
            <a:ext cx="3360420" cy="580644"/>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2331720"/>
            <a:ext cx="3163824" cy="420624"/>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Kubernetes object</a:t>
            </a:r>
          </a:p>
        </p:txBody>
      </p:sp>
      <p:sp>
        <p:nvSpPr>
          <p:cNvPr id="12" name="Rectangle 11"/>
          <p:cNvSpPr/>
          <p:nvPr/>
        </p:nvSpPr>
        <p:spPr>
          <a:xfrm>
            <a:off x="6720840" y="2212848"/>
            <a:ext cx="4988052" cy="580644"/>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0568" y="2331720"/>
            <a:ext cx="4791456" cy="420624"/>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Platform responsibility</a:t>
            </a:r>
          </a:p>
        </p:txBody>
      </p:sp>
      <p:sp>
        <p:nvSpPr>
          <p:cNvPr id="14" name="Rectangle 13"/>
          <p:cNvSpPr/>
          <p:nvPr/>
        </p:nvSpPr>
        <p:spPr>
          <a:xfrm>
            <a:off x="502920" y="2816352"/>
            <a:ext cx="2811780"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935224"/>
            <a:ext cx="2615184" cy="420624"/>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Run one model</a:t>
            </a:r>
          </a:p>
        </p:txBody>
      </p:sp>
      <p:sp>
        <p:nvSpPr>
          <p:cNvPr id="16" name="Rectangle 15"/>
          <p:cNvSpPr/>
          <p:nvPr/>
        </p:nvSpPr>
        <p:spPr>
          <a:xfrm>
            <a:off x="3337560" y="2816352"/>
            <a:ext cx="3360420"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47288" y="2935224"/>
            <a:ext cx="3163824"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Workspace</a:t>
            </a:r>
          </a:p>
        </p:txBody>
      </p:sp>
      <p:sp>
        <p:nvSpPr>
          <p:cNvPr id="18" name="Rectangle 17"/>
          <p:cNvSpPr/>
          <p:nvPr/>
        </p:nvSpPr>
        <p:spPr>
          <a:xfrm>
            <a:off x="6720840" y="2816352"/>
            <a:ext cx="4988052"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0568" y="2935224"/>
            <a:ext cx="4791456"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Provision and run the workload</a:t>
            </a:r>
          </a:p>
        </p:txBody>
      </p:sp>
      <p:sp>
        <p:nvSpPr>
          <p:cNvPr id="20" name="Rectangle 19"/>
          <p:cNvSpPr/>
          <p:nvPr/>
        </p:nvSpPr>
        <p:spPr>
          <a:xfrm>
            <a:off x="502920" y="3419856"/>
            <a:ext cx="2811780"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538728"/>
            <a:ext cx="2615184" cy="420624"/>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Add replicas</a:t>
            </a:r>
          </a:p>
        </p:txBody>
      </p:sp>
      <p:sp>
        <p:nvSpPr>
          <p:cNvPr id="22" name="Rectangle 21"/>
          <p:cNvSpPr/>
          <p:nvPr/>
        </p:nvSpPr>
        <p:spPr>
          <a:xfrm>
            <a:off x="3337560" y="3419856"/>
            <a:ext cx="3360420"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47288" y="3538728"/>
            <a:ext cx="3163824"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InferenceSet</a:t>
            </a:r>
          </a:p>
        </p:txBody>
      </p:sp>
      <p:sp>
        <p:nvSpPr>
          <p:cNvPr id="24" name="Rectangle 23"/>
          <p:cNvSpPr/>
          <p:nvPr/>
        </p:nvSpPr>
        <p:spPr>
          <a:xfrm>
            <a:off x="6720840" y="3419856"/>
            <a:ext cx="4988052"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0568" y="3538728"/>
            <a:ext cx="4791456"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Manage the replica set</a:t>
            </a:r>
          </a:p>
        </p:txBody>
      </p:sp>
      <p:sp>
        <p:nvSpPr>
          <p:cNvPr id="26" name="Rectangle 25"/>
          <p:cNvSpPr/>
          <p:nvPr/>
        </p:nvSpPr>
        <p:spPr>
          <a:xfrm>
            <a:off x="502920" y="4023360"/>
            <a:ext cx="2811780"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4142232"/>
            <a:ext cx="2615184" cy="420624"/>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Route intelligently</a:t>
            </a:r>
          </a:p>
        </p:txBody>
      </p:sp>
      <p:sp>
        <p:nvSpPr>
          <p:cNvPr id="28" name="Rectangle 27"/>
          <p:cNvSpPr/>
          <p:nvPr/>
        </p:nvSpPr>
        <p:spPr>
          <a:xfrm>
            <a:off x="3337560" y="4023360"/>
            <a:ext cx="3360420"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47288" y="4142232"/>
            <a:ext cx="3163824"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InferencePool</a:t>
            </a:r>
          </a:p>
        </p:txBody>
      </p:sp>
      <p:sp>
        <p:nvSpPr>
          <p:cNvPr id="30" name="Rectangle 29"/>
          <p:cNvSpPr/>
          <p:nvPr/>
        </p:nvSpPr>
        <p:spPr>
          <a:xfrm>
            <a:off x="6720840" y="4023360"/>
            <a:ext cx="4988052" cy="5806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30568" y="4142232"/>
            <a:ext cx="4791456"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Integrate inference-aware routing</a:t>
            </a:r>
          </a:p>
        </p:txBody>
      </p:sp>
      <p:sp>
        <p:nvSpPr>
          <p:cNvPr id="32" name="Rectangle 31"/>
          <p:cNvSpPr/>
          <p:nvPr/>
        </p:nvSpPr>
        <p:spPr>
          <a:xfrm>
            <a:off x="502920" y="4626864"/>
            <a:ext cx="2811780"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4745736"/>
            <a:ext cx="2615184" cy="420624"/>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Split roles</a:t>
            </a:r>
          </a:p>
        </p:txBody>
      </p:sp>
      <p:sp>
        <p:nvSpPr>
          <p:cNvPr id="34" name="Rectangle 33"/>
          <p:cNvSpPr/>
          <p:nvPr/>
        </p:nvSpPr>
        <p:spPr>
          <a:xfrm>
            <a:off x="3337560" y="4626864"/>
            <a:ext cx="3360420"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47288" y="4745736"/>
            <a:ext cx="3163824"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MultiRoleInference</a:t>
            </a:r>
          </a:p>
        </p:txBody>
      </p:sp>
      <p:sp>
        <p:nvSpPr>
          <p:cNvPr id="36" name="Rectangle 35"/>
          <p:cNvSpPr/>
          <p:nvPr/>
        </p:nvSpPr>
        <p:spPr>
          <a:xfrm>
            <a:off x="6720840" y="4626864"/>
            <a:ext cx="4988052" cy="58064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0568" y="4745736"/>
            <a:ext cx="4791456" cy="420624"/>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Reconcile a multi-role topology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KAITO + llm-d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Clear responsibilities across the stack</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stack works because each layer has a different job.</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KAITO composes the platform; llm-d routes; the runtime executes.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18 / 56</a:t>
            </a:r>
          </a:p>
        </p:txBody>
      </p:sp>
      <p:sp>
        <p:nvSpPr>
          <p:cNvPr id="10" name="Rounded Rectangle 9"/>
          <p:cNvSpPr/>
          <p:nvPr/>
        </p:nvSpPr>
        <p:spPr>
          <a:xfrm>
            <a:off x="502920" y="2130552"/>
            <a:ext cx="11183112" cy="9418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95728"/>
            <a:ext cx="3493008" cy="384048"/>
          </a:xfrm>
          <a:prstGeom prst="rect">
            <a:avLst/>
          </a:prstGeom>
          <a:noFill/>
        </p:spPr>
        <p:txBody>
          <a:bodyPr wrap="square" lIns="13716" rIns="13716" tIns="13716" bIns="13716">
            <a:spAutoFit/>
          </a:bodyPr>
          <a:lstStyle/>
          <a:p>
            <a:pPr>
              <a:spcBef>
                <a:spcPts val="0"/>
              </a:spcBef>
              <a:spcAft>
                <a:spcPts val="500"/>
              </a:spcAft>
              <a:defRPr sz="1800" b="1">
                <a:solidFill>
                  <a:srgbClr val="2563EB"/>
                </a:solidFill>
                <a:latin typeface="Arial"/>
              </a:defRPr>
            </a:pPr>
            <a:r>
              <a:t>KAITO</a:t>
            </a:r>
          </a:p>
        </p:txBody>
      </p:sp>
      <p:sp>
        <p:nvSpPr>
          <p:cNvPr id="12" name="TextBox 11"/>
          <p:cNvSpPr txBox="1"/>
          <p:nvPr/>
        </p:nvSpPr>
        <p:spPr>
          <a:xfrm>
            <a:off x="4389120" y="2395728"/>
            <a:ext cx="7040880" cy="457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Declarative APIs • child resources • lifecycle orchestration</a:t>
            </a:r>
          </a:p>
        </p:txBody>
      </p:sp>
      <p:cxnSp>
        <p:nvCxnSpPr>
          <p:cNvPr id="13" name="Connector 12"/>
          <p:cNvCxnSpPr/>
          <p:nvPr/>
        </p:nvCxnSpPr>
        <p:spPr>
          <a:xfrm>
            <a:off x="6099048" y="3072384"/>
            <a:ext cx="0" cy="18288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3255264"/>
            <a:ext cx="11183112" cy="9418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20440"/>
            <a:ext cx="3493008" cy="384048"/>
          </a:xfrm>
          <a:prstGeom prst="rect">
            <a:avLst/>
          </a:prstGeom>
          <a:noFill/>
        </p:spPr>
        <p:txBody>
          <a:bodyPr wrap="square" lIns="13716" rIns="13716" tIns="13716" bIns="13716">
            <a:spAutoFit/>
          </a:bodyPr>
          <a:lstStyle/>
          <a:p>
            <a:pPr>
              <a:spcBef>
                <a:spcPts val="0"/>
              </a:spcBef>
              <a:spcAft>
                <a:spcPts val="500"/>
              </a:spcAft>
              <a:defRPr sz="1800" b="1">
                <a:solidFill>
                  <a:srgbClr val="087F8C"/>
                </a:solidFill>
                <a:latin typeface="Arial"/>
              </a:defRPr>
            </a:pPr>
            <a:r>
              <a:t>llm-d Router / EPP</a:t>
            </a:r>
          </a:p>
        </p:txBody>
      </p:sp>
      <p:sp>
        <p:nvSpPr>
          <p:cNvPr id="16" name="TextBox 15"/>
          <p:cNvSpPr txBox="1"/>
          <p:nvPr/>
        </p:nvSpPr>
        <p:spPr>
          <a:xfrm>
            <a:off x="4389120" y="3520440"/>
            <a:ext cx="7040880" cy="457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Inference-aware endpoint selection and scheduling</a:t>
            </a:r>
          </a:p>
        </p:txBody>
      </p:sp>
      <p:cxnSp>
        <p:nvCxnSpPr>
          <p:cNvPr id="17" name="Connector 16"/>
          <p:cNvCxnSpPr/>
          <p:nvPr/>
        </p:nvCxnSpPr>
        <p:spPr>
          <a:xfrm>
            <a:off x="6099048" y="4197096"/>
            <a:ext cx="0" cy="182880"/>
          </a:xfrm>
          <a:prstGeom prst="line">
            <a:avLst/>
          </a:prstGeom>
          <a:ln w="1905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379976"/>
            <a:ext cx="11183112" cy="9418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45152"/>
            <a:ext cx="3493008" cy="384048"/>
          </a:xfrm>
          <a:prstGeom prst="rect">
            <a:avLst/>
          </a:prstGeom>
          <a:noFill/>
        </p:spPr>
        <p:txBody>
          <a:bodyPr wrap="square" lIns="13716" rIns="13716" tIns="13716" bIns="13716">
            <a:spAutoFit/>
          </a:bodyPr>
          <a:lstStyle/>
          <a:p>
            <a:pPr>
              <a:spcBef>
                <a:spcPts val="0"/>
              </a:spcBef>
              <a:spcAft>
                <a:spcPts val="500"/>
              </a:spcAft>
              <a:defRPr sz="1800" b="1">
                <a:solidFill>
                  <a:srgbClr val="7354B8"/>
                </a:solidFill>
                <a:latin typeface="Arial"/>
              </a:defRPr>
            </a:pPr>
            <a:r>
              <a:t>Runtime + KV transport</a:t>
            </a:r>
          </a:p>
        </p:txBody>
      </p:sp>
      <p:sp>
        <p:nvSpPr>
          <p:cNvPr id="20" name="TextBox 19"/>
          <p:cNvSpPr txBox="1"/>
          <p:nvPr/>
        </p:nvSpPr>
        <p:spPr>
          <a:xfrm>
            <a:off x="4389120" y="4645152"/>
            <a:ext cx="7040880" cy="457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Prefill computation • KV movement • token generation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KAITO + llm-d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stack is composable—not a custom monolith</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Kubernetes resources connect routing, execution, transfer, and scaling.</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19 / 56</a:t>
            </a:r>
          </a:p>
        </p:txBody>
      </p:sp>
      <p:sp>
        <p:nvSpPr>
          <p:cNvPr id="8" name="Rounded Rectangle 7"/>
          <p:cNvSpPr/>
          <p:nvPr/>
        </p:nvSpPr>
        <p:spPr>
          <a:xfrm>
            <a:off x="502920" y="2176272"/>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267712"/>
            <a:ext cx="50292" cy="1188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95144"/>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Gateway API + GWIE</a:t>
            </a:r>
          </a:p>
        </p:txBody>
      </p:sp>
      <p:sp>
        <p:nvSpPr>
          <p:cNvPr id="11" name="TextBox 10"/>
          <p:cNvSpPr txBox="1"/>
          <p:nvPr/>
        </p:nvSpPr>
        <p:spPr>
          <a:xfrm>
            <a:off x="649224" y="2734056"/>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Gateway • HTTPRoute • InferencePool</a:t>
            </a:r>
          </a:p>
        </p:txBody>
      </p:sp>
      <p:sp>
        <p:nvSpPr>
          <p:cNvPr id="12" name="Rounded Rectangle 11"/>
          <p:cNvSpPr/>
          <p:nvPr/>
        </p:nvSpPr>
        <p:spPr>
          <a:xfrm>
            <a:off x="4288536" y="2176272"/>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8536" y="2267712"/>
            <a:ext cx="50292" cy="1188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2295144"/>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087F8C"/>
                </a:solidFill>
                <a:latin typeface="Arial"/>
              </a:defRPr>
            </a:pPr>
            <a:r>
              <a:t>llm-d</a:t>
            </a:r>
          </a:p>
        </p:txBody>
      </p:sp>
      <p:sp>
        <p:nvSpPr>
          <p:cNvPr id="15" name="TextBox 14"/>
          <p:cNvSpPr txBox="1"/>
          <p:nvPr/>
        </p:nvSpPr>
        <p:spPr>
          <a:xfrm>
            <a:off x="4434840" y="2734056"/>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EPP + routing sidecar</a:t>
            </a:r>
          </a:p>
        </p:txBody>
      </p:sp>
      <p:sp>
        <p:nvSpPr>
          <p:cNvPr id="16" name="Rounded Rectangle 15"/>
          <p:cNvSpPr/>
          <p:nvPr/>
        </p:nvSpPr>
        <p:spPr>
          <a:xfrm>
            <a:off x="8074152" y="2176272"/>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2267712"/>
            <a:ext cx="50292" cy="11887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2295144"/>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7354B8"/>
                </a:solidFill>
                <a:latin typeface="Arial"/>
              </a:defRPr>
            </a:pPr>
            <a:r>
              <a:t>vLLM</a:t>
            </a:r>
          </a:p>
        </p:txBody>
      </p:sp>
      <p:sp>
        <p:nvSpPr>
          <p:cNvPr id="19" name="TextBox 18"/>
          <p:cNvSpPr txBox="1"/>
          <p:nvPr/>
        </p:nvSpPr>
        <p:spPr>
          <a:xfrm>
            <a:off x="8220456" y="2734056"/>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Serving runtime</a:t>
            </a:r>
          </a:p>
        </p:txBody>
      </p:sp>
      <p:sp>
        <p:nvSpPr>
          <p:cNvPr id="20" name="Rounded Rectangle 19"/>
          <p:cNvSpPr/>
          <p:nvPr/>
        </p:nvSpPr>
        <p:spPr>
          <a:xfrm>
            <a:off x="502920" y="3977639"/>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69079"/>
            <a:ext cx="50292" cy="1188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96511"/>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087F8C"/>
                </a:solidFill>
                <a:latin typeface="Arial"/>
              </a:defRPr>
            </a:pPr>
            <a:r>
              <a:t>NIXL</a:t>
            </a:r>
          </a:p>
        </p:txBody>
      </p:sp>
      <p:sp>
        <p:nvSpPr>
          <p:cNvPr id="23" name="TextBox 22"/>
          <p:cNvSpPr txBox="1"/>
          <p:nvPr/>
        </p:nvSpPr>
        <p:spPr>
          <a:xfrm>
            <a:off x="649224" y="4535423"/>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KV-transfer integration</a:t>
            </a:r>
          </a:p>
        </p:txBody>
      </p:sp>
      <p:sp>
        <p:nvSpPr>
          <p:cNvPr id="24" name="Rounded Rectangle 23"/>
          <p:cNvSpPr/>
          <p:nvPr/>
        </p:nvSpPr>
        <p:spPr>
          <a:xfrm>
            <a:off x="4288536" y="3977639"/>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88536" y="4069079"/>
            <a:ext cx="50292" cy="1188720"/>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5696" y="4096511"/>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AE641A"/>
                </a:solidFill>
                <a:latin typeface="Arial"/>
              </a:defRPr>
            </a:pPr>
            <a:r>
              <a:t>KEDA</a:t>
            </a:r>
          </a:p>
        </p:txBody>
      </p:sp>
      <p:sp>
        <p:nvSpPr>
          <p:cNvPr id="27" name="TextBox 26"/>
          <p:cNvSpPr txBox="1"/>
          <p:nvPr/>
        </p:nvSpPr>
        <p:spPr>
          <a:xfrm>
            <a:off x="4434840" y="4535423"/>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InferenceSet autoscaling</a:t>
            </a:r>
          </a:p>
        </p:txBody>
      </p:sp>
      <p:sp>
        <p:nvSpPr>
          <p:cNvPr id="28" name="Rounded Rectangle 27"/>
          <p:cNvSpPr/>
          <p:nvPr/>
        </p:nvSpPr>
        <p:spPr>
          <a:xfrm>
            <a:off x="8074152" y="3977639"/>
            <a:ext cx="3611880" cy="13716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4152" y="4069079"/>
            <a:ext cx="50292" cy="1188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11312" y="4096511"/>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KAITO</a:t>
            </a:r>
          </a:p>
        </p:txBody>
      </p:sp>
      <p:sp>
        <p:nvSpPr>
          <p:cNvPr id="31" name="TextBox 30"/>
          <p:cNvSpPr txBox="1"/>
          <p:nvPr/>
        </p:nvSpPr>
        <p:spPr>
          <a:xfrm>
            <a:off x="8220456" y="4535423"/>
            <a:ext cx="3319272" cy="7223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Reconcile the declared topology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KAITO + llm-d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Declare roles once with MultiRoleInference</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One logical service, two independently configurable child InferenceSets.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Role settings describe capacity; controller reconciliation supplies the wiring.</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20 / 56</a:t>
            </a:r>
          </a:p>
        </p:txBody>
      </p:sp>
      <p:sp>
        <p:nvSpPr>
          <p:cNvPr id="10" name="Rounded Rectangle 9"/>
          <p:cNvSpPr/>
          <p:nvPr/>
        </p:nvSpPr>
        <p:spPr>
          <a:xfrm>
            <a:off x="4069080" y="2057400"/>
            <a:ext cx="4050791" cy="8686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69080" y="2148840"/>
            <a:ext cx="50292" cy="685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2176272"/>
            <a:ext cx="3776472" cy="393192"/>
          </a:xfrm>
          <a:prstGeom prst="rect">
            <a:avLst/>
          </a:prstGeom>
          <a:noFill/>
        </p:spPr>
        <p:txBody>
          <a:bodyPr wrap="square" lIns="13716" rIns="13716" tIns="13716" bIns="13716">
            <a:spAutoFit/>
          </a:bodyPr>
          <a:lstStyle/>
          <a:p>
            <a:pPr algn="ctr">
              <a:spcBef>
                <a:spcPts val="0"/>
              </a:spcBef>
              <a:spcAft>
                <a:spcPts val="500"/>
              </a:spcAft>
              <a:defRPr sz="2000" b="1">
                <a:solidFill>
                  <a:srgbClr val="2563EB"/>
                </a:solidFill>
                <a:latin typeface="Arial"/>
              </a:defRPr>
            </a:pPr>
            <a:r>
              <a:t>MultiRoleInference</a:t>
            </a:r>
          </a:p>
        </p:txBody>
      </p:sp>
      <p:sp>
        <p:nvSpPr>
          <p:cNvPr id="13" name="TextBox 12"/>
          <p:cNvSpPr txBox="1"/>
          <p:nvPr/>
        </p:nvSpPr>
        <p:spPr>
          <a:xfrm>
            <a:off x="4215384" y="2615184"/>
            <a:ext cx="3758183" cy="21945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One desired topology</a:t>
            </a:r>
          </a:p>
        </p:txBody>
      </p:sp>
      <p:sp>
        <p:nvSpPr>
          <p:cNvPr id="14" name="Rounded Rectangle 13"/>
          <p:cNvSpPr/>
          <p:nvPr/>
        </p:nvSpPr>
        <p:spPr>
          <a:xfrm>
            <a:off x="731520" y="3557016"/>
            <a:ext cx="5029200" cy="16733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648456"/>
            <a:ext cx="50292" cy="14904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75888"/>
            <a:ext cx="475488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087F8C"/>
                </a:solidFill>
                <a:latin typeface="Arial"/>
              </a:defRPr>
            </a:pPr>
            <a:r>
              <a:t>prefill InferenceSet</a:t>
            </a:r>
          </a:p>
        </p:txBody>
      </p:sp>
      <p:sp>
        <p:nvSpPr>
          <p:cNvPr id="17" name="TextBox 16"/>
          <p:cNvSpPr txBox="1"/>
          <p:nvPr/>
        </p:nvSpPr>
        <p:spPr>
          <a:xfrm>
            <a:off x="877824" y="4114800"/>
            <a:ext cx="4736592" cy="10241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Replica count • instance type</a:t>
            </a:r>
          </a:p>
          <a:p>
            <a:pPr algn="ctr">
              <a:spcBef>
                <a:spcPts val="0"/>
              </a:spcBef>
              <a:spcAft>
                <a:spcPts val="500"/>
              </a:spcAft>
              <a:defRPr sz="1400" b="0">
                <a:solidFill>
                  <a:srgbClr val="586A80"/>
                </a:solidFill>
                <a:latin typeface="Arial"/>
              </a:defRPr>
            </a:pPr>
            <a:r>
              <a:t>Tensor parallelism • vLLM configuration</a:t>
            </a:r>
          </a:p>
        </p:txBody>
      </p:sp>
      <p:sp>
        <p:nvSpPr>
          <p:cNvPr id="18" name="Rounded Rectangle 17"/>
          <p:cNvSpPr/>
          <p:nvPr/>
        </p:nvSpPr>
        <p:spPr>
          <a:xfrm>
            <a:off x="6428232" y="3557016"/>
            <a:ext cx="5029200" cy="16733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8232" y="3648456"/>
            <a:ext cx="50292" cy="149047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675888"/>
            <a:ext cx="475488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7354B8"/>
                </a:solidFill>
                <a:latin typeface="Arial"/>
              </a:defRPr>
            </a:pPr>
            <a:r>
              <a:t>decode InferenceSet</a:t>
            </a:r>
          </a:p>
        </p:txBody>
      </p:sp>
      <p:sp>
        <p:nvSpPr>
          <p:cNvPr id="21" name="TextBox 20"/>
          <p:cNvSpPr txBox="1"/>
          <p:nvPr/>
        </p:nvSpPr>
        <p:spPr>
          <a:xfrm>
            <a:off x="6574536" y="4114800"/>
            <a:ext cx="4736592" cy="10241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Replica count • instance type</a:t>
            </a:r>
          </a:p>
          <a:p>
            <a:pPr algn="ctr">
              <a:spcBef>
                <a:spcPts val="0"/>
              </a:spcBef>
              <a:spcAft>
                <a:spcPts val="500"/>
              </a:spcAft>
              <a:defRPr sz="1400" b="0">
                <a:solidFill>
                  <a:srgbClr val="586A80"/>
                </a:solidFill>
                <a:latin typeface="Arial"/>
              </a:defRPr>
            </a:pPr>
            <a:r>
              <a:t>Tensor parallelism • vLLM configuration</a:t>
            </a:r>
          </a:p>
        </p:txBody>
      </p:sp>
      <p:cxnSp>
        <p:nvCxnSpPr>
          <p:cNvPr id="22" name="Connector 21"/>
          <p:cNvCxnSpPr/>
          <p:nvPr/>
        </p:nvCxnSpPr>
        <p:spPr>
          <a:xfrm>
            <a:off x="6089904" y="2926080"/>
            <a:ext cx="0" cy="292608"/>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246120" y="3218688"/>
            <a:ext cx="2843784"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46120" y="3218688"/>
            <a:ext cx="0" cy="338328"/>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89904" y="3218688"/>
            <a:ext cx="2852928"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42832" y="3218688"/>
            <a:ext cx="0" cy="338328"/>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Architecture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One API endpoint, a role-aware serving path</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Solid arrows: request/data flow. Dashed arrows: scheduling or reconciliation.</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21 / 56</a:t>
            </a:r>
          </a:p>
        </p:txBody>
      </p:sp>
      <p:sp>
        <p:nvSpPr>
          <p:cNvPr id="8" name="Rounded Rectangle 7"/>
          <p:cNvSpPr/>
          <p:nvPr/>
        </p:nvSpPr>
        <p:spPr>
          <a:xfrm>
            <a:off x="502920" y="2350008"/>
            <a:ext cx="1234440" cy="10058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41448"/>
            <a:ext cx="5029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68879"/>
            <a:ext cx="96012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2563EB"/>
                </a:solidFill>
                <a:latin typeface="Arial"/>
              </a:defRPr>
            </a:pPr>
            <a:r>
              <a:t>Client</a:t>
            </a:r>
          </a:p>
        </p:txBody>
      </p:sp>
      <p:sp>
        <p:nvSpPr>
          <p:cNvPr id="11" name="TextBox 10"/>
          <p:cNvSpPr txBox="1"/>
          <p:nvPr/>
        </p:nvSpPr>
        <p:spPr>
          <a:xfrm>
            <a:off x="649224" y="2907792"/>
            <a:ext cx="941832" cy="35661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API call</a:t>
            </a:r>
          </a:p>
        </p:txBody>
      </p:sp>
      <p:sp>
        <p:nvSpPr>
          <p:cNvPr id="12" name="Rounded Rectangle 11"/>
          <p:cNvSpPr/>
          <p:nvPr/>
        </p:nvSpPr>
        <p:spPr>
          <a:xfrm>
            <a:off x="2157984" y="2350008"/>
            <a:ext cx="1901952" cy="10058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57984" y="2441448"/>
            <a:ext cx="5029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5144" y="2468879"/>
            <a:ext cx="1627632" cy="393192"/>
          </a:xfrm>
          <a:prstGeom prst="rect">
            <a:avLst/>
          </a:prstGeom>
          <a:noFill/>
        </p:spPr>
        <p:txBody>
          <a:bodyPr wrap="square" lIns="13716" rIns="13716" tIns="13716" bIns="13716">
            <a:spAutoFit/>
          </a:bodyPr>
          <a:lstStyle/>
          <a:p>
            <a:pPr algn="ctr">
              <a:spcBef>
                <a:spcPts val="0"/>
              </a:spcBef>
              <a:spcAft>
                <a:spcPts val="500"/>
              </a:spcAft>
              <a:defRPr sz="1900" b="1">
                <a:solidFill>
                  <a:srgbClr val="2563EB"/>
                </a:solidFill>
                <a:latin typeface="Arial"/>
              </a:defRPr>
            </a:pPr>
            <a:r>
              <a:t>Gateway</a:t>
            </a:r>
          </a:p>
        </p:txBody>
      </p:sp>
      <p:sp>
        <p:nvSpPr>
          <p:cNvPr id="15" name="TextBox 14"/>
          <p:cNvSpPr txBox="1"/>
          <p:nvPr/>
        </p:nvSpPr>
        <p:spPr>
          <a:xfrm>
            <a:off x="2304288" y="2907792"/>
            <a:ext cx="1609344" cy="35661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HTTPRoute</a:t>
            </a:r>
          </a:p>
        </p:txBody>
      </p:sp>
      <p:sp>
        <p:nvSpPr>
          <p:cNvPr id="16" name="Rounded Rectangle 15"/>
          <p:cNvSpPr/>
          <p:nvPr/>
        </p:nvSpPr>
        <p:spPr>
          <a:xfrm>
            <a:off x="2157984" y="4114800"/>
            <a:ext cx="1901952" cy="10058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57984" y="4206240"/>
            <a:ext cx="50292" cy="8229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95144" y="4233672"/>
            <a:ext cx="1627632"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llm-d EPP</a:t>
            </a:r>
          </a:p>
        </p:txBody>
      </p:sp>
      <p:sp>
        <p:nvSpPr>
          <p:cNvPr id="19" name="TextBox 18"/>
          <p:cNvSpPr txBox="1"/>
          <p:nvPr/>
        </p:nvSpPr>
        <p:spPr>
          <a:xfrm>
            <a:off x="2304288" y="4672583"/>
            <a:ext cx="1609344" cy="35661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Pick P + D</a:t>
            </a:r>
          </a:p>
        </p:txBody>
      </p:sp>
      <p:sp>
        <p:nvSpPr>
          <p:cNvPr id="20" name="Rounded Rectangle 19"/>
          <p:cNvSpPr/>
          <p:nvPr/>
        </p:nvSpPr>
        <p:spPr>
          <a:xfrm>
            <a:off x="4636008" y="2350008"/>
            <a:ext cx="2322576" cy="10058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36008" y="2441448"/>
            <a:ext cx="50292" cy="82296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73168" y="2468879"/>
            <a:ext cx="2048256"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 proxy</a:t>
            </a:r>
          </a:p>
        </p:txBody>
      </p:sp>
      <p:sp>
        <p:nvSpPr>
          <p:cNvPr id="23" name="TextBox 22"/>
          <p:cNvSpPr txBox="1"/>
          <p:nvPr/>
        </p:nvSpPr>
        <p:spPr>
          <a:xfrm>
            <a:off x="4782312" y="2907792"/>
            <a:ext cx="2029968" cy="35661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Orchestrate request</a:t>
            </a:r>
          </a:p>
        </p:txBody>
      </p:sp>
      <p:sp>
        <p:nvSpPr>
          <p:cNvPr id="24" name="Rounded Rectangle 23"/>
          <p:cNvSpPr/>
          <p:nvPr/>
        </p:nvSpPr>
        <p:spPr>
          <a:xfrm>
            <a:off x="8641080" y="2176272"/>
            <a:ext cx="2999232"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41080" y="2267712"/>
            <a:ext cx="50292" cy="960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2295144"/>
            <a:ext cx="2724912" cy="393192"/>
          </a:xfrm>
          <a:prstGeom prst="rect">
            <a:avLst/>
          </a:prstGeom>
          <a:noFill/>
        </p:spPr>
        <p:txBody>
          <a:bodyPr wrap="square" lIns="13716" rIns="13716" tIns="13716" bIns="13716">
            <a:spAutoFit/>
          </a:bodyPr>
          <a:lstStyle/>
          <a:p>
            <a:pPr algn="ctr">
              <a:spcBef>
                <a:spcPts val="0"/>
              </a:spcBef>
              <a:spcAft>
                <a:spcPts val="500"/>
              </a:spcAft>
              <a:defRPr sz="2000" b="1">
                <a:solidFill>
                  <a:srgbClr val="087F8C"/>
                </a:solidFill>
                <a:latin typeface="Arial"/>
              </a:defRPr>
            </a:pPr>
            <a:r>
              <a:t>Prefill workers</a:t>
            </a:r>
          </a:p>
        </p:txBody>
      </p:sp>
      <p:sp>
        <p:nvSpPr>
          <p:cNvPr id="27" name="TextBox 26"/>
          <p:cNvSpPr txBox="1"/>
          <p:nvPr/>
        </p:nvSpPr>
        <p:spPr>
          <a:xfrm>
            <a:off x="8787384" y="2734056"/>
            <a:ext cx="2706624"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Compute prompt KV</a:t>
            </a:r>
          </a:p>
        </p:txBody>
      </p:sp>
      <p:sp>
        <p:nvSpPr>
          <p:cNvPr id="28" name="Rounded Rectangle 27"/>
          <p:cNvSpPr/>
          <p:nvPr/>
        </p:nvSpPr>
        <p:spPr>
          <a:xfrm>
            <a:off x="8641080" y="4114800"/>
            <a:ext cx="2999232" cy="1143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4206240"/>
            <a:ext cx="50292" cy="9601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0" y="4233672"/>
            <a:ext cx="2724912" cy="393192"/>
          </a:xfrm>
          <a:prstGeom prst="rect">
            <a:avLst/>
          </a:prstGeom>
          <a:noFill/>
        </p:spPr>
        <p:txBody>
          <a:bodyPr wrap="square" lIns="13716" rIns="13716" tIns="13716" bIns="13716">
            <a:spAutoFit/>
          </a:bodyPr>
          <a:lstStyle/>
          <a:p>
            <a:pPr algn="ctr">
              <a:spcBef>
                <a:spcPts val="0"/>
              </a:spcBef>
              <a:spcAft>
                <a:spcPts val="500"/>
              </a:spcAft>
              <a:defRPr sz="2000" b="1">
                <a:solidFill>
                  <a:srgbClr val="7354B8"/>
                </a:solidFill>
                <a:latin typeface="Arial"/>
              </a:defRPr>
            </a:pPr>
            <a:r>
              <a:t>Decode workers</a:t>
            </a:r>
          </a:p>
        </p:txBody>
      </p:sp>
      <p:sp>
        <p:nvSpPr>
          <p:cNvPr id="31" name="TextBox 30"/>
          <p:cNvSpPr txBox="1"/>
          <p:nvPr/>
        </p:nvSpPr>
        <p:spPr>
          <a:xfrm>
            <a:off x="8787384" y="4672583"/>
            <a:ext cx="2706624" cy="4937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Generate token stream</a:t>
            </a:r>
          </a:p>
        </p:txBody>
      </p:sp>
      <p:cxnSp>
        <p:nvCxnSpPr>
          <p:cNvPr id="32" name="Connector 31"/>
          <p:cNvCxnSpPr/>
          <p:nvPr/>
        </p:nvCxnSpPr>
        <p:spPr>
          <a:xfrm>
            <a:off x="1737360" y="2852928"/>
            <a:ext cx="420624"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59936" y="2852928"/>
            <a:ext cx="576072"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80360" y="3355848"/>
            <a:ext cx="0" cy="758952"/>
          </a:xfrm>
          <a:prstGeom prst="line">
            <a:avLst/>
          </a:prstGeom>
          <a:ln w="25400">
            <a:solidFill>
              <a:srgbClr val="087F8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383280" y="3355848"/>
            <a:ext cx="0" cy="758952"/>
          </a:xfrm>
          <a:prstGeom prst="line">
            <a:avLst/>
          </a:prstGeom>
          <a:ln w="25400">
            <a:solidFill>
              <a:srgbClr val="087F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02920" y="4279392"/>
            <a:ext cx="1463040" cy="640080"/>
          </a:xfrm>
          <a:prstGeom prst="rect">
            <a:avLst/>
          </a:prstGeom>
          <a:noFill/>
        </p:spPr>
        <p:txBody>
          <a:bodyPr wrap="square" lIns="13716" rIns="13716" tIns="13716" bIns="13716">
            <a:spAutoFit/>
          </a:bodyPr>
          <a:lstStyle/>
          <a:p>
            <a:pPr algn="ctr">
              <a:spcBef>
                <a:spcPts val="0"/>
              </a:spcBef>
              <a:spcAft>
                <a:spcPts val="500"/>
              </a:spcAft>
              <a:defRPr sz="1200" b="0">
                <a:solidFill>
                  <a:srgbClr val="586A80"/>
                </a:solidFill>
                <a:latin typeface="Arial"/>
              </a:defRPr>
            </a:pPr>
            <a:r>
              <a:t>Scheduling</a:t>
            </a:r>
          </a:p>
          <a:p>
            <a:pPr algn="ctr">
              <a:spcBef>
                <a:spcPts val="0"/>
              </a:spcBef>
              <a:spcAft>
                <a:spcPts val="500"/>
              </a:spcAft>
              <a:defRPr sz="1200" b="0">
                <a:solidFill>
                  <a:srgbClr val="586A80"/>
                </a:solidFill>
                <a:latin typeface="Arial"/>
              </a:defRPr>
            </a:pPr>
            <a:r>
              <a:t>selection</a:t>
            </a:r>
          </a:p>
        </p:txBody>
      </p:sp>
      <p:cxnSp>
        <p:nvCxnSpPr>
          <p:cNvPr id="37" name="Connector 36"/>
          <p:cNvCxnSpPr/>
          <p:nvPr/>
        </p:nvCxnSpPr>
        <p:spPr>
          <a:xfrm>
            <a:off x="6958584" y="2670048"/>
            <a:ext cx="676656"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635240" y="2670048"/>
            <a:ext cx="0" cy="64008"/>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635240" y="2734056"/>
            <a:ext cx="100584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086600" y="2066543"/>
            <a:ext cx="1371600" cy="384048"/>
          </a:xfrm>
          <a:prstGeom prst="rect">
            <a:avLst/>
          </a:prstGeom>
          <a:noFill/>
        </p:spPr>
        <p:txBody>
          <a:bodyPr wrap="square" lIns="13716" rIns="13716" tIns="13716" bIns="13716">
            <a:spAutoFit/>
          </a:bodyPr>
          <a:lstStyle/>
          <a:p>
            <a:pPr>
              <a:spcBef>
                <a:spcPts val="0"/>
              </a:spcBef>
              <a:spcAft>
                <a:spcPts val="500"/>
              </a:spcAft>
              <a:defRPr sz="1300" b="1">
                <a:solidFill>
                  <a:srgbClr val="2563EB"/>
                </a:solidFill>
                <a:latin typeface="Arial"/>
              </a:defRPr>
            </a:pPr>
            <a:r>
              <a:t>Prompt</a:t>
            </a:r>
          </a:p>
        </p:txBody>
      </p:sp>
      <p:cxnSp>
        <p:nvCxnSpPr>
          <p:cNvPr id="41" name="Connector 40"/>
          <p:cNvCxnSpPr/>
          <p:nvPr/>
        </p:nvCxnSpPr>
        <p:spPr>
          <a:xfrm>
            <a:off x="5797296" y="3355848"/>
            <a:ext cx="0" cy="1335024"/>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797296" y="4690872"/>
            <a:ext cx="2843784"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25312" y="4050791"/>
            <a:ext cx="2468880" cy="502920"/>
          </a:xfrm>
          <a:prstGeom prst="rect">
            <a:avLst/>
          </a:prstGeom>
          <a:noFill/>
        </p:spPr>
        <p:txBody>
          <a:bodyPr wrap="square" lIns="13716" rIns="13716" tIns="13716" bIns="13716">
            <a:spAutoFit/>
          </a:bodyPr>
          <a:lstStyle/>
          <a:p>
            <a:pPr>
              <a:spcBef>
                <a:spcPts val="0"/>
              </a:spcBef>
              <a:spcAft>
                <a:spcPts val="500"/>
              </a:spcAft>
              <a:defRPr sz="1200" b="1">
                <a:solidFill>
                  <a:srgbClr val="2563EB"/>
                </a:solidFill>
                <a:latin typeface="Arial"/>
              </a:defRPr>
            </a:pPr>
            <a:r>
              <a:t>Decode + KV metadata</a:t>
            </a:r>
          </a:p>
        </p:txBody>
      </p:sp>
      <p:cxnSp>
        <p:nvCxnSpPr>
          <p:cNvPr id="44" name="Connector 43"/>
          <p:cNvCxnSpPr/>
          <p:nvPr/>
        </p:nvCxnSpPr>
        <p:spPr>
          <a:xfrm>
            <a:off x="10158984" y="3319272"/>
            <a:ext cx="0" cy="795528"/>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360152" y="3502152"/>
            <a:ext cx="1225296" cy="365760"/>
          </a:xfrm>
          <a:prstGeom prst="rect">
            <a:avLst/>
          </a:prstGeom>
          <a:noFill/>
        </p:spPr>
        <p:txBody>
          <a:bodyPr wrap="square" lIns="13716" rIns="13716" tIns="13716" bIns="13716">
            <a:spAutoFit/>
          </a:bodyPr>
          <a:lstStyle/>
          <a:p>
            <a:pPr>
              <a:spcBef>
                <a:spcPts val="0"/>
              </a:spcBef>
              <a:spcAft>
                <a:spcPts val="500"/>
              </a:spcAft>
              <a:defRPr sz="1200" b="1">
                <a:solidFill>
                  <a:srgbClr val="087F8C"/>
                </a:solidFill>
                <a:latin typeface="Arial"/>
              </a:defRPr>
            </a:pPr>
            <a:r>
              <a:t>KV data</a:t>
            </a:r>
          </a:p>
        </p:txBody>
      </p:sp>
      <p:cxnSp>
        <p:nvCxnSpPr>
          <p:cNvPr id="46" name="Connector 45"/>
          <p:cNvCxnSpPr/>
          <p:nvPr/>
        </p:nvCxnSpPr>
        <p:spPr>
          <a:xfrm flipH="1">
            <a:off x="8046720" y="5056632"/>
            <a:ext cx="594360"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046720" y="5056632"/>
            <a:ext cx="0" cy="466344"/>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86968" y="5522976"/>
            <a:ext cx="7159752"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6968" y="3355848"/>
            <a:ext cx="0" cy="2167128"/>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160520" y="5596128"/>
            <a:ext cx="4937760" cy="256032"/>
          </a:xfrm>
          <a:prstGeom prst="rect">
            <a:avLst/>
          </a:prstGeom>
          <a:noFill/>
        </p:spPr>
        <p:txBody>
          <a:bodyPr wrap="square" lIns="13716" rIns="13716" tIns="13716" bIns="13716">
            <a:spAutoFit/>
          </a:bodyPr>
          <a:lstStyle/>
          <a:p>
            <a:pPr>
              <a:spcBef>
                <a:spcPts val="0"/>
              </a:spcBef>
              <a:spcAft>
                <a:spcPts val="500"/>
              </a:spcAft>
              <a:defRPr sz="1200" b="0">
                <a:solidFill>
                  <a:srgbClr val="7354B8"/>
                </a:solidFill>
                <a:latin typeface="Arial"/>
              </a:defRPr>
            </a:pPr>
            <a:r>
              <a:t>Token stream returns through proxy + Gateway</a:t>
            </a:r>
          </a:p>
        </p:txBody>
      </p:sp>
      <p:sp>
        <p:nvSpPr>
          <p:cNvPr id="51" name="Rounded Rectangle 50"/>
          <p:cNvSpPr/>
          <p:nvPr/>
        </p:nvSpPr>
        <p:spPr>
          <a:xfrm>
            <a:off x="502920" y="6053328"/>
            <a:ext cx="11183112" cy="310896"/>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085332"/>
            <a:ext cx="11055096" cy="237744"/>
          </a:xfrm>
          <a:prstGeom prst="rect">
            <a:avLst/>
          </a:prstGeom>
          <a:noFill/>
        </p:spPr>
        <p:txBody>
          <a:bodyPr wrap="square" lIns="13716" rIns="13716" tIns="13716" bIns="13716">
            <a:spAutoFit/>
          </a:bodyPr>
          <a:lstStyle/>
          <a:p>
            <a:pPr algn="ctr">
              <a:spcBef>
                <a:spcPts val="0"/>
              </a:spcBef>
              <a:spcAft>
                <a:spcPts val="500"/>
              </a:spcAft>
              <a:defRPr sz="1000" b="1">
                <a:solidFill>
                  <a:srgbClr val="2563EB"/>
                </a:solidFill>
                <a:latin typeface="Arial"/>
              </a:defRPr>
            </a:pPr>
            <a:r>
              <a:t>KAITO reconciles the serving topology; the Gateway is the API entry point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Resource ownership</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From one MRI to a reconciled resource graph</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Solid connectors: generated resources. Dashed connector: routing configuration.</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22 / 56</a:t>
            </a:r>
          </a:p>
        </p:txBody>
      </p:sp>
      <p:sp>
        <p:nvSpPr>
          <p:cNvPr id="8" name="Rounded Rectangle 7"/>
          <p:cNvSpPr/>
          <p:nvPr/>
        </p:nvSpPr>
        <p:spPr>
          <a:xfrm>
            <a:off x="4059936" y="1993392"/>
            <a:ext cx="4078224" cy="80467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59936" y="2084832"/>
            <a:ext cx="50292"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97096" y="2112264"/>
            <a:ext cx="3803904"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MultiRoleInference</a:t>
            </a:r>
          </a:p>
        </p:txBody>
      </p:sp>
      <p:sp>
        <p:nvSpPr>
          <p:cNvPr id="11" name="Rounded Rectangle 10"/>
          <p:cNvSpPr/>
          <p:nvPr/>
        </p:nvSpPr>
        <p:spPr>
          <a:xfrm>
            <a:off x="502920" y="3383280"/>
            <a:ext cx="338328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474720"/>
            <a:ext cx="50292" cy="731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502152"/>
            <a:ext cx="310896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087F8C"/>
                </a:solidFill>
                <a:latin typeface="Arial"/>
              </a:defRPr>
            </a:pPr>
            <a:r>
              <a:t>Prefill InferenceSet</a:t>
            </a:r>
          </a:p>
        </p:txBody>
      </p:sp>
      <p:sp>
        <p:nvSpPr>
          <p:cNvPr id="14" name="TextBox 13"/>
          <p:cNvSpPr txBox="1"/>
          <p:nvPr/>
        </p:nvSpPr>
        <p:spPr>
          <a:xfrm>
            <a:off x="649224" y="3941064"/>
            <a:ext cx="309067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Role-specific serving template</a:t>
            </a:r>
          </a:p>
        </p:txBody>
      </p:sp>
      <p:sp>
        <p:nvSpPr>
          <p:cNvPr id="15" name="Rounded Rectangle 14"/>
          <p:cNvSpPr/>
          <p:nvPr/>
        </p:nvSpPr>
        <p:spPr>
          <a:xfrm>
            <a:off x="4398264" y="3383280"/>
            <a:ext cx="338328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50292" cy="7315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3502152"/>
            <a:ext cx="310896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7354B8"/>
                </a:solidFill>
                <a:latin typeface="Arial"/>
              </a:defRPr>
            </a:pPr>
            <a:r>
              <a:t>Decode InferenceSet</a:t>
            </a:r>
          </a:p>
        </p:txBody>
      </p:sp>
      <p:sp>
        <p:nvSpPr>
          <p:cNvPr id="18" name="TextBox 17"/>
          <p:cNvSpPr txBox="1"/>
          <p:nvPr/>
        </p:nvSpPr>
        <p:spPr>
          <a:xfrm>
            <a:off x="4544568" y="3941064"/>
            <a:ext cx="309067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Runtime + routing sidecar</a:t>
            </a:r>
          </a:p>
        </p:txBody>
      </p:sp>
      <p:sp>
        <p:nvSpPr>
          <p:cNvPr id="19" name="Rounded Rectangle 18"/>
          <p:cNvSpPr/>
          <p:nvPr/>
        </p:nvSpPr>
        <p:spPr>
          <a:xfrm>
            <a:off x="8293608" y="3383280"/>
            <a:ext cx="338328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93608" y="3474720"/>
            <a:ext cx="50292" cy="7315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3502152"/>
            <a:ext cx="310896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2563EB"/>
                </a:solidFill>
                <a:latin typeface="Arial"/>
              </a:defRPr>
            </a:pPr>
            <a:r>
              <a:t>InferencePool</a:t>
            </a:r>
          </a:p>
        </p:txBody>
      </p:sp>
      <p:sp>
        <p:nvSpPr>
          <p:cNvPr id="22" name="TextBox 21"/>
          <p:cNvSpPr txBox="1"/>
          <p:nvPr/>
        </p:nvSpPr>
        <p:spPr>
          <a:xfrm>
            <a:off x="8439912" y="3941064"/>
            <a:ext cx="309067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Routing-facing backend group</a:t>
            </a:r>
          </a:p>
        </p:txBody>
      </p:sp>
      <p:cxnSp>
        <p:nvCxnSpPr>
          <p:cNvPr id="23" name="Connector 22"/>
          <p:cNvCxnSpPr/>
          <p:nvPr/>
        </p:nvCxnSpPr>
        <p:spPr>
          <a:xfrm>
            <a:off x="6089904" y="2798064"/>
            <a:ext cx="0" cy="283464"/>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194560" y="3081528"/>
            <a:ext cx="3895344"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94560" y="3081528"/>
            <a:ext cx="0" cy="301752"/>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89904" y="2798064"/>
            <a:ext cx="0" cy="283464"/>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89904" y="3081528"/>
            <a:ext cx="0"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89904" y="3081528"/>
            <a:ext cx="0" cy="301752"/>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89904" y="2798064"/>
            <a:ext cx="0" cy="283464"/>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89904" y="3081528"/>
            <a:ext cx="3895344"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85248" y="3081528"/>
            <a:ext cx="0" cy="301752"/>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02920" y="4809744"/>
            <a:ext cx="3383280" cy="8229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901183"/>
            <a:ext cx="50292" cy="6400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928616"/>
            <a:ext cx="310896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Workspaces → Pods</a:t>
            </a:r>
          </a:p>
        </p:txBody>
      </p:sp>
      <p:sp>
        <p:nvSpPr>
          <p:cNvPr id="35" name="Rounded Rectangle 34"/>
          <p:cNvSpPr/>
          <p:nvPr/>
        </p:nvSpPr>
        <p:spPr>
          <a:xfrm>
            <a:off x="4398264" y="4809744"/>
            <a:ext cx="3383280" cy="8229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98264" y="4901183"/>
            <a:ext cx="50292" cy="64008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5424" y="4928616"/>
            <a:ext cx="310896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Workspaces → Pods</a:t>
            </a:r>
          </a:p>
        </p:txBody>
      </p:sp>
      <p:sp>
        <p:nvSpPr>
          <p:cNvPr id="38" name="Rounded Rectangle 37"/>
          <p:cNvSpPr/>
          <p:nvPr/>
        </p:nvSpPr>
        <p:spPr>
          <a:xfrm>
            <a:off x="8293608" y="4809744"/>
            <a:ext cx="3383280" cy="8229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8" y="4901183"/>
            <a:ext cx="50292"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30768" y="4928616"/>
            <a:ext cx="310896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2563EB"/>
                </a:solidFill>
                <a:latin typeface="Arial"/>
              </a:defRPr>
            </a:pPr>
            <a:r>
              <a:t>EPP config + HTTPRoute</a:t>
            </a:r>
          </a:p>
        </p:txBody>
      </p:sp>
      <p:cxnSp>
        <p:nvCxnSpPr>
          <p:cNvPr id="41" name="Connector 40"/>
          <p:cNvCxnSpPr/>
          <p:nvPr/>
        </p:nvCxnSpPr>
        <p:spPr>
          <a:xfrm>
            <a:off x="2194560" y="4297680"/>
            <a:ext cx="0" cy="512064"/>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089904" y="4297680"/>
            <a:ext cx="0" cy="512064"/>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985248" y="4297680"/>
            <a:ext cx="0" cy="512064"/>
          </a:xfrm>
          <a:prstGeom prst="line">
            <a:avLst/>
          </a:prstGeom>
          <a:ln w="25400">
            <a:solidFill>
              <a:srgbClr val="2563E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21207" y="5925312"/>
            <a:ext cx="11064240" cy="365760"/>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Less hand-maintained glue: role labels, ports, sidecar configuration, and routing bindings.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Request lifecycle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 request crosses four distinct boundaries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Request orchestration and KV-data movement are separate paths.</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23 / 56</a:t>
            </a:r>
          </a:p>
        </p:txBody>
      </p:sp>
      <p:sp>
        <p:nvSpPr>
          <p:cNvPr id="8" name="Rounded Rectangle 7"/>
          <p:cNvSpPr/>
          <p:nvPr/>
        </p:nvSpPr>
        <p:spPr>
          <a:xfrm>
            <a:off x="182879" y="1993392"/>
            <a:ext cx="2286000" cy="5943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79" y="2084832"/>
            <a:ext cx="50292"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112264"/>
            <a:ext cx="2011680" cy="393192"/>
          </a:xfrm>
          <a:prstGeom prst="rect">
            <a:avLst/>
          </a:prstGeom>
          <a:noFill/>
        </p:spPr>
        <p:txBody>
          <a:bodyPr wrap="square" lIns="13716" rIns="13716" tIns="13716" bIns="13716">
            <a:spAutoFit/>
          </a:bodyPr>
          <a:lstStyle/>
          <a:p>
            <a:pPr algn="ctr">
              <a:spcBef>
                <a:spcPts val="0"/>
              </a:spcBef>
              <a:spcAft>
                <a:spcPts val="500"/>
              </a:spcAft>
              <a:defRPr sz="1400" b="1">
                <a:solidFill>
                  <a:srgbClr val="2563EB"/>
                </a:solidFill>
                <a:latin typeface="Arial"/>
              </a:defRPr>
            </a:pPr>
            <a:r>
              <a:t>Gateway + EPP</a:t>
            </a:r>
          </a:p>
        </p:txBody>
      </p:sp>
      <p:cxnSp>
        <p:nvCxnSpPr>
          <p:cNvPr id="11" name="Connector 10"/>
          <p:cNvCxnSpPr/>
          <p:nvPr/>
        </p:nvCxnSpPr>
        <p:spPr>
          <a:xfrm>
            <a:off x="1325880" y="2596896"/>
            <a:ext cx="0" cy="3300984"/>
          </a:xfrm>
          <a:prstGeom prst="line">
            <a:avLst/>
          </a:prstGeom>
          <a:ln w="127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1993392"/>
            <a:ext cx="2286000" cy="5943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26080" y="2084832"/>
            <a:ext cx="50292" cy="41148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2112264"/>
            <a:ext cx="2011680" cy="393192"/>
          </a:xfrm>
          <a:prstGeom prst="rect">
            <a:avLst/>
          </a:prstGeom>
          <a:noFill/>
        </p:spPr>
        <p:txBody>
          <a:bodyPr wrap="square" lIns="13716" rIns="13716" tIns="13716" bIns="13716">
            <a:spAutoFit/>
          </a:bodyPr>
          <a:lstStyle/>
          <a:p>
            <a:pPr algn="ctr">
              <a:spcBef>
                <a:spcPts val="0"/>
              </a:spcBef>
              <a:spcAft>
                <a:spcPts val="500"/>
              </a:spcAft>
              <a:defRPr sz="1400" b="1">
                <a:solidFill>
                  <a:srgbClr val="7354B8"/>
                </a:solidFill>
                <a:latin typeface="Arial"/>
              </a:defRPr>
            </a:pPr>
            <a:r>
              <a:t>Decode proxy</a:t>
            </a:r>
          </a:p>
        </p:txBody>
      </p:sp>
      <p:cxnSp>
        <p:nvCxnSpPr>
          <p:cNvPr id="15" name="Connector 14"/>
          <p:cNvCxnSpPr/>
          <p:nvPr/>
        </p:nvCxnSpPr>
        <p:spPr>
          <a:xfrm>
            <a:off x="4069080" y="2596896"/>
            <a:ext cx="0" cy="3300984"/>
          </a:xfrm>
          <a:prstGeom prst="line">
            <a:avLst/>
          </a:prstGeom>
          <a:ln w="127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87568" y="1993392"/>
            <a:ext cx="2286000" cy="5943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87568" y="2084832"/>
            <a:ext cx="50292" cy="4114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4728" y="2112264"/>
            <a:ext cx="2011680" cy="393192"/>
          </a:xfrm>
          <a:prstGeom prst="rect">
            <a:avLst/>
          </a:prstGeom>
          <a:noFill/>
        </p:spPr>
        <p:txBody>
          <a:bodyPr wrap="square" lIns="13716" rIns="13716" tIns="13716" bIns="13716">
            <a:spAutoFit/>
          </a:bodyPr>
          <a:lstStyle/>
          <a:p>
            <a:pPr algn="ctr">
              <a:spcBef>
                <a:spcPts val="0"/>
              </a:spcBef>
              <a:spcAft>
                <a:spcPts val="500"/>
              </a:spcAft>
              <a:defRPr sz="1400" b="1">
                <a:solidFill>
                  <a:srgbClr val="087F8C"/>
                </a:solidFill>
                <a:latin typeface="Arial"/>
              </a:defRPr>
            </a:pPr>
            <a:r>
              <a:t>Prefill worker</a:t>
            </a:r>
          </a:p>
        </p:txBody>
      </p:sp>
      <p:cxnSp>
        <p:nvCxnSpPr>
          <p:cNvPr id="19" name="Connector 18"/>
          <p:cNvCxnSpPr/>
          <p:nvPr/>
        </p:nvCxnSpPr>
        <p:spPr>
          <a:xfrm>
            <a:off x="6830568" y="2596896"/>
            <a:ext cx="0" cy="3300984"/>
          </a:xfrm>
          <a:prstGeom prst="line">
            <a:avLst/>
          </a:prstGeom>
          <a:ln w="127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32520" y="1993392"/>
            <a:ext cx="2286000" cy="5943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32520" y="2084832"/>
            <a:ext cx="50292" cy="41148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2112264"/>
            <a:ext cx="2011680" cy="393192"/>
          </a:xfrm>
          <a:prstGeom prst="rect">
            <a:avLst/>
          </a:prstGeom>
          <a:noFill/>
        </p:spPr>
        <p:txBody>
          <a:bodyPr wrap="square" lIns="13716" rIns="13716" tIns="13716" bIns="13716">
            <a:spAutoFit/>
          </a:bodyPr>
          <a:lstStyle/>
          <a:p>
            <a:pPr algn="ctr">
              <a:spcBef>
                <a:spcPts val="0"/>
              </a:spcBef>
              <a:spcAft>
                <a:spcPts val="500"/>
              </a:spcAft>
              <a:defRPr sz="1400" b="1">
                <a:solidFill>
                  <a:srgbClr val="7354B8"/>
                </a:solidFill>
                <a:latin typeface="Arial"/>
              </a:defRPr>
            </a:pPr>
            <a:r>
              <a:t>Decode runtime</a:t>
            </a:r>
          </a:p>
        </p:txBody>
      </p:sp>
      <p:cxnSp>
        <p:nvCxnSpPr>
          <p:cNvPr id="23" name="Connector 22"/>
          <p:cNvCxnSpPr/>
          <p:nvPr/>
        </p:nvCxnSpPr>
        <p:spPr>
          <a:xfrm>
            <a:off x="9875520" y="2596896"/>
            <a:ext cx="0" cy="3300984"/>
          </a:xfrm>
          <a:prstGeom prst="line">
            <a:avLst/>
          </a:prstGeom>
          <a:ln w="12700">
            <a:solidFill>
              <a:srgbClr val="D9E2EE"/>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25880" y="2852928"/>
            <a:ext cx="274320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08176" y="2560320"/>
            <a:ext cx="2606040" cy="265176"/>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1  Route to selected decode</a:t>
            </a:r>
          </a:p>
        </p:txBody>
      </p:sp>
      <p:cxnSp>
        <p:nvCxnSpPr>
          <p:cNvPr id="26" name="Connector 25"/>
          <p:cNvCxnSpPr/>
          <p:nvPr/>
        </p:nvCxnSpPr>
        <p:spPr>
          <a:xfrm>
            <a:off x="4069080" y="3410712"/>
            <a:ext cx="2761488"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51376" y="3118104"/>
            <a:ext cx="2624327" cy="265176"/>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2  Execute prefill</a:t>
            </a:r>
          </a:p>
        </p:txBody>
      </p:sp>
      <p:cxnSp>
        <p:nvCxnSpPr>
          <p:cNvPr id="28" name="Connector 27"/>
          <p:cNvCxnSpPr/>
          <p:nvPr/>
        </p:nvCxnSpPr>
        <p:spPr>
          <a:xfrm flipH="1">
            <a:off x="4069080" y="3968496"/>
            <a:ext cx="2761488" cy="0"/>
          </a:xfrm>
          <a:prstGeom prst="line">
            <a:avLst/>
          </a:prstGeom>
          <a:ln w="25400">
            <a:solidFill>
              <a:srgbClr val="586A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151376" y="3675887"/>
            <a:ext cx="2624327" cy="265176"/>
          </a:xfrm>
          <a:prstGeom prst="rect">
            <a:avLst/>
          </a:prstGeom>
          <a:noFill/>
        </p:spPr>
        <p:txBody>
          <a:bodyPr wrap="square" lIns="13716" rIns="13716" tIns="13716" bIns="13716">
            <a:spAutoFit/>
          </a:bodyPr>
          <a:lstStyle/>
          <a:p>
            <a:pPr>
              <a:spcBef>
                <a:spcPts val="0"/>
              </a:spcBef>
              <a:spcAft>
                <a:spcPts val="500"/>
              </a:spcAft>
              <a:defRPr sz="1100" b="1">
                <a:solidFill>
                  <a:srgbClr val="586A80"/>
                </a:solidFill>
                <a:latin typeface="Arial"/>
              </a:defRPr>
            </a:pPr>
            <a:r>
              <a:t>3  Return KV-transfer metadata</a:t>
            </a:r>
          </a:p>
        </p:txBody>
      </p:sp>
      <p:cxnSp>
        <p:nvCxnSpPr>
          <p:cNvPr id="30" name="Connector 29"/>
          <p:cNvCxnSpPr/>
          <p:nvPr/>
        </p:nvCxnSpPr>
        <p:spPr>
          <a:xfrm>
            <a:off x="4069080" y="4526280"/>
            <a:ext cx="580644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151376" y="4233672"/>
            <a:ext cx="5669280" cy="265176"/>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4  Start decode with metadata</a:t>
            </a:r>
          </a:p>
        </p:txBody>
      </p:sp>
      <p:cxnSp>
        <p:nvCxnSpPr>
          <p:cNvPr id="32" name="Connector 31"/>
          <p:cNvCxnSpPr/>
          <p:nvPr/>
        </p:nvCxnSpPr>
        <p:spPr>
          <a:xfrm>
            <a:off x="6830568" y="5084064"/>
            <a:ext cx="3044952"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12864" y="4791455"/>
            <a:ext cx="2907792" cy="265176"/>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5  KV data (prefill → decode)</a:t>
            </a:r>
          </a:p>
        </p:txBody>
      </p:sp>
      <p:cxnSp>
        <p:nvCxnSpPr>
          <p:cNvPr id="34" name="Connector 33"/>
          <p:cNvCxnSpPr/>
          <p:nvPr/>
        </p:nvCxnSpPr>
        <p:spPr>
          <a:xfrm flipH="1">
            <a:off x="4069080" y="5641848"/>
            <a:ext cx="5806440"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51376" y="5349240"/>
            <a:ext cx="5669280" cy="265176"/>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6  Token stream → proxy → Gateway</a:t>
            </a:r>
          </a:p>
        </p:txBody>
      </p:sp>
      <p:sp>
        <p:nvSpPr>
          <p:cNvPr id="36" name="TextBox 35"/>
          <p:cNvSpPr txBox="1"/>
          <p:nvPr/>
        </p:nvSpPr>
        <p:spPr>
          <a:xfrm>
            <a:off x="502920" y="6117336"/>
            <a:ext cx="11155680" cy="265176"/>
          </a:xfrm>
          <a:prstGeom prst="rect">
            <a:avLst/>
          </a:prstGeom>
          <a:noFill/>
        </p:spPr>
        <p:txBody>
          <a:bodyPr wrap="square" lIns="13716" rIns="13716" tIns="13716" bIns="13716">
            <a:spAutoFit/>
          </a:bodyPr>
          <a:lstStyle/>
          <a:p>
            <a:pPr>
              <a:spcBef>
                <a:spcPts val="0"/>
              </a:spcBef>
              <a:spcAft>
                <a:spcPts val="500"/>
              </a:spcAft>
              <a:defRPr sz="1400" b="0">
                <a:solidFill>
                  <a:srgbClr val="586A80"/>
                </a:solidFill>
                <a:latin typeface="Arial"/>
              </a:defRPr>
            </a:pPr>
            <a:r>
              <a:t>KV-transfer metadata identifies remote state; it is not the KV tensor payload.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KV transfer</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Metadata is not the KV payload</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Keep control messages and the high-volume data path distinct.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Do not read a request arrow as a KV-transfer arrow.</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24 / 56</a:t>
            </a:r>
          </a:p>
        </p:txBody>
      </p:sp>
      <p:sp>
        <p:nvSpPr>
          <p:cNvPr id="10" name="Rounded Rectangle 9"/>
          <p:cNvSpPr/>
          <p:nvPr/>
        </p:nvSpPr>
        <p:spPr>
          <a:xfrm>
            <a:off x="502920" y="2194560"/>
            <a:ext cx="3108960" cy="11338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286000"/>
            <a:ext cx="50292" cy="95097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13432"/>
            <a:ext cx="283464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7354B8"/>
                </a:solidFill>
                <a:latin typeface="Arial"/>
              </a:defRPr>
            </a:pPr>
            <a:r>
              <a:t>Decode proxy</a:t>
            </a:r>
          </a:p>
        </p:txBody>
      </p:sp>
      <p:sp>
        <p:nvSpPr>
          <p:cNvPr id="13" name="TextBox 12"/>
          <p:cNvSpPr txBox="1"/>
          <p:nvPr/>
        </p:nvSpPr>
        <p:spPr>
          <a:xfrm>
            <a:off x="649224" y="2752344"/>
            <a:ext cx="2816352" cy="48463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HTTP orchestration</a:t>
            </a:r>
          </a:p>
        </p:txBody>
      </p:sp>
      <p:sp>
        <p:nvSpPr>
          <p:cNvPr id="14" name="Rounded Rectangle 13"/>
          <p:cNvSpPr/>
          <p:nvPr/>
        </p:nvSpPr>
        <p:spPr>
          <a:xfrm>
            <a:off x="8577072" y="2194560"/>
            <a:ext cx="3108960" cy="11338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77072" y="2286000"/>
            <a:ext cx="50292" cy="95097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14232" y="2313432"/>
            <a:ext cx="283464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087F8C"/>
                </a:solidFill>
                <a:latin typeface="Arial"/>
              </a:defRPr>
            </a:pPr>
            <a:r>
              <a:t>Prefill worker</a:t>
            </a:r>
          </a:p>
        </p:txBody>
      </p:sp>
      <p:sp>
        <p:nvSpPr>
          <p:cNvPr id="17" name="TextBox 16"/>
          <p:cNvSpPr txBox="1"/>
          <p:nvPr/>
        </p:nvSpPr>
        <p:spPr>
          <a:xfrm>
            <a:off x="8723376" y="2752344"/>
            <a:ext cx="2816352" cy="48463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Owns newly computed KV</a:t>
            </a:r>
          </a:p>
        </p:txBody>
      </p:sp>
      <p:cxnSp>
        <p:nvCxnSpPr>
          <p:cNvPr id="18" name="Connector 17"/>
          <p:cNvCxnSpPr/>
          <p:nvPr/>
        </p:nvCxnSpPr>
        <p:spPr>
          <a:xfrm>
            <a:off x="3611880" y="2569464"/>
            <a:ext cx="4965192"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21608" y="2048256"/>
            <a:ext cx="4727448" cy="365760"/>
          </a:xfrm>
          <a:prstGeom prst="rect">
            <a:avLst/>
          </a:prstGeom>
          <a:noFill/>
        </p:spPr>
        <p:txBody>
          <a:bodyPr wrap="square" lIns="13716" rIns="13716" tIns="13716" bIns="13716">
            <a:spAutoFit/>
          </a:bodyPr>
          <a:lstStyle/>
          <a:p>
            <a:pPr algn="ctr">
              <a:spcBef>
                <a:spcPts val="0"/>
              </a:spcBef>
              <a:spcAft>
                <a:spcPts val="500"/>
              </a:spcAft>
              <a:defRPr sz="1600" b="1">
                <a:solidFill>
                  <a:srgbClr val="2563EB"/>
                </a:solidFill>
                <a:latin typeface="Arial"/>
              </a:defRPr>
            </a:pPr>
            <a:r>
              <a:t>Prompt request</a:t>
            </a:r>
          </a:p>
        </p:txBody>
      </p:sp>
      <p:cxnSp>
        <p:nvCxnSpPr>
          <p:cNvPr id="20" name="Connector 19"/>
          <p:cNvCxnSpPr/>
          <p:nvPr/>
        </p:nvCxnSpPr>
        <p:spPr>
          <a:xfrm flipH="1">
            <a:off x="3611880" y="3054096"/>
            <a:ext cx="4965192" cy="0"/>
          </a:xfrm>
          <a:prstGeom prst="line">
            <a:avLst/>
          </a:prstGeom>
          <a:ln w="25400">
            <a:solidFill>
              <a:srgbClr val="586A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703320" y="3136392"/>
            <a:ext cx="4754880" cy="393192"/>
          </a:xfrm>
          <a:prstGeom prst="rect">
            <a:avLst/>
          </a:prstGeom>
          <a:noFill/>
        </p:spPr>
        <p:txBody>
          <a:bodyPr wrap="square" lIns="13716" rIns="13716" tIns="13716" bIns="13716">
            <a:spAutoFit/>
          </a:bodyPr>
          <a:lstStyle/>
          <a:p>
            <a:pPr algn="ctr">
              <a:spcBef>
                <a:spcPts val="0"/>
              </a:spcBef>
              <a:spcAft>
                <a:spcPts val="500"/>
              </a:spcAft>
              <a:defRPr sz="1500" b="0">
                <a:solidFill>
                  <a:srgbClr val="586A80"/>
                </a:solidFill>
                <a:latin typeface="Arial"/>
              </a:defRPr>
            </a:pPr>
            <a:r>
              <a:t>Response: KV-transfer metadata</a:t>
            </a:r>
          </a:p>
        </p:txBody>
      </p:sp>
      <p:sp>
        <p:nvSpPr>
          <p:cNvPr id="22" name="Rounded Rectangle 21"/>
          <p:cNvSpPr/>
          <p:nvPr/>
        </p:nvSpPr>
        <p:spPr>
          <a:xfrm>
            <a:off x="502920" y="4288536"/>
            <a:ext cx="3108960" cy="11338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379976"/>
            <a:ext cx="50292" cy="95097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07408"/>
            <a:ext cx="283464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7354B8"/>
                </a:solidFill>
                <a:latin typeface="Arial"/>
              </a:defRPr>
            </a:pPr>
            <a:r>
              <a:t>Decode runtime</a:t>
            </a:r>
          </a:p>
        </p:txBody>
      </p:sp>
      <p:sp>
        <p:nvSpPr>
          <p:cNvPr id="25" name="TextBox 24"/>
          <p:cNvSpPr txBox="1"/>
          <p:nvPr/>
        </p:nvSpPr>
        <p:spPr>
          <a:xfrm>
            <a:off x="649224" y="4846320"/>
            <a:ext cx="2816352" cy="48463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Uses KV to generate tokens</a:t>
            </a:r>
          </a:p>
        </p:txBody>
      </p:sp>
      <p:sp>
        <p:nvSpPr>
          <p:cNvPr id="26" name="Rounded Rectangle 25"/>
          <p:cNvSpPr/>
          <p:nvPr/>
        </p:nvSpPr>
        <p:spPr>
          <a:xfrm>
            <a:off x="8577072" y="4288536"/>
            <a:ext cx="3108960" cy="11338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77072" y="4379976"/>
            <a:ext cx="50292" cy="95097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14232" y="4407408"/>
            <a:ext cx="283464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087F8C"/>
                </a:solidFill>
                <a:latin typeface="Arial"/>
              </a:defRPr>
            </a:pPr>
            <a:r>
              <a:t>Prefill KV memory</a:t>
            </a:r>
          </a:p>
        </p:txBody>
      </p:sp>
      <p:sp>
        <p:nvSpPr>
          <p:cNvPr id="29" name="TextBox 28"/>
          <p:cNvSpPr txBox="1"/>
          <p:nvPr/>
        </p:nvSpPr>
        <p:spPr>
          <a:xfrm>
            <a:off x="8723376" y="4846320"/>
            <a:ext cx="2816352" cy="48463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Remote transfer source</a:t>
            </a:r>
          </a:p>
        </p:txBody>
      </p:sp>
      <p:cxnSp>
        <p:nvCxnSpPr>
          <p:cNvPr id="30" name="Connector 29"/>
          <p:cNvCxnSpPr/>
          <p:nvPr/>
        </p:nvCxnSpPr>
        <p:spPr>
          <a:xfrm>
            <a:off x="2057400" y="3328416"/>
            <a:ext cx="0" cy="96012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21207" y="3639312"/>
            <a:ext cx="1325880" cy="457200"/>
          </a:xfrm>
          <a:prstGeom prst="rect">
            <a:avLst/>
          </a:prstGeom>
          <a:noFill/>
        </p:spPr>
        <p:txBody>
          <a:bodyPr wrap="square" lIns="13716" rIns="13716" tIns="13716" bIns="13716">
            <a:spAutoFit/>
          </a:bodyPr>
          <a:lstStyle/>
          <a:p>
            <a:pPr>
              <a:spcBef>
                <a:spcPts val="0"/>
              </a:spcBef>
              <a:spcAft>
                <a:spcPts val="500"/>
              </a:spcAft>
              <a:defRPr sz="1200" b="0">
                <a:solidFill>
                  <a:srgbClr val="7354B8"/>
                </a:solidFill>
                <a:latin typeface="Arial"/>
              </a:defRPr>
            </a:pPr>
            <a:r>
              <a:t>Metadata</a:t>
            </a:r>
          </a:p>
        </p:txBody>
      </p:sp>
      <p:cxnSp>
        <p:nvCxnSpPr>
          <p:cNvPr id="32" name="Connector 31"/>
          <p:cNvCxnSpPr/>
          <p:nvPr/>
        </p:nvCxnSpPr>
        <p:spPr>
          <a:xfrm flipH="1">
            <a:off x="3611880" y="4837176"/>
            <a:ext cx="4965192" cy="0"/>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703320" y="4325112"/>
            <a:ext cx="4754880" cy="384048"/>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KV tensor data: prefill → decode</a:t>
            </a:r>
          </a:p>
        </p:txBody>
      </p:sp>
      <p:sp>
        <p:nvSpPr>
          <p:cNvPr id="34" name="TextBox 33"/>
          <p:cNvSpPr txBox="1"/>
          <p:nvPr/>
        </p:nvSpPr>
        <p:spPr>
          <a:xfrm>
            <a:off x="3730752" y="5047488"/>
            <a:ext cx="4718304" cy="51206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A decode-initiated read can drive the transfer.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Runtime boundary</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decode pod contains two different roles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routing sidecar coordinates the request; vLLM executes decode.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Generated Service targetPorts, probes, and runtime arguments must agree.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25 / 56</a:t>
            </a:r>
          </a:p>
        </p:txBody>
      </p:sp>
      <p:sp>
        <p:nvSpPr>
          <p:cNvPr id="10" name="Rounded Rectangle 9"/>
          <p:cNvSpPr/>
          <p:nvPr/>
        </p:nvSpPr>
        <p:spPr>
          <a:xfrm>
            <a:off x="2743200" y="2157984"/>
            <a:ext cx="8942832" cy="3355848"/>
          </a:xfrm>
          <a:prstGeom prst="roundRect">
            <a:avLst>
              <a:gd name="adj" fmla="val 10000"/>
            </a:avLst>
          </a:prstGeom>
          <a:solidFill>
            <a:srgbClr val="F0EBFA"/>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0944" y="2368296"/>
            <a:ext cx="8138160" cy="365760"/>
          </a:xfrm>
          <a:prstGeom prst="rect">
            <a:avLst/>
          </a:prstGeom>
          <a:noFill/>
        </p:spPr>
        <p:txBody>
          <a:bodyPr wrap="square" lIns="13716" rIns="13716" tIns="13716" bIns="13716">
            <a:spAutoFit/>
          </a:bodyPr>
          <a:lstStyle/>
          <a:p>
            <a:pPr>
              <a:spcBef>
                <a:spcPts val="0"/>
              </a:spcBef>
              <a:spcAft>
                <a:spcPts val="500"/>
              </a:spcAft>
              <a:defRPr sz="1600" b="1">
                <a:solidFill>
                  <a:srgbClr val="7354B8"/>
                </a:solidFill>
                <a:latin typeface="Arial"/>
              </a:defRPr>
            </a:pPr>
            <a:r>
              <a:t>Decode pod  /  Shared pod network</a:t>
            </a:r>
          </a:p>
        </p:txBody>
      </p:sp>
      <p:sp>
        <p:nvSpPr>
          <p:cNvPr id="12" name="Rounded Rectangle 11"/>
          <p:cNvSpPr/>
          <p:nvPr/>
        </p:nvSpPr>
        <p:spPr>
          <a:xfrm>
            <a:off x="3017520" y="3172968"/>
            <a:ext cx="2971800" cy="16002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17520" y="3264408"/>
            <a:ext cx="50292" cy="14173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79" y="3291840"/>
            <a:ext cx="2697480" cy="658368"/>
          </a:xfrm>
          <a:prstGeom prst="rect">
            <a:avLst/>
          </a:prstGeom>
          <a:noFill/>
        </p:spPr>
        <p:txBody>
          <a:bodyPr wrap="square" lIns="13716" rIns="13716" tIns="13716" bIns="13716">
            <a:spAutoFit/>
          </a:bodyPr>
          <a:lstStyle/>
          <a:p>
            <a:pPr algn="ctr">
              <a:spcBef>
                <a:spcPts val="0"/>
              </a:spcBef>
              <a:spcAft>
                <a:spcPts val="500"/>
              </a:spcAft>
              <a:defRPr sz="2000" b="1">
                <a:solidFill>
                  <a:srgbClr val="7354B8"/>
                </a:solidFill>
                <a:latin typeface="Arial"/>
              </a:defRPr>
            </a:pPr>
            <a:r>
              <a:t>llm-d routing</a:t>
            </a:r>
          </a:p>
          <a:p>
            <a:pPr algn="ctr">
              <a:spcBef>
                <a:spcPts val="0"/>
              </a:spcBef>
              <a:spcAft>
                <a:spcPts val="500"/>
              </a:spcAft>
              <a:defRPr sz="2000" b="1">
                <a:solidFill>
                  <a:srgbClr val="7354B8"/>
                </a:solidFill>
                <a:latin typeface="Arial"/>
              </a:defRPr>
            </a:pPr>
            <a:r>
              <a:t>sidecar</a:t>
            </a:r>
          </a:p>
        </p:txBody>
      </p:sp>
      <p:sp>
        <p:nvSpPr>
          <p:cNvPr id="15" name="TextBox 14"/>
          <p:cNvSpPr txBox="1"/>
          <p:nvPr/>
        </p:nvSpPr>
        <p:spPr>
          <a:xfrm>
            <a:off x="3163824" y="3995928"/>
            <a:ext cx="2679192" cy="68580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Receives inference requests</a:t>
            </a:r>
          </a:p>
        </p:txBody>
      </p:sp>
      <p:sp>
        <p:nvSpPr>
          <p:cNvPr id="16" name="Rounded Rectangle 15"/>
          <p:cNvSpPr/>
          <p:nvPr/>
        </p:nvSpPr>
        <p:spPr>
          <a:xfrm>
            <a:off x="8275320" y="3172968"/>
            <a:ext cx="3108960" cy="16002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3264408"/>
            <a:ext cx="50292" cy="14173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291840"/>
            <a:ext cx="2834640" cy="658368"/>
          </a:xfrm>
          <a:prstGeom prst="rect">
            <a:avLst/>
          </a:prstGeom>
          <a:noFill/>
        </p:spPr>
        <p:txBody>
          <a:bodyPr wrap="square" lIns="13716" rIns="13716" tIns="13716" bIns="13716">
            <a:spAutoFit/>
          </a:bodyPr>
          <a:lstStyle/>
          <a:p>
            <a:pPr algn="ctr">
              <a:spcBef>
                <a:spcPts val="0"/>
              </a:spcBef>
              <a:spcAft>
                <a:spcPts val="500"/>
              </a:spcAft>
              <a:defRPr sz="2000" b="1">
                <a:solidFill>
                  <a:srgbClr val="7354B8"/>
                </a:solidFill>
                <a:latin typeface="Arial"/>
              </a:defRPr>
            </a:pPr>
            <a:r>
              <a:t>vLLM decode</a:t>
            </a:r>
          </a:p>
          <a:p>
            <a:pPr algn="ctr">
              <a:spcBef>
                <a:spcPts val="0"/>
              </a:spcBef>
              <a:spcAft>
                <a:spcPts val="500"/>
              </a:spcAft>
              <a:defRPr sz="2000" b="1">
                <a:solidFill>
                  <a:srgbClr val="7354B8"/>
                </a:solidFill>
                <a:latin typeface="Arial"/>
              </a:defRPr>
            </a:pPr>
            <a:r>
              <a:t>runtime</a:t>
            </a:r>
          </a:p>
        </p:txBody>
      </p:sp>
      <p:sp>
        <p:nvSpPr>
          <p:cNvPr id="19" name="TextBox 18"/>
          <p:cNvSpPr txBox="1"/>
          <p:nvPr/>
        </p:nvSpPr>
        <p:spPr>
          <a:xfrm>
            <a:off x="8421624" y="3995928"/>
            <a:ext cx="2816352" cy="68580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Local backend listener</a:t>
            </a:r>
          </a:p>
        </p:txBody>
      </p:sp>
      <p:sp>
        <p:nvSpPr>
          <p:cNvPr id="20" name="Rounded Rectangle 19"/>
          <p:cNvSpPr/>
          <p:nvPr/>
        </p:nvSpPr>
        <p:spPr>
          <a:xfrm>
            <a:off x="502920" y="3355848"/>
            <a:ext cx="1764792" cy="11704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447288"/>
            <a:ext cx="50292" cy="9875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474720"/>
            <a:ext cx="1490472" cy="393192"/>
          </a:xfrm>
          <a:prstGeom prst="rect">
            <a:avLst/>
          </a:prstGeom>
          <a:noFill/>
        </p:spPr>
        <p:txBody>
          <a:bodyPr wrap="square" lIns="13716" rIns="13716" tIns="13716" bIns="13716">
            <a:spAutoFit/>
          </a:bodyPr>
          <a:lstStyle/>
          <a:p>
            <a:pPr algn="ctr">
              <a:spcBef>
                <a:spcPts val="0"/>
              </a:spcBef>
              <a:spcAft>
                <a:spcPts val="500"/>
              </a:spcAft>
              <a:defRPr sz="1800" b="1">
                <a:solidFill>
                  <a:srgbClr val="2563EB"/>
                </a:solidFill>
                <a:latin typeface="Arial"/>
              </a:defRPr>
            </a:pPr>
            <a:r>
              <a:t>Gateway</a:t>
            </a:r>
          </a:p>
        </p:txBody>
      </p:sp>
      <p:sp>
        <p:nvSpPr>
          <p:cNvPr id="23" name="TextBox 22"/>
          <p:cNvSpPr txBox="1"/>
          <p:nvPr/>
        </p:nvSpPr>
        <p:spPr>
          <a:xfrm>
            <a:off x="649224" y="3913632"/>
            <a:ext cx="1472184" cy="52120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Via Service</a:t>
            </a:r>
          </a:p>
        </p:txBody>
      </p:sp>
      <p:cxnSp>
        <p:nvCxnSpPr>
          <p:cNvPr id="24" name="Connector 23"/>
          <p:cNvCxnSpPr/>
          <p:nvPr/>
        </p:nvCxnSpPr>
        <p:spPr>
          <a:xfrm>
            <a:off x="2267712" y="3931920"/>
            <a:ext cx="749808"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89320" y="3959352"/>
            <a:ext cx="2286000"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26480" y="3401568"/>
            <a:ext cx="2011680" cy="438912"/>
          </a:xfrm>
          <a:prstGeom prst="rect">
            <a:avLst/>
          </a:prstGeom>
          <a:noFill/>
        </p:spPr>
        <p:txBody>
          <a:bodyPr wrap="square" lIns="13716" rIns="13716" tIns="13716" bIns="13716">
            <a:spAutoFit/>
          </a:bodyPr>
          <a:lstStyle/>
          <a:p>
            <a:pPr algn="ctr">
              <a:spcBef>
                <a:spcPts val="0"/>
              </a:spcBef>
              <a:spcAft>
                <a:spcPts val="500"/>
              </a:spcAft>
              <a:defRPr sz="1400" b="1">
                <a:solidFill>
                  <a:srgbClr val="7354B8"/>
                </a:solidFill>
                <a:latin typeface="Arial"/>
              </a:defRPr>
            </a:pPr>
            <a:r>
              <a:t>Local forwarding</a:t>
            </a:r>
          </a:p>
        </p:txBody>
      </p:sp>
      <p:sp>
        <p:nvSpPr>
          <p:cNvPr id="27" name="TextBox 26"/>
          <p:cNvSpPr txBox="1"/>
          <p:nvPr/>
        </p:nvSpPr>
        <p:spPr>
          <a:xfrm>
            <a:off x="6126480" y="4224528"/>
            <a:ext cx="2011680" cy="50292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Distinct listeners</a:t>
            </a:r>
          </a:p>
        </p:txBody>
      </p:sp>
      <p:sp>
        <p:nvSpPr>
          <p:cNvPr id="28" name="TextBox 27"/>
          <p:cNvSpPr txBox="1"/>
          <p:nvPr/>
        </p:nvSpPr>
        <p:spPr>
          <a:xfrm>
            <a:off x="3054096" y="5047488"/>
            <a:ext cx="8138160" cy="301752"/>
          </a:xfrm>
          <a:prstGeom prst="rect">
            <a:avLst/>
          </a:prstGeom>
          <a:noFill/>
        </p:spPr>
        <p:txBody>
          <a:bodyPr wrap="square" lIns="13716" rIns="13716" tIns="13716" bIns="13716">
            <a:spAutoFit/>
          </a:bodyPr>
          <a:lstStyle/>
          <a:p>
            <a:pPr>
              <a:spcBef>
                <a:spcPts val="0"/>
              </a:spcBef>
              <a:spcAft>
                <a:spcPts val="500"/>
              </a:spcAft>
              <a:defRPr sz="1300" b="0">
                <a:solidFill>
                  <a:srgbClr val="586A80"/>
                </a:solidFill>
                <a:latin typeface="Arial"/>
              </a:defRPr>
            </a:pPr>
            <a:r>
              <a:t>Illustrative topology; use the generated manifest for actual port numbers.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03 / Operator value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abstraction removes assembly—not visibility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One declared topology replaces repetitive runtime wiring.</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26 / 56</a:t>
            </a:r>
          </a:p>
        </p:txBody>
      </p:sp>
      <p:sp>
        <p:nvSpPr>
          <p:cNvPr id="8" name="Rounded Rectangle 7"/>
          <p:cNvSpPr/>
          <p:nvPr/>
        </p:nvSpPr>
        <p:spPr>
          <a:xfrm>
            <a:off x="502920" y="2148840"/>
            <a:ext cx="4892040" cy="3429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331720"/>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14600"/>
            <a:ext cx="4526279"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Before: manual assembly</a:t>
            </a:r>
          </a:p>
        </p:txBody>
      </p:sp>
      <p:sp>
        <p:nvSpPr>
          <p:cNvPr id="11" name="TextBox 10"/>
          <p:cNvSpPr txBox="1"/>
          <p:nvPr/>
        </p:nvSpPr>
        <p:spPr>
          <a:xfrm>
            <a:off x="685800" y="3118104"/>
            <a:ext cx="4526279" cy="23134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Pair role deployments and Services</a:t>
            </a:r>
          </a:p>
          <a:p>
            <a:pPr>
              <a:spcBef>
                <a:spcPts val="0"/>
              </a:spcBef>
              <a:spcAft>
                <a:spcPts val="500"/>
              </a:spcAft>
              <a:defRPr sz="1800" b="0">
                <a:solidFill>
                  <a:srgbClr val="172941"/>
                </a:solidFill>
                <a:latin typeface="Arial"/>
              </a:defRPr>
            </a:pPr>
          </a:p>
          <a:p>
            <a:pPr>
              <a:spcBef>
                <a:spcPts val="0"/>
              </a:spcBef>
              <a:spcAft>
                <a:spcPts val="500"/>
              </a:spcAft>
              <a:defRPr sz="1800" b="0">
                <a:solidFill>
                  <a:srgbClr val="172941"/>
                </a:solidFill>
                <a:latin typeface="Arial"/>
              </a:defRPr>
            </a:pPr>
            <a:r>
              <a:t>Align labels, ports, env vars, probes</a:t>
            </a:r>
          </a:p>
          <a:p>
            <a:pPr>
              <a:spcBef>
                <a:spcPts val="0"/>
              </a:spcBef>
              <a:spcAft>
                <a:spcPts val="500"/>
              </a:spcAft>
              <a:defRPr sz="1800" b="0">
                <a:solidFill>
                  <a:srgbClr val="172941"/>
                </a:solidFill>
                <a:latin typeface="Arial"/>
              </a:defRPr>
            </a:pPr>
          </a:p>
          <a:p>
            <a:pPr>
              <a:spcBef>
                <a:spcPts val="0"/>
              </a:spcBef>
              <a:spcAft>
                <a:spcPts val="500"/>
              </a:spcAft>
              <a:defRPr sz="1800" b="0">
                <a:solidFill>
                  <a:srgbClr val="172941"/>
                </a:solidFill>
                <a:latin typeface="Arial"/>
              </a:defRPr>
            </a:pPr>
            <a:r>
              <a:t>Wire sidecars and routing config</a:t>
            </a:r>
          </a:p>
        </p:txBody>
      </p:sp>
      <p:cxnSp>
        <p:nvCxnSpPr>
          <p:cNvPr id="12" name="Connector 11"/>
          <p:cNvCxnSpPr/>
          <p:nvPr/>
        </p:nvCxnSpPr>
        <p:spPr>
          <a:xfrm>
            <a:off x="5559552" y="3794760"/>
            <a:ext cx="978408" cy="0"/>
          </a:xfrm>
          <a:prstGeom prst="line">
            <a:avLst/>
          </a:prstGeom>
          <a:ln w="381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793992" y="2148840"/>
            <a:ext cx="4892040" cy="34290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58583" y="233172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76872" y="2514600"/>
            <a:ext cx="4526279"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After: declared intent</a:t>
            </a:r>
          </a:p>
        </p:txBody>
      </p:sp>
      <p:sp>
        <p:nvSpPr>
          <p:cNvPr id="16" name="TextBox 15"/>
          <p:cNvSpPr txBox="1"/>
          <p:nvPr/>
        </p:nvSpPr>
        <p:spPr>
          <a:xfrm>
            <a:off x="6976872" y="3118104"/>
            <a:ext cx="4526279" cy="23134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Describe roles in MultiRoleInference</a:t>
            </a:r>
          </a:p>
          <a:p>
            <a:pPr>
              <a:spcBef>
                <a:spcPts val="0"/>
              </a:spcBef>
              <a:spcAft>
                <a:spcPts val="500"/>
              </a:spcAft>
              <a:defRPr sz="1800" b="0">
                <a:solidFill>
                  <a:srgbClr val="172941"/>
                </a:solidFill>
                <a:latin typeface="Arial"/>
              </a:defRPr>
            </a:pPr>
          </a:p>
          <a:p>
            <a:pPr>
              <a:spcBef>
                <a:spcPts val="0"/>
              </a:spcBef>
              <a:spcAft>
                <a:spcPts val="500"/>
              </a:spcAft>
              <a:defRPr sz="1800" b="0">
                <a:solidFill>
                  <a:srgbClr val="172941"/>
                </a:solidFill>
                <a:latin typeface="Arial"/>
              </a:defRPr>
            </a:pPr>
            <a:r>
              <a:t>Inspect generated child resources</a:t>
            </a:r>
          </a:p>
          <a:p>
            <a:pPr>
              <a:spcBef>
                <a:spcPts val="0"/>
              </a:spcBef>
              <a:spcAft>
                <a:spcPts val="500"/>
              </a:spcAft>
              <a:defRPr sz="1800" b="0">
                <a:solidFill>
                  <a:srgbClr val="172941"/>
                </a:solidFill>
                <a:latin typeface="Arial"/>
              </a:defRPr>
            </a:pPr>
          </a:p>
          <a:p>
            <a:pPr>
              <a:spcBef>
                <a:spcPts val="0"/>
              </a:spcBef>
              <a:spcAft>
                <a:spcPts val="500"/>
              </a:spcAft>
              <a:defRPr sz="1800" b="0">
                <a:solidFill>
                  <a:srgbClr val="172941"/>
                </a:solidFill>
                <a:latin typeface="Arial"/>
              </a:defRPr>
            </a:pPr>
            <a:r>
              <a:t>Operate through Kubernetes APIs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Per-role autoscaling</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Autoscale the role that is actually saturated</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Different bottlenecks deserve different signals and scale decisions.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Independent scaling only helps when the metrics match each role.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27 / 56</a:t>
            </a:r>
          </a:p>
        </p:txBody>
      </p:sp>
      <p:sp>
        <p:nvSpPr>
          <p:cNvPr id="10" name="Rounded Rectangle 9"/>
          <p:cNvSpPr/>
          <p:nvPr/>
        </p:nvSpPr>
        <p:spPr>
          <a:xfrm>
            <a:off x="502920" y="2148840"/>
            <a:ext cx="5440680" cy="24688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33172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50749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Prefill</a:t>
            </a:r>
          </a:p>
        </p:txBody>
      </p:sp>
      <p:sp>
        <p:nvSpPr>
          <p:cNvPr id="13" name="TextBox 12"/>
          <p:cNvSpPr txBox="1"/>
          <p:nvPr/>
        </p:nvSpPr>
        <p:spPr>
          <a:xfrm>
            <a:off x="685800" y="3118104"/>
            <a:ext cx="5074920" cy="1353312"/>
          </a:xfrm>
          <a:prstGeom prst="rect">
            <a:avLst/>
          </a:prstGeom>
          <a:noFill/>
        </p:spPr>
        <p:txBody>
          <a:bodyPr wrap="square" lIns="13716" rIns="13716" tIns="13716" bIns="13716">
            <a:spAutoFit/>
          </a:bodyPr>
          <a:lstStyle/>
          <a:p>
            <a:pPr>
              <a:spcBef>
                <a:spcPts val="0"/>
              </a:spcBef>
              <a:spcAft>
                <a:spcPts val="500"/>
              </a:spcAft>
              <a:defRPr sz="2200" b="0">
                <a:solidFill>
                  <a:srgbClr val="172941"/>
                </a:solidFill>
                <a:latin typeface="Arial"/>
              </a:defRPr>
            </a:pPr>
            <a:r>
              <a:t>Protect prompt latency</a:t>
            </a:r>
          </a:p>
          <a:p>
            <a:pPr>
              <a:spcBef>
                <a:spcPts val="0"/>
              </a:spcBef>
              <a:spcAft>
                <a:spcPts val="500"/>
              </a:spcAft>
              <a:defRPr sz="2200" b="0">
                <a:solidFill>
                  <a:srgbClr val="172941"/>
                </a:solidFill>
                <a:latin typeface="Arial"/>
              </a:defRPr>
            </a:pPr>
            <a:r>
              <a:t>and time to first token.</a:t>
            </a:r>
          </a:p>
        </p:txBody>
      </p:sp>
      <p:sp>
        <p:nvSpPr>
          <p:cNvPr id="14" name="Rounded Rectangle 13"/>
          <p:cNvSpPr/>
          <p:nvPr/>
        </p:nvSpPr>
        <p:spPr>
          <a:xfrm>
            <a:off x="502920" y="4892040"/>
            <a:ext cx="5440680"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924044"/>
            <a:ext cx="531266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Primary signal: vLLM waiting requests</a:t>
            </a:r>
          </a:p>
        </p:txBody>
      </p:sp>
      <p:sp>
        <p:nvSpPr>
          <p:cNvPr id="16" name="Rounded Rectangle 15"/>
          <p:cNvSpPr/>
          <p:nvPr/>
        </p:nvSpPr>
        <p:spPr>
          <a:xfrm>
            <a:off x="6199632" y="2148840"/>
            <a:ext cx="5440680" cy="24688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64224" y="233172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514600"/>
            <a:ext cx="50749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Decode</a:t>
            </a:r>
          </a:p>
        </p:txBody>
      </p:sp>
      <p:sp>
        <p:nvSpPr>
          <p:cNvPr id="19" name="TextBox 18"/>
          <p:cNvSpPr txBox="1"/>
          <p:nvPr/>
        </p:nvSpPr>
        <p:spPr>
          <a:xfrm>
            <a:off x="6382512" y="3118104"/>
            <a:ext cx="5074920" cy="1353312"/>
          </a:xfrm>
          <a:prstGeom prst="rect">
            <a:avLst/>
          </a:prstGeom>
          <a:noFill/>
        </p:spPr>
        <p:txBody>
          <a:bodyPr wrap="square" lIns="13716" rIns="13716" tIns="13716" bIns="13716">
            <a:spAutoFit/>
          </a:bodyPr>
          <a:lstStyle/>
          <a:p>
            <a:pPr>
              <a:spcBef>
                <a:spcPts val="0"/>
              </a:spcBef>
              <a:spcAft>
                <a:spcPts val="500"/>
              </a:spcAft>
              <a:defRPr sz="2200" b="0">
                <a:solidFill>
                  <a:srgbClr val="172941"/>
                </a:solidFill>
                <a:latin typeface="Arial"/>
              </a:defRPr>
            </a:pPr>
            <a:r>
              <a:t>Protect token delivery</a:t>
            </a:r>
          </a:p>
          <a:p>
            <a:pPr>
              <a:spcBef>
                <a:spcPts val="0"/>
              </a:spcBef>
              <a:spcAft>
                <a:spcPts val="500"/>
              </a:spcAft>
              <a:defRPr sz="2200" b="0">
                <a:solidFill>
                  <a:srgbClr val="172941"/>
                </a:solidFill>
                <a:latin typeface="Arial"/>
              </a:defRPr>
            </a:pPr>
            <a:r>
              <a:t>and sustained throughput.</a:t>
            </a:r>
          </a:p>
        </p:txBody>
      </p:sp>
      <p:sp>
        <p:nvSpPr>
          <p:cNvPr id="20" name="Rounded Rectangle 19"/>
          <p:cNvSpPr/>
          <p:nvPr/>
        </p:nvSpPr>
        <p:spPr>
          <a:xfrm>
            <a:off x="6199632" y="4892040"/>
            <a:ext cx="5440680"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924044"/>
            <a:ext cx="531266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Primary signal: vLLM running requests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Existing capability</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KEDA autoscales a KAITO InferenceSet</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KAITO external scaler reads vLLM metrics directly—no Prometheus required.</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Scale one InferenceSet today; independent prefill/decode scaling is the next step.</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28 / 56</a:t>
            </a:r>
          </a:p>
        </p:txBody>
      </p:sp>
      <p:sp>
        <p:nvSpPr>
          <p:cNvPr id="10" name="Rounded Rectangle 9"/>
          <p:cNvSpPr/>
          <p:nvPr/>
        </p:nvSpPr>
        <p:spPr>
          <a:xfrm>
            <a:off x="594360" y="2103120"/>
            <a:ext cx="2514600" cy="20482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952" y="228600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68879"/>
            <a:ext cx="214884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InferenceSet</a:t>
            </a:r>
          </a:p>
        </p:txBody>
      </p:sp>
      <p:sp>
        <p:nvSpPr>
          <p:cNvPr id="13" name="TextBox 12"/>
          <p:cNvSpPr txBox="1"/>
          <p:nvPr/>
        </p:nvSpPr>
        <p:spPr>
          <a:xfrm>
            <a:off x="777240" y="3072384"/>
            <a:ext cx="2148840" cy="93268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Enable autoscaling</a:t>
            </a:r>
          </a:p>
          <a:p>
            <a:pPr>
              <a:spcBef>
                <a:spcPts val="0"/>
              </a:spcBef>
              <a:spcAft>
                <a:spcPts val="500"/>
              </a:spcAft>
              <a:defRPr sz="1700" b="0">
                <a:solidFill>
                  <a:srgbClr val="172941"/>
                </a:solidFill>
                <a:latin typeface="Arial"/>
              </a:defRPr>
            </a:pPr>
            <a:r>
              <a:t>Set metric + target</a:t>
            </a:r>
          </a:p>
          <a:p>
            <a:pPr>
              <a:spcBef>
                <a:spcPts val="0"/>
              </a:spcBef>
              <a:spcAft>
                <a:spcPts val="500"/>
              </a:spcAft>
              <a:defRPr sz="1700" b="0">
                <a:solidFill>
                  <a:srgbClr val="172941"/>
                </a:solidFill>
                <a:latin typeface="Arial"/>
              </a:defRPr>
            </a:pPr>
            <a:r>
              <a:t>via annotations.</a:t>
            </a:r>
          </a:p>
        </p:txBody>
      </p:sp>
      <p:sp>
        <p:nvSpPr>
          <p:cNvPr id="14" name="Rounded Rectangle 13"/>
          <p:cNvSpPr/>
          <p:nvPr/>
        </p:nvSpPr>
        <p:spPr>
          <a:xfrm>
            <a:off x="3419856" y="2103120"/>
            <a:ext cx="2514600" cy="20482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84448" y="228600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468879"/>
            <a:ext cx="214884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KAITO scaler</a:t>
            </a:r>
          </a:p>
        </p:txBody>
      </p:sp>
      <p:sp>
        <p:nvSpPr>
          <p:cNvPr id="17" name="TextBox 16"/>
          <p:cNvSpPr txBox="1"/>
          <p:nvPr/>
        </p:nvSpPr>
        <p:spPr>
          <a:xfrm>
            <a:off x="3602736" y="3072384"/>
            <a:ext cx="2148840" cy="93268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Creates a</a:t>
            </a:r>
          </a:p>
          <a:p>
            <a:pPr>
              <a:spcBef>
                <a:spcPts val="0"/>
              </a:spcBef>
              <a:spcAft>
                <a:spcPts val="500"/>
              </a:spcAft>
              <a:defRPr sz="1700" b="0">
                <a:solidFill>
                  <a:srgbClr val="172941"/>
                </a:solidFill>
                <a:latin typeface="Arial"/>
              </a:defRPr>
            </a:pPr>
            <a:r>
              <a:t>ScaledObject; reads</a:t>
            </a:r>
          </a:p>
          <a:p>
            <a:pPr>
              <a:spcBef>
                <a:spcPts val="0"/>
              </a:spcBef>
              <a:spcAft>
                <a:spcPts val="500"/>
              </a:spcAft>
              <a:defRPr sz="1700" b="0">
                <a:solidFill>
                  <a:srgbClr val="172941"/>
                </a:solidFill>
                <a:latin typeface="Arial"/>
              </a:defRPr>
            </a:pPr>
            <a:r>
              <a:t>vLLM pod metrics.</a:t>
            </a:r>
          </a:p>
        </p:txBody>
      </p:sp>
      <p:sp>
        <p:nvSpPr>
          <p:cNvPr id="18" name="Rounded Rectangle 17"/>
          <p:cNvSpPr/>
          <p:nvPr/>
        </p:nvSpPr>
        <p:spPr>
          <a:xfrm>
            <a:off x="6245352" y="2103120"/>
            <a:ext cx="2514600" cy="20482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9944" y="228600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2468879"/>
            <a:ext cx="214884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KEDA + HPA</a:t>
            </a:r>
          </a:p>
        </p:txBody>
      </p:sp>
      <p:sp>
        <p:nvSpPr>
          <p:cNvPr id="21" name="TextBox 20"/>
          <p:cNvSpPr txBox="1"/>
          <p:nvPr/>
        </p:nvSpPr>
        <p:spPr>
          <a:xfrm>
            <a:off x="6428232" y="3072384"/>
            <a:ext cx="2148840" cy="93268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KEDA manages HPA;</a:t>
            </a:r>
          </a:p>
          <a:p>
            <a:pPr>
              <a:spcBef>
                <a:spcPts val="0"/>
              </a:spcBef>
              <a:spcAft>
                <a:spcPts val="500"/>
              </a:spcAft>
              <a:defRPr sz="1700" b="0">
                <a:solidFill>
                  <a:srgbClr val="172941"/>
                </a:solidFill>
                <a:latin typeface="Arial"/>
              </a:defRPr>
            </a:pPr>
            <a:r>
              <a:t>HPA sets replicas via</a:t>
            </a:r>
          </a:p>
          <a:p>
            <a:pPr>
              <a:spcBef>
                <a:spcPts val="0"/>
              </a:spcBef>
              <a:spcAft>
                <a:spcPts val="500"/>
              </a:spcAft>
              <a:defRPr sz="1700" b="0">
                <a:solidFill>
                  <a:srgbClr val="172941"/>
                </a:solidFill>
                <a:latin typeface="Arial"/>
              </a:defRPr>
            </a:pPr>
            <a:r>
              <a:t>InferenceSet /scale.</a:t>
            </a:r>
          </a:p>
        </p:txBody>
      </p:sp>
      <p:sp>
        <p:nvSpPr>
          <p:cNvPr id="22" name="Rounded Rectangle 21"/>
          <p:cNvSpPr/>
          <p:nvPr/>
        </p:nvSpPr>
        <p:spPr>
          <a:xfrm>
            <a:off x="9070848" y="2103120"/>
            <a:ext cx="2514600" cy="204825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228600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53728" y="2468879"/>
            <a:ext cx="214884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KAITO operator</a:t>
            </a:r>
          </a:p>
        </p:txBody>
      </p:sp>
      <p:sp>
        <p:nvSpPr>
          <p:cNvPr id="25" name="TextBox 24"/>
          <p:cNvSpPr txBox="1"/>
          <p:nvPr/>
        </p:nvSpPr>
        <p:spPr>
          <a:xfrm>
            <a:off x="9253728" y="3072384"/>
            <a:ext cx="2148840" cy="93268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Reconciles desired</a:t>
            </a:r>
          </a:p>
          <a:p>
            <a:pPr>
              <a:spcBef>
                <a:spcPts val="0"/>
              </a:spcBef>
              <a:spcAft>
                <a:spcPts val="500"/>
              </a:spcAft>
              <a:defRPr sz="1700" b="0">
                <a:solidFill>
                  <a:srgbClr val="172941"/>
                </a:solidFill>
                <a:latin typeface="Arial"/>
              </a:defRPr>
            </a:pPr>
            <a:r>
              <a:t>inference replicas.</a:t>
            </a:r>
          </a:p>
        </p:txBody>
      </p:sp>
      <p:cxnSp>
        <p:nvCxnSpPr>
          <p:cNvPr id="26" name="Connector 25"/>
          <p:cNvCxnSpPr/>
          <p:nvPr/>
        </p:nvCxnSpPr>
        <p:spPr>
          <a:xfrm>
            <a:off x="3136392" y="3127248"/>
            <a:ext cx="2286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61888" y="3127248"/>
            <a:ext cx="2286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87384" y="3127248"/>
            <a:ext cx="2286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94360" y="4315968"/>
            <a:ext cx="10991088" cy="9601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443984"/>
            <a:ext cx="10515600" cy="292608"/>
          </a:xfrm>
          <a:prstGeom prst="rect">
            <a:avLst/>
          </a:prstGeom>
          <a:noFill/>
        </p:spPr>
        <p:txBody>
          <a:bodyPr wrap="square" lIns="13716" rIns="13716" tIns="13716" bIns="13716">
            <a:spAutoFit/>
          </a:bodyPr>
          <a:lstStyle/>
          <a:p>
            <a:pPr>
              <a:spcBef>
                <a:spcPts val="0"/>
              </a:spcBef>
              <a:spcAft>
                <a:spcPts val="500"/>
              </a:spcAft>
              <a:defRPr sz="2000" b="1">
                <a:solidFill>
                  <a:srgbClr val="172941"/>
                </a:solidFill>
                <a:latin typeface="Arial"/>
              </a:defRPr>
            </a:pPr>
            <a:r>
              <a:t>Guide example: average waiting requests → replica count</a:t>
            </a:r>
          </a:p>
        </p:txBody>
      </p:sp>
      <p:sp>
        <p:nvSpPr>
          <p:cNvPr id="31" name="TextBox 30"/>
          <p:cNvSpPr txBox="1"/>
          <p:nvPr/>
        </p:nvSpPr>
        <p:spPr>
          <a:xfrm>
            <a:off x="804672" y="4837176"/>
            <a:ext cx="10515600" cy="274320"/>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vllm:num_requests_waiting  •  target: 10  •  maximum replicas: 5</a:t>
            </a:r>
          </a:p>
        </p:txBody>
      </p:sp>
      <p:sp>
        <p:nvSpPr>
          <p:cNvPr id="32" name="TextBox 31"/>
          <p:cNvSpPr txBox="1"/>
          <p:nvPr/>
        </p:nvSpPr>
        <p:spPr>
          <a:xfrm>
            <a:off x="658368" y="5522976"/>
            <a:ext cx="10927080" cy="292608"/>
          </a:xfrm>
          <a:prstGeom prst="rect">
            <a:avLst/>
          </a:prstGeom>
          <a:noFill/>
        </p:spPr>
        <p:txBody>
          <a:bodyPr wrap="square" lIns="13716" rIns="13716" tIns="13716" bIns="13716">
            <a:spAutoFit/>
          </a:bodyPr>
          <a:lstStyle/>
          <a:p>
            <a:pPr>
              <a:spcBef>
                <a:spcPts val="0"/>
              </a:spcBef>
              <a:spcAft>
                <a:spcPts val="500"/>
              </a:spcAft>
              <a:defRPr sz="1600" b="0">
                <a:solidFill>
                  <a:srgbClr val="586A80"/>
                </a:solidFill>
                <a:latin typeface="Arial"/>
              </a:defRPr>
            </a:pPr>
            <a:r>
              <a:t>Scheduled scaling: built-in KEDA cron + manual ScaledObject; no KAITO scaler needed.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Per-role autoscaling</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Two independent control loops, one logical service</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Conceptual design: validate signals and thresholds for the actual workload.</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29 / 56</a:t>
            </a:r>
          </a:p>
        </p:txBody>
      </p:sp>
      <p:sp>
        <p:nvSpPr>
          <p:cNvPr id="8" name="Rounded Rectangle 7"/>
          <p:cNvSpPr/>
          <p:nvPr/>
        </p:nvSpPr>
        <p:spPr>
          <a:xfrm>
            <a:off x="502920" y="2267712"/>
            <a:ext cx="1371600"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299716"/>
            <a:ext cx="124358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Prefill</a:t>
            </a:r>
          </a:p>
        </p:txBody>
      </p:sp>
      <p:sp>
        <p:nvSpPr>
          <p:cNvPr id="10" name="Rounded Rectangle 9"/>
          <p:cNvSpPr/>
          <p:nvPr/>
        </p:nvSpPr>
        <p:spPr>
          <a:xfrm>
            <a:off x="2212848" y="2194560"/>
            <a:ext cx="2606040"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12848" y="2286000"/>
            <a:ext cx="50292" cy="9052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0008" y="2313432"/>
            <a:ext cx="233172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087F8C"/>
                </a:solidFill>
                <a:latin typeface="Arial"/>
              </a:defRPr>
            </a:pPr>
            <a:r>
              <a:t>Waiting requests</a:t>
            </a:r>
          </a:p>
        </p:txBody>
      </p:sp>
      <p:sp>
        <p:nvSpPr>
          <p:cNvPr id="13" name="TextBox 12"/>
          <p:cNvSpPr txBox="1"/>
          <p:nvPr/>
        </p:nvSpPr>
        <p:spPr>
          <a:xfrm>
            <a:off x="2359152" y="2752344"/>
            <a:ext cx="2313432"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Observe</a:t>
            </a:r>
          </a:p>
        </p:txBody>
      </p:sp>
      <p:sp>
        <p:nvSpPr>
          <p:cNvPr id="14" name="Rounded Rectangle 13"/>
          <p:cNvSpPr/>
          <p:nvPr/>
        </p:nvSpPr>
        <p:spPr>
          <a:xfrm>
            <a:off x="5486400" y="2194560"/>
            <a:ext cx="2377440"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0" y="2286000"/>
            <a:ext cx="50292" cy="9052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60" y="2313432"/>
            <a:ext cx="210312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087F8C"/>
                </a:solidFill>
                <a:latin typeface="Arial"/>
              </a:defRPr>
            </a:pPr>
            <a:r>
              <a:t>KEDA / HPA</a:t>
            </a:r>
          </a:p>
        </p:txBody>
      </p:sp>
      <p:sp>
        <p:nvSpPr>
          <p:cNvPr id="17" name="TextBox 16"/>
          <p:cNvSpPr txBox="1"/>
          <p:nvPr/>
        </p:nvSpPr>
        <p:spPr>
          <a:xfrm>
            <a:off x="5632704" y="2752344"/>
            <a:ext cx="2084832"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Decide</a:t>
            </a:r>
          </a:p>
        </p:txBody>
      </p:sp>
      <p:sp>
        <p:nvSpPr>
          <p:cNvPr id="18" name="Rounded Rectangle 17"/>
          <p:cNvSpPr/>
          <p:nvPr/>
        </p:nvSpPr>
        <p:spPr>
          <a:xfrm>
            <a:off x="8522208" y="2194560"/>
            <a:ext cx="3163824"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22208" y="2286000"/>
            <a:ext cx="50292" cy="9052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9368" y="2313432"/>
            <a:ext cx="2889504" cy="393192"/>
          </a:xfrm>
          <a:prstGeom prst="rect">
            <a:avLst/>
          </a:prstGeom>
          <a:noFill/>
        </p:spPr>
        <p:txBody>
          <a:bodyPr wrap="square" lIns="13716" rIns="13716" tIns="13716" bIns="13716">
            <a:spAutoFit/>
          </a:bodyPr>
          <a:lstStyle/>
          <a:p>
            <a:pPr algn="ctr">
              <a:spcBef>
                <a:spcPts val="0"/>
              </a:spcBef>
              <a:spcAft>
                <a:spcPts val="500"/>
              </a:spcAft>
              <a:defRPr sz="1700" b="1">
                <a:solidFill>
                  <a:srgbClr val="087F8C"/>
                </a:solidFill>
                <a:latin typeface="Arial"/>
              </a:defRPr>
            </a:pPr>
            <a:r>
              <a:t>Prefill InferenceSet</a:t>
            </a:r>
          </a:p>
        </p:txBody>
      </p:sp>
      <p:sp>
        <p:nvSpPr>
          <p:cNvPr id="21" name="TextBox 20"/>
          <p:cNvSpPr txBox="1"/>
          <p:nvPr/>
        </p:nvSpPr>
        <p:spPr>
          <a:xfrm>
            <a:off x="8668512" y="2752344"/>
            <a:ext cx="2871216"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Reconcile replicas</a:t>
            </a:r>
          </a:p>
        </p:txBody>
      </p:sp>
      <p:cxnSp>
        <p:nvCxnSpPr>
          <p:cNvPr id="22" name="Connector 21"/>
          <p:cNvCxnSpPr/>
          <p:nvPr/>
        </p:nvCxnSpPr>
        <p:spPr>
          <a:xfrm>
            <a:off x="4818888" y="2724912"/>
            <a:ext cx="667512"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863840" y="2724912"/>
            <a:ext cx="658368"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04120" y="3282696"/>
            <a:ext cx="0" cy="347472"/>
          </a:xfrm>
          <a:prstGeom prst="line">
            <a:avLst/>
          </a:prstGeom>
          <a:ln w="2540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511296" y="3630168"/>
            <a:ext cx="6592824" cy="0"/>
          </a:xfrm>
          <a:prstGeom prst="line">
            <a:avLst/>
          </a:prstGeom>
          <a:ln w="2540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511296" y="3282696"/>
            <a:ext cx="0" cy="347472"/>
          </a:xfrm>
          <a:prstGeom prst="line">
            <a:avLst/>
          </a:prstGeom>
          <a:ln w="25400">
            <a:solidFill>
              <a:srgbClr val="087F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4160520"/>
            <a:ext cx="1371600"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192524"/>
            <a:ext cx="124358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Decode</a:t>
            </a:r>
          </a:p>
        </p:txBody>
      </p:sp>
      <p:sp>
        <p:nvSpPr>
          <p:cNvPr id="29" name="Rounded Rectangle 28"/>
          <p:cNvSpPr/>
          <p:nvPr/>
        </p:nvSpPr>
        <p:spPr>
          <a:xfrm>
            <a:off x="2212848" y="4087368"/>
            <a:ext cx="2606040"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212848" y="4178807"/>
            <a:ext cx="50292" cy="90525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50008" y="4206240"/>
            <a:ext cx="233172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7354B8"/>
                </a:solidFill>
                <a:latin typeface="Arial"/>
              </a:defRPr>
            </a:pPr>
            <a:r>
              <a:t>Running requests</a:t>
            </a:r>
          </a:p>
        </p:txBody>
      </p:sp>
      <p:sp>
        <p:nvSpPr>
          <p:cNvPr id="32" name="TextBox 31"/>
          <p:cNvSpPr txBox="1"/>
          <p:nvPr/>
        </p:nvSpPr>
        <p:spPr>
          <a:xfrm>
            <a:off x="2359152" y="4645151"/>
            <a:ext cx="2313432"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Observe</a:t>
            </a:r>
          </a:p>
        </p:txBody>
      </p:sp>
      <p:sp>
        <p:nvSpPr>
          <p:cNvPr id="33" name="Rounded Rectangle 32"/>
          <p:cNvSpPr/>
          <p:nvPr/>
        </p:nvSpPr>
        <p:spPr>
          <a:xfrm>
            <a:off x="5486400" y="4087368"/>
            <a:ext cx="2377440"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0" y="4178807"/>
            <a:ext cx="50292" cy="90525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23560" y="4206240"/>
            <a:ext cx="2103120" cy="393192"/>
          </a:xfrm>
          <a:prstGeom prst="rect">
            <a:avLst/>
          </a:prstGeom>
          <a:noFill/>
        </p:spPr>
        <p:txBody>
          <a:bodyPr wrap="square" lIns="13716" rIns="13716" tIns="13716" bIns="13716">
            <a:spAutoFit/>
          </a:bodyPr>
          <a:lstStyle/>
          <a:p>
            <a:pPr algn="ctr">
              <a:spcBef>
                <a:spcPts val="0"/>
              </a:spcBef>
              <a:spcAft>
                <a:spcPts val="500"/>
              </a:spcAft>
              <a:defRPr sz="1700" b="1">
                <a:solidFill>
                  <a:srgbClr val="7354B8"/>
                </a:solidFill>
                <a:latin typeface="Arial"/>
              </a:defRPr>
            </a:pPr>
            <a:r>
              <a:t>KEDA / HPA</a:t>
            </a:r>
          </a:p>
        </p:txBody>
      </p:sp>
      <p:sp>
        <p:nvSpPr>
          <p:cNvPr id="36" name="TextBox 35"/>
          <p:cNvSpPr txBox="1"/>
          <p:nvPr/>
        </p:nvSpPr>
        <p:spPr>
          <a:xfrm>
            <a:off x="5632704" y="4645151"/>
            <a:ext cx="2084832"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Decide</a:t>
            </a:r>
          </a:p>
        </p:txBody>
      </p:sp>
      <p:sp>
        <p:nvSpPr>
          <p:cNvPr id="37" name="Rounded Rectangle 36"/>
          <p:cNvSpPr/>
          <p:nvPr/>
        </p:nvSpPr>
        <p:spPr>
          <a:xfrm>
            <a:off x="8522208" y="4087368"/>
            <a:ext cx="3163824" cy="10881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22208" y="4178807"/>
            <a:ext cx="50292" cy="90525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59368" y="4206240"/>
            <a:ext cx="2889504" cy="393192"/>
          </a:xfrm>
          <a:prstGeom prst="rect">
            <a:avLst/>
          </a:prstGeom>
          <a:noFill/>
        </p:spPr>
        <p:txBody>
          <a:bodyPr wrap="square" lIns="13716" rIns="13716" tIns="13716" bIns="13716">
            <a:spAutoFit/>
          </a:bodyPr>
          <a:lstStyle/>
          <a:p>
            <a:pPr algn="ctr">
              <a:spcBef>
                <a:spcPts val="0"/>
              </a:spcBef>
              <a:spcAft>
                <a:spcPts val="500"/>
              </a:spcAft>
              <a:defRPr sz="1700" b="1">
                <a:solidFill>
                  <a:srgbClr val="7354B8"/>
                </a:solidFill>
                <a:latin typeface="Arial"/>
              </a:defRPr>
            </a:pPr>
            <a:r>
              <a:t>Decode InferenceSet</a:t>
            </a:r>
          </a:p>
        </p:txBody>
      </p:sp>
      <p:sp>
        <p:nvSpPr>
          <p:cNvPr id="40" name="TextBox 39"/>
          <p:cNvSpPr txBox="1"/>
          <p:nvPr/>
        </p:nvSpPr>
        <p:spPr>
          <a:xfrm>
            <a:off x="8668512" y="4645151"/>
            <a:ext cx="2871216" cy="438912"/>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Reconcile replicas</a:t>
            </a:r>
          </a:p>
        </p:txBody>
      </p:sp>
      <p:cxnSp>
        <p:nvCxnSpPr>
          <p:cNvPr id="41" name="Connector 40"/>
          <p:cNvCxnSpPr/>
          <p:nvPr/>
        </p:nvCxnSpPr>
        <p:spPr>
          <a:xfrm>
            <a:off x="4818888" y="4617720"/>
            <a:ext cx="667512"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63840" y="4617720"/>
            <a:ext cx="658368"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104120" y="5175504"/>
            <a:ext cx="0" cy="347472"/>
          </a:xfrm>
          <a:prstGeom prst="line">
            <a:avLst/>
          </a:prstGeom>
          <a:ln w="25400">
            <a:solidFill>
              <a:srgbClr val="7354B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3511296" y="5522976"/>
            <a:ext cx="6592824" cy="0"/>
          </a:xfrm>
          <a:prstGeom prst="line">
            <a:avLst/>
          </a:prstGeom>
          <a:ln w="25400">
            <a:solidFill>
              <a:srgbClr val="7354B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511296" y="5175504"/>
            <a:ext cx="0" cy="347472"/>
          </a:xfrm>
          <a:prstGeom prst="line">
            <a:avLst/>
          </a:prstGeom>
          <a:ln w="25400">
            <a:solidFill>
              <a:srgbClr val="7354B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1207" y="6025896"/>
            <a:ext cx="11064240" cy="329184"/>
          </a:xfrm>
          <a:prstGeom prst="rect">
            <a:avLst/>
          </a:prstGeom>
          <a:noFill/>
        </p:spPr>
        <p:txBody>
          <a:bodyPr wrap="square" lIns="13716" rIns="13716" tIns="13716" bIns="13716">
            <a:spAutoFit/>
          </a:bodyPr>
          <a:lstStyle/>
          <a:p>
            <a:pPr>
              <a:spcBef>
                <a:spcPts val="0"/>
              </a:spcBef>
              <a:spcAft>
                <a:spcPts val="500"/>
              </a:spcAft>
              <a:defRPr sz="1600" b="0">
                <a:solidFill>
                  <a:srgbClr val="586A80"/>
                </a:solidFill>
                <a:latin typeface="Arial"/>
              </a:defRPr>
            </a:pPr>
            <a:r>
              <a:t>Add stabilization, warm-up awareness, and safe scale-down behavior to each loop.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Policy boundary</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One service, independently managed role capacity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Coordinate P/D at the service level; make capacity decisions separately for each role.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Scale a complete serving replica—not an individual tensor-parallel worker.</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30 / 56</a:t>
            </a:r>
          </a:p>
        </p:txBody>
      </p:sp>
      <p:sp>
        <p:nvSpPr>
          <p:cNvPr id="10" name="Rounded Rectangle 9"/>
          <p:cNvSpPr/>
          <p:nvPr/>
        </p:nvSpPr>
        <p:spPr>
          <a:xfrm>
            <a:off x="502920" y="2029968"/>
            <a:ext cx="3931920" cy="310896"/>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61972"/>
            <a:ext cx="380390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AE641A"/>
                </a:solidFill>
                <a:latin typeface="Arial"/>
              </a:defRPr>
            </a:pPr>
            <a:r>
              <a:t>Design pattern / Per-role control</a:t>
            </a:r>
          </a:p>
        </p:txBody>
      </p:sp>
      <p:sp>
        <p:nvSpPr>
          <p:cNvPr id="12" name="Rounded Rectangle 11"/>
          <p:cNvSpPr/>
          <p:nvPr/>
        </p:nvSpPr>
        <p:spPr>
          <a:xfrm>
            <a:off x="502920" y="2880360"/>
            <a:ext cx="3291840" cy="20299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971800"/>
            <a:ext cx="50292" cy="18470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99232"/>
            <a:ext cx="301752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Service-level intent</a:t>
            </a:r>
          </a:p>
        </p:txBody>
      </p:sp>
      <p:sp>
        <p:nvSpPr>
          <p:cNvPr id="15" name="TextBox 14"/>
          <p:cNvSpPr txBox="1"/>
          <p:nvPr/>
        </p:nvSpPr>
        <p:spPr>
          <a:xfrm>
            <a:off x="649224" y="3438144"/>
            <a:ext cx="2999232" cy="13807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Prefill: latency objective</a:t>
            </a:r>
          </a:p>
          <a:p>
            <a:pPr algn="ctr">
              <a:spcBef>
                <a:spcPts val="0"/>
              </a:spcBef>
              <a:spcAft>
                <a:spcPts val="500"/>
              </a:spcAft>
              <a:defRPr sz="1400" b="0">
                <a:solidFill>
                  <a:srgbClr val="586A80"/>
                </a:solidFill>
                <a:latin typeface="Arial"/>
              </a:defRPr>
            </a:pPr>
            <a:r>
              <a:t>Decode: delivery objective</a:t>
            </a:r>
          </a:p>
        </p:txBody>
      </p:sp>
      <p:sp>
        <p:nvSpPr>
          <p:cNvPr id="16" name="Rounded Rectangle 15"/>
          <p:cNvSpPr/>
          <p:nvPr/>
        </p:nvSpPr>
        <p:spPr>
          <a:xfrm>
            <a:off x="4572000" y="3227832"/>
            <a:ext cx="3017520" cy="13441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3319272"/>
            <a:ext cx="50292" cy="1161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3346703"/>
            <a:ext cx="274320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Policy reconciliation</a:t>
            </a:r>
          </a:p>
        </p:txBody>
      </p:sp>
      <p:sp>
        <p:nvSpPr>
          <p:cNvPr id="19" name="TextBox 18"/>
          <p:cNvSpPr txBox="1"/>
          <p:nvPr/>
        </p:nvSpPr>
        <p:spPr>
          <a:xfrm>
            <a:off x="4718304" y="3785615"/>
            <a:ext cx="2724912" cy="69494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Independent role targets</a:t>
            </a:r>
          </a:p>
        </p:txBody>
      </p:sp>
      <p:sp>
        <p:nvSpPr>
          <p:cNvPr id="20" name="Rounded Rectangle 19"/>
          <p:cNvSpPr/>
          <p:nvPr/>
        </p:nvSpPr>
        <p:spPr>
          <a:xfrm>
            <a:off x="8366760" y="2706624"/>
            <a:ext cx="3319272" cy="106984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66760" y="2798064"/>
            <a:ext cx="50292" cy="8869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2825496"/>
            <a:ext cx="3044952"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Prefill scale target</a:t>
            </a:r>
          </a:p>
        </p:txBody>
      </p:sp>
      <p:sp>
        <p:nvSpPr>
          <p:cNvPr id="23" name="TextBox 22"/>
          <p:cNvSpPr txBox="1"/>
          <p:nvPr/>
        </p:nvSpPr>
        <p:spPr>
          <a:xfrm>
            <a:off x="8513064" y="3264408"/>
            <a:ext cx="3026664" cy="420623"/>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Generated policy + target</a:t>
            </a:r>
          </a:p>
        </p:txBody>
      </p:sp>
      <p:sp>
        <p:nvSpPr>
          <p:cNvPr id="24" name="Rounded Rectangle 23"/>
          <p:cNvSpPr/>
          <p:nvPr/>
        </p:nvSpPr>
        <p:spPr>
          <a:xfrm>
            <a:off x="8366760" y="4233672"/>
            <a:ext cx="3319272" cy="106984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66760" y="4325112"/>
            <a:ext cx="50292" cy="886968"/>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4352544"/>
            <a:ext cx="3044952"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 scale target</a:t>
            </a:r>
          </a:p>
        </p:txBody>
      </p:sp>
      <p:sp>
        <p:nvSpPr>
          <p:cNvPr id="27" name="TextBox 26"/>
          <p:cNvSpPr txBox="1"/>
          <p:nvPr/>
        </p:nvSpPr>
        <p:spPr>
          <a:xfrm>
            <a:off x="8513064" y="4791455"/>
            <a:ext cx="3026664" cy="420623"/>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Generated policy + target</a:t>
            </a:r>
          </a:p>
        </p:txBody>
      </p:sp>
      <p:cxnSp>
        <p:nvCxnSpPr>
          <p:cNvPr id="28" name="Connector 27"/>
          <p:cNvCxnSpPr/>
          <p:nvPr/>
        </p:nvCxnSpPr>
        <p:spPr>
          <a:xfrm>
            <a:off x="3794760" y="3886200"/>
            <a:ext cx="77724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89520" y="3749039"/>
            <a:ext cx="365759"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955279" y="3246120"/>
            <a:ext cx="0" cy="502919"/>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955279" y="3246120"/>
            <a:ext cx="411481"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89520" y="4041648"/>
            <a:ext cx="365759"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55279" y="4041648"/>
            <a:ext cx="0" cy="73152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955279" y="4773168"/>
            <a:ext cx="411481"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Control-loop design</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Observe each role. Act on its own capacity.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Independent feedback loops connect role-specific load to role-specific serving capacity.</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Routing chooses where requests go; autoscaling changes how much capacity is available.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31 / 56</a:t>
            </a:r>
          </a:p>
        </p:txBody>
      </p:sp>
      <p:sp>
        <p:nvSpPr>
          <p:cNvPr id="10" name="Rounded Rectangle 9"/>
          <p:cNvSpPr/>
          <p:nvPr/>
        </p:nvSpPr>
        <p:spPr>
          <a:xfrm>
            <a:off x="502920" y="2039112"/>
            <a:ext cx="3200400" cy="106070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30552"/>
            <a:ext cx="50292" cy="87782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57984"/>
            <a:ext cx="292608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Role-specific policies</a:t>
            </a:r>
          </a:p>
        </p:txBody>
      </p:sp>
      <p:sp>
        <p:nvSpPr>
          <p:cNvPr id="13" name="TextBox 12"/>
          <p:cNvSpPr txBox="1"/>
          <p:nvPr/>
        </p:nvSpPr>
        <p:spPr>
          <a:xfrm>
            <a:off x="649224" y="2596896"/>
            <a:ext cx="2907792" cy="411479"/>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Signals, thresholds and bounds</a:t>
            </a:r>
          </a:p>
        </p:txBody>
      </p:sp>
      <p:sp>
        <p:nvSpPr>
          <p:cNvPr id="14" name="Rounded Rectangle 13"/>
          <p:cNvSpPr/>
          <p:nvPr/>
        </p:nvSpPr>
        <p:spPr>
          <a:xfrm>
            <a:off x="4498848" y="2039112"/>
            <a:ext cx="3200400" cy="106070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98848" y="2130552"/>
            <a:ext cx="50292" cy="87782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2157984"/>
            <a:ext cx="292608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Independent decisions</a:t>
            </a:r>
          </a:p>
        </p:txBody>
      </p:sp>
      <p:sp>
        <p:nvSpPr>
          <p:cNvPr id="17" name="TextBox 16"/>
          <p:cNvSpPr txBox="1"/>
          <p:nvPr/>
        </p:nvSpPr>
        <p:spPr>
          <a:xfrm>
            <a:off x="4645152" y="2596896"/>
            <a:ext cx="2907792" cy="411479"/>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One controller per target</a:t>
            </a:r>
          </a:p>
        </p:txBody>
      </p:sp>
      <p:sp>
        <p:nvSpPr>
          <p:cNvPr id="18" name="Rounded Rectangle 17"/>
          <p:cNvSpPr/>
          <p:nvPr/>
        </p:nvSpPr>
        <p:spPr>
          <a:xfrm>
            <a:off x="8485632" y="2039112"/>
            <a:ext cx="3200400" cy="106070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85632" y="2130552"/>
            <a:ext cx="50292" cy="87782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157984"/>
            <a:ext cx="292608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Serving capacity</a:t>
            </a:r>
          </a:p>
        </p:txBody>
      </p:sp>
      <p:sp>
        <p:nvSpPr>
          <p:cNvPr id="21" name="TextBox 20"/>
          <p:cNvSpPr txBox="1"/>
          <p:nvPr/>
        </p:nvSpPr>
        <p:spPr>
          <a:xfrm>
            <a:off x="8631936" y="2596896"/>
            <a:ext cx="2907792" cy="411479"/>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Count model-ready replicas</a:t>
            </a:r>
          </a:p>
        </p:txBody>
      </p:sp>
      <p:cxnSp>
        <p:nvCxnSpPr>
          <p:cNvPr id="22" name="Connector 21"/>
          <p:cNvCxnSpPr/>
          <p:nvPr/>
        </p:nvCxnSpPr>
        <p:spPr>
          <a:xfrm>
            <a:off x="3703320" y="2569464"/>
            <a:ext cx="795528"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99248" y="2569464"/>
            <a:ext cx="786384"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3557016"/>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48456"/>
            <a:ext cx="50292" cy="731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675888"/>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Prefill vLLM /metrics</a:t>
            </a:r>
          </a:p>
        </p:txBody>
      </p:sp>
      <p:sp>
        <p:nvSpPr>
          <p:cNvPr id="27" name="TextBox 26"/>
          <p:cNvSpPr txBox="1"/>
          <p:nvPr/>
        </p:nvSpPr>
        <p:spPr>
          <a:xfrm>
            <a:off x="649224" y="4114800"/>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Waiting requests</a:t>
            </a:r>
          </a:p>
        </p:txBody>
      </p:sp>
      <p:sp>
        <p:nvSpPr>
          <p:cNvPr id="28" name="Rounded Rectangle 27"/>
          <p:cNvSpPr/>
          <p:nvPr/>
        </p:nvSpPr>
        <p:spPr>
          <a:xfrm>
            <a:off x="4498848" y="3557016"/>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98848" y="3648456"/>
            <a:ext cx="50292" cy="731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36008" y="3675888"/>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Prefill autoscaler</a:t>
            </a:r>
          </a:p>
        </p:txBody>
      </p:sp>
      <p:sp>
        <p:nvSpPr>
          <p:cNvPr id="31" name="TextBox 30"/>
          <p:cNvSpPr txBox="1"/>
          <p:nvPr/>
        </p:nvSpPr>
        <p:spPr>
          <a:xfrm>
            <a:off x="4645152" y="4114800"/>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Evaluate this role independently</a:t>
            </a:r>
          </a:p>
        </p:txBody>
      </p:sp>
      <p:sp>
        <p:nvSpPr>
          <p:cNvPr id="32" name="Rounded Rectangle 31"/>
          <p:cNvSpPr/>
          <p:nvPr/>
        </p:nvSpPr>
        <p:spPr>
          <a:xfrm>
            <a:off x="8485632" y="3557016"/>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85632" y="3648456"/>
            <a:ext cx="50292" cy="731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2792" y="3675888"/>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087F8C"/>
                </a:solidFill>
                <a:latin typeface="Arial"/>
              </a:defRPr>
            </a:pPr>
            <a:r>
              <a:t>Prefill replicas</a:t>
            </a:r>
          </a:p>
        </p:txBody>
      </p:sp>
      <p:sp>
        <p:nvSpPr>
          <p:cNvPr id="35" name="TextBox 34"/>
          <p:cNvSpPr txBox="1"/>
          <p:nvPr/>
        </p:nvSpPr>
        <p:spPr>
          <a:xfrm>
            <a:off x="8631936" y="4114800"/>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Reconcile serving capacity</a:t>
            </a:r>
          </a:p>
        </p:txBody>
      </p:sp>
      <p:cxnSp>
        <p:nvCxnSpPr>
          <p:cNvPr id="36" name="Connector 35"/>
          <p:cNvCxnSpPr/>
          <p:nvPr/>
        </p:nvCxnSpPr>
        <p:spPr>
          <a:xfrm>
            <a:off x="3703320" y="4014216"/>
            <a:ext cx="795528"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699248" y="4014216"/>
            <a:ext cx="786384"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02920" y="4636008"/>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4727448"/>
            <a:ext cx="50292" cy="7315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754880"/>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 vLLM /metrics</a:t>
            </a:r>
          </a:p>
        </p:txBody>
      </p:sp>
      <p:sp>
        <p:nvSpPr>
          <p:cNvPr id="41" name="TextBox 40"/>
          <p:cNvSpPr txBox="1"/>
          <p:nvPr/>
        </p:nvSpPr>
        <p:spPr>
          <a:xfrm>
            <a:off x="649224" y="5193792"/>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Running requests</a:t>
            </a:r>
          </a:p>
        </p:txBody>
      </p:sp>
      <p:sp>
        <p:nvSpPr>
          <p:cNvPr id="42" name="Rounded Rectangle 41"/>
          <p:cNvSpPr/>
          <p:nvPr/>
        </p:nvSpPr>
        <p:spPr>
          <a:xfrm>
            <a:off x="4498848" y="4636008"/>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98848" y="4727448"/>
            <a:ext cx="50292" cy="7315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36008" y="4754880"/>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 autoscaler</a:t>
            </a:r>
          </a:p>
        </p:txBody>
      </p:sp>
      <p:sp>
        <p:nvSpPr>
          <p:cNvPr id="45" name="TextBox 44"/>
          <p:cNvSpPr txBox="1"/>
          <p:nvPr/>
        </p:nvSpPr>
        <p:spPr>
          <a:xfrm>
            <a:off x="4645152" y="5193792"/>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Evaluate this role independently</a:t>
            </a:r>
          </a:p>
        </p:txBody>
      </p:sp>
      <p:sp>
        <p:nvSpPr>
          <p:cNvPr id="46" name="Rounded Rectangle 45"/>
          <p:cNvSpPr/>
          <p:nvPr/>
        </p:nvSpPr>
        <p:spPr>
          <a:xfrm>
            <a:off x="8485632" y="4636008"/>
            <a:ext cx="3200400" cy="9144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85632" y="4727448"/>
            <a:ext cx="50292" cy="7315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22792" y="4754880"/>
            <a:ext cx="2926080" cy="393192"/>
          </a:xfrm>
          <a:prstGeom prst="rect">
            <a:avLst/>
          </a:prstGeom>
          <a:noFill/>
        </p:spPr>
        <p:txBody>
          <a:bodyPr wrap="square" lIns="13716" rIns="13716" tIns="13716" bIns="13716">
            <a:spAutoFit/>
          </a:bodyPr>
          <a:lstStyle/>
          <a:p>
            <a:pPr algn="ctr">
              <a:spcBef>
                <a:spcPts val="0"/>
              </a:spcBef>
              <a:spcAft>
                <a:spcPts val="500"/>
              </a:spcAft>
              <a:defRPr sz="1800" b="1">
                <a:solidFill>
                  <a:srgbClr val="7354B8"/>
                </a:solidFill>
                <a:latin typeface="Arial"/>
              </a:defRPr>
            </a:pPr>
            <a:r>
              <a:t>Decode replicas</a:t>
            </a:r>
          </a:p>
        </p:txBody>
      </p:sp>
      <p:sp>
        <p:nvSpPr>
          <p:cNvPr id="49" name="TextBox 48"/>
          <p:cNvSpPr txBox="1"/>
          <p:nvPr/>
        </p:nvSpPr>
        <p:spPr>
          <a:xfrm>
            <a:off x="8631936" y="5193792"/>
            <a:ext cx="2907792" cy="26517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Reconcile serving capacity</a:t>
            </a:r>
          </a:p>
        </p:txBody>
      </p:sp>
      <p:cxnSp>
        <p:nvCxnSpPr>
          <p:cNvPr id="50" name="Connector 49"/>
          <p:cNvCxnSpPr/>
          <p:nvPr/>
        </p:nvCxnSpPr>
        <p:spPr>
          <a:xfrm>
            <a:off x="3703320" y="5093208"/>
            <a:ext cx="795528"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699248" y="5093208"/>
            <a:ext cx="786384"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vLLM-native metrics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Two native gauges, two scaling decisions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Use per-replica role aggregation; tune thresholds against the deployed model and workload.</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Illustrative thresholds only. Verify actual /metrics output before enabling either policy.</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32 / 56</a:t>
            </a:r>
          </a:p>
        </p:txBody>
      </p:sp>
      <p:sp>
        <p:nvSpPr>
          <p:cNvPr id="10" name="Rounded Rectangle 9"/>
          <p:cNvSpPr/>
          <p:nvPr/>
        </p:nvSpPr>
        <p:spPr>
          <a:xfrm>
            <a:off x="502920" y="2084831"/>
            <a:ext cx="5440680" cy="34747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267712"/>
            <a:ext cx="1463040"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299716"/>
            <a:ext cx="133502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Prefill</a:t>
            </a:r>
          </a:p>
        </p:txBody>
      </p:sp>
      <p:sp>
        <p:nvSpPr>
          <p:cNvPr id="13" name="TextBox 12"/>
          <p:cNvSpPr txBox="1"/>
          <p:nvPr/>
        </p:nvSpPr>
        <p:spPr>
          <a:xfrm>
            <a:off x="685800" y="2798064"/>
            <a:ext cx="5074920" cy="402336"/>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Courier New"/>
              </a:defRPr>
            </a:pPr>
            <a:r>
              <a:t>vllm:num_requests_waiting</a:t>
            </a:r>
          </a:p>
        </p:txBody>
      </p:sp>
      <p:sp>
        <p:nvSpPr>
          <p:cNvPr id="14" name="TextBox 13"/>
          <p:cNvSpPr txBox="1"/>
          <p:nvPr/>
        </p:nvSpPr>
        <p:spPr>
          <a:xfrm>
            <a:off x="685800" y="3346704"/>
            <a:ext cx="5074920" cy="704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Queue inside the prefill engine.</a:t>
            </a:r>
          </a:p>
          <a:p>
            <a:pPr>
              <a:spcBef>
                <a:spcPts val="0"/>
              </a:spcBef>
              <a:spcAft>
                <a:spcPts val="500"/>
              </a:spcAft>
              <a:defRPr sz="1800" b="0">
                <a:solidFill>
                  <a:srgbClr val="172941"/>
                </a:solidFill>
                <a:latin typeface="Arial"/>
              </a:defRPr>
            </a:pPr>
            <a:r>
              <a:t>Protect prompt admission latency.</a:t>
            </a:r>
          </a:p>
        </p:txBody>
      </p:sp>
      <p:sp>
        <p:nvSpPr>
          <p:cNvPr id="15" name="Rounded Rectangle 14"/>
          <p:cNvSpPr/>
          <p:nvPr/>
        </p:nvSpPr>
        <p:spPr>
          <a:xfrm>
            <a:off x="685800" y="4251960"/>
            <a:ext cx="1572768" cy="75895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&lt; 1</a:t>
            </a:r>
          </a:p>
        </p:txBody>
      </p:sp>
      <p:sp>
        <p:nvSpPr>
          <p:cNvPr id="17" name="TextBox 16"/>
          <p:cNvSpPr txBox="1"/>
          <p:nvPr/>
        </p:nvSpPr>
        <p:spPr>
          <a:xfrm>
            <a:off x="740664"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087F8C"/>
                </a:solidFill>
                <a:latin typeface="Arial"/>
              </a:defRPr>
            </a:pPr>
            <a:r>
              <a:t>Scale down</a:t>
            </a:r>
          </a:p>
        </p:txBody>
      </p:sp>
      <p:sp>
        <p:nvSpPr>
          <p:cNvPr id="18" name="Rounded Rectangle 17"/>
          <p:cNvSpPr/>
          <p:nvPr/>
        </p:nvSpPr>
        <p:spPr>
          <a:xfrm>
            <a:off x="2386584" y="4251960"/>
            <a:ext cx="1572768" cy="75895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41448"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Between</a:t>
            </a:r>
          </a:p>
        </p:txBody>
      </p:sp>
      <p:sp>
        <p:nvSpPr>
          <p:cNvPr id="20" name="TextBox 19"/>
          <p:cNvSpPr txBox="1"/>
          <p:nvPr/>
        </p:nvSpPr>
        <p:spPr>
          <a:xfrm>
            <a:off x="2441448"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087F8C"/>
                </a:solidFill>
                <a:latin typeface="Arial"/>
              </a:defRPr>
            </a:pPr>
            <a:r>
              <a:t>Hold</a:t>
            </a:r>
          </a:p>
        </p:txBody>
      </p:sp>
      <p:sp>
        <p:nvSpPr>
          <p:cNvPr id="21" name="Rounded Rectangle 20"/>
          <p:cNvSpPr/>
          <p:nvPr/>
        </p:nvSpPr>
        <p:spPr>
          <a:xfrm>
            <a:off x="4087368" y="4251960"/>
            <a:ext cx="1572768" cy="75895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42232"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087F8C"/>
                </a:solidFill>
                <a:latin typeface="Arial"/>
              </a:defRPr>
            </a:pPr>
            <a:r>
              <a:t>&gt; 8</a:t>
            </a:r>
          </a:p>
        </p:txBody>
      </p:sp>
      <p:sp>
        <p:nvSpPr>
          <p:cNvPr id="23" name="TextBox 22"/>
          <p:cNvSpPr txBox="1"/>
          <p:nvPr/>
        </p:nvSpPr>
        <p:spPr>
          <a:xfrm>
            <a:off x="4142232"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087F8C"/>
                </a:solidFill>
                <a:latin typeface="Arial"/>
              </a:defRPr>
            </a:pPr>
            <a:r>
              <a:t>Scale up</a:t>
            </a:r>
          </a:p>
        </p:txBody>
      </p:sp>
      <p:sp>
        <p:nvSpPr>
          <p:cNvPr id="24" name="TextBox 23"/>
          <p:cNvSpPr txBox="1"/>
          <p:nvPr/>
        </p:nvSpPr>
        <p:spPr>
          <a:xfrm>
            <a:off x="685800" y="5202936"/>
            <a:ext cx="5074920" cy="274320"/>
          </a:xfrm>
          <a:prstGeom prst="rect">
            <a:avLst/>
          </a:prstGeom>
          <a:noFill/>
        </p:spPr>
        <p:txBody>
          <a:bodyPr wrap="square" lIns="13716" rIns="13716" tIns="13716" bIns="13716">
            <a:spAutoFit/>
          </a:bodyPr>
          <a:lstStyle/>
          <a:p>
            <a:pPr>
              <a:spcBef>
                <a:spcPts val="0"/>
              </a:spcBef>
              <a:spcAft>
                <a:spcPts val="500"/>
              </a:spcAft>
              <a:defRPr sz="1500" b="0">
                <a:solidFill>
                  <a:srgbClr val="586A80"/>
                </a:solidFill>
                <a:latin typeface="Arial"/>
              </a:defRPr>
            </a:pPr>
            <a:r>
              <a:t>Example bounds: 1–8 role replicas</a:t>
            </a:r>
          </a:p>
        </p:txBody>
      </p:sp>
      <p:sp>
        <p:nvSpPr>
          <p:cNvPr id="25" name="Rounded Rectangle 24"/>
          <p:cNvSpPr/>
          <p:nvPr/>
        </p:nvSpPr>
        <p:spPr>
          <a:xfrm>
            <a:off x="6199632" y="2084831"/>
            <a:ext cx="5440680" cy="34747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82512" y="2267712"/>
            <a:ext cx="1463040"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299716"/>
            <a:ext cx="133502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Decode</a:t>
            </a:r>
          </a:p>
        </p:txBody>
      </p:sp>
      <p:sp>
        <p:nvSpPr>
          <p:cNvPr id="28" name="TextBox 27"/>
          <p:cNvSpPr txBox="1"/>
          <p:nvPr/>
        </p:nvSpPr>
        <p:spPr>
          <a:xfrm>
            <a:off x="6382512" y="2798064"/>
            <a:ext cx="5074920" cy="402336"/>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Courier New"/>
              </a:defRPr>
            </a:pPr>
            <a:r>
              <a:t>vllm:num_requests_running</a:t>
            </a:r>
          </a:p>
        </p:txBody>
      </p:sp>
      <p:sp>
        <p:nvSpPr>
          <p:cNvPr id="29" name="TextBox 28"/>
          <p:cNvSpPr txBox="1"/>
          <p:nvPr/>
        </p:nvSpPr>
        <p:spPr>
          <a:xfrm>
            <a:off x="6382512" y="3346704"/>
            <a:ext cx="5074920" cy="704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Requests in decode execution batches.</a:t>
            </a:r>
          </a:p>
          <a:p>
            <a:pPr>
              <a:spcBef>
                <a:spcPts val="0"/>
              </a:spcBef>
              <a:spcAft>
                <a:spcPts val="500"/>
              </a:spcAft>
              <a:defRPr sz="1800" b="0">
                <a:solidFill>
                  <a:srgbClr val="172941"/>
                </a:solidFill>
                <a:latin typeface="Arial"/>
              </a:defRPr>
            </a:pPr>
            <a:r>
              <a:t>Protect token delivery under load.</a:t>
            </a:r>
          </a:p>
        </p:txBody>
      </p:sp>
      <p:sp>
        <p:nvSpPr>
          <p:cNvPr id="30" name="Rounded Rectangle 29"/>
          <p:cNvSpPr/>
          <p:nvPr/>
        </p:nvSpPr>
        <p:spPr>
          <a:xfrm>
            <a:off x="6382512" y="4251960"/>
            <a:ext cx="1572768" cy="75895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&lt; 4</a:t>
            </a:r>
          </a:p>
        </p:txBody>
      </p:sp>
      <p:sp>
        <p:nvSpPr>
          <p:cNvPr id="32" name="TextBox 31"/>
          <p:cNvSpPr txBox="1"/>
          <p:nvPr/>
        </p:nvSpPr>
        <p:spPr>
          <a:xfrm>
            <a:off x="6437376"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7354B8"/>
                </a:solidFill>
                <a:latin typeface="Arial"/>
              </a:defRPr>
            </a:pPr>
            <a:r>
              <a:t>Scale down</a:t>
            </a:r>
          </a:p>
        </p:txBody>
      </p:sp>
      <p:sp>
        <p:nvSpPr>
          <p:cNvPr id="33" name="Rounded Rectangle 32"/>
          <p:cNvSpPr/>
          <p:nvPr/>
        </p:nvSpPr>
        <p:spPr>
          <a:xfrm>
            <a:off x="8083296" y="4251960"/>
            <a:ext cx="1572768" cy="75895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0"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Between</a:t>
            </a:r>
          </a:p>
        </p:txBody>
      </p:sp>
      <p:sp>
        <p:nvSpPr>
          <p:cNvPr id="35" name="TextBox 34"/>
          <p:cNvSpPr txBox="1"/>
          <p:nvPr/>
        </p:nvSpPr>
        <p:spPr>
          <a:xfrm>
            <a:off x="8138160"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7354B8"/>
                </a:solidFill>
                <a:latin typeface="Arial"/>
              </a:defRPr>
            </a:pPr>
            <a:r>
              <a:t>Hold</a:t>
            </a:r>
          </a:p>
        </p:txBody>
      </p:sp>
      <p:sp>
        <p:nvSpPr>
          <p:cNvPr id="36" name="Rounded Rectangle 35"/>
          <p:cNvSpPr/>
          <p:nvPr/>
        </p:nvSpPr>
        <p:spPr>
          <a:xfrm>
            <a:off x="9784080" y="4251960"/>
            <a:ext cx="1572768" cy="75895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38944" y="4334256"/>
            <a:ext cx="1463040" cy="256032"/>
          </a:xfrm>
          <a:prstGeom prst="rect">
            <a:avLst/>
          </a:prstGeom>
          <a:noFill/>
        </p:spPr>
        <p:txBody>
          <a:bodyPr wrap="square" lIns="13716" rIns="13716" tIns="13716" bIns="13716">
            <a:spAutoFit/>
          </a:bodyPr>
          <a:lstStyle/>
          <a:p>
            <a:pPr algn="ctr">
              <a:spcBef>
                <a:spcPts val="0"/>
              </a:spcBef>
              <a:spcAft>
                <a:spcPts val="500"/>
              </a:spcAft>
              <a:defRPr sz="1600" b="1">
                <a:solidFill>
                  <a:srgbClr val="7354B8"/>
                </a:solidFill>
                <a:latin typeface="Arial"/>
              </a:defRPr>
            </a:pPr>
            <a:r>
              <a:t>&gt; 24</a:t>
            </a:r>
          </a:p>
        </p:txBody>
      </p:sp>
      <p:sp>
        <p:nvSpPr>
          <p:cNvPr id="38" name="TextBox 37"/>
          <p:cNvSpPr txBox="1"/>
          <p:nvPr/>
        </p:nvSpPr>
        <p:spPr>
          <a:xfrm>
            <a:off x="9838944" y="4672584"/>
            <a:ext cx="1463040" cy="228600"/>
          </a:xfrm>
          <a:prstGeom prst="rect">
            <a:avLst/>
          </a:prstGeom>
          <a:noFill/>
        </p:spPr>
        <p:txBody>
          <a:bodyPr wrap="square" lIns="13716" rIns="13716" tIns="13716" bIns="13716">
            <a:spAutoFit/>
          </a:bodyPr>
          <a:lstStyle/>
          <a:p>
            <a:pPr algn="ctr">
              <a:spcBef>
                <a:spcPts val="0"/>
              </a:spcBef>
              <a:spcAft>
                <a:spcPts val="500"/>
              </a:spcAft>
              <a:defRPr sz="1300" b="0">
                <a:solidFill>
                  <a:srgbClr val="7354B8"/>
                </a:solidFill>
                <a:latin typeface="Arial"/>
              </a:defRPr>
            </a:pPr>
            <a:r>
              <a:t>Scale up</a:t>
            </a:r>
          </a:p>
        </p:txBody>
      </p:sp>
      <p:sp>
        <p:nvSpPr>
          <p:cNvPr id="39" name="TextBox 38"/>
          <p:cNvSpPr txBox="1"/>
          <p:nvPr/>
        </p:nvSpPr>
        <p:spPr>
          <a:xfrm>
            <a:off x="6382512" y="5202936"/>
            <a:ext cx="5074920" cy="274320"/>
          </a:xfrm>
          <a:prstGeom prst="rect">
            <a:avLst/>
          </a:prstGeom>
          <a:noFill/>
        </p:spPr>
        <p:txBody>
          <a:bodyPr wrap="square" lIns="13716" rIns="13716" tIns="13716" bIns="13716">
            <a:spAutoFit/>
          </a:bodyPr>
          <a:lstStyle/>
          <a:p>
            <a:pPr>
              <a:spcBef>
                <a:spcPts val="0"/>
              </a:spcBef>
              <a:spcAft>
                <a:spcPts val="500"/>
              </a:spcAft>
              <a:defRPr sz="1500" b="0">
                <a:solidFill>
                  <a:srgbClr val="586A80"/>
                </a:solidFill>
                <a:latin typeface="Arial"/>
              </a:defRPr>
            </a:pPr>
            <a:r>
              <a:t>Example bounds: 2–16 role replicas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Role-specific decisions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Different roles need different scaling policies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Use the same safety contract, but tune each role against its own workload and objective.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Illustrative policy—not universal tuning. Validate thresholds, cooldown and model warm-up.</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33 / 56</a:t>
            </a:r>
          </a:p>
        </p:txBody>
      </p:sp>
      <p:sp>
        <p:nvSpPr>
          <p:cNvPr id="10" name="Rectangle 9"/>
          <p:cNvSpPr/>
          <p:nvPr/>
        </p:nvSpPr>
        <p:spPr>
          <a:xfrm>
            <a:off x="502920" y="2057400"/>
            <a:ext cx="2903220"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176272"/>
            <a:ext cx="2706624"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Policy</a:t>
            </a:r>
          </a:p>
        </p:txBody>
      </p:sp>
      <p:sp>
        <p:nvSpPr>
          <p:cNvPr id="12" name="Rectangle 11"/>
          <p:cNvSpPr/>
          <p:nvPr/>
        </p:nvSpPr>
        <p:spPr>
          <a:xfrm>
            <a:off x="3429000" y="2057400"/>
            <a:ext cx="4101083"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2176272"/>
            <a:ext cx="3904487"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Prefill</a:t>
            </a:r>
          </a:p>
        </p:txBody>
      </p:sp>
      <p:sp>
        <p:nvSpPr>
          <p:cNvPr id="14" name="Rectangle 13"/>
          <p:cNvSpPr/>
          <p:nvPr/>
        </p:nvSpPr>
        <p:spPr>
          <a:xfrm>
            <a:off x="7552944" y="2057400"/>
            <a:ext cx="4101083"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62671" y="2176272"/>
            <a:ext cx="3904487"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Decode</a:t>
            </a:r>
          </a:p>
        </p:txBody>
      </p:sp>
      <p:sp>
        <p:nvSpPr>
          <p:cNvPr id="16" name="Rectangle 15"/>
          <p:cNvSpPr/>
          <p:nvPr/>
        </p:nvSpPr>
        <p:spPr>
          <a:xfrm>
            <a:off x="502920" y="2642616"/>
            <a:ext cx="2903220"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2761488"/>
            <a:ext cx="2706624"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Primary signal</a:t>
            </a:r>
          </a:p>
        </p:txBody>
      </p:sp>
      <p:sp>
        <p:nvSpPr>
          <p:cNvPr id="18" name="Rectangle 17"/>
          <p:cNvSpPr/>
          <p:nvPr/>
        </p:nvSpPr>
        <p:spPr>
          <a:xfrm>
            <a:off x="3429000" y="2642616"/>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8728" y="2761488"/>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Waiting requests</a:t>
            </a:r>
          </a:p>
        </p:txBody>
      </p:sp>
      <p:sp>
        <p:nvSpPr>
          <p:cNvPr id="20" name="Rectangle 19"/>
          <p:cNvSpPr/>
          <p:nvPr/>
        </p:nvSpPr>
        <p:spPr>
          <a:xfrm>
            <a:off x="7552944" y="2642616"/>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2761488"/>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Running requests</a:t>
            </a:r>
          </a:p>
        </p:txBody>
      </p:sp>
      <p:sp>
        <p:nvSpPr>
          <p:cNvPr id="22" name="Rectangle 21"/>
          <p:cNvSpPr/>
          <p:nvPr/>
        </p:nvSpPr>
        <p:spPr>
          <a:xfrm>
            <a:off x="502920" y="3227832"/>
            <a:ext cx="2903220"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346704"/>
            <a:ext cx="2706624"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Example replica range</a:t>
            </a:r>
          </a:p>
        </p:txBody>
      </p:sp>
      <p:sp>
        <p:nvSpPr>
          <p:cNvPr id="24" name="Rectangle 23"/>
          <p:cNvSpPr/>
          <p:nvPr/>
        </p:nvSpPr>
        <p:spPr>
          <a:xfrm>
            <a:off x="3429000" y="3227832"/>
            <a:ext cx="4101083"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38728" y="3346704"/>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1–8</a:t>
            </a:r>
          </a:p>
        </p:txBody>
      </p:sp>
      <p:sp>
        <p:nvSpPr>
          <p:cNvPr id="26" name="Rectangle 25"/>
          <p:cNvSpPr/>
          <p:nvPr/>
        </p:nvSpPr>
        <p:spPr>
          <a:xfrm>
            <a:off x="7552944" y="3227832"/>
            <a:ext cx="4101083"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62671" y="3346704"/>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2–16</a:t>
            </a:r>
          </a:p>
        </p:txBody>
      </p:sp>
      <p:sp>
        <p:nvSpPr>
          <p:cNvPr id="28" name="Rectangle 27"/>
          <p:cNvSpPr/>
          <p:nvPr/>
        </p:nvSpPr>
        <p:spPr>
          <a:xfrm>
            <a:off x="502920" y="3813048"/>
            <a:ext cx="2903220"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3931920"/>
            <a:ext cx="2706624"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Example scale-up</a:t>
            </a:r>
          </a:p>
        </p:txBody>
      </p:sp>
      <p:sp>
        <p:nvSpPr>
          <p:cNvPr id="30" name="Rectangle 29"/>
          <p:cNvSpPr/>
          <p:nvPr/>
        </p:nvSpPr>
        <p:spPr>
          <a:xfrm>
            <a:off x="3429000" y="3813048"/>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38728" y="3931920"/>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Signal &gt; 8</a:t>
            </a:r>
          </a:p>
        </p:txBody>
      </p:sp>
      <p:sp>
        <p:nvSpPr>
          <p:cNvPr id="32" name="Rectangle 31"/>
          <p:cNvSpPr/>
          <p:nvPr/>
        </p:nvSpPr>
        <p:spPr>
          <a:xfrm>
            <a:off x="7552944" y="3813048"/>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62671" y="3931920"/>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Signal &gt; 24</a:t>
            </a:r>
          </a:p>
        </p:txBody>
      </p:sp>
      <p:sp>
        <p:nvSpPr>
          <p:cNvPr id="34" name="Rectangle 33"/>
          <p:cNvSpPr/>
          <p:nvPr/>
        </p:nvSpPr>
        <p:spPr>
          <a:xfrm>
            <a:off x="502920" y="4398264"/>
            <a:ext cx="2903220"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517136"/>
            <a:ext cx="2706624"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Example scale-down</a:t>
            </a:r>
          </a:p>
        </p:txBody>
      </p:sp>
      <p:sp>
        <p:nvSpPr>
          <p:cNvPr id="36" name="Rectangle 35"/>
          <p:cNvSpPr/>
          <p:nvPr/>
        </p:nvSpPr>
        <p:spPr>
          <a:xfrm>
            <a:off x="3429000" y="4398264"/>
            <a:ext cx="4101083"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38728" y="4517136"/>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Signal &lt; 1</a:t>
            </a:r>
          </a:p>
        </p:txBody>
      </p:sp>
      <p:sp>
        <p:nvSpPr>
          <p:cNvPr id="38" name="Rectangle 37"/>
          <p:cNvSpPr/>
          <p:nvPr/>
        </p:nvSpPr>
        <p:spPr>
          <a:xfrm>
            <a:off x="7552944" y="4398264"/>
            <a:ext cx="4101083"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62671" y="4517136"/>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Signal &lt; 4</a:t>
            </a:r>
          </a:p>
        </p:txBody>
      </p:sp>
      <p:sp>
        <p:nvSpPr>
          <p:cNvPr id="40" name="Rectangle 39"/>
          <p:cNvSpPr/>
          <p:nvPr/>
        </p:nvSpPr>
        <p:spPr>
          <a:xfrm>
            <a:off x="502920" y="4983480"/>
            <a:ext cx="2903220"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 y="5102352"/>
            <a:ext cx="2706624"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Shared guardrails</a:t>
            </a:r>
          </a:p>
        </p:txBody>
      </p:sp>
      <p:sp>
        <p:nvSpPr>
          <p:cNvPr id="42" name="Rectangle 41"/>
          <p:cNvSpPr/>
          <p:nvPr/>
        </p:nvSpPr>
        <p:spPr>
          <a:xfrm>
            <a:off x="3429000" y="4983480"/>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38728" y="5102352"/>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Readiness + fresh metrics</a:t>
            </a:r>
          </a:p>
        </p:txBody>
      </p:sp>
      <p:sp>
        <p:nvSpPr>
          <p:cNvPr id="44" name="Rectangle 43"/>
          <p:cNvSpPr/>
          <p:nvPr/>
        </p:nvSpPr>
        <p:spPr>
          <a:xfrm>
            <a:off x="7552944" y="4983480"/>
            <a:ext cx="4101083"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62671" y="5102352"/>
            <a:ext cx="3904487"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Readiness + fresh metrics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Operational safeguards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Safe autoscaling starts with ownership and valid data</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happy path is small. Correct handoff and failure behavior make it operable.</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Avoid competing controllers, count only ready capacity, and protect in-flight requests.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34 / 56</a:t>
            </a:r>
          </a:p>
        </p:txBody>
      </p:sp>
      <p:sp>
        <p:nvSpPr>
          <p:cNvPr id="10" name="Rounded Rectangle 9"/>
          <p:cNvSpPr/>
          <p:nvPr/>
        </p:nvSpPr>
        <p:spPr>
          <a:xfrm>
            <a:off x="502920" y="2148840"/>
            <a:ext cx="3611880" cy="30632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33172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01 / Replica ownership</a:t>
            </a:r>
          </a:p>
        </p:txBody>
      </p:sp>
      <p:sp>
        <p:nvSpPr>
          <p:cNvPr id="13" name="TextBox 12"/>
          <p:cNvSpPr txBox="1"/>
          <p:nvPr/>
        </p:nvSpPr>
        <p:spPr>
          <a:xfrm>
            <a:off x="685800"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Choose one writer</a:t>
            </a:r>
          </a:p>
        </p:txBody>
      </p:sp>
      <p:sp>
        <p:nvSpPr>
          <p:cNvPr id="14" name="TextBox 13"/>
          <p:cNvSpPr txBox="1"/>
          <p:nvPr/>
        </p:nvSpPr>
        <p:spPr>
          <a:xfrm>
            <a:off x="685800" y="3465576"/>
            <a:ext cx="3246120" cy="1600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One policy owns replica count</a:t>
            </a:r>
          </a:p>
          <a:p>
            <a:pPr>
              <a:spcBef>
                <a:spcPts val="0"/>
              </a:spcBef>
              <a:spcAft>
                <a:spcPts val="500"/>
              </a:spcAft>
              <a:defRPr sz="1700" b="0">
                <a:solidFill>
                  <a:srgbClr val="172941"/>
                </a:solidFill>
                <a:latin typeface="Arial"/>
              </a:defRPr>
            </a:pPr>
            <a:r>
              <a:t>Separate targets for P and D</a:t>
            </a:r>
          </a:p>
          <a:p>
            <a:pPr>
              <a:spcBef>
                <a:spcPts val="0"/>
              </a:spcBef>
              <a:spcAft>
                <a:spcPts val="500"/>
              </a:spcAft>
              <a:defRPr sz="1700" b="0">
                <a:solidFill>
                  <a:srgbClr val="172941"/>
                </a:solidFill>
                <a:latin typeface="Arial"/>
              </a:defRPr>
            </a:pPr>
            <a:r>
              <a:t>No competing autoscalers</a:t>
            </a:r>
          </a:p>
        </p:txBody>
      </p:sp>
      <p:sp>
        <p:nvSpPr>
          <p:cNvPr id="15" name="Rounded Rectangle 14"/>
          <p:cNvSpPr/>
          <p:nvPr/>
        </p:nvSpPr>
        <p:spPr>
          <a:xfrm>
            <a:off x="4288536" y="2148840"/>
            <a:ext cx="3611880" cy="30632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53127" y="233172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02 / Metric availability</a:t>
            </a:r>
          </a:p>
        </p:txBody>
      </p:sp>
      <p:sp>
        <p:nvSpPr>
          <p:cNvPr id="18" name="TextBox 17"/>
          <p:cNvSpPr txBox="1"/>
          <p:nvPr/>
        </p:nvSpPr>
        <p:spPr>
          <a:xfrm>
            <a:off x="4471416"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Verify real signals</a:t>
            </a:r>
          </a:p>
        </p:txBody>
      </p:sp>
      <p:sp>
        <p:nvSpPr>
          <p:cNvPr id="19" name="TextBox 18"/>
          <p:cNvSpPr txBox="1"/>
          <p:nvPr/>
        </p:nvSpPr>
        <p:spPr>
          <a:xfrm>
            <a:off x="4471416" y="3465576"/>
            <a:ext cx="3246120" cy="1600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Inspect actual /metrics</a:t>
            </a:r>
          </a:p>
          <a:p>
            <a:pPr>
              <a:spcBef>
                <a:spcPts val="0"/>
              </a:spcBef>
              <a:spcAft>
                <a:spcPts val="500"/>
              </a:spcAft>
              <a:defRPr sz="1700" b="0">
                <a:solidFill>
                  <a:srgbClr val="172941"/>
                </a:solidFill>
                <a:latin typeface="Arial"/>
              </a:defRPr>
            </a:pPr>
            <a:r>
              <a:t>Scope samples per role</a:t>
            </a:r>
          </a:p>
          <a:p>
            <a:pPr>
              <a:spcBef>
                <a:spcPts val="0"/>
              </a:spcBef>
              <a:spcAft>
                <a:spcPts val="500"/>
              </a:spcAft>
              <a:defRPr sz="1700" b="0">
                <a:solidFill>
                  <a:srgbClr val="172941"/>
                </a:solidFill>
                <a:latin typeface="Arial"/>
              </a:defRPr>
            </a:pPr>
            <a:r>
              <a:t>Missing is not zero</a:t>
            </a:r>
          </a:p>
          <a:p>
            <a:pPr>
              <a:spcBef>
                <a:spcPts val="0"/>
              </a:spcBef>
              <a:spcAft>
                <a:spcPts val="500"/>
              </a:spcAft>
              <a:defRPr sz="1700" b="0">
                <a:solidFill>
                  <a:srgbClr val="172941"/>
                </a:solidFill>
                <a:latin typeface="Arial"/>
              </a:defRPr>
            </a:pPr>
            <a:r>
              <a:t>On failure: hold + report</a:t>
            </a:r>
          </a:p>
        </p:txBody>
      </p:sp>
      <p:sp>
        <p:nvSpPr>
          <p:cNvPr id="20" name="Rounded Rectangle 19"/>
          <p:cNvSpPr/>
          <p:nvPr/>
        </p:nvSpPr>
        <p:spPr>
          <a:xfrm>
            <a:off x="8074152" y="2148840"/>
            <a:ext cx="3611880" cy="30632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38744" y="233172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03 / Lifecycle</a:t>
            </a:r>
          </a:p>
        </p:txBody>
      </p:sp>
      <p:sp>
        <p:nvSpPr>
          <p:cNvPr id="23" name="TextBox 22"/>
          <p:cNvSpPr txBox="1"/>
          <p:nvPr/>
        </p:nvSpPr>
        <p:spPr>
          <a:xfrm>
            <a:off x="8257031"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Make handoff explicit</a:t>
            </a:r>
          </a:p>
        </p:txBody>
      </p:sp>
      <p:sp>
        <p:nvSpPr>
          <p:cNvPr id="24" name="TextBox 23"/>
          <p:cNvSpPr txBox="1"/>
          <p:nvPr/>
        </p:nvSpPr>
        <p:spPr>
          <a:xfrm>
            <a:off x="8257031" y="3465576"/>
            <a:ext cx="3246120" cy="1600200"/>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Stop the old writer first</a:t>
            </a:r>
          </a:p>
          <a:p>
            <a:pPr>
              <a:spcBef>
                <a:spcPts val="0"/>
              </a:spcBef>
              <a:spcAft>
                <a:spcPts val="500"/>
              </a:spcAft>
              <a:defRPr sz="1700" b="0">
                <a:solidFill>
                  <a:srgbClr val="172941"/>
                </a:solidFill>
                <a:latin typeface="Arial"/>
              </a:defRPr>
            </a:pPr>
            <a:r>
              <a:t>Delete only owned scalers</a:t>
            </a:r>
          </a:p>
          <a:p>
            <a:pPr>
              <a:spcBef>
                <a:spcPts val="0"/>
              </a:spcBef>
              <a:spcAft>
                <a:spcPts val="500"/>
              </a:spcAft>
              <a:defRPr sz="1700" b="0">
                <a:solidFill>
                  <a:srgbClr val="172941"/>
                </a:solidFill>
                <a:latin typeface="Arial"/>
              </a:defRPr>
            </a:pPr>
            <a:r>
              <a:t>Allow model warm-up</a:t>
            </a:r>
          </a:p>
          <a:p>
            <a:pPr>
              <a:spcBef>
                <a:spcPts val="0"/>
              </a:spcBef>
              <a:spcAft>
                <a:spcPts val="500"/>
              </a:spcAft>
              <a:defRPr sz="1700" b="0">
                <a:solidFill>
                  <a:srgbClr val="172941"/>
                </a:solidFill>
                <a:latin typeface="Arial"/>
              </a:defRPr>
            </a:pPr>
            <a:r>
              <a:t>Test safe scale-down</a:t>
            </a:r>
          </a:p>
        </p:txBody>
      </p:sp>
      <p:sp>
        <p:nvSpPr>
          <p:cNvPr id="25" name="TextBox 24"/>
          <p:cNvSpPr txBox="1"/>
          <p:nvPr/>
        </p:nvSpPr>
        <p:spPr>
          <a:xfrm>
            <a:off x="521207" y="5458968"/>
            <a:ext cx="11064240" cy="301752"/>
          </a:xfrm>
          <a:prstGeom prst="rect">
            <a:avLst/>
          </a:prstGeom>
          <a:noFill/>
        </p:spPr>
        <p:txBody>
          <a:bodyPr wrap="square" lIns="13716" rIns="13716" tIns="13716" bIns="13716">
            <a:spAutoFit/>
          </a:bodyPr>
          <a:lstStyle/>
          <a:p>
            <a:pPr>
              <a:spcBef>
                <a:spcPts val="0"/>
              </a:spcBef>
              <a:spcAft>
                <a:spcPts val="500"/>
              </a:spcAft>
              <a:defRPr sz="1600" b="0">
                <a:solidFill>
                  <a:srgbClr val="586A80"/>
                </a:solidFill>
                <a:latin typeface="Arial"/>
              </a:defRPr>
            </a:pPr>
            <a:r>
              <a:t>On missing or invalid signals: hold decisions and report the problem. Missing is not zero.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Signal interpretation</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Derived signals add context to scaling decisions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Aggregate native vLLM metrics to understand KV utilization, latency and throughput.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KV occupancy is not demand. High or low throughput alone should not change replica counts.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35 / 56</a:t>
            </a:r>
          </a:p>
        </p:txBody>
      </p:sp>
      <p:sp>
        <p:nvSpPr>
          <p:cNvPr id="10" name="Rectangle 9"/>
          <p:cNvSpPr/>
          <p:nvPr/>
        </p:nvSpPr>
        <p:spPr>
          <a:xfrm>
            <a:off x="502920" y="2057400"/>
            <a:ext cx="4027931" cy="6903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176272"/>
            <a:ext cx="3831335" cy="53035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Native input (vllm: prefix)</a:t>
            </a:r>
          </a:p>
        </p:txBody>
      </p:sp>
      <p:sp>
        <p:nvSpPr>
          <p:cNvPr id="12" name="Rectangle 11"/>
          <p:cNvSpPr/>
          <p:nvPr/>
        </p:nvSpPr>
        <p:spPr>
          <a:xfrm>
            <a:off x="4553712" y="2057400"/>
            <a:ext cx="3086100" cy="6903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176272"/>
            <a:ext cx="2889504" cy="53035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Derivation</a:t>
            </a:r>
          </a:p>
        </p:txBody>
      </p:sp>
      <p:sp>
        <p:nvSpPr>
          <p:cNvPr id="14" name="Rectangle 13"/>
          <p:cNvSpPr/>
          <p:nvPr/>
        </p:nvSpPr>
        <p:spPr>
          <a:xfrm>
            <a:off x="7662671" y="2057400"/>
            <a:ext cx="4000500" cy="6903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399" y="2176272"/>
            <a:ext cx="3803904" cy="53035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Decision support</a:t>
            </a:r>
          </a:p>
        </p:txBody>
      </p:sp>
      <p:sp>
        <p:nvSpPr>
          <p:cNvPr id="16" name="Rectangle 15"/>
          <p:cNvSpPr/>
          <p:nvPr/>
        </p:nvSpPr>
        <p:spPr>
          <a:xfrm>
            <a:off x="502920" y="2770632"/>
            <a:ext cx="4027931"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2889504"/>
            <a:ext cx="3831335" cy="53035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kv_cache_usage_perc</a:t>
            </a:r>
          </a:p>
        </p:txBody>
      </p:sp>
      <p:sp>
        <p:nvSpPr>
          <p:cNvPr id="18" name="Rectangle 17"/>
          <p:cNvSpPr/>
          <p:nvPr/>
        </p:nvSpPr>
        <p:spPr>
          <a:xfrm>
            <a:off x="4553712" y="2770632"/>
            <a:ext cx="30861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889504"/>
            <a:ext cx="28895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max(role samples)</a:t>
            </a:r>
          </a:p>
        </p:txBody>
      </p:sp>
      <p:sp>
        <p:nvSpPr>
          <p:cNvPr id="20" name="Rectangle 19"/>
          <p:cNvSpPr/>
          <p:nvPr/>
        </p:nvSpPr>
        <p:spPr>
          <a:xfrm>
            <a:off x="7662671" y="2770632"/>
            <a:ext cx="40005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399" y="2889504"/>
            <a:ext cx="38039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Candidate downscale guard</a:t>
            </a:r>
          </a:p>
        </p:txBody>
      </p:sp>
      <p:sp>
        <p:nvSpPr>
          <p:cNvPr id="22" name="Rectangle 21"/>
          <p:cNvSpPr/>
          <p:nvPr/>
        </p:nvSpPr>
        <p:spPr>
          <a:xfrm>
            <a:off x="502920" y="3483864"/>
            <a:ext cx="4027931"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602736"/>
            <a:ext cx="3831335" cy="53035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kv_cache_usage_perc</a:t>
            </a:r>
          </a:p>
        </p:txBody>
      </p:sp>
      <p:sp>
        <p:nvSpPr>
          <p:cNvPr id="24" name="Rectangle 23"/>
          <p:cNvSpPr/>
          <p:nvPr/>
        </p:nvSpPr>
        <p:spPr>
          <a:xfrm>
            <a:off x="4553712" y="3483864"/>
            <a:ext cx="3086100"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3602736"/>
            <a:ext cx="28895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1 - max(role samples)</a:t>
            </a:r>
          </a:p>
        </p:txBody>
      </p:sp>
      <p:sp>
        <p:nvSpPr>
          <p:cNvPr id="26" name="Rectangle 25"/>
          <p:cNvSpPr/>
          <p:nvPr/>
        </p:nvSpPr>
        <p:spPr>
          <a:xfrm>
            <a:off x="7662671" y="3483864"/>
            <a:ext cx="4000500"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399" y="3602736"/>
            <a:ext cx="38039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Minimum free fraction;</a:t>
            </a:r>
          </a:p>
          <a:p>
            <a:pPr>
              <a:spcBef>
                <a:spcPts val="0"/>
              </a:spcBef>
              <a:spcAft>
                <a:spcPts val="500"/>
              </a:spcAft>
              <a:defRPr sz="1500" b="0">
                <a:solidFill>
                  <a:srgbClr val="172941"/>
                </a:solidFill>
                <a:latin typeface="Arial"/>
              </a:defRPr>
            </a:pPr>
            <a:r>
              <a:t>not effective request capacity</a:t>
            </a:r>
          </a:p>
        </p:txBody>
      </p:sp>
      <p:sp>
        <p:nvSpPr>
          <p:cNvPr id="28" name="Rectangle 27"/>
          <p:cNvSpPr/>
          <p:nvPr/>
        </p:nvSpPr>
        <p:spPr>
          <a:xfrm>
            <a:off x="502920" y="4197096"/>
            <a:ext cx="4027931"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315968"/>
            <a:ext cx="3831335" cy="53035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time_to_first_token_seconds</a:t>
            </a:r>
          </a:p>
          <a:p>
            <a:pPr>
              <a:spcBef>
                <a:spcPts val="0"/>
              </a:spcBef>
              <a:spcAft>
                <a:spcPts val="500"/>
              </a:spcAft>
              <a:defRPr sz="1500" b="0">
                <a:solidFill>
                  <a:srgbClr val="2563EB"/>
                </a:solidFill>
                <a:latin typeface="Arial"/>
              </a:defRPr>
            </a:pPr>
            <a:r>
              <a:t>(histogram buckets)</a:t>
            </a:r>
          </a:p>
        </p:txBody>
      </p:sp>
      <p:sp>
        <p:nvSpPr>
          <p:cNvPr id="30" name="Rectangle 29"/>
          <p:cNvSpPr/>
          <p:nvPr/>
        </p:nvSpPr>
        <p:spPr>
          <a:xfrm>
            <a:off x="4553712" y="4197096"/>
            <a:ext cx="30861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4315968"/>
            <a:ext cx="28895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p95 over bucket rates</a:t>
            </a:r>
          </a:p>
        </p:txBody>
      </p:sp>
      <p:sp>
        <p:nvSpPr>
          <p:cNvPr id="32" name="Rectangle 31"/>
          <p:cNvSpPr/>
          <p:nvPr/>
        </p:nvSpPr>
        <p:spPr>
          <a:xfrm>
            <a:off x="7662671" y="4197096"/>
            <a:ext cx="40005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399" y="4315968"/>
            <a:ext cx="38039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Latency tail; tune prefill policy</a:t>
            </a:r>
          </a:p>
        </p:txBody>
      </p:sp>
      <p:sp>
        <p:nvSpPr>
          <p:cNvPr id="34" name="Rectangle 33"/>
          <p:cNvSpPr/>
          <p:nvPr/>
        </p:nvSpPr>
        <p:spPr>
          <a:xfrm>
            <a:off x="502920" y="4910328"/>
            <a:ext cx="4027931"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5029200"/>
            <a:ext cx="3831335" cy="53035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generation_tokens_total</a:t>
            </a:r>
          </a:p>
        </p:txBody>
      </p:sp>
      <p:sp>
        <p:nvSpPr>
          <p:cNvPr id="36" name="Rectangle 35"/>
          <p:cNvSpPr/>
          <p:nvPr/>
        </p:nvSpPr>
        <p:spPr>
          <a:xfrm>
            <a:off x="4553712" y="4910328"/>
            <a:ext cx="3086100"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5029200"/>
            <a:ext cx="28895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sum(rate(counter[5m]))</a:t>
            </a:r>
          </a:p>
        </p:txBody>
      </p:sp>
      <p:sp>
        <p:nvSpPr>
          <p:cNvPr id="38" name="Rectangle 37"/>
          <p:cNvSpPr/>
          <p:nvPr/>
        </p:nvSpPr>
        <p:spPr>
          <a:xfrm>
            <a:off x="7662671" y="4910328"/>
            <a:ext cx="4000500" cy="69037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399" y="5029200"/>
            <a:ext cx="3803904" cy="530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Output throughput;</a:t>
            </a:r>
          </a:p>
          <a:p>
            <a:pPr>
              <a:spcBef>
                <a:spcPts val="0"/>
              </a:spcBef>
              <a:spcAft>
                <a:spcPts val="500"/>
              </a:spcAft>
              <a:defRPr sz="1500" b="0">
                <a:solidFill>
                  <a:srgbClr val="172941"/>
                </a:solidFill>
                <a:latin typeface="Arial"/>
              </a:defRPr>
            </a:pPr>
            <a:r>
              <a:t>observe and benchmark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KAITO implementation design</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KAITO annotations wire each role to its own scaler</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Reuse existing InferenceSet scaling; add an explicit MRI-to-role policy adapter.</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Proposed MRI integration—not enabled today by adding annotations alone.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36 / 56</a:t>
            </a:r>
          </a:p>
        </p:txBody>
      </p:sp>
      <p:sp>
        <p:nvSpPr>
          <p:cNvPr id="10" name="Rounded Rectangle 9"/>
          <p:cNvSpPr/>
          <p:nvPr/>
        </p:nvSpPr>
        <p:spPr>
          <a:xfrm>
            <a:off x="502920" y="2048256"/>
            <a:ext cx="2971800"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39696"/>
            <a:ext cx="50292" cy="8046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67128"/>
            <a:ext cx="2697480" cy="393192"/>
          </a:xfrm>
          <a:prstGeom prst="rect">
            <a:avLst/>
          </a:prstGeom>
          <a:noFill/>
        </p:spPr>
        <p:txBody>
          <a:bodyPr wrap="square" lIns="13716" rIns="13716" tIns="13716" bIns="13716">
            <a:spAutoFit/>
          </a:bodyPr>
          <a:lstStyle/>
          <a:p>
            <a:pPr algn="ctr">
              <a:spcBef>
                <a:spcPts val="0"/>
              </a:spcBef>
              <a:spcAft>
                <a:spcPts val="500"/>
              </a:spcAft>
              <a:defRPr sz="1900" b="1">
                <a:solidFill>
                  <a:srgbClr val="2563EB"/>
                </a:solidFill>
                <a:latin typeface="Arial"/>
              </a:defRPr>
            </a:pPr>
            <a:r>
              <a:t>MultiRoleInference</a:t>
            </a:r>
          </a:p>
        </p:txBody>
      </p:sp>
      <p:sp>
        <p:nvSpPr>
          <p:cNvPr id="13" name="TextBox 12"/>
          <p:cNvSpPr txBox="1"/>
          <p:nvPr/>
        </p:nvSpPr>
        <p:spPr>
          <a:xfrm>
            <a:off x="649224" y="2606040"/>
            <a:ext cx="2679192"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autoscaling.kaito.sh/roles</a:t>
            </a:r>
          </a:p>
        </p:txBody>
      </p:sp>
      <p:sp>
        <p:nvSpPr>
          <p:cNvPr id="14" name="Rounded Rectangle 13"/>
          <p:cNvSpPr/>
          <p:nvPr/>
        </p:nvSpPr>
        <p:spPr>
          <a:xfrm>
            <a:off x="3877056" y="2048256"/>
            <a:ext cx="2999232"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7056" y="2139696"/>
            <a:ext cx="50292" cy="804672"/>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14216" y="2167128"/>
            <a:ext cx="2724912" cy="393192"/>
          </a:xfrm>
          <a:prstGeom prst="rect">
            <a:avLst/>
          </a:prstGeom>
          <a:noFill/>
        </p:spPr>
        <p:txBody>
          <a:bodyPr wrap="square" lIns="13716" rIns="13716" tIns="13716" bIns="13716">
            <a:spAutoFit/>
          </a:bodyPr>
          <a:lstStyle/>
          <a:p>
            <a:pPr algn="ctr">
              <a:spcBef>
                <a:spcPts val="0"/>
              </a:spcBef>
              <a:spcAft>
                <a:spcPts val="500"/>
              </a:spcAft>
              <a:defRPr sz="1900" b="1">
                <a:solidFill>
                  <a:srgbClr val="AE641A"/>
                </a:solidFill>
                <a:latin typeface="Arial"/>
              </a:defRPr>
            </a:pPr>
            <a:r>
              <a:t>MRI adapter (new)</a:t>
            </a:r>
          </a:p>
        </p:txBody>
      </p:sp>
      <p:sp>
        <p:nvSpPr>
          <p:cNvPr id="17" name="TextBox 16"/>
          <p:cNvSpPr txBox="1"/>
          <p:nvPr/>
        </p:nvSpPr>
        <p:spPr>
          <a:xfrm>
            <a:off x="4023360" y="2606040"/>
            <a:ext cx="2706624"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Validate + project by role</a:t>
            </a:r>
          </a:p>
        </p:txBody>
      </p:sp>
      <p:sp>
        <p:nvSpPr>
          <p:cNvPr id="18" name="Rounded Rectangle 17"/>
          <p:cNvSpPr/>
          <p:nvPr/>
        </p:nvSpPr>
        <p:spPr>
          <a:xfrm>
            <a:off x="7315200" y="2048256"/>
            <a:ext cx="4370832" cy="98755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2139696"/>
            <a:ext cx="50292" cy="8046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167128"/>
            <a:ext cx="4096512" cy="393192"/>
          </a:xfrm>
          <a:prstGeom prst="rect">
            <a:avLst/>
          </a:prstGeom>
          <a:noFill/>
        </p:spPr>
        <p:txBody>
          <a:bodyPr wrap="square" lIns="13716" rIns="13716" tIns="13716" bIns="13716">
            <a:spAutoFit/>
          </a:bodyPr>
          <a:lstStyle/>
          <a:p>
            <a:pPr algn="ctr">
              <a:spcBef>
                <a:spcPts val="0"/>
              </a:spcBef>
              <a:spcAft>
                <a:spcPts val="500"/>
              </a:spcAft>
              <a:defRPr sz="1900" b="1">
                <a:solidFill>
                  <a:srgbClr val="087F8C"/>
                </a:solidFill>
                <a:latin typeface="Arial"/>
              </a:defRPr>
            </a:pPr>
            <a:r>
              <a:t>Role InferenceSet metadata</a:t>
            </a:r>
          </a:p>
        </p:txBody>
      </p:sp>
      <p:sp>
        <p:nvSpPr>
          <p:cNvPr id="21" name="TextBox 20"/>
          <p:cNvSpPr txBox="1"/>
          <p:nvPr/>
        </p:nvSpPr>
        <p:spPr>
          <a:xfrm>
            <a:off x="7461504" y="2606040"/>
            <a:ext cx="4078224" cy="33832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scaledobject.kaito.sh/*</a:t>
            </a:r>
          </a:p>
        </p:txBody>
      </p:sp>
      <p:cxnSp>
        <p:nvCxnSpPr>
          <p:cNvPr id="22" name="Connector 21"/>
          <p:cNvCxnSpPr/>
          <p:nvPr/>
        </p:nvCxnSpPr>
        <p:spPr>
          <a:xfrm>
            <a:off x="3474720" y="2542032"/>
            <a:ext cx="402336"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76288" y="2542032"/>
            <a:ext cx="438912"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3255264"/>
            <a:ext cx="5559552" cy="23408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401568"/>
            <a:ext cx="5193792" cy="274320"/>
          </a:xfrm>
          <a:prstGeom prst="rect">
            <a:avLst/>
          </a:prstGeom>
          <a:noFill/>
        </p:spPr>
        <p:txBody>
          <a:bodyPr wrap="square" lIns="13716" rIns="13716" tIns="13716" bIns="13716">
            <a:spAutoFit/>
          </a:bodyPr>
          <a:lstStyle/>
          <a:p>
            <a:pPr>
              <a:spcBef>
                <a:spcPts val="0"/>
              </a:spcBef>
              <a:spcAft>
                <a:spcPts val="500"/>
              </a:spcAft>
              <a:defRPr sz="1200" b="1">
                <a:solidFill>
                  <a:srgbClr val="087F8C"/>
                </a:solidFill>
                <a:latin typeface="Arial"/>
              </a:defRPr>
            </a:pPr>
            <a:r>
              <a:t>Generated prefill child annotations</a:t>
            </a:r>
          </a:p>
        </p:txBody>
      </p:sp>
      <p:sp>
        <p:nvSpPr>
          <p:cNvPr id="26" name="TextBox 25"/>
          <p:cNvSpPr txBox="1"/>
          <p:nvPr/>
        </p:nvSpPr>
        <p:spPr>
          <a:xfrm>
            <a:off x="685800" y="3831336"/>
            <a:ext cx="5193792" cy="1609344"/>
          </a:xfrm>
          <a:prstGeom prst="rect">
            <a:avLst/>
          </a:prstGeom>
          <a:noFill/>
        </p:spPr>
        <p:txBody>
          <a:bodyPr wrap="square" lIns="13716" rIns="13716" tIns="13716" bIns="13716">
            <a:spAutoFit/>
          </a:bodyPr>
          <a:lstStyle/>
          <a:p>
            <a:pPr>
              <a:spcBef>
                <a:spcPts val="0"/>
              </a:spcBef>
              <a:spcAft>
                <a:spcPts val="0"/>
              </a:spcAft>
              <a:defRPr sz="1160" b="0">
                <a:solidFill>
                  <a:srgbClr val="172941"/>
                </a:solidFill>
                <a:latin typeface="Courier New"/>
              </a:defRPr>
            </a:pPr>
            <a:r>
              <a:t>scaledobject.kaito.sh/auto-provision: "true"</a:t>
            </a:r>
          </a:p>
          <a:p>
            <a:pPr>
              <a:spcBef>
                <a:spcPts val="0"/>
              </a:spcBef>
              <a:spcAft>
                <a:spcPts val="0"/>
              </a:spcAft>
              <a:defRPr sz="1160" b="0">
                <a:solidFill>
                  <a:srgbClr val="172941"/>
                </a:solidFill>
                <a:latin typeface="Courier New"/>
              </a:defRPr>
            </a:pPr>
            <a:r>
              <a:t>scaledobject.kaito.sh/min-replicas: "1"</a:t>
            </a:r>
          </a:p>
          <a:p>
            <a:pPr>
              <a:spcBef>
                <a:spcPts val="0"/>
              </a:spcBef>
              <a:spcAft>
                <a:spcPts val="0"/>
              </a:spcAft>
              <a:defRPr sz="1160" b="0">
                <a:solidFill>
                  <a:srgbClr val="172941"/>
                </a:solidFill>
                <a:latin typeface="Courier New"/>
              </a:defRPr>
            </a:pPr>
            <a:r>
              <a:t>scaledobject.kaito.sh/max-replicas: "8"</a:t>
            </a:r>
          </a:p>
          <a:p>
            <a:pPr>
              <a:spcBef>
                <a:spcPts val="0"/>
              </a:spcBef>
              <a:spcAft>
                <a:spcPts val="0"/>
              </a:spcAft>
              <a:defRPr sz="1160" b="0">
                <a:solidFill>
                  <a:srgbClr val="172941"/>
                </a:solidFill>
                <a:latin typeface="Courier New"/>
              </a:defRPr>
            </a:pPr>
            <a:r>
              <a:t>scaledobject.kaito.sh/combinepolicy: AND</a:t>
            </a:r>
          </a:p>
          <a:p>
            <a:pPr>
              <a:spcBef>
                <a:spcPts val="0"/>
              </a:spcBef>
              <a:spcAft>
                <a:spcPts val="0"/>
              </a:spcAft>
              <a:defRPr sz="1160" b="0">
                <a:solidFill>
                  <a:srgbClr val="172941"/>
                </a:solidFill>
                <a:latin typeface="Courier New"/>
              </a:defRPr>
            </a:pPr>
            <a:r>
              <a:t>scaledobject.kaito.sh/metrics: |</a:t>
            </a:r>
          </a:p>
          <a:p>
            <a:pPr>
              <a:spcBef>
                <a:spcPts val="0"/>
              </a:spcBef>
              <a:spcAft>
                <a:spcPts val="0"/>
              </a:spcAft>
              <a:defRPr sz="1160" b="0">
                <a:solidFill>
                  <a:srgbClr val="172941"/>
                </a:solidFill>
                <a:latin typeface="Courier New"/>
              </a:defRPr>
            </a:pPr>
            <a:r>
              <a:t>  - name: vllm:num_requests_waiting</a:t>
            </a:r>
          </a:p>
          <a:p>
            <a:pPr>
              <a:spcBef>
                <a:spcPts val="0"/>
              </a:spcBef>
              <a:spcAft>
                <a:spcPts val="0"/>
              </a:spcAft>
              <a:defRPr sz="1160" b="0">
                <a:solidFill>
                  <a:srgbClr val="172941"/>
                </a:solidFill>
                <a:latin typeface="Courier New"/>
              </a:defRPr>
            </a:pPr>
            <a:r>
              <a:t>    type: gauge</a:t>
            </a:r>
          </a:p>
          <a:p>
            <a:pPr>
              <a:spcBef>
                <a:spcPts val="0"/>
              </a:spcBef>
              <a:spcAft>
                <a:spcPts val="0"/>
              </a:spcAft>
              <a:defRPr sz="1160" b="0">
                <a:solidFill>
                  <a:srgbClr val="172941"/>
                </a:solidFill>
                <a:latin typeface="Courier New"/>
              </a:defRPr>
            </a:pPr>
            <a:r>
              <a:t>    upthreshold: 8</a:t>
            </a:r>
          </a:p>
          <a:p>
            <a:pPr>
              <a:spcBef>
                <a:spcPts val="0"/>
              </a:spcBef>
              <a:spcAft>
                <a:spcPts val="0"/>
              </a:spcAft>
              <a:defRPr sz="1160" b="0">
                <a:solidFill>
                  <a:srgbClr val="172941"/>
                </a:solidFill>
                <a:latin typeface="Courier New"/>
              </a:defRPr>
            </a:pPr>
            <a:r>
              <a:t>    downthreshold: 1</a:t>
            </a:r>
          </a:p>
        </p:txBody>
      </p:sp>
      <p:sp>
        <p:nvSpPr>
          <p:cNvPr id="27" name="TextBox 26"/>
          <p:cNvSpPr txBox="1"/>
          <p:nvPr/>
        </p:nvSpPr>
        <p:spPr>
          <a:xfrm>
            <a:off x="6400800" y="3282696"/>
            <a:ext cx="5166360" cy="301752"/>
          </a:xfrm>
          <a:prstGeom prst="rect">
            <a:avLst/>
          </a:prstGeom>
          <a:noFill/>
        </p:spPr>
        <p:txBody>
          <a:bodyPr wrap="square" lIns="13716" rIns="13716" tIns="13716" bIns="13716">
            <a:spAutoFit/>
          </a:bodyPr>
          <a:lstStyle/>
          <a:p>
            <a:pPr>
              <a:spcBef>
                <a:spcPts val="0"/>
              </a:spcBef>
              <a:spcAft>
                <a:spcPts val="500"/>
              </a:spcAft>
              <a:defRPr sz="1200" b="1">
                <a:solidFill>
                  <a:srgbClr val="2563EB"/>
                </a:solidFill>
                <a:latin typeface="Arial"/>
              </a:defRPr>
            </a:pPr>
            <a:r>
              <a:t>One path per role</a:t>
            </a:r>
          </a:p>
        </p:txBody>
      </p:sp>
      <p:sp>
        <p:nvSpPr>
          <p:cNvPr id="28" name="TextBox 27"/>
          <p:cNvSpPr txBox="1"/>
          <p:nvPr/>
        </p:nvSpPr>
        <p:spPr>
          <a:xfrm>
            <a:off x="6400800" y="3675887"/>
            <a:ext cx="5166360" cy="7132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Scaler provisions ScaledObject</a:t>
            </a:r>
          </a:p>
          <a:p>
            <a:pPr>
              <a:spcBef>
                <a:spcPts val="0"/>
              </a:spcBef>
              <a:spcAft>
                <a:spcPts val="500"/>
              </a:spcAft>
              <a:defRPr sz="1800" b="0">
                <a:solidFill>
                  <a:srgbClr val="172941"/>
                </a:solidFill>
                <a:latin typeface="Arial"/>
              </a:defRPr>
            </a:pPr>
            <a:r>
              <a:t>KEDA / HPA writes InferenceSet /scale</a:t>
            </a:r>
          </a:p>
        </p:txBody>
      </p:sp>
      <p:sp>
        <p:nvSpPr>
          <p:cNvPr id="29" name="TextBox 28"/>
          <p:cNvSpPr txBox="1"/>
          <p:nvPr/>
        </p:nvSpPr>
        <p:spPr>
          <a:xfrm>
            <a:off x="6400800" y="4544568"/>
            <a:ext cx="5166360" cy="1033271"/>
          </a:xfrm>
          <a:prstGeom prst="rect">
            <a:avLst/>
          </a:prstGeom>
          <a:noFill/>
        </p:spPr>
        <p:txBody>
          <a:bodyPr wrap="square" lIns="13716" rIns="13716" tIns="13716" bIns="13716">
            <a:spAutoFit/>
          </a:bodyPr>
          <a:lstStyle/>
          <a:p>
            <a:pPr>
              <a:spcBef>
                <a:spcPts val="0"/>
              </a:spcBef>
              <a:spcAft>
                <a:spcPts val="500"/>
              </a:spcAft>
              <a:defRPr sz="1500" b="0">
                <a:solidFill>
                  <a:srgbClr val="AE641A"/>
                </a:solidFill>
                <a:latin typeface="Arial"/>
              </a:defRPr>
            </a:pPr>
            <a:r>
              <a:t>Required: opt in MRI-owned children</a:t>
            </a:r>
          </a:p>
          <a:p>
            <a:pPr>
              <a:spcBef>
                <a:spcPts val="0"/>
              </a:spcBef>
              <a:spcAft>
                <a:spcPts val="500"/>
              </a:spcAft>
              <a:defRPr sz="1500" b="0">
                <a:solidFill>
                  <a:srgbClr val="AE641A"/>
                </a:solidFill>
                <a:latin typeface="Arial"/>
              </a:defRPr>
            </a:pPr>
            <a:r>
              <a:t>Write metadata, not template annotations</a:t>
            </a:r>
          </a:p>
          <a:p>
            <a:pPr>
              <a:spcBef>
                <a:spcPts val="0"/>
              </a:spcBef>
              <a:spcAft>
                <a:spcPts val="500"/>
              </a:spcAft>
              <a:defRPr sz="1500" b="0">
                <a:solidFill>
                  <a:srgbClr val="AE641A"/>
                </a:solidFill>
                <a:latin typeface="Arial"/>
              </a:defRPr>
            </a:pPr>
            <a:r>
              <a:t>replicas: null releases MRI enforcement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04 / KAITO annotation example</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Example: one MRI policy, independent P/D decisions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Illustrative policy excerpts. Full proposed manifest is linked in the speaker notes.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Requires the MRI adapter + child opt-in above. Thresholds are examples, not production tuning.</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37 / 56</a:t>
            </a:r>
          </a:p>
        </p:txBody>
      </p:sp>
      <p:sp>
        <p:nvSpPr>
          <p:cNvPr id="10" name="Rounded Rectangle 9"/>
          <p:cNvSpPr/>
          <p:nvPr/>
        </p:nvSpPr>
        <p:spPr>
          <a:xfrm>
            <a:off x="502920" y="2029968"/>
            <a:ext cx="5669280" cy="36850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03120"/>
            <a:ext cx="5303520" cy="228600"/>
          </a:xfrm>
          <a:prstGeom prst="rect">
            <a:avLst/>
          </a:prstGeom>
          <a:noFill/>
        </p:spPr>
        <p:txBody>
          <a:bodyPr wrap="square" lIns="13716" rIns="13716" tIns="13716" bIns="13716">
            <a:spAutoFit/>
          </a:bodyPr>
          <a:lstStyle/>
          <a:p>
            <a:pPr>
              <a:spcBef>
                <a:spcPts val="0"/>
              </a:spcBef>
              <a:spcAft>
                <a:spcPts val="500"/>
              </a:spcAft>
              <a:defRPr sz="1200" b="1">
                <a:solidFill>
                  <a:srgbClr val="2563EB"/>
                </a:solidFill>
                <a:latin typeface="Courier New"/>
              </a:defRPr>
            </a:pPr>
            <a:r>
              <a:t>MRI metadata.annotations</a:t>
            </a:r>
          </a:p>
        </p:txBody>
      </p:sp>
      <p:sp>
        <p:nvSpPr>
          <p:cNvPr id="12" name="TextBox 11"/>
          <p:cNvSpPr txBox="1"/>
          <p:nvPr/>
        </p:nvSpPr>
        <p:spPr>
          <a:xfrm>
            <a:off x="685800" y="2423160"/>
            <a:ext cx="5303520" cy="3282696"/>
          </a:xfrm>
          <a:prstGeom prst="rect">
            <a:avLst/>
          </a:prstGeom>
          <a:noFill/>
        </p:spPr>
        <p:txBody>
          <a:bodyPr wrap="square" lIns="13716" rIns="13716" tIns="13716" bIns="13716">
            <a:spAutoFit/>
          </a:bodyPr>
          <a:lstStyle/>
          <a:p>
            <a:pPr>
              <a:lnSpc>
                <a:spcPts val="1220"/>
              </a:lnSpc>
              <a:spcBef>
                <a:spcPts val="0"/>
              </a:spcBef>
              <a:spcAft>
                <a:spcPts val="0"/>
              </a:spcAft>
              <a:defRPr sz="1070" b="0">
                <a:solidFill>
                  <a:srgbClr val="172941"/>
                </a:solidFill>
                <a:latin typeface="Courier New"/>
              </a:defRPr>
            </a:pPr>
            <a:r>
              <a:t>autoscaling.kaito.sh/roles: |</a:t>
            </a:r>
          </a:p>
          <a:p>
            <a:pPr>
              <a:lnSpc>
                <a:spcPts val="1220"/>
              </a:lnSpc>
              <a:spcBef>
                <a:spcPts val="0"/>
              </a:spcBef>
              <a:spcAft>
                <a:spcPts val="0"/>
              </a:spcAft>
              <a:defRPr sz="1070" b="0">
                <a:solidFill>
                  <a:srgbClr val="172941"/>
                </a:solidFill>
                <a:latin typeface="Courier New"/>
              </a:defRPr>
            </a:pPr>
            <a:r>
              <a:t>  version: v1alpha1</a:t>
            </a:r>
          </a:p>
          <a:p>
            <a:pPr>
              <a:lnSpc>
                <a:spcPts val="1220"/>
              </a:lnSpc>
              <a:spcBef>
                <a:spcPts val="0"/>
              </a:spcBef>
              <a:spcAft>
                <a:spcPts val="0"/>
              </a:spcAft>
              <a:defRPr sz="1070" b="0">
                <a:solidFill>
                  <a:srgbClr val="172941"/>
                </a:solidFill>
                <a:latin typeface="Courier New"/>
              </a:defRPr>
            </a:pPr>
            <a:r>
              <a:t>  roles:</a:t>
            </a:r>
          </a:p>
          <a:p>
            <a:pPr>
              <a:lnSpc>
                <a:spcPts val="1220"/>
              </a:lnSpc>
              <a:spcBef>
                <a:spcPts val="0"/>
              </a:spcBef>
              <a:spcAft>
                <a:spcPts val="0"/>
              </a:spcAft>
              <a:defRPr sz="1070" b="0">
                <a:solidFill>
                  <a:srgbClr val="172941"/>
                </a:solidFill>
                <a:latin typeface="Courier New"/>
              </a:defRPr>
            </a:pPr>
            <a:r>
              <a:t>    prefill:</a:t>
            </a:r>
          </a:p>
          <a:p>
            <a:pPr>
              <a:lnSpc>
                <a:spcPts val="1220"/>
              </a:lnSpc>
              <a:spcBef>
                <a:spcPts val="0"/>
              </a:spcBef>
              <a:spcAft>
                <a:spcPts val="0"/>
              </a:spcAft>
              <a:defRPr sz="1070" b="0">
                <a:solidFill>
                  <a:srgbClr val="172941"/>
                </a:solidFill>
                <a:latin typeface="Courier New"/>
              </a:defRPr>
            </a:pPr>
            <a:r>
              <a:t>      min-replicas: "1"</a:t>
            </a:r>
          </a:p>
          <a:p>
            <a:pPr>
              <a:lnSpc>
                <a:spcPts val="1220"/>
              </a:lnSpc>
              <a:spcBef>
                <a:spcPts val="0"/>
              </a:spcBef>
              <a:spcAft>
                <a:spcPts val="0"/>
              </a:spcAft>
              <a:defRPr sz="1070" b="0">
                <a:solidFill>
                  <a:srgbClr val="172941"/>
                </a:solidFill>
                <a:latin typeface="Courier New"/>
              </a:defRPr>
            </a:pPr>
            <a:r>
              <a:t>      max-replicas: "8"</a:t>
            </a:r>
          </a:p>
          <a:p>
            <a:pPr>
              <a:lnSpc>
                <a:spcPts val="1220"/>
              </a:lnSpc>
              <a:spcBef>
                <a:spcPts val="0"/>
              </a:spcBef>
              <a:spcAft>
                <a:spcPts val="0"/>
              </a:spcAft>
              <a:defRPr sz="1070" b="0">
                <a:solidFill>
                  <a:srgbClr val="172941"/>
                </a:solidFill>
                <a:latin typeface="Courier New"/>
              </a:defRPr>
            </a:pPr>
            <a:r>
              <a:t>      combinepolicy: AND</a:t>
            </a:r>
          </a:p>
          <a:p>
            <a:pPr>
              <a:lnSpc>
                <a:spcPts val="1220"/>
              </a:lnSpc>
              <a:spcBef>
                <a:spcPts val="0"/>
              </a:spcBef>
              <a:spcAft>
                <a:spcPts val="0"/>
              </a:spcAft>
              <a:defRPr sz="1070" b="0">
                <a:solidFill>
                  <a:srgbClr val="172941"/>
                </a:solidFill>
                <a:latin typeface="Courier New"/>
              </a:defRPr>
            </a:pPr>
            <a:r>
              <a:t>      metrics:</a:t>
            </a:r>
          </a:p>
          <a:p>
            <a:pPr>
              <a:lnSpc>
                <a:spcPts val="1220"/>
              </a:lnSpc>
              <a:spcBef>
                <a:spcPts val="0"/>
              </a:spcBef>
              <a:spcAft>
                <a:spcPts val="0"/>
              </a:spcAft>
              <a:defRPr sz="1070" b="0">
                <a:solidFill>
                  <a:srgbClr val="172941"/>
                </a:solidFill>
                <a:latin typeface="Courier New"/>
              </a:defRPr>
            </a:pPr>
            <a:r>
              <a:t>      - name: vllm:num_requests_waiting</a:t>
            </a:r>
          </a:p>
          <a:p>
            <a:pPr>
              <a:lnSpc>
                <a:spcPts val="1220"/>
              </a:lnSpc>
              <a:spcBef>
                <a:spcPts val="0"/>
              </a:spcBef>
              <a:spcAft>
                <a:spcPts val="0"/>
              </a:spcAft>
              <a:defRPr sz="1070" b="0">
                <a:solidFill>
                  <a:srgbClr val="172941"/>
                </a:solidFill>
                <a:latin typeface="Courier New"/>
              </a:defRPr>
            </a:pPr>
            <a:r>
              <a:t>        type: gauge</a:t>
            </a:r>
          </a:p>
          <a:p>
            <a:pPr>
              <a:lnSpc>
                <a:spcPts val="1220"/>
              </a:lnSpc>
              <a:spcBef>
                <a:spcPts val="0"/>
              </a:spcBef>
              <a:spcAft>
                <a:spcPts val="0"/>
              </a:spcAft>
              <a:defRPr sz="1070" b="0">
                <a:solidFill>
                  <a:srgbClr val="172941"/>
                </a:solidFill>
                <a:latin typeface="Courier New"/>
              </a:defRPr>
            </a:pPr>
            <a:r>
              <a:t>        upthreshold: 8</a:t>
            </a:r>
          </a:p>
          <a:p>
            <a:pPr>
              <a:lnSpc>
                <a:spcPts val="1220"/>
              </a:lnSpc>
              <a:spcBef>
                <a:spcPts val="0"/>
              </a:spcBef>
              <a:spcAft>
                <a:spcPts val="0"/>
              </a:spcAft>
              <a:defRPr sz="1070" b="0">
                <a:solidFill>
                  <a:srgbClr val="172941"/>
                </a:solidFill>
                <a:latin typeface="Courier New"/>
              </a:defRPr>
            </a:pPr>
            <a:r>
              <a:t>        downthreshold: 1</a:t>
            </a:r>
          </a:p>
          <a:p>
            <a:pPr>
              <a:lnSpc>
                <a:spcPts val="1220"/>
              </a:lnSpc>
              <a:spcBef>
                <a:spcPts val="0"/>
              </a:spcBef>
              <a:spcAft>
                <a:spcPts val="0"/>
              </a:spcAft>
              <a:defRPr sz="1070" b="0">
                <a:solidFill>
                  <a:srgbClr val="172941"/>
                </a:solidFill>
                <a:latin typeface="Courier New"/>
              </a:defRPr>
            </a:pPr>
            <a:r>
              <a:t>    decode:</a:t>
            </a:r>
          </a:p>
          <a:p>
            <a:pPr>
              <a:lnSpc>
                <a:spcPts val="1220"/>
              </a:lnSpc>
              <a:spcBef>
                <a:spcPts val="0"/>
              </a:spcBef>
              <a:spcAft>
                <a:spcPts val="0"/>
              </a:spcAft>
              <a:defRPr sz="1070" b="0">
                <a:solidFill>
                  <a:srgbClr val="172941"/>
                </a:solidFill>
                <a:latin typeface="Courier New"/>
              </a:defRPr>
            </a:pPr>
            <a:r>
              <a:t>      min-replicas: "2"</a:t>
            </a:r>
          </a:p>
          <a:p>
            <a:pPr>
              <a:lnSpc>
                <a:spcPts val="1220"/>
              </a:lnSpc>
              <a:spcBef>
                <a:spcPts val="0"/>
              </a:spcBef>
              <a:spcAft>
                <a:spcPts val="0"/>
              </a:spcAft>
              <a:defRPr sz="1070" b="0">
                <a:solidFill>
                  <a:srgbClr val="172941"/>
                </a:solidFill>
                <a:latin typeface="Courier New"/>
              </a:defRPr>
            </a:pPr>
            <a:r>
              <a:t>      max-replicas: "16"</a:t>
            </a:r>
          </a:p>
          <a:p>
            <a:pPr>
              <a:lnSpc>
                <a:spcPts val="1220"/>
              </a:lnSpc>
              <a:spcBef>
                <a:spcPts val="0"/>
              </a:spcBef>
              <a:spcAft>
                <a:spcPts val="0"/>
              </a:spcAft>
              <a:defRPr sz="1070" b="0">
                <a:solidFill>
                  <a:srgbClr val="172941"/>
                </a:solidFill>
                <a:latin typeface="Courier New"/>
              </a:defRPr>
            </a:pPr>
            <a:r>
              <a:t>      combinepolicy: AND</a:t>
            </a:r>
          </a:p>
          <a:p>
            <a:pPr>
              <a:lnSpc>
                <a:spcPts val="1220"/>
              </a:lnSpc>
              <a:spcBef>
                <a:spcPts val="0"/>
              </a:spcBef>
              <a:spcAft>
                <a:spcPts val="0"/>
              </a:spcAft>
              <a:defRPr sz="1070" b="0">
                <a:solidFill>
                  <a:srgbClr val="172941"/>
                </a:solidFill>
                <a:latin typeface="Courier New"/>
              </a:defRPr>
            </a:pPr>
            <a:r>
              <a:t>      metrics:</a:t>
            </a:r>
          </a:p>
          <a:p>
            <a:pPr>
              <a:lnSpc>
                <a:spcPts val="1220"/>
              </a:lnSpc>
              <a:spcBef>
                <a:spcPts val="0"/>
              </a:spcBef>
              <a:spcAft>
                <a:spcPts val="0"/>
              </a:spcAft>
              <a:defRPr sz="1070" b="0">
                <a:solidFill>
                  <a:srgbClr val="172941"/>
                </a:solidFill>
                <a:latin typeface="Courier New"/>
              </a:defRPr>
            </a:pPr>
            <a:r>
              <a:t>      - name: vllm:num_requests_running</a:t>
            </a:r>
          </a:p>
          <a:p>
            <a:pPr>
              <a:lnSpc>
                <a:spcPts val="1220"/>
              </a:lnSpc>
              <a:spcBef>
                <a:spcPts val="0"/>
              </a:spcBef>
              <a:spcAft>
                <a:spcPts val="0"/>
              </a:spcAft>
              <a:defRPr sz="1070" b="0">
                <a:solidFill>
                  <a:srgbClr val="172941"/>
                </a:solidFill>
                <a:latin typeface="Courier New"/>
              </a:defRPr>
            </a:pPr>
            <a:r>
              <a:t>        type: gauge</a:t>
            </a:r>
          </a:p>
          <a:p>
            <a:pPr>
              <a:lnSpc>
                <a:spcPts val="1220"/>
              </a:lnSpc>
              <a:spcBef>
                <a:spcPts val="0"/>
              </a:spcBef>
              <a:spcAft>
                <a:spcPts val="0"/>
              </a:spcAft>
              <a:defRPr sz="1070" b="0">
                <a:solidFill>
                  <a:srgbClr val="172941"/>
                </a:solidFill>
                <a:latin typeface="Courier New"/>
              </a:defRPr>
            </a:pPr>
            <a:r>
              <a:t>        upthreshold: 24</a:t>
            </a:r>
          </a:p>
          <a:p>
            <a:pPr>
              <a:lnSpc>
                <a:spcPts val="1220"/>
              </a:lnSpc>
              <a:spcBef>
                <a:spcPts val="0"/>
              </a:spcBef>
              <a:spcAft>
                <a:spcPts val="0"/>
              </a:spcAft>
              <a:defRPr sz="1070" b="0">
                <a:solidFill>
                  <a:srgbClr val="172941"/>
                </a:solidFill>
                <a:latin typeface="Courier New"/>
              </a:defRPr>
            </a:pPr>
            <a:r>
              <a:t>        downthreshold: 4</a:t>
            </a:r>
          </a:p>
        </p:txBody>
      </p:sp>
      <p:sp>
        <p:nvSpPr>
          <p:cNvPr id="13" name="Rounded Rectangle 12"/>
          <p:cNvSpPr/>
          <p:nvPr/>
        </p:nvSpPr>
        <p:spPr>
          <a:xfrm>
            <a:off x="6419088" y="2029968"/>
            <a:ext cx="5266944" cy="141732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2157984"/>
            <a:ext cx="4901184" cy="274320"/>
          </a:xfrm>
          <a:prstGeom prst="rect">
            <a:avLst/>
          </a:prstGeom>
          <a:noFill/>
        </p:spPr>
        <p:txBody>
          <a:bodyPr wrap="square" lIns="13716" rIns="13716" tIns="13716" bIns="13716">
            <a:spAutoFit/>
          </a:bodyPr>
          <a:lstStyle/>
          <a:p>
            <a:pPr>
              <a:spcBef>
                <a:spcPts val="0"/>
              </a:spcBef>
              <a:spcAft>
                <a:spcPts val="500"/>
              </a:spcAft>
              <a:defRPr sz="1300" b="1">
                <a:solidFill>
                  <a:srgbClr val="2563EB"/>
                </a:solidFill>
                <a:latin typeface="Courier New"/>
              </a:defRPr>
            </a:pPr>
            <a:r>
              <a:t>MRI spec.roles (excerpt)</a:t>
            </a:r>
          </a:p>
        </p:txBody>
      </p:sp>
      <p:sp>
        <p:nvSpPr>
          <p:cNvPr id="15" name="TextBox 14"/>
          <p:cNvSpPr txBox="1"/>
          <p:nvPr/>
        </p:nvSpPr>
        <p:spPr>
          <a:xfrm>
            <a:off x="6601968" y="2587752"/>
            <a:ext cx="4901184" cy="722376"/>
          </a:xfrm>
          <a:prstGeom prst="rect">
            <a:avLst/>
          </a:prstGeom>
          <a:noFill/>
        </p:spPr>
        <p:txBody>
          <a:bodyPr wrap="square" lIns="13716" rIns="13716" tIns="13716" bIns="13716">
            <a:spAutoFit/>
          </a:bodyPr>
          <a:lstStyle/>
          <a:p>
            <a:pPr>
              <a:spcBef>
                <a:spcPts val="0"/>
              </a:spcBef>
              <a:spcAft>
                <a:spcPts val="0"/>
              </a:spcAft>
              <a:defRPr sz="1200" b="0">
                <a:solidFill>
                  <a:srgbClr val="172941"/>
                </a:solidFill>
                <a:latin typeface="Courier New"/>
              </a:defRPr>
            </a:pPr>
            <a:r>
              <a:t>- type: prefill</a:t>
            </a:r>
          </a:p>
          <a:p>
            <a:pPr>
              <a:spcBef>
                <a:spcPts val="0"/>
              </a:spcBef>
              <a:spcAft>
                <a:spcPts val="0"/>
              </a:spcAft>
              <a:defRPr sz="1200" b="0">
                <a:solidFill>
                  <a:srgbClr val="172941"/>
                </a:solidFill>
                <a:latin typeface="Courier New"/>
              </a:defRPr>
            </a:pPr>
            <a:r>
              <a:t>  replicas: null</a:t>
            </a:r>
          </a:p>
          <a:p>
            <a:pPr>
              <a:spcBef>
                <a:spcPts val="0"/>
              </a:spcBef>
              <a:spcAft>
                <a:spcPts val="0"/>
              </a:spcAft>
              <a:defRPr sz="1200" b="0">
                <a:solidFill>
                  <a:srgbClr val="172941"/>
                </a:solidFill>
                <a:latin typeface="Courier New"/>
              </a:defRPr>
            </a:pPr>
            <a:r>
              <a:t>- type: decode</a:t>
            </a:r>
          </a:p>
          <a:p>
            <a:pPr>
              <a:spcBef>
                <a:spcPts val="0"/>
              </a:spcBef>
              <a:spcAft>
                <a:spcPts val="0"/>
              </a:spcAft>
              <a:defRPr sz="1200" b="0">
                <a:solidFill>
                  <a:srgbClr val="172941"/>
                </a:solidFill>
                <a:latin typeface="Courier New"/>
              </a:defRPr>
            </a:pPr>
            <a:r>
              <a:t>  replicas: null</a:t>
            </a:r>
          </a:p>
        </p:txBody>
      </p:sp>
      <p:sp>
        <p:nvSpPr>
          <p:cNvPr id="16" name="TextBox 15"/>
          <p:cNvSpPr txBox="1"/>
          <p:nvPr/>
        </p:nvSpPr>
        <p:spPr>
          <a:xfrm>
            <a:off x="6437376" y="3639312"/>
            <a:ext cx="5202936" cy="283464"/>
          </a:xfrm>
          <a:prstGeom prst="rect">
            <a:avLst/>
          </a:prstGeom>
          <a:noFill/>
        </p:spPr>
        <p:txBody>
          <a:bodyPr wrap="square" lIns="13716" rIns="13716" tIns="13716" bIns="13716">
            <a:spAutoFit/>
          </a:bodyPr>
          <a:lstStyle/>
          <a:p>
            <a:pPr>
              <a:spcBef>
                <a:spcPts val="0"/>
              </a:spcBef>
              <a:spcAft>
                <a:spcPts val="500"/>
              </a:spcAft>
              <a:defRPr sz="1200" b="1">
                <a:solidFill>
                  <a:srgbClr val="2563EB"/>
                </a:solidFill>
                <a:latin typeface="Arial"/>
              </a:defRPr>
            </a:pPr>
            <a:r>
              <a:t>Role averages / Start at P=1, D=2</a:t>
            </a:r>
          </a:p>
        </p:txBody>
      </p:sp>
      <p:sp>
        <p:nvSpPr>
          <p:cNvPr id="17" name="TextBox 16"/>
          <p:cNvSpPr txBox="1"/>
          <p:nvPr/>
        </p:nvSpPr>
        <p:spPr>
          <a:xfrm>
            <a:off x="6437376" y="4105656"/>
            <a:ext cx="5202936" cy="640080"/>
          </a:xfrm>
          <a:prstGeom prst="rect">
            <a:avLst/>
          </a:prstGeom>
          <a:noFill/>
        </p:spPr>
        <p:txBody>
          <a:bodyPr wrap="square" lIns="13716" rIns="13716" tIns="13716" bIns="13716">
            <a:spAutoFit/>
          </a:bodyPr>
          <a:lstStyle/>
          <a:p>
            <a:pPr>
              <a:spcBef>
                <a:spcPts val="0"/>
              </a:spcBef>
              <a:spcAft>
                <a:spcPts val="500"/>
              </a:spcAft>
              <a:defRPr sz="1700" b="0">
                <a:solidFill>
                  <a:srgbClr val="087F8C"/>
                </a:solidFill>
                <a:latin typeface="Arial"/>
              </a:defRPr>
            </a:pPr>
            <a:r>
              <a:t>Waiting=12; running=12</a:t>
            </a:r>
          </a:p>
          <a:p>
            <a:pPr>
              <a:spcBef>
                <a:spcPts val="0"/>
              </a:spcBef>
              <a:spcAft>
                <a:spcPts val="500"/>
              </a:spcAft>
              <a:defRPr sz="1700" b="0">
                <a:solidFill>
                  <a:srgbClr val="087F8C"/>
                </a:solidFill>
                <a:latin typeface="Arial"/>
              </a:defRPr>
            </a:pPr>
            <a:r>
              <a:t>Prefill scales up; decode holds.</a:t>
            </a:r>
          </a:p>
        </p:txBody>
      </p:sp>
      <p:sp>
        <p:nvSpPr>
          <p:cNvPr id="18" name="TextBox 17"/>
          <p:cNvSpPr txBox="1"/>
          <p:nvPr/>
        </p:nvSpPr>
        <p:spPr>
          <a:xfrm>
            <a:off x="6437376" y="4937760"/>
            <a:ext cx="5202936" cy="621792"/>
          </a:xfrm>
          <a:prstGeom prst="rect">
            <a:avLst/>
          </a:prstGeom>
          <a:noFill/>
        </p:spPr>
        <p:txBody>
          <a:bodyPr wrap="square" lIns="13716" rIns="13716" tIns="13716" bIns="13716">
            <a:spAutoFit/>
          </a:bodyPr>
          <a:lstStyle/>
          <a:p>
            <a:pPr>
              <a:spcBef>
                <a:spcPts val="0"/>
              </a:spcBef>
              <a:spcAft>
                <a:spcPts val="500"/>
              </a:spcAft>
              <a:defRPr sz="1600" b="0">
                <a:solidFill>
                  <a:srgbClr val="7354B8"/>
                </a:solidFill>
                <a:latin typeface="Arial"/>
              </a:defRPr>
            </a:pPr>
            <a:r>
              <a:t>Running later rises above 24:</a:t>
            </a:r>
          </a:p>
          <a:p>
            <a:pPr>
              <a:spcBef>
                <a:spcPts val="0"/>
              </a:spcBef>
              <a:spcAft>
                <a:spcPts val="500"/>
              </a:spcAft>
              <a:defRPr sz="1600" b="0">
                <a:solidFill>
                  <a:srgbClr val="7354B8"/>
                </a:solidFill>
                <a:latin typeface="Arial"/>
              </a:defRPr>
            </a:pPr>
            <a:r>
              <a:t>decode can scale up independently.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Evaluation plan</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Benchmark the operating point—not only the peak</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Compare aggregated and P/D deployments under the same constraints.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Local KAITO evaluation plan; external reference results follow.</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38 / 56</a:t>
            </a:r>
          </a:p>
        </p:txBody>
      </p:sp>
      <p:sp>
        <p:nvSpPr>
          <p:cNvPr id="10" name="Rounded Rectangle 9"/>
          <p:cNvSpPr/>
          <p:nvPr/>
        </p:nvSpPr>
        <p:spPr>
          <a:xfrm>
            <a:off x="502920" y="2167128"/>
            <a:ext cx="3017520" cy="11978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258568"/>
            <a:ext cx="50292" cy="10149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86000"/>
            <a:ext cx="274320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Workload replay</a:t>
            </a:r>
          </a:p>
        </p:txBody>
      </p:sp>
      <p:sp>
        <p:nvSpPr>
          <p:cNvPr id="13" name="TextBox 12"/>
          <p:cNvSpPr txBox="1"/>
          <p:nvPr/>
        </p:nvSpPr>
        <p:spPr>
          <a:xfrm>
            <a:off x="649224" y="2724912"/>
            <a:ext cx="2724912" cy="54864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Same model, traffic, and SLO</a:t>
            </a:r>
          </a:p>
        </p:txBody>
      </p:sp>
      <p:sp>
        <p:nvSpPr>
          <p:cNvPr id="14" name="Rounded Rectangle 13"/>
          <p:cNvSpPr/>
          <p:nvPr/>
        </p:nvSpPr>
        <p:spPr>
          <a:xfrm>
            <a:off x="4617720" y="2167128"/>
            <a:ext cx="3063240" cy="11978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17720" y="2258568"/>
            <a:ext cx="50292" cy="10149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286000"/>
            <a:ext cx="278892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2563EB"/>
                </a:solidFill>
                <a:latin typeface="Arial"/>
              </a:defRPr>
            </a:pPr>
            <a:r>
              <a:t>Aggregated</a:t>
            </a:r>
          </a:p>
        </p:txBody>
      </p:sp>
      <p:sp>
        <p:nvSpPr>
          <p:cNvPr id="17" name="TextBox 16"/>
          <p:cNvSpPr txBox="1"/>
          <p:nvPr/>
        </p:nvSpPr>
        <p:spPr>
          <a:xfrm>
            <a:off x="4764024" y="2724912"/>
            <a:ext cx="2770632" cy="54864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Baseline configuration</a:t>
            </a:r>
          </a:p>
        </p:txBody>
      </p:sp>
      <p:sp>
        <p:nvSpPr>
          <p:cNvPr id="18" name="Rounded Rectangle 17"/>
          <p:cNvSpPr/>
          <p:nvPr/>
        </p:nvSpPr>
        <p:spPr>
          <a:xfrm>
            <a:off x="8641080" y="2167128"/>
            <a:ext cx="3044952" cy="11978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41080" y="2258568"/>
            <a:ext cx="50292" cy="101498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0" y="2286000"/>
            <a:ext cx="2770632" cy="393192"/>
          </a:xfrm>
          <a:prstGeom prst="rect">
            <a:avLst/>
          </a:prstGeom>
          <a:noFill/>
        </p:spPr>
        <p:txBody>
          <a:bodyPr wrap="square" lIns="13716" rIns="13716" tIns="13716" bIns="13716">
            <a:spAutoFit/>
          </a:bodyPr>
          <a:lstStyle/>
          <a:p>
            <a:pPr algn="ctr">
              <a:spcBef>
                <a:spcPts val="0"/>
              </a:spcBef>
              <a:spcAft>
                <a:spcPts val="500"/>
              </a:spcAft>
              <a:defRPr sz="2100" b="1">
                <a:solidFill>
                  <a:srgbClr val="087F8C"/>
                </a:solidFill>
                <a:latin typeface="Arial"/>
              </a:defRPr>
            </a:pPr>
            <a:r>
              <a:t>Disaggregated</a:t>
            </a:r>
          </a:p>
        </p:txBody>
      </p:sp>
      <p:sp>
        <p:nvSpPr>
          <p:cNvPr id="21" name="TextBox 20"/>
          <p:cNvSpPr txBox="1"/>
          <p:nvPr/>
        </p:nvSpPr>
        <p:spPr>
          <a:xfrm>
            <a:off x="8787384" y="2724912"/>
            <a:ext cx="2752344" cy="548640"/>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Prefill + decode configuration</a:t>
            </a:r>
          </a:p>
        </p:txBody>
      </p:sp>
      <p:cxnSp>
        <p:nvCxnSpPr>
          <p:cNvPr id="22" name="Connector 21"/>
          <p:cNvCxnSpPr/>
          <p:nvPr/>
        </p:nvCxnSpPr>
        <p:spPr>
          <a:xfrm>
            <a:off x="3520440" y="2615184"/>
            <a:ext cx="109728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20440" y="2926080"/>
            <a:ext cx="50292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23360" y="2926080"/>
            <a:ext cx="0" cy="768096"/>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023360" y="3694176"/>
            <a:ext cx="6144768"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168128" y="3364992"/>
            <a:ext cx="0" cy="329184"/>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02920" y="4005072"/>
            <a:ext cx="2903220" cy="516635"/>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4123944"/>
            <a:ext cx="2706624" cy="356615"/>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Hold constant</a:t>
            </a:r>
          </a:p>
        </p:txBody>
      </p:sp>
      <p:sp>
        <p:nvSpPr>
          <p:cNvPr id="29" name="Rectangle 28"/>
          <p:cNvSpPr/>
          <p:nvPr/>
        </p:nvSpPr>
        <p:spPr>
          <a:xfrm>
            <a:off x="3429000" y="4005072"/>
            <a:ext cx="8234171" cy="516635"/>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38728" y="4123944"/>
            <a:ext cx="8037575" cy="356615"/>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Report with the result</a:t>
            </a:r>
          </a:p>
        </p:txBody>
      </p:sp>
      <p:sp>
        <p:nvSpPr>
          <p:cNvPr id="31" name="Rectangle 30"/>
          <p:cNvSpPr/>
          <p:nvPr/>
        </p:nvSpPr>
        <p:spPr>
          <a:xfrm>
            <a:off x="502920" y="4544568"/>
            <a:ext cx="2903220"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 y="4663440"/>
            <a:ext cx="2706624" cy="356615"/>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Model + traffic</a:t>
            </a:r>
          </a:p>
        </p:txBody>
      </p:sp>
      <p:sp>
        <p:nvSpPr>
          <p:cNvPr id="33" name="Rectangle 32"/>
          <p:cNvSpPr/>
          <p:nvPr/>
        </p:nvSpPr>
        <p:spPr>
          <a:xfrm>
            <a:off x="3429000" y="4544568"/>
            <a:ext cx="8234171" cy="5166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38728" y="4663440"/>
            <a:ext cx="8037575" cy="356615"/>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Version, quantization, prompt/output lengths, concurrency</a:t>
            </a:r>
          </a:p>
        </p:txBody>
      </p:sp>
      <p:sp>
        <p:nvSpPr>
          <p:cNvPr id="35" name="Rectangle 34"/>
          <p:cNvSpPr/>
          <p:nvPr/>
        </p:nvSpPr>
        <p:spPr>
          <a:xfrm>
            <a:off x="502920" y="5084064"/>
            <a:ext cx="2903220" cy="516635"/>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2648" y="5202936"/>
            <a:ext cx="2706624" cy="356615"/>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Cost + SLO</a:t>
            </a:r>
          </a:p>
        </p:txBody>
      </p:sp>
      <p:sp>
        <p:nvSpPr>
          <p:cNvPr id="37" name="Rectangle 36"/>
          <p:cNvSpPr/>
          <p:nvPr/>
        </p:nvSpPr>
        <p:spPr>
          <a:xfrm>
            <a:off x="3429000" y="5084064"/>
            <a:ext cx="8234171" cy="516635"/>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38728" y="5202936"/>
            <a:ext cx="8037575" cy="356615"/>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GPU budget, fabric, TTFT/ITL target, warm-up and duration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Benchmark scorecard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TTFT: measure the tail under prompt pressure</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Local measurement plan. External benchmark results are separate—not KAITO data.</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39 / 56</a:t>
            </a:r>
          </a:p>
        </p:txBody>
      </p:sp>
      <p:sp>
        <p:nvSpPr>
          <p:cNvPr id="8" name="Rounded Rectangle 7"/>
          <p:cNvSpPr/>
          <p:nvPr/>
        </p:nvSpPr>
        <p:spPr>
          <a:xfrm>
            <a:off x="502920" y="1993392"/>
            <a:ext cx="2651760" cy="310896"/>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25396"/>
            <a:ext cx="252374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AE641A"/>
                </a:solidFill>
                <a:latin typeface="Arial"/>
              </a:defRPr>
            </a:pPr>
            <a:r>
              <a:t>Awaiting measured results</a:t>
            </a:r>
          </a:p>
        </p:txBody>
      </p:sp>
      <p:sp>
        <p:nvSpPr>
          <p:cNvPr id="10" name="Rectangle 9"/>
          <p:cNvSpPr/>
          <p:nvPr/>
        </p:nvSpPr>
        <p:spPr>
          <a:xfrm>
            <a:off x="502920" y="2624328"/>
            <a:ext cx="3195828"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743200"/>
            <a:ext cx="2999232"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TTFT metric</a:t>
            </a:r>
          </a:p>
        </p:txBody>
      </p:sp>
      <p:sp>
        <p:nvSpPr>
          <p:cNvPr id="12" name="Rectangle 11"/>
          <p:cNvSpPr/>
          <p:nvPr/>
        </p:nvSpPr>
        <p:spPr>
          <a:xfrm>
            <a:off x="3721608" y="2624328"/>
            <a:ext cx="3954779"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31336" y="2743200"/>
            <a:ext cx="3758183"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Aggregated</a:t>
            </a:r>
          </a:p>
        </p:txBody>
      </p:sp>
      <p:sp>
        <p:nvSpPr>
          <p:cNvPr id="14" name="Rectangle 13"/>
          <p:cNvSpPr/>
          <p:nvPr/>
        </p:nvSpPr>
        <p:spPr>
          <a:xfrm>
            <a:off x="7699248" y="2624328"/>
            <a:ext cx="3963924"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5" y="2743200"/>
            <a:ext cx="3767328"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P/D</a:t>
            </a:r>
          </a:p>
        </p:txBody>
      </p:sp>
      <p:sp>
        <p:nvSpPr>
          <p:cNvPr id="16" name="Rectangle 15"/>
          <p:cNvSpPr/>
          <p:nvPr/>
        </p:nvSpPr>
        <p:spPr>
          <a:xfrm>
            <a:off x="502920" y="3209544"/>
            <a:ext cx="319582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328416"/>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p50 / median</a:t>
            </a:r>
          </a:p>
        </p:txBody>
      </p:sp>
      <p:sp>
        <p:nvSpPr>
          <p:cNvPr id="18" name="Rectangle 17"/>
          <p:cNvSpPr/>
          <p:nvPr/>
        </p:nvSpPr>
        <p:spPr>
          <a:xfrm>
            <a:off x="3721608" y="3209544"/>
            <a:ext cx="3954779"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1336" y="3328416"/>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0" name="Rectangle 19"/>
          <p:cNvSpPr/>
          <p:nvPr/>
        </p:nvSpPr>
        <p:spPr>
          <a:xfrm>
            <a:off x="7699248" y="3209544"/>
            <a:ext cx="3963924"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8975" y="3328416"/>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2" name="Rectangle 21"/>
          <p:cNvSpPr/>
          <p:nvPr/>
        </p:nvSpPr>
        <p:spPr>
          <a:xfrm>
            <a:off x="502920" y="3794760"/>
            <a:ext cx="3195828"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913632"/>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p95 / tail</a:t>
            </a:r>
          </a:p>
        </p:txBody>
      </p:sp>
      <p:sp>
        <p:nvSpPr>
          <p:cNvPr id="24" name="Rectangle 23"/>
          <p:cNvSpPr/>
          <p:nvPr/>
        </p:nvSpPr>
        <p:spPr>
          <a:xfrm>
            <a:off x="3721608" y="3794760"/>
            <a:ext cx="3954779"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1336" y="3913632"/>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6" name="Rectangle 25"/>
          <p:cNvSpPr/>
          <p:nvPr/>
        </p:nvSpPr>
        <p:spPr>
          <a:xfrm>
            <a:off x="7699248" y="3794760"/>
            <a:ext cx="3963924"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8975" y="3913632"/>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8" name="Rectangle 27"/>
          <p:cNvSpPr/>
          <p:nvPr/>
        </p:nvSpPr>
        <p:spPr>
          <a:xfrm>
            <a:off x="502920" y="4379976"/>
            <a:ext cx="319582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498848"/>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p99 / extreme tail</a:t>
            </a:r>
          </a:p>
        </p:txBody>
      </p:sp>
      <p:sp>
        <p:nvSpPr>
          <p:cNvPr id="30" name="Rectangle 29"/>
          <p:cNvSpPr/>
          <p:nvPr/>
        </p:nvSpPr>
        <p:spPr>
          <a:xfrm>
            <a:off x="3721608" y="4379976"/>
            <a:ext cx="3954779"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31336" y="4498848"/>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32" name="Rectangle 31"/>
          <p:cNvSpPr/>
          <p:nvPr/>
        </p:nvSpPr>
        <p:spPr>
          <a:xfrm>
            <a:off x="7699248" y="4379976"/>
            <a:ext cx="3963924"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08975" y="4498848"/>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34" name="Rounded Rectangle 33"/>
          <p:cNvSpPr/>
          <p:nvPr/>
        </p:nvSpPr>
        <p:spPr>
          <a:xfrm>
            <a:off x="502920" y="5212080"/>
            <a:ext cx="11183112" cy="98755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376672"/>
            <a:ext cx="10698480" cy="320040"/>
          </a:xfrm>
          <a:prstGeom prst="rect">
            <a:avLst/>
          </a:prstGeom>
          <a:noFill/>
        </p:spPr>
        <p:txBody>
          <a:bodyPr wrap="square" lIns="13716" rIns="13716" tIns="13716" bIns="13716">
            <a:spAutoFit/>
          </a:bodyPr>
          <a:lstStyle/>
          <a:p>
            <a:pPr>
              <a:spcBef>
                <a:spcPts val="0"/>
              </a:spcBef>
              <a:spcAft>
                <a:spcPts val="500"/>
              </a:spcAft>
              <a:defRPr sz="1900" b="1">
                <a:solidFill>
                  <a:srgbClr val="087F8C"/>
                </a:solidFill>
                <a:latin typeface="Arial"/>
              </a:defRPr>
            </a:pPr>
            <a:r>
              <a:t>Question to answer</a:t>
            </a:r>
          </a:p>
        </p:txBody>
      </p:sp>
      <p:sp>
        <p:nvSpPr>
          <p:cNvPr id="36" name="TextBox 35"/>
          <p:cNvSpPr txBox="1"/>
          <p:nvPr/>
        </p:nvSpPr>
        <p:spPr>
          <a:xfrm>
            <a:off x="713232" y="5788152"/>
            <a:ext cx="10698480" cy="274320"/>
          </a:xfrm>
          <a:prstGeom prst="rect">
            <a:avLst/>
          </a:prstGeom>
          <a:noFill/>
        </p:spPr>
        <p:txBody>
          <a:bodyPr wrap="square" lIns="13716" rIns="13716" tIns="13716" bIns="13716">
            <a:spAutoFit/>
          </a:bodyPr>
          <a:lstStyle/>
          <a:p>
            <a:pPr>
              <a:spcBef>
                <a:spcPts val="0"/>
              </a:spcBef>
              <a:spcAft>
                <a:spcPts val="500"/>
              </a:spcAft>
              <a:defRPr sz="1600" b="0">
                <a:solidFill>
                  <a:srgbClr val="172941"/>
                </a:solidFill>
                <a:latin typeface="Arial"/>
              </a:defRPr>
            </a:pPr>
            <a:r>
              <a:t>Does P/D reduce tail TTFT at the same offered load and cost budget?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Benchmark scorecard</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Throughput: count useful work inside the SLO</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Local measurement plan. Report useful throughput and its cost together.</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40 / 56</a:t>
            </a:r>
          </a:p>
        </p:txBody>
      </p:sp>
      <p:sp>
        <p:nvSpPr>
          <p:cNvPr id="8" name="Rounded Rectangle 7"/>
          <p:cNvSpPr/>
          <p:nvPr/>
        </p:nvSpPr>
        <p:spPr>
          <a:xfrm>
            <a:off x="502920" y="1993392"/>
            <a:ext cx="2651760" cy="310896"/>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25396"/>
            <a:ext cx="2523744" cy="237744"/>
          </a:xfrm>
          <a:prstGeom prst="rect">
            <a:avLst/>
          </a:prstGeom>
          <a:noFill/>
        </p:spPr>
        <p:txBody>
          <a:bodyPr wrap="square" lIns="13716" rIns="13716" tIns="13716" bIns="13716">
            <a:spAutoFit/>
          </a:bodyPr>
          <a:lstStyle/>
          <a:p>
            <a:pPr algn="ctr">
              <a:spcBef>
                <a:spcPts val="0"/>
              </a:spcBef>
              <a:spcAft>
                <a:spcPts val="500"/>
              </a:spcAft>
              <a:defRPr sz="1000" b="1">
                <a:solidFill>
                  <a:srgbClr val="AE641A"/>
                </a:solidFill>
                <a:latin typeface="Arial"/>
              </a:defRPr>
            </a:pPr>
            <a:r>
              <a:t>Awaiting measured results</a:t>
            </a:r>
          </a:p>
        </p:txBody>
      </p:sp>
      <p:sp>
        <p:nvSpPr>
          <p:cNvPr id="10" name="Rectangle 9"/>
          <p:cNvSpPr/>
          <p:nvPr/>
        </p:nvSpPr>
        <p:spPr>
          <a:xfrm>
            <a:off x="502920" y="2624328"/>
            <a:ext cx="3195828"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743200"/>
            <a:ext cx="2999232"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Measure</a:t>
            </a:r>
          </a:p>
        </p:txBody>
      </p:sp>
      <p:sp>
        <p:nvSpPr>
          <p:cNvPr id="12" name="Rectangle 11"/>
          <p:cNvSpPr/>
          <p:nvPr/>
        </p:nvSpPr>
        <p:spPr>
          <a:xfrm>
            <a:off x="3721608" y="2624328"/>
            <a:ext cx="3954779"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31336" y="2743200"/>
            <a:ext cx="3758183"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Aggregated</a:t>
            </a:r>
          </a:p>
        </p:txBody>
      </p:sp>
      <p:sp>
        <p:nvSpPr>
          <p:cNvPr id="14" name="Rectangle 13"/>
          <p:cNvSpPr/>
          <p:nvPr/>
        </p:nvSpPr>
        <p:spPr>
          <a:xfrm>
            <a:off x="7699248" y="2624328"/>
            <a:ext cx="3963924" cy="562356"/>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5" y="2743200"/>
            <a:ext cx="3767328" cy="402336"/>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P/D</a:t>
            </a:r>
          </a:p>
        </p:txBody>
      </p:sp>
      <p:sp>
        <p:nvSpPr>
          <p:cNvPr id="16" name="Rectangle 15"/>
          <p:cNvSpPr/>
          <p:nvPr/>
        </p:nvSpPr>
        <p:spPr>
          <a:xfrm>
            <a:off x="502920" y="3209544"/>
            <a:ext cx="319582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328416"/>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Output tokens / second</a:t>
            </a:r>
          </a:p>
        </p:txBody>
      </p:sp>
      <p:sp>
        <p:nvSpPr>
          <p:cNvPr id="18" name="Rectangle 17"/>
          <p:cNvSpPr/>
          <p:nvPr/>
        </p:nvSpPr>
        <p:spPr>
          <a:xfrm>
            <a:off x="3721608" y="3209544"/>
            <a:ext cx="3954779"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1336" y="3328416"/>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0" name="Rectangle 19"/>
          <p:cNvSpPr/>
          <p:nvPr/>
        </p:nvSpPr>
        <p:spPr>
          <a:xfrm>
            <a:off x="7699248" y="3209544"/>
            <a:ext cx="3963924"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8975" y="3328416"/>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2" name="Rectangle 21"/>
          <p:cNvSpPr/>
          <p:nvPr/>
        </p:nvSpPr>
        <p:spPr>
          <a:xfrm>
            <a:off x="502920" y="3794760"/>
            <a:ext cx="3195828"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913632"/>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Requests meeting SLO</a:t>
            </a:r>
          </a:p>
        </p:txBody>
      </p:sp>
      <p:sp>
        <p:nvSpPr>
          <p:cNvPr id="24" name="Rectangle 23"/>
          <p:cNvSpPr/>
          <p:nvPr/>
        </p:nvSpPr>
        <p:spPr>
          <a:xfrm>
            <a:off x="3721608" y="3794760"/>
            <a:ext cx="3954779"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1336" y="3913632"/>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6" name="Rectangle 25"/>
          <p:cNvSpPr/>
          <p:nvPr/>
        </p:nvSpPr>
        <p:spPr>
          <a:xfrm>
            <a:off x="7699248" y="3794760"/>
            <a:ext cx="3963924" cy="562356"/>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8975" y="3913632"/>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28" name="Rectangle 27"/>
          <p:cNvSpPr/>
          <p:nvPr/>
        </p:nvSpPr>
        <p:spPr>
          <a:xfrm>
            <a:off x="502920" y="4379976"/>
            <a:ext cx="319582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498848"/>
            <a:ext cx="2999232" cy="402336"/>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Cost / useful output</a:t>
            </a:r>
          </a:p>
        </p:txBody>
      </p:sp>
      <p:sp>
        <p:nvSpPr>
          <p:cNvPr id="30" name="Rectangle 29"/>
          <p:cNvSpPr/>
          <p:nvPr/>
        </p:nvSpPr>
        <p:spPr>
          <a:xfrm>
            <a:off x="3721608" y="4379976"/>
            <a:ext cx="3954779"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31336" y="4498848"/>
            <a:ext cx="3758183"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32" name="Rectangle 31"/>
          <p:cNvSpPr/>
          <p:nvPr/>
        </p:nvSpPr>
        <p:spPr>
          <a:xfrm>
            <a:off x="7699248" y="4379976"/>
            <a:ext cx="3963924"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08975" y="4498848"/>
            <a:ext cx="3767328" cy="402336"/>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Not measured</a:t>
            </a:r>
          </a:p>
        </p:txBody>
      </p:sp>
      <p:sp>
        <p:nvSpPr>
          <p:cNvPr id="34" name="Rounded Rectangle 33"/>
          <p:cNvSpPr/>
          <p:nvPr/>
        </p:nvSpPr>
        <p:spPr>
          <a:xfrm>
            <a:off x="502920" y="5212080"/>
            <a:ext cx="11183112" cy="98755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376672"/>
            <a:ext cx="10698480" cy="320040"/>
          </a:xfrm>
          <a:prstGeom prst="rect">
            <a:avLst/>
          </a:prstGeom>
          <a:noFill/>
        </p:spPr>
        <p:txBody>
          <a:bodyPr wrap="square" lIns="13716" rIns="13716" tIns="13716" bIns="13716">
            <a:spAutoFit/>
          </a:bodyPr>
          <a:lstStyle/>
          <a:p>
            <a:pPr>
              <a:spcBef>
                <a:spcPts val="0"/>
              </a:spcBef>
              <a:spcAft>
                <a:spcPts val="500"/>
              </a:spcAft>
              <a:defRPr sz="1900" b="1">
                <a:solidFill>
                  <a:srgbClr val="7354B8"/>
                </a:solidFill>
                <a:latin typeface="Arial"/>
              </a:defRPr>
            </a:pPr>
            <a:r>
              <a:t>Utilization is context—not the success metric.</a:t>
            </a:r>
          </a:p>
        </p:txBody>
      </p:sp>
      <p:sp>
        <p:nvSpPr>
          <p:cNvPr id="36" name="TextBox 35"/>
          <p:cNvSpPr txBox="1"/>
          <p:nvPr/>
        </p:nvSpPr>
        <p:spPr>
          <a:xfrm>
            <a:off x="713232" y="5788152"/>
            <a:ext cx="10698480" cy="274320"/>
          </a:xfrm>
          <a:prstGeom prst="rect">
            <a:avLst/>
          </a:prstGeom>
          <a:noFill/>
        </p:spPr>
        <p:txBody>
          <a:bodyPr wrap="square" lIns="13716" rIns="13716" tIns="13716" bIns="13716">
            <a:spAutoFit/>
          </a:bodyPr>
          <a:lstStyle/>
          <a:p>
            <a:pPr>
              <a:spcBef>
                <a:spcPts val="0"/>
              </a:spcBef>
              <a:spcAft>
                <a:spcPts val="500"/>
              </a:spcAft>
              <a:defRPr sz="1600" b="0">
                <a:solidFill>
                  <a:srgbClr val="172941"/>
                </a:solidFill>
                <a:latin typeface="Arial"/>
              </a:defRPr>
            </a:pPr>
            <a:r>
              <a:t>Compare steady token delivery, SLO goodput, active KV usage, and GPU-hours.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Workload decision map</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The break-even boundary is a measurement problem</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Qualitative candidates only—not a measured heatmap or a performance guarantee.</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41 / 56</a:t>
            </a:r>
          </a:p>
        </p:txBody>
      </p:sp>
      <p:sp>
        <p:nvSpPr>
          <p:cNvPr id="8" name="Rectangle 7"/>
          <p:cNvSpPr/>
          <p:nvPr/>
        </p:nvSpPr>
        <p:spPr>
          <a:xfrm>
            <a:off x="502920" y="2267712"/>
            <a:ext cx="3040380" cy="78181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386584"/>
            <a:ext cx="2843784" cy="62179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Workload</a:t>
            </a:r>
          </a:p>
        </p:txBody>
      </p:sp>
      <p:sp>
        <p:nvSpPr>
          <p:cNvPr id="10" name="Rectangle 9"/>
          <p:cNvSpPr/>
          <p:nvPr/>
        </p:nvSpPr>
        <p:spPr>
          <a:xfrm>
            <a:off x="3566160" y="2267712"/>
            <a:ext cx="4037076" cy="78181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8" y="2386584"/>
            <a:ext cx="3840480" cy="62179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Short output</a:t>
            </a:r>
          </a:p>
        </p:txBody>
      </p:sp>
      <p:sp>
        <p:nvSpPr>
          <p:cNvPr id="12" name="Rectangle 11"/>
          <p:cNvSpPr/>
          <p:nvPr/>
        </p:nvSpPr>
        <p:spPr>
          <a:xfrm>
            <a:off x="7626096" y="2267712"/>
            <a:ext cx="4037076" cy="78181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35823" y="2386584"/>
            <a:ext cx="3840480" cy="621792"/>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Long output</a:t>
            </a:r>
          </a:p>
        </p:txBody>
      </p:sp>
      <p:sp>
        <p:nvSpPr>
          <p:cNvPr id="14" name="Rectangle 13"/>
          <p:cNvSpPr/>
          <p:nvPr/>
        </p:nvSpPr>
        <p:spPr>
          <a:xfrm>
            <a:off x="502920" y="3072384"/>
            <a:ext cx="3040380" cy="7818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91256"/>
            <a:ext cx="2843784" cy="62179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Short prompt</a:t>
            </a:r>
          </a:p>
        </p:txBody>
      </p:sp>
      <p:sp>
        <p:nvSpPr>
          <p:cNvPr id="16" name="Rectangle 15"/>
          <p:cNvSpPr/>
          <p:nvPr/>
        </p:nvSpPr>
        <p:spPr>
          <a:xfrm>
            <a:off x="3566160" y="3072384"/>
            <a:ext cx="4037076" cy="7818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3191256"/>
            <a:ext cx="3840480" cy="62179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Start with aggregated</a:t>
            </a:r>
          </a:p>
        </p:txBody>
      </p:sp>
      <p:sp>
        <p:nvSpPr>
          <p:cNvPr id="18" name="Rectangle 17"/>
          <p:cNvSpPr/>
          <p:nvPr/>
        </p:nvSpPr>
        <p:spPr>
          <a:xfrm>
            <a:off x="7626096" y="3072384"/>
            <a:ext cx="4037076" cy="7818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35823" y="3191256"/>
            <a:ext cx="3840480" cy="62179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Evaluate decode pressure</a:t>
            </a:r>
          </a:p>
        </p:txBody>
      </p:sp>
      <p:sp>
        <p:nvSpPr>
          <p:cNvPr id="20" name="Rectangle 19"/>
          <p:cNvSpPr/>
          <p:nvPr/>
        </p:nvSpPr>
        <p:spPr>
          <a:xfrm>
            <a:off x="502920" y="3877056"/>
            <a:ext cx="3040380" cy="78181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995928"/>
            <a:ext cx="2843784" cy="621792"/>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Long prompt</a:t>
            </a:r>
          </a:p>
        </p:txBody>
      </p:sp>
      <p:sp>
        <p:nvSpPr>
          <p:cNvPr id="22" name="Rectangle 21"/>
          <p:cNvSpPr/>
          <p:nvPr/>
        </p:nvSpPr>
        <p:spPr>
          <a:xfrm>
            <a:off x="3566160" y="3877056"/>
            <a:ext cx="4037076" cy="78181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5888" y="3995928"/>
            <a:ext cx="3840480" cy="62179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Evaluate prefill isolation</a:t>
            </a:r>
          </a:p>
        </p:txBody>
      </p:sp>
      <p:sp>
        <p:nvSpPr>
          <p:cNvPr id="24" name="Rectangle 23"/>
          <p:cNvSpPr/>
          <p:nvPr/>
        </p:nvSpPr>
        <p:spPr>
          <a:xfrm>
            <a:off x="7626096" y="3877056"/>
            <a:ext cx="4037076" cy="78181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35823" y="3995928"/>
            <a:ext cx="3840480" cy="62179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Strong P/D candidate to test</a:t>
            </a:r>
          </a:p>
        </p:txBody>
      </p:sp>
      <p:sp>
        <p:nvSpPr>
          <p:cNvPr id="26" name="Rounded Rectangle 25"/>
          <p:cNvSpPr/>
          <p:nvPr/>
        </p:nvSpPr>
        <p:spPr>
          <a:xfrm>
            <a:off x="502920" y="5029200"/>
            <a:ext cx="11183112" cy="804672"/>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221224"/>
            <a:ext cx="10716768" cy="429768"/>
          </a:xfrm>
          <a:prstGeom prst="rect">
            <a:avLst/>
          </a:prstGeom>
          <a:noFill/>
        </p:spPr>
        <p:txBody>
          <a:bodyPr wrap="square" lIns="13716" rIns="13716" tIns="13716" bIns="13716">
            <a:spAutoFit/>
          </a:bodyPr>
          <a:lstStyle/>
          <a:p>
            <a:pPr>
              <a:spcBef>
                <a:spcPts val="0"/>
              </a:spcBef>
              <a:spcAft>
                <a:spcPts val="500"/>
              </a:spcAft>
              <a:defRPr sz="1700" b="1">
                <a:solidFill>
                  <a:srgbClr val="AE641A"/>
                </a:solidFill>
                <a:latin typeface="Arial"/>
              </a:defRPr>
            </a:pPr>
            <a:r>
              <a:t>Concurrency, GPU budget, and transfer fabric can change the result in every cell.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Public benchmark — TTFT</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Evaluation results: TTFT is a trade-off</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External vLLM / MORI-IO study • Qwen3-235B-A22B-FP8 • one 8× MI300X node • 2K input / 1K output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No TTFT win in this setup: measure first-token latency separately from streaming quality.</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42 / 56</a:t>
            </a:r>
          </a:p>
        </p:txBody>
      </p:sp>
      <p:sp>
        <p:nvSpPr>
          <p:cNvPr id="10" name="TextBox 9"/>
          <p:cNvSpPr txBox="1"/>
          <p:nvPr/>
        </p:nvSpPr>
        <p:spPr>
          <a:xfrm>
            <a:off x="594360" y="1975104"/>
            <a:ext cx="6126480" cy="283464"/>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TTFT (ms) • lower is better • 8 offered req/s</a:t>
            </a:r>
          </a:p>
        </p:txBody>
      </p:sp>
      <p:cxnSp>
        <p:nvCxnSpPr>
          <p:cNvPr id="11" name="Connector 10"/>
          <p:cNvCxnSpPr/>
          <p:nvPr/>
        </p:nvCxnSpPr>
        <p:spPr>
          <a:xfrm>
            <a:off x="1051560" y="5166360"/>
            <a:ext cx="5486400" cy="0"/>
          </a:xfrm>
          <a:prstGeom prst="line">
            <a:avLst/>
          </a:prstGeom>
          <a:ln w="254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12064" y="5056632"/>
            <a:ext cx="448056" cy="219456"/>
          </a:xfrm>
          <a:prstGeom prst="rect">
            <a:avLst/>
          </a:prstGeom>
          <a:noFill/>
        </p:spPr>
        <p:txBody>
          <a:bodyPr wrap="square" lIns="13716" rIns="13716" tIns="13716" bIns="13716">
            <a:spAutoFit/>
          </a:bodyPr>
          <a:lstStyle/>
          <a:p>
            <a:pPr algn="r">
              <a:spcBef>
                <a:spcPts val="0"/>
              </a:spcBef>
              <a:spcAft>
                <a:spcPts val="500"/>
              </a:spcAft>
              <a:defRPr sz="1000" b="0">
                <a:solidFill>
                  <a:srgbClr val="586A80"/>
                </a:solidFill>
                <a:latin typeface="Arial"/>
              </a:defRPr>
            </a:pPr>
            <a:r>
              <a:t>0</a:t>
            </a:r>
          </a:p>
        </p:txBody>
      </p:sp>
      <p:cxnSp>
        <p:nvCxnSpPr>
          <p:cNvPr id="13" name="Connector 12"/>
          <p:cNvCxnSpPr/>
          <p:nvPr/>
        </p:nvCxnSpPr>
        <p:spPr>
          <a:xfrm>
            <a:off x="1051560" y="4291584"/>
            <a:ext cx="5486400" cy="0"/>
          </a:xfrm>
          <a:prstGeom prst="line">
            <a:avLst/>
          </a:prstGeom>
          <a:ln w="254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12064" y="4181856"/>
            <a:ext cx="448056" cy="219456"/>
          </a:xfrm>
          <a:prstGeom prst="rect">
            <a:avLst/>
          </a:prstGeom>
          <a:noFill/>
        </p:spPr>
        <p:txBody>
          <a:bodyPr wrap="square" lIns="13716" rIns="13716" tIns="13716" bIns="13716">
            <a:spAutoFit/>
          </a:bodyPr>
          <a:lstStyle/>
          <a:p>
            <a:pPr algn="r">
              <a:spcBef>
                <a:spcPts val="0"/>
              </a:spcBef>
              <a:spcAft>
                <a:spcPts val="500"/>
              </a:spcAft>
              <a:defRPr sz="1000" b="0">
                <a:solidFill>
                  <a:srgbClr val="586A80"/>
                </a:solidFill>
                <a:latin typeface="Arial"/>
              </a:defRPr>
            </a:pPr>
            <a:r>
              <a:t>500</a:t>
            </a:r>
          </a:p>
        </p:txBody>
      </p:sp>
      <p:cxnSp>
        <p:nvCxnSpPr>
          <p:cNvPr id="15" name="Connector 14"/>
          <p:cNvCxnSpPr/>
          <p:nvPr/>
        </p:nvCxnSpPr>
        <p:spPr>
          <a:xfrm>
            <a:off x="1051560" y="3416808"/>
            <a:ext cx="5486400" cy="0"/>
          </a:xfrm>
          <a:prstGeom prst="line">
            <a:avLst/>
          </a:prstGeom>
          <a:ln w="254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12064" y="3307080"/>
            <a:ext cx="448056" cy="219456"/>
          </a:xfrm>
          <a:prstGeom prst="rect">
            <a:avLst/>
          </a:prstGeom>
          <a:noFill/>
        </p:spPr>
        <p:txBody>
          <a:bodyPr wrap="square" lIns="13716" rIns="13716" tIns="13716" bIns="13716">
            <a:spAutoFit/>
          </a:bodyPr>
          <a:lstStyle/>
          <a:p>
            <a:pPr algn="r">
              <a:spcBef>
                <a:spcPts val="0"/>
              </a:spcBef>
              <a:spcAft>
                <a:spcPts val="500"/>
              </a:spcAft>
              <a:defRPr sz="1000" b="0">
                <a:solidFill>
                  <a:srgbClr val="586A80"/>
                </a:solidFill>
                <a:latin typeface="Arial"/>
              </a:defRPr>
            </a:pPr>
            <a:r>
              <a:t>1000</a:t>
            </a:r>
          </a:p>
        </p:txBody>
      </p:sp>
      <p:cxnSp>
        <p:nvCxnSpPr>
          <p:cNvPr id="17" name="Connector 16"/>
          <p:cNvCxnSpPr/>
          <p:nvPr/>
        </p:nvCxnSpPr>
        <p:spPr>
          <a:xfrm>
            <a:off x="1051560" y="2542032"/>
            <a:ext cx="5486400" cy="0"/>
          </a:xfrm>
          <a:prstGeom prst="line">
            <a:avLst/>
          </a:prstGeom>
          <a:ln w="25400">
            <a:solidFill>
              <a:srgbClr val="D9E2EE"/>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2064" y="2432303"/>
            <a:ext cx="448056" cy="219456"/>
          </a:xfrm>
          <a:prstGeom prst="rect">
            <a:avLst/>
          </a:prstGeom>
          <a:noFill/>
        </p:spPr>
        <p:txBody>
          <a:bodyPr wrap="square" lIns="13716" rIns="13716" tIns="13716" bIns="13716">
            <a:spAutoFit/>
          </a:bodyPr>
          <a:lstStyle/>
          <a:p>
            <a:pPr algn="r">
              <a:spcBef>
                <a:spcPts val="0"/>
              </a:spcBef>
              <a:spcAft>
                <a:spcPts val="500"/>
              </a:spcAft>
              <a:defRPr sz="1000" b="0">
                <a:solidFill>
                  <a:srgbClr val="586A80"/>
                </a:solidFill>
                <a:latin typeface="Arial"/>
              </a:defRPr>
            </a:pPr>
            <a:r>
              <a:t>1500</a:t>
            </a:r>
          </a:p>
        </p:txBody>
      </p:sp>
      <p:sp>
        <p:nvSpPr>
          <p:cNvPr id="19" name="Rectangle 18"/>
          <p:cNvSpPr/>
          <p:nvPr/>
        </p:nvSpPr>
        <p:spPr>
          <a:xfrm>
            <a:off x="1728216" y="4767526"/>
            <a:ext cx="603504" cy="398833"/>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9344" y="4493206"/>
            <a:ext cx="84124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2563EB"/>
                </a:solidFill>
                <a:latin typeface="Arial"/>
              </a:defRPr>
            </a:pPr>
            <a:r>
              <a:t>228</a:t>
            </a:r>
          </a:p>
        </p:txBody>
      </p:sp>
      <p:sp>
        <p:nvSpPr>
          <p:cNvPr id="21" name="Rectangle 20"/>
          <p:cNvSpPr/>
          <p:nvPr/>
        </p:nvSpPr>
        <p:spPr>
          <a:xfrm>
            <a:off x="2560320" y="4037662"/>
            <a:ext cx="603504" cy="112869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41448" y="3763342"/>
            <a:ext cx="84124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645</a:t>
            </a:r>
          </a:p>
        </p:txBody>
      </p:sp>
      <p:sp>
        <p:nvSpPr>
          <p:cNvPr id="23" name="TextBox 22"/>
          <p:cNvSpPr txBox="1"/>
          <p:nvPr/>
        </p:nvSpPr>
        <p:spPr>
          <a:xfrm>
            <a:off x="1792224" y="5266944"/>
            <a:ext cx="143560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172941"/>
                </a:solidFill>
                <a:latin typeface="Arial"/>
              </a:defRPr>
            </a:pPr>
            <a:r>
              <a:t>p50</a:t>
            </a:r>
          </a:p>
        </p:txBody>
      </p:sp>
      <p:sp>
        <p:nvSpPr>
          <p:cNvPr id="24" name="Rectangle 23"/>
          <p:cNvSpPr/>
          <p:nvPr/>
        </p:nvSpPr>
        <p:spPr>
          <a:xfrm>
            <a:off x="4443984" y="4308007"/>
            <a:ext cx="603504" cy="8583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5112" y="4033687"/>
            <a:ext cx="84124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2563EB"/>
                </a:solidFill>
                <a:latin typeface="Arial"/>
              </a:defRPr>
            </a:pPr>
            <a:r>
              <a:t>491</a:t>
            </a:r>
          </a:p>
        </p:txBody>
      </p:sp>
      <p:sp>
        <p:nvSpPr>
          <p:cNvPr id="26" name="Rectangle 25"/>
          <p:cNvSpPr/>
          <p:nvPr/>
        </p:nvSpPr>
        <p:spPr>
          <a:xfrm>
            <a:off x="5276088" y="2847181"/>
            <a:ext cx="603504" cy="231917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57216" y="2572861"/>
            <a:ext cx="84124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1326</a:t>
            </a:r>
          </a:p>
        </p:txBody>
      </p:sp>
      <p:sp>
        <p:nvSpPr>
          <p:cNvPr id="28" name="TextBox 27"/>
          <p:cNvSpPr txBox="1"/>
          <p:nvPr/>
        </p:nvSpPr>
        <p:spPr>
          <a:xfrm>
            <a:off x="4507992" y="5266944"/>
            <a:ext cx="1435608" cy="246888"/>
          </a:xfrm>
          <a:prstGeom prst="rect">
            <a:avLst/>
          </a:prstGeom>
          <a:noFill/>
        </p:spPr>
        <p:txBody>
          <a:bodyPr wrap="square" lIns="13716" rIns="13716" tIns="13716" bIns="13716">
            <a:spAutoFit/>
          </a:bodyPr>
          <a:lstStyle/>
          <a:p>
            <a:pPr algn="ctr">
              <a:spcBef>
                <a:spcPts val="0"/>
              </a:spcBef>
              <a:spcAft>
                <a:spcPts val="500"/>
              </a:spcAft>
              <a:defRPr sz="1300" b="1">
                <a:solidFill>
                  <a:srgbClr val="172941"/>
                </a:solidFill>
                <a:latin typeface="Arial"/>
              </a:defRPr>
            </a:pPr>
            <a:r>
              <a:t>p95</a:t>
            </a:r>
          </a:p>
        </p:txBody>
      </p:sp>
      <p:sp>
        <p:nvSpPr>
          <p:cNvPr id="29" name="Rectangle 28"/>
          <p:cNvSpPr/>
          <p:nvPr/>
        </p:nvSpPr>
        <p:spPr>
          <a:xfrm>
            <a:off x="960120" y="2359152"/>
            <a:ext cx="13716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70432" y="2276856"/>
            <a:ext cx="2103120" cy="228600"/>
          </a:xfrm>
          <a:prstGeom prst="rect">
            <a:avLst/>
          </a:prstGeom>
          <a:noFill/>
        </p:spPr>
        <p:txBody>
          <a:bodyPr wrap="square" lIns="13716" rIns="13716" tIns="13716" bIns="13716">
            <a:spAutoFit/>
          </a:bodyPr>
          <a:lstStyle/>
          <a:p>
            <a:pPr>
              <a:spcBef>
                <a:spcPts val="0"/>
              </a:spcBef>
              <a:spcAft>
                <a:spcPts val="500"/>
              </a:spcAft>
              <a:defRPr sz="1100" b="0">
                <a:solidFill>
                  <a:srgbClr val="172941"/>
                </a:solidFill>
                <a:latin typeface="Arial"/>
              </a:defRPr>
            </a:pPr>
            <a:r>
              <a:t>Colocated: 2× TP4</a:t>
            </a:r>
          </a:p>
        </p:txBody>
      </p:sp>
      <p:sp>
        <p:nvSpPr>
          <p:cNvPr id="31" name="Rectangle 30"/>
          <p:cNvSpPr/>
          <p:nvPr/>
        </p:nvSpPr>
        <p:spPr>
          <a:xfrm>
            <a:off x="3694176" y="2359152"/>
            <a:ext cx="137160" cy="1097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04487" y="2276856"/>
            <a:ext cx="2560320" cy="228600"/>
          </a:xfrm>
          <a:prstGeom prst="rect">
            <a:avLst/>
          </a:prstGeom>
          <a:noFill/>
        </p:spPr>
        <p:txBody>
          <a:bodyPr wrap="square" lIns="13716" rIns="13716" tIns="13716" bIns="13716">
            <a:spAutoFit/>
          </a:bodyPr>
          <a:lstStyle/>
          <a:p>
            <a:pPr>
              <a:spcBef>
                <a:spcPts val="0"/>
              </a:spcBef>
              <a:spcAft>
                <a:spcPts val="500"/>
              </a:spcAft>
              <a:defRPr sz="1100" b="0">
                <a:solidFill>
                  <a:srgbClr val="172941"/>
                </a:solidFill>
                <a:latin typeface="Arial"/>
              </a:defRPr>
            </a:pPr>
            <a:r>
              <a:t>P/D: write, TP4 + TP4</a:t>
            </a:r>
          </a:p>
        </p:txBody>
      </p:sp>
      <p:sp>
        <p:nvSpPr>
          <p:cNvPr id="33" name="TextBox 32"/>
          <p:cNvSpPr txBox="1"/>
          <p:nvPr/>
        </p:nvSpPr>
        <p:spPr>
          <a:xfrm>
            <a:off x="7114032" y="2395728"/>
            <a:ext cx="4507992" cy="640080"/>
          </a:xfrm>
          <a:prstGeom prst="rect">
            <a:avLst/>
          </a:prstGeom>
          <a:noFill/>
        </p:spPr>
        <p:txBody>
          <a:bodyPr wrap="square" lIns="13716" rIns="13716" tIns="13716" bIns="13716">
            <a:spAutoFit/>
          </a:bodyPr>
          <a:lstStyle/>
          <a:p>
            <a:pPr>
              <a:spcBef>
                <a:spcPts val="0"/>
              </a:spcBef>
              <a:spcAft>
                <a:spcPts val="500"/>
              </a:spcAft>
              <a:defRPr sz="2300" b="1">
                <a:solidFill>
                  <a:srgbClr val="AE641A"/>
                </a:solidFill>
                <a:latin typeface="Arial"/>
              </a:defRPr>
            </a:pPr>
            <a:r>
              <a:t>First token is slower here.</a:t>
            </a:r>
          </a:p>
        </p:txBody>
      </p:sp>
      <p:sp>
        <p:nvSpPr>
          <p:cNvPr id="34" name="TextBox 33"/>
          <p:cNvSpPr txBox="1"/>
          <p:nvPr/>
        </p:nvSpPr>
        <p:spPr>
          <a:xfrm>
            <a:off x="7114032" y="3255264"/>
            <a:ext cx="4434840" cy="987552"/>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Long prompts + concurrency can</a:t>
            </a:r>
          </a:p>
          <a:p>
            <a:pPr>
              <a:spcBef>
                <a:spcPts val="0"/>
              </a:spcBef>
              <a:spcAft>
                <a:spcPts val="500"/>
              </a:spcAft>
              <a:defRPr sz="1700" b="0">
                <a:solidFill>
                  <a:srgbClr val="172941"/>
                </a:solidFill>
                <a:latin typeface="Arial"/>
              </a:defRPr>
            </a:pPr>
            <a:r>
              <a:t>make decode isolation valuable.</a:t>
            </a:r>
          </a:p>
          <a:p>
            <a:pPr>
              <a:spcBef>
                <a:spcPts val="0"/>
              </a:spcBef>
              <a:spcAft>
                <a:spcPts val="500"/>
              </a:spcAft>
              <a:defRPr sz="1700" b="0">
                <a:solidFill>
                  <a:srgbClr val="172941"/>
                </a:solidFill>
                <a:latin typeface="Arial"/>
              </a:defRPr>
            </a:pPr>
            <a:r>
              <a:t>That does not imply lower TTFT.</a:t>
            </a:r>
          </a:p>
        </p:txBody>
      </p:sp>
      <p:sp>
        <p:nvSpPr>
          <p:cNvPr id="35" name="TextBox 34"/>
          <p:cNvSpPr txBox="1"/>
          <p:nvPr/>
        </p:nvSpPr>
        <p:spPr>
          <a:xfrm>
            <a:off x="7114032" y="4654296"/>
            <a:ext cx="4434840" cy="768096"/>
          </a:xfrm>
          <a:prstGeom prst="rect">
            <a:avLst/>
          </a:prstGeom>
          <a:noFill/>
        </p:spPr>
        <p:txBody>
          <a:bodyPr wrap="square" lIns="13716" rIns="13716" tIns="13716" bIns="13716">
            <a:spAutoFit/>
          </a:bodyPr>
          <a:lstStyle/>
          <a:p>
            <a:pPr>
              <a:spcBef>
                <a:spcPts val="0"/>
              </a:spcBef>
              <a:spcAft>
                <a:spcPts val="500"/>
              </a:spcAft>
              <a:defRPr sz="1500" b="0">
                <a:solidFill>
                  <a:srgbClr val="586A80"/>
                </a:solidFill>
                <a:latin typeface="Arial"/>
              </a:defRPr>
            </a:pPr>
            <a:r>
              <a:t>No prompt-length sweep was published.</a:t>
            </a:r>
          </a:p>
          <a:p>
            <a:pPr>
              <a:spcBef>
                <a:spcPts val="0"/>
              </a:spcBef>
              <a:spcAft>
                <a:spcPts val="500"/>
              </a:spcAft>
              <a:defRPr sz="1500" b="0">
                <a:solidFill>
                  <a:srgbClr val="586A80"/>
                </a:solidFill>
                <a:latin typeface="Arial"/>
              </a:defRPr>
            </a:pPr>
            <a:r>
              <a:t>Do not infer which prompts gain most.</a:t>
            </a:r>
          </a:p>
        </p:txBody>
      </p:sp>
      <p:sp>
        <p:nvSpPr>
          <p:cNvPr id="36" name="TextBox 35"/>
          <p:cNvSpPr txBox="1"/>
          <p:nvPr/>
        </p:nvSpPr>
        <p:spPr>
          <a:xfrm>
            <a:off x="594360" y="5568696"/>
            <a:ext cx="10881360" cy="164592"/>
          </a:xfrm>
          <a:prstGeom prst="rect">
            <a:avLst/>
          </a:prstGeom>
          <a:noFill/>
        </p:spPr>
        <p:txBody>
          <a:bodyPr wrap="square" lIns="13716" rIns="13716" tIns="13716" bIns="13716">
            <a:spAutoFit/>
          </a:bodyPr>
          <a:lstStyle/>
          <a:p>
            <a:pPr>
              <a:spcBef>
                <a:spcPts val="0"/>
              </a:spcBef>
              <a:spcAft>
                <a:spcPts val="500"/>
              </a:spcAft>
              <a:defRPr sz="900" b="0">
                <a:solidFill>
                  <a:srgbClr val="586A80"/>
                </a:solidFill>
                <a:latin typeface="Arial"/>
              </a:defRPr>
            </a:pPr>
            <a:r>
              <a:t>Source: vLLM blog (Apr 7, 2026), Figure 3 data. Median / nearest-rank p95 computed from 100 requests; see notes.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Public benchmark — SLO attainment</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Evaluation results: useful throughput under load</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External vLLM / MORI-IO study • Qwen3-235B-A22B-FP8 • one 8× MI300X node • 2K input / 1K output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Two phases, one pool: removing decode interference improves SLO attainment—not every latency metric.</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43 / 56</a:t>
            </a:r>
          </a:p>
        </p:txBody>
      </p:sp>
      <p:pic>
        <p:nvPicPr>
          <p:cNvPr id="10" name="Picture 9" descr="moriio-slo-attainment.png"/>
          <p:cNvPicPr>
            <a:picLocks noChangeAspect="1"/>
          </p:cNvPicPr>
          <p:nvPr/>
        </p:nvPicPr>
        <p:blipFill>
          <a:blip r:embed="rId2"/>
          <a:stretch>
            <a:fillRect/>
          </a:stretch>
        </p:blipFill>
        <p:spPr>
          <a:xfrm>
            <a:off x="502920" y="1947672"/>
            <a:ext cx="6089904" cy="3666763"/>
          </a:xfrm>
          <a:prstGeom prst="rect">
            <a:avLst/>
          </a:prstGeom>
        </p:spPr>
      </p:pic>
      <p:sp>
        <p:nvSpPr>
          <p:cNvPr id="11" name="Rounded Rectangle 10"/>
          <p:cNvSpPr/>
          <p:nvPr/>
        </p:nvSpPr>
        <p:spPr>
          <a:xfrm>
            <a:off x="5093208" y="2148840"/>
            <a:ext cx="557784" cy="2569464"/>
          </a:xfrm>
          <a:prstGeom prst="roundRect">
            <a:avLst>
              <a:gd name="adj" fmla="val 10000"/>
            </a:avLst>
          </a:prstGeom>
          <a:noFill/>
          <a:ln w="12700">
            <a:solidFill>
              <a:srgbClr val="AE6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22592" y="2176272"/>
            <a:ext cx="4535424" cy="393192"/>
          </a:xfrm>
          <a:prstGeom prst="rect">
            <a:avLst/>
          </a:prstGeom>
          <a:noFill/>
        </p:spPr>
        <p:txBody>
          <a:bodyPr wrap="square" lIns="13716" rIns="13716" tIns="13716" bIns="13716">
            <a:spAutoFit/>
          </a:bodyPr>
          <a:lstStyle/>
          <a:p>
            <a:pPr>
              <a:spcBef>
                <a:spcPts val="0"/>
              </a:spcBef>
              <a:spcAft>
                <a:spcPts val="500"/>
              </a:spcAft>
              <a:defRPr sz="1400" b="1">
                <a:solidFill>
                  <a:srgbClr val="AE641A"/>
                </a:solidFill>
                <a:latin typeface="Arial"/>
              </a:defRPr>
            </a:pPr>
            <a:r>
              <a:t>Focus: 8 offered req/s</a:t>
            </a:r>
          </a:p>
        </p:txBody>
      </p:sp>
      <p:sp>
        <p:nvSpPr>
          <p:cNvPr id="13" name="TextBox 12"/>
          <p:cNvSpPr txBox="1"/>
          <p:nvPr/>
        </p:nvSpPr>
        <p:spPr>
          <a:xfrm>
            <a:off x="7022592" y="2779776"/>
            <a:ext cx="4535424" cy="621792"/>
          </a:xfrm>
          <a:prstGeom prst="rect">
            <a:avLst/>
          </a:prstGeom>
          <a:noFill/>
        </p:spPr>
        <p:txBody>
          <a:bodyPr wrap="square" lIns="13716" rIns="13716" tIns="13716" bIns="13716">
            <a:spAutoFit/>
          </a:bodyPr>
          <a:lstStyle/>
          <a:p>
            <a:pPr>
              <a:spcBef>
                <a:spcPts val="0"/>
              </a:spcBef>
              <a:spcAft>
                <a:spcPts val="500"/>
              </a:spcAft>
              <a:defRPr sz="3200" b="1">
                <a:solidFill>
                  <a:srgbClr val="087F8C"/>
                </a:solidFill>
                <a:latin typeface="Arial"/>
              </a:defRPr>
            </a:pPr>
            <a:r>
              <a:t>29% → 73%</a:t>
            </a:r>
          </a:p>
        </p:txBody>
      </p:sp>
      <p:sp>
        <p:nvSpPr>
          <p:cNvPr id="14" name="TextBox 13"/>
          <p:cNvSpPr txBox="1"/>
          <p:nvPr/>
        </p:nvSpPr>
        <p:spPr>
          <a:xfrm>
            <a:off x="7022592" y="3575304"/>
            <a:ext cx="4535424" cy="877824"/>
          </a:xfrm>
          <a:prstGeom prst="rect">
            <a:avLst/>
          </a:prstGeom>
          <a:noFill/>
        </p:spPr>
        <p:txBody>
          <a:bodyPr wrap="square" lIns="13716" rIns="13716" tIns="13716" bIns="13716">
            <a:spAutoFit/>
          </a:bodyPr>
          <a:lstStyle/>
          <a:p>
            <a:pPr>
              <a:spcBef>
                <a:spcPts val="0"/>
              </a:spcBef>
              <a:spcAft>
                <a:spcPts val="500"/>
              </a:spcAft>
              <a:defRPr sz="1600" b="0">
                <a:solidFill>
                  <a:srgbClr val="172941"/>
                </a:solidFill>
                <a:latin typeface="Arial"/>
              </a:defRPr>
            </a:pPr>
            <a:r>
              <a:t>Joint SLO passes at this load</a:t>
            </a:r>
          </a:p>
          <a:p>
            <a:pPr>
              <a:spcBef>
                <a:spcPts val="0"/>
              </a:spcBef>
              <a:spcAft>
                <a:spcPts val="500"/>
              </a:spcAft>
              <a:defRPr sz="1600" b="0">
                <a:solidFill>
                  <a:srgbClr val="172941"/>
                </a:solidFill>
                <a:latin typeface="Arial"/>
              </a:defRPr>
            </a:pPr>
            <a:r>
              <a:t>Colocated 2× TP4 → P/D write</a:t>
            </a:r>
          </a:p>
          <a:p>
            <a:pPr>
              <a:spcBef>
                <a:spcPts val="0"/>
              </a:spcBef>
              <a:spcAft>
                <a:spcPts val="500"/>
              </a:spcAft>
              <a:defRPr sz="1600" b="0">
                <a:solidFill>
                  <a:srgbClr val="172941"/>
                </a:solidFill>
                <a:latin typeface="Arial"/>
              </a:defRPr>
            </a:pPr>
            <a:r>
              <a:t>TTFT ≤1 s and ITL ≤50 ms</a:t>
            </a:r>
          </a:p>
        </p:txBody>
      </p:sp>
      <p:sp>
        <p:nvSpPr>
          <p:cNvPr id="15" name="TextBox 14"/>
          <p:cNvSpPr txBox="1"/>
          <p:nvPr/>
        </p:nvSpPr>
        <p:spPr>
          <a:xfrm>
            <a:off x="7022592" y="4736592"/>
            <a:ext cx="4535424" cy="813816"/>
          </a:xfrm>
          <a:prstGeom prst="rect">
            <a:avLst/>
          </a:prstGeom>
          <a:noFill/>
        </p:spPr>
        <p:txBody>
          <a:bodyPr wrap="square" lIns="13716" rIns="13716" tIns="13716" bIns="13716">
            <a:spAutoFit/>
          </a:bodyPr>
          <a:lstStyle/>
          <a:p>
            <a:pPr>
              <a:spcBef>
                <a:spcPts val="0"/>
              </a:spcBef>
              <a:spcAft>
                <a:spcPts val="500"/>
              </a:spcAft>
              <a:defRPr sz="1400" b="0">
                <a:solidFill>
                  <a:srgbClr val="586A80"/>
                </a:solidFill>
                <a:latin typeface="Arial"/>
              </a:defRPr>
            </a:pPr>
            <a:r>
              <a:t>Concurrent P/D phases; fixed 2K/1K.</a:t>
            </a:r>
          </a:p>
          <a:p>
            <a:pPr>
              <a:spcBef>
                <a:spcPts val="0"/>
              </a:spcBef>
              <a:spcAft>
                <a:spcPts val="500"/>
              </a:spcAft>
              <a:defRPr sz="1400" b="0">
                <a:solidFill>
                  <a:srgbClr val="586A80"/>
                </a:solidFill>
                <a:latin typeface="Arial"/>
              </a:defRPr>
            </a:pPr>
            <a:r>
              <a:t>Not a heterogeneous traffic benchmark</a:t>
            </a:r>
          </a:p>
          <a:p>
            <a:pPr>
              <a:spcBef>
                <a:spcPts val="0"/>
              </a:spcBef>
              <a:spcAft>
                <a:spcPts val="500"/>
              </a:spcAft>
              <a:defRPr sz="1400" b="0">
                <a:solidFill>
                  <a:srgbClr val="586A80"/>
                </a:solidFill>
                <a:latin typeface="Arial"/>
              </a:defRPr>
            </a:pPr>
            <a:r>
              <a:t>or an absolute tokens/s result.</a:t>
            </a:r>
          </a:p>
        </p:txBody>
      </p:sp>
      <p:sp>
        <p:nvSpPr>
          <p:cNvPr id="16" name="TextBox 15"/>
          <p:cNvSpPr txBox="1"/>
          <p:nvPr/>
        </p:nvSpPr>
        <p:spPr>
          <a:xfrm>
            <a:off x="594360" y="5568696"/>
            <a:ext cx="10881360" cy="164592"/>
          </a:xfrm>
          <a:prstGeom prst="rect">
            <a:avLst/>
          </a:prstGeom>
          <a:noFill/>
        </p:spPr>
        <p:txBody>
          <a:bodyPr wrap="square" lIns="13716" rIns="13716" tIns="13716" bIns="13716">
            <a:spAutoFit/>
          </a:bodyPr>
          <a:lstStyle/>
          <a:p>
            <a:pPr>
              <a:spcBef>
                <a:spcPts val="0"/>
              </a:spcBef>
              <a:spcAft>
                <a:spcPts val="500"/>
              </a:spcAft>
              <a:defRPr sz="900" b="0">
                <a:solidFill>
                  <a:srgbClr val="586A80"/>
                </a:solidFill>
                <a:latin typeface="Arial"/>
              </a:defRPr>
            </a:pPr>
            <a:r>
              <a:t>Source: vLLM blog Figure 4, reproduced with attribution; highlighted region at 8 req/s. Callout uses pinned Figure 3 arrays.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05 / Public benchmark — efficiency proxy</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Evaluation results: more SLO passes per GPU</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External vLLM / MORI-IO study • Qwen3-235B-A22B-FP8 • one 8× MI300X node • 2K input / 1K output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More useful work on the same eight GPUs—not measured GPU utilization or proof that fewer GPUs suffice.</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44 / 56</a:t>
            </a:r>
          </a:p>
        </p:txBody>
      </p:sp>
      <p:sp>
        <p:nvSpPr>
          <p:cNvPr id="10" name="TextBox 9"/>
          <p:cNvSpPr txBox="1"/>
          <p:nvPr/>
        </p:nvSpPr>
        <p:spPr>
          <a:xfrm>
            <a:off x="603504" y="2057400"/>
            <a:ext cx="5952744" cy="347472"/>
          </a:xfrm>
          <a:prstGeom prst="rect">
            <a:avLst/>
          </a:prstGeom>
          <a:noFill/>
        </p:spPr>
        <p:txBody>
          <a:bodyPr wrap="square" lIns="13716" rIns="13716" tIns="13716" bIns="13716">
            <a:spAutoFit/>
          </a:bodyPr>
          <a:lstStyle/>
          <a:p>
            <a:pPr>
              <a:spcBef>
                <a:spcPts val="0"/>
              </a:spcBef>
              <a:spcAft>
                <a:spcPts val="500"/>
              </a:spcAft>
              <a:defRPr sz="1400" b="1">
                <a:solidFill>
                  <a:srgbClr val="2563EB"/>
                </a:solidFill>
                <a:latin typeface="Arial"/>
              </a:defRPr>
            </a:pPr>
            <a:r>
              <a:t>Normalized SLO passes / GPU</a:t>
            </a:r>
          </a:p>
        </p:txBody>
      </p:sp>
      <p:sp>
        <p:nvSpPr>
          <p:cNvPr id="11" name="TextBox 10"/>
          <p:cNvSpPr txBox="1"/>
          <p:nvPr/>
        </p:nvSpPr>
        <p:spPr>
          <a:xfrm>
            <a:off x="603504" y="2871216"/>
            <a:ext cx="1600200" cy="338328"/>
          </a:xfrm>
          <a:prstGeom prst="rect">
            <a:avLst/>
          </a:prstGeom>
          <a:noFill/>
        </p:spPr>
        <p:txBody>
          <a:bodyPr wrap="square" lIns="13716" rIns="13716" tIns="13716" bIns="13716">
            <a:spAutoFit/>
          </a:bodyPr>
          <a:lstStyle/>
          <a:p>
            <a:pPr>
              <a:spcBef>
                <a:spcPts val="0"/>
              </a:spcBef>
              <a:spcAft>
                <a:spcPts val="500"/>
              </a:spcAft>
              <a:defRPr sz="1600" b="1">
                <a:solidFill>
                  <a:srgbClr val="172941"/>
                </a:solidFill>
                <a:latin typeface="Arial"/>
              </a:defRPr>
            </a:pPr>
            <a:r>
              <a:t>Colocated</a:t>
            </a:r>
          </a:p>
        </p:txBody>
      </p:sp>
      <p:sp>
        <p:nvSpPr>
          <p:cNvPr id="12" name="Rectangle 11"/>
          <p:cNvSpPr/>
          <p:nvPr/>
        </p:nvSpPr>
        <p:spPr>
          <a:xfrm>
            <a:off x="2322576" y="2889504"/>
            <a:ext cx="1460284" cy="44805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1732" y="2880360"/>
            <a:ext cx="832104" cy="429768"/>
          </a:xfrm>
          <a:prstGeom prst="rect">
            <a:avLst/>
          </a:prstGeom>
          <a:noFill/>
        </p:spPr>
        <p:txBody>
          <a:bodyPr wrap="square" lIns="13716" rIns="13716" tIns="13716" bIns="13716">
            <a:spAutoFit/>
          </a:bodyPr>
          <a:lstStyle/>
          <a:p>
            <a:pPr>
              <a:spcBef>
                <a:spcPts val="0"/>
              </a:spcBef>
              <a:spcAft>
                <a:spcPts val="500"/>
              </a:spcAft>
              <a:defRPr sz="1800" b="1">
                <a:solidFill>
                  <a:srgbClr val="2563EB"/>
                </a:solidFill>
                <a:latin typeface="Arial"/>
              </a:defRPr>
            </a:pPr>
            <a:r>
              <a:t>1.00×</a:t>
            </a:r>
          </a:p>
        </p:txBody>
      </p:sp>
      <p:sp>
        <p:nvSpPr>
          <p:cNvPr id="14" name="TextBox 13"/>
          <p:cNvSpPr txBox="1"/>
          <p:nvPr/>
        </p:nvSpPr>
        <p:spPr>
          <a:xfrm>
            <a:off x="603504" y="3977640"/>
            <a:ext cx="1600200" cy="338328"/>
          </a:xfrm>
          <a:prstGeom prst="rect">
            <a:avLst/>
          </a:prstGeom>
          <a:noFill/>
        </p:spPr>
        <p:txBody>
          <a:bodyPr wrap="square" lIns="13716" rIns="13716" tIns="13716" bIns="13716">
            <a:spAutoFit/>
          </a:bodyPr>
          <a:lstStyle/>
          <a:p>
            <a:pPr>
              <a:spcBef>
                <a:spcPts val="0"/>
              </a:spcBef>
              <a:spcAft>
                <a:spcPts val="500"/>
              </a:spcAft>
              <a:defRPr sz="1600" b="1">
                <a:solidFill>
                  <a:srgbClr val="172941"/>
                </a:solidFill>
                <a:latin typeface="Arial"/>
              </a:defRPr>
            </a:pPr>
            <a:r>
              <a:t>P/D write</a:t>
            </a:r>
          </a:p>
        </p:txBody>
      </p:sp>
      <p:sp>
        <p:nvSpPr>
          <p:cNvPr id="15" name="Rectangle 14"/>
          <p:cNvSpPr/>
          <p:nvPr/>
        </p:nvSpPr>
        <p:spPr>
          <a:xfrm>
            <a:off x="2322576" y="3995928"/>
            <a:ext cx="3675887" cy="4480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17336" y="3986784"/>
            <a:ext cx="832104" cy="429768"/>
          </a:xfrm>
          <a:prstGeom prst="rect">
            <a:avLst/>
          </a:prstGeom>
          <a:noFill/>
        </p:spPr>
        <p:txBody>
          <a:bodyPr wrap="square" lIns="13716" rIns="13716" tIns="13716" bIns="13716">
            <a:spAutoFit/>
          </a:bodyPr>
          <a:lstStyle/>
          <a:p>
            <a:pPr>
              <a:spcBef>
                <a:spcPts val="0"/>
              </a:spcBef>
              <a:spcAft>
                <a:spcPts val="500"/>
              </a:spcAft>
              <a:defRPr sz="1800" b="1">
                <a:solidFill>
                  <a:srgbClr val="087F8C"/>
                </a:solidFill>
                <a:latin typeface="Arial"/>
              </a:defRPr>
            </a:pPr>
            <a:r>
              <a:t>2.52×</a:t>
            </a:r>
          </a:p>
        </p:txBody>
      </p:sp>
      <p:sp>
        <p:nvSpPr>
          <p:cNvPr id="17" name="TextBox 16"/>
          <p:cNvSpPr txBox="1"/>
          <p:nvPr/>
        </p:nvSpPr>
        <p:spPr>
          <a:xfrm>
            <a:off x="603504" y="4937760"/>
            <a:ext cx="5952744" cy="512064"/>
          </a:xfrm>
          <a:prstGeom prst="rect">
            <a:avLst/>
          </a:prstGeom>
          <a:noFill/>
        </p:spPr>
        <p:txBody>
          <a:bodyPr wrap="square" lIns="13716" rIns="13716" tIns="13716" bIns="13716">
            <a:spAutoFit/>
          </a:bodyPr>
          <a:lstStyle/>
          <a:p>
            <a:pPr>
              <a:spcBef>
                <a:spcPts val="0"/>
              </a:spcBef>
              <a:spcAft>
                <a:spcPts val="500"/>
              </a:spcAft>
              <a:defRPr sz="1300" b="0">
                <a:solidFill>
                  <a:srgbClr val="586A80"/>
                </a:solidFill>
                <a:latin typeface="Arial"/>
              </a:defRPr>
            </a:pPr>
            <a:r>
              <a:t>Same 100-request workload and 8-GPU budget.</a:t>
            </a:r>
          </a:p>
          <a:p>
            <a:pPr>
              <a:spcBef>
                <a:spcPts val="0"/>
              </a:spcBef>
              <a:spcAft>
                <a:spcPts val="500"/>
              </a:spcAft>
              <a:defRPr sz="1300" b="0">
                <a:solidFill>
                  <a:srgbClr val="586A80"/>
                </a:solidFill>
                <a:latin typeface="Arial"/>
              </a:defRPr>
            </a:pPr>
            <a:r>
              <a:t>A comparison-specific efficiency proxy, not sustained capacity.</a:t>
            </a:r>
          </a:p>
        </p:txBody>
      </p:sp>
      <p:sp>
        <p:nvSpPr>
          <p:cNvPr id="18" name="Rectangle 17"/>
          <p:cNvSpPr/>
          <p:nvPr/>
        </p:nvSpPr>
        <p:spPr>
          <a:xfrm>
            <a:off x="7123176" y="2167128"/>
            <a:ext cx="1961388" cy="72694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2286000"/>
            <a:ext cx="1764792" cy="566927"/>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Measure</a:t>
            </a:r>
          </a:p>
        </p:txBody>
      </p:sp>
      <p:sp>
        <p:nvSpPr>
          <p:cNvPr id="20" name="Rectangle 19"/>
          <p:cNvSpPr/>
          <p:nvPr/>
        </p:nvSpPr>
        <p:spPr>
          <a:xfrm>
            <a:off x="9107424" y="2167128"/>
            <a:ext cx="1074420" cy="72694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2286000"/>
            <a:ext cx="877824" cy="566927"/>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2× TP4</a:t>
            </a:r>
          </a:p>
        </p:txBody>
      </p:sp>
      <p:sp>
        <p:nvSpPr>
          <p:cNvPr id="22" name="Rectangle 21"/>
          <p:cNvSpPr/>
          <p:nvPr/>
        </p:nvSpPr>
        <p:spPr>
          <a:xfrm>
            <a:off x="10204704" y="2167128"/>
            <a:ext cx="964692" cy="72694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4432" y="2286000"/>
            <a:ext cx="768096" cy="566927"/>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P/D</a:t>
            </a:r>
          </a:p>
        </p:txBody>
      </p:sp>
      <p:sp>
        <p:nvSpPr>
          <p:cNvPr id="24" name="Rectangle 23"/>
          <p:cNvSpPr/>
          <p:nvPr/>
        </p:nvSpPr>
        <p:spPr>
          <a:xfrm>
            <a:off x="7123176" y="2916936"/>
            <a:ext cx="1961388"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4" y="3035808"/>
            <a:ext cx="1764792" cy="566927"/>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Total GPUs</a:t>
            </a:r>
          </a:p>
        </p:txBody>
      </p:sp>
      <p:sp>
        <p:nvSpPr>
          <p:cNvPr id="26" name="Rectangle 25"/>
          <p:cNvSpPr/>
          <p:nvPr/>
        </p:nvSpPr>
        <p:spPr>
          <a:xfrm>
            <a:off x="9107424" y="2916936"/>
            <a:ext cx="1074420"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3035808"/>
            <a:ext cx="877824"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8</a:t>
            </a:r>
          </a:p>
        </p:txBody>
      </p:sp>
      <p:sp>
        <p:nvSpPr>
          <p:cNvPr id="28" name="Rectangle 27"/>
          <p:cNvSpPr/>
          <p:nvPr/>
        </p:nvSpPr>
        <p:spPr>
          <a:xfrm>
            <a:off x="10204704" y="2916936"/>
            <a:ext cx="964692"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14432" y="3035808"/>
            <a:ext cx="768096"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8</a:t>
            </a:r>
          </a:p>
        </p:txBody>
      </p:sp>
      <p:sp>
        <p:nvSpPr>
          <p:cNvPr id="30" name="Rectangle 29"/>
          <p:cNvSpPr/>
          <p:nvPr/>
        </p:nvSpPr>
        <p:spPr>
          <a:xfrm>
            <a:off x="7123176" y="3666744"/>
            <a:ext cx="1961388" cy="72694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32904" y="3785615"/>
            <a:ext cx="1764792" cy="566927"/>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Joint SLO passes</a:t>
            </a:r>
          </a:p>
        </p:txBody>
      </p:sp>
      <p:sp>
        <p:nvSpPr>
          <p:cNvPr id="32" name="Rectangle 31"/>
          <p:cNvSpPr/>
          <p:nvPr/>
        </p:nvSpPr>
        <p:spPr>
          <a:xfrm>
            <a:off x="9107424" y="3666744"/>
            <a:ext cx="1074420" cy="72694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17152" y="3785615"/>
            <a:ext cx="877824"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29 / 100</a:t>
            </a:r>
          </a:p>
        </p:txBody>
      </p:sp>
      <p:sp>
        <p:nvSpPr>
          <p:cNvPr id="34" name="Rectangle 33"/>
          <p:cNvSpPr/>
          <p:nvPr/>
        </p:nvSpPr>
        <p:spPr>
          <a:xfrm>
            <a:off x="10204704" y="3666744"/>
            <a:ext cx="964692" cy="72694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4432" y="3785615"/>
            <a:ext cx="768096"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73 / 100</a:t>
            </a:r>
          </a:p>
        </p:txBody>
      </p:sp>
      <p:sp>
        <p:nvSpPr>
          <p:cNvPr id="36" name="Rectangle 35"/>
          <p:cNvSpPr/>
          <p:nvPr/>
        </p:nvSpPr>
        <p:spPr>
          <a:xfrm>
            <a:off x="7123176" y="4416552"/>
            <a:ext cx="1961388"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2904" y="4535424"/>
            <a:ext cx="1764792" cy="566927"/>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SLO passes / GPU</a:t>
            </a:r>
          </a:p>
        </p:txBody>
      </p:sp>
      <p:sp>
        <p:nvSpPr>
          <p:cNvPr id="38" name="Rectangle 37"/>
          <p:cNvSpPr/>
          <p:nvPr/>
        </p:nvSpPr>
        <p:spPr>
          <a:xfrm>
            <a:off x="9107424" y="4416552"/>
            <a:ext cx="1074420"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17152" y="4535424"/>
            <a:ext cx="877824"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3.625</a:t>
            </a:r>
          </a:p>
        </p:txBody>
      </p:sp>
      <p:sp>
        <p:nvSpPr>
          <p:cNvPr id="40" name="Rectangle 39"/>
          <p:cNvSpPr/>
          <p:nvPr/>
        </p:nvSpPr>
        <p:spPr>
          <a:xfrm>
            <a:off x="10204704" y="4416552"/>
            <a:ext cx="964692"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14432" y="4535424"/>
            <a:ext cx="768096" cy="566927"/>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9.125</a:t>
            </a:r>
          </a:p>
        </p:txBody>
      </p:sp>
      <p:sp>
        <p:nvSpPr>
          <p:cNvPr id="42" name="TextBox 41"/>
          <p:cNvSpPr txBox="1"/>
          <p:nvPr/>
        </p:nvSpPr>
        <p:spPr>
          <a:xfrm>
            <a:off x="7123176" y="5230368"/>
            <a:ext cx="4315968" cy="338328"/>
          </a:xfrm>
          <a:prstGeom prst="rect">
            <a:avLst/>
          </a:prstGeom>
          <a:noFill/>
        </p:spPr>
        <p:txBody>
          <a:bodyPr wrap="square" lIns="13716" rIns="13716" tIns="13716" bIns="13716">
            <a:spAutoFit/>
          </a:bodyPr>
          <a:lstStyle/>
          <a:p>
            <a:pPr>
              <a:spcBef>
                <a:spcPts val="0"/>
              </a:spcBef>
              <a:spcAft>
                <a:spcPts val="500"/>
              </a:spcAft>
              <a:defRPr sz="1200" b="0">
                <a:solidFill>
                  <a:srgbClr val="AE641A"/>
                </a:solidFill>
                <a:latin typeface="Arial"/>
              </a:defRPr>
            </a:pPr>
            <a:r>
              <a:t>No GPU savings or utilization claim.</a:t>
            </a:r>
          </a:p>
        </p:txBody>
      </p:sp>
      <p:sp>
        <p:nvSpPr>
          <p:cNvPr id="43" name="TextBox 42"/>
          <p:cNvSpPr txBox="1"/>
          <p:nvPr/>
        </p:nvSpPr>
        <p:spPr>
          <a:xfrm>
            <a:off x="594360" y="5568696"/>
            <a:ext cx="10881360" cy="164592"/>
          </a:xfrm>
          <a:prstGeom prst="rect">
            <a:avLst/>
          </a:prstGeom>
          <a:noFill/>
        </p:spPr>
        <p:txBody>
          <a:bodyPr wrap="square" lIns="13716" rIns="13716" tIns="13716" bIns="13716">
            <a:spAutoFit/>
          </a:bodyPr>
          <a:lstStyle/>
          <a:p>
            <a:pPr>
              <a:spcBef>
                <a:spcPts val="0"/>
              </a:spcBef>
              <a:spcAft>
                <a:spcPts val="500"/>
              </a:spcAft>
              <a:defRPr sz="900" b="0">
                <a:solidFill>
                  <a:srgbClr val="586A80"/>
                </a:solidFill>
                <a:latin typeface="Arial"/>
              </a:defRPr>
            </a:pPr>
            <a:r>
              <a:t>Source: pinned vLLM Figure 3 arrays. Derived proxy = (SLO passes / 8 GPUs), normalized to colocated; not req/s/GPU.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Production lessons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Production lesson #1: KV transfer is a dependency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 healthy inference API does not prove the KV-data path is healthy.</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Measure the transfer path end to end, including cross-node deployments.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45 / 56</a:t>
            </a:r>
          </a:p>
        </p:txBody>
      </p:sp>
      <p:sp>
        <p:nvSpPr>
          <p:cNvPr id="10" name="Rounded Rectangle 9"/>
          <p:cNvSpPr/>
          <p:nvPr/>
        </p:nvSpPr>
        <p:spPr>
          <a:xfrm>
            <a:off x="502920" y="2286000"/>
            <a:ext cx="3063240" cy="11887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377440"/>
            <a:ext cx="50292" cy="1005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404872"/>
            <a:ext cx="2788920" cy="393192"/>
          </a:xfrm>
          <a:prstGeom prst="rect">
            <a:avLst/>
          </a:prstGeom>
          <a:noFill/>
        </p:spPr>
        <p:txBody>
          <a:bodyPr wrap="square" lIns="13716" rIns="13716" tIns="13716" bIns="13716">
            <a:spAutoFit/>
          </a:bodyPr>
          <a:lstStyle/>
          <a:p>
            <a:pPr algn="ctr">
              <a:spcBef>
                <a:spcPts val="0"/>
              </a:spcBef>
              <a:spcAft>
                <a:spcPts val="500"/>
              </a:spcAft>
              <a:defRPr sz="2300" b="1">
                <a:solidFill>
                  <a:srgbClr val="087F8C"/>
                </a:solidFill>
                <a:latin typeface="Arial"/>
              </a:defRPr>
            </a:pPr>
            <a:r>
              <a:t>Prefill memory</a:t>
            </a:r>
          </a:p>
        </p:txBody>
      </p:sp>
      <p:sp>
        <p:nvSpPr>
          <p:cNvPr id="13" name="TextBox 12"/>
          <p:cNvSpPr txBox="1"/>
          <p:nvPr/>
        </p:nvSpPr>
        <p:spPr>
          <a:xfrm>
            <a:off x="649224" y="2843784"/>
            <a:ext cx="2770632" cy="5394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KV source</a:t>
            </a:r>
          </a:p>
        </p:txBody>
      </p:sp>
      <p:sp>
        <p:nvSpPr>
          <p:cNvPr id="14" name="Rounded Rectangle 13"/>
          <p:cNvSpPr/>
          <p:nvPr/>
        </p:nvSpPr>
        <p:spPr>
          <a:xfrm>
            <a:off x="4553712" y="2286000"/>
            <a:ext cx="3063240" cy="11887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53712" y="2377440"/>
            <a:ext cx="50292" cy="1005840"/>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404872"/>
            <a:ext cx="2788920" cy="393192"/>
          </a:xfrm>
          <a:prstGeom prst="rect">
            <a:avLst/>
          </a:prstGeom>
          <a:noFill/>
        </p:spPr>
        <p:txBody>
          <a:bodyPr wrap="square" lIns="13716" rIns="13716" tIns="13716" bIns="13716">
            <a:spAutoFit/>
          </a:bodyPr>
          <a:lstStyle/>
          <a:p>
            <a:pPr algn="ctr">
              <a:spcBef>
                <a:spcPts val="0"/>
              </a:spcBef>
              <a:spcAft>
                <a:spcPts val="500"/>
              </a:spcAft>
              <a:defRPr sz="2100" b="1">
                <a:solidFill>
                  <a:srgbClr val="AE641A"/>
                </a:solidFill>
                <a:latin typeface="Arial"/>
              </a:defRPr>
            </a:pPr>
            <a:r>
              <a:t>Transfer fabric</a:t>
            </a:r>
          </a:p>
        </p:txBody>
      </p:sp>
      <p:sp>
        <p:nvSpPr>
          <p:cNvPr id="17" name="TextBox 16"/>
          <p:cNvSpPr txBox="1"/>
          <p:nvPr/>
        </p:nvSpPr>
        <p:spPr>
          <a:xfrm>
            <a:off x="4700016" y="2843784"/>
            <a:ext cx="2770632" cy="5394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Bandwidth + latency + topology</a:t>
            </a:r>
          </a:p>
        </p:txBody>
      </p:sp>
      <p:sp>
        <p:nvSpPr>
          <p:cNvPr id="18" name="Rounded Rectangle 17"/>
          <p:cNvSpPr/>
          <p:nvPr/>
        </p:nvSpPr>
        <p:spPr>
          <a:xfrm>
            <a:off x="8622792" y="2286000"/>
            <a:ext cx="3063240" cy="118872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22792" y="2377440"/>
            <a:ext cx="50292" cy="100584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59952" y="2404872"/>
            <a:ext cx="2788920" cy="393192"/>
          </a:xfrm>
          <a:prstGeom prst="rect">
            <a:avLst/>
          </a:prstGeom>
          <a:noFill/>
        </p:spPr>
        <p:txBody>
          <a:bodyPr wrap="square" lIns="13716" rIns="13716" tIns="13716" bIns="13716">
            <a:spAutoFit/>
          </a:bodyPr>
          <a:lstStyle/>
          <a:p>
            <a:pPr algn="ctr">
              <a:spcBef>
                <a:spcPts val="0"/>
              </a:spcBef>
              <a:spcAft>
                <a:spcPts val="500"/>
              </a:spcAft>
              <a:defRPr sz="2300" b="1">
                <a:solidFill>
                  <a:srgbClr val="7354B8"/>
                </a:solidFill>
                <a:latin typeface="Arial"/>
              </a:defRPr>
            </a:pPr>
            <a:r>
              <a:t>Decode memory</a:t>
            </a:r>
          </a:p>
        </p:txBody>
      </p:sp>
      <p:sp>
        <p:nvSpPr>
          <p:cNvPr id="21" name="TextBox 20"/>
          <p:cNvSpPr txBox="1"/>
          <p:nvPr/>
        </p:nvSpPr>
        <p:spPr>
          <a:xfrm>
            <a:off x="8769096" y="2843784"/>
            <a:ext cx="2770632" cy="53949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KV destination</a:t>
            </a:r>
          </a:p>
        </p:txBody>
      </p:sp>
      <p:cxnSp>
        <p:nvCxnSpPr>
          <p:cNvPr id="22" name="Connector 21"/>
          <p:cNvCxnSpPr/>
          <p:nvPr/>
        </p:nvCxnSpPr>
        <p:spPr>
          <a:xfrm>
            <a:off x="3566160" y="2880360"/>
            <a:ext cx="987552" cy="0"/>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16952" y="2880360"/>
            <a:ext cx="1005840" cy="0"/>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4133087"/>
            <a:ext cx="3611880" cy="135331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224527"/>
            <a:ext cx="50292" cy="117043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251959"/>
            <a:ext cx="3337560" cy="393192"/>
          </a:xfrm>
          <a:prstGeom prst="rect">
            <a:avLst/>
          </a:prstGeom>
          <a:noFill/>
        </p:spPr>
        <p:txBody>
          <a:bodyPr wrap="square" lIns="13716" rIns="13716" tIns="13716" bIns="13716">
            <a:spAutoFit/>
          </a:bodyPr>
          <a:lstStyle/>
          <a:p>
            <a:pPr algn="ctr">
              <a:spcBef>
                <a:spcPts val="0"/>
              </a:spcBef>
              <a:spcAft>
                <a:spcPts val="500"/>
              </a:spcAft>
              <a:defRPr sz="2000" b="1">
                <a:solidFill>
                  <a:srgbClr val="087F8C"/>
                </a:solidFill>
                <a:latin typeface="Arial"/>
              </a:defRPr>
            </a:pPr>
            <a:r>
              <a:t>Observe</a:t>
            </a:r>
          </a:p>
        </p:txBody>
      </p:sp>
      <p:sp>
        <p:nvSpPr>
          <p:cNvPr id="27" name="TextBox 26"/>
          <p:cNvSpPr txBox="1"/>
          <p:nvPr/>
        </p:nvSpPr>
        <p:spPr>
          <a:xfrm>
            <a:off x="649224" y="4690871"/>
            <a:ext cx="3319272" cy="70408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Transfer duration</a:t>
            </a:r>
          </a:p>
          <a:p>
            <a:pPr algn="ctr">
              <a:spcBef>
                <a:spcPts val="0"/>
              </a:spcBef>
              <a:spcAft>
                <a:spcPts val="500"/>
              </a:spcAft>
              <a:defRPr sz="1400" b="0">
                <a:solidFill>
                  <a:srgbClr val="586A80"/>
                </a:solidFill>
                <a:latin typeface="Arial"/>
              </a:defRPr>
            </a:pPr>
            <a:r>
              <a:t>Errors and retries</a:t>
            </a:r>
          </a:p>
        </p:txBody>
      </p:sp>
      <p:sp>
        <p:nvSpPr>
          <p:cNvPr id="28" name="Rounded Rectangle 27"/>
          <p:cNvSpPr/>
          <p:nvPr/>
        </p:nvSpPr>
        <p:spPr>
          <a:xfrm>
            <a:off x="4288536" y="4133087"/>
            <a:ext cx="3611880" cy="135331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88536" y="4224527"/>
            <a:ext cx="50292" cy="1170432"/>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4251959"/>
            <a:ext cx="3337560" cy="393192"/>
          </a:xfrm>
          <a:prstGeom prst="rect">
            <a:avLst/>
          </a:prstGeom>
          <a:noFill/>
        </p:spPr>
        <p:txBody>
          <a:bodyPr wrap="square" lIns="13716" rIns="13716" tIns="13716" bIns="13716">
            <a:spAutoFit/>
          </a:bodyPr>
          <a:lstStyle/>
          <a:p>
            <a:pPr algn="ctr">
              <a:spcBef>
                <a:spcPts val="0"/>
              </a:spcBef>
              <a:spcAft>
                <a:spcPts val="500"/>
              </a:spcAft>
              <a:defRPr sz="2000" b="1">
                <a:solidFill>
                  <a:srgbClr val="AE641A"/>
                </a:solidFill>
                <a:latin typeface="Arial"/>
              </a:defRPr>
            </a:pPr>
            <a:r>
              <a:t>Validate</a:t>
            </a:r>
          </a:p>
        </p:txBody>
      </p:sp>
      <p:sp>
        <p:nvSpPr>
          <p:cNvPr id="31" name="TextBox 30"/>
          <p:cNvSpPr txBox="1"/>
          <p:nvPr/>
        </p:nvSpPr>
        <p:spPr>
          <a:xfrm>
            <a:off x="4434840" y="4690871"/>
            <a:ext cx="3319272" cy="70408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Node / GPU placement</a:t>
            </a:r>
          </a:p>
          <a:p>
            <a:pPr algn="ctr">
              <a:spcBef>
                <a:spcPts val="0"/>
              </a:spcBef>
              <a:spcAft>
                <a:spcPts val="500"/>
              </a:spcAft>
              <a:defRPr sz="1400" b="0">
                <a:solidFill>
                  <a:srgbClr val="586A80"/>
                </a:solidFill>
                <a:latin typeface="Arial"/>
              </a:defRPr>
            </a:pPr>
            <a:r>
              <a:t>Transport configuration</a:t>
            </a:r>
          </a:p>
        </p:txBody>
      </p:sp>
      <p:sp>
        <p:nvSpPr>
          <p:cNvPr id="32" name="Rounded Rectangle 31"/>
          <p:cNvSpPr/>
          <p:nvPr/>
        </p:nvSpPr>
        <p:spPr>
          <a:xfrm>
            <a:off x="8074152" y="4133087"/>
            <a:ext cx="3611880" cy="135331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74152" y="4224527"/>
            <a:ext cx="50292" cy="117043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4251959"/>
            <a:ext cx="3337560" cy="393192"/>
          </a:xfrm>
          <a:prstGeom prst="rect">
            <a:avLst/>
          </a:prstGeom>
          <a:noFill/>
        </p:spPr>
        <p:txBody>
          <a:bodyPr wrap="square" lIns="13716" rIns="13716" tIns="13716" bIns="13716">
            <a:spAutoFit/>
          </a:bodyPr>
          <a:lstStyle/>
          <a:p>
            <a:pPr algn="ctr">
              <a:spcBef>
                <a:spcPts val="0"/>
              </a:spcBef>
              <a:spcAft>
                <a:spcPts val="500"/>
              </a:spcAft>
              <a:defRPr sz="2000" b="1">
                <a:solidFill>
                  <a:srgbClr val="7354B8"/>
                </a:solidFill>
                <a:latin typeface="Arial"/>
              </a:defRPr>
            </a:pPr>
            <a:r>
              <a:t>Compare</a:t>
            </a:r>
          </a:p>
        </p:txBody>
      </p:sp>
      <p:sp>
        <p:nvSpPr>
          <p:cNvPr id="35" name="TextBox 34"/>
          <p:cNvSpPr txBox="1"/>
          <p:nvPr/>
        </p:nvSpPr>
        <p:spPr>
          <a:xfrm>
            <a:off x="8220456" y="4690871"/>
            <a:ext cx="3319272" cy="704088"/>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Same-node vs cross-node</a:t>
            </a:r>
          </a:p>
          <a:p>
            <a:pPr algn="ctr">
              <a:spcBef>
                <a:spcPts val="0"/>
              </a:spcBef>
              <a:spcAft>
                <a:spcPts val="500"/>
              </a:spcAft>
              <a:defRPr sz="1400" b="0">
                <a:solidFill>
                  <a:srgbClr val="586A80"/>
                </a:solidFill>
                <a:latin typeface="Arial"/>
              </a:defRPr>
            </a:pPr>
            <a:r>
              <a:t>Latency and cost impact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Production lessons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Production lesson #2: readiness is a chain</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A Running pod is only one part of a usable serving path.</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Make routing eligibility depend on the right readiness contracts.</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46 / 56</a:t>
            </a:r>
          </a:p>
        </p:txBody>
      </p:sp>
      <p:sp>
        <p:nvSpPr>
          <p:cNvPr id="10" name="Rounded Rectangle 9"/>
          <p:cNvSpPr/>
          <p:nvPr/>
        </p:nvSpPr>
        <p:spPr>
          <a:xfrm>
            <a:off x="502920" y="2423160"/>
            <a:ext cx="3611880" cy="16184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514600"/>
            <a:ext cx="50292" cy="143560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42032"/>
            <a:ext cx="3337560" cy="393192"/>
          </a:xfrm>
          <a:prstGeom prst="rect">
            <a:avLst/>
          </a:prstGeom>
          <a:noFill/>
        </p:spPr>
        <p:txBody>
          <a:bodyPr wrap="square" lIns="13716" rIns="13716" tIns="13716" bIns="13716">
            <a:spAutoFit/>
          </a:bodyPr>
          <a:lstStyle/>
          <a:p>
            <a:pPr algn="ctr">
              <a:spcBef>
                <a:spcPts val="0"/>
              </a:spcBef>
              <a:spcAft>
                <a:spcPts val="500"/>
              </a:spcAft>
              <a:defRPr sz="2300" b="1">
                <a:solidFill>
                  <a:srgbClr val="087F8C"/>
                </a:solidFill>
                <a:latin typeface="Arial"/>
              </a:defRPr>
            </a:pPr>
            <a:r>
              <a:t>Model ready</a:t>
            </a:r>
          </a:p>
        </p:txBody>
      </p:sp>
      <p:sp>
        <p:nvSpPr>
          <p:cNvPr id="13" name="TextBox 12"/>
          <p:cNvSpPr txBox="1"/>
          <p:nvPr/>
        </p:nvSpPr>
        <p:spPr>
          <a:xfrm>
            <a:off x="649224" y="2980944"/>
            <a:ext cx="3319272" cy="96926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Weights loaded</a:t>
            </a:r>
          </a:p>
          <a:p>
            <a:pPr algn="ctr">
              <a:spcBef>
                <a:spcPts val="0"/>
              </a:spcBef>
              <a:spcAft>
                <a:spcPts val="500"/>
              </a:spcAft>
              <a:defRPr sz="1400" b="0">
                <a:solidFill>
                  <a:srgbClr val="586A80"/>
                </a:solidFill>
                <a:latin typeface="Arial"/>
              </a:defRPr>
            </a:pPr>
            <a:r>
              <a:t>Runtime responsive</a:t>
            </a:r>
          </a:p>
        </p:txBody>
      </p:sp>
      <p:cxnSp>
        <p:nvCxnSpPr>
          <p:cNvPr id="14" name="Connector 13"/>
          <p:cNvCxnSpPr/>
          <p:nvPr/>
        </p:nvCxnSpPr>
        <p:spPr>
          <a:xfrm>
            <a:off x="4114800" y="3236976"/>
            <a:ext cx="173736" cy="0"/>
          </a:xfrm>
          <a:prstGeom prst="line">
            <a:avLst/>
          </a:prstGeom>
          <a:ln w="1905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88536" y="2423160"/>
            <a:ext cx="3611880" cy="16184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514600"/>
            <a:ext cx="50292" cy="1435608"/>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5696" y="2542032"/>
            <a:ext cx="3337560" cy="393192"/>
          </a:xfrm>
          <a:prstGeom prst="rect">
            <a:avLst/>
          </a:prstGeom>
          <a:noFill/>
        </p:spPr>
        <p:txBody>
          <a:bodyPr wrap="square" lIns="13716" rIns="13716" tIns="13716" bIns="13716">
            <a:spAutoFit/>
          </a:bodyPr>
          <a:lstStyle/>
          <a:p>
            <a:pPr algn="ctr">
              <a:spcBef>
                <a:spcPts val="0"/>
              </a:spcBef>
              <a:spcAft>
                <a:spcPts val="500"/>
              </a:spcAft>
              <a:defRPr sz="2300" b="1">
                <a:solidFill>
                  <a:srgbClr val="7354B8"/>
                </a:solidFill>
                <a:latin typeface="Arial"/>
              </a:defRPr>
            </a:pPr>
            <a:r>
              <a:t>Proxy ready</a:t>
            </a:r>
          </a:p>
        </p:txBody>
      </p:sp>
      <p:sp>
        <p:nvSpPr>
          <p:cNvPr id="18" name="TextBox 17"/>
          <p:cNvSpPr txBox="1"/>
          <p:nvPr/>
        </p:nvSpPr>
        <p:spPr>
          <a:xfrm>
            <a:off x="4434840" y="2980944"/>
            <a:ext cx="3319272" cy="96926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Correct local backend</a:t>
            </a:r>
          </a:p>
          <a:p>
            <a:pPr algn="ctr">
              <a:spcBef>
                <a:spcPts val="0"/>
              </a:spcBef>
              <a:spcAft>
                <a:spcPts val="500"/>
              </a:spcAft>
              <a:defRPr sz="1400" b="0">
                <a:solidFill>
                  <a:srgbClr val="586A80"/>
                </a:solidFill>
                <a:latin typeface="Arial"/>
              </a:defRPr>
            </a:pPr>
            <a:r>
              <a:t>Healthy listeners</a:t>
            </a:r>
          </a:p>
        </p:txBody>
      </p:sp>
      <p:cxnSp>
        <p:nvCxnSpPr>
          <p:cNvPr id="19" name="Connector 18"/>
          <p:cNvCxnSpPr/>
          <p:nvPr/>
        </p:nvCxnSpPr>
        <p:spPr>
          <a:xfrm>
            <a:off x="7900416" y="3236976"/>
            <a:ext cx="173735" cy="0"/>
          </a:xfrm>
          <a:prstGeom prst="line">
            <a:avLst/>
          </a:prstGeom>
          <a:ln w="1905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74152" y="2423160"/>
            <a:ext cx="3611880" cy="161848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514600"/>
            <a:ext cx="50292" cy="1435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1312" y="2542032"/>
            <a:ext cx="3337560" cy="393192"/>
          </a:xfrm>
          <a:prstGeom prst="rect">
            <a:avLst/>
          </a:prstGeom>
          <a:noFill/>
        </p:spPr>
        <p:txBody>
          <a:bodyPr wrap="square" lIns="13716" rIns="13716" tIns="13716" bIns="13716">
            <a:spAutoFit/>
          </a:bodyPr>
          <a:lstStyle/>
          <a:p>
            <a:pPr algn="ctr">
              <a:spcBef>
                <a:spcPts val="0"/>
              </a:spcBef>
              <a:spcAft>
                <a:spcPts val="500"/>
              </a:spcAft>
              <a:defRPr sz="2300" b="1">
                <a:solidFill>
                  <a:srgbClr val="2563EB"/>
                </a:solidFill>
                <a:latin typeface="Arial"/>
              </a:defRPr>
            </a:pPr>
            <a:r>
              <a:t>Route ready</a:t>
            </a:r>
          </a:p>
        </p:txBody>
      </p:sp>
      <p:sp>
        <p:nvSpPr>
          <p:cNvPr id="23" name="TextBox 22"/>
          <p:cNvSpPr txBox="1"/>
          <p:nvPr/>
        </p:nvSpPr>
        <p:spPr>
          <a:xfrm>
            <a:off x="8220456" y="2980944"/>
            <a:ext cx="3319272" cy="969264"/>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Labels and endpoints</a:t>
            </a:r>
          </a:p>
          <a:p>
            <a:pPr algn="ctr">
              <a:spcBef>
                <a:spcPts val="0"/>
              </a:spcBef>
              <a:spcAft>
                <a:spcPts val="500"/>
              </a:spcAft>
              <a:defRPr sz="1400" b="0">
                <a:solidFill>
                  <a:srgbClr val="586A80"/>
                </a:solidFill>
                <a:latin typeface="Arial"/>
              </a:defRPr>
            </a:pPr>
            <a:r>
              <a:t>Ports and pool wiring</a:t>
            </a:r>
          </a:p>
        </p:txBody>
      </p:sp>
      <p:sp>
        <p:nvSpPr>
          <p:cNvPr id="24" name="Rounded Rectangle 23"/>
          <p:cNvSpPr/>
          <p:nvPr/>
        </p:nvSpPr>
        <p:spPr>
          <a:xfrm>
            <a:off x="502920" y="4590288"/>
            <a:ext cx="11183112" cy="86868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846320"/>
            <a:ext cx="10725912" cy="411480"/>
          </a:xfrm>
          <a:prstGeom prst="rect">
            <a:avLst/>
          </a:prstGeom>
          <a:noFill/>
        </p:spPr>
        <p:txBody>
          <a:bodyPr wrap="square" lIns="13716" rIns="13716" tIns="13716" bIns="13716">
            <a:spAutoFit/>
          </a:bodyPr>
          <a:lstStyle/>
          <a:p>
            <a:pPr>
              <a:spcBef>
                <a:spcPts val="0"/>
              </a:spcBef>
              <a:spcAft>
                <a:spcPts val="500"/>
              </a:spcAft>
              <a:defRPr sz="1900" b="0">
                <a:solidFill>
                  <a:srgbClr val="586A80"/>
                </a:solidFill>
                <a:latin typeface="Arial"/>
              </a:defRPr>
            </a:pPr>
            <a:r>
              <a:t>Test startup, partial failure, replacement, and rollout—not only the steady state.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Production lessons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Production lesson #3: use role-appropriate signals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One dashboard can show both phases; one scaling signal should not govern both.</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47 / 56</a:t>
            </a:r>
          </a:p>
        </p:txBody>
      </p:sp>
      <p:sp>
        <p:nvSpPr>
          <p:cNvPr id="8" name="Rectangle 7"/>
          <p:cNvSpPr/>
          <p:nvPr/>
        </p:nvSpPr>
        <p:spPr>
          <a:xfrm>
            <a:off x="502920" y="2240280"/>
            <a:ext cx="2025396" cy="754380"/>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359152"/>
            <a:ext cx="1828800" cy="594359"/>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Role</a:t>
            </a:r>
          </a:p>
        </p:txBody>
      </p:sp>
      <p:sp>
        <p:nvSpPr>
          <p:cNvPr id="10" name="Rectangle 9"/>
          <p:cNvSpPr/>
          <p:nvPr/>
        </p:nvSpPr>
        <p:spPr>
          <a:xfrm>
            <a:off x="2551176" y="2240280"/>
            <a:ext cx="3771900" cy="754380"/>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0904" y="2359152"/>
            <a:ext cx="3575304" cy="594359"/>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Useful signals</a:t>
            </a:r>
          </a:p>
        </p:txBody>
      </p:sp>
      <p:sp>
        <p:nvSpPr>
          <p:cNvPr id="12" name="Rectangle 11"/>
          <p:cNvSpPr/>
          <p:nvPr/>
        </p:nvSpPr>
        <p:spPr>
          <a:xfrm>
            <a:off x="6345936" y="2240280"/>
            <a:ext cx="5317236" cy="754380"/>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2359152"/>
            <a:ext cx="5120640" cy="594359"/>
          </a:xfrm>
          <a:prstGeom prst="rect">
            <a:avLst/>
          </a:prstGeom>
          <a:noFill/>
        </p:spPr>
        <p:txBody>
          <a:bodyPr wrap="square" lIns="13716" rIns="13716" tIns="13716" bIns="13716">
            <a:spAutoFit/>
          </a:bodyPr>
          <a:lstStyle/>
          <a:p>
            <a:pPr>
              <a:spcBef>
                <a:spcPts val="0"/>
              </a:spcBef>
              <a:spcAft>
                <a:spcPts val="500"/>
              </a:spcAft>
              <a:defRPr sz="1400" b="1">
                <a:solidFill>
                  <a:srgbClr val="FFFFFF"/>
                </a:solidFill>
                <a:latin typeface="Arial"/>
              </a:defRPr>
            </a:pPr>
            <a:r>
              <a:t>Watch out for</a:t>
            </a:r>
          </a:p>
        </p:txBody>
      </p:sp>
      <p:sp>
        <p:nvSpPr>
          <p:cNvPr id="14" name="Rectangle 13"/>
          <p:cNvSpPr/>
          <p:nvPr/>
        </p:nvSpPr>
        <p:spPr>
          <a:xfrm>
            <a:off x="502920" y="3017520"/>
            <a:ext cx="2025396"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36392"/>
            <a:ext cx="1828800" cy="594359"/>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Prefill</a:t>
            </a:r>
          </a:p>
        </p:txBody>
      </p:sp>
      <p:sp>
        <p:nvSpPr>
          <p:cNvPr id="16" name="Rectangle 15"/>
          <p:cNvSpPr/>
          <p:nvPr/>
        </p:nvSpPr>
        <p:spPr>
          <a:xfrm>
            <a:off x="2551176" y="3017520"/>
            <a:ext cx="37719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0904" y="3136392"/>
            <a:ext cx="3575304"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Queue / prompt pressure</a:t>
            </a:r>
          </a:p>
        </p:txBody>
      </p:sp>
      <p:sp>
        <p:nvSpPr>
          <p:cNvPr id="18" name="Rectangle 17"/>
          <p:cNvSpPr/>
          <p:nvPr/>
        </p:nvSpPr>
        <p:spPr>
          <a:xfrm>
            <a:off x="6345936" y="3017520"/>
            <a:ext cx="5317236"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3136392"/>
            <a:ext cx="5120640"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Averages that hide burst and tail latency</a:t>
            </a:r>
          </a:p>
        </p:txBody>
      </p:sp>
      <p:sp>
        <p:nvSpPr>
          <p:cNvPr id="20" name="Rectangle 19"/>
          <p:cNvSpPr/>
          <p:nvPr/>
        </p:nvSpPr>
        <p:spPr>
          <a:xfrm>
            <a:off x="502920" y="3794760"/>
            <a:ext cx="2025396" cy="754380"/>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913632"/>
            <a:ext cx="1828800" cy="594359"/>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Decode</a:t>
            </a:r>
          </a:p>
        </p:txBody>
      </p:sp>
      <p:sp>
        <p:nvSpPr>
          <p:cNvPr id="22" name="Rectangle 21"/>
          <p:cNvSpPr/>
          <p:nvPr/>
        </p:nvSpPr>
        <p:spPr>
          <a:xfrm>
            <a:off x="2551176" y="3794760"/>
            <a:ext cx="3771900" cy="754380"/>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60904" y="3913632"/>
            <a:ext cx="3575304"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Running load; observe KV usage</a:t>
            </a:r>
          </a:p>
        </p:txBody>
      </p:sp>
      <p:sp>
        <p:nvSpPr>
          <p:cNvPr id="24" name="Rectangle 23"/>
          <p:cNvSpPr/>
          <p:nvPr/>
        </p:nvSpPr>
        <p:spPr>
          <a:xfrm>
            <a:off x="6345936" y="3794760"/>
            <a:ext cx="5317236" cy="754380"/>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3913632"/>
            <a:ext cx="5120640"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Evicting active work during scale-down</a:t>
            </a:r>
          </a:p>
        </p:txBody>
      </p:sp>
      <p:sp>
        <p:nvSpPr>
          <p:cNvPr id="26" name="Rectangle 25"/>
          <p:cNvSpPr/>
          <p:nvPr/>
        </p:nvSpPr>
        <p:spPr>
          <a:xfrm>
            <a:off x="502920" y="4572000"/>
            <a:ext cx="2025396"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4690872"/>
            <a:ext cx="1828800" cy="594359"/>
          </a:xfrm>
          <a:prstGeom prst="rect">
            <a:avLst/>
          </a:prstGeom>
          <a:noFill/>
        </p:spPr>
        <p:txBody>
          <a:bodyPr wrap="square" lIns="13716" rIns="13716" tIns="13716" bIns="13716">
            <a:spAutoFit/>
          </a:bodyPr>
          <a:lstStyle/>
          <a:p>
            <a:pPr>
              <a:spcBef>
                <a:spcPts val="0"/>
              </a:spcBef>
              <a:spcAft>
                <a:spcPts val="500"/>
              </a:spcAft>
              <a:defRPr sz="1500" b="0">
                <a:solidFill>
                  <a:srgbClr val="2563EB"/>
                </a:solidFill>
                <a:latin typeface="Arial"/>
              </a:defRPr>
            </a:pPr>
            <a:r>
              <a:t>Both</a:t>
            </a:r>
          </a:p>
        </p:txBody>
      </p:sp>
      <p:sp>
        <p:nvSpPr>
          <p:cNvPr id="28" name="Rectangle 27"/>
          <p:cNvSpPr/>
          <p:nvPr/>
        </p:nvSpPr>
        <p:spPr>
          <a:xfrm>
            <a:off x="2551176" y="4572000"/>
            <a:ext cx="37719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60904" y="4690872"/>
            <a:ext cx="3575304"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Warm-up + SLO + capacity</a:t>
            </a:r>
          </a:p>
        </p:txBody>
      </p:sp>
      <p:sp>
        <p:nvSpPr>
          <p:cNvPr id="30" name="Rectangle 29"/>
          <p:cNvSpPr/>
          <p:nvPr/>
        </p:nvSpPr>
        <p:spPr>
          <a:xfrm>
            <a:off x="6345936" y="4572000"/>
            <a:ext cx="5317236"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4690872"/>
            <a:ext cx="5120640" cy="594359"/>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Oscillation, slow model load, fabric limits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Tradeoffs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 production decision has four gates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The benchmark is one gate; the operating model is another.</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48 / 56</a:t>
            </a:r>
          </a:p>
        </p:txBody>
      </p:sp>
      <p:sp>
        <p:nvSpPr>
          <p:cNvPr id="8" name="Rounded Rectangle 7"/>
          <p:cNvSpPr/>
          <p:nvPr/>
        </p:nvSpPr>
        <p:spPr>
          <a:xfrm>
            <a:off x="502920" y="2194560"/>
            <a:ext cx="2688336" cy="33101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37744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3288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01</a:t>
            </a:r>
          </a:p>
        </p:txBody>
      </p:sp>
      <p:sp>
        <p:nvSpPr>
          <p:cNvPr id="11" name="TextBox 10"/>
          <p:cNvSpPr txBox="1"/>
          <p:nvPr/>
        </p:nvSpPr>
        <p:spPr>
          <a:xfrm>
            <a:off x="685800" y="2907791"/>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Workload fit</a:t>
            </a:r>
          </a:p>
        </p:txBody>
      </p:sp>
      <p:sp>
        <p:nvSpPr>
          <p:cNvPr id="12" name="TextBox 11"/>
          <p:cNvSpPr txBox="1"/>
          <p:nvPr/>
        </p:nvSpPr>
        <p:spPr>
          <a:xfrm>
            <a:off x="685800" y="3511296"/>
            <a:ext cx="2322576" cy="1847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Do prompt and generation pressure diverge enough?</a:t>
            </a:r>
          </a:p>
        </p:txBody>
      </p:sp>
      <p:sp>
        <p:nvSpPr>
          <p:cNvPr id="13" name="Rounded Rectangle 12"/>
          <p:cNvSpPr/>
          <p:nvPr/>
        </p:nvSpPr>
        <p:spPr>
          <a:xfrm>
            <a:off x="3364991" y="2194560"/>
            <a:ext cx="2688336" cy="33101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9584" y="2377440"/>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53288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AE641A"/>
                </a:solidFill>
                <a:latin typeface="Arial"/>
              </a:defRPr>
            </a:pPr>
            <a:r>
              <a:t>02</a:t>
            </a:r>
          </a:p>
        </p:txBody>
      </p:sp>
      <p:sp>
        <p:nvSpPr>
          <p:cNvPr id="16" name="TextBox 15"/>
          <p:cNvSpPr txBox="1"/>
          <p:nvPr/>
        </p:nvSpPr>
        <p:spPr>
          <a:xfrm>
            <a:off x="3547872" y="2907791"/>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Transfer path</a:t>
            </a:r>
          </a:p>
        </p:txBody>
      </p:sp>
      <p:sp>
        <p:nvSpPr>
          <p:cNvPr id="17" name="TextBox 16"/>
          <p:cNvSpPr txBox="1"/>
          <p:nvPr/>
        </p:nvSpPr>
        <p:spPr>
          <a:xfrm>
            <a:off x="3547872" y="3511296"/>
            <a:ext cx="2322576" cy="1847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Can KV movement stay inside the latency budget?</a:t>
            </a:r>
          </a:p>
        </p:txBody>
      </p:sp>
      <p:sp>
        <p:nvSpPr>
          <p:cNvPr id="18" name="Rounded Rectangle 17"/>
          <p:cNvSpPr/>
          <p:nvPr/>
        </p:nvSpPr>
        <p:spPr>
          <a:xfrm>
            <a:off x="6227064" y="2194560"/>
            <a:ext cx="2688336" cy="33101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91655" y="237744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53288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03</a:t>
            </a:r>
          </a:p>
        </p:txBody>
      </p:sp>
      <p:sp>
        <p:nvSpPr>
          <p:cNvPr id="21" name="TextBox 20"/>
          <p:cNvSpPr txBox="1"/>
          <p:nvPr/>
        </p:nvSpPr>
        <p:spPr>
          <a:xfrm>
            <a:off x="6409944" y="2907791"/>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Operational fit</a:t>
            </a:r>
          </a:p>
        </p:txBody>
      </p:sp>
      <p:sp>
        <p:nvSpPr>
          <p:cNvPr id="22" name="TextBox 21"/>
          <p:cNvSpPr txBox="1"/>
          <p:nvPr/>
        </p:nvSpPr>
        <p:spPr>
          <a:xfrm>
            <a:off x="6409944" y="3511296"/>
            <a:ext cx="2322576" cy="1847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Can the team observe, scale, and debug both roles?</a:t>
            </a:r>
          </a:p>
        </p:txBody>
      </p:sp>
      <p:sp>
        <p:nvSpPr>
          <p:cNvPr id="23" name="Rounded Rectangle 22"/>
          <p:cNvSpPr/>
          <p:nvPr/>
        </p:nvSpPr>
        <p:spPr>
          <a:xfrm>
            <a:off x="9089136" y="2194560"/>
            <a:ext cx="2688336" cy="33101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53728" y="237744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253288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04</a:t>
            </a:r>
          </a:p>
        </p:txBody>
      </p:sp>
      <p:sp>
        <p:nvSpPr>
          <p:cNvPr id="26" name="TextBox 25"/>
          <p:cNvSpPr txBox="1"/>
          <p:nvPr/>
        </p:nvSpPr>
        <p:spPr>
          <a:xfrm>
            <a:off x="9272016" y="2907791"/>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Measured win</a:t>
            </a:r>
          </a:p>
        </p:txBody>
      </p:sp>
      <p:sp>
        <p:nvSpPr>
          <p:cNvPr id="27" name="TextBox 26"/>
          <p:cNvSpPr txBox="1"/>
          <p:nvPr/>
        </p:nvSpPr>
        <p:spPr>
          <a:xfrm>
            <a:off x="9272016" y="3511296"/>
            <a:ext cx="2322576" cy="1847088"/>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Does SLO goodput improve at acceptable total cost?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P/D decision matrix</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When should you use P/D—and when not?</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Two axes matter: how different the roles are, and what the KV-transfer path costs.</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Use P/D when the roles want different capacity and KV transfer does not erase the gain.</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49 / 56</a:t>
            </a:r>
          </a:p>
        </p:txBody>
      </p:sp>
      <p:sp>
        <p:nvSpPr>
          <p:cNvPr id="10" name="TextBox 9"/>
          <p:cNvSpPr txBox="1"/>
          <p:nvPr/>
        </p:nvSpPr>
        <p:spPr>
          <a:xfrm>
            <a:off x="2176272" y="1984248"/>
            <a:ext cx="4434840" cy="292608"/>
          </a:xfrm>
          <a:prstGeom prst="rect">
            <a:avLst/>
          </a:prstGeom>
          <a:noFill/>
        </p:spPr>
        <p:txBody>
          <a:bodyPr wrap="square" lIns="13716" rIns="13716" tIns="13716" bIns="13716">
            <a:spAutoFit/>
          </a:bodyPr>
          <a:lstStyle/>
          <a:p>
            <a:pPr algn="ctr">
              <a:spcBef>
                <a:spcPts val="0"/>
              </a:spcBef>
              <a:spcAft>
                <a:spcPts val="500"/>
              </a:spcAft>
              <a:defRPr sz="1300" b="1">
                <a:solidFill>
                  <a:srgbClr val="AE641A"/>
                </a:solidFill>
                <a:latin typeface="Arial"/>
              </a:defRPr>
            </a:pPr>
            <a:r>
              <a:t>Expensive / weak KV transfer</a:t>
            </a:r>
          </a:p>
        </p:txBody>
      </p:sp>
      <p:sp>
        <p:nvSpPr>
          <p:cNvPr id="11" name="TextBox 10"/>
          <p:cNvSpPr txBox="1"/>
          <p:nvPr/>
        </p:nvSpPr>
        <p:spPr>
          <a:xfrm>
            <a:off x="7031736" y="1984248"/>
            <a:ext cx="4434840" cy="292608"/>
          </a:xfrm>
          <a:prstGeom prst="rect">
            <a:avLst/>
          </a:prstGeom>
          <a:noFill/>
        </p:spPr>
        <p:txBody>
          <a:bodyPr wrap="square" lIns="13716" rIns="13716" tIns="13716" bIns="13716">
            <a:spAutoFit/>
          </a:bodyPr>
          <a:lstStyle/>
          <a:p>
            <a:pPr algn="ctr">
              <a:spcBef>
                <a:spcPts val="0"/>
              </a:spcBef>
              <a:spcAft>
                <a:spcPts val="500"/>
              </a:spcAft>
              <a:defRPr sz="1300" b="1">
                <a:solidFill>
                  <a:srgbClr val="087F8C"/>
                </a:solidFill>
                <a:latin typeface="Arial"/>
              </a:defRPr>
            </a:pPr>
            <a:r>
              <a:t>Cheap / fast enough KV transfer</a:t>
            </a:r>
          </a:p>
        </p:txBody>
      </p:sp>
      <p:sp>
        <p:nvSpPr>
          <p:cNvPr id="12" name="TextBox 11"/>
          <p:cNvSpPr txBox="1"/>
          <p:nvPr/>
        </p:nvSpPr>
        <p:spPr>
          <a:xfrm>
            <a:off x="502920" y="2651760"/>
            <a:ext cx="1417320" cy="841248"/>
          </a:xfrm>
          <a:prstGeom prst="rect">
            <a:avLst/>
          </a:prstGeom>
          <a:noFill/>
        </p:spPr>
        <p:txBody>
          <a:bodyPr wrap="square" lIns="13716" rIns="13716" tIns="13716" bIns="13716">
            <a:spAutoFit/>
          </a:bodyPr>
          <a:lstStyle/>
          <a:p>
            <a:pPr>
              <a:spcBef>
                <a:spcPts val="0"/>
              </a:spcBef>
              <a:spcAft>
                <a:spcPts val="500"/>
              </a:spcAft>
              <a:defRPr sz="1400" b="1">
                <a:solidFill>
                  <a:srgbClr val="172941"/>
                </a:solidFill>
                <a:latin typeface="Arial"/>
              </a:defRPr>
            </a:pPr>
            <a:r>
              <a:t>Different</a:t>
            </a:r>
          </a:p>
          <a:p>
            <a:pPr>
              <a:spcBef>
                <a:spcPts val="0"/>
              </a:spcBef>
              <a:spcAft>
                <a:spcPts val="500"/>
              </a:spcAft>
              <a:defRPr sz="1400" b="1">
                <a:solidFill>
                  <a:srgbClr val="172941"/>
                </a:solidFill>
                <a:latin typeface="Arial"/>
              </a:defRPr>
            </a:pPr>
            <a:r>
              <a:t>bottlenecks /</a:t>
            </a:r>
          </a:p>
          <a:p>
            <a:pPr>
              <a:spcBef>
                <a:spcPts val="0"/>
              </a:spcBef>
              <a:spcAft>
                <a:spcPts val="500"/>
              </a:spcAft>
              <a:defRPr sz="1400" b="1">
                <a:solidFill>
                  <a:srgbClr val="172941"/>
                </a:solidFill>
                <a:latin typeface="Arial"/>
              </a:defRPr>
            </a:pPr>
            <a:r>
              <a:t>scaling needs</a:t>
            </a:r>
          </a:p>
        </p:txBody>
      </p:sp>
      <p:sp>
        <p:nvSpPr>
          <p:cNvPr id="13" name="TextBox 12"/>
          <p:cNvSpPr txBox="1"/>
          <p:nvPr/>
        </p:nvSpPr>
        <p:spPr>
          <a:xfrm>
            <a:off x="502920" y="4334256"/>
            <a:ext cx="1417320" cy="731520"/>
          </a:xfrm>
          <a:prstGeom prst="rect">
            <a:avLst/>
          </a:prstGeom>
          <a:noFill/>
        </p:spPr>
        <p:txBody>
          <a:bodyPr wrap="square" lIns="13716" rIns="13716" tIns="13716" bIns="13716">
            <a:spAutoFit/>
          </a:bodyPr>
          <a:lstStyle/>
          <a:p>
            <a:pPr>
              <a:spcBef>
                <a:spcPts val="0"/>
              </a:spcBef>
              <a:spcAft>
                <a:spcPts val="500"/>
              </a:spcAft>
              <a:defRPr sz="1400" b="1">
                <a:solidFill>
                  <a:srgbClr val="586A80"/>
                </a:solidFill>
                <a:latin typeface="Arial"/>
              </a:defRPr>
            </a:pPr>
            <a:r>
              <a:t>Similar</a:t>
            </a:r>
          </a:p>
          <a:p>
            <a:pPr>
              <a:spcBef>
                <a:spcPts val="0"/>
              </a:spcBef>
              <a:spcAft>
                <a:spcPts val="500"/>
              </a:spcAft>
              <a:defRPr sz="1400" b="1">
                <a:solidFill>
                  <a:srgbClr val="586A80"/>
                </a:solidFill>
                <a:latin typeface="Arial"/>
              </a:defRPr>
            </a:pPr>
            <a:r>
              <a:t>bottlenecks /</a:t>
            </a:r>
          </a:p>
          <a:p>
            <a:pPr>
              <a:spcBef>
                <a:spcPts val="0"/>
              </a:spcBef>
              <a:spcAft>
                <a:spcPts val="500"/>
              </a:spcAft>
              <a:defRPr sz="1400" b="1">
                <a:solidFill>
                  <a:srgbClr val="586A80"/>
                </a:solidFill>
                <a:latin typeface="Arial"/>
              </a:defRPr>
            </a:pPr>
            <a:r>
              <a:t>scaling needs</a:t>
            </a:r>
          </a:p>
        </p:txBody>
      </p:sp>
      <p:sp>
        <p:nvSpPr>
          <p:cNvPr id="14" name="Rounded Rectangle 13"/>
          <p:cNvSpPr/>
          <p:nvPr/>
        </p:nvSpPr>
        <p:spPr>
          <a:xfrm>
            <a:off x="2103120" y="2450592"/>
            <a:ext cx="4617720" cy="1353312"/>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7712" y="2596896"/>
            <a:ext cx="4288536" cy="283464"/>
          </a:xfrm>
          <a:prstGeom prst="rect">
            <a:avLst/>
          </a:prstGeom>
          <a:noFill/>
        </p:spPr>
        <p:txBody>
          <a:bodyPr wrap="square" lIns="13716" rIns="13716" tIns="13716" bIns="13716">
            <a:spAutoFit/>
          </a:bodyPr>
          <a:lstStyle/>
          <a:p>
            <a:pPr>
              <a:spcBef>
                <a:spcPts val="0"/>
              </a:spcBef>
              <a:spcAft>
                <a:spcPts val="500"/>
              </a:spcAft>
              <a:defRPr sz="1600" b="1">
                <a:solidFill>
                  <a:srgbClr val="AE641A"/>
                </a:solidFill>
                <a:latin typeface="Arial"/>
              </a:defRPr>
            </a:pPr>
            <a:r>
              <a:t>Improve topology first</a:t>
            </a:r>
          </a:p>
        </p:txBody>
      </p:sp>
      <p:sp>
        <p:nvSpPr>
          <p:cNvPr id="16" name="TextBox 15"/>
          <p:cNvSpPr txBox="1"/>
          <p:nvPr/>
        </p:nvSpPr>
        <p:spPr>
          <a:xfrm>
            <a:off x="2267712" y="3063240"/>
            <a:ext cx="4288536" cy="612648"/>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Independent capacity may help.</a:t>
            </a:r>
          </a:p>
          <a:p>
            <a:pPr>
              <a:spcBef>
                <a:spcPts val="0"/>
              </a:spcBef>
              <a:spcAft>
                <a:spcPts val="500"/>
              </a:spcAft>
              <a:defRPr sz="1500" b="0">
                <a:solidFill>
                  <a:srgbClr val="172941"/>
                </a:solidFill>
                <a:latin typeface="Arial"/>
              </a:defRPr>
            </a:pPr>
            <a:r>
              <a:t>Transfer overhead may erase the gain.</a:t>
            </a:r>
          </a:p>
        </p:txBody>
      </p:sp>
      <p:sp>
        <p:nvSpPr>
          <p:cNvPr id="17" name="Rounded Rectangle 16"/>
          <p:cNvSpPr/>
          <p:nvPr/>
        </p:nvSpPr>
        <p:spPr>
          <a:xfrm>
            <a:off x="6967728" y="2450592"/>
            <a:ext cx="4718304" cy="135331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0" y="2596896"/>
            <a:ext cx="4389120" cy="283464"/>
          </a:xfrm>
          <a:prstGeom prst="rect">
            <a:avLst/>
          </a:prstGeom>
          <a:noFill/>
        </p:spPr>
        <p:txBody>
          <a:bodyPr wrap="square" lIns="13716" rIns="13716" tIns="13716" bIns="13716">
            <a:spAutoFit/>
          </a:bodyPr>
          <a:lstStyle/>
          <a:p>
            <a:pPr>
              <a:spcBef>
                <a:spcPts val="0"/>
              </a:spcBef>
              <a:spcAft>
                <a:spcPts val="500"/>
              </a:spcAft>
              <a:defRPr sz="1600" b="1">
                <a:solidFill>
                  <a:srgbClr val="247952"/>
                </a:solidFill>
                <a:latin typeface="Arial"/>
              </a:defRPr>
            </a:pPr>
            <a:r>
              <a:t>Strong P/D candidate</a:t>
            </a:r>
          </a:p>
        </p:txBody>
      </p:sp>
      <p:sp>
        <p:nvSpPr>
          <p:cNvPr id="19" name="TextBox 18"/>
          <p:cNvSpPr txBox="1"/>
          <p:nvPr/>
        </p:nvSpPr>
        <p:spPr>
          <a:xfrm>
            <a:off x="7132320" y="3063240"/>
            <a:ext cx="4389120" cy="612648"/>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Different role capacity or parallelism.</a:t>
            </a:r>
          </a:p>
          <a:p>
            <a:pPr>
              <a:spcBef>
                <a:spcPts val="0"/>
              </a:spcBef>
              <a:spcAft>
                <a:spcPts val="500"/>
              </a:spcAft>
              <a:defRPr sz="1500" b="0">
                <a:solidFill>
                  <a:srgbClr val="172941"/>
                </a:solidFill>
                <a:latin typeface="Arial"/>
              </a:defRPr>
            </a:pPr>
            <a:r>
              <a:t>Validate the gain at matched SLO + cost.</a:t>
            </a:r>
          </a:p>
        </p:txBody>
      </p:sp>
      <p:sp>
        <p:nvSpPr>
          <p:cNvPr id="20" name="Rounded Rectangle 19"/>
          <p:cNvSpPr/>
          <p:nvPr/>
        </p:nvSpPr>
        <p:spPr>
          <a:xfrm>
            <a:off x="2103120" y="4014215"/>
            <a:ext cx="4617720" cy="1353312"/>
          </a:xfrm>
          <a:prstGeom prst="roundRect">
            <a:avLst>
              <a:gd name="adj" fmla="val 10000"/>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67712" y="4160520"/>
            <a:ext cx="4288536" cy="283464"/>
          </a:xfrm>
          <a:prstGeom prst="rect">
            <a:avLst/>
          </a:prstGeom>
          <a:noFill/>
        </p:spPr>
        <p:txBody>
          <a:bodyPr wrap="square" lIns="13716" rIns="13716" tIns="13716" bIns="13716">
            <a:spAutoFit/>
          </a:bodyPr>
          <a:lstStyle/>
          <a:p>
            <a:pPr>
              <a:spcBef>
                <a:spcPts val="0"/>
              </a:spcBef>
              <a:spcAft>
                <a:spcPts val="500"/>
              </a:spcAft>
              <a:defRPr sz="1600" b="1">
                <a:solidFill>
                  <a:srgbClr val="586A80"/>
                </a:solidFill>
                <a:latin typeface="Arial"/>
              </a:defRPr>
            </a:pPr>
            <a:r>
              <a:t>Stay aggregated</a:t>
            </a:r>
          </a:p>
        </p:txBody>
      </p:sp>
      <p:sp>
        <p:nvSpPr>
          <p:cNvPr id="22" name="TextBox 21"/>
          <p:cNvSpPr txBox="1"/>
          <p:nvPr/>
        </p:nvSpPr>
        <p:spPr>
          <a:xfrm>
            <a:off x="2267712" y="4626864"/>
            <a:ext cx="4288536" cy="612648"/>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Little role separation benefit,</a:t>
            </a:r>
          </a:p>
          <a:p>
            <a:pPr>
              <a:spcBef>
                <a:spcPts val="0"/>
              </a:spcBef>
              <a:spcAft>
                <a:spcPts val="500"/>
              </a:spcAft>
              <a:defRPr sz="1500" b="0">
                <a:solidFill>
                  <a:srgbClr val="172941"/>
                </a:solidFill>
                <a:latin typeface="Arial"/>
              </a:defRPr>
            </a:pPr>
            <a:r>
              <a:t>plus an expensive transfer path.</a:t>
            </a:r>
          </a:p>
        </p:txBody>
      </p:sp>
      <p:sp>
        <p:nvSpPr>
          <p:cNvPr id="23" name="Rounded Rectangle 22"/>
          <p:cNvSpPr/>
          <p:nvPr/>
        </p:nvSpPr>
        <p:spPr>
          <a:xfrm>
            <a:off x="6967728" y="4014215"/>
            <a:ext cx="4718304" cy="13533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4160520"/>
            <a:ext cx="4389120" cy="283464"/>
          </a:xfrm>
          <a:prstGeom prst="rect">
            <a:avLst/>
          </a:prstGeom>
          <a:noFill/>
        </p:spPr>
        <p:txBody>
          <a:bodyPr wrap="square" lIns="13716" rIns="13716" tIns="13716" bIns="13716">
            <a:spAutoFit/>
          </a:bodyPr>
          <a:lstStyle/>
          <a:p>
            <a:pPr>
              <a:spcBef>
                <a:spcPts val="0"/>
              </a:spcBef>
              <a:spcAft>
                <a:spcPts val="500"/>
              </a:spcAft>
              <a:defRPr sz="1600" b="1">
                <a:solidFill>
                  <a:srgbClr val="2563EB"/>
                </a:solidFill>
                <a:latin typeface="Arial"/>
              </a:defRPr>
            </a:pPr>
            <a:r>
              <a:t>Usually stay aggregated</a:t>
            </a:r>
          </a:p>
        </p:txBody>
      </p:sp>
      <p:sp>
        <p:nvSpPr>
          <p:cNvPr id="25" name="TextBox 24"/>
          <p:cNvSpPr txBox="1"/>
          <p:nvPr/>
        </p:nvSpPr>
        <p:spPr>
          <a:xfrm>
            <a:off x="7132320" y="4626864"/>
            <a:ext cx="4389120" cy="612648"/>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Fast fabric alone is not a reason to split.</a:t>
            </a:r>
          </a:p>
          <a:p>
            <a:pPr>
              <a:spcBef>
                <a:spcPts val="0"/>
              </a:spcBef>
              <a:spcAft>
                <a:spcPts val="500"/>
              </a:spcAft>
              <a:defRPr sz="1500" b="0">
                <a:solidFill>
                  <a:srgbClr val="172941"/>
                </a:solidFill>
                <a:latin typeface="Arial"/>
              </a:defRPr>
            </a:pPr>
            <a:r>
              <a:t>Operational gains may be limited.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P/D adoption examples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Apply the matrix to your workload and topology</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Workload shape suggests a candidate. Measurement decides whether to keep it.</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A long prompt or a fast interconnect alone is not enough—both axes must justify separation.</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50 / 56</a:t>
            </a:r>
          </a:p>
        </p:txBody>
      </p:sp>
      <p:sp>
        <p:nvSpPr>
          <p:cNvPr id="10" name="Rounded Rectangle 9"/>
          <p:cNvSpPr/>
          <p:nvPr/>
        </p:nvSpPr>
        <p:spPr>
          <a:xfrm>
            <a:off x="502920" y="210312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28600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4144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Similar roles</a:t>
            </a:r>
          </a:p>
        </p:txBody>
      </p:sp>
      <p:sp>
        <p:nvSpPr>
          <p:cNvPr id="13" name="TextBox 12"/>
          <p:cNvSpPr txBox="1"/>
          <p:nvPr/>
        </p:nvSpPr>
        <p:spPr>
          <a:xfrm>
            <a:off x="685800" y="281635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Keep it simple</a:t>
            </a:r>
          </a:p>
        </p:txBody>
      </p:sp>
      <p:sp>
        <p:nvSpPr>
          <p:cNvPr id="14" name="TextBox 13"/>
          <p:cNvSpPr txBox="1"/>
          <p:nvPr/>
        </p:nvSpPr>
        <p:spPr>
          <a:xfrm>
            <a:off x="685800" y="3419856"/>
            <a:ext cx="3246120" cy="1673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Small model, short prompts</a:t>
            </a:r>
          </a:p>
          <a:p>
            <a:pPr>
              <a:spcBef>
                <a:spcPts val="0"/>
              </a:spcBef>
              <a:spcAft>
                <a:spcPts val="500"/>
              </a:spcAft>
              <a:defRPr sz="1500" b="0">
                <a:solidFill>
                  <a:srgbClr val="172941"/>
                </a:solidFill>
                <a:latin typeface="Arial"/>
              </a:defRPr>
            </a:pPr>
            <a:r>
              <a:t>Low concurrency</a:t>
            </a:r>
          </a:p>
          <a:p>
            <a:pPr>
              <a:spcBef>
                <a:spcPts val="0"/>
              </a:spcBef>
              <a:spcAft>
                <a:spcPts val="500"/>
              </a:spcAft>
              <a:defRPr sz="1500" b="0">
                <a:solidFill>
                  <a:srgbClr val="172941"/>
                </a:solidFill>
                <a:latin typeface="Arial"/>
              </a:defRPr>
            </a:pPr>
            <a:r>
              <a:t>Similar P/D scaling needs</a:t>
            </a:r>
          </a:p>
          <a:p>
            <a:pPr>
              <a:spcBef>
                <a:spcPts val="0"/>
              </a:spcBef>
              <a:spcAft>
                <a:spcPts val="500"/>
              </a:spcAft>
              <a:defRPr sz="1500" b="0">
                <a:solidFill>
                  <a:srgbClr val="172941"/>
                </a:solidFill>
                <a:latin typeface="Arial"/>
              </a:defRPr>
            </a:pPr>
          </a:p>
          <a:p>
            <a:pPr>
              <a:spcBef>
                <a:spcPts val="0"/>
              </a:spcBef>
              <a:spcAft>
                <a:spcPts val="500"/>
              </a:spcAft>
              <a:defRPr sz="1500" b="0">
                <a:solidFill>
                  <a:srgbClr val="172941"/>
                </a:solidFill>
                <a:latin typeface="Arial"/>
              </a:defRPr>
            </a:pPr>
            <a:r>
              <a:t>Start with aggregated.</a:t>
            </a:r>
          </a:p>
        </p:txBody>
      </p:sp>
      <p:sp>
        <p:nvSpPr>
          <p:cNvPr id="15" name="Rounded Rectangle 14"/>
          <p:cNvSpPr/>
          <p:nvPr/>
        </p:nvSpPr>
        <p:spPr>
          <a:xfrm>
            <a:off x="4288536" y="210312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53127" y="228600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44144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Strong candidate</a:t>
            </a:r>
          </a:p>
        </p:txBody>
      </p:sp>
      <p:sp>
        <p:nvSpPr>
          <p:cNvPr id="18" name="TextBox 17"/>
          <p:cNvSpPr txBox="1"/>
          <p:nvPr/>
        </p:nvSpPr>
        <p:spPr>
          <a:xfrm>
            <a:off x="4471416" y="281635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Benchmark P/D</a:t>
            </a:r>
          </a:p>
        </p:txBody>
      </p:sp>
      <p:sp>
        <p:nvSpPr>
          <p:cNvPr id="19" name="TextBox 18"/>
          <p:cNvSpPr txBox="1"/>
          <p:nvPr/>
        </p:nvSpPr>
        <p:spPr>
          <a:xfrm>
            <a:off x="4471416" y="3419856"/>
            <a:ext cx="3246120" cy="1673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Different role bottlenecks</a:t>
            </a:r>
          </a:p>
          <a:p>
            <a:pPr>
              <a:spcBef>
                <a:spcPts val="0"/>
              </a:spcBef>
              <a:spcAft>
                <a:spcPts val="500"/>
              </a:spcAft>
              <a:defRPr sz="1500" b="0">
                <a:solidFill>
                  <a:srgbClr val="172941"/>
                </a:solidFill>
                <a:latin typeface="Arial"/>
              </a:defRPr>
            </a:pPr>
            <a:r>
              <a:t>Different scaling or TP needs</a:t>
            </a:r>
          </a:p>
          <a:p>
            <a:pPr>
              <a:spcBef>
                <a:spcPts val="0"/>
              </a:spcBef>
              <a:spcAft>
                <a:spcPts val="500"/>
              </a:spcAft>
              <a:defRPr sz="1500" b="0">
                <a:solidFill>
                  <a:srgbClr val="172941"/>
                </a:solidFill>
                <a:latin typeface="Arial"/>
              </a:defRPr>
            </a:pPr>
            <a:r>
              <a:t>Cheap, reliable KV transfer</a:t>
            </a:r>
          </a:p>
          <a:p>
            <a:pPr>
              <a:spcBef>
                <a:spcPts val="0"/>
              </a:spcBef>
              <a:spcAft>
                <a:spcPts val="500"/>
              </a:spcAft>
              <a:defRPr sz="1500" b="0">
                <a:solidFill>
                  <a:srgbClr val="172941"/>
                </a:solidFill>
                <a:latin typeface="Arial"/>
              </a:defRPr>
            </a:pPr>
          </a:p>
          <a:p>
            <a:pPr>
              <a:spcBef>
                <a:spcPts val="0"/>
              </a:spcBef>
              <a:spcAft>
                <a:spcPts val="500"/>
              </a:spcAft>
              <a:defRPr sz="1500" b="0">
                <a:solidFill>
                  <a:srgbClr val="172941"/>
                </a:solidFill>
                <a:latin typeface="Arial"/>
              </a:defRPr>
            </a:pPr>
            <a:r>
              <a:t>Test independent role capacity.</a:t>
            </a:r>
          </a:p>
        </p:txBody>
      </p:sp>
      <p:sp>
        <p:nvSpPr>
          <p:cNvPr id="20" name="Rounded Rectangle 19"/>
          <p:cNvSpPr/>
          <p:nvPr/>
        </p:nvSpPr>
        <p:spPr>
          <a:xfrm>
            <a:off x="8074152" y="210312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38744" y="2286000"/>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44144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AE641A"/>
                </a:solidFill>
                <a:latin typeface="Arial"/>
              </a:defRPr>
            </a:pPr>
            <a:r>
              <a:t>Transfer-limited</a:t>
            </a:r>
          </a:p>
        </p:txBody>
      </p:sp>
      <p:sp>
        <p:nvSpPr>
          <p:cNvPr id="23" name="TextBox 22"/>
          <p:cNvSpPr txBox="1"/>
          <p:nvPr/>
        </p:nvSpPr>
        <p:spPr>
          <a:xfrm>
            <a:off x="8257031" y="281635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Fix the path first</a:t>
            </a:r>
          </a:p>
        </p:txBody>
      </p:sp>
      <p:sp>
        <p:nvSpPr>
          <p:cNvPr id="24" name="TextBox 23"/>
          <p:cNvSpPr txBox="1"/>
          <p:nvPr/>
        </p:nvSpPr>
        <p:spPr>
          <a:xfrm>
            <a:off x="8257031" y="3419856"/>
            <a:ext cx="3246120" cy="1673352"/>
          </a:xfrm>
          <a:prstGeom prst="rect">
            <a:avLst/>
          </a:prstGeom>
          <a:noFill/>
        </p:spPr>
        <p:txBody>
          <a:bodyPr wrap="square" lIns="13716" rIns="13716" tIns="13716" bIns="13716">
            <a:spAutoFit/>
          </a:bodyPr>
          <a:lstStyle/>
          <a:p>
            <a:pPr>
              <a:spcBef>
                <a:spcPts val="0"/>
              </a:spcBef>
              <a:spcAft>
                <a:spcPts val="500"/>
              </a:spcAft>
              <a:defRPr sz="1500" b="0">
                <a:solidFill>
                  <a:srgbClr val="172941"/>
                </a:solidFill>
                <a:latin typeface="Arial"/>
              </a:defRPr>
            </a:pPr>
            <a:r>
              <a:t>Different role bottlenecks</a:t>
            </a:r>
          </a:p>
          <a:p>
            <a:pPr>
              <a:spcBef>
                <a:spcPts val="0"/>
              </a:spcBef>
              <a:spcAft>
                <a:spcPts val="500"/>
              </a:spcAft>
              <a:defRPr sz="1500" b="0">
                <a:solidFill>
                  <a:srgbClr val="172941"/>
                </a:solidFill>
                <a:latin typeface="Arial"/>
              </a:defRPr>
            </a:pPr>
            <a:r>
              <a:t>Costly or unstable KV path</a:t>
            </a:r>
          </a:p>
          <a:p>
            <a:pPr>
              <a:spcBef>
                <a:spcPts val="0"/>
              </a:spcBef>
              <a:spcAft>
                <a:spcPts val="500"/>
              </a:spcAft>
              <a:defRPr sz="1500" b="0">
                <a:solidFill>
                  <a:srgbClr val="172941"/>
                </a:solidFill>
                <a:latin typeface="Arial"/>
              </a:defRPr>
            </a:pPr>
          </a:p>
          <a:p>
            <a:pPr>
              <a:spcBef>
                <a:spcPts val="0"/>
              </a:spcBef>
              <a:spcAft>
                <a:spcPts val="500"/>
              </a:spcAft>
              <a:defRPr sz="1500" b="0">
                <a:solidFill>
                  <a:srgbClr val="172941"/>
                </a:solidFill>
                <a:latin typeface="Arial"/>
              </a:defRPr>
            </a:pPr>
            <a:r>
              <a:t>Improve locality or transport.</a:t>
            </a:r>
          </a:p>
          <a:p>
            <a:pPr>
              <a:spcBef>
                <a:spcPts val="0"/>
              </a:spcBef>
              <a:spcAft>
                <a:spcPts val="500"/>
              </a:spcAft>
              <a:defRPr sz="1500" b="0">
                <a:solidFill>
                  <a:srgbClr val="172941"/>
                </a:solidFill>
                <a:latin typeface="Arial"/>
              </a:defRPr>
            </a:pPr>
            <a:r>
              <a:t>Then reassess P/D.</a:t>
            </a:r>
          </a:p>
        </p:txBody>
      </p:sp>
      <p:sp>
        <p:nvSpPr>
          <p:cNvPr id="25" name="TextBox 24"/>
          <p:cNvSpPr txBox="1"/>
          <p:nvPr/>
        </p:nvSpPr>
        <p:spPr>
          <a:xfrm>
            <a:off x="521207" y="5431536"/>
            <a:ext cx="11064240" cy="320040"/>
          </a:xfrm>
          <a:prstGeom prst="rect">
            <a:avLst/>
          </a:prstGeom>
          <a:noFill/>
        </p:spPr>
        <p:txBody>
          <a:bodyPr wrap="square" lIns="13716" rIns="13716" tIns="13716" bIns="13716">
            <a:spAutoFit/>
          </a:bodyPr>
          <a:lstStyle/>
          <a:p>
            <a:pPr>
              <a:spcBef>
                <a:spcPts val="0"/>
              </a:spcBef>
              <a:spcAft>
                <a:spcPts val="500"/>
              </a:spcAft>
              <a:defRPr sz="1400" b="0">
                <a:solidFill>
                  <a:srgbClr val="586A80"/>
                </a:solidFill>
                <a:latin typeface="Arial"/>
              </a:defRPr>
            </a:pPr>
            <a:r>
              <a:t>Start with a simple topology; measure client TTFT / ITL, KV-transfer tails, SLO goodput and total cost.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06 / Adoption path</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Adopt P/D in reversible steps</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Start with the simplest serving model that meets the workload.</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51 / 56</a:t>
            </a:r>
          </a:p>
        </p:txBody>
      </p:sp>
      <p:sp>
        <p:nvSpPr>
          <p:cNvPr id="8" name="Rounded Rectangle 7"/>
          <p:cNvSpPr/>
          <p:nvPr/>
        </p:nvSpPr>
        <p:spPr>
          <a:xfrm>
            <a:off x="502920" y="2331720"/>
            <a:ext cx="2688336" cy="309067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51460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Step 1</a:t>
            </a:r>
          </a:p>
        </p:txBody>
      </p:sp>
      <p:sp>
        <p:nvSpPr>
          <p:cNvPr id="11" name="TextBox 10"/>
          <p:cNvSpPr txBox="1"/>
          <p:nvPr/>
        </p:nvSpPr>
        <p:spPr>
          <a:xfrm>
            <a:off x="685800" y="3044952"/>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Baseline</a:t>
            </a:r>
          </a:p>
        </p:txBody>
      </p:sp>
      <p:sp>
        <p:nvSpPr>
          <p:cNvPr id="12" name="TextBox 11"/>
          <p:cNvSpPr txBox="1"/>
          <p:nvPr/>
        </p:nvSpPr>
        <p:spPr>
          <a:xfrm>
            <a:off x="685800" y="3648456"/>
            <a:ext cx="2322576" cy="16276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Run aggregated.</a:t>
            </a:r>
          </a:p>
          <a:p>
            <a:pPr>
              <a:spcBef>
                <a:spcPts val="0"/>
              </a:spcBef>
              <a:spcAft>
                <a:spcPts val="500"/>
              </a:spcAft>
              <a:defRPr sz="1800" b="0">
                <a:solidFill>
                  <a:srgbClr val="172941"/>
                </a:solidFill>
                <a:latin typeface="Arial"/>
              </a:defRPr>
            </a:pPr>
            <a:r>
              <a:t>Measure traffic + SLO.</a:t>
            </a:r>
          </a:p>
        </p:txBody>
      </p:sp>
      <p:cxnSp>
        <p:nvCxnSpPr>
          <p:cNvPr id="13" name="Connector 12"/>
          <p:cNvCxnSpPr/>
          <p:nvPr/>
        </p:nvCxnSpPr>
        <p:spPr>
          <a:xfrm>
            <a:off x="3191256" y="3803904"/>
            <a:ext cx="173735" cy="0"/>
          </a:xfrm>
          <a:prstGeom prst="line">
            <a:avLst/>
          </a:prstGeom>
          <a:ln w="1778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64991" y="2331720"/>
            <a:ext cx="2688336" cy="309067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29584" y="251460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7872" y="267004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Step 2</a:t>
            </a:r>
          </a:p>
        </p:txBody>
      </p:sp>
      <p:sp>
        <p:nvSpPr>
          <p:cNvPr id="17" name="TextBox 16"/>
          <p:cNvSpPr txBox="1"/>
          <p:nvPr/>
        </p:nvSpPr>
        <p:spPr>
          <a:xfrm>
            <a:off x="3547872" y="3044952"/>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Separate</a:t>
            </a:r>
          </a:p>
        </p:txBody>
      </p:sp>
      <p:sp>
        <p:nvSpPr>
          <p:cNvPr id="18" name="TextBox 17"/>
          <p:cNvSpPr txBox="1"/>
          <p:nvPr/>
        </p:nvSpPr>
        <p:spPr>
          <a:xfrm>
            <a:off x="3547872" y="3648456"/>
            <a:ext cx="2322576" cy="16276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Declare roles.</a:t>
            </a:r>
          </a:p>
          <a:p>
            <a:pPr>
              <a:spcBef>
                <a:spcPts val="0"/>
              </a:spcBef>
              <a:spcAft>
                <a:spcPts val="500"/>
              </a:spcAft>
              <a:defRPr sz="1800" b="0">
                <a:solidFill>
                  <a:srgbClr val="172941"/>
                </a:solidFill>
                <a:latin typeface="Arial"/>
              </a:defRPr>
            </a:pPr>
            <a:r>
              <a:t>Validate KV + routing.</a:t>
            </a:r>
          </a:p>
        </p:txBody>
      </p:sp>
      <p:cxnSp>
        <p:nvCxnSpPr>
          <p:cNvPr id="19" name="Connector 18"/>
          <p:cNvCxnSpPr/>
          <p:nvPr/>
        </p:nvCxnSpPr>
        <p:spPr>
          <a:xfrm>
            <a:off x="6053327" y="3803904"/>
            <a:ext cx="173737" cy="0"/>
          </a:xfrm>
          <a:prstGeom prst="line">
            <a:avLst/>
          </a:prstGeom>
          <a:ln w="1778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331720"/>
            <a:ext cx="2688336" cy="309067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91655" y="251460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267004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Step 3</a:t>
            </a:r>
          </a:p>
        </p:txBody>
      </p:sp>
      <p:sp>
        <p:nvSpPr>
          <p:cNvPr id="23" name="TextBox 22"/>
          <p:cNvSpPr txBox="1"/>
          <p:nvPr/>
        </p:nvSpPr>
        <p:spPr>
          <a:xfrm>
            <a:off x="6409944" y="3044952"/>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Tune</a:t>
            </a:r>
          </a:p>
        </p:txBody>
      </p:sp>
      <p:sp>
        <p:nvSpPr>
          <p:cNvPr id="24" name="TextBox 23"/>
          <p:cNvSpPr txBox="1"/>
          <p:nvPr/>
        </p:nvSpPr>
        <p:spPr>
          <a:xfrm>
            <a:off x="6409944" y="3648456"/>
            <a:ext cx="2322576" cy="16276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Set role capacity.</a:t>
            </a:r>
          </a:p>
          <a:p>
            <a:pPr>
              <a:spcBef>
                <a:spcPts val="0"/>
              </a:spcBef>
              <a:spcAft>
                <a:spcPts val="500"/>
              </a:spcAft>
              <a:defRPr sz="1800" b="0">
                <a:solidFill>
                  <a:srgbClr val="172941"/>
                </a:solidFill>
                <a:latin typeface="Arial"/>
              </a:defRPr>
            </a:pPr>
            <a:r>
              <a:t>Benchmark at fixed cost.</a:t>
            </a:r>
          </a:p>
        </p:txBody>
      </p:sp>
      <p:cxnSp>
        <p:nvCxnSpPr>
          <p:cNvPr id="25" name="Connector 24"/>
          <p:cNvCxnSpPr/>
          <p:nvPr/>
        </p:nvCxnSpPr>
        <p:spPr>
          <a:xfrm>
            <a:off x="8915400" y="3803904"/>
            <a:ext cx="173736"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89136" y="2331720"/>
            <a:ext cx="2688336" cy="309067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53728" y="2514600"/>
            <a:ext cx="347472" cy="5943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72016" y="2670048"/>
            <a:ext cx="2322576" cy="256032"/>
          </a:xfrm>
          <a:prstGeom prst="rect">
            <a:avLst/>
          </a:prstGeom>
          <a:noFill/>
        </p:spPr>
        <p:txBody>
          <a:bodyPr wrap="square" lIns="13716" rIns="13716" tIns="13716" bIns="13716">
            <a:spAutoFit/>
          </a:bodyPr>
          <a:lstStyle/>
          <a:p>
            <a:pPr>
              <a:spcBef>
                <a:spcPts val="0"/>
              </a:spcBef>
              <a:spcAft>
                <a:spcPts val="500"/>
              </a:spcAft>
              <a:defRPr sz="1100" b="1">
                <a:solidFill>
                  <a:srgbClr val="AE641A"/>
                </a:solidFill>
                <a:latin typeface="Arial"/>
              </a:defRPr>
            </a:pPr>
            <a:r>
              <a:t>Step 4</a:t>
            </a:r>
          </a:p>
        </p:txBody>
      </p:sp>
      <p:sp>
        <p:nvSpPr>
          <p:cNvPr id="29" name="TextBox 28"/>
          <p:cNvSpPr txBox="1"/>
          <p:nvPr/>
        </p:nvSpPr>
        <p:spPr>
          <a:xfrm>
            <a:off x="9272016" y="3044952"/>
            <a:ext cx="2322576" cy="420624"/>
          </a:xfrm>
          <a:prstGeom prst="rect">
            <a:avLst/>
          </a:prstGeom>
          <a:noFill/>
        </p:spPr>
        <p:txBody>
          <a:bodyPr wrap="square" lIns="13716" rIns="13716" tIns="13716" bIns="13716">
            <a:spAutoFit/>
          </a:bodyPr>
          <a:lstStyle/>
          <a:p>
            <a:pPr>
              <a:spcBef>
                <a:spcPts val="0"/>
              </a:spcBef>
              <a:spcAft>
                <a:spcPts val="500"/>
              </a:spcAft>
              <a:defRPr sz="2000" b="1">
                <a:solidFill>
                  <a:srgbClr val="AE641A"/>
                </a:solidFill>
                <a:latin typeface="Arial"/>
              </a:defRPr>
            </a:pPr>
            <a:r>
              <a:t>Operate</a:t>
            </a:r>
          </a:p>
        </p:txBody>
      </p:sp>
      <p:sp>
        <p:nvSpPr>
          <p:cNvPr id="30" name="TextBox 29"/>
          <p:cNvSpPr txBox="1"/>
          <p:nvPr/>
        </p:nvSpPr>
        <p:spPr>
          <a:xfrm>
            <a:off x="9272016" y="3648456"/>
            <a:ext cx="2322576" cy="1627632"/>
          </a:xfrm>
          <a:prstGeom prst="rect">
            <a:avLst/>
          </a:prstGeom>
          <a:noFill/>
        </p:spPr>
        <p:txBody>
          <a:bodyPr wrap="square" lIns="13716" rIns="13716" tIns="13716" bIns="13716">
            <a:spAutoFit/>
          </a:bodyPr>
          <a:lstStyle/>
          <a:p>
            <a:pPr>
              <a:spcBef>
                <a:spcPts val="0"/>
              </a:spcBef>
              <a:spcAft>
                <a:spcPts val="500"/>
              </a:spcAft>
              <a:defRPr sz="1800" b="0">
                <a:solidFill>
                  <a:srgbClr val="172941"/>
                </a:solidFill>
                <a:latin typeface="Arial"/>
              </a:defRPr>
            </a:pPr>
            <a:r>
              <a:t>Add scale policies.</a:t>
            </a:r>
          </a:p>
          <a:p>
            <a:pPr>
              <a:spcBef>
                <a:spcPts val="0"/>
              </a:spcBef>
              <a:spcAft>
                <a:spcPts val="500"/>
              </a:spcAft>
              <a:defRPr sz="1800" b="0">
                <a:solidFill>
                  <a:srgbClr val="172941"/>
                </a:solidFill>
                <a:latin typeface="Arial"/>
              </a:defRPr>
            </a:pPr>
            <a:r>
              <a:t>Test failure + rollback.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07 / Demo path</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Demo: follow the intent into the running system</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Show the same service at the API, controller, and traffic layers.</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52 / 56</a:t>
            </a:r>
          </a:p>
        </p:txBody>
      </p:sp>
      <p:sp>
        <p:nvSpPr>
          <p:cNvPr id="8" name="Rounded Rectangle 7"/>
          <p:cNvSpPr/>
          <p:nvPr/>
        </p:nvSpPr>
        <p:spPr>
          <a:xfrm>
            <a:off x="502920" y="2240280"/>
            <a:ext cx="3611880" cy="27706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42316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06040"/>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1  Declare</a:t>
            </a:r>
          </a:p>
        </p:txBody>
      </p:sp>
      <p:sp>
        <p:nvSpPr>
          <p:cNvPr id="11" name="TextBox 10"/>
          <p:cNvSpPr txBox="1"/>
          <p:nvPr/>
        </p:nvSpPr>
        <p:spPr>
          <a:xfrm>
            <a:off x="685800" y="3209544"/>
            <a:ext cx="3246120" cy="1655063"/>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Inspect the MRI</a:t>
            </a:r>
          </a:p>
          <a:p>
            <a:pPr>
              <a:spcBef>
                <a:spcPts val="0"/>
              </a:spcBef>
              <a:spcAft>
                <a:spcPts val="500"/>
              </a:spcAft>
              <a:defRPr sz="2000" b="0">
                <a:solidFill>
                  <a:srgbClr val="172941"/>
                </a:solidFill>
                <a:latin typeface="Arial"/>
              </a:defRPr>
            </a:pPr>
            <a:r>
              <a:t>and its role settings.</a:t>
            </a:r>
          </a:p>
        </p:txBody>
      </p:sp>
      <p:sp>
        <p:nvSpPr>
          <p:cNvPr id="12" name="Rounded Rectangle 11"/>
          <p:cNvSpPr/>
          <p:nvPr/>
        </p:nvSpPr>
        <p:spPr>
          <a:xfrm>
            <a:off x="4288536" y="2240280"/>
            <a:ext cx="3611880" cy="27706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53127" y="242316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1416" y="2606040"/>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2  Reconcile</a:t>
            </a:r>
          </a:p>
        </p:txBody>
      </p:sp>
      <p:sp>
        <p:nvSpPr>
          <p:cNvPr id="15" name="TextBox 14"/>
          <p:cNvSpPr txBox="1"/>
          <p:nvPr/>
        </p:nvSpPr>
        <p:spPr>
          <a:xfrm>
            <a:off x="4471416" y="3209544"/>
            <a:ext cx="3246120" cy="1655063"/>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Inspect child InferenceSets,</a:t>
            </a:r>
          </a:p>
          <a:p>
            <a:pPr>
              <a:spcBef>
                <a:spcPts val="0"/>
              </a:spcBef>
              <a:spcAft>
                <a:spcPts val="500"/>
              </a:spcAft>
              <a:defRPr sz="2000" b="0">
                <a:solidFill>
                  <a:srgbClr val="172941"/>
                </a:solidFill>
                <a:latin typeface="Arial"/>
              </a:defRPr>
            </a:pPr>
            <a:r>
              <a:t>Workspaces, and routing.</a:t>
            </a:r>
          </a:p>
        </p:txBody>
      </p:sp>
      <p:sp>
        <p:nvSpPr>
          <p:cNvPr id="16" name="Rounded Rectangle 15"/>
          <p:cNvSpPr/>
          <p:nvPr/>
        </p:nvSpPr>
        <p:spPr>
          <a:xfrm>
            <a:off x="8074152" y="2240280"/>
            <a:ext cx="3611880" cy="277063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38744" y="242316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2606040"/>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3  Verify</a:t>
            </a:r>
          </a:p>
        </p:txBody>
      </p:sp>
      <p:sp>
        <p:nvSpPr>
          <p:cNvPr id="19" name="TextBox 18"/>
          <p:cNvSpPr txBox="1"/>
          <p:nvPr/>
        </p:nvSpPr>
        <p:spPr>
          <a:xfrm>
            <a:off x="8257031" y="3209544"/>
            <a:ext cx="3246120" cy="1655063"/>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Send one request.</a:t>
            </a:r>
          </a:p>
          <a:p>
            <a:pPr>
              <a:spcBef>
                <a:spcPts val="0"/>
              </a:spcBef>
              <a:spcAft>
                <a:spcPts val="500"/>
              </a:spcAft>
              <a:defRPr sz="2000" b="0">
                <a:solidFill>
                  <a:srgbClr val="172941"/>
                </a:solidFill>
                <a:latin typeface="Arial"/>
              </a:defRPr>
            </a:pPr>
            <a:r>
              <a:t>Observe both roles.</a:t>
            </a:r>
          </a:p>
        </p:txBody>
      </p:sp>
      <p:sp>
        <p:nvSpPr>
          <p:cNvPr id="20" name="TextBox 19"/>
          <p:cNvSpPr txBox="1"/>
          <p:nvPr/>
        </p:nvSpPr>
        <p:spPr>
          <a:xfrm>
            <a:off x="521207" y="5449824"/>
            <a:ext cx="11064240" cy="39319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Optional: apply a verified KEDA policy to one child InferenceSet and observe scaling.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07 / Direction</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Next: make multi-role serving easier to operate</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Recommended areas of work—not release commitments.</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53 / 56</a:t>
            </a:r>
          </a:p>
        </p:txBody>
      </p:sp>
      <p:sp>
        <p:nvSpPr>
          <p:cNvPr id="8" name="Rounded Rectangle 7"/>
          <p:cNvSpPr/>
          <p:nvPr/>
        </p:nvSpPr>
        <p:spPr>
          <a:xfrm>
            <a:off x="502920" y="224028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 y="242316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7860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Direction</a:t>
            </a:r>
          </a:p>
        </p:txBody>
      </p:sp>
      <p:sp>
        <p:nvSpPr>
          <p:cNvPr id="11" name="TextBox 10"/>
          <p:cNvSpPr txBox="1"/>
          <p:nvPr/>
        </p:nvSpPr>
        <p:spPr>
          <a:xfrm>
            <a:off x="685800" y="29535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Scaling UX</a:t>
            </a:r>
          </a:p>
        </p:txBody>
      </p:sp>
      <p:sp>
        <p:nvSpPr>
          <p:cNvPr id="12" name="TextBox 11"/>
          <p:cNvSpPr txBox="1"/>
          <p:nvPr/>
        </p:nvSpPr>
        <p:spPr>
          <a:xfrm>
            <a:off x="685800" y="3557016"/>
            <a:ext cx="3246120" cy="1673352"/>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Express per-role policy</a:t>
            </a:r>
          </a:p>
          <a:p>
            <a:pPr>
              <a:spcBef>
                <a:spcPts val="0"/>
              </a:spcBef>
              <a:spcAft>
                <a:spcPts val="500"/>
              </a:spcAft>
              <a:defRPr sz="2000" b="0">
                <a:solidFill>
                  <a:srgbClr val="172941"/>
                </a:solidFill>
                <a:latin typeface="Arial"/>
              </a:defRPr>
            </a:pPr>
            <a:r>
              <a:t>without repetitive plumbing.</a:t>
            </a:r>
          </a:p>
        </p:txBody>
      </p:sp>
      <p:sp>
        <p:nvSpPr>
          <p:cNvPr id="13" name="Rounded Rectangle 12"/>
          <p:cNvSpPr/>
          <p:nvPr/>
        </p:nvSpPr>
        <p:spPr>
          <a:xfrm>
            <a:off x="4288536" y="224028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53127" y="242316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257860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Direction</a:t>
            </a:r>
          </a:p>
        </p:txBody>
      </p:sp>
      <p:sp>
        <p:nvSpPr>
          <p:cNvPr id="16" name="TextBox 15"/>
          <p:cNvSpPr txBox="1"/>
          <p:nvPr/>
        </p:nvSpPr>
        <p:spPr>
          <a:xfrm>
            <a:off x="4471416" y="29535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Observability</a:t>
            </a:r>
          </a:p>
        </p:txBody>
      </p:sp>
      <p:sp>
        <p:nvSpPr>
          <p:cNvPr id="17" name="TextBox 16"/>
          <p:cNvSpPr txBox="1"/>
          <p:nvPr/>
        </p:nvSpPr>
        <p:spPr>
          <a:xfrm>
            <a:off x="4471416" y="3557016"/>
            <a:ext cx="3246120" cy="1673352"/>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Connect request latency,</a:t>
            </a:r>
          </a:p>
          <a:p>
            <a:pPr>
              <a:spcBef>
                <a:spcPts val="0"/>
              </a:spcBef>
              <a:spcAft>
                <a:spcPts val="500"/>
              </a:spcAft>
              <a:defRPr sz="2000" b="0">
                <a:solidFill>
                  <a:srgbClr val="172941"/>
                </a:solidFill>
                <a:latin typeface="Arial"/>
              </a:defRPr>
            </a:pPr>
            <a:r>
              <a:t>role load, and KV transfer.</a:t>
            </a:r>
          </a:p>
        </p:txBody>
      </p:sp>
      <p:sp>
        <p:nvSpPr>
          <p:cNvPr id="18" name="Rounded Rectangle 17"/>
          <p:cNvSpPr/>
          <p:nvPr/>
        </p:nvSpPr>
        <p:spPr>
          <a:xfrm>
            <a:off x="8074152" y="2240280"/>
            <a:ext cx="3611880" cy="313639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242316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1" y="257860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Direction</a:t>
            </a:r>
          </a:p>
        </p:txBody>
      </p:sp>
      <p:sp>
        <p:nvSpPr>
          <p:cNvPr id="21" name="TextBox 20"/>
          <p:cNvSpPr txBox="1"/>
          <p:nvPr/>
        </p:nvSpPr>
        <p:spPr>
          <a:xfrm>
            <a:off x="8257031" y="295351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Topology UX</a:t>
            </a:r>
          </a:p>
        </p:txBody>
      </p:sp>
      <p:sp>
        <p:nvSpPr>
          <p:cNvPr id="22" name="TextBox 21"/>
          <p:cNvSpPr txBox="1"/>
          <p:nvPr/>
        </p:nvSpPr>
        <p:spPr>
          <a:xfrm>
            <a:off x="8257031" y="3557016"/>
            <a:ext cx="3246120" cy="1673352"/>
          </a:xfrm>
          <a:prstGeom prst="rect">
            <a:avLst/>
          </a:prstGeom>
          <a:noFill/>
        </p:spPr>
        <p:txBody>
          <a:bodyPr wrap="square" lIns="13716" rIns="13716" tIns="13716" bIns="13716">
            <a:spAutoFit/>
          </a:bodyPr>
          <a:lstStyle/>
          <a:p>
            <a:pPr>
              <a:spcBef>
                <a:spcPts val="0"/>
              </a:spcBef>
              <a:spcAft>
                <a:spcPts val="500"/>
              </a:spcAft>
              <a:defRPr sz="2000" b="0">
                <a:solidFill>
                  <a:srgbClr val="172941"/>
                </a:solidFill>
                <a:latin typeface="Arial"/>
              </a:defRPr>
            </a:pPr>
            <a:r>
              <a:t>Keep richer serving layouts</a:t>
            </a:r>
          </a:p>
          <a:p>
            <a:pPr>
              <a:spcBef>
                <a:spcPts val="0"/>
              </a:spcBef>
              <a:spcAft>
                <a:spcPts val="500"/>
              </a:spcAft>
              <a:defRPr sz="2000" b="0">
                <a:solidFill>
                  <a:srgbClr val="172941"/>
                </a:solidFill>
                <a:latin typeface="Arial"/>
              </a:defRPr>
            </a:pPr>
            <a:r>
              <a:t>inside the same API model.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07 / Integration roadmap</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What’s next for KAITO + llm-d</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Build on P/D with better cache reuse, richer role layouts and larger-scale execution.</a:t>
            </a:r>
          </a:p>
        </p:txBody>
      </p:sp>
      <p:sp>
        <p:nvSpPr>
          <p:cNvPr id="5" name="Rectangle 4"/>
          <p:cNvSpPr/>
          <p:nvPr/>
        </p:nvSpPr>
        <p:spPr>
          <a:xfrm>
            <a:off x="457200" y="5833872"/>
            <a:ext cx="11274552" cy="484632"/>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5934456"/>
            <a:ext cx="10945368" cy="283464"/>
          </a:xfrm>
          <a:prstGeom prst="rect">
            <a:avLst/>
          </a:prstGeom>
          <a:noFill/>
        </p:spPr>
        <p:txBody>
          <a:bodyPr wrap="square" lIns="13716" rIns="13716" tIns="13716" bIns="13716">
            <a:spAutoFit/>
          </a:bodyPr>
          <a:lstStyle/>
          <a:p>
            <a:pPr>
              <a:spcBef>
                <a:spcPts val="0"/>
              </a:spcBef>
              <a:spcAft>
                <a:spcPts val="500"/>
              </a:spcAft>
              <a:defRPr sz="1500" b="1">
                <a:solidFill>
                  <a:srgbClr val="172941"/>
                </a:solidFill>
                <a:latin typeface="Arial"/>
              </a:defRPr>
            </a:pPr>
            <a:r>
              <a:t>Integration directions—not release dates or claims that every upstream capability is new.</a:t>
            </a:r>
          </a:p>
        </p:txBody>
      </p:sp>
      <p:cxnSp>
        <p:nvCxnSpPr>
          <p:cNvPr id="7" name="Connector 6"/>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9" name="TextBox 8"/>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54 / 56</a:t>
            </a:r>
          </a:p>
        </p:txBody>
      </p:sp>
      <p:sp>
        <p:nvSpPr>
          <p:cNvPr id="10" name="Rounded Rectangle 9"/>
          <p:cNvSpPr/>
          <p:nvPr/>
        </p:nvSpPr>
        <p:spPr>
          <a:xfrm>
            <a:off x="502920" y="2148840"/>
            <a:ext cx="3611880" cy="3401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2331720"/>
            <a:ext cx="347472" cy="5943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087F8C"/>
                </a:solidFill>
                <a:latin typeface="Arial"/>
              </a:defRPr>
            </a:pPr>
            <a:r>
              <a:t>Near term</a:t>
            </a:r>
          </a:p>
        </p:txBody>
      </p:sp>
      <p:sp>
        <p:nvSpPr>
          <p:cNvPr id="13" name="TextBox 12"/>
          <p:cNvSpPr txBox="1"/>
          <p:nvPr/>
        </p:nvSpPr>
        <p:spPr>
          <a:xfrm>
            <a:off x="685800"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087F8C"/>
                </a:solidFill>
                <a:latin typeface="Arial"/>
              </a:defRPr>
            </a:pPr>
            <a:r>
              <a:t>Cache-aware serving</a:t>
            </a:r>
          </a:p>
        </p:txBody>
      </p:sp>
      <p:sp>
        <p:nvSpPr>
          <p:cNvPr id="14" name="TextBox 13"/>
          <p:cNvSpPr txBox="1"/>
          <p:nvPr/>
        </p:nvSpPr>
        <p:spPr>
          <a:xfrm>
            <a:off x="685800" y="3465576"/>
            <a:ext cx="3246120" cy="193852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KV-event-based</a:t>
            </a:r>
          </a:p>
          <a:p>
            <a:pPr>
              <a:spcBef>
                <a:spcPts val="0"/>
              </a:spcBef>
              <a:spcAft>
                <a:spcPts val="500"/>
              </a:spcAft>
              <a:defRPr sz="1700" b="0">
                <a:solidFill>
                  <a:srgbClr val="172941"/>
                </a:solidFill>
                <a:latin typeface="Arial"/>
              </a:defRPr>
            </a:pPr>
            <a:r>
              <a:t>prefix-cache routing</a:t>
            </a:r>
          </a:p>
          <a:p>
            <a:pPr>
              <a:spcBef>
                <a:spcPts val="0"/>
              </a:spcBef>
              <a:spcAft>
                <a:spcPts val="500"/>
              </a:spcAft>
              <a:defRPr sz="1700" b="0">
                <a:solidFill>
                  <a:srgbClr val="172941"/>
                </a:solidFill>
                <a:latin typeface="Arial"/>
              </a:defRPr>
            </a:pPr>
          </a:p>
          <a:p>
            <a:pPr>
              <a:spcBef>
                <a:spcPts val="0"/>
              </a:spcBef>
              <a:spcAft>
                <a:spcPts val="500"/>
              </a:spcAft>
              <a:defRPr sz="1700" b="0">
                <a:solidFill>
                  <a:srgbClr val="172941"/>
                </a:solidFill>
                <a:latin typeface="Arial"/>
              </a:defRPr>
            </a:pPr>
            <a:r>
              <a:t>Tiered cache: HBM + CPU RAM</a:t>
            </a:r>
          </a:p>
          <a:p>
            <a:pPr>
              <a:spcBef>
                <a:spcPts val="0"/>
              </a:spcBef>
              <a:spcAft>
                <a:spcPts val="500"/>
              </a:spcAft>
              <a:defRPr sz="1700" b="0">
                <a:solidFill>
                  <a:srgbClr val="172941"/>
                </a:solidFill>
                <a:latin typeface="Arial"/>
              </a:defRPr>
            </a:pPr>
            <a:r>
              <a:t>+ optional filesystem tiers</a:t>
            </a:r>
          </a:p>
        </p:txBody>
      </p:sp>
      <p:sp>
        <p:nvSpPr>
          <p:cNvPr id="15" name="Rounded Rectangle 14"/>
          <p:cNvSpPr/>
          <p:nvPr/>
        </p:nvSpPr>
        <p:spPr>
          <a:xfrm>
            <a:off x="4288536" y="2148840"/>
            <a:ext cx="3611880" cy="3401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53127" y="2331720"/>
            <a:ext cx="347472" cy="594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2563EB"/>
                </a:solidFill>
                <a:latin typeface="Arial"/>
              </a:defRPr>
            </a:pPr>
            <a:r>
              <a:t>Next topology</a:t>
            </a:r>
          </a:p>
        </p:txBody>
      </p:sp>
      <p:sp>
        <p:nvSpPr>
          <p:cNvPr id="18" name="TextBox 17"/>
          <p:cNvSpPr txBox="1"/>
          <p:nvPr/>
        </p:nvSpPr>
        <p:spPr>
          <a:xfrm>
            <a:off x="4471416"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2563EB"/>
                </a:solidFill>
                <a:latin typeface="Arial"/>
              </a:defRPr>
            </a:pPr>
            <a:r>
              <a:t>E/P/D</a:t>
            </a:r>
          </a:p>
        </p:txBody>
      </p:sp>
      <p:sp>
        <p:nvSpPr>
          <p:cNvPr id="19" name="TextBox 18"/>
          <p:cNvSpPr txBox="1"/>
          <p:nvPr/>
        </p:nvSpPr>
        <p:spPr>
          <a:xfrm>
            <a:off x="4471416" y="3465576"/>
            <a:ext cx="3246120" cy="193852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Encode / Prefill / Decode</a:t>
            </a:r>
          </a:p>
          <a:p>
            <a:pPr>
              <a:spcBef>
                <a:spcPts val="0"/>
              </a:spcBef>
              <a:spcAft>
                <a:spcPts val="500"/>
              </a:spcAft>
              <a:defRPr sz="1700" b="0">
                <a:solidFill>
                  <a:srgbClr val="172941"/>
                </a:solidFill>
                <a:latin typeface="Arial"/>
              </a:defRPr>
            </a:pPr>
          </a:p>
          <a:p>
            <a:pPr>
              <a:spcBef>
                <a:spcPts val="0"/>
              </a:spcBef>
              <a:spcAft>
                <a:spcPts val="500"/>
              </a:spcAft>
              <a:defRPr sz="1700" b="0">
                <a:solidFill>
                  <a:srgbClr val="172941"/>
                </a:solidFill>
                <a:latin typeface="Arial"/>
              </a:defRPr>
            </a:pPr>
            <a:r>
              <a:t>Extend role-based serving</a:t>
            </a:r>
          </a:p>
          <a:p>
            <a:pPr>
              <a:spcBef>
                <a:spcPts val="0"/>
              </a:spcBef>
              <a:spcAft>
                <a:spcPts val="500"/>
              </a:spcAft>
              <a:defRPr sz="1700" b="0">
                <a:solidFill>
                  <a:srgbClr val="172941"/>
                </a:solidFill>
                <a:latin typeface="Arial"/>
              </a:defRPr>
            </a:pPr>
            <a:r>
              <a:t>to richer inference topologies.</a:t>
            </a:r>
          </a:p>
        </p:txBody>
      </p:sp>
      <p:sp>
        <p:nvSpPr>
          <p:cNvPr id="20" name="Rounded Rectangle 19"/>
          <p:cNvSpPr/>
          <p:nvPr/>
        </p:nvSpPr>
        <p:spPr>
          <a:xfrm>
            <a:off x="8074152" y="2148840"/>
            <a:ext cx="3611880" cy="340156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38744" y="2331720"/>
            <a:ext cx="347472" cy="5943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487168"/>
            <a:ext cx="3246120" cy="256032"/>
          </a:xfrm>
          <a:prstGeom prst="rect">
            <a:avLst/>
          </a:prstGeom>
          <a:noFill/>
        </p:spPr>
        <p:txBody>
          <a:bodyPr wrap="square" lIns="13716" rIns="13716" tIns="13716" bIns="13716">
            <a:spAutoFit/>
          </a:bodyPr>
          <a:lstStyle/>
          <a:p>
            <a:pPr>
              <a:spcBef>
                <a:spcPts val="0"/>
              </a:spcBef>
              <a:spcAft>
                <a:spcPts val="500"/>
              </a:spcAft>
              <a:defRPr sz="1100" b="1">
                <a:solidFill>
                  <a:srgbClr val="7354B8"/>
                </a:solidFill>
                <a:latin typeface="Arial"/>
              </a:defRPr>
            </a:pPr>
            <a:r>
              <a:t>At larger scale</a:t>
            </a:r>
          </a:p>
        </p:txBody>
      </p:sp>
      <p:sp>
        <p:nvSpPr>
          <p:cNvPr id="23" name="TextBox 22"/>
          <p:cNvSpPr txBox="1"/>
          <p:nvPr/>
        </p:nvSpPr>
        <p:spPr>
          <a:xfrm>
            <a:off x="8257031" y="2862072"/>
            <a:ext cx="3246120" cy="420624"/>
          </a:xfrm>
          <a:prstGeom prst="rect">
            <a:avLst/>
          </a:prstGeom>
          <a:noFill/>
        </p:spPr>
        <p:txBody>
          <a:bodyPr wrap="square" lIns="13716" rIns="13716" tIns="13716" bIns="13716">
            <a:spAutoFit/>
          </a:bodyPr>
          <a:lstStyle/>
          <a:p>
            <a:pPr>
              <a:spcBef>
                <a:spcPts val="0"/>
              </a:spcBef>
              <a:spcAft>
                <a:spcPts val="500"/>
              </a:spcAft>
              <a:defRPr sz="2000" b="1">
                <a:solidFill>
                  <a:srgbClr val="7354B8"/>
                </a:solidFill>
                <a:latin typeface="Arial"/>
              </a:defRPr>
            </a:pPr>
            <a:r>
              <a:t>Larger-scale systems</a:t>
            </a:r>
          </a:p>
        </p:txBody>
      </p:sp>
      <p:sp>
        <p:nvSpPr>
          <p:cNvPr id="24" name="TextBox 23"/>
          <p:cNvSpPr txBox="1"/>
          <p:nvPr/>
        </p:nvSpPr>
        <p:spPr>
          <a:xfrm>
            <a:off x="8257031" y="3465576"/>
            <a:ext cx="3246120" cy="1938528"/>
          </a:xfrm>
          <a:prstGeom prst="rect">
            <a:avLst/>
          </a:prstGeom>
          <a:noFill/>
        </p:spPr>
        <p:txBody>
          <a:bodyPr wrap="square" lIns="13716" rIns="13716" tIns="13716" bIns="13716">
            <a:spAutoFit/>
          </a:bodyPr>
          <a:lstStyle/>
          <a:p>
            <a:pPr>
              <a:spcBef>
                <a:spcPts val="0"/>
              </a:spcBef>
              <a:spcAft>
                <a:spcPts val="500"/>
              </a:spcAft>
              <a:defRPr sz="1700" b="0">
                <a:solidFill>
                  <a:srgbClr val="172941"/>
                </a:solidFill>
                <a:latin typeface="Arial"/>
              </a:defRPr>
            </a:pPr>
            <a:r>
              <a:t>Wide Expert Parallelism</a:t>
            </a:r>
          </a:p>
          <a:p>
            <a:pPr>
              <a:spcBef>
                <a:spcPts val="0"/>
              </a:spcBef>
              <a:spcAft>
                <a:spcPts val="500"/>
              </a:spcAft>
              <a:defRPr sz="1700" b="0">
                <a:solidFill>
                  <a:srgbClr val="172941"/>
                </a:solidFill>
                <a:latin typeface="Arial"/>
              </a:defRPr>
            </a:pPr>
          </a:p>
          <a:p>
            <a:pPr>
              <a:spcBef>
                <a:spcPts val="0"/>
              </a:spcBef>
              <a:spcAft>
                <a:spcPts val="500"/>
              </a:spcAft>
              <a:defRPr sz="1700" b="0">
                <a:solidFill>
                  <a:srgbClr val="172941"/>
                </a:solidFill>
                <a:latin typeface="Arial"/>
              </a:defRPr>
            </a:pPr>
            <a:r>
              <a:t>Cross-node transport</a:t>
            </a:r>
          </a:p>
          <a:p>
            <a:pPr>
              <a:spcBef>
                <a:spcPts val="0"/>
              </a:spcBef>
              <a:spcAft>
                <a:spcPts val="500"/>
              </a:spcAft>
              <a:defRPr sz="1700" b="0">
                <a:solidFill>
                  <a:srgbClr val="172941"/>
                </a:solidFill>
                <a:latin typeface="Arial"/>
              </a:defRPr>
            </a:pPr>
            <a:r>
              <a:t>and communication</a:t>
            </a:r>
          </a:p>
          <a:p>
            <a:pPr>
              <a:spcBef>
                <a:spcPts val="0"/>
              </a:spcBef>
              <a:spcAft>
                <a:spcPts val="500"/>
              </a:spcAft>
              <a:defRPr sz="1700" b="0">
                <a:solidFill>
                  <a:srgbClr val="172941"/>
                </a:solidFill>
                <a:latin typeface="Arial"/>
              </a:defRPr>
            </a:pPr>
            <a:r>
              <a:t>optimization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2563EB"/>
                </a:solidFill>
                <a:latin typeface="Arial"/>
              </a:defRPr>
            </a:pPr>
            <a:r>
              <a:t>08 / Takeaways</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172941"/>
                </a:solidFill>
                <a:latin typeface="Arial"/>
              </a:defRPr>
            </a:pPr>
            <a:r>
              <a:t>Three things to remember</a:t>
            </a:r>
          </a:p>
        </p:txBody>
      </p:sp>
      <p:sp>
        <p:nvSpPr>
          <p:cNvPr id="4" name="TextBox 3"/>
          <p:cNvSpPr txBox="1"/>
          <p:nvPr/>
        </p:nvSpPr>
        <p:spPr>
          <a:xfrm>
            <a:off x="475488" y="1399032"/>
            <a:ext cx="11155680" cy="484632"/>
          </a:xfrm>
          <a:prstGeom prst="rect">
            <a:avLst/>
          </a:prstGeom>
          <a:noFill/>
        </p:spPr>
        <p:txBody>
          <a:bodyPr wrap="square" lIns="13716" rIns="13716" tIns="13716" bIns="13716">
            <a:spAutoFit/>
          </a:bodyPr>
          <a:lstStyle/>
          <a:p>
            <a:pPr>
              <a:spcBef>
                <a:spcPts val="0"/>
              </a:spcBef>
              <a:spcAft>
                <a:spcPts val="500"/>
              </a:spcAft>
              <a:defRPr sz="1700" b="0">
                <a:solidFill>
                  <a:srgbClr val="586A80"/>
                </a:solidFill>
                <a:latin typeface="Arial"/>
              </a:defRPr>
            </a:pPr>
            <a:r>
              <a:t>Independent capacity is the opportunity. Reconciled topology is the enabler.</a:t>
            </a:r>
          </a:p>
        </p:txBody>
      </p:sp>
      <p:cxnSp>
        <p:nvCxnSpPr>
          <p:cNvPr id="5" name="Connector 4"/>
          <p:cNvCxnSpPr/>
          <p:nvPr/>
        </p:nvCxnSpPr>
        <p:spPr>
          <a:xfrm>
            <a:off x="457200" y="6510528"/>
            <a:ext cx="11274552"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586A80"/>
                </a:solidFill>
                <a:latin typeface="Arial"/>
              </a:defRPr>
            </a:pPr>
            <a:r>
              <a:t>KubeCon + CloudNativeCon North America 2026  /  KAITO + llm-d</a:t>
            </a:r>
          </a:p>
        </p:txBody>
      </p:sp>
      <p:sp>
        <p:nvSpPr>
          <p:cNvPr id="7" name="TextBox 6"/>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586A80"/>
                </a:solidFill>
                <a:latin typeface="Arial"/>
              </a:defRPr>
            </a:pPr>
            <a:r>
              <a:t>55 / 56</a:t>
            </a:r>
          </a:p>
        </p:txBody>
      </p:sp>
      <p:sp>
        <p:nvSpPr>
          <p:cNvPr id="8" name="Rounded Rectangle 7"/>
          <p:cNvSpPr/>
          <p:nvPr/>
        </p:nvSpPr>
        <p:spPr>
          <a:xfrm>
            <a:off x="502920" y="2395728"/>
            <a:ext cx="548640" cy="310896"/>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27732"/>
            <a:ext cx="420623" cy="237744"/>
          </a:xfrm>
          <a:prstGeom prst="rect">
            <a:avLst/>
          </a:prstGeom>
          <a:noFill/>
        </p:spPr>
        <p:txBody>
          <a:bodyPr wrap="square" lIns="13716" rIns="13716" tIns="13716" bIns="13716">
            <a:spAutoFit/>
          </a:bodyPr>
          <a:lstStyle/>
          <a:p>
            <a:pPr algn="ctr">
              <a:spcBef>
                <a:spcPts val="0"/>
              </a:spcBef>
              <a:spcAft>
                <a:spcPts val="500"/>
              </a:spcAft>
              <a:defRPr sz="1000" b="1">
                <a:solidFill>
                  <a:srgbClr val="087F8C"/>
                </a:solidFill>
                <a:latin typeface="Arial"/>
              </a:defRPr>
            </a:pPr>
            <a:r>
              <a:t>01</a:t>
            </a:r>
          </a:p>
        </p:txBody>
      </p:sp>
      <p:sp>
        <p:nvSpPr>
          <p:cNvPr id="10" name="TextBox 9"/>
          <p:cNvSpPr txBox="1"/>
          <p:nvPr/>
        </p:nvSpPr>
        <p:spPr>
          <a:xfrm>
            <a:off x="1298448" y="2249424"/>
            <a:ext cx="3794760" cy="438912"/>
          </a:xfrm>
          <a:prstGeom prst="rect">
            <a:avLst/>
          </a:prstGeom>
          <a:noFill/>
        </p:spPr>
        <p:txBody>
          <a:bodyPr wrap="square" lIns="13716" rIns="13716" tIns="13716" bIns="13716">
            <a:spAutoFit/>
          </a:bodyPr>
          <a:lstStyle/>
          <a:p>
            <a:pPr>
              <a:spcBef>
                <a:spcPts val="0"/>
              </a:spcBef>
              <a:spcAft>
                <a:spcPts val="500"/>
              </a:spcAft>
              <a:defRPr sz="2400" b="1">
                <a:solidFill>
                  <a:srgbClr val="087F8C"/>
                </a:solidFill>
                <a:latin typeface="Arial"/>
              </a:defRPr>
            </a:pPr>
            <a:r>
              <a:t>Split for a reason</a:t>
            </a:r>
          </a:p>
        </p:txBody>
      </p:sp>
      <p:sp>
        <p:nvSpPr>
          <p:cNvPr id="11" name="TextBox 10"/>
          <p:cNvSpPr txBox="1"/>
          <p:nvPr/>
        </p:nvSpPr>
        <p:spPr>
          <a:xfrm>
            <a:off x="5230368" y="2295144"/>
            <a:ext cx="6355080" cy="713232"/>
          </a:xfrm>
          <a:prstGeom prst="rect">
            <a:avLst/>
          </a:prstGeom>
          <a:noFill/>
        </p:spPr>
        <p:txBody>
          <a:bodyPr wrap="square" lIns="13716" rIns="13716" tIns="13716" bIns="13716">
            <a:spAutoFit/>
          </a:bodyPr>
          <a:lstStyle/>
          <a:p>
            <a:pPr>
              <a:spcBef>
                <a:spcPts val="0"/>
              </a:spcBef>
              <a:spcAft>
                <a:spcPts val="500"/>
              </a:spcAft>
              <a:defRPr sz="1900" b="0">
                <a:solidFill>
                  <a:srgbClr val="172941"/>
                </a:solidFill>
                <a:latin typeface="Arial"/>
              </a:defRPr>
            </a:pPr>
            <a:r>
              <a:t>Prefill and decode have different bottlenecks.</a:t>
            </a:r>
          </a:p>
        </p:txBody>
      </p:sp>
      <p:sp>
        <p:nvSpPr>
          <p:cNvPr id="12" name="Rounded Rectangle 11"/>
          <p:cNvSpPr/>
          <p:nvPr/>
        </p:nvSpPr>
        <p:spPr>
          <a:xfrm>
            <a:off x="502920" y="3483863"/>
            <a:ext cx="548640" cy="310896"/>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515868"/>
            <a:ext cx="420623" cy="237744"/>
          </a:xfrm>
          <a:prstGeom prst="rect">
            <a:avLst/>
          </a:prstGeom>
          <a:noFill/>
        </p:spPr>
        <p:txBody>
          <a:bodyPr wrap="square" lIns="13716" rIns="13716" tIns="13716" bIns="13716">
            <a:spAutoFit/>
          </a:bodyPr>
          <a:lstStyle/>
          <a:p>
            <a:pPr algn="ctr">
              <a:spcBef>
                <a:spcPts val="0"/>
              </a:spcBef>
              <a:spcAft>
                <a:spcPts val="500"/>
              </a:spcAft>
              <a:defRPr sz="1000" b="1">
                <a:solidFill>
                  <a:srgbClr val="2563EB"/>
                </a:solidFill>
                <a:latin typeface="Arial"/>
              </a:defRPr>
            </a:pPr>
            <a:r>
              <a:t>02</a:t>
            </a:r>
          </a:p>
        </p:txBody>
      </p:sp>
      <p:sp>
        <p:nvSpPr>
          <p:cNvPr id="14" name="TextBox 13"/>
          <p:cNvSpPr txBox="1"/>
          <p:nvPr/>
        </p:nvSpPr>
        <p:spPr>
          <a:xfrm>
            <a:off x="1298448" y="3337560"/>
            <a:ext cx="3794760" cy="438912"/>
          </a:xfrm>
          <a:prstGeom prst="rect">
            <a:avLst/>
          </a:prstGeom>
          <a:noFill/>
        </p:spPr>
        <p:txBody>
          <a:bodyPr wrap="square" lIns="13716" rIns="13716" tIns="13716" bIns="13716">
            <a:spAutoFit/>
          </a:bodyPr>
          <a:lstStyle/>
          <a:p>
            <a:pPr>
              <a:spcBef>
                <a:spcPts val="0"/>
              </a:spcBef>
              <a:spcAft>
                <a:spcPts val="500"/>
              </a:spcAft>
              <a:defRPr sz="2400" b="1">
                <a:solidFill>
                  <a:srgbClr val="2563EB"/>
                </a:solidFill>
                <a:latin typeface="Arial"/>
              </a:defRPr>
            </a:pPr>
            <a:r>
              <a:t>Declare the topology</a:t>
            </a:r>
          </a:p>
        </p:txBody>
      </p:sp>
      <p:sp>
        <p:nvSpPr>
          <p:cNvPr id="15" name="TextBox 14"/>
          <p:cNvSpPr txBox="1"/>
          <p:nvPr/>
        </p:nvSpPr>
        <p:spPr>
          <a:xfrm>
            <a:off x="5230368" y="3383279"/>
            <a:ext cx="6355080" cy="713232"/>
          </a:xfrm>
          <a:prstGeom prst="rect">
            <a:avLst/>
          </a:prstGeom>
          <a:noFill/>
        </p:spPr>
        <p:txBody>
          <a:bodyPr wrap="square" lIns="13716" rIns="13716" tIns="13716" bIns="13716">
            <a:spAutoFit/>
          </a:bodyPr>
          <a:lstStyle/>
          <a:p>
            <a:pPr>
              <a:spcBef>
                <a:spcPts val="0"/>
              </a:spcBef>
              <a:spcAft>
                <a:spcPts val="500"/>
              </a:spcAft>
              <a:defRPr sz="1900" b="0">
                <a:solidFill>
                  <a:srgbClr val="172941"/>
                </a:solidFill>
                <a:latin typeface="Arial"/>
              </a:defRPr>
            </a:pPr>
            <a:r>
              <a:t>KAITO composes the resources; llm-d routes the work.</a:t>
            </a:r>
          </a:p>
        </p:txBody>
      </p:sp>
      <p:sp>
        <p:nvSpPr>
          <p:cNvPr id="16" name="Rounded Rectangle 15"/>
          <p:cNvSpPr/>
          <p:nvPr/>
        </p:nvSpPr>
        <p:spPr>
          <a:xfrm>
            <a:off x="502920" y="4572000"/>
            <a:ext cx="548640" cy="310896"/>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604004"/>
            <a:ext cx="420623" cy="237744"/>
          </a:xfrm>
          <a:prstGeom prst="rect">
            <a:avLst/>
          </a:prstGeom>
          <a:noFill/>
        </p:spPr>
        <p:txBody>
          <a:bodyPr wrap="square" lIns="13716" rIns="13716" tIns="13716" bIns="13716">
            <a:spAutoFit/>
          </a:bodyPr>
          <a:lstStyle/>
          <a:p>
            <a:pPr algn="ctr">
              <a:spcBef>
                <a:spcPts val="0"/>
              </a:spcBef>
              <a:spcAft>
                <a:spcPts val="500"/>
              </a:spcAft>
              <a:defRPr sz="1000" b="1">
                <a:solidFill>
                  <a:srgbClr val="7354B8"/>
                </a:solidFill>
                <a:latin typeface="Arial"/>
              </a:defRPr>
            </a:pPr>
            <a:r>
              <a:t>03</a:t>
            </a:r>
          </a:p>
        </p:txBody>
      </p:sp>
      <p:sp>
        <p:nvSpPr>
          <p:cNvPr id="18" name="TextBox 17"/>
          <p:cNvSpPr txBox="1"/>
          <p:nvPr/>
        </p:nvSpPr>
        <p:spPr>
          <a:xfrm>
            <a:off x="1298448" y="4425696"/>
            <a:ext cx="3794760" cy="438912"/>
          </a:xfrm>
          <a:prstGeom prst="rect">
            <a:avLst/>
          </a:prstGeom>
          <a:noFill/>
        </p:spPr>
        <p:txBody>
          <a:bodyPr wrap="square" lIns="13716" rIns="13716" tIns="13716" bIns="13716">
            <a:spAutoFit/>
          </a:bodyPr>
          <a:lstStyle/>
          <a:p>
            <a:pPr>
              <a:spcBef>
                <a:spcPts val="0"/>
              </a:spcBef>
              <a:spcAft>
                <a:spcPts val="500"/>
              </a:spcAft>
              <a:defRPr sz="2400" b="1">
                <a:solidFill>
                  <a:srgbClr val="7354B8"/>
                </a:solidFill>
                <a:latin typeface="Arial"/>
              </a:defRPr>
            </a:pPr>
            <a:r>
              <a:t>Prove the tradeoff</a:t>
            </a:r>
          </a:p>
        </p:txBody>
      </p:sp>
      <p:sp>
        <p:nvSpPr>
          <p:cNvPr id="19" name="TextBox 18"/>
          <p:cNvSpPr txBox="1"/>
          <p:nvPr/>
        </p:nvSpPr>
        <p:spPr>
          <a:xfrm>
            <a:off x="5230368" y="4471416"/>
            <a:ext cx="6355080" cy="713232"/>
          </a:xfrm>
          <a:prstGeom prst="rect">
            <a:avLst/>
          </a:prstGeom>
          <a:noFill/>
        </p:spPr>
        <p:txBody>
          <a:bodyPr wrap="square" lIns="13716" rIns="13716" tIns="13716" bIns="13716">
            <a:spAutoFit/>
          </a:bodyPr>
          <a:lstStyle/>
          <a:p>
            <a:pPr>
              <a:spcBef>
                <a:spcPts val="0"/>
              </a:spcBef>
              <a:spcAft>
                <a:spcPts val="500"/>
              </a:spcAft>
              <a:defRPr sz="1900" b="0">
                <a:solidFill>
                  <a:srgbClr val="172941"/>
                </a:solidFill>
                <a:latin typeface="Arial"/>
              </a:defRPr>
            </a:pPr>
            <a:r>
              <a:t>Use role-aware metrics and measure against a baseline.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039"/>
        </a:solidFill>
        <a:effectLst/>
      </p:bgPr>
    </p:bg>
    <p:spTree>
      <p:nvGrpSpPr>
        <p:cNvPr id="1" name=""/>
        <p:cNvGrpSpPr/>
        <p:nvPr/>
      </p:nvGrpSpPr>
      <p:grpSpPr/>
      <p:sp>
        <p:nvSpPr>
          <p:cNvPr id="2" name="TextBox 1"/>
          <p:cNvSpPr txBox="1"/>
          <p:nvPr/>
        </p:nvSpPr>
        <p:spPr>
          <a:xfrm>
            <a:off x="457200" y="246888"/>
            <a:ext cx="10789920" cy="256032"/>
          </a:xfrm>
          <a:prstGeom prst="rect">
            <a:avLst/>
          </a:prstGeom>
          <a:noFill/>
        </p:spPr>
        <p:txBody>
          <a:bodyPr wrap="square" lIns="13716" rIns="13716" tIns="13716" bIns="13716">
            <a:spAutoFit/>
          </a:bodyPr>
          <a:lstStyle/>
          <a:p>
            <a:pPr>
              <a:spcBef>
                <a:spcPts val="0"/>
              </a:spcBef>
              <a:spcAft>
                <a:spcPts val="500"/>
              </a:spcAft>
              <a:defRPr sz="1000" b="1">
                <a:solidFill>
                  <a:srgbClr val="AFC3DF"/>
                </a:solidFill>
                <a:latin typeface="Arial"/>
              </a:defRPr>
            </a:pPr>
            <a:r>
              <a:t>08 / Q&amp;A</a:t>
            </a:r>
          </a:p>
        </p:txBody>
      </p:sp>
      <p:sp>
        <p:nvSpPr>
          <p:cNvPr id="3" name="TextBox 2"/>
          <p:cNvSpPr txBox="1"/>
          <p:nvPr/>
        </p:nvSpPr>
        <p:spPr>
          <a:xfrm>
            <a:off x="457200" y="758952"/>
            <a:ext cx="11247120" cy="566928"/>
          </a:xfrm>
          <a:prstGeom prst="rect">
            <a:avLst/>
          </a:prstGeom>
          <a:noFill/>
        </p:spPr>
        <p:txBody>
          <a:bodyPr wrap="square" lIns="13716" rIns="13716" tIns="13716" bIns="13716">
            <a:spAutoFit/>
          </a:bodyPr>
          <a:lstStyle/>
          <a:p>
            <a:pPr>
              <a:spcBef>
                <a:spcPts val="0"/>
              </a:spcBef>
              <a:spcAft>
                <a:spcPts val="500"/>
              </a:spcAft>
              <a:defRPr sz="2900" b="1">
                <a:solidFill>
                  <a:srgbClr val="FFFFFF"/>
                </a:solidFill>
                <a:latin typeface="Arial"/>
              </a:defRPr>
            </a:pPr>
            <a:r>
              <a:t>Questions? Start with your workload.</a:t>
            </a:r>
          </a:p>
        </p:txBody>
      </p:sp>
      <p:cxnSp>
        <p:nvCxnSpPr>
          <p:cNvPr id="4" name="Connector 3"/>
          <p:cNvCxnSpPr/>
          <p:nvPr/>
        </p:nvCxnSpPr>
        <p:spPr>
          <a:xfrm>
            <a:off x="457200" y="6510528"/>
            <a:ext cx="11274552" cy="0"/>
          </a:xfrm>
          <a:prstGeom prst="line">
            <a:avLst/>
          </a:prstGeom>
          <a:ln w="8890">
            <a:solidFill>
              <a:srgbClr val="586A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74536"/>
            <a:ext cx="10515600" cy="182880"/>
          </a:xfrm>
          <a:prstGeom prst="rect">
            <a:avLst/>
          </a:prstGeom>
          <a:noFill/>
        </p:spPr>
        <p:txBody>
          <a:bodyPr wrap="square" lIns="13716" rIns="13716" tIns="13716" bIns="13716">
            <a:spAutoFit/>
          </a:bodyPr>
          <a:lstStyle/>
          <a:p>
            <a:pPr>
              <a:spcBef>
                <a:spcPts val="0"/>
              </a:spcBef>
              <a:spcAft>
                <a:spcPts val="500"/>
              </a:spcAft>
              <a:defRPr sz="800" b="0">
                <a:solidFill>
                  <a:srgbClr val="AFC3DF"/>
                </a:solidFill>
                <a:latin typeface="Arial"/>
              </a:defRPr>
            </a:pPr>
            <a:r>
              <a:t>KubeCon + CloudNativeCon North America 2026  /  KAITO + llm-d</a:t>
            </a:r>
          </a:p>
        </p:txBody>
      </p:sp>
      <p:sp>
        <p:nvSpPr>
          <p:cNvPr id="6" name="TextBox 5"/>
          <p:cNvSpPr txBox="1"/>
          <p:nvPr/>
        </p:nvSpPr>
        <p:spPr>
          <a:xfrm>
            <a:off x="11091672" y="6556248"/>
            <a:ext cx="640080" cy="219456"/>
          </a:xfrm>
          <a:prstGeom prst="rect">
            <a:avLst/>
          </a:prstGeom>
          <a:noFill/>
        </p:spPr>
        <p:txBody>
          <a:bodyPr wrap="square" lIns="13716" rIns="13716" tIns="13716" bIns="13716">
            <a:spAutoFit/>
          </a:bodyPr>
          <a:lstStyle/>
          <a:p>
            <a:pPr algn="r">
              <a:spcBef>
                <a:spcPts val="0"/>
              </a:spcBef>
              <a:spcAft>
                <a:spcPts val="500"/>
              </a:spcAft>
              <a:defRPr sz="900" b="0">
                <a:solidFill>
                  <a:srgbClr val="AFC3DF"/>
                </a:solidFill>
                <a:latin typeface="Arial"/>
              </a:defRPr>
            </a:pPr>
            <a:r>
              <a:t>56 / 56</a:t>
            </a:r>
          </a:p>
        </p:txBody>
      </p:sp>
      <p:sp>
        <p:nvSpPr>
          <p:cNvPr id="7" name="TextBox 6"/>
          <p:cNvSpPr txBox="1"/>
          <p:nvPr/>
        </p:nvSpPr>
        <p:spPr>
          <a:xfrm>
            <a:off x="502920" y="1618488"/>
            <a:ext cx="10789920" cy="960120"/>
          </a:xfrm>
          <a:prstGeom prst="rect">
            <a:avLst/>
          </a:prstGeom>
          <a:noFill/>
        </p:spPr>
        <p:txBody>
          <a:bodyPr wrap="square" lIns="13716" rIns="13716" tIns="13716" bIns="13716">
            <a:spAutoFit/>
          </a:bodyPr>
          <a:lstStyle/>
          <a:p>
            <a:pPr>
              <a:spcBef>
                <a:spcPts val="0"/>
              </a:spcBef>
              <a:spcAft>
                <a:spcPts val="500"/>
              </a:spcAft>
              <a:defRPr sz="2600" b="1">
                <a:solidFill>
                  <a:srgbClr val="FFFFFF"/>
                </a:solidFill>
                <a:latin typeface="Arial"/>
              </a:defRPr>
            </a:pPr>
            <a:r>
              <a:t>Which phase limits you today—</a:t>
            </a:r>
          </a:p>
          <a:p>
            <a:pPr>
              <a:spcBef>
                <a:spcPts val="0"/>
              </a:spcBef>
              <a:spcAft>
                <a:spcPts val="500"/>
              </a:spcAft>
              <a:defRPr sz="2600" b="1">
                <a:solidFill>
                  <a:srgbClr val="FFFFFF"/>
                </a:solidFill>
                <a:latin typeface="Arial"/>
              </a:defRPr>
            </a:pPr>
            <a:r>
              <a:t>prompt processing, token delivery, or the KV path?</a:t>
            </a:r>
          </a:p>
        </p:txBody>
      </p:sp>
      <p:sp>
        <p:nvSpPr>
          <p:cNvPr id="8" name="Rounded Rectangle 7"/>
          <p:cNvSpPr/>
          <p:nvPr/>
        </p:nvSpPr>
        <p:spPr>
          <a:xfrm>
            <a:off x="502920" y="2999232"/>
            <a:ext cx="3611880" cy="12801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3090672"/>
            <a:ext cx="50292" cy="1097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18103"/>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087F8C"/>
                </a:solidFill>
                <a:latin typeface="Arial"/>
              </a:defRPr>
            </a:pPr>
            <a:r>
              <a:t>Workload</a:t>
            </a:r>
          </a:p>
        </p:txBody>
      </p:sp>
      <p:sp>
        <p:nvSpPr>
          <p:cNvPr id="11" name="TextBox 10"/>
          <p:cNvSpPr txBox="1"/>
          <p:nvPr/>
        </p:nvSpPr>
        <p:spPr>
          <a:xfrm>
            <a:off x="649224" y="3557016"/>
            <a:ext cx="3319272" cy="63093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Prompt + output lengths</a:t>
            </a:r>
          </a:p>
        </p:txBody>
      </p:sp>
      <p:sp>
        <p:nvSpPr>
          <p:cNvPr id="12" name="Rounded Rectangle 11"/>
          <p:cNvSpPr/>
          <p:nvPr/>
        </p:nvSpPr>
        <p:spPr>
          <a:xfrm>
            <a:off x="4288536" y="2999232"/>
            <a:ext cx="3611880" cy="12801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8536" y="3090672"/>
            <a:ext cx="50292" cy="1097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3118103"/>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2563EB"/>
                </a:solidFill>
                <a:latin typeface="Arial"/>
              </a:defRPr>
            </a:pPr>
            <a:r>
              <a:t>Infrastructure</a:t>
            </a:r>
          </a:p>
        </p:txBody>
      </p:sp>
      <p:sp>
        <p:nvSpPr>
          <p:cNvPr id="15" name="TextBox 14"/>
          <p:cNvSpPr txBox="1"/>
          <p:nvPr/>
        </p:nvSpPr>
        <p:spPr>
          <a:xfrm>
            <a:off x="4434840" y="3557016"/>
            <a:ext cx="3319272" cy="63093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GPU topology + fabric</a:t>
            </a:r>
          </a:p>
        </p:txBody>
      </p:sp>
      <p:sp>
        <p:nvSpPr>
          <p:cNvPr id="16" name="Rounded Rectangle 15"/>
          <p:cNvSpPr/>
          <p:nvPr/>
        </p:nvSpPr>
        <p:spPr>
          <a:xfrm>
            <a:off x="8074152" y="2999232"/>
            <a:ext cx="3611880" cy="12801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3090672"/>
            <a:ext cx="50292" cy="109728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3118103"/>
            <a:ext cx="3337560" cy="393192"/>
          </a:xfrm>
          <a:prstGeom prst="rect">
            <a:avLst/>
          </a:prstGeom>
          <a:noFill/>
        </p:spPr>
        <p:txBody>
          <a:bodyPr wrap="square" lIns="13716" rIns="13716" tIns="13716" bIns="13716">
            <a:spAutoFit/>
          </a:bodyPr>
          <a:lstStyle/>
          <a:p>
            <a:pPr algn="ctr">
              <a:spcBef>
                <a:spcPts val="0"/>
              </a:spcBef>
              <a:spcAft>
                <a:spcPts val="500"/>
              </a:spcAft>
              <a:defRPr sz="2200" b="1">
                <a:solidFill>
                  <a:srgbClr val="7354B8"/>
                </a:solidFill>
                <a:latin typeface="Arial"/>
              </a:defRPr>
            </a:pPr>
            <a:r>
              <a:t>Operations</a:t>
            </a:r>
          </a:p>
        </p:txBody>
      </p:sp>
      <p:sp>
        <p:nvSpPr>
          <p:cNvPr id="19" name="TextBox 18"/>
          <p:cNvSpPr txBox="1"/>
          <p:nvPr/>
        </p:nvSpPr>
        <p:spPr>
          <a:xfrm>
            <a:off x="8220456" y="3557016"/>
            <a:ext cx="3319272" cy="630936"/>
          </a:xfrm>
          <a:prstGeom prst="rect">
            <a:avLst/>
          </a:prstGeom>
          <a:noFill/>
        </p:spPr>
        <p:txBody>
          <a:bodyPr wrap="square" lIns="13716" rIns="13716" tIns="13716" bIns="13716">
            <a:spAutoFit/>
          </a:bodyPr>
          <a:lstStyle/>
          <a:p>
            <a:pPr algn="ctr">
              <a:spcBef>
                <a:spcPts val="0"/>
              </a:spcBef>
              <a:spcAft>
                <a:spcPts val="500"/>
              </a:spcAft>
              <a:defRPr sz="1400" b="0">
                <a:solidFill>
                  <a:srgbClr val="586A80"/>
                </a:solidFill>
                <a:latin typeface="Arial"/>
              </a:defRPr>
            </a:pPr>
            <a:r>
              <a:t>SLO + scaling signals</a:t>
            </a:r>
          </a:p>
        </p:txBody>
      </p:sp>
      <p:sp>
        <p:nvSpPr>
          <p:cNvPr id="20" name="TextBox 19"/>
          <p:cNvSpPr txBox="1"/>
          <p:nvPr/>
        </p:nvSpPr>
        <p:spPr>
          <a:xfrm>
            <a:off x="502920" y="4809744"/>
            <a:ext cx="11155680" cy="329184"/>
          </a:xfrm>
          <a:prstGeom prst="rect">
            <a:avLst/>
          </a:prstGeom>
          <a:noFill/>
        </p:spPr>
        <p:txBody>
          <a:bodyPr wrap="square" lIns="13716" rIns="13716" tIns="13716" bIns="13716">
            <a:spAutoFit/>
          </a:bodyPr>
          <a:lstStyle/>
          <a:p>
            <a:pPr>
              <a:spcBef>
                <a:spcPts val="0"/>
              </a:spcBef>
              <a:spcAft>
                <a:spcPts val="500"/>
              </a:spcAft>
              <a:defRPr sz="1800" b="1">
                <a:solidFill>
                  <a:srgbClr val="AFC3DF"/>
                </a:solidFill>
                <a:latin typeface="Arial"/>
              </a:defRPr>
            </a:pPr>
            <a:r>
              <a:t>Continue with the implementation guides</a:t>
            </a:r>
          </a:p>
        </p:txBody>
      </p:sp>
      <p:sp>
        <p:nvSpPr>
          <p:cNvPr id="21" name="TextBox 20"/>
          <p:cNvSpPr txBox="1"/>
          <p:nvPr/>
        </p:nvSpPr>
        <p:spPr>
          <a:xfrm>
            <a:off x="502920" y="5367528"/>
            <a:ext cx="10972800" cy="310896"/>
          </a:xfrm>
          <a:prstGeom prst="rect">
            <a:avLst/>
          </a:prstGeom>
          <a:noFill/>
        </p:spPr>
        <p:txBody>
          <a:bodyPr wrap="square" lIns="13716" rIns="13716" tIns="13716" bIns="13716">
            <a:spAutoFit/>
          </a:bodyPr>
          <a:lstStyle/>
          <a:p>
            <a:pPr>
              <a:spcBef>
                <a:spcPts val="0"/>
              </a:spcBef>
              <a:spcAft>
                <a:spcPts val="500"/>
              </a:spcAft>
              <a:defRPr sz="1500" b="0">
                <a:solidFill>
                  <a:srgbClr val="FFFFFF"/>
                </a:solidFill>
                <a:latin typeface="Arial"/>
              </a:defRPr>
            </a:pPr>
            <a:r>
              <a:rPr>
                <a:hlinkClick r:id="rId2"/>
              </a:rPr>
              <a:t>KAITO: prefill/decode disaggregation</a:t>
            </a:r>
          </a:p>
        </p:txBody>
      </p:sp>
      <p:sp>
        <p:nvSpPr>
          <p:cNvPr id="22" name="TextBox 21"/>
          <p:cNvSpPr txBox="1"/>
          <p:nvPr/>
        </p:nvSpPr>
        <p:spPr>
          <a:xfrm>
            <a:off x="502920" y="5779008"/>
            <a:ext cx="10972800" cy="310896"/>
          </a:xfrm>
          <a:prstGeom prst="rect">
            <a:avLst/>
          </a:prstGeom>
          <a:noFill/>
        </p:spPr>
        <p:txBody>
          <a:bodyPr wrap="square" lIns="13716" rIns="13716" tIns="13716" bIns="13716">
            <a:spAutoFit/>
          </a:bodyPr>
          <a:lstStyle/>
          <a:p>
            <a:pPr>
              <a:spcBef>
                <a:spcPts val="0"/>
              </a:spcBef>
              <a:spcAft>
                <a:spcPts val="500"/>
              </a:spcAft>
              <a:defRPr sz="1500" b="0">
                <a:solidFill>
                  <a:srgbClr val="FFFFFF"/>
                </a:solidFill>
                <a:latin typeface="Arial"/>
              </a:defRPr>
            </a:pPr>
            <a:r>
              <a:rPr>
                <a:hlinkClick r:id="rId3"/>
              </a:rPr>
              <a:t>KAITO: KEDA autoscaling for InferenceSet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Prefill here, decode there</dc:title>
  <dc:subject>Kubernetes-native LLM inference disaggregation with KAITO and llm-d</dc:subject>
  <dc:creator>Andy Zhang</dc:creator>
  <cp:keywords>KubeCon, KAITO, llm-d, prefill, decode, editable diagrams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