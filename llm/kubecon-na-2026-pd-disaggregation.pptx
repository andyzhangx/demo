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Exact prompt: What does Kubernetes do? Exact output: Kubernetes helps teams deploy and scale applications.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the complete word Kubernetes.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Continue slide 3. Exact output: Kubernetes helps teams deploy and scale applications. Prefill selected y1 = Kubernetes with only prompt KV cached. Decode step i consumes yi with cache for prompt plus y1 through y(i-1), appends per-layer K/V for yi, then selects y(i+1) from the new position logits. Six rows: Kubernetes -&gt; helps; helps -&gt; teams; teams -&gt; deploy; deploy -&gt; and; and -&gt; scale; scale -&gt; applications. After row 6, cached output positions are y1-y6 and y7 (applications) is selected but not consumed or cached. The omitted final step consumes y7 (applications) and selects y8 (period). If generation continues, consuming the period could select EOS; EOS is normally hidden and need not be consumed into KV on stopping. No EOS ID or actual model decision is asserted.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words under the one-word-per-token teaching assumption; the later word applications and punctuation are omitted. TTFT means time to first token: request submission to first received token, which is a whole word only in this schematic. Each ITL is the gap between successive received tokens. Five gaps are shown, not timing measurements; durations are not to scale. In real systems the first token need not be a complete word. Queueing, orchestration, transport, detokenization and stream buffering may change client-observed arrival grouping and latency. A real stream chunk may contain multiple tokens. Average time per output token is not each ITL sample or percentile. These phase semantics cover colocated and disaggregated serving and do not mandate a worker boundary; colocated serving needs no inter-worker KV transfer.</a:t>
            </a:r>
          </a:p>
          <a:p/>
          <a:p>
            <a:r>
              <a:t>Narrative source: kubecon-na-2026-pd-disaggregation.md</a:t>
            </a:r>
          </a:p>
          <a:p>
            <a:r>
              <a:t>References:</a:t>
            </a:r>
          </a:p>
          <a:p>
            <a:r>
              <a:t>https://huggingface.co/docs/transformers/en/cache_explanation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mapping, not exclusive causation: prefill latency mainly shapes TTFT (time to first token), while decode mainly shapes ITL (inter-token latency) and per-request TPOT (average time per output token after the first). Lower latency is better at matched workload and quality. TTFT is not pure prefill compute: request queueing, routing, input processing/tokenization, scheduling, and delivery contribute; disaggregated serving can also add KV-transfer and coordination time on the first-token critical path, depending on the protocol. No worker ordering or first-token delivery worker is mandated.</a:t>
            </a:r>
          </a:p>
          <a:p/>
          <a:p>
            <a:r>
              <a:t>At a client measurement boundary, TTFT is request submission to receipt of the first output token. ITL describes gaps between successive output tokens in a one-token-per-event stream. The cited vLLM inter_token_latency_seconds histogram actually records consecutive streamed output events, which can contain multiple tokens; request_time_per_output_token_seconds records one TPOT sample per finished request. For Nout &gt; 1, TPOT = (end-to-end latency - TTFT)/(Nout - 1) at the source metric boundaries. ITL and TPOT distributions, means and percentiles are not interchangeable: multi-token events and different request/event weighting change them. With consistent client boundaries and TPOT measured from first to last received token, total response latency to the last token is approximately TTFT + (Nout - 1) × TPOT. This is not an exact claim about HTTP request-close time. For no more than one generated token, vLLM server records TPOT as zero whereas its benchmark excludes the request from TPOT statistics.</a:t>
            </a:r>
          </a:p>
          <a:p/>
          <a:p>
            <a:r>
              <a:t>vLLM frontend/engine timing is not identical to client timing: the documented frontend arrival_time starts at tokenization, and engine prefill time runs from the most recent SCHEDULED to first NEW_TOKENS. Client timing additionally observes network and delivery overhead. ITL/TPOT can include scheduling gaps, preemption, contention, detokenization, transport and stream buffering rather than only GPU decode compute. Colocated prefill bursts can stall existing decode streams; chunked prefill and scheduling can mitigate this.</a:t>
            </a:r>
          </a:p>
          <a:p/>
          <a:p>
            <a:r>
              <a:t>Supporting role metrics: prefill latency and input-token processing throughput (input tok/s); decode output-token throughput (output tok/s). State the aggregation scope, time window, prompt/output lengths and prefix-cache accounting. Aggregate output tok/s is across concurrent requests and is not the speed experienced by one request. After the first token, a single request has approximately 1/TPOT output tok/s at matching boundaries; larger decode batches may raise aggregate throughput while worsening per-request ITL/TPOT. Input and output tok/s measure different work and must not be compared as equivalent productivity.</a:t>
            </a:r>
          </a:p>
          <a:p/>
          <a:p>
            <a:r>
              <a:t>Both phases affect end-to-end latency and system capacity. SLO goodput here means requests/s meeting both TTFT and token-delivery latency targets, not all completed requests or raw token throughput. The word often qualifies compute-bound prefill and memory-bandwidth-bound decode: bottlenecks depend on model, batch size, context, hardware and scheduling. Prefill populates the KV cache; longer prompts also increase decode attention/KV cost. HBM KV occupancy is a resource-capacity pressure indicator, not memory bandwidth or a primary latency metric. Conceptual mapping only: no measured speedups or performance data.</a:t>
            </a:r>
          </a:p>
          <a:p/>
          <a:p>
            <a:r>
              <a:t>Narrative source: kubecon-na-2026-pd-disaggregation.md</a:t>
            </a:r>
          </a:p>
          <a:p>
            <a:r>
              <a:t>References:</a:t>
            </a:r>
          </a:p>
          <a:p>
            <a:r>
              <a:t>https://docs.vllm.ai/en/latest/design/metrics/</a:t>
            </a:r>
          </a:p>
          <a:p>
            <a:r>
              <a:t>https://docs.vllm.ai/en/latest/benchmarking/cli/#understanding-the-latency-metrics</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author-created conceptual schedule, not a reproduced research figure, trace or benchmark. Source basis: NVIDIA Dynamo introduction, published 18 March 2025 (page metadata), and current disaggregated-serving overview, accessed 22 October 2026. A is one ongoing request; B is a different newly arriving request. Each purple A block represents some decode execution, not a measured token duration or count. The shared-GPU example chooses a simple non-chunked prefill scheduling interval to explain how prompt processing can delay ongoing decode. Real schedulers can chunk or interleave prefill, use decode-priority policies or mixed batches, and mitigate interference; not all colocated serving has a contiguous pause. Separate GPUs let A continue without executing B prefill on its decode GPU. Equally spaced symbols are for readability only, not a promise of constant ITL or a measured improvement. B still requires KV transfer before its own decode; that transfer and B decode are omitted from this schedule, not assumed free. Queueing, KV movement, memory contention, batching and shared infrastructure can still affect either stream. The split uses an additional worker in this structural sketch; it is not an equal-budget performance comparison. No latency numbers, speedup, throughput, model or GPU recommendation is inferred.</a:t>
            </a:r>
          </a:p>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author-created conceptual batching illustration, not measured curves or reproduced vendor artwork. Dated sources: NVIDIA Dynamo introduction, 18 March 2025; Anatomy of vLLM, article dated 5 September 2025 (published repository 8 September; analyzes an August 9 snapshot). Also current vLLM disaggregated-prefill and Dynamo disaggregated-serving documentation, accessed 22 October 2026. Prefill has many prompt input positions from one or more requests in a forward pass; their p/q labels are schematic positions, not words, actual tokenizer IDs or optimal batch counts. Causal attention still applies: parallel processing does not let a position attend to future positions. Uncached prompt positions may be split across multiple chunks/passes, and prefix reuse can skip cached positions. Ordinary autoregressive decode consumes one newest input position per active sequence, attends to the sequence’s previous KV history, appends that position’s per-layer KV, then selects the next output token. The consumed token is not the newly selected output token of that same step. Independent requests can share a decode batch, but generation remains sequential within each request. The diagram represents three independent sequences, not three successive tokens from one sequence. Speculative decoding and multi-token methods are outside this ordinary-decode illustration. vLLM V1 can mix decode with chunked prefill in one scheduled step, so these conceptual units do not mandate separate physical passes or workers. Longer prompts provide within-request parallel work for prefill; more active sequences provide cross-request decode batching. Larger decode batches can amortize work but increase iteration time, ITL and KV-memory demand; no monotonic throughput improvement, ideal batch size, fixed worker count or latency number is claimed. Both phases use memory and compute. Independent phase tuning may help but remains workload-dependent. P/D additionally requires KV transfer and coordination; see slide7 and slide9 for that tradeoff. This slide deliberately explains batching units, not the independent capacity allocation shown on slide9.</a:t>
            </a:r>
          </a:p>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Prompt: “What does Kubernetes do?”</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caches the prompt, then selects “Kubernetes”. Its K/V is not cached until it is consumed.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5603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Teaching example  /  One word per token</a:t>
            </a:r>
          </a:p>
        </p:txBody>
      </p:sp>
      <p:sp>
        <p:nvSpPr>
          <p:cNvPr id="11" name="Rounded Rectangle 10"/>
          <p:cNvSpPr/>
          <p:nvPr/>
        </p:nvSpPr>
        <p:spPr>
          <a:xfrm>
            <a:off x="594360"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What</a:t>
            </a:r>
          </a:p>
        </p:txBody>
      </p:sp>
      <p:sp>
        <p:nvSpPr>
          <p:cNvPr id="13" name="Rounded Rectangle 12"/>
          <p:cNvSpPr/>
          <p:nvPr/>
        </p:nvSpPr>
        <p:spPr>
          <a:xfrm>
            <a:off x="2798064"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1216"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does</a:t>
            </a:r>
          </a:p>
        </p:txBody>
      </p:sp>
      <p:sp>
        <p:nvSpPr>
          <p:cNvPr id="15" name="Rounded Rectangle 14"/>
          <p:cNvSpPr/>
          <p:nvPr/>
        </p:nvSpPr>
        <p:spPr>
          <a:xfrm>
            <a:off x="5001768"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Kubernetes</a:t>
            </a:r>
          </a:p>
        </p:txBody>
      </p:sp>
      <p:sp>
        <p:nvSpPr>
          <p:cNvPr id="17" name="Rounded Rectangle 16"/>
          <p:cNvSpPr/>
          <p:nvPr/>
        </p:nvSpPr>
        <p:spPr>
          <a:xfrm>
            <a:off x="7205472"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78624"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a:t>
            </a:r>
          </a:p>
        </p:txBody>
      </p:sp>
      <p:sp>
        <p:nvSpPr>
          <p:cNvPr id="19" name="Rounded Rectangle 18"/>
          <p:cNvSpPr/>
          <p:nvPr/>
        </p:nvSpPr>
        <p:spPr>
          <a:xfrm>
            <a:off x="9409176"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82328"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a:t>
            </a:r>
          </a:p>
        </p:txBody>
      </p:sp>
      <p:sp>
        <p:nvSpPr>
          <p:cNvPr id="21" name="TextBox 20"/>
          <p:cNvSpPr txBox="1"/>
          <p:nvPr/>
        </p:nvSpPr>
        <p:spPr>
          <a:xfrm>
            <a:off x="594360" y="3236976"/>
            <a:ext cx="10991088" cy="29260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Process the prompt positions together, with attention only to earlier or current positions.</a:t>
            </a:r>
          </a:p>
        </p:txBody>
      </p:sp>
      <p:sp>
        <p:nvSpPr>
          <p:cNvPr id="22" name="Rounded Rectangle 21"/>
          <p:cNvSpPr/>
          <p:nvPr/>
        </p:nvSpPr>
        <p:spPr>
          <a:xfrm>
            <a:off x="594360" y="3813048"/>
            <a:ext cx="2743200"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3904487"/>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931920"/>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5 prompt positions</a:t>
            </a:r>
          </a:p>
        </p:txBody>
      </p:sp>
      <p:sp>
        <p:nvSpPr>
          <p:cNvPr id="25" name="TextBox 24"/>
          <p:cNvSpPr txBox="1"/>
          <p:nvPr/>
        </p:nvSpPr>
        <p:spPr>
          <a:xfrm>
            <a:off x="740664" y="4370831"/>
            <a:ext cx="2450592"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4 words + punctuation</a:t>
            </a:r>
          </a:p>
        </p:txBody>
      </p:sp>
      <p:sp>
        <p:nvSpPr>
          <p:cNvPr id="26" name="Rounded Rectangle 25"/>
          <p:cNvSpPr/>
          <p:nvPr/>
        </p:nvSpPr>
        <p:spPr>
          <a:xfrm>
            <a:off x="3794760" y="3813048"/>
            <a:ext cx="380390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94760" y="3904487"/>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1920" y="3931920"/>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Causal prefill</a:t>
            </a:r>
          </a:p>
        </p:txBody>
      </p:sp>
      <p:sp>
        <p:nvSpPr>
          <p:cNvPr id="29" name="TextBox 28"/>
          <p:cNvSpPr txBox="1"/>
          <p:nvPr/>
        </p:nvSpPr>
        <p:spPr>
          <a:xfrm>
            <a:off x="3941064" y="4370831"/>
            <a:ext cx="351129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30" name="Rounded Rectangle 29"/>
          <p:cNvSpPr/>
          <p:nvPr/>
        </p:nvSpPr>
        <p:spPr>
          <a:xfrm>
            <a:off x="8229600" y="3813048"/>
            <a:ext cx="335584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3904487"/>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931920"/>
            <a:ext cx="3081528"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Select “Kubernetes”</a:t>
            </a:r>
          </a:p>
        </p:txBody>
      </p:sp>
      <p:sp>
        <p:nvSpPr>
          <p:cNvPr id="33" name="TextBox 32"/>
          <p:cNvSpPr txBox="1"/>
          <p:nvPr/>
        </p:nvSpPr>
        <p:spPr>
          <a:xfrm>
            <a:off x="8375904" y="4370831"/>
            <a:ext cx="306324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Final prompt-position logits</a:t>
            </a:r>
          </a:p>
        </p:txBody>
      </p:sp>
      <p:cxnSp>
        <p:nvCxnSpPr>
          <p:cNvPr id="34" name="Connector 33"/>
          <p:cNvCxnSpPr/>
          <p:nvPr/>
        </p:nvCxnSpPr>
        <p:spPr>
          <a:xfrm>
            <a:off x="3337560" y="4361688"/>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98664" y="4361688"/>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96712" y="4928616"/>
            <a:ext cx="0" cy="173736"/>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94360" y="5120640"/>
            <a:ext cx="10991088"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193792"/>
            <a:ext cx="10625328" cy="26517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Prompt KV = per-layer attention keys + values for the 5 processed prompt positions.</a:t>
            </a:r>
          </a:p>
        </p:txBody>
      </p:sp>
      <p:sp>
        <p:nvSpPr>
          <p:cNvPr id="39" name="TextBox 38"/>
          <p:cNvSpPr txBox="1"/>
          <p:nvPr/>
        </p:nvSpPr>
        <p:spPr>
          <a:xfrm>
            <a:off x="594360" y="5596128"/>
            <a:ext cx="10991088" cy="201168"/>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output: “Kubernetes helps teams deploy and scale applications.”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TextBox 9"/>
          <p:cNvSpPr txBox="1"/>
          <p:nvPr/>
        </p:nvSpPr>
        <p:spPr>
          <a:xfrm>
            <a:off x="594360" y="1920240"/>
            <a:ext cx="10991088" cy="219456"/>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
        <p:nvSpPr>
          <p:cNvPr id="11" name="Rectangle 10"/>
          <p:cNvSpPr/>
          <p:nvPr/>
        </p:nvSpPr>
        <p:spPr>
          <a:xfrm>
            <a:off x="594360" y="2221992"/>
            <a:ext cx="667512"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67712"/>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3" name="Rectangle 12"/>
          <p:cNvSpPr/>
          <p:nvPr/>
        </p:nvSpPr>
        <p:spPr>
          <a:xfrm>
            <a:off x="1280160" y="2221992"/>
            <a:ext cx="283464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53312" y="2267712"/>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5" name="Rectangle 14"/>
          <p:cNvSpPr/>
          <p:nvPr/>
        </p:nvSpPr>
        <p:spPr>
          <a:xfrm>
            <a:off x="4160520" y="2221992"/>
            <a:ext cx="3675887"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3672" y="2267712"/>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7" name="Rectangle 16"/>
          <p:cNvSpPr/>
          <p:nvPr/>
        </p:nvSpPr>
        <p:spPr>
          <a:xfrm>
            <a:off x="7882127" y="2221992"/>
            <a:ext cx="370332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2267712"/>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9" name="Rectangle 18"/>
          <p:cNvSpPr/>
          <p:nvPr/>
        </p:nvSpPr>
        <p:spPr>
          <a:xfrm>
            <a:off x="594360" y="2587752"/>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61975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1</a:t>
            </a:r>
          </a:p>
        </p:txBody>
      </p:sp>
      <p:sp>
        <p:nvSpPr>
          <p:cNvPr id="21" name="TextBox 20"/>
          <p:cNvSpPr txBox="1"/>
          <p:nvPr/>
        </p:nvSpPr>
        <p:spPr>
          <a:xfrm>
            <a:off x="1362456" y="261975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Kubernetes</a:t>
            </a:r>
          </a:p>
        </p:txBody>
      </p:sp>
      <p:sp>
        <p:nvSpPr>
          <p:cNvPr id="22" name="TextBox 21"/>
          <p:cNvSpPr txBox="1"/>
          <p:nvPr/>
        </p:nvSpPr>
        <p:spPr>
          <a:xfrm>
            <a:off x="4242816" y="261975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“Kubernetes”</a:t>
            </a:r>
          </a:p>
        </p:txBody>
      </p:sp>
      <p:sp>
        <p:nvSpPr>
          <p:cNvPr id="23" name="TextBox 22"/>
          <p:cNvSpPr txBox="1"/>
          <p:nvPr/>
        </p:nvSpPr>
        <p:spPr>
          <a:xfrm>
            <a:off x="7964424" y="261975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4" name="Rectangle 23"/>
          <p:cNvSpPr/>
          <p:nvPr/>
        </p:nvSpPr>
        <p:spPr>
          <a:xfrm>
            <a:off x="594360" y="2880360"/>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912364"/>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2</a:t>
            </a:r>
          </a:p>
        </p:txBody>
      </p:sp>
      <p:sp>
        <p:nvSpPr>
          <p:cNvPr id="26" name="TextBox 25"/>
          <p:cNvSpPr txBox="1"/>
          <p:nvPr/>
        </p:nvSpPr>
        <p:spPr>
          <a:xfrm>
            <a:off x="1362456" y="2912364"/>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7" name="TextBox 26"/>
          <p:cNvSpPr txBox="1"/>
          <p:nvPr/>
        </p:nvSpPr>
        <p:spPr>
          <a:xfrm>
            <a:off x="4242816" y="2912364"/>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“helps”</a:t>
            </a:r>
          </a:p>
        </p:txBody>
      </p:sp>
      <p:sp>
        <p:nvSpPr>
          <p:cNvPr id="28" name="TextBox 27"/>
          <p:cNvSpPr txBox="1"/>
          <p:nvPr/>
        </p:nvSpPr>
        <p:spPr>
          <a:xfrm>
            <a:off x="7964424" y="2912364"/>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29" name="Rectangle 28"/>
          <p:cNvSpPr/>
          <p:nvPr/>
        </p:nvSpPr>
        <p:spPr>
          <a:xfrm>
            <a:off x="594360" y="3172968"/>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204972"/>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3</a:t>
            </a:r>
          </a:p>
        </p:txBody>
      </p:sp>
      <p:sp>
        <p:nvSpPr>
          <p:cNvPr id="31" name="TextBox 30"/>
          <p:cNvSpPr txBox="1"/>
          <p:nvPr/>
        </p:nvSpPr>
        <p:spPr>
          <a:xfrm>
            <a:off x="1362456" y="3204972"/>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32" name="TextBox 31"/>
          <p:cNvSpPr txBox="1"/>
          <p:nvPr/>
        </p:nvSpPr>
        <p:spPr>
          <a:xfrm>
            <a:off x="4242816" y="3204972"/>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“teams”</a:t>
            </a:r>
          </a:p>
        </p:txBody>
      </p:sp>
      <p:sp>
        <p:nvSpPr>
          <p:cNvPr id="33" name="TextBox 32"/>
          <p:cNvSpPr txBox="1"/>
          <p:nvPr/>
        </p:nvSpPr>
        <p:spPr>
          <a:xfrm>
            <a:off x="7964424" y="3204972"/>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4" name="Rectangle 33"/>
          <p:cNvSpPr/>
          <p:nvPr/>
        </p:nvSpPr>
        <p:spPr>
          <a:xfrm>
            <a:off x="594360" y="3465576"/>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3497580"/>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4</a:t>
            </a:r>
          </a:p>
        </p:txBody>
      </p:sp>
      <p:sp>
        <p:nvSpPr>
          <p:cNvPr id="36" name="TextBox 35"/>
          <p:cNvSpPr txBox="1"/>
          <p:nvPr/>
        </p:nvSpPr>
        <p:spPr>
          <a:xfrm>
            <a:off x="1362456" y="3497580"/>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7" name="TextBox 36"/>
          <p:cNvSpPr txBox="1"/>
          <p:nvPr/>
        </p:nvSpPr>
        <p:spPr>
          <a:xfrm>
            <a:off x="4242816" y="3497580"/>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“deploy”</a:t>
            </a:r>
          </a:p>
        </p:txBody>
      </p:sp>
      <p:sp>
        <p:nvSpPr>
          <p:cNvPr id="38" name="TextBox 37"/>
          <p:cNvSpPr txBox="1"/>
          <p:nvPr/>
        </p:nvSpPr>
        <p:spPr>
          <a:xfrm>
            <a:off x="7964424" y="3497580"/>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39" name="Rectangle 38"/>
          <p:cNvSpPr/>
          <p:nvPr/>
        </p:nvSpPr>
        <p:spPr>
          <a:xfrm>
            <a:off x="594360" y="3758184"/>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3790188"/>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5</a:t>
            </a:r>
          </a:p>
        </p:txBody>
      </p:sp>
      <p:sp>
        <p:nvSpPr>
          <p:cNvPr id="41" name="TextBox 40"/>
          <p:cNvSpPr txBox="1"/>
          <p:nvPr/>
        </p:nvSpPr>
        <p:spPr>
          <a:xfrm>
            <a:off x="1362456" y="3790188"/>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42" name="TextBox 41"/>
          <p:cNvSpPr txBox="1"/>
          <p:nvPr/>
        </p:nvSpPr>
        <p:spPr>
          <a:xfrm>
            <a:off x="4242816" y="3790188"/>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“and”</a:t>
            </a:r>
          </a:p>
        </p:txBody>
      </p:sp>
      <p:sp>
        <p:nvSpPr>
          <p:cNvPr id="43" name="TextBox 42"/>
          <p:cNvSpPr txBox="1"/>
          <p:nvPr/>
        </p:nvSpPr>
        <p:spPr>
          <a:xfrm>
            <a:off x="7964424" y="3790188"/>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4" name="Rectangle 43"/>
          <p:cNvSpPr/>
          <p:nvPr/>
        </p:nvSpPr>
        <p:spPr>
          <a:xfrm>
            <a:off x="594360" y="4050791"/>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08279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6</a:t>
            </a:r>
          </a:p>
        </p:txBody>
      </p:sp>
      <p:sp>
        <p:nvSpPr>
          <p:cNvPr id="46" name="TextBox 45"/>
          <p:cNvSpPr txBox="1"/>
          <p:nvPr/>
        </p:nvSpPr>
        <p:spPr>
          <a:xfrm>
            <a:off x="1362456" y="408279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7" name="TextBox 46"/>
          <p:cNvSpPr txBox="1"/>
          <p:nvPr/>
        </p:nvSpPr>
        <p:spPr>
          <a:xfrm>
            <a:off x="4242816" y="408279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“scale”</a:t>
            </a:r>
          </a:p>
        </p:txBody>
      </p:sp>
      <p:sp>
        <p:nvSpPr>
          <p:cNvPr id="48" name="TextBox 47"/>
          <p:cNvSpPr txBox="1"/>
          <p:nvPr/>
        </p:nvSpPr>
        <p:spPr>
          <a:xfrm>
            <a:off x="7964424" y="408279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applications</a:t>
            </a:r>
          </a:p>
        </p:txBody>
      </p:sp>
      <p:sp>
        <p:nvSpPr>
          <p:cNvPr id="49" name="TextBox 48"/>
          <p:cNvSpPr txBox="1"/>
          <p:nvPr/>
        </p:nvSpPr>
        <p:spPr>
          <a:xfrm>
            <a:off x="594360" y="4425696"/>
            <a:ext cx="10991088" cy="22860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Repeat until the answer is complete. Each selected token becomes the next input.</a:t>
            </a:r>
          </a:p>
        </p:txBody>
      </p:sp>
      <p:sp>
        <p:nvSpPr>
          <p:cNvPr id="50" name="TextBox 49"/>
          <p:cNvSpPr txBox="1"/>
          <p:nvPr/>
        </p:nvSpPr>
        <p:spPr>
          <a:xfrm>
            <a:off x="594360" y="4736592"/>
            <a:ext cx="10881360" cy="219456"/>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arrivals  /  First 6 words shown  /  Schematic, not to scale</a:t>
            </a:r>
          </a:p>
        </p:txBody>
      </p:sp>
      <p:sp>
        <p:nvSpPr>
          <p:cNvPr id="51" name="Rounded Rectangle 50"/>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 y="5349240"/>
            <a:ext cx="1280160" cy="22860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Request</a:t>
            </a:r>
          </a:p>
        </p:txBody>
      </p:sp>
      <p:sp>
        <p:nvSpPr>
          <p:cNvPr id="53" name="Rounded Rectangle 52"/>
          <p:cNvSpPr/>
          <p:nvPr/>
        </p:nvSpPr>
        <p:spPr>
          <a:xfrm>
            <a:off x="3703320" y="5285232"/>
            <a:ext cx="157276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26180" y="5349240"/>
            <a:ext cx="1527048" cy="22860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Kubernetes</a:t>
            </a:r>
          </a:p>
        </p:txBody>
      </p:sp>
      <p:cxnSp>
        <p:nvCxnSpPr>
          <p:cNvPr id="55" name="Connector 54"/>
          <p:cNvCxnSpPr/>
          <p:nvPr/>
        </p:nvCxnSpPr>
        <p:spPr>
          <a:xfrm>
            <a:off x="1920240" y="5463540"/>
            <a:ext cx="17830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5047488"/>
            <a:ext cx="31089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word</a:t>
            </a:r>
          </a:p>
        </p:txBody>
      </p:sp>
      <p:sp>
        <p:nvSpPr>
          <p:cNvPr id="57" name="Rounded Rectangle 56"/>
          <p:cNvSpPr/>
          <p:nvPr/>
        </p:nvSpPr>
        <p:spPr>
          <a:xfrm>
            <a:off x="54406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354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helps</a:t>
            </a:r>
          </a:p>
        </p:txBody>
      </p:sp>
      <p:cxnSp>
        <p:nvCxnSpPr>
          <p:cNvPr id="59" name="Connector 58"/>
          <p:cNvCxnSpPr/>
          <p:nvPr/>
        </p:nvCxnSpPr>
        <p:spPr>
          <a:xfrm>
            <a:off x="52760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703320" y="5047488"/>
            <a:ext cx="17373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1" name="Rounded Rectangle 60"/>
          <p:cNvSpPr/>
          <p:nvPr/>
        </p:nvSpPr>
        <p:spPr>
          <a:xfrm>
            <a:off x="66751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9798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teams</a:t>
            </a:r>
          </a:p>
        </p:txBody>
      </p:sp>
      <p:cxnSp>
        <p:nvCxnSpPr>
          <p:cNvPr id="63" name="Connector 62"/>
          <p:cNvCxnSpPr/>
          <p:nvPr/>
        </p:nvCxnSpPr>
        <p:spPr>
          <a:xfrm>
            <a:off x="65105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4068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5" name="Rounded Rectangle 64"/>
          <p:cNvSpPr/>
          <p:nvPr/>
        </p:nvSpPr>
        <p:spPr>
          <a:xfrm>
            <a:off x="79095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3242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deploy</a:t>
            </a:r>
          </a:p>
        </p:txBody>
      </p:sp>
      <p:cxnSp>
        <p:nvCxnSpPr>
          <p:cNvPr id="67" name="Connector 66"/>
          <p:cNvCxnSpPr/>
          <p:nvPr/>
        </p:nvCxnSpPr>
        <p:spPr>
          <a:xfrm>
            <a:off x="7744967" y="5463540"/>
            <a:ext cx="164593"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751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9" name="Rounded Rectangle 68"/>
          <p:cNvSpPr/>
          <p:nvPr/>
        </p:nvSpPr>
        <p:spPr>
          <a:xfrm>
            <a:off x="91440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686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and</a:t>
            </a:r>
          </a:p>
        </p:txBody>
      </p:sp>
      <p:cxnSp>
        <p:nvCxnSpPr>
          <p:cNvPr id="71" name="Connector 70"/>
          <p:cNvCxnSpPr/>
          <p:nvPr/>
        </p:nvCxnSpPr>
        <p:spPr>
          <a:xfrm>
            <a:off x="89794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9095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3" name="Rounded Rectangle 72"/>
          <p:cNvSpPr/>
          <p:nvPr/>
        </p:nvSpPr>
        <p:spPr>
          <a:xfrm>
            <a:off x="103784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0130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scale</a:t>
            </a:r>
          </a:p>
        </p:txBody>
      </p:sp>
      <p:cxnSp>
        <p:nvCxnSpPr>
          <p:cNvPr id="75" name="Connector 74"/>
          <p:cNvCxnSpPr/>
          <p:nvPr/>
        </p:nvCxnSpPr>
        <p:spPr>
          <a:xfrm>
            <a:off x="102138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1440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performance targets.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mainly shapes the wait for the first token; decode shapes the pace after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Both affect total response latency and SLO goodput: requests/s meeting the latency targets.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1975104"/>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066544"/>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93976"/>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532888"/>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uncached input</a:t>
            </a:r>
          </a:p>
        </p:txBody>
      </p:sp>
      <p:sp>
        <p:nvSpPr>
          <p:cNvPr id="18" name="Rounded Rectangle 17"/>
          <p:cNvSpPr/>
          <p:nvPr/>
        </p:nvSpPr>
        <p:spPr>
          <a:xfrm>
            <a:off x="594360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066544"/>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1975104"/>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066544"/>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093976"/>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532888"/>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468880"/>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468880"/>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468880"/>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401568"/>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99632"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64224" y="3401568"/>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 TTFT</a:t>
            </a:r>
          </a:p>
        </p:txBody>
      </p:sp>
      <p:sp>
        <p:nvSpPr>
          <p:cNvPr id="34" name="TextBox 33"/>
          <p:cNvSpPr txBox="1"/>
          <p:nvPr/>
        </p:nvSpPr>
        <p:spPr>
          <a:xfrm>
            <a:off x="694944" y="4014215"/>
            <a:ext cx="5029200" cy="301752"/>
          </a:xfrm>
          <a:prstGeom prst="rect">
            <a:avLst/>
          </a:prstGeom>
          <a:noFill/>
        </p:spPr>
        <p:txBody>
          <a:bodyPr wrap="square" lIns="13716" rIns="13716" tIns="13716" bIns="13716">
            <a:spAutoFit/>
          </a:bodyPr>
          <a:lstStyle/>
          <a:p>
            <a:pPr>
              <a:spcBef>
                <a:spcPts val="0"/>
              </a:spcBef>
              <a:spcAft>
                <a:spcPts val="500"/>
              </a:spcAft>
              <a:defRPr sz="1800" b="1">
                <a:solidFill>
                  <a:srgbClr val="172941"/>
                </a:solidFill>
                <a:latin typeface="Arial"/>
              </a:defRPr>
            </a:pPr>
            <a:r>
              <a:t>Time to first token • lower is better</a:t>
            </a:r>
          </a:p>
        </p:txBody>
      </p:sp>
      <p:sp>
        <p:nvSpPr>
          <p:cNvPr id="35" name="TextBox 34"/>
          <p:cNvSpPr txBox="1"/>
          <p:nvPr/>
        </p:nvSpPr>
        <p:spPr>
          <a:xfrm>
            <a:off x="694944" y="4498848"/>
            <a:ext cx="5029200" cy="5943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Track prefill latency + input tok/s</a:t>
            </a:r>
          </a:p>
          <a:p>
            <a:pPr>
              <a:spcBef>
                <a:spcPts val="0"/>
              </a:spcBef>
              <a:spcAft>
                <a:spcPts val="500"/>
              </a:spcAft>
              <a:defRPr sz="1700" b="0">
                <a:solidFill>
                  <a:srgbClr val="586A80"/>
                </a:solidFill>
                <a:latin typeface="Arial"/>
              </a:defRPr>
            </a:pPr>
            <a:r>
              <a:t>Often compute-bound</a:t>
            </a:r>
          </a:p>
        </p:txBody>
      </p:sp>
      <p:sp>
        <p:nvSpPr>
          <p:cNvPr id="36" name="TextBox 35"/>
          <p:cNvSpPr txBox="1"/>
          <p:nvPr/>
        </p:nvSpPr>
        <p:spPr>
          <a:xfrm>
            <a:off x="6391656"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 ITL / TPOT</a:t>
            </a:r>
          </a:p>
        </p:txBody>
      </p:sp>
      <p:sp>
        <p:nvSpPr>
          <p:cNvPr id="37" name="TextBox 36"/>
          <p:cNvSpPr txBox="1"/>
          <p:nvPr/>
        </p:nvSpPr>
        <p:spPr>
          <a:xfrm>
            <a:off x="6391656" y="4014215"/>
            <a:ext cx="5029200" cy="393192"/>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Inter-token latency / avg. time per output token</a:t>
            </a:r>
          </a:p>
        </p:txBody>
      </p:sp>
      <p:sp>
        <p:nvSpPr>
          <p:cNvPr id="38" name="TextBox 37"/>
          <p:cNvSpPr txBox="1"/>
          <p:nvPr/>
        </p:nvSpPr>
        <p:spPr>
          <a:xfrm>
            <a:off x="6391656" y="4498848"/>
            <a:ext cx="5029200" cy="749808"/>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Lower is better • track aggregate output tok/s</a:t>
            </a:r>
          </a:p>
          <a:p>
            <a:pPr>
              <a:spcBef>
                <a:spcPts val="0"/>
              </a:spcBef>
              <a:spcAft>
                <a:spcPts val="500"/>
              </a:spcAft>
              <a:defRPr sz="1700" b="0">
                <a:solidFill>
                  <a:srgbClr val="586A80"/>
                </a:solidFill>
                <a:latin typeface="Arial"/>
              </a:defRPr>
            </a:pPr>
            <a:r>
              <a:t>Often memory-bandwidth-bound</a:t>
            </a:r>
          </a:p>
        </p:txBody>
      </p:sp>
      <p:sp>
        <p:nvSpPr>
          <p:cNvPr id="39" name="TextBox 38"/>
          <p:cNvSpPr txBox="1"/>
          <p:nvPr/>
        </p:nvSpPr>
        <p:spPr>
          <a:xfrm>
            <a:off x="594360" y="5550408"/>
            <a:ext cx="10991088" cy="210312"/>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Not exclusive: queueing / delivery also affect TTFT; shared prefill can stall decode. Sources: vLLM metrics; NVIDIA Dynamo.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execution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Long prefills can interrupt token delivery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is already decoding. B arrives with a new prompt. Where should B run?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Separate GPUs remove direct prefill execution from the decode GPU—not every source of latency.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594360" y="1938528"/>
            <a:ext cx="10972800" cy="256032"/>
          </a:xfrm>
          <a:prstGeom prst="rect">
            <a:avLst/>
          </a:prstGeom>
          <a:noFill/>
        </p:spPr>
        <p:txBody>
          <a:bodyPr wrap="square" lIns="13716" rIns="13716" tIns="13716" bIns="13716">
            <a:spAutoFit/>
          </a:bodyPr>
          <a:lstStyle/>
          <a:p>
            <a:pPr>
              <a:spcBef>
                <a:spcPts val="0"/>
              </a:spcBef>
              <a:spcAft>
                <a:spcPts val="500"/>
              </a:spcAft>
              <a:defRPr sz="1200" b="1">
                <a:solidFill>
                  <a:srgbClr val="AE641A"/>
                </a:solidFill>
                <a:latin typeface="Arial"/>
              </a:defRPr>
            </a:pPr>
            <a:r>
              <a:t>Conceptual schedule · Not a benchmark · Block widths and gaps are not timings</a:t>
            </a:r>
          </a:p>
        </p:txBody>
      </p:sp>
      <p:sp>
        <p:nvSpPr>
          <p:cNvPr id="11" name="Rounded Rectangle 10"/>
          <p:cNvSpPr/>
          <p:nvPr/>
        </p:nvSpPr>
        <p:spPr>
          <a:xfrm>
            <a:off x="502920" y="2359152"/>
            <a:ext cx="11183112" cy="11612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2560320"/>
            <a:ext cx="2423160" cy="329184"/>
          </a:xfrm>
          <a:prstGeom prst="rect">
            <a:avLst/>
          </a:prstGeom>
          <a:noFill/>
        </p:spPr>
        <p:txBody>
          <a:bodyPr wrap="square" lIns="13716" rIns="13716" tIns="13716" bIns="13716">
            <a:spAutoFit/>
          </a:bodyPr>
          <a:lstStyle/>
          <a:p>
            <a:pPr>
              <a:spcBef>
                <a:spcPts val="0"/>
              </a:spcBef>
              <a:spcAft>
                <a:spcPts val="500"/>
              </a:spcAft>
              <a:defRPr sz="2100" b="1">
                <a:solidFill>
                  <a:srgbClr val="172941"/>
                </a:solidFill>
                <a:latin typeface="Arial"/>
              </a:defRPr>
            </a:pPr>
            <a:r>
              <a:t>Shared GPU</a:t>
            </a:r>
          </a:p>
        </p:txBody>
      </p:sp>
      <p:sp>
        <p:nvSpPr>
          <p:cNvPr id="13" name="TextBox 12"/>
          <p:cNvSpPr txBox="1"/>
          <p:nvPr/>
        </p:nvSpPr>
        <p:spPr>
          <a:xfrm>
            <a:off x="694944" y="3008376"/>
            <a:ext cx="2423160" cy="256032"/>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One worker does both</a:t>
            </a:r>
          </a:p>
        </p:txBody>
      </p:sp>
      <p:sp>
        <p:nvSpPr>
          <p:cNvPr id="14" name="Rounded Rectangle 13"/>
          <p:cNvSpPr/>
          <p:nvPr/>
        </p:nvSpPr>
        <p:spPr>
          <a:xfrm>
            <a:off x="342900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A</a:t>
            </a:r>
          </a:p>
        </p:txBody>
      </p:sp>
      <p:sp>
        <p:nvSpPr>
          <p:cNvPr id="16" name="Rounded Rectangle 15"/>
          <p:cNvSpPr/>
          <p:nvPr/>
        </p:nvSpPr>
        <p:spPr>
          <a:xfrm>
            <a:off x="461772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515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A</a:t>
            </a:r>
          </a:p>
        </p:txBody>
      </p:sp>
      <p:sp>
        <p:nvSpPr>
          <p:cNvPr id="18" name="Rounded Rectangle 17"/>
          <p:cNvSpPr/>
          <p:nvPr/>
        </p:nvSpPr>
        <p:spPr>
          <a:xfrm>
            <a:off x="5806440" y="2825496"/>
            <a:ext cx="2743200" cy="44805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3872" y="2907792"/>
            <a:ext cx="268833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Prefill B</a:t>
            </a:r>
          </a:p>
        </p:txBody>
      </p:sp>
      <p:sp>
        <p:nvSpPr>
          <p:cNvPr id="20" name="Rounded Rectangle 19"/>
          <p:cNvSpPr/>
          <p:nvPr/>
        </p:nvSpPr>
        <p:spPr>
          <a:xfrm>
            <a:off x="873252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5995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A</a:t>
            </a:r>
          </a:p>
        </p:txBody>
      </p:sp>
      <p:sp>
        <p:nvSpPr>
          <p:cNvPr id="22" name="Rounded Rectangle 21"/>
          <p:cNvSpPr/>
          <p:nvPr/>
        </p:nvSpPr>
        <p:spPr>
          <a:xfrm>
            <a:off x="992124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4867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A</a:t>
            </a:r>
          </a:p>
        </p:txBody>
      </p:sp>
      <p:sp>
        <p:nvSpPr>
          <p:cNvPr id="24" name="TextBox 23"/>
          <p:cNvSpPr txBox="1"/>
          <p:nvPr/>
        </p:nvSpPr>
        <p:spPr>
          <a:xfrm>
            <a:off x="5696712" y="2450592"/>
            <a:ext cx="2971800" cy="274320"/>
          </a:xfrm>
          <a:prstGeom prst="rect">
            <a:avLst/>
          </a:prstGeom>
          <a:noFill/>
        </p:spPr>
        <p:txBody>
          <a:bodyPr wrap="square" lIns="13716" rIns="13716" tIns="13716" bIns="13716">
            <a:spAutoFit/>
          </a:bodyPr>
          <a:lstStyle/>
          <a:p>
            <a:pPr algn="ctr">
              <a:spcBef>
                <a:spcPts val="0"/>
              </a:spcBef>
              <a:spcAft>
                <a:spcPts val="500"/>
              </a:spcAft>
              <a:defRPr sz="1500" b="1">
                <a:solidFill>
                  <a:srgbClr val="AE641A"/>
                </a:solidFill>
                <a:latin typeface="Arial"/>
              </a:defRPr>
            </a:pPr>
            <a:r>
              <a:t>A waits while B runs prefill</a:t>
            </a:r>
          </a:p>
        </p:txBody>
      </p:sp>
      <p:sp>
        <p:nvSpPr>
          <p:cNvPr id="25" name="Rounded Rectangle 24"/>
          <p:cNvSpPr/>
          <p:nvPr/>
        </p:nvSpPr>
        <p:spPr>
          <a:xfrm>
            <a:off x="502920" y="3712463"/>
            <a:ext cx="11183112" cy="16367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4944" y="3931920"/>
            <a:ext cx="2423160" cy="374904"/>
          </a:xfrm>
          <a:prstGeom prst="rect">
            <a:avLst/>
          </a:prstGeom>
          <a:noFill/>
        </p:spPr>
        <p:txBody>
          <a:bodyPr wrap="square" lIns="13716" rIns="13716" tIns="13716" bIns="13716">
            <a:spAutoFit/>
          </a:bodyPr>
          <a:lstStyle/>
          <a:p>
            <a:pPr>
              <a:spcBef>
                <a:spcPts val="0"/>
              </a:spcBef>
              <a:spcAft>
                <a:spcPts val="500"/>
              </a:spcAft>
              <a:defRPr sz="2100" b="1">
                <a:solidFill>
                  <a:srgbClr val="172941"/>
                </a:solidFill>
                <a:latin typeface="Arial"/>
              </a:defRPr>
            </a:pPr>
            <a:r>
              <a:t>Separate GPUs</a:t>
            </a:r>
          </a:p>
        </p:txBody>
      </p:sp>
      <p:sp>
        <p:nvSpPr>
          <p:cNvPr id="27" name="TextBox 26"/>
          <p:cNvSpPr txBox="1"/>
          <p:nvPr/>
        </p:nvSpPr>
        <p:spPr>
          <a:xfrm>
            <a:off x="694944" y="4434840"/>
            <a:ext cx="2423160"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Prefill worker</a:t>
            </a:r>
          </a:p>
        </p:txBody>
      </p:sp>
      <p:sp>
        <p:nvSpPr>
          <p:cNvPr id="28" name="TextBox 27"/>
          <p:cNvSpPr txBox="1"/>
          <p:nvPr/>
        </p:nvSpPr>
        <p:spPr>
          <a:xfrm>
            <a:off x="694944" y="4901184"/>
            <a:ext cx="24231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Decode worker</a:t>
            </a:r>
          </a:p>
        </p:txBody>
      </p:sp>
      <p:sp>
        <p:nvSpPr>
          <p:cNvPr id="29" name="Rounded Rectangle 28"/>
          <p:cNvSpPr/>
          <p:nvPr/>
        </p:nvSpPr>
        <p:spPr>
          <a:xfrm>
            <a:off x="5806440" y="4343400"/>
            <a:ext cx="274320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33872" y="4398264"/>
            <a:ext cx="2688336"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Prefill B</a:t>
            </a:r>
          </a:p>
        </p:txBody>
      </p:sp>
      <p:sp>
        <p:nvSpPr>
          <p:cNvPr id="31" name="TextBox 30"/>
          <p:cNvSpPr txBox="1"/>
          <p:nvPr/>
        </p:nvSpPr>
        <p:spPr>
          <a:xfrm>
            <a:off x="8750808" y="4398264"/>
            <a:ext cx="2560320" cy="265176"/>
          </a:xfrm>
          <a:prstGeom prst="rect">
            <a:avLst/>
          </a:prstGeom>
          <a:noFill/>
        </p:spPr>
        <p:txBody>
          <a:bodyPr wrap="square" lIns="13716" rIns="13716" tIns="13716" bIns="13716">
            <a:spAutoFit/>
          </a:bodyPr>
          <a:lstStyle/>
          <a:p>
            <a:pPr>
              <a:spcBef>
                <a:spcPts val="0"/>
              </a:spcBef>
              <a:spcAft>
                <a:spcPts val="500"/>
              </a:spcAft>
              <a:defRPr sz="1300" b="0">
                <a:solidFill>
                  <a:srgbClr val="AE641A"/>
                </a:solidFill>
                <a:latin typeface="Arial"/>
              </a:defRPr>
            </a:pPr>
            <a:r>
              <a:t>B still needs KV handoff</a:t>
            </a:r>
          </a:p>
        </p:txBody>
      </p:sp>
      <p:sp>
        <p:nvSpPr>
          <p:cNvPr id="32" name="Rounded Rectangle 31"/>
          <p:cNvSpPr/>
          <p:nvPr/>
        </p:nvSpPr>
        <p:spPr>
          <a:xfrm>
            <a:off x="342900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4728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34" name="Rounded Rectangle 33"/>
          <p:cNvSpPr/>
          <p:nvPr/>
        </p:nvSpPr>
        <p:spPr>
          <a:xfrm>
            <a:off x="461772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600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36" name="Rounded Rectangle 35"/>
          <p:cNvSpPr/>
          <p:nvPr/>
        </p:nvSpPr>
        <p:spPr>
          <a:xfrm>
            <a:off x="580644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2472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38" name="Rounded Rectangle 37"/>
          <p:cNvSpPr/>
          <p:nvPr/>
        </p:nvSpPr>
        <p:spPr>
          <a:xfrm>
            <a:off x="699516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1344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40" name="Rounded Rectangle 39"/>
          <p:cNvSpPr/>
          <p:nvPr/>
        </p:nvSpPr>
        <p:spPr>
          <a:xfrm>
            <a:off x="8183879"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0216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42" name="Rounded Rectangle 41"/>
          <p:cNvSpPr/>
          <p:nvPr/>
        </p:nvSpPr>
        <p:spPr>
          <a:xfrm>
            <a:off x="937260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9088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44" name="Rounded Rectangle 43"/>
          <p:cNvSpPr/>
          <p:nvPr/>
        </p:nvSpPr>
        <p:spPr>
          <a:xfrm>
            <a:off x="1056132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7960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A</a:t>
            </a:r>
          </a:p>
        </p:txBody>
      </p:sp>
      <p:sp>
        <p:nvSpPr>
          <p:cNvPr id="46" name="TextBox 45"/>
          <p:cNvSpPr txBox="1"/>
          <p:nvPr/>
        </p:nvSpPr>
        <p:spPr>
          <a:xfrm>
            <a:off x="3429000" y="3867912"/>
            <a:ext cx="7909560" cy="256032"/>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A can continue decoding while B runs prefill elsewhere</a:t>
            </a:r>
          </a:p>
        </p:txBody>
      </p:sp>
      <p:sp>
        <p:nvSpPr>
          <p:cNvPr id="47" name="TextBox 46"/>
          <p:cNvSpPr txBox="1"/>
          <p:nvPr/>
        </p:nvSpPr>
        <p:spPr>
          <a:xfrm>
            <a:off x="594360" y="5458968"/>
            <a:ext cx="10927080" cy="210312"/>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A = ongoing decode; B = new request. Chunked prefill can mitigate the shared-worker pause.</a:t>
            </a:r>
          </a:p>
        </p:txBody>
      </p:sp>
      <p:sp>
        <p:nvSpPr>
          <p:cNvPr id="48" name="TextBox 47"/>
          <p:cNvSpPr txBox="1"/>
          <p:nvPr/>
        </p:nvSpPr>
        <p:spPr>
          <a:xfrm>
            <a:off x="594360" y="5687568"/>
            <a:ext cx="10927080" cy="13716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Original conceptual illustration; sources: NVIDIA and vLLM (2025) + current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different batching units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and decode batch different work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many prompt positions; ordinary decode advances many independent requests.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finds parallel work in prompt length; decode finds it across active sequences.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594360" y="1938528"/>
            <a:ext cx="10972800" cy="256032"/>
          </a:xfrm>
          <a:prstGeom prst="rect">
            <a:avLst/>
          </a:prstGeom>
          <a:noFill/>
        </p:spPr>
        <p:txBody>
          <a:bodyPr wrap="square" lIns="13716" rIns="13716" tIns="13716" bIns="13716">
            <a:spAutoFit/>
          </a:bodyPr>
          <a:lstStyle/>
          <a:p>
            <a:pPr>
              <a:spcBef>
                <a:spcPts val="0"/>
              </a:spcBef>
              <a:spcAft>
                <a:spcPts val="500"/>
              </a:spcAft>
              <a:defRPr sz="1200" b="1">
                <a:solidFill>
                  <a:srgbClr val="AE641A"/>
                </a:solidFill>
                <a:latin typeface="Arial"/>
              </a:defRPr>
            </a:pPr>
            <a:r>
              <a:t>Conceptual illustration · Not a benchmark · Tokens and request counts are schematic</a:t>
            </a:r>
          </a:p>
        </p:txBody>
      </p:sp>
      <p:sp>
        <p:nvSpPr>
          <p:cNvPr id="11" name="Rounded Rectangle 10"/>
          <p:cNvSpPr/>
          <p:nvPr/>
        </p:nvSpPr>
        <p:spPr>
          <a:xfrm>
            <a:off x="502920" y="2359152"/>
            <a:ext cx="5477256" cy="29900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 y="2569464"/>
            <a:ext cx="64008" cy="3657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2523744"/>
            <a:ext cx="4910328" cy="420624"/>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Prefill</a:t>
            </a:r>
          </a:p>
        </p:txBody>
      </p:sp>
      <p:sp>
        <p:nvSpPr>
          <p:cNvPr id="14" name="TextBox 13"/>
          <p:cNvSpPr txBox="1"/>
          <p:nvPr/>
        </p:nvSpPr>
        <p:spPr>
          <a:xfrm>
            <a:off x="704088" y="3026664"/>
            <a:ext cx="5074920" cy="292608"/>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Many input positions in one forward pass</a:t>
            </a:r>
          </a:p>
        </p:txBody>
      </p:sp>
      <p:sp>
        <p:nvSpPr>
          <p:cNvPr id="15" name="Rounded Rectangle 14"/>
          <p:cNvSpPr/>
          <p:nvPr/>
        </p:nvSpPr>
        <p:spPr>
          <a:xfrm>
            <a:off x="6208776" y="2359152"/>
            <a:ext cx="5477256" cy="29900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73368" y="2569464"/>
            <a:ext cx="64008" cy="3657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2523744"/>
            <a:ext cx="4910328" cy="420624"/>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Decode</a:t>
            </a:r>
          </a:p>
        </p:txBody>
      </p:sp>
      <p:sp>
        <p:nvSpPr>
          <p:cNvPr id="18" name="TextBox 17"/>
          <p:cNvSpPr txBox="1"/>
          <p:nvPr/>
        </p:nvSpPr>
        <p:spPr>
          <a:xfrm>
            <a:off x="6409944" y="3026664"/>
            <a:ext cx="5074920" cy="292608"/>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One newest input position per active request</a:t>
            </a:r>
          </a:p>
        </p:txBody>
      </p:sp>
      <p:sp>
        <p:nvSpPr>
          <p:cNvPr id="19" name="TextBox 18"/>
          <p:cNvSpPr txBox="1"/>
          <p:nvPr/>
        </p:nvSpPr>
        <p:spPr>
          <a:xfrm>
            <a:off x="713232" y="3657600"/>
            <a:ext cx="1225296" cy="283464"/>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Request A</a:t>
            </a:r>
          </a:p>
        </p:txBody>
      </p:sp>
      <p:sp>
        <p:nvSpPr>
          <p:cNvPr id="20" name="Rounded Rectangle 19"/>
          <p:cNvSpPr/>
          <p:nvPr/>
        </p:nvSpPr>
        <p:spPr>
          <a:xfrm>
            <a:off x="209397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769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p1</a:t>
            </a:r>
          </a:p>
        </p:txBody>
      </p:sp>
      <p:sp>
        <p:nvSpPr>
          <p:cNvPr id="22" name="Rounded Rectangle 21"/>
          <p:cNvSpPr/>
          <p:nvPr/>
        </p:nvSpPr>
        <p:spPr>
          <a:xfrm>
            <a:off x="282549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3921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p2</a:t>
            </a:r>
          </a:p>
        </p:txBody>
      </p:sp>
      <p:sp>
        <p:nvSpPr>
          <p:cNvPr id="24" name="Rounded Rectangle 23"/>
          <p:cNvSpPr/>
          <p:nvPr/>
        </p:nvSpPr>
        <p:spPr>
          <a:xfrm>
            <a:off x="355701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7073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p3</a:t>
            </a:r>
          </a:p>
        </p:txBody>
      </p:sp>
      <p:sp>
        <p:nvSpPr>
          <p:cNvPr id="26" name="Rounded Rectangle 25"/>
          <p:cNvSpPr/>
          <p:nvPr/>
        </p:nvSpPr>
        <p:spPr>
          <a:xfrm>
            <a:off x="428853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0225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p4</a:t>
            </a:r>
          </a:p>
        </p:txBody>
      </p:sp>
      <p:sp>
        <p:nvSpPr>
          <p:cNvPr id="28" name="TextBox 27"/>
          <p:cNvSpPr txBox="1"/>
          <p:nvPr/>
        </p:nvSpPr>
        <p:spPr>
          <a:xfrm>
            <a:off x="713232" y="4187951"/>
            <a:ext cx="1225296" cy="283464"/>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Request B</a:t>
            </a:r>
          </a:p>
        </p:txBody>
      </p:sp>
      <p:sp>
        <p:nvSpPr>
          <p:cNvPr id="29" name="Rounded Rectangle 28"/>
          <p:cNvSpPr/>
          <p:nvPr/>
        </p:nvSpPr>
        <p:spPr>
          <a:xfrm>
            <a:off x="209397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0769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q1</a:t>
            </a:r>
          </a:p>
        </p:txBody>
      </p:sp>
      <p:sp>
        <p:nvSpPr>
          <p:cNvPr id="31" name="Rounded Rectangle 30"/>
          <p:cNvSpPr/>
          <p:nvPr/>
        </p:nvSpPr>
        <p:spPr>
          <a:xfrm>
            <a:off x="282549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3921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q2</a:t>
            </a:r>
          </a:p>
        </p:txBody>
      </p:sp>
      <p:sp>
        <p:nvSpPr>
          <p:cNvPr id="33" name="Rounded Rectangle 32"/>
          <p:cNvSpPr/>
          <p:nvPr/>
        </p:nvSpPr>
        <p:spPr>
          <a:xfrm>
            <a:off x="355701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7073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q3</a:t>
            </a:r>
          </a:p>
        </p:txBody>
      </p:sp>
      <p:sp>
        <p:nvSpPr>
          <p:cNvPr id="35" name="TextBox 34"/>
          <p:cNvSpPr txBox="1"/>
          <p:nvPr/>
        </p:nvSpPr>
        <p:spPr>
          <a:xfrm>
            <a:off x="722376" y="4828032"/>
            <a:ext cx="4974336" cy="292608"/>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Batch prompt positions from one or more requests.</a:t>
            </a:r>
          </a:p>
        </p:txBody>
      </p:sp>
      <p:sp>
        <p:nvSpPr>
          <p:cNvPr id="36" name="TextBox 35"/>
          <p:cNvSpPr txBox="1"/>
          <p:nvPr/>
        </p:nvSpPr>
        <p:spPr>
          <a:xfrm>
            <a:off x="6419088" y="3438144"/>
            <a:ext cx="1252728"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Request</a:t>
            </a:r>
          </a:p>
        </p:txBody>
      </p:sp>
      <p:sp>
        <p:nvSpPr>
          <p:cNvPr id="37" name="TextBox 36"/>
          <p:cNvSpPr txBox="1"/>
          <p:nvPr/>
        </p:nvSpPr>
        <p:spPr>
          <a:xfrm>
            <a:off x="7699248" y="3438144"/>
            <a:ext cx="1197864"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Read history</a:t>
            </a:r>
          </a:p>
        </p:txBody>
      </p:sp>
      <p:sp>
        <p:nvSpPr>
          <p:cNvPr id="38" name="TextBox 37"/>
          <p:cNvSpPr txBox="1"/>
          <p:nvPr/>
        </p:nvSpPr>
        <p:spPr>
          <a:xfrm>
            <a:off x="9244584" y="3438144"/>
            <a:ext cx="2148840"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Consume newest input</a:t>
            </a:r>
          </a:p>
        </p:txBody>
      </p:sp>
      <p:sp>
        <p:nvSpPr>
          <p:cNvPr id="39" name="TextBox 38"/>
          <p:cNvSpPr txBox="1"/>
          <p:nvPr/>
        </p:nvSpPr>
        <p:spPr>
          <a:xfrm>
            <a:off x="6419088" y="3785615"/>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A</a:t>
            </a:r>
          </a:p>
        </p:txBody>
      </p:sp>
      <p:sp>
        <p:nvSpPr>
          <p:cNvPr id="40" name="Rounded Rectangle 39"/>
          <p:cNvSpPr/>
          <p:nvPr/>
        </p:nvSpPr>
        <p:spPr>
          <a:xfrm>
            <a:off x="7680960" y="3749039"/>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08392" y="3781044"/>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42" name="TextBox 41"/>
          <p:cNvSpPr txBox="1"/>
          <p:nvPr/>
        </p:nvSpPr>
        <p:spPr>
          <a:xfrm>
            <a:off x="8887968" y="3767327"/>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43" name="Rounded Rectangle 42"/>
          <p:cNvSpPr/>
          <p:nvPr/>
        </p:nvSpPr>
        <p:spPr>
          <a:xfrm>
            <a:off x="9262872" y="3749039"/>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90304" y="3781044"/>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45" name="TextBox 44"/>
          <p:cNvSpPr txBox="1"/>
          <p:nvPr/>
        </p:nvSpPr>
        <p:spPr>
          <a:xfrm>
            <a:off x="6419088" y="4224528"/>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B</a:t>
            </a:r>
          </a:p>
        </p:txBody>
      </p:sp>
      <p:sp>
        <p:nvSpPr>
          <p:cNvPr id="46" name="Rounded Rectangle 45"/>
          <p:cNvSpPr/>
          <p:nvPr/>
        </p:nvSpPr>
        <p:spPr>
          <a:xfrm>
            <a:off x="7680960" y="4187952"/>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08392" y="4219956"/>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48" name="TextBox 47"/>
          <p:cNvSpPr txBox="1"/>
          <p:nvPr/>
        </p:nvSpPr>
        <p:spPr>
          <a:xfrm>
            <a:off x="8887968" y="4206240"/>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49" name="Rounded Rectangle 48"/>
          <p:cNvSpPr/>
          <p:nvPr/>
        </p:nvSpPr>
        <p:spPr>
          <a:xfrm>
            <a:off x="9262872" y="4187952"/>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90304" y="4219956"/>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51" name="TextBox 50"/>
          <p:cNvSpPr txBox="1"/>
          <p:nvPr/>
        </p:nvSpPr>
        <p:spPr>
          <a:xfrm>
            <a:off x="6419088" y="4663440"/>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C</a:t>
            </a:r>
          </a:p>
        </p:txBody>
      </p:sp>
      <p:sp>
        <p:nvSpPr>
          <p:cNvPr id="52" name="Rounded Rectangle 51"/>
          <p:cNvSpPr/>
          <p:nvPr/>
        </p:nvSpPr>
        <p:spPr>
          <a:xfrm>
            <a:off x="7680960" y="4626864"/>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08392" y="4658868"/>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54" name="TextBox 53"/>
          <p:cNvSpPr txBox="1"/>
          <p:nvPr/>
        </p:nvSpPr>
        <p:spPr>
          <a:xfrm>
            <a:off x="8887968" y="4645151"/>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55" name="Rounded Rectangle 54"/>
          <p:cNvSpPr/>
          <p:nvPr/>
        </p:nvSpPr>
        <p:spPr>
          <a:xfrm>
            <a:off x="9262872" y="4626864"/>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90304" y="4658868"/>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57" name="TextBox 56"/>
          <p:cNvSpPr txBox="1"/>
          <p:nvPr/>
        </p:nvSpPr>
        <p:spPr>
          <a:xfrm>
            <a:off x="6419088" y="5111496"/>
            <a:ext cx="4983480" cy="210312"/>
          </a:xfrm>
          <a:prstGeom prst="rect">
            <a:avLst/>
          </a:prstGeom>
          <a:noFill/>
        </p:spPr>
        <p:txBody>
          <a:bodyPr wrap="square" lIns="13716" rIns="13716" tIns="13716" bIns="13716">
            <a:spAutoFit/>
          </a:bodyPr>
          <a:lstStyle/>
          <a:p>
            <a:pPr>
              <a:spcBef>
                <a:spcPts val="0"/>
              </a:spcBef>
              <a:spcAft>
                <a:spcPts val="500"/>
              </a:spcAft>
              <a:defRPr sz="1200" b="1">
                <a:solidFill>
                  <a:srgbClr val="7354B8"/>
                </a:solidFill>
                <a:latin typeface="Arial"/>
              </a:defRPr>
            </a:pPr>
            <a:r>
              <a:t>Then select a next output token for each request.</a:t>
            </a:r>
          </a:p>
        </p:txBody>
      </p:sp>
      <p:sp>
        <p:nvSpPr>
          <p:cNvPr id="58" name="TextBox 57"/>
          <p:cNvSpPr txBox="1"/>
          <p:nvPr/>
        </p:nvSpPr>
        <p:spPr>
          <a:xfrm>
            <a:off x="594360" y="5477256"/>
            <a:ext cx="10927080" cy="228600"/>
          </a:xfrm>
          <a:prstGeom prst="rect">
            <a:avLst/>
          </a:prstGeom>
          <a:noFill/>
        </p:spPr>
        <p:txBody>
          <a:bodyPr wrap="square" lIns="13716" rIns="13716" tIns="13716" bIns="13716">
            <a:spAutoFit/>
          </a:bodyPr>
          <a:lstStyle/>
          <a:p>
            <a:pPr>
              <a:spcBef>
                <a:spcPts val="0"/>
              </a:spcBef>
              <a:spcAft>
                <a:spcPts val="500"/>
              </a:spcAft>
              <a:defRPr sz="1300" b="1">
                <a:solidFill>
                  <a:srgbClr val="AE641A"/>
                </a:solidFill>
                <a:latin typeface="Arial"/>
              </a:defRPr>
            </a:pPr>
            <a:r>
              <a:t>More decode concurrency can increase ITL. Batch within latency and KV-memory budgets.</a:t>
            </a:r>
          </a:p>
        </p:txBody>
      </p:sp>
      <p:sp>
        <p:nvSpPr>
          <p:cNvPr id="59" name="TextBox 58"/>
          <p:cNvSpPr txBox="1"/>
          <p:nvPr/>
        </p:nvSpPr>
        <p:spPr>
          <a:xfrm>
            <a:off x="594360" y="5687568"/>
            <a:ext cx="10927080" cy="13716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Original conceptual illustration; sources: NVIDIA and vLLM (2025) + current documentation.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