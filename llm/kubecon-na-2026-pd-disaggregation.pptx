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789920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Prefill Here, Decode There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28800"/>
            <a:ext cx="1051560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200" b="0">
                <a:solidFill>
                  <a:srgbClr val="DBEAFE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2834640"/>
            <a:ext cx="5303520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KubeCon + CloudNativeCon North America 2026
Generated from llm/kubecon-na-2026-pd-disaggregation.md
Focus: KAITO + llm-d + P/D + KEDA autoscaling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560320"/>
            <a:ext cx="4389120" cy="21945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prefill
⬇
KV handoff
⬇
decode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KubeCon + CloudNativeCon North America 2026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generated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01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80160"/>
            <a:ext cx="10515600" cy="1188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different systems problems?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743200"/>
            <a:ext cx="4389120" cy="20116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Prefill
compute-heavy
TTFT-sensitive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743200"/>
            <a:ext cx="4389120" cy="2011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Decode
memory/KV heavy
throughput-sensitive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40680" y="3749039"/>
            <a:ext cx="1280160" cy="0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02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11680"/>
            <a:ext cx="4754880" cy="1645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2011680"/>
            <a:ext cx="4754880" cy="1645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77840" y="2834640"/>
            <a:ext cx="960120" cy="0"/>
          </a:xfrm>
          <a:prstGeom prst="line">
            <a:avLst/>
          </a:prstGeom>
          <a:ln w="508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148840" y="4114800"/>
            <a:ext cx="76809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475569"/>
                </a:solidFill>
                <a:latin typeface="Aptos"/>
              </a:rPr>
              <a:t>One request. Two phases. Two very different bottlenecks.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03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compute-bound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latency-sensitive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prompt-heavy bursts hurt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icon row or radar chart showing compute-heavy / latency-sensitive.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04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memory-bandwidth-bound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KV-cache-sensitive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throughput-oriented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mirror of Slide 4 so the contrast is obvious.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05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one shared GPU pool being pulled in two directions.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06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overprovisioning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unstable TTFT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3-callout layout with TTFT spike, low utilization, wasted headroom.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07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independent scaling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 handoff becomes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before/after architecture mini-diagram.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08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checklist or layered stack with many moving parts.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09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Existing approaches in the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NVIDIA Dynamo: powerful, but tightly coupled to the NVIDIA stack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llm-d standalone: Kubernetes-native, but still operationally manual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need for a declarative Kubernetes abstraction layer on 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simple ecosystem map, not a competitive matrix.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10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2514600" cy="1645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Workspace
run a model workload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828800"/>
            <a:ext cx="2514600" cy="164592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InferenceSet
replicas + autoscaling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4612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0" y="1828800"/>
            <a:ext cx="2514600" cy="1645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InferencePool
inference-aware routing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235440" y="1828800"/>
            <a:ext cx="251460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
distributed topology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1540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297680"/>
            <a:ext cx="10241280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KAITO adds higher-level Kubernetes objects as the serving problem gets harder.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11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2514600" cy="1645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Workspace
run a model workload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828800"/>
            <a:ext cx="2514600" cy="164592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InferenceSet
replicas + autoscaling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4612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0" y="1828800"/>
            <a:ext cx="2514600" cy="1645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InferencePool
inference-aware routing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235440" y="1828800"/>
            <a:ext cx="251460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
distributed topology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15400" y="26517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297680"/>
            <a:ext cx="10241280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KAITO adds higher-level Kubernetes objects as the serving problem gets harder.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12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one `Workspace` object mapping to one serving workload.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13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one `Workspace` expanding into an `InferenceSet`, then attaching to an `InferencePool`.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14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`Workspace` -&gt; `InferenceSet` / `InferencePool` -&gt; `MultiRoleInference` with prefill/decode branches.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15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CRD progression or pipeline: `Workspace` -&gt; `InferenceSet` -&gt; `InferencePool` -&gt; `MultiRoleInference` -&gt; generated child objects.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16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llm-d Router EPP box with plugin labels around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17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20240"/>
            <a:ext cx="2926080" cy="20116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KAITO
control-plane abstraction
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2926080" cy="20116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GWIE
inference routing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1920240"/>
            <a:ext cx="2926080" cy="20116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llm-d Router
routing + scheduling
EPP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749039" y="2926080"/>
            <a:ext cx="77724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98079" y="2926080"/>
            <a:ext cx="77724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18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651760"/>
            <a:ext cx="11887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651760"/>
            <a:ext cx="14630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2468880"/>
            <a:ext cx="1920240" cy="12801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InferencePool
+ EPP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554480"/>
            <a:ext cx="2286000" cy="13716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657600"/>
            <a:ext cx="2286000" cy="137160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468880"/>
            <a:ext cx="228600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KV path
NIXL / sidecar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45920" y="310896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91840" y="3108960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486400" y="2240280"/>
            <a:ext cx="457200" cy="685800"/>
          </a:xfrm>
          <a:prstGeom prst="line">
            <a:avLst/>
          </a:prstGeom>
          <a:ln w="254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0" y="3291840"/>
            <a:ext cx="457200" cy="105156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29600" y="2240280"/>
            <a:ext cx="914400" cy="50292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229600" y="3474720"/>
            <a:ext cx="914400" cy="86868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19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declares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one logical inference service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two roles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role-specific scaling and runtime behavior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a single user-facing object for the whole P/D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small YAML snippet or CRD field summary.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20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generates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child InferenceSet for prefill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child InferenceSet for decode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decode-side llm-d routing sidecar injection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one InferencePool with correct targetPort wiring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llm-d Router EPP deployment and plugin chain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per-role autoscaling hooks via child InferenceSets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generated-object tree or exploded diagram from the CRD.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21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the decode-side sidecar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stable client-facing entrypoint on port 5000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internal prefill coordination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local decode remains stream owner on vLLM port 5001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decode pod diagram with sidecar and local vLLM 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22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Request flow, 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request enters gateway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gateway targets the InferencePool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llm-d Router EPP decides whether prefill work is needed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decode endpoint is selected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sequence diagram, phase 1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23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Request flow, 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decode-side sidecar coordinates prefill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prefill builds KV cache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 moves pod-to-pod via NIXL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local decode streams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sequence diagram, phase 2 continuation.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24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KV transfer path callout, maybe with “critical path” highlighted.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25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029200" cy="64008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Classic CPU-era autoscaling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463040"/>
            <a:ext cx="5029200" cy="640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LLM inference autoscaling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029200" cy="2834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>• CPU utilization
• memory utilization
• request-per-pod as a rough proxy
Works well for stateless web workloads.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5029200" cy="2834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>• waiting requests
• token generation pressure
• active KV memory
• prompt / generation mix
CPU can look fine while TTFT is already bad.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26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89120" y="2286000"/>
            <a:ext cx="3383280" cy="12801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KEDA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56032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external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256032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cron triggers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256032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scale decisions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3931920"/>
            <a:ext cx="256032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inference workloads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1691640"/>
            <a:ext cx="1097280" cy="105156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291840" y="3108960"/>
            <a:ext cx="1097280" cy="132588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772400" y="1691640"/>
            <a:ext cx="1097280" cy="105156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3108960"/>
            <a:ext cx="1097280" cy="132588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27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468880"/>
            <a:ext cx="1920240" cy="12801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77440" y="31089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697480" y="2468880"/>
            <a:ext cx="19202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17720" y="31089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937760" y="2468880"/>
            <a:ext cx="1920240" cy="12801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0" y="31089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78040" y="2468880"/>
            <a:ext cx="1920240" cy="12801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98280" y="3108960"/>
            <a:ext cx="32004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18320" y="2468880"/>
            <a:ext cx="19202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297680"/>
            <a:ext cx="100584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475569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28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937760" cy="34747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
Scale on prompt pressure
Example signal:
vllm:num_requests_waiting
Goal: protect TTFT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645920"/>
            <a:ext cx="4937760" cy="34747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
Scale on sustained generation pressure
Example signals:
KV/cache pressure
steady decode saturation
Goal: protect throughput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0" y="5486400"/>
            <a:ext cx="73152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475569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29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“manual plumbing” vs “declarative abstraction”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30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Evaluation results: TTFT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colocated vs disaggregated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explain which workloads gain most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one clean TTFT chart with 1-2 highlighted takeaways.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31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Evaluation results: 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compare throughput under mixed 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throughput chart with one highlighted region where separation helps.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32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Evaluation results: utilization /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show GPU utilization or capacity efficiency under asymmetric traffic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utilization bars, efficiency table, or stacked pool usage chart.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33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When to use P/D, and when not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4632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transfer cost / fabric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2743200"/>
            <a:ext cx="91440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Prefill / decode difference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645920"/>
            <a:ext cx="4754880" cy="182880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Stay aggregated
Small models, short prompts, low concurrency, simple traffic.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475488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Usually stay aggregated
You can try P/D, but the operational gain is often limited.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749039"/>
            <a:ext cx="4754880" cy="18288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Maybe later
Value may exist, but weak transfer paths will erase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749039"/>
            <a:ext cx="4754880" cy="18288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Strong candidate for P/D
Long prompts, retrieval-heavy traffic, long generations, high concurrency, or different scaling / parallelism needs.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43000"/>
            <a:ext cx="47548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75569"/>
                </a:solidFill>
                <a:latin typeface="Aptos"/>
              </a:rPr>
              <a:t>transfer expensive / weak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43000"/>
            <a:ext cx="47548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75569"/>
                </a:solidFill>
                <a:latin typeface="Aptos"/>
              </a:rPr>
              <a:t>transfer cheap / strong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" y="2057400"/>
            <a:ext cx="914400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75569"/>
                </a:solidFill>
                <a:latin typeface="Aptos"/>
              </a:rPr>
              <a:t>similar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" y="4251960"/>
            <a:ext cx="96012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75569"/>
                </a:solidFill>
                <a:latin typeface="Aptos"/>
              </a:rPr>
              <a:t>meaningfully
different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34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Production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startup ordering matters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decode-side sidecar placement rules matter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service / targetPort / label contracts matter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KV transfer path and side-channel setup must be verified early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four callout boxes or checklist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BEAFE"/>
                </a:solidFill>
                <a:latin typeface="Aptos"/>
              </a:rPr>
              <a:t>35  </a:t>
            </a:r>
            <a:r>
              <a:rPr sz="2400" b="1">
                <a:solidFill>
                  <a:srgbClr val="FFFFFF"/>
                </a:solidFill>
                <a:latin typeface="Aptos Display"/>
              </a:rPr>
              <a:t>What’s next for KAITO + llm-d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09960" cy="521208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near term: precise prefix-cache routing based on KV events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near term: tiered prefix cache across HBM, CPU RAM, and optional filesystem tiers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next topology: E/P/D and speculative decoding</a:t>
            </a:r>
          </a:p>
          <a:p>
            <a:pPr>
              <a:spcAft>
                <a:spcPts val="600"/>
              </a:spcAft>
              <a:defRPr sz="2200">
                <a:solidFill>
                  <a:srgbClr val="0F172A"/>
                </a:solidFill>
              </a:defRPr>
            </a:pPr>
            <a:r>
              <a:t>larger-scale systems: Wide Expert Parallelism and richer cross-node transport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5303520"/>
            <a:ext cx="3931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Visual cue: roadmap slide with “current / next / later” swimlanes.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4A3B8"/>
                </a:solidFill>
                <a:latin typeface="Aptos"/>
              </a:rPr>
              <a:t>andyzhangx/demo · generated from markdown</a:t>
            </a:r>
          </a:p>
          <a:p>
            <a:pPr algn="r"/>
            <a:r>
              <a:rPr sz="900">
                <a:solidFill>
                  <a:srgbClr val="94A3B8"/>
                </a:solidFill>
                <a:latin typeface="Aptos"/>
              </a:rPr>
              <a:t>AKS / KAITO / llm-d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