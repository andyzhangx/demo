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tokenization: Qwen/Qwen2.5-7B-Instruct tokenizer.json, revision a09a35458c702b33eeacc393d103063234e8bc28, SHA-256 c0382117ea329cdf097041132f6d735924b697924d6f6fc3945713e96ce87539, Hugging Face tokenizers 0.22.1. See kubecon-pd-assets/tokenization/reproduce.py and manifest.json. Raw tokenizer with add_special_tokens=False; no chat template or hidden special tokens. No model inference was run. The completion is an authored illustration, not Qwen output or evidence of a KAITO model deployment. Prompt and output were independently tokenized exactly as written, with no added leading whitespace. The teaching sequence is prompt IDs followed by these output IDs; retokenizing the concatenated text need not preserve a generation boundary. The visible middle-dot symbol marks one ASCII space inside a token, not a separate token. Exact prompt: What does Kubernetes do? Prompt IDs: [3838, 1558, 66374, 653, 30]. Exact output: Kubernetes helps teams deploy and scale applications. Output IDs: [42, 29827, 8609, 7263, 10517, 323, 5452, 8357, 13]. In the prompt, the leading-space Kubernetes piece is a single token; without a leading space, output Kubernetes splits into K and ubernetes. This is genuine context-sensitive tokenization, not an assertion that tokens always correspond to words or letters. Scope: a standard decoder-only autoregressive Transformer with KV caching and no speculative decoding. Tokenization precedes model execution. Prefill processes all uncached prompt positions; operations across positions can be batched within a layer while a causal mask prevents attention to future positions. Layers still follow model dependencies. Every attention layer builds K/V for the positions it processes. KV tensors are model state, not prompt text, weights or cached answers. Final prompt-position logits select y1, illustrated as ID 42 (K). This authored selection is a hypothetical model path, not a measured probability. Immediately after selection, only prompt KV is cached. The next forward pass consumes y1 and appends its K/V. Chunked prefill splits uncached positions into scheduled chunks; prefix caching can reuse cached prompt positions. Prefill is not necessarily one physical kernel or uninterrupted scheduler iteration. Phase semantics do not assign first-token selection or delivery to a particular worker or specify the KAITO/llm-d transfer protocol. Client TTFT also includes queueing, tokenization, orchestration, transfer and delivery.</a:t>
            </a:r>
          </a:p>
          <a:p/>
          <a:p>
            <a:r>
              <a:t>Narrative source: kubecon-na-2026-pd-disaggregation.md</a:t>
            </a:r>
          </a:p>
          <a:p>
            <a:r>
              <a:t>References:</a:t>
            </a:r>
          </a:p>
          <a:p>
            <a:r>
              <a:t>https://huggingface.co/docs/transformers/en/cache_explanation</a:t>
            </a:r>
          </a:p>
          <a:p>
            <a:r>
              <a:t>https://huggingface.co/Qwen/Qwen2.5-7B-Instruct/resolve/a09a35458c702b33eeacc393d103063234e8bc28/tokenizer.json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tokenization: Qwen/Qwen2.5-7B-Instruct tokenizer.json, revision a09a35458c702b33eeacc393d103063234e8bc28, SHA-256 c0382117ea329cdf097041132f6d735924b697924d6f6fc3945713e96ce87539, Hugging Face tokenizers 0.22.1. See kubecon-pd-assets/tokenization/reproduce.py and manifest.json. Raw tokenizer with add_special_tokens=False; no chat template or hidden special tokens. No model inference was run. The completion is an authored illustration, not Qwen output or evidence of a KAITO model deployment. Prompt and output were independently tokenized exactly as written, with no added leading whitespace. The teaching sequence is prompt IDs followed by these output IDs; retokenizing the concatenated text need not preserve a generation boundary. The visible middle-dot symbol marks one ASCII space inside a token, not a separate token. Continue slide 3. Exact output: Kubernetes helps teams deploy and scale applications. Output IDs: [42, 29827, 8609, 7263, 10517, 323, 5452, 8357, 13]. Output decoded pieces: ['K', 'ubernetes', ' helps', ' teams', ' deploy', ' and', ' scale', ' applications', '.']. Prefill selected y1 = K (42) with only prompt KV cached. Decode step i consumes yi with cache for prompt plus y1 through y(i-1), appends per-layer K/V for yi, then selects y(i+1) from the new position logits. Six rows: K -&gt; ubernetes; ubernetes -&gt; space+helps; space+helps -&gt; space+teams; space+teams -&gt; space+deploy; space+deploy -&gt; space+and; space+and -&gt; space+scale. After row 6, cached output positions are y1-y6 and y7 (space+scale, 5452) is selected but not consumed or cached. Omitted steps consume y7 -&gt; select y8 (space+applications, 8357), then consume y8 -&gt; select y9 (period, 13). The example ends there, without asserting a stop-token ID. If generation continues, consuming the period could select an EOS token; EOS is normally hidden and need not be consumed into KV on stopping. A token limit or stop string can also stop generation. With full-context attention each new query still reads cached history; caching avoids recomputing old K/V, not all attention work or history reads. Cache memory behavior depends on static allocation, sliding windows and eviction. Ordinary autoregressive decode is sequential within one request; cross-request batching is possible, and speculative decoding may accept multiple tokens per physical iteration. Client timeline shows the first six actual token pieces, not six words: K and ubernetes are separate token arrivals. TTFT is request submission to first received token; each ITL is the gap between successive received tokens. Five gaps are shown, not timing measurements; durations are not to scale. Queueing, orchestration, transport, detokenization and stream buffering may change client-observed arrival grouping and latency. Token-level timing is schematic and assumes these arrivals are individually observable; a real stream chunk may contain multiple tokens. Average time per output token is not each ITL sample or percentile. These phase semantics cover colocated and disaggregated serving and do not mandate a worker boundary; colocated serving needs no inter-worker KV transfer.</a:t>
            </a:r>
          </a:p>
          <a:p/>
          <a:p>
            <a:r>
              <a:t>Narrative source: kubecon-na-2026-pd-disaggregation.md</a:t>
            </a:r>
          </a:p>
          <a:p>
            <a:r>
              <a:t>References:</a:t>
            </a:r>
          </a:p>
          <a:p>
            <a:r>
              <a:t>https://huggingface.co/docs/transformers/en/cache_explanation</a:t>
            </a:r>
          </a:p>
          <a:p>
            <a:r>
              <a:t>https://huggingface.co/Qwen/Qwen2.5-7B-Instruct/resolve/a09a35458c702b33eeacc393d103063234e8bc28/tokenizer.json</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2 compares decode-only batches (orange) with decoding plus one prefill (blue). Left panel: 128 input tokens; right panel: 1024 input tokens. Both axes remain as published. The y-axis is batch execution latency, not client TTFT or end-to-end request latency. The two panels have different y-axis and batch-size scales: compare the within-panel mixed-vs-decode-only gap, not apparent slopes or heights across panels. The blue horizontal line is the source prefill-only execution reference; the source arrows label decode and prefill slowdowns. The longer prefill increases the interference shown in this experiment. One chart, one interpretation: a new prompt can delay existing token streams in a shared execution boundary. Continuous batching, chunked prefill and better scheduling can mitigate the effect; this figure does not prove that every colocated or modern chunked-prefill implementation suffers the same penalty. P/D separates the execution pools, but introduces a KV-transfer boundary that must earn its cost.</a:t>
            </a:r>
          </a:p>
          <a:p/>
          <a:p>
            <a:r>
              <a:t>Narrative source: kubecon-na-2026-pd-disaggregation.md</a:t>
            </a:r>
          </a:p>
          <a:p>
            <a:r>
              <a:t>References:</a:t>
            </a:r>
          </a:p>
          <a:p>
            <a:r>
              <a:t>https://arxiv.org/html/2401.09670v2#S2.F2</a:t>
            </a:r>
          </a:p>
          <a:p>
            <a:r>
              <a:t>https://arxiv.org/html/2401.09670v2#S2.SS3</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3 is reproduced as published: prefill-only throughput on the left, decoding-only throughput on the right, with input lengths 128, 256, 512 and 1024. The x-axis is batch size on powers-of-two ticks. Do not compare absolute left-versus-right token throughput as equivalent useful work: prefill processes prompt tokens, whereas decode produces output tokens. Read the shape within each panel. Prefill throughput plateaus earlier; additional batching can add latency once computation is saturated. Decode benefits more from batching in this setup, amortizing weight-memory traffic across requests. This supports separate batching and resource planning, not unlimited decode batching: active KV capacity, latency SLOs, model architecture and compute saturation still bound it. The paper discusses compute-dominant prefill and memory-bandwidth-dominant decode; these are common regimes, not immutable properties of every model, batch size, hardware or context length. No current-AKS numerical threshold or universal GPU-size rule is inferred.</a:t>
            </a:r>
          </a:p>
          <a:p/>
          <a:p>
            <a:r>
              <a:t>Narrative source: kubecon-na-2026-pd-disaggregation.md</a:t>
            </a:r>
          </a:p>
          <a:p>
            <a:r>
              <a:t>References:</a:t>
            </a:r>
          </a:p>
          <a:p>
            <a:r>
              <a:t>https://arxiv.org/html/2401.09670v2#S3.F3</a:t>
            </a:r>
          </a:p>
          <a:p>
            <a:r>
              <a:t>https://arxiv.org/html/2401.09670v2#S3.SS1</a:t>
            </a:r>
          </a:p>
          <a:p>
            <a:r>
              <a:t>https://arxiv.org/html/2401.09670v2#S3.SS2</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PREFILL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read the prompt, select the first output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Prompt: “What does Kubernetes do?”   Real token IDs; an illustrative completion.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caches the 5 prompt positions, then selects y1 = “K” (42). Its K/V is not cached yet.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56</a:t>
            </a:r>
          </a:p>
        </p:txBody>
      </p:sp>
      <p:sp>
        <p:nvSpPr>
          <p:cNvPr id="10" name="TextBox 9"/>
          <p:cNvSpPr txBox="1"/>
          <p:nvPr/>
        </p:nvSpPr>
        <p:spPr>
          <a:xfrm>
            <a:off x="594360" y="1984248"/>
            <a:ext cx="1088136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RAW TOKENIZER  /  Qwen2.5-7B-Instruct  /  · = SPACE INSIDE A TOKEN</a:t>
            </a:r>
          </a:p>
        </p:txBody>
      </p:sp>
      <p:sp>
        <p:nvSpPr>
          <p:cNvPr id="11" name="Rounded Rectangle 10"/>
          <p:cNvSpPr/>
          <p:nvPr/>
        </p:nvSpPr>
        <p:spPr>
          <a:xfrm>
            <a:off x="594360" y="2386584"/>
            <a:ext cx="2176272" cy="8046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496312"/>
            <a:ext cx="2029968" cy="329184"/>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What</a:t>
            </a:r>
          </a:p>
        </p:txBody>
      </p:sp>
      <p:sp>
        <p:nvSpPr>
          <p:cNvPr id="13" name="TextBox 12"/>
          <p:cNvSpPr txBox="1"/>
          <p:nvPr/>
        </p:nvSpPr>
        <p:spPr>
          <a:xfrm>
            <a:off x="667512" y="2862072"/>
            <a:ext cx="2029968" cy="210312"/>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ID 3838</a:t>
            </a:r>
          </a:p>
        </p:txBody>
      </p:sp>
      <p:sp>
        <p:nvSpPr>
          <p:cNvPr id="14" name="Rounded Rectangle 13"/>
          <p:cNvSpPr/>
          <p:nvPr/>
        </p:nvSpPr>
        <p:spPr>
          <a:xfrm>
            <a:off x="2798064" y="2386584"/>
            <a:ext cx="2176272" cy="8046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71216" y="2496312"/>
            <a:ext cx="2029968" cy="329184"/>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·does</a:t>
            </a:r>
          </a:p>
        </p:txBody>
      </p:sp>
      <p:sp>
        <p:nvSpPr>
          <p:cNvPr id="16" name="TextBox 15"/>
          <p:cNvSpPr txBox="1"/>
          <p:nvPr/>
        </p:nvSpPr>
        <p:spPr>
          <a:xfrm>
            <a:off x="2871216" y="2862072"/>
            <a:ext cx="2029968" cy="210312"/>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ID 1558</a:t>
            </a:r>
          </a:p>
        </p:txBody>
      </p:sp>
      <p:sp>
        <p:nvSpPr>
          <p:cNvPr id="17" name="Rounded Rectangle 16"/>
          <p:cNvSpPr/>
          <p:nvPr/>
        </p:nvSpPr>
        <p:spPr>
          <a:xfrm>
            <a:off x="5001768" y="2386584"/>
            <a:ext cx="2176272" cy="8046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4920" y="2496312"/>
            <a:ext cx="2029968" cy="329184"/>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·Kubernetes</a:t>
            </a:r>
          </a:p>
        </p:txBody>
      </p:sp>
      <p:sp>
        <p:nvSpPr>
          <p:cNvPr id="19" name="TextBox 18"/>
          <p:cNvSpPr txBox="1"/>
          <p:nvPr/>
        </p:nvSpPr>
        <p:spPr>
          <a:xfrm>
            <a:off x="5074920" y="2862072"/>
            <a:ext cx="2029968" cy="210312"/>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ID 66374</a:t>
            </a:r>
          </a:p>
        </p:txBody>
      </p:sp>
      <p:sp>
        <p:nvSpPr>
          <p:cNvPr id="20" name="Rounded Rectangle 19"/>
          <p:cNvSpPr/>
          <p:nvPr/>
        </p:nvSpPr>
        <p:spPr>
          <a:xfrm>
            <a:off x="7205472" y="2386584"/>
            <a:ext cx="2176272" cy="8046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78624" y="2496312"/>
            <a:ext cx="2029968" cy="329184"/>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·do</a:t>
            </a:r>
          </a:p>
        </p:txBody>
      </p:sp>
      <p:sp>
        <p:nvSpPr>
          <p:cNvPr id="22" name="TextBox 21"/>
          <p:cNvSpPr txBox="1"/>
          <p:nvPr/>
        </p:nvSpPr>
        <p:spPr>
          <a:xfrm>
            <a:off x="7278624" y="2862072"/>
            <a:ext cx="2029968" cy="210312"/>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ID 653</a:t>
            </a:r>
          </a:p>
        </p:txBody>
      </p:sp>
      <p:sp>
        <p:nvSpPr>
          <p:cNvPr id="23" name="Rounded Rectangle 22"/>
          <p:cNvSpPr/>
          <p:nvPr/>
        </p:nvSpPr>
        <p:spPr>
          <a:xfrm>
            <a:off x="9409176" y="2386584"/>
            <a:ext cx="2176272" cy="8046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2328" y="2496312"/>
            <a:ext cx="2029968" cy="329184"/>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a:t>
            </a:r>
          </a:p>
        </p:txBody>
      </p:sp>
      <p:sp>
        <p:nvSpPr>
          <p:cNvPr id="25" name="TextBox 24"/>
          <p:cNvSpPr txBox="1"/>
          <p:nvPr/>
        </p:nvSpPr>
        <p:spPr>
          <a:xfrm>
            <a:off x="9482328" y="2862072"/>
            <a:ext cx="2029968" cy="210312"/>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ID 30</a:t>
            </a:r>
          </a:p>
        </p:txBody>
      </p:sp>
      <p:sp>
        <p:nvSpPr>
          <p:cNvPr id="26" name="TextBox 25"/>
          <p:cNvSpPr txBox="1"/>
          <p:nvPr/>
        </p:nvSpPr>
        <p:spPr>
          <a:xfrm>
            <a:off x="594360" y="3328416"/>
            <a:ext cx="10991088" cy="256032"/>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Tokens are not fixed-size letters or words: output “Kubernetes” splits into “K” + “ubernetes”.</a:t>
            </a:r>
          </a:p>
        </p:txBody>
      </p:sp>
      <p:sp>
        <p:nvSpPr>
          <p:cNvPr id="27" name="Rounded Rectangle 26"/>
          <p:cNvSpPr/>
          <p:nvPr/>
        </p:nvSpPr>
        <p:spPr>
          <a:xfrm>
            <a:off x="594360" y="3813048"/>
            <a:ext cx="2743200"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4360" y="3904487"/>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31920"/>
            <a:ext cx="246888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5 prompt positions</a:t>
            </a:r>
          </a:p>
        </p:txBody>
      </p:sp>
      <p:sp>
        <p:nvSpPr>
          <p:cNvPr id="30" name="TextBox 29"/>
          <p:cNvSpPr txBox="1"/>
          <p:nvPr/>
        </p:nvSpPr>
        <p:spPr>
          <a:xfrm>
            <a:off x="740664" y="4370831"/>
            <a:ext cx="2450592"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The real IDs shown above</a:t>
            </a:r>
          </a:p>
        </p:txBody>
      </p:sp>
      <p:sp>
        <p:nvSpPr>
          <p:cNvPr id="31" name="Rounded Rectangle 30"/>
          <p:cNvSpPr/>
          <p:nvPr/>
        </p:nvSpPr>
        <p:spPr>
          <a:xfrm>
            <a:off x="3794760" y="3813048"/>
            <a:ext cx="380390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794760" y="3904487"/>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31920" y="3931920"/>
            <a:ext cx="3529584"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Causal prefill</a:t>
            </a:r>
          </a:p>
        </p:txBody>
      </p:sp>
      <p:sp>
        <p:nvSpPr>
          <p:cNvPr id="34" name="TextBox 33"/>
          <p:cNvSpPr txBox="1"/>
          <p:nvPr/>
        </p:nvSpPr>
        <p:spPr>
          <a:xfrm>
            <a:off x="3941064" y="4370831"/>
            <a:ext cx="351129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 attention to future positions</a:t>
            </a:r>
          </a:p>
        </p:txBody>
      </p:sp>
      <p:sp>
        <p:nvSpPr>
          <p:cNvPr id="35" name="Rounded Rectangle 34"/>
          <p:cNvSpPr/>
          <p:nvPr/>
        </p:nvSpPr>
        <p:spPr>
          <a:xfrm>
            <a:off x="8229600" y="3813048"/>
            <a:ext cx="335584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29600" y="3904487"/>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3931920"/>
            <a:ext cx="3081528"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Select y1 = “K” (42)</a:t>
            </a:r>
          </a:p>
        </p:txBody>
      </p:sp>
      <p:sp>
        <p:nvSpPr>
          <p:cNvPr id="38" name="TextBox 37"/>
          <p:cNvSpPr txBox="1"/>
          <p:nvPr/>
        </p:nvSpPr>
        <p:spPr>
          <a:xfrm>
            <a:off x="8375904" y="4370831"/>
            <a:ext cx="306324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Final prompt-position logits</a:t>
            </a:r>
          </a:p>
        </p:txBody>
      </p:sp>
      <p:cxnSp>
        <p:nvCxnSpPr>
          <p:cNvPr id="39" name="Connector 38"/>
          <p:cNvCxnSpPr/>
          <p:nvPr/>
        </p:nvCxnSpPr>
        <p:spPr>
          <a:xfrm>
            <a:off x="3337560" y="4361688"/>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598664" y="4361688"/>
            <a:ext cx="63093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696712" y="4928616"/>
            <a:ext cx="0" cy="173736"/>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94360" y="5120640"/>
            <a:ext cx="10991088"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193792"/>
            <a:ext cx="10625328" cy="265176"/>
          </a:xfrm>
          <a:prstGeom prst="rect">
            <a:avLst/>
          </a:prstGeom>
          <a:noFill/>
        </p:spPr>
        <p:txBody>
          <a:bodyPr wrap="square" lIns="13716" rIns="13716" tIns="13716" bIns="13716">
            <a:spAutoFit/>
          </a:bodyPr>
          <a:lstStyle/>
          <a:p>
            <a:pPr>
              <a:spcBef>
                <a:spcPts val="0"/>
              </a:spcBef>
              <a:spcAft>
                <a:spcPts val="500"/>
              </a:spcAft>
              <a:defRPr sz="1600" b="0">
                <a:solidFill>
                  <a:srgbClr val="087F8C"/>
                </a:solidFill>
                <a:latin typeface="Arial"/>
              </a:defRPr>
            </a:pPr>
            <a:r>
              <a:t>Prompt KV = per-layer attention keys + values for the 5 processed prompt positions.</a:t>
            </a:r>
          </a:p>
        </p:txBody>
      </p:sp>
      <p:sp>
        <p:nvSpPr>
          <p:cNvPr id="44" name="TextBox 43"/>
          <p:cNvSpPr txBox="1"/>
          <p:nvPr/>
        </p:nvSpPr>
        <p:spPr>
          <a:xfrm>
            <a:off x="594360" y="5596128"/>
            <a:ext cx="10991088" cy="201168"/>
          </a:xfrm>
          <a:prstGeom prst="rect">
            <a:avLst/>
          </a:prstGeom>
          <a:noFill/>
        </p:spPr>
        <p:txBody>
          <a:bodyPr wrap="square" lIns="13716" rIns="13716" tIns="13716" bIns="13716">
            <a:spAutoFit/>
          </a:bodyPr>
          <a:lstStyle/>
          <a:p>
            <a:pPr>
              <a:spcBef>
                <a:spcPts val="0"/>
              </a:spcBef>
              <a:spcAft>
                <a:spcPts val="500"/>
              </a:spcAft>
              <a:defRPr sz="1050" b="0">
                <a:solidFill>
                  <a:srgbClr val="586A80"/>
                </a:solidFill>
                <a:latin typeface="Arial"/>
              </a:defRPr>
            </a:pPr>
            <a:r>
              <a:t>Raw text; no chat template/special tokens. Output tokenized separately. Authored sentence; no inference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DECODE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Decode: consume one token, select the next, repeat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output: “Kubernetes helps teams deploy and scale applications.”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Append KV for the consumed token—not the newly selected token. Read past KV; do not recompute 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56</a:t>
            </a:r>
          </a:p>
        </p:txBody>
      </p:sp>
      <p:sp>
        <p:nvSpPr>
          <p:cNvPr id="10" name="TextBox 9"/>
          <p:cNvSpPr txBox="1"/>
          <p:nvPr/>
        </p:nvSpPr>
        <p:spPr>
          <a:xfrm>
            <a:off x="594360" y="1920240"/>
            <a:ext cx="10991088" cy="201168"/>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REAL QWEN TOKEN PIECES + IDs  /  · = SPACE  /  RAW OUTPUT ENCODED SEPARATELY; NO MODEL RUN</a:t>
            </a:r>
          </a:p>
        </p:txBody>
      </p:sp>
      <p:sp>
        <p:nvSpPr>
          <p:cNvPr id="11" name="Rectangle 10"/>
          <p:cNvSpPr/>
          <p:nvPr/>
        </p:nvSpPr>
        <p:spPr>
          <a:xfrm>
            <a:off x="594360" y="2221992"/>
            <a:ext cx="667512"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67712"/>
            <a:ext cx="521207"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STEP</a:t>
            </a:r>
          </a:p>
        </p:txBody>
      </p:sp>
      <p:sp>
        <p:nvSpPr>
          <p:cNvPr id="13" name="Rectangle 12"/>
          <p:cNvSpPr/>
          <p:nvPr/>
        </p:nvSpPr>
        <p:spPr>
          <a:xfrm>
            <a:off x="1280160" y="2221992"/>
            <a:ext cx="283464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53312" y="2267712"/>
            <a:ext cx="2688336"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CONSUME + READ PAST KV</a:t>
            </a:r>
          </a:p>
        </p:txBody>
      </p:sp>
      <p:sp>
        <p:nvSpPr>
          <p:cNvPr id="15" name="Rectangle 14"/>
          <p:cNvSpPr/>
          <p:nvPr/>
        </p:nvSpPr>
        <p:spPr>
          <a:xfrm>
            <a:off x="4160520" y="2221992"/>
            <a:ext cx="3675887"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33672" y="2267712"/>
            <a:ext cx="3529583"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APPEND TO PER-LAYER KV</a:t>
            </a:r>
          </a:p>
        </p:txBody>
      </p:sp>
      <p:sp>
        <p:nvSpPr>
          <p:cNvPr id="17" name="Rectangle 16"/>
          <p:cNvSpPr/>
          <p:nvPr/>
        </p:nvSpPr>
        <p:spPr>
          <a:xfrm>
            <a:off x="7882127" y="2221992"/>
            <a:ext cx="370332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2267712"/>
            <a:ext cx="3557015"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SELECT NEXT OUTPUT</a:t>
            </a:r>
          </a:p>
        </p:txBody>
      </p:sp>
      <p:sp>
        <p:nvSpPr>
          <p:cNvPr id="19" name="Rectangle 18"/>
          <p:cNvSpPr/>
          <p:nvPr/>
        </p:nvSpPr>
        <p:spPr>
          <a:xfrm>
            <a:off x="594360" y="2587752"/>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2619756"/>
            <a:ext cx="502920" cy="237744"/>
          </a:xfrm>
          <a:prstGeom prst="rect">
            <a:avLst/>
          </a:prstGeom>
          <a:noFill/>
        </p:spPr>
        <p:txBody>
          <a:bodyPr wrap="square" lIns="13716" rIns="13716" tIns="13716" bIns="13716">
            <a:spAutoFit/>
          </a:bodyPr>
          <a:lstStyle/>
          <a:p>
            <a:pPr>
              <a:spcBef>
                <a:spcPts val="0"/>
              </a:spcBef>
              <a:spcAft>
                <a:spcPts val="500"/>
              </a:spcAft>
              <a:defRPr sz="1350" b="1">
                <a:solidFill>
                  <a:srgbClr val="586A80"/>
                </a:solidFill>
                <a:latin typeface="Arial"/>
              </a:defRPr>
            </a:pPr>
            <a:r>
              <a:t>1</a:t>
            </a:r>
          </a:p>
        </p:txBody>
      </p:sp>
      <p:sp>
        <p:nvSpPr>
          <p:cNvPr id="21" name="TextBox 20"/>
          <p:cNvSpPr txBox="1"/>
          <p:nvPr/>
        </p:nvSpPr>
        <p:spPr>
          <a:xfrm>
            <a:off x="1362456" y="2619756"/>
            <a:ext cx="265176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y1  “K”  [42]</a:t>
            </a:r>
          </a:p>
        </p:txBody>
      </p:sp>
      <p:sp>
        <p:nvSpPr>
          <p:cNvPr id="22" name="TextBox 21"/>
          <p:cNvSpPr txBox="1"/>
          <p:nvPr/>
        </p:nvSpPr>
        <p:spPr>
          <a:xfrm>
            <a:off x="4242816" y="2619756"/>
            <a:ext cx="3493008" cy="237744"/>
          </a:xfrm>
          <a:prstGeom prst="rect">
            <a:avLst/>
          </a:prstGeom>
          <a:noFill/>
        </p:spPr>
        <p:txBody>
          <a:bodyPr wrap="square" lIns="13716" rIns="13716" tIns="13716" bIns="13716">
            <a:spAutoFit/>
          </a:bodyPr>
          <a:lstStyle/>
          <a:p>
            <a:pPr>
              <a:spcBef>
                <a:spcPts val="0"/>
              </a:spcBef>
              <a:spcAft>
                <a:spcPts val="500"/>
              </a:spcAft>
              <a:defRPr sz="1350" b="1">
                <a:solidFill>
                  <a:srgbClr val="087F8C"/>
                </a:solidFill>
                <a:latin typeface="Arial"/>
              </a:defRPr>
            </a:pPr>
            <a:r>
              <a:t>K/V for y1 (“K”)</a:t>
            </a:r>
          </a:p>
        </p:txBody>
      </p:sp>
      <p:sp>
        <p:nvSpPr>
          <p:cNvPr id="23" name="TextBox 22"/>
          <p:cNvSpPr txBox="1"/>
          <p:nvPr/>
        </p:nvSpPr>
        <p:spPr>
          <a:xfrm>
            <a:off x="7964424" y="2619756"/>
            <a:ext cx="352044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y2  “ubernetes”  [29827]</a:t>
            </a:r>
          </a:p>
        </p:txBody>
      </p:sp>
      <p:sp>
        <p:nvSpPr>
          <p:cNvPr id="24" name="Rectangle 23"/>
          <p:cNvSpPr/>
          <p:nvPr/>
        </p:nvSpPr>
        <p:spPr>
          <a:xfrm>
            <a:off x="594360" y="2880360"/>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912364"/>
            <a:ext cx="502920" cy="237744"/>
          </a:xfrm>
          <a:prstGeom prst="rect">
            <a:avLst/>
          </a:prstGeom>
          <a:noFill/>
        </p:spPr>
        <p:txBody>
          <a:bodyPr wrap="square" lIns="13716" rIns="13716" tIns="13716" bIns="13716">
            <a:spAutoFit/>
          </a:bodyPr>
          <a:lstStyle/>
          <a:p>
            <a:pPr>
              <a:spcBef>
                <a:spcPts val="0"/>
              </a:spcBef>
              <a:spcAft>
                <a:spcPts val="500"/>
              </a:spcAft>
              <a:defRPr sz="1350" b="1">
                <a:solidFill>
                  <a:srgbClr val="586A80"/>
                </a:solidFill>
                <a:latin typeface="Arial"/>
              </a:defRPr>
            </a:pPr>
            <a:r>
              <a:t>2</a:t>
            </a:r>
          </a:p>
        </p:txBody>
      </p:sp>
      <p:sp>
        <p:nvSpPr>
          <p:cNvPr id="26" name="TextBox 25"/>
          <p:cNvSpPr txBox="1"/>
          <p:nvPr/>
        </p:nvSpPr>
        <p:spPr>
          <a:xfrm>
            <a:off x="1362456" y="2912364"/>
            <a:ext cx="265176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y2  “ubernetes”  [29827]</a:t>
            </a:r>
          </a:p>
        </p:txBody>
      </p:sp>
      <p:sp>
        <p:nvSpPr>
          <p:cNvPr id="27" name="TextBox 26"/>
          <p:cNvSpPr txBox="1"/>
          <p:nvPr/>
        </p:nvSpPr>
        <p:spPr>
          <a:xfrm>
            <a:off x="4242816" y="2912364"/>
            <a:ext cx="3493008" cy="237744"/>
          </a:xfrm>
          <a:prstGeom prst="rect">
            <a:avLst/>
          </a:prstGeom>
          <a:noFill/>
        </p:spPr>
        <p:txBody>
          <a:bodyPr wrap="square" lIns="13716" rIns="13716" tIns="13716" bIns="13716">
            <a:spAutoFit/>
          </a:bodyPr>
          <a:lstStyle/>
          <a:p>
            <a:pPr>
              <a:spcBef>
                <a:spcPts val="0"/>
              </a:spcBef>
              <a:spcAft>
                <a:spcPts val="500"/>
              </a:spcAft>
              <a:defRPr sz="1350" b="1">
                <a:solidFill>
                  <a:srgbClr val="087F8C"/>
                </a:solidFill>
                <a:latin typeface="Arial"/>
              </a:defRPr>
            </a:pPr>
            <a:r>
              <a:t>K/V for y2 (“ubernetes”)</a:t>
            </a:r>
          </a:p>
        </p:txBody>
      </p:sp>
      <p:sp>
        <p:nvSpPr>
          <p:cNvPr id="28" name="TextBox 27"/>
          <p:cNvSpPr txBox="1"/>
          <p:nvPr/>
        </p:nvSpPr>
        <p:spPr>
          <a:xfrm>
            <a:off x="7964424" y="2912364"/>
            <a:ext cx="352044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y3  “·helps”  [8609]</a:t>
            </a:r>
          </a:p>
        </p:txBody>
      </p:sp>
      <p:sp>
        <p:nvSpPr>
          <p:cNvPr id="29" name="Rectangle 28"/>
          <p:cNvSpPr/>
          <p:nvPr/>
        </p:nvSpPr>
        <p:spPr>
          <a:xfrm>
            <a:off x="594360" y="3172968"/>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3204972"/>
            <a:ext cx="502920" cy="237744"/>
          </a:xfrm>
          <a:prstGeom prst="rect">
            <a:avLst/>
          </a:prstGeom>
          <a:noFill/>
        </p:spPr>
        <p:txBody>
          <a:bodyPr wrap="square" lIns="13716" rIns="13716" tIns="13716" bIns="13716">
            <a:spAutoFit/>
          </a:bodyPr>
          <a:lstStyle/>
          <a:p>
            <a:pPr>
              <a:spcBef>
                <a:spcPts val="0"/>
              </a:spcBef>
              <a:spcAft>
                <a:spcPts val="500"/>
              </a:spcAft>
              <a:defRPr sz="1350" b="1">
                <a:solidFill>
                  <a:srgbClr val="586A80"/>
                </a:solidFill>
                <a:latin typeface="Arial"/>
              </a:defRPr>
            </a:pPr>
            <a:r>
              <a:t>3</a:t>
            </a:r>
          </a:p>
        </p:txBody>
      </p:sp>
      <p:sp>
        <p:nvSpPr>
          <p:cNvPr id="31" name="TextBox 30"/>
          <p:cNvSpPr txBox="1"/>
          <p:nvPr/>
        </p:nvSpPr>
        <p:spPr>
          <a:xfrm>
            <a:off x="1362456" y="3204972"/>
            <a:ext cx="265176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y3  “·helps”  [8609]</a:t>
            </a:r>
          </a:p>
        </p:txBody>
      </p:sp>
      <p:sp>
        <p:nvSpPr>
          <p:cNvPr id="32" name="TextBox 31"/>
          <p:cNvSpPr txBox="1"/>
          <p:nvPr/>
        </p:nvSpPr>
        <p:spPr>
          <a:xfrm>
            <a:off x="4242816" y="3204972"/>
            <a:ext cx="3493008" cy="237744"/>
          </a:xfrm>
          <a:prstGeom prst="rect">
            <a:avLst/>
          </a:prstGeom>
          <a:noFill/>
        </p:spPr>
        <p:txBody>
          <a:bodyPr wrap="square" lIns="13716" rIns="13716" tIns="13716" bIns="13716">
            <a:spAutoFit/>
          </a:bodyPr>
          <a:lstStyle/>
          <a:p>
            <a:pPr>
              <a:spcBef>
                <a:spcPts val="0"/>
              </a:spcBef>
              <a:spcAft>
                <a:spcPts val="500"/>
              </a:spcAft>
              <a:defRPr sz="1350" b="1">
                <a:solidFill>
                  <a:srgbClr val="087F8C"/>
                </a:solidFill>
                <a:latin typeface="Arial"/>
              </a:defRPr>
            </a:pPr>
            <a:r>
              <a:t>K/V for y3 (“·helps”)</a:t>
            </a:r>
          </a:p>
        </p:txBody>
      </p:sp>
      <p:sp>
        <p:nvSpPr>
          <p:cNvPr id="33" name="TextBox 32"/>
          <p:cNvSpPr txBox="1"/>
          <p:nvPr/>
        </p:nvSpPr>
        <p:spPr>
          <a:xfrm>
            <a:off x="7964424" y="3204972"/>
            <a:ext cx="352044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y4  “·teams”  [7263]</a:t>
            </a:r>
          </a:p>
        </p:txBody>
      </p:sp>
      <p:sp>
        <p:nvSpPr>
          <p:cNvPr id="34" name="Rectangle 33"/>
          <p:cNvSpPr/>
          <p:nvPr/>
        </p:nvSpPr>
        <p:spPr>
          <a:xfrm>
            <a:off x="594360" y="3465576"/>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3497580"/>
            <a:ext cx="502920" cy="237744"/>
          </a:xfrm>
          <a:prstGeom prst="rect">
            <a:avLst/>
          </a:prstGeom>
          <a:noFill/>
        </p:spPr>
        <p:txBody>
          <a:bodyPr wrap="square" lIns="13716" rIns="13716" tIns="13716" bIns="13716">
            <a:spAutoFit/>
          </a:bodyPr>
          <a:lstStyle/>
          <a:p>
            <a:pPr>
              <a:spcBef>
                <a:spcPts val="0"/>
              </a:spcBef>
              <a:spcAft>
                <a:spcPts val="500"/>
              </a:spcAft>
              <a:defRPr sz="1350" b="1">
                <a:solidFill>
                  <a:srgbClr val="586A80"/>
                </a:solidFill>
                <a:latin typeface="Arial"/>
              </a:defRPr>
            </a:pPr>
            <a:r>
              <a:t>4</a:t>
            </a:r>
          </a:p>
        </p:txBody>
      </p:sp>
      <p:sp>
        <p:nvSpPr>
          <p:cNvPr id="36" name="TextBox 35"/>
          <p:cNvSpPr txBox="1"/>
          <p:nvPr/>
        </p:nvSpPr>
        <p:spPr>
          <a:xfrm>
            <a:off x="1362456" y="3497580"/>
            <a:ext cx="265176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y4  “·teams”  [7263]</a:t>
            </a:r>
          </a:p>
        </p:txBody>
      </p:sp>
      <p:sp>
        <p:nvSpPr>
          <p:cNvPr id="37" name="TextBox 36"/>
          <p:cNvSpPr txBox="1"/>
          <p:nvPr/>
        </p:nvSpPr>
        <p:spPr>
          <a:xfrm>
            <a:off x="4242816" y="3497580"/>
            <a:ext cx="3493008" cy="237744"/>
          </a:xfrm>
          <a:prstGeom prst="rect">
            <a:avLst/>
          </a:prstGeom>
          <a:noFill/>
        </p:spPr>
        <p:txBody>
          <a:bodyPr wrap="square" lIns="13716" rIns="13716" tIns="13716" bIns="13716">
            <a:spAutoFit/>
          </a:bodyPr>
          <a:lstStyle/>
          <a:p>
            <a:pPr>
              <a:spcBef>
                <a:spcPts val="0"/>
              </a:spcBef>
              <a:spcAft>
                <a:spcPts val="500"/>
              </a:spcAft>
              <a:defRPr sz="1350" b="1">
                <a:solidFill>
                  <a:srgbClr val="087F8C"/>
                </a:solidFill>
                <a:latin typeface="Arial"/>
              </a:defRPr>
            </a:pPr>
            <a:r>
              <a:t>K/V for y4 (“·teams”)</a:t>
            </a:r>
          </a:p>
        </p:txBody>
      </p:sp>
      <p:sp>
        <p:nvSpPr>
          <p:cNvPr id="38" name="TextBox 37"/>
          <p:cNvSpPr txBox="1"/>
          <p:nvPr/>
        </p:nvSpPr>
        <p:spPr>
          <a:xfrm>
            <a:off x="7964424" y="3497580"/>
            <a:ext cx="352044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y5  “·deploy”  [10517]</a:t>
            </a:r>
          </a:p>
        </p:txBody>
      </p:sp>
      <p:sp>
        <p:nvSpPr>
          <p:cNvPr id="39" name="Rectangle 38"/>
          <p:cNvSpPr/>
          <p:nvPr/>
        </p:nvSpPr>
        <p:spPr>
          <a:xfrm>
            <a:off x="594360" y="3758184"/>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3790188"/>
            <a:ext cx="502920" cy="237744"/>
          </a:xfrm>
          <a:prstGeom prst="rect">
            <a:avLst/>
          </a:prstGeom>
          <a:noFill/>
        </p:spPr>
        <p:txBody>
          <a:bodyPr wrap="square" lIns="13716" rIns="13716" tIns="13716" bIns="13716">
            <a:spAutoFit/>
          </a:bodyPr>
          <a:lstStyle/>
          <a:p>
            <a:pPr>
              <a:spcBef>
                <a:spcPts val="0"/>
              </a:spcBef>
              <a:spcAft>
                <a:spcPts val="500"/>
              </a:spcAft>
              <a:defRPr sz="1350" b="1">
                <a:solidFill>
                  <a:srgbClr val="586A80"/>
                </a:solidFill>
                <a:latin typeface="Arial"/>
              </a:defRPr>
            </a:pPr>
            <a:r>
              <a:t>5</a:t>
            </a:r>
          </a:p>
        </p:txBody>
      </p:sp>
      <p:sp>
        <p:nvSpPr>
          <p:cNvPr id="41" name="TextBox 40"/>
          <p:cNvSpPr txBox="1"/>
          <p:nvPr/>
        </p:nvSpPr>
        <p:spPr>
          <a:xfrm>
            <a:off x="1362456" y="3790188"/>
            <a:ext cx="265176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y5  “·deploy”  [10517]</a:t>
            </a:r>
          </a:p>
        </p:txBody>
      </p:sp>
      <p:sp>
        <p:nvSpPr>
          <p:cNvPr id="42" name="TextBox 41"/>
          <p:cNvSpPr txBox="1"/>
          <p:nvPr/>
        </p:nvSpPr>
        <p:spPr>
          <a:xfrm>
            <a:off x="4242816" y="3790188"/>
            <a:ext cx="3493008" cy="237744"/>
          </a:xfrm>
          <a:prstGeom prst="rect">
            <a:avLst/>
          </a:prstGeom>
          <a:noFill/>
        </p:spPr>
        <p:txBody>
          <a:bodyPr wrap="square" lIns="13716" rIns="13716" tIns="13716" bIns="13716">
            <a:spAutoFit/>
          </a:bodyPr>
          <a:lstStyle/>
          <a:p>
            <a:pPr>
              <a:spcBef>
                <a:spcPts val="0"/>
              </a:spcBef>
              <a:spcAft>
                <a:spcPts val="500"/>
              </a:spcAft>
              <a:defRPr sz="1350" b="1">
                <a:solidFill>
                  <a:srgbClr val="087F8C"/>
                </a:solidFill>
                <a:latin typeface="Arial"/>
              </a:defRPr>
            </a:pPr>
            <a:r>
              <a:t>K/V for y5 (“·deploy”)</a:t>
            </a:r>
          </a:p>
        </p:txBody>
      </p:sp>
      <p:sp>
        <p:nvSpPr>
          <p:cNvPr id="43" name="TextBox 42"/>
          <p:cNvSpPr txBox="1"/>
          <p:nvPr/>
        </p:nvSpPr>
        <p:spPr>
          <a:xfrm>
            <a:off x="7964424" y="3790188"/>
            <a:ext cx="352044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y6  “·and”  [323]</a:t>
            </a:r>
          </a:p>
        </p:txBody>
      </p:sp>
      <p:sp>
        <p:nvSpPr>
          <p:cNvPr id="44" name="Rectangle 43"/>
          <p:cNvSpPr/>
          <p:nvPr/>
        </p:nvSpPr>
        <p:spPr>
          <a:xfrm>
            <a:off x="594360" y="4050791"/>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082796"/>
            <a:ext cx="502920" cy="237744"/>
          </a:xfrm>
          <a:prstGeom prst="rect">
            <a:avLst/>
          </a:prstGeom>
          <a:noFill/>
        </p:spPr>
        <p:txBody>
          <a:bodyPr wrap="square" lIns="13716" rIns="13716" tIns="13716" bIns="13716">
            <a:spAutoFit/>
          </a:bodyPr>
          <a:lstStyle/>
          <a:p>
            <a:pPr>
              <a:spcBef>
                <a:spcPts val="0"/>
              </a:spcBef>
              <a:spcAft>
                <a:spcPts val="500"/>
              </a:spcAft>
              <a:defRPr sz="1350" b="1">
                <a:solidFill>
                  <a:srgbClr val="586A80"/>
                </a:solidFill>
                <a:latin typeface="Arial"/>
              </a:defRPr>
            </a:pPr>
            <a:r>
              <a:t>6</a:t>
            </a:r>
          </a:p>
        </p:txBody>
      </p:sp>
      <p:sp>
        <p:nvSpPr>
          <p:cNvPr id="46" name="TextBox 45"/>
          <p:cNvSpPr txBox="1"/>
          <p:nvPr/>
        </p:nvSpPr>
        <p:spPr>
          <a:xfrm>
            <a:off x="1362456" y="4082796"/>
            <a:ext cx="265176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y6  “·and”  [323]</a:t>
            </a:r>
          </a:p>
        </p:txBody>
      </p:sp>
      <p:sp>
        <p:nvSpPr>
          <p:cNvPr id="47" name="TextBox 46"/>
          <p:cNvSpPr txBox="1"/>
          <p:nvPr/>
        </p:nvSpPr>
        <p:spPr>
          <a:xfrm>
            <a:off x="4242816" y="4082796"/>
            <a:ext cx="3493008" cy="237744"/>
          </a:xfrm>
          <a:prstGeom prst="rect">
            <a:avLst/>
          </a:prstGeom>
          <a:noFill/>
        </p:spPr>
        <p:txBody>
          <a:bodyPr wrap="square" lIns="13716" rIns="13716" tIns="13716" bIns="13716">
            <a:spAutoFit/>
          </a:bodyPr>
          <a:lstStyle/>
          <a:p>
            <a:pPr>
              <a:spcBef>
                <a:spcPts val="0"/>
              </a:spcBef>
              <a:spcAft>
                <a:spcPts val="500"/>
              </a:spcAft>
              <a:defRPr sz="1350" b="1">
                <a:solidFill>
                  <a:srgbClr val="087F8C"/>
                </a:solidFill>
                <a:latin typeface="Arial"/>
              </a:defRPr>
            </a:pPr>
            <a:r>
              <a:t>K/V for y6 (“·and”)</a:t>
            </a:r>
          </a:p>
        </p:txBody>
      </p:sp>
      <p:sp>
        <p:nvSpPr>
          <p:cNvPr id="48" name="TextBox 47"/>
          <p:cNvSpPr txBox="1"/>
          <p:nvPr/>
        </p:nvSpPr>
        <p:spPr>
          <a:xfrm>
            <a:off x="7964424" y="4082796"/>
            <a:ext cx="3520440" cy="237744"/>
          </a:xfrm>
          <a:prstGeom prst="rect">
            <a:avLst/>
          </a:prstGeom>
          <a:noFill/>
        </p:spPr>
        <p:txBody>
          <a:bodyPr wrap="square" lIns="13716" rIns="13716" tIns="13716" bIns="13716">
            <a:spAutoFit/>
          </a:bodyPr>
          <a:lstStyle/>
          <a:p>
            <a:pPr>
              <a:spcBef>
                <a:spcPts val="0"/>
              </a:spcBef>
              <a:spcAft>
                <a:spcPts val="500"/>
              </a:spcAft>
              <a:defRPr sz="1350" b="1">
                <a:solidFill>
                  <a:srgbClr val="7354B8"/>
                </a:solidFill>
                <a:latin typeface="Arial"/>
              </a:defRPr>
            </a:pPr>
            <a:r>
              <a:t>y7  “·scale”  [5452]</a:t>
            </a:r>
          </a:p>
        </p:txBody>
      </p:sp>
      <p:sp>
        <p:nvSpPr>
          <p:cNvPr id="49" name="TextBox 48"/>
          <p:cNvSpPr txBox="1"/>
          <p:nvPr/>
        </p:nvSpPr>
        <p:spPr>
          <a:xfrm>
            <a:off x="594360" y="4425696"/>
            <a:ext cx="10991088" cy="22860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Next: consume “·scale” → select “·applications” [8357]; consume it → select “.” [13].</a:t>
            </a:r>
          </a:p>
        </p:txBody>
      </p:sp>
      <p:sp>
        <p:nvSpPr>
          <p:cNvPr id="50" name="TextBox 49"/>
          <p:cNvSpPr txBox="1"/>
          <p:nvPr/>
        </p:nvSpPr>
        <p:spPr>
          <a:xfrm>
            <a:off x="594360" y="4736592"/>
            <a:ext cx="10881360" cy="219456"/>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CLIENT TOKEN ARRIVALS  /  FIRST 6 SHOWN; LATER TOKENS OMITTED  /  SCHEMATIC</a:t>
            </a:r>
          </a:p>
        </p:txBody>
      </p:sp>
      <p:sp>
        <p:nvSpPr>
          <p:cNvPr id="51" name="Rounded Rectangle 50"/>
          <p:cNvSpPr/>
          <p:nvPr/>
        </p:nvSpPr>
        <p:spPr>
          <a:xfrm>
            <a:off x="594360" y="5285232"/>
            <a:ext cx="1325880" cy="35661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7220" y="5349240"/>
            <a:ext cx="1280160" cy="228600"/>
          </a:xfrm>
          <a:prstGeom prst="rect">
            <a:avLst/>
          </a:prstGeom>
          <a:noFill/>
        </p:spPr>
        <p:txBody>
          <a:bodyPr wrap="square" lIns="13716" rIns="13716" tIns="13716" bIns="13716">
            <a:spAutoFit/>
          </a:bodyPr>
          <a:lstStyle/>
          <a:p>
            <a:pPr algn="ctr">
              <a:spcBef>
                <a:spcPts val="0"/>
              </a:spcBef>
              <a:spcAft>
                <a:spcPts val="500"/>
              </a:spcAft>
              <a:defRPr sz="1150" b="1">
                <a:solidFill>
                  <a:srgbClr val="2563EB"/>
                </a:solidFill>
                <a:latin typeface="Arial"/>
              </a:defRPr>
            </a:pPr>
            <a:r>
              <a:t>Request</a:t>
            </a:r>
          </a:p>
        </p:txBody>
      </p:sp>
      <p:sp>
        <p:nvSpPr>
          <p:cNvPr id="53" name="Rounded Rectangle 52"/>
          <p:cNvSpPr/>
          <p:nvPr/>
        </p:nvSpPr>
        <p:spPr>
          <a:xfrm>
            <a:off x="4160520" y="5285232"/>
            <a:ext cx="1069848" cy="35661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83380" y="5349240"/>
            <a:ext cx="1024127" cy="228600"/>
          </a:xfrm>
          <a:prstGeom prst="rect">
            <a:avLst/>
          </a:prstGeom>
          <a:noFill/>
        </p:spPr>
        <p:txBody>
          <a:bodyPr wrap="square" lIns="13716" rIns="13716" tIns="13716" bIns="13716">
            <a:spAutoFit/>
          </a:bodyPr>
          <a:lstStyle/>
          <a:p>
            <a:pPr algn="ctr">
              <a:spcBef>
                <a:spcPts val="0"/>
              </a:spcBef>
              <a:spcAft>
                <a:spcPts val="500"/>
              </a:spcAft>
              <a:defRPr sz="1150" b="1">
                <a:solidFill>
                  <a:srgbClr val="087F8C"/>
                </a:solidFill>
                <a:latin typeface="Arial"/>
              </a:defRPr>
            </a:pPr>
            <a:r>
              <a:t>“K”</a:t>
            </a:r>
          </a:p>
        </p:txBody>
      </p:sp>
      <p:cxnSp>
        <p:nvCxnSpPr>
          <p:cNvPr id="55" name="Connector 54"/>
          <p:cNvCxnSpPr/>
          <p:nvPr/>
        </p:nvCxnSpPr>
        <p:spPr>
          <a:xfrm>
            <a:off x="1920240" y="5463540"/>
            <a:ext cx="224028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5047488"/>
            <a:ext cx="35661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087F8C"/>
                </a:solidFill>
                <a:latin typeface="Arial"/>
              </a:defRPr>
            </a:pPr>
            <a:r>
              <a:t>TTFT → first token</a:t>
            </a:r>
          </a:p>
        </p:txBody>
      </p:sp>
      <p:sp>
        <p:nvSpPr>
          <p:cNvPr id="57" name="Rounded Rectangle 56"/>
          <p:cNvSpPr/>
          <p:nvPr/>
        </p:nvSpPr>
        <p:spPr>
          <a:xfrm>
            <a:off x="539496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17820" y="5349240"/>
            <a:ext cx="1024127" cy="228600"/>
          </a:xfrm>
          <a:prstGeom prst="rect">
            <a:avLst/>
          </a:prstGeom>
          <a:noFill/>
        </p:spPr>
        <p:txBody>
          <a:bodyPr wrap="square" lIns="13716" rIns="13716" tIns="13716" bIns="13716">
            <a:spAutoFit/>
          </a:bodyPr>
          <a:lstStyle/>
          <a:p>
            <a:pPr algn="ctr">
              <a:spcBef>
                <a:spcPts val="0"/>
              </a:spcBef>
              <a:spcAft>
                <a:spcPts val="500"/>
              </a:spcAft>
              <a:defRPr sz="1150" b="1">
                <a:solidFill>
                  <a:srgbClr val="7354B8"/>
                </a:solidFill>
                <a:latin typeface="Arial"/>
              </a:defRPr>
            </a:pPr>
            <a:r>
              <a:t>“ubernetes”</a:t>
            </a:r>
          </a:p>
        </p:txBody>
      </p:sp>
      <p:cxnSp>
        <p:nvCxnSpPr>
          <p:cNvPr id="59" name="Connector 58"/>
          <p:cNvCxnSpPr/>
          <p:nvPr/>
        </p:nvCxnSpPr>
        <p:spPr>
          <a:xfrm>
            <a:off x="523036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416052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1</a:t>
            </a:r>
          </a:p>
        </p:txBody>
      </p:sp>
      <p:sp>
        <p:nvSpPr>
          <p:cNvPr id="61" name="Rounded Rectangle 60"/>
          <p:cNvSpPr/>
          <p:nvPr/>
        </p:nvSpPr>
        <p:spPr>
          <a:xfrm>
            <a:off x="662940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52260" y="5349240"/>
            <a:ext cx="1024127" cy="228600"/>
          </a:xfrm>
          <a:prstGeom prst="rect">
            <a:avLst/>
          </a:prstGeom>
          <a:noFill/>
        </p:spPr>
        <p:txBody>
          <a:bodyPr wrap="square" lIns="13716" rIns="13716" tIns="13716" bIns="13716">
            <a:spAutoFit/>
          </a:bodyPr>
          <a:lstStyle/>
          <a:p>
            <a:pPr algn="ctr">
              <a:spcBef>
                <a:spcPts val="0"/>
              </a:spcBef>
              <a:spcAft>
                <a:spcPts val="500"/>
              </a:spcAft>
              <a:defRPr sz="1150" b="1">
                <a:solidFill>
                  <a:srgbClr val="7354B8"/>
                </a:solidFill>
                <a:latin typeface="Arial"/>
              </a:defRPr>
            </a:pPr>
            <a:r>
              <a:t>“·helps”</a:t>
            </a:r>
          </a:p>
        </p:txBody>
      </p:sp>
      <p:cxnSp>
        <p:nvCxnSpPr>
          <p:cNvPr id="63" name="Connector 62"/>
          <p:cNvCxnSpPr/>
          <p:nvPr/>
        </p:nvCxnSpPr>
        <p:spPr>
          <a:xfrm>
            <a:off x="646480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39496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2</a:t>
            </a:r>
          </a:p>
        </p:txBody>
      </p:sp>
      <p:sp>
        <p:nvSpPr>
          <p:cNvPr id="65" name="Rounded Rectangle 64"/>
          <p:cNvSpPr/>
          <p:nvPr/>
        </p:nvSpPr>
        <p:spPr>
          <a:xfrm>
            <a:off x="786384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86700" y="5349240"/>
            <a:ext cx="1024127" cy="228600"/>
          </a:xfrm>
          <a:prstGeom prst="rect">
            <a:avLst/>
          </a:prstGeom>
          <a:noFill/>
        </p:spPr>
        <p:txBody>
          <a:bodyPr wrap="square" lIns="13716" rIns="13716" tIns="13716" bIns="13716">
            <a:spAutoFit/>
          </a:bodyPr>
          <a:lstStyle/>
          <a:p>
            <a:pPr algn="ctr">
              <a:spcBef>
                <a:spcPts val="0"/>
              </a:spcBef>
              <a:spcAft>
                <a:spcPts val="500"/>
              </a:spcAft>
              <a:defRPr sz="1150" b="1">
                <a:solidFill>
                  <a:srgbClr val="7354B8"/>
                </a:solidFill>
                <a:latin typeface="Arial"/>
              </a:defRPr>
            </a:pPr>
            <a:r>
              <a:t>“·teams”</a:t>
            </a:r>
          </a:p>
        </p:txBody>
      </p:sp>
      <p:cxnSp>
        <p:nvCxnSpPr>
          <p:cNvPr id="67" name="Connector 66"/>
          <p:cNvCxnSpPr/>
          <p:nvPr/>
        </p:nvCxnSpPr>
        <p:spPr>
          <a:xfrm>
            <a:off x="769924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62940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3</a:t>
            </a:r>
          </a:p>
        </p:txBody>
      </p:sp>
      <p:sp>
        <p:nvSpPr>
          <p:cNvPr id="69" name="Rounded Rectangle 68"/>
          <p:cNvSpPr/>
          <p:nvPr/>
        </p:nvSpPr>
        <p:spPr>
          <a:xfrm>
            <a:off x="909828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21140" y="5349240"/>
            <a:ext cx="1024127" cy="228600"/>
          </a:xfrm>
          <a:prstGeom prst="rect">
            <a:avLst/>
          </a:prstGeom>
          <a:noFill/>
        </p:spPr>
        <p:txBody>
          <a:bodyPr wrap="square" lIns="13716" rIns="13716" tIns="13716" bIns="13716">
            <a:spAutoFit/>
          </a:bodyPr>
          <a:lstStyle/>
          <a:p>
            <a:pPr algn="ctr">
              <a:spcBef>
                <a:spcPts val="0"/>
              </a:spcBef>
              <a:spcAft>
                <a:spcPts val="500"/>
              </a:spcAft>
              <a:defRPr sz="1150" b="1">
                <a:solidFill>
                  <a:srgbClr val="7354B8"/>
                </a:solidFill>
                <a:latin typeface="Arial"/>
              </a:defRPr>
            </a:pPr>
            <a:r>
              <a:t>“·deploy”</a:t>
            </a:r>
          </a:p>
        </p:txBody>
      </p:sp>
      <p:cxnSp>
        <p:nvCxnSpPr>
          <p:cNvPr id="71" name="Connector 70"/>
          <p:cNvCxnSpPr/>
          <p:nvPr/>
        </p:nvCxnSpPr>
        <p:spPr>
          <a:xfrm>
            <a:off x="893368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786384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4</a:t>
            </a:r>
          </a:p>
        </p:txBody>
      </p:sp>
      <p:sp>
        <p:nvSpPr>
          <p:cNvPr id="73" name="Rounded Rectangle 72"/>
          <p:cNvSpPr/>
          <p:nvPr/>
        </p:nvSpPr>
        <p:spPr>
          <a:xfrm>
            <a:off x="1033272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355580" y="5349240"/>
            <a:ext cx="1024127" cy="228600"/>
          </a:xfrm>
          <a:prstGeom prst="rect">
            <a:avLst/>
          </a:prstGeom>
          <a:noFill/>
        </p:spPr>
        <p:txBody>
          <a:bodyPr wrap="square" lIns="13716" rIns="13716" tIns="13716" bIns="13716">
            <a:spAutoFit/>
          </a:bodyPr>
          <a:lstStyle/>
          <a:p>
            <a:pPr algn="ctr">
              <a:spcBef>
                <a:spcPts val="0"/>
              </a:spcBef>
              <a:spcAft>
                <a:spcPts val="500"/>
              </a:spcAft>
              <a:defRPr sz="1150" b="1">
                <a:solidFill>
                  <a:srgbClr val="7354B8"/>
                </a:solidFill>
                <a:latin typeface="Arial"/>
              </a:defRPr>
            </a:pPr>
            <a:r>
              <a:t>“·and”</a:t>
            </a:r>
          </a:p>
        </p:txBody>
      </p:sp>
      <p:cxnSp>
        <p:nvCxnSpPr>
          <p:cNvPr id="75" name="Connector 74"/>
          <p:cNvCxnSpPr/>
          <p:nvPr/>
        </p:nvCxnSpPr>
        <p:spPr>
          <a:xfrm>
            <a:off x="1016812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09828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56</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prefill can stall an entire decode batch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13B LLM batch execution latency—not client TTFT. Panel scales differ.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can delay many token streams—not just the request carrying that prompt.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SHORTER PREFILL: 128 INPUT TOKENS</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LONGER PREFILL: 1,024 INPUT TOKENS</a:t>
            </a:r>
          </a:p>
        </p:txBody>
      </p:sp>
      <p:pic>
        <p:nvPicPr>
          <p:cNvPr id="12" name="Picture 11" descr="distserve-fig2-interference.png"/>
          <p:cNvPicPr>
            <a:picLocks noChangeAspect="1"/>
          </p:cNvPicPr>
          <p:nvPr/>
        </p:nvPicPr>
        <p:blipFill>
          <a:blip r:embed="rId2"/>
          <a:stretch>
            <a:fillRect/>
          </a:stretch>
        </p:blipFill>
        <p:spPr>
          <a:xfrm>
            <a:off x="1847088" y="2313432"/>
            <a:ext cx="8503920" cy="3342681"/>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2 • arxiv.org/abs/2401.09670v2 • CC BY-SA 4.0 • external study, not KAITO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RESOURCE SHAPE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two phases prefer different batching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phase-only throughput as batch size changes for a 13B LLM.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and decode need different tuning—not one shared batch, parallelism and replica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PREFILL: EARLIER THROUGHPUT PLATEAU</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DECODE: BATCHING AMORTIZES WORK</a:t>
            </a:r>
          </a:p>
        </p:txBody>
      </p:sp>
      <p:pic>
        <p:nvPicPr>
          <p:cNvPr id="12" name="Picture 11" descr="distserve-fig3-throughput.png"/>
          <p:cNvPicPr>
            <a:picLocks noChangeAspect="1"/>
          </p:cNvPicPr>
          <p:nvPr/>
        </p:nvPicPr>
        <p:blipFill>
          <a:blip r:embed="rId2"/>
          <a:stretch>
            <a:fillRect/>
          </a:stretch>
        </p:blipFill>
        <p:spPr>
          <a:xfrm>
            <a:off x="1847088" y="2313432"/>
            <a:ext cx="8503920" cy="3249156"/>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3 • arxiv.org/abs/2401.09670v2 • CC BY-SA 4.0 • external study, not KAITO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56</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56</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56</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56</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56</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56</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56</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56</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56</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56</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56</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56</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56</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56</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56</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54 / 56</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55 / 56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56 / 56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