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on the operating model, not a benchmark claim. Prefill computes the prompt state; decode consumes that state to generate tokens. This is a conceptual title diagram, not the full request path.</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agenda brief. Spend the time on the problem, the orchestration abstraction, and production tradeoffs. Preserve the advanced diagrams for a faster walkthrough or questions if needed.</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typical workload characteristics, not universal hardware laws. Prefill latency contributes to TTFT; decode performance is also governed by inter-token latency, active KV memory, and concurrency. No timing or token-size ratio is implied by the diagram.</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claim every aggregated deployment performs poorly. Continuous batching and chunked prefill can reduce interference. The point is that a shared resource and scaling boundary still constrains independent capacity shaping.</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Conceptual data direction is prefill to decode. The low-level transfer can be a decode-initiated pull. Network and transport support depend on the deployment. Separate pools allow different instance types, replica counts, and tensor-parallel settings.</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real value is independent capacity shaping. Long prompts alone do not prove P/D wins; combine workload measurements with transfer-fabric and operational constraints. A fast GPU-to-GPU path lowers the barrier; cross-node P/D requires closer attention to the transfer path.</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Avoid blanket promises. The break-even point is empirical and model-, traffic-, and fabric-dependent. Aggregated serving can be simpler and faster for the wrong P/D workload.</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an operational dependency map, not a request-flow diagram. Explain why assembling correct components by hand still leaves brittle contracts between them.</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capability progression, not a strict ownership chain. InferencePool is the Gateway API Inference Extension routing abstraction. KAITO manages the objects and wiring around the runtime.</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mental model persists: declare intent, observe status, and let controllers reconcile. InferencePool belongs to GWIE rather than being a KAITO-defined CRD. These objects have distinct jobs and should not be presented as interchangeable.</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Avoid calling KAITO the scheduler or vLLM the orchestrator. The EPP participates in the Gateway request-routing decision; the decode-side routing proxy orchestrates the P/D request lifecycle.</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ecosystem building blocks, not all resources owned by the same controller. KEDA ScaledObjects target the InferenceSet scale subresource; KEDA and HPA implement the scaling loop. Runtime and transport versions matter.</a:t>
            </a:r>
          </a:p>
          <a:p/>
          <a:p>
            <a:r>
              <a:t>Narrative source: kubecon-na-2026-pd-disaggregation.md</a:t>
            </a:r>
          </a:p>
          <a:p>
            <a:r>
              <a:t>References:</a:t>
            </a:r>
          </a:p>
          <a:p>
            <a:r>
              <a:t>https://kaito-project.github.io/kaito/docs/prefill-decode-disaggregation</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current MRI P/D documentation supports per-role replica, instance-type, preset, and vLLM settings. Do not imply this slide is a literal schema or that the proposed MRI scaling UX on slide 23 is already implemented.</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Conceptual topology, not a port-level deployment diagram. The Gateway consults the EPP, then sends the request to the selected decode pod routing sidecar. That sidecar calls prefill, forwards metadata to local decode, and streams the response back through the Gateway. The return line is a summarized path. KV data moves from prefill memory to decode; transport initiation may be a decode-side read. Gateway installation/lifecycle is separate from MRI.</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MRI creates child InferenceSets and a routing pool; InferenceSets reconcile Workspaces. The diagram deliberately distinguishes generated resource relationships from routing configuration. HTTPRoute requires a parent Gateway; it is not owned by the pool in a strict Kubernetes owner-reference sense.</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Conceptual sequence, not a timing chart. Gateway and EPP are combined into one lane for space; the EPP makes the endpoint decision. Prefill returns metadata to the decode proxy. The decode runtime then obtains the KV tensors and generates tokens. The NIXL path can be decode-initiated; arrow 5 shows payload direction only. The stream travels via the proxy and Gateway. No duration is implied.</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NIXL connector is configured at the serving runtime. Exact transport, ports, and handshake fields depend on runtime versions. Do not label one transfer protocol or port number as a universal invariant.</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hard-code example listener ports as a universal contract. The external serving Service must target the routing sidecar, while local forwarding reaches the decode runtime. Health probes must hit the correct process. The exact port mapping and command flags depend on installed KAITO, llm-d, and vLLM versions.</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value is reduced configuration drift, not the removal of all operational complexity. Operators still need observability, fabric validation, failure testing, and version-aware troubleshooting.</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role-aware metric recommendations, not a claim that one universal trigger is already built into MRI. Queue length is an existing documented InferenceSet example. Decode signals require the chosen runtime metric and Prometheus query to be validated.</a:t>
            </a:r>
          </a:p>
          <a:p/>
          <a:p>
            <a:r>
              <a:t>Narrative source: kubecon-na-2026-pd-disaggregation.md</a:t>
            </a:r>
          </a:p>
          <a:p>
            <a:r>
              <a:t>References:</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KEDA is installed separately. The KAITO documentation shows Cron and Prometheus triggers with a ScaledObject scaleTargetRef pointing to a kaito.sh InferenceSet. The controller reconciles the desired replicas into serving resources. The queue metric example is real; it does not establish native per-role MRI autoscaling policy.</a:t>
            </a:r>
          </a:p>
          <a:p/>
          <a:p>
            <a:r>
              <a:t>Narrative source: kubecon-na-2026-pd-disaggregation.md</a:t>
            </a:r>
          </a:p>
          <a:p>
            <a:r>
              <a:t>References:</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Conceptual two-loop model. One ScaledObject per target InferenceSet is the natural KEDA boundary. Do not install multiple conflicting HPAs for the same scale target. Metric choice, query aggregation, cache headroom, model warm-up, and draining semantics must be validated for the deployment.</a:t>
            </a:r>
          </a:p>
          <a:p/>
          <a:p>
            <a:r>
              <a:t>Narrative source: kubecon-na-2026-pd-disaggregation.md</a:t>
            </a:r>
          </a:p>
          <a:p>
            <a:r>
              <a:t>References:</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companion Markdown recommends a clean MRI API for per-role scaling. It explicitly distinguishes that direction from the current KEDA InferenceSet integration. Do not copy this diagram into a manifest as if it defined supported fields.</a:t>
            </a:r>
          </a:p>
          <a:p/>
          <a:p>
            <a:r>
              <a:t>Narrative source: kubecon-na-2026-pd-disaggregation.md</a:t>
            </a:r>
          </a:p>
          <a:p>
            <a:r>
              <a:t>References:</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an evaluation protocol, not a result. Match GPU budget or cost budget and state the comparison basis. Report latency percentiles and achieved throughput at matched load. Include transport and hardware topology, model and runtime versions, warm-up, run duration, and sampling method. No synthetic performance curves should be mistaken for measurements.</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Replaces the original [X]% / [Y]% placeholders. There is no numeric claim or implied performance curve. Collect TTFT percentiles under prompt-heavy traffic and report the request rate, concurrency, prompt/output distributions, model, hardware, and cost comparison. Include the effect of KV-transfer overhead.</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benchmark results are supplied. High utilization alone does not prove better efficiency. Record achieved output throughput and successful requests under agreed TTFT and inter-token-latency limits; report total GPU-hours or cost for both phases and associated infrastructure.</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decision aid, not experimental data. Prompt and output lengths interact with concurrency, model size, parallelism, and hardware. Validate both latency and cost. Even the strongest candidate cell is not a guaranteed P/D win.</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conceptual dependency diagram. Actual transport support is version- and hardware-dependent. Do not assert a specific RDMA or non-RDMA configuration without validating the deployment. Include fabric contention and failure cases in production testing.</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chain represents logical serving readiness, not a mandatory serial process startup order. Probe the correct process and listener. Test whether unready backends are excluded, how endpoints appear in the EPP, and how sidecars behave while the model warms up.</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Signal examples are recommendations. Validate exporter names, units, and label scoping. Choose thresholds and stabilization behavior from the workload. The source documentation provides a queue-based InferenceSet example; decode trigger selection remains deployment-specific.</a:t>
            </a:r>
          </a:p>
          <a:p/>
          <a:p>
            <a:r>
              <a:t>Narrative source: kubecon-na-2026-pd-disaggregation.md</a:t>
            </a:r>
          </a:p>
          <a:p>
            <a:r>
              <a:t>References:</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these gates to decide whether to keep, tune, or reject P/D. Do not infer a generic performance percentage. Operators still own resource placement, network policy, observability, failure recovery, and upgrades.</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Begin with a measurable aggregated baseline. Keep an operationally viable rollback path and compare like-for-like cost and SLO. Per-role autoscaling should follow validated signals; avoid changing topology, parallelism, transport, and autoscaling all at once.</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outline, not evidence of a demo run. Before presenting: verify installed CRD versions, Gateway, supported model/preset, fabric connectivity, and metric availability. Use docs appropriate to that version. Do not present the proposed MRI autoscaling UX as an available manifest.</a:t>
            </a:r>
          </a:p>
          <a:p/>
          <a:p>
            <a:r>
              <a:t>Narrative source: kubecon-na-2026-pd-disaggregation.md</a:t>
            </a:r>
          </a:p>
          <a:p>
            <a:r>
              <a:t>References:</a:t>
            </a:r>
          </a:p>
          <a:p>
            <a:r>
              <a:t>https://kaito-project.github.io/kaito/docs/prefill-decode-disaggregation</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talk recommendations derived from the source outline, not a published project delivery timeline. Keep the distinction between current capability and proposed user experience explicit.</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Restate the thesis without claiming unmeasured speedups. P/D is useful when the workload and infrastructure justify independent capacity shaping. KAITO aims to make that topology a normal Kubernetes operating model.</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workload, fabric, and operational constraints to guide questions. Both links are clickable in PowerPoint. Full URLs are retained here for export formats that do not preserve hyperlinks.</a:t>
            </a:r>
          </a:p>
          <a:p/>
          <a:p>
            <a:r>
              <a:t>Narrative source: kubecon-na-2026-pd-disaggregation.md</a:t>
            </a:r>
          </a:p>
          <a:p>
            <a:r>
              <a:t>References:</a:t>
            </a:r>
          </a:p>
          <a:p>
            <a:r>
              <a:t>https://kaito-project.github.io/kaito/docs/prefill-decode-disaggregation</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kaito-project.github.io/kaito/docs/prefill-decode-disaggregation" TargetMode="External"/><Relationship Id="rId3" Type="http://schemas.openxmlformats.org/officeDocument/2006/relationships/hyperlink" Target="https://kaito-project.github.io/kaito/docs/keda-autoscaler-inference" TargetMode="External"/><Relationship Id="rId4" Type="http://schemas.openxmlformats.org/officeDocument/2006/relationships/notesSlide" Target="../notesSlides/notesSlide3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2039"/>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AFC3DF"/>
                </a:solidFill>
                <a:latin typeface="Arial"/>
              </a:defRPr>
            </a:pPr>
            <a:r>
              <a:t>CLOUD NATIVE AI + INFERENCE DAY / 20-MINUTE TALK</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FFFFFF"/>
                </a:solidFill>
                <a:latin typeface="Arial"/>
              </a:defRPr>
            </a:pPr>
            <a:r>
              <a:t>Prefill Here, Decode There</a:t>
            </a:r>
          </a:p>
        </p:txBody>
      </p:sp>
      <p:cxnSp>
        <p:nvCxnSpPr>
          <p:cNvPr id="4" name="Connector 3"/>
          <p:cNvCxnSpPr/>
          <p:nvPr/>
        </p:nvCxnSpPr>
        <p:spPr>
          <a:xfrm>
            <a:off x="457200" y="6510528"/>
            <a:ext cx="11274552" cy="0"/>
          </a:xfrm>
          <a:prstGeom prst="line">
            <a:avLst/>
          </a:prstGeom>
          <a:ln w="8890">
            <a:solidFill>
              <a:srgbClr val="586A8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AFC3DF"/>
                </a:solidFill>
                <a:latin typeface="Arial"/>
              </a:defRPr>
            </a:pPr>
            <a:r>
              <a:t>KUBECON + CLOUDNATIVECON NORTH AMERICA 2026  /  KAITO + llm-d</a:t>
            </a:r>
          </a:p>
        </p:txBody>
      </p:sp>
      <p:sp>
        <p:nvSpPr>
          <p:cNvPr id="6" name="TextBox 5"/>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AFC3DF"/>
                </a:solidFill>
                <a:latin typeface="Arial"/>
              </a:defRPr>
            </a:pPr>
            <a:r>
              <a:t>01 / 36</a:t>
            </a:r>
          </a:p>
        </p:txBody>
      </p:sp>
      <p:sp>
        <p:nvSpPr>
          <p:cNvPr id="7" name="TextBox 6"/>
          <p:cNvSpPr txBox="1"/>
          <p:nvPr/>
        </p:nvSpPr>
        <p:spPr>
          <a:xfrm>
            <a:off x="475488" y="1554480"/>
            <a:ext cx="9966960" cy="914400"/>
          </a:xfrm>
          <a:prstGeom prst="rect">
            <a:avLst/>
          </a:prstGeom>
          <a:noFill/>
        </p:spPr>
        <p:txBody>
          <a:bodyPr wrap="square" lIns="13716" rIns="13716" tIns="13716" bIns="13716">
            <a:spAutoFit/>
          </a:bodyPr>
          <a:lstStyle/>
          <a:p>
            <a:pPr>
              <a:spcBef>
                <a:spcPts val="0"/>
              </a:spcBef>
              <a:spcAft>
                <a:spcPts val="500"/>
              </a:spcAft>
              <a:defRPr sz="2500" b="0">
                <a:solidFill>
                  <a:srgbClr val="FFFFFF"/>
                </a:solidFill>
                <a:latin typeface="Arial"/>
              </a:defRPr>
            </a:pPr>
            <a:r>
              <a:t>Kubernetes-native LLM inference disaggregation</a:t>
            </a:r>
          </a:p>
          <a:p>
            <a:pPr>
              <a:spcBef>
                <a:spcPts val="0"/>
              </a:spcBef>
              <a:spcAft>
                <a:spcPts val="500"/>
              </a:spcAft>
              <a:defRPr sz="2500" b="0">
                <a:solidFill>
                  <a:srgbClr val="FFFFFF"/>
                </a:solidFill>
                <a:latin typeface="Arial"/>
              </a:defRPr>
            </a:pPr>
            <a:r>
              <a:t>with KAITO and llm-d</a:t>
            </a:r>
          </a:p>
        </p:txBody>
      </p:sp>
      <p:sp>
        <p:nvSpPr>
          <p:cNvPr id="8" name="Rounded Rectangle 7"/>
          <p:cNvSpPr/>
          <p:nvPr/>
        </p:nvSpPr>
        <p:spPr>
          <a:xfrm>
            <a:off x="502920" y="2880360"/>
            <a:ext cx="2377440" cy="310896"/>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2912364"/>
            <a:ext cx="224942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2563EB"/>
                </a:solidFill>
                <a:latin typeface="Arial"/>
              </a:defRPr>
            </a:pPr>
            <a:r>
              <a:t>ONE DECLARATIVE SERVICE</a:t>
            </a:r>
          </a:p>
        </p:txBody>
      </p:sp>
      <p:sp>
        <p:nvSpPr>
          <p:cNvPr id="10" name="Rounded Rectangle 9"/>
          <p:cNvSpPr/>
          <p:nvPr/>
        </p:nvSpPr>
        <p:spPr>
          <a:xfrm>
            <a:off x="502920" y="3566160"/>
            <a:ext cx="2971800" cy="14173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657600"/>
            <a:ext cx="50292" cy="1234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685032"/>
            <a:ext cx="2697480" cy="393192"/>
          </a:xfrm>
          <a:prstGeom prst="rect">
            <a:avLst/>
          </a:prstGeom>
          <a:noFill/>
        </p:spPr>
        <p:txBody>
          <a:bodyPr wrap="square" lIns="13716" rIns="13716" tIns="13716" bIns="13716">
            <a:spAutoFit/>
          </a:bodyPr>
          <a:lstStyle/>
          <a:p>
            <a:pPr algn="ctr">
              <a:spcBef>
                <a:spcPts val="0"/>
              </a:spcBef>
              <a:spcAft>
                <a:spcPts val="500"/>
              </a:spcAft>
              <a:defRPr sz="2500" b="1">
                <a:solidFill>
                  <a:srgbClr val="2563EB"/>
                </a:solidFill>
                <a:latin typeface="Arial"/>
              </a:defRPr>
            </a:pPr>
            <a:r>
              <a:t>KAITO</a:t>
            </a:r>
          </a:p>
        </p:txBody>
      </p:sp>
      <p:sp>
        <p:nvSpPr>
          <p:cNvPr id="13" name="TextBox 12"/>
          <p:cNvSpPr txBox="1"/>
          <p:nvPr/>
        </p:nvSpPr>
        <p:spPr>
          <a:xfrm>
            <a:off x="649224" y="4123944"/>
            <a:ext cx="2679192" cy="76809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Declare the serving topology</a:t>
            </a:r>
          </a:p>
        </p:txBody>
      </p:sp>
      <p:sp>
        <p:nvSpPr>
          <p:cNvPr id="14" name="Rounded Rectangle 13"/>
          <p:cNvSpPr/>
          <p:nvPr/>
        </p:nvSpPr>
        <p:spPr>
          <a:xfrm>
            <a:off x="4572000" y="3566160"/>
            <a:ext cx="2743200" cy="14173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572000" y="3657600"/>
            <a:ext cx="50292" cy="12344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709160" y="3685032"/>
            <a:ext cx="2468880" cy="393192"/>
          </a:xfrm>
          <a:prstGeom prst="rect">
            <a:avLst/>
          </a:prstGeom>
          <a:noFill/>
        </p:spPr>
        <p:txBody>
          <a:bodyPr wrap="square" lIns="13716" rIns="13716" tIns="13716" bIns="13716">
            <a:spAutoFit/>
          </a:bodyPr>
          <a:lstStyle/>
          <a:p>
            <a:pPr algn="ctr">
              <a:spcBef>
                <a:spcPts val="0"/>
              </a:spcBef>
              <a:spcAft>
                <a:spcPts val="500"/>
              </a:spcAft>
              <a:defRPr sz="2500" b="1">
                <a:solidFill>
                  <a:srgbClr val="087F8C"/>
                </a:solidFill>
                <a:latin typeface="Arial"/>
              </a:defRPr>
            </a:pPr>
            <a:r>
              <a:t>Prefill</a:t>
            </a:r>
          </a:p>
        </p:txBody>
      </p:sp>
      <p:sp>
        <p:nvSpPr>
          <p:cNvPr id="17" name="TextBox 16"/>
          <p:cNvSpPr txBox="1"/>
          <p:nvPr/>
        </p:nvSpPr>
        <p:spPr>
          <a:xfrm>
            <a:off x="4718304" y="4123944"/>
            <a:ext cx="2450592" cy="76809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Prompt → KV cache</a:t>
            </a:r>
          </a:p>
        </p:txBody>
      </p:sp>
      <p:sp>
        <p:nvSpPr>
          <p:cNvPr id="18" name="Rounded Rectangle 17"/>
          <p:cNvSpPr/>
          <p:nvPr/>
        </p:nvSpPr>
        <p:spPr>
          <a:xfrm>
            <a:off x="8458200" y="3566160"/>
            <a:ext cx="3200400" cy="14173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458200" y="3657600"/>
            <a:ext cx="50292" cy="123444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0" y="3685032"/>
            <a:ext cx="2926080" cy="393192"/>
          </a:xfrm>
          <a:prstGeom prst="rect">
            <a:avLst/>
          </a:prstGeom>
          <a:noFill/>
        </p:spPr>
        <p:txBody>
          <a:bodyPr wrap="square" lIns="13716" rIns="13716" tIns="13716" bIns="13716">
            <a:spAutoFit/>
          </a:bodyPr>
          <a:lstStyle/>
          <a:p>
            <a:pPr algn="ctr">
              <a:spcBef>
                <a:spcPts val="0"/>
              </a:spcBef>
              <a:spcAft>
                <a:spcPts val="500"/>
              </a:spcAft>
              <a:defRPr sz="2500" b="1">
                <a:solidFill>
                  <a:srgbClr val="7354B8"/>
                </a:solidFill>
                <a:latin typeface="Arial"/>
              </a:defRPr>
            </a:pPr>
            <a:r>
              <a:t>Decode</a:t>
            </a:r>
          </a:p>
        </p:txBody>
      </p:sp>
      <p:sp>
        <p:nvSpPr>
          <p:cNvPr id="21" name="TextBox 20"/>
          <p:cNvSpPr txBox="1"/>
          <p:nvPr/>
        </p:nvSpPr>
        <p:spPr>
          <a:xfrm>
            <a:off x="8604504" y="4123944"/>
            <a:ext cx="2907792" cy="76809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KV cache → token stream</a:t>
            </a:r>
          </a:p>
        </p:txBody>
      </p:sp>
      <p:cxnSp>
        <p:nvCxnSpPr>
          <p:cNvPr id="22" name="Connector 21"/>
          <p:cNvCxnSpPr/>
          <p:nvPr/>
        </p:nvCxnSpPr>
        <p:spPr>
          <a:xfrm>
            <a:off x="3474720" y="4251960"/>
            <a:ext cx="1097280" cy="0"/>
          </a:xfrm>
          <a:prstGeom prst="line">
            <a:avLst/>
          </a:prstGeom>
          <a:ln w="25400">
            <a:solidFill>
              <a:srgbClr val="AFC3D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315200" y="4251960"/>
            <a:ext cx="1143000"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7406640" y="3758184"/>
            <a:ext cx="960120" cy="338328"/>
          </a:xfrm>
          <a:prstGeom prst="rect">
            <a:avLst/>
          </a:prstGeom>
          <a:noFill/>
        </p:spPr>
        <p:txBody>
          <a:bodyPr wrap="square" lIns="13716" rIns="13716" tIns="13716" bIns="13716">
            <a:spAutoFit/>
          </a:bodyPr>
          <a:lstStyle/>
          <a:p>
            <a:pPr algn="ctr">
              <a:spcBef>
                <a:spcPts val="0"/>
              </a:spcBef>
              <a:spcAft>
                <a:spcPts val="500"/>
              </a:spcAft>
              <a:defRPr sz="1200" b="0">
                <a:solidFill>
                  <a:srgbClr val="AFC3DF"/>
                </a:solidFill>
                <a:latin typeface="Arial"/>
              </a:defRPr>
            </a:pPr>
            <a:r>
              <a:t>KV data</a:t>
            </a:r>
          </a:p>
        </p:txBody>
      </p:sp>
      <p:sp>
        <p:nvSpPr>
          <p:cNvPr id="25" name="TextBox 24"/>
          <p:cNvSpPr txBox="1"/>
          <p:nvPr/>
        </p:nvSpPr>
        <p:spPr>
          <a:xfrm>
            <a:off x="502920" y="5641848"/>
            <a:ext cx="10789920" cy="457200"/>
          </a:xfrm>
          <a:prstGeom prst="rect">
            <a:avLst/>
          </a:prstGeom>
          <a:noFill/>
        </p:spPr>
        <p:txBody>
          <a:bodyPr wrap="square" lIns="13716" rIns="13716" tIns="13716" bIns="13716">
            <a:spAutoFit/>
          </a:bodyPr>
          <a:lstStyle/>
          <a:p>
            <a:pPr>
              <a:spcBef>
                <a:spcPts val="0"/>
              </a:spcBef>
              <a:spcAft>
                <a:spcPts val="500"/>
              </a:spcAft>
              <a:defRPr sz="2100" b="0">
                <a:solidFill>
                  <a:srgbClr val="AFC3DF"/>
                </a:solidFill>
                <a:latin typeface="Arial"/>
              </a:defRPr>
            </a:pPr>
            <a:r>
              <a:t>Separate the phases. Keep a Kubernetes-native operating model.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AGENDA</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The route from idea to production</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Four questions connect the architecture to the operating tradeoffs.</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02 / 36</a:t>
            </a:r>
          </a:p>
        </p:txBody>
      </p:sp>
      <p:sp>
        <p:nvSpPr>
          <p:cNvPr id="8" name="Rounded Rectangle 7"/>
          <p:cNvSpPr/>
          <p:nvPr/>
        </p:nvSpPr>
        <p:spPr>
          <a:xfrm>
            <a:off x="457200" y="2267712"/>
            <a:ext cx="2706624" cy="26974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1792" y="2450592"/>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606040"/>
            <a:ext cx="2340864" cy="256032"/>
          </a:xfrm>
          <a:prstGeom prst="rect">
            <a:avLst/>
          </a:prstGeom>
          <a:noFill/>
        </p:spPr>
        <p:txBody>
          <a:bodyPr wrap="square" lIns="13716" rIns="13716" tIns="13716" bIns="13716">
            <a:spAutoFit/>
          </a:bodyPr>
          <a:lstStyle/>
          <a:p>
            <a:pPr>
              <a:spcBef>
                <a:spcPts val="0"/>
              </a:spcBef>
              <a:spcAft>
                <a:spcPts val="500"/>
              </a:spcAft>
              <a:defRPr sz="1100" b="1">
                <a:solidFill>
                  <a:srgbClr val="087F8C"/>
                </a:solidFill>
                <a:latin typeface="Arial"/>
              </a:defRPr>
            </a:pPr>
            <a:r>
              <a:t>01</a:t>
            </a:r>
          </a:p>
        </p:txBody>
      </p:sp>
      <p:sp>
        <p:nvSpPr>
          <p:cNvPr id="11" name="TextBox 10"/>
          <p:cNvSpPr txBox="1"/>
          <p:nvPr/>
        </p:nvSpPr>
        <p:spPr>
          <a:xfrm>
            <a:off x="640080" y="2980944"/>
            <a:ext cx="2340864"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Why split?</a:t>
            </a:r>
          </a:p>
        </p:txBody>
      </p:sp>
      <p:sp>
        <p:nvSpPr>
          <p:cNvPr id="12" name="TextBox 11"/>
          <p:cNvSpPr txBox="1"/>
          <p:nvPr/>
        </p:nvSpPr>
        <p:spPr>
          <a:xfrm>
            <a:off x="640080" y="3584448"/>
            <a:ext cx="2340864" cy="1234440"/>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Two phases</a:t>
            </a:r>
          </a:p>
          <a:p>
            <a:pPr>
              <a:spcBef>
                <a:spcPts val="0"/>
              </a:spcBef>
              <a:spcAft>
                <a:spcPts val="500"/>
              </a:spcAft>
              <a:defRPr sz="1800" b="0">
                <a:solidFill>
                  <a:srgbClr val="172941"/>
                </a:solidFill>
                <a:latin typeface="Arial"/>
              </a:defRPr>
            </a:pPr>
            <a:r>
              <a:t>Two bottlenecks</a:t>
            </a:r>
          </a:p>
        </p:txBody>
      </p:sp>
      <p:cxnSp>
        <p:nvCxnSpPr>
          <p:cNvPr id="13" name="Connector 12"/>
          <p:cNvCxnSpPr/>
          <p:nvPr/>
        </p:nvCxnSpPr>
        <p:spPr>
          <a:xfrm>
            <a:off x="3163824" y="3593592"/>
            <a:ext cx="146304" cy="0"/>
          </a:xfrm>
          <a:prstGeom prst="line">
            <a:avLst/>
          </a:prstGeom>
          <a:ln w="1778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3310128" y="2267712"/>
            <a:ext cx="2706624" cy="26974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74720" y="2450592"/>
            <a:ext cx="347472" cy="59436"/>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493008" y="2606040"/>
            <a:ext cx="2340864" cy="256032"/>
          </a:xfrm>
          <a:prstGeom prst="rect">
            <a:avLst/>
          </a:prstGeom>
          <a:noFill/>
        </p:spPr>
        <p:txBody>
          <a:bodyPr wrap="square" lIns="13716" rIns="13716" tIns="13716" bIns="13716">
            <a:spAutoFit/>
          </a:bodyPr>
          <a:lstStyle/>
          <a:p>
            <a:pPr>
              <a:spcBef>
                <a:spcPts val="0"/>
              </a:spcBef>
              <a:spcAft>
                <a:spcPts val="500"/>
              </a:spcAft>
              <a:defRPr sz="1100" b="1">
                <a:solidFill>
                  <a:srgbClr val="AE641A"/>
                </a:solidFill>
                <a:latin typeface="Arial"/>
              </a:defRPr>
            </a:pPr>
            <a:r>
              <a:t>02</a:t>
            </a:r>
          </a:p>
        </p:txBody>
      </p:sp>
      <p:sp>
        <p:nvSpPr>
          <p:cNvPr id="17" name="TextBox 16"/>
          <p:cNvSpPr txBox="1"/>
          <p:nvPr/>
        </p:nvSpPr>
        <p:spPr>
          <a:xfrm>
            <a:off x="3493008" y="2980944"/>
            <a:ext cx="2340864" cy="420624"/>
          </a:xfrm>
          <a:prstGeom prst="rect">
            <a:avLst/>
          </a:prstGeom>
          <a:noFill/>
        </p:spPr>
        <p:txBody>
          <a:bodyPr wrap="square" lIns="13716" rIns="13716" tIns="13716" bIns="13716">
            <a:spAutoFit/>
          </a:bodyPr>
          <a:lstStyle/>
          <a:p>
            <a:pPr>
              <a:spcBef>
                <a:spcPts val="0"/>
              </a:spcBef>
              <a:spcAft>
                <a:spcPts val="500"/>
              </a:spcAft>
              <a:defRPr sz="2000" b="1">
                <a:solidFill>
                  <a:srgbClr val="AE641A"/>
                </a:solidFill>
                <a:latin typeface="Arial"/>
              </a:defRPr>
            </a:pPr>
            <a:r>
              <a:t>Why hard?</a:t>
            </a:r>
          </a:p>
        </p:txBody>
      </p:sp>
      <p:sp>
        <p:nvSpPr>
          <p:cNvPr id="18" name="TextBox 17"/>
          <p:cNvSpPr txBox="1"/>
          <p:nvPr/>
        </p:nvSpPr>
        <p:spPr>
          <a:xfrm>
            <a:off x="3493008" y="3584448"/>
            <a:ext cx="2340864" cy="1234440"/>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Routing, KV transfer</a:t>
            </a:r>
          </a:p>
          <a:p>
            <a:pPr>
              <a:spcBef>
                <a:spcPts val="0"/>
              </a:spcBef>
              <a:spcAft>
                <a:spcPts val="500"/>
              </a:spcAft>
              <a:defRPr sz="1800" b="0">
                <a:solidFill>
                  <a:srgbClr val="172941"/>
                </a:solidFill>
                <a:latin typeface="Arial"/>
              </a:defRPr>
            </a:pPr>
            <a:r>
              <a:t>Kubernetes contracts</a:t>
            </a:r>
          </a:p>
        </p:txBody>
      </p:sp>
      <p:cxnSp>
        <p:nvCxnSpPr>
          <p:cNvPr id="19" name="Connector 18"/>
          <p:cNvCxnSpPr/>
          <p:nvPr/>
        </p:nvCxnSpPr>
        <p:spPr>
          <a:xfrm>
            <a:off x="6016752" y="3593592"/>
            <a:ext cx="146304" cy="0"/>
          </a:xfrm>
          <a:prstGeom prst="line">
            <a:avLst/>
          </a:prstGeom>
          <a:ln w="17780">
            <a:solidFill>
              <a:srgbClr val="AE64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163056" y="2267712"/>
            <a:ext cx="2706624" cy="26974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27648" y="2450592"/>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2606040"/>
            <a:ext cx="2340864" cy="256032"/>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03</a:t>
            </a:r>
          </a:p>
        </p:txBody>
      </p:sp>
      <p:sp>
        <p:nvSpPr>
          <p:cNvPr id="23" name="TextBox 22"/>
          <p:cNvSpPr txBox="1"/>
          <p:nvPr/>
        </p:nvSpPr>
        <p:spPr>
          <a:xfrm>
            <a:off x="6345936" y="2980944"/>
            <a:ext cx="2340864"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The solution</a:t>
            </a:r>
          </a:p>
        </p:txBody>
      </p:sp>
      <p:sp>
        <p:nvSpPr>
          <p:cNvPr id="24" name="TextBox 23"/>
          <p:cNvSpPr txBox="1"/>
          <p:nvPr/>
        </p:nvSpPr>
        <p:spPr>
          <a:xfrm>
            <a:off x="6345936" y="3584448"/>
            <a:ext cx="2340864" cy="1234440"/>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KAITO + llm-d</a:t>
            </a:r>
          </a:p>
          <a:p>
            <a:pPr>
              <a:spcBef>
                <a:spcPts val="0"/>
              </a:spcBef>
              <a:spcAft>
                <a:spcPts val="500"/>
              </a:spcAft>
              <a:defRPr sz="1800" b="0">
                <a:solidFill>
                  <a:srgbClr val="172941"/>
                </a:solidFill>
                <a:latin typeface="Arial"/>
              </a:defRPr>
            </a:pPr>
            <a:r>
              <a:t>One declared topology</a:t>
            </a:r>
          </a:p>
        </p:txBody>
      </p:sp>
      <p:cxnSp>
        <p:nvCxnSpPr>
          <p:cNvPr id="25" name="Connector 24"/>
          <p:cNvCxnSpPr/>
          <p:nvPr/>
        </p:nvCxnSpPr>
        <p:spPr>
          <a:xfrm>
            <a:off x="8869680" y="3593592"/>
            <a:ext cx="146304" cy="0"/>
          </a:xfrm>
          <a:prstGeom prst="line">
            <a:avLst/>
          </a:prstGeom>
          <a:ln w="1778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9015984" y="2267712"/>
            <a:ext cx="2706624" cy="26974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180576" y="2450592"/>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98863" y="2606040"/>
            <a:ext cx="2340864" cy="256032"/>
          </a:xfrm>
          <a:prstGeom prst="rect">
            <a:avLst/>
          </a:prstGeom>
          <a:noFill/>
        </p:spPr>
        <p:txBody>
          <a:bodyPr wrap="square" lIns="13716" rIns="13716" tIns="13716" bIns="13716">
            <a:spAutoFit/>
          </a:bodyPr>
          <a:lstStyle/>
          <a:p>
            <a:pPr>
              <a:spcBef>
                <a:spcPts val="0"/>
              </a:spcBef>
              <a:spcAft>
                <a:spcPts val="500"/>
              </a:spcAft>
              <a:defRPr sz="1100" b="1">
                <a:solidFill>
                  <a:srgbClr val="7354B8"/>
                </a:solidFill>
                <a:latin typeface="Arial"/>
              </a:defRPr>
            </a:pPr>
            <a:r>
              <a:t>04</a:t>
            </a:r>
          </a:p>
        </p:txBody>
      </p:sp>
      <p:sp>
        <p:nvSpPr>
          <p:cNvPr id="29" name="TextBox 28"/>
          <p:cNvSpPr txBox="1"/>
          <p:nvPr/>
        </p:nvSpPr>
        <p:spPr>
          <a:xfrm>
            <a:off x="9198863" y="2980944"/>
            <a:ext cx="2340864"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When to split?</a:t>
            </a:r>
          </a:p>
        </p:txBody>
      </p:sp>
      <p:sp>
        <p:nvSpPr>
          <p:cNvPr id="30" name="TextBox 29"/>
          <p:cNvSpPr txBox="1"/>
          <p:nvPr/>
        </p:nvSpPr>
        <p:spPr>
          <a:xfrm>
            <a:off x="9198863" y="3584448"/>
            <a:ext cx="2340864" cy="1234440"/>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Role-aware scaling</a:t>
            </a:r>
          </a:p>
          <a:p>
            <a:pPr>
              <a:spcBef>
                <a:spcPts val="0"/>
              </a:spcBef>
              <a:spcAft>
                <a:spcPts val="500"/>
              </a:spcAft>
              <a:defRPr sz="1800" b="0">
                <a:solidFill>
                  <a:srgbClr val="172941"/>
                </a:solidFill>
                <a:latin typeface="Arial"/>
              </a:defRPr>
            </a:pPr>
            <a:r>
              <a:t>Measured tradeoffs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01 / THE PROBLEM</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One request. Two different GPU workloads.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Prefill processes the input; decode repeatedly generates the next token.</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P/D is about matching capacity to two very different phases.</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03 / 36</a:t>
            </a:r>
          </a:p>
        </p:txBody>
      </p:sp>
      <p:sp>
        <p:nvSpPr>
          <p:cNvPr id="10" name="Rounded Rectangle 9"/>
          <p:cNvSpPr/>
          <p:nvPr/>
        </p:nvSpPr>
        <p:spPr>
          <a:xfrm>
            <a:off x="502920" y="2240280"/>
            <a:ext cx="1828800" cy="98755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2331720"/>
            <a:ext cx="50292" cy="80467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359152"/>
            <a:ext cx="1554480" cy="393192"/>
          </a:xfrm>
          <a:prstGeom prst="rect">
            <a:avLst/>
          </a:prstGeom>
          <a:noFill/>
        </p:spPr>
        <p:txBody>
          <a:bodyPr wrap="square" lIns="13716" rIns="13716" tIns="13716" bIns="13716">
            <a:spAutoFit/>
          </a:bodyPr>
          <a:lstStyle/>
          <a:p>
            <a:pPr algn="ctr">
              <a:spcBef>
                <a:spcPts val="0"/>
              </a:spcBef>
              <a:spcAft>
                <a:spcPts val="500"/>
              </a:spcAft>
              <a:defRPr sz="1900" b="1">
                <a:solidFill>
                  <a:srgbClr val="2563EB"/>
                </a:solidFill>
                <a:latin typeface="Arial"/>
              </a:defRPr>
            </a:pPr>
            <a:r>
              <a:t>Prompt</a:t>
            </a:r>
          </a:p>
        </p:txBody>
      </p:sp>
      <p:sp>
        <p:nvSpPr>
          <p:cNvPr id="13" name="TextBox 12"/>
          <p:cNvSpPr txBox="1"/>
          <p:nvPr/>
        </p:nvSpPr>
        <p:spPr>
          <a:xfrm>
            <a:off x="649224" y="2798064"/>
            <a:ext cx="1536192" cy="33832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Input tokens</a:t>
            </a:r>
          </a:p>
        </p:txBody>
      </p:sp>
      <p:sp>
        <p:nvSpPr>
          <p:cNvPr id="14" name="Rounded Rectangle 13"/>
          <p:cNvSpPr/>
          <p:nvPr/>
        </p:nvSpPr>
        <p:spPr>
          <a:xfrm>
            <a:off x="2743200" y="2240280"/>
            <a:ext cx="2743200" cy="98755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743200" y="2331720"/>
            <a:ext cx="50292" cy="80467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880360" y="2359152"/>
            <a:ext cx="2468880" cy="393192"/>
          </a:xfrm>
          <a:prstGeom prst="rect">
            <a:avLst/>
          </a:prstGeom>
          <a:noFill/>
        </p:spPr>
        <p:txBody>
          <a:bodyPr wrap="square" lIns="13716" rIns="13716" tIns="13716" bIns="13716">
            <a:spAutoFit/>
          </a:bodyPr>
          <a:lstStyle/>
          <a:p>
            <a:pPr algn="ctr">
              <a:spcBef>
                <a:spcPts val="0"/>
              </a:spcBef>
              <a:spcAft>
                <a:spcPts val="500"/>
              </a:spcAft>
              <a:defRPr sz="1900" b="1">
                <a:solidFill>
                  <a:srgbClr val="087F8C"/>
                </a:solidFill>
                <a:latin typeface="Arial"/>
              </a:defRPr>
            </a:pPr>
            <a:r>
              <a:t>PREFILL</a:t>
            </a:r>
          </a:p>
        </p:txBody>
      </p:sp>
      <p:sp>
        <p:nvSpPr>
          <p:cNvPr id="17" name="TextBox 16"/>
          <p:cNvSpPr txBox="1"/>
          <p:nvPr/>
        </p:nvSpPr>
        <p:spPr>
          <a:xfrm>
            <a:off x="2889504" y="2798064"/>
            <a:ext cx="2450592" cy="33832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Process the prompt once</a:t>
            </a:r>
          </a:p>
        </p:txBody>
      </p:sp>
      <p:sp>
        <p:nvSpPr>
          <p:cNvPr id="18" name="Rounded Rectangle 17"/>
          <p:cNvSpPr/>
          <p:nvPr/>
        </p:nvSpPr>
        <p:spPr>
          <a:xfrm>
            <a:off x="5943600" y="2240280"/>
            <a:ext cx="1828800" cy="98755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943600" y="2331720"/>
            <a:ext cx="50292" cy="804672"/>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080760" y="2359152"/>
            <a:ext cx="1554480" cy="393192"/>
          </a:xfrm>
          <a:prstGeom prst="rect">
            <a:avLst/>
          </a:prstGeom>
          <a:noFill/>
        </p:spPr>
        <p:txBody>
          <a:bodyPr wrap="square" lIns="13716" rIns="13716" tIns="13716" bIns="13716">
            <a:spAutoFit/>
          </a:bodyPr>
          <a:lstStyle/>
          <a:p>
            <a:pPr algn="ctr">
              <a:spcBef>
                <a:spcPts val="0"/>
              </a:spcBef>
              <a:spcAft>
                <a:spcPts val="500"/>
              </a:spcAft>
              <a:defRPr sz="1900" b="1">
                <a:solidFill>
                  <a:srgbClr val="AE641A"/>
                </a:solidFill>
                <a:latin typeface="Arial"/>
              </a:defRPr>
            </a:pPr>
            <a:r>
              <a:t>KV cache</a:t>
            </a:r>
          </a:p>
        </p:txBody>
      </p:sp>
      <p:sp>
        <p:nvSpPr>
          <p:cNvPr id="21" name="TextBox 20"/>
          <p:cNvSpPr txBox="1"/>
          <p:nvPr/>
        </p:nvSpPr>
        <p:spPr>
          <a:xfrm>
            <a:off x="6089904" y="2798064"/>
            <a:ext cx="1536192" cy="33832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Attention state</a:t>
            </a:r>
          </a:p>
        </p:txBody>
      </p:sp>
      <p:sp>
        <p:nvSpPr>
          <p:cNvPr id="22" name="Rounded Rectangle 21"/>
          <p:cNvSpPr/>
          <p:nvPr/>
        </p:nvSpPr>
        <p:spPr>
          <a:xfrm>
            <a:off x="8229600" y="2240280"/>
            <a:ext cx="3429000" cy="98755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229600" y="2331720"/>
            <a:ext cx="50292" cy="80467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66760" y="2359152"/>
            <a:ext cx="3154680" cy="393192"/>
          </a:xfrm>
          <a:prstGeom prst="rect">
            <a:avLst/>
          </a:prstGeom>
          <a:noFill/>
        </p:spPr>
        <p:txBody>
          <a:bodyPr wrap="square" lIns="13716" rIns="13716" tIns="13716" bIns="13716">
            <a:spAutoFit/>
          </a:bodyPr>
          <a:lstStyle/>
          <a:p>
            <a:pPr algn="ctr">
              <a:spcBef>
                <a:spcPts val="0"/>
              </a:spcBef>
              <a:spcAft>
                <a:spcPts val="500"/>
              </a:spcAft>
              <a:defRPr sz="1900" b="1">
                <a:solidFill>
                  <a:srgbClr val="7354B8"/>
                </a:solidFill>
                <a:latin typeface="Arial"/>
              </a:defRPr>
            </a:pPr>
            <a:r>
              <a:t>DECODE</a:t>
            </a:r>
          </a:p>
        </p:txBody>
      </p:sp>
      <p:sp>
        <p:nvSpPr>
          <p:cNvPr id="25" name="TextBox 24"/>
          <p:cNvSpPr txBox="1"/>
          <p:nvPr/>
        </p:nvSpPr>
        <p:spPr>
          <a:xfrm>
            <a:off x="8375904" y="2798064"/>
            <a:ext cx="3136392" cy="33832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Generate tokens iteratively</a:t>
            </a:r>
          </a:p>
        </p:txBody>
      </p:sp>
      <p:cxnSp>
        <p:nvCxnSpPr>
          <p:cNvPr id="26" name="Connector 25"/>
          <p:cNvCxnSpPr/>
          <p:nvPr/>
        </p:nvCxnSpPr>
        <p:spPr>
          <a:xfrm>
            <a:off x="2331720" y="2734056"/>
            <a:ext cx="411480" cy="0"/>
          </a:xfrm>
          <a:prstGeom prst="line">
            <a:avLst/>
          </a:prstGeom>
          <a:ln w="25400">
            <a:solidFill>
              <a:srgbClr val="586A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5486400" y="2734056"/>
            <a:ext cx="457200"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7772400" y="2734056"/>
            <a:ext cx="457200"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502920" y="3685032"/>
            <a:ext cx="5440680" cy="174650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67512" y="3867912"/>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5800" y="4050792"/>
            <a:ext cx="5074920"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Prefill: compute-bound</a:t>
            </a:r>
          </a:p>
        </p:txBody>
      </p:sp>
      <p:sp>
        <p:nvSpPr>
          <p:cNvPr id="32" name="TextBox 31"/>
          <p:cNvSpPr txBox="1"/>
          <p:nvPr/>
        </p:nvSpPr>
        <p:spPr>
          <a:xfrm>
            <a:off x="685800" y="4654296"/>
            <a:ext cx="5074920" cy="630935"/>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Prompt pressure • time to first token</a:t>
            </a:r>
          </a:p>
        </p:txBody>
      </p:sp>
      <p:sp>
        <p:nvSpPr>
          <p:cNvPr id="33" name="Rounded Rectangle 32"/>
          <p:cNvSpPr/>
          <p:nvPr/>
        </p:nvSpPr>
        <p:spPr>
          <a:xfrm>
            <a:off x="6199632" y="3685032"/>
            <a:ext cx="5440680" cy="174650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364224" y="3867912"/>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82512" y="4050792"/>
            <a:ext cx="5074920"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Decode: bandwidth-bound</a:t>
            </a:r>
          </a:p>
        </p:txBody>
      </p:sp>
      <p:sp>
        <p:nvSpPr>
          <p:cNvPr id="36" name="TextBox 35"/>
          <p:cNvSpPr txBox="1"/>
          <p:nvPr/>
        </p:nvSpPr>
        <p:spPr>
          <a:xfrm>
            <a:off x="6382512" y="4654296"/>
            <a:ext cx="5074920" cy="630935"/>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Active KV memory • steady token delivery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01 / THE PROBLEM</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One shared pool couples two capacity decisions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Aggregated serving is simple—but prefill bursts and active decoding share resources.</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The compromise is not only performance. It is how you size and scale the service.</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04 / 36</a:t>
            </a:r>
          </a:p>
        </p:txBody>
      </p:sp>
      <p:sp>
        <p:nvSpPr>
          <p:cNvPr id="10" name="Rounded Rectangle 9"/>
          <p:cNvSpPr/>
          <p:nvPr/>
        </p:nvSpPr>
        <p:spPr>
          <a:xfrm>
            <a:off x="502920" y="2103120"/>
            <a:ext cx="6537960" cy="3429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340864"/>
            <a:ext cx="6035040" cy="411480"/>
          </a:xfrm>
          <a:prstGeom prst="rect">
            <a:avLst/>
          </a:prstGeom>
          <a:noFill/>
        </p:spPr>
        <p:txBody>
          <a:bodyPr wrap="square" lIns="13716" rIns="13716" tIns="13716" bIns="13716">
            <a:spAutoFit/>
          </a:bodyPr>
          <a:lstStyle/>
          <a:p>
            <a:pPr>
              <a:spcBef>
                <a:spcPts val="0"/>
              </a:spcBef>
              <a:spcAft>
                <a:spcPts val="500"/>
              </a:spcAft>
              <a:defRPr sz="1700" b="1">
                <a:solidFill>
                  <a:srgbClr val="2563EB"/>
                </a:solidFill>
                <a:latin typeface="Arial"/>
              </a:defRPr>
            </a:pPr>
            <a:r>
              <a:t>SHARED GPU POOL</a:t>
            </a:r>
          </a:p>
        </p:txBody>
      </p:sp>
      <p:sp>
        <p:nvSpPr>
          <p:cNvPr id="12" name="Rounded Rectangle 11"/>
          <p:cNvSpPr/>
          <p:nvPr/>
        </p:nvSpPr>
        <p:spPr>
          <a:xfrm>
            <a:off x="786384" y="3054096"/>
            <a:ext cx="1810512" cy="146304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96112" y="3255264"/>
            <a:ext cx="1581912" cy="310896"/>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3287268"/>
            <a:ext cx="1453895" cy="237744"/>
          </a:xfrm>
          <a:prstGeom prst="rect">
            <a:avLst/>
          </a:prstGeom>
          <a:noFill/>
        </p:spPr>
        <p:txBody>
          <a:bodyPr wrap="square" lIns="13716" rIns="13716" tIns="13716" bIns="13716">
            <a:spAutoFit/>
          </a:bodyPr>
          <a:lstStyle/>
          <a:p>
            <a:pPr algn="ctr">
              <a:spcBef>
                <a:spcPts val="0"/>
              </a:spcBef>
              <a:spcAft>
                <a:spcPts val="500"/>
              </a:spcAft>
              <a:defRPr sz="1000" b="1">
                <a:solidFill>
                  <a:srgbClr val="087F8C"/>
                </a:solidFill>
                <a:latin typeface="Arial"/>
              </a:defRPr>
            </a:pPr>
            <a:r>
              <a:t>PREFILL</a:t>
            </a:r>
          </a:p>
        </p:txBody>
      </p:sp>
      <p:sp>
        <p:nvSpPr>
          <p:cNvPr id="15" name="Rounded Rectangle 14"/>
          <p:cNvSpPr/>
          <p:nvPr/>
        </p:nvSpPr>
        <p:spPr>
          <a:xfrm>
            <a:off x="896112" y="3785615"/>
            <a:ext cx="1581912" cy="31089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0120" y="3817620"/>
            <a:ext cx="1453895" cy="237744"/>
          </a:xfrm>
          <a:prstGeom prst="rect">
            <a:avLst/>
          </a:prstGeom>
          <a:noFill/>
        </p:spPr>
        <p:txBody>
          <a:bodyPr wrap="square" lIns="13716" rIns="13716" tIns="13716" bIns="13716">
            <a:spAutoFit/>
          </a:bodyPr>
          <a:lstStyle/>
          <a:p>
            <a:pPr algn="ctr">
              <a:spcBef>
                <a:spcPts val="0"/>
              </a:spcBef>
              <a:spcAft>
                <a:spcPts val="500"/>
              </a:spcAft>
              <a:defRPr sz="1000" b="1">
                <a:solidFill>
                  <a:srgbClr val="7354B8"/>
                </a:solidFill>
                <a:latin typeface="Arial"/>
              </a:defRPr>
            </a:pPr>
            <a:r>
              <a:t>DECODE</a:t>
            </a:r>
          </a:p>
        </p:txBody>
      </p:sp>
      <p:sp>
        <p:nvSpPr>
          <p:cNvPr id="17" name="Rounded Rectangle 16"/>
          <p:cNvSpPr/>
          <p:nvPr/>
        </p:nvSpPr>
        <p:spPr>
          <a:xfrm>
            <a:off x="2798064" y="3054096"/>
            <a:ext cx="1810512" cy="146304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2907792" y="3255264"/>
            <a:ext cx="1581912" cy="310896"/>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971800" y="3287268"/>
            <a:ext cx="1453895" cy="237744"/>
          </a:xfrm>
          <a:prstGeom prst="rect">
            <a:avLst/>
          </a:prstGeom>
          <a:noFill/>
        </p:spPr>
        <p:txBody>
          <a:bodyPr wrap="square" lIns="13716" rIns="13716" tIns="13716" bIns="13716">
            <a:spAutoFit/>
          </a:bodyPr>
          <a:lstStyle/>
          <a:p>
            <a:pPr algn="ctr">
              <a:spcBef>
                <a:spcPts val="0"/>
              </a:spcBef>
              <a:spcAft>
                <a:spcPts val="500"/>
              </a:spcAft>
              <a:defRPr sz="1000" b="1">
                <a:solidFill>
                  <a:srgbClr val="087F8C"/>
                </a:solidFill>
                <a:latin typeface="Arial"/>
              </a:defRPr>
            </a:pPr>
            <a:r>
              <a:t>PREFILL</a:t>
            </a:r>
          </a:p>
        </p:txBody>
      </p:sp>
      <p:sp>
        <p:nvSpPr>
          <p:cNvPr id="20" name="Rounded Rectangle 19"/>
          <p:cNvSpPr/>
          <p:nvPr/>
        </p:nvSpPr>
        <p:spPr>
          <a:xfrm>
            <a:off x="2907792" y="3785615"/>
            <a:ext cx="1581912" cy="31089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971800" y="3817620"/>
            <a:ext cx="1453895" cy="237744"/>
          </a:xfrm>
          <a:prstGeom prst="rect">
            <a:avLst/>
          </a:prstGeom>
          <a:noFill/>
        </p:spPr>
        <p:txBody>
          <a:bodyPr wrap="square" lIns="13716" rIns="13716" tIns="13716" bIns="13716">
            <a:spAutoFit/>
          </a:bodyPr>
          <a:lstStyle/>
          <a:p>
            <a:pPr algn="ctr">
              <a:spcBef>
                <a:spcPts val="0"/>
              </a:spcBef>
              <a:spcAft>
                <a:spcPts val="500"/>
              </a:spcAft>
              <a:defRPr sz="1000" b="1">
                <a:solidFill>
                  <a:srgbClr val="7354B8"/>
                </a:solidFill>
                <a:latin typeface="Arial"/>
              </a:defRPr>
            </a:pPr>
            <a:r>
              <a:t>DECODE</a:t>
            </a:r>
          </a:p>
        </p:txBody>
      </p:sp>
      <p:sp>
        <p:nvSpPr>
          <p:cNvPr id="22" name="Rounded Rectangle 21"/>
          <p:cNvSpPr/>
          <p:nvPr/>
        </p:nvSpPr>
        <p:spPr>
          <a:xfrm>
            <a:off x="4809744" y="3054096"/>
            <a:ext cx="1810512" cy="146304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919472" y="3255264"/>
            <a:ext cx="1581912" cy="310896"/>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983480" y="3287268"/>
            <a:ext cx="1453895" cy="237744"/>
          </a:xfrm>
          <a:prstGeom prst="rect">
            <a:avLst/>
          </a:prstGeom>
          <a:noFill/>
        </p:spPr>
        <p:txBody>
          <a:bodyPr wrap="square" lIns="13716" rIns="13716" tIns="13716" bIns="13716">
            <a:spAutoFit/>
          </a:bodyPr>
          <a:lstStyle/>
          <a:p>
            <a:pPr algn="ctr">
              <a:spcBef>
                <a:spcPts val="0"/>
              </a:spcBef>
              <a:spcAft>
                <a:spcPts val="500"/>
              </a:spcAft>
              <a:defRPr sz="1000" b="1">
                <a:solidFill>
                  <a:srgbClr val="087F8C"/>
                </a:solidFill>
                <a:latin typeface="Arial"/>
              </a:defRPr>
            </a:pPr>
            <a:r>
              <a:t>PREFILL</a:t>
            </a:r>
          </a:p>
        </p:txBody>
      </p:sp>
      <p:sp>
        <p:nvSpPr>
          <p:cNvPr id="25" name="Rounded Rectangle 24"/>
          <p:cNvSpPr/>
          <p:nvPr/>
        </p:nvSpPr>
        <p:spPr>
          <a:xfrm>
            <a:off x="4919472" y="3785615"/>
            <a:ext cx="1581912" cy="31089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983480" y="3817620"/>
            <a:ext cx="1453895" cy="237744"/>
          </a:xfrm>
          <a:prstGeom prst="rect">
            <a:avLst/>
          </a:prstGeom>
          <a:noFill/>
        </p:spPr>
        <p:txBody>
          <a:bodyPr wrap="square" lIns="13716" rIns="13716" tIns="13716" bIns="13716">
            <a:spAutoFit/>
          </a:bodyPr>
          <a:lstStyle/>
          <a:p>
            <a:pPr algn="ctr">
              <a:spcBef>
                <a:spcPts val="0"/>
              </a:spcBef>
              <a:spcAft>
                <a:spcPts val="500"/>
              </a:spcAft>
              <a:defRPr sz="1000" b="1">
                <a:solidFill>
                  <a:srgbClr val="7354B8"/>
                </a:solidFill>
                <a:latin typeface="Arial"/>
              </a:defRPr>
            </a:pPr>
            <a:r>
              <a:t>DECODE</a:t>
            </a:r>
          </a:p>
        </p:txBody>
      </p:sp>
      <p:sp>
        <p:nvSpPr>
          <p:cNvPr id="27" name="TextBox 26"/>
          <p:cNvSpPr txBox="1"/>
          <p:nvPr/>
        </p:nvSpPr>
        <p:spPr>
          <a:xfrm>
            <a:off x="749808" y="4809744"/>
            <a:ext cx="5943600" cy="411480"/>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One deployment • one coupled scaling boundary</a:t>
            </a:r>
          </a:p>
        </p:txBody>
      </p:sp>
      <p:sp>
        <p:nvSpPr>
          <p:cNvPr id="28" name="Rounded Rectangle 27"/>
          <p:cNvSpPr/>
          <p:nvPr/>
        </p:nvSpPr>
        <p:spPr>
          <a:xfrm>
            <a:off x="7360920" y="2103120"/>
            <a:ext cx="4315968" cy="3429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525512" y="2286000"/>
            <a:ext cx="347472" cy="59436"/>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543800" y="2468879"/>
            <a:ext cx="3950207" cy="420624"/>
          </a:xfrm>
          <a:prstGeom prst="rect">
            <a:avLst/>
          </a:prstGeom>
          <a:noFill/>
        </p:spPr>
        <p:txBody>
          <a:bodyPr wrap="square" lIns="13716" rIns="13716" tIns="13716" bIns="13716">
            <a:spAutoFit/>
          </a:bodyPr>
          <a:lstStyle/>
          <a:p>
            <a:pPr>
              <a:spcBef>
                <a:spcPts val="0"/>
              </a:spcBef>
              <a:spcAft>
                <a:spcPts val="500"/>
              </a:spcAft>
              <a:defRPr sz="2000" b="1">
                <a:solidFill>
                  <a:srgbClr val="AE641A"/>
                </a:solidFill>
                <a:latin typeface="Arial"/>
              </a:defRPr>
            </a:pPr>
            <a:r>
              <a:t>The operational tension</a:t>
            </a:r>
          </a:p>
        </p:txBody>
      </p:sp>
      <p:sp>
        <p:nvSpPr>
          <p:cNvPr id="31" name="TextBox 30"/>
          <p:cNvSpPr txBox="1"/>
          <p:nvPr/>
        </p:nvSpPr>
        <p:spPr>
          <a:xfrm>
            <a:off x="7543800" y="3072384"/>
            <a:ext cx="3950207" cy="2313432"/>
          </a:xfrm>
          <a:prstGeom prst="rect">
            <a:avLst/>
          </a:prstGeom>
          <a:noFill/>
        </p:spPr>
        <p:txBody>
          <a:bodyPr wrap="square" lIns="13716" rIns="13716" tIns="13716" bIns="13716">
            <a:spAutoFit/>
          </a:bodyPr>
          <a:lstStyle/>
          <a:p>
            <a:pPr>
              <a:spcBef>
                <a:spcPts val="0"/>
              </a:spcBef>
              <a:spcAft>
                <a:spcPts val="500"/>
              </a:spcAft>
              <a:defRPr sz="1900" b="0">
                <a:solidFill>
                  <a:srgbClr val="172941"/>
                </a:solidFill>
                <a:latin typeface="Arial"/>
              </a:defRPr>
            </a:pPr>
            <a:r>
              <a:t>Prompt bursts can disrupt token delivery.</a:t>
            </a:r>
          </a:p>
          <a:p>
            <a:pPr>
              <a:spcBef>
                <a:spcPts val="0"/>
              </a:spcBef>
              <a:spcAft>
                <a:spcPts val="500"/>
              </a:spcAft>
              <a:defRPr sz="1900" b="0">
                <a:solidFill>
                  <a:srgbClr val="172941"/>
                </a:solidFill>
                <a:latin typeface="Arial"/>
              </a:defRPr>
            </a:pPr>
          </a:p>
          <a:p>
            <a:pPr>
              <a:spcBef>
                <a:spcPts val="0"/>
              </a:spcBef>
              <a:spcAft>
                <a:spcPts val="500"/>
              </a:spcAft>
              <a:defRPr sz="1900" b="0">
                <a:solidFill>
                  <a:srgbClr val="172941"/>
                </a:solidFill>
                <a:latin typeface="Arial"/>
              </a:defRPr>
            </a:pPr>
            <a:r>
              <a:t>Scaling adds both phases, even when only one is saturated.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01 / THE PROBLEM</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Split the phases. Tune the pools independently.</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P/D introduces a KV-transfer boundary between prompt processing and generation.</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The transfer path must be fast enough to justify the split.</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05 / 36</a:t>
            </a:r>
          </a:p>
        </p:txBody>
      </p:sp>
      <p:sp>
        <p:nvSpPr>
          <p:cNvPr id="10" name="Rounded Rectangle 9"/>
          <p:cNvSpPr/>
          <p:nvPr/>
        </p:nvSpPr>
        <p:spPr>
          <a:xfrm>
            <a:off x="502920" y="2194560"/>
            <a:ext cx="4114800" cy="315468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432304"/>
            <a:ext cx="3657600" cy="438912"/>
          </a:xfrm>
          <a:prstGeom prst="rect">
            <a:avLst/>
          </a:prstGeom>
          <a:noFill/>
        </p:spPr>
        <p:txBody>
          <a:bodyPr wrap="square" lIns="13716" rIns="13716" tIns="13716" bIns="13716">
            <a:spAutoFit/>
          </a:bodyPr>
          <a:lstStyle/>
          <a:p>
            <a:pPr>
              <a:spcBef>
                <a:spcPts val="0"/>
              </a:spcBef>
              <a:spcAft>
                <a:spcPts val="500"/>
              </a:spcAft>
              <a:defRPr sz="2300" b="1">
                <a:solidFill>
                  <a:srgbClr val="087F8C"/>
                </a:solidFill>
                <a:latin typeface="Arial"/>
              </a:defRPr>
            </a:pPr>
            <a:r>
              <a:t>PREFILL POOL</a:t>
            </a:r>
          </a:p>
        </p:txBody>
      </p:sp>
      <p:sp>
        <p:nvSpPr>
          <p:cNvPr id="12" name="Rounded Rectangle 11"/>
          <p:cNvSpPr/>
          <p:nvPr/>
        </p:nvSpPr>
        <p:spPr>
          <a:xfrm>
            <a:off x="777240" y="3108960"/>
            <a:ext cx="3566160" cy="1042415"/>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200400"/>
            <a:ext cx="50292" cy="8595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3227832"/>
            <a:ext cx="3291840" cy="393192"/>
          </a:xfrm>
          <a:prstGeom prst="rect">
            <a:avLst/>
          </a:prstGeom>
          <a:noFill/>
        </p:spPr>
        <p:txBody>
          <a:bodyPr wrap="square" lIns="13716" rIns="13716" tIns="13716" bIns="13716">
            <a:spAutoFit/>
          </a:bodyPr>
          <a:lstStyle/>
          <a:p>
            <a:pPr algn="ctr">
              <a:spcBef>
                <a:spcPts val="0"/>
              </a:spcBef>
              <a:spcAft>
                <a:spcPts val="500"/>
              </a:spcAft>
              <a:defRPr sz="1900" b="1">
                <a:solidFill>
                  <a:srgbClr val="087F8C"/>
                </a:solidFill>
                <a:latin typeface="Arial"/>
              </a:defRPr>
            </a:pPr>
            <a:r>
              <a:t>Prompt processing</a:t>
            </a:r>
          </a:p>
        </p:txBody>
      </p:sp>
      <p:sp>
        <p:nvSpPr>
          <p:cNvPr id="15" name="TextBox 14"/>
          <p:cNvSpPr txBox="1"/>
          <p:nvPr/>
        </p:nvSpPr>
        <p:spPr>
          <a:xfrm>
            <a:off x="923544" y="3666744"/>
            <a:ext cx="3273552" cy="393191"/>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Compute + latency</a:t>
            </a:r>
          </a:p>
        </p:txBody>
      </p:sp>
      <p:sp>
        <p:nvSpPr>
          <p:cNvPr id="16" name="TextBox 15"/>
          <p:cNvSpPr txBox="1"/>
          <p:nvPr/>
        </p:nvSpPr>
        <p:spPr>
          <a:xfrm>
            <a:off x="749808" y="4553712"/>
            <a:ext cx="3566160" cy="713232"/>
          </a:xfrm>
          <a:prstGeom prst="rect">
            <a:avLst/>
          </a:prstGeom>
          <a:noFill/>
        </p:spPr>
        <p:txBody>
          <a:bodyPr wrap="square" lIns="13716" rIns="13716" tIns="13716" bIns="13716">
            <a:spAutoFit/>
          </a:bodyPr>
          <a:lstStyle/>
          <a:p>
            <a:pPr>
              <a:spcBef>
                <a:spcPts val="0"/>
              </a:spcBef>
              <a:spcAft>
                <a:spcPts val="500"/>
              </a:spcAft>
              <a:defRPr sz="1700" b="0">
                <a:solidFill>
                  <a:srgbClr val="087F8C"/>
                </a:solidFill>
                <a:latin typeface="Arial"/>
              </a:defRPr>
            </a:pPr>
            <a:r>
              <a:t>Choose replicas and parallelism</a:t>
            </a:r>
          </a:p>
          <a:p>
            <a:pPr>
              <a:spcBef>
                <a:spcPts val="0"/>
              </a:spcBef>
              <a:spcAft>
                <a:spcPts val="500"/>
              </a:spcAft>
              <a:defRPr sz="1700" b="0">
                <a:solidFill>
                  <a:srgbClr val="087F8C"/>
                </a:solidFill>
                <a:latin typeface="Arial"/>
              </a:defRPr>
            </a:pPr>
            <a:r>
              <a:t>for prompt pressure.</a:t>
            </a:r>
          </a:p>
        </p:txBody>
      </p:sp>
      <p:sp>
        <p:nvSpPr>
          <p:cNvPr id="17" name="Rounded Rectangle 16"/>
          <p:cNvSpPr/>
          <p:nvPr/>
        </p:nvSpPr>
        <p:spPr>
          <a:xfrm>
            <a:off x="7571231" y="2194560"/>
            <a:ext cx="4114800" cy="315468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99831" y="2432304"/>
            <a:ext cx="3657600" cy="438912"/>
          </a:xfrm>
          <a:prstGeom prst="rect">
            <a:avLst/>
          </a:prstGeom>
          <a:noFill/>
        </p:spPr>
        <p:txBody>
          <a:bodyPr wrap="square" lIns="13716" rIns="13716" tIns="13716" bIns="13716">
            <a:spAutoFit/>
          </a:bodyPr>
          <a:lstStyle/>
          <a:p>
            <a:pPr>
              <a:spcBef>
                <a:spcPts val="0"/>
              </a:spcBef>
              <a:spcAft>
                <a:spcPts val="500"/>
              </a:spcAft>
              <a:defRPr sz="2300" b="1">
                <a:solidFill>
                  <a:srgbClr val="7354B8"/>
                </a:solidFill>
                <a:latin typeface="Arial"/>
              </a:defRPr>
            </a:pPr>
            <a:r>
              <a:t>DECODE POOL</a:t>
            </a:r>
          </a:p>
        </p:txBody>
      </p:sp>
      <p:sp>
        <p:nvSpPr>
          <p:cNvPr id="19" name="Rounded Rectangle 18"/>
          <p:cNvSpPr/>
          <p:nvPr/>
        </p:nvSpPr>
        <p:spPr>
          <a:xfrm>
            <a:off x="7845552" y="3108960"/>
            <a:ext cx="3566160" cy="1042415"/>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845552" y="3200400"/>
            <a:ext cx="50292" cy="8595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982712" y="3227832"/>
            <a:ext cx="3291840" cy="393192"/>
          </a:xfrm>
          <a:prstGeom prst="rect">
            <a:avLst/>
          </a:prstGeom>
          <a:noFill/>
        </p:spPr>
        <p:txBody>
          <a:bodyPr wrap="square" lIns="13716" rIns="13716" tIns="13716" bIns="13716">
            <a:spAutoFit/>
          </a:bodyPr>
          <a:lstStyle/>
          <a:p>
            <a:pPr algn="ctr">
              <a:spcBef>
                <a:spcPts val="0"/>
              </a:spcBef>
              <a:spcAft>
                <a:spcPts val="500"/>
              </a:spcAft>
              <a:defRPr sz="1900" b="1">
                <a:solidFill>
                  <a:srgbClr val="7354B8"/>
                </a:solidFill>
                <a:latin typeface="Arial"/>
              </a:defRPr>
            </a:pPr>
            <a:r>
              <a:t>Token generation</a:t>
            </a:r>
          </a:p>
        </p:txBody>
      </p:sp>
      <p:sp>
        <p:nvSpPr>
          <p:cNvPr id="22" name="TextBox 21"/>
          <p:cNvSpPr txBox="1"/>
          <p:nvPr/>
        </p:nvSpPr>
        <p:spPr>
          <a:xfrm>
            <a:off x="7991856" y="3666744"/>
            <a:ext cx="3273552" cy="393191"/>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Bandwidth + active KV memory</a:t>
            </a:r>
          </a:p>
        </p:txBody>
      </p:sp>
      <p:sp>
        <p:nvSpPr>
          <p:cNvPr id="23" name="TextBox 22"/>
          <p:cNvSpPr txBox="1"/>
          <p:nvPr/>
        </p:nvSpPr>
        <p:spPr>
          <a:xfrm>
            <a:off x="7818120" y="4553712"/>
            <a:ext cx="3566160" cy="713232"/>
          </a:xfrm>
          <a:prstGeom prst="rect">
            <a:avLst/>
          </a:prstGeom>
          <a:noFill/>
        </p:spPr>
        <p:txBody>
          <a:bodyPr wrap="square" lIns="13716" rIns="13716" tIns="13716" bIns="13716">
            <a:spAutoFit/>
          </a:bodyPr>
          <a:lstStyle/>
          <a:p>
            <a:pPr>
              <a:spcBef>
                <a:spcPts val="0"/>
              </a:spcBef>
              <a:spcAft>
                <a:spcPts val="500"/>
              </a:spcAft>
              <a:defRPr sz="1700" b="0">
                <a:solidFill>
                  <a:srgbClr val="7354B8"/>
                </a:solidFill>
                <a:latin typeface="Arial"/>
              </a:defRPr>
            </a:pPr>
            <a:r>
              <a:t>Choose replicas and parallelism</a:t>
            </a:r>
          </a:p>
          <a:p>
            <a:pPr>
              <a:spcBef>
                <a:spcPts val="0"/>
              </a:spcBef>
              <a:spcAft>
                <a:spcPts val="500"/>
              </a:spcAft>
              <a:defRPr sz="1700" b="0">
                <a:solidFill>
                  <a:srgbClr val="7354B8"/>
                </a:solidFill>
                <a:latin typeface="Arial"/>
              </a:defRPr>
            </a:pPr>
            <a:r>
              <a:t>for sustained generation.</a:t>
            </a:r>
          </a:p>
        </p:txBody>
      </p:sp>
      <p:cxnSp>
        <p:nvCxnSpPr>
          <p:cNvPr id="24" name="Connector 23"/>
          <p:cNvCxnSpPr/>
          <p:nvPr/>
        </p:nvCxnSpPr>
        <p:spPr>
          <a:xfrm>
            <a:off x="4617720" y="3639312"/>
            <a:ext cx="2953511" cy="0"/>
          </a:xfrm>
          <a:prstGeom prst="line">
            <a:avLst/>
          </a:prstGeom>
          <a:ln w="381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4773168" y="2816352"/>
            <a:ext cx="2651760" cy="594360"/>
          </a:xfrm>
          <a:prstGeom prst="rect">
            <a:avLst/>
          </a:prstGeom>
          <a:noFill/>
        </p:spPr>
        <p:txBody>
          <a:bodyPr wrap="square" lIns="13716" rIns="13716" tIns="13716" bIns="13716">
            <a:spAutoFit/>
          </a:bodyPr>
          <a:lstStyle/>
          <a:p>
            <a:pPr algn="ctr">
              <a:spcBef>
                <a:spcPts val="0"/>
              </a:spcBef>
              <a:spcAft>
                <a:spcPts val="500"/>
              </a:spcAft>
              <a:defRPr sz="2000" b="1">
                <a:solidFill>
                  <a:srgbClr val="087F8C"/>
                </a:solidFill>
                <a:latin typeface="Arial"/>
              </a:defRPr>
            </a:pPr>
            <a:r>
              <a:t>KV cache transfer</a:t>
            </a:r>
          </a:p>
        </p:txBody>
      </p:sp>
      <p:sp>
        <p:nvSpPr>
          <p:cNvPr id="26" name="TextBox 25"/>
          <p:cNvSpPr txBox="1"/>
          <p:nvPr/>
        </p:nvSpPr>
        <p:spPr>
          <a:xfrm>
            <a:off x="4736592" y="3977639"/>
            <a:ext cx="2697480" cy="1005840"/>
          </a:xfrm>
          <a:prstGeom prst="rect">
            <a:avLst/>
          </a:prstGeom>
          <a:noFill/>
        </p:spPr>
        <p:txBody>
          <a:bodyPr wrap="square" lIns="13716" rIns="13716" tIns="13716" bIns="13716">
            <a:spAutoFit/>
          </a:bodyPr>
          <a:lstStyle/>
          <a:p>
            <a:pPr algn="ctr">
              <a:spcBef>
                <a:spcPts val="0"/>
              </a:spcBef>
              <a:spcAft>
                <a:spcPts val="500"/>
              </a:spcAft>
              <a:defRPr sz="1700" b="0">
                <a:solidFill>
                  <a:srgbClr val="586A80"/>
                </a:solidFill>
                <a:latin typeface="Arial"/>
              </a:defRPr>
            </a:pPr>
            <a:r>
              <a:t>New cost:</a:t>
            </a:r>
          </a:p>
          <a:p>
            <a:pPr algn="ctr">
              <a:spcBef>
                <a:spcPts val="0"/>
              </a:spcBef>
              <a:spcAft>
                <a:spcPts val="500"/>
              </a:spcAft>
              <a:defRPr sz="1700" b="0">
                <a:solidFill>
                  <a:srgbClr val="586A80"/>
                </a:solidFill>
                <a:latin typeface="Arial"/>
              </a:defRPr>
            </a:pPr>
            <a:r>
              <a:t>transfer + coordination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01 / THE PROBLEM</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P/D fits when the phases need different shapes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Start with the traffic profile, not the architecture trend.</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06 / 36</a:t>
            </a:r>
          </a:p>
        </p:txBody>
      </p:sp>
      <p:sp>
        <p:nvSpPr>
          <p:cNvPr id="8" name="Rounded Rectangle 7"/>
          <p:cNvSpPr/>
          <p:nvPr/>
        </p:nvSpPr>
        <p:spPr>
          <a:xfrm>
            <a:off x="502920" y="2148840"/>
            <a:ext cx="3611880" cy="31546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67512" y="2331720"/>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48716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087F8C"/>
                </a:solidFill>
                <a:latin typeface="Arial"/>
              </a:defRPr>
            </a:pPr>
            <a:r>
              <a:t>PROMPT PRESSURE</a:t>
            </a:r>
          </a:p>
        </p:txBody>
      </p:sp>
      <p:sp>
        <p:nvSpPr>
          <p:cNvPr id="11" name="TextBox 10"/>
          <p:cNvSpPr txBox="1"/>
          <p:nvPr/>
        </p:nvSpPr>
        <p:spPr>
          <a:xfrm>
            <a:off x="685800" y="286207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Long prompts</a:t>
            </a:r>
          </a:p>
        </p:txBody>
      </p:sp>
      <p:sp>
        <p:nvSpPr>
          <p:cNvPr id="12" name="TextBox 11"/>
          <p:cNvSpPr txBox="1"/>
          <p:nvPr/>
        </p:nvSpPr>
        <p:spPr>
          <a:xfrm>
            <a:off x="685800" y="3465576"/>
            <a:ext cx="3246120" cy="1691640"/>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RAG and retrieval add significant prefill work.</a:t>
            </a:r>
          </a:p>
        </p:txBody>
      </p:sp>
      <p:sp>
        <p:nvSpPr>
          <p:cNvPr id="13" name="Rounded Rectangle 12"/>
          <p:cNvSpPr/>
          <p:nvPr/>
        </p:nvSpPr>
        <p:spPr>
          <a:xfrm>
            <a:off x="4288536" y="2148840"/>
            <a:ext cx="3611880" cy="31546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53127" y="2331720"/>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71416" y="248716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7354B8"/>
                </a:solidFill>
                <a:latin typeface="Arial"/>
              </a:defRPr>
            </a:pPr>
            <a:r>
              <a:t>GENERATION PRESSURE</a:t>
            </a:r>
          </a:p>
        </p:txBody>
      </p:sp>
      <p:sp>
        <p:nvSpPr>
          <p:cNvPr id="16" name="TextBox 15"/>
          <p:cNvSpPr txBox="1"/>
          <p:nvPr/>
        </p:nvSpPr>
        <p:spPr>
          <a:xfrm>
            <a:off x="4471416" y="286207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Long generations</a:t>
            </a:r>
          </a:p>
        </p:txBody>
      </p:sp>
      <p:sp>
        <p:nvSpPr>
          <p:cNvPr id="17" name="TextBox 16"/>
          <p:cNvSpPr txBox="1"/>
          <p:nvPr/>
        </p:nvSpPr>
        <p:spPr>
          <a:xfrm>
            <a:off x="4471416" y="3465576"/>
            <a:ext cx="3246120" cy="1691640"/>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High concurrency keeps decode busy and KV state resident.</a:t>
            </a:r>
          </a:p>
        </p:txBody>
      </p:sp>
      <p:sp>
        <p:nvSpPr>
          <p:cNvPr id="18" name="Rounded Rectangle 17"/>
          <p:cNvSpPr/>
          <p:nvPr/>
        </p:nvSpPr>
        <p:spPr>
          <a:xfrm>
            <a:off x="8074152" y="2148840"/>
            <a:ext cx="3611880" cy="31546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238744" y="2331720"/>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57031" y="248716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CAPACITY MISMATCH</a:t>
            </a:r>
          </a:p>
        </p:txBody>
      </p:sp>
      <p:sp>
        <p:nvSpPr>
          <p:cNvPr id="21" name="TextBox 20"/>
          <p:cNvSpPr txBox="1"/>
          <p:nvPr/>
        </p:nvSpPr>
        <p:spPr>
          <a:xfrm>
            <a:off x="8257031" y="286207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Different resources</a:t>
            </a:r>
          </a:p>
        </p:txBody>
      </p:sp>
      <p:sp>
        <p:nvSpPr>
          <p:cNvPr id="22" name="TextBox 21"/>
          <p:cNvSpPr txBox="1"/>
          <p:nvPr/>
        </p:nvSpPr>
        <p:spPr>
          <a:xfrm>
            <a:off x="8257031" y="3465576"/>
            <a:ext cx="3246120" cy="1691640"/>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Each phase needs its own scaling or parallelism choices.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01 / THE PROBLEM</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Keep aggregated serving when simplicity wins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P/D is an option, not a default.</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Small workload + slow transfer fabric is a strong reason not to split.</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07 / 36</a:t>
            </a:r>
          </a:p>
        </p:txBody>
      </p:sp>
      <p:sp>
        <p:nvSpPr>
          <p:cNvPr id="10" name="Rounded Rectangle 9"/>
          <p:cNvSpPr/>
          <p:nvPr/>
        </p:nvSpPr>
        <p:spPr>
          <a:xfrm>
            <a:off x="502920" y="2176272"/>
            <a:ext cx="5440680" cy="32461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67512" y="2359152"/>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542032"/>
            <a:ext cx="5074920"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When aggregated fits</a:t>
            </a:r>
          </a:p>
        </p:txBody>
      </p:sp>
      <p:sp>
        <p:nvSpPr>
          <p:cNvPr id="13" name="TextBox 12"/>
          <p:cNvSpPr txBox="1"/>
          <p:nvPr/>
        </p:nvSpPr>
        <p:spPr>
          <a:xfrm>
            <a:off x="685800" y="3145536"/>
            <a:ext cx="5074920" cy="2130551"/>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Small models or short prompts</a:t>
            </a:r>
          </a:p>
          <a:p>
            <a:pPr>
              <a:spcBef>
                <a:spcPts val="0"/>
              </a:spcBef>
              <a:spcAft>
                <a:spcPts val="500"/>
              </a:spcAft>
              <a:defRPr sz="2000" b="0">
                <a:solidFill>
                  <a:srgbClr val="172941"/>
                </a:solidFill>
                <a:latin typeface="Arial"/>
              </a:defRPr>
            </a:pPr>
          </a:p>
          <a:p>
            <a:pPr>
              <a:spcBef>
                <a:spcPts val="0"/>
              </a:spcBef>
              <a:spcAft>
                <a:spcPts val="500"/>
              </a:spcAft>
              <a:defRPr sz="2000" b="0">
                <a:solidFill>
                  <a:srgbClr val="172941"/>
                </a:solidFill>
                <a:latin typeface="Arial"/>
              </a:defRPr>
            </a:pPr>
            <a:r>
              <a:t>Low request concurrency</a:t>
            </a:r>
          </a:p>
          <a:p>
            <a:pPr>
              <a:spcBef>
                <a:spcPts val="0"/>
              </a:spcBef>
              <a:spcAft>
                <a:spcPts val="500"/>
              </a:spcAft>
              <a:defRPr sz="2000" b="0">
                <a:solidFill>
                  <a:srgbClr val="172941"/>
                </a:solidFill>
                <a:latin typeface="Arial"/>
              </a:defRPr>
            </a:pPr>
          </a:p>
          <a:p>
            <a:pPr>
              <a:spcBef>
                <a:spcPts val="0"/>
              </a:spcBef>
              <a:spcAft>
                <a:spcPts val="500"/>
              </a:spcAft>
              <a:defRPr sz="2000" b="0">
                <a:solidFill>
                  <a:srgbClr val="172941"/>
                </a:solidFill>
                <a:latin typeface="Arial"/>
              </a:defRPr>
            </a:pPr>
            <a:r>
              <a:t>Simple, stable capacity needs</a:t>
            </a:r>
          </a:p>
        </p:txBody>
      </p:sp>
      <p:sp>
        <p:nvSpPr>
          <p:cNvPr id="14" name="Rounded Rectangle 13"/>
          <p:cNvSpPr/>
          <p:nvPr/>
        </p:nvSpPr>
        <p:spPr>
          <a:xfrm>
            <a:off x="6199632" y="2176272"/>
            <a:ext cx="5440680" cy="32461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364224" y="2359152"/>
            <a:ext cx="347472" cy="59436"/>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82512" y="2542032"/>
            <a:ext cx="5074920" cy="420624"/>
          </a:xfrm>
          <a:prstGeom prst="rect">
            <a:avLst/>
          </a:prstGeom>
          <a:noFill/>
        </p:spPr>
        <p:txBody>
          <a:bodyPr wrap="square" lIns="13716" rIns="13716" tIns="13716" bIns="13716">
            <a:spAutoFit/>
          </a:bodyPr>
          <a:lstStyle/>
          <a:p>
            <a:pPr>
              <a:spcBef>
                <a:spcPts val="0"/>
              </a:spcBef>
              <a:spcAft>
                <a:spcPts val="500"/>
              </a:spcAft>
              <a:defRPr sz="2000" b="1">
                <a:solidFill>
                  <a:srgbClr val="AE641A"/>
                </a:solidFill>
                <a:latin typeface="Arial"/>
              </a:defRPr>
            </a:pPr>
            <a:r>
              <a:t>The split adds real costs</a:t>
            </a:r>
          </a:p>
        </p:txBody>
      </p:sp>
      <p:sp>
        <p:nvSpPr>
          <p:cNvPr id="17" name="TextBox 16"/>
          <p:cNvSpPr txBox="1"/>
          <p:nvPr/>
        </p:nvSpPr>
        <p:spPr>
          <a:xfrm>
            <a:off x="6382512" y="3145536"/>
            <a:ext cx="5074920" cy="2130551"/>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KV transfer across the fabric</a:t>
            </a:r>
          </a:p>
          <a:p>
            <a:pPr>
              <a:spcBef>
                <a:spcPts val="0"/>
              </a:spcBef>
              <a:spcAft>
                <a:spcPts val="500"/>
              </a:spcAft>
              <a:defRPr sz="2000" b="0">
                <a:solidFill>
                  <a:srgbClr val="172941"/>
                </a:solidFill>
                <a:latin typeface="Arial"/>
              </a:defRPr>
            </a:pPr>
          </a:p>
          <a:p>
            <a:pPr>
              <a:spcBef>
                <a:spcPts val="0"/>
              </a:spcBef>
              <a:spcAft>
                <a:spcPts val="500"/>
              </a:spcAft>
              <a:defRPr sz="2000" b="0">
                <a:solidFill>
                  <a:srgbClr val="172941"/>
                </a:solidFill>
                <a:latin typeface="Arial"/>
              </a:defRPr>
            </a:pPr>
            <a:r>
              <a:t>More routing and runtime wiring</a:t>
            </a:r>
          </a:p>
          <a:p>
            <a:pPr>
              <a:spcBef>
                <a:spcPts val="0"/>
              </a:spcBef>
              <a:spcAft>
                <a:spcPts val="500"/>
              </a:spcAft>
              <a:defRPr sz="2000" b="0">
                <a:solidFill>
                  <a:srgbClr val="172941"/>
                </a:solidFill>
                <a:latin typeface="Arial"/>
              </a:defRPr>
            </a:pPr>
          </a:p>
          <a:p>
            <a:pPr>
              <a:spcBef>
                <a:spcPts val="0"/>
              </a:spcBef>
              <a:spcAft>
                <a:spcPts val="500"/>
              </a:spcAft>
              <a:defRPr sz="2000" b="0">
                <a:solidFill>
                  <a:srgbClr val="172941"/>
                </a:solidFill>
                <a:latin typeface="Arial"/>
              </a:defRPr>
            </a:pPr>
            <a:r>
              <a:t>Additional failure boundaries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02 / THE ORCHESTRATION GAP</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The hard part is the Kubernetes wiring</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The two-pool idea expands into a network of runtime contracts.</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Correct routing, transfer settings, labels, ports, and readiness must agree.</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08 / 36</a:t>
            </a:r>
          </a:p>
        </p:txBody>
      </p:sp>
      <p:sp>
        <p:nvSpPr>
          <p:cNvPr id="10" name="Rounded Rectangle 9"/>
          <p:cNvSpPr/>
          <p:nvPr/>
        </p:nvSpPr>
        <p:spPr>
          <a:xfrm>
            <a:off x="4407408" y="3136392"/>
            <a:ext cx="3383280" cy="9601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407408" y="3227832"/>
            <a:ext cx="50292" cy="7772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44568" y="3255264"/>
            <a:ext cx="3108960" cy="393192"/>
          </a:xfrm>
          <a:prstGeom prst="rect">
            <a:avLst/>
          </a:prstGeom>
          <a:noFill/>
        </p:spPr>
        <p:txBody>
          <a:bodyPr wrap="square" lIns="13716" rIns="13716" tIns="13716" bIns="13716">
            <a:spAutoFit/>
          </a:bodyPr>
          <a:lstStyle/>
          <a:p>
            <a:pPr algn="ctr">
              <a:spcBef>
                <a:spcPts val="0"/>
              </a:spcBef>
              <a:spcAft>
                <a:spcPts val="500"/>
              </a:spcAft>
              <a:defRPr sz="1900" b="1">
                <a:solidFill>
                  <a:srgbClr val="2563EB"/>
                </a:solidFill>
                <a:latin typeface="Arial"/>
              </a:defRPr>
            </a:pPr>
            <a:r>
              <a:t>One model service</a:t>
            </a:r>
          </a:p>
        </p:txBody>
      </p:sp>
      <p:sp>
        <p:nvSpPr>
          <p:cNvPr id="13" name="TextBox 12"/>
          <p:cNvSpPr txBox="1"/>
          <p:nvPr/>
        </p:nvSpPr>
        <p:spPr>
          <a:xfrm>
            <a:off x="4553712" y="3694176"/>
            <a:ext cx="3090672" cy="31089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Two role-specific backends</a:t>
            </a:r>
          </a:p>
        </p:txBody>
      </p:sp>
      <p:sp>
        <p:nvSpPr>
          <p:cNvPr id="14" name="Rounded Rectangle 13"/>
          <p:cNvSpPr/>
          <p:nvPr/>
        </p:nvSpPr>
        <p:spPr>
          <a:xfrm>
            <a:off x="502920" y="2103120"/>
            <a:ext cx="3429000" cy="1143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 y="2194560"/>
            <a:ext cx="50292" cy="9601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2221991"/>
            <a:ext cx="315468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2563EB"/>
                </a:solidFill>
                <a:latin typeface="Arial"/>
              </a:defRPr>
            </a:pPr>
            <a:r>
              <a:t>Routing topology</a:t>
            </a:r>
          </a:p>
        </p:txBody>
      </p:sp>
      <p:sp>
        <p:nvSpPr>
          <p:cNvPr id="17" name="TextBox 16"/>
          <p:cNvSpPr txBox="1"/>
          <p:nvPr/>
        </p:nvSpPr>
        <p:spPr>
          <a:xfrm>
            <a:off x="649224" y="2660904"/>
            <a:ext cx="3136392" cy="4937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EPP + endpoint selection</a:t>
            </a:r>
          </a:p>
        </p:txBody>
      </p:sp>
      <p:sp>
        <p:nvSpPr>
          <p:cNvPr id="18" name="Rounded Rectangle 17"/>
          <p:cNvSpPr/>
          <p:nvPr/>
        </p:nvSpPr>
        <p:spPr>
          <a:xfrm>
            <a:off x="502920" y="4187952"/>
            <a:ext cx="3429000" cy="1143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4279392"/>
            <a:ext cx="50292" cy="9601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4306824"/>
            <a:ext cx="315468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087F8C"/>
                </a:solidFill>
                <a:latin typeface="Arial"/>
              </a:defRPr>
            </a:pPr>
            <a:r>
              <a:t>KV-transfer contract</a:t>
            </a:r>
          </a:p>
        </p:txBody>
      </p:sp>
      <p:sp>
        <p:nvSpPr>
          <p:cNvPr id="21" name="TextBox 20"/>
          <p:cNvSpPr txBox="1"/>
          <p:nvPr/>
        </p:nvSpPr>
        <p:spPr>
          <a:xfrm>
            <a:off x="649224" y="4745736"/>
            <a:ext cx="3136392" cy="4937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Connector + transport settings</a:t>
            </a:r>
          </a:p>
        </p:txBody>
      </p:sp>
      <p:sp>
        <p:nvSpPr>
          <p:cNvPr id="22" name="Rounded Rectangle 21"/>
          <p:cNvSpPr/>
          <p:nvPr/>
        </p:nvSpPr>
        <p:spPr>
          <a:xfrm>
            <a:off x="8257031" y="2103120"/>
            <a:ext cx="3429000" cy="1143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257031" y="2194560"/>
            <a:ext cx="50292" cy="9601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94192" y="2221991"/>
            <a:ext cx="315468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7354B8"/>
                </a:solidFill>
                <a:latin typeface="Arial"/>
              </a:defRPr>
            </a:pPr>
            <a:r>
              <a:t>Decode-side proxy</a:t>
            </a:r>
          </a:p>
        </p:txBody>
      </p:sp>
      <p:sp>
        <p:nvSpPr>
          <p:cNvPr id="25" name="TextBox 24"/>
          <p:cNvSpPr txBox="1"/>
          <p:nvPr/>
        </p:nvSpPr>
        <p:spPr>
          <a:xfrm>
            <a:off x="8403336" y="2660904"/>
            <a:ext cx="3136392" cy="4937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Request orchestration</a:t>
            </a:r>
          </a:p>
        </p:txBody>
      </p:sp>
      <p:sp>
        <p:nvSpPr>
          <p:cNvPr id="26" name="Rounded Rectangle 25"/>
          <p:cNvSpPr/>
          <p:nvPr/>
        </p:nvSpPr>
        <p:spPr>
          <a:xfrm>
            <a:off x="8257031" y="4187952"/>
            <a:ext cx="3429000" cy="1143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257031" y="4279392"/>
            <a:ext cx="50292" cy="960120"/>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394192" y="4306824"/>
            <a:ext cx="315468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AE641A"/>
                </a:solidFill>
                <a:latin typeface="Arial"/>
              </a:defRPr>
            </a:pPr>
            <a:r>
              <a:t>Lifecycle + scaling</a:t>
            </a:r>
          </a:p>
        </p:txBody>
      </p:sp>
      <p:sp>
        <p:nvSpPr>
          <p:cNvPr id="29" name="TextBox 28"/>
          <p:cNvSpPr txBox="1"/>
          <p:nvPr/>
        </p:nvSpPr>
        <p:spPr>
          <a:xfrm>
            <a:off x="8403336" y="4745736"/>
            <a:ext cx="3136392" cy="4937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Ports, labels, probes, replicas</a:t>
            </a:r>
          </a:p>
        </p:txBody>
      </p:sp>
      <p:cxnSp>
        <p:nvCxnSpPr>
          <p:cNvPr id="30" name="Connector 29"/>
          <p:cNvCxnSpPr/>
          <p:nvPr/>
        </p:nvCxnSpPr>
        <p:spPr>
          <a:xfrm>
            <a:off x="3931920" y="2679192"/>
            <a:ext cx="228600" cy="0"/>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4160520" y="2679192"/>
            <a:ext cx="0" cy="749808"/>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4160520" y="3429000"/>
            <a:ext cx="246888"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3931920" y="4754880"/>
            <a:ext cx="228600"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4160520" y="3813048"/>
            <a:ext cx="0" cy="941832"/>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4160520" y="3813048"/>
            <a:ext cx="246888"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7790688" y="3429000"/>
            <a:ext cx="228600"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8019288" y="2679192"/>
            <a:ext cx="0" cy="749808"/>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8019288" y="2679192"/>
            <a:ext cx="237743"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7790688" y="3813048"/>
            <a:ext cx="228600" cy="0"/>
          </a:xfrm>
          <a:prstGeom prst="line">
            <a:avLst/>
          </a:prstGeom>
          <a:ln w="25400">
            <a:solidFill>
              <a:srgbClr val="AE641A"/>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8019288" y="3813048"/>
            <a:ext cx="0" cy="941832"/>
          </a:xfrm>
          <a:prstGeom prst="line">
            <a:avLst/>
          </a:prstGeom>
          <a:ln w="25400">
            <a:solidFill>
              <a:srgbClr val="AE641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8019288" y="4754880"/>
            <a:ext cx="237743" cy="0"/>
          </a:xfrm>
          <a:prstGeom prst="line">
            <a:avLst/>
          </a:prstGeom>
          <a:ln w="25400">
            <a:solidFill>
              <a:srgbClr val="AE641A"/>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KAITO + LLM-D</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KAITO turns inference topology into Kubernetes APIs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A control-plane progression from model serving to distributed inference.</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KAITO is the abstraction and orchestration layer—not the model server.</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09 / 36</a:t>
            </a:r>
          </a:p>
        </p:txBody>
      </p:sp>
      <p:sp>
        <p:nvSpPr>
          <p:cNvPr id="10" name="Rounded Rectangle 9"/>
          <p:cNvSpPr/>
          <p:nvPr/>
        </p:nvSpPr>
        <p:spPr>
          <a:xfrm>
            <a:off x="502920" y="3108960"/>
            <a:ext cx="2688336" cy="13990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200400"/>
            <a:ext cx="50292" cy="121615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227832"/>
            <a:ext cx="2414016" cy="393192"/>
          </a:xfrm>
          <a:prstGeom prst="rect">
            <a:avLst/>
          </a:prstGeom>
          <a:noFill/>
        </p:spPr>
        <p:txBody>
          <a:bodyPr wrap="square" lIns="13716" rIns="13716" tIns="13716" bIns="13716">
            <a:spAutoFit/>
          </a:bodyPr>
          <a:lstStyle/>
          <a:p>
            <a:pPr algn="ctr">
              <a:spcBef>
                <a:spcPts val="0"/>
              </a:spcBef>
              <a:spcAft>
                <a:spcPts val="500"/>
              </a:spcAft>
              <a:defRPr sz="1600" b="1">
                <a:solidFill>
                  <a:srgbClr val="2563EB"/>
                </a:solidFill>
                <a:latin typeface="Arial"/>
              </a:defRPr>
            </a:pPr>
            <a:r>
              <a:t>Workspace</a:t>
            </a:r>
          </a:p>
        </p:txBody>
      </p:sp>
      <p:sp>
        <p:nvSpPr>
          <p:cNvPr id="13" name="TextBox 12"/>
          <p:cNvSpPr txBox="1"/>
          <p:nvPr/>
        </p:nvSpPr>
        <p:spPr>
          <a:xfrm>
            <a:off x="649224" y="3666744"/>
            <a:ext cx="2395728" cy="74980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Run a serving</a:t>
            </a:r>
          </a:p>
          <a:p>
            <a:pPr algn="ctr">
              <a:spcBef>
                <a:spcPts val="0"/>
              </a:spcBef>
              <a:spcAft>
                <a:spcPts val="500"/>
              </a:spcAft>
              <a:defRPr sz="1400" b="0">
                <a:solidFill>
                  <a:srgbClr val="586A80"/>
                </a:solidFill>
                <a:latin typeface="Arial"/>
              </a:defRPr>
            </a:pPr>
            <a:r>
              <a:t>or tuning workload</a:t>
            </a:r>
          </a:p>
        </p:txBody>
      </p:sp>
      <p:sp>
        <p:nvSpPr>
          <p:cNvPr id="14" name="TextBox 13"/>
          <p:cNvSpPr txBox="1"/>
          <p:nvPr/>
        </p:nvSpPr>
        <p:spPr>
          <a:xfrm>
            <a:off x="502920" y="4690872"/>
            <a:ext cx="2688336" cy="365760"/>
          </a:xfrm>
          <a:prstGeom prst="rect">
            <a:avLst/>
          </a:prstGeom>
          <a:noFill/>
        </p:spPr>
        <p:txBody>
          <a:bodyPr wrap="square" lIns="13716" rIns="13716" tIns="13716" bIns="13716">
            <a:spAutoFit/>
          </a:bodyPr>
          <a:lstStyle/>
          <a:p>
            <a:pPr algn="ctr">
              <a:spcBef>
                <a:spcPts val="0"/>
              </a:spcBef>
              <a:spcAft>
                <a:spcPts val="500"/>
              </a:spcAft>
              <a:defRPr sz="1200" b="1">
                <a:solidFill>
                  <a:srgbClr val="2563EB"/>
                </a:solidFill>
                <a:latin typeface="Arial"/>
              </a:defRPr>
            </a:pPr>
            <a:r>
              <a:t>SERVE</a:t>
            </a:r>
          </a:p>
        </p:txBody>
      </p:sp>
      <p:cxnSp>
        <p:nvCxnSpPr>
          <p:cNvPr id="15" name="Connector 14"/>
          <p:cNvCxnSpPr/>
          <p:nvPr/>
        </p:nvCxnSpPr>
        <p:spPr>
          <a:xfrm>
            <a:off x="3191256" y="3794760"/>
            <a:ext cx="91440" cy="0"/>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3282696" y="3502152"/>
            <a:ext cx="0" cy="292608"/>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3282696" y="3502152"/>
            <a:ext cx="82295"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3364991" y="2816352"/>
            <a:ext cx="2688336" cy="13990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364991" y="2907792"/>
            <a:ext cx="50292" cy="121615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502151" y="2935224"/>
            <a:ext cx="2414016" cy="393192"/>
          </a:xfrm>
          <a:prstGeom prst="rect">
            <a:avLst/>
          </a:prstGeom>
          <a:noFill/>
        </p:spPr>
        <p:txBody>
          <a:bodyPr wrap="square" lIns="13716" rIns="13716" tIns="13716" bIns="13716">
            <a:spAutoFit/>
          </a:bodyPr>
          <a:lstStyle/>
          <a:p>
            <a:pPr algn="ctr">
              <a:spcBef>
                <a:spcPts val="0"/>
              </a:spcBef>
              <a:spcAft>
                <a:spcPts val="500"/>
              </a:spcAft>
              <a:defRPr sz="1600" b="1">
                <a:solidFill>
                  <a:srgbClr val="087F8C"/>
                </a:solidFill>
                <a:latin typeface="Arial"/>
              </a:defRPr>
            </a:pPr>
            <a:r>
              <a:t>InferenceSet</a:t>
            </a:r>
          </a:p>
        </p:txBody>
      </p:sp>
      <p:sp>
        <p:nvSpPr>
          <p:cNvPr id="21" name="TextBox 20"/>
          <p:cNvSpPr txBox="1"/>
          <p:nvPr/>
        </p:nvSpPr>
        <p:spPr>
          <a:xfrm>
            <a:off x="3511296" y="3374136"/>
            <a:ext cx="2395728" cy="74980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Scale serving</a:t>
            </a:r>
          </a:p>
          <a:p>
            <a:pPr algn="ctr">
              <a:spcBef>
                <a:spcPts val="0"/>
              </a:spcBef>
              <a:spcAft>
                <a:spcPts val="500"/>
              </a:spcAft>
              <a:defRPr sz="1400" b="0">
                <a:solidFill>
                  <a:srgbClr val="586A80"/>
                </a:solidFill>
                <a:latin typeface="Arial"/>
              </a:defRPr>
            </a:pPr>
            <a:r>
              <a:t>replicas</a:t>
            </a:r>
          </a:p>
        </p:txBody>
      </p:sp>
      <p:sp>
        <p:nvSpPr>
          <p:cNvPr id="22" name="TextBox 21"/>
          <p:cNvSpPr txBox="1"/>
          <p:nvPr/>
        </p:nvSpPr>
        <p:spPr>
          <a:xfrm>
            <a:off x="3364991" y="4398264"/>
            <a:ext cx="2688336" cy="365760"/>
          </a:xfrm>
          <a:prstGeom prst="rect">
            <a:avLst/>
          </a:prstGeom>
          <a:noFill/>
        </p:spPr>
        <p:txBody>
          <a:bodyPr wrap="square" lIns="13716" rIns="13716" tIns="13716" bIns="13716">
            <a:spAutoFit/>
          </a:bodyPr>
          <a:lstStyle/>
          <a:p>
            <a:pPr algn="ctr">
              <a:spcBef>
                <a:spcPts val="0"/>
              </a:spcBef>
              <a:spcAft>
                <a:spcPts val="500"/>
              </a:spcAft>
              <a:defRPr sz="1200" b="1">
                <a:solidFill>
                  <a:srgbClr val="087F8C"/>
                </a:solidFill>
                <a:latin typeface="Arial"/>
              </a:defRPr>
            </a:pPr>
            <a:r>
              <a:t>SCALE</a:t>
            </a:r>
          </a:p>
        </p:txBody>
      </p:sp>
      <p:cxnSp>
        <p:nvCxnSpPr>
          <p:cNvPr id="23" name="Connector 22"/>
          <p:cNvCxnSpPr/>
          <p:nvPr/>
        </p:nvCxnSpPr>
        <p:spPr>
          <a:xfrm>
            <a:off x="6053327" y="3502152"/>
            <a:ext cx="91441"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6144768" y="3209544"/>
            <a:ext cx="0" cy="292608"/>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6144768" y="3209544"/>
            <a:ext cx="82296"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6227064" y="2523744"/>
            <a:ext cx="2688336" cy="13990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227064" y="2615184"/>
            <a:ext cx="50292" cy="121615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64224" y="2642615"/>
            <a:ext cx="2414016" cy="393192"/>
          </a:xfrm>
          <a:prstGeom prst="rect">
            <a:avLst/>
          </a:prstGeom>
          <a:noFill/>
        </p:spPr>
        <p:txBody>
          <a:bodyPr wrap="square" lIns="13716" rIns="13716" tIns="13716" bIns="13716">
            <a:spAutoFit/>
          </a:bodyPr>
          <a:lstStyle/>
          <a:p>
            <a:pPr algn="ctr">
              <a:spcBef>
                <a:spcPts val="0"/>
              </a:spcBef>
              <a:spcAft>
                <a:spcPts val="500"/>
              </a:spcAft>
              <a:defRPr sz="1600" b="1">
                <a:solidFill>
                  <a:srgbClr val="7354B8"/>
                </a:solidFill>
                <a:latin typeface="Arial"/>
              </a:defRPr>
            </a:pPr>
            <a:r>
              <a:t>InferencePool</a:t>
            </a:r>
          </a:p>
        </p:txBody>
      </p:sp>
      <p:sp>
        <p:nvSpPr>
          <p:cNvPr id="29" name="TextBox 28"/>
          <p:cNvSpPr txBox="1"/>
          <p:nvPr/>
        </p:nvSpPr>
        <p:spPr>
          <a:xfrm>
            <a:off x="6373368" y="3081528"/>
            <a:ext cx="2395728" cy="74980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Expose routing-facing</a:t>
            </a:r>
          </a:p>
          <a:p>
            <a:pPr algn="ctr">
              <a:spcBef>
                <a:spcPts val="0"/>
              </a:spcBef>
              <a:spcAft>
                <a:spcPts val="500"/>
              </a:spcAft>
              <a:defRPr sz="1400" b="0">
                <a:solidFill>
                  <a:srgbClr val="586A80"/>
                </a:solidFill>
                <a:latin typeface="Arial"/>
              </a:defRPr>
            </a:pPr>
            <a:r>
              <a:t>backend groups</a:t>
            </a:r>
          </a:p>
        </p:txBody>
      </p:sp>
      <p:sp>
        <p:nvSpPr>
          <p:cNvPr id="30" name="TextBox 29"/>
          <p:cNvSpPr txBox="1"/>
          <p:nvPr/>
        </p:nvSpPr>
        <p:spPr>
          <a:xfrm>
            <a:off x="6227064" y="4105656"/>
            <a:ext cx="2688336" cy="365760"/>
          </a:xfrm>
          <a:prstGeom prst="rect">
            <a:avLst/>
          </a:prstGeom>
          <a:noFill/>
        </p:spPr>
        <p:txBody>
          <a:bodyPr wrap="square" lIns="13716" rIns="13716" tIns="13716" bIns="13716">
            <a:spAutoFit/>
          </a:bodyPr>
          <a:lstStyle/>
          <a:p>
            <a:pPr algn="ctr">
              <a:spcBef>
                <a:spcPts val="0"/>
              </a:spcBef>
              <a:spcAft>
                <a:spcPts val="500"/>
              </a:spcAft>
              <a:defRPr sz="1200" b="1">
                <a:solidFill>
                  <a:srgbClr val="7354B8"/>
                </a:solidFill>
                <a:latin typeface="Arial"/>
              </a:defRPr>
            </a:pPr>
            <a:r>
              <a:t>ROUTE</a:t>
            </a:r>
          </a:p>
        </p:txBody>
      </p:sp>
      <p:cxnSp>
        <p:nvCxnSpPr>
          <p:cNvPr id="31" name="Connector 30"/>
          <p:cNvCxnSpPr/>
          <p:nvPr/>
        </p:nvCxnSpPr>
        <p:spPr>
          <a:xfrm>
            <a:off x="8915400" y="3209544"/>
            <a:ext cx="91440"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9006840" y="2916936"/>
            <a:ext cx="0" cy="292608"/>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9006840" y="2916936"/>
            <a:ext cx="82296"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9089136" y="2231136"/>
            <a:ext cx="2688336" cy="13990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089136" y="2322576"/>
            <a:ext cx="50292" cy="1216152"/>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226296" y="2350008"/>
            <a:ext cx="2414016" cy="393192"/>
          </a:xfrm>
          <a:prstGeom prst="rect">
            <a:avLst/>
          </a:prstGeom>
          <a:noFill/>
        </p:spPr>
        <p:txBody>
          <a:bodyPr wrap="square" lIns="13716" rIns="13716" tIns="13716" bIns="13716">
            <a:spAutoFit/>
          </a:bodyPr>
          <a:lstStyle/>
          <a:p>
            <a:pPr algn="ctr">
              <a:spcBef>
                <a:spcPts val="0"/>
              </a:spcBef>
              <a:spcAft>
                <a:spcPts val="500"/>
              </a:spcAft>
              <a:defRPr sz="1600" b="1">
                <a:solidFill>
                  <a:srgbClr val="AE641A"/>
                </a:solidFill>
                <a:latin typeface="Arial"/>
              </a:defRPr>
            </a:pPr>
            <a:r>
              <a:t>MultiRoleInference</a:t>
            </a:r>
          </a:p>
        </p:txBody>
      </p:sp>
      <p:sp>
        <p:nvSpPr>
          <p:cNvPr id="37" name="TextBox 36"/>
          <p:cNvSpPr txBox="1"/>
          <p:nvPr/>
        </p:nvSpPr>
        <p:spPr>
          <a:xfrm>
            <a:off x="9235440" y="2788920"/>
            <a:ext cx="2395728" cy="74980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Describe role-specific</a:t>
            </a:r>
          </a:p>
          <a:p>
            <a:pPr algn="ctr">
              <a:spcBef>
                <a:spcPts val="0"/>
              </a:spcBef>
              <a:spcAft>
                <a:spcPts val="500"/>
              </a:spcAft>
              <a:defRPr sz="1400" b="0">
                <a:solidFill>
                  <a:srgbClr val="586A80"/>
                </a:solidFill>
                <a:latin typeface="Arial"/>
              </a:defRPr>
            </a:pPr>
            <a:r>
              <a:t>serving topology</a:t>
            </a:r>
          </a:p>
        </p:txBody>
      </p:sp>
      <p:sp>
        <p:nvSpPr>
          <p:cNvPr id="38" name="TextBox 37"/>
          <p:cNvSpPr txBox="1"/>
          <p:nvPr/>
        </p:nvSpPr>
        <p:spPr>
          <a:xfrm>
            <a:off x="9089136" y="3813048"/>
            <a:ext cx="2688336" cy="365760"/>
          </a:xfrm>
          <a:prstGeom prst="rect">
            <a:avLst/>
          </a:prstGeom>
          <a:noFill/>
        </p:spPr>
        <p:txBody>
          <a:bodyPr wrap="square" lIns="13716" rIns="13716" tIns="13716" bIns="13716">
            <a:spAutoFit/>
          </a:bodyPr>
          <a:lstStyle/>
          <a:p>
            <a:pPr algn="ctr">
              <a:spcBef>
                <a:spcPts val="0"/>
              </a:spcBef>
              <a:spcAft>
                <a:spcPts val="500"/>
              </a:spcAft>
              <a:defRPr sz="1200" b="1">
                <a:solidFill>
                  <a:srgbClr val="AE641A"/>
                </a:solidFill>
                <a:latin typeface="Arial"/>
              </a:defRPr>
            </a:pPr>
            <a:r>
              <a:t>COMPOSE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KAITO + LLM-D</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A continuous API model as serving gets harder</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Add capabilities without asking users to hand-assemble a new stack.</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10 / 36</a:t>
            </a:r>
          </a:p>
        </p:txBody>
      </p:sp>
      <p:sp>
        <p:nvSpPr>
          <p:cNvPr id="8" name="Rectangle 7"/>
          <p:cNvSpPr/>
          <p:nvPr/>
        </p:nvSpPr>
        <p:spPr>
          <a:xfrm>
            <a:off x="502920" y="2212848"/>
            <a:ext cx="2811780" cy="580644"/>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2331720"/>
            <a:ext cx="2615184" cy="420624"/>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USER NEED</a:t>
            </a:r>
          </a:p>
        </p:txBody>
      </p:sp>
      <p:sp>
        <p:nvSpPr>
          <p:cNvPr id="10" name="Rectangle 9"/>
          <p:cNvSpPr/>
          <p:nvPr/>
        </p:nvSpPr>
        <p:spPr>
          <a:xfrm>
            <a:off x="3337560" y="2212848"/>
            <a:ext cx="3360420" cy="580644"/>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47288" y="2331720"/>
            <a:ext cx="3163824" cy="420624"/>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KUBERNETES OBJECT</a:t>
            </a:r>
          </a:p>
        </p:txBody>
      </p:sp>
      <p:sp>
        <p:nvSpPr>
          <p:cNvPr id="12" name="Rectangle 11"/>
          <p:cNvSpPr/>
          <p:nvPr/>
        </p:nvSpPr>
        <p:spPr>
          <a:xfrm>
            <a:off x="6720840" y="2212848"/>
            <a:ext cx="4988052" cy="580644"/>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30568" y="2331720"/>
            <a:ext cx="4791456" cy="420624"/>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PLATFORM RESPONSIBILITY</a:t>
            </a:r>
          </a:p>
        </p:txBody>
      </p:sp>
      <p:sp>
        <p:nvSpPr>
          <p:cNvPr id="14" name="Rectangle 13"/>
          <p:cNvSpPr/>
          <p:nvPr/>
        </p:nvSpPr>
        <p:spPr>
          <a:xfrm>
            <a:off x="502920" y="2816352"/>
            <a:ext cx="2811780" cy="5806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2648" y="2935224"/>
            <a:ext cx="2615184" cy="420624"/>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Run one model</a:t>
            </a:r>
          </a:p>
        </p:txBody>
      </p:sp>
      <p:sp>
        <p:nvSpPr>
          <p:cNvPr id="16" name="Rectangle 15"/>
          <p:cNvSpPr/>
          <p:nvPr/>
        </p:nvSpPr>
        <p:spPr>
          <a:xfrm>
            <a:off x="3337560" y="2816352"/>
            <a:ext cx="3360420" cy="5806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447288" y="2935224"/>
            <a:ext cx="3163824" cy="420624"/>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Workspace</a:t>
            </a:r>
          </a:p>
        </p:txBody>
      </p:sp>
      <p:sp>
        <p:nvSpPr>
          <p:cNvPr id="18" name="Rectangle 17"/>
          <p:cNvSpPr/>
          <p:nvPr/>
        </p:nvSpPr>
        <p:spPr>
          <a:xfrm>
            <a:off x="6720840" y="2816352"/>
            <a:ext cx="4988052" cy="5806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30568" y="2935224"/>
            <a:ext cx="4791456" cy="420624"/>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Provision and run the workload</a:t>
            </a:r>
          </a:p>
        </p:txBody>
      </p:sp>
      <p:sp>
        <p:nvSpPr>
          <p:cNvPr id="20" name="Rectangle 19"/>
          <p:cNvSpPr/>
          <p:nvPr/>
        </p:nvSpPr>
        <p:spPr>
          <a:xfrm>
            <a:off x="502920" y="3419856"/>
            <a:ext cx="2811780" cy="58064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2648" y="3538728"/>
            <a:ext cx="2615184" cy="420624"/>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Add replicas</a:t>
            </a:r>
          </a:p>
        </p:txBody>
      </p:sp>
      <p:sp>
        <p:nvSpPr>
          <p:cNvPr id="22" name="Rectangle 21"/>
          <p:cNvSpPr/>
          <p:nvPr/>
        </p:nvSpPr>
        <p:spPr>
          <a:xfrm>
            <a:off x="3337560" y="3419856"/>
            <a:ext cx="3360420" cy="58064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447288" y="3538728"/>
            <a:ext cx="3163824" cy="420624"/>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InferenceSet</a:t>
            </a:r>
          </a:p>
        </p:txBody>
      </p:sp>
      <p:sp>
        <p:nvSpPr>
          <p:cNvPr id="24" name="Rectangle 23"/>
          <p:cNvSpPr/>
          <p:nvPr/>
        </p:nvSpPr>
        <p:spPr>
          <a:xfrm>
            <a:off x="6720840" y="3419856"/>
            <a:ext cx="4988052" cy="58064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30568" y="3538728"/>
            <a:ext cx="4791456" cy="420624"/>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Manage the replica set</a:t>
            </a:r>
          </a:p>
        </p:txBody>
      </p:sp>
      <p:sp>
        <p:nvSpPr>
          <p:cNvPr id="26" name="Rectangle 25"/>
          <p:cNvSpPr/>
          <p:nvPr/>
        </p:nvSpPr>
        <p:spPr>
          <a:xfrm>
            <a:off x="502920" y="4023360"/>
            <a:ext cx="2811780" cy="5806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2648" y="4142232"/>
            <a:ext cx="2615184" cy="420624"/>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Route intelligently</a:t>
            </a:r>
          </a:p>
        </p:txBody>
      </p:sp>
      <p:sp>
        <p:nvSpPr>
          <p:cNvPr id="28" name="Rectangle 27"/>
          <p:cNvSpPr/>
          <p:nvPr/>
        </p:nvSpPr>
        <p:spPr>
          <a:xfrm>
            <a:off x="3337560" y="4023360"/>
            <a:ext cx="3360420" cy="5806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447288" y="4142232"/>
            <a:ext cx="3163824" cy="420624"/>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InferencePool</a:t>
            </a:r>
          </a:p>
        </p:txBody>
      </p:sp>
      <p:sp>
        <p:nvSpPr>
          <p:cNvPr id="30" name="Rectangle 29"/>
          <p:cNvSpPr/>
          <p:nvPr/>
        </p:nvSpPr>
        <p:spPr>
          <a:xfrm>
            <a:off x="6720840" y="4023360"/>
            <a:ext cx="4988052" cy="5806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30568" y="4142232"/>
            <a:ext cx="4791456" cy="420624"/>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Integrate inference-aware routing</a:t>
            </a:r>
          </a:p>
        </p:txBody>
      </p:sp>
      <p:sp>
        <p:nvSpPr>
          <p:cNvPr id="32" name="Rectangle 31"/>
          <p:cNvSpPr/>
          <p:nvPr/>
        </p:nvSpPr>
        <p:spPr>
          <a:xfrm>
            <a:off x="502920" y="4626864"/>
            <a:ext cx="2811780" cy="58064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12648" y="4745736"/>
            <a:ext cx="2615184" cy="420624"/>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Split roles</a:t>
            </a:r>
          </a:p>
        </p:txBody>
      </p:sp>
      <p:sp>
        <p:nvSpPr>
          <p:cNvPr id="34" name="Rectangle 33"/>
          <p:cNvSpPr/>
          <p:nvPr/>
        </p:nvSpPr>
        <p:spPr>
          <a:xfrm>
            <a:off x="3337560" y="4626864"/>
            <a:ext cx="3360420" cy="58064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447288" y="4745736"/>
            <a:ext cx="3163824" cy="420624"/>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MultiRoleInference</a:t>
            </a:r>
          </a:p>
        </p:txBody>
      </p:sp>
      <p:sp>
        <p:nvSpPr>
          <p:cNvPr id="36" name="Rectangle 35"/>
          <p:cNvSpPr/>
          <p:nvPr/>
        </p:nvSpPr>
        <p:spPr>
          <a:xfrm>
            <a:off x="6720840" y="4626864"/>
            <a:ext cx="4988052" cy="58064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830568" y="4745736"/>
            <a:ext cx="4791456" cy="420624"/>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Reconcile a multi-role topology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KAITO + LLM-D</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Clear responsibilities across the stack</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The stack works because each layer has a different job.</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KAITO composes the platform; llm-d routes; the runtime executes.</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11 / 36</a:t>
            </a:r>
          </a:p>
        </p:txBody>
      </p:sp>
      <p:sp>
        <p:nvSpPr>
          <p:cNvPr id="10" name="Rounded Rectangle 9"/>
          <p:cNvSpPr/>
          <p:nvPr/>
        </p:nvSpPr>
        <p:spPr>
          <a:xfrm>
            <a:off x="502920" y="2130552"/>
            <a:ext cx="11183112" cy="9418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395728"/>
            <a:ext cx="3493008" cy="384048"/>
          </a:xfrm>
          <a:prstGeom prst="rect">
            <a:avLst/>
          </a:prstGeom>
          <a:noFill/>
        </p:spPr>
        <p:txBody>
          <a:bodyPr wrap="square" lIns="13716" rIns="13716" tIns="13716" bIns="13716">
            <a:spAutoFit/>
          </a:bodyPr>
          <a:lstStyle/>
          <a:p>
            <a:pPr>
              <a:spcBef>
                <a:spcPts val="0"/>
              </a:spcBef>
              <a:spcAft>
                <a:spcPts val="500"/>
              </a:spcAft>
              <a:defRPr sz="1800" b="1">
                <a:solidFill>
                  <a:srgbClr val="2563EB"/>
                </a:solidFill>
                <a:latin typeface="Arial"/>
              </a:defRPr>
            </a:pPr>
            <a:r>
              <a:t>KAITO</a:t>
            </a:r>
          </a:p>
        </p:txBody>
      </p:sp>
      <p:sp>
        <p:nvSpPr>
          <p:cNvPr id="12" name="TextBox 11"/>
          <p:cNvSpPr txBox="1"/>
          <p:nvPr/>
        </p:nvSpPr>
        <p:spPr>
          <a:xfrm>
            <a:off x="4389120" y="2395728"/>
            <a:ext cx="7040880" cy="457200"/>
          </a:xfrm>
          <a:prstGeom prst="rect">
            <a:avLst/>
          </a:prstGeom>
          <a:noFill/>
        </p:spPr>
        <p:txBody>
          <a:bodyPr wrap="square" lIns="13716" rIns="13716" tIns="13716" bIns="13716">
            <a:spAutoFit/>
          </a:bodyPr>
          <a:lstStyle/>
          <a:p>
            <a:pPr>
              <a:spcBef>
                <a:spcPts val="0"/>
              </a:spcBef>
              <a:spcAft>
                <a:spcPts val="500"/>
              </a:spcAft>
              <a:defRPr sz="1700" b="0">
                <a:solidFill>
                  <a:srgbClr val="172941"/>
                </a:solidFill>
                <a:latin typeface="Arial"/>
              </a:defRPr>
            </a:pPr>
            <a:r>
              <a:t>Declarative APIs • child resources • lifecycle orchestration</a:t>
            </a:r>
          </a:p>
        </p:txBody>
      </p:sp>
      <p:cxnSp>
        <p:nvCxnSpPr>
          <p:cNvPr id="13" name="Connector 12"/>
          <p:cNvCxnSpPr/>
          <p:nvPr/>
        </p:nvCxnSpPr>
        <p:spPr>
          <a:xfrm>
            <a:off x="6099048" y="3072384"/>
            <a:ext cx="0" cy="182880"/>
          </a:xfrm>
          <a:prstGeom prst="line">
            <a:avLst/>
          </a:prstGeom>
          <a:ln w="1905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502920" y="3255264"/>
            <a:ext cx="11183112" cy="9418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3520440"/>
            <a:ext cx="3493008" cy="384048"/>
          </a:xfrm>
          <a:prstGeom prst="rect">
            <a:avLst/>
          </a:prstGeom>
          <a:noFill/>
        </p:spPr>
        <p:txBody>
          <a:bodyPr wrap="square" lIns="13716" rIns="13716" tIns="13716" bIns="13716">
            <a:spAutoFit/>
          </a:bodyPr>
          <a:lstStyle/>
          <a:p>
            <a:pPr>
              <a:spcBef>
                <a:spcPts val="0"/>
              </a:spcBef>
              <a:spcAft>
                <a:spcPts val="500"/>
              </a:spcAft>
              <a:defRPr sz="1800" b="1">
                <a:solidFill>
                  <a:srgbClr val="087F8C"/>
                </a:solidFill>
                <a:latin typeface="Arial"/>
              </a:defRPr>
            </a:pPr>
            <a:r>
              <a:t>llm-d Router / EPP</a:t>
            </a:r>
          </a:p>
        </p:txBody>
      </p:sp>
      <p:sp>
        <p:nvSpPr>
          <p:cNvPr id="16" name="TextBox 15"/>
          <p:cNvSpPr txBox="1"/>
          <p:nvPr/>
        </p:nvSpPr>
        <p:spPr>
          <a:xfrm>
            <a:off x="4389120" y="3520440"/>
            <a:ext cx="7040880" cy="457200"/>
          </a:xfrm>
          <a:prstGeom prst="rect">
            <a:avLst/>
          </a:prstGeom>
          <a:noFill/>
        </p:spPr>
        <p:txBody>
          <a:bodyPr wrap="square" lIns="13716" rIns="13716" tIns="13716" bIns="13716">
            <a:spAutoFit/>
          </a:bodyPr>
          <a:lstStyle/>
          <a:p>
            <a:pPr>
              <a:spcBef>
                <a:spcPts val="0"/>
              </a:spcBef>
              <a:spcAft>
                <a:spcPts val="500"/>
              </a:spcAft>
              <a:defRPr sz="1700" b="0">
                <a:solidFill>
                  <a:srgbClr val="172941"/>
                </a:solidFill>
                <a:latin typeface="Arial"/>
              </a:defRPr>
            </a:pPr>
            <a:r>
              <a:t>Inference-aware endpoint selection and scheduling</a:t>
            </a:r>
          </a:p>
        </p:txBody>
      </p:sp>
      <p:cxnSp>
        <p:nvCxnSpPr>
          <p:cNvPr id="17" name="Connector 16"/>
          <p:cNvCxnSpPr/>
          <p:nvPr/>
        </p:nvCxnSpPr>
        <p:spPr>
          <a:xfrm>
            <a:off x="6099048" y="4197096"/>
            <a:ext cx="0" cy="182880"/>
          </a:xfrm>
          <a:prstGeom prst="line">
            <a:avLst/>
          </a:prstGeom>
          <a:ln w="1905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502920" y="4379976"/>
            <a:ext cx="11183112" cy="9418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4645152"/>
            <a:ext cx="3493008" cy="384048"/>
          </a:xfrm>
          <a:prstGeom prst="rect">
            <a:avLst/>
          </a:prstGeom>
          <a:noFill/>
        </p:spPr>
        <p:txBody>
          <a:bodyPr wrap="square" lIns="13716" rIns="13716" tIns="13716" bIns="13716">
            <a:spAutoFit/>
          </a:bodyPr>
          <a:lstStyle/>
          <a:p>
            <a:pPr>
              <a:spcBef>
                <a:spcPts val="0"/>
              </a:spcBef>
              <a:spcAft>
                <a:spcPts val="500"/>
              </a:spcAft>
              <a:defRPr sz="1800" b="1">
                <a:solidFill>
                  <a:srgbClr val="7354B8"/>
                </a:solidFill>
                <a:latin typeface="Arial"/>
              </a:defRPr>
            </a:pPr>
            <a:r>
              <a:t>Runtime + KV transport</a:t>
            </a:r>
          </a:p>
        </p:txBody>
      </p:sp>
      <p:sp>
        <p:nvSpPr>
          <p:cNvPr id="20" name="TextBox 19"/>
          <p:cNvSpPr txBox="1"/>
          <p:nvPr/>
        </p:nvSpPr>
        <p:spPr>
          <a:xfrm>
            <a:off x="4389120" y="4645152"/>
            <a:ext cx="7040880" cy="457200"/>
          </a:xfrm>
          <a:prstGeom prst="rect">
            <a:avLst/>
          </a:prstGeom>
          <a:noFill/>
        </p:spPr>
        <p:txBody>
          <a:bodyPr wrap="square" lIns="13716" rIns="13716" tIns="13716" bIns="13716">
            <a:spAutoFit/>
          </a:bodyPr>
          <a:lstStyle/>
          <a:p>
            <a:pPr>
              <a:spcBef>
                <a:spcPts val="0"/>
              </a:spcBef>
              <a:spcAft>
                <a:spcPts val="500"/>
              </a:spcAft>
              <a:defRPr sz="1700" b="0">
                <a:solidFill>
                  <a:srgbClr val="172941"/>
                </a:solidFill>
                <a:latin typeface="Arial"/>
              </a:defRPr>
            </a:pPr>
            <a:r>
              <a:t>Prefill computation • KV movement • token generation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KAITO + LLM-D</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The stack is composable—not a custom monolith</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Kubernetes resources connect routing, execution, transfer, and scaling.</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12 / 36</a:t>
            </a:r>
          </a:p>
        </p:txBody>
      </p:sp>
      <p:sp>
        <p:nvSpPr>
          <p:cNvPr id="8" name="Rounded Rectangle 7"/>
          <p:cNvSpPr/>
          <p:nvPr/>
        </p:nvSpPr>
        <p:spPr>
          <a:xfrm>
            <a:off x="502920" y="2176272"/>
            <a:ext cx="3611880" cy="13716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2267712"/>
            <a:ext cx="50292" cy="11887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295144"/>
            <a:ext cx="333756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2563EB"/>
                </a:solidFill>
                <a:latin typeface="Arial"/>
              </a:defRPr>
            </a:pPr>
            <a:r>
              <a:t>Gateway API + GWIE</a:t>
            </a:r>
          </a:p>
        </p:txBody>
      </p:sp>
      <p:sp>
        <p:nvSpPr>
          <p:cNvPr id="11" name="TextBox 10"/>
          <p:cNvSpPr txBox="1"/>
          <p:nvPr/>
        </p:nvSpPr>
        <p:spPr>
          <a:xfrm>
            <a:off x="649224" y="2734056"/>
            <a:ext cx="3319272" cy="7223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Gateway • HTTPRoute • InferencePool</a:t>
            </a:r>
          </a:p>
        </p:txBody>
      </p:sp>
      <p:sp>
        <p:nvSpPr>
          <p:cNvPr id="12" name="Rounded Rectangle 11"/>
          <p:cNvSpPr/>
          <p:nvPr/>
        </p:nvSpPr>
        <p:spPr>
          <a:xfrm>
            <a:off x="4288536" y="2176272"/>
            <a:ext cx="3611880" cy="13716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88536" y="2267712"/>
            <a:ext cx="50292" cy="11887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25696" y="2295144"/>
            <a:ext cx="333756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087F8C"/>
                </a:solidFill>
                <a:latin typeface="Arial"/>
              </a:defRPr>
            </a:pPr>
            <a:r>
              <a:t>llm-d</a:t>
            </a:r>
          </a:p>
        </p:txBody>
      </p:sp>
      <p:sp>
        <p:nvSpPr>
          <p:cNvPr id="15" name="TextBox 14"/>
          <p:cNvSpPr txBox="1"/>
          <p:nvPr/>
        </p:nvSpPr>
        <p:spPr>
          <a:xfrm>
            <a:off x="4434840" y="2734056"/>
            <a:ext cx="3319272" cy="7223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EPP + routing sidecar</a:t>
            </a:r>
          </a:p>
        </p:txBody>
      </p:sp>
      <p:sp>
        <p:nvSpPr>
          <p:cNvPr id="16" name="Rounded Rectangle 15"/>
          <p:cNvSpPr/>
          <p:nvPr/>
        </p:nvSpPr>
        <p:spPr>
          <a:xfrm>
            <a:off x="8074152" y="2176272"/>
            <a:ext cx="3611880" cy="13716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4152" y="2267712"/>
            <a:ext cx="50292" cy="11887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11312" y="2295144"/>
            <a:ext cx="333756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7354B8"/>
                </a:solidFill>
                <a:latin typeface="Arial"/>
              </a:defRPr>
            </a:pPr>
            <a:r>
              <a:t>vLLM</a:t>
            </a:r>
          </a:p>
        </p:txBody>
      </p:sp>
      <p:sp>
        <p:nvSpPr>
          <p:cNvPr id="19" name="TextBox 18"/>
          <p:cNvSpPr txBox="1"/>
          <p:nvPr/>
        </p:nvSpPr>
        <p:spPr>
          <a:xfrm>
            <a:off x="8220456" y="2734056"/>
            <a:ext cx="3319272" cy="7223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Serving runtime</a:t>
            </a:r>
          </a:p>
        </p:txBody>
      </p:sp>
      <p:sp>
        <p:nvSpPr>
          <p:cNvPr id="20" name="Rounded Rectangle 19"/>
          <p:cNvSpPr/>
          <p:nvPr/>
        </p:nvSpPr>
        <p:spPr>
          <a:xfrm>
            <a:off x="502920" y="3977639"/>
            <a:ext cx="3611880" cy="13716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02920" y="4069079"/>
            <a:ext cx="50292" cy="11887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4096511"/>
            <a:ext cx="333756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087F8C"/>
                </a:solidFill>
                <a:latin typeface="Arial"/>
              </a:defRPr>
            </a:pPr>
            <a:r>
              <a:t>NIXL</a:t>
            </a:r>
          </a:p>
        </p:txBody>
      </p:sp>
      <p:sp>
        <p:nvSpPr>
          <p:cNvPr id="23" name="TextBox 22"/>
          <p:cNvSpPr txBox="1"/>
          <p:nvPr/>
        </p:nvSpPr>
        <p:spPr>
          <a:xfrm>
            <a:off x="649224" y="4535423"/>
            <a:ext cx="3319272" cy="7223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KV-transfer integration</a:t>
            </a:r>
          </a:p>
        </p:txBody>
      </p:sp>
      <p:sp>
        <p:nvSpPr>
          <p:cNvPr id="24" name="Rounded Rectangle 23"/>
          <p:cNvSpPr/>
          <p:nvPr/>
        </p:nvSpPr>
        <p:spPr>
          <a:xfrm>
            <a:off x="4288536" y="3977639"/>
            <a:ext cx="3611880" cy="13716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288536" y="4069079"/>
            <a:ext cx="50292" cy="1188720"/>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25696" y="4096511"/>
            <a:ext cx="333756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AE641A"/>
                </a:solidFill>
                <a:latin typeface="Arial"/>
              </a:defRPr>
            </a:pPr>
            <a:r>
              <a:t>KEDA</a:t>
            </a:r>
          </a:p>
        </p:txBody>
      </p:sp>
      <p:sp>
        <p:nvSpPr>
          <p:cNvPr id="27" name="TextBox 26"/>
          <p:cNvSpPr txBox="1"/>
          <p:nvPr/>
        </p:nvSpPr>
        <p:spPr>
          <a:xfrm>
            <a:off x="4434840" y="4535423"/>
            <a:ext cx="3319272" cy="7223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InferenceSet autoscaling</a:t>
            </a:r>
          </a:p>
        </p:txBody>
      </p:sp>
      <p:sp>
        <p:nvSpPr>
          <p:cNvPr id="28" name="Rounded Rectangle 27"/>
          <p:cNvSpPr/>
          <p:nvPr/>
        </p:nvSpPr>
        <p:spPr>
          <a:xfrm>
            <a:off x="8074152" y="3977639"/>
            <a:ext cx="3611880" cy="13716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074152" y="4069079"/>
            <a:ext cx="50292" cy="11887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11312" y="4096511"/>
            <a:ext cx="333756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2563EB"/>
                </a:solidFill>
                <a:latin typeface="Arial"/>
              </a:defRPr>
            </a:pPr>
            <a:r>
              <a:t>KAITO</a:t>
            </a:r>
          </a:p>
        </p:txBody>
      </p:sp>
      <p:sp>
        <p:nvSpPr>
          <p:cNvPr id="31" name="TextBox 30"/>
          <p:cNvSpPr txBox="1"/>
          <p:nvPr/>
        </p:nvSpPr>
        <p:spPr>
          <a:xfrm>
            <a:off x="8220456" y="4535423"/>
            <a:ext cx="3319272" cy="7223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Reconcile the declared topology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KAITO + LLM-D</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Declare roles once with MultiRoleInference</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One logical service, two independently configurable child InferenceSets.</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Role settings describe capacity; controller reconciliation supplies the wiring.</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13 / 36</a:t>
            </a:r>
          </a:p>
        </p:txBody>
      </p:sp>
      <p:sp>
        <p:nvSpPr>
          <p:cNvPr id="10" name="Rounded Rectangle 9"/>
          <p:cNvSpPr/>
          <p:nvPr/>
        </p:nvSpPr>
        <p:spPr>
          <a:xfrm>
            <a:off x="4069080" y="2057400"/>
            <a:ext cx="4050791" cy="8686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069080" y="2148840"/>
            <a:ext cx="50292" cy="68580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206240" y="2176272"/>
            <a:ext cx="3776472" cy="393192"/>
          </a:xfrm>
          <a:prstGeom prst="rect">
            <a:avLst/>
          </a:prstGeom>
          <a:noFill/>
        </p:spPr>
        <p:txBody>
          <a:bodyPr wrap="square" lIns="13716" rIns="13716" tIns="13716" bIns="13716">
            <a:spAutoFit/>
          </a:bodyPr>
          <a:lstStyle/>
          <a:p>
            <a:pPr algn="ctr">
              <a:spcBef>
                <a:spcPts val="0"/>
              </a:spcBef>
              <a:spcAft>
                <a:spcPts val="500"/>
              </a:spcAft>
              <a:defRPr sz="2000" b="1">
                <a:solidFill>
                  <a:srgbClr val="2563EB"/>
                </a:solidFill>
                <a:latin typeface="Arial"/>
              </a:defRPr>
            </a:pPr>
            <a:r>
              <a:t>MultiRoleInference</a:t>
            </a:r>
          </a:p>
        </p:txBody>
      </p:sp>
      <p:sp>
        <p:nvSpPr>
          <p:cNvPr id="13" name="TextBox 12"/>
          <p:cNvSpPr txBox="1"/>
          <p:nvPr/>
        </p:nvSpPr>
        <p:spPr>
          <a:xfrm>
            <a:off x="4215384" y="2615184"/>
            <a:ext cx="3758183" cy="21945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One desired topology</a:t>
            </a:r>
          </a:p>
        </p:txBody>
      </p:sp>
      <p:sp>
        <p:nvSpPr>
          <p:cNvPr id="14" name="Rounded Rectangle 13"/>
          <p:cNvSpPr/>
          <p:nvPr/>
        </p:nvSpPr>
        <p:spPr>
          <a:xfrm>
            <a:off x="731520" y="3557016"/>
            <a:ext cx="5029200" cy="167335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31520" y="3648456"/>
            <a:ext cx="50292" cy="149047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3675888"/>
            <a:ext cx="475488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087F8C"/>
                </a:solidFill>
                <a:latin typeface="Arial"/>
              </a:defRPr>
            </a:pPr>
            <a:r>
              <a:t>prefill InferenceSet</a:t>
            </a:r>
          </a:p>
        </p:txBody>
      </p:sp>
      <p:sp>
        <p:nvSpPr>
          <p:cNvPr id="17" name="TextBox 16"/>
          <p:cNvSpPr txBox="1"/>
          <p:nvPr/>
        </p:nvSpPr>
        <p:spPr>
          <a:xfrm>
            <a:off x="877824" y="4114800"/>
            <a:ext cx="4736592" cy="102412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Replica count • instance type</a:t>
            </a:r>
          </a:p>
          <a:p>
            <a:pPr algn="ctr">
              <a:spcBef>
                <a:spcPts val="0"/>
              </a:spcBef>
              <a:spcAft>
                <a:spcPts val="500"/>
              </a:spcAft>
              <a:defRPr sz="1400" b="0">
                <a:solidFill>
                  <a:srgbClr val="586A80"/>
                </a:solidFill>
                <a:latin typeface="Arial"/>
              </a:defRPr>
            </a:pPr>
            <a:r>
              <a:t>Tensor parallelism • vLLM configuration</a:t>
            </a:r>
          </a:p>
        </p:txBody>
      </p:sp>
      <p:sp>
        <p:nvSpPr>
          <p:cNvPr id="18" name="Rounded Rectangle 17"/>
          <p:cNvSpPr/>
          <p:nvPr/>
        </p:nvSpPr>
        <p:spPr>
          <a:xfrm>
            <a:off x="6428232" y="3557016"/>
            <a:ext cx="5029200" cy="167335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28232" y="3648456"/>
            <a:ext cx="50292" cy="149047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65392" y="3675888"/>
            <a:ext cx="475488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7354B8"/>
                </a:solidFill>
                <a:latin typeface="Arial"/>
              </a:defRPr>
            </a:pPr>
            <a:r>
              <a:t>decode InferenceSet</a:t>
            </a:r>
          </a:p>
        </p:txBody>
      </p:sp>
      <p:sp>
        <p:nvSpPr>
          <p:cNvPr id="21" name="TextBox 20"/>
          <p:cNvSpPr txBox="1"/>
          <p:nvPr/>
        </p:nvSpPr>
        <p:spPr>
          <a:xfrm>
            <a:off x="6574536" y="4114800"/>
            <a:ext cx="4736592" cy="102412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Replica count • instance type</a:t>
            </a:r>
          </a:p>
          <a:p>
            <a:pPr algn="ctr">
              <a:spcBef>
                <a:spcPts val="0"/>
              </a:spcBef>
              <a:spcAft>
                <a:spcPts val="500"/>
              </a:spcAft>
              <a:defRPr sz="1400" b="0">
                <a:solidFill>
                  <a:srgbClr val="586A80"/>
                </a:solidFill>
                <a:latin typeface="Arial"/>
              </a:defRPr>
            </a:pPr>
            <a:r>
              <a:t>Tensor parallelism • vLLM configuration</a:t>
            </a:r>
          </a:p>
        </p:txBody>
      </p:sp>
      <p:cxnSp>
        <p:nvCxnSpPr>
          <p:cNvPr id="22" name="Connector 21"/>
          <p:cNvCxnSpPr/>
          <p:nvPr/>
        </p:nvCxnSpPr>
        <p:spPr>
          <a:xfrm>
            <a:off x="6089904" y="2926080"/>
            <a:ext cx="0" cy="292608"/>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H="1">
            <a:off x="3246120" y="3218688"/>
            <a:ext cx="2843784"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246120" y="3218688"/>
            <a:ext cx="0" cy="338328"/>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6089904" y="3218688"/>
            <a:ext cx="2852928"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8942832" y="3218688"/>
            <a:ext cx="0" cy="338328"/>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ARCHITECTURE</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One API endpoint, a role-aware serving path</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Solid arrows: request/data flow. Dashed arrows: scheduling or reconciliation.</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14 / 36</a:t>
            </a:r>
          </a:p>
        </p:txBody>
      </p:sp>
      <p:sp>
        <p:nvSpPr>
          <p:cNvPr id="8" name="Rounded Rectangle 7"/>
          <p:cNvSpPr/>
          <p:nvPr/>
        </p:nvSpPr>
        <p:spPr>
          <a:xfrm>
            <a:off x="502920" y="2350008"/>
            <a:ext cx="1234440" cy="10058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2441448"/>
            <a:ext cx="50292" cy="82296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468879"/>
            <a:ext cx="960120" cy="393192"/>
          </a:xfrm>
          <a:prstGeom prst="rect">
            <a:avLst/>
          </a:prstGeom>
          <a:noFill/>
        </p:spPr>
        <p:txBody>
          <a:bodyPr wrap="square" lIns="13716" rIns="13716" tIns="13716" bIns="13716">
            <a:spAutoFit/>
          </a:bodyPr>
          <a:lstStyle/>
          <a:p>
            <a:pPr algn="ctr">
              <a:spcBef>
                <a:spcPts val="0"/>
              </a:spcBef>
              <a:spcAft>
                <a:spcPts val="500"/>
              </a:spcAft>
              <a:defRPr sz="1700" b="1">
                <a:solidFill>
                  <a:srgbClr val="2563EB"/>
                </a:solidFill>
                <a:latin typeface="Arial"/>
              </a:defRPr>
            </a:pPr>
            <a:r>
              <a:t>Client</a:t>
            </a:r>
          </a:p>
        </p:txBody>
      </p:sp>
      <p:sp>
        <p:nvSpPr>
          <p:cNvPr id="11" name="TextBox 10"/>
          <p:cNvSpPr txBox="1"/>
          <p:nvPr/>
        </p:nvSpPr>
        <p:spPr>
          <a:xfrm>
            <a:off x="649224" y="2907792"/>
            <a:ext cx="941832" cy="35661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API call</a:t>
            </a:r>
          </a:p>
        </p:txBody>
      </p:sp>
      <p:sp>
        <p:nvSpPr>
          <p:cNvPr id="12" name="Rounded Rectangle 11"/>
          <p:cNvSpPr/>
          <p:nvPr/>
        </p:nvSpPr>
        <p:spPr>
          <a:xfrm>
            <a:off x="2157984" y="2350008"/>
            <a:ext cx="1901952" cy="10058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157984" y="2441448"/>
            <a:ext cx="50292" cy="82296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295144" y="2468879"/>
            <a:ext cx="1627632" cy="393192"/>
          </a:xfrm>
          <a:prstGeom prst="rect">
            <a:avLst/>
          </a:prstGeom>
          <a:noFill/>
        </p:spPr>
        <p:txBody>
          <a:bodyPr wrap="square" lIns="13716" rIns="13716" tIns="13716" bIns="13716">
            <a:spAutoFit/>
          </a:bodyPr>
          <a:lstStyle/>
          <a:p>
            <a:pPr algn="ctr">
              <a:spcBef>
                <a:spcPts val="0"/>
              </a:spcBef>
              <a:spcAft>
                <a:spcPts val="500"/>
              </a:spcAft>
              <a:defRPr sz="1900" b="1">
                <a:solidFill>
                  <a:srgbClr val="2563EB"/>
                </a:solidFill>
                <a:latin typeface="Arial"/>
              </a:defRPr>
            </a:pPr>
            <a:r>
              <a:t>Gateway</a:t>
            </a:r>
          </a:p>
        </p:txBody>
      </p:sp>
      <p:sp>
        <p:nvSpPr>
          <p:cNvPr id="15" name="TextBox 14"/>
          <p:cNvSpPr txBox="1"/>
          <p:nvPr/>
        </p:nvSpPr>
        <p:spPr>
          <a:xfrm>
            <a:off x="2304288" y="2907792"/>
            <a:ext cx="1609344" cy="35661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HTTPRoute</a:t>
            </a:r>
          </a:p>
        </p:txBody>
      </p:sp>
      <p:sp>
        <p:nvSpPr>
          <p:cNvPr id="16" name="Rounded Rectangle 15"/>
          <p:cNvSpPr/>
          <p:nvPr/>
        </p:nvSpPr>
        <p:spPr>
          <a:xfrm>
            <a:off x="2157984" y="4114800"/>
            <a:ext cx="1901952" cy="10058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157984" y="4206240"/>
            <a:ext cx="50292" cy="82296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295144" y="4233672"/>
            <a:ext cx="1627632" cy="393192"/>
          </a:xfrm>
          <a:prstGeom prst="rect">
            <a:avLst/>
          </a:prstGeom>
          <a:noFill/>
        </p:spPr>
        <p:txBody>
          <a:bodyPr wrap="square" lIns="13716" rIns="13716" tIns="13716" bIns="13716">
            <a:spAutoFit/>
          </a:bodyPr>
          <a:lstStyle/>
          <a:p>
            <a:pPr algn="ctr">
              <a:spcBef>
                <a:spcPts val="0"/>
              </a:spcBef>
              <a:spcAft>
                <a:spcPts val="500"/>
              </a:spcAft>
              <a:defRPr sz="1800" b="1">
                <a:solidFill>
                  <a:srgbClr val="087F8C"/>
                </a:solidFill>
                <a:latin typeface="Arial"/>
              </a:defRPr>
            </a:pPr>
            <a:r>
              <a:t>llm-d EPP</a:t>
            </a:r>
          </a:p>
        </p:txBody>
      </p:sp>
      <p:sp>
        <p:nvSpPr>
          <p:cNvPr id="19" name="TextBox 18"/>
          <p:cNvSpPr txBox="1"/>
          <p:nvPr/>
        </p:nvSpPr>
        <p:spPr>
          <a:xfrm>
            <a:off x="2304288" y="4672583"/>
            <a:ext cx="1609344" cy="35661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Pick P + D</a:t>
            </a:r>
          </a:p>
        </p:txBody>
      </p:sp>
      <p:sp>
        <p:nvSpPr>
          <p:cNvPr id="20" name="Rounded Rectangle 19"/>
          <p:cNvSpPr/>
          <p:nvPr/>
        </p:nvSpPr>
        <p:spPr>
          <a:xfrm>
            <a:off x="4636008" y="2350008"/>
            <a:ext cx="2322576" cy="10058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636008" y="2441448"/>
            <a:ext cx="50292" cy="82296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73168" y="2468879"/>
            <a:ext cx="2048256" cy="393192"/>
          </a:xfrm>
          <a:prstGeom prst="rect">
            <a:avLst/>
          </a:prstGeom>
          <a:noFill/>
        </p:spPr>
        <p:txBody>
          <a:bodyPr wrap="square" lIns="13716" rIns="13716" tIns="13716" bIns="13716">
            <a:spAutoFit/>
          </a:bodyPr>
          <a:lstStyle/>
          <a:p>
            <a:pPr algn="ctr">
              <a:spcBef>
                <a:spcPts val="0"/>
              </a:spcBef>
              <a:spcAft>
                <a:spcPts val="500"/>
              </a:spcAft>
              <a:defRPr sz="1800" b="1">
                <a:solidFill>
                  <a:srgbClr val="7354B8"/>
                </a:solidFill>
                <a:latin typeface="Arial"/>
              </a:defRPr>
            </a:pPr>
            <a:r>
              <a:t>Decode proxy</a:t>
            </a:r>
          </a:p>
        </p:txBody>
      </p:sp>
      <p:sp>
        <p:nvSpPr>
          <p:cNvPr id="23" name="TextBox 22"/>
          <p:cNvSpPr txBox="1"/>
          <p:nvPr/>
        </p:nvSpPr>
        <p:spPr>
          <a:xfrm>
            <a:off x="4782312" y="2907792"/>
            <a:ext cx="2029968" cy="35661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Orchestrate request</a:t>
            </a:r>
          </a:p>
        </p:txBody>
      </p:sp>
      <p:sp>
        <p:nvSpPr>
          <p:cNvPr id="24" name="Rounded Rectangle 23"/>
          <p:cNvSpPr/>
          <p:nvPr/>
        </p:nvSpPr>
        <p:spPr>
          <a:xfrm>
            <a:off x="8641080" y="2176272"/>
            <a:ext cx="2999232" cy="1143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641080" y="2267712"/>
            <a:ext cx="50292" cy="9601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778240" y="2295144"/>
            <a:ext cx="2724912" cy="393192"/>
          </a:xfrm>
          <a:prstGeom prst="rect">
            <a:avLst/>
          </a:prstGeom>
          <a:noFill/>
        </p:spPr>
        <p:txBody>
          <a:bodyPr wrap="square" lIns="13716" rIns="13716" tIns="13716" bIns="13716">
            <a:spAutoFit/>
          </a:bodyPr>
          <a:lstStyle/>
          <a:p>
            <a:pPr algn="ctr">
              <a:spcBef>
                <a:spcPts val="0"/>
              </a:spcBef>
              <a:spcAft>
                <a:spcPts val="500"/>
              </a:spcAft>
              <a:defRPr sz="2000" b="1">
                <a:solidFill>
                  <a:srgbClr val="087F8C"/>
                </a:solidFill>
                <a:latin typeface="Arial"/>
              </a:defRPr>
            </a:pPr>
            <a:r>
              <a:t>Prefill workers</a:t>
            </a:r>
          </a:p>
        </p:txBody>
      </p:sp>
      <p:sp>
        <p:nvSpPr>
          <p:cNvPr id="27" name="TextBox 26"/>
          <p:cNvSpPr txBox="1"/>
          <p:nvPr/>
        </p:nvSpPr>
        <p:spPr>
          <a:xfrm>
            <a:off x="8787384" y="2734056"/>
            <a:ext cx="2706624" cy="4937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Compute prompt KV</a:t>
            </a:r>
          </a:p>
        </p:txBody>
      </p:sp>
      <p:sp>
        <p:nvSpPr>
          <p:cNvPr id="28" name="Rounded Rectangle 27"/>
          <p:cNvSpPr/>
          <p:nvPr/>
        </p:nvSpPr>
        <p:spPr>
          <a:xfrm>
            <a:off x="8641080" y="4114800"/>
            <a:ext cx="2999232" cy="1143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641080" y="4206240"/>
            <a:ext cx="50292" cy="9601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778240" y="4233672"/>
            <a:ext cx="2724912" cy="393192"/>
          </a:xfrm>
          <a:prstGeom prst="rect">
            <a:avLst/>
          </a:prstGeom>
          <a:noFill/>
        </p:spPr>
        <p:txBody>
          <a:bodyPr wrap="square" lIns="13716" rIns="13716" tIns="13716" bIns="13716">
            <a:spAutoFit/>
          </a:bodyPr>
          <a:lstStyle/>
          <a:p>
            <a:pPr algn="ctr">
              <a:spcBef>
                <a:spcPts val="0"/>
              </a:spcBef>
              <a:spcAft>
                <a:spcPts val="500"/>
              </a:spcAft>
              <a:defRPr sz="2000" b="1">
                <a:solidFill>
                  <a:srgbClr val="7354B8"/>
                </a:solidFill>
                <a:latin typeface="Arial"/>
              </a:defRPr>
            </a:pPr>
            <a:r>
              <a:t>Decode workers</a:t>
            </a:r>
          </a:p>
        </p:txBody>
      </p:sp>
      <p:sp>
        <p:nvSpPr>
          <p:cNvPr id="31" name="TextBox 30"/>
          <p:cNvSpPr txBox="1"/>
          <p:nvPr/>
        </p:nvSpPr>
        <p:spPr>
          <a:xfrm>
            <a:off x="8787384" y="4672583"/>
            <a:ext cx="2706624" cy="4937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Generate token stream</a:t>
            </a:r>
          </a:p>
        </p:txBody>
      </p:sp>
      <p:cxnSp>
        <p:nvCxnSpPr>
          <p:cNvPr id="32" name="Connector 31"/>
          <p:cNvCxnSpPr/>
          <p:nvPr/>
        </p:nvCxnSpPr>
        <p:spPr>
          <a:xfrm>
            <a:off x="1737360" y="2852928"/>
            <a:ext cx="420624"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4059936" y="2852928"/>
            <a:ext cx="576072"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2880360" y="3355848"/>
            <a:ext cx="0" cy="758952"/>
          </a:xfrm>
          <a:prstGeom prst="line">
            <a:avLst/>
          </a:prstGeom>
          <a:ln w="25400">
            <a:solidFill>
              <a:srgbClr val="087F8C"/>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3383280" y="3355848"/>
            <a:ext cx="0" cy="758952"/>
          </a:xfrm>
          <a:prstGeom prst="line">
            <a:avLst/>
          </a:prstGeom>
          <a:ln w="25400">
            <a:solidFill>
              <a:srgbClr val="087F8C"/>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502920" y="4279392"/>
            <a:ext cx="1463040" cy="640080"/>
          </a:xfrm>
          <a:prstGeom prst="rect">
            <a:avLst/>
          </a:prstGeom>
          <a:noFill/>
        </p:spPr>
        <p:txBody>
          <a:bodyPr wrap="square" lIns="13716" rIns="13716" tIns="13716" bIns="13716">
            <a:spAutoFit/>
          </a:bodyPr>
          <a:lstStyle/>
          <a:p>
            <a:pPr algn="ctr">
              <a:spcBef>
                <a:spcPts val="0"/>
              </a:spcBef>
              <a:spcAft>
                <a:spcPts val="500"/>
              </a:spcAft>
              <a:defRPr sz="1200" b="0">
                <a:solidFill>
                  <a:srgbClr val="586A80"/>
                </a:solidFill>
                <a:latin typeface="Arial"/>
              </a:defRPr>
            </a:pPr>
            <a:r>
              <a:t>Scheduling</a:t>
            </a:r>
          </a:p>
          <a:p>
            <a:pPr algn="ctr">
              <a:spcBef>
                <a:spcPts val="0"/>
              </a:spcBef>
              <a:spcAft>
                <a:spcPts val="500"/>
              </a:spcAft>
              <a:defRPr sz="1200" b="0">
                <a:solidFill>
                  <a:srgbClr val="586A80"/>
                </a:solidFill>
                <a:latin typeface="Arial"/>
              </a:defRPr>
            </a:pPr>
            <a:r>
              <a:t>selection</a:t>
            </a:r>
          </a:p>
        </p:txBody>
      </p:sp>
      <p:cxnSp>
        <p:nvCxnSpPr>
          <p:cNvPr id="37" name="Connector 36"/>
          <p:cNvCxnSpPr/>
          <p:nvPr/>
        </p:nvCxnSpPr>
        <p:spPr>
          <a:xfrm>
            <a:off x="6958584" y="2670048"/>
            <a:ext cx="676656" cy="0"/>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7635240" y="2670048"/>
            <a:ext cx="0" cy="64008"/>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7635240" y="2734056"/>
            <a:ext cx="1005840"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7086600" y="2066543"/>
            <a:ext cx="1371600" cy="384048"/>
          </a:xfrm>
          <a:prstGeom prst="rect">
            <a:avLst/>
          </a:prstGeom>
          <a:noFill/>
        </p:spPr>
        <p:txBody>
          <a:bodyPr wrap="square" lIns="13716" rIns="13716" tIns="13716" bIns="13716">
            <a:spAutoFit/>
          </a:bodyPr>
          <a:lstStyle/>
          <a:p>
            <a:pPr>
              <a:spcBef>
                <a:spcPts val="0"/>
              </a:spcBef>
              <a:spcAft>
                <a:spcPts val="500"/>
              </a:spcAft>
              <a:defRPr sz="1300" b="1">
                <a:solidFill>
                  <a:srgbClr val="2563EB"/>
                </a:solidFill>
                <a:latin typeface="Arial"/>
              </a:defRPr>
            </a:pPr>
            <a:r>
              <a:t>Prompt</a:t>
            </a:r>
          </a:p>
        </p:txBody>
      </p:sp>
      <p:cxnSp>
        <p:nvCxnSpPr>
          <p:cNvPr id="41" name="Connector 40"/>
          <p:cNvCxnSpPr/>
          <p:nvPr/>
        </p:nvCxnSpPr>
        <p:spPr>
          <a:xfrm>
            <a:off x="5797296" y="3355848"/>
            <a:ext cx="0" cy="1335024"/>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5797296" y="4690872"/>
            <a:ext cx="2843784"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5925312" y="4050791"/>
            <a:ext cx="2468880" cy="502920"/>
          </a:xfrm>
          <a:prstGeom prst="rect">
            <a:avLst/>
          </a:prstGeom>
          <a:noFill/>
        </p:spPr>
        <p:txBody>
          <a:bodyPr wrap="square" lIns="13716" rIns="13716" tIns="13716" bIns="13716">
            <a:spAutoFit/>
          </a:bodyPr>
          <a:lstStyle/>
          <a:p>
            <a:pPr>
              <a:spcBef>
                <a:spcPts val="0"/>
              </a:spcBef>
              <a:spcAft>
                <a:spcPts val="500"/>
              </a:spcAft>
              <a:defRPr sz="1200" b="1">
                <a:solidFill>
                  <a:srgbClr val="2563EB"/>
                </a:solidFill>
                <a:latin typeface="Arial"/>
              </a:defRPr>
            </a:pPr>
            <a:r>
              <a:t>Decode + KV metadata</a:t>
            </a:r>
          </a:p>
        </p:txBody>
      </p:sp>
      <p:cxnSp>
        <p:nvCxnSpPr>
          <p:cNvPr id="44" name="Connector 43"/>
          <p:cNvCxnSpPr/>
          <p:nvPr/>
        </p:nvCxnSpPr>
        <p:spPr>
          <a:xfrm>
            <a:off x="10158984" y="3319272"/>
            <a:ext cx="0" cy="795528"/>
          </a:xfrm>
          <a:prstGeom prst="line">
            <a:avLst/>
          </a:prstGeom>
          <a:ln w="381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10360152" y="3502152"/>
            <a:ext cx="1225296" cy="365760"/>
          </a:xfrm>
          <a:prstGeom prst="rect">
            <a:avLst/>
          </a:prstGeom>
          <a:noFill/>
        </p:spPr>
        <p:txBody>
          <a:bodyPr wrap="square" lIns="13716" rIns="13716" tIns="13716" bIns="13716">
            <a:spAutoFit/>
          </a:bodyPr>
          <a:lstStyle/>
          <a:p>
            <a:pPr>
              <a:spcBef>
                <a:spcPts val="0"/>
              </a:spcBef>
              <a:spcAft>
                <a:spcPts val="500"/>
              </a:spcAft>
              <a:defRPr sz="1200" b="1">
                <a:solidFill>
                  <a:srgbClr val="087F8C"/>
                </a:solidFill>
                <a:latin typeface="Arial"/>
              </a:defRPr>
            </a:pPr>
            <a:r>
              <a:t>KV data</a:t>
            </a:r>
          </a:p>
        </p:txBody>
      </p:sp>
      <p:cxnSp>
        <p:nvCxnSpPr>
          <p:cNvPr id="46" name="Connector 45"/>
          <p:cNvCxnSpPr/>
          <p:nvPr/>
        </p:nvCxnSpPr>
        <p:spPr>
          <a:xfrm flipH="1">
            <a:off x="8046720" y="5056632"/>
            <a:ext cx="594360"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8046720" y="5056632"/>
            <a:ext cx="0" cy="466344"/>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H="1">
            <a:off x="886968" y="5522976"/>
            <a:ext cx="7159752"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886968" y="3355848"/>
            <a:ext cx="0" cy="2167128"/>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4160520" y="5596128"/>
            <a:ext cx="4937760" cy="256032"/>
          </a:xfrm>
          <a:prstGeom prst="rect">
            <a:avLst/>
          </a:prstGeom>
          <a:noFill/>
        </p:spPr>
        <p:txBody>
          <a:bodyPr wrap="square" lIns="13716" rIns="13716" tIns="13716" bIns="13716">
            <a:spAutoFit/>
          </a:bodyPr>
          <a:lstStyle/>
          <a:p>
            <a:pPr>
              <a:spcBef>
                <a:spcPts val="0"/>
              </a:spcBef>
              <a:spcAft>
                <a:spcPts val="500"/>
              </a:spcAft>
              <a:defRPr sz="1200" b="0">
                <a:solidFill>
                  <a:srgbClr val="7354B8"/>
                </a:solidFill>
                <a:latin typeface="Arial"/>
              </a:defRPr>
            </a:pPr>
            <a:r>
              <a:t>Token stream returns through proxy + Gateway</a:t>
            </a:r>
          </a:p>
        </p:txBody>
      </p:sp>
      <p:sp>
        <p:nvSpPr>
          <p:cNvPr id="51" name="Rounded Rectangle 50"/>
          <p:cNvSpPr/>
          <p:nvPr/>
        </p:nvSpPr>
        <p:spPr>
          <a:xfrm>
            <a:off x="502920" y="6053328"/>
            <a:ext cx="11183112" cy="310896"/>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66928" y="6085332"/>
            <a:ext cx="11055096" cy="237744"/>
          </a:xfrm>
          <a:prstGeom prst="rect">
            <a:avLst/>
          </a:prstGeom>
          <a:noFill/>
        </p:spPr>
        <p:txBody>
          <a:bodyPr wrap="square" lIns="13716" rIns="13716" tIns="13716" bIns="13716">
            <a:spAutoFit/>
          </a:bodyPr>
          <a:lstStyle/>
          <a:p>
            <a:pPr algn="ctr">
              <a:spcBef>
                <a:spcPts val="0"/>
              </a:spcBef>
              <a:spcAft>
                <a:spcPts val="500"/>
              </a:spcAft>
              <a:defRPr sz="1000" b="1">
                <a:solidFill>
                  <a:srgbClr val="2563EB"/>
                </a:solidFill>
                <a:latin typeface="Arial"/>
              </a:defRPr>
            </a:pPr>
            <a:r>
              <a:t>KAITO RECONCILES THE SERVING TOPOLOGY; THE GATEWAY IS THE API ENTRY POINT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RESOURCE OWNERSHIP</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From one MRI to a reconciled resource graph</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Solid connectors: generated resources. Dashed connector: routing configuration.</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15 / 36</a:t>
            </a:r>
          </a:p>
        </p:txBody>
      </p:sp>
      <p:sp>
        <p:nvSpPr>
          <p:cNvPr id="8" name="Rounded Rectangle 7"/>
          <p:cNvSpPr/>
          <p:nvPr/>
        </p:nvSpPr>
        <p:spPr>
          <a:xfrm>
            <a:off x="4059936" y="1993392"/>
            <a:ext cx="4078224" cy="80467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059936" y="2084832"/>
            <a:ext cx="50292" cy="62179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97096" y="2112264"/>
            <a:ext cx="3803904" cy="393192"/>
          </a:xfrm>
          <a:prstGeom prst="rect">
            <a:avLst/>
          </a:prstGeom>
          <a:noFill/>
        </p:spPr>
        <p:txBody>
          <a:bodyPr wrap="square" lIns="13716" rIns="13716" tIns="13716" bIns="13716">
            <a:spAutoFit/>
          </a:bodyPr>
          <a:lstStyle/>
          <a:p>
            <a:pPr algn="ctr">
              <a:spcBef>
                <a:spcPts val="0"/>
              </a:spcBef>
              <a:spcAft>
                <a:spcPts val="500"/>
              </a:spcAft>
              <a:defRPr sz="2100" b="1">
                <a:solidFill>
                  <a:srgbClr val="2563EB"/>
                </a:solidFill>
                <a:latin typeface="Arial"/>
              </a:defRPr>
            </a:pPr>
            <a:r>
              <a:t>MultiRoleInference</a:t>
            </a:r>
          </a:p>
        </p:txBody>
      </p:sp>
      <p:sp>
        <p:nvSpPr>
          <p:cNvPr id="11" name="Rounded Rectangle 10"/>
          <p:cNvSpPr/>
          <p:nvPr/>
        </p:nvSpPr>
        <p:spPr>
          <a:xfrm>
            <a:off x="502920" y="3383280"/>
            <a:ext cx="3383280" cy="9144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3474720"/>
            <a:ext cx="50292" cy="7315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502152"/>
            <a:ext cx="3108960" cy="393192"/>
          </a:xfrm>
          <a:prstGeom prst="rect">
            <a:avLst/>
          </a:prstGeom>
          <a:noFill/>
        </p:spPr>
        <p:txBody>
          <a:bodyPr wrap="square" lIns="13716" rIns="13716" tIns="13716" bIns="13716">
            <a:spAutoFit/>
          </a:bodyPr>
          <a:lstStyle/>
          <a:p>
            <a:pPr algn="ctr">
              <a:spcBef>
                <a:spcPts val="0"/>
              </a:spcBef>
              <a:spcAft>
                <a:spcPts val="500"/>
              </a:spcAft>
              <a:defRPr sz="1700" b="1">
                <a:solidFill>
                  <a:srgbClr val="087F8C"/>
                </a:solidFill>
                <a:latin typeface="Arial"/>
              </a:defRPr>
            </a:pPr>
            <a:r>
              <a:t>Prefill InferenceSet</a:t>
            </a:r>
          </a:p>
        </p:txBody>
      </p:sp>
      <p:sp>
        <p:nvSpPr>
          <p:cNvPr id="14" name="TextBox 13"/>
          <p:cNvSpPr txBox="1"/>
          <p:nvPr/>
        </p:nvSpPr>
        <p:spPr>
          <a:xfrm>
            <a:off x="649224" y="3941064"/>
            <a:ext cx="3090672" cy="2651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Role-specific serving template</a:t>
            </a:r>
          </a:p>
        </p:txBody>
      </p:sp>
      <p:sp>
        <p:nvSpPr>
          <p:cNvPr id="15" name="Rounded Rectangle 14"/>
          <p:cNvSpPr/>
          <p:nvPr/>
        </p:nvSpPr>
        <p:spPr>
          <a:xfrm>
            <a:off x="4398264" y="3383280"/>
            <a:ext cx="3383280" cy="9144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50292" cy="7315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35424" y="3502152"/>
            <a:ext cx="3108960" cy="393192"/>
          </a:xfrm>
          <a:prstGeom prst="rect">
            <a:avLst/>
          </a:prstGeom>
          <a:noFill/>
        </p:spPr>
        <p:txBody>
          <a:bodyPr wrap="square" lIns="13716" rIns="13716" tIns="13716" bIns="13716">
            <a:spAutoFit/>
          </a:bodyPr>
          <a:lstStyle/>
          <a:p>
            <a:pPr algn="ctr">
              <a:spcBef>
                <a:spcPts val="0"/>
              </a:spcBef>
              <a:spcAft>
                <a:spcPts val="500"/>
              </a:spcAft>
              <a:defRPr sz="1700" b="1">
                <a:solidFill>
                  <a:srgbClr val="7354B8"/>
                </a:solidFill>
                <a:latin typeface="Arial"/>
              </a:defRPr>
            </a:pPr>
            <a:r>
              <a:t>Decode InferenceSet</a:t>
            </a:r>
          </a:p>
        </p:txBody>
      </p:sp>
      <p:sp>
        <p:nvSpPr>
          <p:cNvPr id="18" name="TextBox 17"/>
          <p:cNvSpPr txBox="1"/>
          <p:nvPr/>
        </p:nvSpPr>
        <p:spPr>
          <a:xfrm>
            <a:off x="4544568" y="3941064"/>
            <a:ext cx="3090672" cy="2651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Runtime + routing sidecar</a:t>
            </a:r>
          </a:p>
        </p:txBody>
      </p:sp>
      <p:sp>
        <p:nvSpPr>
          <p:cNvPr id="19" name="Rounded Rectangle 18"/>
          <p:cNvSpPr/>
          <p:nvPr/>
        </p:nvSpPr>
        <p:spPr>
          <a:xfrm>
            <a:off x="8293608" y="3383280"/>
            <a:ext cx="3383280" cy="9144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293608" y="3474720"/>
            <a:ext cx="50292" cy="7315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30768" y="3502152"/>
            <a:ext cx="310896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2563EB"/>
                </a:solidFill>
                <a:latin typeface="Arial"/>
              </a:defRPr>
            </a:pPr>
            <a:r>
              <a:t>InferencePool</a:t>
            </a:r>
          </a:p>
        </p:txBody>
      </p:sp>
      <p:sp>
        <p:nvSpPr>
          <p:cNvPr id="22" name="TextBox 21"/>
          <p:cNvSpPr txBox="1"/>
          <p:nvPr/>
        </p:nvSpPr>
        <p:spPr>
          <a:xfrm>
            <a:off x="8439912" y="3941064"/>
            <a:ext cx="3090672" cy="2651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Routing-facing backend group</a:t>
            </a:r>
          </a:p>
        </p:txBody>
      </p:sp>
      <p:cxnSp>
        <p:nvCxnSpPr>
          <p:cNvPr id="23" name="Connector 22"/>
          <p:cNvCxnSpPr/>
          <p:nvPr/>
        </p:nvCxnSpPr>
        <p:spPr>
          <a:xfrm>
            <a:off x="6089904" y="2798064"/>
            <a:ext cx="0" cy="283464"/>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2194560" y="3081528"/>
            <a:ext cx="3895344"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2194560" y="3081528"/>
            <a:ext cx="0" cy="301752"/>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6089904" y="2798064"/>
            <a:ext cx="0" cy="283464"/>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6089904" y="3081528"/>
            <a:ext cx="0"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6089904" y="3081528"/>
            <a:ext cx="0" cy="301752"/>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6089904" y="2798064"/>
            <a:ext cx="0" cy="283464"/>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6089904" y="3081528"/>
            <a:ext cx="3895344" cy="0"/>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9985248" y="3081528"/>
            <a:ext cx="0" cy="301752"/>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502920" y="4809744"/>
            <a:ext cx="3383280" cy="8229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02920" y="4901183"/>
            <a:ext cx="50292" cy="64008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0080" y="4928616"/>
            <a:ext cx="310896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087F8C"/>
                </a:solidFill>
                <a:latin typeface="Arial"/>
              </a:defRPr>
            </a:pPr>
            <a:r>
              <a:t>Workspaces → Pods</a:t>
            </a:r>
          </a:p>
        </p:txBody>
      </p:sp>
      <p:sp>
        <p:nvSpPr>
          <p:cNvPr id="35" name="Rounded Rectangle 34"/>
          <p:cNvSpPr/>
          <p:nvPr/>
        </p:nvSpPr>
        <p:spPr>
          <a:xfrm>
            <a:off x="4398264" y="4809744"/>
            <a:ext cx="3383280" cy="8229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398264" y="4901183"/>
            <a:ext cx="50292" cy="64008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535424" y="4928616"/>
            <a:ext cx="310896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7354B8"/>
                </a:solidFill>
                <a:latin typeface="Arial"/>
              </a:defRPr>
            </a:pPr>
            <a:r>
              <a:t>Workspaces → Pods</a:t>
            </a:r>
          </a:p>
        </p:txBody>
      </p:sp>
      <p:sp>
        <p:nvSpPr>
          <p:cNvPr id="38" name="Rounded Rectangle 37"/>
          <p:cNvSpPr/>
          <p:nvPr/>
        </p:nvSpPr>
        <p:spPr>
          <a:xfrm>
            <a:off x="8293608" y="4809744"/>
            <a:ext cx="3383280" cy="8229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293608" y="4901183"/>
            <a:ext cx="50292" cy="64008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430768" y="4928616"/>
            <a:ext cx="3108960" cy="393192"/>
          </a:xfrm>
          <a:prstGeom prst="rect">
            <a:avLst/>
          </a:prstGeom>
          <a:noFill/>
        </p:spPr>
        <p:txBody>
          <a:bodyPr wrap="square" lIns="13716" rIns="13716" tIns="13716" bIns="13716">
            <a:spAutoFit/>
          </a:bodyPr>
          <a:lstStyle/>
          <a:p>
            <a:pPr algn="ctr">
              <a:spcBef>
                <a:spcPts val="0"/>
              </a:spcBef>
              <a:spcAft>
                <a:spcPts val="500"/>
              </a:spcAft>
              <a:defRPr sz="1700" b="1">
                <a:solidFill>
                  <a:srgbClr val="2563EB"/>
                </a:solidFill>
                <a:latin typeface="Arial"/>
              </a:defRPr>
            </a:pPr>
            <a:r>
              <a:t>EPP config + HTTPRoute</a:t>
            </a:r>
          </a:p>
        </p:txBody>
      </p:sp>
      <p:cxnSp>
        <p:nvCxnSpPr>
          <p:cNvPr id="41" name="Connector 40"/>
          <p:cNvCxnSpPr/>
          <p:nvPr/>
        </p:nvCxnSpPr>
        <p:spPr>
          <a:xfrm>
            <a:off x="2194560" y="4297680"/>
            <a:ext cx="0" cy="512064"/>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6089904" y="4297680"/>
            <a:ext cx="0" cy="512064"/>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9985248" y="4297680"/>
            <a:ext cx="0" cy="512064"/>
          </a:xfrm>
          <a:prstGeom prst="line">
            <a:avLst/>
          </a:prstGeom>
          <a:ln w="25400">
            <a:solidFill>
              <a:srgbClr val="2563EB"/>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521207" y="5925312"/>
            <a:ext cx="11064240" cy="365760"/>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Less hand-maintained glue: role labels, ports, sidecar configuration, and routing bindings.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REQUEST LIFECYCLE</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A request crosses four distinct boundaries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Request orchestration and KV-data movement are separate paths.</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16 / 36</a:t>
            </a:r>
          </a:p>
        </p:txBody>
      </p:sp>
      <p:sp>
        <p:nvSpPr>
          <p:cNvPr id="8" name="Rounded Rectangle 7"/>
          <p:cNvSpPr/>
          <p:nvPr/>
        </p:nvSpPr>
        <p:spPr>
          <a:xfrm>
            <a:off x="182879" y="1993392"/>
            <a:ext cx="2286000" cy="5943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82879" y="2084832"/>
            <a:ext cx="50292" cy="41148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2112264"/>
            <a:ext cx="2011680" cy="393192"/>
          </a:xfrm>
          <a:prstGeom prst="rect">
            <a:avLst/>
          </a:prstGeom>
          <a:noFill/>
        </p:spPr>
        <p:txBody>
          <a:bodyPr wrap="square" lIns="13716" rIns="13716" tIns="13716" bIns="13716">
            <a:spAutoFit/>
          </a:bodyPr>
          <a:lstStyle/>
          <a:p>
            <a:pPr algn="ctr">
              <a:spcBef>
                <a:spcPts val="0"/>
              </a:spcBef>
              <a:spcAft>
                <a:spcPts val="500"/>
              </a:spcAft>
              <a:defRPr sz="1400" b="1">
                <a:solidFill>
                  <a:srgbClr val="2563EB"/>
                </a:solidFill>
                <a:latin typeface="Arial"/>
              </a:defRPr>
            </a:pPr>
            <a:r>
              <a:t>Gateway + EPP</a:t>
            </a:r>
          </a:p>
        </p:txBody>
      </p:sp>
      <p:cxnSp>
        <p:nvCxnSpPr>
          <p:cNvPr id="11" name="Connector 10"/>
          <p:cNvCxnSpPr/>
          <p:nvPr/>
        </p:nvCxnSpPr>
        <p:spPr>
          <a:xfrm>
            <a:off x="1325880" y="2596896"/>
            <a:ext cx="0" cy="3300984"/>
          </a:xfrm>
          <a:prstGeom prst="line">
            <a:avLst/>
          </a:prstGeom>
          <a:ln w="12700">
            <a:solidFill>
              <a:srgbClr val="D9E2EE"/>
            </a:solidFill>
            <a:prstDash val="dash"/>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2926080" y="1993392"/>
            <a:ext cx="2286000" cy="5943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926080" y="2084832"/>
            <a:ext cx="50292" cy="41148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063240" y="2112264"/>
            <a:ext cx="2011680" cy="393192"/>
          </a:xfrm>
          <a:prstGeom prst="rect">
            <a:avLst/>
          </a:prstGeom>
          <a:noFill/>
        </p:spPr>
        <p:txBody>
          <a:bodyPr wrap="square" lIns="13716" rIns="13716" tIns="13716" bIns="13716">
            <a:spAutoFit/>
          </a:bodyPr>
          <a:lstStyle/>
          <a:p>
            <a:pPr algn="ctr">
              <a:spcBef>
                <a:spcPts val="0"/>
              </a:spcBef>
              <a:spcAft>
                <a:spcPts val="500"/>
              </a:spcAft>
              <a:defRPr sz="1400" b="1">
                <a:solidFill>
                  <a:srgbClr val="7354B8"/>
                </a:solidFill>
                <a:latin typeface="Arial"/>
              </a:defRPr>
            </a:pPr>
            <a:r>
              <a:t>Decode proxy</a:t>
            </a:r>
          </a:p>
        </p:txBody>
      </p:sp>
      <p:cxnSp>
        <p:nvCxnSpPr>
          <p:cNvPr id="15" name="Connector 14"/>
          <p:cNvCxnSpPr/>
          <p:nvPr/>
        </p:nvCxnSpPr>
        <p:spPr>
          <a:xfrm>
            <a:off x="4069080" y="2596896"/>
            <a:ext cx="0" cy="3300984"/>
          </a:xfrm>
          <a:prstGeom prst="line">
            <a:avLst/>
          </a:prstGeom>
          <a:ln w="12700">
            <a:solidFill>
              <a:srgbClr val="D9E2EE"/>
            </a:solidFill>
            <a:prstDash val="dash"/>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687568" y="1993392"/>
            <a:ext cx="2286000" cy="5943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87568" y="2084832"/>
            <a:ext cx="50292" cy="41148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24728" y="2112264"/>
            <a:ext cx="2011680" cy="393192"/>
          </a:xfrm>
          <a:prstGeom prst="rect">
            <a:avLst/>
          </a:prstGeom>
          <a:noFill/>
        </p:spPr>
        <p:txBody>
          <a:bodyPr wrap="square" lIns="13716" rIns="13716" tIns="13716" bIns="13716">
            <a:spAutoFit/>
          </a:bodyPr>
          <a:lstStyle/>
          <a:p>
            <a:pPr algn="ctr">
              <a:spcBef>
                <a:spcPts val="0"/>
              </a:spcBef>
              <a:spcAft>
                <a:spcPts val="500"/>
              </a:spcAft>
              <a:defRPr sz="1400" b="1">
                <a:solidFill>
                  <a:srgbClr val="087F8C"/>
                </a:solidFill>
                <a:latin typeface="Arial"/>
              </a:defRPr>
            </a:pPr>
            <a:r>
              <a:t>Prefill worker</a:t>
            </a:r>
          </a:p>
        </p:txBody>
      </p:sp>
      <p:cxnSp>
        <p:nvCxnSpPr>
          <p:cNvPr id="19" name="Connector 18"/>
          <p:cNvCxnSpPr/>
          <p:nvPr/>
        </p:nvCxnSpPr>
        <p:spPr>
          <a:xfrm>
            <a:off x="6830568" y="2596896"/>
            <a:ext cx="0" cy="3300984"/>
          </a:xfrm>
          <a:prstGeom prst="line">
            <a:avLst/>
          </a:prstGeom>
          <a:ln w="12700">
            <a:solidFill>
              <a:srgbClr val="D9E2EE"/>
            </a:solidFill>
            <a:prstDash val="dash"/>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8732520" y="1993392"/>
            <a:ext cx="2286000" cy="5943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732520" y="2084832"/>
            <a:ext cx="50292" cy="41148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69680" y="2112264"/>
            <a:ext cx="2011680" cy="393192"/>
          </a:xfrm>
          <a:prstGeom prst="rect">
            <a:avLst/>
          </a:prstGeom>
          <a:noFill/>
        </p:spPr>
        <p:txBody>
          <a:bodyPr wrap="square" lIns="13716" rIns="13716" tIns="13716" bIns="13716">
            <a:spAutoFit/>
          </a:bodyPr>
          <a:lstStyle/>
          <a:p>
            <a:pPr algn="ctr">
              <a:spcBef>
                <a:spcPts val="0"/>
              </a:spcBef>
              <a:spcAft>
                <a:spcPts val="500"/>
              </a:spcAft>
              <a:defRPr sz="1400" b="1">
                <a:solidFill>
                  <a:srgbClr val="7354B8"/>
                </a:solidFill>
                <a:latin typeface="Arial"/>
              </a:defRPr>
            </a:pPr>
            <a:r>
              <a:t>Decode runtime</a:t>
            </a:r>
          </a:p>
        </p:txBody>
      </p:sp>
      <p:cxnSp>
        <p:nvCxnSpPr>
          <p:cNvPr id="23" name="Connector 22"/>
          <p:cNvCxnSpPr/>
          <p:nvPr/>
        </p:nvCxnSpPr>
        <p:spPr>
          <a:xfrm>
            <a:off x="9875520" y="2596896"/>
            <a:ext cx="0" cy="3300984"/>
          </a:xfrm>
          <a:prstGeom prst="line">
            <a:avLst/>
          </a:prstGeom>
          <a:ln w="12700">
            <a:solidFill>
              <a:srgbClr val="D9E2EE"/>
            </a:solidFill>
            <a:prstDash val="dash"/>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325880" y="2852928"/>
            <a:ext cx="2743200"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1408176" y="2560320"/>
            <a:ext cx="2606040" cy="265176"/>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1  Route to selected decode</a:t>
            </a:r>
          </a:p>
        </p:txBody>
      </p:sp>
      <p:cxnSp>
        <p:nvCxnSpPr>
          <p:cNvPr id="26" name="Connector 25"/>
          <p:cNvCxnSpPr/>
          <p:nvPr/>
        </p:nvCxnSpPr>
        <p:spPr>
          <a:xfrm>
            <a:off x="4069080" y="3410712"/>
            <a:ext cx="2761488"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4151376" y="3118104"/>
            <a:ext cx="2624327" cy="265176"/>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2  Execute prefill</a:t>
            </a:r>
          </a:p>
        </p:txBody>
      </p:sp>
      <p:cxnSp>
        <p:nvCxnSpPr>
          <p:cNvPr id="28" name="Connector 27"/>
          <p:cNvCxnSpPr/>
          <p:nvPr/>
        </p:nvCxnSpPr>
        <p:spPr>
          <a:xfrm flipH="1">
            <a:off x="4069080" y="3968496"/>
            <a:ext cx="2761488" cy="0"/>
          </a:xfrm>
          <a:prstGeom prst="line">
            <a:avLst/>
          </a:prstGeom>
          <a:ln w="25400">
            <a:solidFill>
              <a:srgbClr val="586A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4151376" y="3675887"/>
            <a:ext cx="2624327" cy="265176"/>
          </a:xfrm>
          <a:prstGeom prst="rect">
            <a:avLst/>
          </a:prstGeom>
          <a:noFill/>
        </p:spPr>
        <p:txBody>
          <a:bodyPr wrap="square" lIns="13716" rIns="13716" tIns="13716" bIns="13716">
            <a:spAutoFit/>
          </a:bodyPr>
          <a:lstStyle/>
          <a:p>
            <a:pPr>
              <a:spcBef>
                <a:spcPts val="0"/>
              </a:spcBef>
              <a:spcAft>
                <a:spcPts val="500"/>
              </a:spcAft>
              <a:defRPr sz="1100" b="1">
                <a:solidFill>
                  <a:srgbClr val="586A80"/>
                </a:solidFill>
                <a:latin typeface="Arial"/>
              </a:defRPr>
            </a:pPr>
            <a:r>
              <a:t>3  Return KV-transfer metadata</a:t>
            </a:r>
          </a:p>
        </p:txBody>
      </p:sp>
      <p:cxnSp>
        <p:nvCxnSpPr>
          <p:cNvPr id="30" name="Connector 29"/>
          <p:cNvCxnSpPr/>
          <p:nvPr/>
        </p:nvCxnSpPr>
        <p:spPr>
          <a:xfrm>
            <a:off x="4069080" y="4526280"/>
            <a:ext cx="5806440"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4151376" y="4233672"/>
            <a:ext cx="5669280" cy="265176"/>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4  Start decode with metadata</a:t>
            </a:r>
          </a:p>
        </p:txBody>
      </p:sp>
      <p:cxnSp>
        <p:nvCxnSpPr>
          <p:cNvPr id="32" name="Connector 31"/>
          <p:cNvCxnSpPr/>
          <p:nvPr/>
        </p:nvCxnSpPr>
        <p:spPr>
          <a:xfrm>
            <a:off x="6830568" y="5084064"/>
            <a:ext cx="3044952"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912864" y="4791455"/>
            <a:ext cx="2907792" cy="265176"/>
          </a:xfrm>
          <a:prstGeom prst="rect">
            <a:avLst/>
          </a:prstGeom>
          <a:noFill/>
        </p:spPr>
        <p:txBody>
          <a:bodyPr wrap="square" lIns="13716" rIns="13716" tIns="13716" bIns="13716">
            <a:spAutoFit/>
          </a:bodyPr>
          <a:lstStyle/>
          <a:p>
            <a:pPr>
              <a:spcBef>
                <a:spcPts val="0"/>
              </a:spcBef>
              <a:spcAft>
                <a:spcPts val="500"/>
              </a:spcAft>
              <a:defRPr sz="1100" b="1">
                <a:solidFill>
                  <a:srgbClr val="087F8C"/>
                </a:solidFill>
                <a:latin typeface="Arial"/>
              </a:defRPr>
            </a:pPr>
            <a:r>
              <a:t>5  KV data (prefill → decode)</a:t>
            </a:r>
          </a:p>
        </p:txBody>
      </p:sp>
      <p:cxnSp>
        <p:nvCxnSpPr>
          <p:cNvPr id="34" name="Connector 33"/>
          <p:cNvCxnSpPr/>
          <p:nvPr/>
        </p:nvCxnSpPr>
        <p:spPr>
          <a:xfrm flipH="1">
            <a:off x="4069080" y="5641848"/>
            <a:ext cx="5806440"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4151376" y="5349240"/>
            <a:ext cx="5669280" cy="265176"/>
          </a:xfrm>
          <a:prstGeom prst="rect">
            <a:avLst/>
          </a:prstGeom>
          <a:noFill/>
        </p:spPr>
        <p:txBody>
          <a:bodyPr wrap="square" lIns="13716" rIns="13716" tIns="13716" bIns="13716">
            <a:spAutoFit/>
          </a:bodyPr>
          <a:lstStyle/>
          <a:p>
            <a:pPr>
              <a:spcBef>
                <a:spcPts val="0"/>
              </a:spcBef>
              <a:spcAft>
                <a:spcPts val="500"/>
              </a:spcAft>
              <a:defRPr sz="1100" b="1">
                <a:solidFill>
                  <a:srgbClr val="7354B8"/>
                </a:solidFill>
                <a:latin typeface="Arial"/>
              </a:defRPr>
            </a:pPr>
            <a:r>
              <a:t>6  Token stream → proxy → Gateway</a:t>
            </a:r>
          </a:p>
        </p:txBody>
      </p:sp>
      <p:sp>
        <p:nvSpPr>
          <p:cNvPr id="36" name="TextBox 35"/>
          <p:cNvSpPr txBox="1"/>
          <p:nvPr/>
        </p:nvSpPr>
        <p:spPr>
          <a:xfrm>
            <a:off x="502920" y="6117336"/>
            <a:ext cx="11155680" cy="265176"/>
          </a:xfrm>
          <a:prstGeom prst="rect">
            <a:avLst/>
          </a:prstGeom>
          <a:noFill/>
        </p:spPr>
        <p:txBody>
          <a:bodyPr wrap="square" lIns="13716" rIns="13716" tIns="13716" bIns="13716">
            <a:spAutoFit/>
          </a:bodyPr>
          <a:lstStyle/>
          <a:p>
            <a:pPr>
              <a:spcBef>
                <a:spcPts val="0"/>
              </a:spcBef>
              <a:spcAft>
                <a:spcPts val="500"/>
              </a:spcAft>
              <a:defRPr sz="1400" b="0">
                <a:solidFill>
                  <a:srgbClr val="586A80"/>
                </a:solidFill>
                <a:latin typeface="Arial"/>
              </a:defRPr>
            </a:pPr>
            <a:r>
              <a:t>KV-transfer metadata identifies remote state; it is not the KV tensor payload.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KV TRANSFER</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Metadata is not the KV payload</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Keep control messages and the high-volume data path distinct.</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Do not read a request arrow as a KV-transfer arrow.</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17 / 36</a:t>
            </a:r>
          </a:p>
        </p:txBody>
      </p:sp>
      <p:sp>
        <p:nvSpPr>
          <p:cNvPr id="10" name="Rounded Rectangle 9"/>
          <p:cNvSpPr/>
          <p:nvPr/>
        </p:nvSpPr>
        <p:spPr>
          <a:xfrm>
            <a:off x="502920" y="2194560"/>
            <a:ext cx="3108960" cy="113385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2286000"/>
            <a:ext cx="50292" cy="95097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313432"/>
            <a:ext cx="283464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7354B8"/>
                </a:solidFill>
                <a:latin typeface="Arial"/>
              </a:defRPr>
            </a:pPr>
            <a:r>
              <a:t>Decode proxy</a:t>
            </a:r>
          </a:p>
        </p:txBody>
      </p:sp>
      <p:sp>
        <p:nvSpPr>
          <p:cNvPr id="13" name="TextBox 12"/>
          <p:cNvSpPr txBox="1"/>
          <p:nvPr/>
        </p:nvSpPr>
        <p:spPr>
          <a:xfrm>
            <a:off x="649224" y="2752344"/>
            <a:ext cx="2816352" cy="48463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HTTP orchestration</a:t>
            </a:r>
          </a:p>
        </p:txBody>
      </p:sp>
      <p:sp>
        <p:nvSpPr>
          <p:cNvPr id="14" name="Rounded Rectangle 13"/>
          <p:cNvSpPr/>
          <p:nvPr/>
        </p:nvSpPr>
        <p:spPr>
          <a:xfrm>
            <a:off x="8577072" y="2194560"/>
            <a:ext cx="3108960" cy="113385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577072" y="2286000"/>
            <a:ext cx="50292" cy="95097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714232" y="2313432"/>
            <a:ext cx="283464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087F8C"/>
                </a:solidFill>
                <a:latin typeface="Arial"/>
              </a:defRPr>
            </a:pPr>
            <a:r>
              <a:t>Prefill worker</a:t>
            </a:r>
          </a:p>
        </p:txBody>
      </p:sp>
      <p:sp>
        <p:nvSpPr>
          <p:cNvPr id="17" name="TextBox 16"/>
          <p:cNvSpPr txBox="1"/>
          <p:nvPr/>
        </p:nvSpPr>
        <p:spPr>
          <a:xfrm>
            <a:off x="8723376" y="2752344"/>
            <a:ext cx="2816352" cy="48463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Owns newly computed KV</a:t>
            </a:r>
          </a:p>
        </p:txBody>
      </p:sp>
      <p:cxnSp>
        <p:nvCxnSpPr>
          <p:cNvPr id="18" name="Connector 17"/>
          <p:cNvCxnSpPr/>
          <p:nvPr/>
        </p:nvCxnSpPr>
        <p:spPr>
          <a:xfrm>
            <a:off x="3611880" y="2569464"/>
            <a:ext cx="4965192"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3721608" y="2048256"/>
            <a:ext cx="4727448" cy="365760"/>
          </a:xfrm>
          <a:prstGeom prst="rect">
            <a:avLst/>
          </a:prstGeom>
          <a:noFill/>
        </p:spPr>
        <p:txBody>
          <a:bodyPr wrap="square" lIns="13716" rIns="13716" tIns="13716" bIns="13716">
            <a:spAutoFit/>
          </a:bodyPr>
          <a:lstStyle/>
          <a:p>
            <a:pPr algn="ctr">
              <a:spcBef>
                <a:spcPts val="0"/>
              </a:spcBef>
              <a:spcAft>
                <a:spcPts val="500"/>
              </a:spcAft>
              <a:defRPr sz="1600" b="1">
                <a:solidFill>
                  <a:srgbClr val="2563EB"/>
                </a:solidFill>
                <a:latin typeface="Arial"/>
              </a:defRPr>
            </a:pPr>
            <a:r>
              <a:t>Prompt request</a:t>
            </a:r>
          </a:p>
        </p:txBody>
      </p:sp>
      <p:cxnSp>
        <p:nvCxnSpPr>
          <p:cNvPr id="20" name="Connector 19"/>
          <p:cNvCxnSpPr/>
          <p:nvPr/>
        </p:nvCxnSpPr>
        <p:spPr>
          <a:xfrm flipH="1">
            <a:off x="3611880" y="3054096"/>
            <a:ext cx="4965192" cy="0"/>
          </a:xfrm>
          <a:prstGeom prst="line">
            <a:avLst/>
          </a:prstGeom>
          <a:ln w="25400">
            <a:solidFill>
              <a:srgbClr val="586A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3703320" y="3136392"/>
            <a:ext cx="4754880" cy="393192"/>
          </a:xfrm>
          <a:prstGeom prst="rect">
            <a:avLst/>
          </a:prstGeom>
          <a:noFill/>
        </p:spPr>
        <p:txBody>
          <a:bodyPr wrap="square" lIns="13716" rIns="13716" tIns="13716" bIns="13716">
            <a:spAutoFit/>
          </a:bodyPr>
          <a:lstStyle/>
          <a:p>
            <a:pPr algn="ctr">
              <a:spcBef>
                <a:spcPts val="0"/>
              </a:spcBef>
              <a:spcAft>
                <a:spcPts val="500"/>
              </a:spcAft>
              <a:defRPr sz="1500" b="0">
                <a:solidFill>
                  <a:srgbClr val="586A80"/>
                </a:solidFill>
                <a:latin typeface="Arial"/>
              </a:defRPr>
            </a:pPr>
            <a:r>
              <a:t>Response: KV-transfer metadata</a:t>
            </a:r>
          </a:p>
        </p:txBody>
      </p:sp>
      <p:sp>
        <p:nvSpPr>
          <p:cNvPr id="22" name="Rounded Rectangle 21"/>
          <p:cNvSpPr/>
          <p:nvPr/>
        </p:nvSpPr>
        <p:spPr>
          <a:xfrm>
            <a:off x="502920" y="4288536"/>
            <a:ext cx="3108960" cy="113385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4379976"/>
            <a:ext cx="50292" cy="95097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4407408"/>
            <a:ext cx="283464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7354B8"/>
                </a:solidFill>
                <a:latin typeface="Arial"/>
              </a:defRPr>
            </a:pPr>
            <a:r>
              <a:t>Decode runtime</a:t>
            </a:r>
          </a:p>
        </p:txBody>
      </p:sp>
      <p:sp>
        <p:nvSpPr>
          <p:cNvPr id="25" name="TextBox 24"/>
          <p:cNvSpPr txBox="1"/>
          <p:nvPr/>
        </p:nvSpPr>
        <p:spPr>
          <a:xfrm>
            <a:off x="649224" y="4846320"/>
            <a:ext cx="2816352" cy="48463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Uses KV to generate tokens</a:t>
            </a:r>
          </a:p>
        </p:txBody>
      </p:sp>
      <p:sp>
        <p:nvSpPr>
          <p:cNvPr id="26" name="Rounded Rectangle 25"/>
          <p:cNvSpPr/>
          <p:nvPr/>
        </p:nvSpPr>
        <p:spPr>
          <a:xfrm>
            <a:off x="8577072" y="4288536"/>
            <a:ext cx="3108960" cy="113385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577072" y="4379976"/>
            <a:ext cx="50292" cy="95097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714232" y="4407408"/>
            <a:ext cx="283464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087F8C"/>
                </a:solidFill>
                <a:latin typeface="Arial"/>
              </a:defRPr>
            </a:pPr>
            <a:r>
              <a:t>Prefill KV memory</a:t>
            </a:r>
          </a:p>
        </p:txBody>
      </p:sp>
      <p:sp>
        <p:nvSpPr>
          <p:cNvPr id="29" name="TextBox 28"/>
          <p:cNvSpPr txBox="1"/>
          <p:nvPr/>
        </p:nvSpPr>
        <p:spPr>
          <a:xfrm>
            <a:off x="8723376" y="4846320"/>
            <a:ext cx="2816352" cy="48463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Remote transfer source</a:t>
            </a:r>
          </a:p>
        </p:txBody>
      </p:sp>
      <p:cxnSp>
        <p:nvCxnSpPr>
          <p:cNvPr id="30" name="Connector 29"/>
          <p:cNvCxnSpPr/>
          <p:nvPr/>
        </p:nvCxnSpPr>
        <p:spPr>
          <a:xfrm>
            <a:off x="2057400" y="3328416"/>
            <a:ext cx="0" cy="96012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21207" y="3639312"/>
            <a:ext cx="1325880" cy="457200"/>
          </a:xfrm>
          <a:prstGeom prst="rect">
            <a:avLst/>
          </a:prstGeom>
          <a:noFill/>
        </p:spPr>
        <p:txBody>
          <a:bodyPr wrap="square" lIns="13716" rIns="13716" tIns="13716" bIns="13716">
            <a:spAutoFit/>
          </a:bodyPr>
          <a:lstStyle/>
          <a:p>
            <a:pPr>
              <a:spcBef>
                <a:spcPts val="0"/>
              </a:spcBef>
              <a:spcAft>
                <a:spcPts val="500"/>
              </a:spcAft>
              <a:defRPr sz="1200" b="0">
                <a:solidFill>
                  <a:srgbClr val="7354B8"/>
                </a:solidFill>
                <a:latin typeface="Arial"/>
              </a:defRPr>
            </a:pPr>
            <a:r>
              <a:t>Metadata</a:t>
            </a:r>
          </a:p>
        </p:txBody>
      </p:sp>
      <p:cxnSp>
        <p:nvCxnSpPr>
          <p:cNvPr id="32" name="Connector 31"/>
          <p:cNvCxnSpPr/>
          <p:nvPr/>
        </p:nvCxnSpPr>
        <p:spPr>
          <a:xfrm flipH="1">
            <a:off x="3611880" y="4837176"/>
            <a:ext cx="4965192" cy="0"/>
          </a:xfrm>
          <a:prstGeom prst="line">
            <a:avLst/>
          </a:prstGeom>
          <a:ln w="381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3703320" y="4325112"/>
            <a:ext cx="4754880" cy="384048"/>
          </a:xfrm>
          <a:prstGeom prst="rect">
            <a:avLst/>
          </a:prstGeom>
          <a:noFill/>
        </p:spPr>
        <p:txBody>
          <a:bodyPr wrap="square" lIns="13716" rIns="13716" tIns="13716" bIns="13716">
            <a:spAutoFit/>
          </a:bodyPr>
          <a:lstStyle/>
          <a:p>
            <a:pPr algn="ctr">
              <a:spcBef>
                <a:spcPts val="0"/>
              </a:spcBef>
              <a:spcAft>
                <a:spcPts val="500"/>
              </a:spcAft>
              <a:defRPr sz="1600" b="1">
                <a:solidFill>
                  <a:srgbClr val="087F8C"/>
                </a:solidFill>
                <a:latin typeface="Arial"/>
              </a:defRPr>
            </a:pPr>
            <a:r>
              <a:t>KV tensor data: prefill → decode</a:t>
            </a:r>
          </a:p>
        </p:txBody>
      </p:sp>
      <p:sp>
        <p:nvSpPr>
          <p:cNvPr id="34" name="TextBox 33"/>
          <p:cNvSpPr txBox="1"/>
          <p:nvPr/>
        </p:nvSpPr>
        <p:spPr>
          <a:xfrm>
            <a:off x="3730752" y="5047488"/>
            <a:ext cx="4718304" cy="51206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A decode-initiated read can drive the transfer.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RUNTIME BOUNDARY</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The decode pod contains two different roles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The routing sidecar coordinates the request; vLLM executes decode.</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Generated Service targetPorts, probes, and runtime arguments must agree.</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18 / 36</a:t>
            </a:r>
          </a:p>
        </p:txBody>
      </p:sp>
      <p:sp>
        <p:nvSpPr>
          <p:cNvPr id="10" name="Rounded Rectangle 9"/>
          <p:cNvSpPr/>
          <p:nvPr/>
        </p:nvSpPr>
        <p:spPr>
          <a:xfrm>
            <a:off x="2743200" y="2157984"/>
            <a:ext cx="8942832" cy="3355848"/>
          </a:xfrm>
          <a:prstGeom prst="roundRect">
            <a:avLst>
              <a:gd name="adj" fmla="val 10000"/>
            </a:avLst>
          </a:prstGeom>
          <a:solidFill>
            <a:srgbClr val="F0EBFA"/>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80944" y="2368296"/>
            <a:ext cx="8138160" cy="365760"/>
          </a:xfrm>
          <a:prstGeom prst="rect">
            <a:avLst/>
          </a:prstGeom>
          <a:noFill/>
        </p:spPr>
        <p:txBody>
          <a:bodyPr wrap="square" lIns="13716" rIns="13716" tIns="13716" bIns="13716">
            <a:spAutoFit/>
          </a:bodyPr>
          <a:lstStyle/>
          <a:p>
            <a:pPr>
              <a:spcBef>
                <a:spcPts val="0"/>
              </a:spcBef>
              <a:spcAft>
                <a:spcPts val="500"/>
              </a:spcAft>
              <a:defRPr sz="1600" b="1">
                <a:solidFill>
                  <a:srgbClr val="7354B8"/>
                </a:solidFill>
                <a:latin typeface="Arial"/>
              </a:defRPr>
            </a:pPr>
            <a:r>
              <a:t>DECODE POD  /  SHARED POD NETWORK</a:t>
            </a:r>
          </a:p>
        </p:txBody>
      </p:sp>
      <p:sp>
        <p:nvSpPr>
          <p:cNvPr id="12" name="Rounded Rectangle 11"/>
          <p:cNvSpPr/>
          <p:nvPr/>
        </p:nvSpPr>
        <p:spPr>
          <a:xfrm>
            <a:off x="3017520" y="3172968"/>
            <a:ext cx="2971800" cy="16002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017520" y="3264408"/>
            <a:ext cx="50292" cy="14173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154679" y="3291840"/>
            <a:ext cx="2697480" cy="658368"/>
          </a:xfrm>
          <a:prstGeom prst="rect">
            <a:avLst/>
          </a:prstGeom>
          <a:noFill/>
        </p:spPr>
        <p:txBody>
          <a:bodyPr wrap="square" lIns="13716" rIns="13716" tIns="13716" bIns="13716">
            <a:spAutoFit/>
          </a:bodyPr>
          <a:lstStyle/>
          <a:p>
            <a:pPr algn="ctr">
              <a:spcBef>
                <a:spcPts val="0"/>
              </a:spcBef>
              <a:spcAft>
                <a:spcPts val="500"/>
              </a:spcAft>
              <a:defRPr sz="2000" b="1">
                <a:solidFill>
                  <a:srgbClr val="7354B8"/>
                </a:solidFill>
                <a:latin typeface="Arial"/>
              </a:defRPr>
            </a:pPr>
            <a:r>
              <a:t>llm-d routing</a:t>
            </a:r>
          </a:p>
          <a:p>
            <a:pPr algn="ctr">
              <a:spcBef>
                <a:spcPts val="0"/>
              </a:spcBef>
              <a:spcAft>
                <a:spcPts val="500"/>
              </a:spcAft>
              <a:defRPr sz="2000" b="1">
                <a:solidFill>
                  <a:srgbClr val="7354B8"/>
                </a:solidFill>
                <a:latin typeface="Arial"/>
              </a:defRPr>
            </a:pPr>
            <a:r>
              <a:t>sidecar</a:t>
            </a:r>
          </a:p>
        </p:txBody>
      </p:sp>
      <p:sp>
        <p:nvSpPr>
          <p:cNvPr id="15" name="TextBox 14"/>
          <p:cNvSpPr txBox="1"/>
          <p:nvPr/>
        </p:nvSpPr>
        <p:spPr>
          <a:xfrm>
            <a:off x="3163824" y="3995928"/>
            <a:ext cx="2679192" cy="685800"/>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Receives inference requests</a:t>
            </a:r>
          </a:p>
        </p:txBody>
      </p:sp>
      <p:sp>
        <p:nvSpPr>
          <p:cNvPr id="16" name="Rounded Rectangle 15"/>
          <p:cNvSpPr/>
          <p:nvPr/>
        </p:nvSpPr>
        <p:spPr>
          <a:xfrm>
            <a:off x="8275320" y="3172968"/>
            <a:ext cx="3108960" cy="16002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75320" y="3264408"/>
            <a:ext cx="50292" cy="14173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12480" y="3291840"/>
            <a:ext cx="2834640" cy="658368"/>
          </a:xfrm>
          <a:prstGeom prst="rect">
            <a:avLst/>
          </a:prstGeom>
          <a:noFill/>
        </p:spPr>
        <p:txBody>
          <a:bodyPr wrap="square" lIns="13716" rIns="13716" tIns="13716" bIns="13716">
            <a:spAutoFit/>
          </a:bodyPr>
          <a:lstStyle/>
          <a:p>
            <a:pPr algn="ctr">
              <a:spcBef>
                <a:spcPts val="0"/>
              </a:spcBef>
              <a:spcAft>
                <a:spcPts val="500"/>
              </a:spcAft>
              <a:defRPr sz="2000" b="1">
                <a:solidFill>
                  <a:srgbClr val="7354B8"/>
                </a:solidFill>
                <a:latin typeface="Arial"/>
              </a:defRPr>
            </a:pPr>
            <a:r>
              <a:t>vLLM decode</a:t>
            </a:r>
          </a:p>
          <a:p>
            <a:pPr algn="ctr">
              <a:spcBef>
                <a:spcPts val="0"/>
              </a:spcBef>
              <a:spcAft>
                <a:spcPts val="500"/>
              </a:spcAft>
              <a:defRPr sz="2000" b="1">
                <a:solidFill>
                  <a:srgbClr val="7354B8"/>
                </a:solidFill>
                <a:latin typeface="Arial"/>
              </a:defRPr>
            </a:pPr>
            <a:r>
              <a:t>runtime</a:t>
            </a:r>
          </a:p>
        </p:txBody>
      </p:sp>
      <p:sp>
        <p:nvSpPr>
          <p:cNvPr id="19" name="TextBox 18"/>
          <p:cNvSpPr txBox="1"/>
          <p:nvPr/>
        </p:nvSpPr>
        <p:spPr>
          <a:xfrm>
            <a:off x="8421624" y="3995928"/>
            <a:ext cx="2816352" cy="685800"/>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Local backend listener</a:t>
            </a:r>
          </a:p>
        </p:txBody>
      </p:sp>
      <p:sp>
        <p:nvSpPr>
          <p:cNvPr id="20" name="Rounded Rectangle 19"/>
          <p:cNvSpPr/>
          <p:nvPr/>
        </p:nvSpPr>
        <p:spPr>
          <a:xfrm>
            <a:off x="502920" y="3355848"/>
            <a:ext cx="1764792" cy="11704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02920" y="3447288"/>
            <a:ext cx="50292" cy="98755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3474720"/>
            <a:ext cx="1490472" cy="393192"/>
          </a:xfrm>
          <a:prstGeom prst="rect">
            <a:avLst/>
          </a:prstGeom>
          <a:noFill/>
        </p:spPr>
        <p:txBody>
          <a:bodyPr wrap="square" lIns="13716" rIns="13716" tIns="13716" bIns="13716">
            <a:spAutoFit/>
          </a:bodyPr>
          <a:lstStyle/>
          <a:p>
            <a:pPr algn="ctr">
              <a:spcBef>
                <a:spcPts val="0"/>
              </a:spcBef>
              <a:spcAft>
                <a:spcPts val="500"/>
              </a:spcAft>
              <a:defRPr sz="1800" b="1">
                <a:solidFill>
                  <a:srgbClr val="2563EB"/>
                </a:solidFill>
                <a:latin typeface="Arial"/>
              </a:defRPr>
            </a:pPr>
            <a:r>
              <a:t>Gateway</a:t>
            </a:r>
          </a:p>
        </p:txBody>
      </p:sp>
      <p:sp>
        <p:nvSpPr>
          <p:cNvPr id="23" name="TextBox 22"/>
          <p:cNvSpPr txBox="1"/>
          <p:nvPr/>
        </p:nvSpPr>
        <p:spPr>
          <a:xfrm>
            <a:off x="649224" y="3913632"/>
            <a:ext cx="1472184" cy="52120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Via Service</a:t>
            </a:r>
          </a:p>
        </p:txBody>
      </p:sp>
      <p:cxnSp>
        <p:nvCxnSpPr>
          <p:cNvPr id="24" name="Connector 23"/>
          <p:cNvCxnSpPr/>
          <p:nvPr/>
        </p:nvCxnSpPr>
        <p:spPr>
          <a:xfrm>
            <a:off x="2267712" y="3931920"/>
            <a:ext cx="749808"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5989320" y="3959352"/>
            <a:ext cx="2286000"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126480" y="3401568"/>
            <a:ext cx="2011680" cy="438912"/>
          </a:xfrm>
          <a:prstGeom prst="rect">
            <a:avLst/>
          </a:prstGeom>
          <a:noFill/>
        </p:spPr>
        <p:txBody>
          <a:bodyPr wrap="square" lIns="13716" rIns="13716" tIns="13716" bIns="13716">
            <a:spAutoFit/>
          </a:bodyPr>
          <a:lstStyle/>
          <a:p>
            <a:pPr algn="ctr">
              <a:spcBef>
                <a:spcPts val="0"/>
              </a:spcBef>
              <a:spcAft>
                <a:spcPts val="500"/>
              </a:spcAft>
              <a:defRPr sz="1400" b="1">
                <a:solidFill>
                  <a:srgbClr val="7354B8"/>
                </a:solidFill>
                <a:latin typeface="Arial"/>
              </a:defRPr>
            </a:pPr>
            <a:r>
              <a:t>Local forwarding</a:t>
            </a:r>
          </a:p>
        </p:txBody>
      </p:sp>
      <p:sp>
        <p:nvSpPr>
          <p:cNvPr id="27" name="TextBox 26"/>
          <p:cNvSpPr txBox="1"/>
          <p:nvPr/>
        </p:nvSpPr>
        <p:spPr>
          <a:xfrm>
            <a:off x="6126480" y="4224528"/>
            <a:ext cx="2011680" cy="502920"/>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Distinct listeners</a:t>
            </a:r>
          </a:p>
        </p:txBody>
      </p:sp>
      <p:sp>
        <p:nvSpPr>
          <p:cNvPr id="28" name="TextBox 27"/>
          <p:cNvSpPr txBox="1"/>
          <p:nvPr/>
        </p:nvSpPr>
        <p:spPr>
          <a:xfrm>
            <a:off x="3054096" y="5047488"/>
            <a:ext cx="8138160" cy="301752"/>
          </a:xfrm>
          <a:prstGeom prst="rect">
            <a:avLst/>
          </a:prstGeom>
          <a:noFill/>
        </p:spPr>
        <p:txBody>
          <a:bodyPr wrap="square" lIns="13716" rIns="13716" tIns="13716" bIns="13716">
            <a:spAutoFit/>
          </a:bodyPr>
          <a:lstStyle/>
          <a:p>
            <a:pPr>
              <a:spcBef>
                <a:spcPts val="0"/>
              </a:spcBef>
              <a:spcAft>
                <a:spcPts val="500"/>
              </a:spcAft>
              <a:defRPr sz="1300" b="0">
                <a:solidFill>
                  <a:srgbClr val="586A80"/>
                </a:solidFill>
                <a:latin typeface="Arial"/>
              </a:defRPr>
            </a:pPr>
            <a:r>
              <a:t>Illustrative topology; use the generated manifest for actual port numbers.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OPERATOR VALUE</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The abstraction removes assembly—not visibility</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One declared topology replaces repetitive runtime wiring.</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19 / 36</a:t>
            </a:r>
          </a:p>
        </p:txBody>
      </p:sp>
      <p:sp>
        <p:nvSpPr>
          <p:cNvPr id="8" name="Rounded Rectangle 7"/>
          <p:cNvSpPr/>
          <p:nvPr/>
        </p:nvSpPr>
        <p:spPr>
          <a:xfrm>
            <a:off x="502920" y="2148840"/>
            <a:ext cx="4892040" cy="3429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67512" y="2331720"/>
            <a:ext cx="347472" cy="59436"/>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514600"/>
            <a:ext cx="4526279" cy="420624"/>
          </a:xfrm>
          <a:prstGeom prst="rect">
            <a:avLst/>
          </a:prstGeom>
          <a:noFill/>
        </p:spPr>
        <p:txBody>
          <a:bodyPr wrap="square" lIns="13716" rIns="13716" tIns="13716" bIns="13716">
            <a:spAutoFit/>
          </a:bodyPr>
          <a:lstStyle/>
          <a:p>
            <a:pPr>
              <a:spcBef>
                <a:spcPts val="0"/>
              </a:spcBef>
              <a:spcAft>
                <a:spcPts val="500"/>
              </a:spcAft>
              <a:defRPr sz="2000" b="1">
                <a:solidFill>
                  <a:srgbClr val="AE641A"/>
                </a:solidFill>
                <a:latin typeface="Arial"/>
              </a:defRPr>
            </a:pPr>
            <a:r>
              <a:t>Before: manual assembly</a:t>
            </a:r>
          </a:p>
        </p:txBody>
      </p:sp>
      <p:sp>
        <p:nvSpPr>
          <p:cNvPr id="11" name="TextBox 10"/>
          <p:cNvSpPr txBox="1"/>
          <p:nvPr/>
        </p:nvSpPr>
        <p:spPr>
          <a:xfrm>
            <a:off x="685800" y="3118104"/>
            <a:ext cx="4526279" cy="2313432"/>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Pair role deployments and Services</a:t>
            </a:r>
          </a:p>
          <a:p>
            <a:pPr>
              <a:spcBef>
                <a:spcPts val="0"/>
              </a:spcBef>
              <a:spcAft>
                <a:spcPts val="500"/>
              </a:spcAft>
              <a:defRPr sz="1800" b="0">
                <a:solidFill>
                  <a:srgbClr val="172941"/>
                </a:solidFill>
                <a:latin typeface="Arial"/>
              </a:defRPr>
            </a:pPr>
          </a:p>
          <a:p>
            <a:pPr>
              <a:spcBef>
                <a:spcPts val="0"/>
              </a:spcBef>
              <a:spcAft>
                <a:spcPts val="500"/>
              </a:spcAft>
              <a:defRPr sz="1800" b="0">
                <a:solidFill>
                  <a:srgbClr val="172941"/>
                </a:solidFill>
                <a:latin typeface="Arial"/>
              </a:defRPr>
            </a:pPr>
            <a:r>
              <a:t>Align labels, ports, env vars, probes</a:t>
            </a:r>
          </a:p>
          <a:p>
            <a:pPr>
              <a:spcBef>
                <a:spcPts val="0"/>
              </a:spcBef>
              <a:spcAft>
                <a:spcPts val="500"/>
              </a:spcAft>
              <a:defRPr sz="1800" b="0">
                <a:solidFill>
                  <a:srgbClr val="172941"/>
                </a:solidFill>
                <a:latin typeface="Arial"/>
              </a:defRPr>
            </a:pPr>
          </a:p>
          <a:p>
            <a:pPr>
              <a:spcBef>
                <a:spcPts val="0"/>
              </a:spcBef>
              <a:spcAft>
                <a:spcPts val="500"/>
              </a:spcAft>
              <a:defRPr sz="1800" b="0">
                <a:solidFill>
                  <a:srgbClr val="172941"/>
                </a:solidFill>
                <a:latin typeface="Arial"/>
              </a:defRPr>
            </a:pPr>
            <a:r>
              <a:t>Wire sidecars and routing config</a:t>
            </a:r>
          </a:p>
        </p:txBody>
      </p:sp>
      <p:cxnSp>
        <p:nvCxnSpPr>
          <p:cNvPr id="12" name="Connector 11"/>
          <p:cNvCxnSpPr/>
          <p:nvPr/>
        </p:nvCxnSpPr>
        <p:spPr>
          <a:xfrm>
            <a:off x="5559552" y="3794760"/>
            <a:ext cx="978408" cy="0"/>
          </a:xfrm>
          <a:prstGeom prst="line">
            <a:avLst/>
          </a:prstGeom>
          <a:ln w="381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6793992" y="2148840"/>
            <a:ext cx="4892040" cy="3429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958583" y="2331720"/>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976872" y="2514600"/>
            <a:ext cx="4526279"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After: declared intent</a:t>
            </a:r>
          </a:p>
        </p:txBody>
      </p:sp>
      <p:sp>
        <p:nvSpPr>
          <p:cNvPr id="16" name="TextBox 15"/>
          <p:cNvSpPr txBox="1"/>
          <p:nvPr/>
        </p:nvSpPr>
        <p:spPr>
          <a:xfrm>
            <a:off x="6976872" y="3118104"/>
            <a:ext cx="4526279" cy="2313432"/>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Describe roles in MultiRoleInference</a:t>
            </a:r>
          </a:p>
          <a:p>
            <a:pPr>
              <a:spcBef>
                <a:spcPts val="0"/>
              </a:spcBef>
              <a:spcAft>
                <a:spcPts val="500"/>
              </a:spcAft>
              <a:defRPr sz="1800" b="0">
                <a:solidFill>
                  <a:srgbClr val="172941"/>
                </a:solidFill>
                <a:latin typeface="Arial"/>
              </a:defRPr>
            </a:pPr>
          </a:p>
          <a:p>
            <a:pPr>
              <a:spcBef>
                <a:spcPts val="0"/>
              </a:spcBef>
              <a:spcAft>
                <a:spcPts val="500"/>
              </a:spcAft>
              <a:defRPr sz="1800" b="0">
                <a:solidFill>
                  <a:srgbClr val="172941"/>
                </a:solidFill>
                <a:latin typeface="Arial"/>
              </a:defRPr>
            </a:pPr>
            <a:r>
              <a:t>Inspect generated child resources</a:t>
            </a:r>
          </a:p>
          <a:p>
            <a:pPr>
              <a:spcBef>
                <a:spcPts val="0"/>
              </a:spcBef>
              <a:spcAft>
                <a:spcPts val="500"/>
              </a:spcAft>
              <a:defRPr sz="1800" b="0">
                <a:solidFill>
                  <a:srgbClr val="172941"/>
                </a:solidFill>
                <a:latin typeface="Arial"/>
              </a:defRPr>
            </a:pPr>
          </a:p>
          <a:p>
            <a:pPr>
              <a:spcBef>
                <a:spcPts val="0"/>
              </a:spcBef>
              <a:spcAft>
                <a:spcPts val="500"/>
              </a:spcAft>
              <a:defRPr sz="1800" b="0">
                <a:solidFill>
                  <a:srgbClr val="172941"/>
                </a:solidFill>
                <a:latin typeface="Arial"/>
              </a:defRPr>
            </a:pPr>
            <a:r>
              <a:t>Operate through Kubernetes APIs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PER-ROLE AUTOSCALING</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Autoscale the phase that is actually saturated</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Different bottlenecks deserve different signals and scale decisions.</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Independent scaling only helps when the metrics match each role.</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20 / 36</a:t>
            </a:r>
          </a:p>
        </p:txBody>
      </p:sp>
      <p:sp>
        <p:nvSpPr>
          <p:cNvPr id="10" name="Rounded Rectangle 9"/>
          <p:cNvSpPr/>
          <p:nvPr/>
        </p:nvSpPr>
        <p:spPr>
          <a:xfrm>
            <a:off x="502920" y="2148840"/>
            <a:ext cx="5440680" cy="24688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67512" y="2331720"/>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514600"/>
            <a:ext cx="5074920"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PREFILL</a:t>
            </a:r>
          </a:p>
        </p:txBody>
      </p:sp>
      <p:sp>
        <p:nvSpPr>
          <p:cNvPr id="13" name="TextBox 12"/>
          <p:cNvSpPr txBox="1"/>
          <p:nvPr/>
        </p:nvSpPr>
        <p:spPr>
          <a:xfrm>
            <a:off x="685800" y="3118104"/>
            <a:ext cx="5074920" cy="1353312"/>
          </a:xfrm>
          <a:prstGeom prst="rect">
            <a:avLst/>
          </a:prstGeom>
          <a:noFill/>
        </p:spPr>
        <p:txBody>
          <a:bodyPr wrap="square" lIns="13716" rIns="13716" tIns="13716" bIns="13716">
            <a:spAutoFit/>
          </a:bodyPr>
          <a:lstStyle/>
          <a:p>
            <a:pPr>
              <a:spcBef>
                <a:spcPts val="0"/>
              </a:spcBef>
              <a:spcAft>
                <a:spcPts val="500"/>
              </a:spcAft>
              <a:defRPr sz="2200" b="0">
                <a:solidFill>
                  <a:srgbClr val="172941"/>
                </a:solidFill>
                <a:latin typeface="Arial"/>
              </a:defRPr>
            </a:pPr>
            <a:r>
              <a:t>Protect prompt latency</a:t>
            </a:r>
          </a:p>
          <a:p>
            <a:pPr>
              <a:spcBef>
                <a:spcPts val="0"/>
              </a:spcBef>
              <a:spcAft>
                <a:spcPts val="500"/>
              </a:spcAft>
              <a:defRPr sz="2200" b="0">
                <a:solidFill>
                  <a:srgbClr val="172941"/>
                </a:solidFill>
                <a:latin typeface="Arial"/>
              </a:defRPr>
            </a:pPr>
            <a:r>
              <a:t>and time to first token.</a:t>
            </a:r>
          </a:p>
        </p:txBody>
      </p:sp>
      <p:sp>
        <p:nvSpPr>
          <p:cNvPr id="14" name="Rounded Rectangle 13"/>
          <p:cNvSpPr/>
          <p:nvPr/>
        </p:nvSpPr>
        <p:spPr>
          <a:xfrm>
            <a:off x="502920" y="4892040"/>
            <a:ext cx="5440680" cy="310896"/>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4924044"/>
            <a:ext cx="531266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087F8C"/>
                </a:solidFill>
                <a:latin typeface="Arial"/>
              </a:defRPr>
            </a:pPr>
            <a:r>
              <a:t>Signal: waiting requests / prompt pressure</a:t>
            </a:r>
          </a:p>
        </p:txBody>
      </p:sp>
      <p:sp>
        <p:nvSpPr>
          <p:cNvPr id="16" name="Rounded Rectangle 15"/>
          <p:cNvSpPr/>
          <p:nvPr/>
        </p:nvSpPr>
        <p:spPr>
          <a:xfrm>
            <a:off x="6199632" y="2148840"/>
            <a:ext cx="5440680" cy="24688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364224" y="2331720"/>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82512" y="2514600"/>
            <a:ext cx="5074920"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DECODE</a:t>
            </a:r>
          </a:p>
        </p:txBody>
      </p:sp>
      <p:sp>
        <p:nvSpPr>
          <p:cNvPr id="19" name="TextBox 18"/>
          <p:cNvSpPr txBox="1"/>
          <p:nvPr/>
        </p:nvSpPr>
        <p:spPr>
          <a:xfrm>
            <a:off x="6382512" y="3118104"/>
            <a:ext cx="5074920" cy="1353312"/>
          </a:xfrm>
          <a:prstGeom prst="rect">
            <a:avLst/>
          </a:prstGeom>
          <a:noFill/>
        </p:spPr>
        <p:txBody>
          <a:bodyPr wrap="square" lIns="13716" rIns="13716" tIns="13716" bIns="13716">
            <a:spAutoFit/>
          </a:bodyPr>
          <a:lstStyle/>
          <a:p>
            <a:pPr>
              <a:spcBef>
                <a:spcPts val="0"/>
              </a:spcBef>
              <a:spcAft>
                <a:spcPts val="500"/>
              </a:spcAft>
              <a:defRPr sz="2200" b="0">
                <a:solidFill>
                  <a:srgbClr val="172941"/>
                </a:solidFill>
                <a:latin typeface="Arial"/>
              </a:defRPr>
            </a:pPr>
            <a:r>
              <a:t>Protect token delivery</a:t>
            </a:r>
          </a:p>
          <a:p>
            <a:pPr>
              <a:spcBef>
                <a:spcPts val="0"/>
              </a:spcBef>
              <a:spcAft>
                <a:spcPts val="500"/>
              </a:spcAft>
              <a:defRPr sz="2200" b="0">
                <a:solidFill>
                  <a:srgbClr val="172941"/>
                </a:solidFill>
                <a:latin typeface="Arial"/>
              </a:defRPr>
            </a:pPr>
            <a:r>
              <a:t>and sustained throughput.</a:t>
            </a:r>
          </a:p>
        </p:txBody>
      </p:sp>
      <p:sp>
        <p:nvSpPr>
          <p:cNvPr id="20" name="Rounded Rectangle 19"/>
          <p:cNvSpPr/>
          <p:nvPr/>
        </p:nvSpPr>
        <p:spPr>
          <a:xfrm>
            <a:off x="6199632" y="4892040"/>
            <a:ext cx="5440680" cy="31089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63640" y="4924044"/>
            <a:ext cx="531266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7354B8"/>
                </a:solidFill>
                <a:latin typeface="Arial"/>
              </a:defRPr>
            </a:pPr>
            <a:r>
              <a:t>Signal: active KV pressure / decode load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EXISTING CAPABILITY</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Today: KEDA targets the InferenceSet scale API</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Documented KAITO examples cover both scheduled and metric-based scaling.</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The scale target is the InferenceSet—not a manually scaled workload Pod.</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21 / 36</a:t>
            </a:r>
          </a:p>
        </p:txBody>
      </p:sp>
      <p:sp>
        <p:nvSpPr>
          <p:cNvPr id="10" name="Rounded Rectangle 9"/>
          <p:cNvSpPr/>
          <p:nvPr/>
        </p:nvSpPr>
        <p:spPr>
          <a:xfrm>
            <a:off x="502920" y="2020824"/>
            <a:ext cx="2194560" cy="310896"/>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052828"/>
            <a:ext cx="2066543" cy="237744"/>
          </a:xfrm>
          <a:prstGeom prst="rect">
            <a:avLst/>
          </a:prstGeom>
          <a:noFill/>
        </p:spPr>
        <p:txBody>
          <a:bodyPr wrap="square" lIns="13716" rIns="13716" tIns="13716" bIns="13716">
            <a:spAutoFit/>
          </a:bodyPr>
          <a:lstStyle/>
          <a:p>
            <a:pPr algn="ctr">
              <a:spcBef>
                <a:spcPts val="0"/>
              </a:spcBef>
              <a:spcAft>
                <a:spcPts val="500"/>
              </a:spcAft>
              <a:defRPr sz="1000" b="1">
                <a:solidFill>
                  <a:srgbClr val="2563EB"/>
                </a:solidFill>
                <a:latin typeface="Arial"/>
              </a:defRPr>
            </a:pPr>
            <a:r>
              <a:t>DOCUMENTED TODAY</a:t>
            </a:r>
          </a:p>
        </p:txBody>
      </p:sp>
      <p:sp>
        <p:nvSpPr>
          <p:cNvPr id="12" name="Rounded Rectangle 11"/>
          <p:cNvSpPr/>
          <p:nvPr/>
        </p:nvSpPr>
        <p:spPr>
          <a:xfrm>
            <a:off x="502920" y="2852928"/>
            <a:ext cx="3200400" cy="12527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02920" y="2944368"/>
            <a:ext cx="50292" cy="1069848"/>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2971800"/>
            <a:ext cx="292608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AE641A"/>
                </a:solidFill>
                <a:latin typeface="Arial"/>
              </a:defRPr>
            </a:pPr>
            <a:r>
              <a:t>Trigger</a:t>
            </a:r>
          </a:p>
        </p:txBody>
      </p:sp>
      <p:sp>
        <p:nvSpPr>
          <p:cNvPr id="15" name="TextBox 14"/>
          <p:cNvSpPr txBox="1"/>
          <p:nvPr/>
        </p:nvSpPr>
        <p:spPr>
          <a:xfrm>
            <a:off x="649224" y="3410712"/>
            <a:ext cx="2907792" cy="60350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Cron or Prometheus query</a:t>
            </a:r>
          </a:p>
        </p:txBody>
      </p:sp>
      <p:sp>
        <p:nvSpPr>
          <p:cNvPr id="16" name="Rounded Rectangle 15"/>
          <p:cNvSpPr/>
          <p:nvPr/>
        </p:nvSpPr>
        <p:spPr>
          <a:xfrm>
            <a:off x="4498848" y="2852928"/>
            <a:ext cx="3200400" cy="12527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98848" y="2944368"/>
            <a:ext cx="50292" cy="106984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36008" y="2971800"/>
            <a:ext cx="292608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2563EB"/>
                </a:solidFill>
                <a:latin typeface="Arial"/>
              </a:defRPr>
            </a:pPr>
            <a:r>
              <a:t>KEDA / HPA</a:t>
            </a:r>
          </a:p>
        </p:txBody>
      </p:sp>
      <p:sp>
        <p:nvSpPr>
          <p:cNvPr id="19" name="TextBox 18"/>
          <p:cNvSpPr txBox="1"/>
          <p:nvPr/>
        </p:nvSpPr>
        <p:spPr>
          <a:xfrm>
            <a:off x="4645152" y="3410712"/>
            <a:ext cx="2907792" cy="60350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ScaledObject target</a:t>
            </a:r>
          </a:p>
        </p:txBody>
      </p:sp>
      <p:sp>
        <p:nvSpPr>
          <p:cNvPr id="20" name="Rounded Rectangle 19"/>
          <p:cNvSpPr/>
          <p:nvPr/>
        </p:nvSpPr>
        <p:spPr>
          <a:xfrm>
            <a:off x="8485632" y="2852928"/>
            <a:ext cx="3200400" cy="12527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485632" y="2944368"/>
            <a:ext cx="50292" cy="1069848"/>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622792" y="2971800"/>
            <a:ext cx="292608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087F8C"/>
                </a:solidFill>
                <a:latin typeface="Arial"/>
              </a:defRPr>
            </a:pPr>
            <a:r>
              <a:t>InferenceSet</a:t>
            </a:r>
          </a:p>
        </p:txBody>
      </p:sp>
      <p:sp>
        <p:nvSpPr>
          <p:cNvPr id="23" name="TextBox 22"/>
          <p:cNvSpPr txBox="1"/>
          <p:nvPr/>
        </p:nvSpPr>
        <p:spPr>
          <a:xfrm>
            <a:off x="8631936" y="3410712"/>
            <a:ext cx="2907792" cy="60350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Scale subresource</a:t>
            </a:r>
          </a:p>
        </p:txBody>
      </p:sp>
      <p:cxnSp>
        <p:nvCxnSpPr>
          <p:cNvPr id="24" name="Connector 23"/>
          <p:cNvCxnSpPr/>
          <p:nvPr/>
        </p:nvCxnSpPr>
        <p:spPr>
          <a:xfrm>
            <a:off x="3703320" y="3474720"/>
            <a:ext cx="795528"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7699248" y="3474720"/>
            <a:ext cx="786384"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502920" y="4617720"/>
            <a:ext cx="11183112" cy="84124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13232" y="4855464"/>
            <a:ext cx="3291840" cy="329184"/>
          </a:xfrm>
          <a:prstGeom prst="rect">
            <a:avLst/>
          </a:prstGeom>
          <a:noFill/>
        </p:spPr>
        <p:txBody>
          <a:bodyPr wrap="square" lIns="13716" rIns="13716" tIns="13716" bIns="13716">
            <a:spAutoFit/>
          </a:bodyPr>
          <a:lstStyle/>
          <a:p>
            <a:pPr>
              <a:spcBef>
                <a:spcPts val="0"/>
              </a:spcBef>
              <a:spcAft>
                <a:spcPts val="500"/>
              </a:spcAft>
              <a:defRPr sz="1700" b="1">
                <a:solidFill>
                  <a:srgbClr val="586A80"/>
                </a:solidFill>
                <a:latin typeface="Arial"/>
              </a:defRPr>
            </a:pPr>
            <a:r>
              <a:t>Documented queue signal</a:t>
            </a:r>
          </a:p>
        </p:txBody>
      </p:sp>
      <p:sp>
        <p:nvSpPr>
          <p:cNvPr id="28" name="TextBox 27"/>
          <p:cNvSpPr txBox="1"/>
          <p:nvPr/>
        </p:nvSpPr>
        <p:spPr>
          <a:xfrm>
            <a:off x="4297680" y="4855464"/>
            <a:ext cx="7040880" cy="338328"/>
          </a:xfrm>
          <a:prstGeom prst="rect">
            <a:avLst/>
          </a:prstGeom>
          <a:noFill/>
        </p:spPr>
        <p:txBody>
          <a:bodyPr wrap="square" lIns="13716" rIns="13716" tIns="13716" bIns="13716">
            <a:spAutoFit/>
          </a:bodyPr>
          <a:lstStyle/>
          <a:p>
            <a:pPr>
              <a:spcBef>
                <a:spcPts val="0"/>
              </a:spcBef>
              <a:spcAft>
                <a:spcPts val="500"/>
              </a:spcAft>
              <a:defRPr sz="1900" b="0">
                <a:solidFill>
                  <a:srgbClr val="087F8C"/>
                </a:solidFill>
                <a:latin typeface="Courier New"/>
              </a:defRPr>
            </a:pPr>
            <a:r>
              <a:t>vllm:num_requests_waiting</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PER-ROLE AUTOSCALING</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Two independent control loops, one logical service</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Conceptual design: validate signals and thresholds for the actual workload.</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22 / 36</a:t>
            </a:r>
          </a:p>
        </p:txBody>
      </p:sp>
      <p:sp>
        <p:nvSpPr>
          <p:cNvPr id="8" name="Rounded Rectangle 7"/>
          <p:cNvSpPr/>
          <p:nvPr/>
        </p:nvSpPr>
        <p:spPr>
          <a:xfrm>
            <a:off x="502920" y="2267712"/>
            <a:ext cx="1371600" cy="310896"/>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2299716"/>
            <a:ext cx="124358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087F8C"/>
                </a:solidFill>
                <a:latin typeface="Arial"/>
              </a:defRPr>
            </a:pPr>
            <a:r>
              <a:t>PREFILL</a:t>
            </a:r>
          </a:p>
        </p:txBody>
      </p:sp>
      <p:sp>
        <p:nvSpPr>
          <p:cNvPr id="10" name="Rounded Rectangle 9"/>
          <p:cNvSpPr/>
          <p:nvPr/>
        </p:nvSpPr>
        <p:spPr>
          <a:xfrm>
            <a:off x="2212848" y="2194560"/>
            <a:ext cx="2606040" cy="10881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212848" y="2286000"/>
            <a:ext cx="50292" cy="90525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350008" y="2313432"/>
            <a:ext cx="2331720" cy="393192"/>
          </a:xfrm>
          <a:prstGeom prst="rect">
            <a:avLst/>
          </a:prstGeom>
          <a:noFill/>
        </p:spPr>
        <p:txBody>
          <a:bodyPr wrap="square" lIns="13716" rIns="13716" tIns="13716" bIns="13716">
            <a:spAutoFit/>
          </a:bodyPr>
          <a:lstStyle/>
          <a:p>
            <a:pPr algn="ctr">
              <a:spcBef>
                <a:spcPts val="0"/>
              </a:spcBef>
              <a:spcAft>
                <a:spcPts val="500"/>
              </a:spcAft>
              <a:defRPr sz="1700" b="1">
                <a:solidFill>
                  <a:srgbClr val="087F8C"/>
                </a:solidFill>
                <a:latin typeface="Arial"/>
              </a:defRPr>
            </a:pPr>
            <a:r>
              <a:t>Waiting requests</a:t>
            </a:r>
          </a:p>
        </p:txBody>
      </p:sp>
      <p:sp>
        <p:nvSpPr>
          <p:cNvPr id="13" name="TextBox 12"/>
          <p:cNvSpPr txBox="1"/>
          <p:nvPr/>
        </p:nvSpPr>
        <p:spPr>
          <a:xfrm>
            <a:off x="2359152" y="2752344"/>
            <a:ext cx="2313432" cy="43891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Observe</a:t>
            </a:r>
          </a:p>
        </p:txBody>
      </p:sp>
      <p:sp>
        <p:nvSpPr>
          <p:cNvPr id="14" name="Rounded Rectangle 13"/>
          <p:cNvSpPr/>
          <p:nvPr/>
        </p:nvSpPr>
        <p:spPr>
          <a:xfrm>
            <a:off x="5486400" y="2194560"/>
            <a:ext cx="2377440" cy="10881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0" y="2286000"/>
            <a:ext cx="50292" cy="90525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623560" y="2313432"/>
            <a:ext cx="2103120" cy="393192"/>
          </a:xfrm>
          <a:prstGeom prst="rect">
            <a:avLst/>
          </a:prstGeom>
          <a:noFill/>
        </p:spPr>
        <p:txBody>
          <a:bodyPr wrap="square" lIns="13716" rIns="13716" tIns="13716" bIns="13716">
            <a:spAutoFit/>
          </a:bodyPr>
          <a:lstStyle/>
          <a:p>
            <a:pPr algn="ctr">
              <a:spcBef>
                <a:spcPts val="0"/>
              </a:spcBef>
              <a:spcAft>
                <a:spcPts val="500"/>
              </a:spcAft>
              <a:defRPr sz="1700" b="1">
                <a:solidFill>
                  <a:srgbClr val="087F8C"/>
                </a:solidFill>
                <a:latin typeface="Arial"/>
              </a:defRPr>
            </a:pPr>
            <a:r>
              <a:t>KEDA / HPA</a:t>
            </a:r>
          </a:p>
        </p:txBody>
      </p:sp>
      <p:sp>
        <p:nvSpPr>
          <p:cNvPr id="17" name="TextBox 16"/>
          <p:cNvSpPr txBox="1"/>
          <p:nvPr/>
        </p:nvSpPr>
        <p:spPr>
          <a:xfrm>
            <a:off x="5632704" y="2752344"/>
            <a:ext cx="2084832" cy="43891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Decide</a:t>
            </a:r>
          </a:p>
        </p:txBody>
      </p:sp>
      <p:sp>
        <p:nvSpPr>
          <p:cNvPr id="18" name="Rounded Rectangle 17"/>
          <p:cNvSpPr/>
          <p:nvPr/>
        </p:nvSpPr>
        <p:spPr>
          <a:xfrm>
            <a:off x="8522208" y="2194560"/>
            <a:ext cx="3163824" cy="10881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522208" y="2286000"/>
            <a:ext cx="50292" cy="90525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59368" y="2313432"/>
            <a:ext cx="2889504" cy="393192"/>
          </a:xfrm>
          <a:prstGeom prst="rect">
            <a:avLst/>
          </a:prstGeom>
          <a:noFill/>
        </p:spPr>
        <p:txBody>
          <a:bodyPr wrap="square" lIns="13716" rIns="13716" tIns="13716" bIns="13716">
            <a:spAutoFit/>
          </a:bodyPr>
          <a:lstStyle/>
          <a:p>
            <a:pPr algn="ctr">
              <a:spcBef>
                <a:spcPts val="0"/>
              </a:spcBef>
              <a:spcAft>
                <a:spcPts val="500"/>
              </a:spcAft>
              <a:defRPr sz="1700" b="1">
                <a:solidFill>
                  <a:srgbClr val="087F8C"/>
                </a:solidFill>
                <a:latin typeface="Arial"/>
              </a:defRPr>
            </a:pPr>
            <a:r>
              <a:t>Prefill InferenceSet</a:t>
            </a:r>
          </a:p>
        </p:txBody>
      </p:sp>
      <p:sp>
        <p:nvSpPr>
          <p:cNvPr id="21" name="TextBox 20"/>
          <p:cNvSpPr txBox="1"/>
          <p:nvPr/>
        </p:nvSpPr>
        <p:spPr>
          <a:xfrm>
            <a:off x="8668512" y="2752344"/>
            <a:ext cx="2871216" cy="43891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Reconcile replicas</a:t>
            </a:r>
          </a:p>
        </p:txBody>
      </p:sp>
      <p:cxnSp>
        <p:nvCxnSpPr>
          <p:cNvPr id="22" name="Connector 21"/>
          <p:cNvCxnSpPr/>
          <p:nvPr/>
        </p:nvCxnSpPr>
        <p:spPr>
          <a:xfrm>
            <a:off x="4818888" y="2724912"/>
            <a:ext cx="667512"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863840" y="2724912"/>
            <a:ext cx="658368"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0104120" y="3282696"/>
            <a:ext cx="0" cy="347472"/>
          </a:xfrm>
          <a:prstGeom prst="line">
            <a:avLst/>
          </a:prstGeom>
          <a:ln w="25400">
            <a:solidFill>
              <a:srgbClr val="087F8C"/>
            </a:solidFill>
            <a:prstDash val="dash"/>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a:off x="3511296" y="3630168"/>
            <a:ext cx="6592824" cy="0"/>
          </a:xfrm>
          <a:prstGeom prst="line">
            <a:avLst/>
          </a:prstGeom>
          <a:ln w="25400">
            <a:solidFill>
              <a:srgbClr val="087F8C"/>
            </a:solidFill>
            <a:prstDash val="dash"/>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3511296" y="3282696"/>
            <a:ext cx="0" cy="347472"/>
          </a:xfrm>
          <a:prstGeom prst="line">
            <a:avLst/>
          </a:prstGeom>
          <a:ln w="25400">
            <a:solidFill>
              <a:srgbClr val="087F8C"/>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502920" y="4160520"/>
            <a:ext cx="1371600" cy="31089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192524"/>
            <a:ext cx="124358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7354B8"/>
                </a:solidFill>
                <a:latin typeface="Arial"/>
              </a:defRPr>
            </a:pPr>
            <a:r>
              <a:t>DECODE</a:t>
            </a:r>
          </a:p>
        </p:txBody>
      </p:sp>
      <p:sp>
        <p:nvSpPr>
          <p:cNvPr id="29" name="Rounded Rectangle 28"/>
          <p:cNvSpPr/>
          <p:nvPr/>
        </p:nvSpPr>
        <p:spPr>
          <a:xfrm>
            <a:off x="2212848" y="4087368"/>
            <a:ext cx="2606040" cy="10881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2212848" y="4178807"/>
            <a:ext cx="50292" cy="90525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350008" y="4206240"/>
            <a:ext cx="2331720" cy="393192"/>
          </a:xfrm>
          <a:prstGeom prst="rect">
            <a:avLst/>
          </a:prstGeom>
          <a:noFill/>
        </p:spPr>
        <p:txBody>
          <a:bodyPr wrap="square" lIns="13716" rIns="13716" tIns="13716" bIns="13716">
            <a:spAutoFit/>
          </a:bodyPr>
          <a:lstStyle/>
          <a:p>
            <a:pPr algn="ctr">
              <a:spcBef>
                <a:spcPts val="0"/>
              </a:spcBef>
              <a:spcAft>
                <a:spcPts val="500"/>
              </a:spcAft>
              <a:defRPr sz="1700" b="1">
                <a:solidFill>
                  <a:srgbClr val="7354B8"/>
                </a:solidFill>
                <a:latin typeface="Arial"/>
              </a:defRPr>
            </a:pPr>
            <a:r>
              <a:t>KV / decode load</a:t>
            </a:r>
          </a:p>
        </p:txBody>
      </p:sp>
      <p:sp>
        <p:nvSpPr>
          <p:cNvPr id="32" name="TextBox 31"/>
          <p:cNvSpPr txBox="1"/>
          <p:nvPr/>
        </p:nvSpPr>
        <p:spPr>
          <a:xfrm>
            <a:off x="2359152" y="4645151"/>
            <a:ext cx="2313432" cy="43891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Observe</a:t>
            </a:r>
          </a:p>
        </p:txBody>
      </p:sp>
      <p:sp>
        <p:nvSpPr>
          <p:cNvPr id="33" name="Rounded Rectangle 32"/>
          <p:cNvSpPr/>
          <p:nvPr/>
        </p:nvSpPr>
        <p:spPr>
          <a:xfrm>
            <a:off x="5486400" y="4087368"/>
            <a:ext cx="2377440" cy="10881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0" y="4178807"/>
            <a:ext cx="50292" cy="90525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623560" y="4206240"/>
            <a:ext cx="2103120" cy="393192"/>
          </a:xfrm>
          <a:prstGeom prst="rect">
            <a:avLst/>
          </a:prstGeom>
          <a:noFill/>
        </p:spPr>
        <p:txBody>
          <a:bodyPr wrap="square" lIns="13716" rIns="13716" tIns="13716" bIns="13716">
            <a:spAutoFit/>
          </a:bodyPr>
          <a:lstStyle/>
          <a:p>
            <a:pPr algn="ctr">
              <a:spcBef>
                <a:spcPts val="0"/>
              </a:spcBef>
              <a:spcAft>
                <a:spcPts val="500"/>
              </a:spcAft>
              <a:defRPr sz="1700" b="1">
                <a:solidFill>
                  <a:srgbClr val="7354B8"/>
                </a:solidFill>
                <a:latin typeface="Arial"/>
              </a:defRPr>
            </a:pPr>
            <a:r>
              <a:t>KEDA / HPA</a:t>
            </a:r>
          </a:p>
        </p:txBody>
      </p:sp>
      <p:sp>
        <p:nvSpPr>
          <p:cNvPr id="36" name="TextBox 35"/>
          <p:cNvSpPr txBox="1"/>
          <p:nvPr/>
        </p:nvSpPr>
        <p:spPr>
          <a:xfrm>
            <a:off x="5632704" y="4645151"/>
            <a:ext cx="2084832" cy="43891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Decide</a:t>
            </a:r>
          </a:p>
        </p:txBody>
      </p:sp>
      <p:sp>
        <p:nvSpPr>
          <p:cNvPr id="37" name="Rounded Rectangle 36"/>
          <p:cNvSpPr/>
          <p:nvPr/>
        </p:nvSpPr>
        <p:spPr>
          <a:xfrm>
            <a:off x="8522208" y="4087368"/>
            <a:ext cx="3163824" cy="10881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8522208" y="4178807"/>
            <a:ext cx="50292" cy="90525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659368" y="4206240"/>
            <a:ext cx="2889504" cy="393192"/>
          </a:xfrm>
          <a:prstGeom prst="rect">
            <a:avLst/>
          </a:prstGeom>
          <a:noFill/>
        </p:spPr>
        <p:txBody>
          <a:bodyPr wrap="square" lIns="13716" rIns="13716" tIns="13716" bIns="13716">
            <a:spAutoFit/>
          </a:bodyPr>
          <a:lstStyle/>
          <a:p>
            <a:pPr algn="ctr">
              <a:spcBef>
                <a:spcPts val="0"/>
              </a:spcBef>
              <a:spcAft>
                <a:spcPts val="500"/>
              </a:spcAft>
              <a:defRPr sz="1700" b="1">
                <a:solidFill>
                  <a:srgbClr val="7354B8"/>
                </a:solidFill>
                <a:latin typeface="Arial"/>
              </a:defRPr>
            </a:pPr>
            <a:r>
              <a:t>Decode InferenceSet</a:t>
            </a:r>
          </a:p>
        </p:txBody>
      </p:sp>
      <p:sp>
        <p:nvSpPr>
          <p:cNvPr id="40" name="TextBox 39"/>
          <p:cNvSpPr txBox="1"/>
          <p:nvPr/>
        </p:nvSpPr>
        <p:spPr>
          <a:xfrm>
            <a:off x="8668512" y="4645151"/>
            <a:ext cx="2871216" cy="43891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Reconcile replicas</a:t>
            </a:r>
          </a:p>
        </p:txBody>
      </p:sp>
      <p:cxnSp>
        <p:nvCxnSpPr>
          <p:cNvPr id="41" name="Connector 40"/>
          <p:cNvCxnSpPr/>
          <p:nvPr/>
        </p:nvCxnSpPr>
        <p:spPr>
          <a:xfrm>
            <a:off x="4818888" y="4617720"/>
            <a:ext cx="667512"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7863840" y="4617720"/>
            <a:ext cx="658368"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10104120" y="5175504"/>
            <a:ext cx="0" cy="347472"/>
          </a:xfrm>
          <a:prstGeom prst="line">
            <a:avLst/>
          </a:prstGeom>
          <a:ln w="25400">
            <a:solidFill>
              <a:srgbClr val="7354B8"/>
            </a:solidFill>
            <a:prstDash val="dash"/>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a:off x="3511296" y="5522976"/>
            <a:ext cx="6592824" cy="0"/>
          </a:xfrm>
          <a:prstGeom prst="line">
            <a:avLst/>
          </a:prstGeom>
          <a:ln w="25400">
            <a:solidFill>
              <a:srgbClr val="7354B8"/>
            </a:solidFill>
            <a:prstDash val="dash"/>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3511296" y="5175504"/>
            <a:ext cx="0" cy="347472"/>
          </a:xfrm>
          <a:prstGeom prst="line">
            <a:avLst/>
          </a:prstGeom>
          <a:ln w="25400">
            <a:solidFill>
              <a:srgbClr val="7354B8"/>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521207" y="6025896"/>
            <a:ext cx="11064240" cy="329184"/>
          </a:xfrm>
          <a:prstGeom prst="rect">
            <a:avLst/>
          </a:prstGeom>
          <a:noFill/>
        </p:spPr>
        <p:txBody>
          <a:bodyPr wrap="square" lIns="13716" rIns="13716" tIns="13716" bIns="13716">
            <a:spAutoFit/>
          </a:bodyPr>
          <a:lstStyle/>
          <a:p>
            <a:pPr>
              <a:spcBef>
                <a:spcPts val="0"/>
              </a:spcBef>
              <a:spcAft>
                <a:spcPts val="500"/>
              </a:spcAft>
              <a:defRPr sz="1600" b="0">
                <a:solidFill>
                  <a:srgbClr val="586A80"/>
                </a:solidFill>
                <a:latin typeface="Arial"/>
              </a:defRPr>
            </a:pPr>
            <a:r>
              <a:t>Add stabilization, warm-up awareness, and safe scale-down behavior to each loop.</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PROPOSED API DIRECTION</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Recommended UX: one MRI, per-role scaling intent</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This is a platform recommendation, not an implemented YAML schema.</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Users should express the intent; controllers should generate the scaling plumbing.</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23 / 36</a:t>
            </a:r>
          </a:p>
        </p:txBody>
      </p:sp>
      <p:sp>
        <p:nvSpPr>
          <p:cNvPr id="10" name="Rounded Rectangle 9"/>
          <p:cNvSpPr/>
          <p:nvPr/>
        </p:nvSpPr>
        <p:spPr>
          <a:xfrm>
            <a:off x="502920" y="2029968"/>
            <a:ext cx="3931920" cy="310896"/>
          </a:xfrm>
          <a:prstGeom prst="roundRect">
            <a:avLst>
              <a:gd name="adj" fmla="val 10000"/>
            </a:avLst>
          </a:prstGeom>
          <a:solidFill>
            <a:srgbClr val="FFF3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061972"/>
            <a:ext cx="380390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AE641A"/>
                </a:solidFill>
                <a:latin typeface="Arial"/>
              </a:defRPr>
            </a:pPr>
            <a:r>
              <a:t>RECOMMENDATION / NOT A CURRENT API</a:t>
            </a:r>
          </a:p>
        </p:txBody>
      </p:sp>
      <p:sp>
        <p:nvSpPr>
          <p:cNvPr id="12" name="Rounded Rectangle 11"/>
          <p:cNvSpPr/>
          <p:nvPr/>
        </p:nvSpPr>
        <p:spPr>
          <a:xfrm>
            <a:off x="502920" y="2880360"/>
            <a:ext cx="3291840" cy="202996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02920" y="2971800"/>
            <a:ext cx="50292" cy="184708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2999232"/>
            <a:ext cx="301752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2563EB"/>
                </a:solidFill>
                <a:latin typeface="Arial"/>
              </a:defRPr>
            </a:pPr>
            <a:r>
              <a:t>MRI role intent</a:t>
            </a:r>
          </a:p>
        </p:txBody>
      </p:sp>
      <p:sp>
        <p:nvSpPr>
          <p:cNvPr id="15" name="TextBox 14"/>
          <p:cNvSpPr txBox="1"/>
          <p:nvPr/>
        </p:nvSpPr>
        <p:spPr>
          <a:xfrm>
            <a:off x="649224" y="3438144"/>
            <a:ext cx="2999232" cy="138074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Prefill: prompt-pressure policy</a:t>
            </a:r>
          </a:p>
          <a:p>
            <a:pPr algn="ctr">
              <a:spcBef>
                <a:spcPts val="0"/>
              </a:spcBef>
              <a:spcAft>
                <a:spcPts val="500"/>
              </a:spcAft>
              <a:defRPr sz="1400" b="0">
                <a:solidFill>
                  <a:srgbClr val="586A80"/>
                </a:solidFill>
                <a:latin typeface="Arial"/>
              </a:defRPr>
            </a:pPr>
            <a:r>
              <a:t>Decode: sustained-load policy</a:t>
            </a:r>
          </a:p>
        </p:txBody>
      </p:sp>
      <p:sp>
        <p:nvSpPr>
          <p:cNvPr id="16" name="Rounded Rectangle 15"/>
          <p:cNvSpPr/>
          <p:nvPr/>
        </p:nvSpPr>
        <p:spPr>
          <a:xfrm>
            <a:off x="4572000" y="3227832"/>
            <a:ext cx="3017520" cy="134416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0" y="3319272"/>
            <a:ext cx="50292" cy="116128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09160" y="3346703"/>
            <a:ext cx="274320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2563EB"/>
                </a:solidFill>
                <a:latin typeface="Arial"/>
              </a:defRPr>
            </a:pPr>
            <a:r>
              <a:t>KAITO controller</a:t>
            </a:r>
          </a:p>
        </p:txBody>
      </p:sp>
      <p:sp>
        <p:nvSpPr>
          <p:cNvPr id="19" name="TextBox 18"/>
          <p:cNvSpPr txBox="1"/>
          <p:nvPr/>
        </p:nvSpPr>
        <p:spPr>
          <a:xfrm>
            <a:off x="4718304" y="3785615"/>
            <a:ext cx="2724912" cy="69494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Project policy onto child roles</a:t>
            </a:r>
          </a:p>
        </p:txBody>
      </p:sp>
      <p:sp>
        <p:nvSpPr>
          <p:cNvPr id="20" name="Rounded Rectangle 19"/>
          <p:cNvSpPr/>
          <p:nvPr/>
        </p:nvSpPr>
        <p:spPr>
          <a:xfrm>
            <a:off x="8366760" y="2706624"/>
            <a:ext cx="3319272" cy="106984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66760" y="2798064"/>
            <a:ext cx="50292" cy="886968"/>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3920" y="2825496"/>
            <a:ext cx="3044952" cy="393192"/>
          </a:xfrm>
          <a:prstGeom prst="rect">
            <a:avLst/>
          </a:prstGeom>
          <a:noFill/>
        </p:spPr>
        <p:txBody>
          <a:bodyPr wrap="square" lIns="13716" rIns="13716" tIns="13716" bIns="13716">
            <a:spAutoFit/>
          </a:bodyPr>
          <a:lstStyle/>
          <a:p>
            <a:pPr algn="ctr">
              <a:spcBef>
                <a:spcPts val="0"/>
              </a:spcBef>
              <a:spcAft>
                <a:spcPts val="500"/>
              </a:spcAft>
              <a:defRPr sz="1800" b="1">
                <a:solidFill>
                  <a:srgbClr val="087F8C"/>
                </a:solidFill>
                <a:latin typeface="Arial"/>
              </a:defRPr>
            </a:pPr>
            <a:r>
              <a:t>Prefill scale target</a:t>
            </a:r>
          </a:p>
        </p:txBody>
      </p:sp>
      <p:sp>
        <p:nvSpPr>
          <p:cNvPr id="23" name="TextBox 22"/>
          <p:cNvSpPr txBox="1"/>
          <p:nvPr/>
        </p:nvSpPr>
        <p:spPr>
          <a:xfrm>
            <a:off x="8513064" y="3264408"/>
            <a:ext cx="3026664" cy="420623"/>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Generated policy + target</a:t>
            </a:r>
          </a:p>
        </p:txBody>
      </p:sp>
      <p:sp>
        <p:nvSpPr>
          <p:cNvPr id="24" name="Rounded Rectangle 23"/>
          <p:cNvSpPr/>
          <p:nvPr/>
        </p:nvSpPr>
        <p:spPr>
          <a:xfrm>
            <a:off x="8366760" y="4233672"/>
            <a:ext cx="3319272" cy="106984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66760" y="4325112"/>
            <a:ext cx="50292" cy="886968"/>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3920" y="4352544"/>
            <a:ext cx="3044952" cy="393192"/>
          </a:xfrm>
          <a:prstGeom prst="rect">
            <a:avLst/>
          </a:prstGeom>
          <a:noFill/>
        </p:spPr>
        <p:txBody>
          <a:bodyPr wrap="square" lIns="13716" rIns="13716" tIns="13716" bIns="13716">
            <a:spAutoFit/>
          </a:bodyPr>
          <a:lstStyle/>
          <a:p>
            <a:pPr algn="ctr">
              <a:spcBef>
                <a:spcPts val="0"/>
              </a:spcBef>
              <a:spcAft>
                <a:spcPts val="500"/>
              </a:spcAft>
              <a:defRPr sz="1800" b="1">
                <a:solidFill>
                  <a:srgbClr val="7354B8"/>
                </a:solidFill>
                <a:latin typeface="Arial"/>
              </a:defRPr>
            </a:pPr>
            <a:r>
              <a:t>Decode scale target</a:t>
            </a:r>
          </a:p>
        </p:txBody>
      </p:sp>
      <p:sp>
        <p:nvSpPr>
          <p:cNvPr id="27" name="TextBox 26"/>
          <p:cNvSpPr txBox="1"/>
          <p:nvPr/>
        </p:nvSpPr>
        <p:spPr>
          <a:xfrm>
            <a:off x="8513064" y="4791455"/>
            <a:ext cx="3026664" cy="420623"/>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Generated policy + target</a:t>
            </a:r>
          </a:p>
        </p:txBody>
      </p:sp>
      <p:cxnSp>
        <p:nvCxnSpPr>
          <p:cNvPr id="28" name="Connector 27"/>
          <p:cNvCxnSpPr/>
          <p:nvPr/>
        </p:nvCxnSpPr>
        <p:spPr>
          <a:xfrm>
            <a:off x="3794760" y="3886200"/>
            <a:ext cx="777240"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7589520" y="3749039"/>
            <a:ext cx="365759"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7955279" y="3246120"/>
            <a:ext cx="0" cy="502919"/>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7955279" y="3246120"/>
            <a:ext cx="411481"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7589520" y="4041648"/>
            <a:ext cx="365759"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7955279" y="4041648"/>
            <a:ext cx="0" cy="73152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7955279" y="4773168"/>
            <a:ext cx="411481"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05 / EVALUATION PLAN</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Benchmark the operating point—not only the peak</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Compare aggregated and P/D deployments under the same constraints.</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No measured results are supplied in the source material.</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24 / 36</a:t>
            </a:r>
          </a:p>
        </p:txBody>
      </p:sp>
      <p:sp>
        <p:nvSpPr>
          <p:cNvPr id="10" name="Rounded Rectangle 9"/>
          <p:cNvSpPr/>
          <p:nvPr/>
        </p:nvSpPr>
        <p:spPr>
          <a:xfrm>
            <a:off x="502920" y="2167128"/>
            <a:ext cx="3017520" cy="11978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2258568"/>
            <a:ext cx="50292" cy="101498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286000"/>
            <a:ext cx="274320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2563EB"/>
                </a:solidFill>
                <a:latin typeface="Arial"/>
              </a:defRPr>
            </a:pPr>
            <a:r>
              <a:t>Workload replay</a:t>
            </a:r>
          </a:p>
        </p:txBody>
      </p:sp>
      <p:sp>
        <p:nvSpPr>
          <p:cNvPr id="13" name="TextBox 12"/>
          <p:cNvSpPr txBox="1"/>
          <p:nvPr/>
        </p:nvSpPr>
        <p:spPr>
          <a:xfrm>
            <a:off x="649224" y="2724912"/>
            <a:ext cx="2724912" cy="548640"/>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Same model, traffic, and SLO</a:t>
            </a:r>
          </a:p>
        </p:txBody>
      </p:sp>
      <p:sp>
        <p:nvSpPr>
          <p:cNvPr id="14" name="Rounded Rectangle 13"/>
          <p:cNvSpPr/>
          <p:nvPr/>
        </p:nvSpPr>
        <p:spPr>
          <a:xfrm>
            <a:off x="4617720" y="2167128"/>
            <a:ext cx="3063240" cy="11978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617720" y="2258568"/>
            <a:ext cx="50292" cy="101498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754880" y="2286000"/>
            <a:ext cx="278892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2563EB"/>
                </a:solidFill>
                <a:latin typeface="Arial"/>
              </a:defRPr>
            </a:pPr>
            <a:r>
              <a:t>Aggregated</a:t>
            </a:r>
          </a:p>
        </p:txBody>
      </p:sp>
      <p:sp>
        <p:nvSpPr>
          <p:cNvPr id="17" name="TextBox 16"/>
          <p:cNvSpPr txBox="1"/>
          <p:nvPr/>
        </p:nvSpPr>
        <p:spPr>
          <a:xfrm>
            <a:off x="4764024" y="2724912"/>
            <a:ext cx="2770632" cy="548640"/>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Baseline configuration</a:t>
            </a:r>
          </a:p>
        </p:txBody>
      </p:sp>
      <p:sp>
        <p:nvSpPr>
          <p:cNvPr id="18" name="Rounded Rectangle 17"/>
          <p:cNvSpPr/>
          <p:nvPr/>
        </p:nvSpPr>
        <p:spPr>
          <a:xfrm>
            <a:off x="8641080" y="2167128"/>
            <a:ext cx="3044952" cy="11978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641080" y="2258568"/>
            <a:ext cx="50292" cy="1014984"/>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778240" y="2286000"/>
            <a:ext cx="2770632" cy="393192"/>
          </a:xfrm>
          <a:prstGeom prst="rect">
            <a:avLst/>
          </a:prstGeom>
          <a:noFill/>
        </p:spPr>
        <p:txBody>
          <a:bodyPr wrap="square" lIns="13716" rIns="13716" tIns="13716" bIns="13716">
            <a:spAutoFit/>
          </a:bodyPr>
          <a:lstStyle/>
          <a:p>
            <a:pPr algn="ctr">
              <a:spcBef>
                <a:spcPts val="0"/>
              </a:spcBef>
              <a:spcAft>
                <a:spcPts val="500"/>
              </a:spcAft>
              <a:defRPr sz="2100" b="1">
                <a:solidFill>
                  <a:srgbClr val="087F8C"/>
                </a:solidFill>
                <a:latin typeface="Arial"/>
              </a:defRPr>
            </a:pPr>
            <a:r>
              <a:t>Disaggregated</a:t>
            </a:r>
          </a:p>
        </p:txBody>
      </p:sp>
      <p:sp>
        <p:nvSpPr>
          <p:cNvPr id="21" name="TextBox 20"/>
          <p:cNvSpPr txBox="1"/>
          <p:nvPr/>
        </p:nvSpPr>
        <p:spPr>
          <a:xfrm>
            <a:off x="8787384" y="2724912"/>
            <a:ext cx="2752344" cy="548640"/>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Prefill + decode configuration</a:t>
            </a:r>
          </a:p>
        </p:txBody>
      </p:sp>
      <p:cxnSp>
        <p:nvCxnSpPr>
          <p:cNvPr id="22" name="Connector 21"/>
          <p:cNvCxnSpPr/>
          <p:nvPr/>
        </p:nvCxnSpPr>
        <p:spPr>
          <a:xfrm>
            <a:off x="3520440" y="2615184"/>
            <a:ext cx="1097280"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520440" y="2926080"/>
            <a:ext cx="502920"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4023360" y="2926080"/>
            <a:ext cx="0" cy="768096"/>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4023360" y="3694176"/>
            <a:ext cx="6144768"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10168128" y="3364992"/>
            <a:ext cx="0" cy="329184"/>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ectangle 26"/>
          <p:cNvSpPr/>
          <p:nvPr/>
        </p:nvSpPr>
        <p:spPr>
          <a:xfrm>
            <a:off x="502920" y="4005072"/>
            <a:ext cx="2903220" cy="516635"/>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12648" y="4123944"/>
            <a:ext cx="2706624" cy="356615"/>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HOLD CONSTANT</a:t>
            </a:r>
          </a:p>
        </p:txBody>
      </p:sp>
      <p:sp>
        <p:nvSpPr>
          <p:cNvPr id="29" name="Rectangle 28"/>
          <p:cNvSpPr/>
          <p:nvPr/>
        </p:nvSpPr>
        <p:spPr>
          <a:xfrm>
            <a:off x="3429000" y="4005072"/>
            <a:ext cx="8234171" cy="516635"/>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538728" y="4123944"/>
            <a:ext cx="8037575" cy="356615"/>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REPORT WITH THE RESULT</a:t>
            </a:r>
          </a:p>
        </p:txBody>
      </p:sp>
      <p:sp>
        <p:nvSpPr>
          <p:cNvPr id="31" name="Rectangle 30"/>
          <p:cNvSpPr/>
          <p:nvPr/>
        </p:nvSpPr>
        <p:spPr>
          <a:xfrm>
            <a:off x="502920" y="4544568"/>
            <a:ext cx="2903220" cy="516635"/>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12648" y="4663440"/>
            <a:ext cx="2706624" cy="356615"/>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Model + traffic</a:t>
            </a:r>
          </a:p>
        </p:txBody>
      </p:sp>
      <p:sp>
        <p:nvSpPr>
          <p:cNvPr id="33" name="Rectangle 32"/>
          <p:cNvSpPr/>
          <p:nvPr/>
        </p:nvSpPr>
        <p:spPr>
          <a:xfrm>
            <a:off x="3429000" y="4544568"/>
            <a:ext cx="8234171" cy="516635"/>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538728" y="4663440"/>
            <a:ext cx="8037575" cy="356615"/>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Version, quantization, prompt/output lengths, concurrency</a:t>
            </a:r>
          </a:p>
        </p:txBody>
      </p:sp>
      <p:sp>
        <p:nvSpPr>
          <p:cNvPr id="35" name="Rectangle 34"/>
          <p:cNvSpPr/>
          <p:nvPr/>
        </p:nvSpPr>
        <p:spPr>
          <a:xfrm>
            <a:off x="502920" y="5084064"/>
            <a:ext cx="2903220" cy="516635"/>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12648" y="5202936"/>
            <a:ext cx="2706624" cy="356615"/>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Cost + SLO</a:t>
            </a:r>
          </a:p>
        </p:txBody>
      </p:sp>
      <p:sp>
        <p:nvSpPr>
          <p:cNvPr id="37" name="Rectangle 36"/>
          <p:cNvSpPr/>
          <p:nvPr/>
        </p:nvSpPr>
        <p:spPr>
          <a:xfrm>
            <a:off x="3429000" y="5084064"/>
            <a:ext cx="8234171" cy="516635"/>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538728" y="5202936"/>
            <a:ext cx="8037575" cy="356615"/>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GPU budget, fabric, TTFT/ITL target, warm-up and duration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05 / BENCHMARK SCORECARD</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TTFT: measure the tail under prompt pressure</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Measurement plan only. No performance numbers are available in the source.</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25 / 36</a:t>
            </a:r>
          </a:p>
        </p:txBody>
      </p:sp>
      <p:sp>
        <p:nvSpPr>
          <p:cNvPr id="8" name="Rounded Rectangle 7"/>
          <p:cNvSpPr/>
          <p:nvPr/>
        </p:nvSpPr>
        <p:spPr>
          <a:xfrm>
            <a:off x="502920" y="1993392"/>
            <a:ext cx="2651760" cy="310896"/>
          </a:xfrm>
          <a:prstGeom prst="roundRect">
            <a:avLst>
              <a:gd name="adj" fmla="val 10000"/>
            </a:avLst>
          </a:prstGeom>
          <a:solidFill>
            <a:srgbClr val="FFF3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2025396"/>
            <a:ext cx="252374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AE641A"/>
                </a:solidFill>
                <a:latin typeface="Arial"/>
              </a:defRPr>
            </a:pPr>
            <a:r>
              <a:t>AWAITING MEASURED RESULTS</a:t>
            </a:r>
          </a:p>
        </p:txBody>
      </p:sp>
      <p:sp>
        <p:nvSpPr>
          <p:cNvPr id="10" name="Rectangle 9"/>
          <p:cNvSpPr/>
          <p:nvPr/>
        </p:nvSpPr>
        <p:spPr>
          <a:xfrm>
            <a:off x="502920" y="2624328"/>
            <a:ext cx="3195828" cy="56235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2648" y="2743200"/>
            <a:ext cx="2999232" cy="402336"/>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TTFT METRIC</a:t>
            </a:r>
          </a:p>
        </p:txBody>
      </p:sp>
      <p:sp>
        <p:nvSpPr>
          <p:cNvPr id="12" name="Rectangle 11"/>
          <p:cNvSpPr/>
          <p:nvPr/>
        </p:nvSpPr>
        <p:spPr>
          <a:xfrm>
            <a:off x="3721608" y="2624328"/>
            <a:ext cx="3954779" cy="56235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831336" y="2743200"/>
            <a:ext cx="3758183" cy="402336"/>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AGGREGATED</a:t>
            </a:r>
          </a:p>
        </p:txBody>
      </p:sp>
      <p:sp>
        <p:nvSpPr>
          <p:cNvPr id="14" name="Rectangle 13"/>
          <p:cNvSpPr/>
          <p:nvPr/>
        </p:nvSpPr>
        <p:spPr>
          <a:xfrm>
            <a:off x="7699248" y="2624328"/>
            <a:ext cx="3963924" cy="56235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808975" y="2743200"/>
            <a:ext cx="3767328" cy="402336"/>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P/D</a:t>
            </a:r>
          </a:p>
        </p:txBody>
      </p:sp>
      <p:sp>
        <p:nvSpPr>
          <p:cNvPr id="16" name="Rectangle 15"/>
          <p:cNvSpPr/>
          <p:nvPr/>
        </p:nvSpPr>
        <p:spPr>
          <a:xfrm>
            <a:off x="502920" y="3209544"/>
            <a:ext cx="3195828"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12648" y="3328416"/>
            <a:ext cx="2999232"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p50 / median</a:t>
            </a:r>
          </a:p>
        </p:txBody>
      </p:sp>
      <p:sp>
        <p:nvSpPr>
          <p:cNvPr id="18" name="Rectangle 17"/>
          <p:cNvSpPr/>
          <p:nvPr/>
        </p:nvSpPr>
        <p:spPr>
          <a:xfrm>
            <a:off x="3721608" y="3209544"/>
            <a:ext cx="3954779"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831336" y="3328416"/>
            <a:ext cx="3758183"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20" name="Rectangle 19"/>
          <p:cNvSpPr/>
          <p:nvPr/>
        </p:nvSpPr>
        <p:spPr>
          <a:xfrm>
            <a:off x="7699248" y="3209544"/>
            <a:ext cx="3963924"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808975" y="3328416"/>
            <a:ext cx="3767328"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22" name="Rectangle 21"/>
          <p:cNvSpPr/>
          <p:nvPr/>
        </p:nvSpPr>
        <p:spPr>
          <a:xfrm>
            <a:off x="502920" y="3794760"/>
            <a:ext cx="3195828"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2648" y="3913632"/>
            <a:ext cx="2999232"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p95 / tail</a:t>
            </a:r>
          </a:p>
        </p:txBody>
      </p:sp>
      <p:sp>
        <p:nvSpPr>
          <p:cNvPr id="24" name="Rectangle 23"/>
          <p:cNvSpPr/>
          <p:nvPr/>
        </p:nvSpPr>
        <p:spPr>
          <a:xfrm>
            <a:off x="3721608" y="3794760"/>
            <a:ext cx="3954779"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831336" y="3913632"/>
            <a:ext cx="3758183"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26" name="Rectangle 25"/>
          <p:cNvSpPr/>
          <p:nvPr/>
        </p:nvSpPr>
        <p:spPr>
          <a:xfrm>
            <a:off x="7699248" y="3794760"/>
            <a:ext cx="3963924"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808975" y="3913632"/>
            <a:ext cx="3767328"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28" name="Rectangle 27"/>
          <p:cNvSpPr/>
          <p:nvPr/>
        </p:nvSpPr>
        <p:spPr>
          <a:xfrm>
            <a:off x="502920" y="4379976"/>
            <a:ext cx="3195828"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12648" y="4498848"/>
            <a:ext cx="2999232"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p99 / extreme tail</a:t>
            </a:r>
          </a:p>
        </p:txBody>
      </p:sp>
      <p:sp>
        <p:nvSpPr>
          <p:cNvPr id="30" name="Rectangle 29"/>
          <p:cNvSpPr/>
          <p:nvPr/>
        </p:nvSpPr>
        <p:spPr>
          <a:xfrm>
            <a:off x="3721608" y="4379976"/>
            <a:ext cx="3954779"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831336" y="4498848"/>
            <a:ext cx="3758183"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32" name="Rectangle 31"/>
          <p:cNvSpPr/>
          <p:nvPr/>
        </p:nvSpPr>
        <p:spPr>
          <a:xfrm>
            <a:off x="7699248" y="4379976"/>
            <a:ext cx="3963924"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808975" y="4498848"/>
            <a:ext cx="3767328"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34" name="Rounded Rectangle 33"/>
          <p:cNvSpPr/>
          <p:nvPr/>
        </p:nvSpPr>
        <p:spPr>
          <a:xfrm>
            <a:off x="502920" y="5212080"/>
            <a:ext cx="11183112" cy="98755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13232" y="5376672"/>
            <a:ext cx="10698480" cy="320040"/>
          </a:xfrm>
          <a:prstGeom prst="rect">
            <a:avLst/>
          </a:prstGeom>
          <a:noFill/>
        </p:spPr>
        <p:txBody>
          <a:bodyPr wrap="square" lIns="13716" rIns="13716" tIns="13716" bIns="13716">
            <a:spAutoFit/>
          </a:bodyPr>
          <a:lstStyle/>
          <a:p>
            <a:pPr>
              <a:spcBef>
                <a:spcPts val="0"/>
              </a:spcBef>
              <a:spcAft>
                <a:spcPts val="500"/>
              </a:spcAft>
              <a:defRPr sz="1900" b="1">
                <a:solidFill>
                  <a:srgbClr val="087F8C"/>
                </a:solidFill>
                <a:latin typeface="Arial"/>
              </a:defRPr>
            </a:pPr>
            <a:r>
              <a:t>Question to answer</a:t>
            </a:r>
          </a:p>
        </p:txBody>
      </p:sp>
      <p:sp>
        <p:nvSpPr>
          <p:cNvPr id="36" name="TextBox 35"/>
          <p:cNvSpPr txBox="1"/>
          <p:nvPr/>
        </p:nvSpPr>
        <p:spPr>
          <a:xfrm>
            <a:off x="713232" y="5788152"/>
            <a:ext cx="10698480" cy="274320"/>
          </a:xfrm>
          <a:prstGeom prst="rect">
            <a:avLst/>
          </a:prstGeom>
          <a:noFill/>
        </p:spPr>
        <p:txBody>
          <a:bodyPr wrap="square" lIns="13716" rIns="13716" tIns="13716" bIns="13716">
            <a:spAutoFit/>
          </a:bodyPr>
          <a:lstStyle/>
          <a:p>
            <a:pPr>
              <a:spcBef>
                <a:spcPts val="0"/>
              </a:spcBef>
              <a:spcAft>
                <a:spcPts val="500"/>
              </a:spcAft>
              <a:defRPr sz="1600" b="0">
                <a:solidFill>
                  <a:srgbClr val="172941"/>
                </a:solidFill>
                <a:latin typeface="Arial"/>
              </a:defRPr>
            </a:pPr>
            <a:r>
              <a:t>Does P/D reduce tail TTFT at the same offered load and cost budget?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05 / BENCHMARK SCORECARD</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Throughput: count useful work inside the SLO</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Measurement plan only. Report useful throughput and its cost together.</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26 / 36</a:t>
            </a:r>
          </a:p>
        </p:txBody>
      </p:sp>
      <p:sp>
        <p:nvSpPr>
          <p:cNvPr id="8" name="Rounded Rectangle 7"/>
          <p:cNvSpPr/>
          <p:nvPr/>
        </p:nvSpPr>
        <p:spPr>
          <a:xfrm>
            <a:off x="502920" y="1993392"/>
            <a:ext cx="2651760" cy="310896"/>
          </a:xfrm>
          <a:prstGeom prst="roundRect">
            <a:avLst>
              <a:gd name="adj" fmla="val 10000"/>
            </a:avLst>
          </a:prstGeom>
          <a:solidFill>
            <a:srgbClr val="FFF3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2025396"/>
            <a:ext cx="252374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AE641A"/>
                </a:solidFill>
                <a:latin typeface="Arial"/>
              </a:defRPr>
            </a:pPr>
            <a:r>
              <a:t>AWAITING MEASURED RESULTS</a:t>
            </a:r>
          </a:p>
        </p:txBody>
      </p:sp>
      <p:sp>
        <p:nvSpPr>
          <p:cNvPr id="10" name="Rectangle 9"/>
          <p:cNvSpPr/>
          <p:nvPr/>
        </p:nvSpPr>
        <p:spPr>
          <a:xfrm>
            <a:off x="502920" y="2624328"/>
            <a:ext cx="3195828" cy="56235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2648" y="2743200"/>
            <a:ext cx="2999232" cy="402336"/>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MEASURE</a:t>
            </a:r>
          </a:p>
        </p:txBody>
      </p:sp>
      <p:sp>
        <p:nvSpPr>
          <p:cNvPr id="12" name="Rectangle 11"/>
          <p:cNvSpPr/>
          <p:nvPr/>
        </p:nvSpPr>
        <p:spPr>
          <a:xfrm>
            <a:off x="3721608" y="2624328"/>
            <a:ext cx="3954779" cy="56235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831336" y="2743200"/>
            <a:ext cx="3758183" cy="402336"/>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AGGREGATED</a:t>
            </a:r>
          </a:p>
        </p:txBody>
      </p:sp>
      <p:sp>
        <p:nvSpPr>
          <p:cNvPr id="14" name="Rectangle 13"/>
          <p:cNvSpPr/>
          <p:nvPr/>
        </p:nvSpPr>
        <p:spPr>
          <a:xfrm>
            <a:off x="7699248" y="2624328"/>
            <a:ext cx="3963924" cy="56235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808975" y="2743200"/>
            <a:ext cx="3767328" cy="402336"/>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P/D</a:t>
            </a:r>
          </a:p>
        </p:txBody>
      </p:sp>
      <p:sp>
        <p:nvSpPr>
          <p:cNvPr id="16" name="Rectangle 15"/>
          <p:cNvSpPr/>
          <p:nvPr/>
        </p:nvSpPr>
        <p:spPr>
          <a:xfrm>
            <a:off x="502920" y="3209544"/>
            <a:ext cx="3195828"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12648" y="3328416"/>
            <a:ext cx="2999232"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Output tokens / second</a:t>
            </a:r>
          </a:p>
        </p:txBody>
      </p:sp>
      <p:sp>
        <p:nvSpPr>
          <p:cNvPr id="18" name="Rectangle 17"/>
          <p:cNvSpPr/>
          <p:nvPr/>
        </p:nvSpPr>
        <p:spPr>
          <a:xfrm>
            <a:off x="3721608" y="3209544"/>
            <a:ext cx="3954779"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831336" y="3328416"/>
            <a:ext cx="3758183"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20" name="Rectangle 19"/>
          <p:cNvSpPr/>
          <p:nvPr/>
        </p:nvSpPr>
        <p:spPr>
          <a:xfrm>
            <a:off x="7699248" y="3209544"/>
            <a:ext cx="3963924"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808975" y="3328416"/>
            <a:ext cx="3767328"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22" name="Rectangle 21"/>
          <p:cNvSpPr/>
          <p:nvPr/>
        </p:nvSpPr>
        <p:spPr>
          <a:xfrm>
            <a:off x="502920" y="3794760"/>
            <a:ext cx="3195828"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2648" y="3913632"/>
            <a:ext cx="2999232"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Requests meeting SLO</a:t>
            </a:r>
          </a:p>
        </p:txBody>
      </p:sp>
      <p:sp>
        <p:nvSpPr>
          <p:cNvPr id="24" name="Rectangle 23"/>
          <p:cNvSpPr/>
          <p:nvPr/>
        </p:nvSpPr>
        <p:spPr>
          <a:xfrm>
            <a:off x="3721608" y="3794760"/>
            <a:ext cx="3954779"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831336" y="3913632"/>
            <a:ext cx="3758183"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26" name="Rectangle 25"/>
          <p:cNvSpPr/>
          <p:nvPr/>
        </p:nvSpPr>
        <p:spPr>
          <a:xfrm>
            <a:off x="7699248" y="3794760"/>
            <a:ext cx="3963924"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808975" y="3913632"/>
            <a:ext cx="3767328"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28" name="Rectangle 27"/>
          <p:cNvSpPr/>
          <p:nvPr/>
        </p:nvSpPr>
        <p:spPr>
          <a:xfrm>
            <a:off x="502920" y="4379976"/>
            <a:ext cx="3195828"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12648" y="4498848"/>
            <a:ext cx="2999232"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Cost / useful output</a:t>
            </a:r>
          </a:p>
        </p:txBody>
      </p:sp>
      <p:sp>
        <p:nvSpPr>
          <p:cNvPr id="30" name="Rectangle 29"/>
          <p:cNvSpPr/>
          <p:nvPr/>
        </p:nvSpPr>
        <p:spPr>
          <a:xfrm>
            <a:off x="3721608" y="4379976"/>
            <a:ext cx="3954779"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831336" y="4498848"/>
            <a:ext cx="3758183"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32" name="Rectangle 31"/>
          <p:cNvSpPr/>
          <p:nvPr/>
        </p:nvSpPr>
        <p:spPr>
          <a:xfrm>
            <a:off x="7699248" y="4379976"/>
            <a:ext cx="3963924"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808975" y="4498848"/>
            <a:ext cx="3767328"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34" name="Rounded Rectangle 33"/>
          <p:cNvSpPr/>
          <p:nvPr/>
        </p:nvSpPr>
        <p:spPr>
          <a:xfrm>
            <a:off x="502920" y="5212080"/>
            <a:ext cx="11183112" cy="98755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13232" y="5376672"/>
            <a:ext cx="10698480" cy="320040"/>
          </a:xfrm>
          <a:prstGeom prst="rect">
            <a:avLst/>
          </a:prstGeom>
          <a:noFill/>
        </p:spPr>
        <p:txBody>
          <a:bodyPr wrap="square" lIns="13716" rIns="13716" tIns="13716" bIns="13716">
            <a:spAutoFit/>
          </a:bodyPr>
          <a:lstStyle/>
          <a:p>
            <a:pPr>
              <a:spcBef>
                <a:spcPts val="0"/>
              </a:spcBef>
              <a:spcAft>
                <a:spcPts val="500"/>
              </a:spcAft>
              <a:defRPr sz="1900" b="1">
                <a:solidFill>
                  <a:srgbClr val="7354B8"/>
                </a:solidFill>
                <a:latin typeface="Arial"/>
              </a:defRPr>
            </a:pPr>
            <a:r>
              <a:t>Utilization is context—not the success metric.</a:t>
            </a:r>
          </a:p>
        </p:txBody>
      </p:sp>
      <p:sp>
        <p:nvSpPr>
          <p:cNvPr id="36" name="TextBox 35"/>
          <p:cNvSpPr txBox="1"/>
          <p:nvPr/>
        </p:nvSpPr>
        <p:spPr>
          <a:xfrm>
            <a:off x="713232" y="5788152"/>
            <a:ext cx="10698480" cy="274320"/>
          </a:xfrm>
          <a:prstGeom prst="rect">
            <a:avLst/>
          </a:prstGeom>
          <a:noFill/>
        </p:spPr>
        <p:txBody>
          <a:bodyPr wrap="square" lIns="13716" rIns="13716" tIns="13716" bIns="13716">
            <a:spAutoFit/>
          </a:bodyPr>
          <a:lstStyle/>
          <a:p>
            <a:pPr>
              <a:spcBef>
                <a:spcPts val="0"/>
              </a:spcBef>
              <a:spcAft>
                <a:spcPts val="500"/>
              </a:spcAft>
              <a:defRPr sz="1600" b="0">
                <a:solidFill>
                  <a:srgbClr val="172941"/>
                </a:solidFill>
                <a:latin typeface="Arial"/>
              </a:defRPr>
            </a:pPr>
            <a:r>
              <a:t>Compare steady token delivery, SLO goodput, active KV usage, and GPU-hours.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05 / WORKLOAD DECISION MAP</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The break-even boundary is a measurement problem</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Qualitative candidates only—not a measured heatmap or a performance guarantee.</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27 / 36</a:t>
            </a:r>
          </a:p>
        </p:txBody>
      </p:sp>
      <p:sp>
        <p:nvSpPr>
          <p:cNvPr id="8" name="Rectangle 7"/>
          <p:cNvSpPr/>
          <p:nvPr/>
        </p:nvSpPr>
        <p:spPr>
          <a:xfrm>
            <a:off x="502920" y="2267712"/>
            <a:ext cx="3040380" cy="78181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2386584"/>
            <a:ext cx="2843784" cy="621792"/>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WORKLOAD</a:t>
            </a:r>
          </a:p>
        </p:txBody>
      </p:sp>
      <p:sp>
        <p:nvSpPr>
          <p:cNvPr id="10" name="Rectangle 9"/>
          <p:cNvSpPr/>
          <p:nvPr/>
        </p:nvSpPr>
        <p:spPr>
          <a:xfrm>
            <a:off x="3566160" y="2267712"/>
            <a:ext cx="4037076" cy="78181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5888" y="2386584"/>
            <a:ext cx="3840480" cy="621792"/>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SHORT OUTPUT</a:t>
            </a:r>
          </a:p>
        </p:txBody>
      </p:sp>
      <p:sp>
        <p:nvSpPr>
          <p:cNvPr id="12" name="Rectangle 11"/>
          <p:cNvSpPr/>
          <p:nvPr/>
        </p:nvSpPr>
        <p:spPr>
          <a:xfrm>
            <a:off x="7626096" y="2267712"/>
            <a:ext cx="4037076" cy="78181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35823" y="2386584"/>
            <a:ext cx="3840480" cy="621792"/>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LONG OUTPUT</a:t>
            </a:r>
          </a:p>
        </p:txBody>
      </p:sp>
      <p:sp>
        <p:nvSpPr>
          <p:cNvPr id="14" name="Rectangle 13"/>
          <p:cNvSpPr/>
          <p:nvPr/>
        </p:nvSpPr>
        <p:spPr>
          <a:xfrm>
            <a:off x="502920" y="3072384"/>
            <a:ext cx="3040380" cy="7818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2648" y="3191256"/>
            <a:ext cx="2843784" cy="621792"/>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Short prompt</a:t>
            </a:r>
          </a:p>
        </p:txBody>
      </p:sp>
      <p:sp>
        <p:nvSpPr>
          <p:cNvPr id="16" name="Rectangle 15"/>
          <p:cNvSpPr/>
          <p:nvPr/>
        </p:nvSpPr>
        <p:spPr>
          <a:xfrm>
            <a:off x="3566160" y="3072384"/>
            <a:ext cx="4037076" cy="7818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75888" y="3191256"/>
            <a:ext cx="3840480" cy="62179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Start with aggregated</a:t>
            </a:r>
          </a:p>
        </p:txBody>
      </p:sp>
      <p:sp>
        <p:nvSpPr>
          <p:cNvPr id="18" name="Rectangle 17"/>
          <p:cNvSpPr/>
          <p:nvPr/>
        </p:nvSpPr>
        <p:spPr>
          <a:xfrm>
            <a:off x="7626096" y="3072384"/>
            <a:ext cx="4037076" cy="7818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35823" y="3191256"/>
            <a:ext cx="3840480" cy="62179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Evaluate decode pressure</a:t>
            </a:r>
          </a:p>
        </p:txBody>
      </p:sp>
      <p:sp>
        <p:nvSpPr>
          <p:cNvPr id="20" name="Rectangle 19"/>
          <p:cNvSpPr/>
          <p:nvPr/>
        </p:nvSpPr>
        <p:spPr>
          <a:xfrm>
            <a:off x="502920" y="3877056"/>
            <a:ext cx="3040380" cy="78181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2648" y="3995928"/>
            <a:ext cx="2843784" cy="621792"/>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Long prompt</a:t>
            </a:r>
          </a:p>
        </p:txBody>
      </p:sp>
      <p:sp>
        <p:nvSpPr>
          <p:cNvPr id="22" name="Rectangle 21"/>
          <p:cNvSpPr/>
          <p:nvPr/>
        </p:nvSpPr>
        <p:spPr>
          <a:xfrm>
            <a:off x="3566160" y="3877056"/>
            <a:ext cx="4037076" cy="78181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675888" y="3995928"/>
            <a:ext cx="3840480" cy="62179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Evaluate prefill isolation</a:t>
            </a:r>
          </a:p>
        </p:txBody>
      </p:sp>
      <p:sp>
        <p:nvSpPr>
          <p:cNvPr id="24" name="Rectangle 23"/>
          <p:cNvSpPr/>
          <p:nvPr/>
        </p:nvSpPr>
        <p:spPr>
          <a:xfrm>
            <a:off x="7626096" y="3877056"/>
            <a:ext cx="4037076" cy="78181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735823" y="3995928"/>
            <a:ext cx="3840480" cy="62179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Strong P/D candidate to test</a:t>
            </a:r>
          </a:p>
        </p:txBody>
      </p:sp>
      <p:sp>
        <p:nvSpPr>
          <p:cNvPr id="26" name="Rounded Rectangle 25"/>
          <p:cNvSpPr/>
          <p:nvPr/>
        </p:nvSpPr>
        <p:spPr>
          <a:xfrm>
            <a:off x="502920" y="5029200"/>
            <a:ext cx="11183112" cy="804672"/>
          </a:xfrm>
          <a:prstGeom prst="roundRect">
            <a:avLst>
              <a:gd name="adj" fmla="val 10000"/>
            </a:avLst>
          </a:prstGeom>
          <a:solidFill>
            <a:srgbClr val="FFF3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20" y="5221224"/>
            <a:ext cx="10716768" cy="429768"/>
          </a:xfrm>
          <a:prstGeom prst="rect">
            <a:avLst/>
          </a:prstGeom>
          <a:noFill/>
        </p:spPr>
        <p:txBody>
          <a:bodyPr wrap="square" lIns="13716" rIns="13716" tIns="13716" bIns="13716">
            <a:spAutoFit/>
          </a:bodyPr>
          <a:lstStyle/>
          <a:p>
            <a:pPr>
              <a:spcBef>
                <a:spcPts val="0"/>
              </a:spcBef>
              <a:spcAft>
                <a:spcPts val="500"/>
              </a:spcAft>
              <a:defRPr sz="1700" b="1">
                <a:solidFill>
                  <a:srgbClr val="AE641A"/>
                </a:solidFill>
                <a:latin typeface="Arial"/>
              </a:defRPr>
            </a:pPr>
            <a:r>
              <a:t>Concurrency, GPU budget, and transfer fabric can change the result in every cell.</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06 / PRODUCTION LESSONS</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Production lesson #1: KV transfer is a dependency</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A healthy inference API does not prove the KV-data path is healthy.</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Measure the transfer path end to end, including cross-node deployments.</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28 / 36</a:t>
            </a:r>
          </a:p>
        </p:txBody>
      </p:sp>
      <p:sp>
        <p:nvSpPr>
          <p:cNvPr id="10" name="Rounded Rectangle 9"/>
          <p:cNvSpPr/>
          <p:nvPr/>
        </p:nvSpPr>
        <p:spPr>
          <a:xfrm>
            <a:off x="502920" y="2286000"/>
            <a:ext cx="3063240" cy="11887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2377440"/>
            <a:ext cx="50292" cy="10058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404872"/>
            <a:ext cx="2788920" cy="393192"/>
          </a:xfrm>
          <a:prstGeom prst="rect">
            <a:avLst/>
          </a:prstGeom>
          <a:noFill/>
        </p:spPr>
        <p:txBody>
          <a:bodyPr wrap="square" lIns="13716" rIns="13716" tIns="13716" bIns="13716">
            <a:spAutoFit/>
          </a:bodyPr>
          <a:lstStyle/>
          <a:p>
            <a:pPr algn="ctr">
              <a:spcBef>
                <a:spcPts val="0"/>
              </a:spcBef>
              <a:spcAft>
                <a:spcPts val="500"/>
              </a:spcAft>
              <a:defRPr sz="2300" b="1">
                <a:solidFill>
                  <a:srgbClr val="087F8C"/>
                </a:solidFill>
                <a:latin typeface="Arial"/>
              </a:defRPr>
            </a:pPr>
            <a:r>
              <a:t>Prefill memory</a:t>
            </a:r>
          </a:p>
        </p:txBody>
      </p:sp>
      <p:sp>
        <p:nvSpPr>
          <p:cNvPr id="13" name="TextBox 12"/>
          <p:cNvSpPr txBox="1"/>
          <p:nvPr/>
        </p:nvSpPr>
        <p:spPr>
          <a:xfrm>
            <a:off x="649224" y="2843784"/>
            <a:ext cx="2770632" cy="53949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KV source</a:t>
            </a:r>
          </a:p>
        </p:txBody>
      </p:sp>
      <p:sp>
        <p:nvSpPr>
          <p:cNvPr id="14" name="Rounded Rectangle 13"/>
          <p:cNvSpPr/>
          <p:nvPr/>
        </p:nvSpPr>
        <p:spPr>
          <a:xfrm>
            <a:off x="4553712" y="2286000"/>
            <a:ext cx="3063240" cy="11887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553712" y="2377440"/>
            <a:ext cx="50292" cy="1005840"/>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90872" y="2404872"/>
            <a:ext cx="278892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AE641A"/>
                </a:solidFill>
                <a:latin typeface="Arial"/>
              </a:defRPr>
            </a:pPr>
            <a:r>
              <a:t>Transfer fabric</a:t>
            </a:r>
          </a:p>
        </p:txBody>
      </p:sp>
      <p:sp>
        <p:nvSpPr>
          <p:cNvPr id="17" name="TextBox 16"/>
          <p:cNvSpPr txBox="1"/>
          <p:nvPr/>
        </p:nvSpPr>
        <p:spPr>
          <a:xfrm>
            <a:off x="4700016" y="2843784"/>
            <a:ext cx="2770632" cy="53949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Bandwidth + latency + topology</a:t>
            </a:r>
          </a:p>
        </p:txBody>
      </p:sp>
      <p:sp>
        <p:nvSpPr>
          <p:cNvPr id="18" name="Rounded Rectangle 17"/>
          <p:cNvSpPr/>
          <p:nvPr/>
        </p:nvSpPr>
        <p:spPr>
          <a:xfrm>
            <a:off x="8622792" y="2286000"/>
            <a:ext cx="3063240" cy="11887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622792" y="2377440"/>
            <a:ext cx="50292" cy="100584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759952" y="2404872"/>
            <a:ext cx="2788920" cy="393192"/>
          </a:xfrm>
          <a:prstGeom prst="rect">
            <a:avLst/>
          </a:prstGeom>
          <a:noFill/>
        </p:spPr>
        <p:txBody>
          <a:bodyPr wrap="square" lIns="13716" rIns="13716" tIns="13716" bIns="13716">
            <a:spAutoFit/>
          </a:bodyPr>
          <a:lstStyle/>
          <a:p>
            <a:pPr algn="ctr">
              <a:spcBef>
                <a:spcPts val="0"/>
              </a:spcBef>
              <a:spcAft>
                <a:spcPts val="500"/>
              </a:spcAft>
              <a:defRPr sz="2300" b="1">
                <a:solidFill>
                  <a:srgbClr val="7354B8"/>
                </a:solidFill>
                <a:latin typeface="Arial"/>
              </a:defRPr>
            </a:pPr>
            <a:r>
              <a:t>Decode memory</a:t>
            </a:r>
          </a:p>
        </p:txBody>
      </p:sp>
      <p:sp>
        <p:nvSpPr>
          <p:cNvPr id="21" name="TextBox 20"/>
          <p:cNvSpPr txBox="1"/>
          <p:nvPr/>
        </p:nvSpPr>
        <p:spPr>
          <a:xfrm>
            <a:off x="8769096" y="2843784"/>
            <a:ext cx="2770632" cy="53949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KV destination</a:t>
            </a:r>
          </a:p>
        </p:txBody>
      </p:sp>
      <p:cxnSp>
        <p:nvCxnSpPr>
          <p:cNvPr id="22" name="Connector 21"/>
          <p:cNvCxnSpPr/>
          <p:nvPr/>
        </p:nvCxnSpPr>
        <p:spPr>
          <a:xfrm>
            <a:off x="3566160" y="2880360"/>
            <a:ext cx="987552" cy="0"/>
          </a:xfrm>
          <a:prstGeom prst="line">
            <a:avLst/>
          </a:prstGeom>
          <a:ln w="381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616952" y="2880360"/>
            <a:ext cx="1005840" cy="0"/>
          </a:xfrm>
          <a:prstGeom prst="line">
            <a:avLst/>
          </a:prstGeom>
          <a:ln w="381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502920" y="4133087"/>
            <a:ext cx="3611880" cy="135331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02920" y="4224527"/>
            <a:ext cx="50292" cy="117043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4251959"/>
            <a:ext cx="3337560" cy="393192"/>
          </a:xfrm>
          <a:prstGeom prst="rect">
            <a:avLst/>
          </a:prstGeom>
          <a:noFill/>
        </p:spPr>
        <p:txBody>
          <a:bodyPr wrap="square" lIns="13716" rIns="13716" tIns="13716" bIns="13716">
            <a:spAutoFit/>
          </a:bodyPr>
          <a:lstStyle/>
          <a:p>
            <a:pPr algn="ctr">
              <a:spcBef>
                <a:spcPts val="0"/>
              </a:spcBef>
              <a:spcAft>
                <a:spcPts val="500"/>
              </a:spcAft>
              <a:defRPr sz="2000" b="1">
                <a:solidFill>
                  <a:srgbClr val="087F8C"/>
                </a:solidFill>
                <a:latin typeface="Arial"/>
              </a:defRPr>
            </a:pPr>
            <a:r>
              <a:t>Observe</a:t>
            </a:r>
          </a:p>
        </p:txBody>
      </p:sp>
      <p:sp>
        <p:nvSpPr>
          <p:cNvPr id="27" name="TextBox 26"/>
          <p:cNvSpPr txBox="1"/>
          <p:nvPr/>
        </p:nvSpPr>
        <p:spPr>
          <a:xfrm>
            <a:off x="649224" y="4690871"/>
            <a:ext cx="3319272" cy="70408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Transfer duration</a:t>
            </a:r>
          </a:p>
          <a:p>
            <a:pPr algn="ctr">
              <a:spcBef>
                <a:spcPts val="0"/>
              </a:spcBef>
              <a:spcAft>
                <a:spcPts val="500"/>
              </a:spcAft>
              <a:defRPr sz="1400" b="0">
                <a:solidFill>
                  <a:srgbClr val="586A80"/>
                </a:solidFill>
                <a:latin typeface="Arial"/>
              </a:defRPr>
            </a:pPr>
            <a:r>
              <a:t>Errors and retries</a:t>
            </a:r>
          </a:p>
        </p:txBody>
      </p:sp>
      <p:sp>
        <p:nvSpPr>
          <p:cNvPr id="28" name="Rounded Rectangle 27"/>
          <p:cNvSpPr/>
          <p:nvPr/>
        </p:nvSpPr>
        <p:spPr>
          <a:xfrm>
            <a:off x="4288536" y="4133087"/>
            <a:ext cx="3611880" cy="135331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288536" y="4224527"/>
            <a:ext cx="50292" cy="1170432"/>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425696" y="4251959"/>
            <a:ext cx="3337560" cy="393192"/>
          </a:xfrm>
          <a:prstGeom prst="rect">
            <a:avLst/>
          </a:prstGeom>
          <a:noFill/>
        </p:spPr>
        <p:txBody>
          <a:bodyPr wrap="square" lIns="13716" rIns="13716" tIns="13716" bIns="13716">
            <a:spAutoFit/>
          </a:bodyPr>
          <a:lstStyle/>
          <a:p>
            <a:pPr algn="ctr">
              <a:spcBef>
                <a:spcPts val="0"/>
              </a:spcBef>
              <a:spcAft>
                <a:spcPts val="500"/>
              </a:spcAft>
              <a:defRPr sz="2000" b="1">
                <a:solidFill>
                  <a:srgbClr val="AE641A"/>
                </a:solidFill>
                <a:latin typeface="Arial"/>
              </a:defRPr>
            </a:pPr>
            <a:r>
              <a:t>Validate</a:t>
            </a:r>
          </a:p>
        </p:txBody>
      </p:sp>
      <p:sp>
        <p:nvSpPr>
          <p:cNvPr id="31" name="TextBox 30"/>
          <p:cNvSpPr txBox="1"/>
          <p:nvPr/>
        </p:nvSpPr>
        <p:spPr>
          <a:xfrm>
            <a:off x="4434840" y="4690871"/>
            <a:ext cx="3319272" cy="70408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Node / GPU placement</a:t>
            </a:r>
          </a:p>
          <a:p>
            <a:pPr algn="ctr">
              <a:spcBef>
                <a:spcPts val="0"/>
              </a:spcBef>
              <a:spcAft>
                <a:spcPts val="500"/>
              </a:spcAft>
              <a:defRPr sz="1400" b="0">
                <a:solidFill>
                  <a:srgbClr val="586A80"/>
                </a:solidFill>
                <a:latin typeface="Arial"/>
              </a:defRPr>
            </a:pPr>
            <a:r>
              <a:t>Transport configuration</a:t>
            </a:r>
          </a:p>
        </p:txBody>
      </p:sp>
      <p:sp>
        <p:nvSpPr>
          <p:cNvPr id="32" name="Rounded Rectangle 31"/>
          <p:cNvSpPr/>
          <p:nvPr/>
        </p:nvSpPr>
        <p:spPr>
          <a:xfrm>
            <a:off x="8074152" y="4133087"/>
            <a:ext cx="3611880" cy="135331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074152" y="4224527"/>
            <a:ext cx="50292" cy="117043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11312" y="4251959"/>
            <a:ext cx="3337560" cy="393192"/>
          </a:xfrm>
          <a:prstGeom prst="rect">
            <a:avLst/>
          </a:prstGeom>
          <a:noFill/>
        </p:spPr>
        <p:txBody>
          <a:bodyPr wrap="square" lIns="13716" rIns="13716" tIns="13716" bIns="13716">
            <a:spAutoFit/>
          </a:bodyPr>
          <a:lstStyle/>
          <a:p>
            <a:pPr algn="ctr">
              <a:spcBef>
                <a:spcPts val="0"/>
              </a:spcBef>
              <a:spcAft>
                <a:spcPts val="500"/>
              </a:spcAft>
              <a:defRPr sz="2000" b="1">
                <a:solidFill>
                  <a:srgbClr val="7354B8"/>
                </a:solidFill>
                <a:latin typeface="Arial"/>
              </a:defRPr>
            </a:pPr>
            <a:r>
              <a:t>Compare</a:t>
            </a:r>
          </a:p>
        </p:txBody>
      </p:sp>
      <p:sp>
        <p:nvSpPr>
          <p:cNvPr id="35" name="TextBox 34"/>
          <p:cNvSpPr txBox="1"/>
          <p:nvPr/>
        </p:nvSpPr>
        <p:spPr>
          <a:xfrm>
            <a:off x="8220456" y="4690871"/>
            <a:ext cx="3319272" cy="70408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Same-node vs cross-node</a:t>
            </a:r>
          </a:p>
          <a:p>
            <a:pPr algn="ctr">
              <a:spcBef>
                <a:spcPts val="0"/>
              </a:spcBef>
              <a:spcAft>
                <a:spcPts val="500"/>
              </a:spcAft>
              <a:defRPr sz="1400" b="0">
                <a:solidFill>
                  <a:srgbClr val="586A80"/>
                </a:solidFill>
                <a:latin typeface="Arial"/>
              </a:defRPr>
            </a:pPr>
            <a:r>
              <a:t>Latency and cost impact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06 / PRODUCTION LESSONS</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Production lesson #2: readiness is a chain</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A Running pod is only one part of a usable serving path.</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Make routing eligibility depend on the right readiness contracts.</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29 / 36</a:t>
            </a:r>
          </a:p>
        </p:txBody>
      </p:sp>
      <p:sp>
        <p:nvSpPr>
          <p:cNvPr id="10" name="Rounded Rectangle 9"/>
          <p:cNvSpPr/>
          <p:nvPr/>
        </p:nvSpPr>
        <p:spPr>
          <a:xfrm>
            <a:off x="502920" y="2423160"/>
            <a:ext cx="3611880" cy="161848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2514600"/>
            <a:ext cx="50292" cy="1435608"/>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542032"/>
            <a:ext cx="3337560" cy="393192"/>
          </a:xfrm>
          <a:prstGeom prst="rect">
            <a:avLst/>
          </a:prstGeom>
          <a:noFill/>
        </p:spPr>
        <p:txBody>
          <a:bodyPr wrap="square" lIns="13716" rIns="13716" tIns="13716" bIns="13716">
            <a:spAutoFit/>
          </a:bodyPr>
          <a:lstStyle/>
          <a:p>
            <a:pPr algn="ctr">
              <a:spcBef>
                <a:spcPts val="0"/>
              </a:spcBef>
              <a:spcAft>
                <a:spcPts val="500"/>
              </a:spcAft>
              <a:defRPr sz="2300" b="1">
                <a:solidFill>
                  <a:srgbClr val="087F8C"/>
                </a:solidFill>
                <a:latin typeface="Arial"/>
              </a:defRPr>
            </a:pPr>
            <a:r>
              <a:t>Model ready</a:t>
            </a:r>
          </a:p>
        </p:txBody>
      </p:sp>
      <p:sp>
        <p:nvSpPr>
          <p:cNvPr id="13" name="TextBox 12"/>
          <p:cNvSpPr txBox="1"/>
          <p:nvPr/>
        </p:nvSpPr>
        <p:spPr>
          <a:xfrm>
            <a:off x="649224" y="2980944"/>
            <a:ext cx="3319272" cy="96926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Weights loaded</a:t>
            </a:r>
          </a:p>
          <a:p>
            <a:pPr algn="ctr">
              <a:spcBef>
                <a:spcPts val="0"/>
              </a:spcBef>
              <a:spcAft>
                <a:spcPts val="500"/>
              </a:spcAft>
              <a:defRPr sz="1400" b="0">
                <a:solidFill>
                  <a:srgbClr val="586A80"/>
                </a:solidFill>
                <a:latin typeface="Arial"/>
              </a:defRPr>
            </a:pPr>
            <a:r>
              <a:t>Runtime responsive</a:t>
            </a:r>
          </a:p>
        </p:txBody>
      </p:sp>
      <p:cxnSp>
        <p:nvCxnSpPr>
          <p:cNvPr id="14" name="Connector 13"/>
          <p:cNvCxnSpPr/>
          <p:nvPr/>
        </p:nvCxnSpPr>
        <p:spPr>
          <a:xfrm>
            <a:off x="4114800" y="3236976"/>
            <a:ext cx="173736" cy="0"/>
          </a:xfrm>
          <a:prstGeom prst="line">
            <a:avLst/>
          </a:prstGeom>
          <a:ln w="1905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4288536" y="2423160"/>
            <a:ext cx="3611880" cy="161848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88536" y="2514600"/>
            <a:ext cx="50292" cy="1435608"/>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25696" y="2542032"/>
            <a:ext cx="3337560" cy="393192"/>
          </a:xfrm>
          <a:prstGeom prst="rect">
            <a:avLst/>
          </a:prstGeom>
          <a:noFill/>
        </p:spPr>
        <p:txBody>
          <a:bodyPr wrap="square" lIns="13716" rIns="13716" tIns="13716" bIns="13716">
            <a:spAutoFit/>
          </a:bodyPr>
          <a:lstStyle/>
          <a:p>
            <a:pPr algn="ctr">
              <a:spcBef>
                <a:spcPts val="0"/>
              </a:spcBef>
              <a:spcAft>
                <a:spcPts val="500"/>
              </a:spcAft>
              <a:defRPr sz="2300" b="1">
                <a:solidFill>
                  <a:srgbClr val="7354B8"/>
                </a:solidFill>
                <a:latin typeface="Arial"/>
              </a:defRPr>
            </a:pPr>
            <a:r>
              <a:t>Proxy ready</a:t>
            </a:r>
          </a:p>
        </p:txBody>
      </p:sp>
      <p:sp>
        <p:nvSpPr>
          <p:cNvPr id="18" name="TextBox 17"/>
          <p:cNvSpPr txBox="1"/>
          <p:nvPr/>
        </p:nvSpPr>
        <p:spPr>
          <a:xfrm>
            <a:off x="4434840" y="2980944"/>
            <a:ext cx="3319272" cy="96926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Correct local backend</a:t>
            </a:r>
          </a:p>
          <a:p>
            <a:pPr algn="ctr">
              <a:spcBef>
                <a:spcPts val="0"/>
              </a:spcBef>
              <a:spcAft>
                <a:spcPts val="500"/>
              </a:spcAft>
              <a:defRPr sz="1400" b="0">
                <a:solidFill>
                  <a:srgbClr val="586A80"/>
                </a:solidFill>
                <a:latin typeface="Arial"/>
              </a:defRPr>
            </a:pPr>
            <a:r>
              <a:t>Healthy listeners</a:t>
            </a:r>
          </a:p>
        </p:txBody>
      </p:sp>
      <p:cxnSp>
        <p:nvCxnSpPr>
          <p:cNvPr id="19" name="Connector 18"/>
          <p:cNvCxnSpPr/>
          <p:nvPr/>
        </p:nvCxnSpPr>
        <p:spPr>
          <a:xfrm>
            <a:off x="7900416" y="3236976"/>
            <a:ext cx="173735" cy="0"/>
          </a:xfrm>
          <a:prstGeom prst="line">
            <a:avLst/>
          </a:prstGeom>
          <a:ln w="1905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8074152" y="2423160"/>
            <a:ext cx="3611880" cy="161848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74152" y="2514600"/>
            <a:ext cx="50292" cy="143560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11312" y="2542032"/>
            <a:ext cx="3337560" cy="393192"/>
          </a:xfrm>
          <a:prstGeom prst="rect">
            <a:avLst/>
          </a:prstGeom>
          <a:noFill/>
        </p:spPr>
        <p:txBody>
          <a:bodyPr wrap="square" lIns="13716" rIns="13716" tIns="13716" bIns="13716">
            <a:spAutoFit/>
          </a:bodyPr>
          <a:lstStyle/>
          <a:p>
            <a:pPr algn="ctr">
              <a:spcBef>
                <a:spcPts val="0"/>
              </a:spcBef>
              <a:spcAft>
                <a:spcPts val="500"/>
              </a:spcAft>
              <a:defRPr sz="2300" b="1">
                <a:solidFill>
                  <a:srgbClr val="2563EB"/>
                </a:solidFill>
                <a:latin typeface="Arial"/>
              </a:defRPr>
            </a:pPr>
            <a:r>
              <a:t>Route ready</a:t>
            </a:r>
          </a:p>
        </p:txBody>
      </p:sp>
      <p:sp>
        <p:nvSpPr>
          <p:cNvPr id="23" name="TextBox 22"/>
          <p:cNvSpPr txBox="1"/>
          <p:nvPr/>
        </p:nvSpPr>
        <p:spPr>
          <a:xfrm>
            <a:off x="8220456" y="2980944"/>
            <a:ext cx="3319272" cy="96926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Labels and endpoints</a:t>
            </a:r>
          </a:p>
          <a:p>
            <a:pPr algn="ctr">
              <a:spcBef>
                <a:spcPts val="0"/>
              </a:spcBef>
              <a:spcAft>
                <a:spcPts val="500"/>
              </a:spcAft>
              <a:defRPr sz="1400" b="0">
                <a:solidFill>
                  <a:srgbClr val="586A80"/>
                </a:solidFill>
                <a:latin typeface="Arial"/>
              </a:defRPr>
            </a:pPr>
            <a:r>
              <a:t>Ports and pool wiring</a:t>
            </a:r>
          </a:p>
        </p:txBody>
      </p:sp>
      <p:sp>
        <p:nvSpPr>
          <p:cNvPr id="24" name="Rounded Rectangle 23"/>
          <p:cNvSpPr/>
          <p:nvPr/>
        </p:nvSpPr>
        <p:spPr>
          <a:xfrm>
            <a:off x="502920" y="4590288"/>
            <a:ext cx="11183112" cy="8686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4846320"/>
            <a:ext cx="10725912" cy="411480"/>
          </a:xfrm>
          <a:prstGeom prst="rect">
            <a:avLst/>
          </a:prstGeom>
          <a:noFill/>
        </p:spPr>
        <p:txBody>
          <a:bodyPr wrap="square" lIns="13716" rIns="13716" tIns="13716" bIns="13716">
            <a:spAutoFit/>
          </a:bodyPr>
          <a:lstStyle/>
          <a:p>
            <a:pPr>
              <a:spcBef>
                <a:spcPts val="0"/>
              </a:spcBef>
              <a:spcAft>
                <a:spcPts val="500"/>
              </a:spcAft>
              <a:defRPr sz="1900" b="0">
                <a:solidFill>
                  <a:srgbClr val="586A80"/>
                </a:solidFill>
                <a:latin typeface="Arial"/>
              </a:defRPr>
            </a:pPr>
            <a:r>
              <a:t>Test startup, partial failure, replacement, and rollout—not only the steady state.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06 / PRODUCTION LESSONS</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Production lesson #3: use role-appropriate signals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One dashboard can show both phases; one scaling signal should not govern both.</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30 / 36</a:t>
            </a:r>
          </a:p>
        </p:txBody>
      </p:sp>
      <p:sp>
        <p:nvSpPr>
          <p:cNvPr id="8" name="Rectangle 7"/>
          <p:cNvSpPr/>
          <p:nvPr/>
        </p:nvSpPr>
        <p:spPr>
          <a:xfrm>
            <a:off x="502920" y="2240280"/>
            <a:ext cx="2025396" cy="754380"/>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2359152"/>
            <a:ext cx="1828800" cy="594359"/>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ROLE</a:t>
            </a:r>
          </a:p>
        </p:txBody>
      </p:sp>
      <p:sp>
        <p:nvSpPr>
          <p:cNvPr id="10" name="Rectangle 9"/>
          <p:cNvSpPr/>
          <p:nvPr/>
        </p:nvSpPr>
        <p:spPr>
          <a:xfrm>
            <a:off x="2551176" y="2240280"/>
            <a:ext cx="3771900" cy="754380"/>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660904" y="2359152"/>
            <a:ext cx="3575304" cy="594359"/>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USEFUL SIGNALS</a:t>
            </a:r>
          </a:p>
        </p:txBody>
      </p:sp>
      <p:sp>
        <p:nvSpPr>
          <p:cNvPr id="12" name="Rectangle 11"/>
          <p:cNvSpPr/>
          <p:nvPr/>
        </p:nvSpPr>
        <p:spPr>
          <a:xfrm>
            <a:off x="6345936" y="2240280"/>
            <a:ext cx="5317236" cy="754380"/>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55664" y="2359152"/>
            <a:ext cx="5120640" cy="594359"/>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WATCH OUT FOR</a:t>
            </a:r>
          </a:p>
        </p:txBody>
      </p:sp>
      <p:sp>
        <p:nvSpPr>
          <p:cNvPr id="14" name="Rectangle 13"/>
          <p:cNvSpPr/>
          <p:nvPr/>
        </p:nvSpPr>
        <p:spPr>
          <a:xfrm>
            <a:off x="502920" y="3017520"/>
            <a:ext cx="2025396"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2648" y="3136392"/>
            <a:ext cx="1828800" cy="594359"/>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Prefill</a:t>
            </a:r>
          </a:p>
        </p:txBody>
      </p:sp>
      <p:sp>
        <p:nvSpPr>
          <p:cNvPr id="16" name="Rectangle 15"/>
          <p:cNvSpPr/>
          <p:nvPr/>
        </p:nvSpPr>
        <p:spPr>
          <a:xfrm>
            <a:off x="2551176" y="3017520"/>
            <a:ext cx="3771900"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660904" y="3136392"/>
            <a:ext cx="3575304" cy="594359"/>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Queue / prompt pressure</a:t>
            </a:r>
          </a:p>
        </p:txBody>
      </p:sp>
      <p:sp>
        <p:nvSpPr>
          <p:cNvPr id="18" name="Rectangle 17"/>
          <p:cNvSpPr/>
          <p:nvPr/>
        </p:nvSpPr>
        <p:spPr>
          <a:xfrm>
            <a:off x="6345936" y="3017520"/>
            <a:ext cx="5317236"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55664" y="3136392"/>
            <a:ext cx="5120640" cy="594359"/>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Averages that hide burst and tail latency</a:t>
            </a:r>
          </a:p>
        </p:txBody>
      </p:sp>
      <p:sp>
        <p:nvSpPr>
          <p:cNvPr id="20" name="Rectangle 19"/>
          <p:cNvSpPr/>
          <p:nvPr/>
        </p:nvSpPr>
        <p:spPr>
          <a:xfrm>
            <a:off x="502920" y="3794760"/>
            <a:ext cx="2025396" cy="754380"/>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2648" y="3913632"/>
            <a:ext cx="1828800" cy="594359"/>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Decode</a:t>
            </a:r>
          </a:p>
        </p:txBody>
      </p:sp>
      <p:sp>
        <p:nvSpPr>
          <p:cNvPr id="22" name="Rectangle 21"/>
          <p:cNvSpPr/>
          <p:nvPr/>
        </p:nvSpPr>
        <p:spPr>
          <a:xfrm>
            <a:off x="2551176" y="3794760"/>
            <a:ext cx="3771900" cy="754380"/>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660904" y="3913632"/>
            <a:ext cx="3575304" cy="594359"/>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KV pressure / steady load</a:t>
            </a:r>
          </a:p>
        </p:txBody>
      </p:sp>
      <p:sp>
        <p:nvSpPr>
          <p:cNvPr id="24" name="Rectangle 23"/>
          <p:cNvSpPr/>
          <p:nvPr/>
        </p:nvSpPr>
        <p:spPr>
          <a:xfrm>
            <a:off x="6345936" y="3794760"/>
            <a:ext cx="5317236" cy="754380"/>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5664" y="3913632"/>
            <a:ext cx="5120640" cy="594359"/>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Evicting active work during scale-down</a:t>
            </a:r>
          </a:p>
        </p:txBody>
      </p:sp>
      <p:sp>
        <p:nvSpPr>
          <p:cNvPr id="26" name="Rectangle 25"/>
          <p:cNvSpPr/>
          <p:nvPr/>
        </p:nvSpPr>
        <p:spPr>
          <a:xfrm>
            <a:off x="502920" y="4572000"/>
            <a:ext cx="2025396"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2648" y="4690872"/>
            <a:ext cx="1828800" cy="594359"/>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Both</a:t>
            </a:r>
          </a:p>
        </p:txBody>
      </p:sp>
      <p:sp>
        <p:nvSpPr>
          <p:cNvPr id="28" name="Rectangle 27"/>
          <p:cNvSpPr/>
          <p:nvPr/>
        </p:nvSpPr>
        <p:spPr>
          <a:xfrm>
            <a:off x="2551176" y="4572000"/>
            <a:ext cx="3771900"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660904" y="4690872"/>
            <a:ext cx="3575304" cy="594359"/>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Warm-up + SLO + capacity</a:t>
            </a:r>
          </a:p>
        </p:txBody>
      </p:sp>
      <p:sp>
        <p:nvSpPr>
          <p:cNvPr id="30" name="Rectangle 29"/>
          <p:cNvSpPr/>
          <p:nvPr/>
        </p:nvSpPr>
        <p:spPr>
          <a:xfrm>
            <a:off x="6345936" y="4572000"/>
            <a:ext cx="5317236"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55664" y="4690872"/>
            <a:ext cx="5120640" cy="594359"/>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Oscillation, slow model load, fabric limits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06 / TRADEOFFS</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A production decision has four gates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The benchmark is one gate; the operating model is another.</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31 / 36</a:t>
            </a:r>
          </a:p>
        </p:txBody>
      </p:sp>
      <p:sp>
        <p:nvSpPr>
          <p:cNvPr id="8" name="Rounded Rectangle 7"/>
          <p:cNvSpPr/>
          <p:nvPr/>
        </p:nvSpPr>
        <p:spPr>
          <a:xfrm>
            <a:off x="502920" y="2194560"/>
            <a:ext cx="2688336" cy="33101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67512" y="2377440"/>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532888"/>
            <a:ext cx="2322576" cy="256032"/>
          </a:xfrm>
          <a:prstGeom prst="rect">
            <a:avLst/>
          </a:prstGeom>
          <a:noFill/>
        </p:spPr>
        <p:txBody>
          <a:bodyPr wrap="square" lIns="13716" rIns="13716" tIns="13716" bIns="13716">
            <a:spAutoFit/>
          </a:bodyPr>
          <a:lstStyle/>
          <a:p>
            <a:pPr>
              <a:spcBef>
                <a:spcPts val="0"/>
              </a:spcBef>
              <a:spcAft>
                <a:spcPts val="500"/>
              </a:spcAft>
              <a:defRPr sz="1100" b="1">
                <a:solidFill>
                  <a:srgbClr val="087F8C"/>
                </a:solidFill>
                <a:latin typeface="Arial"/>
              </a:defRPr>
            </a:pPr>
            <a:r>
              <a:t>01</a:t>
            </a:r>
          </a:p>
        </p:txBody>
      </p:sp>
      <p:sp>
        <p:nvSpPr>
          <p:cNvPr id="11" name="TextBox 10"/>
          <p:cNvSpPr txBox="1"/>
          <p:nvPr/>
        </p:nvSpPr>
        <p:spPr>
          <a:xfrm>
            <a:off x="685800" y="2907791"/>
            <a:ext cx="2322576"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Workload fit</a:t>
            </a:r>
          </a:p>
        </p:txBody>
      </p:sp>
      <p:sp>
        <p:nvSpPr>
          <p:cNvPr id="12" name="TextBox 11"/>
          <p:cNvSpPr txBox="1"/>
          <p:nvPr/>
        </p:nvSpPr>
        <p:spPr>
          <a:xfrm>
            <a:off x="685800" y="3511296"/>
            <a:ext cx="2322576" cy="1847088"/>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Do prompt and generation pressure diverge enough?</a:t>
            </a:r>
          </a:p>
        </p:txBody>
      </p:sp>
      <p:sp>
        <p:nvSpPr>
          <p:cNvPr id="13" name="Rounded Rectangle 12"/>
          <p:cNvSpPr/>
          <p:nvPr/>
        </p:nvSpPr>
        <p:spPr>
          <a:xfrm>
            <a:off x="3364991" y="2194560"/>
            <a:ext cx="2688336" cy="33101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29584" y="2377440"/>
            <a:ext cx="347472" cy="59436"/>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47872" y="2532888"/>
            <a:ext cx="2322576" cy="256032"/>
          </a:xfrm>
          <a:prstGeom prst="rect">
            <a:avLst/>
          </a:prstGeom>
          <a:noFill/>
        </p:spPr>
        <p:txBody>
          <a:bodyPr wrap="square" lIns="13716" rIns="13716" tIns="13716" bIns="13716">
            <a:spAutoFit/>
          </a:bodyPr>
          <a:lstStyle/>
          <a:p>
            <a:pPr>
              <a:spcBef>
                <a:spcPts val="0"/>
              </a:spcBef>
              <a:spcAft>
                <a:spcPts val="500"/>
              </a:spcAft>
              <a:defRPr sz="1100" b="1">
                <a:solidFill>
                  <a:srgbClr val="AE641A"/>
                </a:solidFill>
                <a:latin typeface="Arial"/>
              </a:defRPr>
            </a:pPr>
            <a:r>
              <a:t>02</a:t>
            </a:r>
          </a:p>
        </p:txBody>
      </p:sp>
      <p:sp>
        <p:nvSpPr>
          <p:cNvPr id="16" name="TextBox 15"/>
          <p:cNvSpPr txBox="1"/>
          <p:nvPr/>
        </p:nvSpPr>
        <p:spPr>
          <a:xfrm>
            <a:off x="3547872" y="2907791"/>
            <a:ext cx="2322576" cy="420624"/>
          </a:xfrm>
          <a:prstGeom prst="rect">
            <a:avLst/>
          </a:prstGeom>
          <a:noFill/>
        </p:spPr>
        <p:txBody>
          <a:bodyPr wrap="square" lIns="13716" rIns="13716" tIns="13716" bIns="13716">
            <a:spAutoFit/>
          </a:bodyPr>
          <a:lstStyle/>
          <a:p>
            <a:pPr>
              <a:spcBef>
                <a:spcPts val="0"/>
              </a:spcBef>
              <a:spcAft>
                <a:spcPts val="500"/>
              </a:spcAft>
              <a:defRPr sz="2000" b="1">
                <a:solidFill>
                  <a:srgbClr val="AE641A"/>
                </a:solidFill>
                <a:latin typeface="Arial"/>
              </a:defRPr>
            </a:pPr>
            <a:r>
              <a:t>Transfer path</a:t>
            </a:r>
          </a:p>
        </p:txBody>
      </p:sp>
      <p:sp>
        <p:nvSpPr>
          <p:cNvPr id="17" name="TextBox 16"/>
          <p:cNvSpPr txBox="1"/>
          <p:nvPr/>
        </p:nvSpPr>
        <p:spPr>
          <a:xfrm>
            <a:off x="3547872" y="3511296"/>
            <a:ext cx="2322576" cy="1847088"/>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Can KV movement stay inside the latency budget?</a:t>
            </a:r>
          </a:p>
        </p:txBody>
      </p:sp>
      <p:sp>
        <p:nvSpPr>
          <p:cNvPr id="18" name="Rounded Rectangle 17"/>
          <p:cNvSpPr/>
          <p:nvPr/>
        </p:nvSpPr>
        <p:spPr>
          <a:xfrm>
            <a:off x="6227064" y="2194560"/>
            <a:ext cx="2688336" cy="33101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391655" y="2377440"/>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9944" y="2532888"/>
            <a:ext cx="2322576" cy="256032"/>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03</a:t>
            </a:r>
          </a:p>
        </p:txBody>
      </p:sp>
      <p:sp>
        <p:nvSpPr>
          <p:cNvPr id="21" name="TextBox 20"/>
          <p:cNvSpPr txBox="1"/>
          <p:nvPr/>
        </p:nvSpPr>
        <p:spPr>
          <a:xfrm>
            <a:off x="6409944" y="2907791"/>
            <a:ext cx="2322576"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Operational fit</a:t>
            </a:r>
          </a:p>
        </p:txBody>
      </p:sp>
      <p:sp>
        <p:nvSpPr>
          <p:cNvPr id="22" name="TextBox 21"/>
          <p:cNvSpPr txBox="1"/>
          <p:nvPr/>
        </p:nvSpPr>
        <p:spPr>
          <a:xfrm>
            <a:off x="6409944" y="3511296"/>
            <a:ext cx="2322576" cy="1847088"/>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Can the team observe, scale, and debug both roles?</a:t>
            </a:r>
          </a:p>
        </p:txBody>
      </p:sp>
      <p:sp>
        <p:nvSpPr>
          <p:cNvPr id="23" name="Rounded Rectangle 22"/>
          <p:cNvSpPr/>
          <p:nvPr/>
        </p:nvSpPr>
        <p:spPr>
          <a:xfrm>
            <a:off x="9089136" y="2194560"/>
            <a:ext cx="2688336" cy="33101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253728" y="2377440"/>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272016" y="2532888"/>
            <a:ext cx="2322576" cy="256032"/>
          </a:xfrm>
          <a:prstGeom prst="rect">
            <a:avLst/>
          </a:prstGeom>
          <a:noFill/>
        </p:spPr>
        <p:txBody>
          <a:bodyPr wrap="square" lIns="13716" rIns="13716" tIns="13716" bIns="13716">
            <a:spAutoFit/>
          </a:bodyPr>
          <a:lstStyle/>
          <a:p>
            <a:pPr>
              <a:spcBef>
                <a:spcPts val="0"/>
              </a:spcBef>
              <a:spcAft>
                <a:spcPts val="500"/>
              </a:spcAft>
              <a:defRPr sz="1100" b="1">
                <a:solidFill>
                  <a:srgbClr val="7354B8"/>
                </a:solidFill>
                <a:latin typeface="Arial"/>
              </a:defRPr>
            </a:pPr>
            <a:r>
              <a:t>04</a:t>
            </a:r>
          </a:p>
        </p:txBody>
      </p:sp>
      <p:sp>
        <p:nvSpPr>
          <p:cNvPr id="26" name="TextBox 25"/>
          <p:cNvSpPr txBox="1"/>
          <p:nvPr/>
        </p:nvSpPr>
        <p:spPr>
          <a:xfrm>
            <a:off x="9272016" y="2907791"/>
            <a:ext cx="2322576"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Measured win</a:t>
            </a:r>
          </a:p>
        </p:txBody>
      </p:sp>
      <p:sp>
        <p:nvSpPr>
          <p:cNvPr id="27" name="TextBox 26"/>
          <p:cNvSpPr txBox="1"/>
          <p:nvPr/>
        </p:nvSpPr>
        <p:spPr>
          <a:xfrm>
            <a:off x="9272016" y="3511296"/>
            <a:ext cx="2322576" cy="1847088"/>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Does SLO goodput improve at acceptable total cost?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06 / ADOPTION PATH</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Adopt P/D in reversible steps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Start with the simplest serving model that meets the workload.</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32 / 36</a:t>
            </a:r>
          </a:p>
        </p:txBody>
      </p:sp>
      <p:sp>
        <p:nvSpPr>
          <p:cNvPr id="8" name="Rounded Rectangle 7"/>
          <p:cNvSpPr/>
          <p:nvPr/>
        </p:nvSpPr>
        <p:spPr>
          <a:xfrm>
            <a:off x="502920" y="2331720"/>
            <a:ext cx="2688336" cy="309067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67512" y="2514600"/>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670048"/>
            <a:ext cx="2322576" cy="256032"/>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STEP 1</a:t>
            </a:r>
          </a:p>
        </p:txBody>
      </p:sp>
      <p:sp>
        <p:nvSpPr>
          <p:cNvPr id="11" name="TextBox 10"/>
          <p:cNvSpPr txBox="1"/>
          <p:nvPr/>
        </p:nvSpPr>
        <p:spPr>
          <a:xfrm>
            <a:off x="685800" y="3044952"/>
            <a:ext cx="2322576"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Baseline</a:t>
            </a:r>
          </a:p>
        </p:txBody>
      </p:sp>
      <p:sp>
        <p:nvSpPr>
          <p:cNvPr id="12" name="TextBox 11"/>
          <p:cNvSpPr txBox="1"/>
          <p:nvPr/>
        </p:nvSpPr>
        <p:spPr>
          <a:xfrm>
            <a:off x="685800" y="3648456"/>
            <a:ext cx="2322576" cy="1627632"/>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Run aggregated.</a:t>
            </a:r>
          </a:p>
          <a:p>
            <a:pPr>
              <a:spcBef>
                <a:spcPts val="0"/>
              </a:spcBef>
              <a:spcAft>
                <a:spcPts val="500"/>
              </a:spcAft>
              <a:defRPr sz="1800" b="0">
                <a:solidFill>
                  <a:srgbClr val="172941"/>
                </a:solidFill>
                <a:latin typeface="Arial"/>
              </a:defRPr>
            </a:pPr>
            <a:r>
              <a:t>Measure traffic + SLO.</a:t>
            </a:r>
          </a:p>
        </p:txBody>
      </p:sp>
      <p:cxnSp>
        <p:nvCxnSpPr>
          <p:cNvPr id="13" name="Connector 12"/>
          <p:cNvCxnSpPr/>
          <p:nvPr/>
        </p:nvCxnSpPr>
        <p:spPr>
          <a:xfrm>
            <a:off x="3191256" y="3803904"/>
            <a:ext cx="173735" cy="0"/>
          </a:xfrm>
          <a:prstGeom prst="line">
            <a:avLst/>
          </a:prstGeom>
          <a:ln w="1778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3364991" y="2331720"/>
            <a:ext cx="2688336" cy="309067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529584" y="2514600"/>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47872" y="2670048"/>
            <a:ext cx="2322576" cy="256032"/>
          </a:xfrm>
          <a:prstGeom prst="rect">
            <a:avLst/>
          </a:prstGeom>
          <a:noFill/>
        </p:spPr>
        <p:txBody>
          <a:bodyPr wrap="square" lIns="13716" rIns="13716" tIns="13716" bIns="13716">
            <a:spAutoFit/>
          </a:bodyPr>
          <a:lstStyle/>
          <a:p>
            <a:pPr>
              <a:spcBef>
                <a:spcPts val="0"/>
              </a:spcBef>
              <a:spcAft>
                <a:spcPts val="500"/>
              </a:spcAft>
              <a:defRPr sz="1100" b="1">
                <a:solidFill>
                  <a:srgbClr val="087F8C"/>
                </a:solidFill>
                <a:latin typeface="Arial"/>
              </a:defRPr>
            </a:pPr>
            <a:r>
              <a:t>STEP 2</a:t>
            </a:r>
          </a:p>
        </p:txBody>
      </p:sp>
      <p:sp>
        <p:nvSpPr>
          <p:cNvPr id="17" name="TextBox 16"/>
          <p:cNvSpPr txBox="1"/>
          <p:nvPr/>
        </p:nvSpPr>
        <p:spPr>
          <a:xfrm>
            <a:off x="3547872" y="3044952"/>
            <a:ext cx="2322576"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Separate</a:t>
            </a:r>
          </a:p>
        </p:txBody>
      </p:sp>
      <p:sp>
        <p:nvSpPr>
          <p:cNvPr id="18" name="TextBox 17"/>
          <p:cNvSpPr txBox="1"/>
          <p:nvPr/>
        </p:nvSpPr>
        <p:spPr>
          <a:xfrm>
            <a:off x="3547872" y="3648456"/>
            <a:ext cx="2322576" cy="1627632"/>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Declare roles.</a:t>
            </a:r>
          </a:p>
          <a:p>
            <a:pPr>
              <a:spcBef>
                <a:spcPts val="0"/>
              </a:spcBef>
              <a:spcAft>
                <a:spcPts val="500"/>
              </a:spcAft>
              <a:defRPr sz="1800" b="0">
                <a:solidFill>
                  <a:srgbClr val="172941"/>
                </a:solidFill>
                <a:latin typeface="Arial"/>
              </a:defRPr>
            </a:pPr>
            <a:r>
              <a:t>Validate KV + routing.</a:t>
            </a:r>
          </a:p>
        </p:txBody>
      </p:sp>
      <p:cxnSp>
        <p:nvCxnSpPr>
          <p:cNvPr id="19" name="Connector 18"/>
          <p:cNvCxnSpPr/>
          <p:nvPr/>
        </p:nvCxnSpPr>
        <p:spPr>
          <a:xfrm>
            <a:off x="6053327" y="3803904"/>
            <a:ext cx="173737" cy="0"/>
          </a:xfrm>
          <a:prstGeom prst="line">
            <a:avLst/>
          </a:prstGeom>
          <a:ln w="1778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227064" y="2331720"/>
            <a:ext cx="2688336" cy="309067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91655" y="2514600"/>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9944" y="2670048"/>
            <a:ext cx="2322576" cy="256032"/>
          </a:xfrm>
          <a:prstGeom prst="rect">
            <a:avLst/>
          </a:prstGeom>
          <a:noFill/>
        </p:spPr>
        <p:txBody>
          <a:bodyPr wrap="square" lIns="13716" rIns="13716" tIns="13716" bIns="13716">
            <a:spAutoFit/>
          </a:bodyPr>
          <a:lstStyle/>
          <a:p>
            <a:pPr>
              <a:spcBef>
                <a:spcPts val="0"/>
              </a:spcBef>
              <a:spcAft>
                <a:spcPts val="500"/>
              </a:spcAft>
              <a:defRPr sz="1100" b="1">
                <a:solidFill>
                  <a:srgbClr val="7354B8"/>
                </a:solidFill>
                <a:latin typeface="Arial"/>
              </a:defRPr>
            </a:pPr>
            <a:r>
              <a:t>STEP 3</a:t>
            </a:r>
          </a:p>
        </p:txBody>
      </p:sp>
      <p:sp>
        <p:nvSpPr>
          <p:cNvPr id="23" name="TextBox 22"/>
          <p:cNvSpPr txBox="1"/>
          <p:nvPr/>
        </p:nvSpPr>
        <p:spPr>
          <a:xfrm>
            <a:off x="6409944" y="3044952"/>
            <a:ext cx="2322576"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Tune</a:t>
            </a:r>
          </a:p>
        </p:txBody>
      </p:sp>
      <p:sp>
        <p:nvSpPr>
          <p:cNvPr id="24" name="TextBox 23"/>
          <p:cNvSpPr txBox="1"/>
          <p:nvPr/>
        </p:nvSpPr>
        <p:spPr>
          <a:xfrm>
            <a:off x="6409944" y="3648456"/>
            <a:ext cx="2322576" cy="1627632"/>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Set role capacity.</a:t>
            </a:r>
          </a:p>
          <a:p>
            <a:pPr>
              <a:spcBef>
                <a:spcPts val="0"/>
              </a:spcBef>
              <a:spcAft>
                <a:spcPts val="500"/>
              </a:spcAft>
              <a:defRPr sz="1800" b="0">
                <a:solidFill>
                  <a:srgbClr val="172941"/>
                </a:solidFill>
                <a:latin typeface="Arial"/>
              </a:defRPr>
            </a:pPr>
            <a:r>
              <a:t>Benchmark at fixed cost.</a:t>
            </a:r>
          </a:p>
        </p:txBody>
      </p:sp>
      <p:cxnSp>
        <p:nvCxnSpPr>
          <p:cNvPr id="25" name="Connector 24"/>
          <p:cNvCxnSpPr/>
          <p:nvPr/>
        </p:nvCxnSpPr>
        <p:spPr>
          <a:xfrm>
            <a:off x="8915400" y="3803904"/>
            <a:ext cx="173736"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9089136" y="2331720"/>
            <a:ext cx="2688336" cy="309067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253728" y="2514600"/>
            <a:ext cx="347472" cy="59436"/>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272016" y="2670048"/>
            <a:ext cx="2322576" cy="256032"/>
          </a:xfrm>
          <a:prstGeom prst="rect">
            <a:avLst/>
          </a:prstGeom>
          <a:noFill/>
        </p:spPr>
        <p:txBody>
          <a:bodyPr wrap="square" lIns="13716" rIns="13716" tIns="13716" bIns="13716">
            <a:spAutoFit/>
          </a:bodyPr>
          <a:lstStyle/>
          <a:p>
            <a:pPr>
              <a:spcBef>
                <a:spcPts val="0"/>
              </a:spcBef>
              <a:spcAft>
                <a:spcPts val="500"/>
              </a:spcAft>
              <a:defRPr sz="1100" b="1">
                <a:solidFill>
                  <a:srgbClr val="AE641A"/>
                </a:solidFill>
                <a:latin typeface="Arial"/>
              </a:defRPr>
            </a:pPr>
            <a:r>
              <a:t>STEP 4</a:t>
            </a:r>
          </a:p>
        </p:txBody>
      </p:sp>
      <p:sp>
        <p:nvSpPr>
          <p:cNvPr id="29" name="TextBox 28"/>
          <p:cNvSpPr txBox="1"/>
          <p:nvPr/>
        </p:nvSpPr>
        <p:spPr>
          <a:xfrm>
            <a:off x="9272016" y="3044952"/>
            <a:ext cx="2322576" cy="420624"/>
          </a:xfrm>
          <a:prstGeom prst="rect">
            <a:avLst/>
          </a:prstGeom>
          <a:noFill/>
        </p:spPr>
        <p:txBody>
          <a:bodyPr wrap="square" lIns="13716" rIns="13716" tIns="13716" bIns="13716">
            <a:spAutoFit/>
          </a:bodyPr>
          <a:lstStyle/>
          <a:p>
            <a:pPr>
              <a:spcBef>
                <a:spcPts val="0"/>
              </a:spcBef>
              <a:spcAft>
                <a:spcPts val="500"/>
              </a:spcAft>
              <a:defRPr sz="2000" b="1">
                <a:solidFill>
                  <a:srgbClr val="AE641A"/>
                </a:solidFill>
                <a:latin typeface="Arial"/>
              </a:defRPr>
            </a:pPr>
            <a:r>
              <a:t>Operate</a:t>
            </a:r>
          </a:p>
        </p:txBody>
      </p:sp>
      <p:sp>
        <p:nvSpPr>
          <p:cNvPr id="30" name="TextBox 29"/>
          <p:cNvSpPr txBox="1"/>
          <p:nvPr/>
        </p:nvSpPr>
        <p:spPr>
          <a:xfrm>
            <a:off x="9272016" y="3648456"/>
            <a:ext cx="2322576" cy="1627632"/>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Add scale policies.</a:t>
            </a:r>
          </a:p>
          <a:p>
            <a:pPr>
              <a:spcBef>
                <a:spcPts val="0"/>
              </a:spcBef>
              <a:spcAft>
                <a:spcPts val="500"/>
              </a:spcAft>
              <a:defRPr sz="1800" b="0">
                <a:solidFill>
                  <a:srgbClr val="172941"/>
                </a:solidFill>
                <a:latin typeface="Arial"/>
              </a:defRPr>
            </a:pPr>
            <a:r>
              <a:t>Test failure + rollback.</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07 / DEMO PATH</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Demo: follow the intent into the running system</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Show the same service at the API, controller, and traffic layers.</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33 / 36</a:t>
            </a:r>
          </a:p>
        </p:txBody>
      </p:sp>
      <p:sp>
        <p:nvSpPr>
          <p:cNvPr id="8" name="Rounded Rectangle 7"/>
          <p:cNvSpPr/>
          <p:nvPr/>
        </p:nvSpPr>
        <p:spPr>
          <a:xfrm>
            <a:off x="502920" y="2240280"/>
            <a:ext cx="3611880" cy="27706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67512" y="2423160"/>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606040"/>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1  Declare</a:t>
            </a:r>
          </a:p>
        </p:txBody>
      </p:sp>
      <p:sp>
        <p:nvSpPr>
          <p:cNvPr id="11" name="TextBox 10"/>
          <p:cNvSpPr txBox="1"/>
          <p:nvPr/>
        </p:nvSpPr>
        <p:spPr>
          <a:xfrm>
            <a:off x="685800" y="3209544"/>
            <a:ext cx="3246120" cy="1655063"/>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Inspect the MRI</a:t>
            </a:r>
          </a:p>
          <a:p>
            <a:pPr>
              <a:spcBef>
                <a:spcPts val="0"/>
              </a:spcBef>
              <a:spcAft>
                <a:spcPts val="500"/>
              </a:spcAft>
              <a:defRPr sz="2000" b="0">
                <a:solidFill>
                  <a:srgbClr val="172941"/>
                </a:solidFill>
                <a:latin typeface="Arial"/>
              </a:defRPr>
            </a:pPr>
            <a:r>
              <a:t>and its role settings.</a:t>
            </a:r>
          </a:p>
        </p:txBody>
      </p:sp>
      <p:sp>
        <p:nvSpPr>
          <p:cNvPr id="12" name="Rounded Rectangle 11"/>
          <p:cNvSpPr/>
          <p:nvPr/>
        </p:nvSpPr>
        <p:spPr>
          <a:xfrm>
            <a:off x="4288536" y="2240280"/>
            <a:ext cx="3611880" cy="27706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453127" y="2423160"/>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71416" y="2606040"/>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2  Reconcile</a:t>
            </a:r>
          </a:p>
        </p:txBody>
      </p:sp>
      <p:sp>
        <p:nvSpPr>
          <p:cNvPr id="15" name="TextBox 14"/>
          <p:cNvSpPr txBox="1"/>
          <p:nvPr/>
        </p:nvSpPr>
        <p:spPr>
          <a:xfrm>
            <a:off x="4471416" y="3209544"/>
            <a:ext cx="3246120" cy="1655063"/>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Inspect child InferenceSets,</a:t>
            </a:r>
          </a:p>
          <a:p>
            <a:pPr>
              <a:spcBef>
                <a:spcPts val="0"/>
              </a:spcBef>
              <a:spcAft>
                <a:spcPts val="500"/>
              </a:spcAft>
              <a:defRPr sz="2000" b="0">
                <a:solidFill>
                  <a:srgbClr val="172941"/>
                </a:solidFill>
                <a:latin typeface="Arial"/>
              </a:defRPr>
            </a:pPr>
            <a:r>
              <a:t>Workspaces, and routing.</a:t>
            </a:r>
          </a:p>
        </p:txBody>
      </p:sp>
      <p:sp>
        <p:nvSpPr>
          <p:cNvPr id="16" name="Rounded Rectangle 15"/>
          <p:cNvSpPr/>
          <p:nvPr/>
        </p:nvSpPr>
        <p:spPr>
          <a:xfrm>
            <a:off x="8074152" y="2240280"/>
            <a:ext cx="3611880" cy="27706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38744" y="2423160"/>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57031" y="2606040"/>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3  Verify</a:t>
            </a:r>
          </a:p>
        </p:txBody>
      </p:sp>
      <p:sp>
        <p:nvSpPr>
          <p:cNvPr id="19" name="TextBox 18"/>
          <p:cNvSpPr txBox="1"/>
          <p:nvPr/>
        </p:nvSpPr>
        <p:spPr>
          <a:xfrm>
            <a:off x="8257031" y="3209544"/>
            <a:ext cx="3246120" cy="1655063"/>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Send one request.</a:t>
            </a:r>
          </a:p>
          <a:p>
            <a:pPr>
              <a:spcBef>
                <a:spcPts val="0"/>
              </a:spcBef>
              <a:spcAft>
                <a:spcPts val="500"/>
              </a:spcAft>
              <a:defRPr sz="2000" b="0">
                <a:solidFill>
                  <a:srgbClr val="172941"/>
                </a:solidFill>
                <a:latin typeface="Arial"/>
              </a:defRPr>
            </a:pPr>
            <a:r>
              <a:t>Observe both roles.</a:t>
            </a:r>
          </a:p>
        </p:txBody>
      </p:sp>
      <p:sp>
        <p:nvSpPr>
          <p:cNvPr id="20" name="TextBox 19"/>
          <p:cNvSpPr txBox="1"/>
          <p:nvPr/>
        </p:nvSpPr>
        <p:spPr>
          <a:xfrm>
            <a:off x="521207" y="5449824"/>
            <a:ext cx="11064240" cy="39319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Optional: apply a verified KEDA policy to one child InferenceSet and observe scaling.</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07 / DIRECTION</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Next: make multi-role serving easier to operate</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Recommended areas of work—not release commitments.</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34 / 36</a:t>
            </a:r>
          </a:p>
        </p:txBody>
      </p:sp>
      <p:sp>
        <p:nvSpPr>
          <p:cNvPr id="8" name="Rounded Rectangle 7"/>
          <p:cNvSpPr/>
          <p:nvPr/>
        </p:nvSpPr>
        <p:spPr>
          <a:xfrm>
            <a:off x="502920" y="2240280"/>
            <a:ext cx="3611880" cy="313639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67512" y="2423160"/>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57860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087F8C"/>
                </a:solidFill>
                <a:latin typeface="Arial"/>
              </a:defRPr>
            </a:pPr>
            <a:r>
              <a:t>DIRECTION</a:t>
            </a:r>
          </a:p>
        </p:txBody>
      </p:sp>
      <p:sp>
        <p:nvSpPr>
          <p:cNvPr id="11" name="TextBox 10"/>
          <p:cNvSpPr txBox="1"/>
          <p:nvPr/>
        </p:nvSpPr>
        <p:spPr>
          <a:xfrm>
            <a:off x="685800" y="295351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Scaling UX</a:t>
            </a:r>
          </a:p>
        </p:txBody>
      </p:sp>
      <p:sp>
        <p:nvSpPr>
          <p:cNvPr id="12" name="TextBox 11"/>
          <p:cNvSpPr txBox="1"/>
          <p:nvPr/>
        </p:nvSpPr>
        <p:spPr>
          <a:xfrm>
            <a:off x="685800" y="3557016"/>
            <a:ext cx="3246120" cy="1673352"/>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Express per-role policy</a:t>
            </a:r>
          </a:p>
          <a:p>
            <a:pPr>
              <a:spcBef>
                <a:spcPts val="0"/>
              </a:spcBef>
              <a:spcAft>
                <a:spcPts val="500"/>
              </a:spcAft>
              <a:defRPr sz="2000" b="0">
                <a:solidFill>
                  <a:srgbClr val="172941"/>
                </a:solidFill>
                <a:latin typeface="Arial"/>
              </a:defRPr>
            </a:pPr>
            <a:r>
              <a:t>without repetitive plumbing.</a:t>
            </a:r>
          </a:p>
        </p:txBody>
      </p:sp>
      <p:sp>
        <p:nvSpPr>
          <p:cNvPr id="13" name="Rounded Rectangle 12"/>
          <p:cNvSpPr/>
          <p:nvPr/>
        </p:nvSpPr>
        <p:spPr>
          <a:xfrm>
            <a:off x="4288536" y="2240280"/>
            <a:ext cx="3611880" cy="313639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53127" y="2423160"/>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71416" y="257860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DIRECTION</a:t>
            </a:r>
          </a:p>
        </p:txBody>
      </p:sp>
      <p:sp>
        <p:nvSpPr>
          <p:cNvPr id="16" name="TextBox 15"/>
          <p:cNvSpPr txBox="1"/>
          <p:nvPr/>
        </p:nvSpPr>
        <p:spPr>
          <a:xfrm>
            <a:off x="4471416" y="295351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Observability</a:t>
            </a:r>
          </a:p>
        </p:txBody>
      </p:sp>
      <p:sp>
        <p:nvSpPr>
          <p:cNvPr id="17" name="TextBox 16"/>
          <p:cNvSpPr txBox="1"/>
          <p:nvPr/>
        </p:nvSpPr>
        <p:spPr>
          <a:xfrm>
            <a:off x="4471416" y="3557016"/>
            <a:ext cx="3246120" cy="1673352"/>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Connect request latency,</a:t>
            </a:r>
          </a:p>
          <a:p>
            <a:pPr>
              <a:spcBef>
                <a:spcPts val="0"/>
              </a:spcBef>
              <a:spcAft>
                <a:spcPts val="500"/>
              </a:spcAft>
              <a:defRPr sz="2000" b="0">
                <a:solidFill>
                  <a:srgbClr val="172941"/>
                </a:solidFill>
                <a:latin typeface="Arial"/>
              </a:defRPr>
            </a:pPr>
            <a:r>
              <a:t>role load, and KV transfer.</a:t>
            </a:r>
          </a:p>
        </p:txBody>
      </p:sp>
      <p:sp>
        <p:nvSpPr>
          <p:cNvPr id="18" name="Rounded Rectangle 17"/>
          <p:cNvSpPr/>
          <p:nvPr/>
        </p:nvSpPr>
        <p:spPr>
          <a:xfrm>
            <a:off x="8074152" y="2240280"/>
            <a:ext cx="3611880" cy="313639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238744" y="2423160"/>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57031" y="257860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7354B8"/>
                </a:solidFill>
                <a:latin typeface="Arial"/>
              </a:defRPr>
            </a:pPr>
            <a:r>
              <a:t>DIRECTION</a:t>
            </a:r>
          </a:p>
        </p:txBody>
      </p:sp>
      <p:sp>
        <p:nvSpPr>
          <p:cNvPr id="21" name="TextBox 20"/>
          <p:cNvSpPr txBox="1"/>
          <p:nvPr/>
        </p:nvSpPr>
        <p:spPr>
          <a:xfrm>
            <a:off x="8257031" y="295351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Topology UX</a:t>
            </a:r>
          </a:p>
        </p:txBody>
      </p:sp>
      <p:sp>
        <p:nvSpPr>
          <p:cNvPr id="22" name="TextBox 21"/>
          <p:cNvSpPr txBox="1"/>
          <p:nvPr/>
        </p:nvSpPr>
        <p:spPr>
          <a:xfrm>
            <a:off x="8257031" y="3557016"/>
            <a:ext cx="3246120" cy="1673352"/>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Keep richer serving layouts</a:t>
            </a:r>
          </a:p>
          <a:p>
            <a:pPr>
              <a:spcBef>
                <a:spcPts val="0"/>
              </a:spcBef>
              <a:spcAft>
                <a:spcPts val="500"/>
              </a:spcAft>
              <a:defRPr sz="2000" b="0">
                <a:solidFill>
                  <a:srgbClr val="172941"/>
                </a:solidFill>
                <a:latin typeface="Arial"/>
              </a:defRPr>
            </a:pPr>
            <a:r>
              <a:t>inside the same API model.</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08 / TAKEAWAYS</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Three things to remember</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Independent capacity is the opportunity. Reconciled topology is the enabler.</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35 / 36</a:t>
            </a:r>
          </a:p>
        </p:txBody>
      </p:sp>
      <p:sp>
        <p:nvSpPr>
          <p:cNvPr id="8" name="Rounded Rectangle 7"/>
          <p:cNvSpPr/>
          <p:nvPr/>
        </p:nvSpPr>
        <p:spPr>
          <a:xfrm>
            <a:off x="502920" y="2395728"/>
            <a:ext cx="548640" cy="310896"/>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2427732"/>
            <a:ext cx="420623" cy="237744"/>
          </a:xfrm>
          <a:prstGeom prst="rect">
            <a:avLst/>
          </a:prstGeom>
          <a:noFill/>
        </p:spPr>
        <p:txBody>
          <a:bodyPr wrap="square" lIns="13716" rIns="13716" tIns="13716" bIns="13716">
            <a:spAutoFit/>
          </a:bodyPr>
          <a:lstStyle/>
          <a:p>
            <a:pPr algn="ctr">
              <a:spcBef>
                <a:spcPts val="0"/>
              </a:spcBef>
              <a:spcAft>
                <a:spcPts val="500"/>
              </a:spcAft>
              <a:defRPr sz="1000" b="1">
                <a:solidFill>
                  <a:srgbClr val="087F8C"/>
                </a:solidFill>
                <a:latin typeface="Arial"/>
              </a:defRPr>
            </a:pPr>
            <a:r>
              <a:t>01</a:t>
            </a:r>
          </a:p>
        </p:txBody>
      </p:sp>
      <p:sp>
        <p:nvSpPr>
          <p:cNvPr id="10" name="TextBox 9"/>
          <p:cNvSpPr txBox="1"/>
          <p:nvPr/>
        </p:nvSpPr>
        <p:spPr>
          <a:xfrm>
            <a:off x="1298448" y="2249424"/>
            <a:ext cx="3794760" cy="438912"/>
          </a:xfrm>
          <a:prstGeom prst="rect">
            <a:avLst/>
          </a:prstGeom>
          <a:noFill/>
        </p:spPr>
        <p:txBody>
          <a:bodyPr wrap="square" lIns="13716" rIns="13716" tIns="13716" bIns="13716">
            <a:spAutoFit/>
          </a:bodyPr>
          <a:lstStyle/>
          <a:p>
            <a:pPr>
              <a:spcBef>
                <a:spcPts val="0"/>
              </a:spcBef>
              <a:spcAft>
                <a:spcPts val="500"/>
              </a:spcAft>
              <a:defRPr sz="2400" b="1">
                <a:solidFill>
                  <a:srgbClr val="087F8C"/>
                </a:solidFill>
                <a:latin typeface="Arial"/>
              </a:defRPr>
            </a:pPr>
            <a:r>
              <a:t>Split for a reason</a:t>
            </a:r>
          </a:p>
        </p:txBody>
      </p:sp>
      <p:sp>
        <p:nvSpPr>
          <p:cNvPr id="11" name="TextBox 10"/>
          <p:cNvSpPr txBox="1"/>
          <p:nvPr/>
        </p:nvSpPr>
        <p:spPr>
          <a:xfrm>
            <a:off x="5230368" y="2295144"/>
            <a:ext cx="6355080" cy="713232"/>
          </a:xfrm>
          <a:prstGeom prst="rect">
            <a:avLst/>
          </a:prstGeom>
          <a:noFill/>
        </p:spPr>
        <p:txBody>
          <a:bodyPr wrap="square" lIns="13716" rIns="13716" tIns="13716" bIns="13716">
            <a:spAutoFit/>
          </a:bodyPr>
          <a:lstStyle/>
          <a:p>
            <a:pPr>
              <a:spcBef>
                <a:spcPts val="0"/>
              </a:spcBef>
              <a:spcAft>
                <a:spcPts val="500"/>
              </a:spcAft>
              <a:defRPr sz="1900" b="0">
                <a:solidFill>
                  <a:srgbClr val="172941"/>
                </a:solidFill>
                <a:latin typeface="Arial"/>
              </a:defRPr>
            </a:pPr>
            <a:r>
              <a:t>Prefill and decode have different bottlenecks.</a:t>
            </a:r>
          </a:p>
        </p:txBody>
      </p:sp>
      <p:sp>
        <p:nvSpPr>
          <p:cNvPr id="12" name="Rounded Rectangle 11"/>
          <p:cNvSpPr/>
          <p:nvPr/>
        </p:nvSpPr>
        <p:spPr>
          <a:xfrm>
            <a:off x="502920" y="3483863"/>
            <a:ext cx="548640" cy="310896"/>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928" y="3515868"/>
            <a:ext cx="420623" cy="237744"/>
          </a:xfrm>
          <a:prstGeom prst="rect">
            <a:avLst/>
          </a:prstGeom>
          <a:noFill/>
        </p:spPr>
        <p:txBody>
          <a:bodyPr wrap="square" lIns="13716" rIns="13716" tIns="13716" bIns="13716">
            <a:spAutoFit/>
          </a:bodyPr>
          <a:lstStyle/>
          <a:p>
            <a:pPr algn="ctr">
              <a:spcBef>
                <a:spcPts val="0"/>
              </a:spcBef>
              <a:spcAft>
                <a:spcPts val="500"/>
              </a:spcAft>
              <a:defRPr sz="1000" b="1">
                <a:solidFill>
                  <a:srgbClr val="2563EB"/>
                </a:solidFill>
                <a:latin typeface="Arial"/>
              </a:defRPr>
            </a:pPr>
            <a:r>
              <a:t>02</a:t>
            </a:r>
          </a:p>
        </p:txBody>
      </p:sp>
      <p:sp>
        <p:nvSpPr>
          <p:cNvPr id="14" name="TextBox 13"/>
          <p:cNvSpPr txBox="1"/>
          <p:nvPr/>
        </p:nvSpPr>
        <p:spPr>
          <a:xfrm>
            <a:off x="1298448" y="3337560"/>
            <a:ext cx="3794760" cy="438912"/>
          </a:xfrm>
          <a:prstGeom prst="rect">
            <a:avLst/>
          </a:prstGeom>
          <a:noFill/>
        </p:spPr>
        <p:txBody>
          <a:bodyPr wrap="square" lIns="13716" rIns="13716" tIns="13716" bIns="13716">
            <a:spAutoFit/>
          </a:bodyPr>
          <a:lstStyle/>
          <a:p>
            <a:pPr>
              <a:spcBef>
                <a:spcPts val="0"/>
              </a:spcBef>
              <a:spcAft>
                <a:spcPts val="500"/>
              </a:spcAft>
              <a:defRPr sz="2400" b="1">
                <a:solidFill>
                  <a:srgbClr val="2563EB"/>
                </a:solidFill>
                <a:latin typeface="Arial"/>
              </a:defRPr>
            </a:pPr>
            <a:r>
              <a:t>Declare the topology</a:t>
            </a:r>
          </a:p>
        </p:txBody>
      </p:sp>
      <p:sp>
        <p:nvSpPr>
          <p:cNvPr id="15" name="TextBox 14"/>
          <p:cNvSpPr txBox="1"/>
          <p:nvPr/>
        </p:nvSpPr>
        <p:spPr>
          <a:xfrm>
            <a:off x="5230368" y="3383279"/>
            <a:ext cx="6355080" cy="713232"/>
          </a:xfrm>
          <a:prstGeom prst="rect">
            <a:avLst/>
          </a:prstGeom>
          <a:noFill/>
        </p:spPr>
        <p:txBody>
          <a:bodyPr wrap="square" lIns="13716" rIns="13716" tIns="13716" bIns="13716">
            <a:spAutoFit/>
          </a:bodyPr>
          <a:lstStyle/>
          <a:p>
            <a:pPr>
              <a:spcBef>
                <a:spcPts val="0"/>
              </a:spcBef>
              <a:spcAft>
                <a:spcPts val="500"/>
              </a:spcAft>
              <a:defRPr sz="1900" b="0">
                <a:solidFill>
                  <a:srgbClr val="172941"/>
                </a:solidFill>
                <a:latin typeface="Arial"/>
              </a:defRPr>
            </a:pPr>
            <a:r>
              <a:t>KAITO composes the resources; llm-d routes the work.</a:t>
            </a:r>
          </a:p>
        </p:txBody>
      </p:sp>
      <p:sp>
        <p:nvSpPr>
          <p:cNvPr id="16" name="Rounded Rectangle 15"/>
          <p:cNvSpPr/>
          <p:nvPr/>
        </p:nvSpPr>
        <p:spPr>
          <a:xfrm>
            <a:off x="502920" y="4572000"/>
            <a:ext cx="548640" cy="31089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4604004"/>
            <a:ext cx="420623" cy="237744"/>
          </a:xfrm>
          <a:prstGeom prst="rect">
            <a:avLst/>
          </a:prstGeom>
          <a:noFill/>
        </p:spPr>
        <p:txBody>
          <a:bodyPr wrap="square" lIns="13716" rIns="13716" tIns="13716" bIns="13716">
            <a:spAutoFit/>
          </a:bodyPr>
          <a:lstStyle/>
          <a:p>
            <a:pPr algn="ctr">
              <a:spcBef>
                <a:spcPts val="0"/>
              </a:spcBef>
              <a:spcAft>
                <a:spcPts val="500"/>
              </a:spcAft>
              <a:defRPr sz="1000" b="1">
                <a:solidFill>
                  <a:srgbClr val="7354B8"/>
                </a:solidFill>
                <a:latin typeface="Arial"/>
              </a:defRPr>
            </a:pPr>
            <a:r>
              <a:t>03</a:t>
            </a:r>
          </a:p>
        </p:txBody>
      </p:sp>
      <p:sp>
        <p:nvSpPr>
          <p:cNvPr id="18" name="TextBox 17"/>
          <p:cNvSpPr txBox="1"/>
          <p:nvPr/>
        </p:nvSpPr>
        <p:spPr>
          <a:xfrm>
            <a:off x="1298448" y="4425696"/>
            <a:ext cx="3794760" cy="438912"/>
          </a:xfrm>
          <a:prstGeom prst="rect">
            <a:avLst/>
          </a:prstGeom>
          <a:noFill/>
        </p:spPr>
        <p:txBody>
          <a:bodyPr wrap="square" lIns="13716" rIns="13716" tIns="13716" bIns="13716">
            <a:spAutoFit/>
          </a:bodyPr>
          <a:lstStyle/>
          <a:p>
            <a:pPr>
              <a:spcBef>
                <a:spcPts val="0"/>
              </a:spcBef>
              <a:spcAft>
                <a:spcPts val="500"/>
              </a:spcAft>
              <a:defRPr sz="2400" b="1">
                <a:solidFill>
                  <a:srgbClr val="7354B8"/>
                </a:solidFill>
                <a:latin typeface="Arial"/>
              </a:defRPr>
            </a:pPr>
            <a:r>
              <a:t>Prove the tradeoff</a:t>
            </a:r>
          </a:p>
        </p:txBody>
      </p:sp>
      <p:sp>
        <p:nvSpPr>
          <p:cNvPr id="19" name="TextBox 18"/>
          <p:cNvSpPr txBox="1"/>
          <p:nvPr/>
        </p:nvSpPr>
        <p:spPr>
          <a:xfrm>
            <a:off x="5230368" y="4471416"/>
            <a:ext cx="6355080" cy="713232"/>
          </a:xfrm>
          <a:prstGeom prst="rect">
            <a:avLst/>
          </a:prstGeom>
          <a:noFill/>
        </p:spPr>
        <p:txBody>
          <a:bodyPr wrap="square" lIns="13716" rIns="13716" tIns="13716" bIns="13716">
            <a:spAutoFit/>
          </a:bodyPr>
          <a:lstStyle/>
          <a:p>
            <a:pPr>
              <a:spcBef>
                <a:spcPts val="0"/>
              </a:spcBef>
              <a:spcAft>
                <a:spcPts val="500"/>
              </a:spcAft>
              <a:defRPr sz="1900" b="0">
                <a:solidFill>
                  <a:srgbClr val="172941"/>
                </a:solidFill>
                <a:latin typeface="Arial"/>
              </a:defRPr>
            </a:pPr>
            <a:r>
              <a:t>Use role-aware metrics and measure against a baseline.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102039"/>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AFC3DF"/>
                </a:solidFill>
                <a:latin typeface="Arial"/>
              </a:defRPr>
            </a:pPr>
            <a:r>
              <a:t>08 / Q&amp;A</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FFFFFF"/>
                </a:solidFill>
                <a:latin typeface="Arial"/>
              </a:defRPr>
            </a:pPr>
            <a:r>
              <a:t>Questions? Start with your workload.</a:t>
            </a:r>
          </a:p>
        </p:txBody>
      </p:sp>
      <p:cxnSp>
        <p:nvCxnSpPr>
          <p:cNvPr id="4" name="Connector 3"/>
          <p:cNvCxnSpPr/>
          <p:nvPr/>
        </p:nvCxnSpPr>
        <p:spPr>
          <a:xfrm>
            <a:off x="457200" y="6510528"/>
            <a:ext cx="11274552" cy="0"/>
          </a:xfrm>
          <a:prstGeom prst="line">
            <a:avLst/>
          </a:prstGeom>
          <a:ln w="8890">
            <a:solidFill>
              <a:srgbClr val="586A8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AFC3DF"/>
                </a:solidFill>
                <a:latin typeface="Arial"/>
              </a:defRPr>
            </a:pPr>
            <a:r>
              <a:t>KUBECON + CLOUDNATIVECON NORTH AMERICA 2026  /  KAITO + llm-d</a:t>
            </a:r>
          </a:p>
        </p:txBody>
      </p:sp>
      <p:sp>
        <p:nvSpPr>
          <p:cNvPr id="6" name="TextBox 5"/>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AFC3DF"/>
                </a:solidFill>
                <a:latin typeface="Arial"/>
              </a:defRPr>
            </a:pPr>
            <a:r>
              <a:t>36 / 36</a:t>
            </a:r>
          </a:p>
        </p:txBody>
      </p:sp>
      <p:sp>
        <p:nvSpPr>
          <p:cNvPr id="7" name="TextBox 6"/>
          <p:cNvSpPr txBox="1"/>
          <p:nvPr/>
        </p:nvSpPr>
        <p:spPr>
          <a:xfrm>
            <a:off x="502920" y="1618488"/>
            <a:ext cx="10789920" cy="960120"/>
          </a:xfrm>
          <a:prstGeom prst="rect">
            <a:avLst/>
          </a:prstGeom>
          <a:noFill/>
        </p:spPr>
        <p:txBody>
          <a:bodyPr wrap="square" lIns="13716" rIns="13716" tIns="13716" bIns="13716">
            <a:spAutoFit/>
          </a:bodyPr>
          <a:lstStyle/>
          <a:p>
            <a:pPr>
              <a:spcBef>
                <a:spcPts val="0"/>
              </a:spcBef>
              <a:spcAft>
                <a:spcPts val="500"/>
              </a:spcAft>
              <a:defRPr sz="2600" b="1">
                <a:solidFill>
                  <a:srgbClr val="FFFFFF"/>
                </a:solidFill>
                <a:latin typeface="Arial"/>
              </a:defRPr>
            </a:pPr>
            <a:r>
              <a:t>Which phase limits you today—</a:t>
            </a:r>
          </a:p>
          <a:p>
            <a:pPr>
              <a:spcBef>
                <a:spcPts val="0"/>
              </a:spcBef>
              <a:spcAft>
                <a:spcPts val="500"/>
              </a:spcAft>
              <a:defRPr sz="2600" b="1">
                <a:solidFill>
                  <a:srgbClr val="FFFFFF"/>
                </a:solidFill>
                <a:latin typeface="Arial"/>
              </a:defRPr>
            </a:pPr>
            <a:r>
              <a:t>prompt processing, token delivery, or the KV path?</a:t>
            </a:r>
          </a:p>
        </p:txBody>
      </p:sp>
      <p:sp>
        <p:nvSpPr>
          <p:cNvPr id="8" name="Rounded Rectangle 7"/>
          <p:cNvSpPr/>
          <p:nvPr/>
        </p:nvSpPr>
        <p:spPr>
          <a:xfrm>
            <a:off x="502920" y="2999232"/>
            <a:ext cx="3611880" cy="12801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3090672"/>
            <a:ext cx="50292" cy="109728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118103"/>
            <a:ext cx="333756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087F8C"/>
                </a:solidFill>
                <a:latin typeface="Arial"/>
              </a:defRPr>
            </a:pPr>
            <a:r>
              <a:t>Workload</a:t>
            </a:r>
          </a:p>
        </p:txBody>
      </p:sp>
      <p:sp>
        <p:nvSpPr>
          <p:cNvPr id="11" name="TextBox 10"/>
          <p:cNvSpPr txBox="1"/>
          <p:nvPr/>
        </p:nvSpPr>
        <p:spPr>
          <a:xfrm>
            <a:off x="649224" y="3557016"/>
            <a:ext cx="3319272" cy="63093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Prompt + output lengths</a:t>
            </a:r>
          </a:p>
        </p:txBody>
      </p:sp>
      <p:sp>
        <p:nvSpPr>
          <p:cNvPr id="12" name="Rounded Rectangle 11"/>
          <p:cNvSpPr/>
          <p:nvPr/>
        </p:nvSpPr>
        <p:spPr>
          <a:xfrm>
            <a:off x="4288536" y="2999232"/>
            <a:ext cx="3611880" cy="12801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88536" y="3090672"/>
            <a:ext cx="50292" cy="109728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25696" y="3118103"/>
            <a:ext cx="333756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2563EB"/>
                </a:solidFill>
                <a:latin typeface="Arial"/>
              </a:defRPr>
            </a:pPr>
            <a:r>
              <a:t>Infrastructure</a:t>
            </a:r>
          </a:p>
        </p:txBody>
      </p:sp>
      <p:sp>
        <p:nvSpPr>
          <p:cNvPr id="15" name="TextBox 14"/>
          <p:cNvSpPr txBox="1"/>
          <p:nvPr/>
        </p:nvSpPr>
        <p:spPr>
          <a:xfrm>
            <a:off x="4434840" y="3557016"/>
            <a:ext cx="3319272" cy="63093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GPU topology + fabric</a:t>
            </a:r>
          </a:p>
        </p:txBody>
      </p:sp>
      <p:sp>
        <p:nvSpPr>
          <p:cNvPr id="16" name="Rounded Rectangle 15"/>
          <p:cNvSpPr/>
          <p:nvPr/>
        </p:nvSpPr>
        <p:spPr>
          <a:xfrm>
            <a:off x="8074152" y="2999232"/>
            <a:ext cx="3611880" cy="12801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4152" y="3090672"/>
            <a:ext cx="50292" cy="109728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11312" y="3118103"/>
            <a:ext cx="333756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7354B8"/>
                </a:solidFill>
                <a:latin typeface="Arial"/>
              </a:defRPr>
            </a:pPr>
            <a:r>
              <a:t>Operations</a:t>
            </a:r>
          </a:p>
        </p:txBody>
      </p:sp>
      <p:sp>
        <p:nvSpPr>
          <p:cNvPr id="19" name="TextBox 18"/>
          <p:cNvSpPr txBox="1"/>
          <p:nvPr/>
        </p:nvSpPr>
        <p:spPr>
          <a:xfrm>
            <a:off x="8220456" y="3557016"/>
            <a:ext cx="3319272" cy="63093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SLO + scaling signals</a:t>
            </a:r>
          </a:p>
        </p:txBody>
      </p:sp>
      <p:sp>
        <p:nvSpPr>
          <p:cNvPr id="20" name="TextBox 19"/>
          <p:cNvSpPr txBox="1"/>
          <p:nvPr/>
        </p:nvSpPr>
        <p:spPr>
          <a:xfrm>
            <a:off x="502920" y="4809744"/>
            <a:ext cx="11155680" cy="329184"/>
          </a:xfrm>
          <a:prstGeom prst="rect">
            <a:avLst/>
          </a:prstGeom>
          <a:noFill/>
        </p:spPr>
        <p:txBody>
          <a:bodyPr wrap="square" lIns="13716" rIns="13716" tIns="13716" bIns="13716">
            <a:spAutoFit/>
          </a:bodyPr>
          <a:lstStyle/>
          <a:p>
            <a:pPr>
              <a:spcBef>
                <a:spcPts val="0"/>
              </a:spcBef>
              <a:spcAft>
                <a:spcPts val="500"/>
              </a:spcAft>
              <a:defRPr sz="1800" b="1">
                <a:solidFill>
                  <a:srgbClr val="AFC3DF"/>
                </a:solidFill>
                <a:latin typeface="Arial"/>
              </a:defRPr>
            </a:pPr>
            <a:r>
              <a:t>Continue with the implementation guides</a:t>
            </a:r>
          </a:p>
        </p:txBody>
      </p:sp>
      <p:sp>
        <p:nvSpPr>
          <p:cNvPr id="21" name="TextBox 20"/>
          <p:cNvSpPr txBox="1"/>
          <p:nvPr/>
        </p:nvSpPr>
        <p:spPr>
          <a:xfrm>
            <a:off x="502920" y="5367528"/>
            <a:ext cx="10972800" cy="310896"/>
          </a:xfrm>
          <a:prstGeom prst="rect">
            <a:avLst/>
          </a:prstGeom>
          <a:noFill/>
        </p:spPr>
        <p:txBody>
          <a:bodyPr wrap="square" lIns="13716" rIns="13716" tIns="13716" bIns="13716">
            <a:spAutoFit/>
          </a:bodyPr>
          <a:lstStyle/>
          <a:p>
            <a:pPr>
              <a:spcBef>
                <a:spcPts val="0"/>
              </a:spcBef>
              <a:spcAft>
                <a:spcPts val="500"/>
              </a:spcAft>
              <a:defRPr sz="1500" b="0">
                <a:solidFill>
                  <a:srgbClr val="FFFFFF"/>
                </a:solidFill>
                <a:latin typeface="Arial"/>
              </a:defRPr>
            </a:pPr>
            <a:r>
              <a:rPr>
                <a:hlinkClick r:id="rId2"/>
              </a:rPr>
              <a:t>KAITO: prefill/decode disaggregation</a:t>
            </a:r>
          </a:p>
        </p:txBody>
      </p:sp>
      <p:sp>
        <p:nvSpPr>
          <p:cNvPr id="22" name="TextBox 21"/>
          <p:cNvSpPr txBox="1"/>
          <p:nvPr/>
        </p:nvSpPr>
        <p:spPr>
          <a:xfrm>
            <a:off x="502920" y="5779008"/>
            <a:ext cx="10972800" cy="310896"/>
          </a:xfrm>
          <a:prstGeom prst="rect">
            <a:avLst/>
          </a:prstGeom>
          <a:noFill/>
        </p:spPr>
        <p:txBody>
          <a:bodyPr wrap="square" lIns="13716" rIns="13716" tIns="13716" bIns="13716">
            <a:spAutoFit/>
          </a:bodyPr>
          <a:lstStyle/>
          <a:p>
            <a:pPr>
              <a:spcBef>
                <a:spcPts val="0"/>
              </a:spcBef>
              <a:spcAft>
                <a:spcPts val="500"/>
              </a:spcAft>
              <a:defRPr sz="1500" b="0">
                <a:solidFill>
                  <a:srgbClr val="FFFFFF"/>
                </a:solidFill>
                <a:latin typeface="Arial"/>
              </a:defRPr>
            </a:pPr>
            <a:r>
              <a:rPr>
                <a:hlinkClick r:id="rId3"/>
              </a:rPr>
              <a:t>KAITO: KEDA autoscaling for InferenceSet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Prefill Here, Decode There</dc:title>
  <dc:subject>Kubernetes-native LLM inference disaggregation with KAITO and llm-d</dc:subject>
  <dc:creator>Andy Zhang</dc:creator>
  <cp:keywords>KubeCon, KAITO, llm-d, prefill, decode, editable diagrams</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