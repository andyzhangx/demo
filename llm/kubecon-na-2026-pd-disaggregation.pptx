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a standard decoder-only autoregressive Transformer with KV caching, no speculative decoding, and a single request. The prompt is On a rainy afternoon, the little robot decided to. The illustrative completion is build a small boat and sail across the pond. Word-sized output blocks, leading spaces and punctuation are conceptual; they are not an actual tokenizer encoding or a captured model result. Real tokenizers can split words and whitespace differently, so do not infer an actual prompt-token count or model probability. Tokenization precedes model execution. Prefill processes all uncached prompt positions: operations across positions can be batched within a layer, while the causal mask prevents each position from attending to future positions. Layers still follow model dependencies. Every attention layer builds keys and values for processed prompt positions. KV tensors are model state, not prompt text, weights or cached completed answers. The final prompt position produces logits for the next token; sampling or greedy selection yields y1, illustrated as a leading space plus build. Immediately after this selection the cache contains prompt KV, not KV for y1. The next forward pass consumes y1 and appends its K/V. Chunked prefill can split uncached positions across scheduled chunks; prefix caching can reuse already cached prompt positions. The conceptual prefill phase is therefore not necessarily one physical kernel or uninterrupted scheduler iteration. Selection and delivery may occur on different workers; these slides describe phase semantics, not the exact KAITO/llm-d transfer protocol. Client TTFT includes queueing, tokenization, prompt processing, selection/delivery and any orchestration/transfer, not just GPU prefill compute.</a:t>
            </a:r>
          </a:p>
          <a:p/>
          <a:p>
            <a:r>
              <a:t>Narrative source: kubecon-na-2026-pd-disaggregation.md</a:t>
            </a:r>
          </a:p>
          <a:p>
            <a:r>
              <a:t>References:</a:t>
            </a:r>
          </a:p>
          <a:p>
            <a:r>
              <a:t>https://huggingface.co/docs/transformers/en/cache_explanation</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 the prompt from slide 3: On a rainy afternoon, the little robot decided to. The complete illustrative output is a leading space followed by build a small boat and sail across the pond. The words are conceptual tokens, not actual tokenizer output or a captured generation. Prefill selected y1 = build with only prompt KV cached. Decode step i consumes yi with the cache for prompt plus y1 through y(i-1); it appends per-layer K/V for yi and uses that position’s logits to select y(i+1). The six visible rows are: build -&gt; a; a -&gt; small; small -&gt; boat; boat -&gt; and; and -&gt; sail; sail -&gt; across. Thus after row 6 the cached output positions are build, a, small, boat, and, sail; across has been selected but not consumed or cached. Omitted rows repeat exactly the same operation: consume across -&gt; select the; consume the -&gt; select pond; consume pond -&gt; select period; consume period -&gt; select EOS. The compact continuation line abbreviates those repeated consume/select steps, not multi-token selection in one standard step. EOS is a model stop signal, normally not displayed and not necessarily consumed into KV when generation stops. Output limits and stop strings are other stopping conditions. With full-context attention, each new query reads cached history: KV reuse avoids recomputing old K/V, not all attention computation or history reads. Cache storage can grow as tokens are consumed, but sliding windows, eviction, static allocation and other architectures can alter its memory behavior. Ordinary autoregressive decoding has sequential dependencies within a request; cross-request batching is possible, and speculative decoding can accept multiple tokens per physical iteration. The client timeline shows the first six word arrivals only; later arrivals are omitted. TTFT is request submission to first received output token; each ITL is the gap between successive received output tokens. Five ITL gaps are shown, not timing measurements. Queueing, orchestration, network delivery and stream buffering can affect these client metrics. Average time per output token is a related aggregate, not each ITL sample or its percentile. Phase semantics apply to both colocated and disaggregated serving; no inter-worker KV transfer is necessary when colocated.</a:t>
            </a:r>
          </a:p>
          <a:p/>
          <a:p>
            <a:r>
              <a:t>Narrative source: kubecon-na-2026-pd-disaggregation.md</a:t>
            </a:r>
          </a:p>
          <a:p>
            <a:r>
              <a:t>References:</a:t>
            </a:r>
          </a:p>
          <a:p>
            <a:r>
              <a:t>https://huggingface.co/docs/transformers/en/cache_explanation</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2 compares decode-only batches (orange) with decoding plus one prefill (blue). Left panel: 128 input tokens; right panel: 1024 input tokens. Both axes remain as published. The y-axis is batch execution latency, not client TTFT or end-to-end request latency. The two panels have different y-axis and batch-size scales: compare the within-panel mixed-vs-decode-only gap, not apparent slopes or heights across panels. The blue horizontal line is the source prefill-only execution reference; the source arrows label decode and prefill slowdowns. The longer prefill increases the interference shown in this experiment. One chart, one interpretation: a new prompt can delay existing token streams in a shared execution boundary. Continuous batching, chunked prefill and better scheduling can mitigate the effect; this figure does not prove that every colocated or modern chunked-prefill implementation suffers the same penalty. P/D separates the execution pools, but introduces a KV-transfer boundary that must earn its cost.</a:t>
            </a:r>
          </a:p>
          <a:p/>
          <a:p>
            <a:r>
              <a:t>Narrative source: kubecon-na-2026-pd-disaggregation.md</a:t>
            </a:r>
          </a:p>
          <a:p>
            <a:r>
              <a:t>References:</a:t>
            </a:r>
          </a:p>
          <a:p>
            <a:r>
              <a:t>https://arxiv.org/html/2401.09670v2#S2.F2</a:t>
            </a:r>
          </a:p>
          <a:p>
            <a:r>
              <a:t>https://arxiv.org/html/2401.09670v2#S2.SS3</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3 is reproduced as published: prefill-only throughput on the left, decoding-only throughput on the right, with input lengths 128, 256, 512 and 1024. The x-axis is batch size on powers-of-two ticks. Do not compare absolute left-versus-right token throughput as equivalent useful work: prefill processes prompt tokens, whereas decode produces output tokens. Read the shape within each panel. Prefill throughput plateaus earlier; additional batching can add latency once computation is saturated. Decode benefits more from batching in this setup, amortizing weight-memory traffic across requests. This supports separate batching and resource planning, not unlimited decode batching: active KV capacity, latency SLOs, model architecture and compute saturation still bound it. The paper discusses compute-dominant prefill and memory-bandwidth-dominant decode; these are common regimes, not immutable properties of every model, batch size, hardware or context length. No current-AKS numerical threshold or universal GPU-size rule is inferred.</a:t>
            </a:r>
          </a:p>
          <a:p/>
          <a:p>
            <a:r>
              <a:t>Narrative source: kubecon-na-2026-pd-disaggregation.md</a:t>
            </a:r>
          </a:p>
          <a:p>
            <a:r>
              <a:t>References:</a:t>
            </a:r>
          </a:p>
          <a:p>
            <a:r>
              <a:t>https://arxiv.org/html/2401.09670v2#S3.F3</a:t>
            </a:r>
          </a:p>
          <a:p>
            <a:r>
              <a:t>https://arxiv.org/html/2401.09670v2#S3.SS1</a:t>
            </a:r>
          </a:p>
          <a:p>
            <a:r>
              <a:t>https://arxiv.org/html/2401.09670v2#S3.SS2</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Dynamo disaggregated-serving overview describes compute-bound prefill and memory-bandwidth-bound decode, with independent pools, batching, hardware and parallelism choices. These are common regimes rather than universal laws: model, context length, batch size and hardware change the limiting resource. Dynamo-specific worker orchestration and NIXL setup are not presented as KAITO architecture. Conceptual synthesis, not measured performance data. DistServe section 2.3 identifies resource and parallelism coupling as distinct from prefill/decode execution interference: a colocated deployment shares devices, resource allocation and a parallelism plan even when the two phases have different bottlenecks and latency constraints. Separate pools permit different hardware, tensor-parallel degrees, batching policies and replica counts, subject to runtime/connector compatibility; they do not imply every choice is supported by current KAITO. The two demand cards are first investigation directions, not a deterministic scaler: longer prompts also increase decode KV state and transfer bytes, so inspect both roles and the end-to-end SLO before changing capacity. Likewise larger decode batches must respect ITL and KV limits. Shared pools can still benefit from chunked prefill, continuous batching and scheduling improvements. P/D becomes worthwhile only when independent capacity tuning or interference isolation creates a measured gain larger than transfer, duplicated model residency and operational overhead. No fixed P:D ratio, GPU savings or current autoscaler implementation is claimed.</a:t>
            </a:r>
          </a:p>
          <a:p/>
          <a:p>
            <a:r>
              <a:t>Narrative source: kubecon-na-2026-pd-disaggregation.md</a:t>
            </a:r>
          </a:p>
          <a:p>
            <a:r>
              <a:t>References:</a:t>
            </a:r>
          </a:p>
          <a:p>
            <a:r>
              <a:t>https://docs.nvidia.com/dynamo/dev/kubernetes/disaggregated-serving/overview</a:t>
            </a:r>
          </a:p>
          <a:p>
            <a:r>
              <a:t>https://arxiv.org/html/2401.09670v2#S2.SS3</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One chart, one interpretation: this comparison trades a higher TTFT for more stable decoding, rather than proving a TTFT improvement. Values: standard median 227.9635 ms, p95 490.613 ms; write-mode median 645.135 ms, p95 1325.584 ms. Median is the mean of the middle two ordered observations; p95 is nearest-rank (95th of 100). Rounded to integer milliseconds on the slide. No SLO line is implied by the 1000 ms grid tick. The source recommends investigating P/D for high concurrency and long prompts because prefill interference is stronger, but has no prompt-length sweep supporting a quantified TTFT gain by workload. Do not narrate a fabricated long-prompt TTFT win.</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Keep narration high signal. Original Figure 4 shows request SLO attainment versus offered request rate, not measured token throughput. The source calls the joint-SLO benefit higher goodput; this slide retains the original y-axis instead of relabeling it as throughput. The orange outline focuses attention on about 8 req/s. The 29% and 73% callout comes from the exact Figure 3 arrays for standard TP4 and MORI-IO write, not visual digitization. Other configurations are retained as source context; do not narrate every curve. At this load the colocated configuration’s per-request ITL values account for failed joint SLOs; the P/D write configuration’s TTFT values account for its failures. This supports phase-interference interpretation, not an unqualified peak-throughput claim. Prompt/output lengths are fixed, so mixed-length traffic remains a validation gap. The source caption overstates improvement across all rates: at the lowest rate standard TP4 also reaches 100%, so this slide only highlights the loaded regime.</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Reinforce why separate pools: isolate prefill and decode, then judge useful service delivered at a fixed resource budget. The source configuration uses all 8 GPUs in both cases: standard 2×TP4 versus prefill TP4 + decode TP4. Derivation: 29/8=3.625 and 73/8=9.125 SLO passes per GPU in each 100-request trace; normalized ratio = (73/8)/(29/8) = 73/29 = 2.517241379, displayed 2.52×. This is a sample-specific SLO-pass efficiency proxy, NOT a time-normalized throughput-per-GPU metric, GPU busy percentage, independent capacity study, cost/energy result, or justification for dividing the GPU budget by 2.52. Do not claim fewer GPUs. There is no asymmetric traffic experiment or dynamic P/D autoscaling in this source; that business case still needs a controlled local benchmark. The same trace supports the preceding slide, so these are three interpretations of one study, not three independent confirmations.</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56</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56</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PREFILL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Prefill: read the prompt, select the first output token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request: a longer prompt becomes a meaningful, multi-step completion.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builds prompt KV and selects y1. Selecting “ build” does not yet cache its K/V.</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56</a:t>
            </a:r>
          </a:p>
        </p:txBody>
      </p:sp>
      <p:sp>
        <p:nvSpPr>
          <p:cNvPr id="10" name="TextBox 9"/>
          <p:cNvSpPr txBox="1"/>
          <p:nvPr/>
        </p:nvSpPr>
        <p:spPr>
          <a:xfrm>
            <a:off x="594360" y="1984248"/>
            <a:ext cx="10881360" cy="265176"/>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PROMPT  /  BEFORE GENERATION</a:t>
            </a:r>
          </a:p>
        </p:txBody>
      </p:sp>
      <p:sp>
        <p:nvSpPr>
          <p:cNvPr id="11" name="Rounded Rectangle 10"/>
          <p:cNvSpPr/>
          <p:nvPr/>
        </p:nvSpPr>
        <p:spPr>
          <a:xfrm>
            <a:off x="594360" y="2350008"/>
            <a:ext cx="10991088" cy="5943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496312"/>
            <a:ext cx="10625328" cy="393192"/>
          </a:xfrm>
          <a:prstGeom prst="rect">
            <a:avLst/>
          </a:prstGeom>
          <a:noFill/>
        </p:spPr>
        <p:txBody>
          <a:bodyPr wrap="square" lIns="13716" rIns="13716" tIns="13716" bIns="13716">
            <a:spAutoFit/>
          </a:bodyPr>
          <a:lstStyle/>
          <a:p>
            <a:pPr>
              <a:spcBef>
                <a:spcPts val="0"/>
              </a:spcBef>
              <a:spcAft>
                <a:spcPts val="500"/>
              </a:spcAft>
              <a:defRPr sz="2300" b="1">
                <a:solidFill>
                  <a:srgbClr val="2563EB"/>
                </a:solidFill>
                <a:latin typeface="Arial"/>
              </a:defRPr>
            </a:pPr>
            <a:r>
              <a:t>On a rainy afternoon, the little robot decided to</a:t>
            </a:r>
          </a:p>
        </p:txBody>
      </p:sp>
      <p:sp>
        <p:nvSpPr>
          <p:cNvPr id="13" name="TextBox 12"/>
          <p:cNvSpPr txBox="1"/>
          <p:nvPr/>
        </p:nvSpPr>
        <p:spPr>
          <a:xfrm>
            <a:off x="594360" y="3063240"/>
            <a:ext cx="10927080" cy="27432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Tokenize first → process all uncached prompt positions with a causal mask.</a:t>
            </a:r>
          </a:p>
        </p:txBody>
      </p:sp>
      <p:sp>
        <p:nvSpPr>
          <p:cNvPr id="14" name="Rounded Rectangle 13"/>
          <p:cNvSpPr/>
          <p:nvPr/>
        </p:nvSpPr>
        <p:spPr>
          <a:xfrm>
            <a:off x="594360" y="3621024"/>
            <a:ext cx="2743200"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4360" y="3712463"/>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39896"/>
            <a:ext cx="246888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Prompt token IDs</a:t>
            </a:r>
          </a:p>
        </p:txBody>
      </p:sp>
      <p:sp>
        <p:nvSpPr>
          <p:cNvPr id="17" name="TextBox 16"/>
          <p:cNvSpPr txBox="1"/>
          <p:nvPr/>
        </p:nvSpPr>
        <p:spPr>
          <a:xfrm>
            <a:off x="740664" y="4178807"/>
            <a:ext cx="2450592"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position per real token</a:t>
            </a:r>
          </a:p>
        </p:txBody>
      </p:sp>
      <p:sp>
        <p:nvSpPr>
          <p:cNvPr id="18" name="Rounded Rectangle 17"/>
          <p:cNvSpPr/>
          <p:nvPr/>
        </p:nvSpPr>
        <p:spPr>
          <a:xfrm>
            <a:off x="3794760" y="3621024"/>
            <a:ext cx="3803904"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794760" y="3712463"/>
            <a:ext cx="50292" cy="9875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0" y="3739896"/>
            <a:ext cx="3529584"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Transformer prefill</a:t>
            </a:r>
          </a:p>
        </p:txBody>
      </p:sp>
      <p:sp>
        <p:nvSpPr>
          <p:cNvPr id="21" name="TextBox 20"/>
          <p:cNvSpPr txBox="1"/>
          <p:nvPr/>
        </p:nvSpPr>
        <p:spPr>
          <a:xfrm>
            <a:off x="3941064" y="4178807"/>
            <a:ext cx="3511296"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 attention to future positions</a:t>
            </a:r>
          </a:p>
        </p:txBody>
      </p:sp>
      <p:sp>
        <p:nvSpPr>
          <p:cNvPr id="22" name="Rounded Rectangle 21"/>
          <p:cNvSpPr/>
          <p:nvPr/>
        </p:nvSpPr>
        <p:spPr>
          <a:xfrm>
            <a:off x="8229600" y="3621024"/>
            <a:ext cx="3355848"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3712463"/>
            <a:ext cx="50292" cy="9875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3739896"/>
            <a:ext cx="308152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y1 = “ build”</a:t>
            </a:r>
          </a:p>
        </p:txBody>
      </p:sp>
      <p:sp>
        <p:nvSpPr>
          <p:cNvPr id="25" name="TextBox 24"/>
          <p:cNvSpPr txBox="1"/>
          <p:nvPr/>
        </p:nvSpPr>
        <p:spPr>
          <a:xfrm>
            <a:off x="8375904" y="4178807"/>
            <a:ext cx="3063240"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Select from final-position logits</a:t>
            </a:r>
          </a:p>
        </p:txBody>
      </p:sp>
      <p:cxnSp>
        <p:nvCxnSpPr>
          <p:cNvPr id="26" name="Connector 25"/>
          <p:cNvCxnSpPr/>
          <p:nvPr/>
        </p:nvCxnSpPr>
        <p:spPr>
          <a:xfrm>
            <a:off x="3337560" y="419709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598664" y="4197096"/>
            <a:ext cx="63093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696712" y="4791456"/>
            <a:ext cx="0" cy="22860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94360" y="5047488"/>
            <a:ext cx="10991088" cy="46634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138928"/>
            <a:ext cx="10625328" cy="283464"/>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Prompt KV = per-layer attention keys + values for processed prompt positions.</a:t>
            </a:r>
          </a:p>
        </p:txBody>
      </p:sp>
      <p:sp>
        <p:nvSpPr>
          <p:cNvPr id="31" name="TextBox 30"/>
          <p:cNvSpPr txBox="1"/>
          <p:nvPr/>
        </p:nvSpPr>
        <p:spPr>
          <a:xfrm>
            <a:off x="594360" y="5596128"/>
            <a:ext cx="10927080" cy="201168"/>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Example uses conceptual word-sized tokens, not actual tokenization or captured model output.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DECODE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Decode: consume one token, select the next, repeat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Completion: “ build a small boat and sail across the pond.”  Same illustrative request.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Append KV for the consumed token—not the newly selected token. Read past KV; do not recompute 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56</a:t>
            </a:r>
          </a:p>
        </p:txBody>
      </p:sp>
      <p:sp>
        <p:nvSpPr>
          <p:cNvPr id="10" name="Rectangle 9"/>
          <p:cNvSpPr/>
          <p:nvPr/>
        </p:nvSpPr>
        <p:spPr>
          <a:xfrm>
            <a:off x="594360" y="1993392"/>
            <a:ext cx="667512" cy="32918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52828"/>
            <a:ext cx="521207"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STEP</a:t>
            </a:r>
          </a:p>
        </p:txBody>
      </p:sp>
      <p:sp>
        <p:nvSpPr>
          <p:cNvPr id="12" name="Rectangle 11"/>
          <p:cNvSpPr/>
          <p:nvPr/>
        </p:nvSpPr>
        <p:spPr>
          <a:xfrm>
            <a:off x="1280160" y="1993392"/>
            <a:ext cx="2834640" cy="32918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53312" y="2052828"/>
            <a:ext cx="2688336"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CONSUME + READ PAST KV</a:t>
            </a:r>
          </a:p>
        </p:txBody>
      </p:sp>
      <p:sp>
        <p:nvSpPr>
          <p:cNvPr id="14" name="Rectangle 13"/>
          <p:cNvSpPr/>
          <p:nvPr/>
        </p:nvSpPr>
        <p:spPr>
          <a:xfrm>
            <a:off x="4160520" y="1993392"/>
            <a:ext cx="3675887" cy="32918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33672" y="2052828"/>
            <a:ext cx="3529583"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APPEND TO PER-LAYER KV</a:t>
            </a:r>
          </a:p>
        </p:txBody>
      </p:sp>
      <p:sp>
        <p:nvSpPr>
          <p:cNvPr id="16" name="Rectangle 15"/>
          <p:cNvSpPr/>
          <p:nvPr/>
        </p:nvSpPr>
        <p:spPr>
          <a:xfrm>
            <a:off x="7882127" y="1993392"/>
            <a:ext cx="3703320" cy="32918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2052828"/>
            <a:ext cx="3557015"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SELECT NEXT OUTPUT</a:t>
            </a:r>
          </a:p>
        </p:txBody>
      </p:sp>
      <p:sp>
        <p:nvSpPr>
          <p:cNvPr id="18" name="Rectangle 17"/>
          <p:cNvSpPr/>
          <p:nvPr/>
        </p:nvSpPr>
        <p:spPr>
          <a:xfrm>
            <a:off x="594360" y="2377440"/>
            <a:ext cx="10991088"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14016"/>
            <a:ext cx="502920" cy="256032"/>
          </a:xfrm>
          <a:prstGeom prst="rect">
            <a:avLst/>
          </a:prstGeom>
          <a:noFill/>
        </p:spPr>
        <p:txBody>
          <a:bodyPr wrap="square" lIns="13716" rIns="13716" tIns="13716" bIns="13716">
            <a:spAutoFit/>
          </a:bodyPr>
          <a:lstStyle/>
          <a:p>
            <a:pPr>
              <a:spcBef>
                <a:spcPts val="0"/>
              </a:spcBef>
              <a:spcAft>
                <a:spcPts val="500"/>
              </a:spcAft>
              <a:defRPr sz="1500" b="1">
                <a:solidFill>
                  <a:srgbClr val="586A80"/>
                </a:solidFill>
                <a:latin typeface="Arial"/>
              </a:defRPr>
            </a:pPr>
            <a:r>
              <a:t>1</a:t>
            </a:r>
          </a:p>
        </p:txBody>
      </p:sp>
      <p:sp>
        <p:nvSpPr>
          <p:cNvPr id="20" name="TextBox 19"/>
          <p:cNvSpPr txBox="1"/>
          <p:nvPr/>
        </p:nvSpPr>
        <p:spPr>
          <a:xfrm>
            <a:off x="1362456" y="2414016"/>
            <a:ext cx="265176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y1 = “ build”</a:t>
            </a:r>
          </a:p>
        </p:txBody>
      </p:sp>
      <p:sp>
        <p:nvSpPr>
          <p:cNvPr id="21" name="TextBox 20"/>
          <p:cNvSpPr txBox="1"/>
          <p:nvPr/>
        </p:nvSpPr>
        <p:spPr>
          <a:xfrm>
            <a:off x="4242816" y="2414016"/>
            <a:ext cx="3493008" cy="256032"/>
          </a:xfrm>
          <a:prstGeom prst="rect">
            <a:avLst/>
          </a:prstGeom>
          <a:noFill/>
        </p:spPr>
        <p:txBody>
          <a:bodyPr wrap="square" lIns="13716" rIns="13716" tIns="13716" bIns="13716">
            <a:spAutoFit/>
          </a:bodyPr>
          <a:lstStyle/>
          <a:p>
            <a:pPr>
              <a:spcBef>
                <a:spcPts val="0"/>
              </a:spcBef>
              <a:spcAft>
                <a:spcPts val="500"/>
              </a:spcAft>
              <a:defRPr sz="1500" b="1">
                <a:solidFill>
                  <a:srgbClr val="087F8C"/>
                </a:solidFill>
                <a:latin typeface="Arial"/>
              </a:defRPr>
            </a:pPr>
            <a:r>
              <a:t>K/V for y1 (“ build”)</a:t>
            </a:r>
          </a:p>
        </p:txBody>
      </p:sp>
      <p:sp>
        <p:nvSpPr>
          <p:cNvPr id="22" name="TextBox 21"/>
          <p:cNvSpPr txBox="1"/>
          <p:nvPr/>
        </p:nvSpPr>
        <p:spPr>
          <a:xfrm>
            <a:off x="7964424" y="2414016"/>
            <a:ext cx="352044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y2 = “ a”</a:t>
            </a:r>
          </a:p>
        </p:txBody>
      </p:sp>
      <p:sp>
        <p:nvSpPr>
          <p:cNvPr id="23" name="Rectangle 22"/>
          <p:cNvSpPr/>
          <p:nvPr/>
        </p:nvSpPr>
        <p:spPr>
          <a:xfrm>
            <a:off x="594360" y="2702052"/>
            <a:ext cx="10991088" cy="306324"/>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 y="2738628"/>
            <a:ext cx="502920" cy="256032"/>
          </a:xfrm>
          <a:prstGeom prst="rect">
            <a:avLst/>
          </a:prstGeom>
          <a:noFill/>
        </p:spPr>
        <p:txBody>
          <a:bodyPr wrap="square" lIns="13716" rIns="13716" tIns="13716" bIns="13716">
            <a:spAutoFit/>
          </a:bodyPr>
          <a:lstStyle/>
          <a:p>
            <a:pPr>
              <a:spcBef>
                <a:spcPts val="0"/>
              </a:spcBef>
              <a:spcAft>
                <a:spcPts val="500"/>
              </a:spcAft>
              <a:defRPr sz="1500" b="1">
                <a:solidFill>
                  <a:srgbClr val="586A80"/>
                </a:solidFill>
                <a:latin typeface="Arial"/>
              </a:defRPr>
            </a:pPr>
            <a:r>
              <a:t>2</a:t>
            </a:r>
          </a:p>
        </p:txBody>
      </p:sp>
      <p:sp>
        <p:nvSpPr>
          <p:cNvPr id="25" name="TextBox 24"/>
          <p:cNvSpPr txBox="1"/>
          <p:nvPr/>
        </p:nvSpPr>
        <p:spPr>
          <a:xfrm>
            <a:off x="1362456" y="2738628"/>
            <a:ext cx="265176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y2 = “ a”</a:t>
            </a:r>
          </a:p>
        </p:txBody>
      </p:sp>
      <p:sp>
        <p:nvSpPr>
          <p:cNvPr id="26" name="TextBox 25"/>
          <p:cNvSpPr txBox="1"/>
          <p:nvPr/>
        </p:nvSpPr>
        <p:spPr>
          <a:xfrm>
            <a:off x="4242816" y="2738628"/>
            <a:ext cx="3493008" cy="256032"/>
          </a:xfrm>
          <a:prstGeom prst="rect">
            <a:avLst/>
          </a:prstGeom>
          <a:noFill/>
        </p:spPr>
        <p:txBody>
          <a:bodyPr wrap="square" lIns="13716" rIns="13716" tIns="13716" bIns="13716">
            <a:spAutoFit/>
          </a:bodyPr>
          <a:lstStyle/>
          <a:p>
            <a:pPr>
              <a:spcBef>
                <a:spcPts val="0"/>
              </a:spcBef>
              <a:spcAft>
                <a:spcPts val="500"/>
              </a:spcAft>
              <a:defRPr sz="1500" b="1">
                <a:solidFill>
                  <a:srgbClr val="087F8C"/>
                </a:solidFill>
                <a:latin typeface="Arial"/>
              </a:defRPr>
            </a:pPr>
            <a:r>
              <a:t>K/V for y2 (“ a”)</a:t>
            </a:r>
          </a:p>
        </p:txBody>
      </p:sp>
      <p:sp>
        <p:nvSpPr>
          <p:cNvPr id="27" name="TextBox 26"/>
          <p:cNvSpPr txBox="1"/>
          <p:nvPr/>
        </p:nvSpPr>
        <p:spPr>
          <a:xfrm>
            <a:off x="7964424" y="2738628"/>
            <a:ext cx="352044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y3 = “ small”</a:t>
            </a:r>
          </a:p>
        </p:txBody>
      </p:sp>
      <p:sp>
        <p:nvSpPr>
          <p:cNvPr id="28" name="Rectangle 27"/>
          <p:cNvSpPr/>
          <p:nvPr/>
        </p:nvSpPr>
        <p:spPr>
          <a:xfrm>
            <a:off x="594360" y="3026664"/>
            <a:ext cx="10991088"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3063240"/>
            <a:ext cx="502920" cy="256032"/>
          </a:xfrm>
          <a:prstGeom prst="rect">
            <a:avLst/>
          </a:prstGeom>
          <a:noFill/>
        </p:spPr>
        <p:txBody>
          <a:bodyPr wrap="square" lIns="13716" rIns="13716" tIns="13716" bIns="13716">
            <a:spAutoFit/>
          </a:bodyPr>
          <a:lstStyle/>
          <a:p>
            <a:pPr>
              <a:spcBef>
                <a:spcPts val="0"/>
              </a:spcBef>
              <a:spcAft>
                <a:spcPts val="500"/>
              </a:spcAft>
              <a:defRPr sz="1500" b="1">
                <a:solidFill>
                  <a:srgbClr val="586A80"/>
                </a:solidFill>
                <a:latin typeface="Arial"/>
              </a:defRPr>
            </a:pPr>
            <a:r>
              <a:t>3</a:t>
            </a:r>
          </a:p>
        </p:txBody>
      </p:sp>
      <p:sp>
        <p:nvSpPr>
          <p:cNvPr id="30" name="TextBox 29"/>
          <p:cNvSpPr txBox="1"/>
          <p:nvPr/>
        </p:nvSpPr>
        <p:spPr>
          <a:xfrm>
            <a:off x="1362456" y="3063240"/>
            <a:ext cx="265176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y3 = “ small”</a:t>
            </a:r>
          </a:p>
        </p:txBody>
      </p:sp>
      <p:sp>
        <p:nvSpPr>
          <p:cNvPr id="31" name="TextBox 30"/>
          <p:cNvSpPr txBox="1"/>
          <p:nvPr/>
        </p:nvSpPr>
        <p:spPr>
          <a:xfrm>
            <a:off x="4242816" y="3063240"/>
            <a:ext cx="3493008" cy="256032"/>
          </a:xfrm>
          <a:prstGeom prst="rect">
            <a:avLst/>
          </a:prstGeom>
          <a:noFill/>
        </p:spPr>
        <p:txBody>
          <a:bodyPr wrap="square" lIns="13716" rIns="13716" tIns="13716" bIns="13716">
            <a:spAutoFit/>
          </a:bodyPr>
          <a:lstStyle/>
          <a:p>
            <a:pPr>
              <a:spcBef>
                <a:spcPts val="0"/>
              </a:spcBef>
              <a:spcAft>
                <a:spcPts val="500"/>
              </a:spcAft>
              <a:defRPr sz="1500" b="1">
                <a:solidFill>
                  <a:srgbClr val="087F8C"/>
                </a:solidFill>
                <a:latin typeface="Arial"/>
              </a:defRPr>
            </a:pPr>
            <a:r>
              <a:t>K/V for y3 (“ small”)</a:t>
            </a:r>
          </a:p>
        </p:txBody>
      </p:sp>
      <p:sp>
        <p:nvSpPr>
          <p:cNvPr id="32" name="TextBox 31"/>
          <p:cNvSpPr txBox="1"/>
          <p:nvPr/>
        </p:nvSpPr>
        <p:spPr>
          <a:xfrm>
            <a:off x="7964424" y="3063240"/>
            <a:ext cx="352044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y4 = “ boat”</a:t>
            </a:r>
          </a:p>
        </p:txBody>
      </p:sp>
      <p:sp>
        <p:nvSpPr>
          <p:cNvPr id="33" name="Rectangle 32"/>
          <p:cNvSpPr/>
          <p:nvPr/>
        </p:nvSpPr>
        <p:spPr>
          <a:xfrm>
            <a:off x="594360" y="3351276"/>
            <a:ext cx="10991088" cy="306324"/>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7512" y="3387852"/>
            <a:ext cx="502920" cy="256032"/>
          </a:xfrm>
          <a:prstGeom prst="rect">
            <a:avLst/>
          </a:prstGeom>
          <a:noFill/>
        </p:spPr>
        <p:txBody>
          <a:bodyPr wrap="square" lIns="13716" rIns="13716" tIns="13716" bIns="13716">
            <a:spAutoFit/>
          </a:bodyPr>
          <a:lstStyle/>
          <a:p>
            <a:pPr>
              <a:spcBef>
                <a:spcPts val="0"/>
              </a:spcBef>
              <a:spcAft>
                <a:spcPts val="500"/>
              </a:spcAft>
              <a:defRPr sz="1500" b="1">
                <a:solidFill>
                  <a:srgbClr val="586A80"/>
                </a:solidFill>
                <a:latin typeface="Arial"/>
              </a:defRPr>
            </a:pPr>
            <a:r>
              <a:t>4</a:t>
            </a:r>
          </a:p>
        </p:txBody>
      </p:sp>
      <p:sp>
        <p:nvSpPr>
          <p:cNvPr id="35" name="TextBox 34"/>
          <p:cNvSpPr txBox="1"/>
          <p:nvPr/>
        </p:nvSpPr>
        <p:spPr>
          <a:xfrm>
            <a:off x="1362456" y="3387852"/>
            <a:ext cx="265176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y4 = “ boat”</a:t>
            </a:r>
          </a:p>
        </p:txBody>
      </p:sp>
      <p:sp>
        <p:nvSpPr>
          <p:cNvPr id="36" name="TextBox 35"/>
          <p:cNvSpPr txBox="1"/>
          <p:nvPr/>
        </p:nvSpPr>
        <p:spPr>
          <a:xfrm>
            <a:off x="4242816" y="3387852"/>
            <a:ext cx="3493008" cy="256032"/>
          </a:xfrm>
          <a:prstGeom prst="rect">
            <a:avLst/>
          </a:prstGeom>
          <a:noFill/>
        </p:spPr>
        <p:txBody>
          <a:bodyPr wrap="square" lIns="13716" rIns="13716" tIns="13716" bIns="13716">
            <a:spAutoFit/>
          </a:bodyPr>
          <a:lstStyle/>
          <a:p>
            <a:pPr>
              <a:spcBef>
                <a:spcPts val="0"/>
              </a:spcBef>
              <a:spcAft>
                <a:spcPts val="500"/>
              </a:spcAft>
              <a:defRPr sz="1500" b="1">
                <a:solidFill>
                  <a:srgbClr val="087F8C"/>
                </a:solidFill>
                <a:latin typeface="Arial"/>
              </a:defRPr>
            </a:pPr>
            <a:r>
              <a:t>K/V for y4 (“ boat”)</a:t>
            </a:r>
          </a:p>
        </p:txBody>
      </p:sp>
      <p:sp>
        <p:nvSpPr>
          <p:cNvPr id="37" name="TextBox 36"/>
          <p:cNvSpPr txBox="1"/>
          <p:nvPr/>
        </p:nvSpPr>
        <p:spPr>
          <a:xfrm>
            <a:off x="7964424" y="3387852"/>
            <a:ext cx="352044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y5 = “ and”</a:t>
            </a:r>
          </a:p>
        </p:txBody>
      </p:sp>
      <p:sp>
        <p:nvSpPr>
          <p:cNvPr id="38" name="Rectangle 37"/>
          <p:cNvSpPr/>
          <p:nvPr/>
        </p:nvSpPr>
        <p:spPr>
          <a:xfrm>
            <a:off x="594360" y="3675887"/>
            <a:ext cx="10991088" cy="3063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3712463"/>
            <a:ext cx="502920" cy="256032"/>
          </a:xfrm>
          <a:prstGeom prst="rect">
            <a:avLst/>
          </a:prstGeom>
          <a:noFill/>
        </p:spPr>
        <p:txBody>
          <a:bodyPr wrap="square" lIns="13716" rIns="13716" tIns="13716" bIns="13716">
            <a:spAutoFit/>
          </a:bodyPr>
          <a:lstStyle/>
          <a:p>
            <a:pPr>
              <a:spcBef>
                <a:spcPts val="0"/>
              </a:spcBef>
              <a:spcAft>
                <a:spcPts val="500"/>
              </a:spcAft>
              <a:defRPr sz="1500" b="1">
                <a:solidFill>
                  <a:srgbClr val="586A80"/>
                </a:solidFill>
                <a:latin typeface="Arial"/>
              </a:defRPr>
            </a:pPr>
            <a:r>
              <a:t>5</a:t>
            </a:r>
          </a:p>
        </p:txBody>
      </p:sp>
      <p:sp>
        <p:nvSpPr>
          <p:cNvPr id="40" name="TextBox 39"/>
          <p:cNvSpPr txBox="1"/>
          <p:nvPr/>
        </p:nvSpPr>
        <p:spPr>
          <a:xfrm>
            <a:off x="1362456" y="3712463"/>
            <a:ext cx="265176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y5 = “ and”</a:t>
            </a:r>
          </a:p>
        </p:txBody>
      </p:sp>
      <p:sp>
        <p:nvSpPr>
          <p:cNvPr id="41" name="TextBox 40"/>
          <p:cNvSpPr txBox="1"/>
          <p:nvPr/>
        </p:nvSpPr>
        <p:spPr>
          <a:xfrm>
            <a:off x="4242816" y="3712463"/>
            <a:ext cx="3493008" cy="256032"/>
          </a:xfrm>
          <a:prstGeom prst="rect">
            <a:avLst/>
          </a:prstGeom>
          <a:noFill/>
        </p:spPr>
        <p:txBody>
          <a:bodyPr wrap="square" lIns="13716" rIns="13716" tIns="13716" bIns="13716">
            <a:spAutoFit/>
          </a:bodyPr>
          <a:lstStyle/>
          <a:p>
            <a:pPr>
              <a:spcBef>
                <a:spcPts val="0"/>
              </a:spcBef>
              <a:spcAft>
                <a:spcPts val="500"/>
              </a:spcAft>
              <a:defRPr sz="1500" b="1">
                <a:solidFill>
                  <a:srgbClr val="087F8C"/>
                </a:solidFill>
                <a:latin typeface="Arial"/>
              </a:defRPr>
            </a:pPr>
            <a:r>
              <a:t>K/V for y5 (“ and”)</a:t>
            </a:r>
          </a:p>
        </p:txBody>
      </p:sp>
      <p:sp>
        <p:nvSpPr>
          <p:cNvPr id="42" name="TextBox 41"/>
          <p:cNvSpPr txBox="1"/>
          <p:nvPr/>
        </p:nvSpPr>
        <p:spPr>
          <a:xfrm>
            <a:off x="7964424" y="3712463"/>
            <a:ext cx="352044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y6 = “ sail”</a:t>
            </a:r>
          </a:p>
        </p:txBody>
      </p:sp>
      <p:sp>
        <p:nvSpPr>
          <p:cNvPr id="43" name="Rectangle 42"/>
          <p:cNvSpPr/>
          <p:nvPr/>
        </p:nvSpPr>
        <p:spPr>
          <a:xfrm>
            <a:off x="594360" y="4000500"/>
            <a:ext cx="10991088" cy="306324"/>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7512" y="4037076"/>
            <a:ext cx="502920" cy="256032"/>
          </a:xfrm>
          <a:prstGeom prst="rect">
            <a:avLst/>
          </a:prstGeom>
          <a:noFill/>
        </p:spPr>
        <p:txBody>
          <a:bodyPr wrap="square" lIns="13716" rIns="13716" tIns="13716" bIns="13716">
            <a:spAutoFit/>
          </a:bodyPr>
          <a:lstStyle/>
          <a:p>
            <a:pPr>
              <a:spcBef>
                <a:spcPts val="0"/>
              </a:spcBef>
              <a:spcAft>
                <a:spcPts val="500"/>
              </a:spcAft>
              <a:defRPr sz="1500" b="1">
                <a:solidFill>
                  <a:srgbClr val="586A80"/>
                </a:solidFill>
                <a:latin typeface="Arial"/>
              </a:defRPr>
            </a:pPr>
            <a:r>
              <a:t>6</a:t>
            </a:r>
          </a:p>
        </p:txBody>
      </p:sp>
      <p:sp>
        <p:nvSpPr>
          <p:cNvPr id="45" name="TextBox 44"/>
          <p:cNvSpPr txBox="1"/>
          <p:nvPr/>
        </p:nvSpPr>
        <p:spPr>
          <a:xfrm>
            <a:off x="1362456" y="4037076"/>
            <a:ext cx="265176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y6 = “ sail”</a:t>
            </a:r>
          </a:p>
        </p:txBody>
      </p:sp>
      <p:sp>
        <p:nvSpPr>
          <p:cNvPr id="46" name="TextBox 45"/>
          <p:cNvSpPr txBox="1"/>
          <p:nvPr/>
        </p:nvSpPr>
        <p:spPr>
          <a:xfrm>
            <a:off x="4242816" y="4037076"/>
            <a:ext cx="3493008" cy="256032"/>
          </a:xfrm>
          <a:prstGeom prst="rect">
            <a:avLst/>
          </a:prstGeom>
          <a:noFill/>
        </p:spPr>
        <p:txBody>
          <a:bodyPr wrap="square" lIns="13716" rIns="13716" tIns="13716" bIns="13716">
            <a:spAutoFit/>
          </a:bodyPr>
          <a:lstStyle/>
          <a:p>
            <a:pPr>
              <a:spcBef>
                <a:spcPts val="0"/>
              </a:spcBef>
              <a:spcAft>
                <a:spcPts val="500"/>
              </a:spcAft>
              <a:defRPr sz="1500" b="1">
                <a:solidFill>
                  <a:srgbClr val="087F8C"/>
                </a:solidFill>
                <a:latin typeface="Arial"/>
              </a:defRPr>
            </a:pPr>
            <a:r>
              <a:t>K/V for y6 (“ sail”)</a:t>
            </a:r>
          </a:p>
        </p:txBody>
      </p:sp>
      <p:sp>
        <p:nvSpPr>
          <p:cNvPr id="47" name="TextBox 46"/>
          <p:cNvSpPr txBox="1"/>
          <p:nvPr/>
        </p:nvSpPr>
        <p:spPr>
          <a:xfrm>
            <a:off x="7964424" y="4037076"/>
            <a:ext cx="3520440" cy="256032"/>
          </a:xfrm>
          <a:prstGeom prst="rect">
            <a:avLst/>
          </a:prstGeom>
          <a:noFill/>
        </p:spPr>
        <p:txBody>
          <a:bodyPr wrap="square" lIns="13716" rIns="13716" tIns="13716" bIns="13716">
            <a:spAutoFit/>
          </a:bodyPr>
          <a:lstStyle/>
          <a:p>
            <a:pPr>
              <a:spcBef>
                <a:spcPts val="0"/>
              </a:spcBef>
              <a:spcAft>
                <a:spcPts val="500"/>
              </a:spcAft>
              <a:defRPr sz="1500" b="1">
                <a:solidFill>
                  <a:srgbClr val="7354B8"/>
                </a:solidFill>
                <a:latin typeface="Arial"/>
              </a:defRPr>
            </a:pPr>
            <a:r>
              <a:t>y7 = “ across”</a:t>
            </a:r>
          </a:p>
        </p:txBody>
      </p:sp>
      <p:sp>
        <p:nvSpPr>
          <p:cNvPr id="48" name="TextBox 47"/>
          <p:cNvSpPr txBox="1"/>
          <p:nvPr/>
        </p:nvSpPr>
        <p:spPr>
          <a:xfrm>
            <a:off x="594360" y="4398264"/>
            <a:ext cx="10991088" cy="25603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Continue: consume “ across” → select “ the” → “ pond” → “.” → EOS (normally hidden).</a:t>
            </a:r>
          </a:p>
        </p:txBody>
      </p:sp>
      <p:sp>
        <p:nvSpPr>
          <p:cNvPr id="49" name="TextBox 48"/>
          <p:cNvSpPr txBox="1"/>
          <p:nvPr/>
        </p:nvSpPr>
        <p:spPr>
          <a:xfrm>
            <a:off x="594360" y="4773168"/>
            <a:ext cx="10881360" cy="237744"/>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CLIENT STREAM  /  SCHEMATIC, NOT TO SCALE</a:t>
            </a:r>
          </a:p>
        </p:txBody>
      </p:sp>
      <p:sp>
        <p:nvSpPr>
          <p:cNvPr id="50" name="Rounded Rectangle 49"/>
          <p:cNvSpPr/>
          <p:nvPr/>
        </p:nvSpPr>
        <p:spPr>
          <a:xfrm>
            <a:off x="594360" y="5285232"/>
            <a:ext cx="1325880" cy="35661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 y="5335524"/>
            <a:ext cx="1261872" cy="265176"/>
          </a:xfrm>
          <a:prstGeom prst="rect">
            <a:avLst/>
          </a:prstGeom>
          <a:noFill/>
        </p:spPr>
        <p:txBody>
          <a:bodyPr wrap="square" lIns="13716" rIns="13716" tIns="13716" bIns="13716">
            <a:spAutoFit/>
          </a:bodyPr>
          <a:lstStyle/>
          <a:p>
            <a:pPr algn="ctr">
              <a:spcBef>
                <a:spcPts val="0"/>
              </a:spcBef>
              <a:spcAft>
                <a:spcPts val="500"/>
              </a:spcAft>
              <a:defRPr sz="1500" b="1">
                <a:solidFill>
                  <a:srgbClr val="2563EB"/>
                </a:solidFill>
                <a:latin typeface="Arial"/>
              </a:defRPr>
            </a:pPr>
            <a:r>
              <a:t>Request</a:t>
            </a:r>
          </a:p>
        </p:txBody>
      </p:sp>
      <p:sp>
        <p:nvSpPr>
          <p:cNvPr id="52" name="Rounded Rectangle 51"/>
          <p:cNvSpPr/>
          <p:nvPr/>
        </p:nvSpPr>
        <p:spPr>
          <a:xfrm>
            <a:off x="4160520" y="5285232"/>
            <a:ext cx="1069848" cy="35661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192524" y="5335524"/>
            <a:ext cx="1005839" cy="265176"/>
          </a:xfrm>
          <a:prstGeom prst="rect">
            <a:avLst/>
          </a:prstGeom>
          <a:noFill/>
        </p:spPr>
        <p:txBody>
          <a:bodyPr wrap="square" lIns="13716" rIns="13716" tIns="13716" bIns="13716">
            <a:spAutoFit/>
          </a:bodyPr>
          <a:lstStyle/>
          <a:p>
            <a:pPr algn="ctr">
              <a:spcBef>
                <a:spcPts val="0"/>
              </a:spcBef>
              <a:spcAft>
                <a:spcPts val="500"/>
              </a:spcAft>
              <a:defRPr sz="1500" b="1">
                <a:solidFill>
                  <a:srgbClr val="087F8C"/>
                </a:solidFill>
                <a:latin typeface="Arial"/>
              </a:defRPr>
            </a:pPr>
            <a:r>
              <a:t>“ build”</a:t>
            </a:r>
          </a:p>
        </p:txBody>
      </p:sp>
      <p:cxnSp>
        <p:nvCxnSpPr>
          <p:cNvPr id="54" name="Connector 53"/>
          <p:cNvCxnSpPr/>
          <p:nvPr/>
        </p:nvCxnSpPr>
        <p:spPr>
          <a:xfrm>
            <a:off x="1920240" y="5463540"/>
            <a:ext cx="224028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94360" y="5047488"/>
            <a:ext cx="356616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087F8C"/>
                </a:solidFill>
                <a:latin typeface="Arial"/>
              </a:defRPr>
            </a:pPr>
            <a:r>
              <a:t>TTFT → first token</a:t>
            </a:r>
          </a:p>
        </p:txBody>
      </p:sp>
      <p:sp>
        <p:nvSpPr>
          <p:cNvPr id="56" name="Rounded Rectangle 55"/>
          <p:cNvSpPr/>
          <p:nvPr/>
        </p:nvSpPr>
        <p:spPr>
          <a:xfrm>
            <a:off x="539496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26964" y="5335524"/>
            <a:ext cx="1005839" cy="265176"/>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 a”</a:t>
            </a:r>
          </a:p>
        </p:txBody>
      </p:sp>
      <p:cxnSp>
        <p:nvCxnSpPr>
          <p:cNvPr id="58" name="Connector 57"/>
          <p:cNvCxnSpPr/>
          <p:nvPr/>
        </p:nvCxnSpPr>
        <p:spPr>
          <a:xfrm>
            <a:off x="523036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4160520" y="5047488"/>
            <a:ext cx="123444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1</a:t>
            </a:r>
          </a:p>
        </p:txBody>
      </p:sp>
      <p:sp>
        <p:nvSpPr>
          <p:cNvPr id="60" name="Rounded Rectangle 59"/>
          <p:cNvSpPr/>
          <p:nvPr/>
        </p:nvSpPr>
        <p:spPr>
          <a:xfrm>
            <a:off x="662940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661404" y="5335524"/>
            <a:ext cx="1005839" cy="265176"/>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 small”</a:t>
            </a:r>
          </a:p>
        </p:txBody>
      </p:sp>
      <p:cxnSp>
        <p:nvCxnSpPr>
          <p:cNvPr id="62" name="Connector 61"/>
          <p:cNvCxnSpPr/>
          <p:nvPr/>
        </p:nvCxnSpPr>
        <p:spPr>
          <a:xfrm>
            <a:off x="646480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539496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2</a:t>
            </a:r>
          </a:p>
        </p:txBody>
      </p:sp>
      <p:sp>
        <p:nvSpPr>
          <p:cNvPr id="64" name="Rounded Rectangle 63"/>
          <p:cNvSpPr/>
          <p:nvPr/>
        </p:nvSpPr>
        <p:spPr>
          <a:xfrm>
            <a:off x="786384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895844" y="5335524"/>
            <a:ext cx="1005839" cy="265176"/>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 boat”</a:t>
            </a:r>
          </a:p>
        </p:txBody>
      </p:sp>
      <p:cxnSp>
        <p:nvCxnSpPr>
          <p:cNvPr id="66" name="Connector 65"/>
          <p:cNvCxnSpPr/>
          <p:nvPr/>
        </p:nvCxnSpPr>
        <p:spPr>
          <a:xfrm>
            <a:off x="769924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662940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3</a:t>
            </a:r>
          </a:p>
        </p:txBody>
      </p:sp>
      <p:sp>
        <p:nvSpPr>
          <p:cNvPr id="68" name="Rounded Rectangle 67"/>
          <p:cNvSpPr/>
          <p:nvPr/>
        </p:nvSpPr>
        <p:spPr>
          <a:xfrm>
            <a:off x="909828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130284" y="5335524"/>
            <a:ext cx="1005839" cy="265176"/>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 and”</a:t>
            </a:r>
          </a:p>
        </p:txBody>
      </p:sp>
      <p:cxnSp>
        <p:nvCxnSpPr>
          <p:cNvPr id="70" name="Connector 69"/>
          <p:cNvCxnSpPr/>
          <p:nvPr/>
        </p:nvCxnSpPr>
        <p:spPr>
          <a:xfrm>
            <a:off x="893368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86384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4</a:t>
            </a:r>
          </a:p>
        </p:txBody>
      </p:sp>
      <p:sp>
        <p:nvSpPr>
          <p:cNvPr id="72" name="Rounded Rectangle 71"/>
          <p:cNvSpPr/>
          <p:nvPr/>
        </p:nvSpPr>
        <p:spPr>
          <a:xfrm>
            <a:off x="1033272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364724" y="5335524"/>
            <a:ext cx="1005839" cy="265176"/>
          </a:xfrm>
          <a:prstGeom prst="rect">
            <a:avLst/>
          </a:prstGeom>
          <a:noFill/>
        </p:spPr>
        <p:txBody>
          <a:bodyPr wrap="square" lIns="13716" rIns="13716" tIns="13716" bIns="13716">
            <a:spAutoFit/>
          </a:bodyPr>
          <a:lstStyle/>
          <a:p>
            <a:pPr algn="ctr">
              <a:spcBef>
                <a:spcPts val="0"/>
              </a:spcBef>
              <a:spcAft>
                <a:spcPts val="500"/>
              </a:spcAft>
              <a:defRPr sz="1500" b="1">
                <a:solidFill>
                  <a:srgbClr val="7354B8"/>
                </a:solidFill>
                <a:latin typeface="Arial"/>
              </a:defRPr>
            </a:pPr>
            <a:r>
              <a:t>“ sail”</a:t>
            </a:r>
          </a:p>
        </p:txBody>
      </p:sp>
      <p:cxnSp>
        <p:nvCxnSpPr>
          <p:cNvPr id="74" name="Connector 73"/>
          <p:cNvCxnSpPr/>
          <p:nvPr/>
        </p:nvCxnSpPr>
        <p:spPr>
          <a:xfrm>
            <a:off x="1016812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9098280" y="5047488"/>
            <a:ext cx="123444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56</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56</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INTERFERENCE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prefill can stall an entire decode batch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13B LLM batch execution latency—not client TTFT. Panel scales differ.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can delay many token streams—not just the request carrying that prompt.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56</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SHORTER PREFILL: 128 INPUT TOKENS</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LONGER PREFILL: 1,024 INPUT TOKENS</a:t>
            </a:r>
          </a:p>
        </p:txBody>
      </p:sp>
      <p:pic>
        <p:nvPicPr>
          <p:cNvPr id="12" name="Picture 11" descr="distserve-fig2-interference.png"/>
          <p:cNvPicPr>
            <a:picLocks noChangeAspect="1"/>
          </p:cNvPicPr>
          <p:nvPr/>
        </p:nvPicPr>
        <p:blipFill>
          <a:blip r:embed="rId2"/>
          <a:stretch>
            <a:fillRect/>
          </a:stretch>
        </p:blipFill>
        <p:spPr>
          <a:xfrm>
            <a:off x="1847088" y="2313432"/>
            <a:ext cx="8503920" cy="3342681"/>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2 • arxiv.org/abs/2401.09670v2 • CC BY-SA 4.0 • external study, not KAITO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RESOURCE SHAPE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two phases prefer different batching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phase-only throughput as batch size changes for a 13B LLM.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and decode need different tuning—not one shared batch, parallelism and replica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56</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PREFILL: EARLIER THROUGHPUT PLATEAU</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DECODE: BATCHING AMORTIZES WORK</a:t>
            </a:r>
          </a:p>
        </p:txBody>
      </p:sp>
      <p:pic>
        <p:nvPicPr>
          <p:cNvPr id="12" name="Picture 11" descr="distserve-fig3-throughput.png"/>
          <p:cNvPicPr>
            <a:picLocks noChangeAspect="1"/>
          </p:cNvPicPr>
          <p:nvPr/>
        </p:nvPicPr>
        <p:blipFill>
          <a:blip r:embed="rId2"/>
          <a:stretch>
            <a:fillRect/>
          </a:stretch>
        </p:blipFill>
        <p:spPr>
          <a:xfrm>
            <a:off x="1847088" y="2313432"/>
            <a:ext cx="8503920" cy="3249156"/>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3 • arxiv.org/abs/2401.09670v2 • CC BY-SA 4.0 • external study, not KAITO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CAPACITY CONTROL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Independent pools remove a forced compromise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payoff is a separate capacity decision for each phase—not separation for its own sake.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Split only when phase-specific gains outweigh KV transfer, duplicated weights and operational cost.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56</a:t>
            </a:r>
          </a:p>
        </p:txBody>
      </p:sp>
      <p:sp>
        <p:nvSpPr>
          <p:cNvPr id="10" name="Rounded Rectangle 9"/>
          <p:cNvSpPr/>
          <p:nvPr/>
        </p:nvSpPr>
        <p:spPr>
          <a:xfrm>
            <a:off x="502920"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INPUT SIDE</a:t>
            </a:r>
          </a:p>
        </p:txBody>
      </p:sp>
      <p:sp>
        <p:nvSpPr>
          <p:cNvPr id="13" name="TextBox 12"/>
          <p:cNvSpPr txBox="1"/>
          <p:nvPr/>
        </p:nvSpPr>
        <p:spPr>
          <a:xfrm>
            <a:off x="685800"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Prompt-heavy demand</a:t>
            </a:r>
          </a:p>
        </p:txBody>
      </p:sp>
      <p:sp>
        <p:nvSpPr>
          <p:cNvPr id="14" name="TextBox 13"/>
          <p:cNvSpPr txBox="1"/>
          <p:nvPr/>
        </p:nvSpPr>
        <p:spPr>
          <a:xfrm>
            <a:off x="685800"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Usually compute-bound; target TTFT.</a:t>
            </a:r>
          </a:p>
          <a:p>
            <a:pPr>
              <a:spcBef>
                <a:spcPts val="0"/>
              </a:spcBef>
              <a:spcAft>
                <a:spcPts val="500"/>
              </a:spcAft>
              <a:defRPr sz="1800" b="0">
                <a:solidFill>
                  <a:srgbClr val="172941"/>
                </a:solidFill>
                <a:latin typeface="Arial"/>
              </a:defRPr>
            </a:pPr>
            <a:r>
              <a:t>Tune prefill capacity / parallelism first.</a:t>
            </a:r>
          </a:p>
        </p:txBody>
      </p:sp>
      <p:sp>
        <p:nvSpPr>
          <p:cNvPr id="15" name="Rounded Rectangle 14"/>
          <p:cNvSpPr/>
          <p:nvPr/>
        </p:nvSpPr>
        <p:spPr>
          <a:xfrm>
            <a:off x="6199632"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OUTPUT SIDE</a:t>
            </a:r>
          </a:p>
        </p:txBody>
      </p:sp>
      <p:sp>
        <p:nvSpPr>
          <p:cNvPr id="18" name="TextBox 17"/>
          <p:cNvSpPr txBox="1"/>
          <p:nvPr/>
        </p:nvSpPr>
        <p:spPr>
          <a:xfrm>
            <a:off x="6382512"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Generation-heavy demand</a:t>
            </a:r>
          </a:p>
        </p:txBody>
      </p:sp>
      <p:sp>
        <p:nvSpPr>
          <p:cNvPr id="19" name="TextBox 18"/>
          <p:cNvSpPr txBox="1"/>
          <p:nvPr/>
        </p:nvSpPr>
        <p:spPr>
          <a:xfrm>
            <a:off x="6382512"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Often bandwidth-bound; target ITL.</a:t>
            </a:r>
          </a:p>
          <a:p>
            <a:pPr>
              <a:spcBef>
                <a:spcPts val="0"/>
              </a:spcBef>
              <a:spcAft>
                <a:spcPts val="500"/>
              </a:spcAft>
              <a:defRPr sz="1800" b="0">
                <a:solidFill>
                  <a:srgbClr val="172941"/>
                </a:solidFill>
                <a:latin typeface="Arial"/>
              </a:defRPr>
            </a:pPr>
            <a:r>
              <a:t>Tune decode capacity / batching first.</a:t>
            </a:r>
          </a:p>
        </p:txBody>
      </p:sp>
      <p:sp>
        <p:nvSpPr>
          <p:cNvPr id="20" name="Rounded Rectangle 19"/>
          <p:cNvSpPr/>
          <p:nvPr/>
        </p:nvSpPr>
        <p:spPr>
          <a:xfrm>
            <a:off x="594360"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590288"/>
            <a:ext cx="50292" cy="8321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Different latency targets</a:t>
            </a:r>
          </a:p>
        </p:txBody>
      </p:sp>
      <p:sp>
        <p:nvSpPr>
          <p:cNvPr id="23" name="TextBox 22"/>
          <p:cNvSpPr txBox="1"/>
          <p:nvPr/>
        </p:nvSpPr>
        <p:spPr>
          <a:xfrm>
            <a:off x="740664"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TTFT versus token delivery</a:t>
            </a:r>
          </a:p>
        </p:txBody>
      </p:sp>
      <p:sp>
        <p:nvSpPr>
          <p:cNvPr id="24" name="Rounded Rectangle 23"/>
          <p:cNvSpPr/>
          <p:nvPr/>
        </p:nvSpPr>
        <p:spPr>
          <a:xfrm>
            <a:off x="4334256"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6" y="4590288"/>
            <a:ext cx="50292" cy="8321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1416"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Different resource needs</a:t>
            </a:r>
          </a:p>
        </p:txBody>
      </p:sp>
      <p:sp>
        <p:nvSpPr>
          <p:cNvPr id="27" name="TextBox 26"/>
          <p:cNvSpPr txBox="1"/>
          <p:nvPr/>
        </p:nvSpPr>
        <p:spPr>
          <a:xfrm>
            <a:off x="4480560"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bandwidth, active KV</a:t>
            </a:r>
          </a:p>
        </p:txBody>
      </p:sp>
      <p:sp>
        <p:nvSpPr>
          <p:cNvPr id="28" name="Rounded Rectangle 27"/>
          <p:cNvSpPr/>
          <p:nvPr/>
        </p:nvSpPr>
        <p:spPr>
          <a:xfrm>
            <a:off x="8074152"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590288"/>
            <a:ext cx="50292" cy="8321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Different capacity knobs</a:t>
            </a:r>
          </a:p>
        </p:txBody>
      </p:sp>
      <p:sp>
        <p:nvSpPr>
          <p:cNvPr id="31" name="TextBox 30"/>
          <p:cNvSpPr txBox="1"/>
          <p:nvPr/>
        </p:nvSpPr>
        <p:spPr>
          <a:xfrm>
            <a:off x="8220456"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Replicas, TP, batching policy</a:t>
            </a:r>
          </a:p>
        </p:txBody>
      </p:sp>
      <p:sp>
        <p:nvSpPr>
          <p:cNvPr id="32" name="TextBox 31"/>
          <p:cNvSpPr txBox="1"/>
          <p:nvPr/>
        </p:nvSpPr>
        <p:spPr>
          <a:xfrm>
            <a:off x="594360" y="5641848"/>
            <a:ext cx="10789920"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Sources: NVIDIA Dynamo disaggregated-serving overview + DistServe §2.3 • Conceptual; bottlenecks depend on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56</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56</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56</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56</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56</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56</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56</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56</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56</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56</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56</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56</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56</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56</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56</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56</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56</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56</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56</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56</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56</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56</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56</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56</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56</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56</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56</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56</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Local KAITO evaluation plan; external reference results follow.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56</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External benchmark results are separate—not KAITO data.</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56</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TTFT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TTFT is a trade-off</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TTFT win in this setup: measure first-token latency separately from streaming quality.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56</a:t>
            </a:r>
          </a:p>
        </p:txBody>
      </p:sp>
      <p:sp>
        <p:nvSpPr>
          <p:cNvPr id="10" name="TextBox 9"/>
          <p:cNvSpPr txBox="1"/>
          <p:nvPr/>
        </p:nvSpPr>
        <p:spPr>
          <a:xfrm>
            <a:off x="594360" y="1975104"/>
            <a:ext cx="6126480" cy="283464"/>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TTFT (ms) • lower is better • 8 offered req/s</a:t>
            </a:r>
          </a:p>
        </p:txBody>
      </p:sp>
      <p:cxnSp>
        <p:nvCxnSpPr>
          <p:cNvPr id="11" name="Connector 10"/>
          <p:cNvCxnSpPr/>
          <p:nvPr/>
        </p:nvCxnSpPr>
        <p:spPr>
          <a:xfrm>
            <a:off x="1051560" y="5166360"/>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12064" y="5056632"/>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0</a:t>
            </a:r>
          </a:p>
        </p:txBody>
      </p:sp>
      <p:cxnSp>
        <p:nvCxnSpPr>
          <p:cNvPr id="13" name="Connector 12"/>
          <p:cNvCxnSpPr/>
          <p:nvPr/>
        </p:nvCxnSpPr>
        <p:spPr>
          <a:xfrm>
            <a:off x="1051560" y="4291584"/>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12064" y="4181856"/>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500</a:t>
            </a:r>
          </a:p>
        </p:txBody>
      </p:sp>
      <p:cxnSp>
        <p:nvCxnSpPr>
          <p:cNvPr id="15" name="Connector 14"/>
          <p:cNvCxnSpPr/>
          <p:nvPr/>
        </p:nvCxnSpPr>
        <p:spPr>
          <a:xfrm>
            <a:off x="1051560" y="3416808"/>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12064" y="3307080"/>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1000</a:t>
            </a:r>
          </a:p>
        </p:txBody>
      </p:sp>
      <p:cxnSp>
        <p:nvCxnSpPr>
          <p:cNvPr id="17" name="Connector 16"/>
          <p:cNvCxnSpPr/>
          <p:nvPr/>
        </p:nvCxnSpPr>
        <p:spPr>
          <a:xfrm>
            <a:off x="1051560" y="2542032"/>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 y="2432303"/>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1500</a:t>
            </a:r>
          </a:p>
        </p:txBody>
      </p:sp>
      <p:sp>
        <p:nvSpPr>
          <p:cNvPr id="19" name="Rectangle 18"/>
          <p:cNvSpPr/>
          <p:nvPr/>
        </p:nvSpPr>
        <p:spPr>
          <a:xfrm>
            <a:off x="1728216" y="4767526"/>
            <a:ext cx="603504" cy="398833"/>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9344" y="4493206"/>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228</a:t>
            </a:r>
          </a:p>
        </p:txBody>
      </p:sp>
      <p:sp>
        <p:nvSpPr>
          <p:cNvPr id="21" name="Rectangle 20"/>
          <p:cNvSpPr/>
          <p:nvPr/>
        </p:nvSpPr>
        <p:spPr>
          <a:xfrm>
            <a:off x="2560320" y="4037662"/>
            <a:ext cx="603504" cy="112869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1448" y="3763342"/>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645</a:t>
            </a:r>
          </a:p>
        </p:txBody>
      </p:sp>
      <p:sp>
        <p:nvSpPr>
          <p:cNvPr id="23" name="TextBox 22"/>
          <p:cNvSpPr txBox="1"/>
          <p:nvPr/>
        </p:nvSpPr>
        <p:spPr>
          <a:xfrm>
            <a:off x="1792224"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p50</a:t>
            </a:r>
          </a:p>
        </p:txBody>
      </p:sp>
      <p:sp>
        <p:nvSpPr>
          <p:cNvPr id="24" name="Rectangle 23"/>
          <p:cNvSpPr/>
          <p:nvPr/>
        </p:nvSpPr>
        <p:spPr>
          <a:xfrm>
            <a:off x="4443984" y="4308007"/>
            <a:ext cx="603504" cy="8583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5112" y="4033687"/>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491</a:t>
            </a:r>
          </a:p>
        </p:txBody>
      </p:sp>
      <p:sp>
        <p:nvSpPr>
          <p:cNvPr id="26" name="Rectangle 25"/>
          <p:cNvSpPr/>
          <p:nvPr/>
        </p:nvSpPr>
        <p:spPr>
          <a:xfrm>
            <a:off x="5276088" y="2847181"/>
            <a:ext cx="603504" cy="23191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7216" y="2572861"/>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1326</a:t>
            </a:r>
          </a:p>
        </p:txBody>
      </p:sp>
      <p:sp>
        <p:nvSpPr>
          <p:cNvPr id="28" name="TextBox 27"/>
          <p:cNvSpPr txBox="1"/>
          <p:nvPr/>
        </p:nvSpPr>
        <p:spPr>
          <a:xfrm>
            <a:off x="4507992"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p95</a:t>
            </a:r>
          </a:p>
        </p:txBody>
      </p:sp>
      <p:sp>
        <p:nvSpPr>
          <p:cNvPr id="29" name="Rectangle 28"/>
          <p:cNvSpPr/>
          <p:nvPr/>
        </p:nvSpPr>
        <p:spPr>
          <a:xfrm>
            <a:off x="960120" y="2359152"/>
            <a:ext cx="13716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2276856"/>
            <a:ext cx="21031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Colocated: 2× TP4</a:t>
            </a:r>
          </a:p>
        </p:txBody>
      </p:sp>
      <p:sp>
        <p:nvSpPr>
          <p:cNvPr id="31" name="Rectangle 30"/>
          <p:cNvSpPr/>
          <p:nvPr/>
        </p:nvSpPr>
        <p:spPr>
          <a:xfrm>
            <a:off x="3694176" y="2359152"/>
            <a:ext cx="137160" cy="10972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04487" y="2276856"/>
            <a:ext cx="25603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P/D: write, TP4 + TP4</a:t>
            </a:r>
          </a:p>
        </p:txBody>
      </p:sp>
      <p:sp>
        <p:nvSpPr>
          <p:cNvPr id="33" name="TextBox 32"/>
          <p:cNvSpPr txBox="1"/>
          <p:nvPr/>
        </p:nvSpPr>
        <p:spPr>
          <a:xfrm>
            <a:off x="7114032" y="2395728"/>
            <a:ext cx="4507992" cy="640080"/>
          </a:xfrm>
          <a:prstGeom prst="rect">
            <a:avLst/>
          </a:prstGeom>
          <a:noFill/>
        </p:spPr>
        <p:txBody>
          <a:bodyPr wrap="square" lIns="13716" rIns="13716" tIns="13716" bIns="13716">
            <a:spAutoFit/>
          </a:bodyPr>
          <a:lstStyle/>
          <a:p>
            <a:pPr>
              <a:spcBef>
                <a:spcPts val="0"/>
              </a:spcBef>
              <a:spcAft>
                <a:spcPts val="500"/>
              </a:spcAft>
              <a:defRPr sz="2300" b="1">
                <a:solidFill>
                  <a:srgbClr val="AE641A"/>
                </a:solidFill>
                <a:latin typeface="Arial"/>
              </a:defRPr>
            </a:pPr>
            <a:r>
              <a:t>First token is slower here.</a:t>
            </a:r>
          </a:p>
        </p:txBody>
      </p:sp>
      <p:sp>
        <p:nvSpPr>
          <p:cNvPr id="34" name="TextBox 33"/>
          <p:cNvSpPr txBox="1"/>
          <p:nvPr/>
        </p:nvSpPr>
        <p:spPr>
          <a:xfrm>
            <a:off x="7114032" y="3255264"/>
            <a:ext cx="4434840" cy="987552"/>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Long prompts + concurrency can</a:t>
            </a:r>
          </a:p>
          <a:p>
            <a:pPr>
              <a:spcBef>
                <a:spcPts val="0"/>
              </a:spcBef>
              <a:spcAft>
                <a:spcPts val="500"/>
              </a:spcAft>
              <a:defRPr sz="1700" b="0">
                <a:solidFill>
                  <a:srgbClr val="172941"/>
                </a:solidFill>
                <a:latin typeface="Arial"/>
              </a:defRPr>
            </a:pPr>
            <a:r>
              <a:t>make decode isolation valuable.</a:t>
            </a:r>
          </a:p>
          <a:p>
            <a:pPr>
              <a:spcBef>
                <a:spcPts val="0"/>
              </a:spcBef>
              <a:spcAft>
                <a:spcPts val="500"/>
              </a:spcAft>
              <a:defRPr sz="1700" b="0">
                <a:solidFill>
                  <a:srgbClr val="172941"/>
                </a:solidFill>
                <a:latin typeface="Arial"/>
              </a:defRPr>
            </a:pPr>
            <a:r>
              <a:t>That does not imply lower TTFT.</a:t>
            </a:r>
          </a:p>
        </p:txBody>
      </p:sp>
      <p:sp>
        <p:nvSpPr>
          <p:cNvPr id="35" name="TextBox 34"/>
          <p:cNvSpPr txBox="1"/>
          <p:nvPr/>
        </p:nvSpPr>
        <p:spPr>
          <a:xfrm>
            <a:off x="7114032" y="4654296"/>
            <a:ext cx="4434840" cy="768096"/>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No prompt-length sweep was published.</a:t>
            </a:r>
          </a:p>
          <a:p>
            <a:pPr>
              <a:spcBef>
                <a:spcPts val="0"/>
              </a:spcBef>
              <a:spcAft>
                <a:spcPts val="500"/>
              </a:spcAft>
              <a:defRPr sz="1500" b="0">
                <a:solidFill>
                  <a:srgbClr val="586A80"/>
                </a:solidFill>
                <a:latin typeface="Arial"/>
              </a:defRPr>
            </a:pPr>
            <a:r>
              <a:t>Do not infer which prompts gain most.</a:t>
            </a:r>
          </a:p>
        </p:txBody>
      </p:sp>
      <p:sp>
        <p:nvSpPr>
          <p:cNvPr id="36" name="TextBox 3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(Apr 7, 2026), Figure 3 data. Median / nearest-rank p95 computed from 100 requests; see notes.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SLO ATTAINMENT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useful throughput under 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Two phases, one pool: removing decode interference improves SLO attainment—not every latency metric.</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56</a:t>
            </a:r>
          </a:p>
        </p:txBody>
      </p:sp>
      <p:pic>
        <p:nvPicPr>
          <p:cNvPr id="10" name="Picture 9" descr="moriio-slo-attainment.png"/>
          <p:cNvPicPr>
            <a:picLocks noChangeAspect="1"/>
          </p:cNvPicPr>
          <p:nvPr/>
        </p:nvPicPr>
        <p:blipFill>
          <a:blip r:embed="rId2"/>
          <a:stretch>
            <a:fillRect/>
          </a:stretch>
        </p:blipFill>
        <p:spPr>
          <a:xfrm>
            <a:off x="502920" y="1947672"/>
            <a:ext cx="6089904" cy="3666763"/>
          </a:xfrm>
          <a:prstGeom prst="rect">
            <a:avLst/>
          </a:prstGeom>
        </p:spPr>
      </p:pic>
      <p:sp>
        <p:nvSpPr>
          <p:cNvPr id="11" name="Rounded Rectangle 10"/>
          <p:cNvSpPr/>
          <p:nvPr/>
        </p:nvSpPr>
        <p:spPr>
          <a:xfrm>
            <a:off x="5093208" y="2148840"/>
            <a:ext cx="557784" cy="2569464"/>
          </a:xfrm>
          <a:prstGeom prst="roundRect">
            <a:avLst>
              <a:gd name="adj" fmla="val 10000"/>
            </a:avLst>
          </a:prstGeom>
          <a:noFill/>
          <a:ln w="12700">
            <a:solidFill>
              <a:srgbClr val="AE6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2176272"/>
            <a:ext cx="4535424" cy="393192"/>
          </a:xfrm>
          <a:prstGeom prst="rect">
            <a:avLst/>
          </a:prstGeom>
          <a:noFill/>
        </p:spPr>
        <p:txBody>
          <a:bodyPr wrap="square" lIns="13716" rIns="13716" tIns="13716" bIns="13716">
            <a:spAutoFit/>
          </a:bodyPr>
          <a:lstStyle/>
          <a:p>
            <a:pPr>
              <a:spcBef>
                <a:spcPts val="0"/>
              </a:spcBef>
              <a:spcAft>
                <a:spcPts val="500"/>
              </a:spcAft>
              <a:defRPr sz="1400" b="1">
                <a:solidFill>
                  <a:srgbClr val="AE641A"/>
                </a:solidFill>
                <a:latin typeface="Arial"/>
              </a:defRPr>
            </a:pPr>
            <a:r>
              <a:t>FOCUS: 8 OFFERED REQ/S</a:t>
            </a:r>
          </a:p>
        </p:txBody>
      </p:sp>
      <p:sp>
        <p:nvSpPr>
          <p:cNvPr id="13" name="TextBox 12"/>
          <p:cNvSpPr txBox="1"/>
          <p:nvPr/>
        </p:nvSpPr>
        <p:spPr>
          <a:xfrm>
            <a:off x="7022592" y="2779776"/>
            <a:ext cx="4535424" cy="621792"/>
          </a:xfrm>
          <a:prstGeom prst="rect">
            <a:avLst/>
          </a:prstGeom>
          <a:noFill/>
        </p:spPr>
        <p:txBody>
          <a:bodyPr wrap="square" lIns="13716" rIns="13716" tIns="13716" bIns="13716">
            <a:spAutoFit/>
          </a:bodyPr>
          <a:lstStyle/>
          <a:p>
            <a:pPr>
              <a:spcBef>
                <a:spcPts val="0"/>
              </a:spcBef>
              <a:spcAft>
                <a:spcPts val="500"/>
              </a:spcAft>
              <a:defRPr sz="3200" b="1">
                <a:solidFill>
                  <a:srgbClr val="087F8C"/>
                </a:solidFill>
                <a:latin typeface="Arial"/>
              </a:defRPr>
            </a:pPr>
            <a:r>
              <a:t>29% → 73%</a:t>
            </a:r>
          </a:p>
        </p:txBody>
      </p:sp>
      <p:sp>
        <p:nvSpPr>
          <p:cNvPr id="14" name="TextBox 13"/>
          <p:cNvSpPr txBox="1"/>
          <p:nvPr/>
        </p:nvSpPr>
        <p:spPr>
          <a:xfrm>
            <a:off x="7022592" y="3575304"/>
            <a:ext cx="4535424" cy="877824"/>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Joint SLO passes at this load</a:t>
            </a:r>
          </a:p>
          <a:p>
            <a:pPr>
              <a:spcBef>
                <a:spcPts val="0"/>
              </a:spcBef>
              <a:spcAft>
                <a:spcPts val="500"/>
              </a:spcAft>
              <a:defRPr sz="1600" b="0">
                <a:solidFill>
                  <a:srgbClr val="172941"/>
                </a:solidFill>
                <a:latin typeface="Arial"/>
              </a:defRPr>
            </a:pPr>
            <a:r>
              <a:t>Colocated 2× TP4 → P/D write</a:t>
            </a:r>
          </a:p>
          <a:p>
            <a:pPr>
              <a:spcBef>
                <a:spcPts val="0"/>
              </a:spcBef>
              <a:spcAft>
                <a:spcPts val="500"/>
              </a:spcAft>
              <a:defRPr sz="1600" b="0">
                <a:solidFill>
                  <a:srgbClr val="172941"/>
                </a:solidFill>
                <a:latin typeface="Arial"/>
              </a:defRPr>
            </a:pPr>
            <a:r>
              <a:t>TTFT ≤1 s AND ITL ≤50 ms</a:t>
            </a:r>
          </a:p>
        </p:txBody>
      </p:sp>
      <p:sp>
        <p:nvSpPr>
          <p:cNvPr id="15" name="TextBox 14"/>
          <p:cNvSpPr txBox="1"/>
          <p:nvPr/>
        </p:nvSpPr>
        <p:spPr>
          <a:xfrm>
            <a:off x="7022592" y="4736592"/>
            <a:ext cx="4535424" cy="81381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Concurrent P/D phases; fixed 2K/1K.</a:t>
            </a:r>
          </a:p>
          <a:p>
            <a:pPr>
              <a:spcBef>
                <a:spcPts val="0"/>
              </a:spcBef>
              <a:spcAft>
                <a:spcPts val="500"/>
              </a:spcAft>
              <a:defRPr sz="1400" b="0">
                <a:solidFill>
                  <a:srgbClr val="586A80"/>
                </a:solidFill>
                <a:latin typeface="Arial"/>
              </a:defRPr>
            </a:pPr>
            <a:r>
              <a:t>Not a heterogeneous traffic benchmark</a:t>
            </a:r>
          </a:p>
          <a:p>
            <a:pPr>
              <a:spcBef>
                <a:spcPts val="0"/>
              </a:spcBef>
              <a:spcAft>
                <a:spcPts val="500"/>
              </a:spcAft>
              <a:defRPr sz="1400" b="0">
                <a:solidFill>
                  <a:srgbClr val="586A80"/>
                </a:solidFill>
                <a:latin typeface="Arial"/>
              </a:defRPr>
            </a:pPr>
            <a:r>
              <a:t>or an absolute tokens/s result.</a:t>
            </a:r>
          </a:p>
        </p:txBody>
      </p:sp>
      <p:sp>
        <p:nvSpPr>
          <p:cNvPr id="16" name="TextBox 1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Figure 4, reproduced with attribution; highlighted region at 8 req/s. Callout uses pinned Figure 3 arrays.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EFFICIENCY PROXY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more SLO passes per GPU</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More useful work on the same eight GPUs—not measured GPU utilization or proof that fewer GPUs suffice.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56</a:t>
            </a:r>
          </a:p>
        </p:txBody>
      </p:sp>
      <p:sp>
        <p:nvSpPr>
          <p:cNvPr id="10" name="TextBox 9"/>
          <p:cNvSpPr txBox="1"/>
          <p:nvPr/>
        </p:nvSpPr>
        <p:spPr>
          <a:xfrm>
            <a:off x="603504" y="2057400"/>
            <a:ext cx="5952744" cy="347472"/>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NORMALIZED SLO PASSES / GPU</a:t>
            </a:r>
          </a:p>
        </p:txBody>
      </p:sp>
      <p:sp>
        <p:nvSpPr>
          <p:cNvPr id="11" name="TextBox 10"/>
          <p:cNvSpPr txBox="1"/>
          <p:nvPr/>
        </p:nvSpPr>
        <p:spPr>
          <a:xfrm>
            <a:off x="603504" y="2871216"/>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Colocated</a:t>
            </a:r>
          </a:p>
        </p:txBody>
      </p:sp>
      <p:sp>
        <p:nvSpPr>
          <p:cNvPr id="12" name="Rectangle 11"/>
          <p:cNvSpPr/>
          <p:nvPr/>
        </p:nvSpPr>
        <p:spPr>
          <a:xfrm>
            <a:off x="2322576" y="2889504"/>
            <a:ext cx="1460284" cy="4480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01732" y="2880360"/>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1.00×</a:t>
            </a:r>
          </a:p>
        </p:txBody>
      </p:sp>
      <p:sp>
        <p:nvSpPr>
          <p:cNvPr id="14" name="TextBox 13"/>
          <p:cNvSpPr txBox="1"/>
          <p:nvPr/>
        </p:nvSpPr>
        <p:spPr>
          <a:xfrm>
            <a:off x="603504" y="3977640"/>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P/D write</a:t>
            </a:r>
          </a:p>
        </p:txBody>
      </p:sp>
      <p:sp>
        <p:nvSpPr>
          <p:cNvPr id="15" name="Rectangle 14"/>
          <p:cNvSpPr/>
          <p:nvPr/>
        </p:nvSpPr>
        <p:spPr>
          <a:xfrm>
            <a:off x="2322576" y="3995928"/>
            <a:ext cx="3675887" cy="4480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17336" y="3986784"/>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2.52×</a:t>
            </a:r>
          </a:p>
        </p:txBody>
      </p:sp>
      <p:sp>
        <p:nvSpPr>
          <p:cNvPr id="17" name="TextBox 16"/>
          <p:cNvSpPr txBox="1"/>
          <p:nvPr/>
        </p:nvSpPr>
        <p:spPr>
          <a:xfrm>
            <a:off x="603504" y="4937760"/>
            <a:ext cx="5952744" cy="512064"/>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Same 100-request workload and 8-GPU budget.</a:t>
            </a:r>
          </a:p>
          <a:p>
            <a:pPr>
              <a:spcBef>
                <a:spcPts val="0"/>
              </a:spcBef>
              <a:spcAft>
                <a:spcPts val="500"/>
              </a:spcAft>
              <a:defRPr sz="1300" b="0">
                <a:solidFill>
                  <a:srgbClr val="586A80"/>
                </a:solidFill>
                <a:latin typeface="Arial"/>
              </a:defRPr>
            </a:pPr>
            <a:r>
              <a:t>A comparison-specific efficiency proxy, not sustained capacity.</a:t>
            </a:r>
          </a:p>
        </p:txBody>
      </p:sp>
      <p:sp>
        <p:nvSpPr>
          <p:cNvPr id="18" name="Rectangle 17"/>
          <p:cNvSpPr/>
          <p:nvPr/>
        </p:nvSpPr>
        <p:spPr>
          <a:xfrm>
            <a:off x="7123176" y="2167128"/>
            <a:ext cx="1961388"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2286000"/>
            <a:ext cx="1764792"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20" name="Rectangle 19"/>
          <p:cNvSpPr/>
          <p:nvPr/>
        </p:nvSpPr>
        <p:spPr>
          <a:xfrm>
            <a:off x="9107424" y="2167128"/>
            <a:ext cx="1074420"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286000"/>
            <a:ext cx="877824"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2× TP4</a:t>
            </a:r>
          </a:p>
        </p:txBody>
      </p:sp>
      <p:sp>
        <p:nvSpPr>
          <p:cNvPr id="22" name="Rectangle 21"/>
          <p:cNvSpPr/>
          <p:nvPr/>
        </p:nvSpPr>
        <p:spPr>
          <a:xfrm>
            <a:off x="10204704" y="2167128"/>
            <a:ext cx="964692"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14432" y="2286000"/>
            <a:ext cx="768096"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24" name="Rectangle 23"/>
          <p:cNvSpPr/>
          <p:nvPr/>
        </p:nvSpPr>
        <p:spPr>
          <a:xfrm>
            <a:off x="7123176" y="2916936"/>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3035808"/>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Total GPUs</a:t>
            </a:r>
          </a:p>
        </p:txBody>
      </p:sp>
      <p:sp>
        <p:nvSpPr>
          <p:cNvPr id="26" name="Rectangle 25"/>
          <p:cNvSpPr/>
          <p:nvPr/>
        </p:nvSpPr>
        <p:spPr>
          <a:xfrm>
            <a:off x="9107424" y="2916936"/>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035808"/>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28" name="Rectangle 27"/>
          <p:cNvSpPr/>
          <p:nvPr/>
        </p:nvSpPr>
        <p:spPr>
          <a:xfrm>
            <a:off x="10204704" y="2916936"/>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432" y="3035808"/>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30" name="Rectangle 29"/>
          <p:cNvSpPr/>
          <p:nvPr/>
        </p:nvSpPr>
        <p:spPr>
          <a:xfrm>
            <a:off x="7123176" y="3666744"/>
            <a:ext cx="1961388"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32904" y="3785615"/>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Joint SLO passes</a:t>
            </a:r>
          </a:p>
        </p:txBody>
      </p:sp>
      <p:sp>
        <p:nvSpPr>
          <p:cNvPr id="32" name="Rectangle 31"/>
          <p:cNvSpPr/>
          <p:nvPr/>
        </p:nvSpPr>
        <p:spPr>
          <a:xfrm>
            <a:off x="9107424" y="3666744"/>
            <a:ext cx="1074420"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17152" y="3785615"/>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29 / 100</a:t>
            </a:r>
          </a:p>
        </p:txBody>
      </p:sp>
      <p:sp>
        <p:nvSpPr>
          <p:cNvPr id="34" name="Rectangle 33"/>
          <p:cNvSpPr/>
          <p:nvPr/>
        </p:nvSpPr>
        <p:spPr>
          <a:xfrm>
            <a:off x="10204704" y="3666744"/>
            <a:ext cx="964692"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3785615"/>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73 / 100</a:t>
            </a:r>
          </a:p>
        </p:txBody>
      </p:sp>
      <p:sp>
        <p:nvSpPr>
          <p:cNvPr id="36" name="Rectangle 35"/>
          <p:cNvSpPr/>
          <p:nvPr/>
        </p:nvSpPr>
        <p:spPr>
          <a:xfrm>
            <a:off x="7123176" y="4416552"/>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32904" y="4535424"/>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SLO passes / GPU</a:t>
            </a:r>
          </a:p>
        </p:txBody>
      </p:sp>
      <p:sp>
        <p:nvSpPr>
          <p:cNvPr id="38" name="Rectangle 37"/>
          <p:cNvSpPr/>
          <p:nvPr/>
        </p:nvSpPr>
        <p:spPr>
          <a:xfrm>
            <a:off x="9107424" y="4416552"/>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17152" y="4535424"/>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3.625</a:t>
            </a:r>
          </a:p>
        </p:txBody>
      </p:sp>
      <p:sp>
        <p:nvSpPr>
          <p:cNvPr id="40" name="Rectangle 39"/>
          <p:cNvSpPr/>
          <p:nvPr/>
        </p:nvSpPr>
        <p:spPr>
          <a:xfrm>
            <a:off x="10204704" y="4416552"/>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4535424"/>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9.125</a:t>
            </a:r>
          </a:p>
        </p:txBody>
      </p:sp>
      <p:sp>
        <p:nvSpPr>
          <p:cNvPr id="42" name="TextBox 41"/>
          <p:cNvSpPr txBox="1"/>
          <p:nvPr/>
        </p:nvSpPr>
        <p:spPr>
          <a:xfrm>
            <a:off x="7123176" y="5230368"/>
            <a:ext cx="4315968" cy="338328"/>
          </a:xfrm>
          <a:prstGeom prst="rect">
            <a:avLst/>
          </a:prstGeom>
          <a:noFill/>
        </p:spPr>
        <p:txBody>
          <a:bodyPr wrap="square" lIns="13716" rIns="13716" tIns="13716" bIns="13716">
            <a:spAutoFit/>
          </a:bodyPr>
          <a:lstStyle/>
          <a:p>
            <a:pPr>
              <a:spcBef>
                <a:spcPts val="0"/>
              </a:spcBef>
              <a:spcAft>
                <a:spcPts val="500"/>
              </a:spcAft>
              <a:defRPr sz="1200" b="0">
                <a:solidFill>
                  <a:srgbClr val="AE641A"/>
                </a:solidFill>
                <a:latin typeface="Arial"/>
              </a:defRPr>
            </a:pPr>
            <a:r>
              <a:t>No GPU savings or utilization claim.</a:t>
            </a:r>
          </a:p>
        </p:txBody>
      </p:sp>
      <p:sp>
        <p:nvSpPr>
          <p:cNvPr id="43" name="TextBox 42"/>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pinned vLLM Figure 3 arrays. Derived proxy = (SLO passes / 8 GPUs), normalized to colocated; not req/s/GPU.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56</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56</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47 / 56</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48 / 56</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49 / 56</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50 / 56</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51 / 56</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52 / 56</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53 / 56</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INTEGRATION ROADMAP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What’s next for KAITO + llm-d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Build on P/D with better cache reuse, richer role layouts and larger-scale execution.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Integration directions—not release dates or claims that every upstream capability is new.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54 / 56</a:t>
            </a:r>
          </a:p>
        </p:txBody>
      </p:sp>
      <p:sp>
        <p:nvSpPr>
          <p:cNvPr id="10" name="Rounded Rectangle 9"/>
          <p:cNvSpPr/>
          <p:nvPr/>
        </p:nvSpPr>
        <p:spPr>
          <a:xfrm>
            <a:off x="502920"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NEAR TERM</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Cache-aware serving</a:t>
            </a:r>
          </a:p>
        </p:txBody>
      </p:sp>
      <p:sp>
        <p:nvSpPr>
          <p:cNvPr id="14" name="TextBox 13"/>
          <p:cNvSpPr txBox="1"/>
          <p:nvPr/>
        </p:nvSpPr>
        <p:spPr>
          <a:xfrm>
            <a:off x="685800"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KV-event-based</a:t>
            </a:r>
          </a:p>
          <a:p>
            <a:pPr>
              <a:spcBef>
                <a:spcPts val="0"/>
              </a:spcBef>
              <a:spcAft>
                <a:spcPts val="500"/>
              </a:spcAft>
              <a:defRPr sz="1700" b="0">
                <a:solidFill>
                  <a:srgbClr val="172941"/>
                </a:solidFill>
                <a:latin typeface="Arial"/>
              </a:defRPr>
            </a:pPr>
            <a:r>
              <a:t>prefix-cache routing</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Tiered cache: HBM + CPU RAM</a:t>
            </a:r>
          </a:p>
          <a:p>
            <a:pPr>
              <a:spcBef>
                <a:spcPts val="0"/>
              </a:spcBef>
              <a:spcAft>
                <a:spcPts val="500"/>
              </a:spcAft>
              <a:defRPr sz="1700" b="0">
                <a:solidFill>
                  <a:srgbClr val="172941"/>
                </a:solidFill>
                <a:latin typeface="Arial"/>
              </a:defRPr>
            </a:pPr>
            <a:r>
              <a:t>+ optional filesystem tiers</a:t>
            </a:r>
          </a:p>
        </p:txBody>
      </p:sp>
      <p:sp>
        <p:nvSpPr>
          <p:cNvPr id="15" name="Rounded Rectangle 14"/>
          <p:cNvSpPr/>
          <p:nvPr/>
        </p:nvSpPr>
        <p:spPr>
          <a:xfrm>
            <a:off x="4288536"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NEXT TOPOLOGY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E/P/D</a:t>
            </a:r>
          </a:p>
        </p:txBody>
      </p:sp>
      <p:sp>
        <p:nvSpPr>
          <p:cNvPr id="19" name="TextBox 18"/>
          <p:cNvSpPr txBox="1"/>
          <p:nvPr/>
        </p:nvSpPr>
        <p:spPr>
          <a:xfrm>
            <a:off x="4471416"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Encode / Prefill / Decode</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Extend role-based serving</a:t>
            </a:r>
          </a:p>
          <a:p>
            <a:pPr>
              <a:spcBef>
                <a:spcPts val="0"/>
              </a:spcBef>
              <a:spcAft>
                <a:spcPts val="500"/>
              </a:spcAft>
              <a:defRPr sz="1700" b="0">
                <a:solidFill>
                  <a:srgbClr val="172941"/>
                </a:solidFill>
                <a:latin typeface="Arial"/>
              </a:defRPr>
            </a:pPr>
            <a:r>
              <a:t>to richer inference topologies.</a:t>
            </a:r>
          </a:p>
        </p:txBody>
      </p:sp>
      <p:sp>
        <p:nvSpPr>
          <p:cNvPr id="20" name="Rounded Rectangle 19"/>
          <p:cNvSpPr/>
          <p:nvPr/>
        </p:nvSpPr>
        <p:spPr>
          <a:xfrm>
            <a:off x="8074152"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AT LARGER SCALE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Larger-scale systems</a:t>
            </a:r>
          </a:p>
        </p:txBody>
      </p:sp>
      <p:sp>
        <p:nvSpPr>
          <p:cNvPr id="24" name="TextBox 23"/>
          <p:cNvSpPr txBox="1"/>
          <p:nvPr/>
        </p:nvSpPr>
        <p:spPr>
          <a:xfrm>
            <a:off x="8257031"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Wide Expert Parallelism</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Cross-node transport</a:t>
            </a:r>
          </a:p>
          <a:p>
            <a:pPr>
              <a:spcBef>
                <a:spcPts val="0"/>
              </a:spcBef>
              <a:spcAft>
                <a:spcPts val="500"/>
              </a:spcAft>
              <a:defRPr sz="1700" b="0">
                <a:solidFill>
                  <a:srgbClr val="172941"/>
                </a:solidFill>
                <a:latin typeface="Arial"/>
              </a:defRPr>
            </a:pPr>
            <a:r>
              <a:t>and communication</a:t>
            </a:r>
          </a:p>
          <a:p>
            <a:pPr>
              <a:spcBef>
                <a:spcPts val="0"/>
              </a:spcBef>
              <a:spcAft>
                <a:spcPts val="500"/>
              </a:spcAft>
              <a:defRPr sz="1700" b="0">
                <a:solidFill>
                  <a:srgbClr val="172941"/>
                </a:solidFill>
                <a:latin typeface="Arial"/>
              </a:defRPr>
            </a:pPr>
            <a:r>
              <a:t>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55 / 56</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56 / 56</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