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4120" r:id="rId1"/>
  </p:sldMasterIdLst>
  <p:notesMasterIdLst>
    <p:notesMasterId r:id="rId53"/>
  </p:notesMasterIdLst>
  <p:sldIdLst>
    <p:sldId id="284" r:id="rId2"/>
    <p:sldId id="256" r:id="rId3"/>
    <p:sldId id="282" r:id="rId4"/>
    <p:sldId id="286" r:id="rId5"/>
    <p:sldId id="285" r:id="rId6"/>
    <p:sldId id="2147375693" r:id="rId7"/>
    <p:sldId id="2147375704" r:id="rId8"/>
    <p:sldId id="399" r:id="rId9"/>
    <p:sldId id="2147375710" r:id="rId10"/>
    <p:sldId id="2147375709" r:id="rId11"/>
    <p:sldId id="2147375716" r:id="rId12"/>
    <p:sldId id="2147375706" r:id="rId13"/>
    <p:sldId id="2147375707" r:id="rId14"/>
    <p:sldId id="2147375702" r:id="rId15"/>
    <p:sldId id="2147375697" r:id="rId16"/>
    <p:sldId id="2147375700" r:id="rId17"/>
    <p:sldId id="2147375701" r:id="rId18"/>
    <p:sldId id="388" r:id="rId19"/>
    <p:sldId id="2147375713" r:id="rId20"/>
    <p:sldId id="304" r:id="rId21"/>
    <p:sldId id="303" r:id="rId22"/>
    <p:sldId id="393" r:id="rId23"/>
    <p:sldId id="302" r:id="rId24"/>
    <p:sldId id="319" r:id="rId25"/>
    <p:sldId id="2147375712" r:id="rId26"/>
    <p:sldId id="308" r:id="rId27"/>
    <p:sldId id="309" r:id="rId28"/>
    <p:sldId id="310" r:id="rId29"/>
    <p:sldId id="311" r:id="rId30"/>
    <p:sldId id="374" r:id="rId31"/>
    <p:sldId id="373" r:id="rId32"/>
    <p:sldId id="380" r:id="rId33"/>
    <p:sldId id="382" r:id="rId34"/>
    <p:sldId id="2147375690" r:id="rId35"/>
    <p:sldId id="276" r:id="rId36"/>
    <p:sldId id="2147375714" r:id="rId37"/>
    <p:sldId id="295" r:id="rId38"/>
    <p:sldId id="2147375715" r:id="rId39"/>
    <p:sldId id="299" r:id="rId40"/>
    <p:sldId id="2147375703" r:id="rId41"/>
    <p:sldId id="278" r:id="rId42"/>
    <p:sldId id="2147375718" r:id="rId43"/>
    <p:sldId id="2147375719" r:id="rId44"/>
    <p:sldId id="273" r:id="rId45"/>
    <p:sldId id="275" r:id="rId46"/>
    <p:sldId id="2147375717" r:id="rId47"/>
    <p:sldId id="277" r:id="rId48"/>
    <p:sldId id="274" r:id="rId49"/>
    <p:sldId id="279" r:id="rId50"/>
    <p:sldId id="316" r:id="rId51"/>
    <p:sldId id="2147375686"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默认节" id="{7175A77E-BF9B-3549-B421-F2F019331F96}">
          <p14:sldIdLst>
            <p14:sldId id="284"/>
            <p14:sldId id="256"/>
            <p14:sldId id="282"/>
            <p14:sldId id="286"/>
          </p14:sldIdLst>
        </p14:section>
        <p14:section name="Background &amp; Challenges" id="{DCEEA2A1-D39C-7B41-800A-A40E5735D387}">
          <p14:sldIdLst>
            <p14:sldId id="285"/>
            <p14:sldId id="2147375693"/>
            <p14:sldId id="2147375704"/>
            <p14:sldId id="399"/>
            <p14:sldId id="2147375710"/>
            <p14:sldId id="2147375709"/>
          </p14:sldIdLst>
        </p14:section>
        <p14:section name="Architecture" id="{EFCE6CBC-AE13-EF4B-91E1-90098B35F154}">
          <p14:sldIdLst>
            <p14:sldId id="2147375716"/>
            <p14:sldId id="2147375706"/>
            <p14:sldId id="2147375707"/>
          </p14:sldIdLst>
        </p14:section>
        <p14:section name="llm-d" id="{EAF3E571-87E0-F242-BE02-82C972594096}">
          <p14:sldIdLst>
            <p14:sldId id="2147375702"/>
            <p14:sldId id="2147375697"/>
            <p14:sldId id="2147375700"/>
            <p14:sldId id="2147375701"/>
          </p14:sldIdLst>
        </p14:section>
        <p14:section name="Intelligent Inference Scheduling" id="{A2B0AF88-A95A-954C-A737-BDE7B64D3FD6}">
          <p14:sldIdLst>
            <p14:sldId id="388"/>
            <p14:sldId id="2147375713"/>
            <p14:sldId id="304"/>
            <p14:sldId id="303"/>
            <p14:sldId id="393"/>
            <p14:sldId id="302"/>
          </p14:sldIdLst>
        </p14:section>
        <p14:section name="KV Cache Management" id="{E551968B-5A43-994B-8441-0D47F3FF9893}">
          <p14:sldIdLst>
            <p14:sldId id="319"/>
            <p14:sldId id="2147375712"/>
            <p14:sldId id="308"/>
            <p14:sldId id="309"/>
            <p14:sldId id="310"/>
            <p14:sldId id="311"/>
          </p14:sldIdLst>
        </p14:section>
        <p14:section name="WideEP" id="{BB325236-D872-A945-B684-72019DD60DA9}">
          <p14:sldIdLst>
            <p14:sldId id="374"/>
            <p14:sldId id="373"/>
            <p14:sldId id="380"/>
            <p14:sldId id="382"/>
          </p14:sldIdLst>
        </p14:section>
        <p14:section name="P/D Disaggregation" id="{7BFFFA5C-37FB-3349-BCFA-047E0D4B51EC}">
          <p14:sldIdLst>
            <p14:sldId id="2147375690"/>
            <p14:sldId id="276"/>
            <p14:sldId id="2147375714"/>
            <p14:sldId id="295"/>
            <p14:sldId id="2147375715"/>
            <p14:sldId id="299"/>
          </p14:sldIdLst>
        </p14:section>
        <p14:section name="katio" id="{297724F5-5D62-BA41-BD34-15F89B2061BD}">
          <p14:sldIdLst>
            <p14:sldId id="2147375703"/>
            <p14:sldId id="278"/>
            <p14:sldId id="2147375718"/>
            <p14:sldId id="2147375719"/>
            <p14:sldId id="273"/>
            <p14:sldId id="275"/>
          </p14:sldIdLst>
        </p14:section>
        <p14:section name="Production Integration" id="{A2621007-C5C5-4941-A747-696B33602E16}">
          <p14:sldIdLst>
            <p14:sldId id="2147375717"/>
            <p14:sldId id="277"/>
            <p14:sldId id="274"/>
            <p14:sldId id="279"/>
            <p14:sldId id="316"/>
            <p14:sldId id="2147375686"/>
          </p14:sldIdLst>
        </p14:section>
        <p14:section name="ecosystem" id="{A91252AA-BFD4-2444-8CE4-2782B742EDB2}">
          <p14:sldIdLst/>
        </p14:section>
        <p14:section name="素材" id="{09286675-284B-1E4C-AC49-E6FAA78F7238}">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BD45"/>
    <a:srgbClr val="3939D9"/>
    <a:srgbClr val="00737C"/>
    <a:srgbClr val="912666"/>
    <a:srgbClr val="00144C"/>
    <a:srgbClr val="057F3F"/>
    <a:srgbClr val="96CC4C"/>
    <a:srgbClr val="012D25"/>
    <a:srgbClr val="400049"/>
    <a:srgbClr val="E94D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73876"/>
  </p:normalViewPr>
  <p:slideViewPr>
    <p:cSldViewPr snapToGrid="0">
      <p:cViewPr varScale="1">
        <p:scale>
          <a:sx n="74" d="100"/>
          <a:sy n="74" d="100"/>
        </p:scale>
        <p:origin x="1000" y="2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D2DF84-CE48-4664-9513-DBF48A251FC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31F37D1B-4B09-2F41-AF0B-903825F6E204}">
      <dgm:prSet/>
      <dgm:spPr/>
      <dgm:t>
        <a:bodyPr/>
        <a:lstStyle/>
        <a:p>
          <a:r>
            <a:rPr lang="en" altLang="en-US" dirty="0"/>
            <a:t>Background &amp; Challenges</a:t>
          </a:r>
          <a:endParaRPr lang="zh-CN" altLang="zh-CN" dirty="0"/>
        </a:p>
      </dgm:t>
    </dgm:pt>
    <dgm:pt modelId="{520A9C8A-0DD7-D440-B8F3-66FEB42432CE}" type="parTrans" cxnId="{AB4445CB-3236-F541-B752-BB401D845372}">
      <dgm:prSet/>
      <dgm:spPr/>
      <dgm:t>
        <a:bodyPr/>
        <a:lstStyle/>
        <a:p>
          <a:endParaRPr lang="zh-CN" altLang="en-US"/>
        </a:p>
      </dgm:t>
    </dgm:pt>
    <dgm:pt modelId="{79E23CD5-F8D0-E54D-BFA7-A857061D5FBD}" type="sibTrans" cxnId="{AB4445CB-3236-F541-B752-BB401D845372}">
      <dgm:prSet/>
      <dgm:spPr/>
      <dgm:t>
        <a:bodyPr/>
        <a:lstStyle/>
        <a:p>
          <a:endParaRPr lang="zh-CN" altLang="en-US"/>
        </a:p>
      </dgm:t>
    </dgm:pt>
    <dgm:pt modelId="{634AC090-15B0-2F45-B1A6-4C22105C3B53}">
      <dgm:prSet/>
      <dgm:spPr/>
      <dgm:t>
        <a:bodyPr/>
        <a:lstStyle/>
        <a:p>
          <a:r>
            <a:rPr lang="en-US" altLang="zh-CN" dirty="0"/>
            <a:t>LLM-D</a:t>
          </a:r>
          <a:r>
            <a:rPr lang="zh-CN" altLang="zh-CN" dirty="0"/>
            <a:t>: Scheduling &amp; Distributed </a:t>
          </a:r>
          <a:r>
            <a:rPr lang="en-US" altLang="zh-CN" dirty="0"/>
            <a:t>Inference</a:t>
          </a:r>
          <a:endParaRPr lang="zh-CN" altLang="zh-CN" dirty="0"/>
        </a:p>
      </dgm:t>
    </dgm:pt>
    <dgm:pt modelId="{13899607-C346-8E4C-B1A6-49DEB8092880}" type="parTrans" cxnId="{07C8C488-73DE-2045-B484-469E77D623F2}">
      <dgm:prSet/>
      <dgm:spPr/>
      <dgm:t>
        <a:bodyPr/>
        <a:lstStyle/>
        <a:p>
          <a:endParaRPr lang="zh-CN" altLang="en-US"/>
        </a:p>
      </dgm:t>
    </dgm:pt>
    <dgm:pt modelId="{80504505-883A-9346-8D8B-3D73A66D8D14}" type="sibTrans" cxnId="{07C8C488-73DE-2045-B484-469E77D623F2}">
      <dgm:prSet/>
      <dgm:spPr/>
      <dgm:t>
        <a:bodyPr/>
        <a:lstStyle/>
        <a:p>
          <a:endParaRPr lang="zh-CN" altLang="en-US"/>
        </a:p>
      </dgm:t>
    </dgm:pt>
    <dgm:pt modelId="{B662611E-B52F-4347-9137-F8000728DBC8}">
      <dgm:prSet/>
      <dgm:spPr/>
      <dgm:t>
        <a:bodyPr/>
        <a:lstStyle/>
        <a:p>
          <a:r>
            <a:rPr lang="zh-CN" altLang="zh-CN" dirty="0"/>
            <a:t>KAITO: Workload Lifecycle &amp; GPU Operations</a:t>
          </a:r>
        </a:p>
      </dgm:t>
    </dgm:pt>
    <dgm:pt modelId="{849ADBF5-2BA3-E749-9EC3-3EFA0B3C57A3}" type="parTrans" cxnId="{3DC0E098-4F38-6142-AA23-7173645835FA}">
      <dgm:prSet/>
      <dgm:spPr/>
      <dgm:t>
        <a:bodyPr/>
        <a:lstStyle/>
        <a:p>
          <a:endParaRPr lang="zh-CN" altLang="en-US"/>
        </a:p>
      </dgm:t>
    </dgm:pt>
    <dgm:pt modelId="{E384952C-31D4-F644-9A55-1919F27E6060}" type="sibTrans" cxnId="{3DC0E098-4F38-6142-AA23-7173645835FA}">
      <dgm:prSet/>
      <dgm:spPr/>
      <dgm:t>
        <a:bodyPr/>
        <a:lstStyle/>
        <a:p>
          <a:endParaRPr lang="zh-CN" altLang="en-US"/>
        </a:p>
      </dgm:t>
    </dgm:pt>
    <dgm:pt modelId="{19CEEDB9-59E0-124C-AD0F-37FA60661B51}">
      <dgm:prSet/>
      <dgm:spPr/>
      <dgm:t>
        <a:bodyPr/>
        <a:lstStyle/>
        <a:p>
          <a:r>
            <a:rPr lang="en" altLang="zh-CN" dirty="0"/>
            <a:t>Production Integration</a:t>
          </a:r>
          <a:endParaRPr lang="zh-CN" altLang="zh-CN" dirty="0"/>
        </a:p>
      </dgm:t>
    </dgm:pt>
    <dgm:pt modelId="{5784BCAD-8B93-F241-BEE6-3EA66BE61A9D}" type="parTrans" cxnId="{7A3F7C8A-3F06-8B44-BF24-7AE122D1C6D3}">
      <dgm:prSet/>
      <dgm:spPr/>
      <dgm:t>
        <a:bodyPr/>
        <a:lstStyle/>
        <a:p>
          <a:endParaRPr lang="zh-CN" altLang="en-US"/>
        </a:p>
      </dgm:t>
    </dgm:pt>
    <dgm:pt modelId="{F8834BFE-7B53-C647-ACE3-2C43C78C7ABA}" type="sibTrans" cxnId="{7A3F7C8A-3F06-8B44-BF24-7AE122D1C6D3}">
      <dgm:prSet/>
      <dgm:spPr/>
      <dgm:t>
        <a:bodyPr/>
        <a:lstStyle/>
        <a:p>
          <a:endParaRPr lang="zh-CN" altLang="en-US"/>
        </a:p>
      </dgm:t>
    </dgm:pt>
    <dgm:pt modelId="{A4D623C3-DA9A-3643-9615-1359A9289234}">
      <dgm:prSet/>
      <dgm:spPr/>
      <dgm:t>
        <a:bodyPr/>
        <a:lstStyle/>
        <a:p>
          <a:r>
            <a:rPr lang="en" altLang="zh-CN" dirty="0"/>
            <a:t>Production Inference Architecture</a:t>
          </a:r>
          <a:endParaRPr lang="zh-CN" altLang="en-US" dirty="0"/>
        </a:p>
      </dgm:t>
    </dgm:pt>
    <dgm:pt modelId="{9B0923C6-8A5F-034D-AFF3-104F29D33D27}" type="sibTrans" cxnId="{C9E12C77-E368-DF49-868A-FEA6A373EC85}">
      <dgm:prSet/>
      <dgm:spPr/>
      <dgm:t>
        <a:bodyPr/>
        <a:lstStyle/>
        <a:p>
          <a:endParaRPr lang="zh-CN" altLang="en-US"/>
        </a:p>
      </dgm:t>
    </dgm:pt>
    <dgm:pt modelId="{6396710F-CDC7-3846-AB1E-357D02D10506}" type="parTrans" cxnId="{C9E12C77-E368-DF49-868A-FEA6A373EC85}">
      <dgm:prSet/>
      <dgm:spPr/>
      <dgm:t>
        <a:bodyPr/>
        <a:lstStyle/>
        <a:p>
          <a:endParaRPr lang="zh-CN" altLang="en-US"/>
        </a:p>
      </dgm:t>
    </dgm:pt>
    <dgm:pt modelId="{243A944B-21F9-4055-B379-A4497BC7DA39}" type="pres">
      <dgm:prSet presAssocID="{CED2DF84-CE48-4664-9513-DBF48A251FC9}" presName="linear" presStyleCnt="0">
        <dgm:presLayoutVars>
          <dgm:dir/>
          <dgm:animLvl val="lvl"/>
          <dgm:resizeHandles val="exact"/>
        </dgm:presLayoutVars>
      </dgm:prSet>
      <dgm:spPr/>
    </dgm:pt>
    <dgm:pt modelId="{1DF99CE6-B225-E74A-BDEB-62AB51789293}" type="pres">
      <dgm:prSet presAssocID="{31F37D1B-4B09-2F41-AF0B-903825F6E204}" presName="parentLin" presStyleCnt="0"/>
      <dgm:spPr/>
    </dgm:pt>
    <dgm:pt modelId="{936B9458-DE52-FC40-BE22-4F70A6CEC801}" type="pres">
      <dgm:prSet presAssocID="{31F37D1B-4B09-2F41-AF0B-903825F6E204}" presName="parentLeftMargin" presStyleLbl="node1" presStyleIdx="0" presStyleCnt="5"/>
      <dgm:spPr/>
    </dgm:pt>
    <dgm:pt modelId="{BEE2E8F2-F89D-094E-8358-49A2BFEC1E96}" type="pres">
      <dgm:prSet presAssocID="{31F37D1B-4B09-2F41-AF0B-903825F6E204}" presName="parentText" presStyleLbl="node1" presStyleIdx="0" presStyleCnt="5">
        <dgm:presLayoutVars>
          <dgm:chMax val="0"/>
          <dgm:bulletEnabled val="1"/>
        </dgm:presLayoutVars>
      </dgm:prSet>
      <dgm:spPr/>
    </dgm:pt>
    <dgm:pt modelId="{B934FBB4-02D0-9044-A5B0-45AB77F50FE8}" type="pres">
      <dgm:prSet presAssocID="{31F37D1B-4B09-2F41-AF0B-903825F6E204}" presName="negativeSpace" presStyleCnt="0"/>
      <dgm:spPr/>
    </dgm:pt>
    <dgm:pt modelId="{0DFFE7D9-272D-7647-96D7-D04373ABF1F7}" type="pres">
      <dgm:prSet presAssocID="{31F37D1B-4B09-2F41-AF0B-903825F6E204}" presName="childText" presStyleLbl="conFgAcc1" presStyleIdx="0" presStyleCnt="5">
        <dgm:presLayoutVars>
          <dgm:bulletEnabled val="1"/>
        </dgm:presLayoutVars>
      </dgm:prSet>
      <dgm:spPr/>
    </dgm:pt>
    <dgm:pt modelId="{B831DD5D-DFD0-3A47-BC99-02E92EE6AEF9}" type="pres">
      <dgm:prSet presAssocID="{79E23CD5-F8D0-E54D-BFA7-A857061D5FBD}" presName="spaceBetweenRectangles" presStyleCnt="0"/>
      <dgm:spPr/>
    </dgm:pt>
    <dgm:pt modelId="{18B3FF54-31D5-0F42-A21C-822A7FE9CA74}" type="pres">
      <dgm:prSet presAssocID="{A4D623C3-DA9A-3643-9615-1359A9289234}" presName="parentLin" presStyleCnt="0"/>
      <dgm:spPr/>
    </dgm:pt>
    <dgm:pt modelId="{08E39F00-9B43-C648-A269-C1BB93AFD9F3}" type="pres">
      <dgm:prSet presAssocID="{A4D623C3-DA9A-3643-9615-1359A9289234}" presName="parentLeftMargin" presStyleLbl="node1" presStyleIdx="0" presStyleCnt="5"/>
      <dgm:spPr/>
    </dgm:pt>
    <dgm:pt modelId="{16E17E86-00B3-CA49-A603-43030AA7F3B6}" type="pres">
      <dgm:prSet presAssocID="{A4D623C3-DA9A-3643-9615-1359A9289234}" presName="parentText" presStyleLbl="node1" presStyleIdx="1" presStyleCnt="5">
        <dgm:presLayoutVars>
          <dgm:chMax val="0"/>
          <dgm:bulletEnabled val="1"/>
        </dgm:presLayoutVars>
      </dgm:prSet>
      <dgm:spPr/>
    </dgm:pt>
    <dgm:pt modelId="{2444BBA5-7846-0341-AB1B-1B53E42EC100}" type="pres">
      <dgm:prSet presAssocID="{A4D623C3-DA9A-3643-9615-1359A9289234}" presName="negativeSpace" presStyleCnt="0"/>
      <dgm:spPr/>
    </dgm:pt>
    <dgm:pt modelId="{B998C34D-6E45-2F4C-9106-27294625DB45}" type="pres">
      <dgm:prSet presAssocID="{A4D623C3-DA9A-3643-9615-1359A9289234}" presName="childText" presStyleLbl="conFgAcc1" presStyleIdx="1" presStyleCnt="5">
        <dgm:presLayoutVars>
          <dgm:bulletEnabled val="1"/>
        </dgm:presLayoutVars>
      </dgm:prSet>
      <dgm:spPr/>
    </dgm:pt>
    <dgm:pt modelId="{CB584D31-396E-8C4A-8B79-78EF40E39F15}" type="pres">
      <dgm:prSet presAssocID="{9B0923C6-8A5F-034D-AFF3-104F29D33D27}" presName="spaceBetweenRectangles" presStyleCnt="0"/>
      <dgm:spPr/>
    </dgm:pt>
    <dgm:pt modelId="{04352AE2-555E-6048-ABB6-14514C78DA5C}" type="pres">
      <dgm:prSet presAssocID="{634AC090-15B0-2F45-B1A6-4C22105C3B53}" presName="parentLin" presStyleCnt="0"/>
      <dgm:spPr/>
    </dgm:pt>
    <dgm:pt modelId="{348FC76C-DB38-8146-B1BF-E2C3493A8C1E}" type="pres">
      <dgm:prSet presAssocID="{634AC090-15B0-2F45-B1A6-4C22105C3B53}" presName="parentLeftMargin" presStyleLbl="node1" presStyleIdx="1" presStyleCnt="5"/>
      <dgm:spPr/>
    </dgm:pt>
    <dgm:pt modelId="{6080C98E-4A6B-0249-8A34-01C281AE63C6}" type="pres">
      <dgm:prSet presAssocID="{634AC090-15B0-2F45-B1A6-4C22105C3B53}" presName="parentText" presStyleLbl="node1" presStyleIdx="2" presStyleCnt="5">
        <dgm:presLayoutVars>
          <dgm:chMax val="0"/>
          <dgm:bulletEnabled val="1"/>
        </dgm:presLayoutVars>
      </dgm:prSet>
      <dgm:spPr/>
    </dgm:pt>
    <dgm:pt modelId="{05C72F18-04A8-F540-8017-8B42FE5C4ACB}" type="pres">
      <dgm:prSet presAssocID="{634AC090-15B0-2F45-B1A6-4C22105C3B53}" presName="negativeSpace" presStyleCnt="0"/>
      <dgm:spPr/>
    </dgm:pt>
    <dgm:pt modelId="{36944100-C8B0-B349-9A27-AB5C839C6AC1}" type="pres">
      <dgm:prSet presAssocID="{634AC090-15B0-2F45-B1A6-4C22105C3B53}" presName="childText" presStyleLbl="conFgAcc1" presStyleIdx="2" presStyleCnt="5">
        <dgm:presLayoutVars>
          <dgm:bulletEnabled val="1"/>
        </dgm:presLayoutVars>
      </dgm:prSet>
      <dgm:spPr/>
    </dgm:pt>
    <dgm:pt modelId="{6A6739AF-2D40-584D-8592-65C3E5E8883D}" type="pres">
      <dgm:prSet presAssocID="{80504505-883A-9346-8D8B-3D73A66D8D14}" presName="spaceBetweenRectangles" presStyleCnt="0"/>
      <dgm:spPr/>
    </dgm:pt>
    <dgm:pt modelId="{B268CAB6-F646-5348-B61F-8BBC64A90CE9}" type="pres">
      <dgm:prSet presAssocID="{B662611E-B52F-4347-9137-F8000728DBC8}" presName="parentLin" presStyleCnt="0"/>
      <dgm:spPr/>
    </dgm:pt>
    <dgm:pt modelId="{9B44CF8D-0812-FF4A-B01A-818EAC285B25}" type="pres">
      <dgm:prSet presAssocID="{B662611E-B52F-4347-9137-F8000728DBC8}" presName="parentLeftMargin" presStyleLbl="node1" presStyleIdx="2" presStyleCnt="5"/>
      <dgm:spPr/>
    </dgm:pt>
    <dgm:pt modelId="{2A707616-C99F-AC4A-994A-7D7697DED863}" type="pres">
      <dgm:prSet presAssocID="{B662611E-B52F-4347-9137-F8000728DBC8}" presName="parentText" presStyleLbl="node1" presStyleIdx="3" presStyleCnt="5">
        <dgm:presLayoutVars>
          <dgm:chMax val="0"/>
          <dgm:bulletEnabled val="1"/>
        </dgm:presLayoutVars>
      </dgm:prSet>
      <dgm:spPr/>
    </dgm:pt>
    <dgm:pt modelId="{1EA74E3B-FA1C-B84D-914F-9B715DDF3887}" type="pres">
      <dgm:prSet presAssocID="{B662611E-B52F-4347-9137-F8000728DBC8}" presName="negativeSpace" presStyleCnt="0"/>
      <dgm:spPr/>
    </dgm:pt>
    <dgm:pt modelId="{2B0058E6-E761-B247-B3B1-69425D91AB91}" type="pres">
      <dgm:prSet presAssocID="{B662611E-B52F-4347-9137-F8000728DBC8}" presName="childText" presStyleLbl="conFgAcc1" presStyleIdx="3" presStyleCnt="5">
        <dgm:presLayoutVars>
          <dgm:bulletEnabled val="1"/>
        </dgm:presLayoutVars>
      </dgm:prSet>
      <dgm:spPr/>
    </dgm:pt>
    <dgm:pt modelId="{6622AE03-8765-F54E-9587-86A0F7C1CA01}" type="pres">
      <dgm:prSet presAssocID="{E384952C-31D4-F644-9A55-1919F27E6060}" presName="spaceBetweenRectangles" presStyleCnt="0"/>
      <dgm:spPr/>
    </dgm:pt>
    <dgm:pt modelId="{6B7ECEB6-2044-FE47-8DD9-C181EC1023D5}" type="pres">
      <dgm:prSet presAssocID="{19CEEDB9-59E0-124C-AD0F-37FA60661B51}" presName="parentLin" presStyleCnt="0"/>
      <dgm:spPr/>
    </dgm:pt>
    <dgm:pt modelId="{C09D5380-87F2-ED4A-9B80-B401033557B0}" type="pres">
      <dgm:prSet presAssocID="{19CEEDB9-59E0-124C-AD0F-37FA60661B51}" presName="parentLeftMargin" presStyleLbl="node1" presStyleIdx="3" presStyleCnt="5"/>
      <dgm:spPr/>
    </dgm:pt>
    <dgm:pt modelId="{24571FA4-B73D-3F43-BB35-BD5A1032BE14}" type="pres">
      <dgm:prSet presAssocID="{19CEEDB9-59E0-124C-AD0F-37FA60661B51}" presName="parentText" presStyleLbl="node1" presStyleIdx="4" presStyleCnt="5">
        <dgm:presLayoutVars>
          <dgm:chMax val="0"/>
          <dgm:bulletEnabled val="1"/>
        </dgm:presLayoutVars>
      </dgm:prSet>
      <dgm:spPr/>
    </dgm:pt>
    <dgm:pt modelId="{664A27C8-5976-F04E-9C8A-AE9E9494C0F3}" type="pres">
      <dgm:prSet presAssocID="{19CEEDB9-59E0-124C-AD0F-37FA60661B51}" presName="negativeSpace" presStyleCnt="0"/>
      <dgm:spPr/>
    </dgm:pt>
    <dgm:pt modelId="{6FEF9971-F5EB-FD41-B782-13271D438DD0}" type="pres">
      <dgm:prSet presAssocID="{19CEEDB9-59E0-124C-AD0F-37FA60661B51}" presName="childText" presStyleLbl="conFgAcc1" presStyleIdx="4" presStyleCnt="5">
        <dgm:presLayoutVars>
          <dgm:bulletEnabled val="1"/>
        </dgm:presLayoutVars>
      </dgm:prSet>
      <dgm:spPr/>
    </dgm:pt>
  </dgm:ptLst>
  <dgm:cxnLst>
    <dgm:cxn modelId="{D747B20B-19E8-5C47-A465-E0F4677BBE87}" type="presOf" srcId="{19CEEDB9-59E0-124C-AD0F-37FA60661B51}" destId="{24571FA4-B73D-3F43-BB35-BD5A1032BE14}" srcOrd="1" destOrd="0" presId="urn:microsoft.com/office/officeart/2005/8/layout/list1"/>
    <dgm:cxn modelId="{954D3619-8D8F-D444-AA6B-77838696029B}" type="presOf" srcId="{B662611E-B52F-4347-9137-F8000728DBC8}" destId="{9B44CF8D-0812-FF4A-B01A-818EAC285B25}" srcOrd="0" destOrd="0" presId="urn:microsoft.com/office/officeart/2005/8/layout/list1"/>
    <dgm:cxn modelId="{017BEF19-734E-BE47-9DDF-4D4749AB77B9}" type="presOf" srcId="{19CEEDB9-59E0-124C-AD0F-37FA60661B51}" destId="{C09D5380-87F2-ED4A-9B80-B401033557B0}" srcOrd="0" destOrd="0" presId="urn:microsoft.com/office/officeart/2005/8/layout/list1"/>
    <dgm:cxn modelId="{3C12E220-29AE-BB47-83CE-105A7E096294}" type="presOf" srcId="{A4D623C3-DA9A-3643-9615-1359A9289234}" destId="{08E39F00-9B43-C648-A269-C1BB93AFD9F3}" srcOrd="0" destOrd="0" presId="urn:microsoft.com/office/officeart/2005/8/layout/list1"/>
    <dgm:cxn modelId="{F930922F-3FD9-2442-BBAC-2D493C0BCACD}" type="presOf" srcId="{A4D623C3-DA9A-3643-9615-1359A9289234}" destId="{16E17E86-00B3-CA49-A603-43030AA7F3B6}" srcOrd="1" destOrd="0" presId="urn:microsoft.com/office/officeart/2005/8/layout/list1"/>
    <dgm:cxn modelId="{24A43C46-5C07-2B4D-92B2-5C347C938155}" type="presOf" srcId="{31F37D1B-4B09-2F41-AF0B-903825F6E204}" destId="{BEE2E8F2-F89D-094E-8358-49A2BFEC1E96}" srcOrd="1" destOrd="0" presId="urn:microsoft.com/office/officeart/2005/8/layout/list1"/>
    <dgm:cxn modelId="{C9E12C77-E368-DF49-868A-FEA6A373EC85}" srcId="{CED2DF84-CE48-4664-9513-DBF48A251FC9}" destId="{A4D623C3-DA9A-3643-9615-1359A9289234}" srcOrd="1" destOrd="0" parTransId="{6396710F-CDC7-3846-AB1E-357D02D10506}" sibTransId="{9B0923C6-8A5F-034D-AFF3-104F29D33D27}"/>
    <dgm:cxn modelId="{85288784-3C9A-544E-AE3C-65985E33CB4F}" type="presOf" srcId="{B662611E-B52F-4347-9137-F8000728DBC8}" destId="{2A707616-C99F-AC4A-994A-7D7697DED863}" srcOrd="1" destOrd="0" presId="urn:microsoft.com/office/officeart/2005/8/layout/list1"/>
    <dgm:cxn modelId="{07C8C488-73DE-2045-B484-469E77D623F2}" srcId="{CED2DF84-CE48-4664-9513-DBF48A251FC9}" destId="{634AC090-15B0-2F45-B1A6-4C22105C3B53}" srcOrd="2" destOrd="0" parTransId="{13899607-C346-8E4C-B1A6-49DEB8092880}" sibTransId="{80504505-883A-9346-8D8B-3D73A66D8D14}"/>
    <dgm:cxn modelId="{7A3F7C8A-3F06-8B44-BF24-7AE122D1C6D3}" srcId="{CED2DF84-CE48-4664-9513-DBF48A251FC9}" destId="{19CEEDB9-59E0-124C-AD0F-37FA60661B51}" srcOrd="4" destOrd="0" parTransId="{5784BCAD-8B93-F241-BEE6-3EA66BE61A9D}" sibTransId="{F8834BFE-7B53-C647-ACE3-2C43C78C7ABA}"/>
    <dgm:cxn modelId="{CCBE3D97-0A97-DB48-8CED-59658483AEAC}" type="presOf" srcId="{634AC090-15B0-2F45-B1A6-4C22105C3B53}" destId="{348FC76C-DB38-8146-B1BF-E2C3493A8C1E}" srcOrd="0" destOrd="0" presId="urn:microsoft.com/office/officeart/2005/8/layout/list1"/>
    <dgm:cxn modelId="{3DC0E098-4F38-6142-AA23-7173645835FA}" srcId="{CED2DF84-CE48-4664-9513-DBF48A251FC9}" destId="{B662611E-B52F-4347-9137-F8000728DBC8}" srcOrd="3" destOrd="0" parTransId="{849ADBF5-2BA3-E749-9EC3-3EFA0B3C57A3}" sibTransId="{E384952C-31D4-F644-9A55-1919F27E6060}"/>
    <dgm:cxn modelId="{1C32AABC-8747-CE4F-B101-DF05C749DA99}" type="presOf" srcId="{634AC090-15B0-2F45-B1A6-4C22105C3B53}" destId="{6080C98E-4A6B-0249-8A34-01C281AE63C6}" srcOrd="1" destOrd="0" presId="urn:microsoft.com/office/officeart/2005/8/layout/list1"/>
    <dgm:cxn modelId="{C008DBC0-A7B5-4D35-AFD2-93078F2967DC}" type="presOf" srcId="{CED2DF84-CE48-4664-9513-DBF48A251FC9}" destId="{243A944B-21F9-4055-B379-A4497BC7DA39}" srcOrd="0" destOrd="0" presId="urn:microsoft.com/office/officeart/2005/8/layout/list1"/>
    <dgm:cxn modelId="{AB4445CB-3236-F541-B752-BB401D845372}" srcId="{CED2DF84-CE48-4664-9513-DBF48A251FC9}" destId="{31F37D1B-4B09-2F41-AF0B-903825F6E204}" srcOrd="0" destOrd="0" parTransId="{520A9C8A-0DD7-D440-B8F3-66FEB42432CE}" sibTransId="{79E23CD5-F8D0-E54D-BFA7-A857061D5FBD}"/>
    <dgm:cxn modelId="{7262D0F9-6AD3-4F4A-9F16-947B31E0258E}" type="presOf" srcId="{31F37D1B-4B09-2F41-AF0B-903825F6E204}" destId="{936B9458-DE52-FC40-BE22-4F70A6CEC801}" srcOrd="0" destOrd="0" presId="urn:microsoft.com/office/officeart/2005/8/layout/list1"/>
    <dgm:cxn modelId="{812A6A14-8234-4341-B5AB-6C5291CD8B20}" type="presParOf" srcId="{243A944B-21F9-4055-B379-A4497BC7DA39}" destId="{1DF99CE6-B225-E74A-BDEB-62AB51789293}" srcOrd="0" destOrd="0" presId="urn:microsoft.com/office/officeart/2005/8/layout/list1"/>
    <dgm:cxn modelId="{4137C52C-D5C3-364F-81EB-55A2B99C1020}" type="presParOf" srcId="{1DF99CE6-B225-E74A-BDEB-62AB51789293}" destId="{936B9458-DE52-FC40-BE22-4F70A6CEC801}" srcOrd="0" destOrd="0" presId="urn:microsoft.com/office/officeart/2005/8/layout/list1"/>
    <dgm:cxn modelId="{A2BFA79C-F40C-9A46-904B-BA147F846B01}" type="presParOf" srcId="{1DF99CE6-B225-E74A-BDEB-62AB51789293}" destId="{BEE2E8F2-F89D-094E-8358-49A2BFEC1E96}" srcOrd="1" destOrd="0" presId="urn:microsoft.com/office/officeart/2005/8/layout/list1"/>
    <dgm:cxn modelId="{8C61222B-1C16-AF4A-8A58-5EC4A17C7EDC}" type="presParOf" srcId="{243A944B-21F9-4055-B379-A4497BC7DA39}" destId="{B934FBB4-02D0-9044-A5B0-45AB77F50FE8}" srcOrd="1" destOrd="0" presId="urn:microsoft.com/office/officeart/2005/8/layout/list1"/>
    <dgm:cxn modelId="{93A183AA-4522-1B44-92A4-DD754F80D451}" type="presParOf" srcId="{243A944B-21F9-4055-B379-A4497BC7DA39}" destId="{0DFFE7D9-272D-7647-96D7-D04373ABF1F7}" srcOrd="2" destOrd="0" presId="urn:microsoft.com/office/officeart/2005/8/layout/list1"/>
    <dgm:cxn modelId="{29DF1479-DE83-9343-83EC-B9E34BE330AF}" type="presParOf" srcId="{243A944B-21F9-4055-B379-A4497BC7DA39}" destId="{B831DD5D-DFD0-3A47-BC99-02E92EE6AEF9}" srcOrd="3" destOrd="0" presId="urn:microsoft.com/office/officeart/2005/8/layout/list1"/>
    <dgm:cxn modelId="{94AD79CB-3458-CD41-8586-F611C04B43E6}" type="presParOf" srcId="{243A944B-21F9-4055-B379-A4497BC7DA39}" destId="{18B3FF54-31D5-0F42-A21C-822A7FE9CA74}" srcOrd="4" destOrd="0" presId="urn:microsoft.com/office/officeart/2005/8/layout/list1"/>
    <dgm:cxn modelId="{9F25339D-D607-604B-B85E-01E56416B517}" type="presParOf" srcId="{18B3FF54-31D5-0F42-A21C-822A7FE9CA74}" destId="{08E39F00-9B43-C648-A269-C1BB93AFD9F3}" srcOrd="0" destOrd="0" presId="urn:microsoft.com/office/officeart/2005/8/layout/list1"/>
    <dgm:cxn modelId="{056EA413-75FE-1C4D-B649-8B991D169ED2}" type="presParOf" srcId="{18B3FF54-31D5-0F42-A21C-822A7FE9CA74}" destId="{16E17E86-00B3-CA49-A603-43030AA7F3B6}" srcOrd="1" destOrd="0" presId="urn:microsoft.com/office/officeart/2005/8/layout/list1"/>
    <dgm:cxn modelId="{C9BBAE56-1069-B44B-809A-3C201E439584}" type="presParOf" srcId="{243A944B-21F9-4055-B379-A4497BC7DA39}" destId="{2444BBA5-7846-0341-AB1B-1B53E42EC100}" srcOrd="5" destOrd="0" presId="urn:microsoft.com/office/officeart/2005/8/layout/list1"/>
    <dgm:cxn modelId="{2C47BDFA-78D1-D544-B041-84C2674DEDCD}" type="presParOf" srcId="{243A944B-21F9-4055-B379-A4497BC7DA39}" destId="{B998C34D-6E45-2F4C-9106-27294625DB45}" srcOrd="6" destOrd="0" presId="urn:microsoft.com/office/officeart/2005/8/layout/list1"/>
    <dgm:cxn modelId="{05A9B7A5-EB49-A74A-955C-EB6A5A2FDC77}" type="presParOf" srcId="{243A944B-21F9-4055-B379-A4497BC7DA39}" destId="{CB584D31-396E-8C4A-8B79-78EF40E39F15}" srcOrd="7" destOrd="0" presId="urn:microsoft.com/office/officeart/2005/8/layout/list1"/>
    <dgm:cxn modelId="{8477DBCD-F52B-9440-BD35-00928CE18C98}" type="presParOf" srcId="{243A944B-21F9-4055-B379-A4497BC7DA39}" destId="{04352AE2-555E-6048-ABB6-14514C78DA5C}" srcOrd="8" destOrd="0" presId="urn:microsoft.com/office/officeart/2005/8/layout/list1"/>
    <dgm:cxn modelId="{8910C9E0-1674-9F48-9D16-5EB0C3A3F37A}" type="presParOf" srcId="{04352AE2-555E-6048-ABB6-14514C78DA5C}" destId="{348FC76C-DB38-8146-B1BF-E2C3493A8C1E}" srcOrd="0" destOrd="0" presId="urn:microsoft.com/office/officeart/2005/8/layout/list1"/>
    <dgm:cxn modelId="{E9A55EEC-152E-1040-AF62-F591EF535725}" type="presParOf" srcId="{04352AE2-555E-6048-ABB6-14514C78DA5C}" destId="{6080C98E-4A6B-0249-8A34-01C281AE63C6}" srcOrd="1" destOrd="0" presId="urn:microsoft.com/office/officeart/2005/8/layout/list1"/>
    <dgm:cxn modelId="{68040D65-F0DD-1841-AA3D-974D0075A4E7}" type="presParOf" srcId="{243A944B-21F9-4055-B379-A4497BC7DA39}" destId="{05C72F18-04A8-F540-8017-8B42FE5C4ACB}" srcOrd="9" destOrd="0" presId="urn:microsoft.com/office/officeart/2005/8/layout/list1"/>
    <dgm:cxn modelId="{A97DC296-12DB-8842-BF8F-39683473A690}" type="presParOf" srcId="{243A944B-21F9-4055-B379-A4497BC7DA39}" destId="{36944100-C8B0-B349-9A27-AB5C839C6AC1}" srcOrd="10" destOrd="0" presId="urn:microsoft.com/office/officeart/2005/8/layout/list1"/>
    <dgm:cxn modelId="{C39B222E-A485-1E4B-B3D9-D597D600D259}" type="presParOf" srcId="{243A944B-21F9-4055-B379-A4497BC7DA39}" destId="{6A6739AF-2D40-584D-8592-65C3E5E8883D}" srcOrd="11" destOrd="0" presId="urn:microsoft.com/office/officeart/2005/8/layout/list1"/>
    <dgm:cxn modelId="{76544883-CB99-CD4A-83CE-0DE78FD7F32F}" type="presParOf" srcId="{243A944B-21F9-4055-B379-A4497BC7DA39}" destId="{B268CAB6-F646-5348-B61F-8BBC64A90CE9}" srcOrd="12" destOrd="0" presId="urn:microsoft.com/office/officeart/2005/8/layout/list1"/>
    <dgm:cxn modelId="{0BEC0515-D370-4A46-943B-3BABAAA831A5}" type="presParOf" srcId="{B268CAB6-F646-5348-B61F-8BBC64A90CE9}" destId="{9B44CF8D-0812-FF4A-B01A-818EAC285B25}" srcOrd="0" destOrd="0" presId="urn:microsoft.com/office/officeart/2005/8/layout/list1"/>
    <dgm:cxn modelId="{B4DB3915-DAC3-214E-A014-760F9BF93323}" type="presParOf" srcId="{B268CAB6-F646-5348-B61F-8BBC64A90CE9}" destId="{2A707616-C99F-AC4A-994A-7D7697DED863}" srcOrd="1" destOrd="0" presId="urn:microsoft.com/office/officeart/2005/8/layout/list1"/>
    <dgm:cxn modelId="{D5B1BC67-3AB6-DF47-A79C-6CC4016A4267}" type="presParOf" srcId="{243A944B-21F9-4055-B379-A4497BC7DA39}" destId="{1EA74E3B-FA1C-B84D-914F-9B715DDF3887}" srcOrd="13" destOrd="0" presId="urn:microsoft.com/office/officeart/2005/8/layout/list1"/>
    <dgm:cxn modelId="{FDB68BDC-D37F-E942-91C2-9344ED786F33}" type="presParOf" srcId="{243A944B-21F9-4055-B379-A4497BC7DA39}" destId="{2B0058E6-E761-B247-B3B1-69425D91AB91}" srcOrd="14" destOrd="0" presId="urn:microsoft.com/office/officeart/2005/8/layout/list1"/>
    <dgm:cxn modelId="{1DB16997-B69F-4342-A6BB-A4F3E891FC3A}" type="presParOf" srcId="{243A944B-21F9-4055-B379-A4497BC7DA39}" destId="{6622AE03-8765-F54E-9587-86A0F7C1CA01}" srcOrd="15" destOrd="0" presId="urn:microsoft.com/office/officeart/2005/8/layout/list1"/>
    <dgm:cxn modelId="{7823AEDE-D632-1F4F-804E-6F07BD198799}" type="presParOf" srcId="{243A944B-21F9-4055-B379-A4497BC7DA39}" destId="{6B7ECEB6-2044-FE47-8DD9-C181EC1023D5}" srcOrd="16" destOrd="0" presId="urn:microsoft.com/office/officeart/2005/8/layout/list1"/>
    <dgm:cxn modelId="{158CAB1B-8FE7-7F4E-B946-56B69C629CBF}" type="presParOf" srcId="{6B7ECEB6-2044-FE47-8DD9-C181EC1023D5}" destId="{C09D5380-87F2-ED4A-9B80-B401033557B0}" srcOrd="0" destOrd="0" presId="urn:microsoft.com/office/officeart/2005/8/layout/list1"/>
    <dgm:cxn modelId="{970B6E4C-04BE-A547-9F66-08A84BF237B6}" type="presParOf" srcId="{6B7ECEB6-2044-FE47-8DD9-C181EC1023D5}" destId="{24571FA4-B73D-3F43-BB35-BD5A1032BE14}" srcOrd="1" destOrd="0" presId="urn:microsoft.com/office/officeart/2005/8/layout/list1"/>
    <dgm:cxn modelId="{7BFF0CB5-9EAE-DC4E-B9D8-B5476B4BE4DD}" type="presParOf" srcId="{243A944B-21F9-4055-B379-A4497BC7DA39}" destId="{664A27C8-5976-F04E-9C8A-AE9E9494C0F3}" srcOrd="17" destOrd="0" presId="urn:microsoft.com/office/officeart/2005/8/layout/list1"/>
    <dgm:cxn modelId="{8D7CEE19-1AC8-BB49-AD66-A3EFBC2AAFEF}" type="presParOf" srcId="{243A944B-21F9-4055-B379-A4497BC7DA39}" destId="{6FEF9971-F5EB-FD41-B782-13271D438DD0}"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FE7D9-272D-7647-96D7-D04373ABF1F7}">
      <dsp:nvSpPr>
        <dsp:cNvPr id="0" name=""/>
        <dsp:cNvSpPr/>
      </dsp:nvSpPr>
      <dsp:spPr>
        <a:xfrm>
          <a:off x="0" y="328124"/>
          <a:ext cx="7425019"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E2E8F2-F89D-094E-8358-49A2BFEC1E96}">
      <dsp:nvSpPr>
        <dsp:cNvPr id="0" name=""/>
        <dsp:cNvSpPr/>
      </dsp:nvSpPr>
      <dsp:spPr>
        <a:xfrm>
          <a:off x="371250" y="91964"/>
          <a:ext cx="519751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0" rIns="196454" bIns="0" numCol="1" spcCol="1270" anchor="ctr" anchorCtr="0">
          <a:noAutofit/>
        </a:bodyPr>
        <a:lstStyle/>
        <a:p>
          <a:pPr marL="0" lvl="0" indent="0" algn="l" defTabSz="711200">
            <a:lnSpc>
              <a:spcPct val="90000"/>
            </a:lnSpc>
            <a:spcBef>
              <a:spcPct val="0"/>
            </a:spcBef>
            <a:spcAft>
              <a:spcPct val="35000"/>
            </a:spcAft>
            <a:buNone/>
          </a:pPr>
          <a:r>
            <a:rPr lang="en" altLang="en-US" sz="1600" kern="1200" dirty="0"/>
            <a:t>Background &amp; Challenges</a:t>
          </a:r>
          <a:endParaRPr lang="zh-CN" altLang="zh-CN" sz="1600" kern="1200" dirty="0"/>
        </a:p>
      </dsp:txBody>
      <dsp:txXfrm>
        <a:off x="394307" y="115021"/>
        <a:ext cx="5151399" cy="426206"/>
      </dsp:txXfrm>
    </dsp:sp>
    <dsp:sp modelId="{B998C34D-6E45-2F4C-9106-27294625DB45}">
      <dsp:nvSpPr>
        <dsp:cNvPr id="0" name=""/>
        <dsp:cNvSpPr/>
      </dsp:nvSpPr>
      <dsp:spPr>
        <a:xfrm>
          <a:off x="0" y="1053884"/>
          <a:ext cx="7425019"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E17E86-00B3-CA49-A603-43030AA7F3B6}">
      <dsp:nvSpPr>
        <dsp:cNvPr id="0" name=""/>
        <dsp:cNvSpPr/>
      </dsp:nvSpPr>
      <dsp:spPr>
        <a:xfrm>
          <a:off x="371250" y="817724"/>
          <a:ext cx="519751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0" rIns="196454" bIns="0" numCol="1" spcCol="1270" anchor="ctr" anchorCtr="0">
          <a:noAutofit/>
        </a:bodyPr>
        <a:lstStyle/>
        <a:p>
          <a:pPr marL="0" lvl="0" indent="0" algn="l" defTabSz="711200">
            <a:lnSpc>
              <a:spcPct val="90000"/>
            </a:lnSpc>
            <a:spcBef>
              <a:spcPct val="0"/>
            </a:spcBef>
            <a:spcAft>
              <a:spcPct val="35000"/>
            </a:spcAft>
            <a:buNone/>
          </a:pPr>
          <a:r>
            <a:rPr lang="en" altLang="zh-CN" sz="1600" kern="1200" dirty="0"/>
            <a:t>Production Inference Architecture</a:t>
          </a:r>
          <a:endParaRPr lang="zh-CN" altLang="en-US" sz="1600" kern="1200" dirty="0"/>
        </a:p>
      </dsp:txBody>
      <dsp:txXfrm>
        <a:off x="394307" y="840781"/>
        <a:ext cx="5151399" cy="426206"/>
      </dsp:txXfrm>
    </dsp:sp>
    <dsp:sp modelId="{36944100-C8B0-B349-9A27-AB5C839C6AC1}">
      <dsp:nvSpPr>
        <dsp:cNvPr id="0" name=""/>
        <dsp:cNvSpPr/>
      </dsp:nvSpPr>
      <dsp:spPr>
        <a:xfrm>
          <a:off x="0" y="1779644"/>
          <a:ext cx="7425019"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80C98E-4A6B-0249-8A34-01C281AE63C6}">
      <dsp:nvSpPr>
        <dsp:cNvPr id="0" name=""/>
        <dsp:cNvSpPr/>
      </dsp:nvSpPr>
      <dsp:spPr>
        <a:xfrm>
          <a:off x="371250" y="1543484"/>
          <a:ext cx="519751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0" rIns="196454" bIns="0" numCol="1" spcCol="1270" anchor="ctr" anchorCtr="0">
          <a:noAutofit/>
        </a:bodyPr>
        <a:lstStyle/>
        <a:p>
          <a:pPr marL="0" lvl="0" indent="0" algn="l" defTabSz="711200">
            <a:lnSpc>
              <a:spcPct val="90000"/>
            </a:lnSpc>
            <a:spcBef>
              <a:spcPct val="0"/>
            </a:spcBef>
            <a:spcAft>
              <a:spcPct val="35000"/>
            </a:spcAft>
            <a:buNone/>
          </a:pPr>
          <a:r>
            <a:rPr lang="en-US" altLang="zh-CN" sz="1600" kern="1200" dirty="0"/>
            <a:t>LLM-D</a:t>
          </a:r>
          <a:r>
            <a:rPr lang="zh-CN" altLang="zh-CN" sz="1600" kern="1200" dirty="0"/>
            <a:t>: Scheduling &amp; Distributed </a:t>
          </a:r>
          <a:r>
            <a:rPr lang="en-US" altLang="zh-CN" sz="1600" kern="1200" dirty="0"/>
            <a:t>Inference</a:t>
          </a:r>
          <a:endParaRPr lang="zh-CN" altLang="zh-CN" sz="1600" kern="1200" dirty="0"/>
        </a:p>
      </dsp:txBody>
      <dsp:txXfrm>
        <a:off x="394307" y="1566541"/>
        <a:ext cx="5151399" cy="426206"/>
      </dsp:txXfrm>
    </dsp:sp>
    <dsp:sp modelId="{2B0058E6-E761-B247-B3B1-69425D91AB91}">
      <dsp:nvSpPr>
        <dsp:cNvPr id="0" name=""/>
        <dsp:cNvSpPr/>
      </dsp:nvSpPr>
      <dsp:spPr>
        <a:xfrm>
          <a:off x="0" y="2505404"/>
          <a:ext cx="7425019"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707616-C99F-AC4A-994A-7D7697DED863}">
      <dsp:nvSpPr>
        <dsp:cNvPr id="0" name=""/>
        <dsp:cNvSpPr/>
      </dsp:nvSpPr>
      <dsp:spPr>
        <a:xfrm>
          <a:off x="371250" y="2269244"/>
          <a:ext cx="519751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0" rIns="196454" bIns="0" numCol="1" spcCol="1270" anchor="ctr" anchorCtr="0">
          <a:noAutofit/>
        </a:bodyPr>
        <a:lstStyle/>
        <a:p>
          <a:pPr marL="0" lvl="0" indent="0" algn="l" defTabSz="711200">
            <a:lnSpc>
              <a:spcPct val="90000"/>
            </a:lnSpc>
            <a:spcBef>
              <a:spcPct val="0"/>
            </a:spcBef>
            <a:spcAft>
              <a:spcPct val="35000"/>
            </a:spcAft>
            <a:buNone/>
          </a:pPr>
          <a:r>
            <a:rPr lang="zh-CN" altLang="zh-CN" sz="1600" kern="1200" dirty="0"/>
            <a:t>KAITO: Workload Lifecycle &amp; GPU Operations</a:t>
          </a:r>
        </a:p>
      </dsp:txBody>
      <dsp:txXfrm>
        <a:off x="394307" y="2292301"/>
        <a:ext cx="5151399" cy="426206"/>
      </dsp:txXfrm>
    </dsp:sp>
    <dsp:sp modelId="{6FEF9971-F5EB-FD41-B782-13271D438DD0}">
      <dsp:nvSpPr>
        <dsp:cNvPr id="0" name=""/>
        <dsp:cNvSpPr/>
      </dsp:nvSpPr>
      <dsp:spPr>
        <a:xfrm>
          <a:off x="0" y="3231164"/>
          <a:ext cx="7425019"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571FA4-B73D-3F43-BB35-BD5A1032BE14}">
      <dsp:nvSpPr>
        <dsp:cNvPr id="0" name=""/>
        <dsp:cNvSpPr/>
      </dsp:nvSpPr>
      <dsp:spPr>
        <a:xfrm>
          <a:off x="371250" y="2995004"/>
          <a:ext cx="5197513"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0" rIns="196454" bIns="0" numCol="1" spcCol="1270" anchor="ctr" anchorCtr="0">
          <a:noAutofit/>
        </a:bodyPr>
        <a:lstStyle/>
        <a:p>
          <a:pPr marL="0" lvl="0" indent="0" algn="l" defTabSz="711200">
            <a:lnSpc>
              <a:spcPct val="90000"/>
            </a:lnSpc>
            <a:spcBef>
              <a:spcPct val="0"/>
            </a:spcBef>
            <a:spcAft>
              <a:spcPct val="35000"/>
            </a:spcAft>
            <a:buNone/>
          </a:pPr>
          <a:r>
            <a:rPr lang="en" altLang="zh-CN" sz="1600" kern="1200" dirty="0"/>
            <a:t>Production Integration</a:t>
          </a:r>
          <a:endParaRPr lang="zh-CN" altLang="zh-CN" sz="1600" kern="1200" dirty="0"/>
        </a:p>
      </dsp:txBody>
      <dsp:txXfrm>
        <a:off x="394307" y="3018061"/>
        <a:ext cx="5151399"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b33112c63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42" name="Google Shape;42;g2b33112c63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大家好，我是来自 DaoCloud 的 Kay。开放模型让我们很容易启动一个 OpenAI-compatible endpoint，但生产服务绝不只是一个 GPU 上的单个进程。它需要协调请求、可复用状态、模型 worker，以及昂贵的 GPU 容量。今天我和 Linbo 会介绍 llm-d 与 KAITO 如何在 Kubernetes 上共同解决这些问题。</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Good afternoon. I am Kay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我主要参与分布式推理和 Kubernetes workload primitives，也是 llm-d 与 LeaderWorkerSet 的 maintainer。Linbo 来自 Microsoft，是 KAITO 和 OpenYurt 的 maintainer。我会先讲请求路径、KV state 和分布式执行；之后 Linbo 会讲 workload 与 GPU 生命周期。</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I work on distributed inference and Kubernetes workload primitives, and I maintain llm-d and LeaderWorkerSet. Linbo is a principal engineer at Microsoft and a maintainer of KAITO and OpenYurt. I will focus on the request path, KV state, and distributed execution. Linbo will then cover workload and GPU lifecycle operations.</a:t>
            </a:r>
          </a:p>
        </p:txBody>
      </p:sp>
    </p:spTree>
    <p:extLst>
      <p:ext uri="{BB962C8B-B14F-4D97-AF65-F5344CB8AC3E}">
        <p14:creationId xmlns:p14="http://schemas.microsoft.com/office/powerpoint/2010/main" val="2089873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我们先从最简单的模型服务开始，看它为什么会在生产环境失效。接着画出完整的推理平台架构。然后重点介绍 llm-d 的四条路径：智能调度、KV cache 管理、Wide Expert Parallelism 和 P/D disaggregation。最后由 Linbo 介绍 KAITO、autoscaling、测试和生产集成。</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We will begin with the simplest model-serving setup and see why it breaks in production. Then we will map the complete inference platform. The main part of my section covers four llm-d paths: intelligent scheduling, KV cache management, Wide Expert Parallelism, and prefill/decode disaggregation. Linbo will then cover KAITO, autoscaling, testing, and production integration.</a:t>
            </a:r>
          </a:p>
          <a:p>
            <a:endParaRPr kumimoji="1" lang="zh-CN" altLang="en-US" dirty="0"/>
          </a:p>
        </p:txBody>
      </p:sp>
    </p:spTree>
    <p:extLst>
      <p:ext uri="{BB962C8B-B14F-4D97-AF65-F5344CB8AC3E}">
        <p14:creationId xmlns:p14="http://schemas.microsoft.com/office/powerpoint/2010/main" val="3655834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先看背景：今天的门槛已经从“能否获得模型”转变成“能否稳定运营模型”。</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Let us start with the background. The barrier has moved from accessing a model to operating it reliably.</a:t>
            </a:r>
          </a:p>
          <a:p>
            <a:br>
              <a:rPr lang="zh-CN" altLang="zh-CN" dirty="0"/>
            </a:br>
            <a:endParaRPr kumimoji="1" lang="zh-CN" altLang="en-US" dirty="0"/>
          </a:p>
        </p:txBody>
      </p:sp>
    </p:spTree>
    <p:extLst>
      <p:ext uri="{BB962C8B-B14F-4D97-AF65-F5344CB8AC3E}">
        <p14:creationId xmlns:p14="http://schemas.microsoft.com/office/powerpoint/2010/main" val="992485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过去一年，开放模型快速追赶闭源模型，模型权重不再是唯一门槛。现在启动一个模型已经很容易，真正困难的是持续交付稳定、可预测而且经济的 token capacity。换句话说，running a model is easy；operating an inference system is hard。</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Over the last year, open models have rapidly closed the gap with closed models. Access to model weights is no longer the only barrier. Starting a model is now easy; continuously delivering stable, predictable, and economical token capacity is the hard part. Running a model is easy. Operating an inference system is hard.</a:t>
            </a:r>
          </a:p>
          <a:p>
            <a:endParaRPr kumimoji="1" lang="zh-CN" altLang="en-US" dirty="0"/>
          </a:p>
        </p:txBody>
      </p:sp>
    </p:spTree>
    <p:extLst>
      <p:ext uri="{BB962C8B-B14F-4D97-AF65-F5344CB8AC3E}">
        <p14:creationId xmlns:p14="http://schemas.microsoft.com/office/powerpoint/2010/main" val="3693658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最简单的起点是一条命令：下载模型，用 vLLM 或 SGLang 启动服务，再通过 OpenAI-compatible API 调用。这个方式非常适合开发和验证，它证明模型可以运行。但这里没有高可用、弹性扩缩、状态感知路由，也没有生产级资源管理。这条命令是 demo baseline，不是 production baseline。</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simplest starting point is one command: download an open model, serve it with vLLM or SGLang, and call it through an OpenAI-compatible API. This is excellent for development and validation because it proves that the model runs. But it provides no high availability, elastic scaling, state-aware routing, or production-grade resource management. This command is a demo baseline, not a production baseline.</a:t>
            </a:r>
          </a:p>
          <a:p>
            <a:r>
              <a:rPr lang="zh-CN" altLang="zh-CN" sz="1100" b="0" i="0" u="none" strike="noStrike" cap="none" dirty="0">
                <a:solidFill>
                  <a:srgbClr val="000000"/>
                </a:solidFill>
                <a:effectLst/>
                <a:latin typeface="Arial"/>
                <a:ea typeface="Arial"/>
                <a:cs typeface="Arial"/>
                <a:sym typeface="Arial"/>
              </a:rPr>
              <a:t>&gt; 口径提醒：不要逐行解释命令，也不要把 `--privileged` 或 `:latest` 描述成推荐的生产配置。</a:t>
            </a:r>
          </a:p>
          <a:p>
            <a:br>
              <a:rPr lang="zh-CN" altLang="zh-CN" dirty="0"/>
            </a:br>
            <a:endParaRPr kumimoji="1" lang="zh-CN" altLang="en-US" dirty="0"/>
          </a:p>
        </p:txBody>
      </p:sp>
    </p:spTree>
    <p:extLst>
      <p:ext uri="{BB962C8B-B14F-4D97-AF65-F5344CB8AC3E}">
        <p14:creationId xmlns:p14="http://schemas.microsoft.com/office/powerpoint/2010/main" val="427154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FDB6D-B020-6733-C8EE-BC77ED525F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6782F0-C66B-3A5C-5552-195E453174FB}"/>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5AD91D29-6046-CCC1-FC50-2A019A919E7B}"/>
              </a:ext>
            </a:extLst>
          </p:cNvPr>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理解后面的优化，只需要先记住三个概念。Prefill 一次处理整段 prompt，通常偏 compute-bound。Decode 一次只生成一个新 token，需要反复读取 KV cache，通常偏 memory-bandwidth-bound。KV cache 则保存 attention 的中间状态。后面所有分布式设计，基本都围绕计算、带宽和状态这三个约束展开。</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To understand the rest of the talk, remember three concepts. Prefill processes the prompt in parallel and is usually compute-bound. Decode generates one new token at a time and repeatedly reads the KV cache, so it is usually memory-bandwidth-bound. The KV cache stores the intermediate attention state. Most distributed-inference designs are responses to these three constraints: compute, bandwidth, and state.</a:t>
            </a:r>
          </a:p>
          <a:p>
            <a:br>
              <a:rPr lang="zh-CN" altLang="zh-CN" dirty="0"/>
            </a:br>
            <a:endParaRPr kumimoji="1" lang="zh-CN" altLang="en-US" dirty="0"/>
          </a:p>
        </p:txBody>
      </p:sp>
    </p:spTree>
    <p:extLst>
      <p:ext uri="{BB962C8B-B14F-4D97-AF65-F5344CB8AC3E}">
        <p14:creationId xmlns:p14="http://schemas.microsoft.com/office/powerpoint/2010/main" val="1863919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生产 workload 不会固定。流量会按小时变化，模型版本会持续变化，请求也可能是短问答、长上下文、RAG、agent、coding 或 batch。每类 workload 对 compute、HBM、KV cache 和 network 的压力都不同。因此不存在一个永远最优的静态配置；系统必须持续 observe、predict 和 adapt。底部的数字是示意目标，不是这次演讲的 benchmark 结果。</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Production workloads do not stay still. Traffic changes by hour, model versions keep evolving, and requests may be short Q&amp;A, long context, RAG, agents, coding, or batch jobs. Each workload stresses compute, HBM, KV cache, and networking differently. There is no single static configuration that remains optimal. The system must continuously observe, predict, and adapt. The numbers at the bottom are illustrative targets, not benchmark results from this talk.</a:t>
            </a:r>
          </a:p>
          <a:p>
            <a:br>
              <a:rPr lang="zh-CN" altLang="zh-CN" dirty="0"/>
            </a:b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一个模型能返回答案，只说明它能运行。一个可持续的生产系统还要同时满足五件事：性能与容量、成本与 SLO、workload lifecycle 与 elasticity、验证与运维准备，以及 metering 与 governance。任何优化都必须最终改善一个生产结果，例如提高 useful token capacity、降低 cost per token、提高 utilization，或者降低 SLO risk。</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A model returning an answer only proves that it runs. A sustainable production system must satisfy five capabilities at the same time: performance and capacity, cost and SLOs, workload lifecycle and elasticity, validation and operational readiness, and metering and governance. Every optimization must ultimately improve a production outcome, such as useful token capacity, cost per token, utilization, or SLO risk.</a:t>
            </a:r>
          </a:p>
          <a:p>
            <a:br>
              <a:rPr lang="zh-CN" altLang="zh-CN" dirty="0"/>
            </a:b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这些目标需要一套完整的平台架构，而不是再加一个更大的 model server。</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Meeting these goals requires a complete platform architecture, not simply a larger model server.</a:t>
            </a:r>
          </a:p>
          <a:p>
            <a:br>
              <a:rPr lang="zh-CN" altLang="zh-CN" dirty="0"/>
            </a:br>
            <a:endParaRPr kumimoji="1" lang="zh-CN" altLang="en-US" dirty="0"/>
          </a:p>
        </p:txBody>
      </p:sp>
    </p:spTree>
    <p:extLst>
      <p:ext uri="{BB962C8B-B14F-4D97-AF65-F5344CB8AC3E}">
        <p14:creationId xmlns:p14="http://schemas.microsoft.com/office/powerpoint/2010/main" val="417739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推理生态已经覆盖 gateway、runtime、scheduler、orchestration 和 kernel 等多层。重点不是选择一个项目替代所有其他项目，而是建立稳定接口，让不同层可以组合。组件越多，跨层状态和决策的一致性就越重要。</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inference ecosystem now spans gateways, runtimes, schedulers, orchestration, and kernel-level capabilities. The goal is not to choose one project that replaces everything else. The goal is to establish stable interfaces so the layers can compose. As the ecosystem grows, consistent state and decisions across layers become more important.</a:t>
            </a:r>
          </a:p>
          <a:p>
            <a:br>
              <a:rPr lang="zh-CN" altLang="zh-CN" dirty="0"/>
            </a:br>
            <a:endParaRPr kumimoji="1" lang="zh-CN" altLang="en-US" dirty="0"/>
          </a:p>
        </p:txBody>
      </p:sp>
    </p:spTree>
    <p:extLst>
      <p:ext uri="{BB962C8B-B14F-4D97-AF65-F5344CB8AC3E}">
        <p14:creationId xmlns:p14="http://schemas.microsoft.com/office/powerpoint/2010/main" val="340115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接下来进入 llm-d：它负责让调度理解推理状态，并让执行跨越多个 worker。</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Now let us move into llm-d, which makes scheduling aware of inference state and coordinates execution across workers.</a:t>
            </a:r>
          </a:p>
          <a:p>
            <a:br>
              <a:rPr lang="zh-CN" altLang="zh-CN" dirty="0"/>
            </a:br>
            <a:endParaRPr kumimoji="1" lang="zh-CN" altLang="en-US" dirty="0"/>
          </a:p>
        </p:txBody>
      </p:sp>
    </p:spTree>
    <p:extLst>
      <p:ext uri="{BB962C8B-B14F-4D97-AF65-F5344CB8AC3E}">
        <p14:creationId xmlns:p14="http://schemas.microsoft.com/office/powerpoint/2010/main" val="94127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llm-d 是 Kubernetes-native 的高性能分布式推理框架。它不是替换 vLLM、gateway 或 storage，而是组合这些组件。它强调三个价值：可运营的模块化架构、跨平台的可扩展实现，以及 well-lit paths。Well-lit path 的意义，是把经过验证的部署模式和 trade-off 直接交给平台团队。</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llm-d is a Kubernetes-native framework for high-performance distributed inference. It does not replace vLLM, gateways, or storage systems; it composes them. Its value is organized around three ideas: an operable modular architecture, extensible cross-platform implementations, and well-lit paths. A well-lit path gives platform teams a validated deployment pattern together with the trade-offs behind it.</a:t>
            </a:r>
          </a:p>
          <a:p>
            <a:br>
              <a:rPr lang="zh-CN" altLang="zh-CN" dirty="0"/>
            </a:br>
            <a:endParaRPr kumimoji="1" lang="zh-CN" altLang="en-US" dirty="0"/>
          </a:p>
        </p:txBody>
      </p:sp>
    </p:spTree>
    <p:extLst>
      <p:ext uri="{BB962C8B-B14F-4D97-AF65-F5344CB8AC3E}">
        <p14:creationId xmlns:p14="http://schemas.microsoft.com/office/powerpoint/2010/main" val="1651347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llm-d 社区正在建立一个跨厂商的分布式推理公共栈，并把关键能力从实验推进到可复现路径。这里包括 MoE serving、P/D disaggregation、state-aware scheduling 和 predictive autoscaling。后面不会逐条重复这些结果，而是挑四个架构模式，看它们各自解决什么瓶颈。</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llm-d community is building a cross-vendor common stack for distributed inference and turning important techniques into reproducible paths. These include MoE serving, prefill/decode disaggregation, state-aware scheduling, and predictive autoscaling. Rather than reading every result on this slide, I will focus on four architectural patterns and the bottleneck each one addresses.</a:t>
            </a:r>
          </a:p>
          <a:p>
            <a:br>
              <a:rPr lang="zh-CN" altLang="zh-CN" dirty="0"/>
            </a:br>
            <a:endParaRPr kumimoji="1" lang="zh-CN" altLang="en-US" dirty="0"/>
          </a:p>
        </p:txBody>
      </p:sp>
    </p:spTree>
    <p:extLst>
      <p:ext uri="{BB962C8B-B14F-4D97-AF65-F5344CB8AC3E}">
        <p14:creationId xmlns:p14="http://schemas.microsoft.com/office/powerpoint/2010/main" val="3281151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今天选择四条 well-lit paths。第一，智能调度决定请求去哪里。第二，KV cache management 决定可复用状态放在哪里。第三，Wide EP 解决 MoE 的分布式执行。第四，P/D disaggregation 让 prefill 和 decode 使用不同资源配置。</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Today we will follow four well-lit paths. Intelligent scheduling decides where a request should run. KV cache management decides where reusable state should live. Wide Expert Parallelism addresses distributed execution for MoE models. Prefill/decode disaggregation allows the two phases to use different resource configurations.</a:t>
            </a:r>
          </a:p>
          <a:p>
            <a:br>
              <a:rPr lang="zh-CN" altLang="zh-CN" dirty="0"/>
            </a:br>
            <a:endParaRPr kumimoji="1" lang="zh-CN" altLang="en-US" dirty="0"/>
          </a:p>
        </p:txBody>
      </p:sp>
    </p:spTree>
    <p:extLst>
      <p:ext uri="{BB962C8B-B14F-4D97-AF65-F5344CB8AC3E}">
        <p14:creationId xmlns:p14="http://schemas.microsoft.com/office/powerpoint/2010/main" val="1900760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3"/>
        <p:cNvGrpSpPr/>
        <p:nvPr/>
      </p:nvGrpSpPr>
      <p:grpSpPr>
        <a:xfrm>
          <a:off x="0" y="0"/>
          <a:ext cx="0" cy="0"/>
          <a:chOff x="0" y="0"/>
          <a:chExt cx="0" cy="0"/>
        </a:xfrm>
      </p:grpSpPr>
      <p:sp>
        <p:nvSpPr>
          <p:cNvPr id="2684" name="Google Shape;2684;g3cf60bc921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685" name="Google Shape;2685;g3cf60bc9215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KV cache 不只是性能细节，也是经济资源。一次 cache hit 可以避免重新执行昂贵的 prefill，因此同时影响 TTFT、GPU 使用率和成本。商业 API 对 cached input 的折扣也说明了同一个逻辑。这里的价格只是评审日的具体示例，会随模型和时间变化；真正要关注的是 cache hit rate 对系统经济性的影响。</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KV cache is not only a performance detail; it is an economic resource. A cache hit avoids expensive prefill work, so it affects TTFT, GPU utilization, and cost at the same time. Commercial API discounts for cached input reflect the same principle. The prices shown here are time- and model-specific examples. The durable point is that cache hit rate directly affects system economics.</a:t>
            </a:r>
          </a:p>
          <a:p>
            <a:br>
              <a:rPr lang="zh-CN" altLang="zh-CN" dirty="0"/>
            </a:br>
            <a:endParaRPr dirty="0"/>
          </a:p>
        </p:txBody>
      </p:sp>
    </p:spTree>
    <p:extLst>
      <p:ext uri="{BB962C8B-B14F-4D97-AF65-F5344CB8AC3E}">
        <p14:creationId xmlns:p14="http://schemas.microsoft.com/office/powerpoint/2010/main" val="2953059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看一个两轮对话。第一轮需要完整 prefill，并把 attention state 写入 KV cache。第二轮的大部分 system prompt 和历史对话都没有变化，因此只需要处理新增 token。KV cache 保存的是 attention state，不是上一轮的最终答案。共享 prefix 越长，避免的重复计算越多。</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Consider a two-turn conversation. The first turn requires a full prefill and stores the attention state in the KV cache. In the next turn, most of the system prompt and conversation history is unchanged, so only the new tokens need prefill work. The KV cache stores attention state, not the previous final answer. The longer the shared prefix, the more recomputation we avoid.</a:t>
            </a:r>
          </a:p>
          <a:p>
            <a:br>
              <a:rPr lang="zh-CN" altLang="zh-CN" dirty="0"/>
            </a:b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4"/>
        <p:cNvGrpSpPr/>
        <p:nvPr/>
      </p:nvGrpSpPr>
      <p:grpSpPr>
        <a:xfrm>
          <a:off x="0" y="0"/>
          <a:ext cx="0" cy="0"/>
          <a:chOff x="0" y="0"/>
          <a:chExt cx="0" cy="0"/>
        </a:xfrm>
      </p:grpSpPr>
      <p:sp>
        <p:nvSpPr>
          <p:cNvPr id="2855" name="Google Shape;2855;g3cf60bc9215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856" name="Google Shape;2856;g3cf60bc9215_0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单实例里，KV cache 是统一的。扩展到多个 vLLM replica 后，cache 被分散在不同 pod。传统 round-robin 只关心流量是否均匀，不知道 prefix 在哪里。于是请求可能被送到没有对应 KV 的 pod，触发一次完整 re-prefill。对普通 HTTP 服务合理的均衡策略，在 stateful inference 中可能非常低效。</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On one instance, the KV cache is unified. After scaling to multiple vLLM replicas, the cache becomes distributed across pods. Traditional round-robin only balances traffic; it does not know where a prefix is cached. A request may therefore land on a pod without the required KV state and trigger a full re-prefill. A reasonable strategy for stateless HTTP services can be very inefficient for stateful inference.</a:t>
            </a:r>
          </a:p>
          <a:p>
            <a:br>
              <a:rPr lang="zh-CN" altLang="zh-CN" dirty="0"/>
            </a:br>
            <a:endParaRPr dirty="0"/>
          </a:p>
        </p:txBody>
      </p:sp>
    </p:spTree>
    <p:extLst>
      <p:ext uri="{BB962C8B-B14F-4D97-AF65-F5344CB8AC3E}">
        <p14:creationId xmlns:p14="http://schemas.microsoft.com/office/powerpoint/2010/main" val="3426095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5"/>
        <p:cNvGrpSpPr/>
        <p:nvPr/>
      </p:nvGrpSpPr>
      <p:grpSpPr>
        <a:xfrm>
          <a:off x="0" y="0"/>
          <a:ext cx="0" cy="0"/>
          <a:chOff x="0" y="0"/>
          <a:chExt cx="0" cy="0"/>
        </a:xfrm>
      </p:grpSpPr>
      <p:sp>
        <p:nvSpPr>
          <p:cNvPr id="2796" name="Google Shape;2796;g3cf60bc9215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797" name="Google Shape;2797;g3cf60bc9215_0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15206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0"/>
        <p:cNvGrpSpPr/>
        <p:nvPr/>
      </p:nvGrpSpPr>
      <p:grpSpPr>
        <a:xfrm>
          <a:off x="0" y="0"/>
          <a:ext cx="0" cy="0"/>
          <a:chOff x="0" y="0"/>
          <a:chExt cx="0" cy="0"/>
        </a:xfrm>
      </p:grpSpPr>
      <p:sp>
        <p:nvSpPr>
          <p:cNvPr id="2721" name="Google Shape;2721;g3cf60bc9215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722" name="Google Shape;2722;g3cf60bc9215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highlight>
                  <a:srgbClr val="FFFFFF"/>
                </a:highlight>
                <a:latin typeface="Arial"/>
                <a:ea typeface="Arial"/>
                <a:cs typeface="Arial"/>
                <a:sym typeface="Arial"/>
              </a:rPr>
            </a:br>
            <a:r>
              <a:rPr lang="zh-CN" altLang="zh-CN" sz="1100" b="0" i="0" u="none" strike="noStrike" cap="none" dirty="0">
                <a:solidFill>
                  <a:srgbClr val="000000"/>
                </a:solidFill>
                <a:effectLst/>
                <a:highlight>
                  <a:srgbClr val="FFFFFF"/>
                </a:highlight>
                <a:latin typeface="Arial"/>
                <a:ea typeface="Arial"/>
                <a:cs typeface="Arial"/>
                <a:sym typeface="Arial"/>
              </a:rPr>
              <a:t>**中文**</a:t>
            </a:r>
          </a:p>
          <a:p>
            <a:r>
              <a:rPr lang="zh-CN" altLang="zh-CN" sz="1100" b="0" i="0" u="none" strike="noStrike" cap="none" dirty="0">
                <a:solidFill>
                  <a:srgbClr val="000000"/>
                </a:solidFill>
                <a:effectLst/>
                <a:highlight>
                  <a:srgbClr val="FFFFFF"/>
                </a:highlight>
                <a:latin typeface="Arial"/>
                <a:ea typeface="Arial"/>
                <a:cs typeface="Arial"/>
                <a:sym typeface="Arial"/>
              </a:rPr>
              <a:t>Agent workflow 是 prefix reuse 最明显的场景之一。Agent goals、tool definitions、plan 和历史 observations 会在每一步重复，新内容通常只是最新 action 或 observation。如果下一步落到持有相同 prefix 的 pod，就能把大部分上下文直接复用。</a:t>
            </a:r>
          </a:p>
          <a:p>
            <a:r>
              <a:rPr lang="zh-CN" altLang="zh-CN" sz="1100" b="0" i="0" u="none" strike="noStrike" cap="none" dirty="0">
                <a:solidFill>
                  <a:srgbClr val="000000"/>
                </a:solidFill>
                <a:effectLst/>
                <a:highlight>
                  <a:srgbClr val="FFFFFF"/>
                </a:highlight>
                <a:latin typeface="Arial"/>
                <a:ea typeface="Arial"/>
                <a:cs typeface="Arial"/>
                <a:sym typeface="Arial"/>
              </a:rPr>
              <a:t>**English**</a:t>
            </a:r>
          </a:p>
          <a:p>
            <a:r>
              <a:rPr lang="zh-CN" altLang="zh-CN" sz="1100" b="0" i="0" u="none" strike="noStrike" cap="none" dirty="0">
                <a:solidFill>
                  <a:srgbClr val="000000"/>
                </a:solidFill>
                <a:effectLst/>
                <a:highlight>
                  <a:srgbClr val="FFFFFF"/>
                </a:highlight>
                <a:latin typeface="Arial"/>
                <a:ea typeface="Arial"/>
                <a:cs typeface="Arial"/>
                <a:sym typeface="Arial"/>
              </a:rPr>
              <a:t>Agent workflows are one of the clearest examples of prefix reuse. Agent goals, tool definitions, plans, and previous observations repeat at every step. The new content is often only the latest action or observation. If the next step reaches a pod that already owns the prefix, most of the context can be reused.</a:t>
            </a:r>
          </a:p>
          <a:p>
            <a:br>
              <a:rPr lang="zh-CN" altLang="zh-CN" dirty="0">
                <a:highlight>
                  <a:srgbClr val="FFFFFF"/>
                </a:highlight>
              </a:rPr>
            </a:br>
            <a:endParaRPr sz="1100" dirty="0">
              <a:solidFill>
                <a:srgbClr val="1C1E21"/>
              </a:solidFill>
              <a:latin typeface="Red Hat Display"/>
              <a:ea typeface="Red Hat Display"/>
              <a:cs typeface="Red Hat Display"/>
              <a:sym typeface="Red Hat Display"/>
            </a:endParaRPr>
          </a:p>
        </p:txBody>
      </p:sp>
    </p:spTree>
    <p:extLst>
      <p:ext uri="{BB962C8B-B14F-4D97-AF65-F5344CB8AC3E}">
        <p14:creationId xmlns:p14="http://schemas.microsoft.com/office/powerpoint/2010/main" val="4140272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5"/>
        <p:cNvGrpSpPr/>
        <p:nvPr/>
      </p:nvGrpSpPr>
      <p:grpSpPr>
        <a:xfrm>
          <a:off x="0" y="0"/>
          <a:ext cx="0" cy="0"/>
          <a:chOff x="0" y="0"/>
          <a:chExt cx="0" cy="0"/>
        </a:xfrm>
      </p:grpSpPr>
      <p:sp>
        <p:nvSpPr>
          <p:cNvPr id="3736" name="Google Shape;3736;g3e5338da07b_0_2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737" name="Google Shape;3737;g3e5338da07b_0_2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这组实验使用 8 个 vLLM pods、总计 16 张 H100，workload 的 KV demand 是集群容量的 73%。即使总容量足够，错误的 placement 仍然会造成 cache thrashing 和 prefill queue。KV-aware routing 保持更高的 cache locality，因此在相同硬件上获得约两倍于 cache-blind load-aware baseline 的输出吞吐。</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This experiment uses eight vLLM pods and sixteen H100 GPUs in total. The workload generates KV demand equal to 73 percent of cluster capacity. Even when total capacity is sufficient, poor placement can still cause cache thrashing and a growing prefill queue. KV-aware routing preserves locality and achieves roughly twice the output throughput of the cache-blind load-aware baseline on the same hardware.</a:t>
            </a:r>
          </a:p>
          <a:p>
            <a:br>
              <a:rPr lang="zh-CN" altLang="zh-CN" dirty="0"/>
            </a:br>
            <a:endParaRPr dirty="0"/>
          </a:p>
        </p:txBody>
      </p:sp>
    </p:spTree>
    <p:extLst>
      <p:ext uri="{BB962C8B-B14F-4D97-AF65-F5344CB8AC3E}">
        <p14:creationId xmlns:p14="http://schemas.microsoft.com/office/powerpoint/2010/main" val="2938332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2"/>
        <p:cNvGrpSpPr/>
        <p:nvPr/>
      </p:nvGrpSpPr>
      <p:grpSpPr>
        <a:xfrm>
          <a:off x="0" y="0"/>
          <a:ext cx="0" cy="0"/>
          <a:chOff x="0" y="0"/>
          <a:chExt cx="0" cy="0"/>
        </a:xfrm>
      </p:grpSpPr>
      <p:sp>
        <p:nvSpPr>
          <p:cNvPr id="4153" name="Google Shape;4153;g3ed0b315275_0_87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4" name="Google Shape;4154;g3ed0b315275_0_87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HBM 最快，但容量最小，所以 KV cache 需要分层。热数据保留在 GPU；更大的 warm working set 可以放入 CPU RAM；需要跨副本共享或长期保留的 KV 可以进入本地或共享 storage。llm-d filesystem backend 使用 mounted POSIX filesystem，因此可以接入 NVMe、CephFS 或 IBM Storage Scale。页面上的时间只是 retention 示例，不是固定 TTL。</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HBM is the fastest tier, but also the smallest, so KV cache needs a hierarchy. Hot state remains on the GPU. A larger warm working set can spill into CPU RAM. KV that needs cross-replica reuse or longer retention can move to local or shared storage. The llm-d filesystem backend uses mounted POSIX filesystems, including NVMe, CephFS, and IBM Storage Scale. The times shown are illustrative retention examples, not fixed TTLs.</a:t>
            </a:r>
          </a:p>
          <a:p>
            <a:br>
              <a:rPr lang="zh-CN" altLang="zh-CN" dirty="0"/>
            </a:br>
            <a:endParaRPr dirty="0"/>
          </a:p>
        </p:txBody>
      </p:sp>
      <p:sp>
        <p:nvSpPr>
          <p:cNvPr id="4155" name="Google Shape;4155;g3ed0b315275_0_87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6"/>
        <p:cNvGrpSpPr/>
        <p:nvPr/>
      </p:nvGrpSpPr>
      <p:grpSpPr>
        <a:xfrm>
          <a:off x="0" y="0"/>
          <a:ext cx="0" cy="0"/>
          <a:chOff x="0" y="0"/>
          <a:chExt cx="0" cy="0"/>
        </a:xfrm>
      </p:grpSpPr>
      <p:sp>
        <p:nvSpPr>
          <p:cNvPr id="2947" name="Google Shape;2947;g3cf60bc9215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948" name="Google Shape;2948;g3cf60bc9215_0_2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统一入口是 vLLM V1 KV Connector API。Offloading connector 把上层接口转换为可插拔 backend，让同一套 runtime 可以连接 CPU 或 storage。这样 KV state 的生命周期不再受 GPU memory 限制，同时上层 routing 和 serving 逻辑不需要理解每种存储实现。</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common entry point is the vLLM V1 KV Connector API. The offloading connector maps that API to pluggable backends for CPU or storage. This allows KV state to outlive GPU memory pressure without forcing the routing and serving layers to understand every storage implementation.</a:t>
            </a:r>
          </a:p>
          <a:p>
            <a:br>
              <a:rPr lang="zh-CN" altLang="zh-CN" dirty="0"/>
            </a:br>
            <a:endParaRPr dirty="0"/>
          </a:p>
        </p:txBody>
      </p:sp>
    </p:spTree>
    <p:extLst>
      <p:ext uri="{BB962C8B-B14F-4D97-AF65-F5344CB8AC3E}">
        <p14:creationId xmlns:p14="http://schemas.microsoft.com/office/powerpoint/2010/main" val="1880998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9"/>
        <p:cNvGrpSpPr/>
        <p:nvPr/>
      </p:nvGrpSpPr>
      <p:grpSpPr>
        <a:xfrm>
          <a:off x="0" y="0"/>
          <a:ext cx="0" cy="0"/>
          <a:chOff x="0" y="0"/>
          <a:chExt cx="0" cy="0"/>
        </a:xfrm>
      </p:grpSpPr>
      <p:sp>
        <p:nvSpPr>
          <p:cNvPr id="2960" name="Google Shape;2960;g3cf60bc9215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961" name="Google Shape;2961;g3cf60bc9215_0_2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在 CPU backend 中，KV blocks 通过 DMA 异步复制到 pinned host memory。CPU RAM 仍然是 node-local，但容量通常远大于 HBM。当历史请求恢复时，系统可以 just in time 地把 KV block 传回 GPU，而不是重新计算整个 prefix。</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With the CPU backend, KV blocks are copied asynchronously into pinned host memory using DMA. CPU RAM remains node-local, but it is usually much larger than HBM. When a previous request resumes, the system can stream the KV blocks back to the GPU just in time instead of recomputing the entire prefix.</a:t>
            </a:r>
          </a:p>
          <a:p>
            <a:br>
              <a:rPr lang="zh-CN" altLang="zh-CN" dirty="0"/>
            </a:br>
            <a:endParaRPr dirty="0"/>
          </a:p>
        </p:txBody>
      </p:sp>
    </p:spTree>
    <p:extLst>
      <p:ext uri="{BB962C8B-B14F-4D97-AF65-F5344CB8AC3E}">
        <p14:creationId xmlns:p14="http://schemas.microsoft.com/office/powerpoint/2010/main" val="1985016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2"/>
        <p:cNvGrpSpPr/>
        <p:nvPr/>
      </p:nvGrpSpPr>
      <p:grpSpPr>
        <a:xfrm>
          <a:off x="0" y="0"/>
          <a:ext cx="0" cy="0"/>
          <a:chOff x="0" y="0"/>
          <a:chExt cx="0" cy="0"/>
        </a:xfrm>
      </p:grpSpPr>
      <p:sp>
        <p:nvSpPr>
          <p:cNvPr id="2973" name="Google Shape;2973;g3cf60bc9215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974" name="Google Shape;2974;g3cf60bc9215_0_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Storage backend 使用相同 connector，把 KV blocks 写入共享文件系统。它比 GPU 或 CPU memory 慢，但容量可以跨节点扩展，而且多个 replica 可以复用同一份 KV state。这里的目标不是让 storage 取代快层，而是在 working set 超出本地 memory 后保持复用和稳定性。</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storage backend uses the same connector to write KV blocks into a shared filesystem. Storage is slower than GPU or CPU memory, but its capacity scales across nodes and multiple replicas can reuse the same KV state. The goal is not to replace the fast tiers. The goal is to preserve reuse and stability after the working set exceeds local memory.</a:t>
            </a:r>
          </a:p>
          <a:p>
            <a:br>
              <a:rPr lang="zh-CN" altLang="zh-CN" dirty="0"/>
            </a:br>
            <a:endParaRPr dirty="0"/>
          </a:p>
        </p:txBody>
      </p:sp>
    </p:spTree>
    <p:extLst>
      <p:ext uri="{BB962C8B-B14F-4D97-AF65-F5344CB8AC3E}">
        <p14:creationId xmlns:p14="http://schemas.microsoft.com/office/powerpoint/2010/main" val="3861478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7"/>
        <p:cNvGrpSpPr/>
        <p:nvPr/>
      </p:nvGrpSpPr>
      <p:grpSpPr>
        <a:xfrm>
          <a:off x="0" y="0"/>
          <a:ext cx="0" cy="0"/>
          <a:chOff x="0" y="0"/>
          <a:chExt cx="0" cy="0"/>
        </a:xfrm>
      </p:grpSpPr>
      <p:sp>
        <p:nvSpPr>
          <p:cNvPr id="2988" name="Google Shape;2988;g3cf60bc9215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2989" name="Google Shape;2989;g3cf60bc9215_0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这两张图展示的是 capacity cliff。HBM 在 cache 能装下时最快，但容量耗尽后性能会突然下降。CPU offload 把这个拐点向后推；shared storage 则在更大 working set 下维持吞吐。真实 workload 同时包含 KV load、prefill 和 decode，因此 storage 的核心价值是扩大 cache hit 范围，并让异步 I/O 与 GPU compute 重叠。</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These charts show the capacity cliff. HBM is fastest while the cache fits, but performance drops sharply when capacity is exhausted. CPU offload pushes that cliff further out. Shared storage sustains throughput across a much larger working set. Real workloads mix KV loading, prefill, and decode, so the main value of storage is extending the cache-hit range while overlapping asynchronous I/O with GPU compute.</a:t>
            </a:r>
          </a:p>
          <a:p>
            <a:br>
              <a:rPr lang="zh-CN" altLang="zh-CN" dirty="0"/>
            </a:br>
            <a:endParaRPr dirty="0"/>
          </a:p>
        </p:txBody>
      </p:sp>
    </p:spTree>
    <p:extLst>
      <p:ext uri="{BB962C8B-B14F-4D97-AF65-F5344CB8AC3E}">
        <p14:creationId xmlns:p14="http://schemas.microsoft.com/office/powerpoint/2010/main" val="3995979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g3cef51ea3d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2453" name="Google Shape;2453;g3cef51ea3d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接下来是 Mixture of Experts。MoE 每个 token 只激活部分 experts，因此可以用较低 active parameter cost 扩大模型。但 token 会被路由到分布在不同 GPU 上的 experts，形成高频 all-to-all communication。模型从单机问题变成了 topology 与 network 问题。</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Next is Mixture of Experts. An MoE model activates only a subset of experts for each token, allowing the model to grow without activating every parameter. But tokens must be routed to experts distributed across GPUs, creating frequent all-to-all communication. The model is no longer only a single-server problem; it becomes a topology and networking problem.</a:t>
            </a:r>
          </a:p>
          <a:p>
            <a:br>
              <a:rPr lang="zh-CN" altLang="zh-CN" dirty="0"/>
            </a:br>
            <a:endParaRPr dirty="0"/>
          </a:p>
        </p:txBody>
      </p:sp>
    </p:spTree>
    <p:extLst>
      <p:ext uri="{BB962C8B-B14F-4D97-AF65-F5344CB8AC3E}">
        <p14:creationId xmlns:p14="http://schemas.microsoft.com/office/powerpoint/2010/main" val="10082971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6"/>
        <p:cNvGrpSpPr/>
        <p:nvPr/>
      </p:nvGrpSpPr>
      <p:grpSpPr>
        <a:xfrm>
          <a:off x="0" y="0"/>
          <a:ext cx="0" cy="0"/>
          <a:chOff x="0" y="0"/>
          <a:chExt cx="0" cy="0"/>
        </a:xfrm>
      </p:grpSpPr>
      <p:sp>
        <p:nvSpPr>
          <p:cNvPr id="2407" name="Google Shape;2407;g3cef51ea3d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2408" name="Google Shape;2408;g3cef51ea3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Wide Expert Parallelism 把 experts 展开到更多 worker，并通过 data parallel replicas 提供 serving capacity。这里的重点是组合：EPP 负责请求 placement，LeaderWorkerSet 表达多 worker topology，runtime 执行 expert parallelism。llm-d 把这些能力接入同一个 Kubernetes-native serving system。</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Wide Expert Parallelism spreads experts across more workers and uses data-parallel replicas to provide serving capacity. The important idea is composition. The EPP handles request placement, LeaderWorkerSet expresses the multi-worker topology, and the runtime executes expert parallelism. llm-d connects these capabilities into one Kubernetes-native serving system.</a:t>
            </a:r>
          </a:p>
          <a:p>
            <a:br>
              <a:rPr lang="zh-CN" altLang="zh-CN" dirty="0"/>
            </a:br>
            <a:endParaRPr dirty="0"/>
          </a:p>
        </p:txBody>
      </p:sp>
    </p:spTree>
    <p:extLst>
      <p:ext uri="{BB962C8B-B14F-4D97-AF65-F5344CB8AC3E}">
        <p14:creationId xmlns:p14="http://schemas.microsoft.com/office/powerpoint/2010/main" val="40219580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0"/>
        <p:cNvGrpSpPr/>
        <p:nvPr/>
      </p:nvGrpSpPr>
      <p:grpSpPr>
        <a:xfrm>
          <a:off x="0" y="0"/>
          <a:ext cx="0" cy="0"/>
          <a:chOff x="0" y="0"/>
          <a:chExt cx="0" cy="0"/>
        </a:xfrm>
      </p:grpSpPr>
      <p:sp>
        <p:nvSpPr>
          <p:cNvPr id="2521" name="Google Shape;2521;g3cef51ea3db_0_2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2522" name="Google Shape;2522;g3cef51ea3db_0_2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EP 并不是越宽越快。更宽的 EP 可以减少每个 GPU 上的 model weight footprint，给 KV cache 留出更多空间，也支持更多并发。但它会增加通信，而且 GPU 需要足够高的并发才能被充分利用。这里 EP72 相对 EP32 的收益很小，说明应该根据 concurrency、KV capacity 和 network cost 一起选择宽度。</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Wider EP is not automatically faster. It reduces the model-weight footprint per GPU, leaves more space for KV cache, and supports more concurrency. But it also increases communication, and the GPUs need enough concurrent work to stay saturated. In the example shown, EP72 adds little over EP32, so the width should be chosen from concurrency, KV capacity, and network cost together.</a:t>
            </a:r>
          </a:p>
          <a:p>
            <a:br>
              <a:rPr lang="zh-CN" altLang="zh-CN" dirty="0"/>
            </a:br>
            <a:endParaRPr dirty="0"/>
          </a:p>
        </p:txBody>
      </p:sp>
    </p:spTree>
    <p:extLst>
      <p:ext uri="{BB962C8B-B14F-4D97-AF65-F5344CB8AC3E}">
        <p14:creationId xmlns:p14="http://schemas.microsoft.com/office/powerpoint/2010/main" val="30393246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6"/>
        <p:cNvGrpSpPr/>
        <p:nvPr/>
      </p:nvGrpSpPr>
      <p:grpSpPr>
        <a:xfrm>
          <a:off x="0" y="0"/>
          <a:ext cx="0" cy="0"/>
          <a:chOff x="0" y="0"/>
          <a:chExt cx="0" cy="0"/>
        </a:xfrm>
      </p:grpSpPr>
      <p:sp>
        <p:nvSpPr>
          <p:cNvPr id="2537" name="Google Shape;2537;g3cef51ea3d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2538" name="Google Shape;2538;g3cef51ea3d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这是 llm-d v0.3 的历史 community benchmark：DeepSeek-R1 在多节点 H200 上达到每张 GPU 约 2.2K output tokens per second。结果不是来自单一优化，而是 kernel、EPLB、Dual Batch Overlap 和 parallel topology 的叠加。关键结论是，Wide EP 的收益依赖端到端协同，而不是只增加 GPU 数量。</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This is a historical community benchmark from llm-d v0.3. DeepSeek-R1 reached roughly 2.2 thousand output tokens per second per H200 GPU in a multi-node setup. The result did not come from one optimization. It compounded kernel work, EPLB, Dual Batch Overlap, and the parallel topology. The key point is that Wide EP requires end-to-end coordination, not simply more GPUs.</a:t>
            </a:r>
          </a:p>
          <a:p>
            <a:br>
              <a:rPr lang="zh-CN" altLang="zh-CN" dirty="0"/>
            </a:br>
            <a:endParaRPr dirty="0"/>
          </a:p>
        </p:txBody>
      </p:sp>
    </p:spTree>
    <p:extLst>
      <p:ext uri="{BB962C8B-B14F-4D97-AF65-F5344CB8AC3E}">
        <p14:creationId xmlns:p14="http://schemas.microsoft.com/office/powerpoint/2010/main" val="522649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FAA6-FD2E-828C-F774-57EF980785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752468-B977-EEAB-0F9A-5F6F4D3811B3}"/>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4B496E34-5F4F-110B-5798-DF1FE768D2B0}"/>
              </a:ext>
            </a:extLst>
          </p:cNvPr>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现在回到每个请求的两个阶段。Prefill 并行处理整段输入，主要执行 matrix-matrix operations，因此偏 compute-bound。Decode 每次生成一个 token，并在每一步读取 KV cache，主要受 memory bandwidth 限制。两种 phase 的资源需求不同，却经常被迫运行在同一组 worker 上。</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Now return to the two phases of every request. Prefill processes the input in parallel and is dominated by matrix-matrix operations, so it is compute-bound. Decode generates one token at a time and reads the KV cache at every step, so it is constrained by memory bandwidth. These phases want different resource profiles, but they are often forced onto the same workers.</a:t>
            </a:r>
          </a:p>
          <a:p>
            <a:br>
              <a:rPr lang="zh-CN" altLang="zh-CN" dirty="0"/>
            </a:br>
            <a:endParaRPr kumimoji="1" lang="zh-CN" altLang="en-US" dirty="0"/>
          </a:p>
        </p:txBody>
      </p:sp>
    </p:spTree>
    <p:extLst>
      <p:ext uri="{BB962C8B-B14F-4D97-AF65-F5344CB8AC3E}">
        <p14:creationId xmlns:p14="http://schemas.microsoft.com/office/powerpoint/2010/main" val="30227110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2"/>
        <p:cNvGrpSpPr/>
        <p:nvPr/>
      </p:nvGrpSpPr>
      <p:grpSpPr>
        <a:xfrm>
          <a:off x="0" y="0"/>
          <a:ext cx="0" cy="0"/>
          <a:chOff x="0" y="0"/>
          <a:chExt cx="0" cy="0"/>
        </a:xfrm>
      </p:grpSpPr>
      <p:sp>
        <p:nvSpPr>
          <p:cNvPr id="3533" name="Google Shape;3533;g3e5338da07b_0_2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534" name="Google Shape;3534;g3e5338da07b_0_2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图里的 benchmark 显示，TP=1 在两个 phase 上都有最高的 per-GPU throughput，但扩展曲线不同。Prefill 对 TP communication 更敏感，效率下降更快；decode 在小 TP 下还能从额外 memory bandwidth 获益。P/D disaggregation 让我们可以分别选择 prefill 与 decode 的 parallel configuration。</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benchmark shown here finds the highest per-GPU throughput at TP equals one for both phases, but the scaling curves are different. Prefill is more sensitive to tensor-parallel communication and loses efficiency faster. Decode can still benefit from additional memory bandwidth at small TP sizes. P/D disaggregation lets us choose a different parallel configuration for each phase.</a:t>
            </a:r>
          </a:p>
          <a:p>
            <a:br>
              <a:rPr lang="zh-CN" altLang="zh-CN" dirty="0"/>
            </a:b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C2CB-C297-C660-5463-BB72561552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80E2BF-14C8-4C97-42B9-340F5154E37E}"/>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0273D939-1A03-F20C-296E-6597666CD096}"/>
              </a:ext>
            </a:extLst>
          </p:cNvPr>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在 disaggregated flow 中，gateway 接收请求，scheduler 决定是否使用独立 prefill worker。Prefill worker 计算 prompt 并产生 KV state；sidecar 协调传输；decode worker 接收 KV 后继续生成 token。这个决定可以根据 workload 和 SLO 动态做出，因此 prefill pool 与 decode pool 可以独立扩展。</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In the disaggregated flow, the gateway receives the request and the scheduler decides whether to use a separate prefill worker. The prefill worker processes the prompt and produces KV state. A sidecar coordinates the transfer, and the decode worker continues token generation after receiving the KV. This decision can be made dynamically from workload and SLO requirements, allowing the prefill and decode pools to scale independently.</a:t>
            </a:r>
          </a:p>
          <a:p>
            <a:br>
              <a:rPr lang="zh-CN" altLang="zh-CN" dirty="0"/>
            </a:br>
            <a:endParaRPr kumimoji="1" lang="zh-CN" altLang="en-US" dirty="0"/>
          </a:p>
        </p:txBody>
      </p:sp>
    </p:spTree>
    <p:extLst>
      <p:ext uri="{BB962C8B-B14F-4D97-AF65-F5344CB8AC3E}">
        <p14:creationId xmlns:p14="http://schemas.microsoft.com/office/powerpoint/2010/main" val="14002172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4"/>
        <p:cNvGrpSpPr/>
        <p:nvPr/>
      </p:nvGrpSpPr>
      <p:grpSpPr>
        <a:xfrm>
          <a:off x="0" y="0"/>
          <a:ext cx="0" cy="0"/>
          <a:chOff x="0" y="0"/>
          <a:chExt cx="0" cy="0"/>
        </a:xfrm>
      </p:grpSpPr>
      <p:sp>
        <p:nvSpPr>
          <p:cNvPr id="3485" name="Google Shape;3485;g3e5338da07b_0_2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486" name="Google Shape;3486;g3e5338da07b_0_2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P/D 分离只有在 KV transfer 足够高效时才有意义。vLLM 通过 NIXL 集成，在支持的 RDMA path 上实现 GPU-direct transfer，避免不必要的 host staging。底层可以使用 UCX，并运行在 InfiniBand、RoCE 或 TCP 等网络上。这里应该理解为降低 copy 和 staging overhead，而不是绝对零开销。</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P/D disaggregation only works when KV transfer is efficient. Through the NIXL integration, vLLM can use GPU-direct transfer on supported RDMA paths and avoid unnecessary host staging. The transport can use UCX over InfiniBand, RoCE, or TCP. The correct takeaway is reduced copy and staging overhead, not literally zero overhead.</a:t>
            </a:r>
          </a:p>
          <a:p>
            <a:br>
              <a:rPr lang="zh-CN" altLang="zh-CN" sz="1000" dirty="0"/>
            </a:br>
            <a:endParaRPr sz="1000" dirty="0">
              <a:latin typeface="Red Hat Text"/>
              <a:ea typeface="Red Hat Text"/>
              <a:cs typeface="Red Hat Text"/>
              <a:sym typeface="Red Hat Text"/>
            </a:endParaRPr>
          </a:p>
        </p:txBody>
      </p:sp>
    </p:spTree>
    <p:extLst>
      <p:ext uri="{BB962C8B-B14F-4D97-AF65-F5344CB8AC3E}">
        <p14:creationId xmlns:p14="http://schemas.microsoft.com/office/powerpoint/2010/main" val="26370262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1"/>
        <p:cNvGrpSpPr/>
        <p:nvPr/>
      </p:nvGrpSpPr>
      <p:grpSpPr>
        <a:xfrm>
          <a:off x="0" y="0"/>
          <a:ext cx="0" cy="0"/>
          <a:chOff x="0" y="0"/>
          <a:chExt cx="0" cy="0"/>
        </a:xfrm>
      </p:grpSpPr>
      <p:sp>
        <p:nvSpPr>
          <p:cNvPr id="3552" name="Google Shape;3552;g3e5338da07b_0_2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3" name="Google Shape;3553;g3e5338da07b_0_2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是否使用 P/D，不能只看 peak throughput。在线服务要同时考虑 TTFT、TPOT 和 GPU efficiency。Disaggregated topology 可以按 TTFT 目标扩展 prefill pool，按 TPOT 目标扩展 decode pool。它的价值是在 latency SLO 下找到更好的 Pareto frontier，而不是保证所有 workload 都更快。</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The decision to use P/D should not be based only on peak throughput. An online service must balance TTFT, TPOT, and GPU efficiency. A disaggregated topology can scale the prefill pool for the TTFT target and the decode pool for the TPOT target. Its value is a better Pareto frontier under latency SLOs, not a guarantee that every workload becomes faster.</a:t>
            </a:r>
          </a:p>
          <a:p>
            <a:br>
              <a:rPr lang="zh-CN" altLang="zh-CN" dirty="0"/>
            </a:b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9"/>
        <p:cNvGrpSpPr/>
        <p:nvPr/>
      </p:nvGrpSpPr>
      <p:grpSpPr>
        <a:xfrm>
          <a:off x="0" y="0"/>
          <a:ext cx="0" cy="0"/>
          <a:chOff x="0" y="0"/>
          <a:chExt cx="0" cy="0"/>
        </a:xfrm>
      </p:grpSpPr>
      <p:sp>
        <p:nvSpPr>
          <p:cNvPr id="3560" name="Google Shape;3560;g3e5338da07b_0_2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561" name="Google Shape;3561;g3e5338da07b_0_2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这张外部数据展示 DeepSeek V4 Pro 在两个 Blackwell 系统上的 Pareto curve。图中选定 operating point 大约是 GB200 NVL72 每张 GPU 7,500 output tokens per second，对 B300 约 4,500。但这不是同硬件的软件 A/B test；硬件、NVLink domain、topology、配置和软件都在共同影响结果。应该在相同 interactivity target 下比较曲线。</a:t>
            </a:r>
          </a:p>
          <a:p>
            <a:r>
              <a:rPr lang="zh-CN" altLang="zh-CN" sz="1100" b="0" i="0" u="none" strike="noStrike" cap="none" dirty="0">
                <a:solidFill>
                  <a:srgbClr val="000000"/>
                </a:solidFill>
                <a:effectLst/>
                <a:latin typeface="Arial"/>
                <a:ea typeface="Arial"/>
                <a:cs typeface="Arial"/>
                <a:sym typeface="Arial"/>
              </a:rPr>
              <a:t>接下来把话题从 request 与 data path 交给 Linbo，请他介绍 KAITO 如何管理 workload 和 GPU lifecycle。</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This external data shows the Pareto curves for DeepSeek V4 Pro on two Blackwell systems. At the selected operating point, the slide shows roughly 7,500 output tokens per second per GPU on GB200 NVL72 and about 4,500 on B300. This is not a same-hardware software A/B test. Hardware, NVLink domain, topology, configuration, and software all contribute, so the curves should be compared at the same interactivity target.</a:t>
            </a:r>
          </a:p>
          <a:p>
            <a:r>
              <a:rPr lang="zh-CN" altLang="zh-CN" sz="1100" b="0" i="0" u="none" strike="noStrike" cap="none" dirty="0">
                <a:solidFill>
                  <a:srgbClr val="000000"/>
                </a:solidFill>
                <a:effectLst/>
                <a:latin typeface="Arial"/>
                <a:ea typeface="Arial"/>
                <a:cs typeface="Arial"/>
                <a:sym typeface="Arial"/>
              </a:rPr>
              <a:t>With that, I will hand over to Linbo to explain how KAITO manages the workload and GPU lifecycle around this request and data path.</a:t>
            </a:r>
          </a:p>
          <a:p>
            <a:br>
              <a:rPr lang="zh-CN" altLang="zh-CN" sz="800" dirty="0"/>
            </a:br>
            <a:endParaRPr sz="800" dirty="0">
              <a:latin typeface="Red Hat Text"/>
              <a:ea typeface="Red Hat Text"/>
              <a:cs typeface="Red Hat Text"/>
              <a:sym typeface="Red Hat Text"/>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7F044-F805-8F78-5C36-BF0D6B04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CAAE5-ACD6-15FC-E34E-DC1D8A8B687A}"/>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ED37E7B8-A81E-2DF7-4877-05D84CE73A04}"/>
              </a:ext>
            </a:extLst>
          </p:cNvPr>
          <p:cNvSpPr>
            <a:spLocks noGrp="1"/>
          </p:cNvSpPr>
          <p:nvPr>
            <p:ph type="body" idx="1"/>
          </p:nvPr>
        </p:nvSpPr>
        <p:spPr/>
        <p:txBody>
          <a:bodyPr/>
          <a:lstStyle/>
          <a:p>
            <a:r>
              <a:rPr lang="en-US" dirty="0"/>
              <a:t>We just saw how llm-d handles the request path. Now let's look at the other side: KAITO.</a:t>
            </a:r>
          </a:p>
          <a:p>
            <a:r>
              <a:rPr lang="en-US" dirty="0"/>
              <a:t>So what is KAITO? It is one operator for Kubernetes that runs large language models for you. It covers three jobs - inference, fine-tuning, and RAG - so you do not have to build and connect them yourself.</a:t>
            </a:r>
          </a:p>
          <a:p>
            <a:r>
              <a:rPr lang="en-US" dirty="0"/>
              <a:t>It is mainly for teams who host open models on their own cluster, but who do not have a dedicated GPU or inference platform team.</a:t>
            </a:r>
          </a:p>
          <a:p>
            <a:r>
              <a:rPr lang="en-US" dirty="0"/>
              <a:t>The main idea is simple: you give KAITO only two things, the model name and the GPU type. From there it does the rest - it sizes and creates the GPU nodes, loads the weights, serves the model, and scales it with traffic.</a:t>
            </a:r>
          </a:p>
          <a:p>
            <a:r>
              <a:rPr lang="en-US" dirty="0"/>
              <a:t>So you bring a model and a GPU type, and KAITO handles the machines, the weights, the serving, and the scaling. Let's look at a few of these, starting with the workload lifecycle.</a:t>
            </a:r>
          </a:p>
        </p:txBody>
      </p:sp>
    </p:spTree>
    <p:extLst>
      <p:ext uri="{BB962C8B-B14F-4D97-AF65-F5344CB8AC3E}">
        <p14:creationId xmlns:p14="http://schemas.microsoft.com/office/powerpoint/2010/main" val="2535586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CF1D-2689-0743-8B34-ADD41CAC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60F8-42A3-5624-602E-7F3B108808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F467683-052E-4E6B-BCD1-AF036F6B40A1}"/>
              </a:ext>
            </a:extLst>
          </p:cNvPr>
          <p:cNvSpPr>
            <a:spLocks noGrp="1"/>
          </p:cNvSpPr>
          <p:nvPr>
            <p:ph type="body" idx="1"/>
          </p:nvPr>
        </p:nvSpPr>
        <p:spPr/>
        <p:txBody>
          <a:bodyPr/>
          <a:lstStyle/>
          <a:p>
            <a:r>
              <a:rPr lang="en-US" dirty="0"/>
              <a:t>On the last slide I said KAITO manages the full workload lifecycle. Here is a small example.</a:t>
            </a:r>
          </a:p>
          <a:p>
            <a:r>
              <a:rPr lang="en-US" dirty="0"/>
              <a:t>This is an InferenceSet - the object you use to serve a model in production. Notice how short it is. Really, only two lines matter: the model name, and the GPU type. You write no vLLM flags, no node count, no parallelism - KAITO fills all of that in.</a:t>
            </a:r>
          </a:p>
          <a:p>
            <a:r>
              <a:rPr lang="en-US" dirty="0"/>
              <a:t>replicas is optional; here it runs three copies for more capacity and higher availability, and it heals them if one dies. And autoUpgrade, when on, rolls your copies to a new tested image one at a time, with no downtime.</a:t>
            </a:r>
          </a:p>
          <a:p>
            <a:r>
              <a:rPr lang="en-US" dirty="0"/>
              <a:t>I also turned on Model Mirror here, with this annotation. It downloads the weights once into shared blob storage, in parallel with node startup, so cold starts are much faster.</a:t>
            </a:r>
          </a:p>
          <a:p>
            <a:r>
              <a:rPr lang="en-US" dirty="0"/>
              <a:t>One more thing worth showing is how KAITO decides the number of GPU nodes. Let's look at that next.</a:t>
            </a:r>
          </a:p>
        </p:txBody>
      </p:sp>
    </p:spTree>
    <p:extLst>
      <p:ext uri="{BB962C8B-B14F-4D97-AF65-F5344CB8AC3E}">
        <p14:creationId xmlns:p14="http://schemas.microsoft.com/office/powerpoint/2010/main" val="1449246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CF1D-2689-0743-8B34-ADD41CAC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60F8-42A3-5624-602E-7F3B108808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F467683-052E-4E6B-BCD1-AF036F6B40A1}"/>
              </a:ext>
            </a:extLst>
          </p:cNvPr>
          <p:cNvSpPr>
            <a:spLocks noGrp="1"/>
          </p:cNvSpPr>
          <p:nvPr>
            <p:ph type="body" idx="1"/>
          </p:nvPr>
        </p:nvSpPr>
        <p:spPr/>
        <p:txBody>
          <a:bodyPr/>
          <a:lstStyle/>
          <a:p>
            <a:r>
              <a:rPr lang="en-US" dirty="0"/>
              <a:t>You might wonder how KAITO picks the number of GPU nodes. You do not set it - KAITO computes it from the model and the GPU type.</a:t>
            </a:r>
          </a:p>
          <a:p>
            <a:r>
              <a:rPr lang="en-US" dirty="0"/>
              <a:t>The idea is simple. First, it takes the GPU memory and keeps about 84 percent, the part vLLM can actually use. From that it subtracts a small fixed overhead, and the KV cache, which grows with the context length. What is left is the budget on each GPU for the model weights.</a:t>
            </a:r>
          </a:p>
          <a:p>
            <a:r>
              <a:rPr lang="en-US" dirty="0"/>
              <a:t>Then it divides the model size by that budget to get the smallest number of GPUs, and divides again by the GPUs per node to get the node count.</a:t>
            </a:r>
          </a:p>
          <a:p>
            <a:r>
              <a:rPr lang="en-US" dirty="0"/>
              <a:t>This number is saved as targetNodeCount. And if it is more than one, KAITO serves the model across nodes on its own - tensor parallel inside a node, and pipeline parallel across nodes. So both the sizing and the parallel setup are automatic. Now, once it is running, how do we handle changing traffic? That is autoscaling, which is next.</a:t>
            </a:r>
          </a:p>
        </p:txBody>
      </p:sp>
    </p:spTree>
    <p:extLst>
      <p:ext uri="{BB962C8B-B14F-4D97-AF65-F5344CB8AC3E}">
        <p14:creationId xmlns:p14="http://schemas.microsoft.com/office/powerpoint/2010/main" val="1449246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E1FD-DF2C-B744-F449-580268366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F622D-7B76-6ED7-8FBE-63F9EDE6C268}"/>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A526001A-7849-5A55-C08F-CDCA6635D57C}"/>
              </a:ext>
            </a:extLst>
          </p:cNvPr>
          <p:cNvSpPr>
            <a:spLocks noGrp="1"/>
          </p:cNvSpPr>
          <p:nvPr>
            <p:ph type="body" idx="1"/>
          </p:nvPr>
        </p:nvSpPr>
        <p:spPr/>
        <p:txBody>
          <a:bodyPr/>
          <a:lstStyle/>
          <a:p>
            <a:r>
              <a:rPr lang="en-US" dirty="0"/>
              <a:t>Now, autoscaling. This is how KAITO changes the number of copies as load moves. The component is keda-kaito-scaler.</a:t>
            </a:r>
          </a:p>
          <a:p>
            <a:r>
              <a:rPr lang="en-US" dirty="0"/>
              <a:t>It builds on KEDA, but adds three things that matter for GPUs.</a:t>
            </a:r>
          </a:p>
          <a:p>
            <a:r>
              <a:rPr lang="en-US" dirty="0"/>
              <a:t>First, no extra dependencies - it does not need Prometheus. It reads metrics straight from vLLM, on each pod. Less to install, less to break.</a:t>
            </a:r>
          </a:p>
          <a:p>
            <a:r>
              <a:rPr lang="en-US" dirty="0"/>
              <a:t>Second, it is GPU-safe. GPU nodes are expensive and slow to start, so it moves gently - only one copy up or down at a time. That keeps things smooth and avoids waste.</a:t>
            </a:r>
          </a:p>
          <a:p>
            <a:r>
              <a:rPr lang="en-US" dirty="0"/>
              <a:t>Third, it can watch more than one signal at once - like queue length and latency together - and it only scales up when both agree there is real pressure.</a:t>
            </a:r>
          </a:p>
          <a:p>
            <a:r>
              <a:rPr lang="en-US" dirty="0"/>
              <a:t>So it is autoscaling made for GPU inference: simple, safe on cost, driven by what the server really sees. Next, how you configure these signals.</a:t>
            </a:r>
          </a:p>
        </p:txBody>
      </p:sp>
    </p:spTree>
    <p:extLst>
      <p:ext uri="{BB962C8B-B14F-4D97-AF65-F5344CB8AC3E}">
        <p14:creationId xmlns:p14="http://schemas.microsoft.com/office/powerpoint/2010/main" val="31905224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F81C-0A63-C991-6B5C-C9782F9A4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ACE33-ED3D-07B2-95CE-3EA7C114641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24D00C3-B364-8AFC-DCCF-39E6FB80E4E0}"/>
              </a:ext>
            </a:extLst>
          </p:cNvPr>
          <p:cNvSpPr>
            <a:spLocks noGrp="1"/>
          </p:cNvSpPr>
          <p:nvPr>
            <p:ph type="body" idx="1"/>
          </p:nvPr>
        </p:nvSpPr>
        <p:spPr/>
        <p:txBody>
          <a:bodyPr/>
          <a:lstStyle/>
          <a:p>
            <a:r>
              <a:rPr lang="en-US" dirty="0"/>
              <a:t>Here is how you configure it - all through annotations on the InferenceSet, with no extra objects.</a:t>
            </a:r>
          </a:p>
          <a:p>
            <a:r>
              <a:rPr lang="en-US" dirty="0"/>
              <a:t>On the left is the full config today. You list the metrics you care about - here the queue length and the request wait time - and for each you set an up and a down threshold. Then the shared rules: the AND policy, the evaluation window, the cooldowns, and the min and max copies.</a:t>
            </a:r>
          </a:p>
          <a:p>
            <a:r>
              <a:rPr lang="en-US" dirty="0"/>
              <a:t>This gives full control, but I will be honest - it is the hard part. Today every threshold, window, and cooldown must be tuned by hand.</a:t>
            </a:r>
          </a:p>
          <a:p>
            <a:r>
              <a:rPr lang="en-US" dirty="0"/>
              <a:t>So we are building something simpler, on the right: you set just the min and max copies, and everything else is tuned for you to safe defaults.</a:t>
            </a:r>
          </a:p>
          <a:p>
            <a:r>
              <a:rPr lang="en-US" dirty="0"/>
              <a:t>It is the same idea as the rest of KAITO - you set what you care about, and the system fills in the rest. Now let's see how this comes together in production.</a:t>
            </a:r>
          </a:p>
        </p:txBody>
      </p:sp>
    </p:spTree>
    <p:extLst>
      <p:ext uri="{BB962C8B-B14F-4D97-AF65-F5344CB8AC3E}">
        <p14:creationId xmlns:p14="http://schemas.microsoft.com/office/powerpoint/2010/main" val="3621400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CF1D-2689-0743-8B34-ADD41CAC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60F8-42A3-5624-602E-7F3B108808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F467683-052E-4E6B-BCD1-AF036F6B40A1}"/>
              </a:ext>
            </a:extLst>
          </p:cNvPr>
          <p:cNvSpPr>
            <a:spLocks noGrp="1"/>
          </p:cNvSpPr>
          <p:nvPr>
            <p:ph type="body" idx="1"/>
          </p:nvPr>
        </p:nvSpPr>
        <p:spPr/>
        <p:txBody>
          <a:bodyPr/>
          <a:lstStyle/>
          <a:p>
            <a:r>
              <a:rPr lang="en-US" dirty="0"/>
              <a:t>So far I showed the parts one by one - provisioning, lifecycle, and autoscaling. Now let's step back and see how they come together in production.</a:t>
            </a:r>
          </a:p>
          <a:p>
            <a:r>
              <a:rPr lang="en-US" dirty="0"/>
              <a:t>Production is more than serving one model. You often need to serve many teams safely, deploy in a repeatable way, and stay up under load.</a:t>
            </a:r>
          </a:p>
          <a:p>
            <a:r>
              <a:rPr lang="en-US" dirty="0"/>
              <a:t>So the next slides cover three things: a production stack that joins llm-d and KAITO, how we test it without real GPUs, and how that gives us confidence. These are not separate demos - they are packaged to run in production from day one.</a:t>
            </a:r>
          </a:p>
        </p:txBody>
      </p:sp>
    </p:spTree>
    <p:extLst>
      <p:ext uri="{BB962C8B-B14F-4D97-AF65-F5344CB8AC3E}">
        <p14:creationId xmlns:p14="http://schemas.microsoft.com/office/powerpoint/2010/main" val="14492462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70A11-0297-D06A-73F2-8D166003F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6218B-0509-CD4D-FFD5-80B9FBED38F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1A61787-BFBF-F65F-86A0-474C3E73F987}"/>
              </a:ext>
            </a:extLst>
          </p:cNvPr>
          <p:cNvSpPr>
            <a:spLocks noGrp="1"/>
          </p:cNvSpPr>
          <p:nvPr>
            <p:ph type="body" idx="1"/>
          </p:nvPr>
        </p:nvSpPr>
        <p:spPr/>
        <p:txBody>
          <a:bodyPr/>
          <a:lstStyle/>
          <a:p>
            <a:r>
              <a:rPr lang="en-US" dirty="0"/>
              <a:t>Let's start with the production stack. It brings the two projects together: llm-d for the request path, KAITO for the infrastructure - one complete, end-to-end solution, already wired up.</a:t>
            </a:r>
          </a:p>
          <a:p>
            <a:r>
              <a:rPr lang="en-US" dirty="0"/>
              <a:t>It is multi-tenant: many teams share one cluster, and each gets its own isolated service, so one team cannot disturb another.</a:t>
            </a:r>
          </a:p>
          <a:p>
            <a:r>
              <a:rPr lang="en-US" dirty="0"/>
              <a:t>And it ships in layers, as three Helm charts - the bottom sets up the platform, the middle prepares a model, the top deploys a running service. You install only the layer you need.</a:t>
            </a:r>
          </a:p>
          <a:p>
            <a:r>
              <a:rPr lang="en-US" dirty="0"/>
              <a:t>So a platform team offers serving as a service, and app teams just ask for a model. It is production-ready, not a demo. But a stack like this is hard to test, because it needs GPUs - so let's see how we solve that.</a:t>
            </a:r>
          </a:p>
        </p:txBody>
      </p:sp>
    </p:spTree>
    <p:extLst>
      <p:ext uri="{BB962C8B-B14F-4D97-AF65-F5344CB8AC3E}">
        <p14:creationId xmlns:p14="http://schemas.microsoft.com/office/powerpoint/2010/main" val="1152913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D5EC-5E9E-68EC-3513-7DB6D3A56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F9FEA-086B-35EF-D947-F582446C7173}"/>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C16F9F9-BB74-F886-C8AB-B78CC1EA02A9}"/>
              </a:ext>
            </a:extLst>
          </p:cNvPr>
          <p:cNvSpPr>
            <a:spLocks noGrp="1"/>
          </p:cNvSpPr>
          <p:nvPr>
            <p:ph type="body" idx="1"/>
          </p:nvPr>
        </p:nvSpPr>
        <p:spPr/>
        <p:txBody>
          <a:bodyPr/>
          <a:lstStyle/>
          <a:p>
            <a:r>
              <a:rPr lang="en-US" dirty="0"/>
              <a:t>Testing GPU systems is painful, because GPUs are expensive and scarce. So we built the GPU Node Mocker. It runs the whole GPU inference stack on a normal CPU-only cluster.</a:t>
            </a:r>
          </a:p>
          <a:p>
            <a:r>
              <a:rPr lang="en-US" dirty="0"/>
              <a:t>The key idea: it follows the exact same flow as the real system - a node request comes in, a node is created, a pod is scheduled. Nothing in the real code path changes.</a:t>
            </a:r>
          </a:p>
          <a:p>
            <a:r>
              <a:rPr lang="en-US" dirty="0"/>
              <a:t>It works in two steps. First, it creates a fake GPU node that looks completely real: right labels, taints, and capacity, reports ready, and sends a heartbeat every ten seconds. Second, it runs a shadow pod - a light simulator on a CPU node - and writes its real IP into the status, so the system thinks it is a real model server.</a:t>
            </a:r>
          </a:p>
          <a:p>
            <a:r>
              <a:rPr lang="en-US" dirty="0"/>
              <a:t>The result: the full stack runs end to end, on CPUs, at zero GPU cost. So you can test on every change, not only when a GPU is free. Let's see what that gives us.</a:t>
            </a:r>
          </a:p>
        </p:txBody>
      </p:sp>
    </p:spTree>
    <p:extLst>
      <p:ext uri="{BB962C8B-B14F-4D97-AF65-F5344CB8AC3E}">
        <p14:creationId xmlns:p14="http://schemas.microsoft.com/office/powerpoint/2010/main" val="29134204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FFF62-35FA-C974-D5D1-399A36668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6FACC-D9B6-DE14-22A6-09D78310FEAE}"/>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5EED4EC0-9034-4B31-4566-2760CC176DD0}"/>
              </a:ext>
            </a:extLst>
          </p:cNvPr>
          <p:cNvSpPr>
            <a:spLocks noGrp="1"/>
          </p:cNvSpPr>
          <p:nvPr>
            <p:ph type="body" idx="1"/>
          </p:nvPr>
        </p:nvSpPr>
        <p:spPr/>
        <p:txBody>
          <a:bodyPr/>
          <a:lstStyle/>
          <a:p>
            <a:r>
              <a:rPr lang="en-US" dirty="0"/>
              <a:t>Good testing is what turns code into confidence. KAITO ships with more than seventy end-to-end tests that cover the whole production stack.</a:t>
            </a:r>
          </a:p>
          <a:p>
            <a:r>
              <a:rPr lang="en-US" dirty="0"/>
              <a:t>And they run two ways from one suite: most runs use the mocked GPU nodes we just saw, so they are fast and cheap; some use real GPU nodes from Karpenter, to prove it works on real hardware.</a:t>
            </a:r>
          </a:p>
          <a:p>
            <a:r>
              <a:rPr lang="en-US" dirty="0"/>
              <a:t>So every change is checked end to end - cheaply on CPUs first, then confirmed on real GPUs. Same tests, two paths.</a:t>
            </a:r>
          </a:p>
          <a:p>
            <a:r>
              <a:rPr lang="en-US" dirty="0"/>
              <a:t>That means we can move fast and still trust that production keeps working. And that brings the KAITO section together - from a two-field config, to lifecycle, autoscaling, a production stack, and testing we rely on. With that, I am happy to take your questions.</a:t>
            </a:r>
          </a:p>
        </p:txBody>
      </p:sp>
    </p:spTree>
    <p:extLst>
      <p:ext uri="{BB962C8B-B14F-4D97-AF65-F5344CB8AC3E}">
        <p14:creationId xmlns:p14="http://schemas.microsoft.com/office/powerpoint/2010/main" val="880879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6"/>
        <p:cNvGrpSpPr/>
        <p:nvPr/>
      </p:nvGrpSpPr>
      <p:grpSpPr>
        <a:xfrm>
          <a:off x="0" y="0"/>
          <a:ext cx="0" cy="0"/>
          <a:chOff x="0" y="0"/>
          <a:chExt cx="0" cy="0"/>
        </a:xfrm>
      </p:grpSpPr>
      <p:sp>
        <p:nvSpPr>
          <p:cNvPr id="3047" name="Google Shape;3047;g3ce3da0444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048" name="Google Shape;3048;g3ce3da0444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所有组件都是开放的。左侧可以访问 llm-d 网站、GitHub 和社区 Slack；右侧是 KAITO 文档与 GitHub。欢迎试用 well-lit paths、复现实验，并把实际 workload 和反馈带回社区。</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All of these components are open. On the left, you can find the llm-d website, GitHub organization, and community Slack. On the right are the KAITO documentation and GitHub organization. We welcome you to try the well-lit paths, reproduce the experiments, and bring your real workloads and feedback back to the communities.</a:t>
            </a:r>
          </a:p>
          <a:p>
            <a:br>
              <a:rPr lang="zh-CN" altLang="zh-CN" dirty="0"/>
            </a:b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en-US"/>
          </a:p>
        </p:txBody>
      </p:sp>
      <p:sp>
        <p:nvSpPr>
          <p:cNvPr id="3" name="备注占位符 2"/>
          <p:cNvSpPr>
            <a:spLocks noGrp="1"/>
          </p:cNvSpPr>
          <p:nvPr>
            <p:ph type="body" idx="1"/>
          </p:nvPr>
        </p:nvSpPr>
        <p:spPr/>
        <p:txBody>
          <a:bodyPr/>
          <a:lstStyle/>
          <a:p>
            <a:br>
              <a:rPr lang="zh-CN" altLang="zh-CN" sz="1100" b="0" i="0" u="none" strike="noStrike" cap="none" dirty="0">
                <a:solidFill>
                  <a:srgbClr val="000000"/>
                </a:solidFill>
                <a:effectLst/>
                <a:latin typeface="Arial"/>
                <a:ea typeface="Arial"/>
                <a:cs typeface="Arial"/>
                <a:sym typeface="Arial"/>
              </a:rPr>
            </a:br>
            <a:r>
              <a:rPr lang="zh-CN" altLang="zh-CN" sz="1100" b="0" i="0" u="none" strike="noStrike" cap="none" dirty="0">
                <a:solidFill>
                  <a:srgbClr val="000000"/>
                </a:solidFill>
                <a:effectLst/>
                <a:latin typeface="Arial"/>
                <a:ea typeface="Arial"/>
                <a:cs typeface="Arial"/>
                <a:sym typeface="Arial"/>
              </a:rPr>
              <a:t>**中文**</a:t>
            </a:r>
          </a:p>
          <a:p>
            <a:r>
              <a:rPr lang="zh-CN" altLang="zh-CN" sz="1100" b="0" i="0" u="none" strike="noStrike" cap="none" dirty="0">
                <a:solidFill>
                  <a:srgbClr val="000000"/>
                </a:solidFill>
                <a:effectLst/>
                <a:latin typeface="Arial"/>
                <a:ea typeface="Arial"/>
                <a:cs typeface="Arial"/>
                <a:sym typeface="Arial"/>
              </a:rPr>
              <a:t>谢谢大家。今天的核心结论是：从 model serving 走向 distributed inference，不是增加一个单独优化，而是让 request、KV state、distributed workers、workload lifecycle 和 GPU capacity 进入同一个控制闭环。llm-d 优化请求和分布式执行，KAITO 运营 workload 与 GPU 生命周期。下面欢迎提问。</a:t>
            </a:r>
          </a:p>
          <a:p>
            <a:r>
              <a:rPr lang="zh-CN" altLang="zh-CN" sz="1100" b="0" i="0" u="none" strike="noStrike" cap="none" dirty="0">
                <a:solidFill>
                  <a:srgbClr val="000000"/>
                </a:solidFill>
                <a:effectLst/>
                <a:latin typeface="Arial"/>
                <a:ea typeface="Arial"/>
                <a:cs typeface="Arial"/>
                <a:sym typeface="Arial"/>
              </a:rPr>
              <a:t>**English**</a:t>
            </a:r>
          </a:p>
          <a:p>
            <a:r>
              <a:rPr lang="zh-CN" altLang="zh-CN" sz="1100" b="0" i="0" u="none" strike="noStrike" cap="none" dirty="0">
                <a:solidFill>
                  <a:srgbClr val="000000"/>
                </a:solidFill>
                <a:effectLst/>
                <a:latin typeface="Arial"/>
                <a:ea typeface="Arial"/>
                <a:cs typeface="Arial"/>
                <a:sym typeface="Arial"/>
              </a:rPr>
              <a:t>Thank you. The main takeaway is that moving from model serving to distributed inference is not one isolated optimization. It brings requests, KV state, distributed workers, workload lifecycle, and GPU capacity into one connected control loop. llm-d optimizes request placement and distributed execution, while KAITO operates workloads and GPU lifecycles. We welcome your questions.</a:t>
            </a:r>
          </a:p>
          <a:p>
            <a:br>
              <a:rPr lang="zh-CN" altLang="zh-CN" dirty="0"/>
            </a:br>
            <a:endParaRPr kumimoji="1" lang="zh-CN" altLang="en-US" dirty="0"/>
          </a:p>
        </p:txBody>
      </p:sp>
    </p:spTree>
    <p:extLst>
      <p:ext uri="{BB962C8B-B14F-4D97-AF65-F5344CB8AC3E}">
        <p14:creationId xmlns:p14="http://schemas.microsoft.com/office/powerpoint/2010/main" val="20444482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3939D9"/>
        </a:solidFill>
        <a:effectLst/>
      </p:bgPr>
    </p:bg>
    <p:spTree>
      <p:nvGrpSpPr>
        <p:cNvPr id="1" name="Shape 9"/>
        <p:cNvGrpSpPr/>
        <p:nvPr/>
      </p:nvGrpSpPr>
      <p:grpSpPr>
        <a:xfrm>
          <a:off x="0" y="0"/>
          <a:ext cx="0" cy="0"/>
          <a:chOff x="0" y="0"/>
          <a:chExt cx="0" cy="0"/>
        </a:xfrm>
      </p:grpSpPr>
      <p:pic>
        <p:nvPicPr>
          <p:cNvPr id="3" name="Picture 2">
            <a:extLst>
              <a:ext uri="{FF2B5EF4-FFF2-40B4-BE49-F238E27FC236}">
                <a16:creationId xmlns:a16="http://schemas.microsoft.com/office/drawing/2014/main" id="{7F085A8D-E3BB-BCFF-8884-D2EA372F98B5}"/>
              </a:ext>
            </a:extLst>
          </p:cNvPr>
          <p:cNvPicPr>
            <a:picLocks noChangeAspect="1"/>
          </p:cNvPicPr>
          <p:nvPr/>
        </p:nvPicPr>
        <p:blipFill>
          <a:blip r:embed="rId2"/>
          <a:stretch>
            <a:fillRect/>
          </a:stretch>
        </p:blipFill>
        <p:spPr>
          <a:xfrm>
            <a:off x="0" y="1037627"/>
            <a:ext cx="9144000" cy="4572000"/>
          </a:xfrm>
          <a:prstGeom prst="rect">
            <a:avLst/>
          </a:prstGeom>
        </p:spPr>
      </p:pic>
      <p:sp>
        <p:nvSpPr>
          <p:cNvPr id="10" name="Google Shape;10;p2"/>
          <p:cNvSpPr txBox="1">
            <a:spLocks noGrp="1"/>
          </p:cNvSpPr>
          <p:nvPr>
            <p:ph type="ctrTitle"/>
          </p:nvPr>
        </p:nvSpPr>
        <p:spPr>
          <a:xfrm>
            <a:off x="311215" y="1251446"/>
            <a:ext cx="8010201" cy="1455178"/>
          </a:xfrm>
          <a:prstGeom prst="rect">
            <a:avLst/>
          </a:prstGeom>
          <a:noFill/>
        </p:spPr>
        <p:txBody>
          <a:bodyPr spcFirstLastPara="1" wrap="square" lIns="0" tIns="0" rIns="0" bIns="0" anchor="ctr" anchorCtr="0">
            <a:noAutofit/>
          </a:bodyPr>
          <a:lstStyle>
            <a:lvl1pPr lvl="0" algn="l">
              <a:spcBef>
                <a:spcPts val="0"/>
              </a:spcBef>
              <a:spcAft>
                <a:spcPts val="0"/>
              </a:spcAft>
              <a:buClr>
                <a:schemeClr val="lt1"/>
              </a:buClr>
              <a:buSzPts val="4800"/>
              <a:buNone/>
              <a:defRPr sz="4800" b="1" i="0">
                <a:solidFill>
                  <a:schemeClr val="bg1"/>
                </a:solidFill>
                <a:latin typeface="Clarity City" pitchFamily="2" charset="77"/>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r>
              <a:rPr lang="zh-CN" altLang="en-US"/>
              <a:t>单击此处编辑母版标题样式</a:t>
            </a:r>
            <a:endParaRPr dirty="0"/>
          </a:p>
        </p:txBody>
      </p:sp>
      <p:sp>
        <p:nvSpPr>
          <p:cNvPr id="11" name="Google Shape;11;p2"/>
          <p:cNvSpPr txBox="1">
            <a:spLocks noGrp="1"/>
          </p:cNvSpPr>
          <p:nvPr>
            <p:ph type="subTitle" idx="1"/>
          </p:nvPr>
        </p:nvSpPr>
        <p:spPr>
          <a:xfrm>
            <a:off x="311214" y="2706624"/>
            <a:ext cx="8010201" cy="609254"/>
          </a:xfrm>
          <a:prstGeom prst="rect">
            <a:avLst/>
          </a:prstGeom>
          <a:noFill/>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00"/>
              <a:buNone/>
              <a:defRPr sz="2800" b="1" i="0">
                <a:solidFill>
                  <a:schemeClr val="bg1"/>
                </a:solidFill>
                <a:latin typeface="Clarity City" pitchFamily="2" charset="77"/>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r>
              <a:rPr lang="zh-CN" altLang="en-US"/>
              <a:t>单击此处编辑母版副标题样式</a:t>
            </a:r>
            <a:endParaRPr dirty="0"/>
          </a:p>
        </p:txBody>
      </p:sp>
      <p:sp>
        <p:nvSpPr>
          <p:cNvPr id="4" name="TextBox 3">
            <a:extLst>
              <a:ext uri="{FF2B5EF4-FFF2-40B4-BE49-F238E27FC236}">
                <a16:creationId xmlns:a16="http://schemas.microsoft.com/office/drawing/2014/main" id="{B4EE2169-F3E1-4E05-1002-C08EEFA96A24}"/>
              </a:ext>
            </a:extLst>
          </p:cNvPr>
          <p:cNvSpPr txBox="1"/>
          <p:nvPr/>
        </p:nvSpPr>
        <p:spPr>
          <a:xfrm>
            <a:off x="5715812" y="178532"/>
            <a:ext cx="3111253" cy="307777"/>
          </a:xfrm>
          <a:prstGeom prst="rect">
            <a:avLst/>
          </a:prstGeom>
          <a:noFill/>
        </p:spPr>
        <p:txBody>
          <a:bodyPr wrap="square" rtlCol="0">
            <a:spAutoFit/>
          </a:bodyPr>
          <a:lstStyle/>
          <a:p>
            <a:pPr algn="r"/>
            <a:r>
              <a:rPr lang="en-CA" sz="1400" b="0" i="0" dirty="0">
                <a:solidFill>
                  <a:schemeClr val="bg1"/>
                </a:solidFill>
                <a:latin typeface="Clarity City" pitchFamily="2" charset="77"/>
              </a:rPr>
              <a:t>#</a:t>
            </a:r>
            <a:r>
              <a:rPr lang="en-CA" sz="1400" b="0" i="0" dirty="0" err="1">
                <a:solidFill>
                  <a:schemeClr val="bg1"/>
                </a:solidFill>
                <a:latin typeface="Clarity City" pitchFamily="2" charset="77"/>
              </a:rPr>
              <a:t>KubeCon</a:t>
            </a:r>
            <a:r>
              <a:rPr lang="en-CA" sz="1400" b="0" i="0" dirty="0">
                <a:solidFill>
                  <a:schemeClr val="bg1"/>
                </a:solidFill>
                <a:latin typeface="Clarity City" pitchFamily="2" charset="77"/>
              </a:rPr>
              <a:t> #</a:t>
            </a:r>
            <a:r>
              <a:rPr lang="en-CA" sz="1400" b="0" i="0" dirty="0" err="1">
                <a:solidFill>
                  <a:schemeClr val="bg1"/>
                </a:solidFill>
                <a:latin typeface="Clarity City" pitchFamily="2" charset="77"/>
              </a:rPr>
              <a:t>CloudNativeCon</a:t>
            </a:r>
            <a:endParaRPr lang="en-CA" sz="1400" b="0" i="0" dirty="0">
              <a:solidFill>
                <a:schemeClr val="bg1"/>
              </a:solidFill>
              <a:latin typeface="Clarity City" pitchFamily="2" charset="77"/>
            </a:endParaRPr>
          </a:p>
        </p:txBody>
      </p:sp>
      <p:pic>
        <p:nvPicPr>
          <p:cNvPr id="9" name="Graphic 8">
            <a:extLst>
              <a:ext uri="{FF2B5EF4-FFF2-40B4-BE49-F238E27FC236}">
                <a16:creationId xmlns:a16="http://schemas.microsoft.com/office/drawing/2014/main" id="{5CDEC2B0-298A-748B-A430-B263AFC761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1647325094"/>
      </p:ext>
    </p:extLst>
  </p:cSld>
  <p:clrMapOvr>
    <a:masterClrMapping/>
  </p:clrMapOvr>
  <p:hf sldNum="0"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bg>
      <p:bgPr>
        <a:solidFill>
          <a:srgbClr val="3939D9"/>
        </a:solidFill>
        <a:effectLst/>
      </p:bgPr>
    </p:bg>
    <p:spTree>
      <p:nvGrpSpPr>
        <p:cNvPr id="1" name="Shape 15"/>
        <p:cNvGrpSpPr/>
        <p:nvPr/>
      </p:nvGrpSpPr>
      <p:grpSpPr>
        <a:xfrm>
          <a:off x="0" y="0"/>
          <a:ext cx="0" cy="0"/>
          <a:chOff x="0" y="0"/>
          <a:chExt cx="0" cy="0"/>
        </a:xfrm>
      </p:grpSpPr>
      <p:pic>
        <p:nvPicPr>
          <p:cNvPr id="4" name="Picture 3">
            <a:extLst>
              <a:ext uri="{FF2B5EF4-FFF2-40B4-BE49-F238E27FC236}">
                <a16:creationId xmlns:a16="http://schemas.microsoft.com/office/drawing/2014/main" id="{BAD15AED-7235-C191-92E3-AA26F3A5AF72}"/>
              </a:ext>
            </a:extLst>
          </p:cNvPr>
          <p:cNvPicPr>
            <a:picLocks noChangeAspect="1"/>
          </p:cNvPicPr>
          <p:nvPr/>
        </p:nvPicPr>
        <p:blipFill>
          <a:blip r:embed="rId2"/>
          <a:stretch>
            <a:fillRect/>
          </a:stretch>
        </p:blipFill>
        <p:spPr>
          <a:xfrm>
            <a:off x="0" y="1037627"/>
            <a:ext cx="9144000" cy="4572000"/>
          </a:xfrm>
          <a:prstGeom prst="rect">
            <a:avLst/>
          </a:prstGeom>
        </p:spPr>
      </p:pic>
      <p:sp>
        <p:nvSpPr>
          <p:cNvPr id="18" name="Google Shape;18;p3"/>
          <p:cNvSpPr txBox="1">
            <a:spLocks noGrp="1"/>
          </p:cNvSpPr>
          <p:nvPr>
            <p:ph type="title"/>
          </p:nvPr>
        </p:nvSpPr>
        <p:spPr>
          <a:xfrm>
            <a:off x="311700" y="1940538"/>
            <a:ext cx="8520600" cy="841800"/>
          </a:xfrm>
          <a:prstGeom prst="rect">
            <a:avLst/>
          </a:prstGeom>
        </p:spPr>
        <p:txBody>
          <a:bodyPr spcFirstLastPara="1" wrap="square" lIns="0" tIns="0" rIns="0" bIns="0" anchor="ctr" anchorCtr="0">
            <a:noAutofit/>
          </a:bodyPr>
          <a:lstStyle>
            <a:lvl1pPr lvl="0" algn="l">
              <a:spcBef>
                <a:spcPts val="0"/>
              </a:spcBef>
              <a:spcAft>
                <a:spcPts val="0"/>
              </a:spcAft>
              <a:buClr>
                <a:schemeClr val="lt1"/>
              </a:buClr>
              <a:buSzPts val="3600"/>
              <a:buNone/>
              <a:defRPr sz="3600">
                <a:solidFill>
                  <a:schemeClr val="bg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r>
              <a:rPr lang="zh-CN" altLang="en-US"/>
              <a:t>单击此处编辑母版标题样式</a:t>
            </a:r>
            <a:endParaRPr dirty="0"/>
          </a:p>
        </p:txBody>
      </p:sp>
      <p:pic>
        <p:nvPicPr>
          <p:cNvPr id="2" name="Graphic 1">
            <a:extLst>
              <a:ext uri="{FF2B5EF4-FFF2-40B4-BE49-F238E27FC236}">
                <a16:creationId xmlns:a16="http://schemas.microsoft.com/office/drawing/2014/main" id="{5800D33B-D352-5CF8-487B-62E99AF875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pic>
        <p:nvPicPr>
          <p:cNvPr id="3" name="Picture 3">
            <a:extLst>
              <a:ext uri="{FF2B5EF4-FFF2-40B4-BE49-F238E27FC236}">
                <a16:creationId xmlns:a16="http://schemas.microsoft.com/office/drawing/2014/main" id="{C8A91009-3244-D7B1-D387-1E5F81E3842D}"/>
              </a:ext>
            </a:extLst>
          </p:cNvPr>
          <p:cNvPicPr>
            <a:picLocks noChangeAspect="1"/>
          </p:cNvPicPr>
          <p:nvPr userDrawn="1"/>
        </p:nvPicPr>
        <p:blipFill>
          <a:blip r:embed="rId2"/>
          <a:stretch>
            <a:fillRect/>
          </a:stretch>
        </p:blipFill>
        <p:spPr>
          <a:xfrm>
            <a:off x="0" y="1037627"/>
            <a:ext cx="9144000" cy="4572000"/>
          </a:xfrm>
          <a:prstGeom prst="rect">
            <a:avLst/>
          </a:prstGeom>
        </p:spPr>
      </p:pic>
      <p:pic>
        <p:nvPicPr>
          <p:cNvPr id="5" name="Graphic 1">
            <a:extLst>
              <a:ext uri="{FF2B5EF4-FFF2-40B4-BE49-F238E27FC236}">
                <a16:creationId xmlns:a16="http://schemas.microsoft.com/office/drawing/2014/main" id="{14824A21-FF8F-D8BA-5392-A7B6169F1A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12424446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bg>
      <p:bgPr>
        <a:solidFill>
          <a:srgbClr val="3939D9"/>
        </a:solidFill>
        <a:effectLst/>
      </p:bgPr>
    </p:bg>
    <p:spTree>
      <p:nvGrpSpPr>
        <p:cNvPr id="1" name="Shape 15"/>
        <p:cNvGrpSpPr/>
        <p:nvPr/>
      </p:nvGrpSpPr>
      <p:grpSpPr>
        <a:xfrm>
          <a:off x="0" y="0"/>
          <a:ext cx="0" cy="0"/>
          <a:chOff x="0" y="0"/>
          <a:chExt cx="0" cy="0"/>
        </a:xfrm>
      </p:grpSpPr>
      <p:grpSp>
        <p:nvGrpSpPr>
          <p:cNvPr id="12" name="Group 11">
            <a:extLst>
              <a:ext uri="{FF2B5EF4-FFF2-40B4-BE49-F238E27FC236}">
                <a16:creationId xmlns:a16="http://schemas.microsoft.com/office/drawing/2014/main" id="{484C6B30-477B-4F4A-5C8F-40C97D48ED96}"/>
              </a:ext>
            </a:extLst>
          </p:cNvPr>
          <p:cNvGrpSpPr/>
          <p:nvPr/>
        </p:nvGrpSpPr>
        <p:grpSpPr>
          <a:xfrm>
            <a:off x="0" y="4481929"/>
            <a:ext cx="9144000" cy="661572"/>
            <a:chOff x="0" y="4481929"/>
            <a:chExt cx="9144000" cy="661572"/>
          </a:xfrm>
        </p:grpSpPr>
        <p:pic>
          <p:nvPicPr>
            <p:cNvPr id="11" name="Graphic 10">
              <a:extLst>
                <a:ext uri="{FF2B5EF4-FFF2-40B4-BE49-F238E27FC236}">
                  <a16:creationId xmlns:a16="http://schemas.microsoft.com/office/drawing/2014/main" id="{8EAB0C1D-CA29-D026-4D84-652A8EA2377D}"/>
                </a:ext>
              </a:extLst>
            </p:cNvPr>
            <p:cNvPicPr>
              <a:picLocks noChangeAspect="1"/>
            </p:cNvPicPr>
            <p:nvPr userDrawn="1"/>
          </p:nvPicPr>
          <p:blipFill>
            <a:blip>
              <a:extLst>
                <a:ext uri="{96DAC541-7B7A-43D3-8B79-37D633B846F1}">
                  <asvg:svgBlip xmlns:asvg="http://schemas.microsoft.com/office/drawing/2016/SVG/main" r:embed="rId2"/>
                </a:ext>
              </a:extLst>
            </a:blip>
            <a:srcRect t="-1" r="3355" b="1"/>
            <a:stretch/>
          </p:blipFill>
          <p:spPr>
            <a:xfrm>
              <a:off x="4629065" y="4481929"/>
              <a:ext cx="4514935" cy="661572"/>
            </a:xfrm>
            <a:prstGeom prst="rect">
              <a:avLst/>
            </a:prstGeom>
          </p:spPr>
        </p:pic>
        <p:pic>
          <p:nvPicPr>
            <p:cNvPr id="9" name="Graphic 8">
              <a:extLst>
                <a:ext uri="{FF2B5EF4-FFF2-40B4-BE49-F238E27FC236}">
                  <a16:creationId xmlns:a16="http://schemas.microsoft.com/office/drawing/2014/main" id="{46177867-F6E6-1D47-852D-BE32A17201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481929"/>
              <a:ext cx="4671706" cy="661571"/>
            </a:xfrm>
            <a:prstGeom prst="rect">
              <a:avLst/>
            </a:prstGeom>
          </p:spPr>
        </p:pic>
      </p:grpSp>
      <p:pic>
        <p:nvPicPr>
          <p:cNvPr id="4" name="Graphic 3">
            <a:extLst>
              <a:ext uri="{FF2B5EF4-FFF2-40B4-BE49-F238E27FC236}">
                <a16:creationId xmlns:a16="http://schemas.microsoft.com/office/drawing/2014/main" id="{CC08653C-828C-6CA0-19A5-81C93927EBE4}"/>
              </a:ext>
            </a:extLst>
          </p:cNvPr>
          <p:cNvPicPr>
            <a:picLocks noChangeAspect="1"/>
          </p:cNvPicPr>
          <p:nvPr/>
        </p:nvPicPr>
        <p:blipFill>
          <a:blip>
            <a:extLst>
              <a:ext uri="{96DAC541-7B7A-43D3-8B79-37D633B846F1}">
                <asvg:svgBlip xmlns:asvg="http://schemas.microsoft.com/office/drawing/2016/SVG/main" r:embed="rId3"/>
              </a:ext>
            </a:extLst>
          </a:blip>
          <a:srcRect l="38916"/>
          <a:stretch>
            <a:fillRect/>
          </a:stretch>
        </p:blipFill>
        <p:spPr>
          <a:xfrm>
            <a:off x="-1" y="2438828"/>
            <a:ext cx="5585571" cy="2032000"/>
          </a:xfrm>
          <a:prstGeom prst="rect">
            <a:avLst/>
          </a:prstGeom>
        </p:spPr>
      </p:pic>
      <p:pic>
        <p:nvPicPr>
          <p:cNvPr id="7" name="Graphic 6">
            <a:extLst>
              <a:ext uri="{FF2B5EF4-FFF2-40B4-BE49-F238E27FC236}">
                <a16:creationId xmlns:a16="http://schemas.microsoft.com/office/drawing/2014/main" id="{EFEFE7CE-CDC0-E8E6-B2C3-1BD2F988261F}"/>
              </a:ext>
            </a:extLst>
          </p:cNvPr>
          <p:cNvPicPr>
            <a:picLocks noChangeAspect="1"/>
          </p:cNvPicPr>
          <p:nvPr/>
        </p:nvPicPr>
        <p:blipFill>
          <a:blip>
            <a:extLst>
              <a:ext uri="{96DAC541-7B7A-43D3-8B79-37D633B846F1}">
                <asvg:svgBlip xmlns:asvg="http://schemas.microsoft.com/office/drawing/2016/SVG/main" r:embed="rId4"/>
              </a:ext>
            </a:extLst>
          </a:blip>
          <a:srcRect r="15587" b="21353"/>
          <a:stretch>
            <a:fillRect/>
          </a:stretch>
        </p:blipFill>
        <p:spPr>
          <a:xfrm>
            <a:off x="6499435" y="1893231"/>
            <a:ext cx="2644565" cy="3250270"/>
          </a:xfrm>
          <a:prstGeom prst="rect">
            <a:avLst/>
          </a:prstGeom>
        </p:spPr>
      </p:pic>
      <p:sp>
        <p:nvSpPr>
          <p:cNvPr id="18" name="Google Shape;18;p3"/>
          <p:cNvSpPr txBox="1">
            <a:spLocks noGrp="1"/>
          </p:cNvSpPr>
          <p:nvPr>
            <p:ph type="title"/>
          </p:nvPr>
        </p:nvSpPr>
        <p:spPr>
          <a:xfrm>
            <a:off x="311700" y="1940538"/>
            <a:ext cx="8520600" cy="841800"/>
          </a:xfrm>
          <a:prstGeom prst="rect">
            <a:avLst/>
          </a:prstGeom>
        </p:spPr>
        <p:txBody>
          <a:bodyPr spcFirstLastPara="1" wrap="square" lIns="0" tIns="0" rIns="0" bIns="0" anchor="ctr" anchorCtr="0">
            <a:noAutofit/>
          </a:bodyPr>
          <a:lstStyle>
            <a:lvl1pPr lvl="0" algn="l">
              <a:spcBef>
                <a:spcPts val="0"/>
              </a:spcBef>
              <a:spcAft>
                <a:spcPts val="0"/>
              </a:spcAft>
              <a:buClr>
                <a:schemeClr val="lt1"/>
              </a:buClr>
              <a:buSzPts val="3600"/>
              <a:buNone/>
              <a:defRPr sz="3600">
                <a:solidFill>
                  <a:schemeClr val="bg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r>
              <a:rPr lang="zh-CN" altLang="en-US"/>
              <a:t>单击此处编辑母版标题样式</a:t>
            </a:r>
            <a:endParaRPr dirty="0"/>
          </a:p>
        </p:txBody>
      </p:sp>
      <p:pic>
        <p:nvPicPr>
          <p:cNvPr id="2" name="Graphic 1">
            <a:extLst>
              <a:ext uri="{FF2B5EF4-FFF2-40B4-BE49-F238E27FC236}">
                <a16:creationId xmlns:a16="http://schemas.microsoft.com/office/drawing/2014/main" id="{01A8999B-04C9-7E6B-4D87-7A97774683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3290927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reserve="1">
  <p:cSld name="2_Section header">
    <p:bg>
      <p:bgPr>
        <a:solidFill>
          <a:srgbClr val="3939D9"/>
        </a:solidFill>
        <a:effectLst/>
      </p:bgPr>
    </p:bg>
    <p:spTree>
      <p:nvGrpSpPr>
        <p:cNvPr id="1" name="Shape 15"/>
        <p:cNvGrpSpPr/>
        <p:nvPr/>
      </p:nvGrpSpPr>
      <p:grpSpPr>
        <a:xfrm>
          <a:off x="0" y="0"/>
          <a:ext cx="0" cy="0"/>
          <a:chOff x="0" y="0"/>
          <a:chExt cx="0" cy="0"/>
        </a:xfrm>
      </p:grpSpPr>
      <p:pic>
        <p:nvPicPr>
          <p:cNvPr id="6" name="Graphic 5">
            <a:extLst>
              <a:ext uri="{FF2B5EF4-FFF2-40B4-BE49-F238E27FC236}">
                <a16:creationId xmlns:a16="http://schemas.microsoft.com/office/drawing/2014/main" id="{545ECC6A-12FE-332A-171E-3A2B0B9330E7}"/>
              </a:ext>
            </a:extLst>
          </p:cNvPr>
          <p:cNvPicPr>
            <a:picLocks noChangeAspect="1"/>
          </p:cNvPicPr>
          <p:nvPr/>
        </p:nvPicPr>
        <p:blipFill>
          <a:blip>
            <a:extLst>
              <a:ext uri="{96DAC541-7B7A-43D3-8B79-37D633B846F1}">
                <asvg:svgBlip xmlns:asvg="http://schemas.microsoft.com/office/drawing/2016/SVG/main" r:embed="rId2"/>
              </a:ext>
            </a:extLst>
          </a:blip>
          <a:srcRect l="13688" r="38404"/>
          <a:stretch/>
        </p:blipFill>
        <p:spPr>
          <a:xfrm>
            <a:off x="-1" y="902028"/>
            <a:ext cx="9144001" cy="4241472"/>
          </a:xfrm>
          <a:prstGeom prst="rect">
            <a:avLst/>
          </a:prstGeom>
        </p:spPr>
      </p:pic>
      <p:sp>
        <p:nvSpPr>
          <p:cNvPr id="3" name="Google Shape;10;p2">
            <a:extLst>
              <a:ext uri="{FF2B5EF4-FFF2-40B4-BE49-F238E27FC236}">
                <a16:creationId xmlns:a16="http://schemas.microsoft.com/office/drawing/2014/main" id="{D7886BC5-AD68-17FD-8970-0591BF217146}"/>
              </a:ext>
            </a:extLst>
          </p:cNvPr>
          <p:cNvSpPr txBox="1">
            <a:spLocks noGrp="1"/>
          </p:cNvSpPr>
          <p:nvPr>
            <p:ph type="ctrTitle"/>
          </p:nvPr>
        </p:nvSpPr>
        <p:spPr>
          <a:xfrm>
            <a:off x="398302" y="1373367"/>
            <a:ext cx="8010201" cy="2024438"/>
          </a:xfrm>
          <a:prstGeom prst="rect">
            <a:avLst/>
          </a:prstGeom>
          <a:noFill/>
        </p:spPr>
        <p:txBody>
          <a:bodyPr spcFirstLastPara="1" wrap="square" lIns="0" tIns="0" rIns="0" bIns="0" anchor="ctr" anchorCtr="0">
            <a:noAutofit/>
          </a:bodyPr>
          <a:lstStyle>
            <a:lvl1pPr lvl="0" algn="l">
              <a:spcBef>
                <a:spcPts val="0"/>
              </a:spcBef>
              <a:spcAft>
                <a:spcPts val="0"/>
              </a:spcAft>
              <a:buClr>
                <a:schemeClr val="lt1"/>
              </a:buClr>
              <a:buSzPts val="4800"/>
              <a:buNone/>
              <a:defRPr sz="4800">
                <a:solidFill>
                  <a:schemeClr val="bg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r>
              <a:rPr lang="zh-CN" altLang="en-US"/>
              <a:t>单击此处编辑母版标题样式</a:t>
            </a:r>
            <a:endParaRPr dirty="0"/>
          </a:p>
        </p:txBody>
      </p:sp>
      <p:sp>
        <p:nvSpPr>
          <p:cNvPr id="4" name="Google Shape;11;p2">
            <a:extLst>
              <a:ext uri="{FF2B5EF4-FFF2-40B4-BE49-F238E27FC236}">
                <a16:creationId xmlns:a16="http://schemas.microsoft.com/office/drawing/2014/main" id="{2DE4FE32-0B29-47A8-70C6-3BD2A2207575}"/>
              </a:ext>
            </a:extLst>
          </p:cNvPr>
          <p:cNvSpPr txBox="1">
            <a:spLocks noGrp="1"/>
          </p:cNvSpPr>
          <p:nvPr>
            <p:ph type="subTitle" idx="1"/>
          </p:nvPr>
        </p:nvSpPr>
        <p:spPr>
          <a:xfrm>
            <a:off x="398301" y="3397805"/>
            <a:ext cx="8010201" cy="670179"/>
          </a:xfrm>
          <a:prstGeom prst="rect">
            <a:avLst/>
          </a:prstGeom>
          <a:noFill/>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00"/>
              <a:buNone/>
              <a:defRPr sz="2800" b="1">
                <a:solidFill>
                  <a:schemeClr val="bg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r>
              <a:rPr lang="zh-CN" altLang="en-US"/>
              <a:t>单击此处编辑母版副标题样式</a:t>
            </a:r>
            <a:endParaRPr dirty="0"/>
          </a:p>
        </p:txBody>
      </p:sp>
      <p:pic>
        <p:nvPicPr>
          <p:cNvPr id="13" name="Graphic 12">
            <a:extLst>
              <a:ext uri="{FF2B5EF4-FFF2-40B4-BE49-F238E27FC236}">
                <a16:creationId xmlns:a16="http://schemas.microsoft.com/office/drawing/2014/main" id="{1D508422-D1B7-95E2-ABE2-5E60CB082B25}"/>
              </a:ext>
            </a:extLst>
          </p:cNvPr>
          <p:cNvPicPr>
            <a:picLocks noChangeAspect="1"/>
          </p:cNvPicPr>
          <p:nvPr/>
        </p:nvPicPr>
        <p:blipFill>
          <a:blip>
            <a:extLst>
              <a:ext uri="{96DAC541-7B7A-43D3-8B79-37D633B846F1}">
                <asvg:svgBlip xmlns:asvg="http://schemas.microsoft.com/office/drawing/2016/SVG/main" r:embed="rId3"/>
              </a:ext>
            </a:extLst>
          </a:blip>
          <a:srcRect l="41002" b="9975"/>
          <a:stretch>
            <a:fillRect/>
          </a:stretch>
        </p:blipFill>
        <p:spPr>
          <a:xfrm>
            <a:off x="-1" y="4080209"/>
            <a:ext cx="1528535" cy="1063291"/>
          </a:xfrm>
          <a:prstGeom prst="rect">
            <a:avLst/>
          </a:prstGeom>
        </p:spPr>
      </p:pic>
      <p:pic>
        <p:nvPicPr>
          <p:cNvPr id="2" name="Graphic 1">
            <a:extLst>
              <a:ext uri="{FF2B5EF4-FFF2-40B4-BE49-F238E27FC236}">
                <a16:creationId xmlns:a16="http://schemas.microsoft.com/office/drawing/2014/main" id="{77DFCB9B-08AE-B71A-FBF0-FFF191A2E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1213" y="178533"/>
            <a:ext cx="2007965" cy="882288"/>
          </a:xfrm>
          <a:prstGeom prst="rect">
            <a:avLst/>
          </a:prstGeom>
        </p:spPr>
      </p:pic>
      <p:pic>
        <p:nvPicPr>
          <p:cNvPr id="5" name="Graphic 5">
            <a:extLst>
              <a:ext uri="{FF2B5EF4-FFF2-40B4-BE49-F238E27FC236}">
                <a16:creationId xmlns:a16="http://schemas.microsoft.com/office/drawing/2014/main" id="{CACD6EE9-A01B-E22E-8A1C-F1E6292A9042}"/>
              </a:ext>
            </a:extLst>
          </p:cNvPr>
          <p:cNvPicPr>
            <a:picLocks noChangeAspect="1"/>
          </p:cNvPicPr>
          <p:nvPr userDrawn="1"/>
        </p:nvPicPr>
        <p:blipFill>
          <a:blip>
            <a:extLst>
              <a:ext uri="{96DAC541-7B7A-43D3-8B79-37D633B846F1}">
                <asvg:svgBlip xmlns:asvg="http://schemas.microsoft.com/office/drawing/2016/SVG/main" r:embed="rId2"/>
              </a:ext>
            </a:extLst>
          </a:blip>
          <a:srcRect l="13688" r="38404"/>
          <a:stretch/>
        </p:blipFill>
        <p:spPr>
          <a:xfrm>
            <a:off x="-1" y="902028"/>
            <a:ext cx="9144001" cy="4241472"/>
          </a:xfrm>
          <a:prstGeom prst="rect">
            <a:avLst/>
          </a:prstGeom>
        </p:spPr>
      </p:pic>
      <p:pic>
        <p:nvPicPr>
          <p:cNvPr id="7" name="Graphic 12">
            <a:extLst>
              <a:ext uri="{FF2B5EF4-FFF2-40B4-BE49-F238E27FC236}">
                <a16:creationId xmlns:a16="http://schemas.microsoft.com/office/drawing/2014/main" id="{1726B1F7-0362-B9DB-B6F6-713243C150D7}"/>
              </a:ext>
            </a:extLst>
          </p:cNvPr>
          <p:cNvPicPr>
            <a:picLocks noChangeAspect="1"/>
          </p:cNvPicPr>
          <p:nvPr userDrawn="1"/>
        </p:nvPicPr>
        <p:blipFill>
          <a:blip>
            <a:extLst>
              <a:ext uri="{96DAC541-7B7A-43D3-8B79-37D633B846F1}">
                <asvg:svgBlip xmlns:asvg="http://schemas.microsoft.com/office/drawing/2016/SVG/main" r:embed="rId3"/>
              </a:ext>
            </a:extLst>
          </a:blip>
          <a:srcRect l="41002" b="9975"/>
          <a:stretch>
            <a:fillRect/>
          </a:stretch>
        </p:blipFill>
        <p:spPr>
          <a:xfrm>
            <a:off x="-1" y="4080209"/>
            <a:ext cx="1528535" cy="1063291"/>
          </a:xfrm>
          <a:prstGeom prst="rect">
            <a:avLst/>
          </a:prstGeom>
        </p:spPr>
      </p:pic>
      <p:pic>
        <p:nvPicPr>
          <p:cNvPr id="8" name="Graphic 1">
            <a:extLst>
              <a:ext uri="{FF2B5EF4-FFF2-40B4-BE49-F238E27FC236}">
                <a16:creationId xmlns:a16="http://schemas.microsoft.com/office/drawing/2014/main" id="{890B0234-B255-D087-7956-8842661883F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179548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reserve="1">
  <p:cSld name="3_Section header">
    <p:bg>
      <p:bgPr>
        <a:solidFill>
          <a:srgbClr val="3939D9"/>
        </a:solidFill>
        <a:effectLst/>
      </p:bgPr>
    </p:bg>
    <p:spTree>
      <p:nvGrpSpPr>
        <p:cNvPr id="1" name="Shape 15"/>
        <p:cNvGrpSpPr/>
        <p:nvPr/>
      </p:nvGrpSpPr>
      <p:grpSpPr>
        <a:xfrm>
          <a:off x="0" y="0"/>
          <a:ext cx="0" cy="0"/>
          <a:chOff x="0" y="0"/>
          <a:chExt cx="0" cy="0"/>
        </a:xfrm>
      </p:grpSpPr>
      <p:pic>
        <p:nvPicPr>
          <p:cNvPr id="3" name="Graphic 2">
            <a:extLst>
              <a:ext uri="{FF2B5EF4-FFF2-40B4-BE49-F238E27FC236}">
                <a16:creationId xmlns:a16="http://schemas.microsoft.com/office/drawing/2014/main" id="{87777168-A6F5-766A-77C3-9DD80C164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2474"/>
            <a:ext cx="9144000" cy="5145974"/>
          </a:xfrm>
          <a:prstGeom prst="rect">
            <a:avLst/>
          </a:prstGeom>
        </p:spPr>
      </p:pic>
      <p:pic>
        <p:nvPicPr>
          <p:cNvPr id="2" name="Graphic 1">
            <a:extLst>
              <a:ext uri="{FF2B5EF4-FFF2-40B4-BE49-F238E27FC236}">
                <a16:creationId xmlns:a16="http://schemas.microsoft.com/office/drawing/2014/main" id="{96F937DC-2313-8040-39D2-5051B8216D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pic>
        <p:nvPicPr>
          <p:cNvPr id="4" name="Graphic 2">
            <a:extLst>
              <a:ext uri="{FF2B5EF4-FFF2-40B4-BE49-F238E27FC236}">
                <a16:creationId xmlns:a16="http://schemas.microsoft.com/office/drawing/2014/main" id="{AAE6BF47-83FD-6D48-6B1A-FC2724972D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2474"/>
            <a:ext cx="9144000" cy="5145974"/>
          </a:xfrm>
          <a:prstGeom prst="rect">
            <a:avLst/>
          </a:prstGeom>
        </p:spPr>
      </p:pic>
      <p:pic>
        <p:nvPicPr>
          <p:cNvPr id="5" name="Graphic 1">
            <a:extLst>
              <a:ext uri="{FF2B5EF4-FFF2-40B4-BE49-F238E27FC236}">
                <a16:creationId xmlns:a16="http://schemas.microsoft.com/office/drawing/2014/main" id="{FD1C7DF1-D6DB-540E-D17E-D9DE4E83C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96741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20"/>
        <p:cNvGrpSpPr/>
        <p:nvPr/>
      </p:nvGrpSpPr>
      <p:grpSpPr>
        <a:xfrm>
          <a:off x="0" y="0"/>
          <a:ext cx="0" cy="0"/>
          <a:chOff x="0" y="0"/>
          <a:chExt cx="0" cy="0"/>
        </a:xfrm>
      </p:grpSpPr>
      <p:sp>
        <p:nvSpPr>
          <p:cNvPr id="22" name="Google Shape;22;p4"/>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2800"/>
              <a:buNone/>
              <a:defRPr>
                <a:solidFill>
                  <a:srgbClr val="00144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zh-CN" altLang="en-US"/>
              <a:t>单击此处编辑母版标题样式</a:t>
            </a:r>
            <a:endParaRPr dirty="0"/>
          </a:p>
        </p:txBody>
      </p:sp>
      <p:sp>
        <p:nvSpPr>
          <p:cNvPr id="23" name="Google Shape;23;p4"/>
          <p:cNvSpPr txBox="1">
            <a:spLocks noGrp="1"/>
          </p:cNvSpPr>
          <p:nvPr>
            <p:ph type="body" idx="1"/>
          </p:nvPr>
        </p:nvSpPr>
        <p:spPr>
          <a:xfrm>
            <a:off x="311700" y="1152475"/>
            <a:ext cx="8520600" cy="33174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sz="12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zh-CN" altLang="en-US"/>
              <a:t>单击此处编辑母版文本样式</a:t>
            </a:r>
          </a:p>
        </p:txBody>
      </p:sp>
      <p:sp>
        <p:nvSpPr>
          <p:cNvPr id="3" name="Google Shape;8;p1">
            <a:extLst>
              <a:ext uri="{FF2B5EF4-FFF2-40B4-BE49-F238E27FC236}">
                <a16:creationId xmlns:a16="http://schemas.microsoft.com/office/drawing/2014/main" id="{EA43BF7F-CDD3-5FD0-BDAC-85A5CA4188A1}"/>
              </a:ext>
            </a:extLst>
          </p:cNvPr>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smtClean="0"/>
              <a:t>‹#›</a:t>
            </a:fld>
            <a:endParaRPr lang="en"/>
          </a:p>
        </p:txBody>
      </p:sp>
      <p:pic>
        <p:nvPicPr>
          <p:cNvPr id="5" name="Graphic 4">
            <a:extLst>
              <a:ext uri="{FF2B5EF4-FFF2-40B4-BE49-F238E27FC236}">
                <a16:creationId xmlns:a16="http://schemas.microsoft.com/office/drawing/2014/main" id="{9090B857-6415-5D70-6F31-FCDF6E51CC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pic>
        <p:nvPicPr>
          <p:cNvPr id="2" name="Graphic 4">
            <a:extLst>
              <a:ext uri="{FF2B5EF4-FFF2-40B4-BE49-F238E27FC236}">
                <a16:creationId xmlns:a16="http://schemas.microsoft.com/office/drawing/2014/main" id="{C51B2305-BA16-3324-05CD-B82A1CAED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extLst>
      <p:ext uri="{BB962C8B-B14F-4D97-AF65-F5344CB8AC3E}">
        <p14:creationId xmlns:p14="http://schemas.microsoft.com/office/powerpoint/2010/main" val="896433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bg>
      <p:bgPr>
        <a:solidFill>
          <a:schemeClr val="lt1"/>
        </a:solidFill>
        <a:effectLst/>
      </p:bgPr>
    </p:bg>
    <p:spTree>
      <p:nvGrpSpPr>
        <p:cNvPr id="1" name="Shape 20"/>
        <p:cNvGrpSpPr/>
        <p:nvPr/>
      </p:nvGrpSpPr>
      <p:grpSpPr>
        <a:xfrm>
          <a:off x="0" y="0"/>
          <a:ext cx="0" cy="0"/>
          <a:chOff x="0" y="0"/>
          <a:chExt cx="0" cy="0"/>
        </a:xfrm>
      </p:grpSpPr>
      <p:sp>
        <p:nvSpPr>
          <p:cNvPr id="2" name="Google Shape;21;p9">
            <a:extLst>
              <a:ext uri="{FF2B5EF4-FFF2-40B4-BE49-F238E27FC236}">
                <a16:creationId xmlns:a16="http://schemas.microsoft.com/office/drawing/2014/main" id="{75690BBD-4CD0-DFB9-AB2D-E63C2BD08AB7}"/>
              </a:ext>
            </a:extLst>
          </p:cNvPr>
          <p:cNvSpPr/>
          <p:nvPr/>
        </p:nvSpPr>
        <p:spPr>
          <a:xfrm>
            <a:off x="7100" y="5625"/>
            <a:ext cx="9136900" cy="1047900"/>
          </a:xfrm>
          <a:prstGeom prst="rect">
            <a:avLst/>
          </a:prstGeom>
          <a:solidFill>
            <a:srgbClr val="393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2" name="Google Shape;22;p4"/>
          <p:cNvSpPr txBox="1">
            <a:spLocks noGrp="1"/>
          </p:cNvSpPr>
          <p:nvPr>
            <p:ph type="title"/>
          </p:nvPr>
        </p:nvSpPr>
        <p:spPr>
          <a:xfrm>
            <a:off x="311700" y="0"/>
            <a:ext cx="6949739" cy="1047900"/>
          </a:xfrm>
          <a:prstGeom prst="rect">
            <a:avLst/>
          </a:prstGeom>
        </p:spPr>
        <p:txBody>
          <a:bodyPr spcFirstLastPara="1" wrap="square" lIns="0" tIns="0" rIns="0" bIns="0" anchor="ctr" anchorCtr="0">
            <a:normAutofit/>
          </a:bodyPr>
          <a:lstStyle>
            <a:lvl1pPr lvl="0">
              <a:spcBef>
                <a:spcPts val="0"/>
              </a:spcBef>
              <a:spcAft>
                <a:spcPts val="0"/>
              </a:spcAft>
              <a:buSzPts val="2800"/>
              <a:buNone/>
              <a:defRPr>
                <a:solidFill>
                  <a:schemeClr val="bg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zh-CN" altLang="en-US"/>
              <a:t>单击此处编辑母版标题样式</a:t>
            </a:r>
            <a:endParaRPr dirty="0"/>
          </a:p>
        </p:txBody>
      </p:sp>
      <p:sp>
        <p:nvSpPr>
          <p:cNvPr id="23" name="Google Shape;23;p4"/>
          <p:cNvSpPr txBox="1">
            <a:spLocks noGrp="1"/>
          </p:cNvSpPr>
          <p:nvPr>
            <p:ph type="body" idx="1"/>
          </p:nvPr>
        </p:nvSpPr>
        <p:spPr>
          <a:xfrm>
            <a:off x="311700" y="1152475"/>
            <a:ext cx="8520600" cy="33174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sz="12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zh-CN" altLang="en-US"/>
              <a:t>单击此处编辑母版文本样式</a:t>
            </a:r>
          </a:p>
        </p:txBody>
      </p:sp>
      <p:sp>
        <p:nvSpPr>
          <p:cNvPr id="3" name="Google Shape;8;p1">
            <a:extLst>
              <a:ext uri="{FF2B5EF4-FFF2-40B4-BE49-F238E27FC236}">
                <a16:creationId xmlns:a16="http://schemas.microsoft.com/office/drawing/2014/main" id="{19D7AB29-BDB6-7644-4042-CFF53942E56F}"/>
              </a:ext>
            </a:extLst>
          </p:cNvPr>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5" name="Graphic 4">
            <a:extLst>
              <a:ext uri="{FF2B5EF4-FFF2-40B4-BE49-F238E27FC236}">
                <a16:creationId xmlns:a16="http://schemas.microsoft.com/office/drawing/2014/main" id="{CD8E9950-A10C-9781-AB14-71F0DE3ED8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86494" y="262283"/>
            <a:ext cx="1245804" cy="547399"/>
          </a:xfrm>
          <a:prstGeom prst="rect">
            <a:avLst/>
          </a:prstGeom>
        </p:spPr>
      </p:pic>
    </p:spTree>
    <p:extLst>
      <p:ext uri="{BB962C8B-B14F-4D97-AF65-F5344CB8AC3E}">
        <p14:creationId xmlns:p14="http://schemas.microsoft.com/office/powerpoint/2010/main" val="3252875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1"/>
        </a:solidFill>
        <a:effectLst/>
      </p:bgPr>
    </p:bg>
    <p:spTree>
      <p:nvGrpSpPr>
        <p:cNvPr id="1" name="Shape 26"/>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2800"/>
              <a:buNone/>
              <a:defRPr>
                <a:solidFill>
                  <a:srgbClr val="00144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zh-CN" altLang="en-US"/>
              <a:t>单击此处编辑母版标题样式</a:t>
            </a:r>
            <a:endParaRPr/>
          </a:p>
        </p:txBody>
      </p:sp>
      <p:sp>
        <p:nvSpPr>
          <p:cNvPr id="31" name="Google Shape;31;p5"/>
          <p:cNvSpPr txBox="1">
            <a:spLocks noGrp="1"/>
          </p:cNvSpPr>
          <p:nvPr>
            <p:ph type="body" idx="1"/>
          </p:nvPr>
        </p:nvSpPr>
        <p:spPr>
          <a:xfrm>
            <a:off x="311700" y="1152475"/>
            <a:ext cx="3999900" cy="33174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zh-CN" altLang="en-US"/>
              <a:t>单击此处编辑母版文本样式</a:t>
            </a:r>
          </a:p>
        </p:txBody>
      </p:sp>
      <p:sp>
        <p:nvSpPr>
          <p:cNvPr id="32" name="Google Shape;32;p5"/>
          <p:cNvSpPr txBox="1">
            <a:spLocks noGrp="1"/>
          </p:cNvSpPr>
          <p:nvPr>
            <p:ph type="body" idx="2"/>
          </p:nvPr>
        </p:nvSpPr>
        <p:spPr>
          <a:xfrm>
            <a:off x="4832400" y="1152475"/>
            <a:ext cx="3999900" cy="33174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zh-CN" altLang="en-US"/>
              <a:t>单击此处编辑母版文本样式</a:t>
            </a:r>
          </a:p>
        </p:txBody>
      </p:sp>
      <p:sp>
        <p:nvSpPr>
          <p:cNvPr id="2" name="Google Shape;8;p1">
            <a:extLst>
              <a:ext uri="{FF2B5EF4-FFF2-40B4-BE49-F238E27FC236}">
                <a16:creationId xmlns:a16="http://schemas.microsoft.com/office/drawing/2014/main" id="{932876E6-4D38-11EA-167F-BBCFD39720DB}"/>
              </a:ext>
            </a:extLst>
          </p:cNvPr>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pic>
        <p:nvPicPr>
          <p:cNvPr id="3" name="Graphic 2">
            <a:extLst>
              <a:ext uri="{FF2B5EF4-FFF2-40B4-BE49-F238E27FC236}">
                <a16:creationId xmlns:a16="http://schemas.microsoft.com/office/drawing/2014/main" id="{59C2E1B0-5D7C-9ACB-2829-6BB09CC1AE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extLst>
      <p:ext uri="{BB962C8B-B14F-4D97-AF65-F5344CB8AC3E}">
        <p14:creationId xmlns:p14="http://schemas.microsoft.com/office/powerpoint/2010/main" val="25744031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sp>
        <p:nvSpPr>
          <p:cNvPr id="3" name="Google Shape;8;p1">
            <a:extLst>
              <a:ext uri="{FF2B5EF4-FFF2-40B4-BE49-F238E27FC236}">
                <a16:creationId xmlns:a16="http://schemas.microsoft.com/office/drawing/2014/main" id="{89960294-1123-63DF-687F-D7F4BCC98557}"/>
              </a:ext>
            </a:extLst>
          </p:cNvPr>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pic>
        <p:nvPicPr>
          <p:cNvPr id="4" name="Graphic 3">
            <a:extLst>
              <a:ext uri="{FF2B5EF4-FFF2-40B4-BE49-F238E27FC236}">
                <a16:creationId xmlns:a16="http://schemas.microsoft.com/office/drawing/2014/main" id="{7F1FE1D1-6ECC-C84D-0300-5B8F9895E1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700" y="4590950"/>
            <a:ext cx="1079629" cy="474382"/>
          </a:xfrm>
          <a:prstGeom prst="rect">
            <a:avLst/>
          </a:prstGeom>
        </p:spPr>
      </p:pic>
    </p:spTree>
    <p:extLst>
      <p:ext uri="{BB962C8B-B14F-4D97-AF65-F5344CB8AC3E}">
        <p14:creationId xmlns:p14="http://schemas.microsoft.com/office/powerpoint/2010/main" val="97508618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557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nterior title and two column body 1">
  <p:cSld name="Interior title and two column body 1">
    <p:spTree>
      <p:nvGrpSpPr>
        <p:cNvPr id="1" name="Shape 16"/>
        <p:cNvGrpSpPr/>
        <p:nvPr/>
      </p:nvGrpSpPr>
      <p:grpSpPr>
        <a:xfrm>
          <a:off x="0" y="0"/>
          <a:ext cx="0" cy="0"/>
          <a:chOff x="0" y="0"/>
          <a:chExt cx="0" cy="0"/>
        </a:xfrm>
      </p:grpSpPr>
      <p:sp>
        <p:nvSpPr>
          <p:cNvPr id="19" name="Google Shape;19;p5"/>
          <p:cNvSpPr txBox="1">
            <a:spLocks noGrp="1"/>
          </p:cNvSpPr>
          <p:nvPr>
            <p:ph type="sldNum" idx="12"/>
          </p:nvPr>
        </p:nvSpPr>
        <p:spPr>
          <a:xfrm>
            <a:off x="61481" y="4627167"/>
            <a:ext cx="548700" cy="107700"/>
          </a:xfrm>
          <a:prstGeom prst="rect">
            <a:avLst/>
          </a:prstGeom>
          <a:noFill/>
          <a:ln>
            <a:noFill/>
          </a:ln>
        </p:spPr>
        <p:txBody>
          <a:bodyPr spcFirstLastPara="1" wrap="square" lIns="0" tIns="0" rIns="0" bIns="0" anchor="b" anchorCtr="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sp>
        <p:nvSpPr>
          <p:cNvPr id="20" name="Google Shape;20;p5"/>
          <p:cNvSpPr txBox="1">
            <a:spLocks noGrp="1"/>
          </p:cNvSpPr>
          <p:nvPr>
            <p:ph type="body" idx="1"/>
          </p:nvPr>
        </p:nvSpPr>
        <p:spPr>
          <a:xfrm>
            <a:off x="663844" y="1718383"/>
            <a:ext cx="3703200" cy="2795400"/>
          </a:xfrm>
          <a:prstGeom prst="rect">
            <a:avLst/>
          </a:prstGeom>
          <a:noFill/>
          <a:ln>
            <a:noFill/>
          </a:ln>
        </p:spPr>
        <p:txBody>
          <a:bodyPr spcFirstLastPara="1" wrap="square" lIns="0" tIns="0" rIns="0" bIns="0" anchor="t" anchorCtr="0">
            <a:noAutofit/>
          </a:bodyPr>
          <a:lstStyle>
            <a:lvl1pPr marL="457200" lvl="0" indent="-298450">
              <a:lnSpc>
                <a:spcPct val="135000"/>
              </a:lnSpc>
              <a:spcBef>
                <a:spcPts val="800"/>
              </a:spcBef>
              <a:spcAft>
                <a:spcPts val="0"/>
              </a:spcAft>
              <a:buSzPts val="1100"/>
              <a:buChar char="●"/>
              <a:defRPr sz="1100"/>
            </a:lvl1pPr>
            <a:lvl2pPr marL="914400" lvl="1" indent="-298450">
              <a:lnSpc>
                <a:spcPct val="135000"/>
              </a:lnSpc>
              <a:spcBef>
                <a:spcPts val="800"/>
              </a:spcBef>
              <a:spcAft>
                <a:spcPts val="0"/>
              </a:spcAft>
              <a:buSzPts val="1100"/>
              <a:buChar char="○"/>
              <a:defRPr sz="1100"/>
            </a:lvl2pPr>
            <a:lvl3pPr marL="1371600" lvl="2" indent="-298450">
              <a:lnSpc>
                <a:spcPct val="135000"/>
              </a:lnSpc>
              <a:spcBef>
                <a:spcPts val="800"/>
              </a:spcBef>
              <a:spcAft>
                <a:spcPts val="0"/>
              </a:spcAft>
              <a:buSzPts val="1100"/>
              <a:buChar char="■"/>
              <a:defRPr sz="1100"/>
            </a:lvl3pPr>
            <a:lvl4pPr marL="1828800" lvl="3" indent="-298450">
              <a:lnSpc>
                <a:spcPct val="135000"/>
              </a:lnSpc>
              <a:spcBef>
                <a:spcPts val="800"/>
              </a:spcBef>
              <a:spcAft>
                <a:spcPts val="0"/>
              </a:spcAft>
              <a:buSzPts val="1100"/>
              <a:buChar char="●"/>
              <a:defRPr sz="1100"/>
            </a:lvl4pPr>
            <a:lvl5pPr marL="2286000" lvl="4" indent="-298450">
              <a:lnSpc>
                <a:spcPct val="135000"/>
              </a:lnSpc>
              <a:spcBef>
                <a:spcPts val="800"/>
              </a:spcBef>
              <a:spcAft>
                <a:spcPts val="0"/>
              </a:spcAft>
              <a:buSzPts val="1100"/>
              <a:buChar char="○"/>
              <a:defRPr sz="1100"/>
            </a:lvl5pPr>
            <a:lvl6pPr marL="2743200" lvl="5" indent="-298450">
              <a:lnSpc>
                <a:spcPct val="135000"/>
              </a:lnSpc>
              <a:spcBef>
                <a:spcPts val="800"/>
              </a:spcBef>
              <a:spcAft>
                <a:spcPts val="0"/>
              </a:spcAft>
              <a:buSzPts val="1100"/>
              <a:buChar char="■"/>
              <a:defRPr sz="1100"/>
            </a:lvl6pPr>
            <a:lvl7pPr marL="3200400" lvl="6" indent="-298450">
              <a:lnSpc>
                <a:spcPct val="135000"/>
              </a:lnSpc>
              <a:spcBef>
                <a:spcPts val="800"/>
              </a:spcBef>
              <a:spcAft>
                <a:spcPts val="0"/>
              </a:spcAft>
              <a:buSzPts val="1100"/>
              <a:buChar char="●"/>
              <a:defRPr sz="1100"/>
            </a:lvl7pPr>
            <a:lvl8pPr marL="3657600" lvl="7" indent="-298450">
              <a:lnSpc>
                <a:spcPct val="135000"/>
              </a:lnSpc>
              <a:spcBef>
                <a:spcPts val="800"/>
              </a:spcBef>
              <a:spcAft>
                <a:spcPts val="0"/>
              </a:spcAft>
              <a:buSzPts val="1100"/>
              <a:buChar char="○"/>
              <a:defRPr sz="1100"/>
            </a:lvl8pPr>
            <a:lvl9pPr marL="4114800" lvl="8" indent="-298450">
              <a:lnSpc>
                <a:spcPct val="135000"/>
              </a:lnSpc>
              <a:spcBef>
                <a:spcPts val="800"/>
              </a:spcBef>
              <a:spcAft>
                <a:spcPts val="800"/>
              </a:spcAft>
              <a:buSzPts val="1100"/>
              <a:buChar char="■"/>
              <a:defRPr sz="1100"/>
            </a:lvl9pPr>
          </a:lstStyle>
          <a:p>
            <a:endParaRPr/>
          </a:p>
        </p:txBody>
      </p:sp>
      <p:sp>
        <p:nvSpPr>
          <p:cNvPr id="21" name="Google Shape;21;p5"/>
          <p:cNvSpPr txBox="1">
            <a:spLocks noGrp="1"/>
          </p:cNvSpPr>
          <p:nvPr>
            <p:ph type="body" idx="2"/>
          </p:nvPr>
        </p:nvSpPr>
        <p:spPr>
          <a:xfrm>
            <a:off x="4777069" y="1718381"/>
            <a:ext cx="3703200" cy="2203200"/>
          </a:xfrm>
          <a:prstGeom prst="rect">
            <a:avLst/>
          </a:prstGeom>
          <a:noFill/>
          <a:ln>
            <a:noFill/>
          </a:ln>
        </p:spPr>
        <p:txBody>
          <a:bodyPr spcFirstLastPara="1" wrap="square" lIns="0" tIns="0" rIns="0" bIns="0" anchor="t" anchorCtr="0">
            <a:noAutofit/>
          </a:bodyPr>
          <a:lstStyle>
            <a:lvl1pPr marL="457200" lvl="0" indent="-298450">
              <a:lnSpc>
                <a:spcPct val="135000"/>
              </a:lnSpc>
              <a:spcBef>
                <a:spcPts val="800"/>
              </a:spcBef>
              <a:spcAft>
                <a:spcPts val="0"/>
              </a:spcAft>
              <a:buSzPts val="1100"/>
              <a:buChar char="●"/>
              <a:defRPr sz="1100"/>
            </a:lvl1pPr>
            <a:lvl2pPr marL="914400" lvl="1" indent="-298450">
              <a:lnSpc>
                <a:spcPct val="135000"/>
              </a:lnSpc>
              <a:spcBef>
                <a:spcPts val="800"/>
              </a:spcBef>
              <a:spcAft>
                <a:spcPts val="0"/>
              </a:spcAft>
              <a:buSzPts val="1100"/>
              <a:buChar char="○"/>
              <a:defRPr sz="1100"/>
            </a:lvl2pPr>
            <a:lvl3pPr marL="1371600" lvl="2" indent="-298450">
              <a:lnSpc>
                <a:spcPct val="135000"/>
              </a:lnSpc>
              <a:spcBef>
                <a:spcPts val="800"/>
              </a:spcBef>
              <a:spcAft>
                <a:spcPts val="0"/>
              </a:spcAft>
              <a:buSzPts val="1100"/>
              <a:buChar char="■"/>
              <a:defRPr sz="1100"/>
            </a:lvl3pPr>
            <a:lvl4pPr marL="1828800" lvl="3" indent="-298450">
              <a:lnSpc>
                <a:spcPct val="135000"/>
              </a:lnSpc>
              <a:spcBef>
                <a:spcPts val="800"/>
              </a:spcBef>
              <a:spcAft>
                <a:spcPts val="0"/>
              </a:spcAft>
              <a:buSzPts val="1100"/>
              <a:buChar char="●"/>
              <a:defRPr sz="1100"/>
            </a:lvl4pPr>
            <a:lvl5pPr marL="2286000" lvl="4" indent="-298450">
              <a:lnSpc>
                <a:spcPct val="135000"/>
              </a:lnSpc>
              <a:spcBef>
                <a:spcPts val="800"/>
              </a:spcBef>
              <a:spcAft>
                <a:spcPts val="0"/>
              </a:spcAft>
              <a:buSzPts val="1100"/>
              <a:buChar char="○"/>
              <a:defRPr sz="1100"/>
            </a:lvl5pPr>
            <a:lvl6pPr marL="2743200" lvl="5" indent="-298450">
              <a:lnSpc>
                <a:spcPct val="135000"/>
              </a:lnSpc>
              <a:spcBef>
                <a:spcPts val="800"/>
              </a:spcBef>
              <a:spcAft>
                <a:spcPts val="0"/>
              </a:spcAft>
              <a:buSzPts val="1100"/>
              <a:buChar char="■"/>
              <a:defRPr sz="1100"/>
            </a:lvl6pPr>
            <a:lvl7pPr marL="3200400" lvl="6" indent="-298450">
              <a:lnSpc>
                <a:spcPct val="135000"/>
              </a:lnSpc>
              <a:spcBef>
                <a:spcPts val="800"/>
              </a:spcBef>
              <a:spcAft>
                <a:spcPts val="0"/>
              </a:spcAft>
              <a:buSzPts val="1100"/>
              <a:buChar char="●"/>
              <a:defRPr sz="1100"/>
            </a:lvl7pPr>
            <a:lvl8pPr marL="3657600" lvl="7" indent="-298450">
              <a:lnSpc>
                <a:spcPct val="135000"/>
              </a:lnSpc>
              <a:spcBef>
                <a:spcPts val="800"/>
              </a:spcBef>
              <a:spcAft>
                <a:spcPts val="0"/>
              </a:spcAft>
              <a:buSzPts val="1100"/>
              <a:buChar char="○"/>
              <a:defRPr sz="1100"/>
            </a:lvl8pPr>
            <a:lvl9pPr marL="4114800" lvl="8" indent="-298450">
              <a:lnSpc>
                <a:spcPct val="135000"/>
              </a:lnSpc>
              <a:spcBef>
                <a:spcPts val="800"/>
              </a:spcBef>
              <a:spcAft>
                <a:spcPts val="800"/>
              </a:spcAft>
              <a:buSzPts val="1100"/>
              <a:buChar char="■"/>
              <a:defRPr sz="1100"/>
            </a:lvl9pPr>
          </a:lstStyle>
          <a:p>
            <a:endParaRPr/>
          </a:p>
        </p:txBody>
      </p:sp>
      <p:sp>
        <p:nvSpPr>
          <p:cNvPr id="22" name="Google Shape;22;p5"/>
          <p:cNvSpPr txBox="1">
            <a:spLocks noGrp="1"/>
          </p:cNvSpPr>
          <p:nvPr>
            <p:ph type="title"/>
          </p:nvPr>
        </p:nvSpPr>
        <p:spPr>
          <a:xfrm>
            <a:off x="663788" y="825263"/>
            <a:ext cx="7816500" cy="414900"/>
          </a:xfrm>
          <a:prstGeom prst="rect">
            <a:avLst/>
          </a:prstGeom>
          <a:noFill/>
          <a:ln>
            <a:noFill/>
          </a:ln>
        </p:spPr>
        <p:txBody>
          <a:bodyPr spcFirstLastPara="1" wrap="square" lIns="68575" tIns="68575" rIns="68575" bIns="68575" anchor="t" anchorCtr="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a:endParaRPr/>
          </a:p>
        </p:txBody>
      </p:sp>
      <p:sp>
        <p:nvSpPr>
          <p:cNvPr id="23" name="Google Shape;23;p5"/>
          <p:cNvSpPr txBox="1">
            <a:spLocks noGrp="1"/>
          </p:cNvSpPr>
          <p:nvPr>
            <p:ph type="subTitle" idx="3"/>
          </p:nvPr>
        </p:nvSpPr>
        <p:spPr>
          <a:xfrm>
            <a:off x="663844" y="1240163"/>
            <a:ext cx="7816500" cy="219000"/>
          </a:xfrm>
          <a:prstGeom prst="rect">
            <a:avLst/>
          </a:prstGeom>
          <a:noFill/>
          <a:ln>
            <a:noFill/>
          </a:ln>
        </p:spPr>
        <p:txBody>
          <a:bodyPr spcFirstLastPara="1" wrap="square" lIns="68575" tIns="68575" rIns="68575" bIns="68575" anchor="t" anchorCtr="0">
            <a:noAutofit/>
          </a:bodyPr>
          <a:lstStyle>
            <a:lvl1pPr lvl="0" algn="ctr">
              <a:spcBef>
                <a:spcPts val="0"/>
              </a:spcBef>
              <a:spcAft>
                <a:spcPts val="0"/>
              </a:spcAft>
              <a:buNone/>
              <a:defRPr sz="1400">
                <a:solidFill>
                  <a:schemeClr val="accent1"/>
                </a:solidFill>
              </a:defRPr>
            </a:lvl1pPr>
            <a:lvl2pPr lvl="1" algn="ctr">
              <a:spcBef>
                <a:spcPts val="0"/>
              </a:spcBef>
              <a:spcAft>
                <a:spcPts val="0"/>
              </a:spcAft>
              <a:buNone/>
              <a:defRPr sz="1400">
                <a:solidFill>
                  <a:schemeClr val="accent1"/>
                </a:solidFill>
              </a:defRPr>
            </a:lvl2pPr>
            <a:lvl3pPr lvl="2" algn="ctr">
              <a:spcBef>
                <a:spcPts val="0"/>
              </a:spcBef>
              <a:spcAft>
                <a:spcPts val="0"/>
              </a:spcAft>
              <a:buNone/>
              <a:defRPr sz="1400">
                <a:solidFill>
                  <a:schemeClr val="accent1"/>
                </a:solidFill>
              </a:defRPr>
            </a:lvl3pPr>
            <a:lvl4pPr lvl="3" algn="ctr">
              <a:spcBef>
                <a:spcPts val="0"/>
              </a:spcBef>
              <a:spcAft>
                <a:spcPts val="0"/>
              </a:spcAft>
              <a:buNone/>
              <a:defRPr sz="1400">
                <a:solidFill>
                  <a:schemeClr val="accent1"/>
                </a:solidFill>
              </a:defRPr>
            </a:lvl4pPr>
            <a:lvl5pPr lvl="4" algn="ctr">
              <a:spcBef>
                <a:spcPts val="0"/>
              </a:spcBef>
              <a:spcAft>
                <a:spcPts val="0"/>
              </a:spcAft>
              <a:buNone/>
              <a:defRPr sz="1400">
                <a:solidFill>
                  <a:schemeClr val="accent1"/>
                </a:solidFill>
              </a:defRPr>
            </a:lvl5pPr>
            <a:lvl6pPr lvl="5" algn="ctr">
              <a:spcBef>
                <a:spcPts val="0"/>
              </a:spcBef>
              <a:spcAft>
                <a:spcPts val="0"/>
              </a:spcAft>
              <a:buNone/>
              <a:defRPr sz="1400">
                <a:solidFill>
                  <a:schemeClr val="accent1"/>
                </a:solidFill>
              </a:defRPr>
            </a:lvl6pPr>
            <a:lvl7pPr lvl="6" algn="ctr">
              <a:spcBef>
                <a:spcPts val="0"/>
              </a:spcBef>
              <a:spcAft>
                <a:spcPts val="0"/>
              </a:spcAft>
              <a:buNone/>
              <a:defRPr sz="1400">
                <a:solidFill>
                  <a:schemeClr val="accent1"/>
                </a:solidFill>
              </a:defRPr>
            </a:lvl7pPr>
            <a:lvl8pPr lvl="7" algn="ctr">
              <a:spcBef>
                <a:spcPts val="0"/>
              </a:spcBef>
              <a:spcAft>
                <a:spcPts val="0"/>
              </a:spcAft>
              <a:buNone/>
              <a:defRPr sz="1400">
                <a:solidFill>
                  <a:schemeClr val="accent1"/>
                </a:solidFill>
              </a:defRPr>
            </a:lvl8pPr>
            <a:lvl9pPr lvl="8" algn="ctr">
              <a:spcBef>
                <a:spcPts val="0"/>
              </a:spcBef>
              <a:spcAft>
                <a:spcPts val="0"/>
              </a:spcAft>
              <a:buNone/>
              <a:defRPr sz="1400">
                <a:solidFill>
                  <a:schemeClr val="accent1"/>
                </a:solidFill>
              </a:defRPr>
            </a:lvl9pPr>
          </a:lstStyle>
          <a:p>
            <a:endParaRPr/>
          </a:p>
        </p:txBody>
      </p:sp>
    </p:spTree>
    <p:extLst>
      <p:ext uri="{BB962C8B-B14F-4D97-AF65-F5344CB8AC3E}">
        <p14:creationId xmlns:p14="http://schemas.microsoft.com/office/powerpoint/2010/main" val="482711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terior blank">
  <p:cSld name="Interior blank">
    <p:spTree>
      <p:nvGrpSpPr>
        <p:cNvPr id="1" name="Shape 103"/>
        <p:cNvGrpSpPr/>
        <p:nvPr/>
      </p:nvGrpSpPr>
      <p:grpSpPr>
        <a:xfrm>
          <a:off x="0" y="0"/>
          <a:ext cx="0" cy="0"/>
          <a:chOff x="0" y="0"/>
          <a:chExt cx="0" cy="0"/>
        </a:xfrm>
      </p:grpSpPr>
      <p:sp>
        <p:nvSpPr>
          <p:cNvPr id="104" name="Google Shape;104;p18"/>
          <p:cNvSpPr txBox="1">
            <a:spLocks noGrp="1"/>
          </p:cNvSpPr>
          <p:nvPr>
            <p:ph type="subTitle" idx="1"/>
          </p:nvPr>
        </p:nvSpPr>
        <p:spPr>
          <a:xfrm>
            <a:off x="335831" y="41580"/>
            <a:ext cx="3861600" cy="612300"/>
          </a:xfrm>
          <a:prstGeom prst="rect">
            <a:avLst/>
          </a:prstGeom>
        </p:spPr>
        <p:txBody>
          <a:bodyPr spcFirstLastPara="1" wrap="square" lIns="329175" tIns="68575" rIns="68575" bIns="68575" anchor="ctr" anchorCtr="0">
            <a:normAutofit/>
          </a:bodyPr>
          <a:lstStyle>
            <a:lvl1pPr lvl="0">
              <a:lnSpc>
                <a:spcPct val="100000"/>
              </a:lnSpc>
              <a:spcBef>
                <a:spcPts val="0"/>
              </a:spcBef>
              <a:spcAft>
                <a:spcPts val="0"/>
              </a:spcAft>
              <a:buClr>
                <a:srgbClr val="EE0000"/>
              </a:buClr>
              <a:buSzPts val="800"/>
              <a:buFont typeface="Red Hat Display Medium"/>
              <a:buNone/>
              <a:defRPr sz="800">
                <a:solidFill>
                  <a:srgbClr val="EE0000"/>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a:endParaRPr/>
          </a:p>
        </p:txBody>
      </p:sp>
      <p:sp>
        <p:nvSpPr>
          <p:cNvPr id="107" name="Google Shape;107;p18"/>
          <p:cNvSpPr txBox="1">
            <a:spLocks noGrp="1"/>
          </p:cNvSpPr>
          <p:nvPr>
            <p:ph type="sldNum" idx="12"/>
          </p:nvPr>
        </p:nvSpPr>
        <p:spPr>
          <a:xfrm>
            <a:off x="61481" y="4627167"/>
            <a:ext cx="548700" cy="107700"/>
          </a:xfrm>
          <a:prstGeom prst="rect">
            <a:avLst/>
          </a:prstGeom>
        </p:spPr>
        <p:txBody>
          <a:bodyPr spcFirstLastPara="1" wrap="square" lIns="0" tIns="0" rIns="0" bIns="0" anchor="b" anchorCtr="0">
            <a:norm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sp>
        <p:nvSpPr>
          <p:cNvPr id="108" name="Google Shape;108;p18"/>
          <p:cNvSpPr txBox="1">
            <a:spLocks noGrp="1"/>
          </p:cNvSpPr>
          <p:nvPr>
            <p:ph type="subTitle" idx="2"/>
          </p:nvPr>
        </p:nvSpPr>
        <p:spPr>
          <a:xfrm>
            <a:off x="663788" y="4627163"/>
            <a:ext cx="6001800" cy="420000"/>
          </a:xfrm>
          <a:prstGeom prst="rect">
            <a:avLst/>
          </a:prstGeom>
        </p:spPr>
        <p:txBody>
          <a:bodyPr spcFirstLastPara="1" wrap="square" lIns="68575" tIns="68575" rIns="68575" bIns="68575" anchor="b" anchorCtr="0">
            <a:norm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a:endParaRPr/>
          </a:p>
        </p:txBody>
      </p:sp>
    </p:spTree>
    <p:extLst>
      <p:ext uri="{BB962C8B-B14F-4D97-AF65-F5344CB8AC3E}">
        <p14:creationId xmlns:p14="http://schemas.microsoft.com/office/powerpoint/2010/main" val="2571560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terior title and two column body 1 2">
  <p:cSld name="1_Interior title and two column body 1 2">
    <p:spTree>
      <p:nvGrpSpPr>
        <p:cNvPr id="1" name="Shape 133"/>
        <p:cNvGrpSpPr/>
        <p:nvPr/>
      </p:nvGrpSpPr>
      <p:grpSpPr>
        <a:xfrm>
          <a:off x="0" y="0"/>
          <a:ext cx="0" cy="0"/>
          <a:chOff x="0" y="0"/>
          <a:chExt cx="0" cy="0"/>
        </a:xfrm>
      </p:grpSpPr>
      <p:sp>
        <p:nvSpPr>
          <p:cNvPr id="136" name="Google Shape;136;p21"/>
          <p:cNvSpPr txBox="1">
            <a:spLocks noGrp="1"/>
          </p:cNvSpPr>
          <p:nvPr>
            <p:ph type="sldNum" idx="12"/>
          </p:nvPr>
        </p:nvSpPr>
        <p:spPr>
          <a:xfrm>
            <a:off x="61481" y="4627167"/>
            <a:ext cx="548700" cy="107700"/>
          </a:xfrm>
          <a:prstGeom prst="rect">
            <a:avLst/>
          </a:prstGeom>
          <a:noFill/>
          <a:ln>
            <a:noFill/>
          </a:ln>
        </p:spPr>
        <p:txBody>
          <a:bodyPr spcFirstLastPara="1" wrap="square" lIns="0" tIns="0" rIns="0" bIns="0" anchor="b" anchorCtr="0">
            <a:noAutofit/>
          </a:bodyPr>
          <a:lstStyle>
            <a:lvl1pPr marL="0" marR="0" lvl="0"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1pPr>
            <a:lvl2pPr marL="0" marR="0" lvl="1"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2pPr>
            <a:lvl3pPr marL="0" marR="0" lvl="2"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3pPr>
            <a:lvl4pPr marL="0" marR="0" lvl="3"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4pPr>
            <a:lvl5pPr marL="0" marR="0" lvl="4"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5pPr>
            <a:lvl6pPr marL="0" marR="0" lvl="5"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6pPr>
            <a:lvl7pPr marL="0" marR="0" lvl="6"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7pPr>
            <a:lvl8pPr marL="0" marR="0" lvl="7"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8pPr>
            <a:lvl9pPr marL="0" marR="0" lvl="8" indent="0" algn="ctr">
              <a:lnSpc>
                <a:spcPct val="100000"/>
              </a:lnSpc>
              <a:spcBef>
                <a:spcPts val="0"/>
              </a:spcBef>
              <a:spcAft>
                <a:spcPts val="0"/>
              </a:spcAft>
              <a:buClr>
                <a:srgbClr val="000000"/>
              </a:buClr>
              <a:buSzPts val="600"/>
              <a:buFont typeface="Arial"/>
              <a:buNone/>
              <a:defRPr sz="600" b="0" i="0" u="none" strike="noStrike" cap="none">
                <a:solidFill>
                  <a:srgbClr val="000000"/>
                </a:solidFill>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sp>
        <p:nvSpPr>
          <p:cNvPr id="137" name="Google Shape;137;p21"/>
          <p:cNvSpPr txBox="1">
            <a:spLocks noGrp="1"/>
          </p:cNvSpPr>
          <p:nvPr>
            <p:ph type="body" idx="1"/>
          </p:nvPr>
        </p:nvSpPr>
        <p:spPr>
          <a:xfrm>
            <a:off x="4777069" y="1718381"/>
            <a:ext cx="3703200" cy="2203200"/>
          </a:xfrm>
          <a:prstGeom prst="rect">
            <a:avLst/>
          </a:prstGeom>
          <a:noFill/>
          <a:ln>
            <a:noFill/>
          </a:ln>
        </p:spPr>
        <p:txBody>
          <a:bodyPr spcFirstLastPara="1" wrap="square" lIns="0" tIns="0" rIns="0" bIns="0" anchor="t" anchorCtr="0">
            <a:noAutofit/>
          </a:bodyPr>
          <a:lstStyle>
            <a:lvl1pPr marL="457200" lvl="0" indent="-317500" algn="l">
              <a:lnSpc>
                <a:spcPct val="135000"/>
              </a:lnSpc>
              <a:spcBef>
                <a:spcPts val="800"/>
              </a:spcBef>
              <a:spcAft>
                <a:spcPts val="0"/>
              </a:spcAft>
              <a:buSzPts val="1400"/>
              <a:buChar char="▸"/>
              <a:defRPr/>
            </a:lvl1pPr>
            <a:lvl2pPr marL="914400" lvl="1" indent="-317500" algn="l">
              <a:lnSpc>
                <a:spcPct val="135000"/>
              </a:lnSpc>
              <a:spcBef>
                <a:spcPts val="800"/>
              </a:spcBef>
              <a:spcAft>
                <a:spcPts val="0"/>
              </a:spcAft>
              <a:buSzPts val="1400"/>
              <a:buChar char="･"/>
              <a:defRPr/>
            </a:lvl2pPr>
            <a:lvl3pPr marL="1371600" lvl="2" indent="-317500" algn="l">
              <a:lnSpc>
                <a:spcPct val="135000"/>
              </a:lnSpc>
              <a:spcBef>
                <a:spcPts val="800"/>
              </a:spcBef>
              <a:spcAft>
                <a:spcPts val="0"/>
              </a:spcAft>
              <a:buSzPts val="1400"/>
              <a:buChar char="･"/>
              <a:defRPr/>
            </a:lvl3pPr>
            <a:lvl4pPr marL="1828800" lvl="3" indent="-317500" algn="l">
              <a:lnSpc>
                <a:spcPct val="135000"/>
              </a:lnSpc>
              <a:spcBef>
                <a:spcPts val="800"/>
              </a:spcBef>
              <a:spcAft>
                <a:spcPts val="0"/>
              </a:spcAft>
              <a:buSzPts val="1400"/>
              <a:buChar char="･"/>
              <a:defRPr/>
            </a:lvl4pPr>
            <a:lvl5pPr marL="2286000" lvl="4" indent="-317500" algn="l">
              <a:lnSpc>
                <a:spcPct val="135000"/>
              </a:lnSpc>
              <a:spcBef>
                <a:spcPts val="800"/>
              </a:spcBef>
              <a:spcAft>
                <a:spcPts val="0"/>
              </a:spcAft>
              <a:buSzPts val="1400"/>
              <a:buChar char="･"/>
              <a:defRPr/>
            </a:lvl5pPr>
            <a:lvl6pPr marL="2743200" lvl="5" indent="-317500" algn="l">
              <a:lnSpc>
                <a:spcPct val="135000"/>
              </a:lnSpc>
              <a:spcBef>
                <a:spcPts val="800"/>
              </a:spcBef>
              <a:spcAft>
                <a:spcPts val="0"/>
              </a:spcAft>
              <a:buSzPts val="1400"/>
              <a:buChar char="･"/>
              <a:defRPr/>
            </a:lvl6pPr>
            <a:lvl7pPr marL="3200400" lvl="6" indent="-317500" algn="l">
              <a:lnSpc>
                <a:spcPct val="135000"/>
              </a:lnSpc>
              <a:spcBef>
                <a:spcPts val="800"/>
              </a:spcBef>
              <a:spcAft>
                <a:spcPts val="0"/>
              </a:spcAft>
              <a:buSzPts val="1400"/>
              <a:buChar char="･"/>
              <a:defRPr/>
            </a:lvl7pPr>
            <a:lvl8pPr marL="3657600" lvl="7" indent="-317500" algn="l">
              <a:lnSpc>
                <a:spcPct val="135000"/>
              </a:lnSpc>
              <a:spcBef>
                <a:spcPts val="800"/>
              </a:spcBef>
              <a:spcAft>
                <a:spcPts val="0"/>
              </a:spcAft>
              <a:buSzPts val="1400"/>
              <a:buChar char="･"/>
              <a:defRPr/>
            </a:lvl8pPr>
            <a:lvl9pPr marL="4114800" lvl="8" indent="-317500" algn="l">
              <a:lnSpc>
                <a:spcPct val="135000"/>
              </a:lnSpc>
              <a:spcBef>
                <a:spcPts val="800"/>
              </a:spcBef>
              <a:spcAft>
                <a:spcPts val="800"/>
              </a:spcAft>
              <a:buSzPts val="1400"/>
              <a:buChar char="･"/>
              <a:defRPr/>
            </a:lvl9pPr>
          </a:lstStyle>
          <a:p>
            <a:endParaRPr/>
          </a:p>
        </p:txBody>
      </p:sp>
      <p:sp>
        <p:nvSpPr>
          <p:cNvPr id="138" name="Google Shape;138;p21"/>
          <p:cNvSpPr txBox="1">
            <a:spLocks noGrp="1"/>
          </p:cNvSpPr>
          <p:nvPr>
            <p:ph type="title"/>
          </p:nvPr>
        </p:nvSpPr>
        <p:spPr>
          <a:xfrm>
            <a:off x="663788" y="825263"/>
            <a:ext cx="7816500" cy="414900"/>
          </a:xfrm>
          <a:prstGeom prst="rect">
            <a:avLst/>
          </a:prstGeom>
          <a:noFill/>
          <a:ln>
            <a:noFill/>
          </a:ln>
        </p:spPr>
        <p:txBody>
          <a:bodyPr spcFirstLastPara="1" wrap="square" lIns="0" tIns="0" rIns="0" bIns="0" anchor="t" anchorCtr="0">
            <a:noAutofit/>
          </a:bodyPr>
          <a:lstStyle>
            <a:lvl1pPr lvl="0" algn="ctr">
              <a:lnSpc>
                <a:spcPct val="130000"/>
              </a:lnSpc>
              <a:spcBef>
                <a:spcPts val="0"/>
              </a:spcBef>
              <a:spcAft>
                <a:spcPts val="0"/>
              </a:spcAft>
              <a:buSzPts val="2600"/>
              <a:buFont typeface="Red Hat Display"/>
              <a:buNone/>
              <a:defRPr sz="2100">
                <a:latin typeface="Red Hat Display"/>
                <a:ea typeface="Red Hat Display"/>
                <a:cs typeface="Red Hat Display"/>
                <a:sym typeface="Red Hat Display"/>
              </a:defRPr>
            </a:lvl1pPr>
            <a:lvl2pPr lvl="1" algn="ctr">
              <a:lnSpc>
                <a:spcPct val="130000"/>
              </a:lnSpc>
              <a:spcBef>
                <a:spcPts val="0"/>
              </a:spcBef>
              <a:spcAft>
                <a:spcPts val="0"/>
              </a:spcAft>
              <a:buSzPts val="2600"/>
              <a:buNone/>
              <a:defRPr sz="2000"/>
            </a:lvl2pPr>
            <a:lvl3pPr lvl="2" algn="ctr">
              <a:lnSpc>
                <a:spcPct val="130000"/>
              </a:lnSpc>
              <a:spcBef>
                <a:spcPts val="0"/>
              </a:spcBef>
              <a:spcAft>
                <a:spcPts val="0"/>
              </a:spcAft>
              <a:buSzPts val="2600"/>
              <a:buNone/>
              <a:defRPr sz="2000"/>
            </a:lvl3pPr>
            <a:lvl4pPr lvl="3" algn="ctr">
              <a:lnSpc>
                <a:spcPct val="130000"/>
              </a:lnSpc>
              <a:spcBef>
                <a:spcPts val="0"/>
              </a:spcBef>
              <a:spcAft>
                <a:spcPts val="0"/>
              </a:spcAft>
              <a:buSzPts val="2600"/>
              <a:buNone/>
              <a:defRPr sz="2000"/>
            </a:lvl4pPr>
            <a:lvl5pPr lvl="4" algn="ctr">
              <a:lnSpc>
                <a:spcPct val="130000"/>
              </a:lnSpc>
              <a:spcBef>
                <a:spcPts val="0"/>
              </a:spcBef>
              <a:spcAft>
                <a:spcPts val="0"/>
              </a:spcAft>
              <a:buSzPts val="2600"/>
              <a:buNone/>
              <a:defRPr sz="2000"/>
            </a:lvl5pPr>
            <a:lvl6pPr lvl="5" algn="ctr">
              <a:lnSpc>
                <a:spcPct val="130000"/>
              </a:lnSpc>
              <a:spcBef>
                <a:spcPts val="0"/>
              </a:spcBef>
              <a:spcAft>
                <a:spcPts val="0"/>
              </a:spcAft>
              <a:buSzPts val="2600"/>
              <a:buNone/>
              <a:defRPr sz="2000"/>
            </a:lvl6pPr>
            <a:lvl7pPr lvl="6" algn="ctr">
              <a:lnSpc>
                <a:spcPct val="130000"/>
              </a:lnSpc>
              <a:spcBef>
                <a:spcPts val="0"/>
              </a:spcBef>
              <a:spcAft>
                <a:spcPts val="0"/>
              </a:spcAft>
              <a:buSzPts val="2600"/>
              <a:buNone/>
              <a:defRPr sz="2000"/>
            </a:lvl7pPr>
            <a:lvl8pPr lvl="7" algn="ctr">
              <a:lnSpc>
                <a:spcPct val="130000"/>
              </a:lnSpc>
              <a:spcBef>
                <a:spcPts val="0"/>
              </a:spcBef>
              <a:spcAft>
                <a:spcPts val="0"/>
              </a:spcAft>
              <a:buSzPts val="2600"/>
              <a:buNone/>
              <a:defRPr sz="2000"/>
            </a:lvl8pPr>
            <a:lvl9pPr lvl="8" algn="ctr">
              <a:lnSpc>
                <a:spcPct val="130000"/>
              </a:lnSpc>
              <a:spcBef>
                <a:spcPts val="0"/>
              </a:spcBef>
              <a:spcAft>
                <a:spcPts val="0"/>
              </a:spcAft>
              <a:buSzPts val="2600"/>
              <a:buNone/>
              <a:defRPr sz="2000"/>
            </a:lvl9pPr>
          </a:lstStyle>
          <a:p>
            <a:endParaRPr/>
          </a:p>
        </p:txBody>
      </p:sp>
      <p:sp>
        <p:nvSpPr>
          <p:cNvPr id="139" name="Google Shape;139;p21"/>
          <p:cNvSpPr txBox="1">
            <a:spLocks noGrp="1"/>
          </p:cNvSpPr>
          <p:nvPr>
            <p:ph type="subTitle" idx="2"/>
          </p:nvPr>
        </p:nvSpPr>
        <p:spPr>
          <a:xfrm>
            <a:off x="663844" y="1240163"/>
            <a:ext cx="7816500" cy="219000"/>
          </a:xfrm>
          <a:prstGeom prst="rect">
            <a:avLst/>
          </a:prstGeom>
          <a:noFill/>
          <a:ln>
            <a:noFill/>
          </a:ln>
        </p:spPr>
        <p:txBody>
          <a:bodyPr spcFirstLastPara="1" wrap="square" lIns="0" tIns="0" rIns="0" bIns="0" anchor="t" anchorCtr="0">
            <a:noAutofit/>
          </a:bodyPr>
          <a:lstStyle>
            <a:lvl1pPr lvl="0" algn="ctr">
              <a:lnSpc>
                <a:spcPct val="140000"/>
              </a:lnSpc>
              <a:spcBef>
                <a:spcPts val="0"/>
              </a:spcBef>
              <a:spcAft>
                <a:spcPts val="0"/>
              </a:spcAft>
              <a:buClr>
                <a:srgbClr val="EE0000"/>
              </a:buClr>
              <a:buSzPts val="1400"/>
              <a:buFont typeface="Red Hat Display"/>
              <a:buNone/>
              <a:defRPr sz="1400">
                <a:solidFill>
                  <a:srgbClr val="EE0000"/>
                </a:solidFill>
                <a:latin typeface="Red Hat Display"/>
                <a:ea typeface="Red Hat Display"/>
                <a:cs typeface="Red Hat Display"/>
                <a:sym typeface="Red Hat Display"/>
              </a:defRPr>
            </a:lvl1pPr>
            <a:lvl2pPr lvl="1" algn="ctr">
              <a:lnSpc>
                <a:spcPct val="140000"/>
              </a:lnSpc>
              <a:spcBef>
                <a:spcPts val="400"/>
              </a:spcBef>
              <a:spcAft>
                <a:spcPts val="0"/>
              </a:spcAft>
              <a:buSzPts val="1400"/>
              <a:buNone/>
              <a:defRPr sz="1400">
                <a:solidFill>
                  <a:schemeClr val="accent1"/>
                </a:solidFill>
              </a:defRPr>
            </a:lvl2pPr>
            <a:lvl3pPr lvl="2" algn="ctr">
              <a:lnSpc>
                <a:spcPct val="140000"/>
              </a:lnSpc>
              <a:spcBef>
                <a:spcPts val="400"/>
              </a:spcBef>
              <a:spcAft>
                <a:spcPts val="0"/>
              </a:spcAft>
              <a:buSzPts val="1400"/>
              <a:buNone/>
              <a:defRPr sz="1400">
                <a:solidFill>
                  <a:schemeClr val="accent1"/>
                </a:solidFill>
              </a:defRPr>
            </a:lvl3pPr>
            <a:lvl4pPr lvl="3" algn="ctr">
              <a:lnSpc>
                <a:spcPct val="140000"/>
              </a:lnSpc>
              <a:spcBef>
                <a:spcPts val="400"/>
              </a:spcBef>
              <a:spcAft>
                <a:spcPts val="0"/>
              </a:spcAft>
              <a:buSzPts val="1400"/>
              <a:buNone/>
              <a:defRPr sz="1400">
                <a:solidFill>
                  <a:schemeClr val="accent1"/>
                </a:solidFill>
              </a:defRPr>
            </a:lvl4pPr>
            <a:lvl5pPr lvl="4" algn="ctr">
              <a:lnSpc>
                <a:spcPct val="140000"/>
              </a:lnSpc>
              <a:spcBef>
                <a:spcPts val="400"/>
              </a:spcBef>
              <a:spcAft>
                <a:spcPts val="0"/>
              </a:spcAft>
              <a:buSzPts val="1400"/>
              <a:buNone/>
              <a:defRPr sz="1400">
                <a:solidFill>
                  <a:schemeClr val="accent1"/>
                </a:solidFill>
              </a:defRPr>
            </a:lvl5pPr>
            <a:lvl6pPr lvl="5" algn="ctr">
              <a:lnSpc>
                <a:spcPct val="140000"/>
              </a:lnSpc>
              <a:spcBef>
                <a:spcPts val="400"/>
              </a:spcBef>
              <a:spcAft>
                <a:spcPts val="0"/>
              </a:spcAft>
              <a:buSzPts val="1400"/>
              <a:buNone/>
              <a:defRPr sz="1400">
                <a:solidFill>
                  <a:schemeClr val="accent1"/>
                </a:solidFill>
              </a:defRPr>
            </a:lvl6pPr>
            <a:lvl7pPr lvl="6" algn="ctr">
              <a:lnSpc>
                <a:spcPct val="140000"/>
              </a:lnSpc>
              <a:spcBef>
                <a:spcPts val="400"/>
              </a:spcBef>
              <a:spcAft>
                <a:spcPts val="0"/>
              </a:spcAft>
              <a:buSzPts val="1400"/>
              <a:buNone/>
              <a:defRPr sz="1400">
                <a:solidFill>
                  <a:schemeClr val="accent1"/>
                </a:solidFill>
              </a:defRPr>
            </a:lvl7pPr>
            <a:lvl8pPr lvl="7" algn="ctr">
              <a:lnSpc>
                <a:spcPct val="140000"/>
              </a:lnSpc>
              <a:spcBef>
                <a:spcPts val="400"/>
              </a:spcBef>
              <a:spcAft>
                <a:spcPts val="0"/>
              </a:spcAft>
              <a:buSzPts val="1400"/>
              <a:buNone/>
              <a:defRPr sz="1400">
                <a:solidFill>
                  <a:schemeClr val="accent1"/>
                </a:solidFill>
              </a:defRPr>
            </a:lvl8pPr>
            <a:lvl9pPr lvl="8" algn="ctr">
              <a:lnSpc>
                <a:spcPct val="140000"/>
              </a:lnSpc>
              <a:spcBef>
                <a:spcPts val="400"/>
              </a:spcBef>
              <a:spcAft>
                <a:spcPts val="400"/>
              </a:spcAft>
              <a:buSzPts val="1400"/>
              <a:buNone/>
              <a:defRPr sz="1400">
                <a:solidFill>
                  <a:schemeClr val="accent1"/>
                </a:solidFill>
              </a:defRPr>
            </a:lvl9pPr>
          </a:lstStyle>
          <a:p>
            <a:endParaRPr/>
          </a:p>
        </p:txBody>
      </p:sp>
    </p:spTree>
    <p:extLst>
      <p:ext uri="{BB962C8B-B14F-4D97-AF65-F5344CB8AC3E}">
        <p14:creationId xmlns:p14="http://schemas.microsoft.com/office/powerpoint/2010/main" val="1734984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erior title">
  <p:cSld name="Interior title">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799823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userDrawn="1">
  <p:cSld name="4_Section header">
    <p:bg>
      <p:bgPr>
        <a:solidFill>
          <a:srgbClr val="3939D9"/>
        </a:solidFill>
        <a:effectLst/>
      </p:bgPr>
    </p:bg>
    <p:spTree>
      <p:nvGrpSpPr>
        <p:cNvPr id="1" name="Shape 15"/>
        <p:cNvGrpSpPr/>
        <p:nvPr/>
      </p:nvGrpSpPr>
      <p:grpSpPr>
        <a:xfrm>
          <a:off x="0" y="0"/>
          <a:ext cx="0" cy="0"/>
          <a:chOff x="0" y="0"/>
          <a:chExt cx="0" cy="0"/>
        </a:xfrm>
      </p:grpSpPr>
      <p:pic>
        <p:nvPicPr>
          <p:cNvPr id="3" name="Graphic 2">
            <a:extLst>
              <a:ext uri="{FF2B5EF4-FFF2-40B4-BE49-F238E27FC236}">
                <a16:creationId xmlns:a16="http://schemas.microsoft.com/office/drawing/2014/main" id="{87777168-A6F5-766A-77C3-9DD80C164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2474"/>
            <a:ext cx="9144000" cy="5145974"/>
          </a:xfrm>
          <a:prstGeom prst="rect">
            <a:avLst/>
          </a:prstGeom>
        </p:spPr>
      </p:pic>
      <p:pic>
        <p:nvPicPr>
          <p:cNvPr id="2" name="Graphic 1">
            <a:extLst>
              <a:ext uri="{FF2B5EF4-FFF2-40B4-BE49-F238E27FC236}">
                <a16:creationId xmlns:a16="http://schemas.microsoft.com/office/drawing/2014/main" id="{96F937DC-2313-8040-39D2-5051B8216DD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1590797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preserve="1" userDrawn="1">
  <p:cSld name="5_Section header">
    <p:bg>
      <p:bgPr>
        <a:solidFill>
          <a:srgbClr val="3939D9"/>
        </a:solidFill>
        <a:effectLst/>
      </p:bgPr>
    </p:bg>
    <p:spTree>
      <p:nvGrpSpPr>
        <p:cNvPr id="1" name="Shape 15"/>
        <p:cNvGrpSpPr/>
        <p:nvPr/>
      </p:nvGrpSpPr>
      <p:grpSpPr>
        <a:xfrm>
          <a:off x="0" y="0"/>
          <a:ext cx="0" cy="0"/>
          <a:chOff x="0" y="0"/>
          <a:chExt cx="0" cy="0"/>
        </a:xfrm>
      </p:grpSpPr>
      <p:pic>
        <p:nvPicPr>
          <p:cNvPr id="6" name="Graphic 5">
            <a:extLst>
              <a:ext uri="{FF2B5EF4-FFF2-40B4-BE49-F238E27FC236}">
                <a16:creationId xmlns:a16="http://schemas.microsoft.com/office/drawing/2014/main" id="{545ECC6A-12FE-332A-171E-3A2B0B9330E7}"/>
              </a:ext>
            </a:extLst>
          </p:cNvPr>
          <p:cNvPicPr>
            <a:picLocks noChangeAspect="1"/>
          </p:cNvPicPr>
          <p:nvPr userDrawn="1"/>
        </p:nvPicPr>
        <p:blipFill>
          <a:blip>
            <a:extLst>
              <a:ext uri="{96DAC541-7B7A-43D3-8B79-37D633B846F1}">
                <asvg:svgBlip xmlns:asvg="http://schemas.microsoft.com/office/drawing/2016/SVG/main" r:embed="rId2"/>
              </a:ext>
            </a:extLst>
          </a:blip>
          <a:srcRect l="13688" r="38404"/>
          <a:stretch/>
        </p:blipFill>
        <p:spPr>
          <a:xfrm>
            <a:off x="-1" y="902028"/>
            <a:ext cx="9144001" cy="4241472"/>
          </a:xfrm>
          <a:prstGeom prst="rect">
            <a:avLst/>
          </a:prstGeom>
        </p:spPr>
      </p:pic>
      <p:sp>
        <p:nvSpPr>
          <p:cNvPr id="3" name="Google Shape;10;p2">
            <a:extLst>
              <a:ext uri="{FF2B5EF4-FFF2-40B4-BE49-F238E27FC236}">
                <a16:creationId xmlns:a16="http://schemas.microsoft.com/office/drawing/2014/main" id="{D7886BC5-AD68-17FD-8970-0591BF217146}"/>
              </a:ext>
            </a:extLst>
          </p:cNvPr>
          <p:cNvSpPr txBox="1">
            <a:spLocks noGrp="1"/>
          </p:cNvSpPr>
          <p:nvPr>
            <p:ph type="ctrTitle"/>
          </p:nvPr>
        </p:nvSpPr>
        <p:spPr>
          <a:xfrm>
            <a:off x="398302" y="1373367"/>
            <a:ext cx="8010201" cy="2024438"/>
          </a:xfrm>
          <a:prstGeom prst="rect">
            <a:avLst/>
          </a:prstGeom>
          <a:noFill/>
        </p:spPr>
        <p:txBody>
          <a:bodyPr spcFirstLastPara="1" wrap="square" lIns="0" tIns="0" rIns="0" bIns="0" anchor="ctr" anchorCtr="0">
            <a:noAutofit/>
          </a:bodyPr>
          <a:lstStyle>
            <a:lvl1pPr lvl="0" algn="l">
              <a:spcBef>
                <a:spcPts val="0"/>
              </a:spcBef>
              <a:spcAft>
                <a:spcPts val="0"/>
              </a:spcAft>
              <a:buClr>
                <a:schemeClr val="lt1"/>
              </a:buClr>
              <a:buSzPts val="4800"/>
              <a:buNone/>
              <a:defRPr sz="4800">
                <a:solidFill>
                  <a:schemeClr val="bg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dirty="0"/>
          </a:p>
        </p:txBody>
      </p:sp>
      <p:sp>
        <p:nvSpPr>
          <p:cNvPr id="4" name="Google Shape;11;p2">
            <a:extLst>
              <a:ext uri="{FF2B5EF4-FFF2-40B4-BE49-F238E27FC236}">
                <a16:creationId xmlns:a16="http://schemas.microsoft.com/office/drawing/2014/main" id="{2DE4FE32-0B29-47A8-70C6-3BD2A2207575}"/>
              </a:ext>
            </a:extLst>
          </p:cNvPr>
          <p:cNvSpPr txBox="1">
            <a:spLocks noGrp="1"/>
          </p:cNvSpPr>
          <p:nvPr>
            <p:ph type="subTitle" idx="1"/>
          </p:nvPr>
        </p:nvSpPr>
        <p:spPr>
          <a:xfrm>
            <a:off x="398301" y="3397805"/>
            <a:ext cx="8010201" cy="670179"/>
          </a:xfrm>
          <a:prstGeom prst="rect">
            <a:avLst/>
          </a:prstGeom>
          <a:noFill/>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00"/>
              <a:buNone/>
              <a:defRPr sz="2800" b="1">
                <a:solidFill>
                  <a:schemeClr val="bg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dirty="0"/>
          </a:p>
        </p:txBody>
      </p:sp>
      <p:pic>
        <p:nvPicPr>
          <p:cNvPr id="13" name="Graphic 12">
            <a:extLst>
              <a:ext uri="{FF2B5EF4-FFF2-40B4-BE49-F238E27FC236}">
                <a16:creationId xmlns:a16="http://schemas.microsoft.com/office/drawing/2014/main" id="{1D508422-D1B7-95E2-ABE2-5E60CB082B25}"/>
              </a:ext>
            </a:extLst>
          </p:cNvPr>
          <p:cNvPicPr>
            <a:picLocks noChangeAspect="1"/>
          </p:cNvPicPr>
          <p:nvPr userDrawn="1"/>
        </p:nvPicPr>
        <p:blipFill>
          <a:blip>
            <a:extLst>
              <a:ext uri="{96DAC541-7B7A-43D3-8B79-37D633B846F1}">
                <asvg:svgBlip xmlns:asvg="http://schemas.microsoft.com/office/drawing/2016/SVG/main" r:embed="rId3"/>
              </a:ext>
            </a:extLst>
          </a:blip>
          <a:srcRect l="41002" b="9975"/>
          <a:stretch>
            <a:fillRect/>
          </a:stretch>
        </p:blipFill>
        <p:spPr>
          <a:xfrm>
            <a:off x="-1" y="4080209"/>
            <a:ext cx="1528535" cy="1063291"/>
          </a:xfrm>
          <a:prstGeom prst="rect">
            <a:avLst/>
          </a:prstGeom>
        </p:spPr>
      </p:pic>
      <p:pic>
        <p:nvPicPr>
          <p:cNvPr id="2" name="Graphic 1">
            <a:extLst>
              <a:ext uri="{FF2B5EF4-FFF2-40B4-BE49-F238E27FC236}">
                <a16:creationId xmlns:a16="http://schemas.microsoft.com/office/drawing/2014/main" id="{77DFCB9B-08AE-B71A-FBF0-FFF191A2EA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2555266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preserve="1" userDrawn="1">
  <p:cSld name="6_Section header">
    <p:bg>
      <p:bgPr>
        <a:solidFill>
          <a:srgbClr val="3939D9"/>
        </a:solidFill>
        <a:effectLst/>
      </p:bgPr>
    </p:bg>
    <p:spTree>
      <p:nvGrpSpPr>
        <p:cNvPr id="1" name="Shape 15"/>
        <p:cNvGrpSpPr/>
        <p:nvPr/>
      </p:nvGrpSpPr>
      <p:grpSpPr>
        <a:xfrm>
          <a:off x="0" y="0"/>
          <a:ext cx="0" cy="0"/>
          <a:chOff x="0" y="0"/>
          <a:chExt cx="0" cy="0"/>
        </a:xfrm>
      </p:grpSpPr>
      <p:pic>
        <p:nvPicPr>
          <p:cNvPr id="6" name="Graphic 5">
            <a:extLst>
              <a:ext uri="{FF2B5EF4-FFF2-40B4-BE49-F238E27FC236}">
                <a16:creationId xmlns:a16="http://schemas.microsoft.com/office/drawing/2014/main" id="{545ECC6A-12FE-332A-171E-3A2B0B9330E7}"/>
              </a:ext>
            </a:extLst>
          </p:cNvPr>
          <p:cNvPicPr>
            <a:picLocks noChangeAspect="1"/>
          </p:cNvPicPr>
          <p:nvPr userDrawn="1"/>
        </p:nvPicPr>
        <p:blipFill>
          <a:blip>
            <a:extLst>
              <a:ext uri="{96DAC541-7B7A-43D3-8B79-37D633B846F1}">
                <asvg:svgBlip xmlns:asvg="http://schemas.microsoft.com/office/drawing/2016/SVG/main" r:embed="rId2"/>
              </a:ext>
            </a:extLst>
          </a:blip>
          <a:srcRect l="13688" r="38404"/>
          <a:stretch/>
        </p:blipFill>
        <p:spPr>
          <a:xfrm>
            <a:off x="-1" y="902028"/>
            <a:ext cx="9144001" cy="4241472"/>
          </a:xfrm>
          <a:prstGeom prst="rect">
            <a:avLst/>
          </a:prstGeom>
        </p:spPr>
      </p:pic>
      <p:sp>
        <p:nvSpPr>
          <p:cNvPr id="3" name="Google Shape;10;p2">
            <a:extLst>
              <a:ext uri="{FF2B5EF4-FFF2-40B4-BE49-F238E27FC236}">
                <a16:creationId xmlns:a16="http://schemas.microsoft.com/office/drawing/2014/main" id="{D7886BC5-AD68-17FD-8970-0591BF217146}"/>
              </a:ext>
            </a:extLst>
          </p:cNvPr>
          <p:cNvSpPr txBox="1">
            <a:spLocks noGrp="1"/>
          </p:cNvSpPr>
          <p:nvPr>
            <p:ph type="ctrTitle"/>
          </p:nvPr>
        </p:nvSpPr>
        <p:spPr>
          <a:xfrm>
            <a:off x="398302" y="1373367"/>
            <a:ext cx="8010201" cy="2024438"/>
          </a:xfrm>
          <a:prstGeom prst="rect">
            <a:avLst/>
          </a:prstGeom>
          <a:noFill/>
        </p:spPr>
        <p:txBody>
          <a:bodyPr spcFirstLastPara="1" wrap="square" lIns="0" tIns="0" rIns="0" bIns="0" anchor="ctr" anchorCtr="0">
            <a:noAutofit/>
          </a:bodyPr>
          <a:lstStyle>
            <a:lvl1pPr lvl="0" algn="l">
              <a:spcBef>
                <a:spcPts val="0"/>
              </a:spcBef>
              <a:spcAft>
                <a:spcPts val="0"/>
              </a:spcAft>
              <a:buClr>
                <a:schemeClr val="lt1"/>
              </a:buClr>
              <a:buSzPts val="4800"/>
              <a:buNone/>
              <a:defRPr sz="4800">
                <a:solidFill>
                  <a:schemeClr val="bg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dirty="0"/>
          </a:p>
        </p:txBody>
      </p:sp>
      <p:sp>
        <p:nvSpPr>
          <p:cNvPr id="4" name="Google Shape;11;p2">
            <a:extLst>
              <a:ext uri="{FF2B5EF4-FFF2-40B4-BE49-F238E27FC236}">
                <a16:creationId xmlns:a16="http://schemas.microsoft.com/office/drawing/2014/main" id="{2DE4FE32-0B29-47A8-70C6-3BD2A2207575}"/>
              </a:ext>
            </a:extLst>
          </p:cNvPr>
          <p:cNvSpPr txBox="1">
            <a:spLocks noGrp="1"/>
          </p:cNvSpPr>
          <p:nvPr>
            <p:ph type="subTitle" idx="1"/>
          </p:nvPr>
        </p:nvSpPr>
        <p:spPr>
          <a:xfrm>
            <a:off x="398301" y="3397805"/>
            <a:ext cx="8010201" cy="670179"/>
          </a:xfrm>
          <a:prstGeom prst="rect">
            <a:avLst/>
          </a:prstGeom>
          <a:noFill/>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00"/>
              <a:buNone/>
              <a:defRPr sz="2800" b="1">
                <a:solidFill>
                  <a:schemeClr val="bg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dirty="0"/>
          </a:p>
        </p:txBody>
      </p:sp>
      <p:pic>
        <p:nvPicPr>
          <p:cNvPr id="13" name="Graphic 12">
            <a:extLst>
              <a:ext uri="{FF2B5EF4-FFF2-40B4-BE49-F238E27FC236}">
                <a16:creationId xmlns:a16="http://schemas.microsoft.com/office/drawing/2014/main" id="{1D508422-D1B7-95E2-ABE2-5E60CB082B25}"/>
              </a:ext>
            </a:extLst>
          </p:cNvPr>
          <p:cNvPicPr>
            <a:picLocks noChangeAspect="1"/>
          </p:cNvPicPr>
          <p:nvPr userDrawn="1"/>
        </p:nvPicPr>
        <p:blipFill>
          <a:blip>
            <a:extLst>
              <a:ext uri="{96DAC541-7B7A-43D3-8B79-37D633B846F1}">
                <asvg:svgBlip xmlns:asvg="http://schemas.microsoft.com/office/drawing/2016/SVG/main" r:embed="rId3"/>
              </a:ext>
            </a:extLst>
          </a:blip>
          <a:srcRect l="41002" b="9975"/>
          <a:stretch>
            <a:fillRect/>
          </a:stretch>
        </p:blipFill>
        <p:spPr>
          <a:xfrm>
            <a:off x="-1" y="4080209"/>
            <a:ext cx="1528535" cy="1063291"/>
          </a:xfrm>
          <a:prstGeom prst="rect">
            <a:avLst/>
          </a:prstGeom>
        </p:spPr>
      </p:pic>
      <p:pic>
        <p:nvPicPr>
          <p:cNvPr id="2" name="Graphic 1">
            <a:extLst>
              <a:ext uri="{FF2B5EF4-FFF2-40B4-BE49-F238E27FC236}">
                <a16:creationId xmlns:a16="http://schemas.microsoft.com/office/drawing/2014/main" id="{77DFCB9B-08AE-B71A-FBF0-FFF191A2EA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9317511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preserve="1" userDrawn="1">
  <p:cSld name="7_Section header">
    <p:bg>
      <p:bgPr>
        <a:solidFill>
          <a:srgbClr val="3939D9"/>
        </a:solidFill>
        <a:effectLst/>
      </p:bgPr>
    </p:bg>
    <p:spTree>
      <p:nvGrpSpPr>
        <p:cNvPr id="1" name="Shape 15"/>
        <p:cNvGrpSpPr/>
        <p:nvPr/>
      </p:nvGrpSpPr>
      <p:grpSpPr>
        <a:xfrm>
          <a:off x="0" y="0"/>
          <a:ext cx="0" cy="0"/>
          <a:chOff x="0" y="0"/>
          <a:chExt cx="0" cy="0"/>
        </a:xfrm>
      </p:grpSpPr>
      <p:pic>
        <p:nvPicPr>
          <p:cNvPr id="3" name="Graphic 2">
            <a:extLst>
              <a:ext uri="{FF2B5EF4-FFF2-40B4-BE49-F238E27FC236}">
                <a16:creationId xmlns:a16="http://schemas.microsoft.com/office/drawing/2014/main" id="{87777168-A6F5-766A-77C3-9DD80C164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2474"/>
            <a:ext cx="9144000" cy="5145974"/>
          </a:xfrm>
          <a:prstGeom prst="rect">
            <a:avLst/>
          </a:prstGeom>
        </p:spPr>
      </p:pic>
      <p:pic>
        <p:nvPicPr>
          <p:cNvPr id="2" name="Graphic 1">
            <a:extLst>
              <a:ext uri="{FF2B5EF4-FFF2-40B4-BE49-F238E27FC236}">
                <a16:creationId xmlns:a16="http://schemas.microsoft.com/office/drawing/2014/main" id="{96F937DC-2313-8040-39D2-5051B8216DD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28126774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00"/>
        <p:cNvGrpSpPr/>
        <p:nvPr/>
      </p:nvGrpSpPr>
      <p:grpSpPr>
        <a:xfrm>
          <a:off x="0" y="0"/>
          <a:ext cx="0" cy="0"/>
          <a:chOff x="0" y="0"/>
          <a:chExt cx="0" cy="0"/>
        </a:xfrm>
      </p:grpSpPr>
    </p:spTree>
    <p:extLst>
      <p:ext uri="{BB962C8B-B14F-4D97-AF65-F5344CB8AC3E}">
        <p14:creationId xmlns:p14="http://schemas.microsoft.com/office/powerpoint/2010/main" val="179172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accent1"/>
              </a:buClr>
              <a:buSzPts val="2800"/>
              <a:buNone/>
              <a:defRPr sz="2800">
                <a:solidFill>
                  <a:schemeClr val="accent1"/>
                </a:solidFill>
              </a:defRPr>
            </a:lvl1pPr>
            <a:lvl2pPr lvl="1">
              <a:spcBef>
                <a:spcPts val="0"/>
              </a:spcBef>
              <a:spcAft>
                <a:spcPts val="0"/>
              </a:spcAft>
              <a:buClr>
                <a:schemeClr val="accent1"/>
              </a:buClr>
              <a:buSzPts val="2800"/>
              <a:buNone/>
              <a:defRPr sz="2800">
                <a:solidFill>
                  <a:schemeClr val="accent1"/>
                </a:solidFill>
              </a:defRPr>
            </a:lvl2pPr>
            <a:lvl3pPr lvl="2">
              <a:spcBef>
                <a:spcPts val="0"/>
              </a:spcBef>
              <a:spcAft>
                <a:spcPts val="0"/>
              </a:spcAft>
              <a:buClr>
                <a:schemeClr val="accent1"/>
              </a:buClr>
              <a:buSzPts val="2800"/>
              <a:buNone/>
              <a:defRPr sz="2800">
                <a:solidFill>
                  <a:schemeClr val="accent1"/>
                </a:solidFill>
              </a:defRPr>
            </a:lvl3pPr>
            <a:lvl4pPr lvl="3">
              <a:spcBef>
                <a:spcPts val="0"/>
              </a:spcBef>
              <a:spcAft>
                <a:spcPts val="0"/>
              </a:spcAft>
              <a:buClr>
                <a:schemeClr val="accent1"/>
              </a:buClr>
              <a:buSzPts val="2800"/>
              <a:buNone/>
              <a:defRPr sz="2800">
                <a:solidFill>
                  <a:schemeClr val="accent1"/>
                </a:solidFill>
              </a:defRPr>
            </a:lvl4pPr>
            <a:lvl5pPr lvl="4">
              <a:spcBef>
                <a:spcPts val="0"/>
              </a:spcBef>
              <a:spcAft>
                <a:spcPts val="0"/>
              </a:spcAft>
              <a:buClr>
                <a:schemeClr val="accent1"/>
              </a:buClr>
              <a:buSzPts val="2800"/>
              <a:buNone/>
              <a:defRPr sz="2800">
                <a:solidFill>
                  <a:schemeClr val="accent1"/>
                </a:solidFill>
              </a:defRPr>
            </a:lvl5pPr>
            <a:lvl6pPr lvl="5">
              <a:spcBef>
                <a:spcPts val="0"/>
              </a:spcBef>
              <a:spcAft>
                <a:spcPts val="0"/>
              </a:spcAft>
              <a:buClr>
                <a:schemeClr val="accent1"/>
              </a:buClr>
              <a:buSzPts val="2800"/>
              <a:buNone/>
              <a:defRPr sz="2800">
                <a:solidFill>
                  <a:schemeClr val="accent1"/>
                </a:solidFill>
              </a:defRPr>
            </a:lvl6pPr>
            <a:lvl7pPr lvl="6">
              <a:spcBef>
                <a:spcPts val="0"/>
              </a:spcBef>
              <a:spcAft>
                <a:spcPts val="0"/>
              </a:spcAft>
              <a:buClr>
                <a:schemeClr val="accent1"/>
              </a:buClr>
              <a:buSzPts val="2800"/>
              <a:buNone/>
              <a:defRPr sz="2800">
                <a:solidFill>
                  <a:schemeClr val="accent1"/>
                </a:solidFill>
              </a:defRPr>
            </a:lvl7pPr>
            <a:lvl8pPr lvl="7">
              <a:spcBef>
                <a:spcPts val="0"/>
              </a:spcBef>
              <a:spcAft>
                <a:spcPts val="0"/>
              </a:spcAft>
              <a:buClr>
                <a:schemeClr val="accent1"/>
              </a:buClr>
              <a:buSzPts val="2800"/>
              <a:buNone/>
              <a:defRPr sz="2800">
                <a:solidFill>
                  <a:schemeClr val="accent1"/>
                </a:solidFill>
              </a:defRPr>
            </a:lvl8pPr>
            <a:lvl9pPr lvl="8">
              <a:spcBef>
                <a:spcPts val="0"/>
              </a:spcBef>
              <a:spcAft>
                <a:spcPts val="0"/>
              </a:spcAft>
              <a:buClr>
                <a:schemeClr val="accent1"/>
              </a:buClr>
              <a:buSzPts val="2800"/>
              <a:buNone/>
              <a:defRPr sz="2800">
                <a:solidFill>
                  <a:schemeClr val="accent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b="1" i="0">
                <a:solidFill>
                  <a:schemeClr val="dk2"/>
                </a:solidFill>
                <a:latin typeface="Clarity City" pitchFamily="2" charset="77"/>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37930996"/>
      </p:ext>
    </p:extLst>
  </p:cSld>
  <p:clrMap bg1="lt1" tx1="dk1" bg2="dk2" tx2="lt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30" r:id="rId9"/>
    <p:sldLayoutId id="2147484131" r:id="rId10"/>
    <p:sldLayoutId id="2147484133" r:id="rId11"/>
    <p:sldLayoutId id="2147484134" r:id="rId12"/>
    <p:sldLayoutId id="2147484135" r:id="rId13"/>
    <p:sldLayoutId id="2147484137" r:id="rId14"/>
    <p:sldLayoutId id="2147484110" r:id="rId15"/>
    <p:sldLayoutId id="2147483658" r:id="rId16"/>
    <p:sldLayoutId id="2147484077" r:id="rId17"/>
    <p:sldLayoutId id="2147484078" r:id="rId18"/>
    <p:sldLayoutId id="2147484138" r:id="rId1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1" i="0" u="none" strike="noStrike" cap="none">
          <a:solidFill>
            <a:srgbClr val="3939D9"/>
          </a:solidFill>
          <a:latin typeface="Clarity City" pitchFamily="2" charset="77"/>
          <a:ea typeface="Clarity City" pitchFamily="2" charset="77"/>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Clarity City" pitchFamily="2" charset="77"/>
          <a:ea typeface="Clarity City" pitchFamily="2" charset="77"/>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recipes.vllm.ai/"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4.xml"/><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jpe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hyperlink" Target="https://llm-d.ai/blog/llm-d-v0.3-expanded-hardware-faster-perf-and-igw-ga" TargetMode="Externa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hyperlink" Target="https://inferencex.semianalysis.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8" Type="http://schemas.openxmlformats.org/officeDocument/2006/relationships/hyperlink" Target="https://kaito-project.github.io/kaito/docs/" TargetMode="External"/><Relationship Id="rId3" Type="http://schemas.openxmlformats.org/officeDocument/2006/relationships/image" Target="../media/image72.png"/><Relationship Id="rId7"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hyperlink" Target="http://llm-d.ai/slack" TargetMode="External"/><Relationship Id="rId11" Type="http://schemas.openxmlformats.org/officeDocument/2006/relationships/image" Target="../media/image75.png"/><Relationship Id="rId5" Type="http://schemas.openxmlformats.org/officeDocument/2006/relationships/hyperlink" Target="http://github.com/llm-d" TargetMode="External"/><Relationship Id="rId10" Type="http://schemas.openxmlformats.org/officeDocument/2006/relationships/image" Target="../media/image74.png"/><Relationship Id="rId4" Type="http://schemas.openxmlformats.org/officeDocument/2006/relationships/hyperlink" Target="http://llm-d.ai/" TargetMode="External"/><Relationship Id="rId9" Type="http://schemas.openxmlformats.org/officeDocument/2006/relationships/hyperlink" Target="https://github.com/kaito-project"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7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2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3" name="Title 2">
            <a:extLst>
              <a:ext uri="{FF2B5EF4-FFF2-40B4-BE49-F238E27FC236}">
                <a16:creationId xmlns:a16="http://schemas.microsoft.com/office/drawing/2014/main" id="{1BD317C6-C613-C436-A4E5-90F67C36ACF7}"/>
              </a:ext>
            </a:extLst>
          </p:cNvPr>
          <p:cNvSpPr>
            <a:spLocks noGrp="1"/>
          </p:cNvSpPr>
          <p:nvPr>
            <p:ph type="ctrTitle"/>
          </p:nvPr>
        </p:nvSpPr>
        <p:spPr/>
        <p:txBody>
          <a:bodyPr/>
          <a:lstStyle/>
          <a:p>
            <a:r>
              <a:rPr lang="zh-CN" altLang="zh-CN" sz="4000" dirty="0"/>
              <a:t>From Model Serving to Distributed Inference</a:t>
            </a:r>
            <a:endParaRPr lang="en-CA" sz="4000" dirty="0"/>
          </a:p>
        </p:txBody>
      </p:sp>
      <p:sp>
        <p:nvSpPr>
          <p:cNvPr id="4" name="Subtitle 3">
            <a:extLst>
              <a:ext uri="{FF2B5EF4-FFF2-40B4-BE49-F238E27FC236}">
                <a16:creationId xmlns:a16="http://schemas.microsoft.com/office/drawing/2014/main" id="{7C0E09CD-3420-5B42-E889-851F02E49A48}"/>
              </a:ext>
            </a:extLst>
          </p:cNvPr>
          <p:cNvSpPr>
            <a:spLocks noGrp="1"/>
          </p:cNvSpPr>
          <p:nvPr>
            <p:ph type="subTitle" idx="1"/>
          </p:nvPr>
        </p:nvSpPr>
        <p:spPr>
          <a:xfrm>
            <a:off x="219774" y="2487168"/>
            <a:ext cx="8010201" cy="609254"/>
          </a:xfrm>
        </p:spPr>
        <p:txBody>
          <a:bodyPr>
            <a:normAutofit/>
          </a:bodyPr>
          <a:lstStyle/>
          <a:p>
            <a:r>
              <a:rPr lang="en-US" altLang="zh-CN" sz="2000" dirty="0"/>
              <a:t>How LLM-D and </a:t>
            </a:r>
            <a:r>
              <a:rPr lang="zh-CN" altLang="zh-CN" sz="2000" dirty="0"/>
              <a:t>KAITO</a:t>
            </a:r>
            <a:r>
              <a:rPr lang="en-US" altLang="zh-CN" sz="2000" dirty="0"/>
              <a:t> Evolve AI Platforms on</a:t>
            </a:r>
            <a:r>
              <a:rPr lang="zh-CN" altLang="en-US" sz="2000" dirty="0"/>
              <a:t> </a:t>
            </a:r>
            <a:r>
              <a:rPr lang="en-US" altLang="zh-CN" sz="2000" dirty="0"/>
              <a:t>Kubernetes</a:t>
            </a:r>
          </a:p>
        </p:txBody>
      </p:sp>
      <p:sp>
        <p:nvSpPr>
          <p:cNvPr id="2" name="文本框 1">
            <a:extLst>
              <a:ext uri="{FF2B5EF4-FFF2-40B4-BE49-F238E27FC236}">
                <a16:creationId xmlns:a16="http://schemas.microsoft.com/office/drawing/2014/main" id="{ADD87122-718E-25A0-59BF-72C68F502D76}"/>
              </a:ext>
            </a:extLst>
          </p:cNvPr>
          <p:cNvSpPr txBox="1"/>
          <p:nvPr/>
        </p:nvSpPr>
        <p:spPr>
          <a:xfrm>
            <a:off x="219774" y="3191127"/>
            <a:ext cx="4572000" cy="590931"/>
          </a:xfrm>
          <a:prstGeom prst="rect">
            <a:avLst/>
          </a:prstGeom>
          <a:noFill/>
        </p:spPr>
        <p:txBody>
          <a:bodyPr wrap="square">
            <a:spAutoFit/>
          </a:bodyPr>
          <a:lstStyle/>
          <a:p>
            <a:pPr lvl="0">
              <a:lnSpc>
                <a:spcPct val="90000"/>
              </a:lnSpc>
              <a:buClr>
                <a:schemeClr val="lt1"/>
              </a:buClr>
              <a:buSzPts val="2700"/>
            </a:pPr>
            <a:r>
              <a:rPr lang="en-CA" altLang="zh-CN" sz="1800" dirty="0">
                <a:solidFill>
                  <a:schemeClr val="bg1"/>
                </a:solidFill>
              </a:rPr>
              <a:t>Kay Yan — DaoCloud</a:t>
            </a:r>
          </a:p>
          <a:p>
            <a:pPr lvl="0">
              <a:lnSpc>
                <a:spcPct val="90000"/>
              </a:lnSpc>
              <a:buClr>
                <a:schemeClr val="lt1"/>
              </a:buClr>
              <a:buSzPts val="2700"/>
            </a:pPr>
            <a:r>
              <a:rPr lang="en-CA" altLang="zh-CN" sz="1800" dirty="0" err="1">
                <a:solidFill>
                  <a:schemeClr val="bg1"/>
                </a:solidFill>
              </a:rPr>
              <a:t>Linbo</a:t>
            </a:r>
            <a:r>
              <a:rPr lang="en-CA" altLang="zh-CN" sz="1800" dirty="0">
                <a:solidFill>
                  <a:schemeClr val="bg1"/>
                </a:solidFill>
              </a:rPr>
              <a:t> He — Microsoft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id="{C9FD357A-1BE9-9536-8A15-5AC18A2054D1}"/>
              </a:ext>
            </a:extLst>
          </p:cNvPr>
          <p:cNvSpPr txBox="1"/>
          <p:nvPr/>
        </p:nvSpPr>
        <p:spPr>
          <a:xfrm>
            <a:off x="4864861" y="4131756"/>
            <a:ext cx="3673429" cy="738664"/>
          </a:xfrm>
          <a:prstGeom prst="rect">
            <a:avLst/>
          </a:prstGeom>
          <a:noFill/>
        </p:spPr>
        <p:txBody>
          <a:bodyPr wrap="square">
            <a:spAutoFit/>
          </a:bodyPr>
          <a:lstStyle/>
          <a:p>
            <a:pPr lvl="0">
              <a:buSzPts val="1400"/>
            </a:pPr>
            <a:r>
              <a:rPr lang="en-US" altLang="zh-CN" sz="1400" dirty="0"/>
              <a:t>Principal Software Engineer, DaoCloud</a:t>
            </a:r>
          </a:p>
          <a:p>
            <a:pPr lvl="0">
              <a:buSzPts val="1400"/>
            </a:pPr>
            <a:r>
              <a:rPr lang="en-US" altLang="zh-CN" sz="1400" dirty="0"/>
              <a:t>LLM-D &amp; </a:t>
            </a:r>
            <a:r>
              <a:rPr lang="en-US" altLang="zh-CN" sz="1400" dirty="0" err="1"/>
              <a:t>LeaderWorkerSet</a:t>
            </a:r>
            <a:r>
              <a:rPr lang="en-US" altLang="zh-CN" sz="1400" dirty="0"/>
              <a:t> maintainer </a:t>
            </a:r>
            <a:endParaRPr lang="en-US" altLang="zh-CN" dirty="0"/>
          </a:p>
          <a:p>
            <a:pPr lvl="0">
              <a:buSzPts val="1400"/>
            </a:pPr>
            <a:r>
              <a:rPr lang="en-US" altLang="zh-CN" sz="1400" dirty="0"/>
              <a:t>GitHub: </a:t>
            </a:r>
            <a:r>
              <a:rPr lang="en-US" altLang="zh-CN" sz="1400" dirty="0" err="1"/>
              <a:t>yankay</a:t>
            </a:r>
            <a:endParaRPr lang="en-US" altLang="zh-CN" sz="1400" b="0" i="0" u="none" strike="noStrike" cap="none" dirty="0">
              <a:solidFill>
                <a:srgbClr val="000000"/>
              </a:solidFill>
              <a:latin typeface="Arial"/>
              <a:ea typeface="Arial"/>
              <a:cs typeface="Arial"/>
              <a:sym typeface="Arial"/>
            </a:endParaRPr>
          </a:p>
        </p:txBody>
      </p:sp>
      <p:sp>
        <p:nvSpPr>
          <p:cNvPr id="2" name="标题 1">
            <a:extLst>
              <a:ext uri="{FF2B5EF4-FFF2-40B4-BE49-F238E27FC236}">
                <a16:creationId xmlns:a16="http://schemas.microsoft.com/office/drawing/2014/main" id="{02A85A94-50F6-E71A-2D06-C8169ECD0F0F}"/>
              </a:ext>
            </a:extLst>
          </p:cNvPr>
          <p:cNvSpPr>
            <a:spLocks noGrp="1"/>
          </p:cNvSpPr>
          <p:nvPr>
            <p:ph type="title"/>
          </p:nvPr>
        </p:nvSpPr>
        <p:spPr/>
        <p:txBody>
          <a:bodyPr/>
          <a:lstStyle/>
          <a:p>
            <a:r>
              <a:rPr kumimoji="1" lang="en-US" altLang="zh-CN" dirty="0"/>
              <a:t>About</a:t>
            </a:r>
            <a:r>
              <a:rPr kumimoji="1" lang="zh-CN" altLang="en-US" dirty="0"/>
              <a:t> </a:t>
            </a:r>
            <a:r>
              <a:rPr lang="zh-CN" altLang="zh-CN" dirty="0"/>
              <a:t>Us</a:t>
            </a:r>
            <a:endParaRPr kumimoji="1" lang="zh-CN" altLang="en-US" dirty="0"/>
          </a:p>
        </p:txBody>
      </p:sp>
      <p:pic>
        <p:nvPicPr>
          <p:cNvPr id="11" name="Google Shape;144;p31" descr="人站在马旁边&#10;&#10;中度可信度描述已自动生成">
            <a:extLst>
              <a:ext uri="{FF2B5EF4-FFF2-40B4-BE49-F238E27FC236}">
                <a16:creationId xmlns:a16="http://schemas.microsoft.com/office/drawing/2014/main" id="{A24B130A-F8E0-3D1A-5535-1BB19B5DA3EE}"/>
              </a:ext>
            </a:extLst>
          </p:cNvPr>
          <p:cNvPicPr preferRelativeResize="0"/>
          <p:nvPr/>
        </p:nvPicPr>
        <p:blipFill rotWithShape="1">
          <a:blip r:embed="rId3">
            <a:alphaModFix/>
          </a:blip>
          <a:srcRect t="9562" b="8385"/>
          <a:stretch/>
        </p:blipFill>
        <p:spPr>
          <a:xfrm>
            <a:off x="4899914" y="1146986"/>
            <a:ext cx="1838643" cy="2010772"/>
          </a:xfrm>
          <a:prstGeom prst="rect">
            <a:avLst/>
          </a:prstGeom>
          <a:noFill/>
          <a:ln>
            <a:noFill/>
          </a:ln>
          <a:effectLst>
            <a:outerShdw blurRad="292100" dist="139700" dir="2700000" algn="tl" rotWithShape="0">
              <a:srgbClr val="333333">
                <a:alpha val="64313"/>
              </a:srgbClr>
            </a:outerShdw>
          </a:effectLst>
        </p:spPr>
      </p:pic>
      <p:pic>
        <p:nvPicPr>
          <p:cNvPr id="12" name="Google Shape;145;p31">
            <a:extLst>
              <a:ext uri="{FF2B5EF4-FFF2-40B4-BE49-F238E27FC236}">
                <a16:creationId xmlns:a16="http://schemas.microsoft.com/office/drawing/2014/main" id="{E45FFFD7-2017-F2AB-EBFC-69983B9FA974}"/>
              </a:ext>
            </a:extLst>
          </p:cNvPr>
          <p:cNvPicPr preferRelativeResize="0"/>
          <p:nvPr/>
        </p:nvPicPr>
        <p:blipFill rotWithShape="1">
          <a:blip r:embed="rId4">
            <a:alphaModFix/>
          </a:blip>
          <a:srcRect/>
          <a:stretch/>
        </p:blipFill>
        <p:spPr>
          <a:xfrm>
            <a:off x="6309921" y="2605369"/>
            <a:ext cx="981026" cy="981026"/>
          </a:xfrm>
          <a:prstGeom prst="ellipse">
            <a:avLst/>
          </a:prstGeom>
          <a:noFill/>
          <a:ln>
            <a:noFill/>
          </a:ln>
          <a:effectLst>
            <a:outerShdw blurRad="381000" dist="292100" dir="5400000" sx="-80000" sy="-18000" rotWithShape="0">
              <a:srgbClr val="000000">
                <a:alpha val="21568"/>
              </a:srgbClr>
            </a:outerShdw>
          </a:effectLst>
        </p:spPr>
      </p:pic>
      <p:sp>
        <p:nvSpPr>
          <p:cNvPr id="13" name="Google Shape;146;p31">
            <a:extLst>
              <a:ext uri="{FF2B5EF4-FFF2-40B4-BE49-F238E27FC236}">
                <a16:creationId xmlns:a16="http://schemas.microsoft.com/office/drawing/2014/main" id="{34E4BC76-8BAD-8DD9-09FC-42A2037BA4DC}"/>
              </a:ext>
            </a:extLst>
          </p:cNvPr>
          <p:cNvSpPr txBox="1"/>
          <p:nvPr/>
        </p:nvSpPr>
        <p:spPr>
          <a:xfrm>
            <a:off x="4864861" y="3470078"/>
            <a:ext cx="3106162" cy="8001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zh-CN" sz="3200" b="1" i="0" u="none" strike="noStrike" cap="none" dirty="0">
                <a:solidFill>
                  <a:srgbClr val="000000"/>
                </a:solidFill>
                <a:latin typeface="Arial"/>
                <a:ea typeface="Arial"/>
                <a:cs typeface="Arial"/>
                <a:sym typeface="Arial"/>
              </a:rPr>
              <a:t>Kay Yan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4" name="Google Shape;148;p31">
            <a:extLst>
              <a:ext uri="{FF2B5EF4-FFF2-40B4-BE49-F238E27FC236}">
                <a16:creationId xmlns:a16="http://schemas.microsoft.com/office/drawing/2014/main" id="{CEDDA8C5-1DD2-8ABC-92C7-9754198163EF}"/>
              </a:ext>
            </a:extLst>
          </p:cNvPr>
          <p:cNvSpPr txBox="1"/>
          <p:nvPr/>
        </p:nvSpPr>
        <p:spPr>
          <a:xfrm>
            <a:off x="1007009" y="3487998"/>
            <a:ext cx="3784227" cy="800179"/>
          </a:xfrm>
          <a:prstGeom prst="rect">
            <a:avLst/>
          </a:prstGeom>
          <a:noFill/>
          <a:ln>
            <a:noFill/>
          </a:ln>
        </p:spPr>
        <p:txBody>
          <a:bodyPr spcFirstLastPara="1" wrap="square" lIns="91425" tIns="45700" rIns="91425" bIns="45700" anchor="t" anchorCtr="0">
            <a:spAutoFit/>
          </a:bodyPr>
          <a:lstStyle/>
          <a:p>
            <a:pPr lvl="0">
              <a:buSzPts val="3200"/>
            </a:pPr>
            <a:r>
              <a:rPr lang="zh-CN" altLang="zh-CN" sz="3200" b="1" dirty="0"/>
              <a:t>Linbo He</a:t>
            </a:r>
            <a:r>
              <a:rPr lang="zh-CN" altLang="en-US" sz="3200" b="1" dirty="0"/>
              <a:t> </a:t>
            </a:r>
            <a:endParaRPr lang="en-US" altLang="zh-CN" sz="3200" b="1" dirty="0"/>
          </a:p>
          <a:p>
            <a:pPr lvl="0">
              <a:buSzPts val="3200"/>
            </a:pPr>
            <a:endParaRPr lang="zh-CN" altLang="en-US" dirty="0"/>
          </a:p>
        </p:txBody>
      </p:sp>
      <p:pic>
        <p:nvPicPr>
          <p:cNvPr id="15" name="Google Shape;149;p31" descr="Business Products - DaoCloud Enterprise">
            <a:extLst>
              <a:ext uri="{FF2B5EF4-FFF2-40B4-BE49-F238E27FC236}">
                <a16:creationId xmlns:a16="http://schemas.microsoft.com/office/drawing/2014/main" id="{BA74F1F8-E3AF-207B-940C-C3D263845C06}"/>
              </a:ext>
            </a:extLst>
          </p:cNvPr>
          <p:cNvPicPr preferRelativeResize="0"/>
          <p:nvPr/>
        </p:nvPicPr>
        <p:blipFill rotWithShape="1">
          <a:blip r:embed="rId5">
            <a:alphaModFix/>
          </a:blip>
          <a:srcRect/>
          <a:stretch/>
        </p:blipFill>
        <p:spPr>
          <a:xfrm>
            <a:off x="10446891" y="4148065"/>
            <a:ext cx="239806" cy="261389"/>
          </a:xfrm>
          <a:prstGeom prst="rect">
            <a:avLst/>
          </a:prstGeom>
          <a:noFill/>
          <a:ln>
            <a:noFill/>
          </a:ln>
        </p:spPr>
      </p:pic>
      <p:pic>
        <p:nvPicPr>
          <p:cNvPr id="18" name="Google Shape;149;p31" descr="Business Products - DaoCloud Enterprise">
            <a:extLst>
              <a:ext uri="{FF2B5EF4-FFF2-40B4-BE49-F238E27FC236}">
                <a16:creationId xmlns:a16="http://schemas.microsoft.com/office/drawing/2014/main" id="{C06F25B1-26A1-95C0-1BFF-67853A073266}"/>
              </a:ext>
            </a:extLst>
          </p:cNvPr>
          <p:cNvPicPr preferRelativeResize="0"/>
          <p:nvPr/>
        </p:nvPicPr>
        <p:blipFill rotWithShape="1">
          <a:blip r:embed="rId5">
            <a:alphaModFix/>
          </a:blip>
          <a:srcRect/>
          <a:stretch/>
        </p:blipFill>
        <p:spPr>
          <a:xfrm>
            <a:off x="8097471" y="4165086"/>
            <a:ext cx="239806" cy="261389"/>
          </a:xfrm>
          <a:prstGeom prst="rect">
            <a:avLst/>
          </a:prstGeom>
          <a:noFill/>
          <a:ln>
            <a:noFill/>
          </a:ln>
        </p:spPr>
      </p:pic>
      <p:pic>
        <p:nvPicPr>
          <p:cNvPr id="19" name="Picture 4">
            <a:extLst>
              <a:ext uri="{FF2B5EF4-FFF2-40B4-BE49-F238E27FC236}">
                <a16:creationId xmlns:a16="http://schemas.microsoft.com/office/drawing/2014/main" id="{BF75E685-290F-B084-38CF-CE0C2C45614C}"/>
              </a:ext>
            </a:extLst>
          </p:cNvPr>
          <p:cNvPicPr>
            <a:picLocks noChangeAspect="1"/>
          </p:cNvPicPr>
          <p:nvPr/>
        </p:nvPicPr>
        <p:blipFill>
          <a:blip r:embed="rId6">
            <a:alphaModFix/>
          </a:blip>
          <a:stretch>
            <a:fillRect/>
          </a:stretch>
        </p:blipFill>
        <p:spPr>
          <a:xfrm>
            <a:off x="1110343" y="1146986"/>
            <a:ext cx="2028692" cy="2028692"/>
          </a:xfrm>
          <a:prstGeom prst="rect">
            <a:avLst/>
          </a:prstGeom>
          <a:noFill/>
          <a:ln>
            <a:noFill/>
          </a:ln>
          <a:effectLst>
            <a:outerShdw blurRad="292100" dist="139700" dir="2700000" algn="tl" rotWithShape="0">
              <a:srgbClr val="333333">
                <a:alpha val="64313"/>
              </a:srgbClr>
            </a:outerShdw>
          </a:effectLst>
        </p:spPr>
      </p:pic>
      <p:sp>
        <p:nvSpPr>
          <p:cNvPr id="21" name="文本框 20">
            <a:extLst>
              <a:ext uri="{FF2B5EF4-FFF2-40B4-BE49-F238E27FC236}">
                <a16:creationId xmlns:a16="http://schemas.microsoft.com/office/drawing/2014/main" id="{D9B2ACA1-EB9F-3939-EADA-B4934B907109}"/>
              </a:ext>
            </a:extLst>
          </p:cNvPr>
          <p:cNvSpPr txBox="1"/>
          <p:nvPr/>
        </p:nvSpPr>
        <p:spPr>
          <a:xfrm>
            <a:off x="898331" y="4149676"/>
            <a:ext cx="5232400" cy="738664"/>
          </a:xfrm>
          <a:prstGeom prst="rect">
            <a:avLst/>
          </a:prstGeom>
          <a:noFill/>
        </p:spPr>
        <p:txBody>
          <a:bodyPr wrap="square">
            <a:spAutoFit/>
          </a:bodyPr>
          <a:lstStyle/>
          <a:p>
            <a:pPr marL="114300"/>
            <a:r>
              <a:rPr lang="en-US" altLang="zh-CN" sz="1400" dirty="0"/>
              <a:t>Principal Software Engineer, Microsoft</a:t>
            </a:r>
          </a:p>
          <a:p>
            <a:pPr marL="114300"/>
            <a:r>
              <a:rPr lang="en-US" altLang="zh-CN" sz="1400" dirty="0"/>
              <a:t>KAITO &amp; OpenYurt maintainer</a:t>
            </a:r>
          </a:p>
          <a:p>
            <a:pPr marL="114300"/>
            <a:r>
              <a:rPr lang="en-US" altLang="zh-CN" sz="1400" dirty="0"/>
              <a:t>GitHub: </a:t>
            </a:r>
            <a:r>
              <a:rPr lang="en-US" altLang="zh-CN" sz="1400" dirty="0" err="1"/>
              <a:t>rambohe</a:t>
            </a:r>
            <a:r>
              <a:rPr lang="en-US" altLang="zh-CN" sz="1400" dirty="0"/>
              <a:t>-ch</a:t>
            </a:r>
          </a:p>
        </p:txBody>
      </p:sp>
      <p:pic>
        <p:nvPicPr>
          <p:cNvPr id="4" name="图片 3" descr="Microsoft - Free logo icons">
            <a:extLst>
              <a:ext uri="{FF2B5EF4-FFF2-40B4-BE49-F238E27FC236}">
                <a16:creationId xmlns:a16="http://schemas.microsoft.com/office/drawing/2014/main" id="{06F0AB93-933A-3DA2-4B7B-971AEAFE39C2}"/>
              </a:ext>
            </a:extLst>
          </p:cNvPr>
          <p:cNvPicPr>
            <a:picLocks noChangeAspect="1"/>
          </p:cNvPicPr>
          <p:nvPr/>
        </p:nvPicPr>
        <p:blipFill>
          <a:blip r:embed="rId7"/>
          <a:stretch>
            <a:fillRect/>
          </a:stretch>
        </p:blipFill>
        <p:spPr>
          <a:xfrm>
            <a:off x="4179438" y="4197790"/>
            <a:ext cx="236311" cy="236311"/>
          </a:xfrm>
          <a:prstGeom prst="rect">
            <a:avLst/>
          </a:prstGeom>
        </p:spPr>
      </p:pic>
    </p:spTree>
    <p:extLst>
      <p:ext uri="{BB962C8B-B14F-4D97-AF65-F5344CB8AC3E}">
        <p14:creationId xmlns:p14="http://schemas.microsoft.com/office/powerpoint/2010/main" val="352765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971AA-A94A-5622-C241-BCFD2EC85E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73B7BA-F94D-228E-0AF5-39DA7DF07E36}"/>
              </a:ext>
            </a:extLst>
          </p:cNvPr>
          <p:cNvSpPr>
            <a:spLocks noGrp="1"/>
          </p:cNvSpPr>
          <p:nvPr>
            <p:ph type="title"/>
          </p:nvPr>
        </p:nvSpPr>
        <p:spPr/>
        <p:txBody>
          <a:bodyPr/>
          <a:lstStyle/>
          <a:p>
            <a:r>
              <a:rPr lang="en-US" altLang="zh-CN" dirty="0"/>
              <a:t>Agenda</a:t>
            </a:r>
            <a:endParaRPr lang="zh-CN" altLang="en-US" dirty="0"/>
          </a:p>
        </p:txBody>
      </p:sp>
      <p:graphicFrame>
        <p:nvGraphicFramePr>
          <p:cNvPr id="6" name="图示 5">
            <a:extLst>
              <a:ext uri="{FF2B5EF4-FFF2-40B4-BE49-F238E27FC236}">
                <a16:creationId xmlns:a16="http://schemas.microsoft.com/office/drawing/2014/main" id="{194A2592-4746-460B-BF8D-5C2F31B86478}"/>
              </a:ext>
            </a:extLst>
          </p:cNvPr>
          <p:cNvGraphicFramePr/>
          <p:nvPr>
            <p:extLst>
              <p:ext uri="{D42A27DB-BD31-4B8C-83A1-F6EECF244321}">
                <p14:modId xmlns:p14="http://schemas.microsoft.com/office/powerpoint/2010/main" val="3492654"/>
              </p:ext>
            </p:extLst>
          </p:nvPr>
        </p:nvGraphicFramePr>
        <p:xfrm>
          <a:off x="741082" y="1227916"/>
          <a:ext cx="7425019" cy="3726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774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58E51F-87ED-8758-760B-66A5F2E0025D}"/>
              </a:ext>
            </a:extLst>
          </p:cNvPr>
          <p:cNvSpPr>
            <a:spLocks noGrp="1"/>
          </p:cNvSpPr>
          <p:nvPr>
            <p:ph type="title"/>
          </p:nvPr>
        </p:nvSpPr>
        <p:spPr/>
        <p:txBody>
          <a:bodyPr/>
          <a:lstStyle/>
          <a:p>
            <a:r>
              <a:rPr lang="zh-CN" altLang="zh-CN" dirty="0"/>
              <a:t>Background &amp; Challenges</a:t>
            </a:r>
            <a:endParaRPr kumimoji="1" lang="zh-CN" altLang="en-US" dirty="0"/>
          </a:p>
        </p:txBody>
      </p:sp>
    </p:spTree>
    <p:extLst>
      <p:ext uri="{BB962C8B-B14F-4D97-AF65-F5344CB8AC3E}">
        <p14:creationId xmlns:p14="http://schemas.microsoft.com/office/powerpoint/2010/main" val="1093942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3F2D6-D3AE-9B70-F803-D5FD9672F039}"/>
              </a:ext>
            </a:extLst>
          </p:cNvPr>
          <p:cNvSpPr>
            <a:spLocks noGrp="1"/>
          </p:cNvSpPr>
          <p:nvPr>
            <p:ph type="title"/>
          </p:nvPr>
        </p:nvSpPr>
        <p:spPr/>
        <p:txBody>
          <a:bodyPr>
            <a:normAutofit/>
          </a:bodyPr>
          <a:lstStyle/>
          <a:p>
            <a:r>
              <a:rPr lang="en" altLang="zh-CN" dirty="0"/>
              <a:t>Open Models Put AI</a:t>
            </a:r>
            <a:r>
              <a:rPr lang="en-US" altLang="zh-CN" dirty="0"/>
              <a:t>/LLM</a:t>
            </a:r>
            <a:r>
              <a:rPr lang="en" altLang="zh-CN" dirty="0"/>
              <a:t> in Your Hands</a:t>
            </a:r>
          </a:p>
        </p:txBody>
      </p:sp>
      <p:sp>
        <p:nvSpPr>
          <p:cNvPr id="6" name="文本框 5">
            <a:extLst>
              <a:ext uri="{FF2B5EF4-FFF2-40B4-BE49-F238E27FC236}">
                <a16:creationId xmlns:a16="http://schemas.microsoft.com/office/drawing/2014/main" id="{08D3F83F-D89F-A027-DC6B-75ED367425B9}"/>
              </a:ext>
            </a:extLst>
          </p:cNvPr>
          <p:cNvSpPr txBox="1"/>
          <p:nvPr/>
        </p:nvSpPr>
        <p:spPr>
          <a:xfrm>
            <a:off x="1525163" y="4821896"/>
            <a:ext cx="7618837" cy="307777"/>
          </a:xfrm>
          <a:prstGeom prst="rect">
            <a:avLst/>
          </a:prstGeom>
          <a:noFill/>
        </p:spPr>
        <p:txBody>
          <a:bodyPr wrap="square">
            <a:spAutoFit/>
          </a:bodyPr>
          <a:lstStyle/>
          <a:p>
            <a:pPr>
              <a:buNone/>
            </a:pPr>
            <a:r>
              <a:rPr lang="zh-CN" altLang="zh-CN" b="1" dirty="0"/>
              <a:t>Running a model is easy. Operating an inference system is hard.</a:t>
            </a:r>
            <a:endParaRPr lang="zh-CN" altLang="zh-CN" dirty="0"/>
          </a:p>
        </p:txBody>
      </p:sp>
      <p:pic>
        <p:nvPicPr>
          <p:cNvPr id="5" name="图片 4" descr="r/LocalLLaMA - Kimi-K3 isn’t quite better than Fable yet, but it’s definitely getting closer.">
            <a:extLst>
              <a:ext uri="{FF2B5EF4-FFF2-40B4-BE49-F238E27FC236}">
                <a16:creationId xmlns:a16="http://schemas.microsoft.com/office/drawing/2014/main" id="{4B1B08B0-CA41-AB41-0698-9B1079985FFD}"/>
              </a:ext>
            </a:extLst>
          </p:cNvPr>
          <p:cNvPicPr>
            <a:picLocks noChangeAspect="1"/>
          </p:cNvPicPr>
          <p:nvPr/>
        </p:nvPicPr>
        <p:blipFill>
          <a:blip r:embed="rId3"/>
          <a:stretch>
            <a:fillRect/>
          </a:stretch>
        </p:blipFill>
        <p:spPr>
          <a:xfrm>
            <a:off x="1310429" y="1134111"/>
            <a:ext cx="6051749" cy="3687785"/>
          </a:xfrm>
          <a:prstGeom prst="rect">
            <a:avLst/>
          </a:prstGeom>
        </p:spPr>
      </p:pic>
    </p:spTree>
    <p:extLst>
      <p:ext uri="{BB962C8B-B14F-4D97-AF65-F5344CB8AC3E}">
        <p14:creationId xmlns:p14="http://schemas.microsoft.com/office/powerpoint/2010/main" val="337341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52A7C4-8B00-68D3-02B4-7BF35FC5C160}"/>
              </a:ext>
            </a:extLst>
          </p:cNvPr>
          <p:cNvSpPr>
            <a:spLocks noGrp="1"/>
          </p:cNvSpPr>
          <p:nvPr>
            <p:ph type="title"/>
          </p:nvPr>
        </p:nvSpPr>
        <p:spPr/>
        <p:txBody>
          <a:bodyPr/>
          <a:lstStyle/>
          <a:p>
            <a:r>
              <a:rPr lang="en" altLang="zh-CN" dirty="0"/>
              <a:t>Start</a:t>
            </a:r>
            <a:r>
              <a:rPr lang="zh-CN" altLang="en-US" dirty="0"/>
              <a:t> </a:t>
            </a:r>
            <a:r>
              <a:rPr lang="en-US" altLang="zh-CN" dirty="0"/>
              <a:t>with</a:t>
            </a:r>
            <a:r>
              <a:rPr lang="zh-CN" altLang="zh-CN" dirty="0"/>
              <a:t> Hello World: One Model Server</a:t>
            </a:r>
            <a:endParaRPr kumimoji="1" lang="zh-CN" altLang="en-US" dirty="0"/>
          </a:p>
        </p:txBody>
      </p:sp>
      <p:sp>
        <p:nvSpPr>
          <p:cNvPr id="3" name="文本占位符 2">
            <a:extLst>
              <a:ext uri="{FF2B5EF4-FFF2-40B4-BE49-F238E27FC236}">
                <a16:creationId xmlns:a16="http://schemas.microsoft.com/office/drawing/2014/main" id="{31D05385-7915-7371-968C-A6BDC363E96D}"/>
              </a:ext>
            </a:extLst>
          </p:cNvPr>
          <p:cNvSpPr>
            <a:spLocks noGrp="1"/>
          </p:cNvSpPr>
          <p:nvPr>
            <p:ph type="body" idx="1"/>
          </p:nvPr>
        </p:nvSpPr>
        <p:spPr/>
        <p:txBody>
          <a:bodyPr/>
          <a:lstStyle/>
          <a:p>
            <a:endParaRPr lang="zh-CN" altLang="en-US"/>
          </a:p>
        </p:txBody>
      </p:sp>
      <p:sp>
        <p:nvSpPr>
          <p:cNvPr id="5" name="文本框 4">
            <a:extLst>
              <a:ext uri="{FF2B5EF4-FFF2-40B4-BE49-F238E27FC236}">
                <a16:creationId xmlns:a16="http://schemas.microsoft.com/office/drawing/2014/main" id="{4CC88311-DF6B-1336-88F0-9A07E61459EB}"/>
              </a:ext>
            </a:extLst>
          </p:cNvPr>
          <p:cNvSpPr txBox="1"/>
          <p:nvPr/>
        </p:nvSpPr>
        <p:spPr>
          <a:xfrm>
            <a:off x="240223" y="740123"/>
            <a:ext cx="4572000" cy="307777"/>
          </a:xfrm>
          <a:prstGeom prst="rect">
            <a:avLst/>
          </a:prstGeom>
          <a:noFill/>
        </p:spPr>
        <p:txBody>
          <a:bodyPr wrap="square">
            <a:spAutoFit/>
          </a:bodyPr>
          <a:lstStyle/>
          <a:p>
            <a:pPr>
              <a:buNone/>
            </a:pPr>
            <a:r>
              <a:rPr lang="en" altLang="zh-CN" b="1" dirty="0">
                <a:solidFill>
                  <a:schemeClr val="bg1"/>
                </a:solidFill>
              </a:rPr>
              <a:t>One command. One OpenAI-compatible endpoint.</a:t>
            </a:r>
          </a:p>
        </p:txBody>
      </p:sp>
      <p:sp>
        <p:nvSpPr>
          <p:cNvPr id="10" name="文本框 9">
            <a:extLst>
              <a:ext uri="{FF2B5EF4-FFF2-40B4-BE49-F238E27FC236}">
                <a16:creationId xmlns:a16="http://schemas.microsoft.com/office/drawing/2014/main" id="{BFF26B81-5301-E46C-4BE9-BACE92EC6BEA}"/>
              </a:ext>
            </a:extLst>
          </p:cNvPr>
          <p:cNvSpPr txBox="1"/>
          <p:nvPr/>
        </p:nvSpPr>
        <p:spPr>
          <a:xfrm>
            <a:off x="311700" y="1189178"/>
            <a:ext cx="8382789" cy="1027204"/>
          </a:xfrm>
          <a:prstGeom prst="rect">
            <a:avLst/>
          </a:prstGeom>
          <a:solidFill>
            <a:schemeClr val="tx1"/>
          </a:solidFill>
        </p:spPr>
        <p:txBody>
          <a:bodyPr wrap="square">
            <a:spAutoFit/>
          </a:bodyPr>
          <a:lstStyle/>
          <a:p>
            <a:pPr marL="0" marR="0" lvl="0" indent="0" algn="l" defTabSz="914400" rtl="0" eaLnBrk="1" fontAlgn="auto" latinLnBrk="0" hangingPunct="1">
              <a:lnSpc>
                <a:spcPts val="1425"/>
              </a:lnSpc>
              <a:spcBef>
                <a:spcPts val="0"/>
              </a:spcBef>
              <a:spcAft>
                <a:spcPts val="0"/>
              </a:spcAft>
              <a:buClr>
                <a:srgbClr val="000000"/>
              </a:buClr>
              <a:buSzTx/>
              <a:buFont typeface="Arial"/>
              <a:buNone/>
              <a:tabLst/>
              <a:defRPr/>
            </a:pPr>
            <a:r>
              <a:rPr kumimoji="0" lang="en-US" altLang="zh-CN" sz="1400" b="0" i="0" u="none" strike="noStrike" kern="0" cap="none" spc="0" normalizeH="0" baseline="0" noProof="0" dirty="0">
                <a:ln>
                  <a:noFill/>
                </a:ln>
                <a:solidFill>
                  <a:srgbClr val="DCDCAA"/>
                </a:solidFill>
                <a:effectLst/>
                <a:uLnTx/>
                <a:uFillTx/>
                <a:latin typeface="Consolas" panose="020B0609020204030204" pitchFamily="49" charset="0"/>
                <a:cs typeface="Arial"/>
                <a:sym typeface="Arial"/>
              </a:rPr>
              <a:t>docker</a:t>
            </a:r>
            <a:r>
              <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CE9178"/>
                </a:solidFill>
                <a:effectLst/>
                <a:uLnTx/>
                <a:uFillTx/>
                <a:latin typeface="Consolas" panose="020B0609020204030204" pitchFamily="49" charset="0"/>
                <a:cs typeface="Arial"/>
                <a:sym typeface="Arial"/>
              </a:rPr>
              <a:t>run</a:t>
            </a:r>
            <a:r>
              <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569CD6"/>
                </a:solidFill>
                <a:effectLst/>
                <a:highlight>
                  <a:srgbClr val="FFFF00"/>
                </a:highlight>
                <a:uLnTx/>
                <a:uFillTx/>
                <a:latin typeface="Consolas" panose="020B0609020204030204" pitchFamily="49" charset="0"/>
                <a:cs typeface="Arial"/>
                <a:sym typeface="Arial"/>
              </a:rPr>
              <a:t>--</a:t>
            </a:r>
            <a:r>
              <a:rPr kumimoji="0" lang="en-US" altLang="zh-CN" sz="1400" b="0" i="0" u="none" strike="noStrike" kern="0" cap="none" spc="0" normalizeH="0" baseline="0" noProof="0" dirty="0" err="1">
                <a:ln>
                  <a:noFill/>
                </a:ln>
                <a:solidFill>
                  <a:srgbClr val="569CD6"/>
                </a:solidFill>
                <a:effectLst/>
                <a:highlight>
                  <a:srgbClr val="FFFF00"/>
                </a:highlight>
                <a:uLnTx/>
                <a:uFillTx/>
                <a:latin typeface="Consolas" panose="020B0609020204030204" pitchFamily="49" charset="0"/>
                <a:cs typeface="Arial"/>
                <a:sym typeface="Arial"/>
              </a:rPr>
              <a:t>gpus</a:t>
            </a:r>
            <a:r>
              <a:rPr kumimoji="0" lang="en-US" altLang="zh-CN" sz="1400" b="0" i="0" u="none" strike="noStrike" kern="0" cap="none" spc="0" normalizeH="0" baseline="0" noProof="0" dirty="0">
                <a:ln>
                  <a:noFill/>
                </a:ln>
                <a:solidFill>
                  <a:srgbClr val="CCCCCC"/>
                </a:solidFill>
                <a:effectLst/>
                <a:highlight>
                  <a:srgbClr val="FFFF00"/>
                </a:highligh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CE9178"/>
                </a:solidFill>
                <a:effectLst/>
                <a:highlight>
                  <a:srgbClr val="FFFF00"/>
                </a:highlight>
                <a:uLnTx/>
                <a:uFillTx/>
                <a:latin typeface="Consolas" panose="020B0609020204030204" pitchFamily="49" charset="0"/>
                <a:cs typeface="Arial"/>
                <a:sym typeface="Arial"/>
              </a:rPr>
              <a:t>all</a:t>
            </a:r>
            <a:r>
              <a:rPr kumimoji="0" lang="en-US" altLang="zh-CN" sz="1400" b="0" i="0" u="none" strike="noStrike" kern="0" cap="none" spc="0" normalizeH="0" baseline="0" noProof="0" dirty="0">
                <a:ln>
                  <a:noFill/>
                </a:ln>
                <a:solidFill>
                  <a:srgbClr val="CCCCCC"/>
                </a:solidFill>
                <a:effectLst/>
                <a:highlight>
                  <a:srgbClr val="FFFF00"/>
                </a:highligh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D7BA7D"/>
                </a:solidFill>
                <a:effectLst/>
                <a:uLnTx/>
                <a:uFillTx/>
                <a:latin typeface="Consolas" panose="020B0609020204030204" pitchFamily="49" charset="0"/>
                <a:cs typeface="Arial"/>
                <a:sym typeface="Arial"/>
              </a:rPr>
              <a:t>\</a:t>
            </a:r>
            <a:endPar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endParaRPr>
          </a:p>
          <a:p>
            <a:r>
              <a:rPr lang="en-US" altLang="zh-CN" dirty="0">
                <a:solidFill>
                  <a:srgbClr val="CE9178"/>
                </a:solidFill>
                <a:latin typeface="Consolas" panose="020B0609020204030204" pitchFamily="49" charset="0"/>
              </a:rPr>
              <a:t>    </a:t>
            </a:r>
            <a:r>
              <a:rPr lang="zh-CN" altLang="zh-CN" dirty="0">
                <a:solidFill>
                  <a:srgbClr val="569CD6"/>
                </a:solidFill>
                <a:latin typeface="Consolas" panose="020B0609020204030204" pitchFamily="49" charset="0"/>
              </a:rPr>
              <a:t>--privileged --ipc=host -p </a:t>
            </a:r>
            <a:r>
              <a:rPr lang="zh-CN" altLang="zh-CN" dirty="0">
                <a:solidFill>
                  <a:srgbClr val="CE9178"/>
                </a:solidFill>
                <a:latin typeface="Consolas" panose="020B0609020204030204" pitchFamily="49" charset="0"/>
              </a:rPr>
              <a:t>8000:8000 \</a:t>
            </a:r>
          </a:p>
          <a:p>
            <a:pPr marL="0" marR="0" lvl="0" indent="0" algn="l" defTabSz="914400" rtl="0" eaLnBrk="1" fontAlgn="auto" latinLnBrk="0" hangingPunct="1">
              <a:lnSpc>
                <a:spcPts val="1425"/>
              </a:lnSpc>
              <a:spcBef>
                <a:spcPts val="0"/>
              </a:spcBef>
              <a:spcAft>
                <a:spcPts val="0"/>
              </a:spcAft>
              <a:buClr>
                <a:srgbClr val="000000"/>
              </a:buClr>
              <a:buSzTx/>
              <a:buFont typeface="Arial"/>
              <a:buNone/>
              <a:tabLst/>
              <a:defRPr/>
            </a:pPr>
            <a:r>
              <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569CD6"/>
                </a:solidFill>
                <a:effectLst/>
                <a:uLnTx/>
                <a:uFillTx/>
                <a:latin typeface="Consolas" panose="020B0609020204030204" pitchFamily="49" charset="0"/>
                <a:cs typeface="Arial"/>
                <a:sym typeface="Arial"/>
              </a:rPr>
              <a:t>-v</a:t>
            </a:r>
            <a:r>
              <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CE9178"/>
                </a:solidFill>
                <a:effectLst/>
                <a:uLnTx/>
                <a:uFillTx/>
                <a:latin typeface="Consolas" panose="020B0609020204030204" pitchFamily="49" charset="0"/>
                <a:cs typeface="Arial"/>
                <a:sym typeface="Arial"/>
              </a:rPr>
              <a:t>~/.cache/</a:t>
            </a:r>
            <a:r>
              <a:rPr kumimoji="0" lang="en-US" altLang="zh-CN" sz="1400" b="0" i="0" u="none" strike="noStrike" kern="0" cap="none" spc="0" normalizeH="0" baseline="0" noProof="0" dirty="0" err="1">
                <a:ln>
                  <a:noFill/>
                </a:ln>
                <a:solidFill>
                  <a:srgbClr val="CE9178"/>
                </a:solidFill>
                <a:effectLst/>
                <a:uLnTx/>
                <a:uFillTx/>
                <a:latin typeface="Consolas" panose="020B0609020204030204" pitchFamily="49" charset="0"/>
                <a:cs typeface="Arial"/>
                <a:sym typeface="Arial"/>
              </a:rPr>
              <a:t>huggingface</a:t>
            </a:r>
            <a:r>
              <a:rPr kumimoji="0" lang="en-US" altLang="zh-CN" sz="1400" b="0" i="0" u="none" strike="noStrike" kern="0" cap="none" spc="0" normalizeH="0" baseline="0" noProof="0" dirty="0">
                <a:ln>
                  <a:noFill/>
                </a:ln>
                <a:solidFill>
                  <a:srgbClr val="CE9178"/>
                </a:solidFill>
                <a:effectLst/>
                <a:uLnTx/>
                <a:uFillTx/>
                <a:latin typeface="Consolas" panose="020B0609020204030204" pitchFamily="49" charset="0"/>
                <a:cs typeface="Arial"/>
                <a:sym typeface="Arial"/>
              </a:rPr>
              <a:t>:/root/.cache/</a:t>
            </a:r>
            <a:r>
              <a:rPr kumimoji="0" lang="en-US" altLang="zh-CN" sz="1400" b="0" i="0" u="none" strike="noStrike" kern="0" cap="none" spc="0" normalizeH="0" baseline="0" noProof="0" dirty="0" err="1">
                <a:ln>
                  <a:noFill/>
                </a:ln>
                <a:solidFill>
                  <a:srgbClr val="CE9178"/>
                </a:solidFill>
                <a:effectLst/>
                <a:uLnTx/>
                <a:uFillTx/>
                <a:latin typeface="Consolas" panose="020B0609020204030204" pitchFamily="49" charset="0"/>
                <a:cs typeface="Arial"/>
                <a:sym typeface="Arial"/>
              </a:rPr>
              <a:t>huggingface</a:t>
            </a:r>
            <a:r>
              <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rPr>
              <a:t> </a:t>
            </a:r>
            <a:r>
              <a:rPr kumimoji="0" lang="en-US" altLang="zh-CN" sz="1400" b="0" i="0" u="none" strike="noStrike" kern="0" cap="none" spc="0" normalizeH="0" baseline="0" noProof="0" dirty="0">
                <a:ln>
                  <a:noFill/>
                </a:ln>
                <a:solidFill>
                  <a:srgbClr val="D7BA7D"/>
                </a:solidFill>
                <a:effectLst/>
                <a:uLnTx/>
                <a:uFillTx/>
                <a:latin typeface="Consolas" panose="020B0609020204030204" pitchFamily="49" charset="0"/>
                <a:cs typeface="Arial"/>
                <a:sym typeface="Arial"/>
              </a:rPr>
              <a:t>\</a:t>
            </a:r>
            <a:endParaRPr kumimoji="0" lang="en-US" altLang="zh-CN" sz="1400" b="0" i="0" u="none" strike="noStrike" kern="0" cap="none" spc="0" normalizeH="0" baseline="0" noProof="0" dirty="0">
              <a:ln>
                <a:noFill/>
              </a:ln>
              <a:solidFill>
                <a:srgbClr val="CCCCCC"/>
              </a:solidFill>
              <a:effectLst/>
              <a:uLnTx/>
              <a:uFillTx/>
              <a:latin typeface="Consolas" panose="020B0609020204030204" pitchFamily="49" charset="0"/>
              <a:cs typeface="Arial"/>
              <a:sym typeface="Arial"/>
            </a:endParaRPr>
          </a:p>
          <a:p>
            <a:pPr>
              <a:lnSpc>
                <a:spcPts val="1425"/>
              </a:lnSpc>
            </a:pPr>
            <a:r>
              <a:rPr lang="en-US" altLang="zh-CN" dirty="0">
                <a:solidFill>
                  <a:srgbClr val="CE9178"/>
                </a:solidFill>
                <a:latin typeface="Consolas" panose="020B0609020204030204" pitchFamily="49" charset="0"/>
              </a:rPr>
              <a:t>    </a:t>
            </a:r>
            <a:r>
              <a:rPr lang="zh-CN" altLang="zh-CN" dirty="0">
                <a:solidFill>
                  <a:srgbClr val="CE9178"/>
                </a:solidFill>
                <a:highlight>
                  <a:srgbClr val="FFFF00"/>
                </a:highlight>
                <a:latin typeface="Consolas" panose="020B0609020204030204" pitchFamily="49" charset="0"/>
              </a:rPr>
              <a:t>vllm/vllm-openai:latest Qwen/Qwen3.5-0.8B</a:t>
            </a:r>
            <a:r>
              <a:rPr lang="zh-CN" altLang="en-US" dirty="0">
                <a:solidFill>
                  <a:srgbClr val="CE9178"/>
                </a:solidFill>
                <a:highlight>
                  <a:srgbClr val="FFFF00"/>
                </a:highlight>
                <a:latin typeface="Consolas" panose="020B0609020204030204" pitchFamily="49" charset="0"/>
              </a:rPr>
              <a:t> </a:t>
            </a:r>
            <a:r>
              <a:rPr lang="en-US" altLang="zh-CN" dirty="0">
                <a:solidFill>
                  <a:srgbClr val="CE9178"/>
                </a:solidFill>
                <a:latin typeface="Consolas" panose="020B0609020204030204" pitchFamily="49" charset="0"/>
              </a:rPr>
              <a:t>\</a:t>
            </a:r>
          </a:p>
          <a:p>
            <a:pPr>
              <a:lnSpc>
                <a:spcPts val="1425"/>
              </a:lnSpc>
            </a:pPr>
            <a:r>
              <a:rPr lang="zh-CN" altLang="en-US" dirty="0">
                <a:solidFill>
                  <a:srgbClr val="CE9178"/>
                </a:solidFill>
                <a:latin typeface="Consolas" panose="020B0609020204030204" pitchFamily="49" charset="0"/>
              </a:rPr>
              <a:t>    </a:t>
            </a:r>
            <a:r>
              <a:rPr lang="zh-CN" altLang="zh-CN" dirty="0">
                <a:solidFill>
                  <a:srgbClr val="CE9178"/>
                </a:solidFill>
                <a:latin typeface="Consolas" panose="020B0609020204030204" pitchFamily="49" charset="0"/>
              </a:rPr>
              <a:t>--trust-remote-code</a:t>
            </a:r>
            <a:endParaRPr lang="en-US" altLang="zh-CN" dirty="0">
              <a:solidFill>
                <a:srgbClr val="CE9178"/>
              </a:solidFill>
              <a:latin typeface="Consolas" panose="020B0609020204030204" pitchFamily="49" charset="0"/>
            </a:endParaRPr>
          </a:p>
        </p:txBody>
      </p:sp>
      <p:sp>
        <p:nvSpPr>
          <p:cNvPr id="11" name="文本框 10">
            <a:extLst>
              <a:ext uri="{FF2B5EF4-FFF2-40B4-BE49-F238E27FC236}">
                <a16:creationId xmlns:a16="http://schemas.microsoft.com/office/drawing/2014/main" id="{AAB7C17F-5887-49E7-B9D4-BC352DFEAA72}"/>
              </a:ext>
            </a:extLst>
          </p:cNvPr>
          <p:cNvSpPr txBox="1"/>
          <p:nvPr/>
        </p:nvSpPr>
        <p:spPr>
          <a:xfrm>
            <a:off x="311700" y="2796799"/>
            <a:ext cx="5599594" cy="738664"/>
          </a:xfrm>
          <a:prstGeom prst="rect">
            <a:avLst/>
          </a:prstGeom>
          <a:noFill/>
        </p:spPr>
        <p:txBody>
          <a:bodyPr wrap="square">
            <a:spAutoFit/>
          </a:bodyPr>
          <a:lstStyle/>
          <a:p>
            <a:pPr lvl="0"/>
            <a:r>
              <a:rPr lang="en" altLang="zh-CN" dirty="0"/>
              <a:t>1. Download an open model.</a:t>
            </a:r>
          </a:p>
          <a:p>
            <a:pPr lvl="0"/>
            <a:r>
              <a:rPr lang="en" altLang="zh-CN" dirty="0"/>
              <a:t>2. Serve it with </a:t>
            </a:r>
            <a:r>
              <a:rPr lang="en" altLang="zh-CN" dirty="0" err="1"/>
              <a:t>vLLM</a:t>
            </a:r>
            <a:r>
              <a:rPr lang="en" altLang="zh-CN" dirty="0"/>
              <a:t> or </a:t>
            </a:r>
            <a:r>
              <a:rPr lang="en" altLang="zh-CN" dirty="0" err="1"/>
              <a:t>SGLang</a:t>
            </a:r>
            <a:r>
              <a:rPr lang="en" altLang="zh-CN" dirty="0"/>
              <a:t>.</a:t>
            </a:r>
          </a:p>
          <a:p>
            <a:pPr lvl="0"/>
            <a:r>
              <a:rPr lang="en" altLang="zh-CN" dirty="0"/>
              <a:t>3. Call it through an OpenAI-compatible API.</a:t>
            </a:r>
            <a:endParaRPr lang="zh-CN" altLang="zh-CN" dirty="0"/>
          </a:p>
        </p:txBody>
      </p:sp>
      <p:sp>
        <p:nvSpPr>
          <p:cNvPr id="12" name="文本框 11">
            <a:extLst>
              <a:ext uri="{FF2B5EF4-FFF2-40B4-BE49-F238E27FC236}">
                <a16:creationId xmlns:a16="http://schemas.microsoft.com/office/drawing/2014/main" id="{B6FDFD32-E9CC-F1C8-828E-A83367DB3685}"/>
              </a:ext>
            </a:extLst>
          </p:cNvPr>
          <p:cNvSpPr txBox="1"/>
          <p:nvPr/>
        </p:nvSpPr>
        <p:spPr>
          <a:xfrm>
            <a:off x="2681189" y="4783192"/>
            <a:ext cx="7014866" cy="307777"/>
          </a:xfrm>
          <a:prstGeom prst="rect">
            <a:avLst/>
          </a:prstGeom>
          <a:noFill/>
        </p:spPr>
        <p:txBody>
          <a:bodyPr wrap="square">
            <a:spAutoFit/>
          </a:bodyPr>
          <a:lstStyle/>
          <a:p>
            <a:pPr>
              <a:buNone/>
            </a:pPr>
            <a:r>
              <a:rPr lang="zh-CN" altLang="zh-CN" b="1" dirty="0"/>
              <a:t>Explore more models and deployment configurations:</a:t>
            </a:r>
            <a:r>
              <a:rPr lang="zh-CN" altLang="en-US" b="1" dirty="0"/>
              <a:t> </a:t>
            </a:r>
            <a:r>
              <a:rPr lang="en" altLang="zh-CN" dirty="0">
                <a:hlinkClick r:id="rId3"/>
              </a:rPr>
              <a:t>https://recipes.vllm.ai/</a:t>
            </a:r>
            <a:endParaRPr lang="zh-CN" altLang="zh-CN" dirty="0"/>
          </a:p>
        </p:txBody>
      </p:sp>
      <p:pic>
        <p:nvPicPr>
          <p:cNvPr id="4" name="图片 3">
            <a:extLst>
              <a:ext uri="{FF2B5EF4-FFF2-40B4-BE49-F238E27FC236}">
                <a16:creationId xmlns:a16="http://schemas.microsoft.com/office/drawing/2014/main" id="{D31311DA-D59A-CA5C-5247-DB277B6FE60B}"/>
              </a:ext>
            </a:extLst>
          </p:cNvPr>
          <p:cNvPicPr>
            <a:picLocks noChangeAspect="1"/>
          </p:cNvPicPr>
          <p:nvPr/>
        </p:nvPicPr>
        <p:blipFill>
          <a:blip r:embed="rId4"/>
          <a:stretch>
            <a:fillRect/>
          </a:stretch>
        </p:blipFill>
        <p:spPr>
          <a:xfrm>
            <a:off x="4420925" y="2511480"/>
            <a:ext cx="4937760" cy="2062970"/>
          </a:xfrm>
          <a:prstGeom prst="rect">
            <a:avLst/>
          </a:prstGeom>
        </p:spPr>
      </p:pic>
    </p:spTree>
    <p:extLst>
      <p:ext uri="{BB962C8B-B14F-4D97-AF65-F5344CB8AC3E}">
        <p14:creationId xmlns:p14="http://schemas.microsoft.com/office/powerpoint/2010/main" val="8663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03BA-38AD-3EDA-291A-87BC67EBAD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7FA449-2D96-2FE1-AA42-9672F0A6B947}"/>
              </a:ext>
            </a:extLst>
          </p:cNvPr>
          <p:cNvSpPr>
            <a:spLocks noGrp="1"/>
          </p:cNvSpPr>
          <p:nvPr>
            <p:ph type="title"/>
          </p:nvPr>
        </p:nvSpPr>
        <p:spPr>
          <a:xfrm>
            <a:off x="312250" y="182632"/>
            <a:ext cx="8520600" cy="572700"/>
          </a:xfrm>
        </p:spPr>
        <p:txBody>
          <a:bodyPr/>
          <a:lstStyle/>
          <a:p>
            <a:r>
              <a:rPr lang="en" altLang="zh-CN" dirty="0"/>
              <a:t>What is a large-language model?</a:t>
            </a:r>
            <a:endParaRPr kumimoji="1" lang="zh-CN" altLang="en-US" dirty="0"/>
          </a:p>
        </p:txBody>
      </p:sp>
      <p:sp>
        <p:nvSpPr>
          <p:cNvPr id="6" name="Google Shape;3244;p346">
            <a:extLst>
              <a:ext uri="{FF2B5EF4-FFF2-40B4-BE49-F238E27FC236}">
                <a16:creationId xmlns:a16="http://schemas.microsoft.com/office/drawing/2014/main" id="{EC3DC115-88AD-2E2B-87B3-E99209682CB7}"/>
              </a:ext>
            </a:extLst>
          </p:cNvPr>
          <p:cNvSpPr txBox="1">
            <a:spLocks noGrp="1"/>
          </p:cNvSpPr>
          <p:nvPr>
            <p:ph type="body" idx="1"/>
          </p:nvPr>
        </p:nvSpPr>
        <p:spPr>
          <a:xfrm>
            <a:off x="5351463" y="1152525"/>
            <a:ext cx="3481387" cy="3317875"/>
          </a:xfrm>
          <a:prstGeom prst="rect">
            <a:avLst/>
          </a:prstGeom>
          <a:noFill/>
          <a:ln>
            <a:noFill/>
          </a:ln>
        </p:spPr>
        <p:txBody>
          <a:bodyPr spcFirstLastPara="1" wrap="square" lIns="0" tIns="0" rIns="0" bIns="0" anchor="t" anchorCtr="0">
            <a:noAutofit/>
          </a:bodyPr>
          <a:lstStyle/>
          <a:p>
            <a:pPr marL="88900" indent="0">
              <a:lnSpc>
                <a:spcPct val="140000"/>
              </a:lnSpc>
              <a:buSzPts val="1400"/>
              <a:buNone/>
            </a:pPr>
            <a:r>
              <a:rPr lang="en" altLang="zh-CN" sz="1400" dirty="0"/>
              <a:t>Three Concepts Explain Most Inference Bottlenecks</a:t>
            </a:r>
          </a:p>
          <a:p>
            <a:pPr marL="88900" indent="0">
              <a:lnSpc>
                <a:spcPct val="140000"/>
              </a:lnSpc>
              <a:buSzPts val="1400"/>
              <a:buNone/>
            </a:pPr>
            <a:endParaRPr lang="en" sz="1400" b="1" dirty="0">
              <a:solidFill>
                <a:schemeClr val="dk1"/>
              </a:solidFill>
            </a:endParaRPr>
          </a:p>
          <a:p>
            <a:pPr marL="342900" lvl="0" indent="-254000" algn="l" rtl="0">
              <a:lnSpc>
                <a:spcPct val="140000"/>
              </a:lnSpc>
              <a:spcBef>
                <a:spcPts val="0"/>
              </a:spcBef>
              <a:spcAft>
                <a:spcPts val="0"/>
              </a:spcAft>
              <a:buSzPts val="1400"/>
              <a:buChar char="●"/>
            </a:pPr>
            <a:r>
              <a:rPr lang="en" sz="1400" b="1" dirty="0">
                <a:solidFill>
                  <a:schemeClr val="dk1"/>
                </a:solidFill>
              </a:rPr>
              <a:t>KV Cache: </a:t>
            </a:r>
            <a:r>
              <a:rPr lang="en" sz="1400" dirty="0">
                <a:solidFill>
                  <a:schemeClr val="dk1"/>
                </a:solidFill>
              </a:rPr>
              <a:t>Attention has </a:t>
            </a:r>
            <a:r>
              <a:rPr lang="en" sz="1400" b="1" dirty="0">
                <a:solidFill>
                  <a:schemeClr val="dk1"/>
                </a:solidFill>
              </a:rPr>
              <a:t>state</a:t>
            </a:r>
            <a:r>
              <a:rPr lang="en" sz="1400" dirty="0">
                <a:solidFill>
                  <a:schemeClr val="dk1"/>
                </a:solidFill>
              </a:rPr>
              <a:t> that needs to be managed</a:t>
            </a:r>
          </a:p>
          <a:p>
            <a:pPr marL="342900" lvl="0" indent="-254000" algn="l" rtl="0">
              <a:lnSpc>
                <a:spcPct val="140000"/>
              </a:lnSpc>
              <a:spcBef>
                <a:spcPts val="0"/>
              </a:spcBef>
              <a:spcAft>
                <a:spcPts val="0"/>
              </a:spcAft>
              <a:buSzPts val="1400"/>
              <a:buChar char="●"/>
            </a:pPr>
            <a:r>
              <a:rPr lang="en" sz="1400" b="1" dirty="0">
                <a:solidFill>
                  <a:schemeClr val="dk1"/>
                </a:solidFill>
              </a:rPr>
              <a:t>Prefill: </a:t>
            </a:r>
            <a:r>
              <a:rPr lang="en" sz="1400" dirty="0">
                <a:solidFill>
                  <a:schemeClr val="dk1"/>
                </a:solidFill>
              </a:rPr>
              <a:t>Prompt processing is compute bound</a:t>
            </a:r>
            <a:endParaRPr sz="1400" dirty="0">
              <a:solidFill>
                <a:schemeClr val="dk1"/>
              </a:solidFill>
            </a:endParaRPr>
          </a:p>
          <a:p>
            <a:pPr marL="342900" lvl="0" indent="-254000" algn="l" rtl="0">
              <a:lnSpc>
                <a:spcPct val="140000"/>
              </a:lnSpc>
              <a:spcBef>
                <a:spcPts val="0"/>
              </a:spcBef>
              <a:spcAft>
                <a:spcPts val="0"/>
              </a:spcAft>
              <a:buSzPts val="1400"/>
              <a:buChar char="●"/>
            </a:pPr>
            <a:r>
              <a:rPr lang="en" sz="1400" b="1" dirty="0">
                <a:solidFill>
                  <a:schemeClr val="dk1"/>
                </a:solidFill>
              </a:rPr>
              <a:t>Decode:</a:t>
            </a:r>
            <a:r>
              <a:rPr lang="en" sz="1400" dirty="0">
                <a:solidFill>
                  <a:schemeClr val="dk1"/>
                </a:solidFill>
              </a:rPr>
              <a:t> Token generation is memory-bandwidth limited</a:t>
            </a:r>
            <a:endParaRPr sz="1400" dirty="0">
              <a:solidFill>
                <a:schemeClr val="dk1"/>
              </a:solidFill>
            </a:endParaRPr>
          </a:p>
          <a:p>
            <a:pPr marL="0" lvl="0" indent="0" algn="l" rtl="0">
              <a:lnSpc>
                <a:spcPct val="140000"/>
              </a:lnSpc>
              <a:spcBef>
                <a:spcPts val="0"/>
              </a:spcBef>
              <a:spcAft>
                <a:spcPts val="0"/>
              </a:spcAft>
              <a:buSzPts val="1400"/>
              <a:buNone/>
            </a:pPr>
            <a:endParaRPr sz="1400" dirty="0"/>
          </a:p>
        </p:txBody>
      </p:sp>
      <p:pic>
        <p:nvPicPr>
          <p:cNvPr id="4" name="图片 3" descr="LLM inference flow, including (a) the prefill and decode phases of the input sequence &quot;Large Language Model&quot;, (b) architecture blocks of each transformer layer, (c) computation diagram of the self-attention block, (d) variants of attention operators, (e) variants of dense FFN operations.">
            <a:extLst>
              <a:ext uri="{FF2B5EF4-FFF2-40B4-BE49-F238E27FC236}">
                <a16:creationId xmlns:a16="http://schemas.microsoft.com/office/drawing/2014/main" id="{E0167B6B-CAE2-6810-F72F-AD6412DC0D1A}"/>
              </a:ext>
            </a:extLst>
          </p:cNvPr>
          <p:cNvPicPr>
            <a:picLocks noChangeAspect="1"/>
          </p:cNvPicPr>
          <p:nvPr/>
        </p:nvPicPr>
        <p:blipFill>
          <a:blip r:embed="rId3"/>
          <a:stretch>
            <a:fillRect/>
          </a:stretch>
        </p:blipFill>
        <p:spPr>
          <a:xfrm>
            <a:off x="403232" y="1133431"/>
            <a:ext cx="4532682" cy="3037862"/>
          </a:xfrm>
          <a:prstGeom prst="rect">
            <a:avLst/>
          </a:prstGeom>
        </p:spPr>
      </p:pic>
      <p:sp>
        <p:nvSpPr>
          <p:cNvPr id="7" name="Google Shape;3246;p346">
            <a:extLst>
              <a:ext uri="{FF2B5EF4-FFF2-40B4-BE49-F238E27FC236}">
                <a16:creationId xmlns:a16="http://schemas.microsoft.com/office/drawing/2014/main" id="{D790959C-9CFD-1842-488A-094F74552ACF}"/>
              </a:ext>
            </a:extLst>
          </p:cNvPr>
          <p:cNvSpPr txBox="1">
            <a:spLocks/>
          </p:cNvSpPr>
          <p:nvPr/>
        </p:nvSpPr>
        <p:spPr>
          <a:xfrm>
            <a:off x="5422790" y="922351"/>
            <a:ext cx="3721210" cy="21108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00" b="0" i="0" u="none" strike="noStrike" cap="none">
                <a:solidFill>
                  <a:srgbClr val="000000"/>
                </a:solidFill>
                <a:latin typeface="Clarity City" pitchFamily="2" charset="77"/>
                <a:ea typeface="Clarity City"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40000"/>
              </a:lnSpc>
              <a:buSzPts val="1400"/>
            </a:pPr>
            <a:endParaRPr lang="en" sz="1200" dirty="0"/>
          </a:p>
        </p:txBody>
      </p:sp>
      <p:sp>
        <p:nvSpPr>
          <p:cNvPr id="9" name="文本框 8">
            <a:extLst>
              <a:ext uri="{FF2B5EF4-FFF2-40B4-BE49-F238E27FC236}">
                <a16:creationId xmlns:a16="http://schemas.microsoft.com/office/drawing/2014/main" id="{0A019D65-1A2C-42C2-446F-90E215089ED1}"/>
              </a:ext>
            </a:extLst>
          </p:cNvPr>
          <p:cNvSpPr txBox="1"/>
          <p:nvPr/>
        </p:nvSpPr>
        <p:spPr>
          <a:xfrm>
            <a:off x="1771784" y="4883924"/>
            <a:ext cx="4572000" cy="153888"/>
          </a:xfrm>
          <a:prstGeom prst="rect">
            <a:avLst/>
          </a:prstGeom>
          <a:noFill/>
        </p:spPr>
        <p:txBody>
          <a:bodyPr wrap="square">
            <a:spAutoFit/>
          </a:bodyPr>
          <a:lstStyle/>
          <a:p>
            <a:r>
              <a:rPr lang="en-US" altLang="zh-CN" sz="400" dirty="0"/>
              <a:t>From</a:t>
            </a:r>
            <a:r>
              <a:rPr lang="zh-CN" altLang="en-US" sz="400" dirty="0"/>
              <a:t> </a:t>
            </a:r>
            <a:r>
              <a:rPr lang="en-US" altLang="zh-CN" sz="400" dirty="0"/>
              <a:t>&lt;</a:t>
            </a:r>
            <a:r>
              <a:rPr lang="zh-CN" altLang="en-US" sz="400" dirty="0"/>
              <a:t>LaMoSys3.5D: Enabling 3.5D-IC-Based Large Language Model Inference Serving Systems via Hardware/Software Co-Design</a:t>
            </a:r>
            <a:r>
              <a:rPr lang="en-US" altLang="zh-CN" sz="400" dirty="0"/>
              <a:t>&gt;</a:t>
            </a:r>
            <a:endParaRPr lang="zh-CN" altLang="en-US" sz="400" dirty="0"/>
          </a:p>
        </p:txBody>
      </p:sp>
      <p:sp>
        <p:nvSpPr>
          <p:cNvPr id="11" name="文本框 10">
            <a:extLst>
              <a:ext uri="{FF2B5EF4-FFF2-40B4-BE49-F238E27FC236}">
                <a16:creationId xmlns:a16="http://schemas.microsoft.com/office/drawing/2014/main" id="{EBC6E996-4341-C90B-799C-D818134E2898}"/>
              </a:ext>
            </a:extLst>
          </p:cNvPr>
          <p:cNvSpPr txBox="1"/>
          <p:nvPr/>
        </p:nvSpPr>
        <p:spPr>
          <a:xfrm>
            <a:off x="1771784" y="4208790"/>
            <a:ext cx="2020754" cy="261610"/>
          </a:xfrm>
          <a:prstGeom prst="rect">
            <a:avLst/>
          </a:prstGeom>
          <a:noFill/>
        </p:spPr>
        <p:txBody>
          <a:bodyPr wrap="square">
            <a:spAutoFit/>
          </a:bodyPr>
          <a:lstStyle/>
          <a:p>
            <a:r>
              <a:rPr lang="zh-CN" altLang="zh-CN" sz="1100" dirty="0">
                <a:solidFill>
                  <a:schemeClr val="dk2"/>
                </a:solidFill>
                <a:latin typeface="Clarity City" pitchFamily="2" charset="77"/>
              </a:rPr>
              <a:t>LLM Inference Flow</a:t>
            </a:r>
            <a:endParaRPr lang="zh-CN" altLang="en-US" sz="1100" dirty="0">
              <a:solidFill>
                <a:schemeClr val="dk2"/>
              </a:solidFill>
              <a:latin typeface="Clarity City" pitchFamily="2" charset="77"/>
            </a:endParaRPr>
          </a:p>
        </p:txBody>
      </p:sp>
    </p:spTree>
    <p:extLst>
      <p:ext uri="{BB962C8B-B14F-4D97-AF65-F5344CB8AC3E}">
        <p14:creationId xmlns:p14="http://schemas.microsoft.com/office/powerpoint/2010/main" val="591733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0-title">
            <a:extLst>
              <a:ext uri="{FF2B5EF4-FFF2-40B4-BE49-F238E27FC236}">
                <a16:creationId xmlns:a16="http://schemas.microsoft.com/office/drawing/2014/main" id="{3B63B707-6656-414C-BE6F-CFC1894C10E2}"/>
              </a:ext>
            </a:extLst>
          </p:cNvPr>
          <p:cNvSpPr>
            <a:spLocks noGrp="1"/>
          </p:cNvSpPr>
          <p:nvPr/>
        </p:nvSpPr>
        <p:spPr>
          <a:xfrm>
            <a:off x="285750" y="190500"/>
            <a:ext cx="8572500" cy="342900"/>
          </a:xfrm>
          <a:prstGeom prst="rect">
            <a:avLst/>
          </a:prstGeom>
          <a:noFill/>
          <a:ln w="0">
            <a:noFill/>
            <a:prstDash val="solid"/>
          </a:ln>
        </p:spPr>
        <p:txBody>
          <a:bodyPr wrap="none" anchor="ctr"/>
          <a:lstStyle/>
          <a:p>
            <a:pPr lvl="0">
              <a:defRPr sz="2100" b="1">
                <a:solidFill>
                  <a:srgbClr val="10223A"/>
                </a:solidFill>
              </a:defRPr>
            </a:pPr>
            <a:r>
              <a:rPr lang="en" sz="2400" b="1" dirty="0">
                <a:solidFill>
                  <a:srgbClr val="10223A"/>
                </a:solidFill>
              </a:rPr>
              <a:t>Real Workloads Keep Moving the Optimal Operating Point</a:t>
            </a:r>
            <a:endParaRPr kumimoji="0" sz="2400" b="1" i="0" u="none" strike="noStrike" kern="0" cap="none" spc="0" normalizeH="0" baseline="0" noProof="0" dirty="0">
              <a:ln>
                <a:noFill/>
              </a:ln>
              <a:solidFill>
                <a:srgbClr val="10223A"/>
              </a:solidFill>
              <a:effectLst/>
              <a:uLnTx/>
              <a:uFillTx/>
              <a:latin typeface="Arial"/>
              <a:cs typeface="Arial"/>
              <a:sym typeface="Arial"/>
            </a:endParaRPr>
          </a:p>
        </p:txBody>
      </p:sp>
      <p:sp>
        <p:nvSpPr>
          <p:cNvPr id="3" name="s10-subtitle">
            <a:extLst>
              <a:ext uri="{FF2B5EF4-FFF2-40B4-BE49-F238E27FC236}">
                <a16:creationId xmlns:a16="http://schemas.microsoft.com/office/drawing/2014/main" id="{0B307EC0-D42F-4C2E-8905-64BBA3A6CC47}"/>
              </a:ext>
            </a:extLst>
          </p:cNvPr>
          <p:cNvSpPr>
            <a:spLocks noGrp="1"/>
          </p:cNvSpPr>
          <p:nvPr/>
        </p:nvSpPr>
        <p:spPr>
          <a:xfrm>
            <a:off x="304800" y="552450"/>
            <a:ext cx="8524875" cy="266700"/>
          </a:xfrm>
          <a:prstGeom prst="rect">
            <a:avLst/>
          </a:prstGeom>
          <a:noFill/>
          <a:ln w="0">
            <a:noFill/>
            <a:prstDash val="solid"/>
          </a:ln>
        </p:spPr>
        <p:txBody>
          <a:bodyPr wrap="none" anchor="ctr"/>
          <a:lstStyle/>
          <a:p>
            <a:pPr lvl="0">
              <a:defRPr sz="900" b="0">
                <a:solidFill>
                  <a:srgbClr val="58657A"/>
                </a:solidFill>
              </a:defRPr>
            </a:pPr>
            <a:r>
              <a:rPr lang="en" sz="1050" dirty="0">
                <a:solidFill>
                  <a:srgbClr val="58657A"/>
                </a:solidFill>
              </a:rPr>
              <a:t>Traffic, models, and request mix change faster than a static serving configuration can.</a:t>
            </a:r>
            <a:endParaRPr kumimoji="0" sz="1050" b="0" i="0" u="none" strike="noStrike" kern="0" cap="none" spc="0" normalizeH="0" baseline="0" noProof="0" dirty="0">
              <a:ln>
                <a:noFill/>
              </a:ln>
              <a:solidFill>
                <a:srgbClr val="58657A"/>
              </a:solidFill>
              <a:effectLst/>
              <a:uLnTx/>
              <a:uFillTx/>
              <a:latin typeface="Arial"/>
              <a:cs typeface="Arial"/>
              <a:sym typeface="Arial"/>
            </a:endParaRPr>
          </a:p>
        </p:txBody>
      </p:sp>
      <p:sp>
        <p:nvSpPr>
          <p:cNvPr id="4" name="s10-accent">
            <a:extLst>
              <a:ext uri="{FF2B5EF4-FFF2-40B4-BE49-F238E27FC236}">
                <a16:creationId xmlns:a16="http://schemas.microsoft.com/office/drawing/2014/main" id="{AD6CF12E-8DF8-4537-8457-A6F49679411A}"/>
              </a:ext>
            </a:extLst>
          </p:cNvPr>
          <p:cNvSpPr>
            <a:spLocks noGrp="1"/>
          </p:cNvSpPr>
          <p:nvPr/>
        </p:nvSpPr>
        <p:spPr>
          <a:xfrm>
            <a:off x="285750" y="876300"/>
            <a:ext cx="762000" cy="38100"/>
          </a:xfrm>
          <a:prstGeom prst="rect">
            <a:avLst/>
          </a:prstGeom>
          <a:solidFill>
            <a:srgbClr val="3D3DE0"/>
          </a:solidFill>
          <a:ln w="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5" name="s10-traffic-label">
            <a:extLst>
              <a:ext uri="{FF2B5EF4-FFF2-40B4-BE49-F238E27FC236}">
                <a16:creationId xmlns:a16="http://schemas.microsoft.com/office/drawing/2014/main" id="{9559350A-B018-4634-A186-DF769430EC65}"/>
              </a:ext>
            </a:extLst>
          </p:cNvPr>
          <p:cNvSpPr>
            <a:spLocks noGrp="1"/>
          </p:cNvSpPr>
          <p:nvPr/>
        </p:nvSpPr>
        <p:spPr>
          <a:xfrm>
            <a:off x="342900" y="923925"/>
            <a:ext cx="2190750" cy="2095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Demand shifts by hour and day</a:t>
            </a:r>
          </a:p>
        </p:txBody>
      </p:sp>
      <p:sp>
        <p:nvSpPr>
          <p:cNvPr id="6" name="s10-heat-0">
            <a:extLst>
              <a:ext uri="{FF2B5EF4-FFF2-40B4-BE49-F238E27FC236}">
                <a16:creationId xmlns:a16="http://schemas.microsoft.com/office/drawing/2014/main" id="{636C0066-8E6A-4CA6-AADF-572001EF431F}"/>
              </a:ext>
            </a:extLst>
          </p:cNvPr>
          <p:cNvSpPr>
            <a:spLocks noGrp="1"/>
          </p:cNvSpPr>
          <p:nvPr/>
        </p:nvSpPr>
        <p:spPr>
          <a:xfrm>
            <a:off x="428625" y="116205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7" name="s10-heat-1">
            <a:extLst>
              <a:ext uri="{FF2B5EF4-FFF2-40B4-BE49-F238E27FC236}">
                <a16:creationId xmlns:a16="http://schemas.microsoft.com/office/drawing/2014/main" id="{058EB863-E0B0-4F1F-90CB-89EC6151A01C}"/>
              </a:ext>
            </a:extLst>
          </p:cNvPr>
          <p:cNvSpPr>
            <a:spLocks noGrp="1"/>
          </p:cNvSpPr>
          <p:nvPr/>
        </p:nvSpPr>
        <p:spPr>
          <a:xfrm>
            <a:off x="571500" y="116205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8" name="s10-heat-2">
            <a:extLst>
              <a:ext uri="{FF2B5EF4-FFF2-40B4-BE49-F238E27FC236}">
                <a16:creationId xmlns:a16="http://schemas.microsoft.com/office/drawing/2014/main" id="{A807E95F-AD18-4E0A-BE1B-00E6DAD63893}"/>
              </a:ext>
            </a:extLst>
          </p:cNvPr>
          <p:cNvSpPr>
            <a:spLocks noGrp="1"/>
          </p:cNvSpPr>
          <p:nvPr/>
        </p:nvSpPr>
        <p:spPr>
          <a:xfrm>
            <a:off x="714375" y="116205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9" name="s10-heat-3">
            <a:extLst>
              <a:ext uri="{FF2B5EF4-FFF2-40B4-BE49-F238E27FC236}">
                <a16:creationId xmlns:a16="http://schemas.microsoft.com/office/drawing/2014/main" id="{8BBCDC7D-1735-4C87-A78E-B637E3FEB765}"/>
              </a:ext>
            </a:extLst>
          </p:cNvPr>
          <p:cNvSpPr>
            <a:spLocks noGrp="1"/>
          </p:cNvSpPr>
          <p:nvPr/>
        </p:nvSpPr>
        <p:spPr>
          <a:xfrm>
            <a:off x="857250" y="116205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0" name="s10-heat-4">
            <a:extLst>
              <a:ext uri="{FF2B5EF4-FFF2-40B4-BE49-F238E27FC236}">
                <a16:creationId xmlns:a16="http://schemas.microsoft.com/office/drawing/2014/main" id="{20407E02-11BE-48EB-9FCA-3D961D217E87}"/>
              </a:ext>
            </a:extLst>
          </p:cNvPr>
          <p:cNvSpPr>
            <a:spLocks noGrp="1"/>
          </p:cNvSpPr>
          <p:nvPr/>
        </p:nvSpPr>
        <p:spPr>
          <a:xfrm>
            <a:off x="1000125" y="116205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1" name="s10-heat-5">
            <a:extLst>
              <a:ext uri="{FF2B5EF4-FFF2-40B4-BE49-F238E27FC236}">
                <a16:creationId xmlns:a16="http://schemas.microsoft.com/office/drawing/2014/main" id="{2F7EA105-01C4-4531-AD1F-BA3056DB260D}"/>
              </a:ext>
            </a:extLst>
          </p:cNvPr>
          <p:cNvSpPr>
            <a:spLocks noGrp="1"/>
          </p:cNvSpPr>
          <p:nvPr/>
        </p:nvSpPr>
        <p:spPr>
          <a:xfrm>
            <a:off x="1143000" y="116205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2" name="s10-heat-6">
            <a:extLst>
              <a:ext uri="{FF2B5EF4-FFF2-40B4-BE49-F238E27FC236}">
                <a16:creationId xmlns:a16="http://schemas.microsoft.com/office/drawing/2014/main" id="{64BA7F34-FE25-4DF1-8DA3-28EF27DB37D3}"/>
              </a:ext>
            </a:extLst>
          </p:cNvPr>
          <p:cNvSpPr>
            <a:spLocks noGrp="1"/>
          </p:cNvSpPr>
          <p:nvPr/>
        </p:nvSpPr>
        <p:spPr>
          <a:xfrm>
            <a:off x="1285875" y="1162050"/>
            <a:ext cx="104775" cy="85725"/>
          </a:xfrm>
          <a:prstGeom prst="roundRect">
            <a:avLst>
              <a:gd name="adj" fmla="val 22222"/>
            </a:avLst>
          </a:prstGeom>
          <a:solidFill>
            <a:srgbClr val="F0C85A"/>
          </a:solidFill>
          <a:ln w="0">
            <a:solidFill>
              <a:srgbClr val="F0C85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3" name="s10-heat-7">
            <a:extLst>
              <a:ext uri="{FF2B5EF4-FFF2-40B4-BE49-F238E27FC236}">
                <a16:creationId xmlns:a16="http://schemas.microsoft.com/office/drawing/2014/main" id="{C0F44035-D451-4316-B677-563154FC0203}"/>
              </a:ext>
            </a:extLst>
          </p:cNvPr>
          <p:cNvSpPr>
            <a:spLocks noGrp="1"/>
          </p:cNvSpPr>
          <p:nvPr/>
        </p:nvSpPr>
        <p:spPr>
          <a:xfrm>
            <a:off x="1428750" y="116205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4" name="s10-heat-8">
            <a:extLst>
              <a:ext uri="{FF2B5EF4-FFF2-40B4-BE49-F238E27FC236}">
                <a16:creationId xmlns:a16="http://schemas.microsoft.com/office/drawing/2014/main" id="{18F94EC0-AF3A-4C2F-A583-E5303151A589}"/>
              </a:ext>
            </a:extLst>
          </p:cNvPr>
          <p:cNvSpPr>
            <a:spLocks noGrp="1"/>
          </p:cNvSpPr>
          <p:nvPr/>
        </p:nvSpPr>
        <p:spPr>
          <a:xfrm>
            <a:off x="1571625" y="116205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5" name="s10-heat-9">
            <a:extLst>
              <a:ext uri="{FF2B5EF4-FFF2-40B4-BE49-F238E27FC236}">
                <a16:creationId xmlns:a16="http://schemas.microsoft.com/office/drawing/2014/main" id="{2189B8B4-51A1-4C99-8F36-12474D1DF193}"/>
              </a:ext>
            </a:extLst>
          </p:cNvPr>
          <p:cNvSpPr>
            <a:spLocks noGrp="1"/>
          </p:cNvSpPr>
          <p:nvPr/>
        </p:nvSpPr>
        <p:spPr>
          <a:xfrm>
            <a:off x="1714500" y="116205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6" name="s10-heat-10">
            <a:extLst>
              <a:ext uri="{FF2B5EF4-FFF2-40B4-BE49-F238E27FC236}">
                <a16:creationId xmlns:a16="http://schemas.microsoft.com/office/drawing/2014/main" id="{949A798C-2386-4E79-8B1C-CDF828D68E2D}"/>
              </a:ext>
            </a:extLst>
          </p:cNvPr>
          <p:cNvSpPr>
            <a:spLocks noGrp="1"/>
          </p:cNvSpPr>
          <p:nvPr/>
        </p:nvSpPr>
        <p:spPr>
          <a:xfrm>
            <a:off x="1857375" y="116205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7" name="s10-heat-11">
            <a:extLst>
              <a:ext uri="{FF2B5EF4-FFF2-40B4-BE49-F238E27FC236}">
                <a16:creationId xmlns:a16="http://schemas.microsoft.com/office/drawing/2014/main" id="{62AB85B4-439A-4DCE-AA9C-A3F3C681A78C}"/>
              </a:ext>
            </a:extLst>
          </p:cNvPr>
          <p:cNvSpPr>
            <a:spLocks noGrp="1"/>
          </p:cNvSpPr>
          <p:nvPr/>
        </p:nvSpPr>
        <p:spPr>
          <a:xfrm>
            <a:off x="2000250" y="116205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8" name="s10-heat-12">
            <a:extLst>
              <a:ext uri="{FF2B5EF4-FFF2-40B4-BE49-F238E27FC236}">
                <a16:creationId xmlns:a16="http://schemas.microsoft.com/office/drawing/2014/main" id="{93A15E70-5D14-407F-8435-26100F3EE856}"/>
              </a:ext>
            </a:extLst>
          </p:cNvPr>
          <p:cNvSpPr>
            <a:spLocks noGrp="1"/>
          </p:cNvSpPr>
          <p:nvPr/>
        </p:nvSpPr>
        <p:spPr>
          <a:xfrm>
            <a:off x="428625" y="129540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9" name="s10-heat-13">
            <a:extLst>
              <a:ext uri="{FF2B5EF4-FFF2-40B4-BE49-F238E27FC236}">
                <a16:creationId xmlns:a16="http://schemas.microsoft.com/office/drawing/2014/main" id="{3656C0F6-5409-4549-BAC5-C52837DDDE2F}"/>
              </a:ext>
            </a:extLst>
          </p:cNvPr>
          <p:cNvSpPr>
            <a:spLocks noGrp="1"/>
          </p:cNvSpPr>
          <p:nvPr/>
        </p:nvSpPr>
        <p:spPr>
          <a:xfrm>
            <a:off x="571500" y="129540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0" name="s10-heat-14">
            <a:extLst>
              <a:ext uri="{FF2B5EF4-FFF2-40B4-BE49-F238E27FC236}">
                <a16:creationId xmlns:a16="http://schemas.microsoft.com/office/drawing/2014/main" id="{BA2D6ECA-6F3C-46B6-8076-CE77F5261384}"/>
              </a:ext>
            </a:extLst>
          </p:cNvPr>
          <p:cNvSpPr>
            <a:spLocks noGrp="1"/>
          </p:cNvSpPr>
          <p:nvPr/>
        </p:nvSpPr>
        <p:spPr>
          <a:xfrm>
            <a:off x="714375" y="129540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1" name="s10-heat-15">
            <a:extLst>
              <a:ext uri="{FF2B5EF4-FFF2-40B4-BE49-F238E27FC236}">
                <a16:creationId xmlns:a16="http://schemas.microsoft.com/office/drawing/2014/main" id="{B6A11A40-5400-453E-9AB8-27267ADEC9A8}"/>
              </a:ext>
            </a:extLst>
          </p:cNvPr>
          <p:cNvSpPr>
            <a:spLocks noGrp="1"/>
          </p:cNvSpPr>
          <p:nvPr/>
        </p:nvSpPr>
        <p:spPr>
          <a:xfrm>
            <a:off x="857250" y="129540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2" name="s10-heat-16">
            <a:extLst>
              <a:ext uri="{FF2B5EF4-FFF2-40B4-BE49-F238E27FC236}">
                <a16:creationId xmlns:a16="http://schemas.microsoft.com/office/drawing/2014/main" id="{26471B72-B554-40D0-AB6C-B619D9E82668}"/>
              </a:ext>
            </a:extLst>
          </p:cNvPr>
          <p:cNvSpPr>
            <a:spLocks noGrp="1"/>
          </p:cNvSpPr>
          <p:nvPr/>
        </p:nvSpPr>
        <p:spPr>
          <a:xfrm>
            <a:off x="1000125" y="129540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3" name="s10-heat-17">
            <a:extLst>
              <a:ext uri="{FF2B5EF4-FFF2-40B4-BE49-F238E27FC236}">
                <a16:creationId xmlns:a16="http://schemas.microsoft.com/office/drawing/2014/main" id="{EF6EE72B-8491-4323-B338-94CEE49DD577}"/>
              </a:ext>
            </a:extLst>
          </p:cNvPr>
          <p:cNvSpPr>
            <a:spLocks noGrp="1"/>
          </p:cNvSpPr>
          <p:nvPr/>
        </p:nvSpPr>
        <p:spPr>
          <a:xfrm>
            <a:off x="1143000" y="1295400"/>
            <a:ext cx="104775" cy="85725"/>
          </a:xfrm>
          <a:prstGeom prst="roundRect">
            <a:avLst>
              <a:gd name="adj" fmla="val 22222"/>
            </a:avLst>
          </a:prstGeom>
          <a:solidFill>
            <a:srgbClr val="F0C85A"/>
          </a:solidFill>
          <a:ln w="0">
            <a:solidFill>
              <a:srgbClr val="F0C85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4" name="s10-heat-18">
            <a:extLst>
              <a:ext uri="{FF2B5EF4-FFF2-40B4-BE49-F238E27FC236}">
                <a16:creationId xmlns:a16="http://schemas.microsoft.com/office/drawing/2014/main" id="{356D023B-CF50-40C2-B436-1CCAEF7FC301}"/>
              </a:ext>
            </a:extLst>
          </p:cNvPr>
          <p:cNvSpPr>
            <a:spLocks noGrp="1"/>
          </p:cNvSpPr>
          <p:nvPr/>
        </p:nvSpPr>
        <p:spPr>
          <a:xfrm>
            <a:off x="1285875" y="1295400"/>
            <a:ext cx="104775" cy="85725"/>
          </a:xfrm>
          <a:prstGeom prst="roundRect">
            <a:avLst>
              <a:gd name="adj" fmla="val 22222"/>
            </a:avLst>
          </a:prstGeom>
          <a:solidFill>
            <a:srgbClr val="F0C85A"/>
          </a:solidFill>
          <a:ln w="0">
            <a:solidFill>
              <a:srgbClr val="F0C85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5" name="s10-heat-19">
            <a:extLst>
              <a:ext uri="{FF2B5EF4-FFF2-40B4-BE49-F238E27FC236}">
                <a16:creationId xmlns:a16="http://schemas.microsoft.com/office/drawing/2014/main" id="{A01248B8-720F-4381-82D1-39FECE2C8BF6}"/>
              </a:ext>
            </a:extLst>
          </p:cNvPr>
          <p:cNvSpPr>
            <a:spLocks noGrp="1"/>
          </p:cNvSpPr>
          <p:nvPr/>
        </p:nvSpPr>
        <p:spPr>
          <a:xfrm>
            <a:off x="1428750" y="129540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6" name="s10-heat-20">
            <a:extLst>
              <a:ext uri="{FF2B5EF4-FFF2-40B4-BE49-F238E27FC236}">
                <a16:creationId xmlns:a16="http://schemas.microsoft.com/office/drawing/2014/main" id="{816EA6C7-9A0F-4245-B9B8-DF5F19F56873}"/>
              </a:ext>
            </a:extLst>
          </p:cNvPr>
          <p:cNvSpPr>
            <a:spLocks noGrp="1"/>
          </p:cNvSpPr>
          <p:nvPr/>
        </p:nvSpPr>
        <p:spPr>
          <a:xfrm>
            <a:off x="1571625" y="129540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7" name="s10-heat-21">
            <a:extLst>
              <a:ext uri="{FF2B5EF4-FFF2-40B4-BE49-F238E27FC236}">
                <a16:creationId xmlns:a16="http://schemas.microsoft.com/office/drawing/2014/main" id="{FE80A1B9-7746-429B-B553-D709DF482A3B}"/>
              </a:ext>
            </a:extLst>
          </p:cNvPr>
          <p:cNvSpPr>
            <a:spLocks noGrp="1"/>
          </p:cNvSpPr>
          <p:nvPr/>
        </p:nvSpPr>
        <p:spPr>
          <a:xfrm>
            <a:off x="1714500" y="129540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8" name="s10-heat-22">
            <a:extLst>
              <a:ext uri="{FF2B5EF4-FFF2-40B4-BE49-F238E27FC236}">
                <a16:creationId xmlns:a16="http://schemas.microsoft.com/office/drawing/2014/main" id="{FD36A013-5728-4889-BDFC-A11451EAEF75}"/>
              </a:ext>
            </a:extLst>
          </p:cNvPr>
          <p:cNvSpPr>
            <a:spLocks noGrp="1"/>
          </p:cNvSpPr>
          <p:nvPr/>
        </p:nvSpPr>
        <p:spPr>
          <a:xfrm>
            <a:off x="1857375" y="129540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29" name="s10-heat-23">
            <a:extLst>
              <a:ext uri="{FF2B5EF4-FFF2-40B4-BE49-F238E27FC236}">
                <a16:creationId xmlns:a16="http://schemas.microsoft.com/office/drawing/2014/main" id="{E11AB127-5791-4A95-B948-6100032A262F}"/>
              </a:ext>
            </a:extLst>
          </p:cNvPr>
          <p:cNvSpPr>
            <a:spLocks noGrp="1"/>
          </p:cNvSpPr>
          <p:nvPr/>
        </p:nvSpPr>
        <p:spPr>
          <a:xfrm>
            <a:off x="2000250" y="129540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0" name="s10-heat-24">
            <a:extLst>
              <a:ext uri="{FF2B5EF4-FFF2-40B4-BE49-F238E27FC236}">
                <a16:creationId xmlns:a16="http://schemas.microsoft.com/office/drawing/2014/main" id="{3AF6A4D2-5C51-4F9D-9806-D7E28B35523E}"/>
              </a:ext>
            </a:extLst>
          </p:cNvPr>
          <p:cNvSpPr>
            <a:spLocks noGrp="1"/>
          </p:cNvSpPr>
          <p:nvPr/>
        </p:nvSpPr>
        <p:spPr>
          <a:xfrm>
            <a:off x="428625" y="142875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1" name="s10-heat-25">
            <a:extLst>
              <a:ext uri="{FF2B5EF4-FFF2-40B4-BE49-F238E27FC236}">
                <a16:creationId xmlns:a16="http://schemas.microsoft.com/office/drawing/2014/main" id="{1D90CCDE-305F-4F61-8B5B-BFF7786F6609}"/>
              </a:ext>
            </a:extLst>
          </p:cNvPr>
          <p:cNvSpPr>
            <a:spLocks noGrp="1"/>
          </p:cNvSpPr>
          <p:nvPr/>
        </p:nvSpPr>
        <p:spPr>
          <a:xfrm>
            <a:off x="571500" y="142875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2" name="s10-heat-26">
            <a:extLst>
              <a:ext uri="{FF2B5EF4-FFF2-40B4-BE49-F238E27FC236}">
                <a16:creationId xmlns:a16="http://schemas.microsoft.com/office/drawing/2014/main" id="{C54985E9-2B3E-4754-98B2-F990A1791A93}"/>
              </a:ext>
            </a:extLst>
          </p:cNvPr>
          <p:cNvSpPr>
            <a:spLocks noGrp="1"/>
          </p:cNvSpPr>
          <p:nvPr/>
        </p:nvSpPr>
        <p:spPr>
          <a:xfrm>
            <a:off x="714375" y="142875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3" name="s10-heat-27">
            <a:extLst>
              <a:ext uri="{FF2B5EF4-FFF2-40B4-BE49-F238E27FC236}">
                <a16:creationId xmlns:a16="http://schemas.microsoft.com/office/drawing/2014/main" id="{A0DEF118-0CCF-44FF-A91D-6AC27FC4431F}"/>
              </a:ext>
            </a:extLst>
          </p:cNvPr>
          <p:cNvSpPr>
            <a:spLocks noGrp="1"/>
          </p:cNvSpPr>
          <p:nvPr/>
        </p:nvSpPr>
        <p:spPr>
          <a:xfrm>
            <a:off x="857250" y="142875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4" name="s10-heat-28">
            <a:extLst>
              <a:ext uri="{FF2B5EF4-FFF2-40B4-BE49-F238E27FC236}">
                <a16:creationId xmlns:a16="http://schemas.microsoft.com/office/drawing/2014/main" id="{57502E44-BF77-4157-B319-F1CD157804F7}"/>
              </a:ext>
            </a:extLst>
          </p:cNvPr>
          <p:cNvSpPr>
            <a:spLocks noGrp="1"/>
          </p:cNvSpPr>
          <p:nvPr/>
        </p:nvSpPr>
        <p:spPr>
          <a:xfrm>
            <a:off x="1000125" y="142875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5" name="s10-heat-29">
            <a:extLst>
              <a:ext uri="{FF2B5EF4-FFF2-40B4-BE49-F238E27FC236}">
                <a16:creationId xmlns:a16="http://schemas.microsoft.com/office/drawing/2014/main" id="{6A093C64-B883-4D2D-A8D5-592F6FFC9F78}"/>
              </a:ext>
            </a:extLst>
          </p:cNvPr>
          <p:cNvSpPr>
            <a:spLocks noGrp="1"/>
          </p:cNvSpPr>
          <p:nvPr/>
        </p:nvSpPr>
        <p:spPr>
          <a:xfrm>
            <a:off x="1143000" y="142875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6" name="s10-heat-30">
            <a:extLst>
              <a:ext uri="{FF2B5EF4-FFF2-40B4-BE49-F238E27FC236}">
                <a16:creationId xmlns:a16="http://schemas.microsoft.com/office/drawing/2014/main" id="{F1AC2600-7D31-444A-B10B-111F9248C64E}"/>
              </a:ext>
            </a:extLst>
          </p:cNvPr>
          <p:cNvSpPr>
            <a:spLocks noGrp="1"/>
          </p:cNvSpPr>
          <p:nvPr/>
        </p:nvSpPr>
        <p:spPr>
          <a:xfrm>
            <a:off x="1285875" y="1428750"/>
            <a:ext cx="104775" cy="85725"/>
          </a:xfrm>
          <a:prstGeom prst="roundRect">
            <a:avLst>
              <a:gd name="adj" fmla="val 22222"/>
            </a:avLst>
          </a:prstGeom>
          <a:solidFill>
            <a:srgbClr val="F0C85A"/>
          </a:solidFill>
          <a:ln w="0">
            <a:solidFill>
              <a:srgbClr val="F0C85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7" name="s10-heat-31">
            <a:extLst>
              <a:ext uri="{FF2B5EF4-FFF2-40B4-BE49-F238E27FC236}">
                <a16:creationId xmlns:a16="http://schemas.microsoft.com/office/drawing/2014/main" id="{2C0A7A39-017F-4618-8FC8-6ED8144A8398}"/>
              </a:ext>
            </a:extLst>
          </p:cNvPr>
          <p:cNvSpPr>
            <a:spLocks noGrp="1"/>
          </p:cNvSpPr>
          <p:nvPr/>
        </p:nvSpPr>
        <p:spPr>
          <a:xfrm>
            <a:off x="1428750" y="1428750"/>
            <a:ext cx="104775" cy="85725"/>
          </a:xfrm>
          <a:prstGeom prst="roundRect">
            <a:avLst>
              <a:gd name="adj" fmla="val 22222"/>
            </a:avLst>
          </a:prstGeom>
          <a:solidFill>
            <a:srgbClr val="7FD65D"/>
          </a:solidFill>
          <a:ln w="0">
            <a:solidFill>
              <a:srgbClr val="7FD65D"/>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8" name="s10-heat-32">
            <a:extLst>
              <a:ext uri="{FF2B5EF4-FFF2-40B4-BE49-F238E27FC236}">
                <a16:creationId xmlns:a16="http://schemas.microsoft.com/office/drawing/2014/main" id="{436953F0-4D0B-4118-8172-F276FFE676A0}"/>
              </a:ext>
            </a:extLst>
          </p:cNvPr>
          <p:cNvSpPr>
            <a:spLocks noGrp="1"/>
          </p:cNvSpPr>
          <p:nvPr/>
        </p:nvSpPr>
        <p:spPr>
          <a:xfrm>
            <a:off x="1571625" y="1428750"/>
            <a:ext cx="104775" cy="85725"/>
          </a:xfrm>
          <a:prstGeom prst="roundRect">
            <a:avLst>
              <a:gd name="adj" fmla="val 22222"/>
            </a:avLst>
          </a:prstGeom>
          <a:solidFill>
            <a:srgbClr val="38C98A"/>
          </a:solidFill>
          <a:ln w="0">
            <a:solidFill>
              <a:srgbClr val="38C98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39" name="s10-heat-33">
            <a:extLst>
              <a:ext uri="{FF2B5EF4-FFF2-40B4-BE49-F238E27FC236}">
                <a16:creationId xmlns:a16="http://schemas.microsoft.com/office/drawing/2014/main" id="{1AC96F6B-9B30-4EC9-82DC-AEBD58B550E9}"/>
              </a:ext>
            </a:extLst>
          </p:cNvPr>
          <p:cNvSpPr>
            <a:spLocks noGrp="1"/>
          </p:cNvSpPr>
          <p:nvPr/>
        </p:nvSpPr>
        <p:spPr>
          <a:xfrm>
            <a:off x="1714500" y="1428750"/>
            <a:ext cx="104775" cy="85725"/>
          </a:xfrm>
          <a:prstGeom prst="roundRect">
            <a:avLst>
              <a:gd name="adj" fmla="val 22222"/>
            </a:avLst>
          </a:prstGeom>
          <a:solidFill>
            <a:srgbClr val="79D9B2"/>
          </a:solidFill>
          <a:ln w="0">
            <a:solidFill>
              <a:srgbClr val="79D9B2"/>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40" name="s10-heat-34">
            <a:extLst>
              <a:ext uri="{FF2B5EF4-FFF2-40B4-BE49-F238E27FC236}">
                <a16:creationId xmlns:a16="http://schemas.microsoft.com/office/drawing/2014/main" id="{5F98D2FE-2797-4503-9E34-6E57BF597ADE}"/>
              </a:ext>
            </a:extLst>
          </p:cNvPr>
          <p:cNvSpPr>
            <a:spLocks noGrp="1"/>
          </p:cNvSpPr>
          <p:nvPr/>
        </p:nvSpPr>
        <p:spPr>
          <a:xfrm>
            <a:off x="1857375" y="1428750"/>
            <a:ext cx="104775" cy="85725"/>
          </a:xfrm>
          <a:prstGeom prst="roundRect">
            <a:avLst>
              <a:gd name="adj" fmla="val 22222"/>
            </a:avLst>
          </a:prstGeom>
          <a:solidFill>
            <a:srgbClr val="BFE7DB"/>
          </a:solidFill>
          <a:ln w="0">
            <a:solidFill>
              <a:srgbClr val="BFE7DB"/>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41" name="s10-heat-35">
            <a:extLst>
              <a:ext uri="{FF2B5EF4-FFF2-40B4-BE49-F238E27FC236}">
                <a16:creationId xmlns:a16="http://schemas.microsoft.com/office/drawing/2014/main" id="{78AD45F1-E814-4E50-8417-47CA979F8AE3}"/>
              </a:ext>
            </a:extLst>
          </p:cNvPr>
          <p:cNvSpPr>
            <a:spLocks noGrp="1"/>
          </p:cNvSpPr>
          <p:nvPr/>
        </p:nvSpPr>
        <p:spPr>
          <a:xfrm>
            <a:off x="2000250" y="1428750"/>
            <a:ext cx="104775" cy="85725"/>
          </a:xfrm>
          <a:prstGeom prst="roundRect">
            <a:avLst>
              <a:gd name="adj" fmla="val 22222"/>
            </a:avLst>
          </a:prstGeom>
          <a:solidFill>
            <a:srgbClr val="DDE4EC"/>
          </a:solidFill>
          <a:ln w="0">
            <a:solidFill>
              <a:srgbClr val="DDE4EC"/>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42" name="s10-traffic-caption">
            <a:extLst>
              <a:ext uri="{FF2B5EF4-FFF2-40B4-BE49-F238E27FC236}">
                <a16:creationId xmlns:a16="http://schemas.microsoft.com/office/drawing/2014/main" id="{082DE7AC-641D-4990-9F19-E25A630606E3}"/>
              </a:ext>
            </a:extLst>
          </p:cNvPr>
          <p:cNvSpPr>
            <a:spLocks noGrp="1"/>
          </p:cNvSpPr>
          <p:nvPr/>
        </p:nvSpPr>
        <p:spPr>
          <a:xfrm>
            <a:off x="342900" y="1619250"/>
            <a:ext cx="1952625" cy="133350"/>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Weekday peaks  →  nights and weekends</a:t>
            </a:r>
          </a:p>
        </p:txBody>
      </p:sp>
      <p:sp>
        <p:nvSpPr>
          <p:cNvPr id="43" name="s10-top-divider">
            <a:extLst>
              <a:ext uri="{FF2B5EF4-FFF2-40B4-BE49-F238E27FC236}">
                <a16:creationId xmlns:a16="http://schemas.microsoft.com/office/drawing/2014/main" id="{20A2ADC9-C75F-46D4-B996-86165654E55D}"/>
              </a:ext>
            </a:extLst>
          </p:cNvPr>
          <p:cNvSpPr>
            <a:spLocks noGrp="1"/>
          </p:cNvSpPr>
          <p:nvPr/>
        </p:nvSpPr>
        <p:spPr>
          <a:xfrm>
            <a:off x="2533650" y="990600"/>
            <a:ext cx="9525" cy="78105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44" name="s10-model-label">
            <a:extLst>
              <a:ext uri="{FF2B5EF4-FFF2-40B4-BE49-F238E27FC236}">
                <a16:creationId xmlns:a16="http://schemas.microsoft.com/office/drawing/2014/main" id="{6AEFD28C-4416-4D4D-9DCE-CC84CC0032D1}"/>
              </a:ext>
            </a:extLst>
          </p:cNvPr>
          <p:cNvSpPr>
            <a:spLocks noGrp="1"/>
          </p:cNvSpPr>
          <p:nvPr/>
        </p:nvSpPr>
        <p:spPr>
          <a:xfrm>
            <a:off x="2743200" y="923925"/>
            <a:ext cx="2190750" cy="2095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Models keep changing</a:t>
            </a:r>
          </a:p>
        </p:txBody>
      </p:sp>
      <p:sp>
        <p:nvSpPr>
          <p:cNvPr id="45" name="s10-model-0">
            <a:extLst>
              <a:ext uri="{FF2B5EF4-FFF2-40B4-BE49-F238E27FC236}">
                <a16:creationId xmlns:a16="http://schemas.microsoft.com/office/drawing/2014/main" id="{6CB60340-8504-42BE-84BC-FEB382967298}"/>
              </a:ext>
            </a:extLst>
          </p:cNvPr>
          <p:cNvSpPr>
            <a:spLocks noGrp="1"/>
          </p:cNvSpPr>
          <p:nvPr/>
        </p:nvSpPr>
        <p:spPr>
          <a:xfrm>
            <a:off x="5122410" y="1190625"/>
            <a:ext cx="1095375" cy="1905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750" b="1">
                <a:solidFill>
                  <a:srgbClr val="3D3DE0"/>
                </a:solidFill>
              </a:defRPr>
            </a:pPr>
            <a:r>
              <a:rPr kumimoji="0" lang="en-US" altLang="zh-CN" sz="900" b="1" i="0" u="none" strike="noStrike" kern="0" cap="none" spc="0" normalizeH="0" baseline="0" noProof="0" dirty="0">
                <a:ln>
                  <a:noFill/>
                </a:ln>
                <a:solidFill>
                  <a:srgbClr val="3D3DE0"/>
                </a:solidFill>
                <a:effectLst/>
                <a:uLnTx/>
                <a:uFillTx/>
                <a:latin typeface="Arial"/>
                <a:cs typeface="Arial"/>
                <a:sym typeface="Arial"/>
              </a:rPr>
              <a:t>KIMI</a:t>
            </a:r>
            <a:r>
              <a:rPr kumimoji="0" lang="zh-CN" altLang="en-US" sz="900" b="1" i="0" u="none" strike="noStrike" kern="0" cap="none" spc="0" normalizeH="0" baseline="0" noProof="0" dirty="0">
                <a:ln>
                  <a:noFill/>
                </a:ln>
                <a:solidFill>
                  <a:srgbClr val="3D3DE0"/>
                </a:solidFill>
                <a:effectLst/>
                <a:uLnTx/>
                <a:uFillTx/>
                <a:latin typeface="Arial"/>
                <a:cs typeface="Arial"/>
                <a:sym typeface="Arial"/>
              </a:rPr>
              <a:t> </a:t>
            </a:r>
            <a:r>
              <a:rPr kumimoji="0" lang="en-US" altLang="zh-CN" sz="900" b="1" i="0" u="none" strike="noStrike" kern="0" cap="none" spc="0" normalizeH="0" baseline="0" noProof="0" dirty="0">
                <a:ln>
                  <a:noFill/>
                </a:ln>
                <a:solidFill>
                  <a:srgbClr val="3D3DE0"/>
                </a:solidFill>
                <a:effectLst/>
                <a:uLnTx/>
                <a:uFillTx/>
                <a:latin typeface="Arial"/>
                <a:cs typeface="Arial"/>
                <a:sym typeface="Arial"/>
              </a:rPr>
              <a:t>K3</a:t>
            </a:r>
            <a:endParaRPr kumimoji="0" sz="900" b="1" i="0" u="none" strike="noStrike" kern="0" cap="none" spc="0" normalizeH="0" baseline="0" noProof="0" dirty="0">
              <a:ln>
                <a:noFill/>
              </a:ln>
              <a:solidFill>
                <a:srgbClr val="3D3DE0"/>
              </a:solidFill>
              <a:effectLst/>
              <a:uLnTx/>
              <a:uFillTx/>
              <a:latin typeface="Arial"/>
              <a:cs typeface="Arial"/>
              <a:sym typeface="Arial"/>
            </a:endParaRPr>
          </a:p>
        </p:txBody>
      </p:sp>
      <p:sp>
        <p:nvSpPr>
          <p:cNvPr id="46" name="s10-change-0">
            <a:extLst>
              <a:ext uri="{FF2B5EF4-FFF2-40B4-BE49-F238E27FC236}">
                <a16:creationId xmlns:a16="http://schemas.microsoft.com/office/drawing/2014/main" id="{0DEC59A7-51D6-476B-A1F0-D36669D1688F}"/>
              </a:ext>
            </a:extLst>
          </p:cNvPr>
          <p:cNvSpPr>
            <a:spLocks noGrp="1"/>
          </p:cNvSpPr>
          <p:nvPr/>
        </p:nvSpPr>
        <p:spPr>
          <a:xfrm>
            <a:off x="2762250" y="1419225"/>
            <a:ext cx="1095375" cy="17145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New mechanism</a:t>
            </a:r>
          </a:p>
        </p:txBody>
      </p:sp>
      <p:sp>
        <p:nvSpPr>
          <p:cNvPr id="47" name="s10-model-arrow-0">
            <a:extLst>
              <a:ext uri="{FF2B5EF4-FFF2-40B4-BE49-F238E27FC236}">
                <a16:creationId xmlns:a16="http://schemas.microsoft.com/office/drawing/2014/main" id="{68EBD404-D0FF-4668-B825-1B0CF655C427}"/>
              </a:ext>
            </a:extLst>
          </p:cNvPr>
          <p:cNvSpPr>
            <a:spLocks noGrp="1"/>
          </p:cNvSpPr>
          <p:nvPr/>
        </p:nvSpPr>
        <p:spPr>
          <a:xfrm>
            <a:off x="3790950" y="1181100"/>
            <a:ext cx="190500" cy="1905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050" b="1">
                <a:solidFill>
                  <a:srgbClr val="F35B91"/>
                </a:solidFill>
              </a:defRPr>
            </a:pPr>
            <a:r>
              <a:rPr kumimoji="0" sz="1200" b="1" i="0" u="none" strike="noStrike" kern="0" cap="none" spc="0" normalizeH="0" baseline="0" noProof="0">
                <a:ln>
                  <a:noFill/>
                </a:ln>
                <a:solidFill>
                  <a:srgbClr val="F35B91"/>
                </a:solidFill>
                <a:effectLst/>
                <a:uLnTx/>
                <a:uFillTx/>
                <a:latin typeface="Arial"/>
                <a:cs typeface="Arial"/>
                <a:sym typeface="Arial"/>
              </a:rPr>
              <a:t>→</a:t>
            </a:r>
          </a:p>
        </p:txBody>
      </p:sp>
      <p:sp>
        <p:nvSpPr>
          <p:cNvPr id="48" name="s10-model-1">
            <a:extLst>
              <a:ext uri="{FF2B5EF4-FFF2-40B4-BE49-F238E27FC236}">
                <a16:creationId xmlns:a16="http://schemas.microsoft.com/office/drawing/2014/main" id="{D44C31DA-C0CC-4D1A-8C8F-86565633F773}"/>
              </a:ext>
            </a:extLst>
          </p:cNvPr>
          <p:cNvSpPr>
            <a:spLocks noGrp="1"/>
          </p:cNvSpPr>
          <p:nvPr/>
        </p:nvSpPr>
        <p:spPr>
          <a:xfrm>
            <a:off x="3952875" y="1181100"/>
            <a:ext cx="1095375" cy="190500"/>
          </a:xfrm>
          <a:prstGeom prst="rect">
            <a:avLst/>
          </a:prstGeom>
          <a:noFill/>
          <a:ln w="0">
            <a:noFill/>
            <a:prstDash val="solid"/>
          </a:ln>
        </p:spPr>
        <p:txBody>
          <a:bodyPr wrap="square" anchor="ctr"/>
          <a:lstStyle/>
          <a:p>
            <a:pPr algn="ctr">
              <a:defRPr sz="750" b="1">
                <a:solidFill>
                  <a:srgbClr val="3D3DE0"/>
                </a:solidFill>
              </a:defRPr>
            </a:pPr>
            <a:r>
              <a:rPr lang="en" altLang="zh-CN" sz="900" b="1" dirty="0">
                <a:solidFill>
                  <a:srgbClr val="3D3DE0"/>
                </a:solidFill>
              </a:rPr>
              <a:t>GLM 5.2</a:t>
            </a:r>
          </a:p>
        </p:txBody>
      </p:sp>
      <p:sp>
        <p:nvSpPr>
          <p:cNvPr id="49" name="s10-change-1">
            <a:extLst>
              <a:ext uri="{FF2B5EF4-FFF2-40B4-BE49-F238E27FC236}">
                <a16:creationId xmlns:a16="http://schemas.microsoft.com/office/drawing/2014/main" id="{2AEB3811-BF2E-4193-8682-E50E4E665471}"/>
              </a:ext>
            </a:extLst>
          </p:cNvPr>
          <p:cNvSpPr>
            <a:spLocks noGrp="1"/>
          </p:cNvSpPr>
          <p:nvPr/>
        </p:nvSpPr>
        <p:spPr>
          <a:xfrm>
            <a:off x="3952875" y="1419225"/>
            <a:ext cx="1095375" cy="17145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dirty="0">
                <a:ln>
                  <a:noFill/>
                </a:ln>
                <a:solidFill>
                  <a:srgbClr val="58657A"/>
                </a:solidFill>
                <a:effectLst/>
                <a:uLnTx/>
                <a:uFillTx/>
                <a:latin typeface="Arial"/>
                <a:cs typeface="Arial"/>
                <a:sym typeface="Arial"/>
              </a:rPr>
              <a:t>New interface</a:t>
            </a:r>
          </a:p>
        </p:txBody>
      </p:sp>
      <p:sp>
        <p:nvSpPr>
          <p:cNvPr id="50" name="s10-model-arrow-1">
            <a:extLst>
              <a:ext uri="{FF2B5EF4-FFF2-40B4-BE49-F238E27FC236}">
                <a16:creationId xmlns:a16="http://schemas.microsoft.com/office/drawing/2014/main" id="{A5AABA8C-5840-4F0C-8A7F-699BBFB00E37}"/>
              </a:ext>
            </a:extLst>
          </p:cNvPr>
          <p:cNvSpPr>
            <a:spLocks noGrp="1"/>
          </p:cNvSpPr>
          <p:nvPr/>
        </p:nvSpPr>
        <p:spPr>
          <a:xfrm>
            <a:off x="4981575" y="1181100"/>
            <a:ext cx="190500" cy="1905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050" b="1">
                <a:solidFill>
                  <a:srgbClr val="F35B91"/>
                </a:solidFill>
              </a:defRPr>
            </a:pPr>
            <a:r>
              <a:rPr kumimoji="0" sz="1200" b="1" i="0" u="none" strike="noStrike" kern="0" cap="none" spc="0" normalizeH="0" baseline="0" noProof="0">
                <a:ln>
                  <a:noFill/>
                </a:ln>
                <a:solidFill>
                  <a:srgbClr val="F35B91"/>
                </a:solidFill>
                <a:effectLst/>
                <a:uLnTx/>
                <a:uFillTx/>
                <a:latin typeface="Arial"/>
                <a:cs typeface="Arial"/>
                <a:sym typeface="Arial"/>
              </a:rPr>
              <a:t>→</a:t>
            </a:r>
          </a:p>
        </p:txBody>
      </p:sp>
      <p:sp>
        <p:nvSpPr>
          <p:cNvPr id="51" name="s10-model-2">
            <a:extLst>
              <a:ext uri="{FF2B5EF4-FFF2-40B4-BE49-F238E27FC236}">
                <a16:creationId xmlns:a16="http://schemas.microsoft.com/office/drawing/2014/main" id="{18FFDEB3-0DF6-4E18-AF5C-5DD808836592}"/>
              </a:ext>
            </a:extLst>
          </p:cNvPr>
          <p:cNvSpPr>
            <a:spLocks noGrp="1"/>
          </p:cNvSpPr>
          <p:nvPr/>
        </p:nvSpPr>
        <p:spPr>
          <a:xfrm>
            <a:off x="2771775" y="1190625"/>
            <a:ext cx="1095375" cy="190500"/>
          </a:xfrm>
          <a:prstGeom prst="rect">
            <a:avLst/>
          </a:prstGeom>
          <a:noFill/>
          <a:ln w="0">
            <a:noFill/>
            <a:prstDash val="solid"/>
          </a:ln>
        </p:spPr>
        <p:txBody>
          <a:bodyPr wrap="square" anchor="ctr"/>
          <a:lstStyle/>
          <a:p>
            <a:pPr lvl="0" algn="ctr">
              <a:defRPr sz="750" b="1">
                <a:solidFill>
                  <a:srgbClr val="3D3DE0"/>
                </a:solidFill>
              </a:defRPr>
            </a:pPr>
            <a:r>
              <a:rPr lang="en" altLang="zh-CN" sz="900" b="1" dirty="0" err="1">
                <a:solidFill>
                  <a:srgbClr val="3D3DE0"/>
                </a:solidFill>
              </a:rPr>
              <a:t>MiniMax</a:t>
            </a:r>
            <a:r>
              <a:rPr lang="en" altLang="zh-CN" sz="900" b="1" dirty="0">
                <a:solidFill>
                  <a:srgbClr val="3D3DE0"/>
                </a:solidFill>
              </a:rPr>
              <a:t> M3</a:t>
            </a:r>
          </a:p>
        </p:txBody>
      </p:sp>
      <p:sp>
        <p:nvSpPr>
          <p:cNvPr id="52" name="s10-change-2">
            <a:extLst>
              <a:ext uri="{FF2B5EF4-FFF2-40B4-BE49-F238E27FC236}">
                <a16:creationId xmlns:a16="http://schemas.microsoft.com/office/drawing/2014/main" id="{F3543D63-0D35-4408-86FC-566B159A3A78}"/>
              </a:ext>
            </a:extLst>
          </p:cNvPr>
          <p:cNvSpPr>
            <a:spLocks noGrp="1"/>
          </p:cNvSpPr>
          <p:nvPr/>
        </p:nvSpPr>
        <p:spPr>
          <a:xfrm>
            <a:off x="5143500" y="1419225"/>
            <a:ext cx="1095375" cy="17145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New cost curve</a:t>
            </a:r>
          </a:p>
        </p:txBody>
      </p:sp>
      <p:sp>
        <p:nvSpPr>
          <p:cNvPr id="54" name="s10-main-top-rule">
            <a:extLst>
              <a:ext uri="{FF2B5EF4-FFF2-40B4-BE49-F238E27FC236}">
                <a16:creationId xmlns:a16="http://schemas.microsoft.com/office/drawing/2014/main" id="{9820E1FD-45A8-41C2-BA15-753D2A839168}"/>
              </a:ext>
            </a:extLst>
          </p:cNvPr>
          <p:cNvSpPr>
            <a:spLocks noGrp="1"/>
          </p:cNvSpPr>
          <p:nvPr/>
        </p:nvSpPr>
        <p:spPr>
          <a:xfrm>
            <a:off x="285750" y="1828800"/>
            <a:ext cx="8572500"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55" name="s10-workload-title">
            <a:extLst>
              <a:ext uri="{FF2B5EF4-FFF2-40B4-BE49-F238E27FC236}">
                <a16:creationId xmlns:a16="http://schemas.microsoft.com/office/drawing/2014/main" id="{089E7977-5CD8-4DC6-BA67-62522B64924C}"/>
              </a:ext>
            </a:extLst>
          </p:cNvPr>
          <p:cNvSpPr>
            <a:spLocks noGrp="1"/>
          </p:cNvSpPr>
          <p:nvPr/>
        </p:nvSpPr>
        <p:spPr>
          <a:xfrm>
            <a:off x="285750" y="1905000"/>
            <a:ext cx="3048000" cy="209550"/>
          </a:xfrm>
          <a:prstGeom prst="rect">
            <a:avLst/>
          </a:prstGeom>
          <a:noFill/>
          <a:ln w="0">
            <a:noFill/>
            <a:prstDash val="solid"/>
          </a:ln>
        </p:spPr>
        <p:txBody>
          <a:bodyPr wrap="squar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75" b="1">
                <a:solidFill>
                  <a:srgbClr val="10223A"/>
                </a:solidFill>
              </a:defRPr>
            </a:pPr>
            <a:r>
              <a:rPr kumimoji="0" sz="1050" b="1" i="0" u="none" strike="noStrike" kern="0" cap="none" spc="0" normalizeH="0" baseline="0" noProof="0">
                <a:ln>
                  <a:noFill/>
                </a:ln>
                <a:solidFill>
                  <a:srgbClr val="10223A"/>
                </a:solidFill>
                <a:effectLst/>
                <a:uLnTx/>
                <a:uFillTx/>
                <a:latin typeface="Arial"/>
                <a:cs typeface="Arial"/>
                <a:sym typeface="Arial"/>
              </a:rPr>
              <a:t>Workload mix</a:t>
            </a:r>
          </a:p>
        </p:txBody>
      </p:sp>
      <p:sp>
        <p:nvSpPr>
          <p:cNvPr id="56" name="s10-workload-accent-0">
            <a:extLst>
              <a:ext uri="{FF2B5EF4-FFF2-40B4-BE49-F238E27FC236}">
                <a16:creationId xmlns:a16="http://schemas.microsoft.com/office/drawing/2014/main" id="{C16E6A45-2368-46E5-8019-306146240693}"/>
              </a:ext>
            </a:extLst>
          </p:cNvPr>
          <p:cNvSpPr>
            <a:spLocks noGrp="1"/>
          </p:cNvSpPr>
          <p:nvPr/>
        </p:nvSpPr>
        <p:spPr>
          <a:xfrm>
            <a:off x="304800" y="2200275"/>
            <a:ext cx="38100" cy="180975"/>
          </a:xfrm>
          <a:prstGeom prst="rect">
            <a:avLst/>
          </a:prstGeom>
          <a:solidFill>
            <a:srgbClr val="13A7C7"/>
          </a:solidFill>
          <a:ln w="0">
            <a:solidFill>
              <a:srgbClr val="13A7C7"/>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57" name="s10-workload-name-0">
            <a:extLst>
              <a:ext uri="{FF2B5EF4-FFF2-40B4-BE49-F238E27FC236}">
                <a16:creationId xmlns:a16="http://schemas.microsoft.com/office/drawing/2014/main" id="{591B86E6-17A9-454D-B46D-972889177F29}"/>
              </a:ext>
            </a:extLst>
          </p:cNvPr>
          <p:cNvSpPr>
            <a:spLocks noGrp="1"/>
          </p:cNvSpPr>
          <p:nvPr/>
        </p:nvSpPr>
        <p:spPr>
          <a:xfrm>
            <a:off x="428625" y="2171700"/>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a:ln>
                  <a:noFill/>
                </a:ln>
                <a:solidFill>
                  <a:srgbClr val="10223A"/>
                </a:solidFill>
                <a:effectLst/>
                <a:uLnTx/>
                <a:uFillTx/>
                <a:latin typeface="Arial"/>
                <a:cs typeface="Arial"/>
                <a:sym typeface="Arial"/>
              </a:rPr>
              <a:t>Short Q&amp;A</a:t>
            </a:r>
          </a:p>
        </p:txBody>
      </p:sp>
      <p:sp>
        <p:nvSpPr>
          <p:cNvPr id="58" name="s10-workload-detail-0">
            <a:extLst>
              <a:ext uri="{FF2B5EF4-FFF2-40B4-BE49-F238E27FC236}">
                <a16:creationId xmlns:a16="http://schemas.microsoft.com/office/drawing/2014/main" id="{3B220D12-9DEA-43F0-B33E-C18681FAE372}"/>
              </a:ext>
            </a:extLst>
          </p:cNvPr>
          <p:cNvSpPr>
            <a:spLocks noGrp="1"/>
          </p:cNvSpPr>
          <p:nvPr/>
        </p:nvSpPr>
        <p:spPr>
          <a:xfrm>
            <a:off x="1333500" y="2171700"/>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Short context · high concurrency</a:t>
            </a:r>
          </a:p>
        </p:txBody>
      </p:sp>
      <p:sp>
        <p:nvSpPr>
          <p:cNvPr id="59" name="s10-workload-accent-1">
            <a:extLst>
              <a:ext uri="{FF2B5EF4-FFF2-40B4-BE49-F238E27FC236}">
                <a16:creationId xmlns:a16="http://schemas.microsoft.com/office/drawing/2014/main" id="{34E04A3C-5205-4198-8584-F72CAAA32542}"/>
              </a:ext>
            </a:extLst>
          </p:cNvPr>
          <p:cNvSpPr>
            <a:spLocks noGrp="1"/>
          </p:cNvSpPr>
          <p:nvPr/>
        </p:nvSpPr>
        <p:spPr>
          <a:xfrm>
            <a:off x="304800" y="2457450"/>
            <a:ext cx="38100" cy="180975"/>
          </a:xfrm>
          <a:prstGeom prst="rect">
            <a:avLst/>
          </a:prstGeom>
          <a:solidFill>
            <a:srgbClr val="3D3DE0"/>
          </a:solidFill>
          <a:ln w="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60" name="s10-workload-name-1">
            <a:extLst>
              <a:ext uri="{FF2B5EF4-FFF2-40B4-BE49-F238E27FC236}">
                <a16:creationId xmlns:a16="http://schemas.microsoft.com/office/drawing/2014/main" id="{238712EE-4B79-4EB1-A45D-512BDAB678B8}"/>
              </a:ext>
            </a:extLst>
          </p:cNvPr>
          <p:cNvSpPr>
            <a:spLocks noGrp="1"/>
          </p:cNvSpPr>
          <p:nvPr/>
        </p:nvSpPr>
        <p:spPr>
          <a:xfrm>
            <a:off x="428625" y="2428875"/>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dirty="0">
                <a:ln>
                  <a:noFill/>
                </a:ln>
                <a:solidFill>
                  <a:srgbClr val="10223A"/>
                </a:solidFill>
                <a:effectLst/>
                <a:uLnTx/>
                <a:uFillTx/>
                <a:latin typeface="Arial"/>
                <a:cs typeface="Arial"/>
                <a:sym typeface="Arial"/>
              </a:rPr>
              <a:t>Long context</a:t>
            </a:r>
          </a:p>
        </p:txBody>
      </p:sp>
      <p:sp>
        <p:nvSpPr>
          <p:cNvPr id="61" name="s10-workload-detail-1">
            <a:extLst>
              <a:ext uri="{FF2B5EF4-FFF2-40B4-BE49-F238E27FC236}">
                <a16:creationId xmlns:a16="http://schemas.microsoft.com/office/drawing/2014/main" id="{38BAB3C0-2D73-4BD6-BB3C-79A189CB1737}"/>
              </a:ext>
            </a:extLst>
          </p:cNvPr>
          <p:cNvSpPr>
            <a:spLocks noGrp="1"/>
          </p:cNvSpPr>
          <p:nvPr/>
        </p:nvSpPr>
        <p:spPr>
          <a:xfrm>
            <a:off x="1333500" y="2428875"/>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Long prefill · memory pressure</a:t>
            </a:r>
          </a:p>
        </p:txBody>
      </p:sp>
      <p:sp>
        <p:nvSpPr>
          <p:cNvPr id="62" name="s10-workload-accent-2">
            <a:extLst>
              <a:ext uri="{FF2B5EF4-FFF2-40B4-BE49-F238E27FC236}">
                <a16:creationId xmlns:a16="http://schemas.microsoft.com/office/drawing/2014/main" id="{2573024E-553E-40D2-8AB4-8886743A2DD9}"/>
              </a:ext>
            </a:extLst>
          </p:cNvPr>
          <p:cNvSpPr>
            <a:spLocks noGrp="1"/>
          </p:cNvSpPr>
          <p:nvPr/>
        </p:nvSpPr>
        <p:spPr>
          <a:xfrm>
            <a:off x="304800" y="2714625"/>
            <a:ext cx="38100" cy="180975"/>
          </a:xfrm>
          <a:prstGeom prst="rect">
            <a:avLst/>
          </a:prstGeom>
          <a:solidFill>
            <a:srgbClr val="159B64"/>
          </a:solidFill>
          <a:ln w="0">
            <a:solidFill>
              <a:srgbClr val="159B64"/>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63" name="s10-workload-name-2">
            <a:extLst>
              <a:ext uri="{FF2B5EF4-FFF2-40B4-BE49-F238E27FC236}">
                <a16:creationId xmlns:a16="http://schemas.microsoft.com/office/drawing/2014/main" id="{FF352C2A-3890-4EA3-A6D5-D00A24B6D763}"/>
              </a:ext>
            </a:extLst>
          </p:cNvPr>
          <p:cNvSpPr>
            <a:spLocks noGrp="1"/>
          </p:cNvSpPr>
          <p:nvPr/>
        </p:nvSpPr>
        <p:spPr>
          <a:xfrm>
            <a:off x="428625" y="2686050"/>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dirty="0">
                <a:ln>
                  <a:noFill/>
                </a:ln>
                <a:solidFill>
                  <a:srgbClr val="10223A"/>
                </a:solidFill>
                <a:effectLst/>
                <a:uLnTx/>
                <a:uFillTx/>
                <a:latin typeface="Arial"/>
                <a:cs typeface="Arial"/>
                <a:sym typeface="Arial"/>
              </a:rPr>
              <a:t>RAG</a:t>
            </a:r>
          </a:p>
        </p:txBody>
      </p:sp>
      <p:sp>
        <p:nvSpPr>
          <p:cNvPr id="64" name="s10-workload-detail-2">
            <a:extLst>
              <a:ext uri="{FF2B5EF4-FFF2-40B4-BE49-F238E27FC236}">
                <a16:creationId xmlns:a16="http://schemas.microsoft.com/office/drawing/2014/main" id="{A6C8EDB1-6C6A-4906-9FE8-F15A9D1B3240}"/>
              </a:ext>
            </a:extLst>
          </p:cNvPr>
          <p:cNvSpPr>
            <a:spLocks noGrp="1"/>
          </p:cNvSpPr>
          <p:nvPr/>
        </p:nvSpPr>
        <p:spPr>
          <a:xfrm>
            <a:off x="1333500" y="2686050"/>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Repeated prefixes · KV reuse</a:t>
            </a:r>
          </a:p>
        </p:txBody>
      </p:sp>
      <p:sp>
        <p:nvSpPr>
          <p:cNvPr id="65" name="s10-workload-accent-3">
            <a:extLst>
              <a:ext uri="{FF2B5EF4-FFF2-40B4-BE49-F238E27FC236}">
                <a16:creationId xmlns:a16="http://schemas.microsoft.com/office/drawing/2014/main" id="{F02051D1-D73B-4C54-BA86-E499893E2398}"/>
              </a:ext>
            </a:extLst>
          </p:cNvPr>
          <p:cNvSpPr>
            <a:spLocks noGrp="1"/>
          </p:cNvSpPr>
          <p:nvPr/>
        </p:nvSpPr>
        <p:spPr>
          <a:xfrm>
            <a:off x="304800" y="2971800"/>
            <a:ext cx="38100" cy="180975"/>
          </a:xfrm>
          <a:prstGeom prst="rect">
            <a:avLst/>
          </a:prstGeom>
          <a:solidFill>
            <a:srgbClr val="F35B91"/>
          </a:solidFill>
          <a:ln w="0">
            <a:solidFill>
              <a:srgbClr val="F35B91"/>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66" name="s10-workload-name-3">
            <a:extLst>
              <a:ext uri="{FF2B5EF4-FFF2-40B4-BE49-F238E27FC236}">
                <a16:creationId xmlns:a16="http://schemas.microsoft.com/office/drawing/2014/main" id="{B4C69B18-A1A1-4FFD-9F86-7F7D1FC8B9E0}"/>
              </a:ext>
            </a:extLst>
          </p:cNvPr>
          <p:cNvSpPr>
            <a:spLocks noGrp="1"/>
          </p:cNvSpPr>
          <p:nvPr/>
        </p:nvSpPr>
        <p:spPr>
          <a:xfrm>
            <a:off x="428625" y="2943225"/>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a:ln>
                  <a:noFill/>
                </a:ln>
                <a:solidFill>
                  <a:srgbClr val="10223A"/>
                </a:solidFill>
                <a:effectLst/>
                <a:uLnTx/>
                <a:uFillTx/>
                <a:latin typeface="Arial"/>
                <a:cs typeface="Arial"/>
                <a:sym typeface="Arial"/>
              </a:rPr>
              <a:t>Agents</a:t>
            </a:r>
          </a:p>
        </p:txBody>
      </p:sp>
      <p:sp>
        <p:nvSpPr>
          <p:cNvPr id="67" name="s10-workload-detail-3">
            <a:extLst>
              <a:ext uri="{FF2B5EF4-FFF2-40B4-BE49-F238E27FC236}">
                <a16:creationId xmlns:a16="http://schemas.microsoft.com/office/drawing/2014/main" id="{543C4042-B518-49A8-B618-8BAE23FCDB60}"/>
              </a:ext>
            </a:extLst>
          </p:cNvPr>
          <p:cNvSpPr>
            <a:spLocks noGrp="1"/>
          </p:cNvSpPr>
          <p:nvPr/>
        </p:nvSpPr>
        <p:spPr>
          <a:xfrm>
            <a:off x="1333500" y="2943225"/>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Multi-turn tools · tail latency</a:t>
            </a:r>
          </a:p>
        </p:txBody>
      </p:sp>
      <p:sp>
        <p:nvSpPr>
          <p:cNvPr id="68" name="s10-workload-accent-4">
            <a:extLst>
              <a:ext uri="{FF2B5EF4-FFF2-40B4-BE49-F238E27FC236}">
                <a16:creationId xmlns:a16="http://schemas.microsoft.com/office/drawing/2014/main" id="{B473EABA-1FD2-4A7F-B5B2-FEC94FF2D0B2}"/>
              </a:ext>
            </a:extLst>
          </p:cNvPr>
          <p:cNvSpPr>
            <a:spLocks noGrp="1"/>
          </p:cNvSpPr>
          <p:nvPr/>
        </p:nvSpPr>
        <p:spPr>
          <a:xfrm>
            <a:off x="304800" y="3228975"/>
            <a:ext cx="38100" cy="180975"/>
          </a:xfrm>
          <a:prstGeom prst="rect">
            <a:avLst/>
          </a:prstGeom>
          <a:solidFill>
            <a:srgbClr val="5A67E8"/>
          </a:solidFill>
          <a:ln w="0">
            <a:solidFill>
              <a:srgbClr val="5A67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69" name="s10-workload-name-4">
            <a:extLst>
              <a:ext uri="{FF2B5EF4-FFF2-40B4-BE49-F238E27FC236}">
                <a16:creationId xmlns:a16="http://schemas.microsoft.com/office/drawing/2014/main" id="{47340600-5BA9-43D4-9235-5B115B8DA928}"/>
              </a:ext>
            </a:extLst>
          </p:cNvPr>
          <p:cNvSpPr>
            <a:spLocks noGrp="1"/>
          </p:cNvSpPr>
          <p:nvPr/>
        </p:nvSpPr>
        <p:spPr>
          <a:xfrm>
            <a:off x="428625" y="3200400"/>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dirty="0">
                <a:ln>
                  <a:noFill/>
                </a:ln>
                <a:solidFill>
                  <a:srgbClr val="10223A"/>
                </a:solidFill>
                <a:effectLst/>
                <a:uLnTx/>
                <a:uFillTx/>
                <a:latin typeface="Arial"/>
                <a:cs typeface="Arial"/>
                <a:sym typeface="Arial"/>
              </a:rPr>
              <a:t>Coding</a:t>
            </a:r>
          </a:p>
        </p:txBody>
      </p:sp>
      <p:sp>
        <p:nvSpPr>
          <p:cNvPr id="70" name="s10-workload-detail-4">
            <a:extLst>
              <a:ext uri="{FF2B5EF4-FFF2-40B4-BE49-F238E27FC236}">
                <a16:creationId xmlns:a16="http://schemas.microsoft.com/office/drawing/2014/main" id="{F1D88259-5E58-4444-8FE3-3617195830EF}"/>
              </a:ext>
            </a:extLst>
          </p:cNvPr>
          <p:cNvSpPr>
            <a:spLocks noGrp="1"/>
          </p:cNvSpPr>
          <p:nvPr/>
        </p:nvSpPr>
        <p:spPr>
          <a:xfrm>
            <a:off x="1333500" y="3200400"/>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Long outputs · decode-intensive</a:t>
            </a:r>
          </a:p>
        </p:txBody>
      </p:sp>
      <p:sp>
        <p:nvSpPr>
          <p:cNvPr id="71" name="s10-workload-accent-5">
            <a:extLst>
              <a:ext uri="{FF2B5EF4-FFF2-40B4-BE49-F238E27FC236}">
                <a16:creationId xmlns:a16="http://schemas.microsoft.com/office/drawing/2014/main" id="{FEBB3697-85F8-4798-B819-3579DD345B1C}"/>
              </a:ext>
            </a:extLst>
          </p:cNvPr>
          <p:cNvSpPr>
            <a:spLocks noGrp="1"/>
          </p:cNvSpPr>
          <p:nvPr/>
        </p:nvSpPr>
        <p:spPr>
          <a:xfrm>
            <a:off x="304800" y="3486150"/>
            <a:ext cx="38100" cy="180975"/>
          </a:xfrm>
          <a:prstGeom prst="rect">
            <a:avLst/>
          </a:prstGeom>
          <a:solidFill>
            <a:srgbClr val="13A7C7"/>
          </a:solidFill>
          <a:ln w="0">
            <a:solidFill>
              <a:srgbClr val="13A7C7"/>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72" name="s10-workload-name-5">
            <a:extLst>
              <a:ext uri="{FF2B5EF4-FFF2-40B4-BE49-F238E27FC236}">
                <a16:creationId xmlns:a16="http://schemas.microsoft.com/office/drawing/2014/main" id="{76911140-2A4F-4351-947E-4DE388BECBD7}"/>
              </a:ext>
            </a:extLst>
          </p:cNvPr>
          <p:cNvSpPr>
            <a:spLocks noGrp="1"/>
          </p:cNvSpPr>
          <p:nvPr/>
        </p:nvSpPr>
        <p:spPr>
          <a:xfrm>
            <a:off x="428625" y="3457575"/>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a:ln>
                  <a:noFill/>
                </a:ln>
                <a:solidFill>
                  <a:srgbClr val="10223A"/>
                </a:solidFill>
                <a:effectLst/>
                <a:uLnTx/>
                <a:uFillTx/>
                <a:latin typeface="Arial"/>
                <a:cs typeface="Arial"/>
                <a:sym typeface="Arial"/>
              </a:rPr>
              <a:t>Tool calls</a:t>
            </a:r>
          </a:p>
        </p:txBody>
      </p:sp>
      <p:sp>
        <p:nvSpPr>
          <p:cNvPr id="73" name="s10-workload-detail-5">
            <a:extLst>
              <a:ext uri="{FF2B5EF4-FFF2-40B4-BE49-F238E27FC236}">
                <a16:creationId xmlns:a16="http://schemas.microsoft.com/office/drawing/2014/main" id="{2E0A4B4B-80B9-4AB5-85C4-9791FC9A9F11}"/>
              </a:ext>
            </a:extLst>
          </p:cNvPr>
          <p:cNvSpPr>
            <a:spLocks noGrp="1"/>
          </p:cNvSpPr>
          <p:nvPr/>
        </p:nvSpPr>
        <p:spPr>
          <a:xfrm>
            <a:off x="1333500" y="3457575"/>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Bursty requests · end-to-end jitter</a:t>
            </a:r>
          </a:p>
        </p:txBody>
      </p:sp>
      <p:sp>
        <p:nvSpPr>
          <p:cNvPr id="74" name="s10-workload-accent-6">
            <a:extLst>
              <a:ext uri="{FF2B5EF4-FFF2-40B4-BE49-F238E27FC236}">
                <a16:creationId xmlns:a16="http://schemas.microsoft.com/office/drawing/2014/main" id="{DE1D3BDB-E0CD-4A0B-AE05-5FF5D5C2B4BC}"/>
              </a:ext>
            </a:extLst>
          </p:cNvPr>
          <p:cNvSpPr>
            <a:spLocks noGrp="1"/>
          </p:cNvSpPr>
          <p:nvPr/>
        </p:nvSpPr>
        <p:spPr>
          <a:xfrm>
            <a:off x="304800" y="3743325"/>
            <a:ext cx="38100" cy="180975"/>
          </a:xfrm>
          <a:prstGeom prst="rect">
            <a:avLst/>
          </a:prstGeom>
          <a:solidFill>
            <a:srgbClr val="D79A16"/>
          </a:solidFill>
          <a:ln w="0">
            <a:solidFill>
              <a:srgbClr val="D79A1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75" name="s10-workload-name-6">
            <a:extLst>
              <a:ext uri="{FF2B5EF4-FFF2-40B4-BE49-F238E27FC236}">
                <a16:creationId xmlns:a16="http://schemas.microsoft.com/office/drawing/2014/main" id="{F10B41EA-5D72-413B-BBB4-DAB4B6099EBB}"/>
              </a:ext>
            </a:extLst>
          </p:cNvPr>
          <p:cNvSpPr>
            <a:spLocks noGrp="1"/>
          </p:cNvSpPr>
          <p:nvPr/>
        </p:nvSpPr>
        <p:spPr>
          <a:xfrm>
            <a:off x="428625" y="3714750"/>
            <a:ext cx="876300"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1">
                <a:solidFill>
                  <a:srgbClr val="10223A"/>
                </a:solidFill>
              </a:defRPr>
            </a:pPr>
            <a:r>
              <a:rPr kumimoji="0" sz="900" b="1" i="0" u="none" strike="noStrike" kern="0" cap="none" spc="0" normalizeH="0" baseline="0" noProof="0">
                <a:ln>
                  <a:noFill/>
                </a:ln>
                <a:solidFill>
                  <a:srgbClr val="10223A"/>
                </a:solidFill>
                <a:effectLst/>
                <a:uLnTx/>
                <a:uFillTx/>
                <a:latin typeface="Arial"/>
                <a:cs typeface="Arial"/>
                <a:sym typeface="Arial"/>
              </a:rPr>
              <a:t>Batch / burst</a:t>
            </a:r>
          </a:p>
        </p:txBody>
      </p:sp>
      <p:sp>
        <p:nvSpPr>
          <p:cNvPr id="76" name="s10-workload-detail-6">
            <a:extLst>
              <a:ext uri="{FF2B5EF4-FFF2-40B4-BE49-F238E27FC236}">
                <a16:creationId xmlns:a16="http://schemas.microsoft.com/office/drawing/2014/main" id="{41297EB5-272E-4872-A36E-CCDE7A9A2235}"/>
              </a:ext>
            </a:extLst>
          </p:cNvPr>
          <p:cNvSpPr>
            <a:spLocks noGrp="1"/>
          </p:cNvSpPr>
          <p:nvPr/>
        </p:nvSpPr>
        <p:spPr>
          <a:xfrm>
            <a:off x="1333500" y="3714750"/>
            <a:ext cx="1952625" cy="22860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Peak load · queueable</a:t>
            </a:r>
          </a:p>
        </p:txBody>
      </p:sp>
      <p:sp>
        <p:nvSpPr>
          <p:cNvPr id="77" name="s10-center-divider">
            <a:extLst>
              <a:ext uri="{FF2B5EF4-FFF2-40B4-BE49-F238E27FC236}">
                <a16:creationId xmlns:a16="http://schemas.microsoft.com/office/drawing/2014/main" id="{E16B6756-815F-4C38-9D2B-47333B533F3C}"/>
              </a:ext>
            </a:extLst>
          </p:cNvPr>
          <p:cNvSpPr>
            <a:spLocks noGrp="1"/>
          </p:cNvSpPr>
          <p:nvPr/>
        </p:nvSpPr>
        <p:spPr>
          <a:xfrm>
            <a:off x="3467100" y="2000250"/>
            <a:ext cx="9525" cy="185737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78" name="s10-loop">
            <a:extLst>
              <a:ext uri="{FF2B5EF4-FFF2-40B4-BE49-F238E27FC236}">
                <a16:creationId xmlns:a16="http://schemas.microsoft.com/office/drawing/2014/main" id="{D997264C-4F24-4208-8E86-03BF7F51EEF7}"/>
              </a:ext>
            </a:extLst>
          </p:cNvPr>
          <p:cNvSpPr>
            <a:spLocks noGrp="1"/>
          </p:cNvSpPr>
          <p:nvPr/>
        </p:nvSpPr>
        <p:spPr>
          <a:xfrm>
            <a:off x="3667125" y="1943100"/>
            <a:ext cx="2000250" cy="228600"/>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38" b="1">
                <a:solidFill>
                  <a:srgbClr val="3D3DE0"/>
                </a:solidFill>
              </a:defRPr>
            </a:pPr>
            <a:r>
              <a:rPr kumimoji="0" sz="800" b="1" i="0" u="none" strike="noStrike" kern="0" cap="none" spc="0" normalizeH="0" baseline="0" noProof="0">
                <a:ln>
                  <a:noFill/>
                </a:ln>
                <a:solidFill>
                  <a:srgbClr val="3D3DE0"/>
                </a:solidFill>
                <a:effectLst/>
                <a:uLnTx/>
                <a:uFillTx/>
                <a:latin typeface="Arial"/>
                <a:cs typeface="Arial"/>
                <a:sym typeface="Arial"/>
              </a:rPr>
              <a:t>OBSERVE  →  PREDICT  →  ADAPT</a:t>
            </a:r>
          </a:p>
        </p:txBody>
      </p:sp>
      <p:sp>
        <p:nvSpPr>
          <p:cNvPr id="79" name="s10-factory">
            <a:extLst>
              <a:ext uri="{FF2B5EF4-FFF2-40B4-BE49-F238E27FC236}">
                <a16:creationId xmlns:a16="http://schemas.microsoft.com/office/drawing/2014/main" id="{1350200C-E461-4278-A605-AE94B15D53FA}"/>
              </a:ext>
            </a:extLst>
          </p:cNvPr>
          <p:cNvSpPr>
            <a:spLocks noGrp="1"/>
          </p:cNvSpPr>
          <p:nvPr/>
        </p:nvSpPr>
        <p:spPr>
          <a:xfrm>
            <a:off x="3829050" y="2343150"/>
            <a:ext cx="1676400" cy="1219200"/>
          </a:xfrm>
          <a:prstGeom prst="ellipse">
            <a:avLst/>
          </a:prstGeom>
          <a:solidFill>
            <a:srgbClr val="EEF0FF"/>
          </a:solidFill>
          <a:ln w="1905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80" name="s10-factory-title">
            <a:extLst>
              <a:ext uri="{FF2B5EF4-FFF2-40B4-BE49-F238E27FC236}">
                <a16:creationId xmlns:a16="http://schemas.microsoft.com/office/drawing/2014/main" id="{231E2EF8-B114-424B-A6FC-109EF908D1A5}"/>
              </a:ext>
            </a:extLst>
          </p:cNvPr>
          <p:cNvSpPr>
            <a:spLocks noGrp="1"/>
          </p:cNvSpPr>
          <p:nvPr/>
        </p:nvSpPr>
        <p:spPr>
          <a:xfrm>
            <a:off x="4048125" y="2514600"/>
            <a:ext cx="1238250" cy="55245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575" b="1">
                <a:solidFill>
                  <a:srgbClr val="10223A"/>
                </a:solidFill>
              </a:defRPr>
            </a:pPr>
            <a:r>
              <a:rPr lang="en-US" sz="1800" b="1" dirty="0">
                <a:solidFill>
                  <a:srgbClr val="10223A"/>
                </a:solidFill>
              </a:rPr>
              <a:t>Inference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575" b="1">
                <a:solidFill>
                  <a:srgbClr val="10223A"/>
                </a:solidFill>
              </a:defRPr>
            </a:pPr>
            <a:r>
              <a:rPr kumimoji="0" lang="en-US" sz="1800" b="1" i="0" u="none" strike="noStrike" kern="0" cap="none" spc="0" normalizeH="0" baseline="0" noProof="0" dirty="0">
                <a:ln>
                  <a:noFill/>
                </a:ln>
                <a:solidFill>
                  <a:srgbClr val="10223A"/>
                </a:solidFill>
                <a:effectLst/>
                <a:uLnTx/>
                <a:uFillTx/>
                <a:latin typeface="Arial"/>
                <a:cs typeface="Arial"/>
                <a:sym typeface="Arial"/>
              </a:rPr>
              <a:t>System</a:t>
            </a:r>
            <a:endParaRPr kumimoji="0" sz="1800" b="1" i="0" u="none" strike="noStrike" kern="0" cap="none" spc="0" normalizeH="0" baseline="0" noProof="0" dirty="0">
              <a:ln>
                <a:noFill/>
              </a:ln>
              <a:solidFill>
                <a:srgbClr val="10223A"/>
              </a:solidFill>
              <a:effectLst/>
              <a:uLnTx/>
              <a:uFillTx/>
              <a:latin typeface="Arial"/>
              <a:cs typeface="Arial"/>
              <a:sym typeface="Arial"/>
            </a:endParaRPr>
          </a:p>
        </p:txBody>
      </p:sp>
      <p:sp>
        <p:nvSpPr>
          <p:cNvPr id="81" name="s10-factory-subtitle">
            <a:extLst>
              <a:ext uri="{FF2B5EF4-FFF2-40B4-BE49-F238E27FC236}">
                <a16:creationId xmlns:a16="http://schemas.microsoft.com/office/drawing/2014/main" id="{2CA256DB-7AEF-4E15-8D38-D975175DFDEB}"/>
              </a:ext>
            </a:extLst>
          </p:cNvPr>
          <p:cNvSpPr>
            <a:spLocks noGrp="1"/>
          </p:cNvSpPr>
          <p:nvPr/>
        </p:nvSpPr>
        <p:spPr>
          <a:xfrm>
            <a:off x="3962400" y="3057525"/>
            <a:ext cx="1409700" cy="36195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75" b="1">
                <a:solidFill>
                  <a:srgbClr val="3D3DE0"/>
                </a:solidFill>
              </a:defRPr>
            </a:pPr>
            <a:r>
              <a:rPr kumimoji="0" sz="900" b="1" i="0" u="none" strike="noStrike" kern="0" cap="none" spc="0" normalizeH="0" baseline="0" noProof="0">
                <a:ln>
                  <a:noFill/>
                </a:ln>
                <a:solidFill>
                  <a:srgbClr val="3D3DE0"/>
                </a:solidFill>
                <a:effectLst/>
                <a:uLnTx/>
                <a:uFillTx/>
                <a:latin typeface="Arial"/>
                <a:cs typeface="Arial"/>
                <a:sym typeface="Arial"/>
              </a:rPr>
              <a:t>Inference optimization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75" b="1">
                <a:solidFill>
                  <a:srgbClr val="3D3DE0"/>
                </a:solidFill>
              </a:defRPr>
            </a:pPr>
            <a:r>
              <a:rPr kumimoji="0" sz="900" b="1" i="0" u="none" strike="noStrike" kern="0" cap="none" spc="0" normalizeH="0" baseline="0" noProof="0">
                <a:ln>
                  <a:noFill/>
                </a:ln>
                <a:solidFill>
                  <a:srgbClr val="3D3DE0"/>
                </a:solidFill>
                <a:effectLst/>
                <a:uLnTx/>
                <a:uFillTx/>
                <a:latin typeface="Arial"/>
                <a:cs typeface="Arial"/>
                <a:sym typeface="Arial"/>
              </a:rPr>
              <a:t>+ unified scheduling</a:t>
            </a:r>
          </a:p>
        </p:txBody>
      </p:sp>
      <p:sp>
        <p:nvSpPr>
          <p:cNvPr id="82" name="s10-resource-balance">
            <a:extLst>
              <a:ext uri="{FF2B5EF4-FFF2-40B4-BE49-F238E27FC236}">
                <a16:creationId xmlns:a16="http://schemas.microsoft.com/office/drawing/2014/main" id="{A5B70609-01ED-43DB-AB5C-50E436680E4C}"/>
              </a:ext>
            </a:extLst>
          </p:cNvPr>
          <p:cNvSpPr>
            <a:spLocks noGrp="1"/>
          </p:cNvSpPr>
          <p:nvPr/>
        </p:nvSpPr>
        <p:spPr>
          <a:xfrm>
            <a:off x="3619500" y="3600450"/>
            <a:ext cx="2143125" cy="228600"/>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713" b="0">
                <a:solidFill>
                  <a:srgbClr val="58657A"/>
                </a:solidFill>
              </a:defRPr>
            </a:pPr>
            <a:r>
              <a:rPr kumimoji="0" sz="900" b="0" i="0" u="none" strike="noStrike" kern="0" cap="none" spc="0" normalizeH="0" baseline="0" noProof="0">
                <a:ln>
                  <a:noFill/>
                </a:ln>
                <a:solidFill>
                  <a:srgbClr val="58657A"/>
                </a:solidFill>
                <a:effectLst/>
                <a:uLnTx/>
                <a:uFillTx/>
                <a:latin typeface="Arial"/>
                <a:cs typeface="Arial"/>
                <a:sym typeface="Arial"/>
              </a:rPr>
              <a:t>Balance compute ↔ HBM ↔ KV ↔ network</a:t>
            </a:r>
          </a:p>
        </p:txBody>
      </p:sp>
      <p:sp>
        <p:nvSpPr>
          <p:cNvPr id="83" name="s10-right-divider">
            <a:extLst>
              <a:ext uri="{FF2B5EF4-FFF2-40B4-BE49-F238E27FC236}">
                <a16:creationId xmlns:a16="http://schemas.microsoft.com/office/drawing/2014/main" id="{34A11049-734F-4FED-AF8C-113334148ABB}"/>
              </a:ext>
            </a:extLst>
          </p:cNvPr>
          <p:cNvSpPr>
            <a:spLocks noGrp="1"/>
          </p:cNvSpPr>
          <p:nvPr/>
        </p:nvSpPr>
        <p:spPr>
          <a:xfrm>
            <a:off x="5857875" y="2000250"/>
            <a:ext cx="9525" cy="185737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84" name="s10-outcome-title">
            <a:extLst>
              <a:ext uri="{FF2B5EF4-FFF2-40B4-BE49-F238E27FC236}">
                <a16:creationId xmlns:a16="http://schemas.microsoft.com/office/drawing/2014/main" id="{73D2A9E8-7DCC-407D-B0AA-07A192A6F5B0}"/>
              </a:ext>
            </a:extLst>
          </p:cNvPr>
          <p:cNvSpPr>
            <a:spLocks noGrp="1"/>
          </p:cNvSpPr>
          <p:nvPr/>
        </p:nvSpPr>
        <p:spPr>
          <a:xfrm>
            <a:off x="6096000" y="1905000"/>
            <a:ext cx="2762250" cy="209550"/>
          </a:xfrm>
          <a:prstGeom prst="rect">
            <a:avLst/>
          </a:prstGeom>
          <a:noFill/>
          <a:ln w="0">
            <a:noFill/>
            <a:prstDash val="solid"/>
          </a:ln>
        </p:spPr>
        <p:txBody>
          <a:bodyPr wrap="squar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75" b="1">
                <a:solidFill>
                  <a:srgbClr val="10223A"/>
                </a:solidFill>
              </a:defRPr>
            </a:pPr>
            <a:r>
              <a:rPr kumimoji="0" sz="1050" b="1" i="0" u="none" strike="noStrike" kern="0" cap="none" spc="0" normalizeH="0" baseline="0" noProof="0">
                <a:ln>
                  <a:noFill/>
                </a:ln>
                <a:solidFill>
                  <a:srgbClr val="10223A"/>
                </a:solidFill>
                <a:effectLst/>
                <a:uLnTx/>
                <a:uFillTx/>
                <a:latin typeface="Arial"/>
                <a:cs typeface="Arial"/>
                <a:sym typeface="Arial"/>
              </a:rPr>
              <a:t>Operational outcomes</a:t>
            </a:r>
          </a:p>
        </p:txBody>
      </p:sp>
      <p:sp>
        <p:nvSpPr>
          <p:cNvPr id="85" name="s10-outcome-marker-0">
            <a:extLst>
              <a:ext uri="{FF2B5EF4-FFF2-40B4-BE49-F238E27FC236}">
                <a16:creationId xmlns:a16="http://schemas.microsoft.com/office/drawing/2014/main" id="{2FDBA308-48FE-4602-8EC0-C20A9D6F33E1}"/>
              </a:ext>
            </a:extLst>
          </p:cNvPr>
          <p:cNvSpPr>
            <a:spLocks noGrp="1"/>
          </p:cNvSpPr>
          <p:nvPr/>
        </p:nvSpPr>
        <p:spPr>
          <a:xfrm>
            <a:off x="6115050" y="2295525"/>
            <a:ext cx="95250" cy="95250"/>
          </a:xfrm>
          <a:prstGeom prst="ellipse">
            <a:avLst/>
          </a:prstGeom>
          <a:solidFill>
            <a:srgbClr val="159B64"/>
          </a:solidFill>
          <a:ln w="0">
            <a:solidFill>
              <a:srgbClr val="159B64"/>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86" name="s10-outcome-title-0">
            <a:extLst>
              <a:ext uri="{FF2B5EF4-FFF2-40B4-BE49-F238E27FC236}">
                <a16:creationId xmlns:a16="http://schemas.microsoft.com/office/drawing/2014/main" id="{608030C2-A509-4E37-A434-4ABF7EA8E162}"/>
              </a:ext>
            </a:extLst>
          </p:cNvPr>
          <p:cNvSpPr>
            <a:spLocks noGrp="1"/>
          </p:cNvSpPr>
          <p:nvPr/>
        </p:nvSpPr>
        <p:spPr>
          <a:xfrm>
            <a:off x="6324600" y="2238375"/>
            <a:ext cx="2381250" cy="200025"/>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Mixed workloads</a:t>
            </a:r>
          </a:p>
        </p:txBody>
      </p:sp>
      <p:sp>
        <p:nvSpPr>
          <p:cNvPr id="87" name="s10-outcome-detail-0">
            <a:extLst>
              <a:ext uri="{FF2B5EF4-FFF2-40B4-BE49-F238E27FC236}">
                <a16:creationId xmlns:a16="http://schemas.microsoft.com/office/drawing/2014/main" id="{F2ACB67D-4BF7-4568-BCFA-CAD17BDE4819}"/>
              </a:ext>
            </a:extLst>
          </p:cNvPr>
          <p:cNvSpPr>
            <a:spLocks noGrp="1"/>
          </p:cNvSpPr>
          <p:nvPr/>
        </p:nvSpPr>
        <p:spPr>
          <a:xfrm>
            <a:off x="6324600" y="2428875"/>
            <a:ext cx="2381250" cy="1714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Balance competing traffic patterns</a:t>
            </a:r>
          </a:p>
        </p:txBody>
      </p:sp>
      <p:sp>
        <p:nvSpPr>
          <p:cNvPr id="88" name="s10-outcome-marker-1">
            <a:extLst>
              <a:ext uri="{FF2B5EF4-FFF2-40B4-BE49-F238E27FC236}">
                <a16:creationId xmlns:a16="http://schemas.microsoft.com/office/drawing/2014/main" id="{79E4B42F-BEE0-49A0-8615-00172C674EAB}"/>
              </a:ext>
            </a:extLst>
          </p:cNvPr>
          <p:cNvSpPr>
            <a:spLocks noGrp="1"/>
          </p:cNvSpPr>
          <p:nvPr/>
        </p:nvSpPr>
        <p:spPr>
          <a:xfrm>
            <a:off x="6115050" y="2705100"/>
            <a:ext cx="95250" cy="95250"/>
          </a:xfrm>
          <a:prstGeom prst="ellipse">
            <a:avLst/>
          </a:prstGeom>
          <a:solidFill>
            <a:srgbClr val="3D3DE0"/>
          </a:solidFill>
          <a:ln w="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89" name="s10-outcome-title-1">
            <a:extLst>
              <a:ext uri="{FF2B5EF4-FFF2-40B4-BE49-F238E27FC236}">
                <a16:creationId xmlns:a16="http://schemas.microsoft.com/office/drawing/2014/main" id="{C8CE31C8-E86B-4A1B-98B2-B84226EE451A}"/>
              </a:ext>
            </a:extLst>
          </p:cNvPr>
          <p:cNvSpPr>
            <a:spLocks noGrp="1"/>
          </p:cNvSpPr>
          <p:nvPr/>
        </p:nvSpPr>
        <p:spPr>
          <a:xfrm>
            <a:off x="6324600" y="2647950"/>
            <a:ext cx="2381250" cy="200025"/>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SLO-aware serving</a:t>
            </a:r>
          </a:p>
        </p:txBody>
      </p:sp>
      <p:sp>
        <p:nvSpPr>
          <p:cNvPr id="90" name="s10-outcome-detail-1">
            <a:extLst>
              <a:ext uri="{FF2B5EF4-FFF2-40B4-BE49-F238E27FC236}">
                <a16:creationId xmlns:a16="http://schemas.microsoft.com/office/drawing/2014/main" id="{A641F68D-9AE9-4BA0-AA00-E1D5C68A6813}"/>
              </a:ext>
            </a:extLst>
          </p:cNvPr>
          <p:cNvSpPr>
            <a:spLocks noGrp="1"/>
          </p:cNvSpPr>
          <p:nvPr/>
        </p:nvSpPr>
        <p:spPr>
          <a:xfrm>
            <a:off x="6324600" y="2838450"/>
            <a:ext cx="2381250" cy="1714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Meet TTFT and TPOT objectives</a:t>
            </a:r>
          </a:p>
        </p:txBody>
      </p:sp>
      <p:sp>
        <p:nvSpPr>
          <p:cNvPr id="91" name="s10-outcome-marker-2">
            <a:extLst>
              <a:ext uri="{FF2B5EF4-FFF2-40B4-BE49-F238E27FC236}">
                <a16:creationId xmlns:a16="http://schemas.microsoft.com/office/drawing/2014/main" id="{6BDD2701-401F-4FBD-B506-F3FD1E2D4A77}"/>
              </a:ext>
            </a:extLst>
          </p:cNvPr>
          <p:cNvSpPr>
            <a:spLocks noGrp="1"/>
          </p:cNvSpPr>
          <p:nvPr/>
        </p:nvSpPr>
        <p:spPr>
          <a:xfrm>
            <a:off x="6115050" y="3114675"/>
            <a:ext cx="95250" cy="95250"/>
          </a:xfrm>
          <a:prstGeom prst="ellipse">
            <a:avLst/>
          </a:prstGeom>
          <a:solidFill>
            <a:srgbClr val="F35B91"/>
          </a:solidFill>
          <a:ln w="0">
            <a:solidFill>
              <a:srgbClr val="F35B91"/>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92" name="s10-outcome-title-2">
            <a:extLst>
              <a:ext uri="{FF2B5EF4-FFF2-40B4-BE49-F238E27FC236}">
                <a16:creationId xmlns:a16="http://schemas.microsoft.com/office/drawing/2014/main" id="{D254A5AE-7330-4F9B-BC3B-B403B0DB9225}"/>
              </a:ext>
            </a:extLst>
          </p:cNvPr>
          <p:cNvSpPr>
            <a:spLocks noGrp="1"/>
          </p:cNvSpPr>
          <p:nvPr/>
        </p:nvSpPr>
        <p:spPr>
          <a:xfrm>
            <a:off x="6324600" y="3057525"/>
            <a:ext cx="2381250" cy="200025"/>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High reliability</a:t>
            </a:r>
          </a:p>
        </p:txBody>
      </p:sp>
      <p:sp>
        <p:nvSpPr>
          <p:cNvPr id="93" name="s10-outcome-detail-2">
            <a:extLst>
              <a:ext uri="{FF2B5EF4-FFF2-40B4-BE49-F238E27FC236}">
                <a16:creationId xmlns:a16="http://schemas.microsoft.com/office/drawing/2014/main" id="{F4993341-8833-4BF5-9684-08E7B358EB22}"/>
              </a:ext>
            </a:extLst>
          </p:cNvPr>
          <p:cNvSpPr>
            <a:spLocks noGrp="1"/>
          </p:cNvSpPr>
          <p:nvPr/>
        </p:nvSpPr>
        <p:spPr>
          <a:xfrm>
            <a:off x="6324600" y="3248025"/>
            <a:ext cx="2381250" cy="1714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Sustain token delivery through failures</a:t>
            </a:r>
          </a:p>
        </p:txBody>
      </p:sp>
      <p:sp>
        <p:nvSpPr>
          <p:cNvPr id="94" name="s10-outcome-marker-3">
            <a:extLst>
              <a:ext uri="{FF2B5EF4-FFF2-40B4-BE49-F238E27FC236}">
                <a16:creationId xmlns:a16="http://schemas.microsoft.com/office/drawing/2014/main" id="{002AB8EA-107F-45C3-9829-4E254042820F}"/>
              </a:ext>
            </a:extLst>
          </p:cNvPr>
          <p:cNvSpPr>
            <a:spLocks noGrp="1"/>
          </p:cNvSpPr>
          <p:nvPr/>
        </p:nvSpPr>
        <p:spPr>
          <a:xfrm>
            <a:off x="6115050" y="3524250"/>
            <a:ext cx="95250" cy="95250"/>
          </a:xfrm>
          <a:prstGeom prst="ellipse">
            <a:avLst/>
          </a:prstGeom>
          <a:solidFill>
            <a:srgbClr val="D79A16"/>
          </a:solidFill>
          <a:ln w="0">
            <a:solidFill>
              <a:srgbClr val="D79A1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95" name="s10-outcome-title-3">
            <a:extLst>
              <a:ext uri="{FF2B5EF4-FFF2-40B4-BE49-F238E27FC236}">
                <a16:creationId xmlns:a16="http://schemas.microsoft.com/office/drawing/2014/main" id="{E72DA9C4-0775-422B-97F2-24409FACDAD8}"/>
              </a:ext>
            </a:extLst>
          </p:cNvPr>
          <p:cNvSpPr>
            <a:spLocks noGrp="1"/>
          </p:cNvSpPr>
          <p:nvPr/>
        </p:nvSpPr>
        <p:spPr>
          <a:xfrm>
            <a:off x="6324600" y="3467100"/>
            <a:ext cx="2381250" cy="200025"/>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25" b="1">
                <a:solidFill>
                  <a:srgbClr val="10223A"/>
                </a:solidFill>
              </a:defRPr>
            </a:pPr>
            <a:r>
              <a:rPr kumimoji="0" sz="1000" b="1" i="0" u="none" strike="noStrike" kern="0" cap="none" spc="0" normalizeH="0" baseline="0" noProof="0">
                <a:ln>
                  <a:noFill/>
                </a:ln>
                <a:solidFill>
                  <a:srgbClr val="10223A"/>
                </a:solidFill>
                <a:effectLst/>
                <a:uLnTx/>
                <a:uFillTx/>
                <a:latin typeface="Arial"/>
                <a:cs typeface="Arial"/>
                <a:sym typeface="Arial"/>
              </a:rPr>
              <a:t>Unit economics</a:t>
            </a:r>
          </a:p>
        </p:txBody>
      </p:sp>
      <p:sp>
        <p:nvSpPr>
          <p:cNvPr id="96" name="s10-outcome-detail-3">
            <a:extLst>
              <a:ext uri="{FF2B5EF4-FFF2-40B4-BE49-F238E27FC236}">
                <a16:creationId xmlns:a16="http://schemas.microsoft.com/office/drawing/2014/main" id="{A47F178F-57D5-4784-B9D3-555258513158}"/>
              </a:ext>
            </a:extLst>
          </p:cNvPr>
          <p:cNvSpPr>
            <a:spLocks noGrp="1"/>
          </p:cNvSpPr>
          <p:nvPr/>
        </p:nvSpPr>
        <p:spPr>
          <a:xfrm>
            <a:off x="6324600" y="3657600"/>
            <a:ext cx="2381250" cy="1714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638"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Optimize model × workload × performance × cost</a:t>
            </a:r>
          </a:p>
        </p:txBody>
      </p:sp>
      <p:sp>
        <p:nvSpPr>
          <p:cNvPr id="97" name="metric-top-rule">
            <a:extLst>
              <a:ext uri="{FF2B5EF4-FFF2-40B4-BE49-F238E27FC236}">
                <a16:creationId xmlns:a16="http://schemas.microsoft.com/office/drawing/2014/main" id="{3D8CBCC6-EBA9-4A36-91E2-37B7D839B7FF}"/>
              </a:ext>
            </a:extLst>
          </p:cNvPr>
          <p:cNvSpPr>
            <a:spLocks noGrp="1"/>
          </p:cNvSpPr>
          <p:nvPr/>
        </p:nvSpPr>
        <p:spPr>
          <a:xfrm>
            <a:off x="285750" y="4171950"/>
            <a:ext cx="8572500"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98" name="metric-value-0">
            <a:extLst>
              <a:ext uri="{FF2B5EF4-FFF2-40B4-BE49-F238E27FC236}">
                <a16:creationId xmlns:a16="http://schemas.microsoft.com/office/drawing/2014/main" id="{C3B19F29-F7A2-46A2-B857-F9F7D78F2B3E}"/>
              </a:ext>
            </a:extLst>
          </p:cNvPr>
          <p:cNvSpPr>
            <a:spLocks noGrp="1"/>
          </p:cNvSpPr>
          <p:nvPr/>
        </p:nvSpPr>
        <p:spPr>
          <a:xfrm>
            <a:off x="36195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59B64"/>
                </a:solidFill>
              </a:defRPr>
            </a:pPr>
            <a:r>
              <a:rPr kumimoji="0" b="1" i="0" u="none" strike="noStrike" kern="0" cap="none" spc="0" normalizeH="0" baseline="0" noProof="0">
                <a:ln>
                  <a:noFill/>
                </a:ln>
                <a:solidFill>
                  <a:srgbClr val="159B64"/>
                </a:solidFill>
                <a:effectLst/>
                <a:uLnTx/>
                <a:uFillTx/>
                <a:latin typeface="Arial"/>
                <a:cs typeface="Arial"/>
                <a:sym typeface="Arial"/>
              </a:rPr>
              <a:t>99.99%</a:t>
            </a:r>
          </a:p>
        </p:txBody>
      </p:sp>
      <p:sp>
        <p:nvSpPr>
          <p:cNvPr id="99" name="metric-label-0">
            <a:extLst>
              <a:ext uri="{FF2B5EF4-FFF2-40B4-BE49-F238E27FC236}">
                <a16:creationId xmlns:a16="http://schemas.microsoft.com/office/drawing/2014/main" id="{16F13497-668D-44DC-9120-C722AE3D6DCA}"/>
              </a:ext>
            </a:extLst>
          </p:cNvPr>
          <p:cNvSpPr>
            <a:spLocks noGrp="1"/>
          </p:cNvSpPr>
          <p:nvPr/>
        </p:nvSpPr>
        <p:spPr>
          <a:xfrm>
            <a:off x="36195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Availability</a:t>
            </a:r>
          </a:p>
        </p:txBody>
      </p:sp>
      <p:sp>
        <p:nvSpPr>
          <p:cNvPr id="100" name="metric-divider-1">
            <a:extLst>
              <a:ext uri="{FF2B5EF4-FFF2-40B4-BE49-F238E27FC236}">
                <a16:creationId xmlns:a16="http://schemas.microsoft.com/office/drawing/2014/main" id="{F46832C0-3CD3-420C-80F1-B897CE471F87}"/>
              </a:ext>
            </a:extLst>
          </p:cNvPr>
          <p:cNvSpPr>
            <a:spLocks noGrp="1"/>
          </p:cNvSpPr>
          <p:nvPr/>
        </p:nvSpPr>
        <p:spPr>
          <a:xfrm>
            <a:off x="1714500" y="4267200"/>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01" name="metric-value-1">
            <a:extLst>
              <a:ext uri="{FF2B5EF4-FFF2-40B4-BE49-F238E27FC236}">
                <a16:creationId xmlns:a16="http://schemas.microsoft.com/office/drawing/2014/main" id="{1DBE53FB-6FAE-440E-A947-7C63579E245E}"/>
              </a:ext>
            </a:extLst>
          </p:cNvPr>
          <p:cNvSpPr>
            <a:spLocks noGrp="1"/>
          </p:cNvSpPr>
          <p:nvPr/>
        </p:nvSpPr>
        <p:spPr>
          <a:xfrm>
            <a:off x="179070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3D3DE0"/>
                </a:solidFill>
              </a:defRPr>
            </a:pPr>
            <a:r>
              <a:rPr kumimoji="0" b="1" i="0" u="none" strike="noStrike" kern="0" cap="none" spc="0" normalizeH="0" baseline="0" noProof="0">
                <a:ln>
                  <a:noFill/>
                </a:ln>
                <a:solidFill>
                  <a:srgbClr val="3D3DE0"/>
                </a:solidFill>
                <a:effectLst/>
                <a:uLnTx/>
                <a:uFillTx/>
                <a:latin typeface="Arial"/>
                <a:cs typeface="Arial"/>
                <a:sym typeface="Arial"/>
              </a:rPr>
              <a:t>10M tok/s</a:t>
            </a:r>
          </a:p>
        </p:txBody>
      </p:sp>
      <p:sp>
        <p:nvSpPr>
          <p:cNvPr id="102" name="metric-label-1">
            <a:extLst>
              <a:ext uri="{FF2B5EF4-FFF2-40B4-BE49-F238E27FC236}">
                <a16:creationId xmlns:a16="http://schemas.microsoft.com/office/drawing/2014/main" id="{9F41342A-80B3-4D40-81AD-330623B5F7E6}"/>
              </a:ext>
            </a:extLst>
          </p:cNvPr>
          <p:cNvSpPr>
            <a:spLocks noGrp="1"/>
          </p:cNvSpPr>
          <p:nvPr/>
        </p:nvSpPr>
        <p:spPr>
          <a:xfrm>
            <a:off x="179070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Throughput</a:t>
            </a:r>
          </a:p>
        </p:txBody>
      </p:sp>
      <p:sp>
        <p:nvSpPr>
          <p:cNvPr id="103" name="metric-divider-2">
            <a:extLst>
              <a:ext uri="{FF2B5EF4-FFF2-40B4-BE49-F238E27FC236}">
                <a16:creationId xmlns:a16="http://schemas.microsoft.com/office/drawing/2014/main" id="{4AAB342F-9724-4B09-9C1A-63BFEB671B96}"/>
              </a:ext>
            </a:extLst>
          </p:cNvPr>
          <p:cNvSpPr>
            <a:spLocks noGrp="1"/>
          </p:cNvSpPr>
          <p:nvPr/>
        </p:nvSpPr>
        <p:spPr>
          <a:xfrm>
            <a:off x="3143250" y="4267200"/>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04" name="metric-value-2">
            <a:extLst>
              <a:ext uri="{FF2B5EF4-FFF2-40B4-BE49-F238E27FC236}">
                <a16:creationId xmlns:a16="http://schemas.microsoft.com/office/drawing/2014/main" id="{EAB060D2-F847-4971-8D06-FBF12DD64973}"/>
              </a:ext>
            </a:extLst>
          </p:cNvPr>
          <p:cNvSpPr>
            <a:spLocks noGrp="1"/>
          </p:cNvSpPr>
          <p:nvPr/>
        </p:nvSpPr>
        <p:spPr>
          <a:xfrm>
            <a:off x="321945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3A7C7"/>
                </a:solidFill>
              </a:defRPr>
            </a:pPr>
            <a:r>
              <a:rPr kumimoji="0" b="1" i="0" u="none" strike="noStrike" kern="0" cap="none" spc="0" normalizeH="0" baseline="0" noProof="0">
                <a:ln>
                  <a:noFill/>
                </a:ln>
                <a:solidFill>
                  <a:srgbClr val="13A7C7"/>
                </a:solidFill>
                <a:effectLst/>
                <a:uLnTx/>
                <a:uFillTx/>
                <a:latin typeface="Arial"/>
                <a:cs typeface="Arial"/>
                <a:sym typeface="Arial"/>
              </a:rPr>
              <a:t>&lt;2s</a:t>
            </a:r>
          </a:p>
        </p:txBody>
      </p:sp>
      <p:sp>
        <p:nvSpPr>
          <p:cNvPr id="105" name="metric-label-2">
            <a:extLst>
              <a:ext uri="{FF2B5EF4-FFF2-40B4-BE49-F238E27FC236}">
                <a16:creationId xmlns:a16="http://schemas.microsoft.com/office/drawing/2014/main" id="{0B5B2D41-1A25-4851-BF70-2E6FAE7183EA}"/>
              </a:ext>
            </a:extLst>
          </p:cNvPr>
          <p:cNvSpPr>
            <a:spLocks noGrp="1"/>
          </p:cNvSpPr>
          <p:nvPr/>
        </p:nvSpPr>
        <p:spPr>
          <a:xfrm>
            <a:off x="321945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Short TTFT</a:t>
            </a:r>
          </a:p>
        </p:txBody>
      </p:sp>
      <p:sp>
        <p:nvSpPr>
          <p:cNvPr id="106" name="metric-divider-3">
            <a:extLst>
              <a:ext uri="{FF2B5EF4-FFF2-40B4-BE49-F238E27FC236}">
                <a16:creationId xmlns:a16="http://schemas.microsoft.com/office/drawing/2014/main" id="{0B6C4066-644E-4794-949F-95636CC5047F}"/>
              </a:ext>
            </a:extLst>
          </p:cNvPr>
          <p:cNvSpPr>
            <a:spLocks noGrp="1"/>
          </p:cNvSpPr>
          <p:nvPr/>
        </p:nvSpPr>
        <p:spPr>
          <a:xfrm>
            <a:off x="4572000" y="4267200"/>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07" name="metric-value-3">
            <a:extLst>
              <a:ext uri="{FF2B5EF4-FFF2-40B4-BE49-F238E27FC236}">
                <a16:creationId xmlns:a16="http://schemas.microsoft.com/office/drawing/2014/main" id="{B54D4F42-B9AA-4269-B1BE-1D58F9452300}"/>
              </a:ext>
            </a:extLst>
          </p:cNvPr>
          <p:cNvSpPr>
            <a:spLocks noGrp="1"/>
          </p:cNvSpPr>
          <p:nvPr/>
        </p:nvSpPr>
        <p:spPr>
          <a:xfrm>
            <a:off x="464820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D79A16"/>
                </a:solidFill>
              </a:defRPr>
            </a:pPr>
            <a:r>
              <a:rPr kumimoji="0" b="1" i="0" u="none" strike="noStrike" kern="0" cap="none" spc="0" normalizeH="0" baseline="0" noProof="0">
                <a:ln>
                  <a:noFill/>
                </a:ln>
                <a:solidFill>
                  <a:srgbClr val="D79A16"/>
                </a:solidFill>
                <a:effectLst/>
                <a:uLnTx/>
                <a:uFillTx/>
                <a:latin typeface="Arial"/>
                <a:cs typeface="Arial"/>
                <a:sym typeface="Arial"/>
              </a:rPr>
              <a:t>&lt;30s</a:t>
            </a:r>
          </a:p>
        </p:txBody>
      </p:sp>
      <p:sp>
        <p:nvSpPr>
          <p:cNvPr id="108" name="metric-label-3">
            <a:extLst>
              <a:ext uri="{FF2B5EF4-FFF2-40B4-BE49-F238E27FC236}">
                <a16:creationId xmlns:a16="http://schemas.microsoft.com/office/drawing/2014/main" id="{6B3A6023-86AC-405D-801E-39C2016576E6}"/>
              </a:ext>
            </a:extLst>
          </p:cNvPr>
          <p:cNvSpPr>
            <a:spLocks noGrp="1"/>
          </p:cNvSpPr>
          <p:nvPr/>
        </p:nvSpPr>
        <p:spPr>
          <a:xfrm>
            <a:off x="464820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Long TTFT</a:t>
            </a:r>
          </a:p>
        </p:txBody>
      </p:sp>
      <p:sp>
        <p:nvSpPr>
          <p:cNvPr id="109" name="metric-divider-4">
            <a:extLst>
              <a:ext uri="{FF2B5EF4-FFF2-40B4-BE49-F238E27FC236}">
                <a16:creationId xmlns:a16="http://schemas.microsoft.com/office/drawing/2014/main" id="{1C4ACFF9-B64F-4CB1-B3DF-9936C341C68C}"/>
              </a:ext>
            </a:extLst>
          </p:cNvPr>
          <p:cNvSpPr>
            <a:spLocks noGrp="1"/>
          </p:cNvSpPr>
          <p:nvPr/>
        </p:nvSpPr>
        <p:spPr>
          <a:xfrm>
            <a:off x="6000750" y="4267200"/>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10" name="metric-value-4">
            <a:extLst>
              <a:ext uri="{FF2B5EF4-FFF2-40B4-BE49-F238E27FC236}">
                <a16:creationId xmlns:a16="http://schemas.microsoft.com/office/drawing/2014/main" id="{C67BEFC9-CF9B-43E1-8BF6-BDE02BDA4B07}"/>
              </a:ext>
            </a:extLst>
          </p:cNvPr>
          <p:cNvSpPr>
            <a:spLocks noGrp="1"/>
          </p:cNvSpPr>
          <p:nvPr/>
        </p:nvSpPr>
        <p:spPr>
          <a:xfrm>
            <a:off x="607695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F35B91"/>
                </a:solidFill>
              </a:defRPr>
            </a:pPr>
            <a:r>
              <a:rPr kumimoji="0" b="1" i="0" u="none" strike="noStrike" kern="0" cap="none" spc="0" normalizeH="0" baseline="0" noProof="0">
                <a:ln>
                  <a:noFill/>
                </a:ln>
                <a:solidFill>
                  <a:srgbClr val="F35B91"/>
                </a:solidFill>
                <a:effectLst/>
                <a:uLnTx/>
                <a:uFillTx/>
                <a:latin typeface="Arial"/>
                <a:cs typeface="Arial"/>
                <a:sym typeface="Arial"/>
              </a:rPr>
              <a:t>&lt;40ms</a:t>
            </a:r>
          </a:p>
        </p:txBody>
      </p:sp>
      <p:sp>
        <p:nvSpPr>
          <p:cNvPr id="111" name="metric-label-4">
            <a:extLst>
              <a:ext uri="{FF2B5EF4-FFF2-40B4-BE49-F238E27FC236}">
                <a16:creationId xmlns:a16="http://schemas.microsoft.com/office/drawing/2014/main" id="{6431828C-E704-4A80-98D4-6F0B3D4FC526}"/>
              </a:ext>
            </a:extLst>
          </p:cNvPr>
          <p:cNvSpPr>
            <a:spLocks noGrp="1"/>
          </p:cNvSpPr>
          <p:nvPr/>
        </p:nvSpPr>
        <p:spPr>
          <a:xfrm>
            <a:off x="607695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TPOT</a:t>
            </a:r>
          </a:p>
        </p:txBody>
      </p:sp>
      <p:sp>
        <p:nvSpPr>
          <p:cNvPr id="112" name="metric-divider-5">
            <a:extLst>
              <a:ext uri="{FF2B5EF4-FFF2-40B4-BE49-F238E27FC236}">
                <a16:creationId xmlns:a16="http://schemas.microsoft.com/office/drawing/2014/main" id="{3980B965-FB6F-46FC-ADD2-354156DCEC23}"/>
              </a:ext>
            </a:extLst>
          </p:cNvPr>
          <p:cNvSpPr>
            <a:spLocks noGrp="1"/>
          </p:cNvSpPr>
          <p:nvPr/>
        </p:nvSpPr>
        <p:spPr>
          <a:xfrm>
            <a:off x="7429500" y="4267200"/>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800" b="0" i="0" u="none" strike="noStrike" kern="0" cap="none" spc="0" normalizeH="0" baseline="0" noProof="0">
              <a:ln>
                <a:noFill/>
              </a:ln>
              <a:solidFill>
                <a:srgbClr val="000000"/>
              </a:solidFill>
              <a:effectLst/>
              <a:uLnTx/>
              <a:uFillTx/>
              <a:latin typeface="Arial"/>
              <a:cs typeface="Arial"/>
              <a:sym typeface="Arial"/>
            </a:endParaRPr>
          </a:p>
        </p:txBody>
      </p:sp>
      <p:sp>
        <p:nvSpPr>
          <p:cNvPr id="113" name="metric-value-5">
            <a:extLst>
              <a:ext uri="{FF2B5EF4-FFF2-40B4-BE49-F238E27FC236}">
                <a16:creationId xmlns:a16="http://schemas.microsoft.com/office/drawing/2014/main" id="{662D11FA-AD49-47E9-8481-33DF356CF149}"/>
              </a:ext>
            </a:extLst>
          </p:cNvPr>
          <p:cNvSpPr>
            <a:spLocks noGrp="1"/>
          </p:cNvSpPr>
          <p:nvPr/>
        </p:nvSpPr>
        <p:spPr>
          <a:xfrm>
            <a:off x="7505700" y="4267200"/>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59B64"/>
                </a:solidFill>
              </a:defRPr>
            </a:pPr>
            <a:r>
              <a:rPr kumimoji="0" b="1" i="0" u="none" strike="noStrike" kern="0" cap="none" spc="0" normalizeH="0" baseline="0" noProof="0">
                <a:ln>
                  <a:noFill/>
                </a:ln>
                <a:solidFill>
                  <a:srgbClr val="159B64"/>
                </a:solidFill>
                <a:effectLst/>
                <a:uLnTx/>
                <a:uFillTx/>
                <a:latin typeface="Arial"/>
                <a:cs typeface="Arial"/>
                <a:sym typeface="Arial"/>
              </a:rPr>
              <a:t>&gt;90%</a:t>
            </a:r>
          </a:p>
        </p:txBody>
      </p:sp>
      <p:sp>
        <p:nvSpPr>
          <p:cNvPr id="114" name="metric-label-5">
            <a:extLst>
              <a:ext uri="{FF2B5EF4-FFF2-40B4-BE49-F238E27FC236}">
                <a16:creationId xmlns:a16="http://schemas.microsoft.com/office/drawing/2014/main" id="{24B8BDF0-7903-4715-9589-C7B86A1F7BE7}"/>
              </a:ext>
            </a:extLst>
          </p:cNvPr>
          <p:cNvSpPr>
            <a:spLocks noGrp="1"/>
          </p:cNvSpPr>
          <p:nvPr/>
        </p:nvSpPr>
        <p:spPr>
          <a:xfrm>
            <a:off x="7505700" y="4514850"/>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800" b="0" i="0" u="none" strike="noStrike" kern="0" cap="none" spc="0" normalizeH="0" baseline="0" noProof="0">
                <a:ln>
                  <a:noFill/>
                </a:ln>
                <a:solidFill>
                  <a:srgbClr val="58657A"/>
                </a:solidFill>
                <a:effectLst/>
                <a:uLnTx/>
                <a:uFillTx/>
                <a:latin typeface="Arial"/>
                <a:cs typeface="Arial"/>
                <a:sym typeface="Arial"/>
              </a:rPr>
              <a:t>KV-cache hit rate</a:t>
            </a:r>
          </a:p>
        </p:txBody>
      </p:sp>
      <p:sp>
        <p:nvSpPr>
          <p:cNvPr id="115" name="metric-caption">
            <a:extLst>
              <a:ext uri="{FF2B5EF4-FFF2-40B4-BE49-F238E27FC236}">
                <a16:creationId xmlns:a16="http://schemas.microsoft.com/office/drawing/2014/main" id="{AE7F2B56-5745-466E-8B39-C5958609EEFC}"/>
              </a:ext>
            </a:extLst>
          </p:cNvPr>
          <p:cNvSpPr>
            <a:spLocks noGrp="1"/>
          </p:cNvSpPr>
          <p:nvPr/>
        </p:nvSpPr>
        <p:spPr>
          <a:xfrm>
            <a:off x="285750" y="4772025"/>
            <a:ext cx="8572500" cy="114300"/>
          </a:xfrm>
          <a:prstGeom prst="rect">
            <a:avLst/>
          </a:prstGeom>
          <a:noFill/>
          <a:ln w="0">
            <a:noFill/>
            <a:prstDash val="solid"/>
          </a:ln>
        </p:spPr>
        <p:txBody>
          <a:bodyPr wrap="none"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sz="563" b="0">
                <a:solidFill>
                  <a:srgbClr val="7B8798"/>
                </a:solidFill>
              </a:defRPr>
            </a:pPr>
            <a:r>
              <a:rPr kumimoji="0" sz="800" b="0" i="0" u="none" strike="noStrike" kern="0" cap="none" spc="0" normalizeH="0" baseline="0" noProof="0" dirty="0">
                <a:ln>
                  <a:noFill/>
                </a:ln>
                <a:solidFill>
                  <a:srgbClr val="7B8798"/>
                </a:solidFill>
                <a:effectLst/>
                <a:uLnTx/>
                <a:uFillTx/>
                <a:latin typeface="Arial"/>
                <a:cs typeface="Arial"/>
                <a:sym typeface="Arial"/>
              </a:rPr>
              <a:t>Illustrative production targets</a:t>
            </a:r>
          </a:p>
        </p:txBody>
      </p:sp>
    </p:spTree>
    <p:extLst>
      <p:ext uri="{BB962C8B-B14F-4D97-AF65-F5344CB8AC3E}">
        <p14:creationId xmlns:p14="http://schemas.microsoft.com/office/powerpoint/2010/main" val="156425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9-title">
            <a:extLst>
              <a:ext uri="{FF2B5EF4-FFF2-40B4-BE49-F238E27FC236}">
                <a16:creationId xmlns:a16="http://schemas.microsoft.com/office/drawing/2014/main" id="{449E39C9-C99B-48E6-8D7D-382E711BF04B}"/>
              </a:ext>
            </a:extLst>
          </p:cNvPr>
          <p:cNvSpPr>
            <a:spLocks noGrp="1"/>
          </p:cNvSpPr>
          <p:nvPr/>
        </p:nvSpPr>
        <p:spPr>
          <a:xfrm>
            <a:off x="285750" y="190500"/>
            <a:ext cx="8572500" cy="342900"/>
          </a:xfrm>
          <a:prstGeom prst="rect">
            <a:avLst/>
          </a:prstGeom>
          <a:noFill/>
          <a:ln w="0">
            <a:noFill/>
            <a:prstDash val="solid"/>
          </a:ln>
        </p:spPr>
        <p:txBody>
          <a:bodyPr wrap="none" anchor="ctr"/>
          <a:lstStyle/>
          <a:p>
            <a:pPr lvl="0">
              <a:defRPr sz="2100" b="1">
                <a:solidFill>
                  <a:srgbClr val="10223A"/>
                </a:solidFill>
              </a:defRPr>
            </a:pPr>
            <a:r>
              <a:rPr lang="en-US" altLang="zh-CN" dirty="0"/>
              <a:t>Challenges of</a:t>
            </a:r>
            <a:r>
              <a:rPr lang="zh-CN" altLang="en-US" dirty="0"/>
              <a:t> </a:t>
            </a:r>
            <a:r>
              <a:rPr lang="en-US" altLang="zh-CN" dirty="0"/>
              <a:t>Real</a:t>
            </a:r>
            <a:r>
              <a:rPr lang="zh-CN" altLang="en-US" dirty="0"/>
              <a:t> </a:t>
            </a:r>
            <a:r>
              <a:rPr lang="en-US" altLang="zh-CN" sz="2100" b="1" dirty="0">
                <a:solidFill>
                  <a:srgbClr val="10223A"/>
                </a:solidFill>
              </a:rPr>
              <a:t>Production Inference</a:t>
            </a:r>
            <a:endParaRPr sz="2100" b="1" dirty="0">
              <a:solidFill>
                <a:srgbClr val="10223A"/>
              </a:solidFill>
            </a:endParaRPr>
          </a:p>
        </p:txBody>
      </p:sp>
      <p:sp>
        <p:nvSpPr>
          <p:cNvPr id="3" name="s9-subtitle">
            <a:extLst>
              <a:ext uri="{FF2B5EF4-FFF2-40B4-BE49-F238E27FC236}">
                <a16:creationId xmlns:a16="http://schemas.microsoft.com/office/drawing/2014/main" id="{2E84E3EE-0CE4-4AA8-B3FF-92680648F4FE}"/>
              </a:ext>
            </a:extLst>
          </p:cNvPr>
          <p:cNvSpPr>
            <a:spLocks noGrp="1"/>
          </p:cNvSpPr>
          <p:nvPr/>
        </p:nvSpPr>
        <p:spPr>
          <a:xfrm>
            <a:off x="304800" y="552450"/>
            <a:ext cx="8524875" cy="266700"/>
          </a:xfrm>
          <a:prstGeom prst="rect">
            <a:avLst/>
          </a:prstGeom>
          <a:noFill/>
          <a:ln w="0">
            <a:noFill/>
            <a:prstDash val="solid"/>
          </a:ln>
        </p:spPr>
        <p:txBody>
          <a:bodyPr wrap="none" anchor="ctr"/>
          <a:lstStyle/>
          <a:p>
            <a:pPr lvl="0">
              <a:defRPr sz="900" b="0">
                <a:solidFill>
                  <a:srgbClr val="58657A"/>
                </a:solidFill>
              </a:defRPr>
            </a:pPr>
            <a:r>
              <a:rPr lang="en" sz="900" dirty="0">
                <a:solidFill>
                  <a:srgbClr val="58657A"/>
                </a:solidFill>
              </a:rPr>
              <a:t>Production requires sustained token capacity, predictable SLOs, and measurable unit economics.</a:t>
            </a:r>
            <a:endParaRPr kumimoji="0" sz="900" b="0" i="0" u="none" strike="noStrike" kern="0" cap="none" spc="0" normalizeH="0" baseline="0" noProof="0" dirty="0">
              <a:ln>
                <a:noFill/>
              </a:ln>
              <a:solidFill>
                <a:srgbClr val="58657A"/>
              </a:solidFill>
              <a:effectLst/>
              <a:uLnTx/>
              <a:uFillTx/>
              <a:latin typeface="Arial"/>
              <a:cs typeface="Arial"/>
              <a:sym typeface="Arial"/>
            </a:endParaRPr>
          </a:p>
        </p:txBody>
      </p:sp>
      <p:sp>
        <p:nvSpPr>
          <p:cNvPr id="4" name="s9-accent">
            <a:extLst>
              <a:ext uri="{FF2B5EF4-FFF2-40B4-BE49-F238E27FC236}">
                <a16:creationId xmlns:a16="http://schemas.microsoft.com/office/drawing/2014/main" id="{CA320049-4277-4619-8F99-A6890E9B5E9D}"/>
              </a:ext>
            </a:extLst>
          </p:cNvPr>
          <p:cNvSpPr>
            <a:spLocks noGrp="1"/>
          </p:cNvSpPr>
          <p:nvPr/>
        </p:nvSpPr>
        <p:spPr>
          <a:xfrm>
            <a:off x="285750" y="876300"/>
            <a:ext cx="762000" cy="38100"/>
          </a:xfrm>
          <a:prstGeom prst="rect">
            <a:avLst/>
          </a:prstGeom>
          <a:solidFill>
            <a:srgbClr val="3D3DE0"/>
          </a:solidFill>
          <a:ln w="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s9-transition-field">
            <a:extLst>
              <a:ext uri="{FF2B5EF4-FFF2-40B4-BE49-F238E27FC236}">
                <a16:creationId xmlns:a16="http://schemas.microsoft.com/office/drawing/2014/main" id="{8086E661-7428-4085-AADB-F692DD00C01B}"/>
              </a:ext>
            </a:extLst>
          </p:cNvPr>
          <p:cNvSpPr>
            <a:spLocks noGrp="1"/>
          </p:cNvSpPr>
          <p:nvPr/>
        </p:nvSpPr>
        <p:spPr>
          <a:xfrm>
            <a:off x="285750" y="1066800"/>
            <a:ext cx="1809750" cy="2095500"/>
          </a:xfrm>
          <a:prstGeom prst="roundRect">
            <a:avLst>
              <a:gd name="adj" fmla="val 6316"/>
            </a:avLst>
          </a:prstGeom>
          <a:solidFill>
            <a:srgbClr val="EEF0FF"/>
          </a:solidFill>
          <a:ln w="9525">
            <a:solidFill>
              <a:srgbClr val="C9CEF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s9-transition-start">
            <a:extLst>
              <a:ext uri="{FF2B5EF4-FFF2-40B4-BE49-F238E27FC236}">
                <a16:creationId xmlns:a16="http://schemas.microsoft.com/office/drawing/2014/main" id="{E739073C-CCED-4054-9D99-2B72D2117069}"/>
              </a:ext>
            </a:extLst>
          </p:cNvPr>
          <p:cNvSpPr>
            <a:spLocks noGrp="1"/>
          </p:cNvSpPr>
          <p:nvPr/>
        </p:nvSpPr>
        <p:spPr>
          <a:xfrm>
            <a:off x="762000" y="1220360"/>
            <a:ext cx="1466850" cy="609600"/>
          </a:xfrm>
          <a:prstGeom prst="rect">
            <a:avLst/>
          </a:prstGeom>
          <a:noFill/>
          <a:ln w="0">
            <a:noFill/>
            <a:prstDash val="solid"/>
          </a:ln>
        </p:spPr>
        <p:txBody>
          <a:bodyPr wrap="squar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725" b="1">
                <a:solidFill>
                  <a:srgbClr val="10223A"/>
                </a:solidFill>
              </a:defRPr>
            </a:pPr>
            <a:r>
              <a:rPr sz="1200" b="1" dirty="0">
                <a:solidFill>
                  <a:srgbClr val="3D3DE0"/>
                </a:solidFill>
              </a:rPr>
              <a:t>A model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725" b="1">
                <a:solidFill>
                  <a:srgbClr val="10223A"/>
                </a:solidFill>
              </a:defRPr>
            </a:pPr>
            <a:r>
              <a:rPr sz="1200" b="1" dirty="0">
                <a:solidFill>
                  <a:srgbClr val="3D3DE0"/>
                </a:solidFill>
              </a:rPr>
              <a:t>that runs</a:t>
            </a:r>
          </a:p>
        </p:txBody>
      </p:sp>
      <p:sp>
        <p:nvSpPr>
          <p:cNvPr id="8" name="s9-transition-arrow">
            <a:extLst>
              <a:ext uri="{FF2B5EF4-FFF2-40B4-BE49-F238E27FC236}">
                <a16:creationId xmlns:a16="http://schemas.microsoft.com/office/drawing/2014/main" id="{E02AADF8-65FF-483D-AF6F-EC81971D62BE}"/>
              </a:ext>
            </a:extLst>
          </p:cNvPr>
          <p:cNvSpPr>
            <a:spLocks noGrp="1"/>
          </p:cNvSpPr>
          <p:nvPr/>
        </p:nvSpPr>
        <p:spPr>
          <a:xfrm>
            <a:off x="457200" y="1914525"/>
            <a:ext cx="1466850" cy="2667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650" b="1">
                <a:solidFill>
                  <a:srgbClr val="F35B91"/>
                </a:solidFill>
              </a:defRPr>
            </a:pPr>
            <a:r>
              <a:rPr kumimoji="0" sz="1650" b="1" i="0" u="none" strike="noStrike" kern="0" cap="none" spc="0" normalizeH="0" baseline="0" noProof="0" dirty="0">
                <a:ln>
                  <a:noFill/>
                </a:ln>
                <a:solidFill>
                  <a:srgbClr val="F35B91"/>
                </a:solidFill>
                <a:effectLst/>
                <a:uLnTx/>
                <a:uFillTx/>
                <a:latin typeface="Arial"/>
                <a:cs typeface="Arial"/>
                <a:sym typeface="Arial"/>
              </a:rPr>
              <a:t>↓</a:t>
            </a:r>
          </a:p>
        </p:txBody>
      </p:sp>
      <p:sp>
        <p:nvSpPr>
          <p:cNvPr id="9" name="s9-transition-end">
            <a:extLst>
              <a:ext uri="{FF2B5EF4-FFF2-40B4-BE49-F238E27FC236}">
                <a16:creationId xmlns:a16="http://schemas.microsoft.com/office/drawing/2014/main" id="{78D0A0A7-D7D3-4087-80D9-A58F669506BE}"/>
              </a:ext>
            </a:extLst>
          </p:cNvPr>
          <p:cNvSpPr>
            <a:spLocks noGrp="1"/>
          </p:cNvSpPr>
          <p:nvPr/>
        </p:nvSpPr>
        <p:spPr>
          <a:xfrm>
            <a:off x="457200" y="2361165"/>
            <a:ext cx="1466850" cy="685800"/>
          </a:xfrm>
          <a:prstGeom prst="rect">
            <a:avLst/>
          </a:prstGeom>
          <a:noFill/>
          <a:ln w="0">
            <a:noFill/>
            <a:prstDash val="solid"/>
          </a:ln>
        </p:spPr>
        <p:txBody>
          <a:bodyPr wrap="square" anchor="ctr"/>
          <a:lstStyle/>
          <a:p>
            <a:pPr lvl="0" algn="ctr">
              <a:defRPr sz="1200" b="1">
                <a:solidFill>
                  <a:srgbClr val="3D3DE0"/>
                </a:solidFill>
              </a:defRPr>
            </a:pPr>
            <a:r>
              <a:rPr lang="en" sz="1200" b="1" dirty="0">
                <a:solidFill>
                  <a:srgbClr val="3D3DE0"/>
                </a:solidFill>
              </a:rPr>
              <a:t>A Sustainable, Reliable Inference System</a:t>
            </a:r>
            <a:endParaRPr kumimoji="0" sz="1200" b="1" i="0" u="none" strike="noStrike" kern="0" cap="none" spc="0" normalizeH="0" baseline="0" noProof="0" dirty="0">
              <a:ln>
                <a:noFill/>
              </a:ln>
              <a:solidFill>
                <a:srgbClr val="3D3DE0"/>
              </a:solidFill>
              <a:effectLst/>
              <a:uLnTx/>
              <a:uFillTx/>
              <a:latin typeface="Arial"/>
              <a:cs typeface="Arial"/>
              <a:sym typeface="Arial"/>
            </a:endParaRPr>
          </a:p>
        </p:txBody>
      </p:sp>
      <p:sp>
        <p:nvSpPr>
          <p:cNvPr id="10" name="s9-capabilities-title">
            <a:extLst>
              <a:ext uri="{FF2B5EF4-FFF2-40B4-BE49-F238E27FC236}">
                <a16:creationId xmlns:a16="http://schemas.microsoft.com/office/drawing/2014/main" id="{1BECC956-C09C-476D-8333-8BF0EF8D6B29}"/>
              </a:ext>
            </a:extLst>
          </p:cNvPr>
          <p:cNvSpPr>
            <a:spLocks noGrp="1"/>
          </p:cNvSpPr>
          <p:nvPr/>
        </p:nvSpPr>
        <p:spPr>
          <a:xfrm>
            <a:off x="2381250" y="1009650"/>
            <a:ext cx="6477000" cy="238125"/>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200" b="1">
                <a:solidFill>
                  <a:srgbClr val="10223A"/>
                </a:solidFill>
              </a:defRPr>
            </a:pPr>
            <a:r>
              <a:rPr kumimoji="0" sz="1200" b="1" i="0" u="none" strike="noStrike" kern="0" cap="none" spc="0" normalizeH="0" baseline="0" noProof="0" dirty="0">
                <a:ln>
                  <a:noFill/>
                </a:ln>
                <a:solidFill>
                  <a:srgbClr val="10223A"/>
                </a:solidFill>
                <a:effectLst/>
                <a:uLnTx/>
                <a:uFillTx/>
                <a:latin typeface="Arial"/>
                <a:cs typeface="Arial"/>
                <a:sym typeface="Arial"/>
              </a:rPr>
              <a:t>Five capabilities must hold at the same time</a:t>
            </a:r>
          </a:p>
        </p:txBody>
      </p:sp>
      <p:sp>
        <p:nvSpPr>
          <p:cNvPr id="11" name="s9-capability-marker-0">
            <a:extLst>
              <a:ext uri="{FF2B5EF4-FFF2-40B4-BE49-F238E27FC236}">
                <a16:creationId xmlns:a16="http://schemas.microsoft.com/office/drawing/2014/main" id="{9EAC2D58-4157-48EF-8F01-1943D0A82826}"/>
              </a:ext>
            </a:extLst>
          </p:cNvPr>
          <p:cNvSpPr>
            <a:spLocks noGrp="1"/>
          </p:cNvSpPr>
          <p:nvPr/>
        </p:nvSpPr>
        <p:spPr>
          <a:xfrm>
            <a:off x="2400300" y="1400175"/>
            <a:ext cx="114300" cy="114300"/>
          </a:xfrm>
          <a:prstGeom prst="ellipse">
            <a:avLst/>
          </a:prstGeom>
          <a:solidFill>
            <a:srgbClr val="3D3DE0"/>
          </a:solidFill>
          <a:ln w="0">
            <a:solidFill>
              <a:srgbClr val="3D3DE0"/>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s9-capability-title-0">
            <a:extLst>
              <a:ext uri="{FF2B5EF4-FFF2-40B4-BE49-F238E27FC236}">
                <a16:creationId xmlns:a16="http://schemas.microsoft.com/office/drawing/2014/main" id="{E5DB0E47-8CBF-4645-A8F4-B221436D8686}"/>
              </a:ext>
            </a:extLst>
          </p:cNvPr>
          <p:cNvSpPr>
            <a:spLocks noGrp="1"/>
          </p:cNvSpPr>
          <p:nvPr/>
        </p:nvSpPr>
        <p:spPr>
          <a:xfrm>
            <a:off x="2628900" y="1323975"/>
            <a:ext cx="2095500" cy="247650"/>
          </a:xfrm>
          <a:prstGeom prst="rect">
            <a:avLst/>
          </a:prstGeom>
          <a:noFill/>
          <a:ln w="0">
            <a:no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b="1">
                <a:solidFill>
                  <a:srgbClr val="10223A"/>
                </a:solidFill>
              </a:defRPr>
            </a:pPr>
            <a:r>
              <a:rPr kumimoji="0" sz="900" b="1" i="0" u="none" strike="noStrike" kern="0" cap="none" spc="0" normalizeH="0" baseline="0" noProof="0" dirty="0">
                <a:ln>
                  <a:noFill/>
                </a:ln>
                <a:solidFill>
                  <a:srgbClr val="10223A"/>
                </a:solidFill>
                <a:effectLst/>
                <a:uLnTx/>
                <a:uFillTx/>
                <a:latin typeface="Arial"/>
                <a:cs typeface="Arial"/>
                <a:sym typeface="Arial"/>
              </a:rPr>
              <a:t>Performance &amp; capacity</a:t>
            </a:r>
          </a:p>
        </p:txBody>
      </p:sp>
      <p:sp>
        <p:nvSpPr>
          <p:cNvPr id="13" name="s9-capability-body-0">
            <a:extLst>
              <a:ext uri="{FF2B5EF4-FFF2-40B4-BE49-F238E27FC236}">
                <a16:creationId xmlns:a16="http://schemas.microsoft.com/office/drawing/2014/main" id="{487E8745-0E93-4BD2-A221-61D78A7860E1}"/>
              </a:ext>
            </a:extLst>
          </p:cNvPr>
          <p:cNvSpPr>
            <a:spLocks noGrp="1"/>
          </p:cNvSpPr>
          <p:nvPr/>
        </p:nvSpPr>
        <p:spPr>
          <a:xfrm>
            <a:off x="4714875" y="1323975"/>
            <a:ext cx="4095750" cy="266700"/>
          </a:xfrm>
          <a:prstGeom prst="rect">
            <a:avLst/>
          </a:prstGeom>
          <a:noFill/>
          <a:ln w="0">
            <a:noFill/>
            <a:prstDash val="solid"/>
          </a:ln>
        </p:spPr>
        <p:txBody>
          <a:bodyPr wrap="squar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713" b="0">
                <a:solidFill>
                  <a:srgbClr val="58657A"/>
                </a:solidFill>
              </a:defRPr>
            </a:pPr>
            <a:r>
              <a:rPr dirty="0">
                <a:solidFill>
                  <a:schemeClr val="tx1"/>
                </a:solidFill>
              </a:rPr>
              <a:t>TTFT, TPOT, goodput, TPM/RPM, load testing, and capacity baselines</a:t>
            </a:r>
          </a:p>
        </p:txBody>
      </p:sp>
      <p:sp>
        <p:nvSpPr>
          <p:cNvPr id="14" name="s9-capability-rule-0">
            <a:extLst>
              <a:ext uri="{FF2B5EF4-FFF2-40B4-BE49-F238E27FC236}">
                <a16:creationId xmlns:a16="http://schemas.microsoft.com/office/drawing/2014/main" id="{E110EDF9-A7BB-4AB9-A2A2-C72ECCC52019}"/>
              </a:ext>
            </a:extLst>
          </p:cNvPr>
          <p:cNvSpPr>
            <a:spLocks noGrp="1"/>
          </p:cNvSpPr>
          <p:nvPr/>
        </p:nvSpPr>
        <p:spPr>
          <a:xfrm>
            <a:off x="2628900" y="1657350"/>
            <a:ext cx="6181725"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s9-capability-marker-1">
            <a:extLst>
              <a:ext uri="{FF2B5EF4-FFF2-40B4-BE49-F238E27FC236}">
                <a16:creationId xmlns:a16="http://schemas.microsoft.com/office/drawing/2014/main" id="{7D5312DB-A865-4373-AFC9-BFD992D38ECC}"/>
              </a:ext>
            </a:extLst>
          </p:cNvPr>
          <p:cNvSpPr>
            <a:spLocks noGrp="1"/>
          </p:cNvSpPr>
          <p:nvPr/>
        </p:nvSpPr>
        <p:spPr>
          <a:xfrm>
            <a:off x="2400300" y="1800225"/>
            <a:ext cx="114300" cy="114300"/>
          </a:xfrm>
          <a:prstGeom prst="ellipse">
            <a:avLst/>
          </a:prstGeom>
          <a:solidFill>
            <a:srgbClr val="159B64"/>
          </a:solidFill>
          <a:ln w="0">
            <a:solidFill>
              <a:srgbClr val="159B64"/>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s9-capability-title-1">
            <a:extLst>
              <a:ext uri="{FF2B5EF4-FFF2-40B4-BE49-F238E27FC236}">
                <a16:creationId xmlns:a16="http://schemas.microsoft.com/office/drawing/2014/main" id="{1BB6F514-3840-4F9A-8B67-4B87C2B8AD12}"/>
              </a:ext>
            </a:extLst>
          </p:cNvPr>
          <p:cNvSpPr>
            <a:spLocks noGrp="1"/>
          </p:cNvSpPr>
          <p:nvPr/>
        </p:nvSpPr>
        <p:spPr>
          <a:xfrm>
            <a:off x="2628900" y="1724025"/>
            <a:ext cx="2095500" cy="247650"/>
          </a:xfrm>
          <a:prstGeom prst="rect">
            <a:avLst/>
          </a:prstGeom>
          <a:noFill/>
          <a:ln w="0">
            <a:noFill/>
            <a:prstDash val="solid"/>
          </a:ln>
        </p:spPr>
        <p:txBody>
          <a:bodyPr wrap="none" anchor="ctr"/>
          <a:lstStyle/>
          <a:p>
            <a:pPr lvl="0">
              <a:defRPr sz="900" b="1">
                <a:solidFill>
                  <a:srgbClr val="10223A"/>
                </a:solidFill>
              </a:defRPr>
            </a:pPr>
            <a:r>
              <a:rPr kumimoji="0" sz="900" b="1" i="0" u="none" strike="noStrike" kern="0" cap="none" spc="0" normalizeH="0" baseline="0" noProof="0" dirty="0">
                <a:ln>
                  <a:noFill/>
                </a:ln>
                <a:solidFill>
                  <a:srgbClr val="10223A"/>
                </a:solidFill>
                <a:effectLst/>
                <a:uLnTx/>
                <a:uFillTx/>
                <a:latin typeface="Arial"/>
                <a:cs typeface="Arial"/>
                <a:sym typeface="Arial"/>
              </a:rPr>
              <a:t>Cost efficiency</a:t>
            </a:r>
            <a:r>
              <a:rPr kumimoji="0" lang="zh-CN" altLang="en-US" sz="900" b="1" i="0" u="none" strike="noStrike" kern="0" cap="none" spc="0" normalizeH="0" baseline="0" noProof="0" dirty="0">
                <a:ln>
                  <a:noFill/>
                </a:ln>
                <a:solidFill>
                  <a:srgbClr val="10223A"/>
                </a:solidFill>
                <a:effectLst/>
                <a:uLnTx/>
                <a:uFillTx/>
                <a:latin typeface="Arial"/>
                <a:cs typeface="Arial"/>
                <a:sym typeface="Arial"/>
              </a:rPr>
              <a:t> </a:t>
            </a:r>
            <a:r>
              <a:rPr lang="zh-CN" altLang="zh-CN" sz="900" b="1" dirty="0"/>
              <a:t>&amp; SLOs</a:t>
            </a:r>
            <a:endParaRPr kumimoji="0" sz="900" b="1" i="0" u="none" strike="noStrike" kern="0" cap="none" spc="0" normalizeH="0" baseline="0" noProof="0" dirty="0">
              <a:ln>
                <a:noFill/>
              </a:ln>
              <a:solidFill>
                <a:srgbClr val="10223A"/>
              </a:solidFill>
              <a:effectLst/>
              <a:uLnTx/>
              <a:uFillTx/>
              <a:latin typeface="Arial"/>
              <a:cs typeface="Arial"/>
              <a:sym typeface="Arial"/>
            </a:endParaRPr>
          </a:p>
        </p:txBody>
      </p:sp>
      <p:sp>
        <p:nvSpPr>
          <p:cNvPr id="17" name="s9-capability-body-1">
            <a:extLst>
              <a:ext uri="{FF2B5EF4-FFF2-40B4-BE49-F238E27FC236}">
                <a16:creationId xmlns:a16="http://schemas.microsoft.com/office/drawing/2014/main" id="{86EDF785-1ECD-4FD1-B377-7E60389CC6DB}"/>
              </a:ext>
            </a:extLst>
          </p:cNvPr>
          <p:cNvSpPr>
            <a:spLocks noGrp="1"/>
          </p:cNvSpPr>
          <p:nvPr/>
        </p:nvSpPr>
        <p:spPr>
          <a:xfrm>
            <a:off x="4714875" y="1724025"/>
            <a:ext cx="4095750" cy="266700"/>
          </a:xfrm>
          <a:prstGeom prst="rect">
            <a:avLst/>
          </a:prstGeom>
          <a:noFill/>
          <a:ln w="0">
            <a:noFill/>
            <a:prstDash val="solid"/>
          </a:ln>
        </p:spPr>
        <p:txBody>
          <a:bodyPr wrap="square" anchor="ctr"/>
          <a:lstStyle/>
          <a:p>
            <a:r>
              <a:rPr lang="zh-CN" altLang="zh-CN" sz="800" dirty="0"/>
              <a:t>Coordinate routing, workers, and KV state without hotspots or latency spikes</a:t>
            </a:r>
          </a:p>
        </p:txBody>
      </p:sp>
      <p:sp>
        <p:nvSpPr>
          <p:cNvPr id="18" name="s9-capability-rule-1">
            <a:extLst>
              <a:ext uri="{FF2B5EF4-FFF2-40B4-BE49-F238E27FC236}">
                <a16:creationId xmlns:a16="http://schemas.microsoft.com/office/drawing/2014/main" id="{0CEAB26E-6554-488F-A5D9-83603F3865B5}"/>
              </a:ext>
            </a:extLst>
          </p:cNvPr>
          <p:cNvSpPr>
            <a:spLocks noGrp="1"/>
          </p:cNvSpPr>
          <p:nvPr/>
        </p:nvSpPr>
        <p:spPr>
          <a:xfrm>
            <a:off x="2628900" y="2057400"/>
            <a:ext cx="6181725"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s9-capability-marker-2">
            <a:extLst>
              <a:ext uri="{FF2B5EF4-FFF2-40B4-BE49-F238E27FC236}">
                <a16:creationId xmlns:a16="http://schemas.microsoft.com/office/drawing/2014/main" id="{2CC45BB8-E2EC-4ED8-9000-C22EC43C3B9C}"/>
              </a:ext>
            </a:extLst>
          </p:cNvPr>
          <p:cNvSpPr>
            <a:spLocks noGrp="1"/>
          </p:cNvSpPr>
          <p:nvPr/>
        </p:nvSpPr>
        <p:spPr>
          <a:xfrm>
            <a:off x="2400300" y="2200275"/>
            <a:ext cx="114300" cy="114300"/>
          </a:xfrm>
          <a:prstGeom prst="ellipse">
            <a:avLst/>
          </a:prstGeom>
          <a:solidFill>
            <a:srgbClr val="F35B91"/>
          </a:solidFill>
          <a:ln w="0">
            <a:solidFill>
              <a:srgbClr val="F35B91"/>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s9-capability-title-2">
            <a:extLst>
              <a:ext uri="{FF2B5EF4-FFF2-40B4-BE49-F238E27FC236}">
                <a16:creationId xmlns:a16="http://schemas.microsoft.com/office/drawing/2014/main" id="{69340E1E-585F-4DD7-BC35-1DA3B22DB8A1}"/>
              </a:ext>
            </a:extLst>
          </p:cNvPr>
          <p:cNvSpPr>
            <a:spLocks noGrp="1"/>
          </p:cNvSpPr>
          <p:nvPr/>
        </p:nvSpPr>
        <p:spPr>
          <a:xfrm>
            <a:off x="2628900" y="2124075"/>
            <a:ext cx="2095500" cy="247650"/>
          </a:xfrm>
          <a:prstGeom prst="rect">
            <a:avLst/>
          </a:prstGeom>
          <a:noFill/>
          <a:ln w="0">
            <a:noFill/>
            <a:prstDash val="solid"/>
          </a:ln>
        </p:spPr>
        <p:txBody>
          <a:bodyPr wrap="none" anchor="ctr"/>
          <a:lstStyle/>
          <a:p>
            <a:pPr lvl="0">
              <a:defRPr sz="900" b="1">
                <a:solidFill>
                  <a:srgbClr val="10223A"/>
                </a:solidFill>
              </a:defRPr>
            </a:pPr>
            <a:r>
              <a:rPr lang="zh-CN" altLang="zh-CN" sz="900" b="1" dirty="0"/>
              <a:t>Workload lifecycle &amp; elasticity</a:t>
            </a:r>
            <a:endParaRPr kumimoji="0" sz="900" b="1" i="0" u="none" strike="noStrike" kern="0" cap="none" spc="0" normalizeH="0" baseline="0" noProof="0" dirty="0">
              <a:ln>
                <a:noFill/>
              </a:ln>
              <a:solidFill>
                <a:srgbClr val="10223A"/>
              </a:solidFill>
              <a:effectLst/>
              <a:uLnTx/>
              <a:uFillTx/>
              <a:latin typeface="Arial"/>
              <a:cs typeface="Arial"/>
              <a:sym typeface="Arial"/>
            </a:endParaRPr>
          </a:p>
        </p:txBody>
      </p:sp>
      <p:sp>
        <p:nvSpPr>
          <p:cNvPr id="21" name="s9-capability-body-2">
            <a:extLst>
              <a:ext uri="{FF2B5EF4-FFF2-40B4-BE49-F238E27FC236}">
                <a16:creationId xmlns:a16="http://schemas.microsoft.com/office/drawing/2014/main" id="{CFCE36EA-A74D-40AD-ABB2-643A43D21379}"/>
              </a:ext>
            </a:extLst>
          </p:cNvPr>
          <p:cNvSpPr>
            <a:spLocks noGrp="1"/>
          </p:cNvSpPr>
          <p:nvPr/>
        </p:nvSpPr>
        <p:spPr>
          <a:xfrm>
            <a:off x="4714875" y="2124075"/>
            <a:ext cx="4095750" cy="266700"/>
          </a:xfrm>
          <a:prstGeom prst="rect">
            <a:avLst/>
          </a:prstGeom>
          <a:noFill/>
          <a:ln w="0">
            <a:noFill/>
            <a:prstDash val="solid"/>
          </a:ln>
        </p:spPr>
        <p:txBody>
          <a:bodyPr wrap="square" anchor="ctr"/>
          <a:lstStyle/>
          <a:p>
            <a:r>
              <a:rPr lang="zh-CN" altLang="zh-CN" sz="800" dirty="0"/>
              <a:t>Align GPU provisioning, deployment, autoscaling, and recovery with demand</a:t>
            </a:r>
          </a:p>
        </p:txBody>
      </p:sp>
      <p:sp>
        <p:nvSpPr>
          <p:cNvPr id="22" name="s9-capability-rule-2">
            <a:extLst>
              <a:ext uri="{FF2B5EF4-FFF2-40B4-BE49-F238E27FC236}">
                <a16:creationId xmlns:a16="http://schemas.microsoft.com/office/drawing/2014/main" id="{9905650A-7343-4F2D-931D-44C0D7C20F49}"/>
              </a:ext>
            </a:extLst>
          </p:cNvPr>
          <p:cNvSpPr>
            <a:spLocks noGrp="1"/>
          </p:cNvSpPr>
          <p:nvPr/>
        </p:nvSpPr>
        <p:spPr>
          <a:xfrm>
            <a:off x="2628900" y="2457450"/>
            <a:ext cx="6181725"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s9-capability-marker-3">
            <a:extLst>
              <a:ext uri="{FF2B5EF4-FFF2-40B4-BE49-F238E27FC236}">
                <a16:creationId xmlns:a16="http://schemas.microsoft.com/office/drawing/2014/main" id="{CB4E581D-C3FB-4B55-A614-335B3277B12A}"/>
              </a:ext>
            </a:extLst>
          </p:cNvPr>
          <p:cNvSpPr>
            <a:spLocks noGrp="1"/>
          </p:cNvSpPr>
          <p:nvPr/>
        </p:nvSpPr>
        <p:spPr>
          <a:xfrm>
            <a:off x="2400300" y="2600325"/>
            <a:ext cx="114300" cy="114300"/>
          </a:xfrm>
          <a:prstGeom prst="ellipse">
            <a:avLst/>
          </a:prstGeom>
          <a:solidFill>
            <a:srgbClr val="D79A16"/>
          </a:solidFill>
          <a:ln w="0">
            <a:solidFill>
              <a:srgbClr val="D79A16"/>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s9-capability-title-3">
            <a:extLst>
              <a:ext uri="{FF2B5EF4-FFF2-40B4-BE49-F238E27FC236}">
                <a16:creationId xmlns:a16="http://schemas.microsoft.com/office/drawing/2014/main" id="{541D4B11-E966-4652-854B-819A173A4664}"/>
              </a:ext>
            </a:extLst>
          </p:cNvPr>
          <p:cNvSpPr>
            <a:spLocks noGrp="1"/>
          </p:cNvSpPr>
          <p:nvPr/>
        </p:nvSpPr>
        <p:spPr>
          <a:xfrm>
            <a:off x="2628900" y="2524125"/>
            <a:ext cx="2095500" cy="247650"/>
          </a:xfrm>
          <a:prstGeom prst="rect">
            <a:avLst/>
          </a:prstGeom>
          <a:noFill/>
          <a:ln w="0">
            <a:noFill/>
            <a:prstDash val="solid"/>
          </a:ln>
        </p:spPr>
        <p:txBody>
          <a:bodyPr wrap="none" anchor="ctr"/>
          <a:lstStyle/>
          <a:p>
            <a:pPr lvl="0">
              <a:defRPr sz="900" b="1">
                <a:solidFill>
                  <a:srgbClr val="10223A"/>
                </a:solidFill>
              </a:defRPr>
            </a:pPr>
            <a:r>
              <a:rPr lang="zh-CN" altLang="zh-CN" sz="900" b="1" dirty="0"/>
              <a:t>Validation &amp; operational readiness</a:t>
            </a:r>
            <a:endParaRPr kumimoji="0" sz="900" b="1" i="0" u="none" strike="noStrike" kern="0" cap="none" spc="0" normalizeH="0" baseline="0" noProof="0" dirty="0">
              <a:ln>
                <a:noFill/>
              </a:ln>
              <a:solidFill>
                <a:srgbClr val="10223A"/>
              </a:solidFill>
              <a:effectLst/>
              <a:uLnTx/>
              <a:uFillTx/>
              <a:latin typeface="Arial"/>
              <a:cs typeface="Arial"/>
              <a:sym typeface="Arial"/>
            </a:endParaRPr>
          </a:p>
        </p:txBody>
      </p:sp>
      <p:sp>
        <p:nvSpPr>
          <p:cNvPr id="25" name="s9-capability-body-3">
            <a:extLst>
              <a:ext uri="{FF2B5EF4-FFF2-40B4-BE49-F238E27FC236}">
                <a16:creationId xmlns:a16="http://schemas.microsoft.com/office/drawing/2014/main" id="{F7531B73-E462-4AD3-AADC-BA3199EF61D2}"/>
              </a:ext>
            </a:extLst>
          </p:cNvPr>
          <p:cNvSpPr>
            <a:spLocks noGrp="1"/>
          </p:cNvSpPr>
          <p:nvPr/>
        </p:nvSpPr>
        <p:spPr>
          <a:xfrm>
            <a:off x="4714875" y="2524125"/>
            <a:ext cx="4095750" cy="266700"/>
          </a:xfrm>
          <a:prstGeom prst="rect">
            <a:avLst/>
          </a:prstGeom>
          <a:noFill/>
          <a:ln w="0">
            <a:noFill/>
            <a:prstDash val="solid"/>
          </a:ln>
        </p:spPr>
        <p:txBody>
          <a:bodyPr wrap="square" anchor="ctr"/>
          <a:lstStyle/>
          <a:p>
            <a:r>
              <a:rPr lang="zh-CN" altLang="zh-CN" sz="800" dirty="0"/>
              <a:t>Test the NodeClaim → Node → Pod lifecycle without requiring real GPUs</a:t>
            </a:r>
          </a:p>
        </p:txBody>
      </p:sp>
      <p:sp>
        <p:nvSpPr>
          <p:cNvPr id="26" name="s9-capability-rule-3">
            <a:extLst>
              <a:ext uri="{FF2B5EF4-FFF2-40B4-BE49-F238E27FC236}">
                <a16:creationId xmlns:a16="http://schemas.microsoft.com/office/drawing/2014/main" id="{5A97F4FF-BB99-4D21-A113-2F2F3D206917}"/>
              </a:ext>
            </a:extLst>
          </p:cNvPr>
          <p:cNvSpPr>
            <a:spLocks noGrp="1"/>
          </p:cNvSpPr>
          <p:nvPr/>
        </p:nvSpPr>
        <p:spPr>
          <a:xfrm>
            <a:off x="2628900" y="2857500"/>
            <a:ext cx="6181725"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s9-capability-marker-4">
            <a:extLst>
              <a:ext uri="{FF2B5EF4-FFF2-40B4-BE49-F238E27FC236}">
                <a16:creationId xmlns:a16="http://schemas.microsoft.com/office/drawing/2014/main" id="{6CD4A230-8A4A-42FC-8DB9-7BE0C93B3579}"/>
              </a:ext>
            </a:extLst>
          </p:cNvPr>
          <p:cNvSpPr>
            <a:spLocks noGrp="1"/>
          </p:cNvSpPr>
          <p:nvPr/>
        </p:nvSpPr>
        <p:spPr>
          <a:xfrm>
            <a:off x="2400300" y="3000375"/>
            <a:ext cx="114300" cy="114300"/>
          </a:xfrm>
          <a:prstGeom prst="ellipse">
            <a:avLst/>
          </a:prstGeom>
          <a:solidFill>
            <a:srgbClr val="13A7C7"/>
          </a:solidFill>
          <a:ln w="0">
            <a:solidFill>
              <a:srgbClr val="13A7C7"/>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s9-capability-title-4">
            <a:extLst>
              <a:ext uri="{FF2B5EF4-FFF2-40B4-BE49-F238E27FC236}">
                <a16:creationId xmlns:a16="http://schemas.microsoft.com/office/drawing/2014/main" id="{3074F795-BEA1-4BEB-BCC2-31EFD8BE7A74}"/>
              </a:ext>
            </a:extLst>
          </p:cNvPr>
          <p:cNvSpPr>
            <a:spLocks noGrp="1"/>
          </p:cNvSpPr>
          <p:nvPr/>
        </p:nvSpPr>
        <p:spPr>
          <a:xfrm>
            <a:off x="2628900" y="2924175"/>
            <a:ext cx="2095500" cy="247650"/>
          </a:xfrm>
          <a:prstGeom prst="rect">
            <a:avLst/>
          </a:prstGeom>
          <a:noFill/>
          <a:ln w="0">
            <a:noFill/>
            <a:prstDash val="solid"/>
          </a:ln>
        </p:spPr>
        <p:txBody>
          <a:bodyPr wrap="none" anchor="ctr"/>
          <a:lstStyle/>
          <a:p>
            <a:pPr lvl="0">
              <a:defRPr sz="900" b="1">
                <a:solidFill>
                  <a:srgbClr val="10223A"/>
                </a:solidFill>
              </a:defRPr>
            </a:pPr>
            <a:r>
              <a:rPr lang="zh-CN" altLang="zh-CN" sz="900" b="1" dirty="0"/>
              <a:t>Metering</a:t>
            </a:r>
            <a:r>
              <a:rPr lang="zh-CN" altLang="en-US" sz="900" b="1" dirty="0"/>
              <a:t> </a:t>
            </a:r>
            <a:r>
              <a:rPr lang="zh-CN" altLang="zh-CN" sz="900" b="1" dirty="0"/>
              <a:t>&amp; governance</a:t>
            </a:r>
            <a:endParaRPr kumimoji="0" sz="900" b="1" i="0" u="none" strike="noStrike" kern="0" cap="none" spc="0" normalizeH="0" baseline="0" noProof="0" dirty="0">
              <a:ln>
                <a:noFill/>
              </a:ln>
              <a:solidFill>
                <a:srgbClr val="10223A"/>
              </a:solidFill>
              <a:effectLst/>
              <a:uLnTx/>
              <a:uFillTx/>
              <a:latin typeface="Arial"/>
              <a:cs typeface="Arial"/>
              <a:sym typeface="Arial"/>
            </a:endParaRPr>
          </a:p>
        </p:txBody>
      </p:sp>
      <p:sp>
        <p:nvSpPr>
          <p:cNvPr id="29" name="s9-capability-body-4">
            <a:extLst>
              <a:ext uri="{FF2B5EF4-FFF2-40B4-BE49-F238E27FC236}">
                <a16:creationId xmlns:a16="http://schemas.microsoft.com/office/drawing/2014/main" id="{A1EC5D74-65FF-4835-A4AC-66C8511B1880}"/>
              </a:ext>
            </a:extLst>
          </p:cNvPr>
          <p:cNvSpPr>
            <a:spLocks noGrp="1"/>
          </p:cNvSpPr>
          <p:nvPr/>
        </p:nvSpPr>
        <p:spPr>
          <a:xfrm>
            <a:off x="4714875" y="2924175"/>
            <a:ext cx="4095750" cy="266700"/>
          </a:xfrm>
          <a:prstGeom prst="rect">
            <a:avLst/>
          </a:prstGeom>
          <a:noFill/>
          <a:ln w="0">
            <a:noFill/>
            <a:prstDash val="solid"/>
          </a:ln>
        </p:spPr>
        <p:txBody>
          <a:bodyPr wrap="square" anchor="ctr"/>
          <a:lstStyle/>
          <a:p>
            <a:r>
              <a:rPr lang="zh-CN" altLang="zh-CN" sz="800" dirty="0"/>
              <a:t>Track usage and cost while enforcing isolation, safety, and auditability</a:t>
            </a:r>
          </a:p>
        </p:txBody>
      </p:sp>
      <p:sp>
        <p:nvSpPr>
          <p:cNvPr id="30" name="s9-roi-band">
            <a:extLst>
              <a:ext uri="{FF2B5EF4-FFF2-40B4-BE49-F238E27FC236}">
                <a16:creationId xmlns:a16="http://schemas.microsoft.com/office/drawing/2014/main" id="{F7B3E54F-A713-45FE-ACAC-867B311AE4DC}"/>
              </a:ext>
            </a:extLst>
          </p:cNvPr>
          <p:cNvSpPr>
            <a:spLocks noGrp="1"/>
          </p:cNvSpPr>
          <p:nvPr/>
        </p:nvSpPr>
        <p:spPr>
          <a:xfrm>
            <a:off x="285750" y="3333750"/>
            <a:ext cx="8572500" cy="685800"/>
          </a:xfrm>
          <a:prstGeom prst="roundRect">
            <a:avLst>
              <a:gd name="adj" fmla="val 16667"/>
            </a:avLst>
          </a:prstGeom>
          <a:solidFill>
            <a:srgbClr val="FFFFFF"/>
          </a:solidFill>
          <a:ln w="9525">
            <a:solidFill>
              <a:srgbClr val="C9CEFA"/>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s9-roi-title">
            <a:extLst>
              <a:ext uri="{FF2B5EF4-FFF2-40B4-BE49-F238E27FC236}">
                <a16:creationId xmlns:a16="http://schemas.microsoft.com/office/drawing/2014/main" id="{0BF60AA0-1ED8-4E76-B77C-B4FB30BC0A1B}"/>
              </a:ext>
            </a:extLst>
          </p:cNvPr>
          <p:cNvSpPr>
            <a:spLocks noGrp="1"/>
          </p:cNvSpPr>
          <p:nvPr/>
        </p:nvSpPr>
        <p:spPr>
          <a:xfrm>
            <a:off x="514350" y="3419475"/>
            <a:ext cx="8096250" cy="228600"/>
          </a:xfrm>
          <a:prstGeom prst="rect">
            <a:avLst/>
          </a:prstGeom>
          <a:noFill/>
          <a:ln w="0">
            <a:noFill/>
            <a:prstDash val="solid"/>
          </a:ln>
        </p:spPr>
        <p:txBody>
          <a:bodyPr wrap="square" anchor="ctr"/>
          <a:lstStyle/>
          <a:p>
            <a:pPr lvl="0" algn="ctr">
              <a:defRPr sz="1125" b="1">
                <a:solidFill>
                  <a:srgbClr val="3D3DE0"/>
                </a:solidFill>
              </a:defRPr>
            </a:pPr>
            <a:r>
              <a:rPr lang="en" sz="1125" b="1" dirty="0">
                <a:solidFill>
                  <a:srgbClr val="3D3DE0"/>
                </a:solidFill>
              </a:rPr>
              <a:t>Every optimization must improve a production outcome</a:t>
            </a:r>
            <a:endParaRPr kumimoji="0" sz="1125" b="1" i="0" u="none" strike="noStrike" kern="0" cap="none" spc="0" normalizeH="0" baseline="0" noProof="0" dirty="0">
              <a:ln>
                <a:noFill/>
              </a:ln>
              <a:solidFill>
                <a:srgbClr val="3D3DE0"/>
              </a:solidFill>
              <a:effectLst/>
              <a:uLnTx/>
              <a:uFillTx/>
              <a:latin typeface="Arial"/>
              <a:cs typeface="Arial"/>
              <a:sym typeface="Arial"/>
            </a:endParaRPr>
          </a:p>
        </p:txBody>
      </p:sp>
      <p:sp>
        <p:nvSpPr>
          <p:cNvPr id="32" name="s9-roi-detail">
            <a:extLst>
              <a:ext uri="{FF2B5EF4-FFF2-40B4-BE49-F238E27FC236}">
                <a16:creationId xmlns:a16="http://schemas.microsoft.com/office/drawing/2014/main" id="{855843CF-6D41-4EA8-845E-3FF38E6ACEB5}"/>
              </a:ext>
            </a:extLst>
          </p:cNvPr>
          <p:cNvSpPr>
            <a:spLocks noGrp="1"/>
          </p:cNvSpPr>
          <p:nvPr/>
        </p:nvSpPr>
        <p:spPr>
          <a:xfrm>
            <a:off x="514350" y="3676650"/>
            <a:ext cx="8096250" cy="228600"/>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750" b="0">
                <a:solidFill>
                  <a:srgbClr val="58657A"/>
                </a:solidFill>
              </a:defRPr>
            </a:pPr>
            <a:r>
              <a:rPr kumimoji="0" sz="750" b="0" i="0" u="none" strike="noStrike" kern="0" cap="none" spc="0" normalizeH="0" baseline="0" noProof="0">
                <a:ln>
                  <a:noFill/>
                </a:ln>
                <a:solidFill>
                  <a:srgbClr val="58657A"/>
                </a:solidFill>
                <a:effectLst/>
                <a:uLnTx/>
                <a:uFillTx/>
                <a:latin typeface="Arial"/>
                <a:cs typeface="Arial"/>
                <a:sym typeface="Arial"/>
              </a:rPr>
              <a:t>Useful token capacity ↑   •   Cost per token ↓   •   Utilization ↑   •   SLO risk ↓   •   Metering accuracy ↑</a:t>
            </a:r>
          </a:p>
        </p:txBody>
      </p:sp>
      <p:sp>
        <p:nvSpPr>
          <p:cNvPr id="33" name="metric-top-rule">
            <a:extLst>
              <a:ext uri="{FF2B5EF4-FFF2-40B4-BE49-F238E27FC236}">
                <a16:creationId xmlns:a16="http://schemas.microsoft.com/office/drawing/2014/main" id="{F866161E-859F-4F3D-8C2B-6D16FF7FB6E2}"/>
              </a:ext>
            </a:extLst>
          </p:cNvPr>
          <p:cNvSpPr>
            <a:spLocks noGrp="1"/>
          </p:cNvSpPr>
          <p:nvPr/>
        </p:nvSpPr>
        <p:spPr>
          <a:xfrm>
            <a:off x="285750" y="4143375"/>
            <a:ext cx="8572500" cy="9525"/>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metric-value-0">
            <a:extLst>
              <a:ext uri="{FF2B5EF4-FFF2-40B4-BE49-F238E27FC236}">
                <a16:creationId xmlns:a16="http://schemas.microsoft.com/office/drawing/2014/main" id="{E6BFD7A7-D422-4535-8BAF-21781348AC99}"/>
              </a:ext>
            </a:extLst>
          </p:cNvPr>
          <p:cNvSpPr>
            <a:spLocks noGrp="1"/>
          </p:cNvSpPr>
          <p:nvPr/>
        </p:nvSpPr>
        <p:spPr>
          <a:xfrm>
            <a:off x="36195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59B64"/>
                </a:solidFill>
              </a:defRPr>
            </a:pPr>
            <a:r>
              <a:rPr kumimoji="0" sz="1275" b="1" i="0" u="none" strike="noStrike" kern="0" cap="none" spc="0" normalizeH="0" baseline="0" noProof="0">
                <a:ln>
                  <a:noFill/>
                </a:ln>
                <a:solidFill>
                  <a:srgbClr val="159B64"/>
                </a:solidFill>
                <a:effectLst/>
                <a:uLnTx/>
                <a:uFillTx/>
                <a:latin typeface="Arial"/>
                <a:cs typeface="Arial"/>
                <a:sym typeface="Arial"/>
              </a:rPr>
              <a:t>99.99%</a:t>
            </a:r>
          </a:p>
        </p:txBody>
      </p:sp>
      <p:sp>
        <p:nvSpPr>
          <p:cNvPr id="35" name="metric-label-0">
            <a:extLst>
              <a:ext uri="{FF2B5EF4-FFF2-40B4-BE49-F238E27FC236}">
                <a16:creationId xmlns:a16="http://schemas.microsoft.com/office/drawing/2014/main" id="{E6CAEB1D-2439-49A3-82EB-129050DD2C9A}"/>
              </a:ext>
            </a:extLst>
          </p:cNvPr>
          <p:cNvSpPr>
            <a:spLocks noGrp="1"/>
          </p:cNvSpPr>
          <p:nvPr/>
        </p:nvSpPr>
        <p:spPr>
          <a:xfrm>
            <a:off x="36195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Availability</a:t>
            </a:r>
          </a:p>
        </p:txBody>
      </p:sp>
      <p:sp>
        <p:nvSpPr>
          <p:cNvPr id="36" name="metric-divider-1">
            <a:extLst>
              <a:ext uri="{FF2B5EF4-FFF2-40B4-BE49-F238E27FC236}">
                <a16:creationId xmlns:a16="http://schemas.microsoft.com/office/drawing/2014/main" id="{B86B0464-DF37-4E16-ADBD-FCF8083435D9}"/>
              </a:ext>
            </a:extLst>
          </p:cNvPr>
          <p:cNvSpPr>
            <a:spLocks noGrp="1"/>
          </p:cNvSpPr>
          <p:nvPr/>
        </p:nvSpPr>
        <p:spPr>
          <a:xfrm>
            <a:off x="1714500" y="4238625"/>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metric-value-1">
            <a:extLst>
              <a:ext uri="{FF2B5EF4-FFF2-40B4-BE49-F238E27FC236}">
                <a16:creationId xmlns:a16="http://schemas.microsoft.com/office/drawing/2014/main" id="{3205CE0C-0598-44B9-B1CF-D5B82494D7E4}"/>
              </a:ext>
            </a:extLst>
          </p:cNvPr>
          <p:cNvSpPr>
            <a:spLocks noGrp="1"/>
          </p:cNvSpPr>
          <p:nvPr/>
        </p:nvSpPr>
        <p:spPr>
          <a:xfrm>
            <a:off x="179070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3D3DE0"/>
                </a:solidFill>
              </a:defRPr>
            </a:pPr>
            <a:r>
              <a:rPr kumimoji="0" sz="1275" b="1" i="0" u="none" strike="noStrike" kern="0" cap="none" spc="0" normalizeH="0" baseline="0" noProof="0">
                <a:ln>
                  <a:noFill/>
                </a:ln>
                <a:solidFill>
                  <a:srgbClr val="3D3DE0"/>
                </a:solidFill>
                <a:effectLst/>
                <a:uLnTx/>
                <a:uFillTx/>
                <a:latin typeface="Arial"/>
                <a:cs typeface="Arial"/>
                <a:sym typeface="Arial"/>
              </a:rPr>
              <a:t>10M tok/s</a:t>
            </a:r>
          </a:p>
        </p:txBody>
      </p:sp>
      <p:sp>
        <p:nvSpPr>
          <p:cNvPr id="38" name="metric-label-1">
            <a:extLst>
              <a:ext uri="{FF2B5EF4-FFF2-40B4-BE49-F238E27FC236}">
                <a16:creationId xmlns:a16="http://schemas.microsoft.com/office/drawing/2014/main" id="{B303EBF0-CE46-402A-A68C-CD706399835F}"/>
              </a:ext>
            </a:extLst>
          </p:cNvPr>
          <p:cNvSpPr>
            <a:spLocks noGrp="1"/>
          </p:cNvSpPr>
          <p:nvPr/>
        </p:nvSpPr>
        <p:spPr>
          <a:xfrm>
            <a:off x="179070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Throughput</a:t>
            </a:r>
          </a:p>
        </p:txBody>
      </p:sp>
      <p:sp>
        <p:nvSpPr>
          <p:cNvPr id="39" name="metric-divider-2">
            <a:extLst>
              <a:ext uri="{FF2B5EF4-FFF2-40B4-BE49-F238E27FC236}">
                <a16:creationId xmlns:a16="http://schemas.microsoft.com/office/drawing/2014/main" id="{6DDBA1D9-891C-4370-B4DB-9AD31778BBF9}"/>
              </a:ext>
            </a:extLst>
          </p:cNvPr>
          <p:cNvSpPr>
            <a:spLocks noGrp="1"/>
          </p:cNvSpPr>
          <p:nvPr/>
        </p:nvSpPr>
        <p:spPr>
          <a:xfrm>
            <a:off x="3143250" y="4238625"/>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metric-value-2">
            <a:extLst>
              <a:ext uri="{FF2B5EF4-FFF2-40B4-BE49-F238E27FC236}">
                <a16:creationId xmlns:a16="http://schemas.microsoft.com/office/drawing/2014/main" id="{A45D28BE-AC1C-4F32-A0CA-6B243D9B8EE5}"/>
              </a:ext>
            </a:extLst>
          </p:cNvPr>
          <p:cNvSpPr>
            <a:spLocks noGrp="1"/>
          </p:cNvSpPr>
          <p:nvPr/>
        </p:nvSpPr>
        <p:spPr>
          <a:xfrm>
            <a:off x="321945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3A7C7"/>
                </a:solidFill>
              </a:defRPr>
            </a:pPr>
            <a:r>
              <a:rPr kumimoji="0" sz="1275" b="1" i="0" u="none" strike="noStrike" kern="0" cap="none" spc="0" normalizeH="0" baseline="0" noProof="0">
                <a:ln>
                  <a:noFill/>
                </a:ln>
                <a:solidFill>
                  <a:srgbClr val="13A7C7"/>
                </a:solidFill>
                <a:effectLst/>
                <a:uLnTx/>
                <a:uFillTx/>
                <a:latin typeface="Arial"/>
                <a:cs typeface="Arial"/>
                <a:sym typeface="Arial"/>
              </a:rPr>
              <a:t>&lt;2s</a:t>
            </a:r>
          </a:p>
        </p:txBody>
      </p:sp>
      <p:sp>
        <p:nvSpPr>
          <p:cNvPr id="41" name="metric-label-2">
            <a:extLst>
              <a:ext uri="{FF2B5EF4-FFF2-40B4-BE49-F238E27FC236}">
                <a16:creationId xmlns:a16="http://schemas.microsoft.com/office/drawing/2014/main" id="{DF6C6813-A805-4529-B755-3522525C858A}"/>
              </a:ext>
            </a:extLst>
          </p:cNvPr>
          <p:cNvSpPr>
            <a:spLocks noGrp="1"/>
          </p:cNvSpPr>
          <p:nvPr/>
        </p:nvSpPr>
        <p:spPr>
          <a:xfrm>
            <a:off x="321945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Short TTFT</a:t>
            </a:r>
          </a:p>
        </p:txBody>
      </p:sp>
      <p:sp>
        <p:nvSpPr>
          <p:cNvPr id="42" name="metric-divider-3">
            <a:extLst>
              <a:ext uri="{FF2B5EF4-FFF2-40B4-BE49-F238E27FC236}">
                <a16:creationId xmlns:a16="http://schemas.microsoft.com/office/drawing/2014/main" id="{95D14947-C373-4332-A401-ED72B93ECE43}"/>
              </a:ext>
            </a:extLst>
          </p:cNvPr>
          <p:cNvSpPr>
            <a:spLocks noGrp="1"/>
          </p:cNvSpPr>
          <p:nvPr/>
        </p:nvSpPr>
        <p:spPr>
          <a:xfrm>
            <a:off x="4572000" y="4238625"/>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metric-value-3">
            <a:extLst>
              <a:ext uri="{FF2B5EF4-FFF2-40B4-BE49-F238E27FC236}">
                <a16:creationId xmlns:a16="http://schemas.microsoft.com/office/drawing/2014/main" id="{FD7CA648-9305-4BE6-9943-5C8D35A1CD0C}"/>
              </a:ext>
            </a:extLst>
          </p:cNvPr>
          <p:cNvSpPr>
            <a:spLocks noGrp="1"/>
          </p:cNvSpPr>
          <p:nvPr/>
        </p:nvSpPr>
        <p:spPr>
          <a:xfrm>
            <a:off x="464820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D79A16"/>
                </a:solidFill>
              </a:defRPr>
            </a:pPr>
            <a:r>
              <a:rPr kumimoji="0" sz="1275" b="1" i="0" u="none" strike="noStrike" kern="0" cap="none" spc="0" normalizeH="0" baseline="0" noProof="0">
                <a:ln>
                  <a:noFill/>
                </a:ln>
                <a:solidFill>
                  <a:srgbClr val="D79A16"/>
                </a:solidFill>
                <a:effectLst/>
                <a:uLnTx/>
                <a:uFillTx/>
                <a:latin typeface="Arial"/>
                <a:cs typeface="Arial"/>
                <a:sym typeface="Arial"/>
              </a:rPr>
              <a:t>&lt;30s</a:t>
            </a:r>
          </a:p>
        </p:txBody>
      </p:sp>
      <p:sp>
        <p:nvSpPr>
          <p:cNvPr id="44" name="metric-label-3">
            <a:extLst>
              <a:ext uri="{FF2B5EF4-FFF2-40B4-BE49-F238E27FC236}">
                <a16:creationId xmlns:a16="http://schemas.microsoft.com/office/drawing/2014/main" id="{1C16D3B0-A51B-4590-A222-589D43ABDFE3}"/>
              </a:ext>
            </a:extLst>
          </p:cNvPr>
          <p:cNvSpPr>
            <a:spLocks noGrp="1"/>
          </p:cNvSpPr>
          <p:nvPr/>
        </p:nvSpPr>
        <p:spPr>
          <a:xfrm>
            <a:off x="464820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Long TTFT</a:t>
            </a:r>
          </a:p>
        </p:txBody>
      </p:sp>
      <p:sp>
        <p:nvSpPr>
          <p:cNvPr id="45" name="metric-divider-4">
            <a:extLst>
              <a:ext uri="{FF2B5EF4-FFF2-40B4-BE49-F238E27FC236}">
                <a16:creationId xmlns:a16="http://schemas.microsoft.com/office/drawing/2014/main" id="{5BA51771-5BA6-45F7-910E-B1A587DC8617}"/>
              </a:ext>
            </a:extLst>
          </p:cNvPr>
          <p:cNvSpPr>
            <a:spLocks noGrp="1"/>
          </p:cNvSpPr>
          <p:nvPr/>
        </p:nvSpPr>
        <p:spPr>
          <a:xfrm>
            <a:off x="6000750" y="4238625"/>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metric-value-4">
            <a:extLst>
              <a:ext uri="{FF2B5EF4-FFF2-40B4-BE49-F238E27FC236}">
                <a16:creationId xmlns:a16="http://schemas.microsoft.com/office/drawing/2014/main" id="{A754ACB8-E078-42FC-8D84-25EA5E34835D}"/>
              </a:ext>
            </a:extLst>
          </p:cNvPr>
          <p:cNvSpPr>
            <a:spLocks noGrp="1"/>
          </p:cNvSpPr>
          <p:nvPr/>
        </p:nvSpPr>
        <p:spPr>
          <a:xfrm>
            <a:off x="607695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F35B91"/>
                </a:solidFill>
              </a:defRPr>
            </a:pPr>
            <a:r>
              <a:rPr kumimoji="0" sz="1275" b="1" i="0" u="none" strike="noStrike" kern="0" cap="none" spc="0" normalizeH="0" baseline="0" noProof="0" dirty="0">
                <a:ln>
                  <a:noFill/>
                </a:ln>
                <a:solidFill>
                  <a:srgbClr val="F35B91"/>
                </a:solidFill>
                <a:effectLst/>
                <a:uLnTx/>
                <a:uFillTx/>
                <a:latin typeface="Arial"/>
                <a:cs typeface="Arial"/>
                <a:sym typeface="Arial"/>
              </a:rPr>
              <a:t>&lt;40ms</a:t>
            </a:r>
          </a:p>
        </p:txBody>
      </p:sp>
      <p:sp>
        <p:nvSpPr>
          <p:cNvPr id="47" name="metric-label-4">
            <a:extLst>
              <a:ext uri="{FF2B5EF4-FFF2-40B4-BE49-F238E27FC236}">
                <a16:creationId xmlns:a16="http://schemas.microsoft.com/office/drawing/2014/main" id="{EF9F68D5-1598-4640-991C-C8DB4CA6836B}"/>
              </a:ext>
            </a:extLst>
          </p:cNvPr>
          <p:cNvSpPr>
            <a:spLocks noGrp="1"/>
          </p:cNvSpPr>
          <p:nvPr/>
        </p:nvSpPr>
        <p:spPr>
          <a:xfrm>
            <a:off x="607695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TPOT</a:t>
            </a:r>
          </a:p>
        </p:txBody>
      </p:sp>
      <p:sp>
        <p:nvSpPr>
          <p:cNvPr id="48" name="metric-divider-5">
            <a:extLst>
              <a:ext uri="{FF2B5EF4-FFF2-40B4-BE49-F238E27FC236}">
                <a16:creationId xmlns:a16="http://schemas.microsoft.com/office/drawing/2014/main" id="{1FAF345B-F0F2-4775-BB00-274BAAA0D51E}"/>
              </a:ext>
            </a:extLst>
          </p:cNvPr>
          <p:cNvSpPr>
            <a:spLocks noGrp="1"/>
          </p:cNvSpPr>
          <p:nvPr/>
        </p:nvSpPr>
        <p:spPr>
          <a:xfrm>
            <a:off x="7429500" y="4238625"/>
            <a:ext cx="9525" cy="533400"/>
          </a:xfrm>
          <a:prstGeom prst="rect">
            <a:avLst/>
          </a:prstGeom>
          <a:solidFill>
            <a:srgbClr val="D8DEE8"/>
          </a:solidFill>
          <a:ln w="0">
            <a:solidFill>
              <a:srgbClr val="D8DEE8"/>
            </a:solidFill>
            <a:prstDash val="solid"/>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metric-value-5">
            <a:extLst>
              <a:ext uri="{FF2B5EF4-FFF2-40B4-BE49-F238E27FC236}">
                <a16:creationId xmlns:a16="http://schemas.microsoft.com/office/drawing/2014/main" id="{8C8F1721-394B-4F52-AE6B-6560859A14B9}"/>
              </a:ext>
            </a:extLst>
          </p:cNvPr>
          <p:cNvSpPr>
            <a:spLocks noGrp="1"/>
          </p:cNvSpPr>
          <p:nvPr/>
        </p:nvSpPr>
        <p:spPr>
          <a:xfrm>
            <a:off x="7505700" y="4238625"/>
            <a:ext cx="1276350" cy="238125"/>
          </a:xfrm>
          <a:prstGeom prst="rect">
            <a:avLst/>
          </a:prstGeom>
          <a:noFill/>
          <a:ln w="0">
            <a:no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275" b="1">
                <a:solidFill>
                  <a:srgbClr val="159B64"/>
                </a:solidFill>
              </a:defRPr>
            </a:pPr>
            <a:r>
              <a:rPr kumimoji="0" sz="1275" b="1" i="0" u="none" strike="noStrike" kern="0" cap="none" spc="0" normalizeH="0" baseline="0" noProof="0">
                <a:ln>
                  <a:noFill/>
                </a:ln>
                <a:solidFill>
                  <a:srgbClr val="159B64"/>
                </a:solidFill>
                <a:effectLst/>
                <a:uLnTx/>
                <a:uFillTx/>
                <a:latin typeface="Arial"/>
                <a:cs typeface="Arial"/>
                <a:sym typeface="Arial"/>
              </a:rPr>
              <a:t>&gt;90%</a:t>
            </a:r>
          </a:p>
        </p:txBody>
      </p:sp>
      <p:sp>
        <p:nvSpPr>
          <p:cNvPr id="50" name="metric-label-5">
            <a:extLst>
              <a:ext uri="{FF2B5EF4-FFF2-40B4-BE49-F238E27FC236}">
                <a16:creationId xmlns:a16="http://schemas.microsoft.com/office/drawing/2014/main" id="{CBB934BE-1053-456B-A8EC-1F206110F40A}"/>
              </a:ext>
            </a:extLst>
          </p:cNvPr>
          <p:cNvSpPr>
            <a:spLocks noGrp="1"/>
          </p:cNvSpPr>
          <p:nvPr/>
        </p:nvSpPr>
        <p:spPr>
          <a:xfrm>
            <a:off x="7505700" y="4486275"/>
            <a:ext cx="1276350" cy="228600"/>
          </a:xfrm>
          <a:prstGeom prst="rect">
            <a:avLst/>
          </a:prstGeom>
          <a:noFill/>
          <a:ln w="0">
            <a:noFill/>
            <a:prstDash val="solid"/>
          </a:ln>
        </p:spPr>
        <p:txBody>
          <a:bodyPr wrap="square"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600" b="0">
                <a:solidFill>
                  <a:srgbClr val="58657A"/>
                </a:solidFill>
              </a:defRPr>
            </a:pPr>
            <a:r>
              <a:rPr kumimoji="0" sz="600" b="0" i="0" u="none" strike="noStrike" kern="0" cap="none" spc="0" normalizeH="0" baseline="0" noProof="0">
                <a:ln>
                  <a:noFill/>
                </a:ln>
                <a:solidFill>
                  <a:srgbClr val="58657A"/>
                </a:solidFill>
                <a:effectLst/>
                <a:uLnTx/>
                <a:uFillTx/>
                <a:latin typeface="Arial"/>
                <a:cs typeface="Arial"/>
                <a:sym typeface="Arial"/>
              </a:rPr>
              <a:t>KV-cache hit rate</a:t>
            </a:r>
          </a:p>
        </p:txBody>
      </p:sp>
      <p:sp>
        <p:nvSpPr>
          <p:cNvPr id="51" name="metric-caption">
            <a:extLst>
              <a:ext uri="{FF2B5EF4-FFF2-40B4-BE49-F238E27FC236}">
                <a16:creationId xmlns:a16="http://schemas.microsoft.com/office/drawing/2014/main" id="{D34E1EDF-EE94-4F0D-A223-CBDCEDF07B27}"/>
              </a:ext>
            </a:extLst>
          </p:cNvPr>
          <p:cNvSpPr>
            <a:spLocks noGrp="1"/>
          </p:cNvSpPr>
          <p:nvPr/>
        </p:nvSpPr>
        <p:spPr>
          <a:xfrm>
            <a:off x="285750" y="4743450"/>
            <a:ext cx="8572500" cy="114300"/>
          </a:xfrm>
          <a:prstGeom prst="rect">
            <a:avLst/>
          </a:prstGeom>
          <a:noFill/>
          <a:ln w="0">
            <a:noFill/>
            <a:prstDash val="solid"/>
          </a:ln>
        </p:spPr>
        <p:txBody>
          <a:bodyPr wrap="none" anchor="ct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sz="563" b="0">
                <a:solidFill>
                  <a:srgbClr val="7B8798"/>
                </a:solidFill>
              </a:defRPr>
            </a:pPr>
            <a:r>
              <a:rPr kumimoji="0" sz="563" b="0" i="0" u="none" strike="noStrike" kern="0" cap="none" spc="0" normalizeH="0" baseline="0" noProof="0">
                <a:ln>
                  <a:noFill/>
                </a:ln>
                <a:solidFill>
                  <a:srgbClr val="7B8798"/>
                </a:solidFill>
                <a:effectLst/>
                <a:uLnTx/>
                <a:uFillTx/>
                <a:latin typeface="Arial"/>
                <a:cs typeface="Arial"/>
                <a:sym typeface="Arial"/>
              </a:rPr>
              <a:t>Illustrative production targets</a:t>
            </a:r>
          </a:p>
        </p:txBody>
      </p:sp>
    </p:spTree>
    <p:extLst>
      <p:ext uri="{BB962C8B-B14F-4D97-AF65-F5344CB8AC3E}">
        <p14:creationId xmlns:p14="http://schemas.microsoft.com/office/powerpoint/2010/main" val="1103596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62C7C-36C6-64C3-6F7E-BE5ACFB6732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17C167-5A8B-9A6F-5DD0-B976E7C73D89}"/>
              </a:ext>
            </a:extLst>
          </p:cNvPr>
          <p:cNvSpPr>
            <a:spLocks noGrp="1"/>
          </p:cNvSpPr>
          <p:nvPr>
            <p:ph type="title"/>
          </p:nvPr>
        </p:nvSpPr>
        <p:spPr/>
        <p:txBody>
          <a:bodyPr/>
          <a:lstStyle/>
          <a:p>
            <a:pPr lvl="0"/>
            <a:r>
              <a:rPr lang="en" altLang="zh-CN" dirty="0"/>
              <a:t>Production Inference Architecture</a:t>
            </a:r>
            <a:endParaRPr lang="zh-CN" altLang="en-US" dirty="0"/>
          </a:p>
        </p:txBody>
      </p:sp>
    </p:spTree>
    <p:extLst>
      <p:ext uri="{BB962C8B-B14F-4D97-AF65-F5344CB8AC3E}">
        <p14:creationId xmlns:p14="http://schemas.microsoft.com/office/powerpoint/2010/main" val="528713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08608-17E5-7B6D-7E28-99CBA2F215A6}"/>
              </a:ext>
            </a:extLst>
          </p:cNvPr>
          <p:cNvSpPr>
            <a:spLocks noGrp="1"/>
          </p:cNvSpPr>
          <p:nvPr>
            <p:ph type="title"/>
          </p:nvPr>
        </p:nvSpPr>
        <p:spPr/>
        <p:txBody>
          <a:bodyPr>
            <a:normAutofit/>
          </a:bodyPr>
          <a:lstStyle/>
          <a:p>
            <a:r>
              <a:rPr lang="zh-CN" altLang="zh-CN" dirty="0"/>
              <a:t>Production Distributed Inference Architecture</a:t>
            </a:r>
            <a:endParaRPr lang="zh-CN" altLang="en-US" dirty="0"/>
          </a:p>
        </p:txBody>
      </p:sp>
      <p:sp>
        <p:nvSpPr>
          <p:cNvPr id="85" name="application-rail-box">
            <a:extLst>
              <a:ext uri="{FF2B5EF4-FFF2-40B4-BE49-F238E27FC236}">
                <a16:creationId xmlns:a16="http://schemas.microsoft.com/office/drawing/2014/main" id="{A7F0BE18-D8B7-6DC5-F1F5-9FFE9AA4A4EC}"/>
              </a:ext>
            </a:extLst>
          </p:cNvPr>
          <p:cNvSpPr>
            <a:spLocks noGrp="1"/>
          </p:cNvSpPr>
          <p:nvPr/>
        </p:nvSpPr>
        <p:spPr>
          <a:xfrm>
            <a:off x="76201" y="1214619"/>
            <a:ext cx="762000" cy="381000"/>
          </a:xfrm>
          <a:prstGeom prst="roundRect">
            <a:avLst>
              <a:gd name="adj" fmla="val 10000"/>
            </a:avLst>
          </a:prstGeom>
          <a:solidFill>
            <a:srgbClr val="102031"/>
          </a:solidFill>
          <a:ln w="9525">
            <a:solidFill>
              <a:srgbClr val="102031"/>
            </a:solidFill>
            <a:prstDash val="solid"/>
          </a:ln>
        </p:spPr>
        <p:txBody>
          <a:bodyPr wrap="square" lIns="28575" tIns="9525" rIns="28575" bIns="9525" anchor="ctr">
            <a:normAutofit/>
          </a:bodyPr>
          <a:lstStyle/>
          <a:p>
            <a:pPr algn="ctr">
              <a:defRPr sz="750" b="1">
                <a:solidFill>
                  <a:srgbClr val="FFFFFF"/>
                </a:solidFill>
                <a:latin typeface="Arial"/>
                <a:ea typeface="Arial"/>
                <a:cs typeface="Arial"/>
              </a:defRPr>
            </a:pPr>
            <a:r>
              <a:rPr sz="800" b="1">
                <a:solidFill>
                  <a:srgbClr val="FFFFFF"/>
                </a:solidFill>
                <a:latin typeface="Arial"/>
                <a:ea typeface="Arial"/>
                <a:cs typeface="Arial"/>
              </a:rPr>
              <a:t>Application</a:t>
            </a:r>
          </a:p>
          <a:p>
            <a:pPr algn="ctr">
              <a:defRPr sz="750" b="1">
                <a:solidFill>
                  <a:srgbClr val="FFFFFF"/>
                </a:solidFill>
                <a:latin typeface="Arial"/>
                <a:ea typeface="Arial"/>
                <a:cs typeface="Arial"/>
              </a:defRPr>
            </a:pPr>
            <a:r>
              <a:rPr sz="800" b="1">
                <a:solidFill>
                  <a:srgbClr val="FFFFFF"/>
                </a:solidFill>
                <a:latin typeface="Arial"/>
                <a:ea typeface="Arial"/>
                <a:cs typeface="Arial"/>
              </a:rPr>
              <a:t>Layer</a:t>
            </a:r>
          </a:p>
        </p:txBody>
      </p:sp>
      <p:sp>
        <p:nvSpPr>
          <p:cNvPr id="86" name="application-surface">
            <a:extLst>
              <a:ext uri="{FF2B5EF4-FFF2-40B4-BE49-F238E27FC236}">
                <a16:creationId xmlns:a16="http://schemas.microsoft.com/office/drawing/2014/main" id="{FC6739DF-595B-0861-5B4C-3EB609F0BE25}"/>
              </a:ext>
            </a:extLst>
          </p:cNvPr>
          <p:cNvSpPr>
            <a:spLocks noGrp="1"/>
          </p:cNvSpPr>
          <p:nvPr/>
        </p:nvSpPr>
        <p:spPr>
          <a:xfrm>
            <a:off x="933451" y="1214619"/>
            <a:ext cx="6191250" cy="381000"/>
          </a:xfrm>
          <a:prstGeom prst="roundRect">
            <a:avLst>
              <a:gd name="adj" fmla="val 10000"/>
            </a:avLst>
          </a:prstGeom>
          <a:solidFill>
            <a:srgbClr val="FFFFFF"/>
          </a:solidFill>
          <a:ln w="9525">
            <a:solidFill>
              <a:srgbClr val="D7DEE8"/>
            </a:solidFill>
            <a:prstDash val="solid"/>
          </a:ln>
        </p:spPr>
        <p:txBody>
          <a:bodyPr/>
          <a:lstStyle/>
          <a:p>
            <a:endParaRPr lang="zh-CN" altLang="en-US" sz="1600"/>
          </a:p>
        </p:txBody>
      </p:sp>
      <p:sp>
        <p:nvSpPr>
          <p:cNvPr id="87" name="application-items-1-box">
            <a:extLst>
              <a:ext uri="{FF2B5EF4-FFF2-40B4-BE49-F238E27FC236}">
                <a16:creationId xmlns:a16="http://schemas.microsoft.com/office/drawing/2014/main" id="{BEA3F104-EC15-50E4-8804-0470EBD25CC5}"/>
              </a:ext>
            </a:extLst>
          </p:cNvPr>
          <p:cNvSpPr>
            <a:spLocks noGrp="1"/>
          </p:cNvSpPr>
          <p:nvPr/>
        </p:nvSpPr>
        <p:spPr>
          <a:xfrm>
            <a:off x="1009651" y="1281294"/>
            <a:ext cx="1177290" cy="247650"/>
          </a:xfrm>
          <a:prstGeom prst="roundRect">
            <a:avLst>
              <a:gd name="adj" fmla="val 15385"/>
            </a:avLst>
          </a:prstGeom>
          <a:solidFill>
            <a:srgbClr val="FFFFFF"/>
          </a:solidFill>
          <a:ln w="9525">
            <a:solidFill>
              <a:srgbClr val="D7DEE8"/>
            </a:solidFill>
            <a:prstDash val="solid"/>
          </a:ln>
        </p:spPr>
        <p:txBody>
          <a:bodyPr wrap="square" lIns="28575" tIns="9525" rIns="28575" bIns="9525" anchor="ctr">
            <a:normAutofit/>
          </a:bodyPr>
          <a:lstStyle/>
          <a:p>
            <a:pPr algn="ctr">
              <a:defRPr sz="563" b="0">
                <a:solidFill>
                  <a:srgbClr val="102031"/>
                </a:solidFill>
                <a:latin typeface="Arial"/>
                <a:ea typeface="Arial"/>
                <a:cs typeface="Arial"/>
              </a:defRPr>
            </a:pPr>
            <a:r>
              <a:rPr sz="700" b="0">
                <a:solidFill>
                  <a:srgbClr val="102031"/>
                </a:solidFill>
                <a:latin typeface="Arial"/>
                <a:ea typeface="Arial"/>
                <a:cs typeface="Arial"/>
              </a:rPr>
              <a:t>Web / H5</a:t>
            </a:r>
          </a:p>
        </p:txBody>
      </p:sp>
      <p:sp>
        <p:nvSpPr>
          <p:cNvPr id="88" name="application-items-2-box">
            <a:extLst>
              <a:ext uri="{FF2B5EF4-FFF2-40B4-BE49-F238E27FC236}">
                <a16:creationId xmlns:a16="http://schemas.microsoft.com/office/drawing/2014/main" id="{57E157B9-D48E-A70C-5494-69B0C8A18EAB}"/>
              </a:ext>
            </a:extLst>
          </p:cNvPr>
          <p:cNvSpPr>
            <a:spLocks noGrp="1"/>
          </p:cNvSpPr>
          <p:nvPr/>
        </p:nvSpPr>
        <p:spPr>
          <a:xfrm>
            <a:off x="2225041" y="1281294"/>
            <a:ext cx="1177290" cy="247650"/>
          </a:xfrm>
          <a:prstGeom prst="roundRect">
            <a:avLst>
              <a:gd name="adj" fmla="val 15385"/>
            </a:avLst>
          </a:prstGeom>
          <a:solidFill>
            <a:srgbClr val="FFFFFF"/>
          </a:solidFill>
          <a:ln w="9525">
            <a:solidFill>
              <a:srgbClr val="D7DEE8"/>
            </a:solidFill>
            <a:prstDash val="solid"/>
          </a:ln>
        </p:spPr>
        <p:txBody>
          <a:bodyPr wrap="square" lIns="28575" tIns="9525" rIns="28575" bIns="9525" anchor="ctr">
            <a:normAutofit/>
          </a:bodyPr>
          <a:lstStyle/>
          <a:p>
            <a:pPr algn="ctr">
              <a:defRPr sz="563" b="0">
                <a:solidFill>
                  <a:srgbClr val="102031"/>
                </a:solidFill>
                <a:latin typeface="Arial"/>
                <a:ea typeface="Arial"/>
                <a:cs typeface="Arial"/>
              </a:defRPr>
            </a:pPr>
            <a:r>
              <a:rPr sz="700" b="0">
                <a:solidFill>
                  <a:srgbClr val="102031"/>
                </a:solidFill>
                <a:latin typeface="Arial"/>
                <a:ea typeface="Arial"/>
                <a:cs typeface="Arial"/>
              </a:rPr>
              <a:t>Mobile Apps</a:t>
            </a:r>
          </a:p>
        </p:txBody>
      </p:sp>
      <p:sp>
        <p:nvSpPr>
          <p:cNvPr id="89" name="application-items-3-box">
            <a:extLst>
              <a:ext uri="{FF2B5EF4-FFF2-40B4-BE49-F238E27FC236}">
                <a16:creationId xmlns:a16="http://schemas.microsoft.com/office/drawing/2014/main" id="{AF6EAF3A-86AC-BECC-5A7D-DE5355C98487}"/>
              </a:ext>
            </a:extLst>
          </p:cNvPr>
          <p:cNvSpPr>
            <a:spLocks noGrp="1"/>
          </p:cNvSpPr>
          <p:nvPr/>
        </p:nvSpPr>
        <p:spPr>
          <a:xfrm>
            <a:off x="3440431" y="1281294"/>
            <a:ext cx="1177290" cy="247650"/>
          </a:xfrm>
          <a:prstGeom prst="roundRect">
            <a:avLst>
              <a:gd name="adj" fmla="val 15385"/>
            </a:avLst>
          </a:prstGeom>
          <a:solidFill>
            <a:srgbClr val="FFFFFF"/>
          </a:solidFill>
          <a:ln w="9525">
            <a:solidFill>
              <a:srgbClr val="D7DEE8"/>
            </a:solidFill>
            <a:prstDash val="solid"/>
          </a:ln>
        </p:spPr>
        <p:txBody>
          <a:bodyPr wrap="square" lIns="28575" tIns="9525" rIns="28575" bIns="9525" anchor="ctr">
            <a:normAutofit/>
          </a:bodyPr>
          <a:lstStyle/>
          <a:p>
            <a:pPr algn="ctr">
              <a:defRPr sz="563" b="0">
                <a:solidFill>
                  <a:srgbClr val="102031"/>
                </a:solidFill>
                <a:latin typeface="Arial"/>
                <a:ea typeface="Arial"/>
                <a:cs typeface="Arial"/>
              </a:defRPr>
            </a:pPr>
            <a:r>
              <a:rPr sz="700" b="0">
                <a:solidFill>
                  <a:srgbClr val="102031"/>
                </a:solidFill>
                <a:latin typeface="Arial"/>
                <a:ea typeface="Arial"/>
                <a:cs typeface="Arial"/>
              </a:rPr>
              <a:t>Enterprise Applications</a:t>
            </a:r>
          </a:p>
        </p:txBody>
      </p:sp>
      <p:sp>
        <p:nvSpPr>
          <p:cNvPr id="90" name="application-items-4-box">
            <a:extLst>
              <a:ext uri="{FF2B5EF4-FFF2-40B4-BE49-F238E27FC236}">
                <a16:creationId xmlns:a16="http://schemas.microsoft.com/office/drawing/2014/main" id="{34B4D230-2C91-F76F-810B-3B7C3D5A2CB2}"/>
              </a:ext>
            </a:extLst>
          </p:cNvPr>
          <p:cNvSpPr>
            <a:spLocks noGrp="1"/>
          </p:cNvSpPr>
          <p:nvPr/>
        </p:nvSpPr>
        <p:spPr>
          <a:xfrm>
            <a:off x="4655821" y="1281294"/>
            <a:ext cx="1177290" cy="247650"/>
          </a:xfrm>
          <a:prstGeom prst="roundRect">
            <a:avLst>
              <a:gd name="adj" fmla="val 15385"/>
            </a:avLst>
          </a:prstGeom>
          <a:solidFill>
            <a:srgbClr val="FFFFFF"/>
          </a:solidFill>
          <a:ln w="9525">
            <a:solidFill>
              <a:srgbClr val="D7DEE8"/>
            </a:solidFill>
            <a:prstDash val="solid"/>
          </a:ln>
        </p:spPr>
        <p:txBody>
          <a:bodyPr wrap="square" lIns="28575" tIns="9525" rIns="28575" bIns="9525" anchor="ctr">
            <a:normAutofit/>
          </a:bodyPr>
          <a:lstStyle/>
          <a:p>
            <a:pPr algn="ctr">
              <a:defRPr sz="563" b="0">
                <a:solidFill>
                  <a:srgbClr val="102031"/>
                </a:solidFill>
                <a:latin typeface="Arial"/>
                <a:ea typeface="Arial"/>
                <a:cs typeface="Arial"/>
              </a:defRPr>
            </a:pPr>
            <a:r>
              <a:rPr sz="700" b="0">
                <a:solidFill>
                  <a:srgbClr val="102031"/>
                </a:solidFill>
                <a:latin typeface="Arial"/>
                <a:ea typeface="Arial"/>
                <a:cs typeface="Arial"/>
              </a:rPr>
              <a:t>Third-party Applications</a:t>
            </a:r>
          </a:p>
        </p:txBody>
      </p:sp>
      <p:sp>
        <p:nvSpPr>
          <p:cNvPr id="91" name="application-items-5-box">
            <a:extLst>
              <a:ext uri="{FF2B5EF4-FFF2-40B4-BE49-F238E27FC236}">
                <a16:creationId xmlns:a16="http://schemas.microsoft.com/office/drawing/2014/main" id="{1D1A6355-73EA-D445-E7EF-D9224D4305DF}"/>
              </a:ext>
            </a:extLst>
          </p:cNvPr>
          <p:cNvSpPr>
            <a:spLocks noGrp="1"/>
          </p:cNvSpPr>
          <p:nvPr/>
        </p:nvSpPr>
        <p:spPr>
          <a:xfrm>
            <a:off x="5871211" y="1281294"/>
            <a:ext cx="1177290" cy="247650"/>
          </a:xfrm>
          <a:prstGeom prst="roundRect">
            <a:avLst>
              <a:gd name="adj" fmla="val 15385"/>
            </a:avLst>
          </a:prstGeom>
          <a:solidFill>
            <a:srgbClr val="FFFFFF"/>
          </a:solidFill>
          <a:ln w="9525">
            <a:solidFill>
              <a:srgbClr val="D7DEE8"/>
            </a:solidFill>
            <a:prstDash val="solid"/>
          </a:ln>
        </p:spPr>
        <p:txBody>
          <a:bodyPr wrap="square" lIns="28575" tIns="9525" rIns="28575" bIns="9525" anchor="ctr">
            <a:normAutofit/>
          </a:bodyPr>
          <a:lstStyle/>
          <a:p>
            <a:pPr algn="ctr">
              <a:defRPr sz="563" b="0">
                <a:solidFill>
                  <a:srgbClr val="102031"/>
                </a:solidFill>
                <a:latin typeface="Arial"/>
                <a:ea typeface="Arial"/>
                <a:cs typeface="Arial"/>
              </a:defRPr>
            </a:pPr>
            <a:r>
              <a:rPr sz="700" b="0">
                <a:solidFill>
                  <a:srgbClr val="102031"/>
                </a:solidFill>
                <a:latin typeface="Arial"/>
                <a:ea typeface="Arial"/>
                <a:cs typeface="Arial"/>
              </a:rPr>
              <a:t>…</a:t>
            </a:r>
          </a:p>
        </p:txBody>
      </p:sp>
      <p:sp>
        <p:nvSpPr>
          <p:cNvPr id="92" name="inference-rail-box">
            <a:extLst>
              <a:ext uri="{FF2B5EF4-FFF2-40B4-BE49-F238E27FC236}">
                <a16:creationId xmlns:a16="http://schemas.microsoft.com/office/drawing/2014/main" id="{18DF6413-76FC-31B2-239D-B1BF29732B34}"/>
              </a:ext>
            </a:extLst>
          </p:cNvPr>
          <p:cNvSpPr>
            <a:spLocks noGrp="1"/>
          </p:cNvSpPr>
          <p:nvPr/>
        </p:nvSpPr>
        <p:spPr>
          <a:xfrm>
            <a:off x="76201" y="1652769"/>
            <a:ext cx="762000" cy="2057400"/>
          </a:xfrm>
          <a:prstGeom prst="roundRect">
            <a:avLst>
              <a:gd name="adj" fmla="val 5000"/>
            </a:avLst>
          </a:prstGeom>
          <a:solidFill>
            <a:srgbClr val="102031"/>
          </a:solidFill>
          <a:ln w="9525">
            <a:solidFill>
              <a:srgbClr val="102031"/>
            </a:solidFill>
            <a:prstDash val="solid"/>
          </a:ln>
        </p:spPr>
        <p:txBody>
          <a:bodyPr wrap="square" lIns="28575" tIns="9525" rIns="28575" bIns="9525" anchor="ctr">
            <a:normAutofit/>
          </a:bodyPr>
          <a:lstStyle/>
          <a:p>
            <a:pPr algn="ctr">
              <a:defRPr sz="750" b="1">
                <a:solidFill>
                  <a:srgbClr val="FFFFFF"/>
                </a:solidFill>
                <a:latin typeface="Arial"/>
                <a:ea typeface="Arial"/>
                <a:cs typeface="Arial"/>
              </a:defRPr>
            </a:pPr>
            <a:r>
              <a:rPr sz="800" b="1" dirty="0">
                <a:solidFill>
                  <a:srgbClr val="FFFFFF"/>
                </a:solidFill>
                <a:latin typeface="Arial"/>
                <a:ea typeface="Arial"/>
                <a:cs typeface="Arial"/>
              </a:rPr>
              <a:t>Inference</a:t>
            </a:r>
          </a:p>
          <a:p>
            <a:pPr algn="ctr">
              <a:defRPr sz="750" b="1">
                <a:solidFill>
                  <a:srgbClr val="FFFFFF"/>
                </a:solidFill>
                <a:latin typeface="Arial"/>
                <a:ea typeface="Arial"/>
                <a:cs typeface="Arial"/>
              </a:defRPr>
            </a:pPr>
            <a:r>
              <a:rPr sz="800" b="1" dirty="0">
                <a:solidFill>
                  <a:srgbClr val="FFFFFF"/>
                </a:solidFill>
                <a:latin typeface="Arial"/>
                <a:ea typeface="Arial"/>
                <a:cs typeface="Arial"/>
              </a:rPr>
              <a:t>Layer</a:t>
            </a:r>
          </a:p>
        </p:txBody>
      </p:sp>
      <p:sp>
        <p:nvSpPr>
          <p:cNvPr id="93" name="inference-core-surface">
            <a:extLst>
              <a:ext uri="{FF2B5EF4-FFF2-40B4-BE49-F238E27FC236}">
                <a16:creationId xmlns:a16="http://schemas.microsoft.com/office/drawing/2014/main" id="{318E048E-0E1C-139B-BB3F-18BC924CB124}"/>
              </a:ext>
            </a:extLst>
          </p:cNvPr>
          <p:cNvSpPr>
            <a:spLocks noGrp="1"/>
          </p:cNvSpPr>
          <p:nvPr/>
        </p:nvSpPr>
        <p:spPr>
          <a:xfrm>
            <a:off x="933451" y="1652769"/>
            <a:ext cx="6191250" cy="2057400"/>
          </a:xfrm>
          <a:prstGeom prst="roundRect">
            <a:avLst>
              <a:gd name="adj" fmla="val 2315"/>
            </a:avLst>
          </a:prstGeom>
          <a:solidFill>
            <a:srgbClr val="F9FCF7"/>
          </a:solidFill>
          <a:ln w="9525">
            <a:solidFill>
              <a:srgbClr val="CFE3C7"/>
            </a:solidFill>
            <a:prstDash val="solid"/>
          </a:ln>
        </p:spPr>
        <p:txBody>
          <a:bodyPr/>
          <a:lstStyle/>
          <a:p>
            <a:endParaRPr lang="zh-CN" altLang="en-US" sz="1600"/>
          </a:p>
        </p:txBody>
      </p:sp>
      <p:sp>
        <p:nvSpPr>
          <p:cNvPr id="94" name="inferx-box">
            <a:extLst>
              <a:ext uri="{FF2B5EF4-FFF2-40B4-BE49-F238E27FC236}">
                <a16:creationId xmlns:a16="http://schemas.microsoft.com/office/drawing/2014/main" id="{220BC63F-1079-1FEB-140C-CF510E2917AD}"/>
              </a:ext>
            </a:extLst>
          </p:cNvPr>
          <p:cNvSpPr>
            <a:spLocks noGrp="1"/>
          </p:cNvSpPr>
          <p:nvPr/>
        </p:nvSpPr>
        <p:spPr>
          <a:xfrm>
            <a:off x="990601" y="1709919"/>
            <a:ext cx="6019800" cy="219075"/>
          </a:xfrm>
          <a:prstGeom prst="roundRect">
            <a:avLst>
              <a:gd name="adj" fmla="val 21739"/>
            </a:avLst>
          </a:prstGeom>
          <a:solidFill>
            <a:srgbClr val="247A06"/>
          </a:solidFill>
          <a:ln w="9525">
            <a:solidFill>
              <a:srgbClr val="247A06"/>
            </a:solidFill>
            <a:prstDash val="solid"/>
          </a:ln>
        </p:spPr>
        <p:txBody>
          <a:bodyPr wrap="square" lIns="28575" tIns="9525" rIns="28575" bIns="9525" anchor="ctr">
            <a:normAutofit/>
          </a:bodyPr>
          <a:lstStyle/>
          <a:p>
            <a:pPr algn="ctr">
              <a:defRPr sz="825" b="1">
                <a:solidFill>
                  <a:srgbClr val="FFFFFF"/>
                </a:solidFill>
                <a:latin typeface="Arial"/>
                <a:ea typeface="Arial"/>
                <a:cs typeface="Arial"/>
              </a:defRPr>
            </a:pPr>
            <a:r>
              <a:rPr lang="en-US" sz="900" b="1" dirty="0">
                <a:solidFill>
                  <a:srgbClr val="FFFFFF"/>
                </a:solidFill>
              </a:rPr>
              <a:t>AI</a:t>
            </a:r>
            <a:r>
              <a:rPr lang="en-US" sz="900" b="1" dirty="0">
                <a:solidFill>
                  <a:srgbClr val="FFFFFF"/>
                </a:solidFill>
                <a:latin typeface="Arial"/>
                <a:ea typeface="Arial"/>
                <a:cs typeface="Arial"/>
              </a:rPr>
              <a:t> </a:t>
            </a:r>
            <a:r>
              <a:rPr lang="en-US" sz="900" b="1" dirty="0">
                <a:solidFill>
                  <a:srgbClr val="FFFFFF"/>
                </a:solidFill>
              </a:rPr>
              <a:t>G</a:t>
            </a:r>
            <a:r>
              <a:rPr lang="en-US" sz="900" b="1" dirty="0">
                <a:solidFill>
                  <a:srgbClr val="FFFFFF"/>
                </a:solidFill>
                <a:latin typeface="Arial"/>
                <a:ea typeface="Arial"/>
                <a:cs typeface="Arial"/>
              </a:rPr>
              <a:t>ateway</a:t>
            </a:r>
            <a:r>
              <a:rPr sz="900" b="1" dirty="0">
                <a:solidFill>
                  <a:srgbClr val="FFFFFF"/>
                </a:solidFill>
                <a:latin typeface="Arial"/>
                <a:ea typeface="Arial"/>
                <a:cs typeface="Arial"/>
              </a:rPr>
              <a:t> </a:t>
            </a:r>
            <a:r>
              <a:rPr lang="en-US" sz="900" b="1" dirty="0">
                <a:solidFill>
                  <a:srgbClr val="FFFFFF"/>
                </a:solidFill>
                <a:latin typeface="Arial"/>
                <a:ea typeface="Arial"/>
                <a:cs typeface="Arial"/>
              </a:rPr>
              <a:t>(Business Logic)</a:t>
            </a:r>
            <a:r>
              <a:rPr sz="900" b="1" dirty="0">
                <a:solidFill>
                  <a:srgbClr val="FFFFFF"/>
                </a:solidFill>
                <a:latin typeface="Arial"/>
                <a:ea typeface="Arial"/>
                <a:cs typeface="Arial"/>
              </a:rPr>
              <a:t> (</a:t>
            </a:r>
            <a:r>
              <a:rPr lang="en-US" sz="900" b="1" dirty="0" err="1">
                <a:solidFill>
                  <a:srgbClr val="FFFFFF"/>
                </a:solidFill>
                <a:latin typeface="Arial"/>
                <a:ea typeface="Arial"/>
                <a:cs typeface="Arial"/>
              </a:rPr>
              <a:t>AgentGateway</a:t>
            </a:r>
            <a:r>
              <a:rPr lang="en-US" sz="900" b="1" dirty="0">
                <a:solidFill>
                  <a:srgbClr val="FFFFFF"/>
                </a:solidFill>
              </a:rPr>
              <a:t> , Higress</a:t>
            </a:r>
            <a:r>
              <a:rPr sz="900" b="1" dirty="0">
                <a:solidFill>
                  <a:srgbClr val="FFFFFF"/>
                </a:solidFill>
                <a:latin typeface="Arial"/>
                <a:ea typeface="Arial"/>
                <a:cs typeface="Arial"/>
              </a:rPr>
              <a:t>)</a:t>
            </a:r>
          </a:p>
        </p:txBody>
      </p:sp>
      <p:sp>
        <p:nvSpPr>
          <p:cNvPr id="95" name="orchestration-frame">
            <a:extLst>
              <a:ext uri="{FF2B5EF4-FFF2-40B4-BE49-F238E27FC236}">
                <a16:creationId xmlns:a16="http://schemas.microsoft.com/office/drawing/2014/main" id="{8FB5F1C0-3018-7932-FBBC-E52D91340907}"/>
              </a:ext>
            </a:extLst>
          </p:cNvPr>
          <p:cNvSpPr>
            <a:spLocks noGrp="1"/>
          </p:cNvSpPr>
          <p:nvPr/>
        </p:nvSpPr>
        <p:spPr>
          <a:xfrm>
            <a:off x="990601" y="1976619"/>
            <a:ext cx="6076950" cy="514350"/>
          </a:xfrm>
          <a:prstGeom prst="roundRect">
            <a:avLst>
              <a:gd name="adj" fmla="val 7407"/>
            </a:avLst>
          </a:prstGeom>
          <a:solidFill>
            <a:srgbClr val="FFFFFF"/>
          </a:solidFill>
          <a:ln w="9525">
            <a:solidFill>
              <a:srgbClr val="CFE3C7"/>
            </a:solidFill>
            <a:prstDash val="solid"/>
          </a:ln>
        </p:spPr>
        <p:txBody>
          <a:bodyPr/>
          <a:lstStyle/>
          <a:p>
            <a:endParaRPr lang="zh-CN" altLang="en-US" sz="1600"/>
          </a:p>
        </p:txBody>
      </p:sp>
      <p:sp>
        <p:nvSpPr>
          <p:cNvPr id="96" name="orchestration-title">
            <a:extLst>
              <a:ext uri="{FF2B5EF4-FFF2-40B4-BE49-F238E27FC236}">
                <a16:creationId xmlns:a16="http://schemas.microsoft.com/office/drawing/2014/main" id="{5BA7DF17-5A3A-A056-85FE-9BB04DABD02F}"/>
              </a:ext>
            </a:extLst>
          </p:cNvPr>
          <p:cNvSpPr>
            <a:spLocks noGrp="1"/>
          </p:cNvSpPr>
          <p:nvPr/>
        </p:nvSpPr>
        <p:spPr>
          <a:xfrm>
            <a:off x="1047751" y="2005194"/>
            <a:ext cx="5962650" cy="133350"/>
          </a:xfrm>
          <a:prstGeom prst="rect">
            <a:avLst/>
          </a:prstGeom>
          <a:noFill/>
          <a:ln w="0">
            <a:noFill/>
            <a:prstDash val="solid"/>
          </a:ln>
        </p:spPr>
        <p:txBody>
          <a:bodyPr wrap="square" lIns="19050" tIns="9525" rIns="19050" bIns="9525" anchor="ctr">
            <a:noAutofit/>
          </a:bodyPr>
          <a:lstStyle/>
          <a:p>
            <a:pPr algn="ctr">
              <a:defRPr sz="675" b="1">
                <a:solidFill>
                  <a:srgbClr val="2F8B45"/>
                </a:solidFill>
                <a:latin typeface="Arial"/>
                <a:ea typeface="Arial"/>
                <a:cs typeface="Arial"/>
              </a:defRPr>
            </a:pPr>
            <a:r>
              <a:rPr sz="800" b="1" dirty="0">
                <a:solidFill>
                  <a:srgbClr val="2F8B45"/>
                </a:solidFill>
                <a:latin typeface="Arial"/>
                <a:ea typeface="Arial"/>
                <a:cs typeface="Arial"/>
              </a:rPr>
              <a:t>Orchestration Layer  (LLM-D</a:t>
            </a:r>
            <a:r>
              <a:rPr lang="en-US" sz="800" b="1" dirty="0">
                <a:solidFill>
                  <a:srgbClr val="2F8B45"/>
                </a:solidFill>
                <a:latin typeface="Arial"/>
                <a:ea typeface="Arial"/>
                <a:cs typeface="Arial"/>
              </a:rPr>
              <a:t>, KAITO, Dynamo</a:t>
            </a:r>
            <a:r>
              <a:rPr sz="800" b="1" dirty="0">
                <a:solidFill>
                  <a:srgbClr val="2F8B45"/>
                </a:solidFill>
                <a:latin typeface="Arial"/>
                <a:ea typeface="Arial"/>
                <a:cs typeface="Arial"/>
              </a:rPr>
              <a:t>)</a:t>
            </a:r>
          </a:p>
        </p:txBody>
      </p:sp>
      <p:sp>
        <p:nvSpPr>
          <p:cNvPr id="97" name="orchestration-capabilities-1-box">
            <a:extLst>
              <a:ext uri="{FF2B5EF4-FFF2-40B4-BE49-F238E27FC236}">
                <a16:creationId xmlns:a16="http://schemas.microsoft.com/office/drawing/2014/main" id="{0B42DAF5-12F5-56C0-C211-F8B2FA28F646}"/>
              </a:ext>
            </a:extLst>
          </p:cNvPr>
          <p:cNvSpPr>
            <a:spLocks noGrp="1"/>
          </p:cNvSpPr>
          <p:nvPr/>
        </p:nvSpPr>
        <p:spPr>
          <a:xfrm>
            <a:off x="1711146"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dirty="0">
                <a:solidFill>
                  <a:srgbClr val="102031"/>
                </a:solidFill>
                <a:latin typeface="Arial"/>
                <a:ea typeface="Arial"/>
                <a:cs typeface="Arial"/>
              </a:rPr>
              <a:t>Service</a:t>
            </a:r>
          </a:p>
          <a:p>
            <a:pPr algn="ctr">
              <a:defRPr sz="465" b="0">
                <a:solidFill>
                  <a:srgbClr val="102031"/>
                </a:solidFill>
                <a:latin typeface="Arial"/>
                <a:ea typeface="Arial"/>
                <a:cs typeface="Arial"/>
              </a:defRPr>
            </a:pPr>
            <a:r>
              <a:rPr sz="600" b="0" dirty="0">
                <a:solidFill>
                  <a:srgbClr val="102031"/>
                </a:solidFill>
                <a:latin typeface="Arial"/>
                <a:ea typeface="Arial"/>
                <a:cs typeface="Arial"/>
              </a:rPr>
              <a:t>Orchestration</a:t>
            </a:r>
          </a:p>
        </p:txBody>
      </p:sp>
      <p:sp>
        <p:nvSpPr>
          <p:cNvPr id="98" name="orchestration-capabilities-2-box">
            <a:extLst>
              <a:ext uri="{FF2B5EF4-FFF2-40B4-BE49-F238E27FC236}">
                <a16:creationId xmlns:a16="http://schemas.microsoft.com/office/drawing/2014/main" id="{C460F9DE-7201-3B00-BFAC-6B4779F72D19}"/>
              </a:ext>
            </a:extLst>
          </p:cNvPr>
          <p:cNvSpPr>
            <a:spLocks noGrp="1"/>
          </p:cNvSpPr>
          <p:nvPr/>
        </p:nvSpPr>
        <p:spPr>
          <a:xfrm>
            <a:off x="2567035"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a:solidFill>
                  <a:srgbClr val="102031"/>
                </a:solidFill>
                <a:latin typeface="Arial"/>
                <a:ea typeface="Arial"/>
                <a:cs typeface="Arial"/>
              </a:rPr>
              <a:t>Routing &amp;</a:t>
            </a:r>
          </a:p>
          <a:p>
            <a:pPr algn="ctr">
              <a:defRPr sz="465" b="0">
                <a:solidFill>
                  <a:srgbClr val="102031"/>
                </a:solidFill>
                <a:latin typeface="Arial"/>
                <a:ea typeface="Arial"/>
                <a:cs typeface="Arial"/>
              </a:defRPr>
            </a:pPr>
            <a:r>
              <a:rPr sz="600" b="0">
                <a:solidFill>
                  <a:srgbClr val="102031"/>
                </a:solidFill>
                <a:latin typeface="Arial"/>
                <a:ea typeface="Arial"/>
                <a:cs typeface="Arial"/>
              </a:rPr>
              <a:t>Load Balancing</a:t>
            </a:r>
          </a:p>
        </p:txBody>
      </p:sp>
      <p:sp>
        <p:nvSpPr>
          <p:cNvPr id="99" name="orchestration-capabilities-3-box">
            <a:extLst>
              <a:ext uri="{FF2B5EF4-FFF2-40B4-BE49-F238E27FC236}">
                <a16:creationId xmlns:a16="http://schemas.microsoft.com/office/drawing/2014/main" id="{CDDCCF35-840B-3FA3-7C86-F00B5F1D7F12}"/>
              </a:ext>
            </a:extLst>
          </p:cNvPr>
          <p:cNvSpPr>
            <a:spLocks noGrp="1"/>
          </p:cNvSpPr>
          <p:nvPr/>
        </p:nvSpPr>
        <p:spPr>
          <a:xfrm>
            <a:off x="3422925"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a:solidFill>
                  <a:srgbClr val="102031"/>
                </a:solidFill>
                <a:latin typeface="Arial"/>
                <a:ea typeface="Arial"/>
                <a:cs typeface="Arial"/>
              </a:rPr>
              <a:t>Scheduling &amp;</a:t>
            </a:r>
          </a:p>
          <a:p>
            <a:pPr algn="ctr">
              <a:defRPr sz="465" b="0">
                <a:solidFill>
                  <a:srgbClr val="102031"/>
                </a:solidFill>
                <a:latin typeface="Arial"/>
                <a:ea typeface="Arial"/>
                <a:cs typeface="Arial"/>
              </a:defRPr>
            </a:pPr>
            <a:r>
              <a:rPr sz="600" b="0">
                <a:solidFill>
                  <a:srgbClr val="102031"/>
                </a:solidFill>
                <a:latin typeface="Arial"/>
                <a:ea typeface="Arial"/>
                <a:cs typeface="Arial"/>
              </a:rPr>
              <a:t>Autoscaling</a:t>
            </a:r>
          </a:p>
        </p:txBody>
      </p:sp>
      <p:sp>
        <p:nvSpPr>
          <p:cNvPr id="100" name="orchestration-capabilities-4-box">
            <a:extLst>
              <a:ext uri="{FF2B5EF4-FFF2-40B4-BE49-F238E27FC236}">
                <a16:creationId xmlns:a16="http://schemas.microsoft.com/office/drawing/2014/main" id="{DB1B3049-C44C-3902-4B37-8DAB89330443}"/>
              </a:ext>
            </a:extLst>
          </p:cNvPr>
          <p:cNvSpPr>
            <a:spLocks noGrp="1"/>
          </p:cNvSpPr>
          <p:nvPr/>
        </p:nvSpPr>
        <p:spPr>
          <a:xfrm>
            <a:off x="4278814"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dirty="0">
                <a:solidFill>
                  <a:srgbClr val="102031"/>
                </a:solidFill>
                <a:latin typeface="Arial"/>
                <a:ea typeface="Arial"/>
                <a:cs typeface="Arial"/>
              </a:rPr>
              <a:t>Policy &amp; Strategy</a:t>
            </a:r>
          </a:p>
          <a:p>
            <a:pPr algn="ctr">
              <a:defRPr sz="465" b="0">
                <a:solidFill>
                  <a:srgbClr val="102031"/>
                </a:solidFill>
                <a:latin typeface="Arial"/>
                <a:ea typeface="Arial"/>
                <a:cs typeface="Arial"/>
              </a:defRPr>
            </a:pPr>
            <a:r>
              <a:rPr sz="600" b="0" dirty="0">
                <a:solidFill>
                  <a:srgbClr val="102031"/>
                </a:solidFill>
                <a:latin typeface="Arial"/>
                <a:ea typeface="Arial"/>
                <a:cs typeface="Arial"/>
              </a:rPr>
              <a:t>Management</a:t>
            </a:r>
          </a:p>
        </p:txBody>
      </p:sp>
      <p:sp>
        <p:nvSpPr>
          <p:cNvPr id="102" name="orchestration-capabilities-6-box">
            <a:extLst>
              <a:ext uri="{FF2B5EF4-FFF2-40B4-BE49-F238E27FC236}">
                <a16:creationId xmlns:a16="http://schemas.microsoft.com/office/drawing/2014/main" id="{D4C56765-5941-5A9B-11A7-CA3184DF781D}"/>
              </a:ext>
            </a:extLst>
          </p:cNvPr>
          <p:cNvSpPr>
            <a:spLocks noGrp="1"/>
          </p:cNvSpPr>
          <p:nvPr/>
        </p:nvSpPr>
        <p:spPr>
          <a:xfrm>
            <a:off x="5204099"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a:solidFill>
                  <a:srgbClr val="102031"/>
                </a:solidFill>
                <a:latin typeface="Arial"/>
                <a:ea typeface="Arial"/>
                <a:cs typeface="Arial"/>
              </a:rPr>
              <a:t>Elastic</a:t>
            </a:r>
          </a:p>
          <a:p>
            <a:pPr algn="ctr">
              <a:defRPr sz="465" b="0">
                <a:solidFill>
                  <a:srgbClr val="102031"/>
                </a:solidFill>
                <a:latin typeface="Arial"/>
                <a:ea typeface="Arial"/>
                <a:cs typeface="Arial"/>
              </a:defRPr>
            </a:pPr>
            <a:r>
              <a:rPr sz="600" b="0">
                <a:solidFill>
                  <a:srgbClr val="102031"/>
                </a:solidFill>
                <a:latin typeface="Arial"/>
                <a:ea typeface="Arial"/>
                <a:cs typeface="Arial"/>
              </a:rPr>
              <a:t>Scaling</a:t>
            </a:r>
          </a:p>
        </p:txBody>
      </p:sp>
      <p:sp>
        <p:nvSpPr>
          <p:cNvPr id="103" name="orchestration-capabilities-7-box">
            <a:extLst>
              <a:ext uri="{FF2B5EF4-FFF2-40B4-BE49-F238E27FC236}">
                <a16:creationId xmlns:a16="http://schemas.microsoft.com/office/drawing/2014/main" id="{142455BB-019D-478E-144D-E85B309E82DD}"/>
              </a:ext>
            </a:extLst>
          </p:cNvPr>
          <p:cNvSpPr>
            <a:spLocks noGrp="1"/>
          </p:cNvSpPr>
          <p:nvPr/>
        </p:nvSpPr>
        <p:spPr>
          <a:xfrm>
            <a:off x="6059989" y="2160017"/>
            <a:ext cx="827314" cy="266700"/>
          </a:xfrm>
          <a:prstGeom prst="roundRect">
            <a:avLst>
              <a:gd name="adj" fmla="val 14286"/>
            </a:avLst>
          </a:prstGeom>
          <a:solidFill>
            <a:srgbClr val="F7FBF4"/>
          </a:solidFill>
          <a:ln w="9525">
            <a:solidFill>
              <a:srgbClr val="D4E8CB"/>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dirty="0">
                <a:solidFill>
                  <a:srgbClr val="102031"/>
                </a:solidFill>
                <a:latin typeface="Arial"/>
                <a:ea typeface="Arial"/>
                <a:cs typeface="Arial"/>
              </a:rPr>
              <a:t>Observability &amp;</a:t>
            </a:r>
          </a:p>
          <a:p>
            <a:pPr algn="ctr">
              <a:defRPr sz="465" b="0">
                <a:solidFill>
                  <a:srgbClr val="102031"/>
                </a:solidFill>
                <a:latin typeface="Arial"/>
                <a:ea typeface="Arial"/>
                <a:cs typeface="Arial"/>
              </a:defRPr>
            </a:pPr>
            <a:r>
              <a:rPr sz="600" b="0" dirty="0">
                <a:solidFill>
                  <a:srgbClr val="102031"/>
                </a:solidFill>
                <a:latin typeface="Arial"/>
                <a:ea typeface="Arial"/>
                <a:cs typeface="Arial"/>
              </a:rPr>
              <a:t>Monitoring</a:t>
            </a:r>
          </a:p>
        </p:txBody>
      </p:sp>
      <p:sp>
        <p:nvSpPr>
          <p:cNvPr id="104" name="runtime-frame">
            <a:extLst>
              <a:ext uri="{FF2B5EF4-FFF2-40B4-BE49-F238E27FC236}">
                <a16:creationId xmlns:a16="http://schemas.microsoft.com/office/drawing/2014/main" id="{1FAF42A9-034D-2498-9D21-870CF65024CE}"/>
              </a:ext>
            </a:extLst>
          </p:cNvPr>
          <p:cNvSpPr>
            <a:spLocks noGrp="1"/>
          </p:cNvSpPr>
          <p:nvPr/>
        </p:nvSpPr>
        <p:spPr>
          <a:xfrm>
            <a:off x="990601" y="2538594"/>
            <a:ext cx="6076950" cy="409575"/>
          </a:xfrm>
          <a:prstGeom prst="roundRect">
            <a:avLst>
              <a:gd name="adj" fmla="val 9302"/>
            </a:avLst>
          </a:prstGeom>
          <a:solidFill>
            <a:srgbClr val="FFFFFF"/>
          </a:solidFill>
          <a:ln w="9525">
            <a:solidFill>
              <a:srgbClr val="CFE3C7"/>
            </a:solidFill>
            <a:prstDash val="solid"/>
          </a:ln>
        </p:spPr>
        <p:txBody>
          <a:bodyPr/>
          <a:lstStyle/>
          <a:p>
            <a:endParaRPr lang="zh-CN" altLang="en-US" sz="1600"/>
          </a:p>
        </p:txBody>
      </p:sp>
      <p:sp>
        <p:nvSpPr>
          <p:cNvPr id="105" name="runtime-title">
            <a:extLst>
              <a:ext uri="{FF2B5EF4-FFF2-40B4-BE49-F238E27FC236}">
                <a16:creationId xmlns:a16="http://schemas.microsoft.com/office/drawing/2014/main" id="{B1F77162-90B2-16C0-A95B-FBEEFECB9417}"/>
              </a:ext>
            </a:extLst>
          </p:cNvPr>
          <p:cNvSpPr>
            <a:spLocks noGrp="1"/>
          </p:cNvSpPr>
          <p:nvPr/>
        </p:nvSpPr>
        <p:spPr>
          <a:xfrm>
            <a:off x="1666876" y="2567169"/>
            <a:ext cx="5334000" cy="123825"/>
          </a:xfrm>
          <a:prstGeom prst="rect">
            <a:avLst/>
          </a:prstGeom>
          <a:noFill/>
          <a:ln w="0">
            <a:noFill/>
            <a:prstDash val="solid"/>
          </a:ln>
        </p:spPr>
        <p:txBody>
          <a:bodyPr wrap="square" lIns="19050" tIns="9525" rIns="19050" bIns="9525" anchor="ctr">
            <a:noAutofit/>
          </a:bodyPr>
          <a:lstStyle/>
          <a:p>
            <a:pPr algn="ctr">
              <a:defRPr sz="638" b="1">
                <a:solidFill>
                  <a:srgbClr val="2F8B45"/>
                </a:solidFill>
                <a:latin typeface="Arial"/>
                <a:ea typeface="Arial"/>
                <a:cs typeface="Arial"/>
              </a:defRPr>
            </a:pPr>
            <a:r>
              <a:rPr sz="700" b="1" dirty="0">
                <a:solidFill>
                  <a:srgbClr val="2F8B45"/>
                </a:solidFill>
                <a:latin typeface="Arial"/>
                <a:ea typeface="Arial"/>
                <a:cs typeface="Arial"/>
              </a:rPr>
              <a:t>Inference Runtime Layer  (</a:t>
            </a:r>
            <a:r>
              <a:rPr sz="700" b="1" dirty="0" err="1">
                <a:solidFill>
                  <a:srgbClr val="2F8B45"/>
                </a:solidFill>
                <a:latin typeface="Arial"/>
                <a:ea typeface="Arial"/>
                <a:cs typeface="Arial"/>
              </a:rPr>
              <a:t>vLLM</a:t>
            </a:r>
            <a:r>
              <a:rPr lang="en-US" sz="700" b="1" dirty="0">
                <a:solidFill>
                  <a:srgbClr val="2F8B45"/>
                </a:solidFill>
                <a:latin typeface="Arial"/>
                <a:ea typeface="Arial"/>
                <a:cs typeface="Arial"/>
              </a:rPr>
              <a:t>, </a:t>
            </a:r>
            <a:r>
              <a:rPr lang="en-US" sz="700" b="1" dirty="0" err="1">
                <a:solidFill>
                  <a:srgbClr val="2F8B45"/>
                </a:solidFill>
                <a:latin typeface="Arial"/>
                <a:ea typeface="Arial"/>
                <a:cs typeface="Arial"/>
              </a:rPr>
              <a:t>SGLang</a:t>
            </a:r>
            <a:r>
              <a:rPr lang="en-US" sz="700" b="1" dirty="0">
                <a:solidFill>
                  <a:srgbClr val="2F8B45"/>
                </a:solidFill>
                <a:latin typeface="Arial"/>
                <a:ea typeface="Arial"/>
                <a:cs typeface="Arial"/>
              </a:rPr>
              <a:t>, Triton </a:t>
            </a:r>
            <a:r>
              <a:rPr sz="700" b="1" dirty="0">
                <a:solidFill>
                  <a:srgbClr val="2F8B45"/>
                </a:solidFill>
                <a:latin typeface="Arial"/>
                <a:ea typeface="Arial"/>
                <a:cs typeface="Arial"/>
              </a:rPr>
              <a:t>)</a:t>
            </a:r>
          </a:p>
        </p:txBody>
      </p:sp>
      <p:sp>
        <p:nvSpPr>
          <p:cNvPr id="106" name="vllm-wordmark">
            <a:extLst>
              <a:ext uri="{FF2B5EF4-FFF2-40B4-BE49-F238E27FC236}">
                <a16:creationId xmlns:a16="http://schemas.microsoft.com/office/drawing/2014/main" id="{1735F861-B3FD-E358-3BB5-BA350EE256E2}"/>
              </a:ext>
            </a:extLst>
          </p:cNvPr>
          <p:cNvSpPr>
            <a:spLocks noGrp="1"/>
          </p:cNvSpPr>
          <p:nvPr/>
        </p:nvSpPr>
        <p:spPr>
          <a:xfrm>
            <a:off x="1066801" y="2681469"/>
            <a:ext cx="552450" cy="190500"/>
          </a:xfrm>
          <a:prstGeom prst="rect">
            <a:avLst/>
          </a:prstGeom>
          <a:noFill/>
          <a:ln w="0">
            <a:noFill/>
            <a:prstDash val="solid"/>
          </a:ln>
        </p:spPr>
        <p:txBody>
          <a:bodyPr wrap="square" lIns="19050" tIns="9525" rIns="19050" bIns="9525" anchor="ctr">
            <a:noAutofit/>
          </a:bodyPr>
          <a:lstStyle/>
          <a:p>
            <a:pPr algn="ctr">
              <a:defRPr sz="1200" b="1">
                <a:solidFill>
                  <a:srgbClr val="475569"/>
                </a:solidFill>
                <a:latin typeface="Arial"/>
                <a:ea typeface="Arial"/>
                <a:cs typeface="Arial"/>
              </a:defRPr>
            </a:pPr>
            <a:r>
              <a:rPr sz="1200" b="1" dirty="0" err="1">
                <a:solidFill>
                  <a:srgbClr val="475569"/>
                </a:solidFill>
                <a:latin typeface="Arial"/>
                <a:ea typeface="Arial"/>
                <a:cs typeface="Arial"/>
              </a:rPr>
              <a:t>vLLM</a:t>
            </a:r>
            <a:endParaRPr sz="1200" b="1" dirty="0">
              <a:solidFill>
                <a:srgbClr val="475569"/>
              </a:solidFill>
              <a:latin typeface="Arial"/>
              <a:ea typeface="Arial"/>
              <a:cs typeface="Arial"/>
            </a:endParaRPr>
          </a:p>
        </p:txBody>
      </p:sp>
      <p:sp>
        <p:nvSpPr>
          <p:cNvPr id="107" name="runtime-capabilities-1-box">
            <a:extLst>
              <a:ext uri="{FF2B5EF4-FFF2-40B4-BE49-F238E27FC236}">
                <a16:creationId xmlns:a16="http://schemas.microsoft.com/office/drawing/2014/main" id="{1B5EEE5A-CE88-FD07-0F39-5C91565950A2}"/>
              </a:ext>
            </a:extLst>
          </p:cNvPr>
          <p:cNvSpPr>
            <a:spLocks noGrp="1"/>
          </p:cNvSpPr>
          <p:nvPr/>
        </p:nvSpPr>
        <p:spPr>
          <a:xfrm>
            <a:off x="1676401"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Continuous Batching</a:t>
            </a:r>
          </a:p>
        </p:txBody>
      </p:sp>
      <p:sp>
        <p:nvSpPr>
          <p:cNvPr id="108" name="runtime-capabilities-2-box">
            <a:extLst>
              <a:ext uri="{FF2B5EF4-FFF2-40B4-BE49-F238E27FC236}">
                <a16:creationId xmlns:a16="http://schemas.microsoft.com/office/drawing/2014/main" id="{8231CD6F-71C3-8B76-1B47-9F0F0DC17A8F}"/>
              </a:ext>
            </a:extLst>
          </p:cNvPr>
          <p:cNvSpPr>
            <a:spLocks noGrp="1"/>
          </p:cNvSpPr>
          <p:nvPr/>
        </p:nvSpPr>
        <p:spPr>
          <a:xfrm>
            <a:off x="2566989"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Paged Attention</a:t>
            </a:r>
          </a:p>
        </p:txBody>
      </p:sp>
      <p:sp>
        <p:nvSpPr>
          <p:cNvPr id="109" name="runtime-capabilities-3-box">
            <a:extLst>
              <a:ext uri="{FF2B5EF4-FFF2-40B4-BE49-F238E27FC236}">
                <a16:creationId xmlns:a16="http://schemas.microsoft.com/office/drawing/2014/main" id="{0D66DF2C-42DA-189C-E7EA-7816A229F0E3}"/>
              </a:ext>
            </a:extLst>
          </p:cNvPr>
          <p:cNvSpPr>
            <a:spLocks noGrp="1"/>
          </p:cNvSpPr>
          <p:nvPr/>
        </p:nvSpPr>
        <p:spPr>
          <a:xfrm>
            <a:off x="3457576"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Speculative Decoding</a:t>
            </a:r>
          </a:p>
        </p:txBody>
      </p:sp>
      <p:sp>
        <p:nvSpPr>
          <p:cNvPr id="110" name="runtime-capabilities-4-box">
            <a:extLst>
              <a:ext uri="{FF2B5EF4-FFF2-40B4-BE49-F238E27FC236}">
                <a16:creationId xmlns:a16="http://schemas.microsoft.com/office/drawing/2014/main" id="{30C600C0-E27C-C2C8-5F01-5F570FB8A7E4}"/>
              </a:ext>
            </a:extLst>
          </p:cNvPr>
          <p:cNvSpPr>
            <a:spLocks noGrp="1"/>
          </p:cNvSpPr>
          <p:nvPr/>
        </p:nvSpPr>
        <p:spPr>
          <a:xfrm>
            <a:off x="4348164"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Multi-LoRA</a:t>
            </a:r>
          </a:p>
        </p:txBody>
      </p:sp>
      <p:sp>
        <p:nvSpPr>
          <p:cNvPr id="111" name="runtime-capabilities-5-box">
            <a:extLst>
              <a:ext uri="{FF2B5EF4-FFF2-40B4-BE49-F238E27FC236}">
                <a16:creationId xmlns:a16="http://schemas.microsoft.com/office/drawing/2014/main" id="{BF57638F-BE9A-670B-FBAF-FD8B9860ED44}"/>
              </a:ext>
            </a:extLst>
          </p:cNvPr>
          <p:cNvSpPr>
            <a:spLocks noGrp="1"/>
          </p:cNvSpPr>
          <p:nvPr/>
        </p:nvSpPr>
        <p:spPr>
          <a:xfrm>
            <a:off x="5238751"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Prefix Cache</a:t>
            </a:r>
          </a:p>
        </p:txBody>
      </p:sp>
      <p:sp>
        <p:nvSpPr>
          <p:cNvPr id="112" name="runtime-capabilities-6-box">
            <a:extLst>
              <a:ext uri="{FF2B5EF4-FFF2-40B4-BE49-F238E27FC236}">
                <a16:creationId xmlns:a16="http://schemas.microsoft.com/office/drawing/2014/main" id="{79144BC9-1D6E-9DDF-CC7A-1C253E4EA11F}"/>
              </a:ext>
            </a:extLst>
          </p:cNvPr>
          <p:cNvSpPr>
            <a:spLocks noGrp="1"/>
          </p:cNvSpPr>
          <p:nvPr/>
        </p:nvSpPr>
        <p:spPr>
          <a:xfrm>
            <a:off x="6129339" y="2710044"/>
            <a:ext cx="862013" cy="171450"/>
          </a:xfrm>
          <a:prstGeom prst="roundRect">
            <a:avLst>
              <a:gd name="adj" fmla="val 22222"/>
            </a:avLst>
          </a:prstGeom>
          <a:solidFill>
            <a:srgbClr val="F8FAF5"/>
          </a:solidFill>
          <a:ln w="9525">
            <a:solidFill>
              <a:srgbClr val="D8E6D1"/>
            </a:solidFill>
            <a:prstDash val="solid"/>
          </a:ln>
        </p:spPr>
        <p:txBody>
          <a:bodyPr wrap="square" lIns="28575" tIns="9525" rIns="28575" bIns="9525" anchor="ctr">
            <a:normAutofit/>
          </a:bodyPr>
          <a:lstStyle/>
          <a:p>
            <a:pPr algn="ctr">
              <a:defRPr sz="480" b="0">
                <a:solidFill>
                  <a:srgbClr val="102031"/>
                </a:solidFill>
                <a:latin typeface="Arial"/>
                <a:ea typeface="Arial"/>
                <a:cs typeface="Arial"/>
              </a:defRPr>
            </a:pPr>
            <a:r>
              <a:rPr sz="600" b="0">
                <a:solidFill>
                  <a:srgbClr val="102031"/>
                </a:solidFill>
                <a:latin typeface="Arial"/>
                <a:ea typeface="Arial"/>
                <a:cs typeface="Arial"/>
              </a:rPr>
              <a:t>…</a:t>
            </a:r>
          </a:p>
        </p:txBody>
      </p:sp>
      <p:sp>
        <p:nvSpPr>
          <p:cNvPr id="113" name="kv-frame">
            <a:extLst>
              <a:ext uri="{FF2B5EF4-FFF2-40B4-BE49-F238E27FC236}">
                <a16:creationId xmlns:a16="http://schemas.microsoft.com/office/drawing/2014/main" id="{2AEC3F3C-C0AE-2DCE-C52A-5FD994AE1283}"/>
              </a:ext>
            </a:extLst>
          </p:cNvPr>
          <p:cNvSpPr>
            <a:spLocks noGrp="1"/>
          </p:cNvSpPr>
          <p:nvPr/>
        </p:nvSpPr>
        <p:spPr>
          <a:xfrm>
            <a:off x="990601" y="2995794"/>
            <a:ext cx="6076950" cy="657225"/>
          </a:xfrm>
          <a:prstGeom prst="roundRect">
            <a:avLst>
              <a:gd name="adj" fmla="val 5797"/>
            </a:avLst>
          </a:prstGeom>
          <a:solidFill>
            <a:srgbClr val="FFFFFF"/>
          </a:solidFill>
          <a:ln w="9525">
            <a:solidFill>
              <a:srgbClr val="CFE3C7"/>
            </a:solidFill>
            <a:prstDash val="solid"/>
          </a:ln>
        </p:spPr>
        <p:txBody>
          <a:bodyPr/>
          <a:lstStyle/>
          <a:p>
            <a:endParaRPr lang="zh-CN" altLang="en-US" sz="1600"/>
          </a:p>
        </p:txBody>
      </p:sp>
      <p:sp>
        <p:nvSpPr>
          <p:cNvPr id="114" name="kv-title">
            <a:extLst>
              <a:ext uri="{FF2B5EF4-FFF2-40B4-BE49-F238E27FC236}">
                <a16:creationId xmlns:a16="http://schemas.microsoft.com/office/drawing/2014/main" id="{47181DCF-CFDD-7158-04D6-90A5F078E914}"/>
              </a:ext>
            </a:extLst>
          </p:cNvPr>
          <p:cNvSpPr>
            <a:spLocks noGrp="1"/>
          </p:cNvSpPr>
          <p:nvPr/>
        </p:nvSpPr>
        <p:spPr>
          <a:xfrm>
            <a:off x="1047751" y="3014844"/>
            <a:ext cx="5962650" cy="123825"/>
          </a:xfrm>
          <a:prstGeom prst="rect">
            <a:avLst/>
          </a:prstGeom>
          <a:noFill/>
          <a:ln w="0">
            <a:noFill/>
            <a:prstDash val="solid"/>
          </a:ln>
        </p:spPr>
        <p:txBody>
          <a:bodyPr wrap="square" lIns="19050" tIns="9525" rIns="19050" bIns="9525" anchor="ctr">
            <a:noAutofit/>
          </a:bodyPr>
          <a:lstStyle/>
          <a:p>
            <a:pPr algn="ctr">
              <a:defRPr sz="653" b="1">
                <a:solidFill>
                  <a:srgbClr val="2F8B45"/>
                </a:solidFill>
                <a:latin typeface="Arial"/>
                <a:ea typeface="Arial"/>
                <a:cs typeface="Arial"/>
              </a:defRPr>
            </a:pPr>
            <a:r>
              <a:rPr sz="800" b="1" dirty="0">
                <a:solidFill>
                  <a:srgbClr val="2F8B45"/>
                </a:solidFill>
                <a:latin typeface="Arial"/>
                <a:ea typeface="Arial"/>
                <a:cs typeface="Arial"/>
              </a:rPr>
              <a:t>KV-Cache Offload &amp; Management Layer  (</a:t>
            </a:r>
            <a:r>
              <a:rPr lang="en-US" sz="800" b="1" dirty="0" err="1">
                <a:solidFill>
                  <a:srgbClr val="2F8B45"/>
                </a:solidFill>
                <a:latin typeface="Arial"/>
                <a:ea typeface="Arial"/>
                <a:cs typeface="Arial"/>
              </a:rPr>
              <a:t>LMCache</a:t>
            </a:r>
            <a:r>
              <a:rPr lang="en-US" sz="800" b="1" dirty="0">
                <a:solidFill>
                  <a:srgbClr val="2F8B45"/>
                </a:solidFill>
                <a:latin typeface="Arial"/>
                <a:ea typeface="Arial"/>
                <a:cs typeface="Arial"/>
              </a:rPr>
              <a:t>, KVBM</a:t>
            </a:r>
            <a:r>
              <a:rPr lang="en-US" sz="800" b="1" dirty="0">
                <a:solidFill>
                  <a:srgbClr val="2F8B45"/>
                </a:solidFill>
              </a:rPr>
              <a:t>, </a:t>
            </a:r>
            <a:r>
              <a:rPr lang="en-US" sz="800" b="1" dirty="0">
                <a:solidFill>
                  <a:srgbClr val="2F8B45"/>
                </a:solidFill>
                <a:latin typeface="Arial"/>
                <a:ea typeface="Arial"/>
                <a:cs typeface="Arial"/>
              </a:rPr>
              <a:t>Mooncake</a:t>
            </a:r>
            <a:r>
              <a:rPr sz="800" b="1" dirty="0">
                <a:solidFill>
                  <a:srgbClr val="2F8B45"/>
                </a:solidFill>
                <a:latin typeface="Arial"/>
                <a:ea typeface="Arial"/>
                <a:cs typeface="Arial"/>
              </a:rPr>
              <a:t>)</a:t>
            </a:r>
          </a:p>
        </p:txBody>
      </p:sp>
      <p:sp>
        <p:nvSpPr>
          <p:cNvPr id="115" name="kv-col-1">
            <a:extLst>
              <a:ext uri="{FF2B5EF4-FFF2-40B4-BE49-F238E27FC236}">
                <a16:creationId xmlns:a16="http://schemas.microsoft.com/office/drawing/2014/main" id="{EA1F52F3-EE9D-BB92-FE97-4D6B1DFAA101}"/>
              </a:ext>
            </a:extLst>
          </p:cNvPr>
          <p:cNvSpPr>
            <a:spLocks noGrp="1"/>
          </p:cNvSpPr>
          <p:nvPr/>
        </p:nvSpPr>
        <p:spPr>
          <a:xfrm>
            <a:off x="1047751" y="3157719"/>
            <a:ext cx="1162050" cy="447675"/>
          </a:xfrm>
          <a:prstGeom prst="roundRect">
            <a:avLst>
              <a:gd name="adj" fmla="val 6383"/>
            </a:avLst>
          </a:prstGeom>
          <a:solidFill>
            <a:srgbClr val="FAFCF8"/>
          </a:solidFill>
          <a:ln w="9525">
            <a:solidFill>
              <a:srgbClr val="DAE9D4"/>
            </a:solidFill>
            <a:prstDash val="solid"/>
          </a:ln>
        </p:spPr>
        <p:txBody>
          <a:bodyPr/>
          <a:lstStyle/>
          <a:p>
            <a:endParaRPr lang="zh-CN" altLang="en-US" sz="1600"/>
          </a:p>
        </p:txBody>
      </p:sp>
      <p:sp>
        <p:nvSpPr>
          <p:cNvPr id="116" name="kv-col-1-title">
            <a:extLst>
              <a:ext uri="{FF2B5EF4-FFF2-40B4-BE49-F238E27FC236}">
                <a16:creationId xmlns:a16="http://schemas.microsoft.com/office/drawing/2014/main" id="{BE4C0944-2FC8-C97E-1732-615921EF4C8D}"/>
              </a:ext>
            </a:extLst>
          </p:cNvPr>
          <p:cNvSpPr>
            <a:spLocks noGrp="1"/>
          </p:cNvSpPr>
          <p:nvPr/>
        </p:nvSpPr>
        <p:spPr>
          <a:xfrm>
            <a:off x="1066801" y="3176769"/>
            <a:ext cx="1123950" cy="95250"/>
          </a:xfrm>
          <a:prstGeom prst="rect">
            <a:avLst/>
          </a:prstGeom>
          <a:noFill/>
          <a:ln w="0">
            <a:noFill/>
            <a:prstDash val="solid"/>
          </a:ln>
        </p:spPr>
        <p:txBody>
          <a:bodyPr wrap="square" lIns="19050" tIns="9525" rIns="19050" bIns="9525" anchor="ctr">
            <a:normAutofit/>
          </a:bodyPr>
          <a:lstStyle/>
          <a:p>
            <a:pPr algn="ctr">
              <a:defRPr sz="435" b="1">
                <a:solidFill>
                  <a:srgbClr val="2F8B45"/>
                </a:solidFill>
                <a:latin typeface="Arial"/>
                <a:ea typeface="Arial"/>
                <a:cs typeface="Arial"/>
              </a:defRPr>
            </a:pPr>
            <a:r>
              <a:rPr sz="500" b="1">
                <a:solidFill>
                  <a:srgbClr val="2F8B45"/>
                </a:solidFill>
                <a:latin typeface="Arial"/>
                <a:ea typeface="Arial"/>
                <a:cs typeface="Arial"/>
              </a:rPr>
              <a:t>KV Cache Management</a:t>
            </a:r>
          </a:p>
        </p:txBody>
      </p:sp>
      <p:sp>
        <p:nvSpPr>
          <p:cNvPr id="117" name="kv-col-1-body">
            <a:extLst>
              <a:ext uri="{FF2B5EF4-FFF2-40B4-BE49-F238E27FC236}">
                <a16:creationId xmlns:a16="http://schemas.microsoft.com/office/drawing/2014/main" id="{BC40F0CE-8360-1C41-8532-6F898F7566E3}"/>
              </a:ext>
            </a:extLst>
          </p:cNvPr>
          <p:cNvSpPr>
            <a:spLocks noGrp="1"/>
          </p:cNvSpPr>
          <p:nvPr/>
        </p:nvSpPr>
        <p:spPr>
          <a:xfrm>
            <a:off x="1076326" y="3281544"/>
            <a:ext cx="1104900" cy="295275"/>
          </a:xfrm>
          <a:prstGeom prst="rect">
            <a:avLst/>
          </a:prstGeom>
          <a:noFill/>
          <a:ln w="0">
            <a:noFill/>
            <a:prstDash val="solid"/>
          </a:ln>
        </p:spPr>
        <p:txBody>
          <a:bodyPr wrap="square" lIns="19050" tIns="9525" rIns="19050" bIns="9525" anchor="ctr">
            <a:noAutofit/>
          </a:bodyPr>
          <a:lstStyle/>
          <a:p>
            <a:pPr algn="ctr">
              <a:defRPr sz="397" b="0">
                <a:solidFill>
                  <a:srgbClr val="102031"/>
                </a:solidFill>
                <a:latin typeface="Arial"/>
                <a:ea typeface="Arial"/>
                <a:cs typeface="Arial"/>
              </a:defRPr>
            </a:pPr>
            <a:r>
              <a:rPr sz="500" b="0">
                <a:solidFill>
                  <a:srgbClr val="102031"/>
                </a:solidFill>
                <a:latin typeface="Arial"/>
                <a:ea typeface="Arial"/>
                <a:cs typeface="Arial"/>
              </a:rPr>
              <a:t>KVBM</a:t>
            </a:r>
          </a:p>
          <a:p>
            <a:pPr algn="ctr">
              <a:defRPr sz="397" b="0">
                <a:solidFill>
                  <a:srgbClr val="102031"/>
                </a:solidFill>
                <a:latin typeface="Arial"/>
                <a:ea typeface="Arial"/>
                <a:cs typeface="Arial"/>
              </a:defRPr>
            </a:pPr>
            <a:r>
              <a:rPr sz="500" b="0">
                <a:solidFill>
                  <a:srgbClr val="102031"/>
                </a:solidFill>
                <a:latin typeface="Arial"/>
                <a:ea typeface="Arial"/>
                <a:cs typeface="Arial"/>
              </a:rPr>
              <a:t>LMCache</a:t>
            </a:r>
          </a:p>
          <a:p>
            <a:pPr algn="ctr">
              <a:defRPr sz="397" b="0">
                <a:solidFill>
                  <a:srgbClr val="102031"/>
                </a:solidFill>
                <a:latin typeface="Arial"/>
                <a:ea typeface="Arial"/>
                <a:cs typeface="Arial"/>
              </a:defRPr>
            </a:pPr>
            <a:r>
              <a:rPr sz="500" b="0">
                <a:solidFill>
                  <a:srgbClr val="102031"/>
                </a:solidFill>
                <a:latin typeface="Arial"/>
                <a:ea typeface="Arial"/>
                <a:cs typeface="Arial"/>
              </a:rPr>
              <a:t>Mooncake</a:t>
            </a:r>
          </a:p>
          <a:p>
            <a:pPr algn="ctr">
              <a:defRPr sz="397" b="0">
                <a:solidFill>
                  <a:srgbClr val="102031"/>
                </a:solidFill>
                <a:latin typeface="Arial"/>
                <a:ea typeface="Arial"/>
                <a:cs typeface="Arial"/>
              </a:defRPr>
            </a:pPr>
            <a:r>
              <a:rPr sz="500" b="0">
                <a:solidFill>
                  <a:srgbClr val="102031"/>
                </a:solidFill>
                <a:latin typeface="Arial"/>
                <a:ea typeface="Arial"/>
                <a:cs typeface="Arial"/>
              </a:rPr>
              <a:t>…</a:t>
            </a:r>
          </a:p>
        </p:txBody>
      </p:sp>
      <p:sp>
        <p:nvSpPr>
          <p:cNvPr id="118" name="kv-col-2">
            <a:extLst>
              <a:ext uri="{FF2B5EF4-FFF2-40B4-BE49-F238E27FC236}">
                <a16:creationId xmlns:a16="http://schemas.microsoft.com/office/drawing/2014/main" id="{5D38B01C-3D48-22EC-122E-E7DDB21B7DA1}"/>
              </a:ext>
            </a:extLst>
          </p:cNvPr>
          <p:cNvSpPr>
            <a:spLocks noGrp="1"/>
          </p:cNvSpPr>
          <p:nvPr/>
        </p:nvSpPr>
        <p:spPr>
          <a:xfrm>
            <a:off x="2247901" y="3157719"/>
            <a:ext cx="1162050" cy="447675"/>
          </a:xfrm>
          <a:prstGeom prst="roundRect">
            <a:avLst>
              <a:gd name="adj" fmla="val 6383"/>
            </a:avLst>
          </a:prstGeom>
          <a:solidFill>
            <a:srgbClr val="FAFCF8"/>
          </a:solidFill>
          <a:ln w="9525">
            <a:solidFill>
              <a:srgbClr val="DAE9D4"/>
            </a:solidFill>
            <a:prstDash val="solid"/>
          </a:ln>
        </p:spPr>
        <p:txBody>
          <a:bodyPr/>
          <a:lstStyle/>
          <a:p>
            <a:endParaRPr lang="zh-CN" altLang="en-US" sz="1600"/>
          </a:p>
        </p:txBody>
      </p:sp>
      <p:sp>
        <p:nvSpPr>
          <p:cNvPr id="119" name="kv-col-2-title">
            <a:extLst>
              <a:ext uri="{FF2B5EF4-FFF2-40B4-BE49-F238E27FC236}">
                <a16:creationId xmlns:a16="http://schemas.microsoft.com/office/drawing/2014/main" id="{223D98C9-3BE5-99F9-577E-D11575812298}"/>
              </a:ext>
            </a:extLst>
          </p:cNvPr>
          <p:cNvSpPr>
            <a:spLocks noGrp="1"/>
          </p:cNvSpPr>
          <p:nvPr/>
        </p:nvSpPr>
        <p:spPr>
          <a:xfrm>
            <a:off x="2266951" y="3176769"/>
            <a:ext cx="1123950" cy="95250"/>
          </a:xfrm>
          <a:prstGeom prst="rect">
            <a:avLst/>
          </a:prstGeom>
          <a:noFill/>
          <a:ln w="0">
            <a:noFill/>
            <a:prstDash val="solid"/>
          </a:ln>
        </p:spPr>
        <p:txBody>
          <a:bodyPr wrap="square" lIns="19050" tIns="9525" rIns="19050" bIns="9525" anchor="ctr">
            <a:normAutofit/>
          </a:bodyPr>
          <a:lstStyle/>
          <a:p>
            <a:pPr algn="ctr">
              <a:defRPr sz="435" b="1">
                <a:solidFill>
                  <a:srgbClr val="2F8B45"/>
                </a:solidFill>
                <a:latin typeface="Arial"/>
                <a:ea typeface="Arial"/>
                <a:cs typeface="Arial"/>
              </a:defRPr>
            </a:pPr>
            <a:r>
              <a:rPr sz="500" b="1">
                <a:solidFill>
                  <a:srgbClr val="2F8B45"/>
                </a:solidFill>
                <a:latin typeface="Arial"/>
                <a:ea typeface="Arial"/>
                <a:cs typeface="Arial"/>
              </a:rPr>
              <a:t>Storage Abstraction (NIXL)</a:t>
            </a:r>
          </a:p>
        </p:txBody>
      </p:sp>
      <p:sp>
        <p:nvSpPr>
          <p:cNvPr id="120" name="kv-col-2-body">
            <a:extLst>
              <a:ext uri="{FF2B5EF4-FFF2-40B4-BE49-F238E27FC236}">
                <a16:creationId xmlns:a16="http://schemas.microsoft.com/office/drawing/2014/main" id="{5A7AAD5E-D4A8-3867-7636-7C37C780A8CC}"/>
              </a:ext>
            </a:extLst>
          </p:cNvPr>
          <p:cNvSpPr>
            <a:spLocks noGrp="1"/>
          </p:cNvSpPr>
          <p:nvPr/>
        </p:nvSpPr>
        <p:spPr>
          <a:xfrm>
            <a:off x="2276476" y="3281544"/>
            <a:ext cx="1104900" cy="295275"/>
          </a:xfrm>
          <a:prstGeom prst="rect">
            <a:avLst/>
          </a:prstGeom>
          <a:noFill/>
          <a:ln w="0">
            <a:noFill/>
            <a:prstDash val="solid"/>
          </a:ln>
        </p:spPr>
        <p:txBody>
          <a:bodyPr wrap="square" lIns="19050" tIns="9525" rIns="19050" bIns="9525" anchor="ctr">
            <a:noAutofit/>
          </a:bodyPr>
          <a:lstStyle/>
          <a:p>
            <a:pPr algn="ctr">
              <a:defRPr sz="397" b="0">
                <a:solidFill>
                  <a:srgbClr val="102031"/>
                </a:solidFill>
                <a:latin typeface="Arial"/>
                <a:ea typeface="Arial"/>
                <a:cs typeface="Arial"/>
              </a:defRPr>
            </a:pPr>
            <a:r>
              <a:rPr sz="500" b="0">
                <a:solidFill>
                  <a:srgbClr val="102031"/>
                </a:solidFill>
                <a:latin typeface="Arial"/>
                <a:ea typeface="Arial"/>
                <a:cs typeface="Arial"/>
              </a:rPr>
              <a:t>Unified Interface</a:t>
            </a:r>
          </a:p>
          <a:p>
            <a:pPr algn="ctr">
              <a:defRPr sz="397" b="0">
                <a:solidFill>
                  <a:srgbClr val="102031"/>
                </a:solidFill>
                <a:latin typeface="Arial"/>
                <a:ea typeface="Arial"/>
                <a:cs typeface="Arial"/>
              </a:defRPr>
            </a:pPr>
            <a:r>
              <a:rPr sz="500" b="0">
                <a:solidFill>
                  <a:srgbClr val="102031"/>
                </a:solidFill>
                <a:latin typeface="Arial"/>
                <a:ea typeface="Arial"/>
                <a:cs typeface="Arial"/>
              </a:rPr>
              <a:t>Tiered Storage Mgmt.</a:t>
            </a:r>
          </a:p>
          <a:p>
            <a:pPr algn="ctr">
              <a:defRPr sz="397" b="0">
                <a:solidFill>
                  <a:srgbClr val="102031"/>
                </a:solidFill>
                <a:latin typeface="Arial"/>
                <a:ea typeface="Arial"/>
                <a:cs typeface="Arial"/>
              </a:defRPr>
            </a:pPr>
            <a:r>
              <a:rPr sz="500" b="0">
                <a:solidFill>
                  <a:srgbClr val="102031"/>
                </a:solidFill>
                <a:latin typeface="Arial"/>
                <a:ea typeface="Arial"/>
                <a:cs typeface="Arial"/>
              </a:rPr>
              <a:t>Cache Policy</a:t>
            </a:r>
          </a:p>
          <a:p>
            <a:pPr algn="ctr">
              <a:defRPr sz="397" b="0">
                <a:solidFill>
                  <a:srgbClr val="102031"/>
                </a:solidFill>
                <a:latin typeface="Arial"/>
                <a:ea typeface="Arial"/>
                <a:cs typeface="Arial"/>
              </a:defRPr>
            </a:pPr>
            <a:r>
              <a:rPr sz="500" b="0">
                <a:solidFill>
                  <a:srgbClr val="102031"/>
                </a:solidFill>
                <a:latin typeface="Arial"/>
                <a:ea typeface="Arial"/>
                <a:cs typeface="Arial"/>
              </a:rPr>
              <a:t>Data Consistency</a:t>
            </a:r>
          </a:p>
        </p:txBody>
      </p:sp>
      <p:sp>
        <p:nvSpPr>
          <p:cNvPr id="121" name="kv-col-3">
            <a:extLst>
              <a:ext uri="{FF2B5EF4-FFF2-40B4-BE49-F238E27FC236}">
                <a16:creationId xmlns:a16="http://schemas.microsoft.com/office/drawing/2014/main" id="{03E3C4CC-A53E-7325-CD9B-FFCEB733698E}"/>
              </a:ext>
            </a:extLst>
          </p:cNvPr>
          <p:cNvSpPr>
            <a:spLocks noGrp="1"/>
          </p:cNvSpPr>
          <p:nvPr/>
        </p:nvSpPr>
        <p:spPr>
          <a:xfrm>
            <a:off x="3448051" y="3157719"/>
            <a:ext cx="1162050" cy="447675"/>
          </a:xfrm>
          <a:prstGeom prst="roundRect">
            <a:avLst>
              <a:gd name="adj" fmla="val 6383"/>
            </a:avLst>
          </a:prstGeom>
          <a:solidFill>
            <a:srgbClr val="FAFCF8"/>
          </a:solidFill>
          <a:ln w="9525">
            <a:solidFill>
              <a:srgbClr val="DAE9D4"/>
            </a:solidFill>
            <a:prstDash val="solid"/>
          </a:ln>
        </p:spPr>
        <p:txBody>
          <a:bodyPr/>
          <a:lstStyle/>
          <a:p>
            <a:endParaRPr lang="zh-CN" altLang="en-US" sz="1600"/>
          </a:p>
        </p:txBody>
      </p:sp>
      <p:sp>
        <p:nvSpPr>
          <p:cNvPr id="122" name="kv-col-3-title">
            <a:extLst>
              <a:ext uri="{FF2B5EF4-FFF2-40B4-BE49-F238E27FC236}">
                <a16:creationId xmlns:a16="http://schemas.microsoft.com/office/drawing/2014/main" id="{CB1131DB-E96F-8364-712C-33FD2CFD269A}"/>
              </a:ext>
            </a:extLst>
          </p:cNvPr>
          <p:cNvSpPr>
            <a:spLocks noGrp="1"/>
          </p:cNvSpPr>
          <p:nvPr/>
        </p:nvSpPr>
        <p:spPr>
          <a:xfrm>
            <a:off x="3467101" y="3176769"/>
            <a:ext cx="1123950" cy="95250"/>
          </a:xfrm>
          <a:prstGeom prst="rect">
            <a:avLst/>
          </a:prstGeom>
          <a:noFill/>
          <a:ln w="0">
            <a:noFill/>
            <a:prstDash val="solid"/>
          </a:ln>
        </p:spPr>
        <p:txBody>
          <a:bodyPr wrap="square" lIns="19050" tIns="9525" rIns="19050" bIns="9525" anchor="ctr">
            <a:normAutofit/>
          </a:bodyPr>
          <a:lstStyle/>
          <a:p>
            <a:pPr algn="ctr">
              <a:defRPr sz="435" b="1">
                <a:solidFill>
                  <a:srgbClr val="2F8B45"/>
                </a:solidFill>
                <a:latin typeface="Arial"/>
                <a:ea typeface="Arial"/>
                <a:cs typeface="Arial"/>
              </a:defRPr>
            </a:pPr>
            <a:r>
              <a:rPr sz="500" b="1">
                <a:solidFill>
                  <a:srgbClr val="2F8B45"/>
                </a:solidFill>
                <a:latin typeface="Arial"/>
                <a:ea typeface="Arial"/>
                <a:cs typeface="Arial"/>
              </a:rPr>
              <a:t>Distributed Memory KV Transport</a:t>
            </a:r>
          </a:p>
        </p:txBody>
      </p:sp>
      <p:sp>
        <p:nvSpPr>
          <p:cNvPr id="123" name="kv-col-3-body">
            <a:extLst>
              <a:ext uri="{FF2B5EF4-FFF2-40B4-BE49-F238E27FC236}">
                <a16:creationId xmlns:a16="http://schemas.microsoft.com/office/drawing/2014/main" id="{8B80068E-4C4C-3A0E-5B67-3C766C4AFE41}"/>
              </a:ext>
            </a:extLst>
          </p:cNvPr>
          <p:cNvSpPr>
            <a:spLocks noGrp="1"/>
          </p:cNvSpPr>
          <p:nvPr/>
        </p:nvSpPr>
        <p:spPr>
          <a:xfrm>
            <a:off x="3476626" y="3281544"/>
            <a:ext cx="1104900" cy="295275"/>
          </a:xfrm>
          <a:prstGeom prst="rect">
            <a:avLst/>
          </a:prstGeom>
          <a:noFill/>
          <a:ln w="0">
            <a:noFill/>
            <a:prstDash val="solid"/>
          </a:ln>
        </p:spPr>
        <p:txBody>
          <a:bodyPr wrap="square" lIns="19050" tIns="9525" rIns="19050" bIns="9525" anchor="ctr">
            <a:noAutofit/>
          </a:bodyPr>
          <a:lstStyle/>
          <a:p>
            <a:pPr algn="ctr">
              <a:defRPr sz="397" b="0">
                <a:solidFill>
                  <a:srgbClr val="102031"/>
                </a:solidFill>
                <a:latin typeface="Arial"/>
                <a:ea typeface="Arial"/>
                <a:cs typeface="Arial"/>
              </a:defRPr>
            </a:pPr>
            <a:r>
              <a:rPr sz="500" b="0" dirty="0" err="1">
                <a:solidFill>
                  <a:srgbClr val="102031"/>
                </a:solidFill>
                <a:latin typeface="Arial"/>
                <a:ea typeface="Arial"/>
                <a:cs typeface="Arial"/>
              </a:rPr>
              <a:t>Redhare</a:t>
            </a:r>
            <a:endParaRPr sz="500" b="0" dirty="0">
              <a:solidFill>
                <a:srgbClr val="102031"/>
              </a:solidFill>
              <a:latin typeface="Arial"/>
              <a:ea typeface="Arial"/>
              <a:cs typeface="Arial"/>
            </a:endParaRPr>
          </a:p>
          <a:p>
            <a:pPr algn="ctr">
              <a:defRPr sz="397" b="0">
                <a:solidFill>
                  <a:srgbClr val="102031"/>
                </a:solidFill>
                <a:latin typeface="Arial"/>
                <a:ea typeface="Arial"/>
                <a:cs typeface="Arial"/>
              </a:defRPr>
            </a:pPr>
            <a:r>
              <a:rPr sz="500" b="0" dirty="0">
                <a:solidFill>
                  <a:srgbClr val="102031"/>
                </a:solidFill>
                <a:latin typeface="Arial"/>
                <a:ea typeface="Arial"/>
                <a:cs typeface="Arial"/>
              </a:rPr>
              <a:t>(Distributed Memory KV Transport)</a:t>
            </a:r>
          </a:p>
          <a:p>
            <a:pPr algn="ctr">
              <a:defRPr sz="397" b="0">
                <a:solidFill>
                  <a:srgbClr val="102031"/>
                </a:solidFill>
                <a:latin typeface="Arial"/>
                <a:ea typeface="Arial"/>
                <a:cs typeface="Arial"/>
              </a:defRPr>
            </a:pPr>
            <a:r>
              <a:rPr sz="500" b="0" dirty="0" err="1">
                <a:solidFill>
                  <a:srgbClr val="102031"/>
                </a:solidFill>
                <a:latin typeface="Arial"/>
                <a:ea typeface="Arial"/>
                <a:cs typeface="Arial"/>
              </a:rPr>
              <a:t>ContextStor</a:t>
            </a:r>
            <a:endParaRPr sz="500" b="0" dirty="0">
              <a:solidFill>
                <a:srgbClr val="102031"/>
              </a:solidFill>
              <a:latin typeface="Arial"/>
              <a:ea typeface="Arial"/>
              <a:cs typeface="Arial"/>
            </a:endParaRPr>
          </a:p>
          <a:p>
            <a:pPr algn="ctr">
              <a:defRPr sz="397" b="0">
                <a:solidFill>
                  <a:srgbClr val="102031"/>
                </a:solidFill>
                <a:latin typeface="Arial"/>
                <a:ea typeface="Arial"/>
                <a:cs typeface="Arial"/>
              </a:defRPr>
            </a:pPr>
            <a:r>
              <a:rPr sz="500" b="0" dirty="0">
                <a:solidFill>
                  <a:srgbClr val="102031"/>
                </a:solidFill>
                <a:latin typeface="Arial"/>
                <a:ea typeface="Arial"/>
                <a:cs typeface="Arial"/>
              </a:rPr>
              <a:t>(Large Context Storage)</a:t>
            </a:r>
          </a:p>
        </p:txBody>
      </p:sp>
      <p:sp>
        <p:nvSpPr>
          <p:cNvPr id="124" name="kv-col-4">
            <a:extLst>
              <a:ext uri="{FF2B5EF4-FFF2-40B4-BE49-F238E27FC236}">
                <a16:creationId xmlns:a16="http://schemas.microsoft.com/office/drawing/2014/main" id="{C0067503-6750-50A1-6C54-7120A8D8D9AD}"/>
              </a:ext>
            </a:extLst>
          </p:cNvPr>
          <p:cNvSpPr>
            <a:spLocks noGrp="1"/>
          </p:cNvSpPr>
          <p:nvPr/>
        </p:nvSpPr>
        <p:spPr>
          <a:xfrm>
            <a:off x="4648201" y="3157719"/>
            <a:ext cx="1162050" cy="447675"/>
          </a:xfrm>
          <a:prstGeom prst="roundRect">
            <a:avLst>
              <a:gd name="adj" fmla="val 6383"/>
            </a:avLst>
          </a:prstGeom>
          <a:solidFill>
            <a:srgbClr val="FAFCF8"/>
          </a:solidFill>
          <a:ln w="9525">
            <a:solidFill>
              <a:srgbClr val="DAE9D4"/>
            </a:solidFill>
            <a:prstDash val="solid"/>
          </a:ln>
        </p:spPr>
        <p:txBody>
          <a:bodyPr/>
          <a:lstStyle/>
          <a:p>
            <a:endParaRPr lang="zh-CN" altLang="en-US" sz="1600"/>
          </a:p>
        </p:txBody>
      </p:sp>
      <p:sp>
        <p:nvSpPr>
          <p:cNvPr id="125" name="kv-col-4-title">
            <a:extLst>
              <a:ext uri="{FF2B5EF4-FFF2-40B4-BE49-F238E27FC236}">
                <a16:creationId xmlns:a16="http://schemas.microsoft.com/office/drawing/2014/main" id="{B9D81905-06C0-BAB5-C490-190A118C5448}"/>
              </a:ext>
            </a:extLst>
          </p:cNvPr>
          <p:cNvSpPr>
            <a:spLocks noGrp="1"/>
          </p:cNvSpPr>
          <p:nvPr/>
        </p:nvSpPr>
        <p:spPr>
          <a:xfrm>
            <a:off x="4667251" y="3176769"/>
            <a:ext cx="1123950" cy="95250"/>
          </a:xfrm>
          <a:prstGeom prst="rect">
            <a:avLst/>
          </a:prstGeom>
          <a:noFill/>
          <a:ln w="0">
            <a:noFill/>
            <a:prstDash val="solid"/>
          </a:ln>
        </p:spPr>
        <p:txBody>
          <a:bodyPr wrap="square" lIns="19050" tIns="9525" rIns="19050" bIns="9525" anchor="ctr">
            <a:normAutofit/>
          </a:bodyPr>
          <a:lstStyle/>
          <a:p>
            <a:pPr algn="ctr">
              <a:defRPr sz="435" b="1">
                <a:solidFill>
                  <a:srgbClr val="2F8B45"/>
                </a:solidFill>
                <a:latin typeface="Arial"/>
                <a:ea typeface="Arial"/>
                <a:cs typeface="Arial"/>
              </a:defRPr>
            </a:pPr>
            <a:r>
              <a:rPr sz="500" b="1">
                <a:solidFill>
                  <a:srgbClr val="2F8B45"/>
                </a:solidFill>
                <a:latin typeface="Arial"/>
                <a:ea typeface="Arial"/>
                <a:cs typeface="Arial"/>
              </a:rPr>
              <a:t>Storage Backend</a:t>
            </a:r>
          </a:p>
        </p:txBody>
      </p:sp>
      <p:sp>
        <p:nvSpPr>
          <p:cNvPr id="126" name="kv-col-4-body">
            <a:extLst>
              <a:ext uri="{FF2B5EF4-FFF2-40B4-BE49-F238E27FC236}">
                <a16:creationId xmlns:a16="http://schemas.microsoft.com/office/drawing/2014/main" id="{45628B75-DA1D-EE1F-A039-FB875A2BA173}"/>
              </a:ext>
            </a:extLst>
          </p:cNvPr>
          <p:cNvSpPr>
            <a:spLocks noGrp="1"/>
          </p:cNvSpPr>
          <p:nvPr/>
        </p:nvSpPr>
        <p:spPr>
          <a:xfrm>
            <a:off x="4676776" y="3281544"/>
            <a:ext cx="1104900" cy="295275"/>
          </a:xfrm>
          <a:prstGeom prst="rect">
            <a:avLst/>
          </a:prstGeom>
          <a:noFill/>
          <a:ln w="0">
            <a:noFill/>
            <a:prstDash val="solid"/>
          </a:ln>
        </p:spPr>
        <p:txBody>
          <a:bodyPr wrap="square" lIns="19050" tIns="9525" rIns="19050" bIns="9525" anchor="ctr">
            <a:normAutofit/>
          </a:bodyPr>
          <a:lstStyle/>
          <a:p>
            <a:pPr algn="ctr">
              <a:defRPr sz="397" b="0">
                <a:solidFill>
                  <a:srgbClr val="102031"/>
                </a:solidFill>
                <a:latin typeface="Arial"/>
                <a:ea typeface="Arial"/>
                <a:cs typeface="Arial"/>
              </a:defRPr>
            </a:pPr>
            <a:r>
              <a:rPr sz="500" b="0" dirty="0">
                <a:solidFill>
                  <a:srgbClr val="102031"/>
                </a:solidFill>
                <a:latin typeface="Arial"/>
                <a:ea typeface="Arial"/>
                <a:cs typeface="Arial"/>
              </a:rPr>
              <a:t>Object / File Storage</a:t>
            </a:r>
          </a:p>
          <a:p>
            <a:pPr algn="ctr">
              <a:defRPr sz="397" b="0">
                <a:solidFill>
                  <a:srgbClr val="102031"/>
                </a:solidFill>
                <a:latin typeface="Arial"/>
                <a:ea typeface="Arial"/>
                <a:cs typeface="Arial"/>
              </a:defRPr>
            </a:pPr>
            <a:r>
              <a:rPr sz="500" b="0" dirty="0">
                <a:solidFill>
                  <a:srgbClr val="102031"/>
                </a:solidFill>
                <a:latin typeface="Arial"/>
                <a:ea typeface="Arial"/>
                <a:cs typeface="Arial"/>
              </a:rPr>
              <a:t>High-performance Storage</a:t>
            </a:r>
          </a:p>
          <a:p>
            <a:pPr algn="ctr">
              <a:defRPr sz="397" b="0">
                <a:solidFill>
                  <a:srgbClr val="102031"/>
                </a:solidFill>
                <a:latin typeface="Arial"/>
                <a:ea typeface="Arial"/>
                <a:cs typeface="Arial"/>
              </a:defRPr>
            </a:pPr>
            <a:r>
              <a:rPr sz="500" b="0" dirty="0">
                <a:solidFill>
                  <a:srgbClr val="102031"/>
                </a:solidFill>
                <a:latin typeface="Arial"/>
                <a:ea typeface="Arial"/>
                <a:cs typeface="Arial"/>
              </a:rPr>
              <a:t>Cloud / On-prem Storage</a:t>
            </a:r>
          </a:p>
        </p:txBody>
      </p:sp>
      <p:sp>
        <p:nvSpPr>
          <p:cNvPr id="127" name="kv-col-5">
            <a:extLst>
              <a:ext uri="{FF2B5EF4-FFF2-40B4-BE49-F238E27FC236}">
                <a16:creationId xmlns:a16="http://schemas.microsoft.com/office/drawing/2014/main" id="{1EE7A009-20AF-7E11-FF5A-4EE1664C9665}"/>
              </a:ext>
            </a:extLst>
          </p:cNvPr>
          <p:cNvSpPr>
            <a:spLocks noGrp="1"/>
          </p:cNvSpPr>
          <p:nvPr/>
        </p:nvSpPr>
        <p:spPr>
          <a:xfrm>
            <a:off x="5848351" y="3157719"/>
            <a:ext cx="1162050" cy="447675"/>
          </a:xfrm>
          <a:prstGeom prst="roundRect">
            <a:avLst>
              <a:gd name="adj" fmla="val 6383"/>
            </a:avLst>
          </a:prstGeom>
          <a:solidFill>
            <a:srgbClr val="FAFCF8"/>
          </a:solidFill>
          <a:ln w="9525">
            <a:solidFill>
              <a:srgbClr val="DAE9D4"/>
            </a:solidFill>
            <a:prstDash val="solid"/>
          </a:ln>
        </p:spPr>
        <p:txBody>
          <a:bodyPr/>
          <a:lstStyle/>
          <a:p>
            <a:endParaRPr lang="zh-CN" altLang="en-US" sz="1600"/>
          </a:p>
        </p:txBody>
      </p:sp>
      <p:sp>
        <p:nvSpPr>
          <p:cNvPr id="128" name="kv-col-5-title">
            <a:extLst>
              <a:ext uri="{FF2B5EF4-FFF2-40B4-BE49-F238E27FC236}">
                <a16:creationId xmlns:a16="http://schemas.microsoft.com/office/drawing/2014/main" id="{6B4B0ECF-0BE7-F0E1-DE94-AFEEA2DDB242}"/>
              </a:ext>
            </a:extLst>
          </p:cNvPr>
          <p:cNvSpPr>
            <a:spLocks noGrp="1"/>
          </p:cNvSpPr>
          <p:nvPr/>
        </p:nvSpPr>
        <p:spPr>
          <a:xfrm>
            <a:off x="5867401" y="3176769"/>
            <a:ext cx="1123950" cy="95250"/>
          </a:xfrm>
          <a:prstGeom prst="rect">
            <a:avLst/>
          </a:prstGeom>
          <a:noFill/>
          <a:ln w="0">
            <a:noFill/>
            <a:prstDash val="solid"/>
          </a:ln>
        </p:spPr>
        <p:txBody>
          <a:bodyPr wrap="square" lIns="19050" tIns="9525" rIns="19050" bIns="9525" anchor="ctr">
            <a:normAutofit/>
          </a:bodyPr>
          <a:lstStyle/>
          <a:p>
            <a:pPr algn="ctr">
              <a:defRPr sz="435" b="1">
                <a:solidFill>
                  <a:srgbClr val="2F8B45"/>
                </a:solidFill>
                <a:latin typeface="Arial"/>
                <a:ea typeface="Arial"/>
                <a:cs typeface="Arial"/>
              </a:defRPr>
            </a:pPr>
            <a:r>
              <a:rPr sz="500" b="1">
                <a:solidFill>
                  <a:srgbClr val="2F8B45"/>
                </a:solidFill>
                <a:latin typeface="Arial"/>
                <a:ea typeface="Arial"/>
                <a:cs typeface="Arial"/>
              </a:rPr>
              <a:t>DPU Storage Gateway</a:t>
            </a:r>
          </a:p>
        </p:txBody>
      </p:sp>
      <p:sp>
        <p:nvSpPr>
          <p:cNvPr id="129" name="kv-col-5-body">
            <a:extLst>
              <a:ext uri="{FF2B5EF4-FFF2-40B4-BE49-F238E27FC236}">
                <a16:creationId xmlns:a16="http://schemas.microsoft.com/office/drawing/2014/main" id="{C779D286-49EA-452F-945C-071D5E11C130}"/>
              </a:ext>
            </a:extLst>
          </p:cNvPr>
          <p:cNvSpPr>
            <a:spLocks noGrp="1"/>
          </p:cNvSpPr>
          <p:nvPr/>
        </p:nvSpPr>
        <p:spPr>
          <a:xfrm>
            <a:off x="5876926" y="3281544"/>
            <a:ext cx="1104900" cy="295275"/>
          </a:xfrm>
          <a:prstGeom prst="rect">
            <a:avLst/>
          </a:prstGeom>
          <a:noFill/>
          <a:ln w="0">
            <a:noFill/>
            <a:prstDash val="solid"/>
          </a:ln>
        </p:spPr>
        <p:txBody>
          <a:bodyPr wrap="square" lIns="19050" tIns="9525" rIns="19050" bIns="9525" anchor="ctr">
            <a:normAutofit/>
          </a:bodyPr>
          <a:lstStyle/>
          <a:p>
            <a:pPr algn="ctr">
              <a:defRPr sz="397" b="0">
                <a:solidFill>
                  <a:srgbClr val="102031"/>
                </a:solidFill>
                <a:latin typeface="Arial"/>
                <a:ea typeface="Arial"/>
                <a:cs typeface="Arial"/>
              </a:defRPr>
            </a:pPr>
            <a:r>
              <a:rPr sz="500" b="0" dirty="0">
                <a:solidFill>
                  <a:srgbClr val="102031"/>
                </a:solidFill>
                <a:latin typeface="Arial"/>
                <a:ea typeface="Arial"/>
                <a:cs typeface="Arial"/>
              </a:rPr>
              <a:t>DPU Acceleration</a:t>
            </a:r>
          </a:p>
          <a:p>
            <a:pPr algn="ctr">
              <a:defRPr sz="397" b="0">
                <a:solidFill>
                  <a:srgbClr val="102031"/>
                </a:solidFill>
                <a:latin typeface="Arial"/>
                <a:ea typeface="Arial"/>
                <a:cs typeface="Arial"/>
              </a:defRPr>
            </a:pPr>
            <a:r>
              <a:rPr sz="500" b="0" dirty="0">
                <a:solidFill>
                  <a:srgbClr val="102031"/>
                </a:solidFill>
                <a:latin typeface="Arial"/>
                <a:ea typeface="Arial"/>
                <a:cs typeface="Arial"/>
              </a:rPr>
              <a:t>Protocol Offload · Data Optimization</a:t>
            </a:r>
          </a:p>
          <a:p>
            <a:pPr algn="ctr">
              <a:defRPr sz="397" b="0">
                <a:solidFill>
                  <a:srgbClr val="102031"/>
                </a:solidFill>
                <a:latin typeface="Arial"/>
                <a:ea typeface="Arial"/>
                <a:cs typeface="Arial"/>
              </a:defRPr>
            </a:pPr>
            <a:r>
              <a:rPr sz="500" b="0" dirty="0">
                <a:solidFill>
                  <a:srgbClr val="102031"/>
                </a:solidFill>
                <a:latin typeface="Arial"/>
                <a:ea typeface="Arial"/>
                <a:cs typeface="Arial"/>
              </a:rPr>
              <a:t>Security Isolation · High Performance</a:t>
            </a:r>
          </a:p>
        </p:txBody>
      </p:sp>
      <p:sp>
        <p:nvSpPr>
          <p:cNvPr id="130" name="maas-surface">
            <a:extLst>
              <a:ext uri="{FF2B5EF4-FFF2-40B4-BE49-F238E27FC236}">
                <a16:creationId xmlns:a16="http://schemas.microsoft.com/office/drawing/2014/main" id="{4ADEFAD5-77C8-137A-8AD9-1C31AC61F5EE}"/>
              </a:ext>
            </a:extLst>
          </p:cNvPr>
          <p:cNvSpPr>
            <a:spLocks noGrp="1"/>
          </p:cNvSpPr>
          <p:nvPr/>
        </p:nvSpPr>
        <p:spPr>
          <a:xfrm>
            <a:off x="7219950" y="1214618"/>
            <a:ext cx="1847849" cy="3609975"/>
          </a:xfrm>
          <a:prstGeom prst="roundRect">
            <a:avLst>
              <a:gd name="adj" fmla="val 2577"/>
            </a:avLst>
          </a:prstGeom>
          <a:solidFill>
            <a:srgbClr val="F9FCF7"/>
          </a:solidFill>
          <a:ln w="9525">
            <a:solidFill>
              <a:srgbClr val="CFE3C7"/>
            </a:solidFill>
            <a:prstDash val="solid"/>
          </a:ln>
        </p:spPr>
        <p:txBody>
          <a:bodyPr/>
          <a:lstStyle/>
          <a:p>
            <a:endParaRPr lang="zh-CN" altLang="en-US" sz="1600"/>
          </a:p>
        </p:txBody>
      </p:sp>
      <p:sp>
        <p:nvSpPr>
          <p:cNvPr id="131" name="maas-title">
            <a:extLst>
              <a:ext uri="{FF2B5EF4-FFF2-40B4-BE49-F238E27FC236}">
                <a16:creationId xmlns:a16="http://schemas.microsoft.com/office/drawing/2014/main" id="{3D8EA3ED-CB2E-8143-2480-4035C5254D03}"/>
              </a:ext>
            </a:extLst>
          </p:cNvPr>
          <p:cNvSpPr>
            <a:spLocks noGrp="1"/>
          </p:cNvSpPr>
          <p:nvPr/>
        </p:nvSpPr>
        <p:spPr>
          <a:xfrm>
            <a:off x="7277100" y="1241606"/>
            <a:ext cx="1733550" cy="142875"/>
          </a:xfrm>
          <a:prstGeom prst="rect">
            <a:avLst/>
          </a:prstGeom>
          <a:noFill/>
          <a:ln w="0">
            <a:noFill/>
            <a:prstDash val="solid"/>
          </a:ln>
        </p:spPr>
        <p:txBody>
          <a:bodyPr wrap="square" lIns="19050" tIns="9525" rIns="19050" bIns="9525" anchor="ctr">
            <a:normAutofit/>
          </a:bodyPr>
          <a:lstStyle/>
          <a:p>
            <a:pPr algn="ctr">
              <a:defRPr sz="638" b="1">
                <a:solidFill>
                  <a:srgbClr val="2F8B45"/>
                </a:solidFill>
                <a:latin typeface="Arial"/>
                <a:ea typeface="Arial"/>
                <a:cs typeface="Arial"/>
              </a:defRPr>
            </a:pPr>
            <a:r>
              <a:rPr sz="700" b="1">
                <a:solidFill>
                  <a:srgbClr val="2F8B45"/>
                </a:solidFill>
                <a:latin typeface="Arial"/>
                <a:ea typeface="Arial"/>
                <a:cs typeface="Arial"/>
              </a:rPr>
              <a:t>MaaS Operations  (Token as a Service)</a:t>
            </a:r>
          </a:p>
        </p:txBody>
      </p:sp>
      <p:sp>
        <p:nvSpPr>
          <p:cNvPr id="132" name="gateway-security-frame">
            <a:extLst>
              <a:ext uri="{FF2B5EF4-FFF2-40B4-BE49-F238E27FC236}">
                <a16:creationId xmlns:a16="http://schemas.microsoft.com/office/drawing/2014/main" id="{7D679BF6-1FB5-8E05-B8C8-975BEA84951C}"/>
              </a:ext>
            </a:extLst>
          </p:cNvPr>
          <p:cNvSpPr>
            <a:spLocks noGrp="1"/>
          </p:cNvSpPr>
          <p:nvPr/>
        </p:nvSpPr>
        <p:spPr>
          <a:xfrm>
            <a:off x="7277100" y="1432106"/>
            <a:ext cx="1733550" cy="742950"/>
          </a:xfrm>
          <a:prstGeom prst="roundRect">
            <a:avLst>
              <a:gd name="adj" fmla="val 3846"/>
            </a:avLst>
          </a:prstGeom>
          <a:solidFill>
            <a:srgbClr val="FFFFFF"/>
          </a:solidFill>
          <a:ln w="9525">
            <a:solidFill>
              <a:srgbClr val="D5E8CD"/>
            </a:solidFill>
            <a:prstDash val="solid"/>
          </a:ln>
        </p:spPr>
        <p:txBody>
          <a:bodyPr/>
          <a:lstStyle/>
          <a:p>
            <a:endParaRPr lang="zh-CN" altLang="en-US" sz="1600"/>
          </a:p>
        </p:txBody>
      </p:sp>
      <p:sp>
        <p:nvSpPr>
          <p:cNvPr id="133" name="gateway-security-title">
            <a:extLst>
              <a:ext uri="{FF2B5EF4-FFF2-40B4-BE49-F238E27FC236}">
                <a16:creationId xmlns:a16="http://schemas.microsoft.com/office/drawing/2014/main" id="{8E03BDBC-917F-0366-F0BB-964AD34605A1}"/>
              </a:ext>
            </a:extLst>
          </p:cNvPr>
          <p:cNvSpPr>
            <a:spLocks noGrp="1"/>
          </p:cNvSpPr>
          <p:nvPr/>
        </p:nvSpPr>
        <p:spPr>
          <a:xfrm>
            <a:off x="7334250" y="1460681"/>
            <a:ext cx="1619250" cy="114300"/>
          </a:xfrm>
          <a:prstGeom prst="rect">
            <a:avLst/>
          </a:prstGeom>
          <a:noFill/>
          <a:ln w="0">
            <a:noFill/>
            <a:prstDash val="solid"/>
          </a:ln>
        </p:spPr>
        <p:txBody>
          <a:bodyPr wrap="square" lIns="19050" tIns="9525" rIns="19050" bIns="9525" anchor="ctr">
            <a:normAutofit/>
          </a:bodyPr>
          <a:lstStyle/>
          <a:p>
            <a:pPr algn="l">
              <a:defRPr sz="495" b="1">
                <a:solidFill>
                  <a:srgbClr val="2F8B45"/>
                </a:solidFill>
                <a:latin typeface="Arial"/>
                <a:ea typeface="Arial"/>
                <a:cs typeface="Arial"/>
              </a:defRPr>
            </a:pPr>
            <a:r>
              <a:rPr sz="600" b="1">
                <a:solidFill>
                  <a:srgbClr val="2F8B45"/>
                </a:solidFill>
                <a:latin typeface="Arial"/>
                <a:ea typeface="Arial"/>
                <a:cs typeface="Arial"/>
              </a:rPr>
              <a:t>Gateway &amp; Security</a:t>
            </a:r>
          </a:p>
        </p:txBody>
      </p:sp>
      <p:sp>
        <p:nvSpPr>
          <p:cNvPr id="134" name="gateway-security-item-1">
            <a:extLst>
              <a:ext uri="{FF2B5EF4-FFF2-40B4-BE49-F238E27FC236}">
                <a16:creationId xmlns:a16="http://schemas.microsoft.com/office/drawing/2014/main" id="{BEBEB976-1737-6FBF-ACE0-D80AA4F94515}"/>
              </a:ext>
            </a:extLst>
          </p:cNvPr>
          <p:cNvSpPr>
            <a:spLocks noGrp="1"/>
          </p:cNvSpPr>
          <p:nvPr/>
        </p:nvSpPr>
        <p:spPr>
          <a:xfrm>
            <a:off x="7343775" y="1594031"/>
            <a:ext cx="1600200" cy="138113"/>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Unified API Gateway (OpenAI Compatible)</a:t>
            </a:r>
          </a:p>
        </p:txBody>
      </p:sp>
      <p:sp>
        <p:nvSpPr>
          <p:cNvPr id="135" name="gateway-security-item-2">
            <a:extLst>
              <a:ext uri="{FF2B5EF4-FFF2-40B4-BE49-F238E27FC236}">
                <a16:creationId xmlns:a16="http://schemas.microsoft.com/office/drawing/2014/main" id="{495EACE3-B22B-FDDB-2727-3CD3490863E2}"/>
              </a:ext>
            </a:extLst>
          </p:cNvPr>
          <p:cNvSpPr>
            <a:spLocks noGrp="1"/>
          </p:cNvSpPr>
          <p:nvPr/>
        </p:nvSpPr>
        <p:spPr>
          <a:xfrm>
            <a:off x="7343775" y="1732144"/>
            <a:ext cx="1600200" cy="138113"/>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Safety &amp; Content Filtering</a:t>
            </a:r>
          </a:p>
        </p:txBody>
      </p:sp>
      <p:sp>
        <p:nvSpPr>
          <p:cNvPr id="136" name="gateway-security-item-3">
            <a:extLst>
              <a:ext uri="{FF2B5EF4-FFF2-40B4-BE49-F238E27FC236}">
                <a16:creationId xmlns:a16="http://schemas.microsoft.com/office/drawing/2014/main" id="{4B64571A-7B6F-6C57-1E24-4F142205428B}"/>
              </a:ext>
            </a:extLst>
          </p:cNvPr>
          <p:cNvSpPr>
            <a:spLocks noGrp="1"/>
          </p:cNvSpPr>
          <p:nvPr/>
        </p:nvSpPr>
        <p:spPr>
          <a:xfrm>
            <a:off x="7343775" y="1870256"/>
            <a:ext cx="1600200" cy="138113"/>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Rate Limiting &amp; Access Control</a:t>
            </a:r>
          </a:p>
        </p:txBody>
      </p:sp>
      <p:sp>
        <p:nvSpPr>
          <p:cNvPr id="137" name="gateway-security-item-4">
            <a:extLst>
              <a:ext uri="{FF2B5EF4-FFF2-40B4-BE49-F238E27FC236}">
                <a16:creationId xmlns:a16="http://schemas.microsoft.com/office/drawing/2014/main" id="{E1D3FFD9-545B-9825-E750-EECE096478E1}"/>
              </a:ext>
            </a:extLst>
          </p:cNvPr>
          <p:cNvSpPr>
            <a:spLocks noGrp="1"/>
          </p:cNvSpPr>
          <p:nvPr/>
        </p:nvSpPr>
        <p:spPr>
          <a:xfrm>
            <a:off x="7343775" y="2008369"/>
            <a:ext cx="1600200" cy="138113"/>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WAF / DDoS / Shield</a:t>
            </a:r>
          </a:p>
        </p:txBody>
      </p:sp>
      <p:sp>
        <p:nvSpPr>
          <p:cNvPr id="138" name="metering-billing-frame">
            <a:extLst>
              <a:ext uri="{FF2B5EF4-FFF2-40B4-BE49-F238E27FC236}">
                <a16:creationId xmlns:a16="http://schemas.microsoft.com/office/drawing/2014/main" id="{EFA8CABD-F361-9692-B5E7-4056AA8F927D}"/>
              </a:ext>
            </a:extLst>
          </p:cNvPr>
          <p:cNvSpPr>
            <a:spLocks noGrp="1"/>
          </p:cNvSpPr>
          <p:nvPr/>
        </p:nvSpPr>
        <p:spPr>
          <a:xfrm>
            <a:off x="7277100" y="2222681"/>
            <a:ext cx="1733550" cy="581025"/>
          </a:xfrm>
          <a:prstGeom prst="roundRect">
            <a:avLst>
              <a:gd name="adj" fmla="val 4918"/>
            </a:avLst>
          </a:prstGeom>
          <a:solidFill>
            <a:srgbClr val="FFFFFF"/>
          </a:solidFill>
          <a:ln w="9525">
            <a:solidFill>
              <a:srgbClr val="D5E8CD"/>
            </a:solidFill>
            <a:prstDash val="solid"/>
          </a:ln>
        </p:spPr>
        <p:txBody>
          <a:bodyPr/>
          <a:lstStyle/>
          <a:p>
            <a:endParaRPr lang="zh-CN" altLang="en-US" sz="1600"/>
          </a:p>
        </p:txBody>
      </p:sp>
      <p:sp>
        <p:nvSpPr>
          <p:cNvPr id="139" name="metering-billing-title">
            <a:extLst>
              <a:ext uri="{FF2B5EF4-FFF2-40B4-BE49-F238E27FC236}">
                <a16:creationId xmlns:a16="http://schemas.microsoft.com/office/drawing/2014/main" id="{12D60C8D-4D23-D55D-0FB4-5B51EEB805F5}"/>
              </a:ext>
            </a:extLst>
          </p:cNvPr>
          <p:cNvSpPr>
            <a:spLocks noGrp="1"/>
          </p:cNvSpPr>
          <p:nvPr/>
        </p:nvSpPr>
        <p:spPr>
          <a:xfrm>
            <a:off x="7334250" y="2251256"/>
            <a:ext cx="1619250" cy="114300"/>
          </a:xfrm>
          <a:prstGeom prst="rect">
            <a:avLst/>
          </a:prstGeom>
          <a:noFill/>
          <a:ln w="0">
            <a:noFill/>
            <a:prstDash val="solid"/>
          </a:ln>
        </p:spPr>
        <p:txBody>
          <a:bodyPr wrap="square" lIns="19050" tIns="9525" rIns="19050" bIns="9525" anchor="ctr">
            <a:normAutofit/>
          </a:bodyPr>
          <a:lstStyle/>
          <a:p>
            <a:pPr algn="l">
              <a:defRPr sz="495" b="1">
                <a:solidFill>
                  <a:srgbClr val="2F8B45"/>
                </a:solidFill>
                <a:latin typeface="Arial"/>
                <a:ea typeface="Arial"/>
                <a:cs typeface="Arial"/>
              </a:defRPr>
            </a:pPr>
            <a:r>
              <a:rPr sz="600" b="1">
                <a:solidFill>
                  <a:srgbClr val="2F8B45"/>
                </a:solidFill>
                <a:latin typeface="Arial"/>
                <a:ea typeface="Arial"/>
                <a:cs typeface="Arial"/>
              </a:rPr>
              <a:t>Metering &amp; Billing</a:t>
            </a:r>
          </a:p>
        </p:txBody>
      </p:sp>
      <p:sp>
        <p:nvSpPr>
          <p:cNvPr id="140" name="metering-billing-item-1">
            <a:extLst>
              <a:ext uri="{FF2B5EF4-FFF2-40B4-BE49-F238E27FC236}">
                <a16:creationId xmlns:a16="http://schemas.microsoft.com/office/drawing/2014/main" id="{85762D1B-6C9C-0EC2-6072-24EED45E2A60}"/>
              </a:ext>
            </a:extLst>
          </p:cNvPr>
          <p:cNvSpPr>
            <a:spLocks noGrp="1"/>
          </p:cNvSpPr>
          <p:nvPr/>
        </p:nvSpPr>
        <p:spPr>
          <a:xfrm>
            <a:off x="7343775" y="2384606"/>
            <a:ext cx="1600200" cy="1301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Usage Metering (Tokens / Requests)</a:t>
            </a:r>
          </a:p>
        </p:txBody>
      </p:sp>
      <p:sp>
        <p:nvSpPr>
          <p:cNvPr id="141" name="metering-billing-item-2">
            <a:extLst>
              <a:ext uri="{FF2B5EF4-FFF2-40B4-BE49-F238E27FC236}">
                <a16:creationId xmlns:a16="http://schemas.microsoft.com/office/drawing/2014/main" id="{774E5C02-91AC-A2ED-90FB-9380957F5859}"/>
              </a:ext>
            </a:extLst>
          </p:cNvPr>
          <p:cNvSpPr>
            <a:spLocks noGrp="1"/>
          </p:cNvSpPr>
          <p:nvPr/>
        </p:nvSpPr>
        <p:spPr>
          <a:xfrm>
            <a:off x="7343775" y="2514781"/>
            <a:ext cx="1600200" cy="1301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Billing &amp; Invoicing</a:t>
            </a:r>
          </a:p>
        </p:txBody>
      </p:sp>
      <p:sp>
        <p:nvSpPr>
          <p:cNvPr id="142" name="metering-billing-item-3">
            <a:extLst>
              <a:ext uri="{FF2B5EF4-FFF2-40B4-BE49-F238E27FC236}">
                <a16:creationId xmlns:a16="http://schemas.microsoft.com/office/drawing/2014/main" id="{37550AC2-90D4-7118-2831-79CEEA622880}"/>
              </a:ext>
            </a:extLst>
          </p:cNvPr>
          <p:cNvSpPr>
            <a:spLocks noGrp="1"/>
          </p:cNvSpPr>
          <p:nvPr/>
        </p:nvSpPr>
        <p:spPr>
          <a:xfrm>
            <a:off x="7343775" y="2644956"/>
            <a:ext cx="1600200" cy="1301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Usage Analytics &amp; Reporting</a:t>
            </a:r>
          </a:p>
        </p:txBody>
      </p:sp>
      <p:sp>
        <p:nvSpPr>
          <p:cNvPr id="143" name="operations-management-frame">
            <a:extLst>
              <a:ext uri="{FF2B5EF4-FFF2-40B4-BE49-F238E27FC236}">
                <a16:creationId xmlns:a16="http://schemas.microsoft.com/office/drawing/2014/main" id="{85ABA155-6141-0BA4-40E4-5394247A1977}"/>
              </a:ext>
            </a:extLst>
          </p:cNvPr>
          <p:cNvSpPr>
            <a:spLocks noGrp="1"/>
          </p:cNvSpPr>
          <p:nvPr/>
        </p:nvSpPr>
        <p:spPr>
          <a:xfrm>
            <a:off x="7277100" y="2857557"/>
            <a:ext cx="1676400" cy="1252661"/>
          </a:xfrm>
          <a:prstGeom prst="roundRect">
            <a:avLst>
              <a:gd name="adj" fmla="val 2113"/>
            </a:avLst>
          </a:prstGeom>
          <a:solidFill>
            <a:srgbClr val="FFFFFF"/>
          </a:solidFill>
          <a:ln w="9525">
            <a:solidFill>
              <a:srgbClr val="D5E8CD"/>
            </a:solidFill>
            <a:prstDash val="solid"/>
          </a:ln>
        </p:spPr>
        <p:txBody>
          <a:bodyPr/>
          <a:lstStyle/>
          <a:p>
            <a:endParaRPr lang="zh-CN" altLang="en-US" sz="1600" dirty="0"/>
          </a:p>
        </p:txBody>
      </p:sp>
      <p:sp>
        <p:nvSpPr>
          <p:cNvPr id="144" name="operations-management-title">
            <a:extLst>
              <a:ext uri="{FF2B5EF4-FFF2-40B4-BE49-F238E27FC236}">
                <a16:creationId xmlns:a16="http://schemas.microsoft.com/office/drawing/2014/main" id="{0C82BDCC-AF92-2253-52DA-3C95CC167E7D}"/>
              </a:ext>
            </a:extLst>
          </p:cNvPr>
          <p:cNvSpPr>
            <a:spLocks noGrp="1"/>
          </p:cNvSpPr>
          <p:nvPr/>
        </p:nvSpPr>
        <p:spPr>
          <a:xfrm>
            <a:off x="7334250" y="2880310"/>
            <a:ext cx="1619250" cy="114300"/>
          </a:xfrm>
          <a:prstGeom prst="rect">
            <a:avLst/>
          </a:prstGeom>
          <a:noFill/>
          <a:ln w="0">
            <a:noFill/>
            <a:prstDash val="solid"/>
          </a:ln>
        </p:spPr>
        <p:txBody>
          <a:bodyPr wrap="square" lIns="19050" tIns="9525" rIns="19050" bIns="9525" anchor="ctr">
            <a:normAutofit/>
          </a:bodyPr>
          <a:lstStyle/>
          <a:p>
            <a:pPr algn="l">
              <a:defRPr sz="495" b="1">
                <a:solidFill>
                  <a:srgbClr val="2F8B45"/>
                </a:solidFill>
                <a:latin typeface="Arial"/>
                <a:ea typeface="Arial"/>
                <a:cs typeface="Arial"/>
              </a:defRPr>
            </a:pPr>
            <a:r>
              <a:rPr sz="600" b="1" dirty="0">
                <a:solidFill>
                  <a:srgbClr val="2F8B45"/>
                </a:solidFill>
                <a:latin typeface="Arial"/>
                <a:ea typeface="Arial"/>
                <a:cs typeface="Arial"/>
              </a:rPr>
              <a:t>Operations Management</a:t>
            </a:r>
          </a:p>
        </p:txBody>
      </p:sp>
      <p:sp>
        <p:nvSpPr>
          <p:cNvPr id="145" name="operations-management-item-1">
            <a:extLst>
              <a:ext uri="{FF2B5EF4-FFF2-40B4-BE49-F238E27FC236}">
                <a16:creationId xmlns:a16="http://schemas.microsoft.com/office/drawing/2014/main" id="{BD21C4E8-3B90-58FD-406F-2274469F4A88}"/>
              </a:ext>
            </a:extLst>
          </p:cNvPr>
          <p:cNvSpPr>
            <a:spLocks noGrp="1"/>
          </p:cNvSpPr>
          <p:nvPr/>
        </p:nvSpPr>
        <p:spPr>
          <a:xfrm>
            <a:off x="7343775" y="3013014"/>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dirty="0">
                <a:solidFill>
                  <a:srgbClr val="102031"/>
                </a:solidFill>
                <a:latin typeface="Arial"/>
                <a:ea typeface="Arial"/>
                <a:cs typeface="Arial"/>
              </a:rPr>
              <a:t>•  SKU &amp; Model Management</a:t>
            </a:r>
          </a:p>
        </p:txBody>
      </p:sp>
      <p:sp>
        <p:nvSpPr>
          <p:cNvPr id="146" name="operations-management-item-2">
            <a:extLst>
              <a:ext uri="{FF2B5EF4-FFF2-40B4-BE49-F238E27FC236}">
                <a16:creationId xmlns:a16="http://schemas.microsoft.com/office/drawing/2014/main" id="{4B6C752F-7B8C-587D-A084-724CE588E0F4}"/>
              </a:ext>
            </a:extLst>
          </p:cNvPr>
          <p:cNvSpPr>
            <a:spLocks noGrp="1"/>
          </p:cNvSpPr>
          <p:nvPr/>
        </p:nvSpPr>
        <p:spPr>
          <a:xfrm>
            <a:off x="7343775" y="3188005"/>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a:solidFill>
                  <a:srgbClr val="102031"/>
                </a:solidFill>
                <a:latin typeface="Arial"/>
                <a:ea typeface="Arial"/>
                <a:cs typeface="Arial"/>
              </a:rPr>
              <a:t>•  Pricing &amp; Policy Management</a:t>
            </a:r>
          </a:p>
        </p:txBody>
      </p:sp>
      <p:sp>
        <p:nvSpPr>
          <p:cNvPr id="147" name="operations-management-item-3">
            <a:extLst>
              <a:ext uri="{FF2B5EF4-FFF2-40B4-BE49-F238E27FC236}">
                <a16:creationId xmlns:a16="http://schemas.microsoft.com/office/drawing/2014/main" id="{C98CA1BC-0608-0FD7-5708-F9C6D3E525F2}"/>
              </a:ext>
            </a:extLst>
          </p:cNvPr>
          <p:cNvSpPr>
            <a:spLocks noGrp="1"/>
          </p:cNvSpPr>
          <p:nvPr/>
        </p:nvSpPr>
        <p:spPr>
          <a:xfrm>
            <a:off x="7343775" y="3362996"/>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dirty="0">
                <a:solidFill>
                  <a:srgbClr val="102031"/>
                </a:solidFill>
                <a:latin typeface="Arial"/>
                <a:ea typeface="Arial"/>
                <a:cs typeface="Arial"/>
              </a:rPr>
              <a:t>•  Coupon &amp; Promotion</a:t>
            </a:r>
          </a:p>
        </p:txBody>
      </p:sp>
      <p:sp>
        <p:nvSpPr>
          <p:cNvPr id="148" name="operations-management-item-4">
            <a:extLst>
              <a:ext uri="{FF2B5EF4-FFF2-40B4-BE49-F238E27FC236}">
                <a16:creationId xmlns:a16="http://schemas.microsoft.com/office/drawing/2014/main" id="{F649213F-EFD9-5E49-A547-92972987A86F}"/>
              </a:ext>
            </a:extLst>
          </p:cNvPr>
          <p:cNvSpPr>
            <a:spLocks noGrp="1"/>
          </p:cNvSpPr>
          <p:nvPr/>
        </p:nvSpPr>
        <p:spPr>
          <a:xfrm>
            <a:off x="7343775" y="3537987"/>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dirty="0">
                <a:solidFill>
                  <a:srgbClr val="102031"/>
                </a:solidFill>
                <a:latin typeface="Arial"/>
                <a:ea typeface="Arial"/>
                <a:cs typeface="Arial"/>
              </a:rPr>
              <a:t>•  Quota &amp; Share Management</a:t>
            </a:r>
          </a:p>
        </p:txBody>
      </p:sp>
      <p:sp>
        <p:nvSpPr>
          <p:cNvPr id="149" name="operations-management-item-5">
            <a:extLst>
              <a:ext uri="{FF2B5EF4-FFF2-40B4-BE49-F238E27FC236}">
                <a16:creationId xmlns:a16="http://schemas.microsoft.com/office/drawing/2014/main" id="{19F684F8-33E0-E692-D154-8C0C7D93A23D}"/>
              </a:ext>
            </a:extLst>
          </p:cNvPr>
          <p:cNvSpPr>
            <a:spLocks noGrp="1"/>
          </p:cNvSpPr>
          <p:nvPr/>
        </p:nvSpPr>
        <p:spPr>
          <a:xfrm>
            <a:off x="7343775" y="3712978"/>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dirty="0">
                <a:solidFill>
                  <a:srgbClr val="102031"/>
                </a:solidFill>
                <a:latin typeface="Arial"/>
                <a:ea typeface="Arial"/>
                <a:cs typeface="Arial"/>
              </a:rPr>
              <a:t>•  Cost Allocation &amp; Chargeback</a:t>
            </a:r>
          </a:p>
        </p:txBody>
      </p:sp>
      <p:sp>
        <p:nvSpPr>
          <p:cNvPr id="150" name="operations-management-item-6">
            <a:extLst>
              <a:ext uri="{FF2B5EF4-FFF2-40B4-BE49-F238E27FC236}">
                <a16:creationId xmlns:a16="http://schemas.microsoft.com/office/drawing/2014/main" id="{0742CF17-89A0-59FF-EF05-6E5DF5178BDB}"/>
              </a:ext>
            </a:extLst>
          </p:cNvPr>
          <p:cNvSpPr>
            <a:spLocks noGrp="1"/>
          </p:cNvSpPr>
          <p:nvPr/>
        </p:nvSpPr>
        <p:spPr>
          <a:xfrm>
            <a:off x="7343775" y="3887969"/>
            <a:ext cx="1600200" cy="193675"/>
          </a:xfrm>
          <a:prstGeom prst="rect">
            <a:avLst/>
          </a:prstGeom>
          <a:noFill/>
          <a:ln w="0">
            <a:noFill/>
            <a:prstDash val="solid"/>
          </a:ln>
        </p:spPr>
        <p:txBody>
          <a:bodyPr wrap="square" lIns="19050" tIns="9525" rIns="19050" bIns="9525" anchor="ctr">
            <a:normAutofit/>
          </a:bodyPr>
          <a:lstStyle/>
          <a:p>
            <a:pPr algn="l">
              <a:defRPr sz="458" b="0">
                <a:solidFill>
                  <a:srgbClr val="102031"/>
                </a:solidFill>
                <a:latin typeface="Arial"/>
                <a:ea typeface="Arial"/>
                <a:cs typeface="Arial"/>
              </a:defRPr>
            </a:pPr>
            <a:r>
              <a:rPr sz="600" b="0" dirty="0">
                <a:solidFill>
                  <a:srgbClr val="102031"/>
                </a:solidFill>
                <a:latin typeface="Arial"/>
                <a:ea typeface="Arial"/>
                <a:cs typeface="Arial"/>
              </a:rPr>
              <a:t>•  FinOps &amp; Cost Optimization</a:t>
            </a:r>
          </a:p>
        </p:txBody>
      </p:sp>
      <p:sp>
        <p:nvSpPr>
          <p:cNvPr id="151" name="serving-targets-frame">
            <a:extLst>
              <a:ext uri="{FF2B5EF4-FFF2-40B4-BE49-F238E27FC236}">
                <a16:creationId xmlns:a16="http://schemas.microsoft.com/office/drawing/2014/main" id="{E9073987-98BC-81EA-D12B-D1855FB43E25}"/>
              </a:ext>
            </a:extLst>
          </p:cNvPr>
          <p:cNvSpPr>
            <a:spLocks noGrp="1"/>
          </p:cNvSpPr>
          <p:nvPr/>
        </p:nvSpPr>
        <p:spPr>
          <a:xfrm>
            <a:off x="7277100" y="4157844"/>
            <a:ext cx="1733550" cy="609600"/>
          </a:xfrm>
          <a:prstGeom prst="roundRect">
            <a:avLst>
              <a:gd name="adj" fmla="val 4688"/>
            </a:avLst>
          </a:prstGeom>
          <a:solidFill>
            <a:srgbClr val="FFFFFF"/>
          </a:solidFill>
          <a:ln w="9525">
            <a:solidFill>
              <a:srgbClr val="D5E8CD"/>
            </a:solidFill>
            <a:prstDash val="solid"/>
          </a:ln>
        </p:spPr>
        <p:txBody>
          <a:bodyPr/>
          <a:lstStyle/>
          <a:p>
            <a:endParaRPr lang="zh-CN" altLang="en-US" sz="1600"/>
          </a:p>
        </p:txBody>
      </p:sp>
      <p:sp>
        <p:nvSpPr>
          <p:cNvPr id="152" name="serving-targets-title">
            <a:extLst>
              <a:ext uri="{FF2B5EF4-FFF2-40B4-BE49-F238E27FC236}">
                <a16:creationId xmlns:a16="http://schemas.microsoft.com/office/drawing/2014/main" id="{499DA736-9F02-538E-441B-43126E348696}"/>
              </a:ext>
            </a:extLst>
          </p:cNvPr>
          <p:cNvSpPr>
            <a:spLocks noGrp="1"/>
          </p:cNvSpPr>
          <p:nvPr/>
        </p:nvSpPr>
        <p:spPr>
          <a:xfrm>
            <a:off x="7334250" y="4186419"/>
            <a:ext cx="1619250" cy="114300"/>
          </a:xfrm>
          <a:prstGeom prst="rect">
            <a:avLst/>
          </a:prstGeom>
          <a:noFill/>
          <a:ln w="0">
            <a:noFill/>
            <a:prstDash val="solid"/>
          </a:ln>
        </p:spPr>
        <p:txBody>
          <a:bodyPr wrap="square" lIns="19050" tIns="9525" rIns="19050" bIns="9525" anchor="ctr">
            <a:normAutofit/>
          </a:bodyPr>
          <a:lstStyle/>
          <a:p>
            <a:pPr algn="l">
              <a:defRPr sz="495" b="1">
                <a:solidFill>
                  <a:srgbClr val="2F8B45"/>
                </a:solidFill>
                <a:latin typeface="Arial"/>
                <a:ea typeface="Arial"/>
                <a:cs typeface="Arial"/>
              </a:defRPr>
            </a:pPr>
            <a:r>
              <a:rPr sz="600" b="1">
                <a:solidFill>
                  <a:srgbClr val="2F8B45"/>
                </a:solidFill>
                <a:latin typeface="Arial"/>
                <a:ea typeface="Arial"/>
                <a:cs typeface="Arial"/>
              </a:rPr>
              <a:t>Serving Targets</a:t>
            </a:r>
          </a:p>
        </p:txBody>
      </p:sp>
      <p:sp>
        <p:nvSpPr>
          <p:cNvPr id="153" name="serving-targets-items-1-box">
            <a:extLst>
              <a:ext uri="{FF2B5EF4-FFF2-40B4-BE49-F238E27FC236}">
                <a16:creationId xmlns:a16="http://schemas.microsoft.com/office/drawing/2014/main" id="{2555DF3E-6C98-3508-9ABE-58C359A550C7}"/>
              </a:ext>
            </a:extLst>
          </p:cNvPr>
          <p:cNvSpPr>
            <a:spLocks noGrp="1"/>
          </p:cNvSpPr>
          <p:nvPr/>
        </p:nvSpPr>
        <p:spPr>
          <a:xfrm>
            <a:off x="7334250" y="4338819"/>
            <a:ext cx="790575" cy="361950"/>
          </a:xfrm>
          <a:prstGeom prst="roundRect">
            <a:avLst>
              <a:gd name="adj" fmla="val 10526"/>
            </a:avLst>
          </a:prstGeom>
          <a:solidFill>
            <a:srgbClr val="F8FBF5"/>
          </a:solidFill>
          <a:ln w="9525">
            <a:solidFill>
              <a:srgbClr val="D5E8CD"/>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dirty="0">
                <a:solidFill>
                  <a:srgbClr val="102031"/>
                </a:solidFill>
                <a:latin typeface="Arial"/>
                <a:ea typeface="Arial"/>
                <a:cs typeface="Arial"/>
              </a:rPr>
              <a:t>Cloud</a:t>
            </a:r>
          </a:p>
        </p:txBody>
      </p:sp>
      <p:sp>
        <p:nvSpPr>
          <p:cNvPr id="154" name="serving-targets-items-2-box">
            <a:extLst>
              <a:ext uri="{FF2B5EF4-FFF2-40B4-BE49-F238E27FC236}">
                <a16:creationId xmlns:a16="http://schemas.microsoft.com/office/drawing/2014/main" id="{F7419E93-1D4C-C492-E787-34F58C36C675}"/>
              </a:ext>
            </a:extLst>
          </p:cNvPr>
          <p:cNvSpPr>
            <a:spLocks noGrp="1"/>
          </p:cNvSpPr>
          <p:nvPr/>
        </p:nvSpPr>
        <p:spPr>
          <a:xfrm>
            <a:off x="8162925" y="4338819"/>
            <a:ext cx="790575" cy="361950"/>
          </a:xfrm>
          <a:prstGeom prst="roundRect">
            <a:avLst>
              <a:gd name="adj" fmla="val 10526"/>
            </a:avLst>
          </a:prstGeom>
          <a:solidFill>
            <a:srgbClr val="F8FBF5"/>
          </a:solidFill>
          <a:ln w="9525">
            <a:solidFill>
              <a:srgbClr val="D5E8CD"/>
            </a:solidFill>
            <a:prstDash val="solid"/>
          </a:ln>
        </p:spPr>
        <p:txBody>
          <a:bodyPr wrap="square" lIns="28575" tIns="9525" rIns="28575" bIns="9525" anchor="ctr">
            <a:normAutofit/>
          </a:bodyPr>
          <a:lstStyle/>
          <a:p>
            <a:pPr algn="ctr">
              <a:defRPr sz="465" b="0">
                <a:solidFill>
                  <a:srgbClr val="102031"/>
                </a:solidFill>
                <a:latin typeface="Arial"/>
                <a:ea typeface="Arial"/>
                <a:cs typeface="Arial"/>
              </a:defRPr>
            </a:pPr>
            <a:r>
              <a:rPr sz="600" b="0" dirty="0">
                <a:solidFill>
                  <a:srgbClr val="102031"/>
                </a:solidFill>
                <a:latin typeface="Arial"/>
                <a:ea typeface="Arial"/>
                <a:cs typeface="Arial"/>
              </a:rPr>
              <a:t>Enterprise</a:t>
            </a:r>
          </a:p>
        </p:txBody>
      </p:sp>
      <p:sp>
        <p:nvSpPr>
          <p:cNvPr id="156" name="data-management-surface">
            <a:extLst>
              <a:ext uri="{FF2B5EF4-FFF2-40B4-BE49-F238E27FC236}">
                <a16:creationId xmlns:a16="http://schemas.microsoft.com/office/drawing/2014/main" id="{2A8A5E81-E831-80B3-55A3-495464D3BCC4}"/>
              </a:ext>
            </a:extLst>
          </p:cNvPr>
          <p:cNvSpPr>
            <a:spLocks noGrp="1"/>
          </p:cNvSpPr>
          <p:nvPr/>
        </p:nvSpPr>
        <p:spPr>
          <a:xfrm>
            <a:off x="933450" y="3773723"/>
            <a:ext cx="6191250" cy="238125"/>
          </a:xfrm>
          <a:prstGeom prst="roundRect">
            <a:avLst>
              <a:gd name="adj" fmla="val 16000"/>
            </a:avLst>
          </a:prstGeom>
          <a:solidFill>
            <a:srgbClr val="F7FCFC"/>
          </a:solidFill>
          <a:ln w="9525">
            <a:solidFill>
              <a:srgbClr val="C8E1DF"/>
            </a:solidFill>
            <a:prstDash val="solid"/>
          </a:ln>
        </p:spPr>
        <p:txBody>
          <a:bodyPr/>
          <a:lstStyle/>
          <a:p>
            <a:endParaRPr lang="zh-CN" altLang="en-US" sz="1600"/>
          </a:p>
        </p:txBody>
      </p:sp>
      <p:sp>
        <p:nvSpPr>
          <p:cNvPr id="157" name="data-management-items-1-box">
            <a:extLst>
              <a:ext uri="{FF2B5EF4-FFF2-40B4-BE49-F238E27FC236}">
                <a16:creationId xmlns:a16="http://schemas.microsoft.com/office/drawing/2014/main" id="{F83F80F0-5534-A3C2-97AA-E7B9DC33E652}"/>
              </a:ext>
            </a:extLst>
          </p:cNvPr>
          <p:cNvSpPr>
            <a:spLocks noGrp="1"/>
          </p:cNvSpPr>
          <p:nvPr/>
        </p:nvSpPr>
        <p:spPr>
          <a:xfrm>
            <a:off x="1009650"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Model Hub (MatrixHub)</a:t>
            </a:r>
          </a:p>
        </p:txBody>
      </p:sp>
      <p:sp>
        <p:nvSpPr>
          <p:cNvPr id="158" name="data-management-items-2-box">
            <a:extLst>
              <a:ext uri="{FF2B5EF4-FFF2-40B4-BE49-F238E27FC236}">
                <a16:creationId xmlns:a16="http://schemas.microsoft.com/office/drawing/2014/main" id="{4ECDE597-794C-A826-42B9-9A8E339143B2}"/>
              </a:ext>
            </a:extLst>
          </p:cNvPr>
          <p:cNvSpPr>
            <a:spLocks noGrp="1"/>
          </p:cNvSpPr>
          <p:nvPr/>
        </p:nvSpPr>
        <p:spPr>
          <a:xfrm>
            <a:off x="2020888"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Autofit/>
          </a:bodyPr>
          <a:lstStyle/>
          <a:p>
            <a:pPr algn="ctr">
              <a:defRPr sz="495" b="0">
                <a:solidFill>
                  <a:srgbClr val="102031"/>
                </a:solidFill>
                <a:latin typeface="Arial"/>
                <a:ea typeface="Arial"/>
                <a:cs typeface="Arial"/>
              </a:defRPr>
            </a:pPr>
            <a:r>
              <a:rPr sz="500" b="0">
                <a:solidFill>
                  <a:srgbClr val="102031"/>
                </a:solidFill>
                <a:latin typeface="Arial"/>
                <a:ea typeface="Arial"/>
                <a:cs typeface="Arial"/>
              </a:rPr>
              <a:t>Model Distribution (ModelExpress)</a:t>
            </a:r>
          </a:p>
        </p:txBody>
      </p:sp>
      <p:sp>
        <p:nvSpPr>
          <p:cNvPr id="159" name="data-management-items-3-box">
            <a:extLst>
              <a:ext uri="{FF2B5EF4-FFF2-40B4-BE49-F238E27FC236}">
                <a16:creationId xmlns:a16="http://schemas.microsoft.com/office/drawing/2014/main" id="{378708FC-8BBE-4F38-6951-B9E5CC1B9B0A}"/>
              </a:ext>
            </a:extLst>
          </p:cNvPr>
          <p:cNvSpPr>
            <a:spLocks noGrp="1"/>
          </p:cNvSpPr>
          <p:nvPr/>
        </p:nvSpPr>
        <p:spPr>
          <a:xfrm>
            <a:off x="3032125"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Dataset Management</a:t>
            </a:r>
          </a:p>
        </p:txBody>
      </p:sp>
      <p:sp>
        <p:nvSpPr>
          <p:cNvPr id="160" name="data-management-items-4-box">
            <a:extLst>
              <a:ext uri="{FF2B5EF4-FFF2-40B4-BE49-F238E27FC236}">
                <a16:creationId xmlns:a16="http://schemas.microsoft.com/office/drawing/2014/main" id="{52CF88E4-04EE-4775-FA49-2838E88BDD39}"/>
              </a:ext>
            </a:extLst>
          </p:cNvPr>
          <p:cNvSpPr>
            <a:spLocks noGrp="1"/>
          </p:cNvSpPr>
          <p:nvPr/>
        </p:nvSpPr>
        <p:spPr>
          <a:xfrm>
            <a:off x="4043363"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Data Catalog</a:t>
            </a:r>
          </a:p>
        </p:txBody>
      </p:sp>
      <p:sp>
        <p:nvSpPr>
          <p:cNvPr id="161" name="data-management-items-5-box">
            <a:extLst>
              <a:ext uri="{FF2B5EF4-FFF2-40B4-BE49-F238E27FC236}">
                <a16:creationId xmlns:a16="http://schemas.microsoft.com/office/drawing/2014/main" id="{96681C94-E86E-3CEB-F2B5-04115534E42E}"/>
              </a:ext>
            </a:extLst>
          </p:cNvPr>
          <p:cNvSpPr>
            <a:spLocks noGrp="1"/>
          </p:cNvSpPr>
          <p:nvPr/>
        </p:nvSpPr>
        <p:spPr>
          <a:xfrm>
            <a:off x="5054600"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Data Processing</a:t>
            </a:r>
          </a:p>
        </p:txBody>
      </p:sp>
      <p:sp>
        <p:nvSpPr>
          <p:cNvPr id="162" name="data-management-items-6-box">
            <a:extLst>
              <a:ext uri="{FF2B5EF4-FFF2-40B4-BE49-F238E27FC236}">
                <a16:creationId xmlns:a16="http://schemas.microsoft.com/office/drawing/2014/main" id="{99276E16-3013-20C4-4893-965A8B38EA32}"/>
              </a:ext>
            </a:extLst>
          </p:cNvPr>
          <p:cNvSpPr>
            <a:spLocks noGrp="1"/>
          </p:cNvSpPr>
          <p:nvPr/>
        </p:nvSpPr>
        <p:spPr>
          <a:xfrm>
            <a:off x="6065838" y="3811823"/>
            <a:ext cx="982663" cy="161925"/>
          </a:xfrm>
          <a:prstGeom prst="roundRect">
            <a:avLst>
              <a:gd name="adj" fmla="val 23529"/>
            </a:avLst>
          </a:prstGeom>
          <a:solidFill>
            <a:srgbClr val="FFFFFF"/>
          </a:solidFill>
          <a:ln w="9525">
            <a:solidFill>
              <a:srgbClr val="C8E1DF"/>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Data Quality</a:t>
            </a:r>
          </a:p>
        </p:txBody>
      </p:sp>
      <p:sp>
        <p:nvSpPr>
          <p:cNvPr id="163" name="compute-orchestration-rail-box">
            <a:extLst>
              <a:ext uri="{FF2B5EF4-FFF2-40B4-BE49-F238E27FC236}">
                <a16:creationId xmlns:a16="http://schemas.microsoft.com/office/drawing/2014/main" id="{1CEC1F22-F880-46CC-B47A-75E4080E216A}"/>
              </a:ext>
            </a:extLst>
          </p:cNvPr>
          <p:cNvSpPr>
            <a:spLocks noGrp="1"/>
          </p:cNvSpPr>
          <p:nvPr/>
        </p:nvSpPr>
        <p:spPr>
          <a:xfrm>
            <a:off x="76200" y="3773723"/>
            <a:ext cx="755100" cy="800727"/>
          </a:xfrm>
          <a:prstGeom prst="roundRect">
            <a:avLst>
              <a:gd name="adj" fmla="val 16000"/>
            </a:avLst>
          </a:prstGeom>
          <a:solidFill>
            <a:srgbClr val="2F8B45"/>
          </a:solidFill>
          <a:ln w="9525">
            <a:solidFill>
              <a:srgbClr val="2F8B45"/>
            </a:solidFill>
            <a:prstDash val="solid"/>
          </a:ln>
        </p:spPr>
        <p:txBody>
          <a:bodyPr wrap="square" lIns="28575" tIns="9525" rIns="28575" bIns="9525" anchor="ctr">
            <a:normAutofit fontScale="99064"/>
          </a:bodyPr>
          <a:lstStyle/>
          <a:p>
            <a:pPr algn="ctr">
              <a:defRPr sz="525" b="1">
                <a:solidFill>
                  <a:srgbClr val="FFFFFF"/>
                </a:solidFill>
                <a:latin typeface="Arial"/>
                <a:ea typeface="Arial"/>
                <a:cs typeface="Arial"/>
              </a:defRPr>
            </a:pPr>
            <a:r>
              <a:rPr lang="en" sz="800" dirty="0">
                <a:solidFill>
                  <a:srgbClr val="FFFFFF"/>
                </a:solidFill>
              </a:rPr>
              <a:t>Kubernetes</a:t>
            </a:r>
            <a:r>
              <a:rPr lang="en" sz="800" b="1" dirty="0">
                <a:solidFill>
                  <a:srgbClr val="FFFFFF"/>
                </a:solidFill>
              </a:rPr>
              <a:t> GPU</a:t>
            </a:r>
            <a:r>
              <a:rPr lang="zh-CN" altLang="en-US" sz="800" b="1" dirty="0">
                <a:solidFill>
                  <a:srgbClr val="FFFFFF"/>
                </a:solidFill>
              </a:rPr>
              <a:t> </a:t>
            </a:r>
            <a:r>
              <a:rPr lang="en-US" altLang="zh-CN" sz="800" b="1" dirty="0">
                <a:solidFill>
                  <a:srgbClr val="FFFFFF"/>
                </a:solidFill>
              </a:rPr>
              <a:t>&amp;</a:t>
            </a:r>
            <a:r>
              <a:rPr lang="zh-CN" altLang="en-US" sz="800" b="1" dirty="0">
                <a:solidFill>
                  <a:srgbClr val="FFFFFF"/>
                </a:solidFill>
              </a:rPr>
              <a:t> </a:t>
            </a:r>
            <a:r>
              <a:rPr lang="en" altLang="zh-CN" sz="800" b="1" dirty="0">
                <a:solidFill>
                  <a:srgbClr val="FFFFFF"/>
                </a:solidFill>
              </a:rPr>
              <a:t>Data</a:t>
            </a:r>
            <a:r>
              <a:rPr lang="en" sz="800" b="1" dirty="0">
                <a:solidFill>
                  <a:srgbClr val="FFFFFF"/>
                </a:solidFill>
              </a:rPr>
              <a:t> Scheduling</a:t>
            </a:r>
          </a:p>
        </p:txBody>
      </p:sp>
      <p:sp>
        <p:nvSpPr>
          <p:cNvPr id="164" name="compute-orchestration-surface">
            <a:extLst>
              <a:ext uri="{FF2B5EF4-FFF2-40B4-BE49-F238E27FC236}">
                <a16:creationId xmlns:a16="http://schemas.microsoft.com/office/drawing/2014/main" id="{654999C4-3805-4C4D-5FCC-B0099477929E}"/>
              </a:ext>
            </a:extLst>
          </p:cNvPr>
          <p:cNvSpPr>
            <a:spLocks noGrp="1"/>
          </p:cNvSpPr>
          <p:nvPr/>
        </p:nvSpPr>
        <p:spPr>
          <a:xfrm>
            <a:off x="933450" y="4069052"/>
            <a:ext cx="6191250" cy="250717"/>
          </a:xfrm>
          <a:prstGeom prst="roundRect">
            <a:avLst>
              <a:gd name="adj" fmla="val 16000"/>
            </a:avLst>
          </a:prstGeom>
          <a:solidFill>
            <a:srgbClr val="F8FCF5"/>
          </a:solidFill>
          <a:ln w="9525">
            <a:solidFill>
              <a:srgbClr val="CFE3C7"/>
            </a:solidFill>
            <a:prstDash val="solid"/>
          </a:ln>
        </p:spPr>
        <p:txBody>
          <a:bodyPr/>
          <a:lstStyle/>
          <a:p>
            <a:endParaRPr lang="zh-CN" altLang="en-US" sz="1600"/>
          </a:p>
        </p:txBody>
      </p:sp>
      <p:sp>
        <p:nvSpPr>
          <p:cNvPr id="165" name="compute-orchestration-items-1-box">
            <a:extLst>
              <a:ext uri="{FF2B5EF4-FFF2-40B4-BE49-F238E27FC236}">
                <a16:creationId xmlns:a16="http://schemas.microsoft.com/office/drawing/2014/main" id="{699A0DB5-EABD-FB32-F820-B8580B8FEAF1}"/>
              </a:ext>
            </a:extLst>
          </p:cNvPr>
          <p:cNvSpPr>
            <a:spLocks noGrp="1"/>
          </p:cNvSpPr>
          <p:nvPr/>
        </p:nvSpPr>
        <p:spPr>
          <a:xfrm>
            <a:off x="1009650"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Resource Pool Management</a:t>
            </a:r>
          </a:p>
        </p:txBody>
      </p:sp>
      <p:sp>
        <p:nvSpPr>
          <p:cNvPr id="166" name="compute-orchestration-items-2-box">
            <a:extLst>
              <a:ext uri="{FF2B5EF4-FFF2-40B4-BE49-F238E27FC236}">
                <a16:creationId xmlns:a16="http://schemas.microsoft.com/office/drawing/2014/main" id="{B9C5958C-E1B0-659E-0F38-DA0AE9A594FE}"/>
              </a:ext>
            </a:extLst>
          </p:cNvPr>
          <p:cNvSpPr>
            <a:spLocks noGrp="1"/>
          </p:cNvSpPr>
          <p:nvPr/>
        </p:nvSpPr>
        <p:spPr>
          <a:xfrm>
            <a:off x="2020888"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Priority &amp; Preemption</a:t>
            </a:r>
          </a:p>
        </p:txBody>
      </p:sp>
      <p:sp>
        <p:nvSpPr>
          <p:cNvPr id="167" name="compute-orchestration-items-3-box">
            <a:extLst>
              <a:ext uri="{FF2B5EF4-FFF2-40B4-BE49-F238E27FC236}">
                <a16:creationId xmlns:a16="http://schemas.microsoft.com/office/drawing/2014/main" id="{4D81ECD1-3C38-FC31-5237-AAEE099890D8}"/>
              </a:ext>
            </a:extLst>
          </p:cNvPr>
          <p:cNvSpPr>
            <a:spLocks noGrp="1"/>
          </p:cNvSpPr>
          <p:nvPr/>
        </p:nvSpPr>
        <p:spPr>
          <a:xfrm>
            <a:off x="3032125"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Fair Scheduling</a:t>
            </a:r>
          </a:p>
        </p:txBody>
      </p:sp>
      <p:sp>
        <p:nvSpPr>
          <p:cNvPr id="168" name="compute-orchestration-items-4-box">
            <a:extLst>
              <a:ext uri="{FF2B5EF4-FFF2-40B4-BE49-F238E27FC236}">
                <a16:creationId xmlns:a16="http://schemas.microsoft.com/office/drawing/2014/main" id="{4BCA633C-6E74-0A91-2707-241D402DE11A}"/>
              </a:ext>
            </a:extLst>
          </p:cNvPr>
          <p:cNvSpPr>
            <a:spLocks noGrp="1"/>
          </p:cNvSpPr>
          <p:nvPr/>
        </p:nvSpPr>
        <p:spPr>
          <a:xfrm>
            <a:off x="4043363"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Elastic Resource Allocation</a:t>
            </a:r>
          </a:p>
        </p:txBody>
      </p:sp>
      <p:sp>
        <p:nvSpPr>
          <p:cNvPr id="169" name="compute-orchestration-items-5-box">
            <a:extLst>
              <a:ext uri="{FF2B5EF4-FFF2-40B4-BE49-F238E27FC236}">
                <a16:creationId xmlns:a16="http://schemas.microsoft.com/office/drawing/2014/main" id="{1F32C19F-D03F-6CD4-FDDA-1E7BC79FAD21}"/>
              </a:ext>
            </a:extLst>
          </p:cNvPr>
          <p:cNvSpPr>
            <a:spLocks noGrp="1"/>
          </p:cNvSpPr>
          <p:nvPr/>
        </p:nvSpPr>
        <p:spPr>
          <a:xfrm>
            <a:off x="5054600"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Multi-tenant Isolation</a:t>
            </a:r>
          </a:p>
        </p:txBody>
      </p:sp>
      <p:sp>
        <p:nvSpPr>
          <p:cNvPr id="170" name="compute-orchestration-items-6-box">
            <a:extLst>
              <a:ext uri="{FF2B5EF4-FFF2-40B4-BE49-F238E27FC236}">
                <a16:creationId xmlns:a16="http://schemas.microsoft.com/office/drawing/2014/main" id="{08E4B0D7-DDA6-3DEE-B4F7-4698F400DB03}"/>
              </a:ext>
            </a:extLst>
          </p:cNvPr>
          <p:cNvSpPr>
            <a:spLocks noGrp="1"/>
          </p:cNvSpPr>
          <p:nvPr/>
        </p:nvSpPr>
        <p:spPr>
          <a:xfrm>
            <a:off x="6065838" y="4119744"/>
            <a:ext cx="982663" cy="161925"/>
          </a:xfrm>
          <a:prstGeom prst="roundRect">
            <a:avLst>
              <a:gd name="adj" fmla="val 23529"/>
            </a:avLst>
          </a:prstGeom>
          <a:solidFill>
            <a:srgbClr val="FFFFFF"/>
          </a:solidFill>
          <a:ln w="9525">
            <a:solidFill>
              <a:srgbClr val="CFE3C7"/>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Workflow Orchestration</a:t>
            </a:r>
          </a:p>
        </p:txBody>
      </p:sp>
      <p:sp>
        <p:nvSpPr>
          <p:cNvPr id="172" name="kubernetes-gpu-surface">
            <a:extLst>
              <a:ext uri="{FF2B5EF4-FFF2-40B4-BE49-F238E27FC236}">
                <a16:creationId xmlns:a16="http://schemas.microsoft.com/office/drawing/2014/main" id="{6AEDF670-2B7A-B129-36C0-FBE6F1475138}"/>
              </a:ext>
            </a:extLst>
          </p:cNvPr>
          <p:cNvSpPr>
            <a:spLocks noGrp="1"/>
          </p:cNvSpPr>
          <p:nvPr/>
        </p:nvSpPr>
        <p:spPr>
          <a:xfrm>
            <a:off x="933450" y="4367394"/>
            <a:ext cx="6191250" cy="238125"/>
          </a:xfrm>
          <a:prstGeom prst="roundRect">
            <a:avLst>
              <a:gd name="adj" fmla="val 16000"/>
            </a:avLst>
          </a:prstGeom>
          <a:solidFill>
            <a:srgbClr val="F7FAFF"/>
          </a:solidFill>
          <a:ln w="9525">
            <a:solidFill>
              <a:srgbClr val="C8D8F1"/>
            </a:solidFill>
            <a:prstDash val="solid"/>
          </a:ln>
        </p:spPr>
        <p:txBody>
          <a:bodyPr/>
          <a:lstStyle/>
          <a:p>
            <a:endParaRPr lang="zh-CN" altLang="en-US" sz="1600"/>
          </a:p>
        </p:txBody>
      </p:sp>
      <p:sp>
        <p:nvSpPr>
          <p:cNvPr id="173" name="kubernetes-gpu-items-1-box">
            <a:extLst>
              <a:ext uri="{FF2B5EF4-FFF2-40B4-BE49-F238E27FC236}">
                <a16:creationId xmlns:a16="http://schemas.microsoft.com/office/drawing/2014/main" id="{61CDCF19-8242-EDBB-F5F3-5C3474D7F50B}"/>
              </a:ext>
            </a:extLst>
          </p:cNvPr>
          <p:cNvSpPr>
            <a:spLocks noGrp="1"/>
          </p:cNvSpPr>
          <p:nvPr/>
        </p:nvSpPr>
        <p:spPr>
          <a:xfrm>
            <a:off x="1009650"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1" dirty="0">
                <a:solidFill>
                  <a:srgbClr val="102031"/>
                </a:solidFill>
                <a:latin typeface="Arial"/>
                <a:ea typeface="Arial"/>
                <a:cs typeface="Arial"/>
              </a:rPr>
              <a:t>Kubernetes</a:t>
            </a:r>
          </a:p>
        </p:txBody>
      </p:sp>
      <p:sp>
        <p:nvSpPr>
          <p:cNvPr id="174" name="kubernetes-gpu-items-2-box">
            <a:extLst>
              <a:ext uri="{FF2B5EF4-FFF2-40B4-BE49-F238E27FC236}">
                <a16:creationId xmlns:a16="http://schemas.microsoft.com/office/drawing/2014/main" id="{C77AB38E-B910-0067-928F-19F5BD32D598}"/>
              </a:ext>
            </a:extLst>
          </p:cNvPr>
          <p:cNvSpPr>
            <a:spLocks noGrp="1"/>
          </p:cNvSpPr>
          <p:nvPr/>
        </p:nvSpPr>
        <p:spPr>
          <a:xfrm>
            <a:off x="1876425"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GPU Operator</a:t>
            </a:r>
          </a:p>
        </p:txBody>
      </p:sp>
      <p:sp>
        <p:nvSpPr>
          <p:cNvPr id="175" name="kubernetes-gpu-items-3-box">
            <a:extLst>
              <a:ext uri="{FF2B5EF4-FFF2-40B4-BE49-F238E27FC236}">
                <a16:creationId xmlns:a16="http://schemas.microsoft.com/office/drawing/2014/main" id="{22972BFF-687C-6A8C-8863-7D96B585133F}"/>
              </a:ext>
            </a:extLst>
          </p:cNvPr>
          <p:cNvSpPr>
            <a:spLocks noGrp="1"/>
          </p:cNvSpPr>
          <p:nvPr/>
        </p:nvSpPr>
        <p:spPr>
          <a:xfrm>
            <a:off x="2743200"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Device Plugin</a:t>
            </a:r>
          </a:p>
        </p:txBody>
      </p:sp>
      <p:sp>
        <p:nvSpPr>
          <p:cNvPr id="176" name="kubernetes-gpu-items-4-box">
            <a:extLst>
              <a:ext uri="{FF2B5EF4-FFF2-40B4-BE49-F238E27FC236}">
                <a16:creationId xmlns:a16="http://schemas.microsoft.com/office/drawing/2014/main" id="{51152C1A-2883-D420-D486-527933149EEF}"/>
              </a:ext>
            </a:extLst>
          </p:cNvPr>
          <p:cNvSpPr>
            <a:spLocks noGrp="1"/>
          </p:cNvSpPr>
          <p:nvPr/>
        </p:nvSpPr>
        <p:spPr>
          <a:xfrm>
            <a:off x="3609975"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GPU Monitoring</a:t>
            </a:r>
          </a:p>
        </p:txBody>
      </p:sp>
      <p:sp>
        <p:nvSpPr>
          <p:cNvPr id="177" name="kubernetes-gpu-items-5-box">
            <a:extLst>
              <a:ext uri="{FF2B5EF4-FFF2-40B4-BE49-F238E27FC236}">
                <a16:creationId xmlns:a16="http://schemas.microsoft.com/office/drawing/2014/main" id="{F1C4C1AD-9BD0-9A7E-00D3-97C5A8273808}"/>
              </a:ext>
            </a:extLst>
          </p:cNvPr>
          <p:cNvSpPr>
            <a:spLocks noGrp="1"/>
          </p:cNvSpPr>
          <p:nvPr/>
        </p:nvSpPr>
        <p:spPr>
          <a:xfrm>
            <a:off x="4476750"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Topology Manager</a:t>
            </a:r>
          </a:p>
        </p:txBody>
      </p:sp>
      <p:sp>
        <p:nvSpPr>
          <p:cNvPr id="178" name="kubernetes-gpu-items-6-box">
            <a:extLst>
              <a:ext uri="{FF2B5EF4-FFF2-40B4-BE49-F238E27FC236}">
                <a16:creationId xmlns:a16="http://schemas.microsoft.com/office/drawing/2014/main" id="{51FB50EB-6A4A-18DB-7A55-E941FFDD2068}"/>
              </a:ext>
            </a:extLst>
          </p:cNvPr>
          <p:cNvSpPr>
            <a:spLocks noGrp="1"/>
          </p:cNvSpPr>
          <p:nvPr/>
        </p:nvSpPr>
        <p:spPr>
          <a:xfrm>
            <a:off x="5343525"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Node Auto-discovery</a:t>
            </a:r>
          </a:p>
        </p:txBody>
      </p:sp>
      <p:sp>
        <p:nvSpPr>
          <p:cNvPr id="179" name="kubernetes-gpu-items-7-box">
            <a:extLst>
              <a:ext uri="{FF2B5EF4-FFF2-40B4-BE49-F238E27FC236}">
                <a16:creationId xmlns:a16="http://schemas.microsoft.com/office/drawing/2014/main" id="{22245C04-67A9-80DF-84B9-860EAB67B4E1}"/>
              </a:ext>
            </a:extLst>
          </p:cNvPr>
          <p:cNvSpPr>
            <a:spLocks noGrp="1"/>
          </p:cNvSpPr>
          <p:nvPr/>
        </p:nvSpPr>
        <p:spPr>
          <a:xfrm>
            <a:off x="6210300" y="4405494"/>
            <a:ext cx="838200" cy="161925"/>
          </a:xfrm>
          <a:prstGeom prst="roundRect">
            <a:avLst>
              <a:gd name="adj" fmla="val 23529"/>
            </a:avLst>
          </a:prstGeom>
          <a:solidFill>
            <a:srgbClr val="FFFFFF"/>
          </a:solidFill>
          <a:ln w="9525">
            <a:solidFill>
              <a:srgbClr val="C8D8F1"/>
            </a:solidFill>
            <a:prstDash val="solid"/>
          </a:ln>
        </p:spPr>
        <p:txBody>
          <a:bodyPr wrap="square" lIns="28575" tIns="9525" rIns="28575" bIns="9525" anchor="ctr">
            <a:normAutofit/>
          </a:bodyPr>
          <a:lstStyle/>
          <a:p>
            <a:pPr algn="ctr">
              <a:defRPr sz="495" b="0">
                <a:solidFill>
                  <a:srgbClr val="102031"/>
                </a:solidFill>
                <a:latin typeface="Arial"/>
                <a:ea typeface="Arial"/>
                <a:cs typeface="Arial"/>
              </a:defRPr>
            </a:pPr>
            <a:r>
              <a:rPr sz="600" b="0">
                <a:solidFill>
                  <a:srgbClr val="102031"/>
                </a:solidFill>
                <a:latin typeface="Arial"/>
                <a:ea typeface="Arial"/>
                <a:cs typeface="Arial"/>
              </a:rPr>
              <a:t>Multi-tenant Isolation</a:t>
            </a:r>
          </a:p>
        </p:txBody>
      </p:sp>
      <p:sp>
        <p:nvSpPr>
          <p:cNvPr id="180" name="infrastructure-rail-box">
            <a:extLst>
              <a:ext uri="{FF2B5EF4-FFF2-40B4-BE49-F238E27FC236}">
                <a16:creationId xmlns:a16="http://schemas.microsoft.com/office/drawing/2014/main" id="{E8A91F7C-D116-EA58-9A8A-F819E1B42313}"/>
              </a:ext>
            </a:extLst>
          </p:cNvPr>
          <p:cNvSpPr>
            <a:spLocks noGrp="1"/>
          </p:cNvSpPr>
          <p:nvPr/>
        </p:nvSpPr>
        <p:spPr>
          <a:xfrm>
            <a:off x="76200" y="4653144"/>
            <a:ext cx="762000" cy="190500"/>
          </a:xfrm>
          <a:prstGeom prst="roundRect">
            <a:avLst>
              <a:gd name="adj" fmla="val 20000"/>
            </a:avLst>
          </a:prstGeom>
          <a:solidFill>
            <a:srgbClr val="102031"/>
          </a:solidFill>
          <a:ln w="9525">
            <a:solidFill>
              <a:srgbClr val="102031"/>
            </a:solidFill>
            <a:prstDash val="solid"/>
          </a:ln>
        </p:spPr>
        <p:txBody>
          <a:bodyPr wrap="square" lIns="28575" tIns="9525" rIns="28575" bIns="9525" anchor="ctr">
            <a:noAutofit/>
          </a:bodyPr>
          <a:lstStyle/>
          <a:p>
            <a:pPr algn="ctr">
              <a:defRPr sz="525" b="1">
                <a:solidFill>
                  <a:srgbClr val="FFFFFF"/>
                </a:solidFill>
                <a:latin typeface="Arial"/>
                <a:ea typeface="Arial"/>
                <a:cs typeface="Arial"/>
              </a:defRPr>
            </a:pPr>
            <a:r>
              <a:rPr sz="600" b="1">
                <a:solidFill>
                  <a:srgbClr val="FFFFFF"/>
                </a:solidFill>
                <a:latin typeface="Arial"/>
                <a:ea typeface="Arial"/>
                <a:cs typeface="Arial"/>
              </a:rPr>
              <a:t>Infrastructure</a:t>
            </a:r>
          </a:p>
          <a:p>
            <a:pPr algn="ctr">
              <a:defRPr sz="525" b="1">
                <a:solidFill>
                  <a:srgbClr val="FFFFFF"/>
                </a:solidFill>
                <a:latin typeface="Arial"/>
                <a:ea typeface="Arial"/>
                <a:cs typeface="Arial"/>
              </a:defRPr>
            </a:pPr>
            <a:r>
              <a:rPr sz="600" b="1">
                <a:solidFill>
                  <a:srgbClr val="FFFFFF"/>
                </a:solidFill>
                <a:latin typeface="Arial"/>
                <a:ea typeface="Arial"/>
                <a:cs typeface="Arial"/>
              </a:rPr>
              <a:t>Operations</a:t>
            </a:r>
          </a:p>
        </p:txBody>
      </p:sp>
      <p:sp>
        <p:nvSpPr>
          <p:cNvPr id="181" name="infrastructure-surface">
            <a:extLst>
              <a:ext uri="{FF2B5EF4-FFF2-40B4-BE49-F238E27FC236}">
                <a16:creationId xmlns:a16="http://schemas.microsoft.com/office/drawing/2014/main" id="{E9666790-F5E6-786E-4021-DCD511CCA1E2}"/>
              </a:ext>
            </a:extLst>
          </p:cNvPr>
          <p:cNvSpPr>
            <a:spLocks noGrp="1"/>
          </p:cNvSpPr>
          <p:nvPr/>
        </p:nvSpPr>
        <p:spPr>
          <a:xfrm>
            <a:off x="933450" y="4653144"/>
            <a:ext cx="6191250" cy="190500"/>
          </a:xfrm>
          <a:prstGeom prst="roundRect">
            <a:avLst>
              <a:gd name="adj" fmla="val 20000"/>
            </a:avLst>
          </a:prstGeom>
          <a:solidFill>
            <a:srgbClr val="F7FAFF"/>
          </a:solidFill>
          <a:ln w="9525">
            <a:solidFill>
              <a:srgbClr val="C8D8F1"/>
            </a:solidFill>
            <a:prstDash val="solid"/>
          </a:ln>
        </p:spPr>
        <p:txBody>
          <a:bodyPr/>
          <a:lstStyle/>
          <a:p>
            <a:endParaRPr lang="zh-CN" altLang="en-US" sz="1600"/>
          </a:p>
        </p:txBody>
      </p:sp>
      <p:sp>
        <p:nvSpPr>
          <p:cNvPr id="182" name="infrastructure-items-1-box">
            <a:extLst>
              <a:ext uri="{FF2B5EF4-FFF2-40B4-BE49-F238E27FC236}">
                <a16:creationId xmlns:a16="http://schemas.microsoft.com/office/drawing/2014/main" id="{F02F3BB5-5C1A-B2C2-142C-AFFAB3E2934D}"/>
              </a:ext>
            </a:extLst>
          </p:cNvPr>
          <p:cNvSpPr>
            <a:spLocks noGrp="1"/>
          </p:cNvSpPr>
          <p:nvPr/>
        </p:nvSpPr>
        <p:spPr>
          <a:xfrm>
            <a:off x="1009650"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Compute</a:t>
            </a:r>
          </a:p>
          <a:p>
            <a:pPr algn="ctr">
              <a:defRPr sz="435" b="0">
                <a:solidFill>
                  <a:srgbClr val="102031"/>
                </a:solidFill>
                <a:latin typeface="Arial"/>
                <a:ea typeface="Arial"/>
                <a:cs typeface="Arial"/>
              </a:defRPr>
            </a:pPr>
            <a:r>
              <a:rPr sz="300" b="0">
                <a:solidFill>
                  <a:srgbClr val="102031"/>
                </a:solidFill>
                <a:latin typeface="Arial"/>
                <a:ea typeface="Arial"/>
                <a:cs typeface="Arial"/>
              </a:rPr>
              <a:t>(VM / Bare Metal)</a:t>
            </a:r>
          </a:p>
        </p:txBody>
      </p:sp>
      <p:sp>
        <p:nvSpPr>
          <p:cNvPr id="183" name="infrastructure-items-2-box">
            <a:extLst>
              <a:ext uri="{FF2B5EF4-FFF2-40B4-BE49-F238E27FC236}">
                <a16:creationId xmlns:a16="http://schemas.microsoft.com/office/drawing/2014/main" id="{9B0BBF7D-394A-50D2-0FD2-FF9329BB6D39}"/>
              </a:ext>
            </a:extLst>
          </p:cNvPr>
          <p:cNvSpPr>
            <a:spLocks noGrp="1"/>
          </p:cNvSpPr>
          <p:nvPr/>
        </p:nvSpPr>
        <p:spPr>
          <a:xfrm>
            <a:off x="1768078"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Network</a:t>
            </a:r>
          </a:p>
          <a:p>
            <a:pPr algn="ctr">
              <a:defRPr sz="435" b="0">
                <a:solidFill>
                  <a:srgbClr val="102031"/>
                </a:solidFill>
                <a:latin typeface="Arial"/>
                <a:ea typeface="Arial"/>
                <a:cs typeface="Arial"/>
              </a:defRPr>
            </a:pPr>
            <a:r>
              <a:rPr sz="300" b="0">
                <a:solidFill>
                  <a:srgbClr val="102031"/>
                </a:solidFill>
                <a:latin typeface="Arial"/>
                <a:ea typeface="Arial"/>
                <a:cs typeface="Arial"/>
              </a:rPr>
              <a:t>(VPC / SDN)</a:t>
            </a:r>
          </a:p>
        </p:txBody>
      </p:sp>
      <p:sp>
        <p:nvSpPr>
          <p:cNvPr id="184" name="infrastructure-items-3-box">
            <a:extLst>
              <a:ext uri="{FF2B5EF4-FFF2-40B4-BE49-F238E27FC236}">
                <a16:creationId xmlns:a16="http://schemas.microsoft.com/office/drawing/2014/main" id="{1863AA5E-7510-42EE-8E75-96EDC8DE25BD}"/>
              </a:ext>
            </a:extLst>
          </p:cNvPr>
          <p:cNvSpPr>
            <a:spLocks noGrp="1"/>
          </p:cNvSpPr>
          <p:nvPr/>
        </p:nvSpPr>
        <p:spPr>
          <a:xfrm>
            <a:off x="2526506"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Storage</a:t>
            </a:r>
          </a:p>
          <a:p>
            <a:pPr algn="ctr">
              <a:defRPr sz="435" b="0">
                <a:solidFill>
                  <a:srgbClr val="102031"/>
                </a:solidFill>
                <a:latin typeface="Arial"/>
                <a:ea typeface="Arial"/>
                <a:cs typeface="Arial"/>
              </a:defRPr>
            </a:pPr>
            <a:r>
              <a:rPr sz="300" b="0">
                <a:solidFill>
                  <a:srgbClr val="102031"/>
                </a:solidFill>
                <a:latin typeface="Arial"/>
                <a:ea typeface="Arial"/>
                <a:cs typeface="Arial"/>
              </a:rPr>
              <a:t>(Distributed)</a:t>
            </a:r>
          </a:p>
        </p:txBody>
      </p:sp>
      <p:sp>
        <p:nvSpPr>
          <p:cNvPr id="185" name="infrastructure-items-4-box">
            <a:extLst>
              <a:ext uri="{FF2B5EF4-FFF2-40B4-BE49-F238E27FC236}">
                <a16:creationId xmlns:a16="http://schemas.microsoft.com/office/drawing/2014/main" id="{1DC82E08-D77B-5A04-E9A3-4799EF0513A2}"/>
              </a:ext>
            </a:extLst>
          </p:cNvPr>
          <p:cNvSpPr>
            <a:spLocks noGrp="1"/>
          </p:cNvSpPr>
          <p:nvPr/>
        </p:nvSpPr>
        <p:spPr>
          <a:xfrm>
            <a:off x="3284934"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Security</a:t>
            </a:r>
          </a:p>
          <a:p>
            <a:pPr algn="ctr">
              <a:defRPr sz="435" b="0">
                <a:solidFill>
                  <a:srgbClr val="102031"/>
                </a:solidFill>
                <a:latin typeface="Arial"/>
                <a:ea typeface="Arial"/>
                <a:cs typeface="Arial"/>
              </a:defRPr>
            </a:pPr>
            <a:r>
              <a:rPr sz="300" b="0">
                <a:solidFill>
                  <a:srgbClr val="102031"/>
                </a:solidFill>
                <a:latin typeface="Arial"/>
                <a:ea typeface="Arial"/>
                <a:cs typeface="Arial"/>
              </a:rPr>
              <a:t>(FW / IDS)</a:t>
            </a:r>
          </a:p>
        </p:txBody>
      </p:sp>
      <p:sp>
        <p:nvSpPr>
          <p:cNvPr id="186" name="infrastructure-items-5-box">
            <a:extLst>
              <a:ext uri="{FF2B5EF4-FFF2-40B4-BE49-F238E27FC236}">
                <a16:creationId xmlns:a16="http://schemas.microsoft.com/office/drawing/2014/main" id="{3BA4C529-07B3-59B6-8AA1-5BE025F17DAA}"/>
              </a:ext>
            </a:extLst>
          </p:cNvPr>
          <p:cNvSpPr>
            <a:spLocks noGrp="1"/>
          </p:cNvSpPr>
          <p:nvPr/>
        </p:nvSpPr>
        <p:spPr>
          <a:xfrm>
            <a:off x="4043363"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Monitoring</a:t>
            </a:r>
          </a:p>
          <a:p>
            <a:pPr algn="ctr">
              <a:defRPr sz="435" b="0">
                <a:solidFill>
                  <a:srgbClr val="102031"/>
                </a:solidFill>
                <a:latin typeface="Arial"/>
                <a:ea typeface="Arial"/>
                <a:cs typeface="Arial"/>
              </a:defRPr>
            </a:pPr>
            <a:r>
              <a:rPr sz="300" b="0">
                <a:solidFill>
                  <a:srgbClr val="102031"/>
                </a:solidFill>
                <a:latin typeface="Arial"/>
                <a:ea typeface="Arial"/>
                <a:cs typeface="Arial"/>
              </a:rPr>
              <a:t>(Prometheus)</a:t>
            </a:r>
          </a:p>
        </p:txBody>
      </p:sp>
      <p:sp>
        <p:nvSpPr>
          <p:cNvPr id="187" name="infrastructure-items-6-box">
            <a:extLst>
              <a:ext uri="{FF2B5EF4-FFF2-40B4-BE49-F238E27FC236}">
                <a16:creationId xmlns:a16="http://schemas.microsoft.com/office/drawing/2014/main" id="{2DBCD637-1B48-A53C-5C31-1DF3173E650F}"/>
              </a:ext>
            </a:extLst>
          </p:cNvPr>
          <p:cNvSpPr>
            <a:spLocks noGrp="1"/>
          </p:cNvSpPr>
          <p:nvPr/>
        </p:nvSpPr>
        <p:spPr>
          <a:xfrm>
            <a:off x="4801791"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Logging</a:t>
            </a:r>
          </a:p>
          <a:p>
            <a:pPr algn="ctr">
              <a:defRPr sz="435" b="0">
                <a:solidFill>
                  <a:srgbClr val="102031"/>
                </a:solidFill>
                <a:latin typeface="Arial"/>
                <a:ea typeface="Arial"/>
                <a:cs typeface="Arial"/>
              </a:defRPr>
            </a:pPr>
            <a:r>
              <a:rPr sz="300" b="0">
                <a:solidFill>
                  <a:srgbClr val="102031"/>
                </a:solidFill>
                <a:latin typeface="Arial"/>
                <a:ea typeface="Arial"/>
                <a:cs typeface="Arial"/>
              </a:rPr>
              <a:t>(ELK)</a:t>
            </a:r>
          </a:p>
        </p:txBody>
      </p:sp>
      <p:sp>
        <p:nvSpPr>
          <p:cNvPr id="188" name="infrastructure-items-7-box">
            <a:extLst>
              <a:ext uri="{FF2B5EF4-FFF2-40B4-BE49-F238E27FC236}">
                <a16:creationId xmlns:a16="http://schemas.microsoft.com/office/drawing/2014/main" id="{7332C11D-84AF-EB39-4669-407DAF74ED90}"/>
              </a:ext>
            </a:extLst>
          </p:cNvPr>
          <p:cNvSpPr>
            <a:spLocks noGrp="1"/>
          </p:cNvSpPr>
          <p:nvPr/>
        </p:nvSpPr>
        <p:spPr>
          <a:xfrm>
            <a:off x="5560219"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Automation</a:t>
            </a:r>
          </a:p>
          <a:p>
            <a:pPr algn="ctr">
              <a:defRPr sz="435" b="0">
                <a:solidFill>
                  <a:srgbClr val="102031"/>
                </a:solidFill>
                <a:latin typeface="Arial"/>
                <a:ea typeface="Arial"/>
                <a:cs typeface="Arial"/>
              </a:defRPr>
            </a:pPr>
            <a:r>
              <a:rPr sz="300" b="0">
                <a:solidFill>
                  <a:srgbClr val="102031"/>
                </a:solidFill>
                <a:latin typeface="Arial"/>
                <a:ea typeface="Arial"/>
                <a:cs typeface="Arial"/>
              </a:rPr>
              <a:t>(Ansible)</a:t>
            </a:r>
          </a:p>
        </p:txBody>
      </p:sp>
      <p:sp>
        <p:nvSpPr>
          <p:cNvPr id="189" name="infrastructure-items-8-box">
            <a:extLst>
              <a:ext uri="{FF2B5EF4-FFF2-40B4-BE49-F238E27FC236}">
                <a16:creationId xmlns:a16="http://schemas.microsoft.com/office/drawing/2014/main" id="{1EBAF33E-9853-62AF-AC8E-2920247E635B}"/>
              </a:ext>
            </a:extLst>
          </p:cNvPr>
          <p:cNvSpPr>
            <a:spLocks noGrp="1"/>
          </p:cNvSpPr>
          <p:nvPr/>
        </p:nvSpPr>
        <p:spPr>
          <a:xfrm>
            <a:off x="6318647" y="4691244"/>
            <a:ext cx="729853" cy="114300"/>
          </a:xfrm>
          <a:prstGeom prst="roundRect">
            <a:avLst>
              <a:gd name="adj" fmla="val 33333"/>
            </a:avLst>
          </a:prstGeom>
          <a:solidFill>
            <a:srgbClr val="FFFFFF"/>
          </a:solidFill>
          <a:ln w="9525">
            <a:solidFill>
              <a:srgbClr val="C8D8F1"/>
            </a:solidFill>
            <a:prstDash val="solid"/>
          </a:ln>
        </p:spPr>
        <p:txBody>
          <a:bodyPr wrap="square" lIns="28575" tIns="9525" rIns="28575" bIns="9525" anchor="ctr">
            <a:noAutofit/>
          </a:bodyPr>
          <a:lstStyle/>
          <a:p>
            <a:pPr algn="ctr">
              <a:defRPr sz="435" b="0">
                <a:solidFill>
                  <a:srgbClr val="102031"/>
                </a:solidFill>
                <a:latin typeface="Arial"/>
                <a:ea typeface="Arial"/>
                <a:cs typeface="Arial"/>
              </a:defRPr>
            </a:pPr>
            <a:r>
              <a:rPr sz="300" b="0">
                <a:solidFill>
                  <a:srgbClr val="102031"/>
                </a:solidFill>
                <a:latin typeface="Arial"/>
                <a:ea typeface="Arial"/>
                <a:cs typeface="Arial"/>
              </a:rPr>
              <a:t>CI/CD</a:t>
            </a:r>
          </a:p>
          <a:p>
            <a:pPr algn="ctr">
              <a:defRPr sz="435" b="0">
                <a:solidFill>
                  <a:srgbClr val="102031"/>
                </a:solidFill>
                <a:latin typeface="Arial"/>
                <a:ea typeface="Arial"/>
                <a:cs typeface="Arial"/>
              </a:defRPr>
            </a:pPr>
            <a:r>
              <a:rPr sz="300" b="0">
                <a:solidFill>
                  <a:srgbClr val="102031"/>
                </a:solidFill>
                <a:latin typeface="Arial"/>
                <a:ea typeface="Arial"/>
                <a:cs typeface="Arial"/>
              </a:rPr>
              <a:t>(GitOps)</a:t>
            </a:r>
          </a:p>
        </p:txBody>
      </p:sp>
      <p:sp>
        <p:nvSpPr>
          <p:cNvPr id="6" name="文本框 5">
            <a:extLst>
              <a:ext uri="{FF2B5EF4-FFF2-40B4-BE49-F238E27FC236}">
                <a16:creationId xmlns:a16="http://schemas.microsoft.com/office/drawing/2014/main" id="{0DC8EAE8-7214-0CAB-B297-4A9BD9A4B529}"/>
              </a:ext>
            </a:extLst>
          </p:cNvPr>
          <p:cNvSpPr txBox="1"/>
          <p:nvPr/>
        </p:nvSpPr>
        <p:spPr>
          <a:xfrm>
            <a:off x="1103735" y="2040678"/>
            <a:ext cx="648868" cy="461665"/>
          </a:xfrm>
          <a:prstGeom prst="rect">
            <a:avLst/>
          </a:prstGeom>
          <a:noFill/>
          <a:ln w="0">
            <a:noFill/>
            <a:prstDash val="solid"/>
          </a:ln>
        </p:spPr>
        <p:txBody>
          <a:bodyPr wrap="square" lIns="19050" tIns="9525" rIns="19050" bIns="9525" anchor="ctr">
            <a:normAutofit fontScale="93750"/>
          </a:bodyPr>
          <a:lstStyle>
            <a:defPPr marR="0" lvl="0" algn="l" rtl="0">
              <a:lnSpc>
                <a:spcPct val="100000"/>
              </a:lnSpc>
              <a:spcBef>
                <a:spcPts val="0"/>
              </a:spcBef>
              <a:spcAft>
                <a:spcPts val="0"/>
              </a:spcAft>
            </a:defPPr>
            <a:lvl1pPr algn="ctr">
              <a:defRPr sz="1200" b="1">
                <a:solidFill>
                  <a:srgbClr val="475569"/>
                </a:solidFill>
              </a:defRPr>
            </a:lvl1pPr>
          </a:lstStyle>
          <a:p>
            <a:pPr algn="l"/>
            <a:r>
              <a:rPr lang="en" altLang="zh-CN" dirty="0"/>
              <a:t>LLM-D</a:t>
            </a:r>
          </a:p>
          <a:p>
            <a:pPr algn="l"/>
            <a:r>
              <a:rPr lang="en" altLang="zh-CN" dirty="0"/>
              <a:t>KAITO</a:t>
            </a:r>
            <a:endParaRPr lang="zh-CN" altLang="en-US" dirty="0"/>
          </a:p>
        </p:txBody>
      </p:sp>
    </p:spTree>
    <p:extLst>
      <p:ext uri="{BB962C8B-B14F-4D97-AF65-F5344CB8AC3E}">
        <p14:creationId xmlns:p14="http://schemas.microsoft.com/office/powerpoint/2010/main" val="3627209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AEEA7-47B1-A426-1083-25C88D215AEA}"/>
              </a:ext>
            </a:extLst>
          </p:cNvPr>
          <p:cNvSpPr>
            <a:spLocks noGrp="1"/>
          </p:cNvSpPr>
          <p:nvPr>
            <p:ph type="title"/>
          </p:nvPr>
        </p:nvSpPr>
        <p:spPr/>
        <p:txBody>
          <a:bodyPr/>
          <a:lstStyle/>
          <a:p>
            <a:r>
              <a:rPr lang="zh-CN" altLang="zh-CN" dirty="0"/>
              <a:t>Inference Infrastructure Landscape</a:t>
            </a:r>
            <a:endParaRPr kumimoji="1" lang="zh-CN" altLang="en-US" dirty="0"/>
          </a:p>
        </p:txBody>
      </p:sp>
      <p:sp>
        <p:nvSpPr>
          <p:cNvPr id="3" name="文本占位符 2">
            <a:extLst>
              <a:ext uri="{FF2B5EF4-FFF2-40B4-BE49-F238E27FC236}">
                <a16:creationId xmlns:a16="http://schemas.microsoft.com/office/drawing/2014/main" id="{27F1FC1E-59EB-0952-0A56-791AD66F634E}"/>
              </a:ext>
            </a:extLst>
          </p:cNvPr>
          <p:cNvSpPr>
            <a:spLocks noGrp="1"/>
          </p:cNvSpPr>
          <p:nvPr>
            <p:ph type="body" idx="1"/>
          </p:nvPr>
        </p:nvSpPr>
        <p:spPr/>
        <p:txBody>
          <a:bodyPr/>
          <a:lstStyle/>
          <a:p>
            <a:endParaRPr lang="zh-CN" altLang="en-US" dirty="0"/>
          </a:p>
        </p:txBody>
      </p:sp>
      <p:sp>
        <p:nvSpPr>
          <p:cNvPr id="89" name="landscape-plot">
            <a:extLst>
              <a:ext uri="{FF2B5EF4-FFF2-40B4-BE49-F238E27FC236}">
                <a16:creationId xmlns:a16="http://schemas.microsoft.com/office/drawing/2014/main" id="{8C8D2AE9-88E4-9B93-A7D1-6D7B616FA93B}"/>
              </a:ext>
            </a:extLst>
          </p:cNvPr>
          <p:cNvSpPr>
            <a:spLocks noGrp="1"/>
          </p:cNvSpPr>
          <p:nvPr/>
        </p:nvSpPr>
        <p:spPr>
          <a:xfrm>
            <a:off x="858704" y="945956"/>
            <a:ext cx="6153150" cy="4048125"/>
          </a:xfrm>
          <a:prstGeom prst="roundRect">
            <a:avLst>
              <a:gd name="adj" fmla="val 0"/>
            </a:avLst>
          </a:prstGeom>
          <a:solidFill>
            <a:srgbClr val="FFFFFF"/>
          </a:solidFill>
          <a:ln w="9525">
            <a:solidFill>
              <a:srgbClr val="102031"/>
            </a:solidFill>
            <a:prstDash val="dash"/>
          </a:ln>
        </p:spPr>
        <p:txBody>
          <a:bodyPr/>
          <a:lstStyle/>
          <a:p>
            <a:endParaRPr lang="zh-CN" altLang="en-US"/>
          </a:p>
        </p:txBody>
      </p:sp>
      <p:sp>
        <p:nvSpPr>
          <p:cNvPr id="90" name="landscape-mid-vertical">
            <a:extLst>
              <a:ext uri="{FF2B5EF4-FFF2-40B4-BE49-F238E27FC236}">
                <a16:creationId xmlns:a16="http://schemas.microsoft.com/office/drawing/2014/main" id="{ACBC71B4-A701-4262-FD78-F9A1DEEE35BE}"/>
              </a:ext>
            </a:extLst>
          </p:cNvPr>
          <p:cNvSpPr>
            <a:spLocks noGrp="1"/>
          </p:cNvSpPr>
          <p:nvPr/>
        </p:nvSpPr>
        <p:spPr>
          <a:xfrm>
            <a:off x="3935279" y="945956"/>
            <a:ext cx="0" cy="4048125"/>
          </a:xfrm>
          <a:prstGeom prst="line">
            <a:avLst/>
          </a:prstGeom>
          <a:noFill/>
          <a:ln w="9525">
            <a:solidFill>
              <a:srgbClr val="475569"/>
            </a:solidFill>
            <a:prstDash val="dash"/>
          </a:ln>
        </p:spPr>
        <p:txBody>
          <a:bodyPr/>
          <a:lstStyle/>
          <a:p>
            <a:endParaRPr lang="zh-CN" altLang="en-US"/>
          </a:p>
        </p:txBody>
      </p:sp>
      <p:sp>
        <p:nvSpPr>
          <p:cNvPr id="91" name="landscape-mid-horizontal">
            <a:extLst>
              <a:ext uri="{FF2B5EF4-FFF2-40B4-BE49-F238E27FC236}">
                <a16:creationId xmlns:a16="http://schemas.microsoft.com/office/drawing/2014/main" id="{2A347EBF-017A-8C87-B69B-E83F1B746FF0}"/>
              </a:ext>
            </a:extLst>
          </p:cNvPr>
          <p:cNvSpPr>
            <a:spLocks noGrp="1"/>
          </p:cNvSpPr>
          <p:nvPr/>
        </p:nvSpPr>
        <p:spPr>
          <a:xfrm>
            <a:off x="858704" y="2908106"/>
            <a:ext cx="6153150" cy="0"/>
          </a:xfrm>
          <a:prstGeom prst="line">
            <a:avLst/>
          </a:prstGeom>
          <a:noFill/>
          <a:ln w="9525">
            <a:solidFill>
              <a:srgbClr val="475569"/>
            </a:solidFill>
            <a:prstDash val="dash"/>
          </a:ln>
        </p:spPr>
        <p:txBody>
          <a:bodyPr/>
          <a:lstStyle/>
          <a:p>
            <a:endParaRPr lang="zh-CN" altLang="en-US"/>
          </a:p>
        </p:txBody>
      </p:sp>
      <p:sp>
        <p:nvSpPr>
          <p:cNvPr id="92" name="landscape-y-top">
            <a:extLst>
              <a:ext uri="{FF2B5EF4-FFF2-40B4-BE49-F238E27FC236}">
                <a16:creationId xmlns:a16="http://schemas.microsoft.com/office/drawing/2014/main" id="{9475E4A6-6208-C561-6D73-6F46B7052C6D}"/>
              </a:ext>
            </a:extLst>
          </p:cNvPr>
          <p:cNvSpPr>
            <a:spLocks noGrp="1"/>
          </p:cNvSpPr>
          <p:nvPr/>
        </p:nvSpPr>
        <p:spPr>
          <a:xfrm>
            <a:off x="2878004" y="764981"/>
            <a:ext cx="2095500" cy="161925"/>
          </a:xfrm>
          <a:prstGeom prst="rect">
            <a:avLst/>
          </a:prstGeom>
          <a:noFill/>
          <a:ln w="0">
            <a:noFill/>
            <a:prstDash val="solid"/>
          </a:ln>
        </p:spPr>
        <p:txBody>
          <a:bodyPr wrap="square" lIns="19050" tIns="9525" rIns="19050" bIns="9525" anchor="ctr">
            <a:normAutofit/>
          </a:bodyPr>
          <a:lstStyle/>
          <a:p>
            <a:pPr algn="ctr">
              <a:defRPr sz="900" b="1">
                <a:solidFill>
                  <a:srgbClr val="102031"/>
                </a:solidFill>
                <a:latin typeface="Arial"/>
                <a:ea typeface="Arial"/>
                <a:cs typeface="Arial"/>
              </a:defRPr>
            </a:pPr>
            <a:r>
              <a:rPr sz="900" b="1" dirty="0">
                <a:solidFill>
                  <a:schemeClr val="bg1"/>
                </a:solidFill>
                <a:latin typeface="Arial"/>
                <a:ea typeface="Arial"/>
                <a:cs typeface="Arial"/>
              </a:rPr>
              <a:t>AI / Application Layer</a:t>
            </a:r>
          </a:p>
        </p:txBody>
      </p:sp>
      <p:sp>
        <p:nvSpPr>
          <p:cNvPr id="93" name="landscape-x-left">
            <a:extLst>
              <a:ext uri="{FF2B5EF4-FFF2-40B4-BE49-F238E27FC236}">
                <a16:creationId xmlns:a16="http://schemas.microsoft.com/office/drawing/2014/main" id="{23CB3B85-2258-CA44-FE51-C62046724804}"/>
              </a:ext>
            </a:extLst>
          </p:cNvPr>
          <p:cNvSpPr>
            <a:spLocks noGrp="1"/>
          </p:cNvSpPr>
          <p:nvPr/>
        </p:nvSpPr>
        <p:spPr>
          <a:xfrm>
            <a:off x="915854" y="2736656"/>
            <a:ext cx="762000" cy="133350"/>
          </a:xfrm>
          <a:prstGeom prst="rect">
            <a:avLst/>
          </a:prstGeom>
          <a:noFill/>
          <a:ln w="0">
            <a:noFill/>
            <a:prstDash val="solid"/>
          </a:ln>
        </p:spPr>
        <p:txBody>
          <a:bodyPr wrap="square" lIns="19050" tIns="9525" rIns="19050" bIns="9525" anchor="ctr">
            <a:normAutofit/>
          </a:bodyPr>
          <a:lstStyle/>
          <a:p>
            <a:pPr algn="l">
              <a:defRPr sz="600" b="1">
                <a:solidFill>
                  <a:srgbClr val="475569"/>
                </a:solidFill>
                <a:latin typeface="Arial"/>
                <a:ea typeface="Arial"/>
                <a:cs typeface="Arial"/>
              </a:defRPr>
            </a:pPr>
            <a:r>
              <a:rPr sz="600" b="1">
                <a:solidFill>
                  <a:srgbClr val="475569"/>
                </a:solidFill>
                <a:latin typeface="Arial"/>
                <a:ea typeface="Arial"/>
                <a:cs typeface="Arial"/>
              </a:rPr>
              <a:t>Early-stage</a:t>
            </a:r>
          </a:p>
        </p:txBody>
      </p:sp>
      <p:sp>
        <p:nvSpPr>
          <p:cNvPr id="94" name="landscape-x-right">
            <a:extLst>
              <a:ext uri="{FF2B5EF4-FFF2-40B4-BE49-F238E27FC236}">
                <a16:creationId xmlns:a16="http://schemas.microsoft.com/office/drawing/2014/main" id="{9912CCF7-3E4F-130D-8220-34F783A61A11}"/>
              </a:ext>
            </a:extLst>
          </p:cNvPr>
          <p:cNvSpPr>
            <a:spLocks noGrp="1"/>
          </p:cNvSpPr>
          <p:nvPr/>
        </p:nvSpPr>
        <p:spPr>
          <a:xfrm>
            <a:off x="5926004" y="2736656"/>
            <a:ext cx="1028700" cy="133350"/>
          </a:xfrm>
          <a:prstGeom prst="rect">
            <a:avLst/>
          </a:prstGeom>
          <a:noFill/>
          <a:ln w="0">
            <a:noFill/>
            <a:prstDash val="solid"/>
          </a:ln>
        </p:spPr>
        <p:txBody>
          <a:bodyPr wrap="square" lIns="19050" tIns="9525" rIns="19050" bIns="9525" anchor="ctr">
            <a:normAutofit/>
          </a:bodyPr>
          <a:lstStyle/>
          <a:p>
            <a:pPr algn="r">
              <a:defRPr sz="600" b="1">
                <a:solidFill>
                  <a:srgbClr val="475569"/>
                </a:solidFill>
                <a:latin typeface="Arial"/>
                <a:ea typeface="Arial"/>
                <a:cs typeface="Arial"/>
              </a:defRPr>
            </a:pPr>
            <a:r>
              <a:rPr sz="600" b="1">
                <a:solidFill>
                  <a:srgbClr val="475569"/>
                </a:solidFill>
                <a:latin typeface="Arial"/>
                <a:ea typeface="Arial"/>
                <a:cs typeface="Arial"/>
              </a:rPr>
              <a:t>Mature / Standardized</a:t>
            </a:r>
          </a:p>
        </p:txBody>
      </p:sp>
      <p:sp>
        <p:nvSpPr>
          <p:cNvPr id="95" name="quad-app-emerging">
            <a:extLst>
              <a:ext uri="{FF2B5EF4-FFF2-40B4-BE49-F238E27FC236}">
                <a16:creationId xmlns:a16="http://schemas.microsoft.com/office/drawing/2014/main" id="{C6057E88-42DB-44CB-DDE3-1BEBC3F7814B}"/>
              </a:ext>
            </a:extLst>
          </p:cNvPr>
          <p:cNvSpPr>
            <a:spLocks noGrp="1"/>
          </p:cNvSpPr>
          <p:nvPr/>
        </p:nvSpPr>
        <p:spPr>
          <a:xfrm>
            <a:off x="2116004" y="955481"/>
            <a:ext cx="1047750" cy="95250"/>
          </a:xfrm>
          <a:prstGeom prst="rect">
            <a:avLst/>
          </a:prstGeom>
          <a:noFill/>
          <a:ln w="0">
            <a:noFill/>
            <a:prstDash val="solid"/>
          </a:ln>
        </p:spPr>
        <p:txBody>
          <a:bodyPr wrap="square" lIns="19050" tIns="9525" rIns="19050" bIns="9525" anchor="ctr">
            <a:normAutofit fontScale="96310"/>
          </a:bodyPr>
          <a:lstStyle/>
          <a:p>
            <a:pPr algn="ctr">
              <a:defRPr sz="563" b="1">
                <a:solidFill>
                  <a:srgbClr val="667085"/>
                </a:solidFill>
                <a:latin typeface="Arial"/>
                <a:ea typeface="Arial"/>
                <a:cs typeface="Arial"/>
              </a:defRPr>
            </a:pPr>
            <a:r>
              <a:rPr sz="563" b="1">
                <a:solidFill>
                  <a:srgbClr val="667085"/>
                </a:solidFill>
                <a:latin typeface="Arial"/>
                <a:ea typeface="Arial"/>
                <a:cs typeface="Arial"/>
              </a:rPr>
              <a:t>App + Emerging</a:t>
            </a:r>
          </a:p>
        </p:txBody>
      </p:sp>
      <p:sp>
        <p:nvSpPr>
          <p:cNvPr id="96" name="quad-app-mature">
            <a:extLst>
              <a:ext uri="{FF2B5EF4-FFF2-40B4-BE49-F238E27FC236}">
                <a16:creationId xmlns:a16="http://schemas.microsoft.com/office/drawing/2014/main" id="{87DC4930-C804-038B-1FB1-533B0298CE1C}"/>
              </a:ext>
            </a:extLst>
          </p:cNvPr>
          <p:cNvSpPr>
            <a:spLocks noGrp="1"/>
          </p:cNvSpPr>
          <p:nvPr/>
        </p:nvSpPr>
        <p:spPr>
          <a:xfrm>
            <a:off x="5926004" y="955481"/>
            <a:ext cx="952500" cy="95250"/>
          </a:xfrm>
          <a:prstGeom prst="rect">
            <a:avLst/>
          </a:prstGeom>
          <a:noFill/>
          <a:ln w="0">
            <a:noFill/>
            <a:prstDash val="solid"/>
          </a:ln>
        </p:spPr>
        <p:txBody>
          <a:bodyPr wrap="square" lIns="19050" tIns="9525" rIns="19050" bIns="9525" anchor="ctr">
            <a:normAutofit fontScale="96310"/>
          </a:bodyPr>
          <a:lstStyle/>
          <a:p>
            <a:pPr algn="ctr">
              <a:defRPr sz="563" b="1">
                <a:solidFill>
                  <a:srgbClr val="667085"/>
                </a:solidFill>
                <a:latin typeface="Arial"/>
                <a:ea typeface="Arial"/>
                <a:cs typeface="Arial"/>
              </a:defRPr>
            </a:pPr>
            <a:r>
              <a:rPr sz="563" b="1">
                <a:solidFill>
                  <a:srgbClr val="667085"/>
                </a:solidFill>
                <a:latin typeface="Arial"/>
                <a:ea typeface="Arial"/>
                <a:cs typeface="Arial"/>
              </a:rPr>
              <a:t>App + Mature</a:t>
            </a:r>
          </a:p>
        </p:txBody>
      </p:sp>
      <p:sp>
        <p:nvSpPr>
          <p:cNvPr id="97" name="quad-infra-emerging">
            <a:extLst>
              <a:ext uri="{FF2B5EF4-FFF2-40B4-BE49-F238E27FC236}">
                <a16:creationId xmlns:a16="http://schemas.microsoft.com/office/drawing/2014/main" id="{D3E78C22-1CCF-5B58-630F-724CBEE69230}"/>
              </a:ext>
            </a:extLst>
          </p:cNvPr>
          <p:cNvSpPr>
            <a:spLocks noGrp="1"/>
          </p:cNvSpPr>
          <p:nvPr/>
        </p:nvSpPr>
        <p:spPr>
          <a:xfrm>
            <a:off x="2116004" y="4622606"/>
            <a:ext cx="1143000" cy="114300"/>
          </a:xfrm>
          <a:prstGeom prst="rect">
            <a:avLst/>
          </a:prstGeom>
          <a:noFill/>
          <a:ln w="0">
            <a:noFill/>
            <a:prstDash val="solid"/>
          </a:ln>
        </p:spPr>
        <p:txBody>
          <a:bodyPr wrap="square" lIns="19050" tIns="9525" rIns="19050" bIns="9525" anchor="ctr">
            <a:normAutofit/>
          </a:bodyPr>
          <a:lstStyle/>
          <a:p>
            <a:pPr algn="ctr">
              <a:defRPr sz="563" b="1">
                <a:solidFill>
                  <a:srgbClr val="667085"/>
                </a:solidFill>
                <a:latin typeface="Arial"/>
                <a:ea typeface="Arial"/>
                <a:cs typeface="Arial"/>
              </a:defRPr>
            </a:pPr>
            <a:r>
              <a:rPr sz="563" b="1">
                <a:solidFill>
                  <a:srgbClr val="667085"/>
                </a:solidFill>
                <a:latin typeface="Arial"/>
                <a:ea typeface="Arial"/>
                <a:cs typeface="Arial"/>
              </a:rPr>
              <a:t>Infra + Emerging</a:t>
            </a:r>
          </a:p>
        </p:txBody>
      </p:sp>
      <p:sp>
        <p:nvSpPr>
          <p:cNvPr id="98" name="quad-infra-mature">
            <a:extLst>
              <a:ext uri="{FF2B5EF4-FFF2-40B4-BE49-F238E27FC236}">
                <a16:creationId xmlns:a16="http://schemas.microsoft.com/office/drawing/2014/main" id="{198D07A6-272B-CC52-73F4-D7C72A908979}"/>
              </a:ext>
            </a:extLst>
          </p:cNvPr>
          <p:cNvSpPr>
            <a:spLocks noGrp="1"/>
          </p:cNvSpPr>
          <p:nvPr/>
        </p:nvSpPr>
        <p:spPr>
          <a:xfrm>
            <a:off x="5964104" y="4451156"/>
            <a:ext cx="952500" cy="114300"/>
          </a:xfrm>
          <a:prstGeom prst="rect">
            <a:avLst/>
          </a:prstGeom>
          <a:noFill/>
          <a:ln w="0">
            <a:noFill/>
            <a:prstDash val="solid"/>
          </a:ln>
        </p:spPr>
        <p:txBody>
          <a:bodyPr wrap="square" lIns="19050" tIns="9525" rIns="19050" bIns="9525" anchor="ctr">
            <a:normAutofit/>
          </a:bodyPr>
          <a:lstStyle/>
          <a:p>
            <a:pPr algn="ctr">
              <a:defRPr sz="563" b="1">
                <a:solidFill>
                  <a:srgbClr val="667085"/>
                </a:solidFill>
                <a:latin typeface="Arial"/>
                <a:ea typeface="Arial"/>
                <a:cs typeface="Arial"/>
              </a:defRPr>
            </a:pPr>
            <a:r>
              <a:rPr sz="563" b="1">
                <a:solidFill>
                  <a:srgbClr val="667085"/>
                </a:solidFill>
                <a:latin typeface="Arial"/>
                <a:ea typeface="Arial"/>
                <a:cs typeface="Arial"/>
              </a:rPr>
              <a:t>Infra + Mature</a:t>
            </a:r>
          </a:p>
        </p:txBody>
      </p:sp>
      <p:sp>
        <p:nvSpPr>
          <p:cNvPr id="99" name="landscape-node-1-K8s-Agent-Sandbox">
            <a:extLst>
              <a:ext uri="{FF2B5EF4-FFF2-40B4-BE49-F238E27FC236}">
                <a16:creationId xmlns:a16="http://schemas.microsoft.com/office/drawing/2014/main" id="{E79A69D4-14C4-4582-2089-EB7F29D99344}"/>
              </a:ext>
            </a:extLst>
          </p:cNvPr>
          <p:cNvSpPr>
            <a:spLocks noGrp="1"/>
          </p:cNvSpPr>
          <p:nvPr/>
        </p:nvSpPr>
        <p:spPr>
          <a:xfrm>
            <a:off x="915854" y="1041206"/>
            <a:ext cx="89535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K8s Agent Sandbox</a:t>
            </a:r>
          </a:p>
        </p:txBody>
      </p:sp>
      <p:sp>
        <p:nvSpPr>
          <p:cNvPr id="100" name="landscape-node-2-OpenSandbox">
            <a:extLst>
              <a:ext uri="{FF2B5EF4-FFF2-40B4-BE49-F238E27FC236}">
                <a16:creationId xmlns:a16="http://schemas.microsoft.com/office/drawing/2014/main" id="{BD6F455A-D633-AFE1-DE79-8108CC7774DC}"/>
              </a:ext>
            </a:extLst>
          </p:cNvPr>
          <p:cNvSpPr>
            <a:spLocks noGrp="1"/>
          </p:cNvSpPr>
          <p:nvPr/>
        </p:nvSpPr>
        <p:spPr>
          <a:xfrm>
            <a:off x="2077904" y="1041206"/>
            <a:ext cx="81915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OpenSandbox</a:t>
            </a:r>
          </a:p>
        </p:txBody>
      </p:sp>
      <p:sp>
        <p:nvSpPr>
          <p:cNvPr id="101" name="landscape-node-3-kagent">
            <a:extLst>
              <a:ext uri="{FF2B5EF4-FFF2-40B4-BE49-F238E27FC236}">
                <a16:creationId xmlns:a16="http://schemas.microsoft.com/office/drawing/2014/main" id="{53CBC6DA-4C03-E319-6C14-ECFBDB611A9F}"/>
              </a:ext>
            </a:extLst>
          </p:cNvPr>
          <p:cNvSpPr>
            <a:spLocks noGrp="1"/>
          </p:cNvSpPr>
          <p:nvPr/>
        </p:nvSpPr>
        <p:spPr>
          <a:xfrm>
            <a:off x="3116129" y="1041206"/>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kagent</a:t>
            </a:r>
          </a:p>
        </p:txBody>
      </p:sp>
      <p:sp>
        <p:nvSpPr>
          <p:cNvPr id="102" name="landscape-node-4-Dagger">
            <a:extLst>
              <a:ext uri="{FF2B5EF4-FFF2-40B4-BE49-F238E27FC236}">
                <a16:creationId xmlns:a16="http://schemas.microsoft.com/office/drawing/2014/main" id="{36275454-18C1-8523-7EA2-A76E527E55E2}"/>
              </a:ext>
            </a:extLst>
          </p:cNvPr>
          <p:cNvSpPr>
            <a:spLocks noGrp="1"/>
          </p:cNvSpPr>
          <p:nvPr/>
        </p:nvSpPr>
        <p:spPr>
          <a:xfrm>
            <a:off x="3925754" y="1041206"/>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Dagger</a:t>
            </a:r>
          </a:p>
        </p:txBody>
      </p:sp>
      <p:sp>
        <p:nvSpPr>
          <p:cNvPr id="103" name="landscape-node-5-Dify">
            <a:extLst>
              <a:ext uri="{FF2B5EF4-FFF2-40B4-BE49-F238E27FC236}">
                <a16:creationId xmlns:a16="http://schemas.microsoft.com/office/drawing/2014/main" id="{193C90B1-9EB1-4B0C-EBE5-B7D744416A1F}"/>
              </a:ext>
            </a:extLst>
          </p:cNvPr>
          <p:cNvSpPr>
            <a:spLocks noGrp="1"/>
          </p:cNvSpPr>
          <p:nvPr/>
        </p:nvSpPr>
        <p:spPr>
          <a:xfrm>
            <a:off x="4735379" y="1041206"/>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Dify</a:t>
            </a:r>
          </a:p>
        </p:txBody>
      </p:sp>
      <p:sp>
        <p:nvSpPr>
          <p:cNvPr id="104" name="landscape-node-6-E2B">
            <a:extLst>
              <a:ext uri="{FF2B5EF4-FFF2-40B4-BE49-F238E27FC236}">
                <a16:creationId xmlns:a16="http://schemas.microsoft.com/office/drawing/2014/main" id="{CBE34702-B356-61BD-5D89-1E7316599C52}"/>
              </a:ext>
            </a:extLst>
          </p:cNvPr>
          <p:cNvSpPr>
            <a:spLocks noGrp="1"/>
          </p:cNvSpPr>
          <p:nvPr/>
        </p:nvSpPr>
        <p:spPr>
          <a:xfrm>
            <a:off x="5545004" y="1041206"/>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E2B</a:t>
            </a:r>
          </a:p>
        </p:txBody>
      </p:sp>
      <p:sp>
        <p:nvSpPr>
          <p:cNvPr id="105" name="landscape-node-7-kube-agentic-networking">
            <a:extLst>
              <a:ext uri="{FF2B5EF4-FFF2-40B4-BE49-F238E27FC236}">
                <a16:creationId xmlns:a16="http://schemas.microsoft.com/office/drawing/2014/main" id="{DC0DFA23-9FC2-EBDC-EF1A-E3E308AE924A}"/>
              </a:ext>
            </a:extLst>
          </p:cNvPr>
          <p:cNvSpPr>
            <a:spLocks noGrp="1"/>
          </p:cNvSpPr>
          <p:nvPr/>
        </p:nvSpPr>
        <p:spPr>
          <a:xfrm>
            <a:off x="906329" y="1346006"/>
            <a:ext cx="1028700" cy="152400"/>
          </a:xfrm>
          <a:prstGeom prst="roundRect">
            <a:avLst>
              <a:gd name="adj" fmla="val 25000"/>
            </a:avLst>
          </a:prstGeom>
          <a:solidFill>
            <a:srgbClr val="FFF3D8"/>
          </a:solidFill>
          <a:ln w="7620">
            <a:solidFill>
              <a:srgbClr val="E7B552"/>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kube-agentic-networking</a:t>
            </a:r>
          </a:p>
        </p:txBody>
      </p:sp>
      <p:sp>
        <p:nvSpPr>
          <p:cNvPr id="106" name="landscape-node-8-AgentRegistry">
            <a:extLst>
              <a:ext uri="{FF2B5EF4-FFF2-40B4-BE49-F238E27FC236}">
                <a16:creationId xmlns:a16="http://schemas.microsoft.com/office/drawing/2014/main" id="{D4865257-941D-FB7D-00F8-69600D916B6A}"/>
              </a:ext>
            </a:extLst>
          </p:cNvPr>
          <p:cNvSpPr>
            <a:spLocks noGrp="1"/>
          </p:cNvSpPr>
          <p:nvPr/>
        </p:nvSpPr>
        <p:spPr>
          <a:xfrm>
            <a:off x="2306504" y="1193606"/>
            <a:ext cx="76200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AgentRegistry</a:t>
            </a:r>
          </a:p>
        </p:txBody>
      </p:sp>
      <p:sp>
        <p:nvSpPr>
          <p:cNvPr id="107" name="landscape-node-9-Gateway-API-Inference-Extension">
            <a:extLst>
              <a:ext uri="{FF2B5EF4-FFF2-40B4-BE49-F238E27FC236}">
                <a16:creationId xmlns:a16="http://schemas.microsoft.com/office/drawing/2014/main" id="{2B741C83-1665-AD4A-C9F2-9B38E6447450}"/>
              </a:ext>
            </a:extLst>
          </p:cNvPr>
          <p:cNvSpPr>
            <a:spLocks noGrp="1"/>
          </p:cNvSpPr>
          <p:nvPr/>
        </p:nvSpPr>
        <p:spPr>
          <a:xfrm>
            <a:off x="3411404" y="1346006"/>
            <a:ext cx="1276350" cy="152400"/>
          </a:xfrm>
          <a:prstGeom prst="roundRect">
            <a:avLst>
              <a:gd name="adj" fmla="val 25000"/>
            </a:avLst>
          </a:prstGeom>
          <a:solidFill>
            <a:srgbClr val="FFF3D8"/>
          </a:solidFill>
          <a:ln w="7620">
            <a:solidFill>
              <a:srgbClr val="E7B552"/>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Gateway API Inference Extension   K8s</a:t>
            </a:r>
          </a:p>
        </p:txBody>
      </p:sp>
      <p:sp>
        <p:nvSpPr>
          <p:cNvPr id="108" name="landscape-node-10-Istio">
            <a:extLst>
              <a:ext uri="{FF2B5EF4-FFF2-40B4-BE49-F238E27FC236}">
                <a16:creationId xmlns:a16="http://schemas.microsoft.com/office/drawing/2014/main" id="{4E237A8A-2DDA-8D09-0FC1-FA0F2027E736}"/>
              </a:ext>
            </a:extLst>
          </p:cNvPr>
          <p:cNvSpPr>
            <a:spLocks noGrp="1"/>
          </p:cNvSpPr>
          <p:nvPr/>
        </p:nvSpPr>
        <p:spPr>
          <a:xfrm>
            <a:off x="5497379" y="1241231"/>
            <a:ext cx="647700" cy="152400"/>
          </a:xfrm>
          <a:prstGeom prst="roundRect">
            <a:avLst>
              <a:gd name="adj" fmla="val 25000"/>
            </a:avLst>
          </a:prstGeom>
          <a:solidFill>
            <a:srgbClr val="FFF3D8"/>
          </a:solidFill>
          <a:ln w="7620">
            <a:solidFill>
              <a:srgbClr val="E7B552"/>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Istio</a:t>
            </a:r>
          </a:p>
        </p:txBody>
      </p:sp>
      <p:sp>
        <p:nvSpPr>
          <p:cNvPr id="109" name="landscape-node-11-CubeSandbox">
            <a:extLst>
              <a:ext uri="{FF2B5EF4-FFF2-40B4-BE49-F238E27FC236}">
                <a16:creationId xmlns:a16="http://schemas.microsoft.com/office/drawing/2014/main" id="{C638194A-A0A3-BCD7-3EB7-38A051340792}"/>
              </a:ext>
            </a:extLst>
          </p:cNvPr>
          <p:cNvSpPr>
            <a:spLocks noGrp="1"/>
          </p:cNvSpPr>
          <p:nvPr/>
        </p:nvSpPr>
        <p:spPr>
          <a:xfrm>
            <a:off x="1163504" y="1555556"/>
            <a:ext cx="74295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CubeSandbox</a:t>
            </a:r>
          </a:p>
        </p:txBody>
      </p:sp>
      <p:sp>
        <p:nvSpPr>
          <p:cNvPr id="110" name="landscape-node-12-Volcano-AgentCube">
            <a:extLst>
              <a:ext uri="{FF2B5EF4-FFF2-40B4-BE49-F238E27FC236}">
                <a16:creationId xmlns:a16="http://schemas.microsoft.com/office/drawing/2014/main" id="{30B8DDA5-1BA5-16AD-2DD0-37F68EABAA62}"/>
              </a:ext>
            </a:extLst>
          </p:cNvPr>
          <p:cNvSpPr>
            <a:spLocks noGrp="1"/>
          </p:cNvSpPr>
          <p:nvPr/>
        </p:nvSpPr>
        <p:spPr>
          <a:xfrm>
            <a:off x="2363654" y="1555556"/>
            <a:ext cx="89535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Volcano </a:t>
            </a:r>
            <a:r>
              <a:rPr sz="465" b="1" dirty="0" err="1">
                <a:solidFill>
                  <a:srgbClr val="102031"/>
                </a:solidFill>
                <a:latin typeface="Arial"/>
                <a:ea typeface="Arial"/>
                <a:cs typeface="Arial"/>
              </a:rPr>
              <a:t>AgentCube</a:t>
            </a:r>
            <a:endParaRPr sz="465" b="1" dirty="0">
              <a:solidFill>
                <a:srgbClr val="102031"/>
              </a:solidFill>
              <a:latin typeface="Arial"/>
              <a:ea typeface="Arial"/>
              <a:cs typeface="Arial"/>
            </a:endParaRPr>
          </a:p>
        </p:txBody>
      </p:sp>
      <p:sp>
        <p:nvSpPr>
          <p:cNvPr id="111" name="landscape-node-13-Semantic-Router">
            <a:extLst>
              <a:ext uri="{FF2B5EF4-FFF2-40B4-BE49-F238E27FC236}">
                <a16:creationId xmlns:a16="http://schemas.microsoft.com/office/drawing/2014/main" id="{C8599271-7FEF-A5FA-C339-3B79BFE68C79}"/>
              </a:ext>
            </a:extLst>
          </p:cNvPr>
          <p:cNvSpPr>
            <a:spLocks noGrp="1"/>
          </p:cNvSpPr>
          <p:nvPr/>
        </p:nvSpPr>
        <p:spPr>
          <a:xfrm>
            <a:off x="3220904" y="1536506"/>
            <a:ext cx="742950" cy="152400"/>
          </a:xfrm>
          <a:prstGeom prst="roundRect">
            <a:avLst>
              <a:gd name="adj" fmla="val 25000"/>
            </a:avLst>
          </a:prstGeom>
          <a:solidFill>
            <a:srgbClr val="FFF3D8"/>
          </a:solidFill>
          <a:ln w="7620">
            <a:solidFill>
              <a:srgbClr val="E7B552"/>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Semantic Router</a:t>
            </a:r>
          </a:p>
        </p:txBody>
      </p:sp>
      <p:sp>
        <p:nvSpPr>
          <p:cNvPr id="112" name="landscape-node-14-kgateway">
            <a:extLst>
              <a:ext uri="{FF2B5EF4-FFF2-40B4-BE49-F238E27FC236}">
                <a16:creationId xmlns:a16="http://schemas.microsoft.com/office/drawing/2014/main" id="{2F570E85-02ED-6B99-981C-BEA7E96D41B4}"/>
              </a:ext>
            </a:extLst>
          </p:cNvPr>
          <p:cNvSpPr>
            <a:spLocks noGrp="1"/>
          </p:cNvSpPr>
          <p:nvPr/>
        </p:nvSpPr>
        <p:spPr>
          <a:xfrm>
            <a:off x="4725854" y="1422206"/>
            <a:ext cx="666750" cy="152400"/>
          </a:xfrm>
          <a:prstGeom prst="roundRect">
            <a:avLst>
              <a:gd name="adj" fmla="val 25000"/>
            </a:avLst>
          </a:prstGeom>
          <a:solidFill>
            <a:srgbClr val="FFF3D8"/>
          </a:solidFill>
          <a:ln w="7620">
            <a:solidFill>
              <a:srgbClr val="E7B552"/>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kgateway</a:t>
            </a:r>
          </a:p>
        </p:txBody>
      </p:sp>
      <p:sp>
        <p:nvSpPr>
          <p:cNvPr id="113" name="landscape-node-15-Daytona">
            <a:extLst>
              <a:ext uri="{FF2B5EF4-FFF2-40B4-BE49-F238E27FC236}">
                <a16:creationId xmlns:a16="http://schemas.microsoft.com/office/drawing/2014/main" id="{DFBED15E-C9B2-1142-5BB2-BEBE4A3176F9}"/>
              </a:ext>
            </a:extLst>
          </p:cNvPr>
          <p:cNvSpPr>
            <a:spLocks noGrp="1"/>
          </p:cNvSpPr>
          <p:nvPr/>
        </p:nvSpPr>
        <p:spPr>
          <a:xfrm>
            <a:off x="5554529" y="1584131"/>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Daytona</a:t>
            </a:r>
          </a:p>
        </p:txBody>
      </p:sp>
      <p:sp>
        <p:nvSpPr>
          <p:cNvPr id="114" name="landscape-node-16-Agent-Substrate">
            <a:extLst>
              <a:ext uri="{FF2B5EF4-FFF2-40B4-BE49-F238E27FC236}">
                <a16:creationId xmlns:a16="http://schemas.microsoft.com/office/drawing/2014/main" id="{ADC07625-A6B5-701C-11BB-4C0828D91AF1}"/>
              </a:ext>
            </a:extLst>
          </p:cNvPr>
          <p:cNvSpPr>
            <a:spLocks noGrp="1"/>
          </p:cNvSpPr>
          <p:nvPr/>
        </p:nvSpPr>
        <p:spPr>
          <a:xfrm>
            <a:off x="1115879" y="1774631"/>
            <a:ext cx="742950" cy="152400"/>
          </a:xfrm>
          <a:prstGeom prst="roundRect">
            <a:avLst>
              <a:gd name="adj" fmla="val 25000"/>
            </a:avLst>
          </a:prstGeom>
          <a:solidFill>
            <a:srgbClr val="FCEAF4"/>
          </a:solidFill>
          <a:ln w="7620">
            <a:solidFill>
              <a:srgbClr val="D96AA7"/>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Agent Substrate</a:t>
            </a:r>
          </a:p>
        </p:txBody>
      </p:sp>
      <p:sp>
        <p:nvSpPr>
          <p:cNvPr id="115" name="landscape-node-17-knoway">
            <a:extLst>
              <a:ext uri="{FF2B5EF4-FFF2-40B4-BE49-F238E27FC236}">
                <a16:creationId xmlns:a16="http://schemas.microsoft.com/office/drawing/2014/main" id="{9BE4083E-5CAA-20A6-0FF1-FD004CF1E6D6}"/>
              </a:ext>
            </a:extLst>
          </p:cNvPr>
          <p:cNvSpPr>
            <a:spLocks noGrp="1"/>
          </p:cNvSpPr>
          <p:nvPr/>
        </p:nvSpPr>
        <p:spPr>
          <a:xfrm>
            <a:off x="2616067" y="1763839"/>
            <a:ext cx="628650" cy="152400"/>
          </a:xfrm>
          <a:prstGeom prst="roundRect">
            <a:avLst>
              <a:gd name="adj" fmla="val 25000"/>
            </a:avLst>
          </a:prstGeom>
          <a:solidFill>
            <a:srgbClr val="FFF3D8"/>
          </a:solidFill>
          <a:ln w="7620">
            <a:solidFill>
              <a:srgbClr val="E7B552"/>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knoway</a:t>
            </a:r>
          </a:p>
        </p:txBody>
      </p:sp>
      <p:sp>
        <p:nvSpPr>
          <p:cNvPr id="116" name="landscape-node-18-Envoy-AI-Gateway">
            <a:extLst>
              <a:ext uri="{FF2B5EF4-FFF2-40B4-BE49-F238E27FC236}">
                <a16:creationId xmlns:a16="http://schemas.microsoft.com/office/drawing/2014/main" id="{F46DA143-7418-A6A1-A3F1-398BE06FFCBA}"/>
              </a:ext>
            </a:extLst>
          </p:cNvPr>
          <p:cNvSpPr>
            <a:spLocks noGrp="1"/>
          </p:cNvSpPr>
          <p:nvPr/>
        </p:nvSpPr>
        <p:spPr>
          <a:xfrm>
            <a:off x="3563804" y="1746056"/>
            <a:ext cx="838200" cy="152400"/>
          </a:xfrm>
          <a:prstGeom prst="roundRect">
            <a:avLst>
              <a:gd name="adj" fmla="val 25000"/>
            </a:avLst>
          </a:prstGeom>
          <a:solidFill>
            <a:srgbClr val="FFF3D8"/>
          </a:solidFill>
          <a:ln w="7620">
            <a:solidFill>
              <a:srgbClr val="E7B552"/>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Envoy AI Gateway</a:t>
            </a:r>
          </a:p>
        </p:txBody>
      </p:sp>
      <p:sp>
        <p:nvSpPr>
          <p:cNvPr id="117" name="landscape-node-19-Higress">
            <a:extLst>
              <a:ext uri="{FF2B5EF4-FFF2-40B4-BE49-F238E27FC236}">
                <a16:creationId xmlns:a16="http://schemas.microsoft.com/office/drawing/2014/main" id="{80DE65FE-7EAE-98A3-2167-77F6937F1C75}"/>
              </a:ext>
            </a:extLst>
          </p:cNvPr>
          <p:cNvSpPr>
            <a:spLocks noGrp="1"/>
          </p:cNvSpPr>
          <p:nvPr/>
        </p:nvSpPr>
        <p:spPr>
          <a:xfrm>
            <a:off x="4725854" y="1707956"/>
            <a:ext cx="666750" cy="152400"/>
          </a:xfrm>
          <a:prstGeom prst="roundRect">
            <a:avLst>
              <a:gd name="adj" fmla="val 25000"/>
            </a:avLst>
          </a:prstGeom>
          <a:solidFill>
            <a:srgbClr val="FFF3D8"/>
          </a:solidFill>
          <a:ln w="7620">
            <a:solidFill>
              <a:srgbClr val="E7B552"/>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Higress</a:t>
            </a:r>
          </a:p>
        </p:txBody>
      </p:sp>
      <p:sp>
        <p:nvSpPr>
          <p:cNvPr id="118" name="landscape-node-20-AIBrix">
            <a:extLst>
              <a:ext uri="{FF2B5EF4-FFF2-40B4-BE49-F238E27FC236}">
                <a16:creationId xmlns:a16="http://schemas.microsoft.com/office/drawing/2014/main" id="{4D724C54-CA3B-04AC-98BE-A629AC67B7FD}"/>
              </a:ext>
            </a:extLst>
          </p:cNvPr>
          <p:cNvSpPr>
            <a:spLocks noGrp="1"/>
          </p:cNvSpPr>
          <p:nvPr/>
        </p:nvSpPr>
        <p:spPr>
          <a:xfrm>
            <a:off x="3468554" y="1946081"/>
            <a:ext cx="66675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AIBrix</a:t>
            </a:r>
          </a:p>
        </p:txBody>
      </p:sp>
      <p:sp>
        <p:nvSpPr>
          <p:cNvPr id="119" name="landscape-node-21-Dynamo">
            <a:extLst>
              <a:ext uri="{FF2B5EF4-FFF2-40B4-BE49-F238E27FC236}">
                <a16:creationId xmlns:a16="http://schemas.microsoft.com/office/drawing/2014/main" id="{5D529E3B-E3E7-19B6-47BC-652045265593}"/>
              </a:ext>
            </a:extLst>
          </p:cNvPr>
          <p:cNvSpPr>
            <a:spLocks noGrp="1"/>
          </p:cNvSpPr>
          <p:nvPr/>
        </p:nvSpPr>
        <p:spPr>
          <a:xfrm>
            <a:off x="3659054" y="2117531"/>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Dynamo</a:t>
            </a:r>
          </a:p>
        </p:txBody>
      </p:sp>
      <p:sp>
        <p:nvSpPr>
          <p:cNvPr id="120" name="landscape-node-22-KServe">
            <a:extLst>
              <a:ext uri="{FF2B5EF4-FFF2-40B4-BE49-F238E27FC236}">
                <a16:creationId xmlns:a16="http://schemas.microsoft.com/office/drawing/2014/main" id="{83CDE221-B790-184D-E03B-CF03CEB92FD9}"/>
              </a:ext>
            </a:extLst>
          </p:cNvPr>
          <p:cNvSpPr>
            <a:spLocks noGrp="1"/>
          </p:cNvSpPr>
          <p:nvPr/>
        </p:nvSpPr>
        <p:spPr>
          <a:xfrm>
            <a:off x="4963979" y="1936556"/>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err="1">
                <a:solidFill>
                  <a:srgbClr val="102031"/>
                </a:solidFill>
                <a:latin typeface="Arial"/>
                <a:ea typeface="Arial"/>
                <a:cs typeface="Arial"/>
              </a:rPr>
              <a:t>KServe</a:t>
            </a:r>
            <a:r>
              <a:rPr sz="465" b="1" dirty="0">
                <a:solidFill>
                  <a:srgbClr val="102031"/>
                </a:solidFill>
                <a:latin typeface="Arial"/>
                <a:ea typeface="Arial"/>
                <a:cs typeface="Arial"/>
              </a:rPr>
              <a:t>   K8s</a:t>
            </a:r>
          </a:p>
        </p:txBody>
      </p:sp>
      <p:sp>
        <p:nvSpPr>
          <p:cNvPr id="121" name="landscape-node-23-Kubeflow">
            <a:extLst>
              <a:ext uri="{FF2B5EF4-FFF2-40B4-BE49-F238E27FC236}">
                <a16:creationId xmlns:a16="http://schemas.microsoft.com/office/drawing/2014/main" id="{D2D19D37-DF96-3740-441E-F64A7EFC7440}"/>
              </a:ext>
            </a:extLst>
          </p:cNvPr>
          <p:cNvSpPr>
            <a:spLocks noGrp="1"/>
          </p:cNvSpPr>
          <p:nvPr/>
        </p:nvSpPr>
        <p:spPr>
          <a:xfrm>
            <a:off x="6040304" y="1850831"/>
            <a:ext cx="704850" cy="152400"/>
          </a:xfrm>
          <a:prstGeom prst="roundRect">
            <a:avLst>
              <a:gd name="adj" fmla="val 25000"/>
            </a:avLst>
          </a:prstGeom>
          <a:solidFill>
            <a:srgbClr val="FFF0E4"/>
          </a:solidFill>
          <a:ln w="7620">
            <a:solidFill>
              <a:srgbClr val="E6A06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Kubeflow   K8s</a:t>
            </a:r>
          </a:p>
        </p:txBody>
      </p:sp>
      <p:sp>
        <p:nvSpPr>
          <p:cNvPr id="122" name="landscape-node-24-Kubeflow-Trainer">
            <a:extLst>
              <a:ext uri="{FF2B5EF4-FFF2-40B4-BE49-F238E27FC236}">
                <a16:creationId xmlns:a16="http://schemas.microsoft.com/office/drawing/2014/main" id="{59141B96-79A7-15C0-CBE8-364A692CE776}"/>
              </a:ext>
            </a:extLst>
          </p:cNvPr>
          <p:cNvSpPr>
            <a:spLocks noGrp="1"/>
          </p:cNvSpPr>
          <p:nvPr/>
        </p:nvSpPr>
        <p:spPr>
          <a:xfrm>
            <a:off x="5887904" y="2098481"/>
            <a:ext cx="876300" cy="152400"/>
          </a:xfrm>
          <a:prstGeom prst="roundRect">
            <a:avLst>
              <a:gd name="adj" fmla="val 25000"/>
            </a:avLst>
          </a:prstGeom>
          <a:solidFill>
            <a:srgbClr val="FFF0E4"/>
          </a:solidFill>
          <a:ln w="7620">
            <a:solidFill>
              <a:srgbClr val="E6A06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Kubeflow Trainer   K8s</a:t>
            </a:r>
          </a:p>
        </p:txBody>
      </p:sp>
      <p:sp>
        <p:nvSpPr>
          <p:cNvPr id="123" name="landscape-node-25-Knative">
            <a:extLst>
              <a:ext uri="{FF2B5EF4-FFF2-40B4-BE49-F238E27FC236}">
                <a16:creationId xmlns:a16="http://schemas.microsoft.com/office/drawing/2014/main" id="{D690E7EB-803B-44E4-0C2E-A5FFF9F01099}"/>
              </a:ext>
            </a:extLst>
          </p:cNvPr>
          <p:cNvSpPr>
            <a:spLocks noGrp="1"/>
          </p:cNvSpPr>
          <p:nvPr/>
        </p:nvSpPr>
        <p:spPr>
          <a:xfrm>
            <a:off x="5525954" y="2317556"/>
            <a:ext cx="666750" cy="152400"/>
          </a:xfrm>
          <a:prstGeom prst="roundRect">
            <a:avLst>
              <a:gd name="adj" fmla="val 25000"/>
            </a:avLst>
          </a:prstGeom>
          <a:solidFill>
            <a:srgbClr val="FCEAF4"/>
          </a:solidFill>
          <a:ln w="7620">
            <a:solidFill>
              <a:srgbClr val="D96AA7"/>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Knative   K8s</a:t>
            </a:r>
          </a:p>
        </p:txBody>
      </p:sp>
      <p:sp>
        <p:nvSpPr>
          <p:cNvPr id="124" name="landscape-node-26-Kong">
            <a:extLst>
              <a:ext uri="{FF2B5EF4-FFF2-40B4-BE49-F238E27FC236}">
                <a16:creationId xmlns:a16="http://schemas.microsoft.com/office/drawing/2014/main" id="{6C17D86B-6BD1-6EA6-1B0E-563A4ED326D6}"/>
              </a:ext>
            </a:extLst>
          </p:cNvPr>
          <p:cNvSpPr>
            <a:spLocks noGrp="1"/>
          </p:cNvSpPr>
          <p:nvPr/>
        </p:nvSpPr>
        <p:spPr>
          <a:xfrm>
            <a:off x="4725854" y="2355656"/>
            <a:ext cx="666750" cy="152400"/>
          </a:xfrm>
          <a:prstGeom prst="roundRect">
            <a:avLst>
              <a:gd name="adj" fmla="val 25000"/>
            </a:avLst>
          </a:prstGeom>
          <a:solidFill>
            <a:srgbClr val="FFF3D8"/>
          </a:solidFill>
          <a:ln w="7620">
            <a:solidFill>
              <a:srgbClr val="E7B552"/>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Kong</a:t>
            </a:r>
          </a:p>
        </p:txBody>
      </p:sp>
      <p:sp>
        <p:nvSpPr>
          <p:cNvPr id="125" name="landscape-node-27-llmaz">
            <a:extLst>
              <a:ext uri="{FF2B5EF4-FFF2-40B4-BE49-F238E27FC236}">
                <a16:creationId xmlns:a16="http://schemas.microsoft.com/office/drawing/2014/main" id="{412708D9-E5DC-3689-4111-E9642C13A4AF}"/>
              </a:ext>
            </a:extLst>
          </p:cNvPr>
          <p:cNvSpPr>
            <a:spLocks noGrp="1"/>
          </p:cNvSpPr>
          <p:nvPr/>
        </p:nvSpPr>
        <p:spPr>
          <a:xfrm>
            <a:off x="1906454" y="2184206"/>
            <a:ext cx="666750" cy="152400"/>
          </a:xfrm>
          <a:prstGeom prst="roundRect">
            <a:avLst>
              <a:gd name="adj" fmla="val 25000"/>
            </a:avLst>
          </a:prstGeom>
          <a:solidFill>
            <a:srgbClr val="EAF1FF"/>
          </a:solidFill>
          <a:ln w="7620">
            <a:solidFill>
              <a:srgbClr val="7FA5F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err="1">
                <a:solidFill>
                  <a:srgbClr val="102031"/>
                </a:solidFill>
                <a:latin typeface="Arial"/>
                <a:ea typeface="Arial"/>
                <a:cs typeface="Arial"/>
              </a:rPr>
              <a:t>llmaz</a:t>
            </a:r>
            <a:endParaRPr sz="465" b="1" dirty="0">
              <a:solidFill>
                <a:srgbClr val="102031"/>
              </a:solidFill>
              <a:latin typeface="Arial"/>
              <a:ea typeface="Arial"/>
              <a:cs typeface="Arial"/>
            </a:endParaRPr>
          </a:p>
        </p:txBody>
      </p:sp>
      <p:sp>
        <p:nvSpPr>
          <p:cNvPr id="126" name="landscape-node-28-OME">
            <a:extLst>
              <a:ext uri="{FF2B5EF4-FFF2-40B4-BE49-F238E27FC236}">
                <a16:creationId xmlns:a16="http://schemas.microsoft.com/office/drawing/2014/main" id="{20A863BF-8047-0C01-CE9D-61A2A9342081}"/>
              </a:ext>
            </a:extLst>
          </p:cNvPr>
          <p:cNvSpPr>
            <a:spLocks noGrp="1"/>
          </p:cNvSpPr>
          <p:nvPr/>
        </p:nvSpPr>
        <p:spPr>
          <a:xfrm>
            <a:off x="3211379" y="2288981"/>
            <a:ext cx="666750" cy="152400"/>
          </a:xfrm>
          <a:prstGeom prst="roundRect">
            <a:avLst>
              <a:gd name="adj" fmla="val 25000"/>
            </a:avLst>
          </a:prstGeom>
          <a:solidFill>
            <a:srgbClr val="EAF1FF"/>
          </a:solidFill>
          <a:ln w="7620">
            <a:solidFill>
              <a:srgbClr val="7FA5F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OME</a:t>
            </a:r>
          </a:p>
        </p:txBody>
      </p:sp>
      <p:sp>
        <p:nvSpPr>
          <p:cNvPr id="127" name="landscape-node-29-rbg">
            <a:extLst>
              <a:ext uri="{FF2B5EF4-FFF2-40B4-BE49-F238E27FC236}">
                <a16:creationId xmlns:a16="http://schemas.microsoft.com/office/drawing/2014/main" id="{AEA217ED-8F84-EE35-8AA0-2C42526DDB3A}"/>
              </a:ext>
            </a:extLst>
          </p:cNvPr>
          <p:cNvSpPr>
            <a:spLocks noGrp="1"/>
          </p:cNvSpPr>
          <p:nvPr/>
        </p:nvSpPr>
        <p:spPr>
          <a:xfrm>
            <a:off x="3459029" y="2489006"/>
            <a:ext cx="66675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rbg</a:t>
            </a:r>
          </a:p>
        </p:txBody>
      </p:sp>
      <p:sp>
        <p:nvSpPr>
          <p:cNvPr id="128" name="landscape-node-30-kubeRay">
            <a:extLst>
              <a:ext uri="{FF2B5EF4-FFF2-40B4-BE49-F238E27FC236}">
                <a16:creationId xmlns:a16="http://schemas.microsoft.com/office/drawing/2014/main" id="{1072E16A-2432-55ED-940C-8C473EC64BD3}"/>
              </a:ext>
            </a:extLst>
          </p:cNvPr>
          <p:cNvSpPr>
            <a:spLocks noGrp="1"/>
          </p:cNvSpPr>
          <p:nvPr/>
        </p:nvSpPr>
        <p:spPr>
          <a:xfrm>
            <a:off x="2763704" y="2498531"/>
            <a:ext cx="685800" cy="152400"/>
          </a:xfrm>
          <a:prstGeom prst="roundRect">
            <a:avLst>
              <a:gd name="adj" fmla="val 25000"/>
            </a:avLst>
          </a:prstGeom>
          <a:solidFill>
            <a:srgbClr val="EAF1FF"/>
          </a:solidFill>
          <a:ln w="7620">
            <a:solidFill>
              <a:srgbClr val="7FA5F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kubeRay   K8s</a:t>
            </a:r>
          </a:p>
        </p:txBody>
      </p:sp>
      <p:sp>
        <p:nvSpPr>
          <p:cNvPr id="129" name="landscape-node-31-SGLang">
            <a:extLst>
              <a:ext uri="{FF2B5EF4-FFF2-40B4-BE49-F238E27FC236}">
                <a16:creationId xmlns:a16="http://schemas.microsoft.com/office/drawing/2014/main" id="{61D5263A-BAE7-5FD2-151E-A9C1120AA6B5}"/>
              </a:ext>
            </a:extLst>
          </p:cNvPr>
          <p:cNvSpPr>
            <a:spLocks noGrp="1"/>
          </p:cNvSpPr>
          <p:nvPr/>
        </p:nvSpPr>
        <p:spPr>
          <a:xfrm>
            <a:off x="4163879" y="2603306"/>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SGLang</a:t>
            </a:r>
          </a:p>
        </p:txBody>
      </p:sp>
      <p:sp>
        <p:nvSpPr>
          <p:cNvPr id="130" name="landscape-node-32-kthena">
            <a:extLst>
              <a:ext uri="{FF2B5EF4-FFF2-40B4-BE49-F238E27FC236}">
                <a16:creationId xmlns:a16="http://schemas.microsoft.com/office/drawing/2014/main" id="{AE695AA5-C231-3CCB-9E4E-5921C87EE452}"/>
              </a:ext>
            </a:extLst>
          </p:cNvPr>
          <p:cNvSpPr>
            <a:spLocks noGrp="1"/>
          </p:cNvSpPr>
          <p:nvPr/>
        </p:nvSpPr>
        <p:spPr>
          <a:xfrm>
            <a:off x="3449504" y="2793806"/>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kthena</a:t>
            </a:r>
          </a:p>
        </p:txBody>
      </p:sp>
      <p:sp>
        <p:nvSpPr>
          <p:cNvPr id="131" name="landscape-node-33-vLLM">
            <a:extLst>
              <a:ext uri="{FF2B5EF4-FFF2-40B4-BE49-F238E27FC236}">
                <a16:creationId xmlns:a16="http://schemas.microsoft.com/office/drawing/2014/main" id="{DC5EB2DC-692B-FB73-B15B-AFAC5F1E677A}"/>
              </a:ext>
            </a:extLst>
          </p:cNvPr>
          <p:cNvSpPr>
            <a:spLocks noGrp="1"/>
          </p:cNvSpPr>
          <p:nvPr/>
        </p:nvSpPr>
        <p:spPr>
          <a:xfrm>
            <a:off x="4544879" y="2850956"/>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vLLM</a:t>
            </a:r>
          </a:p>
        </p:txBody>
      </p:sp>
      <p:sp>
        <p:nvSpPr>
          <p:cNvPr id="132" name="landscape-node-34-Grove">
            <a:extLst>
              <a:ext uri="{FF2B5EF4-FFF2-40B4-BE49-F238E27FC236}">
                <a16:creationId xmlns:a16="http://schemas.microsoft.com/office/drawing/2014/main" id="{5FFF2050-EDE9-74A8-8420-F5959FA87CE6}"/>
              </a:ext>
            </a:extLst>
          </p:cNvPr>
          <p:cNvSpPr>
            <a:spLocks noGrp="1"/>
          </p:cNvSpPr>
          <p:nvPr/>
        </p:nvSpPr>
        <p:spPr>
          <a:xfrm>
            <a:off x="1649279" y="2850956"/>
            <a:ext cx="66675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Grove</a:t>
            </a:r>
          </a:p>
        </p:txBody>
      </p:sp>
      <p:sp>
        <p:nvSpPr>
          <p:cNvPr id="133" name="landscape-node-35-LWS">
            <a:extLst>
              <a:ext uri="{FF2B5EF4-FFF2-40B4-BE49-F238E27FC236}">
                <a16:creationId xmlns:a16="http://schemas.microsoft.com/office/drawing/2014/main" id="{8E42F66C-F81C-35F3-37E7-ECBB406005F4}"/>
              </a:ext>
            </a:extLst>
          </p:cNvPr>
          <p:cNvSpPr>
            <a:spLocks noGrp="1"/>
          </p:cNvSpPr>
          <p:nvPr/>
        </p:nvSpPr>
        <p:spPr>
          <a:xfrm>
            <a:off x="3640004" y="2980483"/>
            <a:ext cx="66675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LWS   K8s</a:t>
            </a:r>
          </a:p>
        </p:txBody>
      </p:sp>
      <p:sp>
        <p:nvSpPr>
          <p:cNvPr id="134" name="landscape-node-36-Triton-Inference-Server">
            <a:extLst>
              <a:ext uri="{FF2B5EF4-FFF2-40B4-BE49-F238E27FC236}">
                <a16:creationId xmlns:a16="http://schemas.microsoft.com/office/drawing/2014/main" id="{D6FFC8BE-A774-D2D4-75DD-52F2BC2817F6}"/>
              </a:ext>
            </a:extLst>
          </p:cNvPr>
          <p:cNvSpPr>
            <a:spLocks noGrp="1"/>
          </p:cNvSpPr>
          <p:nvPr/>
        </p:nvSpPr>
        <p:spPr>
          <a:xfrm>
            <a:off x="3792404" y="3174806"/>
            <a:ext cx="104775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Triton Inference Server</a:t>
            </a:r>
          </a:p>
        </p:txBody>
      </p:sp>
      <p:sp>
        <p:nvSpPr>
          <p:cNvPr id="135" name="landscape-node-37-YuniKorn">
            <a:extLst>
              <a:ext uri="{FF2B5EF4-FFF2-40B4-BE49-F238E27FC236}">
                <a16:creationId xmlns:a16="http://schemas.microsoft.com/office/drawing/2014/main" id="{CC330477-A2CF-4F6B-1AA6-08C0FAD0053E}"/>
              </a:ext>
            </a:extLst>
          </p:cNvPr>
          <p:cNvSpPr>
            <a:spLocks noGrp="1"/>
          </p:cNvSpPr>
          <p:nvPr/>
        </p:nvSpPr>
        <p:spPr>
          <a:xfrm>
            <a:off x="5449754" y="3079556"/>
            <a:ext cx="742950" cy="152400"/>
          </a:xfrm>
          <a:prstGeom prst="roundRect">
            <a:avLst>
              <a:gd name="adj" fmla="val 25000"/>
            </a:avLst>
          </a:prstGeom>
          <a:solidFill>
            <a:srgbClr val="EAF7EC"/>
          </a:solidFill>
          <a:ln w="7620">
            <a:solidFill>
              <a:srgbClr val="72B88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YuniKorn</a:t>
            </a:r>
          </a:p>
        </p:txBody>
      </p:sp>
      <p:sp>
        <p:nvSpPr>
          <p:cNvPr id="136" name="landscape-node-38-Godel">
            <a:extLst>
              <a:ext uri="{FF2B5EF4-FFF2-40B4-BE49-F238E27FC236}">
                <a16:creationId xmlns:a16="http://schemas.microsoft.com/office/drawing/2014/main" id="{0C857C0D-FA9C-71BD-9340-5A605B2F7162}"/>
              </a:ext>
            </a:extLst>
          </p:cNvPr>
          <p:cNvSpPr>
            <a:spLocks noGrp="1"/>
          </p:cNvSpPr>
          <p:nvPr/>
        </p:nvSpPr>
        <p:spPr>
          <a:xfrm>
            <a:off x="1915979" y="3174806"/>
            <a:ext cx="666750" cy="152400"/>
          </a:xfrm>
          <a:prstGeom prst="roundRect">
            <a:avLst>
              <a:gd name="adj" fmla="val 25000"/>
            </a:avLst>
          </a:prstGeom>
          <a:solidFill>
            <a:srgbClr val="EAF7EC"/>
          </a:solidFill>
          <a:ln w="7620">
            <a:solidFill>
              <a:srgbClr val="72B88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Godel</a:t>
            </a:r>
          </a:p>
        </p:txBody>
      </p:sp>
      <p:sp>
        <p:nvSpPr>
          <p:cNvPr id="137" name="landscape-node-39-JobSet">
            <a:extLst>
              <a:ext uri="{FF2B5EF4-FFF2-40B4-BE49-F238E27FC236}">
                <a16:creationId xmlns:a16="http://schemas.microsoft.com/office/drawing/2014/main" id="{2A690315-0F18-254D-77A3-8D904666EEC9}"/>
              </a:ext>
            </a:extLst>
          </p:cNvPr>
          <p:cNvSpPr>
            <a:spLocks noGrp="1"/>
          </p:cNvSpPr>
          <p:nvPr/>
        </p:nvSpPr>
        <p:spPr>
          <a:xfrm>
            <a:off x="3163754" y="3327206"/>
            <a:ext cx="68580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JobSet   K8s</a:t>
            </a:r>
          </a:p>
        </p:txBody>
      </p:sp>
      <p:sp>
        <p:nvSpPr>
          <p:cNvPr id="138" name="landscape-node-40-Volcano">
            <a:extLst>
              <a:ext uri="{FF2B5EF4-FFF2-40B4-BE49-F238E27FC236}">
                <a16:creationId xmlns:a16="http://schemas.microsoft.com/office/drawing/2014/main" id="{78BE6E2D-9DB8-592C-455F-3DBAC9CCF8D8}"/>
              </a:ext>
            </a:extLst>
          </p:cNvPr>
          <p:cNvSpPr>
            <a:spLocks noGrp="1"/>
          </p:cNvSpPr>
          <p:nvPr/>
        </p:nvSpPr>
        <p:spPr>
          <a:xfrm>
            <a:off x="3973379" y="3384356"/>
            <a:ext cx="685800" cy="152400"/>
          </a:xfrm>
          <a:prstGeom prst="roundRect">
            <a:avLst>
              <a:gd name="adj" fmla="val 25000"/>
            </a:avLst>
          </a:prstGeom>
          <a:solidFill>
            <a:srgbClr val="EAF7EC"/>
          </a:solidFill>
          <a:ln w="7620">
            <a:solidFill>
              <a:srgbClr val="72B88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Volcano   K8s</a:t>
            </a:r>
          </a:p>
        </p:txBody>
      </p:sp>
      <p:sp>
        <p:nvSpPr>
          <p:cNvPr id="139" name="landscape-node-41-Kueue">
            <a:extLst>
              <a:ext uri="{FF2B5EF4-FFF2-40B4-BE49-F238E27FC236}">
                <a16:creationId xmlns:a16="http://schemas.microsoft.com/office/drawing/2014/main" id="{94A96A6B-99A6-69BA-9B0F-F41828A7F260}"/>
              </a:ext>
            </a:extLst>
          </p:cNvPr>
          <p:cNvSpPr>
            <a:spLocks noGrp="1"/>
          </p:cNvSpPr>
          <p:nvPr/>
        </p:nvSpPr>
        <p:spPr>
          <a:xfrm>
            <a:off x="4668704" y="3384356"/>
            <a:ext cx="685800" cy="152400"/>
          </a:xfrm>
          <a:prstGeom prst="roundRect">
            <a:avLst>
              <a:gd name="adj" fmla="val 25000"/>
            </a:avLst>
          </a:prstGeom>
          <a:solidFill>
            <a:srgbClr val="EAF7EC"/>
          </a:solidFill>
          <a:ln w="7620">
            <a:solidFill>
              <a:srgbClr val="72B88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Kueue   K8s</a:t>
            </a:r>
          </a:p>
        </p:txBody>
      </p:sp>
      <p:sp>
        <p:nvSpPr>
          <p:cNvPr id="140" name="landscape-node-42-NVIDIA-AICR">
            <a:extLst>
              <a:ext uri="{FF2B5EF4-FFF2-40B4-BE49-F238E27FC236}">
                <a16:creationId xmlns:a16="http://schemas.microsoft.com/office/drawing/2014/main" id="{5F4C0515-2A09-AE04-DC00-21FFEC093F16}"/>
              </a:ext>
            </a:extLst>
          </p:cNvPr>
          <p:cNvSpPr>
            <a:spLocks noGrp="1"/>
          </p:cNvSpPr>
          <p:nvPr/>
        </p:nvSpPr>
        <p:spPr>
          <a:xfrm>
            <a:off x="1449254" y="3574856"/>
            <a:ext cx="74295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NVIDIA AICR</a:t>
            </a:r>
          </a:p>
        </p:txBody>
      </p:sp>
      <p:sp>
        <p:nvSpPr>
          <p:cNvPr id="141" name="landscape-node-43-WAS">
            <a:extLst>
              <a:ext uri="{FF2B5EF4-FFF2-40B4-BE49-F238E27FC236}">
                <a16:creationId xmlns:a16="http://schemas.microsoft.com/office/drawing/2014/main" id="{A920DBA3-B2A6-8B0F-5702-DB31306BE2C0}"/>
              </a:ext>
            </a:extLst>
          </p:cNvPr>
          <p:cNvSpPr>
            <a:spLocks noGrp="1"/>
          </p:cNvSpPr>
          <p:nvPr/>
        </p:nvSpPr>
        <p:spPr>
          <a:xfrm>
            <a:off x="2306504" y="3574856"/>
            <a:ext cx="66675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WAS</a:t>
            </a:r>
          </a:p>
        </p:txBody>
      </p:sp>
      <p:sp>
        <p:nvSpPr>
          <p:cNvPr id="142" name="landscape-node-44-KAI-Scheduler">
            <a:extLst>
              <a:ext uri="{FF2B5EF4-FFF2-40B4-BE49-F238E27FC236}">
                <a16:creationId xmlns:a16="http://schemas.microsoft.com/office/drawing/2014/main" id="{D616586B-DAA0-0E11-20B1-4AFBDCCC46F5}"/>
              </a:ext>
            </a:extLst>
          </p:cNvPr>
          <p:cNvSpPr>
            <a:spLocks noGrp="1"/>
          </p:cNvSpPr>
          <p:nvPr/>
        </p:nvSpPr>
        <p:spPr>
          <a:xfrm>
            <a:off x="2973254" y="3708206"/>
            <a:ext cx="762000" cy="152400"/>
          </a:xfrm>
          <a:prstGeom prst="roundRect">
            <a:avLst>
              <a:gd name="adj" fmla="val 25000"/>
            </a:avLst>
          </a:prstGeom>
          <a:solidFill>
            <a:srgbClr val="EAF7EC"/>
          </a:solidFill>
          <a:ln w="7620">
            <a:solidFill>
              <a:srgbClr val="72B888"/>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KAI Scheduler</a:t>
            </a:r>
          </a:p>
        </p:txBody>
      </p:sp>
      <p:sp>
        <p:nvSpPr>
          <p:cNvPr id="143" name="landscape-node-45-Koordi">
            <a:extLst>
              <a:ext uri="{FF2B5EF4-FFF2-40B4-BE49-F238E27FC236}">
                <a16:creationId xmlns:a16="http://schemas.microsoft.com/office/drawing/2014/main" id="{9B44B3AD-F423-C3A1-D577-72C0395F41B8}"/>
              </a:ext>
            </a:extLst>
          </p:cNvPr>
          <p:cNvSpPr>
            <a:spLocks noGrp="1"/>
          </p:cNvSpPr>
          <p:nvPr/>
        </p:nvSpPr>
        <p:spPr>
          <a:xfrm>
            <a:off x="3982904" y="3603431"/>
            <a:ext cx="647700" cy="152400"/>
          </a:xfrm>
          <a:prstGeom prst="roundRect">
            <a:avLst>
              <a:gd name="adj" fmla="val 25000"/>
            </a:avLst>
          </a:prstGeom>
          <a:solidFill>
            <a:srgbClr val="EAF7EC"/>
          </a:solidFill>
          <a:ln w="7620">
            <a:solidFill>
              <a:srgbClr val="72B88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Koordi</a:t>
            </a:r>
          </a:p>
        </p:txBody>
      </p:sp>
      <p:sp>
        <p:nvSpPr>
          <p:cNvPr id="144" name="landscape-node-46-Pod-In-Place-Resize">
            <a:extLst>
              <a:ext uri="{FF2B5EF4-FFF2-40B4-BE49-F238E27FC236}">
                <a16:creationId xmlns:a16="http://schemas.microsoft.com/office/drawing/2014/main" id="{C8E863E3-003D-E543-EED5-EAAFBDABB41F}"/>
              </a:ext>
            </a:extLst>
          </p:cNvPr>
          <p:cNvSpPr>
            <a:spLocks noGrp="1"/>
          </p:cNvSpPr>
          <p:nvPr/>
        </p:nvSpPr>
        <p:spPr>
          <a:xfrm>
            <a:off x="4735379" y="3612956"/>
            <a:ext cx="97155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Pod In-Place Resize   K8s</a:t>
            </a:r>
          </a:p>
        </p:txBody>
      </p:sp>
      <p:sp>
        <p:nvSpPr>
          <p:cNvPr id="145" name="landscape-node-47-NVIDIA-NVSentinel">
            <a:extLst>
              <a:ext uri="{FF2B5EF4-FFF2-40B4-BE49-F238E27FC236}">
                <a16:creationId xmlns:a16="http://schemas.microsoft.com/office/drawing/2014/main" id="{1A7E0B93-7F41-A59B-53D6-913CAAFF1EC9}"/>
              </a:ext>
            </a:extLst>
          </p:cNvPr>
          <p:cNvSpPr>
            <a:spLocks noGrp="1"/>
          </p:cNvSpPr>
          <p:nvPr/>
        </p:nvSpPr>
        <p:spPr>
          <a:xfrm>
            <a:off x="2116004" y="3851081"/>
            <a:ext cx="85725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NVIDIA NVSentinel</a:t>
            </a:r>
          </a:p>
        </p:txBody>
      </p:sp>
      <p:sp>
        <p:nvSpPr>
          <p:cNvPr id="146" name="landscape-node-48-PodRestart">
            <a:extLst>
              <a:ext uri="{FF2B5EF4-FFF2-40B4-BE49-F238E27FC236}">
                <a16:creationId xmlns:a16="http://schemas.microsoft.com/office/drawing/2014/main" id="{EF3ABFF6-1627-8BE2-0D22-3A35EC136062}"/>
              </a:ext>
            </a:extLst>
          </p:cNvPr>
          <p:cNvSpPr>
            <a:spLocks noGrp="1"/>
          </p:cNvSpPr>
          <p:nvPr/>
        </p:nvSpPr>
        <p:spPr>
          <a:xfrm>
            <a:off x="3020879" y="3870131"/>
            <a:ext cx="68580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PodRestart</a:t>
            </a:r>
          </a:p>
        </p:txBody>
      </p:sp>
      <p:sp>
        <p:nvSpPr>
          <p:cNvPr id="147" name="landscape-node-49-DRA">
            <a:extLst>
              <a:ext uri="{FF2B5EF4-FFF2-40B4-BE49-F238E27FC236}">
                <a16:creationId xmlns:a16="http://schemas.microsoft.com/office/drawing/2014/main" id="{E6EB8385-9503-D3B8-CC7C-8E5AC17731A0}"/>
              </a:ext>
            </a:extLst>
          </p:cNvPr>
          <p:cNvSpPr>
            <a:spLocks noGrp="1"/>
          </p:cNvSpPr>
          <p:nvPr/>
        </p:nvSpPr>
        <p:spPr>
          <a:xfrm>
            <a:off x="3763829" y="3908231"/>
            <a:ext cx="59055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DRA   K8s</a:t>
            </a:r>
          </a:p>
        </p:txBody>
      </p:sp>
      <p:sp>
        <p:nvSpPr>
          <p:cNvPr id="148" name="landscape-node-50-ORAS">
            <a:extLst>
              <a:ext uri="{FF2B5EF4-FFF2-40B4-BE49-F238E27FC236}">
                <a16:creationId xmlns:a16="http://schemas.microsoft.com/office/drawing/2014/main" id="{4D27B037-D3D4-2D90-978A-346D65212117}"/>
              </a:ext>
            </a:extLst>
          </p:cNvPr>
          <p:cNvSpPr>
            <a:spLocks noGrp="1"/>
          </p:cNvSpPr>
          <p:nvPr/>
        </p:nvSpPr>
        <p:spPr>
          <a:xfrm>
            <a:off x="4544879" y="3889181"/>
            <a:ext cx="64770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ORAS</a:t>
            </a:r>
          </a:p>
        </p:txBody>
      </p:sp>
      <p:sp>
        <p:nvSpPr>
          <p:cNvPr id="149" name="landscape-node-51-ModelPack">
            <a:extLst>
              <a:ext uri="{FF2B5EF4-FFF2-40B4-BE49-F238E27FC236}">
                <a16:creationId xmlns:a16="http://schemas.microsoft.com/office/drawing/2014/main" id="{8346AD1D-903F-7C7A-59B0-A78A76B4AF22}"/>
              </a:ext>
            </a:extLst>
          </p:cNvPr>
          <p:cNvSpPr>
            <a:spLocks noGrp="1"/>
          </p:cNvSpPr>
          <p:nvPr/>
        </p:nvSpPr>
        <p:spPr>
          <a:xfrm>
            <a:off x="1258754" y="4070156"/>
            <a:ext cx="72390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ModelPack</a:t>
            </a:r>
          </a:p>
        </p:txBody>
      </p:sp>
      <p:sp>
        <p:nvSpPr>
          <p:cNvPr id="150" name="landscape-node-52-ImageVolume">
            <a:extLst>
              <a:ext uri="{FF2B5EF4-FFF2-40B4-BE49-F238E27FC236}">
                <a16:creationId xmlns:a16="http://schemas.microsoft.com/office/drawing/2014/main" id="{F14A4EF4-49F6-86A4-13FB-0D0DC4FFD498}"/>
              </a:ext>
            </a:extLst>
          </p:cNvPr>
          <p:cNvSpPr>
            <a:spLocks noGrp="1"/>
          </p:cNvSpPr>
          <p:nvPr/>
        </p:nvSpPr>
        <p:spPr>
          <a:xfrm>
            <a:off x="3801929" y="4079681"/>
            <a:ext cx="76200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ImageVolume   K8s</a:t>
            </a:r>
          </a:p>
        </p:txBody>
      </p:sp>
      <p:sp>
        <p:nvSpPr>
          <p:cNvPr id="151" name="landscape-node-53-KWOK">
            <a:extLst>
              <a:ext uri="{FF2B5EF4-FFF2-40B4-BE49-F238E27FC236}">
                <a16:creationId xmlns:a16="http://schemas.microsoft.com/office/drawing/2014/main" id="{583224DB-541A-BAE4-6539-98DF9C0BB419}"/>
              </a:ext>
            </a:extLst>
          </p:cNvPr>
          <p:cNvSpPr>
            <a:spLocks noGrp="1"/>
          </p:cNvSpPr>
          <p:nvPr/>
        </p:nvSpPr>
        <p:spPr>
          <a:xfrm>
            <a:off x="5021129" y="4136831"/>
            <a:ext cx="66675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KWOK   K8s</a:t>
            </a:r>
          </a:p>
        </p:txBody>
      </p:sp>
      <p:sp>
        <p:nvSpPr>
          <p:cNvPr id="152" name="landscape-node-54-Model-Spec">
            <a:extLst>
              <a:ext uri="{FF2B5EF4-FFF2-40B4-BE49-F238E27FC236}">
                <a16:creationId xmlns:a16="http://schemas.microsoft.com/office/drawing/2014/main" id="{1D287F6A-569B-8CB1-96D2-95A37494DA52}"/>
              </a:ext>
            </a:extLst>
          </p:cNvPr>
          <p:cNvSpPr>
            <a:spLocks noGrp="1"/>
          </p:cNvSpPr>
          <p:nvPr/>
        </p:nvSpPr>
        <p:spPr>
          <a:xfrm>
            <a:off x="1163504" y="4308281"/>
            <a:ext cx="72390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Model Spec</a:t>
            </a:r>
          </a:p>
        </p:txBody>
      </p:sp>
      <p:sp>
        <p:nvSpPr>
          <p:cNvPr id="153" name="landscape-node-55-NRI">
            <a:extLst>
              <a:ext uri="{FF2B5EF4-FFF2-40B4-BE49-F238E27FC236}">
                <a16:creationId xmlns:a16="http://schemas.microsoft.com/office/drawing/2014/main" id="{BF8072EC-9BE8-1283-A8F9-07FEB748848E}"/>
              </a:ext>
            </a:extLst>
          </p:cNvPr>
          <p:cNvSpPr>
            <a:spLocks noGrp="1"/>
          </p:cNvSpPr>
          <p:nvPr/>
        </p:nvSpPr>
        <p:spPr>
          <a:xfrm>
            <a:off x="3725729" y="4327331"/>
            <a:ext cx="609600" cy="152400"/>
          </a:xfrm>
          <a:prstGeom prst="roundRect">
            <a:avLst>
              <a:gd name="adj" fmla="val 25000"/>
            </a:avLst>
          </a:prstGeom>
          <a:solidFill>
            <a:srgbClr val="EEF2FF"/>
          </a:solidFill>
          <a:ln w="7620">
            <a:solidFill>
              <a:srgbClr val="88A4EE"/>
            </a:solidFill>
            <a:prstDash val="dash"/>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NRI</a:t>
            </a:r>
          </a:p>
        </p:txBody>
      </p:sp>
      <p:sp>
        <p:nvSpPr>
          <p:cNvPr id="154" name="landscape-node-56-Kubernetes">
            <a:extLst>
              <a:ext uri="{FF2B5EF4-FFF2-40B4-BE49-F238E27FC236}">
                <a16:creationId xmlns:a16="http://schemas.microsoft.com/office/drawing/2014/main" id="{93F314E7-D728-0564-7B33-EEFD288ABFC9}"/>
              </a:ext>
            </a:extLst>
          </p:cNvPr>
          <p:cNvSpPr>
            <a:spLocks noGrp="1"/>
          </p:cNvSpPr>
          <p:nvPr/>
        </p:nvSpPr>
        <p:spPr>
          <a:xfrm>
            <a:off x="6059354" y="4327331"/>
            <a:ext cx="72390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dirty="0">
                <a:solidFill>
                  <a:srgbClr val="102031"/>
                </a:solidFill>
                <a:latin typeface="Arial"/>
                <a:ea typeface="Arial"/>
                <a:cs typeface="Arial"/>
              </a:rPr>
              <a:t>Kubernetes   K8s</a:t>
            </a:r>
          </a:p>
        </p:txBody>
      </p:sp>
      <p:sp>
        <p:nvSpPr>
          <p:cNvPr id="155" name="landscape-node-57-gVisor">
            <a:extLst>
              <a:ext uri="{FF2B5EF4-FFF2-40B4-BE49-F238E27FC236}">
                <a16:creationId xmlns:a16="http://schemas.microsoft.com/office/drawing/2014/main" id="{339177AC-63FB-FA22-C30C-D25E53DA3F0B}"/>
              </a:ext>
            </a:extLst>
          </p:cNvPr>
          <p:cNvSpPr>
            <a:spLocks noGrp="1"/>
          </p:cNvSpPr>
          <p:nvPr/>
        </p:nvSpPr>
        <p:spPr>
          <a:xfrm>
            <a:off x="3354254" y="4603556"/>
            <a:ext cx="64770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gVisor</a:t>
            </a:r>
          </a:p>
        </p:txBody>
      </p:sp>
      <p:sp>
        <p:nvSpPr>
          <p:cNvPr id="156" name="landscape-node-58-Kata-Containers">
            <a:extLst>
              <a:ext uri="{FF2B5EF4-FFF2-40B4-BE49-F238E27FC236}">
                <a16:creationId xmlns:a16="http://schemas.microsoft.com/office/drawing/2014/main" id="{86EAE1CC-EB63-C337-3942-52E5815AA895}"/>
              </a:ext>
            </a:extLst>
          </p:cNvPr>
          <p:cNvSpPr>
            <a:spLocks noGrp="1"/>
          </p:cNvSpPr>
          <p:nvPr/>
        </p:nvSpPr>
        <p:spPr>
          <a:xfrm>
            <a:off x="4354379" y="4603556"/>
            <a:ext cx="81915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Kata Containers</a:t>
            </a:r>
          </a:p>
        </p:txBody>
      </p:sp>
      <p:sp>
        <p:nvSpPr>
          <p:cNvPr id="157" name="landscape-node-59-KubeVirt">
            <a:extLst>
              <a:ext uri="{FF2B5EF4-FFF2-40B4-BE49-F238E27FC236}">
                <a16:creationId xmlns:a16="http://schemas.microsoft.com/office/drawing/2014/main" id="{4211D3EF-6C35-A3F1-B00B-D9B77B770299}"/>
              </a:ext>
            </a:extLst>
          </p:cNvPr>
          <p:cNvSpPr>
            <a:spLocks noGrp="1"/>
          </p:cNvSpPr>
          <p:nvPr/>
        </p:nvSpPr>
        <p:spPr>
          <a:xfrm>
            <a:off x="5430704" y="4603556"/>
            <a:ext cx="70485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KubeVirt   K8s</a:t>
            </a:r>
          </a:p>
        </p:txBody>
      </p:sp>
      <p:sp>
        <p:nvSpPr>
          <p:cNvPr id="158" name="landscape-node-60-containerd">
            <a:extLst>
              <a:ext uri="{FF2B5EF4-FFF2-40B4-BE49-F238E27FC236}">
                <a16:creationId xmlns:a16="http://schemas.microsoft.com/office/drawing/2014/main" id="{B258B820-DDC7-2881-15E6-6076EA98A8FE}"/>
              </a:ext>
            </a:extLst>
          </p:cNvPr>
          <p:cNvSpPr>
            <a:spLocks noGrp="1"/>
          </p:cNvSpPr>
          <p:nvPr/>
        </p:nvSpPr>
        <p:spPr>
          <a:xfrm>
            <a:off x="6078404" y="4717856"/>
            <a:ext cx="72390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containerd</a:t>
            </a:r>
          </a:p>
        </p:txBody>
      </p:sp>
      <p:sp>
        <p:nvSpPr>
          <p:cNvPr id="159" name="landscape-node-61-Firecracker">
            <a:extLst>
              <a:ext uri="{FF2B5EF4-FFF2-40B4-BE49-F238E27FC236}">
                <a16:creationId xmlns:a16="http://schemas.microsoft.com/office/drawing/2014/main" id="{8E9B902F-9BE1-A43E-8E79-74D604FAEB90}"/>
              </a:ext>
            </a:extLst>
          </p:cNvPr>
          <p:cNvSpPr>
            <a:spLocks noGrp="1"/>
          </p:cNvSpPr>
          <p:nvPr/>
        </p:nvSpPr>
        <p:spPr>
          <a:xfrm>
            <a:off x="4973504" y="4851206"/>
            <a:ext cx="723900" cy="152400"/>
          </a:xfrm>
          <a:prstGeom prst="roundRect">
            <a:avLst>
              <a:gd name="adj" fmla="val 25000"/>
            </a:avLst>
          </a:prstGeom>
          <a:solidFill>
            <a:srgbClr val="EEF2FF"/>
          </a:solidFill>
          <a:ln w="7620">
            <a:solidFill>
              <a:srgbClr val="88A4EE"/>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sz="465" b="1">
                <a:solidFill>
                  <a:srgbClr val="102031"/>
                </a:solidFill>
                <a:latin typeface="Arial"/>
                <a:ea typeface="Arial"/>
                <a:cs typeface="Arial"/>
              </a:rPr>
              <a:t>Firecracker</a:t>
            </a:r>
          </a:p>
        </p:txBody>
      </p:sp>
      <p:sp>
        <p:nvSpPr>
          <p:cNvPr id="160" name="category-legend-title">
            <a:extLst>
              <a:ext uri="{FF2B5EF4-FFF2-40B4-BE49-F238E27FC236}">
                <a16:creationId xmlns:a16="http://schemas.microsoft.com/office/drawing/2014/main" id="{8114B368-FAB3-2081-F80B-80F057677502}"/>
              </a:ext>
            </a:extLst>
          </p:cNvPr>
          <p:cNvSpPr>
            <a:spLocks noGrp="1"/>
          </p:cNvSpPr>
          <p:nvPr/>
        </p:nvSpPr>
        <p:spPr>
          <a:xfrm>
            <a:off x="7392854" y="1431731"/>
            <a:ext cx="1524000" cy="142875"/>
          </a:xfrm>
          <a:prstGeom prst="rect">
            <a:avLst/>
          </a:prstGeom>
          <a:noFill/>
          <a:ln w="0">
            <a:noFill/>
            <a:prstDash val="solid"/>
          </a:ln>
        </p:spPr>
        <p:txBody>
          <a:bodyPr wrap="square" lIns="19050" tIns="9525" rIns="19050" bIns="9525" anchor="ctr">
            <a:normAutofit/>
          </a:bodyPr>
          <a:lstStyle/>
          <a:p>
            <a:pPr algn="l">
              <a:defRPr sz="675" b="1">
                <a:solidFill>
                  <a:srgbClr val="102031"/>
                </a:solidFill>
                <a:latin typeface="Arial"/>
                <a:ea typeface="Arial"/>
                <a:cs typeface="Arial"/>
              </a:defRPr>
            </a:pPr>
            <a:r>
              <a:rPr sz="675" b="1">
                <a:solidFill>
                  <a:srgbClr val="102031"/>
                </a:solidFill>
                <a:latin typeface="Arial"/>
                <a:ea typeface="Arial"/>
                <a:cs typeface="Arial"/>
              </a:rPr>
              <a:t>Category</a:t>
            </a:r>
          </a:p>
        </p:txBody>
      </p:sp>
      <p:sp>
        <p:nvSpPr>
          <p:cNvPr id="161" name="category-legend-1-box">
            <a:extLst>
              <a:ext uri="{FF2B5EF4-FFF2-40B4-BE49-F238E27FC236}">
                <a16:creationId xmlns:a16="http://schemas.microsoft.com/office/drawing/2014/main" id="{57538FFA-E8EF-B185-7A3F-2EAB85E3E5B2}"/>
              </a:ext>
            </a:extLst>
          </p:cNvPr>
          <p:cNvSpPr>
            <a:spLocks noGrp="1"/>
          </p:cNvSpPr>
          <p:nvPr/>
        </p:nvSpPr>
        <p:spPr>
          <a:xfrm>
            <a:off x="7392854" y="1612706"/>
            <a:ext cx="1524000" cy="190500"/>
          </a:xfrm>
          <a:prstGeom prst="roundRect">
            <a:avLst>
              <a:gd name="adj" fmla="val 25000"/>
            </a:avLst>
          </a:prstGeom>
          <a:solidFill>
            <a:srgbClr val="FFF3D8"/>
          </a:solidFill>
          <a:ln w="9525">
            <a:solidFill>
              <a:srgbClr val="E7B552"/>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AI Gateway</a:t>
            </a:r>
          </a:p>
        </p:txBody>
      </p:sp>
      <p:sp>
        <p:nvSpPr>
          <p:cNvPr id="162" name="category-legend-2-box">
            <a:extLst>
              <a:ext uri="{FF2B5EF4-FFF2-40B4-BE49-F238E27FC236}">
                <a16:creationId xmlns:a16="http://schemas.microsoft.com/office/drawing/2014/main" id="{B13EB4DE-2731-37B4-5954-13257BC0EC7C}"/>
              </a:ext>
            </a:extLst>
          </p:cNvPr>
          <p:cNvSpPr>
            <a:spLocks noGrp="1"/>
          </p:cNvSpPr>
          <p:nvPr/>
        </p:nvSpPr>
        <p:spPr>
          <a:xfrm>
            <a:off x="7392854" y="1850831"/>
            <a:ext cx="1524000" cy="190500"/>
          </a:xfrm>
          <a:prstGeom prst="roundRect">
            <a:avLst>
              <a:gd name="adj" fmla="val 25000"/>
            </a:avLst>
          </a:prstGeom>
          <a:solidFill>
            <a:srgbClr val="FCEAF4"/>
          </a:solidFill>
          <a:ln w="9525">
            <a:solidFill>
              <a:srgbClr val="D96AA7"/>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Workflow</a:t>
            </a:r>
          </a:p>
        </p:txBody>
      </p:sp>
      <p:sp>
        <p:nvSpPr>
          <p:cNvPr id="163" name="category-legend-3-box">
            <a:extLst>
              <a:ext uri="{FF2B5EF4-FFF2-40B4-BE49-F238E27FC236}">
                <a16:creationId xmlns:a16="http://schemas.microsoft.com/office/drawing/2014/main" id="{5377FC7E-A44B-313E-18C3-558E03951671}"/>
              </a:ext>
            </a:extLst>
          </p:cNvPr>
          <p:cNvSpPr>
            <a:spLocks noGrp="1"/>
          </p:cNvSpPr>
          <p:nvPr/>
        </p:nvSpPr>
        <p:spPr>
          <a:xfrm>
            <a:off x="7392854" y="2088956"/>
            <a:ext cx="1524000" cy="190500"/>
          </a:xfrm>
          <a:prstGeom prst="roundRect">
            <a:avLst>
              <a:gd name="adj" fmla="val 25000"/>
            </a:avLst>
          </a:prstGeom>
          <a:solidFill>
            <a:srgbClr val="FFF0E4"/>
          </a:solidFill>
          <a:ln w="9525">
            <a:solidFill>
              <a:srgbClr val="E6A067"/>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Training</a:t>
            </a:r>
          </a:p>
        </p:txBody>
      </p:sp>
      <p:sp>
        <p:nvSpPr>
          <p:cNvPr id="164" name="category-legend-4-box">
            <a:extLst>
              <a:ext uri="{FF2B5EF4-FFF2-40B4-BE49-F238E27FC236}">
                <a16:creationId xmlns:a16="http://schemas.microsoft.com/office/drawing/2014/main" id="{4061E252-DF42-38F0-B3A4-C8CD8BFC9F39}"/>
              </a:ext>
            </a:extLst>
          </p:cNvPr>
          <p:cNvSpPr>
            <a:spLocks noGrp="1"/>
          </p:cNvSpPr>
          <p:nvPr/>
        </p:nvSpPr>
        <p:spPr>
          <a:xfrm>
            <a:off x="7392854" y="2327081"/>
            <a:ext cx="1524000" cy="190500"/>
          </a:xfrm>
          <a:prstGeom prst="roundRect">
            <a:avLst>
              <a:gd name="adj" fmla="val 25000"/>
            </a:avLst>
          </a:prstGeom>
          <a:solidFill>
            <a:srgbClr val="FCEAF4"/>
          </a:solidFill>
          <a:ln w="9525">
            <a:solidFill>
              <a:srgbClr val="D96AA7"/>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Serverless</a:t>
            </a:r>
          </a:p>
        </p:txBody>
      </p:sp>
      <p:sp>
        <p:nvSpPr>
          <p:cNvPr id="165" name="category-legend-5-box">
            <a:extLst>
              <a:ext uri="{FF2B5EF4-FFF2-40B4-BE49-F238E27FC236}">
                <a16:creationId xmlns:a16="http://schemas.microsoft.com/office/drawing/2014/main" id="{05DC5E24-C828-7F0E-5F19-7D5FF0531409}"/>
              </a:ext>
            </a:extLst>
          </p:cNvPr>
          <p:cNvSpPr>
            <a:spLocks noGrp="1"/>
          </p:cNvSpPr>
          <p:nvPr/>
        </p:nvSpPr>
        <p:spPr>
          <a:xfrm>
            <a:off x="7392854" y="2565206"/>
            <a:ext cx="1524000" cy="190500"/>
          </a:xfrm>
          <a:prstGeom prst="roundRect">
            <a:avLst>
              <a:gd name="adj" fmla="val 25000"/>
            </a:avLst>
          </a:prstGeom>
          <a:solidFill>
            <a:srgbClr val="EAF1FF"/>
          </a:solidFill>
          <a:ln w="9525">
            <a:solidFill>
              <a:srgbClr val="7FA5F8"/>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Cloud-native Inference</a:t>
            </a:r>
          </a:p>
        </p:txBody>
      </p:sp>
      <p:sp>
        <p:nvSpPr>
          <p:cNvPr id="166" name="category-legend-6-box">
            <a:extLst>
              <a:ext uri="{FF2B5EF4-FFF2-40B4-BE49-F238E27FC236}">
                <a16:creationId xmlns:a16="http://schemas.microsoft.com/office/drawing/2014/main" id="{33740FE0-E50D-D493-F20F-E745679C503D}"/>
              </a:ext>
            </a:extLst>
          </p:cNvPr>
          <p:cNvSpPr>
            <a:spLocks noGrp="1"/>
          </p:cNvSpPr>
          <p:nvPr/>
        </p:nvSpPr>
        <p:spPr>
          <a:xfrm>
            <a:off x="7392854" y="2803331"/>
            <a:ext cx="1524000" cy="190500"/>
          </a:xfrm>
          <a:prstGeom prst="roundRect">
            <a:avLst>
              <a:gd name="adj" fmla="val 25000"/>
            </a:avLst>
          </a:prstGeom>
          <a:solidFill>
            <a:srgbClr val="EAF1FF"/>
          </a:solidFill>
          <a:ln w="9525">
            <a:solidFill>
              <a:srgbClr val="7FA5F8"/>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Inference</a:t>
            </a:r>
          </a:p>
        </p:txBody>
      </p:sp>
      <p:sp>
        <p:nvSpPr>
          <p:cNvPr id="167" name="category-legend-7-box">
            <a:extLst>
              <a:ext uri="{FF2B5EF4-FFF2-40B4-BE49-F238E27FC236}">
                <a16:creationId xmlns:a16="http://schemas.microsoft.com/office/drawing/2014/main" id="{DFD4A241-9B6D-BBD6-E49C-D37C2A204F24}"/>
              </a:ext>
            </a:extLst>
          </p:cNvPr>
          <p:cNvSpPr>
            <a:spLocks noGrp="1"/>
          </p:cNvSpPr>
          <p:nvPr/>
        </p:nvSpPr>
        <p:spPr>
          <a:xfrm>
            <a:off x="7392854" y="3041456"/>
            <a:ext cx="1524000" cy="190500"/>
          </a:xfrm>
          <a:prstGeom prst="roundRect">
            <a:avLst>
              <a:gd name="adj" fmla="val 25000"/>
            </a:avLst>
          </a:prstGeom>
          <a:solidFill>
            <a:srgbClr val="EAF7EC"/>
          </a:solidFill>
          <a:ln w="9525">
            <a:solidFill>
              <a:srgbClr val="72B888"/>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Scheduling</a:t>
            </a:r>
          </a:p>
        </p:txBody>
      </p:sp>
      <p:sp>
        <p:nvSpPr>
          <p:cNvPr id="168" name="category-legend-8-box">
            <a:extLst>
              <a:ext uri="{FF2B5EF4-FFF2-40B4-BE49-F238E27FC236}">
                <a16:creationId xmlns:a16="http://schemas.microsoft.com/office/drawing/2014/main" id="{64B0C541-74F7-FA75-D157-2B2E8A5B1023}"/>
              </a:ext>
            </a:extLst>
          </p:cNvPr>
          <p:cNvSpPr>
            <a:spLocks noGrp="1"/>
          </p:cNvSpPr>
          <p:nvPr/>
        </p:nvSpPr>
        <p:spPr>
          <a:xfrm>
            <a:off x="7392854" y="3279581"/>
            <a:ext cx="1524000" cy="190500"/>
          </a:xfrm>
          <a:prstGeom prst="roundRect">
            <a:avLst>
              <a:gd name="adj" fmla="val 25000"/>
            </a:avLst>
          </a:prstGeom>
          <a:solidFill>
            <a:srgbClr val="EEF2FF"/>
          </a:solidFill>
          <a:ln w="9525">
            <a:solidFill>
              <a:srgbClr val="88A4EE"/>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Orchestration</a:t>
            </a:r>
          </a:p>
        </p:txBody>
      </p:sp>
      <p:sp>
        <p:nvSpPr>
          <p:cNvPr id="169" name="category-legend-9-box">
            <a:extLst>
              <a:ext uri="{FF2B5EF4-FFF2-40B4-BE49-F238E27FC236}">
                <a16:creationId xmlns:a16="http://schemas.microsoft.com/office/drawing/2014/main" id="{882E7F82-9D4E-09DE-CF20-5A1279F23902}"/>
              </a:ext>
            </a:extLst>
          </p:cNvPr>
          <p:cNvSpPr>
            <a:spLocks noGrp="1"/>
          </p:cNvSpPr>
          <p:nvPr/>
        </p:nvSpPr>
        <p:spPr>
          <a:xfrm>
            <a:off x="7392854" y="3517706"/>
            <a:ext cx="1524000" cy="190500"/>
          </a:xfrm>
          <a:prstGeom prst="roundRect">
            <a:avLst>
              <a:gd name="adj" fmla="val 25000"/>
            </a:avLst>
          </a:prstGeom>
          <a:solidFill>
            <a:srgbClr val="EEF2FF"/>
          </a:solidFill>
          <a:ln w="9525">
            <a:solidFill>
              <a:srgbClr val="88A4EE"/>
            </a:solidFill>
            <a:prstDash val="solid"/>
          </a:ln>
        </p:spPr>
        <p:txBody>
          <a:bodyPr wrap="square" lIns="76200" tIns="9525" rIns="76200" bIns="9525" anchor="ctr">
            <a:normAutofit/>
          </a:bodyPr>
          <a:lstStyle/>
          <a:p>
            <a:pPr algn="l">
              <a:defRPr sz="525" b="1">
                <a:solidFill>
                  <a:srgbClr val="102031"/>
                </a:solidFill>
                <a:latin typeface="Arial"/>
                <a:ea typeface="Arial"/>
                <a:cs typeface="Arial"/>
              </a:defRPr>
            </a:pPr>
            <a:r>
              <a:rPr sz="525" b="1">
                <a:solidFill>
                  <a:srgbClr val="102031"/>
                </a:solidFill>
                <a:latin typeface="Arial"/>
                <a:ea typeface="Arial"/>
                <a:cs typeface="Arial"/>
              </a:rPr>
              <a:t>Kernel</a:t>
            </a:r>
          </a:p>
        </p:txBody>
      </p:sp>
      <p:sp>
        <p:nvSpPr>
          <p:cNvPr id="170" name="maturity-legend-title">
            <a:extLst>
              <a:ext uri="{FF2B5EF4-FFF2-40B4-BE49-F238E27FC236}">
                <a16:creationId xmlns:a16="http://schemas.microsoft.com/office/drawing/2014/main" id="{F2F34956-1905-5B26-1FAA-FCFDEC0E99BC}"/>
              </a:ext>
            </a:extLst>
          </p:cNvPr>
          <p:cNvSpPr>
            <a:spLocks noGrp="1"/>
          </p:cNvSpPr>
          <p:nvPr/>
        </p:nvSpPr>
        <p:spPr>
          <a:xfrm>
            <a:off x="7392854" y="3851081"/>
            <a:ext cx="1524000" cy="142875"/>
          </a:xfrm>
          <a:prstGeom prst="rect">
            <a:avLst/>
          </a:prstGeom>
          <a:noFill/>
          <a:ln w="0">
            <a:noFill/>
            <a:prstDash val="solid"/>
          </a:ln>
        </p:spPr>
        <p:txBody>
          <a:bodyPr wrap="square" lIns="19050" tIns="9525" rIns="19050" bIns="9525" anchor="ctr">
            <a:normAutofit/>
          </a:bodyPr>
          <a:lstStyle/>
          <a:p>
            <a:pPr algn="l">
              <a:defRPr sz="675" b="1">
                <a:solidFill>
                  <a:srgbClr val="102031"/>
                </a:solidFill>
                <a:latin typeface="Arial"/>
                <a:ea typeface="Arial"/>
                <a:cs typeface="Arial"/>
              </a:defRPr>
            </a:pPr>
            <a:r>
              <a:rPr sz="675" b="1">
                <a:solidFill>
                  <a:srgbClr val="102031"/>
                </a:solidFill>
                <a:latin typeface="Arial"/>
                <a:ea typeface="Arial"/>
                <a:cs typeface="Arial"/>
              </a:rPr>
              <a:t>Maturity</a:t>
            </a:r>
          </a:p>
        </p:txBody>
      </p:sp>
      <p:sp>
        <p:nvSpPr>
          <p:cNvPr id="171" name="maturity-early-box">
            <a:extLst>
              <a:ext uri="{FF2B5EF4-FFF2-40B4-BE49-F238E27FC236}">
                <a16:creationId xmlns:a16="http://schemas.microsoft.com/office/drawing/2014/main" id="{7D5389B4-76CA-1795-3BAB-5D560AE9CE5C}"/>
              </a:ext>
            </a:extLst>
          </p:cNvPr>
          <p:cNvSpPr>
            <a:spLocks noGrp="1"/>
          </p:cNvSpPr>
          <p:nvPr/>
        </p:nvSpPr>
        <p:spPr>
          <a:xfrm>
            <a:off x="7392854" y="4032056"/>
            <a:ext cx="1524000" cy="228600"/>
          </a:xfrm>
          <a:prstGeom prst="roundRect">
            <a:avLst>
              <a:gd name="adj" fmla="val 20833"/>
            </a:avLst>
          </a:prstGeom>
          <a:solidFill>
            <a:srgbClr val="FFFFFF"/>
          </a:solidFill>
          <a:ln w="9525">
            <a:solidFill>
              <a:srgbClr val="475569"/>
            </a:solidFill>
            <a:prstDash val="dash"/>
          </a:ln>
        </p:spPr>
        <p:txBody>
          <a:bodyPr wrap="square" lIns="76200" tIns="9525" rIns="76200" bIns="9525" anchor="ctr">
            <a:normAutofit/>
          </a:bodyPr>
          <a:lstStyle/>
          <a:p>
            <a:pPr algn="l">
              <a:defRPr sz="525" b="0">
                <a:solidFill>
                  <a:srgbClr val="102031"/>
                </a:solidFill>
                <a:latin typeface="Arial"/>
                <a:ea typeface="Arial"/>
                <a:cs typeface="Arial"/>
              </a:defRPr>
            </a:pPr>
            <a:r>
              <a:rPr sz="525" b="0">
                <a:solidFill>
                  <a:srgbClr val="102031"/>
                </a:solidFill>
                <a:latin typeface="Arial"/>
                <a:ea typeface="Arial"/>
                <a:cs typeface="Arial"/>
              </a:rPr>
              <a:t>Dashed = early / exploration</a:t>
            </a:r>
          </a:p>
        </p:txBody>
      </p:sp>
      <p:sp>
        <p:nvSpPr>
          <p:cNvPr id="172" name="maturity-mature-box">
            <a:extLst>
              <a:ext uri="{FF2B5EF4-FFF2-40B4-BE49-F238E27FC236}">
                <a16:creationId xmlns:a16="http://schemas.microsoft.com/office/drawing/2014/main" id="{BDE512C5-763F-CF20-4CD6-0373FC794AC1}"/>
              </a:ext>
            </a:extLst>
          </p:cNvPr>
          <p:cNvSpPr>
            <a:spLocks noGrp="1"/>
          </p:cNvSpPr>
          <p:nvPr/>
        </p:nvSpPr>
        <p:spPr>
          <a:xfrm>
            <a:off x="7392854" y="4327331"/>
            <a:ext cx="1524000" cy="228600"/>
          </a:xfrm>
          <a:prstGeom prst="roundRect">
            <a:avLst>
              <a:gd name="adj" fmla="val 20833"/>
            </a:avLst>
          </a:prstGeom>
          <a:solidFill>
            <a:srgbClr val="FFFFFF"/>
          </a:solidFill>
          <a:ln w="9525">
            <a:solidFill>
              <a:srgbClr val="475569"/>
            </a:solidFill>
            <a:prstDash val="solid"/>
          </a:ln>
        </p:spPr>
        <p:txBody>
          <a:bodyPr wrap="square" lIns="76200" tIns="9525" rIns="76200" bIns="9525" anchor="ctr">
            <a:normAutofit/>
          </a:bodyPr>
          <a:lstStyle/>
          <a:p>
            <a:pPr algn="l">
              <a:defRPr sz="525" b="0">
                <a:solidFill>
                  <a:srgbClr val="102031"/>
                </a:solidFill>
                <a:latin typeface="Arial"/>
                <a:ea typeface="Arial"/>
                <a:cs typeface="Arial"/>
              </a:defRPr>
            </a:pPr>
            <a:r>
              <a:rPr sz="525" b="0">
                <a:solidFill>
                  <a:srgbClr val="102031"/>
                </a:solidFill>
                <a:latin typeface="Arial"/>
                <a:ea typeface="Arial"/>
                <a:cs typeface="Arial"/>
              </a:rPr>
              <a:t>Solid = mature / standardized</a:t>
            </a:r>
          </a:p>
        </p:txBody>
      </p:sp>
      <p:sp>
        <p:nvSpPr>
          <p:cNvPr id="173" name="k8s-legend-box">
            <a:extLst>
              <a:ext uri="{FF2B5EF4-FFF2-40B4-BE49-F238E27FC236}">
                <a16:creationId xmlns:a16="http://schemas.microsoft.com/office/drawing/2014/main" id="{4691F05D-E1E8-E546-3BE1-85C657258F01}"/>
              </a:ext>
            </a:extLst>
          </p:cNvPr>
          <p:cNvSpPr>
            <a:spLocks noGrp="1"/>
          </p:cNvSpPr>
          <p:nvPr/>
        </p:nvSpPr>
        <p:spPr>
          <a:xfrm>
            <a:off x="7392854" y="4622606"/>
            <a:ext cx="1524000" cy="228600"/>
          </a:xfrm>
          <a:prstGeom prst="roundRect">
            <a:avLst>
              <a:gd name="adj" fmla="val 20833"/>
            </a:avLst>
          </a:prstGeom>
          <a:solidFill>
            <a:srgbClr val="EAF1FF"/>
          </a:solidFill>
          <a:ln w="9525">
            <a:solidFill>
              <a:srgbClr val="85A9FF"/>
            </a:solidFill>
            <a:prstDash val="solid"/>
          </a:ln>
        </p:spPr>
        <p:txBody>
          <a:bodyPr wrap="square" lIns="76200" tIns="9525" rIns="76200" bIns="9525" anchor="ctr">
            <a:normAutofit/>
          </a:bodyPr>
          <a:lstStyle/>
          <a:p>
            <a:pPr algn="l">
              <a:defRPr sz="525" b="0">
                <a:solidFill>
                  <a:srgbClr val="102031"/>
                </a:solidFill>
                <a:latin typeface="Arial"/>
                <a:ea typeface="Arial"/>
                <a:cs typeface="Arial"/>
              </a:defRPr>
            </a:pPr>
            <a:r>
              <a:rPr sz="525" b="0">
                <a:solidFill>
                  <a:srgbClr val="102031"/>
                </a:solidFill>
                <a:latin typeface="Arial"/>
                <a:ea typeface="Arial"/>
                <a:cs typeface="Arial"/>
              </a:rPr>
              <a:t>K8s = Kubernetes native</a:t>
            </a:r>
          </a:p>
        </p:txBody>
      </p:sp>
      <p:sp>
        <p:nvSpPr>
          <p:cNvPr id="4" name="文本框 3">
            <a:extLst>
              <a:ext uri="{FF2B5EF4-FFF2-40B4-BE49-F238E27FC236}">
                <a16:creationId xmlns:a16="http://schemas.microsoft.com/office/drawing/2014/main" id="{6237B6FA-DF2C-690F-9314-0BA7E463537D}"/>
              </a:ext>
            </a:extLst>
          </p:cNvPr>
          <p:cNvSpPr txBox="1"/>
          <p:nvPr/>
        </p:nvSpPr>
        <p:spPr>
          <a:xfrm>
            <a:off x="1573079" y="4969843"/>
            <a:ext cx="4572000" cy="230832"/>
          </a:xfrm>
          <a:prstGeom prst="rect">
            <a:avLst/>
          </a:prstGeom>
          <a:noFill/>
        </p:spPr>
        <p:txBody>
          <a:bodyPr wrap="square">
            <a:spAutoFit/>
          </a:bodyPr>
          <a:lstStyle/>
          <a:p>
            <a:pPr algn="ctr">
              <a:defRPr sz="900" b="1">
                <a:solidFill>
                  <a:srgbClr val="102031"/>
                </a:solidFill>
                <a:latin typeface="Arial"/>
                <a:ea typeface="Arial"/>
                <a:cs typeface="Arial"/>
              </a:defRPr>
            </a:pPr>
            <a:r>
              <a:rPr lang="en" altLang="zh-CN" sz="900" b="1" dirty="0">
                <a:solidFill>
                  <a:srgbClr val="102031"/>
                </a:solidFill>
                <a:latin typeface="Arial"/>
                <a:ea typeface="Arial"/>
                <a:cs typeface="Arial"/>
              </a:rPr>
              <a:t>Kernel / Runtime Layer</a:t>
            </a:r>
          </a:p>
        </p:txBody>
      </p:sp>
      <p:sp>
        <p:nvSpPr>
          <p:cNvPr id="7" name="landscape-node-21-Dynamo">
            <a:extLst>
              <a:ext uri="{FF2B5EF4-FFF2-40B4-BE49-F238E27FC236}">
                <a16:creationId xmlns:a16="http://schemas.microsoft.com/office/drawing/2014/main" id="{DB475631-C5AE-83D0-05AC-374497C5DD63}"/>
              </a:ext>
            </a:extLst>
          </p:cNvPr>
          <p:cNvSpPr>
            <a:spLocks noGrp="1"/>
          </p:cNvSpPr>
          <p:nvPr/>
        </p:nvSpPr>
        <p:spPr>
          <a:xfrm>
            <a:off x="2939329" y="2115620"/>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lang="en-US" altLang="zh-CN" sz="465" b="1" dirty="0">
                <a:solidFill>
                  <a:srgbClr val="102031"/>
                </a:solidFill>
                <a:latin typeface="Arial"/>
                <a:ea typeface="Arial"/>
                <a:cs typeface="Arial"/>
              </a:rPr>
              <a:t>LLM-D</a:t>
            </a:r>
            <a:endParaRPr sz="465" b="1" dirty="0">
              <a:solidFill>
                <a:srgbClr val="102031"/>
              </a:solidFill>
              <a:latin typeface="Arial"/>
              <a:ea typeface="Arial"/>
              <a:cs typeface="Arial"/>
            </a:endParaRPr>
          </a:p>
        </p:txBody>
      </p:sp>
      <p:sp>
        <p:nvSpPr>
          <p:cNvPr id="8" name="landscape-node-21-Dynamo">
            <a:extLst>
              <a:ext uri="{FF2B5EF4-FFF2-40B4-BE49-F238E27FC236}">
                <a16:creationId xmlns:a16="http://schemas.microsoft.com/office/drawing/2014/main" id="{4DAE2095-E32E-8F2C-FAA5-FE7F8BF45B52}"/>
              </a:ext>
            </a:extLst>
          </p:cNvPr>
          <p:cNvSpPr>
            <a:spLocks noGrp="1"/>
          </p:cNvSpPr>
          <p:nvPr/>
        </p:nvSpPr>
        <p:spPr>
          <a:xfrm>
            <a:off x="2716079" y="1944614"/>
            <a:ext cx="685800" cy="152400"/>
          </a:xfrm>
          <a:prstGeom prst="roundRect">
            <a:avLst>
              <a:gd name="adj" fmla="val 25000"/>
            </a:avLst>
          </a:prstGeom>
          <a:solidFill>
            <a:srgbClr val="EAF1FF"/>
          </a:solidFill>
          <a:ln w="7620">
            <a:solidFill>
              <a:srgbClr val="7FA5F8"/>
            </a:solidFill>
            <a:prstDash val="solid"/>
          </a:ln>
        </p:spPr>
        <p:txBody>
          <a:bodyPr wrap="none" lIns="28575" tIns="9525" rIns="28575" bIns="9525" anchor="ctr">
            <a:normAutofit/>
          </a:bodyPr>
          <a:lstStyle/>
          <a:p>
            <a:pPr algn="ctr">
              <a:defRPr sz="465" b="1">
                <a:solidFill>
                  <a:srgbClr val="102031"/>
                </a:solidFill>
                <a:latin typeface="Arial"/>
                <a:ea typeface="Arial"/>
                <a:cs typeface="Arial"/>
              </a:defRPr>
            </a:pPr>
            <a:r>
              <a:rPr lang="en-US" altLang="zh-CN" sz="465" b="1" dirty="0">
                <a:solidFill>
                  <a:srgbClr val="102031"/>
                </a:solidFill>
                <a:latin typeface="Arial"/>
                <a:ea typeface="Arial"/>
                <a:cs typeface="Arial"/>
              </a:rPr>
              <a:t>KAITO</a:t>
            </a:r>
            <a:endParaRPr sz="465" b="1" dirty="0">
              <a:solidFill>
                <a:srgbClr val="102031"/>
              </a:solidFill>
              <a:latin typeface="Arial"/>
              <a:ea typeface="Arial"/>
              <a:cs typeface="Arial"/>
            </a:endParaRPr>
          </a:p>
        </p:txBody>
      </p:sp>
    </p:spTree>
    <p:extLst>
      <p:ext uri="{BB962C8B-B14F-4D97-AF65-F5344CB8AC3E}">
        <p14:creationId xmlns:p14="http://schemas.microsoft.com/office/powerpoint/2010/main" val="111183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1AF9-D179-8C38-DBA2-E107203A9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8D38D0-46FE-2D0A-DE2D-77516848B462}"/>
              </a:ext>
            </a:extLst>
          </p:cNvPr>
          <p:cNvSpPr>
            <a:spLocks noGrp="1"/>
          </p:cNvSpPr>
          <p:nvPr>
            <p:ph type="title"/>
          </p:nvPr>
        </p:nvSpPr>
        <p:spPr/>
        <p:txBody>
          <a:bodyPr/>
          <a:lstStyle/>
          <a:p>
            <a:pPr lvl="0"/>
            <a:r>
              <a:rPr lang="en-US" altLang="zh-CN" dirty="0"/>
              <a:t>LLM-D</a:t>
            </a:r>
            <a:r>
              <a:rPr lang="zh-CN" altLang="zh-CN" dirty="0"/>
              <a:t>: Scheduling &amp; Distributed </a:t>
            </a:r>
            <a:r>
              <a:rPr lang="en-US" altLang="zh-CN" dirty="0"/>
              <a:t>Inference</a:t>
            </a:r>
            <a:endParaRPr lang="zh-CN" altLang="zh-CN" dirty="0"/>
          </a:p>
        </p:txBody>
      </p:sp>
    </p:spTree>
    <p:extLst>
      <p:ext uri="{BB962C8B-B14F-4D97-AF65-F5344CB8AC3E}">
        <p14:creationId xmlns:p14="http://schemas.microsoft.com/office/powerpoint/2010/main" val="65481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A800-8BD1-8108-8288-34A444BB01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9500A9-0A5A-33F4-E08B-B3D6EC55E471}"/>
              </a:ext>
            </a:extLst>
          </p:cNvPr>
          <p:cNvSpPr>
            <a:spLocks noGrp="1"/>
          </p:cNvSpPr>
          <p:nvPr>
            <p:ph type="title"/>
          </p:nvPr>
        </p:nvSpPr>
        <p:spPr>
          <a:xfrm>
            <a:off x="311700" y="-116487"/>
            <a:ext cx="6949739" cy="1047900"/>
          </a:xfrm>
        </p:spPr>
        <p:txBody>
          <a:bodyPr/>
          <a:lstStyle/>
          <a:p>
            <a:r>
              <a:rPr lang="en" altLang="zh-CN" dirty="0">
                <a:sym typeface="Red Hat Display"/>
              </a:rPr>
              <a:t>What is </a:t>
            </a:r>
            <a:r>
              <a:rPr lang="en-US" altLang="zh-CN" dirty="0">
                <a:sym typeface="Red Hat Display"/>
              </a:rPr>
              <a:t>LLM-D</a:t>
            </a:r>
            <a:r>
              <a:rPr lang="en" altLang="zh-CN" dirty="0">
                <a:sym typeface="Red Hat Display"/>
              </a:rPr>
              <a:t>?</a:t>
            </a:r>
            <a:endParaRPr lang="zh-CN" altLang="en-US" dirty="0"/>
          </a:p>
        </p:txBody>
      </p:sp>
      <p:sp>
        <p:nvSpPr>
          <p:cNvPr id="5" name="文本框 4">
            <a:extLst>
              <a:ext uri="{FF2B5EF4-FFF2-40B4-BE49-F238E27FC236}">
                <a16:creationId xmlns:a16="http://schemas.microsoft.com/office/drawing/2014/main" id="{1C6AC1EF-B30F-D9A1-EAC6-2BE45494A30E}"/>
              </a:ext>
            </a:extLst>
          </p:cNvPr>
          <p:cNvSpPr txBox="1"/>
          <p:nvPr/>
        </p:nvSpPr>
        <p:spPr>
          <a:xfrm>
            <a:off x="213586" y="615293"/>
            <a:ext cx="6669156" cy="307777"/>
          </a:xfrm>
          <a:prstGeom prst="rect">
            <a:avLst/>
          </a:prstGeom>
          <a:noFill/>
        </p:spPr>
        <p:txBody>
          <a:bodyPr wrap="square">
            <a:spAutoFit/>
          </a:bodyPr>
          <a:lstStyle/>
          <a:p>
            <a:pPr lvl="0">
              <a:defRPr/>
            </a:pPr>
            <a:r>
              <a:rPr lang="en" altLang="zh-CN" dirty="0">
                <a:solidFill>
                  <a:schemeClr val="bg1"/>
                </a:solidFill>
                <a:sym typeface="IBM Plex Sans Light"/>
              </a:rPr>
              <a:t>A Kubernetes-native high-performance distributed LLM inference framework</a:t>
            </a:r>
            <a:endParaRPr lang="en" altLang="zh-CN" dirty="0">
              <a:solidFill>
                <a:schemeClr val="bg1"/>
              </a:solidFill>
            </a:endParaRPr>
          </a:p>
        </p:txBody>
      </p:sp>
      <p:pic>
        <p:nvPicPr>
          <p:cNvPr id="45" name="图片 44" descr="图像">
            <a:extLst>
              <a:ext uri="{FF2B5EF4-FFF2-40B4-BE49-F238E27FC236}">
                <a16:creationId xmlns:a16="http://schemas.microsoft.com/office/drawing/2014/main" id="{7DFB2DCE-CD02-D5C0-8785-E831D117747C}"/>
              </a:ext>
            </a:extLst>
          </p:cNvPr>
          <p:cNvPicPr>
            <a:picLocks noChangeAspect="1"/>
          </p:cNvPicPr>
          <p:nvPr/>
        </p:nvPicPr>
        <p:blipFill rotWithShape="1">
          <a:blip r:embed="rId3"/>
          <a:srcRect l="11014" t="14" r="13044" b="-1100"/>
          <a:stretch>
            <a:fillRect/>
          </a:stretch>
        </p:blipFill>
        <p:spPr>
          <a:xfrm>
            <a:off x="1691948" y="1512733"/>
            <a:ext cx="5280887" cy="2811770"/>
          </a:xfrm>
          <a:prstGeom prst="rect">
            <a:avLst/>
          </a:prstGeom>
        </p:spPr>
      </p:pic>
      <p:sp>
        <p:nvSpPr>
          <p:cNvPr id="7" name="Google Shape;1967;p206">
            <a:extLst>
              <a:ext uri="{FF2B5EF4-FFF2-40B4-BE49-F238E27FC236}">
                <a16:creationId xmlns:a16="http://schemas.microsoft.com/office/drawing/2014/main" id="{9795D038-C52C-C3EB-FC4C-2D52D464CD63}"/>
              </a:ext>
            </a:extLst>
          </p:cNvPr>
          <p:cNvSpPr txBox="1"/>
          <p:nvPr/>
        </p:nvSpPr>
        <p:spPr>
          <a:xfrm>
            <a:off x="7087967" y="1797754"/>
            <a:ext cx="1918300" cy="2442976"/>
          </a:xfrm>
          <a:prstGeom prst="rect">
            <a:avLst/>
          </a:prstGeom>
          <a:noFill/>
          <a:ln>
            <a:noFill/>
          </a:ln>
        </p:spPr>
        <p:txBody>
          <a:bodyPr spcFirstLastPara="1" wrap="square" lIns="68575" tIns="34275" rIns="68575" bIns="34275"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 sz="800" b="1" i="0" u="none" strike="noStrike" kern="0" cap="none" spc="0" normalizeH="0" baseline="0" noProof="0">
                <a:ln>
                  <a:noFill/>
                </a:ln>
                <a:solidFill>
                  <a:srgbClr val="1C1E21"/>
                </a:solidFill>
                <a:effectLst/>
                <a:uLnTx/>
                <a:uFillTx/>
                <a:latin typeface="+mn-lt"/>
                <a:ea typeface="IBM Plex Sans"/>
                <a:cs typeface="IBM Plex Sans"/>
                <a:sym typeface="IBM Plex Sans"/>
              </a:rPr>
              <a:t>Operationalizability</a:t>
            </a:r>
            <a:endParaRPr kumimoji="0" sz="800" b="1" i="0" u="none" strike="noStrike" kern="0" cap="none" spc="0" normalizeH="0" baseline="0" noProof="0">
              <a:ln>
                <a:noFill/>
              </a:ln>
              <a:solidFill>
                <a:srgbClr val="1C1E21"/>
              </a:solidFill>
              <a:effectLst/>
              <a:uLnTx/>
              <a:uFillTx/>
              <a:latin typeface="+mn-lt"/>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 sz="800" b="0" i="0" u="none" strike="noStrike" kern="0" cap="none" spc="0" normalizeH="0" baseline="0" noProof="0">
                <a:ln>
                  <a:noFill/>
                </a:ln>
                <a:solidFill>
                  <a:srgbClr val="1C1E21"/>
                </a:solidFill>
                <a:effectLst/>
                <a:uLnTx/>
                <a:uFillTx/>
                <a:latin typeface="+mn-lt"/>
                <a:ea typeface="IBM Plex Sans Light"/>
                <a:cs typeface="IBM Plex Sans Light"/>
                <a:sym typeface="IBM Plex Sans Light"/>
              </a:rPr>
              <a:t>modular and resilient architecture with native integration into Kubernetes via Inference Gateway API</a:t>
            </a:r>
            <a:endParaRPr kumimoji="0" sz="1100" b="0" i="0" u="none" strike="noStrike" kern="0" cap="none" spc="0" normalizeH="0" baseline="0" noProof="0">
              <a:ln>
                <a:noFill/>
              </a:ln>
              <a:solidFill>
                <a:sysClr val="windowText" lastClr="000000"/>
              </a:solidFill>
              <a:effectLst/>
              <a:uLnTx/>
              <a:uFillTx/>
              <a:latin typeface="+mn-lt"/>
            </a:endParaRPr>
          </a:p>
          <a:p>
            <a:pPr marL="0" marR="0" lvl="0" indent="0" defTabSz="914400" eaLnBrk="1" fontAlgn="auto" latinLnBrk="0" hangingPunct="1">
              <a:lnSpc>
                <a:spcPct val="100000"/>
              </a:lnSpc>
              <a:spcBef>
                <a:spcPts val="600"/>
              </a:spcBef>
              <a:spcAft>
                <a:spcPts val="0"/>
              </a:spcAft>
              <a:buClrTx/>
              <a:buSzTx/>
              <a:buFontTx/>
              <a:buNone/>
              <a:tabLst/>
              <a:defRPr/>
            </a:pPr>
            <a:endParaRPr kumimoji="0" sz="800" b="1" i="0" u="none" strike="noStrike" kern="0" cap="none" spc="0" normalizeH="0" baseline="0" noProof="0">
              <a:ln>
                <a:noFill/>
              </a:ln>
              <a:solidFill>
                <a:srgbClr val="1C1E21"/>
              </a:solidFill>
              <a:effectLst/>
              <a:uLnTx/>
              <a:uFillTx/>
              <a:latin typeface="+mn-lt"/>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 sz="800" b="1" i="0" u="none" strike="noStrike" kern="0" cap="none" spc="0" normalizeH="0" baseline="0" noProof="0">
                <a:ln>
                  <a:noFill/>
                </a:ln>
                <a:solidFill>
                  <a:srgbClr val="1C1E21"/>
                </a:solidFill>
                <a:effectLst/>
                <a:uLnTx/>
                <a:uFillTx/>
                <a:latin typeface="+mn-lt"/>
                <a:ea typeface="IBM Plex Sans"/>
                <a:cs typeface="IBM Plex Sans"/>
                <a:sym typeface="IBM Plex Sans"/>
              </a:rPr>
              <a:t>Flexibility</a:t>
            </a:r>
            <a:endParaRPr kumimoji="0" sz="800" b="1" i="0" u="none" strike="noStrike" kern="0" cap="none" spc="0" normalizeH="0" baseline="0" noProof="0">
              <a:ln>
                <a:noFill/>
              </a:ln>
              <a:solidFill>
                <a:srgbClr val="1C1E21"/>
              </a:solidFill>
              <a:effectLst/>
              <a:uLnTx/>
              <a:uFillTx/>
              <a:latin typeface="+mn-lt"/>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 sz="800" b="0" i="0" u="none" strike="noStrike" kern="0" cap="none" spc="0" normalizeH="0" baseline="0" noProof="0">
                <a:ln>
                  <a:noFill/>
                </a:ln>
                <a:solidFill>
                  <a:srgbClr val="1C1E21"/>
                </a:solidFill>
                <a:effectLst/>
                <a:uLnTx/>
                <a:uFillTx/>
                <a:latin typeface="+mn-lt"/>
                <a:ea typeface="IBM Plex Sans Light"/>
                <a:cs typeface="IBM Plex Sans Light"/>
                <a:sym typeface="IBM Plex Sans Light"/>
              </a:rPr>
              <a:t>cross-platform with extensible implementations of key composable layers of the stack</a:t>
            </a:r>
            <a:endParaRPr kumimoji="0" sz="1100" b="0" i="0" u="none" strike="noStrike" kern="0" cap="none" spc="0" normalizeH="0" baseline="0" noProof="0">
              <a:ln>
                <a:noFill/>
              </a:ln>
              <a:solidFill>
                <a:sysClr val="windowText" lastClr="000000"/>
              </a:solidFill>
              <a:effectLst/>
              <a:uLnTx/>
              <a:uFillTx/>
              <a:latin typeface="+mn-lt"/>
            </a:endParaRPr>
          </a:p>
          <a:p>
            <a:pPr marL="0" marR="0" lvl="0" indent="0" defTabSz="914400" eaLnBrk="1" fontAlgn="auto" latinLnBrk="0" hangingPunct="1">
              <a:lnSpc>
                <a:spcPct val="100000"/>
              </a:lnSpc>
              <a:spcBef>
                <a:spcPts val="600"/>
              </a:spcBef>
              <a:spcAft>
                <a:spcPts val="0"/>
              </a:spcAft>
              <a:buClrTx/>
              <a:buSzTx/>
              <a:buFontTx/>
              <a:buNone/>
              <a:tabLst/>
              <a:defRPr/>
            </a:pPr>
            <a:endParaRPr kumimoji="0" sz="800" b="1" i="0" u="none" strike="noStrike" kern="0" cap="none" spc="0" normalizeH="0" baseline="0" noProof="0">
              <a:ln>
                <a:noFill/>
              </a:ln>
              <a:solidFill>
                <a:srgbClr val="1C1E21"/>
              </a:solidFill>
              <a:effectLst/>
              <a:uLnTx/>
              <a:uFillTx/>
              <a:latin typeface="+mn-lt"/>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 sz="800" b="1" i="0" u="none" strike="noStrike" kern="0" cap="none" spc="0" normalizeH="0" baseline="0" noProof="0">
                <a:ln>
                  <a:noFill/>
                </a:ln>
                <a:solidFill>
                  <a:srgbClr val="1C1E21"/>
                </a:solidFill>
                <a:effectLst/>
                <a:uLnTx/>
                <a:uFillTx/>
                <a:latin typeface="+mn-lt"/>
                <a:ea typeface="IBM Plex Sans"/>
                <a:cs typeface="IBM Plex Sans"/>
                <a:sym typeface="IBM Plex Sans"/>
              </a:rPr>
              <a:t>Well-lit paths</a:t>
            </a:r>
            <a:endParaRPr kumimoji="0" sz="900" b="0" i="0" u="none" strike="noStrike" kern="0" cap="none" spc="0" normalizeH="0" baseline="0" noProof="0">
              <a:ln>
                <a:noFill/>
              </a:ln>
              <a:solidFill>
                <a:srgbClr val="1C1E21"/>
              </a:solidFill>
              <a:effectLst/>
              <a:uLnTx/>
              <a:uFillTx/>
              <a:latin typeface="+mn-lt"/>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 sz="800" b="0" i="0" u="none" strike="noStrike" kern="0" cap="none" spc="0" normalizeH="0" baseline="0" noProof="0">
                <a:ln>
                  <a:noFill/>
                </a:ln>
                <a:solidFill>
                  <a:srgbClr val="1C1E21"/>
                </a:solidFill>
                <a:effectLst/>
                <a:uLnTx/>
                <a:uFillTx/>
                <a:latin typeface="+mn-lt"/>
                <a:ea typeface="IBM Plex Sans Light"/>
                <a:cs typeface="IBM Plex Sans Light"/>
                <a:sym typeface="IBM Plex Sans Light"/>
              </a:rPr>
              <a:t>Helping deployers navigate key decisions from experimentation to production by exposing trade-offs through tested blueprints</a:t>
            </a:r>
            <a:endParaRPr kumimoji="0" sz="1100" b="0" i="0" u="none" strike="noStrike" kern="0" cap="none" spc="0" normalizeH="0" baseline="0" noProof="0">
              <a:ln>
                <a:noFill/>
              </a:ln>
              <a:solidFill>
                <a:sysClr val="windowText" lastClr="000000"/>
              </a:solidFill>
              <a:effectLst/>
              <a:uLnTx/>
              <a:uFillTx/>
              <a:latin typeface="+mn-lt"/>
            </a:endParaRPr>
          </a:p>
        </p:txBody>
      </p:sp>
      <p:sp>
        <p:nvSpPr>
          <p:cNvPr id="8" name="Google Shape;1968;p206">
            <a:extLst>
              <a:ext uri="{FF2B5EF4-FFF2-40B4-BE49-F238E27FC236}">
                <a16:creationId xmlns:a16="http://schemas.microsoft.com/office/drawing/2014/main" id="{38453113-39B8-B5B2-327B-7027AD87F63C}"/>
              </a:ext>
            </a:extLst>
          </p:cNvPr>
          <p:cNvSpPr/>
          <p:nvPr/>
        </p:nvSpPr>
        <p:spPr>
          <a:xfrm rot="5400000">
            <a:off x="7940970" y="358226"/>
            <a:ext cx="60939" cy="2177394"/>
          </a:xfrm>
          <a:prstGeom prst="leftBracket">
            <a:avLst>
              <a:gd name="adj" fmla="val 8333"/>
            </a:avLst>
          </a:prstGeom>
          <a:noFill/>
          <a:ln w="12700" cap="flat" cmpd="sng">
            <a:solidFill>
              <a:srgbClr val="A5A5A5"/>
            </a:solidFill>
            <a:prstDash val="solid"/>
            <a:round/>
            <a:headEnd type="none" w="sm" len="sm"/>
            <a:tailEnd type="none" w="sm" len="sm"/>
          </a:ln>
        </p:spPr>
        <p:txBody>
          <a:bodyPr spcFirstLastPara="1" wrap="square" lIns="68575" tIns="34275" rIns="68575" bIns="34275" anchor="ctr" anchorCtr="0">
            <a:noAutofit/>
          </a:bodyPr>
          <a:lstStyle/>
          <a:p>
            <a:pPr algn="ctr">
              <a:defRPr/>
            </a:pPr>
            <a:endParaRPr sz="1200">
              <a:latin typeface="+mn-lt"/>
              <a:ea typeface="IBM Plex Sans"/>
              <a:cs typeface="IBM Plex Sans"/>
              <a:sym typeface="IBM Plex Sans"/>
            </a:endParaRPr>
          </a:p>
        </p:txBody>
      </p:sp>
      <p:sp>
        <p:nvSpPr>
          <p:cNvPr id="9" name="Google Shape;1969;p206">
            <a:extLst>
              <a:ext uri="{FF2B5EF4-FFF2-40B4-BE49-F238E27FC236}">
                <a16:creationId xmlns:a16="http://schemas.microsoft.com/office/drawing/2014/main" id="{E62CD8A2-B73E-EFB8-E6E0-F9380384315A}"/>
              </a:ext>
            </a:extLst>
          </p:cNvPr>
          <p:cNvSpPr txBox="1"/>
          <p:nvPr/>
        </p:nvSpPr>
        <p:spPr>
          <a:xfrm>
            <a:off x="7310029" y="1316525"/>
            <a:ext cx="1481203" cy="196208"/>
          </a:xfrm>
          <a:prstGeom prst="rect">
            <a:avLst/>
          </a:prstGeom>
          <a:solidFill>
            <a:srgbClr val="FFFFFF"/>
          </a:solidFill>
          <a:ln>
            <a:noFill/>
          </a:ln>
        </p:spPr>
        <p:txBody>
          <a:bodyPr spcFirstLastPara="1" wrap="square" lIns="68575" tIns="34275" rIns="68575" bIns="34275"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800" b="1" i="0" u="none" strike="noStrike" kern="0" cap="none" spc="0" normalizeH="0" baseline="0" noProof="0">
                <a:ln>
                  <a:noFill/>
                </a:ln>
                <a:solidFill>
                  <a:srgbClr val="351436"/>
                </a:solidFill>
                <a:effectLst/>
                <a:uLnTx/>
                <a:uFillTx/>
                <a:latin typeface="+mn-lt"/>
                <a:ea typeface="IBM Plex Sans"/>
                <a:cs typeface="IBM Plex Sans"/>
                <a:sym typeface="IBM Plex Sans"/>
              </a:rPr>
              <a:t>Unique value proposition</a:t>
            </a:r>
            <a:endParaRPr kumimoji="0" sz="1100" b="0" i="0" u="none" strike="noStrike" kern="0" cap="none" spc="0" normalizeH="0" baseline="0" noProof="0" dirty="0">
              <a:ln>
                <a:noFill/>
              </a:ln>
              <a:solidFill>
                <a:sysClr val="windowText" lastClr="000000"/>
              </a:solidFill>
              <a:effectLst/>
              <a:uLnTx/>
              <a:uFillTx/>
              <a:latin typeface="+mn-lt"/>
            </a:endParaRPr>
          </a:p>
        </p:txBody>
      </p:sp>
      <p:cxnSp>
        <p:nvCxnSpPr>
          <p:cNvPr id="24" name="Google Shape;1963;p206">
            <a:extLst>
              <a:ext uri="{FF2B5EF4-FFF2-40B4-BE49-F238E27FC236}">
                <a16:creationId xmlns:a16="http://schemas.microsoft.com/office/drawing/2014/main" id="{E26F95B9-C5C4-CDB3-B065-D3B23423D87A}"/>
              </a:ext>
            </a:extLst>
          </p:cNvPr>
          <p:cNvCxnSpPr/>
          <p:nvPr/>
        </p:nvCxnSpPr>
        <p:spPr>
          <a:xfrm>
            <a:off x="1188366" y="3957731"/>
            <a:ext cx="503582" cy="0"/>
          </a:xfrm>
          <a:prstGeom prst="straightConnector1">
            <a:avLst/>
          </a:prstGeom>
          <a:noFill/>
          <a:ln w="12700" cap="flat" cmpd="sng">
            <a:solidFill>
              <a:srgbClr val="D8D8D8"/>
            </a:solidFill>
            <a:prstDash val="solid"/>
            <a:round/>
            <a:headEnd type="none" w="sm" len="sm"/>
            <a:tailEnd type="triangle" w="med" len="med"/>
          </a:ln>
        </p:spPr>
      </p:cxnSp>
      <p:cxnSp>
        <p:nvCxnSpPr>
          <p:cNvPr id="25" name="Google Shape;1964;p206">
            <a:extLst>
              <a:ext uri="{FF2B5EF4-FFF2-40B4-BE49-F238E27FC236}">
                <a16:creationId xmlns:a16="http://schemas.microsoft.com/office/drawing/2014/main" id="{9E64A3DA-69B0-3CA2-FAFF-6F48A5471A6B}"/>
              </a:ext>
            </a:extLst>
          </p:cNvPr>
          <p:cNvCxnSpPr>
            <a:cxnSpLocks/>
            <a:stCxn id="35" idx="3"/>
          </p:cNvCxnSpPr>
          <p:nvPr/>
        </p:nvCxnSpPr>
        <p:spPr>
          <a:xfrm>
            <a:off x="1294803" y="3482852"/>
            <a:ext cx="462300" cy="0"/>
          </a:xfrm>
          <a:prstGeom prst="straightConnector1">
            <a:avLst/>
          </a:prstGeom>
          <a:noFill/>
          <a:ln w="12700" cap="flat" cmpd="sng">
            <a:solidFill>
              <a:srgbClr val="D8D8D8"/>
            </a:solidFill>
            <a:prstDash val="solid"/>
            <a:round/>
            <a:headEnd type="none" w="sm" len="sm"/>
            <a:tailEnd type="triangle" w="med" len="med"/>
          </a:ln>
        </p:spPr>
      </p:cxnSp>
      <p:cxnSp>
        <p:nvCxnSpPr>
          <p:cNvPr id="26" name="Google Shape;1966;p206">
            <a:extLst>
              <a:ext uri="{FF2B5EF4-FFF2-40B4-BE49-F238E27FC236}">
                <a16:creationId xmlns:a16="http://schemas.microsoft.com/office/drawing/2014/main" id="{4F3ACB37-0FB0-52E1-D4CC-FC2CB3931D69}"/>
              </a:ext>
            </a:extLst>
          </p:cNvPr>
          <p:cNvCxnSpPr/>
          <p:nvPr/>
        </p:nvCxnSpPr>
        <p:spPr>
          <a:xfrm>
            <a:off x="1512564" y="2482167"/>
            <a:ext cx="244570" cy="0"/>
          </a:xfrm>
          <a:prstGeom prst="straightConnector1">
            <a:avLst/>
          </a:prstGeom>
          <a:noFill/>
          <a:ln w="12700" cap="flat" cmpd="sng">
            <a:solidFill>
              <a:srgbClr val="D8D8D8"/>
            </a:solidFill>
            <a:prstDash val="solid"/>
            <a:round/>
            <a:headEnd type="none" w="sm" len="sm"/>
            <a:tailEnd type="triangle" w="med" len="med"/>
          </a:ln>
        </p:spPr>
      </p:cxnSp>
      <p:sp>
        <p:nvSpPr>
          <p:cNvPr id="27" name="Google Shape;1970;p206">
            <a:extLst>
              <a:ext uri="{FF2B5EF4-FFF2-40B4-BE49-F238E27FC236}">
                <a16:creationId xmlns:a16="http://schemas.microsoft.com/office/drawing/2014/main" id="{1BF497AC-42D0-F0CC-FBAA-417B868713D0}"/>
              </a:ext>
            </a:extLst>
          </p:cNvPr>
          <p:cNvSpPr/>
          <p:nvPr/>
        </p:nvSpPr>
        <p:spPr>
          <a:xfrm rot="5400000">
            <a:off x="1030262" y="893078"/>
            <a:ext cx="84868" cy="1385305"/>
          </a:xfrm>
          <a:prstGeom prst="leftBracket">
            <a:avLst>
              <a:gd name="adj" fmla="val 8333"/>
            </a:avLst>
          </a:prstGeom>
          <a:noFill/>
          <a:ln w="12700" cap="flat" cmpd="sng">
            <a:solidFill>
              <a:srgbClr val="A5A5A5"/>
            </a:solidFill>
            <a:prstDash val="solid"/>
            <a:round/>
            <a:headEnd type="none" w="sm" len="sm"/>
            <a:tailEnd type="none" w="sm" len="sm"/>
          </a:ln>
        </p:spPr>
        <p:txBody>
          <a:bodyPr spcFirstLastPara="1" wrap="square" lIns="68575" tIns="34275" rIns="68575" bIns="34275" anchor="ctr" anchorCtr="0">
            <a:noAutofit/>
          </a:bodyPr>
          <a:lstStyle/>
          <a:p>
            <a:pPr algn="ctr">
              <a:defRPr/>
            </a:pPr>
            <a:endParaRPr sz="1200">
              <a:latin typeface="+mn-lt"/>
              <a:ea typeface="IBM Plex Sans"/>
              <a:cs typeface="IBM Plex Sans"/>
              <a:sym typeface="IBM Plex Sans"/>
            </a:endParaRPr>
          </a:p>
        </p:txBody>
      </p:sp>
      <p:sp>
        <p:nvSpPr>
          <p:cNvPr id="28" name="Google Shape;1971;p206">
            <a:extLst>
              <a:ext uri="{FF2B5EF4-FFF2-40B4-BE49-F238E27FC236}">
                <a16:creationId xmlns:a16="http://schemas.microsoft.com/office/drawing/2014/main" id="{28B75ED9-1C37-42B1-8878-6D4AF7880FD2}"/>
              </a:ext>
            </a:extLst>
          </p:cNvPr>
          <p:cNvSpPr txBox="1"/>
          <p:nvPr/>
        </p:nvSpPr>
        <p:spPr>
          <a:xfrm>
            <a:off x="506894" y="1416453"/>
            <a:ext cx="1185054" cy="438551"/>
          </a:xfrm>
          <a:prstGeom prst="rect">
            <a:avLst/>
          </a:prstGeom>
          <a:solidFill>
            <a:srgbClr val="FFFFFF"/>
          </a:solidFill>
          <a:ln>
            <a:noFill/>
          </a:ln>
        </p:spPr>
        <p:txBody>
          <a:bodyPr spcFirstLastPara="1" wrap="square" lIns="68575" tIns="34275" rIns="68575" bIns="34275"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 sz="800" b="1" i="0" u="none" strike="noStrike" kern="0" cap="none" spc="0" normalizeH="0" baseline="0" noProof="0">
                <a:ln>
                  <a:noFill/>
                </a:ln>
                <a:solidFill>
                  <a:srgbClr val="351436"/>
                </a:solidFill>
                <a:effectLst/>
                <a:uLnTx/>
                <a:uFillTx/>
                <a:latin typeface="+mn-lt"/>
                <a:ea typeface="IBM Plex Sans"/>
                <a:cs typeface="IBM Plex Sans"/>
                <a:sym typeface="IBM Plex Sans"/>
              </a:rPr>
              <a:t>Leveraging middleware and engaging partners</a:t>
            </a:r>
            <a:endParaRPr kumimoji="0" sz="1100" b="0" i="0" u="none" strike="noStrike" kern="0" cap="none" spc="0" normalizeH="0" baseline="0" noProof="0">
              <a:ln>
                <a:noFill/>
              </a:ln>
              <a:solidFill>
                <a:sysClr val="windowText" lastClr="000000"/>
              </a:solidFill>
              <a:effectLst/>
              <a:uLnTx/>
              <a:uFillTx/>
              <a:latin typeface="+mn-lt"/>
            </a:endParaRPr>
          </a:p>
        </p:txBody>
      </p:sp>
      <p:sp>
        <p:nvSpPr>
          <p:cNvPr id="29" name="Google Shape;1979;p206">
            <a:extLst>
              <a:ext uri="{FF2B5EF4-FFF2-40B4-BE49-F238E27FC236}">
                <a16:creationId xmlns:a16="http://schemas.microsoft.com/office/drawing/2014/main" id="{35BED977-9839-5F4F-6115-CD932472133F}"/>
              </a:ext>
            </a:extLst>
          </p:cNvPr>
          <p:cNvSpPr txBox="1"/>
          <p:nvPr/>
        </p:nvSpPr>
        <p:spPr>
          <a:xfrm>
            <a:off x="552164" y="3801919"/>
            <a:ext cx="669239" cy="284663"/>
          </a:xfrm>
          <a:prstGeom prst="rect">
            <a:avLst/>
          </a:prstGeom>
          <a:solidFill>
            <a:srgbClr val="FFFFFF"/>
          </a:solidFill>
          <a:ln w="12700" cap="flat" cmpd="sng">
            <a:solidFill>
              <a:srgbClr val="D8D8D8"/>
            </a:solidFill>
            <a:prstDash val="solid"/>
            <a:miter lim="400000"/>
            <a:headEnd type="none" w="sm" len="sm"/>
            <a:tailEnd type="none" w="sm" len="sm"/>
          </a:ln>
        </p:spPr>
        <p:txBody>
          <a:bodyPr spcFirstLastPara="1" wrap="square" lIns="68575" tIns="34275" rIns="68575" bIns="34275"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 sz="700" b="1" i="0" u="none" strike="noStrike" kern="0" cap="none" spc="0" normalizeH="0" baseline="0" noProof="0">
                <a:ln>
                  <a:noFill/>
                </a:ln>
                <a:solidFill>
                  <a:srgbClr val="1A1A1A"/>
                </a:solidFill>
                <a:effectLst/>
                <a:uLnTx/>
                <a:uFillTx/>
                <a:latin typeface="+mn-lt"/>
                <a:ea typeface="IBM Plex Sans"/>
                <a:cs typeface="IBM Plex Sans"/>
                <a:sym typeface="IBM Plex Sans"/>
              </a:rPr>
              <a:t>KV storage providers</a:t>
            </a:r>
            <a:endParaRPr kumimoji="0" sz="1100" b="0" i="0" u="none" strike="noStrike" kern="0" cap="none" spc="0" normalizeH="0" baseline="0" noProof="0">
              <a:ln>
                <a:noFill/>
              </a:ln>
              <a:solidFill>
                <a:sysClr val="windowText" lastClr="000000"/>
              </a:solidFill>
              <a:effectLst/>
              <a:uLnTx/>
              <a:uFillTx/>
              <a:latin typeface="+mn-lt"/>
            </a:endParaRPr>
          </a:p>
        </p:txBody>
      </p:sp>
      <p:grpSp>
        <p:nvGrpSpPr>
          <p:cNvPr id="30" name="Google Shape;1980;p206">
            <a:extLst>
              <a:ext uri="{FF2B5EF4-FFF2-40B4-BE49-F238E27FC236}">
                <a16:creationId xmlns:a16="http://schemas.microsoft.com/office/drawing/2014/main" id="{E9234712-A20F-29F3-B283-A18C3B8B643F}"/>
              </a:ext>
            </a:extLst>
          </p:cNvPr>
          <p:cNvGrpSpPr/>
          <p:nvPr/>
        </p:nvGrpSpPr>
        <p:grpSpPr>
          <a:xfrm>
            <a:off x="433136" y="2332815"/>
            <a:ext cx="1080160" cy="324120"/>
            <a:chOff x="266274" y="2335911"/>
            <a:chExt cx="1440213" cy="432160"/>
          </a:xfrm>
        </p:grpSpPr>
        <p:grpSp>
          <p:nvGrpSpPr>
            <p:cNvPr id="31" name="Google Shape;1981;p206">
              <a:extLst>
                <a:ext uri="{FF2B5EF4-FFF2-40B4-BE49-F238E27FC236}">
                  <a16:creationId xmlns:a16="http://schemas.microsoft.com/office/drawing/2014/main" id="{77675B2D-6D0A-3F4D-06DD-2122EEF91B4D}"/>
                </a:ext>
              </a:extLst>
            </p:cNvPr>
            <p:cNvGrpSpPr/>
            <p:nvPr/>
          </p:nvGrpSpPr>
          <p:grpSpPr>
            <a:xfrm>
              <a:off x="288089" y="2374513"/>
              <a:ext cx="1387295" cy="346754"/>
              <a:chOff x="288089" y="2386835"/>
              <a:chExt cx="1387295" cy="346754"/>
            </a:xfrm>
          </p:grpSpPr>
          <p:pic>
            <p:nvPicPr>
              <p:cNvPr id="33" name="Google Shape;1982;p206" descr="A black background with a black square&#10;&#10;AI-generated content may be incorrect.">
                <a:extLst>
                  <a:ext uri="{FF2B5EF4-FFF2-40B4-BE49-F238E27FC236}">
                    <a16:creationId xmlns:a16="http://schemas.microsoft.com/office/drawing/2014/main" id="{F129295C-F224-7FB5-895D-99F16DBAB180}"/>
                  </a:ext>
                </a:extLst>
              </p:cNvPr>
              <p:cNvPicPr preferRelativeResize="0"/>
              <p:nvPr/>
            </p:nvPicPr>
            <p:blipFill rotWithShape="1">
              <a:blip r:embed="rId4">
                <a:alphaModFix/>
              </a:blip>
              <a:srcRect t="1" r="70451" b="1366"/>
              <a:stretch/>
            </p:blipFill>
            <p:spPr>
              <a:xfrm>
                <a:off x="288089" y="2386835"/>
                <a:ext cx="331270" cy="306342"/>
              </a:xfrm>
              <a:prstGeom prst="rect">
                <a:avLst/>
              </a:prstGeom>
              <a:solidFill>
                <a:srgbClr val="FFFFFF"/>
              </a:solidFill>
              <a:ln>
                <a:noFill/>
              </a:ln>
            </p:spPr>
          </p:pic>
          <p:sp>
            <p:nvSpPr>
              <p:cNvPr id="34" name="Google Shape;1983;p206">
                <a:extLst>
                  <a:ext uri="{FF2B5EF4-FFF2-40B4-BE49-F238E27FC236}">
                    <a16:creationId xmlns:a16="http://schemas.microsoft.com/office/drawing/2014/main" id="{514D56D8-9816-B24E-9C20-0A4CB3E8F63B}"/>
                  </a:ext>
                </a:extLst>
              </p:cNvPr>
              <p:cNvSpPr txBox="1"/>
              <p:nvPr/>
            </p:nvSpPr>
            <p:spPr>
              <a:xfrm>
                <a:off x="562658" y="2395036"/>
                <a:ext cx="1112726" cy="338553"/>
              </a:xfrm>
              <a:prstGeom prst="rect">
                <a:avLst/>
              </a:prstGeom>
              <a:noFill/>
              <a:ln>
                <a:noFill/>
              </a:ln>
            </p:spPr>
            <p:txBody>
              <a:bodyPr spcFirstLastPara="1" wrap="square" lIns="68575" tIns="34275" rIns="68575" bIns="34275"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 sz="600" b="0" i="0" u="none" strike="noStrike" kern="0" cap="none" spc="0" normalizeH="0" baseline="0" noProof="0">
                    <a:ln>
                      <a:noFill/>
                    </a:ln>
                    <a:solidFill>
                      <a:sysClr val="windowText" lastClr="000000"/>
                    </a:solidFill>
                    <a:effectLst/>
                    <a:uLnTx/>
                    <a:uFillTx/>
                    <a:latin typeface="+mn-lt"/>
                    <a:ea typeface="IBM Plex Sans"/>
                    <a:cs typeface="IBM Plex Sans"/>
                    <a:sym typeface="IBM Plex Sans"/>
                  </a:rPr>
                  <a:t>Gateway API Inference Extension</a:t>
                </a:r>
                <a:endParaRPr kumimoji="0" sz="600" b="0" i="0" u="none" strike="noStrike" kern="0" cap="none" spc="0" normalizeH="0" baseline="0" noProof="0" dirty="0">
                  <a:ln>
                    <a:noFill/>
                  </a:ln>
                  <a:solidFill>
                    <a:sysClr val="windowText" lastClr="000000"/>
                  </a:solidFill>
                  <a:effectLst/>
                  <a:uLnTx/>
                  <a:uFillTx/>
                  <a:latin typeface="+mn-lt"/>
                  <a:ea typeface="IBM Plex Sans"/>
                  <a:cs typeface="IBM Plex Sans"/>
                  <a:sym typeface="IBM Plex Sans"/>
                </a:endParaRPr>
              </a:p>
            </p:txBody>
          </p:sp>
        </p:grpSp>
        <p:sp>
          <p:nvSpPr>
            <p:cNvPr id="32" name="Google Shape;1984;p206">
              <a:extLst>
                <a:ext uri="{FF2B5EF4-FFF2-40B4-BE49-F238E27FC236}">
                  <a16:creationId xmlns:a16="http://schemas.microsoft.com/office/drawing/2014/main" id="{3B48979A-1395-A71A-AAA2-BB874E8BB920}"/>
                </a:ext>
              </a:extLst>
            </p:cNvPr>
            <p:cNvSpPr/>
            <p:nvPr/>
          </p:nvSpPr>
          <p:spPr>
            <a:xfrm>
              <a:off x="266274" y="2335911"/>
              <a:ext cx="1440213" cy="432160"/>
            </a:xfrm>
            <a:prstGeom prst="rect">
              <a:avLst/>
            </a:prstGeom>
            <a:noFill/>
            <a:ln w="9525" cap="flat" cmpd="sng">
              <a:solidFill>
                <a:srgbClr val="316CE5">
                  <a:alpha val="41961"/>
                </a:srgbClr>
              </a:solidFill>
              <a:prstDash val="solid"/>
              <a:round/>
              <a:headEnd type="none" w="sm" len="sm"/>
              <a:tailEnd type="none" w="sm" len="sm"/>
            </a:ln>
          </p:spPr>
          <p:txBody>
            <a:bodyPr spcFirstLastPara="1" wrap="square" lIns="27000" tIns="27000" rIns="27000" bIns="27000" anchor="t" anchorCtr="0">
              <a:noAutofit/>
            </a:bodyPr>
            <a:lstStyle/>
            <a:p>
              <a:pPr marL="0" marR="0" lvl="0" indent="0" defTabSz="914400" eaLnBrk="1" fontAlgn="auto" latinLnBrk="0" hangingPunct="1">
                <a:lnSpc>
                  <a:spcPct val="90000"/>
                </a:lnSpc>
                <a:spcBef>
                  <a:spcPts val="0"/>
                </a:spcBef>
                <a:spcAft>
                  <a:spcPts val="0"/>
                </a:spcAft>
                <a:buClrTx/>
                <a:buSzPts val="1400"/>
                <a:buFont typeface="IBM Plex Sans Light"/>
                <a:buNone/>
                <a:tabLst/>
                <a:defRPr/>
              </a:pPr>
              <a:endParaRPr kumimoji="0" sz="1800" b="0" i="0" u="none" strike="noStrike" kern="0" cap="none" spc="0" normalizeH="0" baseline="0" noProof="0">
                <a:ln>
                  <a:noFill/>
                </a:ln>
                <a:solidFill>
                  <a:srgbClr val="191919"/>
                </a:solidFill>
                <a:effectLst/>
                <a:uLnTx/>
                <a:uFillTx/>
                <a:latin typeface="+mn-lt"/>
                <a:ea typeface="IBM Plex Sans"/>
                <a:cs typeface="IBM Plex Sans"/>
                <a:sym typeface="IBM Plex Sans"/>
              </a:endParaRPr>
            </a:p>
          </p:txBody>
        </p:sp>
      </p:grpSp>
      <p:sp>
        <p:nvSpPr>
          <p:cNvPr id="35" name="Google Shape;1965;p206">
            <a:extLst>
              <a:ext uri="{FF2B5EF4-FFF2-40B4-BE49-F238E27FC236}">
                <a16:creationId xmlns:a16="http://schemas.microsoft.com/office/drawing/2014/main" id="{2BA9DFB8-9EEB-D319-50C2-29BFCC73A35F}"/>
              </a:ext>
            </a:extLst>
          </p:cNvPr>
          <p:cNvSpPr/>
          <p:nvPr/>
        </p:nvSpPr>
        <p:spPr>
          <a:xfrm>
            <a:off x="506894" y="3321370"/>
            <a:ext cx="787909" cy="322964"/>
          </a:xfrm>
          <a:prstGeom prst="rect">
            <a:avLst/>
          </a:prstGeom>
          <a:noFill/>
          <a:ln w="12700" cap="flat" cmpd="sng">
            <a:solidFill>
              <a:srgbClr val="82B900">
                <a:alpha val="40000"/>
              </a:srgbClr>
            </a:solidFill>
            <a:prstDash val="solid"/>
            <a:round/>
            <a:headEnd type="none" w="sm" len="sm"/>
            <a:tailEnd type="none" w="sm" len="sm"/>
          </a:ln>
        </p:spPr>
        <p:txBody>
          <a:bodyPr spcFirstLastPara="1" wrap="square" lIns="27000" tIns="27000" rIns="27000" bIns="27000" anchor="t" anchorCtr="0">
            <a:noAutofit/>
          </a:bodyPr>
          <a:lstStyle/>
          <a:p>
            <a:pPr>
              <a:lnSpc>
                <a:spcPct val="90000"/>
              </a:lnSpc>
              <a:buSzPts val="1500"/>
              <a:buFont typeface="IBM Plex Sans Light"/>
              <a:buNone/>
              <a:defRPr/>
            </a:pPr>
            <a:endParaRPr sz="1500">
              <a:solidFill>
                <a:srgbClr val="191919"/>
              </a:solidFill>
              <a:latin typeface="+mn-lt"/>
              <a:ea typeface="IBM Plex Sans"/>
              <a:cs typeface="IBM Plex Sans"/>
              <a:sym typeface="IBM Plex Sans"/>
            </a:endParaRPr>
          </a:p>
        </p:txBody>
      </p:sp>
      <p:sp>
        <p:nvSpPr>
          <p:cNvPr id="36" name="Google Shape;1987;p206">
            <a:extLst>
              <a:ext uri="{FF2B5EF4-FFF2-40B4-BE49-F238E27FC236}">
                <a16:creationId xmlns:a16="http://schemas.microsoft.com/office/drawing/2014/main" id="{93B6C654-F9B4-DFCA-6357-27A7C6DD4381}"/>
              </a:ext>
            </a:extLst>
          </p:cNvPr>
          <p:cNvSpPr txBox="1"/>
          <p:nvPr/>
        </p:nvSpPr>
        <p:spPr>
          <a:xfrm>
            <a:off x="827830" y="3365664"/>
            <a:ext cx="456600" cy="223200"/>
          </a:xfrm>
          <a:prstGeom prst="rect">
            <a:avLst/>
          </a:prstGeom>
          <a:noFill/>
          <a:ln>
            <a:noFill/>
          </a:ln>
        </p:spPr>
        <p:txBody>
          <a:bodyPr spcFirstLastPara="1" wrap="square" lIns="68575" tIns="34275" rIns="68575" bIns="34275" anchor="t" anchorCtr="0">
            <a:spAutoFit/>
          </a:bodyPr>
          <a:lstStyle/>
          <a:p>
            <a:pPr marL="0" marR="0" lvl="0" indent="0" algn="ctr" defTabSz="914400" eaLnBrk="1" fontAlgn="auto" latinLnBrk="0" hangingPunct="1">
              <a:lnSpc>
                <a:spcPct val="100000"/>
              </a:lnSpc>
              <a:spcBef>
                <a:spcPts val="0"/>
              </a:spcBef>
              <a:spcAft>
                <a:spcPts val="0"/>
              </a:spcAft>
              <a:buClrTx/>
              <a:buSzPts val="1100"/>
              <a:buFont typeface="IBM Plex Sans"/>
              <a:buNone/>
              <a:tabLst/>
              <a:defRPr/>
            </a:pPr>
            <a:r>
              <a:rPr kumimoji="0" lang="en" sz="1000" b="1" i="0" u="none" strike="noStrike" kern="0" cap="none" spc="0" normalizeH="0" baseline="0" noProof="0">
                <a:ln>
                  <a:noFill/>
                </a:ln>
                <a:solidFill>
                  <a:sysClr val="windowText" lastClr="000000"/>
                </a:solidFill>
                <a:effectLst/>
                <a:uLnTx/>
                <a:uFillTx/>
                <a:latin typeface="+mn-lt"/>
                <a:ea typeface="IBM Plex Sans"/>
                <a:cs typeface="IBM Plex Sans"/>
                <a:sym typeface="IBM Plex Sans"/>
              </a:rPr>
              <a:t>NIXL</a:t>
            </a:r>
            <a:endParaRPr kumimoji="0" sz="1000" b="0" i="0" u="none" strike="noStrike" kern="0" cap="none" spc="0" normalizeH="0" baseline="0" noProof="0">
              <a:ln>
                <a:noFill/>
              </a:ln>
              <a:solidFill>
                <a:sysClr val="windowText" lastClr="000000"/>
              </a:solidFill>
              <a:effectLst/>
              <a:uLnTx/>
              <a:uFillTx/>
              <a:latin typeface="+mn-lt"/>
            </a:endParaRPr>
          </a:p>
        </p:txBody>
      </p:sp>
      <p:pic>
        <p:nvPicPr>
          <p:cNvPr id="37" name="Google Shape;1988;p206" descr="A green and black logo&#10;&#10;AI-generated content may be incorrect.">
            <a:extLst>
              <a:ext uri="{FF2B5EF4-FFF2-40B4-BE49-F238E27FC236}">
                <a16:creationId xmlns:a16="http://schemas.microsoft.com/office/drawing/2014/main" id="{51F324B6-8D1F-7CD5-E181-82FB7A92C785}"/>
              </a:ext>
            </a:extLst>
          </p:cNvPr>
          <p:cNvPicPr preferRelativeResize="0"/>
          <p:nvPr/>
        </p:nvPicPr>
        <p:blipFill rotWithShape="1">
          <a:blip r:embed="rId5">
            <a:alphaModFix/>
          </a:blip>
          <a:srcRect/>
          <a:stretch/>
        </p:blipFill>
        <p:spPr>
          <a:xfrm>
            <a:off x="556477" y="3378723"/>
            <a:ext cx="295126" cy="217310"/>
          </a:xfrm>
          <a:prstGeom prst="rect">
            <a:avLst/>
          </a:prstGeom>
          <a:noFill/>
          <a:ln>
            <a:noFill/>
          </a:ln>
        </p:spPr>
      </p:pic>
      <p:pic>
        <p:nvPicPr>
          <p:cNvPr id="39" name="Google Shape;3253;p347" title="image (1).png">
            <a:extLst>
              <a:ext uri="{FF2B5EF4-FFF2-40B4-BE49-F238E27FC236}">
                <a16:creationId xmlns:a16="http://schemas.microsoft.com/office/drawing/2014/main" id="{4965FB30-425E-50B8-58F1-B261B1F74AFC}"/>
              </a:ext>
            </a:extLst>
          </p:cNvPr>
          <p:cNvPicPr preferRelativeResize="0"/>
          <p:nvPr/>
        </p:nvPicPr>
        <p:blipFill rotWithShape="1">
          <a:blip r:embed="rId6">
            <a:alphaModFix/>
          </a:blip>
          <a:srcRect/>
          <a:stretch/>
        </p:blipFill>
        <p:spPr>
          <a:xfrm>
            <a:off x="3595488" y="4503884"/>
            <a:ext cx="1498475" cy="458500"/>
          </a:xfrm>
          <a:prstGeom prst="rect">
            <a:avLst/>
          </a:prstGeom>
          <a:noFill/>
          <a:ln>
            <a:noFill/>
          </a:ln>
        </p:spPr>
      </p:pic>
      <p:pic>
        <p:nvPicPr>
          <p:cNvPr id="40" name="Google Shape;3254;p347">
            <a:extLst>
              <a:ext uri="{FF2B5EF4-FFF2-40B4-BE49-F238E27FC236}">
                <a16:creationId xmlns:a16="http://schemas.microsoft.com/office/drawing/2014/main" id="{41F31096-14D0-289C-8067-6D843CFC668E}"/>
              </a:ext>
            </a:extLst>
          </p:cNvPr>
          <p:cNvPicPr preferRelativeResize="0"/>
          <p:nvPr/>
        </p:nvPicPr>
        <p:blipFill rotWithShape="1">
          <a:blip r:embed="rId7">
            <a:alphaModFix/>
          </a:blip>
          <a:srcRect/>
          <a:stretch/>
        </p:blipFill>
        <p:spPr>
          <a:xfrm>
            <a:off x="5584970" y="4575728"/>
            <a:ext cx="1780961" cy="314801"/>
          </a:xfrm>
          <a:prstGeom prst="rect">
            <a:avLst/>
          </a:prstGeom>
          <a:noFill/>
          <a:ln>
            <a:noFill/>
          </a:ln>
        </p:spPr>
      </p:pic>
      <p:pic>
        <p:nvPicPr>
          <p:cNvPr id="41" name="Google Shape;3255;p347">
            <a:extLst>
              <a:ext uri="{FF2B5EF4-FFF2-40B4-BE49-F238E27FC236}">
                <a16:creationId xmlns:a16="http://schemas.microsoft.com/office/drawing/2014/main" id="{C23CCDBF-3A0D-C267-8752-02BC2CFCE6CC}"/>
              </a:ext>
            </a:extLst>
          </p:cNvPr>
          <p:cNvPicPr preferRelativeResize="0"/>
          <p:nvPr/>
        </p:nvPicPr>
        <p:blipFill rotWithShape="1">
          <a:blip r:embed="rId8">
            <a:alphaModFix/>
          </a:blip>
          <a:srcRect/>
          <a:stretch/>
        </p:blipFill>
        <p:spPr>
          <a:xfrm>
            <a:off x="1855538" y="4536333"/>
            <a:ext cx="1373164" cy="393600"/>
          </a:xfrm>
          <a:prstGeom prst="rect">
            <a:avLst/>
          </a:prstGeom>
          <a:noFill/>
          <a:ln>
            <a:noFill/>
          </a:ln>
        </p:spPr>
      </p:pic>
    </p:spTree>
    <p:extLst>
      <p:ext uri="{BB962C8B-B14F-4D97-AF65-F5344CB8AC3E}">
        <p14:creationId xmlns:p14="http://schemas.microsoft.com/office/powerpoint/2010/main" val="1246562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223A9-45D2-042F-CACA-82BC763A8D75}"/>
              </a:ext>
            </a:extLst>
          </p:cNvPr>
          <p:cNvSpPr>
            <a:spLocks noGrp="1"/>
          </p:cNvSpPr>
          <p:nvPr>
            <p:ph type="title"/>
          </p:nvPr>
        </p:nvSpPr>
        <p:spPr/>
        <p:txBody>
          <a:bodyPr>
            <a:normAutofit/>
          </a:bodyPr>
          <a:lstStyle/>
          <a:p>
            <a:r>
              <a:rPr lang="en-US" altLang="zh-CN" dirty="0"/>
              <a:t>LLM-D</a:t>
            </a:r>
            <a:r>
              <a:rPr lang="zh-CN" altLang="en-US" dirty="0"/>
              <a:t> </a:t>
            </a:r>
            <a:r>
              <a:rPr lang="en" altLang="zh-CN" dirty="0">
                <a:sym typeface="IBM Plex Sans Light"/>
              </a:rPr>
              <a:t>has achieved so far</a:t>
            </a:r>
            <a:endParaRPr lang="zh-CN" altLang="en-US" dirty="0"/>
          </a:p>
        </p:txBody>
      </p:sp>
      <p:pic>
        <p:nvPicPr>
          <p:cNvPr id="4" name="Google Shape;2011;p207" descr="A graph with a red line&#10;&#10;AI-generated content may be incorrect.">
            <a:extLst>
              <a:ext uri="{FF2B5EF4-FFF2-40B4-BE49-F238E27FC236}">
                <a16:creationId xmlns:a16="http://schemas.microsoft.com/office/drawing/2014/main" id="{B6998E27-292F-8170-6199-9A0615202BAB}"/>
              </a:ext>
            </a:extLst>
          </p:cNvPr>
          <p:cNvPicPr preferRelativeResize="0"/>
          <p:nvPr/>
        </p:nvPicPr>
        <p:blipFill rotWithShape="1">
          <a:blip r:embed="rId3">
            <a:alphaModFix/>
          </a:blip>
          <a:srcRect/>
          <a:stretch/>
        </p:blipFill>
        <p:spPr>
          <a:xfrm>
            <a:off x="961146" y="4201279"/>
            <a:ext cx="1208906" cy="908693"/>
          </a:xfrm>
          <a:prstGeom prst="rect">
            <a:avLst/>
          </a:prstGeom>
          <a:noFill/>
          <a:ln w="9525" cap="flat" cmpd="sng">
            <a:solidFill>
              <a:srgbClr val="D8D8D8"/>
            </a:solidFill>
            <a:prstDash val="solid"/>
            <a:round/>
            <a:headEnd type="none" w="sm" len="sm"/>
            <a:tailEnd type="none" w="sm" len="sm"/>
          </a:ln>
        </p:spPr>
      </p:pic>
      <p:sp>
        <p:nvSpPr>
          <p:cNvPr id="5" name="Google Shape;2012;p207">
            <a:extLst>
              <a:ext uri="{FF2B5EF4-FFF2-40B4-BE49-F238E27FC236}">
                <a16:creationId xmlns:a16="http://schemas.microsoft.com/office/drawing/2014/main" id="{15879AF3-79DD-8683-D2A1-56B1E01B06A4}"/>
              </a:ext>
            </a:extLst>
          </p:cNvPr>
          <p:cNvSpPr txBox="1">
            <a:spLocks/>
          </p:cNvSpPr>
          <p:nvPr/>
        </p:nvSpPr>
        <p:spPr>
          <a:xfrm>
            <a:off x="609484" y="2571750"/>
            <a:ext cx="3962516" cy="193098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10000"/>
              </a:lnSpc>
              <a:spcBef>
                <a:spcPts val="0"/>
              </a:spcBef>
              <a:spcAft>
                <a:spcPts val="0"/>
              </a:spcAft>
              <a:buClr>
                <a:schemeClr val="lt1"/>
              </a:buClr>
              <a:buSzPts val="1100"/>
              <a:buFont typeface="IBM Plex Sans Light"/>
              <a:buNone/>
              <a:defRPr sz="1100" b="0" i="0" u="none" strike="noStrike" cap="none">
                <a:solidFill>
                  <a:schemeClr val="lt1"/>
                </a:solidFill>
                <a:latin typeface="IBM Plex Sans Light"/>
                <a:ea typeface="IBM Plex Sans Light"/>
                <a:cs typeface="IBM Plex Sans Light"/>
                <a:sym typeface="IBM Plex Sans Light"/>
              </a:defRPr>
            </a:lvl1pPr>
            <a:lvl2pPr marL="914400" marR="0" lvl="1" indent="-298450" algn="l" rtl="0">
              <a:lnSpc>
                <a:spcPct val="110000"/>
              </a:lnSpc>
              <a:spcBef>
                <a:spcPts val="0"/>
              </a:spcBef>
              <a:spcAft>
                <a:spcPts val="0"/>
              </a:spcAft>
              <a:buClr>
                <a:schemeClr val="lt1"/>
              </a:buClr>
              <a:buSzPts val="1100"/>
              <a:buFont typeface="IBM Plex Sans Light"/>
              <a:buChar char="–"/>
              <a:defRPr sz="1100" b="0" i="0" u="none" strike="noStrike" cap="none">
                <a:solidFill>
                  <a:schemeClr val="lt1"/>
                </a:solidFill>
                <a:latin typeface="IBM Plex Sans Light"/>
                <a:ea typeface="IBM Plex Sans Light"/>
                <a:cs typeface="IBM Plex Sans Light"/>
                <a:sym typeface="IBM Plex Sans Light"/>
              </a:defRPr>
            </a:lvl2pPr>
            <a:lvl3pPr marL="1371600" marR="0" lvl="2" indent="-298450" algn="l" rtl="0">
              <a:lnSpc>
                <a:spcPct val="110000"/>
              </a:lnSpc>
              <a:spcBef>
                <a:spcPts val="0"/>
              </a:spcBef>
              <a:spcAft>
                <a:spcPts val="0"/>
              </a:spcAft>
              <a:buClr>
                <a:schemeClr val="lt1"/>
              </a:buClr>
              <a:buSzPts val="1100"/>
              <a:buFont typeface="IBM Plex Sans Light"/>
              <a:buChar char="•"/>
              <a:defRPr sz="1100" b="0" i="0" u="none" strike="noStrike" cap="none">
                <a:solidFill>
                  <a:schemeClr val="lt1"/>
                </a:solidFill>
                <a:latin typeface="IBM Plex Sans Light"/>
                <a:ea typeface="IBM Plex Sans Light"/>
                <a:cs typeface="IBM Plex Sans Light"/>
                <a:sym typeface="IBM Plex Sans Light"/>
              </a:defRPr>
            </a:lvl3pPr>
            <a:lvl4pPr marL="1828800" marR="0" lvl="3" indent="-298450" algn="l" rtl="0">
              <a:lnSpc>
                <a:spcPct val="110000"/>
              </a:lnSpc>
              <a:spcBef>
                <a:spcPts val="0"/>
              </a:spcBef>
              <a:spcAft>
                <a:spcPts val="0"/>
              </a:spcAft>
              <a:buClr>
                <a:schemeClr val="lt1"/>
              </a:buClr>
              <a:buSzPts val="1100"/>
              <a:buFont typeface="IBM Plex Sans Light"/>
              <a:buChar char="–"/>
              <a:defRPr sz="1100" b="0" i="0" u="none" strike="noStrike" cap="none">
                <a:solidFill>
                  <a:schemeClr val="lt1"/>
                </a:solidFill>
                <a:latin typeface="IBM Plex Sans Light"/>
                <a:ea typeface="IBM Plex Sans Light"/>
                <a:cs typeface="IBM Plex Sans Light"/>
                <a:sym typeface="IBM Plex Sans Light"/>
              </a:defRPr>
            </a:lvl4pPr>
            <a:lvl5pPr marL="2286000" marR="0" lvl="4" indent="-298450" algn="l" rtl="0">
              <a:lnSpc>
                <a:spcPct val="110000"/>
              </a:lnSpc>
              <a:spcBef>
                <a:spcPts val="0"/>
              </a:spcBef>
              <a:spcAft>
                <a:spcPts val="0"/>
              </a:spcAft>
              <a:buClr>
                <a:schemeClr val="lt1"/>
              </a:buClr>
              <a:buSzPts val="1100"/>
              <a:buFont typeface="IBM Plex Sans"/>
              <a:buChar char="•"/>
              <a:defRPr sz="1100" b="0" i="0" u="none" strike="noStrike" cap="none">
                <a:solidFill>
                  <a:schemeClr val="lt1"/>
                </a:solidFill>
                <a:latin typeface="IBM Plex Sans Light"/>
                <a:ea typeface="IBM Plex Sans Light"/>
                <a:cs typeface="IBM Plex Sans Light"/>
                <a:sym typeface="IBM Plex Sans Light"/>
              </a:defRPr>
            </a:lvl5pPr>
            <a:lvl6pPr marL="2743200" marR="0" lvl="5" indent="-317500" algn="l" rtl="0">
              <a:lnSpc>
                <a:spcPct val="100000"/>
              </a:lnSpc>
              <a:spcBef>
                <a:spcPts val="1100"/>
              </a:spcBef>
              <a:spcAft>
                <a:spcPts val="0"/>
              </a:spcAft>
              <a:buClr>
                <a:srgbClr val="000000"/>
              </a:buClr>
              <a:buSzPts val="1400"/>
              <a:buFont typeface="IBM Plex Sans Light"/>
              <a:buChar char="»"/>
              <a:defRPr sz="1400" b="0" i="0" u="none" strike="noStrike" cap="none">
                <a:solidFill>
                  <a:srgbClr val="000000"/>
                </a:solidFill>
                <a:latin typeface="IBM Plex Sans Light"/>
                <a:ea typeface="IBM Plex Sans Light"/>
                <a:cs typeface="IBM Plex Sans Light"/>
                <a:sym typeface="IBM Plex Sans Light"/>
              </a:defRPr>
            </a:lvl6pPr>
            <a:lvl7pPr marL="3200400" marR="0" lvl="6" indent="-317500" algn="l" rtl="0">
              <a:lnSpc>
                <a:spcPct val="100000"/>
              </a:lnSpc>
              <a:spcBef>
                <a:spcPts val="1100"/>
              </a:spcBef>
              <a:spcAft>
                <a:spcPts val="0"/>
              </a:spcAft>
              <a:buClr>
                <a:srgbClr val="000000"/>
              </a:buClr>
              <a:buSzPts val="1400"/>
              <a:buFont typeface="IBM Plex Sans Light"/>
              <a:buChar char="»"/>
              <a:defRPr sz="1400" b="0" i="0" u="none" strike="noStrike" cap="none">
                <a:solidFill>
                  <a:srgbClr val="000000"/>
                </a:solidFill>
                <a:latin typeface="IBM Plex Sans Light"/>
                <a:ea typeface="IBM Plex Sans Light"/>
                <a:cs typeface="IBM Plex Sans Light"/>
                <a:sym typeface="IBM Plex Sans Light"/>
              </a:defRPr>
            </a:lvl7pPr>
            <a:lvl8pPr marL="3657600" marR="0" lvl="7" indent="-317500" algn="l" rtl="0">
              <a:lnSpc>
                <a:spcPct val="100000"/>
              </a:lnSpc>
              <a:spcBef>
                <a:spcPts val="1100"/>
              </a:spcBef>
              <a:spcAft>
                <a:spcPts val="0"/>
              </a:spcAft>
              <a:buClr>
                <a:srgbClr val="000000"/>
              </a:buClr>
              <a:buSzPts val="1400"/>
              <a:buFont typeface="IBM Plex Sans Light"/>
              <a:buChar char="»"/>
              <a:defRPr sz="1400" b="0" i="0" u="none" strike="noStrike" cap="none">
                <a:solidFill>
                  <a:srgbClr val="000000"/>
                </a:solidFill>
                <a:latin typeface="IBM Plex Sans Light"/>
                <a:ea typeface="IBM Plex Sans Light"/>
                <a:cs typeface="IBM Plex Sans Light"/>
                <a:sym typeface="IBM Plex Sans Light"/>
              </a:defRPr>
            </a:lvl8pPr>
            <a:lvl9pPr marL="4114800" marR="0" lvl="8" indent="-317500" algn="l" rtl="0">
              <a:lnSpc>
                <a:spcPct val="100000"/>
              </a:lnSpc>
              <a:spcBef>
                <a:spcPts val="1100"/>
              </a:spcBef>
              <a:spcAft>
                <a:spcPts val="0"/>
              </a:spcAft>
              <a:buClr>
                <a:srgbClr val="000000"/>
              </a:buClr>
              <a:buSzPts val="1400"/>
              <a:buFont typeface="IBM Plex Sans Light"/>
              <a:buChar char="»"/>
              <a:defRPr sz="1400" b="0" i="0" u="none" strike="noStrike" cap="none">
                <a:solidFill>
                  <a:srgbClr val="000000"/>
                </a:solidFill>
                <a:latin typeface="IBM Plex Sans Light"/>
                <a:ea typeface="IBM Plex Sans Light"/>
                <a:cs typeface="IBM Plex Sans Light"/>
                <a:sym typeface="IBM Plex Sans Light"/>
              </a:defRPr>
            </a:lvl9pPr>
          </a:lstStyle>
          <a:p>
            <a:pPr marL="0" marR="0" lvl="1" indent="0" algn="l" defTabSz="914400" rtl="0" eaLnBrk="1" fontAlgn="auto" latinLnBrk="0" hangingPunct="1">
              <a:lnSpc>
                <a:spcPct val="110000"/>
              </a:lnSpc>
              <a:spcBef>
                <a:spcPts val="0"/>
              </a:spcBef>
              <a:spcAft>
                <a:spcPts val="0"/>
              </a:spcAft>
              <a:buClr>
                <a:srgbClr val="000000"/>
              </a:buClr>
              <a:buSzPts val="800"/>
              <a:buFont typeface="IBM Plex Sans"/>
              <a:buNone/>
              <a:tabLst/>
              <a:defRPr/>
            </a:pPr>
            <a:r>
              <a:rPr kumimoji="0" lang="en"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Cross-vendor</a:t>
            </a:r>
            <a:r>
              <a:rPr kumimoji="0" lang="en" sz="900" b="0" i="0" u="none" strike="noStrike" kern="0" cap="none" spc="0" normalizeH="0" baseline="0" noProof="0" dirty="0">
                <a:ln>
                  <a:noFill/>
                </a:ln>
                <a:solidFill>
                  <a:srgbClr val="000000"/>
                </a:solidFill>
                <a:effectLst/>
                <a:uLnTx/>
                <a:uFillTx/>
                <a:latin typeface="IBM Plex Sans Light"/>
                <a:sym typeface="IBM Plex Sans Light"/>
              </a:rPr>
              <a:t> effort establishing a common stack for distributed inference</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a:p>
            <a:pPr marL="0" marR="0" lvl="1" indent="0" algn="l" defTabSz="914400" rtl="0" eaLnBrk="1" fontAlgn="auto" latinLnBrk="0" hangingPunct="1">
              <a:lnSpc>
                <a:spcPct val="110000"/>
              </a:lnSpc>
              <a:spcBef>
                <a:spcPts val="700"/>
              </a:spcBef>
              <a:spcAft>
                <a:spcPts val="0"/>
              </a:spcAft>
              <a:buClr>
                <a:srgbClr val="000000"/>
              </a:buClr>
              <a:buSzPts val="800"/>
              <a:buFont typeface="IBM Plex Sans Light"/>
              <a:buNone/>
              <a:tabLst/>
              <a:defRPr/>
            </a:pPr>
            <a:r>
              <a:rPr kumimoji="0" lang="en" sz="900" b="0" i="0" u="none" strike="noStrike" kern="0" cap="none" spc="0" normalizeH="0" baseline="0" noProof="0" dirty="0">
                <a:ln>
                  <a:noFill/>
                </a:ln>
                <a:solidFill>
                  <a:srgbClr val="000000"/>
                </a:solidFill>
                <a:effectLst/>
                <a:uLnTx/>
                <a:uFillTx/>
                <a:latin typeface="IBM Plex Sans Light"/>
                <a:sym typeface="IBM Plex Sans Light"/>
              </a:rPr>
              <a:t>Pioneered </a:t>
            </a:r>
            <a:r>
              <a:rPr kumimoji="0" lang="en"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core primitives </a:t>
            </a:r>
            <a:r>
              <a:rPr kumimoji="0" lang="en" sz="900" b="0" i="0" u="none" strike="noStrike" kern="0" cap="none" spc="0" normalizeH="0" baseline="0" noProof="0" dirty="0">
                <a:ln>
                  <a:noFill/>
                </a:ln>
                <a:solidFill>
                  <a:srgbClr val="000000"/>
                </a:solidFill>
                <a:effectLst/>
                <a:uLnTx/>
                <a:uFillTx/>
                <a:latin typeface="IBM Plex Sans Light"/>
                <a:sym typeface="IBM Plex Sans Light"/>
              </a:rPr>
              <a:t>for scaling serving cost-efficiently on Kubernetes</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a:p>
            <a:pPr marL="0" marR="0" lvl="1" indent="0" algn="l" defTabSz="914400" rtl="0" eaLnBrk="1" fontAlgn="auto" latinLnBrk="0" hangingPunct="1">
              <a:lnSpc>
                <a:spcPct val="110000"/>
              </a:lnSpc>
              <a:spcBef>
                <a:spcPts val="700"/>
              </a:spcBef>
              <a:spcAft>
                <a:spcPts val="0"/>
              </a:spcAft>
              <a:buClr>
                <a:srgbClr val="000000"/>
              </a:buClr>
              <a:buSzPts val="800"/>
              <a:buFont typeface="IBM Plex Sans Light"/>
              <a:buNone/>
              <a:tabLst/>
              <a:defRPr/>
            </a:pPr>
            <a:r>
              <a:rPr kumimoji="0" lang="en" sz="900" b="0" i="0" u="none" strike="noStrike" kern="0" cap="none" spc="0" normalizeH="0" baseline="0" noProof="0" dirty="0">
                <a:ln>
                  <a:noFill/>
                </a:ln>
                <a:solidFill>
                  <a:srgbClr val="000000"/>
                </a:solidFill>
                <a:effectLst/>
                <a:uLnTx/>
                <a:uFillTx/>
                <a:latin typeface="IBM Plex Sans Light"/>
                <a:sym typeface="IBM Plex Sans Light"/>
              </a:rPr>
              <a:t>Among the fastest-growing projects in the inference space</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a:p>
            <a:pPr marL="0" marR="0" lvl="1" indent="0" algn="l" defTabSz="914400" rtl="0" eaLnBrk="1" fontAlgn="auto" latinLnBrk="0" hangingPunct="1">
              <a:lnSpc>
                <a:spcPct val="110000"/>
              </a:lnSpc>
              <a:spcBef>
                <a:spcPts val="700"/>
              </a:spcBef>
              <a:spcAft>
                <a:spcPts val="0"/>
              </a:spcAft>
              <a:buClr>
                <a:srgbClr val="000000"/>
              </a:buClr>
              <a:buSzPts val="800"/>
              <a:buFont typeface="IBM Plex Sans Light"/>
              <a:buNone/>
              <a:tabLst/>
              <a:defRPr/>
            </a:pPr>
            <a:r>
              <a:rPr kumimoji="0" lang="en" sz="900" b="0" i="0" u="none" strike="noStrike" kern="0" cap="none" spc="0" normalizeH="0" baseline="0" noProof="0" dirty="0">
                <a:ln>
                  <a:noFill/>
                </a:ln>
                <a:solidFill>
                  <a:srgbClr val="000000"/>
                </a:solidFill>
                <a:effectLst/>
                <a:uLnTx/>
                <a:uFillTx/>
                <a:latin typeface="IBM Plex Sans Light"/>
                <a:sym typeface="IBM Plex Sans Light"/>
              </a:rPr>
              <a:t>GitHub stars from </a:t>
            </a:r>
            <a:r>
              <a:rPr kumimoji="0" lang="en"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500+ </a:t>
            </a:r>
            <a:r>
              <a:rPr kumimoji="0" lang="en" sz="900" b="0" i="0" u="none" strike="noStrike" kern="0" cap="none" spc="0" normalizeH="0" baseline="0" noProof="0" dirty="0">
                <a:ln>
                  <a:noFill/>
                </a:ln>
                <a:solidFill>
                  <a:srgbClr val="000000"/>
                </a:solidFill>
                <a:effectLst/>
                <a:uLnTx/>
                <a:uFillTx/>
                <a:latin typeface="IBM Plex Sans Light"/>
                <a:sym typeface="IBM Plex Sans Light"/>
              </a:rPr>
              <a:t>unique institutions across commercial, academic, </a:t>
            </a:r>
            <a:br>
              <a:rPr kumimoji="0" lang="en" sz="900" b="0" i="0" u="none" strike="noStrike" kern="0" cap="none" spc="0" normalizeH="0" baseline="0" noProof="0" dirty="0">
                <a:ln>
                  <a:noFill/>
                </a:ln>
                <a:solidFill>
                  <a:srgbClr val="000000"/>
                </a:solidFill>
                <a:effectLst/>
                <a:uLnTx/>
                <a:uFillTx/>
                <a:latin typeface="IBM Plex Sans Light"/>
                <a:sym typeface="IBM Plex Sans Light"/>
              </a:rPr>
            </a:br>
            <a:r>
              <a:rPr kumimoji="0" lang="en" sz="900" b="0" i="0" u="none" strike="noStrike" kern="0" cap="none" spc="0" normalizeH="0" baseline="0" noProof="0" dirty="0">
                <a:ln>
                  <a:noFill/>
                </a:ln>
                <a:solidFill>
                  <a:srgbClr val="000000"/>
                </a:solidFill>
                <a:effectLst/>
                <a:uLnTx/>
                <a:uFillTx/>
                <a:latin typeface="IBM Plex Sans Light"/>
                <a:sym typeface="IBM Plex Sans Light"/>
              </a:rPr>
              <a:t>and research communities</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a:p>
            <a:pPr marL="0" marR="0" lvl="1" indent="0" algn="l" defTabSz="914400" rtl="0" eaLnBrk="1" fontAlgn="auto" latinLnBrk="0" hangingPunct="1">
              <a:lnSpc>
                <a:spcPct val="110000"/>
              </a:lnSpc>
              <a:spcBef>
                <a:spcPts val="700"/>
              </a:spcBef>
              <a:spcAft>
                <a:spcPts val="0"/>
              </a:spcAft>
              <a:buClr>
                <a:srgbClr val="000000"/>
              </a:buClr>
              <a:buSzPts val="800"/>
              <a:buFont typeface="IBM Plex Sans"/>
              <a:buNone/>
              <a:tabLst/>
              <a:defRPr/>
            </a:pPr>
            <a:r>
              <a:rPr kumimoji="0" lang="en" sz="9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Organic engagement</a:t>
            </a:r>
            <a:r>
              <a:rPr kumimoji="0" lang="en" sz="900" b="0" i="0" u="none" strike="noStrike" kern="0" cap="none" spc="0" normalizeH="0" baseline="0" noProof="0" dirty="0">
                <a:ln>
                  <a:noFill/>
                </a:ln>
                <a:solidFill>
                  <a:srgbClr val="000000"/>
                </a:solidFill>
                <a:effectLst/>
                <a:uLnTx/>
                <a:uFillTx/>
                <a:latin typeface="IBM Plex Sans Light"/>
                <a:sym typeface="IBM Plex Sans Light"/>
              </a:rPr>
              <a:t>, exploration, and </a:t>
            </a:r>
            <a:r>
              <a:rPr kumimoji="0" lang="en"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adoption</a:t>
            </a:r>
            <a:r>
              <a:rPr kumimoji="0" lang="en" sz="900" b="0" i="0" u="none" strike="noStrike" kern="0" cap="none" spc="0" normalizeH="0" baseline="0" noProof="0" dirty="0">
                <a:ln>
                  <a:noFill/>
                </a:ln>
                <a:solidFill>
                  <a:srgbClr val="000000"/>
                </a:solidFill>
                <a:effectLst/>
                <a:uLnTx/>
                <a:uFillTx/>
                <a:latin typeface="IBM Plex Sans Light"/>
                <a:sym typeface="IBM Plex Sans Light"/>
              </a:rPr>
              <a:t>, from  self-hosting startups to large enterprises </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a:p>
            <a:pPr marL="0" marR="0" lvl="1" indent="0" algn="l" defTabSz="914400" rtl="0" eaLnBrk="1" fontAlgn="auto" latinLnBrk="0" hangingPunct="1">
              <a:lnSpc>
                <a:spcPct val="110000"/>
              </a:lnSpc>
              <a:spcBef>
                <a:spcPts val="700"/>
              </a:spcBef>
              <a:spcAft>
                <a:spcPts val="0"/>
              </a:spcAft>
              <a:buClr>
                <a:srgbClr val="000000"/>
              </a:buClr>
              <a:buSzPts val="800"/>
              <a:buFont typeface="IBM Plex Sans Light"/>
              <a:buNone/>
              <a:tabLst/>
              <a:defRPr/>
            </a:pPr>
            <a:r>
              <a:rPr kumimoji="0" lang="en" sz="900" b="0" i="0" u="none" strike="noStrike" kern="0" cap="none" spc="0" normalizeH="0" baseline="0" noProof="0" dirty="0">
                <a:ln>
                  <a:noFill/>
                </a:ln>
                <a:solidFill>
                  <a:srgbClr val="000000"/>
                </a:solidFill>
                <a:effectLst/>
                <a:uLnTx/>
                <a:uFillTx/>
                <a:latin typeface="IBM Plex Sans Light"/>
                <a:sym typeface="IBM Plex Sans Light"/>
              </a:rPr>
              <a:t>Downstream in existing and upcoming commercial offerings (e.g. Red Hat® AI 3)</a:t>
            </a:r>
            <a:endParaRPr kumimoji="0" lang="en" sz="1200" b="0" i="0" u="none" strike="noStrike" kern="0" cap="none" spc="0" normalizeH="0" baseline="0" noProof="0" dirty="0">
              <a:ln>
                <a:noFill/>
              </a:ln>
              <a:solidFill>
                <a:srgbClr val="000000"/>
              </a:solidFill>
              <a:effectLst/>
              <a:uLnTx/>
              <a:uFillTx/>
              <a:latin typeface="IBM Plex Sans Light"/>
              <a:sym typeface="IBM Plex Sans Light"/>
            </a:endParaRPr>
          </a:p>
        </p:txBody>
      </p:sp>
      <p:sp>
        <p:nvSpPr>
          <p:cNvPr id="6" name="Google Shape;2013;p207">
            <a:extLst>
              <a:ext uri="{FF2B5EF4-FFF2-40B4-BE49-F238E27FC236}">
                <a16:creationId xmlns:a16="http://schemas.microsoft.com/office/drawing/2014/main" id="{3C962F2B-69D2-0E59-292F-D7AE5E5A1436}"/>
              </a:ext>
            </a:extLst>
          </p:cNvPr>
          <p:cNvSpPr txBox="1"/>
          <p:nvPr/>
        </p:nvSpPr>
        <p:spPr>
          <a:xfrm>
            <a:off x="251456" y="1242915"/>
            <a:ext cx="3865107" cy="344846"/>
          </a:xfrm>
          <a:prstGeom prst="rect">
            <a:avLst/>
          </a:prstGeom>
          <a:noFill/>
          <a:ln>
            <a:noFill/>
          </a:ln>
        </p:spPr>
        <p:txBody>
          <a:bodyPr spcFirstLastPara="1" wrap="square" lIns="0" tIns="0" rIns="0" bIns="0" anchor="t" anchorCtr="0">
            <a:noAutofit/>
          </a:bodyPr>
          <a:lstStyle/>
          <a:p>
            <a:pPr marL="0" marR="0" lvl="0" indent="0" defTabSz="914400" eaLnBrk="1" fontAlgn="auto" latinLnBrk="0" hangingPunct="1">
              <a:lnSpc>
                <a:spcPct val="110000"/>
              </a:lnSpc>
              <a:spcBef>
                <a:spcPts val="0"/>
              </a:spcBef>
              <a:spcAft>
                <a:spcPts val="0"/>
              </a:spcAft>
              <a:buClrTx/>
              <a:buSzPts val="1100"/>
              <a:buFont typeface="IBM Plex Sans"/>
              <a:buNone/>
              <a:tabLst/>
              <a:defRPr/>
            </a:pPr>
            <a:r>
              <a:rPr kumimoji="0" lang="en" sz="1100" b="0" i="0" u="none" strike="noStrike" kern="0" cap="none" spc="0" normalizeH="0" baseline="0" noProof="0">
                <a:ln>
                  <a:noFill/>
                </a:ln>
                <a:solidFill>
                  <a:sysClr val="windowText" lastClr="000000"/>
                </a:solidFill>
                <a:effectLst/>
                <a:uLnTx/>
                <a:uFillTx/>
                <a:latin typeface="IBM Plex Sans"/>
                <a:ea typeface="IBM Plex Sans"/>
                <a:cs typeface="IBM Plex Sans"/>
                <a:sym typeface="IBM Plex Sans"/>
              </a:rPr>
              <a:t>Laying the foundation for a common platform…</a:t>
            </a:r>
            <a:endParaRPr kumimoji="0" sz="1100" b="0" i="0" u="none" strike="noStrike" kern="0" cap="none" spc="0" normalizeH="0" baseline="0" noProof="0">
              <a:ln>
                <a:noFill/>
              </a:ln>
              <a:solidFill>
                <a:sysClr val="windowText" lastClr="000000"/>
              </a:solidFill>
              <a:effectLst/>
              <a:uLnTx/>
              <a:uFillTx/>
            </a:endParaRPr>
          </a:p>
        </p:txBody>
      </p:sp>
      <p:sp>
        <p:nvSpPr>
          <p:cNvPr id="7" name="Google Shape;2014;p207">
            <a:extLst>
              <a:ext uri="{FF2B5EF4-FFF2-40B4-BE49-F238E27FC236}">
                <a16:creationId xmlns:a16="http://schemas.microsoft.com/office/drawing/2014/main" id="{E1D31B77-7729-A17D-C481-EC3E4F6CD7E5}"/>
              </a:ext>
            </a:extLst>
          </p:cNvPr>
          <p:cNvSpPr/>
          <p:nvPr/>
        </p:nvSpPr>
        <p:spPr>
          <a:xfrm>
            <a:off x="620215" y="1769432"/>
            <a:ext cx="3801680" cy="620646"/>
          </a:xfrm>
          <a:prstGeom prst="rect">
            <a:avLst/>
          </a:prstGeom>
          <a:noFill/>
          <a:ln w="12700" cap="flat" cmpd="sng">
            <a:solidFill>
              <a:srgbClr val="7F317F"/>
            </a:solidFill>
            <a:prstDash val="solid"/>
            <a:round/>
            <a:headEnd type="none" w="sm" len="sm"/>
            <a:tailEnd type="none" w="sm" len="sm"/>
          </a:ln>
        </p:spPr>
        <p:txBody>
          <a:bodyPr spcFirstLastPara="1" wrap="square" lIns="34275" tIns="34275" rIns="34275" bIns="34275" anchor="t" anchorCtr="0">
            <a:noAutofit/>
          </a:bodyPr>
          <a:lstStyle/>
          <a:p>
            <a:pPr>
              <a:buClr>
                <a:srgbClr val="FFFFFF"/>
              </a:buClr>
              <a:buSzPts val="500"/>
              <a:buFont typeface="IBM Plex Sans Light"/>
              <a:buNone/>
              <a:defRPr/>
            </a:pPr>
            <a:endParaRPr sz="500">
              <a:solidFill>
                <a:srgbClr val="FFFFFF"/>
              </a:solidFill>
              <a:latin typeface="IBM Plex Sans Light"/>
              <a:ea typeface="IBM Plex Sans Light"/>
              <a:cs typeface="IBM Plex Sans Light"/>
              <a:sym typeface="IBM Plex Sans Light"/>
            </a:endParaRPr>
          </a:p>
        </p:txBody>
      </p:sp>
      <p:cxnSp>
        <p:nvCxnSpPr>
          <p:cNvPr id="8" name="Google Shape;2015;p207">
            <a:extLst>
              <a:ext uri="{FF2B5EF4-FFF2-40B4-BE49-F238E27FC236}">
                <a16:creationId xmlns:a16="http://schemas.microsoft.com/office/drawing/2014/main" id="{BB6F89D5-20FB-A1BF-4DAB-384B5E4A61D2}"/>
              </a:ext>
            </a:extLst>
          </p:cNvPr>
          <p:cNvCxnSpPr/>
          <p:nvPr/>
        </p:nvCxnSpPr>
        <p:spPr>
          <a:xfrm>
            <a:off x="161935" y="2390078"/>
            <a:ext cx="4357314" cy="0"/>
          </a:xfrm>
          <a:prstGeom prst="straightConnector1">
            <a:avLst/>
          </a:prstGeom>
          <a:noFill/>
          <a:ln w="12700" cap="flat" cmpd="sng">
            <a:solidFill>
              <a:srgbClr val="7F317F"/>
            </a:solidFill>
            <a:prstDash val="solid"/>
            <a:round/>
            <a:headEnd type="none" w="sm" len="sm"/>
            <a:tailEnd type="none" w="sm" len="sm"/>
          </a:ln>
        </p:spPr>
      </p:cxnSp>
      <p:pic>
        <p:nvPicPr>
          <p:cNvPr id="9" name="Google Shape;2016;p207" descr="A yellow star with a cat silhouette&#10;&#10;AI-generated content may be incorrect.">
            <a:extLst>
              <a:ext uri="{FF2B5EF4-FFF2-40B4-BE49-F238E27FC236}">
                <a16:creationId xmlns:a16="http://schemas.microsoft.com/office/drawing/2014/main" id="{D8C1E15D-36A5-82CE-01EC-9E5A29200D03}"/>
              </a:ext>
            </a:extLst>
          </p:cNvPr>
          <p:cNvPicPr preferRelativeResize="0"/>
          <p:nvPr/>
        </p:nvPicPr>
        <p:blipFill rotWithShape="1">
          <a:blip r:embed="rId4">
            <a:alphaModFix/>
          </a:blip>
          <a:srcRect/>
          <a:stretch/>
        </p:blipFill>
        <p:spPr>
          <a:xfrm>
            <a:off x="594176" y="4201279"/>
            <a:ext cx="222993" cy="209861"/>
          </a:xfrm>
          <a:prstGeom prst="rect">
            <a:avLst/>
          </a:prstGeom>
          <a:noFill/>
          <a:ln>
            <a:noFill/>
          </a:ln>
        </p:spPr>
      </p:pic>
      <p:pic>
        <p:nvPicPr>
          <p:cNvPr id="10" name="Google Shape;2017;p207">
            <a:extLst>
              <a:ext uri="{FF2B5EF4-FFF2-40B4-BE49-F238E27FC236}">
                <a16:creationId xmlns:a16="http://schemas.microsoft.com/office/drawing/2014/main" id="{FF59AF69-E21D-C1FF-E438-1CFDB6BAB563}"/>
              </a:ext>
            </a:extLst>
          </p:cNvPr>
          <p:cNvPicPr preferRelativeResize="0"/>
          <p:nvPr/>
        </p:nvPicPr>
        <p:blipFill rotWithShape="1">
          <a:blip r:embed="rId5">
            <a:alphaModFix/>
          </a:blip>
          <a:srcRect/>
          <a:stretch/>
        </p:blipFill>
        <p:spPr>
          <a:xfrm>
            <a:off x="866765" y="1922048"/>
            <a:ext cx="509493" cy="119881"/>
          </a:xfrm>
          <a:prstGeom prst="rect">
            <a:avLst/>
          </a:prstGeom>
          <a:noFill/>
          <a:ln>
            <a:noFill/>
          </a:ln>
        </p:spPr>
      </p:pic>
      <p:pic>
        <p:nvPicPr>
          <p:cNvPr id="11" name="Google Shape;2018;p207" descr="IBM 8-bar logo">
            <a:extLst>
              <a:ext uri="{FF2B5EF4-FFF2-40B4-BE49-F238E27FC236}">
                <a16:creationId xmlns:a16="http://schemas.microsoft.com/office/drawing/2014/main" id="{13DE8387-F492-777F-A675-D7F24EA672D5}"/>
              </a:ext>
            </a:extLst>
          </p:cNvPr>
          <p:cNvPicPr preferRelativeResize="0"/>
          <p:nvPr/>
        </p:nvPicPr>
        <p:blipFill rotWithShape="1">
          <a:blip r:embed="rId6">
            <a:alphaModFix/>
          </a:blip>
          <a:srcRect/>
          <a:stretch/>
        </p:blipFill>
        <p:spPr>
          <a:xfrm>
            <a:off x="785352" y="2164314"/>
            <a:ext cx="231859" cy="92510"/>
          </a:xfrm>
          <a:prstGeom prst="rect">
            <a:avLst/>
          </a:prstGeom>
          <a:noFill/>
          <a:ln>
            <a:noFill/>
          </a:ln>
        </p:spPr>
      </p:pic>
      <p:pic>
        <p:nvPicPr>
          <p:cNvPr id="12" name="Google Shape;2019;p207" descr="A blue and black logo&#10;&#10;AI-generated content may be incorrect.">
            <a:extLst>
              <a:ext uri="{FF2B5EF4-FFF2-40B4-BE49-F238E27FC236}">
                <a16:creationId xmlns:a16="http://schemas.microsoft.com/office/drawing/2014/main" id="{6F73BEB6-5442-8087-8331-1C02638C6F86}"/>
              </a:ext>
            </a:extLst>
          </p:cNvPr>
          <p:cNvPicPr preferRelativeResize="0"/>
          <p:nvPr/>
        </p:nvPicPr>
        <p:blipFill rotWithShape="1">
          <a:blip r:embed="rId7">
            <a:alphaModFix/>
          </a:blip>
          <a:srcRect/>
          <a:stretch/>
        </p:blipFill>
        <p:spPr>
          <a:xfrm>
            <a:off x="3379616" y="1917535"/>
            <a:ext cx="244085" cy="128907"/>
          </a:xfrm>
          <a:prstGeom prst="rect">
            <a:avLst/>
          </a:prstGeom>
          <a:noFill/>
          <a:ln>
            <a:noFill/>
          </a:ln>
        </p:spPr>
      </p:pic>
      <p:pic>
        <p:nvPicPr>
          <p:cNvPr id="13" name="Google Shape;2020;p207" descr="A blue and black logo&#10;&#10;AI-generated content may be incorrect.">
            <a:extLst>
              <a:ext uri="{FF2B5EF4-FFF2-40B4-BE49-F238E27FC236}">
                <a16:creationId xmlns:a16="http://schemas.microsoft.com/office/drawing/2014/main" id="{B7778424-8673-1197-8CFC-79A2FBA72D2A}"/>
              </a:ext>
            </a:extLst>
          </p:cNvPr>
          <p:cNvPicPr preferRelativeResize="0"/>
          <p:nvPr/>
        </p:nvPicPr>
        <p:blipFill rotWithShape="1">
          <a:blip r:embed="rId8">
            <a:alphaModFix/>
          </a:blip>
          <a:srcRect/>
          <a:stretch/>
        </p:blipFill>
        <p:spPr>
          <a:xfrm>
            <a:off x="2170053" y="1933648"/>
            <a:ext cx="238390" cy="96680"/>
          </a:xfrm>
          <a:prstGeom prst="rect">
            <a:avLst/>
          </a:prstGeom>
          <a:noFill/>
          <a:ln>
            <a:noFill/>
          </a:ln>
        </p:spPr>
      </p:pic>
      <p:pic>
        <p:nvPicPr>
          <p:cNvPr id="14" name="Google Shape;2021;p207" descr="A black text on a black background&#10;&#10;AI-generated content may be incorrect.">
            <a:extLst>
              <a:ext uri="{FF2B5EF4-FFF2-40B4-BE49-F238E27FC236}">
                <a16:creationId xmlns:a16="http://schemas.microsoft.com/office/drawing/2014/main" id="{DB6254C0-C2B9-B86C-9696-8FC638AE2C6F}"/>
              </a:ext>
            </a:extLst>
          </p:cNvPr>
          <p:cNvPicPr preferRelativeResize="0"/>
          <p:nvPr/>
        </p:nvPicPr>
        <p:blipFill rotWithShape="1">
          <a:blip r:embed="rId9">
            <a:alphaModFix/>
          </a:blip>
          <a:srcRect/>
          <a:stretch/>
        </p:blipFill>
        <p:spPr>
          <a:xfrm>
            <a:off x="2664121" y="1917535"/>
            <a:ext cx="553885" cy="128907"/>
          </a:xfrm>
          <a:prstGeom prst="rect">
            <a:avLst/>
          </a:prstGeom>
          <a:noFill/>
          <a:ln>
            <a:noFill/>
          </a:ln>
        </p:spPr>
      </p:pic>
      <p:sp>
        <p:nvSpPr>
          <p:cNvPr id="15" name="Google Shape;2022;p207">
            <a:extLst>
              <a:ext uri="{FF2B5EF4-FFF2-40B4-BE49-F238E27FC236}">
                <a16:creationId xmlns:a16="http://schemas.microsoft.com/office/drawing/2014/main" id="{BF52F8A5-3F42-5B4B-ED9F-8392EA77AAC1}"/>
              </a:ext>
            </a:extLst>
          </p:cNvPr>
          <p:cNvSpPr txBox="1"/>
          <p:nvPr/>
        </p:nvSpPr>
        <p:spPr>
          <a:xfrm>
            <a:off x="161935" y="2056153"/>
            <a:ext cx="448292" cy="155847"/>
          </a:xfrm>
          <a:prstGeom prst="rect">
            <a:avLst/>
          </a:prstGeom>
          <a:noFill/>
          <a:ln>
            <a:noFill/>
          </a:ln>
        </p:spPr>
        <p:txBody>
          <a:bodyPr spcFirstLastPara="1" wrap="square" lIns="34275" tIns="17150" rIns="34275" bIns="17150" anchor="ctr" anchorCtr="0">
            <a:noAutofit/>
          </a:bodyPr>
          <a:lstStyle/>
          <a:p>
            <a:pPr algn="ctr">
              <a:lnSpc>
                <a:spcPct val="90000"/>
              </a:lnSpc>
              <a:buSzPts val="600"/>
              <a:buFont typeface="IBM Plex Sans"/>
              <a:buNone/>
              <a:defRPr/>
            </a:pPr>
            <a:r>
              <a:rPr lang="en" sz="600">
                <a:latin typeface="IBM Plex Sans"/>
                <a:ea typeface="IBM Plex Sans"/>
                <a:cs typeface="IBM Plex Sans"/>
                <a:sym typeface="IBM Plex Sans"/>
              </a:rPr>
              <a:t>May ’25</a:t>
            </a:r>
            <a:endParaRPr sz="600" baseline="30000">
              <a:latin typeface="IBM Plex Sans"/>
              <a:ea typeface="IBM Plex Sans"/>
              <a:cs typeface="IBM Plex Sans"/>
              <a:sym typeface="IBM Plex Sans"/>
            </a:endParaRPr>
          </a:p>
        </p:txBody>
      </p:sp>
      <p:cxnSp>
        <p:nvCxnSpPr>
          <p:cNvPr id="16" name="Google Shape;2023;p207">
            <a:extLst>
              <a:ext uri="{FF2B5EF4-FFF2-40B4-BE49-F238E27FC236}">
                <a16:creationId xmlns:a16="http://schemas.microsoft.com/office/drawing/2014/main" id="{8A2F155E-29A2-E8C4-EE64-6BDB8901D3B5}"/>
              </a:ext>
            </a:extLst>
          </p:cNvPr>
          <p:cNvCxnSpPr>
            <a:endCxn id="15" idx="2"/>
          </p:cNvCxnSpPr>
          <p:nvPr/>
        </p:nvCxnSpPr>
        <p:spPr>
          <a:xfrm rot="10800000">
            <a:off x="386081" y="2212000"/>
            <a:ext cx="600" cy="181500"/>
          </a:xfrm>
          <a:prstGeom prst="straightConnector1">
            <a:avLst/>
          </a:prstGeom>
          <a:noFill/>
          <a:ln w="12700" cap="flat" cmpd="sng">
            <a:solidFill>
              <a:srgbClr val="7F317F"/>
            </a:solidFill>
            <a:prstDash val="solid"/>
            <a:round/>
            <a:headEnd type="oval" w="lg" len="lg"/>
            <a:tailEnd type="none" w="sm" len="sm"/>
          </a:ln>
        </p:spPr>
      </p:cxnSp>
      <p:pic>
        <p:nvPicPr>
          <p:cNvPr id="17" name="Google Shape;2024;p207" descr="A black and white logo&#10;&#10;AI-generated content may be incorrect.">
            <a:extLst>
              <a:ext uri="{FF2B5EF4-FFF2-40B4-BE49-F238E27FC236}">
                <a16:creationId xmlns:a16="http://schemas.microsoft.com/office/drawing/2014/main" id="{F1F8E47D-0637-D18E-A0CA-3CDC57713F4E}"/>
              </a:ext>
            </a:extLst>
          </p:cNvPr>
          <p:cNvPicPr preferRelativeResize="0"/>
          <p:nvPr/>
        </p:nvPicPr>
        <p:blipFill rotWithShape="1">
          <a:blip r:embed="rId10">
            <a:alphaModFix/>
          </a:blip>
          <a:srcRect/>
          <a:stretch/>
        </p:blipFill>
        <p:spPr>
          <a:xfrm>
            <a:off x="3597956" y="2162228"/>
            <a:ext cx="436345" cy="96680"/>
          </a:xfrm>
          <a:prstGeom prst="rect">
            <a:avLst/>
          </a:prstGeom>
          <a:noFill/>
          <a:ln>
            <a:noFill/>
          </a:ln>
        </p:spPr>
      </p:pic>
      <p:pic>
        <p:nvPicPr>
          <p:cNvPr id="18" name="Google Shape;2025;p207" descr="A colorful circle logo on a black background&#10;&#10;AI-generated content may be incorrect.">
            <a:extLst>
              <a:ext uri="{FF2B5EF4-FFF2-40B4-BE49-F238E27FC236}">
                <a16:creationId xmlns:a16="http://schemas.microsoft.com/office/drawing/2014/main" id="{574C11ED-C68A-A35A-228D-F3CCF9351E17}"/>
              </a:ext>
            </a:extLst>
          </p:cNvPr>
          <p:cNvPicPr preferRelativeResize="0"/>
          <p:nvPr/>
        </p:nvPicPr>
        <p:blipFill rotWithShape="1">
          <a:blip r:embed="rId11">
            <a:alphaModFix/>
          </a:blip>
          <a:srcRect/>
          <a:stretch/>
        </p:blipFill>
        <p:spPr>
          <a:xfrm>
            <a:off x="1165118" y="2157465"/>
            <a:ext cx="313909" cy="106206"/>
          </a:xfrm>
          <a:prstGeom prst="rect">
            <a:avLst/>
          </a:prstGeom>
          <a:noFill/>
          <a:ln>
            <a:noFill/>
          </a:ln>
        </p:spPr>
      </p:pic>
      <p:pic>
        <p:nvPicPr>
          <p:cNvPr id="19" name="Google Shape;2026;p207">
            <a:extLst>
              <a:ext uri="{FF2B5EF4-FFF2-40B4-BE49-F238E27FC236}">
                <a16:creationId xmlns:a16="http://schemas.microsoft.com/office/drawing/2014/main" id="{39848DC3-EBC3-FFC7-6162-4E97265813D7}"/>
              </a:ext>
            </a:extLst>
          </p:cNvPr>
          <p:cNvPicPr preferRelativeResize="0"/>
          <p:nvPr/>
        </p:nvPicPr>
        <p:blipFill rotWithShape="1">
          <a:blip r:embed="rId12">
            <a:alphaModFix/>
          </a:blip>
          <a:srcRect/>
          <a:stretch/>
        </p:blipFill>
        <p:spPr>
          <a:xfrm>
            <a:off x="3784877" y="1917535"/>
            <a:ext cx="484745" cy="128907"/>
          </a:xfrm>
          <a:prstGeom prst="rect">
            <a:avLst/>
          </a:prstGeom>
          <a:noFill/>
          <a:ln>
            <a:noFill/>
          </a:ln>
        </p:spPr>
      </p:pic>
      <p:pic>
        <p:nvPicPr>
          <p:cNvPr id="20" name="Google Shape;2027;p207" descr="A green and black logo&#10;&#10;AI-generated content may be incorrect.">
            <a:extLst>
              <a:ext uri="{FF2B5EF4-FFF2-40B4-BE49-F238E27FC236}">
                <a16:creationId xmlns:a16="http://schemas.microsoft.com/office/drawing/2014/main" id="{478A105A-4EC8-DF5F-4B84-0C063A407CFC}"/>
              </a:ext>
            </a:extLst>
          </p:cNvPr>
          <p:cNvPicPr preferRelativeResize="0"/>
          <p:nvPr/>
        </p:nvPicPr>
        <p:blipFill rotWithShape="1">
          <a:blip r:embed="rId13">
            <a:alphaModFix/>
          </a:blip>
          <a:srcRect/>
          <a:stretch/>
        </p:blipFill>
        <p:spPr>
          <a:xfrm>
            <a:off x="1768273" y="1907596"/>
            <a:ext cx="202888" cy="148785"/>
          </a:xfrm>
          <a:prstGeom prst="rect">
            <a:avLst/>
          </a:prstGeom>
          <a:noFill/>
          <a:ln>
            <a:noFill/>
          </a:ln>
        </p:spPr>
      </p:pic>
      <p:pic>
        <p:nvPicPr>
          <p:cNvPr id="21" name="Google Shape;2028;p207">
            <a:extLst>
              <a:ext uri="{FF2B5EF4-FFF2-40B4-BE49-F238E27FC236}">
                <a16:creationId xmlns:a16="http://schemas.microsoft.com/office/drawing/2014/main" id="{7303DBD4-483B-5008-5B0F-580762DDF2F2}"/>
              </a:ext>
            </a:extLst>
          </p:cNvPr>
          <p:cNvPicPr preferRelativeResize="0"/>
          <p:nvPr/>
        </p:nvPicPr>
        <p:blipFill rotWithShape="1">
          <a:blip r:embed="rId14">
            <a:alphaModFix/>
          </a:blip>
          <a:srcRect/>
          <a:stretch/>
        </p:blipFill>
        <p:spPr>
          <a:xfrm>
            <a:off x="1949046" y="2170285"/>
            <a:ext cx="338043" cy="80567"/>
          </a:xfrm>
          <a:prstGeom prst="rect">
            <a:avLst/>
          </a:prstGeom>
          <a:noFill/>
          <a:ln>
            <a:noFill/>
          </a:ln>
        </p:spPr>
      </p:pic>
      <p:cxnSp>
        <p:nvCxnSpPr>
          <p:cNvPr id="22" name="Google Shape;2029;p207">
            <a:extLst>
              <a:ext uri="{FF2B5EF4-FFF2-40B4-BE49-F238E27FC236}">
                <a16:creationId xmlns:a16="http://schemas.microsoft.com/office/drawing/2014/main" id="{58DBF0BB-F2D0-4EAE-D55A-C36B82061991}"/>
              </a:ext>
            </a:extLst>
          </p:cNvPr>
          <p:cNvCxnSpPr/>
          <p:nvPr/>
        </p:nvCxnSpPr>
        <p:spPr>
          <a:xfrm>
            <a:off x="1601654" y="1850629"/>
            <a:ext cx="0" cy="428492"/>
          </a:xfrm>
          <a:prstGeom prst="straightConnector1">
            <a:avLst/>
          </a:prstGeom>
          <a:noFill/>
          <a:ln w="12700" cap="flat" cmpd="sng">
            <a:solidFill>
              <a:srgbClr val="BFBFBF"/>
            </a:solidFill>
            <a:prstDash val="solid"/>
            <a:round/>
            <a:headEnd type="none" w="sm" len="sm"/>
            <a:tailEnd type="none" w="sm" len="sm"/>
          </a:ln>
        </p:spPr>
      </p:cxnSp>
      <p:cxnSp>
        <p:nvCxnSpPr>
          <p:cNvPr id="23" name="Google Shape;2030;p207">
            <a:extLst>
              <a:ext uri="{FF2B5EF4-FFF2-40B4-BE49-F238E27FC236}">
                <a16:creationId xmlns:a16="http://schemas.microsoft.com/office/drawing/2014/main" id="{C9750DD3-1F5E-B58D-8354-DBB40F7A7AC8}"/>
              </a:ext>
            </a:extLst>
          </p:cNvPr>
          <p:cNvCxnSpPr/>
          <p:nvPr/>
        </p:nvCxnSpPr>
        <p:spPr>
          <a:xfrm>
            <a:off x="2537609" y="1850629"/>
            <a:ext cx="0" cy="428492"/>
          </a:xfrm>
          <a:prstGeom prst="straightConnector1">
            <a:avLst/>
          </a:prstGeom>
          <a:noFill/>
          <a:ln w="12700" cap="flat" cmpd="sng">
            <a:solidFill>
              <a:srgbClr val="BFBFBF"/>
            </a:solidFill>
            <a:prstDash val="solid"/>
            <a:round/>
            <a:headEnd type="none" w="sm" len="sm"/>
            <a:tailEnd type="none" w="sm" len="sm"/>
          </a:ln>
        </p:spPr>
      </p:cxnSp>
      <p:cxnSp>
        <p:nvCxnSpPr>
          <p:cNvPr id="24" name="Google Shape;2031;p207">
            <a:extLst>
              <a:ext uri="{FF2B5EF4-FFF2-40B4-BE49-F238E27FC236}">
                <a16:creationId xmlns:a16="http://schemas.microsoft.com/office/drawing/2014/main" id="{9D2B16A6-E644-3156-C60D-5A6A7C579ACE}"/>
              </a:ext>
            </a:extLst>
          </p:cNvPr>
          <p:cNvCxnSpPr/>
          <p:nvPr/>
        </p:nvCxnSpPr>
        <p:spPr>
          <a:xfrm>
            <a:off x="4715983" y="1339917"/>
            <a:ext cx="0" cy="4097324"/>
          </a:xfrm>
          <a:prstGeom prst="straightConnector1">
            <a:avLst/>
          </a:prstGeom>
          <a:noFill/>
          <a:ln w="12700" cap="flat" cmpd="sng">
            <a:solidFill>
              <a:srgbClr val="D8D8D8"/>
            </a:solidFill>
            <a:prstDash val="solid"/>
            <a:round/>
            <a:headEnd type="none" w="sm" len="sm"/>
            <a:tailEnd type="none" w="sm" len="sm"/>
          </a:ln>
        </p:spPr>
      </p:cxnSp>
      <p:sp>
        <p:nvSpPr>
          <p:cNvPr id="25" name="Google Shape;2032;p207">
            <a:extLst>
              <a:ext uri="{FF2B5EF4-FFF2-40B4-BE49-F238E27FC236}">
                <a16:creationId xmlns:a16="http://schemas.microsoft.com/office/drawing/2014/main" id="{06695568-9159-D80F-35F5-996C2A24712B}"/>
              </a:ext>
            </a:extLst>
          </p:cNvPr>
          <p:cNvSpPr txBox="1"/>
          <p:nvPr/>
        </p:nvSpPr>
        <p:spPr>
          <a:xfrm>
            <a:off x="4892467" y="1242915"/>
            <a:ext cx="4025548" cy="344846"/>
          </a:xfrm>
          <a:prstGeom prst="rect">
            <a:avLst/>
          </a:prstGeom>
          <a:noFill/>
          <a:ln>
            <a:noFill/>
          </a:ln>
        </p:spPr>
        <p:txBody>
          <a:bodyPr spcFirstLastPara="1" wrap="square" lIns="0" tIns="0" rIns="0" bIns="0" anchor="t" anchorCtr="0">
            <a:noAutofit/>
          </a:bodyPr>
          <a:lstStyle/>
          <a:p>
            <a:pPr>
              <a:lnSpc>
                <a:spcPct val="110000"/>
              </a:lnSpc>
              <a:buSzPts val="1100"/>
              <a:buFont typeface="IBM Plex Sans"/>
              <a:buNone/>
              <a:defRPr/>
            </a:pPr>
            <a:r>
              <a:rPr lang="en" sz="1100" dirty="0">
                <a:latin typeface="IBM Plex Sans"/>
                <a:ea typeface="IBM Plex Sans"/>
                <a:cs typeface="IBM Plex Sans"/>
                <a:sym typeface="IBM Plex Sans"/>
              </a:rPr>
              <a:t>... delivering </a:t>
            </a:r>
            <a:r>
              <a:rPr lang="en" dirty="0" err="1">
                <a:solidFill>
                  <a:schemeClr val="accent3"/>
                </a:solidFill>
                <a:sym typeface="IBM Plex Sans"/>
              </a:rPr>
              <a:t>SoTA</a:t>
            </a:r>
            <a:r>
              <a:rPr lang="zh-CN" altLang="en-US" dirty="0">
                <a:solidFill>
                  <a:schemeClr val="accent3"/>
                </a:solidFill>
                <a:sym typeface="IBM Plex Sans"/>
              </a:rPr>
              <a:t>（</a:t>
            </a:r>
            <a:r>
              <a:rPr lang="zh-CN" altLang="zh-CN" dirty="0">
                <a:solidFill>
                  <a:schemeClr val="accent3"/>
                </a:solidFill>
              </a:rPr>
              <a:t> state-of-the-art </a:t>
            </a:r>
            <a:r>
              <a:rPr lang="zh-CN" altLang="en-US" dirty="0">
                <a:solidFill>
                  <a:schemeClr val="accent3"/>
                </a:solidFill>
                <a:sym typeface="IBM Plex Sans"/>
              </a:rPr>
              <a:t>）</a:t>
            </a:r>
            <a:r>
              <a:rPr lang="en-US" altLang="zh-CN" sz="1100" dirty="0">
                <a:latin typeface="IBM Plex Sans"/>
                <a:sym typeface="IBM Plex Sans"/>
              </a:rPr>
              <a:t>LLM</a:t>
            </a:r>
            <a:r>
              <a:rPr lang="zh-CN" altLang="en-US" sz="1100" dirty="0">
                <a:latin typeface="IBM Plex Sans"/>
                <a:sym typeface="IBM Plex Sans"/>
              </a:rPr>
              <a:t> </a:t>
            </a:r>
            <a:r>
              <a:rPr lang="en-US" altLang="zh-CN" sz="1100" dirty="0">
                <a:latin typeface="IBM Plex Sans"/>
                <a:sym typeface="IBM Plex Sans"/>
              </a:rPr>
              <a:t>model</a:t>
            </a:r>
            <a:endParaRPr sz="1100" dirty="0">
              <a:latin typeface="IBM Plex Sans"/>
              <a:sym typeface="IBM Plex Sans"/>
            </a:endParaRPr>
          </a:p>
        </p:txBody>
      </p:sp>
      <p:sp>
        <p:nvSpPr>
          <p:cNvPr id="26" name="Google Shape;2034;p207">
            <a:extLst>
              <a:ext uri="{FF2B5EF4-FFF2-40B4-BE49-F238E27FC236}">
                <a16:creationId xmlns:a16="http://schemas.microsoft.com/office/drawing/2014/main" id="{4C02AEEA-99FF-7BD0-F400-84B924354D13}"/>
              </a:ext>
            </a:extLst>
          </p:cNvPr>
          <p:cNvSpPr txBox="1"/>
          <p:nvPr/>
        </p:nvSpPr>
        <p:spPr>
          <a:xfrm>
            <a:off x="5452223" y="1934506"/>
            <a:ext cx="2792700" cy="2985423"/>
          </a:xfrm>
          <a:prstGeom prst="rect">
            <a:avLst/>
          </a:prstGeom>
          <a:noFill/>
          <a:ln>
            <a:noFill/>
          </a:ln>
        </p:spPr>
        <p:txBody>
          <a:bodyPr spcFirstLastPara="1" wrap="square" lIns="68575" tIns="68575" rIns="68575" bIns="68575" anchor="t" anchorCtr="0">
            <a:spAutoFit/>
          </a:bodyPr>
          <a:lstStyle/>
          <a:p>
            <a:pPr marL="0" marR="0" lvl="0" indent="0" defTabSz="914400" eaLnBrk="1" fontAlgn="auto" latinLnBrk="0" hangingPunct="1">
              <a:lnSpc>
                <a:spcPct val="100000"/>
              </a:lnSpc>
              <a:spcBef>
                <a:spcPts val="0"/>
              </a:spcBef>
              <a:spcAft>
                <a:spcPts val="0"/>
              </a:spcAft>
              <a:buClrTx/>
              <a:buSzPts val="800"/>
              <a:buFont typeface="IBM Plex Sans"/>
              <a:buNone/>
              <a:tabLst/>
              <a:defRPr/>
            </a:pP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State-of-the-art </a:t>
            </a:r>
            <a:r>
              <a:rPr kumimoji="0" lang="en" sz="900" b="1" i="0" u="none" strike="noStrike" kern="0" cap="none" spc="0" normalizeH="0" baseline="0" noProof="0" dirty="0" err="1">
                <a:ln>
                  <a:noFill/>
                </a:ln>
                <a:solidFill>
                  <a:sysClr val="windowText" lastClr="000000"/>
                </a:solidFill>
                <a:effectLst/>
                <a:uLnTx/>
                <a:uFillTx/>
                <a:latin typeface="IBM Plex Sans"/>
                <a:ea typeface="IBM Plex Sans"/>
                <a:cs typeface="IBM Plex Sans"/>
                <a:sym typeface="IBM Plex Sans"/>
              </a:rPr>
              <a:t>MoE</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 serving</a:t>
            </a:r>
            <a:endParaRPr kumimoji="0"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Advanced communication strategies like Dual Batch Overlap reaching </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2.2k tokens/second per GPU</a:t>
            </a:r>
            <a:endParaRPr kumimoji="0"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endParaRPr kumimoji="0"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endParaRPr>
          </a:p>
          <a:p>
            <a:pPr marL="0" marR="0" lvl="0" indent="0" defTabSz="914400" eaLnBrk="1" fontAlgn="auto" latinLnBrk="0" hangingPunct="1">
              <a:lnSpc>
                <a:spcPct val="100000"/>
              </a:lnSpc>
              <a:spcBef>
                <a:spcPts val="600"/>
              </a:spcBef>
              <a:spcAft>
                <a:spcPts val="0"/>
              </a:spcAft>
              <a:buClrTx/>
              <a:buSzPts val="800"/>
              <a:buFont typeface="IBM Plex Sans"/>
              <a:buNone/>
              <a:tabLst/>
              <a:defRPr/>
            </a:pP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Production-ready prefill/decode disaggregation</a:t>
            </a:r>
            <a:endParaRPr kumimoji="0" sz="900" b="1"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Adaptive SLO balancer, improving P90 latency </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by up to 3x</a:t>
            </a: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 in long-prefill workloads.</a:t>
            </a:r>
            <a:endParaRPr kumimoji="0"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endParaRPr kumimoji="0"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Pts val="800"/>
              <a:buFont typeface="IBM Plex Sans"/>
              <a:buNone/>
              <a:tabLst/>
              <a:defRPr/>
            </a:pP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Pioneered state-aware scheduler</a:t>
            </a:r>
            <a:endParaRPr kumimoji="0"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Precise prefix-caching </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57x faster</a:t>
            </a: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 than the default intelligent scheduler under heavy, multi-tenant load.</a:t>
            </a:r>
            <a:endParaRPr kumimoji="0"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endParaRPr kumimoji="0"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endParaRPr>
          </a:p>
          <a:p>
            <a:pPr marL="0" marR="0" lvl="0" indent="0" defTabSz="914400" eaLnBrk="1" fontAlgn="auto" latinLnBrk="0" hangingPunct="1">
              <a:lnSpc>
                <a:spcPct val="100000"/>
              </a:lnSpc>
              <a:spcBef>
                <a:spcPts val="600"/>
              </a:spcBef>
              <a:spcAft>
                <a:spcPts val="0"/>
              </a:spcAft>
              <a:buClrTx/>
              <a:buSzPts val="800"/>
              <a:buFont typeface="IBM Plex Sans"/>
              <a:buNone/>
              <a:tabLst/>
              <a:defRPr/>
            </a:pP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Predictive, SLO-driven </a:t>
            </a:r>
            <a:r>
              <a:rPr kumimoji="0" lang="en" sz="900" b="1" i="0" u="none" strike="noStrike" kern="0" cap="none" spc="0" normalizeH="0" baseline="0" noProof="0" dirty="0" err="1">
                <a:ln>
                  <a:noFill/>
                </a:ln>
                <a:solidFill>
                  <a:sysClr val="windowText" lastClr="000000"/>
                </a:solidFill>
                <a:effectLst/>
                <a:uLnTx/>
                <a:uFillTx/>
                <a:latin typeface="IBM Plex Sans"/>
                <a:ea typeface="IBM Plex Sans"/>
                <a:cs typeface="IBM Plex Sans"/>
                <a:sym typeface="IBM Plex Sans"/>
              </a:rPr>
              <a:t>autoscaler</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 architecture</a:t>
            </a:r>
            <a:endParaRPr kumimoji="0" sz="900" b="1"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endParaRPr>
          </a:p>
          <a:p>
            <a:pPr marL="0" marR="0" lvl="0" indent="0" defTabSz="914400" eaLnBrk="1" fontAlgn="auto" latinLnBrk="0" hangingPunct="1">
              <a:lnSpc>
                <a:spcPct val="100000"/>
              </a:lnSpc>
              <a:spcBef>
                <a:spcPts val="600"/>
              </a:spcBef>
              <a:spcAft>
                <a:spcPts val="0"/>
              </a:spcAft>
              <a:buClrTx/>
              <a:buSzPts val="800"/>
              <a:buFont typeface="IBM Plex Sans Light"/>
              <a:buNone/>
              <a:tabLst/>
              <a:defRPr/>
            </a:pP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Enabled </a:t>
            </a:r>
            <a:r>
              <a:rPr kumimoji="0" lang="en" sz="900" b="1" i="0" u="none" strike="noStrike" kern="0" cap="none" spc="0" normalizeH="0" baseline="0" noProof="0" dirty="0">
                <a:ln>
                  <a:noFill/>
                </a:ln>
                <a:solidFill>
                  <a:sysClr val="windowText" lastClr="000000"/>
                </a:solidFill>
                <a:effectLst/>
                <a:uLnTx/>
                <a:uFillTx/>
                <a:latin typeface="IBM Plex Sans"/>
                <a:ea typeface="IBM Plex Sans"/>
                <a:cs typeface="IBM Plex Sans"/>
                <a:sym typeface="IBM Plex Sans"/>
              </a:rPr>
              <a:t>scale-to-zero</a:t>
            </a:r>
            <a:r>
              <a:rPr kumimoji="0" lang="en" sz="900" b="0" i="0" u="none" strike="noStrike" kern="0" cap="none" spc="0" normalizeH="0" baseline="0" noProof="0" dirty="0">
                <a:ln>
                  <a:noFill/>
                </a:ln>
                <a:solidFill>
                  <a:sysClr val="windowText" lastClr="000000"/>
                </a:solidFill>
                <a:effectLst/>
                <a:uLnTx/>
                <a:uFillTx/>
                <a:latin typeface="IBM Plex Sans Light"/>
                <a:ea typeface="IBM Plex Sans Light"/>
                <a:cs typeface="IBM Plex Sans Light"/>
                <a:sym typeface="IBM Plex Sans Light"/>
              </a:rPr>
              <a:t>, enabling dynamic resource allocation to maximize cluster utilization</a:t>
            </a:r>
            <a:endParaRPr kumimoji="0" sz="1200" b="0" i="0" u="none" strike="noStrike" kern="0" cap="none" spc="0" normalizeH="0" baseline="0" noProof="0" dirty="0">
              <a:ln>
                <a:noFill/>
              </a:ln>
              <a:solidFill>
                <a:sysClr val="windowText" lastClr="000000"/>
              </a:solidFill>
              <a:effectLst/>
              <a:uLnTx/>
              <a:uFillTx/>
            </a:endParaRPr>
          </a:p>
        </p:txBody>
      </p:sp>
      <p:cxnSp>
        <p:nvCxnSpPr>
          <p:cNvPr id="27" name="Google Shape;2035;p207">
            <a:extLst>
              <a:ext uri="{FF2B5EF4-FFF2-40B4-BE49-F238E27FC236}">
                <a16:creationId xmlns:a16="http://schemas.microsoft.com/office/drawing/2014/main" id="{BBF49D1E-6B67-59EA-C147-2DBD69E46518}"/>
              </a:ext>
            </a:extLst>
          </p:cNvPr>
          <p:cNvCxnSpPr/>
          <p:nvPr/>
        </p:nvCxnSpPr>
        <p:spPr>
          <a:xfrm>
            <a:off x="4208873" y="2855060"/>
            <a:ext cx="985430" cy="0"/>
          </a:xfrm>
          <a:prstGeom prst="straightConnector1">
            <a:avLst/>
          </a:prstGeom>
          <a:noFill/>
          <a:ln w="12700" cap="flat" cmpd="sng">
            <a:solidFill>
              <a:srgbClr val="7F317F"/>
            </a:solidFill>
            <a:prstDash val="solid"/>
            <a:round/>
            <a:headEnd type="oval" w="lg" len="lg"/>
            <a:tailEnd type="none" w="sm" len="sm"/>
          </a:ln>
        </p:spPr>
      </p:cxnSp>
      <p:sp>
        <p:nvSpPr>
          <p:cNvPr id="28" name="Google Shape;2036;p207">
            <a:extLst>
              <a:ext uri="{FF2B5EF4-FFF2-40B4-BE49-F238E27FC236}">
                <a16:creationId xmlns:a16="http://schemas.microsoft.com/office/drawing/2014/main" id="{2395275C-9B53-E228-EF6E-66B09804D0CC}"/>
              </a:ext>
            </a:extLst>
          </p:cNvPr>
          <p:cNvSpPr/>
          <p:nvPr/>
        </p:nvSpPr>
        <p:spPr>
          <a:xfrm>
            <a:off x="5194303" y="1981987"/>
            <a:ext cx="81437" cy="2855263"/>
          </a:xfrm>
          <a:prstGeom prst="leftBracket">
            <a:avLst>
              <a:gd name="adj" fmla="val 8333"/>
            </a:avLst>
          </a:prstGeom>
          <a:noFill/>
          <a:ln w="12700" cap="flat" cmpd="sng">
            <a:solidFill>
              <a:srgbClr val="7F317F"/>
            </a:solidFill>
            <a:prstDash val="solid"/>
            <a:round/>
            <a:headEnd type="none" w="sm" len="sm"/>
            <a:tailEnd type="none" w="sm" len="sm"/>
          </a:ln>
        </p:spPr>
        <p:txBody>
          <a:bodyPr spcFirstLastPara="1" wrap="square" lIns="68575" tIns="34275" rIns="68575" bIns="34275" anchor="ctr" anchorCtr="0">
            <a:noAutofit/>
          </a:bodyPr>
          <a:lstStyle/>
          <a:p>
            <a:pPr algn="ctr">
              <a:buSzPts val="1400"/>
              <a:buFont typeface="IBM Plex Sans Light"/>
              <a:buNone/>
              <a:defRPr/>
            </a:pPr>
            <a:endParaRPr>
              <a:latin typeface="IBM Plex Sans Light"/>
              <a:ea typeface="IBM Plex Sans Light"/>
              <a:cs typeface="IBM Plex Sans Light"/>
              <a:sym typeface="IBM Plex Sans Light"/>
            </a:endParaRPr>
          </a:p>
        </p:txBody>
      </p:sp>
      <p:cxnSp>
        <p:nvCxnSpPr>
          <p:cNvPr id="29" name="Google Shape;2037;p207">
            <a:extLst>
              <a:ext uri="{FF2B5EF4-FFF2-40B4-BE49-F238E27FC236}">
                <a16:creationId xmlns:a16="http://schemas.microsoft.com/office/drawing/2014/main" id="{16453C01-CF46-124D-5E59-0BF62DF979E3}"/>
              </a:ext>
            </a:extLst>
          </p:cNvPr>
          <p:cNvCxnSpPr/>
          <p:nvPr/>
        </p:nvCxnSpPr>
        <p:spPr>
          <a:xfrm>
            <a:off x="8066152" y="5314326"/>
            <a:ext cx="0" cy="232875"/>
          </a:xfrm>
          <a:prstGeom prst="straightConnector1">
            <a:avLst/>
          </a:prstGeom>
          <a:noFill/>
          <a:ln w="9525" cap="flat" cmpd="sng">
            <a:solidFill>
              <a:srgbClr val="D5D5D5"/>
            </a:solidFill>
            <a:prstDash val="solid"/>
            <a:miter lim="800000"/>
            <a:headEnd type="none" w="sm" len="sm"/>
            <a:tailEnd type="none" w="sm" len="sm"/>
          </a:ln>
        </p:spPr>
      </p:cxnSp>
      <p:pic>
        <p:nvPicPr>
          <p:cNvPr id="30" name="Google Shape;2038;p207" descr="A black and grey logo&#10;&#10;AI-generated content may be incorrect.">
            <a:extLst>
              <a:ext uri="{FF2B5EF4-FFF2-40B4-BE49-F238E27FC236}">
                <a16:creationId xmlns:a16="http://schemas.microsoft.com/office/drawing/2014/main" id="{00CE1514-DA04-B543-9D2B-E6C49612E5A9}"/>
              </a:ext>
            </a:extLst>
          </p:cNvPr>
          <p:cNvPicPr preferRelativeResize="0"/>
          <p:nvPr/>
        </p:nvPicPr>
        <p:blipFill rotWithShape="1">
          <a:blip r:embed="rId15">
            <a:alphaModFix/>
          </a:blip>
          <a:srcRect/>
          <a:stretch/>
        </p:blipFill>
        <p:spPr>
          <a:xfrm>
            <a:off x="8219924" y="5314326"/>
            <a:ext cx="697923" cy="213510"/>
          </a:xfrm>
          <a:prstGeom prst="rect">
            <a:avLst/>
          </a:prstGeom>
          <a:noFill/>
          <a:ln>
            <a:noFill/>
          </a:ln>
        </p:spPr>
      </p:pic>
      <p:pic>
        <p:nvPicPr>
          <p:cNvPr id="31" name="Google Shape;2039;p207" title="66faf0b57e9fd277afa8c523_65777e4f9ada94a53cc28302_logo-mistral.png">
            <a:extLst>
              <a:ext uri="{FF2B5EF4-FFF2-40B4-BE49-F238E27FC236}">
                <a16:creationId xmlns:a16="http://schemas.microsoft.com/office/drawing/2014/main" id="{64A072FC-F9C0-AD5C-C362-BE2132950638}"/>
              </a:ext>
            </a:extLst>
          </p:cNvPr>
          <p:cNvPicPr preferRelativeResize="0"/>
          <p:nvPr/>
        </p:nvPicPr>
        <p:blipFill>
          <a:blip r:embed="rId16">
            <a:alphaModFix/>
          </a:blip>
          <a:stretch>
            <a:fillRect/>
          </a:stretch>
        </p:blipFill>
        <p:spPr>
          <a:xfrm>
            <a:off x="3014904" y="2132643"/>
            <a:ext cx="407132" cy="155850"/>
          </a:xfrm>
          <a:prstGeom prst="rect">
            <a:avLst/>
          </a:prstGeom>
          <a:noFill/>
          <a:ln>
            <a:noFill/>
          </a:ln>
        </p:spPr>
      </p:pic>
      <p:sp>
        <p:nvSpPr>
          <p:cNvPr id="33" name="文本框 32">
            <a:extLst>
              <a:ext uri="{FF2B5EF4-FFF2-40B4-BE49-F238E27FC236}">
                <a16:creationId xmlns:a16="http://schemas.microsoft.com/office/drawing/2014/main" id="{69365E8B-5DD5-9F06-FD5E-ECEF8FAF7AA8}"/>
              </a:ext>
            </a:extLst>
          </p:cNvPr>
          <p:cNvSpPr txBox="1"/>
          <p:nvPr/>
        </p:nvSpPr>
        <p:spPr>
          <a:xfrm>
            <a:off x="4892467" y="1559850"/>
            <a:ext cx="4572000" cy="400110"/>
          </a:xfrm>
          <a:prstGeom prst="rect">
            <a:avLst/>
          </a:prstGeom>
          <a:noFill/>
        </p:spPr>
        <p:txBody>
          <a:bodyPr wrap="square">
            <a:spAutoFit/>
          </a:bodyPr>
          <a:lstStyle/>
          <a:p>
            <a:r>
              <a:rPr lang="zh-CN" altLang="zh-CN" sz="1000" dirty="0">
                <a:solidFill>
                  <a:schemeClr val="accent3"/>
                </a:solidFill>
              </a:rPr>
              <a:t>a large language model with the most advanced capabilities currently available.</a:t>
            </a:r>
            <a:endParaRPr lang="zh-CN" altLang="en-US" sz="1000" dirty="0">
              <a:solidFill>
                <a:schemeClr val="accent3"/>
              </a:solidFill>
            </a:endParaRPr>
          </a:p>
        </p:txBody>
      </p:sp>
      <p:sp>
        <p:nvSpPr>
          <p:cNvPr id="35" name="右大括号 34">
            <a:extLst>
              <a:ext uri="{FF2B5EF4-FFF2-40B4-BE49-F238E27FC236}">
                <a16:creationId xmlns:a16="http://schemas.microsoft.com/office/drawing/2014/main" id="{C0325AD1-219F-E5EF-2E15-5CB33A2144CD}"/>
              </a:ext>
            </a:extLst>
          </p:cNvPr>
          <p:cNvSpPr/>
          <p:nvPr/>
        </p:nvSpPr>
        <p:spPr>
          <a:xfrm rot="16200000">
            <a:off x="6403160" y="1046611"/>
            <a:ext cx="129588" cy="9747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046456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7F2E7-6CB6-3505-F92E-2B0E5132BB9E}"/>
              </a:ext>
            </a:extLst>
          </p:cNvPr>
          <p:cNvSpPr>
            <a:spLocks noGrp="1"/>
          </p:cNvSpPr>
          <p:nvPr>
            <p:ph type="title"/>
          </p:nvPr>
        </p:nvSpPr>
        <p:spPr/>
        <p:txBody>
          <a:bodyPr/>
          <a:lstStyle/>
          <a:p>
            <a:r>
              <a:rPr lang="en" altLang="zh-CN" dirty="0">
                <a:sym typeface="Red Hat Display"/>
              </a:rPr>
              <a:t>“Well-lit” Paths</a:t>
            </a:r>
            <a:endParaRPr lang="zh-CN" altLang="en-US" dirty="0"/>
          </a:p>
        </p:txBody>
      </p:sp>
      <p:sp>
        <p:nvSpPr>
          <p:cNvPr id="3" name="文本占位符 2">
            <a:extLst>
              <a:ext uri="{FF2B5EF4-FFF2-40B4-BE49-F238E27FC236}">
                <a16:creationId xmlns:a16="http://schemas.microsoft.com/office/drawing/2014/main" id="{77D357A9-8935-800E-F394-06F60FE6BE5F}"/>
              </a:ext>
            </a:extLst>
          </p:cNvPr>
          <p:cNvSpPr>
            <a:spLocks noGrp="1"/>
          </p:cNvSpPr>
          <p:nvPr>
            <p:ph type="body" idx="1"/>
          </p:nvPr>
        </p:nvSpPr>
        <p:spPr/>
        <p:txBody>
          <a:bodyPr/>
          <a:lstStyle/>
          <a:p>
            <a:pPr marL="285750" lvl="0" indent="-285750">
              <a:buSzPts val="2600"/>
              <a:buFont typeface="Arial" panose="020B0604020202020204" pitchFamily="34" charset="0"/>
              <a:buChar char="•"/>
              <a:defRPr/>
            </a:pPr>
            <a:r>
              <a:rPr lang="en" altLang="zh-CN" sz="2400" dirty="0">
                <a:sym typeface="IBM Plex Sans Light"/>
              </a:rPr>
              <a:t>Intelligent Inference Scheduling</a:t>
            </a:r>
            <a:endParaRPr lang="en" altLang="zh-CN" sz="2400" dirty="0"/>
          </a:p>
          <a:p>
            <a:pPr marL="285750" lvl="0" indent="-285750">
              <a:spcBef>
                <a:spcPts val="900"/>
              </a:spcBef>
              <a:buSzPts val="2600"/>
              <a:buFont typeface="Arial" panose="020B0604020202020204" pitchFamily="34" charset="0"/>
              <a:buChar char="•"/>
              <a:defRPr/>
            </a:pPr>
            <a:r>
              <a:rPr lang="en" altLang="zh-CN" sz="2400" dirty="0">
                <a:sym typeface="IBM Plex Sans Light"/>
              </a:rPr>
              <a:t>KV Cache Management</a:t>
            </a:r>
          </a:p>
          <a:p>
            <a:pPr marL="285750" indent="-285750">
              <a:spcBef>
                <a:spcPts val="900"/>
              </a:spcBef>
              <a:buSzPts val="2600"/>
              <a:buFont typeface="Arial" panose="020B0604020202020204" pitchFamily="34" charset="0"/>
              <a:buChar char="•"/>
              <a:defRPr/>
            </a:pPr>
            <a:r>
              <a:rPr lang="en" altLang="zh-CN" sz="2400" dirty="0">
                <a:sym typeface="IBM Plex Sans Light"/>
              </a:rPr>
              <a:t>Wide Expert Parallelism</a:t>
            </a:r>
          </a:p>
          <a:p>
            <a:pPr marL="285750" indent="-285750">
              <a:spcBef>
                <a:spcPts val="900"/>
              </a:spcBef>
              <a:buSzPts val="2600"/>
              <a:buFont typeface="Arial" panose="020B0604020202020204" pitchFamily="34" charset="0"/>
              <a:buChar char="•"/>
              <a:defRPr/>
            </a:pPr>
            <a:r>
              <a:rPr lang="en" altLang="zh-CN" sz="2400" dirty="0">
                <a:sym typeface="IBM Plex Sans Light"/>
              </a:rPr>
              <a:t>P/D Disaggregation</a:t>
            </a:r>
            <a:endParaRPr lang="en" altLang="zh-CN" sz="2400" dirty="0"/>
          </a:p>
        </p:txBody>
      </p:sp>
      <p:sp>
        <p:nvSpPr>
          <p:cNvPr id="7" name="文本框 6">
            <a:extLst>
              <a:ext uri="{FF2B5EF4-FFF2-40B4-BE49-F238E27FC236}">
                <a16:creationId xmlns:a16="http://schemas.microsoft.com/office/drawing/2014/main" id="{2C67B86B-48AD-F2AC-60C9-E23ED20D91AB}"/>
              </a:ext>
            </a:extLst>
          </p:cNvPr>
          <p:cNvSpPr txBox="1"/>
          <p:nvPr/>
        </p:nvSpPr>
        <p:spPr>
          <a:xfrm>
            <a:off x="234917" y="740123"/>
            <a:ext cx="8162205" cy="307777"/>
          </a:xfrm>
          <a:prstGeom prst="rect">
            <a:avLst/>
          </a:prstGeom>
          <a:noFill/>
        </p:spPr>
        <p:txBody>
          <a:bodyPr wrap="square">
            <a:spAutoFit/>
          </a:bodyPr>
          <a:lstStyle/>
          <a:p>
            <a:r>
              <a:rPr lang="en" altLang="zh-CN" dirty="0">
                <a:solidFill>
                  <a:schemeClr val="bg1"/>
                </a:solidFill>
                <a:sym typeface="IBM Plex Sans Light"/>
              </a:rPr>
              <a:t>“well-lit paths” philosophy: validated, production-ready deployment patterns for </a:t>
            </a:r>
            <a:r>
              <a:rPr lang="en" altLang="zh-CN" dirty="0" err="1">
                <a:solidFill>
                  <a:schemeClr val="bg1"/>
                </a:solidFill>
                <a:sym typeface="IBM Plex Sans Light"/>
              </a:rPr>
              <a:t>SoTA</a:t>
            </a:r>
            <a:r>
              <a:rPr lang="en" altLang="zh-CN" dirty="0">
                <a:solidFill>
                  <a:schemeClr val="bg1"/>
                </a:solidFill>
                <a:sym typeface="IBM Plex Sans Light"/>
              </a:rPr>
              <a:t> performance</a:t>
            </a:r>
            <a:endParaRPr lang="zh-CN" altLang="en-US" dirty="0">
              <a:solidFill>
                <a:schemeClr val="bg1"/>
              </a:solidFill>
            </a:endParaRPr>
          </a:p>
        </p:txBody>
      </p:sp>
    </p:spTree>
    <p:extLst>
      <p:ext uri="{BB962C8B-B14F-4D97-AF65-F5344CB8AC3E}">
        <p14:creationId xmlns:p14="http://schemas.microsoft.com/office/powerpoint/2010/main" val="1881137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86"/>
        <p:cNvGrpSpPr/>
        <p:nvPr/>
      </p:nvGrpSpPr>
      <p:grpSpPr>
        <a:xfrm>
          <a:off x="0" y="0"/>
          <a:ext cx="0" cy="0"/>
          <a:chOff x="0" y="0"/>
          <a:chExt cx="0" cy="0"/>
        </a:xfrm>
      </p:grpSpPr>
      <p:sp>
        <p:nvSpPr>
          <p:cNvPr id="5" name="标题 4">
            <a:extLst>
              <a:ext uri="{FF2B5EF4-FFF2-40B4-BE49-F238E27FC236}">
                <a16:creationId xmlns:a16="http://schemas.microsoft.com/office/drawing/2014/main" id="{9883766D-43BF-0AD2-DF78-AEEAE8EF59F2}"/>
              </a:ext>
            </a:extLst>
          </p:cNvPr>
          <p:cNvSpPr>
            <a:spLocks noGrp="1"/>
          </p:cNvSpPr>
          <p:nvPr>
            <p:ph type="title"/>
          </p:nvPr>
        </p:nvSpPr>
        <p:spPr/>
        <p:txBody>
          <a:bodyPr>
            <a:normAutofit/>
          </a:bodyPr>
          <a:lstStyle/>
          <a:p>
            <a:r>
              <a:rPr lang="en" altLang="zh-CN" dirty="0"/>
              <a:t>KV Cache Has Great Economic Value</a:t>
            </a:r>
            <a:endParaRPr lang="zh-CN" altLang="en-US" dirty="0"/>
          </a:p>
        </p:txBody>
      </p:sp>
      <p:sp>
        <p:nvSpPr>
          <p:cNvPr id="2687" name="Google Shape;2687;p236"/>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18</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689" name="Google Shape;2689;p236"/>
          <p:cNvSpPr txBox="1"/>
          <p:nvPr/>
        </p:nvSpPr>
        <p:spPr>
          <a:xfrm>
            <a:off x="188329" y="1047900"/>
            <a:ext cx="5327728" cy="3128400"/>
          </a:xfrm>
          <a:prstGeom prst="rect">
            <a:avLst/>
          </a:prstGeom>
          <a:noFill/>
          <a:ln>
            <a:noFill/>
          </a:ln>
        </p:spPr>
        <p:txBody>
          <a:bodyPr spcFirstLastPara="1" wrap="square" lIns="68575" tIns="68575" rIns="68575" bIns="68575"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 sz="1500" b="0" i="1" u="none" strike="noStrike" kern="0" cap="none" spc="0" normalizeH="0" baseline="0" noProof="0" dirty="0">
                <a:ln>
                  <a:noFill/>
                </a:ln>
                <a:solidFill>
                  <a:srgbClr val="000000"/>
                </a:solidFill>
                <a:effectLst/>
                <a:uLnTx/>
                <a:uFillTx/>
                <a:latin typeface="Red Hat Text"/>
                <a:ea typeface="Red Hat Text"/>
                <a:cs typeface="Red Hat Text"/>
                <a:sym typeface="Red Hat Text"/>
              </a:rPr>
              <a:t>“The </a:t>
            </a:r>
            <a:r>
              <a:rPr kumimoji="0" lang="en" sz="1500" b="1" i="1" u="none" strike="noStrike" kern="0" cap="none" spc="0" normalizeH="0" baseline="0" noProof="0" dirty="0">
                <a:ln>
                  <a:noFill/>
                </a:ln>
                <a:solidFill>
                  <a:srgbClr val="000000"/>
                </a:solidFill>
                <a:effectLst/>
                <a:uLnTx/>
                <a:uFillTx/>
                <a:latin typeface="Red Hat Text"/>
                <a:ea typeface="Red Hat Text"/>
                <a:cs typeface="Red Hat Text"/>
                <a:sym typeface="Red Hat Text"/>
              </a:rPr>
              <a:t>KV-cache hit rate</a:t>
            </a:r>
            <a:r>
              <a:rPr kumimoji="0" lang="en" sz="1500" b="0" i="1" u="none" strike="noStrike" kern="0" cap="none" spc="0" normalizeH="0" baseline="0" noProof="0" dirty="0">
                <a:ln>
                  <a:noFill/>
                </a:ln>
                <a:solidFill>
                  <a:srgbClr val="000000"/>
                </a:solidFill>
                <a:effectLst/>
                <a:uLnTx/>
                <a:uFillTx/>
                <a:latin typeface="Red Hat Text"/>
                <a:ea typeface="Red Hat Text"/>
                <a:cs typeface="Red Hat Text"/>
                <a:sym typeface="Red Hat Text"/>
              </a:rPr>
              <a:t> is the single most important metric for a production-stage AI agent. It directly affects both latency and cost.”</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 Manus, Context Engineering for AI Agents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Mainstream AI API Pricing:</a:t>
            </a:r>
            <a:endParaRPr kumimoji="0" lang="en" sz="11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34950" algn="l" defTabSz="914400" rtl="0" eaLnBrk="1" fontAlgn="auto" latinLnBrk="0" hangingPunct="1">
              <a:lnSpc>
                <a:spcPct val="115000"/>
              </a:lnSpc>
              <a:spcBef>
                <a:spcPts val="0"/>
              </a:spcBef>
              <a:spcAft>
                <a:spcPts val="0"/>
              </a:spcAft>
              <a:buClr>
                <a:srgbClr val="000000"/>
              </a:buClr>
              <a:buSzPts val="1100"/>
              <a:buFont typeface="Red Hat Text"/>
              <a:buChar char="●"/>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OpenAI GPT-5: </a:t>
            </a:r>
            <a:r>
              <a:rPr kumimoji="0" lang="en" sz="1500" b="1" i="0" u="none" strike="noStrike" kern="0" cap="none" spc="0" normalizeH="0" baseline="0" noProof="0" dirty="0">
                <a:ln>
                  <a:noFill/>
                </a:ln>
                <a:solidFill>
                  <a:srgbClr val="000000"/>
                </a:solidFill>
                <a:effectLst/>
                <a:uLnTx/>
                <a:uFillTx/>
                <a:latin typeface="Red Hat Text"/>
                <a:ea typeface="Red Hat Text"/>
                <a:cs typeface="Red Hat Text"/>
                <a:sym typeface="Red Hat Text"/>
              </a:rPr>
              <a:t>$1.25</a:t>
            </a: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per 1M input tokens vs </a:t>
            </a:r>
            <a:r>
              <a:rPr kumimoji="0" lang="en" sz="1500" b="1" i="0" u="none" strike="noStrike" kern="0" cap="none" spc="0" normalizeH="0" baseline="0" noProof="0" dirty="0">
                <a:ln>
                  <a:noFill/>
                </a:ln>
                <a:solidFill>
                  <a:srgbClr val="000000"/>
                </a:solidFill>
                <a:effectLst/>
                <a:uLnTx/>
                <a:uFillTx/>
                <a:latin typeface="Red Hat Text"/>
                <a:ea typeface="Red Hat Text"/>
                <a:cs typeface="Red Hat Text"/>
                <a:sym typeface="Red Hat Text"/>
              </a:rPr>
              <a:t>$0.125</a:t>
            </a: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per 1M cached input tokens</a:t>
            </a:r>
            <a:endParaRPr kumimoji="0" lang="en" sz="11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34950" algn="l" defTabSz="914400" rtl="0" eaLnBrk="1" fontAlgn="auto" latinLnBrk="0" hangingPunct="1">
              <a:lnSpc>
                <a:spcPct val="115000"/>
              </a:lnSpc>
              <a:spcBef>
                <a:spcPts val="0"/>
              </a:spcBef>
              <a:spcAft>
                <a:spcPts val="0"/>
              </a:spcAft>
              <a:buClr>
                <a:srgbClr val="000000"/>
              </a:buClr>
              <a:buSzPts val="1100"/>
              <a:buFont typeface="Red Hat Text"/>
              <a:buChar char="●"/>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Anthropic Claude Sonnet: </a:t>
            </a:r>
            <a:r>
              <a:rPr kumimoji="0" lang="en" sz="1500" b="1" i="0" u="none" strike="noStrike" kern="0" cap="none" spc="0" normalizeH="0" baseline="0" noProof="0" dirty="0">
                <a:ln>
                  <a:noFill/>
                </a:ln>
                <a:solidFill>
                  <a:srgbClr val="000000"/>
                </a:solidFill>
                <a:effectLst/>
                <a:uLnTx/>
                <a:uFillTx/>
                <a:latin typeface="Red Hat Text"/>
                <a:ea typeface="Red Hat Text"/>
                <a:cs typeface="Red Hat Text"/>
                <a:sym typeface="Red Hat Text"/>
              </a:rPr>
              <a:t>$3</a:t>
            </a: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per 1M input tokens vs </a:t>
            </a:r>
            <a:r>
              <a:rPr kumimoji="0" lang="en" sz="1500" b="1" i="0" u="none" strike="noStrike" kern="0" cap="none" spc="0" normalizeH="0" baseline="0" noProof="0" dirty="0">
                <a:ln>
                  <a:noFill/>
                </a:ln>
                <a:solidFill>
                  <a:srgbClr val="000000"/>
                </a:solidFill>
                <a:effectLst/>
                <a:uLnTx/>
                <a:uFillTx/>
                <a:latin typeface="Red Hat Text"/>
                <a:ea typeface="Red Hat Text"/>
                <a:cs typeface="Red Hat Text"/>
                <a:sym typeface="Red Hat Text"/>
              </a:rPr>
              <a:t>$0.3</a:t>
            </a: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per 1M cached input tokens </a:t>
            </a:r>
            <a:endParaRPr kumimoji="0" lang="en"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a:t>
            </a: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 name="图片 1">
            <a:extLst>
              <a:ext uri="{FF2B5EF4-FFF2-40B4-BE49-F238E27FC236}">
                <a16:creationId xmlns:a16="http://schemas.microsoft.com/office/drawing/2014/main" id="{0B8DD14D-717C-D944-8CE7-E67DB6AA188E}"/>
              </a:ext>
            </a:extLst>
          </p:cNvPr>
          <p:cNvPicPr>
            <a:picLocks noChangeAspect="1"/>
          </p:cNvPicPr>
          <p:nvPr/>
        </p:nvPicPr>
        <p:blipFill>
          <a:blip r:embed="rId3"/>
          <a:stretch>
            <a:fillRect/>
          </a:stretch>
        </p:blipFill>
        <p:spPr>
          <a:xfrm>
            <a:off x="3360770" y="3702253"/>
            <a:ext cx="5594901" cy="1109677"/>
          </a:xfrm>
          <a:prstGeom prst="rect">
            <a:avLst/>
          </a:prstGeom>
        </p:spPr>
      </p:pic>
      <p:sp>
        <p:nvSpPr>
          <p:cNvPr id="4" name="文本框 3">
            <a:extLst>
              <a:ext uri="{FF2B5EF4-FFF2-40B4-BE49-F238E27FC236}">
                <a16:creationId xmlns:a16="http://schemas.microsoft.com/office/drawing/2014/main" id="{5202A73E-5DAD-45BC-9C7B-DD66FAAA8B59}"/>
              </a:ext>
            </a:extLst>
          </p:cNvPr>
          <p:cNvSpPr txBox="1"/>
          <p:nvPr/>
        </p:nvSpPr>
        <p:spPr>
          <a:xfrm>
            <a:off x="6077670" y="3854840"/>
            <a:ext cx="3276813" cy="323165"/>
          </a:xfrm>
          <a:prstGeom prst="rect">
            <a:avLst/>
          </a:prstGeom>
          <a:noFill/>
        </p:spPr>
        <p:txBody>
          <a:bodyPr wrap="square">
            <a:spAutoFit/>
          </a:bodyPr>
          <a:lstStyle/>
          <a:p>
            <a:r>
              <a:rPr kumimoji="0" lang="en" altLang="zh-CN" sz="1500" b="0" i="0" u="none" strike="noStrike" kern="0" cap="none" spc="0" normalizeH="0" baseline="0" noProof="0" dirty="0">
                <a:ln>
                  <a:noFill/>
                </a:ln>
                <a:solidFill>
                  <a:schemeClr val="bg1"/>
                </a:solidFill>
                <a:effectLst/>
                <a:uLnTx/>
                <a:uFillTx/>
                <a:latin typeface="Red Hat Text"/>
                <a:ea typeface="Red Hat Text"/>
                <a:cs typeface="Red Hat Text"/>
                <a:sym typeface="Red Hat Text"/>
              </a:rPr>
              <a:t>91% </a:t>
            </a:r>
            <a:r>
              <a:rPr kumimoji="0" lang="en" altLang="zh-CN" sz="1500" b="0" i="0" u="none" strike="noStrike" kern="0" cap="none" spc="0" normalizeH="0" baseline="0" noProof="0" dirty="0" err="1">
                <a:ln>
                  <a:noFill/>
                </a:ln>
                <a:solidFill>
                  <a:schemeClr val="bg1"/>
                </a:solidFill>
                <a:effectLst/>
                <a:uLnTx/>
                <a:uFillTx/>
                <a:latin typeface="Red Hat Text"/>
                <a:ea typeface="Red Hat Text"/>
                <a:cs typeface="Red Hat Text"/>
                <a:sym typeface="Red Hat Text"/>
              </a:rPr>
              <a:t>KVCache</a:t>
            </a:r>
            <a:r>
              <a:rPr kumimoji="0" lang="en" altLang="zh-CN" sz="1500" b="0" i="0" u="none" strike="noStrike" kern="0" cap="none" spc="0" normalizeH="0" baseline="0" noProof="0" dirty="0">
                <a:ln>
                  <a:noFill/>
                </a:ln>
                <a:solidFill>
                  <a:schemeClr val="bg1"/>
                </a:solidFill>
                <a:effectLst/>
                <a:uLnTx/>
                <a:uFillTx/>
                <a:latin typeface="Red Hat Text"/>
                <a:ea typeface="Red Hat Text"/>
                <a:cs typeface="Red Hat Text"/>
                <a:sym typeface="Red Hat Text"/>
              </a:rPr>
              <a:t> hit rate (Code</a:t>
            </a:r>
            <a:r>
              <a:rPr kumimoji="0" lang="zh-CN" altLang="en-US" sz="1500" b="0" i="0" u="none" strike="noStrike" kern="0" cap="none" spc="0" normalizeH="0" baseline="0" noProof="0" dirty="0">
                <a:ln>
                  <a:noFill/>
                </a:ln>
                <a:solidFill>
                  <a:schemeClr val="bg1"/>
                </a:solidFill>
                <a:effectLst/>
                <a:uLnTx/>
                <a:uFillTx/>
                <a:latin typeface="Red Hat Text"/>
                <a:ea typeface="Red Hat Text"/>
                <a:cs typeface="Red Hat Text"/>
                <a:sym typeface="Red Hat Text"/>
              </a:rPr>
              <a:t> </a:t>
            </a:r>
            <a:r>
              <a:rPr kumimoji="0" lang="en-US" altLang="zh-CN" sz="1500" b="0" i="0" u="none" strike="noStrike" kern="0" cap="none" spc="0" normalizeH="0" baseline="0" noProof="0" dirty="0">
                <a:ln>
                  <a:noFill/>
                </a:ln>
                <a:solidFill>
                  <a:schemeClr val="bg1"/>
                </a:solidFill>
                <a:effectLst/>
                <a:uLnTx/>
                <a:uFillTx/>
                <a:latin typeface="Red Hat Text"/>
                <a:ea typeface="Red Hat Text"/>
                <a:cs typeface="Red Hat Text"/>
                <a:sym typeface="Red Hat Text"/>
              </a:rPr>
              <a:t>Agent</a:t>
            </a:r>
            <a:r>
              <a:rPr kumimoji="0" lang="en" altLang="zh-CN" sz="1500" b="0" i="0" u="none" strike="noStrike" kern="0" cap="none" spc="0" normalizeH="0" baseline="0" noProof="0" dirty="0">
                <a:ln>
                  <a:noFill/>
                </a:ln>
                <a:solidFill>
                  <a:schemeClr val="bg1"/>
                </a:solidFill>
                <a:effectLst/>
                <a:uLnTx/>
                <a:uFillTx/>
                <a:latin typeface="Red Hat Text"/>
                <a:ea typeface="Red Hat Text"/>
                <a:cs typeface="Red Hat Text"/>
                <a:sym typeface="Red Hat Text"/>
              </a:rPr>
              <a:t>)</a:t>
            </a:r>
          </a:p>
        </p:txBody>
      </p:sp>
      <p:pic>
        <p:nvPicPr>
          <p:cNvPr id="7" name="图片 6">
            <a:extLst>
              <a:ext uri="{FF2B5EF4-FFF2-40B4-BE49-F238E27FC236}">
                <a16:creationId xmlns:a16="http://schemas.microsoft.com/office/drawing/2014/main" id="{D0DE41D0-B999-CED0-D9F0-B9FFF2E84E32}"/>
              </a:ext>
            </a:extLst>
          </p:cNvPr>
          <p:cNvPicPr>
            <a:picLocks noChangeAspect="1"/>
          </p:cNvPicPr>
          <p:nvPr/>
        </p:nvPicPr>
        <p:blipFill>
          <a:blip r:embed="rId4"/>
          <a:stretch>
            <a:fillRect/>
          </a:stretch>
        </p:blipFill>
        <p:spPr>
          <a:xfrm>
            <a:off x="5516057" y="1083314"/>
            <a:ext cx="3656824" cy="2343076"/>
          </a:xfrm>
          <a:prstGeom prst="rect">
            <a:avLst/>
          </a:prstGeom>
        </p:spPr>
      </p:pic>
      <p:sp>
        <p:nvSpPr>
          <p:cNvPr id="8" name="文本框 7">
            <a:extLst>
              <a:ext uri="{FF2B5EF4-FFF2-40B4-BE49-F238E27FC236}">
                <a16:creationId xmlns:a16="http://schemas.microsoft.com/office/drawing/2014/main" id="{141337DC-1EB6-5444-4022-5B8EE4CC711B}"/>
              </a:ext>
            </a:extLst>
          </p:cNvPr>
          <p:cNvSpPr txBox="1"/>
          <p:nvPr/>
        </p:nvSpPr>
        <p:spPr>
          <a:xfrm>
            <a:off x="5597457" y="3321148"/>
            <a:ext cx="3276813" cy="276999"/>
          </a:xfrm>
          <a:prstGeom prst="rect">
            <a:avLst/>
          </a:prstGeom>
          <a:noFill/>
        </p:spPr>
        <p:txBody>
          <a:bodyPr wrap="square">
            <a:spAutoFit/>
          </a:bodyPr>
          <a:lstStyle/>
          <a:p>
            <a:r>
              <a:rPr lang="zh-CN" altLang="zh-CN" sz="1200" dirty="0"/>
              <a:t>Context Windows Are Expanding Rapidly</a:t>
            </a:r>
          </a:p>
        </p:txBody>
      </p:sp>
    </p:spTree>
    <p:extLst>
      <p:ext uri="{BB962C8B-B14F-4D97-AF65-F5344CB8AC3E}">
        <p14:creationId xmlns:p14="http://schemas.microsoft.com/office/powerpoint/2010/main" val="3302939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EF65-77BD-3AF9-068F-F5767164EADB}"/>
              </a:ext>
            </a:extLst>
          </p:cNvPr>
          <p:cNvSpPr>
            <a:spLocks noGrp="1"/>
          </p:cNvSpPr>
          <p:nvPr>
            <p:ph type="title"/>
          </p:nvPr>
        </p:nvSpPr>
        <p:spPr/>
        <p:txBody>
          <a:bodyPr wrap="square" lIns="0" tIns="0" rIns="0" bIns="0" anchor="ctr">
            <a:noAutofit/>
          </a:bodyPr>
          <a:lstStyle/>
          <a:p>
            <a:pPr>
              <a:defRPr sz="2800" b="1">
                <a:solidFill>
                  <a:srgbClr val="FFFFFF"/>
                </a:solidFill>
                <a:latin typeface="Clarity City"/>
                <a:ea typeface="Clarity City"/>
                <a:cs typeface="Clarity City"/>
              </a:defRPr>
            </a:pPr>
            <a:r>
              <a:rPr sz="2800" b="1" dirty="0">
                <a:solidFill>
                  <a:srgbClr val="FFFFFF"/>
                </a:solidFill>
                <a:latin typeface="Clarity City"/>
                <a:ea typeface="Clarity City"/>
                <a:cs typeface="Clarity City"/>
              </a:rPr>
              <a:t>KV Cache Reuses </a:t>
            </a:r>
            <a:r>
              <a:rPr lang="en-US" sz="2800" b="1" dirty="0">
                <a:solidFill>
                  <a:srgbClr val="FFFFFF"/>
                </a:solidFill>
                <a:latin typeface="Clarity City"/>
                <a:ea typeface="Clarity City"/>
                <a:cs typeface="Clarity City"/>
              </a:rPr>
              <a:t>”conversation</a:t>
            </a:r>
            <a:r>
              <a:rPr lang="en-US" altLang="zh-CN" sz="2800" b="1" dirty="0">
                <a:solidFill>
                  <a:srgbClr val="FFFFFF"/>
                </a:solidFill>
                <a:latin typeface="Clarity City"/>
                <a:ea typeface="Clarity City"/>
                <a:cs typeface="Clarity City"/>
              </a:rPr>
              <a:t>”</a:t>
            </a:r>
            <a:endParaRPr sz="2800" b="1" dirty="0">
              <a:solidFill>
                <a:srgbClr val="FFFFFF"/>
              </a:solidFill>
              <a:latin typeface="Clarity City"/>
              <a:ea typeface="Clarity City"/>
              <a:cs typeface="Clarity City"/>
            </a:endParaRPr>
          </a:p>
        </p:txBody>
      </p:sp>
      <p:sp>
        <p:nvSpPr>
          <p:cNvPr id="3" name="reuse-kv-arrow">
            <a:extLst>
              <a:ext uri="{FF2B5EF4-FFF2-40B4-BE49-F238E27FC236}">
                <a16:creationId xmlns:a16="http://schemas.microsoft.com/office/drawing/2014/main" id="{84AD7396-B7A9-465D-ACEA-0AF577CDD8CB}"/>
              </a:ext>
            </a:extLst>
          </p:cNvPr>
          <p:cNvSpPr>
            <a:spLocks noGrp="1"/>
          </p:cNvSpPr>
          <p:nvPr/>
        </p:nvSpPr>
        <p:spPr>
          <a:xfrm>
            <a:off x="4200525" y="2590800"/>
            <a:ext cx="723900" cy="266700"/>
          </a:xfrm>
          <a:prstGeom prst="rightArrow">
            <a:avLst/>
          </a:prstGeom>
          <a:solidFill>
            <a:srgbClr val="FF4B55"/>
          </a:solidFill>
          <a:ln w="0">
            <a:solidFill>
              <a:srgbClr val="FF4B55"/>
            </a:solidFill>
            <a:prstDash val="solid"/>
          </a:ln>
        </p:spPr>
        <p:txBody>
          <a:bodyPr/>
          <a:lstStyle/>
          <a:p>
            <a:endParaRPr lang="zh-CN" altLang="en-US"/>
          </a:p>
        </p:txBody>
      </p:sp>
      <p:sp>
        <p:nvSpPr>
          <p:cNvPr id="4" name="reuse-kv-label">
            <a:extLst>
              <a:ext uri="{FF2B5EF4-FFF2-40B4-BE49-F238E27FC236}">
                <a16:creationId xmlns:a16="http://schemas.microsoft.com/office/drawing/2014/main" id="{3F0EDCE1-2FA2-4AE6-9A48-FBCCE14E964E}"/>
              </a:ext>
            </a:extLst>
          </p:cNvPr>
          <p:cNvSpPr>
            <a:spLocks noGrp="1"/>
          </p:cNvSpPr>
          <p:nvPr/>
        </p:nvSpPr>
        <p:spPr>
          <a:xfrm>
            <a:off x="4191000" y="2295525"/>
            <a:ext cx="742950" cy="228600"/>
          </a:xfrm>
          <a:prstGeom prst="rect">
            <a:avLst/>
          </a:prstGeom>
          <a:noFill/>
          <a:ln w="0">
            <a:noFill/>
            <a:prstDash val="solid"/>
          </a:ln>
        </p:spPr>
        <p:txBody>
          <a:bodyPr wrap="square" lIns="76200" tIns="38100" rIns="76200" bIns="38100" anchor="ctr">
            <a:normAutofit fontScale="95238"/>
          </a:bodyPr>
          <a:lstStyle/>
          <a:p>
            <a:pPr algn="ctr">
              <a:defRPr sz="1050" b="1">
                <a:solidFill>
                  <a:srgbClr val="FF4B55"/>
                </a:solidFill>
                <a:latin typeface="Clarity City"/>
                <a:ea typeface="Clarity City"/>
                <a:cs typeface="Clarity City"/>
              </a:defRPr>
            </a:pPr>
            <a:r>
              <a:rPr sz="1050" b="1">
                <a:solidFill>
                  <a:srgbClr val="FF4B55"/>
                </a:solidFill>
                <a:latin typeface="Clarity City"/>
                <a:ea typeface="Clarity City"/>
                <a:cs typeface="Clarity City"/>
              </a:rPr>
              <a:t>Reuse KV</a:t>
            </a:r>
          </a:p>
        </p:txBody>
      </p:sp>
      <p:sp>
        <p:nvSpPr>
          <p:cNvPr id="5" name="subtitle">
            <a:extLst>
              <a:ext uri="{FF2B5EF4-FFF2-40B4-BE49-F238E27FC236}">
                <a16:creationId xmlns:a16="http://schemas.microsoft.com/office/drawing/2014/main" id="{8EFE7B03-F2B0-4EB5-81A1-E9887F908BD5}"/>
              </a:ext>
            </a:extLst>
          </p:cNvPr>
          <p:cNvSpPr>
            <a:spLocks noGrp="1"/>
          </p:cNvSpPr>
          <p:nvPr/>
        </p:nvSpPr>
        <p:spPr>
          <a:xfrm>
            <a:off x="457200" y="1171575"/>
            <a:ext cx="8229600" cy="285750"/>
          </a:xfrm>
          <a:prstGeom prst="rect">
            <a:avLst/>
          </a:prstGeom>
          <a:noFill/>
          <a:ln w="0">
            <a:noFill/>
            <a:prstDash val="solid"/>
          </a:ln>
        </p:spPr>
        <p:txBody>
          <a:bodyPr wrap="square" lIns="76200" tIns="38100" rIns="76200" bIns="38100" anchor="ctr">
            <a:normAutofit fontScale="91667" lnSpcReduction="10000"/>
          </a:bodyPr>
          <a:lstStyle/>
          <a:p>
            <a:pPr algn="ctr">
              <a:defRPr sz="1500" b="0">
                <a:solidFill>
                  <a:srgbClr val="5F6B86"/>
                </a:solidFill>
                <a:latin typeface="Clarity City"/>
                <a:ea typeface="Clarity City"/>
                <a:cs typeface="Clarity City"/>
              </a:defRPr>
            </a:pPr>
            <a:r>
              <a:rPr sz="1500" b="0" dirty="0">
                <a:solidFill>
                  <a:srgbClr val="5F6B86"/>
                </a:solidFill>
                <a:latin typeface="Clarity City"/>
                <a:ea typeface="Clarity City"/>
                <a:cs typeface="Clarity City"/>
              </a:rPr>
              <a:t>Shared prefixes skip repeated prefill; only new tokens are computed.</a:t>
            </a:r>
          </a:p>
        </p:txBody>
      </p:sp>
      <p:sp>
        <p:nvSpPr>
          <p:cNvPr id="6" name="first-turn-panel">
            <a:extLst>
              <a:ext uri="{FF2B5EF4-FFF2-40B4-BE49-F238E27FC236}">
                <a16:creationId xmlns:a16="http://schemas.microsoft.com/office/drawing/2014/main" id="{EF9E1B27-C06F-4245-8C58-C5102D0024E8}"/>
              </a:ext>
            </a:extLst>
          </p:cNvPr>
          <p:cNvSpPr>
            <a:spLocks noGrp="1"/>
          </p:cNvSpPr>
          <p:nvPr/>
        </p:nvSpPr>
        <p:spPr>
          <a:xfrm>
            <a:off x="457200" y="1581149"/>
            <a:ext cx="3667125" cy="2501751"/>
          </a:xfrm>
          <a:prstGeom prst="roundRect">
            <a:avLst>
              <a:gd name="adj" fmla="val 6140"/>
            </a:avLst>
          </a:prstGeom>
          <a:solidFill>
            <a:srgbClr val="EEF7FF"/>
          </a:solidFill>
          <a:ln w="9525">
            <a:solidFill>
              <a:srgbClr val="B0DDFF"/>
            </a:solidFill>
            <a:prstDash val="solid"/>
          </a:ln>
        </p:spPr>
        <p:txBody>
          <a:bodyPr/>
          <a:lstStyle/>
          <a:p>
            <a:endParaRPr lang="zh-CN" altLang="en-US"/>
          </a:p>
        </p:txBody>
      </p:sp>
      <p:sp>
        <p:nvSpPr>
          <p:cNvPr id="7" name="next-turn-panel">
            <a:extLst>
              <a:ext uri="{FF2B5EF4-FFF2-40B4-BE49-F238E27FC236}">
                <a16:creationId xmlns:a16="http://schemas.microsoft.com/office/drawing/2014/main" id="{25A34584-9C8C-427C-8626-660F3BCA3D3F}"/>
              </a:ext>
            </a:extLst>
          </p:cNvPr>
          <p:cNvSpPr>
            <a:spLocks noGrp="1"/>
          </p:cNvSpPr>
          <p:nvPr/>
        </p:nvSpPr>
        <p:spPr>
          <a:xfrm>
            <a:off x="5010150" y="1581150"/>
            <a:ext cx="3676650" cy="2501752"/>
          </a:xfrm>
          <a:prstGeom prst="roundRect">
            <a:avLst>
              <a:gd name="adj" fmla="val 6140"/>
            </a:avLst>
          </a:prstGeom>
          <a:solidFill>
            <a:srgbClr val="F1F1FF"/>
          </a:solidFill>
          <a:ln w="9525">
            <a:solidFill>
              <a:srgbClr val="C8C6F7"/>
            </a:solidFill>
            <a:prstDash val="solid"/>
          </a:ln>
        </p:spPr>
        <p:txBody>
          <a:bodyPr/>
          <a:lstStyle/>
          <a:p>
            <a:endParaRPr lang="zh-CN" altLang="en-US"/>
          </a:p>
        </p:txBody>
      </p:sp>
      <p:sp>
        <p:nvSpPr>
          <p:cNvPr id="8" name="first-turn-number">
            <a:extLst>
              <a:ext uri="{FF2B5EF4-FFF2-40B4-BE49-F238E27FC236}">
                <a16:creationId xmlns:a16="http://schemas.microsoft.com/office/drawing/2014/main" id="{6E731659-631E-43A9-9549-A61A6A833ADC}"/>
              </a:ext>
            </a:extLst>
          </p:cNvPr>
          <p:cNvSpPr>
            <a:spLocks noGrp="1"/>
          </p:cNvSpPr>
          <p:nvPr/>
        </p:nvSpPr>
        <p:spPr>
          <a:xfrm>
            <a:off x="590550" y="1685925"/>
            <a:ext cx="285750" cy="285750"/>
          </a:xfrm>
          <a:prstGeom prst="roundRect">
            <a:avLst>
              <a:gd name="adj" fmla="val 50000"/>
            </a:avLst>
          </a:prstGeom>
          <a:solidFill>
            <a:srgbClr val="3939D8"/>
          </a:solidFill>
          <a:ln w="0">
            <a:noFill/>
            <a:prstDash val="solid"/>
          </a:ln>
        </p:spPr>
        <p:txBody>
          <a:bodyPr wrap="square" lIns="0" tIns="0" rIns="0" bIns="0" anchor="ctr">
            <a:normAutofit/>
          </a:bodyPr>
          <a:lstStyle/>
          <a:p>
            <a:pPr algn="ctr">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1</a:t>
            </a:r>
          </a:p>
        </p:txBody>
      </p:sp>
      <p:sp>
        <p:nvSpPr>
          <p:cNvPr id="9" name="first-turn-heading">
            <a:extLst>
              <a:ext uri="{FF2B5EF4-FFF2-40B4-BE49-F238E27FC236}">
                <a16:creationId xmlns:a16="http://schemas.microsoft.com/office/drawing/2014/main" id="{F1305FFE-4A0B-42B1-838A-7E29073F5421}"/>
              </a:ext>
            </a:extLst>
          </p:cNvPr>
          <p:cNvSpPr>
            <a:spLocks noGrp="1"/>
          </p:cNvSpPr>
          <p:nvPr/>
        </p:nvSpPr>
        <p:spPr>
          <a:xfrm>
            <a:off x="942975" y="1676400"/>
            <a:ext cx="2952750" cy="304800"/>
          </a:xfrm>
          <a:prstGeom prst="rect">
            <a:avLst/>
          </a:prstGeom>
          <a:noFill/>
          <a:ln w="0">
            <a:noFill/>
            <a:prstDash val="solid"/>
          </a:ln>
        </p:spPr>
        <p:txBody>
          <a:bodyPr wrap="square" lIns="76200" tIns="38100" rIns="76200" bIns="38100" anchor="ctr">
            <a:normAutofit/>
          </a:bodyPr>
          <a:lstStyle/>
          <a:p>
            <a:pPr algn="l">
              <a:defRPr sz="1425" b="1">
                <a:solidFill>
                  <a:srgbClr val="07174B"/>
                </a:solidFill>
                <a:latin typeface="Clarity City"/>
                <a:ea typeface="Clarity City"/>
                <a:cs typeface="Clarity City"/>
              </a:defRPr>
            </a:pPr>
            <a:r>
              <a:rPr sz="1425" b="1">
                <a:solidFill>
                  <a:srgbClr val="07174B"/>
                </a:solidFill>
                <a:latin typeface="Clarity City"/>
                <a:ea typeface="Clarity City"/>
                <a:cs typeface="Clarity City"/>
              </a:rPr>
              <a:t>First Turn — Build the Cache</a:t>
            </a:r>
          </a:p>
        </p:txBody>
      </p:sp>
      <p:sp>
        <p:nvSpPr>
          <p:cNvPr id="10" name="next-turn-number">
            <a:extLst>
              <a:ext uri="{FF2B5EF4-FFF2-40B4-BE49-F238E27FC236}">
                <a16:creationId xmlns:a16="http://schemas.microsoft.com/office/drawing/2014/main" id="{7CA5BDC4-4A2F-4C32-9969-5BE1B679E742}"/>
              </a:ext>
            </a:extLst>
          </p:cNvPr>
          <p:cNvSpPr>
            <a:spLocks noGrp="1"/>
          </p:cNvSpPr>
          <p:nvPr/>
        </p:nvSpPr>
        <p:spPr>
          <a:xfrm>
            <a:off x="5143500" y="1685925"/>
            <a:ext cx="285750" cy="285750"/>
          </a:xfrm>
          <a:prstGeom prst="roundRect">
            <a:avLst>
              <a:gd name="adj" fmla="val 50000"/>
            </a:avLst>
          </a:prstGeom>
          <a:solidFill>
            <a:srgbClr val="FF4B55"/>
          </a:solidFill>
          <a:ln w="0">
            <a:noFill/>
            <a:prstDash val="solid"/>
          </a:ln>
        </p:spPr>
        <p:txBody>
          <a:bodyPr wrap="square" lIns="0" tIns="0" rIns="0" bIns="0" anchor="ctr">
            <a:normAutofit/>
          </a:bodyPr>
          <a:lstStyle/>
          <a:p>
            <a:pPr algn="ctr">
              <a:defRPr sz="1275" b="1">
                <a:solidFill>
                  <a:srgbClr val="FFFFFF"/>
                </a:solidFill>
                <a:latin typeface="Clarity City"/>
                <a:ea typeface="Clarity City"/>
                <a:cs typeface="Clarity City"/>
              </a:defRPr>
            </a:pPr>
            <a:r>
              <a:rPr sz="1275" b="1">
                <a:solidFill>
                  <a:srgbClr val="FFFFFF"/>
                </a:solidFill>
                <a:latin typeface="Clarity City"/>
                <a:ea typeface="Clarity City"/>
                <a:cs typeface="Clarity City"/>
              </a:rPr>
              <a:t>2</a:t>
            </a:r>
          </a:p>
        </p:txBody>
      </p:sp>
      <p:sp>
        <p:nvSpPr>
          <p:cNvPr id="11" name="next-turn-heading">
            <a:extLst>
              <a:ext uri="{FF2B5EF4-FFF2-40B4-BE49-F238E27FC236}">
                <a16:creationId xmlns:a16="http://schemas.microsoft.com/office/drawing/2014/main" id="{516E8AE9-CC06-403C-ADC2-29999A724F65}"/>
              </a:ext>
            </a:extLst>
          </p:cNvPr>
          <p:cNvSpPr>
            <a:spLocks noGrp="1"/>
          </p:cNvSpPr>
          <p:nvPr/>
        </p:nvSpPr>
        <p:spPr>
          <a:xfrm>
            <a:off x="5495925" y="1676400"/>
            <a:ext cx="2952750" cy="304800"/>
          </a:xfrm>
          <a:prstGeom prst="rect">
            <a:avLst/>
          </a:prstGeom>
          <a:noFill/>
          <a:ln w="0">
            <a:noFill/>
            <a:prstDash val="solid"/>
          </a:ln>
        </p:spPr>
        <p:txBody>
          <a:bodyPr wrap="square" lIns="76200" tIns="38100" rIns="76200" bIns="38100" anchor="ctr">
            <a:normAutofit/>
          </a:bodyPr>
          <a:lstStyle/>
          <a:p>
            <a:pPr algn="l">
              <a:defRPr sz="1425" b="1">
                <a:solidFill>
                  <a:srgbClr val="07174B"/>
                </a:solidFill>
                <a:latin typeface="Clarity City"/>
                <a:ea typeface="Clarity City"/>
                <a:cs typeface="Clarity City"/>
              </a:defRPr>
            </a:pPr>
            <a:r>
              <a:rPr sz="1425" b="1" dirty="0">
                <a:solidFill>
                  <a:srgbClr val="07174B"/>
                </a:solidFill>
                <a:latin typeface="Clarity City"/>
                <a:ea typeface="Clarity City"/>
                <a:cs typeface="Clarity City"/>
              </a:rPr>
              <a:t>Next Turn — Reuse the Prefix</a:t>
            </a:r>
          </a:p>
        </p:txBody>
      </p:sp>
      <p:sp>
        <p:nvSpPr>
          <p:cNvPr id="13" name="first-user-question">
            <a:extLst>
              <a:ext uri="{FF2B5EF4-FFF2-40B4-BE49-F238E27FC236}">
                <a16:creationId xmlns:a16="http://schemas.microsoft.com/office/drawing/2014/main" id="{137004A0-5B10-4B23-B7BD-84271B46707B}"/>
              </a:ext>
            </a:extLst>
          </p:cNvPr>
          <p:cNvSpPr>
            <a:spLocks noGrp="1"/>
          </p:cNvSpPr>
          <p:nvPr/>
        </p:nvSpPr>
        <p:spPr>
          <a:xfrm>
            <a:off x="695324" y="2368550"/>
            <a:ext cx="3190875" cy="304800"/>
          </a:xfrm>
          <a:prstGeom prst="roundRect">
            <a:avLst>
              <a:gd name="adj" fmla="val 25000"/>
            </a:avLst>
          </a:prstGeom>
          <a:solidFill>
            <a:srgbClr val="3939D8"/>
          </a:solidFill>
          <a:ln w="0">
            <a:noFill/>
            <a:prstDash val="solid"/>
          </a:ln>
        </p:spPr>
        <p:txBody>
          <a:bodyPr wrap="square" lIns="76200" tIns="38100" rIns="76200" bIns="38100" anchor="ctr">
            <a:normAutofit/>
          </a:bodyPr>
          <a:lstStyle/>
          <a:p>
            <a:pPr algn="ctr">
              <a:defRPr sz="1200" b="1">
                <a:solidFill>
                  <a:srgbClr val="FFFFFF"/>
                </a:solidFill>
                <a:latin typeface="Clarity City"/>
                <a:ea typeface="Clarity City"/>
                <a:cs typeface="Clarity City"/>
              </a:defRPr>
            </a:pPr>
            <a:r>
              <a:rPr sz="1200" b="1">
                <a:solidFill>
                  <a:srgbClr val="FFFFFF"/>
                </a:solidFill>
                <a:latin typeface="Clarity City"/>
                <a:ea typeface="Clarity City"/>
                <a:cs typeface="Clarity City"/>
              </a:rPr>
              <a:t>「横浜は綺麗ですか？」</a:t>
            </a:r>
          </a:p>
        </p:txBody>
      </p:sp>
      <p:sp>
        <p:nvSpPr>
          <p:cNvPr id="14" name="first-model-answer">
            <a:extLst>
              <a:ext uri="{FF2B5EF4-FFF2-40B4-BE49-F238E27FC236}">
                <a16:creationId xmlns:a16="http://schemas.microsoft.com/office/drawing/2014/main" id="{20748BDA-A128-48B8-8DA0-B997FC893CBA}"/>
              </a:ext>
            </a:extLst>
          </p:cNvPr>
          <p:cNvSpPr>
            <a:spLocks noGrp="1"/>
          </p:cNvSpPr>
          <p:nvPr/>
        </p:nvSpPr>
        <p:spPr>
          <a:xfrm>
            <a:off x="695324" y="3033713"/>
            <a:ext cx="3190875" cy="304800"/>
          </a:xfrm>
          <a:prstGeom prst="roundRect">
            <a:avLst>
              <a:gd name="adj" fmla="val 25000"/>
            </a:avLst>
          </a:prstGeom>
          <a:solidFill>
            <a:srgbClr val="B0DDFF"/>
          </a:solidFill>
          <a:ln w="9525">
            <a:solidFill>
              <a:srgbClr val="8FC7F2"/>
            </a:solidFill>
            <a:prstDash val="solid"/>
          </a:ln>
        </p:spPr>
        <p:txBody>
          <a:bodyPr wrap="square" lIns="76200" tIns="38100" rIns="76200" bIns="38100" anchor="ctr">
            <a:normAutofit/>
          </a:bodyPr>
          <a:lstStyle/>
          <a:p>
            <a:pPr algn="ctr">
              <a:defRPr sz="1200" b="0">
                <a:solidFill>
                  <a:srgbClr val="07174B"/>
                </a:solidFill>
                <a:latin typeface="Clarity City"/>
                <a:ea typeface="Clarity City"/>
                <a:cs typeface="Clarity City"/>
              </a:defRPr>
            </a:pPr>
            <a:r>
              <a:rPr sz="1200" b="0" dirty="0">
                <a:solidFill>
                  <a:srgbClr val="07174B"/>
                </a:solidFill>
                <a:latin typeface="Clarity City"/>
                <a:ea typeface="Clarity City"/>
                <a:cs typeface="Clarity City"/>
              </a:rPr>
              <a:t>「</a:t>
            </a:r>
            <a:r>
              <a:rPr lang="zh-CN" altLang="zh-CN" dirty="0"/>
              <a:t>はい、綺麗です</a:t>
            </a:r>
            <a:r>
              <a:rPr sz="1200" b="0" dirty="0">
                <a:solidFill>
                  <a:srgbClr val="07174B"/>
                </a:solidFill>
                <a:latin typeface="Clarity City"/>
                <a:ea typeface="Clarity City"/>
                <a:cs typeface="Clarity City"/>
              </a:rPr>
              <a:t>。」</a:t>
            </a:r>
          </a:p>
        </p:txBody>
      </p:sp>
      <p:sp>
        <p:nvSpPr>
          <p:cNvPr id="15" name="first-turn-result">
            <a:extLst>
              <a:ext uri="{FF2B5EF4-FFF2-40B4-BE49-F238E27FC236}">
                <a16:creationId xmlns:a16="http://schemas.microsoft.com/office/drawing/2014/main" id="{E861745F-9AAD-443E-8C9B-4A6FB70B7609}"/>
              </a:ext>
            </a:extLst>
          </p:cNvPr>
          <p:cNvSpPr>
            <a:spLocks noGrp="1"/>
          </p:cNvSpPr>
          <p:nvPr/>
        </p:nvSpPr>
        <p:spPr>
          <a:xfrm>
            <a:off x="690562" y="3698876"/>
            <a:ext cx="3190875" cy="304800"/>
          </a:xfrm>
          <a:prstGeom prst="rect">
            <a:avLst/>
          </a:prstGeom>
          <a:noFill/>
          <a:ln w="0">
            <a:noFill/>
            <a:prstDash val="solid"/>
          </a:ln>
        </p:spPr>
        <p:txBody>
          <a:bodyPr wrap="square" lIns="76200" tIns="38100" rIns="76200" bIns="38100" anchor="ctr">
            <a:normAutofit/>
          </a:bodyPr>
          <a:lstStyle/>
          <a:p>
            <a:pPr algn="ctr">
              <a:defRPr sz="1125" b="1">
                <a:solidFill>
                  <a:srgbClr val="3939D8"/>
                </a:solidFill>
                <a:latin typeface="Clarity City"/>
                <a:ea typeface="Clarity City"/>
                <a:cs typeface="Clarity City"/>
              </a:defRPr>
            </a:pPr>
            <a:r>
              <a:rPr sz="1125" b="1" dirty="0">
                <a:solidFill>
                  <a:srgbClr val="3939D8"/>
                </a:solidFill>
                <a:latin typeface="Clarity City"/>
                <a:ea typeface="Clarity City"/>
                <a:cs typeface="Clarity City"/>
              </a:rPr>
              <a:t>Full prefill  →  KV state stored</a:t>
            </a:r>
          </a:p>
        </p:txBody>
      </p:sp>
      <p:sp>
        <p:nvSpPr>
          <p:cNvPr id="16" name="cached-prefix-container">
            <a:extLst>
              <a:ext uri="{FF2B5EF4-FFF2-40B4-BE49-F238E27FC236}">
                <a16:creationId xmlns:a16="http://schemas.microsoft.com/office/drawing/2014/main" id="{51429855-D709-433F-AEC9-657F5E0BB113}"/>
              </a:ext>
            </a:extLst>
          </p:cNvPr>
          <p:cNvSpPr>
            <a:spLocks noGrp="1"/>
          </p:cNvSpPr>
          <p:nvPr/>
        </p:nvSpPr>
        <p:spPr>
          <a:xfrm>
            <a:off x="5248275" y="2702747"/>
            <a:ext cx="3200400" cy="238124"/>
          </a:xfrm>
          <a:prstGeom prst="roundRect">
            <a:avLst>
              <a:gd name="adj" fmla="val 10976"/>
            </a:avLst>
          </a:prstGeom>
          <a:solidFill>
            <a:srgbClr val="FFFFFF"/>
          </a:solidFill>
          <a:ln w="14288">
            <a:solidFill>
              <a:srgbClr val="A8A5E8"/>
            </a:solidFill>
            <a:prstDash val="solid"/>
          </a:ln>
        </p:spPr>
        <p:txBody>
          <a:bodyPr/>
          <a:lstStyle/>
          <a:p>
            <a:endParaRPr lang="zh-CN" altLang="en-US"/>
          </a:p>
        </p:txBody>
      </p:sp>
      <p:sp>
        <p:nvSpPr>
          <p:cNvPr id="17" name="cached-prefix-label">
            <a:extLst>
              <a:ext uri="{FF2B5EF4-FFF2-40B4-BE49-F238E27FC236}">
                <a16:creationId xmlns:a16="http://schemas.microsoft.com/office/drawing/2014/main" id="{947237C4-F0F5-41C1-8A93-02FE1EC2D92C}"/>
              </a:ext>
            </a:extLst>
          </p:cNvPr>
          <p:cNvSpPr>
            <a:spLocks noGrp="1"/>
          </p:cNvSpPr>
          <p:nvPr/>
        </p:nvSpPr>
        <p:spPr>
          <a:xfrm>
            <a:off x="5346069" y="2740847"/>
            <a:ext cx="1371600" cy="209550"/>
          </a:xfrm>
          <a:prstGeom prst="rect">
            <a:avLst/>
          </a:prstGeom>
          <a:noFill/>
          <a:ln w="0">
            <a:noFill/>
            <a:prstDash val="solid"/>
          </a:ln>
        </p:spPr>
        <p:txBody>
          <a:bodyPr wrap="square" lIns="0" tIns="0" rIns="0" bIns="0" anchor="ctr">
            <a:normAutofit/>
          </a:bodyPr>
          <a:lstStyle/>
          <a:p>
            <a:pPr algn="l">
              <a:defRPr sz="900" b="1">
                <a:solidFill>
                  <a:srgbClr val="3939D8"/>
                </a:solidFill>
                <a:latin typeface="Clarity City"/>
                <a:ea typeface="Clarity City"/>
                <a:cs typeface="Clarity City"/>
              </a:defRPr>
            </a:pPr>
            <a:r>
              <a:rPr sz="900" b="1" dirty="0">
                <a:solidFill>
                  <a:srgbClr val="3939D8"/>
                </a:solidFill>
                <a:latin typeface="Clarity City"/>
                <a:ea typeface="Clarity City"/>
                <a:cs typeface="Clarity City"/>
              </a:rPr>
              <a:t>CACHED PREFIX</a:t>
            </a:r>
          </a:p>
        </p:txBody>
      </p:sp>
      <p:sp>
        <p:nvSpPr>
          <p:cNvPr id="20" name="new-user-question">
            <a:extLst>
              <a:ext uri="{FF2B5EF4-FFF2-40B4-BE49-F238E27FC236}">
                <a16:creationId xmlns:a16="http://schemas.microsoft.com/office/drawing/2014/main" id="{F1EE0D4A-1FDC-43C4-B605-7BB06B8113ED}"/>
              </a:ext>
            </a:extLst>
          </p:cNvPr>
          <p:cNvSpPr>
            <a:spLocks noGrp="1"/>
          </p:cNvSpPr>
          <p:nvPr/>
        </p:nvSpPr>
        <p:spPr>
          <a:xfrm>
            <a:off x="5286375" y="3363555"/>
            <a:ext cx="3200400" cy="352425"/>
          </a:xfrm>
          <a:prstGeom prst="roundRect">
            <a:avLst>
              <a:gd name="adj" fmla="val 21622"/>
            </a:avLst>
          </a:prstGeom>
          <a:solidFill>
            <a:srgbClr val="FFA35F"/>
          </a:solidFill>
          <a:ln w="9525">
            <a:solidFill>
              <a:srgbClr val="EF8B42"/>
            </a:solidFill>
            <a:prstDash val="solid"/>
          </a:ln>
        </p:spPr>
        <p:txBody>
          <a:bodyPr wrap="square" lIns="76200" tIns="38100" rIns="76200" bIns="38100" anchor="ctr">
            <a:normAutofit/>
          </a:bodyPr>
          <a:lstStyle/>
          <a:p>
            <a:pPr algn="ctr">
              <a:defRPr sz="1200" b="0">
                <a:solidFill>
                  <a:srgbClr val="07174B"/>
                </a:solidFill>
                <a:latin typeface="Clarity City"/>
                <a:ea typeface="Clarity City"/>
                <a:cs typeface="Clarity City"/>
              </a:defRPr>
            </a:pPr>
            <a:r>
              <a:rPr lang="ja-JP" altLang="en-US" sz="1100">
                <a:solidFill>
                  <a:srgbClr val="07174B"/>
                </a:solidFill>
                <a:latin typeface="Clarity City"/>
                <a:ea typeface="Clarity City"/>
                <a:cs typeface="Clarity City"/>
              </a:rPr>
              <a:t>「</a:t>
            </a:r>
            <a:r>
              <a:rPr lang="ja-JP" altLang="en-US" sz="1100"/>
              <a:t>はい、</a:t>
            </a:r>
            <a:r>
              <a:rPr lang="zh-CN" altLang="en-US" sz="1100" dirty="0"/>
              <a:t>綺麗</a:t>
            </a:r>
            <a:r>
              <a:rPr lang="ja-JP" altLang="en-US" sz="1100"/>
              <a:t>です</a:t>
            </a:r>
            <a:r>
              <a:rPr lang="ja-JP" altLang="en-US" sz="1100">
                <a:solidFill>
                  <a:srgbClr val="07174B"/>
                </a:solidFill>
                <a:latin typeface="Clarity City"/>
                <a:ea typeface="Clarity City"/>
                <a:cs typeface="Clarity City"/>
              </a:rPr>
              <a:t>。」</a:t>
            </a:r>
            <a:endParaRPr lang="ja-JP" altLang="en-US" sz="1100" dirty="0">
              <a:solidFill>
                <a:srgbClr val="07174B"/>
              </a:solidFill>
              <a:latin typeface="Clarity City"/>
              <a:ea typeface="Clarity City"/>
              <a:cs typeface="Clarity City"/>
            </a:endParaRPr>
          </a:p>
        </p:txBody>
      </p:sp>
      <p:sp>
        <p:nvSpPr>
          <p:cNvPr id="21" name="next-turn-result">
            <a:extLst>
              <a:ext uri="{FF2B5EF4-FFF2-40B4-BE49-F238E27FC236}">
                <a16:creationId xmlns:a16="http://schemas.microsoft.com/office/drawing/2014/main" id="{5B18C86A-5AEC-4615-911E-113C23DC102A}"/>
              </a:ext>
            </a:extLst>
          </p:cNvPr>
          <p:cNvSpPr>
            <a:spLocks noGrp="1"/>
          </p:cNvSpPr>
          <p:nvPr/>
        </p:nvSpPr>
        <p:spPr>
          <a:xfrm>
            <a:off x="5243513" y="3720580"/>
            <a:ext cx="3200400" cy="285750"/>
          </a:xfrm>
          <a:prstGeom prst="rect">
            <a:avLst/>
          </a:prstGeom>
          <a:noFill/>
          <a:ln w="0">
            <a:noFill/>
            <a:prstDash val="solid"/>
          </a:ln>
        </p:spPr>
        <p:txBody>
          <a:bodyPr wrap="square" lIns="76200" tIns="38100" rIns="76200" bIns="38100" anchor="ctr">
            <a:normAutofit fontScale="94482"/>
          </a:bodyPr>
          <a:lstStyle/>
          <a:p>
            <a:pPr algn="ctr">
              <a:defRPr sz="1050" b="1">
                <a:solidFill>
                  <a:srgbClr val="FF4B55"/>
                </a:solidFill>
                <a:latin typeface="Clarity City"/>
                <a:ea typeface="Clarity City"/>
                <a:cs typeface="Clarity City"/>
              </a:defRPr>
            </a:pPr>
            <a:r>
              <a:rPr sz="1050" b="1" dirty="0">
                <a:solidFill>
                  <a:srgbClr val="FF4B55"/>
                </a:solidFill>
                <a:latin typeface="Clarity City"/>
                <a:ea typeface="Clarity City"/>
                <a:cs typeface="Clarity City"/>
              </a:rPr>
              <a:t>Prefill new tokens only  →  Generate a new answer</a:t>
            </a:r>
          </a:p>
        </p:txBody>
      </p:sp>
      <p:sp>
        <p:nvSpPr>
          <p:cNvPr id="22" name="takeaway-band">
            <a:extLst>
              <a:ext uri="{FF2B5EF4-FFF2-40B4-BE49-F238E27FC236}">
                <a16:creationId xmlns:a16="http://schemas.microsoft.com/office/drawing/2014/main" id="{C85167BD-6AE7-4B1B-BD99-1978669869F7}"/>
              </a:ext>
            </a:extLst>
          </p:cNvPr>
          <p:cNvSpPr>
            <a:spLocks noGrp="1"/>
          </p:cNvSpPr>
          <p:nvPr/>
        </p:nvSpPr>
        <p:spPr>
          <a:xfrm>
            <a:off x="457200" y="4255322"/>
            <a:ext cx="8229600" cy="438150"/>
          </a:xfrm>
          <a:prstGeom prst="roundRect">
            <a:avLst>
              <a:gd name="adj" fmla="val 21739"/>
            </a:avLst>
          </a:prstGeom>
          <a:solidFill>
            <a:srgbClr val="FFF3E4"/>
          </a:solidFill>
          <a:ln w="9525">
            <a:solidFill>
              <a:srgbClr val="FFD4A8"/>
            </a:solidFill>
            <a:prstDash val="solid"/>
          </a:ln>
        </p:spPr>
        <p:txBody>
          <a:bodyPr wrap="square" lIns="95250" tIns="47625" rIns="95250" bIns="47625" anchor="ctr">
            <a:normAutofit fontScale="85995" lnSpcReduction="10000"/>
          </a:bodyPr>
          <a:lstStyle/>
          <a:p>
            <a:pPr algn="ctr">
              <a:defRPr sz="1200" b="1">
                <a:solidFill>
                  <a:srgbClr val="07174B"/>
                </a:solidFill>
                <a:latin typeface="Clarity City"/>
                <a:ea typeface="Clarity City"/>
                <a:cs typeface="Clarity City"/>
              </a:defRPr>
            </a:pPr>
            <a:r>
              <a:rPr sz="1200" b="1" dirty="0">
                <a:solidFill>
                  <a:srgbClr val="07174B"/>
                </a:solidFill>
                <a:latin typeface="Clarity City"/>
                <a:ea typeface="Clarity City"/>
                <a:cs typeface="Clarity City"/>
              </a:rPr>
              <a:t>More shared prefix  →  Less </a:t>
            </a:r>
            <a:r>
              <a:rPr sz="1200" b="1" dirty="0" err="1">
                <a:solidFill>
                  <a:srgbClr val="07174B"/>
                </a:solidFill>
                <a:latin typeface="Clarity City"/>
                <a:ea typeface="Clarity City"/>
                <a:cs typeface="Clarity City"/>
              </a:rPr>
              <a:t>recomputation</a:t>
            </a:r>
            <a:r>
              <a:rPr sz="1200" b="1" dirty="0">
                <a:solidFill>
                  <a:srgbClr val="07174B"/>
                </a:solidFill>
                <a:latin typeface="Clarity City"/>
                <a:ea typeface="Clarity City"/>
                <a:cs typeface="Clarity City"/>
              </a:rPr>
              <a:t>  →  Lower TTFT and GPU cost</a:t>
            </a:r>
          </a:p>
          <a:p>
            <a:pPr algn="ctr">
              <a:defRPr sz="1200" b="1">
                <a:solidFill>
                  <a:srgbClr val="07174B"/>
                </a:solidFill>
                <a:latin typeface="Clarity City"/>
                <a:ea typeface="Clarity City"/>
                <a:cs typeface="Clarity City"/>
              </a:defRPr>
            </a:pPr>
            <a:r>
              <a:rPr sz="1200" b="1" dirty="0">
                <a:solidFill>
                  <a:srgbClr val="07174B"/>
                </a:solidFill>
                <a:latin typeface="Clarity City"/>
                <a:ea typeface="Clarity City"/>
                <a:cs typeface="Clarity City"/>
              </a:rPr>
              <a:t>KV cache stores attention state — not the final answer.</a:t>
            </a:r>
          </a:p>
        </p:txBody>
      </p:sp>
      <p:sp>
        <p:nvSpPr>
          <p:cNvPr id="26" name="文本框 25">
            <a:extLst>
              <a:ext uri="{FF2B5EF4-FFF2-40B4-BE49-F238E27FC236}">
                <a16:creationId xmlns:a16="http://schemas.microsoft.com/office/drawing/2014/main" id="{6D0423A7-44B0-4670-FA26-CDDB8D8DF030}"/>
              </a:ext>
            </a:extLst>
          </p:cNvPr>
          <p:cNvSpPr txBox="1"/>
          <p:nvPr/>
        </p:nvSpPr>
        <p:spPr>
          <a:xfrm>
            <a:off x="-931635" y="2047875"/>
            <a:ext cx="4333875" cy="276999"/>
          </a:xfrm>
          <a:prstGeom prst="rect">
            <a:avLst/>
          </a:prstGeom>
          <a:noFill/>
        </p:spPr>
        <p:txBody>
          <a:bodyPr wrap="square">
            <a:spAutoFit/>
          </a:bodyPr>
          <a:lstStyle/>
          <a:p>
            <a:pPr algn="ctr">
              <a:defRPr sz="1200" b="1">
                <a:solidFill>
                  <a:srgbClr val="FFFFFF"/>
                </a:solidFill>
                <a:latin typeface="Clarity City"/>
                <a:ea typeface="Clarity City"/>
                <a:cs typeface="Clarity City"/>
              </a:defRPr>
            </a:pPr>
            <a:r>
              <a:rPr lang="en" altLang="zh-CN" dirty="0">
                <a:solidFill>
                  <a:schemeClr val="tx1"/>
                </a:solidFill>
              </a:rPr>
              <a:t>System prompt</a:t>
            </a:r>
          </a:p>
        </p:txBody>
      </p:sp>
      <p:sp>
        <p:nvSpPr>
          <p:cNvPr id="27" name="文本框 26">
            <a:extLst>
              <a:ext uri="{FF2B5EF4-FFF2-40B4-BE49-F238E27FC236}">
                <a16:creationId xmlns:a16="http://schemas.microsoft.com/office/drawing/2014/main" id="{A9DCA619-13BF-DED2-3F73-D228C3F43256}"/>
              </a:ext>
            </a:extLst>
          </p:cNvPr>
          <p:cNvSpPr txBox="1"/>
          <p:nvPr/>
        </p:nvSpPr>
        <p:spPr>
          <a:xfrm>
            <a:off x="-931636" y="2725758"/>
            <a:ext cx="4333875" cy="276999"/>
          </a:xfrm>
          <a:prstGeom prst="rect">
            <a:avLst/>
          </a:prstGeom>
          <a:noFill/>
        </p:spPr>
        <p:txBody>
          <a:bodyPr wrap="square">
            <a:spAutoFit/>
          </a:bodyPr>
          <a:lstStyle/>
          <a:p>
            <a:pPr algn="ctr">
              <a:defRPr sz="1200" b="1">
                <a:solidFill>
                  <a:srgbClr val="FFFFFF"/>
                </a:solidFill>
                <a:latin typeface="Clarity City"/>
                <a:ea typeface="Clarity City"/>
                <a:cs typeface="Clarity City"/>
              </a:defRPr>
            </a:pPr>
            <a:r>
              <a:rPr lang="en" altLang="zh-CN" dirty="0">
                <a:solidFill>
                  <a:schemeClr val="tx1"/>
                </a:solidFill>
              </a:rPr>
              <a:t>Output tokens:</a:t>
            </a:r>
          </a:p>
        </p:txBody>
      </p:sp>
      <p:sp>
        <p:nvSpPr>
          <p:cNvPr id="28" name="first-user-question">
            <a:extLst>
              <a:ext uri="{FF2B5EF4-FFF2-40B4-BE49-F238E27FC236}">
                <a16:creationId xmlns:a16="http://schemas.microsoft.com/office/drawing/2014/main" id="{96E7AC0E-3C21-5FF1-3DF0-11ACD9C11332}"/>
              </a:ext>
            </a:extLst>
          </p:cNvPr>
          <p:cNvSpPr>
            <a:spLocks noGrp="1"/>
          </p:cNvSpPr>
          <p:nvPr/>
        </p:nvSpPr>
        <p:spPr>
          <a:xfrm>
            <a:off x="5248275" y="2324124"/>
            <a:ext cx="3190875" cy="304800"/>
          </a:xfrm>
          <a:prstGeom prst="roundRect">
            <a:avLst>
              <a:gd name="adj" fmla="val 25000"/>
            </a:avLst>
          </a:prstGeom>
          <a:solidFill>
            <a:srgbClr val="3939D8"/>
          </a:solidFill>
          <a:ln w="0">
            <a:noFill/>
            <a:prstDash val="solid"/>
          </a:ln>
        </p:spPr>
        <p:txBody>
          <a:bodyPr wrap="square" lIns="76200" tIns="38100" rIns="76200" bIns="38100" anchor="ctr">
            <a:normAutofit/>
          </a:bodyPr>
          <a:lstStyle/>
          <a:p>
            <a:pPr algn="ctr">
              <a:defRPr sz="1200" b="1">
                <a:solidFill>
                  <a:srgbClr val="FFFFFF"/>
                </a:solidFill>
                <a:latin typeface="Clarity City"/>
                <a:ea typeface="Clarity City"/>
                <a:cs typeface="Clarity City"/>
              </a:defRPr>
            </a:pPr>
            <a:r>
              <a:rPr sz="1200" b="1">
                <a:solidFill>
                  <a:srgbClr val="FFFFFF"/>
                </a:solidFill>
                <a:latin typeface="Clarity City"/>
                <a:ea typeface="Clarity City"/>
                <a:cs typeface="Clarity City"/>
              </a:rPr>
              <a:t>「横浜は綺麗ですか？」</a:t>
            </a:r>
          </a:p>
        </p:txBody>
      </p:sp>
      <p:sp>
        <p:nvSpPr>
          <p:cNvPr id="29" name="文本框 28">
            <a:extLst>
              <a:ext uri="{FF2B5EF4-FFF2-40B4-BE49-F238E27FC236}">
                <a16:creationId xmlns:a16="http://schemas.microsoft.com/office/drawing/2014/main" id="{07B1F527-E909-320A-58E5-130548B46F98}"/>
              </a:ext>
            </a:extLst>
          </p:cNvPr>
          <p:cNvSpPr txBox="1"/>
          <p:nvPr/>
        </p:nvSpPr>
        <p:spPr>
          <a:xfrm>
            <a:off x="3621316" y="2003449"/>
            <a:ext cx="4333875" cy="276999"/>
          </a:xfrm>
          <a:prstGeom prst="rect">
            <a:avLst/>
          </a:prstGeom>
          <a:noFill/>
        </p:spPr>
        <p:txBody>
          <a:bodyPr wrap="square">
            <a:spAutoFit/>
          </a:bodyPr>
          <a:lstStyle/>
          <a:p>
            <a:pPr algn="ctr">
              <a:defRPr sz="1200" b="1">
                <a:solidFill>
                  <a:srgbClr val="FFFFFF"/>
                </a:solidFill>
                <a:latin typeface="Clarity City"/>
                <a:ea typeface="Clarity City"/>
                <a:cs typeface="Clarity City"/>
              </a:defRPr>
            </a:pPr>
            <a:r>
              <a:rPr lang="en" altLang="zh-CN" dirty="0">
                <a:solidFill>
                  <a:schemeClr val="tx1"/>
                </a:solidFill>
              </a:rPr>
              <a:t>System prompt</a:t>
            </a:r>
          </a:p>
        </p:txBody>
      </p:sp>
      <p:sp>
        <p:nvSpPr>
          <p:cNvPr id="30" name="文本框 29">
            <a:extLst>
              <a:ext uri="{FF2B5EF4-FFF2-40B4-BE49-F238E27FC236}">
                <a16:creationId xmlns:a16="http://schemas.microsoft.com/office/drawing/2014/main" id="{2D3F39F6-E87F-F616-E3EF-94C6EE93B05B}"/>
              </a:ext>
            </a:extLst>
          </p:cNvPr>
          <p:cNvSpPr txBox="1"/>
          <p:nvPr/>
        </p:nvSpPr>
        <p:spPr>
          <a:xfrm>
            <a:off x="3640363" y="3010703"/>
            <a:ext cx="4333875" cy="276999"/>
          </a:xfrm>
          <a:prstGeom prst="rect">
            <a:avLst/>
          </a:prstGeom>
          <a:noFill/>
        </p:spPr>
        <p:txBody>
          <a:bodyPr wrap="square">
            <a:spAutoFit/>
          </a:bodyPr>
          <a:lstStyle/>
          <a:p>
            <a:pPr algn="ctr">
              <a:defRPr sz="1200" b="1">
                <a:solidFill>
                  <a:srgbClr val="FFFFFF"/>
                </a:solidFill>
                <a:latin typeface="Clarity City"/>
                <a:ea typeface="Clarity City"/>
                <a:cs typeface="Clarity City"/>
              </a:defRPr>
            </a:pPr>
            <a:r>
              <a:rPr lang="en" altLang="zh-CN" dirty="0">
                <a:solidFill>
                  <a:schemeClr val="tx1"/>
                </a:solidFill>
              </a:rPr>
              <a:t>Output tokens:</a:t>
            </a:r>
          </a:p>
        </p:txBody>
      </p:sp>
    </p:spTree>
    <p:extLst>
      <p:ext uri="{BB962C8B-B14F-4D97-AF65-F5344CB8AC3E}">
        <p14:creationId xmlns:p14="http://schemas.microsoft.com/office/powerpoint/2010/main" val="1659535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7"/>
        <p:cNvGrpSpPr/>
        <p:nvPr/>
      </p:nvGrpSpPr>
      <p:grpSpPr>
        <a:xfrm>
          <a:off x="0" y="0"/>
          <a:ext cx="0" cy="0"/>
          <a:chOff x="0" y="0"/>
          <a:chExt cx="0" cy="0"/>
        </a:xfrm>
      </p:grpSpPr>
      <p:grpSp>
        <p:nvGrpSpPr>
          <p:cNvPr id="2858" name="Google Shape;2858;p245"/>
          <p:cNvGrpSpPr/>
          <p:nvPr/>
        </p:nvGrpSpPr>
        <p:grpSpPr>
          <a:xfrm>
            <a:off x="1463794" y="2474874"/>
            <a:ext cx="6266680" cy="2162181"/>
            <a:chOff x="1169525" y="2444200"/>
            <a:chExt cx="6804951" cy="2347900"/>
          </a:xfrm>
        </p:grpSpPr>
        <p:pic>
          <p:nvPicPr>
            <p:cNvPr id="2859" name="Google Shape;2859;p245"/>
            <p:cNvPicPr preferRelativeResize="0"/>
            <p:nvPr/>
          </p:nvPicPr>
          <p:blipFill rotWithShape="1">
            <a:blip r:embed="rId3">
              <a:alphaModFix/>
            </a:blip>
            <a:srcRect b="21123"/>
            <a:stretch/>
          </p:blipFill>
          <p:spPr>
            <a:xfrm>
              <a:off x="1169525" y="2444200"/>
              <a:ext cx="6804948" cy="1852001"/>
            </a:xfrm>
            <a:prstGeom prst="rect">
              <a:avLst/>
            </a:prstGeom>
            <a:noFill/>
            <a:ln>
              <a:noFill/>
            </a:ln>
          </p:spPr>
        </p:pic>
        <p:pic>
          <p:nvPicPr>
            <p:cNvPr id="2860" name="Google Shape;2860;p245"/>
            <p:cNvPicPr preferRelativeResize="0"/>
            <p:nvPr/>
          </p:nvPicPr>
          <p:blipFill rotWithShape="1">
            <a:blip r:embed="rId3">
              <a:alphaModFix/>
            </a:blip>
            <a:srcRect l="10698"/>
            <a:stretch/>
          </p:blipFill>
          <p:spPr>
            <a:xfrm>
              <a:off x="1897475" y="2444200"/>
              <a:ext cx="6077001" cy="2347900"/>
            </a:xfrm>
            <a:prstGeom prst="rect">
              <a:avLst/>
            </a:prstGeom>
            <a:noFill/>
            <a:ln>
              <a:noFill/>
            </a:ln>
          </p:spPr>
        </p:pic>
      </p:grpSp>
      <p:sp>
        <p:nvSpPr>
          <p:cNvPr id="2" name="标题 1">
            <a:extLst>
              <a:ext uri="{FF2B5EF4-FFF2-40B4-BE49-F238E27FC236}">
                <a16:creationId xmlns:a16="http://schemas.microsoft.com/office/drawing/2014/main" id="{227307CD-75AB-2A5A-2997-6D2550FF4983}"/>
              </a:ext>
            </a:extLst>
          </p:cNvPr>
          <p:cNvSpPr>
            <a:spLocks noGrp="1"/>
          </p:cNvSpPr>
          <p:nvPr>
            <p:ph type="title"/>
          </p:nvPr>
        </p:nvSpPr>
        <p:spPr/>
        <p:txBody>
          <a:bodyPr/>
          <a:lstStyle/>
          <a:p>
            <a:r>
              <a:rPr lang="en" altLang="zh-CN" dirty="0">
                <a:sym typeface="Red Hat Display"/>
              </a:rPr>
              <a:t>Where Standard Load-Balancing Fails</a:t>
            </a:r>
            <a:endParaRPr lang="zh-CN" altLang="en-US" dirty="0"/>
          </a:p>
        </p:txBody>
      </p:sp>
      <p:sp>
        <p:nvSpPr>
          <p:cNvPr id="2861" name="Google Shape;2861;p245"/>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20</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862" name="Google Shape;2862;p245"/>
          <p:cNvSpPr txBox="1"/>
          <p:nvPr/>
        </p:nvSpPr>
        <p:spPr>
          <a:xfrm>
            <a:off x="526331" y="389494"/>
            <a:ext cx="8141100" cy="414900"/>
          </a:xfrm>
          <a:prstGeom prst="rect">
            <a:avLst/>
          </a:prstGeom>
          <a:noFill/>
          <a:ln>
            <a:noFill/>
          </a:ln>
        </p:spPr>
        <p:txBody>
          <a:bodyPr spcFirstLastPara="1" wrap="square" lIns="68575" tIns="68575" rIns="68575" bIns="68575" anchor="t"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2300"/>
              <a:buFont typeface="Arial"/>
              <a:buNone/>
              <a:tabLst/>
              <a:defRPr/>
            </a:pPr>
            <a:endParaRPr kumimoji="0" sz="2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863" name="Google Shape;2863;p245"/>
          <p:cNvSpPr txBox="1"/>
          <p:nvPr/>
        </p:nvSpPr>
        <p:spPr>
          <a:xfrm>
            <a:off x="684994" y="1051982"/>
            <a:ext cx="7180200" cy="3128400"/>
          </a:xfrm>
          <a:prstGeom prst="rect">
            <a:avLst/>
          </a:prstGeom>
          <a:noFill/>
          <a:ln>
            <a:noFill/>
          </a:ln>
        </p:spPr>
        <p:txBody>
          <a:bodyPr spcFirstLastPara="1" wrap="square" lIns="68575" tIns="68575" rIns="68575" bIns="68575" anchor="t" anchorCtr="0">
            <a:noAutofit/>
          </a:bodyPr>
          <a:lstStyle/>
          <a:p>
            <a:pPr marL="0" marR="0" lvl="0" indent="0" algn="l" defTabSz="914400" rtl="0" eaLnBrk="1" fontAlgn="auto" latinLnBrk="0" hangingPunct="1">
              <a:lnSpc>
                <a:spcPct val="100000"/>
              </a:lnSpc>
              <a:spcBef>
                <a:spcPts val="900"/>
              </a:spcBef>
              <a:spcAft>
                <a:spcPts val="0"/>
              </a:spcAft>
              <a:buClr>
                <a:srgbClr val="000000"/>
              </a:buClr>
              <a:buSzPts val="1500"/>
              <a:buFont typeface="Arial"/>
              <a:buNone/>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Production AI inference involves multiple </a:t>
            </a:r>
            <a:r>
              <a:rPr kumimoji="0" lang="en" sz="1500" b="0" i="0" u="none" strike="noStrike" kern="0" cap="none" spc="0" normalizeH="0" baseline="0" noProof="0" dirty="0" err="1">
                <a:ln>
                  <a:noFill/>
                </a:ln>
                <a:solidFill>
                  <a:srgbClr val="000000"/>
                </a:solidFill>
                <a:effectLst/>
                <a:uLnTx/>
                <a:uFillTx/>
                <a:latin typeface="Red Hat Text"/>
                <a:ea typeface="Red Hat Text"/>
                <a:cs typeface="Red Hat Text"/>
                <a:sym typeface="Red Hat Text"/>
              </a:rPr>
              <a:t>vLLM</a:t>
            </a: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 instances and replicas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34950" algn="l" defTabSz="914400" rtl="0" eaLnBrk="1" fontAlgn="auto" latinLnBrk="0" hangingPunct="1">
              <a:lnSpc>
                <a:spcPct val="100000"/>
              </a:lnSpc>
              <a:spcBef>
                <a:spcPts val="900"/>
              </a:spcBef>
              <a:spcAft>
                <a:spcPts val="0"/>
              </a:spcAft>
              <a:buClr>
                <a:srgbClr val="000000"/>
              </a:buClr>
              <a:buSzPts val="1100"/>
              <a:buFont typeface="Red Hat Text"/>
              <a:buChar char="●"/>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The once unified KV-cache becomes </a:t>
            </a:r>
            <a:r>
              <a:rPr kumimoji="0" lang="en" sz="1500" b="1" i="0" u="none" strike="noStrike" kern="0" cap="none" spc="0" normalizeH="0" baseline="0" noProof="0" dirty="0">
                <a:ln>
                  <a:noFill/>
                </a:ln>
                <a:solidFill>
                  <a:srgbClr val="000000"/>
                </a:solidFill>
                <a:effectLst/>
                <a:uLnTx/>
                <a:uFillTx/>
                <a:latin typeface="Red Hat Text"/>
                <a:ea typeface="Red Hat Text"/>
                <a:cs typeface="Red Hat Text"/>
                <a:sym typeface="Red Hat Text"/>
              </a:rPr>
              <a:t>disaggregated</a:t>
            </a:r>
            <a:endParaRPr kumimoji="0"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endParaRPr>
          </a:p>
          <a:p>
            <a:pPr marL="0" marR="0" lvl="0" indent="0" algn="l" defTabSz="914400" rtl="0" eaLnBrk="1" fontAlgn="auto" latinLnBrk="0" hangingPunct="1">
              <a:lnSpc>
                <a:spcPct val="100000"/>
              </a:lnSpc>
              <a:spcBef>
                <a:spcPts val="900"/>
              </a:spcBef>
              <a:spcAft>
                <a:spcPts val="0"/>
              </a:spcAft>
              <a:buClr>
                <a:srgbClr val="000000"/>
              </a:buClr>
              <a:buSzPts val="1500"/>
              <a:buFont typeface="Arial"/>
              <a:buNone/>
              <a:tabLst/>
              <a:defRPr/>
            </a:pPr>
            <a:r>
              <a:rPr kumimoji="0" lang="en"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Naive load-balancing distributes traffic evenly across the pods -&gt; destroying cache optimizations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90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Red Hat Text"/>
              <a:ea typeface="Red Hat Text"/>
              <a:cs typeface="Red Hat Text"/>
              <a:sym typeface="Red Hat Text"/>
            </a:endParaRPr>
          </a:p>
        </p:txBody>
      </p:sp>
    </p:spTree>
    <p:extLst>
      <p:ext uri="{BB962C8B-B14F-4D97-AF65-F5344CB8AC3E}">
        <p14:creationId xmlns:p14="http://schemas.microsoft.com/office/powerpoint/2010/main" val="1283953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98"/>
        <p:cNvGrpSpPr/>
        <p:nvPr/>
      </p:nvGrpSpPr>
      <p:grpSpPr>
        <a:xfrm>
          <a:off x="0" y="0"/>
          <a:ext cx="0" cy="0"/>
          <a:chOff x="0" y="0"/>
          <a:chExt cx="0" cy="0"/>
        </a:xfrm>
      </p:grpSpPr>
      <p:sp>
        <p:nvSpPr>
          <p:cNvPr id="7" name="标题 6">
            <a:extLst>
              <a:ext uri="{FF2B5EF4-FFF2-40B4-BE49-F238E27FC236}">
                <a16:creationId xmlns:a16="http://schemas.microsoft.com/office/drawing/2014/main" id="{95A34E03-262E-EB07-BF07-1B1D5DB6D6E9}"/>
              </a:ext>
            </a:extLst>
          </p:cNvPr>
          <p:cNvSpPr>
            <a:spLocks noGrp="1"/>
          </p:cNvSpPr>
          <p:nvPr>
            <p:ph type="title"/>
          </p:nvPr>
        </p:nvSpPr>
        <p:spPr>
          <a:xfrm>
            <a:off x="281256" y="-79548"/>
            <a:ext cx="6949739" cy="1047900"/>
          </a:xfrm>
        </p:spPr>
        <p:txBody>
          <a:bodyPr/>
          <a:lstStyle/>
          <a:p>
            <a:r>
              <a:rPr lang="en" altLang="zh-CN" dirty="0"/>
              <a:t>Intelligent Inference Scheduling</a:t>
            </a:r>
            <a:endParaRPr lang="zh-CN" altLang="en-US" dirty="0"/>
          </a:p>
        </p:txBody>
      </p:sp>
      <p:sp>
        <p:nvSpPr>
          <p:cNvPr id="2799" name="Google Shape;2799;p244"/>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21</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800" name="Google Shape;2800;p244"/>
          <p:cNvSpPr txBox="1"/>
          <p:nvPr/>
        </p:nvSpPr>
        <p:spPr>
          <a:xfrm>
            <a:off x="204145" y="631133"/>
            <a:ext cx="8141100" cy="414900"/>
          </a:xfrm>
          <a:prstGeom prst="rect">
            <a:avLst/>
          </a:prstGeom>
          <a:noFill/>
          <a:ln>
            <a:noFill/>
          </a:ln>
        </p:spPr>
        <p:txBody>
          <a:bodyPr spcFirstLastPara="1" wrap="square" lIns="68575" tIns="68575" rIns="68575" bIns="68575" anchor="t" anchorCtr="0">
            <a:noAutofit/>
          </a:bodyPr>
          <a:lstStyle/>
          <a:p>
            <a:pPr lvl="0">
              <a:lnSpc>
                <a:spcPct val="130000"/>
              </a:lnSpc>
              <a:buSzPts val="2300"/>
              <a:defRPr/>
            </a:pPr>
            <a:r>
              <a:rPr lang="en" dirty="0" err="1">
                <a:solidFill>
                  <a:schemeClr val="bg1"/>
                </a:solidFill>
                <a:sym typeface="Red Hat Display"/>
              </a:rPr>
              <a:t>vLLM</a:t>
            </a:r>
            <a:r>
              <a:rPr lang="en" dirty="0">
                <a:solidFill>
                  <a:schemeClr val="bg1"/>
                </a:solidFill>
                <a:sym typeface="Red Hat Display"/>
              </a:rPr>
              <a:t>-aware load-balancing enables smarter request routing that improve</a:t>
            </a:r>
            <a:r>
              <a:rPr lang="en-US" altLang="zh-CN" dirty="0">
                <a:solidFill>
                  <a:schemeClr val="bg1"/>
                </a:solidFill>
                <a:sym typeface="Red Hat Display"/>
              </a:rPr>
              <a:t>s</a:t>
            </a:r>
            <a:r>
              <a:rPr lang="en" dirty="0">
                <a:solidFill>
                  <a:schemeClr val="bg1"/>
                </a:solidFill>
                <a:sym typeface="Red Hat Display"/>
              </a:rPr>
              <a:t> SLOs</a:t>
            </a:r>
          </a:p>
        </p:txBody>
      </p:sp>
      <p:sp>
        <p:nvSpPr>
          <p:cNvPr id="2802" name="Google Shape;2802;p244"/>
          <p:cNvSpPr/>
          <p:nvPr/>
        </p:nvSpPr>
        <p:spPr>
          <a:xfrm>
            <a:off x="480741" y="1812271"/>
            <a:ext cx="3956100" cy="2105400"/>
          </a:xfrm>
          <a:prstGeom prst="rect">
            <a:avLst/>
          </a:prstGeom>
          <a:solidFill>
            <a:srgbClr val="FFFFFF"/>
          </a:solidFill>
          <a:ln w="7150" cap="flat" cmpd="sng">
            <a:solidFill>
              <a:srgbClr val="D9D9D9"/>
            </a:solidFill>
            <a:prstDash val="solid"/>
            <a:round/>
            <a:headEnd type="none" w="sm" len="sm"/>
            <a:tailEnd type="none" w="sm" len="sm"/>
          </a:ln>
          <a:effectLst>
            <a:outerShdw blurRad="41712" dist="13904" dir="5400000" algn="bl" rotWithShape="0">
              <a:srgbClr val="000000">
                <a:alpha val="50200"/>
              </a:srgbClr>
            </a:outerShdw>
          </a:effectLst>
        </p:spPr>
        <p:txBody>
          <a:bodyPr spcFirstLastPara="1" wrap="square" lIns="37550" tIns="37550" rIns="37550" bIns="375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03" name="Google Shape;2803;p244"/>
          <p:cNvSpPr txBox="1"/>
          <p:nvPr/>
        </p:nvSpPr>
        <p:spPr>
          <a:xfrm>
            <a:off x="3363292" y="2735001"/>
            <a:ext cx="1024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Prefix-tree.</a:t>
            </a:r>
            <a:endParaRPr kumimoji="0" sz="8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“Pod A has hit”</a:t>
            </a:r>
            <a:endParaRPr kumimoji="0" sz="8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804" name="Google Shape;2804;p244"/>
          <p:cNvSpPr txBox="1"/>
          <p:nvPr/>
        </p:nvSpPr>
        <p:spPr>
          <a:xfrm>
            <a:off x="663017" y="1464816"/>
            <a:ext cx="3591600" cy="283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 sz="14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Prefix-Aware Routing</a:t>
            </a:r>
            <a:endParaRPr kumimoji="0" sz="14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805" name="Google Shape;2805;p244"/>
          <p:cNvSpPr/>
          <p:nvPr/>
        </p:nvSpPr>
        <p:spPr>
          <a:xfrm>
            <a:off x="1776736" y="3234900"/>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06" name="Google Shape;2806;p244"/>
          <p:cNvPicPr preferRelativeResize="0"/>
          <p:nvPr/>
        </p:nvPicPr>
        <p:blipFill rotWithShape="1">
          <a:blip r:embed="rId3">
            <a:alphaModFix/>
          </a:blip>
          <a:srcRect/>
          <a:stretch/>
        </p:blipFill>
        <p:spPr>
          <a:xfrm>
            <a:off x="1845068" y="3312440"/>
            <a:ext cx="657961" cy="188587"/>
          </a:xfrm>
          <a:prstGeom prst="rect">
            <a:avLst/>
          </a:prstGeom>
          <a:noFill/>
          <a:ln>
            <a:noFill/>
          </a:ln>
        </p:spPr>
      </p:pic>
      <p:sp>
        <p:nvSpPr>
          <p:cNvPr id="2807" name="Google Shape;2807;p244"/>
          <p:cNvSpPr/>
          <p:nvPr/>
        </p:nvSpPr>
        <p:spPr>
          <a:xfrm>
            <a:off x="2764262" y="3234900"/>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08" name="Google Shape;2808;p244"/>
          <p:cNvPicPr preferRelativeResize="0"/>
          <p:nvPr/>
        </p:nvPicPr>
        <p:blipFill rotWithShape="1">
          <a:blip r:embed="rId3">
            <a:alphaModFix/>
          </a:blip>
          <a:srcRect/>
          <a:stretch/>
        </p:blipFill>
        <p:spPr>
          <a:xfrm>
            <a:off x="2832575" y="3312440"/>
            <a:ext cx="657961" cy="188587"/>
          </a:xfrm>
          <a:prstGeom prst="rect">
            <a:avLst/>
          </a:prstGeom>
          <a:noFill/>
          <a:ln>
            <a:noFill/>
          </a:ln>
        </p:spPr>
      </p:pic>
      <p:sp>
        <p:nvSpPr>
          <p:cNvPr id="2809" name="Google Shape;2809;p244"/>
          <p:cNvSpPr/>
          <p:nvPr/>
        </p:nvSpPr>
        <p:spPr>
          <a:xfrm>
            <a:off x="3478363" y="2366538"/>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 sz="9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EPP</a:t>
            </a:r>
            <a:endParaRPr kumimoji="0" sz="9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10" name="Google Shape;2810;p244"/>
          <p:cNvSpPr/>
          <p:nvPr/>
        </p:nvSpPr>
        <p:spPr>
          <a:xfrm>
            <a:off x="1776727" y="2366538"/>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kumimoji="0" sz="9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11" name="Google Shape;2811;p244"/>
          <p:cNvSpPr txBox="1"/>
          <p:nvPr/>
        </p:nvSpPr>
        <p:spPr>
          <a:xfrm>
            <a:off x="1748712" y="3564595"/>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B</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12" name="Google Shape;2812;p244"/>
          <p:cNvSpPr txBox="1"/>
          <p:nvPr/>
        </p:nvSpPr>
        <p:spPr>
          <a:xfrm>
            <a:off x="2736221" y="3564595"/>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C</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13" name="Google Shape;2813;p244"/>
          <p:cNvCxnSpPr/>
          <p:nvPr/>
        </p:nvCxnSpPr>
        <p:spPr>
          <a:xfrm>
            <a:off x="2173592" y="1930290"/>
            <a:ext cx="0" cy="432300"/>
          </a:xfrm>
          <a:prstGeom prst="straightConnector1">
            <a:avLst/>
          </a:prstGeom>
          <a:noFill/>
          <a:ln w="7150" cap="flat" cmpd="sng">
            <a:solidFill>
              <a:srgbClr val="595959"/>
            </a:solidFill>
            <a:prstDash val="solid"/>
            <a:round/>
            <a:headEnd type="none" w="sm" len="sm"/>
            <a:tailEnd type="triangle" w="med" len="med"/>
          </a:ln>
        </p:spPr>
      </p:cxnSp>
      <p:sp>
        <p:nvSpPr>
          <p:cNvPr id="2814" name="Google Shape;2814;p244"/>
          <p:cNvSpPr txBox="1"/>
          <p:nvPr/>
        </p:nvSpPr>
        <p:spPr>
          <a:xfrm>
            <a:off x="2183573" y="2027144"/>
            <a:ext cx="1113600" cy="296400"/>
          </a:xfrm>
          <a:prstGeom prst="rect">
            <a:avLst/>
          </a:prstGeom>
          <a:noFill/>
          <a:ln>
            <a:noFill/>
          </a:ln>
        </p:spPr>
        <p:txBody>
          <a:bodyPr spcFirstLastPara="1" wrap="square" lIns="66725" tIns="66725" rIns="66725" bIns="667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GET completions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15" name="Google Shape;2815;p244"/>
          <p:cNvCxnSpPr/>
          <p:nvPr/>
        </p:nvCxnSpPr>
        <p:spPr>
          <a:xfrm>
            <a:off x="2571331" y="2515994"/>
            <a:ext cx="906900" cy="0"/>
          </a:xfrm>
          <a:prstGeom prst="straightConnector1">
            <a:avLst/>
          </a:prstGeom>
          <a:noFill/>
          <a:ln w="7150" cap="flat" cmpd="sng">
            <a:solidFill>
              <a:srgbClr val="595959"/>
            </a:solidFill>
            <a:prstDash val="solid"/>
            <a:round/>
            <a:headEnd type="none" w="sm" len="sm"/>
            <a:tailEnd type="triangle" w="med" len="med"/>
          </a:ln>
        </p:spPr>
      </p:cxnSp>
      <p:cxnSp>
        <p:nvCxnSpPr>
          <p:cNvPr id="2816" name="Google Shape;2816;p244"/>
          <p:cNvCxnSpPr/>
          <p:nvPr/>
        </p:nvCxnSpPr>
        <p:spPr>
          <a:xfrm rot="10800000">
            <a:off x="2571763" y="2593100"/>
            <a:ext cx="906600" cy="0"/>
          </a:xfrm>
          <a:prstGeom prst="straightConnector1">
            <a:avLst/>
          </a:prstGeom>
          <a:noFill/>
          <a:ln w="7150" cap="flat" cmpd="sng">
            <a:solidFill>
              <a:srgbClr val="595959"/>
            </a:solidFill>
            <a:prstDash val="solid"/>
            <a:round/>
            <a:headEnd type="none" w="sm" len="sm"/>
            <a:tailEnd type="triangle" w="med" len="med"/>
          </a:ln>
        </p:spPr>
      </p:cxnSp>
      <p:cxnSp>
        <p:nvCxnSpPr>
          <p:cNvPr id="2817" name="Google Shape;2817;p244"/>
          <p:cNvCxnSpPr>
            <a:stCxn id="2810" idx="2"/>
          </p:cNvCxnSpPr>
          <p:nvPr/>
        </p:nvCxnSpPr>
        <p:spPr>
          <a:xfrm flipH="1">
            <a:off x="1186777" y="2720838"/>
            <a:ext cx="987300" cy="514500"/>
          </a:xfrm>
          <a:prstGeom prst="straightConnector1">
            <a:avLst/>
          </a:prstGeom>
          <a:noFill/>
          <a:ln w="7150" cap="flat" cmpd="sng">
            <a:solidFill>
              <a:srgbClr val="595959"/>
            </a:solidFill>
            <a:prstDash val="solid"/>
            <a:round/>
            <a:headEnd type="none" w="sm" len="sm"/>
            <a:tailEnd type="triangle" w="med" len="med"/>
          </a:ln>
        </p:spPr>
      </p:cxnSp>
      <p:sp>
        <p:nvSpPr>
          <p:cNvPr id="2818" name="Google Shape;2818;p244"/>
          <p:cNvSpPr txBox="1"/>
          <p:nvPr/>
        </p:nvSpPr>
        <p:spPr>
          <a:xfrm>
            <a:off x="4889360" y="1464816"/>
            <a:ext cx="3591600" cy="283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Load-Aware Routing</a:t>
            </a:r>
            <a:endParaRPr kumimoji="0"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19" name="Google Shape;2819;p244"/>
          <p:cNvSpPr/>
          <p:nvPr/>
        </p:nvSpPr>
        <p:spPr>
          <a:xfrm>
            <a:off x="4707084" y="1812271"/>
            <a:ext cx="3956100" cy="2105400"/>
          </a:xfrm>
          <a:prstGeom prst="rect">
            <a:avLst/>
          </a:prstGeom>
          <a:solidFill>
            <a:srgbClr val="FFFFFF"/>
          </a:solidFill>
          <a:ln w="7150" cap="flat" cmpd="sng">
            <a:solidFill>
              <a:srgbClr val="D9D9D9"/>
            </a:solidFill>
            <a:prstDash val="solid"/>
            <a:round/>
            <a:headEnd type="none" w="sm" len="sm"/>
            <a:tailEnd type="none" w="sm" len="sm"/>
          </a:ln>
          <a:effectLst>
            <a:outerShdw blurRad="41712" dist="13904" dir="5400000" algn="bl" rotWithShape="0">
              <a:srgbClr val="000000">
                <a:alpha val="50200"/>
              </a:srgbClr>
            </a:outerShdw>
          </a:effectLst>
        </p:spPr>
        <p:txBody>
          <a:bodyPr spcFirstLastPara="1" wrap="square" lIns="37550" tIns="37550" rIns="37550" bIns="375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20" name="Google Shape;2820;p244"/>
          <p:cNvSpPr/>
          <p:nvPr/>
        </p:nvSpPr>
        <p:spPr>
          <a:xfrm>
            <a:off x="5015552" y="3234900"/>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21" name="Google Shape;2821;p244"/>
          <p:cNvPicPr preferRelativeResize="0"/>
          <p:nvPr/>
        </p:nvPicPr>
        <p:blipFill rotWithShape="1">
          <a:blip r:embed="rId3">
            <a:alphaModFix/>
          </a:blip>
          <a:srcRect/>
          <a:stretch/>
        </p:blipFill>
        <p:spPr>
          <a:xfrm>
            <a:off x="5083868" y="3312440"/>
            <a:ext cx="657961" cy="188587"/>
          </a:xfrm>
          <a:prstGeom prst="rect">
            <a:avLst/>
          </a:prstGeom>
          <a:noFill/>
          <a:ln>
            <a:noFill/>
          </a:ln>
        </p:spPr>
      </p:pic>
      <p:sp>
        <p:nvSpPr>
          <p:cNvPr id="2822" name="Google Shape;2822;p244"/>
          <p:cNvSpPr/>
          <p:nvPr/>
        </p:nvSpPr>
        <p:spPr>
          <a:xfrm>
            <a:off x="6003079" y="3234900"/>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23" name="Google Shape;2823;p244"/>
          <p:cNvPicPr preferRelativeResize="0"/>
          <p:nvPr/>
        </p:nvPicPr>
        <p:blipFill rotWithShape="1">
          <a:blip r:embed="rId3">
            <a:alphaModFix/>
          </a:blip>
          <a:srcRect/>
          <a:stretch/>
        </p:blipFill>
        <p:spPr>
          <a:xfrm>
            <a:off x="6071411" y="3312440"/>
            <a:ext cx="657961" cy="188587"/>
          </a:xfrm>
          <a:prstGeom prst="rect">
            <a:avLst/>
          </a:prstGeom>
          <a:noFill/>
          <a:ln>
            <a:noFill/>
          </a:ln>
        </p:spPr>
      </p:pic>
      <p:sp>
        <p:nvSpPr>
          <p:cNvPr id="2824" name="Google Shape;2824;p244"/>
          <p:cNvSpPr/>
          <p:nvPr/>
        </p:nvSpPr>
        <p:spPr>
          <a:xfrm>
            <a:off x="6990605" y="3234900"/>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25" name="Google Shape;2825;p244"/>
          <p:cNvPicPr preferRelativeResize="0"/>
          <p:nvPr/>
        </p:nvPicPr>
        <p:blipFill rotWithShape="1">
          <a:blip r:embed="rId3">
            <a:alphaModFix/>
          </a:blip>
          <a:srcRect/>
          <a:stretch/>
        </p:blipFill>
        <p:spPr>
          <a:xfrm>
            <a:off x="7058917" y="3312440"/>
            <a:ext cx="657961" cy="188587"/>
          </a:xfrm>
          <a:prstGeom prst="rect">
            <a:avLst/>
          </a:prstGeom>
          <a:noFill/>
          <a:ln>
            <a:noFill/>
          </a:ln>
        </p:spPr>
      </p:pic>
      <p:sp>
        <p:nvSpPr>
          <p:cNvPr id="2826" name="Google Shape;2826;p244"/>
          <p:cNvSpPr/>
          <p:nvPr/>
        </p:nvSpPr>
        <p:spPr>
          <a:xfrm>
            <a:off x="7704706" y="2366538"/>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 sz="9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EPP</a:t>
            </a:r>
            <a:endParaRPr kumimoji="0" sz="9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27" name="Google Shape;2827;p244"/>
          <p:cNvSpPr/>
          <p:nvPr/>
        </p:nvSpPr>
        <p:spPr>
          <a:xfrm>
            <a:off x="6003069" y="2366538"/>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kumimoji="0" sz="9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28" name="Google Shape;2828;p244"/>
          <p:cNvSpPr txBox="1"/>
          <p:nvPr/>
        </p:nvSpPr>
        <p:spPr>
          <a:xfrm>
            <a:off x="4987528" y="3564595"/>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A</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29" name="Google Shape;2829;p244"/>
          <p:cNvSpPr txBox="1"/>
          <p:nvPr/>
        </p:nvSpPr>
        <p:spPr>
          <a:xfrm>
            <a:off x="5975054" y="3564595"/>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B</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30" name="Google Shape;2830;p244"/>
          <p:cNvSpPr txBox="1"/>
          <p:nvPr/>
        </p:nvSpPr>
        <p:spPr>
          <a:xfrm>
            <a:off x="6962563" y="3564595"/>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C</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31" name="Google Shape;2831;p244"/>
          <p:cNvCxnSpPr/>
          <p:nvPr/>
        </p:nvCxnSpPr>
        <p:spPr>
          <a:xfrm>
            <a:off x="6399935" y="1930290"/>
            <a:ext cx="0" cy="432300"/>
          </a:xfrm>
          <a:prstGeom prst="straightConnector1">
            <a:avLst/>
          </a:prstGeom>
          <a:noFill/>
          <a:ln w="7150" cap="flat" cmpd="sng">
            <a:solidFill>
              <a:srgbClr val="595959"/>
            </a:solidFill>
            <a:prstDash val="solid"/>
            <a:round/>
            <a:headEnd type="none" w="sm" len="sm"/>
            <a:tailEnd type="triangle" w="med" len="med"/>
          </a:ln>
        </p:spPr>
      </p:cxnSp>
      <p:sp>
        <p:nvSpPr>
          <p:cNvPr id="2832" name="Google Shape;2832;p244"/>
          <p:cNvSpPr txBox="1"/>
          <p:nvPr/>
        </p:nvSpPr>
        <p:spPr>
          <a:xfrm>
            <a:off x="6409916" y="2027144"/>
            <a:ext cx="1113600" cy="296400"/>
          </a:xfrm>
          <a:prstGeom prst="rect">
            <a:avLst/>
          </a:prstGeom>
          <a:noFill/>
          <a:ln>
            <a:noFill/>
          </a:ln>
        </p:spPr>
        <p:txBody>
          <a:bodyPr spcFirstLastPara="1" wrap="square" lIns="66725" tIns="66725" rIns="66725" bIns="667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GET completions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33" name="Google Shape;2833;p244"/>
          <p:cNvCxnSpPr/>
          <p:nvPr/>
        </p:nvCxnSpPr>
        <p:spPr>
          <a:xfrm>
            <a:off x="6797674" y="2515994"/>
            <a:ext cx="906900" cy="0"/>
          </a:xfrm>
          <a:prstGeom prst="straightConnector1">
            <a:avLst/>
          </a:prstGeom>
          <a:noFill/>
          <a:ln w="7150" cap="flat" cmpd="sng">
            <a:solidFill>
              <a:srgbClr val="595959"/>
            </a:solidFill>
            <a:prstDash val="solid"/>
            <a:round/>
            <a:headEnd type="none" w="sm" len="sm"/>
            <a:tailEnd type="triangle" w="med" len="med"/>
          </a:ln>
        </p:spPr>
      </p:cxnSp>
      <p:cxnSp>
        <p:nvCxnSpPr>
          <p:cNvPr id="2834" name="Google Shape;2834;p244"/>
          <p:cNvCxnSpPr/>
          <p:nvPr/>
        </p:nvCxnSpPr>
        <p:spPr>
          <a:xfrm rot="10800000">
            <a:off x="6798106" y="2593100"/>
            <a:ext cx="906600" cy="0"/>
          </a:xfrm>
          <a:prstGeom prst="straightConnector1">
            <a:avLst/>
          </a:prstGeom>
          <a:noFill/>
          <a:ln w="7150" cap="flat" cmpd="sng">
            <a:solidFill>
              <a:srgbClr val="595959"/>
            </a:solidFill>
            <a:prstDash val="solid"/>
            <a:round/>
            <a:headEnd type="none" w="sm" len="sm"/>
            <a:tailEnd type="triangle" w="med" len="med"/>
          </a:ln>
        </p:spPr>
      </p:cxnSp>
      <p:sp>
        <p:nvSpPr>
          <p:cNvPr id="2835" name="Google Shape;2835;p244"/>
          <p:cNvSpPr txBox="1"/>
          <p:nvPr/>
        </p:nvSpPr>
        <p:spPr>
          <a:xfrm>
            <a:off x="6825848" y="2365733"/>
            <a:ext cx="850800" cy="139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Prompt</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36" name="Google Shape;2836;p244"/>
          <p:cNvCxnSpPr>
            <a:stCxn id="2827" idx="2"/>
            <a:endCxn id="2820" idx="0"/>
          </p:cNvCxnSpPr>
          <p:nvPr/>
        </p:nvCxnSpPr>
        <p:spPr>
          <a:xfrm flipH="1">
            <a:off x="5412819" y="2720838"/>
            <a:ext cx="987600" cy="514200"/>
          </a:xfrm>
          <a:prstGeom prst="straightConnector1">
            <a:avLst/>
          </a:prstGeom>
          <a:noFill/>
          <a:ln w="7150" cap="flat" cmpd="sng">
            <a:solidFill>
              <a:srgbClr val="595959"/>
            </a:solidFill>
            <a:prstDash val="solid"/>
            <a:round/>
            <a:headEnd type="none" w="sm" len="sm"/>
            <a:tailEnd type="triangle" w="med" len="med"/>
          </a:ln>
        </p:spPr>
      </p:cxnSp>
      <p:cxnSp>
        <p:nvCxnSpPr>
          <p:cNvPr id="2837" name="Google Shape;2837;p244"/>
          <p:cNvCxnSpPr/>
          <p:nvPr/>
        </p:nvCxnSpPr>
        <p:spPr>
          <a:xfrm rot="10800000">
            <a:off x="7935713" y="3109248"/>
            <a:ext cx="0" cy="357600"/>
          </a:xfrm>
          <a:prstGeom prst="straightConnector1">
            <a:avLst/>
          </a:prstGeom>
          <a:noFill/>
          <a:ln w="7150" cap="flat" cmpd="sng">
            <a:solidFill>
              <a:srgbClr val="595959"/>
            </a:solidFill>
            <a:prstDash val="solid"/>
            <a:round/>
            <a:headEnd type="none" w="sm" len="sm"/>
            <a:tailEnd type="triangle" w="med" len="med"/>
          </a:ln>
        </p:spPr>
      </p:cxnSp>
      <p:sp>
        <p:nvSpPr>
          <p:cNvPr id="2838" name="Google Shape;2838;p244"/>
          <p:cNvSpPr txBox="1"/>
          <p:nvPr/>
        </p:nvSpPr>
        <p:spPr>
          <a:xfrm>
            <a:off x="480741" y="3959321"/>
            <a:ext cx="3956100" cy="3543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 sz="12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Dramatically increase prefix-cache hit rate</a:t>
            </a:r>
            <a:endParaRPr kumimoji="0" sz="12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839" name="Google Shape;2839;p244"/>
          <p:cNvSpPr txBox="1"/>
          <p:nvPr/>
        </p:nvSpPr>
        <p:spPr>
          <a:xfrm>
            <a:off x="7648535" y="2735001"/>
            <a:ext cx="9069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Scrape metrics. “A has low load”</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40" name="Google Shape;2840;p244"/>
          <p:cNvSpPr txBox="1"/>
          <p:nvPr/>
        </p:nvSpPr>
        <p:spPr>
          <a:xfrm>
            <a:off x="4707084" y="3959321"/>
            <a:ext cx="3956100" cy="3543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 sz="12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Load-balancing based on actual replica state</a:t>
            </a:r>
            <a:endParaRPr kumimoji="0" sz="12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41" name="Google Shape;2841;p244"/>
          <p:cNvSpPr txBox="1"/>
          <p:nvPr/>
        </p:nvSpPr>
        <p:spPr>
          <a:xfrm>
            <a:off x="6825812" y="2596733"/>
            <a:ext cx="850800" cy="139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A</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42" name="Google Shape;2842;p244"/>
          <p:cNvSpPr txBox="1"/>
          <p:nvPr/>
        </p:nvSpPr>
        <p:spPr>
          <a:xfrm>
            <a:off x="2599532" y="2364413"/>
            <a:ext cx="850800" cy="139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Prompt</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43" name="Google Shape;2843;p244"/>
          <p:cNvSpPr txBox="1"/>
          <p:nvPr/>
        </p:nvSpPr>
        <p:spPr>
          <a:xfrm>
            <a:off x="2599496" y="2595414"/>
            <a:ext cx="850800" cy="1398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A</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44" name="Google Shape;2844;p244"/>
          <p:cNvCxnSpPr>
            <a:stCxn id="2824" idx="3"/>
          </p:cNvCxnSpPr>
          <p:nvPr/>
        </p:nvCxnSpPr>
        <p:spPr>
          <a:xfrm>
            <a:off x="7785305" y="3412050"/>
            <a:ext cx="328200" cy="0"/>
          </a:xfrm>
          <a:prstGeom prst="straightConnector1">
            <a:avLst/>
          </a:prstGeom>
          <a:noFill/>
          <a:ln w="7150" cap="flat" cmpd="sng">
            <a:solidFill>
              <a:srgbClr val="595959"/>
            </a:solidFill>
            <a:prstDash val="solid"/>
            <a:round/>
            <a:headEnd type="none" w="sm" len="sm"/>
            <a:tailEnd type="none" w="sm" len="sm"/>
          </a:ln>
        </p:spPr>
      </p:cxnSp>
      <p:pic>
        <p:nvPicPr>
          <p:cNvPr id="2845" name="Google Shape;2845;p244"/>
          <p:cNvPicPr preferRelativeResize="0"/>
          <p:nvPr/>
        </p:nvPicPr>
        <p:blipFill rotWithShape="1">
          <a:blip r:embed="rId4">
            <a:alphaModFix/>
          </a:blip>
          <a:srcRect/>
          <a:stretch/>
        </p:blipFill>
        <p:spPr>
          <a:xfrm>
            <a:off x="1889561" y="2447373"/>
            <a:ext cx="582508" cy="188580"/>
          </a:xfrm>
          <a:prstGeom prst="rect">
            <a:avLst/>
          </a:prstGeom>
          <a:noFill/>
          <a:ln>
            <a:noFill/>
          </a:ln>
        </p:spPr>
      </p:pic>
      <p:pic>
        <p:nvPicPr>
          <p:cNvPr id="2846" name="Google Shape;2846;p244"/>
          <p:cNvPicPr preferRelativeResize="0"/>
          <p:nvPr/>
        </p:nvPicPr>
        <p:blipFill rotWithShape="1">
          <a:blip r:embed="rId4">
            <a:alphaModFix/>
          </a:blip>
          <a:srcRect/>
          <a:stretch/>
        </p:blipFill>
        <p:spPr>
          <a:xfrm>
            <a:off x="6109135" y="2447382"/>
            <a:ext cx="582508" cy="188580"/>
          </a:xfrm>
          <a:prstGeom prst="rect">
            <a:avLst/>
          </a:prstGeom>
          <a:noFill/>
          <a:ln>
            <a:noFill/>
          </a:ln>
        </p:spPr>
      </p:pic>
      <p:sp>
        <p:nvSpPr>
          <p:cNvPr id="2847" name="Google Shape;2847;p244"/>
          <p:cNvSpPr txBox="1"/>
          <p:nvPr/>
        </p:nvSpPr>
        <p:spPr>
          <a:xfrm>
            <a:off x="7560020" y="3347161"/>
            <a:ext cx="1024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/metrics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848" name="Google Shape;2848;p244"/>
          <p:cNvCxnSpPr/>
          <p:nvPr/>
        </p:nvCxnSpPr>
        <p:spPr>
          <a:xfrm rot="10800000">
            <a:off x="3915359" y="3037965"/>
            <a:ext cx="0" cy="382500"/>
          </a:xfrm>
          <a:prstGeom prst="straightConnector1">
            <a:avLst/>
          </a:prstGeom>
          <a:noFill/>
          <a:ln w="7150" cap="flat" cmpd="sng">
            <a:solidFill>
              <a:srgbClr val="595959"/>
            </a:solidFill>
            <a:prstDash val="solid"/>
            <a:round/>
            <a:headEnd type="none" w="sm" len="sm"/>
            <a:tailEnd type="triangle" w="med" len="med"/>
          </a:ln>
        </p:spPr>
      </p:cxnSp>
      <p:cxnSp>
        <p:nvCxnSpPr>
          <p:cNvPr id="2849" name="Google Shape;2849;p244"/>
          <p:cNvCxnSpPr/>
          <p:nvPr/>
        </p:nvCxnSpPr>
        <p:spPr>
          <a:xfrm>
            <a:off x="3592026" y="3424784"/>
            <a:ext cx="328200" cy="0"/>
          </a:xfrm>
          <a:prstGeom prst="straightConnector1">
            <a:avLst/>
          </a:prstGeom>
          <a:noFill/>
          <a:ln w="7150" cap="flat" cmpd="sng">
            <a:solidFill>
              <a:srgbClr val="595959"/>
            </a:solidFill>
            <a:prstDash val="solid"/>
            <a:round/>
            <a:headEnd type="none" w="sm" len="sm"/>
            <a:tailEnd type="none" w="sm" len="sm"/>
          </a:ln>
        </p:spPr>
      </p:cxnSp>
      <p:sp>
        <p:nvSpPr>
          <p:cNvPr id="2850" name="Google Shape;2850;p244"/>
          <p:cNvSpPr txBox="1"/>
          <p:nvPr/>
        </p:nvSpPr>
        <p:spPr>
          <a:xfrm>
            <a:off x="3366836" y="3360015"/>
            <a:ext cx="1024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KV Events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851" name="Google Shape;2851;p244"/>
          <p:cNvSpPr/>
          <p:nvPr/>
        </p:nvSpPr>
        <p:spPr>
          <a:xfrm>
            <a:off x="771766" y="3234813"/>
            <a:ext cx="794700" cy="354300"/>
          </a:xfrm>
          <a:prstGeom prst="rect">
            <a:avLst/>
          </a:prstGeom>
          <a:solidFill>
            <a:srgbClr val="EEEEEE"/>
          </a:solidFill>
          <a:ln>
            <a:noFill/>
          </a:ln>
          <a:effectLst>
            <a:outerShdw blurRad="41712" dist="13904" dir="5400000" algn="bl" rotWithShape="0">
              <a:srgbClr val="000000">
                <a:alpha val="50200"/>
              </a:srgbClr>
            </a:outerShdw>
          </a:effectLst>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852" name="Google Shape;2852;p244"/>
          <p:cNvPicPr preferRelativeResize="0"/>
          <p:nvPr/>
        </p:nvPicPr>
        <p:blipFill rotWithShape="1">
          <a:blip r:embed="rId3">
            <a:alphaModFix/>
          </a:blip>
          <a:srcRect/>
          <a:stretch/>
        </p:blipFill>
        <p:spPr>
          <a:xfrm>
            <a:off x="840083" y="3312353"/>
            <a:ext cx="657961" cy="188587"/>
          </a:xfrm>
          <a:prstGeom prst="rect">
            <a:avLst/>
          </a:prstGeom>
          <a:noFill/>
          <a:ln>
            <a:noFill/>
          </a:ln>
        </p:spPr>
      </p:pic>
      <p:sp>
        <p:nvSpPr>
          <p:cNvPr id="2853" name="Google Shape;2853;p244"/>
          <p:cNvSpPr txBox="1"/>
          <p:nvPr/>
        </p:nvSpPr>
        <p:spPr>
          <a:xfrm>
            <a:off x="743742" y="3564508"/>
            <a:ext cx="850800" cy="296400"/>
          </a:xfrm>
          <a:prstGeom prst="rect">
            <a:avLst/>
          </a:prstGeom>
          <a:noFill/>
          <a:ln>
            <a:noFill/>
          </a:ln>
        </p:spPr>
        <p:txBody>
          <a:bodyPr spcFirstLastPara="1" wrap="square" lIns="66725" tIns="66725" rIns="66725" bIns="667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A</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 name="Google Shape;2144;p210">
            <a:extLst>
              <a:ext uri="{FF2B5EF4-FFF2-40B4-BE49-F238E27FC236}">
                <a16:creationId xmlns:a16="http://schemas.microsoft.com/office/drawing/2014/main" id="{02CD5DFC-6BEE-85C2-6309-F11C8930AEC2}"/>
              </a:ext>
            </a:extLst>
          </p:cNvPr>
          <p:cNvSpPr txBox="1"/>
          <p:nvPr/>
        </p:nvSpPr>
        <p:spPr>
          <a:xfrm>
            <a:off x="387916" y="4366039"/>
            <a:ext cx="4752692" cy="682645"/>
          </a:xfrm>
          <a:prstGeom prst="rect">
            <a:avLst/>
          </a:prstGeom>
          <a:noFill/>
          <a:ln>
            <a:noFill/>
          </a:ln>
        </p:spPr>
        <p:txBody>
          <a:bodyPr spcFirstLastPara="1" wrap="square" lIns="64175" tIns="64175" rIns="64175" bIns="64175" anchor="t" anchorCtr="0">
            <a:noAutofit/>
          </a:bodyPr>
          <a:lstStyle/>
          <a:p>
            <a:pPr marL="431800" marR="0" lvl="1"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 sz="1100" b="1" i="0" u="none" strike="noStrike" kern="0" cap="none" spc="0" normalizeH="0" baseline="0" noProof="0" dirty="0">
                <a:ln>
                  <a:noFill/>
                </a:ln>
                <a:solidFill>
                  <a:schemeClr val="accent1"/>
                </a:solidFill>
                <a:effectLst/>
                <a:uLnTx/>
                <a:uFillTx/>
                <a:latin typeface="IBM Plex Sans"/>
                <a:ea typeface="IBM Plex Sans"/>
                <a:cs typeface="IBM Plex Sans"/>
                <a:sym typeface="IBM Plex Sans"/>
              </a:rPr>
              <a:t>57x faster response time </a:t>
            </a:r>
            <a:r>
              <a:rPr kumimoji="0" lang="en" sz="1100" b="0" i="0" u="none" strike="noStrike" kern="0" cap="none" spc="0" normalizeH="0" baseline="0" noProof="0" dirty="0">
                <a:ln>
                  <a:noFill/>
                </a:ln>
                <a:solidFill>
                  <a:srgbClr val="000000"/>
                </a:solidFill>
                <a:effectLst/>
                <a:uLnTx/>
                <a:uFillTx/>
                <a:latin typeface="IBM Plex Sans Light"/>
                <a:ea typeface="IBM Plex Sans Light"/>
                <a:cs typeface="IBM Plex Sans Light"/>
                <a:sym typeface="IBM Plex Sans Light"/>
              </a:rPr>
              <a:t>than naive scheduling </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431800" marR="0" lvl="1" indent="0" algn="l" defTabSz="914400" rtl="0" eaLnBrk="1" fontAlgn="auto" latinLnBrk="0" hangingPunct="1">
              <a:lnSpc>
                <a:spcPct val="100000"/>
              </a:lnSpc>
              <a:spcBef>
                <a:spcPts val="600"/>
              </a:spcBef>
              <a:spcAft>
                <a:spcPts val="0"/>
              </a:spcAft>
              <a:buClr>
                <a:srgbClr val="000000"/>
              </a:buClr>
              <a:buSzTx/>
              <a:buFont typeface="Arial"/>
              <a:buNone/>
              <a:tabLst/>
              <a:defRPr/>
            </a:pPr>
            <a:r>
              <a:rPr lang="en" sz="1100" b="1" dirty="0">
                <a:solidFill>
                  <a:schemeClr val="accent1"/>
                </a:solidFill>
                <a:latin typeface="IBM Plex Sans"/>
                <a:sym typeface="IBM Plex Sans"/>
              </a:rPr>
              <a:t>2x throughput than </a:t>
            </a:r>
            <a:r>
              <a:rPr kumimoji="0" lang="en" sz="1100" b="0" i="0" u="none" strike="noStrike" kern="0" cap="none" spc="0" normalizeH="0" baseline="0" noProof="0" dirty="0">
                <a:ln>
                  <a:noFill/>
                </a:ln>
                <a:solidFill>
                  <a:srgbClr val="000000"/>
                </a:solidFill>
                <a:effectLst/>
                <a:uLnTx/>
                <a:uFillTx/>
                <a:latin typeface="IBM Plex Sans Light"/>
                <a:ea typeface="IBM Plex Sans Light"/>
                <a:cs typeface="IBM Plex Sans Light"/>
                <a:sym typeface="IBM Plex Sans Light"/>
              </a:rPr>
              <a:t>load-aware scheduling</a:t>
            </a:r>
            <a:endParaRPr kumimoji="0" sz="1200" b="0" i="0" u="none" strike="noStrike" kern="0" cap="none" spc="0" normalizeH="0" baseline="0" noProof="0" dirty="0">
              <a:ln>
                <a:noFill/>
              </a:ln>
              <a:solidFill>
                <a:srgbClr val="000000"/>
              </a:solidFill>
              <a:effectLst/>
              <a:uLnTx/>
              <a:uFillTx/>
              <a:latin typeface="IBM Plex Sans Light"/>
              <a:ea typeface="IBM Plex Sans Light"/>
              <a:cs typeface="IBM Plex Sans Light"/>
              <a:sym typeface="IBM Plex Sans Light"/>
            </a:endParaRPr>
          </a:p>
          <a:p>
            <a:pPr marL="292100" marR="0" lvl="0" indent="-127000" algn="l" defTabSz="914400" rtl="0" eaLnBrk="1" fontAlgn="auto" latinLnBrk="0" hangingPunct="1">
              <a:lnSpc>
                <a:spcPct val="100000"/>
              </a:lnSpc>
              <a:spcBef>
                <a:spcPts val="600"/>
              </a:spcBef>
              <a:spcAft>
                <a:spcPts val="0"/>
              </a:spcAft>
              <a:buClr>
                <a:srgbClr val="000000"/>
              </a:buClr>
              <a:buSzPts val="1300"/>
              <a:buFont typeface="Noto Sans Symbols"/>
              <a:buNone/>
              <a:tabLst/>
              <a:defRPr/>
            </a:pPr>
            <a:endParaRPr kumimoji="0" sz="1200" b="0" i="0" u="none" strike="noStrike" kern="0" cap="none" spc="0" normalizeH="0" baseline="0" noProof="0" dirty="0">
              <a:ln>
                <a:noFill/>
              </a:ln>
              <a:solidFill>
                <a:srgbClr val="000000"/>
              </a:solidFill>
              <a:effectLst/>
              <a:uLnTx/>
              <a:uFillTx/>
              <a:latin typeface="IBM Plex Sans Light"/>
              <a:ea typeface="IBM Plex Sans Light"/>
              <a:cs typeface="IBM Plex Sans Light"/>
              <a:sym typeface="IBM Plex Sans Light"/>
            </a:endParaRPr>
          </a:p>
        </p:txBody>
      </p:sp>
      <p:sp>
        <p:nvSpPr>
          <p:cNvPr id="3" name="Google Shape;2145;p210">
            <a:extLst>
              <a:ext uri="{FF2B5EF4-FFF2-40B4-BE49-F238E27FC236}">
                <a16:creationId xmlns:a16="http://schemas.microsoft.com/office/drawing/2014/main" id="{3A77D9D7-EBFD-3528-7F58-994B467D4094}"/>
              </a:ext>
            </a:extLst>
          </p:cNvPr>
          <p:cNvSpPr/>
          <p:nvPr/>
        </p:nvSpPr>
        <p:spPr>
          <a:xfrm rot="5400000">
            <a:off x="2623996" y="2384996"/>
            <a:ext cx="114573" cy="3916418"/>
          </a:xfrm>
          <a:prstGeom prst="leftBrace">
            <a:avLst>
              <a:gd name="adj1" fmla="val 8333"/>
              <a:gd name="adj2" fmla="val 50000"/>
            </a:avLst>
          </a:prstGeom>
          <a:noFill/>
          <a:ln w="19050"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IBM Plex Sans Light"/>
              <a:ea typeface="IBM Plex Sans Light"/>
              <a:cs typeface="IBM Plex Sans Light"/>
              <a:sym typeface="IBM Plex Sans Light"/>
            </a:endParaRPr>
          </a:p>
        </p:txBody>
      </p:sp>
    </p:spTree>
    <p:extLst>
      <p:ext uri="{BB962C8B-B14F-4D97-AF65-F5344CB8AC3E}">
        <p14:creationId xmlns:p14="http://schemas.microsoft.com/office/powerpoint/2010/main" val="4091969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3"/>
        <p:cNvGrpSpPr/>
        <p:nvPr/>
      </p:nvGrpSpPr>
      <p:grpSpPr>
        <a:xfrm>
          <a:off x="0" y="0"/>
          <a:ext cx="0" cy="0"/>
          <a:chOff x="0" y="0"/>
          <a:chExt cx="0" cy="0"/>
        </a:xfrm>
      </p:grpSpPr>
      <p:sp>
        <p:nvSpPr>
          <p:cNvPr id="2" name="标题 1">
            <a:extLst>
              <a:ext uri="{FF2B5EF4-FFF2-40B4-BE49-F238E27FC236}">
                <a16:creationId xmlns:a16="http://schemas.microsoft.com/office/drawing/2014/main" id="{09B78CF5-0369-3D12-00FE-2AB2CD988BE8}"/>
              </a:ext>
            </a:extLst>
          </p:cNvPr>
          <p:cNvSpPr>
            <a:spLocks noGrp="1"/>
          </p:cNvSpPr>
          <p:nvPr>
            <p:ph type="title"/>
          </p:nvPr>
        </p:nvSpPr>
        <p:spPr/>
        <p:txBody>
          <a:bodyPr/>
          <a:lstStyle/>
          <a:p>
            <a:r>
              <a:rPr lang="zh-CN" altLang="zh-CN" dirty="0"/>
              <a:t>Where Prefix Reuse Appears</a:t>
            </a:r>
            <a:endParaRPr lang="zh-CN" altLang="en-US" dirty="0"/>
          </a:p>
        </p:txBody>
      </p:sp>
      <p:sp>
        <p:nvSpPr>
          <p:cNvPr id="2724" name="Google Shape;2724;p241"/>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22</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725" name="Google Shape;2725;p241"/>
          <p:cNvSpPr txBox="1"/>
          <p:nvPr/>
        </p:nvSpPr>
        <p:spPr>
          <a:xfrm>
            <a:off x="526331" y="389494"/>
            <a:ext cx="8141100" cy="414900"/>
          </a:xfrm>
          <a:prstGeom prst="rect">
            <a:avLst/>
          </a:prstGeom>
          <a:noFill/>
          <a:ln>
            <a:noFill/>
          </a:ln>
        </p:spPr>
        <p:txBody>
          <a:bodyPr spcFirstLastPara="1" wrap="square" lIns="68575" tIns="68575" rIns="68575" bIns="68575" anchor="t"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2300"/>
              <a:buFont typeface="Arial"/>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726" name="Google Shape;2726;p241"/>
          <p:cNvSpPr txBox="1"/>
          <p:nvPr/>
        </p:nvSpPr>
        <p:spPr>
          <a:xfrm>
            <a:off x="714022" y="1047900"/>
            <a:ext cx="7180200" cy="3128400"/>
          </a:xfrm>
          <a:prstGeom prst="rect">
            <a:avLst/>
          </a:prstGeom>
          <a:noFill/>
          <a:ln>
            <a:noFill/>
          </a:ln>
        </p:spPr>
        <p:txBody>
          <a:bodyPr spcFirstLastPara="1" wrap="square" lIns="68575" tIns="68575" rIns="68575" bIns="68575" anchor="t" anchorCtr="0">
            <a:noAutofit/>
          </a:bodyPr>
          <a:lstStyle/>
          <a:p>
            <a:pPr marL="0" marR="0" lvl="0" indent="0" algn="l" defTabSz="914400" rtl="0" eaLnBrk="1" fontAlgn="auto" latinLnBrk="0" hangingPunct="1">
              <a:lnSpc>
                <a:spcPct val="100000"/>
              </a:lnSpc>
              <a:spcBef>
                <a:spcPts val="900"/>
              </a:spcBef>
              <a:spcAft>
                <a:spcPts val="0"/>
              </a:spcAft>
              <a:buClr>
                <a:srgbClr val="000000"/>
              </a:buClr>
              <a:buSzPts val="1500"/>
              <a:buFont typeface="Arial"/>
              <a:buNone/>
              <a:tabLst/>
              <a:defRPr/>
            </a:pPr>
            <a:r>
              <a:rPr kumimoji="0" lang="en" sz="1500" b="0" i="0" u="none" strike="noStrike" kern="0" cap="none" spc="0" normalizeH="0" baseline="0" noProof="0">
                <a:ln>
                  <a:noFill/>
                </a:ln>
                <a:solidFill>
                  <a:srgbClr val="000000"/>
                </a:solidFill>
                <a:effectLst/>
                <a:uLnTx/>
                <a:uFillTx/>
                <a:latin typeface="Red Hat Text"/>
                <a:ea typeface="Red Hat Text"/>
                <a:cs typeface="Red Hat Text"/>
                <a:sym typeface="Red Hat Text"/>
              </a:rPr>
              <a:t>Linear Agents – Multi-Turn Tool Use</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pic>
        <p:nvPicPr>
          <p:cNvPr id="2727" name="Google Shape;2727;p241"/>
          <p:cNvPicPr preferRelativeResize="0"/>
          <p:nvPr/>
        </p:nvPicPr>
        <p:blipFill rotWithShape="1">
          <a:blip r:embed="rId3">
            <a:alphaModFix/>
          </a:blip>
          <a:srcRect/>
          <a:stretch/>
        </p:blipFill>
        <p:spPr>
          <a:xfrm>
            <a:off x="2026463" y="1697685"/>
            <a:ext cx="5140912" cy="2974452"/>
          </a:xfrm>
          <a:prstGeom prst="rect">
            <a:avLst/>
          </a:prstGeom>
          <a:noFill/>
          <a:ln>
            <a:noFill/>
          </a:ln>
        </p:spPr>
      </p:pic>
    </p:spTree>
    <p:extLst>
      <p:ext uri="{BB962C8B-B14F-4D97-AF65-F5344CB8AC3E}">
        <p14:creationId xmlns:p14="http://schemas.microsoft.com/office/powerpoint/2010/main" val="3851887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38"/>
        <p:cNvGrpSpPr/>
        <p:nvPr/>
      </p:nvGrpSpPr>
      <p:grpSpPr>
        <a:xfrm>
          <a:off x="0" y="0"/>
          <a:ext cx="0" cy="0"/>
          <a:chOff x="0" y="0"/>
          <a:chExt cx="0" cy="0"/>
        </a:xfrm>
      </p:grpSpPr>
      <p:sp>
        <p:nvSpPr>
          <p:cNvPr id="3740" name="Google Shape;3740;p365"/>
          <p:cNvSpPr txBox="1">
            <a:spLocks noGrp="1"/>
          </p:cNvSpPr>
          <p:nvPr>
            <p:ph type="title"/>
          </p:nvPr>
        </p:nvSpPr>
        <p:spPr>
          <a:xfrm>
            <a:off x="304086" y="134925"/>
            <a:ext cx="6949739" cy="1047900"/>
          </a:xfrm>
          <a:prstGeom prst="rect">
            <a:avLst/>
          </a:prstGeom>
        </p:spPr>
        <p:txBody>
          <a:bodyPr spcFirstLastPara="1" wrap="square" lIns="0" tIns="0" rIns="0" bIns="0" anchor="t" anchorCtr="0">
            <a:noAutofit/>
          </a:bodyPr>
          <a:lstStyle/>
          <a:p>
            <a:pPr lvl="0">
              <a:buClr>
                <a:schemeClr val="dk1"/>
              </a:buClr>
              <a:buSzPts val="1100"/>
            </a:pPr>
            <a:r>
              <a:rPr lang="en" altLang="zh-CN" dirty="0"/>
              <a:t>KV-Aware Routing</a:t>
            </a:r>
            <a:r>
              <a:rPr lang="zh-CN" altLang="en-US" dirty="0"/>
              <a:t> </a:t>
            </a:r>
            <a:r>
              <a:rPr lang="en-US" altLang="zh-CN" dirty="0"/>
              <a:t>Performance</a:t>
            </a:r>
            <a:endParaRPr dirty="0"/>
          </a:p>
        </p:txBody>
      </p:sp>
      <p:sp>
        <p:nvSpPr>
          <p:cNvPr id="3739" name="Google Shape;3739;p365"/>
          <p:cNvSpPr txBox="1">
            <a:spLocks noGrp="1"/>
          </p:cNvSpPr>
          <p:nvPr>
            <p:ph type="body" idx="1"/>
          </p:nvPr>
        </p:nvSpPr>
        <p:spPr>
          <a:xfrm>
            <a:off x="304086" y="1313722"/>
            <a:ext cx="8520600" cy="3317400"/>
          </a:xfrm>
          <a:prstGeom prst="rect">
            <a:avLst/>
          </a:prstGeom>
        </p:spPr>
        <p:txBody>
          <a:bodyPr spcFirstLastPara="1" wrap="square" lIns="0" tIns="0" rIns="0" bIns="0" anchor="t" anchorCtr="0">
            <a:noAutofit/>
          </a:bodyPr>
          <a:lstStyle/>
          <a:p>
            <a:pPr marL="139700" lvl="0" indent="0" algn="l" rtl="0">
              <a:spcBef>
                <a:spcPts val="800"/>
              </a:spcBef>
              <a:spcAft>
                <a:spcPts val="0"/>
              </a:spcAft>
              <a:buSzPts val="1400"/>
              <a:buNone/>
            </a:pPr>
            <a:r>
              <a:rPr lang="en" sz="1400" dirty="0">
                <a:solidFill>
                  <a:srgbClr val="000000"/>
                </a:solidFill>
                <a:latin typeface="Arial"/>
              </a:rPr>
              <a:t>Without prefix caching, prefill instances can’t keep up</a:t>
            </a:r>
            <a:endParaRPr sz="1400" dirty="0">
              <a:solidFill>
                <a:srgbClr val="000000"/>
              </a:solidFill>
              <a:latin typeface="Arial"/>
            </a:endParaRPr>
          </a:p>
          <a:p>
            <a:pPr marL="317500" indent="-171450">
              <a:buClr>
                <a:schemeClr val="dk1"/>
              </a:buClr>
              <a:buSzPts val="1300"/>
            </a:pPr>
            <a:r>
              <a:rPr lang="en" sz="1400" dirty="0">
                <a:solidFill>
                  <a:srgbClr val="000000"/>
                </a:solidFill>
              </a:rPr>
              <a:t>Left: KV-Aware</a:t>
            </a:r>
            <a:endParaRPr sz="1400" dirty="0">
              <a:solidFill>
                <a:srgbClr val="000000"/>
              </a:solidFill>
            </a:endParaRPr>
          </a:p>
          <a:p>
            <a:pPr marL="317500" indent="-171450">
              <a:buClr>
                <a:schemeClr val="dk1"/>
              </a:buClr>
              <a:buSzPts val="1300"/>
            </a:pPr>
            <a:r>
              <a:rPr lang="en" sz="1400" dirty="0">
                <a:solidFill>
                  <a:srgbClr val="000000"/>
                </a:solidFill>
              </a:rPr>
              <a:t>Right: Random</a:t>
            </a:r>
            <a:endParaRPr sz="1400" dirty="0">
              <a:solidFill>
                <a:srgbClr val="000000"/>
              </a:solidFill>
            </a:endParaRPr>
          </a:p>
        </p:txBody>
      </p:sp>
      <p:sp>
        <p:nvSpPr>
          <p:cNvPr id="3741" name="Google Shape;3741;p365"/>
          <p:cNvSpPr txBox="1">
            <a:spLocks noGrp="1"/>
          </p:cNvSpPr>
          <p:nvPr>
            <p:ph type="subTitle" idx="4294967295"/>
          </p:nvPr>
        </p:nvSpPr>
        <p:spPr>
          <a:xfrm>
            <a:off x="-555411" y="549338"/>
            <a:ext cx="7816850" cy="219075"/>
          </a:xfrm>
          <a:prstGeom prst="rect">
            <a:avLst/>
          </a:prstGeom>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dirty="0">
                <a:solidFill>
                  <a:schemeClr val="bg1"/>
                </a:solidFill>
              </a:rPr>
              <a:t>Intelligent inference scheduling lets us avoid recomputing prefills </a:t>
            </a:r>
            <a:endParaRPr dirty="0">
              <a:solidFill>
                <a:schemeClr val="bg1"/>
              </a:solidFill>
            </a:endParaRPr>
          </a:p>
          <a:p>
            <a:pPr marL="0" lvl="0" indent="0" algn="ctr" rtl="0">
              <a:spcBef>
                <a:spcPts val="0"/>
              </a:spcBef>
              <a:spcAft>
                <a:spcPts val="0"/>
              </a:spcAft>
              <a:buNone/>
            </a:pPr>
            <a:endParaRPr dirty="0">
              <a:solidFill>
                <a:schemeClr val="bg1"/>
              </a:solidFill>
            </a:endParaRPr>
          </a:p>
        </p:txBody>
      </p:sp>
      <p:pic>
        <p:nvPicPr>
          <p:cNvPr id="3743" name="Google Shape;3743;p365"/>
          <p:cNvPicPr preferRelativeResize="0"/>
          <p:nvPr/>
        </p:nvPicPr>
        <p:blipFill>
          <a:blip r:embed="rId3">
            <a:alphaModFix/>
          </a:blip>
          <a:stretch>
            <a:fillRect/>
          </a:stretch>
        </p:blipFill>
        <p:spPr>
          <a:xfrm>
            <a:off x="4767943" y="1400980"/>
            <a:ext cx="3173342" cy="1401997"/>
          </a:xfrm>
          <a:prstGeom prst="rect">
            <a:avLst/>
          </a:prstGeom>
          <a:noFill/>
          <a:ln>
            <a:noFill/>
          </a:ln>
        </p:spPr>
      </p:pic>
      <p:pic>
        <p:nvPicPr>
          <p:cNvPr id="3" name="Google Shape;2872;p246">
            <a:extLst>
              <a:ext uri="{FF2B5EF4-FFF2-40B4-BE49-F238E27FC236}">
                <a16:creationId xmlns:a16="http://schemas.microsoft.com/office/drawing/2014/main" id="{0FF042A3-57F7-47CA-D358-AF076516771D}"/>
              </a:ext>
            </a:extLst>
          </p:cNvPr>
          <p:cNvPicPr preferRelativeResize="0"/>
          <p:nvPr/>
        </p:nvPicPr>
        <p:blipFill rotWithShape="1">
          <a:blip r:embed="rId4">
            <a:alphaModFix/>
          </a:blip>
          <a:srcRect l="66443"/>
          <a:stretch/>
        </p:blipFill>
        <p:spPr>
          <a:xfrm>
            <a:off x="630251" y="3085570"/>
            <a:ext cx="2874949" cy="1987442"/>
          </a:xfrm>
          <a:prstGeom prst="rect">
            <a:avLst/>
          </a:prstGeom>
          <a:noFill/>
          <a:ln>
            <a:noFill/>
          </a:ln>
        </p:spPr>
      </p:pic>
      <p:sp>
        <p:nvSpPr>
          <p:cNvPr id="4" name="Google Shape;2873;p246">
            <a:extLst>
              <a:ext uri="{FF2B5EF4-FFF2-40B4-BE49-F238E27FC236}">
                <a16:creationId xmlns:a16="http://schemas.microsoft.com/office/drawing/2014/main" id="{82D82748-BA9C-53E6-C165-F2732C3A31DD}"/>
              </a:ext>
            </a:extLst>
          </p:cNvPr>
          <p:cNvSpPr txBox="1"/>
          <p:nvPr/>
        </p:nvSpPr>
        <p:spPr>
          <a:xfrm>
            <a:off x="4029693" y="3141866"/>
            <a:ext cx="4384800" cy="2001634"/>
          </a:xfrm>
          <a:prstGeom prst="rect">
            <a:avLst/>
          </a:prstGeom>
          <a:noFill/>
          <a:ln>
            <a:noFill/>
          </a:ln>
        </p:spPr>
        <p:txBody>
          <a:bodyPr spcFirstLastPara="1" wrap="square" lIns="64175" tIns="64175" rIns="64175" bIns="64175" anchor="ctr" anchorCtr="0">
            <a:noAutofit/>
          </a:bodyPr>
          <a:lstStyle/>
          <a:p>
            <a:pPr marL="82550" marR="0" lvl="2" algn="l" defTabSz="914400" rtl="0" eaLnBrk="1" fontAlgn="auto" latinLnBrk="0" hangingPunct="1">
              <a:lnSpc>
                <a:spcPct val="100000"/>
              </a:lnSpc>
              <a:spcBef>
                <a:spcPts val="0"/>
              </a:spcBef>
              <a:spcAft>
                <a:spcPts val="0"/>
              </a:spcAft>
              <a:buClr>
                <a:srgbClr val="000000"/>
              </a:buClr>
              <a:buSzPts val="1300"/>
              <a:tabLst/>
              <a:defRPr/>
            </a:pPr>
            <a:r>
              <a:rPr lang="en" dirty="0" err="1">
                <a:sym typeface="Red Hat Display"/>
              </a:rPr>
              <a:t>llm</a:t>
            </a:r>
            <a:r>
              <a:rPr lang="en" dirty="0">
                <a:sym typeface="Red Hat Display"/>
              </a:rPr>
              <a:t>-d provides different levels of prefix-cache aware scheduling capabilities in our guides</a:t>
            </a:r>
            <a:endParaRPr dirty="0"/>
          </a:p>
          <a:p>
            <a:pPr marL="450850" marR="0" lvl="2"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endParaRPr dirty="0">
              <a:sym typeface="Red Hat Display"/>
            </a:endParaRPr>
          </a:p>
          <a:p>
            <a:pPr marL="82550" marR="0" lvl="2" algn="l" defTabSz="914400" rtl="0" eaLnBrk="1" fontAlgn="auto" latinLnBrk="0" hangingPunct="1">
              <a:lnSpc>
                <a:spcPct val="100000"/>
              </a:lnSpc>
              <a:spcBef>
                <a:spcPts val="0"/>
              </a:spcBef>
              <a:spcAft>
                <a:spcPts val="0"/>
              </a:spcAft>
              <a:buClr>
                <a:srgbClr val="000000"/>
              </a:buClr>
              <a:buSzPts val="1300"/>
              <a:tabLst/>
              <a:defRPr/>
            </a:pPr>
            <a:r>
              <a:rPr lang="en" dirty="0">
                <a:sym typeface="Red Hat Display"/>
              </a:rPr>
              <a:t>In a workload that demands only 73% of a 16 H100 GPUs KV-cache capacity, optimal performance is achieved:</a:t>
            </a:r>
            <a:endParaRPr lang="en" dirty="0"/>
          </a:p>
          <a:p>
            <a:pPr marL="368300" marR="0" lvl="2"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r>
              <a:rPr lang="en" dirty="0">
                <a:sym typeface="Red Hat Display"/>
              </a:rPr>
              <a:t>x2 throughput than load-aware scheduling</a:t>
            </a:r>
            <a:endParaRPr dirty="0"/>
          </a:p>
        </p:txBody>
      </p:sp>
    </p:spTree>
    <p:extLst>
      <p:ext uri="{BB962C8B-B14F-4D97-AF65-F5344CB8AC3E}">
        <p14:creationId xmlns:p14="http://schemas.microsoft.com/office/powerpoint/2010/main" val="23055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56"/>
        <p:cNvGrpSpPr/>
        <p:nvPr/>
      </p:nvGrpSpPr>
      <p:grpSpPr>
        <a:xfrm>
          <a:off x="0" y="0"/>
          <a:ext cx="0" cy="0"/>
          <a:chOff x="0" y="0"/>
          <a:chExt cx="0" cy="0"/>
        </a:xfrm>
      </p:grpSpPr>
      <p:sp>
        <p:nvSpPr>
          <p:cNvPr id="4157" name="Google Shape;4157;p400"/>
          <p:cNvSpPr/>
          <p:nvPr/>
        </p:nvSpPr>
        <p:spPr>
          <a:xfrm>
            <a:off x="-2249354" y="651184"/>
            <a:ext cx="8412600" cy="365700"/>
          </a:xfrm>
          <a:prstGeom prst="rect">
            <a:avLst/>
          </a:prstGeom>
          <a:noFill/>
          <a:ln>
            <a:noFill/>
          </a:ln>
        </p:spPr>
        <p:txBody>
          <a:bodyPr spcFirstLastPara="1" wrap="square" lIns="0" tIns="0" rIns="0" bIns="0" anchor="ctr" anchorCtr="0">
            <a:noAutofit/>
          </a:bodyPr>
          <a:lstStyle/>
          <a:p>
            <a:pPr lvl="0" algn="ctr">
              <a:buClr>
                <a:srgbClr val="9CA3AF"/>
              </a:buClr>
              <a:buSzPts val="1300"/>
            </a:pPr>
            <a:r>
              <a:rPr lang="en" dirty="0">
                <a:solidFill>
                  <a:schemeClr val="bg1"/>
                </a:solidFill>
                <a:sym typeface="Calibri"/>
              </a:rPr>
              <a:t>DON‘T RECOMPUTE. </a:t>
            </a:r>
            <a:r>
              <a:rPr lang="zh-CN" altLang="zh-CN" dirty="0">
                <a:solidFill>
                  <a:schemeClr val="bg1"/>
                </a:solidFill>
              </a:rPr>
              <a:t>hierarchy</a:t>
            </a:r>
            <a:r>
              <a:rPr lang="en" dirty="0">
                <a:solidFill>
                  <a:schemeClr val="bg1"/>
                </a:solidFill>
                <a:sym typeface="Calibri"/>
              </a:rPr>
              <a:t> KV</a:t>
            </a:r>
            <a:r>
              <a:rPr lang="zh-CN" altLang="en-US" dirty="0">
                <a:solidFill>
                  <a:schemeClr val="bg1"/>
                </a:solidFill>
                <a:sym typeface="Calibri"/>
              </a:rPr>
              <a:t> </a:t>
            </a:r>
            <a:r>
              <a:rPr lang="en-US" altLang="zh-CN" dirty="0">
                <a:solidFill>
                  <a:schemeClr val="bg1"/>
                </a:solidFill>
                <a:sym typeface="Calibri"/>
              </a:rPr>
              <a:t>Cache</a:t>
            </a:r>
            <a:r>
              <a:rPr lang="en" dirty="0">
                <a:solidFill>
                  <a:schemeClr val="bg1"/>
                </a:solidFill>
                <a:sym typeface="Calibri"/>
              </a:rPr>
              <a:t>.</a:t>
            </a:r>
            <a:endParaRPr dirty="0">
              <a:solidFill>
                <a:schemeClr val="bg1"/>
              </a:solidFill>
              <a:sym typeface="Calibri"/>
            </a:endParaRPr>
          </a:p>
        </p:txBody>
      </p:sp>
      <p:sp>
        <p:nvSpPr>
          <p:cNvPr id="4158" name="Google Shape;4158;p400"/>
          <p:cNvSpPr/>
          <p:nvPr/>
        </p:nvSpPr>
        <p:spPr>
          <a:xfrm>
            <a:off x="538362" y="1200416"/>
            <a:ext cx="2469000" cy="2011800"/>
          </a:xfrm>
          <a:prstGeom prst="roundRect">
            <a:avLst>
              <a:gd name="adj" fmla="val 4545"/>
            </a:avLst>
          </a:prstGeom>
          <a:solidFill>
            <a:srgbClr val="FFFFFF"/>
          </a:solidFill>
          <a:ln w="254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0"/>
          <p:cNvSpPr/>
          <p:nvPr/>
        </p:nvSpPr>
        <p:spPr>
          <a:xfrm>
            <a:off x="538362" y="1429016"/>
            <a:ext cx="24690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0B981"/>
              </a:buClr>
              <a:buSzPts val="1100"/>
              <a:buFont typeface="Calibri"/>
              <a:buNone/>
            </a:pPr>
            <a:r>
              <a:rPr lang="en" sz="1100" b="1" i="0" u="none" strike="noStrike" cap="none">
                <a:solidFill>
                  <a:srgbClr val="10B981"/>
                </a:solidFill>
                <a:latin typeface="Calibri"/>
                <a:ea typeface="Calibri"/>
                <a:cs typeface="Calibri"/>
                <a:sym typeface="Calibri"/>
              </a:rPr>
              <a:t>TIER 1</a:t>
            </a:r>
            <a:endParaRPr sz="1100" b="0" i="0" u="none" strike="noStrike" cap="none">
              <a:solidFill>
                <a:schemeClr val="dk1"/>
              </a:solidFill>
              <a:latin typeface="Calibri"/>
              <a:ea typeface="Calibri"/>
              <a:cs typeface="Calibri"/>
              <a:sym typeface="Calibri"/>
            </a:endParaRPr>
          </a:p>
        </p:txBody>
      </p:sp>
      <p:sp>
        <p:nvSpPr>
          <p:cNvPr id="4160" name="Google Shape;4160;p400"/>
          <p:cNvSpPr/>
          <p:nvPr/>
        </p:nvSpPr>
        <p:spPr>
          <a:xfrm>
            <a:off x="538362" y="1794776"/>
            <a:ext cx="24690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2400"/>
              <a:buFont typeface="Trebuchet MS"/>
              <a:buNone/>
            </a:pPr>
            <a:r>
              <a:rPr lang="en" sz="2400" b="1" i="0" u="none" strike="noStrike" cap="none">
                <a:solidFill>
                  <a:srgbClr val="1F2937"/>
                </a:solidFill>
                <a:latin typeface="Trebuchet MS"/>
                <a:ea typeface="Trebuchet MS"/>
                <a:cs typeface="Trebuchet MS"/>
                <a:sym typeface="Trebuchet MS"/>
              </a:rPr>
              <a:t>GPU HBM</a:t>
            </a:r>
            <a:endParaRPr sz="2400" b="0" i="0" u="none" strike="noStrike" cap="none">
              <a:solidFill>
                <a:schemeClr val="dk1"/>
              </a:solidFill>
              <a:latin typeface="Calibri"/>
              <a:ea typeface="Calibri"/>
              <a:cs typeface="Calibri"/>
              <a:sym typeface="Calibri"/>
            </a:endParaRPr>
          </a:p>
        </p:txBody>
      </p:sp>
      <p:sp>
        <p:nvSpPr>
          <p:cNvPr id="4161" name="Google Shape;4161;p400"/>
          <p:cNvSpPr/>
          <p:nvPr/>
        </p:nvSpPr>
        <p:spPr>
          <a:xfrm>
            <a:off x="538362" y="2525456"/>
            <a:ext cx="24690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CA3AF"/>
              </a:buClr>
              <a:buSzPts val="1200"/>
              <a:buFont typeface="Calibri"/>
              <a:buNone/>
            </a:pPr>
            <a:r>
              <a:rPr lang="en" dirty="0">
                <a:sym typeface="Calibri"/>
              </a:rPr>
              <a:t>fastest, smallest</a:t>
            </a:r>
            <a:endParaRPr dirty="0">
              <a:sym typeface="Calibri"/>
            </a:endParaRPr>
          </a:p>
        </p:txBody>
      </p:sp>
      <p:sp>
        <p:nvSpPr>
          <p:cNvPr id="4162" name="Google Shape;4162;p400"/>
          <p:cNvSpPr/>
          <p:nvPr/>
        </p:nvSpPr>
        <p:spPr>
          <a:xfrm>
            <a:off x="3373002" y="1200416"/>
            <a:ext cx="2469000" cy="2011800"/>
          </a:xfrm>
          <a:prstGeom prst="roundRect">
            <a:avLst>
              <a:gd name="adj" fmla="val 4545"/>
            </a:avLst>
          </a:prstGeom>
          <a:solidFill>
            <a:srgbClr val="FFFFFF"/>
          </a:solidFill>
          <a:ln w="25400" cap="flat" cmpd="sng">
            <a:solidFill>
              <a:srgbClr val="6B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0"/>
          <p:cNvSpPr/>
          <p:nvPr/>
        </p:nvSpPr>
        <p:spPr>
          <a:xfrm>
            <a:off x="3373002" y="1429016"/>
            <a:ext cx="24690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46C1"/>
              </a:buClr>
              <a:buSzPts val="1100"/>
              <a:buFont typeface="Calibri"/>
              <a:buNone/>
            </a:pPr>
            <a:r>
              <a:rPr lang="en" sz="1100" b="1" i="0" u="none" strike="noStrike" cap="none">
                <a:solidFill>
                  <a:srgbClr val="6B46C1"/>
                </a:solidFill>
                <a:latin typeface="Calibri"/>
                <a:ea typeface="Calibri"/>
                <a:cs typeface="Calibri"/>
                <a:sym typeface="Calibri"/>
              </a:rPr>
              <a:t>TIER 2</a:t>
            </a:r>
            <a:endParaRPr sz="1100" b="0" i="0" u="none" strike="noStrike" cap="none">
              <a:solidFill>
                <a:schemeClr val="dk1"/>
              </a:solidFill>
              <a:latin typeface="Calibri"/>
              <a:ea typeface="Calibri"/>
              <a:cs typeface="Calibri"/>
              <a:sym typeface="Calibri"/>
            </a:endParaRPr>
          </a:p>
        </p:txBody>
      </p:sp>
      <p:sp>
        <p:nvSpPr>
          <p:cNvPr id="4164" name="Google Shape;4164;p400"/>
          <p:cNvSpPr/>
          <p:nvPr/>
        </p:nvSpPr>
        <p:spPr>
          <a:xfrm>
            <a:off x="3373002" y="1794776"/>
            <a:ext cx="24690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2400"/>
              <a:buFont typeface="Trebuchet MS"/>
              <a:buNone/>
            </a:pPr>
            <a:r>
              <a:rPr lang="en" sz="2400" b="1" i="0" u="none" strike="noStrike" cap="none">
                <a:solidFill>
                  <a:srgbClr val="1F2937"/>
                </a:solidFill>
                <a:latin typeface="Trebuchet MS"/>
                <a:ea typeface="Trebuchet MS"/>
                <a:cs typeface="Trebuchet MS"/>
                <a:sym typeface="Trebuchet MS"/>
              </a:rPr>
              <a:t>CPU RAM</a:t>
            </a:r>
            <a:endParaRPr sz="2400" b="0" i="0" u="none" strike="noStrike" cap="none">
              <a:solidFill>
                <a:schemeClr val="dk1"/>
              </a:solidFill>
              <a:latin typeface="Calibri"/>
              <a:ea typeface="Calibri"/>
              <a:cs typeface="Calibri"/>
              <a:sym typeface="Calibri"/>
            </a:endParaRPr>
          </a:p>
        </p:txBody>
      </p:sp>
      <p:sp>
        <p:nvSpPr>
          <p:cNvPr id="4165" name="Google Shape;4165;p400"/>
          <p:cNvSpPr/>
          <p:nvPr/>
        </p:nvSpPr>
        <p:spPr>
          <a:xfrm>
            <a:off x="3373002" y="2525456"/>
            <a:ext cx="24690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CA3AF"/>
              </a:buClr>
              <a:buSzPts val="1200"/>
              <a:buFont typeface="Calibri"/>
              <a:buNone/>
            </a:pPr>
            <a:r>
              <a:rPr lang="en" dirty="0">
                <a:sym typeface="Calibri"/>
              </a:rPr>
              <a:t>same node, spillover</a:t>
            </a:r>
            <a:endParaRPr dirty="0">
              <a:sym typeface="Calibri"/>
            </a:endParaRPr>
          </a:p>
        </p:txBody>
      </p:sp>
      <p:sp>
        <p:nvSpPr>
          <p:cNvPr id="4166" name="Google Shape;4166;p400"/>
          <p:cNvSpPr/>
          <p:nvPr/>
        </p:nvSpPr>
        <p:spPr>
          <a:xfrm>
            <a:off x="6207642" y="1200416"/>
            <a:ext cx="2469000" cy="2011800"/>
          </a:xfrm>
          <a:prstGeom prst="roundRect">
            <a:avLst>
              <a:gd name="adj" fmla="val 4545"/>
            </a:avLst>
          </a:prstGeom>
          <a:solidFill>
            <a:srgbClr val="FFFFFF"/>
          </a:solidFill>
          <a:ln w="254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0"/>
          <p:cNvSpPr/>
          <p:nvPr/>
        </p:nvSpPr>
        <p:spPr>
          <a:xfrm>
            <a:off x="6207642" y="1429016"/>
            <a:ext cx="24690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9E0B"/>
              </a:buClr>
              <a:buSzPts val="1100"/>
              <a:buFont typeface="Calibri"/>
              <a:buNone/>
            </a:pPr>
            <a:r>
              <a:rPr lang="en" sz="1100" b="1" i="0" u="none" strike="noStrike" cap="none" dirty="0">
                <a:solidFill>
                  <a:srgbClr val="F59E0B"/>
                </a:solidFill>
                <a:latin typeface="Calibri"/>
                <a:ea typeface="Calibri"/>
                <a:cs typeface="Calibri"/>
                <a:sym typeface="Calibri"/>
              </a:rPr>
              <a:t>TIER 3</a:t>
            </a:r>
            <a:r>
              <a:rPr lang="en-US" altLang="zh-CN" sz="1100" b="1" i="0" u="none" strike="noStrike" cap="none" dirty="0">
                <a:solidFill>
                  <a:srgbClr val="F59E0B"/>
                </a:solidFill>
                <a:latin typeface="Calibri"/>
                <a:ea typeface="Calibri"/>
                <a:cs typeface="Calibri"/>
                <a:sym typeface="Calibri"/>
              </a:rPr>
              <a:t>/4</a:t>
            </a:r>
            <a:endParaRPr sz="1100" b="0" i="0" u="none" strike="noStrike" cap="none" dirty="0">
              <a:solidFill>
                <a:schemeClr val="dk1"/>
              </a:solidFill>
              <a:latin typeface="Calibri"/>
              <a:ea typeface="Calibri"/>
              <a:cs typeface="Calibri"/>
              <a:sym typeface="Calibri"/>
            </a:endParaRPr>
          </a:p>
        </p:txBody>
      </p:sp>
      <p:sp>
        <p:nvSpPr>
          <p:cNvPr id="4168" name="Google Shape;4168;p400"/>
          <p:cNvSpPr/>
          <p:nvPr/>
        </p:nvSpPr>
        <p:spPr>
          <a:xfrm>
            <a:off x="6207642" y="1794776"/>
            <a:ext cx="24690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937"/>
              </a:buClr>
              <a:buSzPts val="2400"/>
              <a:buFont typeface="Trebuchet MS"/>
              <a:buNone/>
            </a:pPr>
            <a:r>
              <a:rPr lang="en" sz="2400" b="1" i="0" u="none" strike="noStrike" cap="none" dirty="0">
                <a:solidFill>
                  <a:srgbClr val="1F2937"/>
                </a:solidFill>
                <a:latin typeface="Trebuchet MS"/>
                <a:ea typeface="Trebuchet MS"/>
                <a:cs typeface="Trebuchet MS"/>
                <a:sym typeface="Trebuchet MS"/>
              </a:rPr>
              <a:t>SSD</a:t>
            </a:r>
            <a:r>
              <a:rPr lang="zh-CN" altLang="en-US" sz="2400" b="1" i="0" u="none" strike="noStrike" cap="none" dirty="0">
                <a:solidFill>
                  <a:srgbClr val="1F2937"/>
                </a:solidFill>
                <a:latin typeface="Trebuchet MS"/>
                <a:ea typeface="Trebuchet MS"/>
                <a:cs typeface="Trebuchet MS"/>
                <a:sym typeface="Trebuchet MS"/>
              </a:rPr>
              <a:t> </a:t>
            </a:r>
            <a:r>
              <a:rPr lang="en" sz="2400" b="1" i="0" u="none" strike="noStrike" cap="none" dirty="0">
                <a:solidFill>
                  <a:srgbClr val="1F2937"/>
                </a:solidFill>
                <a:latin typeface="Trebuchet MS"/>
                <a:ea typeface="Trebuchet MS"/>
                <a:cs typeface="Trebuchet MS"/>
                <a:sym typeface="Trebuchet MS"/>
              </a:rPr>
              <a:t>Storage</a:t>
            </a:r>
            <a:endParaRPr sz="2400" b="0" i="0" u="none" strike="noStrike" cap="none" dirty="0">
              <a:solidFill>
                <a:schemeClr val="dk1"/>
              </a:solidFill>
              <a:latin typeface="Calibri"/>
              <a:ea typeface="Calibri"/>
              <a:cs typeface="Calibri"/>
              <a:sym typeface="Calibri"/>
            </a:endParaRPr>
          </a:p>
        </p:txBody>
      </p:sp>
      <p:sp>
        <p:nvSpPr>
          <p:cNvPr id="4169" name="Google Shape;4169;p400"/>
          <p:cNvSpPr/>
          <p:nvPr/>
        </p:nvSpPr>
        <p:spPr>
          <a:xfrm>
            <a:off x="6027090" y="2640096"/>
            <a:ext cx="2936358" cy="411600"/>
          </a:xfrm>
          <a:prstGeom prst="rect">
            <a:avLst/>
          </a:prstGeom>
          <a:noFill/>
          <a:ln>
            <a:noFill/>
          </a:ln>
        </p:spPr>
        <p:txBody>
          <a:bodyPr spcFirstLastPara="1" wrap="square" lIns="0" tIns="0" rIns="0" bIns="0" anchor="ctr" anchorCtr="0">
            <a:noAutofit/>
          </a:bodyPr>
          <a:lstStyle/>
          <a:p>
            <a:pPr lvl="0" algn="ctr">
              <a:buClr>
                <a:srgbClr val="9CA3AF"/>
              </a:buClr>
              <a:buSzPts val="1200"/>
            </a:pPr>
            <a:r>
              <a:rPr lang="zh-CN" altLang="zh-CN" dirty="0"/>
              <a:t>Local or shared </a:t>
            </a:r>
            <a:r>
              <a:rPr lang="en-US" altLang="zh-CN" dirty="0"/>
              <a:t>Storage</a:t>
            </a:r>
            <a:br>
              <a:rPr lang="zh-CN" altLang="zh-CN" dirty="0"/>
            </a:br>
            <a:endParaRPr dirty="0">
              <a:sym typeface="Calibri"/>
            </a:endParaRPr>
          </a:p>
        </p:txBody>
      </p:sp>
      <p:sp>
        <p:nvSpPr>
          <p:cNvPr id="4170" name="Google Shape;4170;p400"/>
          <p:cNvSpPr/>
          <p:nvPr/>
        </p:nvSpPr>
        <p:spPr>
          <a:xfrm>
            <a:off x="401202" y="3486416"/>
            <a:ext cx="8412600" cy="1005900"/>
          </a:xfrm>
          <a:prstGeom prst="roundRect">
            <a:avLst>
              <a:gd name="adj" fmla="val 7273"/>
            </a:avLst>
          </a:prstGeom>
          <a:solidFill>
            <a:srgbClr val="FEF3C7"/>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0"/>
          <p:cNvSpPr/>
          <p:nvPr/>
        </p:nvSpPr>
        <p:spPr>
          <a:xfrm>
            <a:off x="898742" y="3669756"/>
            <a:ext cx="7495295" cy="411600"/>
          </a:xfrm>
          <a:prstGeom prst="rect">
            <a:avLst/>
          </a:prstGeom>
          <a:noFill/>
          <a:ln>
            <a:noFill/>
          </a:ln>
        </p:spPr>
        <p:txBody>
          <a:bodyPr spcFirstLastPara="1" wrap="square" lIns="0" tIns="0" rIns="0" bIns="0" anchor="ctr" anchorCtr="0">
            <a:noAutofit/>
          </a:bodyPr>
          <a:lstStyle/>
          <a:p>
            <a:r>
              <a:rPr lang="zh-CN" altLang="zh-CN" dirty="0"/>
              <a:t>The llm-d filesystem backend restores KV blocks from mounted POSIX storage</a:t>
            </a:r>
            <a:r>
              <a:rPr lang="en-US" altLang="zh-CN" dirty="0"/>
              <a:t>.</a:t>
            </a:r>
            <a:endParaRPr lang="zh-CN" altLang="zh-CN" dirty="0"/>
          </a:p>
        </p:txBody>
      </p:sp>
      <p:sp>
        <p:nvSpPr>
          <p:cNvPr id="4174" name="Google Shape;4174;p400"/>
          <p:cNvSpPr/>
          <p:nvPr/>
        </p:nvSpPr>
        <p:spPr>
          <a:xfrm>
            <a:off x="946576" y="4067713"/>
            <a:ext cx="63552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1D95"/>
              </a:buClr>
              <a:buSzPts val="1100"/>
              <a:buFont typeface="Calibri"/>
              <a:buNone/>
            </a:pPr>
            <a:r>
              <a:rPr lang="en" sz="1100" b="1" i="0" u="none" strike="noStrike" cap="none" dirty="0">
                <a:solidFill>
                  <a:srgbClr val="4C1D95"/>
                </a:solidFill>
                <a:latin typeface="Calibri"/>
                <a:ea typeface="Calibri"/>
                <a:cs typeface="Calibri"/>
                <a:sym typeface="Calibri"/>
              </a:rPr>
              <a:t>Cross-replica reuse  ·  Persistent across restarts  ·  Async I/O</a:t>
            </a:r>
            <a:r>
              <a:rPr lang="en" sz="1100" b="0" i="1" u="none" strike="noStrike" cap="none" dirty="0">
                <a:solidFill>
                  <a:srgbClr val="9CA3AF"/>
                </a:solidFill>
                <a:latin typeface="Calibri"/>
                <a:ea typeface="Calibri"/>
                <a:cs typeface="Calibri"/>
                <a:sym typeface="Calibri"/>
              </a:rPr>
              <a:t>      (vs full prefill, long prompts)</a:t>
            </a:r>
            <a:endParaRPr sz="1100" b="0" i="0" u="none" strike="noStrike" cap="none" dirty="0">
              <a:solidFill>
                <a:schemeClr val="dk1"/>
              </a:solidFill>
              <a:latin typeface="Calibri"/>
              <a:ea typeface="Calibri"/>
              <a:cs typeface="Calibri"/>
              <a:sym typeface="Calibri"/>
            </a:endParaRPr>
          </a:p>
        </p:txBody>
      </p:sp>
      <p:sp>
        <p:nvSpPr>
          <p:cNvPr id="4175" name="Google Shape;4175;p400"/>
          <p:cNvSpPr/>
          <p:nvPr/>
        </p:nvSpPr>
        <p:spPr>
          <a:xfrm>
            <a:off x="4572000" y="4674356"/>
            <a:ext cx="4241802" cy="320760"/>
          </a:xfrm>
          <a:prstGeom prst="rect">
            <a:avLst/>
          </a:prstGeom>
          <a:noFill/>
          <a:ln>
            <a:noFill/>
          </a:ln>
        </p:spPr>
        <p:txBody>
          <a:bodyPr spcFirstLastPara="1" wrap="square" lIns="0" tIns="0" rIns="0" bIns="0" anchor="ctr" anchorCtr="0">
            <a:noAutofit/>
          </a:bodyPr>
          <a:lstStyle/>
          <a:p>
            <a:pPr lvl="0" algn="ctr">
              <a:buClr>
                <a:srgbClr val="9CA3AF"/>
              </a:buClr>
              <a:buSzPts val="1600"/>
            </a:pPr>
            <a:r>
              <a:rPr lang="zh-CN" altLang="zh-CN" sz="1100" dirty="0"/>
              <a:t>Retention times are illustrative estimates, not fixed system limits.</a:t>
            </a:r>
            <a:endParaRPr sz="1100" dirty="0">
              <a:sym typeface="Calibri"/>
            </a:endParaRPr>
          </a:p>
        </p:txBody>
      </p:sp>
      <p:sp>
        <p:nvSpPr>
          <p:cNvPr id="4" name="标题 3">
            <a:extLst>
              <a:ext uri="{FF2B5EF4-FFF2-40B4-BE49-F238E27FC236}">
                <a16:creationId xmlns:a16="http://schemas.microsoft.com/office/drawing/2014/main" id="{C4EA6D87-5852-BB5C-0721-8AEA96DEF718}"/>
              </a:ext>
            </a:extLst>
          </p:cNvPr>
          <p:cNvSpPr>
            <a:spLocks noGrp="1"/>
          </p:cNvSpPr>
          <p:nvPr>
            <p:ph type="title"/>
          </p:nvPr>
        </p:nvSpPr>
        <p:spPr>
          <a:xfrm>
            <a:off x="237315" y="133992"/>
            <a:ext cx="6949739" cy="681608"/>
          </a:xfrm>
        </p:spPr>
        <p:txBody>
          <a:bodyPr/>
          <a:lstStyle/>
          <a:p>
            <a:r>
              <a:rPr lang="zh-CN" altLang="zh-CN" dirty="0"/>
              <a:t>HBM Is Precious—and Never Enough</a:t>
            </a:r>
            <a:endParaRPr lang="zh-CN" altLang="en-US" dirty="0"/>
          </a:p>
        </p:txBody>
      </p:sp>
      <p:sp>
        <p:nvSpPr>
          <p:cNvPr id="5" name="文本框 4">
            <a:extLst>
              <a:ext uri="{FF2B5EF4-FFF2-40B4-BE49-F238E27FC236}">
                <a16:creationId xmlns:a16="http://schemas.microsoft.com/office/drawing/2014/main" id="{31FEB145-DCD7-C0FA-FDDA-153C48616ED8}"/>
              </a:ext>
            </a:extLst>
          </p:cNvPr>
          <p:cNvSpPr txBox="1"/>
          <p:nvPr/>
        </p:nvSpPr>
        <p:spPr>
          <a:xfrm>
            <a:off x="1250348" y="2812619"/>
            <a:ext cx="5747656" cy="307777"/>
          </a:xfrm>
          <a:prstGeom prst="rect">
            <a:avLst/>
          </a:prstGeom>
          <a:noFill/>
        </p:spPr>
        <p:txBody>
          <a:bodyPr wrap="square">
            <a:spAutoFit/>
          </a:bodyPr>
          <a:lstStyle/>
          <a:p>
            <a:r>
              <a:rPr lang="en-US" altLang="zh-CN" dirty="0"/>
              <a:t>~ </a:t>
            </a:r>
            <a:r>
              <a:rPr lang="zh-CN" altLang="zh-CN" dirty="0"/>
              <a:t>5 minutes</a:t>
            </a:r>
            <a:endParaRPr lang="zh-CN" altLang="en-US" dirty="0"/>
          </a:p>
        </p:txBody>
      </p:sp>
      <p:sp>
        <p:nvSpPr>
          <p:cNvPr id="7" name="文本框 6">
            <a:extLst>
              <a:ext uri="{FF2B5EF4-FFF2-40B4-BE49-F238E27FC236}">
                <a16:creationId xmlns:a16="http://schemas.microsoft.com/office/drawing/2014/main" id="{E4128046-5DBE-70A5-89A6-D1DD2B3AC817}"/>
              </a:ext>
            </a:extLst>
          </p:cNvPr>
          <p:cNvSpPr txBox="1"/>
          <p:nvPr/>
        </p:nvSpPr>
        <p:spPr>
          <a:xfrm>
            <a:off x="4109978" y="2805667"/>
            <a:ext cx="5747656" cy="307777"/>
          </a:xfrm>
          <a:prstGeom prst="rect">
            <a:avLst/>
          </a:prstGeom>
          <a:noFill/>
        </p:spPr>
        <p:txBody>
          <a:bodyPr wrap="square">
            <a:spAutoFit/>
          </a:bodyPr>
          <a:lstStyle/>
          <a:p>
            <a:r>
              <a:rPr lang="en-US" altLang="zh-CN" dirty="0"/>
              <a:t>~ </a:t>
            </a:r>
            <a:r>
              <a:rPr lang="zh-CN" altLang="zh-CN" dirty="0"/>
              <a:t>30 minutes</a:t>
            </a:r>
            <a:endParaRPr lang="zh-CN" altLang="en-US" dirty="0"/>
          </a:p>
        </p:txBody>
      </p:sp>
      <p:sp>
        <p:nvSpPr>
          <p:cNvPr id="9" name="文本框 8">
            <a:extLst>
              <a:ext uri="{FF2B5EF4-FFF2-40B4-BE49-F238E27FC236}">
                <a16:creationId xmlns:a16="http://schemas.microsoft.com/office/drawing/2014/main" id="{207F5C06-7435-625B-4BDB-5221512DD730}"/>
              </a:ext>
            </a:extLst>
          </p:cNvPr>
          <p:cNvSpPr txBox="1"/>
          <p:nvPr/>
        </p:nvSpPr>
        <p:spPr>
          <a:xfrm>
            <a:off x="6983806" y="2829608"/>
            <a:ext cx="6106884" cy="307777"/>
          </a:xfrm>
          <a:prstGeom prst="rect">
            <a:avLst/>
          </a:prstGeom>
          <a:noFill/>
        </p:spPr>
        <p:txBody>
          <a:bodyPr wrap="square">
            <a:spAutoFit/>
          </a:bodyPr>
          <a:lstStyle/>
          <a:p>
            <a:r>
              <a:rPr lang="en-US" altLang="zh-CN" dirty="0"/>
              <a:t>&gt; 8</a:t>
            </a:r>
            <a:r>
              <a:rPr lang="zh-CN" altLang="zh-CN" dirty="0"/>
              <a:t> hours</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228;p214">
            <a:extLst>
              <a:ext uri="{FF2B5EF4-FFF2-40B4-BE49-F238E27FC236}">
                <a16:creationId xmlns:a16="http://schemas.microsoft.com/office/drawing/2014/main" id="{1F7CFA9E-7A37-C8C9-49EA-2BA62EBAFC9D}"/>
              </a:ext>
            </a:extLst>
          </p:cNvPr>
          <p:cNvSpPr txBox="1"/>
          <p:nvPr/>
        </p:nvSpPr>
        <p:spPr>
          <a:xfrm>
            <a:off x="201219" y="148185"/>
            <a:ext cx="7841679" cy="33024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7F317F"/>
              </a:buClr>
              <a:buSzPts val="1400"/>
              <a:buFont typeface="IBM Plex Sans Light"/>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Google Shape;2229;p214">
            <a:extLst>
              <a:ext uri="{FF2B5EF4-FFF2-40B4-BE49-F238E27FC236}">
                <a16:creationId xmlns:a16="http://schemas.microsoft.com/office/drawing/2014/main" id="{1E550E3D-A17C-4764-62B6-5F9513B5A754}"/>
              </a:ext>
            </a:extLst>
          </p:cNvPr>
          <p:cNvSpPr txBox="1"/>
          <p:nvPr/>
        </p:nvSpPr>
        <p:spPr>
          <a:xfrm>
            <a:off x="251612" y="637731"/>
            <a:ext cx="8062875" cy="29182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400"/>
              </a:spcAft>
              <a:buClr>
                <a:srgbClr val="000000"/>
              </a:buClr>
              <a:buSzPts val="1200"/>
              <a:buFont typeface="Noto Sans Symbols"/>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7" name="Google Shape;2233;p214">
            <a:extLst>
              <a:ext uri="{FF2B5EF4-FFF2-40B4-BE49-F238E27FC236}">
                <a16:creationId xmlns:a16="http://schemas.microsoft.com/office/drawing/2014/main" id="{B5CF047D-A5BF-A622-E6BF-E7627B4C8D2F}"/>
              </a:ext>
            </a:extLst>
          </p:cNvPr>
          <p:cNvGrpSpPr/>
          <p:nvPr/>
        </p:nvGrpSpPr>
        <p:grpSpPr>
          <a:xfrm>
            <a:off x="917799" y="1701165"/>
            <a:ext cx="7396688" cy="2594679"/>
            <a:chOff x="433856" y="1681388"/>
            <a:chExt cx="8408238" cy="2949520"/>
          </a:xfrm>
        </p:grpSpPr>
        <p:sp>
          <p:nvSpPr>
            <p:cNvPr id="8" name="Google Shape;2234;p214">
              <a:extLst>
                <a:ext uri="{FF2B5EF4-FFF2-40B4-BE49-F238E27FC236}">
                  <a16:creationId xmlns:a16="http://schemas.microsoft.com/office/drawing/2014/main" id="{D5067ED1-7E58-6751-4199-0EA47078437C}"/>
                </a:ext>
              </a:extLst>
            </p:cNvPr>
            <p:cNvSpPr txBox="1"/>
            <p:nvPr/>
          </p:nvSpPr>
          <p:spPr>
            <a:xfrm>
              <a:off x="4776794" y="4267008"/>
              <a:ext cx="4065300" cy="3639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 sz="900" b="0" i="0" u="none" strike="noStrike" kern="0" cap="none" spc="0" normalizeH="0" baseline="0" noProof="0">
                  <a:ln>
                    <a:noFill/>
                  </a:ln>
                  <a:solidFill>
                    <a:srgbClr val="000000"/>
                  </a:solidFill>
                  <a:effectLst/>
                  <a:uLnTx/>
                  <a:uFillTx/>
                  <a:latin typeface="IBM Plex Sans"/>
                  <a:ea typeface="IBM Plex Sans"/>
                  <a:cs typeface="IBM Plex Sans"/>
                  <a:sym typeface="IBM Plex Sans"/>
                </a:rPr>
                <a:t>Offload KV caches to global shared remote storage</a:t>
              </a:r>
              <a:endParaRPr kumimoji="0" sz="900" b="0"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9" name="Google Shape;2235;p214">
              <a:extLst>
                <a:ext uri="{FF2B5EF4-FFF2-40B4-BE49-F238E27FC236}">
                  <a16:creationId xmlns:a16="http://schemas.microsoft.com/office/drawing/2014/main" id="{4C50F387-8CB7-D3C5-1201-76E0CA4D12D9}"/>
                </a:ext>
              </a:extLst>
            </p:cNvPr>
            <p:cNvSpPr/>
            <p:nvPr/>
          </p:nvSpPr>
          <p:spPr>
            <a:xfrm>
              <a:off x="433856" y="2038425"/>
              <a:ext cx="4065300" cy="2163300"/>
            </a:xfrm>
            <a:prstGeom prst="rect">
              <a:avLst/>
            </a:prstGeom>
            <a:solidFill>
              <a:srgbClr val="FFFFFF"/>
            </a:solidFill>
            <a:ln w="9525" cap="flat" cmpd="sng">
              <a:solidFill>
                <a:srgbClr val="D9D9D9"/>
              </a:solidFill>
              <a:prstDash val="solid"/>
              <a:round/>
              <a:headEnd type="none" w="sm" len="sm"/>
              <a:tailEnd type="none" w="sm" len="sm"/>
            </a:ln>
            <a:effectLst>
              <a:outerShdw blurRad="42863" dist="14288" dir="5400000" algn="bl" rotWithShape="0">
                <a:srgbClr val="000000">
                  <a:alpha val="50196"/>
                </a:srgbClr>
              </a:outerShdw>
            </a:effectLst>
          </p:spPr>
          <p:txBody>
            <a:bodyPr spcFirstLastPara="1" wrap="square" lIns="28925" tIns="28925" rIns="28925" bIns="289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10" name="Google Shape;2236;p214">
              <a:extLst>
                <a:ext uri="{FF2B5EF4-FFF2-40B4-BE49-F238E27FC236}">
                  <a16:creationId xmlns:a16="http://schemas.microsoft.com/office/drawing/2014/main" id="{A845364F-D032-CC27-1096-B084D37E1659}"/>
                </a:ext>
              </a:extLst>
            </p:cNvPr>
            <p:cNvSpPr txBox="1"/>
            <p:nvPr/>
          </p:nvSpPr>
          <p:spPr>
            <a:xfrm>
              <a:off x="621161" y="1681388"/>
              <a:ext cx="3690600" cy="2916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100" b="1" i="0" u="none" strike="noStrike" kern="0" cap="none" spc="0" normalizeH="0" baseline="0" noProof="0">
                  <a:ln>
                    <a:noFill/>
                  </a:ln>
                  <a:solidFill>
                    <a:srgbClr val="000000"/>
                  </a:solidFill>
                  <a:effectLst/>
                  <a:uLnTx/>
                  <a:uFillTx/>
                  <a:latin typeface="IBM Plex Sans"/>
                  <a:ea typeface="IBM Plex Sans"/>
                  <a:cs typeface="IBM Plex Sans"/>
                  <a:sym typeface="IBM Plex Sans"/>
                </a:rPr>
                <a:t>CPU KV Cache Offloading</a:t>
              </a:r>
              <a:endParaRPr kumimoji="0" sz="11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11" name="Google Shape;2237;p214">
              <a:extLst>
                <a:ext uri="{FF2B5EF4-FFF2-40B4-BE49-F238E27FC236}">
                  <a16:creationId xmlns:a16="http://schemas.microsoft.com/office/drawing/2014/main" id="{836A2CE8-E417-3BD4-4466-A0A6115EA150}"/>
                </a:ext>
              </a:extLst>
            </p:cNvPr>
            <p:cNvSpPr/>
            <p:nvPr/>
          </p:nvSpPr>
          <p:spPr>
            <a:xfrm>
              <a:off x="750833" y="3500293"/>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pic>
          <p:nvPicPr>
            <p:cNvPr id="12" name="Google Shape;2238;p214">
              <a:extLst>
                <a:ext uri="{FF2B5EF4-FFF2-40B4-BE49-F238E27FC236}">
                  <a16:creationId xmlns:a16="http://schemas.microsoft.com/office/drawing/2014/main" id="{4D1B5F03-F131-385F-7C29-1550B6E0A377}"/>
                </a:ext>
              </a:extLst>
            </p:cNvPr>
            <p:cNvPicPr preferRelativeResize="0"/>
            <p:nvPr/>
          </p:nvPicPr>
          <p:blipFill rotWithShape="1">
            <a:blip r:embed="rId2">
              <a:alphaModFix/>
            </a:blip>
            <a:srcRect/>
            <a:stretch/>
          </p:blipFill>
          <p:spPr>
            <a:xfrm>
              <a:off x="821035" y="3595834"/>
              <a:ext cx="676111" cy="193789"/>
            </a:xfrm>
            <a:prstGeom prst="rect">
              <a:avLst/>
            </a:prstGeom>
            <a:noFill/>
            <a:ln>
              <a:noFill/>
            </a:ln>
          </p:spPr>
        </p:pic>
        <p:sp>
          <p:nvSpPr>
            <p:cNvPr id="13" name="Google Shape;2239;p214">
              <a:extLst>
                <a:ext uri="{FF2B5EF4-FFF2-40B4-BE49-F238E27FC236}">
                  <a16:creationId xmlns:a16="http://schemas.microsoft.com/office/drawing/2014/main" id="{4322F1DC-520D-EE52-B5EE-602C6E376C18}"/>
                </a:ext>
              </a:extLst>
            </p:cNvPr>
            <p:cNvSpPr/>
            <p:nvPr/>
          </p:nvSpPr>
          <p:spPr>
            <a:xfrm>
              <a:off x="2780371" y="3510816"/>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pic>
          <p:nvPicPr>
            <p:cNvPr id="14" name="Google Shape;2240;p214">
              <a:extLst>
                <a:ext uri="{FF2B5EF4-FFF2-40B4-BE49-F238E27FC236}">
                  <a16:creationId xmlns:a16="http://schemas.microsoft.com/office/drawing/2014/main" id="{7FAD3B56-92F0-36CB-8E73-AA829EB6FFBD}"/>
                </a:ext>
              </a:extLst>
            </p:cNvPr>
            <p:cNvPicPr preferRelativeResize="0"/>
            <p:nvPr/>
          </p:nvPicPr>
          <p:blipFill rotWithShape="1">
            <a:blip r:embed="rId2">
              <a:alphaModFix/>
            </a:blip>
            <a:srcRect/>
            <a:stretch/>
          </p:blipFill>
          <p:spPr>
            <a:xfrm>
              <a:off x="2850567" y="3595834"/>
              <a:ext cx="676111" cy="193789"/>
            </a:xfrm>
            <a:prstGeom prst="rect">
              <a:avLst/>
            </a:prstGeom>
            <a:noFill/>
            <a:ln>
              <a:noFill/>
            </a:ln>
          </p:spPr>
        </p:pic>
        <p:sp>
          <p:nvSpPr>
            <p:cNvPr id="15" name="Google Shape;2241;p214">
              <a:extLst>
                <a:ext uri="{FF2B5EF4-FFF2-40B4-BE49-F238E27FC236}">
                  <a16:creationId xmlns:a16="http://schemas.microsoft.com/office/drawing/2014/main" id="{2AA41A98-5420-B881-DF14-8586DB38699F}"/>
                </a:ext>
              </a:extLst>
            </p:cNvPr>
            <p:cNvSpPr/>
            <p:nvPr/>
          </p:nvSpPr>
          <p:spPr>
            <a:xfrm>
              <a:off x="3514171" y="2607980"/>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000000"/>
                  </a:solidFill>
                  <a:effectLst/>
                  <a:uLnTx/>
                  <a:uFillTx/>
                  <a:latin typeface="IBM Plex Sans"/>
                  <a:ea typeface="IBM Plex Sans"/>
                  <a:cs typeface="IBM Plex Sans"/>
                  <a:sym typeface="IBM Plex Sans"/>
                </a:rPr>
                <a:t>EPP</a:t>
              </a:r>
              <a:endParaRPr kumimoji="0" sz="7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16" name="Google Shape;2242;p214">
              <a:extLst>
                <a:ext uri="{FF2B5EF4-FFF2-40B4-BE49-F238E27FC236}">
                  <a16:creationId xmlns:a16="http://schemas.microsoft.com/office/drawing/2014/main" id="{D1A41C5F-47BD-6597-A713-0670A57FF4BF}"/>
                </a:ext>
              </a:extLst>
            </p:cNvPr>
            <p:cNvSpPr/>
            <p:nvPr/>
          </p:nvSpPr>
          <p:spPr>
            <a:xfrm>
              <a:off x="1765602" y="2607980"/>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endParaRPr kumimoji="0" sz="700" b="0"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17" name="Google Shape;2243;p214">
              <a:extLst>
                <a:ext uri="{FF2B5EF4-FFF2-40B4-BE49-F238E27FC236}">
                  <a16:creationId xmlns:a16="http://schemas.microsoft.com/office/drawing/2014/main" id="{380CFE41-9C11-D1E6-096B-00430688501D}"/>
                </a:ext>
              </a:extLst>
            </p:cNvPr>
            <p:cNvSpPr txBox="1"/>
            <p:nvPr/>
          </p:nvSpPr>
          <p:spPr>
            <a:xfrm>
              <a:off x="722036" y="3835941"/>
              <a:ext cx="874200" cy="3048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A</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18" name="Google Shape;2244;p214">
              <a:extLst>
                <a:ext uri="{FF2B5EF4-FFF2-40B4-BE49-F238E27FC236}">
                  <a16:creationId xmlns:a16="http://schemas.microsoft.com/office/drawing/2014/main" id="{66A20454-E68E-BE93-34E3-502066B22E0F}"/>
                </a:ext>
              </a:extLst>
            </p:cNvPr>
            <p:cNvSpPr txBox="1"/>
            <p:nvPr/>
          </p:nvSpPr>
          <p:spPr>
            <a:xfrm>
              <a:off x="2751555" y="3835941"/>
              <a:ext cx="874200" cy="3048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C</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19" name="Google Shape;2245;p214">
              <a:extLst>
                <a:ext uri="{FF2B5EF4-FFF2-40B4-BE49-F238E27FC236}">
                  <a16:creationId xmlns:a16="http://schemas.microsoft.com/office/drawing/2014/main" id="{BCCFCFA0-4007-B205-7FF6-082EC03B60B6}"/>
                </a:ext>
              </a:extLst>
            </p:cNvPr>
            <p:cNvCxnSpPr/>
            <p:nvPr/>
          </p:nvCxnSpPr>
          <p:spPr>
            <a:xfrm>
              <a:off x="2173406" y="2159700"/>
              <a:ext cx="0" cy="444300"/>
            </a:xfrm>
            <a:prstGeom prst="straightConnector1">
              <a:avLst/>
            </a:prstGeom>
            <a:noFill/>
            <a:ln w="9525" cap="flat" cmpd="sng">
              <a:solidFill>
                <a:srgbClr val="595959"/>
              </a:solidFill>
              <a:prstDash val="solid"/>
              <a:round/>
              <a:headEnd type="none" w="sm" len="sm"/>
              <a:tailEnd type="triangle" w="med" len="med"/>
            </a:ln>
          </p:spPr>
        </p:cxnSp>
        <p:sp>
          <p:nvSpPr>
            <p:cNvPr id="20" name="Google Shape;2246;p214">
              <a:extLst>
                <a:ext uri="{FF2B5EF4-FFF2-40B4-BE49-F238E27FC236}">
                  <a16:creationId xmlns:a16="http://schemas.microsoft.com/office/drawing/2014/main" id="{1475122B-FEE4-DD15-5A43-1EB85D86426F}"/>
                </a:ext>
              </a:extLst>
            </p:cNvPr>
            <p:cNvSpPr txBox="1"/>
            <p:nvPr/>
          </p:nvSpPr>
          <p:spPr>
            <a:xfrm>
              <a:off x="2183662" y="2259225"/>
              <a:ext cx="1144200" cy="304800"/>
            </a:xfrm>
            <a:prstGeom prst="rect">
              <a:avLst/>
            </a:prstGeom>
            <a:noFill/>
            <a:ln>
              <a:noFill/>
            </a:ln>
          </p:spPr>
          <p:txBody>
            <a:bodyPr spcFirstLastPara="1" wrap="square" lIns="51425" tIns="51425" rIns="51425" bIns="5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GET completions</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21" name="Google Shape;2247;p214">
              <a:extLst>
                <a:ext uri="{FF2B5EF4-FFF2-40B4-BE49-F238E27FC236}">
                  <a16:creationId xmlns:a16="http://schemas.microsoft.com/office/drawing/2014/main" id="{C591F880-93E3-0E11-7A67-9D94E4519D30}"/>
                </a:ext>
              </a:extLst>
            </p:cNvPr>
            <p:cNvCxnSpPr/>
            <p:nvPr/>
          </p:nvCxnSpPr>
          <p:spPr>
            <a:xfrm>
              <a:off x="2582118" y="2761558"/>
              <a:ext cx="932100" cy="0"/>
            </a:xfrm>
            <a:prstGeom prst="straightConnector1">
              <a:avLst/>
            </a:prstGeom>
            <a:noFill/>
            <a:ln w="9525" cap="flat" cmpd="sng">
              <a:solidFill>
                <a:srgbClr val="595959"/>
              </a:solidFill>
              <a:prstDash val="solid"/>
              <a:round/>
              <a:headEnd type="none" w="sm" len="sm"/>
              <a:tailEnd type="triangle" w="med" len="med"/>
            </a:ln>
          </p:spPr>
        </p:cxnSp>
        <p:cxnSp>
          <p:nvCxnSpPr>
            <p:cNvPr id="22" name="Google Shape;2248;p214">
              <a:extLst>
                <a:ext uri="{FF2B5EF4-FFF2-40B4-BE49-F238E27FC236}">
                  <a16:creationId xmlns:a16="http://schemas.microsoft.com/office/drawing/2014/main" id="{7E5D3A4F-D448-823B-4F5F-8769E4F8F3A6}"/>
                </a:ext>
              </a:extLst>
            </p:cNvPr>
            <p:cNvCxnSpPr/>
            <p:nvPr/>
          </p:nvCxnSpPr>
          <p:spPr>
            <a:xfrm rot="10800000">
              <a:off x="2582371" y="2840792"/>
              <a:ext cx="931800" cy="0"/>
            </a:xfrm>
            <a:prstGeom prst="straightConnector1">
              <a:avLst/>
            </a:prstGeom>
            <a:noFill/>
            <a:ln w="9525" cap="flat" cmpd="sng">
              <a:solidFill>
                <a:srgbClr val="595959"/>
              </a:solidFill>
              <a:prstDash val="solid"/>
              <a:round/>
              <a:headEnd type="none" w="sm" len="sm"/>
              <a:tailEnd type="triangle" w="med" len="med"/>
            </a:ln>
          </p:spPr>
        </p:cxnSp>
        <p:sp>
          <p:nvSpPr>
            <p:cNvPr id="23" name="Google Shape;2249;p214">
              <a:extLst>
                <a:ext uri="{FF2B5EF4-FFF2-40B4-BE49-F238E27FC236}">
                  <a16:creationId xmlns:a16="http://schemas.microsoft.com/office/drawing/2014/main" id="{DFE40632-55C8-BD94-8074-950BC5FC91F7}"/>
                </a:ext>
              </a:extLst>
            </p:cNvPr>
            <p:cNvSpPr txBox="1"/>
            <p:nvPr/>
          </p:nvSpPr>
          <p:spPr>
            <a:xfrm>
              <a:off x="4964143" y="1681388"/>
              <a:ext cx="3690600" cy="2916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100" b="1" i="0" u="none" strike="noStrike" kern="0" cap="none" spc="0" normalizeH="0" baseline="0" noProof="0">
                  <a:ln>
                    <a:noFill/>
                  </a:ln>
                  <a:solidFill>
                    <a:srgbClr val="000000"/>
                  </a:solidFill>
                  <a:effectLst/>
                  <a:uLnTx/>
                  <a:uFillTx/>
                  <a:latin typeface="IBM Plex Sans"/>
                  <a:ea typeface="IBM Plex Sans"/>
                  <a:cs typeface="IBM Plex Sans"/>
                  <a:sym typeface="IBM Plex Sans"/>
                </a:rPr>
                <a:t>Storage KV Cache Offloading</a:t>
              </a:r>
              <a:endParaRPr kumimoji="0" sz="11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24" name="Google Shape;2250;p214">
              <a:extLst>
                <a:ext uri="{FF2B5EF4-FFF2-40B4-BE49-F238E27FC236}">
                  <a16:creationId xmlns:a16="http://schemas.microsoft.com/office/drawing/2014/main" id="{D410E22C-96F7-47CD-8714-94474625A2F6}"/>
                </a:ext>
              </a:extLst>
            </p:cNvPr>
            <p:cNvSpPr txBox="1"/>
            <p:nvPr/>
          </p:nvSpPr>
          <p:spPr>
            <a:xfrm>
              <a:off x="433856" y="4244696"/>
              <a:ext cx="4065300" cy="3639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Offload KV caches to local memory with global index</a:t>
              </a:r>
              <a:endParaRPr kumimoji="0" sz="9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endParaRPr>
            </a:p>
          </p:txBody>
        </p:sp>
        <p:sp>
          <p:nvSpPr>
            <p:cNvPr id="25" name="Google Shape;2251;p214">
              <a:extLst>
                <a:ext uri="{FF2B5EF4-FFF2-40B4-BE49-F238E27FC236}">
                  <a16:creationId xmlns:a16="http://schemas.microsoft.com/office/drawing/2014/main" id="{113289F0-52F1-8DE3-585D-B18023BA1351}"/>
                </a:ext>
              </a:extLst>
            </p:cNvPr>
            <p:cNvSpPr txBox="1"/>
            <p:nvPr/>
          </p:nvSpPr>
          <p:spPr>
            <a:xfrm>
              <a:off x="3446100" y="2986925"/>
              <a:ext cx="932100" cy="304800"/>
            </a:xfrm>
            <a:prstGeom prst="rect">
              <a:avLst/>
            </a:prstGeom>
            <a:noFill/>
            <a:ln>
              <a:noFill/>
            </a:ln>
          </p:spPr>
          <p:txBody>
            <a:bodyPr spcFirstLastPara="1" wrap="square" lIns="51425" tIns="51425" rIns="51425" bIns="51425" anchor="ctr" anchorCtr="0">
              <a:noAutofit/>
            </a:bodyPr>
            <a:lstStyle/>
            <a:p>
              <a:pPr marL="254000" marR="0" lvl="0" indent="0" algn="l" defTabSz="914400" rtl="0" eaLnBrk="1" fontAlgn="auto" latinLnBrk="0" hangingPunct="1">
                <a:lnSpc>
                  <a:spcPct val="100000"/>
                </a:lnSpc>
                <a:spcBef>
                  <a:spcPts val="0"/>
                </a:spcBef>
                <a:spcAft>
                  <a:spcPts val="0"/>
                </a:spcAft>
                <a:buClr>
                  <a:srgbClr val="000000"/>
                </a:buClr>
                <a:buSzPts val="600"/>
                <a:buFont typeface="Arial"/>
                <a:buNone/>
                <a:tabLst/>
                <a:defRPr/>
              </a:pP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26" name="Google Shape;2252;p214">
              <a:extLst>
                <a:ext uri="{FF2B5EF4-FFF2-40B4-BE49-F238E27FC236}">
                  <a16:creationId xmlns:a16="http://schemas.microsoft.com/office/drawing/2014/main" id="{22AE4127-993D-EB57-7100-A00483A8D894}"/>
                </a:ext>
              </a:extLst>
            </p:cNvPr>
            <p:cNvCxnSpPr>
              <a:stCxn id="16" idx="2"/>
              <a:endCxn id="29" idx="0"/>
            </p:cNvCxnSpPr>
            <p:nvPr/>
          </p:nvCxnSpPr>
          <p:spPr>
            <a:xfrm flipH="1">
              <a:off x="1159002" y="2971880"/>
              <a:ext cx="1014900" cy="445200"/>
            </a:xfrm>
            <a:prstGeom prst="straightConnector1">
              <a:avLst/>
            </a:prstGeom>
            <a:noFill/>
            <a:ln w="9525" cap="flat" cmpd="sng">
              <a:solidFill>
                <a:srgbClr val="595959"/>
              </a:solidFill>
              <a:prstDash val="solid"/>
              <a:round/>
              <a:headEnd type="none" w="sm" len="sm"/>
              <a:tailEnd type="triangle" w="med" len="med"/>
            </a:ln>
          </p:spPr>
        </p:cxnSp>
        <p:sp>
          <p:nvSpPr>
            <p:cNvPr id="27" name="Google Shape;2254;p214">
              <a:extLst>
                <a:ext uri="{FF2B5EF4-FFF2-40B4-BE49-F238E27FC236}">
                  <a16:creationId xmlns:a16="http://schemas.microsoft.com/office/drawing/2014/main" id="{A485F69E-C33F-03A3-CE38-5248A304FF33}"/>
                </a:ext>
              </a:extLst>
            </p:cNvPr>
            <p:cNvSpPr txBox="1"/>
            <p:nvPr/>
          </p:nvSpPr>
          <p:spPr>
            <a:xfrm>
              <a:off x="2611097" y="2605797"/>
              <a:ext cx="874200" cy="1437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Prompt</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28" name="Google Shape;2255;p214">
              <a:extLst>
                <a:ext uri="{FF2B5EF4-FFF2-40B4-BE49-F238E27FC236}">
                  <a16:creationId xmlns:a16="http://schemas.microsoft.com/office/drawing/2014/main" id="{D16AED50-FEA8-727C-312A-79492C532DD7}"/>
                </a:ext>
              </a:extLst>
            </p:cNvPr>
            <p:cNvSpPr txBox="1"/>
            <p:nvPr/>
          </p:nvSpPr>
          <p:spPr>
            <a:xfrm>
              <a:off x="2611059" y="2843169"/>
              <a:ext cx="874200" cy="1437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A</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29" name="Google Shape;2253;p214">
              <a:extLst>
                <a:ext uri="{FF2B5EF4-FFF2-40B4-BE49-F238E27FC236}">
                  <a16:creationId xmlns:a16="http://schemas.microsoft.com/office/drawing/2014/main" id="{DE4C0700-F42A-FE96-4D40-91E480763003}"/>
                </a:ext>
              </a:extLst>
            </p:cNvPr>
            <p:cNvSpPr/>
            <p:nvPr/>
          </p:nvSpPr>
          <p:spPr>
            <a:xfrm>
              <a:off x="793244" y="3417073"/>
              <a:ext cx="731700" cy="1413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CPU RAM</a:t>
              </a:r>
              <a:endParaRPr kumimoji="0" sz="700" b="0" i="1"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sp>
          <p:nvSpPr>
            <p:cNvPr id="30" name="Google Shape;2256;p214">
              <a:extLst>
                <a:ext uri="{FF2B5EF4-FFF2-40B4-BE49-F238E27FC236}">
                  <a16:creationId xmlns:a16="http://schemas.microsoft.com/office/drawing/2014/main" id="{EC5D4F90-CC7A-1867-46A7-DFEABE5F4F15}"/>
                </a:ext>
              </a:extLst>
            </p:cNvPr>
            <p:cNvSpPr/>
            <p:nvPr/>
          </p:nvSpPr>
          <p:spPr>
            <a:xfrm>
              <a:off x="1765602" y="3510816"/>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pic>
          <p:nvPicPr>
            <p:cNvPr id="31" name="Google Shape;2257;p214">
              <a:extLst>
                <a:ext uri="{FF2B5EF4-FFF2-40B4-BE49-F238E27FC236}">
                  <a16:creationId xmlns:a16="http://schemas.microsoft.com/office/drawing/2014/main" id="{2A70DEE3-277D-BCCE-A254-3EA9A21E38D9}"/>
                </a:ext>
              </a:extLst>
            </p:cNvPr>
            <p:cNvPicPr preferRelativeResize="0"/>
            <p:nvPr/>
          </p:nvPicPr>
          <p:blipFill rotWithShape="1">
            <a:blip r:embed="rId2">
              <a:alphaModFix/>
            </a:blip>
            <a:srcRect/>
            <a:stretch/>
          </p:blipFill>
          <p:spPr>
            <a:xfrm>
              <a:off x="1835808" y="3595834"/>
              <a:ext cx="676111" cy="193789"/>
            </a:xfrm>
            <a:prstGeom prst="rect">
              <a:avLst/>
            </a:prstGeom>
            <a:noFill/>
            <a:ln>
              <a:noFill/>
            </a:ln>
          </p:spPr>
        </p:pic>
        <p:sp>
          <p:nvSpPr>
            <p:cNvPr id="32" name="Google Shape;2258;p214">
              <a:extLst>
                <a:ext uri="{FF2B5EF4-FFF2-40B4-BE49-F238E27FC236}">
                  <a16:creationId xmlns:a16="http://schemas.microsoft.com/office/drawing/2014/main" id="{611AB1EF-5B60-C046-CA03-7B8B233476AD}"/>
                </a:ext>
              </a:extLst>
            </p:cNvPr>
            <p:cNvSpPr/>
            <p:nvPr/>
          </p:nvSpPr>
          <p:spPr>
            <a:xfrm>
              <a:off x="1808015" y="3417073"/>
              <a:ext cx="731700" cy="1413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CPU RAM</a:t>
              </a:r>
              <a:endParaRPr kumimoji="0" sz="700" b="0" i="1"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sp>
          <p:nvSpPr>
            <p:cNvPr id="33" name="Google Shape;2259;p214">
              <a:extLst>
                <a:ext uri="{FF2B5EF4-FFF2-40B4-BE49-F238E27FC236}">
                  <a16:creationId xmlns:a16="http://schemas.microsoft.com/office/drawing/2014/main" id="{896F1438-EBBE-1D44-8EAC-067880651427}"/>
                </a:ext>
              </a:extLst>
            </p:cNvPr>
            <p:cNvSpPr/>
            <p:nvPr/>
          </p:nvSpPr>
          <p:spPr>
            <a:xfrm>
              <a:off x="2827772" y="3417073"/>
              <a:ext cx="731700" cy="1413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CPU RAM</a:t>
              </a:r>
              <a:endParaRPr kumimoji="0" sz="700" b="0" i="1"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sp>
          <p:nvSpPr>
            <p:cNvPr id="34" name="Google Shape;2260;p214">
              <a:extLst>
                <a:ext uri="{FF2B5EF4-FFF2-40B4-BE49-F238E27FC236}">
                  <a16:creationId xmlns:a16="http://schemas.microsoft.com/office/drawing/2014/main" id="{031565C1-73D0-50B5-B053-446ADDF765E3}"/>
                </a:ext>
              </a:extLst>
            </p:cNvPr>
            <p:cNvSpPr txBox="1"/>
            <p:nvPr/>
          </p:nvSpPr>
          <p:spPr>
            <a:xfrm>
              <a:off x="1736796" y="3835941"/>
              <a:ext cx="874200" cy="3048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B</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35" name="Google Shape;2261;p214">
              <a:extLst>
                <a:ext uri="{FF2B5EF4-FFF2-40B4-BE49-F238E27FC236}">
                  <a16:creationId xmlns:a16="http://schemas.microsoft.com/office/drawing/2014/main" id="{CE39E402-9C66-0463-4DFC-2B4897F06FBA}"/>
                </a:ext>
              </a:extLst>
            </p:cNvPr>
            <p:cNvSpPr/>
            <p:nvPr/>
          </p:nvSpPr>
          <p:spPr>
            <a:xfrm>
              <a:off x="4776788" y="2038425"/>
              <a:ext cx="4065300" cy="2163300"/>
            </a:xfrm>
            <a:prstGeom prst="rect">
              <a:avLst/>
            </a:prstGeom>
            <a:solidFill>
              <a:srgbClr val="FFFFFF"/>
            </a:solidFill>
            <a:ln w="9525" cap="flat" cmpd="sng">
              <a:solidFill>
                <a:srgbClr val="D9D9D9"/>
              </a:solidFill>
              <a:prstDash val="solid"/>
              <a:round/>
              <a:headEnd type="none" w="sm" len="sm"/>
              <a:tailEnd type="none" w="sm" len="sm"/>
            </a:ln>
            <a:effectLst>
              <a:outerShdw blurRad="42863" dist="14288" dir="5400000" algn="bl" rotWithShape="0">
                <a:srgbClr val="000000">
                  <a:alpha val="50196"/>
                </a:srgbClr>
              </a:outerShdw>
            </a:effectLst>
          </p:spPr>
          <p:txBody>
            <a:bodyPr spcFirstLastPara="1" wrap="square" lIns="28925" tIns="28925" rIns="28925" bIns="289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36" name="Google Shape;2262;p214">
              <a:extLst>
                <a:ext uri="{FF2B5EF4-FFF2-40B4-BE49-F238E27FC236}">
                  <a16:creationId xmlns:a16="http://schemas.microsoft.com/office/drawing/2014/main" id="{DEB91315-5941-1C7A-8CA2-9D95AF8047D1}"/>
                </a:ext>
              </a:extLst>
            </p:cNvPr>
            <p:cNvSpPr/>
            <p:nvPr/>
          </p:nvSpPr>
          <p:spPr>
            <a:xfrm>
              <a:off x="5048940" y="3489137"/>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pic>
          <p:nvPicPr>
            <p:cNvPr id="37" name="Google Shape;2263;p214">
              <a:extLst>
                <a:ext uri="{FF2B5EF4-FFF2-40B4-BE49-F238E27FC236}">
                  <a16:creationId xmlns:a16="http://schemas.microsoft.com/office/drawing/2014/main" id="{5394C9DC-B96C-36AD-102F-3423903DB8FB}"/>
                </a:ext>
              </a:extLst>
            </p:cNvPr>
            <p:cNvPicPr preferRelativeResize="0"/>
            <p:nvPr/>
          </p:nvPicPr>
          <p:blipFill rotWithShape="1">
            <a:blip r:embed="rId2">
              <a:alphaModFix/>
            </a:blip>
            <a:srcRect/>
            <a:stretch/>
          </p:blipFill>
          <p:spPr>
            <a:xfrm>
              <a:off x="5119142" y="3584678"/>
              <a:ext cx="676111" cy="193789"/>
            </a:xfrm>
            <a:prstGeom prst="rect">
              <a:avLst/>
            </a:prstGeom>
            <a:noFill/>
            <a:ln>
              <a:noFill/>
            </a:ln>
          </p:spPr>
        </p:pic>
        <p:sp>
          <p:nvSpPr>
            <p:cNvPr id="38" name="Google Shape;2264;p214">
              <a:extLst>
                <a:ext uri="{FF2B5EF4-FFF2-40B4-BE49-F238E27FC236}">
                  <a16:creationId xmlns:a16="http://schemas.microsoft.com/office/drawing/2014/main" id="{7199F810-23B3-FB2E-DB93-A25349EB181D}"/>
                </a:ext>
              </a:extLst>
            </p:cNvPr>
            <p:cNvSpPr/>
            <p:nvPr/>
          </p:nvSpPr>
          <p:spPr>
            <a:xfrm>
              <a:off x="7078478" y="3499660"/>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pic>
          <p:nvPicPr>
            <p:cNvPr id="39" name="Google Shape;2265;p214">
              <a:extLst>
                <a:ext uri="{FF2B5EF4-FFF2-40B4-BE49-F238E27FC236}">
                  <a16:creationId xmlns:a16="http://schemas.microsoft.com/office/drawing/2014/main" id="{D3F052AD-D356-C3DB-4E6A-D74A1B5F8506}"/>
                </a:ext>
              </a:extLst>
            </p:cNvPr>
            <p:cNvPicPr preferRelativeResize="0"/>
            <p:nvPr/>
          </p:nvPicPr>
          <p:blipFill rotWithShape="1">
            <a:blip r:embed="rId2">
              <a:alphaModFix/>
            </a:blip>
            <a:srcRect/>
            <a:stretch/>
          </p:blipFill>
          <p:spPr>
            <a:xfrm>
              <a:off x="7148674" y="3584678"/>
              <a:ext cx="676111" cy="193789"/>
            </a:xfrm>
            <a:prstGeom prst="rect">
              <a:avLst/>
            </a:prstGeom>
            <a:noFill/>
            <a:ln>
              <a:noFill/>
            </a:ln>
          </p:spPr>
        </p:pic>
        <p:sp>
          <p:nvSpPr>
            <p:cNvPr id="40" name="Google Shape;2266;p214">
              <a:extLst>
                <a:ext uri="{FF2B5EF4-FFF2-40B4-BE49-F238E27FC236}">
                  <a16:creationId xmlns:a16="http://schemas.microsoft.com/office/drawing/2014/main" id="{25CD220F-9B26-6E26-BC02-60FD9C57DE27}"/>
                </a:ext>
              </a:extLst>
            </p:cNvPr>
            <p:cNvSpPr/>
            <p:nvPr/>
          </p:nvSpPr>
          <p:spPr>
            <a:xfrm>
              <a:off x="7812278" y="2596824"/>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000000"/>
                  </a:solidFill>
                  <a:effectLst/>
                  <a:uLnTx/>
                  <a:uFillTx/>
                  <a:latin typeface="IBM Plex Sans"/>
                  <a:ea typeface="IBM Plex Sans"/>
                  <a:cs typeface="IBM Plex Sans"/>
                  <a:sym typeface="IBM Plex Sans"/>
                </a:rPr>
                <a:t>EPP</a:t>
              </a:r>
              <a:endParaRPr kumimoji="0" sz="7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41" name="Google Shape;2267;p214">
              <a:extLst>
                <a:ext uri="{FF2B5EF4-FFF2-40B4-BE49-F238E27FC236}">
                  <a16:creationId xmlns:a16="http://schemas.microsoft.com/office/drawing/2014/main" id="{C6EDEEBC-7BFB-17AB-EF32-37ACAB1FCF79}"/>
                </a:ext>
              </a:extLst>
            </p:cNvPr>
            <p:cNvSpPr/>
            <p:nvPr/>
          </p:nvSpPr>
          <p:spPr>
            <a:xfrm>
              <a:off x="6063709" y="2596824"/>
              <a:ext cx="816600" cy="363900"/>
            </a:xfrm>
            <a:prstGeom prst="rect">
              <a:avLst/>
            </a:prstGeom>
            <a:solidFill>
              <a:srgbClr val="EEEEEE"/>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endParaRPr kumimoji="0" sz="700" b="0"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42" name="Google Shape;2268;p214">
              <a:extLst>
                <a:ext uri="{FF2B5EF4-FFF2-40B4-BE49-F238E27FC236}">
                  <a16:creationId xmlns:a16="http://schemas.microsoft.com/office/drawing/2014/main" id="{0F794447-4725-9B80-F705-7063A45C39A2}"/>
                </a:ext>
              </a:extLst>
            </p:cNvPr>
            <p:cNvSpPr txBox="1"/>
            <p:nvPr/>
          </p:nvSpPr>
          <p:spPr>
            <a:xfrm>
              <a:off x="5020143" y="3824784"/>
              <a:ext cx="874200" cy="3048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A</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43" name="Google Shape;2269;p214">
              <a:extLst>
                <a:ext uri="{FF2B5EF4-FFF2-40B4-BE49-F238E27FC236}">
                  <a16:creationId xmlns:a16="http://schemas.microsoft.com/office/drawing/2014/main" id="{2E482D31-EC33-4156-613D-1C54149BB8D9}"/>
                </a:ext>
              </a:extLst>
            </p:cNvPr>
            <p:cNvSpPr txBox="1"/>
            <p:nvPr/>
          </p:nvSpPr>
          <p:spPr>
            <a:xfrm>
              <a:off x="7049662" y="3824784"/>
              <a:ext cx="874200" cy="3048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B</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44" name="Google Shape;2270;p214">
              <a:extLst>
                <a:ext uri="{FF2B5EF4-FFF2-40B4-BE49-F238E27FC236}">
                  <a16:creationId xmlns:a16="http://schemas.microsoft.com/office/drawing/2014/main" id="{20F158F6-C012-7CB8-47DC-57A1045B3183}"/>
                </a:ext>
              </a:extLst>
            </p:cNvPr>
            <p:cNvCxnSpPr/>
            <p:nvPr/>
          </p:nvCxnSpPr>
          <p:spPr>
            <a:xfrm>
              <a:off x="6471513" y="2148544"/>
              <a:ext cx="0" cy="444300"/>
            </a:xfrm>
            <a:prstGeom prst="straightConnector1">
              <a:avLst/>
            </a:prstGeom>
            <a:noFill/>
            <a:ln w="9525" cap="flat" cmpd="sng">
              <a:solidFill>
                <a:srgbClr val="595959"/>
              </a:solidFill>
              <a:prstDash val="solid"/>
              <a:round/>
              <a:headEnd type="none" w="sm" len="sm"/>
              <a:tailEnd type="triangle" w="med" len="med"/>
            </a:ln>
          </p:spPr>
        </p:cxnSp>
        <p:sp>
          <p:nvSpPr>
            <p:cNvPr id="45" name="Google Shape;2271;p214">
              <a:extLst>
                <a:ext uri="{FF2B5EF4-FFF2-40B4-BE49-F238E27FC236}">
                  <a16:creationId xmlns:a16="http://schemas.microsoft.com/office/drawing/2014/main" id="{285DC767-2BFF-EDD9-C1D4-D03036D12260}"/>
                </a:ext>
              </a:extLst>
            </p:cNvPr>
            <p:cNvSpPr txBox="1"/>
            <p:nvPr/>
          </p:nvSpPr>
          <p:spPr>
            <a:xfrm>
              <a:off x="6481769" y="2248069"/>
              <a:ext cx="1144200" cy="304800"/>
            </a:xfrm>
            <a:prstGeom prst="rect">
              <a:avLst/>
            </a:prstGeom>
            <a:noFill/>
            <a:ln>
              <a:noFill/>
            </a:ln>
          </p:spPr>
          <p:txBody>
            <a:bodyPr spcFirstLastPara="1" wrap="square" lIns="51425" tIns="51425" rIns="51425" bIns="5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GET completions</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46" name="Google Shape;2272;p214">
              <a:extLst>
                <a:ext uri="{FF2B5EF4-FFF2-40B4-BE49-F238E27FC236}">
                  <a16:creationId xmlns:a16="http://schemas.microsoft.com/office/drawing/2014/main" id="{E31E5BE1-D835-C47E-D48D-E39EC74F41BD}"/>
                </a:ext>
              </a:extLst>
            </p:cNvPr>
            <p:cNvCxnSpPr/>
            <p:nvPr/>
          </p:nvCxnSpPr>
          <p:spPr>
            <a:xfrm>
              <a:off x="6880225" y="2750402"/>
              <a:ext cx="932100" cy="0"/>
            </a:xfrm>
            <a:prstGeom prst="straightConnector1">
              <a:avLst/>
            </a:prstGeom>
            <a:noFill/>
            <a:ln w="9525" cap="flat" cmpd="sng">
              <a:solidFill>
                <a:srgbClr val="595959"/>
              </a:solidFill>
              <a:prstDash val="solid"/>
              <a:round/>
              <a:headEnd type="none" w="sm" len="sm"/>
              <a:tailEnd type="triangle" w="med" len="med"/>
            </a:ln>
          </p:spPr>
        </p:cxnSp>
        <p:cxnSp>
          <p:nvCxnSpPr>
            <p:cNvPr id="47" name="Google Shape;2273;p214">
              <a:extLst>
                <a:ext uri="{FF2B5EF4-FFF2-40B4-BE49-F238E27FC236}">
                  <a16:creationId xmlns:a16="http://schemas.microsoft.com/office/drawing/2014/main" id="{06F91331-D8FF-F7D4-5CE7-374CBA7CC0A2}"/>
                </a:ext>
              </a:extLst>
            </p:cNvPr>
            <p:cNvCxnSpPr/>
            <p:nvPr/>
          </p:nvCxnSpPr>
          <p:spPr>
            <a:xfrm rot="10800000">
              <a:off x="6880478" y="2829636"/>
              <a:ext cx="931800" cy="0"/>
            </a:xfrm>
            <a:prstGeom prst="straightConnector1">
              <a:avLst/>
            </a:prstGeom>
            <a:noFill/>
            <a:ln w="9525" cap="flat" cmpd="sng">
              <a:solidFill>
                <a:srgbClr val="595959"/>
              </a:solidFill>
              <a:prstDash val="solid"/>
              <a:round/>
              <a:headEnd type="none" w="sm" len="sm"/>
              <a:tailEnd type="triangle" w="med" len="med"/>
            </a:ln>
          </p:spPr>
        </p:cxnSp>
        <p:sp>
          <p:nvSpPr>
            <p:cNvPr id="48" name="Google Shape;2274;p214">
              <a:extLst>
                <a:ext uri="{FF2B5EF4-FFF2-40B4-BE49-F238E27FC236}">
                  <a16:creationId xmlns:a16="http://schemas.microsoft.com/office/drawing/2014/main" id="{3D1A7ED2-DFAA-8F58-F96F-12FFB2295218}"/>
                </a:ext>
              </a:extLst>
            </p:cNvPr>
            <p:cNvSpPr txBox="1"/>
            <p:nvPr/>
          </p:nvSpPr>
          <p:spPr>
            <a:xfrm>
              <a:off x="7744207" y="2975769"/>
              <a:ext cx="932100" cy="304800"/>
            </a:xfrm>
            <a:prstGeom prst="rect">
              <a:avLst/>
            </a:prstGeom>
            <a:noFill/>
            <a:ln>
              <a:noFill/>
            </a:ln>
          </p:spPr>
          <p:txBody>
            <a:bodyPr spcFirstLastPara="1" wrap="square" lIns="51425" tIns="51425" rIns="51425" bIns="51425" anchor="ctr" anchorCtr="0">
              <a:noAutofit/>
            </a:bodyPr>
            <a:lstStyle/>
            <a:p>
              <a:pPr marL="254000" marR="0" lvl="0" indent="0" algn="l" defTabSz="914400" rtl="0" eaLnBrk="1" fontAlgn="auto" latinLnBrk="0" hangingPunct="1">
                <a:lnSpc>
                  <a:spcPct val="100000"/>
                </a:lnSpc>
                <a:spcBef>
                  <a:spcPts val="0"/>
                </a:spcBef>
                <a:spcAft>
                  <a:spcPts val="0"/>
                </a:spcAft>
                <a:buClr>
                  <a:srgbClr val="000000"/>
                </a:buClr>
                <a:buSzPts val="600"/>
                <a:buFont typeface="Arial"/>
                <a:buNone/>
                <a:tabLst/>
                <a:defRPr/>
              </a:pP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cxnSp>
          <p:nvCxnSpPr>
            <p:cNvPr id="49" name="Google Shape;2275;p214">
              <a:extLst>
                <a:ext uri="{FF2B5EF4-FFF2-40B4-BE49-F238E27FC236}">
                  <a16:creationId xmlns:a16="http://schemas.microsoft.com/office/drawing/2014/main" id="{C718A829-B740-975C-9A99-EEB1C05A92D5}"/>
                </a:ext>
              </a:extLst>
            </p:cNvPr>
            <p:cNvCxnSpPr>
              <a:stCxn id="41" idx="2"/>
              <a:endCxn id="52" idx="0"/>
            </p:cNvCxnSpPr>
            <p:nvPr/>
          </p:nvCxnSpPr>
          <p:spPr>
            <a:xfrm flipH="1">
              <a:off x="5457109" y="2960724"/>
              <a:ext cx="1014900" cy="456300"/>
            </a:xfrm>
            <a:prstGeom prst="straightConnector1">
              <a:avLst/>
            </a:prstGeom>
            <a:noFill/>
            <a:ln w="9525" cap="flat" cmpd="sng">
              <a:solidFill>
                <a:srgbClr val="595959"/>
              </a:solidFill>
              <a:prstDash val="solid"/>
              <a:round/>
              <a:headEnd type="none" w="sm" len="sm"/>
              <a:tailEnd type="triangle" w="med" len="med"/>
            </a:ln>
          </p:spPr>
        </p:cxnSp>
        <p:sp>
          <p:nvSpPr>
            <p:cNvPr id="50" name="Google Shape;2277;p214">
              <a:extLst>
                <a:ext uri="{FF2B5EF4-FFF2-40B4-BE49-F238E27FC236}">
                  <a16:creationId xmlns:a16="http://schemas.microsoft.com/office/drawing/2014/main" id="{BB1D3D0B-3CAB-7C8D-44BF-CE90F03D7033}"/>
                </a:ext>
              </a:extLst>
            </p:cNvPr>
            <p:cNvSpPr txBox="1"/>
            <p:nvPr/>
          </p:nvSpPr>
          <p:spPr>
            <a:xfrm>
              <a:off x="6909204" y="2594641"/>
              <a:ext cx="874200" cy="1437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Prompt</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51" name="Google Shape;2278;p214">
              <a:extLst>
                <a:ext uri="{FF2B5EF4-FFF2-40B4-BE49-F238E27FC236}">
                  <a16:creationId xmlns:a16="http://schemas.microsoft.com/office/drawing/2014/main" id="{4D6F81CE-51D0-3424-1EB0-1FA36756FC67}"/>
                </a:ext>
              </a:extLst>
            </p:cNvPr>
            <p:cNvSpPr txBox="1"/>
            <p:nvPr/>
          </p:nvSpPr>
          <p:spPr>
            <a:xfrm>
              <a:off x="6909166" y="2832013"/>
              <a:ext cx="874200" cy="143700"/>
            </a:xfrm>
            <a:prstGeom prst="rect">
              <a:avLst/>
            </a:prstGeom>
            <a:noFill/>
            <a:ln>
              <a:noFill/>
            </a:ln>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r>
                <a:rPr kumimoji="0" lang="en" sz="600" b="1" i="0" u="none" strike="noStrike" kern="0" cap="none" spc="0" normalizeH="0" baseline="0" noProof="0">
                  <a:ln>
                    <a:noFill/>
                  </a:ln>
                  <a:solidFill>
                    <a:srgbClr val="000000"/>
                  </a:solidFill>
                  <a:effectLst/>
                  <a:uLnTx/>
                  <a:uFillTx/>
                  <a:latin typeface="IBM Plex Sans"/>
                  <a:ea typeface="IBM Plex Sans"/>
                  <a:cs typeface="IBM Plex Sans"/>
                  <a:sym typeface="IBM Plex Sans"/>
                </a:rPr>
                <a:t>Pod A</a:t>
              </a:r>
              <a:endParaRPr kumimoji="0" sz="600" b="1" i="0" u="none" strike="noStrike" kern="0" cap="none" spc="0" normalizeH="0" baseline="0" noProof="0">
                <a:ln>
                  <a:noFill/>
                </a:ln>
                <a:solidFill>
                  <a:srgbClr val="000000"/>
                </a:solidFill>
                <a:effectLst/>
                <a:uLnTx/>
                <a:uFillTx/>
                <a:latin typeface="IBM Plex Sans"/>
                <a:ea typeface="IBM Plex Sans"/>
                <a:cs typeface="IBM Plex Sans"/>
                <a:sym typeface="IBM Plex Sans"/>
              </a:endParaRPr>
            </a:p>
          </p:txBody>
        </p:sp>
        <p:sp>
          <p:nvSpPr>
            <p:cNvPr id="52" name="Google Shape;2276;p214">
              <a:extLst>
                <a:ext uri="{FF2B5EF4-FFF2-40B4-BE49-F238E27FC236}">
                  <a16:creationId xmlns:a16="http://schemas.microsoft.com/office/drawing/2014/main" id="{93BA5B41-9F4A-7A1A-77C5-DEB9C6E84B24}"/>
                </a:ext>
              </a:extLst>
            </p:cNvPr>
            <p:cNvSpPr/>
            <p:nvPr/>
          </p:nvSpPr>
          <p:spPr>
            <a:xfrm>
              <a:off x="5091351" y="3417073"/>
              <a:ext cx="731700" cy="1413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CPU RAM</a:t>
              </a:r>
              <a:endParaRPr kumimoji="0" sz="700" b="0" i="1"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sp>
          <p:nvSpPr>
            <p:cNvPr id="53" name="Google Shape;2279;p214">
              <a:extLst>
                <a:ext uri="{FF2B5EF4-FFF2-40B4-BE49-F238E27FC236}">
                  <a16:creationId xmlns:a16="http://schemas.microsoft.com/office/drawing/2014/main" id="{21E44076-49FD-F213-17FA-17DAE0215484}"/>
                </a:ext>
              </a:extLst>
            </p:cNvPr>
            <p:cNvSpPr/>
            <p:nvPr/>
          </p:nvSpPr>
          <p:spPr>
            <a:xfrm>
              <a:off x="7125878" y="3417073"/>
              <a:ext cx="731700" cy="1413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CPU RAM</a:t>
              </a:r>
              <a:endParaRPr kumimoji="0" sz="700" b="0" i="1"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sp>
          <p:nvSpPr>
            <p:cNvPr id="54" name="Google Shape;2280;p214">
              <a:extLst>
                <a:ext uri="{FF2B5EF4-FFF2-40B4-BE49-F238E27FC236}">
                  <a16:creationId xmlns:a16="http://schemas.microsoft.com/office/drawing/2014/main" id="{2E1E62E8-9966-9B7A-F9E6-A12004278617}"/>
                </a:ext>
              </a:extLst>
            </p:cNvPr>
            <p:cNvSpPr/>
            <p:nvPr/>
          </p:nvSpPr>
          <p:spPr>
            <a:xfrm>
              <a:off x="6106113" y="3341923"/>
              <a:ext cx="731700" cy="291600"/>
            </a:xfrm>
            <a:prstGeom prst="rect">
              <a:avLst/>
            </a:prstGeom>
            <a:solidFill>
              <a:srgbClr val="808080"/>
            </a:solidFill>
            <a:ln>
              <a:noFill/>
            </a:ln>
            <a:effectLst>
              <a:outerShdw blurRad="42863" dist="14288" dir="5400000" algn="bl" rotWithShape="0">
                <a:srgbClr val="000000">
                  <a:alpha val="50196"/>
                </a:srgbClr>
              </a:outerShdw>
            </a:effectLst>
          </p:spPr>
          <p:txBody>
            <a:bodyPr spcFirstLastPara="1" wrap="square" lIns="51425" tIns="51425" rIns="51425" bIns="5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 sz="700" b="1" i="0" u="none" strike="noStrike" kern="0" cap="none" spc="0" normalizeH="0" baseline="0" noProof="0">
                  <a:ln>
                    <a:noFill/>
                  </a:ln>
                  <a:solidFill>
                    <a:srgbClr val="FFFFFF"/>
                  </a:solidFill>
                  <a:effectLst/>
                  <a:uLnTx/>
                  <a:uFillTx/>
                  <a:latin typeface="IBM Plex Sans"/>
                  <a:ea typeface="IBM Plex Sans"/>
                  <a:cs typeface="IBM Plex Sans"/>
                  <a:sym typeface="IBM Plex Sans"/>
                </a:rPr>
                <a:t>Storage</a:t>
              </a:r>
              <a:endParaRPr kumimoji="0" sz="700" b="1" i="0" u="none" strike="noStrike" kern="0" cap="none" spc="0" normalizeH="0" baseline="0" noProof="0">
                <a:ln>
                  <a:noFill/>
                </a:ln>
                <a:solidFill>
                  <a:srgbClr val="FFFFFF"/>
                </a:solidFill>
                <a:effectLst/>
                <a:uLnTx/>
                <a:uFillTx/>
                <a:latin typeface="IBM Plex Sans"/>
                <a:ea typeface="IBM Plex Sans"/>
                <a:cs typeface="IBM Plex Sans"/>
                <a:sym typeface="IBM Plex Sans"/>
              </a:endParaRPr>
            </a:p>
          </p:txBody>
        </p:sp>
        <p:cxnSp>
          <p:nvCxnSpPr>
            <p:cNvPr id="55" name="Google Shape;2281;p214">
              <a:extLst>
                <a:ext uri="{FF2B5EF4-FFF2-40B4-BE49-F238E27FC236}">
                  <a16:creationId xmlns:a16="http://schemas.microsoft.com/office/drawing/2014/main" id="{DB30B2FA-718F-3110-C5F4-B4496DE49599}"/>
                </a:ext>
              </a:extLst>
            </p:cNvPr>
            <p:cNvCxnSpPr>
              <a:stCxn id="52" idx="3"/>
              <a:endCxn id="54" idx="1"/>
            </p:cNvCxnSpPr>
            <p:nvPr/>
          </p:nvCxnSpPr>
          <p:spPr>
            <a:xfrm>
              <a:off x="5823051" y="3487723"/>
              <a:ext cx="283200" cy="0"/>
            </a:xfrm>
            <a:prstGeom prst="straightConnector1">
              <a:avLst/>
            </a:prstGeom>
            <a:noFill/>
            <a:ln w="9525" cap="flat" cmpd="sng">
              <a:solidFill>
                <a:srgbClr val="595959"/>
              </a:solidFill>
              <a:prstDash val="solid"/>
              <a:round/>
              <a:headEnd type="triangle" w="med" len="med"/>
              <a:tailEnd type="triangle" w="med" len="med"/>
            </a:ln>
          </p:spPr>
        </p:cxnSp>
        <p:cxnSp>
          <p:nvCxnSpPr>
            <p:cNvPr id="56" name="Google Shape;2282;p214">
              <a:extLst>
                <a:ext uri="{FF2B5EF4-FFF2-40B4-BE49-F238E27FC236}">
                  <a16:creationId xmlns:a16="http://schemas.microsoft.com/office/drawing/2014/main" id="{06836832-AF97-C963-C3A2-4F11FF7D6FA7}"/>
                </a:ext>
              </a:extLst>
            </p:cNvPr>
            <p:cNvCxnSpPr>
              <a:stCxn id="54" idx="3"/>
              <a:endCxn id="53" idx="1"/>
            </p:cNvCxnSpPr>
            <p:nvPr/>
          </p:nvCxnSpPr>
          <p:spPr>
            <a:xfrm>
              <a:off x="6837813" y="3487723"/>
              <a:ext cx="288000" cy="0"/>
            </a:xfrm>
            <a:prstGeom prst="straightConnector1">
              <a:avLst/>
            </a:prstGeom>
            <a:noFill/>
            <a:ln w="9525" cap="flat" cmpd="sng">
              <a:solidFill>
                <a:srgbClr val="595959"/>
              </a:solidFill>
              <a:prstDash val="solid"/>
              <a:round/>
              <a:headEnd type="triangle" w="med" len="med"/>
              <a:tailEnd type="triangle" w="med" len="med"/>
            </a:ln>
          </p:spPr>
        </p:cxnSp>
        <p:pic>
          <p:nvPicPr>
            <p:cNvPr id="57" name="Google Shape;2283;p214">
              <a:extLst>
                <a:ext uri="{FF2B5EF4-FFF2-40B4-BE49-F238E27FC236}">
                  <a16:creationId xmlns:a16="http://schemas.microsoft.com/office/drawing/2014/main" id="{61D25704-8FB1-EC5B-D2B1-D945C240B569}"/>
                </a:ext>
              </a:extLst>
            </p:cNvPr>
            <p:cNvPicPr preferRelativeResize="0"/>
            <p:nvPr/>
          </p:nvPicPr>
          <p:blipFill rotWithShape="1">
            <a:blip r:embed="rId3">
              <a:alphaModFix/>
            </a:blip>
            <a:srcRect/>
            <a:stretch/>
          </p:blipFill>
          <p:spPr>
            <a:xfrm>
              <a:off x="1881540" y="2691045"/>
              <a:ext cx="598579" cy="193782"/>
            </a:xfrm>
            <a:prstGeom prst="rect">
              <a:avLst/>
            </a:prstGeom>
            <a:noFill/>
            <a:ln>
              <a:noFill/>
            </a:ln>
          </p:spPr>
        </p:pic>
        <p:pic>
          <p:nvPicPr>
            <p:cNvPr id="58" name="Google Shape;2284;p214">
              <a:extLst>
                <a:ext uri="{FF2B5EF4-FFF2-40B4-BE49-F238E27FC236}">
                  <a16:creationId xmlns:a16="http://schemas.microsoft.com/office/drawing/2014/main" id="{E19CE3E4-21DF-29AB-EBC0-42A06815800F}"/>
                </a:ext>
              </a:extLst>
            </p:cNvPr>
            <p:cNvPicPr preferRelativeResize="0"/>
            <p:nvPr/>
          </p:nvPicPr>
          <p:blipFill rotWithShape="1">
            <a:blip r:embed="rId3">
              <a:alphaModFix/>
            </a:blip>
            <a:srcRect/>
            <a:stretch/>
          </p:blipFill>
          <p:spPr>
            <a:xfrm>
              <a:off x="6199890" y="2679895"/>
              <a:ext cx="598579" cy="193782"/>
            </a:xfrm>
            <a:prstGeom prst="rect">
              <a:avLst/>
            </a:prstGeom>
            <a:noFill/>
            <a:ln>
              <a:noFill/>
            </a:ln>
          </p:spPr>
        </p:pic>
      </p:grpSp>
      <p:sp>
        <p:nvSpPr>
          <p:cNvPr id="66" name="标题 65">
            <a:extLst>
              <a:ext uri="{FF2B5EF4-FFF2-40B4-BE49-F238E27FC236}">
                <a16:creationId xmlns:a16="http://schemas.microsoft.com/office/drawing/2014/main" id="{8DF4B828-E96E-3BD1-C9F1-713743F318A3}"/>
              </a:ext>
            </a:extLst>
          </p:cNvPr>
          <p:cNvSpPr>
            <a:spLocks noGrp="1"/>
          </p:cNvSpPr>
          <p:nvPr>
            <p:ph type="title"/>
          </p:nvPr>
        </p:nvSpPr>
        <p:spPr/>
        <p:txBody>
          <a:bodyPr/>
          <a:lstStyle/>
          <a:p>
            <a:r>
              <a:rPr lang="en" altLang="zh-CN" dirty="0"/>
              <a:t>KV Cache Management</a:t>
            </a:r>
            <a:endParaRPr lang="zh-CN" altLang="en-US" dirty="0"/>
          </a:p>
        </p:txBody>
      </p:sp>
      <p:sp>
        <p:nvSpPr>
          <p:cNvPr id="69" name="文本框 68">
            <a:extLst>
              <a:ext uri="{FF2B5EF4-FFF2-40B4-BE49-F238E27FC236}">
                <a16:creationId xmlns:a16="http://schemas.microsoft.com/office/drawing/2014/main" id="{1060D8ED-3EFE-EBF3-BBC3-85A1591B5171}"/>
              </a:ext>
            </a:extLst>
          </p:cNvPr>
          <p:cNvSpPr txBox="1"/>
          <p:nvPr/>
        </p:nvSpPr>
        <p:spPr>
          <a:xfrm>
            <a:off x="267684" y="703415"/>
            <a:ext cx="6777097" cy="307777"/>
          </a:xfrm>
          <a:prstGeom prst="rect">
            <a:avLst/>
          </a:prstGeom>
          <a:noFill/>
        </p:spPr>
        <p:txBody>
          <a:bodyPr wrap="square">
            <a:spAutoFit/>
          </a:bodyPr>
          <a:lstStyle/>
          <a:p>
            <a:r>
              <a:rPr lang="zh-CN" altLang="en-US" dirty="0">
                <a:solidFill>
                  <a:schemeClr val="bg1"/>
                </a:solidFill>
              </a:rPr>
              <a:t>Leverage all system resources to maximize prefix cache hit rate within the cluster</a:t>
            </a:r>
          </a:p>
        </p:txBody>
      </p:sp>
    </p:spTree>
    <p:extLst>
      <p:ext uri="{BB962C8B-B14F-4D97-AF65-F5344CB8AC3E}">
        <p14:creationId xmlns:p14="http://schemas.microsoft.com/office/powerpoint/2010/main" val="4200723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49"/>
        <p:cNvGrpSpPr/>
        <p:nvPr/>
      </p:nvGrpSpPr>
      <p:grpSpPr>
        <a:xfrm>
          <a:off x="0" y="0"/>
          <a:ext cx="0" cy="0"/>
          <a:chOff x="0" y="0"/>
          <a:chExt cx="0" cy="0"/>
        </a:xfrm>
      </p:grpSpPr>
      <p:sp>
        <p:nvSpPr>
          <p:cNvPr id="2950" name="Google Shape;2950;p249"/>
          <p:cNvSpPr/>
          <p:nvPr/>
        </p:nvSpPr>
        <p:spPr>
          <a:xfrm>
            <a:off x="824253" y="3161592"/>
            <a:ext cx="788400" cy="559800"/>
          </a:xfrm>
          <a:prstGeom prst="rect">
            <a:avLst/>
          </a:prstGeom>
          <a:solidFill>
            <a:srgbClr val="D8D8D8">
              <a:alpha val="30590"/>
            </a:srgbClr>
          </a:solidFill>
          <a:ln w="19050" cap="flat" cmpd="sng">
            <a:solidFill>
              <a:schemeClr val="dk1">
                <a:alpha val="30200"/>
              </a:schemeClr>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CPU</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51" name="Google Shape;2951;p249"/>
          <p:cNvSpPr/>
          <p:nvPr/>
        </p:nvSpPr>
        <p:spPr>
          <a:xfrm>
            <a:off x="1688831" y="3161592"/>
            <a:ext cx="788400" cy="559800"/>
          </a:xfrm>
          <a:prstGeom prst="rect">
            <a:avLst/>
          </a:prstGeom>
          <a:solidFill>
            <a:srgbClr val="D8D8D8">
              <a:alpha val="30590"/>
            </a:srgbClr>
          </a:solidFill>
          <a:ln w="19050" cap="flat" cmpd="sng">
            <a:solidFill>
              <a:schemeClr val="dk1">
                <a:alpha val="30200"/>
              </a:schemeClr>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Storage</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标题 1">
            <a:extLst>
              <a:ext uri="{FF2B5EF4-FFF2-40B4-BE49-F238E27FC236}">
                <a16:creationId xmlns:a16="http://schemas.microsoft.com/office/drawing/2014/main" id="{908C2022-B527-0649-BB3C-7A4B13751EC5}"/>
              </a:ext>
            </a:extLst>
          </p:cNvPr>
          <p:cNvSpPr>
            <a:spLocks noGrp="1"/>
          </p:cNvSpPr>
          <p:nvPr>
            <p:ph type="title"/>
          </p:nvPr>
        </p:nvSpPr>
        <p:spPr/>
        <p:txBody>
          <a:bodyPr/>
          <a:lstStyle/>
          <a:p>
            <a:r>
              <a:rPr lang="en" altLang="zh-CN" dirty="0">
                <a:sym typeface="Red Hat Display"/>
              </a:rPr>
              <a:t>The KV Offloading Connector</a:t>
            </a:r>
            <a:endParaRPr lang="zh-CN" altLang="en-US" dirty="0"/>
          </a:p>
        </p:txBody>
      </p:sp>
      <p:sp>
        <p:nvSpPr>
          <p:cNvPr id="2952" name="Google Shape;2952;p249"/>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26</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953" name="Google Shape;2953;p249"/>
          <p:cNvSpPr txBox="1"/>
          <p:nvPr/>
        </p:nvSpPr>
        <p:spPr>
          <a:xfrm>
            <a:off x="526331" y="389494"/>
            <a:ext cx="8141100" cy="414900"/>
          </a:xfrm>
          <a:prstGeom prst="rect">
            <a:avLst/>
          </a:prstGeom>
          <a:noFill/>
          <a:ln>
            <a:noFill/>
          </a:ln>
        </p:spPr>
        <p:txBody>
          <a:bodyPr spcFirstLastPara="1" wrap="square" lIns="68575" tIns="68575" rIns="68575" bIns="68575" anchor="t"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2300"/>
              <a:buFont typeface="Arial"/>
              <a:buNone/>
              <a:tabLst/>
              <a:defRPr/>
            </a:pPr>
            <a:endParaRPr kumimoji="0" sz="2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954" name="Google Shape;2954;p249"/>
          <p:cNvSpPr/>
          <p:nvPr/>
        </p:nvSpPr>
        <p:spPr>
          <a:xfrm>
            <a:off x="826274" y="1578977"/>
            <a:ext cx="1635300" cy="926100"/>
          </a:xfrm>
          <a:prstGeom prst="rect">
            <a:avLst/>
          </a:prstGeom>
          <a:solidFill>
            <a:srgbClr val="F2F2F2"/>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2955" name="Google Shape;2955;p249" descr="A black and grey text&#10;&#10;AI-generated content may be incorrect."/>
          <p:cNvPicPr preferRelativeResize="0"/>
          <p:nvPr/>
        </p:nvPicPr>
        <p:blipFill rotWithShape="1">
          <a:blip r:embed="rId3">
            <a:alphaModFix/>
          </a:blip>
          <a:srcRect/>
          <a:stretch/>
        </p:blipFill>
        <p:spPr>
          <a:xfrm>
            <a:off x="772379" y="1784131"/>
            <a:ext cx="1712711" cy="490976"/>
          </a:xfrm>
          <a:prstGeom prst="rect">
            <a:avLst/>
          </a:prstGeom>
          <a:noFill/>
          <a:ln>
            <a:noFill/>
          </a:ln>
        </p:spPr>
      </p:pic>
      <p:sp>
        <p:nvSpPr>
          <p:cNvPr id="2956" name="Google Shape;2956;p249"/>
          <p:cNvSpPr/>
          <p:nvPr/>
        </p:nvSpPr>
        <p:spPr>
          <a:xfrm>
            <a:off x="826275" y="2505100"/>
            <a:ext cx="1635300" cy="205200"/>
          </a:xfrm>
          <a:prstGeom prst="rect">
            <a:avLst/>
          </a:prstGeom>
          <a:solidFill>
            <a:srgbClr val="A5A5A5"/>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V1 KV Connector API</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57" name="Google Shape;2957;p249"/>
          <p:cNvSpPr/>
          <p:nvPr/>
        </p:nvSpPr>
        <p:spPr>
          <a:xfrm>
            <a:off x="826275" y="2712476"/>
            <a:ext cx="1635300" cy="345900"/>
          </a:xfrm>
          <a:prstGeom prst="rect">
            <a:avLst/>
          </a:prstGeom>
          <a:solidFill>
            <a:srgbClr val="D8D8D8"/>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Offloading connector</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58" name="Google Shape;2958;p249"/>
          <p:cNvSpPr txBox="1"/>
          <p:nvPr/>
        </p:nvSpPr>
        <p:spPr>
          <a:xfrm>
            <a:off x="2747266" y="1578977"/>
            <a:ext cx="5718900" cy="2143500"/>
          </a:xfrm>
          <a:prstGeom prst="rect">
            <a:avLst/>
          </a:prstGeom>
          <a:noFill/>
          <a:ln>
            <a:noFill/>
          </a:ln>
        </p:spPr>
        <p:txBody>
          <a:bodyPr spcFirstLastPara="1" wrap="square" lIns="64175" tIns="64175" rIns="64175" bIns="64175" anchor="ctr" anchorCtr="0">
            <a:noAutofit/>
          </a:bodyPr>
          <a:lstStyle/>
          <a:p>
            <a:pPr marL="317500" marR="0" lvl="0" indent="-234950" algn="l" defTabSz="914400" rtl="0" eaLnBrk="1" fontAlgn="auto" latinLnBrk="0" hangingPunct="1">
              <a:lnSpc>
                <a:spcPct val="100000"/>
              </a:lnSpc>
              <a:spcBef>
                <a:spcPts val="0"/>
              </a:spcBef>
              <a:spcAft>
                <a:spcPts val="0"/>
              </a:spcAft>
              <a:buClr>
                <a:srgbClr val="000000"/>
              </a:buClr>
              <a:buSzPts val="1300"/>
              <a:buFont typeface="Red Hat Display"/>
              <a:buChar char="●"/>
              <a:tabLst/>
              <a:defRPr/>
            </a:pP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Bridges the </a:t>
            </a:r>
            <a:r>
              <a:rPr kumimoji="0" lang="en" sz="1300" b="1" i="0" u="none" strike="noStrike" kern="0" cap="none" spc="0" normalizeH="0" baseline="0" noProof="0" dirty="0" err="1">
                <a:ln>
                  <a:noFill/>
                </a:ln>
                <a:solidFill>
                  <a:srgbClr val="000000"/>
                </a:solidFill>
                <a:effectLst/>
                <a:uLnTx/>
                <a:uFillTx/>
                <a:latin typeface="Red Hat Display"/>
                <a:ea typeface="Red Hat Display"/>
                <a:cs typeface="Red Hat Display"/>
                <a:sym typeface="Red Hat Display"/>
              </a:rPr>
              <a:t>vLLM</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 V1 KV-Connector API </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into a simple, unified offloading interface for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pluggable backends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317500" marR="0" lvl="0" indent="-152400" algn="l" defTabSz="914400" rtl="0" eaLnBrk="1" fontAlgn="auto" latinLnBrk="0" hangingPunct="1">
              <a:lnSpc>
                <a:spcPct val="100000"/>
              </a:lnSpc>
              <a:spcBef>
                <a:spcPts val="0"/>
              </a:spcBef>
              <a:spcAft>
                <a:spcPts val="0"/>
              </a:spcAft>
              <a:buClr>
                <a:srgbClr val="000000"/>
              </a:buClr>
              <a:buSzPts val="1300"/>
              <a:buFont typeface="Red Hat Display"/>
              <a:buNone/>
              <a:tabLst/>
              <a:defRPr/>
            </a:pPr>
            <a:endParaRPr kumimoji="0"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317500" marR="0" lvl="0" indent="-234950" algn="l" defTabSz="914400" rtl="0" eaLnBrk="1" fontAlgn="auto" latinLnBrk="0" hangingPunct="1">
              <a:lnSpc>
                <a:spcPct val="100000"/>
              </a:lnSpc>
              <a:spcBef>
                <a:spcPts val="0"/>
              </a:spcBef>
              <a:spcAft>
                <a:spcPts val="0"/>
              </a:spcAft>
              <a:buClr>
                <a:srgbClr val="000000"/>
              </a:buClr>
              <a:buSzPts val="1300"/>
              <a:buFont typeface="Red Hat Display"/>
              <a:buChar char="●"/>
              <a:tabLst/>
              <a:defRPr/>
            </a:pP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Enables KV cache to live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beyond GPU memory </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across CPU and storage tiers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317500" marR="0" lvl="0" indent="-152400" algn="l" defTabSz="914400" rtl="0" eaLnBrk="1" fontAlgn="auto" latinLnBrk="0" hangingPunct="1">
              <a:lnSpc>
                <a:spcPct val="100000"/>
              </a:lnSpc>
              <a:spcBef>
                <a:spcPts val="0"/>
              </a:spcBef>
              <a:spcAft>
                <a:spcPts val="0"/>
              </a:spcAft>
              <a:buClr>
                <a:srgbClr val="000000"/>
              </a:buClr>
              <a:buSzPts val="1300"/>
              <a:buFont typeface="Red Hat Display"/>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317500" marR="0" lvl="0" indent="-234950" algn="l" defTabSz="914400" rtl="0" eaLnBrk="1" fontAlgn="auto" latinLnBrk="0" hangingPunct="1">
              <a:lnSpc>
                <a:spcPct val="100000"/>
              </a:lnSpc>
              <a:spcBef>
                <a:spcPts val="0"/>
              </a:spcBef>
              <a:spcAft>
                <a:spcPts val="0"/>
              </a:spcAft>
              <a:buClr>
                <a:srgbClr val="000000"/>
              </a:buClr>
              <a:buSzPts val="1300"/>
              <a:buFont typeface="Red Hat Display"/>
              <a:buChar char="●"/>
              <a:tabLst/>
              <a:defRPr/>
            </a:pP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Improves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throughput</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 and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stability</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 by reducing GPU memory pressure</a:t>
            </a: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Tree>
    <p:extLst>
      <p:ext uri="{BB962C8B-B14F-4D97-AF65-F5344CB8AC3E}">
        <p14:creationId xmlns:p14="http://schemas.microsoft.com/office/powerpoint/2010/main" val="3366256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2"/>
        <p:cNvGrpSpPr/>
        <p:nvPr/>
      </p:nvGrpSpPr>
      <p:grpSpPr>
        <a:xfrm>
          <a:off x="0" y="0"/>
          <a:ext cx="0" cy="0"/>
          <a:chOff x="0" y="0"/>
          <a:chExt cx="0" cy="0"/>
        </a:xfrm>
      </p:grpSpPr>
      <p:sp>
        <p:nvSpPr>
          <p:cNvPr id="2" name="标题 1">
            <a:extLst>
              <a:ext uri="{FF2B5EF4-FFF2-40B4-BE49-F238E27FC236}">
                <a16:creationId xmlns:a16="http://schemas.microsoft.com/office/drawing/2014/main" id="{A9E4409C-8E24-9E05-4D39-97CDB06444AC}"/>
              </a:ext>
            </a:extLst>
          </p:cNvPr>
          <p:cNvSpPr>
            <a:spLocks noGrp="1"/>
          </p:cNvSpPr>
          <p:nvPr>
            <p:ph type="title"/>
          </p:nvPr>
        </p:nvSpPr>
        <p:spPr/>
        <p:txBody>
          <a:bodyPr/>
          <a:lstStyle/>
          <a:p>
            <a:r>
              <a:rPr lang="en" altLang="zh-CN" dirty="0">
                <a:sym typeface="Red Hat Display"/>
              </a:rPr>
              <a:t>CPU Offloading Backend</a:t>
            </a:r>
            <a:endParaRPr lang="zh-CN" altLang="en-US" dirty="0"/>
          </a:p>
        </p:txBody>
      </p:sp>
      <p:sp>
        <p:nvSpPr>
          <p:cNvPr id="2963" name="Google Shape;2963;p250"/>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27</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965" name="Google Shape;2965;p250"/>
          <p:cNvSpPr/>
          <p:nvPr/>
        </p:nvSpPr>
        <p:spPr>
          <a:xfrm>
            <a:off x="826274" y="1578977"/>
            <a:ext cx="1635300" cy="926100"/>
          </a:xfrm>
          <a:prstGeom prst="rect">
            <a:avLst/>
          </a:prstGeom>
          <a:solidFill>
            <a:srgbClr val="F2F2F2"/>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2966" name="Google Shape;2966;p250" descr="A black and grey text&#10;&#10;AI-generated content may be incorrect."/>
          <p:cNvPicPr preferRelativeResize="0"/>
          <p:nvPr/>
        </p:nvPicPr>
        <p:blipFill rotWithShape="1">
          <a:blip r:embed="rId3">
            <a:alphaModFix/>
          </a:blip>
          <a:srcRect/>
          <a:stretch/>
        </p:blipFill>
        <p:spPr>
          <a:xfrm>
            <a:off x="772379" y="1784131"/>
            <a:ext cx="1712711" cy="490976"/>
          </a:xfrm>
          <a:prstGeom prst="rect">
            <a:avLst/>
          </a:prstGeom>
          <a:noFill/>
          <a:ln>
            <a:noFill/>
          </a:ln>
        </p:spPr>
      </p:pic>
      <p:sp>
        <p:nvSpPr>
          <p:cNvPr id="2967" name="Google Shape;2967;p250"/>
          <p:cNvSpPr/>
          <p:nvPr/>
        </p:nvSpPr>
        <p:spPr>
          <a:xfrm>
            <a:off x="826275" y="2505100"/>
            <a:ext cx="1635300" cy="205200"/>
          </a:xfrm>
          <a:prstGeom prst="rect">
            <a:avLst/>
          </a:prstGeom>
          <a:solidFill>
            <a:srgbClr val="A5A5A5"/>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V1 KV Connector API</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68" name="Google Shape;2968;p250"/>
          <p:cNvSpPr/>
          <p:nvPr/>
        </p:nvSpPr>
        <p:spPr>
          <a:xfrm>
            <a:off x="826275" y="2712476"/>
            <a:ext cx="1635300" cy="345900"/>
          </a:xfrm>
          <a:prstGeom prst="rect">
            <a:avLst/>
          </a:prstGeom>
          <a:solidFill>
            <a:srgbClr val="F2F2F2"/>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Offloading connector</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69" name="Google Shape;2969;p250"/>
          <p:cNvSpPr/>
          <p:nvPr/>
        </p:nvSpPr>
        <p:spPr>
          <a:xfrm>
            <a:off x="824253" y="3162501"/>
            <a:ext cx="788400" cy="559800"/>
          </a:xfrm>
          <a:prstGeom prst="rect">
            <a:avLst/>
          </a:prstGeom>
          <a:solidFill>
            <a:srgbClr val="D8D8D8"/>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CPU</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70" name="Google Shape;2970;p250"/>
          <p:cNvSpPr/>
          <p:nvPr/>
        </p:nvSpPr>
        <p:spPr>
          <a:xfrm>
            <a:off x="1688831" y="3161592"/>
            <a:ext cx="788400" cy="559800"/>
          </a:xfrm>
          <a:prstGeom prst="rect">
            <a:avLst/>
          </a:prstGeom>
          <a:solidFill>
            <a:srgbClr val="D8D8D8">
              <a:alpha val="30590"/>
            </a:srgbClr>
          </a:solidFill>
          <a:ln w="19050" cap="flat" cmpd="sng">
            <a:solidFill>
              <a:schemeClr val="dk1">
                <a:alpha val="30200"/>
              </a:schemeClr>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Storage</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71" name="Google Shape;2971;p250"/>
          <p:cNvSpPr txBox="1"/>
          <p:nvPr/>
        </p:nvSpPr>
        <p:spPr>
          <a:xfrm>
            <a:off x="2723821" y="1546651"/>
            <a:ext cx="5784000" cy="2613600"/>
          </a:xfrm>
          <a:prstGeom prst="rect">
            <a:avLst/>
          </a:prstGeom>
          <a:noFill/>
          <a:ln>
            <a:noFill/>
          </a:ln>
        </p:spPr>
        <p:txBody>
          <a:bodyPr spcFirstLastPara="1" wrap="square" lIns="68575" tIns="68575" rIns="68575" bIns="68575" anchor="t" anchorCtr="0">
            <a:noAutofit/>
          </a:bodyPr>
          <a:lstStyle/>
          <a:p>
            <a:pPr marL="88900" marR="0" lvl="3"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342900" marR="0" lvl="0"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KV blocks are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copied asynchronously </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from GPU -&gt; pinned CPU memory</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 using DMA</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165100" algn="l" defTabSz="914400" rtl="0" eaLnBrk="1" fontAlgn="auto" latinLnBrk="0" hangingPunct="1">
              <a:lnSpc>
                <a:spcPct val="100000"/>
              </a:lnSpc>
              <a:spcBef>
                <a:spcPts val="0"/>
              </a:spcBef>
              <a:spcAft>
                <a:spcPts val="0"/>
              </a:spcAft>
              <a:buClr>
                <a:srgbClr val="000000"/>
              </a:buClr>
              <a:buSzPts val="1400"/>
              <a:buFont typeface="Red Hat Display"/>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342900" marR="0" lvl="3"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CPU memory acts as a high-capacity KV cache tier </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extending the number and lifespan of token sequences</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165100" algn="l" defTabSz="914400" rtl="0" eaLnBrk="1" fontAlgn="auto" latinLnBrk="0" hangingPunct="1">
              <a:lnSpc>
                <a:spcPct val="100000"/>
              </a:lnSpc>
              <a:spcBef>
                <a:spcPts val="0"/>
              </a:spcBef>
              <a:spcAft>
                <a:spcPts val="0"/>
              </a:spcAft>
              <a:buClr>
                <a:srgbClr val="000000"/>
              </a:buClr>
              <a:buSzPts val="1400"/>
              <a:buFont typeface="Red Hat Display"/>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342900" marR="0" lvl="0"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When a request resumes,</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 </a:t>
            </a:r>
            <a:r>
              <a:rPr kumimoji="0" lang="en" sz="1300"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KV blocks are streamed back just-in-time </a:t>
            </a:r>
            <a:r>
              <a:rPr kumimoji="0" lang="en"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instead of recomputing attention from scratch</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685800" marR="0" lvl="1" indent="-165100" algn="l" defTabSz="914400" rtl="0" eaLnBrk="1" fontAlgn="auto" latinLnBrk="0" hangingPunct="1">
              <a:lnSpc>
                <a:spcPct val="100000"/>
              </a:lnSpc>
              <a:spcBef>
                <a:spcPts val="0"/>
              </a:spcBef>
              <a:spcAft>
                <a:spcPts val="0"/>
              </a:spcAft>
              <a:buClr>
                <a:srgbClr val="000000"/>
              </a:buClr>
              <a:buSzPts val="1400"/>
              <a:buFont typeface="Red Hat Display"/>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Tree>
    <p:extLst>
      <p:ext uri="{BB962C8B-B14F-4D97-AF65-F5344CB8AC3E}">
        <p14:creationId xmlns:p14="http://schemas.microsoft.com/office/powerpoint/2010/main" val="1139218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75"/>
        <p:cNvGrpSpPr/>
        <p:nvPr/>
      </p:nvGrpSpPr>
      <p:grpSpPr>
        <a:xfrm>
          <a:off x="0" y="0"/>
          <a:ext cx="0" cy="0"/>
          <a:chOff x="0" y="0"/>
          <a:chExt cx="0" cy="0"/>
        </a:xfrm>
      </p:grpSpPr>
      <p:sp>
        <p:nvSpPr>
          <p:cNvPr id="2976" name="Google Shape;2976;p251"/>
          <p:cNvSpPr/>
          <p:nvPr/>
        </p:nvSpPr>
        <p:spPr>
          <a:xfrm>
            <a:off x="824253" y="3161592"/>
            <a:ext cx="788400" cy="559800"/>
          </a:xfrm>
          <a:prstGeom prst="rect">
            <a:avLst/>
          </a:prstGeom>
          <a:solidFill>
            <a:srgbClr val="D8D8D8">
              <a:alpha val="30590"/>
            </a:srgbClr>
          </a:solidFill>
          <a:ln w="19050" cap="flat" cmpd="sng">
            <a:solidFill>
              <a:schemeClr val="dk1">
                <a:alpha val="30200"/>
              </a:schemeClr>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CPU</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标题 1">
            <a:extLst>
              <a:ext uri="{FF2B5EF4-FFF2-40B4-BE49-F238E27FC236}">
                <a16:creationId xmlns:a16="http://schemas.microsoft.com/office/drawing/2014/main" id="{06D7DE5C-EED6-BB7D-7035-6D663514B48E}"/>
              </a:ext>
            </a:extLst>
          </p:cNvPr>
          <p:cNvSpPr>
            <a:spLocks noGrp="1"/>
          </p:cNvSpPr>
          <p:nvPr>
            <p:ph type="title"/>
          </p:nvPr>
        </p:nvSpPr>
        <p:spPr/>
        <p:txBody>
          <a:bodyPr/>
          <a:lstStyle/>
          <a:p>
            <a:r>
              <a:rPr lang="en" altLang="zh-CN" b="0" dirty="0">
                <a:latin typeface="Red Hat Display"/>
                <a:ea typeface="Red Hat Display"/>
                <a:cs typeface="Red Hat Display"/>
                <a:sym typeface="Red Hat Display"/>
              </a:rPr>
              <a:t>Storage Offloading Backend</a:t>
            </a:r>
            <a:endParaRPr lang="zh-CN" altLang="en-US" dirty="0"/>
          </a:p>
        </p:txBody>
      </p:sp>
      <p:sp>
        <p:nvSpPr>
          <p:cNvPr id="2977" name="Google Shape;2977;p251"/>
          <p:cNvSpPr txBox="1">
            <a:spLocks noGrp="1"/>
          </p:cNvSpPr>
          <p:nvPr>
            <p:ph type="sldNum" idx="12"/>
          </p:nvPr>
        </p:nvSpPr>
        <p:spPr>
          <a:prstGeom prst="rect">
            <a:avLst/>
          </a:prstGeom>
          <a:no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Pts val="600"/>
                <a:buFont typeface="Arial"/>
                <a:buNone/>
                <a:tabLst/>
                <a:defRPr/>
              </a:pPr>
              <a:t>28</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979" name="Google Shape;2979;p251"/>
          <p:cNvSpPr/>
          <p:nvPr/>
        </p:nvSpPr>
        <p:spPr>
          <a:xfrm>
            <a:off x="826274" y="1578977"/>
            <a:ext cx="1635300" cy="926100"/>
          </a:xfrm>
          <a:prstGeom prst="rect">
            <a:avLst/>
          </a:prstGeom>
          <a:solidFill>
            <a:srgbClr val="F2F2F2"/>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2980" name="Google Shape;2980;p251" descr="A black and grey text&#10;&#10;AI-generated content may be incorrect."/>
          <p:cNvPicPr preferRelativeResize="0"/>
          <p:nvPr/>
        </p:nvPicPr>
        <p:blipFill rotWithShape="1">
          <a:blip r:embed="rId3">
            <a:alphaModFix/>
          </a:blip>
          <a:srcRect/>
          <a:stretch/>
        </p:blipFill>
        <p:spPr>
          <a:xfrm>
            <a:off x="772379" y="1784131"/>
            <a:ext cx="1712711" cy="490976"/>
          </a:xfrm>
          <a:prstGeom prst="rect">
            <a:avLst/>
          </a:prstGeom>
          <a:noFill/>
          <a:ln>
            <a:noFill/>
          </a:ln>
        </p:spPr>
      </p:pic>
      <p:sp>
        <p:nvSpPr>
          <p:cNvPr id="2981" name="Google Shape;2981;p251"/>
          <p:cNvSpPr/>
          <p:nvPr/>
        </p:nvSpPr>
        <p:spPr>
          <a:xfrm>
            <a:off x="826275" y="2505100"/>
            <a:ext cx="1635300" cy="205200"/>
          </a:xfrm>
          <a:prstGeom prst="rect">
            <a:avLst/>
          </a:prstGeom>
          <a:solidFill>
            <a:srgbClr val="A5A5A5"/>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V1 KV Connector API</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82" name="Google Shape;2982;p251"/>
          <p:cNvSpPr/>
          <p:nvPr/>
        </p:nvSpPr>
        <p:spPr>
          <a:xfrm>
            <a:off x="826275" y="2712476"/>
            <a:ext cx="1635300" cy="345900"/>
          </a:xfrm>
          <a:prstGeom prst="rect">
            <a:avLst/>
          </a:prstGeom>
          <a:solidFill>
            <a:srgbClr val="F2F2F2"/>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Offloading connector</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83" name="Google Shape;2983;p251"/>
          <p:cNvSpPr/>
          <p:nvPr/>
        </p:nvSpPr>
        <p:spPr>
          <a:xfrm>
            <a:off x="1688831" y="3161592"/>
            <a:ext cx="788400" cy="559800"/>
          </a:xfrm>
          <a:prstGeom prst="rect">
            <a:avLst/>
          </a:prstGeom>
          <a:solidFill>
            <a:srgbClr val="D8D8D8"/>
          </a:solid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Storage</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84" name="Google Shape;2984;p251"/>
          <p:cNvSpPr/>
          <p:nvPr/>
        </p:nvSpPr>
        <p:spPr>
          <a:xfrm>
            <a:off x="1688831" y="3161592"/>
            <a:ext cx="788400" cy="559800"/>
          </a:xfrm>
          <a:prstGeom prst="rect">
            <a:avLst/>
          </a:prstGeom>
          <a:solidFill>
            <a:srgbClr val="D8D8D8">
              <a:alpha val="30590"/>
            </a:srgbClr>
          </a:solidFill>
          <a:ln w="19050" cap="flat" cmpd="sng">
            <a:solidFill>
              <a:schemeClr val="dk1">
                <a:alpha val="30200"/>
              </a:schemeClr>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Arial"/>
                <a:ea typeface="Arial"/>
                <a:cs typeface="Arial"/>
                <a:sym typeface="Arial"/>
              </a:rPr>
              <a:t>Storage</a:t>
            </a:r>
            <a:endParaRPr kumimoji="0" sz="11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985" name="Google Shape;2985;p251"/>
          <p:cNvSpPr txBox="1"/>
          <p:nvPr/>
        </p:nvSpPr>
        <p:spPr>
          <a:xfrm>
            <a:off x="2723821" y="1546651"/>
            <a:ext cx="5784000" cy="2613600"/>
          </a:xfrm>
          <a:prstGeom prst="rect">
            <a:avLst/>
          </a:prstGeom>
          <a:noFill/>
          <a:ln>
            <a:noFill/>
          </a:ln>
        </p:spPr>
        <p:txBody>
          <a:bodyPr spcFirstLastPara="1" wrap="square" lIns="68575" tIns="68575" rIns="68575" bIns="68575" anchor="t" anchorCtr="0">
            <a:noAutofit/>
          </a:bodyPr>
          <a:lstStyle/>
          <a:p>
            <a:pPr marL="88900" marR="0" lvl="3"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342900" marR="0" lvl="0"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KV blocks are </a:t>
            </a:r>
            <a:r>
              <a:rPr kumimoji="0" lang="en" sz="13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copied asynchronously </a:t>
            </a:r>
            <a:r>
              <a:rPr kumimoji="0" lang="en"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from GPU -&gt; shared storage using the same offloading connector (C++)</a:t>
            </a:r>
            <a:endParaRPr kumimoji="0" sz="13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342900" marR="0" lvl="0" indent="-165100" algn="l" defTabSz="914400" rtl="0" eaLnBrk="1" fontAlgn="auto" latinLnBrk="0" hangingPunct="1">
              <a:lnSpc>
                <a:spcPct val="100000"/>
              </a:lnSpc>
              <a:spcBef>
                <a:spcPts val="0"/>
              </a:spcBef>
              <a:spcAft>
                <a:spcPts val="0"/>
              </a:spcAft>
              <a:buClr>
                <a:srgbClr val="000000"/>
              </a:buClr>
              <a:buSzPts val="1400"/>
              <a:buFont typeface="Red Hat Display"/>
              <a:buNone/>
              <a:tabLst/>
              <a:defRPr/>
            </a:pPr>
            <a:endParaRPr kumimoji="0"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342900" marR="0" lvl="3"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Storage acts as a cluster-wide KV cache pool </a:t>
            </a:r>
            <a:r>
              <a:rPr kumimoji="0" lang="en"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extending cache capacity beyond any single node’s GPU or RAM</a:t>
            </a:r>
            <a:endParaRPr kumimoji="0" sz="1100" b="0" i="0" u="none" strike="noStrike" kern="0" cap="none" spc="0" normalizeH="0" baseline="0" noProof="0">
              <a:ln>
                <a:noFill/>
              </a:ln>
              <a:solidFill>
                <a:srgbClr val="000000"/>
              </a:solidFill>
              <a:effectLst/>
              <a:uLnTx/>
              <a:uFillTx/>
              <a:latin typeface="Arial"/>
              <a:cs typeface="Arial"/>
              <a:sym typeface="Arial"/>
            </a:endParaRPr>
          </a:p>
          <a:p>
            <a:pPr marL="342900" marR="0" lvl="3" indent="-165100" algn="l" defTabSz="914400" rtl="0" eaLnBrk="1" fontAlgn="auto" latinLnBrk="0" hangingPunct="1">
              <a:lnSpc>
                <a:spcPct val="100000"/>
              </a:lnSpc>
              <a:spcBef>
                <a:spcPts val="0"/>
              </a:spcBef>
              <a:spcAft>
                <a:spcPts val="0"/>
              </a:spcAft>
              <a:buClr>
                <a:srgbClr val="000000"/>
              </a:buClr>
              <a:buSzPts val="1400"/>
              <a:buFont typeface="Red Hat Display"/>
              <a:buNone/>
              <a:tabLst/>
              <a:defRPr/>
            </a:pPr>
            <a:endParaRPr kumimoji="0" sz="13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342900" marR="0" lvl="3" indent="-254000" algn="l" defTabSz="914400" rtl="0" eaLnBrk="1" fontAlgn="auto" latinLnBrk="0" hangingPunct="1">
              <a:lnSpc>
                <a:spcPct val="100000"/>
              </a:lnSpc>
              <a:spcBef>
                <a:spcPts val="0"/>
              </a:spcBef>
              <a:spcAft>
                <a:spcPts val="0"/>
              </a:spcAft>
              <a:buClr>
                <a:srgbClr val="000000"/>
              </a:buClr>
              <a:buSzPts val="1400"/>
              <a:buFont typeface="Red Hat Display"/>
              <a:buChar char="●"/>
              <a:tabLst/>
              <a:defRPr/>
            </a:pPr>
            <a:r>
              <a:rPr kumimoji="0" lang="en" sz="13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Any POSIX filesystem is immediately supported</a:t>
            </a:r>
            <a:endParaRPr kumimoji="0" sz="1100" b="0" i="0" u="none" strike="noStrike" kern="0" cap="none" spc="0" normalizeH="0" baseline="0" noProof="0">
              <a:ln>
                <a:noFill/>
              </a:ln>
              <a:solidFill>
                <a:srgbClr val="000000"/>
              </a:solidFill>
              <a:effectLst/>
              <a:uLnTx/>
              <a:uFillTx/>
              <a:latin typeface="Arial"/>
              <a:cs typeface="Arial"/>
              <a:sym typeface="Arial"/>
            </a:endParaRPr>
          </a:p>
          <a:p>
            <a:pPr marL="431800" marR="0" lvl="1"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986" name="Google Shape;2986;p251"/>
          <p:cNvSpPr txBox="1"/>
          <p:nvPr/>
        </p:nvSpPr>
        <p:spPr>
          <a:xfrm>
            <a:off x="824253" y="4242473"/>
            <a:ext cx="4950000" cy="438600"/>
          </a:xfrm>
          <a:prstGeom prst="rect">
            <a:avLst/>
          </a:prstGeom>
          <a:noFill/>
          <a:ln>
            <a:noFill/>
          </a:ln>
        </p:spPr>
        <p:txBody>
          <a:bodyPr spcFirstLastPara="1" wrap="square" lIns="68575" tIns="34275" rIns="68575" bIns="3427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1" u="none" strike="noStrike" kern="0" cap="none" spc="0" normalizeH="0" baseline="0" noProof="0" dirty="0" err="1">
                <a:ln>
                  <a:noFill/>
                </a:ln>
                <a:solidFill>
                  <a:srgbClr val="000000"/>
                </a:solidFill>
                <a:effectLst/>
                <a:uLnTx/>
                <a:uFillTx/>
                <a:latin typeface="Arial"/>
                <a:ea typeface="Arial"/>
                <a:cs typeface="Arial"/>
                <a:sym typeface="Arial"/>
              </a:rPr>
              <a:t>llm</a:t>
            </a:r>
            <a:r>
              <a:rPr kumimoji="0" lang="en" sz="1200" b="0" i="1" u="none" strike="noStrike" kern="0" cap="none" spc="0" normalizeH="0" baseline="0" noProof="0" dirty="0">
                <a:ln>
                  <a:noFill/>
                </a:ln>
                <a:solidFill>
                  <a:srgbClr val="000000"/>
                </a:solidFill>
                <a:effectLst/>
                <a:uLnTx/>
                <a:uFillTx/>
                <a:latin typeface="Arial"/>
                <a:ea typeface="Arial"/>
                <a:cs typeface="Arial"/>
                <a:sym typeface="Arial"/>
              </a:rPr>
              <a:t>-d blog: </a:t>
            </a:r>
            <a:r>
              <a:rPr kumimoji="0" lang="en" sz="1200" b="1" i="1" u="none" strike="noStrike" kern="0" cap="none" spc="0" normalizeH="0" baseline="0" noProof="0" dirty="0">
                <a:ln>
                  <a:noFill/>
                </a:ln>
                <a:solidFill>
                  <a:srgbClr val="1C1E21"/>
                </a:solidFill>
                <a:effectLst/>
                <a:uLnTx/>
                <a:uFillTx/>
                <a:latin typeface="Red Hat Display"/>
                <a:ea typeface="Red Hat Display"/>
                <a:cs typeface="Red Hat Display"/>
                <a:sym typeface="Red Hat Display"/>
              </a:rPr>
              <a:t>Native KV Cache Offloading to Any Filesystem with </a:t>
            </a:r>
            <a:r>
              <a:rPr kumimoji="0" lang="en" sz="1200" b="1" i="1" u="none" strike="noStrike" kern="0" cap="none" spc="0" normalizeH="0" baseline="0" noProof="0" dirty="0" err="1">
                <a:ln>
                  <a:noFill/>
                </a:ln>
                <a:solidFill>
                  <a:srgbClr val="1C1E21"/>
                </a:solidFill>
                <a:effectLst/>
                <a:uLnTx/>
                <a:uFillTx/>
                <a:latin typeface="Red Hat Display"/>
                <a:ea typeface="Red Hat Display"/>
                <a:cs typeface="Red Hat Display"/>
                <a:sym typeface="Red Hat Display"/>
              </a:rPr>
              <a:t>llm</a:t>
            </a:r>
            <a:r>
              <a:rPr kumimoji="0" lang="en" sz="1200" b="1" i="1" u="none" strike="noStrike" kern="0" cap="none" spc="0" normalizeH="0" baseline="0" noProof="0" dirty="0">
                <a:ln>
                  <a:noFill/>
                </a:ln>
                <a:solidFill>
                  <a:srgbClr val="1C1E21"/>
                </a:solidFill>
                <a:effectLst/>
                <a:uLnTx/>
                <a:uFillTx/>
                <a:latin typeface="Red Hat Display"/>
                <a:ea typeface="Red Hat Display"/>
                <a:cs typeface="Red Hat Display"/>
                <a:sym typeface="Red Hat Display"/>
              </a:rPr>
              <a:t>-d</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1"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79232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90"/>
        <p:cNvGrpSpPr/>
        <p:nvPr/>
      </p:nvGrpSpPr>
      <p:grpSpPr>
        <a:xfrm>
          <a:off x="0" y="0"/>
          <a:ext cx="0" cy="0"/>
          <a:chOff x="0" y="0"/>
          <a:chExt cx="0" cy="0"/>
        </a:xfrm>
      </p:grpSpPr>
      <p:sp>
        <p:nvSpPr>
          <p:cNvPr id="3" name="标题 2">
            <a:extLst>
              <a:ext uri="{FF2B5EF4-FFF2-40B4-BE49-F238E27FC236}">
                <a16:creationId xmlns:a16="http://schemas.microsoft.com/office/drawing/2014/main" id="{D4AC835A-8B42-5886-DBC2-9DDBFFF19DBF}"/>
              </a:ext>
            </a:extLst>
          </p:cNvPr>
          <p:cNvSpPr>
            <a:spLocks noGrp="1"/>
          </p:cNvSpPr>
          <p:nvPr>
            <p:ph type="title"/>
          </p:nvPr>
        </p:nvSpPr>
        <p:spPr/>
        <p:txBody>
          <a:bodyPr/>
          <a:lstStyle/>
          <a:p>
            <a:r>
              <a:rPr lang="en" altLang="zh-CN" dirty="0"/>
              <a:t>Storage Offloading Performance</a:t>
            </a:r>
            <a:endParaRPr lang="zh-CN" altLang="en-US" dirty="0"/>
          </a:p>
        </p:txBody>
      </p:sp>
      <p:sp>
        <p:nvSpPr>
          <p:cNvPr id="2993" name="Google Shape;2993;p252"/>
          <p:cNvSpPr txBox="1"/>
          <p:nvPr/>
        </p:nvSpPr>
        <p:spPr>
          <a:xfrm>
            <a:off x="4636974" y="4797177"/>
            <a:ext cx="4950000" cy="438600"/>
          </a:xfrm>
          <a:prstGeom prst="rect">
            <a:avLst/>
          </a:prstGeom>
          <a:noFill/>
          <a:ln>
            <a:noFill/>
          </a:ln>
        </p:spPr>
        <p:txBody>
          <a:bodyPr spcFirstLastPara="1" wrap="square" lIns="68575" tIns="34275" rIns="68575" bIns="3427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1" u="none" strike="noStrike" kern="0" cap="none" spc="0" normalizeH="0" baseline="0" noProof="0" dirty="0" err="1">
                <a:ln>
                  <a:noFill/>
                </a:ln>
                <a:solidFill>
                  <a:srgbClr val="000000"/>
                </a:solidFill>
                <a:effectLst/>
                <a:uLnTx/>
                <a:uFillTx/>
                <a:latin typeface="Arial"/>
                <a:ea typeface="Arial"/>
                <a:cs typeface="Arial"/>
                <a:sym typeface="Arial"/>
              </a:rPr>
              <a:t>llm</a:t>
            </a:r>
            <a:r>
              <a:rPr kumimoji="0" lang="en" sz="1200" b="0" i="1" u="none" strike="noStrike" kern="0" cap="none" spc="0" normalizeH="0" baseline="0" noProof="0" dirty="0">
                <a:ln>
                  <a:noFill/>
                </a:ln>
                <a:solidFill>
                  <a:srgbClr val="000000"/>
                </a:solidFill>
                <a:effectLst/>
                <a:uLnTx/>
                <a:uFillTx/>
                <a:latin typeface="Arial"/>
                <a:ea typeface="Arial"/>
                <a:cs typeface="Arial"/>
                <a:sym typeface="Arial"/>
              </a:rPr>
              <a:t>-d blog: </a:t>
            </a:r>
            <a:r>
              <a:rPr kumimoji="0" lang="en" sz="1200" b="1" i="1" u="none" strike="noStrike" kern="0" cap="none" spc="0" normalizeH="0" baseline="0" noProof="0" dirty="0">
                <a:ln>
                  <a:noFill/>
                </a:ln>
                <a:solidFill>
                  <a:srgbClr val="1C1E21"/>
                </a:solidFill>
                <a:effectLst/>
                <a:uLnTx/>
                <a:uFillTx/>
                <a:latin typeface="Red Hat Display"/>
                <a:ea typeface="Red Hat Display"/>
                <a:cs typeface="Red Hat Display"/>
                <a:sym typeface="Red Hat Display"/>
              </a:rPr>
              <a:t>Native KV Cache Offloading to Any Filesystem with </a:t>
            </a:r>
            <a:r>
              <a:rPr kumimoji="0" lang="en" sz="1200" b="1" i="1" u="none" strike="noStrike" kern="0" cap="none" spc="0" normalizeH="0" baseline="0" noProof="0" dirty="0" err="1">
                <a:ln>
                  <a:noFill/>
                </a:ln>
                <a:solidFill>
                  <a:srgbClr val="1C1E21"/>
                </a:solidFill>
                <a:effectLst/>
                <a:uLnTx/>
                <a:uFillTx/>
                <a:latin typeface="Red Hat Display"/>
                <a:ea typeface="Red Hat Display"/>
                <a:cs typeface="Red Hat Display"/>
                <a:sym typeface="Red Hat Display"/>
              </a:rPr>
              <a:t>llm</a:t>
            </a:r>
            <a:r>
              <a:rPr kumimoji="0" lang="en" sz="1200" b="1" i="1" u="none" strike="noStrike" kern="0" cap="none" spc="0" normalizeH="0" baseline="0" noProof="0" dirty="0">
                <a:ln>
                  <a:noFill/>
                </a:ln>
                <a:solidFill>
                  <a:srgbClr val="1C1E21"/>
                </a:solidFill>
                <a:effectLst/>
                <a:uLnTx/>
                <a:uFillTx/>
                <a:latin typeface="Red Hat Display"/>
                <a:ea typeface="Red Hat Display"/>
                <a:cs typeface="Red Hat Display"/>
                <a:sym typeface="Red Hat Display"/>
              </a:rPr>
              <a:t>-d</a:t>
            </a:r>
            <a:endParaRPr kumimoji="0"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1"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994" name="Google Shape;2994;p252" descr="Real Life Workload"/>
          <p:cNvPicPr preferRelativeResize="0"/>
          <p:nvPr/>
        </p:nvPicPr>
        <p:blipFill rotWithShape="1">
          <a:blip r:embed="rId3">
            <a:alphaModFix/>
          </a:blip>
          <a:srcRect/>
          <a:stretch/>
        </p:blipFill>
        <p:spPr>
          <a:xfrm>
            <a:off x="5341487" y="2638727"/>
            <a:ext cx="3110650" cy="2084971"/>
          </a:xfrm>
          <a:prstGeom prst="rect">
            <a:avLst/>
          </a:prstGeom>
          <a:noFill/>
          <a:ln>
            <a:noFill/>
          </a:ln>
        </p:spPr>
      </p:pic>
      <p:pic>
        <p:nvPicPr>
          <p:cNvPr id="4" name="图片 3" descr="Full Hit Workload">
            <a:extLst>
              <a:ext uri="{FF2B5EF4-FFF2-40B4-BE49-F238E27FC236}">
                <a16:creationId xmlns:a16="http://schemas.microsoft.com/office/drawing/2014/main" id="{160511A9-0A77-E1D3-41A5-454F5D62EC38}"/>
              </a:ext>
            </a:extLst>
          </p:cNvPr>
          <p:cNvPicPr>
            <a:picLocks noChangeAspect="1"/>
          </p:cNvPicPr>
          <p:nvPr/>
        </p:nvPicPr>
        <p:blipFill>
          <a:blip r:embed="rId4"/>
          <a:stretch>
            <a:fillRect/>
          </a:stretch>
        </p:blipFill>
        <p:spPr>
          <a:xfrm>
            <a:off x="563336" y="1159973"/>
            <a:ext cx="3410629" cy="2046377"/>
          </a:xfrm>
          <a:prstGeom prst="rect">
            <a:avLst/>
          </a:prstGeom>
        </p:spPr>
      </p:pic>
      <p:sp>
        <p:nvSpPr>
          <p:cNvPr id="8" name="文本框 7">
            <a:extLst>
              <a:ext uri="{FF2B5EF4-FFF2-40B4-BE49-F238E27FC236}">
                <a16:creationId xmlns:a16="http://schemas.microsoft.com/office/drawing/2014/main" id="{5BCBA1FB-9F20-52CA-5C51-458485617A2F}"/>
              </a:ext>
            </a:extLst>
          </p:cNvPr>
          <p:cNvSpPr txBox="1"/>
          <p:nvPr/>
        </p:nvSpPr>
        <p:spPr>
          <a:xfrm>
            <a:off x="3973966" y="1337341"/>
            <a:ext cx="4796518" cy="738664"/>
          </a:xfrm>
          <a:prstGeom prst="rect">
            <a:avLst/>
          </a:prstGeom>
          <a:noFill/>
        </p:spPr>
        <p:txBody>
          <a:bodyPr wrap="square">
            <a:spAutoFit/>
          </a:bodyPr>
          <a:lstStyle/>
          <a:p>
            <a:pPr marL="342900" lvl="0" indent="-342900">
              <a:buFont typeface="Arial" panose="020B0604020202020204" pitchFamily="34" charset="0"/>
              <a:buChar char="•"/>
            </a:pPr>
            <a:r>
              <a:rPr lang="zh-CN" altLang="zh-CN" dirty="0"/>
              <a:t>HBM is fastest—until capacity runs out.</a:t>
            </a:r>
          </a:p>
          <a:p>
            <a:pPr marL="342900" lvl="0" indent="-342900">
              <a:buFont typeface="Arial" panose="020B0604020202020204" pitchFamily="34" charset="0"/>
              <a:buChar char="•"/>
            </a:pPr>
            <a:r>
              <a:rPr lang="zh-CN" altLang="zh-CN" dirty="0"/>
              <a:t>CPU offload delays the capacity cliff.</a:t>
            </a:r>
          </a:p>
          <a:p>
            <a:pPr marL="342900" lvl="0" indent="-342900">
              <a:buFont typeface="Arial" panose="020B0604020202020204" pitchFamily="34" charset="0"/>
              <a:buChar char="•"/>
            </a:pPr>
            <a:r>
              <a:rPr lang="zh-CN" altLang="zh-CN" dirty="0"/>
              <a:t>Shared storage sustains throughput at scale.</a:t>
            </a:r>
          </a:p>
        </p:txBody>
      </p:sp>
      <p:sp>
        <p:nvSpPr>
          <p:cNvPr id="10" name="文本框 9">
            <a:extLst>
              <a:ext uri="{FF2B5EF4-FFF2-40B4-BE49-F238E27FC236}">
                <a16:creationId xmlns:a16="http://schemas.microsoft.com/office/drawing/2014/main" id="{47214799-4A3C-EAE5-89AE-6C00A7E33B44}"/>
              </a:ext>
            </a:extLst>
          </p:cNvPr>
          <p:cNvSpPr txBox="1"/>
          <p:nvPr/>
        </p:nvSpPr>
        <p:spPr>
          <a:xfrm>
            <a:off x="479651" y="3495791"/>
            <a:ext cx="4796518" cy="738664"/>
          </a:xfrm>
          <a:prstGeom prst="rect">
            <a:avLst/>
          </a:prstGeom>
          <a:noFill/>
        </p:spPr>
        <p:txBody>
          <a:bodyPr wrap="square">
            <a:spAutoFit/>
          </a:bodyPr>
          <a:lstStyle/>
          <a:p>
            <a:pPr marL="285750" indent="-285750">
              <a:buFont typeface="Arial" panose="020B0604020202020204" pitchFamily="34" charset="0"/>
              <a:buChar char="•"/>
            </a:pPr>
            <a:r>
              <a:rPr lang="zh-CN" altLang="en-US" dirty="0"/>
              <a:t>Real workloads mix KV load, prefill, and decode.</a:t>
            </a:r>
          </a:p>
          <a:p>
            <a:pPr marL="285750" indent="-285750">
              <a:buFont typeface="Arial" panose="020B0604020202020204" pitchFamily="34" charset="0"/>
              <a:buChar char="•"/>
            </a:pPr>
            <a:r>
              <a:rPr lang="zh-CN" altLang="en-US" dirty="0"/>
              <a:t>Shared storage enables cross-replica KV reuse.</a:t>
            </a:r>
          </a:p>
          <a:p>
            <a:pPr marL="285750" indent="-285750">
              <a:buFont typeface="Arial" panose="020B0604020202020204" pitchFamily="34" charset="0"/>
              <a:buChar char="•"/>
            </a:pPr>
            <a:r>
              <a:rPr lang="zh-CN" altLang="en-US" dirty="0"/>
              <a:t>Async I/O improves throughput and TTFT at scale.</a:t>
            </a:r>
          </a:p>
        </p:txBody>
      </p:sp>
    </p:spTree>
    <p:extLst>
      <p:ext uri="{BB962C8B-B14F-4D97-AF65-F5344CB8AC3E}">
        <p14:creationId xmlns:p14="http://schemas.microsoft.com/office/powerpoint/2010/main" val="1676266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54"/>
        <p:cNvGrpSpPr/>
        <p:nvPr/>
      </p:nvGrpSpPr>
      <p:grpSpPr>
        <a:xfrm>
          <a:off x="0" y="0"/>
          <a:ext cx="0" cy="0"/>
          <a:chOff x="0" y="0"/>
          <a:chExt cx="0" cy="0"/>
        </a:xfrm>
      </p:grpSpPr>
      <p:sp>
        <p:nvSpPr>
          <p:cNvPr id="2" name="标题 1">
            <a:extLst>
              <a:ext uri="{FF2B5EF4-FFF2-40B4-BE49-F238E27FC236}">
                <a16:creationId xmlns:a16="http://schemas.microsoft.com/office/drawing/2014/main" id="{216EC419-49C3-9192-5AD9-97D0CE869734}"/>
              </a:ext>
            </a:extLst>
          </p:cNvPr>
          <p:cNvSpPr>
            <a:spLocks noGrp="1"/>
          </p:cNvSpPr>
          <p:nvPr>
            <p:ph type="title"/>
          </p:nvPr>
        </p:nvSpPr>
        <p:spPr/>
        <p:txBody>
          <a:bodyPr/>
          <a:lstStyle/>
          <a:p>
            <a:r>
              <a:rPr lang="zh-CN" altLang="zh-CN" dirty="0"/>
              <a:t>Why MoE Changes Distributed Inference</a:t>
            </a:r>
            <a:endParaRPr lang="zh-CN" altLang="en-US" dirty="0"/>
          </a:p>
        </p:txBody>
      </p:sp>
      <p:pic>
        <p:nvPicPr>
          <p:cNvPr id="2457" name="Google Shape;2457;p222"/>
          <p:cNvPicPr preferRelativeResize="0"/>
          <p:nvPr/>
        </p:nvPicPr>
        <p:blipFill>
          <a:blip r:embed="rId3">
            <a:alphaModFix/>
          </a:blip>
          <a:stretch>
            <a:fillRect/>
          </a:stretch>
        </p:blipFill>
        <p:spPr>
          <a:xfrm>
            <a:off x="689779" y="1593093"/>
            <a:ext cx="4142584" cy="3033585"/>
          </a:xfrm>
          <a:prstGeom prst="rect">
            <a:avLst/>
          </a:prstGeom>
          <a:noFill/>
          <a:ln>
            <a:noFill/>
          </a:ln>
          <a:effectLst>
            <a:outerShdw blurRad="40497" dist="13499" dir="5400000" algn="bl" rotWithShape="0">
              <a:srgbClr val="000000">
                <a:alpha val="50000"/>
              </a:srgbClr>
            </a:outerShdw>
          </a:effectLst>
        </p:spPr>
      </p:pic>
      <p:pic>
        <p:nvPicPr>
          <p:cNvPr id="2458" name="Google Shape;2458;p222"/>
          <p:cNvPicPr preferRelativeResize="0"/>
          <p:nvPr/>
        </p:nvPicPr>
        <p:blipFill>
          <a:blip r:embed="rId4">
            <a:alphaModFix/>
          </a:blip>
          <a:stretch>
            <a:fillRect/>
          </a:stretch>
        </p:blipFill>
        <p:spPr>
          <a:xfrm>
            <a:off x="5437700" y="3223765"/>
            <a:ext cx="1930501" cy="580896"/>
          </a:xfrm>
          <a:prstGeom prst="rect">
            <a:avLst/>
          </a:prstGeom>
          <a:noFill/>
          <a:ln>
            <a:noFill/>
          </a:ln>
        </p:spPr>
      </p:pic>
      <p:pic>
        <p:nvPicPr>
          <p:cNvPr id="2459" name="Google Shape;2459;p222"/>
          <p:cNvPicPr preferRelativeResize="0"/>
          <p:nvPr/>
        </p:nvPicPr>
        <p:blipFill>
          <a:blip r:embed="rId5">
            <a:alphaModFix/>
          </a:blip>
          <a:stretch>
            <a:fillRect/>
          </a:stretch>
        </p:blipFill>
        <p:spPr>
          <a:xfrm>
            <a:off x="5424620" y="2368729"/>
            <a:ext cx="2076649" cy="442098"/>
          </a:xfrm>
          <a:prstGeom prst="rect">
            <a:avLst/>
          </a:prstGeom>
          <a:noFill/>
          <a:ln>
            <a:noFill/>
          </a:ln>
        </p:spPr>
      </p:pic>
      <p:pic>
        <p:nvPicPr>
          <p:cNvPr id="2460" name="Google Shape;2460;p222"/>
          <p:cNvPicPr preferRelativeResize="0"/>
          <p:nvPr/>
        </p:nvPicPr>
        <p:blipFill>
          <a:blip r:embed="rId6">
            <a:alphaModFix/>
          </a:blip>
          <a:stretch>
            <a:fillRect/>
          </a:stretch>
        </p:blipFill>
        <p:spPr>
          <a:xfrm>
            <a:off x="7295431" y="1556808"/>
            <a:ext cx="1499902" cy="610852"/>
          </a:xfrm>
          <a:prstGeom prst="rect">
            <a:avLst/>
          </a:prstGeom>
          <a:noFill/>
          <a:ln>
            <a:noFill/>
          </a:ln>
        </p:spPr>
      </p:pic>
      <p:pic>
        <p:nvPicPr>
          <p:cNvPr id="2461" name="Google Shape;2461;p222"/>
          <p:cNvPicPr preferRelativeResize="0"/>
          <p:nvPr/>
        </p:nvPicPr>
        <p:blipFill>
          <a:blip r:embed="rId7">
            <a:alphaModFix/>
          </a:blip>
          <a:stretch>
            <a:fillRect/>
          </a:stretch>
        </p:blipFill>
        <p:spPr>
          <a:xfrm>
            <a:off x="5489312" y="4061492"/>
            <a:ext cx="1827276" cy="666286"/>
          </a:xfrm>
          <a:prstGeom prst="rect">
            <a:avLst/>
          </a:prstGeom>
          <a:noFill/>
          <a:ln>
            <a:noFill/>
          </a:ln>
        </p:spPr>
      </p:pic>
      <p:pic>
        <p:nvPicPr>
          <p:cNvPr id="2462" name="Google Shape;2462;p222"/>
          <p:cNvPicPr preferRelativeResize="0"/>
          <p:nvPr/>
        </p:nvPicPr>
        <p:blipFill>
          <a:blip r:embed="rId8">
            <a:alphaModFix/>
          </a:blip>
          <a:stretch>
            <a:fillRect/>
          </a:stretch>
        </p:blipFill>
        <p:spPr>
          <a:xfrm>
            <a:off x="5190768" y="1299966"/>
            <a:ext cx="1993940" cy="892557"/>
          </a:xfrm>
          <a:prstGeom prst="rect">
            <a:avLst/>
          </a:prstGeom>
          <a:noFill/>
          <a:ln>
            <a:noFill/>
          </a:ln>
        </p:spPr>
      </p:pic>
      <p:sp>
        <p:nvSpPr>
          <p:cNvPr id="5" name="文本框 4">
            <a:extLst>
              <a:ext uri="{FF2B5EF4-FFF2-40B4-BE49-F238E27FC236}">
                <a16:creationId xmlns:a16="http://schemas.microsoft.com/office/drawing/2014/main" id="{2B07AFBD-40BA-623C-C864-DE4C9C0EA34C}"/>
              </a:ext>
            </a:extLst>
          </p:cNvPr>
          <p:cNvSpPr txBox="1"/>
          <p:nvPr/>
        </p:nvSpPr>
        <p:spPr>
          <a:xfrm>
            <a:off x="202019" y="740123"/>
            <a:ext cx="4572000" cy="307777"/>
          </a:xfrm>
          <a:prstGeom prst="rect">
            <a:avLst/>
          </a:prstGeom>
          <a:noFill/>
        </p:spPr>
        <p:txBody>
          <a:bodyPr wrap="square">
            <a:spAutoFit/>
          </a:bodyPr>
          <a:lstStyle/>
          <a:p>
            <a:r>
              <a:rPr lang="zh-CN" altLang="en-US" dirty="0">
                <a:solidFill>
                  <a:schemeClr val="bg1"/>
                </a:solidFill>
              </a:rPr>
              <a:t>Mixture of Experts Overview</a:t>
            </a:r>
          </a:p>
        </p:txBody>
      </p:sp>
      <p:pic>
        <p:nvPicPr>
          <p:cNvPr id="3" name="图片 2" descr="GLM-5.2's Open-Weights Lead, DeepSeek Gains Vision &amp; Lore Challenges Git — The Weekly Diff #4">
            <a:extLst>
              <a:ext uri="{FF2B5EF4-FFF2-40B4-BE49-F238E27FC236}">
                <a16:creationId xmlns:a16="http://schemas.microsoft.com/office/drawing/2014/main" id="{B963C9D0-71E2-9487-46E0-7439F27D8829}"/>
              </a:ext>
            </a:extLst>
          </p:cNvPr>
          <p:cNvPicPr>
            <a:picLocks noChangeAspect="1"/>
          </p:cNvPicPr>
          <p:nvPr/>
        </p:nvPicPr>
        <p:blipFill>
          <a:blip r:embed="rId9"/>
          <a:srcRect l="21695" r="21492"/>
          <a:stretch>
            <a:fillRect/>
          </a:stretch>
        </p:blipFill>
        <p:spPr>
          <a:xfrm>
            <a:off x="7611351" y="3642833"/>
            <a:ext cx="1183982" cy="1172419"/>
          </a:xfrm>
          <a:prstGeom prst="rect">
            <a:avLst/>
          </a:prstGeom>
        </p:spPr>
      </p:pic>
      <p:pic>
        <p:nvPicPr>
          <p:cNvPr id="4" name="图片 3" descr="MiniMax-M3: Leading open weights model, once the weights are released">
            <a:extLst>
              <a:ext uri="{FF2B5EF4-FFF2-40B4-BE49-F238E27FC236}">
                <a16:creationId xmlns:a16="http://schemas.microsoft.com/office/drawing/2014/main" id="{C570464B-56BE-8A44-D8E3-64384C1B7482}"/>
              </a:ext>
            </a:extLst>
          </p:cNvPr>
          <p:cNvPicPr>
            <a:picLocks noChangeAspect="1"/>
          </p:cNvPicPr>
          <p:nvPr/>
        </p:nvPicPr>
        <p:blipFill>
          <a:blip r:embed="rId10"/>
          <a:srcRect l="7123" t="26399" r="6558" b="19064"/>
          <a:stretch>
            <a:fillRect/>
          </a:stretch>
        </p:blipFill>
        <p:spPr>
          <a:xfrm>
            <a:off x="7659228" y="2647610"/>
            <a:ext cx="1088227" cy="687551"/>
          </a:xfrm>
          <a:prstGeom prst="rect">
            <a:avLst/>
          </a:prstGeom>
        </p:spPr>
      </p:pic>
    </p:spTree>
    <p:extLst>
      <p:ext uri="{BB962C8B-B14F-4D97-AF65-F5344CB8AC3E}">
        <p14:creationId xmlns:p14="http://schemas.microsoft.com/office/powerpoint/2010/main" val="1241288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9"/>
        <p:cNvGrpSpPr/>
        <p:nvPr/>
      </p:nvGrpSpPr>
      <p:grpSpPr>
        <a:xfrm>
          <a:off x="0" y="0"/>
          <a:ext cx="0" cy="0"/>
          <a:chOff x="0" y="0"/>
          <a:chExt cx="0" cy="0"/>
        </a:xfrm>
      </p:grpSpPr>
      <p:sp>
        <p:nvSpPr>
          <p:cNvPr id="3" name="标题 2">
            <a:extLst>
              <a:ext uri="{FF2B5EF4-FFF2-40B4-BE49-F238E27FC236}">
                <a16:creationId xmlns:a16="http://schemas.microsoft.com/office/drawing/2014/main" id="{2209507F-C5A2-BD54-247C-934C49A1EC17}"/>
              </a:ext>
            </a:extLst>
          </p:cNvPr>
          <p:cNvSpPr>
            <a:spLocks noGrp="1"/>
          </p:cNvSpPr>
          <p:nvPr>
            <p:ph type="title"/>
          </p:nvPr>
        </p:nvSpPr>
        <p:spPr/>
        <p:txBody>
          <a:bodyPr/>
          <a:lstStyle/>
          <a:p>
            <a:r>
              <a:rPr lang="en" altLang="zh-CN" dirty="0"/>
              <a:t>Wide Expert Parallelism</a:t>
            </a:r>
            <a:endParaRPr lang="zh-CN" altLang="en-US" dirty="0"/>
          </a:p>
        </p:txBody>
      </p:sp>
      <p:sp>
        <p:nvSpPr>
          <p:cNvPr id="2410" name="Google Shape;2410;p221"/>
          <p:cNvSpPr txBox="1">
            <a:spLocks noGrp="1"/>
          </p:cNvSpPr>
          <p:nvPr>
            <p:ph type="sldNum" idx="12"/>
          </p:nvPr>
        </p:nvSpPr>
        <p:spPr>
          <a:prstGeom prst="rect">
            <a:avLst/>
          </a:prstGeom>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sp>
        <p:nvSpPr>
          <p:cNvPr id="2413" name="Google Shape;2413;p221"/>
          <p:cNvSpPr/>
          <p:nvPr/>
        </p:nvSpPr>
        <p:spPr>
          <a:xfrm>
            <a:off x="522536" y="1563344"/>
            <a:ext cx="7859100" cy="2740500"/>
          </a:xfrm>
          <a:prstGeom prst="rect">
            <a:avLst/>
          </a:prstGeom>
          <a:solidFill>
            <a:srgbClr val="FFFFFF"/>
          </a:solidFill>
          <a:ln w="7650" cap="flat" cmpd="sng">
            <a:solidFill>
              <a:srgbClr val="D9D9D9"/>
            </a:solidFill>
            <a:prstDash val="solid"/>
            <a:round/>
            <a:headEnd type="none" w="sm" len="sm"/>
            <a:tailEnd type="none" w="sm" len="sm"/>
          </a:ln>
          <a:effectLst>
            <a:outerShdw blurRad="45883" dist="15294" dir="5400000" algn="bl" rotWithShape="0">
              <a:srgbClr val="000000">
                <a:alpha val="50000"/>
              </a:srgbClr>
            </a:outerShdw>
          </a:effectLst>
        </p:spPr>
        <p:txBody>
          <a:bodyPr spcFirstLastPara="1" wrap="square" lIns="41300" tIns="41300" rIns="41300" bIns="41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4" name="Google Shape;2414;p221"/>
          <p:cNvSpPr/>
          <p:nvPr/>
        </p:nvSpPr>
        <p:spPr>
          <a:xfrm>
            <a:off x="1050573" y="2880338"/>
            <a:ext cx="6789900" cy="1194900"/>
          </a:xfrm>
          <a:prstGeom prst="rect">
            <a:avLst/>
          </a:prstGeom>
          <a:solidFill>
            <a:srgbClr val="FFF2CC"/>
          </a:solidFill>
          <a:ln w="7650" cap="flat" cmpd="sng">
            <a:solidFill>
              <a:srgbClr val="D9D9D9"/>
            </a:solidFill>
            <a:prstDash val="solid"/>
            <a:round/>
            <a:headEnd type="none" w="sm" len="sm"/>
            <a:tailEnd type="none" w="sm" len="sm"/>
          </a:ln>
          <a:effectLst>
            <a:outerShdw blurRad="45883" dist="15294" dir="5400000" algn="bl" rotWithShape="0">
              <a:srgbClr val="000000">
                <a:alpha val="50000"/>
              </a:srgbClr>
            </a:outerShdw>
          </a:effectLst>
        </p:spPr>
        <p:txBody>
          <a:bodyPr spcFirstLastPara="1" wrap="square" lIns="73400" tIns="73400" rIns="73400" bIns="7340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LeaderWorkerSet</a:t>
            </a:r>
            <a:endParaRPr kumimoji="0" sz="12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5" name="Google Shape;2415;p221"/>
          <p:cNvSpPr/>
          <p:nvPr/>
        </p:nvSpPr>
        <p:spPr>
          <a:xfrm>
            <a:off x="2852004"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6" name="Google Shape;2416;p221"/>
          <p:cNvSpPr/>
          <p:nvPr/>
        </p:nvSpPr>
        <p:spPr>
          <a:xfrm>
            <a:off x="3689688"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7" name="Google Shape;2417;p221"/>
          <p:cNvSpPr/>
          <p:nvPr/>
        </p:nvSpPr>
        <p:spPr>
          <a:xfrm>
            <a:off x="4527372"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8" name="Google Shape;2418;p221"/>
          <p:cNvSpPr/>
          <p:nvPr/>
        </p:nvSpPr>
        <p:spPr>
          <a:xfrm>
            <a:off x="5365056"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19" name="Google Shape;2419;p221"/>
          <p:cNvSpPr/>
          <p:nvPr/>
        </p:nvSpPr>
        <p:spPr>
          <a:xfrm>
            <a:off x="2014319"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20" name="Google Shape;2420;p221"/>
          <p:cNvSpPr/>
          <p:nvPr/>
        </p:nvSpPr>
        <p:spPr>
          <a:xfrm>
            <a:off x="1176635"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21" name="Google Shape;2421;p221"/>
          <p:cNvSpPr/>
          <p:nvPr/>
        </p:nvSpPr>
        <p:spPr>
          <a:xfrm>
            <a:off x="5901185" y="2173034"/>
            <a:ext cx="874200" cy="3894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EPP</a:t>
            </a:r>
            <a:endParaRPr kumimoji="0"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22" name="Google Shape;2422;p221"/>
          <p:cNvSpPr/>
          <p:nvPr/>
        </p:nvSpPr>
        <p:spPr>
          <a:xfrm>
            <a:off x="4008374" y="2173034"/>
            <a:ext cx="874200" cy="3894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23" name="Google Shape;2423;p221"/>
          <p:cNvSpPr txBox="1"/>
          <p:nvPr/>
        </p:nvSpPr>
        <p:spPr>
          <a:xfrm>
            <a:off x="1023464" y="3480530"/>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A</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(DP-0)</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424" name="Google Shape;2424;p221"/>
          <p:cNvCxnSpPr/>
          <p:nvPr/>
        </p:nvCxnSpPr>
        <p:spPr>
          <a:xfrm>
            <a:off x="4483740" y="1693165"/>
            <a:ext cx="0" cy="475500"/>
          </a:xfrm>
          <a:prstGeom prst="straightConnector1">
            <a:avLst/>
          </a:prstGeom>
          <a:noFill/>
          <a:ln w="7650" cap="flat" cmpd="sng">
            <a:solidFill>
              <a:srgbClr val="595959"/>
            </a:solidFill>
            <a:prstDash val="solid"/>
            <a:round/>
            <a:headEnd type="none" w="med" len="med"/>
            <a:tailEnd type="triangle" w="med" len="med"/>
          </a:ln>
        </p:spPr>
      </p:cxnSp>
      <p:sp>
        <p:nvSpPr>
          <p:cNvPr id="2425" name="Google Shape;2425;p221"/>
          <p:cNvSpPr txBox="1"/>
          <p:nvPr/>
        </p:nvSpPr>
        <p:spPr>
          <a:xfrm>
            <a:off x="4494719" y="1799703"/>
            <a:ext cx="1224900" cy="326400"/>
          </a:xfrm>
          <a:prstGeom prst="rect">
            <a:avLst/>
          </a:prstGeom>
          <a:noFill/>
          <a:ln>
            <a:noFill/>
          </a:ln>
        </p:spPr>
        <p:txBody>
          <a:bodyPr spcFirstLastPara="1" wrap="square" lIns="73400" tIns="73400" rIns="73400" bIns="7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GET completions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426" name="Google Shape;2426;p221"/>
          <p:cNvCxnSpPr/>
          <p:nvPr/>
        </p:nvCxnSpPr>
        <p:spPr>
          <a:xfrm>
            <a:off x="4903457" y="2337433"/>
            <a:ext cx="997800" cy="0"/>
          </a:xfrm>
          <a:prstGeom prst="straightConnector1">
            <a:avLst/>
          </a:prstGeom>
          <a:noFill/>
          <a:ln w="7650" cap="flat" cmpd="sng">
            <a:solidFill>
              <a:srgbClr val="595959"/>
            </a:solidFill>
            <a:prstDash val="solid"/>
            <a:round/>
            <a:headEnd type="none" w="med" len="med"/>
            <a:tailEnd type="triangle" w="med" len="med"/>
          </a:ln>
        </p:spPr>
      </p:cxnSp>
      <p:cxnSp>
        <p:nvCxnSpPr>
          <p:cNvPr id="2427" name="Google Shape;2427;p221"/>
          <p:cNvCxnSpPr/>
          <p:nvPr/>
        </p:nvCxnSpPr>
        <p:spPr>
          <a:xfrm rot="10800000">
            <a:off x="4903685" y="2422250"/>
            <a:ext cx="997500" cy="0"/>
          </a:xfrm>
          <a:prstGeom prst="straightConnector1">
            <a:avLst/>
          </a:prstGeom>
          <a:noFill/>
          <a:ln w="7650" cap="flat" cmpd="sng">
            <a:solidFill>
              <a:srgbClr val="595959"/>
            </a:solidFill>
            <a:prstDash val="solid"/>
            <a:round/>
            <a:headEnd type="none" w="med" len="med"/>
            <a:tailEnd type="triangle" w="med" len="med"/>
          </a:ln>
        </p:spPr>
      </p:cxnSp>
      <p:sp>
        <p:nvSpPr>
          <p:cNvPr id="2428" name="Google Shape;2428;p221"/>
          <p:cNvSpPr/>
          <p:nvPr/>
        </p:nvSpPr>
        <p:spPr>
          <a:xfrm>
            <a:off x="6202741"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29" name="Google Shape;2429;p221"/>
          <p:cNvSpPr/>
          <p:nvPr/>
        </p:nvSpPr>
        <p:spPr>
          <a:xfrm>
            <a:off x="7040425" y="2920902"/>
            <a:ext cx="620100" cy="5517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430" name="Google Shape;2430;p221"/>
          <p:cNvPicPr preferRelativeResize="0"/>
          <p:nvPr/>
        </p:nvPicPr>
        <p:blipFill>
          <a:blip r:embed="rId3">
            <a:alphaModFix/>
          </a:blip>
          <a:stretch>
            <a:fillRect/>
          </a:stretch>
        </p:blipFill>
        <p:spPr>
          <a:xfrm>
            <a:off x="6988647" y="3194157"/>
            <a:ext cx="723753" cy="207444"/>
          </a:xfrm>
          <a:prstGeom prst="rect">
            <a:avLst/>
          </a:prstGeom>
          <a:noFill/>
          <a:ln>
            <a:noFill/>
          </a:ln>
        </p:spPr>
      </p:pic>
      <p:pic>
        <p:nvPicPr>
          <p:cNvPr id="2431" name="Google Shape;2431;p221"/>
          <p:cNvPicPr preferRelativeResize="0"/>
          <p:nvPr/>
        </p:nvPicPr>
        <p:blipFill>
          <a:blip r:embed="rId3">
            <a:alphaModFix/>
          </a:blip>
          <a:stretch>
            <a:fillRect/>
          </a:stretch>
        </p:blipFill>
        <p:spPr>
          <a:xfrm>
            <a:off x="5315946" y="3194157"/>
            <a:ext cx="723753" cy="207444"/>
          </a:xfrm>
          <a:prstGeom prst="rect">
            <a:avLst/>
          </a:prstGeom>
          <a:noFill/>
          <a:ln>
            <a:noFill/>
          </a:ln>
        </p:spPr>
      </p:pic>
      <p:pic>
        <p:nvPicPr>
          <p:cNvPr id="2432" name="Google Shape;2432;p221"/>
          <p:cNvPicPr preferRelativeResize="0"/>
          <p:nvPr/>
        </p:nvPicPr>
        <p:blipFill>
          <a:blip r:embed="rId3">
            <a:alphaModFix/>
          </a:blip>
          <a:stretch>
            <a:fillRect/>
          </a:stretch>
        </p:blipFill>
        <p:spPr>
          <a:xfrm>
            <a:off x="1981783" y="3210355"/>
            <a:ext cx="723753" cy="207444"/>
          </a:xfrm>
          <a:prstGeom prst="rect">
            <a:avLst/>
          </a:prstGeom>
          <a:noFill/>
          <a:ln>
            <a:noFill/>
          </a:ln>
        </p:spPr>
      </p:pic>
      <p:pic>
        <p:nvPicPr>
          <p:cNvPr id="2433" name="Google Shape;2433;p221"/>
          <p:cNvPicPr preferRelativeResize="0"/>
          <p:nvPr/>
        </p:nvPicPr>
        <p:blipFill>
          <a:blip r:embed="rId3">
            <a:alphaModFix/>
          </a:blip>
          <a:stretch>
            <a:fillRect/>
          </a:stretch>
        </p:blipFill>
        <p:spPr>
          <a:xfrm>
            <a:off x="1111549" y="3210355"/>
            <a:ext cx="723753" cy="207444"/>
          </a:xfrm>
          <a:prstGeom prst="rect">
            <a:avLst/>
          </a:prstGeom>
          <a:noFill/>
          <a:ln>
            <a:noFill/>
          </a:ln>
        </p:spPr>
      </p:pic>
      <p:sp>
        <p:nvSpPr>
          <p:cNvPr id="2434" name="Google Shape;2434;p221"/>
          <p:cNvSpPr txBox="1"/>
          <p:nvPr/>
        </p:nvSpPr>
        <p:spPr>
          <a:xfrm>
            <a:off x="1856571" y="3480530"/>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B</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(DP-1)</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35" name="Google Shape;2435;p221"/>
          <p:cNvSpPr txBox="1"/>
          <p:nvPr/>
        </p:nvSpPr>
        <p:spPr>
          <a:xfrm>
            <a:off x="6075402" y="3480530"/>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G</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(DP-6)</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36" name="Google Shape;2436;p221"/>
          <p:cNvSpPr txBox="1"/>
          <p:nvPr/>
        </p:nvSpPr>
        <p:spPr>
          <a:xfrm>
            <a:off x="6882678" y="3480530"/>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H</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(DP-7)</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37" name="Google Shape;2437;p221"/>
          <p:cNvSpPr/>
          <p:nvPr/>
        </p:nvSpPr>
        <p:spPr>
          <a:xfrm>
            <a:off x="1245198" y="2970819"/>
            <a:ext cx="6313800" cy="151200"/>
          </a:xfrm>
          <a:prstGeom prst="rect">
            <a:avLst/>
          </a:prstGeom>
          <a:solidFill>
            <a:srgbClr val="EEEEEE"/>
          </a:solidFill>
          <a:ln>
            <a:noFill/>
          </a:ln>
          <a:effectLst>
            <a:outerShdw blurRad="45883" dist="15294" dir="5400000" algn="bl" rotWithShape="0">
              <a:srgbClr val="000000">
                <a:alpha val="50000"/>
              </a:srgbClr>
            </a:outerShdw>
          </a:effectLst>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Expert-Parallel MLP</a:t>
            </a:r>
            <a:endParaRPr kumimoji="0" sz="1000" b="0" i="1"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38" name="Google Shape;2438;p221"/>
          <p:cNvSpPr txBox="1"/>
          <p:nvPr/>
        </p:nvSpPr>
        <p:spPr>
          <a:xfrm>
            <a:off x="6775376" y="2204573"/>
            <a:ext cx="9978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*Composes with other scorers*</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2439" name="Google Shape;2439;p221"/>
          <p:cNvCxnSpPr>
            <a:stCxn id="2422" idx="2"/>
          </p:cNvCxnSpPr>
          <p:nvPr/>
        </p:nvCxnSpPr>
        <p:spPr>
          <a:xfrm flipH="1">
            <a:off x="4023074" y="2562434"/>
            <a:ext cx="422400" cy="355500"/>
          </a:xfrm>
          <a:prstGeom prst="straightConnector1">
            <a:avLst/>
          </a:prstGeom>
          <a:noFill/>
          <a:ln w="7650" cap="flat" cmpd="sng">
            <a:solidFill>
              <a:srgbClr val="595959"/>
            </a:solidFill>
            <a:prstDash val="solid"/>
            <a:round/>
            <a:headEnd type="none" w="med" len="med"/>
            <a:tailEnd type="triangle" w="med" len="med"/>
          </a:ln>
        </p:spPr>
      </p:cxnSp>
      <p:sp>
        <p:nvSpPr>
          <p:cNvPr id="2440" name="Google Shape;2440;p221"/>
          <p:cNvSpPr txBox="1"/>
          <p:nvPr/>
        </p:nvSpPr>
        <p:spPr>
          <a:xfrm>
            <a:off x="4952241" y="2172148"/>
            <a:ext cx="935700" cy="1539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Prompt</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41" name="Google Shape;2441;p221"/>
          <p:cNvSpPr txBox="1"/>
          <p:nvPr/>
        </p:nvSpPr>
        <p:spPr>
          <a:xfrm>
            <a:off x="4934408" y="2426246"/>
            <a:ext cx="935700" cy="1539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D</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pic>
        <p:nvPicPr>
          <p:cNvPr id="2442" name="Google Shape;2442;p221"/>
          <p:cNvPicPr preferRelativeResize="0"/>
          <p:nvPr/>
        </p:nvPicPr>
        <p:blipFill>
          <a:blip r:embed="rId3">
            <a:alphaModFix/>
          </a:blip>
          <a:stretch>
            <a:fillRect/>
          </a:stretch>
        </p:blipFill>
        <p:spPr>
          <a:xfrm>
            <a:off x="2784122" y="3210355"/>
            <a:ext cx="723753" cy="207444"/>
          </a:xfrm>
          <a:prstGeom prst="rect">
            <a:avLst/>
          </a:prstGeom>
          <a:noFill/>
          <a:ln>
            <a:noFill/>
          </a:ln>
        </p:spPr>
      </p:pic>
      <p:pic>
        <p:nvPicPr>
          <p:cNvPr id="2443" name="Google Shape;2443;p221"/>
          <p:cNvPicPr preferRelativeResize="0"/>
          <p:nvPr/>
        </p:nvPicPr>
        <p:blipFill>
          <a:blip r:embed="rId3">
            <a:alphaModFix/>
          </a:blip>
          <a:stretch>
            <a:fillRect/>
          </a:stretch>
        </p:blipFill>
        <p:spPr>
          <a:xfrm>
            <a:off x="3646199" y="3210355"/>
            <a:ext cx="723753" cy="207444"/>
          </a:xfrm>
          <a:prstGeom prst="rect">
            <a:avLst/>
          </a:prstGeom>
          <a:noFill/>
          <a:ln>
            <a:noFill/>
          </a:ln>
        </p:spPr>
      </p:pic>
      <p:pic>
        <p:nvPicPr>
          <p:cNvPr id="2444" name="Google Shape;2444;p221"/>
          <p:cNvPicPr preferRelativeResize="0"/>
          <p:nvPr/>
        </p:nvPicPr>
        <p:blipFill>
          <a:blip r:embed="rId3">
            <a:alphaModFix/>
          </a:blip>
          <a:stretch>
            <a:fillRect/>
          </a:stretch>
        </p:blipFill>
        <p:spPr>
          <a:xfrm>
            <a:off x="4467405" y="3210355"/>
            <a:ext cx="723753" cy="207444"/>
          </a:xfrm>
          <a:prstGeom prst="rect">
            <a:avLst/>
          </a:prstGeom>
          <a:noFill/>
          <a:ln>
            <a:noFill/>
          </a:ln>
        </p:spPr>
      </p:pic>
      <p:pic>
        <p:nvPicPr>
          <p:cNvPr id="2445" name="Google Shape;2445;p221"/>
          <p:cNvPicPr preferRelativeResize="0"/>
          <p:nvPr/>
        </p:nvPicPr>
        <p:blipFill>
          <a:blip r:embed="rId4">
            <a:alphaModFix/>
          </a:blip>
          <a:stretch>
            <a:fillRect/>
          </a:stretch>
        </p:blipFill>
        <p:spPr>
          <a:xfrm>
            <a:off x="4163361" y="2261962"/>
            <a:ext cx="640758" cy="207436"/>
          </a:xfrm>
          <a:prstGeom prst="rect">
            <a:avLst/>
          </a:prstGeom>
          <a:noFill/>
          <a:ln>
            <a:noFill/>
          </a:ln>
        </p:spPr>
      </p:pic>
      <p:pic>
        <p:nvPicPr>
          <p:cNvPr id="2446" name="Google Shape;2446;p221"/>
          <p:cNvPicPr preferRelativeResize="0"/>
          <p:nvPr/>
        </p:nvPicPr>
        <p:blipFill>
          <a:blip r:embed="rId3">
            <a:alphaModFix/>
          </a:blip>
          <a:stretch>
            <a:fillRect/>
          </a:stretch>
        </p:blipFill>
        <p:spPr>
          <a:xfrm>
            <a:off x="6130389" y="3197579"/>
            <a:ext cx="723753" cy="207444"/>
          </a:xfrm>
          <a:prstGeom prst="rect">
            <a:avLst/>
          </a:prstGeom>
          <a:noFill/>
          <a:ln>
            <a:noFill/>
          </a:ln>
        </p:spPr>
      </p:pic>
      <p:sp>
        <p:nvSpPr>
          <p:cNvPr id="2447" name="Google Shape;2447;p221"/>
          <p:cNvSpPr txBox="1"/>
          <p:nvPr/>
        </p:nvSpPr>
        <p:spPr>
          <a:xfrm>
            <a:off x="2694241" y="3472482"/>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C</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(DP-2)</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48" name="Google Shape;2448;p221"/>
          <p:cNvSpPr txBox="1"/>
          <p:nvPr/>
        </p:nvSpPr>
        <p:spPr>
          <a:xfrm>
            <a:off x="3531931" y="3472482"/>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D</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(DP-3)</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49" name="Google Shape;2449;p221"/>
          <p:cNvSpPr txBox="1"/>
          <p:nvPr/>
        </p:nvSpPr>
        <p:spPr>
          <a:xfrm>
            <a:off x="4384825" y="3473686"/>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E</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(DP-4)</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450" name="Google Shape;2450;p221"/>
          <p:cNvSpPr txBox="1"/>
          <p:nvPr/>
        </p:nvSpPr>
        <p:spPr>
          <a:xfrm>
            <a:off x="5207305" y="3480530"/>
            <a:ext cx="935700" cy="326400"/>
          </a:xfrm>
          <a:prstGeom prst="rect">
            <a:avLst/>
          </a:prstGeom>
          <a:noFill/>
          <a:ln>
            <a:noFill/>
          </a:ln>
        </p:spPr>
        <p:txBody>
          <a:bodyPr spcFirstLastPara="1" wrap="square" lIns="73400" tIns="73400" rIns="73400" bIns="73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Pod F</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(DP-5)</a:t>
            </a:r>
            <a:endParaRPr kumimoji="0" sz="8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6" name="文本框 5">
            <a:extLst>
              <a:ext uri="{FF2B5EF4-FFF2-40B4-BE49-F238E27FC236}">
                <a16:creationId xmlns:a16="http://schemas.microsoft.com/office/drawing/2014/main" id="{ACDC2E91-9E5F-2DEF-C3CC-21065CEF88A5}"/>
              </a:ext>
            </a:extLst>
          </p:cNvPr>
          <p:cNvSpPr txBox="1"/>
          <p:nvPr/>
        </p:nvSpPr>
        <p:spPr>
          <a:xfrm>
            <a:off x="232119" y="758232"/>
            <a:ext cx="7428406" cy="307777"/>
          </a:xfrm>
          <a:prstGeom prst="rect">
            <a:avLst/>
          </a:prstGeom>
          <a:noFill/>
        </p:spPr>
        <p:txBody>
          <a:bodyPr wrap="square">
            <a:spAutoFit/>
          </a:bodyPr>
          <a:lstStyle/>
          <a:p>
            <a:r>
              <a:rPr lang="zh-CN" altLang="en-US" dirty="0">
                <a:solidFill>
                  <a:schemeClr val="bg1"/>
                </a:solidFill>
              </a:rPr>
              <a:t>llm-d’s K8s-native design composes the EP implementation with the rest of the llm-d system</a:t>
            </a:r>
          </a:p>
        </p:txBody>
      </p:sp>
    </p:spTree>
    <p:extLst>
      <p:ext uri="{BB962C8B-B14F-4D97-AF65-F5344CB8AC3E}">
        <p14:creationId xmlns:p14="http://schemas.microsoft.com/office/powerpoint/2010/main" val="1217937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23"/>
        <p:cNvGrpSpPr/>
        <p:nvPr/>
      </p:nvGrpSpPr>
      <p:grpSpPr>
        <a:xfrm>
          <a:off x="0" y="0"/>
          <a:ext cx="0" cy="0"/>
          <a:chOff x="0" y="0"/>
          <a:chExt cx="0" cy="0"/>
        </a:xfrm>
      </p:grpSpPr>
      <p:sp>
        <p:nvSpPr>
          <p:cNvPr id="2" name="标题 1">
            <a:extLst>
              <a:ext uri="{FF2B5EF4-FFF2-40B4-BE49-F238E27FC236}">
                <a16:creationId xmlns:a16="http://schemas.microsoft.com/office/drawing/2014/main" id="{428F8AE9-D0EA-1024-ACF3-5FE3EA95CA90}"/>
              </a:ext>
            </a:extLst>
          </p:cNvPr>
          <p:cNvSpPr>
            <a:spLocks noGrp="1"/>
          </p:cNvSpPr>
          <p:nvPr>
            <p:ph type="title"/>
          </p:nvPr>
        </p:nvSpPr>
        <p:spPr>
          <a:xfrm>
            <a:off x="282671" y="-35111"/>
            <a:ext cx="6949739" cy="1047900"/>
          </a:xfrm>
        </p:spPr>
        <p:txBody>
          <a:bodyPr/>
          <a:lstStyle/>
          <a:p>
            <a:r>
              <a:rPr lang="en" altLang="zh-CN" dirty="0"/>
              <a:t>How “Wide” do we need to go?</a:t>
            </a:r>
            <a:endParaRPr lang="zh-CN" altLang="en-US" dirty="0"/>
          </a:p>
        </p:txBody>
      </p:sp>
      <p:pic>
        <p:nvPicPr>
          <p:cNvPr id="2526" name="Google Shape;2526;p228"/>
          <p:cNvPicPr preferRelativeResize="0"/>
          <p:nvPr/>
        </p:nvPicPr>
        <p:blipFill>
          <a:blip r:embed="rId3">
            <a:alphaModFix/>
          </a:blip>
          <a:stretch>
            <a:fillRect/>
          </a:stretch>
        </p:blipFill>
        <p:spPr>
          <a:xfrm>
            <a:off x="4465675" y="1173446"/>
            <a:ext cx="3114910" cy="1724607"/>
          </a:xfrm>
          <a:prstGeom prst="rect">
            <a:avLst/>
          </a:prstGeom>
          <a:noFill/>
          <a:ln>
            <a:noFill/>
          </a:ln>
        </p:spPr>
      </p:pic>
      <p:sp>
        <p:nvSpPr>
          <p:cNvPr id="2527" name="Google Shape;2527;p228"/>
          <p:cNvSpPr txBox="1"/>
          <p:nvPr/>
        </p:nvSpPr>
        <p:spPr>
          <a:xfrm>
            <a:off x="311700" y="1147488"/>
            <a:ext cx="4019295" cy="1496474"/>
          </a:xfrm>
          <a:prstGeom prst="rect">
            <a:avLst/>
          </a:prstGeom>
          <a:noFill/>
          <a:ln>
            <a:noFill/>
          </a:ln>
        </p:spPr>
        <p:txBody>
          <a:bodyPr spcFirstLastPara="1" wrap="square" lIns="91425" tIns="91425" rIns="91425" bIns="91425" anchor="t" anchorCtr="0">
            <a:noAutofit/>
          </a:bodyPr>
          <a:lstStyle/>
          <a:p>
            <a:pPr marL="457200" indent="-317500">
              <a:buSzPts val="1400"/>
              <a:buFont typeface="Arial"/>
              <a:buChar char="●"/>
              <a:defRPr/>
            </a:pPr>
            <a:r>
              <a:rPr lang="zh-CN" altLang="zh-CN" dirty="0"/>
              <a:t>More Room for KV Cache</a:t>
            </a:r>
            <a:endParaRPr kumimoji="0" lang="en" b="0" i="0" u="none" strike="noStrike" kern="0" cap="none" spc="0" normalizeH="0" baseline="0" noProof="0" dirty="0">
              <a:ln>
                <a:noFill/>
              </a:ln>
              <a:solidFill>
                <a:srgbClr val="000000"/>
              </a:solidFill>
              <a:effectLst/>
              <a:uLnTx/>
              <a:uFillTx/>
              <a:latin typeface="Arial"/>
              <a:cs typeface="Arial"/>
              <a:sym typeface="Arial"/>
            </a:endParaRPr>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kumimoji="0" lang="en" b="0" i="0" u="none" strike="noStrike" kern="0" cap="none" spc="0" normalizeH="0" baseline="0" noProof="0" dirty="0">
                <a:ln>
                  <a:noFill/>
                </a:ln>
                <a:solidFill>
                  <a:srgbClr val="000000"/>
                </a:solidFill>
                <a:effectLst/>
                <a:uLnTx/>
                <a:uFillTx/>
                <a:latin typeface="Arial"/>
                <a:cs typeface="Arial"/>
                <a:sym typeface="Arial"/>
              </a:rPr>
              <a:t>DP avoids duplicating the KV Cache</a:t>
            </a:r>
            <a:endParaRPr lang="en"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zh-CN" altLang="zh-CN" dirty="0"/>
              <a:t>Support longer contexts and more concurrent requests.</a:t>
            </a:r>
          </a:p>
        </p:txBody>
      </p:sp>
      <p:pic>
        <p:nvPicPr>
          <p:cNvPr id="4" name="Google Shape;2534;p229" title="Chart">
            <a:extLst>
              <a:ext uri="{FF2B5EF4-FFF2-40B4-BE49-F238E27FC236}">
                <a16:creationId xmlns:a16="http://schemas.microsoft.com/office/drawing/2014/main" id="{90E6DB6D-5119-E09B-C9A0-D58EFBC47E8A}"/>
              </a:ext>
            </a:extLst>
          </p:cNvPr>
          <p:cNvPicPr preferRelativeResize="0"/>
          <p:nvPr/>
        </p:nvPicPr>
        <p:blipFill>
          <a:blip r:embed="rId4">
            <a:alphaModFix/>
          </a:blip>
          <a:stretch>
            <a:fillRect/>
          </a:stretch>
        </p:blipFill>
        <p:spPr>
          <a:xfrm>
            <a:off x="641045" y="2945788"/>
            <a:ext cx="3300090" cy="1938485"/>
          </a:xfrm>
          <a:prstGeom prst="rect">
            <a:avLst/>
          </a:prstGeom>
          <a:noFill/>
          <a:ln>
            <a:noFill/>
          </a:ln>
        </p:spPr>
      </p:pic>
      <p:sp>
        <p:nvSpPr>
          <p:cNvPr id="8" name="文本框 7">
            <a:extLst>
              <a:ext uri="{FF2B5EF4-FFF2-40B4-BE49-F238E27FC236}">
                <a16:creationId xmlns:a16="http://schemas.microsoft.com/office/drawing/2014/main" id="{1F686E00-C222-17F6-B6FA-7490F22A699B}"/>
              </a:ext>
            </a:extLst>
          </p:cNvPr>
          <p:cNvSpPr txBox="1"/>
          <p:nvPr/>
        </p:nvSpPr>
        <p:spPr>
          <a:xfrm>
            <a:off x="195586" y="655972"/>
            <a:ext cx="6949739" cy="307777"/>
          </a:xfrm>
          <a:prstGeom prst="rect">
            <a:avLst/>
          </a:prstGeom>
          <a:noFill/>
        </p:spPr>
        <p:txBody>
          <a:bodyPr wrap="square">
            <a:spAutoFit/>
          </a:bodyPr>
          <a:lstStyle/>
          <a:p>
            <a:r>
              <a:rPr lang="zh-CN" altLang="zh-CN" dirty="0">
                <a:solidFill>
                  <a:schemeClr val="bg1"/>
                </a:solidFill>
              </a:rPr>
              <a:t>Wider EP gives KV cache more space—but does not always improve speed.</a:t>
            </a:r>
          </a:p>
        </p:txBody>
      </p:sp>
      <p:sp>
        <p:nvSpPr>
          <p:cNvPr id="9" name="文本框 8">
            <a:extLst>
              <a:ext uri="{FF2B5EF4-FFF2-40B4-BE49-F238E27FC236}">
                <a16:creationId xmlns:a16="http://schemas.microsoft.com/office/drawing/2014/main" id="{BD2FB885-EDA0-86A3-FF14-4622C35C787A}"/>
              </a:ext>
            </a:extLst>
          </p:cNvPr>
          <p:cNvSpPr txBox="1"/>
          <p:nvPr/>
        </p:nvSpPr>
        <p:spPr>
          <a:xfrm>
            <a:off x="4230914" y="3303514"/>
            <a:ext cx="4572000" cy="1384995"/>
          </a:xfrm>
          <a:prstGeom prst="rect">
            <a:avLst/>
          </a:prstGeom>
          <a:noFill/>
        </p:spPr>
        <p:txBody>
          <a:bodyPr wrap="square">
            <a:spAutoFit/>
          </a:bodyPr>
          <a:lstStyle/>
          <a:p>
            <a:r>
              <a:rPr lang="zh-CN" altLang="en-US" dirty="0"/>
              <a:t>MoE layers need high concurrency to saturate GPU compute.</a:t>
            </a:r>
          </a:p>
          <a:p>
            <a:pPr marL="285750" lvl="2" indent="-285750">
              <a:buFont typeface="Arial" panose="020B0604020202020204" pitchFamily="34" charset="0"/>
              <a:buChar char="•"/>
            </a:pPr>
            <a:r>
              <a:rPr lang="zh-CN" altLang="en-US" dirty="0"/>
              <a:t>~2x going from 64 to 256 concurrent requests per GPU</a:t>
            </a:r>
          </a:p>
          <a:p>
            <a:r>
              <a:rPr lang="zh-CN" altLang="en-US" dirty="0"/>
              <a:t>High EP72 shows little gain over EP32 here.</a:t>
            </a:r>
          </a:p>
          <a:p>
            <a:pPr marL="285750" indent="-285750">
              <a:buFont typeface="Arial" panose="020B0604020202020204" pitchFamily="34" charset="0"/>
              <a:buChar char="•"/>
            </a:pPr>
            <a:r>
              <a:rPr lang="zh-CN" altLang="en-US" dirty="0"/>
              <a:t>More Concurrency, More Communication</a:t>
            </a:r>
          </a:p>
        </p:txBody>
      </p:sp>
    </p:spTree>
    <p:extLst>
      <p:ext uri="{BB962C8B-B14F-4D97-AF65-F5344CB8AC3E}">
        <p14:creationId xmlns:p14="http://schemas.microsoft.com/office/powerpoint/2010/main" val="3365046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9"/>
        <p:cNvGrpSpPr/>
        <p:nvPr/>
      </p:nvGrpSpPr>
      <p:grpSpPr>
        <a:xfrm>
          <a:off x="0" y="0"/>
          <a:ext cx="0" cy="0"/>
          <a:chOff x="0" y="0"/>
          <a:chExt cx="0" cy="0"/>
        </a:xfrm>
      </p:grpSpPr>
      <p:sp>
        <p:nvSpPr>
          <p:cNvPr id="2" name="标题 1">
            <a:extLst>
              <a:ext uri="{FF2B5EF4-FFF2-40B4-BE49-F238E27FC236}">
                <a16:creationId xmlns:a16="http://schemas.microsoft.com/office/drawing/2014/main" id="{5E67BCBD-0A2F-74CB-F987-327126EFA033}"/>
              </a:ext>
            </a:extLst>
          </p:cNvPr>
          <p:cNvSpPr>
            <a:spLocks noGrp="1"/>
          </p:cNvSpPr>
          <p:nvPr>
            <p:ph type="title"/>
          </p:nvPr>
        </p:nvSpPr>
        <p:spPr/>
        <p:txBody>
          <a:bodyPr/>
          <a:lstStyle/>
          <a:p>
            <a:r>
              <a:rPr lang="en" altLang="zh-CN" dirty="0"/>
              <a:t>Wide Expert Parallelism Performance</a:t>
            </a:r>
            <a:endParaRPr lang="zh-CN" altLang="en-US" dirty="0"/>
          </a:p>
        </p:txBody>
      </p:sp>
      <p:sp>
        <p:nvSpPr>
          <p:cNvPr id="2540" name="Google Shape;2540;p230"/>
          <p:cNvSpPr txBox="1">
            <a:spLocks noGrp="1"/>
          </p:cNvSpPr>
          <p:nvPr>
            <p:ph type="sldNum" idx="12"/>
          </p:nvPr>
        </p:nvSpPr>
        <p:spPr>
          <a:prstGeom prst="rect">
            <a:avLst/>
          </a:prstGeom>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600" b="0" i="0" u="none" strike="noStrike" kern="0" cap="none" spc="0" normalizeH="0" baseline="0" noProof="0">
              <a:ln>
                <a:noFill/>
              </a:ln>
              <a:solidFill>
                <a:srgbClr val="000000"/>
              </a:solidFill>
              <a:effectLst/>
              <a:uLnTx/>
              <a:uFillTx/>
              <a:latin typeface="Red Hat Text Medium"/>
              <a:ea typeface="Red Hat Text Medium"/>
              <a:cs typeface="Red Hat Text Medium"/>
              <a:sym typeface="Red Hat Text Medium"/>
            </a:endParaRPr>
          </a:p>
        </p:txBody>
      </p:sp>
      <p:pic>
        <p:nvPicPr>
          <p:cNvPr id="2543" name="Google Shape;2543;p230"/>
          <p:cNvPicPr preferRelativeResize="0"/>
          <p:nvPr/>
        </p:nvPicPr>
        <p:blipFill>
          <a:blip r:embed="rId3">
            <a:alphaModFix/>
          </a:blip>
          <a:stretch>
            <a:fillRect/>
          </a:stretch>
        </p:blipFill>
        <p:spPr>
          <a:xfrm>
            <a:off x="619417" y="1698786"/>
            <a:ext cx="3839361" cy="2374005"/>
          </a:xfrm>
          <a:prstGeom prst="rect">
            <a:avLst/>
          </a:prstGeom>
          <a:noFill/>
          <a:ln>
            <a:noFill/>
          </a:ln>
        </p:spPr>
      </p:pic>
      <p:pic>
        <p:nvPicPr>
          <p:cNvPr id="2544" name="Google Shape;2544;p230"/>
          <p:cNvPicPr preferRelativeResize="0"/>
          <p:nvPr/>
        </p:nvPicPr>
        <p:blipFill>
          <a:blip r:embed="rId4">
            <a:alphaModFix/>
          </a:blip>
          <a:stretch>
            <a:fillRect/>
          </a:stretch>
        </p:blipFill>
        <p:spPr>
          <a:xfrm>
            <a:off x="4526567" y="1672771"/>
            <a:ext cx="3881442" cy="2400044"/>
          </a:xfrm>
          <a:prstGeom prst="rect">
            <a:avLst/>
          </a:prstGeom>
          <a:noFill/>
          <a:ln>
            <a:noFill/>
          </a:ln>
        </p:spPr>
      </p:pic>
      <p:sp>
        <p:nvSpPr>
          <p:cNvPr id="2545" name="Google Shape;2545;p230"/>
          <p:cNvSpPr txBox="1"/>
          <p:nvPr/>
        </p:nvSpPr>
        <p:spPr>
          <a:xfrm>
            <a:off x="725910" y="4095799"/>
            <a:ext cx="7575600" cy="531600"/>
          </a:xfrm>
          <a:prstGeom prst="rect">
            <a:avLst/>
          </a:prstGeom>
          <a:noFill/>
          <a:ln>
            <a:noFill/>
          </a:ln>
        </p:spPr>
        <p:txBody>
          <a:bodyPr spcFirstLastPara="1" wrap="square" lIns="80225" tIns="80225" rIns="80225" bIns="802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1C1E21"/>
                </a:solidFill>
                <a:effectLst/>
                <a:highlight>
                  <a:srgbClr val="FFFFFF"/>
                </a:highlight>
                <a:uLnTx/>
                <a:uFillTx/>
                <a:latin typeface="Red Hat Display"/>
                <a:ea typeface="Red Hat Display"/>
                <a:cs typeface="Red Hat Display"/>
                <a:sym typeface="Red Hat Display"/>
              </a:rPr>
              <a:t>Confirms that kernel optimizations (</a:t>
            </a:r>
            <a:r>
              <a:rPr kumimoji="0" lang="en" sz="1200" b="0" i="0" u="none" strike="noStrike" kern="0" cap="none" spc="0" normalizeH="0" baseline="0" noProof="0" dirty="0" err="1">
                <a:ln>
                  <a:noFill/>
                </a:ln>
                <a:solidFill>
                  <a:srgbClr val="1C1E21"/>
                </a:solidFill>
                <a:effectLst/>
                <a:highlight>
                  <a:srgbClr val="FFFFFF"/>
                </a:highlight>
                <a:uLnTx/>
                <a:uFillTx/>
                <a:latin typeface="Red Hat Display"/>
                <a:ea typeface="Red Hat Display"/>
                <a:cs typeface="Red Hat Display"/>
                <a:sym typeface="Red Hat Display"/>
              </a:rPr>
              <a:t>silu</a:t>
            </a:r>
            <a:r>
              <a:rPr kumimoji="0" lang="en" sz="1200" b="0" i="0" u="none" strike="noStrike" kern="0" cap="none" spc="0" normalizeH="0" baseline="0" noProof="0" dirty="0">
                <a:ln>
                  <a:noFill/>
                </a:ln>
                <a:solidFill>
                  <a:srgbClr val="1C1E21"/>
                </a:solidFill>
                <a:effectLst/>
                <a:highlight>
                  <a:srgbClr val="FFFFFF"/>
                </a:highlight>
                <a:uLnTx/>
                <a:uFillTx/>
                <a:latin typeface="Red Hat Display"/>
                <a:ea typeface="Red Hat Display"/>
                <a:cs typeface="Red Hat Display"/>
                <a:sym typeface="Red Hat Display"/>
              </a:rPr>
              <a:t>-</a:t>
            </a:r>
            <a:r>
              <a:rPr kumimoji="0" lang="en" sz="1200" b="0" i="0" u="none" strike="noStrike" kern="0" cap="none" spc="0" normalizeH="0" baseline="0" noProof="0" dirty="0" err="1">
                <a:ln>
                  <a:noFill/>
                </a:ln>
                <a:solidFill>
                  <a:srgbClr val="1C1E21"/>
                </a:solidFill>
                <a:effectLst/>
                <a:highlight>
                  <a:srgbClr val="FFFFFF"/>
                </a:highlight>
                <a:uLnTx/>
                <a:uFillTx/>
                <a:latin typeface="Red Hat Display"/>
                <a:ea typeface="Red Hat Display"/>
                <a:cs typeface="Red Hat Display"/>
                <a:sym typeface="Red Hat Display"/>
              </a:rPr>
              <a:t>mul</a:t>
            </a:r>
            <a:r>
              <a:rPr kumimoji="0" lang="en" sz="1200" b="0" i="0" u="none" strike="noStrike" kern="0" cap="none" spc="0" normalizeH="0" baseline="0" noProof="0" dirty="0">
                <a:ln>
                  <a:noFill/>
                </a:ln>
                <a:solidFill>
                  <a:srgbClr val="1C1E21"/>
                </a:solidFill>
                <a:effectLst/>
                <a:highlight>
                  <a:srgbClr val="FFFFFF"/>
                </a:highlight>
                <a:uLnTx/>
                <a:uFillTx/>
                <a:latin typeface="Red Hat Display"/>
                <a:ea typeface="Red Hat Display"/>
                <a:cs typeface="Red Hat Display"/>
                <a:sym typeface="Red Hat Display"/>
              </a:rPr>
              <a:t>-quant fusion, custom CUTLASS kernels, MLA attention tuning)</a:t>
            </a:r>
            <a:endParaRPr kumimoji="0" sz="1200" b="0" i="0" u="none" strike="noStrike" kern="0" cap="none" spc="0" normalizeH="0" baseline="0" noProof="0" dirty="0">
              <a:ln>
                <a:noFill/>
              </a:ln>
              <a:solidFill>
                <a:srgbClr val="1C1E21"/>
              </a:solidFill>
              <a:effectLst/>
              <a:highlight>
                <a:srgbClr val="FFFFFF"/>
              </a:highligh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1C1E21"/>
                </a:solidFill>
                <a:effectLst/>
                <a:highlight>
                  <a:srgbClr val="FFFFFF"/>
                </a:highlight>
                <a:uLnTx/>
                <a:uFillTx/>
                <a:latin typeface="Red Hat Display"/>
                <a:ea typeface="Red Hat Display"/>
                <a:cs typeface="Red Hat Display"/>
                <a:sym typeface="Red Hat Display"/>
              </a:rPr>
              <a:t>and the addition of fast EPLB + DBO for decode are delivering compound gains.</a:t>
            </a:r>
            <a:endParaRPr kumimoji="0" sz="12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2546" name="Google Shape;2546;p230"/>
          <p:cNvSpPr txBox="1"/>
          <p:nvPr/>
        </p:nvSpPr>
        <p:spPr>
          <a:xfrm>
            <a:off x="648090" y="4580874"/>
            <a:ext cx="7770000" cy="285300"/>
          </a:xfrm>
          <a:prstGeom prst="rect">
            <a:avLst/>
          </a:prstGeom>
          <a:noFill/>
          <a:ln>
            <a:noFill/>
          </a:ln>
        </p:spPr>
        <p:txBody>
          <a:bodyPr spcFirstLastPara="1" wrap="square" lIns="80225" tIns="80225" rIns="80225" bIns="802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800" b="0" i="0" u="sng" strike="noStrike" kern="0" cap="none" spc="0" normalizeH="0" baseline="0" noProof="0" dirty="0">
                <a:ln>
                  <a:noFill/>
                </a:ln>
                <a:solidFill>
                  <a:srgbClr val="0097A7"/>
                </a:solidFill>
                <a:effectLst/>
                <a:uLnTx/>
                <a:uFillTx/>
                <a:latin typeface="Arial"/>
                <a:cs typeface="Arial"/>
                <a:sym typeface="Arial"/>
                <a:hlinkClick r:id="rId5"/>
              </a:rPr>
              <a:t>https://llm-d.ai/blog/llm-d-v0.3-expanded-hardware-faster-perf-and-igw-ga</a:t>
            </a:r>
            <a:endParaRPr kumimoji="0" sz="8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文本框 4">
            <a:extLst>
              <a:ext uri="{FF2B5EF4-FFF2-40B4-BE49-F238E27FC236}">
                <a16:creationId xmlns:a16="http://schemas.microsoft.com/office/drawing/2014/main" id="{E22C76E4-2571-001B-7821-C95307AFE71E}"/>
              </a:ext>
            </a:extLst>
          </p:cNvPr>
          <p:cNvSpPr txBox="1"/>
          <p:nvPr/>
        </p:nvSpPr>
        <p:spPr>
          <a:xfrm>
            <a:off x="260155" y="1102991"/>
            <a:ext cx="7742617" cy="307777"/>
          </a:xfrm>
          <a:prstGeom prst="rect">
            <a:avLst/>
          </a:prstGeom>
          <a:noFill/>
        </p:spPr>
        <p:txBody>
          <a:bodyPr wrap="square">
            <a:spAutoFit/>
          </a:bodyPr>
          <a:lstStyle/>
          <a:p>
            <a:r>
              <a:rPr lang="zh-CN" altLang="en-US" dirty="0">
                <a:solidFill>
                  <a:schemeClr val="bg2"/>
                </a:solidFill>
              </a:rPr>
              <a:t>Reached 2.2k tokens/s per H200 GPU for DeepSeek-R1 in community benchmarks on H200 </a:t>
            </a:r>
          </a:p>
        </p:txBody>
      </p:sp>
    </p:spTree>
    <p:extLst>
      <p:ext uri="{BB962C8B-B14F-4D97-AF65-F5344CB8AC3E}">
        <p14:creationId xmlns:p14="http://schemas.microsoft.com/office/powerpoint/2010/main" val="3595357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0D7CA-D7DC-CD40-5CDE-5EC9041405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E8E8DA-5BD9-E6F0-94EA-891F74FDAE80}"/>
              </a:ext>
            </a:extLst>
          </p:cNvPr>
          <p:cNvSpPr>
            <a:spLocks noGrp="1"/>
          </p:cNvSpPr>
          <p:nvPr>
            <p:ph type="title"/>
          </p:nvPr>
        </p:nvSpPr>
        <p:spPr/>
        <p:txBody>
          <a:bodyPr/>
          <a:lstStyle/>
          <a:p>
            <a:r>
              <a:rPr lang="en" altLang="zh-CN" dirty="0"/>
              <a:t>Why P/D? Prefill and Decode</a:t>
            </a:r>
            <a:endParaRPr kumimoji="1" lang="zh-CN" altLang="en-US" dirty="0"/>
          </a:p>
        </p:txBody>
      </p:sp>
      <p:sp>
        <p:nvSpPr>
          <p:cNvPr id="5" name="文本框 4">
            <a:extLst>
              <a:ext uri="{FF2B5EF4-FFF2-40B4-BE49-F238E27FC236}">
                <a16:creationId xmlns:a16="http://schemas.microsoft.com/office/drawing/2014/main" id="{E12E4325-2073-9AC2-4390-762E87440823}"/>
              </a:ext>
            </a:extLst>
          </p:cNvPr>
          <p:cNvSpPr txBox="1"/>
          <p:nvPr/>
        </p:nvSpPr>
        <p:spPr>
          <a:xfrm>
            <a:off x="227070" y="740123"/>
            <a:ext cx="5643453" cy="307777"/>
          </a:xfrm>
          <a:prstGeom prst="rect">
            <a:avLst/>
          </a:prstGeom>
          <a:noFill/>
        </p:spPr>
        <p:txBody>
          <a:bodyPr wrap="square">
            <a:spAutoFit/>
          </a:bodyPr>
          <a:lstStyle/>
          <a:p>
            <a:pPr marL="0" indent="0"/>
            <a:r>
              <a:rPr lang="en-US" altLang="zh-CN" dirty="0">
                <a:solidFill>
                  <a:schemeClr val="bg1"/>
                </a:solidFill>
              </a:rPr>
              <a:t>Two Phases of LLM Inference - different computational regimes</a:t>
            </a:r>
          </a:p>
        </p:txBody>
      </p:sp>
      <p:sp>
        <p:nvSpPr>
          <p:cNvPr id="8" name="Google Shape;3524;p356">
            <a:extLst>
              <a:ext uri="{FF2B5EF4-FFF2-40B4-BE49-F238E27FC236}">
                <a16:creationId xmlns:a16="http://schemas.microsoft.com/office/drawing/2014/main" id="{67EDD2EE-6547-0CBD-4F10-6131B3CC3C02}"/>
              </a:ext>
            </a:extLst>
          </p:cNvPr>
          <p:cNvSpPr txBox="1">
            <a:spLocks/>
          </p:cNvSpPr>
          <p:nvPr/>
        </p:nvSpPr>
        <p:spPr>
          <a:xfrm>
            <a:off x="663844" y="1489783"/>
            <a:ext cx="3703200" cy="27954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35000"/>
              </a:lnSpc>
              <a:spcBef>
                <a:spcPts val="800"/>
              </a:spcBef>
              <a:buSzPts val="1400"/>
              <a:buFont typeface="Arial"/>
              <a:buNone/>
            </a:pPr>
            <a:r>
              <a:rPr lang="en" sz="1400" b="1" dirty="0">
                <a:latin typeface="Red Hat Display"/>
                <a:ea typeface="Red Hat Display"/>
                <a:cs typeface="Red Hat Display"/>
                <a:sym typeface="Red Hat Display"/>
              </a:rPr>
              <a:t>Prefill</a:t>
            </a:r>
            <a:r>
              <a:rPr lang="en" sz="1400" dirty="0">
                <a:latin typeface="Red Hat Display"/>
                <a:ea typeface="Red Hat Display"/>
                <a:cs typeface="Red Hat Display"/>
                <a:sym typeface="Red Hat Display"/>
              </a:rPr>
              <a:t> - Prompt Processing</a:t>
            </a:r>
          </a:p>
          <a:p>
            <a:pPr marL="342900" indent="-234950">
              <a:lnSpc>
                <a:spcPct val="135000"/>
              </a:lnSpc>
              <a:spcBef>
                <a:spcPts val="800"/>
              </a:spcBef>
              <a:buSzPts val="1100"/>
              <a:buFont typeface="Red Hat Display"/>
              <a:buChar char="●"/>
            </a:pPr>
            <a:r>
              <a:rPr lang="en" sz="1100" dirty="0">
                <a:latin typeface="Red Hat Display"/>
                <a:ea typeface="Red Hat Display"/>
                <a:cs typeface="Red Hat Display"/>
                <a:sym typeface="Red Hat Display"/>
              </a:rPr>
              <a:t>All tokens processed in one pass</a:t>
            </a:r>
          </a:p>
          <a:p>
            <a:pPr marL="342900" indent="-234950">
              <a:lnSpc>
                <a:spcPct val="135000"/>
              </a:lnSpc>
              <a:buSzPts val="1100"/>
              <a:buFont typeface="Red Hat Display"/>
              <a:buChar char="●"/>
            </a:pPr>
            <a:r>
              <a:rPr lang="en" sz="1100" dirty="0">
                <a:latin typeface="Red Hat Display"/>
                <a:ea typeface="Red Hat Display"/>
                <a:cs typeface="Red Hat Display"/>
                <a:sym typeface="Red Hat Display"/>
              </a:rPr>
              <a:t>Reads the KV Cache once </a:t>
            </a:r>
          </a:p>
          <a:p>
            <a:pPr marL="342900" indent="-234950">
              <a:lnSpc>
                <a:spcPct val="135000"/>
              </a:lnSpc>
              <a:buSzPts val="1100"/>
              <a:buFont typeface="Red Hat Display"/>
              <a:buChar char="●"/>
            </a:pPr>
            <a:r>
              <a:rPr lang="en" sz="1100" b="1" dirty="0">
                <a:latin typeface="Red Hat Display"/>
                <a:ea typeface="Red Hat Display"/>
                <a:cs typeface="Red Hat Display"/>
                <a:sym typeface="Red Hat Display"/>
              </a:rPr>
              <a:t>Compute-intensive</a:t>
            </a:r>
          </a:p>
          <a:p>
            <a:pPr marL="342900" indent="-234950">
              <a:lnSpc>
                <a:spcPct val="135000"/>
              </a:lnSpc>
              <a:buSzPts val="1100"/>
              <a:buFont typeface="Red Hat Display"/>
              <a:buChar char="●"/>
            </a:pPr>
            <a:r>
              <a:rPr lang="en" sz="1100" dirty="0">
                <a:latin typeface="Red Hat Display"/>
                <a:ea typeface="Red Hat Display"/>
                <a:cs typeface="Red Hat Display"/>
                <a:sym typeface="Red Hat Display"/>
              </a:rPr>
              <a:t>Attention: Matrix-matrix multiplication</a:t>
            </a:r>
          </a:p>
          <a:p>
            <a:pPr marL="0" indent="0">
              <a:lnSpc>
                <a:spcPct val="135000"/>
              </a:lnSpc>
              <a:spcBef>
                <a:spcPts val="800"/>
              </a:spcBef>
              <a:buSzPts val="1400"/>
              <a:buFont typeface="Arial"/>
              <a:buNone/>
            </a:pPr>
            <a:r>
              <a:rPr lang="en" sz="1400" b="1" dirty="0">
                <a:latin typeface="Red Hat Display"/>
                <a:ea typeface="Red Hat Display"/>
                <a:cs typeface="Red Hat Display"/>
                <a:sym typeface="Red Hat Display"/>
              </a:rPr>
              <a:t>Decode</a:t>
            </a:r>
            <a:r>
              <a:rPr lang="en" sz="1400" dirty="0">
                <a:latin typeface="Red Hat Display"/>
                <a:ea typeface="Red Hat Display"/>
                <a:cs typeface="Red Hat Display"/>
                <a:sym typeface="Red Hat Display"/>
              </a:rPr>
              <a:t> - Token Generation</a:t>
            </a:r>
          </a:p>
          <a:p>
            <a:pPr marL="342900" indent="-234950">
              <a:lnSpc>
                <a:spcPct val="135000"/>
              </a:lnSpc>
              <a:spcBef>
                <a:spcPts val="800"/>
              </a:spcBef>
              <a:buSzPts val="1100"/>
              <a:buFont typeface="Red Hat Display"/>
              <a:buChar char="●"/>
            </a:pPr>
            <a:r>
              <a:rPr lang="en" sz="1100" dirty="0">
                <a:latin typeface="Red Hat Display"/>
                <a:ea typeface="Red Hat Display"/>
                <a:cs typeface="Red Hat Display"/>
                <a:sym typeface="Red Hat Display"/>
              </a:rPr>
              <a:t>Each token processed </a:t>
            </a:r>
            <a:r>
              <a:rPr lang="en" sz="1100" i="1" dirty="0">
                <a:latin typeface="Red Hat Display"/>
                <a:ea typeface="Red Hat Display"/>
                <a:cs typeface="Red Hat Display"/>
                <a:sym typeface="Red Hat Display"/>
              </a:rPr>
              <a:t>sequentially</a:t>
            </a:r>
          </a:p>
          <a:p>
            <a:pPr marL="342900" indent="-234950">
              <a:lnSpc>
                <a:spcPct val="135000"/>
              </a:lnSpc>
              <a:buSzPts val="1100"/>
              <a:buFont typeface="Red Hat Display"/>
              <a:buChar char="●"/>
            </a:pPr>
            <a:r>
              <a:rPr lang="en" sz="1100" dirty="0">
                <a:latin typeface="Red Hat Display"/>
                <a:ea typeface="Red Hat Display"/>
                <a:cs typeface="Red Hat Display"/>
                <a:sym typeface="Red Hat Display"/>
              </a:rPr>
              <a:t>KV cache is loaded each forward pass</a:t>
            </a:r>
          </a:p>
          <a:p>
            <a:pPr marL="342900" indent="-234950">
              <a:lnSpc>
                <a:spcPct val="135000"/>
              </a:lnSpc>
              <a:buSzPts val="1100"/>
              <a:buFont typeface="Red Hat Display"/>
              <a:buChar char="●"/>
            </a:pPr>
            <a:r>
              <a:rPr lang="en" sz="1100" b="1" dirty="0">
                <a:latin typeface="Red Hat Display"/>
                <a:ea typeface="Red Hat Display"/>
                <a:cs typeface="Red Hat Display"/>
                <a:sym typeface="Red Hat Display"/>
              </a:rPr>
              <a:t>Bandwidth-limited</a:t>
            </a:r>
          </a:p>
          <a:p>
            <a:pPr marL="342900" indent="-234950">
              <a:lnSpc>
                <a:spcPct val="135000"/>
              </a:lnSpc>
              <a:buSzPts val="1100"/>
              <a:buFont typeface="Red Hat Display"/>
              <a:buChar char="●"/>
            </a:pPr>
            <a:r>
              <a:rPr lang="en" sz="1100" dirty="0">
                <a:latin typeface="Red Hat Display"/>
                <a:ea typeface="Red Hat Display"/>
                <a:cs typeface="Red Hat Display"/>
                <a:sym typeface="Red Hat Display"/>
              </a:rPr>
              <a:t>Attention: Matrix-vector multiplication</a:t>
            </a:r>
          </a:p>
        </p:txBody>
      </p:sp>
      <p:sp>
        <p:nvSpPr>
          <p:cNvPr id="10" name="Google Shape;3527;p356">
            <a:extLst>
              <a:ext uri="{FF2B5EF4-FFF2-40B4-BE49-F238E27FC236}">
                <a16:creationId xmlns:a16="http://schemas.microsoft.com/office/drawing/2014/main" id="{66FD6021-6501-8CBC-B32E-2AFF9643E0EA}"/>
              </a:ext>
            </a:extLst>
          </p:cNvPr>
          <p:cNvSpPr/>
          <p:nvPr/>
        </p:nvSpPr>
        <p:spPr>
          <a:xfrm rot="-5400000">
            <a:off x="5639727" y="1271871"/>
            <a:ext cx="102900" cy="1131300"/>
          </a:xfrm>
          <a:prstGeom prst="rightBrace">
            <a:avLst>
              <a:gd name="adj1" fmla="val 50000"/>
              <a:gd name="adj2" fmla="val 50000"/>
            </a:avLst>
          </a:prstGeom>
          <a:noFill/>
          <a:ln w="7150" cap="flat" cmpd="sng">
            <a:solidFill>
              <a:srgbClr val="0E161E"/>
            </a:solidFill>
            <a:prstDash val="solid"/>
            <a:round/>
            <a:headEnd type="none" w="sm" len="sm"/>
            <a:tailEnd type="none" w="sm" len="sm"/>
          </a:ln>
        </p:spPr>
        <p:txBody>
          <a:bodyPr spcFirstLastPara="1" wrap="square" lIns="51425" tIns="51425" rIns="51425" bIns="51425" anchor="ctr" anchorCtr="0">
            <a:noAutofit/>
          </a:bodyPr>
          <a:lstStyle/>
          <a:p>
            <a:pPr marL="0" marR="0" lvl="0" indent="0" algn="ctr" defTabSz="914400" eaLnBrk="1" fontAlgn="auto" latinLnBrk="0" hangingPunct="1">
              <a:lnSpc>
                <a:spcPct val="100000"/>
              </a:lnSpc>
              <a:spcBef>
                <a:spcPts val="0"/>
              </a:spcBef>
              <a:spcAft>
                <a:spcPts val="0"/>
              </a:spcAft>
              <a:buClrTx/>
              <a:buSzPts val="800"/>
              <a:buFontTx/>
              <a:buNone/>
              <a:tabLst/>
              <a:defRPr/>
            </a:pPr>
            <a:endParaRPr kumimoji="0" sz="800" b="1" i="0" u="none" strike="noStrike" kern="0" cap="none" spc="0" normalizeH="0" baseline="0" noProof="0">
              <a:ln>
                <a:noFill/>
              </a:ln>
              <a:solidFill>
                <a:sysClr val="windowText" lastClr="000000"/>
              </a:solidFill>
              <a:effectLst/>
              <a:uLnTx/>
              <a:uFillTx/>
            </a:endParaRPr>
          </a:p>
        </p:txBody>
      </p:sp>
      <p:sp>
        <p:nvSpPr>
          <p:cNvPr id="11" name="Google Shape;3528;p356">
            <a:extLst>
              <a:ext uri="{FF2B5EF4-FFF2-40B4-BE49-F238E27FC236}">
                <a16:creationId xmlns:a16="http://schemas.microsoft.com/office/drawing/2014/main" id="{73AACBC6-6BA8-B254-058E-52305650594F}"/>
              </a:ext>
            </a:extLst>
          </p:cNvPr>
          <p:cNvSpPr txBox="1"/>
          <p:nvPr/>
        </p:nvSpPr>
        <p:spPr>
          <a:xfrm>
            <a:off x="5125517" y="1497379"/>
            <a:ext cx="1078800" cy="288600"/>
          </a:xfrm>
          <a:prstGeom prst="rect">
            <a:avLst/>
          </a:prstGeom>
          <a:noFill/>
          <a:ln>
            <a:noFill/>
          </a:ln>
        </p:spPr>
        <p:txBody>
          <a:bodyPr spcFirstLastPara="1" wrap="square" lIns="51425" tIns="51425" rIns="51425" bIns="51425" anchor="t" anchorCtr="0">
            <a:spAutoFit/>
          </a:bodyPr>
          <a:lstStyle/>
          <a:p>
            <a:pPr algn="ctr">
              <a:buSzPts val="600"/>
            </a:pPr>
            <a:r>
              <a:rPr lang="en" sz="600" b="1">
                <a:solidFill>
                  <a:srgbClr val="0E161E"/>
                </a:solidFill>
                <a:latin typeface="Red Hat Display"/>
                <a:ea typeface="Red Hat Display"/>
                <a:cs typeface="Red Hat Display"/>
                <a:sym typeface="Red Hat Display"/>
              </a:rPr>
              <a:t>Decodes are limited by VRAM Bandwidth!</a:t>
            </a:r>
            <a:endParaRPr sz="600" b="1">
              <a:solidFill>
                <a:srgbClr val="0E161E"/>
              </a:solidFill>
              <a:latin typeface="Red Hat Display"/>
              <a:ea typeface="Red Hat Display"/>
              <a:cs typeface="Red Hat Display"/>
              <a:sym typeface="Red Hat Display"/>
            </a:endParaRPr>
          </a:p>
        </p:txBody>
      </p:sp>
      <p:sp>
        <p:nvSpPr>
          <p:cNvPr id="12" name="Google Shape;3529;p356">
            <a:extLst>
              <a:ext uri="{FF2B5EF4-FFF2-40B4-BE49-F238E27FC236}">
                <a16:creationId xmlns:a16="http://schemas.microsoft.com/office/drawing/2014/main" id="{5821AD83-F5C5-2406-45EC-34B0F2241E82}"/>
              </a:ext>
            </a:extLst>
          </p:cNvPr>
          <p:cNvSpPr/>
          <p:nvPr/>
        </p:nvSpPr>
        <p:spPr>
          <a:xfrm rot="-5400000">
            <a:off x="6573873" y="1530534"/>
            <a:ext cx="113700" cy="650100"/>
          </a:xfrm>
          <a:prstGeom prst="rightBrace">
            <a:avLst>
              <a:gd name="adj1" fmla="val 50000"/>
              <a:gd name="adj2" fmla="val 50000"/>
            </a:avLst>
          </a:prstGeom>
          <a:noFill/>
          <a:ln w="7150" cap="flat" cmpd="sng">
            <a:solidFill>
              <a:srgbClr val="0E161E"/>
            </a:solidFill>
            <a:prstDash val="solid"/>
            <a:round/>
            <a:headEnd type="none" w="sm" len="sm"/>
            <a:tailEnd type="none" w="sm" len="sm"/>
          </a:ln>
        </p:spPr>
        <p:txBody>
          <a:bodyPr spcFirstLastPara="1" wrap="square" lIns="51425" tIns="51425" rIns="51425" bIns="51425" anchor="ctr" anchorCtr="0">
            <a:noAutofit/>
          </a:bodyPr>
          <a:lstStyle/>
          <a:p>
            <a:pPr marL="0" marR="0" lvl="0" indent="0" algn="ctr" defTabSz="914400" eaLnBrk="1" fontAlgn="auto" latinLnBrk="0" hangingPunct="1">
              <a:lnSpc>
                <a:spcPct val="100000"/>
              </a:lnSpc>
              <a:spcBef>
                <a:spcPts val="0"/>
              </a:spcBef>
              <a:spcAft>
                <a:spcPts val="0"/>
              </a:spcAft>
              <a:buClrTx/>
              <a:buSzPts val="800"/>
              <a:buFontTx/>
              <a:buNone/>
              <a:tabLst/>
              <a:defRPr/>
            </a:pPr>
            <a:endParaRPr kumimoji="0" sz="800" b="0" i="0" u="none" strike="noStrike" kern="0" cap="none" spc="0" normalizeH="0" baseline="0" noProof="0">
              <a:ln>
                <a:noFill/>
              </a:ln>
              <a:solidFill>
                <a:sysClr val="windowText" lastClr="000000"/>
              </a:solidFill>
              <a:effectLst/>
              <a:uLnTx/>
              <a:uFillTx/>
            </a:endParaRPr>
          </a:p>
        </p:txBody>
      </p:sp>
      <p:sp>
        <p:nvSpPr>
          <p:cNvPr id="13" name="Google Shape;3530;p356">
            <a:extLst>
              <a:ext uri="{FF2B5EF4-FFF2-40B4-BE49-F238E27FC236}">
                <a16:creationId xmlns:a16="http://schemas.microsoft.com/office/drawing/2014/main" id="{ABD72FD1-6C6F-181A-54BD-4E38EE07EE09}"/>
              </a:ext>
            </a:extLst>
          </p:cNvPr>
          <p:cNvSpPr txBox="1"/>
          <p:nvPr/>
        </p:nvSpPr>
        <p:spPr>
          <a:xfrm>
            <a:off x="6096580" y="1489783"/>
            <a:ext cx="1078800" cy="288600"/>
          </a:xfrm>
          <a:prstGeom prst="rect">
            <a:avLst/>
          </a:prstGeom>
          <a:noFill/>
          <a:ln>
            <a:noFill/>
          </a:ln>
        </p:spPr>
        <p:txBody>
          <a:bodyPr spcFirstLastPara="1" wrap="square" lIns="51425" tIns="51425" rIns="51425" bIns="51425" anchor="t" anchorCtr="0">
            <a:spAutoFit/>
          </a:bodyPr>
          <a:lstStyle/>
          <a:p>
            <a:pPr algn="ctr">
              <a:buSzPts val="600"/>
            </a:pPr>
            <a:r>
              <a:rPr lang="en" sz="600" b="1">
                <a:solidFill>
                  <a:srgbClr val="0E161E"/>
                </a:solidFill>
                <a:latin typeface="Red Hat Display"/>
                <a:ea typeface="Red Hat Display"/>
                <a:cs typeface="Red Hat Display"/>
                <a:sym typeface="Red Hat Display"/>
              </a:rPr>
              <a:t>Prefills are  compute-bound!</a:t>
            </a:r>
            <a:endParaRPr sz="600" b="1">
              <a:solidFill>
                <a:srgbClr val="0E161E"/>
              </a:solidFill>
              <a:latin typeface="Red Hat Display"/>
              <a:ea typeface="Red Hat Display"/>
              <a:cs typeface="Red Hat Display"/>
              <a:sym typeface="Red Hat Display"/>
            </a:endParaRPr>
          </a:p>
        </p:txBody>
      </p:sp>
      <p:pic>
        <p:nvPicPr>
          <p:cNvPr id="15" name="Google Shape;3531;p356">
            <a:extLst>
              <a:ext uri="{FF2B5EF4-FFF2-40B4-BE49-F238E27FC236}">
                <a16:creationId xmlns:a16="http://schemas.microsoft.com/office/drawing/2014/main" id="{C690A093-1ACA-DC5B-8407-AE990F36AD4E}"/>
              </a:ext>
            </a:extLst>
          </p:cNvPr>
          <p:cNvPicPr preferRelativeResize="0"/>
          <p:nvPr/>
        </p:nvPicPr>
        <p:blipFill rotWithShape="1">
          <a:blip r:embed="rId3">
            <a:alphaModFix/>
          </a:blip>
          <a:srcRect/>
          <a:stretch/>
        </p:blipFill>
        <p:spPr>
          <a:xfrm>
            <a:off x="4420278" y="1922109"/>
            <a:ext cx="3966032" cy="2715055"/>
          </a:xfrm>
          <a:prstGeom prst="rect">
            <a:avLst/>
          </a:prstGeom>
          <a:solidFill>
            <a:srgbClr val="FFFFFE"/>
          </a:solidFill>
          <a:ln>
            <a:noFill/>
          </a:ln>
        </p:spPr>
      </p:pic>
    </p:spTree>
    <p:extLst>
      <p:ext uri="{BB962C8B-B14F-4D97-AF65-F5344CB8AC3E}">
        <p14:creationId xmlns:p14="http://schemas.microsoft.com/office/powerpoint/2010/main" val="3920433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35"/>
        <p:cNvGrpSpPr/>
        <p:nvPr/>
      </p:nvGrpSpPr>
      <p:grpSpPr>
        <a:xfrm>
          <a:off x="0" y="0"/>
          <a:ext cx="0" cy="0"/>
          <a:chOff x="0" y="0"/>
          <a:chExt cx="0" cy="0"/>
        </a:xfrm>
      </p:grpSpPr>
      <p:sp>
        <p:nvSpPr>
          <p:cNvPr id="3536" name="Google Shape;3536;p357"/>
          <p:cNvSpPr txBox="1">
            <a:spLocks noGrp="1"/>
          </p:cNvSpPr>
          <p:nvPr>
            <p:ph type="title"/>
          </p:nvPr>
        </p:nvSpPr>
        <p:spPr>
          <a:xfrm>
            <a:off x="311700" y="226828"/>
            <a:ext cx="6949739" cy="1047900"/>
          </a:xfrm>
          <a:prstGeom prst="rect">
            <a:avLst/>
          </a:prstGeom>
        </p:spPr>
        <p:txBody>
          <a:bodyPr spcFirstLastPara="1" wrap="square" lIns="0" tIns="0" rIns="0" bIns="0" anchor="t" anchorCtr="0">
            <a:noAutofit/>
          </a:bodyPr>
          <a:lstStyle/>
          <a:p>
            <a:r>
              <a:rPr lang="en" altLang="zh-CN" dirty="0"/>
              <a:t>Why P/D? </a:t>
            </a:r>
            <a:r>
              <a:rPr lang="zh-CN" altLang="zh-CN" dirty="0"/>
              <a:t>Prefill and Decode Scale Differently</a:t>
            </a:r>
            <a:br>
              <a:rPr lang="zh-CN" altLang="zh-CN" dirty="0"/>
            </a:br>
            <a:endParaRPr dirty="0"/>
          </a:p>
        </p:txBody>
      </p:sp>
      <p:pic>
        <p:nvPicPr>
          <p:cNvPr id="3538" name="Google Shape;3538;p357" title="Chart"/>
          <p:cNvPicPr preferRelativeResize="0"/>
          <p:nvPr/>
        </p:nvPicPr>
        <p:blipFill>
          <a:blip r:embed="rId3">
            <a:alphaModFix/>
          </a:blip>
          <a:stretch>
            <a:fillRect/>
          </a:stretch>
        </p:blipFill>
        <p:spPr>
          <a:xfrm>
            <a:off x="663651" y="1437900"/>
            <a:ext cx="3830499" cy="2368520"/>
          </a:xfrm>
          <a:prstGeom prst="rect">
            <a:avLst/>
          </a:prstGeom>
          <a:noFill/>
          <a:ln>
            <a:noFill/>
          </a:ln>
        </p:spPr>
      </p:pic>
      <p:pic>
        <p:nvPicPr>
          <p:cNvPr id="3539" name="Google Shape;3539;p357" title="Chart"/>
          <p:cNvPicPr preferRelativeResize="0"/>
          <p:nvPr/>
        </p:nvPicPr>
        <p:blipFill>
          <a:blip r:embed="rId4">
            <a:alphaModFix/>
          </a:blip>
          <a:stretch>
            <a:fillRect/>
          </a:stretch>
        </p:blipFill>
        <p:spPr>
          <a:xfrm>
            <a:off x="4649651" y="1437900"/>
            <a:ext cx="3830499" cy="2368525"/>
          </a:xfrm>
          <a:prstGeom prst="rect">
            <a:avLst/>
          </a:prstGeom>
          <a:noFill/>
          <a:ln>
            <a:noFill/>
          </a:ln>
        </p:spPr>
      </p:pic>
      <p:sp>
        <p:nvSpPr>
          <p:cNvPr id="3540" name="Google Shape;3540;p357"/>
          <p:cNvSpPr txBox="1"/>
          <p:nvPr/>
        </p:nvSpPr>
        <p:spPr>
          <a:xfrm>
            <a:off x="1411814" y="3969598"/>
            <a:ext cx="7068336" cy="1046410"/>
          </a:xfrm>
          <a:prstGeom prst="rect">
            <a:avLst/>
          </a:prstGeom>
          <a:noFill/>
          <a:ln>
            <a:noFill/>
          </a:ln>
        </p:spPr>
        <p:txBody>
          <a:bodyPr spcFirstLastPara="1" wrap="square" lIns="91425" tIns="91425" rIns="91425" bIns="91425" anchor="t" anchorCtr="0">
            <a:spAutoFit/>
          </a:bodyPr>
          <a:lstStyle/>
          <a:p>
            <a:pPr marL="457200" lvl="0" indent="-317500">
              <a:buSzPts val="1400"/>
              <a:buFont typeface="Red Hat Display"/>
              <a:buChar char="●"/>
              <a:defRPr/>
            </a:pPr>
            <a:r>
              <a:rPr lang="en" dirty="0">
                <a:latin typeface="Red Hat Display"/>
                <a:ea typeface="Red Hat Display"/>
                <a:cs typeface="Red Hat Display"/>
                <a:sym typeface="Red Hat Display"/>
              </a:rPr>
              <a:t>TP=1 delivers the highest throughput per GPU for both phases.</a:t>
            </a:r>
          </a:p>
          <a:p>
            <a:pPr marL="457200" lvl="0" indent="-317500">
              <a:buSzPts val="1400"/>
              <a:buFont typeface="Red Hat Display"/>
              <a:buChar char="●"/>
              <a:defRPr/>
            </a:pPr>
            <a:r>
              <a:rPr lang="en" dirty="0">
                <a:latin typeface="Red Hat Display"/>
                <a:ea typeface="Red Hat Display"/>
                <a:cs typeface="Red Hat Display"/>
                <a:sym typeface="Red Hat Display"/>
              </a:rPr>
              <a:t>Prefill loses efficiency quickly as TP communication increases.</a:t>
            </a:r>
          </a:p>
          <a:p>
            <a:pPr marL="457200" lvl="0" indent="-317500">
              <a:buSzPts val="1400"/>
              <a:buFont typeface="Red Hat Display"/>
              <a:buChar char="●"/>
              <a:defRPr/>
            </a:pPr>
            <a:r>
              <a:rPr lang="en" dirty="0">
                <a:latin typeface="Red Hat Display"/>
                <a:ea typeface="Red Hat Display"/>
                <a:cs typeface="Red Hat Display"/>
                <a:sym typeface="Red Hat Display"/>
              </a:rPr>
              <a:t>Decode benefits more from additional memory bandwidth at small TP sizes.</a:t>
            </a:r>
          </a:p>
          <a:p>
            <a:pPr marL="457200" lvl="0" indent="-317500">
              <a:buSzPts val="1400"/>
              <a:buFont typeface="Red Hat Display"/>
              <a:buChar char="●"/>
              <a:defRPr/>
            </a:pPr>
            <a:r>
              <a:rPr lang="en" dirty="0">
                <a:latin typeface="Red Hat Display"/>
                <a:ea typeface="Red Hat Display"/>
                <a:cs typeface="Red Hat Display"/>
                <a:sym typeface="Red Hat Display"/>
              </a:rPr>
              <a:t>P/D disaggregation allows each phase to use a different parallel configuration.</a:t>
            </a:r>
            <a:endParaRPr kumimoji="0" sz="1400" b="0"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3" name="文本框 2">
            <a:extLst>
              <a:ext uri="{FF2B5EF4-FFF2-40B4-BE49-F238E27FC236}">
                <a16:creationId xmlns:a16="http://schemas.microsoft.com/office/drawing/2014/main" id="{6CD099B5-97E5-B8BE-DB69-70576054ADF4}"/>
              </a:ext>
            </a:extLst>
          </p:cNvPr>
          <p:cNvSpPr txBox="1"/>
          <p:nvPr/>
        </p:nvSpPr>
        <p:spPr>
          <a:xfrm>
            <a:off x="209107" y="650697"/>
            <a:ext cx="4572000" cy="307777"/>
          </a:xfrm>
          <a:prstGeom prst="rect">
            <a:avLst/>
          </a:prstGeom>
          <a:noFill/>
        </p:spPr>
        <p:txBody>
          <a:bodyPr wrap="square">
            <a:spAutoFit/>
          </a:bodyPr>
          <a:lstStyle/>
          <a:p>
            <a:r>
              <a:rPr lang="zh-CN" altLang="zh-CN" dirty="0">
                <a:solidFill>
                  <a:schemeClr val="bg1"/>
                </a:solidFill>
              </a:rPr>
              <a:t>Decode retains efficiency better at small TP sizes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2B80-1615-A235-7EBC-F7C32623D2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4EEC12-C0AB-E9CD-340A-428C563DB520}"/>
              </a:ext>
            </a:extLst>
          </p:cNvPr>
          <p:cNvSpPr>
            <a:spLocks noGrp="1"/>
          </p:cNvSpPr>
          <p:nvPr>
            <p:ph type="title"/>
          </p:nvPr>
        </p:nvSpPr>
        <p:spPr/>
        <p:txBody>
          <a:bodyPr>
            <a:normAutofit/>
          </a:bodyPr>
          <a:lstStyle/>
          <a:p>
            <a:pPr lvl="0">
              <a:spcAft>
                <a:spcPts val="400"/>
              </a:spcAft>
              <a:buClr>
                <a:srgbClr val="000000"/>
              </a:buClr>
              <a:buSzPts val="1200"/>
              <a:defRPr/>
            </a:pPr>
            <a:r>
              <a:rPr lang="en" altLang="zh-CN" dirty="0" err="1">
                <a:sym typeface="IBM Plex Sans Light"/>
              </a:rPr>
              <a:t>llm</a:t>
            </a:r>
            <a:r>
              <a:rPr lang="en" altLang="zh-CN" dirty="0">
                <a:sym typeface="IBM Plex Sans Light"/>
              </a:rPr>
              <a:t>-d composes </a:t>
            </a:r>
            <a:r>
              <a:rPr lang="en" altLang="zh-CN" dirty="0" err="1">
                <a:sym typeface="IBM Plex Sans Light"/>
              </a:rPr>
              <a:t>vLLM</a:t>
            </a:r>
            <a:r>
              <a:rPr lang="en" altLang="zh-CN" dirty="0">
                <a:sym typeface="IBM Plex Sans Light"/>
              </a:rPr>
              <a:t> and Gateway to enable P/D disaggregation</a:t>
            </a:r>
          </a:p>
        </p:txBody>
      </p:sp>
      <p:sp>
        <p:nvSpPr>
          <p:cNvPr id="6" name="Google Shape;2152;p211">
            <a:extLst>
              <a:ext uri="{FF2B5EF4-FFF2-40B4-BE49-F238E27FC236}">
                <a16:creationId xmlns:a16="http://schemas.microsoft.com/office/drawing/2014/main" id="{736427AE-F789-8536-54B5-4299CA26D850}"/>
              </a:ext>
            </a:extLst>
          </p:cNvPr>
          <p:cNvSpPr txBox="1"/>
          <p:nvPr/>
        </p:nvSpPr>
        <p:spPr>
          <a:xfrm>
            <a:off x="254679" y="1186569"/>
            <a:ext cx="4147200" cy="1469603"/>
          </a:xfrm>
          <a:prstGeom prst="rect">
            <a:avLst/>
          </a:prstGeom>
          <a:noFill/>
          <a:ln>
            <a:noFill/>
          </a:ln>
        </p:spPr>
        <p:txBody>
          <a:bodyPr spcFirstLastPara="1" wrap="square" lIns="68575" tIns="34275" rIns="68575" bIns="34275" anchor="t" anchorCtr="0">
            <a:spAutoFit/>
          </a:bodyPr>
          <a:lstStyle/>
          <a:p>
            <a:pPr marL="254000" marR="0" lvl="0" indent="-260350" algn="l" defTabSz="914400" rtl="0" eaLnBrk="1" fontAlgn="auto" latinLnBrk="0" hangingPunct="1">
              <a:lnSpc>
                <a:spcPct val="100000"/>
              </a:lnSpc>
              <a:spcBef>
                <a:spcPts val="0"/>
              </a:spcBef>
              <a:spcAft>
                <a:spcPts val="0"/>
              </a:spcAft>
              <a:buClr>
                <a:srgbClr val="000000"/>
              </a:buClr>
              <a:buSzPts val="1100"/>
              <a:buFont typeface="IBM Plex Sans Light"/>
              <a:buChar char="▪"/>
              <a:tabLst/>
              <a:defRPr/>
            </a:pPr>
            <a:r>
              <a:rPr lang="en" sz="1100" dirty="0">
                <a:sym typeface="IBM Plex Sans Light"/>
              </a:rPr>
              <a:t>Separate requests for the prefill and decode stages</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a:sym typeface="IBM Plex Sans Light"/>
              </a:rPr>
              <a:t>Dynamically decided  </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a:sym typeface="IBM Plex Sans Light"/>
              </a:rPr>
              <a:t>Dedicated Prefill and Decode nodes</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a:sym typeface="IBM Plex Sans Light"/>
              </a:rPr>
              <a:t>Optimize resource allocation, utilization, and scheduling</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a:sym typeface="IBM Plex Sans Light"/>
              </a:rPr>
              <a:t>Easier to meet TTFT and ITL SLO requirements</a:t>
            </a:r>
            <a:endParaRPr sz="1100" dirty="0">
              <a:sym typeface="IBM Plex Sans Light"/>
            </a:endParaRPr>
          </a:p>
          <a:p>
            <a:pPr marL="0" marR="0" lvl="0" indent="101600" algn="l" defTabSz="914400" rtl="0" eaLnBrk="1" fontAlgn="auto" latinLnBrk="0" hangingPunct="1">
              <a:lnSpc>
                <a:spcPct val="100000"/>
              </a:lnSpc>
              <a:spcBef>
                <a:spcPts val="600"/>
              </a:spcBef>
              <a:spcAft>
                <a:spcPts val="0"/>
              </a:spcAft>
              <a:buClr>
                <a:srgbClr val="000000"/>
              </a:buClr>
              <a:buSzPts val="1600"/>
              <a:buFont typeface="Noto Sans Symbols"/>
              <a:buNone/>
              <a:tabLst/>
              <a:defRPr/>
            </a:pPr>
            <a:endParaRPr sz="1100" dirty="0">
              <a:sym typeface="IBM Plex Sans Light"/>
            </a:endParaRPr>
          </a:p>
        </p:txBody>
      </p:sp>
      <p:pic>
        <p:nvPicPr>
          <p:cNvPr id="9" name="Google Shape;2157;p211" descr="A diagram of a process&#10;&#10;AI-generated content may be incorrect.">
            <a:extLst>
              <a:ext uri="{FF2B5EF4-FFF2-40B4-BE49-F238E27FC236}">
                <a16:creationId xmlns:a16="http://schemas.microsoft.com/office/drawing/2014/main" id="{D52FC06C-E51F-33E2-75D2-E3FFC034350A}"/>
              </a:ext>
            </a:extLst>
          </p:cNvPr>
          <p:cNvPicPr preferRelativeResize="0"/>
          <p:nvPr/>
        </p:nvPicPr>
        <p:blipFill rotWithShape="1">
          <a:blip r:embed="rId3">
            <a:alphaModFix/>
          </a:blip>
          <a:srcRect/>
          <a:stretch/>
        </p:blipFill>
        <p:spPr>
          <a:xfrm>
            <a:off x="1896814" y="1305000"/>
            <a:ext cx="6837248" cy="3561842"/>
          </a:xfrm>
          <a:prstGeom prst="rect">
            <a:avLst/>
          </a:prstGeom>
          <a:noFill/>
          <a:ln>
            <a:noFill/>
          </a:ln>
        </p:spPr>
      </p:pic>
    </p:spTree>
    <p:extLst>
      <p:ext uri="{BB962C8B-B14F-4D97-AF65-F5344CB8AC3E}">
        <p14:creationId xmlns:p14="http://schemas.microsoft.com/office/powerpoint/2010/main" val="5926597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87"/>
        <p:cNvGrpSpPr/>
        <p:nvPr/>
      </p:nvGrpSpPr>
      <p:grpSpPr>
        <a:xfrm>
          <a:off x="0" y="0"/>
          <a:ext cx="0" cy="0"/>
          <a:chOff x="0" y="0"/>
          <a:chExt cx="0" cy="0"/>
        </a:xfrm>
      </p:grpSpPr>
      <p:sp>
        <p:nvSpPr>
          <p:cNvPr id="3488" name="Google Shape;3488;p355"/>
          <p:cNvSpPr/>
          <p:nvPr/>
        </p:nvSpPr>
        <p:spPr>
          <a:xfrm>
            <a:off x="1513181" y="2432535"/>
            <a:ext cx="1906800" cy="1349700"/>
          </a:xfrm>
          <a:prstGeom prst="rect">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89" name="Google Shape;3489;p355"/>
          <p:cNvSpPr/>
          <p:nvPr/>
        </p:nvSpPr>
        <p:spPr>
          <a:xfrm>
            <a:off x="5621934" y="2432535"/>
            <a:ext cx="1906800" cy="1349700"/>
          </a:xfrm>
          <a:prstGeom prst="rect">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2" name="标题 1">
            <a:extLst>
              <a:ext uri="{FF2B5EF4-FFF2-40B4-BE49-F238E27FC236}">
                <a16:creationId xmlns:a16="http://schemas.microsoft.com/office/drawing/2014/main" id="{8ACBD176-B708-7C24-28E2-9944F2AF9A51}"/>
              </a:ext>
            </a:extLst>
          </p:cNvPr>
          <p:cNvSpPr>
            <a:spLocks noGrp="1"/>
          </p:cNvSpPr>
          <p:nvPr>
            <p:ph type="title"/>
          </p:nvPr>
        </p:nvSpPr>
        <p:spPr/>
        <p:txBody>
          <a:bodyPr/>
          <a:lstStyle/>
          <a:p>
            <a:r>
              <a:rPr lang="en" altLang="zh-CN" dirty="0">
                <a:sym typeface="Red Hat Display SemiBold"/>
              </a:rPr>
              <a:t>Efficient KV Transfer in </a:t>
            </a:r>
            <a:r>
              <a:rPr lang="en" altLang="zh-CN" dirty="0" err="1">
                <a:sym typeface="Red Hat Display SemiBold"/>
              </a:rPr>
              <a:t>vLLM</a:t>
            </a:r>
            <a:r>
              <a:rPr lang="en" altLang="zh-CN" dirty="0">
                <a:sym typeface="Red Hat Display SemiBold"/>
              </a:rPr>
              <a:t> vis NIXL</a:t>
            </a:r>
            <a:endParaRPr lang="zh-CN" altLang="en-US" dirty="0"/>
          </a:p>
        </p:txBody>
      </p:sp>
      <p:sp>
        <p:nvSpPr>
          <p:cNvPr id="3490" name="Google Shape;3490;p355"/>
          <p:cNvSpPr txBox="1">
            <a:spLocks noGrp="1"/>
          </p:cNvSpPr>
          <p:nvPr>
            <p:ph type="sldNum" idx="12"/>
          </p:nvPr>
        </p:nvSpPr>
        <p:spPr>
          <a:prstGeom prst="rect">
            <a:avLst/>
          </a:prstGeom>
        </p:spPr>
        <p:txBody>
          <a:bodyPr spcFirstLastPara="1" wrap="square" lIns="0" tIns="0" rIns="0" bIns="0" anchor="b" anchorCtr="0">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600" b="0" i="0" u="none" strike="noStrike" kern="0" cap="none" spc="0" normalizeH="0" baseline="0" noProof="0">
                <a:ln>
                  <a:noFill/>
                </a:ln>
                <a:solidFill>
                  <a:srgbClr val="595959"/>
                </a:solidFill>
                <a:effectLst/>
                <a:uLnTx/>
                <a:uFillTx/>
                <a:latin typeface="Red Hat Text Medium"/>
                <a:ea typeface="Red Hat Text Medium"/>
                <a:cs typeface="Red Hat Text Medium"/>
                <a:sym typeface="Red Hat Text Medium"/>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sz="600" b="0" i="0" u="none" strike="noStrike" kern="0" cap="none" spc="0" normalizeH="0" baseline="0" noProof="0">
              <a:ln>
                <a:noFill/>
              </a:ln>
              <a:solidFill>
                <a:srgbClr val="595959"/>
              </a:solidFill>
              <a:effectLst/>
              <a:uLnTx/>
              <a:uFillTx/>
              <a:latin typeface="Red Hat Text Medium"/>
              <a:ea typeface="Red Hat Text Medium"/>
              <a:cs typeface="Red Hat Text Medium"/>
              <a:sym typeface="Red Hat Text Medium"/>
            </a:endParaRPr>
          </a:p>
        </p:txBody>
      </p:sp>
      <p:sp>
        <p:nvSpPr>
          <p:cNvPr id="3491" name="Google Shape;3491;p355"/>
          <p:cNvSpPr txBox="1"/>
          <p:nvPr/>
        </p:nvSpPr>
        <p:spPr>
          <a:xfrm>
            <a:off x="1901751" y="1998349"/>
            <a:ext cx="1129500" cy="219000"/>
          </a:xfrm>
          <a:prstGeom prst="rect">
            <a:avLst/>
          </a:prstGeom>
          <a:noFill/>
          <a:ln>
            <a:noFill/>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D Worker</a:t>
            </a:r>
            <a:endParaRPr kumimoji="0"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KV Cache</a:t>
            </a:r>
            <a:endParaRPr kumimoji="0"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2" name="Google Shape;3492;p355"/>
          <p:cNvSpPr txBox="1"/>
          <p:nvPr/>
        </p:nvSpPr>
        <p:spPr>
          <a:xfrm>
            <a:off x="663844" y="828075"/>
            <a:ext cx="7816500" cy="414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100" b="0" i="0" u="none" strike="noStrike" kern="0" cap="none" spc="0" normalizeH="0" baseline="0" noProof="0" dirty="0">
              <a:ln>
                <a:noFill/>
              </a:ln>
              <a:solidFill>
                <a:srgbClr val="151515"/>
              </a:solidFill>
              <a:effectLst/>
              <a:uLnTx/>
              <a:uFillTx/>
              <a:latin typeface="Red Hat Display SemiBold"/>
              <a:ea typeface="Red Hat Display SemiBold"/>
              <a:cs typeface="Red Hat Display SemiBold"/>
              <a:sym typeface="Red Hat Display SemiBold"/>
            </a:endParaRPr>
          </a:p>
        </p:txBody>
      </p:sp>
      <p:sp>
        <p:nvSpPr>
          <p:cNvPr id="3493" name="Google Shape;3493;p355"/>
          <p:cNvSpPr txBox="1"/>
          <p:nvPr/>
        </p:nvSpPr>
        <p:spPr>
          <a:xfrm>
            <a:off x="663844" y="1240163"/>
            <a:ext cx="7816500" cy="2190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40000"/>
              </a:lnSpc>
              <a:spcBef>
                <a:spcPts val="0"/>
              </a:spcBef>
              <a:spcAft>
                <a:spcPts val="400"/>
              </a:spcAft>
              <a:buClr>
                <a:srgbClr val="000000"/>
              </a:buClr>
              <a:buSzTx/>
              <a:buFont typeface="Arial"/>
              <a:buNone/>
              <a:tabLst/>
              <a:defRPr/>
            </a:pPr>
            <a:r>
              <a:rPr lang="en" dirty="0">
                <a:sym typeface="Red Hat Display"/>
              </a:rPr>
              <a:t>For high performance KV Transfer, </a:t>
            </a:r>
            <a:r>
              <a:rPr lang="en" dirty="0" err="1">
                <a:sym typeface="Red Hat Display"/>
              </a:rPr>
              <a:t>vLLM</a:t>
            </a:r>
            <a:r>
              <a:rPr lang="en" dirty="0">
                <a:sym typeface="Red Hat Display"/>
              </a:rPr>
              <a:t> uses GPU direct RDMA via our NIXL integration</a:t>
            </a:r>
          </a:p>
        </p:txBody>
      </p:sp>
      <p:sp>
        <p:nvSpPr>
          <p:cNvPr id="3494" name="Google Shape;3494;p355"/>
          <p:cNvSpPr txBox="1"/>
          <p:nvPr/>
        </p:nvSpPr>
        <p:spPr>
          <a:xfrm>
            <a:off x="6010509" y="1998349"/>
            <a:ext cx="1129500" cy="219000"/>
          </a:xfrm>
          <a:prstGeom prst="rect">
            <a:avLst/>
          </a:prstGeom>
          <a:noFill/>
          <a:ln>
            <a:noFill/>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P Worker KV Cache</a:t>
            </a:r>
            <a:endParaRPr kumimoji="0"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5" name="Google Shape;3495;p355"/>
          <p:cNvSpPr/>
          <p:nvPr/>
        </p:nvSpPr>
        <p:spPr>
          <a:xfrm>
            <a:off x="5714990" y="2585835"/>
            <a:ext cx="543300" cy="271500"/>
          </a:xfrm>
          <a:prstGeom prst="rect">
            <a:avLst/>
          </a:prstGeom>
          <a:solidFill>
            <a:srgbClr val="D9EAD3"/>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0</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6" name="Google Shape;3496;p355"/>
          <p:cNvSpPr/>
          <p:nvPr/>
        </p:nvSpPr>
        <p:spPr>
          <a:xfrm>
            <a:off x="6303572" y="2585835"/>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1</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7" name="Google Shape;3497;p355"/>
          <p:cNvSpPr/>
          <p:nvPr/>
        </p:nvSpPr>
        <p:spPr>
          <a:xfrm>
            <a:off x="6892153" y="2585835"/>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2</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8" name="Google Shape;3498;p355"/>
          <p:cNvSpPr/>
          <p:nvPr/>
        </p:nvSpPr>
        <p:spPr>
          <a:xfrm>
            <a:off x="5714990" y="297162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3</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499" name="Google Shape;3499;p355"/>
          <p:cNvSpPr/>
          <p:nvPr/>
        </p:nvSpPr>
        <p:spPr>
          <a:xfrm>
            <a:off x="6303572" y="297162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4</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0" name="Google Shape;3500;p355"/>
          <p:cNvSpPr/>
          <p:nvPr/>
        </p:nvSpPr>
        <p:spPr>
          <a:xfrm>
            <a:off x="6892153" y="2971626"/>
            <a:ext cx="543300" cy="271500"/>
          </a:xfrm>
          <a:prstGeom prst="rect">
            <a:avLst/>
          </a:prstGeom>
          <a:solidFill>
            <a:srgbClr val="D9EAD3"/>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5</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1" name="Google Shape;3501;p355"/>
          <p:cNvSpPr/>
          <p:nvPr/>
        </p:nvSpPr>
        <p:spPr>
          <a:xfrm>
            <a:off x="5714990" y="335741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6</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2" name="Google Shape;3502;p355"/>
          <p:cNvSpPr/>
          <p:nvPr/>
        </p:nvSpPr>
        <p:spPr>
          <a:xfrm>
            <a:off x="6303572" y="335741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7</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3" name="Google Shape;3503;p355"/>
          <p:cNvSpPr/>
          <p:nvPr/>
        </p:nvSpPr>
        <p:spPr>
          <a:xfrm>
            <a:off x="6892153" y="335741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8</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4" name="Google Shape;3504;p355"/>
          <p:cNvSpPr/>
          <p:nvPr/>
        </p:nvSpPr>
        <p:spPr>
          <a:xfrm>
            <a:off x="1606238" y="2585844"/>
            <a:ext cx="543300" cy="271500"/>
          </a:xfrm>
          <a:prstGeom prst="rect">
            <a:avLst/>
          </a:prstGeom>
          <a:solidFill>
            <a:schemeClr val="accent5"/>
          </a:solidFill>
          <a:ln w="7150" cap="flat" cmpd="sng">
            <a:solidFill>
              <a:schemeClr val="accent6"/>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0</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5" name="Google Shape;3505;p355"/>
          <p:cNvSpPr/>
          <p:nvPr/>
        </p:nvSpPr>
        <p:spPr>
          <a:xfrm>
            <a:off x="2194819" y="2585844"/>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1</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6" name="Google Shape;3506;p355"/>
          <p:cNvSpPr/>
          <p:nvPr/>
        </p:nvSpPr>
        <p:spPr>
          <a:xfrm>
            <a:off x="2783400" y="2585844"/>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2</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7" name="Google Shape;3507;p355"/>
          <p:cNvSpPr/>
          <p:nvPr/>
        </p:nvSpPr>
        <p:spPr>
          <a:xfrm>
            <a:off x="1606238" y="2971635"/>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3</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8" name="Google Shape;3508;p355"/>
          <p:cNvSpPr/>
          <p:nvPr/>
        </p:nvSpPr>
        <p:spPr>
          <a:xfrm>
            <a:off x="2194819" y="2971635"/>
            <a:ext cx="543300" cy="271500"/>
          </a:xfrm>
          <a:prstGeom prst="rect">
            <a:avLst/>
          </a:prstGeom>
          <a:solidFill>
            <a:srgbClr val="D9EAD3"/>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4</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09" name="Google Shape;3509;p355"/>
          <p:cNvSpPr/>
          <p:nvPr/>
        </p:nvSpPr>
        <p:spPr>
          <a:xfrm>
            <a:off x="2783400" y="2971635"/>
            <a:ext cx="543300" cy="271500"/>
          </a:xfrm>
          <a:prstGeom prst="rect">
            <a:avLst/>
          </a:prstGeom>
          <a:solidFill>
            <a:schemeClr val="accent5"/>
          </a:solidFill>
          <a:ln w="7150" cap="flat" cmpd="sng">
            <a:solidFill>
              <a:schemeClr val="accent6"/>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5</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0" name="Google Shape;3510;p355"/>
          <p:cNvSpPr/>
          <p:nvPr/>
        </p:nvSpPr>
        <p:spPr>
          <a:xfrm>
            <a:off x="1606238" y="3357426"/>
            <a:ext cx="543300" cy="271500"/>
          </a:xfrm>
          <a:prstGeom prst="rect">
            <a:avLst/>
          </a:prstGeom>
          <a:solidFill>
            <a:srgbClr val="D9EAD3"/>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6</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1" name="Google Shape;3511;p355"/>
          <p:cNvSpPr/>
          <p:nvPr/>
        </p:nvSpPr>
        <p:spPr>
          <a:xfrm>
            <a:off x="2194819" y="335742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7</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2" name="Google Shape;3512;p355"/>
          <p:cNvSpPr/>
          <p:nvPr/>
        </p:nvSpPr>
        <p:spPr>
          <a:xfrm>
            <a:off x="2783400" y="3357426"/>
            <a:ext cx="543300" cy="271500"/>
          </a:xfrm>
          <a:prstGeom prst="rect">
            <a:avLst/>
          </a:prstGeom>
          <a:solidFill>
            <a:schemeClr val="accent5"/>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8</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3" name="Google Shape;3513;p355"/>
          <p:cNvSpPr/>
          <p:nvPr/>
        </p:nvSpPr>
        <p:spPr>
          <a:xfrm>
            <a:off x="3691031" y="2749821"/>
            <a:ext cx="1659600" cy="219000"/>
          </a:xfrm>
          <a:prstGeom prst="rect">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NIXL</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4" name="Google Shape;3514;p355"/>
          <p:cNvSpPr/>
          <p:nvPr/>
        </p:nvSpPr>
        <p:spPr>
          <a:xfrm>
            <a:off x="3691125" y="3037221"/>
            <a:ext cx="1659600" cy="219000"/>
          </a:xfrm>
          <a:prstGeom prst="rect">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UCX</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5" name="Google Shape;3515;p355"/>
          <p:cNvSpPr/>
          <p:nvPr/>
        </p:nvSpPr>
        <p:spPr>
          <a:xfrm>
            <a:off x="3691078" y="3324621"/>
            <a:ext cx="1659600" cy="219000"/>
          </a:xfrm>
          <a:prstGeom prst="rect">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IB / RoCE / TCP</a:t>
            </a:r>
            <a:endParaRPr kumimoji="0" sz="1100" b="0"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cxnSp>
        <p:nvCxnSpPr>
          <p:cNvPr id="3516" name="Google Shape;3516;p355"/>
          <p:cNvCxnSpPr/>
          <p:nvPr/>
        </p:nvCxnSpPr>
        <p:spPr>
          <a:xfrm rot="10800000">
            <a:off x="3489666" y="2585858"/>
            <a:ext cx="2062500" cy="0"/>
          </a:xfrm>
          <a:prstGeom prst="straightConnector1">
            <a:avLst/>
          </a:prstGeom>
          <a:noFill/>
          <a:ln w="7150" cap="flat" cmpd="sng">
            <a:solidFill>
              <a:schemeClr val="dk2"/>
            </a:solidFill>
            <a:prstDash val="solid"/>
            <a:round/>
            <a:headEnd type="none" w="med" len="med"/>
            <a:tailEnd type="triangle" w="med" len="med"/>
          </a:ln>
        </p:spPr>
      </p:cxnSp>
      <p:sp>
        <p:nvSpPr>
          <p:cNvPr id="3517" name="Google Shape;3517;p355"/>
          <p:cNvSpPr txBox="1"/>
          <p:nvPr/>
        </p:nvSpPr>
        <p:spPr>
          <a:xfrm>
            <a:off x="2283056" y="4094872"/>
            <a:ext cx="4578000" cy="414900"/>
          </a:xfrm>
          <a:prstGeom prst="rect">
            <a:avLst/>
          </a:prstGeom>
          <a:noFill/>
          <a:ln>
            <a:noFill/>
          </a:ln>
        </p:spPr>
        <p:txBody>
          <a:bodyPr spcFirstLastPara="1" wrap="square" lIns="68575" tIns="68575" rIns="68575" bIns="6857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rPr>
              <a:t>Zero Copy, GPU Direct, Zero Memory Overhead</a:t>
            </a:r>
            <a:endParaRPr kumimoji="0" sz="1400" b="1" i="0"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
        <p:nvSpPr>
          <p:cNvPr id="3518" name="Google Shape;3518;p355"/>
          <p:cNvSpPr txBox="1"/>
          <p:nvPr/>
        </p:nvSpPr>
        <p:spPr>
          <a:xfrm>
            <a:off x="3640481" y="2314278"/>
            <a:ext cx="1863300" cy="271500"/>
          </a:xfrm>
          <a:prstGeom prst="rect">
            <a:avLst/>
          </a:prstGeom>
          <a:noFill/>
          <a:ln>
            <a:noFill/>
          </a:ln>
        </p:spPr>
        <p:txBody>
          <a:bodyPr spcFirstLastPara="1" wrap="square" lIns="68575" tIns="68575" rIns="68575" bIns="6857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100" b="0" i="1" u="none" strike="noStrike" kern="0" cap="none" spc="0" normalizeH="0" baseline="0" noProof="0">
                <a:ln>
                  <a:noFill/>
                </a:ln>
                <a:solidFill>
                  <a:srgbClr val="000000"/>
                </a:solidFill>
                <a:effectLst/>
                <a:uLnTx/>
                <a:uFillTx/>
                <a:latin typeface="Red Hat Display"/>
                <a:ea typeface="Red Hat Display"/>
                <a:cs typeface="Red Hat Display"/>
                <a:sym typeface="Red Hat Display"/>
              </a:rPr>
              <a:t>“RDMA [0,5] to [4,6]”</a:t>
            </a:r>
            <a:endParaRPr kumimoji="0" sz="800" b="0" i="1" u="none" strike="noStrike" kern="0" cap="none" spc="0" normalizeH="0" baseline="0" noProof="0">
              <a:ln>
                <a:noFill/>
              </a:ln>
              <a:solidFill>
                <a:srgbClr val="000000"/>
              </a:solidFill>
              <a:effectLst/>
              <a:uLnTx/>
              <a:uFillTx/>
              <a:latin typeface="Red Hat Display"/>
              <a:ea typeface="Red Hat Display"/>
              <a:cs typeface="Red Hat Display"/>
              <a:sym typeface="Red Hat Display"/>
            </a:endParaRPr>
          </a:p>
        </p:txBody>
      </p:sp>
    </p:spTree>
    <p:extLst>
      <p:ext uri="{BB962C8B-B14F-4D97-AF65-F5344CB8AC3E}">
        <p14:creationId xmlns:p14="http://schemas.microsoft.com/office/powerpoint/2010/main" val="3287930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54"/>
        <p:cNvGrpSpPr/>
        <p:nvPr/>
      </p:nvGrpSpPr>
      <p:grpSpPr>
        <a:xfrm>
          <a:off x="0" y="0"/>
          <a:ext cx="0" cy="0"/>
          <a:chOff x="0" y="0"/>
          <a:chExt cx="0" cy="0"/>
        </a:xfrm>
      </p:grpSpPr>
      <p:sp>
        <p:nvSpPr>
          <p:cNvPr id="3555" name="Google Shape;3555;p359"/>
          <p:cNvSpPr txBox="1">
            <a:spLocks noGrp="1"/>
          </p:cNvSpPr>
          <p:nvPr>
            <p:ph type="title"/>
          </p:nvPr>
        </p:nvSpPr>
        <p:spPr>
          <a:xfrm>
            <a:off x="260900" y="165030"/>
            <a:ext cx="6949739" cy="1047900"/>
          </a:xfrm>
          <a:prstGeom prst="rect">
            <a:avLst/>
          </a:prstGeom>
        </p:spPr>
        <p:txBody>
          <a:bodyPr spcFirstLastPara="1" wrap="square" lIns="0" tIns="0" rIns="0" bIns="0" anchor="t" anchorCtr="0">
            <a:noAutofit/>
          </a:bodyPr>
          <a:lstStyle/>
          <a:p>
            <a:pPr marL="0" lvl="0" indent="0" rtl="0">
              <a:spcBef>
                <a:spcPts val="0"/>
              </a:spcBef>
              <a:spcAft>
                <a:spcPts val="0"/>
              </a:spcAft>
              <a:buNone/>
            </a:pPr>
            <a:r>
              <a:rPr lang="en" dirty="0"/>
              <a:t>Aggregated vs Disaggregated Pareto Frontier</a:t>
            </a:r>
            <a:endParaRPr dirty="0"/>
          </a:p>
        </p:txBody>
      </p:sp>
      <p:pic>
        <p:nvPicPr>
          <p:cNvPr id="3557" name="Google Shape;3557;p359"/>
          <p:cNvPicPr preferRelativeResize="0"/>
          <p:nvPr/>
        </p:nvPicPr>
        <p:blipFill>
          <a:blip r:embed="rId3">
            <a:alphaModFix/>
          </a:blip>
          <a:stretch>
            <a:fillRect/>
          </a:stretch>
        </p:blipFill>
        <p:spPr>
          <a:xfrm>
            <a:off x="511400" y="1500175"/>
            <a:ext cx="3908199" cy="2605472"/>
          </a:xfrm>
          <a:prstGeom prst="rect">
            <a:avLst/>
          </a:prstGeom>
          <a:noFill/>
          <a:ln>
            <a:noFill/>
          </a:ln>
        </p:spPr>
      </p:pic>
      <p:sp>
        <p:nvSpPr>
          <p:cNvPr id="3558" name="Google Shape;3558;p359"/>
          <p:cNvSpPr txBox="1"/>
          <p:nvPr/>
        </p:nvSpPr>
        <p:spPr>
          <a:xfrm>
            <a:off x="5044039" y="1500175"/>
            <a:ext cx="4333200" cy="1961482"/>
          </a:xfrm>
          <a:prstGeom prst="rect">
            <a:avLst/>
          </a:prstGeom>
          <a:noFill/>
          <a:ln>
            <a:noFill/>
          </a:ln>
        </p:spPr>
        <p:txBody>
          <a:bodyPr spcFirstLastPara="1" wrap="square" lIns="91425" tIns="91425" rIns="91425" bIns="91425" anchor="t" anchorCtr="0">
            <a:noAutofit/>
          </a:bodyPr>
          <a:lstStyle/>
          <a:p>
            <a:r>
              <a:rPr lang="zh-CN" altLang="zh-CN" dirty="0"/>
              <a:t>Prefill Pool</a:t>
            </a:r>
          </a:p>
          <a:p>
            <a:pPr marL="285750" lvl="1" indent="-285750">
              <a:buFont typeface="Arial" panose="020B0604020202020204" pitchFamily="34" charset="0"/>
              <a:buChar char="•"/>
            </a:pPr>
            <a:r>
              <a:rPr lang="zh-CN" altLang="zh-CN" dirty="0"/>
              <a:t>Scale to meet the TTFT target</a:t>
            </a:r>
          </a:p>
          <a:p>
            <a:pPr marL="285750" indent="-285750">
              <a:buFont typeface="Arial" panose="020B0604020202020204" pitchFamily="34" charset="0"/>
              <a:buChar char="•"/>
            </a:pPr>
            <a:endParaRPr lang="zh-CN" altLang="zh-CN" dirty="0"/>
          </a:p>
          <a:p>
            <a:r>
              <a:rPr lang="zh-CN" altLang="zh-CN" dirty="0"/>
              <a:t>Decode Pool</a:t>
            </a:r>
          </a:p>
          <a:p>
            <a:pPr marL="285750" indent="-285750">
              <a:buFont typeface="Arial" panose="020B0604020202020204" pitchFamily="34" charset="0"/>
              <a:buChar char="•"/>
            </a:pPr>
            <a:r>
              <a:rPr lang="zh-CN" altLang="zh-CN" dirty="0"/>
              <a:t>Scale to meet the TPOT target</a:t>
            </a:r>
          </a:p>
          <a:p>
            <a:pPr marL="285750" indent="-285750">
              <a:buFont typeface="Arial" panose="020B0604020202020204" pitchFamily="34" charset="0"/>
              <a:buChar char="•"/>
            </a:pPr>
            <a:endParaRPr lang="zh-CN" altLang="zh-CN" dirty="0"/>
          </a:p>
          <a:p>
            <a:r>
              <a:rPr lang="zh-CN" altLang="zh-CN" dirty="0"/>
              <a:t>Result</a:t>
            </a:r>
          </a:p>
          <a:p>
            <a:pPr marL="285750" indent="-285750">
              <a:buFont typeface="Arial" panose="020B0604020202020204" pitchFamily="34" charset="0"/>
              <a:buChar char="•"/>
            </a:pPr>
            <a:r>
              <a:rPr lang="zh-CN" altLang="zh-CN" dirty="0"/>
              <a:t>Better GPU efficiency under latency SLOs</a:t>
            </a:r>
          </a:p>
          <a:p>
            <a:pPr marL="457200" lvl="0" indent="-311150" algn="l" rtl="0">
              <a:spcBef>
                <a:spcPts val="0"/>
              </a:spcBef>
              <a:spcAft>
                <a:spcPts val="0"/>
              </a:spcAft>
              <a:buClr>
                <a:schemeClr val="dk2"/>
              </a:buClr>
              <a:buSzPts val="1300"/>
              <a:buFont typeface="Red Hat Display"/>
              <a:buChar char="●"/>
            </a:pPr>
            <a:endParaRPr sz="1300" dirty="0">
              <a:solidFill>
                <a:schemeClr val="dk2"/>
              </a:solidFill>
              <a:latin typeface="Red Hat Display"/>
              <a:ea typeface="Red Hat Display"/>
              <a:cs typeface="Red Hat Display"/>
              <a:sym typeface="Red Hat Display"/>
            </a:endParaRPr>
          </a:p>
        </p:txBody>
      </p:sp>
      <p:sp>
        <p:nvSpPr>
          <p:cNvPr id="4" name="文本框 3">
            <a:extLst>
              <a:ext uri="{FF2B5EF4-FFF2-40B4-BE49-F238E27FC236}">
                <a16:creationId xmlns:a16="http://schemas.microsoft.com/office/drawing/2014/main" id="{E7A93280-60BD-8284-8A4E-44D3ABEC366F}"/>
              </a:ext>
            </a:extLst>
          </p:cNvPr>
          <p:cNvSpPr txBox="1"/>
          <p:nvPr/>
        </p:nvSpPr>
        <p:spPr>
          <a:xfrm>
            <a:off x="187841" y="617908"/>
            <a:ext cx="5808921" cy="307777"/>
          </a:xfrm>
          <a:prstGeom prst="rect">
            <a:avLst/>
          </a:prstGeom>
          <a:noFill/>
        </p:spPr>
        <p:txBody>
          <a:bodyPr wrap="square">
            <a:spAutoFit/>
          </a:bodyPr>
          <a:lstStyle/>
          <a:p>
            <a:r>
              <a:rPr lang="zh-CN" altLang="zh-CN" dirty="0">
                <a:solidFill>
                  <a:schemeClr val="bg1"/>
                </a:solidFill>
              </a:rPr>
              <a:t>Balance TTFT, TPOT, and GPU Efficiency</a:t>
            </a:r>
          </a:p>
        </p:txBody>
      </p:sp>
      <p:sp>
        <p:nvSpPr>
          <p:cNvPr id="3" name="文本框 2">
            <a:extLst>
              <a:ext uri="{FF2B5EF4-FFF2-40B4-BE49-F238E27FC236}">
                <a16:creationId xmlns:a16="http://schemas.microsoft.com/office/drawing/2014/main" id="{29A3DF18-ECBA-5811-ABB5-AC210E7F9E83}"/>
              </a:ext>
            </a:extLst>
          </p:cNvPr>
          <p:cNvSpPr txBox="1"/>
          <p:nvPr/>
        </p:nvSpPr>
        <p:spPr>
          <a:xfrm>
            <a:off x="580571" y="4455250"/>
            <a:ext cx="7924799" cy="307777"/>
          </a:xfrm>
          <a:prstGeom prst="rect">
            <a:avLst/>
          </a:prstGeom>
          <a:noFill/>
        </p:spPr>
        <p:txBody>
          <a:bodyPr wrap="square">
            <a:spAutoFit/>
          </a:bodyPr>
          <a:lstStyle/>
          <a:p>
            <a:pPr>
              <a:buNone/>
            </a:pPr>
            <a:r>
              <a:rPr lang="zh-CN" altLang="zh-CN" dirty="0"/>
              <a:t>Choose the serving topology based on TTFT and TPOT targets—not throughput alone.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62"/>
        <p:cNvGrpSpPr/>
        <p:nvPr/>
      </p:nvGrpSpPr>
      <p:grpSpPr>
        <a:xfrm>
          <a:off x="0" y="0"/>
          <a:ext cx="0" cy="0"/>
          <a:chOff x="0" y="0"/>
          <a:chExt cx="0" cy="0"/>
        </a:xfrm>
      </p:grpSpPr>
      <p:sp>
        <p:nvSpPr>
          <p:cNvPr id="6" name="标题 5">
            <a:extLst>
              <a:ext uri="{FF2B5EF4-FFF2-40B4-BE49-F238E27FC236}">
                <a16:creationId xmlns:a16="http://schemas.microsoft.com/office/drawing/2014/main" id="{553DD053-A930-30CF-3BFF-C464F39998ED}"/>
              </a:ext>
            </a:extLst>
          </p:cNvPr>
          <p:cNvSpPr>
            <a:spLocks noGrp="1"/>
          </p:cNvSpPr>
          <p:nvPr>
            <p:ph type="title"/>
          </p:nvPr>
        </p:nvSpPr>
        <p:spPr>
          <a:xfrm>
            <a:off x="311700" y="-90090"/>
            <a:ext cx="6949739" cy="1047900"/>
          </a:xfrm>
        </p:spPr>
        <p:txBody>
          <a:bodyPr/>
          <a:lstStyle/>
          <a:p>
            <a:r>
              <a:rPr lang="en-US" altLang="zh-CN" dirty="0"/>
              <a:t>P/D</a:t>
            </a:r>
            <a:r>
              <a:rPr lang="zh-CN" altLang="en-US" dirty="0"/>
              <a:t> </a:t>
            </a:r>
            <a:r>
              <a:rPr lang="en" altLang="zh-CN" dirty="0">
                <a:sym typeface="IBM Plex Sans Light"/>
              </a:rPr>
              <a:t>disaggregation </a:t>
            </a:r>
            <a:r>
              <a:rPr lang="en-US" altLang="zh-CN" dirty="0"/>
              <a:t>Benchmark</a:t>
            </a:r>
            <a:endParaRPr lang="zh-CN" altLang="en-US" dirty="0"/>
          </a:p>
        </p:txBody>
      </p:sp>
      <p:grpSp>
        <p:nvGrpSpPr>
          <p:cNvPr id="8" name="组合 7">
            <a:extLst>
              <a:ext uri="{FF2B5EF4-FFF2-40B4-BE49-F238E27FC236}">
                <a16:creationId xmlns:a16="http://schemas.microsoft.com/office/drawing/2014/main" id="{0A4E87AA-ACEF-CFBD-5449-6370FC5AF864}"/>
              </a:ext>
            </a:extLst>
          </p:cNvPr>
          <p:cNvGrpSpPr/>
          <p:nvPr/>
        </p:nvGrpSpPr>
        <p:grpSpPr>
          <a:xfrm>
            <a:off x="311700" y="1125690"/>
            <a:ext cx="6392946" cy="3542153"/>
            <a:chOff x="1567294" y="854584"/>
            <a:chExt cx="4821209" cy="2692986"/>
          </a:xfrm>
        </p:grpSpPr>
        <p:pic>
          <p:nvPicPr>
            <p:cNvPr id="2" name="图片 1" descr="图像">
              <a:extLst>
                <a:ext uri="{FF2B5EF4-FFF2-40B4-BE49-F238E27FC236}">
                  <a16:creationId xmlns:a16="http://schemas.microsoft.com/office/drawing/2014/main" id="{FC60C460-1C3E-D9FE-30FC-E349128161A0}"/>
                </a:ext>
              </a:extLst>
            </p:cNvPr>
            <p:cNvPicPr>
              <a:picLocks noChangeAspect="1"/>
            </p:cNvPicPr>
            <p:nvPr/>
          </p:nvPicPr>
          <p:blipFill>
            <a:blip r:embed="rId3"/>
            <a:srcRect l="15459" r="15525" b="3625"/>
            <a:stretch>
              <a:fillRect/>
            </a:stretch>
          </p:blipFill>
          <p:spPr>
            <a:xfrm>
              <a:off x="1567294" y="854584"/>
              <a:ext cx="4821209" cy="2692986"/>
            </a:xfrm>
            <a:prstGeom prst="rect">
              <a:avLst/>
            </a:prstGeom>
          </p:spPr>
        </p:pic>
        <p:cxnSp>
          <p:nvCxnSpPr>
            <p:cNvPr id="3" name="直线连接符 2">
              <a:extLst>
                <a:ext uri="{FF2B5EF4-FFF2-40B4-BE49-F238E27FC236}">
                  <a16:creationId xmlns:a16="http://schemas.microsoft.com/office/drawing/2014/main" id="{ED9AE674-7DB8-26DA-0F52-E97A7CA7B230}"/>
                </a:ext>
              </a:extLst>
            </p:cNvPr>
            <p:cNvCxnSpPr/>
            <p:nvPr/>
          </p:nvCxnSpPr>
          <p:spPr>
            <a:xfrm>
              <a:off x="2486598" y="1097123"/>
              <a:ext cx="0" cy="2330767"/>
            </a:xfrm>
            <a:prstGeom prst="line">
              <a:avLst/>
            </a:prstGeom>
          </p:spPr>
          <p:style>
            <a:lnRef idx="1">
              <a:schemeClr val="accent6"/>
            </a:lnRef>
            <a:fillRef idx="0">
              <a:schemeClr val="accent6"/>
            </a:fillRef>
            <a:effectRef idx="0">
              <a:schemeClr val="accent6"/>
            </a:effectRef>
            <a:fontRef idx="minor">
              <a:schemeClr val="tx1"/>
            </a:fontRef>
          </p:style>
        </p:cxnSp>
        <p:sp>
          <p:nvSpPr>
            <p:cNvPr id="4" name="文本框 3">
              <a:extLst>
                <a:ext uri="{FF2B5EF4-FFF2-40B4-BE49-F238E27FC236}">
                  <a16:creationId xmlns:a16="http://schemas.microsoft.com/office/drawing/2014/main" id="{808C0D1B-7FA1-89A3-A52C-5B742B05B3BD}"/>
                </a:ext>
              </a:extLst>
            </p:cNvPr>
            <p:cNvSpPr txBox="1"/>
            <p:nvPr/>
          </p:nvSpPr>
          <p:spPr>
            <a:xfrm>
              <a:off x="2508653" y="1580995"/>
              <a:ext cx="1326402" cy="350989"/>
            </a:xfrm>
            <a:prstGeom prst="rect">
              <a:avLst/>
            </a:prstGeom>
            <a:noFill/>
          </p:spPr>
          <p:txBody>
            <a:bodyPr wrap="none" rtlCol="0">
              <a:spAutoFit/>
            </a:bodyPr>
            <a:lstStyle/>
            <a:p>
              <a:r>
                <a:rPr kumimoji="1" lang="en-US" altLang="zh-CN" sz="2400" dirty="0">
                  <a:solidFill>
                    <a:schemeClr val="bg1"/>
                  </a:solidFill>
                </a:rPr>
                <a:t>2x</a:t>
              </a:r>
              <a:r>
                <a:rPr kumimoji="1" lang="zh-CN" altLang="en-US" sz="2400" dirty="0">
                  <a:solidFill>
                    <a:schemeClr val="bg1"/>
                  </a:solidFill>
                </a:rPr>
                <a:t> </a:t>
              </a:r>
              <a:r>
                <a:rPr kumimoji="1" lang="en-US" altLang="zh-CN" sz="1600" dirty="0">
                  <a:solidFill>
                    <a:schemeClr val="bg1"/>
                  </a:solidFill>
                </a:rPr>
                <a:t>token/s/GPU</a:t>
              </a:r>
              <a:endParaRPr kumimoji="1" lang="zh-CN" altLang="en-US" sz="1600" dirty="0">
                <a:solidFill>
                  <a:schemeClr val="bg1"/>
                </a:solidFill>
              </a:endParaRPr>
            </a:p>
          </p:txBody>
        </p:sp>
      </p:grpSp>
      <p:sp>
        <p:nvSpPr>
          <p:cNvPr id="5" name="文本框 4">
            <a:extLst>
              <a:ext uri="{FF2B5EF4-FFF2-40B4-BE49-F238E27FC236}">
                <a16:creationId xmlns:a16="http://schemas.microsoft.com/office/drawing/2014/main" id="{21746335-6650-6DC9-DB88-EE204FD73807}"/>
              </a:ext>
            </a:extLst>
          </p:cNvPr>
          <p:cNvSpPr txBox="1"/>
          <p:nvPr/>
        </p:nvSpPr>
        <p:spPr>
          <a:xfrm>
            <a:off x="434269" y="4835723"/>
            <a:ext cx="7249525" cy="307777"/>
          </a:xfrm>
          <a:prstGeom prst="rect">
            <a:avLst/>
          </a:prstGeom>
          <a:noFill/>
        </p:spPr>
        <p:txBody>
          <a:bodyPr wrap="square">
            <a:spAutoFit/>
          </a:bodyPr>
          <a:lstStyle/>
          <a:p>
            <a:r>
              <a:rPr lang="en-US" altLang="zh-CN" dirty="0"/>
              <a:t>More</a:t>
            </a:r>
            <a:r>
              <a:rPr lang="zh-CN" altLang="en-US" dirty="0"/>
              <a:t> </a:t>
            </a:r>
            <a:r>
              <a:rPr lang="en-US" altLang="zh-CN" dirty="0"/>
              <a:t>benchmark</a:t>
            </a:r>
            <a:r>
              <a:rPr lang="zh-CN" altLang="en-US" dirty="0"/>
              <a:t> </a:t>
            </a:r>
            <a:r>
              <a:rPr lang="en-US" altLang="zh-CN" dirty="0"/>
              <a:t>data:</a:t>
            </a:r>
            <a:r>
              <a:rPr lang="zh-CN" altLang="en-US" dirty="0"/>
              <a:t> </a:t>
            </a:r>
            <a:r>
              <a:rPr lang="zh-CN" altLang="en-US" dirty="0">
                <a:hlinkClick r:id="rId4"/>
              </a:rPr>
              <a:t>https://inferencex.semianalysis.com/</a:t>
            </a:r>
            <a:endParaRPr lang="zh-CN" altLang="en-US" dirty="0"/>
          </a:p>
        </p:txBody>
      </p:sp>
      <p:sp>
        <p:nvSpPr>
          <p:cNvPr id="10" name="文本框 9">
            <a:extLst>
              <a:ext uri="{FF2B5EF4-FFF2-40B4-BE49-F238E27FC236}">
                <a16:creationId xmlns:a16="http://schemas.microsoft.com/office/drawing/2014/main" id="{3DDFB41F-8F24-D742-3DF2-D60BCD3A0A65}"/>
              </a:ext>
            </a:extLst>
          </p:cNvPr>
          <p:cNvSpPr txBox="1"/>
          <p:nvPr/>
        </p:nvSpPr>
        <p:spPr>
          <a:xfrm>
            <a:off x="6704646" y="2311990"/>
            <a:ext cx="4572000" cy="1169551"/>
          </a:xfrm>
          <a:prstGeom prst="rect">
            <a:avLst/>
          </a:prstGeom>
          <a:noFill/>
        </p:spPr>
        <p:txBody>
          <a:bodyPr wrap="square">
            <a:spAutoFit/>
          </a:bodyPr>
          <a:lstStyle/>
          <a:p>
            <a:pPr lvl="0"/>
            <a:r>
              <a:rPr lang="zh-CN" altLang="zh-CN" b="1" dirty="0"/>
              <a:t>llm-d on GB200 NVL72:</a:t>
            </a:r>
            <a:r>
              <a:rPr lang="zh-CN" altLang="zh-CN" dirty="0"/>
              <a:t> </a:t>
            </a:r>
            <a:endParaRPr lang="en-US" altLang="zh-CN" dirty="0"/>
          </a:p>
          <a:p>
            <a:pPr lvl="0"/>
            <a:r>
              <a:rPr lang="zh-CN" altLang="zh-CN" dirty="0"/>
              <a:t>~7,500 output tokens/s/GPU</a:t>
            </a:r>
            <a:endParaRPr lang="en-US" altLang="zh-CN" dirty="0"/>
          </a:p>
          <a:p>
            <a:pPr lvl="0"/>
            <a:endParaRPr lang="zh-CN" altLang="zh-CN" dirty="0"/>
          </a:p>
          <a:p>
            <a:pPr lvl="0"/>
            <a:r>
              <a:rPr lang="zh-CN" altLang="zh-CN" b="1" dirty="0"/>
              <a:t>Standard vLLM on B</a:t>
            </a:r>
            <a:r>
              <a:rPr lang="en-US" altLang="zh-CN" b="1" dirty="0"/>
              <a:t>3</a:t>
            </a:r>
            <a:r>
              <a:rPr lang="zh-CN" altLang="zh-CN" b="1" dirty="0"/>
              <a:t>00:</a:t>
            </a:r>
            <a:endParaRPr lang="en-US" altLang="zh-CN" b="1" dirty="0"/>
          </a:p>
          <a:p>
            <a:pPr lvl="0"/>
            <a:r>
              <a:rPr lang="zh-CN" altLang="zh-CN" dirty="0"/>
              <a:t> ~4,500 output tokens/s/GPU </a:t>
            </a:r>
          </a:p>
        </p:txBody>
      </p:sp>
      <p:sp>
        <p:nvSpPr>
          <p:cNvPr id="9" name="文本框 8">
            <a:extLst>
              <a:ext uri="{FF2B5EF4-FFF2-40B4-BE49-F238E27FC236}">
                <a16:creationId xmlns:a16="http://schemas.microsoft.com/office/drawing/2014/main" id="{AF06A4F8-63F4-7038-2FD6-53D42EB9EC60}"/>
              </a:ext>
            </a:extLst>
          </p:cNvPr>
          <p:cNvSpPr txBox="1"/>
          <p:nvPr/>
        </p:nvSpPr>
        <p:spPr>
          <a:xfrm>
            <a:off x="232229" y="744100"/>
            <a:ext cx="5617028" cy="271869"/>
          </a:xfrm>
          <a:prstGeom prst="rect">
            <a:avLst/>
          </a:prstGeom>
          <a:noFill/>
        </p:spPr>
        <p:txBody>
          <a:bodyPr wrap="square">
            <a:spAutoFit/>
          </a:bodyPr>
          <a:lstStyle/>
          <a:p>
            <a:pPr>
              <a:lnSpc>
                <a:spcPts val="1350"/>
              </a:lnSpc>
              <a:buNone/>
            </a:pPr>
            <a:r>
              <a:rPr lang="zh-CN" altLang="zh-CN" dirty="0">
                <a:solidFill>
                  <a:schemeClr val="bg1"/>
                </a:solidFill>
              </a:rPr>
              <a:t>DeepSeek V4 Pro 1.6T, FP4 · 8K input / 1K output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47D54-211F-3B0A-1346-D36558D122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9838E16-0A95-6B3F-90CF-5FD1B62D319E}"/>
              </a:ext>
            </a:extLst>
          </p:cNvPr>
          <p:cNvSpPr>
            <a:spLocks noGrp="1"/>
          </p:cNvSpPr>
          <p:nvPr>
            <p:ph type="title"/>
          </p:nvPr>
        </p:nvSpPr>
        <p:spPr/>
        <p:txBody>
          <a:bodyPr/>
          <a:lstStyle/>
          <a:p>
            <a:pPr lvl="0"/>
            <a:r>
              <a:rPr lang="zh-CN" altLang="zh-CN" dirty="0"/>
              <a:t>KAITO: Workload Lifecycle &amp; GPU Operations</a:t>
            </a:r>
          </a:p>
        </p:txBody>
      </p:sp>
    </p:spTree>
    <p:extLst>
      <p:ext uri="{BB962C8B-B14F-4D97-AF65-F5344CB8AC3E}">
        <p14:creationId xmlns:p14="http://schemas.microsoft.com/office/powerpoint/2010/main" val="302001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03ED3-9B6B-3BAB-0E83-FF6DAA5EE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52F12-066A-5C71-350D-F3B31BAA9F87}"/>
              </a:ext>
            </a:extLst>
          </p:cNvPr>
          <p:cNvSpPr>
            <a:spLocks noGrp="1"/>
          </p:cNvSpPr>
          <p:nvPr>
            <p:ph type="title"/>
          </p:nvPr>
        </p:nvSpPr>
        <p:spPr/>
        <p:txBody>
          <a:bodyPr>
            <a:normAutofit/>
          </a:bodyPr>
          <a:lstStyle/>
          <a:p>
            <a:r>
              <a:rPr lang="en-US" dirty="0"/>
              <a:t>What is KAITO?</a:t>
            </a:r>
          </a:p>
        </p:txBody>
      </p:sp>
      <p:pic>
        <p:nvPicPr>
          <p:cNvPr id="4" name="Picture 3" descr="KAITO architecture">
            <a:extLst>
              <a:ext uri="{FF2B5EF4-FFF2-40B4-BE49-F238E27FC236}">
                <a16:creationId xmlns:a16="http://schemas.microsoft.com/office/drawing/2014/main" id="{5B1CC189-03AF-A169-CA62-02B380D43C23}"/>
              </a:ext>
            </a:extLst>
          </p:cNvPr>
          <p:cNvPicPr>
            <a:picLocks noChangeAspect="1"/>
          </p:cNvPicPr>
          <p:nvPr/>
        </p:nvPicPr>
        <p:blipFill>
          <a:blip r:embed="rId3"/>
          <a:stretch>
            <a:fillRect/>
          </a:stretch>
        </p:blipFill>
        <p:spPr>
          <a:xfrm>
            <a:off x="666749" y="1579675"/>
            <a:ext cx="5455961" cy="2890200"/>
          </a:xfrm>
          <a:prstGeom prst="rect">
            <a:avLst/>
          </a:prstGeom>
        </p:spPr>
      </p:pic>
      <p:sp>
        <p:nvSpPr>
          <p:cNvPr id="10" name="TextBox Subtitle"/>
          <p:cNvSpPr txBox="1"/>
          <p:nvPr/>
        </p:nvSpPr>
        <p:spPr>
          <a:xfrm>
            <a:off x="457199" y="1118700"/>
            <a:ext cx="7900000" cy="360000"/>
          </a:xfrm>
          <a:prstGeom prst="rect">
            <a:avLst/>
          </a:prstGeom>
          <a:noFill/>
        </p:spPr>
        <p:txBody>
          <a:bodyPr wrap="square" rtlCol="0">
            <a:normAutofit/>
          </a:bodyPr>
          <a:lstStyle/>
          <a:p>
            <a:r>
              <a:rPr lang="en-US" sz="1400" b="1" dirty="0">
                <a:solidFill>
                  <a:schemeClr val="accent2">
                    <a:lumMod val="75000"/>
                  </a:schemeClr>
                </a:solidFill>
              </a:rPr>
              <a:t>An operator suite that automates LLM inference, fine-tuning &amp; RAG on Kubernetes.</a:t>
            </a:r>
          </a:p>
        </p:txBody>
      </p:sp>
      <p:sp>
        <p:nvSpPr>
          <p:cNvPr id="11" name="Key Differentiators"/>
          <p:cNvSpPr/>
          <p:nvPr/>
        </p:nvSpPr>
        <p:spPr>
          <a:xfrm>
            <a:off x="6019500" y="2184839"/>
            <a:ext cx="2812800" cy="2285036"/>
          </a:xfrm>
          <a:prstGeom prst="roundRect">
            <a:avLst/>
          </a:prstGeom>
          <a:solidFill>
            <a:schemeClr val="bg1">
              <a:lumMod val="95000"/>
            </a:schemeClr>
          </a:solidFill>
          <a:ln w="12700">
            <a:solidFill>
              <a:schemeClr val="accent2"/>
            </a:solidFill>
          </a:ln>
        </p:spPr>
        <p:txBody>
          <a:bodyPr rtlCol="0" anchor="t">
            <a:normAutofit fontScale="92500" lnSpcReduction="10000"/>
          </a:bodyPr>
          <a:lstStyle/>
          <a:p>
            <a:r>
              <a:rPr lang="en-US" sz="1200" b="1" dirty="0">
                <a:solidFill>
                  <a:schemeClr val="accent2">
                    <a:lumMod val="75000"/>
                  </a:schemeClr>
                </a:solidFill>
              </a:rPr>
              <a:t>You bring a model name + GPU SKU — KAITO does the rest.</a:t>
            </a:r>
          </a:p>
          <a:p>
            <a:pPr marL="228600" indent="-228600">
              <a:buFont typeface="Arial" panose="020B0604020202020204" pitchFamily="34" charset="0"/>
              <a:buChar char="•"/>
            </a:pPr>
            <a:r>
              <a:rPr lang="en-US" sz="1100" dirty="0"/>
              <a:t>Node Auto Provisioning — node count auto-sized from model memory footprint</a:t>
            </a:r>
          </a:p>
          <a:p>
            <a:pPr marL="228600" indent="-228600">
              <a:buFont typeface="Arial" panose="020B0604020202020204" pitchFamily="34" charset="0"/>
              <a:buChar char="•"/>
            </a:pPr>
            <a:r>
              <a:rPr lang="en-US" sz="1100" dirty="0"/>
              <a:t>Model onboarding — any vLLM HF model, Model Mirror + local NVMe cache</a:t>
            </a:r>
          </a:p>
          <a:p>
            <a:pPr marL="228600" indent="-228600">
              <a:buFont typeface="Arial" panose="020B0604020202020204" pitchFamily="34" charset="0"/>
              <a:buChar char="•"/>
            </a:pPr>
            <a:r>
              <a:rPr lang="en-US" sz="1100" dirty="0"/>
              <a:t>Workload lifecycle — InferenceSet: multi-replica, rolling upgrade</a:t>
            </a:r>
          </a:p>
          <a:p>
            <a:pPr marL="228600" indent="-228600">
              <a:buFont typeface="Arial" panose="020B0604020202020204" pitchFamily="34" charset="0"/>
              <a:buChar char="•"/>
            </a:pPr>
            <a:r>
              <a:rPr lang="en-US" sz="1100" dirty="0"/>
              <a:t>Autoscaling — KEDA on live vLLM metrics (queue / latency) or cron schedule</a:t>
            </a:r>
          </a:p>
        </p:txBody>
      </p:sp>
    </p:spTree>
    <p:extLst>
      <p:ext uri="{BB962C8B-B14F-4D97-AF65-F5344CB8AC3E}">
        <p14:creationId xmlns:p14="http://schemas.microsoft.com/office/powerpoint/2010/main" val="2621213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CCD9-1F69-9D7B-F431-AD30EC2D4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86216-B473-FF36-1629-FC035EACB0F0}"/>
              </a:ext>
            </a:extLst>
          </p:cNvPr>
          <p:cNvSpPr>
            <a:spLocks noGrp="1"/>
          </p:cNvSpPr>
          <p:nvPr>
            <p:ph type="title"/>
          </p:nvPr>
        </p:nvSpPr>
        <p:spPr/>
        <p:txBody>
          <a:bodyPr>
            <a:normAutofit/>
          </a:bodyPr>
          <a:lstStyle/>
          <a:p>
            <a:r>
              <a:rPr lang="en-US" dirty="0"/>
              <a:t>Workload</a:t>
            </a:r>
            <a:r>
              <a:rPr lang="zh-CN" altLang="en-US" dirty="0"/>
              <a:t> </a:t>
            </a:r>
            <a:r>
              <a:rPr lang="en-US" altLang="zh-CN" dirty="0"/>
              <a:t>Lifecycle</a:t>
            </a:r>
            <a:endParaRPr lang="en-US" dirty="0"/>
          </a:p>
        </p:txBody>
      </p:sp>
      <p:sp>
        <p:nvSpPr>
          <p:cNvPr id="10" name="Caption"/>
          <p:cNvSpPr txBox="1"/>
          <p:nvPr/>
        </p:nvSpPr>
        <p:spPr>
          <a:xfrm>
            <a:off x="457200" y="1040000"/>
            <a:ext cx="8229600" cy="360000"/>
          </a:xfrm>
          <a:prstGeom prst="rect">
            <a:avLst/>
          </a:prstGeom>
          <a:noFill/>
        </p:spPr>
        <p:txBody>
          <a:bodyPr wrap="square" rtlCol="0">
            <a:normAutofit/>
          </a:bodyPr>
          <a:lstStyle/>
          <a:p>
            <a:r>
              <a:rPr lang="en-US" sz="1400" b="1" dirty="0">
                <a:solidFill>
                  <a:schemeClr val="accent2">
                    <a:lumMod val="75000"/>
                  </a:schemeClr>
                </a:solidFill>
              </a:rPr>
              <a:t>You set only the model and the GPU SKU — autoUpgrade keeps it current.</a:t>
            </a:r>
          </a:p>
        </p:txBody>
      </p:sp>
      <p:sp>
        <p:nvSpPr>
          <p:cNvPr id="11" name="InferenceSet YAML"/>
          <p:cNvSpPr txBox="1"/>
          <p:nvPr/>
        </p:nvSpPr>
        <p:spPr>
          <a:xfrm>
            <a:off x="893135" y="1400000"/>
            <a:ext cx="6600000" cy="3178475"/>
          </a:xfrm>
          <a:prstGeom prst="rect">
            <a:avLst/>
          </a:prstGeom>
          <a:solidFill>
            <a:schemeClr val="bg1">
              <a:lumMod val="95000"/>
            </a:schemeClr>
          </a:solidFill>
          <a:ln w="9525">
            <a:solidFill>
              <a:srgbClr val="D0D0D0"/>
            </a:solidFill>
          </a:ln>
        </p:spPr>
        <p:txBody>
          <a:bodyPr wrap="square" lIns="91440" tIns="45720" rIns="91440" bIns="45720" rtlCol="0">
            <a:normAutofit/>
          </a:bodyPr>
          <a:lstStyle/>
          <a:p>
            <a:r>
              <a:rPr lang="en-US" sz="1000" dirty="0">
                <a:latin typeface="Consolas" panose="020B0609020204030204" pitchFamily="49" charset="0"/>
              </a:rPr>
              <a:t>apiVersion: kaito.sh/v1beta1</a:t>
            </a:r>
          </a:p>
          <a:p>
            <a:r>
              <a:rPr lang="en-US" sz="1000" dirty="0">
                <a:latin typeface="Consolas" panose="020B0609020204030204" pitchFamily="49" charset="0"/>
              </a:rPr>
              <a:t>kind: InferenceSet</a:t>
            </a:r>
          </a:p>
          <a:p>
            <a:r>
              <a:rPr lang="en-US" sz="1000" dirty="0">
                <a:latin typeface="Consolas" panose="020B0609020204030204" pitchFamily="49" charset="0"/>
              </a:rPr>
              <a:t>metadata:</a:t>
            </a:r>
          </a:p>
          <a:p>
            <a:r>
              <a:rPr lang="en-US" sz="1000" dirty="0">
                <a:latin typeface="Consolas" panose="020B0609020204030204" pitchFamily="49" charset="0"/>
              </a:rPr>
              <a:t>  name: qwen3-8b</a:t>
            </a:r>
          </a:p>
          <a:p>
            <a:r>
              <a:rPr lang="en-US" sz="1000" dirty="0">
                <a:latin typeface="Consolas" panose="020B0609020204030204" pitchFamily="49" charset="0"/>
              </a:rPr>
              <a:t>spec:</a:t>
            </a:r>
          </a:p>
          <a:p>
            <a:r>
              <a:rPr lang="en-US" sz="1000" dirty="0">
                <a:latin typeface="Consolas" panose="020B0609020204030204" pitchFamily="49" charset="0"/>
              </a:rPr>
              <a:t>  replicas: 3</a:t>
            </a:r>
          </a:p>
          <a:p>
            <a:r>
              <a:rPr lang="en-US" sz="1000" dirty="0">
                <a:latin typeface="Consolas" panose="020B0609020204030204" pitchFamily="49" charset="0"/>
              </a:rPr>
              <a:t>  labelSelector:</a:t>
            </a:r>
          </a:p>
          <a:p>
            <a:r>
              <a:rPr lang="en-US" sz="1000" dirty="0">
                <a:latin typeface="Consolas" panose="020B0609020204030204" pitchFamily="49" charset="0"/>
              </a:rPr>
              <a:t>    matchLabels:</a:t>
            </a:r>
          </a:p>
          <a:p>
            <a:r>
              <a:rPr lang="en-US" sz="1000" dirty="0">
                <a:latin typeface="Consolas" panose="020B0609020204030204" pitchFamily="49" charset="0"/>
              </a:rPr>
              <a:t>      app: qwen3-8b</a:t>
            </a:r>
          </a:p>
          <a:p>
            <a:r>
              <a:rPr lang="en-US" sz="1000" dirty="0">
                <a:latin typeface="Consolas" panose="020B0609020204030204" pitchFamily="49" charset="0"/>
              </a:rPr>
              <a:t>  autoUpgrade:</a:t>
            </a:r>
          </a:p>
          <a:p>
            <a:r>
              <a:rPr lang="en-US" sz="1000" dirty="0">
                <a:latin typeface="Consolas" panose="020B0609020204030204" pitchFamily="49" charset="0"/>
              </a:rPr>
              <a:t>    enabled: true</a:t>
            </a:r>
            <a:r>
              <a:rPr lang="en-US" sz="1000" dirty="0">
                <a:solidFill>
                  <a:srgbClr val="2E7D32"/>
                </a:solidFill>
                <a:latin typeface="Consolas" panose="020B0609020204030204" pitchFamily="49" charset="0"/>
              </a:rPr>
              <a:t>        # turn on auto base-image update</a:t>
            </a:r>
          </a:p>
          <a:p>
            <a:r>
              <a:rPr lang="en-US" sz="1000" dirty="0">
                <a:latin typeface="Consolas" panose="020B0609020204030204" pitchFamily="49" charset="0"/>
              </a:rPr>
              <a:t>  template:</a:t>
            </a:r>
          </a:p>
          <a:p>
            <a:r>
              <a:rPr lang="en-US" sz="1000" dirty="0">
                <a:latin typeface="Consolas" panose="020B0609020204030204" pitchFamily="49" charset="0"/>
              </a:rPr>
              <a:t>    metadata:</a:t>
            </a:r>
          </a:p>
          <a:p>
            <a:r>
              <a:rPr lang="en-US" sz="1000" dirty="0">
                <a:latin typeface="Consolas" panose="020B0609020204030204" pitchFamily="49" charset="0"/>
              </a:rPr>
              <a:t>      annotations:</a:t>
            </a:r>
          </a:p>
          <a:p>
            <a:r>
              <a:rPr lang="en-US" sz="1000" dirty="0">
                <a:latin typeface="Consolas" panose="020B0609020204030204" pitchFamily="49" charset="0"/>
              </a:rPr>
              <a:t>        kaito.sh/model-mirror-storage-class: blob-fuse</a:t>
            </a:r>
            <a:r>
              <a:rPr lang="en-US" sz="1000" dirty="0">
                <a:solidFill>
                  <a:srgbClr val="2E7D32"/>
                </a:solidFill>
                <a:latin typeface="Consolas" panose="020B0609020204030204" pitchFamily="49" charset="0"/>
              </a:rPr>
              <a:t>   # &lt;- Model Mirror on</a:t>
            </a:r>
          </a:p>
          <a:p>
            <a:r>
              <a:rPr lang="en-US" sz="1000" dirty="0">
                <a:latin typeface="Consolas" panose="020B0609020204030204" pitchFamily="49" charset="0"/>
              </a:rPr>
              <a:t>    resource:</a:t>
            </a:r>
          </a:p>
          <a:p>
            <a:r>
              <a:rPr lang="en-US" sz="1000" dirty="0">
                <a:latin typeface="Consolas" panose="020B0609020204030204" pitchFamily="49" charset="0"/>
              </a:rPr>
              <a:t>      instanceType: Standard_NC24ads_A100_v4</a:t>
            </a:r>
            <a:r>
              <a:rPr lang="en-US" sz="1000" dirty="0">
                <a:solidFill>
                  <a:srgbClr val="2E7D32"/>
                </a:solidFill>
                <a:latin typeface="Consolas" panose="020B0609020204030204" pitchFamily="49" charset="0"/>
              </a:rPr>
              <a:t>   # &lt;- GPU SKU</a:t>
            </a:r>
          </a:p>
          <a:p>
            <a:r>
              <a:rPr lang="en-US" sz="1000" dirty="0">
                <a:latin typeface="Consolas" panose="020B0609020204030204" pitchFamily="49" charset="0"/>
              </a:rPr>
              <a:t>    inference:</a:t>
            </a:r>
          </a:p>
          <a:p>
            <a:r>
              <a:rPr lang="en-US" sz="1000" dirty="0">
                <a:latin typeface="Consolas" panose="020B0609020204030204" pitchFamily="49" charset="0"/>
              </a:rPr>
              <a:t>      preset:</a:t>
            </a:r>
          </a:p>
          <a:p>
            <a:r>
              <a:rPr lang="en-US" sz="1000" dirty="0">
                <a:latin typeface="Consolas" panose="020B0609020204030204" pitchFamily="49" charset="0"/>
              </a:rPr>
              <a:t>        name: Qwen/Qwen3-8B</a:t>
            </a:r>
            <a:r>
              <a:rPr lang="en-US" sz="1000" dirty="0">
                <a:solidFill>
                  <a:srgbClr val="2E7D32"/>
                </a:solidFill>
                <a:latin typeface="Consolas" panose="020B0609020204030204" pitchFamily="49" charset="0"/>
              </a:rPr>
              <a:t>            # &lt;- model</a:t>
            </a:r>
          </a:p>
        </p:txBody>
      </p:sp>
    </p:spTree>
    <p:extLst>
      <p:ext uri="{BB962C8B-B14F-4D97-AF65-F5344CB8AC3E}">
        <p14:creationId xmlns:p14="http://schemas.microsoft.com/office/powerpoint/2010/main" val="1730466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80000"/>
            <a:ext cx="8229600" cy="650000"/>
          </a:xfrm>
          <a:prstGeom prst="rect">
            <a:avLst/>
          </a:prstGeom>
          <a:noFill/>
        </p:spPr>
        <p:txBody>
          <a:bodyPr wrap="square" lIns="91440" tIns="45720" rIns="91440" bIns="45720" rtlCol="0">
            <a:normAutofit/>
          </a:bodyPr>
          <a:lstStyle/>
          <a:p>
            <a:r>
              <a:rPr lang="en-US" sz="2400" b="1" dirty="0"/>
              <a:t>How the GPU Node Count Is Computed</a:t>
            </a:r>
          </a:p>
        </p:txBody>
      </p:sp>
      <p:sp>
        <p:nvSpPr>
          <p:cNvPr id="3" name="Caption"/>
          <p:cNvSpPr txBox="1"/>
          <p:nvPr/>
        </p:nvSpPr>
        <p:spPr>
          <a:xfrm>
            <a:off x="457200" y="1000000"/>
            <a:ext cx="8229600" cy="420000"/>
          </a:xfrm>
          <a:prstGeom prst="rect">
            <a:avLst/>
          </a:prstGeom>
          <a:noFill/>
        </p:spPr>
        <p:txBody>
          <a:bodyPr wrap="square" lIns="91440" tIns="45720" rIns="91440" bIns="45720" rtlCol="0">
            <a:normAutofit/>
          </a:bodyPr>
          <a:lstStyle/>
          <a:p>
            <a:r>
              <a:rPr lang="en-US" sz="1400" b="1" dirty="0">
                <a:solidFill>
                  <a:schemeClr val="accent2">
                    <a:lumMod val="75000"/>
                  </a:schemeClr>
                </a:solidFill>
              </a:rPr>
              <a:t>You give model + GPU SKU. KAITO computes the node count — you never do the math.</a:t>
            </a:r>
          </a:p>
        </p:txBody>
      </p:sp>
      <p:sp>
        <p:nvSpPr>
          <p:cNvPr id="4" name="Inputs"/>
          <p:cNvSpPr txBox="1"/>
          <p:nvPr/>
        </p:nvSpPr>
        <p:spPr>
          <a:xfrm>
            <a:off x="457200" y="1470000"/>
            <a:ext cx="8229600" cy="420000"/>
          </a:xfrm>
          <a:prstGeom prst="rect">
            <a:avLst/>
          </a:prstGeom>
          <a:noFill/>
        </p:spPr>
        <p:txBody>
          <a:bodyPr wrap="square" lIns="91440" tIns="45720" rIns="91440" bIns="45720" rtlCol="0">
            <a:normAutofit/>
          </a:bodyPr>
          <a:lstStyle/>
          <a:p>
            <a:r>
              <a:rPr lang="en-US" sz="1200" dirty="0"/>
              <a:t>Inputs KAITO reads: model weight size, context length (max-model-len), and the GPU SKU (memory + GPUs per node).</a:t>
            </a:r>
          </a:p>
        </p:txBody>
      </p:sp>
      <p:sp>
        <p:nvSpPr>
          <p:cNvPr id="5" name="Formula"/>
          <p:cNvSpPr txBox="1"/>
          <p:nvPr/>
        </p:nvSpPr>
        <p:spPr>
          <a:xfrm>
            <a:off x="457200" y="1980000"/>
            <a:ext cx="8229600" cy="1850000"/>
          </a:xfrm>
          <a:prstGeom prst="rect">
            <a:avLst/>
          </a:prstGeom>
          <a:solidFill>
            <a:srgbClr val="F5F5F5"/>
          </a:solidFill>
          <a:ln w="9525">
            <a:solidFill>
              <a:srgbClr val="D0D0D0"/>
            </a:solidFill>
          </a:ln>
        </p:spPr>
        <p:txBody>
          <a:bodyPr wrap="square" lIns="91440" tIns="45720" rIns="91440" bIns="45720" rtlCol="0">
            <a:normAutofit/>
          </a:bodyPr>
          <a:lstStyle/>
          <a:p>
            <a:r>
              <a:rPr lang="en-US" sz="1150" dirty="0">
                <a:latin typeface="Consolas" panose="020B0609020204030204" pitchFamily="49" charset="0"/>
              </a:rPr>
              <a:t>per-GPU budget = GPU memory  ×  0.84            (vLLM memory utilization)</a:t>
            </a:r>
          </a:p>
          <a:p>
            <a:r>
              <a:rPr lang="en-US" sz="1150" dirty="0">
                <a:latin typeface="Consolas" panose="020B0609020204030204" pitchFamily="49" charset="0"/>
              </a:rPr>
              <a:t>               −  ~2.3 GiB   fixed overhead</a:t>
            </a:r>
          </a:p>
          <a:p>
            <a:r>
              <a:rPr lang="en-US" sz="1150" dirty="0">
                <a:latin typeface="Consolas" panose="020B0609020204030204" pitchFamily="49" charset="0"/>
              </a:rPr>
              <a:t>               −  KV cache   ( max-model-len × bytes-per-token )</a:t>
            </a:r>
          </a:p>
          <a:p>
            <a:r>
              <a:rPr lang="en-US" sz="1150" dirty="0">
                <a:latin typeface="Consolas" panose="020B0609020204030204" pitchFamily="49" charset="0"/>
              </a:rPr>
              <a:t> </a:t>
            </a:r>
          </a:p>
          <a:p>
            <a:r>
              <a:rPr lang="en-US" sz="1150" dirty="0">
                <a:latin typeface="Consolas" panose="020B0609020204030204" pitchFamily="49" charset="0"/>
              </a:rPr>
              <a:t>min GPUs    = ceil( model weights  ÷  per-GPU budget )   (weights × 1.02)</a:t>
            </a:r>
          </a:p>
          <a:p>
            <a:r>
              <a:rPr lang="en-US" sz="1150" dirty="0">
                <a:latin typeface="Consolas" panose="020B0609020204030204" pitchFamily="49" charset="0"/>
              </a:rPr>
              <a:t>node count  = ceil( min GPUs  ÷  GPUs-per-node )</a:t>
            </a:r>
          </a:p>
        </p:txBody>
      </p:sp>
      <p:sp>
        <p:nvSpPr>
          <p:cNvPr id="6" name="Result"/>
          <p:cNvSpPr txBox="1"/>
          <p:nvPr/>
        </p:nvSpPr>
        <p:spPr>
          <a:xfrm>
            <a:off x="457200" y="3980000"/>
            <a:ext cx="8229600" cy="900000"/>
          </a:xfrm>
          <a:prstGeom prst="rect">
            <a:avLst/>
          </a:prstGeom>
          <a:noFill/>
        </p:spPr>
        <p:txBody>
          <a:bodyPr wrap="square" lIns="91440" tIns="45720" rIns="91440" bIns="45720" rtlCol="0">
            <a:normAutofit/>
          </a:bodyPr>
          <a:lstStyle/>
          <a:p>
            <a:r>
              <a:rPr lang="en-US" sz="1200" b="1" dirty="0"/>
              <a:t>→ saved as status.targetNodeCount.</a:t>
            </a:r>
          </a:p>
          <a:p>
            <a:r>
              <a:rPr lang="en-US" sz="1200" dirty="0"/>
              <a:t>If it is &gt; 1, KAITO serves the model multi-node automatically: tensor-parallel inside each node, pipeline-parallel across nodes.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26A1F-4BB7-C9FB-B380-E8EF93D83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7F6EC-98A5-26CE-32B1-A95AD9F65C35}"/>
              </a:ext>
            </a:extLst>
          </p:cNvPr>
          <p:cNvSpPr>
            <a:spLocks noGrp="1"/>
          </p:cNvSpPr>
          <p:nvPr>
            <p:ph type="title"/>
          </p:nvPr>
        </p:nvSpPr>
        <p:spPr/>
        <p:txBody>
          <a:bodyPr>
            <a:normAutofit/>
          </a:bodyPr>
          <a:lstStyle/>
          <a:p>
            <a:r>
              <a:rPr lang="en-US" dirty="0"/>
              <a:t>Autoscaling: keda-</a:t>
            </a:r>
            <a:r>
              <a:rPr lang="en-US" dirty="0" err="1"/>
              <a:t>kaito</a:t>
            </a:r>
            <a:r>
              <a:rPr lang="en-US" dirty="0"/>
              <a:t>-scaler</a:t>
            </a:r>
          </a:p>
        </p:txBody>
      </p:sp>
      <p:pic>
        <p:nvPicPr>
          <p:cNvPr id="8" name="Picture 7">
            <a:extLst>
              <a:ext uri="{FF2B5EF4-FFF2-40B4-BE49-F238E27FC236}">
                <a16:creationId xmlns:a16="http://schemas.microsoft.com/office/drawing/2014/main" id="{8B14B8C5-6523-CC16-94B2-86B74AF39A2B}"/>
              </a:ext>
            </a:extLst>
          </p:cNvPr>
          <p:cNvPicPr>
            <a:picLocks noChangeAspect="1"/>
          </p:cNvPicPr>
          <p:nvPr/>
        </p:nvPicPr>
        <p:blipFill>
          <a:blip r:embed="rId3"/>
          <a:stretch>
            <a:fillRect/>
          </a:stretch>
        </p:blipFill>
        <p:spPr>
          <a:xfrm>
            <a:off x="381000" y="1504419"/>
            <a:ext cx="5739000" cy="2738770"/>
          </a:xfrm>
          <a:prstGeom prst="rect">
            <a:avLst/>
          </a:prstGeom>
        </p:spPr>
      </p:pic>
      <p:sp>
        <p:nvSpPr>
          <p:cNvPr id="20" name="TextBox Subtitle"/>
          <p:cNvSpPr txBox="1"/>
          <p:nvPr/>
        </p:nvSpPr>
        <p:spPr>
          <a:xfrm>
            <a:off x="381000" y="1150000"/>
            <a:ext cx="8300000" cy="340000"/>
          </a:xfrm>
          <a:prstGeom prst="rect">
            <a:avLst/>
          </a:prstGeom>
          <a:noFill/>
        </p:spPr>
        <p:txBody>
          <a:bodyPr wrap="square" rtlCol="0">
            <a:normAutofit fontScale="92500"/>
          </a:bodyPr>
          <a:lstStyle/>
          <a:p>
            <a:r>
              <a:rPr lang="en-US" sz="1400" b="1" dirty="0">
                <a:solidFill>
                  <a:schemeClr val="accent2">
                    <a:lumMod val="75000"/>
                  </a:schemeClr>
                </a:solidFill>
              </a:rPr>
              <a:t>Load-aware autoscaling: KEDA-driven, metric-aware scaling for GPU inference (no Prometheus).</a:t>
            </a:r>
          </a:p>
        </p:txBody>
      </p:sp>
      <p:sp>
        <p:nvSpPr>
          <p:cNvPr id="21" name="How It Works"/>
          <p:cNvSpPr/>
          <p:nvPr/>
        </p:nvSpPr>
        <p:spPr>
          <a:xfrm>
            <a:off x="6216900" y="1504419"/>
            <a:ext cx="2615400" cy="2738770"/>
          </a:xfrm>
          <a:prstGeom prst="roundRect">
            <a:avLst/>
          </a:prstGeom>
          <a:solidFill>
            <a:schemeClr val="bg1">
              <a:lumMod val="95000"/>
            </a:schemeClr>
          </a:solidFill>
          <a:ln w="12700">
            <a:solidFill>
              <a:schemeClr val="accent2"/>
            </a:solidFill>
          </a:ln>
        </p:spPr>
        <p:txBody>
          <a:bodyPr rtlCol="0" anchor="ctr">
            <a:normAutofit/>
          </a:bodyPr>
          <a:lstStyle/>
          <a:p>
            <a:r>
              <a:rPr lang="en-US" sz="1300" b="1" dirty="0">
                <a:solidFill>
                  <a:schemeClr val="accent2">
                    <a:lumMod val="75000"/>
                  </a:schemeClr>
                </a:solidFill>
              </a:rPr>
              <a:t>What makes it special</a:t>
            </a:r>
          </a:p>
          <a:p>
            <a:pPr marL="228600" indent="-228600">
              <a:spcBef>
                <a:spcPts val="600"/>
              </a:spcBef>
              <a:buFont typeface="Arial" panose="020B0604020202020204" pitchFamily="34" charset="0"/>
              <a:buChar char="•"/>
            </a:pPr>
            <a:r>
              <a:rPr lang="en-US" sz="1150" b="1" dirty="0"/>
              <a:t>Zero dependencies</a:t>
            </a:r>
            <a:r>
              <a:rPr lang="en-US" sz="1150" dirty="0"/>
              <a:t> — no Prometheus; scrapes vLLM directly</a:t>
            </a:r>
          </a:p>
          <a:p>
            <a:pPr marL="228600" indent="-228600">
              <a:spcBef>
                <a:spcPts val="600"/>
              </a:spcBef>
              <a:buFont typeface="Arial" panose="020B0604020202020204" pitchFamily="34" charset="0"/>
              <a:buChar char="•"/>
            </a:pPr>
            <a:r>
              <a:rPr lang="en-US" sz="1150" b="1" dirty="0"/>
              <a:t>GPU-safe scaling</a:t>
            </a:r>
            <a:r>
              <a:rPr lang="en-US" sz="1150" dirty="0"/>
              <a:t> — conservative ±1 replica per step</a:t>
            </a:r>
          </a:p>
          <a:p>
            <a:pPr marL="228600" indent="-228600">
              <a:spcBef>
                <a:spcPts val="600"/>
              </a:spcBef>
              <a:buFont typeface="Arial" panose="020B0604020202020204" pitchFamily="34" charset="0"/>
              <a:buChar char="•"/>
            </a:pPr>
            <a:r>
              <a:rPr lang="en-US" sz="1150" b="1" dirty="0"/>
              <a:t>Composite metrics</a:t>
            </a:r>
            <a:r>
              <a:rPr lang="en-US" sz="1150" dirty="0"/>
              <a:t> — combine queue length + latency under a conservative AND policy</a:t>
            </a:r>
          </a:p>
        </p:txBody>
      </p:sp>
    </p:spTree>
    <p:extLst>
      <p:ext uri="{BB962C8B-B14F-4D97-AF65-F5344CB8AC3E}">
        <p14:creationId xmlns:p14="http://schemas.microsoft.com/office/powerpoint/2010/main" val="1710340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8E84A-0A4F-A861-8024-10CF59AB7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58DF3-00F5-9C28-319B-8E742B63A5C0}"/>
              </a:ext>
            </a:extLst>
          </p:cNvPr>
          <p:cNvSpPr>
            <a:spLocks noGrp="1"/>
          </p:cNvSpPr>
          <p:nvPr>
            <p:ph type="title"/>
          </p:nvPr>
        </p:nvSpPr>
        <p:spPr/>
        <p:txBody>
          <a:bodyPr>
            <a:normAutofit/>
          </a:bodyPr>
          <a:lstStyle/>
          <a:p>
            <a:r>
              <a:rPr lang="en-US" dirty="0"/>
              <a:t>Autoscaling: Composite Metrics</a:t>
            </a:r>
          </a:p>
        </p:txBody>
      </p:sp>
      <p:sp>
        <p:nvSpPr>
          <p:cNvPr id="20" name="TextBox Subtitle"/>
          <p:cNvSpPr txBox="1"/>
          <p:nvPr/>
        </p:nvSpPr>
        <p:spPr>
          <a:xfrm>
            <a:off x="381000" y="1118862"/>
            <a:ext cx="8300000" cy="340000"/>
          </a:xfrm>
          <a:prstGeom prst="rect">
            <a:avLst/>
          </a:prstGeom>
          <a:noFill/>
        </p:spPr>
        <p:txBody>
          <a:bodyPr wrap="square" rtlCol="0">
            <a:normAutofit/>
          </a:bodyPr>
          <a:lstStyle/>
          <a:p>
            <a:r>
              <a:rPr lang="en-US" sz="1400" b="1" dirty="0">
                <a:solidFill>
                  <a:schemeClr val="accent2">
                    <a:lumMod val="75000"/>
                  </a:schemeClr>
                </a:solidFill>
              </a:rPr>
              <a:t>One annotation combines multiple signals under a conservative AND policy.</a:t>
            </a:r>
          </a:p>
        </p:txBody>
      </p:sp>
      <p:sp>
        <p:nvSpPr>
          <p:cNvPr id="21" name="Code Panel"/>
          <p:cNvSpPr/>
          <p:nvPr/>
        </p:nvSpPr>
        <p:spPr>
          <a:xfrm>
            <a:off x="381000" y="1559999"/>
            <a:ext cx="5200000" cy="3365375"/>
          </a:xfrm>
          <a:prstGeom prst="roundRect">
            <a:avLst/>
          </a:prstGeom>
          <a:solidFill>
            <a:schemeClr val="bg1">
              <a:lumMod val="95000"/>
            </a:schemeClr>
          </a:solidFill>
          <a:ln w="12700">
            <a:solidFill>
              <a:schemeClr val="accent2"/>
            </a:solidFill>
          </a:ln>
        </p:spPr>
        <p:txBody>
          <a:bodyPr rtlCol="0" anchor="t">
            <a:normAutofit lnSpcReduction="10000"/>
          </a:bodyPr>
          <a:lstStyle/>
          <a:p>
            <a:r>
              <a:rPr lang="en-US" sz="1000" b="1" dirty="0">
                <a:solidFill>
                  <a:schemeClr val="accent2">
                    <a:lumMod val="75000"/>
                  </a:schemeClr>
                </a:solidFill>
              </a:rPr>
              <a:t>InferenceSet — full composite-metric config</a:t>
            </a:r>
          </a:p>
          <a:p>
            <a:pPr marL="0" indent="0">
              <a:lnSpc>
                <a:spcPct val="100000"/>
              </a:lnSpc>
            </a:pPr>
            <a:r>
              <a:rPr lang="en-US" sz="750" dirty="0">
                <a:latin typeface="Consolas" panose="020B0609020204030204" pitchFamily="49" charset="0"/>
              </a:rPr>
              <a:t>metadata:</a:t>
            </a:r>
          </a:p>
          <a:p>
            <a:pPr marL="0" indent="0">
              <a:lnSpc>
                <a:spcPct val="100000"/>
              </a:lnSpc>
            </a:pPr>
            <a:r>
              <a:rPr lang="en-US" sz="750" dirty="0">
                <a:latin typeface="Consolas" panose="020B0609020204030204" pitchFamily="49" charset="0"/>
              </a:rPr>
              <a:t>  annotations:</a:t>
            </a:r>
          </a:p>
          <a:p>
            <a:pPr marL="0" indent="0">
              <a:lnSpc>
                <a:spcPct val="100000"/>
              </a:lnSpc>
            </a:pPr>
            <a:r>
              <a:rPr lang="en-US" sz="750" dirty="0">
                <a:latin typeface="Consolas" panose="020B0609020204030204" pitchFamily="49" charset="0"/>
              </a:rPr>
              <a:t>    scaledobject.kaito.sh/auto-provision: "true"</a:t>
            </a:r>
          </a:p>
          <a:p>
            <a:pPr marL="0" indent="0">
              <a:lnSpc>
                <a:spcPct val="100000"/>
              </a:lnSpc>
            </a:pPr>
            <a:r>
              <a:rPr lang="en-US" sz="750" dirty="0">
                <a:latin typeface="Consolas" panose="020B0609020204030204" pitchFamily="49" charset="0"/>
              </a:rPr>
              <a:t>    scaledobject.kaito.sh/metrics: |</a:t>
            </a:r>
          </a:p>
          <a:p>
            <a:pPr marL="0" indent="0">
              <a:lnSpc>
                <a:spcPct val="100000"/>
              </a:lnSpc>
            </a:pPr>
            <a:r>
              <a:rPr lang="en-US" sz="750" dirty="0">
                <a:latin typeface="Consolas" panose="020B0609020204030204" pitchFamily="49" charset="0"/>
              </a:rPr>
              <a:t>      - name: vllm:num_requests_waiting</a:t>
            </a:r>
          </a:p>
          <a:p>
            <a:pPr marL="0" indent="0">
              <a:lnSpc>
                <a:spcPct val="100000"/>
              </a:lnSpc>
            </a:pPr>
            <a:r>
              <a:rPr lang="en-US" sz="750" dirty="0">
                <a:latin typeface="Consolas" panose="020B0609020204030204" pitchFamily="49" charset="0"/>
              </a:rPr>
              <a:t>        type: gauge</a:t>
            </a:r>
          </a:p>
          <a:p>
            <a:pPr marL="0" indent="0">
              <a:lnSpc>
                <a:spcPct val="100000"/>
              </a:lnSpc>
            </a:pPr>
            <a:r>
              <a:rPr lang="en-US" sz="750" dirty="0">
                <a:latin typeface="Consolas" panose="020B0609020204030204" pitchFamily="49" charset="0"/>
              </a:rPr>
              <a:t>        source: modelpod</a:t>
            </a:r>
          </a:p>
          <a:p>
            <a:pPr marL="0" indent="0">
              <a:lnSpc>
                <a:spcPct val="100000"/>
              </a:lnSpc>
            </a:pPr>
            <a:r>
              <a:rPr lang="en-US" sz="750" dirty="0">
                <a:latin typeface="Consolas" panose="020B0609020204030204" pitchFamily="49" charset="0"/>
              </a:rPr>
              <a:t>        upthreshold: 10</a:t>
            </a:r>
          </a:p>
          <a:p>
            <a:pPr marL="0" indent="0">
              <a:lnSpc>
                <a:spcPct val="100000"/>
              </a:lnSpc>
            </a:pPr>
            <a:r>
              <a:rPr lang="en-US" sz="750" dirty="0">
                <a:latin typeface="Consolas" panose="020B0609020204030204" pitchFamily="49" charset="0"/>
              </a:rPr>
              <a:t>        downthreshold: 1</a:t>
            </a:r>
          </a:p>
          <a:p>
            <a:pPr marL="0" indent="0">
              <a:lnSpc>
                <a:spcPct val="100000"/>
              </a:lnSpc>
            </a:pPr>
            <a:r>
              <a:rPr lang="en-US" sz="750" dirty="0">
                <a:latin typeface="Consolas" panose="020B0609020204030204" pitchFamily="49" charset="0"/>
              </a:rPr>
              <a:t>      - name: vllm:request_queue_time_seconds</a:t>
            </a:r>
          </a:p>
          <a:p>
            <a:pPr marL="0" indent="0">
              <a:lnSpc>
                <a:spcPct val="100000"/>
              </a:lnSpc>
            </a:pPr>
            <a:r>
              <a:rPr lang="en-US" sz="750" dirty="0">
                <a:latin typeface="Consolas" panose="020B0609020204030204" pitchFamily="49" charset="0"/>
              </a:rPr>
              <a:t>        type: histogram</a:t>
            </a:r>
          </a:p>
          <a:p>
            <a:pPr marL="0" indent="0">
              <a:lnSpc>
                <a:spcPct val="100000"/>
              </a:lnSpc>
            </a:pPr>
            <a:r>
              <a:rPr lang="en-US" sz="750" dirty="0">
                <a:latin typeface="Consolas" panose="020B0609020204030204" pitchFamily="49" charset="0"/>
              </a:rPr>
              <a:t>        source: modelpod</a:t>
            </a:r>
          </a:p>
          <a:p>
            <a:pPr marL="0" indent="0">
              <a:lnSpc>
                <a:spcPct val="100000"/>
              </a:lnSpc>
            </a:pPr>
            <a:r>
              <a:rPr lang="en-US" sz="750" dirty="0">
                <a:latin typeface="Consolas" panose="020B0609020204030204" pitchFamily="49" charset="0"/>
              </a:rPr>
              <a:t>        upthreshold: 30</a:t>
            </a:r>
          </a:p>
          <a:p>
            <a:pPr marL="0" indent="0">
              <a:lnSpc>
                <a:spcPct val="100000"/>
              </a:lnSpc>
            </a:pPr>
            <a:r>
              <a:rPr lang="en-US" sz="750" dirty="0">
                <a:latin typeface="Consolas" panose="020B0609020204030204" pitchFamily="49" charset="0"/>
              </a:rPr>
              <a:t>        downthreshold: 1</a:t>
            </a:r>
          </a:p>
          <a:p>
            <a:pPr marL="0" indent="0">
              <a:lnSpc>
                <a:spcPct val="100000"/>
              </a:lnSpc>
            </a:pPr>
            <a:r>
              <a:rPr lang="en-US" sz="750" dirty="0">
                <a:latin typeface="Consolas" panose="020B0609020204030204" pitchFamily="49" charset="0"/>
              </a:rPr>
              <a:t>        metriccachewindow: 300</a:t>
            </a:r>
          </a:p>
          <a:p>
            <a:pPr marL="0" indent="0">
              <a:lnSpc>
                <a:spcPct val="100000"/>
              </a:lnSpc>
            </a:pPr>
            <a:r>
              <a:rPr lang="en-US" sz="750" dirty="0">
                <a:latin typeface="Consolas" panose="020B0609020204030204" pitchFamily="49" charset="0"/>
              </a:rPr>
              <a:t>    scaledobject.kaito.sh/combinepolicy: "AND"</a:t>
            </a:r>
          </a:p>
          <a:p>
            <a:pPr marL="0" indent="0">
              <a:lnSpc>
                <a:spcPct val="100000"/>
              </a:lnSpc>
            </a:pPr>
            <a:r>
              <a:rPr lang="en-US" sz="750" dirty="0">
                <a:latin typeface="Consolas" panose="020B0609020204030204" pitchFamily="49" charset="0"/>
              </a:rPr>
              <a:t>    scaledobject.kaito.sh/evaluationwindow: "60"</a:t>
            </a:r>
          </a:p>
          <a:p>
            <a:pPr marL="0" indent="0">
              <a:lnSpc>
                <a:spcPct val="100000"/>
              </a:lnSpc>
            </a:pPr>
            <a:r>
              <a:rPr lang="en-US" sz="750" dirty="0">
                <a:latin typeface="Consolas" panose="020B0609020204030204" pitchFamily="49" charset="0"/>
              </a:rPr>
              <a:t>    scaledobject.kaito.sh/scaleupcooldown: "300"</a:t>
            </a:r>
          </a:p>
          <a:p>
            <a:pPr marL="0" indent="0">
              <a:lnSpc>
                <a:spcPct val="100000"/>
              </a:lnSpc>
            </a:pPr>
            <a:r>
              <a:rPr lang="en-US" sz="750" dirty="0">
                <a:latin typeface="Consolas" panose="020B0609020204030204" pitchFamily="49" charset="0"/>
              </a:rPr>
              <a:t>    scaledobject.kaito.sh/scaledowncooldown: "300"</a:t>
            </a:r>
          </a:p>
          <a:p>
            <a:pPr marL="0" indent="0">
              <a:lnSpc>
                <a:spcPct val="100000"/>
              </a:lnSpc>
            </a:pPr>
            <a:r>
              <a:rPr lang="en-US" sz="750" dirty="0">
                <a:latin typeface="Consolas" panose="020B0609020204030204" pitchFamily="49" charset="0"/>
              </a:rPr>
              <a:t>    scaledobject.kaito.sh/min-replicas: "1"</a:t>
            </a:r>
          </a:p>
          <a:p>
            <a:pPr marL="0" indent="0">
              <a:lnSpc>
                <a:spcPct val="100000"/>
              </a:lnSpc>
            </a:pPr>
            <a:r>
              <a:rPr lang="en-US" sz="750" dirty="0">
                <a:latin typeface="Consolas" panose="020B0609020204030204" pitchFamily="49" charset="0"/>
              </a:rPr>
              <a:t>    scaledobject.kaito.sh/max-replicas: "5"</a:t>
            </a:r>
          </a:p>
          <a:p>
            <a:pPr marL="0" indent="0">
              <a:lnSpc>
                <a:spcPct val="100000"/>
              </a:lnSpc>
            </a:pPr>
            <a:r>
              <a:rPr lang="en-US" sz="750" dirty="0">
                <a:latin typeface="Consolas" panose="020B0609020204030204" pitchFamily="49" charset="0"/>
              </a:rPr>
              <a:t>  name: phi-4</a:t>
            </a:r>
          </a:p>
          <a:p>
            <a:pPr marL="0" indent="0">
              <a:lnSpc>
                <a:spcPct val="100000"/>
              </a:lnSpc>
            </a:pPr>
            <a:r>
              <a:rPr lang="en-US" sz="750" dirty="0">
                <a:latin typeface="Consolas" panose="020B0609020204030204" pitchFamily="49" charset="0"/>
              </a:rPr>
              <a:t>spec:</a:t>
            </a:r>
          </a:p>
          <a:p>
            <a:pPr marL="0" indent="0">
              <a:lnSpc>
                <a:spcPct val="100000"/>
              </a:lnSpc>
            </a:pPr>
            <a:r>
              <a:rPr lang="en-US" sz="750" dirty="0">
                <a:latin typeface="Consolas" panose="020B0609020204030204" pitchFamily="49" charset="0"/>
              </a:rPr>
              <a:t>  replicas: 1</a:t>
            </a:r>
          </a:p>
          <a:p>
            <a:pPr marL="0" indent="0"/>
            <a:r>
              <a:rPr lang="en-US" sz="800" b="1" i="1" dirty="0">
                <a:solidFill>
                  <a:schemeClr val="accent2">
                    <a:lumMod val="75000"/>
                  </a:schemeClr>
                </a:solidFill>
              </a:rPr>
              <a:t>→ every threshold, window &amp; cooldown must be tuned today.</a:t>
            </a:r>
          </a:p>
        </p:txBody>
      </p:sp>
      <p:sp>
        <p:nvSpPr>
          <p:cNvPr id="22" name="InProgress Label"/>
          <p:cNvSpPr txBox="1"/>
          <p:nvPr/>
        </p:nvSpPr>
        <p:spPr>
          <a:xfrm>
            <a:off x="5477625" y="2794432"/>
            <a:ext cx="980000" cy="330000"/>
          </a:xfrm>
          <a:prstGeom prst="rect">
            <a:avLst/>
          </a:prstGeom>
          <a:noFill/>
        </p:spPr>
        <p:txBody>
          <a:bodyPr wrap="none" rtlCol="0">
            <a:spAutoFit/>
          </a:bodyPr>
          <a:lstStyle/>
          <a:p>
            <a:pPr algn="ctr"/>
            <a:r>
              <a:rPr lang="en-US" sz="1000" b="1" dirty="0">
                <a:solidFill>
                  <a:schemeClr val="accent2">
                    <a:lumMod val="75000"/>
                  </a:schemeClr>
                </a:solidFill>
              </a:rPr>
              <a:t>In progress</a:t>
            </a:r>
          </a:p>
        </p:txBody>
      </p:sp>
      <p:sp>
        <p:nvSpPr>
          <p:cNvPr id="23" name="Arrow"/>
          <p:cNvSpPr/>
          <p:nvPr/>
        </p:nvSpPr>
        <p:spPr>
          <a:xfrm>
            <a:off x="5667625" y="3010000"/>
            <a:ext cx="600000" cy="560000"/>
          </a:xfrm>
          <a:prstGeom prst="rightArrow">
            <a:avLst/>
          </a:prstGeom>
          <a:solidFill>
            <a:schemeClr val="accent2"/>
          </a:solidFill>
          <a:ln>
            <a:noFill/>
          </a:ln>
        </p:spPr>
        <p:txBody>
          <a:bodyPr rtlCol="0" anchor="ctr"/>
          <a:lstStyle/>
          <a:p>
            <a:endParaRPr lang="en-US"/>
          </a:p>
        </p:txBody>
      </p:sp>
      <p:sp>
        <p:nvSpPr>
          <p:cNvPr id="24" name="Future Config"/>
          <p:cNvSpPr/>
          <p:nvPr/>
        </p:nvSpPr>
        <p:spPr>
          <a:xfrm>
            <a:off x="6328575" y="2360000"/>
            <a:ext cx="2640000" cy="1880000"/>
          </a:xfrm>
          <a:prstGeom prst="roundRect">
            <a:avLst/>
          </a:prstGeom>
          <a:solidFill>
            <a:schemeClr val="accent2">
              <a:lumMod val="20000"/>
              <a:lumOff val="80000"/>
            </a:schemeClr>
          </a:solidFill>
          <a:ln w="12700">
            <a:solidFill>
              <a:schemeClr val="accent2"/>
            </a:solidFill>
          </a:ln>
        </p:spPr>
        <p:txBody>
          <a:bodyPr rtlCol="0" anchor="t">
            <a:normAutofit/>
          </a:bodyPr>
          <a:lstStyle/>
          <a:p>
            <a:r>
              <a:rPr lang="en-US" sz="1050" b="1" dirty="0">
                <a:solidFill>
                  <a:schemeClr val="accent2">
                    <a:lumMod val="75000"/>
                  </a:schemeClr>
                </a:solidFill>
              </a:rPr>
              <a:t>You configure just this</a:t>
            </a:r>
          </a:p>
          <a:p>
            <a:pPr marL="0" indent="0">
              <a:lnSpc>
                <a:spcPct val="100000"/>
              </a:lnSpc>
            </a:pPr>
            <a:r>
              <a:rPr lang="en-US" sz="950" dirty="0">
                <a:latin typeface="Consolas" panose="020B0609020204030204" pitchFamily="49" charset="0"/>
              </a:rPr>
              <a:t>metadata:</a:t>
            </a:r>
          </a:p>
          <a:p>
            <a:pPr marL="0" indent="0">
              <a:lnSpc>
                <a:spcPct val="100000"/>
              </a:lnSpc>
            </a:pPr>
            <a:r>
              <a:rPr lang="en-US" sz="950" dirty="0">
                <a:latin typeface="Consolas" panose="020B0609020204030204" pitchFamily="49" charset="0"/>
              </a:rPr>
              <a:t>  annotations:</a:t>
            </a:r>
          </a:p>
          <a:p>
            <a:pPr marL="0" indent="0">
              <a:lnSpc>
                <a:spcPct val="100000"/>
              </a:lnSpc>
            </a:pPr>
            <a:r>
              <a:rPr lang="en-US" sz="950" dirty="0">
                <a:latin typeface="Consolas" panose="020B0609020204030204" pitchFamily="49" charset="0"/>
              </a:rPr>
              <a:t>    .../min-replicas: "1"</a:t>
            </a:r>
          </a:p>
          <a:p>
            <a:pPr marL="0" indent="0">
              <a:lnSpc>
                <a:spcPct val="100000"/>
              </a:lnSpc>
            </a:pPr>
            <a:r>
              <a:rPr lang="en-US" sz="950" dirty="0">
                <a:latin typeface="Consolas" panose="020B0609020204030204" pitchFamily="49" charset="0"/>
              </a:rPr>
              <a:t>    .../max-replicas: "5"</a:t>
            </a:r>
          </a:p>
          <a:p>
            <a:pPr marL="0" indent="0">
              <a:spcBef>
                <a:spcPts val="400"/>
              </a:spcBef>
            </a:pPr>
            <a:r>
              <a:rPr lang="en-US" sz="900" b="1" i="1" dirty="0">
                <a:solidFill>
                  <a:schemeClr val="accent2">
                    <a:lumMod val="75000"/>
                  </a:schemeClr>
                </a:solidFill>
              </a:rPr>
              <a:t>everything else → auto-tuned to best practice</a:t>
            </a:r>
          </a:p>
        </p:txBody>
      </p:sp>
    </p:spTree>
    <p:extLst>
      <p:ext uri="{BB962C8B-B14F-4D97-AF65-F5344CB8AC3E}">
        <p14:creationId xmlns:p14="http://schemas.microsoft.com/office/powerpoint/2010/main" val="3344936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0317-2C4E-BFC4-1FF1-1C455A5E73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756E78-9793-EA25-C27C-F0B4F8FF118F}"/>
              </a:ext>
            </a:extLst>
          </p:cNvPr>
          <p:cNvSpPr>
            <a:spLocks noGrp="1"/>
          </p:cNvSpPr>
          <p:nvPr>
            <p:ph type="title"/>
          </p:nvPr>
        </p:nvSpPr>
        <p:spPr/>
        <p:txBody>
          <a:bodyPr/>
          <a:lstStyle/>
          <a:p>
            <a:pPr lvl="0"/>
            <a:r>
              <a:rPr lang="en" altLang="zh-CN" dirty="0"/>
              <a:t>Production Integration</a:t>
            </a:r>
            <a:endParaRPr lang="zh-CN" altLang="zh-CN" dirty="0"/>
          </a:p>
        </p:txBody>
      </p:sp>
    </p:spTree>
    <p:extLst>
      <p:ext uri="{BB962C8B-B14F-4D97-AF65-F5344CB8AC3E}">
        <p14:creationId xmlns:p14="http://schemas.microsoft.com/office/powerpoint/2010/main" val="1560559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3B3F-E2B8-AB1F-BF4C-E9A8B7057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A4075-335E-F7B6-AB60-BCC77AFA694D}"/>
              </a:ext>
            </a:extLst>
          </p:cNvPr>
          <p:cNvSpPr>
            <a:spLocks noGrp="1"/>
          </p:cNvSpPr>
          <p:nvPr>
            <p:ph type="title"/>
          </p:nvPr>
        </p:nvSpPr>
        <p:spPr/>
        <p:txBody>
          <a:bodyPr>
            <a:normAutofit/>
          </a:bodyPr>
          <a:lstStyle/>
          <a:p>
            <a:r>
              <a:rPr lang="en-US" dirty="0"/>
              <a:t>Production-Stack</a:t>
            </a:r>
          </a:p>
        </p:txBody>
      </p:sp>
      <p:sp>
        <p:nvSpPr>
          <p:cNvPr id="20" name="TextBox Subtitle"/>
          <p:cNvSpPr txBox="1"/>
          <p:nvPr/>
        </p:nvSpPr>
        <p:spPr>
          <a:xfrm>
            <a:off x="700000" y="1100000"/>
            <a:ext cx="7900000" cy="720000"/>
          </a:xfrm>
          <a:prstGeom prst="rect">
            <a:avLst/>
          </a:prstGeom>
          <a:noFill/>
        </p:spPr>
        <p:txBody>
          <a:bodyPr wrap="square" rtlCol="0">
            <a:normAutofit/>
          </a:bodyPr>
          <a:lstStyle/>
          <a:p>
            <a:pPr marL="228600" indent="-228600">
              <a:spcBef>
                <a:spcPts val="300"/>
              </a:spcBef>
              <a:buFont typeface="Arial" panose="020B0604020202020204" pitchFamily="34" charset="0"/>
              <a:buChar char="•"/>
            </a:pPr>
            <a:r>
              <a:rPr lang="en-US" sz="1100" b="1" dirty="0"/>
              <a:t>Built on the llm-d + Kaito integration</a:t>
            </a:r>
            <a:r>
              <a:rPr lang="en-US" sz="1100" dirty="0"/>
              <a:t> — one complete, E2E inference solution</a:t>
            </a:r>
          </a:p>
          <a:p>
            <a:pPr marL="228600" indent="-228600">
              <a:spcBef>
                <a:spcPts val="300"/>
              </a:spcBef>
              <a:buFont typeface="Arial" panose="020B0604020202020204" pitchFamily="34" charset="0"/>
              <a:buChar char="•"/>
            </a:pPr>
            <a:r>
              <a:rPr lang="en-US" sz="1100" b="1" dirty="0"/>
              <a:t>Multi-tenant</a:t>
            </a:r>
            <a:r>
              <a:rPr lang="en-US" sz="1100" dirty="0"/>
              <a:t> — serve isolated Inference Services to many tenants</a:t>
            </a:r>
          </a:p>
          <a:p>
            <a:pPr marL="228600" indent="-228600">
              <a:spcBef>
                <a:spcPts val="300"/>
              </a:spcBef>
              <a:buFont typeface="Arial" panose="020B0604020202020204" pitchFamily="34" charset="0"/>
              <a:buChar char="•"/>
            </a:pPr>
            <a:r>
              <a:rPr lang="en-US" sz="1100" b="1" dirty="0"/>
              <a:t>Layered delivery</a:t>
            </a:r>
            <a:r>
              <a:rPr lang="en-US" sz="1100" dirty="0"/>
              <a:t> — 3 Helm charts: production-stack / modelharness / modeldeployment</a:t>
            </a:r>
          </a:p>
        </p:txBody>
      </p:sp>
      <p:pic>
        <p:nvPicPr>
          <p:cNvPr id="3" name="Picture 2">
            <a:extLst>
              <a:ext uri="{FF2B5EF4-FFF2-40B4-BE49-F238E27FC236}">
                <a16:creationId xmlns:a16="http://schemas.microsoft.com/office/drawing/2014/main" id="{F8AE5D22-9C08-0469-4683-8B5145947621}"/>
              </a:ext>
            </a:extLst>
          </p:cNvPr>
          <p:cNvPicPr>
            <a:picLocks noChangeAspect="1"/>
          </p:cNvPicPr>
          <p:nvPr/>
        </p:nvPicPr>
        <p:blipFill>
          <a:blip r:embed="rId3"/>
          <a:stretch>
            <a:fillRect/>
          </a:stretch>
        </p:blipFill>
        <p:spPr>
          <a:xfrm>
            <a:off x="1721263" y="1820000"/>
            <a:ext cx="5701474" cy="3317400"/>
          </a:xfrm>
          <a:prstGeom prst="rect">
            <a:avLst/>
          </a:prstGeom>
        </p:spPr>
      </p:pic>
    </p:spTree>
    <p:extLst>
      <p:ext uri="{BB962C8B-B14F-4D97-AF65-F5344CB8AC3E}">
        <p14:creationId xmlns:p14="http://schemas.microsoft.com/office/powerpoint/2010/main" val="45343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AFB0-F7DB-A7A3-923E-C861E6545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D8D9F-0893-4F86-4F31-9DA54E51BDC4}"/>
              </a:ext>
            </a:extLst>
          </p:cNvPr>
          <p:cNvSpPr>
            <a:spLocks noGrp="1"/>
          </p:cNvSpPr>
          <p:nvPr>
            <p:ph type="title"/>
          </p:nvPr>
        </p:nvSpPr>
        <p:spPr/>
        <p:txBody>
          <a:bodyPr>
            <a:normAutofit/>
          </a:bodyPr>
          <a:lstStyle/>
          <a:p>
            <a:r>
              <a:rPr lang="en-US" dirty="0"/>
              <a:t>GPU Node Mocker</a:t>
            </a:r>
          </a:p>
        </p:txBody>
      </p:sp>
      <p:pic>
        <p:nvPicPr>
          <p:cNvPr id="5" name="Picture 4">
            <a:extLst>
              <a:ext uri="{FF2B5EF4-FFF2-40B4-BE49-F238E27FC236}">
                <a16:creationId xmlns:a16="http://schemas.microsoft.com/office/drawing/2014/main" id="{7038CD52-0384-309D-2D66-BB4D12C97472}"/>
              </a:ext>
            </a:extLst>
          </p:cNvPr>
          <p:cNvPicPr>
            <a:picLocks noChangeAspect="1"/>
          </p:cNvPicPr>
          <p:nvPr/>
        </p:nvPicPr>
        <p:blipFill>
          <a:blip r:embed="rId3"/>
          <a:stretch>
            <a:fillRect/>
          </a:stretch>
        </p:blipFill>
        <p:spPr>
          <a:xfrm>
            <a:off x="428625" y="1675086"/>
            <a:ext cx="5514976" cy="2744526"/>
          </a:xfrm>
          <a:prstGeom prst="rect">
            <a:avLst/>
          </a:prstGeom>
        </p:spPr>
      </p:pic>
      <p:sp>
        <p:nvSpPr>
          <p:cNvPr id="20" name="TextBox Subtitle"/>
          <p:cNvSpPr txBox="1"/>
          <p:nvPr/>
        </p:nvSpPr>
        <p:spPr>
          <a:xfrm>
            <a:off x="581025" y="1180000"/>
            <a:ext cx="8300000" cy="340000"/>
          </a:xfrm>
          <a:prstGeom prst="rect">
            <a:avLst/>
          </a:prstGeom>
          <a:noFill/>
        </p:spPr>
        <p:txBody>
          <a:bodyPr wrap="square" rtlCol="0">
            <a:normAutofit fontScale="77500" lnSpcReduction="20000"/>
          </a:bodyPr>
          <a:lstStyle/>
          <a:p>
            <a:r>
              <a:rPr lang="en-US" sz="1400" b="1" dirty="0">
                <a:solidFill>
                  <a:schemeClr val="accent2">
                    <a:lumMod val="75000"/>
                  </a:schemeClr>
                </a:solidFill>
              </a:rPr>
              <a:t>Run the full GPU inference stack on a CPU-only cluster — same NodePool/NodeClaim → Node → Pod flow, no real GPUs.</a:t>
            </a:r>
          </a:p>
        </p:txBody>
      </p:sp>
      <p:sp>
        <p:nvSpPr>
          <p:cNvPr id="21" name="Mocker Highlights"/>
          <p:cNvSpPr/>
          <p:nvPr/>
        </p:nvSpPr>
        <p:spPr>
          <a:xfrm>
            <a:off x="6099975" y="2021887"/>
            <a:ext cx="2615400" cy="2397725"/>
          </a:xfrm>
          <a:prstGeom prst="roundRect">
            <a:avLst/>
          </a:prstGeom>
          <a:solidFill>
            <a:schemeClr val="bg1">
              <a:lumMod val="95000"/>
            </a:schemeClr>
          </a:solidFill>
          <a:ln w="12700">
            <a:solidFill>
              <a:schemeClr val="accent2"/>
            </a:solidFill>
          </a:ln>
        </p:spPr>
        <p:txBody>
          <a:bodyPr rtlCol="0" anchor="t">
            <a:normAutofit lnSpcReduction="10000"/>
          </a:bodyPr>
          <a:lstStyle/>
          <a:p>
            <a:r>
              <a:rPr lang="en-US" sz="1200" b="1" dirty="0">
                <a:solidFill>
                  <a:schemeClr val="accent2">
                    <a:lumMod val="75000"/>
                  </a:schemeClr>
                </a:solidFill>
              </a:rPr>
              <a:t>What it does</a:t>
            </a:r>
          </a:p>
          <a:p>
            <a:pPr marL="228600" indent="-228600">
              <a:spcBef>
                <a:spcPts val="600"/>
              </a:spcBef>
              <a:buFont typeface="Arial" panose="020B0604020202020204" pitchFamily="34" charset="0"/>
              <a:buChar char="•"/>
            </a:pPr>
            <a:r>
              <a:rPr lang="en-US" sz="1050" b="1" dirty="0"/>
              <a:t>Faithful Karpenter flow</a:t>
            </a:r>
            <a:r>
              <a:rPr lang="en-US" sz="1050" dirty="0"/>
              <a:t> — imitates real KAITO GPU provisioning</a:t>
            </a:r>
          </a:p>
          <a:p>
            <a:pPr marL="228600" indent="-228600">
              <a:spcBef>
                <a:spcPts val="600"/>
              </a:spcBef>
              <a:buFont typeface="Arial" panose="020B0604020202020204" pitchFamily="34" charset="0"/>
              <a:buChar char="•"/>
            </a:pPr>
            <a:r>
              <a:rPr lang="en-US" sz="1050" b="1" dirty="0"/>
              <a:t>Phase 1: fake GPU node</a:t>
            </a:r>
            <a:r>
              <a:rPr lang="en-US" sz="1050" dirty="0"/>
              <a:t> — per NodeClaim: gpu labels/taints, capacity, NodeClaim Ready, 10s lease heartbeat</a:t>
            </a:r>
          </a:p>
          <a:p>
            <a:pPr marL="228600" indent="-228600">
              <a:spcBef>
                <a:spcPts val="600"/>
              </a:spcBef>
              <a:buFont typeface="Arial" panose="020B0604020202020204" pitchFamily="34" charset="0"/>
              <a:buChar char="•"/>
            </a:pPr>
            <a:r>
              <a:rPr lang="en-US" sz="1050" b="1" dirty="0"/>
              <a:t>Phase 2: shadow pod</a:t>
            </a:r>
            <a:r>
              <a:rPr lang="en-US" sz="1050" dirty="0"/>
              <a:t> — runs llm-d-inference-sim on a real CPU node; writes its real IP into the inference pod status</a:t>
            </a:r>
          </a:p>
        </p:txBody>
      </p:sp>
      <p:sp>
        <p:nvSpPr>
          <p:cNvPr id="22" name="Summary Banner"/>
          <p:cNvSpPr/>
          <p:nvPr/>
        </p:nvSpPr>
        <p:spPr>
          <a:xfrm>
            <a:off x="1232175" y="4580975"/>
            <a:ext cx="6679650" cy="235000"/>
          </a:xfrm>
          <a:prstGeom prst="roundRect">
            <a:avLst/>
          </a:prstGeom>
          <a:noFill/>
        </p:spPr>
        <p:txBody>
          <a:bodyPr wrap="square" rtlCol="0"/>
          <a:lstStyle/>
          <a:p>
            <a:pPr algn="ctr"/>
            <a:r>
              <a:rPr lang="en-US" sz="1200" b="1" dirty="0">
                <a:solidFill>
                  <a:schemeClr val="accent1">
                    <a:lumMod val="75000"/>
                  </a:schemeClr>
                </a:solidFill>
              </a:rPr>
              <a:t>CPU-only E2E: the whole GPU inference stack runs unchanged — at zero GPU cost.</a:t>
            </a:r>
          </a:p>
        </p:txBody>
      </p:sp>
    </p:spTree>
    <p:extLst>
      <p:ext uri="{BB962C8B-B14F-4D97-AF65-F5344CB8AC3E}">
        <p14:creationId xmlns:p14="http://schemas.microsoft.com/office/powerpoint/2010/main" val="3242552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C8C5-8E5A-D293-70D4-63146CECA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539F8-604A-5DEC-5547-0205125C4234}"/>
              </a:ext>
            </a:extLst>
          </p:cNvPr>
          <p:cNvSpPr>
            <a:spLocks noGrp="1"/>
          </p:cNvSpPr>
          <p:nvPr>
            <p:ph type="title"/>
          </p:nvPr>
        </p:nvSpPr>
        <p:spPr/>
        <p:txBody>
          <a:bodyPr>
            <a:normAutofit/>
          </a:bodyPr>
          <a:lstStyle/>
          <a:p>
            <a:r>
              <a:rPr lang="en-US" dirty="0"/>
              <a:t>Testing=Confidence</a:t>
            </a:r>
          </a:p>
        </p:txBody>
      </p:sp>
      <p:pic>
        <p:nvPicPr>
          <p:cNvPr id="4" name="Picture 3">
            <a:extLst>
              <a:ext uri="{FF2B5EF4-FFF2-40B4-BE49-F238E27FC236}">
                <a16:creationId xmlns:a16="http://schemas.microsoft.com/office/drawing/2014/main" id="{608599EF-C3F9-A77D-5C0D-40594F39D807}"/>
              </a:ext>
            </a:extLst>
          </p:cNvPr>
          <p:cNvPicPr>
            <a:picLocks noChangeAspect="1"/>
          </p:cNvPicPr>
          <p:nvPr/>
        </p:nvPicPr>
        <p:blipFill>
          <a:blip r:embed="rId3"/>
          <a:stretch>
            <a:fillRect/>
          </a:stretch>
        </p:blipFill>
        <p:spPr>
          <a:xfrm>
            <a:off x="1785766" y="1657349"/>
            <a:ext cx="5324174" cy="3136375"/>
          </a:xfrm>
          <a:prstGeom prst="rect">
            <a:avLst/>
          </a:prstGeom>
        </p:spPr>
      </p:pic>
      <p:sp>
        <p:nvSpPr>
          <p:cNvPr id="20" name="TextBox Subtitle"/>
          <p:cNvSpPr txBox="1"/>
          <p:nvPr/>
        </p:nvSpPr>
        <p:spPr>
          <a:xfrm>
            <a:off x="800000" y="1140000"/>
            <a:ext cx="7550000" cy="500000"/>
          </a:xfrm>
          <a:prstGeom prst="rect">
            <a:avLst/>
          </a:prstGeom>
          <a:noFill/>
        </p:spPr>
        <p:txBody>
          <a:bodyPr wrap="square" rtlCol="0">
            <a:normAutofit/>
          </a:bodyPr>
          <a:lstStyle/>
          <a:p>
            <a:pPr marL="228600" indent="-228600">
              <a:spcBef>
                <a:spcPts val="300"/>
              </a:spcBef>
              <a:buFont typeface="Arial" panose="020B0604020202020204" pitchFamily="34" charset="0"/>
              <a:buChar char="•"/>
            </a:pPr>
            <a:r>
              <a:rPr lang="en-US" sz="1200" b="1" dirty="0"/>
              <a:t>70+ end-to-end test cases</a:t>
            </a:r>
            <a:r>
              <a:rPr lang="en-US" sz="1200" dirty="0"/>
              <a:t> — comprehensive coverage for production-stack</a:t>
            </a:r>
          </a:p>
          <a:p>
            <a:pPr marL="228600" indent="-228600">
              <a:spcBef>
                <a:spcPts val="300"/>
              </a:spcBef>
              <a:buFont typeface="Arial" panose="020B0604020202020204" pitchFamily="34" charset="0"/>
              <a:buChar char="•"/>
            </a:pPr>
            <a:r>
              <a:rPr lang="en-US" sz="1200" b="1" dirty="0"/>
              <a:t>Two paths, one suite</a:t>
            </a:r>
            <a:r>
              <a:rPr lang="en-US" sz="1200" dirty="0"/>
              <a:t> — mocked GPU nodes (gpu-node-mocker) + real GPU nodes via Karpenter</a:t>
            </a:r>
          </a:p>
        </p:txBody>
      </p:sp>
    </p:spTree>
    <p:extLst>
      <p:ext uri="{BB962C8B-B14F-4D97-AF65-F5344CB8AC3E}">
        <p14:creationId xmlns:p14="http://schemas.microsoft.com/office/powerpoint/2010/main" val="1770022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49"/>
        <p:cNvGrpSpPr/>
        <p:nvPr/>
      </p:nvGrpSpPr>
      <p:grpSpPr>
        <a:xfrm>
          <a:off x="0" y="0"/>
          <a:ext cx="0" cy="0"/>
          <a:chOff x="0" y="0"/>
          <a:chExt cx="0" cy="0"/>
        </a:xfrm>
      </p:grpSpPr>
      <p:sp>
        <p:nvSpPr>
          <p:cNvPr id="3050" name="Google Shape;3050;p257"/>
          <p:cNvSpPr/>
          <p:nvPr/>
        </p:nvSpPr>
        <p:spPr>
          <a:xfrm>
            <a:off x="613072" y="4391360"/>
            <a:ext cx="1544700" cy="375300"/>
          </a:xfrm>
          <a:prstGeom prst="rect">
            <a:avLst/>
          </a:prstGeom>
          <a:solidFill>
            <a:schemeClr val="accent1"/>
          </a:solidFill>
          <a:ln w="8475" cap="flat" cmpd="sng">
            <a:solidFill>
              <a:schemeClr val="accent1"/>
            </a:solidFill>
            <a:prstDash val="solid"/>
            <a:round/>
            <a:headEnd type="none" w="sm" len="sm"/>
            <a:tailEnd type="none" w="sm" len="sm"/>
          </a:ln>
        </p:spPr>
        <p:txBody>
          <a:bodyPr spcFirstLastPara="1" wrap="square" lIns="81375" tIns="81375" rIns="81375" bIns="81375" anchor="ctr" anchorCtr="0">
            <a:noAutofit/>
          </a:bodyPr>
          <a:lstStyle/>
          <a:p>
            <a:pPr marL="0" lvl="0" indent="0" algn="ctr" rtl="0">
              <a:spcBef>
                <a:spcPts val="0"/>
              </a:spcBef>
              <a:spcAft>
                <a:spcPts val="0"/>
              </a:spcAft>
              <a:buClr>
                <a:schemeClr val="dk1"/>
              </a:buClr>
              <a:buSzPts val="949"/>
              <a:buFont typeface="Arial"/>
              <a:buNone/>
            </a:pPr>
            <a:r>
              <a:rPr lang="en" sz="949" b="1" dirty="0">
                <a:solidFill>
                  <a:schemeClr val="lt1"/>
                </a:solidFill>
                <a:latin typeface="Red Hat Display"/>
                <a:ea typeface="Red Hat Display"/>
                <a:cs typeface="Red Hat Display"/>
                <a:sym typeface="Red Hat Display"/>
              </a:rPr>
              <a:t>https://</a:t>
            </a:r>
            <a:r>
              <a:rPr lang="en" sz="949" b="1" dirty="0" err="1">
                <a:solidFill>
                  <a:schemeClr val="lt1"/>
                </a:solidFill>
                <a:latin typeface="Red Hat Display"/>
                <a:ea typeface="Red Hat Display"/>
                <a:cs typeface="Red Hat Display"/>
                <a:sym typeface="Red Hat Display"/>
              </a:rPr>
              <a:t>llm-d.ai</a:t>
            </a:r>
            <a:endParaRPr sz="949" b="1" dirty="0">
              <a:solidFill>
                <a:schemeClr val="lt1"/>
              </a:solidFill>
              <a:latin typeface="Red Hat Display"/>
              <a:ea typeface="Red Hat Display"/>
              <a:cs typeface="Red Hat Display"/>
              <a:sym typeface="Red Hat Display"/>
            </a:endParaRPr>
          </a:p>
        </p:txBody>
      </p:sp>
      <p:pic>
        <p:nvPicPr>
          <p:cNvPr id="3052" name="Google Shape;3052;p257"/>
          <p:cNvPicPr preferRelativeResize="0"/>
          <p:nvPr/>
        </p:nvPicPr>
        <p:blipFill>
          <a:blip r:embed="rId3">
            <a:alphaModFix/>
          </a:blip>
          <a:stretch>
            <a:fillRect/>
          </a:stretch>
        </p:blipFill>
        <p:spPr>
          <a:xfrm>
            <a:off x="562209" y="2653826"/>
            <a:ext cx="1695345" cy="1695345"/>
          </a:xfrm>
          <a:prstGeom prst="rect">
            <a:avLst/>
          </a:prstGeom>
          <a:noFill/>
          <a:ln>
            <a:noFill/>
          </a:ln>
        </p:spPr>
      </p:pic>
      <p:sp>
        <p:nvSpPr>
          <p:cNvPr id="3053" name="Google Shape;3053;p257"/>
          <p:cNvSpPr/>
          <p:nvPr/>
        </p:nvSpPr>
        <p:spPr>
          <a:xfrm>
            <a:off x="2815630" y="4376747"/>
            <a:ext cx="1604700" cy="390000"/>
          </a:xfrm>
          <a:prstGeom prst="rect">
            <a:avLst/>
          </a:prstGeom>
          <a:solidFill>
            <a:schemeClr val="accent1"/>
          </a:solidFill>
          <a:ln w="8800" cap="flat" cmpd="sng">
            <a:solidFill>
              <a:schemeClr val="accent1"/>
            </a:solidFill>
            <a:prstDash val="solid"/>
            <a:round/>
            <a:headEnd type="none" w="sm" len="sm"/>
            <a:tailEnd type="none" w="sm" len="sm"/>
          </a:ln>
        </p:spPr>
        <p:txBody>
          <a:bodyPr spcFirstLastPara="1" wrap="square" lIns="84525" tIns="84525" rIns="84525" bIns="84525" anchor="ctr" anchorCtr="0">
            <a:noAutofit/>
          </a:bodyPr>
          <a:lstStyle/>
          <a:p>
            <a:pPr marL="0" lvl="0" indent="0" algn="ctr" rtl="0">
              <a:spcBef>
                <a:spcPts val="0"/>
              </a:spcBef>
              <a:spcAft>
                <a:spcPts val="0"/>
              </a:spcAft>
              <a:buClr>
                <a:schemeClr val="dk1"/>
              </a:buClr>
              <a:buSzPts val="986"/>
              <a:buFont typeface="Arial"/>
              <a:buNone/>
            </a:pPr>
            <a:r>
              <a:rPr lang="en" sz="986" b="1" dirty="0">
                <a:solidFill>
                  <a:schemeClr val="lt1"/>
                </a:solidFill>
                <a:latin typeface="Red Hat Display"/>
                <a:ea typeface="Red Hat Display"/>
                <a:cs typeface="Red Hat Display"/>
                <a:sym typeface="Red Hat Display"/>
              </a:rPr>
              <a:t>Join Community Slack</a:t>
            </a:r>
            <a:endParaRPr sz="986" b="1" dirty="0">
              <a:solidFill>
                <a:schemeClr val="lt1"/>
              </a:solidFill>
              <a:latin typeface="Red Hat Display"/>
              <a:ea typeface="Red Hat Display"/>
              <a:cs typeface="Red Hat Display"/>
              <a:sym typeface="Red Hat Display"/>
            </a:endParaRPr>
          </a:p>
          <a:p>
            <a:pPr marL="0" lvl="0" indent="0" algn="ctr" rtl="0">
              <a:spcBef>
                <a:spcPts val="0"/>
              </a:spcBef>
              <a:spcAft>
                <a:spcPts val="0"/>
              </a:spcAft>
              <a:buClr>
                <a:schemeClr val="dk1"/>
              </a:buClr>
              <a:buSzPts val="986"/>
              <a:buFont typeface="Arial"/>
              <a:buNone/>
            </a:pPr>
            <a:r>
              <a:rPr lang="en" sz="986" b="1" dirty="0" err="1">
                <a:solidFill>
                  <a:schemeClr val="lt1"/>
                </a:solidFill>
                <a:latin typeface="Red Hat Display"/>
                <a:ea typeface="Red Hat Display"/>
                <a:cs typeface="Red Hat Display"/>
                <a:sym typeface="Red Hat Display"/>
              </a:rPr>
              <a:t>llm-d.ai</a:t>
            </a:r>
            <a:r>
              <a:rPr lang="en" sz="986" b="1" dirty="0">
                <a:solidFill>
                  <a:schemeClr val="lt1"/>
                </a:solidFill>
                <a:latin typeface="Red Hat Display"/>
                <a:ea typeface="Red Hat Display"/>
                <a:cs typeface="Red Hat Display"/>
                <a:sym typeface="Red Hat Display"/>
              </a:rPr>
              <a:t>/slack</a:t>
            </a:r>
            <a:endParaRPr sz="986" b="1" dirty="0">
              <a:solidFill>
                <a:schemeClr val="lt1"/>
              </a:solidFill>
              <a:latin typeface="Red Hat Display"/>
              <a:ea typeface="Red Hat Display"/>
              <a:cs typeface="Red Hat Display"/>
              <a:sym typeface="Red Hat Display"/>
            </a:endParaRPr>
          </a:p>
        </p:txBody>
      </p:sp>
      <p:sp>
        <p:nvSpPr>
          <p:cNvPr id="3054" name="Google Shape;3054;p257"/>
          <p:cNvSpPr txBox="1"/>
          <p:nvPr/>
        </p:nvSpPr>
        <p:spPr>
          <a:xfrm>
            <a:off x="370823" y="1067902"/>
            <a:ext cx="5060656" cy="1830304"/>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2"/>
              </a:buClr>
              <a:buSzPts val="1800"/>
              <a:buChar char="●"/>
            </a:pPr>
            <a:r>
              <a:rPr lang="en" sz="1800" u="sng" dirty="0">
                <a:solidFill>
                  <a:schemeClr val="hlink"/>
                </a:solidFill>
                <a:hlinkClick r:id="rId4"/>
              </a:rPr>
              <a:t>llm-d.ai</a:t>
            </a:r>
            <a:endParaRPr sz="1800" dirty="0">
              <a:solidFill>
                <a:schemeClr val="dk2"/>
              </a:solidFill>
            </a:endParaRPr>
          </a:p>
          <a:p>
            <a:pPr marL="457200" lvl="0" indent="-342900" algn="l" rtl="0">
              <a:lnSpc>
                <a:spcPct val="150000"/>
              </a:lnSpc>
              <a:spcBef>
                <a:spcPts val="0"/>
              </a:spcBef>
              <a:spcAft>
                <a:spcPts val="0"/>
              </a:spcAft>
              <a:buClr>
                <a:schemeClr val="dk2"/>
              </a:buClr>
              <a:buSzPts val="1800"/>
              <a:buChar char="●"/>
            </a:pPr>
            <a:r>
              <a:rPr lang="en" sz="1800" u="sng" dirty="0">
                <a:solidFill>
                  <a:schemeClr val="hlink"/>
                </a:solidFill>
                <a:hlinkClick r:id="rId5"/>
              </a:rPr>
              <a:t>github.com/llm-d</a:t>
            </a:r>
            <a:endParaRPr sz="1800" dirty="0">
              <a:solidFill>
                <a:schemeClr val="dk2"/>
              </a:solidFill>
            </a:endParaRPr>
          </a:p>
          <a:p>
            <a:pPr marL="457200" lvl="0" indent="-342900" algn="l" rtl="0">
              <a:lnSpc>
                <a:spcPct val="150000"/>
              </a:lnSpc>
              <a:spcBef>
                <a:spcPts val="0"/>
              </a:spcBef>
              <a:spcAft>
                <a:spcPts val="0"/>
              </a:spcAft>
              <a:buClr>
                <a:schemeClr val="dk2"/>
              </a:buClr>
              <a:buSzPts val="1800"/>
              <a:buChar char="●"/>
            </a:pPr>
            <a:r>
              <a:rPr lang="en" sz="1800" u="sng" dirty="0">
                <a:solidFill>
                  <a:schemeClr val="hlink"/>
                </a:solidFill>
                <a:hlinkClick r:id="rId6"/>
              </a:rPr>
              <a:t>llm-d.ai/slack</a:t>
            </a:r>
            <a:endParaRPr sz="1800" dirty="0">
              <a:solidFill>
                <a:schemeClr val="dk2"/>
              </a:solidFill>
            </a:endParaRPr>
          </a:p>
        </p:txBody>
      </p:sp>
      <p:pic>
        <p:nvPicPr>
          <p:cNvPr id="3055" name="Google Shape;3055;p257"/>
          <p:cNvPicPr preferRelativeResize="0"/>
          <p:nvPr/>
        </p:nvPicPr>
        <p:blipFill>
          <a:blip r:embed="rId7">
            <a:alphaModFix/>
          </a:blip>
          <a:stretch>
            <a:fillRect/>
          </a:stretch>
        </p:blipFill>
        <p:spPr>
          <a:xfrm>
            <a:off x="2762795" y="2571750"/>
            <a:ext cx="1761167" cy="1761167"/>
          </a:xfrm>
          <a:prstGeom prst="rect">
            <a:avLst/>
          </a:prstGeom>
          <a:noFill/>
          <a:ln>
            <a:noFill/>
          </a:ln>
        </p:spPr>
      </p:pic>
      <p:sp>
        <p:nvSpPr>
          <p:cNvPr id="4" name="标题 3">
            <a:extLst>
              <a:ext uri="{FF2B5EF4-FFF2-40B4-BE49-F238E27FC236}">
                <a16:creationId xmlns:a16="http://schemas.microsoft.com/office/drawing/2014/main" id="{DAE5BCA3-226B-FE2E-A106-86065FE86305}"/>
              </a:ext>
            </a:extLst>
          </p:cNvPr>
          <p:cNvSpPr>
            <a:spLocks noGrp="1"/>
          </p:cNvSpPr>
          <p:nvPr>
            <p:ph type="title"/>
          </p:nvPr>
        </p:nvSpPr>
        <p:spPr/>
        <p:txBody>
          <a:bodyPr/>
          <a:lstStyle/>
          <a:p>
            <a:r>
              <a:rPr lang="en" altLang="zh-CN" dirty="0">
                <a:sym typeface="Red Hat Display"/>
              </a:rPr>
              <a:t>Where can you find us</a:t>
            </a:r>
            <a:endParaRPr lang="zh-CN" altLang="en-US" dirty="0"/>
          </a:p>
        </p:txBody>
      </p:sp>
      <p:sp>
        <p:nvSpPr>
          <p:cNvPr id="6" name="Google Shape;3054;p257">
            <a:extLst>
              <a:ext uri="{FF2B5EF4-FFF2-40B4-BE49-F238E27FC236}">
                <a16:creationId xmlns:a16="http://schemas.microsoft.com/office/drawing/2014/main" id="{68C14C85-0A31-0CCB-286F-8695818B09D3}"/>
              </a:ext>
            </a:extLst>
          </p:cNvPr>
          <p:cNvSpPr txBox="1"/>
          <p:nvPr/>
        </p:nvSpPr>
        <p:spPr>
          <a:xfrm>
            <a:off x="4401369" y="1011211"/>
            <a:ext cx="5060656" cy="1830304"/>
          </a:xfrm>
          <a:prstGeom prst="rect">
            <a:avLst/>
          </a:prstGeom>
          <a:noFill/>
          <a:ln>
            <a:noFill/>
          </a:ln>
        </p:spPr>
        <p:txBody>
          <a:bodyPr spcFirstLastPara="1" wrap="square" lIns="91425" tIns="91425" rIns="91425" bIns="91425" anchor="t" anchorCtr="0">
            <a:noAutofit/>
          </a:bodyPr>
          <a:lstStyle/>
          <a:p>
            <a:pPr marL="457200" lvl="0" indent="-342900">
              <a:lnSpc>
                <a:spcPct val="150000"/>
              </a:lnSpc>
              <a:buClr>
                <a:schemeClr val="dk2"/>
              </a:buClr>
              <a:buSzPts val="1800"/>
              <a:buChar char="●"/>
            </a:pPr>
            <a:r>
              <a:rPr lang="en" sz="1800" u="sng" dirty="0">
                <a:solidFill>
                  <a:schemeClr val="hlink"/>
                </a:solidFill>
                <a:hlinkClick r:id="rId8"/>
              </a:rPr>
              <a:t>https://kaito-project.github.io/kaito/docs/</a:t>
            </a:r>
            <a:endParaRPr lang="en" sz="1800" u="sng" dirty="0">
              <a:solidFill>
                <a:schemeClr val="hlink"/>
              </a:solidFill>
            </a:endParaRPr>
          </a:p>
          <a:p>
            <a:pPr marL="457200" lvl="0" indent="-342900">
              <a:lnSpc>
                <a:spcPct val="150000"/>
              </a:lnSpc>
              <a:buClr>
                <a:schemeClr val="dk2"/>
              </a:buClr>
              <a:buSzPts val="1800"/>
              <a:buChar char="●"/>
            </a:pPr>
            <a:r>
              <a:rPr lang="en" sz="1800" u="sng" dirty="0">
                <a:solidFill>
                  <a:schemeClr val="hlink"/>
                </a:solidFill>
                <a:hlinkClick r:id="rId9"/>
              </a:rPr>
              <a:t>https://github.com/kaito-project</a:t>
            </a:r>
            <a:endParaRPr lang="en" sz="1800" u="sng" dirty="0">
              <a:solidFill>
                <a:schemeClr val="hlink"/>
              </a:solidFill>
            </a:endParaRPr>
          </a:p>
        </p:txBody>
      </p:sp>
      <p:pic>
        <p:nvPicPr>
          <p:cNvPr id="9" name="图片 8">
            <a:extLst>
              <a:ext uri="{FF2B5EF4-FFF2-40B4-BE49-F238E27FC236}">
                <a16:creationId xmlns:a16="http://schemas.microsoft.com/office/drawing/2014/main" id="{14E2BD00-4724-5BA3-40C0-09043CFB0A77}"/>
              </a:ext>
            </a:extLst>
          </p:cNvPr>
          <p:cNvPicPr>
            <a:picLocks noChangeAspect="1"/>
          </p:cNvPicPr>
          <p:nvPr/>
        </p:nvPicPr>
        <p:blipFill>
          <a:blip r:embed="rId10"/>
          <a:stretch>
            <a:fillRect/>
          </a:stretch>
        </p:blipFill>
        <p:spPr>
          <a:xfrm>
            <a:off x="4963842" y="2469435"/>
            <a:ext cx="1945755" cy="1945755"/>
          </a:xfrm>
          <a:prstGeom prst="rect">
            <a:avLst/>
          </a:prstGeom>
        </p:spPr>
      </p:pic>
      <p:sp>
        <p:nvSpPr>
          <p:cNvPr id="10" name="Google Shape;3050;p257">
            <a:extLst>
              <a:ext uri="{FF2B5EF4-FFF2-40B4-BE49-F238E27FC236}">
                <a16:creationId xmlns:a16="http://schemas.microsoft.com/office/drawing/2014/main" id="{9F05F732-6A76-96CF-3366-AD28D030FC42}"/>
              </a:ext>
            </a:extLst>
          </p:cNvPr>
          <p:cNvSpPr/>
          <p:nvPr/>
        </p:nvSpPr>
        <p:spPr>
          <a:xfrm>
            <a:off x="5151186" y="4371689"/>
            <a:ext cx="1604700" cy="390000"/>
          </a:xfrm>
          <a:prstGeom prst="rect">
            <a:avLst/>
          </a:prstGeom>
          <a:solidFill>
            <a:schemeClr val="accent1"/>
          </a:solidFill>
          <a:ln w="8475" cap="flat" cmpd="sng">
            <a:solidFill>
              <a:schemeClr val="accent1"/>
            </a:solidFill>
            <a:prstDash val="solid"/>
            <a:round/>
            <a:headEnd type="none" w="sm" len="sm"/>
            <a:tailEnd type="none" w="sm" len="sm"/>
          </a:ln>
        </p:spPr>
        <p:txBody>
          <a:bodyPr spcFirstLastPara="1" wrap="square" lIns="81375" tIns="81375" rIns="81375" bIns="81375" anchor="ctr" anchorCtr="0">
            <a:noAutofit/>
          </a:bodyPr>
          <a:lstStyle/>
          <a:p>
            <a:pPr marL="114300" lvl="0">
              <a:lnSpc>
                <a:spcPct val="150000"/>
              </a:lnSpc>
              <a:buClr>
                <a:schemeClr val="dk2"/>
              </a:buClr>
              <a:buSzPts val="1800"/>
            </a:pPr>
            <a:r>
              <a:rPr lang="en" altLang="zh-CN" sz="986" b="1" dirty="0">
                <a:solidFill>
                  <a:schemeClr val="lt1"/>
                </a:solidFill>
                <a:latin typeface="Red Hat Display"/>
                <a:hlinkClick r:id="rId9">
                  <a:extLst>
                    <a:ext uri="{A12FA001-AC4F-418D-AE19-62706E023703}">
                      <ahyp:hlinkClr xmlns:ahyp="http://schemas.microsoft.com/office/drawing/2018/hyperlinkcolor" val="tx"/>
                    </a:ext>
                  </a:extLst>
                </a:hlinkClick>
              </a:rPr>
              <a:t>https://github.com/kaito-project</a:t>
            </a:r>
            <a:endParaRPr lang="en" altLang="zh-CN" sz="986" b="1" dirty="0">
              <a:solidFill>
                <a:schemeClr val="lt1"/>
              </a:solidFill>
              <a:latin typeface="Red Hat Display"/>
            </a:endParaRPr>
          </a:p>
        </p:txBody>
      </p:sp>
      <p:pic>
        <p:nvPicPr>
          <p:cNvPr id="5" name="Picture 4" descr="QR code for workspace invite link">
            <a:extLst>
              <a:ext uri="{FF2B5EF4-FFF2-40B4-BE49-F238E27FC236}">
                <a16:creationId xmlns:a16="http://schemas.microsoft.com/office/drawing/2014/main" id="{FE59655E-20FF-FD8C-5C51-25CEB47A845D}"/>
              </a:ext>
            </a:extLst>
          </p:cNvPr>
          <p:cNvPicPr>
            <a:picLocks noChangeAspect="1"/>
          </p:cNvPicPr>
          <p:nvPr/>
        </p:nvPicPr>
        <p:blipFill>
          <a:blip r:embed="rId11"/>
          <a:stretch>
            <a:fillRect/>
          </a:stretch>
        </p:blipFill>
        <p:spPr>
          <a:xfrm>
            <a:off x="7070054" y="2523856"/>
            <a:ext cx="1809062" cy="1809062"/>
          </a:xfrm>
          <a:prstGeom prst="rect">
            <a:avLst/>
          </a:prstGeom>
        </p:spPr>
      </p:pic>
      <p:sp>
        <p:nvSpPr>
          <p:cNvPr id="7" name="Google Shape;3053;p257">
            <a:extLst>
              <a:ext uri="{FF2B5EF4-FFF2-40B4-BE49-F238E27FC236}">
                <a16:creationId xmlns:a16="http://schemas.microsoft.com/office/drawing/2014/main" id="{AC8E5B99-AD42-5250-077B-A0502E2AA79F}"/>
              </a:ext>
            </a:extLst>
          </p:cNvPr>
          <p:cNvSpPr/>
          <p:nvPr/>
        </p:nvSpPr>
        <p:spPr>
          <a:xfrm>
            <a:off x="7150962" y="4365491"/>
            <a:ext cx="1604700" cy="390000"/>
          </a:xfrm>
          <a:prstGeom prst="rect">
            <a:avLst/>
          </a:prstGeom>
          <a:solidFill>
            <a:schemeClr val="accent1"/>
          </a:solidFill>
          <a:ln w="8800" cap="flat" cmpd="sng">
            <a:solidFill>
              <a:schemeClr val="accent1"/>
            </a:solidFill>
            <a:prstDash val="solid"/>
            <a:round/>
            <a:headEnd type="none" w="sm" len="sm"/>
            <a:tailEnd type="none" w="sm" len="sm"/>
          </a:ln>
        </p:spPr>
        <p:txBody>
          <a:bodyPr spcFirstLastPara="1" wrap="square" lIns="84525" tIns="84525" rIns="84525" bIns="84525" anchor="ctr" anchorCtr="0">
            <a:noAutofit/>
          </a:bodyPr>
          <a:lstStyle/>
          <a:p>
            <a:pPr marL="0" lvl="0" indent="0" algn="ctr" rtl="0">
              <a:spcBef>
                <a:spcPts val="0"/>
              </a:spcBef>
              <a:spcAft>
                <a:spcPts val="0"/>
              </a:spcAft>
              <a:buClr>
                <a:schemeClr val="dk1"/>
              </a:buClr>
              <a:buSzPts val="986"/>
              <a:buFont typeface="Arial"/>
              <a:buNone/>
            </a:pPr>
            <a:r>
              <a:rPr lang="en" sz="986" b="1" dirty="0">
                <a:solidFill>
                  <a:schemeClr val="lt1"/>
                </a:solidFill>
                <a:latin typeface="Red Hat Display"/>
                <a:ea typeface="Red Hat Display"/>
                <a:cs typeface="Red Hat Display"/>
                <a:sym typeface="Red Hat Display"/>
              </a:rPr>
              <a:t>Join Community Slack</a:t>
            </a:r>
            <a:endParaRPr sz="986" b="1" dirty="0">
              <a:solidFill>
                <a:schemeClr val="lt1"/>
              </a:solidFill>
              <a:latin typeface="Red Hat Display"/>
              <a:ea typeface="Red Hat Display"/>
              <a:cs typeface="Red Hat Display"/>
              <a:sym typeface="Red Hat Display"/>
            </a:endParaRPr>
          </a:p>
          <a:p>
            <a:pPr marL="0" lvl="0" indent="0" algn="ctr" rtl="0">
              <a:spcBef>
                <a:spcPts val="0"/>
              </a:spcBef>
              <a:spcAft>
                <a:spcPts val="0"/>
              </a:spcAft>
              <a:buClr>
                <a:schemeClr val="dk1"/>
              </a:buClr>
              <a:buSzPts val="986"/>
              <a:buFont typeface="Arial"/>
              <a:buNone/>
            </a:pPr>
            <a:r>
              <a:rPr lang="en" sz="986" b="1" dirty="0">
                <a:solidFill>
                  <a:schemeClr val="lt1"/>
                </a:solidFill>
                <a:latin typeface="Red Hat Display"/>
                <a:ea typeface="Red Hat Display"/>
                <a:cs typeface="Red Hat Display"/>
                <a:sym typeface="Red Hat Display"/>
              </a:rPr>
              <a:t>KAITO/slack</a:t>
            </a:r>
            <a:endParaRPr sz="986" b="1" dirty="0">
              <a:solidFill>
                <a:schemeClr val="lt1"/>
              </a:solidFill>
              <a:latin typeface="Red Hat Display"/>
              <a:ea typeface="Red Hat Display"/>
              <a:cs typeface="Red Hat Display"/>
              <a:sym typeface="Red Hat Display"/>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97E05-5969-3797-265F-B990FCFC2E70}"/>
              </a:ext>
            </a:extLst>
          </p:cNvPr>
          <p:cNvSpPr>
            <a:spLocks noGrp="1"/>
          </p:cNvSpPr>
          <p:nvPr>
            <p:ph type="ctrTitle"/>
          </p:nvPr>
        </p:nvSpPr>
        <p:spPr/>
        <p:txBody>
          <a:bodyPr/>
          <a:lstStyle/>
          <a:p>
            <a:r>
              <a:rPr kumimoji="1" lang="en-US" altLang="zh-CN" sz="7200" dirty="0"/>
              <a:t>Q&amp;A</a:t>
            </a:r>
            <a:endParaRPr kumimoji="1" lang="zh-CN" altLang="en-US" sz="7200" dirty="0"/>
          </a:p>
        </p:txBody>
      </p:sp>
      <p:sp>
        <p:nvSpPr>
          <p:cNvPr id="3" name="副标题 2">
            <a:extLst>
              <a:ext uri="{FF2B5EF4-FFF2-40B4-BE49-F238E27FC236}">
                <a16:creationId xmlns:a16="http://schemas.microsoft.com/office/drawing/2014/main" id="{A5A3BF6D-BA83-18AB-6962-03A232BF7D02}"/>
              </a:ext>
            </a:extLst>
          </p:cNvPr>
          <p:cNvSpPr>
            <a:spLocks noGrp="1"/>
          </p:cNvSpPr>
          <p:nvPr>
            <p:ph type="subTitle" idx="1"/>
          </p:nvPr>
        </p:nvSpPr>
        <p:spPr/>
        <p:txBody>
          <a:bodyPr/>
          <a:lstStyle/>
          <a:p>
            <a:r>
              <a:rPr kumimoji="1" lang="en-US" altLang="zh-CN" dirty="0"/>
              <a:t>Question</a:t>
            </a:r>
            <a:r>
              <a:rPr kumimoji="1" lang="zh-CN" altLang="en-US" dirty="0"/>
              <a:t> </a:t>
            </a:r>
            <a:r>
              <a:rPr kumimoji="1" lang="en-US" altLang="zh-CN" dirty="0"/>
              <a:t>&amp;</a:t>
            </a:r>
            <a:r>
              <a:rPr kumimoji="1" lang="zh-CN" altLang="en-US" dirty="0"/>
              <a:t> </a:t>
            </a:r>
            <a:r>
              <a:rPr kumimoji="1" lang="en-US" altLang="zh-CN" dirty="0"/>
              <a:t>Discussion</a:t>
            </a:r>
            <a:endParaRPr kumimoji="1" lang="zh-CN" altLang="en-US" dirty="0"/>
          </a:p>
        </p:txBody>
      </p:sp>
      <p:sp>
        <p:nvSpPr>
          <p:cNvPr id="6" name="文本框 5">
            <a:extLst>
              <a:ext uri="{FF2B5EF4-FFF2-40B4-BE49-F238E27FC236}">
                <a16:creationId xmlns:a16="http://schemas.microsoft.com/office/drawing/2014/main" id="{F80A6C5C-44E9-2D5A-7E42-8BC00D8EB100}"/>
              </a:ext>
            </a:extLst>
          </p:cNvPr>
          <p:cNvSpPr txBox="1"/>
          <p:nvPr/>
        </p:nvSpPr>
        <p:spPr>
          <a:xfrm>
            <a:off x="414996" y="3315877"/>
            <a:ext cx="4691574" cy="307777"/>
          </a:xfrm>
          <a:prstGeom prst="rect">
            <a:avLst/>
          </a:prstGeom>
          <a:noFill/>
        </p:spPr>
        <p:txBody>
          <a:bodyPr wrap="square">
            <a:spAutoFit/>
          </a:bodyPr>
          <a:lstStyle/>
          <a:p>
            <a:r>
              <a:rPr lang="en-US" altLang="zh-CN" dirty="0">
                <a:solidFill>
                  <a:schemeClr val="bg1"/>
                </a:solidFill>
              </a:rPr>
              <a:t>LLM-D</a:t>
            </a:r>
            <a:r>
              <a:rPr lang="zh-CN" altLang="en-US" dirty="0">
                <a:solidFill>
                  <a:schemeClr val="bg1"/>
                </a:solidFill>
              </a:rPr>
              <a:t> </a:t>
            </a:r>
            <a:r>
              <a:rPr lang="en-US" altLang="zh-CN" dirty="0">
                <a:solidFill>
                  <a:schemeClr val="bg1"/>
                </a:solidFill>
              </a:rPr>
              <a:t>|</a:t>
            </a:r>
            <a:r>
              <a:rPr lang="zh-CN" altLang="en-US" dirty="0">
                <a:solidFill>
                  <a:schemeClr val="bg1"/>
                </a:solidFill>
              </a:rPr>
              <a:t> </a:t>
            </a:r>
            <a:r>
              <a:rPr lang="en-US" altLang="zh-CN" dirty="0">
                <a:solidFill>
                  <a:schemeClr val="bg1"/>
                </a:solidFill>
              </a:rPr>
              <a:t>KAITO</a:t>
            </a:r>
            <a:endParaRPr lang="zh-CN" altLang="en-US" dirty="0">
              <a:solidFill>
                <a:schemeClr val="bg1"/>
              </a:solidFill>
            </a:endParaRPr>
          </a:p>
        </p:txBody>
      </p:sp>
      <p:cxnSp>
        <p:nvCxnSpPr>
          <p:cNvPr id="8" name="直线连接符 7">
            <a:extLst>
              <a:ext uri="{FF2B5EF4-FFF2-40B4-BE49-F238E27FC236}">
                <a16:creationId xmlns:a16="http://schemas.microsoft.com/office/drawing/2014/main" id="{91E182FB-EDB6-E6AE-760E-40AD44976BD1}"/>
              </a:ext>
            </a:extLst>
          </p:cNvPr>
          <p:cNvCxnSpPr>
            <a:cxnSpLocks/>
          </p:cNvCxnSpPr>
          <p:nvPr/>
        </p:nvCxnSpPr>
        <p:spPr>
          <a:xfrm>
            <a:off x="414996" y="2606919"/>
            <a:ext cx="562709" cy="0"/>
          </a:xfrm>
          <a:prstGeom prst="line">
            <a:avLst/>
          </a:prstGeom>
        </p:spPr>
        <p:style>
          <a:lnRef idx="3">
            <a:schemeClr val="accent6"/>
          </a:lnRef>
          <a:fillRef idx="0">
            <a:schemeClr val="accent6"/>
          </a:fillRef>
          <a:effectRef idx="2">
            <a:schemeClr val="accent6"/>
          </a:effectRef>
          <a:fontRef idx="minor">
            <a:schemeClr val="tx1"/>
          </a:fontRef>
        </p:style>
      </p:cxnSp>
      <p:pic>
        <p:nvPicPr>
          <p:cNvPr id="5" name="图片 4">
            <a:extLst>
              <a:ext uri="{FF2B5EF4-FFF2-40B4-BE49-F238E27FC236}">
                <a16:creationId xmlns:a16="http://schemas.microsoft.com/office/drawing/2014/main" id="{FD1BD06C-6BBA-807E-3E7D-18AEFDC676C1}"/>
              </a:ext>
            </a:extLst>
          </p:cNvPr>
          <p:cNvPicPr>
            <a:picLocks noChangeAspect="1"/>
          </p:cNvPicPr>
          <p:nvPr/>
        </p:nvPicPr>
        <p:blipFill>
          <a:blip r:embed="rId3"/>
          <a:srcRect l="30438" t="36902" r="30438" b="9838"/>
          <a:stretch>
            <a:fillRect/>
          </a:stretch>
        </p:blipFill>
        <p:spPr>
          <a:xfrm>
            <a:off x="3870252" y="864503"/>
            <a:ext cx="1476300" cy="1507270"/>
          </a:xfrm>
          <a:prstGeom prst="rect">
            <a:avLst/>
          </a:prstGeom>
        </p:spPr>
      </p:pic>
      <p:sp>
        <p:nvSpPr>
          <p:cNvPr id="9" name="文本框 8">
            <a:extLst>
              <a:ext uri="{FF2B5EF4-FFF2-40B4-BE49-F238E27FC236}">
                <a16:creationId xmlns:a16="http://schemas.microsoft.com/office/drawing/2014/main" id="{DA2C03BE-0131-5782-672A-6EA63CF1B258}"/>
              </a:ext>
            </a:extLst>
          </p:cNvPr>
          <p:cNvSpPr txBox="1"/>
          <p:nvPr/>
        </p:nvSpPr>
        <p:spPr>
          <a:xfrm>
            <a:off x="3209906" y="2471477"/>
            <a:ext cx="2724187" cy="307777"/>
          </a:xfrm>
          <a:prstGeom prst="rect">
            <a:avLst/>
          </a:prstGeom>
          <a:noFill/>
        </p:spPr>
        <p:txBody>
          <a:bodyPr wrap="square">
            <a:spAutoFit/>
          </a:bodyPr>
          <a:lstStyle/>
          <a:p>
            <a:pPr marL="0" lvl="0" indent="0" algn="ctr" rtl="0">
              <a:spcBef>
                <a:spcPts val="0"/>
              </a:spcBef>
              <a:spcAft>
                <a:spcPts val="0"/>
              </a:spcAft>
              <a:buClr>
                <a:schemeClr val="dk1"/>
              </a:buClr>
              <a:buSzPts val="949"/>
              <a:buFont typeface="Arial"/>
              <a:buNone/>
            </a:pPr>
            <a:r>
              <a:rPr lang="en" altLang="zh-CN" dirty="0">
                <a:solidFill>
                  <a:schemeClr val="bg1"/>
                </a:solidFill>
                <a:sym typeface="Red Hat Display"/>
              </a:rPr>
              <a:t>Welcome</a:t>
            </a:r>
            <a:r>
              <a:rPr lang="zh-CN" altLang="en-US" dirty="0">
                <a:solidFill>
                  <a:schemeClr val="bg1"/>
                </a:solidFill>
                <a:sym typeface="Red Hat Display"/>
              </a:rPr>
              <a:t> </a:t>
            </a:r>
            <a:r>
              <a:rPr lang="en-US" altLang="zh-CN" dirty="0">
                <a:solidFill>
                  <a:schemeClr val="bg1"/>
                </a:solidFill>
                <a:sym typeface="Red Hat Display"/>
              </a:rPr>
              <a:t>to</a:t>
            </a:r>
            <a:r>
              <a:rPr lang="zh-CN" altLang="en-US" dirty="0">
                <a:solidFill>
                  <a:schemeClr val="bg1"/>
                </a:solidFill>
                <a:sym typeface="Red Hat Display"/>
              </a:rPr>
              <a:t> </a:t>
            </a:r>
            <a:r>
              <a:rPr lang="en" altLang="zh-CN" dirty="0">
                <a:solidFill>
                  <a:schemeClr val="bg1"/>
                </a:solidFill>
                <a:sym typeface="Red Hat Display"/>
              </a:rPr>
              <a:t>Contact</a:t>
            </a:r>
            <a:r>
              <a:rPr lang="zh-CN" altLang="en-US" dirty="0">
                <a:solidFill>
                  <a:schemeClr val="bg1"/>
                </a:solidFill>
                <a:sym typeface="Red Hat Display"/>
              </a:rPr>
              <a:t> </a:t>
            </a:r>
            <a:r>
              <a:rPr lang="en-US" altLang="zh-CN" dirty="0">
                <a:solidFill>
                  <a:schemeClr val="bg1"/>
                </a:solidFill>
                <a:sym typeface="Red Hat Display"/>
              </a:rPr>
              <a:t>Kay</a:t>
            </a:r>
            <a:endParaRPr lang="en" altLang="zh-CN" dirty="0">
              <a:solidFill>
                <a:schemeClr val="bg1"/>
              </a:solidFill>
              <a:sym typeface="Red Hat Display"/>
            </a:endParaRPr>
          </a:p>
        </p:txBody>
      </p:sp>
      <p:pic>
        <p:nvPicPr>
          <p:cNvPr id="10" name="Picture 9">
            <a:extLst>
              <a:ext uri="{FF2B5EF4-FFF2-40B4-BE49-F238E27FC236}">
                <a16:creationId xmlns:a16="http://schemas.microsoft.com/office/drawing/2014/main" id="{741A93E2-CE8B-D02E-62B8-7196E4146BC9}"/>
              </a:ext>
            </a:extLst>
          </p:cNvPr>
          <p:cNvPicPr>
            <a:picLocks noChangeAspect="1"/>
          </p:cNvPicPr>
          <p:nvPr/>
        </p:nvPicPr>
        <p:blipFill>
          <a:blip r:embed="rId4"/>
          <a:stretch>
            <a:fillRect/>
          </a:stretch>
        </p:blipFill>
        <p:spPr>
          <a:xfrm>
            <a:off x="6337393" y="890549"/>
            <a:ext cx="1386598" cy="1455178"/>
          </a:xfrm>
          <a:prstGeom prst="rect">
            <a:avLst/>
          </a:prstGeom>
        </p:spPr>
      </p:pic>
      <p:sp>
        <p:nvSpPr>
          <p:cNvPr id="11" name="文本框 8">
            <a:extLst>
              <a:ext uri="{FF2B5EF4-FFF2-40B4-BE49-F238E27FC236}">
                <a16:creationId xmlns:a16="http://schemas.microsoft.com/office/drawing/2014/main" id="{23CE37AB-962B-2705-FC78-B589A56E4FF3}"/>
              </a:ext>
            </a:extLst>
          </p:cNvPr>
          <p:cNvSpPr txBox="1"/>
          <p:nvPr/>
        </p:nvSpPr>
        <p:spPr>
          <a:xfrm>
            <a:off x="5662650" y="2482235"/>
            <a:ext cx="2724187" cy="307777"/>
          </a:xfrm>
          <a:prstGeom prst="rect">
            <a:avLst/>
          </a:prstGeom>
          <a:noFill/>
        </p:spPr>
        <p:txBody>
          <a:bodyPr wrap="square">
            <a:spAutoFit/>
          </a:bodyPr>
          <a:lstStyle/>
          <a:p>
            <a:pPr marL="0" lvl="0" indent="0" algn="ctr" rtl="0">
              <a:spcBef>
                <a:spcPts val="0"/>
              </a:spcBef>
              <a:spcAft>
                <a:spcPts val="0"/>
              </a:spcAft>
              <a:buClr>
                <a:schemeClr val="dk1"/>
              </a:buClr>
              <a:buSzPts val="949"/>
              <a:buFont typeface="Arial"/>
              <a:buNone/>
            </a:pPr>
            <a:r>
              <a:rPr lang="en" altLang="zh-CN" dirty="0">
                <a:solidFill>
                  <a:schemeClr val="bg1"/>
                </a:solidFill>
                <a:sym typeface="Red Hat Display"/>
              </a:rPr>
              <a:t>Welcome</a:t>
            </a:r>
            <a:r>
              <a:rPr lang="zh-CN" altLang="en-US" dirty="0">
                <a:solidFill>
                  <a:schemeClr val="bg1"/>
                </a:solidFill>
                <a:sym typeface="Red Hat Display"/>
              </a:rPr>
              <a:t> </a:t>
            </a:r>
            <a:r>
              <a:rPr lang="en-US" altLang="zh-CN" dirty="0">
                <a:solidFill>
                  <a:schemeClr val="bg1"/>
                </a:solidFill>
                <a:sym typeface="Red Hat Display"/>
              </a:rPr>
              <a:t>to</a:t>
            </a:r>
            <a:r>
              <a:rPr lang="zh-CN" altLang="en-US" dirty="0">
                <a:solidFill>
                  <a:schemeClr val="bg1"/>
                </a:solidFill>
                <a:sym typeface="Red Hat Display"/>
              </a:rPr>
              <a:t> </a:t>
            </a:r>
            <a:r>
              <a:rPr lang="en" altLang="zh-CN" dirty="0">
                <a:solidFill>
                  <a:schemeClr val="bg1"/>
                </a:solidFill>
                <a:sym typeface="Red Hat Display"/>
              </a:rPr>
              <a:t>Contact</a:t>
            </a:r>
            <a:r>
              <a:rPr lang="zh-CN" altLang="en-US" dirty="0">
                <a:solidFill>
                  <a:schemeClr val="bg1"/>
                </a:solidFill>
                <a:sym typeface="Red Hat Display"/>
              </a:rPr>
              <a:t> </a:t>
            </a:r>
            <a:r>
              <a:rPr lang="en-US" altLang="zh-CN" dirty="0">
                <a:solidFill>
                  <a:schemeClr val="bg1"/>
                </a:solidFill>
                <a:sym typeface="Red Hat Display"/>
              </a:rPr>
              <a:t>linbo</a:t>
            </a:r>
            <a:endParaRPr lang="en" altLang="zh-CN" dirty="0">
              <a:solidFill>
                <a:schemeClr val="bg1"/>
              </a:solidFill>
              <a:sym typeface="Red Hat Display"/>
            </a:endParaRPr>
          </a:p>
        </p:txBody>
      </p:sp>
    </p:spTree>
    <p:extLst>
      <p:ext uri="{BB962C8B-B14F-4D97-AF65-F5344CB8AC3E}">
        <p14:creationId xmlns:p14="http://schemas.microsoft.com/office/powerpoint/2010/main" val="208575165"/>
      </p:ext>
    </p:extLst>
  </p:cSld>
  <p:clrMapOvr>
    <a:masterClrMapping/>
  </p:clrMapOvr>
</p:sld>
</file>

<file path=ppt/theme/theme1.xml><?xml version="1.0" encoding="utf-8"?>
<a:theme xmlns:a="http://schemas.openxmlformats.org/drawingml/2006/main" name="OSSNA24">
  <a:themeElements>
    <a:clrScheme name="Custom 6">
      <a:dk1>
        <a:srgbClr val="000000"/>
      </a:dk1>
      <a:lt1>
        <a:srgbClr val="FFFFFF"/>
      </a:lt1>
      <a:dk2>
        <a:srgbClr val="000000"/>
      </a:dk2>
      <a:lt2>
        <a:srgbClr val="EEEEEE"/>
      </a:lt2>
      <a:accent1>
        <a:srgbClr val="3939D8"/>
      </a:accent1>
      <a:accent2>
        <a:srgbClr val="262267"/>
      </a:accent2>
      <a:accent3>
        <a:srgbClr val="305BA9"/>
      </a:accent3>
      <a:accent4>
        <a:srgbClr val="B0DDFF"/>
      </a:accent4>
      <a:accent5>
        <a:srgbClr val="FFC217"/>
      </a:accent5>
      <a:accent6>
        <a:srgbClr val="FFA35F"/>
      </a:accent6>
      <a:hlink>
        <a:srgbClr val="FF7F15"/>
      </a:hlink>
      <a:folHlink>
        <a:srgbClr val="FFA3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12775</TotalTime>
  <Words>24580</Words>
  <Application>Microsoft Office PowerPoint</Application>
  <PresentationFormat>On-screen Show (16:9)</PresentationFormat>
  <Paragraphs>997</Paragraphs>
  <Slides>51</Slides>
  <Notes>47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51</vt:i4>
      </vt:variant>
    </vt:vector>
  </HeadingPairs>
  <TitlesOfParts>
    <vt:vector size="65" baseType="lpstr">
      <vt:lpstr>Clarity City</vt:lpstr>
      <vt:lpstr>Noto Sans Symbols</vt:lpstr>
      <vt:lpstr>Red Hat Display</vt:lpstr>
      <vt:lpstr>Red Hat Display Medium</vt:lpstr>
      <vt:lpstr>Red Hat Display SemiBold</vt:lpstr>
      <vt:lpstr>Red Hat Text</vt:lpstr>
      <vt:lpstr>Red Hat Text Medium</vt:lpstr>
      <vt:lpstr>Arial</vt:lpstr>
      <vt:lpstr>Calibri</vt:lpstr>
      <vt:lpstr>Consolas</vt:lpstr>
      <vt:lpstr>IBM Plex Sans</vt:lpstr>
      <vt:lpstr>IBM Plex Sans Light</vt:lpstr>
      <vt:lpstr>Trebuchet MS</vt:lpstr>
      <vt:lpstr>OSSNA24</vt:lpstr>
      <vt:lpstr>PowerPoint Presentation</vt:lpstr>
      <vt:lpstr>From Model Serving to Distributed Inference</vt:lpstr>
      <vt:lpstr>About Us</vt:lpstr>
      <vt:lpstr>Agenda</vt:lpstr>
      <vt:lpstr>Background &amp; Challenges</vt:lpstr>
      <vt:lpstr>Open Models Put AI/LLM in Your Hands</vt:lpstr>
      <vt:lpstr>Start with Hello World: One Model Server</vt:lpstr>
      <vt:lpstr>What is a large-language model?</vt:lpstr>
      <vt:lpstr>PowerPoint Presentation</vt:lpstr>
      <vt:lpstr>PowerPoint Presentation</vt:lpstr>
      <vt:lpstr>Production Inference Architecture</vt:lpstr>
      <vt:lpstr>Production Distributed Inference Architecture</vt:lpstr>
      <vt:lpstr>Inference Infrastructure Landscape</vt:lpstr>
      <vt:lpstr>LLM-D: Scheduling &amp; Distributed Inference</vt:lpstr>
      <vt:lpstr>What is LLM-D?</vt:lpstr>
      <vt:lpstr>LLM-D has achieved so far</vt:lpstr>
      <vt:lpstr>“Well-lit” Paths</vt:lpstr>
      <vt:lpstr>KV Cache Has Great Economic Value</vt:lpstr>
      <vt:lpstr>KV Cache Reuses ”conversation”</vt:lpstr>
      <vt:lpstr>Where Standard Load-Balancing Fails</vt:lpstr>
      <vt:lpstr>Intelligent Inference Scheduling</vt:lpstr>
      <vt:lpstr>Where Prefix Reuse Appears</vt:lpstr>
      <vt:lpstr>KV-Aware Routing Performance</vt:lpstr>
      <vt:lpstr>HBM Is Precious—and Never Enough</vt:lpstr>
      <vt:lpstr>KV Cache Management</vt:lpstr>
      <vt:lpstr>The KV Offloading Connector</vt:lpstr>
      <vt:lpstr>CPU Offloading Backend</vt:lpstr>
      <vt:lpstr>Storage Offloading Backend</vt:lpstr>
      <vt:lpstr>Storage Offloading Performance</vt:lpstr>
      <vt:lpstr>Why MoE Changes Distributed Inference</vt:lpstr>
      <vt:lpstr>Wide Expert Parallelism</vt:lpstr>
      <vt:lpstr>How “Wide” do we need to go?</vt:lpstr>
      <vt:lpstr>Wide Expert Parallelism Performance</vt:lpstr>
      <vt:lpstr>Why P/D? Prefill and Decode</vt:lpstr>
      <vt:lpstr>Why P/D? Prefill and Decode Scale Differently </vt:lpstr>
      <vt:lpstr>llm-d composes vLLM and Gateway to enable P/D disaggregation</vt:lpstr>
      <vt:lpstr>Efficient KV Transfer in vLLM vis NIXL</vt:lpstr>
      <vt:lpstr>Aggregated vs Disaggregated Pareto Frontier</vt:lpstr>
      <vt:lpstr>P/D disaggregation Benchmark</vt:lpstr>
      <vt:lpstr>KAITO: Workload Lifecycle &amp; GPU Operations</vt:lpstr>
      <vt:lpstr>What is KAITO?</vt:lpstr>
      <vt:lpstr>Workload Lifecycle</vt:lpstr>
      <vt:lpstr>PowerPoint Presentation</vt:lpstr>
      <vt:lpstr>Autoscaling: keda-kaito-scaler</vt:lpstr>
      <vt:lpstr>Autoscaling: Composite Metrics</vt:lpstr>
      <vt:lpstr>Production Integration</vt:lpstr>
      <vt:lpstr>Production-Stack</vt:lpstr>
      <vt:lpstr>GPU Node Mocker</vt:lpstr>
      <vt:lpstr>Testing=Confidence</vt:lpstr>
      <vt:lpstr>Where can you find us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Andy Zhang (OSTC)</dc:creator>
  <cp:lastModifiedBy>Andy Zhang (OSTC)</cp:lastModifiedBy>
  <cp:revision>688</cp:revision>
  <cp:lastPrinted>2026-07-27T05:40:13Z</cp:lastPrinted>
  <dcterms:modified xsi:type="dcterms:W3CDTF">2026-10-24T08:14:55Z</dcterms:modified>
</cp:coreProperties>
</file>