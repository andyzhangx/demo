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KAITO owns the control plane; Gateway API Inference Extension (GWIE) defines the gateway-facing contract; llm-d Router supplies the Endpoint Picker (EPP); vLLM and NIXL execute inference and transfer KV cache. This is a responsibility stack, not a network packet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EPP means Endpoint Picker. The arrows show the decision flow, not a proxy hop carrying the inference payload. Endpoint selection may choose a decode worker and, when needed, a prefill worker. Advanced scheduling remains an extension surface, not a claim that every policy is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APIs separate from implementations. KAITO uses GWIE objects and integration patterns, but the P/D routing implementation is llm-d Router, not GWIE’s reference EPP implementation. InferencePool is an API object, not an inline traffic proxy.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7. InferenceSets are managed resources, not network hops.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llm-d-router docs/disaggregation.md#pd-sequence. Step 2 follows EPP selection; the EPP consultation is omitted from this sequence and shown on slide 4.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column lists illustrative failure modes, not measured incident statistics. Port values correspond to the illustrated deployment. Reachability includes the correct advertised address and network path. Role labels, selectors and targetPorts must agree with runtime behavior.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boundary: llm-d Router supplies endpoint-picking and scheduling behavior; KAITO supplies declarative intent, resource generation, lifecycle and integration. Autoscaling is shown as an integration point, not a claim of a specific enabled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Declarative intent is separate from runtime implementation. The platform keeps request handling correct by maintaining these contracts; it cannot eliminate all runtime errors. Autoscaling intent is a policy/integration concern and need not imply that the MultiRoleInference excerpt contains every autoscaling field.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complementarity: P/D specializes execution, llm-d supplies routing and scheduling intelligence, and KAITO makes the topology a Kubernetes-native workflow. The value proposition is operational repeatability, not an unsupported performance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Panel 1"/>
          <p:cNvSpPr/>
          <p:nvPr/>
        </p:nvSpPr>
        <p:spPr>
          <a:xfrm>
            <a:off x="7909560" y="0"/>
            <a:ext cx="4282135" cy="6858000"/>
          </a:xfrm>
          <a:prstGeom prst="rect">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UBECON ’26"/>
          <p:cNvSpPr/>
          <p:nvPr/>
        </p:nvSpPr>
        <p:spPr>
          <a:xfrm>
            <a:off x="640080" y="521207"/>
            <a:ext cx="1417320" cy="29260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087F82"/>
                </a:solidFill>
                <a:latin typeface="Arial"/>
              </a:defRPr>
            </a:pPr>
            <a:r>
              <a:t>KUBECON ’26</a:t>
            </a:r>
          </a:p>
        </p:txBody>
      </p:sp>
      <p:sp>
        <p:nvSpPr>
          <p:cNvPr id="4" name="KAITO + llm-d"/>
          <p:cNvSpPr txBox="1"/>
          <p:nvPr/>
        </p:nvSpPr>
        <p:spPr>
          <a:xfrm>
            <a:off x="640080" y="1252728"/>
            <a:ext cx="7132320" cy="731520"/>
          </a:xfrm>
          <a:prstGeom prst="rect">
            <a:avLst/>
          </a:prstGeom>
          <a:noFill/>
        </p:spPr>
        <p:txBody>
          <a:bodyPr wrap="square" lIns="0" rIns="0" tIns="0" bIns="0" anchor="t">
            <a:noAutofit/>
          </a:bodyPr>
          <a:lstStyle/>
          <a:p>
            <a:pPr algn="l">
              <a:spcBef>
                <a:spcPts val="0"/>
              </a:spcBef>
              <a:spcAft>
                <a:spcPts val="400"/>
              </a:spcAft>
              <a:defRPr sz="4200" b="1">
                <a:solidFill>
                  <a:srgbClr val="FFFFFF"/>
                </a:solidFill>
                <a:latin typeface="Arial"/>
              </a:defRPr>
            </a:pPr>
            <a:r>
              <a:t>KAITO + llm-d</a:t>
            </a:r>
          </a:p>
        </p:txBody>
      </p:sp>
      <p:sp>
        <p:nvSpPr>
          <p:cNvPr id="5" name="Prefill/Decode / Disaggregation"/>
          <p:cNvSpPr txBox="1"/>
          <p:nvPr/>
        </p:nvSpPr>
        <p:spPr>
          <a:xfrm>
            <a:off x="658368" y="2212848"/>
            <a:ext cx="6949440" cy="1371600"/>
          </a:xfrm>
          <a:prstGeom prst="rect">
            <a:avLst/>
          </a:prstGeom>
          <a:noFill/>
        </p:spPr>
        <p:txBody>
          <a:bodyPr wrap="square" lIns="0" rIns="0" tIns="0" bIns="0" anchor="t">
            <a:noAutofit/>
          </a:bodyPr>
          <a:lstStyle/>
          <a:p>
            <a:pPr algn="l">
              <a:spcBef>
                <a:spcPts val="0"/>
              </a:spcBef>
              <a:spcAft>
                <a:spcPts val="400"/>
              </a:spcAft>
              <a:defRPr sz="3600" b="1">
                <a:solidFill>
                  <a:srgbClr val="FFFFFF"/>
                </a:solidFill>
                <a:latin typeface="Arial"/>
              </a:defRPr>
            </a:pPr>
            <a:r>
              <a:t>Prefill/Decode</a:t>
            </a:r>
          </a:p>
          <a:p>
            <a:pPr algn="l">
              <a:spcBef>
                <a:spcPts val="0"/>
              </a:spcBef>
              <a:spcAft>
                <a:spcPts val="400"/>
              </a:spcAft>
              <a:defRPr sz="3600" b="1">
                <a:solidFill>
                  <a:srgbClr val="FFFFFF"/>
                </a:solidFill>
                <a:latin typeface="Arial"/>
              </a:defRPr>
            </a:pPr>
            <a:r>
              <a:t>Disaggregation</a:t>
            </a:r>
          </a:p>
        </p:txBody>
      </p:sp>
      <p:sp>
        <p:nvSpPr>
          <p:cNvPr id="6" name="One declarative topology. / One serving endpoint. Two specialized roles."/>
          <p:cNvSpPr txBox="1"/>
          <p:nvPr/>
        </p:nvSpPr>
        <p:spPr>
          <a:xfrm>
            <a:off x="676656" y="3794760"/>
            <a:ext cx="6400800" cy="804672"/>
          </a:xfrm>
          <a:prstGeom prst="rect">
            <a:avLst/>
          </a:prstGeom>
          <a:noFill/>
        </p:spPr>
        <p:txBody>
          <a:bodyPr wrap="square" lIns="0" rIns="0" tIns="0" bIns="0" anchor="t">
            <a:noAutofit/>
          </a:bodyPr>
          <a:lstStyle/>
          <a:p>
            <a:pPr algn="l">
              <a:spcBef>
                <a:spcPts val="0"/>
              </a:spcBef>
              <a:spcAft>
                <a:spcPts val="400"/>
              </a:spcAft>
              <a:defRPr sz="2200" b="0">
                <a:solidFill>
                  <a:srgbClr val="C8D8E7"/>
                </a:solidFill>
                <a:latin typeface="Arial"/>
              </a:defRPr>
            </a:pPr>
            <a:r>
              <a:t>One declarative topology.</a:t>
            </a:r>
          </a:p>
          <a:p>
            <a:pPr algn="l">
              <a:spcBef>
                <a:spcPts val="0"/>
              </a:spcBef>
              <a:spcAft>
                <a:spcPts val="400"/>
              </a:spcAft>
              <a:defRPr sz="2200" b="0">
                <a:solidFill>
                  <a:srgbClr val="C8D8E7"/>
                </a:solidFill>
                <a:latin typeface="Arial"/>
              </a:defRPr>
            </a:pPr>
            <a:r>
              <a:t>One serving endpoint. Two specialized roles.</a:t>
            </a:r>
          </a:p>
        </p:txBody>
      </p:sp>
      <p:sp>
        <p:nvSpPr>
          <p:cNvPr id="7" name="DECLARE TOPOLOGY"/>
          <p:cNvSpPr/>
          <p:nvPr/>
        </p:nvSpPr>
        <p:spPr>
          <a:xfrm>
            <a:off x="676656" y="5166360"/>
            <a:ext cx="1920240" cy="292608"/>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7150C8"/>
                </a:solidFill>
                <a:latin typeface="Arial"/>
              </a:defRPr>
            </a:pPr>
            <a:r>
              <a:t>DECLARE TOPOLOGY</a:t>
            </a:r>
          </a:p>
        </p:txBody>
      </p:sp>
      <p:sp>
        <p:nvSpPr>
          <p:cNvPr id="8" name="ROUTE BY ROLE"/>
          <p:cNvSpPr/>
          <p:nvPr/>
        </p:nvSpPr>
        <p:spPr>
          <a:xfrm>
            <a:off x="2761488" y="5166360"/>
            <a:ext cx="1773936" cy="29260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2463D4"/>
                </a:solidFill>
                <a:latin typeface="Arial"/>
              </a:defRPr>
            </a:pPr>
            <a:r>
              <a:t>ROUTE BY ROLE</a:t>
            </a:r>
          </a:p>
        </p:txBody>
      </p:sp>
      <p:sp>
        <p:nvSpPr>
          <p:cNvPr id="9" name="TRANSFER KV"/>
          <p:cNvSpPr/>
          <p:nvPr/>
        </p:nvSpPr>
        <p:spPr>
          <a:xfrm>
            <a:off x="4690872" y="5166360"/>
            <a:ext cx="1901952" cy="292608"/>
          </a:xfrm>
          <a:prstGeom prst="roundRect">
            <a:avLst>
              <a:gd name="adj" fmla="val 12000"/>
            </a:avLst>
          </a:prstGeom>
          <a:solidFill>
            <a:srgbClr val="E9F6EC"/>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24824C"/>
                </a:solidFill>
                <a:latin typeface="Arial"/>
              </a:defRPr>
            </a:pPr>
            <a:r>
              <a:t>TRANSFER KV</a:t>
            </a:r>
          </a:p>
        </p:txBody>
      </p:sp>
      <p:sp>
        <p:nvSpPr>
          <p:cNvPr id="10" name="THE PLATFORM STACK"/>
          <p:cNvSpPr txBox="1"/>
          <p:nvPr/>
        </p:nvSpPr>
        <p:spPr>
          <a:xfrm>
            <a:off x="8247888" y="914400"/>
            <a:ext cx="3200400" cy="274320"/>
          </a:xfrm>
          <a:prstGeom prst="rect">
            <a:avLst/>
          </a:prstGeom>
          <a:noFill/>
        </p:spPr>
        <p:txBody>
          <a:bodyPr wrap="square" lIns="0" rIns="0" tIns="0" bIns="0" anchor="t">
            <a:noAutofit/>
          </a:bodyPr>
          <a:lstStyle/>
          <a:p>
            <a:pPr algn="l">
              <a:spcBef>
                <a:spcPts val="0"/>
              </a:spcBef>
              <a:spcAft>
                <a:spcPts val="200"/>
              </a:spcAft>
              <a:defRPr sz="1200" b="1">
                <a:solidFill>
                  <a:srgbClr val="C8D8E7"/>
                </a:solidFill>
                <a:latin typeface="Arial"/>
              </a:defRPr>
            </a:pPr>
            <a:r>
              <a:t>THE PLATFORM STACK</a:t>
            </a:r>
          </a:p>
        </p:txBody>
      </p:sp>
      <p:sp>
        <p:nvSpPr>
          <p:cNvPr id="11" name="KAITO"/>
          <p:cNvSpPr/>
          <p:nvPr/>
        </p:nvSpPr>
        <p:spPr>
          <a:xfrm>
            <a:off x="8247888" y="1508760"/>
            <a:ext cx="3273552" cy="78638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7150C8"/>
                </a:solidFill>
                <a:latin typeface="Arial"/>
              </a:defRPr>
            </a:pPr>
            <a:r>
              <a:t>KAITO</a:t>
            </a:r>
          </a:p>
          <a:p>
            <a:pPr algn="ctr">
              <a:spcBef>
                <a:spcPts val="300"/>
              </a:spcBef>
              <a:spcAft>
                <a:spcPts val="0"/>
              </a:spcAft>
              <a:defRPr sz="1200" b="0">
                <a:solidFill>
                  <a:srgbClr val="5B6E80"/>
                </a:solidFill>
                <a:latin typeface="Arial"/>
              </a:defRPr>
            </a:pPr>
            <a:r>
              <a:t>MultiRoleInference</a:t>
            </a:r>
          </a:p>
        </p:txBody>
      </p:sp>
      <p:sp>
        <p:nvSpPr>
          <p:cNvPr id="12" name="GWIE"/>
          <p:cNvSpPr/>
          <p:nvPr/>
        </p:nvSpPr>
        <p:spPr>
          <a:xfrm>
            <a:off x="8247888" y="2505456"/>
            <a:ext cx="3273552" cy="78638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2463D4"/>
                </a:solidFill>
                <a:latin typeface="Arial"/>
              </a:defRPr>
            </a:pPr>
            <a:r>
              <a:t>GWIE</a:t>
            </a:r>
          </a:p>
          <a:p>
            <a:pPr algn="ctr">
              <a:spcBef>
                <a:spcPts val="300"/>
              </a:spcBef>
              <a:spcAft>
                <a:spcPts val="0"/>
              </a:spcAft>
              <a:defRPr sz="1200" b="0">
                <a:solidFill>
                  <a:srgbClr val="5B6E80"/>
                </a:solidFill>
                <a:latin typeface="Arial"/>
              </a:defRPr>
            </a:pPr>
            <a:r>
              <a:t>InferencePool contract</a:t>
            </a:r>
          </a:p>
        </p:txBody>
      </p:sp>
      <p:sp>
        <p:nvSpPr>
          <p:cNvPr id="13" name="llm-d Router"/>
          <p:cNvSpPr/>
          <p:nvPr/>
        </p:nvSpPr>
        <p:spPr>
          <a:xfrm>
            <a:off x="8247888" y="3502152"/>
            <a:ext cx="3273552" cy="78638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2463D4"/>
                </a:solidFill>
                <a:latin typeface="Arial"/>
              </a:defRPr>
            </a:pPr>
            <a:r>
              <a:t>llm-d Router</a:t>
            </a:r>
          </a:p>
          <a:p>
            <a:pPr algn="ctr">
              <a:spcBef>
                <a:spcPts val="300"/>
              </a:spcBef>
              <a:spcAft>
                <a:spcPts val="0"/>
              </a:spcAft>
              <a:defRPr sz="1200" b="0">
                <a:solidFill>
                  <a:srgbClr val="5B6E80"/>
                </a:solidFill>
                <a:latin typeface="Arial"/>
              </a:defRPr>
            </a:pPr>
            <a:r>
              <a:t>Endpoint Picker (EPP)</a:t>
            </a:r>
          </a:p>
        </p:txBody>
      </p:sp>
      <p:sp>
        <p:nvSpPr>
          <p:cNvPr id="14" name="vLLM + NIXL"/>
          <p:cNvSpPr/>
          <p:nvPr/>
        </p:nvSpPr>
        <p:spPr>
          <a:xfrm>
            <a:off x="8247888" y="4498848"/>
            <a:ext cx="3273552" cy="78638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087F82"/>
                </a:solidFill>
                <a:latin typeface="Arial"/>
              </a:defRPr>
            </a:pPr>
            <a:r>
              <a:t>vLLM + NIXL</a:t>
            </a:r>
          </a:p>
          <a:p>
            <a:pPr algn="ctr">
              <a:spcBef>
                <a:spcPts val="300"/>
              </a:spcBef>
              <a:spcAft>
                <a:spcPts val="0"/>
              </a:spcAft>
              <a:defRPr sz="1200" b="0">
                <a:solidFill>
                  <a:srgbClr val="5B6E80"/>
                </a:solidFill>
                <a:latin typeface="Arial"/>
              </a:defRPr>
            </a:pPr>
            <a:r>
              <a:t>Runtime + direct KV transfer</a:t>
            </a:r>
          </a:p>
        </p:txBody>
      </p:sp>
      <p:cxnSp>
        <p:nvCxnSpPr>
          <p:cNvPr id="15" name="KAITO → GWIE"/>
          <p:cNvCxnSpPr>
            <a:stCxn id="11" idx="2"/>
            <a:endCxn id="12" idx="0"/>
          </p:cNvCxnSpPr>
          <p:nvPr/>
        </p:nvCxnSpPr>
        <p:spPr>
          <a:xfrm flipH="1">
            <a:off x="9884664" y="2295144"/>
            <a:ext cx="0" cy="210312"/>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6" name="GWIE → llm-d Router"/>
          <p:cNvCxnSpPr>
            <a:stCxn id="12" idx="2"/>
            <a:endCxn id="13" idx="0"/>
          </p:cNvCxnSpPr>
          <p:nvPr/>
        </p:nvCxnSpPr>
        <p:spPr>
          <a:xfrm flipH="1">
            <a:off x="9884664" y="3291840"/>
            <a:ext cx="0" cy="210312"/>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7" name="llm-d Router → vLLM + NIXL"/>
          <p:cNvCxnSpPr>
            <a:stCxn id="13" idx="2"/>
            <a:endCxn id="14" idx="0"/>
          </p:cNvCxnSpPr>
          <p:nvPr/>
        </p:nvCxnSpPr>
        <p:spPr>
          <a:xfrm flipH="1">
            <a:off x="9884664" y="4288536"/>
            <a:ext cx="0" cy="210312"/>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C8D8E7"/>
                </a:solidFill>
                <a:latin typeface="Arial"/>
              </a:defRPr>
            </a:pPr>
            <a:r>
              <a:t>KAITO + llm-d  /  PREFILL–DECODE DISAGGREGATION</a:t>
            </a:r>
          </a:p>
        </p:txBody>
      </p:sp>
      <p:sp>
        <p:nvSpPr>
          <p:cNvPr id="19" name="01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C8D8E7"/>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TING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ROUTING  /  KAITO + llm-d</a:t>
            </a:r>
          </a:p>
        </p:txBody>
      </p:sp>
      <p:sp>
        <p:nvSpPr>
          <p:cNvPr id="4" name="llm-d Router brings role-aware decisions"/>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llm-d Router brings role-aware decisions</a:t>
            </a:r>
          </a:p>
        </p:txBody>
      </p:sp>
      <p:sp>
        <p:nvSpPr>
          <p:cNvPr id="5" name="The Endpoint Picker selects workers; the serving path executes the decision."/>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The Endpoint Picker selects workers; the serving path executes the decision.</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2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02 / 12</a:t>
            </a:r>
          </a:p>
        </p:txBody>
      </p:sp>
      <p:sp>
        <p:nvSpPr>
          <p:cNvPr id="8" name="Panel 7"/>
          <p:cNvSpPr/>
          <p:nvPr/>
        </p:nvSpPr>
        <p:spPr>
          <a:xfrm>
            <a:off x="548640" y="1810512"/>
            <a:ext cx="11091672" cy="1572768"/>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ateway"/>
          <p:cNvSpPr/>
          <p:nvPr/>
        </p:nvSpPr>
        <p:spPr>
          <a:xfrm>
            <a:off x="822960" y="2121408"/>
            <a:ext cx="1920240" cy="9418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800" b="1">
                <a:solidFill>
                  <a:srgbClr val="2463D4"/>
                </a:solidFill>
                <a:latin typeface="Arial"/>
              </a:defRPr>
            </a:pPr>
            <a:r>
              <a:t>Gateway</a:t>
            </a:r>
          </a:p>
          <a:p>
            <a:pPr algn="ctr">
              <a:spcBef>
                <a:spcPts val="300"/>
              </a:spcBef>
              <a:spcAft>
                <a:spcPts val="0"/>
              </a:spcAft>
              <a:defRPr sz="1200" b="0">
                <a:solidFill>
                  <a:srgbClr val="5B6E80"/>
                </a:solidFill>
                <a:latin typeface="Arial"/>
              </a:defRPr>
            </a:pPr>
            <a:r>
              <a:t>GWIE integration</a:t>
            </a:r>
          </a:p>
        </p:txBody>
      </p:sp>
      <p:sp>
        <p:nvSpPr>
          <p:cNvPr id="10" name="llm-d Router EPP"/>
          <p:cNvSpPr/>
          <p:nvPr/>
        </p:nvSpPr>
        <p:spPr>
          <a:xfrm>
            <a:off x="3749039" y="2048256"/>
            <a:ext cx="3017520" cy="1078992"/>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7150C8"/>
                </a:solidFill>
                <a:latin typeface="Arial"/>
              </a:defRPr>
            </a:pPr>
            <a:r>
              <a:t>llm-d Router EPP</a:t>
            </a:r>
          </a:p>
          <a:p>
            <a:pPr algn="ctr">
              <a:spcBef>
                <a:spcPts val="300"/>
              </a:spcBef>
              <a:spcAft>
                <a:spcPts val="0"/>
              </a:spcAft>
              <a:defRPr sz="1200" b="0">
                <a:solidFill>
                  <a:srgbClr val="5B6E80"/>
                </a:solidFill>
                <a:latin typeface="Arial"/>
              </a:defRPr>
            </a:pPr>
            <a:r>
              <a:t>Endpoint selection + plugin chain</a:t>
            </a:r>
          </a:p>
        </p:txBody>
      </p:sp>
      <p:sp>
        <p:nvSpPr>
          <p:cNvPr id="11" name="Selected workers"/>
          <p:cNvSpPr/>
          <p:nvPr/>
        </p:nvSpPr>
        <p:spPr>
          <a:xfrm>
            <a:off x="7772400" y="2048256"/>
            <a:ext cx="3474720" cy="107899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087F82"/>
                </a:solidFill>
                <a:latin typeface="Arial"/>
              </a:defRPr>
            </a:pPr>
            <a:r>
              <a:t>Selected workers</a:t>
            </a:r>
          </a:p>
          <a:p>
            <a:pPr algn="ctr">
              <a:spcBef>
                <a:spcPts val="300"/>
              </a:spcBef>
              <a:spcAft>
                <a:spcPts val="0"/>
              </a:spcAft>
              <a:defRPr sz="1200" b="0">
                <a:solidFill>
                  <a:srgbClr val="5B6E80"/>
                </a:solidFill>
                <a:latin typeface="Arial"/>
              </a:defRPr>
            </a:pPr>
            <a:r>
              <a:t>Decode + optional prefill</a:t>
            </a:r>
          </a:p>
        </p:txBody>
      </p:sp>
      <p:cxnSp>
        <p:nvCxnSpPr>
          <p:cNvPr id="12" name="Gateway → llm-d Router EPP"/>
          <p:cNvCxnSpPr>
            <a:stCxn id="9" idx="3"/>
            <a:endCxn id="10" idx="1"/>
          </p:cNvCxnSpPr>
          <p:nvPr/>
        </p:nvCxnSpPr>
        <p:spPr>
          <a:xfrm flipV="1">
            <a:off x="2743200" y="2587752"/>
            <a:ext cx="1005839" cy="4572"/>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6766559" y="2587752"/>
            <a:ext cx="100584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743200" y="1847088"/>
            <a:ext cx="1097280" cy="182880"/>
          </a:xfrm>
          <a:prstGeom prst="rect">
            <a:avLst/>
          </a:prstGeom>
          <a:noFill/>
        </p:spPr>
        <p:txBody>
          <a:bodyPr wrap="square" lIns="0" rIns="0" tIns="0" bIns="0" anchor="t">
            <a:noAutofit/>
          </a:bodyPr>
          <a:lstStyle/>
          <a:p>
            <a:pPr algn="ctr">
              <a:spcBef>
                <a:spcPts val="0"/>
              </a:spcBef>
              <a:spcAft>
                <a:spcPts val="200"/>
              </a:spcAft>
              <a:defRPr sz="1000" b="0">
                <a:solidFill>
                  <a:srgbClr val="5B6E80"/>
                </a:solidFill>
                <a:latin typeface="Arial"/>
              </a:defRPr>
            </a:pPr>
            <a:r>
              <a:t>pick request</a:t>
            </a:r>
          </a:p>
        </p:txBody>
      </p:sp>
      <p:sp>
        <p:nvSpPr>
          <p:cNvPr id="15" name="decision"/>
          <p:cNvSpPr txBox="1"/>
          <p:nvPr/>
        </p:nvSpPr>
        <p:spPr>
          <a:xfrm>
            <a:off x="6812280" y="1847088"/>
            <a:ext cx="1097280" cy="182880"/>
          </a:xfrm>
          <a:prstGeom prst="rect">
            <a:avLst/>
          </a:prstGeom>
          <a:noFill/>
        </p:spPr>
        <p:txBody>
          <a:bodyPr wrap="square" lIns="0" rIns="0" tIns="0" bIns="0" anchor="t">
            <a:noAutofit/>
          </a:bodyPr>
          <a:lstStyle/>
          <a:p>
            <a:pPr algn="ctr">
              <a:spcBef>
                <a:spcPts val="0"/>
              </a:spcBef>
              <a:spcAft>
                <a:spcPts val="200"/>
              </a:spcAft>
              <a:defRPr sz="1000" b="0">
                <a:solidFill>
                  <a:srgbClr val="5B6E80"/>
                </a:solidFill>
                <a:latin typeface="Arial"/>
              </a:defRPr>
            </a:pPr>
            <a:r>
              <a:t>decision</a:t>
            </a:r>
          </a:p>
        </p:txBody>
      </p:sp>
      <p:sp>
        <p:nvSpPr>
          <p:cNvPr id="16" name="Step 01"/>
          <p:cNvSpPr/>
          <p:nvPr/>
        </p:nvSpPr>
        <p:spPr>
          <a:xfrm>
            <a:off x="731520" y="3822192"/>
            <a:ext cx="265176" cy="265176"/>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01</a:t>
            </a:r>
          </a:p>
        </p:txBody>
      </p:sp>
      <p:sp>
        <p:nvSpPr>
          <p:cNvPr id="17" name="Select by role"/>
          <p:cNvSpPr txBox="1"/>
          <p:nvPr/>
        </p:nvSpPr>
        <p:spPr>
          <a:xfrm>
            <a:off x="1115568" y="3794760"/>
            <a:ext cx="2907792" cy="338328"/>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Select by role</a:t>
            </a:r>
          </a:p>
        </p:txBody>
      </p:sp>
      <p:sp>
        <p:nvSpPr>
          <p:cNvPr id="18" name="Model-aware selection / across prefill and decode."/>
          <p:cNvSpPr txBox="1"/>
          <p:nvPr/>
        </p:nvSpPr>
        <p:spPr>
          <a:xfrm>
            <a:off x="1115568" y="4242816"/>
            <a:ext cx="2907792" cy="896112"/>
          </a:xfrm>
          <a:prstGeom prst="rect">
            <a:avLst/>
          </a:prstGeom>
          <a:noFill/>
        </p:spPr>
        <p:txBody>
          <a:bodyPr wrap="square" lIns="0" rIns="0" tIns="0" bIns="0" anchor="t">
            <a:noAutofit/>
          </a:bodyPr>
          <a:lstStyle/>
          <a:p>
            <a:pPr algn="l">
              <a:spcBef>
                <a:spcPts val="0"/>
              </a:spcBef>
              <a:spcAft>
                <a:spcPts val="200"/>
              </a:spcAft>
              <a:defRPr sz="1600" b="0">
                <a:solidFill>
                  <a:srgbClr val="5B6E80"/>
                </a:solidFill>
                <a:latin typeface="Arial"/>
              </a:defRPr>
            </a:pPr>
            <a:r>
              <a:t>Model-aware selection</a:t>
            </a:r>
          </a:p>
          <a:p>
            <a:pPr algn="l">
              <a:spcBef>
                <a:spcPts val="0"/>
              </a:spcBef>
              <a:spcAft>
                <a:spcPts val="200"/>
              </a:spcAft>
              <a:defRPr sz="1600" b="0">
                <a:solidFill>
                  <a:srgbClr val="5B6E80"/>
                </a:solidFill>
                <a:latin typeface="Arial"/>
              </a:defRPr>
            </a:pPr>
            <a:r>
              <a:t>across prefill and decode.</a:t>
            </a:r>
          </a:p>
        </p:txBody>
      </p:sp>
      <p:sp>
        <p:nvSpPr>
          <p:cNvPr id="19" name="Step 02"/>
          <p:cNvSpPr/>
          <p:nvPr/>
        </p:nvSpPr>
        <p:spPr>
          <a:xfrm>
            <a:off x="4526280" y="3822192"/>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02</a:t>
            </a:r>
          </a:p>
        </p:txBody>
      </p:sp>
      <p:sp>
        <p:nvSpPr>
          <p:cNvPr id="20" name="Compose plugins"/>
          <p:cNvSpPr txBox="1"/>
          <p:nvPr/>
        </p:nvSpPr>
        <p:spPr>
          <a:xfrm>
            <a:off x="4910328" y="3794760"/>
            <a:ext cx="2907792" cy="338328"/>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Compose plugins</a:t>
            </a:r>
          </a:p>
        </p:txBody>
      </p:sp>
      <p:sp>
        <p:nvSpPr>
          <p:cNvPr id="21" name="KV-cache-aware logic / and P/D-aware scheduling."/>
          <p:cNvSpPr txBox="1"/>
          <p:nvPr/>
        </p:nvSpPr>
        <p:spPr>
          <a:xfrm>
            <a:off x="4910328" y="4242816"/>
            <a:ext cx="2907792" cy="896112"/>
          </a:xfrm>
          <a:prstGeom prst="rect">
            <a:avLst/>
          </a:prstGeom>
          <a:noFill/>
        </p:spPr>
        <p:txBody>
          <a:bodyPr wrap="square" lIns="0" rIns="0" tIns="0" bIns="0" anchor="t">
            <a:noAutofit/>
          </a:bodyPr>
          <a:lstStyle/>
          <a:p>
            <a:pPr algn="l">
              <a:spcBef>
                <a:spcPts val="0"/>
              </a:spcBef>
              <a:spcAft>
                <a:spcPts val="200"/>
              </a:spcAft>
              <a:defRPr sz="1600" b="0">
                <a:solidFill>
                  <a:srgbClr val="5B6E80"/>
                </a:solidFill>
                <a:latin typeface="Arial"/>
              </a:defRPr>
            </a:pPr>
            <a:r>
              <a:t>KV-cache-aware logic</a:t>
            </a:r>
          </a:p>
          <a:p>
            <a:pPr algn="l">
              <a:spcBef>
                <a:spcPts val="0"/>
              </a:spcBef>
              <a:spcAft>
                <a:spcPts val="200"/>
              </a:spcAft>
              <a:defRPr sz="1600" b="0">
                <a:solidFill>
                  <a:srgbClr val="5B6E80"/>
                </a:solidFill>
                <a:latin typeface="Arial"/>
              </a:defRPr>
            </a:pPr>
            <a:r>
              <a:t>and P/D-aware scheduling.</a:t>
            </a:r>
          </a:p>
        </p:txBody>
      </p:sp>
      <p:sp>
        <p:nvSpPr>
          <p:cNvPr id="22" name="Step 03"/>
          <p:cNvSpPr/>
          <p:nvPr/>
        </p:nvSpPr>
        <p:spPr>
          <a:xfrm>
            <a:off x="8247888" y="3822192"/>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03</a:t>
            </a:r>
          </a:p>
        </p:txBody>
      </p:sp>
      <p:sp>
        <p:nvSpPr>
          <p:cNvPr id="23" name="Extend scheduling"/>
          <p:cNvSpPr txBox="1"/>
          <p:nvPr/>
        </p:nvSpPr>
        <p:spPr>
          <a:xfrm>
            <a:off x="8631936" y="3794760"/>
            <a:ext cx="2724912" cy="338328"/>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Extend scheduling</a:t>
            </a:r>
          </a:p>
        </p:txBody>
      </p:sp>
      <p:sp>
        <p:nvSpPr>
          <p:cNvPr id="24" name="A plugin surface for / future scheduling policy."/>
          <p:cNvSpPr txBox="1"/>
          <p:nvPr/>
        </p:nvSpPr>
        <p:spPr>
          <a:xfrm>
            <a:off x="8631936" y="4242816"/>
            <a:ext cx="2724912" cy="896112"/>
          </a:xfrm>
          <a:prstGeom prst="rect">
            <a:avLst/>
          </a:prstGeom>
          <a:noFill/>
        </p:spPr>
        <p:txBody>
          <a:bodyPr wrap="square" lIns="0" rIns="0" tIns="0" bIns="0" anchor="t">
            <a:noAutofit/>
          </a:bodyPr>
          <a:lstStyle/>
          <a:p>
            <a:pPr algn="l">
              <a:spcBef>
                <a:spcPts val="0"/>
              </a:spcBef>
              <a:spcAft>
                <a:spcPts val="200"/>
              </a:spcAft>
              <a:defRPr sz="1600" b="0">
                <a:solidFill>
                  <a:srgbClr val="5B6E80"/>
                </a:solidFill>
                <a:latin typeface="Arial"/>
              </a:defRPr>
            </a:pPr>
            <a:r>
              <a:t>A plugin surface for</a:t>
            </a:r>
          </a:p>
          <a:p>
            <a:pPr algn="l">
              <a:spcBef>
                <a:spcPts val="0"/>
              </a:spcBef>
              <a:spcAft>
                <a:spcPts val="200"/>
              </a:spcAft>
              <a:defRPr sz="1600" b="0">
                <a:solidFill>
                  <a:srgbClr val="5B6E80"/>
                </a:solidFill>
                <a:latin typeface="Arial"/>
              </a:defRPr>
            </a:pPr>
            <a:r>
              <a:t>future scheduling policy.</a:t>
            </a:r>
          </a:p>
        </p:txBody>
      </p:sp>
      <p:sp>
        <p:nvSpPr>
          <p:cNvPr id="25" name="Panel 24"/>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anel 25"/>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KAITO builds on llm-d’s routing intelligence — it does not invent a second routi"/>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KAITO builds on llm-d’s routing intelligence — it does not invent a second routing engine.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SPONSIBILITIES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RESPONSIBILITIES  /  KAITO + llm-d</a:t>
            </a:r>
          </a:p>
        </p:txBody>
      </p:sp>
      <p:sp>
        <p:nvSpPr>
          <p:cNvPr id="4" name="Three layers. Three clear responsibilities."/>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Three layers. Three clear responsibilities.</a:t>
            </a:r>
          </a:p>
        </p:txBody>
      </p:sp>
      <p:sp>
        <p:nvSpPr>
          <p:cNvPr id="5" name="The InferencePool contract connects platform orchestration to routing."/>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The InferencePool contract connects platform orchestration to routing.</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3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03 / 12</a:t>
            </a:r>
          </a:p>
        </p:txBody>
      </p:sp>
      <p:sp>
        <p:nvSpPr>
          <p:cNvPr id="8" name="Panel 7"/>
          <p:cNvSpPr/>
          <p:nvPr/>
        </p:nvSpPr>
        <p:spPr>
          <a:xfrm>
            <a:off x="548640" y="1837943"/>
            <a:ext cx="11091672" cy="1024128"/>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AITO"/>
          <p:cNvSpPr txBox="1"/>
          <p:nvPr/>
        </p:nvSpPr>
        <p:spPr>
          <a:xfrm>
            <a:off x="786384" y="2002536"/>
            <a:ext cx="2468880" cy="347472"/>
          </a:xfrm>
          <a:prstGeom prst="rect">
            <a:avLst/>
          </a:prstGeom>
          <a:noFill/>
        </p:spPr>
        <p:txBody>
          <a:bodyPr wrap="square" lIns="0" rIns="0" tIns="0" bIns="0" anchor="t">
            <a:noAutofit/>
          </a:bodyPr>
          <a:lstStyle/>
          <a:p>
            <a:pPr algn="l">
              <a:spcBef>
                <a:spcPts val="0"/>
              </a:spcBef>
              <a:spcAft>
                <a:spcPts val="400"/>
              </a:spcAft>
              <a:defRPr sz="2300" b="1">
                <a:solidFill>
                  <a:srgbClr val="7150C8"/>
                </a:solidFill>
                <a:latin typeface="Arial"/>
              </a:defRPr>
            </a:pPr>
            <a:r>
              <a:t>KAITO</a:t>
            </a:r>
          </a:p>
        </p:txBody>
      </p:sp>
      <p:sp>
        <p:nvSpPr>
          <p:cNvPr id="10" name="DECLARE + RECONCILE"/>
          <p:cNvSpPr txBox="1"/>
          <p:nvPr/>
        </p:nvSpPr>
        <p:spPr>
          <a:xfrm>
            <a:off x="804672" y="2478024"/>
            <a:ext cx="2468880" cy="164592"/>
          </a:xfrm>
          <a:prstGeom prst="rect">
            <a:avLst/>
          </a:prstGeom>
          <a:noFill/>
        </p:spPr>
        <p:txBody>
          <a:bodyPr wrap="square" lIns="0" rIns="0" tIns="0" bIns="0" anchor="t">
            <a:noAutofit/>
          </a:bodyPr>
          <a:lstStyle/>
          <a:p>
            <a:pPr algn="l">
              <a:spcBef>
                <a:spcPts val="0"/>
              </a:spcBef>
              <a:spcAft>
                <a:spcPts val="200"/>
              </a:spcAft>
              <a:defRPr sz="1000" b="1">
                <a:solidFill>
                  <a:srgbClr val="7150C8"/>
                </a:solidFill>
                <a:latin typeface="Arial"/>
              </a:defRPr>
            </a:pPr>
            <a:r>
              <a:t>DECLARE + RECONCILE</a:t>
            </a:r>
          </a:p>
        </p:txBody>
      </p:sp>
      <p:cxnSp>
        <p:nvCxnSpPr>
          <p:cNvPr id="11" name="Connector"/>
          <p:cNvCxnSpPr/>
          <p:nvPr/>
        </p:nvCxnSpPr>
        <p:spPr>
          <a:xfrm>
            <a:off x="3493008" y="2020824"/>
            <a:ext cx="0" cy="658367"/>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3767328" y="2002536"/>
            <a:ext cx="7498079" cy="320040"/>
          </a:xfrm>
          <a:prstGeom prst="rect">
            <a:avLst/>
          </a:prstGeom>
          <a:noFill/>
        </p:spPr>
        <p:txBody>
          <a:bodyPr wrap="square" lIns="0" rIns="0" tIns="0" bIns="0" anchor="t">
            <a:noAutofit/>
          </a:bodyPr>
          <a:lstStyle/>
          <a:p>
            <a:pPr algn="l">
              <a:spcBef>
                <a:spcPts val="0"/>
              </a:spcBef>
              <a:spcAft>
                <a:spcPts val="400"/>
              </a:spcAft>
              <a:defRPr sz="2100" b="1">
                <a:solidFill>
                  <a:srgbClr val="10243A"/>
                </a:solidFill>
                <a:latin typeface="Arial"/>
              </a:defRPr>
            </a:pPr>
            <a:r>
              <a:t>MultiRoleInference → role topology</a:t>
            </a:r>
          </a:p>
        </p:txBody>
      </p:sp>
      <p:sp>
        <p:nvSpPr>
          <p:cNvPr id="13" name="Resource generation • ownership • lifecycle"/>
          <p:cNvSpPr txBox="1"/>
          <p:nvPr/>
        </p:nvSpPr>
        <p:spPr>
          <a:xfrm>
            <a:off x="3785615" y="2459736"/>
            <a:ext cx="7315200" cy="228600"/>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Resource generation • ownership • lifecycle</a:t>
            </a:r>
          </a:p>
        </p:txBody>
      </p:sp>
      <p:sp>
        <p:nvSpPr>
          <p:cNvPr id="14" name="Panel 13"/>
          <p:cNvSpPr/>
          <p:nvPr/>
        </p:nvSpPr>
        <p:spPr>
          <a:xfrm>
            <a:off x="548640" y="3072384"/>
            <a:ext cx="11091672" cy="102412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WIE"/>
          <p:cNvSpPr txBox="1"/>
          <p:nvPr/>
        </p:nvSpPr>
        <p:spPr>
          <a:xfrm>
            <a:off x="786384" y="3236976"/>
            <a:ext cx="2468880" cy="347472"/>
          </a:xfrm>
          <a:prstGeom prst="rect">
            <a:avLst/>
          </a:prstGeom>
          <a:noFill/>
        </p:spPr>
        <p:txBody>
          <a:bodyPr wrap="square" lIns="0" rIns="0" tIns="0" bIns="0" anchor="t">
            <a:noAutofit/>
          </a:bodyPr>
          <a:lstStyle/>
          <a:p>
            <a:pPr algn="l">
              <a:spcBef>
                <a:spcPts val="0"/>
              </a:spcBef>
              <a:spcAft>
                <a:spcPts val="400"/>
              </a:spcAft>
              <a:defRPr sz="2300" b="1">
                <a:solidFill>
                  <a:srgbClr val="2463D4"/>
                </a:solidFill>
                <a:latin typeface="Arial"/>
              </a:defRPr>
            </a:pPr>
            <a:r>
              <a:t>GWIE</a:t>
            </a:r>
          </a:p>
        </p:txBody>
      </p:sp>
      <p:sp>
        <p:nvSpPr>
          <p:cNvPr id="16" name="DEFINE THE CONTRACT"/>
          <p:cNvSpPr txBox="1"/>
          <p:nvPr/>
        </p:nvSpPr>
        <p:spPr>
          <a:xfrm>
            <a:off x="804672" y="3712463"/>
            <a:ext cx="2468880" cy="164592"/>
          </a:xfrm>
          <a:prstGeom prst="rect">
            <a:avLst/>
          </a:prstGeom>
          <a:noFill/>
        </p:spPr>
        <p:txBody>
          <a:bodyPr wrap="square" lIns="0" rIns="0" tIns="0" bIns="0" anchor="t">
            <a:noAutofit/>
          </a:bodyPr>
          <a:lstStyle/>
          <a:p>
            <a:pPr algn="l">
              <a:spcBef>
                <a:spcPts val="0"/>
              </a:spcBef>
              <a:spcAft>
                <a:spcPts val="200"/>
              </a:spcAft>
              <a:defRPr sz="1000" b="1">
                <a:solidFill>
                  <a:srgbClr val="2463D4"/>
                </a:solidFill>
                <a:latin typeface="Arial"/>
              </a:defRPr>
            </a:pPr>
            <a:r>
              <a:t>DEFINE THE CONTRACT</a:t>
            </a:r>
          </a:p>
        </p:txBody>
      </p:sp>
      <p:cxnSp>
        <p:nvCxnSpPr>
          <p:cNvPr id="17" name="Connector"/>
          <p:cNvCxnSpPr/>
          <p:nvPr/>
        </p:nvCxnSpPr>
        <p:spPr>
          <a:xfrm>
            <a:off x="3493008" y="3255264"/>
            <a:ext cx="0" cy="658368"/>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3767328" y="3236976"/>
            <a:ext cx="7498079" cy="320040"/>
          </a:xfrm>
          <a:prstGeom prst="rect">
            <a:avLst/>
          </a:prstGeom>
          <a:noFill/>
        </p:spPr>
        <p:txBody>
          <a:bodyPr wrap="square" lIns="0" rIns="0" tIns="0" bIns="0" anchor="t">
            <a:noAutofit/>
          </a:bodyPr>
          <a:lstStyle/>
          <a:p>
            <a:pPr algn="l">
              <a:spcBef>
                <a:spcPts val="0"/>
              </a:spcBef>
              <a:spcAft>
                <a:spcPts val="400"/>
              </a:spcAft>
              <a:defRPr sz="2100" b="1">
                <a:solidFill>
                  <a:srgbClr val="10243A"/>
                </a:solidFill>
                <a:latin typeface="Arial"/>
              </a:defRPr>
            </a:pPr>
            <a:r>
              <a:t>InferencePool + gateway integration</a:t>
            </a:r>
          </a:p>
        </p:txBody>
      </p:sp>
      <p:sp>
        <p:nvSpPr>
          <p:cNvPr id="19" name="Kubernetes API surface • backend discovery"/>
          <p:cNvSpPr txBox="1"/>
          <p:nvPr/>
        </p:nvSpPr>
        <p:spPr>
          <a:xfrm>
            <a:off x="3785615" y="3694176"/>
            <a:ext cx="7315200" cy="228600"/>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Kubernetes API surface • backend discovery</a:t>
            </a:r>
          </a:p>
        </p:txBody>
      </p:sp>
      <p:sp>
        <p:nvSpPr>
          <p:cNvPr id="20" name="Panel 19"/>
          <p:cNvSpPr/>
          <p:nvPr/>
        </p:nvSpPr>
        <p:spPr>
          <a:xfrm>
            <a:off x="548640" y="4306824"/>
            <a:ext cx="11091672" cy="102412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lm-d Router"/>
          <p:cNvSpPr txBox="1"/>
          <p:nvPr/>
        </p:nvSpPr>
        <p:spPr>
          <a:xfrm>
            <a:off x="786384" y="4471416"/>
            <a:ext cx="2468880" cy="347472"/>
          </a:xfrm>
          <a:prstGeom prst="rect">
            <a:avLst/>
          </a:prstGeom>
          <a:noFill/>
        </p:spPr>
        <p:txBody>
          <a:bodyPr wrap="square" lIns="0" rIns="0" tIns="0" bIns="0" anchor="t">
            <a:noAutofit/>
          </a:bodyPr>
          <a:lstStyle/>
          <a:p>
            <a:pPr algn="l">
              <a:spcBef>
                <a:spcPts val="0"/>
              </a:spcBef>
              <a:spcAft>
                <a:spcPts val="400"/>
              </a:spcAft>
              <a:defRPr sz="2300" b="1">
                <a:solidFill>
                  <a:srgbClr val="087F82"/>
                </a:solidFill>
                <a:latin typeface="Arial"/>
              </a:defRPr>
            </a:pPr>
            <a:r>
              <a:t>llm-d Router</a:t>
            </a:r>
          </a:p>
        </p:txBody>
      </p:sp>
      <p:sp>
        <p:nvSpPr>
          <p:cNvPr id="22" name="SELECT ENDPOINTS"/>
          <p:cNvSpPr txBox="1"/>
          <p:nvPr/>
        </p:nvSpPr>
        <p:spPr>
          <a:xfrm>
            <a:off x="804672" y="4946904"/>
            <a:ext cx="2468880" cy="164592"/>
          </a:xfrm>
          <a:prstGeom prst="rect">
            <a:avLst/>
          </a:prstGeom>
          <a:noFill/>
        </p:spPr>
        <p:txBody>
          <a:bodyPr wrap="square" lIns="0" rIns="0" tIns="0" bIns="0" anchor="t">
            <a:noAutofit/>
          </a:bodyPr>
          <a:lstStyle/>
          <a:p>
            <a:pPr algn="l">
              <a:spcBef>
                <a:spcPts val="0"/>
              </a:spcBef>
              <a:spcAft>
                <a:spcPts val="200"/>
              </a:spcAft>
              <a:defRPr sz="1000" b="1">
                <a:solidFill>
                  <a:srgbClr val="087F82"/>
                </a:solidFill>
                <a:latin typeface="Arial"/>
              </a:defRPr>
            </a:pPr>
            <a:r>
              <a:t>SELECT ENDPOINTS</a:t>
            </a:r>
          </a:p>
        </p:txBody>
      </p:sp>
      <p:cxnSp>
        <p:nvCxnSpPr>
          <p:cNvPr id="23" name="Connector"/>
          <p:cNvCxnSpPr/>
          <p:nvPr/>
        </p:nvCxnSpPr>
        <p:spPr>
          <a:xfrm>
            <a:off x="3493008" y="4489704"/>
            <a:ext cx="0" cy="658368"/>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3767328" y="4471416"/>
            <a:ext cx="7498079" cy="320040"/>
          </a:xfrm>
          <a:prstGeom prst="rect">
            <a:avLst/>
          </a:prstGeom>
          <a:noFill/>
        </p:spPr>
        <p:txBody>
          <a:bodyPr wrap="square" lIns="0" rIns="0" tIns="0" bIns="0" anchor="t">
            <a:noAutofit/>
          </a:bodyPr>
          <a:lstStyle/>
          <a:p>
            <a:pPr algn="l">
              <a:spcBef>
                <a:spcPts val="0"/>
              </a:spcBef>
              <a:spcAft>
                <a:spcPts val="400"/>
              </a:spcAft>
              <a:defRPr sz="2100" b="1">
                <a:solidFill>
                  <a:srgbClr val="10243A"/>
                </a:solidFill>
                <a:latin typeface="Arial"/>
              </a:defRPr>
            </a:pPr>
            <a:r>
              <a:t>EPP + P/D-aware scheduling</a:t>
            </a:r>
          </a:p>
        </p:txBody>
      </p:sp>
      <p:sp>
        <p:nvSpPr>
          <p:cNvPr id="25" name="Endpoint picking • role-aware routing decisions"/>
          <p:cNvSpPr txBox="1"/>
          <p:nvPr/>
        </p:nvSpPr>
        <p:spPr>
          <a:xfrm>
            <a:off x="3785615" y="4928616"/>
            <a:ext cx="7315200" cy="228600"/>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Endpoint picking • role-aware routing decisions</a:t>
            </a:r>
          </a:p>
        </p:txBody>
      </p:sp>
      <p:sp>
        <p:nvSpPr>
          <p:cNvPr id="26" name="Panel 25"/>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anel 26"/>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KAITO owns the topology. GWIE defines the contract. llm-d Router makes the selec"/>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KAITO owns the topology. GWIE defines the contract. llm-d Router makes the selection.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ARCHITECTURE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ARCHITECTURE  /  KAITO + llm-d</a:t>
            </a:r>
          </a:p>
        </p:txBody>
      </p:sp>
      <p:sp>
        <p:nvSpPr>
          <p:cNvPr id="4" name="One endpoint. Separate control, request and KV paths."/>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One endpoint. Separate control, request and KV paths.</a:t>
            </a:r>
          </a:p>
        </p:txBody>
      </p:sp>
      <p:sp>
        <p:nvSpPr>
          <p:cNvPr id="5" name="Read the serving path left to right; endpoint selection is an out-of-band decisi"/>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Read the serving path left to right; endpoint selection is an out-of-band decision.</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4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04 / 12</a:t>
            </a:r>
          </a:p>
        </p:txBody>
      </p:sp>
      <p:sp>
        <p:nvSpPr>
          <p:cNvPr id="8" name="Panel 7"/>
          <p:cNvSpPr/>
          <p:nvPr/>
        </p:nvSpPr>
        <p:spPr>
          <a:xfrm>
            <a:off x="548640" y="1810512"/>
            <a:ext cx="11091672" cy="987552"/>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NTROL PLANE"/>
          <p:cNvSpPr txBox="1"/>
          <p:nvPr/>
        </p:nvSpPr>
        <p:spPr>
          <a:xfrm>
            <a:off x="722376" y="1901952"/>
            <a:ext cx="2103120" cy="164592"/>
          </a:xfrm>
          <a:prstGeom prst="rect">
            <a:avLst/>
          </a:prstGeom>
          <a:noFill/>
        </p:spPr>
        <p:txBody>
          <a:bodyPr wrap="square" lIns="0" rIns="0" tIns="0" bIns="0" anchor="t">
            <a:noAutofit/>
          </a:bodyPr>
          <a:lstStyle/>
          <a:p>
            <a:pPr algn="l">
              <a:spcBef>
                <a:spcPts val="0"/>
              </a:spcBef>
              <a:spcAft>
                <a:spcPts val="200"/>
              </a:spcAft>
              <a:defRPr sz="1000" b="1">
                <a:solidFill>
                  <a:srgbClr val="7150C8"/>
                </a:solidFill>
                <a:latin typeface="Arial"/>
              </a:defRPr>
            </a:pPr>
            <a:r>
              <a:t>CONTROL PLANE</a:t>
            </a:r>
          </a:p>
        </p:txBody>
      </p:sp>
      <p:sp>
        <p:nvSpPr>
          <p:cNvPr id="10" name="MultiRoleInference"/>
          <p:cNvSpPr/>
          <p:nvPr/>
        </p:nvSpPr>
        <p:spPr>
          <a:xfrm>
            <a:off x="731520" y="2139696"/>
            <a:ext cx="2423160" cy="475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7150C8"/>
                </a:solidFill>
                <a:latin typeface="Arial"/>
              </a:defRPr>
            </a:pPr>
            <a:r>
              <a:t>MultiRoleInference</a:t>
            </a:r>
          </a:p>
        </p:txBody>
      </p:sp>
      <p:sp>
        <p:nvSpPr>
          <p:cNvPr id="11" name="KAITO controller"/>
          <p:cNvSpPr/>
          <p:nvPr/>
        </p:nvSpPr>
        <p:spPr>
          <a:xfrm>
            <a:off x="3703320" y="2139696"/>
            <a:ext cx="2377440" cy="475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7150C8"/>
                </a:solidFill>
                <a:latin typeface="Arial"/>
              </a:defRPr>
            </a:pPr>
            <a:r>
              <a:t>KAITO controller</a:t>
            </a:r>
          </a:p>
        </p:txBody>
      </p:sp>
      <p:sp>
        <p:nvSpPr>
          <p:cNvPr id="12" name="Child InferenceSets + InferencePool + wiring"/>
          <p:cNvSpPr/>
          <p:nvPr/>
        </p:nvSpPr>
        <p:spPr>
          <a:xfrm>
            <a:off x="6647688" y="2139696"/>
            <a:ext cx="4754880" cy="475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7150C8"/>
                </a:solidFill>
                <a:latin typeface="Arial"/>
              </a:defRPr>
            </a:pPr>
            <a:r>
              <a:t>Child InferenceSets + InferencePool + wiring</a:t>
            </a:r>
          </a:p>
        </p:txBody>
      </p:sp>
      <p:cxnSp>
        <p:nvCxnSpPr>
          <p:cNvPr id="13" name="MultiRoleInference → KAITO controller"/>
          <p:cNvCxnSpPr>
            <a:stCxn id="10" idx="3"/>
            <a:endCxn id="11" idx="1"/>
          </p:cNvCxnSpPr>
          <p:nvPr/>
        </p:nvCxnSpPr>
        <p:spPr>
          <a:xfrm flipV="1">
            <a:off x="3154680" y="2377440"/>
            <a:ext cx="54864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6080760" y="2377440"/>
            <a:ext cx="566928"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2057400" y="3035808"/>
            <a:ext cx="2240280" cy="59436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7150C8"/>
                </a:solidFill>
                <a:latin typeface="Arial"/>
              </a:defRPr>
            </a:pPr>
            <a:r>
              <a:t>llm-d Router EPP</a:t>
            </a:r>
          </a:p>
        </p:txBody>
      </p:sp>
      <p:sp>
        <p:nvSpPr>
          <p:cNvPr id="16" name="Prefill vLLM"/>
          <p:cNvSpPr/>
          <p:nvPr/>
        </p:nvSpPr>
        <p:spPr>
          <a:xfrm>
            <a:off x="5577840" y="3035808"/>
            <a:ext cx="2148840" cy="59436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600" b="1">
                <a:solidFill>
                  <a:srgbClr val="A85C05"/>
                </a:solidFill>
                <a:latin typeface="Arial"/>
              </a:defRPr>
            </a:pPr>
            <a:r>
              <a:t>Prefill vLLM</a:t>
            </a:r>
          </a:p>
        </p:txBody>
      </p:sp>
      <p:sp>
        <p:nvSpPr>
          <p:cNvPr id="17" name="PREFILL INFERENCESET"/>
          <p:cNvSpPr txBox="1"/>
          <p:nvPr/>
        </p:nvSpPr>
        <p:spPr>
          <a:xfrm>
            <a:off x="5458968" y="2798064"/>
            <a:ext cx="2377440" cy="173736"/>
          </a:xfrm>
          <a:prstGeom prst="rect">
            <a:avLst/>
          </a:prstGeom>
          <a:noFill/>
        </p:spPr>
        <p:txBody>
          <a:bodyPr wrap="square" lIns="0" rIns="0" tIns="0" bIns="0" anchor="t">
            <a:noAutofit/>
          </a:bodyPr>
          <a:lstStyle/>
          <a:p>
            <a:pPr algn="ctr">
              <a:spcBef>
                <a:spcPts val="0"/>
              </a:spcBef>
              <a:spcAft>
                <a:spcPts val="200"/>
              </a:spcAft>
              <a:defRPr sz="900" b="1">
                <a:solidFill>
                  <a:srgbClr val="A85C05"/>
                </a:solidFill>
                <a:latin typeface="Arial"/>
              </a:defRPr>
            </a:pPr>
            <a:r>
              <a:t>PREFILL INFERENCESET</a:t>
            </a:r>
          </a:p>
        </p:txBody>
      </p:sp>
      <p:sp>
        <p:nvSpPr>
          <p:cNvPr id="18" name="Panel 17"/>
          <p:cNvSpPr/>
          <p:nvPr/>
        </p:nvSpPr>
        <p:spPr>
          <a:xfrm>
            <a:off x="5358384" y="3986784"/>
            <a:ext cx="6044184" cy="1124712"/>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ECODE INFERENCESET  /  SELECTED DECODE POD"/>
          <p:cNvSpPr txBox="1"/>
          <p:nvPr/>
        </p:nvSpPr>
        <p:spPr>
          <a:xfrm>
            <a:off x="5532120" y="4069080"/>
            <a:ext cx="5303520" cy="173736"/>
          </a:xfrm>
          <a:prstGeom prst="rect">
            <a:avLst/>
          </a:prstGeom>
          <a:noFill/>
        </p:spPr>
        <p:txBody>
          <a:bodyPr wrap="square" lIns="0" rIns="0" tIns="0" bIns="0" anchor="t">
            <a:noAutofit/>
          </a:bodyPr>
          <a:lstStyle/>
          <a:p>
            <a:pPr algn="l">
              <a:spcBef>
                <a:spcPts val="0"/>
              </a:spcBef>
              <a:spcAft>
                <a:spcPts val="200"/>
              </a:spcAft>
              <a:defRPr sz="900" b="1">
                <a:solidFill>
                  <a:srgbClr val="087F82"/>
                </a:solidFill>
                <a:latin typeface="Arial"/>
              </a:defRPr>
            </a:pPr>
            <a:r>
              <a:t>DECODE INFERENCESET  /  SELECTED DECODE POD</a:t>
            </a:r>
          </a:p>
        </p:txBody>
      </p:sp>
      <p:sp>
        <p:nvSpPr>
          <p:cNvPr id="20" name="Client"/>
          <p:cNvSpPr/>
          <p:nvPr/>
        </p:nvSpPr>
        <p:spPr>
          <a:xfrm>
            <a:off x="594360" y="4416552"/>
            <a:ext cx="1069848" cy="59436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2463D4"/>
                </a:solidFill>
                <a:latin typeface="Arial"/>
              </a:defRPr>
            </a:pPr>
            <a:r>
              <a:t>Client</a:t>
            </a:r>
          </a:p>
        </p:txBody>
      </p:sp>
      <p:sp>
        <p:nvSpPr>
          <p:cNvPr id="21" name="Gateway"/>
          <p:cNvSpPr/>
          <p:nvPr/>
        </p:nvSpPr>
        <p:spPr>
          <a:xfrm>
            <a:off x="2057400" y="4416552"/>
            <a:ext cx="2240280" cy="59436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600" b="1">
                <a:solidFill>
                  <a:srgbClr val="2463D4"/>
                </a:solidFill>
                <a:latin typeface="Arial"/>
              </a:defRPr>
            </a:pPr>
            <a:r>
              <a:t>Gateway</a:t>
            </a:r>
          </a:p>
        </p:txBody>
      </p:sp>
      <p:sp>
        <p:nvSpPr>
          <p:cNvPr id="22" name="Routing sidecar"/>
          <p:cNvSpPr/>
          <p:nvPr/>
        </p:nvSpPr>
        <p:spPr>
          <a:xfrm>
            <a:off x="5577840" y="4416552"/>
            <a:ext cx="2148840" cy="59436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2463D4"/>
                </a:solidFill>
                <a:latin typeface="Arial"/>
              </a:defRPr>
            </a:pPr>
            <a:r>
              <a:t>Routing sidecar</a:t>
            </a:r>
          </a:p>
        </p:txBody>
      </p:sp>
      <p:sp>
        <p:nvSpPr>
          <p:cNvPr id="23" name="Decode vLLM"/>
          <p:cNvSpPr/>
          <p:nvPr/>
        </p:nvSpPr>
        <p:spPr>
          <a:xfrm>
            <a:off x="9144000" y="4416552"/>
            <a:ext cx="2011680" cy="59436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087F82"/>
                </a:solidFill>
                <a:latin typeface="Arial"/>
              </a:defRPr>
            </a:pPr>
            <a:r>
              <a:t>Decode vLLM</a:t>
            </a:r>
          </a:p>
        </p:txBody>
      </p:sp>
      <p:cxnSp>
        <p:nvCxnSpPr>
          <p:cNvPr id="24" name="Client → Gateway"/>
          <p:cNvCxnSpPr>
            <a:stCxn id="20" idx="3"/>
            <a:endCxn id="21" idx="1"/>
          </p:cNvCxnSpPr>
          <p:nvPr/>
        </p:nvCxnSpPr>
        <p:spPr>
          <a:xfrm flipV="1">
            <a:off x="1664208" y="4713732"/>
            <a:ext cx="393192"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4297680" y="4713732"/>
            <a:ext cx="128016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7726680" y="4713732"/>
            <a:ext cx="14173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4343400" y="4142232"/>
            <a:ext cx="1143000" cy="210312"/>
          </a:xfrm>
          <a:prstGeom prst="rect">
            <a:avLst/>
          </a:prstGeom>
          <a:noFill/>
        </p:spPr>
        <p:txBody>
          <a:bodyPr wrap="square" lIns="0" rIns="0" tIns="0" bIns="0" anchor="t">
            <a:noAutofit/>
          </a:bodyPr>
          <a:lstStyle/>
          <a:p>
            <a:pPr algn="ctr">
              <a:spcBef>
                <a:spcPts val="0"/>
              </a:spcBef>
              <a:spcAft>
                <a:spcPts val="200"/>
              </a:spcAft>
              <a:defRPr sz="1000" b="0">
                <a:solidFill>
                  <a:srgbClr val="2463D4"/>
                </a:solidFill>
                <a:latin typeface="Arial"/>
              </a:defRPr>
            </a:pPr>
            <a:r>
              <a:t>request</a:t>
            </a:r>
          </a:p>
        </p:txBody>
      </p:sp>
      <p:sp>
        <p:nvSpPr>
          <p:cNvPr id="28" name="local proxy"/>
          <p:cNvSpPr txBox="1"/>
          <p:nvPr/>
        </p:nvSpPr>
        <p:spPr>
          <a:xfrm>
            <a:off x="7845552" y="4462272"/>
            <a:ext cx="1152144" cy="182880"/>
          </a:xfrm>
          <a:prstGeom prst="rect">
            <a:avLst/>
          </a:prstGeom>
          <a:noFill/>
        </p:spPr>
        <p:txBody>
          <a:bodyPr wrap="square" lIns="0" rIns="0" tIns="0" bIns="0" anchor="t">
            <a:noAutofit/>
          </a:bodyPr>
          <a:lstStyle/>
          <a:p>
            <a:pPr algn="ctr">
              <a:spcBef>
                <a:spcPts val="0"/>
              </a:spcBef>
              <a:spcAft>
                <a:spcPts val="200"/>
              </a:spcAft>
              <a:defRPr sz="1000" b="0">
                <a:solidFill>
                  <a:srgbClr val="2463D4"/>
                </a:solidFill>
                <a:latin typeface="Arial"/>
              </a:defRPr>
            </a:pPr>
            <a:r>
              <a:t>local proxy</a:t>
            </a:r>
          </a:p>
        </p:txBody>
      </p:sp>
      <p:cxnSp>
        <p:nvCxnSpPr>
          <p:cNvPr id="29" name="Gateway ↔ EPP endpoint selection"/>
          <p:cNvCxnSpPr/>
          <p:nvPr/>
        </p:nvCxnSpPr>
        <p:spPr>
          <a:xfrm flipV="1">
            <a:off x="3182112" y="3639312"/>
            <a:ext cx="0" cy="749808"/>
          </a:xfrm>
          <a:prstGeom prst="line">
            <a:avLst/>
          </a:prstGeom>
          <a:ln w="19050">
            <a:solidFill>
              <a:srgbClr val="7150C8"/>
            </a:solidFill>
            <a:prstDash val="dash"/>
            <a:tailEnd type="triangle" w="sm" len="sm"/>
            <a:head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1051560" y="3758184"/>
            <a:ext cx="1901952" cy="402336"/>
          </a:xfrm>
          <a:prstGeom prst="rect">
            <a:avLst/>
          </a:prstGeom>
          <a:noFill/>
        </p:spPr>
        <p:txBody>
          <a:bodyPr wrap="square" lIns="0" rIns="0" tIns="0" bIns="0" anchor="t">
            <a:noAutofit/>
          </a:bodyPr>
          <a:lstStyle/>
          <a:p>
            <a:pPr algn="r">
              <a:spcBef>
                <a:spcPts val="0"/>
              </a:spcBef>
              <a:spcAft>
                <a:spcPts val="200"/>
              </a:spcAft>
              <a:defRPr sz="1000" b="0">
                <a:solidFill>
                  <a:srgbClr val="7150C8"/>
                </a:solidFill>
                <a:latin typeface="Arial"/>
              </a:defRPr>
            </a:pPr>
            <a:r>
              <a:t>endpoint selection</a:t>
            </a:r>
          </a:p>
          <a:p>
            <a:pPr algn="r">
              <a:spcBef>
                <a:spcPts val="0"/>
              </a:spcBef>
              <a:spcAft>
                <a:spcPts val="200"/>
              </a:spcAft>
              <a:defRPr sz="1000" b="0">
                <a:solidFill>
                  <a:srgbClr val="7150C8"/>
                </a:solidFill>
                <a:latin typeface="Arial"/>
              </a:defRPr>
            </a:pPr>
            <a:r>
              <a:t>via InferencePool</a:t>
            </a:r>
          </a:p>
        </p:txBody>
      </p:sp>
      <p:cxnSp>
        <p:nvCxnSpPr>
          <p:cNvPr id="31" name="Sidecar → remote prefill request"/>
          <p:cNvCxnSpPr/>
          <p:nvPr/>
        </p:nvCxnSpPr>
        <p:spPr>
          <a:xfrm flipV="1">
            <a:off x="6656832" y="3648456"/>
            <a:ext cx="0" cy="749808"/>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4727448" y="3685032"/>
            <a:ext cx="1737360" cy="201168"/>
          </a:xfrm>
          <a:prstGeom prst="rect">
            <a:avLst/>
          </a:prstGeom>
          <a:noFill/>
        </p:spPr>
        <p:txBody>
          <a:bodyPr wrap="square" lIns="0" rIns="0" tIns="0" bIns="0" anchor="t">
            <a:noAutofit/>
          </a:bodyPr>
          <a:lstStyle/>
          <a:p>
            <a:pPr algn="r">
              <a:spcBef>
                <a:spcPts val="0"/>
              </a:spcBef>
              <a:spcAft>
                <a:spcPts val="200"/>
              </a:spcAft>
              <a:defRPr sz="1000" b="0">
                <a:solidFill>
                  <a:srgbClr val="A85C05"/>
                </a:solidFill>
                <a:latin typeface="Arial"/>
              </a:defRPr>
            </a:pPr>
            <a:r>
              <a:t>optional prefill</a:t>
            </a:r>
          </a:p>
        </p:txBody>
      </p:sp>
      <p:cxnSp>
        <p:nvCxnSpPr>
          <p:cNvPr id="33" name="Direct KV data transfer: prefill → decode"/>
          <p:cNvCxnSpPr/>
          <p:nvPr/>
        </p:nvCxnSpPr>
        <p:spPr>
          <a:xfrm>
            <a:off x="7735824" y="3337560"/>
            <a:ext cx="2414016"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10149840" y="3337560"/>
            <a:ext cx="0" cy="1060704"/>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8092440" y="2980944"/>
            <a:ext cx="3200400" cy="228600"/>
          </a:xfrm>
          <a:prstGeom prst="rect">
            <a:avLst/>
          </a:prstGeom>
          <a:noFill/>
        </p:spPr>
        <p:txBody>
          <a:bodyPr wrap="square" lIns="0" rIns="0" tIns="0" bIns="0" anchor="t">
            <a:noAutofit/>
          </a:bodyPr>
          <a:lstStyle/>
          <a:p>
            <a:pPr algn="l">
              <a:spcBef>
                <a:spcPts val="0"/>
              </a:spcBef>
              <a:spcAft>
                <a:spcPts val="200"/>
              </a:spcAft>
              <a:defRPr sz="1200" b="1">
                <a:solidFill>
                  <a:srgbClr val="24824C"/>
                </a:solidFill>
                <a:latin typeface="Arial"/>
              </a:defRPr>
            </a:pPr>
            <a:r>
              <a:t>Direct KV data • NIXL</a:t>
            </a:r>
          </a:p>
        </p:txBody>
      </p:sp>
      <p:cxnSp>
        <p:nvCxnSpPr>
          <p:cNvPr id="36" name="Connector"/>
          <p:cNvCxnSpPr/>
          <p:nvPr/>
        </p:nvCxnSpPr>
        <p:spPr>
          <a:xfrm>
            <a:off x="777240" y="5458968"/>
            <a:ext cx="36576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1261872" y="5349240"/>
            <a:ext cx="3474720" cy="237744"/>
          </a:xfrm>
          <a:prstGeom prst="rect">
            <a:avLst/>
          </a:prstGeom>
          <a:noFill/>
        </p:spPr>
        <p:txBody>
          <a:bodyPr wrap="square" lIns="0" rIns="0" tIns="0" bIns="0" anchor="t">
            <a:noAutofit/>
          </a:bodyPr>
          <a:lstStyle/>
          <a:p>
            <a:pPr algn="l">
              <a:spcBef>
                <a:spcPts val="0"/>
              </a:spcBef>
              <a:spcAft>
                <a:spcPts val="200"/>
              </a:spcAft>
              <a:defRPr sz="1200" b="0">
                <a:solidFill>
                  <a:srgbClr val="5B6E80"/>
                </a:solidFill>
                <a:latin typeface="Arial"/>
              </a:defRPr>
            </a:pPr>
            <a:r>
              <a:t>Control / selection</a:t>
            </a:r>
          </a:p>
        </p:txBody>
      </p:sp>
      <p:cxnSp>
        <p:nvCxnSpPr>
          <p:cNvPr id="38" name="Connector"/>
          <p:cNvCxnSpPr/>
          <p:nvPr/>
        </p:nvCxnSpPr>
        <p:spPr>
          <a:xfrm>
            <a:off x="3749039" y="5458968"/>
            <a:ext cx="36576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4233672" y="5349240"/>
            <a:ext cx="3474720" cy="237744"/>
          </a:xfrm>
          <a:prstGeom prst="rect">
            <a:avLst/>
          </a:prstGeom>
          <a:noFill/>
        </p:spPr>
        <p:txBody>
          <a:bodyPr wrap="square" lIns="0" rIns="0" tIns="0" bIns="0" anchor="t">
            <a:noAutofit/>
          </a:bodyPr>
          <a:lstStyle/>
          <a:p>
            <a:pPr algn="l">
              <a:spcBef>
                <a:spcPts val="0"/>
              </a:spcBef>
              <a:spcAft>
                <a:spcPts val="200"/>
              </a:spcAft>
              <a:defRPr sz="1200" b="0">
                <a:solidFill>
                  <a:srgbClr val="5B6E80"/>
                </a:solidFill>
                <a:latin typeface="Arial"/>
              </a:defRPr>
            </a:pPr>
            <a:r>
              <a:t>Request / local proxy</a:t>
            </a:r>
          </a:p>
        </p:txBody>
      </p:sp>
      <p:cxnSp>
        <p:nvCxnSpPr>
          <p:cNvPr id="40" name="Connector"/>
          <p:cNvCxnSpPr/>
          <p:nvPr/>
        </p:nvCxnSpPr>
        <p:spPr>
          <a:xfrm>
            <a:off x="7498079" y="5458968"/>
            <a:ext cx="36576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7982711" y="5349240"/>
            <a:ext cx="3474720" cy="237744"/>
          </a:xfrm>
          <a:prstGeom prst="rect">
            <a:avLst/>
          </a:prstGeom>
          <a:noFill/>
        </p:spPr>
        <p:txBody>
          <a:bodyPr wrap="square" lIns="0" rIns="0" tIns="0" bIns="0" anchor="t">
            <a:noAutofit/>
          </a:bodyPr>
          <a:lstStyle/>
          <a:p>
            <a:pPr algn="l">
              <a:spcBef>
                <a:spcPts val="0"/>
              </a:spcBef>
              <a:spcAft>
                <a:spcPts val="200"/>
              </a:spcAft>
              <a:defRPr sz="1200" b="0">
                <a:solidFill>
                  <a:srgbClr val="5B6E80"/>
                </a:solidFill>
                <a:latin typeface="Arial"/>
              </a:defRPr>
            </a:pPr>
            <a:r>
              <a:t>KV data (separate path)</a:t>
            </a:r>
          </a:p>
        </p:txBody>
      </p:sp>
      <p:sp>
        <p:nvSpPr>
          <p:cNvPr id="42" name="Panel 41"/>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anel 42"/>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he client sees one endpoint; KV data never needs to pass through the gateway."/>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The client sees one endpoint; KV data never needs to pass through the gateway.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LARATIVE API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DECLARATIVE API  /  KAITO + llm-d</a:t>
            </a:r>
          </a:p>
        </p:txBody>
      </p:sp>
      <p:sp>
        <p:nvSpPr>
          <p:cNvPr id="4" name="One object declares the serving topology"/>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One object declares the serving topology</a:t>
            </a:r>
          </a:p>
        </p:txBody>
      </p:sp>
      <p:sp>
        <p:nvSpPr>
          <p:cNvPr id="5" name="One model, distinct instance types: 1 A100 prefill replica + 2 H100 decode repli"/>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One model, distinct instance types: 1 A100 prefill replica + 2 H100 decode replicas.</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5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05 / 12</a:t>
            </a:r>
          </a:p>
        </p:txBody>
      </p:sp>
      <p:sp>
        <p:nvSpPr>
          <p:cNvPr id="8" name="Panel 7"/>
          <p:cNvSpPr/>
          <p:nvPr/>
        </p:nvSpPr>
        <p:spPr>
          <a:xfrm>
            <a:off x="548640" y="1847088"/>
            <a:ext cx="5650992" cy="3767328"/>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MultiRoleInference  /  model + role placement"/>
          <p:cNvSpPr txBox="1"/>
          <p:nvPr/>
        </p:nvSpPr>
        <p:spPr>
          <a:xfrm>
            <a:off x="777240" y="2039112"/>
            <a:ext cx="5193792" cy="228600"/>
          </a:xfrm>
          <a:prstGeom prst="rect">
            <a:avLst/>
          </a:prstGeom>
          <a:noFill/>
        </p:spPr>
        <p:txBody>
          <a:bodyPr wrap="square" lIns="0" rIns="0" tIns="0" bIns="0" anchor="t">
            <a:noAutofit/>
          </a:bodyPr>
          <a:lstStyle/>
          <a:p>
            <a:pPr algn="l">
              <a:spcBef>
                <a:spcPts val="0"/>
              </a:spcBef>
              <a:spcAft>
                <a:spcPts val="200"/>
              </a:spcAft>
              <a:defRPr sz="1200" b="1">
                <a:solidFill>
                  <a:srgbClr val="C8D8E7"/>
                </a:solidFill>
                <a:latin typeface="Arial"/>
              </a:defRPr>
            </a:pPr>
            <a:r>
              <a:t>MultiRoleInference  /  model + role placement</a:t>
            </a:r>
          </a:p>
        </p:txBody>
      </p:sp>
      <p:sp>
        <p:nvSpPr>
          <p:cNvPr id="10" name="apiVersion: kaito.sh/v1alpha1 / kind: MultiRoleInference / metadata: /   name: q"/>
          <p:cNvSpPr txBox="1"/>
          <p:nvPr/>
        </p:nvSpPr>
        <p:spPr>
          <a:xfrm>
            <a:off x="786384" y="2468880"/>
            <a:ext cx="5193792" cy="2971800"/>
          </a:xfrm>
          <a:prstGeom prst="rect">
            <a:avLst/>
          </a:prstGeom>
          <a:noFill/>
        </p:spPr>
        <p:txBody>
          <a:bodyPr wrap="square" lIns="0" rIns="0" tIns="0" bIns="0" anchor="t">
            <a:noAutofit/>
          </a:bodyPr>
          <a:lstStyle/>
          <a:p>
            <a:pPr algn="l">
              <a:lnSpc>
                <a:spcPts val="1630"/>
              </a:lnSpc>
              <a:spcBef>
                <a:spcPts val="0"/>
              </a:spcBef>
              <a:spcAft>
                <a:spcPts val="0"/>
              </a:spcAft>
              <a:defRPr sz="1400" b="0">
                <a:solidFill>
                  <a:srgbClr val="FFFFFF"/>
                </a:solidFill>
                <a:latin typeface="Consolas"/>
              </a:defRPr>
            </a:pPr>
            <a:r>
              <a:t>apiVersion: kaito.sh/v1alpha1</a:t>
            </a:r>
          </a:p>
          <a:p>
            <a:pPr algn="l">
              <a:lnSpc>
                <a:spcPts val="1630"/>
              </a:lnSpc>
              <a:spcBef>
                <a:spcPts val="0"/>
              </a:spcBef>
              <a:spcAft>
                <a:spcPts val="0"/>
              </a:spcAft>
              <a:defRPr sz="1400" b="0">
                <a:solidFill>
                  <a:srgbClr val="FFFFFF"/>
                </a:solidFill>
                <a:latin typeface="Consolas"/>
              </a:defRPr>
            </a:pPr>
            <a:r>
              <a:t>kind: MultiRoleInference</a:t>
            </a:r>
          </a:p>
          <a:p>
            <a:pPr algn="l">
              <a:lnSpc>
                <a:spcPts val="1630"/>
              </a:lnSpc>
              <a:spcBef>
                <a:spcPts val="0"/>
              </a:spcBef>
              <a:spcAft>
                <a:spcPts val="0"/>
              </a:spcAft>
              <a:defRPr sz="1400" b="0">
                <a:solidFill>
                  <a:srgbClr val="FFFFFF"/>
                </a:solidFill>
                <a:latin typeface="Consolas"/>
              </a:defRPr>
            </a:pPr>
            <a:r>
              <a:t>metadata:</a:t>
            </a:r>
          </a:p>
          <a:p>
            <a:pPr algn="l">
              <a:lnSpc>
                <a:spcPts val="1630"/>
              </a:lnSpc>
              <a:spcBef>
                <a:spcPts val="0"/>
              </a:spcBef>
              <a:spcAft>
                <a:spcPts val="0"/>
              </a:spcAft>
              <a:defRPr sz="1400" b="0">
                <a:solidFill>
                  <a:srgbClr val="FFFFFF"/>
                </a:solidFill>
                <a:latin typeface="Consolas"/>
              </a:defRPr>
            </a:pPr>
            <a:r>
              <a:t>  name: qwen-3-8-27b</a:t>
            </a:r>
          </a:p>
          <a:p>
            <a:pPr algn="l">
              <a:lnSpc>
                <a:spcPts val="1630"/>
              </a:lnSpc>
              <a:spcBef>
                <a:spcPts val="0"/>
              </a:spcBef>
              <a:spcAft>
                <a:spcPts val="0"/>
              </a:spcAft>
              <a:defRPr sz="1400" b="0">
                <a:solidFill>
                  <a:srgbClr val="FFFFFF"/>
                </a:solidFill>
                <a:latin typeface="Consolas"/>
              </a:defRPr>
            </a:pPr>
            <a:r>
              <a:t>spec:</a:t>
            </a:r>
          </a:p>
          <a:p>
            <a:pPr algn="l">
              <a:lnSpc>
                <a:spcPts val="1630"/>
              </a:lnSpc>
              <a:spcBef>
                <a:spcPts val="0"/>
              </a:spcBef>
              <a:spcAft>
                <a:spcPts val="0"/>
              </a:spcAft>
              <a:defRPr sz="1400" b="0">
                <a:solidFill>
                  <a:srgbClr val="FFFFFF"/>
                </a:solidFill>
                <a:latin typeface="Consolas"/>
              </a:defRPr>
            </a:pPr>
            <a:r>
              <a:t>  model:</a:t>
            </a:r>
          </a:p>
          <a:p>
            <a:pPr algn="l">
              <a:lnSpc>
                <a:spcPts val="1630"/>
              </a:lnSpc>
              <a:spcBef>
                <a:spcPts val="0"/>
              </a:spcBef>
              <a:spcAft>
                <a:spcPts val="0"/>
              </a:spcAft>
              <a:defRPr sz="1400" b="0">
                <a:solidFill>
                  <a:srgbClr val="FFFFFF"/>
                </a:solidFill>
                <a:latin typeface="Consolas"/>
              </a:defRPr>
            </a:pPr>
            <a:r>
              <a:t>    name: Qwen/Qwen3.8-27B</a:t>
            </a:r>
          </a:p>
          <a:p>
            <a:pPr algn="l">
              <a:lnSpc>
                <a:spcPts val="1630"/>
              </a:lnSpc>
              <a:spcBef>
                <a:spcPts val="0"/>
              </a:spcBef>
              <a:spcAft>
                <a:spcPts val="0"/>
              </a:spcAft>
              <a:defRPr sz="1400" b="0">
                <a:solidFill>
                  <a:srgbClr val="FFFFFF"/>
                </a:solidFill>
                <a:latin typeface="Consolas"/>
              </a:defRPr>
            </a:pPr>
            <a:r>
              <a:t>  roles:</a:t>
            </a:r>
          </a:p>
          <a:p>
            <a:pPr algn="l">
              <a:lnSpc>
                <a:spcPts val="1630"/>
              </a:lnSpc>
              <a:spcBef>
                <a:spcPts val="0"/>
              </a:spcBef>
              <a:spcAft>
                <a:spcPts val="0"/>
              </a:spcAft>
              <a:defRPr sz="1400" b="0">
                <a:solidFill>
                  <a:srgbClr val="FFFFFF"/>
                </a:solidFill>
                <a:latin typeface="Consolas"/>
              </a:defRPr>
            </a:pPr>
            <a:r>
              <a:t>    - type: prefill</a:t>
            </a:r>
          </a:p>
          <a:p>
            <a:pPr algn="l">
              <a:lnSpc>
                <a:spcPts val="1630"/>
              </a:lnSpc>
              <a:spcBef>
                <a:spcPts val="0"/>
              </a:spcBef>
              <a:spcAft>
                <a:spcPts val="0"/>
              </a:spcAft>
              <a:defRPr sz="1400" b="0">
                <a:solidFill>
                  <a:srgbClr val="FFFFFF"/>
                </a:solidFill>
                <a:latin typeface="Consolas"/>
              </a:defRPr>
            </a:pPr>
            <a:r>
              <a:t>      replicas: 1</a:t>
            </a:r>
          </a:p>
          <a:p>
            <a:pPr algn="l">
              <a:lnSpc>
                <a:spcPts val="1630"/>
              </a:lnSpc>
              <a:spcBef>
                <a:spcPts val="0"/>
              </a:spcBef>
              <a:spcAft>
                <a:spcPts val="0"/>
              </a:spcAft>
              <a:defRPr sz="1400" b="0">
                <a:solidFill>
                  <a:srgbClr val="FFFFFF"/>
                </a:solidFill>
                <a:latin typeface="Consolas"/>
              </a:defRPr>
            </a:pPr>
            <a:r>
              <a:t>      instanceType: Standard_NC24ads_A100_v4</a:t>
            </a:r>
          </a:p>
          <a:p>
            <a:pPr algn="l">
              <a:lnSpc>
                <a:spcPts val="1630"/>
              </a:lnSpc>
              <a:spcBef>
                <a:spcPts val="0"/>
              </a:spcBef>
              <a:spcAft>
                <a:spcPts val="0"/>
              </a:spcAft>
              <a:defRPr sz="1400" b="0">
                <a:solidFill>
                  <a:srgbClr val="FFFFFF"/>
                </a:solidFill>
                <a:latin typeface="Consolas"/>
              </a:defRPr>
            </a:pPr>
            <a:r>
              <a:t>    - type: decode</a:t>
            </a:r>
          </a:p>
          <a:p>
            <a:pPr algn="l">
              <a:lnSpc>
                <a:spcPts val="1630"/>
              </a:lnSpc>
              <a:spcBef>
                <a:spcPts val="0"/>
              </a:spcBef>
              <a:spcAft>
                <a:spcPts val="0"/>
              </a:spcAft>
              <a:defRPr sz="1400" b="0">
                <a:solidFill>
                  <a:srgbClr val="FFFFFF"/>
                </a:solidFill>
                <a:latin typeface="Consolas"/>
              </a:defRPr>
            </a:pPr>
            <a:r>
              <a:t>      replicas: 2</a:t>
            </a:r>
          </a:p>
          <a:p>
            <a:pPr algn="l">
              <a:lnSpc>
                <a:spcPts val="1630"/>
              </a:lnSpc>
              <a:spcBef>
                <a:spcPts val="0"/>
              </a:spcBef>
              <a:spcAft>
                <a:spcPts val="0"/>
              </a:spcAft>
              <a:defRPr sz="1400" b="0">
                <a:solidFill>
                  <a:srgbClr val="FFFFFF"/>
                </a:solidFill>
                <a:latin typeface="Consolas"/>
              </a:defRPr>
            </a:pPr>
            <a:r>
              <a:t>      instanceType: Standard_NC80adis_H100_v5</a:t>
            </a:r>
          </a:p>
        </p:txBody>
      </p:sp>
      <p:cxnSp>
        <p:nvCxnSpPr>
          <p:cNvPr id="11" name="Flow"/>
          <p:cNvCxnSpPr/>
          <p:nvPr/>
        </p:nvCxnSpPr>
        <p:spPr>
          <a:xfrm>
            <a:off x="6291072" y="3721608"/>
            <a:ext cx="493776"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6217920" y="3328416"/>
            <a:ext cx="667512" cy="274320"/>
          </a:xfrm>
          <a:prstGeom prst="rect">
            <a:avLst/>
          </a:prstGeom>
          <a:noFill/>
        </p:spPr>
        <p:txBody>
          <a:bodyPr wrap="square" lIns="0" rIns="0" tIns="0" bIns="0" anchor="t">
            <a:noAutofit/>
          </a:bodyPr>
          <a:lstStyle/>
          <a:p>
            <a:pPr algn="ctr">
              <a:spcBef>
                <a:spcPts val="0"/>
              </a:spcBef>
              <a:spcAft>
                <a:spcPts val="200"/>
              </a:spcAft>
              <a:defRPr sz="900" b="0">
                <a:solidFill>
                  <a:srgbClr val="7150C8"/>
                </a:solidFill>
                <a:latin typeface="Arial"/>
              </a:defRPr>
            </a:pPr>
            <a:r>
              <a:t>reconcile</a:t>
            </a:r>
          </a:p>
        </p:txBody>
      </p:sp>
      <p:sp>
        <p:nvSpPr>
          <p:cNvPr id="13" name="qwen-3-8-27b"/>
          <p:cNvSpPr/>
          <p:nvPr/>
        </p:nvSpPr>
        <p:spPr>
          <a:xfrm>
            <a:off x="6949440" y="1847088"/>
            <a:ext cx="4690872" cy="78638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100" b="1">
                <a:solidFill>
                  <a:srgbClr val="2463D4"/>
                </a:solidFill>
                <a:latin typeface="Arial"/>
              </a:defRPr>
            </a:pPr>
            <a:r>
              <a:t>qwen-3-8-27b</a:t>
            </a:r>
          </a:p>
          <a:p>
            <a:pPr algn="ctr">
              <a:spcBef>
                <a:spcPts val="300"/>
              </a:spcBef>
              <a:spcAft>
                <a:spcPts val="0"/>
              </a:spcAft>
              <a:defRPr sz="1200" b="0">
                <a:solidFill>
                  <a:srgbClr val="5B6E80"/>
                </a:solidFill>
                <a:latin typeface="Arial"/>
              </a:defRPr>
            </a:pPr>
            <a:r>
              <a:t>Qwen/Qwen3.8-27B</a:t>
            </a:r>
          </a:p>
        </p:txBody>
      </p:sp>
      <p:sp>
        <p:nvSpPr>
          <p:cNvPr id="14" name="ONE LOGICAL SERVICE / INFERENCEPOOL"/>
          <p:cNvSpPr txBox="1"/>
          <p:nvPr/>
        </p:nvSpPr>
        <p:spPr>
          <a:xfrm>
            <a:off x="6976872" y="2743200"/>
            <a:ext cx="4636008" cy="219456"/>
          </a:xfrm>
          <a:prstGeom prst="rect">
            <a:avLst/>
          </a:prstGeom>
          <a:noFill/>
        </p:spPr>
        <p:txBody>
          <a:bodyPr wrap="square" lIns="0" rIns="0" tIns="0" bIns="0" anchor="t">
            <a:noAutofit/>
          </a:bodyPr>
          <a:lstStyle/>
          <a:p>
            <a:pPr algn="ctr">
              <a:spcBef>
                <a:spcPts val="0"/>
              </a:spcBef>
              <a:spcAft>
                <a:spcPts val="200"/>
              </a:spcAft>
              <a:defRPr sz="1100" b="1">
                <a:solidFill>
                  <a:srgbClr val="5B6E80"/>
                </a:solidFill>
                <a:latin typeface="Arial"/>
              </a:defRPr>
            </a:pPr>
            <a:r>
              <a:t>ONE LOGICAL SERVICE / INFERENCEPOOL</a:t>
            </a:r>
          </a:p>
        </p:txBody>
      </p:sp>
      <p:sp>
        <p:nvSpPr>
          <p:cNvPr id="15" name="Panel 14"/>
          <p:cNvSpPr/>
          <p:nvPr/>
        </p:nvSpPr>
        <p:spPr>
          <a:xfrm>
            <a:off x="6949440" y="3172968"/>
            <a:ext cx="2221992" cy="2441448"/>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 15"/>
          <p:cNvSpPr/>
          <p:nvPr/>
        </p:nvSpPr>
        <p:spPr>
          <a:xfrm>
            <a:off x="9409176" y="3172968"/>
            <a:ext cx="2231136" cy="244144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refill role"/>
          <p:cNvSpPr txBox="1"/>
          <p:nvPr/>
        </p:nvSpPr>
        <p:spPr>
          <a:xfrm>
            <a:off x="7132320" y="3337560"/>
            <a:ext cx="1856231" cy="320040"/>
          </a:xfrm>
          <a:prstGeom prst="rect">
            <a:avLst/>
          </a:prstGeom>
          <a:noFill/>
        </p:spPr>
        <p:txBody>
          <a:bodyPr wrap="square" lIns="0" rIns="0" tIns="0" bIns="0" anchor="t">
            <a:noAutofit/>
          </a:bodyPr>
          <a:lstStyle/>
          <a:p>
            <a:pPr algn="l">
              <a:spcBef>
                <a:spcPts val="0"/>
              </a:spcBef>
              <a:spcAft>
                <a:spcPts val="400"/>
              </a:spcAft>
              <a:defRPr sz="2000" b="1">
                <a:solidFill>
                  <a:srgbClr val="A85C05"/>
                </a:solidFill>
                <a:latin typeface="Arial"/>
              </a:defRPr>
            </a:pPr>
            <a:r>
              <a:t>Prefill role</a:t>
            </a:r>
          </a:p>
        </p:txBody>
      </p:sp>
      <p:sp>
        <p:nvSpPr>
          <p:cNvPr id="18" name="Decode role"/>
          <p:cNvSpPr txBox="1"/>
          <p:nvPr/>
        </p:nvSpPr>
        <p:spPr>
          <a:xfrm>
            <a:off x="9592056" y="3337560"/>
            <a:ext cx="1865376" cy="320040"/>
          </a:xfrm>
          <a:prstGeom prst="rect">
            <a:avLst/>
          </a:prstGeom>
          <a:noFill/>
        </p:spPr>
        <p:txBody>
          <a:bodyPr wrap="square" lIns="0" rIns="0" tIns="0" bIns="0" anchor="t">
            <a:noAutofit/>
          </a:bodyPr>
          <a:lstStyle/>
          <a:p>
            <a:pPr algn="l">
              <a:spcBef>
                <a:spcPts val="0"/>
              </a:spcBef>
              <a:spcAft>
                <a:spcPts val="400"/>
              </a:spcAft>
              <a:defRPr sz="2000" b="1">
                <a:solidFill>
                  <a:srgbClr val="087F82"/>
                </a:solidFill>
                <a:latin typeface="Arial"/>
              </a:defRPr>
            </a:pPr>
            <a:r>
              <a:t>Decode role</a:t>
            </a:r>
          </a:p>
        </p:txBody>
      </p:sp>
      <p:sp>
        <p:nvSpPr>
          <p:cNvPr id="19" name="replicas: 1"/>
          <p:cNvSpPr txBox="1"/>
          <p:nvPr/>
        </p:nvSpPr>
        <p:spPr>
          <a:xfrm>
            <a:off x="7132320" y="3730752"/>
            <a:ext cx="1856231" cy="219456"/>
          </a:xfrm>
          <a:prstGeom prst="rect">
            <a:avLst/>
          </a:prstGeom>
          <a:noFill/>
        </p:spPr>
        <p:txBody>
          <a:bodyPr wrap="square" lIns="0" rIns="0" tIns="0" bIns="0" anchor="t">
            <a:noAutofit/>
          </a:bodyPr>
          <a:lstStyle/>
          <a:p>
            <a:pPr algn="l">
              <a:spcBef>
                <a:spcPts val="0"/>
              </a:spcBef>
              <a:spcAft>
                <a:spcPts val="200"/>
              </a:spcAft>
              <a:defRPr sz="1300" b="0">
                <a:solidFill>
                  <a:srgbClr val="A85C05"/>
                </a:solidFill>
                <a:latin typeface="Arial"/>
              </a:defRPr>
            </a:pPr>
            <a:r>
              <a:t>replicas: 1</a:t>
            </a:r>
          </a:p>
        </p:txBody>
      </p:sp>
      <p:sp>
        <p:nvSpPr>
          <p:cNvPr id="20" name="replicas: 2"/>
          <p:cNvSpPr txBox="1"/>
          <p:nvPr/>
        </p:nvSpPr>
        <p:spPr>
          <a:xfrm>
            <a:off x="9592056" y="3730752"/>
            <a:ext cx="1865376" cy="219456"/>
          </a:xfrm>
          <a:prstGeom prst="rect">
            <a:avLst/>
          </a:prstGeom>
          <a:noFill/>
        </p:spPr>
        <p:txBody>
          <a:bodyPr wrap="square" lIns="0" rIns="0" tIns="0" bIns="0" anchor="t">
            <a:noAutofit/>
          </a:bodyPr>
          <a:lstStyle/>
          <a:p>
            <a:pPr algn="l">
              <a:spcBef>
                <a:spcPts val="0"/>
              </a:spcBef>
              <a:spcAft>
                <a:spcPts val="200"/>
              </a:spcAft>
              <a:defRPr sz="1300" b="0">
                <a:solidFill>
                  <a:srgbClr val="087F82"/>
                </a:solidFill>
                <a:latin typeface="Arial"/>
              </a:defRPr>
            </a:pPr>
            <a:r>
              <a:t>replicas: 2</a:t>
            </a:r>
          </a:p>
        </p:txBody>
      </p:sp>
      <p:sp>
        <p:nvSpPr>
          <p:cNvPr id="21" name="A100 / replica 1"/>
          <p:cNvSpPr/>
          <p:nvPr/>
        </p:nvSpPr>
        <p:spPr>
          <a:xfrm>
            <a:off x="7141464" y="4096512"/>
            <a:ext cx="1837943"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A85C05"/>
                </a:solidFill>
                <a:latin typeface="Arial"/>
              </a:defRPr>
            </a:pPr>
            <a:r>
              <a:t>A100 / replica 1</a:t>
            </a:r>
          </a:p>
        </p:txBody>
      </p:sp>
      <p:sp>
        <p:nvSpPr>
          <p:cNvPr id="22" name="H100 / replica 1"/>
          <p:cNvSpPr/>
          <p:nvPr/>
        </p:nvSpPr>
        <p:spPr>
          <a:xfrm>
            <a:off x="9601200" y="4096512"/>
            <a:ext cx="1847088"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087F82"/>
                </a:solidFill>
                <a:latin typeface="Arial"/>
              </a:defRPr>
            </a:pPr>
            <a:r>
              <a:t>H100 / replica 1</a:t>
            </a:r>
          </a:p>
        </p:txBody>
      </p:sp>
      <p:sp>
        <p:nvSpPr>
          <p:cNvPr id="23" name="H100 / replica 2"/>
          <p:cNvSpPr/>
          <p:nvPr/>
        </p:nvSpPr>
        <p:spPr>
          <a:xfrm>
            <a:off x="9601200" y="4745736"/>
            <a:ext cx="1847088"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087F82"/>
                </a:solidFill>
                <a:latin typeface="Arial"/>
              </a:defRPr>
            </a:pPr>
            <a:r>
              <a:t>H100 / replica 2</a:t>
            </a:r>
          </a:p>
        </p:txBody>
      </p:sp>
      <p:sp>
        <p:nvSpPr>
          <p:cNvPr id="24" name="Standard_NC24ads_A100_v4"/>
          <p:cNvSpPr txBox="1"/>
          <p:nvPr/>
        </p:nvSpPr>
        <p:spPr>
          <a:xfrm>
            <a:off x="7068312" y="5367528"/>
            <a:ext cx="1984248" cy="164592"/>
          </a:xfrm>
          <a:prstGeom prst="rect">
            <a:avLst/>
          </a:prstGeom>
          <a:noFill/>
        </p:spPr>
        <p:txBody>
          <a:bodyPr wrap="square" lIns="0" rIns="0" tIns="0" bIns="0" anchor="t">
            <a:noAutofit/>
          </a:bodyPr>
          <a:lstStyle/>
          <a:p>
            <a:pPr algn="ctr">
              <a:spcBef>
                <a:spcPts val="0"/>
              </a:spcBef>
              <a:spcAft>
                <a:spcPts val="200"/>
              </a:spcAft>
              <a:defRPr sz="900" b="0">
                <a:solidFill>
                  <a:srgbClr val="A85C05"/>
                </a:solidFill>
                <a:latin typeface="Arial"/>
              </a:defRPr>
            </a:pPr>
            <a:r>
              <a:t>Standard_NC24ads_A100_v4</a:t>
            </a:r>
          </a:p>
        </p:txBody>
      </p:sp>
      <p:sp>
        <p:nvSpPr>
          <p:cNvPr id="25" name="Standard_NC80adis_H100_v5"/>
          <p:cNvSpPr txBox="1"/>
          <p:nvPr/>
        </p:nvSpPr>
        <p:spPr>
          <a:xfrm>
            <a:off x="9528048" y="5367528"/>
            <a:ext cx="1993392" cy="164592"/>
          </a:xfrm>
          <a:prstGeom prst="rect">
            <a:avLst/>
          </a:prstGeom>
          <a:noFill/>
        </p:spPr>
        <p:txBody>
          <a:bodyPr wrap="square" lIns="0" rIns="0" tIns="0" bIns="0" anchor="t">
            <a:noAutofit/>
          </a:bodyPr>
          <a:lstStyle/>
          <a:p>
            <a:pPr algn="ctr">
              <a:spcBef>
                <a:spcPts val="0"/>
              </a:spcBef>
              <a:spcAft>
                <a:spcPts val="200"/>
              </a:spcAft>
              <a:defRPr sz="900" b="0">
                <a:solidFill>
                  <a:srgbClr val="087F82"/>
                </a:solidFill>
                <a:latin typeface="Arial"/>
              </a:defRPr>
            </a:pPr>
            <a:r>
              <a:t>Standard_NC80adis_H100_v5</a:t>
            </a:r>
          </a:p>
        </p:txBody>
      </p:sp>
      <p:cxnSp>
        <p:nvCxnSpPr>
          <p:cNvPr id="26" name="Flow"/>
          <p:cNvCxnSpPr/>
          <p:nvPr/>
        </p:nvCxnSpPr>
        <p:spPr>
          <a:xfrm>
            <a:off x="8065008" y="2999232"/>
            <a:ext cx="0" cy="13716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10524744" y="2999232"/>
            <a:ext cx="0" cy="13716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anel 28"/>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ame model, independent role placement — A100 for prefill; H100 for decode."/>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Same model, independent role placement — A100 for prefill; H100 for decode.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ONCILIATION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RECONCILIATION  /  KAITO + llm-d</a:t>
            </a:r>
          </a:p>
        </p:txBody>
      </p:sp>
      <p:sp>
        <p:nvSpPr>
          <p:cNvPr id="4" name="KAITO generates resources — and keeps them aligned"/>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KAITO generates resources — and keeps them aligned</a:t>
            </a:r>
          </a:p>
        </p:txBody>
      </p:sp>
      <p:sp>
        <p:nvSpPr>
          <p:cNvPr id="5" name="A declarative topology becomes owned resources, runtime wiring and a shared rout"/>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A declarative topology becomes owned resources, runtime wiring and a shared routing contract.</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6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06 / 12</a:t>
            </a:r>
          </a:p>
        </p:txBody>
      </p:sp>
      <p:sp>
        <p:nvSpPr>
          <p:cNvPr id="8" name="MultiRoleInference"/>
          <p:cNvSpPr/>
          <p:nvPr/>
        </p:nvSpPr>
        <p:spPr>
          <a:xfrm>
            <a:off x="4233672" y="1810512"/>
            <a:ext cx="3721608" cy="658368"/>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200" b="1">
                <a:solidFill>
                  <a:srgbClr val="7150C8"/>
                </a:solidFill>
                <a:latin typeface="Arial"/>
              </a:defRPr>
            </a:pPr>
            <a:r>
              <a:t>MultiRoleInference</a:t>
            </a:r>
          </a:p>
        </p:txBody>
      </p:sp>
      <p:sp>
        <p:nvSpPr>
          <p:cNvPr id="9" name="KAITO RECONCILES + OWNS"/>
          <p:cNvSpPr txBox="1"/>
          <p:nvPr/>
        </p:nvSpPr>
        <p:spPr>
          <a:xfrm>
            <a:off x="4572000" y="2596896"/>
            <a:ext cx="3035808" cy="219456"/>
          </a:xfrm>
          <a:prstGeom prst="rect">
            <a:avLst/>
          </a:prstGeom>
          <a:noFill/>
        </p:spPr>
        <p:txBody>
          <a:bodyPr wrap="square" lIns="0" rIns="0" tIns="0" bIns="0" anchor="t">
            <a:noAutofit/>
          </a:bodyPr>
          <a:lstStyle/>
          <a:p>
            <a:pPr algn="ctr">
              <a:spcBef>
                <a:spcPts val="0"/>
              </a:spcBef>
              <a:spcAft>
                <a:spcPts val="200"/>
              </a:spcAft>
              <a:defRPr sz="1100" b="1">
                <a:solidFill>
                  <a:srgbClr val="7150C8"/>
                </a:solidFill>
                <a:latin typeface="Arial"/>
              </a:defRPr>
            </a:pPr>
            <a:r>
              <a:t>KAITO RECONCILES + OWNS</a:t>
            </a:r>
          </a:p>
        </p:txBody>
      </p:sp>
      <p:cxnSp>
        <p:nvCxnSpPr>
          <p:cNvPr id="10" name="KAITO owns Prefill InferenceSet"/>
          <p:cNvCxnSpPr/>
          <p:nvPr/>
        </p:nvCxnSpPr>
        <p:spPr>
          <a:xfrm flipH="1">
            <a:off x="2249424" y="2862072"/>
            <a:ext cx="3845052"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2249424" y="2862072"/>
            <a:ext cx="0" cy="32004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576072" y="3200400"/>
            <a:ext cx="3355848" cy="85039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900" b="1">
                <a:solidFill>
                  <a:srgbClr val="A85C05"/>
                </a:solidFill>
                <a:latin typeface="Arial"/>
              </a:defRPr>
            </a:pPr>
            <a:r>
              <a:t>Prefill InferenceSet</a:t>
            </a:r>
          </a:p>
          <a:p>
            <a:pPr algn="ctr">
              <a:spcBef>
                <a:spcPts val="300"/>
              </a:spcBef>
              <a:spcAft>
                <a:spcPts val="0"/>
              </a:spcAft>
              <a:defRPr sz="1200" b="0">
                <a:solidFill>
                  <a:srgbClr val="5B6E80"/>
                </a:solidFill>
                <a:latin typeface="Arial"/>
              </a:defRPr>
            </a:pPr>
            <a:r>
              <a:t>Role-specific workers</a:t>
            </a:r>
          </a:p>
        </p:txBody>
      </p:sp>
      <p:cxnSp>
        <p:nvCxnSpPr>
          <p:cNvPr id="13" name="KAITO owns Decode InferenceSet"/>
          <p:cNvCxnSpPr/>
          <p:nvPr/>
        </p:nvCxnSpPr>
        <p:spPr>
          <a:xfrm flipH="1">
            <a:off x="6089904" y="2862072"/>
            <a:ext cx="4572"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6089904" y="2862072"/>
            <a:ext cx="0" cy="32004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4416552" y="3200400"/>
            <a:ext cx="3355848" cy="85039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900" b="1">
                <a:solidFill>
                  <a:srgbClr val="087F82"/>
                </a:solidFill>
                <a:latin typeface="Arial"/>
              </a:defRPr>
            </a:pPr>
            <a:r>
              <a:t>Decode InferenceSet</a:t>
            </a:r>
          </a:p>
          <a:p>
            <a:pPr algn="ctr">
              <a:spcBef>
                <a:spcPts val="300"/>
              </a:spcBef>
              <a:spcAft>
                <a:spcPts val="0"/>
              </a:spcAft>
              <a:defRPr sz="1200" b="0">
                <a:solidFill>
                  <a:srgbClr val="5B6E80"/>
                </a:solidFill>
                <a:latin typeface="Arial"/>
              </a:defRPr>
            </a:pPr>
            <a:r>
              <a:t>Role-specific workers</a:t>
            </a:r>
          </a:p>
        </p:txBody>
      </p:sp>
      <p:cxnSp>
        <p:nvCxnSpPr>
          <p:cNvPr id="16" name="KAITO owns Routing resources"/>
          <p:cNvCxnSpPr/>
          <p:nvPr/>
        </p:nvCxnSpPr>
        <p:spPr>
          <a:xfrm>
            <a:off x="6094476" y="2862072"/>
            <a:ext cx="3835908"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9930384" y="2862072"/>
            <a:ext cx="0" cy="32004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8257031" y="3200400"/>
            <a:ext cx="3355848" cy="85039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900" b="1">
                <a:solidFill>
                  <a:srgbClr val="2463D4"/>
                </a:solidFill>
                <a:latin typeface="Arial"/>
              </a:defRPr>
            </a:pPr>
            <a:r>
              <a:t>Routing resources</a:t>
            </a:r>
          </a:p>
          <a:p>
            <a:pPr algn="ctr">
              <a:spcBef>
                <a:spcPts val="300"/>
              </a:spcBef>
              <a:spcAft>
                <a:spcPts val="0"/>
              </a:spcAft>
              <a:defRPr sz="1200" b="0">
                <a:solidFill>
                  <a:srgbClr val="5B6E80"/>
                </a:solidFill>
                <a:latin typeface="Arial"/>
              </a:defRPr>
            </a:pPr>
            <a:r>
              <a:t>InferencePool + llm-d EPP</a:t>
            </a:r>
          </a:p>
        </p:txBody>
      </p:sp>
      <p:sp>
        <p:nvSpPr>
          <p:cNvPr id="19" name="Role labels / NIXL host / Pod IP"/>
          <p:cNvSpPr txBox="1"/>
          <p:nvPr/>
        </p:nvSpPr>
        <p:spPr>
          <a:xfrm>
            <a:off x="804672" y="4306824"/>
            <a:ext cx="2880360" cy="731520"/>
          </a:xfrm>
          <a:prstGeom prst="rect">
            <a:avLst/>
          </a:prstGeom>
          <a:noFill/>
        </p:spPr>
        <p:txBody>
          <a:bodyPr wrap="square" lIns="0" rIns="0" tIns="0" bIns="0" anchor="t">
            <a:noAutofit/>
          </a:bodyPr>
          <a:lstStyle/>
          <a:p>
            <a:pPr algn="l">
              <a:spcBef>
                <a:spcPts val="0"/>
              </a:spcBef>
              <a:spcAft>
                <a:spcPts val="200"/>
              </a:spcAft>
              <a:defRPr sz="1700" b="0">
                <a:solidFill>
                  <a:srgbClr val="5B6E80"/>
                </a:solidFill>
                <a:latin typeface="Arial"/>
              </a:defRPr>
            </a:pPr>
            <a:r>
              <a:t>Role labels</a:t>
            </a:r>
          </a:p>
          <a:p>
            <a:pPr algn="l">
              <a:spcBef>
                <a:spcPts val="0"/>
              </a:spcBef>
              <a:spcAft>
                <a:spcPts val="200"/>
              </a:spcAft>
              <a:defRPr sz="1700" b="0">
                <a:solidFill>
                  <a:srgbClr val="5B6E80"/>
                </a:solidFill>
                <a:latin typeface="Arial"/>
              </a:defRPr>
            </a:pPr>
            <a:r>
              <a:t>NIXL host / Pod IP</a:t>
            </a:r>
          </a:p>
        </p:txBody>
      </p:sp>
      <p:sp>
        <p:nvSpPr>
          <p:cNvPr id="20" name="Routing sidecar injection / NIXL + local vLLM ports"/>
          <p:cNvSpPr txBox="1"/>
          <p:nvPr/>
        </p:nvSpPr>
        <p:spPr>
          <a:xfrm>
            <a:off x="4645152" y="4306824"/>
            <a:ext cx="2880360" cy="731520"/>
          </a:xfrm>
          <a:prstGeom prst="rect">
            <a:avLst/>
          </a:prstGeom>
          <a:noFill/>
        </p:spPr>
        <p:txBody>
          <a:bodyPr wrap="square" lIns="0" rIns="0" tIns="0" bIns="0" anchor="t">
            <a:noAutofit/>
          </a:bodyPr>
          <a:lstStyle/>
          <a:p>
            <a:pPr algn="l">
              <a:spcBef>
                <a:spcPts val="0"/>
              </a:spcBef>
              <a:spcAft>
                <a:spcPts val="200"/>
              </a:spcAft>
              <a:defRPr sz="1700" b="0">
                <a:solidFill>
                  <a:srgbClr val="5B6E80"/>
                </a:solidFill>
                <a:latin typeface="Arial"/>
              </a:defRPr>
            </a:pPr>
            <a:r>
              <a:t>Routing sidecar injection</a:t>
            </a:r>
          </a:p>
          <a:p>
            <a:pPr algn="l">
              <a:spcBef>
                <a:spcPts val="0"/>
              </a:spcBef>
              <a:spcAft>
                <a:spcPts val="200"/>
              </a:spcAft>
              <a:defRPr sz="1700" b="0">
                <a:solidFill>
                  <a:srgbClr val="5B6E80"/>
                </a:solidFill>
                <a:latin typeface="Arial"/>
              </a:defRPr>
            </a:pPr>
            <a:r>
              <a:t>NIXL + local vLLM ports</a:t>
            </a:r>
          </a:p>
        </p:txBody>
      </p:sp>
      <p:sp>
        <p:nvSpPr>
          <p:cNvPr id="21" name="Services + targetPorts / Endpoint selection config"/>
          <p:cNvSpPr txBox="1"/>
          <p:nvPr/>
        </p:nvSpPr>
        <p:spPr>
          <a:xfrm>
            <a:off x="8485632" y="4306824"/>
            <a:ext cx="2880360" cy="731520"/>
          </a:xfrm>
          <a:prstGeom prst="rect">
            <a:avLst/>
          </a:prstGeom>
          <a:noFill/>
        </p:spPr>
        <p:txBody>
          <a:bodyPr wrap="square" lIns="0" rIns="0" tIns="0" bIns="0" anchor="t">
            <a:noAutofit/>
          </a:bodyPr>
          <a:lstStyle/>
          <a:p>
            <a:pPr algn="l">
              <a:spcBef>
                <a:spcPts val="0"/>
              </a:spcBef>
              <a:spcAft>
                <a:spcPts val="200"/>
              </a:spcAft>
              <a:defRPr sz="1700" b="0">
                <a:solidFill>
                  <a:srgbClr val="5B6E80"/>
                </a:solidFill>
                <a:latin typeface="Arial"/>
              </a:defRPr>
            </a:pPr>
            <a:r>
              <a:t>Services + targetPorts</a:t>
            </a:r>
          </a:p>
          <a:p>
            <a:pPr algn="l">
              <a:spcBef>
                <a:spcPts val="0"/>
              </a:spcBef>
              <a:spcAft>
                <a:spcPts val="200"/>
              </a:spcAft>
              <a:defRPr sz="1700" b="0">
                <a:solidFill>
                  <a:srgbClr val="5B6E80"/>
                </a:solidFill>
                <a:latin typeface="Arial"/>
              </a:defRPr>
            </a:pPr>
            <a:r>
              <a:t>Endpoint selection config</a:t>
            </a:r>
          </a:p>
        </p:txBody>
      </p:sp>
      <p:sp>
        <p:nvSpPr>
          <p:cNvPr id="22" name="Panel 21"/>
          <p:cNvSpPr/>
          <p:nvPr/>
        </p:nvSpPr>
        <p:spPr>
          <a:xfrm>
            <a:off x="594360" y="5248656"/>
            <a:ext cx="11000232" cy="384048"/>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d invariants: ownership references • role consistency • labels • ports • li"/>
          <p:cNvSpPr txBox="1"/>
          <p:nvPr/>
        </p:nvSpPr>
        <p:spPr>
          <a:xfrm>
            <a:off x="777240" y="5330952"/>
            <a:ext cx="10607040" cy="201168"/>
          </a:xfrm>
          <a:prstGeom prst="rect">
            <a:avLst/>
          </a:prstGeom>
          <a:noFill/>
        </p:spPr>
        <p:txBody>
          <a:bodyPr wrap="square" lIns="0" rIns="0" tIns="0" bIns="0" anchor="t">
            <a:noAutofit/>
          </a:bodyPr>
          <a:lstStyle/>
          <a:p>
            <a:pPr algn="ctr">
              <a:spcBef>
                <a:spcPts val="0"/>
              </a:spcBef>
              <a:spcAft>
                <a:spcPts val="200"/>
              </a:spcAft>
              <a:defRPr sz="1300" b="0">
                <a:solidFill>
                  <a:srgbClr val="5B6E80"/>
                </a:solidFill>
                <a:latin typeface="Arial"/>
              </a:defRPr>
            </a:pPr>
            <a:r>
              <a:t>Shared invariants: ownership references • role consistency • labels • ports • lifecycle</a:t>
            </a:r>
          </a:p>
        </p:txBody>
      </p:sp>
      <p:sp>
        <p:nvSpPr>
          <p:cNvPr id="24" name="Panel 23"/>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anel 24"/>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ot just generated YAML: controller-owned relationships and consistent runtime c"/>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Not just generated YAML: controller-owned relationships and consistent runtime contracts.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QUEST LIFECYCLE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REQUEST LIFECYCLE  /  KAITO + llm-d</a:t>
            </a:r>
          </a:p>
        </p:txBody>
      </p:sp>
      <p:sp>
        <p:nvSpPr>
          <p:cNvPr id="4" name="The decode sidecar coordinates the P/D request"/>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The decode sidecar coordinates the P/D request</a:t>
            </a:r>
          </a:p>
        </p:txBody>
      </p:sp>
      <p:sp>
        <p:nvSpPr>
          <p:cNvPr id="5" name="Remote prefill when needed; local decode on the selected worker."/>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Remote prefill when needed; local decode on the selected worker.</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7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07 / 12</a:t>
            </a:r>
          </a:p>
        </p:txBody>
      </p:sp>
      <p:sp>
        <p:nvSpPr>
          <p:cNvPr id="8" name="Client"/>
          <p:cNvSpPr/>
          <p:nvPr/>
        </p:nvSpPr>
        <p:spPr>
          <a:xfrm>
            <a:off x="192023" y="1856231"/>
            <a:ext cx="1810512" cy="49377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2463D4"/>
                </a:solidFill>
                <a:latin typeface="Arial"/>
              </a:defRPr>
            </a:pPr>
            <a:r>
              <a:t>Client</a:t>
            </a:r>
          </a:p>
        </p:txBody>
      </p:sp>
      <p:cxnSp>
        <p:nvCxnSpPr>
          <p:cNvPr id="9" name="Client lifeline"/>
          <p:cNvCxnSpPr/>
          <p:nvPr/>
        </p:nvCxnSpPr>
        <p:spPr>
          <a:xfrm>
            <a:off x="1097280"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2414015" y="1856231"/>
            <a:ext cx="1810512" cy="49377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2463D4"/>
                </a:solidFill>
                <a:latin typeface="Arial"/>
              </a:defRPr>
            </a:pPr>
            <a:r>
              <a:t>Gateway</a:t>
            </a:r>
          </a:p>
        </p:txBody>
      </p:sp>
      <p:cxnSp>
        <p:nvCxnSpPr>
          <p:cNvPr id="11" name="Gateway lifeline"/>
          <p:cNvCxnSpPr/>
          <p:nvPr/>
        </p:nvCxnSpPr>
        <p:spPr>
          <a:xfrm>
            <a:off x="3319272"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4626864" y="1856231"/>
            <a:ext cx="1810512" cy="49377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2463D4"/>
                </a:solidFill>
                <a:latin typeface="Arial"/>
              </a:defRPr>
            </a:pPr>
            <a:r>
              <a:t>Decode sidecar</a:t>
            </a:r>
          </a:p>
        </p:txBody>
      </p:sp>
      <p:cxnSp>
        <p:nvCxnSpPr>
          <p:cNvPr id="13" name="Decode sidecar lifeline"/>
          <p:cNvCxnSpPr/>
          <p:nvPr/>
        </p:nvCxnSpPr>
        <p:spPr>
          <a:xfrm>
            <a:off x="5532120"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6867144" y="1856231"/>
            <a:ext cx="1810512" cy="49377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A85C05"/>
                </a:solidFill>
                <a:latin typeface="Arial"/>
              </a:defRPr>
            </a:pPr>
            <a:r>
              <a:t>Prefill vLLM</a:t>
            </a:r>
          </a:p>
        </p:txBody>
      </p:sp>
      <p:cxnSp>
        <p:nvCxnSpPr>
          <p:cNvPr id="15" name="Prefill vLLM lifeline"/>
          <p:cNvCxnSpPr/>
          <p:nvPr/>
        </p:nvCxnSpPr>
        <p:spPr>
          <a:xfrm>
            <a:off x="7772400"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9336024" y="1856231"/>
            <a:ext cx="1810512" cy="49377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087F82"/>
                </a:solidFill>
                <a:latin typeface="Arial"/>
              </a:defRPr>
            </a:pPr>
            <a:r>
              <a:t>Decode vLLM</a:t>
            </a:r>
          </a:p>
        </p:txBody>
      </p:sp>
      <p:cxnSp>
        <p:nvCxnSpPr>
          <p:cNvPr id="17" name="Decode vLLM lifeline"/>
          <p:cNvCxnSpPr/>
          <p:nvPr/>
        </p:nvCxnSpPr>
        <p:spPr>
          <a:xfrm>
            <a:off x="10241280"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1097280" y="2688336"/>
            <a:ext cx="2221992"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1152144" y="2487168"/>
            <a:ext cx="2112263" cy="182880"/>
          </a:xfrm>
          <a:prstGeom prst="rect">
            <a:avLst/>
          </a:prstGeom>
          <a:noFill/>
        </p:spPr>
        <p:txBody>
          <a:bodyPr wrap="square" lIns="0" rIns="0" tIns="0" bIns="0" anchor="t">
            <a:noAutofit/>
          </a:bodyPr>
          <a:lstStyle/>
          <a:p>
            <a:pPr algn="ctr">
              <a:spcBef>
                <a:spcPts val="0"/>
              </a:spcBef>
              <a:spcAft>
                <a:spcPts val="200"/>
              </a:spcAft>
              <a:defRPr sz="1100" b="0">
                <a:solidFill>
                  <a:srgbClr val="2463D4"/>
                </a:solidFill>
                <a:latin typeface="Arial"/>
              </a:defRPr>
            </a:pPr>
            <a:r>
              <a:t>1  Inference request</a:t>
            </a:r>
          </a:p>
        </p:txBody>
      </p:sp>
      <p:cxnSp>
        <p:nvCxnSpPr>
          <p:cNvPr id="20" name="2  Selected decode + prefill header"/>
          <p:cNvCxnSpPr/>
          <p:nvPr/>
        </p:nvCxnSpPr>
        <p:spPr>
          <a:xfrm>
            <a:off x="3319272" y="3054096"/>
            <a:ext cx="2212848"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3374136" y="2734056"/>
            <a:ext cx="2103120" cy="310896"/>
          </a:xfrm>
          <a:prstGeom prst="rect">
            <a:avLst/>
          </a:prstGeom>
          <a:noFill/>
        </p:spPr>
        <p:txBody>
          <a:bodyPr wrap="square" lIns="0" rIns="0" tIns="0" bIns="0" anchor="t">
            <a:noAutofit/>
          </a:bodyPr>
          <a:lstStyle/>
          <a:p>
            <a:pPr algn="ctr">
              <a:spcBef>
                <a:spcPts val="0"/>
              </a:spcBef>
              <a:spcAft>
                <a:spcPts val="200"/>
              </a:spcAft>
              <a:defRPr sz="1050" b="0">
                <a:solidFill>
                  <a:srgbClr val="2463D4"/>
                </a:solidFill>
                <a:latin typeface="Arial"/>
              </a:defRPr>
            </a:pPr>
            <a:r>
              <a:t>2  Route to decode sidecar</a:t>
            </a:r>
          </a:p>
          <a:p>
            <a:pPr algn="ctr">
              <a:spcBef>
                <a:spcPts val="0"/>
              </a:spcBef>
              <a:spcAft>
                <a:spcPts val="200"/>
              </a:spcAft>
              <a:defRPr sz="1050" b="0">
                <a:solidFill>
                  <a:srgbClr val="2463D4"/>
                </a:solidFill>
                <a:latin typeface="Arial"/>
              </a:defRPr>
            </a:pPr>
            <a:r>
              <a:t>     + selected prefill header</a:t>
            </a:r>
          </a:p>
        </p:txBody>
      </p:sp>
      <p:cxnSp>
        <p:nvCxnSpPr>
          <p:cNvPr id="22" name="3  Remote prefill · max_tokens=1"/>
          <p:cNvCxnSpPr/>
          <p:nvPr/>
        </p:nvCxnSpPr>
        <p:spPr>
          <a:xfrm>
            <a:off x="5532120" y="3419856"/>
            <a:ext cx="224028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5586983" y="3099816"/>
            <a:ext cx="2130552" cy="310896"/>
          </a:xfrm>
          <a:prstGeom prst="rect">
            <a:avLst/>
          </a:prstGeom>
          <a:noFill/>
        </p:spPr>
        <p:txBody>
          <a:bodyPr wrap="square" lIns="0" rIns="0" tIns="0" bIns="0" anchor="t">
            <a:noAutofit/>
          </a:bodyPr>
          <a:lstStyle/>
          <a:p>
            <a:pPr algn="ctr">
              <a:spcBef>
                <a:spcPts val="0"/>
              </a:spcBef>
              <a:spcAft>
                <a:spcPts val="200"/>
              </a:spcAft>
              <a:defRPr sz="1050" b="0">
                <a:solidFill>
                  <a:srgbClr val="A85C05"/>
                </a:solidFill>
                <a:latin typeface="Arial"/>
              </a:defRPr>
            </a:pPr>
            <a:r>
              <a:t>3  Remote prefill</a:t>
            </a:r>
          </a:p>
          <a:p>
            <a:pPr algn="ctr">
              <a:spcBef>
                <a:spcPts val="0"/>
              </a:spcBef>
              <a:spcAft>
                <a:spcPts val="200"/>
              </a:spcAft>
              <a:defRPr sz="1050" b="0">
                <a:solidFill>
                  <a:srgbClr val="A85C05"/>
                </a:solidFill>
                <a:latin typeface="Arial"/>
              </a:defRPr>
            </a:pPr>
            <a:r>
              <a:t>     max_tokens=1</a:t>
            </a:r>
          </a:p>
        </p:txBody>
      </p:sp>
      <p:cxnSp>
        <p:nvCxnSpPr>
          <p:cNvPr id="24" name="4  Remote KV parameters"/>
          <p:cNvCxnSpPr/>
          <p:nvPr/>
        </p:nvCxnSpPr>
        <p:spPr>
          <a:xfrm flipH="1">
            <a:off x="5532120" y="3785615"/>
            <a:ext cx="224028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5586983" y="3584447"/>
            <a:ext cx="2130552" cy="182880"/>
          </a:xfrm>
          <a:prstGeom prst="rect">
            <a:avLst/>
          </a:prstGeom>
          <a:noFill/>
        </p:spPr>
        <p:txBody>
          <a:bodyPr wrap="square" lIns="0" rIns="0" tIns="0" bIns="0" anchor="t">
            <a:noAutofit/>
          </a:bodyPr>
          <a:lstStyle/>
          <a:p>
            <a:pPr algn="ctr">
              <a:spcBef>
                <a:spcPts val="0"/>
              </a:spcBef>
              <a:spcAft>
                <a:spcPts val="200"/>
              </a:spcAft>
              <a:defRPr sz="1100" b="0">
                <a:solidFill>
                  <a:srgbClr val="A85C05"/>
                </a:solidFill>
                <a:latin typeface="Arial"/>
              </a:defRPr>
            </a:pPr>
            <a:r>
              <a:t>4  Remote KV parameters</a:t>
            </a:r>
          </a:p>
        </p:txBody>
      </p:sp>
      <p:cxnSp>
        <p:nvCxnSpPr>
          <p:cNvPr id="26" name="5  Local decode · remote_prefill=true + IDs"/>
          <p:cNvCxnSpPr/>
          <p:nvPr/>
        </p:nvCxnSpPr>
        <p:spPr>
          <a:xfrm>
            <a:off x="5532120" y="4187952"/>
            <a:ext cx="470916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5586983" y="3986784"/>
            <a:ext cx="4599431" cy="182880"/>
          </a:xfrm>
          <a:prstGeom prst="rect">
            <a:avLst/>
          </a:prstGeom>
          <a:noFill/>
        </p:spPr>
        <p:txBody>
          <a:bodyPr wrap="square" lIns="0" rIns="0" tIns="0" bIns="0" anchor="t">
            <a:noAutofit/>
          </a:bodyPr>
          <a:lstStyle/>
          <a:p>
            <a:pPr algn="ctr">
              <a:spcBef>
                <a:spcPts val="0"/>
              </a:spcBef>
              <a:spcAft>
                <a:spcPts val="200"/>
              </a:spcAft>
              <a:defRPr sz="1100" b="0">
                <a:solidFill>
                  <a:srgbClr val="2463D4"/>
                </a:solidFill>
                <a:latin typeface="Arial"/>
              </a:defRPr>
            </a:pPr>
            <a:r>
              <a:t>5  Local decode · remote_prefill=true + IDs</a:t>
            </a:r>
          </a:p>
        </p:txBody>
      </p:sp>
      <p:cxnSp>
        <p:nvCxnSpPr>
          <p:cNvPr id="28" name="6  KV data → decode (NIXL read)"/>
          <p:cNvCxnSpPr/>
          <p:nvPr/>
        </p:nvCxnSpPr>
        <p:spPr>
          <a:xfrm>
            <a:off x="7772400" y="4590288"/>
            <a:ext cx="246888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7827264" y="4270248"/>
            <a:ext cx="2359151" cy="310896"/>
          </a:xfrm>
          <a:prstGeom prst="rect">
            <a:avLst/>
          </a:prstGeom>
          <a:noFill/>
        </p:spPr>
        <p:txBody>
          <a:bodyPr wrap="square" lIns="0" rIns="0" tIns="0" bIns="0" anchor="t">
            <a:noAutofit/>
          </a:bodyPr>
          <a:lstStyle/>
          <a:p>
            <a:pPr algn="ctr">
              <a:spcBef>
                <a:spcPts val="0"/>
              </a:spcBef>
              <a:spcAft>
                <a:spcPts val="200"/>
              </a:spcAft>
              <a:defRPr sz="1050" b="0">
                <a:solidFill>
                  <a:srgbClr val="24824C"/>
                </a:solidFill>
                <a:latin typeface="Arial"/>
              </a:defRPr>
            </a:pPr>
            <a:r>
              <a:t>6  KV data → decode</a:t>
            </a:r>
          </a:p>
          <a:p>
            <a:pPr algn="ctr">
              <a:spcBef>
                <a:spcPts val="0"/>
              </a:spcBef>
              <a:spcAft>
                <a:spcPts val="200"/>
              </a:spcAft>
              <a:defRPr sz="1050" b="0">
                <a:solidFill>
                  <a:srgbClr val="24824C"/>
                </a:solidFill>
                <a:latin typeface="Arial"/>
              </a:defRPr>
            </a:pPr>
            <a:r>
              <a:t>     NIXL read by decode</a:t>
            </a:r>
          </a:p>
        </p:txBody>
      </p:sp>
      <p:cxnSp>
        <p:nvCxnSpPr>
          <p:cNvPr id="30" name="7  Inference response"/>
          <p:cNvCxnSpPr/>
          <p:nvPr/>
        </p:nvCxnSpPr>
        <p:spPr>
          <a:xfrm flipH="1">
            <a:off x="5532120" y="4992624"/>
            <a:ext cx="470916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5586983" y="4791456"/>
            <a:ext cx="4599431" cy="182880"/>
          </a:xfrm>
          <a:prstGeom prst="rect">
            <a:avLst/>
          </a:prstGeom>
          <a:noFill/>
        </p:spPr>
        <p:txBody>
          <a:bodyPr wrap="square" lIns="0" rIns="0" tIns="0" bIns="0" anchor="t">
            <a:noAutofit/>
          </a:bodyPr>
          <a:lstStyle/>
          <a:p>
            <a:pPr algn="ctr">
              <a:spcBef>
                <a:spcPts val="0"/>
              </a:spcBef>
              <a:spcAft>
                <a:spcPts val="200"/>
              </a:spcAft>
              <a:defRPr sz="1100" b="0">
                <a:solidFill>
                  <a:srgbClr val="087F82"/>
                </a:solidFill>
                <a:latin typeface="Arial"/>
              </a:defRPr>
            </a:pPr>
            <a:r>
              <a:t>7  Inference response</a:t>
            </a:r>
          </a:p>
        </p:txBody>
      </p:sp>
      <p:cxnSp>
        <p:nvCxnSpPr>
          <p:cNvPr id="32" name="8  Response"/>
          <p:cNvCxnSpPr/>
          <p:nvPr/>
        </p:nvCxnSpPr>
        <p:spPr>
          <a:xfrm flipH="1">
            <a:off x="3319272" y="5358384"/>
            <a:ext cx="2212848"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3374136" y="5157216"/>
            <a:ext cx="2103120" cy="182880"/>
          </a:xfrm>
          <a:prstGeom prst="rect">
            <a:avLst/>
          </a:prstGeom>
          <a:noFill/>
        </p:spPr>
        <p:txBody>
          <a:bodyPr wrap="square" lIns="0" rIns="0" tIns="0" bIns="0" anchor="t">
            <a:noAutofit/>
          </a:bodyPr>
          <a:lstStyle/>
          <a:p>
            <a:pPr algn="ctr">
              <a:spcBef>
                <a:spcPts val="0"/>
              </a:spcBef>
              <a:spcAft>
                <a:spcPts val="200"/>
              </a:spcAft>
              <a:defRPr sz="1100" b="0">
                <a:solidFill>
                  <a:srgbClr val="087F82"/>
                </a:solidFill>
                <a:latin typeface="Arial"/>
              </a:defRPr>
            </a:pPr>
            <a:r>
              <a:t>8  Response</a:t>
            </a:r>
          </a:p>
        </p:txBody>
      </p:sp>
      <p:cxnSp>
        <p:nvCxnSpPr>
          <p:cNvPr id="34" name="9  Final response"/>
          <p:cNvCxnSpPr/>
          <p:nvPr/>
        </p:nvCxnSpPr>
        <p:spPr>
          <a:xfrm flipH="1">
            <a:off x="1097280" y="5696712"/>
            <a:ext cx="2221992"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1152144" y="5495544"/>
            <a:ext cx="2112263" cy="182880"/>
          </a:xfrm>
          <a:prstGeom prst="rect">
            <a:avLst/>
          </a:prstGeom>
          <a:noFill/>
        </p:spPr>
        <p:txBody>
          <a:bodyPr wrap="square" lIns="0" rIns="0" tIns="0" bIns="0" anchor="t">
            <a:noAutofit/>
          </a:bodyPr>
          <a:lstStyle/>
          <a:p>
            <a:pPr algn="ctr">
              <a:spcBef>
                <a:spcPts val="0"/>
              </a:spcBef>
              <a:spcAft>
                <a:spcPts val="200"/>
              </a:spcAft>
              <a:defRPr sz="1100" b="0">
                <a:solidFill>
                  <a:srgbClr val="087F82"/>
                </a:solidFill>
                <a:latin typeface="Arial"/>
              </a:defRPr>
            </a:pPr>
            <a:r>
              <a:t>9  Final response</a:t>
            </a:r>
          </a:p>
        </p:txBody>
      </p:sp>
      <p:sp>
        <p:nvSpPr>
          <p:cNvPr id="36" name="Run decode"/>
          <p:cNvSpPr txBox="1"/>
          <p:nvPr/>
        </p:nvSpPr>
        <p:spPr>
          <a:xfrm>
            <a:off x="10460736" y="4709160"/>
            <a:ext cx="1417320" cy="192024"/>
          </a:xfrm>
          <a:prstGeom prst="rect">
            <a:avLst/>
          </a:prstGeom>
          <a:noFill/>
        </p:spPr>
        <p:txBody>
          <a:bodyPr wrap="square" lIns="0" rIns="0" tIns="0" bIns="0" anchor="t">
            <a:noAutofit/>
          </a:bodyPr>
          <a:lstStyle/>
          <a:p>
            <a:pPr algn="l">
              <a:spcBef>
                <a:spcPts val="0"/>
              </a:spcBef>
              <a:spcAft>
                <a:spcPts val="200"/>
              </a:spcAft>
              <a:defRPr sz="1000" b="1">
                <a:solidFill>
                  <a:srgbClr val="087F82"/>
                </a:solidFill>
                <a:latin typeface="Arial"/>
              </a:defRPr>
            </a:pPr>
            <a:r>
              <a:t>Run decode</a:t>
            </a:r>
          </a:p>
        </p:txBody>
      </p:sp>
      <p:sp>
        <p:nvSpPr>
          <p:cNvPr id="37" name="Run prefill"/>
          <p:cNvSpPr txBox="1"/>
          <p:nvPr/>
        </p:nvSpPr>
        <p:spPr>
          <a:xfrm>
            <a:off x="7946136" y="3511296"/>
            <a:ext cx="1417320" cy="192024"/>
          </a:xfrm>
          <a:prstGeom prst="rect">
            <a:avLst/>
          </a:prstGeom>
          <a:noFill/>
        </p:spPr>
        <p:txBody>
          <a:bodyPr wrap="square" lIns="0" rIns="0" tIns="0" bIns="0" anchor="t">
            <a:noAutofit/>
          </a:bodyPr>
          <a:lstStyle/>
          <a:p>
            <a:pPr algn="l">
              <a:spcBef>
                <a:spcPts val="0"/>
              </a:spcBef>
              <a:spcAft>
                <a:spcPts val="200"/>
              </a:spcAft>
              <a:defRPr sz="1000" b="1">
                <a:solidFill>
                  <a:srgbClr val="A85C05"/>
                </a:solidFill>
                <a:latin typeface="Arial"/>
              </a:defRPr>
            </a:pPr>
            <a:r>
              <a:t>Run prefill</a:t>
            </a:r>
          </a:p>
        </p:txBody>
      </p:sp>
      <p:sp>
        <p:nvSpPr>
          <p:cNvPr id="38" name="Panel 37"/>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anel 38"/>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he sidecar coordinates the request; KV data moves directly between the two runt"/>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The sidecar coordinates the request; KV data moves directly between the two runtimes.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OD BOUNDARY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POD BOUNDARY  /  KAITO + llm-d</a:t>
            </a:r>
          </a:p>
        </p:txBody>
      </p:sp>
      <p:sp>
        <p:nvSpPr>
          <p:cNvPr id="4" name="Why the sidecar belongs on the decode pod"/>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Why the sidecar belongs on the decode pod</a:t>
            </a:r>
          </a:p>
        </p:txBody>
      </p:sp>
      <p:sp>
        <p:nvSpPr>
          <p:cNvPr id="5" name="A single decode endpoint coordinates remote prefill and returns the final respon"/>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A single decode endpoint coordinates remote prefill and returns the final response.</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8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08 / 12</a:t>
            </a:r>
          </a:p>
        </p:txBody>
      </p:sp>
      <p:sp>
        <p:nvSpPr>
          <p:cNvPr id="8" name="Decode pod boundary"/>
          <p:cNvSpPr/>
          <p:nvPr/>
        </p:nvSpPr>
        <p:spPr>
          <a:xfrm>
            <a:off x="3840480" y="1901952"/>
            <a:ext cx="7754112" cy="237744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LECTED DECODE POD"/>
          <p:cNvSpPr txBox="1"/>
          <p:nvPr/>
        </p:nvSpPr>
        <p:spPr>
          <a:xfrm>
            <a:off x="4087368" y="2093976"/>
            <a:ext cx="7132320" cy="274320"/>
          </a:xfrm>
          <a:prstGeom prst="rect">
            <a:avLst/>
          </a:prstGeom>
          <a:noFill/>
        </p:spPr>
        <p:txBody>
          <a:bodyPr wrap="square" lIns="0" rIns="0" tIns="0" bIns="0" anchor="t">
            <a:noAutofit/>
          </a:bodyPr>
          <a:lstStyle/>
          <a:p>
            <a:pPr algn="l">
              <a:spcBef>
                <a:spcPts val="0"/>
              </a:spcBef>
              <a:spcAft>
                <a:spcPts val="200"/>
              </a:spcAft>
              <a:defRPr sz="1200" b="1">
                <a:solidFill>
                  <a:srgbClr val="087F82"/>
                </a:solidFill>
                <a:latin typeface="Arial"/>
              </a:defRPr>
            </a:pPr>
            <a:r>
              <a:t>SELECTED DECODE POD</a:t>
            </a:r>
          </a:p>
        </p:txBody>
      </p:sp>
      <p:sp>
        <p:nvSpPr>
          <p:cNvPr id="10" name="Gateway"/>
          <p:cNvSpPr/>
          <p:nvPr/>
        </p:nvSpPr>
        <p:spPr>
          <a:xfrm>
            <a:off x="594360" y="2834640"/>
            <a:ext cx="2359152" cy="86868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800" b="1">
                <a:solidFill>
                  <a:srgbClr val="2463D4"/>
                </a:solidFill>
                <a:latin typeface="Arial"/>
              </a:defRPr>
            </a:pPr>
            <a:r>
              <a:t>Gateway</a:t>
            </a:r>
          </a:p>
          <a:p>
            <a:pPr algn="ctr">
              <a:spcBef>
                <a:spcPts val="300"/>
              </a:spcBef>
              <a:spcAft>
                <a:spcPts val="0"/>
              </a:spcAft>
              <a:defRPr sz="1200" b="0">
                <a:solidFill>
                  <a:srgbClr val="5B6E80"/>
                </a:solidFill>
                <a:latin typeface="Arial"/>
              </a:defRPr>
            </a:pPr>
            <a:r>
              <a:t>EPP-selected endpoint</a:t>
            </a:r>
          </a:p>
        </p:txBody>
      </p:sp>
      <p:sp>
        <p:nvSpPr>
          <p:cNvPr id="11" name="Routing sidecar"/>
          <p:cNvSpPr/>
          <p:nvPr/>
        </p:nvSpPr>
        <p:spPr>
          <a:xfrm>
            <a:off x="4160520" y="2816352"/>
            <a:ext cx="2606040" cy="102412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2463D4"/>
                </a:solidFill>
                <a:latin typeface="Arial"/>
              </a:defRPr>
            </a:pPr>
            <a:r>
              <a:t>Routing sidecar</a:t>
            </a:r>
          </a:p>
          <a:p>
            <a:pPr algn="ctr">
              <a:spcBef>
                <a:spcPts val="300"/>
              </a:spcBef>
              <a:spcAft>
                <a:spcPts val="0"/>
              </a:spcAft>
              <a:defRPr sz="1200" b="0">
                <a:solidFill>
                  <a:srgbClr val="5B6E80"/>
                </a:solidFill>
                <a:latin typeface="Arial"/>
              </a:defRPr>
            </a:pPr>
            <a:r>
              <a:t>Port 5000</a:t>
            </a:r>
          </a:p>
        </p:txBody>
      </p:sp>
      <p:sp>
        <p:nvSpPr>
          <p:cNvPr id="12" name="Local decode vLLM"/>
          <p:cNvSpPr/>
          <p:nvPr/>
        </p:nvSpPr>
        <p:spPr>
          <a:xfrm>
            <a:off x="8366760" y="2816352"/>
            <a:ext cx="2697480" cy="102412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900" b="1">
                <a:solidFill>
                  <a:srgbClr val="087F82"/>
                </a:solidFill>
                <a:latin typeface="Arial"/>
              </a:defRPr>
            </a:pPr>
            <a:r>
              <a:t>Local decode vLLM</a:t>
            </a:r>
          </a:p>
          <a:p>
            <a:pPr algn="ctr">
              <a:spcBef>
                <a:spcPts val="300"/>
              </a:spcBef>
              <a:spcAft>
                <a:spcPts val="0"/>
              </a:spcAft>
              <a:defRPr sz="1200" b="0">
                <a:solidFill>
                  <a:srgbClr val="5B6E80"/>
                </a:solidFill>
                <a:latin typeface="Arial"/>
              </a:defRPr>
            </a:pPr>
            <a:r>
              <a:t>Port 5001</a:t>
            </a:r>
          </a:p>
        </p:txBody>
      </p:sp>
      <p:cxnSp>
        <p:nvCxnSpPr>
          <p:cNvPr id="13" name="Gateway → Routing sidecar"/>
          <p:cNvCxnSpPr>
            <a:stCxn id="10" idx="3"/>
            <a:endCxn id="11" idx="1"/>
          </p:cNvCxnSpPr>
          <p:nvPr/>
        </p:nvCxnSpPr>
        <p:spPr>
          <a:xfrm>
            <a:off x="2953512" y="3268980"/>
            <a:ext cx="1207008" cy="59436"/>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6766560" y="3328416"/>
            <a:ext cx="160020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6876288" y="2916936"/>
            <a:ext cx="1353312" cy="411480"/>
          </a:xfrm>
          <a:prstGeom prst="rect">
            <a:avLst/>
          </a:prstGeom>
          <a:noFill/>
        </p:spPr>
        <p:txBody>
          <a:bodyPr wrap="square" lIns="0" rIns="0" tIns="0" bIns="0" anchor="t">
            <a:noAutofit/>
          </a:bodyPr>
          <a:lstStyle/>
          <a:p>
            <a:pPr algn="ctr">
              <a:spcBef>
                <a:spcPts val="0"/>
              </a:spcBef>
              <a:spcAft>
                <a:spcPts val="200"/>
              </a:spcAft>
              <a:defRPr sz="1100" b="0">
                <a:solidFill>
                  <a:srgbClr val="2463D4"/>
                </a:solidFill>
                <a:latin typeface="Arial"/>
              </a:defRPr>
            </a:pPr>
            <a:r>
              <a:t>local request</a:t>
            </a:r>
          </a:p>
          <a:p>
            <a:pPr algn="ctr">
              <a:spcBef>
                <a:spcPts val="0"/>
              </a:spcBef>
              <a:spcAft>
                <a:spcPts val="200"/>
              </a:spcAft>
              <a:defRPr sz="1100" b="0">
                <a:solidFill>
                  <a:srgbClr val="2463D4"/>
                </a:solidFill>
                <a:latin typeface="Arial"/>
              </a:defRPr>
            </a:pPr>
            <a:r>
              <a:t>+ KV metadata</a:t>
            </a:r>
          </a:p>
        </p:txBody>
      </p:sp>
      <p:sp>
        <p:nvSpPr>
          <p:cNvPr id="16" name="Remote prefill"/>
          <p:cNvSpPr/>
          <p:nvPr/>
        </p:nvSpPr>
        <p:spPr>
          <a:xfrm>
            <a:off x="4160520" y="4727448"/>
            <a:ext cx="2606040" cy="81381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800" b="1">
                <a:solidFill>
                  <a:srgbClr val="A85C05"/>
                </a:solidFill>
                <a:latin typeface="Arial"/>
              </a:defRPr>
            </a:pPr>
            <a:r>
              <a:t>Remote prefill</a:t>
            </a:r>
          </a:p>
          <a:p>
            <a:pPr algn="ctr">
              <a:spcBef>
                <a:spcPts val="300"/>
              </a:spcBef>
              <a:spcAft>
                <a:spcPts val="0"/>
              </a:spcAft>
              <a:defRPr sz="1200" b="0">
                <a:solidFill>
                  <a:srgbClr val="5B6E80"/>
                </a:solidFill>
                <a:latin typeface="Arial"/>
              </a:defRPr>
            </a:pPr>
            <a:r>
              <a:t>vLLM worker</a:t>
            </a:r>
          </a:p>
        </p:txBody>
      </p:sp>
      <p:cxnSp>
        <p:nvCxnSpPr>
          <p:cNvPr id="17" name="Routing sidecar → Remote prefill"/>
          <p:cNvCxnSpPr>
            <a:stCxn id="11" idx="2"/>
            <a:endCxn id="16" idx="0"/>
          </p:cNvCxnSpPr>
          <p:nvPr/>
        </p:nvCxnSpPr>
        <p:spPr>
          <a:xfrm flipH="1">
            <a:off x="5463540" y="3840480"/>
            <a:ext cx="0" cy="886968"/>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2267712" y="4325112"/>
            <a:ext cx="2889504" cy="228600"/>
          </a:xfrm>
          <a:prstGeom prst="rect">
            <a:avLst/>
          </a:prstGeom>
          <a:noFill/>
        </p:spPr>
        <p:txBody>
          <a:bodyPr wrap="square" lIns="0" rIns="0" tIns="0" bIns="0" anchor="t">
            <a:noAutofit/>
          </a:bodyPr>
          <a:lstStyle/>
          <a:p>
            <a:pPr algn="l">
              <a:spcBef>
                <a:spcPts val="0"/>
              </a:spcBef>
              <a:spcAft>
                <a:spcPts val="200"/>
              </a:spcAft>
              <a:defRPr sz="1100" b="0">
                <a:solidFill>
                  <a:srgbClr val="A85C05"/>
                </a:solidFill>
                <a:latin typeface="Arial"/>
              </a:defRPr>
            </a:pPr>
            <a:r>
              <a:t>optional prefill request</a:t>
            </a:r>
          </a:p>
        </p:txBody>
      </p:sp>
      <p:cxnSp>
        <p:nvCxnSpPr>
          <p:cNvPr id="19" name="NIXL KV data → local decode, bypassing sidecar"/>
          <p:cNvCxnSpPr/>
          <p:nvPr/>
        </p:nvCxnSpPr>
        <p:spPr>
          <a:xfrm>
            <a:off x="6784848" y="5129784"/>
            <a:ext cx="292608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9710928" y="3858768"/>
            <a:ext cx="0" cy="1271016"/>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7360920" y="5276088"/>
            <a:ext cx="3657600" cy="219456"/>
          </a:xfrm>
          <a:prstGeom prst="rect">
            <a:avLst/>
          </a:prstGeom>
          <a:noFill/>
        </p:spPr>
        <p:txBody>
          <a:bodyPr wrap="square" lIns="0" rIns="0" tIns="0" bIns="0" anchor="t">
            <a:noAutofit/>
          </a:bodyPr>
          <a:lstStyle/>
          <a:p>
            <a:pPr algn="l">
              <a:spcBef>
                <a:spcPts val="0"/>
              </a:spcBef>
              <a:spcAft>
                <a:spcPts val="200"/>
              </a:spcAft>
              <a:defRPr sz="1200" b="1">
                <a:solidFill>
                  <a:srgbClr val="24824C"/>
                </a:solidFill>
                <a:latin typeface="Arial"/>
              </a:defRPr>
            </a:pPr>
            <a:r>
              <a:t>Direct KV data • bypasses sidecar</a:t>
            </a:r>
          </a:p>
        </p:txBody>
      </p:sp>
      <p:sp>
        <p:nvSpPr>
          <p:cNvPr id="22" name="STABLE EXTERNAL / ROUTING CONTRACT"/>
          <p:cNvSpPr txBox="1"/>
          <p:nvPr/>
        </p:nvSpPr>
        <p:spPr>
          <a:xfrm>
            <a:off x="676656" y="2139696"/>
            <a:ext cx="2560320" cy="420624"/>
          </a:xfrm>
          <a:prstGeom prst="rect">
            <a:avLst/>
          </a:prstGeom>
          <a:noFill/>
        </p:spPr>
        <p:txBody>
          <a:bodyPr wrap="square" lIns="0" rIns="0" tIns="0" bIns="0" anchor="t">
            <a:noAutofit/>
          </a:bodyPr>
          <a:lstStyle/>
          <a:p>
            <a:pPr algn="l">
              <a:spcBef>
                <a:spcPts val="0"/>
              </a:spcBef>
              <a:spcAft>
                <a:spcPts val="200"/>
              </a:spcAft>
              <a:defRPr sz="1100" b="1">
                <a:solidFill>
                  <a:srgbClr val="2463D4"/>
                </a:solidFill>
                <a:latin typeface="Arial"/>
              </a:defRPr>
            </a:pPr>
            <a:r>
              <a:t>STABLE EXTERNAL</a:t>
            </a:r>
          </a:p>
          <a:p>
            <a:pPr algn="l">
              <a:spcBef>
                <a:spcPts val="0"/>
              </a:spcBef>
              <a:spcAft>
                <a:spcPts val="200"/>
              </a:spcAft>
              <a:defRPr sz="1100" b="1">
                <a:solidFill>
                  <a:srgbClr val="2463D4"/>
                </a:solidFill>
                <a:latin typeface="Arial"/>
              </a:defRPr>
            </a:pPr>
            <a:r>
              <a:t>ROUTING CONTRACT</a:t>
            </a:r>
          </a:p>
        </p:txBody>
      </p:sp>
      <p:sp>
        <p:nvSpPr>
          <p:cNvPr id="23" name="Panel 22"/>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anel 23"/>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oordination lives in the sidecar. KV transport terminates at the decode runtime"/>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Coordination lives in the sidecar. KV transport terminates at the decode runtime.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NTIME CONTRACTS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RUNTIME CONTRACTS  /  KAITO + llm-d</a:t>
            </a:r>
          </a:p>
        </p:txBody>
      </p:sp>
      <p:sp>
        <p:nvSpPr>
          <p:cNvPr id="4" name="Five contracts the platform must keep consistent"/>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Five contracts the platform must keep consistent</a:t>
            </a:r>
          </a:p>
        </p:txBody>
      </p:sp>
      <p:sp>
        <p:nvSpPr>
          <p:cNvPr id="5" name="P/D failures often come from wiring drift — before model execution even begins."/>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P/D failures often come from wiring drift — before model execution even begins.</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9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09 / 12</a:t>
            </a:r>
          </a:p>
        </p:txBody>
      </p:sp>
      <p:sp>
        <p:nvSpPr>
          <p:cNvPr id="8" name="CONTRACT"/>
          <p:cNvSpPr txBox="1"/>
          <p:nvPr/>
        </p:nvSpPr>
        <p:spPr>
          <a:xfrm>
            <a:off x="786384" y="1892807"/>
            <a:ext cx="3200400" cy="219456"/>
          </a:xfrm>
          <a:prstGeom prst="rect">
            <a:avLst/>
          </a:prstGeom>
          <a:noFill/>
        </p:spPr>
        <p:txBody>
          <a:bodyPr wrap="square" lIns="0" rIns="0" tIns="0" bIns="0" anchor="t">
            <a:noAutofit/>
          </a:bodyPr>
          <a:lstStyle/>
          <a:p>
            <a:pPr algn="l">
              <a:spcBef>
                <a:spcPts val="0"/>
              </a:spcBef>
              <a:spcAft>
                <a:spcPts val="200"/>
              </a:spcAft>
              <a:defRPr sz="1100" b="1">
                <a:solidFill>
                  <a:srgbClr val="5B6E80"/>
                </a:solidFill>
                <a:latin typeface="Arial"/>
              </a:defRPr>
            </a:pPr>
            <a:r>
              <a:t>CONTRACT</a:t>
            </a:r>
          </a:p>
        </p:txBody>
      </p:sp>
      <p:sp>
        <p:nvSpPr>
          <p:cNvPr id="9" name="REQUIRED INVARIANT"/>
          <p:cNvSpPr txBox="1"/>
          <p:nvPr/>
        </p:nvSpPr>
        <p:spPr>
          <a:xfrm>
            <a:off x="4261104" y="1892807"/>
            <a:ext cx="3145536" cy="219456"/>
          </a:xfrm>
          <a:prstGeom prst="rect">
            <a:avLst/>
          </a:prstGeom>
          <a:noFill/>
        </p:spPr>
        <p:txBody>
          <a:bodyPr wrap="square" lIns="0" rIns="0" tIns="0" bIns="0" anchor="t">
            <a:noAutofit/>
          </a:bodyPr>
          <a:lstStyle/>
          <a:p>
            <a:pPr algn="l">
              <a:spcBef>
                <a:spcPts val="0"/>
              </a:spcBef>
              <a:spcAft>
                <a:spcPts val="200"/>
              </a:spcAft>
              <a:defRPr sz="1100" b="1">
                <a:solidFill>
                  <a:srgbClr val="5B6E80"/>
                </a:solidFill>
                <a:latin typeface="Arial"/>
              </a:defRPr>
            </a:pPr>
            <a:r>
              <a:t>REQUIRED INVARIANT</a:t>
            </a:r>
          </a:p>
        </p:txBody>
      </p:sp>
      <p:sp>
        <p:nvSpPr>
          <p:cNvPr id="10" name="IF IT DRIFTS"/>
          <p:cNvSpPr txBox="1"/>
          <p:nvPr/>
        </p:nvSpPr>
        <p:spPr>
          <a:xfrm>
            <a:off x="7909560" y="1892807"/>
            <a:ext cx="3200400" cy="219456"/>
          </a:xfrm>
          <a:prstGeom prst="rect">
            <a:avLst/>
          </a:prstGeom>
          <a:noFill/>
        </p:spPr>
        <p:txBody>
          <a:bodyPr wrap="square" lIns="0" rIns="0" tIns="0" bIns="0" anchor="t">
            <a:noAutofit/>
          </a:bodyPr>
          <a:lstStyle/>
          <a:p>
            <a:pPr algn="l">
              <a:spcBef>
                <a:spcPts val="0"/>
              </a:spcBef>
              <a:spcAft>
                <a:spcPts val="200"/>
              </a:spcAft>
              <a:defRPr sz="1100" b="1">
                <a:solidFill>
                  <a:srgbClr val="5B6E80"/>
                </a:solidFill>
                <a:latin typeface="Arial"/>
              </a:defRPr>
            </a:pPr>
            <a:r>
              <a:t>IF IT DRIFTS</a:t>
            </a:r>
          </a:p>
        </p:txBody>
      </p:sp>
      <p:sp>
        <p:nvSpPr>
          <p:cNvPr id="11" name="Panel 10"/>
          <p:cNvSpPr/>
          <p:nvPr/>
        </p:nvSpPr>
        <p:spPr>
          <a:xfrm>
            <a:off x="566928" y="2313432"/>
            <a:ext cx="11055096" cy="539496"/>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ep 01"/>
          <p:cNvSpPr/>
          <p:nvPr/>
        </p:nvSpPr>
        <p:spPr>
          <a:xfrm>
            <a:off x="795528" y="2450591"/>
            <a:ext cx="265176" cy="265176"/>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01</a:t>
            </a:r>
          </a:p>
        </p:txBody>
      </p:sp>
      <p:sp>
        <p:nvSpPr>
          <p:cNvPr id="13" name="Sidecar placement"/>
          <p:cNvSpPr txBox="1"/>
          <p:nvPr/>
        </p:nvSpPr>
        <p:spPr>
          <a:xfrm>
            <a:off x="1188720" y="2450591"/>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Sidecar placement</a:t>
            </a:r>
          </a:p>
        </p:txBody>
      </p:sp>
      <p:sp>
        <p:nvSpPr>
          <p:cNvPr id="14" name="Runs on decode pods"/>
          <p:cNvSpPr txBox="1"/>
          <p:nvPr/>
        </p:nvSpPr>
        <p:spPr>
          <a:xfrm>
            <a:off x="4261104" y="2459736"/>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Runs on decode pods</a:t>
            </a:r>
          </a:p>
        </p:txBody>
      </p:sp>
      <p:sp>
        <p:nvSpPr>
          <p:cNvPr id="15" name="Coordination path breaks"/>
          <p:cNvSpPr txBox="1"/>
          <p:nvPr/>
        </p:nvSpPr>
        <p:spPr>
          <a:xfrm>
            <a:off x="7909560" y="2459736"/>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Coordination path breaks</a:t>
            </a:r>
          </a:p>
        </p:txBody>
      </p:sp>
      <p:sp>
        <p:nvSpPr>
          <p:cNvPr id="16" name="Panel 15"/>
          <p:cNvSpPr/>
          <p:nvPr/>
        </p:nvSpPr>
        <p:spPr>
          <a:xfrm>
            <a:off x="566928" y="2944368"/>
            <a:ext cx="11055096"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tep 02"/>
          <p:cNvSpPr/>
          <p:nvPr/>
        </p:nvSpPr>
        <p:spPr>
          <a:xfrm>
            <a:off x="795528" y="3081527"/>
            <a:ext cx="265176" cy="265176"/>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02</a:t>
            </a:r>
          </a:p>
        </p:txBody>
      </p:sp>
      <p:sp>
        <p:nvSpPr>
          <p:cNvPr id="18" name="Port split"/>
          <p:cNvSpPr txBox="1"/>
          <p:nvPr/>
        </p:nvSpPr>
        <p:spPr>
          <a:xfrm>
            <a:off x="1188720" y="3081527"/>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Port split</a:t>
            </a:r>
          </a:p>
        </p:txBody>
      </p:sp>
      <p:sp>
        <p:nvSpPr>
          <p:cNvPr id="19" name="Sidecar :5000 → vLLM :5001"/>
          <p:cNvSpPr txBox="1"/>
          <p:nvPr/>
        </p:nvSpPr>
        <p:spPr>
          <a:xfrm>
            <a:off x="4261104" y="3090672"/>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Sidecar :5000 → vLLM :5001</a:t>
            </a:r>
          </a:p>
        </p:txBody>
      </p:sp>
      <p:sp>
        <p:nvSpPr>
          <p:cNvPr id="20" name="Proxy loops / wrong listener"/>
          <p:cNvSpPr txBox="1"/>
          <p:nvPr/>
        </p:nvSpPr>
        <p:spPr>
          <a:xfrm>
            <a:off x="7909560" y="3090672"/>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Proxy loops / wrong listener</a:t>
            </a:r>
          </a:p>
        </p:txBody>
      </p:sp>
      <p:sp>
        <p:nvSpPr>
          <p:cNvPr id="21" name="Panel 20"/>
          <p:cNvSpPr/>
          <p:nvPr/>
        </p:nvSpPr>
        <p:spPr>
          <a:xfrm>
            <a:off x="566928" y="3575303"/>
            <a:ext cx="11055096" cy="539496"/>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tep 03"/>
          <p:cNvSpPr/>
          <p:nvPr/>
        </p:nvSpPr>
        <p:spPr>
          <a:xfrm>
            <a:off x="795528" y="3712463"/>
            <a:ext cx="265176" cy="265176"/>
          </a:xfrm>
          <a:prstGeom prst="ellipse">
            <a:avLst/>
          </a:prstGeom>
          <a:solidFill>
            <a:srgbClr val="A85C05"/>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03</a:t>
            </a:r>
          </a:p>
        </p:txBody>
      </p:sp>
      <p:sp>
        <p:nvSpPr>
          <p:cNvPr id="23" name="Role labels"/>
          <p:cNvSpPr txBox="1"/>
          <p:nvPr/>
        </p:nvSpPr>
        <p:spPr>
          <a:xfrm>
            <a:off x="1188720" y="3712463"/>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Role labels</a:t>
            </a:r>
          </a:p>
        </p:txBody>
      </p:sp>
      <p:sp>
        <p:nvSpPr>
          <p:cNvPr id="24" name="Prefill and decode are distinct"/>
          <p:cNvSpPr txBox="1"/>
          <p:nvPr/>
        </p:nvSpPr>
        <p:spPr>
          <a:xfrm>
            <a:off x="4261104" y="3721607"/>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Prefill and decode are distinct</a:t>
            </a:r>
          </a:p>
        </p:txBody>
      </p:sp>
      <p:sp>
        <p:nvSpPr>
          <p:cNvPr id="25" name="Wrong role gets selected"/>
          <p:cNvSpPr txBox="1"/>
          <p:nvPr/>
        </p:nvSpPr>
        <p:spPr>
          <a:xfrm>
            <a:off x="7909560" y="3721607"/>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Wrong role gets selected</a:t>
            </a:r>
          </a:p>
        </p:txBody>
      </p:sp>
      <p:sp>
        <p:nvSpPr>
          <p:cNvPr id="26" name="Panel 25"/>
          <p:cNvSpPr/>
          <p:nvPr/>
        </p:nvSpPr>
        <p:spPr>
          <a:xfrm>
            <a:off x="566928" y="4206240"/>
            <a:ext cx="11055096"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ep 04"/>
          <p:cNvSpPr/>
          <p:nvPr/>
        </p:nvSpPr>
        <p:spPr>
          <a:xfrm>
            <a:off x="795528" y="4343400"/>
            <a:ext cx="265176" cy="265176"/>
          </a:xfrm>
          <a:prstGeom prst="ellipse">
            <a:avLst/>
          </a:prstGeom>
          <a:solidFill>
            <a:srgbClr val="24824C"/>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04</a:t>
            </a:r>
          </a:p>
        </p:txBody>
      </p:sp>
      <p:sp>
        <p:nvSpPr>
          <p:cNvPr id="28" name="NIXL reachability"/>
          <p:cNvSpPr txBox="1"/>
          <p:nvPr/>
        </p:nvSpPr>
        <p:spPr>
          <a:xfrm>
            <a:off x="1188720" y="4343400"/>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NIXL reachability</a:t>
            </a:r>
          </a:p>
        </p:txBody>
      </p:sp>
      <p:sp>
        <p:nvSpPr>
          <p:cNvPr id="29" name="Advertise reachable Pod IPs"/>
          <p:cNvSpPr txBox="1"/>
          <p:nvPr/>
        </p:nvSpPr>
        <p:spPr>
          <a:xfrm>
            <a:off x="4261104" y="4352544"/>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Advertise reachable Pod IPs</a:t>
            </a:r>
          </a:p>
        </p:txBody>
      </p:sp>
      <p:sp>
        <p:nvSpPr>
          <p:cNvPr id="30" name="KV transfer cannot complete"/>
          <p:cNvSpPr txBox="1"/>
          <p:nvPr/>
        </p:nvSpPr>
        <p:spPr>
          <a:xfrm>
            <a:off x="7909560" y="4352544"/>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KV transfer cannot complete</a:t>
            </a:r>
          </a:p>
        </p:txBody>
      </p:sp>
      <p:sp>
        <p:nvSpPr>
          <p:cNvPr id="31" name="Panel 30"/>
          <p:cNvSpPr/>
          <p:nvPr/>
        </p:nvSpPr>
        <p:spPr>
          <a:xfrm>
            <a:off x="566928" y="4837175"/>
            <a:ext cx="11055096" cy="539496"/>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Step 05"/>
          <p:cNvSpPr/>
          <p:nvPr/>
        </p:nvSpPr>
        <p:spPr>
          <a:xfrm>
            <a:off x="795528" y="4974336"/>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05</a:t>
            </a:r>
          </a:p>
        </p:txBody>
      </p:sp>
      <p:sp>
        <p:nvSpPr>
          <p:cNvPr id="33" name="InferencePool targetPort"/>
          <p:cNvSpPr txBox="1"/>
          <p:nvPr/>
        </p:nvSpPr>
        <p:spPr>
          <a:xfrm>
            <a:off x="1188720" y="4974336"/>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InferencePool targetPort</a:t>
            </a:r>
          </a:p>
        </p:txBody>
      </p:sp>
      <p:sp>
        <p:nvSpPr>
          <p:cNvPr id="34" name="Targets the sidecar listener"/>
          <p:cNvSpPr txBox="1"/>
          <p:nvPr/>
        </p:nvSpPr>
        <p:spPr>
          <a:xfrm>
            <a:off x="4261104" y="4983479"/>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Targets the sidecar listener</a:t>
            </a:r>
          </a:p>
        </p:txBody>
      </p:sp>
      <p:sp>
        <p:nvSpPr>
          <p:cNvPr id="35" name="Gateway bypasses coordination"/>
          <p:cNvSpPr txBox="1"/>
          <p:nvPr/>
        </p:nvSpPr>
        <p:spPr>
          <a:xfrm>
            <a:off x="7909560" y="4983479"/>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Gateway bypasses coordination</a:t>
            </a:r>
          </a:p>
        </p:txBody>
      </p:sp>
      <p:sp>
        <p:nvSpPr>
          <p:cNvPr id="36" name="Panel 35"/>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anel 36"/>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hese are serving contracts, not decorative metadata — reconciliation must enfor"/>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These are serving contracts, not decorative metadata — reconciliation must enforce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VISION OF LABOR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DIVISION OF LABOR  /  KAITO + llm-d</a:t>
            </a:r>
          </a:p>
        </p:txBody>
      </p:sp>
      <p:sp>
        <p:nvSpPr>
          <p:cNvPr id="4" name="KAITO operationalizes llm-d — it does not replace it"/>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KAITO operationalizes llm-d — it does not replace it</a:t>
            </a:r>
          </a:p>
        </p:txBody>
      </p:sp>
      <p:sp>
        <p:nvSpPr>
          <p:cNvPr id="5" name="The routing engine and the platform controller solve different problems."/>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The routing engine and the platform controller solve different problems.</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10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10 / 12</a:t>
            </a:r>
          </a:p>
        </p:txBody>
      </p:sp>
      <p:sp>
        <p:nvSpPr>
          <p:cNvPr id="8" name="Panel 7"/>
          <p:cNvSpPr/>
          <p:nvPr/>
        </p:nvSpPr>
        <p:spPr>
          <a:xfrm>
            <a:off x="594360" y="1874519"/>
            <a:ext cx="5193792" cy="361188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lm-d Router"/>
          <p:cNvSpPr txBox="1"/>
          <p:nvPr/>
        </p:nvSpPr>
        <p:spPr>
          <a:xfrm>
            <a:off x="850392" y="2121408"/>
            <a:ext cx="4572000" cy="420624"/>
          </a:xfrm>
          <a:prstGeom prst="rect">
            <a:avLst/>
          </a:prstGeom>
          <a:noFill/>
        </p:spPr>
        <p:txBody>
          <a:bodyPr wrap="square" lIns="0" rIns="0" tIns="0" bIns="0" anchor="t">
            <a:noAutofit/>
          </a:bodyPr>
          <a:lstStyle/>
          <a:p>
            <a:pPr algn="l">
              <a:spcBef>
                <a:spcPts val="0"/>
              </a:spcBef>
              <a:spcAft>
                <a:spcPts val="400"/>
              </a:spcAft>
              <a:defRPr sz="2800" b="1">
                <a:solidFill>
                  <a:srgbClr val="2463D4"/>
                </a:solidFill>
                <a:latin typeface="Arial"/>
              </a:defRPr>
            </a:pPr>
            <a:r>
              <a:t>llm-d Router</a:t>
            </a:r>
          </a:p>
        </p:txBody>
      </p:sp>
      <p:sp>
        <p:nvSpPr>
          <p:cNvPr id="10" name="DECIDE WHERE TO SERVE"/>
          <p:cNvSpPr txBox="1"/>
          <p:nvPr/>
        </p:nvSpPr>
        <p:spPr>
          <a:xfrm>
            <a:off x="859536" y="2706624"/>
            <a:ext cx="4572000" cy="210312"/>
          </a:xfrm>
          <a:prstGeom prst="rect">
            <a:avLst/>
          </a:prstGeom>
          <a:noFill/>
        </p:spPr>
        <p:txBody>
          <a:bodyPr wrap="square" lIns="0" rIns="0" tIns="0" bIns="0" anchor="t">
            <a:noAutofit/>
          </a:bodyPr>
          <a:lstStyle/>
          <a:p>
            <a:pPr algn="l">
              <a:spcBef>
                <a:spcPts val="0"/>
              </a:spcBef>
              <a:spcAft>
                <a:spcPts val="200"/>
              </a:spcAft>
              <a:defRPr sz="1000" b="1">
                <a:solidFill>
                  <a:srgbClr val="2463D4"/>
                </a:solidFill>
                <a:latin typeface="Arial"/>
              </a:defRPr>
            </a:pPr>
            <a:r>
              <a:t>DECIDE WHERE TO SERVE</a:t>
            </a:r>
          </a:p>
        </p:txBody>
      </p:sp>
      <p:sp>
        <p:nvSpPr>
          <p:cNvPr id="11" name="Panel 10"/>
          <p:cNvSpPr/>
          <p:nvPr/>
        </p:nvSpPr>
        <p:spPr>
          <a:xfrm>
            <a:off x="6400800" y="1874519"/>
            <a:ext cx="5193792" cy="361188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AITO"/>
          <p:cNvSpPr txBox="1"/>
          <p:nvPr/>
        </p:nvSpPr>
        <p:spPr>
          <a:xfrm>
            <a:off x="6656832" y="2121408"/>
            <a:ext cx="4572000" cy="420624"/>
          </a:xfrm>
          <a:prstGeom prst="rect">
            <a:avLst/>
          </a:prstGeom>
          <a:noFill/>
        </p:spPr>
        <p:txBody>
          <a:bodyPr wrap="square" lIns="0" rIns="0" tIns="0" bIns="0" anchor="t">
            <a:noAutofit/>
          </a:bodyPr>
          <a:lstStyle/>
          <a:p>
            <a:pPr algn="l">
              <a:spcBef>
                <a:spcPts val="0"/>
              </a:spcBef>
              <a:spcAft>
                <a:spcPts val="400"/>
              </a:spcAft>
              <a:defRPr sz="2800" b="1">
                <a:solidFill>
                  <a:srgbClr val="7150C8"/>
                </a:solidFill>
                <a:latin typeface="Arial"/>
              </a:defRPr>
            </a:pPr>
            <a:r>
              <a:t>KAITO</a:t>
            </a:r>
          </a:p>
        </p:txBody>
      </p:sp>
      <p:sp>
        <p:nvSpPr>
          <p:cNvPr id="13" name="DECLARE + KEEP IT RUNNING"/>
          <p:cNvSpPr txBox="1"/>
          <p:nvPr/>
        </p:nvSpPr>
        <p:spPr>
          <a:xfrm>
            <a:off x="6665976" y="2706624"/>
            <a:ext cx="4572000" cy="210312"/>
          </a:xfrm>
          <a:prstGeom prst="rect">
            <a:avLst/>
          </a:prstGeom>
          <a:noFill/>
        </p:spPr>
        <p:txBody>
          <a:bodyPr wrap="square" lIns="0" rIns="0" tIns="0" bIns="0" anchor="t">
            <a:noAutofit/>
          </a:bodyPr>
          <a:lstStyle/>
          <a:p>
            <a:pPr algn="l">
              <a:spcBef>
                <a:spcPts val="0"/>
              </a:spcBef>
              <a:spcAft>
                <a:spcPts val="200"/>
              </a:spcAft>
              <a:defRPr sz="1000" b="1">
                <a:solidFill>
                  <a:srgbClr val="7150C8"/>
                </a:solidFill>
                <a:latin typeface="Arial"/>
              </a:defRPr>
            </a:pPr>
            <a:r>
              <a:t>DECLARE + KEEP IT RUNNING</a:t>
            </a:r>
          </a:p>
        </p:txBody>
      </p:sp>
      <p:sp>
        <p:nvSpPr>
          <p:cNvPr id="14" name="EPP implementation"/>
          <p:cNvSpPr txBox="1"/>
          <p:nvPr/>
        </p:nvSpPr>
        <p:spPr>
          <a:xfrm>
            <a:off x="859536" y="3172968"/>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EPP implementation</a:t>
            </a:r>
          </a:p>
        </p:txBody>
      </p:sp>
      <p:sp>
        <p:nvSpPr>
          <p:cNvPr id="15" name="Gateway-integrated endpoint picking"/>
          <p:cNvSpPr txBox="1"/>
          <p:nvPr/>
        </p:nvSpPr>
        <p:spPr>
          <a:xfrm>
            <a:off x="859536" y="3483864"/>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Gateway-integrated endpoint picking</a:t>
            </a:r>
          </a:p>
        </p:txBody>
      </p:sp>
      <p:sp>
        <p:nvSpPr>
          <p:cNvPr id="16" name="P/D-aware scheduling"/>
          <p:cNvSpPr txBox="1"/>
          <p:nvPr/>
        </p:nvSpPr>
        <p:spPr>
          <a:xfrm>
            <a:off x="859536" y="3840480"/>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P/D-aware scheduling</a:t>
            </a:r>
          </a:p>
        </p:txBody>
      </p:sp>
      <p:sp>
        <p:nvSpPr>
          <p:cNvPr id="17" name="Role selection and routing decisions"/>
          <p:cNvSpPr txBox="1"/>
          <p:nvPr/>
        </p:nvSpPr>
        <p:spPr>
          <a:xfrm>
            <a:off x="859536" y="4151376"/>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Role selection and routing decisions</a:t>
            </a:r>
          </a:p>
        </p:txBody>
      </p:sp>
      <p:sp>
        <p:nvSpPr>
          <p:cNvPr id="18" name="Extensible plugins"/>
          <p:cNvSpPr txBox="1"/>
          <p:nvPr/>
        </p:nvSpPr>
        <p:spPr>
          <a:xfrm>
            <a:off x="859536" y="4507992"/>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Extensible plugins</a:t>
            </a:r>
          </a:p>
        </p:txBody>
      </p:sp>
      <p:sp>
        <p:nvSpPr>
          <p:cNvPr id="19" name="A surface for advanced scheduling"/>
          <p:cNvSpPr txBox="1"/>
          <p:nvPr/>
        </p:nvSpPr>
        <p:spPr>
          <a:xfrm>
            <a:off x="859536" y="4818888"/>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A surface for advanced scheduling</a:t>
            </a:r>
          </a:p>
        </p:txBody>
      </p:sp>
      <p:sp>
        <p:nvSpPr>
          <p:cNvPr id="20" name="Declarative CRD"/>
          <p:cNvSpPr txBox="1"/>
          <p:nvPr/>
        </p:nvSpPr>
        <p:spPr>
          <a:xfrm>
            <a:off x="6665976" y="3172968"/>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Declarative CRD</a:t>
            </a:r>
          </a:p>
        </p:txBody>
      </p:sp>
      <p:sp>
        <p:nvSpPr>
          <p:cNvPr id="21" name="Topology and resource abstraction"/>
          <p:cNvSpPr txBox="1"/>
          <p:nvPr/>
        </p:nvSpPr>
        <p:spPr>
          <a:xfrm>
            <a:off x="6665976" y="3483864"/>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Topology and resource abstraction</a:t>
            </a:r>
          </a:p>
        </p:txBody>
      </p:sp>
      <p:sp>
        <p:nvSpPr>
          <p:cNvPr id="22" name="Resource reconciliation"/>
          <p:cNvSpPr txBox="1"/>
          <p:nvPr/>
        </p:nvSpPr>
        <p:spPr>
          <a:xfrm>
            <a:off x="6665976" y="3840480"/>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Resource reconciliation</a:t>
            </a:r>
          </a:p>
        </p:txBody>
      </p:sp>
      <p:sp>
        <p:nvSpPr>
          <p:cNvPr id="23" name="Generation, ownership and runtime wiring"/>
          <p:cNvSpPr txBox="1"/>
          <p:nvPr/>
        </p:nvSpPr>
        <p:spPr>
          <a:xfrm>
            <a:off x="6665976" y="4151376"/>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Generation, ownership and runtime wiring</a:t>
            </a:r>
          </a:p>
        </p:txBody>
      </p:sp>
      <p:sp>
        <p:nvSpPr>
          <p:cNvPr id="24" name="Platform integration"/>
          <p:cNvSpPr txBox="1"/>
          <p:nvPr/>
        </p:nvSpPr>
        <p:spPr>
          <a:xfrm>
            <a:off x="6665976" y="4507992"/>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Platform integration</a:t>
            </a:r>
          </a:p>
        </p:txBody>
      </p:sp>
      <p:sp>
        <p:nvSpPr>
          <p:cNvPr id="25" name="InferenceSet + autoscaling integration"/>
          <p:cNvSpPr txBox="1"/>
          <p:nvPr/>
        </p:nvSpPr>
        <p:spPr>
          <a:xfrm>
            <a:off x="6665976" y="4818888"/>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InferenceSet + autoscaling integration</a:t>
            </a:r>
          </a:p>
        </p:txBody>
      </p:sp>
      <p:sp>
        <p:nvSpPr>
          <p:cNvPr id="26" name="+"/>
          <p:cNvSpPr/>
          <p:nvPr/>
        </p:nvSpPr>
        <p:spPr>
          <a:xfrm>
            <a:off x="5843016" y="3438144"/>
            <a:ext cx="493776" cy="548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800" b="1">
                <a:solidFill>
                  <a:srgbClr val="5B6E80"/>
                </a:solidFill>
                <a:latin typeface="Arial"/>
              </a:defRPr>
            </a:pPr>
            <a:r>
              <a:t>+</a:t>
            </a:r>
          </a:p>
        </p:txBody>
      </p:sp>
      <p:sp>
        <p:nvSpPr>
          <p:cNvPr id="27" name="Panel 26"/>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anel 27"/>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omplementary layers: routing intelligence below, a Kubernetes-native operating "/>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Complementary layers: routing intelligence below, a Kubernetes-native operating model above.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PERATING MODEL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OPERATING MODEL  /  KAITO + llm-d</a:t>
            </a:r>
          </a:p>
        </p:txBody>
      </p:sp>
      <p:sp>
        <p:nvSpPr>
          <p:cNvPr id="4" name="Users own intent. The platform owns the plumbing."/>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Users own intent. The platform owns the plumbing.</a:t>
            </a:r>
          </a:p>
        </p:txBody>
      </p:sp>
      <p:sp>
        <p:nvSpPr>
          <p:cNvPr id="5" name="A clean operational boundary is more valuable than simply reducing YAML."/>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A clean operational boundary is more valuable than simply reducing YAML.</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11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11 / 12</a:t>
            </a:r>
          </a:p>
        </p:txBody>
      </p:sp>
      <p:sp>
        <p:nvSpPr>
          <p:cNvPr id="8" name="Panel 7"/>
          <p:cNvSpPr/>
          <p:nvPr/>
        </p:nvSpPr>
        <p:spPr>
          <a:xfrm>
            <a:off x="594360" y="1865376"/>
            <a:ext cx="4069080" cy="3639312"/>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anel 8"/>
          <p:cNvSpPr/>
          <p:nvPr/>
        </p:nvSpPr>
        <p:spPr>
          <a:xfrm>
            <a:off x="5532120" y="1865376"/>
            <a:ext cx="6062472" cy="363931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sers declare"/>
          <p:cNvSpPr txBox="1"/>
          <p:nvPr/>
        </p:nvSpPr>
        <p:spPr>
          <a:xfrm>
            <a:off x="868680" y="2121408"/>
            <a:ext cx="3520440" cy="429768"/>
          </a:xfrm>
          <a:prstGeom prst="rect">
            <a:avLst/>
          </a:prstGeom>
          <a:noFill/>
        </p:spPr>
        <p:txBody>
          <a:bodyPr wrap="square" lIns="0" rIns="0" tIns="0" bIns="0" anchor="t">
            <a:noAutofit/>
          </a:bodyPr>
          <a:lstStyle/>
          <a:p>
            <a:pPr algn="l">
              <a:spcBef>
                <a:spcPts val="0"/>
              </a:spcBef>
              <a:spcAft>
                <a:spcPts val="400"/>
              </a:spcAft>
              <a:defRPr sz="2500" b="1">
                <a:solidFill>
                  <a:srgbClr val="7150C8"/>
                </a:solidFill>
                <a:latin typeface="Arial"/>
              </a:defRPr>
            </a:pPr>
            <a:r>
              <a:t>Users declare</a:t>
            </a:r>
          </a:p>
        </p:txBody>
      </p:sp>
      <p:sp>
        <p:nvSpPr>
          <p:cNvPr id="11" name="Platform reconciles"/>
          <p:cNvSpPr txBox="1"/>
          <p:nvPr/>
        </p:nvSpPr>
        <p:spPr>
          <a:xfrm>
            <a:off x="5806440" y="2121408"/>
            <a:ext cx="5486400" cy="429768"/>
          </a:xfrm>
          <a:prstGeom prst="rect">
            <a:avLst/>
          </a:prstGeom>
          <a:noFill/>
        </p:spPr>
        <p:txBody>
          <a:bodyPr wrap="square" lIns="0" rIns="0" tIns="0" bIns="0" anchor="t">
            <a:noAutofit/>
          </a:bodyPr>
          <a:lstStyle/>
          <a:p>
            <a:pPr algn="l">
              <a:spcBef>
                <a:spcPts val="0"/>
              </a:spcBef>
              <a:spcAft>
                <a:spcPts val="400"/>
              </a:spcAft>
              <a:defRPr sz="2500" b="1">
                <a:solidFill>
                  <a:srgbClr val="10243A"/>
                </a:solidFill>
                <a:latin typeface="Arial"/>
              </a:defRPr>
            </a:pPr>
            <a:r>
              <a:t>Platform reconciles</a:t>
            </a:r>
          </a:p>
        </p:txBody>
      </p:sp>
      <p:sp>
        <p:nvSpPr>
          <p:cNvPr id="12" name="Step •"/>
          <p:cNvSpPr/>
          <p:nvPr/>
        </p:nvSpPr>
        <p:spPr>
          <a:xfrm>
            <a:off x="896112" y="2898648"/>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13" name="Model choice"/>
          <p:cNvSpPr txBox="1"/>
          <p:nvPr/>
        </p:nvSpPr>
        <p:spPr>
          <a:xfrm>
            <a:off x="1307592" y="2907792"/>
            <a:ext cx="3154680" cy="356616"/>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Model choice</a:t>
            </a:r>
          </a:p>
        </p:txBody>
      </p:sp>
      <p:sp>
        <p:nvSpPr>
          <p:cNvPr id="14" name="Step •"/>
          <p:cNvSpPr/>
          <p:nvPr/>
        </p:nvSpPr>
        <p:spPr>
          <a:xfrm>
            <a:off x="896112" y="3429000"/>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15" name="Prefill / decode roles"/>
          <p:cNvSpPr txBox="1"/>
          <p:nvPr/>
        </p:nvSpPr>
        <p:spPr>
          <a:xfrm>
            <a:off x="1307592" y="3438144"/>
            <a:ext cx="3154680" cy="356616"/>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Prefill / decode roles</a:t>
            </a:r>
          </a:p>
        </p:txBody>
      </p:sp>
      <p:sp>
        <p:nvSpPr>
          <p:cNvPr id="16" name="Step •"/>
          <p:cNvSpPr/>
          <p:nvPr/>
        </p:nvSpPr>
        <p:spPr>
          <a:xfrm>
            <a:off x="896112" y="3959352"/>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17" name="Replicas + autoscaling intent"/>
          <p:cNvSpPr txBox="1"/>
          <p:nvPr/>
        </p:nvSpPr>
        <p:spPr>
          <a:xfrm>
            <a:off x="1307592" y="3968496"/>
            <a:ext cx="3154680" cy="356616"/>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Replicas + autoscaling intent</a:t>
            </a:r>
          </a:p>
        </p:txBody>
      </p:sp>
      <p:sp>
        <p:nvSpPr>
          <p:cNvPr id="18" name="Step •"/>
          <p:cNvSpPr/>
          <p:nvPr/>
        </p:nvSpPr>
        <p:spPr>
          <a:xfrm>
            <a:off x="896112" y="4489704"/>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19" name="Instance types + topology"/>
          <p:cNvSpPr txBox="1"/>
          <p:nvPr/>
        </p:nvSpPr>
        <p:spPr>
          <a:xfrm>
            <a:off x="1307592" y="4498848"/>
            <a:ext cx="3154680" cy="356616"/>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Instance types + topology</a:t>
            </a:r>
          </a:p>
        </p:txBody>
      </p:sp>
      <p:sp>
        <p:nvSpPr>
          <p:cNvPr id="20" name="Step •"/>
          <p:cNvSpPr/>
          <p:nvPr/>
        </p:nvSpPr>
        <p:spPr>
          <a:xfrm>
            <a:off x="5833872" y="2880360"/>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1" name="Child InferenceSets + shared InferencePool"/>
          <p:cNvSpPr txBox="1"/>
          <p:nvPr/>
        </p:nvSpPr>
        <p:spPr>
          <a:xfrm>
            <a:off x="6245352" y="2889504"/>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Child InferenceSets + shared InferencePool</a:t>
            </a:r>
          </a:p>
        </p:txBody>
      </p:sp>
      <p:sp>
        <p:nvSpPr>
          <p:cNvPr id="22" name="Step •"/>
          <p:cNvSpPr/>
          <p:nvPr/>
        </p:nvSpPr>
        <p:spPr>
          <a:xfrm>
            <a:off x="5833872" y="3328415"/>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3" name="llm-d EPP resources + decode sidecar"/>
          <p:cNvSpPr txBox="1"/>
          <p:nvPr/>
        </p:nvSpPr>
        <p:spPr>
          <a:xfrm>
            <a:off x="6245352" y="3337560"/>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llm-d EPP resources + decode sidecar</a:t>
            </a:r>
          </a:p>
        </p:txBody>
      </p:sp>
      <p:sp>
        <p:nvSpPr>
          <p:cNvPr id="24" name="Step •"/>
          <p:cNvSpPr/>
          <p:nvPr/>
        </p:nvSpPr>
        <p:spPr>
          <a:xfrm>
            <a:off x="5833872" y="3776472"/>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5" name="Labels, services and targetPorts"/>
          <p:cNvSpPr txBox="1"/>
          <p:nvPr/>
        </p:nvSpPr>
        <p:spPr>
          <a:xfrm>
            <a:off x="6245352" y="3785616"/>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Labels, services and targetPorts</a:t>
            </a:r>
          </a:p>
        </p:txBody>
      </p:sp>
      <p:sp>
        <p:nvSpPr>
          <p:cNvPr id="26" name="Step •"/>
          <p:cNvSpPr/>
          <p:nvPr/>
        </p:nvSpPr>
        <p:spPr>
          <a:xfrm>
            <a:off x="5833872" y="4224528"/>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7" name="NIXL environment and Pod IP wiring"/>
          <p:cNvSpPr txBox="1"/>
          <p:nvPr/>
        </p:nvSpPr>
        <p:spPr>
          <a:xfrm>
            <a:off x="6245352" y="4233672"/>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NIXL environment and Pod IP wiring</a:t>
            </a:r>
          </a:p>
        </p:txBody>
      </p:sp>
      <p:sp>
        <p:nvSpPr>
          <p:cNvPr id="28" name="Step •"/>
          <p:cNvSpPr/>
          <p:nvPr/>
        </p:nvSpPr>
        <p:spPr>
          <a:xfrm>
            <a:off x="5833872" y="4672583"/>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9" name="Ownership references + per-role consistency"/>
          <p:cNvSpPr txBox="1"/>
          <p:nvPr/>
        </p:nvSpPr>
        <p:spPr>
          <a:xfrm>
            <a:off x="6245352" y="4681728"/>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Ownership references + per-role consistency</a:t>
            </a:r>
          </a:p>
        </p:txBody>
      </p:sp>
      <p:cxnSp>
        <p:nvCxnSpPr>
          <p:cNvPr id="30" name="Flow"/>
          <p:cNvCxnSpPr/>
          <p:nvPr/>
        </p:nvCxnSpPr>
        <p:spPr>
          <a:xfrm>
            <a:off x="4773168" y="3749039"/>
            <a:ext cx="649224"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API / boundary"/>
          <p:cNvSpPr txBox="1"/>
          <p:nvPr/>
        </p:nvSpPr>
        <p:spPr>
          <a:xfrm>
            <a:off x="4727448" y="3959352"/>
            <a:ext cx="740664" cy="548640"/>
          </a:xfrm>
          <a:prstGeom prst="rect">
            <a:avLst/>
          </a:prstGeom>
          <a:noFill/>
        </p:spPr>
        <p:txBody>
          <a:bodyPr wrap="square" lIns="0" rIns="0" tIns="0" bIns="0" anchor="t">
            <a:noAutofit/>
          </a:bodyPr>
          <a:lstStyle/>
          <a:p>
            <a:pPr algn="ctr">
              <a:spcBef>
                <a:spcPts val="0"/>
              </a:spcBef>
              <a:spcAft>
                <a:spcPts val="200"/>
              </a:spcAft>
              <a:defRPr sz="1000" b="0">
                <a:solidFill>
                  <a:srgbClr val="7150C8"/>
                </a:solidFill>
                <a:latin typeface="Arial"/>
              </a:defRPr>
            </a:pPr>
            <a:r>
              <a:t>API</a:t>
            </a:r>
          </a:p>
          <a:p>
            <a:pPr algn="ctr">
              <a:spcBef>
                <a:spcPts val="0"/>
              </a:spcBef>
              <a:spcAft>
                <a:spcPts val="200"/>
              </a:spcAft>
              <a:defRPr sz="1000" b="0">
                <a:solidFill>
                  <a:srgbClr val="7150C8"/>
                </a:solidFill>
                <a:latin typeface="Arial"/>
              </a:defRPr>
            </a:pPr>
            <a:r>
              <a:t>boundary</a:t>
            </a:r>
          </a:p>
        </p:txBody>
      </p:sp>
      <p:sp>
        <p:nvSpPr>
          <p:cNvPr id="32" name="Panel 31"/>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anel 32"/>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sers reason about serving behavior — not hidden infrastructure dependencies."/>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Users reason about serving behavior — not hidden infrastructure dependencies.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HE OPERATIONAL PAYOFF"/>
          <p:cNvSpPr txBox="1"/>
          <p:nvPr/>
        </p:nvSpPr>
        <p:spPr>
          <a:xfrm>
            <a:off x="658368" y="466344"/>
            <a:ext cx="10789920" cy="237744"/>
          </a:xfrm>
          <a:prstGeom prst="rect">
            <a:avLst/>
          </a:prstGeom>
          <a:noFill/>
        </p:spPr>
        <p:txBody>
          <a:bodyPr wrap="square" lIns="0" rIns="0" tIns="0" bIns="0" anchor="t">
            <a:noAutofit/>
          </a:bodyPr>
          <a:lstStyle/>
          <a:p>
            <a:pPr algn="l">
              <a:spcBef>
                <a:spcPts val="0"/>
              </a:spcBef>
              <a:spcAft>
                <a:spcPts val="200"/>
              </a:spcAft>
              <a:defRPr sz="1200" b="1">
                <a:solidFill>
                  <a:srgbClr val="C8D8E7"/>
                </a:solidFill>
                <a:latin typeface="Arial"/>
              </a:defRPr>
            </a:pPr>
            <a:r>
              <a:t>THE OPERATIONAL PAYOFF</a:t>
            </a:r>
          </a:p>
        </p:txBody>
      </p:sp>
      <p:sp>
        <p:nvSpPr>
          <p:cNvPr id="3" name="From a manual routing stack / to a declarative platform workflow."/>
          <p:cNvSpPr txBox="1"/>
          <p:nvPr/>
        </p:nvSpPr>
        <p:spPr>
          <a:xfrm>
            <a:off x="658368" y="1078992"/>
            <a:ext cx="10927080" cy="1371600"/>
          </a:xfrm>
          <a:prstGeom prst="rect">
            <a:avLst/>
          </a:prstGeom>
          <a:noFill/>
        </p:spPr>
        <p:txBody>
          <a:bodyPr wrap="square" lIns="0" rIns="0" tIns="0" bIns="0" anchor="t">
            <a:noAutofit/>
          </a:bodyPr>
          <a:lstStyle/>
          <a:p>
            <a:pPr algn="l">
              <a:spcBef>
                <a:spcPts val="0"/>
              </a:spcBef>
              <a:spcAft>
                <a:spcPts val="400"/>
              </a:spcAft>
              <a:defRPr sz="3600" b="1">
                <a:solidFill>
                  <a:srgbClr val="FFFFFF"/>
                </a:solidFill>
                <a:latin typeface="Arial"/>
              </a:defRPr>
            </a:pPr>
            <a:r>
              <a:t>From a manual routing stack</a:t>
            </a:r>
          </a:p>
          <a:p>
            <a:pPr algn="l">
              <a:spcBef>
                <a:spcPts val="0"/>
              </a:spcBef>
              <a:spcAft>
                <a:spcPts val="400"/>
              </a:spcAft>
              <a:defRPr sz="3600" b="1">
                <a:solidFill>
                  <a:srgbClr val="FFFFFF"/>
                </a:solidFill>
                <a:latin typeface="Arial"/>
              </a:defRPr>
            </a:pPr>
            <a:r>
              <a:t>to a declarative platform workflow.</a:t>
            </a:r>
          </a:p>
        </p:txBody>
      </p:sp>
      <p:sp>
        <p:nvSpPr>
          <p:cNvPr id="4" name="Panel 3"/>
          <p:cNvSpPr/>
          <p:nvPr/>
        </p:nvSpPr>
        <p:spPr>
          <a:xfrm>
            <a:off x="658368" y="2971800"/>
            <a:ext cx="3557016" cy="1847088"/>
          </a:xfrm>
          <a:prstGeom prst="roundRect">
            <a:avLst>
              <a:gd name="adj" fmla="val 12000"/>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01"/>
          <p:cNvSpPr/>
          <p:nvPr/>
        </p:nvSpPr>
        <p:spPr>
          <a:xfrm>
            <a:off x="859536" y="3172968"/>
            <a:ext cx="521207" cy="292608"/>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A85C05"/>
                </a:solidFill>
                <a:latin typeface="Arial"/>
              </a:defRPr>
            </a:pPr>
            <a:r>
              <a:t>01</a:t>
            </a:r>
          </a:p>
        </p:txBody>
      </p:sp>
      <p:sp>
        <p:nvSpPr>
          <p:cNvPr id="6" name="Specialize execution"/>
          <p:cNvSpPr txBox="1"/>
          <p:nvPr/>
        </p:nvSpPr>
        <p:spPr>
          <a:xfrm>
            <a:off x="859536" y="3657600"/>
            <a:ext cx="3154680" cy="329184"/>
          </a:xfrm>
          <a:prstGeom prst="rect">
            <a:avLst/>
          </a:prstGeom>
          <a:noFill/>
        </p:spPr>
        <p:txBody>
          <a:bodyPr wrap="square" lIns="0" rIns="0" tIns="0" bIns="0" anchor="t">
            <a:noAutofit/>
          </a:bodyPr>
          <a:lstStyle/>
          <a:p>
            <a:pPr algn="l">
              <a:spcBef>
                <a:spcPts val="0"/>
              </a:spcBef>
              <a:spcAft>
                <a:spcPts val="400"/>
              </a:spcAft>
              <a:defRPr sz="2100" b="1">
                <a:solidFill>
                  <a:srgbClr val="FFFFFF"/>
                </a:solidFill>
                <a:latin typeface="Arial"/>
              </a:defRPr>
            </a:pPr>
            <a:r>
              <a:t>Specialize execution</a:t>
            </a:r>
          </a:p>
        </p:txBody>
      </p:sp>
      <p:sp>
        <p:nvSpPr>
          <p:cNvPr id="7" name="Prefill and decode have / different resource profiles."/>
          <p:cNvSpPr txBox="1"/>
          <p:nvPr/>
        </p:nvSpPr>
        <p:spPr>
          <a:xfrm>
            <a:off x="859536" y="4187952"/>
            <a:ext cx="3154680" cy="566928"/>
          </a:xfrm>
          <a:prstGeom prst="rect">
            <a:avLst/>
          </a:prstGeom>
          <a:noFill/>
        </p:spPr>
        <p:txBody>
          <a:bodyPr wrap="square" lIns="0" rIns="0" tIns="0" bIns="0" anchor="t">
            <a:noAutofit/>
          </a:bodyPr>
          <a:lstStyle/>
          <a:p>
            <a:pPr algn="l">
              <a:spcBef>
                <a:spcPts val="0"/>
              </a:spcBef>
              <a:spcAft>
                <a:spcPts val="200"/>
              </a:spcAft>
              <a:defRPr sz="1500" b="0">
                <a:solidFill>
                  <a:srgbClr val="C8D8E7"/>
                </a:solidFill>
                <a:latin typeface="Arial"/>
              </a:defRPr>
            </a:pPr>
            <a:r>
              <a:t>Prefill and decode have</a:t>
            </a:r>
          </a:p>
          <a:p>
            <a:pPr algn="l">
              <a:spcBef>
                <a:spcPts val="0"/>
              </a:spcBef>
              <a:spcAft>
                <a:spcPts val="200"/>
              </a:spcAft>
              <a:defRPr sz="1500" b="0">
                <a:solidFill>
                  <a:srgbClr val="C8D8E7"/>
                </a:solidFill>
                <a:latin typeface="Arial"/>
              </a:defRPr>
            </a:pPr>
            <a:r>
              <a:t>different resource profiles.</a:t>
            </a:r>
          </a:p>
        </p:txBody>
      </p:sp>
      <p:sp>
        <p:nvSpPr>
          <p:cNvPr id="8" name="Panel 7"/>
          <p:cNvSpPr/>
          <p:nvPr/>
        </p:nvSpPr>
        <p:spPr>
          <a:xfrm>
            <a:off x="4498848" y="2971800"/>
            <a:ext cx="3557016" cy="1847088"/>
          </a:xfrm>
          <a:prstGeom prst="roundRect">
            <a:avLst>
              <a:gd name="adj" fmla="val 12000"/>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02"/>
          <p:cNvSpPr/>
          <p:nvPr/>
        </p:nvSpPr>
        <p:spPr>
          <a:xfrm>
            <a:off x="4700016" y="3172968"/>
            <a:ext cx="521207" cy="29260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2463D4"/>
                </a:solidFill>
                <a:latin typeface="Arial"/>
              </a:defRPr>
            </a:pPr>
            <a:r>
              <a:t>02</a:t>
            </a:r>
          </a:p>
        </p:txBody>
      </p:sp>
      <p:sp>
        <p:nvSpPr>
          <p:cNvPr id="10" name="Route with awareness"/>
          <p:cNvSpPr txBox="1"/>
          <p:nvPr/>
        </p:nvSpPr>
        <p:spPr>
          <a:xfrm>
            <a:off x="4700016" y="3657600"/>
            <a:ext cx="3154680" cy="329184"/>
          </a:xfrm>
          <a:prstGeom prst="rect">
            <a:avLst/>
          </a:prstGeom>
          <a:noFill/>
        </p:spPr>
        <p:txBody>
          <a:bodyPr wrap="square" lIns="0" rIns="0" tIns="0" bIns="0" anchor="t">
            <a:noAutofit/>
          </a:bodyPr>
          <a:lstStyle/>
          <a:p>
            <a:pPr algn="l">
              <a:spcBef>
                <a:spcPts val="0"/>
              </a:spcBef>
              <a:spcAft>
                <a:spcPts val="400"/>
              </a:spcAft>
              <a:defRPr sz="2100" b="1">
                <a:solidFill>
                  <a:srgbClr val="FFFFFF"/>
                </a:solidFill>
                <a:latin typeface="Arial"/>
              </a:defRPr>
            </a:pPr>
            <a:r>
              <a:t>Route with awareness</a:t>
            </a:r>
          </a:p>
        </p:txBody>
      </p:sp>
      <p:sp>
        <p:nvSpPr>
          <p:cNvPr id="11" name="llm-d adds role-aware / selection and scheduling."/>
          <p:cNvSpPr txBox="1"/>
          <p:nvPr/>
        </p:nvSpPr>
        <p:spPr>
          <a:xfrm>
            <a:off x="4700016" y="4187952"/>
            <a:ext cx="3154680" cy="566928"/>
          </a:xfrm>
          <a:prstGeom prst="rect">
            <a:avLst/>
          </a:prstGeom>
          <a:noFill/>
        </p:spPr>
        <p:txBody>
          <a:bodyPr wrap="square" lIns="0" rIns="0" tIns="0" bIns="0" anchor="t">
            <a:noAutofit/>
          </a:bodyPr>
          <a:lstStyle/>
          <a:p>
            <a:pPr algn="l">
              <a:spcBef>
                <a:spcPts val="0"/>
              </a:spcBef>
              <a:spcAft>
                <a:spcPts val="200"/>
              </a:spcAft>
              <a:defRPr sz="1500" b="0">
                <a:solidFill>
                  <a:srgbClr val="C8D8E7"/>
                </a:solidFill>
                <a:latin typeface="Arial"/>
              </a:defRPr>
            </a:pPr>
            <a:r>
              <a:t>llm-d adds role-aware</a:t>
            </a:r>
          </a:p>
          <a:p>
            <a:pPr algn="l">
              <a:spcBef>
                <a:spcPts val="0"/>
              </a:spcBef>
              <a:spcAft>
                <a:spcPts val="200"/>
              </a:spcAft>
              <a:defRPr sz="1500" b="0">
                <a:solidFill>
                  <a:srgbClr val="C8D8E7"/>
                </a:solidFill>
                <a:latin typeface="Arial"/>
              </a:defRPr>
            </a:pPr>
            <a:r>
              <a:t>selection and scheduling.</a:t>
            </a:r>
          </a:p>
        </p:txBody>
      </p:sp>
      <p:sp>
        <p:nvSpPr>
          <p:cNvPr id="12" name="Panel 11"/>
          <p:cNvSpPr/>
          <p:nvPr/>
        </p:nvSpPr>
        <p:spPr>
          <a:xfrm>
            <a:off x="8339328" y="2971800"/>
            <a:ext cx="3557016" cy="1847088"/>
          </a:xfrm>
          <a:prstGeom prst="roundRect">
            <a:avLst>
              <a:gd name="adj" fmla="val 12000"/>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03"/>
          <p:cNvSpPr/>
          <p:nvPr/>
        </p:nvSpPr>
        <p:spPr>
          <a:xfrm>
            <a:off x="8540496" y="3172968"/>
            <a:ext cx="521207" cy="29260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087F82"/>
                </a:solidFill>
                <a:latin typeface="Arial"/>
              </a:defRPr>
            </a:pPr>
            <a:r>
              <a:t>03</a:t>
            </a:r>
          </a:p>
        </p:txBody>
      </p:sp>
      <p:sp>
        <p:nvSpPr>
          <p:cNvPr id="14" name="Operate declaratively"/>
          <p:cNvSpPr txBox="1"/>
          <p:nvPr/>
        </p:nvSpPr>
        <p:spPr>
          <a:xfrm>
            <a:off x="8540496" y="3657600"/>
            <a:ext cx="3154680" cy="329184"/>
          </a:xfrm>
          <a:prstGeom prst="rect">
            <a:avLst/>
          </a:prstGeom>
          <a:noFill/>
        </p:spPr>
        <p:txBody>
          <a:bodyPr wrap="square" lIns="0" rIns="0" tIns="0" bIns="0" anchor="t">
            <a:noAutofit/>
          </a:bodyPr>
          <a:lstStyle/>
          <a:p>
            <a:pPr algn="l">
              <a:spcBef>
                <a:spcPts val="0"/>
              </a:spcBef>
              <a:spcAft>
                <a:spcPts val="400"/>
              </a:spcAft>
              <a:defRPr sz="2100" b="1">
                <a:solidFill>
                  <a:srgbClr val="FFFFFF"/>
                </a:solidFill>
                <a:latin typeface="Arial"/>
              </a:defRPr>
            </a:pPr>
            <a:r>
              <a:t>Operate declaratively</a:t>
            </a:r>
          </a:p>
        </p:txBody>
      </p:sp>
      <p:sp>
        <p:nvSpPr>
          <p:cNvPr id="15" name="KAITO reconciles topology, / resources and runtime wiring."/>
          <p:cNvSpPr txBox="1"/>
          <p:nvPr/>
        </p:nvSpPr>
        <p:spPr>
          <a:xfrm>
            <a:off x="8540496" y="4187952"/>
            <a:ext cx="3154680" cy="566928"/>
          </a:xfrm>
          <a:prstGeom prst="rect">
            <a:avLst/>
          </a:prstGeom>
          <a:noFill/>
        </p:spPr>
        <p:txBody>
          <a:bodyPr wrap="square" lIns="0" rIns="0" tIns="0" bIns="0" anchor="t">
            <a:noAutofit/>
          </a:bodyPr>
          <a:lstStyle/>
          <a:p>
            <a:pPr algn="l">
              <a:spcBef>
                <a:spcPts val="0"/>
              </a:spcBef>
              <a:spcAft>
                <a:spcPts val="200"/>
              </a:spcAft>
              <a:defRPr sz="1500" b="0">
                <a:solidFill>
                  <a:srgbClr val="C8D8E7"/>
                </a:solidFill>
                <a:latin typeface="Arial"/>
              </a:defRPr>
            </a:pPr>
            <a:r>
              <a:t>KAITO reconciles topology,</a:t>
            </a:r>
          </a:p>
          <a:p>
            <a:pPr algn="l">
              <a:spcBef>
                <a:spcPts val="0"/>
              </a:spcBef>
              <a:spcAft>
                <a:spcPts val="200"/>
              </a:spcAft>
              <a:defRPr sz="1500" b="0">
                <a:solidFill>
                  <a:srgbClr val="C8D8E7"/>
                </a:solidFill>
                <a:latin typeface="Arial"/>
              </a:defRPr>
            </a:pPr>
            <a:r>
              <a:t>resources and runtime wiring.</a:t>
            </a:r>
          </a:p>
        </p:txBody>
      </p:sp>
      <p:sp>
        <p:nvSpPr>
          <p:cNvPr id="16" name="One topology. One endpoint. A repeatable P/D workflow."/>
          <p:cNvSpPr txBox="1"/>
          <p:nvPr/>
        </p:nvSpPr>
        <p:spPr>
          <a:xfrm>
            <a:off x="676656" y="5431536"/>
            <a:ext cx="10789920" cy="429768"/>
          </a:xfrm>
          <a:prstGeom prst="rect">
            <a:avLst/>
          </a:prstGeom>
          <a:noFill/>
        </p:spPr>
        <p:txBody>
          <a:bodyPr wrap="square" lIns="0" rIns="0" tIns="0" bIns="0" anchor="t">
            <a:noAutofit/>
          </a:bodyPr>
          <a:lstStyle/>
          <a:p>
            <a:pPr algn="l">
              <a:spcBef>
                <a:spcPts val="0"/>
              </a:spcBef>
              <a:spcAft>
                <a:spcPts val="400"/>
              </a:spcAft>
              <a:defRPr sz="2400" b="1">
                <a:solidFill>
                  <a:srgbClr val="FFFFFF"/>
                </a:solidFill>
                <a:latin typeface="Arial"/>
              </a:defRPr>
            </a:pPr>
            <a:r>
              <a:t>One topology. One endpoint. A repeatable P/D workflow.</a:t>
            </a:r>
          </a:p>
        </p:txBody>
      </p:sp>
      <p:sp>
        <p:nvSpPr>
          <p:cNvPr id="17"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C8D8E7"/>
                </a:solidFill>
                <a:latin typeface="Arial"/>
              </a:defRPr>
            </a:pPr>
            <a:r>
              <a:t>KAITO + llm-d  /  PREFILL–DECODE DISAGGREGATION</a:t>
            </a:r>
          </a:p>
        </p:txBody>
      </p:sp>
      <p:sp>
        <p:nvSpPr>
          <p:cNvPr id="18" name="12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C8D8E7"/>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KAITO + llm-d | Prefill/Decode Disaggregation</dc:title>
  <dc:subject>Declarative topology, role-aware routing, and direct KV-cache handoff</dc:subject>
  <dc:creator>andyzhangx</dc:creator>
  <cp:keywords>KAITO, llm-d, GWIE, NIXL, prefill, decode, editable diagrams</cp:keywords>
  <dc:description>Diagrams are native, editable PowerPoint shapes and connectors.</dc:description>
  <cp:lastModifiedBy>Steve Canny</cp:lastModifiedBy>
  <cp:revision>1</cp:revision>
  <dcterms:created xsi:type="dcterms:W3CDTF">2013-01-27T09:14:16Z</dcterms:created>
  <dcterms:modified xsi:type="dcterms:W3CDTF">2013-01-27T09:15:58Z</dcterms:modified>
  <cp:category/>
</cp:coreProperties>
</file>