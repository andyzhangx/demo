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128016"/>
            <a:ext cx="4069080" cy="6729984"/>
          </a:xfrm>
          <a:prstGeom prst="rect">
            <a:avLst/>
          </a:prstGeom>
          <a:solidFill>
            <a:srgbClr val="16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841248"/>
            <a:ext cx="89611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KubeCon '26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325880"/>
            <a:ext cx="7040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KAITO + llm-d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901952"/>
            <a:ext cx="731520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 Display"/>
              </a:rPr>
              <a:t>How They Support Prefill/Decode
Disaggregation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" y="3063240"/>
            <a:ext cx="71323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C9D6FF"/>
                </a:solidFill>
                <a:latin typeface="Aptos"/>
              </a:rPr>
              <a:t>A Kubernetes-native story about declarative topology,
role-aware routing, and direct KV-cache handoff.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4663440"/>
            <a:ext cx="512064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Control plane: KAITO
Gateway-facing contract: GWIE
Routing intelligence: llm-d Router
Runtime + KV path: vLLM + NIXL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5715000"/>
            <a:ext cx="1078992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39112" y="5715000"/>
            <a:ext cx="1078992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llm-d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5715000"/>
            <a:ext cx="1078992" cy="40233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5715000"/>
            <a:ext cx="1078992" cy="402336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NIXL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30768" y="914400"/>
            <a:ext cx="29260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Aptos"/>
              </a:rPr>
              <a:t>P/D platform 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50224" y="1719072"/>
            <a:ext cx="2487168" cy="56692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50224" y="2724912"/>
            <a:ext cx="2487168" cy="56692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 + GWIE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50224" y="3730752"/>
            <a:ext cx="2487168" cy="56692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llm-d Router EPP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50224" y="4736592"/>
            <a:ext cx="2487168" cy="56692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vLLM + NIXL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893808" y="2286000"/>
            <a:ext cx="0" cy="438912"/>
          </a:xfrm>
          <a:prstGeom prst="line">
            <a:avLst/>
          </a:prstGeom>
          <a:ln w="381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893808" y="3291840"/>
            <a:ext cx="0" cy="438912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93808" y="4297680"/>
            <a:ext cx="0" cy="438912"/>
          </a:xfrm>
          <a:prstGeom prst="line">
            <a:avLst/>
          </a:prstGeom>
          <a:ln w="3810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the llm-d Router Brings to the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78992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The routing intelligence KAITO builds on for P/D.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65960"/>
            <a:ext cx="2331720" cy="246888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014984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EPP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implementation for the GWIE flow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the runtime hook point for endpoint selection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965960"/>
            <a:ext cx="2331720" cy="246888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3602736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Selection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1024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model-aware and role-aware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select decode and, when needed, prefill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53328" y="1965960"/>
            <a:ext cx="2331720" cy="246888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Plugins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KV-cache-aware logic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P/D-aware scheduling chain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1080" y="1965960"/>
            <a:ext cx="2331720" cy="2468880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787384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Extensibility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5672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future advanced scheduling surface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a substrate KAITO can build 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00400" y="3200400"/>
            <a:ext cx="256032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88152" y="3200400"/>
            <a:ext cx="265176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394192" y="3200400"/>
            <a:ext cx="246888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KAITO is not inventing a new routing brain here. It is building on llm-d Router as the EPP and scheduling substrate.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All Three: KAITO + GWIE + llm-d Router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78992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Three layers, three responsibilities, one usable P/D platform.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1234440" y="1755648"/>
            <a:ext cx="214884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Aptos"/>
              </a:rPr>
              <a:t>control-plane abstraction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47488" y="1755648"/>
            <a:ext cx="20574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gateway-facing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8705088" y="1755648"/>
            <a:ext cx="214884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EA580C"/>
                </a:solidFill>
                <a:latin typeface="Aptos"/>
              </a:rPr>
              <a:t>routing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011680"/>
            <a:ext cx="2926080" cy="233172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declarative abstraction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 orchestration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child resource ownership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platform-facing UX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2011680"/>
            <a:ext cx="2926080" cy="233172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76402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gateway-facing routing contract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InferencePool API model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 integration pattern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Kubernetes-native interface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2011680"/>
            <a:ext cx="2926080" cy="233172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55878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llm-d Router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EPP implementation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endpoint selection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P/D-aware scheduling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routing execution substrate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49039" y="3172968"/>
            <a:ext cx="822961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800" y="3172968"/>
            <a:ext cx="8229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2468880" y="4553712"/>
            <a:ext cx="73152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contract + routing together become a usable platform path only when the controller owns the topology and wiring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llm-d gives the routing brain, GWIE gives the Kubernetes routing contract, and KAITO turns the whole thing into a usable platform workflow.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End-to-End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005840"/>
            <a:ext cx="1065276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This is the anchor architecture slide: one user endpoint, one gateway-facing contract surface, two role-specific backends, and a direct KV path.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572768"/>
            <a:ext cx="10058400" cy="3703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" y="1664208"/>
            <a:ext cx="2011680" cy="2926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0">
                <a:solidFill>
                  <a:srgbClr val="111827"/>
                </a:solidFill>
                <a:latin typeface="Aptos"/>
              </a:rPr>
              <a:t>AKS / Kubernetes cluster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66760" y="1627632"/>
            <a:ext cx="987552" cy="274320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111827"/>
                </a:solidFill>
                <a:latin typeface="Aptos"/>
              </a:rPr>
              <a:t>user traffic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64040" y="1627632"/>
            <a:ext cx="932688" cy="27432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111827"/>
                </a:solidFill>
                <a:latin typeface="Aptos"/>
              </a:rPr>
              <a:t>KV handoff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1901952"/>
            <a:ext cx="1325880" cy="256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111827"/>
                </a:solidFill>
                <a:latin typeface="Aptos"/>
              </a:rPr>
              <a:t>control plane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993392"/>
            <a:ext cx="2057400" cy="438912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0F2747"/>
                </a:solidFill>
                <a:latin typeface="Aptos"/>
              </a:rPr>
              <a:t>KAITO
MultiRoleInference
controller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36392" y="1993392"/>
            <a:ext cx="1600200" cy="438912"/>
          </a:xfrm>
          <a:prstGeom prst="roundRect">
            <a:avLst/>
          </a:prstGeom>
          <a:solidFill>
            <a:srgbClr val="E8FFFB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0F766E"/>
                </a:solidFill>
                <a:latin typeface="Aptos"/>
              </a:rPr>
              <a:t>InferencePool
(GWIE CRD)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01184" y="1993392"/>
            <a:ext cx="2148840" cy="438912"/>
          </a:xfrm>
          <a:prstGeom prst="roundRect">
            <a:avLst/>
          </a:prstGeom>
          <a:solidFill>
            <a:srgbClr val="E8FFFB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0F766E"/>
                </a:solidFill>
                <a:latin typeface="Aptos"/>
              </a:rPr>
              <a:t>Gateway API
Inference Extension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59952" y="1993392"/>
            <a:ext cx="914400" cy="438912"/>
          </a:xfrm>
          <a:prstGeom prst="roundRect">
            <a:avLst/>
          </a:prstGeom>
          <a:solidFill>
            <a:srgbClr val="ECFDF3"/>
          </a:solidFill>
          <a:ln w="1905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9D58"/>
                </a:solidFill>
                <a:latin typeface="Aptos"/>
              </a:rPr>
              <a:t>KEDA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670048"/>
            <a:ext cx="1097280" cy="256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111827"/>
                </a:solidFill>
                <a:latin typeface="Aptos"/>
              </a:rPr>
              <a:t>request path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" y="2907792"/>
            <a:ext cx="91440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Client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21992" y="2907792"/>
            <a:ext cx="114300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Gateway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75887" y="2907792"/>
            <a:ext cx="1508760" cy="566928"/>
          </a:xfrm>
          <a:prstGeom prst="roundRect">
            <a:avLst/>
          </a:prstGeom>
          <a:solidFill>
            <a:srgbClr val="FFF2E8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C2410C"/>
                </a:solidFill>
                <a:latin typeface="Aptos"/>
              </a:rPr>
              <a:t>llm-d Router
EPP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96128" y="2907792"/>
            <a:ext cx="1600200" cy="56692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2747"/>
                </a:solidFill>
                <a:latin typeface="Aptos"/>
              </a:rPr>
              <a:t>Decode sidecar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02752" y="2907792"/>
            <a:ext cx="1645920" cy="56692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2747"/>
                </a:solidFill>
                <a:latin typeface="Aptos"/>
              </a:rPr>
              <a:t>Local decode
vLLM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883664" y="3054096"/>
            <a:ext cx="228600" cy="219456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ight Arrow 22"/>
          <p:cNvSpPr/>
          <p:nvPr/>
        </p:nvSpPr>
        <p:spPr>
          <a:xfrm>
            <a:off x="3410712" y="3054096"/>
            <a:ext cx="228600" cy="219456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ight Arrow 23"/>
          <p:cNvSpPr/>
          <p:nvPr/>
        </p:nvSpPr>
        <p:spPr>
          <a:xfrm>
            <a:off x="5230368" y="3054096"/>
            <a:ext cx="292608" cy="219456"/>
          </a:xfrm>
          <a:prstGeom prst="rightArrow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ight Arrow 24"/>
          <p:cNvSpPr/>
          <p:nvPr/>
        </p:nvSpPr>
        <p:spPr>
          <a:xfrm>
            <a:off x="7516368" y="3054096"/>
            <a:ext cx="384048" cy="219456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687568" y="3822191"/>
            <a:ext cx="1417320" cy="54864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6D28D9"/>
                </a:solidFill>
                <a:latin typeface="Aptos"/>
              </a:rPr>
              <a:t>Prefill
InferenceSet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6163056" y="3529584"/>
            <a:ext cx="237744" cy="256032"/>
          </a:xfrm>
          <a:prstGeom prst="down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138928" y="3584448"/>
            <a:ext cx="1234440" cy="2194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111827"/>
                </a:solidFill>
                <a:latin typeface="Aptos"/>
              </a:rPr>
              <a:t>optional prefill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242048" y="3986784"/>
            <a:ext cx="658368" cy="219456"/>
          </a:xfrm>
          <a:prstGeom prst="rightArrow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7223760" y="3675887"/>
            <a:ext cx="1152144" cy="2194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111827"/>
                </a:solidFill>
                <a:latin typeface="Aptos"/>
              </a:rPr>
              <a:t>NIXL KV handoff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112" y="4645152"/>
            <a:ext cx="452628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Client traffic stays on one stable endpoint.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23560" y="4645152"/>
            <a:ext cx="466344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KV cache moves on a separate direct path between roles.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" y="5623560"/>
            <a:ext cx="10058400" cy="32918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0">
                <a:solidFill>
                  <a:srgbClr val="111827"/>
                </a:solidFill>
                <a:latin typeface="Aptos"/>
              </a:rPr>
              <a:t>KAITO owns topology + wiring, GWIE exposes the gateway-facing contract, and llm-d Router owns the EPP decision loop.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One MultiRoleInference Object Describes the Topology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Users declare intent once; the platform expands it into a runnable P/D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4736592" cy="4251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32688" y="1993392"/>
            <a:ext cx="4389120" cy="3566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nsolas"/>
              </a:rPr>
              <a:t>apiVersion: kaito.sh/v1alpha1
kind: MultiRoleInference
metadata:
  name: qwen-3-8-27b
spec:
  model:
    name: Qwen/Qwen3.8-27B
  roles:
    - type: prefill
      replicas: 1
      instanceType: Standard_NC24ads_A100_v4
    - type: decode
      replicas: 1
      instanceType: Standard_NC80adis_H100_v5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577840" y="3703320"/>
            <a:ext cx="868680" cy="0"/>
          </a:xfrm>
          <a:prstGeom prst="line">
            <a:avLst/>
          </a:prstGeom>
          <a:ln w="508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1920240"/>
            <a:ext cx="1828800" cy="54864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1920240"/>
            <a:ext cx="1828800" cy="54864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5552" y="3072384"/>
            <a:ext cx="1828800" cy="54864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32520" y="2468880"/>
            <a:ext cx="0" cy="603504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9921240" y="2468880"/>
            <a:ext cx="0" cy="1152144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73952" y="4251960"/>
            <a:ext cx="46634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One logical service with role-specific backends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Role-specific scaling intent for prefill and decode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Users describe what they want, not how to wire the stack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The CRD is the product surface. Users express topology intent; controllers own the plumbing.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KAITO Automatically Generates for P/D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1024128"/>
            <a:ext cx="106070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KAITO acts like the control-plane compiler for the topology.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816352"/>
            <a:ext cx="1920240" cy="713232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2747"/>
                </a:solidFill>
                <a:latin typeface="Aptos"/>
              </a:rPr>
              <a:t>MultiRoleInference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57400"/>
            <a:ext cx="1920240" cy="676656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6D28D9"/>
                </a:solidFill>
                <a:latin typeface="Aptos"/>
              </a:rPr>
              <a:t>InferenceSet
(prefill)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977639"/>
            <a:ext cx="1920240" cy="676656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6D28D9"/>
                </a:solidFill>
                <a:latin typeface="Aptos"/>
              </a:rPr>
              <a:t>InferenceSet
(decode)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057400"/>
            <a:ext cx="1691640" cy="676656"/>
          </a:xfrm>
          <a:prstGeom prst="roundRect">
            <a:avLst/>
          </a:prstGeom>
          <a:solidFill>
            <a:srgbClr val="E8FFFB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766E"/>
                </a:solidFill>
                <a:latin typeface="Aptos"/>
              </a:rPr>
              <a:t>InferencePool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880360"/>
            <a:ext cx="2103120" cy="676656"/>
          </a:xfrm>
          <a:prstGeom prst="roundRect">
            <a:avLst/>
          </a:prstGeom>
          <a:solidFill>
            <a:srgbClr val="FFF2E8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C2410C"/>
                </a:solidFill>
                <a:latin typeface="Aptos"/>
              </a:rPr>
              <a:t>llm-d Router
EPP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3977639"/>
            <a:ext cx="2377440" cy="676656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2747"/>
                </a:solidFill>
                <a:latin typeface="Aptos"/>
              </a:rPr>
              <a:t>sidecar
injection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4480560"/>
            <a:ext cx="2103120" cy="676656"/>
          </a:xfrm>
          <a:prstGeom prst="roundRect">
            <a:avLst/>
          </a:prstGeom>
          <a:solidFill>
            <a:srgbClr val="ECFDF3"/>
          </a:solidFill>
          <a:ln w="1905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9D58"/>
                </a:solidFill>
                <a:latin typeface="Aptos"/>
              </a:rPr>
              <a:t>NIXL env wiring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2926080" y="2331720"/>
            <a:ext cx="1097280" cy="256032"/>
          </a:xfrm>
          <a:prstGeom prst="leftArrow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Left Arrow 14"/>
          <p:cNvSpPr/>
          <p:nvPr/>
        </p:nvSpPr>
        <p:spPr>
          <a:xfrm>
            <a:off x="2926080" y="4251960"/>
            <a:ext cx="1097280" cy="256032"/>
          </a:xfrm>
          <a:prstGeom prst="leftArrow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ight Arrow 15"/>
          <p:cNvSpPr/>
          <p:nvPr/>
        </p:nvSpPr>
        <p:spPr>
          <a:xfrm>
            <a:off x="6309360" y="2331720"/>
            <a:ext cx="1234440" cy="256032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ight Arrow 16"/>
          <p:cNvSpPr/>
          <p:nvPr/>
        </p:nvSpPr>
        <p:spPr>
          <a:xfrm>
            <a:off x="6309360" y="3154680"/>
            <a:ext cx="960120" cy="256032"/>
          </a:xfrm>
          <a:prstGeom prst="rightArrow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ight Arrow 17"/>
          <p:cNvSpPr/>
          <p:nvPr/>
        </p:nvSpPr>
        <p:spPr>
          <a:xfrm>
            <a:off x="6309360" y="4251960"/>
            <a:ext cx="731520" cy="256032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Down Arrow 18"/>
          <p:cNvSpPr/>
          <p:nvPr/>
        </p:nvSpPr>
        <p:spPr>
          <a:xfrm>
            <a:off x="5074920" y="3566160"/>
            <a:ext cx="256032" cy="658368"/>
          </a:xfrm>
          <a:prstGeom prst="downArrow">
            <a:avLst/>
          </a:prstGeom>
          <a:solidFill>
            <a:srgbClr val="0F9D58"/>
          </a:solidFill>
          <a:ln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530352" y="5623560"/>
            <a:ext cx="10058400" cy="32918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0">
                <a:solidFill>
                  <a:srgbClr val="111827"/>
                </a:solidFill>
                <a:latin typeface="Aptos"/>
              </a:rPr>
              <a:t>KAITO acts like the control-plane compiler: it expands one topology object into the llm-d-facing resources and wiring P/D needs.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How a P/D Request Actually Executes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One endpoint for the user; multiple coordinated steps underneath.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1581912"/>
            <a:ext cx="1051560" cy="256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111827"/>
                </a:solidFill>
                <a:latin typeface="Aptos"/>
              </a:rPr>
              <a:t>request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828800"/>
            <a:ext cx="91440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111827"/>
                </a:solidFill>
                <a:latin typeface="Aptos"/>
              </a:rPr>
              <a:t>1  Client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19072" y="1828800"/>
            <a:ext cx="1115568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111827"/>
                </a:solidFill>
                <a:latin typeface="Aptos"/>
              </a:rPr>
              <a:t>2  Gateway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828800"/>
            <a:ext cx="141732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111827"/>
                </a:solidFill>
                <a:latin typeface="Aptos"/>
              </a:rPr>
              <a:t>3  InferencePool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56048" y="1828800"/>
            <a:ext cx="1783080" cy="566928"/>
          </a:xfrm>
          <a:prstGeom prst="roundRect">
            <a:avLst/>
          </a:prstGeom>
          <a:solidFill>
            <a:srgbClr val="FFF2E8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C2410C"/>
                </a:solidFill>
                <a:latin typeface="Aptos"/>
              </a:rPr>
              <a:t>4  llm-d Router EPP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88352" y="1828800"/>
            <a:ext cx="1508760" cy="56692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0F2747"/>
                </a:solidFill>
                <a:latin typeface="Aptos"/>
              </a:rPr>
              <a:t>5  Decode sidecar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72600" y="1828800"/>
            <a:ext cx="914400" cy="56692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0F2747"/>
                </a:solidFill>
                <a:latin typeface="Aptos"/>
              </a:rPr>
              <a:t>6  Decode vLLM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481328" y="2011680"/>
            <a:ext cx="182880" cy="201168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ight Arrow 14"/>
          <p:cNvSpPr/>
          <p:nvPr/>
        </p:nvSpPr>
        <p:spPr>
          <a:xfrm>
            <a:off x="2907792" y="2011680"/>
            <a:ext cx="219456" cy="201168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ight Arrow 15"/>
          <p:cNvSpPr/>
          <p:nvPr/>
        </p:nvSpPr>
        <p:spPr>
          <a:xfrm>
            <a:off x="4645152" y="2011680"/>
            <a:ext cx="256032" cy="201168"/>
          </a:xfrm>
          <a:prstGeom prst="rightArrow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ight Arrow 16"/>
          <p:cNvSpPr/>
          <p:nvPr/>
        </p:nvSpPr>
        <p:spPr>
          <a:xfrm>
            <a:off x="6858000" y="2011680"/>
            <a:ext cx="384048" cy="201168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ight Arrow 17"/>
          <p:cNvSpPr/>
          <p:nvPr/>
        </p:nvSpPr>
        <p:spPr>
          <a:xfrm>
            <a:off x="8961120" y="2011680"/>
            <a:ext cx="310896" cy="201168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5513832" y="2542032"/>
            <a:ext cx="1051560" cy="256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111827"/>
                </a:solidFill>
                <a:latin typeface="Aptos"/>
              </a:rPr>
              <a:t>prefill path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0" y="2816352"/>
            <a:ext cx="1417320" cy="585216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6D28D9"/>
                </a:solidFill>
                <a:latin typeface="Aptos"/>
              </a:rPr>
              <a:t>Prefill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6053328" y="2404872"/>
            <a:ext cx="237744" cy="329184"/>
          </a:xfrm>
          <a:prstGeom prst="downArrow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269480" y="2542032"/>
            <a:ext cx="896112" cy="256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111827"/>
                </a:solidFill>
                <a:latin typeface="Aptos"/>
              </a:rPr>
              <a:t>KV path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040880" y="3017520"/>
            <a:ext cx="786384" cy="219456"/>
          </a:xfrm>
          <a:prstGeom prst="rightArrow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6967728" y="3310128"/>
            <a:ext cx="1115568" cy="2194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111827"/>
                </a:solidFill>
                <a:latin typeface="Aptos"/>
              </a:rPr>
              <a:t>KV handoff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49039"/>
            <a:ext cx="589788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3840480"/>
            <a:ext cx="5623560" cy="1005840"/>
          </a:xfrm>
          <a:prstGeom prst="rect">
            <a:avLst/>
          </a:prstGeom>
          <a:noFill/>
        </p:spPr>
        <p:txBody>
          <a:bodyPr wrap="square" lIns="54864" rIns="36576" tIns="36576" bIns="36576" anchor="t">
            <a:spAutoFit/>
          </a:bodyPr>
          <a:lstStyle/>
          <a:p>
            <a:pPr algn="l"/>
            <a:r>
              <a:rPr sz="1600">
                <a:solidFill>
                  <a:srgbClr val="111827"/>
                </a:solidFill>
                <a:latin typeface="Aptos"/>
              </a:rPr>
              <a:t>• Gateway / HTTPRoute forwards the user request to the model's InferencePool.</a:t>
            </a:r>
          </a:p>
          <a:p>
            <a:pPr algn="l"/>
            <a:r>
              <a:rPr sz="1600">
                <a:solidFill>
                  <a:srgbClr val="111827"/>
                </a:solidFill>
                <a:latin typeface="Aptos"/>
              </a:rPr>
              <a:t>• llm-d Router EPP decides whether prefill is needed and picks the role-specific backends.</a:t>
            </a:r>
          </a:p>
          <a:p>
            <a:pPr algn="l"/>
            <a:r>
              <a:rPr sz="1600">
                <a:solidFill>
                  <a:srgbClr val="111827"/>
                </a:solidFill>
                <a:latin typeface="Aptos"/>
              </a:rPr>
              <a:t>• Decode remains the coordination point; the client still sees one endpoint.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03720" y="3730752"/>
            <a:ext cx="3401568" cy="1261872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840480"/>
            <a:ext cx="3108960" cy="969264"/>
          </a:xfrm>
          <a:prstGeom prst="rect">
            <a:avLst/>
          </a:prstGeom>
          <a:noFill/>
        </p:spPr>
        <p:txBody>
          <a:bodyPr wrap="square" lIns="54864" rIns="36576" tIns="36576" bIns="36576" anchor="t">
            <a:spAutoFit/>
          </a:bodyPr>
          <a:lstStyle/>
          <a:p>
            <a:pPr algn="l"/>
            <a:r>
              <a:rPr sz="1600">
                <a:solidFill>
                  <a:srgbClr val="0F2747"/>
                </a:solidFill>
                <a:latin typeface="Aptos"/>
              </a:rPr>
              <a:t>• Prefill is conditional, not mandatory.</a:t>
            </a:r>
          </a:p>
          <a:p>
            <a:pPr algn="l"/>
            <a:r>
              <a:rPr sz="1600">
                <a:solidFill>
                  <a:srgbClr val="0F2747"/>
                </a:solidFill>
                <a:latin typeface="Aptos"/>
              </a:rPr>
              <a:t>• KV transfer bridges prefill and decode.</a:t>
            </a:r>
          </a:p>
          <a:p>
            <a:pPr algn="l"/>
            <a:r>
              <a:rPr sz="1600">
                <a:solidFill>
                  <a:srgbClr val="0F2747"/>
                </a:solidFill>
                <a:latin typeface="Aptos"/>
              </a:rPr>
              <a:t>• Response streaming returns through the decode path.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352" y="5623560"/>
            <a:ext cx="10058400" cy="32918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0">
                <a:solidFill>
                  <a:srgbClr val="111827"/>
                </a:solidFill>
                <a:latin typeface="Aptos"/>
              </a:rPr>
              <a:t>GWIE carries the gateway-facing contract, llm-d Router makes the routing decision, and the platform coordinates prefill placement, KV movement, and decode execution.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the Routing Sidecar Lives on Decode Pods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Sidecar placement is an execution design choice, not an incidental implementation detail.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19072"/>
            <a:ext cx="388620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847088"/>
            <a:ext cx="3611880" cy="2560320"/>
          </a:xfrm>
          <a:prstGeom prst="rect">
            <a:avLst/>
          </a:prstGeom>
          <a:noFill/>
        </p:spPr>
        <p:txBody>
          <a:bodyPr wrap="square" lIns="54864" rIns="36576" tIns="36576" bIns="36576" anchor="t">
            <a:spAutoFit/>
          </a:bodyPr>
          <a:lstStyle/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Decode pods are the final response point for user traffic.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The routing sidecar receives the EPP decision, coordinates prefill, waits for KV handoff, then forwards to local vLLM.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This keeps the external routing contract stable while hiding the internal P/D choreography behind one decode endpoint.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1572768"/>
            <a:ext cx="4572000" cy="36576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755648"/>
            <a:ext cx="1554480" cy="31089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0">
                <a:solidFill>
                  <a:srgbClr val="111827"/>
                </a:solidFill>
                <a:latin typeface="Aptos"/>
              </a:rPr>
              <a:t>Decode Pod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377440"/>
            <a:ext cx="3474720" cy="804672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2747"/>
                </a:solidFill>
                <a:latin typeface="Aptos"/>
              </a:rPr>
              <a:t>Routing sidecar
port 5000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94760"/>
            <a:ext cx="3474720" cy="804672"/>
          </a:xfrm>
          <a:prstGeom prst="roundRect">
            <a:avLst/>
          </a:prstGeom>
          <a:solidFill>
            <a:srgbClr val="E8FFFB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766E"/>
                </a:solidFill>
                <a:latin typeface="Aptos"/>
              </a:rPr>
              <a:t>Local decode vLLM
port 5001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7754112" y="3246120"/>
            <a:ext cx="310896" cy="384048"/>
          </a:xfrm>
          <a:prstGeom prst="down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7315200" y="3493008"/>
            <a:ext cx="1261872" cy="2194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111827"/>
                </a:solidFill>
                <a:latin typeface="Aptos"/>
              </a:rPr>
              <a:t>proxy to local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83480" y="2670048"/>
            <a:ext cx="548640" cy="219456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709160" y="2331720"/>
            <a:ext cx="914400" cy="256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111827"/>
                </a:solidFill>
                <a:latin typeface="Aptos"/>
              </a:rPr>
              <a:t>from EPP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9235440" y="1938528"/>
            <a:ext cx="292608" cy="310896"/>
          </a:xfrm>
          <a:prstGeom prst="downArrow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8641080" y="1664208"/>
            <a:ext cx="1170432" cy="256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111827"/>
                </a:solidFill>
                <a:latin typeface="Aptos"/>
              </a:rPr>
              <a:t>KV handoff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4754880"/>
            <a:ext cx="393192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0">
                <a:solidFill>
                  <a:srgbClr val="111827"/>
                </a:solidFill>
                <a:latin typeface="Aptos"/>
              </a:rPr>
              <a:t>decode pod = coordination point + final response point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0352" y="5623560"/>
            <a:ext cx="10058400" cy="32918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0">
                <a:solidFill>
                  <a:srgbClr val="111827"/>
                </a:solidFill>
                <a:latin typeface="Aptos"/>
              </a:rPr>
              <a:t>Decode-side sidecar placement makes the decode pod the execution coordinator without changing the user-facing endpoint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The Runtime Contracts That Make P/D Actually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Most real failures here are contract bugs, not model bugs.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55648"/>
            <a:ext cx="214884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Contract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755648"/>
            <a:ext cx="109728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Prefill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7640" y="1755648"/>
            <a:ext cx="109728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Decode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755648"/>
            <a:ext cx="443484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Why it matters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94560"/>
            <a:ext cx="2148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Routing sidecar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360" y="2194560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7640" y="2194560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Yes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2194560"/>
            <a:ext cx="4434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Decode is the coordination 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633472"/>
            <a:ext cx="2148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vLLM port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2633472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5000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7640" y="2633472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5001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2633472"/>
            <a:ext cx="4434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Avoid sidecar ↔ local vLLM collision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072384"/>
            <a:ext cx="2148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Sidecar ingress port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0360" y="3072384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N/A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7640" y="3072384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5000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3072384"/>
            <a:ext cx="4434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Gives decode a stable external entry point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511296"/>
            <a:ext cx="2148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Role label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3511296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prefill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77640" y="3511296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decode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3511296"/>
            <a:ext cx="4434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EPP filters workers by role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950208"/>
            <a:ext cx="2148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NIXL side-channel host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360" y="3950208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Pod 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40" y="3950208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Pod IP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74920" y="3950208"/>
            <a:ext cx="4434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KV handoff must advertise a reachable address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389120"/>
            <a:ext cx="2148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InferencePool targetPort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4389120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Shared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77640" y="4389120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Shared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4920" y="4389120"/>
            <a:ext cx="4434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Gateway/EPP expect consistent routing semantics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4736592"/>
            <a:ext cx="10332720" cy="91440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ctr"/>
            <a:r>
              <a:rPr sz="1700">
                <a:solidFill>
                  <a:srgbClr val="111827"/>
                </a:solidFill>
                <a:latin typeface="Aptos"/>
              </a:rPr>
              <a:t>• Contracts must be controller-enforced</a:t>
            </a:r>
          </a:p>
          <a:p>
            <a:r>
              <a:rPr sz="1700">
                <a:solidFill>
                  <a:srgbClr val="111827"/>
                </a:solidFill>
                <a:latin typeface="Aptos"/>
              </a:rPr>
              <a:t>• Labels are functional metadata, not decoration</a:t>
            </a:r>
          </a:p>
          <a:p>
            <a:r>
              <a:rPr sz="1700">
                <a:solidFill>
                  <a:srgbClr val="111827"/>
                </a:solidFill>
                <a:latin typeface="Aptos"/>
              </a:rPr>
              <a:t>• targetPort is part of the serving contract</a:t>
            </a:r>
          </a:p>
          <a:p>
            <a:r>
              <a:rPr sz="1700">
                <a:solidFill>
                  <a:srgbClr val="111827"/>
                </a:solidFill>
                <a:latin typeface="Aptos"/>
              </a:rPr>
              <a:t>• Pod IP / env wiring must be automatic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If these contracts are not enforced by the controller, users debug infrastructure wiring as if it were model behavior.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Does Not Replace llm-d — It Operationalizes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The two projects solve different layers of the same problem.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27632"/>
            <a:ext cx="3886200" cy="420624"/>
          </a:xfrm>
          <a:prstGeom prst="roundRect">
            <a:avLst/>
          </a:prstGeom>
          <a:solidFill>
            <a:srgbClr val="FFF2E8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C2410C"/>
                </a:solidFill>
                <a:latin typeface="Aptos"/>
              </a:rPr>
              <a:t>llm-d Router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79792" y="1627632"/>
            <a:ext cx="2834640" cy="420624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2747"/>
                </a:solidFill>
                <a:latin typeface="Aptos"/>
              </a:rPr>
              <a:t>KAITO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01768" y="1755648"/>
            <a:ext cx="1783080" cy="2194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111827"/>
                </a:solidFill>
                <a:latin typeface="Aptos"/>
              </a:rPr>
              <a:t>complementary layers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240280"/>
            <a:ext cx="3794760" cy="4023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EPP implementation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2240280"/>
            <a:ext cx="3017520" cy="4023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CRD abstraction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83480" y="2340864"/>
            <a:ext cx="1280160" cy="182880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68680" y="2807208"/>
            <a:ext cx="3794760" cy="4023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endpoint picking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2807208"/>
            <a:ext cx="3017520" cy="4023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child resource generation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83480" y="2907792"/>
            <a:ext cx="1280160" cy="182880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68680" y="3374136"/>
            <a:ext cx="3794760" cy="4023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scheduling profiles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3374136"/>
            <a:ext cx="3017520" cy="4023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lifecycle orchestration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983480" y="3474720"/>
            <a:ext cx="1280160" cy="182880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868680" y="3941064"/>
            <a:ext cx="3794760" cy="4023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P/D-aware plugins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3941064"/>
            <a:ext cx="3017520" cy="4023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Kubernetes-native UX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983480" y="4041648"/>
            <a:ext cx="1280160" cy="182880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868680" y="4507992"/>
            <a:ext cx="3794760" cy="4023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routing execution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60920" y="4507992"/>
            <a:ext cx="3017520" cy="4023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integration with InferenceSet / autoscaling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983480" y="4608576"/>
            <a:ext cx="1280160" cy="182880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68680" y="5074920"/>
            <a:ext cx="3794760" cy="4023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future scheduling surface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5074920"/>
            <a:ext cx="3017520" cy="4023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future topology APIs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4983480" y="5175504"/>
            <a:ext cx="1280160" cy="182880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30352" y="5623560"/>
            <a:ext cx="10058400" cy="32918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0">
                <a:solidFill>
                  <a:srgbClr val="111827"/>
                </a:solidFill>
                <a:latin typeface="Aptos"/>
              </a:rPr>
              <a:t>This is not KAITO vs. llm-d. KAITO builds on llm-d and turns it into a cleaner Kubernetes workflow.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Users Manage vs. What the Platform Manages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P/D becomes usable when the ownership boundary is clean.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" y="1627632"/>
            <a:ext cx="4389120" cy="4206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111827"/>
                </a:solidFill>
                <a:latin typeface="Aptos"/>
              </a:rPr>
              <a:t>User intent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19088" y="1627632"/>
            <a:ext cx="3913632" cy="4206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111827"/>
                </a:solidFill>
                <a:latin typeface="Aptos"/>
              </a:rPr>
              <a:t>Platform-managed plumbing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76272"/>
            <a:ext cx="4407408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176272"/>
            <a:ext cx="393192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59152"/>
            <a:ext cx="4096512" cy="2468880"/>
          </a:xfrm>
          <a:prstGeom prst="rect">
            <a:avLst/>
          </a:prstGeom>
          <a:noFill/>
        </p:spPr>
        <p:txBody>
          <a:bodyPr wrap="square" lIns="54864" rIns="36576" tIns="36576" bIns="36576" anchor="t">
            <a:spAutoFit/>
          </a:bodyPr>
          <a:lstStyle/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model choice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prefill / decode role definitions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replica intent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instance types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autoscaling intent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policy-level topology decisions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359152"/>
            <a:ext cx="3639312" cy="2542032"/>
          </a:xfrm>
          <a:prstGeom prst="rect">
            <a:avLst/>
          </a:prstGeom>
          <a:noFill/>
        </p:spPr>
        <p:txBody>
          <a:bodyPr wrap="square" lIns="54864" rIns="36576" tIns="36576" bIns="36576" anchor="t">
            <a:spAutoFit/>
          </a:bodyPr>
          <a:lstStyle/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child InferenceSets and InferencePool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llm-d Router EPP resources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sidecar injection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labels / services / targetPorts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env wiring for NIXL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ownership references and request-path correctness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per-role wiring consistency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456432"/>
            <a:ext cx="566928" cy="256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111827"/>
                </a:solidFill>
                <a:latin typeface="Aptos"/>
              </a:rPr>
              <a:t>boundary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257800" y="3566160"/>
            <a:ext cx="1051560" cy="219456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30352" y="5623560"/>
            <a:ext cx="10058400" cy="32918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0">
                <a:solidFill>
                  <a:srgbClr val="111827"/>
                </a:solidFill>
                <a:latin typeface="Aptos"/>
              </a:rPr>
              <a:t>The platform value is not fewer YAML files. The platform value is a cleaner operational ownership boundary.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024128"/>
            <a:ext cx="103327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Why This Matters Operationally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34440" y="2011680"/>
            <a:ext cx="9738360" cy="2514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Aptos"/>
              </a:rPr>
              <a:t>• P/D is useful because prefill and decode have different resource profiles.
• llm-d is useful because routing and scheduling need role awareness.
• KAITO is useful because platform teams need a Kubernetes-native control-plane abstraction.
• Together they turn P/D from a manual stack into a repeatable platform workflow.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53312" y="5166360"/>
            <a:ext cx="9464040" cy="6217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KAITO turns llm-d-style prefill/decode disaggregation from a manual routing stack into a declarative Kubernetes workflow.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