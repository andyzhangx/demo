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svg" ContentType="image/svg+xml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slide-04-end-to-end-architecture.svg" /></Relationships>
</file>

<file path=ppt/slides/_rels/slide5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slide-05-multiroleinference-topology.svg" /></Relationships>
</file>

<file path=ppt/slides/_rels/slide6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slide-06-kaito-generated-resources.svg" /></Relationships>
</file>

<file path=ppt/slides/_rels/slide7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slide-07-request-execution-flow.svg" /></Relationships>
</file>

<file path=ppt/slides/_rels/slide8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slide-08-decode-sidecar-placement.svg" /></Relationships>
</file>

<file path=ppt/slides/_rels/slide9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slide-09-runtime-contracts.svg" /></Relationships>
</file>

<file path=ppt/slides/_rels/slide10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slide-10-kaito-vs-llmd.svg" /></Relationships>
</file>

<file path=ppt/slides/_rels/slide11.xml.rels><?xml version='1.0' encoding='utf-8'?>
<Relationships xmlns="http://schemas.openxmlformats.org/package/2006/relationships"><Relationship Id="rId1" Type="http://schemas.openxmlformats.org/officeDocument/2006/relationships/slideLayout" Target="../slideLayouts/slideLayout7.xml" /><Relationship Id="rId2" Type="http://schemas.openxmlformats.org/officeDocument/2006/relationships/image" Target="../media/slide-11-ownership-boundary.svg" 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38160" y="128016"/>
            <a:ext cx="4069080" cy="6729984"/>
          </a:xfrm>
          <a:prstGeom prst="rect">
            <a:avLst/>
          </a:prstGeom>
          <a:solidFill>
            <a:srgbClr val="1620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08" y="841248"/>
            <a:ext cx="896112" cy="38404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200" b="1">
                <a:solidFill>
                  <a:srgbClr val="0F172A"/>
                </a:solidFill>
                <a:latin typeface="Aptos"/>
              </a:rPr>
              <a:t>KubeCon '26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325880"/>
            <a:ext cx="704088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ptos Display"/>
              </a:rPr>
              <a:t>KAITO + llm-d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901952"/>
            <a:ext cx="7315200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How They Support Prefill/Decode
Disaggregation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786384" y="3063240"/>
            <a:ext cx="7132320" cy="7498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0">
                <a:solidFill>
                  <a:srgbClr val="C9D6FF"/>
                </a:solidFill>
                <a:latin typeface="Aptos"/>
              </a:rPr>
              <a:t>A Kubernetes-native story about declarative topology,
role-aware routing, and direct KV-cache handoff.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" y="4663440"/>
            <a:ext cx="5120640" cy="9601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Aptos"/>
              </a:rPr>
              <a:t>Control plane: KAITO
Gateway-facing contract: GWIE
Routing intelligence: llm-d Router
Runtime + KV path: vLLM + NIXL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5715000"/>
            <a:ext cx="1078992" cy="402336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KAITO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039112" y="5715000"/>
            <a:ext cx="1078992" cy="402336"/>
          </a:xfrm>
          <a:prstGeom prst="roundRect">
            <a:avLst/>
          </a:prstGeom>
          <a:solidFill>
            <a:srgbClr val="FFEDD5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llm-d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73552" y="5715000"/>
            <a:ext cx="1078992" cy="402336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GWIE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07992" y="5715000"/>
            <a:ext cx="1078992" cy="402336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300" b="1">
                <a:solidFill>
                  <a:srgbClr val="0F172A"/>
                </a:solidFill>
                <a:latin typeface="Aptos"/>
              </a:rPr>
              <a:t>NIXL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914400"/>
            <a:ext cx="2926080" cy="4114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ptos"/>
              </a:rPr>
              <a:t>P/D platform stack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50224" y="1719072"/>
            <a:ext cx="2487168" cy="566928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MultiRoleInference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50224" y="2724912"/>
            <a:ext cx="2487168" cy="566928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InferencePool + GWIE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50224" y="3730752"/>
            <a:ext cx="2487168" cy="566928"/>
          </a:xfrm>
          <a:prstGeom prst="roundRect">
            <a:avLst/>
          </a:prstGeom>
          <a:solidFill>
            <a:srgbClr val="FFEDD5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llm-d Router EPP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0224" y="4736592"/>
            <a:ext cx="2487168" cy="566928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vLLM + NIXL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893808" y="2286000"/>
            <a:ext cx="0" cy="438912"/>
          </a:xfrm>
          <a:prstGeom prst="line">
            <a:avLst/>
          </a:prstGeom>
          <a:ln w="381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893808" y="3291840"/>
            <a:ext cx="0" cy="438912"/>
          </a:xfrm>
          <a:prstGeom prst="line">
            <a:avLst/>
          </a:prstGeom>
          <a:ln w="381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893808" y="4297680"/>
            <a:ext cx="0" cy="438912"/>
          </a:xfrm>
          <a:prstGeom prst="line">
            <a:avLst/>
          </a:prstGeom>
          <a:ln w="381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What the llm-d Router Brings to the 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78992"/>
            <a:ext cx="10698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The routing intelligence KAITO builds on for P/D.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965960"/>
            <a:ext cx="2331720" cy="2468880"/>
          </a:xfrm>
          <a:prstGeom prst="roundRect">
            <a:avLst/>
          </a:prstGeom>
          <a:solidFill>
            <a:srgbClr val="FFEDD5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014984" y="2075688"/>
            <a:ext cx="203911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EPP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2478024"/>
            <a:ext cx="2002536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implementation for the GWIE flow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the runtime hook point for endpoint selection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965960"/>
            <a:ext cx="2331720" cy="246888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3602736" y="2075688"/>
            <a:ext cx="203911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Selection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21024" y="2478024"/>
            <a:ext cx="2002536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model-aware and role-aware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select decode and, when needed, prefill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53328" y="1965960"/>
            <a:ext cx="2331720" cy="246888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6199632" y="2075688"/>
            <a:ext cx="203911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Plugins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78024"/>
            <a:ext cx="2002536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KV-cache-aware logic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P/D-aware scheduling chain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965960"/>
            <a:ext cx="2331720" cy="2468880"/>
          </a:xfrm>
          <a:prstGeom prst="roundRect">
            <a:avLst/>
          </a:prstGeom>
          <a:solidFill>
            <a:srgbClr val="EDE9FE"/>
          </a:solidFill>
          <a:ln w="1397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787384" y="2075688"/>
            <a:ext cx="203911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Extensibility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2478024"/>
            <a:ext cx="2002536" cy="1847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future advanced scheduling surface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a substrate KAITO can build 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0400" y="3200400"/>
            <a:ext cx="256032" cy="0"/>
          </a:xfrm>
          <a:prstGeom prst="line">
            <a:avLst/>
          </a:prstGeom>
          <a:ln w="355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788152" y="3200400"/>
            <a:ext cx="265176" cy="0"/>
          </a:xfrm>
          <a:prstGeom prst="line">
            <a:avLst/>
          </a:prstGeom>
          <a:ln w="355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8394192" y="3200400"/>
            <a:ext cx="246888" cy="0"/>
          </a:xfrm>
          <a:prstGeom prst="line">
            <a:avLst/>
          </a:prstGeom>
          <a:ln w="355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594360" y="6144768"/>
            <a:ext cx="10972800" cy="36576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Aptos"/>
              </a:rPr>
              <a:t>KAITO is not inventing a new routing brain here. It is building on llm-d Router as the EPP and scheduling substrate.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Why All Three: KAITO + GWIE + llm-d Router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078992"/>
            <a:ext cx="1069848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Aptos"/>
              </a:rPr>
              <a:t>Three layers, three responsibilities, one usable P/D platform.</a:t>
            </a:r>
          </a:p>
        </p:txBody>
      </p:sp>
      <p:sp>
        <p:nvSpPr>
          <p:cNvPr id="7" name="Rectangle 6"/>
          <p:cNvSpPr/>
          <p:nvPr/>
        </p:nvSpPr>
        <p:spPr>
          <a:xfrm>
            <a:off x="1234440" y="1755648"/>
            <a:ext cx="214884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200" b="1">
                <a:solidFill>
                  <a:srgbClr val="2563EB"/>
                </a:solidFill>
                <a:latin typeface="Aptos"/>
              </a:rPr>
              <a:t>control-plane abstraction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7488" y="1755648"/>
            <a:ext cx="205740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200" b="1">
                <a:solidFill>
                  <a:srgbClr val="16A34A"/>
                </a:solidFill>
                <a:latin typeface="Aptos"/>
              </a:rPr>
              <a:t>gateway-facing 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8705088" y="1755648"/>
            <a:ext cx="2148840" cy="2926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200" b="1">
                <a:solidFill>
                  <a:srgbClr val="EA580C"/>
                </a:solidFill>
                <a:latin typeface="Aptos"/>
              </a:rPr>
              <a:t>routing intelligence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11680"/>
            <a:ext cx="2926080" cy="2331720"/>
          </a:xfrm>
          <a:prstGeom prst="roundRect">
            <a:avLst/>
          </a:prstGeom>
          <a:solidFill>
            <a:srgbClr val="DBEAFE"/>
          </a:solidFill>
          <a:ln w="1397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11" name="Rectangle 10"/>
          <p:cNvSpPr/>
          <p:nvPr/>
        </p:nvSpPr>
        <p:spPr>
          <a:xfrm>
            <a:off x="969264" y="2121408"/>
            <a:ext cx="263347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KAITO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23744"/>
            <a:ext cx="2596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declarative abstraction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Kubernetes orchestration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child resource ownership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platform-facing UX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17720" y="2011680"/>
            <a:ext cx="2926080" cy="2331720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14" name="Rectangle 13"/>
          <p:cNvSpPr/>
          <p:nvPr/>
        </p:nvSpPr>
        <p:spPr>
          <a:xfrm>
            <a:off x="4764024" y="2121408"/>
            <a:ext cx="263347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GWIE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2312" y="2523744"/>
            <a:ext cx="2596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gateway-facing routing contract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InferencePool API model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gateway integration pattern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Kubernetes-native interface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2011680"/>
            <a:ext cx="2926080" cy="2331720"/>
          </a:xfrm>
          <a:prstGeom prst="roundRect">
            <a:avLst/>
          </a:prstGeom>
          <a:solidFill>
            <a:srgbClr val="FFEDD5"/>
          </a:solidFill>
          <a:ln w="1397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0">
                <a:solidFill>
                  <a:srgbClr val="0F172A"/>
                </a:solidFill>
                <a:latin typeface="Aptos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558784" y="2121408"/>
            <a:ext cx="2633472" cy="3291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1800" b="1">
                <a:solidFill>
                  <a:srgbClr val="0F172A"/>
                </a:solidFill>
                <a:latin typeface="Aptos"/>
              </a:rPr>
              <a:t>llm-d Router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77072" y="2523744"/>
            <a:ext cx="2596896" cy="1709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EPP implementation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endpoint selection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P/D-aware scheduling</a:t>
            </a:r>
          </a:p>
          <a:p>
            <a:pPr>
              <a:spcAft>
                <a:spcPts val="500"/>
              </a:spcAft>
              <a:defRPr sz="1400">
                <a:solidFill>
                  <a:srgbClr val="334155"/>
                </a:solidFill>
              </a:defRPr>
            </a:pPr>
            <a:r>
              <a:t>routing execution substrate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749039" y="3172968"/>
            <a:ext cx="822961" cy="0"/>
          </a:xfrm>
          <a:prstGeom prst="line">
            <a:avLst/>
          </a:prstGeom>
          <a:ln w="381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7543800" y="3172968"/>
            <a:ext cx="822960" cy="0"/>
          </a:xfrm>
          <a:prstGeom prst="line">
            <a:avLst/>
          </a:prstGeom>
          <a:ln w="38100">
            <a:solidFill>
              <a:srgbClr val="6D28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2468880" y="4553712"/>
            <a:ext cx="7315200" cy="310896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300" b="1">
                <a:solidFill>
                  <a:srgbClr val="64748B"/>
                </a:solidFill>
                <a:latin typeface="Aptos"/>
              </a:rPr>
              <a:t>contract + routing together become a usable platform path only when the controller owns the topology and wiring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6144768"/>
            <a:ext cx="10972800" cy="365760"/>
          </a:xfrm>
          <a:prstGeom prst="roundRect">
            <a:avLst/>
          </a:prstGeom>
          <a:solidFill>
            <a:srgbClr val="F1F5F9"/>
          </a:solidFill>
          <a:ln w="1397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300" b="0">
                <a:solidFill>
                  <a:srgbClr val="0F172A"/>
                </a:solidFill>
                <a:latin typeface="Aptos"/>
              </a:rPr>
              <a:t>llm-d gives the routing brain, GWIE gives the Kubernetes routing contract, and KAITO turns the whole thing into a usable platform workflow.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End-to-End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6384" y="1005840"/>
            <a:ext cx="1065276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This is the anchor architecture slide: one user endpoint, one gateway-facing contract surface, two role-specific backends, and a direct KV path.</a:t>
            </a:r>
          </a:p>
        </p:txBody>
      </p:sp>
      <p:pic>
        <p:nvPicPr>
          <p:cNvPr id="7" name="Picture 6" descr="slide-04-end-to-end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20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One MultiRoleInference Object Describes the Topology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024128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Users declare intent once; the platform expands it into a runnable P/D system.</a:t>
            </a:r>
          </a:p>
        </p:txBody>
      </p:sp>
      <p:pic>
        <p:nvPicPr>
          <p:cNvPr id="7" name="Picture 6" descr="slide-05-multiroleinference-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21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What KAITO Automatically Generates for P/D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" y="1024128"/>
            <a:ext cx="1060704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KAITO acts like the control-plane compiler for the topology.</a:t>
            </a:r>
          </a:p>
        </p:txBody>
      </p:sp>
      <p:pic>
        <p:nvPicPr>
          <p:cNvPr id="7" name="Picture 6" descr="slide-06-kaito-generated-resourc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22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How a P/D Request Actually Executes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024128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One endpoint for the user; multiple coordinated steps underneath.</a:t>
            </a:r>
          </a:p>
        </p:txBody>
      </p:sp>
      <p:pic>
        <p:nvPicPr>
          <p:cNvPr id="7" name="Picture 6" descr="slide-07-request-execut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Why the Routing Sidecar Lives on Decode Pods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024128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Sidecar placement is an execution design choice, not an incidental implementation detail.</a:t>
            </a:r>
          </a:p>
        </p:txBody>
      </p:sp>
      <p:pic>
        <p:nvPicPr>
          <p:cNvPr id="7" name="Picture 6" descr="slide-08-decode-sidecar-plac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24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The Runtime Contracts That Make P/D Actually 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024128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Most real failures here are contract bugs, not model bugs.</a:t>
            </a:r>
          </a:p>
        </p:txBody>
      </p:sp>
      <p:pic>
        <p:nvPicPr>
          <p:cNvPr id="7" name="Picture 6" descr="slide-09-runtime-contra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KAITO Does Not Replace llm-d — It Operationalizes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024128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The two projects solve different layers of the same problem.</a:t>
            </a:r>
          </a:p>
        </p:txBody>
      </p:sp>
      <p:pic>
        <p:nvPicPr>
          <p:cNvPr id="7" name="Picture 6" descr="slide-10-kaito-vs-llm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8096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0"/>
            <a:ext cx="12191695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164592"/>
            <a:ext cx="5669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Aptos"/>
              </a:rPr>
              <a:t>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024128" y="109728"/>
            <a:ext cx="10424160" cy="38404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 Display"/>
              </a:rPr>
              <a:t>What Users Manage vs. What the Platform Manages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" y="1024128"/>
            <a:ext cx="10698480" cy="502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Aptos"/>
              </a:rPr>
              <a:t>P/D becomes usable when the ownership boundary is clean.</a:t>
            </a:r>
          </a:p>
        </p:txBody>
      </p:sp>
      <p:pic>
        <p:nvPicPr>
          <p:cNvPr id="7" name="Picture 6" descr="slide-11-ownership-bound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572768"/>
            <a:ext cx="10058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1024128"/>
            <a:ext cx="10332720" cy="74980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 Display"/>
              </a:rPr>
              <a:t>Why This Matters Operationally</a:t>
            </a:r>
          </a:p>
        </p:txBody>
      </p:sp>
      <p:sp>
        <p:nvSpPr>
          <p:cNvPr id="3" name="Rectangle 2"/>
          <p:cNvSpPr/>
          <p:nvPr/>
        </p:nvSpPr>
        <p:spPr>
          <a:xfrm>
            <a:off x="1234440" y="2011680"/>
            <a:ext cx="9738360" cy="25146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l"/>
            <a:r>
              <a:rPr sz="2100" b="0">
                <a:solidFill>
                  <a:srgbClr val="FFFFFF"/>
                </a:solidFill>
                <a:latin typeface="Aptos"/>
              </a:rPr>
              <a:t>• P/D is useful because prefill and decode have different resource profiles.
• llm-d is useful because routing and scheduling need role awareness.
• KAITO is useful because platform teams need a Kubernetes-native control-plane abstraction.
• Together they turn P/D from a manual stack into a repeatable platform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53312" y="5166360"/>
            <a:ext cx="9464040" cy="62179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>
            <a:noAutofit/>
          </a:bodyPr>
          <a:lstStyle/>
          <a:p>
            <a:pPr algn="ctr"/>
            <a:r>
              <a:rPr sz="2000" b="1">
                <a:solidFill>
                  <a:srgbClr val="0F172A"/>
                </a:solidFill>
                <a:latin typeface="Aptos"/>
              </a:rPr>
              <a:t>KAITO turns llm-d-style prefill/decode disaggregation from a manual routing stack into a declarative Kubernetes workflow.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