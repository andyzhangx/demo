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lide-04-end-to-end-architecture.svg" ContentType="image/svg+xml"/>
  <Override PartName="/ppt/media/slide-05-multiroleinference-topology.svg" ContentType="image/svg+xml"/>
  <Override PartName="/ppt/media/slide-06-kaito-generated-resources.svg" ContentType="image/svg+xml"/>
  <Override PartName="/ppt/media/slide-07-request-execution-flow.svg" ContentType="image/svg+xml"/>
  <Override PartName="/ppt/media/slide-08-decode-sidecar-placement.svg" ContentType="image/svg+xml"/>
  <Override PartName="/ppt/media/slide-09-runtime-contracts.svg" ContentType="image/svg+xml"/>
  <Override PartName="/ppt/media/slide-10-kaito-vs-llmd.svg" ContentType="image/svg+xml"/>
  <Override PartName="/ppt/media/slide-11-ownership-boundary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4-end-to-end-architecture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5-multiroleinference-topology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6-kaito-generated-resources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7-request-execution-flo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8-decode-sidecar-placement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9-runtime-contracts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0-kaito-vs-llmd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1-ownership-boundary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One endpoint for the user; coordinated role-aware execution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783080"/>
            <a:ext cx="9875520" cy="3566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883664"/>
            <a:ext cx="19202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platform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21408"/>
            <a:ext cx="2103120" cy="47548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KAITO
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5032" y="2121408"/>
            <a:ext cx="2240280" cy="47548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InferencePool + GWIE
contract surface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121408"/>
            <a:ext cx="2240280" cy="47548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execution decisions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286000"/>
            <a:ext cx="310896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 Arrow 12"/>
          <p:cNvSpPr/>
          <p:nvPr/>
        </p:nvSpPr>
        <p:spPr>
          <a:xfrm>
            <a:off x="6016752" y="2286000"/>
            <a:ext cx="310896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9728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0F2747"/>
                </a:solidFill>
                <a:latin typeface="Aptos"/>
              </a:rPr>
              <a:t>request path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35808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3035808"/>
            <a:ext cx="10058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93008" y="3035808"/>
            <a:ext cx="1417320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8112" y="3035808"/>
            <a:ext cx="150876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Decode
sidecar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3035808"/>
            <a:ext cx="155448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Local decode
vLLM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47088" y="3236976"/>
            <a:ext cx="182880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ight Arrow 20"/>
          <p:cNvSpPr/>
          <p:nvPr/>
        </p:nvSpPr>
        <p:spPr>
          <a:xfrm>
            <a:off x="3172968" y="3236976"/>
            <a:ext cx="237744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ight Arrow 21"/>
          <p:cNvSpPr/>
          <p:nvPr/>
        </p:nvSpPr>
        <p:spPr>
          <a:xfrm>
            <a:off x="4956048" y="3236976"/>
            <a:ext cx="310896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ight Arrow 22"/>
          <p:cNvSpPr/>
          <p:nvPr/>
        </p:nvSpPr>
        <p:spPr>
          <a:xfrm>
            <a:off x="7104888" y="3236976"/>
            <a:ext cx="38404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422392" y="3794760"/>
            <a:ext cx="109728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optional prefill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4041648"/>
            <a:ext cx="1371600" cy="51206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Prefill
InferenceSet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144768" y="3639312"/>
            <a:ext cx="201168" cy="201168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114032" y="3794760"/>
            <a:ext cx="932688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077456" y="4206240"/>
            <a:ext cx="713232" cy="164592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6112" y="4754880"/>
            <a:ext cx="425196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Client traffic stays on one stable endpoint.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3832" y="4754880"/>
            <a:ext cx="470916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KV cache moves on a separate direct path between roles.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KAITO owns topology + wiring, GWIE carries the gateway-facing contract, and llm-d Router owns the routing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Users declare one topology object; the platform expands it into role-specific serving.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3246120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029968"/>
            <a:ext cx="290779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11827"/>
                </a:solidFill>
                <a:latin typeface="Cascadia Mono"/>
              </a:rPr>
              <a:t>apiVersion: kaito.sh/v1alpha1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kind: MultiRoleInference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metadata: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name: qwen-3-8-27b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spec: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roles: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prefill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decode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21488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one object describes the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331720"/>
            <a:ext cx="1783080" cy="65836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prefill role
replicas: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383280"/>
            <a:ext cx="1783080" cy="65836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2747"/>
                </a:solidFill>
                <a:latin typeface="Aptos"/>
              </a:rPr>
              <a:t>decode role
replicas: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852928"/>
            <a:ext cx="2240280" cy="74980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766E"/>
                </a:solidFill>
                <a:latin typeface="Aptos"/>
              </a:rPr>
              <a:t>InferencePool
one logical service surface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87952" y="2926080"/>
            <a:ext cx="329184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6611112" y="3090672"/>
            <a:ext cx="62179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ight Arrow 14"/>
          <p:cNvSpPr/>
          <p:nvPr/>
        </p:nvSpPr>
        <p:spPr>
          <a:xfrm>
            <a:off x="6611112" y="3703320"/>
            <a:ext cx="62179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72000" y="4315968"/>
            <a:ext cx="5074920" cy="7132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15968"/>
            <a:ext cx="5074920" cy="713232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Users describe intent once.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Controllers expand it into runnable role-specific plumbing.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 CRD is the product surface: users express topology intent once, controllers own the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KAITO acts like a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38528"/>
            <a:ext cx="1874519" cy="65836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23160"/>
            <a:ext cx="1828800" cy="64008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6D28D9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22191"/>
            <a:ext cx="1828800" cy="64008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6D28D9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423160"/>
            <a:ext cx="1755648" cy="640080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766E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54680"/>
            <a:ext cx="2176272" cy="640080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913632"/>
            <a:ext cx="2468880" cy="64008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2747"/>
                </a:solidFill>
                <a:latin typeface="Aptos"/>
              </a:rPr>
              <a:t>sidecar 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4526280"/>
            <a:ext cx="2331720" cy="640080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9D58"/>
                </a:solidFill>
                <a:latin typeface="Aptos"/>
              </a:rPr>
              <a:t>NIXL env wiring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2999232" y="2670048"/>
            <a:ext cx="1024128" cy="16459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Left Arrow 14"/>
          <p:cNvSpPr/>
          <p:nvPr/>
        </p:nvSpPr>
        <p:spPr>
          <a:xfrm>
            <a:off x="2999232" y="4069080"/>
            <a:ext cx="1024128" cy="16459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6510528" y="2670048"/>
            <a:ext cx="1051560" cy="164592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6510528" y="3401568"/>
            <a:ext cx="868680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6510528" y="4160520"/>
            <a:ext cx="65836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Down Arrow 18"/>
          <p:cNvSpPr/>
          <p:nvPr/>
        </p:nvSpPr>
        <p:spPr>
          <a:xfrm>
            <a:off x="5321808" y="2670048"/>
            <a:ext cx="201168" cy="1627632"/>
          </a:xfrm>
          <a:prstGeom prst="downArrow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KAITO turns one topology object into the llm-d-facing resources and wiring that P/D actually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The client sees one path; prefill is an optional internal branch.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201168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one user-visible 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847088"/>
            <a:ext cx="1481328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optional prefill branch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40280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1 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84831" y="2240280"/>
            <a:ext cx="1042415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2  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2240280"/>
            <a:ext cx="13716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3  InferencePool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2240280"/>
            <a:ext cx="1719072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C2410C"/>
                </a:solidFill>
                <a:latin typeface="Aptos"/>
              </a:rPr>
              <a:t>4  llm-d Router
EPP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240280"/>
            <a:ext cx="1444752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5  Decode sidecar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00032" y="2240280"/>
            <a:ext cx="932688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6  Decode
vLLM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828800" y="2432304"/>
            <a:ext cx="20116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3273552" y="2432304"/>
            <a:ext cx="219456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4956048" y="2432304"/>
            <a:ext cx="274320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7269480" y="2432304"/>
            <a:ext cx="237744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ight Arrow 18"/>
          <p:cNvSpPr/>
          <p:nvPr/>
        </p:nvSpPr>
        <p:spPr>
          <a:xfrm>
            <a:off x="9107424" y="2432304"/>
            <a:ext cx="20116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596128" y="2971800"/>
            <a:ext cx="1325880" cy="51206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6D28D9"/>
                </a:solidFill>
                <a:latin typeface="Aptos"/>
              </a:rPr>
              <a:t>Prefill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071616" y="2779776"/>
            <a:ext cx="182880" cy="164592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059168" y="2889504"/>
            <a:ext cx="9144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22592" y="3154680"/>
            <a:ext cx="749808" cy="164592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96112" y="3822191"/>
            <a:ext cx="5669280" cy="9692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822191"/>
            <a:ext cx="5669280" cy="969264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Gateway / HTTPRoute forwards the request to the model's InferencePool.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llm-d Router EPP decides whether prefill helps and picks the role-specific backends.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Decode remains the coordination point, so the client still sees one endpoint.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76288" y="3822191"/>
            <a:ext cx="3346704" cy="969264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76288" y="3822191"/>
            <a:ext cx="3346704" cy="969264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Prefill is conditional, not mandatory.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KV transfer bridges prefill and decode.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Response streaming still returns through the decode path.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Gateway contract, routing choice, prefill placement, KV movement, and decode execution are all coordinated under one serving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Decode pods are both the final response point and the execution coordinator.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938528"/>
            <a:ext cx="3840480" cy="2761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938528"/>
            <a:ext cx="3840480" cy="2761488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Decode pods are the final response point for user traffic.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The routing sidecar receives the EPP decision, coordinates prefill, waits for KV handoff, then forwards to local vLLM.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That keeps the external routing contract stable while hiding the internal P/D choreography behind one decode endpoint.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4617720" cy="34930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938528"/>
            <a:ext cx="132588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Decode Pod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2651760"/>
            <a:ext cx="9144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EPP decision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81344" y="2706624"/>
            <a:ext cx="310896" cy="146304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125712" y="2395728"/>
            <a:ext cx="9144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564624" y="2615184"/>
            <a:ext cx="182880" cy="182880"/>
          </a:xfrm>
          <a:prstGeom prst="down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126480" y="2761488"/>
            <a:ext cx="3429000" cy="76809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100" b="1">
                <a:solidFill>
                  <a:srgbClr val="0F2747"/>
                </a:solidFill>
                <a:latin typeface="Aptos"/>
              </a:rPr>
              <a:t>Routing sidecar
port 5000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912" y="3657600"/>
            <a:ext cx="11430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0F2747"/>
                </a:solidFill>
                <a:latin typeface="Aptos"/>
              </a:rPr>
              <a:t>proxy to local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744968" y="3511296"/>
            <a:ext cx="237744" cy="182880"/>
          </a:xfrm>
          <a:prstGeom prst="down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126480" y="4005072"/>
            <a:ext cx="3429000" cy="768096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100" b="1">
                <a:solidFill>
                  <a:srgbClr val="0F766E"/>
                </a:solidFill>
                <a:latin typeface="Aptos"/>
              </a:rPr>
              <a:t>Local decode vLLM
port 5001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937760"/>
            <a:ext cx="3703320" cy="3108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Decode-side sidecar placement centralizes coordination without changing the user-facing endpoint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5212080" cy="62179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300" b="1">
                <a:solidFill>
                  <a:srgbClr val="0F2747"/>
                </a:solidFill>
                <a:latin typeface="Aptos"/>
              </a:rPr>
              <a:t>A few runtime contracts must stay boringly consistent.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2029968" cy="74980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Routing sidecar
on decode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2743200"/>
            <a:ext cx="2029968" cy="74980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Port split
5000 / 5001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05856" y="2743200"/>
            <a:ext cx="2029968" cy="74980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Role labels
prefill /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3822191"/>
            <a:ext cx="2212848" cy="74980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Reachable NIXL host
Pod IP wiring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3822191"/>
            <a:ext cx="2852928" cy="749808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9D58"/>
                </a:solidFill>
                <a:latin typeface="Aptos"/>
              </a:rPr>
              <a:t>Stable InferencePool
targetPort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57400" y="4919472"/>
            <a:ext cx="6400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When the controller enforces these contracts, users reason about serving behavior instead of debugging hidden infrastructure wiring.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These are serving contracts, not decorative metadata: the platform has to enforce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The two projects solve different layers of the same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3429000" cy="438912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C2410C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847088"/>
            <a:ext cx="2743200" cy="43891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947672"/>
            <a:ext cx="196596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different layers of the same workflow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60604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EPP implementation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60604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CRD abstraction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278892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32688" y="342900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endpoint picking + routing execution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42900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resource generation + orchestration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17720" y="361188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932688" y="425196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future scheduling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25196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InferenceSet / autoscaling integration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617720" y="443484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828800" y="5166360"/>
            <a:ext cx="745236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0">
                <a:solidFill>
                  <a:srgbClr val="111827"/>
                </a:solidFill>
                <a:latin typeface="Aptos"/>
              </a:rPr>
              <a:t>KAITO does not replace llm-d. It packages llm-d into a cleaner Kubernetes-native operating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4160520" cy="43891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Users manage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847088"/>
            <a:ext cx="3822191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Platform manages plumbing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87168"/>
            <a:ext cx="4187952" cy="233172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4187952" cy="2331720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model choice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prefill / decode role definitions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replica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instance types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autoscaling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topology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87168"/>
            <a:ext cx="3822191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87168"/>
            <a:ext cx="3822191" cy="2560320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child InferenceSets and InferencePool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llm-d Router EPP resources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sidecar injection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labels / services / targetPorts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NIXL env wiring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ownership refs and request correctness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per-role consistency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3429000"/>
            <a:ext cx="713232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4748B"/>
                </a:solidFill>
                <a:latin typeface="Aptos"/>
              </a:rPr>
              <a:t>boundary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0096" y="3529584"/>
            <a:ext cx="877824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 platform value is not fewer YAML files. It is a much cleaner operational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