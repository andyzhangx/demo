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lide-04-end-to-end-architecture.svg" ContentType="image/svg+xml"/>
  <Override PartName="/ppt/media/slide-05-multiroleinference-topology.svg" ContentType="image/svg+xml"/>
  <Override PartName="/ppt/media/slide-06-kaito-generated-resources.svg" ContentType="image/svg+xml"/>
  <Override PartName="/ppt/media/slide-07-request-execution-flow.svg" ContentType="image/svg+xml"/>
  <Override PartName="/ppt/media/slide-08-decode-sidecar-placement.svg" ContentType="image/svg+xml"/>
  <Override PartName="/ppt/media/slide-09-runtime-contracts.svg" ContentType="image/svg+xml"/>
  <Override PartName="/ppt/media/slide-10-kaito-vs-llmd.svg" ContentType="image/svg+xml"/>
  <Override PartName="/ppt/media/slide-11-ownership-boundary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4-end-to-end-architecture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5-multiroleinference-topology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6-kaito-generated-resources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7-request-execution-flow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8-decode-sidecar-placement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09-runtime-contracts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0-kaito-vs-llmd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slide-11-ownership-boundary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128016"/>
            <a:ext cx="4069080" cy="6729984"/>
          </a:xfrm>
          <a:prstGeom prst="rect">
            <a:avLst/>
          </a:prstGeom>
          <a:solidFill>
            <a:srgbClr val="16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9808" y="841248"/>
            <a:ext cx="896112" cy="38404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Aptos"/>
              </a:rPr>
              <a:t>KubeCon '26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7040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KAITO + llm-d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" y="1901952"/>
            <a:ext cx="731520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 Display"/>
              </a:rPr>
              <a:t>How They Support Prefill/Decode
Disaggregation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063240"/>
            <a:ext cx="71323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C9D6FF"/>
                </a:solidFill>
                <a:latin typeface="Aptos"/>
              </a:rPr>
              <a:t>A Kubernetes-native story about declarative topology,
role-aware routing, and direct KV-cache handoff.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4663440"/>
            <a:ext cx="5120640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Control plane: KAITO
Gateway-facing contract: GWIE
Routing intelligence: llm-d Router
Runtime + KV path: vLLM + NIXL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5715000"/>
            <a:ext cx="1078992" cy="402336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39112" y="5715000"/>
            <a:ext cx="1078992" cy="402336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llm-d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3552" y="5715000"/>
            <a:ext cx="1078992" cy="402336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5715000"/>
            <a:ext cx="1078992" cy="402336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Aptos"/>
              </a:rPr>
              <a:t>NIXL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914400"/>
            <a:ext cx="2926080" cy="4114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Aptos"/>
              </a:rPr>
              <a:t>P/D platform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50224" y="1719072"/>
            <a:ext cx="2487168" cy="566928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MultiRoleInference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50224" y="2724912"/>
            <a:ext cx="2487168" cy="566928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InferencePool + GWIE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50224" y="3730752"/>
            <a:ext cx="2487168" cy="566928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llm-d Router EPP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50224" y="4736592"/>
            <a:ext cx="2487168" cy="566928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vLLM + NIXL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893808" y="2286000"/>
            <a:ext cx="0" cy="438912"/>
          </a:xfrm>
          <a:prstGeom prst="line">
            <a:avLst/>
          </a:prstGeom>
          <a:ln w="38100">
            <a:solidFill>
              <a:srgbClr val="16A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893808" y="3291840"/>
            <a:ext cx="0" cy="438912"/>
          </a:xfrm>
          <a:prstGeom prst="line">
            <a:avLst/>
          </a:prstGeom>
          <a:ln w="381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93808" y="4297680"/>
            <a:ext cx="0" cy="438912"/>
          </a:xfrm>
          <a:prstGeom prst="line">
            <a:avLst/>
          </a:prstGeom>
          <a:ln w="381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the llm-d Router Brings to the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The routing intelligence KAITO builds on for P/D.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65960"/>
            <a:ext cx="2331720" cy="246888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10149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implementation for the GWIE flow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the runtime hook point for endpoint 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965960"/>
            <a:ext cx="2331720" cy="246888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3602736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Selection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model-aware and role-aware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select decode and, when needed, prefill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53328" y="1965960"/>
            <a:ext cx="2331720" cy="246888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Plugins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KV-cache-aware logic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 chain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41080" y="1965960"/>
            <a:ext cx="2331720" cy="2468880"/>
          </a:xfrm>
          <a:prstGeom prst="roundRect">
            <a:avLst/>
          </a:prstGeom>
          <a:solidFill>
            <a:srgbClr val="EDE9FE"/>
          </a:solidFill>
          <a:ln w="1397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787384" y="2075688"/>
            <a:ext cx="203911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Extensibility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478024"/>
            <a:ext cx="2002536" cy="1847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future advanced scheduling surface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a substrate KAITO can build 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00400" y="3200400"/>
            <a:ext cx="256032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88152" y="3200400"/>
            <a:ext cx="265176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94192" y="3200400"/>
            <a:ext cx="246888" cy="0"/>
          </a:xfrm>
          <a:prstGeom prst="line">
            <a:avLst/>
          </a:prstGeom>
          <a:ln w="3556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KAITO is not inventing a new routing brain here. It is building on llm-d Router as the EPP and scheduling substrate.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All Three: KAITO + GWIE + llm-d Router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078992"/>
            <a:ext cx="1069848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100" b="1">
                <a:solidFill>
                  <a:srgbClr val="0F172A"/>
                </a:solidFill>
                <a:latin typeface="Aptos"/>
              </a:rPr>
              <a:t>Three layers, three responsibilities, one usable P/D platform.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234440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Aptos"/>
              </a:rPr>
              <a:t>control-plane abstraction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47488" y="1755648"/>
            <a:ext cx="20574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gateway-facing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8705088" y="1755648"/>
            <a:ext cx="214884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200" b="1">
                <a:solidFill>
                  <a:srgbClr val="EA580C"/>
                </a:solidFill>
                <a:latin typeface="Aptos"/>
              </a:rPr>
              <a:t>routing intelligence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2926080" cy="2331720"/>
          </a:xfrm>
          <a:prstGeom prst="round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KAITO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declarative abstraction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 orchestration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child resource ownership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platform-facing UX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011680"/>
            <a:ext cx="2926080" cy="2331720"/>
          </a:xfrm>
          <a:prstGeom prst="roundRect">
            <a:avLst/>
          </a:prstGeom>
          <a:solidFill>
            <a:srgbClr val="DCFCE7"/>
          </a:solidFill>
          <a:ln w="1397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76402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GWIE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gateway-facing routing contract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InferencePool API model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gateway integration pattern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Kubernetes-native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2011680"/>
            <a:ext cx="2926080" cy="2331720"/>
          </a:xfrm>
          <a:prstGeom prst="roundRect">
            <a:avLst/>
          </a:prstGeom>
          <a:solidFill>
            <a:srgbClr val="FFEDD5"/>
          </a:solidFill>
          <a:ln w="1397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Aptos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558784" y="2121408"/>
            <a:ext cx="2633472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Aptos"/>
              </a:rPr>
              <a:t>llm-d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523744"/>
            <a:ext cx="2596896" cy="1709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EPP implementation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endpoint selection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P/D-aware scheduling</a:t>
            </a:r>
          </a:p>
          <a:p>
            <a:pPr>
              <a:spcAft>
                <a:spcPts val="500"/>
              </a:spcAft>
              <a:defRPr sz="1400">
                <a:solidFill>
                  <a:srgbClr val="334155"/>
                </a:solidFill>
              </a:defRPr>
            </a:pPr>
            <a:r>
              <a:t>routing execution substrate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49039" y="3172968"/>
            <a:ext cx="822961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800" y="3172968"/>
            <a:ext cx="822960" cy="0"/>
          </a:xfrm>
          <a:prstGeom prst="line">
            <a:avLst/>
          </a:prstGeom>
          <a:ln w="3810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4553712"/>
            <a:ext cx="73152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ptos"/>
              </a:rPr>
              <a:t>contract + routing together become a usable platform path only when the controller owns the topology and wiring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6144768"/>
            <a:ext cx="10972800" cy="36576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300" b="0">
                <a:solidFill>
                  <a:srgbClr val="0F172A"/>
                </a:solidFill>
                <a:latin typeface="Aptos"/>
              </a:rPr>
              <a:t>llm-d gives the routing brain, GWIE gives the Kubernetes routing contract, and KAITO turns the whole thing into a usable platform workflow.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End-to-End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" y="1005840"/>
            <a:ext cx="1065276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This is the anchor architecture slide: one user endpoint, one gateway-facing contract surface, two role-specific backends, and a direct KV path.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One user endpoint, one gateway-facing contract, and role-aware execution underneath.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48840"/>
            <a:ext cx="1005840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67712"/>
            <a:ext cx="233172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111827"/>
                </a:solidFill>
                <a:latin typeface="Aptos"/>
              </a:rPr>
              <a:t>AKS / Kubernetes cluster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578608"/>
            <a:ext cx="2240280" cy="512064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KAITO
MultiRoleInference controller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30752" y="2578608"/>
            <a:ext cx="2331720" cy="512064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InferencePool + GWIE
contract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2578608"/>
            <a:ext cx="2331720" cy="512064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role-aware execution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18688" y="2743200"/>
            <a:ext cx="329184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6080760" y="2743200"/>
            <a:ext cx="329184" cy="182880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4400" y="3310128"/>
            <a:ext cx="1325880" cy="23774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0F2747"/>
                </a:solidFill>
                <a:latin typeface="Aptos"/>
              </a:rPr>
              <a:t>request path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566160"/>
            <a:ext cx="91440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Client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57400" y="3566160"/>
            <a:ext cx="1097280" cy="56692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Gateway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566160"/>
            <a:ext cx="1463040" cy="56692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94960" y="3566160"/>
            <a:ext cx="164592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Decode sidecar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3566160"/>
            <a:ext cx="1737360" cy="56692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Local decode
vLLM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801368" y="3758184"/>
            <a:ext cx="201168" cy="182880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ight Arrow 21"/>
          <p:cNvSpPr/>
          <p:nvPr/>
        </p:nvSpPr>
        <p:spPr>
          <a:xfrm>
            <a:off x="3182112" y="3758184"/>
            <a:ext cx="237744" cy="182880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ight Arrow 22"/>
          <p:cNvSpPr/>
          <p:nvPr/>
        </p:nvSpPr>
        <p:spPr>
          <a:xfrm>
            <a:off x="4983480" y="3758184"/>
            <a:ext cx="310896" cy="182880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ight Arrow 23"/>
          <p:cNvSpPr/>
          <p:nvPr/>
        </p:nvSpPr>
        <p:spPr>
          <a:xfrm>
            <a:off x="7114032" y="3758184"/>
            <a:ext cx="438912" cy="182880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349240" y="4315968"/>
            <a:ext cx="123444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C2410C"/>
                </a:solidFill>
                <a:latin typeface="Aptos"/>
              </a:rPr>
              <a:t>optional prefill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4572000"/>
            <a:ext cx="1417320" cy="54864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Prefill
InferenceSet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236208" y="4133087"/>
            <a:ext cx="219456" cy="274320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7269480" y="4315968"/>
            <a:ext cx="1170432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87184" y="4736592"/>
            <a:ext cx="676656" cy="182880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68680" y="5010912"/>
            <a:ext cx="443484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0">
                <a:solidFill>
                  <a:srgbClr val="111827"/>
                </a:solidFill>
                <a:latin typeface="Aptos"/>
              </a:rPr>
              <a:t>Client traffic stays on one stable endpoint.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010912"/>
            <a:ext cx="4617720" cy="40233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0">
                <a:solidFill>
                  <a:srgbClr val="111827"/>
                </a:solidFill>
                <a:latin typeface="Aptos"/>
              </a:rPr>
              <a:t>KV cache moves on a separate direct path between roles.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KAITO owns topology + wiring, GWIE carries the contract surface, and llm-d Router owns the EPP decision loop.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One MultiRoleInference Object Describes the Topology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Users declare intent once; the platform expands it into a runnable P/D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One object describes the serving topology.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084831"/>
            <a:ext cx="3383280" cy="2834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67712"/>
            <a:ext cx="306324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11827"/>
                </a:solidFill>
                <a:latin typeface="Cascadia Mono"/>
              </a:rPr>
              <a:t>apiVersion: kaito.sh/v1alpha1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kind: MultiRoleInference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metadata: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name: qwen-3-8-27b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spec: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roles: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prefill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1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- type: decode</a:t>
            </a:r>
          </a:p>
          <a:p>
            <a:r>
              <a:rPr sz="1500">
                <a:solidFill>
                  <a:srgbClr val="111827"/>
                </a:solidFill>
                <a:latin typeface="Cascadia Mono"/>
              </a:rPr>
              <a:t>      replicas: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2240280"/>
            <a:ext cx="1874519" cy="6858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prefill role
replicas: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291840"/>
            <a:ext cx="1874519" cy="68580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2747"/>
                </a:solidFill>
                <a:latin typeface="Aptos"/>
              </a:rPr>
              <a:t>decode role
replicas: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2743200"/>
            <a:ext cx="2331720" cy="777240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766E"/>
                </a:solidFill>
                <a:latin typeface="Aptos"/>
              </a:rPr>
              <a:t>InferencePool
one logical service surface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60520" y="2852928"/>
            <a:ext cx="384048" cy="201168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ight Arrow 13"/>
          <p:cNvSpPr/>
          <p:nvPr/>
        </p:nvSpPr>
        <p:spPr>
          <a:xfrm>
            <a:off x="6720840" y="3035808"/>
            <a:ext cx="548640" cy="201168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ight Arrow 14"/>
          <p:cNvSpPr/>
          <p:nvPr/>
        </p:nvSpPr>
        <p:spPr>
          <a:xfrm>
            <a:off x="6720840" y="3657600"/>
            <a:ext cx="548640" cy="201168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572000" y="4251960"/>
            <a:ext cx="539496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51960"/>
            <a:ext cx="5394960" cy="868680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Users describe one logical topology, not the plumbing.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Controllers expand that intent into runnable role-specific resources.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The CRD is the product surface: users express topology intent once, controllers own the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KAITO Automatically Generates for P/D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024128"/>
            <a:ext cx="1060704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KAITO acts like the control-plane compiler for the topology.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KAITO expands one topology object into runnable platform resources.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1965960" cy="71323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MultiRoleInference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83080"/>
            <a:ext cx="1965960" cy="67665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InferenceSet
(prefill)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886200"/>
            <a:ext cx="1965960" cy="676656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InferenceSet
(decode)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783080"/>
            <a:ext cx="1783080" cy="676656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766E"/>
                </a:solidFill>
                <a:latin typeface="Aptos"/>
              </a:rPr>
              <a:t>InferencePool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2852928"/>
            <a:ext cx="2194560" cy="676656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C2410C"/>
                </a:solidFill>
                <a:latin typeface="Aptos"/>
              </a:rPr>
              <a:t>llm-d Router
EPP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3931920"/>
            <a:ext cx="2560320" cy="67665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2747"/>
                </a:solidFill>
                <a:latin typeface="Aptos"/>
              </a:rPr>
              <a:t>sidecar injection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4526280"/>
            <a:ext cx="2331720" cy="676656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0F9D58"/>
                </a:solidFill>
                <a:latin typeface="Aptos"/>
              </a:rPr>
              <a:t>NIXL env wiring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2999232" y="2011680"/>
            <a:ext cx="1078992" cy="201168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eft Arrow 15"/>
          <p:cNvSpPr/>
          <p:nvPr/>
        </p:nvSpPr>
        <p:spPr>
          <a:xfrm>
            <a:off x="2999232" y="4160520"/>
            <a:ext cx="1078992" cy="201168"/>
          </a:xfrm>
          <a:prstGeom prst="lef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6537960" y="2011680"/>
            <a:ext cx="1078992" cy="20116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6537960" y="3108960"/>
            <a:ext cx="896112" cy="201168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ight Arrow 18"/>
          <p:cNvSpPr/>
          <p:nvPr/>
        </p:nvSpPr>
        <p:spPr>
          <a:xfrm>
            <a:off x="6537960" y="4160520"/>
            <a:ext cx="713232" cy="201168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Down Arrow 19"/>
          <p:cNvSpPr/>
          <p:nvPr/>
        </p:nvSpPr>
        <p:spPr>
          <a:xfrm>
            <a:off x="5349240" y="3063240"/>
            <a:ext cx="219456" cy="822960"/>
          </a:xfrm>
          <a:prstGeom prst="downArrow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KAITO behaves like a control-plane compiler: it turns one topology object into the llm-d-facing resources and wiring P/D needs.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How a P/D Request Actually Executes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One endpoint for the user; multiple coordinated steps underneath.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One user-visible request path, with an optional prefill branch.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965960"/>
            <a:ext cx="196596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one user-visible request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1965960"/>
            <a:ext cx="160020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Aptos"/>
              </a:rPr>
              <a:t>optional prefill 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914400" cy="5852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1 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2331720"/>
            <a:ext cx="1097280" cy="5852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2  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0128" y="2331720"/>
            <a:ext cx="1417320" cy="5852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111827"/>
                </a:solidFill>
                <a:latin typeface="Aptos"/>
              </a:rPr>
              <a:t>3  InferencePool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8928" y="2331720"/>
            <a:ext cx="1783080" cy="585216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C2410C"/>
                </a:solidFill>
                <a:latin typeface="Aptos"/>
              </a:rPr>
              <a:t>4  llm-d Router EPP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6368" y="2331720"/>
            <a:ext cx="1508760" cy="58521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5  Decode sidecar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0032" y="2331720"/>
            <a:ext cx="868680" cy="585216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700" b="1">
                <a:solidFill>
                  <a:srgbClr val="0F2747"/>
                </a:solidFill>
                <a:latin typeface="Aptos"/>
              </a:rPr>
              <a:t>6  Decode
vLLM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609344" y="2542032"/>
            <a:ext cx="182880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ight Arrow 16"/>
          <p:cNvSpPr/>
          <p:nvPr/>
        </p:nvSpPr>
        <p:spPr>
          <a:xfrm>
            <a:off x="3127248" y="2542032"/>
            <a:ext cx="201168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ight Arrow 17"/>
          <p:cNvSpPr/>
          <p:nvPr/>
        </p:nvSpPr>
        <p:spPr>
          <a:xfrm>
            <a:off x="4828032" y="2542032"/>
            <a:ext cx="256032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ight Arrow 18"/>
          <p:cNvSpPr/>
          <p:nvPr/>
        </p:nvSpPr>
        <p:spPr>
          <a:xfrm>
            <a:off x="7242048" y="2542032"/>
            <a:ext cx="219456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ight Arrow 19"/>
          <p:cNvSpPr/>
          <p:nvPr/>
        </p:nvSpPr>
        <p:spPr>
          <a:xfrm>
            <a:off x="9098280" y="2542032"/>
            <a:ext cx="219456" cy="164592"/>
          </a:xfrm>
          <a:prstGeom prst="right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5623560" y="3108960"/>
            <a:ext cx="1417320" cy="56692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1">
                <a:solidFill>
                  <a:srgbClr val="6D28D9"/>
                </a:solidFill>
                <a:latin typeface="Aptos"/>
              </a:rPr>
              <a:t>Prefill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126480" y="2907792"/>
            <a:ext cx="219456" cy="219456"/>
          </a:xfrm>
          <a:prstGeom prst="down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059168" y="3017520"/>
            <a:ext cx="96012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059168" y="3310128"/>
            <a:ext cx="841248" cy="164592"/>
          </a:xfrm>
          <a:prstGeom prst="right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58368" y="3886200"/>
            <a:ext cx="5989320" cy="9875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886200"/>
            <a:ext cx="5989320" cy="987552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Gateway / HTTPRoute forwards the request to the model's InferencePool.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llm-d Router EPP decides whether prefill is needed and picks the role-specific backends.</a:t>
            </a:r>
          </a:p>
          <a:p>
            <a:pPr algn="l"/>
            <a:r>
              <a:rPr sz="1600">
                <a:solidFill>
                  <a:srgbClr val="111827"/>
                </a:solidFill>
                <a:latin typeface="Aptos"/>
              </a:rPr>
              <a:t>• Decode remains the coordination point, so the client still sees one endpoint.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03720" y="3867912"/>
            <a:ext cx="3401568" cy="98755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867912"/>
            <a:ext cx="3401568" cy="987552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Prefill is conditional, not mandatory.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KV transfer bridges prefill and decode.</a:t>
            </a:r>
          </a:p>
          <a:p>
            <a:pPr algn="l"/>
            <a:r>
              <a:rPr sz="1600">
                <a:solidFill>
                  <a:srgbClr val="0F2747"/>
                </a:solidFill>
                <a:latin typeface="Aptos"/>
              </a:rPr>
              <a:t>• Response streaming still returns through the decode path.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GWIE carries the gateway-facing contract, llm-d Router makes the routing choice, and the platform coordinates prefill, KV movement, and decode execution.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Why the Routing Sidecar Lives on Decode Pods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Sidecar placement is an execution design choice, not an incidental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Decode pods are the final response point and the execution coordination point.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057400"/>
            <a:ext cx="393192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57400"/>
            <a:ext cx="3931920" cy="2697480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Decode pods are the final response point for user traffic.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The routing sidecar receives the EPP decision, coordinates prefill, waits for KV handoff, then forwards to local vLLM.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That keeps the external routing contract stable while hiding the internal P/D choreography behind one decode endpoint.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1920240"/>
            <a:ext cx="4709160" cy="3429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2057400"/>
            <a:ext cx="1417320" cy="274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111827"/>
                </a:solidFill>
                <a:latin typeface="Aptos"/>
              </a:rPr>
              <a:t>Decode Pod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2788920"/>
            <a:ext cx="96012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C2410C"/>
                </a:solidFill>
                <a:latin typeface="Aptos"/>
              </a:rPr>
              <a:t>EPP decision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080760" y="2834640"/>
            <a:ext cx="365760" cy="164592"/>
          </a:xfrm>
          <a:prstGeom prst="rightArrow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070848" y="2560320"/>
            <a:ext cx="1051560" cy="2560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6D28D9"/>
                </a:solidFill>
                <a:latin typeface="Aptos"/>
              </a:rPr>
              <a:t>KV handoff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9555480" y="2816352"/>
            <a:ext cx="201168" cy="228600"/>
          </a:xfrm>
          <a:prstGeom prst="downArrow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080760" y="2926080"/>
            <a:ext cx="3520440" cy="804672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Routing sidecar
port 5000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3840480"/>
            <a:ext cx="1261872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0F2747"/>
                </a:solidFill>
                <a:latin typeface="Aptos"/>
              </a:rPr>
              <a:t>proxy to local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7754112" y="3657600"/>
            <a:ext cx="274320" cy="274320"/>
          </a:xfrm>
          <a:prstGeom prst="downArrow">
            <a:avLst/>
          </a:prstGeom>
          <a:solidFill>
            <a:srgbClr val="2F6FEB"/>
          </a:solidFill>
          <a:ln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080760" y="4187952"/>
            <a:ext cx="3520440" cy="804672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766E"/>
                </a:solidFill>
                <a:latin typeface="Aptos"/>
              </a:rPr>
              <a:t>Local decode vLLM
port 5001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5102352"/>
            <a:ext cx="388620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decode pod = coordination point + final response point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Decode-side sidecar placement makes the decode pod the execution coordinator without changing the user-facing endpoint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The Runtime Contracts That Make P/D Actually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Most real failures here are contract bugs, not model bugs.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P/D works when a few runtime contracts stay boringly consistent.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084831"/>
            <a:ext cx="4937760" cy="65836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400" b="1">
                <a:solidFill>
                  <a:srgbClr val="0F2747"/>
                </a:solidFill>
                <a:latin typeface="Aptos"/>
              </a:rPr>
              <a:t>Controller-enforced runtime contract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971800"/>
            <a:ext cx="2057400" cy="74980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2747"/>
                </a:solidFill>
                <a:latin typeface="Aptos"/>
              </a:rPr>
              <a:t>Routing sidecar
only on decode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2971800"/>
            <a:ext cx="2057400" cy="749808"/>
          </a:xfrm>
          <a:prstGeom prst="roundRect">
            <a:avLst/>
          </a:prstGeom>
          <a:solidFill>
            <a:srgbClr val="E8FFFB"/>
          </a:solidFill>
          <a:ln w="1905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766E"/>
                </a:solidFill>
                <a:latin typeface="Aptos"/>
              </a:rPr>
              <a:t>Port split
5000 sidecar / 5001 local vLLM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971800"/>
            <a:ext cx="2057400" cy="74980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6D28D9"/>
                </a:solidFill>
                <a:latin typeface="Aptos"/>
              </a:rPr>
              <a:t>Role labels
prefill vs decode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3977639"/>
            <a:ext cx="2148840" cy="74980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C2410C"/>
                </a:solidFill>
                <a:latin typeface="Aptos"/>
              </a:rPr>
              <a:t>Reachable NIXL host
Pod IP wiring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977639"/>
            <a:ext cx="2743200" cy="749808"/>
          </a:xfrm>
          <a:prstGeom prst="roundRect">
            <a:avLst/>
          </a:prstGeom>
          <a:solidFill>
            <a:srgbClr val="ECFDF3"/>
          </a:solidFill>
          <a:ln w="1905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0F9D58"/>
                </a:solidFill>
                <a:latin typeface="Aptos"/>
              </a:rPr>
              <a:t>Stable InferencePool targetPort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413248" y="2770632"/>
            <a:ext cx="256032" cy="164592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Down Arrow 14"/>
          <p:cNvSpPr/>
          <p:nvPr/>
        </p:nvSpPr>
        <p:spPr>
          <a:xfrm>
            <a:off x="1874519" y="3730752"/>
            <a:ext cx="201168" cy="182880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Down Arrow 15"/>
          <p:cNvSpPr/>
          <p:nvPr/>
        </p:nvSpPr>
        <p:spPr>
          <a:xfrm>
            <a:off x="4251960" y="3730752"/>
            <a:ext cx="201168" cy="182880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Down Arrow 16"/>
          <p:cNvSpPr/>
          <p:nvPr/>
        </p:nvSpPr>
        <p:spPr>
          <a:xfrm>
            <a:off x="6675120" y="3730752"/>
            <a:ext cx="201168" cy="182880"/>
          </a:xfrm>
          <a:prstGeom prst="down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103120" y="4892040"/>
            <a:ext cx="640080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900" b="0">
                <a:solidFill>
                  <a:srgbClr val="111827"/>
                </a:solidFill>
                <a:latin typeface="Aptos"/>
              </a:rPr>
              <a:t>When the controller enforces these contracts, users reason about serving behavior instead of debugging hidden infrastructure wiring.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These are serving contracts, not decorative metadata: they must be platform-enforced.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KAITO Does Not Replace llm-d — It Operationalizes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The two projects solve different layers of the same problem.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llm-d and KAITO solve different layers of the same workflow.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993392"/>
            <a:ext cx="3474720" cy="475488"/>
          </a:xfrm>
          <a:prstGeom prst="roundRect">
            <a:avLst/>
          </a:prstGeom>
          <a:solidFill>
            <a:srgbClr val="FFF2E8"/>
          </a:solidFill>
          <a:ln w="1905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C2410C"/>
                </a:solidFill>
                <a:latin typeface="Aptos"/>
              </a:rPr>
              <a:t>llm-d 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993392"/>
            <a:ext cx="2697480" cy="475488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2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0F2747"/>
                </a:solidFill>
                <a:latin typeface="Aptos"/>
              </a:rPr>
              <a:t>KAITO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084831"/>
            <a:ext cx="1783080" cy="219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1">
                <a:solidFill>
                  <a:srgbClr val="111827"/>
                </a:solidFill>
                <a:latin typeface="Aptos"/>
              </a:rPr>
              <a:t>complementary layers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743200"/>
            <a:ext cx="342900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EPP implementation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743200"/>
            <a:ext cx="292608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CRD abstraction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681728" y="2907792"/>
            <a:ext cx="162763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14400" y="3584448"/>
            <a:ext cx="342900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endpoint picking + routing execution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3584448"/>
            <a:ext cx="292608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child resource generation + orchestration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3749039"/>
            <a:ext cx="162763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4400" y="4425696"/>
            <a:ext cx="342900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future scheduling surface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4425696"/>
            <a:ext cx="2926080" cy="5120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0">
                <a:solidFill>
                  <a:srgbClr val="111827"/>
                </a:solidFill>
                <a:latin typeface="Aptos"/>
              </a:rPr>
              <a:t>integration with InferenceSet / autoscaling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681728" y="4590288"/>
            <a:ext cx="1627632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920240" y="5440680"/>
            <a:ext cx="7406640" cy="7132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>KAITO does not replace llm-d. It packages llm-d into a cleaner Kubernetes-native operating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809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365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64592"/>
            <a:ext cx="566928" cy="3108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Aptos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109728"/>
            <a:ext cx="1042416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 Display"/>
              </a:rPr>
              <a:t>What Users Manage vs. What the Platform Manages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1024128"/>
            <a:ext cx="10698480" cy="502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27632"/>
            <a:ext cx="9144000" cy="384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800" b="1">
                <a:solidFill>
                  <a:srgbClr val="111827"/>
                </a:solidFill>
                <a:latin typeface="Aptos"/>
              </a:rPr>
              <a:t>P/D becomes usable when the ownership boundary is clean.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93392"/>
            <a:ext cx="438912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Users manage intent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93392"/>
            <a:ext cx="3977639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200" b="1">
                <a:solidFill>
                  <a:srgbClr val="111827"/>
                </a:solidFill>
                <a:latin typeface="Aptos"/>
              </a:rPr>
              <a:t>Platform manages plumbing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06040"/>
            <a:ext cx="4434840" cy="2331720"/>
          </a:xfrm>
          <a:prstGeom prst="roundRect">
            <a:avLst/>
          </a:prstGeom>
          <a:solidFill>
            <a:srgbClr val="EAF2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4434840" cy="2331720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model choice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prefill / decode role definitions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replica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instance types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autoscaling intent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policy-level topology decisions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606040"/>
            <a:ext cx="3977639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2000" b="0">
                <a:solidFill>
                  <a:srgbClr val="111827"/>
                </a:solidFill>
                <a:latin typeface="Apto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06040"/>
            <a:ext cx="3977639" cy="2560320"/>
          </a:xfrm>
          <a:prstGeom prst="rect">
            <a:avLst/>
          </a:prstGeom>
          <a:noFill/>
        </p:spPr>
        <p:txBody>
          <a:bodyPr wrap="square" lIns="73152" rIns="54864" tIns="54864" bIns="54864" anchor="t">
            <a:spAutoFit/>
          </a:bodyPr>
          <a:lstStyle/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child InferenceSets and InferencePool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llm-d Router EPP resources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sidecar injection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labels / services / targetPorts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env wiring for NIXL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ownership references and request-path correctness</a:t>
            </a:r>
          </a:p>
          <a:p>
            <a:pPr algn="l"/>
            <a:r>
              <a:rPr sz="1700">
                <a:solidFill>
                  <a:srgbClr val="111827"/>
                </a:solidFill>
                <a:latin typeface="Aptos"/>
              </a:rPr>
              <a:t>• per-role wiring consistency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68112" y="3493008"/>
            <a:ext cx="749808" cy="23774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1">
                <a:solidFill>
                  <a:srgbClr val="64748B"/>
                </a:solidFill>
                <a:latin typeface="Aptos"/>
              </a:rPr>
              <a:t>boundary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321808" y="3611880"/>
            <a:ext cx="914400" cy="164592"/>
          </a:xfrm>
          <a:prstGeom prst="rightArrow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30352" y="5623560"/>
            <a:ext cx="10058400" cy="329184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/>
            <a:r>
              <a:rPr sz="1600" b="0">
                <a:solidFill>
                  <a:srgbClr val="111827"/>
                </a:solidFill>
                <a:latin typeface="Aptos"/>
              </a:rPr>
              <a:t>The platform value is not fewer YAML files. The platform value is a much cleaner operational boundary.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 Display"/>
              </a:rPr>
              <a:t>Why This Matters Operationally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1234440" y="2011680"/>
            <a:ext cx="973836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Aptos"/>
              </a:rPr>
              <a:t>• P/D is useful because prefill and decode have different resource profiles.
• llm-d is useful because routing and scheduling need role awareness.
• KAITO is useful because platform teams need a Kubernetes-native control-plane abstraction.
• Together they turn P/D from a manual stack into a repeatable platform workflow.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3312" y="5166360"/>
            <a:ext cx="9464040" cy="62179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>
            <a:no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Aptos"/>
              </a:rPr>
              <a:t>KAITO turns llm-d-style prefill/decode disaggregation from a manual routing stack into a declarative Kubernetes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