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28016"/>
            <a:ext cx="4069080" cy="6729984"/>
          </a:xfrm>
          <a:prstGeom prst="rect">
            <a:avLst/>
          </a:prstGeom>
          <a:solidFill>
            <a:srgbClr val="16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841248"/>
            <a:ext cx="89611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KubeCon '26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325880"/>
            <a:ext cx="7040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KAITO + llm-d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901952"/>
            <a:ext cx="731520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 Display"/>
              </a:rPr>
              <a:t>How They Support Prefill/Decode
Disaggregation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" y="3063240"/>
            <a:ext cx="71323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C9D6FF"/>
                </a:solidFill>
                <a:latin typeface="Aptos"/>
              </a:rPr>
              <a:t>A Kubernetes-native story about declarative topology,
role-aware routing, and direct KV-cache handoff.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4663440"/>
            <a:ext cx="512064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Control plane: KAITO
Gateway-facing contract: GWIE
Routing intelligence: llm-d Router
Runtime + KV path: vLLM + NIXL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5715000"/>
            <a:ext cx="1078992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39112" y="5715000"/>
            <a:ext cx="1078992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llm-d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5715000"/>
            <a:ext cx="1078992" cy="40233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5715000"/>
            <a:ext cx="1078992" cy="40233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0768" y="914400"/>
            <a:ext cx="29260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Aptos"/>
              </a:rPr>
              <a:t>P/D platform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50224" y="1719072"/>
            <a:ext cx="2487168" cy="56692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50224" y="2724912"/>
            <a:ext cx="2487168" cy="56692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 + GWIE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50224" y="3730752"/>
            <a:ext cx="2487168" cy="56692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llm-d Router EPP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50224" y="4736592"/>
            <a:ext cx="2487168" cy="56692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vLLM + NIXL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93808" y="2286000"/>
            <a:ext cx="0" cy="438912"/>
          </a:xfrm>
          <a:prstGeom prst="line">
            <a:avLst/>
          </a:prstGeom>
          <a:ln w="381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893808" y="3291840"/>
            <a:ext cx="0" cy="438912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93808" y="4297680"/>
            <a:ext cx="0" cy="438912"/>
          </a:xfrm>
          <a:prstGeom prst="line">
            <a:avLst/>
          </a:prstGeom>
          <a:ln w="3810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the llm-d Router Brings to the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The routing intelligence KAITO builds on for P/D.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65960"/>
            <a:ext cx="2331720" cy="246888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0149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implementation for the GWIE flow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 runtime hook point for endpoint selection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965960"/>
            <a:ext cx="2331720" cy="246888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602736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Selection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model-aware and role-aware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select decode and, when needed, prefill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53328" y="1965960"/>
            <a:ext cx="2331720" cy="246888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Plugins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KV-cache-aware logic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 chain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1080" y="1965960"/>
            <a:ext cx="2331720" cy="2468880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7873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Extensibility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56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future advanced scheduling surface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 substrate KAITO can build 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00400" y="3200400"/>
            <a:ext cx="256032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88152" y="3200400"/>
            <a:ext cx="265176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394192" y="3200400"/>
            <a:ext cx="246888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KAITO is not inventing a new routing brain here. It is building on llm-d Router as the EPP and scheduling substrate.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All Three: KAITO + GWIE + llm-d Router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Three layers, three responsibilities, one usable P/D platform.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1234440" y="1755648"/>
            <a:ext cx="214884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Aptos"/>
              </a:rPr>
              <a:t>control-plane abstraction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47488" y="1755648"/>
            <a:ext cx="20574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gateway-facing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8705088" y="1755648"/>
            <a:ext cx="214884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EA580C"/>
                </a:solidFill>
                <a:latin typeface="Aptos"/>
              </a:rPr>
              <a:t>routing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011680"/>
            <a:ext cx="2926080" cy="233172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declarative abstraction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 orchestration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child resource ownership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platform-facing UX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011680"/>
            <a:ext cx="2926080" cy="233172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76402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gateway-facing routing contract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InferencePool API model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 integration pattern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Kubernetes-native interface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2011680"/>
            <a:ext cx="2926080" cy="233172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55878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llm-d Router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EPP implementation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endpoint selection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routing execution substrate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49039" y="3172968"/>
            <a:ext cx="822961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800" y="3172968"/>
            <a:ext cx="8229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2468880" y="4553712"/>
            <a:ext cx="73152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contract + routing together become a usable platform path only when the controller owns the topology and wiring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llm-d gives the routing brain, GWIE gives the Kubernetes routing contract, and KAITO turns the whole thing into a usable platform workflow.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End-to-End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005840"/>
            <a:ext cx="1065276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This is the anchor architecture slide: one user endpoint, one gateway-facing contract surface, two role-specific backends, and a direct KV path.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691640"/>
            <a:ext cx="10881360" cy="4297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6112" y="1828800"/>
            <a:ext cx="18288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Aptos"/>
              </a:rPr>
              <a:t>AKS / Kubernetes cluster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764792"/>
            <a:ext cx="1051560" cy="27432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Aptos"/>
              </a:rPr>
              <a:t>user traffic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1764792"/>
            <a:ext cx="1051560" cy="274320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Aptos"/>
              </a:rPr>
              <a:t>KV handoff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2029968"/>
            <a:ext cx="10012680" cy="749808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7280" y="2212848"/>
            <a:ext cx="141732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ptos"/>
              </a:rPr>
              <a:t>control plane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74519" y="2139696"/>
            <a:ext cx="2331720" cy="420624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KAITO
MultiRoleInference controller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2139696"/>
            <a:ext cx="1874519" cy="420624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InferencePool
(GWIE CRD)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19088" y="2139696"/>
            <a:ext cx="2633472" cy="420624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Gateway API Inference Extension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08592" y="2139696"/>
            <a:ext cx="1261872" cy="420624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KEDA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2907792"/>
            <a:ext cx="10012680" cy="123444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89320" y="4297680"/>
            <a:ext cx="3794760" cy="54864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2980944"/>
            <a:ext cx="10058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ptos"/>
              </a:rPr>
              <a:t>request path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8192" y="4425696"/>
            <a:ext cx="91440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6D28D9"/>
                </a:solidFill>
                <a:latin typeface="Aptos"/>
              </a:rPr>
              <a:t>KV path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78992" y="3310128"/>
            <a:ext cx="1005840" cy="58521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Client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7440" y="3310128"/>
            <a:ext cx="1234440" cy="58521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Gateway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0208" y="3163824"/>
            <a:ext cx="1874519" cy="877824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llm-d Router
EPP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27648" y="2999232"/>
            <a:ext cx="1874519" cy="65836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Prefill
InferenceSet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27648" y="3675887"/>
            <a:ext cx="1874519" cy="65836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Decode
InferenceSet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13648" y="3511296"/>
            <a:ext cx="2148840" cy="8412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Decode pod
sidecar + local vLLM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84831" y="3602736"/>
            <a:ext cx="292609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611880" y="3602736"/>
            <a:ext cx="338328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824728" y="3602736"/>
            <a:ext cx="502920" cy="402336"/>
          </a:xfrm>
          <a:prstGeom prst="line">
            <a:avLst/>
          </a:prstGeom>
          <a:ln w="3556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202168" y="3931920"/>
            <a:ext cx="411480" cy="73152"/>
          </a:xfrm>
          <a:prstGeom prst="line">
            <a:avLst/>
          </a:prstGeom>
          <a:ln w="3556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983480" y="2944368"/>
            <a:ext cx="914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64748B"/>
                </a:solidFill>
                <a:latin typeface="Aptos"/>
              </a:rPr>
              <a:t>selects decode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5824728" y="3328416"/>
            <a:ext cx="502920" cy="164592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010912" y="2761488"/>
            <a:ext cx="93268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Aptos"/>
              </a:rPr>
              <a:t>optional prefill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202168" y="3328416"/>
            <a:ext cx="411480" cy="420623"/>
          </a:xfrm>
          <a:prstGeom prst="line">
            <a:avLst/>
          </a:prstGeom>
          <a:ln w="3556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046720" y="3218688"/>
            <a:ext cx="868680" cy="256032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6D28D9"/>
                </a:solidFill>
                <a:latin typeface="Aptos"/>
              </a:rPr>
              <a:t>NIXL KV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7552" y="5047488"/>
            <a:ext cx="4800600" cy="512064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33856" y="5175504"/>
            <a:ext cx="45262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Client traffic and KV-cache movement follow different paths.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89320" y="5047488"/>
            <a:ext cx="5074920" cy="512064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5175504"/>
            <a:ext cx="47548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KAITO owns topology + wiring; GWIE carries the contract; llm-d owns EPP decisions.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One MultiRoleInference Object Describes the Topology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Users declare intent once; the platform expands it into a runnable P/D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4736592" cy="4251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32688" y="1993392"/>
            <a:ext cx="4389120" cy="3566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nsolas"/>
              </a:rPr>
              <a:t>apiVersion: kaito.sh/v1alpha1
kind: MultiRoleInference
metadata:
  name: qwen-3-8-27b
spec:
  model:
    name: Qwen/Qwen3.8-27B
  roles:
    - type: prefill
      replicas: 1
      instanceType: Standard_NC24ads_A100_v4
    - type: decode
      replicas: 1
      instanceType: Standard_NC80adis_H100_v5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577840" y="3703320"/>
            <a:ext cx="868680" cy="0"/>
          </a:xfrm>
          <a:prstGeom prst="line">
            <a:avLst/>
          </a:prstGeom>
          <a:ln w="508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1920240"/>
            <a:ext cx="1828800" cy="54864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1920240"/>
            <a:ext cx="1828800" cy="54864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5552" y="3072384"/>
            <a:ext cx="1828800" cy="54864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32520" y="2468880"/>
            <a:ext cx="0" cy="603504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9921240" y="2468880"/>
            <a:ext cx="0" cy="1152144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73952" y="4251960"/>
            <a:ext cx="46634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One logical service with role-specific backends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Role-specific scaling intent for prefill and decode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Users describe what they want, not how to wire the stack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The CRD is the product surface. Users express topology intent; controllers own the plumbing.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KAITO Automatically Generates for P/D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024128"/>
            <a:ext cx="106070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KAITO acts like the control-plane compiler for the topology.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2907792"/>
            <a:ext cx="2880360" cy="64008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1783080"/>
            <a:ext cx="2240280" cy="74980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InferenceSet
(prefill)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187952"/>
            <a:ext cx="2240280" cy="74980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InferenceSet
(decode)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783080"/>
            <a:ext cx="2240280" cy="74980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2971800"/>
            <a:ext cx="2240280" cy="74980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llm-d Router
EPP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187952"/>
            <a:ext cx="2240280" cy="74980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sidecar
injection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4617720"/>
            <a:ext cx="2240280" cy="74980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NIXL env wiring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2075688" y="2157984"/>
            <a:ext cx="3886200" cy="1069848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075688" y="3227832"/>
            <a:ext cx="3886200" cy="1335024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961888" y="2157984"/>
            <a:ext cx="3246120" cy="1069848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961888" y="3227832"/>
            <a:ext cx="3035807" cy="118872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961888" y="3227832"/>
            <a:ext cx="2788920" cy="1335024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641848" y="3227832"/>
            <a:ext cx="320040" cy="1764792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KAITO does not replace llm-d. It generates, owns, and keeps the llm-d-facing resources consistent.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a P/D Request Actually Executes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One endpoint for the user; multiple coordinated steps underneath.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572768"/>
            <a:ext cx="1005840" cy="256032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2563EB"/>
                </a:solidFill>
                <a:latin typeface="Aptos"/>
              </a:rPr>
              <a:t>request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14032" y="2688336"/>
            <a:ext cx="960120" cy="256032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EA580C"/>
                </a:solidFill>
                <a:latin typeface="Aptos"/>
              </a:rPr>
              <a:t>prefill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85632" y="2798064"/>
            <a:ext cx="914400" cy="256032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6D28D9"/>
                </a:solidFill>
                <a:latin typeface="Aptos"/>
              </a:rPr>
              <a:t>KV path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10512"/>
            <a:ext cx="1051560" cy="58521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  Client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1810512"/>
            <a:ext cx="1280160" cy="58521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  Gateway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810512"/>
            <a:ext cx="1508760" cy="58521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  InferencePool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1810512"/>
            <a:ext cx="1783080" cy="58521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4  llm-d Router EPP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62672" y="1810512"/>
            <a:ext cx="1645920" cy="58521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5  Decode sidecar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21240" y="1810512"/>
            <a:ext cx="1325880" cy="58521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6  Decode vLLM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709928" y="2103120"/>
            <a:ext cx="256032" cy="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246120" y="2103120"/>
            <a:ext cx="274320" cy="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029200" y="2103120"/>
            <a:ext cx="411480" cy="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223760" y="2103120"/>
            <a:ext cx="438912" cy="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08592" y="2103120"/>
            <a:ext cx="612648" cy="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589520" y="3072384"/>
            <a:ext cx="1664208" cy="58521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85632" y="2395728"/>
            <a:ext cx="0" cy="676656"/>
          </a:xfrm>
          <a:prstGeom prst="line">
            <a:avLst/>
          </a:prstGeom>
          <a:ln w="317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178040" y="2542032"/>
            <a:ext cx="9601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Aptos"/>
              </a:rPr>
              <a:t>dispatches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299448" y="2395728"/>
            <a:ext cx="621792" cy="914400"/>
          </a:xfrm>
          <a:prstGeom prst="line">
            <a:avLst/>
          </a:prstGeom>
          <a:ln w="317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8915400" y="3456432"/>
            <a:ext cx="868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Aptos"/>
              </a:rPr>
              <a:t>handoff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921240" y="2395728"/>
            <a:ext cx="640080" cy="0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0561320" y="1417320"/>
            <a:ext cx="0" cy="978408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2606040" y="1417320"/>
            <a:ext cx="7955280" cy="0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144768" y="1225296"/>
            <a:ext cx="1234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Aptos"/>
              </a:rPr>
              <a:t>response stream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3858768"/>
            <a:ext cx="740664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1. Gateway / HTTPRoute forwards to the InferencePool for the model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2. llm-d Router EPP decides whether prefill work is needed and selects the role-specific backends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3. The request lands on a decode pod, whose sidecar coordinates prefill on the selected prefill pod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4. KV cache is transferred directly to decode via NIXL, and local decode vLLM continues generation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22208" y="3785615"/>
            <a:ext cx="2770632" cy="15544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• Decode is the coordination point
• Prefill is selected only when it helps
• KV transfer bridges the two phases
• The client still sees one endpoint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GWIE carries the gateway-facing contract, llm-d makes the routing decisions, and the platform coordinates prefill placement, KV movement, and decode execution across multiple pods.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the Routing Sidecar Lives on Decode Pods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Sidecar placement is an execution design choice, not an incidental implementation detail.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45720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Decode pods are the final response point for user traffic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The routing sidecar receives the EPP decision, coordinates prefill, waits for KV handoff, then forwards to local vLLM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This keeps the external routing contract cleaner: sidecar on 5000, local decode vLLM on 5001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Prefill pods stay simpler and focus only on prompt processing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645920"/>
            <a:ext cx="4498848" cy="4343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73568" y="1810512"/>
            <a:ext cx="1828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Decode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31152" y="2267712"/>
            <a:ext cx="987552" cy="27432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16A34A"/>
                </a:solidFill>
                <a:latin typeface="Aptos"/>
              </a:rPr>
              <a:t>external request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0" y="2267712"/>
            <a:ext cx="914400" cy="27432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EA580C"/>
                </a:solidFill>
                <a:latin typeface="Aptos"/>
              </a:rPr>
              <a:t>KV handoff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05472" y="2697480"/>
            <a:ext cx="3401568" cy="76809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Routing sidecar
port 5000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5472" y="4041648"/>
            <a:ext cx="3401568" cy="76809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Local decode vLLM
port 5001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73952" y="3072384"/>
            <a:ext cx="731520" cy="0"/>
          </a:xfrm>
          <a:prstGeom prst="line">
            <a:avLst/>
          </a:prstGeom>
          <a:ln w="3556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96128" y="2880360"/>
            <a:ext cx="749808" cy="29260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Aptos"/>
              </a:rPr>
              <a:t>from EPP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842248" y="3465576"/>
            <a:ext cx="0" cy="576072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979408" y="3621024"/>
            <a:ext cx="10972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64748B"/>
                </a:solidFill>
                <a:latin typeface="Aptos"/>
              </a:rPr>
              <a:t>proxy to local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378440" y="3063240"/>
            <a:ext cx="393192" cy="1216152"/>
          </a:xfrm>
          <a:prstGeom prst="line">
            <a:avLst/>
          </a:prstGeom>
          <a:ln w="3302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277856" y="3675887"/>
            <a:ext cx="822960" cy="256032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Aptos"/>
              </a:rPr>
              <a:t>NIXL KV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1152" y="5102352"/>
            <a:ext cx="3794760" cy="36576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334155"/>
                </a:solidFill>
                <a:latin typeface="Aptos"/>
              </a:rPr>
              <a:t>decode pod = coordination point + final response point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Decode-side sidecar placement turns the decode pod into the coordination point for P/D execution.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The Runtime Contracts That Make P/D Actually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Most real failures here are contract bugs, not model bugs.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55648"/>
            <a:ext cx="214884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Contract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755648"/>
            <a:ext cx="109728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Prefill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7640" y="1755648"/>
            <a:ext cx="109728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Decode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755648"/>
            <a:ext cx="443484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Why it matters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94560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Routing sidecar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360" y="2194560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7640" y="2194560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Yes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2194560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Decode is the coordination 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633472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vLLM port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2633472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7640" y="2633472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2633472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Avoid sidecar ↔ local vLLM collision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072384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Sidecar ingress port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3072384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N/A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7640" y="3072384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3072384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Gives decode a stable external entry point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511296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Role label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3511296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prefill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77640" y="3511296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decode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3511296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EPP filters workers by role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950208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 side-channel host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360" y="3950208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Pod 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40" y="3950208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Pod IP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74920" y="3950208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KV handoff must advertise a reachable address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389120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InferencePool targetPort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4389120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Shared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77640" y="4389120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Shared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4920" y="4389120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Gateway/EPP expect consistent routing semantics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4736592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Contracts must be controller-enforced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Labels are functional metadata, not decoration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TargetPort is part of the serving contract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Pod IP / env wiring must be automatic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If these contracts are not enforced by the controller, users debug infrastructure wiring as if it were model behavior.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Does Not Replace llm-d — It Operationalizes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The two projects solve different layers of the same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1783080"/>
            <a:ext cx="4160520" cy="45720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llm-d Router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1783080"/>
            <a:ext cx="41605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KAITO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468880"/>
            <a:ext cx="4251960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EPP implementation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2468880"/>
            <a:ext cx="425196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CRD abstraction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03520" y="2670048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990088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endpoint picking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990088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child resource generation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03520" y="3191256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14400" y="3511296"/>
            <a:ext cx="4251960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scheduling profiles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3511296"/>
            <a:ext cx="425196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lifecycle orchestration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03520" y="3712464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4400" y="4032504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P/D-aware plugins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0" y="4032504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Kubernetes-native UX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03520" y="4233672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4400" y="4553712"/>
            <a:ext cx="4251960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routing execution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0" y="4553712"/>
            <a:ext cx="425196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integration with InferenceSet / autoscaling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03520" y="4754880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4400" y="5074920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future scheduling surface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5074920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future topology APIs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03520" y="5276088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This is not KAITO vs. llm-d. KAITO builds on llm-d and turns it into a cleaner Kubernetes workflow.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Users Manage vs. What the Platform Manages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P/D becomes usable when the ownership boundary is clean.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" y="1783080"/>
            <a:ext cx="4572000" cy="45720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User intent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1783080"/>
            <a:ext cx="45720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Platform-managed plumbing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395728"/>
            <a:ext cx="4443984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model choice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prefill/decode role definitions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replica intent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instance types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autoscaling intent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policy-level topology decisions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395728"/>
            <a:ext cx="4389120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child InferenceSets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InferencePool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llm-d Router EPP resources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sidecar injection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labels / services / targetPorts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env wiring for NIXL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ownership references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request path correctness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per-role wiring consistency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596128" y="3675887"/>
            <a:ext cx="896112" cy="0"/>
          </a:xfrm>
          <a:prstGeom prst="line">
            <a:avLst/>
          </a:prstGeom>
          <a:ln w="508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The platform value is not fewer YAML files. The platform value is a cleaner operational ownership boundary.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024128"/>
            <a:ext cx="103327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Why This Matters Operationally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34440" y="2011680"/>
            <a:ext cx="9738360" cy="2514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Aptos"/>
              </a:rPr>
              <a:t>• P/D is useful because prefill and decode have different resource profiles.
• llm-d is useful because routing and scheduling need role awareness.
• KAITO is useful because platform teams need a Kubernetes-native control-plane abstraction.
• Together they turn P/D from a manual stack into a repeatable platform workflow.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53312" y="5166360"/>
            <a:ext cx="9464040" cy="6217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KAITO turns llm-d-style prefill/decode disaggregation from a manual routing stack into a declarative Kubernetes workflow.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