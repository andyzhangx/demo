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lide-04-end-to-end-architecture.svg" ContentType="image/svg+xml"/>
  <Override PartName="/ppt/media/slide-05-multiroleinference-topology.svg" ContentType="image/svg+xml"/>
  <Override PartName="/ppt/media/slide-06-kaito-generated-resources.svg" ContentType="image/svg+xml"/>
  <Override PartName="/ppt/media/slide-07-request-execution-flow.svg" ContentType="image/svg+xml"/>
  <Override PartName="/ppt/media/slide-08-decode-sidecar-placement.svg" ContentType="image/svg+xml"/>
  <Override PartName="/ppt/media/slide-09-runtime-contracts.svg" ContentType="image/svg+xml"/>
  <Override PartName="/ppt/media/slide-10-kaito-vs-llmd.svg" ContentType="image/svg+xml"/>
  <Override PartName="/ppt/media/slide-11-ownership-boundary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4-end-to-end-architecture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5-multiroleinference-topology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6-kaito-generated-resources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7-request-execution-flo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8-decode-sidecar-placement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9-runtime-contracts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0-kaito-vs-llmd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1-ownership-boundary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One endpoint for the user; coordinated role-aware execution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783080"/>
            <a:ext cx="9875520" cy="3566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883664"/>
            <a:ext cx="19202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platform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21408"/>
            <a:ext cx="2103120" cy="47548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KAITO
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5032" y="2121408"/>
            <a:ext cx="2240280" cy="47548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InferencePool + GWIE
contract surface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121408"/>
            <a:ext cx="2240280" cy="47548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execution decisions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286000"/>
            <a:ext cx="310896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 Arrow 12"/>
          <p:cNvSpPr/>
          <p:nvPr/>
        </p:nvSpPr>
        <p:spPr>
          <a:xfrm>
            <a:off x="6016752" y="2286000"/>
            <a:ext cx="310896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9728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0F2747"/>
                </a:solidFill>
                <a:latin typeface="Aptos"/>
              </a:rPr>
              <a:t>request path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35808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3035808"/>
            <a:ext cx="100584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93008" y="3035808"/>
            <a:ext cx="1417320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8112" y="3035808"/>
            <a:ext cx="150876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Decode
sidecar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3035808"/>
            <a:ext cx="155448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Local decode
vLLM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47088" y="3236976"/>
            <a:ext cx="182880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ight Arrow 20"/>
          <p:cNvSpPr/>
          <p:nvPr/>
        </p:nvSpPr>
        <p:spPr>
          <a:xfrm>
            <a:off x="3172968" y="3236976"/>
            <a:ext cx="237744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ight Arrow 21"/>
          <p:cNvSpPr/>
          <p:nvPr/>
        </p:nvSpPr>
        <p:spPr>
          <a:xfrm>
            <a:off x="4956048" y="3236976"/>
            <a:ext cx="310896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ight Arrow 22"/>
          <p:cNvSpPr/>
          <p:nvPr/>
        </p:nvSpPr>
        <p:spPr>
          <a:xfrm>
            <a:off x="7104888" y="3236976"/>
            <a:ext cx="38404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422392" y="3794760"/>
            <a:ext cx="109728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optional prefill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4041648"/>
            <a:ext cx="1371600" cy="512064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Prefill
InferenceSet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144768" y="3639312"/>
            <a:ext cx="201168" cy="201168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114032" y="3794760"/>
            <a:ext cx="932688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077456" y="4206240"/>
            <a:ext cx="713232" cy="164592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6112" y="4754880"/>
            <a:ext cx="425196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Client traffic stays on one stable endpoint.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3832" y="4754880"/>
            <a:ext cx="470916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KV cache moves on a separate direct path between roles.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KAITO owns topology + wiring, GWIE carries the gateway-facing contract, and llm-d Router owns the routing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Users declare one topology object; the platform expands it into role-specific serving.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3246120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029968"/>
            <a:ext cx="290779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11827"/>
                </a:solidFill>
                <a:latin typeface="Cascadia Mono"/>
              </a:rPr>
              <a:t>apiVersion: kaito.sh/v1alpha1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kind: MultiRoleInference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metadata: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name: qwen-3-8-27b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spec: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roles: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prefill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decode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21488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one object describes the topology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331720"/>
            <a:ext cx="1783080" cy="65836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prefill role
replicas: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383280"/>
            <a:ext cx="1783080" cy="65836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2747"/>
                </a:solidFill>
                <a:latin typeface="Aptos"/>
              </a:rPr>
              <a:t>decode role
replicas: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852928"/>
            <a:ext cx="2240280" cy="74980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766E"/>
                </a:solidFill>
                <a:latin typeface="Aptos"/>
              </a:rPr>
              <a:t>InferencePool
one logical service surface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87952" y="2926080"/>
            <a:ext cx="329184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6611112" y="3090672"/>
            <a:ext cx="62179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ight Arrow 14"/>
          <p:cNvSpPr/>
          <p:nvPr/>
        </p:nvSpPr>
        <p:spPr>
          <a:xfrm>
            <a:off x="6611112" y="3703320"/>
            <a:ext cx="62179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72000" y="4315968"/>
            <a:ext cx="5074920" cy="7132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15968"/>
            <a:ext cx="5074920" cy="713232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Users describe intent once.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Controllers expand it into runnable role-specific plumbing.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 CRD is the product surface: users express topology intent once, controllers own the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KAITO acts like a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38528"/>
            <a:ext cx="1874519" cy="65836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23160"/>
            <a:ext cx="1828800" cy="64008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6D28D9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22191"/>
            <a:ext cx="1828800" cy="64008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6D28D9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423160"/>
            <a:ext cx="1755648" cy="640080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766E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54680"/>
            <a:ext cx="2176272" cy="640080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3913632"/>
            <a:ext cx="2468880" cy="64008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2747"/>
                </a:solidFill>
                <a:latin typeface="Aptos"/>
              </a:rPr>
              <a:t>sidecar 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4526280"/>
            <a:ext cx="2331720" cy="640080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1">
                <a:solidFill>
                  <a:srgbClr val="0F9D58"/>
                </a:solidFill>
                <a:latin typeface="Aptos"/>
              </a:rPr>
              <a:t>NIXL env wiring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2999232" y="2670048"/>
            <a:ext cx="1024128" cy="16459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Left Arrow 14"/>
          <p:cNvSpPr/>
          <p:nvPr/>
        </p:nvSpPr>
        <p:spPr>
          <a:xfrm>
            <a:off x="2999232" y="4069080"/>
            <a:ext cx="1024128" cy="164592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ight Arrow 15"/>
          <p:cNvSpPr/>
          <p:nvPr/>
        </p:nvSpPr>
        <p:spPr>
          <a:xfrm>
            <a:off x="6510528" y="2670048"/>
            <a:ext cx="1051560" cy="164592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6510528" y="3401568"/>
            <a:ext cx="868680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6510528" y="4160520"/>
            <a:ext cx="65836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Down Arrow 18"/>
          <p:cNvSpPr/>
          <p:nvPr/>
        </p:nvSpPr>
        <p:spPr>
          <a:xfrm>
            <a:off x="5321808" y="2670048"/>
            <a:ext cx="201168" cy="1627632"/>
          </a:xfrm>
          <a:prstGeom prst="downArrow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KAITO turns one topology object into the llm-d-facing resources and wiring that P/D actually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This mirrors llm-d-router docs/disaggregation.md#pd-sequence as a decode-sidecar-coordinated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46304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783080"/>
            <a:ext cx="146304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Inference
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783080"/>
            <a:ext cx="1463040" cy="658368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Decode Worker
Sidecar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783080"/>
            <a:ext cx="1463040" cy="658368"/>
          </a:xfrm>
          <a:prstGeom prst="roundRect">
            <a:avLst/>
          </a:prstGeom>
          <a:solidFill>
            <a:srgbClr val="F3E8FF"/>
          </a:solidFill>
          <a:ln w="1778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700" b="1">
                <a:solidFill>
                  <a:srgbClr val="6D28D9"/>
                </a:solidFill>
                <a:latin typeface="Aptos"/>
              </a:rPr>
              <a:t>Prefill Worker
(vLLM)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783080"/>
            <a:ext cx="1463040" cy="658368"/>
          </a:xfrm>
          <a:prstGeom prst="roundRect">
            <a:avLst/>
          </a:prstGeom>
          <a:solidFill>
            <a:srgbClr val="E8FFFB"/>
          </a:solidFill>
          <a:ln w="1778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700" b="1">
                <a:solidFill>
                  <a:srgbClr val="0F766E"/>
                </a:solidFill>
                <a:latin typeface="Aptos"/>
              </a:rPr>
              <a:t>Decode Worker
(vLLM)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8760" y="2487168"/>
            <a:ext cx="0" cy="2953512"/>
          </a:xfrm>
          <a:prstGeom prst="line">
            <a:avLst/>
          </a:prstGeom>
          <a:ln w="12700">
            <a:solidFill>
              <a:srgbClr val="CBD5E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37560" y="2487168"/>
            <a:ext cx="0" cy="2953512"/>
          </a:xfrm>
          <a:prstGeom prst="line">
            <a:avLst/>
          </a:prstGeom>
          <a:ln w="12700">
            <a:solidFill>
              <a:srgbClr val="CBD5E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487168"/>
            <a:ext cx="0" cy="2953512"/>
          </a:xfrm>
          <a:prstGeom prst="line">
            <a:avLst/>
          </a:prstGeom>
          <a:ln w="12700">
            <a:solidFill>
              <a:srgbClr val="CBD5E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60920" y="2487168"/>
            <a:ext cx="0" cy="2953512"/>
          </a:xfrm>
          <a:prstGeom prst="line">
            <a:avLst/>
          </a:prstGeom>
          <a:ln w="12700">
            <a:solidFill>
              <a:srgbClr val="CBD5E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4040" y="2487168"/>
            <a:ext cx="0" cy="2953512"/>
          </a:xfrm>
          <a:prstGeom prst="line">
            <a:avLst/>
          </a:prstGeom>
          <a:ln w="12700">
            <a:solidFill>
              <a:srgbClr val="CBD5E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1508760" y="2697480"/>
            <a:ext cx="1828800" cy="16459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  Inference request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337560" y="3035808"/>
            <a:ext cx="1965959" cy="164592"/>
          </a:xfrm>
          <a:prstGeom prst="rightArrow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  Route to decode sidecar
(selected prefill worker carried in header)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303520" y="3584448"/>
            <a:ext cx="2057400" cy="164592"/>
          </a:xfrm>
          <a:prstGeom prst="rightArrow">
            <a:avLst/>
          </a:prstGeom>
          <a:solidFill>
            <a:srgbClr val="6D28D9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  Remote prefill
(prompt, max_tokens=1)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03520" y="4041648"/>
            <a:ext cx="2057400" cy="164592"/>
          </a:xfrm>
          <a:prstGeom prst="rightArrow">
            <a:avLst/>
          </a:prstGeom>
          <a:solidFill>
            <a:srgbClr val="6D28D9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  Remote KV parameters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303520" y="4553712"/>
            <a:ext cx="4160520" cy="164592"/>
          </a:xfrm>
          <a:prstGeom prst="rightArrow">
            <a:avLst/>
          </a:prstGeom>
          <a:solidFill>
            <a:srgbClr val="2F6FEB"/>
          </a:solidFill>
          <a:ln w="1270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  remote_prefill=true + prefill ID + memory block IDs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360920" y="4956048"/>
            <a:ext cx="2103120" cy="164592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6  Read KV cache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03520" y="5212080"/>
            <a:ext cx="4160520" cy="164592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7  Inference response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37560" y="5468112"/>
            <a:ext cx="1965959" cy="164592"/>
          </a:xfrm>
          <a:prstGeom prst="rightArrow">
            <a:avLst/>
          </a:prstGeom>
          <a:solidFill>
            <a:srgbClr val="2F6FEB"/>
          </a:solidFill>
          <a:ln w="1270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8  Response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08760" y="5705856"/>
            <a:ext cx="1828800" cy="16459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9  Final response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3952" y="3794760"/>
            <a:ext cx="1261872" cy="3840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400" b="0">
                <a:solidFill>
                  <a:srgbClr val="6D28D9"/>
                </a:solidFill>
                <a:latin typeface="Aptos"/>
              </a:rPr>
              <a:t>Run prefill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4736592"/>
            <a:ext cx="1783080" cy="49377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400" b="0">
                <a:solidFill>
                  <a:srgbClr val="0F766E"/>
                </a:solidFill>
                <a:latin typeface="Aptos"/>
              </a:rPr>
              <a:t>Schedule decode
and run decode locally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4800600"/>
            <a:ext cx="283464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Client still sees one serving path.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77639" y="4800600"/>
            <a:ext cx="2971800" cy="566928"/>
          </a:xfrm>
          <a:prstGeom prst="roundRect">
            <a:avLst/>
          </a:prstGeom>
          <a:solidFill>
            <a:srgbClr val="EAF2FF"/>
          </a:solidFill>
          <a:ln w="1778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600" b="0">
                <a:solidFill>
                  <a:srgbClr val="0F2747"/>
                </a:solidFill>
                <a:latin typeface="Aptos"/>
              </a:rPr>
              <a:t>Decode sidecar coordinates remote prefill.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00600"/>
            <a:ext cx="2971800" cy="566928"/>
          </a:xfrm>
          <a:prstGeom prst="roundRect">
            <a:avLst/>
          </a:prstGeom>
          <a:solidFill>
            <a:srgbClr val="E8FFFB"/>
          </a:solidFill>
          <a:ln w="1778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600" b="0">
                <a:solidFill>
                  <a:srgbClr val="0F766E"/>
                </a:solidFill>
                <a:latin typeface="Aptos"/>
              </a:rPr>
              <a:t>Decode still runs locally on the chosen decode worker.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" y="5632704"/>
            <a:ext cx="9646920" cy="310896"/>
          </a:xfrm>
          <a:prstGeom prst="roundRect">
            <a:avLst/>
          </a:prstGeom>
          <a:solidFill>
            <a:srgbClr val="F8FAFC"/>
          </a:solidFill>
          <a:ln w="177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P/D in llm-d is a decode-sidecar-coordinated flow: prefill may run remotely, but decode stays local to the selected decode worker.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Decode pods are both the final response point and the execution coordinator.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938528"/>
            <a:ext cx="3840480" cy="2761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938528"/>
            <a:ext cx="3840480" cy="2761488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Decode pods are the final response point for user traffic.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The routing sidecar receives the EPP decision, coordinates prefill, waits for KV handoff, then forwards to local vLLM.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That keeps the external routing contract stable while hiding the internal P/D choreography behind one decode endpoint.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4617720" cy="34930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938528"/>
            <a:ext cx="132588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Decode Pod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2651760"/>
            <a:ext cx="9144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EPP decision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81344" y="2706624"/>
            <a:ext cx="310896" cy="146304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125712" y="2395728"/>
            <a:ext cx="9144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564624" y="2615184"/>
            <a:ext cx="182880" cy="182880"/>
          </a:xfrm>
          <a:prstGeom prst="down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126480" y="2761488"/>
            <a:ext cx="3429000" cy="76809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100" b="1">
                <a:solidFill>
                  <a:srgbClr val="0F2747"/>
                </a:solidFill>
                <a:latin typeface="Aptos"/>
              </a:rPr>
              <a:t>Routing sidecar
port 5000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912" y="3657600"/>
            <a:ext cx="114300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0F2747"/>
                </a:solidFill>
                <a:latin typeface="Aptos"/>
              </a:rPr>
              <a:t>proxy to local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744968" y="3511296"/>
            <a:ext cx="237744" cy="182880"/>
          </a:xfrm>
          <a:prstGeom prst="down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126480" y="4005072"/>
            <a:ext cx="3429000" cy="768096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100" b="1">
                <a:solidFill>
                  <a:srgbClr val="0F766E"/>
                </a:solidFill>
                <a:latin typeface="Aptos"/>
              </a:rPr>
              <a:t>Local decode vLLM
port 5001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937760"/>
            <a:ext cx="3703320" cy="3108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Decode-side sidecar placement centralizes coordination without changing the user-facing endpoint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5212080" cy="62179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300" b="1">
                <a:solidFill>
                  <a:srgbClr val="0F2747"/>
                </a:solidFill>
                <a:latin typeface="Aptos"/>
              </a:rPr>
              <a:t>A few runtime contracts must stay boringly consistent.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2029968" cy="74980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Routing sidecar
on decode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2743200"/>
            <a:ext cx="2029968" cy="74980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Port split
5000 / 5001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05856" y="2743200"/>
            <a:ext cx="2029968" cy="74980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Role labels
prefill /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3822191"/>
            <a:ext cx="2212848" cy="74980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Reachable NIXL host
Pod IP wiring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3822191"/>
            <a:ext cx="2852928" cy="749808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9D58"/>
                </a:solidFill>
                <a:latin typeface="Aptos"/>
              </a:rPr>
              <a:t>Stable InferencePool
targetPort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57400" y="4919472"/>
            <a:ext cx="64008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When the controller enforces these contracts, users reason about serving behavior instead of debugging hidden infrastructure wiring.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These are serving contracts, not decorative metadata: the platform has to enforce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The two projects solve different layers of the same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3429000" cy="438912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C2410C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847088"/>
            <a:ext cx="2743200" cy="43891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947672"/>
            <a:ext cx="1965960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111827"/>
                </a:solidFill>
                <a:latin typeface="Aptos"/>
              </a:rPr>
              <a:t>different layers of the same workflow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60604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EPP implementation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60604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CRD abstraction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278892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32688" y="342900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endpoint picking + routing execution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42900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resource generation + orchestration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17720" y="361188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932688" y="4251960"/>
            <a:ext cx="338328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future scheduling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251960"/>
            <a:ext cx="2944368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InferenceSet / autoscaling integration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617720" y="4434840"/>
            <a:ext cx="1783080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828800" y="5166360"/>
            <a:ext cx="745236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0">
                <a:solidFill>
                  <a:srgbClr val="111827"/>
                </a:solidFill>
                <a:latin typeface="Aptos"/>
              </a:rPr>
              <a:t>KAITO does not replace llm-d. It packages llm-d into a cleaner Kubernetes-native operating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47088"/>
            <a:ext cx="4160520" cy="43891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Users manage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847088"/>
            <a:ext cx="3822191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Platform manages plumbing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87168"/>
            <a:ext cx="4187952" cy="233172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4187952" cy="2331720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model choice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prefill / decode role definitions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replica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instance types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autoscaling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topology policy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87168"/>
            <a:ext cx="3822191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87168"/>
            <a:ext cx="3822191" cy="2560320"/>
          </a:xfrm>
          <a:prstGeom prst="rect">
            <a:avLst/>
          </a:prstGeom>
          <a:noFill/>
        </p:spPr>
        <p:txBody>
          <a:bodyPr wrap="square" lIns="73152" rIns="45720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child InferenceSets and InferencePool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llm-d Router EPP resources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sidecar injection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labels / services / targetPorts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NIXL env wiring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ownership refs and request correctness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per-role consistency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3429000"/>
            <a:ext cx="713232" cy="201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64748B"/>
                </a:solidFill>
                <a:latin typeface="Aptos"/>
              </a:rPr>
              <a:t>boundary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0096" y="3529584"/>
            <a:ext cx="877824" cy="146304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58368" y="5650992"/>
            <a:ext cx="9784080" cy="310896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0">
                <a:solidFill>
                  <a:srgbClr val="111827"/>
                </a:solidFill>
                <a:latin typeface="Aptos"/>
              </a:rPr>
              <a:t>The platform value is not fewer YAML files. It is a much cleaner operational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