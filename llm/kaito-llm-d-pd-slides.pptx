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KAITO + llm-d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9692640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How They Support Prefill/Decode Disaggregation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2423160"/>
            <a:ext cx="786384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600" b="0">
                <a:solidFill>
                  <a:srgbClr val="CBD5E1"/>
                </a:solidFill>
                <a:latin typeface="Aptos"/>
              </a:rPr>
              <a:t>A slide section generated from llm/kaito-llm-d-pd-slides.md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3703320"/>
            <a:ext cx="484632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Control plane: KAITO
Routing contract: GWIE
Scheduling substrate: llm-d Router
Runtime + KV path: vLLM + NIXL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097280"/>
            <a:ext cx="301752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Aptos"/>
              </a:rPr>
              <a:t>P/D platform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0" y="1828800"/>
            <a:ext cx="2286000" cy="502920"/>
          </a:xfrm>
          <a:prstGeom prst="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2788920"/>
            <a:ext cx="2286000" cy="502920"/>
          </a:xfrm>
          <a:prstGeom prst="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 + GWIE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0" y="3749039"/>
            <a:ext cx="2286000" cy="502920"/>
          </a:xfrm>
          <a:prstGeom prst="rect">
            <a:avLst/>
          </a:prstGeom>
          <a:solidFill>
            <a:srgbClr val="FFEDD5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95360" y="4709160"/>
            <a:ext cx="2286000" cy="502920"/>
          </a:xfrm>
          <a:prstGeom prst="rect">
            <a:avLst/>
          </a:prstGeom>
          <a:solidFill>
            <a:srgbClr val="EDE9FE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vLLM + NIXL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38360" y="2331720"/>
            <a:ext cx="0" cy="457200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738360" y="3291840"/>
            <a:ext cx="0" cy="457199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738360" y="4251960"/>
            <a:ext cx="0" cy="457200"/>
          </a:xfrm>
          <a:prstGeom prst="line">
            <a:avLst/>
          </a:prstGeom>
          <a:ln w="381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164592"/>
            <a:ext cx="548640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09728"/>
            <a:ext cx="10515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+ llm-d + GWIE: Division of Labor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960120"/>
            <a:ext cx="457200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600" b="0">
                <a:solidFill>
                  <a:srgbClr val="64748B"/>
                </a:solidFill>
                <a:latin typeface="Aptos"/>
              </a:rPr>
              <a:t>Three layers, three responsibilities, one usable P/D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4155"/>
                </a:solidFill>
              </a:defRPr>
            </a:pPr>
            <a:r>
              <a:t>KAITO = declarative API and Kubernetes orchestration for P/D topology</a:t>
            </a:r>
          </a:p>
          <a:p>
            <a:pPr>
              <a:spcAft>
                <a:spcPts val="600"/>
              </a:spcAft>
              <a:defRPr sz="1700">
                <a:solidFill>
                  <a:srgbClr val="334155"/>
                </a:solidFill>
              </a:defRPr>
            </a:pPr>
            <a:r>
              <a:t>GWIE = inference-aware routing contract between gateway and model backends</a:t>
            </a:r>
          </a:p>
          <a:p>
            <a:pPr>
              <a:spcAft>
                <a:spcPts val="600"/>
              </a:spcAft>
              <a:defRPr sz="1700">
                <a:solidFill>
                  <a:srgbClr val="334155"/>
                </a:solidFill>
              </a:defRPr>
            </a:pPr>
            <a:r>
              <a:t>llm-d Router = EPP-based endpoint selection and P/D-aware scheduling logic</a:t>
            </a:r>
          </a:p>
          <a:p>
            <a:pPr>
              <a:spcAft>
                <a:spcPts val="600"/>
              </a:spcAft>
              <a:defRPr sz="1700">
                <a:solidFill>
                  <a:srgbClr val="334155"/>
                </a:solidFill>
              </a:defRPr>
            </a:pPr>
            <a:r>
              <a:t>InferencePool = binds gateway-facing traffic to the serving backends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484632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1">
                <a:solidFill>
                  <a:srgbClr val="334155"/>
                </a:solidFill>
                <a:latin typeface="Aptos"/>
              </a:rPr>
              <a:t>Suggested architecture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1783080"/>
            <a:ext cx="4206240" cy="68580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User API layer
MultiRoleInference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834640"/>
            <a:ext cx="4572000" cy="86868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Kubernetes routing contract
InferencePool + Gateway API Inference Extension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069080"/>
            <a:ext cx="5120640" cy="1051560"/>
          </a:xfrm>
          <a:prstGeom prst="roundRect">
            <a:avLst/>
          </a:prstGeom>
          <a:solidFill>
            <a:srgbClr val="FFEDD5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Aptos"/>
              </a:rPr>
              <a:t>Execution and scheduling
llm-d Router EPP + prefill workers + decode workers + KV transfer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23960" y="2468880"/>
            <a:ext cx="0" cy="365760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823960" y="3703320"/>
            <a:ext cx="0" cy="365760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4360" y="6126480"/>
            <a:ext cx="10972800" cy="384048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0">
                <a:solidFill>
                  <a:srgbClr val="0F172A"/>
                </a:solidFill>
                <a:latin typeface="Aptos"/>
              </a:rPr>
              <a:t>KAITO makes P/D operable. llm-d makes it routable. GWIE makes it Kubernetes-native.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164592"/>
            <a:ext cx="548640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09728"/>
            <a:ext cx="10515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MultiRoleInference Object Describes the Topology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960120"/>
            <a:ext cx="54864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600" b="0">
                <a:solidFill>
                  <a:srgbClr val="64748B"/>
                </a:solidFill>
                <a:latin typeface="Aptos"/>
              </a:rPr>
              <a:t>Users declare intent once; the platform expands it into a runnable P/D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63040"/>
            <a:ext cx="4800600" cy="4251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1737360"/>
            <a:ext cx="4389120" cy="3566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500" b="0">
                <a:solidFill>
                  <a:srgbClr val="FFFFFF"/>
                </a:solidFill>
                <a:latin typeface="Consolas"/>
              </a:rPr>
              <a:t>apiVersion: kaito.sh/v1alpha1
kind: MultiRoleInference
metadata:
  name: phi-4-mini
spec:
  model:
    name: phi-4-mini-instruct
  roles:
    - type: prefill
      replicas: 1
      instanceType: Standard_NC24ads_A100_v4
    - type: decode
      replicas: 1
      instanceType: Standard_NC24ads_A100_v4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623560" y="3566160"/>
            <a:ext cx="868680" cy="0"/>
          </a:xfrm>
          <a:prstGeom prst="line">
            <a:avLst/>
          </a:prstGeom>
          <a:ln w="508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1828800"/>
            <a:ext cx="1828800" cy="548640"/>
          </a:xfrm>
          <a:prstGeom prst="roundRect">
            <a:avLst/>
          </a:prstGeom>
          <a:solidFill>
            <a:srgbClr val="FFEDD5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828800"/>
            <a:ext cx="1828800" cy="54864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971800"/>
            <a:ext cx="1828800" cy="54864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32520" y="2377440"/>
            <a:ext cx="0" cy="59436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9921240" y="2377440"/>
            <a:ext cx="0" cy="86868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37960" y="41605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One logical service with role-specific backends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Role-specific scaling intent for prefill and decode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Users describe what they want, not how to wire the stack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6126480"/>
            <a:ext cx="10972800" cy="384048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0">
                <a:solidFill>
                  <a:srgbClr val="0F172A"/>
                </a:solidFill>
                <a:latin typeface="Aptos"/>
              </a:rPr>
              <a:t>The CRD is the product surface. Users express topology intent; controllers own the plumbing.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164592"/>
            <a:ext cx="548640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09728"/>
            <a:ext cx="10515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Automatically Generates for P/D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960120"/>
            <a:ext cx="512064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600" b="0">
                <a:solidFill>
                  <a:srgbClr val="64748B"/>
                </a:solidFill>
                <a:latin typeface="Aptos"/>
              </a:rPr>
              <a:t>KAITO acts like the control-plane compiler for the topology.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926080"/>
            <a:ext cx="2926080" cy="640080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783080"/>
            <a:ext cx="2194560" cy="713232"/>
          </a:xfrm>
          <a:prstGeom prst="roundRect">
            <a:avLst/>
          </a:prstGeom>
          <a:solidFill>
            <a:srgbClr val="FFEDD5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InferenceSet
(prefill)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160520"/>
            <a:ext cx="2194560" cy="713232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InferenceSet
(decode)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83080"/>
            <a:ext cx="2194560" cy="713232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2971800"/>
            <a:ext cx="2194560" cy="713232"/>
          </a:xfrm>
          <a:prstGeom prst="roundRect">
            <a:avLst/>
          </a:prstGeom>
          <a:solidFill>
            <a:srgbClr val="FFEDD5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llm-d Router
EPP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160520"/>
            <a:ext cx="2194560" cy="713232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 injection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4572000"/>
            <a:ext cx="2194560" cy="713232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NIXL env wiring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2011680" y="2139696"/>
            <a:ext cx="3977640" cy="1106424"/>
          </a:xfrm>
          <a:prstGeom prst="line">
            <a:avLst/>
          </a:prstGeom>
          <a:ln w="29209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011680" y="3246120"/>
            <a:ext cx="3977640" cy="1271016"/>
          </a:xfrm>
          <a:prstGeom prst="line">
            <a:avLst/>
          </a:prstGeom>
          <a:ln w="29209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989320" y="2139696"/>
            <a:ext cx="3154680" cy="1106424"/>
          </a:xfrm>
          <a:prstGeom prst="line">
            <a:avLst/>
          </a:prstGeom>
          <a:ln w="29209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89320" y="3246120"/>
            <a:ext cx="2971800" cy="82296"/>
          </a:xfrm>
          <a:prstGeom prst="line">
            <a:avLst/>
          </a:prstGeom>
          <a:ln w="29209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89320" y="3246120"/>
            <a:ext cx="2743200" cy="1271016"/>
          </a:xfrm>
          <a:prstGeom prst="line">
            <a:avLst/>
          </a:prstGeom>
          <a:ln w="29209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623560" y="3246120"/>
            <a:ext cx="365760" cy="1682496"/>
          </a:xfrm>
          <a:prstGeom prst="line">
            <a:avLst/>
          </a:prstGeom>
          <a:ln w="29209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94360" y="6126480"/>
            <a:ext cx="10972800" cy="384048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0">
                <a:solidFill>
                  <a:srgbClr val="0F172A"/>
                </a:solidFill>
                <a:latin typeface="Aptos"/>
              </a:rPr>
              <a:t>KAITO does not replace llm-d. It generates, owns, and keeps the llm-d-facing resources consistent.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164592"/>
            <a:ext cx="548640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09728"/>
            <a:ext cx="10515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a P/D Request Actually Executes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960120"/>
            <a:ext cx="521208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600" b="0">
                <a:solidFill>
                  <a:srgbClr val="64748B"/>
                </a:solidFill>
                <a:latin typeface="Aptos"/>
              </a:rPr>
              <a:t>One endpoint for the user; multiple coordinated steps underneath.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0200"/>
            <a:ext cx="1234440" cy="530352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1600200"/>
            <a:ext cx="1234440" cy="530352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Gateway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600200"/>
            <a:ext cx="1234440" cy="530352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InferencePool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1600200"/>
            <a:ext cx="1234440" cy="530352"/>
          </a:xfrm>
          <a:prstGeom prst="roundRect">
            <a:avLst/>
          </a:prstGeom>
          <a:solidFill>
            <a:srgbClr val="FFEDD5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1600200"/>
            <a:ext cx="1234440" cy="530352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Decode sidecar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1600200"/>
            <a:ext cx="1234440" cy="530352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Decode vLLM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20240" y="1865376"/>
            <a:ext cx="45720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00400" y="1865376"/>
            <a:ext cx="137160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1865376"/>
            <a:ext cx="411480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217920" y="1865376"/>
            <a:ext cx="777240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229600" y="1865376"/>
            <a:ext cx="914400" cy="0"/>
          </a:xfrm>
          <a:prstGeom prst="line">
            <a:avLst/>
          </a:prstGeom>
          <a:ln w="3048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995160" y="2788920"/>
            <a:ext cx="1234440" cy="530352"/>
          </a:xfrm>
          <a:prstGeom prst="roundRect">
            <a:avLst/>
          </a:prstGeom>
          <a:solidFill>
            <a:srgbClr val="FFEDD5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589520" y="2130552"/>
            <a:ext cx="0" cy="658368"/>
          </a:xfrm>
          <a:prstGeom prst="line">
            <a:avLst/>
          </a:prstGeom>
          <a:ln w="3048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229600" y="2130552"/>
            <a:ext cx="914400" cy="923544"/>
          </a:xfrm>
          <a:prstGeom prst="line">
            <a:avLst/>
          </a:prstGeom>
          <a:ln w="3048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75320" y="2880360"/>
            <a:ext cx="1097280" cy="347472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 KV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703320"/>
            <a:ext cx="7680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1. Gateway / HTTPRoute forwards to the InferencePool for the model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2. llm-d Router EPP decides whether prefill work is needed and selects the role-specific backends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3. The request lands on a decode pod, whose sidecar coordinates prefill on the selected prefill pod</a:t>
            </a:r>
          </a:p>
          <a:p>
            <a:pPr>
              <a:spcAft>
                <a:spcPts val="500"/>
              </a:spcAft>
              <a:defRPr sz="1500">
                <a:solidFill>
                  <a:srgbClr val="334155"/>
                </a:solidFill>
              </a:defRPr>
            </a:pPr>
            <a:r>
              <a:t>4. KV cache is transferred directly to decode via NIXL, and local decode vLLM continues generation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41080" y="3794760"/>
            <a:ext cx="265176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500" b="0">
                <a:solidFill>
                  <a:srgbClr val="334155"/>
                </a:solidFill>
                <a:latin typeface="Aptos"/>
              </a:rPr>
              <a:t>• Decode is the coordination point
• Prefill is selected only when it helps
• KV transfer bridges the two phases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6126480"/>
            <a:ext cx="10972800" cy="384048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0">
                <a:solidFill>
                  <a:srgbClr val="0F172A"/>
                </a:solidFill>
                <a:latin typeface="Aptos"/>
              </a:rPr>
              <a:t>The user sees one endpoint. The platform coordinates routing, prefill placement, KV movement, and decode execution across multiple pods.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164592"/>
            <a:ext cx="548640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09728"/>
            <a:ext cx="10515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Routing Sidecar Lives on Decode Pods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960120"/>
            <a:ext cx="59436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600" b="0">
                <a:solidFill>
                  <a:srgbClr val="64748B"/>
                </a:solidFill>
                <a:latin typeface="Aptos"/>
              </a:rPr>
              <a:t>Sidecar placement is an execution design choice, not an incidental implementation detail.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0" y="1508760"/>
            <a:ext cx="4389120" cy="4297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09560" y="1691640"/>
            <a:ext cx="201168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172A"/>
                </a:solidFill>
                <a:latin typeface="Aptos"/>
              </a:rPr>
              <a:t>Decode Pod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2423160"/>
            <a:ext cx="3429000" cy="749808"/>
          </a:xfrm>
          <a:prstGeom prst="roundRect">
            <a:avLst/>
          </a:prstGeom>
          <a:solidFill>
            <a:srgbClr val="EDE9FE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Routing sidecar
port 5000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3794760"/>
            <a:ext cx="3429000" cy="749808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Local decode vLLM
port 5001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887968" y="3172968"/>
            <a:ext cx="0" cy="621792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715000" y="2578608"/>
            <a:ext cx="1005840" cy="384048"/>
          </a:xfrm>
          <a:prstGeom prst="roundRect">
            <a:avLst/>
          </a:prstGeom>
          <a:solidFill>
            <a:srgbClr val="DCFCE7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from EPP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6355080" y="2788920"/>
            <a:ext cx="365760" cy="0"/>
          </a:xfrm>
          <a:prstGeom prst="line">
            <a:avLst/>
          </a:prstGeom>
          <a:ln w="3302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881360" y="3127248"/>
            <a:ext cx="914400" cy="384048"/>
          </a:xfrm>
          <a:prstGeom prst="roundRect">
            <a:avLst/>
          </a:prstGeom>
          <a:solidFill>
            <a:srgbClr val="FFEDD5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 KV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07040" y="3319272"/>
            <a:ext cx="320040" cy="850391"/>
          </a:xfrm>
          <a:prstGeom prst="line">
            <a:avLst/>
          </a:prstGeom>
          <a:ln w="3302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164592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Decode pods are the final response point for user traffic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The routing sidecar receives the EPP decision, coordinates prefill, waits for KV handoff, then forwards to local vLLM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This keeps the external routing contract cleaner: sidecar on 5000, local decode vLLM on 5001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Prefill pods stay simpler and focus only on prompt processing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6126480"/>
            <a:ext cx="10972800" cy="384048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0">
                <a:solidFill>
                  <a:srgbClr val="0F172A"/>
                </a:solidFill>
                <a:latin typeface="Aptos"/>
              </a:rPr>
              <a:t>Decode-side sidecar placement turns the decode pod into the coordination point for P/D execution.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164592"/>
            <a:ext cx="548640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09728"/>
            <a:ext cx="10515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Runtime Contracts That Make P/D Actually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960120"/>
            <a:ext cx="530352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600" b="0">
                <a:solidFill>
                  <a:srgbClr val="64748B"/>
                </a:solidFill>
                <a:latin typeface="Aptos"/>
              </a:rPr>
              <a:t>Most real failures here are contract bugs, not model bugs.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600200"/>
            <a:ext cx="219456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Contract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600200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Prefill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7640" y="1600200"/>
            <a:ext cx="10972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Decode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600200"/>
            <a:ext cx="4297680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Why it matters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039112"/>
            <a:ext cx="21945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Routing sidecar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039112"/>
            <a:ext cx="109728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7640" y="2039112"/>
            <a:ext cx="109728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Yes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2039112"/>
            <a:ext cx="429768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0">
                <a:solidFill>
                  <a:srgbClr val="0F172A"/>
                </a:solidFill>
                <a:latin typeface="Aptos"/>
              </a:rPr>
              <a:t>Decode is the coordination 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478024"/>
            <a:ext cx="2194560" cy="438912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vLLM port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2478024"/>
            <a:ext cx="1097280" cy="438912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5000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40" y="2478024"/>
            <a:ext cx="1097280" cy="438912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5001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2478024"/>
            <a:ext cx="4297680" cy="438912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0">
                <a:solidFill>
                  <a:srgbClr val="0F172A"/>
                </a:solidFill>
                <a:latin typeface="Aptos"/>
              </a:rPr>
              <a:t>Avoid sidecar ↔ local vLLM collision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16936"/>
            <a:ext cx="21945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Sidecar ingress 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2916936"/>
            <a:ext cx="109728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N/A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40" y="2916936"/>
            <a:ext cx="109728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5000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2916936"/>
            <a:ext cx="429768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0">
                <a:solidFill>
                  <a:srgbClr val="0F172A"/>
                </a:solidFill>
                <a:latin typeface="Aptos"/>
              </a:rPr>
              <a:t>Gives decode a stable external entry point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355848"/>
            <a:ext cx="2194560" cy="438912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Role label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3355848"/>
            <a:ext cx="1097280" cy="438912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prefill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77640" y="3355848"/>
            <a:ext cx="1097280" cy="438912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decode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3355848"/>
            <a:ext cx="4297680" cy="438912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0">
                <a:solidFill>
                  <a:srgbClr val="0F172A"/>
                </a:solidFill>
                <a:latin typeface="Aptos"/>
              </a:rPr>
              <a:t>EPP filters workers by role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794760"/>
            <a:ext cx="219456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 side-channel host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3794760"/>
            <a:ext cx="109728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Pod 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40" y="3794760"/>
            <a:ext cx="109728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Pod IP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74920" y="3794760"/>
            <a:ext cx="4297680" cy="438912"/>
          </a:xfrm>
          <a:prstGeom prst="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0">
                <a:solidFill>
                  <a:srgbClr val="0F172A"/>
                </a:solidFill>
                <a:latin typeface="Aptos"/>
              </a:rPr>
              <a:t>KV handoff must advertise a reachable address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233672"/>
            <a:ext cx="2194560" cy="438912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InferencePool targetPort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4233672"/>
            <a:ext cx="1097280" cy="438912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Shared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77640" y="4233672"/>
            <a:ext cx="1097280" cy="438912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Shared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4233672"/>
            <a:ext cx="4297680" cy="438912"/>
          </a:xfrm>
          <a:prstGeom prst="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0">
                <a:solidFill>
                  <a:srgbClr val="0F172A"/>
                </a:solidFill>
                <a:latin typeface="Aptos"/>
              </a:rPr>
              <a:t>Gateway/EPP expect consistent routing semantics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66344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Contracts must be controller-enforced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Labels are functional metadata, not decoration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TargetPort is part of the serving contract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Pod IP / env wiring must be automatic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6126480"/>
            <a:ext cx="10972800" cy="384048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0">
                <a:solidFill>
                  <a:srgbClr val="0F172A"/>
                </a:solidFill>
                <a:latin typeface="Aptos"/>
              </a:rPr>
              <a:t>If these contracts are not enforced by the controller, users debug infrastructure wiring as if it were model behavior.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164592"/>
            <a:ext cx="548640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09728"/>
            <a:ext cx="10515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Does Not Replace llm-d — It Operationalizes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960120"/>
            <a:ext cx="576072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600" b="0">
                <a:solidFill>
                  <a:srgbClr val="64748B"/>
                </a:solidFill>
                <a:latin typeface="Aptos"/>
              </a:rPr>
              <a:t>The two projects solve different layers of the same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645920"/>
            <a:ext cx="4160520" cy="47548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llm-d Router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6600" y="1645920"/>
            <a:ext cx="4160520" cy="47548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KAITO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331720"/>
            <a:ext cx="4251960" cy="411480"/>
          </a:xfrm>
          <a:prstGeom prst="roundRect">
            <a:avLst/>
          </a:prstGeom>
          <a:solidFill>
            <a:srgbClr val="FFEDD5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500" b="0">
                <a:solidFill>
                  <a:srgbClr val="0F172A"/>
                </a:solidFill>
                <a:latin typeface="Aptos"/>
              </a:rPr>
              <a:t>EPP implementation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2331720"/>
            <a:ext cx="4251960" cy="41148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500" b="0">
                <a:solidFill>
                  <a:srgbClr val="0F172A"/>
                </a:solidFill>
                <a:latin typeface="Aptos"/>
              </a:rPr>
              <a:t>CRD abstraction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03520" y="2537460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62072"/>
            <a:ext cx="4251960" cy="411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500" b="0">
                <a:solidFill>
                  <a:srgbClr val="0F172A"/>
                </a:solidFill>
                <a:latin typeface="Aptos"/>
              </a:rPr>
              <a:t>endpoint picking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2862072"/>
            <a:ext cx="4251960" cy="411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500" b="0">
                <a:solidFill>
                  <a:srgbClr val="0F172A"/>
                </a:solidFill>
                <a:latin typeface="Aptos"/>
              </a:rPr>
              <a:t>child resource generation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03520" y="3067812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14400" y="3392424"/>
            <a:ext cx="4251960" cy="411480"/>
          </a:xfrm>
          <a:prstGeom prst="roundRect">
            <a:avLst/>
          </a:prstGeom>
          <a:solidFill>
            <a:srgbClr val="FFEDD5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500" b="0">
                <a:solidFill>
                  <a:srgbClr val="0F172A"/>
                </a:solidFill>
                <a:latin typeface="Aptos"/>
              </a:rPr>
              <a:t>scheduling profiles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3392424"/>
            <a:ext cx="4251960" cy="41148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500" b="0">
                <a:solidFill>
                  <a:srgbClr val="0F172A"/>
                </a:solidFill>
                <a:latin typeface="Aptos"/>
              </a:rPr>
              <a:t>lifecycle orchestration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03520" y="3598164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4400" y="3922775"/>
            <a:ext cx="4251960" cy="411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500" b="0">
                <a:solidFill>
                  <a:srgbClr val="0F172A"/>
                </a:solidFill>
                <a:latin typeface="Aptos"/>
              </a:rPr>
              <a:t>P/D-aware plugins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3922775"/>
            <a:ext cx="4251960" cy="411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500" b="0">
                <a:solidFill>
                  <a:srgbClr val="0F172A"/>
                </a:solidFill>
                <a:latin typeface="Aptos"/>
              </a:rPr>
              <a:t>Kubernetes-native UX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03520" y="4128515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4400" y="4453127"/>
            <a:ext cx="4251960" cy="411480"/>
          </a:xfrm>
          <a:prstGeom prst="roundRect">
            <a:avLst/>
          </a:prstGeom>
          <a:solidFill>
            <a:srgbClr val="FFEDD5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500" b="0">
                <a:solidFill>
                  <a:srgbClr val="0F172A"/>
                </a:solidFill>
                <a:latin typeface="Aptos"/>
              </a:rPr>
              <a:t>routing execution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4453127"/>
            <a:ext cx="4251960" cy="41148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500" b="0">
                <a:solidFill>
                  <a:srgbClr val="0F172A"/>
                </a:solidFill>
                <a:latin typeface="Aptos"/>
              </a:rPr>
              <a:t>integration with InferenceSet / autoscaling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03520" y="4658867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4400" y="4983479"/>
            <a:ext cx="4251960" cy="411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500" b="0">
                <a:solidFill>
                  <a:srgbClr val="0F172A"/>
                </a:solidFill>
                <a:latin typeface="Aptos"/>
              </a:rPr>
              <a:t>future scheduling surface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4983479"/>
            <a:ext cx="4251960" cy="411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500" b="0">
                <a:solidFill>
                  <a:srgbClr val="0F172A"/>
                </a:solidFill>
                <a:latin typeface="Aptos"/>
              </a:rPr>
              <a:t>future topology APIs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03520" y="5189219"/>
            <a:ext cx="1600200" cy="0"/>
          </a:xfrm>
          <a:prstGeom prst="line">
            <a:avLst/>
          </a:prstGeom>
          <a:ln w="2794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4360" y="6126480"/>
            <a:ext cx="10972800" cy="384048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0">
                <a:solidFill>
                  <a:srgbClr val="0F172A"/>
                </a:solidFill>
                <a:latin typeface="Aptos"/>
              </a:rPr>
              <a:t>This is not KAITO vs. llm-d. KAITO builds on llm-d and turns it into a cleaner Kubernetes workflow.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164592"/>
            <a:ext cx="548640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09728"/>
            <a:ext cx="10515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Users Manage vs. What the Platform Manages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960120"/>
            <a:ext cx="585216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600" b="0">
                <a:solidFill>
                  <a:srgbClr val="64748B"/>
                </a:solidFill>
                <a:latin typeface="Aptos"/>
              </a:rPr>
              <a:t>P/D becomes usable when the ownership boundary is clean.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600200"/>
            <a:ext cx="4572000" cy="47548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User intent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1600200"/>
            <a:ext cx="4572000" cy="47548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Platform-managed plumbing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model choice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prefill/decode role definitions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replica intent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instance types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autoscaling intent</a:t>
            </a: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t>policy-level topology decisions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240280"/>
            <a:ext cx="4434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child InferenceSets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InferencePool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llm-d Router EPP resources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sidecar injection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labels / services / targetPorts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env wiring for NIXL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ownership references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request path correctness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per-role wiring consistency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23560" y="3611880"/>
            <a:ext cx="868680" cy="0"/>
          </a:xfrm>
          <a:prstGeom prst="line">
            <a:avLst/>
          </a:prstGeom>
          <a:ln w="508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4360" y="6126480"/>
            <a:ext cx="10972800" cy="384048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1300" b="0">
                <a:solidFill>
                  <a:srgbClr val="0F172A"/>
                </a:solidFill>
                <a:latin typeface="Aptos"/>
              </a:rPr>
              <a:t>The platform value is not fewer YAML files. The platform value is a cleaner operational ownership boundary.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051560"/>
            <a:ext cx="10332720" cy="822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Why This Matters Operationally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2057400"/>
            <a:ext cx="9601200" cy="2194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/>
            <a:r>
              <a:rPr sz="2100" b="0">
                <a:solidFill>
                  <a:srgbClr val="FFFFFF"/>
                </a:solidFill>
                <a:latin typeface="Aptos"/>
              </a:rPr>
              <a:t>• P/D is useful because prefill and decode have different resource profiles.
• llm-d is useful because routing and scheduling need role awareness.
• KAITO is useful because platform teams need a Kubernetes-native control-plane abstraction.
• Together they turn P/D from a manual stack into a repeatable platform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17320" y="5074920"/>
            <a:ext cx="932688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KAITO turns llm-d-style prefill/decode disaggregation from a manual routing stack into a declarative Kubernetes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