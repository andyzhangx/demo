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5"/>
  </p:notesMasterIdLst>
  <p:sldIdLst>
    <p:sldId id="258" r:id="rId2"/>
    <p:sldId id="260" r:id="rId3"/>
    <p:sldId id="259" r:id="rId4"/>
    <p:sldId id="261" r:id="rId5"/>
    <p:sldId id="2147375730" r:id="rId6"/>
    <p:sldId id="2147375731" r:id="rId7"/>
    <p:sldId id="2147375740" r:id="rId8"/>
    <p:sldId id="2147375733" r:id="rId9"/>
    <p:sldId id="262" r:id="rId10"/>
    <p:sldId id="263" r:id="rId11"/>
    <p:sldId id="264" r:id="rId12"/>
    <p:sldId id="268" r:id="rId13"/>
    <p:sldId id="2147375741" r:id="rId14"/>
    <p:sldId id="269" r:id="rId15"/>
    <p:sldId id="2147375737" r:id="rId16"/>
    <p:sldId id="2147375738" r:id="rId17"/>
    <p:sldId id="2147375701" r:id="rId18"/>
    <p:sldId id="278" r:id="rId19"/>
    <p:sldId id="2147375718" r:id="rId20"/>
    <p:sldId id="2147375739" r:id="rId21"/>
    <p:sldId id="270" r:id="rId22"/>
    <p:sldId id="2147375706" r:id="rId23"/>
    <p:sldId id="256" r:id="rId24"/>
    <p:sldId id="257" r:id="rId25"/>
    <p:sldId id="2147375722" r:id="rId26"/>
    <p:sldId id="2147375723" r:id="rId27"/>
    <p:sldId id="2147375724" r:id="rId28"/>
    <p:sldId id="2147375725" r:id="rId29"/>
    <p:sldId id="295" r:id="rId30"/>
    <p:sldId id="277" r:id="rId31"/>
    <p:sldId id="2147375729" r:id="rId32"/>
    <p:sldId id="273" r:id="rId33"/>
    <p:sldId id="279" r:id="rId34"/>
    <p:sldId id="280" r:id="rId35"/>
    <p:sldId id="281" r:id="rId36"/>
    <p:sldId id="287" r:id="rId37"/>
    <p:sldId id="282" r:id="rId38"/>
    <p:sldId id="285" r:id="rId39"/>
    <p:sldId id="301" r:id="rId40"/>
    <p:sldId id="2147375736" r:id="rId41"/>
    <p:sldId id="266" r:id="rId42"/>
    <p:sldId id="265" r:id="rId43"/>
    <p:sldId id="283" r:id="rId44"/>
    <p:sldId id="2147375721" r:id="rId45"/>
    <p:sldId id="2147375719" r:id="rId46"/>
    <p:sldId id="2147375714" r:id="rId47"/>
    <p:sldId id="2147375726" r:id="rId48"/>
    <p:sldId id="296" r:id="rId49"/>
    <p:sldId id="2147375735" r:id="rId50"/>
    <p:sldId id="275" r:id="rId51"/>
    <p:sldId id="2147375697" r:id="rId52"/>
    <p:sldId id="284" r:id="rId53"/>
    <p:sldId id="2147375700" r:id="rId5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56" roundtripDataSignature="AMtx7mgP6jlGysE4CB0wmKbnycLtctRsu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5939" autoAdjust="0"/>
  </p:normalViewPr>
  <p:slideViewPr>
    <p:cSldViewPr snapToGrid="0">
      <p:cViewPr varScale="1">
        <p:scale>
          <a:sx n="66" d="100"/>
          <a:sy n="66" d="100"/>
        </p:scale>
        <p:origin x="1284" y="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customschemas.google.com/relationships/presentationmetadata" Target="metadata"/><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lang="en-US" sz="1200"/>
              <a:t>Welcome to Cloud Native AI and Inference Day. Today we’ll look at why starting an LLM answer and keeping it flowing need different things—and when it makes sense to separate them on Kubernetes.</a:t>
            </a:r>
          </a:p>
        </p:txBody>
      </p:sp>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298450">
              <a:buClr>
                <a:srgbClr val="000000"/>
              </a:buClr>
              <a:buSzPts val="1100"/>
              <a:buFont typeface="Arial"/>
              <a:buChar char="●"/>
            </a:pPr>
            <a:r>
              <a:rPr lang="en-US" altLang="zh-CN" sz="1200" dirty="0"/>
              <a:t>OK, let's start now, this session is “</a:t>
            </a:r>
            <a:r>
              <a:rPr lang="en-US" altLang="zh-CN" sz="1200" b="0" cap="none" dirty="0">
                <a:solidFill>
                  <a:srgbClr val="142C46"/>
                </a:solidFill>
                <a:latin typeface="Arial"/>
              </a:rPr>
              <a:t>Prefill here, decode there</a:t>
            </a:r>
            <a:r>
              <a:rPr lang="en-US" altLang="zh-CN" sz="1200" b="1" cap="none" dirty="0">
                <a:solidFill>
                  <a:srgbClr val="142C46"/>
                </a:solidFill>
                <a:latin typeface="Arial"/>
              </a:rPr>
              <a:t>, </a:t>
            </a:r>
            <a:r>
              <a:rPr lang="en-US" altLang="zh-CN" sz="1200" cap="none" dirty="0">
                <a:solidFill>
                  <a:srgbClr val="142C46"/>
                </a:solidFill>
                <a:latin typeface="Arial"/>
              </a:rPr>
              <a:t>Kubernetes-native LLM inference with KAITO and </a:t>
            </a:r>
            <a:r>
              <a:rPr lang="en-US" altLang="zh-CN" sz="1200" cap="none" dirty="0" err="1">
                <a:solidFill>
                  <a:srgbClr val="142C46"/>
                </a:solidFill>
                <a:latin typeface="Arial"/>
              </a:rPr>
              <a:t>llm</a:t>
            </a:r>
            <a:r>
              <a:rPr lang="en-US" altLang="zh-CN" sz="1200" cap="none" dirty="0">
                <a:solidFill>
                  <a:srgbClr val="142C46"/>
                </a:solidFill>
                <a:latin typeface="Arial"/>
              </a:rPr>
              <a:t>-d”, I will explain what’s the prefill and decode processes in LLM inference, and how we implement this p/d disaggregation using KAITO and </a:t>
            </a:r>
            <a:r>
              <a:rPr lang="en-US" altLang="zh-CN" sz="1200" cap="none" dirty="0" err="1">
                <a:solidFill>
                  <a:srgbClr val="142C46"/>
                </a:solidFill>
                <a:latin typeface="Arial"/>
              </a:rPr>
              <a:t>llm</a:t>
            </a:r>
            <a:r>
              <a:rPr lang="en-US" altLang="zh-CN" sz="1200" cap="none" dirty="0">
                <a:solidFill>
                  <a:srgbClr val="142C46"/>
                </a:solidFill>
                <a:latin typeface="Arial"/>
              </a:rPr>
              <a:t>-d projects and how we perform autoscaling for these two processes </a:t>
            </a:r>
            <a:r>
              <a:rPr lang="zh-CN" altLang="zh-CN" sz="1200" b="0" i="0" u="none" strike="noStrike" cap="none" spc="0" dirty="0">
                <a:solidFill>
                  <a:srgbClr val="000000"/>
                </a:solidFill>
                <a:effectLst/>
                <a:latin typeface="Arial"/>
                <a:ea typeface="Arial"/>
                <a:cs typeface="Arial"/>
                <a:sym typeface="Arial"/>
              </a:rPr>
              <a:t>independently as traffic changes.</a:t>
            </a:r>
          </a:p>
        </p:txBody>
      </p:sp>
      <p:sp>
        <p:nvSpPr>
          <p:cNvPr id="106" name="Google Shape;106;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To begin with, let me introduce myself. I am Andy Zhang, </a:t>
            </a:r>
            <a:r>
              <a:rPr lang="en-US" altLang="zh-CN" sz="1200" dirty="0"/>
              <a:t>Software Engineer </a:t>
            </a:r>
            <a:r>
              <a:rPr lang="en-US" sz="1200" dirty="0"/>
              <a:t>at Microsoft AKS team, and </a:t>
            </a:r>
            <a:r>
              <a:rPr lang="en-US" altLang="zh-CN" sz="1200" dirty="0"/>
              <a:t>I </a:t>
            </a:r>
            <a:r>
              <a:rPr lang="en-US" altLang="zh-CN" sz="1200"/>
              <a:t>am the </a:t>
            </a:r>
            <a:r>
              <a:rPr lang="en-US" altLang="zh-CN" sz="1200" dirty="0"/>
              <a:t>maintainer of KAITO and several CSI drivers. </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dirty="0"/>
              <a:t>Unfortunately, my co-presenter Linbo couldn’t join us because he cannot get his visa in time, so I’ll be presenting alone today.</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US" altLang="zh-CN" sz="1200" dirty="0"/>
          </a:p>
          <a:p>
            <a:pPr marL="457200" lvl="0" indent="-298450">
              <a:buClr>
                <a:srgbClr val="000000"/>
              </a:buClr>
              <a:buSzPts val="1100"/>
              <a:buFont typeface="Arial"/>
              <a:buChar char="●"/>
            </a:pPr>
            <a:endParaRPr lang="en-US" sz="1200" dirty="0"/>
          </a:p>
        </p:txBody>
      </p:sp>
      <p:sp>
        <p:nvSpPr>
          <p:cNvPr id="100" name="Google Shape;10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873DB8F0-69AE-A128-084F-BA75E68FA44E}"/>
            </a:ext>
          </a:extLst>
        </p:cNvPr>
        <p:cNvGrpSpPr/>
        <p:nvPr/>
      </p:nvGrpSpPr>
      <p:grpSpPr>
        <a:xfrm>
          <a:off x="0" y="0"/>
          <a:ext cx="0" cy="0"/>
          <a:chOff x="0" y="0"/>
          <a:chExt cx="0" cy="0"/>
        </a:xfrm>
      </p:grpSpPr>
      <p:sp>
        <p:nvSpPr>
          <p:cNvPr id="99" name="Google Shape;99;p3:notes">
            <a:extLst>
              <a:ext uri="{FF2B5EF4-FFF2-40B4-BE49-F238E27FC236}">
                <a16:creationId xmlns:a16="http://schemas.microsoft.com/office/drawing/2014/main" id="{4AEF8EC1-9D83-9206-6FD4-1256E57E7B4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298450">
              <a:buClr>
                <a:srgbClr val="000000"/>
              </a:buClr>
              <a:buSzPts val="1100"/>
              <a:buFont typeface="Arial"/>
              <a:buChar char="●"/>
            </a:pPr>
            <a:r>
              <a:rPr lang="en-US" altLang="zh-CN" sz="1200" dirty="0"/>
              <a:t>Here’s the agenda. We’ll start with inference basics, what are the prefill and decode processes, and why it makes sense to separate them. Then, , I will  introduce </a:t>
            </a:r>
            <a:r>
              <a:rPr lang="en-US" altLang="zh-CN" sz="1200" dirty="0" err="1"/>
              <a:t>llm</a:t>
            </a:r>
            <a:r>
              <a:rPr lang="en-US" altLang="zh-CN" sz="1200" dirty="0"/>
              <a:t>-d and KAITO and show how they work together to support P/D disaggregation. Finally, I will explore how to scale prefill and decode independently when traffic changes.</a:t>
            </a:r>
          </a:p>
        </p:txBody>
      </p:sp>
      <p:sp>
        <p:nvSpPr>
          <p:cNvPr id="100" name="Google Shape;100;p3:notes">
            <a:extLst>
              <a:ext uri="{FF2B5EF4-FFF2-40B4-BE49-F238E27FC236}">
                <a16:creationId xmlns:a16="http://schemas.microsoft.com/office/drawing/2014/main" id="{A1D61140-BECF-FCA5-B5A6-3748E8BA59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7269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lvl="0" indent="-298450">
              <a:buClr>
                <a:srgbClr val="000000"/>
              </a:buClr>
              <a:buSzPts val="1100"/>
              <a:buFont typeface="Arial"/>
              <a:buChar char="●"/>
            </a:pPr>
            <a:r>
              <a:rPr lang="en-US" altLang="zh-CN" sz="1200" dirty="0"/>
              <a:t>Here is an example for prefill process. </a:t>
            </a:r>
            <a:r>
              <a:rPr lang="en-US" sz="1200" dirty="0"/>
              <a:t>Our prompt is “What does Kubernetes do?” Assume one token per word, plus punctuation: five prompt positions. These word-level tokens are illustrative, not a real tokenizer’s output.</a:t>
            </a:r>
          </a:p>
          <a:p>
            <a:r>
              <a:rPr lang="en-US" sz="1200" dirty="0"/>
              <a:t>We process prompt positions together; each sees only itself and earlier positions. We cache attention keys and values for all five prompt positions at every layer. </a:t>
            </a:r>
          </a:p>
          <a:p>
            <a:pPr marL="158750" indent="0">
              <a:buNone/>
            </a:pPr>
            <a:r>
              <a:rPr lang="en-US" sz="1200" dirty="0"/>
              <a:t>       </a:t>
            </a:r>
            <a:r>
              <a:rPr lang="en-US" sz="1200" b="1" dirty="0"/>
              <a:t>Prefill process will use the final position’s scores to select “Kubernetes”. And then </a:t>
            </a:r>
            <a:r>
              <a:rPr lang="en-US" sz="1200" b="1" dirty="0" err="1"/>
              <a:t>dDecode</a:t>
            </a:r>
            <a:r>
              <a:rPr lang="en-US" sz="1200" b="1" dirty="0"/>
              <a:t> will consume it and cache its K/V.</a:t>
            </a:r>
          </a:p>
          <a:p>
            <a:endParaRPr lang="en-US" sz="1200" dirty="0"/>
          </a:p>
          <a:p>
            <a:r>
              <a:rPr dirty="0"/>
              <a:t>References</a:t>
            </a:r>
          </a:p>
          <a:p>
            <a:r>
              <a:rPr dirty="0"/>
              <a:t>https://huggingface.co/docs/transformers/en/cache_explanation</a:t>
            </a:r>
          </a:p>
          <a:p>
            <a:r>
              <a:rPr dirty="0"/>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Decode consumes “Kubernetes”, reads past KV, appends K/V for “Kubernetes” to each layer, and selects “helps”. Next, it consumes “helps” and selects “teams”. We cache the token we consume, not the one we just select. We reuse past KV.</a:t>
            </a:r>
          </a:p>
          <a:p>
            <a:r>
              <a:rPr lang="en-US" sz="1200" dirty="0"/>
              <a:t>Each selected token becomes the next input. Repeat until the answer is complete. Below, TTFT is the wait from the request to the first token. ITL is the time between token arrivals. </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1" dirty="0"/>
              <a:t>The timeline below switches to the client’s view. The wait from sending the request to receiving ‘Kubernetes’ is time to first token, which is TTFT. The gaps between later arrivals are inter-token latency, which is ITL. They show why starting an answer quickly and keeping it flowing smoothly are two different goals. </a:t>
            </a:r>
            <a:endParaRPr lang="en-US" sz="1200" dirty="0"/>
          </a:p>
          <a:p>
            <a:endParaRPr lang="en-US" sz="1200" dirty="0"/>
          </a:p>
          <a:p>
            <a:r>
              <a:rPr dirty="0"/>
              <a:t>References</a:t>
            </a:r>
          </a:p>
          <a:p>
            <a:r>
              <a:rPr dirty="0"/>
              <a:t>https://huggingface.co/docs/transformers/en/cache_explanation</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dirty="0"/>
              <a:t>We want answers to start quickly—and keep going smoothly. </a:t>
            </a:r>
          </a:p>
          <a:p>
            <a:pPr>
              <a:spcAft>
                <a:spcPts val="375"/>
              </a:spcAft>
              <a:defRPr sz="1700" b="0">
                <a:solidFill>
                  <a:srgbClr val="586A80"/>
                </a:solidFill>
                <a:latin typeface="Arial"/>
              </a:defRPr>
            </a:pPr>
            <a:r>
              <a:rPr lang="en-US" altLang="zh-CN" sz="1200" dirty="0"/>
              <a:t>Prefill determines </a:t>
            </a:r>
            <a:r>
              <a:rPr lang="en-US" altLang="zh-CN" sz="1200" cap="none" dirty="0">
                <a:latin typeface="Arial"/>
              </a:rPr>
              <a:t>how soon the answer starts, so it determines </a:t>
            </a:r>
            <a:r>
              <a:rPr lang="en-US" altLang="zh-CN" sz="1200" dirty="0"/>
              <a:t>time to first token, TTFT, and </a:t>
            </a:r>
            <a:r>
              <a:rPr lang="en-US" altLang="zh-CN" sz="1200" cap="none" dirty="0">
                <a:latin typeface="Arial"/>
              </a:rPr>
              <a:t>Prefill processes the input and is often compute-bound.</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dirty="0"/>
              <a:t>Decode determines whether the answer keeps flowing, </a:t>
            </a:r>
            <a:r>
              <a:rPr lang="en-US" altLang="zh-CN" sz="1200" cap="none" dirty="0">
                <a:latin typeface="Arial"/>
              </a:rPr>
              <a:t>so it determines </a:t>
            </a:r>
            <a:r>
              <a:rPr lang="en-US" altLang="zh-CN" sz="1200" dirty="0"/>
              <a:t>inter-token, ITL, and decode is often </a:t>
            </a:r>
            <a:r>
              <a:rPr lang="en-US" altLang="zh-CN" sz="1200" b="0" cap="none" dirty="0">
                <a:latin typeface="Arial"/>
              </a:rPr>
              <a:t>memory bandwidth bound</a:t>
            </a:r>
            <a:r>
              <a:rPr lang="en-US" altLang="zh-CN" sz="1200" dirty="0"/>
              <a:t>. Queueing and delivery matter too. </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Our goal is to serve more requests while meeting both latency targets. SLO goodput means the number of requests per second that meet both targets. </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US" sz="1200" dirty="0"/>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b="1" dirty="0"/>
              <a:t>Delete</a:t>
            </a:r>
            <a:r>
              <a:rPr lang="en-US" sz="1200" dirty="0"/>
              <a:t>: If we complete 100 requests per second, but only 70 meet both targets, our SLO goodput is 70 requests per second. </a:t>
            </a:r>
          </a:p>
          <a:p>
            <a:endParaRPr lang="en-US" sz="1200" dirty="0"/>
          </a:p>
          <a:p>
            <a:r>
              <a:rPr dirty="0"/>
              <a:t>References</a:t>
            </a:r>
          </a:p>
          <a:p>
            <a:r>
              <a:rPr dirty="0"/>
              <a:t>https://docs.vllm.ai/en/latest/design/metrics/</a:t>
            </a:r>
          </a:p>
          <a:p>
            <a:r>
              <a:rPr dirty="0"/>
              <a:t>https://docs.vllm.ai/en/latest/benchmarking/cli/#understanding-the-latency-metrics</a:t>
            </a:r>
          </a:p>
          <a:p>
            <a:r>
              <a:rPr dirty="0"/>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A shared pool is simple, but prefill bursts compete with active decoding. </a:t>
            </a:r>
            <a:r>
              <a:rPr lang="en-US" sz="1200" b="1" dirty="0"/>
              <a:t>Every worker handles both phases</a:t>
            </a:r>
            <a:r>
              <a:rPr lang="en-US" sz="1200" b="0" dirty="0"/>
              <a:t>. One deployment scales both phases together.</a:t>
            </a:r>
          </a:p>
          <a:p>
            <a:r>
              <a:rPr lang="en-US" sz="1200" dirty="0"/>
              <a:t>Where is the trade-off? Prompt bursts can disrupt token delivery. Adding a replica adds both phases, even if only one is busy. We must decide how to run each phase and how much shared capacity to add. First, let’s look at that execution conflict.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0" cap="none" dirty="0">
                <a:solidFill>
                  <a:srgbClr val="142C46"/>
                </a:solidFill>
                <a:latin typeface="Arial"/>
              </a:rPr>
              <a:t>Long prefills can interrupt token delivery.</a:t>
            </a:r>
          </a:p>
          <a:p>
            <a:pPr marL="457200" lvl="0" indent="-298450">
              <a:buClr>
                <a:srgbClr val="000000"/>
              </a:buClr>
              <a:buSzPts val="1100"/>
              <a:buFont typeface="Arial"/>
              <a:buChar char="●"/>
            </a:pPr>
            <a:r>
              <a:rPr lang="en-US" altLang="zh-CN" sz="1200" dirty="0"/>
              <a:t>In this slide, </a:t>
            </a:r>
            <a:r>
              <a:rPr lang="en-US" sz="1200" dirty="0"/>
              <a:t>D is ongoing decode. P is prefill for a new request. Where should P run? On the shared GPU, prefill can pause decode. On separate GPUs, decode can continue while prefill runs elsewhere. The new request still needs a KV handoff in </a:t>
            </a:r>
            <a:r>
              <a:rPr lang="en-US" altLang="zh-CN" sz="1200" dirty="0"/>
              <a:t>separate GPUs scenario.</a:t>
            </a:r>
            <a:endParaRPr lang="en-US" sz="1200" dirty="0"/>
          </a:p>
          <a:p>
            <a:pPr marL="457200" lvl="0" indent="-298450">
              <a:buClr>
                <a:srgbClr val="000000"/>
              </a:buClr>
              <a:buSzPts val="1100"/>
              <a:buFont typeface="Arial"/>
              <a:buChar char="●"/>
            </a:pPr>
            <a:r>
              <a:rPr lang="en-US" sz="1200" b="1" dirty="0"/>
              <a:t>So </a:t>
            </a:r>
            <a:r>
              <a:rPr lang="en-US" sz="1200" b="0" dirty="0"/>
              <a:t>s</a:t>
            </a:r>
            <a:r>
              <a:rPr lang="en-US" sz="1200" dirty="0"/>
              <a:t>eparate GPUs remove this execution conflict, but not every source of latency. </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0" cap="none" dirty="0">
                <a:solidFill>
                  <a:srgbClr val="142C46"/>
                </a:solidFill>
                <a:latin typeface="Arial"/>
              </a:rPr>
              <a:t>Prefill and decode batch different work, </a:t>
            </a:r>
            <a:r>
              <a:rPr lang="en-US" sz="1200" dirty="0"/>
              <a:t>Prefill batches prompt positions; ordinary decode batches independent requests. On the left, prefill processes many input positions in one pass. We can batch positions from multiple prompts, while keeping causal attention.</a:t>
            </a:r>
          </a:p>
          <a:p>
            <a:pPr marL="457200" lvl="0" indent="-298450">
              <a:buClr>
                <a:srgbClr val="000000"/>
              </a:buClr>
              <a:buSzPts val="1100"/>
              <a:buFont typeface="Arial"/>
              <a:buChar char="●"/>
            </a:pPr>
            <a:r>
              <a:rPr lang="en-US" sz="1200" dirty="0"/>
              <a:t>On the right, decode consumes one new token per active request, </a:t>
            </a:r>
            <a:r>
              <a:rPr lang="en-US" sz="1200" b="1" dirty="0"/>
              <a:t>read its past KV cache</a:t>
            </a:r>
            <a:r>
              <a:rPr lang="en-US" sz="1200" dirty="0"/>
              <a:t>, then select its next output token. Prefill gets parallel work from prompt length; decode gets it from active requests. More decode concurrency can raise ITL. Stay within latency and KV-memory budgets.</a:t>
            </a:r>
          </a:p>
          <a:p>
            <a:endParaRPr lang="en-US" sz="1200" dirty="0"/>
          </a:p>
          <a:p>
            <a:r>
              <a:rPr dirty="0"/>
              <a:t>References</a:t>
            </a:r>
          </a:p>
          <a:p>
            <a:r>
              <a:rPr dirty="0"/>
              <a:t>https://developer.nvidia.com/blog/introducing-nvidia-dynamo-a-low-latency-distributed-inference-framework-for-scaling-reasoning-ai-models/</a:t>
            </a:r>
          </a:p>
          <a:p>
            <a:r>
              <a:rPr dirty="0"/>
              <a:t>https://vllm.ai/blog/2025-09-05-anatomy-of-vllm</a:t>
            </a:r>
          </a:p>
          <a:p>
            <a:r>
              <a:rPr dirty="0"/>
              <a:t>https://docs.nvidia.com/dynamo/kubernetes/disaggregated-serving/overview</a:t>
            </a:r>
          </a:p>
          <a:p>
            <a:r>
              <a:rPr dirty="0"/>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Separate GPU pools let us tune each phase independently. </a:t>
            </a:r>
            <a:r>
              <a:rPr lang="en-US" altLang="zh-CN" sz="1200" dirty="0"/>
              <a:t>The </a:t>
            </a:r>
            <a:r>
              <a:rPr lang="en-US" sz="1200" dirty="0"/>
              <a:t>real benefit is scaling prefill and decode independently to match demand—not simply splitting them into two deployments.</a:t>
            </a:r>
          </a:p>
          <a:p>
            <a:r>
              <a:rPr lang="en-US" sz="1200" dirty="0"/>
              <a:t>Prefill is often compute-bound. Tune its capacity and parallelism for TTFT. On the other hand, decode is often </a:t>
            </a:r>
            <a:r>
              <a:rPr lang="en-US" altLang="zh-CN" sz="1200" cap="none" dirty="0">
                <a:latin typeface="Arial"/>
              </a:rPr>
              <a:t>memory-</a:t>
            </a:r>
            <a:r>
              <a:rPr lang="en-US" sz="1200" dirty="0"/>
              <a:t>bandwidth-bound. Tune its capacity and batching for ITL. </a:t>
            </a:r>
            <a:r>
              <a:rPr lang="en-US" sz="1200" b="1" dirty="0"/>
              <a:t>Different latency targets and resource needs can call for different replicas, tensor parallelism and batching policies</a:t>
            </a:r>
            <a:r>
              <a:rPr lang="en-US" sz="1200" dirty="0"/>
              <a:t>. Split only if the gains outweigh KV transfer, extra weight copies and operating costs.</a:t>
            </a:r>
          </a:p>
          <a:p>
            <a:endParaRPr lang="en-US" sz="1200" dirty="0"/>
          </a:p>
          <a:p>
            <a:r>
              <a:rPr dirty="0"/>
              <a:t>References</a:t>
            </a:r>
          </a:p>
          <a:p>
            <a:r>
              <a:rPr dirty="0"/>
              <a:t>https://docs.nvidia.com/dynamo/dev/kubernetes/disaggregated-serving/overview</a:t>
            </a:r>
          </a:p>
          <a:p>
            <a:r>
              <a:rPr dirty="0"/>
              <a:t>https://arxiv.org/html/2401.09670v2#S2.SS3</a:t>
            </a:r>
          </a:p>
          <a:p>
            <a:r>
              <a:rPr dirty="0"/>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0" cap="none" dirty="0">
                <a:solidFill>
                  <a:srgbClr val="142C46"/>
                </a:solidFill>
                <a:latin typeface="Arial"/>
              </a:rPr>
              <a:t>The hard part is the Kubernetes wiring to support prefill and decode disaggregation.</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US" sz="1200" dirty="0"/>
          </a:p>
          <a:p>
            <a:r>
              <a:rPr lang="en-US" sz="1200" dirty="0"/>
              <a:t>Two pools still have to work together as one model service. The EPP, or Endpoint Picker, picks workers. KV transfer settings must match. The decode-side proxy coordinates requests. We must keep pods ready as replicas change.</a:t>
            </a:r>
          </a:p>
          <a:p>
            <a:r>
              <a:rPr lang="en-US" sz="1200" dirty="0"/>
              <a:t>Routing, KV transfer, labels, ports and readiness must stay in sync, </a:t>
            </a:r>
            <a:r>
              <a:rPr lang="en-US" sz="1200" b="1" dirty="0"/>
              <a:t>even when pods restart or we scale. That is why the hard part is the Kubernetes wiring. Let’s see how existing projects approach it.</a:t>
            </a:r>
          </a:p>
          <a:p>
            <a:endParaRPr lang="en-US" sz="1200" dirty="0"/>
          </a:p>
          <a:p>
            <a:r>
              <a:rPr dirty="0"/>
              <a:t>References</a:t>
            </a:r>
          </a:p>
          <a:p>
            <a:r>
              <a:rPr dirty="0"/>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a:t>So, this slide shows the big picture.</a:t>
            </a:r>
          </a:p>
          <a:p>
            <a:r>
              <a:rPr lang="en-US"/>
              <a:t>Running an LLM takes more than just a model and a GPU. We also need to route requests, manage workloads, and scale when traffic changes.</a:t>
            </a:r>
          </a:p>
          <a:p>
            <a:r>
              <a:rPr lang="en-US"/>
              <a:t>That’s where KAITO and llm-d come in—the orchestration layer in the middle.</a:t>
            </a:r>
          </a:p>
          <a:p>
            <a:r>
              <a:rPr lang="en-US"/>
              <a:t>Below that, vLLM runs the model, and the KV cache helps us reuse work instead of doing it again. Kubernetes provides the infrastructure underneath.</a:t>
            </a:r>
          </a:p>
          <a:p>
            <a:r>
              <a:rPr lang="en-US"/>
              <a:t>We also need things like security and monitoring around the whole system.</a:t>
            </a:r>
          </a:p>
          <a:p>
            <a:r>
              <a:rPr lang="en-US"/>
              <a:t>The main takeaway is simple: all these pieces need to work together.</a:t>
            </a:r>
          </a:p>
          <a:p>
            <a:r>
              <a:rPr lang="en-US"/>
              <a:t>Today, we’ll focus on how KAITO and llm-d help with that. Let’s look at some of the open-source options.</a:t>
            </a:r>
          </a:p>
        </p:txBody>
      </p:sp>
    </p:spTree>
    <p:extLst>
      <p:ext uri="{BB962C8B-B14F-4D97-AF65-F5344CB8AC3E}">
        <p14:creationId xmlns:p14="http://schemas.microsoft.com/office/powerpoint/2010/main" val="41773934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Open-source P/D has several paths, not one winner. </a:t>
            </a:r>
            <a:r>
              <a:rPr lang="zh-CN" altLang="zh-CN" sz="1100" b="0" i="0" u="none" strike="noStrike" cap="none" spc="0" dirty="0">
                <a:solidFill>
                  <a:srgbClr val="000000"/>
                </a:solidFill>
                <a:effectLst/>
                <a:latin typeface="Arial"/>
                <a:ea typeface="Arial"/>
                <a:cs typeface="Arial"/>
                <a:sym typeface="Arial"/>
              </a:rPr>
              <a:t>The following table presents examples, not a ranking. Some approaches can be used together.</a:t>
            </a:r>
            <a:endParaRPr lang="en-US" altLang="zh-CN" sz="1100" b="0" i="0" u="none" strike="noStrike" cap="none" spc="0" dirty="0">
              <a:solidFill>
                <a:srgbClr val="000000"/>
              </a:solidFill>
              <a:effectLst/>
              <a:latin typeface="Arial"/>
              <a:ea typeface="Arial"/>
              <a:cs typeface="Arial"/>
              <a:sym typeface="Arial"/>
            </a:endParaRPr>
          </a:p>
          <a:p>
            <a:r>
              <a:rPr lang="en-US" sz="1200" dirty="0"/>
              <a:t>The middle column shows the serving and routing path; the right column shows what users configure in Kubernetes. Dynamo, </a:t>
            </a:r>
            <a:r>
              <a:rPr lang="en-US" sz="1200" dirty="0" err="1"/>
              <a:t>llm</a:t>
            </a:r>
            <a:r>
              <a:rPr lang="en-US" sz="1200" dirty="0"/>
              <a:t>-d, </a:t>
            </a:r>
            <a:r>
              <a:rPr lang="en-US" sz="1200" dirty="0" err="1"/>
              <a:t>AIBrix</a:t>
            </a:r>
            <a:r>
              <a:rPr lang="en-US" sz="1200" dirty="0"/>
              <a:t>, </a:t>
            </a:r>
            <a:r>
              <a:rPr lang="en-US" sz="1200" dirty="0" err="1"/>
              <a:t>KServe</a:t>
            </a:r>
            <a:r>
              <a:rPr lang="en-US" sz="1200" dirty="0"/>
              <a:t>, Ray Serve and </a:t>
            </a:r>
            <a:r>
              <a:rPr lang="en-US" sz="1200" dirty="0" err="1"/>
              <a:t>vLLM</a:t>
            </a:r>
            <a:r>
              <a:rPr lang="en-US" sz="1200" dirty="0"/>
              <a:t> Production Stack offer different combinations. </a:t>
            </a:r>
            <a:r>
              <a:rPr lang="en-US" sz="1200" b="1" dirty="0"/>
              <a:t>Declarative APIs already exist</a:t>
            </a:r>
            <a:r>
              <a:rPr lang="en-US" sz="1200" dirty="0"/>
              <a:t>. P/D deployment options already exist. KAITO aims to make them easier to use. </a:t>
            </a:r>
            <a:r>
              <a:rPr lang="en-US" sz="1200" b="1" dirty="0"/>
              <a:t>For KAITO users, that means less manual configuration to maintain. Let’s start with </a:t>
            </a:r>
            <a:r>
              <a:rPr lang="en-US" sz="1200" b="1" dirty="0" err="1"/>
              <a:t>llm</a:t>
            </a:r>
            <a:r>
              <a:rPr lang="en-US" sz="1200" b="1" dirty="0"/>
              <a:t>-d.</a:t>
            </a:r>
          </a:p>
          <a:p>
            <a:endParaRPr lang="en-US" sz="1200" dirty="0"/>
          </a:p>
          <a:p>
            <a:r>
              <a:rPr dirty="0"/>
              <a:t>References</a:t>
            </a:r>
          </a:p>
          <a:p>
            <a:r>
              <a:rPr dirty="0"/>
              <a:t>https://docs.nvidia.com/dynamo/v1.1.0/getting-started/kubernetes-deployment</a:t>
            </a:r>
          </a:p>
          <a:p>
            <a:r>
              <a:rPr dirty="0"/>
              <a:t>https://llm-d.ai/docs/architecture</a:t>
            </a:r>
          </a:p>
          <a:p>
            <a:r>
              <a:rPr dirty="0"/>
              <a:t>https://aibrix.readthedocs.io/latest/features/gateway-routing/pd-disaggregation.html</a:t>
            </a:r>
          </a:p>
          <a:p>
            <a:r>
              <a:rPr dirty="0"/>
              <a:t>https://aibrix.readthedocs.io/latest/designs/aibrix-stormservice.html</a:t>
            </a:r>
          </a:p>
          <a:p>
            <a:r>
              <a:rPr dirty="0"/>
              <a:t>https://kserve.github.io/website/docs/model-serving/generative-inference/llmisvc/llmisvc-overview</a:t>
            </a:r>
          </a:p>
          <a:p>
            <a:r>
              <a:rPr dirty="0"/>
              <a:t>https://docs.ray.io/en/latest/serve/llm/user-guides/prefill-decode.html</a:t>
            </a:r>
          </a:p>
          <a:p>
            <a:r>
              <a:rPr dirty="0"/>
              <a:t>https://docs.vllm.ai/projects/production-stack/en/latest/use_cases/disaggregated-prefill.html</a:t>
            </a:r>
          </a:p>
          <a:p>
            <a:r>
              <a:rPr dirty="0"/>
              <a:t>https://lws.sigs.k8s.io/docs/concepts/disaggregatedset/</a:t>
            </a:r>
          </a:p>
          <a:p>
            <a:r>
              <a:rPr dirty="0"/>
              <a:t>https://www.cncf.io/projects/llm-d/</a:t>
            </a:r>
          </a:p>
          <a:p>
            <a:r>
              <a:rPr dirty="0"/>
              <a:t>https://www.cncf.io/projects/kserve/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zh-CN" altLang="zh-CN" sz="1200" b="0" i="0" u="none" strike="noStrike" cap="none" dirty="0">
                <a:solidFill>
                  <a:srgbClr val="000000"/>
                </a:solidFill>
                <a:effectLst/>
                <a:latin typeface="Arial"/>
                <a:ea typeface="Arial"/>
                <a:cs typeface="Arial"/>
                <a:sym typeface="Arial"/>
              </a:rPr>
              <a:t>llm-d is a Kubernetes-native framework for high-performance distributed inference. </a:t>
            </a:r>
            <a:r>
              <a:rPr lang="en-US" altLang="zh-CN" sz="1200" dirty="0"/>
              <a:t>It joined the CNCF Sandbox in March 2026. </a:t>
            </a:r>
            <a:r>
              <a:rPr lang="zh-CN" altLang="zh-CN" sz="1200" b="1" i="0" u="none" strike="noStrike" cap="none" dirty="0">
                <a:solidFill>
                  <a:srgbClr val="000000"/>
                </a:solidFill>
                <a:effectLst/>
                <a:latin typeface="Arial"/>
                <a:ea typeface="Arial"/>
                <a:cs typeface="Arial"/>
                <a:sym typeface="Arial"/>
              </a:rPr>
              <a:t>It does not replace vLLM, gateways, or storage systems; it composes them</a:t>
            </a:r>
            <a:r>
              <a:rPr lang="zh-CN" altLang="zh-CN" sz="1200" b="0" i="0" u="none" strike="noStrike" cap="none" dirty="0">
                <a:solidFill>
                  <a:srgbClr val="000000"/>
                </a:solidFill>
                <a:effectLst/>
                <a:latin typeface="Arial"/>
                <a:ea typeface="Arial"/>
                <a:cs typeface="Arial"/>
                <a:sym typeface="Arial"/>
              </a:rPr>
              <a:t>. </a:t>
            </a:r>
            <a:r>
              <a:rPr lang="zh-CN" altLang="zh-CN" sz="1200" b="1" i="0" u="none" strike="noStrike" cap="none" dirty="0">
                <a:solidFill>
                  <a:srgbClr val="000000"/>
                </a:solidFill>
                <a:effectLst/>
                <a:latin typeface="Arial"/>
                <a:ea typeface="Arial"/>
                <a:cs typeface="Arial"/>
                <a:sym typeface="Arial"/>
              </a:rPr>
              <a:t>Its value is organized</a:t>
            </a:r>
            <a:r>
              <a:rPr lang="en-US" altLang="zh-CN" sz="1200" b="1" i="0" u="none" strike="noStrike" cap="none" dirty="0">
                <a:solidFill>
                  <a:srgbClr val="000000"/>
                </a:solidFill>
                <a:effectLst/>
                <a:latin typeface="Arial"/>
                <a:ea typeface="Arial"/>
                <a:cs typeface="Arial"/>
                <a:sym typeface="Arial"/>
              </a:rPr>
              <a:t> into </a:t>
            </a:r>
            <a:r>
              <a:rPr lang="zh-CN" altLang="zh-CN" sz="1200" b="1" i="0" u="none" strike="noStrike" cap="none" dirty="0">
                <a:solidFill>
                  <a:srgbClr val="000000"/>
                </a:solidFill>
                <a:effectLst/>
                <a:latin typeface="Arial"/>
                <a:ea typeface="Arial"/>
                <a:cs typeface="Arial"/>
                <a:sym typeface="Arial"/>
              </a:rPr>
              <a:t>three ideas</a:t>
            </a:r>
            <a:r>
              <a:rPr lang="zh-CN" altLang="zh-CN" sz="1200" b="0" i="0" u="none" strike="noStrike" cap="none" dirty="0">
                <a:solidFill>
                  <a:srgbClr val="000000"/>
                </a:solidFill>
                <a:effectLst/>
                <a:latin typeface="Arial"/>
                <a:ea typeface="Arial"/>
                <a:cs typeface="Arial"/>
                <a:sym typeface="Arial"/>
              </a:rPr>
              <a:t>:</a:t>
            </a:r>
            <a:r>
              <a:rPr lang="en-US" altLang="zh-CN" sz="1200" b="0" i="0" u="none" strike="noStrike" cap="none" dirty="0">
                <a:solidFill>
                  <a:srgbClr val="000000"/>
                </a:solidFill>
                <a:effectLst/>
                <a:latin typeface="Arial"/>
                <a:ea typeface="Arial"/>
                <a:cs typeface="Arial"/>
                <a:sym typeface="Arial"/>
              </a:rPr>
              <a:t> first </a:t>
            </a:r>
            <a:r>
              <a:rPr lang="en-US" altLang="zh-CN" sz="1200" b="0" dirty="0">
                <a:solidFill>
                  <a:srgbClr val="346CEC"/>
                </a:solidFill>
                <a:latin typeface="Arial"/>
              </a:rPr>
              <a:t>modular architecture: </a:t>
            </a:r>
            <a:r>
              <a:rPr lang="en-US" altLang="zh-CN" sz="1200" b="0" dirty="0">
                <a:solidFill>
                  <a:srgbClr val="142C46"/>
                </a:solidFill>
                <a:latin typeface="Arial"/>
              </a:rPr>
              <a:t>Gateway API connects inference routing to Kubernetes, second, </a:t>
            </a:r>
            <a:r>
              <a:rPr lang="en-US" altLang="zh-CN" sz="1200" b="0" dirty="0">
                <a:solidFill>
                  <a:srgbClr val="346CEC"/>
                </a:solidFill>
                <a:latin typeface="Arial"/>
              </a:rPr>
              <a:t>Extensible components: </a:t>
            </a:r>
            <a:r>
              <a:rPr lang="en-US" altLang="zh-CN" sz="1200" b="0" dirty="0">
                <a:solidFill>
                  <a:srgbClr val="142C46"/>
                </a:solidFill>
                <a:latin typeface="Arial"/>
              </a:rPr>
              <a:t>combine runtimes, routing plugins and KV transport,</a:t>
            </a:r>
            <a:r>
              <a:rPr lang="zh-CN" altLang="en-US" sz="1200" b="0" dirty="0">
                <a:solidFill>
                  <a:srgbClr val="142C46"/>
                </a:solidFill>
                <a:latin typeface="Arial"/>
              </a:rPr>
              <a:t> </a:t>
            </a:r>
            <a:r>
              <a:rPr lang="en-US" altLang="zh-CN" sz="1200" b="0" dirty="0">
                <a:solidFill>
                  <a:srgbClr val="142C46"/>
                </a:solidFill>
                <a:latin typeface="Arial"/>
              </a:rPr>
              <a:t>third, </a:t>
            </a:r>
            <a:r>
              <a:rPr lang="en-US" altLang="zh-CN" sz="1200" b="0" dirty="0">
                <a:solidFill>
                  <a:srgbClr val="346CEC"/>
                </a:solidFill>
                <a:latin typeface="Arial"/>
              </a:rPr>
              <a:t>Well-lit paths, there are </a:t>
            </a:r>
            <a:r>
              <a:rPr lang="en-US" altLang="zh-CN" sz="1200" b="0" dirty="0">
                <a:solidFill>
                  <a:srgbClr val="142C46"/>
                </a:solidFill>
                <a:latin typeface="Arial"/>
              </a:rPr>
              <a:t>tested deployment patterns make trade-offs clear.</a:t>
            </a:r>
          </a:p>
          <a:p>
            <a:endParaRPr lang="en-US" sz="1200" dirty="0"/>
          </a:p>
          <a:p>
            <a:r>
              <a:rPr dirty="0"/>
              <a:t>Official CNCF project reference: https://www.cncf.io/projects/llm-d/ (accepted March 12, 2026; Sandbox).</a:t>
            </a:r>
          </a:p>
        </p:txBody>
      </p:sp>
    </p:spTree>
    <p:extLst>
      <p:ext uri="{BB962C8B-B14F-4D97-AF65-F5344CB8AC3E}">
        <p14:creationId xmlns:p14="http://schemas.microsoft.com/office/powerpoint/2010/main" val="165134703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These are reusable capabilities, not a performance guarantee. We build on the serving runtime, not replace it. And we combine reusable </a:t>
            </a:r>
            <a:r>
              <a:rPr lang="en-US" altLang="zh-CN" sz="1200" b="0" dirty="0" err="1">
                <a:solidFill>
                  <a:srgbClr val="142C46"/>
                </a:solidFill>
                <a:latin typeface="Arial"/>
              </a:rPr>
              <a:t>llm</a:t>
            </a:r>
            <a:r>
              <a:rPr lang="en-US" altLang="zh-CN" sz="1200" b="0" dirty="0">
                <a:solidFill>
                  <a:srgbClr val="142C46"/>
                </a:solidFill>
                <a:latin typeface="Arial"/>
              </a:rPr>
              <a:t>-d </a:t>
            </a:r>
            <a:r>
              <a:rPr lang="en-US" sz="1200" dirty="0"/>
              <a:t>components, </a:t>
            </a:r>
            <a:r>
              <a:rPr lang="en-US" altLang="zh-CN" sz="1200" b="0" dirty="0">
                <a:solidFill>
                  <a:srgbClr val="142C46"/>
                </a:solidFill>
                <a:latin typeface="Arial"/>
              </a:rPr>
              <a:t>Deployment paths explain the trade-offs.</a:t>
            </a:r>
            <a:endParaRPr lang="en-US" sz="1200" dirty="0"/>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There are mainly </a:t>
            </a:r>
            <a:r>
              <a:rPr lang="en-US" altLang="zh-CN" sz="1200" b="0" dirty="0">
                <a:solidFill>
                  <a:srgbClr val="087F8C"/>
                </a:solidFill>
                <a:latin typeface="Arial"/>
              </a:rPr>
              <a:t>four areas of capability for </a:t>
            </a:r>
            <a:r>
              <a:rPr lang="en-US" altLang="zh-CN" sz="1200" b="0" dirty="0" err="1">
                <a:solidFill>
                  <a:srgbClr val="087F8C"/>
                </a:solidFill>
                <a:latin typeface="Arial"/>
              </a:rPr>
              <a:t>llm</a:t>
            </a:r>
            <a:r>
              <a:rPr lang="en-US" altLang="zh-CN" sz="1200" b="0" dirty="0">
                <a:solidFill>
                  <a:srgbClr val="087F8C"/>
                </a:solidFill>
                <a:latin typeface="Arial"/>
              </a:rPr>
              <a:t>-d projects:</a:t>
            </a:r>
            <a:endParaRPr lang="en-US" sz="1200" b="0" dirty="0"/>
          </a:p>
          <a:p>
            <a:pPr>
              <a:lnSpc>
                <a:spcPct val="108000"/>
              </a:lnSpc>
              <a:spcAft>
                <a:spcPts val="500"/>
              </a:spcAft>
              <a:defRPr sz="1050" b="0">
                <a:solidFill>
                  <a:srgbClr val="142C46"/>
                </a:solidFill>
                <a:latin typeface="Arial"/>
              </a:defRPr>
            </a:pPr>
            <a:r>
              <a:rPr lang="en-US" sz="1200" dirty="0"/>
              <a:t>first: </a:t>
            </a:r>
            <a:r>
              <a:rPr lang="en-US" altLang="zh-CN" sz="1400" b="0" dirty="0">
                <a:solidFill>
                  <a:srgbClr val="346CEC"/>
                </a:solidFill>
              </a:rPr>
              <a:t>State-of-the-art </a:t>
            </a:r>
            <a:r>
              <a:rPr lang="en-US" altLang="zh-CN" sz="1400" b="0" dirty="0" err="1">
                <a:solidFill>
                  <a:srgbClr val="346CEC"/>
                </a:solidFill>
                <a:latin typeface="Arial"/>
              </a:rPr>
              <a:t>MoE</a:t>
            </a:r>
            <a:r>
              <a:rPr lang="en-US" altLang="zh-CN" sz="1400" b="0" dirty="0">
                <a:solidFill>
                  <a:srgbClr val="346CEC"/>
                </a:solidFill>
                <a:latin typeface="Arial"/>
              </a:rPr>
              <a:t> serving, </a:t>
            </a:r>
            <a:r>
              <a:rPr lang="en-US" altLang="zh-CN" sz="1400" b="1" dirty="0">
                <a:solidFill>
                  <a:srgbClr val="346CEC"/>
                </a:solidFill>
                <a:latin typeface="Arial"/>
              </a:rPr>
              <a:t>Here, </a:t>
            </a:r>
            <a:r>
              <a:rPr lang="en-US" altLang="zh-CN" sz="1400" b="1" dirty="0" err="1">
                <a:solidFill>
                  <a:srgbClr val="346CEC"/>
                </a:solidFill>
                <a:latin typeface="Arial"/>
              </a:rPr>
              <a:t>MoE</a:t>
            </a:r>
            <a:r>
              <a:rPr lang="en-US" altLang="zh-CN" sz="1400" b="1" dirty="0">
                <a:solidFill>
                  <a:srgbClr val="346CEC"/>
                </a:solidFill>
                <a:latin typeface="Arial"/>
              </a:rPr>
              <a:t> stands for Mixture of Experts, which is widely used in mainstream LLMs. </a:t>
            </a:r>
            <a:r>
              <a:rPr lang="en-US" altLang="zh-CN" sz="1200" b="0" dirty="0">
                <a:solidFill>
                  <a:srgbClr val="142C46"/>
                </a:solidFill>
                <a:latin typeface="Arial"/>
              </a:rPr>
              <a:t>Expert parallelism spreads expert computation across GPUs, second, p</a:t>
            </a:r>
            <a:r>
              <a:rPr lang="en-US" altLang="zh-CN" sz="1400" b="0" dirty="0">
                <a:solidFill>
                  <a:srgbClr val="346CEC"/>
                </a:solidFill>
                <a:latin typeface="Arial"/>
              </a:rPr>
              <a:t>refill/decode disaggregation, w</a:t>
            </a:r>
            <a:r>
              <a:rPr lang="en-US" altLang="zh-CN" sz="1200" b="0" dirty="0">
                <a:solidFill>
                  <a:srgbClr val="142C46"/>
                </a:solidFill>
                <a:latin typeface="Arial"/>
              </a:rPr>
              <a:t>e separate the phases and transfer KV between roles. Third, </a:t>
            </a:r>
            <a:r>
              <a:rPr lang="en-US" altLang="zh-CN" sz="1400" b="0" dirty="0">
                <a:solidFill>
                  <a:srgbClr val="346CEC"/>
                </a:solidFill>
                <a:latin typeface="Arial"/>
              </a:rPr>
              <a:t>State-aware scheduling: </a:t>
            </a:r>
            <a:r>
              <a:rPr lang="en-US" altLang="zh-CN" sz="1200" b="0" dirty="0">
                <a:solidFill>
                  <a:srgbClr val="142C46"/>
                </a:solidFill>
                <a:latin typeface="Arial"/>
              </a:rPr>
              <a:t>Routing plugins use cache and load signals to pick workers. Last is a</a:t>
            </a:r>
            <a:r>
              <a:rPr lang="en-US" altLang="zh-CN" sz="1400" b="0" dirty="0">
                <a:solidFill>
                  <a:srgbClr val="346CEC"/>
                </a:solidFill>
                <a:latin typeface="Arial"/>
              </a:rPr>
              <a:t>utoscaling architecture: w</a:t>
            </a:r>
            <a:r>
              <a:rPr lang="en-US" altLang="zh-CN" sz="1200" b="0" dirty="0">
                <a:solidFill>
                  <a:srgbClr val="142C46"/>
                </a:solidFill>
                <a:latin typeface="Arial"/>
              </a:rPr>
              <a:t>orkload signals and SLOs guide capacity; each integration chooses its policy.</a:t>
            </a:r>
          </a:p>
          <a:p>
            <a:endParaRPr lang="en-US" sz="1200" dirty="0"/>
          </a:p>
        </p:txBody>
      </p:sp>
    </p:spTree>
    <p:extLst>
      <p:ext uri="{BB962C8B-B14F-4D97-AF65-F5344CB8AC3E}">
        <p14:creationId xmlns:p14="http://schemas.microsoft.com/office/powerpoint/2010/main" val="328115127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zh-CN" altLang="zh-CN" sz="1100" b="0" i="0" u="none" strike="noStrike" cap="none" spc="0" dirty="0">
                <a:solidFill>
                  <a:srgbClr val="000000"/>
                </a:solidFill>
                <a:effectLst/>
                <a:latin typeface="Arial"/>
                <a:ea typeface="Arial"/>
                <a:cs typeface="Arial"/>
                <a:sym typeface="Arial"/>
              </a:rPr>
              <a:t>llm-d calls these “well-lit paths”—tested ways to deploy, with clear guidance on what works well and what the limitations are.</a:t>
            </a:r>
            <a:endParaRPr lang="en-US" altLang="zh-CN" sz="1100" b="0" i="0" u="none" strike="noStrike" cap="none" spc="0" dirty="0">
              <a:solidFill>
                <a:srgbClr val="000000"/>
              </a:solidFill>
              <a:effectLst/>
              <a:latin typeface="Arial"/>
              <a:ea typeface="Arial"/>
              <a:cs typeface="Arial"/>
              <a:sym typeface="Arial"/>
            </a:endParaRP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cap="none" dirty="0"/>
              <a:t>Intelligent scheduling determines where should this request run</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cap="none" dirty="0"/>
              <a:t>KV cache management determines where should reusable state live?</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cap="none" dirty="0"/>
              <a:t>Wide expert parallelism determines how should a large </a:t>
            </a:r>
            <a:r>
              <a:rPr lang="en-US" altLang="zh-CN" sz="1200" cap="none" dirty="0" err="1"/>
              <a:t>MoE</a:t>
            </a:r>
            <a:r>
              <a:rPr lang="en-US" altLang="zh-CN" sz="1200" cap="none" dirty="0"/>
              <a:t> model run across GPUs?</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cap="none" dirty="0"/>
              <a:t>P/D disaggregation determines how should prompt and generation capacity differ?</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b="1" dirty="0"/>
              <a:t>These paths can work together, but we don’t need all of them at once. Results depend on the hardware. Today, we’ll focus on P/D disaggregation and use KAITO to manage the workloads.</a:t>
            </a:r>
          </a:p>
        </p:txBody>
      </p:sp>
    </p:spTree>
    <p:extLst>
      <p:ext uri="{BB962C8B-B14F-4D97-AF65-F5344CB8AC3E}">
        <p14:creationId xmlns:p14="http://schemas.microsoft.com/office/powerpoint/2010/main" val="190076023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F044-F805-8F78-5C36-BF0D6B04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BCAAE5-ACD6-15FC-E34E-DC1D8A8B687A}"/>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ED37E7B8-A81E-2DF7-4877-05D84CE73A04}"/>
              </a:ext>
            </a:extLst>
          </p:cNvPr>
          <p:cNvSpPr>
            <a:spLocks noGrp="1"/>
          </p:cNvSpPr>
          <p:nvPr>
            <p:ph type="body" idx="1"/>
          </p:nvPr>
        </p:nvSpPr>
        <p:spPr/>
        <p:txBody>
          <a:bodyPr/>
          <a:lstStyle/>
          <a:p>
            <a:pPr marL="457200" lvl="0" indent="-298450">
              <a:buClr>
                <a:srgbClr val="000000"/>
              </a:buClr>
              <a:buSzPts val="1100"/>
              <a:buFont typeface="Arial"/>
              <a:buChar char="●"/>
            </a:pPr>
            <a:r>
              <a:rPr lang="en-US" sz="1200" dirty="0"/>
              <a:t>Next, what is KAITO, </a:t>
            </a:r>
            <a:r>
              <a:rPr lang="en-US" altLang="zh-CN" sz="1200" dirty="0"/>
              <a:t>KAITO is</a:t>
            </a:r>
            <a:r>
              <a:rPr lang="en-US" sz="1200" dirty="0"/>
              <a:t> a </a:t>
            </a:r>
            <a:r>
              <a:rPr lang="en-US" altLang="zh-CN" sz="1200" b="0" dirty="0">
                <a:solidFill>
                  <a:srgbClr val="142C46"/>
                </a:solidFill>
                <a:latin typeface="Arial"/>
              </a:rPr>
              <a:t>Kubernetes AI Toolchain Operator, which </a:t>
            </a:r>
            <a:r>
              <a:rPr lang="en-US" sz="1200" dirty="0"/>
              <a:t>automates LLM inference, fine-tuning and RAG with Kubernetes operators. It is also a CNCF Sandbox project.</a:t>
            </a:r>
          </a:p>
          <a:p>
            <a:r>
              <a:rPr lang="en-US" altLang="zh-CN" sz="1200" cap="none" dirty="0">
                <a:solidFill>
                  <a:srgbClr val="142C46"/>
                </a:solidFill>
                <a:latin typeface="Arial"/>
              </a:rPr>
              <a:t>With KAITO, you only need to specify a model name and GPU VM SKU. KAITO sizes the nodes to fit the model’s memory requirements, handles model setup and caching, manages inference workloads and rolling updates on Kubernetes, and uses KEDA to automatically scale workloads.</a:t>
            </a:r>
          </a:p>
          <a:p>
            <a:endParaRPr lang="en-US" sz="1200" dirty="0"/>
          </a:p>
          <a:p>
            <a:r>
              <a:rPr dirty="0"/>
              <a:t>References</a:t>
            </a:r>
          </a:p>
          <a:p>
            <a:r>
              <a:rPr dirty="0"/>
              <a:t>https://www.cncf.io/projects/kaito/</a:t>
            </a:r>
          </a:p>
          <a:p>
            <a:r>
              <a:rPr dirty="0"/>
              <a:t>https://github.com/kaito-project/kaito</a:t>
            </a:r>
          </a:p>
        </p:txBody>
      </p:sp>
    </p:spTree>
    <p:extLst>
      <p:ext uri="{BB962C8B-B14F-4D97-AF65-F5344CB8AC3E}">
        <p14:creationId xmlns:p14="http://schemas.microsoft.com/office/powerpoint/2010/main" val="253558605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dirty="0"/>
              <a:t>Here is a KAITO </a:t>
            </a:r>
            <a:r>
              <a:rPr lang="en-US" altLang="zh-CN" sz="800" b="0" dirty="0">
                <a:solidFill>
                  <a:srgbClr val="346CEC"/>
                </a:solidFill>
                <a:latin typeface="Arial"/>
              </a:rPr>
              <a:t>inference workload example, user only needs to </a:t>
            </a:r>
            <a:r>
              <a:rPr lang="en-US" altLang="zh-CN" sz="800" b="0" cap="none" dirty="0">
                <a:solidFill>
                  <a:srgbClr val="52677D"/>
                </a:solidFill>
                <a:latin typeface="Arial"/>
              </a:rPr>
              <a:t>Specify the model name, GPU instance type and replica count.</a:t>
            </a:r>
          </a:p>
          <a:p>
            <a:pPr marL="457200" lvl="0" indent="-298450">
              <a:buClr>
                <a:srgbClr val="000000"/>
              </a:buClr>
              <a:buSzPts val="1100"/>
              <a:buFont typeface="Arial"/>
              <a:buChar char="●"/>
            </a:pPr>
            <a:r>
              <a:rPr lang="en-US" altLang="zh-CN" sz="800" b="0" cap="none" dirty="0">
                <a:solidFill>
                  <a:srgbClr val="52677D"/>
                </a:solidFill>
                <a:latin typeface="Arial"/>
              </a:rPr>
              <a:t>In this example, user specifies a qwen3 model name which is a </a:t>
            </a:r>
            <a:r>
              <a:rPr lang="en-US" altLang="zh-CN" sz="800" b="0" cap="none" dirty="0" err="1">
                <a:solidFill>
                  <a:srgbClr val="52677D"/>
                </a:solidFill>
                <a:latin typeface="Arial"/>
              </a:rPr>
              <a:t>huggingface</a:t>
            </a:r>
            <a:r>
              <a:rPr lang="en-US" altLang="zh-CN" sz="800" b="0" cap="none" dirty="0">
                <a:solidFill>
                  <a:srgbClr val="52677D"/>
                </a:solidFill>
                <a:latin typeface="Arial"/>
              </a:rPr>
              <a:t> model id and specifies A100 GPU instance type with 3 replicas, </a:t>
            </a:r>
            <a:r>
              <a:rPr lang="en-US" altLang="zh-CN" sz="800" b="1" dirty="0"/>
              <a:t>three replicas does not necessarily mean three GPUs; each replica’s GPU and node needs depend on the model and runtime settings. </a:t>
            </a:r>
            <a:endParaRPr lang="en-US" altLang="zh-CN" sz="800" b="1" cap="none" dirty="0">
              <a:solidFill>
                <a:srgbClr val="52677D"/>
              </a:solidFill>
              <a:latin typeface="Arial"/>
            </a:endParaRP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800" b="1" cap="none" dirty="0">
                <a:solidFill>
                  <a:srgbClr val="52677D"/>
                </a:solidFill>
                <a:latin typeface="Arial"/>
              </a:rPr>
              <a:t>KAITO does all the rest of work, like provisioning the required GPU nodes </a:t>
            </a:r>
            <a:r>
              <a:rPr lang="en-US" altLang="zh-CN" sz="800" b="1" cap="none" dirty="0">
                <a:solidFill>
                  <a:srgbClr val="142C46"/>
                </a:solidFill>
                <a:latin typeface="Arial"/>
              </a:rPr>
              <a:t>to fit the model’s memory requirements, handles model setup and caching, manages inference workloads and rolling updates on Kubernetes, and uses KEDA to automatically scale workloads.</a:t>
            </a:r>
          </a:p>
        </p:txBody>
      </p:sp>
    </p:spTree>
    <p:extLst>
      <p:ext uri="{BB962C8B-B14F-4D97-AF65-F5344CB8AC3E}">
        <p14:creationId xmlns:p14="http://schemas.microsoft.com/office/powerpoint/2010/main" val="144924624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b="1" dirty="0"/>
              <a:t>This slide shows how does the KAITO do the math.</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User </a:t>
            </a:r>
            <a:r>
              <a:rPr lang="en-US" altLang="zh-CN" sz="1200" b="0" dirty="0">
                <a:solidFill>
                  <a:schemeClr val="accent2">
                    <a:lumMod val="75000"/>
                  </a:schemeClr>
                </a:solidFill>
              </a:rPr>
              <a:t>specifies a model name and GPU SKU. KAITO estimates how many nodes the model needs.</a:t>
            </a:r>
          </a:p>
          <a:p>
            <a:r>
              <a:rPr lang="en-US" sz="1200" dirty="0"/>
              <a:t>KAITO reserves memory for overhead and KV cache, then fits the weights into the remaining GPU memory.</a:t>
            </a:r>
          </a:p>
          <a:p>
            <a:r>
              <a:rPr lang="en-US" sz="1200" dirty="0"/>
              <a:t>KAITO saves the result as </a:t>
            </a:r>
            <a:r>
              <a:rPr lang="en-US" sz="1200" dirty="0" err="1"/>
              <a:t>status.targetNodeCount</a:t>
            </a:r>
            <a:r>
              <a:rPr lang="en-US" sz="1200" dirty="0"/>
              <a:t>. This path uses tensor parallelism within nodes and pipeline parallelism across nodes. It sizes memory, not traffic capacity. </a:t>
            </a:r>
          </a:p>
        </p:txBody>
      </p:sp>
    </p:spTree>
    <p:extLst>
      <p:ext uri="{BB962C8B-B14F-4D97-AF65-F5344CB8AC3E}">
        <p14:creationId xmlns:p14="http://schemas.microsoft.com/office/powerpoint/2010/main" val="144924624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We want P/D routing without replacing KAITO’s Kubernetes operating model. KAITO manages deployment and lifecycle. llm-d adds endpoint selection and request routing. vLLM runs the phases, and NIXL moves KV.</a:t>
            </a:r>
          </a:p>
          <a:p>
            <a:r>
              <a:rPr lang="en-US" sz="1200"/>
              <a:t>Keep Workspace and InferenceSet. Give each role its own replicas, GPU types and runtime settings. Reuse llm-d’s P/D routing. MultiRoleInference, or MRI, is alpha: vLLM, Istio and GPU connectivity. Automatic per-role scaling still needs integration.</a:t>
            </a:r>
          </a:p>
          <a:p>
            <a:endParaRPr lang="en-US" sz="1200"/>
          </a:p>
          <a:p>
            <a:r>
              <a:rPr dirty="0"/>
              <a:t>Technical reference (not part of the spoken script)</a:t>
            </a:r>
          </a:p>
          <a:p>
            <a:endParaRPr dirty="0"/>
          </a:p>
          <a:p>
            <a:endParaRPr dirty="0"/>
          </a:p>
          <a:p>
            <a:r>
              <a:rPr dirty="0"/>
              <a:t>For that goal, </a:t>
            </a:r>
            <a:r>
              <a:rPr dirty="0" err="1"/>
              <a:t>llm</a:t>
            </a:r>
            <a:r>
              <a:rPr dirty="0"/>
              <a:t>-d is a good fit. KAITO keeps deployment intent and lifecycle. </a:t>
            </a:r>
            <a:r>
              <a:rPr dirty="0" err="1"/>
              <a:t>llm</a:t>
            </a:r>
            <a:r>
              <a:rPr dirty="0"/>
              <a:t>-d contributes endpoint selection and request orchestration. </a:t>
            </a:r>
            <a:r>
              <a:rPr dirty="0" err="1"/>
              <a:t>vLLM</a:t>
            </a:r>
            <a:r>
              <a:rPr dirty="0"/>
              <a:t> and NIXL execute the phases and move the state. This is an integration choice, not a universal platform ranking. Today's documented MRI scope is alpha, with </a:t>
            </a:r>
            <a:r>
              <a:rPr dirty="0" err="1"/>
              <a:t>vLLM</a:t>
            </a:r>
            <a:r>
              <a:rPr dirty="0"/>
              <a:t>, Istio, and suitable GPU connectivity as important constraints.</a:t>
            </a:r>
          </a:p>
          <a:p>
            <a:endParaRPr dirty="0"/>
          </a:p>
          <a:p>
            <a:r>
              <a:rPr dirty="0"/>
              <a:t>REFERENCE NOTES (NOT SPOKEN)</a:t>
            </a:r>
          </a:p>
          <a:p>
            <a:endParaRPr dirty="0"/>
          </a:p>
          <a:p>
            <a:r>
              <a:rPr dirty="0"/>
              <a:t>Best fit is an architecture recommendation relative to the goal of extending KAITO, not evidence that KAITO beats every serving platform. KAITO users already have Workspace/</a:t>
            </a:r>
            <a:r>
              <a:rPr dirty="0" err="1"/>
              <a:t>InferenceSet</a:t>
            </a:r>
            <a:r>
              <a:rPr dirty="0"/>
              <a:t> APIs, model presets and infrastructure lifecycle workflows. MRI reuses that model through role-specific child </a:t>
            </a:r>
            <a:r>
              <a:rPr dirty="0" err="1"/>
              <a:t>InferenceSets</a:t>
            </a:r>
            <a:r>
              <a:rPr dirty="0"/>
              <a:t>. The documented controller creates an </a:t>
            </a:r>
            <a:r>
              <a:rPr dirty="0" err="1"/>
              <a:t>InferencePool</a:t>
            </a:r>
            <a:r>
              <a:rPr dirty="0"/>
              <a:t> and </a:t>
            </a:r>
            <a:r>
              <a:rPr dirty="0" err="1"/>
              <a:t>llm</a:t>
            </a:r>
            <a:r>
              <a:rPr dirty="0"/>
              <a:t>-d EPP, injects the decode routing sidecar, and sets </a:t>
            </a:r>
            <a:r>
              <a:rPr dirty="0" err="1"/>
              <a:t>vLLM</a:t>
            </a:r>
            <a:r>
              <a:rPr dirty="0"/>
              <a:t> NIXL side-channel configuration. </a:t>
            </a:r>
            <a:r>
              <a:rPr dirty="0" err="1"/>
              <a:t>llm</a:t>
            </a:r>
            <a:r>
              <a:rPr dirty="0"/>
              <a:t>-d contributes P/D endpoint-selection plugins and request orchestration; </a:t>
            </a:r>
            <a:r>
              <a:rPr dirty="0" err="1"/>
              <a:t>vLLM</a:t>
            </a:r>
            <a:r>
              <a:rPr dirty="0"/>
              <a:t> and NIXL execute inference and transfer KV directly between pods. The three boxes are a composition diagram, not a sequential request path. Gateway/</a:t>
            </a:r>
            <a:r>
              <a:rPr dirty="0" err="1"/>
              <a:t>HTTPRoute</a:t>
            </a:r>
            <a:r>
              <a:rPr dirty="0"/>
              <a:t>, certificates, GPU capacity and fabric setup remain platform prerequisites; do not claim MRI provisions every cluster dependency automatically. Compared with introducing another serving platform API alongside KAITO, reusing </a:t>
            </a:r>
            <a:r>
              <a:rPr dirty="0" err="1"/>
              <a:t>llm</a:t>
            </a:r>
            <a:r>
              <a:rPr dirty="0"/>
              <a:t>-d components preserves KAITO as the user-facing orchestration entry point. </a:t>
            </a:r>
            <a:r>
              <a:rPr dirty="0" err="1"/>
              <a:t>KServe</a:t>
            </a:r>
            <a:r>
              <a:rPr dirty="0"/>
              <a:t> and </a:t>
            </a:r>
            <a:r>
              <a:rPr dirty="0" err="1"/>
              <a:t>AIBrix</a:t>
            </a:r>
            <a:r>
              <a:rPr dirty="0"/>
              <a:t> are legitimate alternative orchestration platforms; Dynamo offers an integrated stack; Ray Serve fits Ray-centric applications. Existing users of those platforms need not migrate solely to obtain P/D. Documented KAITO limitations: MRI is alpha, currently </a:t>
            </a:r>
            <a:r>
              <a:rPr dirty="0" err="1"/>
              <a:t>vLLM</a:t>
            </a:r>
            <a:r>
              <a:rPr dirty="0"/>
              <a:t>-only and requires Istio plus suitable GPU-to-GPU connectivity. Independent role replica settings do not imply an automatic MRI-level autoscaling policy. The existing KEDA-</a:t>
            </a:r>
            <a:r>
              <a:rPr dirty="0" err="1"/>
              <a:t>InferenceSet</a:t>
            </a:r>
            <a:r>
              <a:rPr dirty="0"/>
              <a:t> capability and proposed MRI policy UX are discussed later. No throughput, latency, cost, hardware-portability or superiority claim is made. Sources checked 2026-10-20.</a:t>
            </a:r>
          </a:p>
          <a:p>
            <a:endParaRPr dirty="0"/>
          </a:p>
          <a:p>
            <a:r>
              <a:rPr dirty="0"/>
              <a:t>References</a:t>
            </a:r>
          </a:p>
          <a:p>
            <a:r>
              <a:rPr dirty="0"/>
              <a:t>https://kaito-project.github.io/kaito/docs/prefill-decode-disaggregation</a:t>
            </a:r>
          </a:p>
          <a:p>
            <a:r>
              <a:rPr dirty="0"/>
              <a:t>https://kaito-project.github.io/kaito/docs/keda-autoscaler-inference</a:t>
            </a:r>
          </a:p>
          <a:p>
            <a:r>
              <a:rPr dirty="0"/>
              <a:t>https://llm-d.ai/docs/architecture</a:t>
            </a:r>
          </a:p>
          <a:p>
            <a:r>
              <a:rPr dirty="0"/>
              <a:t>https://kserve.github.io/website/docs/model-serving/generative-inference/llmisvc/llmisvc-overview</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This is a map of responsibilities, not a required installation checklist. Applications call the inference API. The gateway handles ingress, auth and traffic policy. KAITO manages lifecycle; llm-d selects endpoints.</a:t>
            </a:r>
          </a:p>
          <a:p>
            <a:r>
              <a:rPr lang="en-US" sz="1200"/>
              <a:t>vLLM runs prefill, decode and batching. NIXL moves KV; cache systems reuse or offload it. The infrastructure supports the stack. We will follow the roles, request routing, KV transfer and capacity control.</a:t>
            </a:r>
          </a:p>
        </p:txBody>
      </p:sp>
    </p:spTree>
    <p:extLst>
      <p:ext uri="{BB962C8B-B14F-4D97-AF65-F5344CB8AC3E}">
        <p14:creationId xmlns:p14="http://schemas.microsoft.com/office/powerpoint/2010/main" val="41773934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Declare both roles together. Keep orchestration separate from execution. Serve one model through one endpoint. Give prefill and decode their own placement and replica counts.</a:t>
            </a:r>
          </a:p>
          <a:p>
            <a:r>
              <a:rPr lang="en-US" sz="1200"/>
              <a:t>KAITO maintains the role topology. InferencePool links to the gateway. llm-d selects workers and coordinates requests. vLLM runs the phases; NIXL transfers KV. One service coordinates P/D requests, while each role keeps its own capacity settings.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The Endpoint Picker selects workers. vLLM executes the inference phases. The gateway asks the EPP for a decision: a decode worker, and a prefill worker when remote prefill is needed.</a:t>
            </a:r>
          </a:p>
          <a:p>
            <a:r>
              <a:rPr lang="en-US" sz="1200"/>
              <a:t>Choose workers for prefill and decode. Combine KV-aware and P/D-aware plugins. Add new policies through plugins. KAITO reuses llm-d’s routing decisions instead of building a second routing engine.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KAITO manages resources. HTTP carries requests. NIXL moves KV between runtimes. Start at the top: KAITO maintains the role InferenceSets, InferencePool and runtime wiring.</a:t>
            </a:r>
          </a:p>
          <a:p>
            <a:r>
              <a:rPr lang="en-US" sz="1200"/>
              <a:t>For a request, the gateway consults the EPP, then forwards to the selected decode sidecar. The sidecar calls remote prefill when needed and local decode. The client uses one endpoint. KV data bypasses the gateway, EPP and routing sidecar.</a:t>
            </a:r>
          </a:p>
          <a:p>
            <a:endParaRPr lang="en-US" sz="1200"/>
          </a:p>
          <a:p>
            <a:r>
              <a:rPr dirty="0"/>
              <a:t>Technical reference (not part of the spoken script)</a:t>
            </a:r>
          </a:p>
          <a:p>
            <a:endParaRPr dirty="0"/>
          </a:p>
          <a:p>
            <a:r>
              <a:rPr dirty="0"/>
              <a:t>The upper band is resource ownership, not traffic. The gateway consults the </a:t>
            </a:r>
            <a:r>
              <a:rPr dirty="0" err="1"/>
              <a:t>llm</a:t>
            </a:r>
            <a:r>
              <a:rPr dirty="0"/>
              <a:t>-d Router EPP through the </a:t>
            </a:r>
            <a:r>
              <a:rPr dirty="0" err="1"/>
              <a:t>InferencePool</a:t>
            </a:r>
            <a:r>
              <a:rPr dirty="0"/>
              <a:t> integration and forwards to the selected decode sidecar, carrying the selected prefill worker when applicable. The sidecar invokes remote prefill and local decode. The green arrow denotes the direction of KV data (prefill to decode); the decode runtime initiates the read. Response arrows are omitted for clarity and shown on slide 29. </a:t>
            </a:r>
            <a:r>
              <a:rPr dirty="0" err="1"/>
              <a:t>InferenceSets</a:t>
            </a:r>
            <a:r>
              <a:rPr dirty="0"/>
              <a:t> are managed resources, not network hops.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One MultiRoleInference declares both roles. This example puts one prefill replica on A100 and two decode replicas on H100. The YAML declares the model and the settings for each role.</a:t>
            </a:r>
          </a:p>
          <a:p>
            <a:r>
              <a:rPr lang="en-US" sz="1200"/>
              <a:t>On the right, we still have one logical service and InferencePool. Both roles serve the same model. Each has its own InferenceSet and capacity settings. The model and SKU values are illustrative, not deployment-validated.</a:t>
            </a:r>
          </a:p>
          <a:p>
            <a:endParaRPr lang="en-US" sz="1200"/>
          </a:p>
          <a:p>
            <a:r>
              <a:rPr dirty="0"/>
              <a:t>Technical reference (not part of the spoken script)</a:t>
            </a:r>
          </a:p>
          <a:p>
            <a:endParaRPr dirty="0"/>
          </a:p>
          <a:p>
            <a:r>
              <a:rPr dirty="0"/>
              <a:t>User-supplied example: kaito.sh/v1alpha1 </a:t>
            </a:r>
            <a:r>
              <a:rPr dirty="0" err="1"/>
              <a:t>MultiRoleInference</a:t>
            </a:r>
            <a:r>
              <a:rPr dirty="0"/>
              <a:t> named qwen-3-8-27b, model Qwen/Qwen3.8-27B. The prefill role has replicas: 1 and </a:t>
            </a:r>
            <a:r>
              <a:rPr dirty="0" err="1"/>
              <a:t>instanceType</a:t>
            </a:r>
            <a:r>
              <a:rPr dirty="0"/>
              <a:t>: Standard_NC24ads_A100_v4; the decode role has replicas: 2 and </a:t>
            </a:r>
            <a:r>
              <a:rPr dirty="0" err="1"/>
              <a:t>instanceType</a:t>
            </a:r>
            <a:r>
              <a:rPr dirty="0"/>
              <a:t>: Standard_NC80adis_H100_v5. The diagram shows role replicas, not the number of GPUs in each VM. Model and SKU identifiers are reproduced as provided; model availability, installed CRD schema, deployment prerequisites, quota and regional SKU support have not been validated by this presentation edit. Replica cards are illustrative workers; each role is managed through its own </a:t>
            </a:r>
            <a:r>
              <a:rPr dirty="0" err="1"/>
              <a:t>InferenceSet</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KAITO turns the declared topology into workers, routing resources and runtime wiring. For prefill, set role labels and the NIXL host or Pod IP. For decode, inject the sidecar. Align NIXL and vLLM ports.</a:t>
            </a:r>
          </a:p>
          <a:p>
            <a:r>
              <a:rPr lang="en-US" sz="1200"/>
              <a:t>For routing, connect Services, ports and endpoint selection. Keep ownership, roles, labels, ports and lifecycle consistent. KAITO keeps the resources working together; it does not just generate YAML.</a:t>
            </a:r>
          </a:p>
          <a:p>
            <a:endParaRPr lang="en-US" sz="1200"/>
          </a:p>
          <a:p>
            <a:r>
              <a:rPr dirty="0"/>
              <a:t>Technical reference (not part of the spoken script)</a:t>
            </a:r>
          </a:p>
          <a:p>
            <a:endParaRPr dirty="0"/>
          </a:p>
          <a:p>
            <a:r>
              <a:rPr dirty="0"/>
              <a:t>The dashed tree is a resource and responsibility map, not an exact claim that every depicted object is a direct Kubernetes child of the </a:t>
            </a:r>
            <a:r>
              <a:rPr dirty="0" err="1"/>
              <a:t>MultiRoleInference</a:t>
            </a:r>
            <a:r>
              <a:rPr dirty="0"/>
              <a:t>. Ownership and reconciliation can be delegated through child controllers. Distinguish the resources from the wiring installed in their pods. Per-role autoscaling is an integration surface; do not imply every policy is provided automatically.</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The sidecar calls remote prefill when needed, then invokes local decode. Follow steps three to six: prefill returns remote KV parameters, not the KV payload. The sidecar passes those parameters to local decode.</a:t>
            </a:r>
          </a:p>
          <a:p>
            <a:r>
              <a:rPr lang="en-US" sz="1200"/>
              <a:t>Decode initiates the NIXL read; the data moves from prefill to decode. The response returns through the sidecar and gateway. The sidecar passes calls and KV metadata. The runtimes transfer the actual KV data.</a:t>
            </a:r>
          </a:p>
          <a:p>
            <a:endParaRPr lang="en-US" sz="1200"/>
          </a:p>
          <a:p>
            <a:r>
              <a:rPr dirty="0"/>
              <a:t>Technical reference (not part of the spoken script)</a:t>
            </a:r>
          </a:p>
          <a:p>
            <a:endParaRPr dirty="0"/>
          </a:p>
          <a:p>
            <a:r>
              <a:rPr dirty="0"/>
              <a:t>Based on </a:t>
            </a:r>
            <a:r>
              <a:rPr dirty="0" err="1"/>
              <a:t>llm</a:t>
            </a:r>
            <a:r>
              <a:rPr dirty="0"/>
              <a:t>-d-router docs/</a:t>
            </a:r>
            <a:r>
              <a:rPr dirty="0" err="1"/>
              <a:t>disaggregation.md#pd-sequence</a:t>
            </a:r>
            <a:r>
              <a:rPr dirty="0"/>
              <a:t>. Step 2 follows EPP selection; the EPP consultation is omitted from this sequence and shown on slide 26. Step 4 returns transfer metadata, not the KV payload. Step 5 carries </a:t>
            </a:r>
            <a:r>
              <a:rPr dirty="0" err="1"/>
              <a:t>remote_prefill</a:t>
            </a:r>
            <a:r>
              <a:rPr dirty="0"/>
              <a:t>=true, prefill request ID and memory block IDs to local decode. Step 6 shows KV DATA direction (prefill → decode); decode initiates the NIXL read. Response arrows return via sidecar and gateway. Source: https://github.com/llm-d/llm-d-router/blob/main/docs/disaggregation.md#pd-sequence</a:t>
            </a:r>
          </a:p>
          <a:p>
            <a:endParaRPr dirty="0"/>
          </a:p>
          <a:p>
            <a:r>
              <a:rPr dirty="0"/>
              <a:t>References</a:t>
            </a:r>
          </a:p>
          <a:p>
            <a:r>
              <a:rPr dirty="0"/>
              <a:t>https://github.com/llm-d/llm-d-router/blob/main/docs/disaggregation.md#pd-sequence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4"/>
        <p:cNvGrpSpPr/>
        <p:nvPr/>
      </p:nvGrpSpPr>
      <p:grpSpPr>
        <a:xfrm>
          <a:off x="0" y="0"/>
          <a:ext cx="0" cy="0"/>
          <a:chOff x="0" y="0"/>
          <a:chExt cx="0" cy="0"/>
        </a:xfrm>
      </p:grpSpPr>
      <p:sp>
        <p:nvSpPr>
          <p:cNvPr id="3485" name="Google Shape;3485;g3e5338da07b_0_2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zh-CN" altLang="en-US"/>
          </a:p>
        </p:txBody>
      </p:sp>
      <p:sp>
        <p:nvSpPr>
          <p:cNvPr id="3486" name="Google Shape;3486;g3e5338da07b_0_22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sz="1200"/>
              <a:t>KV moves between runtimes, not through the gateway or routing sidecar. Prefill builds KV in GPU memory. Decode reuses KV to keep generating. NIXL uses a transport backend. Decode may initiate the read.</a:t>
            </a:r>
          </a:p>
          <a:p>
            <a:r>
              <a:rPr lang="en-US" sz="1200"/>
              <a:t>GPU-direct RDMA needs a supported GPU, NIC, fabric and backend. A TCP path is not RDMA. Measure transfer latency and staging cost on your deployment. Next, let’s look at capacity.</a:t>
            </a:r>
          </a:p>
        </p:txBody>
      </p:sp>
    </p:spTree>
    <p:extLst>
      <p:ext uri="{BB962C8B-B14F-4D97-AF65-F5344CB8AC3E}">
        <p14:creationId xmlns:p14="http://schemas.microsoft.com/office/powerpoint/2010/main" val="233665756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Proposed approach: let prefill and decode make separate capacity decisions. Match signals to each role’s load. Tune thresholds against latency targets.</a:t>
            </a:r>
          </a:p>
          <a:p>
            <a:r>
              <a:rPr lang="en-US" sz="1200"/>
              <a:t>Prefill needs to protect time to first token. Start with vLLM waiting requests. Decode needs to sustain steady token delivery. Start with vLLM running requests. These counts indicate load, not latency or GPU saturation.</a:t>
            </a:r>
          </a:p>
          <a:p>
            <a:endParaRPr lang="en-US" sz="120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Today, KEDA scales an InferenceSet. KAITO documents scheduled scaling and metric-based scaling with KEDA. KEDA and HPA set replicas on the InferenceSet. KAITO adjusts serving resources.</a:t>
            </a:r>
          </a:p>
          <a:p>
            <a:r>
              <a:rPr lang="en-US" sz="1200"/>
              <a:t>One example watches queues, using vllm:num_requests_waiting. KEDA is installed separately. This is the existing scaling mechanism, not a finished MRI policy. Scale the complete serving replica, not an individual tensor-parallel worker.</a:t>
            </a:r>
          </a:p>
          <a:p>
            <a:endParaRPr lang="en-US" sz="1200"/>
          </a:p>
          <a:p>
            <a:r>
              <a:rPr dirty="0"/>
              <a:t>Technical reference (not part of the spoken script)</a:t>
            </a:r>
          </a:p>
          <a:p>
            <a:endParaRPr dirty="0"/>
          </a:p>
          <a:p>
            <a:r>
              <a:rPr dirty="0"/>
              <a:t>KEDA is installed separately. The KAITO documentation shows Cron and Prometheus triggers with a </a:t>
            </a:r>
            <a:r>
              <a:rPr dirty="0" err="1"/>
              <a:t>ScaledObject</a:t>
            </a:r>
            <a:r>
              <a:rPr dirty="0"/>
              <a:t> </a:t>
            </a:r>
            <a:r>
              <a:rPr dirty="0" err="1"/>
              <a:t>scaleTargetRef</a:t>
            </a:r>
            <a:r>
              <a:rPr dirty="0"/>
              <a:t> pointing to a kaito.sh </a:t>
            </a:r>
            <a:r>
              <a:rPr dirty="0" err="1"/>
              <a:t>InferenceSet</a:t>
            </a:r>
            <a:r>
              <a:rPr dirty="0"/>
              <a:t>. The controller reconciles the desired replicas into serving resources. The queue metric example is real; it does not establish native per-role MRI autoscaling policy.</a:t>
            </a:r>
          </a:p>
          <a:p>
            <a:endParaRPr dirty="0"/>
          </a:p>
          <a:p>
            <a:r>
              <a:rPr dirty="0"/>
              <a:t>References</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3E1FD-DF2C-B744-F449-580268366C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F622D-7B76-6ED7-8FBE-63F9EDE6C268}"/>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A526001A-7849-5A55-C08F-CDCA6635D57C}"/>
              </a:ext>
            </a:extLst>
          </p:cNvPr>
          <p:cNvSpPr>
            <a:spLocks noGrp="1"/>
          </p:cNvSpPr>
          <p:nvPr>
            <p:ph type="body" idx="1"/>
          </p:nvPr>
        </p:nvSpPr>
        <p:spPr/>
        <p:txBody>
          <a:bodyPr/>
          <a:lstStyle/>
          <a:p>
            <a:r>
              <a:rPr lang="en-US" sz="1200"/>
              <a:t>Read vLLM metrics directly, without Prometheus. Use queue and latency signals. Take conservative replica steps. Combine conditions with AND.</a:t>
            </a:r>
          </a:p>
          <a:p>
            <a:r>
              <a:rPr lang="en-US" sz="1200"/>
              <a:t>AND can reduce unnecessary scaling, but it can also delay capacity. Check the installed scaler version and test the policy for your model. This works with InferenceSet; applying it separately to MRI roles still needs integration.</a:t>
            </a:r>
          </a:p>
        </p:txBody>
      </p:sp>
    </p:spTree>
    <p:extLst>
      <p:ext uri="{BB962C8B-B14F-4D97-AF65-F5344CB8AC3E}">
        <p14:creationId xmlns:p14="http://schemas.microsoft.com/office/powerpoint/2010/main" val="319052246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Let prefill and decode scale independently. Proposed design: each role gets its own signal, threshold and replica target. Prefill watches waiting requests and scales its InferenceSet. Decode watches running requests and scales its InferenceSet.</a:t>
            </a:r>
          </a:p>
          <a:p>
            <a:r>
              <a:rPr lang="en-US" sz="1200"/>
              <a:t>Give each target one owner. Allow warm-up time, stabilize changes and scale down safely. Independent capacity decisions are the goal; KEDA and HPA are one way to implement them.</a:t>
            </a:r>
          </a:p>
          <a:p>
            <a:endParaRPr lang="en-US" sz="1200"/>
          </a:p>
          <a:p>
            <a:r>
              <a:rPr dirty="0"/>
              <a:t>Technical reference (not part of the spoken script)</a:t>
            </a:r>
          </a:p>
          <a:p>
            <a:endParaRPr dirty="0"/>
          </a:p>
          <a:p>
            <a:r>
              <a:rPr dirty="0"/>
              <a:t>Conceptual two-loop design. A KEDA deployment can use one </a:t>
            </a:r>
            <a:r>
              <a:rPr dirty="0" err="1"/>
              <a:t>ScaledObject</a:t>
            </a:r>
            <a:r>
              <a:rPr dirty="0"/>
              <a:t> per target </a:t>
            </a:r>
            <a:r>
              <a:rPr dirty="0" err="1"/>
              <a:t>InferenceSet</a:t>
            </a:r>
            <a:r>
              <a:rPr dirty="0"/>
              <a:t>. Native </a:t>
            </a:r>
            <a:r>
              <a:rPr dirty="0" err="1"/>
              <a:t>vLLM</a:t>
            </a:r>
            <a:r>
              <a:rPr dirty="0"/>
              <a:t> waiting and running request gauges supply role-specific signals. Do not install conflicting </a:t>
            </a:r>
            <a:r>
              <a:rPr dirty="0" err="1"/>
              <a:t>autoscalers</a:t>
            </a:r>
            <a:r>
              <a:rPr dirty="0"/>
              <a:t> for one target. Metric aggregation, freshness, model warm-up and safe scale-down require verification. The following slides explain policy and signal choices independently of the configuration API.</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One service can scale its two roles separately. Proposed design: set service goals, then give each role its own scaling policy. Protect prompt latency. Keep tokens flowing. Set separate role targets.</a:t>
            </a:r>
          </a:p>
          <a:p>
            <a:r>
              <a:rPr lang="en-US" sz="1200"/>
              <a:t>Apply the prefill policy. Apply the decode policy. Scale a complete serving replica—not an individual tensor-parallel worker. Mapping service goals to those policies and handing over replica ownership still require MRI integration.</a:t>
            </a:r>
          </a:p>
          <a:p>
            <a:endParaRPr lang="en-US" sz="1200"/>
          </a:p>
          <a:p>
            <a:r>
              <a:rPr dirty="0"/>
              <a:t>Technical reference (not part of the spoken script)</a:t>
            </a:r>
          </a:p>
          <a:p>
            <a:endParaRPr dirty="0"/>
          </a:p>
          <a:p>
            <a:r>
              <a:rPr dirty="0"/>
              <a:t>Public-facing design pattern: express service objectives, reconcile independent role policies, and scale each role as a complete serving replica. Policy representation and controller-specific wiring are implementation details and intentionally omitted here. Existing KEDA/</a:t>
            </a:r>
            <a:r>
              <a:rPr dirty="0" err="1"/>
              <a:t>InferenceSet</a:t>
            </a:r>
            <a:r>
              <a:rPr dirty="0"/>
              <a:t> capability is described on the earlier slide; this diagram is not a claim that automatic service-level policy projection is already available. Keep one authoritative </a:t>
            </a:r>
            <a:r>
              <a:rPr dirty="0" err="1"/>
              <a:t>autoscaler</a:t>
            </a:r>
            <a:r>
              <a:rPr dirty="0"/>
              <a:t> per target.</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Proposed loops use valid role metrics—not GPU utilization alone—to decide capacity. Routing chooses where requests go; autoscaling changes how much capacity is available.</a:t>
            </a:r>
          </a:p>
          <a:p>
            <a:r>
              <a:rPr lang="en-US" sz="1200"/>
              <a:t>Validate signals and limits. Give each target one owner. Count only ready replicas. Waiting requests inform prefill capacity; running requests inform decode capacity. Running requests measure concurrency, not GPU saturation. Require fresh, complete role metrics before trusting a scaling decision.</a:t>
            </a:r>
          </a:p>
          <a:p>
            <a:endParaRPr lang="en-US" sz="1200"/>
          </a:p>
          <a:p>
            <a:r>
              <a:rPr dirty="0"/>
              <a:t>Technical reference (not part of the spoken script)</a:t>
            </a:r>
          </a:p>
          <a:p>
            <a:endParaRPr dirty="0"/>
          </a:p>
          <a:p>
            <a:r>
              <a:rPr dirty="0"/>
              <a:t>Architectural control pattern, independent of how policies are encoded. Each role has its own signals, controller decision and serving-replica target. KEDA/HPA targeting an </a:t>
            </a:r>
            <a:r>
              <a:rPr dirty="0" err="1"/>
              <a:t>InferenceSet</a:t>
            </a:r>
            <a:r>
              <a:rPr dirty="0"/>
              <a: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This is a proposed policy excerpt, not a ready-to-deploy manifest. The MRI adapter and child opt-in still need integration. These thresholds are examples.</a:t>
            </a:r>
          </a:p>
          <a:p>
            <a:r>
              <a:rPr lang="en-US" sz="1200"/>
              <a:t>Start with one prefill replica and two decode replicas. With role averages of twelve, prefill requests scale-up and decode holds. Decode can request scale-up above twenty-four. AND applies within each role, not across roles. The formula requests double, half or unchanged replicas, rounded up. HPA behavior limits the pace; readiness, bounds and stabilization still apply.</a:t>
            </a:r>
          </a:p>
          <a:p>
            <a:endParaRPr lang="en-US" sz="1200"/>
          </a:p>
          <a:p>
            <a:r>
              <a:rPr dirty="0"/>
              <a:t>Technical reference (not part of the spoken script)</a:t>
            </a:r>
          </a:p>
          <a:p>
            <a:endParaRPr dirty="0"/>
          </a:p>
          <a:p>
            <a:r>
              <a:rPr dirty="0"/>
              <a:t>The left panel is a literal excerpt under MRI </a:t>
            </a:r>
            <a:r>
              <a:rPr dirty="0" err="1"/>
              <a:t>metadata.annotations</a:t>
            </a:r>
            <a:r>
              <a:rPr dirty="0"/>
              <a:t>; the right is a </a:t>
            </a:r>
            <a:r>
              <a:rPr dirty="0" err="1"/>
              <a:t>spec.roles</a:t>
            </a:r>
            <a:r>
              <a:rPr dirty="0"/>
              <a:t> excerpt, not the entire deployable resource. Full YAML: </a:t>
            </a:r>
            <a:r>
              <a:rPr dirty="0" err="1"/>
              <a:t>llm</a:t>
            </a:r>
            <a:r>
              <a:rPr dirty="0"/>
              <a:t>/</a:t>
            </a:r>
            <a:r>
              <a:rPr dirty="0" err="1"/>
              <a:t>kaito</a:t>
            </a:r>
            <a:r>
              <a:rPr dirty="0"/>
              <a:t>-</a:t>
            </a:r>
            <a:r>
              <a:rPr dirty="0" err="1"/>
              <a:t>llm</a:t>
            </a:r>
            <a:r>
              <a:rPr dirty="0"/>
              <a:t>-d/examples/proposed-pd-autoscaling-</a:t>
            </a:r>
            <a:r>
              <a:rPr dirty="0" err="1"/>
              <a:t>annotations.yaml</a:t>
            </a:r>
            <a:r>
              <a:rPr dirty="0"/>
              <a:t> in this repository. Model and </a:t>
            </a:r>
            <a:r>
              <a:rPr dirty="0" err="1"/>
              <a:t>instanceType</a:t>
            </a:r>
            <a:r>
              <a:rPr dirty="0"/>
              <a:t> values in that file are illustrative and not deployment-validated. Annotation policy is a proposal and needs the integration work on the preceding slide. Role replicas are null to stop MRI enforcement; the adapter must reject non-null replicas with an enabled policy and bootstrap minima safely. The </a:t>
            </a:r>
            <a:r>
              <a:rPr dirty="0" err="1"/>
              <a:t>modelpod</a:t>
            </a:r>
            <a:r>
              <a:rPr dirty="0"/>
              <a:t> source discovers Workspaces owned by the target </a:t>
            </a:r>
            <a:r>
              <a:rPr dirty="0" err="1"/>
              <a:t>InferenceSet</a:t>
            </a:r>
            <a:r>
              <a:rPr dirty="0"/>
              <a: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a:t>
            </a:r>
            <a:r>
              <a:rPr dirty="0" err="1"/>
              <a:t>vLLM</a:t>
            </a:r>
            <a:r>
              <a:rPr dirty="0"/>
              <a:t> /metrics verification and full-role sample coverage before activation.</a:t>
            </a:r>
          </a:p>
          <a:p>
            <a:endParaRPr dirty="0"/>
          </a:p>
          <a:p>
            <a:r>
              <a:rPr dirty="0"/>
              <a:t>Narrative source: kubecon-na-2026-pd-disaggregation.md</a:t>
            </a:r>
          </a:p>
          <a:p>
            <a:r>
              <a:rPr dirty="0"/>
              <a:t>References:</a:t>
            </a:r>
          </a:p>
          <a:p>
            <a:r>
              <a:rPr dirty="0"/>
              <a:t>https://github.com/andyzhangx/demo/blob/26c3e14a340d4b0aae5c820b43087d71b85d1554/llm/kaito-llm-d/kaito-role-aware-autoscaling-for-pd.md</a:t>
            </a:r>
          </a:p>
          <a:p>
            <a:r>
              <a:rPr dirty="0"/>
              <a:t>https://docs.vllm.ai/en/stable/usage/metrics/</a:t>
            </a:r>
          </a:p>
          <a:p>
            <a:r>
              <a:rPr dirty="0"/>
              <a:t>https://github.com/andyzhangx/demo/blob/master/llm/kaito-llm-d/examples/proposed-pd-autoscaling-annotations.yaml</a:t>
            </a:r>
          </a:p>
          <a:p>
            <a:r>
              <a:rPr dirty="0"/>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Use two gauges to scale the two roles. Verify service-to-replica mapping before averaging each role’s load. The default sums matching series within each service, then averages scraped services. Check full coverage: missing data is not zero. Watch the prefill engine queue and active decode requests.</a:t>
            </a:r>
          </a:p>
          <a:p>
            <a:r>
              <a:rPr lang="en-US" sz="1200"/>
              <a:t>In this example, prefill scales up above eight and down below one; decode scales up above twenty-four and down below four. Both hold between the thresholds, including equality. These thresholds are examples. Verify /metrics before enabling either policy.</a:t>
            </a:r>
          </a:p>
          <a:p>
            <a:endParaRPr lang="en-US" sz="1200"/>
          </a:p>
          <a:p>
            <a:r>
              <a:rPr dirty="0"/>
              <a:t>Technical reference (not part of the spoken script)</a:t>
            </a:r>
          </a:p>
          <a:p>
            <a:endParaRPr dirty="0"/>
          </a:p>
          <a:p>
            <a:r>
              <a:rPr dirty="0"/>
              <a:t>Native </a:t>
            </a:r>
            <a:r>
              <a:rPr dirty="0" err="1"/>
              <a:t>vllm:num_requests_waiting</a:t>
            </a:r>
            <a:r>
              <a:rPr dirty="0"/>
              <a:t> and </a:t>
            </a:r>
            <a:r>
              <a:rPr dirty="0" err="1"/>
              <a:t>vllm:num_requests_running</a:t>
            </a:r>
            <a:r>
              <a:rPr dirty="0"/>
              <a:t>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endParaRPr dirty="0"/>
          </a:p>
          <a:p>
            <a:r>
              <a:rPr dirty="0"/>
              <a:t>References</a:t>
            </a:r>
          </a:p>
          <a:p>
            <a:r>
              <a:rPr dirty="0"/>
              <a:t>https://github.com/andyzhangx/demo/blob/26c3e14a340d4b0aae5c820b43087d71b85d1554/llm/kaito-llm-d/kaito-role-aware-autoscaling-for-pd.md</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Use derived signals to explain the load. Derive KV usage, latency and throughput. Check queries before use. Maximum KV usage could guard scale-down. Its complement shows free fraction, not request capacity. First-token P95 shows engine-side TTFT tails. Token throughput shows output rate; benchmark it.</a:t>
            </a:r>
          </a:p>
          <a:p>
            <a:r>
              <a:rPr lang="en-US" sz="1200"/>
              <a:t>KV occupancy is not demand. Throughput alone should not change replica counts. These are proposed derived signals, not metrics already integrated into MRI.</a:t>
            </a:r>
          </a:p>
          <a:p>
            <a:endParaRPr lang="en-US" sz="1200"/>
          </a:p>
          <a:p>
            <a:r>
              <a:rPr dirty="0"/>
              <a:t>Technical reference (not part of the spoken script)</a:t>
            </a:r>
          </a:p>
          <a:p>
            <a:endParaRPr dirty="0"/>
          </a:p>
          <a:p>
            <a:r>
              <a:rPr dirty="0"/>
              <a:t>These are derived-signal design examples, not metrics natively emitted by </a:t>
            </a:r>
            <a:r>
              <a:rPr dirty="0" err="1"/>
              <a:t>vLLM</a:t>
            </a:r>
            <a:r>
              <a:rPr dirty="0"/>
              <a:t> or a claim of current MRI integration support. All table input names have the </a:t>
            </a:r>
            <a:r>
              <a:rPr dirty="0" err="1"/>
              <a:t>vllm</a:t>
            </a:r>
            <a:r>
              <a:rPr dirty="0"/>
              <a:t>: prefix. Proposed recording-rule names: </a:t>
            </a:r>
            <a:r>
              <a:rPr dirty="0" err="1"/>
              <a:t>kaito:decode_kv_cache_usage_max</a:t>
            </a:r>
            <a:r>
              <a:rPr dirty="0"/>
              <a:t> = max valid role-scoped </a:t>
            </a:r>
            <a:r>
              <a:rPr dirty="0" err="1"/>
              <a:t>vllm:kv_cache_usage_perc</a:t>
            </a:r>
            <a:r>
              <a:rPr dirty="0"/>
              <a:t>; </a:t>
            </a:r>
            <a:r>
              <a:rPr dirty="0" err="1"/>
              <a:t>kaito:decode_kv_cache_free_fraction_min</a:t>
            </a:r>
            <a:r>
              <a:rPr dirty="0"/>
              <a:t> = 1 - that maximum; kaito:prefill_ttft_p95_seconds = </a:t>
            </a:r>
            <a:r>
              <a:rPr dirty="0" err="1"/>
              <a:t>histogram_quantile</a:t>
            </a:r>
            <a:r>
              <a:rPr dirty="0"/>
              <a:t>(0.95, summed per-series 5m bucket rates preserving workload/role and le); </a:t>
            </a:r>
            <a:r>
              <a:rPr dirty="0" err="1"/>
              <a:t>kaito:decode_generation_tokens_per_second</a:t>
            </a:r>
            <a:r>
              <a:rPr dirty="0"/>
              <a:t> = sum of reset-aware rate(</a:t>
            </a:r>
            <a:r>
              <a:rPr dirty="0" err="1"/>
              <a:t>vllm:generation_tokens_total</a:t>
            </a:r>
            <a:r>
              <a:rPr dirty="0"/>
              <a:t>[5m]).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a:t>
            </a:r>
            <a:r>
              <a:rPr dirty="0" err="1"/>
              <a:t>vLLM</a:t>
            </a:r>
            <a:r>
              <a:rPr dirty="0"/>
              <a:t>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endParaRPr dirty="0"/>
          </a:p>
          <a:p>
            <a:r>
              <a:rPr dirty="0"/>
              <a:t>References</a:t>
            </a:r>
          </a:p>
          <a:p>
            <a:r>
              <a:rPr dirty="0"/>
              <a:t>https://github.com/andyzhangx/demo/blob/26c3e14a340d4b0aae5c820b43087d71b85d1554/llm/kaito-llm-d/kaito-role-aware-autoscaling-for-pd.md</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Next, explore better cache reuse, more inference roles and larger-scale execution. Route using KV cache events. Tier cache across HBM, CPU RAM and optional filesystems. Add Encode to Prefill / Decode. Support more inference roles. Explore wide expert parallelism. Improve cross-node transport and communication.</a:t>
            </a:r>
          </a:p>
          <a:p>
            <a:r>
              <a:rPr lang="en-US" sz="1200"/>
              <a:t>These are integration directions, not release dates; some capabilities already exist upstream.</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Explore the projects, then try the KAITO + llm-d P/D guide. llm-d and KAITO are both CNCF Sandbox projects. Start with their repositories for the code, check keda-kaito-scaler for scaling details, and use the P/D guide for prerequisites and configuration.</a:t>
            </a:r>
          </a:p>
          <a:p>
            <a:endParaRPr lang="en-US" sz="1200"/>
          </a:p>
          <a:p>
            <a:r>
              <a:rPr dirty="0"/>
              <a:t>References</a:t>
            </a:r>
          </a:p>
          <a:p>
            <a:r>
              <a:rPr dirty="0"/>
              <a:t>https://github.com/llm-d</a:t>
            </a:r>
          </a:p>
          <a:p>
            <a:r>
              <a:rPr dirty="0"/>
              <a:t>https://github.com/kaito-project/kaito</a:t>
            </a:r>
          </a:p>
          <a:p>
            <a:r>
              <a:rPr dirty="0"/>
              <a:t>https://kaito-project.github.io/kaito/docs/prefill-decode-disaggregation/</a:t>
            </a:r>
          </a:p>
          <a:p>
            <a:r>
              <a:rPr dirty="0"/>
              <a:t>https://www.cncf.io/projects/llm-d/</a:t>
            </a:r>
          </a:p>
          <a:p>
            <a:r>
              <a:rPr dirty="0"/>
              <a:t>https://www.cncf.io/projects/kaito/</a:t>
            </a:r>
          </a:p>
          <a:p>
            <a:r>
              <a:rPr dirty="0"/>
              <a:t>https://github.com/kaito-project/keda-kaito-scaler</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Thank you. We’re happy to take questions.</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Split the phases. Tune the pools independently. P/D separates prompt processing from generation, with KV transfer between them. Size prefill replicas and parallelism for prompt pressure. Size decode replicas and parallelism for sustained generation.</a:t>
            </a:r>
          </a:p>
          <a:p>
            <a:r>
              <a:rPr lang="en-US" sz="1200"/>
              <a:t>Transfer and coordination add cost. KV data moves from prefill to decode, even when decode initiates the read. The transfer path must be fast enough to justify the split.</a:t>
            </a:r>
          </a:p>
          <a:p>
            <a:endParaRPr lang="en-US" sz="1200"/>
          </a:p>
          <a:p>
            <a:r>
              <a:rPr dirty="0"/>
              <a:t>References</a:t>
            </a:r>
          </a:p>
          <a:p>
            <a:r>
              <a:rPr dirty="0"/>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Different roles need different scaling policies. Tune each role for its workload, using per-replica signals and shared safety checks. Prefill watches waiting requests; decode watches running requests. The example ranges are one to eight and two to sixteen replicas.</a:t>
            </a:r>
          </a:p>
          <a:p>
            <a:r>
              <a:rPr lang="en-US" sz="1200"/>
              <a:t>Prefill scales up above eight and down below one; decode scales up above twenty-four and down below four. Otherwise, hold. Both need readiness and fresh metrics. These policies are examples. Validate thresholds, cooldown and model warm-up. These are safety requirements, not guarantees of current MRI integration.</a:t>
            </a:r>
          </a:p>
          <a:p>
            <a:endParaRPr lang="en-US" sz="1200"/>
          </a:p>
          <a:p>
            <a:r>
              <a:t>Technical reference (not part of the spoken script)</a:t>
            </a:r>
          </a:p>
          <a:p>
            <a:endParaRPr/>
          </a:p>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endParaRPr/>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Three layers. Three clear responsibilities. The InferencePool contract connects platform orchestration to routing. KAITO reconciles the role topology. It creates resources and manages their lifecycle. GWIE defines the InferencePool contract. It connects backends to gateway integration. llm-d Router selects endpoints via EPP. It makes role-aware routing decisions.</a:t>
            </a:r>
          </a:p>
          <a:p>
            <a:r>
              <a:rPr lang="en-US" sz="1200"/>
              <a:t>KAITO owns the topology. GWIE defines the contract. llm-d Router makes the selection. InferencePool is an API resource, not another forwarding proxy.</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a:t>Here is how KAITO estimates GPU node count. Estimate initial memory capacity—not throughput—from the model and GPU memory. Start with GPU memory. Reserve runtime overhead and room for KV cache. Fit the weights into usable GPU memory. Account for parallelism. Divide by GPUs per node. Round up, then reconcile the workload.</a:t>
            </a:r>
          </a:p>
          <a:p>
            <a:r>
              <a:rPr lang="en-US" sz="1200"/>
              <a:t>The sizing formula and safety margins depend on the KAITO and runtime version. Fitting the model is not a latency or throughput guarantee.</a:t>
            </a:r>
          </a:p>
        </p:txBody>
      </p:sp>
    </p:spTree>
    <p:extLst>
      <p:ext uri="{BB962C8B-B14F-4D97-AF65-F5344CB8AC3E}">
        <p14:creationId xmlns:p14="http://schemas.microsoft.com/office/powerpoint/2010/main" val="144924624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FC2CB-C297-C660-5463-BB725615520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380E2BF-14C8-4C97-42B9-340F5154E37E}"/>
              </a:ext>
            </a:extLst>
          </p:cNvPr>
          <p:cNvSpPr>
            <a:spLocks noGrp="1" noRot="1" noChangeAspect="1"/>
          </p:cNvSpPr>
          <p:nvPr>
            <p:ph type="sldImg"/>
          </p:nvPr>
        </p:nvSpPr>
        <p:spPr>
          <a:xfrm>
            <a:off x="381000" y="685800"/>
            <a:ext cx="6096000" cy="3429000"/>
          </a:xfrm>
        </p:spPr>
        <p:txBody>
          <a:bodyPr/>
          <a:lstStyle/>
          <a:p>
            <a:endParaRPr lang="zh-CN" altLang="en-US"/>
          </a:p>
        </p:txBody>
      </p:sp>
      <p:sp>
        <p:nvSpPr>
          <p:cNvPr id="3" name="备注占位符 2">
            <a:extLst>
              <a:ext uri="{FF2B5EF4-FFF2-40B4-BE49-F238E27FC236}">
                <a16:creationId xmlns:a16="http://schemas.microsoft.com/office/drawing/2014/main" id="{0273D939-1A03-F20C-296E-6597666CD096}"/>
              </a:ext>
            </a:extLst>
          </p:cNvPr>
          <p:cNvSpPr>
            <a:spLocks noGrp="1"/>
          </p:cNvSpPr>
          <p:nvPr>
            <p:ph type="body" idx="1"/>
          </p:nvPr>
        </p:nvSpPr>
        <p:spPr/>
        <p:txBody>
          <a:bodyPr/>
          <a:lstStyle/>
          <a:p>
            <a:r>
              <a:rPr lang="en-US" sz="1200"/>
              <a:t>llm-d connects routing, prefill and decode. Route prefill and decode separately. Choose workers dynamically. Tune each role’s capacity and scheduling. Target TTFT and ITL SLOs—then measure the handoff cost.</a:t>
            </a:r>
          </a:p>
          <a:p>
            <a:r>
              <a:rPr lang="en-US" sz="1200"/>
              <a:t>One client request can become separate internal requests. Separate pools give us more control, not a guarantee of meeting latency targets. The sidecar coordinates the handoff; vLLM and NIXL move the KV data.</a:t>
            </a:r>
          </a:p>
        </p:txBody>
      </p:sp>
    </p:spTree>
    <p:extLst>
      <p:ext uri="{BB962C8B-B14F-4D97-AF65-F5344CB8AC3E}">
        <p14:creationId xmlns:p14="http://schemas.microsoft.com/office/powerpoint/2010/main" val="16989503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The decode sidecar coordinates the request. One decode endpoint coordinates remote prefill and returns the final response. The gateway reaches the selected decode pod’s sidecar. When needed, the sidecar requests remote prefill, then passes the request and KV metadata to local decode vLLM.</a:t>
            </a:r>
          </a:p>
          <a:p>
            <a:r>
              <a:rPr lang="en-US" sz="1200"/>
              <a:t>The sidecar coordinates requests. KV data goes directly to the decode runtime. Decode initiates the read; KV data bypasses the sidecar. Ports five thousand and five thousand one are configuration examples.</a:t>
            </a:r>
          </a:p>
          <a:p>
            <a:endParaRPr lang="en-US" sz="1200"/>
          </a:p>
          <a:p>
            <a:r>
              <a:t>Technical reference (not part of the spoken script)</a:t>
            </a:r>
          </a:p>
          <a:p>
            <a:endParaRPr/>
          </a:p>
          <a:p>
            <a:r>
              <a:t>Ports 5000 and 5001 reflect this deployment configuration, not universal requirements for every llm-d deployment. The InferencePool targetPort must reach the sidecar’s listening port. The sidecar coordinates remote prefill, passes transfer metadata to local vLLM, and proxies the final response. KV payload does not transit through the HTTP sidecar. The decode runtime performs the KV read over NIXL.</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Ask two questions: do the roles need different capacity, and what does KV transfer cost? With different role needs but costly transfer, improve topology first: separate capacity may help, but transfer may erase the gain. With different needs and affordable transfer, tune each role separately. Validate at matched SLOs and cost.</a:t>
            </a:r>
          </a:p>
          <a:p>
            <a:r>
              <a:rPr lang="en-US" sz="1200"/>
              <a:t>With similar needs, usually stay aggregated. Similar roles gain little, while expensive transfer adds cost. Fast fabric alone is no reason to split. Use P/D when roles need different capacity and KV transfer does not erase the gain.</a:t>
            </a:r>
          </a:p>
          <a:p>
            <a:endParaRPr lang="en-US" sz="1200"/>
          </a:p>
          <a:p>
            <a:r>
              <a:t>Technical reference (not part of the spoken script)</a:t>
            </a:r>
          </a:p>
          <a:p>
            <a:endParaRPr/>
          </a:p>
          <a:p>
            <a:r>
              <a:t>Source: companion Markdown section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Three takeaways for operating P/D on Kubernetes. Separate capacity to protect latency. Prefill shapes first-token latency; decode shapes ongoing token delivery. Give each layer a clear job. KAITO manages roles; llm-d routes; vLLM + NIXL execute and move KV.</a:t>
            </a:r>
          </a:p>
          <a:p>
            <a:r>
              <a:rPr lang="en-US" sz="1200"/>
              <a:t>Scale each role safely. Use role signals and safe scale-down; MRI integration still needs work. Validate P/D against aggregated serving at matched workload, cost and latency targets.</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F81C-0A63-C991-6B5C-C9782F9A4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ACE33-ED3D-07B2-95CE-3EA7C114641D}"/>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24D00C3-B364-8AFC-DCCF-39E6FB80E4E0}"/>
              </a:ext>
            </a:extLst>
          </p:cNvPr>
          <p:cNvSpPr>
            <a:spLocks noGrp="1"/>
          </p:cNvSpPr>
          <p:nvPr>
            <p:ph type="body" idx="1"/>
          </p:nvPr>
        </p:nvSpPr>
        <p:spPr/>
        <p:txBody>
          <a:bodyPr/>
          <a:lstStyle/>
          <a:p>
            <a:r>
              <a:rPr lang="en-US" sz="1200"/>
              <a:t>Tune explicitly today; aim for simpler defaults next. Choose queue and latency metrics. Set thresholds and time windows. Set replica bounds and cooldowns. Combine signals with an AND policy. Check available settings against your installed scaler version.</a:t>
            </a:r>
          </a:p>
          <a:p>
            <a:r>
              <a:rPr lang="en-US" sz="1200"/>
              <a:t>The proposal is to keep minimum and maximum replicas, derive more defaults automatically, and validate for the model and workload. This is not shipped auto-tuning. Existing InferenceSet scaling is the base; MRI role-policy integration still needs work.</a:t>
            </a:r>
          </a:p>
          <a:p>
            <a:endParaRPr lang="en-US" sz="1200"/>
          </a:p>
          <a:p>
            <a:r>
              <a:t>Configuration reference (from the original deck; validate against the installed scaler version)</a:t>
            </a:r>
          </a:p>
          <a:p>
            <a:endParaRPr/>
          </a:p>
          <a:p>
            <a:endParaRPr/>
          </a:p>
        </p:txBody>
      </p:sp>
    </p:spTree>
    <p:extLst>
      <p:ext uri="{BB962C8B-B14F-4D97-AF65-F5344CB8AC3E}">
        <p14:creationId xmlns:p14="http://schemas.microsoft.com/office/powerpoint/2010/main" val="362140088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Reuse the serving stack and add Kubernetes-native coordination. Run modular components on Kubernetes. Keep failure boundaries clear. Connect gateways, routing, runtimes and KV interfaces. Start with tested paths. Weigh the trade-offs. Tune for your workload.</a:t>
            </a:r>
          </a:p>
          <a:p>
            <a:r>
              <a:rPr lang="en-US" sz="1200"/>
              <a:t>llm-d composes gateways, runtimes and transport; it does not replace them all. These reference paths are starting points, not performance guarantees for every model and hardware combination.</a:t>
            </a:r>
          </a:p>
          <a:p>
            <a:endParaRPr lang="en-US" sz="1200"/>
          </a:p>
          <a:p>
            <a:r>
              <a:t>References</a:t>
            </a:r>
          </a:p>
          <a:p>
            <a:r>
              <a:t>https://www.cncf.io/projects/llm-d/</a:t>
            </a:r>
          </a:p>
          <a:p>
            <a:r>
              <a:t>https://github.com/llm-d</a:t>
            </a:r>
          </a:p>
        </p:txBody>
      </p:sp>
    </p:spTree>
    <p:extLst>
      <p:ext uri="{BB962C8B-B14F-4D97-AF65-F5344CB8AC3E}">
        <p14:creationId xmlns:p14="http://schemas.microsoft.com/office/powerpoint/2010/main" val="165134703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Safe autoscaling needs one writer and valid data. These are safety requirements to verify, not guarantees of current MRI integration. Give each role one replica writer. Do not let autoscalers compete. Inspect actual /metrics. Scope samples per role. Missing is not zero. Hold and report on failure.</a:t>
            </a:r>
          </a:p>
          <a:p>
            <a:r>
              <a:rPr lang="en-US" sz="1200"/>
              <a:t>Stop the old writer first. Delete only owned scalers. Allow model warm-up. Test safe scale-down. Avoid competing controllers, count only ready capacity, and protect in-flight requests.</a:t>
            </a:r>
          </a:p>
          <a:p>
            <a:endParaRPr lang="en-US" sz="1200"/>
          </a:p>
          <a:p>
            <a:r>
              <a:t>Technical reference (not part of the spoken script)</a:t>
            </a:r>
          </a:p>
          <a:p>
            <a:endParaRPr/>
          </a:p>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endParaRPr/>
          </a:p>
          <a:p>
            <a:r>
              <a:t>References</a:t>
            </a:r>
          </a:p>
          <a:p>
            <a:r>
              <a:t>https://github.com/andyzhangx/demo/blob/26c3e14a340d4b0aae5c820b43087d71b85d1554/llm/kaito-llm-d/kaito-role-aware-autoscaling-for-pd.md</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These are building blocks, not benchmark guarantees. Run large models with expert parallelism and tuned communication. Choose placement, batching and capacity for each phase. Route with cache locality and runtime load in mind. Guide scaling with workload signals and latency targets.</a:t>
            </a:r>
          </a:p>
          <a:p>
            <a:r>
              <a:rPr lang="en-US" sz="1200"/>
              <a:t>Choosing a worker and adding capacity are different decisions. Validate your model, hardware, traffic and SLOs. MRI policy integration still needs work.</a:t>
            </a:r>
          </a:p>
        </p:txBody>
      </p:sp>
    </p:spTree>
    <p:extLst>
      <p:ext uri="{BB962C8B-B14F-4D97-AF65-F5344CB8AC3E}">
        <p14:creationId xmlns:p14="http://schemas.microsoft.com/office/powerpoint/2010/main" val="328115127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Title Slide">
  <p:cSld name="2_Title Slide">
    <p:bg>
      <p:bgPr>
        <a:gradFill>
          <a:gsLst>
            <a:gs pos="0">
              <a:srgbClr val="316CE5">
                <a:alpha val="74902"/>
              </a:srgbClr>
            </a:gs>
            <a:gs pos="100000">
              <a:schemeClr val="lt1"/>
            </a:gs>
          </a:gsLst>
          <a:lin ang="10800000" scaled="0"/>
        </a:gradFill>
        <a:effectLst/>
      </p:bgPr>
    </p:bg>
    <p:spTree>
      <p:nvGrpSpPr>
        <p:cNvPr id="1" name="Shape 11"/>
        <p:cNvGrpSpPr/>
        <p:nvPr/>
      </p:nvGrpSpPr>
      <p:grpSpPr>
        <a:xfrm>
          <a:off x="0" y="0"/>
          <a:ext cx="0" cy="0"/>
          <a:chOff x="0" y="0"/>
          <a:chExt cx="0" cy="0"/>
        </a:xfrm>
      </p:grpSpPr>
      <p:pic>
        <p:nvPicPr>
          <p:cNvPr id="12" name="Google Shape;12;p8" title="CloudNativeAIInferenceDay_NA_Logos_horizontal-color.png"/>
          <p:cNvPicPr preferRelativeResize="0"/>
          <p:nvPr/>
        </p:nvPicPr>
        <p:blipFill rotWithShape="1">
          <a:blip r:embed="rId2">
            <a:alphaModFix/>
          </a:blip>
          <a:srcRect/>
          <a:stretch/>
        </p:blipFill>
        <p:spPr>
          <a:xfrm>
            <a:off x="1146366" y="1166703"/>
            <a:ext cx="6851277" cy="28101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solidFill>
          <a:schemeClr val="lt1"/>
        </a:solidFill>
        <a:effectLst/>
      </p:bgPr>
    </p:bg>
    <p:spTree>
      <p:nvGrpSpPr>
        <p:cNvPr id="1" name="Shape 13"/>
        <p:cNvGrpSpPr/>
        <p:nvPr/>
      </p:nvGrpSpPr>
      <p:grpSpPr>
        <a:xfrm>
          <a:off x="0" y="0"/>
          <a:ext cx="0" cy="0"/>
          <a:chOff x="0" y="0"/>
          <a:chExt cx="0" cy="0"/>
        </a:xfrm>
      </p:grpSpPr>
      <p:sp>
        <p:nvSpPr>
          <p:cNvPr id="14" name="Google Shape;14;p11"/>
          <p:cNvSpPr/>
          <p:nvPr/>
        </p:nvSpPr>
        <p:spPr>
          <a:xfrm>
            <a:off x="0" y="0"/>
            <a:ext cx="9144000" cy="701566"/>
          </a:xfrm>
          <a:prstGeom prst="rect">
            <a:avLst/>
          </a:prstGeom>
          <a:gradFill>
            <a:gsLst>
              <a:gs pos="0">
                <a:srgbClr val="316CE5">
                  <a:alpha val="44706"/>
                </a:srgbClr>
              </a:gs>
              <a:gs pos="100000">
                <a:schemeClr val="lt1"/>
              </a:gs>
            </a:gsLst>
            <a:lin ang="102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5" name="Google Shape;15;p11" title="CloudNativeAIInferenceDay_NA_Logos_horizontal-color.png"/>
          <p:cNvPicPr preferRelativeResize="0"/>
          <p:nvPr/>
        </p:nvPicPr>
        <p:blipFill rotWithShape="1">
          <a:blip r:embed="rId2">
            <a:alphaModFix/>
          </a:blip>
          <a:srcRect/>
          <a:stretch/>
        </p:blipFill>
        <p:spPr>
          <a:xfrm>
            <a:off x="7459074" y="57825"/>
            <a:ext cx="1428577" cy="5859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bg>
      <p:bgPr>
        <a:gradFill>
          <a:gsLst>
            <a:gs pos="0">
              <a:srgbClr val="316CE5">
                <a:alpha val="49804"/>
              </a:srgbClr>
            </a:gs>
            <a:gs pos="100000">
              <a:schemeClr val="lt1"/>
            </a:gs>
          </a:gsLst>
          <a:lin ang="10200000" scaled="0"/>
        </a:gradFill>
        <a:effectLst/>
      </p:bgPr>
    </p:bg>
    <p:spTree>
      <p:nvGrpSpPr>
        <p:cNvPr id="1" name="Shape 16"/>
        <p:cNvGrpSpPr/>
        <p:nvPr/>
      </p:nvGrpSpPr>
      <p:grpSpPr>
        <a:xfrm>
          <a:off x="0" y="0"/>
          <a:ext cx="0" cy="0"/>
          <a:chOff x="0" y="0"/>
          <a:chExt cx="0" cy="0"/>
        </a:xfrm>
      </p:grpSpPr>
      <p:pic>
        <p:nvPicPr>
          <p:cNvPr id="17" name="Google Shape;17;p9" title="CloudNativeAIInferenceDay_NA_Logos_horizontal-color.png"/>
          <p:cNvPicPr preferRelativeResize="0"/>
          <p:nvPr/>
        </p:nvPicPr>
        <p:blipFill rotWithShape="1">
          <a:blip r:embed="rId2">
            <a:alphaModFix/>
          </a:blip>
          <a:srcRect/>
          <a:stretch/>
        </p:blipFill>
        <p:spPr>
          <a:xfrm>
            <a:off x="6763466" y="179974"/>
            <a:ext cx="2170701" cy="89029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bg>
      <p:bgPr>
        <a:gradFill>
          <a:gsLst>
            <a:gs pos="0">
              <a:srgbClr val="316CE5">
                <a:alpha val="60000"/>
              </a:srgbClr>
            </a:gs>
            <a:gs pos="100000">
              <a:schemeClr val="lt1"/>
            </a:gs>
          </a:gsLst>
          <a:lin ang="10200000" scaled="0"/>
        </a:gradFill>
        <a:effectLst/>
      </p:bgPr>
    </p:bg>
    <p:spTree>
      <p:nvGrpSpPr>
        <p:cNvPr id="1" name="Shape 18"/>
        <p:cNvGrpSpPr/>
        <p:nvPr/>
      </p:nvGrpSpPr>
      <p:grpSpPr>
        <a:xfrm>
          <a:off x="0" y="0"/>
          <a:ext cx="0" cy="0"/>
          <a:chOff x="0" y="0"/>
          <a:chExt cx="0" cy="0"/>
        </a:xfrm>
      </p:grpSpPr>
      <p:sp>
        <p:nvSpPr>
          <p:cNvPr id="19" name="Google Shape;19;p1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 name="Google Shape;20;p1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 name="Google Shape;21;p1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_Title Slide">
  <p:cSld name="1_Title Slide">
    <p:bg>
      <p:bgPr>
        <a:gradFill>
          <a:gsLst>
            <a:gs pos="0">
              <a:srgbClr val="316CE5">
                <a:alpha val="60000"/>
              </a:srgbClr>
            </a:gs>
            <a:gs pos="100000">
              <a:schemeClr val="lt1"/>
            </a:gs>
          </a:gsLst>
          <a:lin ang="10200000" scaled="0"/>
        </a:gradFill>
        <a:effectLst/>
      </p:bgPr>
    </p:bg>
    <p:spTree>
      <p:nvGrpSpPr>
        <p:cNvPr id="1" name="Shape 22"/>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lt1"/>
        </a:solidFill>
        <a:effectLst/>
      </p:bgPr>
    </p:bg>
    <p:spTree>
      <p:nvGrpSpPr>
        <p:cNvPr id="1" name="Shape 23"/>
        <p:cNvGrpSpPr/>
        <p:nvPr/>
      </p:nvGrpSpPr>
      <p:grpSpPr>
        <a:xfrm>
          <a:off x="0" y="0"/>
          <a:ext cx="0" cy="0"/>
          <a:chOff x="0" y="0"/>
          <a:chExt cx="0" cy="0"/>
        </a:xfrm>
      </p:grpSpPr>
      <p:sp>
        <p:nvSpPr>
          <p:cNvPr id="24" name="Google Shape;24;p12"/>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5" name="Google Shape;25;p12"/>
          <p:cNvSpPr txBox="1">
            <a:spLocks noGrp="1"/>
          </p:cNvSpPr>
          <p:nvPr>
            <p:ph type="body" idx="1"/>
          </p:nvPr>
        </p:nvSpPr>
        <p:spPr>
          <a:xfrm>
            <a:off x="623888" y="3442097"/>
            <a:ext cx="7886700" cy="11250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Google Shape;26;p1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7" name="Google Shape;27;p1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8" name="Google Shape;28;p1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ntent" type="twoObj">
  <p:cSld name="TWO_OBJECTS">
    <p:bg>
      <p:bgPr>
        <a:solidFill>
          <a:schemeClr val="lt1"/>
        </a:solidFill>
        <a:effectLst/>
      </p:bgPr>
    </p:bg>
    <p:spTree>
      <p:nvGrpSpPr>
        <p:cNvPr id="1" name="Shape 29"/>
        <p:cNvGrpSpPr/>
        <p:nvPr/>
      </p:nvGrpSpPr>
      <p:grpSpPr>
        <a:xfrm>
          <a:off x="0" y="0"/>
          <a:ext cx="0" cy="0"/>
          <a:chOff x="0" y="0"/>
          <a:chExt cx="0" cy="0"/>
        </a:xfrm>
      </p:grpSpPr>
      <p:sp>
        <p:nvSpPr>
          <p:cNvPr id="30" name="Google Shape;30;p13"/>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1" name="Google Shape;31;p13"/>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Google Shape;32;p13"/>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Google Shape;33;p1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4" name="Google Shape;34;p1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5" name="Google Shape;35;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bg>
      <p:bgPr>
        <a:solidFill>
          <a:schemeClr val="lt1"/>
        </a:solidFill>
        <a:effectLst/>
      </p:bgPr>
    </p:bg>
    <p:spTree>
      <p:nvGrpSpPr>
        <p:cNvPr id="1" name="Shape 36"/>
        <p:cNvGrpSpPr/>
        <p:nvPr/>
      </p:nvGrpSpPr>
      <p:grpSpPr>
        <a:xfrm>
          <a:off x="0" y="0"/>
          <a:ext cx="0" cy="0"/>
          <a:chOff x="0" y="0"/>
          <a:chExt cx="0" cy="0"/>
        </a:xfrm>
      </p:grpSpPr>
      <p:sp>
        <p:nvSpPr>
          <p:cNvPr id="37" name="Google Shape;37;p14"/>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8" name="Google Shape;38;p14"/>
          <p:cNvSpPr txBox="1">
            <a:spLocks noGrp="1"/>
          </p:cNvSpPr>
          <p:nvPr>
            <p:ph type="body" idx="1"/>
          </p:nvPr>
        </p:nvSpPr>
        <p:spPr>
          <a:xfrm>
            <a:off x="629841" y="1260872"/>
            <a:ext cx="38682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Google Shape;39;p14"/>
          <p:cNvSpPr txBox="1">
            <a:spLocks noGrp="1"/>
          </p:cNvSpPr>
          <p:nvPr>
            <p:ph type="body" idx="2"/>
          </p:nvPr>
        </p:nvSpPr>
        <p:spPr>
          <a:xfrm>
            <a:off x="629841" y="1878806"/>
            <a:ext cx="38682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Google Shape;40;p14"/>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Google Shape;41;p14"/>
          <p:cNvSpPr txBox="1">
            <a:spLocks noGrp="1"/>
          </p:cNvSpPr>
          <p:nvPr>
            <p:ph type="body" idx="4"/>
          </p:nvPr>
        </p:nvSpPr>
        <p:spPr>
          <a:xfrm>
            <a:off x="4629150" y="1878806"/>
            <a:ext cx="38874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Google Shape;42;p1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3" name="Google Shape;43;p1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4" name="Google Shape;44;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Shape 45"/>
        <p:cNvGrpSpPr/>
        <p:nvPr/>
      </p:nvGrpSpPr>
      <p:grpSpPr>
        <a:xfrm>
          <a:off x="0" y="0"/>
          <a:ext cx="0" cy="0"/>
          <a:chOff x="0" y="0"/>
          <a:chExt cx="0" cy="0"/>
        </a:xfrm>
      </p:grpSpPr>
      <p:sp>
        <p:nvSpPr>
          <p:cNvPr id="46" name="Google Shape;46;p15"/>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7" name="Google Shape;47;p1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8" name="Google Shape;48;p1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9" name="Google Shape;49;p1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bg>
      <p:bgPr>
        <a:solidFill>
          <a:schemeClr val="lt1"/>
        </a:solidFill>
        <a:effectLst/>
      </p:bgPr>
    </p:bg>
    <p:spTree>
      <p:nvGrpSpPr>
        <p:cNvPr id="1" name="Shape 50"/>
        <p:cNvGrpSpPr/>
        <p:nvPr/>
      </p:nvGrpSpPr>
      <p:grpSpPr>
        <a:xfrm>
          <a:off x="0" y="0"/>
          <a:ext cx="0" cy="0"/>
          <a:chOff x="0" y="0"/>
          <a:chExt cx="0" cy="0"/>
        </a:xfrm>
      </p:grpSpPr>
      <p:sp>
        <p:nvSpPr>
          <p:cNvPr id="51" name="Google Shape;51;p17"/>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2" name="Google Shape;52;p17"/>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3" name="Google Shape;53;p17"/>
          <p:cNvSpPr txBox="1">
            <a:spLocks noGrp="1"/>
          </p:cNvSpPr>
          <p:nvPr>
            <p:ph type="body" idx="2"/>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4" name="Google Shape;54;p1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5" name="Google Shape;55;p1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6" name="Google Shape;56;p1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bg>
      <p:bgPr>
        <a:solidFill>
          <a:schemeClr val="lt1"/>
        </a:solidFill>
        <a:effectLst/>
      </p:bgPr>
    </p:bg>
    <p:spTree>
      <p:nvGrpSpPr>
        <p:cNvPr id="1" name="Shape 57"/>
        <p:cNvGrpSpPr/>
        <p:nvPr/>
      </p:nvGrpSpPr>
      <p:grpSpPr>
        <a:xfrm>
          <a:off x="0" y="0"/>
          <a:ext cx="0" cy="0"/>
          <a:chOff x="0" y="0"/>
          <a:chExt cx="0" cy="0"/>
        </a:xfrm>
      </p:grpSpPr>
      <p:sp>
        <p:nvSpPr>
          <p:cNvPr id="58" name="Google Shape;58;p18"/>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9" name="Google Shape;59;p18"/>
          <p:cNvSpPr>
            <a:spLocks noGrp="1"/>
          </p:cNvSpPr>
          <p:nvPr>
            <p:ph type="pic" idx="2"/>
          </p:nvPr>
        </p:nvSpPr>
        <p:spPr>
          <a:xfrm>
            <a:off x="3887391" y="740569"/>
            <a:ext cx="4629300" cy="3655200"/>
          </a:xfrm>
          <a:prstGeom prst="rect">
            <a:avLst/>
          </a:prstGeom>
          <a:noFill/>
          <a:ln>
            <a:noFill/>
          </a:ln>
        </p:spPr>
      </p:sp>
      <p:sp>
        <p:nvSpPr>
          <p:cNvPr id="60" name="Google Shape;60;p18"/>
          <p:cNvSpPr txBox="1">
            <a:spLocks noGrp="1"/>
          </p:cNvSpPr>
          <p:nvPr>
            <p:ph type="body" idx="1"/>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1" name="Google Shape;61;p1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2" name="Google Shape;62;p1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3" name="Google Shape;63;p1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bg>
      <p:bgPr>
        <a:solidFill>
          <a:schemeClr val="lt1"/>
        </a:solidFill>
        <a:effectLst/>
      </p:bgPr>
    </p:bg>
    <p:spTree>
      <p:nvGrpSpPr>
        <p:cNvPr id="1" name="Shape 64"/>
        <p:cNvGrpSpPr/>
        <p:nvPr/>
      </p:nvGrpSpPr>
      <p:grpSpPr>
        <a:xfrm>
          <a:off x="0" y="0"/>
          <a:ext cx="0" cy="0"/>
          <a:chOff x="0" y="0"/>
          <a:chExt cx="0" cy="0"/>
        </a:xfrm>
      </p:grpSpPr>
      <p:sp>
        <p:nvSpPr>
          <p:cNvPr id="65" name="Google Shape;65;p1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6" name="Google Shape;66;p19"/>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67" name="Google Shape;67;p1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8" name="Google Shape;68;p1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9" name="Google Shape;69;p1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bg>
      <p:bgPr>
        <a:solidFill>
          <a:schemeClr val="lt1"/>
        </a:solidFill>
        <a:effectLst/>
      </p:bgPr>
    </p:bg>
    <p:spTree>
      <p:nvGrpSpPr>
        <p:cNvPr id="1" name="Shape 70"/>
        <p:cNvGrpSpPr/>
        <p:nvPr/>
      </p:nvGrpSpPr>
      <p:grpSpPr>
        <a:xfrm>
          <a:off x="0" y="0"/>
          <a:ext cx="0" cy="0"/>
          <a:chOff x="0" y="0"/>
          <a:chExt cx="0" cy="0"/>
        </a:xfrm>
      </p:grpSpPr>
      <p:sp>
        <p:nvSpPr>
          <p:cNvPr id="71" name="Google Shape;71;p20"/>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2" name="Google Shape;72;p20"/>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3" name="Google Shape;73;p2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4" name="Google Shape;74;p2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5" name="Google Shape;75;p2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bg>
      <p:bgPr>
        <a:blipFill>
          <a:blip r:embed="rId2">
            <a:alphaModFix/>
          </a:blip>
          <a:stretch>
            <a:fillRect/>
          </a:stretch>
        </a:blipFill>
        <a:effectLst/>
      </p:bgPr>
    </p:bg>
    <p:spTree>
      <p:nvGrpSpPr>
        <p:cNvPr id="1" name="Shape 23"/>
        <p:cNvGrpSpPr/>
        <p:nvPr/>
      </p:nvGrpSpPr>
      <p:grpSpPr>
        <a:xfrm>
          <a:off x="0" y="0"/>
          <a:ext cx="0" cy="0"/>
          <a:chOff x="0" y="0"/>
          <a:chExt cx="0" cy="0"/>
        </a:xfrm>
      </p:grpSpPr>
      <p:sp>
        <p:nvSpPr>
          <p:cNvPr id="24" name="Google Shape;24;p8"/>
          <p:cNvSpPr/>
          <p:nvPr/>
        </p:nvSpPr>
        <p:spPr>
          <a:xfrm>
            <a:off x="0" y="842962"/>
            <a:ext cx="9144000" cy="4314600"/>
          </a:xfrm>
          <a:prstGeom prst="rect">
            <a:avLst/>
          </a:prstGeom>
          <a:solidFill>
            <a:schemeClr val="lt1"/>
          </a:solidFill>
          <a:ln>
            <a:noFill/>
          </a:ln>
        </p:spPr>
        <p:txBody>
          <a:bodyPr spcFirstLastPara="1" wrap="square" lIns="68569" tIns="34275" rIns="68569" bIns="34275" anchor="ctr" anchorCtr="0">
            <a:noAutofit/>
          </a:bodyPr>
          <a:lstStyle/>
          <a:p>
            <a:pPr marL="0" marR="0" lvl="0" indent="0" algn="ctr" rtl="0">
              <a:spcBef>
                <a:spcPts val="0"/>
              </a:spcBef>
              <a:spcAft>
                <a:spcPts val="0"/>
              </a:spcAft>
              <a:buNone/>
            </a:pPr>
            <a:endParaRPr sz="1350" b="0" i="0" u="none" strike="noStrike" cap="none">
              <a:solidFill>
                <a:schemeClr val="lt1"/>
              </a:solidFill>
              <a:latin typeface="Arial"/>
              <a:ea typeface="Arial"/>
              <a:cs typeface="Arial"/>
              <a:sym typeface="Arial"/>
            </a:endParaRPr>
          </a:p>
        </p:txBody>
      </p:sp>
      <p:sp>
        <p:nvSpPr>
          <p:cNvPr id="25" name="Google Shape;25;p8"/>
          <p:cNvSpPr txBox="1">
            <a:spLocks noGrp="1"/>
          </p:cNvSpPr>
          <p:nvPr>
            <p:ph type="title"/>
          </p:nvPr>
        </p:nvSpPr>
        <p:spPr>
          <a:xfrm>
            <a:off x="121444" y="0"/>
            <a:ext cx="6257925" cy="8430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1"/>
              </a:buClr>
              <a:buSzPts val="1000"/>
              <a:buNone/>
              <a:defRPr sz="27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8"/>
          <p:cNvSpPr txBox="1">
            <a:spLocks noGrp="1"/>
          </p:cNvSpPr>
          <p:nvPr>
            <p:ph type="body" idx="1"/>
          </p:nvPr>
        </p:nvSpPr>
        <p:spPr>
          <a:xfrm>
            <a:off x="628650" y="1107281"/>
            <a:ext cx="7886700" cy="3877875"/>
          </a:xfrm>
          <a:prstGeom prst="rect">
            <a:avLst/>
          </a:prstGeom>
          <a:noFill/>
          <a:ln>
            <a:noFill/>
          </a:ln>
        </p:spPr>
        <p:txBody>
          <a:bodyPr spcFirstLastPara="1" wrap="square" lIns="91425" tIns="45700" rIns="91425" bIns="45700" anchor="t" anchorCtr="0">
            <a:normAutofit/>
          </a:bodyPr>
          <a:lstStyle>
            <a:lvl1pPr marL="342900" lvl="0" indent="-257175" algn="l">
              <a:lnSpc>
                <a:spcPct val="90000"/>
              </a:lnSpc>
              <a:spcBef>
                <a:spcPts val="750"/>
              </a:spcBef>
              <a:spcAft>
                <a:spcPts val="0"/>
              </a:spcAft>
              <a:buClr>
                <a:schemeClr val="dk1"/>
              </a:buClr>
              <a:buSzPts val="1800"/>
              <a:buChar char="•"/>
              <a:defRPr/>
            </a:lvl1pPr>
            <a:lvl2pPr marL="685800" lvl="1" indent="-257175" algn="l">
              <a:lnSpc>
                <a:spcPct val="90000"/>
              </a:lnSpc>
              <a:spcBef>
                <a:spcPts val="375"/>
              </a:spcBef>
              <a:spcAft>
                <a:spcPts val="0"/>
              </a:spcAft>
              <a:buClr>
                <a:schemeClr val="dk1"/>
              </a:buClr>
              <a:buSzPts val="1800"/>
              <a:buChar char="•"/>
              <a:defRPr/>
            </a:lvl2pPr>
            <a:lvl3pPr marL="1028700" lvl="2" indent="-257175" algn="l">
              <a:lnSpc>
                <a:spcPct val="90000"/>
              </a:lnSpc>
              <a:spcBef>
                <a:spcPts val="375"/>
              </a:spcBef>
              <a:spcAft>
                <a:spcPts val="0"/>
              </a:spcAft>
              <a:buClr>
                <a:schemeClr val="dk1"/>
              </a:buClr>
              <a:buSzPts val="1800"/>
              <a:buChar char="•"/>
              <a:defRPr/>
            </a:lvl3pPr>
            <a:lvl4pPr marL="1371600" lvl="3" indent="-257175" algn="l">
              <a:lnSpc>
                <a:spcPct val="90000"/>
              </a:lnSpc>
              <a:spcBef>
                <a:spcPts val="375"/>
              </a:spcBef>
              <a:spcAft>
                <a:spcPts val="0"/>
              </a:spcAft>
              <a:buClr>
                <a:schemeClr val="dk1"/>
              </a:buClr>
              <a:buSzPts val="1800"/>
              <a:buChar char="•"/>
              <a:defRPr/>
            </a:lvl4pPr>
            <a:lvl5pPr marL="1714500" lvl="4" indent="-257175" algn="l">
              <a:lnSpc>
                <a:spcPct val="90000"/>
              </a:lnSpc>
              <a:spcBef>
                <a:spcPts val="375"/>
              </a:spcBef>
              <a:spcAft>
                <a:spcPts val="0"/>
              </a:spcAft>
              <a:buClr>
                <a:schemeClr val="dk1"/>
              </a:buClr>
              <a:buSzPts val="1800"/>
              <a:buChar char="•"/>
              <a:defRPr/>
            </a:lvl5pPr>
            <a:lvl6pPr marL="2057400" lvl="5" indent="-257175" algn="l">
              <a:lnSpc>
                <a:spcPct val="90000"/>
              </a:lnSpc>
              <a:spcBef>
                <a:spcPts val="375"/>
              </a:spcBef>
              <a:spcAft>
                <a:spcPts val="0"/>
              </a:spcAft>
              <a:buClr>
                <a:schemeClr val="dk1"/>
              </a:buClr>
              <a:buSzPts val="1800"/>
              <a:buChar char="•"/>
              <a:defRPr/>
            </a:lvl6pPr>
            <a:lvl7pPr marL="2400300" lvl="6" indent="-257175" algn="l">
              <a:lnSpc>
                <a:spcPct val="90000"/>
              </a:lnSpc>
              <a:spcBef>
                <a:spcPts val="375"/>
              </a:spcBef>
              <a:spcAft>
                <a:spcPts val="0"/>
              </a:spcAft>
              <a:buClr>
                <a:schemeClr val="dk1"/>
              </a:buClr>
              <a:buSzPts val="1800"/>
              <a:buChar char="•"/>
              <a:defRPr/>
            </a:lvl7pPr>
            <a:lvl8pPr marL="2743200" lvl="7" indent="-257175" algn="l">
              <a:lnSpc>
                <a:spcPct val="90000"/>
              </a:lnSpc>
              <a:spcBef>
                <a:spcPts val="375"/>
              </a:spcBef>
              <a:spcAft>
                <a:spcPts val="0"/>
              </a:spcAft>
              <a:buClr>
                <a:schemeClr val="dk1"/>
              </a:buClr>
              <a:buSzPts val="1800"/>
              <a:buChar char="•"/>
              <a:defRPr/>
            </a:lvl8pPr>
            <a:lvl9pPr marL="3086100" lvl="8" indent="-257175" algn="l">
              <a:lnSpc>
                <a:spcPct val="90000"/>
              </a:lnSpc>
              <a:spcBef>
                <a:spcPts val="375"/>
              </a:spcBef>
              <a:spcAft>
                <a:spcPts val="0"/>
              </a:spcAft>
              <a:buClr>
                <a:schemeClr val="dk1"/>
              </a:buClr>
              <a:buSzPts val="1800"/>
              <a:buChar char="•"/>
              <a:defRPr/>
            </a:lvl9pPr>
          </a:lstStyle>
          <a:p>
            <a:endParaRPr/>
          </a:p>
        </p:txBody>
      </p:sp>
      <p:pic>
        <p:nvPicPr>
          <p:cNvPr id="27" name="Google Shape;27;p8" descr="A black and white logo&#10;&#10;Description automatically generated"/>
          <p:cNvPicPr preferRelativeResize="0"/>
          <p:nvPr/>
        </p:nvPicPr>
        <p:blipFill rotWithShape="1">
          <a:blip r:embed="rId3">
            <a:alphaModFix/>
          </a:blip>
          <a:srcRect/>
          <a:stretch/>
        </p:blipFill>
        <p:spPr>
          <a:xfrm>
            <a:off x="6544069" y="176569"/>
            <a:ext cx="2468869" cy="502088"/>
          </a:xfrm>
          <a:prstGeom prst="rect">
            <a:avLst/>
          </a:prstGeom>
          <a:noFill/>
          <a:ln>
            <a:noFill/>
          </a:ln>
        </p:spPr>
      </p:pic>
      <p:sp>
        <p:nvSpPr>
          <p:cNvPr id="28" name="Google Shape;28;p8"/>
          <p:cNvSpPr txBox="1">
            <a:spLocks noGrp="1"/>
          </p:cNvSpPr>
          <p:nvPr>
            <p:ph type="sldNum" idx="12"/>
          </p:nvPr>
        </p:nvSpPr>
        <p:spPr>
          <a:xfrm>
            <a:off x="8605166" y="4740731"/>
            <a:ext cx="312075" cy="273825"/>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sz="900" b="0" i="0" u="none" strike="noStrike" cap="none">
                <a:solidFill>
                  <a:schemeClr val="dk2"/>
                </a:solidFill>
                <a:latin typeface="Arial"/>
                <a:ea typeface="Arial"/>
                <a:cs typeface="Arial"/>
                <a:sym typeface="Arial"/>
              </a:defRPr>
            </a:lvl1pPr>
            <a:lvl2pPr marL="0" lvl="1" indent="0" algn="r" rtl="0">
              <a:spcBef>
                <a:spcPts val="0"/>
              </a:spcBef>
              <a:buNone/>
              <a:defRPr sz="900" b="0" i="0" u="none" strike="noStrike" cap="none">
                <a:solidFill>
                  <a:schemeClr val="dk2"/>
                </a:solidFill>
                <a:latin typeface="Arial"/>
                <a:ea typeface="Arial"/>
                <a:cs typeface="Arial"/>
                <a:sym typeface="Arial"/>
              </a:defRPr>
            </a:lvl2pPr>
            <a:lvl3pPr marL="0" lvl="2" indent="0" algn="r" rtl="0">
              <a:spcBef>
                <a:spcPts val="0"/>
              </a:spcBef>
              <a:buNone/>
              <a:defRPr sz="900" b="0" i="0" u="none" strike="noStrike" cap="none">
                <a:solidFill>
                  <a:schemeClr val="dk2"/>
                </a:solidFill>
                <a:latin typeface="Arial"/>
                <a:ea typeface="Arial"/>
                <a:cs typeface="Arial"/>
                <a:sym typeface="Arial"/>
              </a:defRPr>
            </a:lvl3pPr>
            <a:lvl4pPr marL="0" lvl="3" indent="0" algn="r" rtl="0">
              <a:spcBef>
                <a:spcPts val="0"/>
              </a:spcBef>
              <a:buNone/>
              <a:defRPr sz="900" b="0" i="0" u="none" strike="noStrike" cap="none">
                <a:solidFill>
                  <a:schemeClr val="dk2"/>
                </a:solidFill>
                <a:latin typeface="Arial"/>
                <a:ea typeface="Arial"/>
                <a:cs typeface="Arial"/>
                <a:sym typeface="Arial"/>
              </a:defRPr>
            </a:lvl4pPr>
            <a:lvl5pPr marL="0" lvl="4" indent="0" algn="r" rtl="0">
              <a:spcBef>
                <a:spcPts val="0"/>
              </a:spcBef>
              <a:buNone/>
              <a:defRPr sz="900" b="0" i="0" u="none" strike="noStrike" cap="none">
                <a:solidFill>
                  <a:schemeClr val="dk2"/>
                </a:solidFill>
                <a:latin typeface="Arial"/>
                <a:ea typeface="Arial"/>
                <a:cs typeface="Arial"/>
                <a:sym typeface="Arial"/>
              </a:defRPr>
            </a:lvl5pPr>
            <a:lvl6pPr marL="0" lvl="5" indent="0" algn="r" rtl="0">
              <a:spcBef>
                <a:spcPts val="0"/>
              </a:spcBef>
              <a:buNone/>
              <a:defRPr sz="900" b="0" i="0" u="none" strike="noStrike" cap="none">
                <a:solidFill>
                  <a:schemeClr val="dk2"/>
                </a:solidFill>
                <a:latin typeface="Arial"/>
                <a:ea typeface="Arial"/>
                <a:cs typeface="Arial"/>
                <a:sym typeface="Arial"/>
              </a:defRPr>
            </a:lvl6pPr>
            <a:lvl7pPr marL="0" lvl="6" indent="0" algn="r" rtl="0">
              <a:spcBef>
                <a:spcPts val="0"/>
              </a:spcBef>
              <a:buNone/>
              <a:defRPr sz="900" b="0" i="0" u="none" strike="noStrike" cap="none">
                <a:solidFill>
                  <a:schemeClr val="dk2"/>
                </a:solidFill>
                <a:latin typeface="Arial"/>
                <a:ea typeface="Arial"/>
                <a:cs typeface="Arial"/>
                <a:sym typeface="Arial"/>
              </a:defRPr>
            </a:lvl7pPr>
            <a:lvl8pPr marL="0" lvl="7" indent="0" algn="r" rtl="0">
              <a:spcBef>
                <a:spcPts val="0"/>
              </a:spcBef>
              <a:buNone/>
              <a:defRPr sz="900" b="0" i="0" u="none" strike="noStrike" cap="none">
                <a:solidFill>
                  <a:schemeClr val="dk2"/>
                </a:solidFill>
                <a:latin typeface="Arial"/>
                <a:ea typeface="Arial"/>
                <a:cs typeface="Arial"/>
                <a:sym typeface="Arial"/>
              </a:defRPr>
            </a:lvl8pPr>
            <a:lvl9pPr marL="0" lvl="8" indent="0" algn="r" rtl="0">
              <a:spcBef>
                <a:spcPts val="0"/>
              </a:spcBef>
              <a:buNone/>
              <a:defRPr sz="900" b="0" i="0" u="none" strike="noStrike" cap="none">
                <a:solidFill>
                  <a:schemeClr val="dk2"/>
                </a:solidFill>
                <a:latin typeface="Arial"/>
                <a:ea typeface="Arial"/>
                <a:cs typeface="Arial"/>
                <a:sym typeface="Arial"/>
              </a:defRPr>
            </a:lvl9pPr>
          </a:lstStyle>
          <a:p>
            <a:fld id="{00000000-1234-1234-1234-123412341234}" type="slidenum">
              <a:rPr lang="en-CA" smtClean="0"/>
              <a:pPr/>
              <a:t>‹#›</a:t>
            </a:fld>
            <a:endParaRPr lang="en-CA"/>
          </a:p>
        </p:txBody>
      </p:sp>
    </p:spTree>
    <p:extLst>
      <p:ext uri="{BB962C8B-B14F-4D97-AF65-F5344CB8AC3E}">
        <p14:creationId xmlns:p14="http://schemas.microsoft.com/office/powerpoint/2010/main" val="2926168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1_Section header">
    <p:bg>
      <p:bgPr>
        <a:solidFill>
          <a:srgbClr val="3939D9"/>
        </a:solidFill>
        <a:effectLst/>
      </p:bgPr>
    </p:bg>
    <p:spTree>
      <p:nvGrpSpPr>
        <p:cNvPr id="1" name="Shape 15"/>
        <p:cNvGrpSpPr/>
        <p:nvPr/>
      </p:nvGrpSpPr>
      <p:grpSpPr>
        <a:xfrm>
          <a:off x="0" y="0"/>
          <a:ext cx="0" cy="0"/>
          <a:chOff x="0" y="0"/>
          <a:chExt cx="0" cy="0"/>
        </a:xfrm>
      </p:grpSpPr>
      <p:pic>
        <p:nvPicPr>
          <p:cNvPr id="4" name="Picture 3">
            <a:extLst>
              <a:ext uri="{FF2B5EF4-FFF2-40B4-BE49-F238E27FC236}">
                <a16:creationId xmlns:a16="http://schemas.microsoft.com/office/drawing/2014/main" id="{BAD15AED-7235-C191-92E3-AA26F3A5AF72}"/>
              </a:ext>
            </a:extLst>
          </p:cNvPr>
          <p:cNvPicPr>
            <a:picLocks noChangeAspect="1"/>
          </p:cNvPicPr>
          <p:nvPr/>
        </p:nvPicPr>
        <p:blipFill>
          <a:blip r:embed="rId2"/>
          <a:stretch>
            <a:fillRect/>
          </a:stretch>
        </p:blipFill>
        <p:spPr>
          <a:xfrm>
            <a:off x="0" y="1037627"/>
            <a:ext cx="9144000" cy="4572000"/>
          </a:xfrm>
          <a:prstGeom prst="rect">
            <a:avLst/>
          </a:prstGeom>
        </p:spPr>
      </p:pic>
      <p:sp>
        <p:nvSpPr>
          <p:cNvPr id="18" name="Google Shape;18;p3"/>
          <p:cNvSpPr txBox="1">
            <a:spLocks noGrp="1"/>
          </p:cNvSpPr>
          <p:nvPr>
            <p:ph type="title"/>
          </p:nvPr>
        </p:nvSpPr>
        <p:spPr>
          <a:xfrm>
            <a:off x="311700" y="1940538"/>
            <a:ext cx="8520600" cy="841800"/>
          </a:xfrm>
          <a:prstGeom prst="rect">
            <a:avLst/>
          </a:prstGeom>
        </p:spPr>
        <p:txBody>
          <a:bodyPr spcFirstLastPara="1" wrap="square" lIns="0" tIns="0" rIns="0" bIns="0" anchor="ctr" anchorCtr="0">
            <a:noAutofit/>
          </a:bodyPr>
          <a:lstStyle>
            <a:lvl1pPr lvl="0" algn="l">
              <a:spcBef>
                <a:spcPts val="0"/>
              </a:spcBef>
              <a:spcAft>
                <a:spcPts val="0"/>
              </a:spcAft>
              <a:buClr>
                <a:schemeClr val="lt1"/>
              </a:buClr>
              <a:buSzPts val="3600"/>
              <a:buNone/>
              <a:defRPr sz="3600">
                <a:solidFill>
                  <a:schemeClr val="bg1"/>
                </a:solidFill>
              </a:defRPr>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a:r>
              <a:rPr lang="zh-CN" altLang="en-US"/>
              <a:t>单击此处编辑母版标题样式</a:t>
            </a:r>
            <a:endParaRPr dirty="0"/>
          </a:p>
        </p:txBody>
      </p:sp>
      <p:pic>
        <p:nvPicPr>
          <p:cNvPr id="2" name="Graphic 1">
            <a:extLst>
              <a:ext uri="{FF2B5EF4-FFF2-40B4-BE49-F238E27FC236}">
                <a16:creationId xmlns:a16="http://schemas.microsoft.com/office/drawing/2014/main" id="{5800D33B-D352-5CF8-487B-62E99AF875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pic>
        <p:nvPicPr>
          <p:cNvPr id="3" name="Picture 3">
            <a:extLst>
              <a:ext uri="{FF2B5EF4-FFF2-40B4-BE49-F238E27FC236}">
                <a16:creationId xmlns:a16="http://schemas.microsoft.com/office/drawing/2014/main" id="{C8A91009-3244-D7B1-D387-1E5F81E3842D}"/>
              </a:ext>
            </a:extLst>
          </p:cNvPr>
          <p:cNvPicPr>
            <a:picLocks noChangeAspect="1"/>
          </p:cNvPicPr>
          <p:nvPr userDrawn="1"/>
        </p:nvPicPr>
        <p:blipFill>
          <a:blip r:embed="rId2"/>
          <a:stretch>
            <a:fillRect/>
          </a:stretch>
        </p:blipFill>
        <p:spPr>
          <a:xfrm>
            <a:off x="0" y="1037627"/>
            <a:ext cx="9144000" cy="4572000"/>
          </a:xfrm>
          <a:prstGeom prst="rect">
            <a:avLst/>
          </a:prstGeom>
        </p:spPr>
      </p:pic>
      <p:pic>
        <p:nvPicPr>
          <p:cNvPr id="5" name="Graphic 1">
            <a:extLst>
              <a:ext uri="{FF2B5EF4-FFF2-40B4-BE49-F238E27FC236}">
                <a16:creationId xmlns:a16="http://schemas.microsoft.com/office/drawing/2014/main" id="{14824A21-FF8F-D8BA-5392-A7B6169F1A7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spTree>
    <p:extLst>
      <p:ext uri="{BB962C8B-B14F-4D97-AF65-F5344CB8AC3E}">
        <p14:creationId xmlns:p14="http://schemas.microsoft.com/office/powerpoint/2010/main" val="31332655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 and body">
    <p:bg>
      <p:bgPr>
        <a:solidFill>
          <a:schemeClr val="lt1"/>
        </a:solidFill>
        <a:effectLst/>
      </p:bgPr>
    </p:bg>
    <p:spTree>
      <p:nvGrpSpPr>
        <p:cNvPr id="1" name="Shape 20"/>
        <p:cNvGrpSpPr/>
        <p:nvPr/>
      </p:nvGrpSpPr>
      <p:grpSpPr>
        <a:xfrm>
          <a:off x="0" y="0"/>
          <a:ext cx="0" cy="0"/>
          <a:chOff x="0" y="0"/>
          <a:chExt cx="0" cy="0"/>
        </a:xfrm>
      </p:grpSpPr>
      <p:sp>
        <p:nvSpPr>
          <p:cNvPr id="2" name="Google Shape;21;p9">
            <a:extLst>
              <a:ext uri="{FF2B5EF4-FFF2-40B4-BE49-F238E27FC236}">
                <a16:creationId xmlns:a16="http://schemas.microsoft.com/office/drawing/2014/main" id="{75690BBD-4CD0-DFB9-AB2D-E63C2BD08AB7}"/>
              </a:ext>
            </a:extLst>
          </p:cNvPr>
          <p:cNvSpPr/>
          <p:nvPr/>
        </p:nvSpPr>
        <p:spPr>
          <a:xfrm>
            <a:off x="7100" y="5625"/>
            <a:ext cx="9136900" cy="1047900"/>
          </a:xfrm>
          <a:prstGeom prst="rect">
            <a:avLst/>
          </a:prstGeom>
          <a:solidFill>
            <a:srgbClr val="3939D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22" name="Google Shape;22;p4"/>
          <p:cNvSpPr txBox="1">
            <a:spLocks noGrp="1"/>
          </p:cNvSpPr>
          <p:nvPr>
            <p:ph type="title"/>
          </p:nvPr>
        </p:nvSpPr>
        <p:spPr>
          <a:xfrm>
            <a:off x="311700" y="0"/>
            <a:ext cx="6949739" cy="1047900"/>
          </a:xfrm>
          <a:prstGeom prst="rect">
            <a:avLst/>
          </a:prstGeom>
        </p:spPr>
        <p:txBody>
          <a:bodyPr spcFirstLastPara="1" wrap="square" lIns="0" tIns="0" rIns="0" bIns="0" anchor="ctr" anchorCtr="0">
            <a:normAutofit/>
          </a:bodyPr>
          <a:lstStyle>
            <a:lvl1pPr lvl="0">
              <a:spcBef>
                <a:spcPts val="0"/>
              </a:spcBef>
              <a:spcAft>
                <a:spcPts val="0"/>
              </a:spcAft>
              <a:buSzPts val="2800"/>
              <a:buNone/>
              <a:defRPr>
                <a:solidFill>
                  <a:schemeClr val="bg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r>
              <a:rPr lang="zh-CN" altLang="en-US"/>
              <a:t>单击此处编辑母版标题样式</a:t>
            </a:r>
            <a:endParaRPr dirty="0"/>
          </a:p>
        </p:txBody>
      </p:sp>
      <p:sp>
        <p:nvSpPr>
          <p:cNvPr id="23" name="Google Shape;23;p4"/>
          <p:cNvSpPr txBox="1">
            <a:spLocks noGrp="1"/>
          </p:cNvSpPr>
          <p:nvPr>
            <p:ph type="body" idx="1"/>
          </p:nvPr>
        </p:nvSpPr>
        <p:spPr>
          <a:xfrm>
            <a:off x="311700" y="1152475"/>
            <a:ext cx="8520600" cy="3317400"/>
          </a:xfrm>
          <a:prstGeom prst="rect">
            <a:avLst/>
          </a:prstGeom>
        </p:spPr>
        <p:txBody>
          <a:bodyPr spcFirstLastPara="1" wrap="square" lIns="0" tIns="0" rIns="0" bIns="0" anchor="t" anchorCtr="0">
            <a:noAutofit/>
          </a:bodyPr>
          <a:lstStyle>
            <a:lvl1pPr marL="457200" lvl="0" indent="-342900">
              <a:spcBef>
                <a:spcPts val="0"/>
              </a:spcBef>
              <a:spcAft>
                <a:spcPts val="0"/>
              </a:spcAft>
              <a:buSzPts val="1800"/>
              <a:buChar char="●"/>
              <a:defRPr sz="1200"/>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pPr lvl="0"/>
            <a:r>
              <a:rPr lang="zh-CN" altLang="en-US"/>
              <a:t>单击此处编辑母版文本样式</a:t>
            </a:r>
          </a:p>
        </p:txBody>
      </p:sp>
      <p:sp>
        <p:nvSpPr>
          <p:cNvPr id="3" name="Google Shape;8;p1">
            <a:extLst>
              <a:ext uri="{FF2B5EF4-FFF2-40B4-BE49-F238E27FC236}">
                <a16:creationId xmlns:a16="http://schemas.microsoft.com/office/drawing/2014/main" id="{19D7AB29-BDB6-7644-4042-CFF53942E56F}"/>
              </a:ext>
            </a:extLst>
          </p:cNvPr>
          <p:cNvSpPr txBox="1">
            <a:spLocks noGrp="1"/>
          </p:cNvSpPr>
          <p:nvPr>
            <p:ph type="sldNum" idx="12"/>
          </p:nvPr>
        </p:nvSpPr>
        <p:spPr>
          <a:xfrm>
            <a:off x="8283600" y="4663217"/>
            <a:ext cx="548700" cy="393600"/>
          </a:xfrm>
          <a:prstGeom prst="rect">
            <a:avLst/>
          </a:prstGeom>
          <a:noFill/>
          <a:ln>
            <a:noFill/>
          </a:ln>
        </p:spPr>
        <p:txBody>
          <a:bodyPr spcFirstLastPara="1" wrap="square" lIns="0" tIns="0" rIns="0" bIns="0"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5" name="Graphic 4">
            <a:extLst>
              <a:ext uri="{FF2B5EF4-FFF2-40B4-BE49-F238E27FC236}">
                <a16:creationId xmlns:a16="http://schemas.microsoft.com/office/drawing/2014/main" id="{CD8E9950-A10C-9781-AB14-71F0DE3ED83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586494" y="262283"/>
            <a:ext cx="1245804" cy="547399"/>
          </a:xfrm>
          <a:prstGeom prst="rect">
            <a:avLst/>
          </a:prstGeom>
        </p:spPr>
      </p:pic>
    </p:spTree>
    <p:extLst>
      <p:ext uri="{BB962C8B-B14F-4D97-AF65-F5344CB8AC3E}">
        <p14:creationId xmlns:p14="http://schemas.microsoft.com/office/powerpoint/2010/main" val="18180361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316CE5">
                <a:alpha val="29020"/>
              </a:srgbClr>
            </a:gs>
            <a:gs pos="100000">
              <a:schemeClr val="lt1"/>
            </a:gs>
          </a:gsLst>
          <a:lin ang="10200000" scaled="0"/>
        </a:gradFill>
        <a:effectLst/>
      </p:bgPr>
    </p:bg>
    <p:spTree>
      <p:nvGrpSpPr>
        <p:cNvPr id="1" name="Shape 5"/>
        <p:cNvGrpSpPr/>
        <p:nvPr/>
      </p:nvGrpSpPr>
      <p:grpSpPr>
        <a:xfrm>
          <a:off x="0" y="0"/>
          <a:ext cx="0" cy="0"/>
          <a:chOff x="0" y="0"/>
          <a:chExt cx="0" cy="0"/>
        </a:xfrm>
      </p:grpSpPr>
      <p:sp>
        <p:nvSpPr>
          <p:cNvPr id="6" name="Google Shape;6;p7"/>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7" name="Google Shape;7;p7"/>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8" name="Google Shape;8;p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9" name="Google Shape;9;p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10" name="Google Shape;10;p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8.jp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jpeg"/><Relationship Id="rId7"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5.png"/><Relationship Id="rId3" Type="http://schemas.openxmlformats.org/officeDocument/2006/relationships/image" Target="../media/image15.png"/><Relationship Id="rId7" Type="http://schemas.openxmlformats.org/officeDocument/2006/relationships/image" Target="../media/image19.png"/><Relationship Id="rId12" Type="http://schemas.openxmlformats.org/officeDocument/2006/relationships/image" Target="../media/image24.png"/><Relationship Id="rId2" Type="http://schemas.openxmlformats.org/officeDocument/2006/relationships/notesSlide" Target="../notesSlides/notesSlide16.xml"/><Relationship Id="rId16"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5" Type="http://schemas.openxmlformats.org/officeDocument/2006/relationships/image" Target="../media/image2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 Id="rId14" Type="http://schemas.openxmlformats.org/officeDocument/2006/relationships/image" Target="../media/image26.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hyperlink" Target="https://github.com/llm-d" TargetMode="Externa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hyperlink" Target="https://github.com/kaito-project/keda-kaito-scaler" TargetMode="External"/><Relationship Id="rId5" Type="http://schemas.openxmlformats.org/officeDocument/2006/relationships/hyperlink" Target="https://kaito-project.github.io/kaito/docs/prefill-decode-disaggregation/" TargetMode="External"/><Relationship Id="rId4" Type="http://schemas.openxmlformats.org/officeDocument/2006/relationships/hyperlink" Target="https://github.com/kaito-project/kaito" TargetMode="Externa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Cloud Native AI + Inference Day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
          <p:cNvSpPr txBox="1"/>
          <p:nvPr/>
        </p:nvSpPr>
        <p:spPr>
          <a:xfrm>
            <a:off x="470842" y="3435059"/>
            <a:ext cx="7886700" cy="9942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2700"/>
            </a:pPr>
            <a:r>
              <a:rPr lang="en-US" sz="2000" i="1" cap="none" dirty="0">
                <a:solidFill>
                  <a:srgbClr val="142C46"/>
                </a:solidFill>
                <a:latin typeface="Arial"/>
              </a:rPr>
              <a:t>Andy Zhang — Microsoft</a:t>
            </a:r>
            <a:br/>
            <a:r>
              <a:rPr sz="2000" cap="none">
                <a:solidFill>
                  <a:srgbClr val="142C46"/>
                </a:solidFill>
                <a:latin typeface="Arial"/>
              </a:rPr>
              <a:t>Linbo He — Microsoft</a:t>
            </a:r>
            <a:endParaRPr lang="en-US" sz="2700" i="1" dirty="0">
              <a:solidFill>
                <a:schemeClr val="tx1"/>
              </a:solidFill>
            </a:endParaRPr>
          </a:p>
        </p:txBody>
      </p:sp>
      <p:sp>
        <p:nvSpPr>
          <p:cNvPr id="109" name="Google Shape;109;p2"/>
          <p:cNvSpPr txBox="1"/>
          <p:nvPr/>
        </p:nvSpPr>
        <p:spPr>
          <a:xfrm>
            <a:off x="470842" y="1082277"/>
            <a:ext cx="8148092" cy="22860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5600"/>
            </a:pPr>
            <a:r>
              <a:rPr lang="en-US" sz="2700" b="1" cap="none" dirty="0">
                <a:solidFill>
                  <a:srgbClr val="142C46"/>
                </a:solidFill>
                <a:latin typeface="Arial"/>
              </a:rPr>
              <a:t>Prefill here, decode there</a:t>
            </a:r>
            <a:br>
              <a:rPr dirty="0"/>
            </a:br>
            <a:r>
              <a:rPr sz="2700" cap="none" dirty="0">
                <a:solidFill>
                  <a:srgbClr val="142C46"/>
                </a:solidFill>
                <a:latin typeface="Arial"/>
              </a:rPr>
              <a:t>Kubernetes-native LLM inference</a:t>
            </a:r>
            <a:br>
              <a:rPr dirty="0"/>
            </a:br>
            <a:r>
              <a:rPr sz="2700" cap="none" dirty="0">
                <a:solidFill>
                  <a:srgbClr val="142C46"/>
                </a:solidFill>
                <a:latin typeface="Arial"/>
              </a:rPr>
              <a:t>with KAITO and </a:t>
            </a:r>
            <a:r>
              <a:rPr sz="2700" cap="none" dirty="0" err="1">
                <a:solidFill>
                  <a:srgbClr val="142C46"/>
                </a:solidFill>
                <a:latin typeface="Arial"/>
              </a:rPr>
              <a:t>llm</a:t>
            </a:r>
            <a:r>
              <a:rPr sz="2700" cap="none" dirty="0">
                <a:solidFill>
                  <a:srgbClr val="142C46"/>
                </a:solidFill>
                <a:latin typeface="Arial"/>
              </a:rPr>
              <a:t>-d</a:t>
            </a:r>
          </a:p>
        </p:txBody>
      </p:sp>
      <p:sp>
        <p:nvSpPr>
          <p:cNvPr id="110" name="TextBox 10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prefill here, decode there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p:nvPr/>
        </p:nvSpPr>
        <p:spPr>
          <a:xfrm>
            <a:off x="365760" y="539496"/>
            <a:ext cx="8412480" cy="411480"/>
          </a:xfrm>
          <a:prstGeom prst="rect">
            <a:avLst/>
          </a:prstGeom>
          <a:noFill/>
          <a:ln>
            <a:noFill/>
          </a:ln>
        </p:spPr>
        <p:txBody>
          <a:bodyPr spcFirstLastPara="1" wrap="square" lIns="68575" tIns="34275" rIns="68575" bIns="34275" anchor="ctr" anchorCtr="0">
            <a:normAutofit/>
          </a:bodyPr>
          <a:lstStyle/>
          <a:p>
            <a:pPr marL="0" marR="0" lvl="0" indent="0" algn="l" rtl="0">
              <a:lnSpc>
                <a:spcPct val="90000"/>
              </a:lnSpc>
              <a:spcBef>
                <a:spcPts val="0"/>
              </a:spcBef>
              <a:spcAft>
                <a:spcPts val="0"/>
              </a:spcAft>
              <a:buClr>
                <a:schemeClr val="lt1"/>
              </a:buClr>
              <a:buSzPts val="2700"/>
              <a:buFont typeface="Arial"/>
              <a:buNone/>
            </a:pPr>
            <a:r>
              <a:rPr lang="en-US" altLang="zh-CN" sz="2100" b="1" i="0" u="none" strike="noStrike" cap="none" dirty="0">
                <a:solidFill>
                  <a:srgbClr val="142C46"/>
                </a:solidFill>
                <a:latin typeface="Arial"/>
                <a:ea typeface="Arial"/>
                <a:cs typeface="Arial"/>
                <a:sym typeface="Arial"/>
              </a:rPr>
              <a:t>About us</a:t>
            </a:r>
            <a:endParaRPr sz="2400" b="1" i="0" u="none" strike="noStrike" cap="none" dirty="0">
              <a:solidFill>
                <a:srgbClr val="316CE5"/>
              </a:solidFill>
              <a:latin typeface="Arial"/>
              <a:ea typeface="Arial"/>
              <a:cs typeface="Arial"/>
              <a:sym typeface="Arial"/>
            </a:endParaRPr>
          </a:p>
        </p:txBody>
      </p:sp>
      <p:sp>
        <p:nvSpPr>
          <p:cNvPr id="11" name="Google Shape;148;p31">
            <a:extLst>
              <a:ext uri="{FF2B5EF4-FFF2-40B4-BE49-F238E27FC236}">
                <a16:creationId xmlns:a16="http://schemas.microsoft.com/office/drawing/2014/main" id="{FB60E743-B83B-2F67-84EA-9ABF5AAA2207}"/>
              </a:ext>
            </a:extLst>
          </p:cNvPr>
          <p:cNvSpPr txBox="1"/>
          <p:nvPr/>
        </p:nvSpPr>
        <p:spPr>
          <a:xfrm>
            <a:off x="498348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zh-CN" altLang="zh-CN" sz="2300" b="1" cap="none" dirty="0">
                <a:solidFill>
                  <a:srgbClr val="142C46"/>
                </a:solidFill>
                <a:latin typeface="Arial"/>
              </a:rPr>
              <a:t>Linbo He</a:t>
            </a:r>
            <a:endParaRPr lang="en-US" altLang="zh-CN" sz="3200" b="1" dirty="0"/>
          </a:p>
        </p:txBody>
      </p:sp>
      <p:pic>
        <p:nvPicPr>
          <p:cNvPr id="17" name="Picture 4">
            <a:extLst>
              <a:ext uri="{FF2B5EF4-FFF2-40B4-BE49-F238E27FC236}">
                <a16:creationId xmlns:a16="http://schemas.microsoft.com/office/drawing/2014/main" id="{3CCD3BDD-D922-3F8A-6A35-8FEC76E27A5F}"/>
              </a:ext>
            </a:extLst>
          </p:cNvPr>
          <p:cNvPicPr>
            <a:picLocks noChangeAspect="1"/>
          </p:cNvPicPr>
          <p:nvPr/>
        </p:nvPicPr>
        <p:blipFill>
          <a:blip r:embed="rId3">
            <a:alphaModFix/>
          </a:blip>
          <a:stretch>
            <a:fillRect/>
          </a:stretch>
        </p:blipFill>
        <p:spPr>
          <a:xfrm>
            <a:off x="5396592" y="1175560"/>
            <a:ext cx="2082913" cy="2082913"/>
          </a:xfrm>
          <a:prstGeom prst="rect">
            <a:avLst/>
          </a:prstGeom>
          <a:noFill/>
          <a:ln>
            <a:noFill/>
          </a:ln>
          <a:effectLst>
            <a:outerShdw blurRad="292100" dist="139700" dir="2700000" algn="tl" rotWithShape="0">
              <a:srgbClr val="333333">
                <a:alpha val="64313"/>
              </a:srgbClr>
            </a:outerShdw>
          </a:effectLst>
        </p:spPr>
      </p:pic>
      <p:sp>
        <p:nvSpPr>
          <p:cNvPr id="19" name="文本框 20">
            <a:extLst>
              <a:ext uri="{FF2B5EF4-FFF2-40B4-BE49-F238E27FC236}">
                <a16:creationId xmlns:a16="http://schemas.microsoft.com/office/drawing/2014/main" id="{A5A5092C-10A2-873B-22FC-0DEAFA08A4FE}"/>
              </a:ext>
            </a:extLst>
          </p:cNvPr>
          <p:cNvSpPr txBox="1"/>
          <p:nvPr/>
        </p:nvSpPr>
        <p:spPr>
          <a:xfrm>
            <a:off x="4983480" y="3922776"/>
            <a:ext cx="3657600" cy="646331"/>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a:t>
            </a:r>
            <a:r>
              <a:rPr lang="en-US" altLang="zh-CN" sz="1200" dirty="0">
                <a:solidFill>
                  <a:srgbClr val="52677D"/>
                </a:solidFill>
              </a:rPr>
              <a:t>Microsoft AKS team</a:t>
            </a:r>
            <a:endParaRPr lang="en-US" altLang="zh-CN" sz="1200" cap="none" dirty="0">
              <a:solidFill>
                <a:srgbClr val="52677D"/>
              </a:solidFill>
              <a:latin typeface="Arial"/>
            </a:endParaRPr>
          </a:p>
          <a:p>
            <a:pPr marL="114300"/>
            <a:r>
              <a:rPr lang="en-US" altLang="zh-CN" sz="1200" cap="none" dirty="0">
                <a:solidFill>
                  <a:srgbClr val="52677D"/>
                </a:solidFill>
                <a:latin typeface="Arial"/>
              </a:rPr>
              <a:t>I maintain KAITO and OpenYurt.</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rambohe</a:t>
            </a:r>
            <a:r>
              <a:rPr lang="en-US" altLang="zh-CN" sz="1200" cap="none" dirty="0">
                <a:solidFill>
                  <a:srgbClr val="52677D"/>
                </a:solidFill>
                <a:latin typeface="Arial"/>
              </a:rPr>
              <a:t>-ch</a:t>
            </a:r>
          </a:p>
        </p:txBody>
      </p:sp>
      <p:pic>
        <p:nvPicPr>
          <p:cNvPr id="21" name="图片 3" descr="Microsoft - Free logo icons">
            <a:extLst>
              <a:ext uri="{FF2B5EF4-FFF2-40B4-BE49-F238E27FC236}">
                <a16:creationId xmlns:a16="http://schemas.microsoft.com/office/drawing/2014/main" id="{A0C9B620-8DDE-33A2-A6DF-CDFA248BF052}"/>
              </a:ext>
            </a:extLst>
          </p:cNvPr>
          <p:cNvPicPr>
            <a:picLocks noChangeAspect="1"/>
          </p:cNvPicPr>
          <p:nvPr/>
        </p:nvPicPr>
        <p:blipFill>
          <a:blip r:embed="rId4"/>
          <a:stretch>
            <a:fillRect/>
          </a:stretch>
        </p:blipFill>
        <p:spPr>
          <a:xfrm>
            <a:off x="8498657" y="4148065"/>
            <a:ext cx="236311" cy="236311"/>
          </a:xfrm>
          <a:prstGeom prst="rect">
            <a:avLst/>
          </a:prstGeom>
        </p:spPr>
      </p:pic>
      <p:sp>
        <p:nvSpPr>
          <p:cNvPr id="23" name="Google Shape;148;p31">
            <a:extLst>
              <a:ext uri="{FF2B5EF4-FFF2-40B4-BE49-F238E27FC236}">
                <a16:creationId xmlns:a16="http://schemas.microsoft.com/office/drawing/2014/main" id="{C843ABA0-8DE8-F620-B241-487588553B97}"/>
              </a:ext>
            </a:extLst>
          </p:cNvPr>
          <p:cNvSpPr txBox="1"/>
          <p:nvPr/>
        </p:nvSpPr>
        <p:spPr>
          <a:xfrm>
            <a:off x="54864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en-US" altLang="zh-CN" sz="2300" b="1" cap="none" dirty="0">
                <a:solidFill>
                  <a:srgbClr val="142C46"/>
                </a:solidFill>
                <a:latin typeface="Arial"/>
              </a:rPr>
              <a:t>Andy Zhang</a:t>
            </a:r>
          </a:p>
        </p:txBody>
      </p:sp>
      <p:sp>
        <p:nvSpPr>
          <p:cNvPr id="29" name="文本框 20">
            <a:extLst>
              <a:ext uri="{FF2B5EF4-FFF2-40B4-BE49-F238E27FC236}">
                <a16:creationId xmlns:a16="http://schemas.microsoft.com/office/drawing/2014/main" id="{BDBB3C74-44FB-90A6-8DFB-D9B7E6EA4542}"/>
              </a:ext>
            </a:extLst>
          </p:cNvPr>
          <p:cNvSpPr txBox="1"/>
          <p:nvPr/>
        </p:nvSpPr>
        <p:spPr>
          <a:xfrm>
            <a:off x="548640" y="3922776"/>
            <a:ext cx="3657600" cy="646331"/>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Microsoft AKS team</a:t>
            </a:r>
          </a:p>
          <a:p>
            <a:pPr marL="114300"/>
            <a:r>
              <a:rPr lang="en-US" altLang="zh-CN" sz="1200" cap="none" dirty="0">
                <a:solidFill>
                  <a:srgbClr val="52677D"/>
                </a:solidFill>
                <a:latin typeface="Arial"/>
              </a:rPr>
              <a:t>I maintain KAITO and CSI drivers.</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andyzhangx</a:t>
            </a:r>
            <a:endParaRPr lang="en-US" altLang="zh-CN" sz="1400" dirty="0"/>
          </a:p>
        </p:txBody>
      </p:sp>
      <p:pic>
        <p:nvPicPr>
          <p:cNvPr id="31" name="图片 3" descr="Microsoft - Free logo icons">
            <a:extLst>
              <a:ext uri="{FF2B5EF4-FFF2-40B4-BE49-F238E27FC236}">
                <a16:creationId xmlns:a16="http://schemas.microsoft.com/office/drawing/2014/main" id="{D7CDD7F5-919D-E08B-B96D-1A9A5AC3A33F}"/>
              </a:ext>
            </a:extLst>
          </p:cNvPr>
          <p:cNvPicPr>
            <a:picLocks noChangeAspect="1"/>
          </p:cNvPicPr>
          <p:nvPr/>
        </p:nvPicPr>
        <p:blipFill>
          <a:blip r:embed="rId4"/>
          <a:stretch>
            <a:fillRect/>
          </a:stretch>
        </p:blipFill>
        <p:spPr>
          <a:xfrm>
            <a:off x="3730650" y="4243533"/>
            <a:ext cx="236311" cy="236311"/>
          </a:xfrm>
          <a:prstGeom prst="rect">
            <a:avLst/>
          </a:prstGeom>
        </p:spPr>
      </p:pic>
      <p:pic>
        <p:nvPicPr>
          <p:cNvPr id="35" name="Picture 34">
            <a:extLst>
              <a:ext uri="{FF2B5EF4-FFF2-40B4-BE49-F238E27FC236}">
                <a16:creationId xmlns:a16="http://schemas.microsoft.com/office/drawing/2014/main" id="{A550370D-93D9-3044-D735-006AEE2F17AA}"/>
              </a:ext>
            </a:extLst>
          </p:cNvPr>
          <p:cNvPicPr>
            <a:picLocks noChangeAspect="1"/>
          </p:cNvPicPr>
          <p:nvPr/>
        </p:nvPicPr>
        <p:blipFill>
          <a:blip r:embed="rId5"/>
          <a:stretch>
            <a:fillRect/>
          </a:stretch>
        </p:blipFill>
        <p:spPr>
          <a:xfrm>
            <a:off x="527187" y="1232829"/>
            <a:ext cx="3048260" cy="2025644"/>
          </a:xfrm>
          <a:prstGeom prst="rect">
            <a:avLst/>
          </a:prstGeom>
        </p:spPr>
      </p:pic>
      <p:sp>
        <p:nvSpPr>
          <p:cNvPr id="103" name="TextBox 10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05"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speakers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2895BA3-4A61-0588-5457-C3969249CD4D}"/>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Agenda</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We’ll go from inference basics to running P/D on Kubernetes.</a:t>
            </a:r>
          </a:p>
        </p:txBody>
      </p:sp>
      <p:sp>
        <p:nvSpPr>
          <p:cNvPr id="4" name="Rounded Rectangle 3"/>
          <p:cNvSpPr/>
          <p:nvPr/>
        </p:nvSpPr>
        <p:spPr>
          <a:xfrm>
            <a:off x="384048"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30352"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01</a:t>
            </a:r>
          </a:p>
        </p:txBody>
      </p:sp>
      <p:sp>
        <p:nvSpPr>
          <p:cNvPr id="6" name="TextBox 5"/>
          <p:cNvSpPr txBox="1"/>
          <p:nvPr/>
        </p:nvSpPr>
        <p:spPr>
          <a:xfrm>
            <a:off x="1078992"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400" cap="none" dirty="0"/>
              <a:t>Inference basics: prefill and decode</a:t>
            </a:r>
          </a:p>
        </p:txBody>
      </p:sp>
      <p:sp>
        <p:nvSpPr>
          <p:cNvPr id="7" name="TextBox 6"/>
          <p:cNvSpPr txBox="1"/>
          <p:nvPr/>
        </p:nvSpPr>
        <p:spPr>
          <a:xfrm>
            <a:off x="1078992"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See how each phase affects latency.</a:t>
            </a:r>
          </a:p>
        </p:txBody>
      </p:sp>
      <p:sp>
        <p:nvSpPr>
          <p:cNvPr id="8" name="Rounded Rectangle 7"/>
          <p:cNvSpPr/>
          <p:nvPr/>
        </p:nvSpPr>
        <p:spPr>
          <a:xfrm>
            <a:off x="4654296"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00600"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02</a:t>
            </a:r>
          </a:p>
        </p:txBody>
      </p:sp>
      <p:sp>
        <p:nvSpPr>
          <p:cNvPr id="10" name="TextBox 9"/>
          <p:cNvSpPr txBox="1"/>
          <p:nvPr/>
        </p:nvSpPr>
        <p:spPr>
          <a:xfrm>
            <a:off x="5349240"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dirty="0"/>
              <a:t>Why P/D disaggregation</a:t>
            </a:r>
          </a:p>
        </p:txBody>
      </p:sp>
      <p:sp>
        <p:nvSpPr>
          <p:cNvPr id="11" name="TextBox 10"/>
          <p:cNvSpPr txBox="1"/>
          <p:nvPr/>
        </p:nvSpPr>
        <p:spPr>
          <a:xfrm>
            <a:off x="5349240"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Weigh the benefits against the costs.</a:t>
            </a:r>
          </a:p>
        </p:txBody>
      </p:sp>
      <p:sp>
        <p:nvSpPr>
          <p:cNvPr id="12" name="Rounded Rectangle 11"/>
          <p:cNvSpPr/>
          <p:nvPr/>
        </p:nvSpPr>
        <p:spPr>
          <a:xfrm>
            <a:off x="384048"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30352"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03</a:t>
            </a:r>
          </a:p>
        </p:txBody>
      </p:sp>
      <p:sp>
        <p:nvSpPr>
          <p:cNvPr id="14" name="TextBox 13"/>
          <p:cNvSpPr txBox="1"/>
          <p:nvPr/>
        </p:nvSpPr>
        <p:spPr>
          <a:xfrm>
            <a:off x="1078992" y="264261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altLang="zh-CN" dirty="0" err="1"/>
              <a:t>llm</a:t>
            </a:r>
            <a:r>
              <a:rPr lang="en-US" altLang="zh-CN" dirty="0"/>
              <a:t>-d and </a:t>
            </a:r>
            <a:r>
              <a:rPr cap="none" dirty="0"/>
              <a:t>KAITO overview</a:t>
            </a:r>
          </a:p>
        </p:txBody>
      </p:sp>
      <p:sp>
        <p:nvSpPr>
          <p:cNvPr id="15" name="TextBox 14"/>
          <p:cNvSpPr txBox="1"/>
          <p:nvPr/>
        </p:nvSpPr>
        <p:spPr>
          <a:xfrm>
            <a:off x="1078992"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See what each project owns.</a:t>
            </a:r>
          </a:p>
        </p:txBody>
      </p:sp>
      <p:sp>
        <p:nvSpPr>
          <p:cNvPr id="16" name="Rounded Rectangle 15"/>
          <p:cNvSpPr/>
          <p:nvPr/>
        </p:nvSpPr>
        <p:spPr>
          <a:xfrm>
            <a:off x="4654296"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800600"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04</a:t>
            </a:r>
          </a:p>
        </p:txBody>
      </p:sp>
      <p:sp>
        <p:nvSpPr>
          <p:cNvPr id="18" name="TextBox 17"/>
          <p:cNvSpPr txBox="1"/>
          <p:nvPr/>
        </p:nvSpPr>
        <p:spPr>
          <a:xfrm>
            <a:off x="5349240" y="2642616"/>
            <a:ext cx="3218688" cy="246221"/>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600" cap="none" dirty="0"/>
              <a:t>How KAITO + </a:t>
            </a:r>
            <a:r>
              <a:rPr sz="1600" cap="none" dirty="0" err="1"/>
              <a:t>llm</a:t>
            </a:r>
            <a:r>
              <a:rPr sz="1600" cap="none" dirty="0"/>
              <a:t>-d supports P/D</a:t>
            </a:r>
          </a:p>
        </p:txBody>
      </p:sp>
      <p:sp>
        <p:nvSpPr>
          <p:cNvPr id="19" name="TextBox 18"/>
          <p:cNvSpPr txBox="1"/>
          <p:nvPr/>
        </p:nvSpPr>
        <p:spPr>
          <a:xfrm>
            <a:off x="5349240"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Follow routing and KV transfer.</a:t>
            </a:r>
          </a:p>
        </p:txBody>
      </p:sp>
      <p:sp>
        <p:nvSpPr>
          <p:cNvPr id="20" name="Rounded Rectangle 19"/>
          <p:cNvSpPr/>
          <p:nvPr/>
        </p:nvSpPr>
        <p:spPr>
          <a:xfrm>
            <a:off x="384048"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30352"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05</a:t>
            </a:r>
          </a:p>
        </p:txBody>
      </p:sp>
      <p:sp>
        <p:nvSpPr>
          <p:cNvPr id="22" name="TextBox 21"/>
          <p:cNvSpPr txBox="1"/>
          <p:nvPr/>
        </p:nvSpPr>
        <p:spPr>
          <a:xfrm>
            <a:off x="1078992" y="3602736"/>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a:t>Per-role autoscaling for P/D</a:t>
            </a:r>
          </a:p>
        </p:txBody>
      </p:sp>
      <p:sp>
        <p:nvSpPr>
          <p:cNvPr id="23" name="TextBox 22"/>
          <p:cNvSpPr txBox="1"/>
          <p:nvPr/>
        </p:nvSpPr>
        <p:spPr>
          <a:xfrm>
            <a:off x="1078992" y="394106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Scale each role with its own signals.</a:t>
            </a:r>
          </a:p>
        </p:txBody>
      </p:sp>
      <p:sp>
        <p:nvSpPr>
          <p:cNvPr id="24" name="Rounded Rectangle 23"/>
          <p:cNvSpPr/>
          <p:nvPr/>
        </p:nvSpPr>
        <p:spPr>
          <a:xfrm>
            <a:off x="4654296"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800600"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06</a:t>
            </a:r>
          </a:p>
        </p:txBody>
      </p:sp>
      <p:sp>
        <p:nvSpPr>
          <p:cNvPr id="26" name="TextBox 25"/>
          <p:cNvSpPr txBox="1"/>
          <p:nvPr/>
        </p:nvSpPr>
        <p:spPr>
          <a:xfrm>
            <a:off x="5349240" y="360273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cap="none" dirty="0"/>
              <a:t>What’s next</a:t>
            </a:r>
            <a:endParaRPr cap="none" dirty="0"/>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agenda</a:t>
            </a:r>
          </a:p>
        </p:txBody>
      </p:sp>
    </p:spTree>
    <p:extLst>
      <p:ext uri="{BB962C8B-B14F-4D97-AF65-F5344CB8AC3E}">
        <p14:creationId xmlns:p14="http://schemas.microsoft.com/office/powerpoint/2010/main" val="413774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prefill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Prefill: process the prompt and select the first token</a:t>
            </a:r>
          </a:p>
        </p:txBody>
      </p:sp>
      <p:sp>
        <p:nvSpPr>
          <p:cNvPr id="4" name="TextBox 3"/>
          <p:cNvSpPr txBox="1"/>
          <p:nvPr/>
        </p:nvSpPr>
        <p:spPr>
          <a:xfrm>
            <a:off x="384048" y="1033271"/>
            <a:ext cx="8321040" cy="282385"/>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cap="none" dirty="0">
                <a:solidFill>
                  <a:srgbClr val="52677D"/>
                </a:solidFill>
                <a:latin typeface="Arial"/>
              </a:rPr>
              <a:t>Prompt: “What does Kubernetes do?”</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selects “Kubernetes”. Decode will consume it and cache its K/V.</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88187"/>
            <a:ext cx="8161020"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cap="none">
                <a:latin typeface="Arial"/>
              </a:rPr>
              <a:t>Teaching example / Words + punctuation</a:t>
            </a:r>
          </a:p>
        </p:txBody>
      </p:sp>
      <p:sp>
        <p:nvSpPr>
          <p:cNvPr id="11" name="Rounded Rectangle 10"/>
          <p:cNvSpPr/>
          <p:nvPr/>
        </p:nvSpPr>
        <p:spPr>
          <a:xfrm>
            <a:off x="445770"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4"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What</a:t>
            </a:r>
          </a:p>
        </p:txBody>
      </p:sp>
      <p:sp>
        <p:nvSpPr>
          <p:cNvPr id="13" name="Rounded Rectangle 12"/>
          <p:cNvSpPr/>
          <p:nvPr/>
        </p:nvSpPr>
        <p:spPr>
          <a:xfrm>
            <a:off x="2098548"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2153412"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does</a:t>
            </a:r>
          </a:p>
        </p:txBody>
      </p:sp>
      <p:sp>
        <p:nvSpPr>
          <p:cNvPr id="15" name="Rounded Rectangle 14"/>
          <p:cNvSpPr/>
          <p:nvPr/>
        </p:nvSpPr>
        <p:spPr>
          <a:xfrm>
            <a:off x="3751326"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806190"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Kubernetes</a:t>
            </a:r>
          </a:p>
        </p:txBody>
      </p:sp>
      <p:sp>
        <p:nvSpPr>
          <p:cNvPr id="17" name="Rounded Rectangle 16"/>
          <p:cNvSpPr/>
          <p:nvPr/>
        </p:nvSpPr>
        <p:spPr>
          <a:xfrm>
            <a:off x="5404104"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458968"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a:t>
            </a:r>
          </a:p>
        </p:txBody>
      </p:sp>
      <p:sp>
        <p:nvSpPr>
          <p:cNvPr id="19" name="Rounded Rectangle 18"/>
          <p:cNvSpPr/>
          <p:nvPr/>
        </p:nvSpPr>
        <p:spPr>
          <a:xfrm>
            <a:off x="7056882"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7111746"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a:t>
            </a:r>
          </a:p>
        </p:txBody>
      </p:sp>
      <p:sp>
        <p:nvSpPr>
          <p:cNvPr id="21" name="TextBox 20"/>
          <p:cNvSpPr txBox="1"/>
          <p:nvPr/>
        </p:nvSpPr>
        <p:spPr>
          <a:xfrm>
            <a:off x="445770" y="2427733"/>
            <a:ext cx="8243316" cy="216982"/>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We process prompt positions together; each sees only itself and earlier positions.</a:t>
            </a:r>
          </a:p>
        </p:txBody>
      </p:sp>
      <p:sp>
        <p:nvSpPr>
          <p:cNvPr id="22" name="Rounded Rectangle 21"/>
          <p:cNvSpPr/>
          <p:nvPr/>
        </p:nvSpPr>
        <p:spPr>
          <a:xfrm>
            <a:off x="445770" y="2859786"/>
            <a:ext cx="2057400"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445770" y="2928365"/>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48640" y="2948940"/>
            <a:ext cx="1851660" cy="251607"/>
          </a:xfrm>
          <a:prstGeom prst="rect">
            <a:avLst/>
          </a:prstGeom>
          <a:noFill/>
        </p:spPr>
        <p:txBody>
          <a:bodyPr wrap="square" lIns="10287" tIns="10287" rIns="10287" bIns="10287">
            <a:spAutoFit/>
          </a:bodyPr>
          <a:lstStyle/>
          <a:p>
            <a:pPr algn="ctr">
              <a:spcAft>
                <a:spcPts val="375"/>
              </a:spcAft>
              <a:defRPr sz="2000" b="1">
                <a:solidFill>
                  <a:srgbClr val="2563EB"/>
                </a:solidFill>
                <a:latin typeface="Arial"/>
              </a:defRPr>
            </a:pPr>
            <a:r>
              <a:rPr sz="1500" cap="none">
                <a:latin typeface="Arial"/>
              </a:rPr>
              <a:t>5 prompt positions</a:t>
            </a:r>
          </a:p>
        </p:txBody>
      </p:sp>
      <p:sp>
        <p:nvSpPr>
          <p:cNvPr id="25" name="TextBox 24"/>
          <p:cNvSpPr txBox="1"/>
          <p:nvPr/>
        </p:nvSpPr>
        <p:spPr>
          <a:xfrm>
            <a:off x="555498" y="3278124"/>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4 words + punctuation</a:t>
            </a:r>
          </a:p>
        </p:txBody>
      </p:sp>
      <p:sp>
        <p:nvSpPr>
          <p:cNvPr id="26" name="Rounded Rectangle 25"/>
          <p:cNvSpPr/>
          <p:nvPr/>
        </p:nvSpPr>
        <p:spPr>
          <a:xfrm>
            <a:off x="2846070" y="2859786"/>
            <a:ext cx="285292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2846070" y="2928365"/>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2948940" y="2948940"/>
            <a:ext cx="2647188"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Causal prefill</a:t>
            </a:r>
          </a:p>
        </p:txBody>
      </p:sp>
      <p:sp>
        <p:nvSpPr>
          <p:cNvPr id="29" name="TextBox 28"/>
          <p:cNvSpPr txBox="1"/>
          <p:nvPr/>
        </p:nvSpPr>
        <p:spPr>
          <a:xfrm>
            <a:off x="2955798" y="3278124"/>
            <a:ext cx="263347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No position sees future tokens.</a:t>
            </a:r>
          </a:p>
        </p:txBody>
      </p:sp>
      <p:sp>
        <p:nvSpPr>
          <p:cNvPr id="30" name="Rounded Rectangle 29"/>
          <p:cNvSpPr/>
          <p:nvPr/>
        </p:nvSpPr>
        <p:spPr>
          <a:xfrm>
            <a:off x="6172200" y="2859786"/>
            <a:ext cx="251688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ectangle 30"/>
          <p:cNvSpPr/>
          <p:nvPr/>
        </p:nvSpPr>
        <p:spPr>
          <a:xfrm>
            <a:off x="6172200" y="2928365"/>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6275070" y="2948940"/>
            <a:ext cx="2311146" cy="251607"/>
          </a:xfrm>
          <a:prstGeom prst="rect">
            <a:avLst/>
          </a:prstGeom>
          <a:noFill/>
        </p:spPr>
        <p:txBody>
          <a:bodyPr wrap="square" lIns="10287" tIns="10287" rIns="10287" bIns="10287">
            <a:spAutoFit/>
          </a:bodyPr>
          <a:lstStyle/>
          <a:p>
            <a:pPr algn="ctr">
              <a:spcAft>
                <a:spcPts val="375"/>
              </a:spcAft>
              <a:defRPr sz="2000" b="1">
                <a:solidFill>
                  <a:srgbClr val="7354B8"/>
                </a:solidFill>
                <a:latin typeface="Arial"/>
              </a:defRPr>
            </a:pPr>
            <a:r>
              <a:rPr sz="1500" cap="none">
                <a:latin typeface="Arial"/>
              </a:rPr>
              <a:t>Select “Kubernetes”</a:t>
            </a:r>
          </a:p>
        </p:txBody>
      </p:sp>
      <p:sp>
        <p:nvSpPr>
          <p:cNvPr id="33" name="TextBox 32"/>
          <p:cNvSpPr txBox="1"/>
          <p:nvPr/>
        </p:nvSpPr>
        <p:spPr>
          <a:xfrm>
            <a:off x="6281928" y="3278124"/>
            <a:ext cx="229743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Use the final position’s scores.</a:t>
            </a:r>
          </a:p>
        </p:txBody>
      </p:sp>
      <p:cxnSp>
        <p:nvCxnSpPr>
          <p:cNvPr id="34" name="Connector 33"/>
          <p:cNvCxnSpPr/>
          <p:nvPr/>
        </p:nvCxnSpPr>
        <p:spPr>
          <a:xfrm>
            <a:off x="2503170" y="3271266"/>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98998" y="3271266"/>
            <a:ext cx="47320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272534" y="3696462"/>
            <a:ext cx="0" cy="13030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45770" y="3840480"/>
            <a:ext cx="8243316"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TextBox 37"/>
          <p:cNvSpPr txBox="1"/>
          <p:nvPr/>
        </p:nvSpPr>
        <p:spPr>
          <a:xfrm>
            <a:off x="582930" y="3895344"/>
            <a:ext cx="7968996" cy="205441"/>
          </a:xfrm>
          <a:prstGeom prst="rect">
            <a:avLst/>
          </a:prstGeom>
          <a:noFill/>
        </p:spPr>
        <p:txBody>
          <a:bodyPr wrap="square" lIns="10287" tIns="10287" rIns="10287" bIns="10287">
            <a:spAutoFit/>
          </a:bodyPr>
          <a:lstStyle/>
          <a:p>
            <a:pPr>
              <a:spcAft>
                <a:spcPts val="375"/>
              </a:spcAft>
              <a:defRPr sz="1600" b="0">
                <a:solidFill>
                  <a:srgbClr val="087F8C"/>
                </a:solidFill>
                <a:latin typeface="Arial"/>
              </a:defRPr>
            </a:pPr>
            <a:r>
              <a:rPr sz="1200" cap="none">
                <a:latin typeface="Arial"/>
              </a:rPr>
              <a:t>We cache attention keys and values for all 5 prompt positions at every layer.</a:t>
            </a:r>
          </a:p>
        </p:txBody>
      </p:sp>
      <p:sp>
        <p:nvSpPr>
          <p:cNvPr id="39" name="TextBox 38"/>
          <p:cNvSpPr txBox="1"/>
          <p:nvPr/>
        </p:nvSpPr>
        <p:spPr>
          <a:xfrm>
            <a:off x="445770" y="419709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These are teaching tokens, not a real tokenizer’s output.</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E09E1CB-202C-5945-B1F8-E2D475FB5EAB}" type="slidenum">
              <a:rPr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decode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Decode: consume a token, select the next, repeat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Illustrative output: “Kubernetes helps teams deploy and scale applications.”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We cache the token we consume, not the one we just select. We reuse past KV.</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40180"/>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11" name="Rectangle 10"/>
          <p:cNvSpPr/>
          <p:nvPr/>
        </p:nvSpPr>
        <p:spPr>
          <a:xfrm>
            <a:off x="445770" y="1666494"/>
            <a:ext cx="500634"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5" y="1700784"/>
            <a:ext cx="390905"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Step</a:t>
            </a:r>
          </a:p>
        </p:txBody>
      </p:sp>
      <p:sp>
        <p:nvSpPr>
          <p:cNvPr id="13" name="Rectangle 12"/>
          <p:cNvSpPr/>
          <p:nvPr/>
        </p:nvSpPr>
        <p:spPr>
          <a:xfrm>
            <a:off x="960120" y="1666494"/>
            <a:ext cx="212598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1014984" y="1700784"/>
            <a:ext cx="2016252"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Consume + read past KV</a:t>
            </a:r>
          </a:p>
        </p:txBody>
      </p:sp>
      <p:sp>
        <p:nvSpPr>
          <p:cNvPr id="15" name="Rectangle 14"/>
          <p:cNvSpPr/>
          <p:nvPr/>
        </p:nvSpPr>
        <p:spPr>
          <a:xfrm>
            <a:off x="3120391" y="1666494"/>
            <a:ext cx="2756915"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175255" y="1700784"/>
            <a:ext cx="2647187"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Append to per-layer KV</a:t>
            </a:r>
          </a:p>
        </p:txBody>
      </p:sp>
      <p:sp>
        <p:nvSpPr>
          <p:cNvPr id="17" name="Rectangle 16"/>
          <p:cNvSpPr/>
          <p:nvPr/>
        </p:nvSpPr>
        <p:spPr>
          <a:xfrm>
            <a:off x="5911595" y="1666494"/>
            <a:ext cx="277749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966460" y="1700784"/>
            <a:ext cx="2667761"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Select next output</a:t>
            </a:r>
          </a:p>
        </p:txBody>
      </p:sp>
      <p:sp>
        <p:nvSpPr>
          <p:cNvPr id="19" name="Rectangle 18"/>
          <p:cNvSpPr/>
          <p:nvPr/>
        </p:nvSpPr>
        <p:spPr>
          <a:xfrm>
            <a:off x="445770" y="1940814"/>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500634" y="196481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1</a:t>
            </a:r>
          </a:p>
        </p:txBody>
      </p:sp>
      <p:sp>
        <p:nvSpPr>
          <p:cNvPr id="21" name="TextBox 20"/>
          <p:cNvSpPr txBox="1"/>
          <p:nvPr/>
        </p:nvSpPr>
        <p:spPr>
          <a:xfrm>
            <a:off x="1021842" y="196481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Kubernetes</a:t>
            </a:r>
          </a:p>
        </p:txBody>
      </p:sp>
      <p:sp>
        <p:nvSpPr>
          <p:cNvPr id="22" name="TextBox 21"/>
          <p:cNvSpPr txBox="1"/>
          <p:nvPr/>
        </p:nvSpPr>
        <p:spPr>
          <a:xfrm>
            <a:off x="3182112" y="196481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“Kubernetes”</a:t>
            </a:r>
          </a:p>
        </p:txBody>
      </p:sp>
      <p:sp>
        <p:nvSpPr>
          <p:cNvPr id="23" name="TextBox 22"/>
          <p:cNvSpPr txBox="1"/>
          <p:nvPr/>
        </p:nvSpPr>
        <p:spPr>
          <a:xfrm>
            <a:off x="5973318" y="196481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4" name="Rectangle 23"/>
          <p:cNvSpPr/>
          <p:nvPr/>
        </p:nvSpPr>
        <p:spPr>
          <a:xfrm>
            <a:off x="445770" y="2160270"/>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500634" y="2184274"/>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2</a:t>
            </a:r>
          </a:p>
        </p:txBody>
      </p:sp>
      <p:sp>
        <p:nvSpPr>
          <p:cNvPr id="26" name="TextBox 25"/>
          <p:cNvSpPr txBox="1"/>
          <p:nvPr/>
        </p:nvSpPr>
        <p:spPr>
          <a:xfrm>
            <a:off x="1021842" y="2184274"/>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7" name="TextBox 26"/>
          <p:cNvSpPr txBox="1"/>
          <p:nvPr/>
        </p:nvSpPr>
        <p:spPr>
          <a:xfrm>
            <a:off x="3182112" y="2184274"/>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“helps”</a:t>
            </a:r>
          </a:p>
        </p:txBody>
      </p:sp>
      <p:sp>
        <p:nvSpPr>
          <p:cNvPr id="28" name="TextBox 27"/>
          <p:cNvSpPr txBox="1"/>
          <p:nvPr/>
        </p:nvSpPr>
        <p:spPr>
          <a:xfrm>
            <a:off x="5973318" y="2184274"/>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29" name="Rectangle 28"/>
          <p:cNvSpPr/>
          <p:nvPr/>
        </p:nvSpPr>
        <p:spPr>
          <a:xfrm>
            <a:off x="445770" y="2379726"/>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00634" y="2403730"/>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3</a:t>
            </a:r>
          </a:p>
        </p:txBody>
      </p:sp>
      <p:sp>
        <p:nvSpPr>
          <p:cNvPr id="31" name="TextBox 30"/>
          <p:cNvSpPr txBox="1"/>
          <p:nvPr/>
        </p:nvSpPr>
        <p:spPr>
          <a:xfrm>
            <a:off x="1021842" y="2403730"/>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32" name="TextBox 31"/>
          <p:cNvSpPr txBox="1"/>
          <p:nvPr/>
        </p:nvSpPr>
        <p:spPr>
          <a:xfrm>
            <a:off x="3182112" y="2403730"/>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“teams”</a:t>
            </a:r>
          </a:p>
        </p:txBody>
      </p:sp>
      <p:sp>
        <p:nvSpPr>
          <p:cNvPr id="33" name="TextBox 32"/>
          <p:cNvSpPr txBox="1"/>
          <p:nvPr/>
        </p:nvSpPr>
        <p:spPr>
          <a:xfrm>
            <a:off x="5973318" y="2403730"/>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4" name="Rectangle 33"/>
          <p:cNvSpPr/>
          <p:nvPr/>
        </p:nvSpPr>
        <p:spPr>
          <a:xfrm>
            <a:off x="445770" y="2599182"/>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500634" y="2623186"/>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4</a:t>
            </a:r>
          </a:p>
        </p:txBody>
      </p:sp>
      <p:sp>
        <p:nvSpPr>
          <p:cNvPr id="36" name="TextBox 35"/>
          <p:cNvSpPr txBox="1"/>
          <p:nvPr/>
        </p:nvSpPr>
        <p:spPr>
          <a:xfrm>
            <a:off x="1021842" y="2623186"/>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7" name="TextBox 36"/>
          <p:cNvSpPr txBox="1"/>
          <p:nvPr/>
        </p:nvSpPr>
        <p:spPr>
          <a:xfrm>
            <a:off x="3182112" y="2623186"/>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“deploy”</a:t>
            </a:r>
          </a:p>
        </p:txBody>
      </p:sp>
      <p:sp>
        <p:nvSpPr>
          <p:cNvPr id="38" name="TextBox 37"/>
          <p:cNvSpPr txBox="1"/>
          <p:nvPr/>
        </p:nvSpPr>
        <p:spPr>
          <a:xfrm>
            <a:off x="5973318" y="2623186"/>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39" name="Rectangle 38"/>
          <p:cNvSpPr/>
          <p:nvPr/>
        </p:nvSpPr>
        <p:spPr>
          <a:xfrm>
            <a:off x="445770" y="2818638"/>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500634" y="2842642"/>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5</a:t>
            </a:r>
          </a:p>
        </p:txBody>
      </p:sp>
      <p:sp>
        <p:nvSpPr>
          <p:cNvPr id="41" name="TextBox 40"/>
          <p:cNvSpPr txBox="1"/>
          <p:nvPr/>
        </p:nvSpPr>
        <p:spPr>
          <a:xfrm>
            <a:off x="1021842" y="2842642"/>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42" name="TextBox 41"/>
          <p:cNvSpPr txBox="1"/>
          <p:nvPr/>
        </p:nvSpPr>
        <p:spPr>
          <a:xfrm>
            <a:off x="3182112" y="2842642"/>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“and”</a:t>
            </a:r>
          </a:p>
        </p:txBody>
      </p:sp>
      <p:sp>
        <p:nvSpPr>
          <p:cNvPr id="43" name="TextBox 42"/>
          <p:cNvSpPr txBox="1"/>
          <p:nvPr/>
        </p:nvSpPr>
        <p:spPr>
          <a:xfrm>
            <a:off x="5973318" y="2842642"/>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4" name="Rectangle 43"/>
          <p:cNvSpPr/>
          <p:nvPr/>
        </p:nvSpPr>
        <p:spPr>
          <a:xfrm>
            <a:off x="445770" y="3038093"/>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00634" y="306209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6</a:t>
            </a:r>
          </a:p>
        </p:txBody>
      </p:sp>
      <p:sp>
        <p:nvSpPr>
          <p:cNvPr id="46" name="TextBox 45"/>
          <p:cNvSpPr txBox="1"/>
          <p:nvPr/>
        </p:nvSpPr>
        <p:spPr>
          <a:xfrm>
            <a:off x="1021842" y="306209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7" name="TextBox 46"/>
          <p:cNvSpPr txBox="1"/>
          <p:nvPr/>
        </p:nvSpPr>
        <p:spPr>
          <a:xfrm>
            <a:off x="3182112" y="306209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“scale”</a:t>
            </a:r>
          </a:p>
        </p:txBody>
      </p:sp>
      <p:sp>
        <p:nvSpPr>
          <p:cNvPr id="48" name="TextBox 47"/>
          <p:cNvSpPr txBox="1"/>
          <p:nvPr/>
        </p:nvSpPr>
        <p:spPr>
          <a:xfrm>
            <a:off x="5973318" y="306209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applications</a:t>
            </a:r>
          </a:p>
        </p:txBody>
      </p:sp>
      <p:sp>
        <p:nvSpPr>
          <p:cNvPr id="49" name="TextBox 48"/>
          <p:cNvSpPr txBox="1"/>
          <p:nvPr/>
        </p:nvSpPr>
        <p:spPr>
          <a:xfrm>
            <a:off x="445770" y="3319273"/>
            <a:ext cx="8243316"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Each selected token becomes the next input. Repeat until the answer is complete.</a:t>
            </a:r>
          </a:p>
        </p:txBody>
      </p:sp>
      <p:sp>
        <p:nvSpPr>
          <p:cNvPr id="50" name="TextBox 49"/>
          <p:cNvSpPr txBox="1"/>
          <p:nvPr/>
        </p:nvSpPr>
        <p:spPr>
          <a:xfrm>
            <a:off x="445770" y="3552444"/>
            <a:ext cx="816102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Client arrivals / ITL = gaps / First 6 words shown / Not to scale</a:t>
            </a:r>
          </a:p>
        </p:txBody>
      </p:sp>
      <p:sp>
        <p:nvSpPr>
          <p:cNvPr id="51" name="Rounded Rectangle 50"/>
          <p:cNvSpPr/>
          <p:nvPr/>
        </p:nvSpPr>
        <p:spPr>
          <a:xfrm>
            <a:off x="445770" y="3963924"/>
            <a:ext cx="994410" cy="26746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2" name="TextBox 51"/>
          <p:cNvSpPr txBox="1"/>
          <p:nvPr/>
        </p:nvSpPr>
        <p:spPr>
          <a:xfrm>
            <a:off x="462915" y="4011931"/>
            <a:ext cx="960120" cy="159274"/>
          </a:xfrm>
          <a:prstGeom prst="rect">
            <a:avLst/>
          </a:prstGeom>
          <a:noFill/>
        </p:spPr>
        <p:txBody>
          <a:bodyPr wrap="square" lIns="10287" tIns="10287" rIns="10287" bIns="10287">
            <a:spAutoFit/>
          </a:bodyPr>
          <a:lstStyle/>
          <a:p>
            <a:pPr algn="ctr">
              <a:spcAft>
                <a:spcPts val="375"/>
              </a:spcAft>
              <a:defRPr sz="1200" b="1">
                <a:solidFill>
                  <a:srgbClr val="2563EB"/>
                </a:solidFill>
                <a:latin typeface="Arial"/>
              </a:defRPr>
            </a:pPr>
            <a:r>
              <a:rPr sz="900" cap="none">
                <a:latin typeface="Arial"/>
              </a:rPr>
              <a:t>Request</a:t>
            </a:r>
          </a:p>
        </p:txBody>
      </p:sp>
      <p:sp>
        <p:nvSpPr>
          <p:cNvPr id="53" name="Rounded Rectangle 52"/>
          <p:cNvSpPr/>
          <p:nvPr/>
        </p:nvSpPr>
        <p:spPr>
          <a:xfrm>
            <a:off x="2777490" y="3963924"/>
            <a:ext cx="1179576" cy="26746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4" name="TextBox 53"/>
          <p:cNvSpPr txBox="1"/>
          <p:nvPr/>
        </p:nvSpPr>
        <p:spPr>
          <a:xfrm>
            <a:off x="2794635" y="4011931"/>
            <a:ext cx="1145286" cy="159274"/>
          </a:xfrm>
          <a:prstGeom prst="rect">
            <a:avLst/>
          </a:prstGeom>
          <a:noFill/>
        </p:spPr>
        <p:txBody>
          <a:bodyPr wrap="square" lIns="10287" tIns="10287" rIns="10287" bIns="10287">
            <a:spAutoFit/>
          </a:bodyPr>
          <a:lstStyle/>
          <a:p>
            <a:pPr algn="ctr">
              <a:spcAft>
                <a:spcPts val="375"/>
              </a:spcAft>
              <a:defRPr sz="1200" b="1">
                <a:solidFill>
                  <a:srgbClr val="087F8C"/>
                </a:solidFill>
                <a:latin typeface="Arial"/>
              </a:defRPr>
            </a:pPr>
            <a:r>
              <a:rPr sz="900" cap="none">
                <a:latin typeface="Arial"/>
              </a:rPr>
              <a:t>Kubernetes</a:t>
            </a:r>
          </a:p>
        </p:txBody>
      </p:sp>
      <p:cxnSp>
        <p:nvCxnSpPr>
          <p:cNvPr id="55" name="Connector 54"/>
          <p:cNvCxnSpPr/>
          <p:nvPr/>
        </p:nvCxnSpPr>
        <p:spPr>
          <a:xfrm>
            <a:off x="1440180" y="4097655"/>
            <a:ext cx="1337310"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5770" y="3785616"/>
            <a:ext cx="2331720" cy="147733"/>
          </a:xfrm>
          <a:prstGeom prst="rect">
            <a:avLst/>
          </a:prstGeom>
          <a:noFill/>
        </p:spPr>
        <p:txBody>
          <a:bodyPr wrap="square" lIns="10287" tIns="10287" rIns="10287" bIns="10287">
            <a:spAutoFit/>
          </a:bodyPr>
          <a:lstStyle/>
          <a:p>
            <a:pPr algn="ctr">
              <a:spcAft>
                <a:spcPts val="375"/>
              </a:spcAft>
              <a:defRPr sz="1100" b="1">
                <a:solidFill>
                  <a:srgbClr val="087F8C"/>
                </a:solidFill>
                <a:latin typeface="Arial"/>
              </a:defRPr>
            </a:pPr>
            <a:r>
              <a:rPr sz="825" cap="none">
                <a:latin typeface="Arial"/>
              </a:rPr>
              <a:t>TTFT → first token</a:t>
            </a:r>
          </a:p>
        </p:txBody>
      </p:sp>
      <p:sp>
        <p:nvSpPr>
          <p:cNvPr id="57" name="Rounded Rectangle 56"/>
          <p:cNvSpPr/>
          <p:nvPr/>
        </p:nvSpPr>
        <p:spPr>
          <a:xfrm>
            <a:off x="408051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8" name="TextBox 57"/>
          <p:cNvSpPr txBox="1"/>
          <p:nvPr/>
        </p:nvSpPr>
        <p:spPr>
          <a:xfrm>
            <a:off x="409765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helps</a:t>
            </a:r>
          </a:p>
        </p:txBody>
      </p:sp>
      <p:cxnSp>
        <p:nvCxnSpPr>
          <p:cNvPr id="59" name="Connector 58"/>
          <p:cNvCxnSpPr/>
          <p:nvPr/>
        </p:nvCxnSpPr>
        <p:spPr>
          <a:xfrm>
            <a:off x="395706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2777490" y="3785616"/>
            <a:ext cx="130302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1</a:t>
            </a:r>
          </a:p>
        </p:txBody>
      </p:sp>
      <p:sp>
        <p:nvSpPr>
          <p:cNvPr id="61" name="Rounded Rectangle 60"/>
          <p:cNvSpPr/>
          <p:nvPr/>
        </p:nvSpPr>
        <p:spPr>
          <a:xfrm>
            <a:off x="500634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2" name="TextBox 61"/>
          <p:cNvSpPr txBox="1"/>
          <p:nvPr/>
        </p:nvSpPr>
        <p:spPr>
          <a:xfrm>
            <a:off x="502348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teams</a:t>
            </a:r>
          </a:p>
        </p:txBody>
      </p:sp>
      <p:cxnSp>
        <p:nvCxnSpPr>
          <p:cNvPr id="63" name="Connector 62"/>
          <p:cNvCxnSpPr/>
          <p:nvPr/>
        </p:nvCxnSpPr>
        <p:spPr>
          <a:xfrm>
            <a:off x="488289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08051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2</a:t>
            </a:r>
          </a:p>
        </p:txBody>
      </p:sp>
      <p:sp>
        <p:nvSpPr>
          <p:cNvPr id="65" name="Rounded Rectangle 64"/>
          <p:cNvSpPr/>
          <p:nvPr/>
        </p:nvSpPr>
        <p:spPr>
          <a:xfrm>
            <a:off x="593217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6" name="TextBox 65"/>
          <p:cNvSpPr txBox="1"/>
          <p:nvPr/>
        </p:nvSpPr>
        <p:spPr>
          <a:xfrm>
            <a:off x="594931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deploy</a:t>
            </a:r>
          </a:p>
        </p:txBody>
      </p:sp>
      <p:cxnSp>
        <p:nvCxnSpPr>
          <p:cNvPr id="67" name="Connector 66"/>
          <p:cNvCxnSpPr/>
          <p:nvPr/>
        </p:nvCxnSpPr>
        <p:spPr>
          <a:xfrm>
            <a:off x="5808726" y="4097655"/>
            <a:ext cx="123445"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006340" y="3785616"/>
            <a:ext cx="92583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3</a:t>
            </a:r>
          </a:p>
        </p:txBody>
      </p:sp>
      <p:sp>
        <p:nvSpPr>
          <p:cNvPr id="69" name="Rounded Rectangle 68"/>
          <p:cNvSpPr/>
          <p:nvPr/>
        </p:nvSpPr>
        <p:spPr>
          <a:xfrm>
            <a:off x="685800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0" name="TextBox 69"/>
          <p:cNvSpPr txBox="1"/>
          <p:nvPr/>
        </p:nvSpPr>
        <p:spPr>
          <a:xfrm>
            <a:off x="687514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and</a:t>
            </a:r>
          </a:p>
        </p:txBody>
      </p:sp>
      <p:cxnSp>
        <p:nvCxnSpPr>
          <p:cNvPr id="71" name="Connector 70"/>
          <p:cNvCxnSpPr/>
          <p:nvPr/>
        </p:nvCxnSpPr>
        <p:spPr>
          <a:xfrm>
            <a:off x="673455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93217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4</a:t>
            </a:r>
          </a:p>
        </p:txBody>
      </p:sp>
      <p:sp>
        <p:nvSpPr>
          <p:cNvPr id="73" name="Rounded Rectangle 72"/>
          <p:cNvSpPr/>
          <p:nvPr/>
        </p:nvSpPr>
        <p:spPr>
          <a:xfrm>
            <a:off x="778383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4" name="TextBox 73"/>
          <p:cNvSpPr txBox="1"/>
          <p:nvPr/>
        </p:nvSpPr>
        <p:spPr>
          <a:xfrm>
            <a:off x="780097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scale</a:t>
            </a:r>
          </a:p>
        </p:txBody>
      </p:sp>
      <p:cxnSp>
        <p:nvCxnSpPr>
          <p:cNvPr id="75" name="Connector 74"/>
          <p:cNvCxnSpPr/>
          <p:nvPr/>
        </p:nvCxnSpPr>
        <p:spPr>
          <a:xfrm>
            <a:off x="766038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85800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5</a:t>
            </a:r>
          </a:p>
        </p:txBody>
      </p:sp>
      <p:sp>
        <p:nvSpPr>
          <p:cNvPr id="77" name="TextBox 7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7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41D5DA8-AB86-57A3-AD75-484E857A5432}" type="slidenum">
              <a:rPr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latency targets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One request. Two latency targets.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We want answers to start quickly—and keep going smoothly.</a:t>
            </a:r>
          </a:p>
        </p:txBody>
      </p:sp>
      <p:sp>
        <p:nvSpPr>
          <p:cNvPr id="5" name="Rectangle 4"/>
          <p:cNvSpPr/>
          <p:nvPr/>
        </p:nvSpPr>
        <p:spPr>
          <a:xfrm>
            <a:off x="342900" y="4375404"/>
            <a:ext cx="8455914" cy="45720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398264"/>
            <a:ext cx="8209026" cy="393192"/>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Our goal: serve more requests while meeting both latency targets.</a:t>
            </a:r>
          </a:p>
          <a:p>
            <a:pPr>
              <a:spcAft>
                <a:spcPts val="375"/>
              </a:spcAft>
              <a:defRPr sz="1500" b="1">
                <a:solidFill>
                  <a:srgbClr val="172941"/>
                </a:solidFill>
                <a:latin typeface="Arial"/>
              </a:defRPr>
            </a:pPr>
            <a:r>
              <a:rPr sz="1125" cap="none" dirty="0">
                <a:latin typeface="Arial"/>
              </a:rPr>
              <a:t>SLO goodput = requests per second that meet both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035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3"/>
            <a:ext cx="116586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Prompt</a:t>
            </a:r>
          </a:p>
        </p:txBody>
      </p:sp>
      <p:sp>
        <p:nvSpPr>
          <p:cNvPr id="13" name="TextBox 12"/>
          <p:cNvSpPr txBox="1"/>
          <p:nvPr/>
        </p:nvSpPr>
        <p:spPr>
          <a:xfrm>
            <a:off x="48691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Input tokens</a:t>
            </a:r>
          </a:p>
        </p:txBody>
      </p:sp>
      <p:sp>
        <p:nvSpPr>
          <p:cNvPr id="14" name="Rounded Rectangle 13"/>
          <p:cNvSpPr/>
          <p:nvPr/>
        </p:nvSpPr>
        <p:spPr>
          <a:xfrm>
            <a:off x="2057400" y="1481328"/>
            <a:ext cx="20574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2057400" y="1549908"/>
            <a:ext cx="37719" cy="6035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2160270" y="1570483"/>
            <a:ext cx="185166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Prefill</a:t>
            </a:r>
          </a:p>
        </p:txBody>
      </p:sp>
      <p:sp>
        <p:nvSpPr>
          <p:cNvPr id="17" name="TextBox 16"/>
          <p:cNvSpPr txBox="1"/>
          <p:nvPr/>
        </p:nvSpPr>
        <p:spPr>
          <a:xfrm>
            <a:off x="2167128" y="1899667"/>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Process uncached input</a:t>
            </a:r>
          </a:p>
        </p:txBody>
      </p:sp>
      <p:sp>
        <p:nvSpPr>
          <p:cNvPr id="18" name="Rounded Rectangle 17"/>
          <p:cNvSpPr/>
          <p:nvPr/>
        </p:nvSpPr>
        <p:spPr>
          <a:xfrm>
            <a:off x="445770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4457700" y="1549908"/>
            <a:ext cx="37719" cy="603504"/>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560570" y="1570483"/>
            <a:ext cx="1165860" cy="240066"/>
          </a:xfrm>
          <a:prstGeom prst="rect">
            <a:avLst/>
          </a:prstGeom>
          <a:noFill/>
        </p:spPr>
        <p:txBody>
          <a:bodyPr wrap="square" lIns="10287" tIns="10287" rIns="10287" bIns="10287">
            <a:spAutoFit/>
          </a:bodyPr>
          <a:lstStyle/>
          <a:p>
            <a:pPr algn="ctr">
              <a:spcAft>
                <a:spcPts val="375"/>
              </a:spcAft>
              <a:defRPr sz="1900" b="1">
                <a:solidFill>
                  <a:srgbClr val="AE641A"/>
                </a:solidFill>
                <a:latin typeface="Arial"/>
              </a:defRPr>
            </a:pPr>
            <a:r>
              <a:rPr sz="1425" cap="none">
                <a:latin typeface="Arial"/>
              </a:rPr>
              <a:t>KV cache</a:t>
            </a:r>
          </a:p>
        </p:txBody>
      </p:sp>
      <p:sp>
        <p:nvSpPr>
          <p:cNvPr id="21" name="TextBox 20"/>
          <p:cNvSpPr txBox="1"/>
          <p:nvPr/>
        </p:nvSpPr>
        <p:spPr>
          <a:xfrm>
            <a:off x="456742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Attention state</a:t>
            </a:r>
          </a:p>
        </p:txBody>
      </p:sp>
      <p:sp>
        <p:nvSpPr>
          <p:cNvPr id="22" name="Rounded Rectangle 21"/>
          <p:cNvSpPr/>
          <p:nvPr/>
        </p:nvSpPr>
        <p:spPr>
          <a:xfrm>
            <a:off x="6172200" y="1481328"/>
            <a:ext cx="257175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72200" y="1549908"/>
            <a:ext cx="37719" cy="6035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75070" y="1570483"/>
            <a:ext cx="236601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Decode</a:t>
            </a:r>
          </a:p>
        </p:txBody>
      </p:sp>
      <p:sp>
        <p:nvSpPr>
          <p:cNvPr id="25" name="TextBox 24"/>
          <p:cNvSpPr txBox="1"/>
          <p:nvPr/>
        </p:nvSpPr>
        <p:spPr>
          <a:xfrm>
            <a:off x="6281928" y="1899667"/>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 tokens iteratively</a:t>
            </a:r>
          </a:p>
        </p:txBody>
      </p:sp>
      <p:cxnSp>
        <p:nvCxnSpPr>
          <p:cNvPr id="26" name="Connector 25"/>
          <p:cNvCxnSpPr/>
          <p:nvPr/>
        </p:nvCxnSpPr>
        <p:spPr>
          <a:xfrm>
            <a:off x="1748790" y="1851660"/>
            <a:ext cx="30861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114800" y="1851660"/>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829300" y="1851660"/>
            <a:ext cx="3429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77190"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500634" y="2551176"/>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ounded Rectangle 30"/>
          <p:cNvSpPr/>
          <p:nvPr/>
        </p:nvSpPr>
        <p:spPr>
          <a:xfrm>
            <a:off x="4649724"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Rectangle 31"/>
          <p:cNvSpPr/>
          <p:nvPr/>
        </p:nvSpPr>
        <p:spPr>
          <a:xfrm>
            <a:off x="4773168" y="2551176"/>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21208" y="2674620"/>
            <a:ext cx="37719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 TTFT</a:t>
            </a:r>
          </a:p>
        </p:txBody>
      </p:sp>
      <p:sp>
        <p:nvSpPr>
          <p:cNvPr id="34" name="TextBox 33"/>
          <p:cNvSpPr txBox="1"/>
          <p:nvPr/>
        </p:nvSpPr>
        <p:spPr>
          <a:xfrm>
            <a:off x="521208" y="3010662"/>
            <a:ext cx="3771900" cy="228524"/>
          </a:xfrm>
          <a:prstGeom prst="rect">
            <a:avLst/>
          </a:prstGeom>
          <a:noFill/>
        </p:spPr>
        <p:txBody>
          <a:bodyPr wrap="square" lIns="10287" tIns="10287" rIns="10287" bIns="10287">
            <a:spAutoFit/>
          </a:bodyPr>
          <a:lstStyle/>
          <a:p>
            <a:pPr>
              <a:spcAft>
                <a:spcPts val="375"/>
              </a:spcAft>
              <a:defRPr sz="1800" b="1">
                <a:solidFill>
                  <a:srgbClr val="172941"/>
                </a:solidFill>
                <a:latin typeface="Arial"/>
              </a:defRPr>
            </a:pPr>
            <a:r>
              <a:rPr sz="1350" cap="none">
                <a:latin typeface="Arial"/>
              </a:rPr>
              <a:t>How soon does the answer start?</a:t>
            </a:r>
          </a:p>
        </p:txBody>
      </p:sp>
      <p:sp>
        <p:nvSpPr>
          <p:cNvPr id="35" name="TextBox 34"/>
          <p:cNvSpPr txBox="1"/>
          <p:nvPr/>
        </p:nvSpPr>
        <p:spPr>
          <a:xfrm>
            <a:off x="521208"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dirty="0">
                <a:latin typeface="Arial"/>
              </a:rPr>
              <a:t>Prefill processes the input and is often compute-bound.</a:t>
            </a:r>
          </a:p>
        </p:txBody>
      </p:sp>
      <p:sp>
        <p:nvSpPr>
          <p:cNvPr id="36" name="TextBox 35"/>
          <p:cNvSpPr txBox="1"/>
          <p:nvPr/>
        </p:nvSpPr>
        <p:spPr>
          <a:xfrm>
            <a:off x="4793742" y="2674620"/>
            <a:ext cx="37719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 ITL / TPOT</a:t>
            </a:r>
          </a:p>
        </p:txBody>
      </p:sp>
      <p:sp>
        <p:nvSpPr>
          <p:cNvPr id="37" name="TextBox 36"/>
          <p:cNvSpPr txBox="1"/>
          <p:nvPr/>
        </p:nvSpPr>
        <p:spPr>
          <a:xfrm>
            <a:off x="4793742" y="3010661"/>
            <a:ext cx="3771900" cy="205441"/>
          </a:xfrm>
          <a:prstGeom prst="rect">
            <a:avLst/>
          </a:prstGeom>
          <a:noFill/>
        </p:spPr>
        <p:txBody>
          <a:bodyPr wrap="square" lIns="10287" tIns="10287" rIns="10287" bIns="10287">
            <a:spAutoFit/>
          </a:bodyPr>
          <a:lstStyle/>
          <a:p>
            <a:pPr>
              <a:spcAft>
                <a:spcPts val="375"/>
              </a:spcAft>
              <a:defRPr sz="1600" b="1">
                <a:solidFill>
                  <a:srgbClr val="172941"/>
                </a:solidFill>
                <a:latin typeface="Arial"/>
              </a:defRPr>
            </a:pPr>
            <a:r>
              <a:rPr sz="1200" cap="none">
                <a:latin typeface="Arial"/>
              </a:rPr>
              <a:t>Does the answer keep flowing smoothly?</a:t>
            </a:r>
          </a:p>
        </p:txBody>
      </p:sp>
      <p:sp>
        <p:nvSpPr>
          <p:cNvPr id="38" name="TextBox 37"/>
          <p:cNvSpPr txBox="1"/>
          <p:nvPr/>
        </p:nvSpPr>
        <p:spPr>
          <a:xfrm>
            <a:off x="4793742"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dirty="0">
                <a:latin typeface="Arial"/>
              </a:rPr>
              <a:t>Decode generates tokens and is often memory-bandwidth-bound.</a:t>
            </a:r>
          </a:p>
        </p:txBody>
      </p:sp>
      <p:sp>
        <p:nvSpPr>
          <p:cNvPr id="39" name="TextBox 38"/>
          <p:cNvSpPr txBox="1"/>
          <p:nvPr/>
        </p:nvSpPr>
        <p:spPr>
          <a:xfrm>
            <a:off x="445770" y="416280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dirty="0">
                <a:latin typeface="Arial"/>
              </a:rPr>
              <a:t>TTFT also includes delivery; ITL is not just decode time. TPOT = avg. time per output token. Sources: </a:t>
            </a:r>
            <a:r>
              <a:rPr sz="825" cap="none" dirty="0" err="1">
                <a:latin typeface="Arial"/>
              </a:rPr>
              <a:t>vLLM</a:t>
            </a:r>
            <a:r>
              <a:rPr sz="825" cap="none" dirty="0">
                <a:latin typeface="Arial"/>
              </a:rPr>
              <a:t>; NVIDIA Dynamo.</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D169D348-B678-52F2-9658-8DF9984D4975}" type="slidenum">
              <a:rPr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shared capacity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shared pool ties two capacity decisions together</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 shared pool is simple, but prefill bursts compete with active decoding.</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We must decide how to run each phase and how much shared capacity to add.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77340"/>
            <a:ext cx="4903470"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755649"/>
            <a:ext cx="4526280" cy="216982"/>
          </a:xfrm>
          <a:prstGeom prst="rect">
            <a:avLst/>
          </a:prstGeom>
          <a:noFill/>
        </p:spPr>
        <p:txBody>
          <a:bodyPr wrap="square" lIns="10287" tIns="10287" rIns="10287" bIns="10287">
            <a:spAutoFit/>
          </a:bodyPr>
          <a:lstStyle/>
          <a:p>
            <a:pPr>
              <a:spcAft>
                <a:spcPts val="375"/>
              </a:spcAft>
              <a:defRPr sz="1700" b="1">
                <a:solidFill>
                  <a:srgbClr val="2563EB"/>
                </a:solidFill>
                <a:latin typeface="Arial"/>
              </a:defRPr>
            </a:pPr>
            <a:r>
              <a:rPr sz="1275" cap="none">
                <a:latin typeface="Arial"/>
              </a:rPr>
              <a:t>Shared GPU pool</a:t>
            </a:r>
          </a:p>
        </p:txBody>
      </p:sp>
      <p:sp>
        <p:nvSpPr>
          <p:cNvPr id="12" name="Rounded Rectangle 11"/>
          <p:cNvSpPr/>
          <p:nvPr/>
        </p:nvSpPr>
        <p:spPr>
          <a:xfrm>
            <a:off x="58978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ounded Rectangle 12"/>
          <p:cNvSpPr/>
          <p:nvPr/>
        </p:nvSpPr>
        <p:spPr>
          <a:xfrm>
            <a:off x="67208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72009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5" name="Rounded Rectangle 14"/>
          <p:cNvSpPr/>
          <p:nvPr/>
        </p:nvSpPr>
        <p:spPr>
          <a:xfrm>
            <a:off x="67208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72009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17" name="Rounded Rectangle 16"/>
          <p:cNvSpPr/>
          <p:nvPr/>
        </p:nvSpPr>
        <p:spPr>
          <a:xfrm>
            <a:off x="209854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Rounded Rectangle 17"/>
          <p:cNvSpPr/>
          <p:nvPr/>
        </p:nvSpPr>
        <p:spPr>
          <a:xfrm>
            <a:off x="218084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22885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0" name="Rounded Rectangle 19"/>
          <p:cNvSpPr/>
          <p:nvPr/>
        </p:nvSpPr>
        <p:spPr>
          <a:xfrm>
            <a:off x="218084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222885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2" name="Rounded Rectangle 21"/>
          <p:cNvSpPr/>
          <p:nvPr/>
        </p:nvSpPr>
        <p:spPr>
          <a:xfrm>
            <a:off x="360730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ounded Rectangle 22"/>
          <p:cNvSpPr/>
          <p:nvPr/>
        </p:nvSpPr>
        <p:spPr>
          <a:xfrm>
            <a:off x="368960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373761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5" name="Rounded Rectangle 24"/>
          <p:cNvSpPr/>
          <p:nvPr/>
        </p:nvSpPr>
        <p:spPr>
          <a:xfrm>
            <a:off x="368960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73761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7" name="TextBox 26"/>
          <p:cNvSpPr txBox="1"/>
          <p:nvPr/>
        </p:nvSpPr>
        <p:spPr>
          <a:xfrm>
            <a:off x="562356" y="3607309"/>
            <a:ext cx="445770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One deployment scales both phases together.</a:t>
            </a:r>
          </a:p>
        </p:txBody>
      </p:sp>
      <p:sp>
        <p:nvSpPr>
          <p:cNvPr id="28" name="Rounded Rectangle 27"/>
          <p:cNvSpPr/>
          <p:nvPr/>
        </p:nvSpPr>
        <p:spPr>
          <a:xfrm>
            <a:off x="5520690" y="1577340"/>
            <a:ext cx="3236976"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5644134" y="1714500"/>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657851" y="1851659"/>
            <a:ext cx="2962655"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cap="none">
                <a:latin typeface="Arial"/>
              </a:rPr>
              <a:t>Where is the trade-off?</a:t>
            </a:r>
          </a:p>
        </p:txBody>
      </p:sp>
      <p:sp>
        <p:nvSpPr>
          <p:cNvPr id="31" name="TextBox 30"/>
          <p:cNvSpPr txBox="1"/>
          <p:nvPr/>
        </p:nvSpPr>
        <p:spPr>
          <a:xfrm>
            <a:off x="5657851" y="2304289"/>
            <a:ext cx="2962655" cy="1219821"/>
          </a:xfrm>
          <a:prstGeom prst="rect">
            <a:avLst/>
          </a:prstGeom>
          <a:noFill/>
        </p:spPr>
        <p:txBody>
          <a:bodyPr wrap="square" lIns="10287" tIns="10287" rIns="10287" bIns="10287">
            <a:spAutoFit/>
          </a:bodyPr>
          <a:lstStyle/>
          <a:p>
            <a:pPr>
              <a:spcAft>
                <a:spcPts val="375"/>
              </a:spcAft>
              <a:defRPr sz="1900" b="0">
                <a:solidFill>
                  <a:srgbClr val="172941"/>
                </a:solidFill>
                <a:latin typeface="Arial"/>
              </a:defRPr>
            </a:pPr>
            <a:r>
              <a:rPr sz="1425" cap="none">
                <a:latin typeface="Arial"/>
              </a:rPr>
              <a:t>Prompt bursts can disrupt token delivery.</a:t>
            </a:r>
          </a:p>
          <a:p>
            <a:pPr>
              <a:spcAft>
                <a:spcPts val="375"/>
              </a:spcAft>
              <a:defRPr sz="1900" b="0">
                <a:solidFill>
                  <a:srgbClr val="172941"/>
                </a:solidFill>
                <a:latin typeface="Arial"/>
              </a:defRPr>
            </a:pPr>
            <a:endParaRPr sz="1425"/>
          </a:p>
          <a:p>
            <a:pPr>
              <a:spcAft>
                <a:spcPts val="375"/>
              </a:spcAft>
              <a:defRPr sz="1900" b="0">
                <a:solidFill>
                  <a:srgbClr val="172941"/>
                </a:solidFill>
                <a:latin typeface="Arial"/>
              </a:defRPr>
            </a:pPr>
            <a:r>
              <a:rPr sz="1425" cap="none">
                <a:latin typeface="Arial"/>
              </a:rPr>
              <a:t>Adding a replica adds both phases, even if only one is busy.</a:t>
            </a:r>
          </a:p>
        </p:txBody>
      </p:sp>
      <p:sp>
        <p:nvSpPr>
          <p:cNvPr id="32" name="TextBox 3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428DA5E-1BFD-54E8-B3C9-4F5FB8E58F81}" type="slidenum">
              <a:rPr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execution interference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Long prefills can interrupt token delivery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 is ongoing decode. P is prefill for a new request. Where should P run?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Separate GPUs remove this execution conflict, but not every source of latency.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schedule · Not a benchmark · Block widths and gaps are not timings</a:t>
            </a:r>
          </a:p>
        </p:txBody>
      </p:sp>
      <p:sp>
        <p:nvSpPr>
          <p:cNvPr id="11" name="Rounded Rectangle 10"/>
          <p:cNvSpPr/>
          <p:nvPr/>
        </p:nvSpPr>
        <p:spPr>
          <a:xfrm>
            <a:off x="377190" y="1769364"/>
            <a:ext cx="8387334" cy="8709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21208" y="19202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Shared GPU</a:t>
            </a:r>
          </a:p>
        </p:txBody>
      </p:sp>
      <p:sp>
        <p:nvSpPr>
          <p:cNvPr id="13" name="TextBox 12"/>
          <p:cNvSpPr txBox="1"/>
          <p:nvPr/>
        </p:nvSpPr>
        <p:spPr>
          <a:xfrm>
            <a:off x="521208" y="2256283"/>
            <a:ext cx="1817370"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One worker does both</a:t>
            </a:r>
          </a:p>
        </p:txBody>
      </p:sp>
      <p:sp>
        <p:nvSpPr>
          <p:cNvPr id="14" name="Rounded Rectangle 13"/>
          <p:cNvSpPr/>
          <p:nvPr/>
        </p:nvSpPr>
        <p:spPr>
          <a:xfrm>
            <a:off x="257175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259232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6" name="Rounded Rectangle 15"/>
          <p:cNvSpPr/>
          <p:nvPr/>
        </p:nvSpPr>
        <p:spPr>
          <a:xfrm>
            <a:off x="34632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4838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8" name="Rounded Rectangle 17"/>
          <p:cNvSpPr/>
          <p:nvPr/>
        </p:nvSpPr>
        <p:spPr>
          <a:xfrm>
            <a:off x="4354830" y="2119122"/>
            <a:ext cx="2057400" cy="33604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4375404" y="2180844"/>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20" name="Rounded Rectangle 19"/>
          <p:cNvSpPr/>
          <p:nvPr/>
        </p:nvSpPr>
        <p:spPr>
          <a:xfrm>
            <a:off x="65493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65699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2" name="Rounded Rectangle 21"/>
          <p:cNvSpPr/>
          <p:nvPr/>
        </p:nvSpPr>
        <p:spPr>
          <a:xfrm>
            <a:off x="744093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746150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4" name="TextBox 23"/>
          <p:cNvSpPr txBox="1"/>
          <p:nvPr/>
        </p:nvSpPr>
        <p:spPr>
          <a:xfrm>
            <a:off x="4272534" y="1837944"/>
            <a:ext cx="2228850" cy="193899"/>
          </a:xfrm>
          <a:prstGeom prst="rect">
            <a:avLst/>
          </a:prstGeom>
          <a:noFill/>
        </p:spPr>
        <p:txBody>
          <a:bodyPr wrap="square" lIns="10287" tIns="10287" rIns="10287" bIns="10287">
            <a:spAutoFit/>
          </a:bodyPr>
          <a:lstStyle/>
          <a:p>
            <a:pPr algn="ctr">
              <a:spcAft>
                <a:spcPts val="375"/>
              </a:spcAft>
              <a:defRPr sz="1500" b="1">
                <a:solidFill>
                  <a:srgbClr val="AE641A"/>
                </a:solidFill>
                <a:latin typeface="Arial"/>
              </a:defRPr>
            </a:pPr>
            <a:r>
              <a:rPr sz="1125" cap="none">
                <a:latin typeface="Arial"/>
              </a:rPr>
              <a:t>Prefill can pause decode.</a:t>
            </a:r>
          </a:p>
        </p:txBody>
      </p:sp>
      <p:sp>
        <p:nvSpPr>
          <p:cNvPr id="25" name="Rounded Rectangle 24"/>
          <p:cNvSpPr/>
          <p:nvPr/>
        </p:nvSpPr>
        <p:spPr>
          <a:xfrm>
            <a:off x="377190" y="2784347"/>
            <a:ext cx="8387334" cy="122758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21208" y="29489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Separate GPUs</a:t>
            </a:r>
          </a:p>
        </p:txBody>
      </p:sp>
      <p:sp>
        <p:nvSpPr>
          <p:cNvPr id="27" name="TextBox 26"/>
          <p:cNvSpPr txBox="1"/>
          <p:nvPr/>
        </p:nvSpPr>
        <p:spPr>
          <a:xfrm>
            <a:off x="521208" y="3326131"/>
            <a:ext cx="1817370"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Prefill worker</a:t>
            </a:r>
          </a:p>
        </p:txBody>
      </p:sp>
      <p:sp>
        <p:nvSpPr>
          <p:cNvPr id="28" name="TextBox 27"/>
          <p:cNvSpPr txBox="1"/>
          <p:nvPr/>
        </p:nvSpPr>
        <p:spPr>
          <a:xfrm>
            <a:off x="521208" y="3675889"/>
            <a:ext cx="181737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Decode worker</a:t>
            </a:r>
          </a:p>
        </p:txBody>
      </p:sp>
      <p:sp>
        <p:nvSpPr>
          <p:cNvPr id="29" name="Rounded Rectangle 28"/>
          <p:cNvSpPr/>
          <p:nvPr/>
        </p:nvSpPr>
        <p:spPr>
          <a:xfrm>
            <a:off x="4354830" y="3257550"/>
            <a:ext cx="205740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4375404" y="3298698"/>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31" name="TextBox 30"/>
          <p:cNvSpPr txBox="1"/>
          <p:nvPr/>
        </p:nvSpPr>
        <p:spPr>
          <a:xfrm>
            <a:off x="6563106" y="3298698"/>
            <a:ext cx="1920240" cy="170816"/>
          </a:xfrm>
          <a:prstGeom prst="rect">
            <a:avLst/>
          </a:prstGeom>
          <a:noFill/>
        </p:spPr>
        <p:txBody>
          <a:bodyPr wrap="square" lIns="10287" tIns="10287" rIns="10287" bIns="10287">
            <a:spAutoFit/>
          </a:bodyPr>
          <a:lstStyle/>
          <a:p>
            <a:pPr>
              <a:spcAft>
                <a:spcPts val="375"/>
              </a:spcAft>
              <a:defRPr sz="1300" b="0">
                <a:solidFill>
                  <a:srgbClr val="AE641A"/>
                </a:solidFill>
                <a:latin typeface="Arial"/>
              </a:defRPr>
            </a:pPr>
            <a:r>
              <a:rPr sz="975" b="1" cap="none" dirty="0">
                <a:latin typeface="Arial"/>
              </a:rPr>
              <a:t>We still need a KV handoff.</a:t>
            </a:r>
          </a:p>
        </p:txBody>
      </p:sp>
      <p:sp>
        <p:nvSpPr>
          <p:cNvPr id="32" name="Rounded Rectangle 31"/>
          <p:cNvSpPr/>
          <p:nvPr/>
        </p:nvSpPr>
        <p:spPr>
          <a:xfrm>
            <a:off x="25717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25854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4" name="Rounded Rectangle 33"/>
          <p:cNvSpPr/>
          <p:nvPr/>
        </p:nvSpPr>
        <p:spPr>
          <a:xfrm>
            <a:off x="34632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347700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6" name="Rounded Rectangle 35"/>
          <p:cNvSpPr/>
          <p:nvPr/>
        </p:nvSpPr>
        <p:spPr>
          <a:xfrm>
            <a:off x="435483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436854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8" name="Rounded Rectangle 37"/>
          <p:cNvSpPr/>
          <p:nvPr/>
        </p:nvSpPr>
        <p:spPr>
          <a:xfrm>
            <a:off x="524637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26008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0" name="Rounded Rectangle 39"/>
          <p:cNvSpPr/>
          <p:nvPr/>
        </p:nvSpPr>
        <p:spPr>
          <a:xfrm>
            <a:off x="6137909"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615162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2" name="Rounded Rectangle 41"/>
          <p:cNvSpPr/>
          <p:nvPr/>
        </p:nvSpPr>
        <p:spPr>
          <a:xfrm>
            <a:off x="70294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70431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4" name="Rounded Rectangle 43"/>
          <p:cNvSpPr/>
          <p:nvPr/>
        </p:nvSpPr>
        <p:spPr>
          <a:xfrm>
            <a:off x="79209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793470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6" name="TextBox 45"/>
          <p:cNvSpPr txBox="1"/>
          <p:nvPr/>
        </p:nvSpPr>
        <p:spPr>
          <a:xfrm>
            <a:off x="2571750" y="2900934"/>
            <a:ext cx="5932170"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Decode can continue while prefill runs elsewhere.</a:t>
            </a:r>
          </a:p>
        </p:txBody>
      </p:sp>
      <p:sp>
        <p:nvSpPr>
          <p:cNvPr id="47" name="TextBox 46"/>
          <p:cNvSpPr txBox="1"/>
          <p:nvPr/>
        </p:nvSpPr>
        <p:spPr>
          <a:xfrm>
            <a:off x="445770" y="4094226"/>
            <a:ext cx="8195310"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D = decode step; P = prefill for a new request. Chunked prefill can reduce shared-GPU pauses.</a:t>
            </a:r>
          </a:p>
        </p:txBody>
      </p:sp>
      <p:sp>
        <p:nvSpPr>
          <p:cNvPr id="48" name="TextBox 47"/>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49" name="TextBox 4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B4C7E29-4AB2-5620-8B05-D5887A69BEA0}" type="slidenum">
              <a:rPr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batching units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Prefill and decode batch different work</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batches prompt positions; ordinary decode batches independent requests.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gets parallel work from prompt length; decode gets it from active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illustration · Not a benchmark · Tokens and request counts are schematic</a:t>
            </a:r>
          </a:p>
        </p:txBody>
      </p:sp>
      <p:sp>
        <p:nvSpPr>
          <p:cNvPr id="11" name="Rounded Rectangle 10"/>
          <p:cNvSpPr/>
          <p:nvPr/>
        </p:nvSpPr>
        <p:spPr>
          <a:xfrm>
            <a:off x="377190"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Rectangle 11"/>
          <p:cNvSpPr/>
          <p:nvPr/>
        </p:nvSpPr>
        <p:spPr>
          <a:xfrm>
            <a:off x="500634" y="1927098"/>
            <a:ext cx="48006" cy="2743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630936" y="1892809"/>
            <a:ext cx="3682746" cy="297774"/>
          </a:xfrm>
          <a:prstGeom prst="rect">
            <a:avLst/>
          </a:prstGeom>
          <a:noFill/>
        </p:spPr>
        <p:txBody>
          <a:bodyPr wrap="square" lIns="10287" tIns="10287" rIns="10287" bIns="10287">
            <a:spAutoFit/>
          </a:bodyPr>
          <a:lstStyle/>
          <a:p>
            <a:pPr>
              <a:spcAft>
                <a:spcPts val="375"/>
              </a:spcAft>
              <a:defRPr sz="2400" b="1">
                <a:solidFill>
                  <a:srgbClr val="087F8C"/>
                </a:solidFill>
                <a:latin typeface="Arial"/>
              </a:defRPr>
            </a:pPr>
            <a:r>
              <a:rPr sz="1800" cap="none">
                <a:latin typeface="Arial"/>
              </a:rPr>
              <a:t>Prefill</a:t>
            </a:r>
          </a:p>
        </p:txBody>
      </p:sp>
      <p:sp>
        <p:nvSpPr>
          <p:cNvPr id="14" name="TextBox 13"/>
          <p:cNvSpPr txBox="1"/>
          <p:nvPr/>
        </p:nvSpPr>
        <p:spPr>
          <a:xfrm>
            <a:off x="528066"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dirty="0">
                <a:latin typeface="Arial"/>
              </a:rPr>
              <a:t>process many input positions in one pass.</a:t>
            </a:r>
          </a:p>
        </p:txBody>
      </p:sp>
      <p:sp>
        <p:nvSpPr>
          <p:cNvPr id="15" name="Rounded Rectangle 14"/>
          <p:cNvSpPr/>
          <p:nvPr/>
        </p:nvSpPr>
        <p:spPr>
          <a:xfrm>
            <a:off x="4656582"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80026" y="1927098"/>
            <a:ext cx="48006" cy="274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910328" y="1892809"/>
            <a:ext cx="3682746" cy="297774"/>
          </a:xfrm>
          <a:prstGeom prst="rect">
            <a:avLst/>
          </a:prstGeom>
          <a:noFill/>
        </p:spPr>
        <p:txBody>
          <a:bodyPr wrap="square" lIns="10287" tIns="10287" rIns="10287" bIns="10287">
            <a:spAutoFit/>
          </a:bodyPr>
          <a:lstStyle/>
          <a:p>
            <a:pPr>
              <a:spcAft>
                <a:spcPts val="375"/>
              </a:spcAft>
              <a:defRPr sz="2400" b="1">
                <a:solidFill>
                  <a:srgbClr val="7354B8"/>
                </a:solidFill>
                <a:latin typeface="Arial"/>
              </a:defRPr>
            </a:pPr>
            <a:r>
              <a:rPr sz="1800" cap="none">
                <a:latin typeface="Arial"/>
              </a:rPr>
              <a:t>Decode</a:t>
            </a:r>
          </a:p>
        </p:txBody>
      </p:sp>
      <p:sp>
        <p:nvSpPr>
          <p:cNvPr id="18" name="TextBox 17"/>
          <p:cNvSpPr txBox="1"/>
          <p:nvPr/>
        </p:nvSpPr>
        <p:spPr>
          <a:xfrm>
            <a:off x="4807458"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dirty="0">
                <a:latin typeface="Arial"/>
              </a:rPr>
              <a:t>consume one new token per active request.</a:t>
            </a:r>
          </a:p>
        </p:txBody>
      </p:sp>
      <p:sp>
        <p:nvSpPr>
          <p:cNvPr id="19" name="TextBox 18"/>
          <p:cNvSpPr txBox="1"/>
          <p:nvPr/>
        </p:nvSpPr>
        <p:spPr>
          <a:xfrm>
            <a:off x="534924" y="2743200"/>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A</a:t>
            </a:r>
          </a:p>
        </p:txBody>
      </p:sp>
      <p:sp>
        <p:nvSpPr>
          <p:cNvPr id="20" name="Rounded Rectangle 19"/>
          <p:cNvSpPr/>
          <p:nvPr/>
        </p:nvSpPr>
        <p:spPr>
          <a:xfrm>
            <a:off x="157048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58076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p1</a:t>
            </a:r>
          </a:p>
        </p:txBody>
      </p:sp>
      <p:sp>
        <p:nvSpPr>
          <p:cNvPr id="22" name="Rounded Rectangle 21"/>
          <p:cNvSpPr/>
          <p:nvPr/>
        </p:nvSpPr>
        <p:spPr>
          <a:xfrm>
            <a:off x="211912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212940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p2</a:t>
            </a:r>
          </a:p>
        </p:txBody>
      </p:sp>
      <p:sp>
        <p:nvSpPr>
          <p:cNvPr id="24" name="Rounded Rectangle 23"/>
          <p:cNvSpPr/>
          <p:nvPr/>
        </p:nvSpPr>
        <p:spPr>
          <a:xfrm>
            <a:off x="266776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7804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p3</a:t>
            </a:r>
          </a:p>
        </p:txBody>
      </p:sp>
      <p:sp>
        <p:nvSpPr>
          <p:cNvPr id="26" name="Rounded Rectangle 25"/>
          <p:cNvSpPr/>
          <p:nvPr/>
        </p:nvSpPr>
        <p:spPr>
          <a:xfrm>
            <a:off x="321640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322668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p4</a:t>
            </a:r>
          </a:p>
        </p:txBody>
      </p:sp>
      <p:sp>
        <p:nvSpPr>
          <p:cNvPr id="28" name="TextBox 27"/>
          <p:cNvSpPr txBox="1"/>
          <p:nvPr/>
        </p:nvSpPr>
        <p:spPr>
          <a:xfrm>
            <a:off x="534924" y="3140963"/>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B</a:t>
            </a:r>
          </a:p>
        </p:txBody>
      </p:sp>
      <p:sp>
        <p:nvSpPr>
          <p:cNvPr id="29" name="Rounded Rectangle 28"/>
          <p:cNvSpPr/>
          <p:nvPr/>
        </p:nvSpPr>
        <p:spPr>
          <a:xfrm>
            <a:off x="157048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158076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q1</a:t>
            </a:r>
          </a:p>
        </p:txBody>
      </p:sp>
      <p:sp>
        <p:nvSpPr>
          <p:cNvPr id="31" name="Rounded Rectangle 30"/>
          <p:cNvSpPr/>
          <p:nvPr/>
        </p:nvSpPr>
        <p:spPr>
          <a:xfrm>
            <a:off x="211912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212940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q2</a:t>
            </a:r>
          </a:p>
        </p:txBody>
      </p:sp>
      <p:sp>
        <p:nvSpPr>
          <p:cNvPr id="33" name="Rounded Rectangle 32"/>
          <p:cNvSpPr/>
          <p:nvPr/>
        </p:nvSpPr>
        <p:spPr>
          <a:xfrm>
            <a:off x="266776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267804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q3</a:t>
            </a:r>
          </a:p>
        </p:txBody>
      </p:sp>
      <p:sp>
        <p:nvSpPr>
          <p:cNvPr id="35" name="TextBox 34"/>
          <p:cNvSpPr txBox="1"/>
          <p:nvPr/>
        </p:nvSpPr>
        <p:spPr>
          <a:xfrm>
            <a:off x="541782" y="3621025"/>
            <a:ext cx="3730752"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dirty="0">
                <a:latin typeface="Arial"/>
              </a:rPr>
              <a:t>batch positions from multiple prompts.</a:t>
            </a:r>
          </a:p>
        </p:txBody>
      </p:sp>
      <p:sp>
        <p:nvSpPr>
          <p:cNvPr id="36" name="TextBox 35"/>
          <p:cNvSpPr txBox="1"/>
          <p:nvPr/>
        </p:nvSpPr>
        <p:spPr>
          <a:xfrm>
            <a:off x="4814316" y="2578608"/>
            <a:ext cx="939546"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Request</a:t>
            </a:r>
          </a:p>
        </p:txBody>
      </p:sp>
      <p:sp>
        <p:nvSpPr>
          <p:cNvPr id="37" name="TextBox 36"/>
          <p:cNvSpPr txBox="1"/>
          <p:nvPr/>
        </p:nvSpPr>
        <p:spPr>
          <a:xfrm>
            <a:off x="5774436" y="2578608"/>
            <a:ext cx="898398"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Read history</a:t>
            </a:r>
          </a:p>
        </p:txBody>
      </p:sp>
      <p:sp>
        <p:nvSpPr>
          <p:cNvPr id="38" name="TextBox 37"/>
          <p:cNvSpPr txBox="1"/>
          <p:nvPr/>
        </p:nvSpPr>
        <p:spPr>
          <a:xfrm>
            <a:off x="6933438" y="2578608"/>
            <a:ext cx="1611630"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Consume newest input</a:t>
            </a:r>
          </a:p>
        </p:txBody>
      </p:sp>
      <p:sp>
        <p:nvSpPr>
          <p:cNvPr id="39" name="TextBox 38"/>
          <p:cNvSpPr txBox="1"/>
          <p:nvPr/>
        </p:nvSpPr>
        <p:spPr>
          <a:xfrm>
            <a:off x="4814316" y="2839211"/>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a:t>
            </a:r>
          </a:p>
        </p:txBody>
      </p:sp>
      <p:sp>
        <p:nvSpPr>
          <p:cNvPr id="40" name="Rounded Rectangle 39"/>
          <p:cNvSpPr/>
          <p:nvPr/>
        </p:nvSpPr>
        <p:spPr>
          <a:xfrm>
            <a:off x="5760720" y="2811779"/>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5781294" y="2835783"/>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2" name="TextBox 41"/>
          <p:cNvSpPr txBox="1"/>
          <p:nvPr/>
        </p:nvSpPr>
        <p:spPr>
          <a:xfrm>
            <a:off x="6665976" y="2825495"/>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3" name="Rounded Rectangle 42"/>
          <p:cNvSpPr/>
          <p:nvPr/>
        </p:nvSpPr>
        <p:spPr>
          <a:xfrm>
            <a:off x="6947154" y="2811779"/>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6967728" y="2835783"/>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45" name="TextBox 44"/>
          <p:cNvSpPr txBox="1"/>
          <p:nvPr/>
        </p:nvSpPr>
        <p:spPr>
          <a:xfrm>
            <a:off x="4814316" y="3168396"/>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B</a:t>
            </a:r>
          </a:p>
        </p:txBody>
      </p:sp>
      <p:sp>
        <p:nvSpPr>
          <p:cNvPr id="46" name="Rounded Rectangle 45"/>
          <p:cNvSpPr/>
          <p:nvPr/>
        </p:nvSpPr>
        <p:spPr>
          <a:xfrm>
            <a:off x="5760720" y="3140964"/>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5781294" y="3164967"/>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8" name="TextBox 47"/>
          <p:cNvSpPr txBox="1"/>
          <p:nvPr/>
        </p:nvSpPr>
        <p:spPr>
          <a:xfrm>
            <a:off x="6665976" y="3154680"/>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9" name="Rounded Rectangle 48"/>
          <p:cNvSpPr/>
          <p:nvPr/>
        </p:nvSpPr>
        <p:spPr>
          <a:xfrm>
            <a:off x="6947154" y="3140964"/>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0" name="TextBox 49"/>
          <p:cNvSpPr txBox="1"/>
          <p:nvPr/>
        </p:nvSpPr>
        <p:spPr>
          <a:xfrm>
            <a:off x="6967728" y="3164967"/>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1" name="TextBox 50"/>
          <p:cNvSpPr txBox="1"/>
          <p:nvPr/>
        </p:nvSpPr>
        <p:spPr>
          <a:xfrm>
            <a:off x="4814316" y="3497580"/>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C</a:t>
            </a:r>
          </a:p>
        </p:txBody>
      </p:sp>
      <p:sp>
        <p:nvSpPr>
          <p:cNvPr id="52" name="Rounded Rectangle 51"/>
          <p:cNvSpPr/>
          <p:nvPr/>
        </p:nvSpPr>
        <p:spPr>
          <a:xfrm>
            <a:off x="5760720" y="3470148"/>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5781294" y="3494151"/>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54" name="TextBox 53"/>
          <p:cNvSpPr txBox="1"/>
          <p:nvPr/>
        </p:nvSpPr>
        <p:spPr>
          <a:xfrm>
            <a:off x="6665976" y="3483863"/>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55" name="Rounded Rectangle 54"/>
          <p:cNvSpPr/>
          <p:nvPr/>
        </p:nvSpPr>
        <p:spPr>
          <a:xfrm>
            <a:off x="6947154" y="3470148"/>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6" name="TextBox 55"/>
          <p:cNvSpPr txBox="1"/>
          <p:nvPr/>
        </p:nvSpPr>
        <p:spPr>
          <a:xfrm>
            <a:off x="6967728" y="3494151"/>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7" name="TextBox 56"/>
          <p:cNvSpPr txBox="1"/>
          <p:nvPr/>
        </p:nvSpPr>
        <p:spPr>
          <a:xfrm>
            <a:off x="4814316" y="3833623"/>
            <a:ext cx="3737610" cy="159274"/>
          </a:xfrm>
          <a:prstGeom prst="rect">
            <a:avLst/>
          </a:prstGeom>
          <a:noFill/>
        </p:spPr>
        <p:txBody>
          <a:bodyPr wrap="square" lIns="10287" tIns="10287" rIns="10287" bIns="10287">
            <a:spAutoFit/>
          </a:bodyPr>
          <a:lstStyle/>
          <a:p>
            <a:pPr>
              <a:spcAft>
                <a:spcPts val="375"/>
              </a:spcAft>
              <a:defRPr sz="1200" b="1">
                <a:solidFill>
                  <a:srgbClr val="7354B8"/>
                </a:solidFill>
                <a:latin typeface="Arial"/>
              </a:defRPr>
            </a:pPr>
            <a:r>
              <a:rPr sz="900" cap="none">
                <a:latin typeface="Arial"/>
              </a:rPr>
              <a:t>Then we select each request’s next output token.</a:t>
            </a:r>
          </a:p>
        </p:txBody>
      </p:sp>
      <p:sp>
        <p:nvSpPr>
          <p:cNvPr id="58" name="TextBox 57"/>
          <p:cNvSpPr txBox="1"/>
          <p:nvPr/>
        </p:nvSpPr>
        <p:spPr>
          <a:xfrm>
            <a:off x="445770" y="4107942"/>
            <a:ext cx="8195310" cy="170816"/>
          </a:xfrm>
          <a:prstGeom prst="rect">
            <a:avLst/>
          </a:prstGeom>
          <a:noFill/>
        </p:spPr>
        <p:txBody>
          <a:bodyPr wrap="square" lIns="10287" tIns="10287" rIns="10287" bIns="10287">
            <a:spAutoFit/>
          </a:bodyPr>
          <a:lstStyle/>
          <a:p>
            <a:pPr>
              <a:spcAft>
                <a:spcPts val="375"/>
              </a:spcAft>
              <a:defRPr sz="1300" b="1">
                <a:solidFill>
                  <a:srgbClr val="AE641A"/>
                </a:solidFill>
                <a:latin typeface="Arial"/>
              </a:defRPr>
            </a:pPr>
            <a:r>
              <a:rPr sz="975" cap="none">
                <a:latin typeface="Arial"/>
              </a:rPr>
              <a:t>More decode concurrency can raise ITL. Stay within latency and KV-memory budgets.</a:t>
            </a:r>
          </a:p>
        </p:txBody>
      </p:sp>
      <p:sp>
        <p:nvSpPr>
          <p:cNvPr id="60" name="TextBox 5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344E89BC-B2E2-55EA-8424-6B46D6F453FE}" type="slidenum">
              <a:rPr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capacity control</a:t>
            </a:r>
          </a:p>
        </p:txBody>
      </p:sp>
      <p:sp>
        <p:nvSpPr>
          <p:cNvPr id="3" name="TextBox 2"/>
          <p:cNvSpPr txBox="1"/>
          <p:nvPr/>
        </p:nvSpPr>
        <p:spPr>
          <a:xfrm>
            <a:off x="365760" y="539496"/>
            <a:ext cx="7455567"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Separate </a:t>
            </a:r>
            <a:r>
              <a:rPr lang="en-US" sz="2100" b="1" cap="none" dirty="0">
                <a:solidFill>
                  <a:srgbClr val="142C46"/>
                </a:solidFill>
                <a:latin typeface="Arial"/>
              </a:rPr>
              <a:t>GPU </a:t>
            </a:r>
            <a:r>
              <a:rPr sz="2100" b="1" cap="none" dirty="0">
                <a:solidFill>
                  <a:srgbClr val="142C46"/>
                </a:solidFill>
                <a:latin typeface="Arial"/>
              </a:rPr>
              <a:t>pools let us tune each phase independently</a:t>
            </a:r>
          </a:p>
        </p:txBody>
      </p:sp>
      <p:sp>
        <p:nvSpPr>
          <p:cNvPr id="4" name="TextBox 3"/>
          <p:cNvSpPr txBox="1"/>
          <p:nvPr/>
        </p:nvSpPr>
        <p:spPr>
          <a:xfrm>
            <a:off x="384048" y="1033271"/>
            <a:ext cx="8321040" cy="205441"/>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lang="en-US" sz="1200" dirty="0">
                <a:solidFill>
                  <a:srgbClr val="52677D"/>
                </a:solidFill>
              </a:rPr>
              <a:t>real benefit is scaling prefill and decode independently to match demand—not simply splitting them into two deployments</a:t>
            </a:r>
            <a:endParaRPr sz="1200" cap="none" dirty="0">
              <a:solidFill>
                <a:srgbClr val="52677D"/>
              </a:solidFill>
              <a:latin typeface="Arial"/>
            </a:endParaRP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Split only if the gains outweigh KV transfer, extra weight copies and operating costs.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3813048"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Input side</a:t>
            </a:r>
          </a:p>
        </p:txBody>
      </p:sp>
      <p:sp>
        <p:nvSpPr>
          <p:cNvPr id="13" name="TextBox 12"/>
          <p:cNvSpPr txBox="1"/>
          <p:nvPr/>
        </p:nvSpPr>
        <p:spPr>
          <a:xfrm>
            <a:off x="514350" y="2146554"/>
            <a:ext cx="3813048"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Prompt-heavy demand</a:t>
            </a:r>
          </a:p>
        </p:txBody>
      </p:sp>
      <p:sp>
        <p:nvSpPr>
          <p:cNvPr id="14" name="TextBox 13"/>
          <p:cNvSpPr txBox="1"/>
          <p:nvPr/>
        </p:nvSpPr>
        <p:spPr>
          <a:xfrm>
            <a:off x="514350"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Prefill is often compute-bound.</a:t>
            </a:r>
          </a:p>
          <a:p>
            <a:pPr>
              <a:spcAft>
                <a:spcPts val="375"/>
              </a:spcAft>
              <a:defRPr sz="1800" b="0">
                <a:solidFill>
                  <a:srgbClr val="172941"/>
                </a:solidFill>
                <a:latin typeface="Arial"/>
              </a:defRPr>
            </a:pPr>
            <a:r>
              <a:rPr sz="1350" cap="none">
                <a:latin typeface="Arial"/>
              </a:rPr>
              <a:t>Tune its capacity and parallelism for TTFT.</a:t>
            </a:r>
          </a:p>
        </p:txBody>
      </p:sp>
      <p:sp>
        <p:nvSpPr>
          <p:cNvPr id="15" name="Rounded Rectangle 14"/>
          <p:cNvSpPr/>
          <p:nvPr/>
        </p:nvSpPr>
        <p:spPr>
          <a:xfrm>
            <a:off x="4649724"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786884" y="1865376"/>
            <a:ext cx="3813048"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Output side</a:t>
            </a:r>
          </a:p>
        </p:txBody>
      </p:sp>
      <p:sp>
        <p:nvSpPr>
          <p:cNvPr id="18" name="TextBox 17"/>
          <p:cNvSpPr txBox="1"/>
          <p:nvPr/>
        </p:nvSpPr>
        <p:spPr>
          <a:xfrm>
            <a:off x="4786884" y="2146554"/>
            <a:ext cx="3813048"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Generation-heavy demand</a:t>
            </a:r>
          </a:p>
        </p:txBody>
      </p:sp>
      <p:sp>
        <p:nvSpPr>
          <p:cNvPr id="19" name="TextBox 18"/>
          <p:cNvSpPr txBox="1"/>
          <p:nvPr/>
        </p:nvSpPr>
        <p:spPr>
          <a:xfrm>
            <a:off x="4786884"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dirty="0">
                <a:latin typeface="Arial"/>
              </a:rPr>
              <a:t>Decode is often </a:t>
            </a:r>
            <a:r>
              <a:rPr lang="en-US" sz="1350" cap="none" dirty="0">
                <a:latin typeface="Arial"/>
              </a:rPr>
              <a:t>memory-</a:t>
            </a:r>
            <a:r>
              <a:rPr sz="1350" cap="none" dirty="0">
                <a:latin typeface="Arial"/>
              </a:rPr>
              <a:t>bandwidth-bound.</a:t>
            </a:r>
          </a:p>
          <a:p>
            <a:pPr>
              <a:spcAft>
                <a:spcPts val="375"/>
              </a:spcAft>
              <a:defRPr sz="1800" b="0">
                <a:solidFill>
                  <a:srgbClr val="172941"/>
                </a:solidFill>
                <a:latin typeface="Arial"/>
              </a:defRPr>
            </a:pPr>
            <a:r>
              <a:rPr sz="1350" cap="none" dirty="0">
                <a:latin typeface="Arial"/>
              </a:rPr>
              <a:t>Tune its capacity and batching for ITL.</a:t>
            </a:r>
          </a:p>
        </p:txBody>
      </p:sp>
      <p:sp>
        <p:nvSpPr>
          <p:cNvPr id="20" name="Rounded Rectangle 19"/>
          <p:cNvSpPr/>
          <p:nvPr/>
        </p:nvSpPr>
        <p:spPr>
          <a:xfrm>
            <a:off x="445770"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445770" y="3442716"/>
            <a:ext cx="37719" cy="62407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548640" y="3463290"/>
            <a:ext cx="243459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Different latency targets</a:t>
            </a:r>
          </a:p>
        </p:txBody>
      </p:sp>
      <p:sp>
        <p:nvSpPr>
          <p:cNvPr id="23" name="TextBox 22"/>
          <p:cNvSpPr txBox="1"/>
          <p:nvPr/>
        </p:nvSpPr>
        <p:spPr>
          <a:xfrm>
            <a:off x="555498"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TTFT versus token delivery</a:t>
            </a:r>
          </a:p>
        </p:txBody>
      </p:sp>
      <p:sp>
        <p:nvSpPr>
          <p:cNvPr id="24" name="Rounded Rectangle 23"/>
          <p:cNvSpPr/>
          <p:nvPr/>
        </p:nvSpPr>
        <p:spPr>
          <a:xfrm>
            <a:off x="3250692"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250692" y="3442716"/>
            <a:ext cx="37719" cy="6240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353562" y="3463290"/>
            <a:ext cx="243459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Different resource needs</a:t>
            </a:r>
          </a:p>
        </p:txBody>
      </p:sp>
      <p:sp>
        <p:nvSpPr>
          <p:cNvPr id="27" name="TextBox 26"/>
          <p:cNvSpPr txBox="1"/>
          <p:nvPr/>
        </p:nvSpPr>
        <p:spPr>
          <a:xfrm>
            <a:off x="3360420"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bandwidth, active KV</a:t>
            </a:r>
          </a:p>
        </p:txBody>
      </p:sp>
      <p:sp>
        <p:nvSpPr>
          <p:cNvPr id="28" name="Rounded Rectangle 27"/>
          <p:cNvSpPr/>
          <p:nvPr/>
        </p:nvSpPr>
        <p:spPr>
          <a:xfrm>
            <a:off x="6055614"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6055614" y="3442716"/>
            <a:ext cx="37719" cy="62407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6158484" y="3463290"/>
            <a:ext cx="243459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dirty="0">
                <a:latin typeface="Arial"/>
              </a:rPr>
              <a:t>Different capacity </a:t>
            </a:r>
            <a:r>
              <a:rPr lang="en-US" sz="1350" cap="none" dirty="0">
                <a:latin typeface="Arial"/>
              </a:rPr>
              <a:t>needs</a:t>
            </a:r>
            <a:endParaRPr sz="1350" cap="none" dirty="0">
              <a:latin typeface="Arial"/>
            </a:endParaRPr>
          </a:p>
        </p:txBody>
      </p:sp>
      <p:sp>
        <p:nvSpPr>
          <p:cNvPr id="31" name="TextBox 30"/>
          <p:cNvSpPr txBox="1"/>
          <p:nvPr/>
        </p:nvSpPr>
        <p:spPr>
          <a:xfrm>
            <a:off x="6165342" y="3792474"/>
            <a:ext cx="2420874" cy="343940"/>
          </a:xfrm>
          <a:prstGeom prst="rect">
            <a:avLst/>
          </a:prstGeom>
          <a:noFill/>
        </p:spPr>
        <p:txBody>
          <a:bodyPr wrap="square" lIns="10287" tIns="10287" rIns="10287" bIns="10287">
            <a:spAutoFit/>
          </a:bodyPr>
          <a:lstStyle/>
          <a:p>
            <a:pPr marL="457200" indent="-298450" algn="ctr">
              <a:spcAft>
                <a:spcPts val="375"/>
              </a:spcAft>
              <a:buSzPts val="1100"/>
              <a:buFont typeface="Arial"/>
              <a:buChar char="●"/>
              <a:defRPr sz="1400" b="0">
                <a:solidFill>
                  <a:srgbClr val="586A80"/>
                </a:solidFill>
                <a:latin typeface="Arial"/>
              </a:defRPr>
            </a:pPr>
            <a:r>
              <a:rPr sz="1050" cap="none" dirty="0">
                <a:latin typeface="Arial"/>
              </a:rPr>
              <a:t>Replicas, </a:t>
            </a:r>
            <a:r>
              <a:rPr lang="en-US" altLang="zh-CN" sz="1050" dirty="0"/>
              <a:t>tensor parallelism</a:t>
            </a:r>
            <a:r>
              <a:rPr sz="1050" cap="none" dirty="0">
                <a:latin typeface="Arial"/>
              </a:rPr>
              <a:t>, batching policy</a:t>
            </a:r>
          </a:p>
        </p:txBody>
      </p:sp>
      <p:sp>
        <p:nvSpPr>
          <p:cNvPr id="32" name="TextBox 31"/>
          <p:cNvSpPr txBox="1"/>
          <p:nvPr/>
        </p:nvSpPr>
        <p:spPr>
          <a:xfrm>
            <a:off x="445770" y="4231386"/>
            <a:ext cx="809244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Sources: NVIDIA Dynamo disaggregated-serving overview + DistServe §2.3 • Conceptual; bottlenecks depend on workload</a:t>
            </a:r>
          </a:p>
        </p:txBody>
      </p:sp>
      <p:sp>
        <p:nvSpPr>
          <p:cNvPr id="33" name="TextBox 3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4"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08DF92D-F553-51E4-BFEF-426FDAA9E6C4}" type="slidenum">
              <a:rPr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orchestration gap</a:t>
            </a:r>
          </a:p>
        </p:txBody>
      </p:sp>
      <p:sp>
        <p:nvSpPr>
          <p:cNvPr id="3" name="TextBox 2"/>
          <p:cNvSpPr txBox="1"/>
          <p:nvPr/>
        </p:nvSpPr>
        <p:spPr>
          <a:xfrm>
            <a:off x="365760" y="539496"/>
            <a:ext cx="6859250"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The hard part is the Kubernetes wiring</a:t>
            </a:r>
            <a:r>
              <a:rPr lang="en-US" sz="2100" b="1" cap="none" dirty="0">
                <a:solidFill>
                  <a:srgbClr val="142C46"/>
                </a:solidFill>
                <a:latin typeface="Arial"/>
              </a:rPr>
              <a:t> to support P/D</a:t>
            </a:r>
            <a:endParaRPr sz="2100" b="1" cap="none" dirty="0">
              <a:solidFill>
                <a:srgbClr val="142C46"/>
              </a:solidFill>
              <a:latin typeface="Arial"/>
            </a:endParaRP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Two pools still have to work together as one model service.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KV transfer, labels, ports and readiness must stay in sync.</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05556" y="2352294"/>
            <a:ext cx="2537460" cy="7200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305556" y="2420874"/>
            <a:ext cx="37719" cy="58293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3408426" y="2441449"/>
            <a:ext cx="233172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One model service</a:t>
            </a:r>
          </a:p>
        </p:txBody>
      </p:sp>
      <p:sp>
        <p:nvSpPr>
          <p:cNvPr id="13" name="TextBox 12"/>
          <p:cNvSpPr txBox="1"/>
          <p:nvPr/>
        </p:nvSpPr>
        <p:spPr>
          <a:xfrm>
            <a:off x="3415284" y="2770633"/>
            <a:ext cx="231800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Both roles serve one model.</a:t>
            </a:r>
          </a:p>
        </p:txBody>
      </p:sp>
      <p:sp>
        <p:nvSpPr>
          <p:cNvPr id="14" name="Rounded Rectangle 13"/>
          <p:cNvSpPr/>
          <p:nvPr/>
        </p:nvSpPr>
        <p:spPr>
          <a:xfrm>
            <a:off x="377190"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77190" y="1645920"/>
            <a:ext cx="37719" cy="72009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80060" y="1666494"/>
            <a:ext cx="236601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Routing topology</a:t>
            </a:r>
          </a:p>
        </p:txBody>
      </p:sp>
      <p:sp>
        <p:nvSpPr>
          <p:cNvPr id="17" name="TextBox 16"/>
          <p:cNvSpPr txBox="1"/>
          <p:nvPr/>
        </p:nvSpPr>
        <p:spPr>
          <a:xfrm>
            <a:off x="486918"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The EPP picks workers.</a:t>
            </a:r>
          </a:p>
        </p:txBody>
      </p:sp>
      <p:sp>
        <p:nvSpPr>
          <p:cNvPr id="18" name="Rounded Rectangle 17"/>
          <p:cNvSpPr/>
          <p:nvPr/>
        </p:nvSpPr>
        <p:spPr>
          <a:xfrm>
            <a:off x="377190"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377190" y="3209544"/>
            <a:ext cx="37719" cy="72009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80060" y="3230118"/>
            <a:ext cx="236601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KV-transfer contract</a:t>
            </a:r>
          </a:p>
        </p:txBody>
      </p:sp>
      <p:sp>
        <p:nvSpPr>
          <p:cNvPr id="21" name="TextBox 20"/>
          <p:cNvSpPr txBox="1"/>
          <p:nvPr/>
        </p:nvSpPr>
        <p:spPr>
          <a:xfrm>
            <a:off x="486918"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KV transfer settings must match.</a:t>
            </a:r>
          </a:p>
        </p:txBody>
      </p:sp>
      <p:sp>
        <p:nvSpPr>
          <p:cNvPr id="22" name="Rounded Rectangle 21"/>
          <p:cNvSpPr/>
          <p:nvPr/>
        </p:nvSpPr>
        <p:spPr>
          <a:xfrm>
            <a:off x="6192773"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92773" y="1645920"/>
            <a:ext cx="37719" cy="72009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95644" y="1666494"/>
            <a:ext cx="236601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Decode-side proxy</a:t>
            </a:r>
          </a:p>
        </p:txBody>
      </p:sp>
      <p:sp>
        <p:nvSpPr>
          <p:cNvPr id="25" name="TextBox 24"/>
          <p:cNvSpPr txBox="1"/>
          <p:nvPr/>
        </p:nvSpPr>
        <p:spPr>
          <a:xfrm>
            <a:off x="6302502"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dirty="0">
                <a:latin typeface="Arial"/>
              </a:rPr>
              <a:t>coordinate requests</a:t>
            </a:r>
          </a:p>
        </p:txBody>
      </p:sp>
      <p:sp>
        <p:nvSpPr>
          <p:cNvPr id="26" name="Rounded Rectangle 25"/>
          <p:cNvSpPr/>
          <p:nvPr/>
        </p:nvSpPr>
        <p:spPr>
          <a:xfrm>
            <a:off x="6192773"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6192773" y="3209544"/>
            <a:ext cx="37719" cy="72009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6295644" y="3230118"/>
            <a:ext cx="2366010" cy="228524"/>
          </a:xfrm>
          <a:prstGeom prst="rect">
            <a:avLst/>
          </a:prstGeom>
          <a:noFill/>
        </p:spPr>
        <p:txBody>
          <a:bodyPr wrap="square" lIns="10287" tIns="10287" rIns="10287" bIns="10287">
            <a:spAutoFit/>
          </a:bodyPr>
          <a:lstStyle/>
          <a:p>
            <a:pPr algn="ctr">
              <a:spcAft>
                <a:spcPts val="375"/>
              </a:spcAft>
              <a:defRPr sz="1800" b="1">
                <a:solidFill>
                  <a:srgbClr val="AE641A"/>
                </a:solidFill>
                <a:latin typeface="Arial"/>
              </a:defRPr>
            </a:pPr>
            <a:r>
              <a:rPr sz="1350" cap="none">
                <a:latin typeface="Arial"/>
              </a:rPr>
              <a:t>Lifecycle + scaling</a:t>
            </a:r>
          </a:p>
        </p:txBody>
      </p:sp>
      <p:sp>
        <p:nvSpPr>
          <p:cNvPr id="29" name="TextBox 28"/>
          <p:cNvSpPr txBox="1"/>
          <p:nvPr/>
        </p:nvSpPr>
        <p:spPr>
          <a:xfrm>
            <a:off x="6302502"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Keep pods ready as replicas change.</a:t>
            </a:r>
          </a:p>
        </p:txBody>
      </p:sp>
      <p:cxnSp>
        <p:nvCxnSpPr>
          <p:cNvPr id="30" name="Connector 29"/>
          <p:cNvCxnSpPr/>
          <p:nvPr/>
        </p:nvCxnSpPr>
        <p:spPr>
          <a:xfrm>
            <a:off x="2948940" y="2009394"/>
            <a:ext cx="17145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20390" y="2009394"/>
            <a:ext cx="0" cy="562356"/>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120390" y="2571750"/>
            <a:ext cx="18516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48940" y="3566160"/>
            <a:ext cx="17145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20390" y="2859786"/>
            <a:ext cx="0" cy="70637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120390" y="2859786"/>
            <a:ext cx="18516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43016" y="2571750"/>
            <a:ext cx="17145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014466" y="2009394"/>
            <a:ext cx="0" cy="562356"/>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014467" y="2009394"/>
            <a:ext cx="178307"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843016" y="2859786"/>
            <a:ext cx="17145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014466" y="2859786"/>
            <a:ext cx="0" cy="706374"/>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014467" y="3566160"/>
            <a:ext cx="178307"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8225035-027D-52F9-82D5-82890CDA2AAC}" type="slidenum">
              <a:rPr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5108608-17E5-7B6D-7E28-99CBA2F215A6}"/>
              </a:ext>
            </a:extLst>
          </p:cNvPr>
          <p:cNvSpPr>
            <a:spLocks noGrp="1"/>
          </p:cNvSpPr>
          <p:nvPr>
            <p:ph type="title" idx="4294967295"/>
          </p:nvPr>
        </p:nvSpPr>
        <p:spPr>
          <a:xfrm>
            <a:off x="0" y="0"/>
            <a:ext cx="6950075" cy="1047750"/>
          </a:xfrm>
        </p:spPr>
        <p:txBody>
          <a:bodyPr>
            <a:normAutofit/>
          </a:bodyPr>
          <a:lstStyle/>
          <a:p>
            <a:r>
              <a:rPr lang="zh-CN" altLang="zh-CN" sz="2800" dirty="0"/>
              <a:t>Production Distributed Inference Architecture</a:t>
            </a:r>
            <a:endParaRPr lang="zh-CN" altLang="en-US" sz="2800" dirty="0"/>
          </a:p>
        </p:txBody>
      </p:sp>
      <p:sp>
        <p:nvSpPr>
          <p:cNvPr id="85" name="application-rail-box">
            <a:extLst>
              <a:ext uri="{FF2B5EF4-FFF2-40B4-BE49-F238E27FC236}">
                <a16:creationId xmlns:a16="http://schemas.microsoft.com/office/drawing/2014/main" id="{A7F0BE18-D8B7-6DC5-F1F5-9FFE9AA4A4EC}"/>
              </a:ext>
            </a:extLst>
          </p:cNvPr>
          <p:cNvSpPr>
            <a:spLocks noGrp="1"/>
          </p:cNvSpPr>
          <p:nvPr/>
        </p:nvSpPr>
        <p:spPr>
          <a:xfrm>
            <a:off x="76201" y="1214619"/>
            <a:ext cx="762000" cy="381000"/>
          </a:xfrm>
          <a:prstGeom prst="roundRect">
            <a:avLst>
              <a:gd name="adj" fmla="val 10000"/>
            </a:avLst>
          </a:prstGeom>
          <a:solidFill>
            <a:srgbClr val="102031"/>
          </a:solidFill>
          <a:ln w="9525">
            <a:solidFill>
              <a:srgbClr val="102031"/>
            </a:solidFill>
            <a:prstDash val="solid"/>
          </a:ln>
        </p:spPr>
        <p:txBody>
          <a:bodyPr wrap="square" lIns="28575" tIns="9525" rIns="28575" bIns="9525" anchor="ctr">
            <a:normAutofit/>
          </a:bodyPr>
          <a:lstStyle/>
          <a:p>
            <a:pPr algn="ctr">
              <a:defRPr sz="750" b="1">
                <a:solidFill>
                  <a:srgbClr val="FFFFFF"/>
                </a:solidFill>
                <a:latin typeface="Arial"/>
                <a:ea typeface="Arial"/>
                <a:cs typeface="Arial"/>
              </a:defRPr>
            </a:pPr>
            <a:r>
              <a:rPr sz="800" b="1">
                <a:solidFill>
                  <a:srgbClr val="FFFFFF"/>
                </a:solidFill>
                <a:latin typeface="Arial"/>
                <a:ea typeface="Arial"/>
                <a:cs typeface="Arial"/>
              </a:rPr>
              <a:t>Application</a:t>
            </a:r>
          </a:p>
          <a:p>
            <a:pPr algn="ctr">
              <a:defRPr sz="750" b="1">
                <a:solidFill>
                  <a:srgbClr val="FFFFFF"/>
                </a:solidFill>
                <a:latin typeface="Arial"/>
                <a:ea typeface="Arial"/>
                <a:cs typeface="Arial"/>
              </a:defRPr>
            </a:pPr>
            <a:r>
              <a:rPr sz="800" b="1">
                <a:solidFill>
                  <a:srgbClr val="FFFFFF"/>
                </a:solidFill>
                <a:latin typeface="Arial"/>
                <a:ea typeface="Arial"/>
                <a:cs typeface="Arial"/>
              </a:rPr>
              <a:t>Layer</a:t>
            </a:r>
          </a:p>
        </p:txBody>
      </p:sp>
      <p:sp>
        <p:nvSpPr>
          <p:cNvPr id="86" name="application-surface">
            <a:extLst>
              <a:ext uri="{FF2B5EF4-FFF2-40B4-BE49-F238E27FC236}">
                <a16:creationId xmlns:a16="http://schemas.microsoft.com/office/drawing/2014/main" id="{FC6739DF-595B-0861-5B4C-3EB609F0BE25}"/>
              </a:ext>
            </a:extLst>
          </p:cNvPr>
          <p:cNvSpPr>
            <a:spLocks noGrp="1"/>
          </p:cNvSpPr>
          <p:nvPr/>
        </p:nvSpPr>
        <p:spPr>
          <a:xfrm>
            <a:off x="933451" y="1214619"/>
            <a:ext cx="6191250" cy="381000"/>
          </a:xfrm>
          <a:prstGeom prst="roundRect">
            <a:avLst>
              <a:gd name="adj" fmla="val 10000"/>
            </a:avLst>
          </a:prstGeom>
          <a:solidFill>
            <a:srgbClr val="FFFFFF"/>
          </a:solidFill>
          <a:ln w="9525">
            <a:solidFill>
              <a:srgbClr val="D7DEE8"/>
            </a:solidFill>
            <a:prstDash val="solid"/>
          </a:ln>
        </p:spPr>
        <p:txBody>
          <a:bodyPr/>
          <a:lstStyle/>
          <a:p>
            <a:endParaRPr lang="zh-CN" altLang="en-US" sz="1600"/>
          </a:p>
        </p:txBody>
      </p:sp>
      <p:sp>
        <p:nvSpPr>
          <p:cNvPr id="87" name="application-items-1-box">
            <a:extLst>
              <a:ext uri="{FF2B5EF4-FFF2-40B4-BE49-F238E27FC236}">
                <a16:creationId xmlns:a16="http://schemas.microsoft.com/office/drawing/2014/main" id="{BEA3F104-EC15-50E4-8804-0470EBD25CC5}"/>
              </a:ext>
            </a:extLst>
          </p:cNvPr>
          <p:cNvSpPr>
            <a:spLocks noGrp="1"/>
          </p:cNvSpPr>
          <p:nvPr/>
        </p:nvSpPr>
        <p:spPr>
          <a:xfrm>
            <a:off x="1009651" y="1281294"/>
            <a:ext cx="1177290" cy="247650"/>
          </a:xfrm>
          <a:prstGeom prst="roundRect">
            <a:avLst>
              <a:gd name="adj" fmla="val 15385"/>
            </a:avLst>
          </a:prstGeom>
          <a:solidFill>
            <a:srgbClr val="FFFFFF"/>
          </a:solidFill>
          <a:ln w="9525">
            <a:solidFill>
              <a:srgbClr val="D7DEE8"/>
            </a:solidFill>
            <a:prstDash val="solid"/>
          </a:ln>
        </p:spPr>
        <p:txBody>
          <a:bodyPr wrap="square" lIns="28575" tIns="9525" rIns="28575" bIns="9525" anchor="ctr">
            <a:normAutofit/>
          </a:bodyPr>
          <a:lstStyle/>
          <a:p>
            <a:pPr algn="ctr">
              <a:defRPr sz="563" b="0">
                <a:solidFill>
                  <a:srgbClr val="102031"/>
                </a:solidFill>
                <a:latin typeface="Arial"/>
                <a:ea typeface="Arial"/>
                <a:cs typeface="Arial"/>
              </a:defRPr>
            </a:pPr>
            <a:r>
              <a:rPr sz="700" b="0">
                <a:solidFill>
                  <a:srgbClr val="102031"/>
                </a:solidFill>
                <a:latin typeface="Arial"/>
                <a:ea typeface="Arial"/>
                <a:cs typeface="Arial"/>
              </a:rPr>
              <a:t>Web / H5</a:t>
            </a:r>
          </a:p>
        </p:txBody>
      </p:sp>
      <p:sp>
        <p:nvSpPr>
          <p:cNvPr id="88" name="application-items-2-box">
            <a:extLst>
              <a:ext uri="{FF2B5EF4-FFF2-40B4-BE49-F238E27FC236}">
                <a16:creationId xmlns:a16="http://schemas.microsoft.com/office/drawing/2014/main" id="{57E157B9-D48E-A70C-5494-69B0C8A18EAB}"/>
              </a:ext>
            </a:extLst>
          </p:cNvPr>
          <p:cNvSpPr>
            <a:spLocks noGrp="1"/>
          </p:cNvSpPr>
          <p:nvPr/>
        </p:nvSpPr>
        <p:spPr>
          <a:xfrm>
            <a:off x="2225041" y="1281294"/>
            <a:ext cx="1177290" cy="247650"/>
          </a:xfrm>
          <a:prstGeom prst="roundRect">
            <a:avLst>
              <a:gd name="adj" fmla="val 15385"/>
            </a:avLst>
          </a:prstGeom>
          <a:solidFill>
            <a:srgbClr val="FFFFFF"/>
          </a:solidFill>
          <a:ln w="9525">
            <a:solidFill>
              <a:srgbClr val="D7DEE8"/>
            </a:solidFill>
            <a:prstDash val="solid"/>
          </a:ln>
        </p:spPr>
        <p:txBody>
          <a:bodyPr wrap="square" lIns="28575" tIns="9525" rIns="28575" bIns="9525" anchor="ctr">
            <a:normAutofit/>
          </a:bodyPr>
          <a:lstStyle/>
          <a:p>
            <a:pPr algn="ctr">
              <a:defRPr sz="563" b="0">
                <a:solidFill>
                  <a:srgbClr val="102031"/>
                </a:solidFill>
                <a:latin typeface="Arial"/>
                <a:ea typeface="Arial"/>
                <a:cs typeface="Arial"/>
              </a:defRPr>
            </a:pPr>
            <a:r>
              <a:rPr sz="700" b="0">
                <a:solidFill>
                  <a:srgbClr val="102031"/>
                </a:solidFill>
                <a:latin typeface="Arial"/>
                <a:ea typeface="Arial"/>
                <a:cs typeface="Arial"/>
              </a:rPr>
              <a:t>Mobile Apps</a:t>
            </a:r>
          </a:p>
        </p:txBody>
      </p:sp>
      <p:sp>
        <p:nvSpPr>
          <p:cNvPr id="89" name="application-items-3-box">
            <a:extLst>
              <a:ext uri="{FF2B5EF4-FFF2-40B4-BE49-F238E27FC236}">
                <a16:creationId xmlns:a16="http://schemas.microsoft.com/office/drawing/2014/main" id="{AF6EAF3A-86AC-BECC-5A7D-DE5355C98487}"/>
              </a:ext>
            </a:extLst>
          </p:cNvPr>
          <p:cNvSpPr>
            <a:spLocks noGrp="1"/>
          </p:cNvSpPr>
          <p:nvPr/>
        </p:nvSpPr>
        <p:spPr>
          <a:xfrm>
            <a:off x="3440431" y="1281294"/>
            <a:ext cx="1177290" cy="247650"/>
          </a:xfrm>
          <a:prstGeom prst="roundRect">
            <a:avLst>
              <a:gd name="adj" fmla="val 15385"/>
            </a:avLst>
          </a:prstGeom>
          <a:solidFill>
            <a:srgbClr val="FFFFFF"/>
          </a:solidFill>
          <a:ln w="9525">
            <a:solidFill>
              <a:srgbClr val="D7DEE8"/>
            </a:solidFill>
            <a:prstDash val="solid"/>
          </a:ln>
        </p:spPr>
        <p:txBody>
          <a:bodyPr wrap="square" lIns="28575" tIns="9525" rIns="28575" bIns="9525" anchor="ctr">
            <a:normAutofit/>
          </a:bodyPr>
          <a:lstStyle/>
          <a:p>
            <a:pPr algn="ctr">
              <a:defRPr sz="563" b="0">
                <a:solidFill>
                  <a:srgbClr val="102031"/>
                </a:solidFill>
                <a:latin typeface="Arial"/>
                <a:ea typeface="Arial"/>
                <a:cs typeface="Arial"/>
              </a:defRPr>
            </a:pPr>
            <a:r>
              <a:rPr sz="700" b="0">
                <a:solidFill>
                  <a:srgbClr val="102031"/>
                </a:solidFill>
                <a:latin typeface="Arial"/>
                <a:ea typeface="Arial"/>
                <a:cs typeface="Arial"/>
              </a:rPr>
              <a:t>Enterprise Applications</a:t>
            </a:r>
          </a:p>
        </p:txBody>
      </p:sp>
      <p:sp>
        <p:nvSpPr>
          <p:cNvPr id="90" name="application-items-4-box">
            <a:extLst>
              <a:ext uri="{FF2B5EF4-FFF2-40B4-BE49-F238E27FC236}">
                <a16:creationId xmlns:a16="http://schemas.microsoft.com/office/drawing/2014/main" id="{34B4D230-2C91-F76F-810B-3B7C3D5A2CB2}"/>
              </a:ext>
            </a:extLst>
          </p:cNvPr>
          <p:cNvSpPr>
            <a:spLocks noGrp="1"/>
          </p:cNvSpPr>
          <p:nvPr/>
        </p:nvSpPr>
        <p:spPr>
          <a:xfrm>
            <a:off x="4655821" y="1281294"/>
            <a:ext cx="1177290" cy="247650"/>
          </a:xfrm>
          <a:prstGeom prst="roundRect">
            <a:avLst>
              <a:gd name="adj" fmla="val 15385"/>
            </a:avLst>
          </a:prstGeom>
          <a:solidFill>
            <a:srgbClr val="FFFFFF"/>
          </a:solidFill>
          <a:ln w="9525">
            <a:solidFill>
              <a:srgbClr val="D7DEE8"/>
            </a:solidFill>
            <a:prstDash val="solid"/>
          </a:ln>
        </p:spPr>
        <p:txBody>
          <a:bodyPr wrap="square" lIns="28575" tIns="9525" rIns="28575" bIns="9525" anchor="ctr">
            <a:normAutofit/>
          </a:bodyPr>
          <a:lstStyle/>
          <a:p>
            <a:pPr algn="ctr">
              <a:defRPr sz="563" b="0">
                <a:solidFill>
                  <a:srgbClr val="102031"/>
                </a:solidFill>
                <a:latin typeface="Arial"/>
                <a:ea typeface="Arial"/>
                <a:cs typeface="Arial"/>
              </a:defRPr>
            </a:pPr>
            <a:r>
              <a:rPr sz="700" b="0">
                <a:solidFill>
                  <a:srgbClr val="102031"/>
                </a:solidFill>
                <a:latin typeface="Arial"/>
                <a:ea typeface="Arial"/>
                <a:cs typeface="Arial"/>
              </a:rPr>
              <a:t>Third-party Applications</a:t>
            </a:r>
          </a:p>
        </p:txBody>
      </p:sp>
      <p:sp>
        <p:nvSpPr>
          <p:cNvPr id="91" name="application-items-5-box">
            <a:extLst>
              <a:ext uri="{FF2B5EF4-FFF2-40B4-BE49-F238E27FC236}">
                <a16:creationId xmlns:a16="http://schemas.microsoft.com/office/drawing/2014/main" id="{1D1A6355-73EA-D445-E7EF-D9224D4305DF}"/>
              </a:ext>
            </a:extLst>
          </p:cNvPr>
          <p:cNvSpPr>
            <a:spLocks noGrp="1"/>
          </p:cNvSpPr>
          <p:nvPr/>
        </p:nvSpPr>
        <p:spPr>
          <a:xfrm>
            <a:off x="5871211" y="1281294"/>
            <a:ext cx="1177290" cy="247650"/>
          </a:xfrm>
          <a:prstGeom prst="roundRect">
            <a:avLst>
              <a:gd name="adj" fmla="val 15385"/>
            </a:avLst>
          </a:prstGeom>
          <a:solidFill>
            <a:srgbClr val="FFFFFF"/>
          </a:solidFill>
          <a:ln w="9525">
            <a:solidFill>
              <a:srgbClr val="D7DEE8"/>
            </a:solidFill>
            <a:prstDash val="solid"/>
          </a:ln>
        </p:spPr>
        <p:txBody>
          <a:bodyPr wrap="square" lIns="28575" tIns="9525" rIns="28575" bIns="9525" anchor="ctr">
            <a:normAutofit/>
          </a:bodyPr>
          <a:lstStyle/>
          <a:p>
            <a:pPr algn="ctr">
              <a:defRPr sz="563" b="0">
                <a:solidFill>
                  <a:srgbClr val="102031"/>
                </a:solidFill>
                <a:latin typeface="Arial"/>
                <a:ea typeface="Arial"/>
                <a:cs typeface="Arial"/>
              </a:defRPr>
            </a:pPr>
            <a:r>
              <a:rPr sz="700" b="0">
                <a:solidFill>
                  <a:srgbClr val="102031"/>
                </a:solidFill>
                <a:latin typeface="Arial"/>
                <a:ea typeface="Arial"/>
                <a:cs typeface="Arial"/>
              </a:rPr>
              <a:t>…</a:t>
            </a:r>
          </a:p>
        </p:txBody>
      </p:sp>
      <p:sp>
        <p:nvSpPr>
          <p:cNvPr id="92" name="inference-rail-box">
            <a:extLst>
              <a:ext uri="{FF2B5EF4-FFF2-40B4-BE49-F238E27FC236}">
                <a16:creationId xmlns:a16="http://schemas.microsoft.com/office/drawing/2014/main" id="{18DF6413-76FC-31B2-239D-B1BF29732B34}"/>
              </a:ext>
            </a:extLst>
          </p:cNvPr>
          <p:cNvSpPr>
            <a:spLocks noGrp="1"/>
          </p:cNvSpPr>
          <p:nvPr/>
        </p:nvSpPr>
        <p:spPr>
          <a:xfrm>
            <a:off x="76201" y="1652769"/>
            <a:ext cx="762000" cy="2057400"/>
          </a:xfrm>
          <a:prstGeom prst="roundRect">
            <a:avLst>
              <a:gd name="adj" fmla="val 5000"/>
            </a:avLst>
          </a:prstGeom>
          <a:solidFill>
            <a:srgbClr val="102031"/>
          </a:solidFill>
          <a:ln w="9525">
            <a:solidFill>
              <a:srgbClr val="102031"/>
            </a:solidFill>
            <a:prstDash val="solid"/>
          </a:ln>
        </p:spPr>
        <p:txBody>
          <a:bodyPr wrap="square" lIns="28575" tIns="9525" rIns="28575" bIns="9525" anchor="ctr">
            <a:normAutofit/>
          </a:bodyPr>
          <a:lstStyle/>
          <a:p>
            <a:pPr algn="ctr">
              <a:defRPr sz="750" b="1">
                <a:solidFill>
                  <a:srgbClr val="FFFFFF"/>
                </a:solidFill>
                <a:latin typeface="Arial"/>
                <a:ea typeface="Arial"/>
                <a:cs typeface="Arial"/>
              </a:defRPr>
            </a:pPr>
            <a:r>
              <a:rPr sz="800" b="1" dirty="0">
                <a:solidFill>
                  <a:srgbClr val="FFFFFF"/>
                </a:solidFill>
                <a:latin typeface="Arial"/>
                <a:ea typeface="Arial"/>
                <a:cs typeface="Arial"/>
              </a:rPr>
              <a:t>Inference</a:t>
            </a:r>
          </a:p>
          <a:p>
            <a:pPr algn="ctr">
              <a:defRPr sz="750" b="1">
                <a:solidFill>
                  <a:srgbClr val="FFFFFF"/>
                </a:solidFill>
                <a:latin typeface="Arial"/>
                <a:ea typeface="Arial"/>
                <a:cs typeface="Arial"/>
              </a:defRPr>
            </a:pPr>
            <a:r>
              <a:rPr sz="800" b="1" dirty="0">
                <a:solidFill>
                  <a:srgbClr val="FFFFFF"/>
                </a:solidFill>
                <a:latin typeface="Arial"/>
                <a:ea typeface="Arial"/>
                <a:cs typeface="Arial"/>
              </a:rPr>
              <a:t>Layer</a:t>
            </a:r>
          </a:p>
        </p:txBody>
      </p:sp>
      <p:sp>
        <p:nvSpPr>
          <p:cNvPr id="93" name="inference-core-surface">
            <a:extLst>
              <a:ext uri="{FF2B5EF4-FFF2-40B4-BE49-F238E27FC236}">
                <a16:creationId xmlns:a16="http://schemas.microsoft.com/office/drawing/2014/main" id="{318E048E-0E1C-139B-BB3F-18BC924CB124}"/>
              </a:ext>
            </a:extLst>
          </p:cNvPr>
          <p:cNvSpPr>
            <a:spLocks noGrp="1"/>
          </p:cNvSpPr>
          <p:nvPr/>
        </p:nvSpPr>
        <p:spPr>
          <a:xfrm>
            <a:off x="933451" y="1652769"/>
            <a:ext cx="6191250" cy="2057400"/>
          </a:xfrm>
          <a:prstGeom prst="roundRect">
            <a:avLst>
              <a:gd name="adj" fmla="val 2315"/>
            </a:avLst>
          </a:prstGeom>
          <a:solidFill>
            <a:srgbClr val="F9FCF7"/>
          </a:solidFill>
          <a:ln w="9525">
            <a:solidFill>
              <a:srgbClr val="CFE3C7"/>
            </a:solidFill>
            <a:prstDash val="solid"/>
          </a:ln>
        </p:spPr>
        <p:txBody>
          <a:bodyPr/>
          <a:lstStyle/>
          <a:p>
            <a:endParaRPr lang="zh-CN" altLang="en-US" sz="1600"/>
          </a:p>
        </p:txBody>
      </p:sp>
      <p:sp>
        <p:nvSpPr>
          <p:cNvPr id="94" name="inferx-box">
            <a:extLst>
              <a:ext uri="{FF2B5EF4-FFF2-40B4-BE49-F238E27FC236}">
                <a16:creationId xmlns:a16="http://schemas.microsoft.com/office/drawing/2014/main" id="{220BC63F-1079-1FEB-140C-CF510E2917AD}"/>
              </a:ext>
            </a:extLst>
          </p:cNvPr>
          <p:cNvSpPr>
            <a:spLocks noGrp="1"/>
          </p:cNvSpPr>
          <p:nvPr/>
        </p:nvSpPr>
        <p:spPr>
          <a:xfrm>
            <a:off x="990601" y="1709919"/>
            <a:ext cx="6019800" cy="219075"/>
          </a:xfrm>
          <a:prstGeom prst="roundRect">
            <a:avLst>
              <a:gd name="adj" fmla="val 21739"/>
            </a:avLst>
          </a:prstGeom>
          <a:solidFill>
            <a:srgbClr val="247A06"/>
          </a:solidFill>
          <a:ln w="9525">
            <a:solidFill>
              <a:srgbClr val="247A06"/>
            </a:solidFill>
            <a:prstDash val="solid"/>
          </a:ln>
        </p:spPr>
        <p:txBody>
          <a:bodyPr wrap="square" lIns="28575" tIns="9525" rIns="28575" bIns="9525" anchor="ctr">
            <a:normAutofit/>
          </a:bodyPr>
          <a:lstStyle/>
          <a:p>
            <a:pPr algn="ctr">
              <a:defRPr sz="825" b="1">
                <a:solidFill>
                  <a:srgbClr val="FFFFFF"/>
                </a:solidFill>
                <a:latin typeface="Arial"/>
                <a:ea typeface="Arial"/>
                <a:cs typeface="Arial"/>
              </a:defRPr>
            </a:pPr>
            <a:r>
              <a:rPr lang="en-US" sz="900" b="1" dirty="0">
                <a:solidFill>
                  <a:srgbClr val="FFFFFF"/>
                </a:solidFill>
              </a:rPr>
              <a:t>AI</a:t>
            </a:r>
            <a:r>
              <a:rPr lang="en-US" sz="900" b="1" dirty="0">
                <a:solidFill>
                  <a:srgbClr val="FFFFFF"/>
                </a:solidFill>
                <a:latin typeface="Arial"/>
                <a:ea typeface="Arial"/>
                <a:cs typeface="Arial"/>
              </a:rPr>
              <a:t> </a:t>
            </a:r>
            <a:r>
              <a:rPr lang="en-US" sz="900" b="1" dirty="0">
                <a:solidFill>
                  <a:srgbClr val="FFFFFF"/>
                </a:solidFill>
              </a:rPr>
              <a:t>G</a:t>
            </a:r>
            <a:r>
              <a:rPr lang="en-US" sz="900" b="1" dirty="0">
                <a:solidFill>
                  <a:srgbClr val="FFFFFF"/>
                </a:solidFill>
                <a:latin typeface="Arial"/>
                <a:ea typeface="Arial"/>
                <a:cs typeface="Arial"/>
              </a:rPr>
              <a:t>ateway</a:t>
            </a:r>
            <a:r>
              <a:rPr sz="900" b="1" dirty="0">
                <a:solidFill>
                  <a:srgbClr val="FFFFFF"/>
                </a:solidFill>
                <a:latin typeface="Arial"/>
                <a:ea typeface="Arial"/>
                <a:cs typeface="Arial"/>
              </a:rPr>
              <a:t> </a:t>
            </a:r>
            <a:r>
              <a:rPr lang="en-US" sz="900" b="1" dirty="0">
                <a:solidFill>
                  <a:srgbClr val="FFFFFF"/>
                </a:solidFill>
                <a:latin typeface="Arial"/>
                <a:ea typeface="Arial"/>
                <a:cs typeface="Arial"/>
              </a:rPr>
              <a:t>(Business Logic)</a:t>
            </a:r>
            <a:r>
              <a:rPr sz="900" b="1" dirty="0">
                <a:solidFill>
                  <a:srgbClr val="FFFFFF"/>
                </a:solidFill>
                <a:latin typeface="Arial"/>
                <a:ea typeface="Arial"/>
                <a:cs typeface="Arial"/>
              </a:rPr>
              <a:t> (</a:t>
            </a:r>
            <a:r>
              <a:rPr lang="en-US" sz="900" b="1" dirty="0" err="1">
                <a:solidFill>
                  <a:srgbClr val="FFFFFF"/>
                </a:solidFill>
                <a:latin typeface="Arial"/>
                <a:ea typeface="Arial"/>
                <a:cs typeface="Arial"/>
              </a:rPr>
              <a:t>AgentGateway</a:t>
            </a:r>
            <a:r>
              <a:rPr lang="en-US" sz="900" b="1" dirty="0">
                <a:solidFill>
                  <a:srgbClr val="FFFFFF"/>
                </a:solidFill>
              </a:rPr>
              <a:t> , Higress</a:t>
            </a:r>
            <a:r>
              <a:rPr sz="900" b="1" dirty="0">
                <a:solidFill>
                  <a:srgbClr val="FFFFFF"/>
                </a:solidFill>
                <a:latin typeface="Arial"/>
                <a:ea typeface="Arial"/>
                <a:cs typeface="Arial"/>
              </a:rPr>
              <a:t>)</a:t>
            </a:r>
          </a:p>
        </p:txBody>
      </p:sp>
      <p:sp>
        <p:nvSpPr>
          <p:cNvPr id="95" name="orchestration-frame">
            <a:extLst>
              <a:ext uri="{FF2B5EF4-FFF2-40B4-BE49-F238E27FC236}">
                <a16:creationId xmlns:a16="http://schemas.microsoft.com/office/drawing/2014/main" id="{8FB5F1C0-3018-7932-FBBC-E52D91340907}"/>
              </a:ext>
            </a:extLst>
          </p:cNvPr>
          <p:cNvSpPr>
            <a:spLocks noGrp="1"/>
          </p:cNvSpPr>
          <p:nvPr/>
        </p:nvSpPr>
        <p:spPr>
          <a:xfrm>
            <a:off x="990601" y="1976619"/>
            <a:ext cx="6076950" cy="514350"/>
          </a:xfrm>
          <a:prstGeom prst="roundRect">
            <a:avLst>
              <a:gd name="adj" fmla="val 7407"/>
            </a:avLst>
          </a:prstGeom>
          <a:solidFill>
            <a:srgbClr val="FFFFFF"/>
          </a:solidFill>
          <a:ln w="9525">
            <a:solidFill>
              <a:srgbClr val="CFE3C7"/>
            </a:solidFill>
            <a:prstDash val="solid"/>
          </a:ln>
        </p:spPr>
        <p:txBody>
          <a:bodyPr/>
          <a:lstStyle/>
          <a:p>
            <a:endParaRPr lang="zh-CN" altLang="en-US" sz="1600"/>
          </a:p>
        </p:txBody>
      </p:sp>
      <p:sp>
        <p:nvSpPr>
          <p:cNvPr id="96" name="orchestration-title">
            <a:extLst>
              <a:ext uri="{FF2B5EF4-FFF2-40B4-BE49-F238E27FC236}">
                <a16:creationId xmlns:a16="http://schemas.microsoft.com/office/drawing/2014/main" id="{5BA7DF17-5A3A-A056-85FE-9BB04DABD02F}"/>
              </a:ext>
            </a:extLst>
          </p:cNvPr>
          <p:cNvSpPr>
            <a:spLocks noGrp="1"/>
          </p:cNvSpPr>
          <p:nvPr/>
        </p:nvSpPr>
        <p:spPr>
          <a:xfrm>
            <a:off x="1047751" y="2005194"/>
            <a:ext cx="5962650" cy="133350"/>
          </a:xfrm>
          <a:prstGeom prst="rect">
            <a:avLst/>
          </a:prstGeom>
          <a:noFill/>
          <a:ln w="0">
            <a:noFill/>
            <a:prstDash val="solid"/>
          </a:ln>
        </p:spPr>
        <p:txBody>
          <a:bodyPr wrap="square" lIns="19050" tIns="9525" rIns="19050" bIns="9525" anchor="ctr">
            <a:noAutofit/>
          </a:bodyPr>
          <a:lstStyle/>
          <a:p>
            <a:pPr algn="ctr">
              <a:defRPr sz="675" b="1">
                <a:solidFill>
                  <a:srgbClr val="2F8B45"/>
                </a:solidFill>
                <a:latin typeface="Arial"/>
                <a:ea typeface="Arial"/>
                <a:cs typeface="Arial"/>
              </a:defRPr>
            </a:pPr>
            <a:r>
              <a:rPr sz="800" b="1" dirty="0">
                <a:solidFill>
                  <a:srgbClr val="2F8B45"/>
                </a:solidFill>
                <a:latin typeface="Arial"/>
                <a:ea typeface="Arial"/>
                <a:cs typeface="Arial"/>
              </a:rPr>
              <a:t>Orchestration Layer  (LLM-D</a:t>
            </a:r>
            <a:r>
              <a:rPr lang="en-US" sz="800" b="1" dirty="0">
                <a:solidFill>
                  <a:srgbClr val="2F8B45"/>
                </a:solidFill>
                <a:latin typeface="Arial"/>
                <a:ea typeface="Arial"/>
                <a:cs typeface="Arial"/>
              </a:rPr>
              <a:t>, KAITO, Dynamo</a:t>
            </a:r>
            <a:r>
              <a:rPr sz="800" b="1" dirty="0">
                <a:solidFill>
                  <a:srgbClr val="2F8B45"/>
                </a:solidFill>
                <a:latin typeface="Arial"/>
                <a:ea typeface="Arial"/>
                <a:cs typeface="Arial"/>
              </a:rPr>
              <a:t>)</a:t>
            </a:r>
          </a:p>
        </p:txBody>
      </p:sp>
      <p:sp>
        <p:nvSpPr>
          <p:cNvPr id="97" name="orchestration-capabilities-1-box">
            <a:extLst>
              <a:ext uri="{FF2B5EF4-FFF2-40B4-BE49-F238E27FC236}">
                <a16:creationId xmlns:a16="http://schemas.microsoft.com/office/drawing/2014/main" id="{0B42DAF5-12F5-56C0-C211-F8B2FA28F646}"/>
              </a:ext>
            </a:extLst>
          </p:cNvPr>
          <p:cNvSpPr>
            <a:spLocks noGrp="1"/>
          </p:cNvSpPr>
          <p:nvPr/>
        </p:nvSpPr>
        <p:spPr>
          <a:xfrm>
            <a:off x="1711146"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dirty="0">
                <a:solidFill>
                  <a:srgbClr val="102031"/>
                </a:solidFill>
                <a:latin typeface="Arial"/>
                <a:ea typeface="Arial"/>
                <a:cs typeface="Arial"/>
              </a:rPr>
              <a:t>Service</a:t>
            </a:r>
          </a:p>
          <a:p>
            <a:pPr algn="ctr">
              <a:defRPr sz="465" b="0">
                <a:solidFill>
                  <a:srgbClr val="102031"/>
                </a:solidFill>
                <a:latin typeface="Arial"/>
                <a:ea typeface="Arial"/>
                <a:cs typeface="Arial"/>
              </a:defRPr>
            </a:pPr>
            <a:r>
              <a:rPr sz="600" b="0" dirty="0">
                <a:solidFill>
                  <a:srgbClr val="102031"/>
                </a:solidFill>
                <a:latin typeface="Arial"/>
                <a:ea typeface="Arial"/>
                <a:cs typeface="Arial"/>
              </a:rPr>
              <a:t>Orchestration</a:t>
            </a:r>
          </a:p>
        </p:txBody>
      </p:sp>
      <p:sp>
        <p:nvSpPr>
          <p:cNvPr id="98" name="orchestration-capabilities-2-box">
            <a:extLst>
              <a:ext uri="{FF2B5EF4-FFF2-40B4-BE49-F238E27FC236}">
                <a16:creationId xmlns:a16="http://schemas.microsoft.com/office/drawing/2014/main" id="{C460F9DE-7201-3B00-BFAC-6B4779F72D19}"/>
              </a:ext>
            </a:extLst>
          </p:cNvPr>
          <p:cNvSpPr>
            <a:spLocks noGrp="1"/>
          </p:cNvSpPr>
          <p:nvPr/>
        </p:nvSpPr>
        <p:spPr>
          <a:xfrm>
            <a:off x="2567035"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a:solidFill>
                  <a:srgbClr val="102031"/>
                </a:solidFill>
                <a:latin typeface="Arial"/>
                <a:ea typeface="Arial"/>
                <a:cs typeface="Arial"/>
              </a:rPr>
              <a:t>Routing &amp;</a:t>
            </a:r>
          </a:p>
          <a:p>
            <a:pPr algn="ctr">
              <a:defRPr sz="465" b="0">
                <a:solidFill>
                  <a:srgbClr val="102031"/>
                </a:solidFill>
                <a:latin typeface="Arial"/>
                <a:ea typeface="Arial"/>
                <a:cs typeface="Arial"/>
              </a:defRPr>
            </a:pPr>
            <a:r>
              <a:rPr sz="600" b="0">
                <a:solidFill>
                  <a:srgbClr val="102031"/>
                </a:solidFill>
                <a:latin typeface="Arial"/>
                <a:ea typeface="Arial"/>
                <a:cs typeface="Arial"/>
              </a:rPr>
              <a:t>Load Balancing</a:t>
            </a:r>
          </a:p>
        </p:txBody>
      </p:sp>
      <p:sp>
        <p:nvSpPr>
          <p:cNvPr id="99" name="orchestration-capabilities-3-box">
            <a:extLst>
              <a:ext uri="{FF2B5EF4-FFF2-40B4-BE49-F238E27FC236}">
                <a16:creationId xmlns:a16="http://schemas.microsoft.com/office/drawing/2014/main" id="{CDDCCF35-840B-3FA3-7C86-F00B5F1D7F12}"/>
              </a:ext>
            </a:extLst>
          </p:cNvPr>
          <p:cNvSpPr>
            <a:spLocks noGrp="1"/>
          </p:cNvSpPr>
          <p:nvPr/>
        </p:nvSpPr>
        <p:spPr>
          <a:xfrm>
            <a:off x="3422925"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a:solidFill>
                  <a:srgbClr val="102031"/>
                </a:solidFill>
                <a:latin typeface="Arial"/>
                <a:ea typeface="Arial"/>
                <a:cs typeface="Arial"/>
              </a:rPr>
              <a:t>Scheduling &amp;</a:t>
            </a:r>
          </a:p>
          <a:p>
            <a:pPr algn="ctr">
              <a:defRPr sz="465" b="0">
                <a:solidFill>
                  <a:srgbClr val="102031"/>
                </a:solidFill>
                <a:latin typeface="Arial"/>
                <a:ea typeface="Arial"/>
                <a:cs typeface="Arial"/>
              </a:defRPr>
            </a:pPr>
            <a:r>
              <a:rPr sz="600" b="0">
                <a:solidFill>
                  <a:srgbClr val="102031"/>
                </a:solidFill>
                <a:latin typeface="Arial"/>
                <a:ea typeface="Arial"/>
                <a:cs typeface="Arial"/>
              </a:rPr>
              <a:t>Autoscaling</a:t>
            </a:r>
          </a:p>
        </p:txBody>
      </p:sp>
      <p:sp>
        <p:nvSpPr>
          <p:cNvPr id="100" name="orchestration-capabilities-4-box">
            <a:extLst>
              <a:ext uri="{FF2B5EF4-FFF2-40B4-BE49-F238E27FC236}">
                <a16:creationId xmlns:a16="http://schemas.microsoft.com/office/drawing/2014/main" id="{DB1B3049-C44C-3902-4B37-8DAB89330443}"/>
              </a:ext>
            </a:extLst>
          </p:cNvPr>
          <p:cNvSpPr>
            <a:spLocks noGrp="1"/>
          </p:cNvSpPr>
          <p:nvPr/>
        </p:nvSpPr>
        <p:spPr>
          <a:xfrm>
            <a:off x="4278814"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dirty="0">
                <a:solidFill>
                  <a:srgbClr val="102031"/>
                </a:solidFill>
                <a:latin typeface="Arial"/>
                <a:ea typeface="Arial"/>
                <a:cs typeface="Arial"/>
              </a:rPr>
              <a:t>Policy &amp; Strategy</a:t>
            </a:r>
          </a:p>
          <a:p>
            <a:pPr algn="ctr">
              <a:defRPr sz="465" b="0">
                <a:solidFill>
                  <a:srgbClr val="102031"/>
                </a:solidFill>
                <a:latin typeface="Arial"/>
                <a:ea typeface="Arial"/>
                <a:cs typeface="Arial"/>
              </a:defRPr>
            </a:pPr>
            <a:r>
              <a:rPr sz="600" b="0" dirty="0">
                <a:solidFill>
                  <a:srgbClr val="102031"/>
                </a:solidFill>
                <a:latin typeface="Arial"/>
                <a:ea typeface="Arial"/>
                <a:cs typeface="Arial"/>
              </a:rPr>
              <a:t>Management</a:t>
            </a:r>
          </a:p>
        </p:txBody>
      </p:sp>
      <p:sp>
        <p:nvSpPr>
          <p:cNvPr id="102" name="orchestration-capabilities-6-box">
            <a:extLst>
              <a:ext uri="{FF2B5EF4-FFF2-40B4-BE49-F238E27FC236}">
                <a16:creationId xmlns:a16="http://schemas.microsoft.com/office/drawing/2014/main" id="{D4C56765-5941-5A9B-11A7-CA3184DF781D}"/>
              </a:ext>
            </a:extLst>
          </p:cNvPr>
          <p:cNvSpPr>
            <a:spLocks noGrp="1"/>
          </p:cNvSpPr>
          <p:nvPr/>
        </p:nvSpPr>
        <p:spPr>
          <a:xfrm>
            <a:off x="5204099"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a:solidFill>
                  <a:srgbClr val="102031"/>
                </a:solidFill>
                <a:latin typeface="Arial"/>
                <a:ea typeface="Arial"/>
                <a:cs typeface="Arial"/>
              </a:rPr>
              <a:t>Elastic</a:t>
            </a:r>
          </a:p>
          <a:p>
            <a:pPr algn="ctr">
              <a:defRPr sz="465" b="0">
                <a:solidFill>
                  <a:srgbClr val="102031"/>
                </a:solidFill>
                <a:latin typeface="Arial"/>
                <a:ea typeface="Arial"/>
                <a:cs typeface="Arial"/>
              </a:defRPr>
            </a:pPr>
            <a:r>
              <a:rPr sz="600" b="0">
                <a:solidFill>
                  <a:srgbClr val="102031"/>
                </a:solidFill>
                <a:latin typeface="Arial"/>
                <a:ea typeface="Arial"/>
                <a:cs typeface="Arial"/>
              </a:rPr>
              <a:t>Scaling</a:t>
            </a:r>
          </a:p>
        </p:txBody>
      </p:sp>
      <p:sp>
        <p:nvSpPr>
          <p:cNvPr id="103" name="orchestration-capabilities-7-box">
            <a:extLst>
              <a:ext uri="{FF2B5EF4-FFF2-40B4-BE49-F238E27FC236}">
                <a16:creationId xmlns:a16="http://schemas.microsoft.com/office/drawing/2014/main" id="{142455BB-019D-478E-144D-E85B309E82DD}"/>
              </a:ext>
            </a:extLst>
          </p:cNvPr>
          <p:cNvSpPr>
            <a:spLocks noGrp="1"/>
          </p:cNvSpPr>
          <p:nvPr/>
        </p:nvSpPr>
        <p:spPr>
          <a:xfrm>
            <a:off x="6059989"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dirty="0">
                <a:solidFill>
                  <a:srgbClr val="102031"/>
                </a:solidFill>
                <a:latin typeface="Arial"/>
                <a:ea typeface="Arial"/>
                <a:cs typeface="Arial"/>
              </a:rPr>
              <a:t>Observability &amp;</a:t>
            </a:r>
          </a:p>
          <a:p>
            <a:pPr algn="ctr">
              <a:defRPr sz="465" b="0">
                <a:solidFill>
                  <a:srgbClr val="102031"/>
                </a:solidFill>
                <a:latin typeface="Arial"/>
                <a:ea typeface="Arial"/>
                <a:cs typeface="Arial"/>
              </a:defRPr>
            </a:pPr>
            <a:r>
              <a:rPr sz="600" b="0" dirty="0">
                <a:solidFill>
                  <a:srgbClr val="102031"/>
                </a:solidFill>
                <a:latin typeface="Arial"/>
                <a:ea typeface="Arial"/>
                <a:cs typeface="Arial"/>
              </a:rPr>
              <a:t>Monitoring</a:t>
            </a:r>
          </a:p>
        </p:txBody>
      </p:sp>
      <p:sp>
        <p:nvSpPr>
          <p:cNvPr id="104" name="runtime-frame">
            <a:extLst>
              <a:ext uri="{FF2B5EF4-FFF2-40B4-BE49-F238E27FC236}">
                <a16:creationId xmlns:a16="http://schemas.microsoft.com/office/drawing/2014/main" id="{1FAF42A9-034D-2498-9D21-870CF65024CE}"/>
              </a:ext>
            </a:extLst>
          </p:cNvPr>
          <p:cNvSpPr>
            <a:spLocks noGrp="1"/>
          </p:cNvSpPr>
          <p:nvPr/>
        </p:nvSpPr>
        <p:spPr>
          <a:xfrm>
            <a:off x="990601" y="2538594"/>
            <a:ext cx="6076950" cy="409575"/>
          </a:xfrm>
          <a:prstGeom prst="roundRect">
            <a:avLst>
              <a:gd name="adj" fmla="val 9302"/>
            </a:avLst>
          </a:prstGeom>
          <a:solidFill>
            <a:srgbClr val="FFFFFF"/>
          </a:solidFill>
          <a:ln w="9525">
            <a:solidFill>
              <a:srgbClr val="CFE3C7"/>
            </a:solidFill>
            <a:prstDash val="solid"/>
          </a:ln>
        </p:spPr>
        <p:txBody>
          <a:bodyPr/>
          <a:lstStyle/>
          <a:p>
            <a:endParaRPr lang="zh-CN" altLang="en-US" sz="1600"/>
          </a:p>
        </p:txBody>
      </p:sp>
      <p:sp>
        <p:nvSpPr>
          <p:cNvPr id="105" name="runtime-title">
            <a:extLst>
              <a:ext uri="{FF2B5EF4-FFF2-40B4-BE49-F238E27FC236}">
                <a16:creationId xmlns:a16="http://schemas.microsoft.com/office/drawing/2014/main" id="{B1F77162-90B2-16C0-A95B-FBEEFECB9417}"/>
              </a:ext>
            </a:extLst>
          </p:cNvPr>
          <p:cNvSpPr>
            <a:spLocks noGrp="1"/>
          </p:cNvSpPr>
          <p:nvPr/>
        </p:nvSpPr>
        <p:spPr>
          <a:xfrm>
            <a:off x="1666876" y="2567169"/>
            <a:ext cx="5334000" cy="123825"/>
          </a:xfrm>
          <a:prstGeom prst="rect">
            <a:avLst/>
          </a:prstGeom>
          <a:noFill/>
          <a:ln w="0">
            <a:noFill/>
            <a:prstDash val="solid"/>
          </a:ln>
        </p:spPr>
        <p:txBody>
          <a:bodyPr wrap="square" lIns="19050" tIns="9525" rIns="19050" bIns="9525" anchor="ctr">
            <a:noAutofit/>
          </a:bodyPr>
          <a:lstStyle/>
          <a:p>
            <a:pPr algn="ctr">
              <a:defRPr sz="638" b="1">
                <a:solidFill>
                  <a:srgbClr val="2F8B45"/>
                </a:solidFill>
                <a:latin typeface="Arial"/>
                <a:ea typeface="Arial"/>
                <a:cs typeface="Arial"/>
              </a:defRPr>
            </a:pPr>
            <a:r>
              <a:rPr sz="700" b="1" dirty="0">
                <a:solidFill>
                  <a:srgbClr val="2F8B45"/>
                </a:solidFill>
                <a:latin typeface="Arial"/>
                <a:ea typeface="Arial"/>
                <a:cs typeface="Arial"/>
              </a:rPr>
              <a:t>Inference Runtime Layer  (</a:t>
            </a:r>
            <a:r>
              <a:rPr sz="700" b="1" dirty="0" err="1">
                <a:solidFill>
                  <a:srgbClr val="2F8B45"/>
                </a:solidFill>
                <a:latin typeface="Arial"/>
                <a:ea typeface="Arial"/>
                <a:cs typeface="Arial"/>
              </a:rPr>
              <a:t>vLLM</a:t>
            </a:r>
            <a:r>
              <a:rPr lang="en-US" sz="700" b="1" dirty="0">
                <a:solidFill>
                  <a:srgbClr val="2F8B45"/>
                </a:solidFill>
                <a:latin typeface="Arial"/>
                <a:ea typeface="Arial"/>
                <a:cs typeface="Arial"/>
              </a:rPr>
              <a:t>, </a:t>
            </a:r>
            <a:r>
              <a:rPr lang="en-US" sz="700" b="1" dirty="0" err="1">
                <a:solidFill>
                  <a:srgbClr val="2F8B45"/>
                </a:solidFill>
                <a:latin typeface="Arial"/>
                <a:ea typeface="Arial"/>
                <a:cs typeface="Arial"/>
              </a:rPr>
              <a:t>SGLang</a:t>
            </a:r>
            <a:r>
              <a:rPr lang="en-US" sz="700" b="1" dirty="0">
                <a:solidFill>
                  <a:srgbClr val="2F8B45"/>
                </a:solidFill>
                <a:latin typeface="Arial"/>
                <a:ea typeface="Arial"/>
                <a:cs typeface="Arial"/>
              </a:rPr>
              <a:t>, Triton </a:t>
            </a:r>
            <a:r>
              <a:rPr sz="700" b="1" dirty="0">
                <a:solidFill>
                  <a:srgbClr val="2F8B45"/>
                </a:solidFill>
                <a:latin typeface="Arial"/>
                <a:ea typeface="Arial"/>
                <a:cs typeface="Arial"/>
              </a:rPr>
              <a:t>)</a:t>
            </a:r>
          </a:p>
        </p:txBody>
      </p:sp>
      <p:sp>
        <p:nvSpPr>
          <p:cNvPr id="106" name="vllm-wordmark">
            <a:extLst>
              <a:ext uri="{FF2B5EF4-FFF2-40B4-BE49-F238E27FC236}">
                <a16:creationId xmlns:a16="http://schemas.microsoft.com/office/drawing/2014/main" id="{1735F861-B3FD-E358-3BB5-BA350EE256E2}"/>
              </a:ext>
            </a:extLst>
          </p:cNvPr>
          <p:cNvSpPr>
            <a:spLocks noGrp="1"/>
          </p:cNvSpPr>
          <p:nvPr/>
        </p:nvSpPr>
        <p:spPr>
          <a:xfrm>
            <a:off x="1066801" y="2681469"/>
            <a:ext cx="552450" cy="190500"/>
          </a:xfrm>
          <a:prstGeom prst="rect">
            <a:avLst/>
          </a:prstGeom>
          <a:noFill/>
          <a:ln w="0">
            <a:noFill/>
            <a:prstDash val="solid"/>
          </a:ln>
        </p:spPr>
        <p:txBody>
          <a:bodyPr wrap="square" lIns="19050" tIns="9525" rIns="19050" bIns="9525" anchor="ctr">
            <a:noAutofit/>
          </a:bodyPr>
          <a:lstStyle/>
          <a:p>
            <a:pPr algn="ctr">
              <a:defRPr sz="1200" b="1">
                <a:solidFill>
                  <a:srgbClr val="475569"/>
                </a:solidFill>
                <a:latin typeface="Arial"/>
                <a:ea typeface="Arial"/>
                <a:cs typeface="Arial"/>
              </a:defRPr>
            </a:pPr>
            <a:r>
              <a:rPr sz="1200" b="1" dirty="0" err="1">
                <a:solidFill>
                  <a:srgbClr val="475569"/>
                </a:solidFill>
                <a:latin typeface="Arial"/>
                <a:ea typeface="Arial"/>
                <a:cs typeface="Arial"/>
              </a:rPr>
              <a:t>vLLM</a:t>
            </a:r>
            <a:endParaRPr sz="1200" b="1" dirty="0">
              <a:solidFill>
                <a:srgbClr val="475569"/>
              </a:solidFill>
              <a:latin typeface="Arial"/>
              <a:ea typeface="Arial"/>
              <a:cs typeface="Arial"/>
            </a:endParaRPr>
          </a:p>
        </p:txBody>
      </p:sp>
      <p:sp>
        <p:nvSpPr>
          <p:cNvPr id="107" name="runtime-capabilities-1-box">
            <a:extLst>
              <a:ext uri="{FF2B5EF4-FFF2-40B4-BE49-F238E27FC236}">
                <a16:creationId xmlns:a16="http://schemas.microsoft.com/office/drawing/2014/main" id="{1B5EEE5A-CE88-FD07-0F39-5C91565950A2}"/>
              </a:ext>
            </a:extLst>
          </p:cNvPr>
          <p:cNvSpPr>
            <a:spLocks noGrp="1"/>
          </p:cNvSpPr>
          <p:nvPr/>
        </p:nvSpPr>
        <p:spPr>
          <a:xfrm>
            <a:off x="1676401"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Continuous Batching</a:t>
            </a:r>
          </a:p>
        </p:txBody>
      </p:sp>
      <p:sp>
        <p:nvSpPr>
          <p:cNvPr id="108" name="runtime-capabilities-2-box">
            <a:extLst>
              <a:ext uri="{FF2B5EF4-FFF2-40B4-BE49-F238E27FC236}">
                <a16:creationId xmlns:a16="http://schemas.microsoft.com/office/drawing/2014/main" id="{8231CD6F-71C3-8B76-1B47-9F0F0DC17A8F}"/>
              </a:ext>
            </a:extLst>
          </p:cNvPr>
          <p:cNvSpPr>
            <a:spLocks noGrp="1"/>
          </p:cNvSpPr>
          <p:nvPr/>
        </p:nvSpPr>
        <p:spPr>
          <a:xfrm>
            <a:off x="2566989"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Paged Attention</a:t>
            </a:r>
          </a:p>
        </p:txBody>
      </p:sp>
      <p:sp>
        <p:nvSpPr>
          <p:cNvPr id="109" name="runtime-capabilities-3-box">
            <a:extLst>
              <a:ext uri="{FF2B5EF4-FFF2-40B4-BE49-F238E27FC236}">
                <a16:creationId xmlns:a16="http://schemas.microsoft.com/office/drawing/2014/main" id="{0D66DF2C-42DA-189C-E7EA-7816A229F0E3}"/>
              </a:ext>
            </a:extLst>
          </p:cNvPr>
          <p:cNvSpPr>
            <a:spLocks noGrp="1"/>
          </p:cNvSpPr>
          <p:nvPr/>
        </p:nvSpPr>
        <p:spPr>
          <a:xfrm>
            <a:off x="3457576"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Speculative Decoding</a:t>
            </a:r>
          </a:p>
        </p:txBody>
      </p:sp>
      <p:sp>
        <p:nvSpPr>
          <p:cNvPr id="110" name="runtime-capabilities-4-box">
            <a:extLst>
              <a:ext uri="{FF2B5EF4-FFF2-40B4-BE49-F238E27FC236}">
                <a16:creationId xmlns:a16="http://schemas.microsoft.com/office/drawing/2014/main" id="{30C600C0-E27C-C2C8-5F01-5F570FB8A7E4}"/>
              </a:ext>
            </a:extLst>
          </p:cNvPr>
          <p:cNvSpPr>
            <a:spLocks noGrp="1"/>
          </p:cNvSpPr>
          <p:nvPr/>
        </p:nvSpPr>
        <p:spPr>
          <a:xfrm>
            <a:off x="4348164"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Multi-LoRA</a:t>
            </a:r>
          </a:p>
        </p:txBody>
      </p:sp>
      <p:sp>
        <p:nvSpPr>
          <p:cNvPr id="111" name="runtime-capabilities-5-box">
            <a:extLst>
              <a:ext uri="{FF2B5EF4-FFF2-40B4-BE49-F238E27FC236}">
                <a16:creationId xmlns:a16="http://schemas.microsoft.com/office/drawing/2014/main" id="{BF57638F-BE9A-670B-FBAF-FD8B9860ED44}"/>
              </a:ext>
            </a:extLst>
          </p:cNvPr>
          <p:cNvSpPr>
            <a:spLocks noGrp="1"/>
          </p:cNvSpPr>
          <p:nvPr/>
        </p:nvSpPr>
        <p:spPr>
          <a:xfrm>
            <a:off x="5238751"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Prefix Cache</a:t>
            </a:r>
          </a:p>
        </p:txBody>
      </p:sp>
      <p:sp>
        <p:nvSpPr>
          <p:cNvPr id="112" name="runtime-capabilities-6-box">
            <a:extLst>
              <a:ext uri="{FF2B5EF4-FFF2-40B4-BE49-F238E27FC236}">
                <a16:creationId xmlns:a16="http://schemas.microsoft.com/office/drawing/2014/main" id="{79144BC9-1D6E-9DDF-CC7A-1C253E4EA11F}"/>
              </a:ext>
            </a:extLst>
          </p:cNvPr>
          <p:cNvSpPr>
            <a:spLocks noGrp="1"/>
          </p:cNvSpPr>
          <p:nvPr/>
        </p:nvSpPr>
        <p:spPr>
          <a:xfrm>
            <a:off x="6129339"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a:t>
            </a:r>
          </a:p>
        </p:txBody>
      </p:sp>
      <p:sp>
        <p:nvSpPr>
          <p:cNvPr id="113" name="kv-frame">
            <a:extLst>
              <a:ext uri="{FF2B5EF4-FFF2-40B4-BE49-F238E27FC236}">
                <a16:creationId xmlns:a16="http://schemas.microsoft.com/office/drawing/2014/main" id="{2AEC3F3C-C0AE-2DCE-C52A-5FD994AE1283}"/>
              </a:ext>
            </a:extLst>
          </p:cNvPr>
          <p:cNvSpPr>
            <a:spLocks noGrp="1"/>
          </p:cNvSpPr>
          <p:nvPr/>
        </p:nvSpPr>
        <p:spPr>
          <a:xfrm>
            <a:off x="990601" y="2995794"/>
            <a:ext cx="6076950" cy="657225"/>
          </a:xfrm>
          <a:prstGeom prst="roundRect">
            <a:avLst>
              <a:gd name="adj" fmla="val 5797"/>
            </a:avLst>
          </a:prstGeom>
          <a:solidFill>
            <a:srgbClr val="FFFFFF"/>
          </a:solidFill>
          <a:ln w="9525">
            <a:solidFill>
              <a:srgbClr val="CFE3C7"/>
            </a:solidFill>
            <a:prstDash val="solid"/>
          </a:ln>
        </p:spPr>
        <p:txBody>
          <a:bodyPr/>
          <a:lstStyle/>
          <a:p>
            <a:endParaRPr lang="zh-CN" altLang="en-US" sz="1600"/>
          </a:p>
        </p:txBody>
      </p:sp>
      <p:sp>
        <p:nvSpPr>
          <p:cNvPr id="114" name="kv-title">
            <a:extLst>
              <a:ext uri="{FF2B5EF4-FFF2-40B4-BE49-F238E27FC236}">
                <a16:creationId xmlns:a16="http://schemas.microsoft.com/office/drawing/2014/main" id="{47181DCF-CFDD-7158-04D6-90A5F078E914}"/>
              </a:ext>
            </a:extLst>
          </p:cNvPr>
          <p:cNvSpPr>
            <a:spLocks noGrp="1"/>
          </p:cNvSpPr>
          <p:nvPr/>
        </p:nvSpPr>
        <p:spPr>
          <a:xfrm>
            <a:off x="1047751" y="3014844"/>
            <a:ext cx="5962650" cy="123825"/>
          </a:xfrm>
          <a:prstGeom prst="rect">
            <a:avLst/>
          </a:prstGeom>
          <a:noFill/>
          <a:ln w="0">
            <a:noFill/>
            <a:prstDash val="solid"/>
          </a:ln>
        </p:spPr>
        <p:txBody>
          <a:bodyPr wrap="square" lIns="19050" tIns="9525" rIns="19050" bIns="9525" anchor="ctr">
            <a:noAutofit/>
          </a:bodyPr>
          <a:lstStyle/>
          <a:p>
            <a:pPr algn="ctr">
              <a:defRPr sz="653" b="1">
                <a:solidFill>
                  <a:srgbClr val="2F8B45"/>
                </a:solidFill>
                <a:latin typeface="Arial"/>
                <a:ea typeface="Arial"/>
                <a:cs typeface="Arial"/>
              </a:defRPr>
            </a:pPr>
            <a:r>
              <a:rPr sz="800" b="1" dirty="0">
                <a:solidFill>
                  <a:srgbClr val="2F8B45"/>
                </a:solidFill>
                <a:latin typeface="Arial"/>
                <a:ea typeface="Arial"/>
                <a:cs typeface="Arial"/>
              </a:rPr>
              <a:t>KV-Cache Offload &amp; Management Layer  (</a:t>
            </a:r>
            <a:r>
              <a:rPr lang="en-US" sz="800" b="1" dirty="0" err="1">
                <a:solidFill>
                  <a:srgbClr val="2F8B45"/>
                </a:solidFill>
                <a:latin typeface="Arial"/>
                <a:ea typeface="Arial"/>
                <a:cs typeface="Arial"/>
              </a:rPr>
              <a:t>LMCache</a:t>
            </a:r>
            <a:r>
              <a:rPr lang="en-US" sz="800" b="1" dirty="0">
                <a:solidFill>
                  <a:srgbClr val="2F8B45"/>
                </a:solidFill>
                <a:latin typeface="Arial"/>
                <a:ea typeface="Arial"/>
                <a:cs typeface="Arial"/>
              </a:rPr>
              <a:t>, KVBM</a:t>
            </a:r>
            <a:r>
              <a:rPr lang="en-US" sz="800" b="1" dirty="0">
                <a:solidFill>
                  <a:srgbClr val="2F8B45"/>
                </a:solidFill>
              </a:rPr>
              <a:t>, </a:t>
            </a:r>
            <a:r>
              <a:rPr lang="en-US" sz="800" b="1" dirty="0">
                <a:solidFill>
                  <a:srgbClr val="2F8B45"/>
                </a:solidFill>
                <a:latin typeface="Arial"/>
                <a:ea typeface="Arial"/>
                <a:cs typeface="Arial"/>
              </a:rPr>
              <a:t>Mooncake</a:t>
            </a:r>
            <a:r>
              <a:rPr sz="800" b="1" dirty="0">
                <a:solidFill>
                  <a:srgbClr val="2F8B45"/>
                </a:solidFill>
                <a:latin typeface="Arial"/>
                <a:ea typeface="Arial"/>
                <a:cs typeface="Arial"/>
              </a:rPr>
              <a:t>)</a:t>
            </a:r>
          </a:p>
        </p:txBody>
      </p:sp>
      <p:sp>
        <p:nvSpPr>
          <p:cNvPr id="115" name="kv-col-1">
            <a:extLst>
              <a:ext uri="{FF2B5EF4-FFF2-40B4-BE49-F238E27FC236}">
                <a16:creationId xmlns:a16="http://schemas.microsoft.com/office/drawing/2014/main" id="{EA1F52F3-EE9D-BB92-FE97-4D6B1DFAA101}"/>
              </a:ext>
            </a:extLst>
          </p:cNvPr>
          <p:cNvSpPr>
            <a:spLocks noGrp="1"/>
          </p:cNvSpPr>
          <p:nvPr/>
        </p:nvSpPr>
        <p:spPr>
          <a:xfrm>
            <a:off x="1047751" y="3157719"/>
            <a:ext cx="1162050" cy="447675"/>
          </a:xfrm>
          <a:prstGeom prst="roundRect">
            <a:avLst>
              <a:gd name="adj" fmla="val 6383"/>
            </a:avLst>
          </a:prstGeom>
          <a:solidFill>
            <a:srgbClr val="FAFCF8"/>
          </a:solidFill>
          <a:ln w="9525">
            <a:solidFill>
              <a:srgbClr val="DAE9D4"/>
            </a:solidFill>
            <a:prstDash val="solid"/>
          </a:ln>
        </p:spPr>
        <p:txBody>
          <a:bodyPr/>
          <a:lstStyle/>
          <a:p>
            <a:endParaRPr lang="zh-CN" altLang="en-US" sz="1600"/>
          </a:p>
        </p:txBody>
      </p:sp>
      <p:sp>
        <p:nvSpPr>
          <p:cNvPr id="116" name="kv-col-1-title">
            <a:extLst>
              <a:ext uri="{FF2B5EF4-FFF2-40B4-BE49-F238E27FC236}">
                <a16:creationId xmlns:a16="http://schemas.microsoft.com/office/drawing/2014/main" id="{BE4C0944-2FC8-C97E-1732-615921EF4C8D}"/>
              </a:ext>
            </a:extLst>
          </p:cNvPr>
          <p:cNvSpPr>
            <a:spLocks noGrp="1"/>
          </p:cNvSpPr>
          <p:nvPr/>
        </p:nvSpPr>
        <p:spPr>
          <a:xfrm>
            <a:off x="1066801" y="3176769"/>
            <a:ext cx="1123950" cy="95250"/>
          </a:xfrm>
          <a:prstGeom prst="rect">
            <a:avLst/>
          </a:prstGeom>
          <a:noFill/>
          <a:ln w="0">
            <a:noFill/>
            <a:prstDash val="solid"/>
          </a:ln>
        </p:spPr>
        <p:txBody>
          <a:bodyPr wrap="square" lIns="19050" tIns="9525" rIns="19050" bIns="9525" anchor="ctr">
            <a:normAutofit/>
          </a:bodyPr>
          <a:lstStyle/>
          <a:p>
            <a:pPr algn="ctr">
              <a:defRPr sz="435" b="1">
                <a:solidFill>
                  <a:srgbClr val="2F8B45"/>
                </a:solidFill>
                <a:latin typeface="Arial"/>
                <a:ea typeface="Arial"/>
                <a:cs typeface="Arial"/>
              </a:defRPr>
            </a:pPr>
            <a:r>
              <a:rPr sz="500" b="1">
                <a:solidFill>
                  <a:srgbClr val="2F8B45"/>
                </a:solidFill>
                <a:latin typeface="Arial"/>
                <a:ea typeface="Arial"/>
                <a:cs typeface="Arial"/>
              </a:rPr>
              <a:t>KV Cache Management</a:t>
            </a:r>
          </a:p>
        </p:txBody>
      </p:sp>
      <p:sp>
        <p:nvSpPr>
          <p:cNvPr id="117" name="kv-col-1-body">
            <a:extLst>
              <a:ext uri="{FF2B5EF4-FFF2-40B4-BE49-F238E27FC236}">
                <a16:creationId xmlns:a16="http://schemas.microsoft.com/office/drawing/2014/main" id="{BC40F0CE-8360-1C41-8532-6F898F7566E3}"/>
              </a:ext>
            </a:extLst>
          </p:cNvPr>
          <p:cNvSpPr>
            <a:spLocks noGrp="1"/>
          </p:cNvSpPr>
          <p:nvPr/>
        </p:nvSpPr>
        <p:spPr>
          <a:xfrm>
            <a:off x="1076326" y="3281544"/>
            <a:ext cx="1104900" cy="295275"/>
          </a:xfrm>
          <a:prstGeom prst="rect">
            <a:avLst/>
          </a:prstGeom>
          <a:noFill/>
          <a:ln w="0">
            <a:noFill/>
            <a:prstDash val="solid"/>
          </a:ln>
        </p:spPr>
        <p:txBody>
          <a:bodyPr wrap="square" lIns="19050" tIns="9525" rIns="19050" bIns="9525" anchor="ctr">
            <a:noAutofit/>
          </a:bodyPr>
          <a:lstStyle/>
          <a:p>
            <a:pPr algn="ctr">
              <a:defRPr sz="397" b="0">
                <a:solidFill>
                  <a:srgbClr val="102031"/>
                </a:solidFill>
                <a:latin typeface="Arial"/>
                <a:ea typeface="Arial"/>
                <a:cs typeface="Arial"/>
              </a:defRPr>
            </a:pPr>
            <a:r>
              <a:rPr sz="500" b="0">
                <a:solidFill>
                  <a:srgbClr val="102031"/>
                </a:solidFill>
                <a:latin typeface="Arial"/>
                <a:ea typeface="Arial"/>
                <a:cs typeface="Arial"/>
              </a:rPr>
              <a:t>KVBM</a:t>
            </a:r>
          </a:p>
          <a:p>
            <a:pPr algn="ctr">
              <a:defRPr sz="397" b="0">
                <a:solidFill>
                  <a:srgbClr val="102031"/>
                </a:solidFill>
                <a:latin typeface="Arial"/>
                <a:ea typeface="Arial"/>
                <a:cs typeface="Arial"/>
              </a:defRPr>
            </a:pPr>
            <a:r>
              <a:rPr sz="500" b="0">
                <a:solidFill>
                  <a:srgbClr val="102031"/>
                </a:solidFill>
                <a:latin typeface="Arial"/>
                <a:ea typeface="Arial"/>
                <a:cs typeface="Arial"/>
              </a:rPr>
              <a:t>LMCache</a:t>
            </a:r>
          </a:p>
          <a:p>
            <a:pPr algn="ctr">
              <a:defRPr sz="397" b="0">
                <a:solidFill>
                  <a:srgbClr val="102031"/>
                </a:solidFill>
                <a:latin typeface="Arial"/>
                <a:ea typeface="Arial"/>
                <a:cs typeface="Arial"/>
              </a:defRPr>
            </a:pPr>
            <a:r>
              <a:rPr sz="500" b="0">
                <a:solidFill>
                  <a:srgbClr val="102031"/>
                </a:solidFill>
                <a:latin typeface="Arial"/>
                <a:ea typeface="Arial"/>
                <a:cs typeface="Arial"/>
              </a:rPr>
              <a:t>Mooncake</a:t>
            </a:r>
          </a:p>
          <a:p>
            <a:pPr algn="ctr">
              <a:defRPr sz="397" b="0">
                <a:solidFill>
                  <a:srgbClr val="102031"/>
                </a:solidFill>
                <a:latin typeface="Arial"/>
                <a:ea typeface="Arial"/>
                <a:cs typeface="Arial"/>
              </a:defRPr>
            </a:pPr>
            <a:r>
              <a:rPr sz="500" b="0">
                <a:solidFill>
                  <a:srgbClr val="102031"/>
                </a:solidFill>
                <a:latin typeface="Arial"/>
                <a:ea typeface="Arial"/>
                <a:cs typeface="Arial"/>
              </a:rPr>
              <a:t>…</a:t>
            </a:r>
          </a:p>
        </p:txBody>
      </p:sp>
      <p:sp>
        <p:nvSpPr>
          <p:cNvPr id="118" name="kv-col-2">
            <a:extLst>
              <a:ext uri="{FF2B5EF4-FFF2-40B4-BE49-F238E27FC236}">
                <a16:creationId xmlns:a16="http://schemas.microsoft.com/office/drawing/2014/main" id="{5D38B01C-3D48-22EC-122E-E7DDB21B7DA1}"/>
              </a:ext>
            </a:extLst>
          </p:cNvPr>
          <p:cNvSpPr>
            <a:spLocks noGrp="1"/>
          </p:cNvSpPr>
          <p:nvPr/>
        </p:nvSpPr>
        <p:spPr>
          <a:xfrm>
            <a:off x="2247901" y="3157719"/>
            <a:ext cx="1162050" cy="447675"/>
          </a:xfrm>
          <a:prstGeom prst="roundRect">
            <a:avLst>
              <a:gd name="adj" fmla="val 6383"/>
            </a:avLst>
          </a:prstGeom>
          <a:solidFill>
            <a:srgbClr val="FAFCF8"/>
          </a:solidFill>
          <a:ln w="9525">
            <a:solidFill>
              <a:srgbClr val="DAE9D4"/>
            </a:solidFill>
            <a:prstDash val="solid"/>
          </a:ln>
        </p:spPr>
        <p:txBody>
          <a:bodyPr/>
          <a:lstStyle/>
          <a:p>
            <a:endParaRPr lang="zh-CN" altLang="en-US" sz="1600"/>
          </a:p>
        </p:txBody>
      </p:sp>
      <p:sp>
        <p:nvSpPr>
          <p:cNvPr id="119" name="kv-col-2-title">
            <a:extLst>
              <a:ext uri="{FF2B5EF4-FFF2-40B4-BE49-F238E27FC236}">
                <a16:creationId xmlns:a16="http://schemas.microsoft.com/office/drawing/2014/main" id="{223D98C9-3BE5-99F9-577E-D11575812298}"/>
              </a:ext>
            </a:extLst>
          </p:cNvPr>
          <p:cNvSpPr>
            <a:spLocks noGrp="1"/>
          </p:cNvSpPr>
          <p:nvPr/>
        </p:nvSpPr>
        <p:spPr>
          <a:xfrm>
            <a:off x="2266951" y="3176769"/>
            <a:ext cx="1123950" cy="95250"/>
          </a:xfrm>
          <a:prstGeom prst="rect">
            <a:avLst/>
          </a:prstGeom>
          <a:noFill/>
          <a:ln w="0">
            <a:noFill/>
            <a:prstDash val="solid"/>
          </a:ln>
        </p:spPr>
        <p:txBody>
          <a:bodyPr wrap="square" lIns="19050" tIns="9525" rIns="19050" bIns="9525" anchor="ctr">
            <a:normAutofit/>
          </a:bodyPr>
          <a:lstStyle/>
          <a:p>
            <a:pPr algn="ctr">
              <a:defRPr sz="435" b="1">
                <a:solidFill>
                  <a:srgbClr val="2F8B45"/>
                </a:solidFill>
                <a:latin typeface="Arial"/>
                <a:ea typeface="Arial"/>
                <a:cs typeface="Arial"/>
              </a:defRPr>
            </a:pPr>
            <a:r>
              <a:rPr sz="500" b="1">
                <a:solidFill>
                  <a:srgbClr val="2F8B45"/>
                </a:solidFill>
                <a:latin typeface="Arial"/>
                <a:ea typeface="Arial"/>
                <a:cs typeface="Arial"/>
              </a:rPr>
              <a:t>Storage Abstraction (NIXL)</a:t>
            </a:r>
          </a:p>
        </p:txBody>
      </p:sp>
      <p:sp>
        <p:nvSpPr>
          <p:cNvPr id="120" name="kv-col-2-body">
            <a:extLst>
              <a:ext uri="{FF2B5EF4-FFF2-40B4-BE49-F238E27FC236}">
                <a16:creationId xmlns:a16="http://schemas.microsoft.com/office/drawing/2014/main" id="{5A7AAD5E-D4A8-3867-7636-7C37C780A8CC}"/>
              </a:ext>
            </a:extLst>
          </p:cNvPr>
          <p:cNvSpPr>
            <a:spLocks noGrp="1"/>
          </p:cNvSpPr>
          <p:nvPr/>
        </p:nvSpPr>
        <p:spPr>
          <a:xfrm>
            <a:off x="2276476" y="3281544"/>
            <a:ext cx="1104900" cy="295275"/>
          </a:xfrm>
          <a:prstGeom prst="rect">
            <a:avLst/>
          </a:prstGeom>
          <a:noFill/>
          <a:ln w="0">
            <a:noFill/>
            <a:prstDash val="solid"/>
          </a:ln>
        </p:spPr>
        <p:txBody>
          <a:bodyPr wrap="square" lIns="19050" tIns="9525" rIns="19050" bIns="9525" anchor="ctr">
            <a:noAutofit/>
          </a:bodyPr>
          <a:lstStyle/>
          <a:p>
            <a:pPr algn="ctr">
              <a:defRPr sz="397" b="0">
                <a:solidFill>
                  <a:srgbClr val="102031"/>
                </a:solidFill>
                <a:latin typeface="Arial"/>
                <a:ea typeface="Arial"/>
                <a:cs typeface="Arial"/>
              </a:defRPr>
            </a:pPr>
            <a:r>
              <a:rPr sz="500" b="0">
                <a:solidFill>
                  <a:srgbClr val="102031"/>
                </a:solidFill>
                <a:latin typeface="Arial"/>
                <a:ea typeface="Arial"/>
                <a:cs typeface="Arial"/>
              </a:rPr>
              <a:t>Unified Interface</a:t>
            </a:r>
          </a:p>
          <a:p>
            <a:pPr algn="ctr">
              <a:defRPr sz="397" b="0">
                <a:solidFill>
                  <a:srgbClr val="102031"/>
                </a:solidFill>
                <a:latin typeface="Arial"/>
                <a:ea typeface="Arial"/>
                <a:cs typeface="Arial"/>
              </a:defRPr>
            </a:pPr>
            <a:r>
              <a:rPr sz="500" b="0">
                <a:solidFill>
                  <a:srgbClr val="102031"/>
                </a:solidFill>
                <a:latin typeface="Arial"/>
                <a:ea typeface="Arial"/>
                <a:cs typeface="Arial"/>
              </a:rPr>
              <a:t>Tiered Storage Mgmt.</a:t>
            </a:r>
          </a:p>
          <a:p>
            <a:pPr algn="ctr">
              <a:defRPr sz="397" b="0">
                <a:solidFill>
                  <a:srgbClr val="102031"/>
                </a:solidFill>
                <a:latin typeface="Arial"/>
                <a:ea typeface="Arial"/>
                <a:cs typeface="Arial"/>
              </a:defRPr>
            </a:pPr>
            <a:r>
              <a:rPr sz="500" b="0">
                <a:solidFill>
                  <a:srgbClr val="102031"/>
                </a:solidFill>
                <a:latin typeface="Arial"/>
                <a:ea typeface="Arial"/>
                <a:cs typeface="Arial"/>
              </a:rPr>
              <a:t>Cache Policy</a:t>
            </a:r>
          </a:p>
          <a:p>
            <a:pPr algn="ctr">
              <a:defRPr sz="397" b="0">
                <a:solidFill>
                  <a:srgbClr val="102031"/>
                </a:solidFill>
                <a:latin typeface="Arial"/>
                <a:ea typeface="Arial"/>
                <a:cs typeface="Arial"/>
              </a:defRPr>
            </a:pPr>
            <a:r>
              <a:rPr sz="500" b="0">
                <a:solidFill>
                  <a:srgbClr val="102031"/>
                </a:solidFill>
                <a:latin typeface="Arial"/>
                <a:ea typeface="Arial"/>
                <a:cs typeface="Arial"/>
              </a:rPr>
              <a:t>Data Consistency</a:t>
            </a:r>
          </a:p>
        </p:txBody>
      </p:sp>
      <p:sp>
        <p:nvSpPr>
          <p:cNvPr id="121" name="kv-col-3">
            <a:extLst>
              <a:ext uri="{FF2B5EF4-FFF2-40B4-BE49-F238E27FC236}">
                <a16:creationId xmlns:a16="http://schemas.microsoft.com/office/drawing/2014/main" id="{03E3C4CC-A53E-7325-CD9B-FFCEB733698E}"/>
              </a:ext>
            </a:extLst>
          </p:cNvPr>
          <p:cNvSpPr>
            <a:spLocks noGrp="1"/>
          </p:cNvSpPr>
          <p:nvPr/>
        </p:nvSpPr>
        <p:spPr>
          <a:xfrm>
            <a:off x="3448051" y="3157719"/>
            <a:ext cx="1162050" cy="447675"/>
          </a:xfrm>
          <a:prstGeom prst="roundRect">
            <a:avLst>
              <a:gd name="adj" fmla="val 6383"/>
            </a:avLst>
          </a:prstGeom>
          <a:solidFill>
            <a:srgbClr val="FAFCF8"/>
          </a:solidFill>
          <a:ln w="9525">
            <a:solidFill>
              <a:srgbClr val="DAE9D4"/>
            </a:solidFill>
            <a:prstDash val="solid"/>
          </a:ln>
        </p:spPr>
        <p:txBody>
          <a:bodyPr/>
          <a:lstStyle/>
          <a:p>
            <a:endParaRPr lang="zh-CN" altLang="en-US" sz="1600"/>
          </a:p>
        </p:txBody>
      </p:sp>
      <p:sp>
        <p:nvSpPr>
          <p:cNvPr id="122" name="kv-col-3-title">
            <a:extLst>
              <a:ext uri="{FF2B5EF4-FFF2-40B4-BE49-F238E27FC236}">
                <a16:creationId xmlns:a16="http://schemas.microsoft.com/office/drawing/2014/main" id="{CB1131DB-E96F-8364-712C-33FD2CFD269A}"/>
              </a:ext>
            </a:extLst>
          </p:cNvPr>
          <p:cNvSpPr>
            <a:spLocks noGrp="1"/>
          </p:cNvSpPr>
          <p:nvPr/>
        </p:nvSpPr>
        <p:spPr>
          <a:xfrm>
            <a:off x="3467101" y="3176769"/>
            <a:ext cx="1123950" cy="95250"/>
          </a:xfrm>
          <a:prstGeom prst="rect">
            <a:avLst/>
          </a:prstGeom>
          <a:noFill/>
          <a:ln w="0">
            <a:noFill/>
            <a:prstDash val="solid"/>
          </a:ln>
        </p:spPr>
        <p:txBody>
          <a:bodyPr wrap="square" lIns="19050" tIns="9525" rIns="19050" bIns="9525" anchor="ctr">
            <a:normAutofit/>
          </a:bodyPr>
          <a:lstStyle/>
          <a:p>
            <a:pPr algn="ctr">
              <a:defRPr sz="435" b="1">
                <a:solidFill>
                  <a:srgbClr val="2F8B45"/>
                </a:solidFill>
                <a:latin typeface="Arial"/>
                <a:ea typeface="Arial"/>
                <a:cs typeface="Arial"/>
              </a:defRPr>
            </a:pPr>
            <a:r>
              <a:rPr sz="500" b="1">
                <a:solidFill>
                  <a:srgbClr val="2F8B45"/>
                </a:solidFill>
                <a:latin typeface="Arial"/>
                <a:ea typeface="Arial"/>
                <a:cs typeface="Arial"/>
              </a:rPr>
              <a:t>Distributed Memory KV Transport</a:t>
            </a:r>
          </a:p>
        </p:txBody>
      </p:sp>
      <p:sp>
        <p:nvSpPr>
          <p:cNvPr id="123" name="kv-col-3-body">
            <a:extLst>
              <a:ext uri="{FF2B5EF4-FFF2-40B4-BE49-F238E27FC236}">
                <a16:creationId xmlns:a16="http://schemas.microsoft.com/office/drawing/2014/main" id="{8B80068E-4C4C-3A0E-5B67-3C766C4AFE41}"/>
              </a:ext>
            </a:extLst>
          </p:cNvPr>
          <p:cNvSpPr>
            <a:spLocks noGrp="1"/>
          </p:cNvSpPr>
          <p:nvPr/>
        </p:nvSpPr>
        <p:spPr>
          <a:xfrm>
            <a:off x="3476626" y="3281544"/>
            <a:ext cx="1104900" cy="295275"/>
          </a:xfrm>
          <a:prstGeom prst="rect">
            <a:avLst/>
          </a:prstGeom>
          <a:noFill/>
          <a:ln w="0">
            <a:noFill/>
            <a:prstDash val="solid"/>
          </a:ln>
        </p:spPr>
        <p:txBody>
          <a:bodyPr wrap="square" lIns="19050" tIns="9525" rIns="19050" bIns="9525" anchor="ctr">
            <a:noAutofit/>
          </a:bodyPr>
          <a:lstStyle/>
          <a:p>
            <a:pPr algn="ctr">
              <a:defRPr sz="397" b="0">
                <a:solidFill>
                  <a:srgbClr val="102031"/>
                </a:solidFill>
                <a:latin typeface="Arial"/>
                <a:ea typeface="Arial"/>
                <a:cs typeface="Arial"/>
              </a:defRPr>
            </a:pPr>
            <a:r>
              <a:rPr sz="500" b="0" dirty="0" err="1">
                <a:solidFill>
                  <a:srgbClr val="102031"/>
                </a:solidFill>
                <a:latin typeface="Arial"/>
                <a:ea typeface="Arial"/>
                <a:cs typeface="Arial"/>
              </a:rPr>
              <a:t>Redhare</a:t>
            </a:r>
            <a:endParaRPr sz="500" b="0" dirty="0">
              <a:solidFill>
                <a:srgbClr val="102031"/>
              </a:solidFill>
              <a:latin typeface="Arial"/>
              <a:ea typeface="Arial"/>
              <a:cs typeface="Arial"/>
            </a:endParaRPr>
          </a:p>
          <a:p>
            <a:pPr algn="ctr">
              <a:defRPr sz="397" b="0">
                <a:solidFill>
                  <a:srgbClr val="102031"/>
                </a:solidFill>
                <a:latin typeface="Arial"/>
                <a:ea typeface="Arial"/>
                <a:cs typeface="Arial"/>
              </a:defRPr>
            </a:pPr>
            <a:r>
              <a:rPr sz="500" b="0" dirty="0">
                <a:solidFill>
                  <a:srgbClr val="102031"/>
                </a:solidFill>
                <a:latin typeface="Arial"/>
                <a:ea typeface="Arial"/>
                <a:cs typeface="Arial"/>
              </a:rPr>
              <a:t>(Distributed Memory KV Transport)</a:t>
            </a:r>
          </a:p>
          <a:p>
            <a:pPr algn="ctr">
              <a:defRPr sz="397" b="0">
                <a:solidFill>
                  <a:srgbClr val="102031"/>
                </a:solidFill>
                <a:latin typeface="Arial"/>
                <a:ea typeface="Arial"/>
                <a:cs typeface="Arial"/>
              </a:defRPr>
            </a:pPr>
            <a:r>
              <a:rPr sz="500" b="0" dirty="0" err="1">
                <a:solidFill>
                  <a:srgbClr val="102031"/>
                </a:solidFill>
                <a:latin typeface="Arial"/>
                <a:ea typeface="Arial"/>
                <a:cs typeface="Arial"/>
              </a:rPr>
              <a:t>ContextStor</a:t>
            </a:r>
            <a:endParaRPr sz="500" b="0" dirty="0">
              <a:solidFill>
                <a:srgbClr val="102031"/>
              </a:solidFill>
              <a:latin typeface="Arial"/>
              <a:ea typeface="Arial"/>
              <a:cs typeface="Arial"/>
            </a:endParaRPr>
          </a:p>
          <a:p>
            <a:pPr algn="ctr">
              <a:defRPr sz="397" b="0">
                <a:solidFill>
                  <a:srgbClr val="102031"/>
                </a:solidFill>
                <a:latin typeface="Arial"/>
                <a:ea typeface="Arial"/>
                <a:cs typeface="Arial"/>
              </a:defRPr>
            </a:pPr>
            <a:r>
              <a:rPr sz="500" b="0" dirty="0">
                <a:solidFill>
                  <a:srgbClr val="102031"/>
                </a:solidFill>
                <a:latin typeface="Arial"/>
                <a:ea typeface="Arial"/>
                <a:cs typeface="Arial"/>
              </a:rPr>
              <a:t>(Large Context Storage)</a:t>
            </a:r>
          </a:p>
        </p:txBody>
      </p:sp>
      <p:sp>
        <p:nvSpPr>
          <p:cNvPr id="124" name="kv-col-4">
            <a:extLst>
              <a:ext uri="{FF2B5EF4-FFF2-40B4-BE49-F238E27FC236}">
                <a16:creationId xmlns:a16="http://schemas.microsoft.com/office/drawing/2014/main" id="{C0067503-6750-50A1-6C54-7120A8D8D9AD}"/>
              </a:ext>
            </a:extLst>
          </p:cNvPr>
          <p:cNvSpPr>
            <a:spLocks noGrp="1"/>
          </p:cNvSpPr>
          <p:nvPr/>
        </p:nvSpPr>
        <p:spPr>
          <a:xfrm>
            <a:off x="4648201" y="3157719"/>
            <a:ext cx="1162050" cy="447675"/>
          </a:xfrm>
          <a:prstGeom prst="roundRect">
            <a:avLst>
              <a:gd name="adj" fmla="val 6383"/>
            </a:avLst>
          </a:prstGeom>
          <a:solidFill>
            <a:srgbClr val="FAFCF8"/>
          </a:solidFill>
          <a:ln w="9525">
            <a:solidFill>
              <a:srgbClr val="DAE9D4"/>
            </a:solidFill>
            <a:prstDash val="solid"/>
          </a:ln>
        </p:spPr>
        <p:txBody>
          <a:bodyPr/>
          <a:lstStyle/>
          <a:p>
            <a:endParaRPr lang="zh-CN" altLang="en-US" sz="1600"/>
          </a:p>
        </p:txBody>
      </p:sp>
      <p:sp>
        <p:nvSpPr>
          <p:cNvPr id="125" name="kv-col-4-title">
            <a:extLst>
              <a:ext uri="{FF2B5EF4-FFF2-40B4-BE49-F238E27FC236}">
                <a16:creationId xmlns:a16="http://schemas.microsoft.com/office/drawing/2014/main" id="{B9D81905-06C0-BAB5-C490-190A118C5448}"/>
              </a:ext>
            </a:extLst>
          </p:cNvPr>
          <p:cNvSpPr>
            <a:spLocks noGrp="1"/>
          </p:cNvSpPr>
          <p:nvPr/>
        </p:nvSpPr>
        <p:spPr>
          <a:xfrm>
            <a:off x="4667251" y="3176769"/>
            <a:ext cx="1123950" cy="95250"/>
          </a:xfrm>
          <a:prstGeom prst="rect">
            <a:avLst/>
          </a:prstGeom>
          <a:noFill/>
          <a:ln w="0">
            <a:noFill/>
            <a:prstDash val="solid"/>
          </a:ln>
        </p:spPr>
        <p:txBody>
          <a:bodyPr wrap="square" lIns="19050" tIns="9525" rIns="19050" bIns="9525" anchor="ctr">
            <a:normAutofit/>
          </a:bodyPr>
          <a:lstStyle/>
          <a:p>
            <a:pPr algn="ctr">
              <a:defRPr sz="435" b="1">
                <a:solidFill>
                  <a:srgbClr val="2F8B45"/>
                </a:solidFill>
                <a:latin typeface="Arial"/>
                <a:ea typeface="Arial"/>
                <a:cs typeface="Arial"/>
              </a:defRPr>
            </a:pPr>
            <a:r>
              <a:rPr sz="500" b="1">
                <a:solidFill>
                  <a:srgbClr val="2F8B45"/>
                </a:solidFill>
                <a:latin typeface="Arial"/>
                <a:ea typeface="Arial"/>
                <a:cs typeface="Arial"/>
              </a:rPr>
              <a:t>Storage Backend</a:t>
            </a:r>
          </a:p>
        </p:txBody>
      </p:sp>
      <p:sp>
        <p:nvSpPr>
          <p:cNvPr id="126" name="kv-col-4-body">
            <a:extLst>
              <a:ext uri="{FF2B5EF4-FFF2-40B4-BE49-F238E27FC236}">
                <a16:creationId xmlns:a16="http://schemas.microsoft.com/office/drawing/2014/main" id="{45628B75-DA1D-EE1F-A039-FB875A2BA173}"/>
              </a:ext>
            </a:extLst>
          </p:cNvPr>
          <p:cNvSpPr>
            <a:spLocks noGrp="1"/>
          </p:cNvSpPr>
          <p:nvPr/>
        </p:nvSpPr>
        <p:spPr>
          <a:xfrm>
            <a:off x="4676776" y="3281544"/>
            <a:ext cx="1104900" cy="295275"/>
          </a:xfrm>
          <a:prstGeom prst="rect">
            <a:avLst/>
          </a:prstGeom>
          <a:noFill/>
          <a:ln w="0">
            <a:noFill/>
            <a:prstDash val="solid"/>
          </a:ln>
        </p:spPr>
        <p:txBody>
          <a:bodyPr wrap="square" lIns="19050" tIns="9525" rIns="19050" bIns="9525" anchor="ctr">
            <a:normAutofit/>
          </a:bodyPr>
          <a:lstStyle/>
          <a:p>
            <a:pPr algn="ctr">
              <a:defRPr sz="397" b="0">
                <a:solidFill>
                  <a:srgbClr val="102031"/>
                </a:solidFill>
                <a:latin typeface="Arial"/>
                <a:ea typeface="Arial"/>
                <a:cs typeface="Arial"/>
              </a:defRPr>
            </a:pPr>
            <a:r>
              <a:rPr sz="500" b="0" dirty="0">
                <a:solidFill>
                  <a:srgbClr val="102031"/>
                </a:solidFill>
                <a:latin typeface="Arial"/>
                <a:ea typeface="Arial"/>
                <a:cs typeface="Arial"/>
              </a:rPr>
              <a:t>Object / File Storage</a:t>
            </a:r>
          </a:p>
          <a:p>
            <a:pPr algn="ctr">
              <a:defRPr sz="397" b="0">
                <a:solidFill>
                  <a:srgbClr val="102031"/>
                </a:solidFill>
                <a:latin typeface="Arial"/>
                <a:ea typeface="Arial"/>
                <a:cs typeface="Arial"/>
              </a:defRPr>
            </a:pPr>
            <a:r>
              <a:rPr sz="500" b="0" dirty="0">
                <a:solidFill>
                  <a:srgbClr val="102031"/>
                </a:solidFill>
                <a:latin typeface="Arial"/>
                <a:ea typeface="Arial"/>
                <a:cs typeface="Arial"/>
              </a:rPr>
              <a:t>High-performance Storage</a:t>
            </a:r>
          </a:p>
          <a:p>
            <a:pPr algn="ctr">
              <a:defRPr sz="397" b="0">
                <a:solidFill>
                  <a:srgbClr val="102031"/>
                </a:solidFill>
                <a:latin typeface="Arial"/>
                <a:ea typeface="Arial"/>
                <a:cs typeface="Arial"/>
              </a:defRPr>
            </a:pPr>
            <a:r>
              <a:rPr sz="500" b="0" dirty="0">
                <a:solidFill>
                  <a:srgbClr val="102031"/>
                </a:solidFill>
                <a:latin typeface="Arial"/>
                <a:ea typeface="Arial"/>
                <a:cs typeface="Arial"/>
              </a:rPr>
              <a:t>Cloud / On-prem Storage</a:t>
            </a:r>
          </a:p>
        </p:txBody>
      </p:sp>
      <p:sp>
        <p:nvSpPr>
          <p:cNvPr id="127" name="kv-col-5">
            <a:extLst>
              <a:ext uri="{FF2B5EF4-FFF2-40B4-BE49-F238E27FC236}">
                <a16:creationId xmlns:a16="http://schemas.microsoft.com/office/drawing/2014/main" id="{1EE7A009-20AF-7E11-FF5A-4EE1664C9665}"/>
              </a:ext>
            </a:extLst>
          </p:cNvPr>
          <p:cNvSpPr>
            <a:spLocks noGrp="1"/>
          </p:cNvSpPr>
          <p:nvPr/>
        </p:nvSpPr>
        <p:spPr>
          <a:xfrm>
            <a:off x="5848351" y="3157719"/>
            <a:ext cx="1162050" cy="447675"/>
          </a:xfrm>
          <a:prstGeom prst="roundRect">
            <a:avLst>
              <a:gd name="adj" fmla="val 6383"/>
            </a:avLst>
          </a:prstGeom>
          <a:solidFill>
            <a:srgbClr val="FAFCF8"/>
          </a:solidFill>
          <a:ln w="9525">
            <a:solidFill>
              <a:srgbClr val="DAE9D4"/>
            </a:solidFill>
            <a:prstDash val="solid"/>
          </a:ln>
        </p:spPr>
        <p:txBody>
          <a:bodyPr/>
          <a:lstStyle/>
          <a:p>
            <a:endParaRPr lang="zh-CN" altLang="en-US" sz="1600"/>
          </a:p>
        </p:txBody>
      </p:sp>
      <p:sp>
        <p:nvSpPr>
          <p:cNvPr id="128" name="kv-col-5-title">
            <a:extLst>
              <a:ext uri="{FF2B5EF4-FFF2-40B4-BE49-F238E27FC236}">
                <a16:creationId xmlns:a16="http://schemas.microsoft.com/office/drawing/2014/main" id="{6B4B0ECF-0BE7-F0E1-DE94-AFEEA2DDB242}"/>
              </a:ext>
            </a:extLst>
          </p:cNvPr>
          <p:cNvSpPr>
            <a:spLocks noGrp="1"/>
          </p:cNvSpPr>
          <p:nvPr/>
        </p:nvSpPr>
        <p:spPr>
          <a:xfrm>
            <a:off x="5867401" y="3176769"/>
            <a:ext cx="1123950" cy="95250"/>
          </a:xfrm>
          <a:prstGeom prst="rect">
            <a:avLst/>
          </a:prstGeom>
          <a:noFill/>
          <a:ln w="0">
            <a:noFill/>
            <a:prstDash val="solid"/>
          </a:ln>
        </p:spPr>
        <p:txBody>
          <a:bodyPr wrap="square" lIns="19050" tIns="9525" rIns="19050" bIns="9525" anchor="ctr">
            <a:normAutofit/>
          </a:bodyPr>
          <a:lstStyle/>
          <a:p>
            <a:pPr algn="ctr">
              <a:defRPr sz="435" b="1">
                <a:solidFill>
                  <a:srgbClr val="2F8B45"/>
                </a:solidFill>
                <a:latin typeface="Arial"/>
                <a:ea typeface="Arial"/>
                <a:cs typeface="Arial"/>
              </a:defRPr>
            </a:pPr>
            <a:r>
              <a:rPr sz="500" b="1">
                <a:solidFill>
                  <a:srgbClr val="2F8B45"/>
                </a:solidFill>
                <a:latin typeface="Arial"/>
                <a:ea typeface="Arial"/>
                <a:cs typeface="Arial"/>
              </a:rPr>
              <a:t>DPU Storage Gateway</a:t>
            </a:r>
          </a:p>
        </p:txBody>
      </p:sp>
      <p:sp>
        <p:nvSpPr>
          <p:cNvPr id="129" name="kv-col-5-body">
            <a:extLst>
              <a:ext uri="{FF2B5EF4-FFF2-40B4-BE49-F238E27FC236}">
                <a16:creationId xmlns:a16="http://schemas.microsoft.com/office/drawing/2014/main" id="{C779D286-49EA-452F-945C-071D5E11C130}"/>
              </a:ext>
            </a:extLst>
          </p:cNvPr>
          <p:cNvSpPr>
            <a:spLocks noGrp="1"/>
          </p:cNvSpPr>
          <p:nvPr/>
        </p:nvSpPr>
        <p:spPr>
          <a:xfrm>
            <a:off x="5876926" y="3281544"/>
            <a:ext cx="1104900" cy="295275"/>
          </a:xfrm>
          <a:prstGeom prst="rect">
            <a:avLst/>
          </a:prstGeom>
          <a:noFill/>
          <a:ln w="0">
            <a:noFill/>
            <a:prstDash val="solid"/>
          </a:ln>
        </p:spPr>
        <p:txBody>
          <a:bodyPr wrap="square" lIns="19050" tIns="9525" rIns="19050" bIns="9525" anchor="ctr">
            <a:normAutofit/>
          </a:bodyPr>
          <a:lstStyle/>
          <a:p>
            <a:pPr algn="ctr">
              <a:defRPr sz="397" b="0">
                <a:solidFill>
                  <a:srgbClr val="102031"/>
                </a:solidFill>
                <a:latin typeface="Arial"/>
                <a:ea typeface="Arial"/>
                <a:cs typeface="Arial"/>
              </a:defRPr>
            </a:pPr>
            <a:r>
              <a:rPr sz="500" b="0" dirty="0">
                <a:solidFill>
                  <a:srgbClr val="102031"/>
                </a:solidFill>
                <a:latin typeface="Arial"/>
                <a:ea typeface="Arial"/>
                <a:cs typeface="Arial"/>
              </a:rPr>
              <a:t>DPU Acceleration</a:t>
            </a:r>
          </a:p>
          <a:p>
            <a:pPr algn="ctr">
              <a:defRPr sz="397" b="0">
                <a:solidFill>
                  <a:srgbClr val="102031"/>
                </a:solidFill>
                <a:latin typeface="Arial"/>
                <a:ea typeface="Arial"/>
                <a:cs typeface="Arial"/>
              </a:defRPr>
            </a:pPr>
            <a:r>
              <a:rPr sz="500" b="0" dirty="0">
                <a:solidFill>
                  <a:srgbClr val="102031"/>
                </a:solidFill>
                <a:latin typeface="Arial"/>
                <a:ea typeface="Arial"/>
                <a:cs typeface="Arial"/>
              </a:rPr>
              <a:t>Protocol Offload · Data Optimization</a:t>
            </a:r>
          </a:p>
          <a:p>
            <a:pPr algn="ctr">
              <a:defRPr sz="397" b="0">
                <a:solidFill>
                  <a:srgbClr val="102031"/>
                </a:solidFill>
                <a:latin typeface="Arial"/>
                <a:ea typeface="Arial"/>
                <a:cs typeface="Arial"/>
              </a:defRPr>
            </a:pPr>
            <a:r>
              <a:rPr sz="500" b="0" dirty="0">
                <a:solidFill>
                  <a:srgbClr val="102031"/>
                </a:solidFill>
                <a:latin typeface="Arial"/>
                <a:ea typeface="Arial"/>
                <a:cs typeface="Arial"/>
              </a:rPr>
              <a:t>Security Isolation · High Performance</a:t>
            </a:r>
          </a:p>
        </p:txBody>
      </p:sp>
      <p:sp>
        <p:nvSpPr>
          <p:cNvPr id="130" name="maas-surface">
            <a:extLst>
              <a:ext uri="{FF2B5EF4-FFF2-40B4-BE49-F238E27FC236}">
                <a16:creationId xmlns:a16="http://schemas.microsoft.com/office/drawing/2014/main" id="{4ADEFAD5-77C8-137A-8AD9-1C31AC61F5EE}"/>
              </a:ext>
            </a:extLst>
          </p:cNvPr>
          <p:cNvSpPr>
            <a:spLocks noGrp="1"/>
          </p:cNvSpPr>
          <p:nvPr/>
        </p:nvSpPr>
        <p:spPr>
          <a:xfrm>
            <a:off x="7219950" y="1214618"/>
            <a:ext cx="1847849" cy="3609975"/>
          </a:xfrm>
          <a:prstGeom prst="roundRect">
            <a:avLst>
              <a:gd name="adj" fmla="val 2577"/>
            </a:avLst>
          </a:prstGeom>
          <a:solidFill>
            <a:srgbClr val="F9FCF7"/>
          </a:solidFill>
          <a:ln w="9525">
            <a:solidFill>
              <a:srgbClr val="CFE3C7"/>
            </a:solidFill>
            <a:prstDash val="solid"/>
          </a:ln>
        </p:spPr>
        <p:txBody>
          <a:bodyPr/>
          <a:lstStyle/>
          <a:p>
            <a:endParaRPr lang="zh-CN" altLang="en-US" sz="1600"/>
          </a:p>
        </p:txBody>
      </p:sp>
      <p:sp>
        <p:nvSpPr>
          <p:cNvPr id="131" name="maas-title">
            <a:extLst>
              <a:ext uri="{FF2B5EF4-FFF2-40B4-BE49-F238E27FC236}">
                <a16:creationId xmlns:a16="http://schemas.microsoft.com/office/drawing/2014/main" id="{3D8EA3ED-CB2E-8143-2480-4035C5254D03}"/>
              </a:ext>
            </a:extLst>
          </p:cNvPr>
          <p:cNvSpPr>
            <a:spLocks noGrp="1"/>
          </p:cNvSpPr>
          <p:nvPr/>
        </p:nvSpPr>
        <p:spPr>
          <a:xfrm>
            <a:off x="7277100" y="1241606"/>
            <a:ext cx="1733550" cy="142875"/>
          </a:xfrm>
          <a:prstGeom prst="rect">
            <a:avLst/>
          </a:prstGeom>
          <a:noFill/>
          <a:ln w="0">
            <a:noFill/>
            <a:prstDash val="solid"/>
          </a:ln>
        </p:spPr>
        <p:txBody>
          <a:bodyPr wrap="square" lIns="19050" tIns="9525" rIns="19050" bIns="9525" anchor="ctr">
            <a:normAutofit/>
          </a:bodyPr>
          <a:lstStyle/>
          <a:p>
            <a:pPr algn="ctr">
              <a:defRPr sz="638" b="1">
                <a:solidFill>
                  <a:srgbClr val="2F8B45"/>
                </a:solidFill>
                <a:latin typeface="Arial"/>
                <a:ea typeface="Arial"/>
                <a:cs typeface="Arial"/>
              </a:defRPr>
            </a:pPr>
            <a:r>
              <a:rPr sz="700" b="1">
                <a:solidFill>
                  <a:srgbClr val="2F8B45"/>
                </a:solidFill>
                <a:latin typeface="Arial"/>
                <a:ea typeface="Arial"/>
                <a:cs typeface="Arial"/>
              </a:rPr>
              <a:t>MaaS Operations  (Token as a Service)</a:t>
            </a:r>
          </a:p>
        </p:txBody>
      </p:sp>
      <p:sp>
        <p:nvSpPr>
          <p:cNvPr id="132" name="gateway-security-frame">
            <a:extLst>
              <a:ext uri="{FF2B5EF4-FFF2-40B4-BE49-F238E27FC236}">
                <a16:creationId xmlns:a16="http://schemas.microsoft.com/office/drawing/2014/main" id="{7D679BF6-1FB5-8E05-B8C8-975BEA84951C}"/>
              </a:ext>
            </a:extLst>
          </p:cNvPr>
          <p:cNvSpPr>
            <a:spLocks noGrp="1"/>
          </p:cNvSpPr>
          <p:nvPr/>
        </p:nvSpPr>
        <p:spPr>
          <a:xfrm>
            <a:off x="7277100" y="1432106"/>
            <a:ext cx="1733550" cy="742950"/>
          </a:xfrm>
          <a:prstGeom prst="roundRect">
            <a:avLst>
              <a:gd name="adj" fmla="val 3846"/>
            </a:avLst>
          </a:prstGeom>
          <a:solidFill>
            <a:srgbClr val="FFFFFF"/>
          </a:solidFill>
          <a:ln w="9525">
            <a:solidFill>
              <a:srgbClr val="D5E8CD"/>
            </a:solidFill>
            <a:prstDash val="solid"/>
          </a:ln>
        </p:spPr>
        <p:txBody>
          <a:bodyPr/>
          <a:lstStyle/>
          <a:p>
            <a:endParaRPr lang="zh-CN" altLang="en-US" sz="1600"/>
          </a:p>
        </p:txBody>
      </p:sp>
      <p:sp>
        <p:nvSpPr>
          <p:cNvPr id="133" name="gateway-security-title">
            <a:extLst>
              <a:ext uri="{FF2B5EF4-FFF2-40B4-BE49-F238E27FC236}">
                <a16:creationId xmlns:a16="http://schemas.microsoft.com/office/drawing/2014/main" id="{8E03BDBC-917F-0366-F0BB-964AD34605A1}"/>
              </a:ext>
            </a:extLst>
          </p:cNvPr>
          <p:cNvSpPr>
            <a:spLocks noGrp="1"/>
          </p:cNvSpPr>
          <p:nvPr/>
        </p:nvSpPr>
        <p:spPr>
          <a:xfrm>
            <a:off x="7334250" y="1460681"/>
            <a:ext cx="1619250" cy="114300"/>
          </a:xfrm>
          <a:prstGeom prst="rect">
            <a:avLst/>
          </a:prstGeom>
          <a:noFill/>
          <a:ln w="0">
            <a:noFill/>
            <a:prstDash val="solid"/>
          </a:ln>
        </p:spPr>
        <p:txBody>
          <a:bodyPr wrap="square" lIns="19050" tIns="9525" rIns="19050" bIns="9525" anchor="ctr">
            <a:normAutofit/>
          </a:bodyPr>
          <a:lstStyle/>
          <a:p>
            <a:pPr algn="l">
              <a:defRPr sz="495" b="1">
                <a:solidFill>
                  <a:srgbClr val="2F8B45"/>
                </a:solidFill>
                <a:latin typeface="Arial"/>
                <a:ea typeface="Arial"/>
                <a:cs typeface="Arial"/>
              </a:defRPr>
            </a:pPr>
            <a:r>
              <a:rPr sz="600" b="1">
                <a:solidFill>
                  <a:srgbClr val="2F8B45"/>
                </a:solidFill>
                <a:latin typeface="Arial"/>
                <a:ea typeface="Arial"/>
                <a:cs typeface="Arial"/>
              </a:rPr>
              <a:t>Gateway &amp; Security</a:t>
            </a:r>
          </a:p>
        </p:txBody>
      </p:sp>
      <p:sp>
        <p:nvSpPr>
          <p:cNvPr id="134" name="gateway-security-item-1">
            <a:extLst>
              <a:ext uri="{FF2B5EF4-FFF2-40B4-BE49-F238E27FC236}">
                <a16:creationId xmlns:a16="http://schemas.microsoft.com/office/drawing/2014/main" id="{BEBEB976-1737-6FBF-ACE0-D80AA4F94515}"/>
              </a:ext>
            </a:extLst>
          </p:cNvPr>
          <p:cNvSpPr>
            <a:spLocks noGrp="1"/>
          </p:cNvSpPr>
          <p:nvPr/>
        </p:nvSpPr>
        <p:spPr>
          <a:xfrm>
            <a:off x="7343775" y="1594031"/>
            <a:ext cx="1600200" cy="138113"/>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Unified API Gateway (OpenAI Compatible)</a:t>
            </a:r>
          </a:p>
        </p:txBody>
      </p:sp>
      <p:sp>
        <p:nvSpPr>
          <p:cNvPr id="135" name="gateway-security-item-2">
            <a:extLst>
              <a:ext uri="{FF2B5EF4-FFF2-40B4-BE49-F238E27FC236}">
                <a16:creationId xmlns:a16="http://schemas.microsoft.com/office/drawing/2014/main" id="{495EACE3-B22B-FDDB-2727-3CD3490863E2}"/>
              </a:ext>
            </a:extLst>
          </p:cNvPr>
          <p:cNvSpPr>
            <a:spLocks noGrp="1"/>
          </p:cNvSpPr>
          <p:nvPr/>
        </p:nvSpPr>
        <p:spPr>
          <a:xfrm>
            <a:off x="7343775" y="1732144"/>
            <a:ext cx="1600200" cy="138113"/>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Safety &amp; Content Filtering</a:t>
            </a:r>
          </a:p>
        </p:txBody>
      </p:sp>
      <p:sp>
        <p:nvSpPr>
          <p:cNvPr id="136" name="gateway-security-item-3">
            <a:extLst>
              <a:ext uri="{FF2B5EF4-FFF2-40B4-BE49-F238E27FC236}">
                <a16:creationId xmlns:a16="http://schemas.microsoft.com/office/drawing/2014/main" id="{4B64571A-7B6F-6C57-1E24-4F142205428B}"/>
              </a:ext>
            </a:extLst>
          </p:cNvPr>
          <p:cNvSpPr>
            <a:spLocks noGrp="1"/>
          </p:cNvSpPr>
          <p:nvPr/>
        </p:nvSpPr>
        <p:spPr>
          <a:xfrm>
            <a:off x="7343775" y="1870256"/>
            <a:ext cx="1600200" cy="138113"/>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Rate Limiting &amp; Access Control</a:t>
            </a:r>
          </a:p>
        </p:txBody>
      </p:sp>
      <p:sp>
        <p:nvSpPr>
          <p:cNvPr id="137" name="gateway-security-item-4">
            <a:extLst>
              <a:ext uri="{FF2B5EF4-FFF2-40B4-BE49-F238E27FC236}">
                <a16:creationId xmlns:a16="http://schemas.microsoft.com/office/drawing/2014/main" id="{E1D3FFD9-545B-9825-E750-EECE096478E1}"/>
              </a:ext>
            </a:extLst>
          </p:cNvPr>
          <p:cNvSpPr>
            <a:spLocks noGrp="1"/>
          </p:cNvSpPr>
          <p:nvPr/>
        </p:nvSpPr>
        <p:spPr>
          <a:xfrm>
            <a:off x="7343775" y="2008369"/>
            <a:ext cx="1600200" cy="138113"/>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WAF / DDoS / Shield</a:t>
            </a:r>
          </a:p>
        </p:txBody>
      </p:sp>
      <p:sp>
        <p:nvSpPr>
          <p:cNvPr id="138" name="metering-billing-frame">
            <a:extLst>
              <a:ext uri="{FF2B5EF4-FFF2-40B4-BE49-F238E27FC236}">
                <a16:creationId xmlns:a16="http://schemas.microsoft.com/office/drawing/2014/main" id="{EFA8CABD-F361-9692-B5E7-4056AA8F927D}"/>
              </a:ext>
            </a:extLst>
          </p:cNvPr>
          <p:cNvSpPr>
            <a:spLocks noGrp="1"/>
          </p:cNvSpPr>
          <p:nvPr/>
        </p:nvSpPr>
        <p:spPr>
          <a:xfrm>
            <a:off x="7277100" y="2222681"/>
            <a:ext cx="1733550" cy="581025"/>
          </a:xfrm>
          <a:prstGeom prst="roundRect">
            <a:avLst>
              <a:gd name="adj" fmla="val 4918"/>
            </a:avLst>
          </a:prstGeom>
          <a:solidFill>
            <a:srgbClr val="FFFFFF"/>
          </a:solidFill>
          <a:ln w="9525">
            <a:solidFill>
              <a:srgbClr val="D5E8CD"/>
            </a:solidFill>
            <a:prstDash val="solid"/>
          </a:ln>
        </p:spPr>
        <p:txBody>
          <a:bodyPr/>
          <a:lstStyle/>
          <a:p>
            <a:endParaRPr lang="zh-CN" altLang="en-US" sz="1600"/>
          </a:p>
        </p:txBody>
      </p:sp>
      <p:sp>
        <p:nvSpPr>
          <p:cNvPr id="139" name="metering-billing-title">
            <a:extLst>
              <a:ext uri="{FF2B5EF4-FFF2-40B4-BE49-F238E27FC236}">
                <a16:creationId xmlns:a16="http://schemas.microsoft.com/office/drawing/2014/main" id="{12D60C8D-4D23-D55D-0FB4-5B51EEB805F5}"/>
              </a:ext>
            </a:extLst>
          </p:cNvPr>
          <p:cNvSpPr>
            <a:spLocks noGrp="1"/>
          </p:cNvSpPr>
          <p:nvPr/>
        </p:nvSpPr>
        <p:spPr>
          <a:xfrm>
            <a:off x="7334250" y="2251256"/>
            <a:ext cx="1619250" cy="114300"/>
          </a:xfrm>
          <a:prstGeom prst="rect">
            <a:avLst/>
          </a:prstGeom>
          <a:noFill/>
          <a:ln w="0">
            <a:noFill/>
            <a:prstDash val="solid"/>
          </a:ln>
        </p:spPr>
        <p:txBody>
          <a:bodyPr wrap="square" lIns="19050" tIns="9525" rIns="19050" bIns="9525" anchor="ctr">
            <a:normAutofit/>
          </a:bodyPr>
          <a:lstStyle/>
          <a:p>
            <a:pPr algn="l">
              <a:defRPr sz="495" b="1">
                <a:solidFill>
                  <a:srgbClr val="2F8B45"/>
                </a:solidFill>
                <a:latin typeface="Arial"/>
                <a:ea typeface="Arial"/>
                <a:cs typeface="Arial"/>
              </a:defRPr>
            </a:pPr>
            <a:r>
              <a:rPr sz="600" b="1">
                <a:solidFill>
                  <a:srgbClr val="2F8B45"/>
                </a:solidFill>
                <a:latin typeface="Arial"/>
                <a:ea typeface="Arial"/>
                <a:cs typeface="Arial"/>
              </a:rPr>
              <a:t>Metering &amp; Billing</a:t>
            </a:r>
          </a:p>
        </p:txBody>
      </p:sp>
      <p:sp>
        <p:nvSpPr>
          <p:cNvPr id="140" name="metering-billing-item-1">
            <a:extLst>
              <a:ext uri="{FF2B5EF4-FFF2-40B4-BE49-F238E27FC236}">
                <a16:creationId xmlns:a16="http://schemas.microsoft.com/office/drawing/2014/main" id="{85762D1B-6C9C-0EC2-6072-24EED45E2A60}"/>
              </a:ext>
            </a:extLst>
          </p:cNvPr>
          <p:cNvSpPr>
            <a:spLocks noGrp="1"/>
          </p:cNvSpPr>
          <p:nvPr/>
        </p:nvSpPr>
        <p:spPr>
          <a:xfrm>
            <a:off x="7343775" y="2384606"/>
            <a:ext cx="1600200" cy="1301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Usage Metering (Tokens / Requests)</a:t>
            </a:r>
          </a:p>
        </p:txBody>
      </p:sp>
      <p:sp>
        <p:nvSpPr>
          <p:cNvPr id="141" name="metering-billing-item-2">
            <a:extLst>
              <a:ext uri="{FF2B5EF4-FFF2-40B4-BE49-F238E27FC236}">
                <a16:creationId xmlns:a16="http://schemas.microsoft.com/office/drawing/2014/main" id="{774E5C02-91AC-A2ED-90FB-9380957F5859}"/>
              </a:ext>
            </a:extLst>
          </p:cNvPr>
          <p:cNvSpPr>
            <a:spLocks noGrp="1"/>
          </p:cNvSpPr>
          <p:nvPr/>
        </p:nvSpPr>
        <p:spPr>
          <a:xfrm>
            <a:off x="7343775" y="2514781"/>
            <a:ext cx="1600200" cy="1301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Billing &amp; Invoicing</a:t>
            </a:r>
          </a:p>
        </p:txBody>
      </p:sp>
      <p:sp>
        <p:nvSpPr>
          <p:cNvPr id="142" name="metering-billing-item-3">
            <a:extLst>
              <a:ext uri="{FF2B5EF4-FFF2-40B4-BE49-F238E27FC236}">
                <a16:creationId xmlns:a16="http://schemas.microsoft.com/office/drawing/2014/main" id="{37550AC2-90D4-7118-2831-79CEEA622880}"/>
              </a:ext>
            </a:extLst>
          </p:cNvPr>
          <p:cNvSpPr>
            <a:spLocks noGrp="1"/>
          </p:cNvSpPr>
          <p:nvPr/>
        </p:nvSpPr>
        <p:spPr>
          <a:xfrm>
            <a:off x="7343775" y="2644956"/>
            <a:ext cx="1600200" cy="1301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Usage Analytics &amp; Reporting</a:t>
            </a:r>
          </a:p>
        </p:txBody>
      </p:sp>
      <p:sp>
        <p:nvSpPr>
          <p:cNvPr id="143" name="operations-management-frame">
            <a:extLst>
              <a:ext uri="{FF2B5EF4-FFF2-40B4-BE49-F238E27FC236}">
                <a16:creationId xmlns:a16="http://schemas.microsoft.com/office/drawing/2014/main" id="{85ABA155-6141-0BA4-40E4-5394247A1977}"/>
              </a:ext>
            </a:extLst>
          </p:cNvPr>
          <p:cNvSpPr>
            <a:spLocks noGrp="1"/>
          </p:cNvSpPr>
          <p:nvPr/>
        </p:nvSpPr>
        <p:spPr>
          <a:xfrm>
            <a:off x="7277100" y="2857557"/>
            <a:ext cx="1676400" cy="1252661"/>
          </a:xfrm>
          <a:prstGeom prst="roundRect">
            <a:avLst>
              <a:gd name="adj" fmla="val 2113"/>
            </a:avLst>
          </a:prstGeom>
          <a:solidFill>
            <a:srgbClr val="FFFFFF"/>
          </a:solidFill>
          <a:ln w="9525">
            <a:solidFill>
              <a:srgbClr val="D5E8CD"/>
            </a:solidFill>
            <a:prstDash val="solid"/>
          </a:ln>
        </p:spPr>
        <p:txBody>
          <a:bodyPr/>
          <a:lstStyle/>
          <a:p>
            <a:endParaRPr lang="zh-CN" altLang="en-US" sz="1600" dirty="0"/>
          </a:p>
        </p:txBody>
      </p:sp>
      <p:sp>
        <p:nvSpPr>
          <p:cNvPr id="144" name="operations-management-title">
            <a:extLst>
              <a:ext uri="{FF2B5EF4-FFF2-40B4-BE49-F238E27FC236}">
                <a16:creationId xmlns:a16="http://schemas.microsoft.com/office/drawing/2014/main" id="{0C82BDCC-AF92-2253-52DA-3C95CC167E7D}"/>
              </a:ext>
            </a:extLst>
          </p:cNvPr>
          <p:cNvSpPr>
            <a:spLocks noGrp="1"/>
          </p:cNvSpPr>
          <p:nvPr/>
        </p:nvSpPr>
        <p:spPr>
          <a:xfrm>
            <a:off x="7334250" y="2880310"/>
            <a:ext cx="1619250" cy="114300"/>
          </a:xfrm>
          <a:prstGeom prst="rect">
            <a:avLst/>
          </a:prstGeom>
          <a:noFill/>
          <a:ln w="0">
            <a:noFill/>
            <a:prstDash val="solid"/>
          </a:ln>
        </p:spPr>
        <p:txBody>
          <a:bodyPr wrap="square" lIns="19050" tIns="9525" rIns="19050" bIns="9525" anchor="ctr">
            <a:normAutofit/>
          </a:bodyPr>
          <a:lstStyle/>
          <a:p>
            <a:pPr algn="l">
              <a:defRPr sz="495" b="1">
                <a:solidFill>
                  <a:srgbClr val="2F8B45"/>
                </a:solidFill>
                <a:latin typeface="Arial"/>
                <a:ea typeface="Arial"/>
                <a:cs typeface="Arial"/>
              </a:defRPr>
            </a:pPr>
            <a:r>
              <a:rPr sz="600" b="1" dirty="0">
                <a:solidFill>
                  <a:srgbClr val="2F8B45"/>
                </a:solidFill>
                <a:latin typeface="Arial"/>
                <a:ea typeface="Arial"/>
                <a:cs typeface="Arial"/>
              </a:rPr>
              <a:t>Operations Management</a:t>
            </a:r>
          </a:p>
        </p:txBody>
      </p:sp>
      <p:sp>
        <p:nvSpPr>
          <p:cNvPr id="145" name="operations-management-item-1">
            <a:extLst>
              <a:ext uri="{FF2B5EF4-FFF2-40B4-BE49-F238E27FC236}">
                <a16:creationId xmlns:a16="http://schemas.microsoft.com/office/drawing/2014/main" id="{BD21C4E8-3B90-58FD-406F-2274469F4A88}"/>
              </a:ext>
            </a:extLst>
          </p:cNvPr>
          <p:cNvSpPr>
            <a:spLocks noGrp="1"/>
          </p:cNvSpPr>
          <p:nvPr/>
        </p:nvSpPr>
        <p:spPr>
          <a:xfrm>
            <a:off x="7343775" y="3013014"/>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dirty="0">
                <a:solidFill>
                  <a:srgbClr val="102031"/>
                </a:solidFill>
                <a:latin typeface="Arial"/>
                <a:ea typeface="Arial"/>
                <a:cs typeface="Arial"/>
              </a:rPr>
              <a:t>•  SKU &amp; Model Management</a:t>
            </a:r>
          </a:p>
        </p:txBody>
      </p:sp>
      <p:sp>
        <p:nvSpPr>
          <p:cNvPr id="146" name="operations-management-item-2">
            <a:extLst>
              <a:ext uri="{FF2B5EF4-FFF2-40B4-BE49-F238E27FC236}">
                <a16:creationId xmlns:a16="http://schemas.microsoft.com/office/drawing/2014/main" id="{4B6C752F-7B8C-587D-A084-724CE588E0F4}"/>
              </a:ext>
            </a:extLst>
          </p:cNvPr>
          <p:cNvSpPr>
            <a:spLocks noGrp="1"/>
          </p:cNvSpPr>
          <p:nvPr/>
        </p:nvSpPr>
        <p:spPr>
          <a:xfrm>
            <a:off x="7343775" y="3188005"/>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Pricing &amp; Policy Management</a:t>
            </a:r>
          </a:p>
        </p:txBody>
      </p:sp>
      <p:sp>
        <p:nvSpPr>
          <p:cNvPr id="147" name="operations-management-item-3">
            <a:extLst>
              <a:ext uri="{FF2B5EF4-FFF2-40B4-BE49-F238E27FC236}">
                <a16:creationId xmlns:a16="http://schemas.microsoft.com/office/drawing/2014/main" id="{C98CA1BC-0608-0FD7-5708-F9C6D3E525F2}"/>
              </a:ext>
            </a:extLst>
          </p:cNvPr>
          <p:cNvSpPr>
            <a:spLocks noGrp="1"/>
          </p:cNvSpPr>
          <p:nvPr/>
        </p:nvSpPr>
        <p:spPr>
          <a:xfrm>
            <a:off x="7343775" y="3362996"/>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dirty="0">
                <a:solidFill>
                  <a:srgbClr val="102031"/>
                </a:solidFill>
                <a:latin typeface="Arial"/>
                <a:ea typeface="Arial"/>
                <a:cs typeface="Arial"/>
              </a:rPr>
              <a:t>•  Coupon &amp; Promotion</a:t>
            </a:r>
          </a:p>
        </p:txBody>
      </p:sp>
      <p:sp>
        <p:nvSpPr>
          <p:cNvPr id="148" name="operations-management-item-4">
            <a:extLst>
              <a:ext uri="{FF2B5EF4-FFF2-40B4-BE49-F238E27FC236}">
                <a16:creationId xmlns:a16="http://schemas.microsoft.com/office/drawing/2014/main" id="{F649213F-EFD9-5E49-A547-92972987A86F}"/>
              </a:ext>
            </a:extLst>
          </p:cNvPr>
          <p:cNvSpPr>
            <a:spLocks noGrp="1"/>
          </p:cNvSpPr>
          <p:nvPr/>
        </p:nvSpPr>
        <p:spPr>
          <a:xfrm>
            <a:off x="7343775" y="3537987"/>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dirty="0">
                <a:solidFill>
                  <a:srgbClr val="102031"/>
                </a:solidFill>
                <a:latin typeface="Arial"/>
                <a:ea typeface="Arial"/>
                <a:cs typeface="Arial"/>
              </a:rPr>
              <a:t>•  Quota &amp; Share Management</a:t>
            </a:r>
          </a:p>
        </p:txBody>
      </p:sp>
      <p:sp>
        <p:nvSpPr>
          <p:cNvPr id="149" name="operations-management-item-5">
            <a:extLst>
              <a:ext uri="{FF2B5EF4-FFF2-40B4-BE49-F238E27FC236}">
                <a16:creationId xmlns:a16="http://schemas.microsoft.com/office/drawing/2014/main" id="{19F684F8-33E0-E692-D154-8C0C7D93A23D}"/>
              </a:ext>
            </a:extLst>
          </p:cNvPr>
          <p:cNvSpPr>
            <a:spLocks noGrp="1"/>
          </p:cNvSpPr>
          <p:nvPr/>
        </p:nvSpPr>
        <p:spPr>
          <a:xfrm>
            <a:off x="7343775" y="3712978"/>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dirty="0">
                <a:solidFill>
                  <a:srgbClr val="102031"/>
                </a:solidFill>
                <a:latin typeface="Arial"/>
                <a:ea typeface="Arial"/>
                <a:cs typeface="Arial"/>
              </a:rPr>
              <a:t>•  Cost Allocation &amp; Chargeback</a:t>
            </a:r>
          </a:p>
        </p:txBody>
      </p:sp>
      <p:sp>
        <p:nvSpPr>
          <p:cNvPr id="150" name="operations-management-item-6">
            <a:extLst>
              <a:ext uri="{FF2B5EF4-FFF2-40B4-BE49-F238E27FC236}">
                <a16:creationId xmlns:a16="http://schemas.microsoft.com/office/drawing/2014/main" id="{0742CF17-89A0-59FF-EF05-6E5DF5178BDB}"/>
              </a:ext>
            </a:extLst>
          </p:cNvPr>
          <p:cNvSpPr>
            <a:spLocks noGrp="1"/>
          </p:cNvSpPr>
          <p:nvPr/>
        </p:nvSpPr>
        <p:spPr>
          <a:xfrm>
            <a:off x="7343775" y="3887969"/>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dirty="0">
                <a:solidFill>
                  <a:srgbClr val="102031"/>
                </a:solidFill>
                <a:latin typeface="Arial"/>
                <a:ea typeface="Arial"/>
                <a:cs typeface="Arial"/>
              </a:rPr>
              <a:t>•  FinOps &amp; Cost Optimization</a:t>
            </a:r>
          </a:p>
        </p:txBody>
      </p:sp>
      <p:sp>
        <p:nvSpPr>
          <p:cNvPr id="151" name="serving-targets-frame">
            <a:extLst>
              <a:ext uri="{FF2B5EF4-FFF2-40B4-BE49-F238E27FC236}">
                <a16:creationId xmlns:a16="http://schemas.microsoft.com/office/drawing/2014/main" id="{E9073987-98BC-81EA-D12B-D1855FB43E25}"/>
              </a:ext>
            </a:extLst>
          </p:cNvPr>
          <p:cNvSpPr>
            <a:spLocks noGrp="1"/>
          </p:cNvSpPr>
          <p:nvPr/>
        </p:nvSpPr>
        <p:spPr>
          <a:xfrm>
            <a:off x="7277100" y="4157844"/>
            <a:ext cx="1733550" cy="609600"/>
          </a:xfrm>
          <a:prstGeom prst="roundRect">
            <a:avLst>
              <a:gd name="adj" fmla="val 4688"/>
            </a:avLst>
          </a:prstGeom>
          <a:solidFill>
            <a:srgbClr val="FFFFFF"/>
          </a:solidFill>
          <a:ln w="9525">
            <a:solidFill>
              <a:srgbClr val="D5E8CD"/>
            </a:solidFill>
            <a:prstDash val="solid"/>
          </a:ln>
        </p:spPr>
        <p:txBody>
          <a:bodyPr/>
          <a:lstStyle/>
          <a:p>
            <a:endParaRPr lang="zh-CN" altLang="en-US" sz="1600"/>
          </a:p>
        </p:txBody>
      </p:sp>
      <p:sp>
        <p:nvSpPr>
          <p:cNvPr id="152" name="serving-targets-title">
            <a:extLst>
              <a:ext uri="{FF2B5EF4-FFF2-40B4-BE49-F238E27FC236}">
                <a16:creationId xmlns:a16="http://schemas.microsoft.com/office/drawing/2014/main" id="{499DA736-9F02-538E-441B-43126E348696}"/>
              </a:ext>
            </a:extLst>
          </p:cNvPr>
          <p:cNvSpPr>
            <a:spLocks noGrp="1"/>
          </p:cNvSpPr>
          <p:nvPr/>
        </p:nvSpPr>
        <p:spPr>
          <a:xfrm>
            <a:off x="7334250" y="4186419"/>
            <a:ext cx="1619250" cy="114300"/>
          </a:xfrm>
          <a:prstGeom prst="rect">
            <a:avLst/>
          </a:prstGeom>
          <a:noFill/>
          <a:ln w="0">
            <a:noFill/>
            <a:prstDash val="solid"/>
          </a:ln>
        </p:spPr>
        <p:txBody>
          <a:bodyPr wrap="square" lIns="19050" tIns="9525" rIns="19050" bIns="9525" anchor="ctr">
            <a:normAutofit/>
          </a:bodyPr>
          <a:lstStyle/>
          <a:p>
            <a:pPr algn="l">
              <a:defRPr sz="495" b="1">
                <a:solidFill>
                  <a:srgbClr val="2F8B45"/>
                </a:solidFill>
                <a:latin typeface="Arial"/>
                <a:ea typeface="Arial"/>
                <a:cs typeface="Arial"/>
              </a:defRPr>
            </a:pPr>
            <a:r>
              <a:rPr sz="600" b="1">
                <a:solidFill>
                  <a:srgbClr val="2F8B45"/>
                </a:solidFill>
                <a:latin typeface="Arial"/>
                <a:ea typeface="Arial"/>
                <a:cs typeface="Arial"/>
              </a:rPr>
              <a:t>Serving Targets</a:t>
            </a:r>
          </a:p>
        </p:txBody>
      </p:sp>
      <p:sp>
        <p:nvSpPr>
          <p:cNvPr id="153" name="serving-targets-items-1-box">
            <a:extLst>
              <a:ext uri="{FF2B5EF4-FFF2-40B4-BE49-F238E27FC236}">
                <a16:creationId xmlns:a16="http://schemas.microsoft.com/office/drawing/2014/main" id="{2555DF3E-6C98-3508-9ABE-58C359A550C7}"/>
              </a:ext>
            </a:extLst>
          </p:cNvPr>
          <p:cNvSpPr>
            <a:spLocks noGrp="1"/>
          </p:cNvSpPr>
          <p:nvPr/>
        </p:nvSpPr>
        <p:spPr>
          <a:xfrm>
            <a:off x="7334250" y="4338819"/>
            <a:ext cx="790575" cy="361950"/>
          </a:xfrm>
          <a:prstGeom prst="roundRect">
            <a:avLst>
              <a:gd name="adj" fmla="val 10526"/>
            </a:avLst>
          </a:prstGeom>
          <a:solidFill>
            <a:srgbClr val="F8FBF5"/>
          </a:solidFill>
          <a:ln w="9525">
            <a:solidFill>
              <a:srgbClr val="D5E8CD"/>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dirty="0">
                <a:solidFill>
                  <a:srgbClr val="102031"/>
                </a:solidFill>
                <a:latin typeface="Arial"/>
                <a:ea typeface="Arial"/>
                <a:cs typeface="Arial"/>
              </a:rPr>
              <a:t>Cloud</a:t>
            </a:r>
          </a:p>
        </p:txBody>
      </p:sp>
      <p:sp>
        <p:nvSpPr>
          <p:cNvPr id="154" name="serving-targets-items-2-box">
            <a:extLst>
              <a:ext uri="{FF2B5EF4-FFF2-40B4-BE49-F238E27FC236}">
                <a16:creationId xmlns:a16="http://schemas.microsoft.com/office/drawing/2014/main" id="{F7419E93-1D4C-C492-E787-34F58C36C675}"/>
              </a:ext>
            </a:extLst>
          </p:cNvPr>
          <p:cNvSpPr>
            <a:spLocks noGrp="1"/>
          </p:cNvSpPr>
          <p:nvPr/>
        </p:nvSpPr>
        <p:spPr>
          <a:xfrm>
            <a:off x="8162925" y="4338819"/>
            <a:ext cx="790575" cy="361950"/>
          </a:xfrm>
          <a:prstGeom prst="roundRect">
            <a:avLst>
              <a:gd name="adj" fmla="val 10526"/>
            </a:avLst>
          </a:prstGeom>
          <a:solidFill>
            <a:srgbClr val="F8FBF5"/>
          </a:solidFill>
          <a:ln w="9525">
            <a:solidFill>
              <a:srgbClr val="D5E8CD"/>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dirty="0">
                <a:solidFill>
                  <a:srgbClr val="102031"/>
                </a:solidFill>
                <a:latin typeface="Arial"/>
                <a:ea typeface="Arial"/>
                <a:cs typeface="Arial"/>
              </a:rPr>
              <a:t>Enterprise</a:t>
            </a:r>
          </a:p>
        </p:txBody>
      </p:sp>
      <p:sp>
        <p:nvSpPr>
          <p:cNvPr id="156" name="data-management-surface">
            <a:extLst>
              <a:ext uri="{FF2B5EF4-FFF2-40B4-BE49-F238E27FC236}">
                <a16:creationId xmlns:a16="http://schemas.microsoft.com/office/drawing/2014/main" id="{2A8A5E81-E831-80B3-55A3-495464D3BCC4}"/>
              </a:ext>
            </a:extLst>
          </p:cNvPr>
          <p:cNvSpPr>
            <a:spLocks noGrp="1"/>
          </p:cNvSpPr>
          <p:nvPr/>
        </p:nvSpPr>
        <p:spPr>
          <a:xfrm>
            <a:off x="933450" y="3773723"/>
            <a:ext cx="6191250" cy="238125"/>
          </a:xfrm>
          <a:prstGeom prst="roundRect">
            <a:avLst>
              <a:gd name="adj" fmla="val 16000"/>
            </a:avLst>
          </a:prstGeom>
          <a:solidFill>
            <a:srgbClr val="F7FCFC"/>
          </a:solidFill>
          <a:ln w="9525">
            <a:solidFill>
              <a:srgbClr val="C8E1DF"/>
            </a:solidFill>
            <a:prstDash val="solid"/>
          </a:ln>
        </p:spPr>
        <p:txBody>
          <a:bodyPr/>
          <a:lstStyle/>
          <a:p>
            <a:endParaRPr lang="zh-CN" altLang="en-US" sz="1600"/>
          </a:p>
        </p:txBody>
      </p:sp>
      <p:sp>
        <p:nvSpPr>
          <p:cNvPr id="157" name="data-management-items-1-box">
            <a:extLst>
              <a:ext uri="{FF2B5EF4-FFF2-40B4-BE49-F238E27FC236}">
                <a16:creationId xmlns:a16="http://schemas.microsoft.com/office/drawing/2014/main" id="{F83F80F0-5534-A3C2-97AA-E7B9DC33E652}"/>
              </a:ext>
            </a:extLst>
          </p:cNvPr>
          <p:cNvSpPr>
            <a:spLocks noGrp="1"/>
          </p:cNvSpPr>
          <p:nvPr/>
        </p:nvSpPr>
        <p:spPr>
          <a:xfrm>
            <a:off x="1009650"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Model Hub (MatrixHub)</a:t>
            </a:r>
          </a:p>
        </p:txBody>
      </p:sp>
      <p:sp>
        <p:nvSpPr>
          <p:cNvPr id="158" name="data-management-items-2-box">
            <a:extLst>
              <a:ext uri="{FF2B5EF4-FFF2-40B4-BE49-F238E27FC236}">
                <a16:creationId xmlns:a16="http://schemas.microsoft.com/office/drawing/2014/main" id="{4ECDE597-794C-A826-42B9-9A8E339143B2}"/>
              </a:ext>
            </a:extLst>
          </p:cNvPr>
          <p:cNvSpPr>
            <a:spLocks noGrp="1"/>
          </p:cNvSpPr>
          <p:nvPr/>
        </p:nvSpPr>
        <p:spPr>
          <a:xfrm>
            <a:off x="2020888"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Autofit/>
          </a:bodyPr>
          <a:lstStyle/>
          <a:p>
            <a:pPr algn="ctr">
              <a:defRPr sz="495" b="0">
                <a:solidFill>
                  <a:srgbClr val="102031"/>
                </a:solidFill>
                <a:latin typeface="Arial"/>
                <a:ea typeface="Arial"/>
                <a:cs typeface="Arial"/>
              </a:defRPr>
            </a:pPr>
            <a:r>
              <a:rPr sz="500" b="0">
                <a:solidFill>
                  <a:srgbClr val="102031"/>
                </a:solidFill>
                <a:latin typeface="Arial"/>
                <a:ea typeface="Arial"/>
                <a:cs typeface="Arial"/>
              </a:rPr>
              <a:t>Model Distribution (ModelExpress)</a:t>
            </a:r>
          </a:p>
        </p:txBody>
      </p:sp>
      <p:sp>
        <p:nvSpPr>
          <p:cNvPr id="159" name="data-management-items-3-box">
            <a:extLst>
              <a:ext uri="{FF2B5EF4-FFF2-40B4-BE49-F238E27FC236}">
                <a16:creationId xmlns:a16="http://schemas.microsoft.com/office/drawing/2014/main" id="{378708FC-8BBE-4F38-6951-B9E5CC1B9B0A}"/>
              </a:ext>
            </a:extLst>
          </p:cNvPr>
          <p:cNvSpPr>
            <a:spLocks noGrp="1"/>
          </p:cNvSpPr>
          <p:nvPr/>
        </p:nvSpPr>
        <p:spPr>
          <a:xfrm>
            <a:off x="3032125"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Dataset Management</a:t>
            </a:r>
          </a:p>
        </p:txBody>
      </p:sp>
      <p:sp>
        <p:nvSpPr>
          <p:cNvPr id="160" name="data-management-items-4-box">
            <a:extLst>
              <a:ext uri="{FF2B5EF4-FFF2-40B4-BE49-F238E27FC236}">
                <a16:creationId xmlns:a16="http://schemas.microsoft.com/office/drawing/2014/main" id="{52CF88E4-04EE-4775-FA49-2838E88BDD39}"/>
              </a:ext>
            </a:extLst>
          </p:cNvPr>
          <p:cNvSpPr>
            <a:spLocks noGrp="1"/>
          </p:cNvSpPr>
          <p:nvPr/>
        </p:nvSpPr>
        <p:spPr>
          <a:xfrm>
            <a:off x="4043363"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Data Catalog</a:t>
            </a:r>
          </a:p>
        </p:txBody>
      </p:sp>
      <p:sp>
        <p:nvSpPr>
          <p:cNvPr id="161" name="data-management-items-5-box">
            <a:extLst>
              <a:ext uri="{FF2B5EF4-FFF2-40B4-BE49-F238E27FC236}">
                <a16:creationId xmlns:a16="http://schemas.microsoft.com/office/drawing/2014/main" id="{96681C94-E86E-3CEB-F2B5-04115534E42E}"/>
              </a:ext>
            </a:extLst>
          </p:cNvPr>
          <p:cNvSpPr>
            <a:spLocks noGrp="1"/>
          </p:cNvSpPr>
          <p:nvPr/>
        </p:nvSpPr>
        <p:spPr>
          <a:xfrm>
            <a:off x="5054600"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Data Processing</a:t>
            </a:r>
          </a:p>
        </p:txBody>
      </p:sp>
      <p:sp>
        <p:nvSpPr>
          <p:cNvPr id="162" name="data-management-items-6-box">
            <a:extLst>
              <a:ext uri="{FF2B5EF4-FFF2-40B4-BE49-F238E27FC236}">
                <a16:creationId xmlns:a16="http://schemas.microsoft.com/office/drawing/2014/main" id="{99276E16-3013-20C4-4893-965A8B38EA32}"/>
              </a:ext>
            </a:extLst>
          </p:cNvPr>
          <p:cNvSpPr>
            <a:spLocks noGrp="1"/>
          </p:cNvSpPr>
          <p:nvPr/>
        </p:nvSpPr>
        <p:spPr>
          <a:xfrm>
            <a:off x="6065838"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Data Quality</a:t>
            </a:r>
          </a:p>
        </p:txBody>
      </p:sp>
      <p:sp>
        <p:nvSpPr>
          <p:cNvPr id="163" name="compute-orchestration-rail-box">
            <a:extLst>
              <a:ext uri="{FF2B5EF4-FFF2-40B4-BE49-F238E27FC236}">
                <a16:creationId xmlns:a16="http://schemas.microsoft.com/office/drawing/2014/main" id="{1CEC1F22-F880-46CC-B47A-75E4080E216A}"/>
              </a:ext>
            </a:extLst>
          </p:cNvPr>
          <p:cNvSpPr>
            <a:spLocks noGrp="1"/>
          </p:cNvSpPr>
          <p:nvPr/>
        </p:nvSpPr>
        <p:spPr>
          <a:xfrm>
            <a:off x="76200" y="3773723"/>
            <a:ext cx="755100" cy="800727"/>
          </a:xfrm>
          <a:prstGeom prst="roundRect">
            <a:avLst>
              <a:gd name="adj" fmla="val 16000"/>
            </a:avLst>
          </a:prstGeom>
          <a:solidFill>
            <a:srgbClr val="2F8B45"/>
          </a:solidFill>
          <a:ln w="9525">
            <a:solidFill>
              <a:srgbClr val="2F8B45"/>
            </a:solidFill>
            <a:prstDash val="solid"/>
          </a:ln>
        </p:spPr>
        <p:txBody>
          <a:bodyPr wrap="square" lIns="28575" tIns="9525" rIns="28575" bIns="9525" anchor="ctr">
            <a:normAutofit fontScale="99064"/>
          </a:bodyPr>
          <a:lstStyle/>
          <a:p>
            <a:pPr algn="ctr">
              <a:defRPr sz="525" b="1">
                <a:solidFill>
                  <a:srgbClr val="FFFFFF"/>
                </a:solidFill>
                <a:latin typeface="Arial"/>
                <a:ea typeface="Arial"/>
                <a:cs typeface="Arial"/>
              </a:defRPr>
            </a:pPr>
            <a:r>
              <a:rPr lang="en" sz="800" dirty="0">
                <a:solidFill>
                  <a:srgbClr val="FFFFFF"/>
                </a:solidFill>
              </a:rPr>
              <a:t>Kubernetes</a:t>
            </a:r>
            <a:r>
              <a:rPr lang="en" sz="800" b="1" dirty="0">
                <a:solidFill>
                  <a:srgbClr val="FFFFFF"/>
                </a:solidFill>
              </a:rPr>
              <a:t> GPU</a:t>
            </a:r>
            <a:r>
              <a:rPr lang="zh-CN" altLang="en-US" sz="800" b="1" dirty="0">
                <a:solidFill>
                  <a:srgbClr val="FFFFFF"/>
                </a:solidFill>
              </a:rPr>
              <a:t> </a:t>
            </a:r>
            <a:r>
              <a:rPr lang="en-US" altLang="zh-CN" sz="800" b="1" dirty="0">
                <a:solidFill>
                  <a:srgbClr val="FFFFFF"/>
                </a:solidFill>
              </a:rPr>
              <a:t>&amp;</a:t>
            </a:r>
            <a:r>
              <a:rPr lang="zh-CN" altLang="en-US" sz="800" b="1" dirty="0">
                <a:solidFill>
                  <a:srgbClr val="FFFFFF"/>
                </a:solidFill>
              </a:rPr>
              <a:t> </a:t>
            </a:r>
            <a:r>
              <a:rPr lang="en" altLang="zh-CN" sz="800" b="1" dirty="0">
                <a:solidFill>
                  <a:srgbClr val="FFFFFF"/>
                </a:solidFill>
              </a:rPr>
              <a:t>Data</a:t>
            </a:r>
            <a:r>
              <a:rPr lang="en" sz="800" b="1" dirty="0">
                <a:solidFill>
                  <a:srgbClr val="FFFFFF"/>
                </a:solidFill>
              </a:rPr>
              <a:t> Scheduling</a:t>
            </a:r>
          </a:p>
        </p:txBody>
      </p:sp>
      <p:sp>
        <p:nvSpPr>
          <p:cNvPr id="164" name="compute-orchestration-surface">
            <a:extLst>
              <a:ext uri="{FF2B5EF4-FFF2-40B4-BE49-F238E27FC236}">
                <a16:creationId xmlns:a16="http://schemas.microsoft.com/office/drawing/2014/main" id="{654999C4-3805-4C4D-5FCC-B0099477929E}"/>
              </a:ext>
            </a:extLst>
          </p:cNvPr>
          <p:cNvSpPr>
            <a:spLocks noGrp="1"/>
          </p:cNvSpPr>
          <p:nvPr/>
        </p:nvSpPr>
        <p:spPr>
          <a:xfrm>
            <a:off x="933450" y="4069052"/>
            <a:ext cx="6191250" cy="250717"/>
          </a:xfrm>
          <a:prstGeom prst="roundRect">
            <a:avLst>
              <a:gd name="adj" fmla="val 16000"/>
            </a:avLst>
          </a:prstGeom>
          <a:solidFill>
            <a:srgbClr val="F8FCF5"/>
          </a:solidFill>
          <a:ln w="9525">
            <a:solidFill>
              <a:srgbClr val="CFE3C7"/>
            </a:solidFill>
            <a:prstDash val="solid"/>
          </a:ln>
        </p:spPr>
        <p:txBody>
          <a:bodyPr/>
          <a:lstStyle/>
          <a:p>
            <a:endParaRPr lang="zh-CN" altLang="en-US" sz="1600"/>
          </a:p>
        </p:txBody>
      </p:sp>
      <p:sp>
        <p:nvSpPr>
          <p:cNvPr id="165" name="compute-orchestration-items-1-box">
            <a:extLst>
              <a:ext uri="{FF2B5EF4-FFF2-40B4-BE49-F238E27FC236}">
                <a16:creationId xmlns:a16="http://schemas.microsoft.com/office/drawing/2014/main" id="{699A0DB5-EABD-FB32-F820-B8580B8FEAF1}"/>
              </a:ext>
            </a:extLst>
          </p:cNvPr>
          <p:cNvSpPr>
            <a:spLocks noGrp="1"/>
          </p:cNvSpPr>
          <p:nvPr/>
        </p:nvSpPr>
        <p:spPr>
          <a:xfrm>
            <a:off x="1009650"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Resource Pool Management</a:t>
            </a:r>
          </a:p>
        </p:txBody>
      </p:sp>
      <p:sp>
        <p:nvSpPr>
          <p:cNvPr id="166" name="compute-orchestration-items-2-box">
            <a:extLst>
              <a:ext uri="{FF2B5EF4-FFF2-40B4-BE49-F238E27FC236}">
                <a16:creationId xmlns:a16="http://schemas.microsoft.com/office/drawing/2014/main" id="{B9C5958C-E1B0-659E-0F38-DA0AE9A594FE}"/>
              </a:ext>
            </a:extLst>
          </p:cNvPr>
          <p:cNvSpPr>
            <a:spLocks noGrp="1"/>
          </p:cNvSpPr>
          <p:nvPr/>
        </p:nvSpPr>
        <p:spPr>
          <a:xfrm>
            <a:off x="2020888"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Priority &amp; Preemption</a:t>
            </a:r>
          </a:p>
        </p:txBody>
      </p:sp>
      <p:sp>
        <p:nvSpPr>
          <p:cNvPr id="167" name="compute-orchestration-items-3-box">
            <a:extLst>
              <a:ext uri="{FF2B5EF4-FFF2-40B4-BE49-F238E27FC236}">
                <a16:creationId xmlns:a16="http://schemas.microsoft.com/office/drawing/2014/main" id="{4D81ECD1-3C38-FC31-5237-AAEE099890D8}"/>
              </a:ext>
            </a:extLst>
          </p:cNvPr>
          <p:cNvSpPr>
            <a:spLocks noGrp="1"/>
          </p:cNvSpPr>
          <p:nvPr/>
        </p:nvSpPr>
        <p:spPr>
          <a:xfrm>
            <a:off x="3032125"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Fair Scheduling</a:t>
            </a:r>
          </a:p>
        </p:txBody>
      </p:sp>
      <p:sp>
        <p:nvSpPr>
          <p:cNvPr id="168" name="compute-orchestration-items-4-box">
            <a:extLst>
              <a:ext uri="{FF2B5EF4-FFF2-40B4-BE49-F238E27FC236}">
                <a16:creationId xmlns:a16="http://schemas.microsoft.com/office/drawing/2014/main" id="{4BCA633C-6E74-0A91-2707-241D402DE11A}"/>
              </a:ext>
            </a:extLst>
          </p:cNvPr>
          <p:cNvSpPr>
            <a:spLocks noGrp="1"/>
          </p:cNvSpPr>
          <p:nvPr/>
        </p:nvSpPr>
        <p:spPr>
          <a:xfrm>
            <a:off x="4043363"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Elastic Resource Allocation</a:t>
            </a:r>
          </a:p>
        </p:txBody>
      </p:sp>
      <p:sp>
        <p:nvSpPr>
          <p:cNvPr id="169" name="compute-orchestration-items-5-box">
            <a:extLst>
              <a:ext uri="{FF2B5EF4-FFF2-40B4-BE49-F238E27FC236}">
                <a16:creationId xmlns:a16="http://schemas.microsoft.com/office/drawing/2014/main" id="{1F32C19F-D03F-6CD4-FDDA-1E7BC79FAD21}"/>
              </a:ext>
            </a:extLst>
          </p:cNvPr>
          <p:cNvSpPr>
            <a:spLocks noGrp="1"/>
          </p:cNvSpPr>
          <p:nvPr/>
        </p:nvSpPr>
        <p:spPr>
          <a:xfrm>
            <a:off x="5054600"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Multi-tenant Isolation</a:t>
            </a:r>
          </a:p>
        </p:txBody>
      </p:sp>
      <p:sp>
        <p:nvSpPr>
          <p:cNvPr id="170" name="compute-orchestration-items-6-box">
            <a:extLst>
              <a:ext uri="{FF2B5EF4-FFF2-40B4-BE49-F238E27FC236}">
                <a16:creationId xmlns:a16="http://schemas.microsoft.com/office/drawing/2014/main" id="{08E4B0D7-DDA6-3DEE-B4F7-4698F400DB03}"/>
              </a:ext>
            </a:extLst>
          </p:cNvPr>
          <p:cNvSpPr>
            <a:spLocks noGrp="1"/>
          </p:cNvSpPr>
          <p:nvPr/>
        </p:nvSpPr>
        <p:spPr>
          <a:xfrm>
            <a:off x="6065838"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Workflow Orchestration</a:t>
            </a:r>
          </a:p>
        </p:txBody>
      </p:sp>
      <p:sp>
        <p:nvSpPr>
          <p:cNvPr id="172" name="kubernetes-gpu-surface">
            <a:extLst>
              <a:ext uri="{FF2B5EF4-FFF2-40B4-BE49-F238E27FC236}">
                <a16:creationId xmlns:a16="http://schemas.microsoft.com/office/drawing/2014/main" id="{6AEDF670-2B7A-B129-36C0-FBE6F1475138}"/>
              </a:ext>
            </a:extLst>
          </p:cNvPr>
          <p:cNvSpPr>
            <a:spLocks noGrp="1"/>
          </p:cNvSpPr>
          <p:nvPr/>
        </p:nvSpPr>
        <p:spPr>
          <a:xfrm>
            <a:off x="933450" y="4367394"/>
            <a:ext cx="6191250" cy="238125"/>
          </a:xfrm>
          <a:prstGeom prst="roundRect">
            <a:avLst>
              <a:gd name="adj" fmla="val 16000"/>
            </a:avLst>
          </a:prstGeom>
          <a:solidFill>
            <a:srgbClr val="F7FAFF"/>
          </a:solidFill>
          <a:ln w="9525">
            <a:solidFill>
              <a:srgbClr val="C8D8F1"/>
            </a:solidFill>
            <a:prstDash val="solid"/>
          </a:ln>
        </p:spPr>
        <p:txBody>
          <a:bodyPr/>
          <a:lstStyle/>
          <a:p>
            <a:endParaRPr lang="zh-CN" altLang="en-US" sz="1600"/>
          </a:p>
        </p:txBody>
      </p:sp>
      <p:sp>
        <p:nvSpPr>
          <p:cNvPr id="173" name="kubernetes-gpu-items-1-box">
            <a:extLst>
              <a:ext uri="{FF2B5EF4-FFF2-40B4-BE49-F238E27FC236}">
                <a16:creationId xmlns:a16="http://schemas.microsoft.com/office/drawing/2014/main" id="{61CDCF19-8242-EDBB-F5F3-5C3474D7F50B}"/>
              </a:ext>
            </a:extLst>
          </p:cNvPr>
          <p:cNvSpPr>
            <a:spLocks noGrp="1"/>
          </p:cNvSpPr>
          <p:nvPr/>
        </p:nvSpPr>
        <p:spPr>
          <a:xfrm>
            <a:off x="1009650"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1" dirty="0">
                <a:solidFill>
                  <a:srgbClr val="102031"/>
                </a:solidFill>
                <a:latin typeface="Arial"/>
                <a:ea typeface="Arial"/>
                <a:cs typeface="Arial"/>
              </a:rPr>
              <a:t>Kubernetes</a:t>
            </a:r>
          </a:p>
        </p:txBody>
      </p:sp>
      <p:sp>
        <p:nvSpPr>
          <p:cNvPr id="174" name="kubernetes-gpu-items-2-box">
            <a:extLst>
              <a:ext uri="{FF2B5EF4-FFF2-40B4-BE49-F238E27FC236}">
                <a16:creationId xmlns:a16="http://schemas.microsoft.com/office/drawing/2014/main" id="{C77AB38E-B910-0067-928F-19F5BD32D598}"/>
              </a:ext>
            </a:extLst>
          </p:cNvPr>
          <p:cNvSpPr>
            <a:spLocks noGrp="1"/>
          </p:cNvSpPr>
          <p:nvPr/>
        </p:nvSpPr>
        <p:spPr>
          <a:xfrm>
            <a:off x="1876425"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GPU Operator</a:t>
            </a:r>
          </a:p>
        </p:txBody>
      </p:sp>
      <p:sp>
        <p:nvSpPr>
          <p:cNvPr id="175" name="kubernetes-gpu-items-3-box">
            <a:extLst>
              <a:ext uri="{FF2B5EF4-FFF2-40B4-BE49-F238E27FC236}">
                <a16:creationId xmlns:a16="http://schemas.microsoft.com/office/drawing/2014/main" id="{22972BFF-687C-6A8C-8863-7D96B585133F}"/>
              </a:ext>
            </a:extLst>
          </p:cNvPr>
          <p:cNvSpPr>
            <a:spLocks noGrp="1"/>
          </p:cNvSpPr>
          <p:nvPr/>
        </p:nvSpPr>
        <p:spPr>
          <a:xfrm>
            <a:off x="2743200"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Device Plugin</a:t>
            </a:r>
          </a:p>
        </p:txBody>
      </p:sp>
      <p:sp>
        <p:nvSpPr>
          <p:cNvPr id="176" name="kubernetes-gpu-items-4-box">
            <a:extLst>
              <a:ext uri="{FF2B5EF4-FFF2-40B4-BE49-F238E27FC236}">
                <a16:creationId xmlns:a16="http://schemas.microsoft.com/office/drawing/2014/main" id="{51152C1A-2883-D420-D486-527933149EEF}"/>
              </a:ext>
            </a:extLst>
          </p:cNvPr>
          <p:cNvSpPr>
            <a:spLocks noGrp="1"/>
          </p:cNvSpPr>
          <p:nvPr/>
        </p:nvSpPr>
        <p:spPr>
          <a:xfrm>
            <a:off x="3609975"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GPU Monitoring</a:t>
            </a:r>
          </a:p>
        </p:txBody>
      </p:sp>
      <p:sp>
        <p:nvSpPr>
          <p:cNvPr id="177" name="kubernetes-gpu-items-5-box">
            <a:extLst>
              <a:ext uri="{FF2B5EF4-FFF2-40B4-BE49-F238E27FC236}">
                <a16:creationId xmlns:a16="http://schemas.microsoft.com/office/drawing/2014/main" id="{F1C4C1AD-9BD0-9A7E-00D3-97C5A8273808}"/>
              </a:ext>
            </a:extLst>
          </p:cNvPr>
          <p:cNvSpPr>
            <a:spLocks noGrp="1"/>
          </p:cNvSpPr>
          <p:nvPr/>
        </p:nvSpPr>
        <p:spPr>
          <a:xfrm>
            <a:off x="4476750"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Topology Manager</a:t>
            </a:r>
          </a:p>
        </p:txBody>
      </p:sp>
      <p:sp>
        <p:nvSpPr>
          <p:cNvPr id="178" name="kubernetes-gpu-items-6-box">
            <a:extLst>
              <a:ext uri="{FF2B5EF4-FFF2-40B4-BE49-F238E27FC236}">
                <a16:creationId xmlns:a16="http://schemas.microsoft.com/office/drawing/2014/main" id="{51FB50EB-6A4A-18DB-7A55-E941FFDD2068}"/>
              </a:ext>
            </a:extLst>
          </p:cNvPr>
          <p:cNvSpPr>
            <a:spLocks noGrp="1"/>
          </p:cNvSpPr>
          <p:nvPr/>
        </p:nvSpPr>
        <p:spPr>
          <a:xfrm>
            <a:off x="5343525"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Node Auto-discovery</a:t>
            </a:r>
          </a:p>
        </p:txBody>
      </p:sp>
      <p:sp>
        <p:nvSpPr>
          <p:cNvPr id="179" name="kubernetes-gpu-items-7-box">
            <a:extLst>
              <a:ext uri="{FF2B5EF4-FFF2-40B4-BE49-F238E27FC236}">
                <a16:creationId xmlns:a16="http://schemas.microsoft.com/office/drawing/2014/main" id="{22245C04-67A9-80DF-84B9-860EAB67B4E1}"/>
              </a:ext>
            </a:extLst>
          </p:cNvPr>
          <p:cNvSpPr>
            <a:spLocks noGrp="1"/>
          </p:cNvSpPr>
          <p:nvPr/>
        </p:nvSpPr>
        <p:spPr>
          <a:xfrm>
            <a:off x="6210300"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Multi-tenant Isolation</a:t>
            </a:r>
          </a:p>
        </p:txBody>
      </p:sp>
      <p:sp>
        <p:nvSpPr>
          <p:cNvPr id="180" name="infrastructure-rail-box">
            <a:extLst>
              <a:ext uri="{FF2B5EF4-FFF2-40B4-BE49-F238E27FC236}">
                <a16:creationId xmlns:a16="http://schemas.microsoft.com/office/drawing/2014/main" id="{E8A91F7C-D116-EA58-9A8A-F819E1B42313}"/>
              </a:ext>
            </a:extLst>
          </p:cNvPr>
          <p:cNvSpPr>
            <a:spLocks noGrp="1"/>
          </p:cNvSpPr>
          <p:nvPr/>
        </p:nvSpPr>
        <p:spPr>
          <a:xfrm>
            <a:off x="76200" y="4653144"/>
            <a:ext cx="762000" cy="190500"/>
          </a:xfrm>
          <a:prstGeom prst="roundRect">
            <a:avLst>
              <a:gd name="adj" fmla="val 20000"/>
            </a:avLst>
          </a:prstGeom>
          <a:solidFill>
            <a:srgbClr val="102031"/>
          </a:solidFill>
          <a:ln w="9525">
            <a:solidFill>
              <a:srgbClr val="102031"/>
            </a:solidFill>
            <a:prstDash val="solid"/>
          </a:ln>
        </p:spPr>
        <p:txBody>
          <a:bodyPr wrap="square" lIns="28575" tIns="9525" rIns="28575" bIns="9525" anchor="ctr">
            <a:noAutofit/>
          </a:bodyPr>
          <a:lstStyle/>
          <a:p>
            <a:pPr algn="ctr">
              <a:defRPr sz="525" b="1">
                <a:solidFill>
                  <a:srgbClr val="FFFFFF"/>
                </a:solidFill>
                <a:latin typeface="Arial"/>
                <a:ea typeface="Arial"/>
                <a:cs typeface="Arial"/>
              </a:defRPr>
            </a:pPr>
            <a:r>
              <a:rPr sz="600" b="1">
                <a:solidFill>
                  <a:srgbClr val="FFFFFF"/>
                </a:solidFill>
                <a:latin typeface="Arial"/>
                <a:ea typeface="Arial"/>
                <a:cs typeface="Arial"/>
              </a:rPr>
              <a:t>Infrastructure</a:t>
            </a:r>
          </a:p>
          <a:p>
            <a:pPr algn="ctr">
              <a:defRPr sz="525" b="1">
                <a:solidFill>
                  <a:srgbClr val="FFFFFF"/>
                </a:solidFill>
                <a:latin typeface="Arial"/>
                <a:ea typeface="Arial"/>
                <a:cs typeface="Arial"/>
              </a:defRPr>
            </a:pPr>
            <a:r>
              <a:rPr sz="600" b="1">
                <a:solidFill>
                  <a:srgbClr val="FFFFFF"/>
                </a:solidFill>
                <a:latin typeface="Arial"/>
                <a:ea typeface="Arial"/>
                <a:cs typeface="Arial"/>
              </a:rPr>
              <a:t>Operations</a:t>
            </a:r>
          </a:p>
        </p:txBody>
      </p:sp>
      <p:sp>
        <p:nvSpPr>
          <p:cNvPr id="181" name="infrastructure-surface">
            <a:extLst>
              <a:ext uri="{FF2B5EF4-FFF2-40B4-BE49-F238E27FC236}">
                <a16:creationId xmlns:a16="http://schemas.microsoft.com/office/drawing/2014/main" id="{E9666790-F5E6-786E-4021-DCD511CCA1E2}"/>
              </a:ext>
            </a:extLst>
          </p:cNvPr>
          <p:cNvSpPr>
            <a:spLocks noGrp="1"/>
          </p:cNvSpPr>
          <p:nvPr/>
        </p:nvSpPr>
        <p:spPr>
          <a:xfrm>
            <a:off x="933450" y="4653144"/>
            <a:ext cx="6191250" cy="190500"/>
          </a:xfrm>
          <a:prstGeom prst="roundRect">
            <a:avLst>
              <a:gd name="adj" fmla="val 20000"/>
            </a:avLst>
          </a:prstGeom>
          <a:solidFill>
            <a:srgbClr val="F7FAFF"/>
          </a:solidFill>
          <a:ln w="9525">
            <a:solidFill>
              <a:srgbClr val="C8D8F1"/>
            </a:solidFill>
            <a:prstDash val="solid"/>
          </a:ln>
        </p:spPr>
        <p:txBody>
          <a:bodyPr/>
          <a:lstStyle/>
          <a:p>
            <a:endParaRPr lang="zh-CN" altLang="en-US" sz="1600"/>
          </a:p>
        </p:txBody>
      </p:sp>
      <p:sp>
        <p:nvSpPr>
          <p:cNvPr id="182" name="infrastructure-items-1-box">
            <a:extLst>
              <a:ext uri="{FF2B5EF4-FFF2-40B4-BE49-F238E27FC236}">
                <a16:creationId xmlns:a16="http://schemas.microsoft.com/office/drawing/2014/main" id="{F02F3BB5-5C1A-B2C2-142C-AFFAB3E2934D}"/>
              </a:ext>
            </a:extLst>
          </p:cNvPr>
          <p:cNvSpPr>
            <a:spLocks noGrp="1"/>
          </p:cNvSpPr>
          <p:nvPr/>
        </p:nvSpPr>
        <p:spPr>
          <a:xfrm>
            <a:off x="1009650"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Compute</a:t>
            </a:r>
          </a:p>
          <a:p>
            <a:pPr algn="ctr">
              <a:defRPr sz="435" b="0">
                <a:solidFill>
                  <a:srgbClr val="102031"/>
                </a:solidFill>
                <a:latin typeface="Arial"/>
                <a:ea typeface="Arial"/>
                <a:cs typeface="Arial"/>
              </a:defRPr>
            </a:pPr>
            <a:r>
              <a:rPr sz="300" b="0">
                <a:solidFill>
                  <a:srgbClr val="102031"/>
                </a:solidFill>
                <a:latin typeface="Arial"/>
                <a:ea typeface="Arial"/>
                <a:cs typeface="Arial"/>
              </a:rPr>
              <a:t>(VM / Bare Metal)</a:t>
            </a:r>
          </a:p>
        </p:txBody>
      </p:sp>
      <p:sp>
        <p:nvSpPr>
          <p:cNvPr id="183" name="infrastructure-items-2-box">
            <a:extLst>
              <a:ext uri="{FF2B5EF4-FFF2-40B4-BE49-F238E27FC236}">
                <a16:creationId xmlns:a16="http://schemas.microsoft.com/office/drawing/2014/main" id="{9B0BBF7D-394A-50D2-0FD2-FF9329BB6D39}"/>
              </a:ext>
            </a:extLst>
          </p:cNvPr>
          <p:cNvSpPr>
            <a:spLocks noGrp="1"/>
          </p:cNvSpPr>
          <p:nvPr/>
        </p:nvSpPr>
        <p:spPr>
          <a:xfrm>
            <a:off x="1768078"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Network</a:t>
            </a:r>
          </a:p>
          <a:p>
            <a:pPr algn="ctr">
              <a:defRPr sz="435" b="0">
                <a:solidFill>
                  <a:srgbClr val="102031"/>
                </a:solidFill>
                <a:latin typeface="Arial"/>
                <a:ea typeface="Arial"/>
                <a:cs typeface="Arial"/>
              </a:defRPr>
            </a:pPr>
            <a:r>
              <a:rPr sz="300" b="0">
                <a:solidFill>
                  <a:srgbClr val="102031"/>
                </a:solidFill>
                <a:latin typeface="Arial"/>
                <a:ea typeface="Arial"/>
                <a:cs typeface="Arial"/>
              </a:rPr>
              <a:t>(VPC / SDN)</a:t>
            </a:r>
          </a:p>
        </p:txBody>
      </p:sp>
      <p:sp>
        <p:nvSpPr>
          <p:cNvPr id="184" name="infrastructure-items-3-box">
            <a:extLst>
              <a:ext uri="{FF2B5EF4-FFF2-40B4-BE49-F238E27FC236}">
                <a16:creationId xmlns:a16="http://schemas.microsoft.com/office/drawing/2014/main" id="{1863AA5E-7510-42EE-8E75-96EDC8DE25BD}"/>
              </a:ext>
            </a:extLst>
          </p:cNvPr>
          <p:cNvSpPr>
            <a:spLocks noGrp="1"/>
          </p:cNvSpPr>
          <p:nvPr/>
        </p:nvSpPr>
        <p:spPr>
          <a:xfrm>
            <a:off x="2526506"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Storage</a:t>
            </a:r>
          </a:p>
          <a:p>
            <a:pPr algn="ctr">
              <a:defRPr sz="435" b="0">
                <a:solidFill>
                  <a:srgbClr val="102031"/>
                </a:solidFill>
                <a:latin typeface="Arial"/>
                <a:ea typeface="Arial"/>
                <a:cs typeface="Arial"/>
              </a:defRPr>
            </a:pPr>
            <a:r>
              <a:rPr sz="300" b="0">
                <a:solidFill>
                  <a:srgbClr val="102031"/>
                </a:solidFill>
                <a:latin typeface="Arial"/>
                <a:ea typeface="Arial"/>
                <a:cs typeface="Arial"/>
              </a:rPr>
              <a:t>(Distributed)</a:t>
            </a:r>
          </a:p>
        </p:txBody>
      </p:sp>
      <p:sp>
        <p:nvSpPr>
          <p:cNvPr id="185" name="infrastructure-items-4-box">
            <a:extLst>
              <a:ext uri="{FF2B5EF4-FFF2-40B4-BE49-F238E27FC236}">
                <a16:creationId xmlns:a16="http://schemas.microsoft.com/office/drawing/2014/main" id="{1DC82E08-D77B-5A04-E9A3-4799EF0513A2}"/>
              </a:ext>
            </a:extLst>
          </p:cNvPr>
          <p:cNvSpPr>
            <a:spLocks noGrp="1"/>
          </p:cNvSpPr>
          <p:nvPr/>
        </p:nvSpPr>
        <p:spPr>
          <a:xfrm>
            <a:off x="3284934"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Security</a:t>
            </a:r>
          </a:p>
          <a:p>
            <a:pPr algn="ctr">
              <a:defRPr sz="435" b="0">
                <a:solidFill>
                  <a:srgbClr val="102031"/>
                </a:solidFill>
                <a:latin typeface="Arial"/>
                <a:ea typeface="Arial"/>
                <a:cs typeface="Arial"/>
              </a:defRPr>
            </a:pPr>
            <a:r>
              <a:rPr sz="300" b="0">
                <a:solidFill>
                  <a:srgbClr val="102031"/>
                </a:solidFill>
                <a:latin typeface="Arial"/>
                <a:ea typeface="Arial"/>
                <a:cs typeface="Arial"/>
              </a:rPr>
              <a:t>(FW / IDS)</a:t>
            </a:r>
          </a:p>
        </p:txBody>
      </p:sp>
      <p:sp>
        <p:nvSpPr>
          <p:cNvPr id="186" name="infrastructure-items-5-box">
            <a:extLst>
              <a:ext uri="{FF2B5EF4-FFF2-40B4-BE49-F238E27FC236}">
                <a16:creationId xmlns:a16="http://schemas.microsoft.com/office/drawing/2014/main" id="{3BA4C529-07B3-59B6-8AA1-5BE025F17DAA}"/>
              </a:ext>
            </a:extLst>
          </p:cNvPr>
          <p:cNvSpPr>
            <a:spLocks noGrp="1"/>
          </p:cNvSpPr>
          <p:nvPr/>
        </p:nvSpPr>
        <p:spPr>
          <a:xfrm>
            <a:off x="4043363"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Monitoring</a:t>
            </a:r>
          </a:p>
          <a:p>
            <a:pPr algn="ctr">
              <a:defRPr sz="435" b="0">
                <a:solidFill>
                  <a:srgbClr val="102031"/>
                </a:solidFill>
                <a:latin typeface="Arial"/>
                <a:ea typeface="Arial"/>
                <a:cs typeface="Arial"/>
              </a:defRPr>
            </a:pPr>
            <a:r>
              <a:rPr sz="300" b="0">
                <a:solidFill>
                  <a:srgbClr val="102031"/>
                </a:solidFill>
                <a:latin typeface="Arial"/>
                <a:ea typeface="Arial"/>
                <a:cs typeface="Arial"/>
              </a:rPr>
              <a:t>(Prometheus)</a:t>
            </a:r>
          </a:p>
        </p:txBody>
      </p:sp>
      <p:sp>
        <p:nvSpPr>
          <p:cNvPr id="187" name="infrastructure-items-6-box">
            <a:extLst>
              <a:ext uri="{FF2B5EF4-FFF2-40B4-BE49-F238E27FC236}">
                <a16:creationId xmlns:a16="http://schemas.microsoft.com/office/drawing/2014/main" id="{2DBCD637-1B48-A53C-5C31-1DF3173E650F}"/>
              </a:ext>
            </a:extLst>
          </p:cNvPr>
          <p:cNvSpPr>
            <a:spLocks noGrp="1"/>
          </p:cNvSpPr>
          <p:nvPr/>
        </p:nvSpPr>
        <p:spPr>
          <a:xfrm>
            <a:off x="4801791"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Logging</a:t>
            </a:r>
          </a:p>
          <a:p>
            <a:pPr algn="ctr">
              <a:defRPr sz="435" b="0">
                <a:solidFill>
                  <a:srgbClr val="102031"/>
                </a:solidFill>
                <a:latin typeface="Arial"/>
                <a:ea typeface="Arial"/>
                <a:cs typeface="Arial"/>
              </a:defRPr>
            </a:pPr>
            <a:r>
              <a:rPr sz="300" b="0">
                <a:solidFill>
                  <a:srgbClr val="102031"/>
                </a:solidFill>
                <a:latin typeface="Arial"/>
                <a:ea typeface="Arial"/>
                <a:cs typeface="Arial"/>
              </a:rPr>
              <a:t>(ELK)</a:t>
            </a:r>
          </a:p>
        </p:txBody>
      </p:sp>
      <p:sp>
        <p:nvSpPr>
          <p:cNvPr id="188" name="infrastructure-items-7-box">
            <a:extLst>
              <a:ext uri="{FF2B5EF4-FFF2-40B4-BE49-F238E27FC236}">
                <a16:creationId xmlns:a16="http://schemas.microsoft.com/office/drawing/2014/main" id="{7332C11D-84AF-EB39-4669-407DAF74ED90}"/>
              </a:ext>
            </a:extLst>
          </p:cNvPr>
          <p:cNvSpPr>
            <a:spLocks noGrp="1"/>
          </p:cNvSpPr>
          <p:nvPr/>
        </p:nvSpPr>
        <p:spPr>
          <a:xfrm>
            <a:off x="5560219"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Automation</a:t>
            </a:r>
          </a:p>
          <a:p>
            <a:pPr algn="ctr">
              <a:defRPr sz="435" b="0">
                <a:solidFill>
                  <a:srgbClr val="102031"/>
                </a:solidFill>
                <a:latin typeface="Arial"/>
                <a:ea typeface="Arial"/>
                <a:cs typeface="Arial"/>
              </a:defRPr>
            </a:pPr>
            <a:r>
              <a:rPr sz="300" b="0">
                <a:solidFill>
                  <a:srgbClr val="102031"/>
                </a:solidFill>
                <a:latin typeface="Arial"/>
                <a:ea typeface="Arial"/>
                <a:cs typeface="Arial"/>
              </a:rPr>
              <a:t>(Ansible)</a:t>
            </a:r>
          </a:p>
        </p:txBody>
      </p:sp>
      <p:sp>
        <p:nvSpPr>
          <p:cNvPr id="189" name="infrastructure-items-8-box">
            <a:extLst>
              <a:ext uri="{FF2B5EF4-FFF2-40B4-BE49-F238E27FC236}">
                <a16:creationId xmlns:a16="http://schemas.microsoft.com/office/drawing/2014/main" id="{1EBAF33E-9853-62AF-AC8E-2920247E635B}"/>
              </a:ext>
            </a:extLst>
          </p:cNvPr>
          <p:cNvSpPr>
            <a:spLocks noGrp="1"/>
          </p:cNvSpPr>
          <p:nvPr/>
        </p:nvSpPr>
        <p:spPr>
          <a:xfrm>
            <a:off x="6318647"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CI/CD</a:t>
            </a:r>
          </a:p>
          <a:p>
            <a:pPr algn="ctr">
              <a:defRPr sz="435" b="0">
                <a:solidFill>
                  <a:srgbClr val="102031"/>
                </a:solidFill>
                <a:latin typeface="Arial"/>
                <a:ea typeface="Arial"/>
                <a:cs typeface="Arial"/>
              </a:defRPr>
            </a:pPr>
            <a:r>
              <a:rPr sz="300" b="0">
                <a:solidFill>
                  <a:srgbClr val="102031"/>
                </a:solidFill>
                <a:latin typeface="Arial"/>
                <a:ea typeface="Arial"/>
                <a:cs typeface="Arial"/>
              </a:rPr>
              <a:t>(GitOps)</a:t>
            </a:r>
          </a:p>
        </p:txBody>
      </p:sp>
      <p:sp>
        <p:nvSpPr>
          <p:cNvPr id="6" name="文本框 5">
            <a:extLst>
              <a:ext uri="{FF2B5EF4-FFF2-40B4-BE49-F238E27FC236}">
                <a16:creationId xmlns:a16="http://schemas.microsoft.com/office/drawing/2014/main" id="{0DC8EAE8-7214-0CAB-B297-4A9BD9A4B529}"/>
              </a:ext>
            </a:extLst>
          </p:cNvPr>
          <p:cNvSpPr txBox="1"/>
          <p:nvPr/>
        </p:nvSpPr>
        <p:spPr>
          <a:xfrm>
            <a:off x="1103735" y="2040678"/>
            <a:ext cx="648868" cy="461665"/>
          </a:xfrm>
          <a:prstGeom prst="rect">
            <a:avLst/>
          </a:prstGeom>
          <a:noFill/>
          <a:ln w="0">
            <a:noFill/>
            <a:prstDash val="solid"/>
          </a:ln>
        </p:spPr>
        <p:txBody>
          <a:bodyPr wrap="square" lIns="19050" tIns="9525" rIns="19050" bIns="9525" anchor="ctr">
            <a:normAutofit fontScale="93750"/>
          </a:bodyPr>
          <a:lstStyle>
            <a:defPPr marR="0" lvl="0" algn="l" rtl="0">
              <a:lnSpc>
                <a:spcPct val="100000"/>
              </a:lnSpc>
              <a:spcBef>
                <a:spcPts val="0"/>
              </a:spcBef>
              <a:spcAft>
                <a:spcPts val="0"/>
              </a:spcAft>
            </a:defPPr>
            <a:lvl1pPr algn="ctr">
              <a:defRPr sz="1200" b="1">
                <a:solidFill>
                  <a:srgbClr val="475569"/>
                </a:solidFill>
              </a:defRPr>
            </a:lvl1pPr>
          </a:lstStyle>
          <a:p>
            <a:pPr algn="l"/>
            <a:r>
              <a:rPr lang="en" altLang="zh-CN" dirty="0"/>
              <a:t>LLM-D</a:t>
            </a:r>
          </a:p>
          <a:p>
            <a:pPr algn="l"/>
            <a:r>
              <a:rPr lang="en" altLang="zh-CN" dirty="0"/>
              <a:t>KAITO</a:t>
            </a:r>
            <a:endParaRPr lang="zh-CN" altLang="en-US" dirty="0"/>
          </a:p>
        </p:txBody>
      </p:sp>
    </p:spTree>
    <p:extLst>
      <p:ext uri="{BB962C8B-B14F-4D97-AF65-F5344CB8AC3E}">
        <p14:creationId xmlns:p14="http://schemas.microsoft.com/office/powerpoint/2010/main" val="31577067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ecosystem landscape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Open-source P/D has several paths, not one winner</a:t>
            </a:r>
          </a:p>
        </p:txBody>
      </p:sp>
      <p:sp>
        <p:nvSpPr>
          <p:cNvPr id="4" name="TextBox 3"/>
          <p:cNvSpPr txBox="1"/>
          <p:nvPr/>
        </p:nvSpPr>
        <p:spPr>
          <a:xfrm>
            <a:off x="384048" y="1033271"/>
            <a:ext cx="8321040" cy="205441"/>
          </a:xfrm>
          <a:prstGeom prst="rect">
            <a:avLst/>
          </a:prstGeom>
          <a:noFill/>
        </p:spPr>
        <p:txBody>
          <a:bodyPr wrap="square" lIns="10287" tIns="10287" rIns="10287" bIns="10287">
            <a:spAutoFit/>
          </a:bodyPr>
          <a:lstStyle/>
          <a:p>
            <a:pPr marL="158750">
              <a:buSzPts val="1100"/>
            </a:pPr>
            <a:r>
              <a:rPr lang="zh-CN" altLang="zh-CN" sz="1200" dirty="0"/>
              <a:t>The following table presents examples, not a ranking. Some approaches can be used together.</a:t>
            </a:r>
            <a:endParaRPr lang="en-US" altLang="zh-CN" sz="1200" dirty="0"/>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lang="en-US" sz="1125" dirty="0"/>
              <a:t>P/D deployment options already exist. KAITO aims to make them easier to use.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453896"/>
            <a:ext cx="214312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2629" y="1512189"/>
            <a:ext cx="2009393"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Approach</a:t>
            </a:r>
          </a:p>
        </p:txBody>
      </p:sp>
      <p:sp>
        <p:nvSpPr>
          <p:cNvPr id="12" name="Rectangle 11"/>
          <p:cNvSpPr/>
          <p:nvPr/>
        </p:nvSpPr>
        <p:spPr>
          <a:xfrm>
            <a:off x="2537461" y="1453896"/>
            <a:ext cx="2952368"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12898" y="1512189"/>
            <a:ext cx="2818638"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Serving / routing path</a:t>
            </a:r>
          </a:p>
        </p:txBody>
      </p:sp>
      <p:sp>
        <p:nvSpPr>
          <p:cNvPr id="14" name="Rectangle 13"/>
          <p:cNvSpPr/>
          <p:nvPr/>
        </p:nvSpPr>
        <p:spPr>
          <a:xfrm>
            <a:off x="5506974" y="1453896"/>
            <a:ext cx="324040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582412" y="1512189"/>
            <a:ext cx="3106674"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Kubernetes packaging</a:t>
            </a:r>
          </a:p>
        </p:txBody>
      </p:sp>
      <p:sp>
        <p:nvSpPr>
          <p:cNvPr id="16" name="Rectangle 15"/>
          <p:cNvSpPr/>
          <p:nvPr/>
        </p:nvSpPr>
        <p:spPr>
          <a:xfrm>
            <a:off x="377190" y="1776222"/>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2629" y="1834516"/>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NVIDIA Dynamo</a:t>
            </a:r>
          </a:p>
        </p:txBody>
      </p:sp>
      <p:sp>
        <p:nvSpPr>
          <p:cNvPr id="18" name="Rectangle 17"/>
          <p:cNvSpPr/>
          <p:nvPr/>
        </p:nvSpPr>
        <p:spPr>
          <a:xfrm>
            <a:off x="2537461" y="1776222"/>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12898" y="1834516"/>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Integrated inference stack</a:t>
            </a:r>
          </a:p>
        </p:txBody>
      </p:sp>
      <p:sp>
        <p:nvSpPr>
          <p:cNvPr id="20" name="Rectangle 19"/>
          <p:cNvSpPr/>
          <p:nvPr/>
        </p:nvSpPr>
        <p:spPr>
          <a:xfrm>
            <a:off x="5506974" y="1776222"/>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582412" y="1834516"/>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Operator + DynamoGraphDeployment</a:t>
            </a:r>
          </a:p>
        </p:txBody>
      </p:sp>
      <p:sp>
        <p:nvSpPr>
          <p:cNvPr id="22" name="Rectangle 21"/>
          <p:cNvSpPr/>
          <p:nvPr/>
        </p:nvSpPr>
        <p:spPr>
          <a:xfrm>
            <a:off x="377190" y="2098548"/>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2629" y="2156842"/>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llm-d [CNCF]</a:t>
            </a:r>
          </a:p>
        </p:txBody>
      </p:sp>
      <p:sp>
        <p:nvSpPr>
          <p:cNvPr id="24" name="Rectangle 23"/>
          <p:cNvSpPr/>
          <p:nvPr/>
        </p:nvSpPr>
        <p:spPr>
          <a:xfrm>
            <a:off x="2537461" y="2098548"/>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12898" y="2156842"/>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EPP + routing sidecar</a:t>
            </a:r>
          </a:p>
        </p:txBody>
      </p:sp>
      <p:sp>
        <p:nvSpPr>
          <p:cNvPr id="26" name="Rectangle 25"/>
          <p:cNvSpPr/>
          <p:nvPr/>
        </p:nvSpPr>
        <p:spPr>
          <a:xfrm>
            <a:off x="5506974" y="2098548"/>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582412" y="2156842"/>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Gateway API / InferencePool</a:t>
            </a:r>
          </a:p>
        </p:txBody>
      </p:sp>
      <p:sp>
        <p:nvSpPr>
          <p:cNvPr id="28" name="Rectangle 27"/>
          <p:cNvSpPr/>
          <p:nvPr/>
        </p:nvSpPr>
        <p:spPr>
          <a:xfrm>
            <a:off x="377190" y="2420874"/>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2629" y="2479168"/>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AIBrix</a:t>
            </a:r>
          </a:p>
        </p:txBody>
      </p:sp>
      <p:sp>
        <p:nvSpPr>
          <p:cNvPr id="30" name="Rectangle 29"/>
          <p:cNvSpPr/>
          <p:nvPr/>
        </p:nvSpPr>
        <p:spPr>
          <a:xfrm>
            <a:off x="2537461" y="2420874"/>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12898" y="2479168"/>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gateway + engines</a:t>
            </a:r>
          </a:p>
        </p:txBody>
      </p:sp>
      <p:sp>
        <p:nvSpPr>
          <p:cNvPr id="32" name="Rectangle 31"/>
          <p:cNvSpPr/>
          <p:nvPr/>
        </p:nvSpPr>
        <p:spPr>
          <a:xfrm>
            <a:off x="5506974" y="2420874"/>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582412" y="2479168"/>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StormService / RoleSet</a:t>
            </a:r>
          </a:p>
        </p:txBody>
      </p:sp>
      <p:sp>
        <p:nvSpPr>
          <p:cNvPr id="34" name="Rectangle 33"/>
          <p:cNvSpPr/>
          <p:nvPr/>
        </p:nvSpPr>
        <p:spPr>
          <a:xfrm>
            <a:off x="377190" y="2743200"/>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2629" y="2801494"/>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KServe + llm-d [CNCF]</a:t>
            </a:r>
          </a:p>
        </p:txBody>
      </p:sp>
      <p:sp>
        <p:nvSpPr>
          <p:cNvPr id="36" name="Rectangle 35"/>
          <p:cNvSpPr/>
          <p:nvPr/>
        </p:nvSpPr>
        <p:spPr>
          <a:xfrm>
            <a:off x="2537461" y="2743200"/>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12898" y="2801494"/>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llm-d serving integration</a:t>
            </a:r>
          </a:p>
        </p:txBody>
      </p:sp>
      <p:sp>
        <p:nvSpPr>
          <p:cNvPr id="38" name="Rectangle 37"/>
          <p:cNvSpPr/>
          <p:nvPr/>
        </p:nvSpPr>
        <p:spPr>
          <a:xfrm>
            <a:off x="5506974" y="2743200"/>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582412" y="2801494"/>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LLMInferenceService</a:t>
            </a:r>
          </a:p>
        </p:txBody>
      </p:sp>
      <p:sp>
        <p:nvSpPr>
          <p:cNvPr id="40" name="Rectangle 39"/>
          <p:cNvSpPr/>
          <p:nvPr/>
        </p:nvSpPr>
        <p:spPr>
          <a:xfrm>
            <a:off x="377190" y="3065526"/>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2629" y="3123819"/>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Ray Serve + KubeRay</a:t>
            </a:r>
          </a:p>
        </p:txBody>
      </p:sp>
      <p:sp>
        <p:nvSpPr>
          <p:cNvPr id="42" name="Rectangle 41"/>
          <p:cNvSpPr/>
          <p:nvPr/>
        </p:nvSpPr>
        <p:spPr>
          <a:xfrm>
            <a:off x="2537461" y="3065526"/>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12898" y="3123819"/>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 app + vLLM KV connectors</a:t>
            </a:r>
          </a:p>
        </p:txBody>
      </p:sp>
      <p:sp>
        <p:nvSpPr>
          <p:cNvPr id="44" name="Rectangle 43"/>
          <p:cNvSpPr/>
          <p:nvPr/>
        </p:nvSpPr>
        <p:spPr>
          <a:xfrm>
            <a:off x="5506974" y="3065526"/>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582412" y="3123819"/>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RayService + Serve configuration</a:t>
            </a:r>
          </a:p>
        </p:txBody>
      </p:sp>
      <p:sp>
        <p:nvSpPr>
          <p:cNvPr id="46" name="Rectangle 45"/>
          <p:cNvSpPr/>
          <p:nvPr/>
        </p:nvSpPr>
        <p:spPr>
          <a:xfrm>
            <a:off x="377190" y="3387852"/>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452629" y="3446145"/>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vLLM Production Stack</a:t>
            </a:r>
          </a:p>
        </p:txBody>
      </p:sp>
      <p:sp>
        <p:nvSpPr>
          <p:cNvPr id="48" name="Rectangle 47"/>
          <p:cNvSpPr/>
          <p:nvPr/>
        </p:nvSpPr>
        <p:spPr>
          <a:xfrm>
            <a:off x="2537461" y="3387852"/>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9" name="TextBox 48"/>
          <p:cNvSpPr txBox="1"/>
          <p:nvPr/>
        </p:nvSpPr>
        <p:spPr>
          <a:xfrm>
            <a:off x="2612898" y="3446145"/>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vLLM + LMCache / NIXL + router</a:t>
            </a:r>
          </a:p>
        </p:txBody>
      </p:sp>
      <p:sp>
        <p:nvSpPr>
          <p:cNvPr id="50" name="Rectangle 49"/>
          <p:cNvSpPr/>
          <p:nvPr/>
        </p:nvSpPr>
        <p:spPr>
          <a:xfrm>
            <a:off x="5506974" y="3387852"/>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1" name="TextBox 50"/>
          <p:cNvSpPr txBox="1"/>
          <p:nvPr/>
        </p:nvSpPr>
        <p:spPr>
          <a:xfrm>
            <a:off x="5582412" y="3446145"/>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Helm-managed P/D deployment</a:t>
            </a:r>
          </a:p>
        </p:txBody>
      </p:sp>
      <p:sp>
        <p:nvSpPr>
          <p:cNvPr id="52" name="Rounded Rectangle 51"/>
          <p:cNvSpPr/>
          <p:nvPr/>
        </p:nvSpPr>
        <p:spPr>
          <a:xfrm>
            <a:off x="377190" y="3806191"/>
            <a:ext cx="8387334" cy="390905"/>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493776" y="3895344"/>
            <a:ext cx="8161020" cy="193899"/>
          </a:xfrm>
          <a:prstGeom prst="rect">
            <a:avLst/>
          </a:prstGeom>
          <a:noFill/>
        </p:spPr>
        <p:txBody>
          <a:bodyPr wrap="square" lIns="10287" tIns="10287" rIns="10287" bIns="10287">
            <a:spAutoFit/>
          </a:bodyPr>
          <a:lstStyle/>
          <a:p>
            <a:pPr>
              <a:spcAft>
                <a:spcPts val="375"/>
              </a:spcAft>
              <a:defRPr sz="1500" b="0">
                <a:solidFill>
                  <a:srgbClr val="087F8C"/>
                </a:solidFill>
                <a:latin typeface="Arial"/>
              </a:defRPr>
            </a:pPr>
            <a:r>
              <a:rPr sz="1125" cap="none">
                <a:latin typeface="Arial"/>
              </a:rPr>
              <a:t>LWS DisaggregatedSet manages roles; engines and KV transport are still separate.</a:t>
            </a:r>
          </a:p>
        </p:txBody>
      </p:sp>
      <p:sp>
        <p:nvSpPr>
          <p:cNvPr id="54" name="TextBox 5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5"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5A0110B-285A-5FA0-8058-78B52F37C189}" type="slidenum">
              <a:rPr lang="en-US"/>
              <a:t>14</a:t>
            </a:fld>
            <a:endParaRPr lang="en-US"/>
          </a:p>
        </p:txBody>
      </p:sp>
      <p:sp>
        <p:nvSpPr>
          <p:cNvPr id="56" name="TextBox 55"/>
          <p:cNvSpPr txBox="1"/>
          <p:nvPr/>
        </p:nvSpPr>
        <p:spPr>
          <a:xfrm>
            <a:off x="493776" y="4215384"/>
            <a:ext cx="8161020" cy="155448"/>
          </a:xfrm>
          <a:prstGeom prst="rect">
            <a:avLst/>
          </a:prstGeom>
          <a:noFill/>
        </p:spPr>
        <p:txBody>
          <a:bodyPr wrap="none" lIns="0" tIns="0" rIns="0" bIns="0">
            <a:spAutoFit/>
          </a:bodyPr>
          <a:lstStyle/>
          <a:p>
            <a:pPr>
              <a:spcBef>
                <a:spcPts val="0"/>
              </a:spcBef>
              <a:spcAft>
                <a:spcPts val="0"/>
              </a:spcAft>
            </a:pPr>
            <a:r>
              <a:rPr sz="950" b="1">
                <a:solidFill>
                  <a:srgbClr val="087F8C"/>
                </a:solidFill>
                <a:latin typeface="Arial"/>
              </a:rPr>
              <a:t>CNCF: llm-d — Sandbox; KServe — Incubating. Marked entries are CNCF-hosted projects.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B9500A9-0A5A-33F4-E08B-B3D6EC55E471}"/>
              </a:ext>
            </a:extLst>
          </p:cNvPr>
          <p:cNvSpPr>
            <a:spLocks noGrp="1"/>
          </p:cNvSpPr>
          <p:nvPr>
            <p:ph type="title" idx="4294967295"/>
          </p:nvPr>
        </p:nvSpPr>
        <p:spPr>
          <a:xfrm>
            <a:off x="365760" y="539496"/>
            <a:ext cx="8412480" cy="420624"/>
          </a:xfrm>
        </p:spPr>
        <p:txBody>
          <a:bodyPr wrap="square" lIns="0" tIns="0" rIns="0" bIns="0" anchor="t">
            <a:noAutofit/>
          </a:bodyPr>
          <a:lstStyle/>
          <a:p>
            <a:pPr marL="0" indent="0" algn="l">
              <a:lnSpc>
                <a:spcPct val="108000"/>
              </a:lnSpc>
              <a:spcBef>
                <a:spcPts val="0"/>
              </a:spcBef>
              <a:spcAft>
                <a:spcPts val="0"/>
              </a:spcAft>
              <a:buNone/>
              <a:defRPr sz="2100" b="1">
                <a:solidFill>
                  <a:srgbClr val="142C46"/>
                </a:solidFill>
                <a:latin typeface="Arial"/>
              </a:defRPr>
            </a:pPr>
            <a:r>
              <a:rPr sz="2100" b="1" dirty="0" err="1">
                <a:solidFill>
                  <a:srgbClr val="142C46"/>
                </a:solidFill>
                <a:latin typeface="Arial"/>
              </a:rPr>
              <a:t>llm</a:t>
            </a:r>
            <a:r>
              <a:rPr sz="2100" b="1" dirty="0">
                <a:solidFill>
                  <a:srgbClr val="142C46"/>
                </a:solidFill>
                <a:latin typeface="Arial"/>
              </a:rPr>
              <a:t>-d: a distributed inference stack</a:t>
            </a:r>
          </a:p>
        </p:txBody>
      </p:sp>
      <p:sp>
        <p:nvSpPr>
          <p:cNvPr id="5" name="文本框 4">
            <a:extLst>
              <a:ext uri="{FF2B5EF4-FFF2-40B4-BE49-F238E27FC236}">
                <a16:creationId xmlns:a16="http://schemas.microsoft.com/office/drawing/2014/main" id="{1C6AC1EF-B30F-D9A1-EAC6-2BE45494A30E}"/>
              </a:ext>
            </a:extLst>
          </p:cNvPr>
          <p:cNvSpPr txBox="1"/>
          <p:nvPr/>
        </p:nvSpPr>
        <p:spPr>
          <a:xfrm>
            <a:off x="384048" y="1033271"/>
            <a:ext cx="8321040" cy="329184"/>
          </a:xfrm>
          <a:prstGeom prst="rect">
            <a:avLst/>
          </a:prstGeom>
          <a:noFill/>
        </p:spPr>
        <p:txBody>
          <a:bodyPr wrap="square" lIns="0" tIns="0" rIns="0" bIns="0" anchor="t">
            <a:noAutofit/>
          </a:bodyPr>
          <a:lstStyle/>
          <a:p>
            <a:pPr>
              <a:lnSpc>
                <a:spcPct val="108000"/>
              </a:lnSpc>
              <a:defRPr sz="1200" b="0">
                <a:solidFill>
                  <a:srgbClr val="52677D"/>
                </a:solidFill>
                <a:latin typeface="Arial"/>
              </a:defRPr>
            </a:pPr>
            <a:r>
              <a:rPr lang="en-US" sz="1200" dirty="0">
                <a:solidFill>
                  <a:srgbClr val="52677D"/>
                </a:solidFill>
              </a:rPr>
              <a:t>Kubernetes-native high-performance distributed LLM inference framework</a:t>
            </a:r>
            <a:endParaRPr sz="1200" b="0" dirty="0">
              <a:solidFill>
                <a:srgbClr val="52677D"/>
              </a:solidFill>
              <a:latin typeface="Arial"/>
            </a:endParaRPr>
          </a:p>
        </p:txBody>
      </p:sp>
      <p:pic>
        <p:nvPicPr>
          <p:cNvPr id="45" name="图片 44" descr="图像">
            <a:extLst>
              <a:ext uri="{FF2B5EF4-FFF2-40B4-BE49-F238E27FC236}">
                <a16:creationId xmlns:a16="http://schemas.microsoft.com/office/drawing/2014/main" id="{7DFB2DCE-CD02-D5C0-8785-E831D117747C}"/>
              </a:ext>
            </a:extLst>
          </p:cNvPr>
          <p:cNvPicPr>
            <a:picLocks noChangeAspect="1"/>
          </p:cNvPicPr>
          <p:nvPr/>
        </p:nvPicPr>
        <p:blipFill rotWithShape="1">
          <a:blip r:embed="rId3"/>
          <a:srcRect l="11014" t="14" r="13044" b="-1100"/>
          <a:stretch>
            <a:fillRect/>
          </a:stretch>
        </p:blipFill>
        <p:spPr>
          <a:xfrm>
            <a:off x="1691640" y="1636776"/>
            <a:ext cx="5010912" cy="2668219"/>
          </a:xfrm>
          <a:prstGeom prst="rect">
            <a:avLst/>
          </a:prstGeom>
        </p:spPr>
      </p:pic>
      <p:sp>
        <p:nvSpPr>
          <p:cNvPr id="7" name="Google Shape;1967;p206">
            <a:extLst>
              <a:ext uri="{FF2B5EF4-FFF2-40B4-BE49-F238E27FC236}">
                <a16:creationId xmlns:a16="http://schemas.microsoft.com/office/drawing/2014/main" id="{9795D038-C52C-C3EB-FC4C-2D52D464CD63}"/>
              </a:ext>
            </a:extLst>
          </p:cNvPr>
          <p:cNvSpPr txBox="1"/>
          <p:nvPr/>
        </p:nvSpPr>
        <p:spPr>
          <a:xfrm>
            <a:off x="6903720" y="1892807"/>
            <a:ext cx="1874519" cy="2697480"/>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Modular architecture</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Gateway API connects inference routing to Kubernetes.</a:t>
            </a:r>
          </a:p>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Extensible components</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combine runtimes, routing plugins and KV transport.</a:t>
            </a:r>
          </a:p>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Well-lit paths</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Tested deployment patterns make trade-offs clear.</a:t>
            </a:r>
          </a:p>
        </p:txBody>
      </p:sp>
      <p:sp>
        <p:nvSpPr>
          <p:cNvPr id="8" name="Google Shape;1968;p206">
            <a:extLst>
              <a:ext uri="{FF2B5EF4-FFF2-40B4-BE49-F238E27FC236}">
                <a16:creationId xmlns:a16="http://schemas.microsoft.com/office/drawing/2014/main" id="{38453113-39B8-B5B2-327B-7027AD87F63C}"/>
              </a:ext>
            </a:extLst>
          </p:cNvPr>
          <p:cNvSpPr/>
          <p:nvPr/>
        </p:nvSpPr>
        <p:spPr>
          <a:xfrm>
            <a:off x="6903720" y="1773936"/>
            <a:ext cx="1874519" cy="914"/>
          </a:xfrm>
          <a:prstGeom prst="rect">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9" name="Google Shape;1969;p206">
            <a:extLst>
              <a:ext uri="{FF2B5EF4-FFF2-40B4-BE49-F238E27FC236}">
                <a16:creationId xmlns:a16="http://schemas.microsoft.com/office/drawing/2014/main" id="{E62CD8A2-B73E-EFB8-E6E0-F9380384315A}"/>
              </a:ext>
            </a:extLst>
          </p:cNvPr>
          <p:cNvSpPr txBox="1"/>
          <p:nvPr/>
        </p:nvSpPr>
        <p:spPr>
          <a:xfrm>
            <a:off x="6903720" y="1499616"/>
            <a:ext cx="1874519" cy="210312"/>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a:solidFill>
                  <a:srgbClr val="087F8C"/>
                </a:solidFill>
                <a:latin typeface="Arial"/>
              </a:rPr>
              <a:t>Why compose?</a:t>
            </a:r>
          </a:p>
        </p:txBody>
      </p:sp>
      <p:cxnSp>
        <p:nvCxnSpPr>
          <p:cNvPr id="24" name="Google Shape;1963;p206">
            <a:extLst>
              <a:ext uri="{FF2B5EF4-FFF2-40B4-BE49-F238E27FC236}">
                <a16:creationId xmlns:a16="http://schemas.microsoft.com/office/drawing/2014/main" id="{E26F95B9-C5C4-CDB3-B065-D3B23423D87A}"/>
              </a:ext>
            </a:extLst>
          </p:cNvPr>
          <p:cNvCxnSpPr/>
          <p:nvPr/>
        </p:nvCxnSpPr>
        <p:spPr>
          <a:xfrm>
            <a:off x="1188366" y="3957731"/>
            <a:ext cx="503582" cy="0"/>
          </a:xfrm>
          <a:prstGeom prst="straightConnector1">
            <a:avLst/>
          </a:prstGeom>
          <a:noFill/>
          <a:ln w="8890" cap="flat" cmpd="sng">
            <a:solidFill>
              <a:srgbClr val="CFD9E5"/>
            </a:solidFill>
            <a:prstDash val="solid"/>
            <a:round/>
            <a:headEnd type="none" w="sm" len="sm"/>
            <a:tailEnd type="triangle" w="med" len="med"/>
          </a:ln>
        </p:spPr>
      </p:cxnSp>
      <p:cxnSp>
        <p:nvCxnSpPr>
          <p:cNvPr id="25" name="Google Shape;1964;p206">
            <a:extLst>
              <a:ext uri="{FF2B5EF4-FFF2-40B4-BE49-F238E27FC236}">
                <a16:creationId xmlns:a16="http://schemas.microsoft.com/office/drawing/2014/main" id="{9E64A3DA-69B0-3CA2-FAFF-6F48A5471A6B}"/>
              </a:ext>
            </a:extLst>
          </p:cNvPr>
          <p:cNvCxnSpPr>
            <a:cxnSpLocks/>
            <a:stCxn id="35" idx="3"/>
          </p:cNvCxnSpPr>
          <p:nvPr/>
        </p:nvCxnSpPr>
        <p:spPr>
          <a:xfrm>
            <a:off x="1294803" y="3482852"/>
            <a:ext cx="462300" cy="0"/>
          </a:xfrm>
          <a:prstGeom prst="straightConnector1">
            <a:avLst/>
          </a:prstGeom>
          <a:noFill/>
          <a:ln w="8890" cap="flat" cmpd="sng">
            <a:solidFill>
              <a:srgbClr val="CFD9E5"/>
            </a:solidFill>
            <a:prstDash val="solid"/>
            <a:round/>
            <a:headEnd type="none" w="sm" len="sm"/>
            <a:tailEnd type="triangle" w="med" len="med"/>
          </a:ln>
        </p:spPr>
      </p:cxnSp>
      <p:cxnSp>
        <p:nvCxnSpPr>
          <p:cNvPr id="26" name="Google Shape;1966;p206">
            <a:extLst>
              <a:ext uri="{FF2B5EF4-FFF2-40B4-BE49-F238E27FC236}">
                <a16:creationId xmlns:a16="http://schemas.microsoft.com/office/drawing/2014/main" id="{4F3ACB37-0FB0-52E1-D4CC-FC2CB3931D69}"/>
              </a:ext>
            </a:extLst>
          </p:cNvPr>
          <p:cNvCxnSpPr/>
          <p:nvPr/>
        </p:nvCxnSpPr>
        <p:spPr>
          <a:xfrm>
            <a:off x="1512564" y="2482167"/>
            <a:ext cx="244570" cy="0"/>
          </a:xfrm>
          <a:prstGeom prst="straightConnector1">
            <a:avLst/>
          </a:prstGeom>
          <a:noFill/>
          <a:ln w="8890" cap="flat" cmpd="sng">
            <a:solidFill>
              <a:srgbClr val="CFD9E5"/>
            </a:solidFill>
            <a:prstDash val="solid"/>
            <a:round/>
            <a:headEnd type="none" w="sm" len="sm"/>
            <a:tailEnd type="triangle" w="med" len="med"/>
          </a:ln>
        </p:spPr>
      </p:cxnSp>
      <p:sp>
        <p:nvSpPr>
          <p:cNvPr id="27" name="Google Shape;1970;p206">
            <a:extLst>
              <a:ext uri="{FF2B5EF4-FFF2-40B4-BE49-F238E27FC236}">
                <a16:creationId xmlns:a16="http://schemas.microsoft.com/office/drawing/2014/main" id="{1BF497AC-42D0-F0CC-FBAA-417B868713D0}"/>
              </a:ext>
            </a:extLst>
          </p:cNvPr>
          <p:cNvSpPr/>
          <p:nvPr/>
        </p:nvSpPr>
        <p:spPr>
          <a:xfrm>
            <a:off x="384048" y="2002536"/>
            <a:ext cx="1161288" cy="914"/>
          </a:xfrm>
          <a:prstGeom prst="rect">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28" name="Google Shape;1971;p206">
            <a:extLst>
              <a:ext uri="{FF2B5EF4-FFF2-40B4-BE49-F238E27FC236}">
                <a16:creationId xmlns:a16="http://schemas.microsoft.com/office/drawing/2014/main" id="{28B75ED9-1C37-42B1-8878-6D4AF7880FD2}"/>
              </a:ext>
            </a:extLst>
          </p:cNvPr>
          <p:cNvSpPr txBox="1"/>
          <p:nvPr/>
        </p:nvSpPr>
        <p:spPr>
          <a:xfrm>
            <a:off x="384048" y="1490472"/>
            <a:ext cx="1179576" cy="45720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000" b="1">
                <a:solidFill>
                  <a:srgbClr val="087F8C"/>
                </a:solidFill>
                <a:latin typeface="Arial"/>
              </a:defRPr>
            </a:pPr>
            <a:r>
              <a:rPr sz="1000" b="1">
                <a:solidFill>
                  <a:srgbClr val="087F8C"/>
                </a:solidFill>
                <a:latin typeface="Arial"/>
              </a:rPr>
              <a:t>Open</a:t>
            </a:r>
          </a:p>
          <a:p>
            <a:pPr marL="0" indent="0" algn="l">
              <a:lnSpc>
                <a:spcPct val="108000"/>
              </a:lnSpc>
              <a:spcBef>
                <a:spcPts val="0"/>
              </a:spcBef>
              <a:spcAft>
                <a:spcPts val="0"/>
              </a:spcAft>
              <a:buNone/>
              <a:defRPr sz="1000" b="1">
                <a:solidFill>
                  <a:srgbClr val="087F8C"/>
                </a:solidFill>
                <a:latin typeface="Arial"/>
              </a:defRPr>
            </a:pPr>
            <a:r>
              <a:rPr sz="1000" b="1">
                <a:solidFill>
                  <a:srgbClr val="087F8C"/>
                </a:solidFill>
                <a:latin typeface="Arial"/>
              </a:rPr>
              <a:t>integrations</a:t>
            </a:r>
          </a:p>
        </p:txBody>
      </p:sp>
      <p:sp>
        <p:nvSpPr>
          <p:cNvPr id="29" name="Google Shape;1979;p206">
            <a:extLst>
              <a:ext uri="{FF2B5EF4-FFF2-40B4-BE49-F238E27FC236}">
                <a16:creationId xmlns:a16="http://schemas.microsoft.com/office/drawing/2014/main" id="{35BED977-9839-5F4F-6115-CD932472133F}"/>
              </a:ext>
            </a:extLst>
          </p:cNvPr>
          <p:cNvSpPr txBox="1"/>
          <p:nvPr/>
        </p:nvSpPr>
        <p:spPr>
          <a:xfrm>
            <a:off x="552164" y="3801919"/>
            <a:ext cx="669239" cy="284663"/>
          </a:xfrm>
          <a:prstGeom prst="rect">
            <a:avLst/>
          </a:prstGeom>
          <a:solidFill>
            <a:srgbClr val="FFFFFF"/>
          </a:solidFill>
          <a:ln w="12700" cap="flat" cmpd="sng">
            <a:solidFill>
              <a:srgbClr val="D8D8D8"/>
            </a:solidFill>
            <a:prstDash val="solid"/>
            <a:miter lim="400000"/>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Tx/>
              <a:buFontTx/>
              <a:buNone/>
              <a:tabLst/>
              <a:defRPr sz="800">
                <a:solidFill>
                  <a:srgbClr val="142C46"/>
                </a:solidFill>
                <a:latin typeface="Arial"/>
                <a:ea typeface="Arial"/>
                <a:cs typeface="Arial"/>
                <a:sym typeface="Arial"/>
              </a:defRPr>
            </a:pPr>
            <a:r>
              <a:rPr kumimoji="0" lang="en" sz="800" b="1" i="0" u="none" strike="noStrike" kern="0" cap="none" spc="0" normalizeH="0" baseline="0" noProof="0">
                <a:ln>
                  <a:noFill/>
                </a:ln>
                <a:solidFill>
                  <a:srgbClr val="142C46"/>
                </a:solidFill>
                <a:effectLst/>
                <a:uLnTx/>
                <a:uFillTx/>
                <a:latin typeface="Arial"/>
                <a:ea typeface="Arial"/>
                <a:cs typeface="Arial"/>
                <a:sym typeface="Arial"/>
              </a:rPr>
              <a:t>KV storage providers</a:t>
            </a:r>
            <a:endParaRPr kumimoji="0" sz="8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grpSp>
        <p:nvGrpSpPr>
          <p:cNvPr id="30" name="Google Shape;1980;p206">
            <a:extLst>
              <a:ext uri="{FF2B5EF4-FFF2-40B4-BE49-F238E27FC236}">
                <a16:creationId xmlns:a16="http://schemas.microsoft.com/office/drawing/2014/main" id="{E9234712-A20F-29F3-B283-A18C3B8B643F}"/>
              </a:ext>
            </a:extLst>
          </p:cNvPr>
          <p:cNvGrpSpPr/>
          <p:nvPr/>
        </p:nvGrpSpPr>
        <p:grpSpPr>
          <a:xfrm>
            <a:off x="433136" y="2332815"/>
            <a:ext cx="1080160" cy="324120"/>
            <a:chOff x="266274" y="2335911"/>
            <a:chExt cx="1440213" cy="432160"/>
          </a:xfrm>
        </p:grpSpPr>
        <p:grpSp>
          <p:nvGrpSpPr>
            <p:cNvPr id="31" name="Google Shape;1981;p206">
              <a:extLst>
                <a:ext uri="{FF2B5EF4-FFF2-40B4-BE49-F238E27FC236}">
                  <a16:creationId xmlns:a16="http://schemas.microsoft.com/office/drawing/2014/main" id="{77675B2D-6D0A-3F4D-06DD-2122EEF91B4D}"/>
                </a:ext>
              </a:extLst>
            </p:cNvPr>
            <p:cNvGrpSpPr/>
            <p:nvPr/>
          </p:nvGrpSpPr>
          <p:grpSpPr>
            <a:xfrm>
              <a:off x="288089" y="2374513"/>
              <a:ext cx="1387295" cy="346754"/>
              <a:chOff x="288089" y="2386835"/>
              <a:chExt cx="1387295" cy="346754"/>
            </a:xfrm>
          </p:grpSpPr>
          <p:pic>
            <p:nvPicPr>
              <p:cNvPr id="33" name="Google Shape;1982;p206" descr="A black background with a black square&#10;&#10;AI-generated content may be incorrect.">
                <a:extLst>
                  <a:ext uri="{FF2B5EF4-FFF2-40B4-BE49-F238E27FC236}">
                    <a16:creationId xmlns:a16="http://schemas.microsoft.com/office/drawing/2014/main" id="{F129295C-F224-7FB5-895D-99F16DBAB180}"/>
                  </a:ext>
                </a:extLst>
              </p:cNvPr>
              <p:cNvPicPr preferRelativeResize="0"/>
              <p:nvPr/>
            </p:nvPicPr>
            <p:blipFill rotWithShape="1">
              <a:blip r:embed="rId4">
                <a:alphaModFix/>
              </a:blip>
              <a:srcRect t="1" r="70451" b="1366"/>
              <a:stretch/>
            </p:blipFill>
            <p:spPr>
              <a:xfrm>
                <a:off x="288089" y="2386835"/>
                <a:ext cx="331270" cy="306342"/>
              </a:xfrm>
              <a:prstGeom prst="rect">
                <a:avLst/>
              </a:prstGeom>
              <a:solidFill>
                <a:srgbClr val="FFFFFF"/>
              </a:solidFill>
              <a:ln>
                <a:noFill/>
              </a:ln>
            </p:spPr>
          </p:pic>
          <p:sp>
            <p:nvSpPr>
              <p:cNvPr id="34" name="Google Shape;1983;p206">
                <a:extLst>
                  <a:ext uri="{FF2B5EF4-FFF2-40B4-BE49-F238E27FC236}">
                    <a16:creationId xmlns:a16="http://schemas.microsoft.com/office/drawing/2014/main" id="{514D56D8-9816-B24E-9C20-0A4CB3E8F63B}"/>
                  </a:ext>
                </a:extLst>
              </p:cNvPr>
              <p:cNvSpPr txBox="1"/>
              <p:nvPr/>
            </p:nvSpPr>
            <p:spPr>
              <a:xfrm>
                <a:off x="562658" y="2395036"/>
                <a:ext cx="1112726" cy="338553"/>
              </a:xfrm>
              <a:prstGeom prst="rect">
                <a:avLst/>
              </a:prstGeom>
              <a:noFill/>
              <a:ln>
                <a:noFill/>
              </a:ln>
            </p:spPr>
            <p:txBody>
              <a:bodyPr spcFirstLastPara="1" wrap="square" lIns="68575" tIns="34275" rIns="68575" bIns="34275" anchor="t" anchorCtr="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 sz="600" b="0" i="0" u="none" strike="noStrike" kern="0" cap="none" spc="0" normalizeH="0" baseline="0" noProof="0">
                    <a:ln>
                      <a:noFill/>
                    </a:ln>
                    <a:solidFill>
                      <a:sysClr val="windowText" lastClr="000000"/>
                    </a:solidFill>
                    <a:effectLst/>
                    <a:uLnTx/>
                    <a:uFillTx/>
                    <a:latin typeface="+mn-lt"/>
                    <a:ea typeface="IBM Plex Sans"/>
                    <a:cs typeface="IBM Plex Sans"/>
                    <a:sym typeface="IBM Plex Sans"/>
                  </a:rPr>
                  <a:t>Gateway API Inference Extension</a:t>
                </a:r>
                <a:endParaRPr kumimoji="0" sz="600" b="0" i="0" u="none" strike="noStrike" kern="0" cap="none" spc="0" normalizeH="0" baseline="0" noProof="0" dirty="0">
                  <a:ln>
                    <a:noFill/>
                  </a:ln>
                  <a:solidFill>
                    <a:sysClr val="windowText" lastClr="000000"/>
                  </a:solidFill>
                  <a:effectLst/>
                  <a:uLnTx/>
                  <a:uFillTx/>
                  <a:latin typeface="+mn-lt"/>
                  <a:ea typeface="IBM Plex Sans"/>
                  <a:cs typeface="IBM Plex Sans"/>
                  <a:sym typeface="IBM Plex Sans"/>
                </a:endParaRPr>
              </a:p>
            </p:txBody>
          </p:sp>
        </p:grpSp>
        <p:sp>
          <p:nvSpPr>
            <p:cNvPr id="32" name="Google Shape;1984;p206">
              <a:extLst>
                <a:ext uri="{FF2B5EF4-FFF2-40B4-BE49-F238E27FC236}">
                  <a16:creationId xmlns:a16="http://schemas.microsoft.com/office/drawing/2014/main" id="{3B48979A-1395-A71A-AAA2-BB874E8BB920}"/>
                </a:ext>
              </a:extLst>
            </p:cNvPr>
            <p:cNvSpPr/>
            <p:nvPr/>
          </p:nvSpPr>
          <p:spPr>
            <a:xfrm>
              <a:off x="266274" y="2335911"/>
              <a:ext cx="1440213" cy="432160"/>
            </a:xfrm>
            <a:prstGeom prst="rect">
              <a:avLst/>
            </a:prstGeom>
            <a:noFill/>
            <a:ln w="9525" cap="flat" cmpd="sng">
              <a:solidFill>
                <a:srgbClr val="316CE5">
                  <a:alpha val="41961"/>
                </a:srgbClr>
              </a:solidFill>
              <a:prstDash val="solid"/>
              <a:round/>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Pts val="1400"/>
                <a:buFont typeface="IBM Plex Sans Light"/>
                <a:buNone/>
                <a:tabLst/>
                <a:defRPr sz="700">
                  <a:solidFill>
                    <a:srgbClr val="142C46"/>
                  </a:solidFill>
                  <a:latin typeface="Arial"/>
                  <a:ea typeface="Arial"/>
                  <a:cs typeface="Arial"/>
                  <a:sym typeface="Arial"/>
                </a:defRPr>
              </a:pPr>
              <a:endParaRPr kumimoji="0" sz="700" b="0" i="0" u="none" strike="noStrike" kern="0" cap="none" spc="0" normalizeH="0" baseline="0" noProof="0">
                <a:ln>
                  <a:noFill/>
                </a:ln>
                <a:solidFill>
                  <a:srgbClr val="191919"/>
                </a:solidFill>
                <a:effectLst/>
                <a:uLnTx/>
                <a:uFillTx/>
                <a:latin typeface="Arial"/>
                <a:ea typeface="Arial"/>
                <a:cs typeface="Arial"/>
                <a:sym typeface="Arial"/>
              </a:endParaRPr>
            </a:p>
          </p:txBody>
        </p:sp>
      </p:grpSp>
      <p:sp>
        <p:nvSpPr>
          <p:cNvPr id="35" name="Google Shape;1965;p206">
            <a:extLst>
              <a:ext uri="{FF2B5EF4-FFF2-40B4-BE49-F238E27FC236}">
                <a16:creationId xmlns:a16="http://schemas.microsoft.com/office/drawing/2014/main" id="{2BA9DFB8-9EEB-D319-50C2-29BFCC73A35F}"/>
              </a:ext>
            </a:extLst>
          </p:cNvPr>
          <p:cNvSpPr/>
          <p:nvPr/>
        </p:nvSpPr>
        <p:spPr>
          <a:xfrm>
            <a:off x="506894" y="3321370"/>
            <a:ext cx="787909" cy="322964"/>
          </a:xfrm>
          <a:prstGeom prst="rect">
            <a:avLst/>
          </a:prstGeom>
          <a:noFill/>
          <a:ln w="12700" cap="flat" cmpd="sng">
            <a:solidFill>
              <a:srgbClr val="82B900">
                <a:alpha val="40000"/>
              </a:srgbClr>
            </a:solidFill>
            <a:prstDash val="solid"/>
            <a:round/>
            <a:headEnd type="none" w="sm" len="sm"/>
            <a:tailEnd type="none" w="sm" len="sm"/>
          </a:ln>
        </p:spPr>
        <p:txBody>
          <a:bodyPr spcFirstLastPara="1" wrap="square" lIns="27000" tIns="27000" rIns="27000" bIns="27000" anchor="t" anchorCtr="0">
            <a:noAutofit/>
          </a:bodyPr>
          <a:lstStyle/>
          <a:p>
            <a:pPr>
              <a:lnSpc>
                <a:spcPct val="90000"/>
              </a:lnSpc>
              <a:buSzPts val="1500"/>
              <a:buFont typeface="IBM Plex Sans Light"/>
              <a:buNone/>
              <a:defRPr/>
            </a:pPr>
            <a:endParaRPr sz="1500">
              <a:solidFill>
                <a:srgbClr val="191919"/>
              </a:solidFill>
              <a:latin typeface="+mn-lt"/>
              <a:ea typeface="IBM Plex Sans"/>
              <a:cs typeface="IBM Plex Sans"/>
              <a:sym typeface="IBM Plex Sans"/>
            </a:endParaRPr>
          </a:p>
        </p:txBody>
      </p:sp>
      <p:sp>
        <p:nvSpPr>
          <p:cNvPr id="36" name="Google Shape;1987;p206">
            <a:extLst>
              <a:ext uri="{FF2B5EF4-FFF2-40B4-BE49-F238E27FC236}">
                <a16:creationId xmlns:a16="http://schemas.microsoft.com/office/drawing/2014/main" id="{93B6C654-F9B4-DFCA-6357-27A7C6DD4381}"/>
              </a:ext>
            </a:extLst>
          </p:cNvPr>
          <p:cNvSpPr txBox="1"/>
          <p:nvPr/>
        </p:nvSpPr>
        <p:spPr>
          <a:xfrm>
            <a:off x="827830" y="3365664"/>
            <a:ext cx="456600" cy="223200"/>
          </a:xfrm>
          <a:prstGeom prst="rect">
            <a:avLst/>
          </a:prstGeom>
          <a:noFill/>
          <a:ln>
            <a:noFill/>
          </a:ln>
        </p:spPr>
        <p:txBody>
          <a:bodyPr spcFirstLastPara="1" wrap="square" lIns="0" tIns="0" rIns="0" bIns="0" anchor="t" anchorCtr="0">
            <a:noAutofit/>
          </a:bodyPr>
          <a:lstStyle/>
          <a:p>
            <a:pPr marL="0" marR="0" lvl="0" indent="0" algn="ctr" defTabSz="914400" eaLnBrk="1" fontAlgn="auto" latinLnBrk="0" hangingPunct="1">
              <a:lnSpc>
                <a:spcPct val="104000"/>
              </a:lnSpc>
              <a:spcBef>
                <a:spcPts val="0"/>
              </a:spcBef>
              <a:spcAft>
                <a:spcPts val="0"/>
              </a:spcAft>
              <a:buClrTx/>
              <a:buSzPts val="1100"/>
              <a:buFont typeface="IBM Plex Sans"/>
              <a:buNone/>
              <a:tabLst/>
              <a:defRPr sz="1000">
                <a:solidFill>
                  <a:srgbClr val="142C46"/>
                </a:solidFill>
                <a:latin typeface="Arial"/>
                <a:ea typeface="Arial"/>
                <a:cs typeface="Arial"/>
                <a:sym typeface="Arial"/>
              </a:defRPr>
            </a:pPr>
            <a:r>
              <a:rPr kumimoji="0" lang="en" sz="1000" b="1" i="0" u="none" strike="noStrike" kern="0" cap="none" spc="0" normalizeH="0" baseline="0" noProof="0">
                <a:ln>
                  <a:noFill/>
                </a:ln>
                <a:solidFill>
                  <a:srgbClr val="142C46"/>
                </a:solidFill>
                <a:effectLst/>
                <a:uLnTx/>
                <a:uFillTx/>
                <a:latin typeface="Arial"/>
                <a:ea typeface="Arial"/>
                <a:cs typeface="Arial"/>
                <a:sym typeface="Arial"/>
              </a:rPr>
              <a:t>NIXL</a:t>
            </a:r>
            <a:endParaRPr kumimoji="0" sz="10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pic>
        <p:nvPicPr>
          <p:cNvPr id="37" name="Google Shape;1988;p206" descr="A green and black logo&#10;&#10;AI-generated content may be incorrect.">
            <a:extLst>
              <a:ext uri="{FF2B5EF4-FFF2-40B4-BE49-F238E27FC236}">
                <a16:creationId xmlns:a16="http://schemas.microsoft.com/office/drawing/2014/main" id="{51F324B6-8D1F-7CD5-E181-82FB7A92C785}"/>
              </a:ext>
            </a:extLst>
          </p:cNvPr>
          <p:cNvPicPr preferRelativeResize="0"/>
          <p:nvPr/>
        </p:nvPicPr>
        <p:blipFill rotWithShape="1">
          <a:blip r:embed="rId5">
            <a:alphaModFix/>
          </a:blip>
          <a:srcRect/>
          <a:stretch/>
        </p:blipFill>
        <p:spPr>
          <a:xfrm>
            <a:off x="556477" y="3378723"/>
            <a:ext cx="295126" cy="217310"/>
          </a:xfrm>
          <a:prstGeom prst="rect">
            <a:avLst/>
          </a:prstGeom>
          <a:noFill/>
          <a:ln>
            <a:noFill/>
          </a:ln>
        </p:spPr>
      </p:pic>
      <p:pic>
        <p:nvPicPr>
          <p:cNvPr id="39" name="Google Shape;3253;p347" title="image (1).png">
            <a:extLst>
              <a:ext uri="{FF2B5EF4-FFF2-40B4-BE49-F238E27FC236}">
                <a16:creationId xmlns:a16="http://schemas.microsoft.com/office/drawing/2014/main" id="{4965FB30-425E-50B8-58F1-B261B1F74AFC}"/>
              </a:ext>
            </a:extLst>
          </p:cNvPr>
          <p:cNvPicPr preferRelativeResize="0"/>
          <p:nvPr/>
        </p:nvPicPr>
        <p:blipFill rotWithShape="1">
          <a:blip r:embed="rId6">
            <a:alphaModFix/>
          </a:blip>
          <a:srcRect/>
          <a:stretch/>
        </p:blipFill>
        <p:spPr>
          <a:xfrm>
            <a:off x="3520440" y="4471888"/>
            <a:ext cx="1371600" cy="419679"/>
          </a:xfrm>
          <a:prstGeom prst="rect">
            <a:avLst/>
          </a:prstGeom>
          <a:noFill/>
          <a:ln>
            <a:noFill/>
          </a:ln>
        </p:spPr>
      </p:pic>
      <p:pic>
        <p:nvPicPr>
          <p:cNvPr id="40" name="Google Shape;3254;p347">
            <a:extLst>
              <a:ext uri="{FF2B5EF4-FFF2-40B4-BE49-F238E27FC236}">
                <a16:creationId xmlns:a16="http://schemas.microsoft.com/office/drawing/2014/main" id="{41F31096-14D0-289C-8067-6D843CFC668E}"/>
              </a:ext>
            </a:extLst>
          </p:cNvPr>
          <p:cNvPicPr preferRelativeResize="0"/>
          <p:nvPr/>
        </p:nvPicPr>
        <p:blipFill rotWithShape="1">
          <a:blip r:embed="rId7">
            <a:alphaModFix/>
          </a:blip>
          <a:srcRect/>
          <a:stretch/>
        </p:blipFill>
        <p:spPr>
          <a:xfrm>
            <a:off x="5449824" y="4536262"/>
            <a:ext cx="1645920" cy="290931"/>
          </a:xfrm>
          <a:prstGeom prst="rect">
            <a:avLst/>
          </a:prstGeom>
          <a:noFill/>
          <a:ln>
            <a:noFill/>
          </a:ln>
        </p:spPr>
      </p:pic>
      <p:pic>
        <p:nvPicPr>
          <p:cNvPr id="41" name="Google Shape;3255;p347">
            <a:extLst>
              <a:ext uri="{FF2B5EF4-FFF2-40B4-BE49-F238E27FC236}">
                <a16:creationId xmlns:a16="http://schemas.microsoft.com/office/drawing/2014/main" id="{C23CCDBF-3A0D-C267-8752-02BC2CFCE6CC}"/>
              </a:ext>
            </a:extLst>
          </p:cNvPr>
          <p:cNvPicPr preferRelativeResize="0"/>
          <p:nvPr/>
        </p:nvPicPr>
        <p:blipFill rotWithShape="1">
          <a:blip r:embed="rId8">
            <a:alphaModFix/>
          </a:blip>
          <a:srcRect/>
          <a:stretch/>
        </p:blipFill>
        <p:spPr>
          <a:xfrm>
            <a:off x="1883664" y="4519225"/>
            <a:ext cx="1133856" cy="325005"/>
          </a:xfrm>
          <a:prstGeom prst="rect">
            <a:avLst/>
          </a:prstGeom>
          <a:noFill/>
          <a:ln>
            <a:noFill/>
          </a:ln>
        </p:spPr>
      </p:pic>
      <p:sp>
        <p:nvSpPr>
          <p:cNvPr id="46"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distributed inference stack</a:t>
            </a:r>
          </a:p>
        </p:txBody>
      </p:sp>
      <p:sp>
        <p:nvSpPr>
          <p:cNvPr id="47" name="CNCF Sandbox project badge">
            <a:extLst>
              <a:ext uri="{FF2B5EF4-FFF2-40B4-BE49-F238E27FC236}">
                <a16:creationId xmlns:a16="http://schemas.microsoft.com/office/drawing/2014/main" id="{E62CD8A2-B73E-EFB8-E6E0-F9380384315A}"/>
              </a:ext>
            </a:extLst>
          </p:cNvPr>
          <p:cNvSpPr txBox="1"/>
          <p:nvPr/>
        </p:nvSpPr>
        <p:spPr>
          <a:xfrm>
            <a:off x="6537960" y="598932"/>
            <a:ext cx="2148840" cy="27432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dirty="0">
                <a:solidFill>
                  <a:srgbClr val="087F8C"/>
                </a:solidFill>
                <a:latin typeface="Arial"/>
              </a:rPr>
              <a:t>CNCF Sandbox project</a:t>
            </a:r>
          </a:p>
        </p:txBody>
      </p:sp>
      <p:sp>
        <p:nvSpPr>
          <p:cNvPr id="4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BA7F602-171C-5CC4-A39F-59E0A94CBFBA}" type="slidenum">
              <a:rPr lang="en-US"/>
              <a:t>15</a:t>
            </a:fld>
            <a:endParaRPr lang="en-US"/>
          </a:p>
        </p:txBody>
      </p:sp>
    </p:spTree>
    <p:extLst>
      <p:ext uri="{BB962C8B-B14F-4D97-AF65-F5344CB8AC3E}">
        <p14:creationId xmlns:p14="http://schemas.microsoft.com/office/powerpoint/2010/main" val="334837918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223A9-45D2-042F-CACA-82BC763A8D75}"/>
              </a:ext>
            </a:extLst>
          </p:cNvPr>
          <p:cNvSpPr>
            <a:spLocks noGrp="1"/>
          </p:cNvSpPr>
          <p:nvPr>
            <p:ph type="title" idx="4294967295"/>
          </p:nvPr>
        </p:nvSpPr>
        <p:spPr>
          <a:xfrm>
            <a:off x="365760" y="539496"/>
            <a:ext cx="8412480" cy="420624"/>
          </a:xfrm>
        </p:spPr>
        <p:txBody>
          <a:bodyPr wrap="square" lIns="0" tIns="0" rIns="0" bIns="0" anchor="t">
            <a:noAutofit/>
          </a:bodyPr>
          <a:lstStyle/>
          <a:p>
            <a:pPr marL="0" indent="0" algn="l">
              <a:lnSpc>
                <a:spcPct val="108000"/>
              </a:lnSpc>
              <a:spcBef>
                <a:spcPts val="0"/>
              </a:spcBef>
              <a:spcAft>
                <a:spcPts val="0"/>
              </a:spcAft>
              <a:buNone/>
              <a:defRPr sz="2100" b="1">
                <a:solidFill>
                  <a:srgbClr val="142C46"/>
                </a:solidFill>
                <a:latin typeface="Arial"/>
              </a:defRPr>
            </a:pPr>
            <a:r>
              <a:rPr sz="2100" b="1">
                <a:solidFill>
                  <a:srgbClr val="142C46"/>
                </a:solidFill>
                <a:latin typeface="Arial"/>
              </a:rPr>
              <a:t>llm-d: capabilities for distributed inference</a:t>
            </a:r>
          </a:p>
        </p:txBody>
      </p:sp>
      <p:pic>
        <p:nvPicPr>
          <p:cNvPr id="4" name="Google Shape;2011;p207" descr="A graph with a red line&#10;&#10;AI-generated content may be incorrect.">
            <a:extLst>
              <a:ext uri="{FF2B5EF4-FFF2-40B4-BE49-F238E27FC236}">
                <a16:creationId xmlns:a16="http://schemas.microsoft.com/office/drawing/2014/main" id="{B6998E27-292F-8170-6199-9A0615202BAB}"/>
              </a:ext>
            </a:extLst>
          </p:cNvPr>
          <p:cNvPicPr preferRelativeResize="0"/>
          <p:nvPr/>
        </p:nvPicPr>
        <p:blipFill rotWithShape="1">
          <a:blip r:embed="rId3">
            <a:alphaModFix/>
          </a:blip>
          <a:srcRect/>
          <a:stretch/>
        </p:blipFill>
        <p:spPr>
          <a:xfrm>
            <a:off x="749808" y="3831336"/>
            <a:ext cx="1188720" cy="894283"/>
          </a:xfrm>
          <a:prstGeom prst="rect">
            <a:avLst/>
          </a:prstGeom>
          <a:noFill/>
          <a:ln w="9525" cap="flat" cmpd="sng">
            <a:solidFill>
              <a:srgbClr val="D8D8D8"/>
            </a:solidFill>
            <a:prstDash val="solid"/>
            <a:round/>
            <a:headEnd type="none" w="sm" len="sm"/>
            <a:tailEnd type="none" w="sm" len="sm"/>
          </a:ln>
        </p:spPr>
      </p:pic>
      <p:sp>
        <p:nvSpPr>
          <p:cNvPr id="5" name="Google Shape;2012;p207">
            <a:extLst>
              <a:ext uri="{FF2B5EF4-FFF2-40B4-BE49-F238E27FC236}">
                <a16:creationId xmlns:a16="http://schemas.microsoft.com/office/drawing/2014/main" id="{15879AF3-79DD-8683-D2A1-56B1E01B06A4}"/>
              </a:ext>
            </a:extLst>
          </p:cNvPr>
          <p:cNvSpPr txBox="1">
            <a:spLocks/>
          </p:cNvSpPr>
          <p:nvPr/>
        </p:nvSpPr>
        <p:spPr>
          <a:xfrm>
            <a:off x="438912" y="2761488"/>
            <a:ext cx="3877056" cy="850392"/>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10000"/>
              </a:lnSpc>
              <a:spcBef>
                <a:spcPts val="0"/>
              </a:spcBef>
              <a:spcAft>
                <a:spcPts val="0"/>
              </a:spcAft>
              <a:buClr>
                <a:schemeClr val="lt1"/>
              </a:buClr>
              <a:buSzPts val="1100"/>
              <a:buFont typeface="IBM Plex Sans Light"/>
              <a:buNone/>
              <a:defRPr sz="1100" b="0" i="0" u="none" strike="noStrike" cap="none">
                <a:solidFill>
                  <a:schemeClr val="lt1"/>
                </a:solidFill>
                <a:latin typeface="IBM Plex Sans Light"/>
                <a:ea typeface="IBM Plex Sans Light"/>
                <a:cs typeface="IBM Plex Sans Light"/>
                <a:sym typeface="IBM Plex Sans Light"/>
              </a:defRPr>
            </a:lvl1pPr>
            <a:lvl2pPr marL="914400" marR="0" lvl="1"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2pPr>
            <a:lvl3pPr marL="1371600" marR="0" lvl="2"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3pPr>
            <a:lvl4pPr marL="1828800" marR="0" lvl="3"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4pPr>
            <a:lvl5pPr marL="2286000" marR="0" lvl="4" indent="-298450" algn="l" rtl="0">
              <a:lnSpc>
                <a:spcPct val="110000"/>
              </a:lnSpc>
              <a:spcBef>
                <a:spcPts val="0"/>
              </a:spcBef>
              <a:spcAft>
                <a:spcPts val="0"/>
              </a:spcAft>
              <a:buClr>
                <a:schemeClr val="lt1"/>
              </a:buClr>
              <a:buSzPts val="1100"/>
              <a:buFont typeface="IBM Plex Sans"/>
              <a:buChar char="•"/>
              <a:defRPr sz="1100" b="0" i="0" u="none" strike="noStrike" cap="none">
                <a:solidFill>
                  <a:schemeClr val="lt1"/>
                </a:solidFill>
                <a:latin typeface="IBM Plex Sans Light"/>
                <a:ea typeface="IBM Plex Sans Light"/>
                <a:cs typeface="IBM Plex Sans Light"/>
                <a:sym typeface="IBM Plex Sans Light"/>
              </a:defRPr>
            </a:lvl5pPr>
            <a:lvl6pPr marL="2743200" marR="0" lvl="5"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6pPr>
            <a:lvl7pPr marL="3200400" marR="0" lvl="6"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7pPr>
            <a:lvl8pPr marL="3657600" marR="0" lvl="7"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8pPr>
            <a:lvl9pPr marL="4114800" marR="0" lvl="8"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9pPr>
          </a:lstStyle>
          <a:p>
            <a:pPr marL="0" indent="0" algn="l">
              <a:lnSpc>
                <a:spcPct val="108000"/>
              </a:lnSpc>
              <a:spcBef>
                <a:spcPts val="0"/>
              </a:spcBef>
              <a:spcAft>
                <a:spcPts val="700"/>
              </a:spcAft>
              <a:buNone/>
              <a:defRPr sz="1100" b="0">
                <a:solidFill>
                  <a:srgbClr val="142C46"/>
                </a:solidFill>
                <a:latin typeface="Arial"/>
              </a:defRPr>
            </a:pPr>
            <a:r>
              <a:rPr sz="1100" b="0" dirty="0">
                <a:solidFill>
                  <a:srgbClr val="142C46"/>
                </a:solidFill>
                <a:latin typeface="Arial"/>
              </a:rPr>
              <a:t>build on the serving runtime, not replace it.</a:t>
            </a:r>
          </a:p>
          <a:p>
            <a:pPr marL="0" indent="0" algn="l">
              <a:lnSpc>
                <a:spcPct val="108000"/>
              </a:lnSpc>
              <a:spcBef>
                <a:spcPts val="0"/>
              </a:spcBef>
              <a:spcAft>
                <a:spcPts val="700"/>
              </a:spcAft>
              <a:buNone/>
              <a:defRPr sz="1100" b="0">
                <a:solidFill>
                  <a:srgbClr val="142C46"/>
                </a:solidFill>
                <a:latin typeface="Arial"/>
              </a:defRPr>
            </a:pPr>
            <a:r>
              <a:rPr sz="1100" b="0" dirty="0">
                <a:solidFill>
                  <a:srgbClr val="142C46"/>
                </a:solidFill>
                <a:latin typeface="Arial"/>
              </a:rPr>
              <a:t>combine reusable </a:t>
            </a:r>
            <a:r>
              <a:rPr lang="en-US" sz="1100" b="0" dirty="0" err="1">
                <a:solidFill>
                  <a:srgbClr val="142C46"/>
                </a:solidFill>
                <a:latin typeface="Arial"/>
              </a:rPr>
              <a:t>llm</a:t>
            </a:r>
            <a:r>
              <a:rPr lang="en-US" sz="1100" b="0" dirty="0">
                <a:solidFill>
                  <a:srgbClr val="142C46"/>
                </a:solidFill>
                <a:latin typeface="Arial"/>
              </a:rPr>
              <a:t>-d </a:t>
            </a:r>
            <a:r>
              <a:rPr sz="1100" b="0" dirty="0">
                <a:solidFill>
                  <a:srgbClr val="142C46"/>
                </a:solidFill>
                <a:latin typeface="Arial"/>
              </a:rPr>
              <a:t>components.</a:t>
            </a:r>
          </a:p>
          <a:p>
            <a:pPr marL="0" indent="0" algn="l">
              <a:lnSpc>
                <a:spcPct val="108000"/>
              </a:lnSpc>
              <a:spcBef>
                <a:spcPts val="0"/>
              </a:spcBef>
              <a:spcAft>
                <a:spcPts val="700"/>
              </a:spcAft>
              <a:buNone/>
              <a:defRPr sz="1100" b="0">
                <a:solidFill>
                  <a:srgbClr val="142C46"/>
                </a:solidFill>
                <a:latin typeface="Arial"/>
              </a:defRPr>
            </a:pPr>
            <a:r>
              <a:rPr sz="1100" b="0" dirty="0">
                <a:solidFill>
                  <a:srgbClr val="142C46"/>
                </a:solidFill>
                <a:latin typeface="Arial"/>
              </a:rPr>
              <a:t>Deployment paths explain the trade-offs.</a:t>
            </a:r>
          </a:p>
        </p:txBody>
      </p:sp>
      <p:sp>
        <p:nvSpPr>
          <p:cNvPr id="6" name="Google Shape;2013;p207">
            <a:extLst>
              <a:ext uri="{FF2B5EF4-FFF2-40B4-BE49-F238E27FC236}">
                <a16:creationId xmlns:a16="http://schemas.microsoft.com/office/drawing/2014/main" id="{3C962F2B-69D2-0E59-292F-D7AE5E5A1436}"/>
              </a:ext>
            </a:extLst>
          </p:cNvPr>
          <p:cNvSpPr txBox="1"/>
          <p:nvPr/>
        </p:nvSpPr>
        <p:spPr>
          <a:xfrm>
            <a:off x="384048" y="1508760"/>
            <a:ext cx="3931920" cy="25603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200" b="1">
                <a:solidFill>
                  <a:srgbClr val="087F8C"/>
                </a:solidFill>
                <a:latin typeface="Arial"/>
              </a:defRPr>
            </a:pPr>
            <a:r>
              <a:rPr sz="1200" b="1">
                <a:solidFill>
                  <a:srgbClr val="087F8C"/>
                </a:solidFill>
                <a:latin typeface="Arial"/>
              </a:rPr>
              <a:t>A cross-vendor ecosystem</a:t>
            </a:r>
          </a:p>
        </p:txBody>
      </p:sp>
      <p:sp>
        <p:nvSpPr>
          <p:cNvPr id="7" name="Google Shape;2014;p207">
            <a:extLst>
              <a:ext uri="{FF2B5EF4-FFF2-40B4-BE49-F238E27FC236}">
                <a16:creationId xmlns:a16="http://schemas.microsoft.com/office/drawing/2014/main" id="{E1D31B77-7729-A17D-C481-EC3E4F6CD7E5}"/>
              </a:ext>
            </a:extLst>
          </p:cNvPr>
          <p:cNvSpPr/>
          <p:nvPr/>
        </p:nvSpPr>
        <p:spPr>
          <a:xfrm>
            <a:off x="620215" y="1906592"/>
            <a:ext cx="3801680" cy="620646"/>
          </a:xfrm>
          <a:prstGeom prst="rect">
            <a:avLst/>
          </a:prstGeom>
          <a:noFill/>
          <a:ln w="8890" cap="flat" cmpd="sng">
            <a:solidFill>
              <a:srgbClr val="CFD9E5"/>
            </a:solidFill>
            <a:prstDash val="solid"/>
            <a:round/>
            <a:headEnd type="none" w="sm" len="sm"/>
            <a:tailEnd type="none" w="sm" len="sm"/>
          </a:ln>
        </p:spPr>
        <p:txBody>
          <a:bodyPr spcFirstLastPara="1" wrap="square" lIns="34275" tIns="34275" rIns="34275" bIns="34275" anchor="t" anchorCtr="0">
            <a:noAutofit/>
          </a:bodyPr>
          <a:lstStyle/>
          <a:p>
            <a:pPr>
              <a:buClr>
                <a:srgbClr val="FFFFFF"/>
              </a:buClr>
              <a:buSzPts val="500"/>
              <a:buFont typeface="IBM Plex Sans Light"/>
              <a:buNone/>
              <a:defRPr/>
            </a:pPr>
            <a:endParaRPr sz="500">
              <a:solidFill>
                <a:srgbClr val="FFFFFF"/>
              </a:solidFill>
              <a:latin typeface="IBM Plex Sans Light"/>
              <a:ea typeface="IBM Plex Sans Light"/>
              <a:cs typeface="IBM Plex Sans Light"/>
              <a:sym typeface="IBM Plex Sans Light"/>
            </a:endParaRPr>
          </a:p>
        </p:txBody>
      </p:sp>
      <p:cxnSp>
        <p:nvCxnSpPr>
          <p:cNvPr id="8" name="Google Shape;2015;p207">
            <a:extLst>
              <a:ext uri="{FF2B5EF4-FFF2-40B4-BE49-F238E27FC236}">
                <a16:creationId xmlns:a16="http://schemas.microsoft.com/office/drawing/2014/main" id="{BB6F89D5-20FB-A1BF-4DAB-384B5E4A61D2}"/>
              </a:ext>
            </a:extLst>
          </p:cNvPr>
          <p:cNvCxnSpPr/>
          <p:nvPr/>
        </p:nvCxnSpPr>
        <p:spPr>
          <a:xfrm>
            <a:off x="384048" y="2606040"/>
            <a:ext cx="3977639" cy="914"/>
          </a:xfrm>
          <a:prstGeom prst="straightConnector1">
            <a:avLst/>
          </a:prstGeom>
          <a:noFill/>
          <a:ln w="8890" cap="flat" cmpd="sng">
            <a:solidFill>
              <a:srgbClr val="346CEC"/>
            </a:solidFill>
            <a:prstDash val="solid"/>
            <a:round/>
            <a:headEnd type="none" w="sm" len="sm"/>
            <a:tailEnd type="none" w="sm" len="sm"/>
          </a:ln>
        </p:spPr>
      </p:cxnSp>
      <p:pic>
        <p:nvPicPr>
          <p:cNvPr id="9" name="Google Shape;2016;p207" descr="A yellow star with a cat silhouette&#10;&#10;AI-generated content may be incorrect.">
            <a:extLst>
              <a:ext uri="{FF2B5EF4-FFF2-40B4-BE49-F238E27FC236}">
                <a16:creationId xmlns:a16="http://schemas.microsoft.com/office/drawing/2014/main" id="{D8C1E15D-36A5-82CE-01EC-9E5A29200D03}"/>
              </a:ext>
            </a:extLst>
          </p:cNvPr>
          <p:cNvPicPr preferRelativeResize="0"/>
          <p:nvPr/>
        </p:nvPicPr>
        <p:blipFill rotWithShape="1">
          <a:blip r:embed="rId4">
            <a:alphaModFix/>
          </a:blip>
          <a:srcRect/>
          <a:stretch/>
        </p:blipFill>
        <p:spPr>
          <a:xfrm>
            <a:off x="438912" y="4187952"/>
            <a:ext cx="192024" cy="181051"/>
          </a:xfrm>
          <a:prstGeom prst="rect">
            <a:avLst/>
          </a:prstGeom>
          <a:noFill/>
          <a:ln>
            <a:noFill/>
          </a:ln>
        </p:spPr>
      </p:pic>
      <p:pic>
        <p:nvPicPr>
          <p:cNvPr id="10" name="Google Shape;2017;p207">
            <a:extLst>
              <a:ext uri="{FF2B5EF4-FFF2-40B4-BE49-F238E27FC236}">
                <a16:creationId xmlns:a16="http://schemas.microsoft.com/office/drawing/2014/main" id="{FF59AF69-E21D-C1FF-E438-1CFDB6BAB563}"/>
              </a:ext>
            </a:extLst>
          </p:cNvPr>
          <p:cNvPicPr preferRelativeResize="0"/>
          <p:nvPr/>
        </p:nvPicPr>
        <p:blipFill rotWithShape="1">
          <a:blip r:embed="rId5">
            <a:alphaModFix/>
          </a:blip>
          <a:srcRect/>
          <a:stretch/>
        </p:blipFill>
        <p:spPr>
          <a:xfrm>
            <a:off x="866765" y="2059208"/>
            <a:ext cx="509493" cy="119881"/>
          </a:xfrm>
          <a:prstGeom prst="rect">
            <a:avLst/>
          </a:prstGeom>
          <a:noFill/>
          <a:ln>
            <a:noFill/>
          </a:ln>
        </p:spPr>
      </p:pic>
      <p:pic>
        <p:nvPicPr>
          <p:cNvPr id="11" name="Google Shape;2018;p207" descr="IBM 8-bar logo">
            <a:extLst>
              <a:ext uri="{FF2B5EF4-FFF2-40B4-BE49-F238E27FC236}">
                <a16:creationId xmlns:a16="http://schemas.microsoft.com/office/drawing/2014/main" id="{13DE8387-F492-777F-A675-D7F24EA672D5}"/>
              </a:ext>
            </a:extLst>
          </p:cNvPr>
          <p:cNvPicPr preferRelativeResize="0"/>
          <p:nvPr/>
        </p:nvPicPr>
        <p:blipFill rotWithShape="1">
          <a:blip r:embed="rId6">
            <a:alphaModFix/>
          </a:blip>
          <a:srcRect/>
          <a:stretch/>
        </p:blipFill>
        <p:spPr>
          <a:xfrm>
            <a:off x="785352" y="2301474"/>
            <a:ext cx="231859" cy="92510"/>
          </a:xfrm>
          <a:prstGeom prst="rect">
            <a:avLst/>
          </a:prstGeom>
          <a:noFill/>
          <a:ln>
            <a:noFill/>
          </a:ln>
        </p:spPr>
      </p:pic>
      <p:pic>
        <p:nvPicPr>
          <p:cNvPr id="12" name="Google Shape;2019;p207" descr="A blue and black logo&#10;&#10;AI-generated content may be incorrect.">
            <a:extLst>
              <a:ext uri="{FF2B5EF4-FFF2-40B4-BE49-F238E27FC236}">
                <a16:creationId xmlns:a16="http://schemas.microsoft.com/office/drawing/2014/main" id="{6F73BEB6-5442-8087-8331-1C02638C6F86}"/>
              </a:ext>
            </a:extLst>
          </p:cNvPr>
          <p:cNvPicPr preferRelativeResize="0"/>
          <p:nvPr/>
        </p:nvPicPr>
        <p:blipFill rotWithShape="1">
          <a:blip r:embed="rId7">
            <a:alphaModFix/>
          </a:blip>
          <a:srcRect/>
          <a:stretch/>
        </p:blipFill>
        <p:spPr>
          <a:xfrm>
            <a:off x="3379616" y="2054695"/>
            <a:ext cx="244085" cy="128907"/>
          </a:xfrm>
          <a:prstGeom prst="rect">
            <a:avLst/>
          </a:prstGeom>
          <a:noFill/>
          <a:ln>
            <a:noFill/>
          </a:ln>
        </p:spPr>
      </p:pic>
      <p:pic>
        <p:nvPicPr>
          <p:cNvPr id="13" name="Google Shape;2020;p207" descr="A blue and black logo&#10;&#10;AI-generated content may be incorrect.">
            <a:extLst>
              <a:ext uri="{FF2B5EF4-FFF2-40B4-BE49-F238E27FC236}">
                <a16:creationId xmlns:a16="http://schemas.microsoft.com/office/drawing/2014/main" id="{B7778424-8673-1197-8CFC-79A2FBA72D2A}"/>
              </a:ext>
            </a:extLst>
          </p:cNvPr>
          <p:cNvPicPr preferRelativeResize="0"/>
          <p:nvPr/>
        </p:nvPicPr>
        <p:blipFill rotWithShape="1">
          <a:blip r:embed="rId8">
            <a:alphaModFix/>
          </a:blip>
          <a:srcRect/>
          <a:stretch/>
        </p:blipFill>
        <p:spPr>
          <a:xfrm>
            <a:off x="2170053" y="2070808"/>
            <a:ext cx="238390" cy="96680"/>
          </a:xfrm>
          <a:prstGeom prst="rect">
            <a:avLst/>
          </a:prstGeom>
          <a:noFill/>
          <a:ln>
            <a:noFill/>
          </a:ln>
        </p:spPr>
      </p:pic>
      <p:pic>
        <p:nvPicPr>
          <p:cNvPr id="14" name="Google Shape;2021;p207" descr="A black text on a black background&#10;&#10;AI-generated content may be incorrect.">
            <a:extLst>
              <a:ext uri="{FF2B5EF4-FFF2-40B4-BE49-F238E27FC236}">
                <a16:creationId xmlns:a16="http://schemas.microsoft.com/office/drawing/2014/main" id="{DB6254C0-C2B9-B86C-9696-8FC638AE2C6F}"/>
              </a:ext>
            </a:extLst>
          </p:cNvPr>
          <p:cNvPicPr preferRelativeResize="0"/>
          <p:nvPr/>
        </p:nvPicPr>
        <p:blipFill rotWithShape="1">
          <a:blip r:embed="rId9">
            <a:alphaModFix/>
          </a:blip>
          <a:srcRect/>
          <a:stretch/>
        </p:blipFill>
        <p:spPr>
          <a:xfrm>
            <a:off x="2664121" y="2054695"/>
            <a:ext cx="553885" cy="128907"/>
          </a:xfrm>
          <a:prstGeom prst="rect">
            <a:avLst/>
          </a:prstGeom>
          <a:noFill/>
          <a:ln>
            <a:noFill/>
          </a:ln>
        </p:spPr>
      </p:pic>
      <p:sp>
        <p:nvSpPr>
          <p:cNvPr id="15" name="Google Shape;2022;p207">
            <a:extLst>
              <a:ext uri="{FF2B5EF4-FFF2-40B4-BE49-F238E27FC236}">
                <a16:creationId xmlns:a16="http://schemas.microsoft.com/office/drawing/2014/main" id="{BF52F8A5-3F42-5B4B-ED9F-8392EA77AAC1}"/>
              </a:ext>
            </a:extLst>
          </p:cNvPr>
          <p:cNvSpPr txBox="1"/>
          <p:nvPr/>
        </p:nvSpPr>
        <p:spPr>
          <a:xfrm>
            <a:off x="384048" y="2423160"/>
            <a:ext cx="914400" cy="16459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800" b="0">
                <a:solidFill>
                  <a:srgbClr val="52677D"/>
                </a:solidFill>
                <a:latin typeface="Arial"/>
              </a:defRPr>
            </a:pPr>
            <a:r>
              <a:rPr sz="800" b="0">
                <a:solidFill>
                  <a:srgbClr val="52677D"/>
                </a:solidFill>
                <a:latin typeface="Arial"/>
              </a:rPr>
              <a:t>Since May 2025</a:t>
            </a:r>
          </a:p>
        </p:txBody>
      </p:sp>
      <p:cxnSp>
        <p:nvCxnSpPr>
          <p:cNvPr id="16" name="Google Shape;2023;p207">
            <a:extLst>
              <a:ext uri="{FF2B5EF4-FFF2-40B4-BE49-F238E27FC236}">
                <a16:creationId xmlns:a16="http://schemas.microsoft.com/office/drawing/2014/main" id="{8A2F155E-29A2-E8C4-EE64-6BDB8901D3B5}"/>
              </a:ext>
            </a:extLst>
          </p:cNvPr>
          <p:cNvCxnSpPr>
            <a:endCxn id="15" idx="2"/>
          </p:cNvCxnSpPr>
          <p:nvPr/>
        </p:nvCxnSpPr>
        <p:spPr>
          <a:xfrm rot="10800000">
            <a:off x="512064" y="2569464"/>
            <a:ext cx="914" cy="36576"/>
          </a:xfrm>
          <a:prstGeom prst="straightConnector1">
            <a:avLst/>
          </a:prstGeom>
          <a:noFill/>
          <a:ln w="8890" cap="flat" cmpd="sng">
            <a:solidFill>
              <a:srgbClr val="346CEC"/>
            </a:solidFill>
            <a:prstDash val="solid"/>
            <a:round/>
            <a:headEnd type="oval" w="lg" len="lg"/>
            <a:tailEnd type="none" w="sm" len="sm"/>
          </a:ln>
        </p:spPr>
      </p:cxnSp>
      <p:pic>
        <p:nvPicPr>
          <p:cNvPr id="17" name="Google Shape;2024;p207" descr="A black and white logo&#10;&#10;AI-generated content may be incorrect.">
            <a:extLst>
              <a:ext uri="{FF2B5EF4-FFF2-40B4-BE49-F238E27FC236}">
                <a16:creationId xmlns:a16="http://schemas.microsoft.com/office/drawing/2014/main" id="{F1F8E47D-0637-D18E-A0CA-3CDC57713F4E}"/>
              </a:ext>
            </a:extLst>
          </p:cNvPr>
          <p:cNvPicPr preferRelativeResize="0"/>
          <p:nvPr/>
        </p:nvPicPr>
        <p:blipFill rotWithShape="1">
          <a:blip r:embed="rId10">
            <a:alphaModFix/>
          </a:blip>
          <a:srcRect/>
          <a:stretch/>
        </p:blipFill>
        <p:spPr>
          <a:xfrm>
            <a:off x="3597956" y="2299388"/>
            <a:ext cx="436345" cy="96680"/>
          </a:xfrm>
          <a:prstGeom prst="rect">
            <a:avLst/>
          </a:prstGeom>
          <a:noFill/>
          <a:ln>
            <a:noFill/>
          </a:ln>
        </p:spPr>
      </p:pic>
      <p:pic>
        <p:nvPicPr>
          <p:cNvPr id="18" name="Google Shape;2025;p207" descr="A colorful circle logo on a black background&#10;&#10;AI-generated content may be incorrect.">
            <a:extLst>
              <a:ext uri="{FF2B5EF4-FFF2-40B4-BE49-F238E27FC236}">
                <a16:creationId xmlns:a16="http://schemas.microsoft.com/office/drawing/2014/main" id="{574C11ED-C68A-A35A-228D-F3CCF9351E17}"/>
              </a:ext>
            </a:extLst>
          </p:cNvPr>
          <p:cNvPicPr preferRelativeResize="0"/>
          <p:nvPr/>
        </p:nvPicPr>
        <p:blipFill rotWithShape="1">
          <a:blip r:embed="rId11">
            <a:alphaModFix/>
          </a:blip>
          <a:srcRect/>
          <a:stretch/>
        </p:blipFill>
        <p:spPr>
          <a:xfrm>
            <a:off x="1165118" y="2294625"/>
            <a:ext cx="313909" cy="106206"/>
          </a:xfrm>
          <a:prstGeom prst="rect">
            <a:avLst/>
          </a:prstGeom>
          <a:noFill/>
          <a:ln>
            <a:noFill/>
          </a:ln>
        </p:spPr>
      </p:pic>
      <p:pic>
        <p:nvPicPr>
          <p:cNvPr id="19" name="Google Shape;2026;p207">
            <a:extLst>
              <a:ext uri="{FF2B5EF4-FFF2-40B4-BE49-F238E27FC236}">
                <a16:creationId xmlns:a16="http://schemas.microsoft.com/office/drawing/2014/main" id="{39848DC3-EBC3-FFC7-6162-4E97265813D7}"/>
              </a:ext>
            </a:extLst>
          </p:cNvPr>
          <p:cNvPicPr preferRelativeResize="0"/>
          <p:nvPr/>
        </p:nvPicPr>
        <p:blipFill rotWithShape="1">
          <a:blip r:embed="rId12">
            <a:alphaModFix/>
          </a:blip>
          <a:srcRect/>
          <a:stretch/>
        </p:blipFill>
        <p:spPr>
          <a:xfrm>
            <a:off x="3784877" y="2054695"/>
            <a:ext cx="484745" cy="128907"/>
          </a:xfrm>
          <a:prstGeom prst="rect">
            <a:avLst/>
          </a:prstGeom>
          <a:noFill/>
          <a:ln>
            <a:noFill/>
          </a:ln>
        </p:spPr>
      </p:pic>
      <p:pic>
        <p:nvPicPr>
          <p:cNvPr id="20" name="Google Shape;2027;p207" descr="A green and black logo&#10;&#10;AI-generated content may be incorrect.">
            <a:extLst>
              <a:ext uri="{FF2B5EF4-FFF2-40B4-BE49-F238E27FC236}">
                <a16:creationId xmlns:a16="http://schemas.microsoft.com/office/drawing/2014/main" id="{478A105A-4EC8-DF5F-4B84-0C063A407CFC}"/>
              </a:ext>
            </a:extLst>
          </p:cNvPr>
          <p:cNvPicPr preferRelativeResize="0"/>
          <p:nvPr/>
        </p:nvPicPr>
        <p:blipFill rotWithShape="1">
          <a:blip r:embed="rId13">
            <a:alphaModFix/>
          </a:blip>
          <a:srcRect/>
          <a:stretch/>
        </p:blipFill>
        <p:spPr>
          <a:xfrm>
            <a:off x="1768273" y="2044756"/>
            <a:ext cx="202888" cy="148785"/>
          </a:xfrm>
          <a:prstGeom prst="rect">
            <a:avLst/>
          </a:prstGeom>
          <a:noFill/>
          <a:ln>
            <a:noFill/>
          </a:ln>
        </p:spPr>
      </p:pic>
      <p:pic>
        <p:nvPicPr>
          <p:cNvPr id="21" name="Google Shape;2028;p207">
            <a:extLst>
              <a:ext uri="{FF2B5EF4-FFF2-40B4-BE49-F238E27FC236}">
                <a16:creationId xmlns:a16="http://schemas.microsoft.com/office/drawing/2014/main" id="{7303DBD4-483B-5008-5B0F-580762DDF2F2}"/>
              </a:ext>
            </a:extLst>
          </p:cNvPr>
          <p:cNvPicPr preferRelativeResize="0"/>
          <p:nvPr/>
        </p:nvPicPr>
        <p:blipFill rotWithShape="1">
          <a:blip r:embed="rId14">
            <a:alphaModFix/>
          </a:blip>
          <a:srcRect/>
          <a:stretch/>
        </p:blipFill>
        <p:spPr>
          <a:xfrm>
            <a:off x="1949046" y="2307445"/>
            <a:ext cx="338043" cy="80567"/>
          </a:xfrm>
          <a:prstGeom prst="rect">
            <a:avLst/>
          </a:prstGeom>
          <a:noFill/>
          <a:ln>
            <a:noFill/>
          </a:ln>
        </p:spPr>
      </p:pic>
      <p:cxnSp>
        <p:nvCxnSpPr>
          <p:cNvPr id="22" name="Google Shape;2029;p207">
            <a:extLst>
              <a:ext uri="{FF2B5EF4-FFF2-40B4-BE49-F238E27FC236}">
                <a16:creationId xmlns:a16="http://schemas.microsoft.com/office/drawing/2014/main" id="{58DBF0BB-F2D0-4EAE-D55A-C36B82061991}"/>
              </a:ext>
            </a:extLst>
          </p:cNvPr>
          <p:cNvCxnSpPr/>
          <p:nvPr/>
        </p:nvCxnSpPr>
        <p:spPr>
          <a:xfrm>
            <a:off x="1601654" y="1987789"/>
            <a:ext cx="0" cy="428492"/>
          </a:xfrm>
          <a:prstGeom prst="straightConnector1">
            <a:avLst/>
          </a:prstGeom>
          <a:noFill/>
          <a:ln w="8890" cap="flat" cmpd="sng">
            <a:solidFill>
              <a:srgbClr val="CFD9E5"/>
            </a:solidFill>
            <a:prstDash val="solid"/>
            <a:round/>
            <a:headEnd type="none" w="sm" len="sm"/>
            <a:tailEnd type="none" w="sm" len="sm"/>
          </a:ln>
        </p:spPr>
      </p:cxnSp>
      <p:cxnSp>
        <p:nvCxnSpPr>
          <p:cNvPr id="23" name="Google Shape;2030;p207">
            <a:extLst>
              <a:ext uri="{FF2B5EF4-FFF2-40B4-BE49-F238E27FC236}">
                <a16:creationId xmlns:a16="http://schemas.microsoft.com/office/drawing/2014/main" id="{C9750DD3-1F5E-B58D-8354-DBB40F7A7AC8}"/>
              </a:ext>
            </a:extLst>
          </p:cNvPr>
          <p:cNvCxnSpPr/>
          <p:nvPr/>
        </p:nvCxnSpPr>
        <p:spPr>
          <a:xfrm>
            <a:off x="2537609" y="1987789"/>
            <a:ext cx="0" cy="428492"/>
          </a:xfrm>
          <a:prstGeom prst="straightConnector1">
            <a:avLst/>
          </a:prstGeom>
          <a:noFill/>
          <a:ln w="8890" cap="flat" cmpd="sng">
            <a:solidFill>
              <a:srgbClr val="CFD9E5"/>
            </a:solidFill>
            <a:prstDash val="solid"/>
            <a:round/>
            <a:headEnd type="none" w="sm" len="sm"/>
            <a:tailEnd type="none" w="sm" len="sm"/>
          </a:ln>
        </p:spPr>
      </p:cxnSp>
      <p:cxnSp>
        <p:nvCxnSpPr>
          <p:cNvPr id="24" name="Google Shape;2031;p207">
            <a:extLst>
              <a:ext uri="{FF2B5EF4-FFF2-40B4-BE49-F238E27FC236}">
                <a16:creationId xmlns:a16="http://schemas.microsoft.com/office/drawing/2014/main" id="{9D2B16A6-E644-3156-C60D-5A6A7C579ACE}"/>
              </a:ext>
            </a:extLst>
          </p:cNvPr>
          <p:cNvCxnSpPr/>
          <p:nvPr/>
        </p:nvCxnSpPr>
        <p:spPr>
          <a:xfrm>
            <a:off x="4535424" y="1499616"/>
            <a:ext cx="914" cy="3300984"/>
          </a:xfrm>
          <a:prstGeom prst="straightConnector1">
            <a:avLst/>
          </a:prstGeom>
          <a:noFill/>
          <a:ln w="8890" cap="flat" cmpd="sng">
            <a:solidFill>
              <a:srgbClr val="CFD9E5"/>
            </a:solidFill>
            <a:prstDash val="solid"/>
            <a:round/>
            <a:headEnd type="none" w="sm" len="sm"/>
            <a:tailEnd type="none" w="sm" len="sm"/>
          </a:ln>
        </p:spPr>
      </p:cxnSp>
      <p:sp>
        <p:nvSpPr>
          <p:cNvPr id="25" name="Google Shape;2032;p207">
            <a:extLst>
              <a:ext uri="{FF2B5EF4-FFF2-40B4-BE49-F238E27FC236}">
                <a16:creationId xmlns:a16="http://schemas.microsoft.com/office/drawing/2014/main" id="{06695568-9159-D80F-35F5-996C2A24712B}"/>
              </a:ext>
            </a:extLst>
          </p:cNvPr>
          <p:cNvSpPr txBox="1"/>
          <p:nvPr/>
        </p:nvSpPr>
        <p:spPr>
          <a:xfrm>
            <a:off x="4709160" y="1508760"/>
            <a:ext cx="4050791" cy="25603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200" b="1">
                <a:solidFill>
                  <a:srgbClr val="087F8C"/>
                </a:solidFill>
                <a:latin typeface="Arial"/>
              </a:defRPr>
            </a:pPr>
            <a:r>
              <a:rPr sz="1200" b="1" dirty="0">
                <a:solidFill>
                  <a:srgbClr val="087F8C"/>
                </a:solidFill>
                <a:latin typeface="Arial"/>
              </a:rPr>
              <a:t>Four areas of capability</a:t>
            </a:r>
          </a:p>
        </p:txBody>
      </p:sp>
      <p:sp>
        <p:nvSpPr>
          <p:cNvPr id="26" name="Google Shape;2034;p207">
            <a:extLst>
              <a:ext uri="{FF2B5EF4-FFF2-40B4-BE49-F238E27FC236}">
                <a16:creationId xmlns:a16="http://schemas.microsoft.com/office/drawing/2014/main" id="{4C02AEEA-99FF-7BD0-F400-84B924354D13}"/>
              </a:ext>
            </a:extLst>
          </p:cNvPr>
          <p:cNvSpPr txBox="1"/>
          <p:nvPr/>
        </p:nvSpPr>
        <p:spPr>
          <a:xfrm>
            <a:off x="4882896" y="1956816"/>
            <a:ext cx="3867912" cy="2770632"/>
          </a:xfrm>
          <a:prstGeom prst="rect">
            <a:avLst/>
          </a:prstGeom>
          <a:noFill/>
          <a:ln>
            <a:noFill/>
          </a:ln>
        </p:spPr>
        <p:txBody>
          <a:bodyPr spcFirstLastPara="1" wrap="square" lIns="0" tIns="0" rIns="0" bIns="0" anchor="t" anchorCtr="0">
            <a:noAutofit/>
          </a:bodyPr>
          <a:lstStyle/>
          <a:p>
            <a:pPr>
              <a:lnSpc>
                <a:spcPct val="108000"/>
              </a:lnSpc>
              <a:spcAft>
                <a:spcPts val="500"/>
              </a:spcAft>
              <a:defRPr sz="1050" b="0">
                <a:solidFill>
                  <a:srgbClr val="142C46"/>
                </a:solidFill>
                <a:latin typeface="Arial"/>
              </a:defRPr>
            </a:pPr>
            <a:r>
              <a:rPr lang="en-US" sz="1100" b="1" dirty="0">
                <a:solidFill>
                  <a:srgbClr val="346CEC"/>
                </a:solidFill>
              </a:rPr>
              <a:t>State-of-the-art </a:t>
            </a:r>
            <a:r>
              <a:rPr sz="1100" b="1" dirty="0" err="1">
                <a:solidFill>
                  <a:srgbClr val="346CEC"/>
                </a:solidFill>
                <a:latin typeface="Arial"/>
              </a:rPr>
              <a:t>MoE</a:t>
            </a:r>
            <a:r>
              <a:rPr sz="1100" b="1" dirty="0">
                <a:solidFill>
                  <a:srgbClr val="346CEC"/>
                </a:solidFill>
                <a:latin typeface="Arial"/>
              </a:rPr>
              <a:t> serving</a:t>
            </a:r>
          </a:p>
          <a:p>
            <a:pPr marL="0" indent="0" algn="l">
              <a:lnSpc>
                <a:spcPct val="108000"/>
              </a:lnSpc>
              <a:spcBef>
                <a:spcPts val="0"/>
              </a:spcBef>
              <a:spcAft>
                <a:spcPts val="1200"/>
              </a:spcAft>
              <a:buNone/>
              <a:defRPr sz="1050" b="0">
                <a:solidFill>
                  <a:srgbClr val="142C46"/>
                </a:solidFill>
                <a:latin typeface="Arial"/>
              </a:defRPr>
            </a:pPr>
            <a:r>
              <a:rPr sz="1050" b="0" dirty="0">
                <a:solidFill>
                  <a:srgbClr val="142C46"/>
                </a:solidFill>
                <a:latin typeface="Arial"/>
              </a:rPr>
              <a:t>Expert parallelism spreads expert computation across GPUs.</a:t>
            </a:r>
          </a:p>
          <a:p>
            <a:pPr marL="0" indent="0" algn="l">
              <a:lnSpc>
                <a:spcPct val="108000"/>
              </a:lnSpc>
              <a:spcBef>
                <a:spcPts val="0"/>
              </a:spcBef>
              <a:spcAft>
                <a:spcPts val="500"/>
              </a:spcAft>
              <a:buNone/>
              <a:defRPr sz="1050" b="0">
                <a:solidFill>
                  <a:srgbClr val="142C46"/>
                </a:solidFill>
                <a:latin typeface="Arial"/>
              </a:defRPr>
            </a:pPr>
            <a:r>
              <a:rPr sz="1100" b="1" dirty="0">
                <a:solidFill>
                  <a:srgbClr val="346CEC"/>
                </a:solidFill>
                <a:latin typeface="Arial"/>
              </a:rPr>
              <a:t>Prefill/decode disaggregation</a:t>
            </a:r>
          </a:p>
          <a:p>
            <a:pPr marL="0" indent="0" algn="l">
              <a:lnSpc>
                <a:spcPct val="108000"/>
              </a:lnSpc>
              <a:spcBef>
                <a:spcPts val="0"/>
              </a:spcBef>
              <a:spcAft>
                <a:spcPts val="1200"/>
              </a:spcAft>
              <a:buNone/>
              <a:defRPr sz="1050" b="0">
                <a:solidFill>
                  <a:srgbClr val="142C46"/>
                </a:solidFill>
                <a:latin typeface="Arial"/>
              </a:defRPr>
            </a:pPr>
            <a:r>
              <a:rPr sz="1050" b="0" dirty="0">
                <a:solidFill>
                  <a:srgbClr val="142C46"/>
                </a:solidFill>
                <a:latin typeface="Arial"/>
              </a:rPr>
              <a:t>We separate the phases and transfer KV between roles.</a:t>
            </a:r>
          </a:p>
          <a:p>
            <a:pPr marL="0" indent="0" algn="l">
              <a:lnSpc>
                <a:spcPct val="108000"/>
              </a:lnSpc>
              <a:spcBef>
                <a:spcPts val="0"/>
              </a:spcBef>
              <a:spcAft>
                <a:spcPts val="500"/>
              </a:spcAft>
              <a:buNone/>
              <a:defRPr sz="1050" b="0">
                <a:solidFill>
                  <a:srgbClr val="142C46"/>
                </a:solidFill>
                <a:latin typeface="Arial"/>
              </a:defRPr>
            </a:pPr>
            <a:r>
              <a:rPr sz="1100" b="1" dirty="0">
                <a:solidFill>
                  <a:srgbClr val="346CEC"/>
                </a:solidFill>
                <a:latin typeface="Arial"/>
              </a:rPr>
              <a:t>State-aware scheduling</a:t>
            </a:r>
          </a:p>
          <a:p>
            <a:pPr marL="0" indent="0" algn="l">
              <a:lnSpc>
                <a:spcPct val="108000"/>
              </a:lnSpc>
              <a:spcBef>
                <a:spcPts val="0"/>
              </a:spcBef>
              <a:spcAft>
                <a:spcPts val="1200"/>
              </a:spcAft>
              <a:buNone/>
              <a:defRPr sz="1050" b="0">
                <a:solidFill>
                  <a:srgbClr val="142C46"/>
                </a:solidFill>
                <a:latin typeface="Arial"/>
              </a:defRPr>
            </a:pPr>
            <a:r>
              <a:rPr sz="1050" b="0" dirty="0">
                <a:solidFill>
                  <a:srgbClr val="142C46"/>
                </a:solidFill>
                <a:latin typeface="Arial"/>
              </a:rPr>
              <a:t>Routing plugins use cache and load signals to pick workers.</a:t>
            </a:r>
          </a:p>
          <a:p>
            <a:pPr marL="0" indent="0" algn="l">
              <a:lnSpc>
                <a:spcPct val="108000"/>
              </a:lnSpc>
              <a:spcBef>
                <a:spcPts val="0"/>
              </a:spcBef>
              <a:spcAft>
                <a:spcPts val="500"/>
              </a:spcAft>
              <a:buNone/>
              <a:defRPr sz="1050" b="0">
                <a:solidFill>
                  <a:srgbClr val="142C46"/>
                </a:solidFill>
                <a:latin typeface="Arial"/>
              </a:defRPr>
            </a:pPr>
            <a:r>
              <a:rPr sz="1100" b="1" dirty="0">
                <a:solidFill>
                  <a:srgbClr val="346CEC"/>
                </a:solidFill>
                <a:latin typeface="Arial"/>
              </a:rPr>
              <a:t>Autoscaling architecture</a:t>
            </a:r>
          </a:p>
          <a:p>
            <a:pPr marL="0" indent="0" algn="l">
              <a:lnSpc>
                <a:spcPct val="108000"/>
              </a:lnSpc>
              <a:spcBef>
                <a:spcPts val="0"/>
              </a:spcBef>
              <a:spcAft>
                <a:spcPts val="1200"/>
              </a:spcAft>
              <a:buNone/>
              <a:defRPr sz="1050" b="0">
                <a:solidFill>
                  <a:srgbClr val="142C46"/>
                </a:solidFill>
                <a:latin typeface="Arial"/>
              </a:defRPr>
            </a:pPr>
            <a:r>
              <a:rPr sz="1050" b="0" dirty="0">
                <a:solidFill>
                  <a:srgbClr val="142C46"/>
                </a:solidFill>
                <a:latin typeface="Arial"/>
              </a:rPr>
              <a:t>Workload signals and SLOs guide capacity; each integration chooses its policy.</a:t>
            </a:r>
          </a:p>
        </p:txBody>
      </p:sp>
      <p:cxnSp>
        <p:nvCxnSpPr>
          <p:cNvPr id="27" name="Google Shape;2035;p207">
            <a:extLst>
              <a:ext uri="{FF2B5EF4-FFF2-40B4-BE49-F238E27FC236}">
                <a16:creationId xmlns:a16="http://schemas.microsoft.com/office/drawing/2014/main" id="{BBF49D1E-6B67-59EA-C147-2DBD69E46518}"/>
              </a:ext>
            </a:extLst>
          </p:cNvPr>
          <p:cNvCxnSpPr/>
          <p:nvPr/>
        </p:nvCxnSpPr>
        <p:spPr>
          <a:xfrm>
            <a:off x="4718304" y="1975104"/>
            <a:ext cx="100584" cy="914"/>
          </a:xfrm>
          <a:prstGeom prst="straightConnector1">
            <a:avLst/>
          </a:prstGeom>
          <a:noFill/>
          <a:ln w="8890" cap="flat" cmpd="sng">
            <a:solidFill>
              <a:srgbClr val="346CEC"/>
            </a:solidFill>
            <a:prstDash val="solid"/>
            <a:round/>
            <a:headEnd type="oval" w="lg" len="lg"/>
            <a:tailEnd type="none" w="sm" len="sm"/>
          </a:ln>
        </p:spPr>
      </p:cxnSp>
      <p:sp>
        <p:nvSpPr>
          <p:cNvPr id="28" name="Google Shape;2036;p207">
            <a:extLst>
              <a:ext uri="{FF2B5EF4-FFF2-40B4-BE49-F238E27FC236}">
                <a16:creationId xmlns:a16="http://schemas.microsoft.com/office/drawing/2014/main" id="{2395275C-9B53-E228-EF6E-66B09804D0CC}"/>
              </a:ext>
            </a:extLst>
          </p:cNvPr>
          <p:cNvSpPr/>
          <p:nvPr/>
        </p:nvSpPr>
        <p:spPr>
          <a:xfrm>
            <a:off x="4727448" y="1965960"/>
            <a:ext cx="27432" cy="2715768"/>
          </a:xfrm>
          <a:prstGeom prst="leftBracket">
            <a:avLst>
              <a:gd name="adj" fmla="val 8333"/>
            </a:avLst>
          </a:prstGeom>
          <a:noFill/>
          <a:ln w="8890" cap="flat" cmpd="sng">
            <a:solidFill>
              <a:srgbClr val="346CEC"/>
            </a:solidFill>
            <a:prstDash val="solid"/>
            <a:round/>
            <a:headEnd type="none" w="sm" len="sm"/>
            <a:tailEnd type="none" w="sm" len="sm"/>
          </a:ln>
        </p:spPr>
        <p:txBody>
          <a:bodyPr spcFirstLastPara="1" wrap="square" lIns="68575" tIns="34275" rIns="68575" bIns="34275" anchor="ctr" anchorCtr="0">
            <a:noAutofit/>
          </a:bodyPr>
          <a:lstStyle/>
          <a:p>
            <a:pPr algn="ctr">
              <a:buSzPts val="1400"/>
              <a:buFont typeface="IBM Plex Sans Light"/>
              <a:buNone/>
              <a:defRPr/>
            </a:pPr>
            <a:endParaRPr>
              <a:latin typeface="IBM Plex Sans Light"/>
              <a:ea typeface="IBM Plex Sans Light"/>
              <a:cs typeface="IBM Plex Sans Light"/>
              <a:sym typeface="IBM Plex Sans Light"/>
            </a:endParaRPr>
          </a:p>
        </p:txBody>
      </p:sp>
      <p:cxnSp>
        <p:nvCxnSpPr>
          <p:cNvPr id="29" name="Google Shape;2037;p207">
            <a:extLst>
              <a:ext uri="{FF2B5EF4-FFF2-40B4-BE49-F238E27FC236}">
                <a16:creationId xmlns:a16="http://schemas.microsoft.com/office/drawing/2014/main" id="{16453C01-CF46-124D-5E59-0BF62DF979E3}"/>
              </a:ext>
            </a:extLst>
          </p:cNvPr>
          <p:cNvCxnSpPr/>
          <p:nvPr/>
        </p:nvCxnSpPr>
        <p:spPr>
          <a:xfrm>
            <a:off x="8046720" y="4700016"/>
            <a:ext cx="914" cy="155448"/>
          </a:xfrm>
          <a:prstGeom prst="straightConnector1">
            <a:avLst/>
          </a:prstGeom>
          <a:noFill/>
          <a:ln w="8890" cap="flat" cmpd="sng">
            <a:solidFill>
              <a:srgbClr val="CFD9E5"/>
            </a:solidFill>
            <a:prstDash val="solid"/>
            <a:miter lim="800000"/>
            <a:headEnd type="none" w="sm" len="sm"/>
            <a:tailEnd type="none" w="sm" len="sm"/>
          </a:ln>
        </p:spPr>
      </p:cxnSp>
      <p:pic>
        <p:nvPicPr>
          <p:cNvPr id="30" name="Google Shape;2038;p207" descr="A black and grey logo&#10;&#10;AI-generated content may be incorrect.">
            <a:extLst>
              <a:ext uri="{FF2B5EF4-FFF2-40B4-BE49-F238E27FC236}">
                <a16:creationId xmlns:a16="http://schemas.microsoft.com/office/drawing/2014/main" id="{00CE1514-DA04-B543-9D2B-E6C49612E5A9}"/>
              </a:ext>
            </a:extLst>
          </p:cNvPr>
          <p:cNvPicPr preferRelativeResize="0"/>
          <p:nvPr/>
        </p:nvPicPr>
        <p:blipFill rotWithShape="1">
          <a:blip r:embed="rId15">
            <a:alphaModFix/>
          </a:blip>
          <a:srcRect/>
          <a:stretch/>
        </p:blipFill>
        <p:spPr>
          <a:xfrm>
            <a:off x="8220456" y="4700016"/>
            <a:ext cx="512064" cy="156362"/>
          </a:xfrm>
          <a:prstGeom prst="rect">
            <a:avLst/>
          </a:prstGeom>
          <a:noFill/>
          <a:ln>
            <a:noFill/>
          </a:ln>
        </p:spPr>
      </p:pic>
      <p:pic>
        <p:nvPicPr>
          <p:cNvPr id="31" name="Google Shape;2039;p207" title="66faf0b57e9fd277afa8c523_65777e4f9ada94a53cc28302_logo-mistral.png">
            <a:extLst>
              <a:ext uri="{FF2B5EF4-FFF2-40B4-BE49-F238E27FC236}">
                <a16:creationId xmlns:a16="http://schemas.microsoft.com/office/drawing/2014/main" id="{64A072FC-F9C0-AD5C-C362-BE2132950638}"/>
              </a:ext>
            </a:extLst>
          </p:cNvPr>
          <p:cNvPicPr preferRelativeResize="0"/>
          <p:nvPr/>
        </p:nvPicPr>
        <p:blipFill>
          <a:blip r:embed="rId16">
            <a:alphaModFix/>
          </a:blip>
          <a:stretch>
            <a:fillRect/>
          </a:stretch>
        </p:blipFill>
        <p:spPr>
          <a:xfrm>
            <a:off x="3014904" y="2269803"/>
            <a:ext cx="407132" cy="155850"/>
          </a:xfrm>
          <a:prstGeom prst="rect">
            <a:avLst/>
          </a:prstGeom>
          <a:noFill/>
          <a:ln>
            <a:noFill/>
          </a:ln>
        </p:spPr>
      </p:pic>
      <p:sp>
        <p:nvSpPr>
          <p:cNvPr id="33" name="文本框 32">
            <a:extLst>
              <a:ext uri="{FF2B5EF4-FFF2-40B4-BE49-F238E27FC236}">
                <a16:creationId xmlns:a16="http://schemas.microsoft.com/office/drawing/2014/main" id="{69365E8B-5DD5-9F06-FD5E-ECEF8FAF7AA8}"/>
              </a:ext>
            </a:extLst>
          </p:cNvPr>
          <p:cNvSpPr txBox="1"/>
          <p:nvPr/>
        </p:nvSpPr>
        <p:spPr>
          <a:xfrm>
            <a:off x="384048" y="1033271"/>
            <a:ext cx="8321040" cy="329184"/>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1200" b="0">
                <a:solidFill>
                  <a:srgbClr val="52677D"/>
                </a:solidFill>
                <a:latin typeface="Arial"/>
              </a:defRPr>
            </a:pPr>
            <a:r>
              <a:rPr sz="1200" b="0">
                <a:solidFill>
                  <a:srgbClr val="52677D"/>
                </a:solidFill>
                <a:latin typeface="Arial"/>
              </a:rPr>
              <a:t>These are reusable capabilities, not a performance guarantee.</a:t>
            </a:r>
          </a:p>
        </p:txBody>
      </p:sp>
      <p:sp>
        <p:nvSpPr>
          <p:cNvPr id="35" name="右大括号 34">
            <a:extLst>
              <a:ext uri="{FF2B5EF4-FFF2-40B4-BE49-F238E27FC236}">
                <a16:creationId xmlns:a16="http://schemas.microsoft.com/office/drawing/2014/main" id="{C0325AD1-219F-E5EF-2E15-5CB33A2144CD}"/>
              </a:ext>
            </a:extLst>
          </p:cNvPr>
          <p:cNvSpPr/>
          <p:nvPr/>
        </p:nvSpPr>
        <p:spPr>
          <a:xfrm>
            <a:off x="4709160" y="1837943"/>
            <a:ext cx="4023360" cy="914"/>
          </a:xfrm>
          <a:prstGeom prst="rect">
            <a:avLst/>
          </a:prstGeom>
          <a:noFill/>
          <a:ln w="8890">
            <a:solidFill>
              <a:srgbClr val="CFD9E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zh-CN" altLang="en-US"/>
          </a:p>
        </p:txBody>
      </p:sp>
      <p:sp>
        <p:nvSpPr>
          <p:cNvPr id="36" name="TextBox 35"/>
          <p:cNvSpPr txBox="1"/>
          <p:nvPr/>
        </p:nvSpPr>
        <p:spPr>
          <a:xfrm>
            <a:off x="2157984" y="3977639"/>
            <a:ext cx="2011680" cy="210312"/>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1000" b="1">
                <a:solidFill>
                  <a:srgbClr val="346CEC"/>
                </a:solidFill>
                <a:latin typeface="Arial"/>
              </a:defRPr>
            </a:pPr>
            <a:r>
              <a:rPr sz="1000" b="1">
                <a:solidFill>
                  <a:srgbClr val="346CEC"/>
                </a:solidFill>
                <a:latin typeface="Arial"/>
              </a:rPr>
              <a:t>Community history</a:t>
            </a:r>
          </a:p>
        </p:txBody>
      </p:sp>
      <p:sp>
        <p:nvSpPr>
          <p:cNvPr id="37" name="TextBox 36"/>
          <p:cNvSpPr txBox="1"/>
          <p:nvPr/>
        </p:nvSpPr>
        <p:spPr>
          <a:xfrm>
            <a:off x="2157984" y="4279392"/>
            <a:ext cx="2103120" cy="384048"/>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900" b="0">
                <a:solidFill>
                  <a:srgbClr val="52677D"/>
                </a:solidFill>
                <a:latin typeface="Arial"/>
              </a:defRPr>
            </a:pPr>
            <a:r>
              <a:rPr sz="900" b="0" dirty="0">
                <a:solidFill>
                  <a:srgbClr val="52677D"/>
                </a:solidFill>
                <a:latin typeface="Arial"/>
              </a:rPr>
              <a:t>This shows project history,</a:t>
            </a:r>
          </a:p>
          <a:p>
            <a:pPr marL="0" indent="0" algn="l">
              <a:lnSpc>
                <a:spcPct val="108000"/>
              </a:lnSpc>
              <a:spcBef>
                <a:spcPts val="0"/>
              </a:spcBef>
              <a:spcAft>
                <a:spcPts val="0"/>
              </a:spcAft>
              <a:buNone/>
              <a:defRPr sz="900" b="0">
                <a:solidFill>
                  <a:srgbClr val="52677D"/>
                </a:solidFill>
                <a:latin typeface="Arial"/>
              </a:defRPr>
            </a:pPr>
            <a:r>
              <a:rPr sz="900" b="0" dirty="0">
                <a:solidFill>
                  <a:srgbClr val="52677D"/>
                </a:solidFill>
                <a:latin typeface="Arial"/>
              </a:rPr>
              <a:t>not serving performance.</a:t>
            </a:r>
          </a:p>
        </p:txBody>
      </p:sp>
      <p:sp>
        <p:nvSpPr>
          <p:cNvPr id="3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distributed inference capabilities</a:t>
            </a:r>
          </a:p>
        </p:txBody>
      </p:sp>
      <p:sp>
        <p:nvSpPr>
          <p:cNvPr id="3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A1FC9AA-8A27-5007-8CA3-E320F79495E1}" type="slidenum">
              <a:rPr lang="en-US"/>
              <a:t>16</a:t>
            </a:fld>
            <a:endParaRPr lang="en-US"/>
          </a:p>
        </p:txBody>
      </p:sp>
    </p:spTree>
    <p:extLst>
      <p:ext uri="{BB962C8B-B14F-4D97-AF65-F5344CB8AC3E}">
        <p14:creationId xmlns:p14="http://schemas.microsoft.com/office/powerpoint/2010/main" val="27049635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err="1"/>
              <a:t>llm</a:t>
            </a:r>
            <a:r>
              <a:rPr cap="none" dirty="0"/>
              <a:t>-d “well-lit paths”</a:t>
            </a:r>
          </a:p>
        </p:txBody>
      </p:sp>
      <p:sp>
        <p:nvSpPr>
          <p:cNvPr id="3" name="TextBox 2"/>
          <p:cNvSpPr txBox="1"/>
          <p:nvPr/>
        </p:nvSpPr>
        <p:spPr>
          <a:xfrm>
            <a:off x="384048" y="1033271"/>
            <a:ext cx="8321040" cy="184666"/>
          </a:xfrm>
          <a:prstGeom prst="rect">
            <a:avLst/>
          </a:prstGeom>
          <a:noFill/>
        </p:spPr>
        <p:txBody>
          <a:bodyPr wrap="square" lIns="0" tIns="0" rIns="0" bIns="0">
            <a:spAutoFit/>
          </a:bodyPr>
          <a:lstStyle/>
          <a:p>
            <a:pPr marL="158750">
              <a:buSzPts val="1100"/>
            </a:pPr>
            <a:r>
              <a:rPr lang="zh-CN" altLang="zh-CN" sz="1200" dirty="0"/>
              <a:t>tested ways to deploy, with clear guidance on what works well and what the limitations are.</a:t>
            </a:r>
            <a:endParaRPr lang="en-US" altLang="zh-CN" sz="1200" dirty="0"/>
          </a:p>
        </p:txBody>
      </p:sp>
      <p:sp>
        <p:nvSpPr>
          <p:cNvPr id="4" name="Rounded Rectangle 3"/>
          <p:cNvSpPr/>
          <p:nvPr/>
        </p:nvSpPr>
        <p:spPr>
          <a:xfrm>
            <a:off x="411480"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09928"/>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dirty="0"/>
              <a:t>Intelligent scheduling</a:t>
            </a:r>
          </a:p>
        </p:txBody>
      </p:sp>
      <p:sp>
        <p:nvSpPr>
          <p:cNvPr id="6" name="TextBox 5"/>
          <p:cNvSpPr txBox="1"/>
          <p:nvPr/>
        </p:nvSpPr>
        <p:spPr>
          <a:xfrm>
            <a:off x="576072"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dirty="0"/>
              <a:t>Where should this request run?</a:t>
            </a:r>
          </a:p>
        </p:txBody>
      </p:sp>
      <p:sp>
        <p:nvSpPr>
          <p:cNvPr id="7" name="Rounded Rectangle 6"/>
          <p:cNvSpPr/>
          <p:nvPr/>
        </p:nvSpPr>
        <p:spPr>
          <a:xfrm>
            <a:off x="4636008"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709928"/>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dirty="0"/>
              <a:t>KV cache management</a:t>
            </a:r>
          </a:p>
        </p:txBody>
      </p:sp>
      <p:sp>
        <p:nvSpPr>
          <p:cNvPr id="9" name="TextBox 8"/>
          <p:cNvSpPr txBox="1"/>
          <p:nvPr/>
        </p:nvSpPr>
        <p:spPr>
          <a:xfrm>
            <a:off x="4800600"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dirty="0"/>
              <a:t>Where should reusable state live?</a:t>
            </a:r>
          </a:p>
        </p:txBody>
      </p:sp>
      <p:sp>
        <p:nvSpPr>
          <p:cNvPr id="10" name="Rounded Rectangle 9"/>
          <p:cNvSpPr/>
          <p:nvPr/>
        </p:nvSpPr>
        <p:spPr>
          <a:xfrm>
            <a:off x="411480"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63239"/>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dirty="0"/>
              <a:t>Wide expert parallelism</a:t>
            </a:r>
          </a:p>
        </p:txBody>
      </p:sp>
      <p:sp>
        <p:nvSpPr>
          <p:cNvPr id="12" name="TextBox 11"/>
          <p:cNvSpPr txBox="1"/>
          <p:nvPr/>
        </p:nvSpPr>
        <p:spPr>
          <a:xfrm>
            <a:off x="576072"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dirty="0"/>
              <a:t>How should a large </a:t>
            </a:r>
            <a:r>
              <a:rPr cap="none" dirty="0" err="1"/>
              <a:t>MoE</a:t>
            </a:r>
            <a:r>
              <a:rPr cap="none" dirty="0"/>
              <a:t> model run across GPUs?</a:t>
            </a:r>
          </a:p>
        </p:txBody>
      </p:sp>
      <p:sp>
        <p:nvSpPr>
          <p:cNvPr id="13" name="Rounded Rectangle 12"/>
          <p:cNvSpPr/>
          <p:nvPr/>
        </p:nvSpPr>
        <p:spPr>
          <a:xfrm>
            <a:off x="4636008"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63239"/>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dirty="0"/>
              <a:t>P/D disaggregation</a:t>
            </a:r>
          </a:p>
        </p:txBody>
      </p:sp>
      <p:sp>
        <p:nvSpPr>
          <p:cNvPr id="15" name="TextBox 14"/>
          <p:cNvSpPr txBox="1"/>
          <p:nvPr/>
        </p:nvSpPr>
        <p:spPr>
          <a:xfrm>
            <a:off x="4800600"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dirty="0"/>
              <a:t>How should prompt and generation capacity differ?</a:t>
            </a:r>
          </a:p>
        </p:txBody>
      </p:sp>
      <p:sp>
        <p:nvSpPr>
          <p:cNvPr id="16" name="TextBox 1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35F917B-C6BC-5F81-B5BA-F01A8FB9B5B8}" type="slidenum">
              <a:rPr lang="en-US"/>
              <a:t>17</a:t>
            </a:fld>
            <a:endParaRPr lang="en-US"/>
          </a:p>
        </p:txBody>
      </p:sp>
      <p:sp>
        <p:nvSpPr>
          <p:cNvPr id="1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well-lit paths</a:t>
            </a:r>
          </a:p>
        </p:txBody>
      </p:sp>
      <p:sp>
        <p:nvSpPr>
          <p:cNvPr id="19" name="MoE explained in plain English"/>
          <p:cNvSpPr txBox="1"/>
          <p:nvPr/>
        </p:nvSpPr>
        <p:spPr>
          <a:xfrm>
            <a:off x="576072" y="4270248"/>
            <a:ext cx="7991856" cy="466344"/>
          </a:xfrm>
          <a:prstGeom prst="rect">
            <a:avLst/>
          </a:prstGeom>
          <a:noFill/>
        </p:spPr>
        <p:txBody>
          <a:bodyPr wrap="square" lIns="0" tIns="0" rIns="0" bIns="0">
            <a:noAutofit/>
          </a:bodyPr>
          <a:lstStyle/>
          <a:p>
            <a:pPr>
              <a:spcAft>
                <a:spcPts val="100"/>
              </a:spcAft>
              <a:defRPr sz="1350" b="1">
                <a:solidFill>
                  <a:srgbClr val="8060C3"/>
                </a:solidFill>
                <a:latin typeface="Arial"/>
              </a:defRPr>
            </a:pPr>
            <a:r>
              <a:rPr cap="none" dirty="0" err="1"/>
              <a:t>MoE</a:t>
            </a:r>
            <a:r>
              <a:rPr lang="en-US" dirty="0"/>
              <a:t>:</a:t>
            </a:r>
            <a:r>
              <a:rPr lang="zh-CN" altLang="en-US" dirty="0"/>
              <a:t> </a:t>
            </a:r>
            <a:r>
              <a:rPr cap="none" dirty="0"/>
              <a:t>Mixture of Experts—a team of specialists.</a:t>
            </a:r>
          </a:p>
          <a:p>
            <a:pPr>
              <a:spcAft>
                <a:spcPts val="100"/>
              </a:spcAft>
              <a:defRPr sz="1350" b="0">
                <a:solidFill>
                  <a:srgbClr val="142C46"/>
                </a:solidFill>
                <a:latin typeface="Arial"/>
              </a:defRPr>
            </a:pPr>
            <a:r>
              <a:rPr cap="none" dirty="0"/>
              <a:t>The model picks a few experts to help process each token</a:t>
            </a:r>
            <a:r>
              <a:rPr lang="en-US" dirty="0"/>
              <a:t> instead of using all experts every time.</a:t>
            </a:r>
            <a:endParaRPr cap="none" dirty="0"/>
          </a:p>
        </p:txBody>
      </p:sp>
    </p:spTree>
    <p:extLst>
      <p:ext uri="{BB962C8B-B14F-4D97-AF65-F5344CB8AC3E}">
        <p14:creationId xmlns:p14="http://schemas.microsoft.com/office/powerpoint/2010/main" val="18811374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03ED3-9B6B-3BAB-0E83-FF6DAA5EE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452F12-066A-5C71-350D-F3B31BAA9F87}"/>
              </a:ext>
            </a:extLst>
          </p:cNvPr>
          <p:cNvSpPr>
            <a:spLocks noGrp="1"/>
          </p:cNvSpPr>
          <p:nvPr>
            <p:ph type="title" idx="4294967295"/>
          </p:nvPr>
        </p:nvSpPr>
        <p:spPr>
          <a:xfrm>
            <a:off x="365760" y="539496"/>
            <a:ext cx="8412480" cy="420624"/>
          </a:xfrm>
        </p:spPr>
        <p:txBody>
          <a:bodyPr wrap="none" lIns="0" tIns="0" rIns="0" bIns="0">
            <a:normAutofit/>
          </a:bodyPr>
          <a:lstStyle/>
          <a:p>
            <a:r>
              <a:rPr lang="en-US" sz="1800" b="1" cap="none" dirty="0">
                <a:solidFill>
                  <a:srgbClr val="142C46"/>
                </a:solidFill>
                <a:latin typeface="Arial"/>
              </a:rPr>
              <a:t>What is KAITO </a:t>
            </a:r>
            <a:r>
              <a:rPr lang="en-US" sz="1800" b="1" dirty="0">
                <a:solidFill>
                  <a:srgbClr val="142C46"/>
                </a:solidFill>
                <a:latin typeface="Arial"/>
              </a:rPr>
              <a:t>(Kubernetes AI Toolchain Operator)</a:t>
            </a:r>
            <a:r>
              <a:rPr lang="en-US" sz="1800" b="1" cap="none" dirty="0">
                <a:solidFill>
                  <a:srgbClr val="142C46"/>
                </a:solidFill>
                <a:latin typeface="Arial"/>
              </a:rPr>
              <a:t>?</a:t>
            </a:r>
          </a:p>
        </p:txBody>
      </p:sp>
      <p:pic>
        <p:nvPicPr>
          <p:cNvPr id="4" name="Picture 3" descr="KAITO architecture">
            <a:extLst>
              <a:ext uri="{FF2B5EF4-FFF2-40B4-BE49-F238E27FC236}">
                <a16:creationId xmlns:a16="http://schemas.microsoft.com/office/drawing/2014/main" id="{5B1CC189-03AF-A169-CA62-02B380D43C23}"/>
              </a:ext>
            </a:extLst>
          </p:cNvPr>
          <p:cNvPicPr>
            <a:picLocks noChangeAspect="1"/>
          </p:cNvPicPr>
          <p:nvPr/>
        </p:nvPicPr>
        <p:blipFill>
          <a:blip r:embed="rId3"/>
          <a:stretch>
            <a:fillRect/>
          </a:stretch>
        </p:blipFill>
        <p:spPr>
          <a:xfrm>
            <a:off x="666749" y="1579675"/>
            <a:ext cx="5455961" cy="2890200"/>
          </a:xfrm>
          <a:prstGeom prst="rect">
            <a:avLst/>
          </a:prstGeom>
        </p:spPr>
      </p:pic>
      <p:sp>
        <p:nvSpPr>
          <p:cNvPr id="10" name="TextBox Subtitle"/>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KAITO automates LLM inference, fine-tuning and RAG with Kubernetes operators.</a:t>
            </a:r>
          </a:p>
        </p:txBody>
      </p:sp>
      <p:sp>
        <p:nvSpPr>
          <p:cNvPr id="11" name="Key Differentiators"/>
          <p:cNvSpPr/>
          <p:nvPr/>
        </p:nvSpPr>
        <p:spPr>
          <a:xfrm>
            <a:off x="5885848" y="2184839"/>
            <a:ext cx="3407344" cy="2285036"/>
          </a:xfrm>
          <a:prstGeom prst="roundRect">
            <a:avLst/>
          </a:prstGeom>
          <a:solidFill>
            <a:schemeClr val="bg1">
              <a:lumMod val="95000"/>
            </a:schemeClr>
          </a:solidFill>
          <a:ln w="12700">
            <a:solidFill>
              <a:schemeClr val="accent2"/>
            </a:solidFill>
          </a:ln>
        </p:spPr>
        <p:txBody>
          <a:bodyPr rtlCol="0" anchor="t">
            <a:normAutofit/>
          </a:bodyPr>
          <a:lstStyle/>
          <a:p>
            <a:r>
              <a:rPr lang="en-US" sz="1300" b="1" cap="none" dirty="0">
                <a:solidFill>
                  <a:srgbClr val="142C46"/>
                </a:solidFill>
                <a:latin typeface="Arial"/>
              </a:rPr>
              <a:t>Specify a model name and GPU SKU</a:t>
            </a:r>
          </a:p>
          <a:p>
            <a:pPr marL="285750" indent="-285750">
              <a:buFont typeface="Arial" panose="020B0604020202020204" pitchFamily="34" charset="0"/>
              <a:buChar char="•"/>
            </a:pPr>
            <a:r>
              <a:rPr lang="en-US" sz="1300" dirty="0">
                <a:solidFill>
                  <a:srgbClr val="142C46"/>
                </a:solidFill>
              </a:rPr>
              <a:t>sizes the nodes to fit the model’s memory requirements</a:t>
            </a:r>
          </a:p>
          <a:p>
            <a:pPr marL="285750" indent="-285750">
              <a:buFont typeface="Arial" panose="020B0604020202020204" pitchFamily="34" charset="0"/>
              <a:buChar char="•"/>
            </a:pPr>
            <a:r>
              <a:rPr lang="en-US" sz="1300" dirty="0">
                <a:solidFill>
                  <a:srgbClr val="142C46"/>
                </a:solidFill>
              </a:rPr>
              <a:t>handles model setup and caching</a:t>
            </a:r>
          </a:p>
          <a:p>
            <a:pPr marL="285750" indent="-285750">
              <a:buFont typeface="Arial" panose="020B0604020202020204" pitchFamily="34" charset="0"/>
              <a:buChar char="•"/>
            </a:pPr>
            <a:r>
              <a:rPr lang="en-US" sz="1300" dirty="0">
                <a:solidFill>
                  <a:srgbClr val="142C46"/>
                </a:solidFill>
              </a:rPr>
              <a:t>manages inference workloads and rolling updates on Kubernetes</a:t>
            </a:r>
          </a:p>
          <a:p>
            <a:pPr marL="285750" indent="-285750">
              <a:buFont typeface="Arial" panose="020B0604020202020204" pitchFamily="34" charset="0"/>
              <a:buChar char="•"/>
            </a:pPr>
            <a:r>
              <a:rPr lang="en-US" sz="1300" dirty="0">
                <a:solidFill>
                  <a:srgbClr val="142C46"/>
                </a:solidFill>
              </a:rPr>
              <a:t>uses KEDA to automatically scale workloads</a:t>
            </a:r>
            <a:endParaRPr sz="1300" cap="none" dirty="0">
              <a:solidFill>
                <a:srgbClr val="142C46"/>
              </a:solidFill>
              <a:latin typeface="Arial"/>
            </a:endParaRP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B26C1FB-63EB-594A-A3FB-E44458705754}" type="slidenum">
              <a:rPr lang="en-US"/>
              <a:t>18</a:t>
            </a:fld>
            <a:endParaRPr lang="en-US"/>
          </a:p>
        </p:txBody>
      </p:sp>
      <p:sp>
        <p:nvSpPr>
          <p:cNvPr id="14" name="TextBox 13"/>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
        <p:nvSpPr>
          <p:cNvPr id="5" name="TextBox 4">
            <a:extLst>
              <a:ext uri="{FF2B5EF4-FFF2-40B4-BE49-F238E27FC236}">
                <a16:creationId xmlns:a16="http://schemas.microsoft.com/office/drawing/2014/main" id="{6053000E-CF1E-C0D3-11FA-D4E8ED1A7F6C}"/>
              </a:ext>
            </a:extLst>
          </p:cNvPr>
          <p:cNvSpPr txBox="1"/>
          <p:nvPr/>
        </p:nvSpPr>
        <p:spPr>
          <a:xfrm>
            <a:off x="2286000" y="2428494"/>
            <a:ext cx="4572000" cy="288541"/>
          </a:xfrm>
          <a:prstGeom prst="rect">
            <a:avLst/>
          </a:prstGeom>
          <a:noFill/>
        </p:spPr>
        <p:txBody>
          <a:bodyPr wrap="square">
            <a:spAutoFit/>
          </a:bodyPr>
          <a:lstStyle/>
          <a:p>
            <a:r>
              <a:rPr lang="en-US" altLang="zh-CN" sz="1275" cap="none" dirty="0">
                <a:latin typeface="Arial"/>
              </a:rPr>
              <a:t>injection</a:t>
            </a:r>
            <a:endParaRPr lang="zh-CN" altLang="en-US" dirty="0"/>
          </a:p>
        </p:txBody>
      </p:sp>
      <p:sp>
        <p:nvSpPr>
          <p:cNvPr id="7" name="CNCF Sandbox project badge">
            <a:extLst>
              <a:ext uri="{FF2B5EF4-FFF2-40B4-BE49-F238E27FC236}">
                <a16:creationId xmlns:a16="http://schemas.microsoft.com/office/drawing/2014/main" id="{ECBBFB4C-B88F-CC6E-89AE-FE8C9C420F16}"/>
              </a:ext>
            </a:extLst>
          </p:cNvPr>
          <p:cNvSpPr txBox="1"/>
          <p:nvPr/>
        </p:nvSpPr>
        <p:spPr>
          <a:xfrm>
            <a:off x="6537960" y="598932"/>
            <a:ext cx="2148840" cy="27432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dirty="0">
                <a:solidFill>
                  <a:srgbClr val="087F8C"/>
                </a:solidFill>
                <a:latin typeface="Arial"/>
              </a:rPr>
              <a:t>CNCF Sandbox project</a:t>
            </a:r>
          </a:p>
        </p:txBody>
      </p:sp>
    </p:spTree>
    <p:extLst>
      <p:ext uri="{BB962C8B-B14F-4D97-AF65-F5344CB8AC3E}">
        <p14:creationId xmlns:p14="http://schemas.microsoft.com/office/powerpoint/2010/main" val="26212137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1CCD9-1F69-9D7B-F431-AD30EC2D4F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86216-B473-FF36-1629-FC035EACB0F0}"/>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workload example</a:t>
            </a:r>
          </a:p>
        </p:txBody>
      </p:sp>
      <p:sp>
        <p:nvSpPr>
          <p:cNvPr id="10" name="Caption"/>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Specify the model name, GPU instance type and replica count.</a:t>
            </a:r>
          </a:p>
        </p:txBody>
      </p:sp>
      <p:sp>
        <p:nvSpPr>
          <p:cNvPr id="11" name="InferenceSet YAML"/>
          <p:cNvSpPr txBox="1"/>
          <p:nvPr/>
        </p:nvSpPr>
        <p:spPr>
          <a:xfrm>
            <a:off x="457200" y="1400000"/>
            <a:ext cx="8434388" cy="3467275"/>
          </a:xfrm>
          <a:prstGeom prst="rect">
            <a:avLst/>
          </a:prstGeom>
          <a:solidFill>
            <a:schemeClr val="bg1">
              <a:lumMod val="95000"/>
            </a:schemeClr>
          </a:solidFill>
          <a:ln w="9525">
            <a:solidFill>
              <a:srgbClr val="D0D0D0"/>
            </a:solidFill>
          </a:ln>
        </p:spPr>
        <p:txBody>
          <a:bodyPr wrap="square" lIns="91440" tIns="45720" rIns="91440" bIns="45720" rtlCol="0">
            <a:normAutofit lnSpcReduction="10000"/>
          </a:bodyPr>
          <a:lstStyle/>
          <a:p>
            <a:r>
              <a:rPr lang="en-US" sz="1600" cap="none" dirty="0">
                <a:solidFill>
                  <a:srgbClr val="142C46"/>
                </a:solidFill>
                <a:latin typeface="Consolas" panose="020B0609020204030204" pitchFamily="49" charset="0"/>
              </a:rPr>
              <a:t>apiVersion: kaito.sh/v1beta1</a:t>
            </a:r>
            <a:br>
              <a:rPr sz="1800" dirty="0"/>
            </a:br>
            <a:r>
              <a:rPr sz="1600" cap="none" dirty="0">
                <a:solidFill>
                  <a:srgbClr val="142C46"/>
                </a:solidFill>
                <a:latin typeface="Consolas"/>
              </a:rPr>
              <a:t>kind: </a:t>
            </a:r>
            <a:r>
              <a:rPr sz="1600" cap="none" dirty="0" err="1">
                <a:solidFill>
                  <a:srgbClr val="142C46"/>
                </a:solidFill>
                <a:latin typeface="Consolas"/>
              </a:rPr>
              <a:t>InferenceSet</a:t>
            </a:r>
            <a:br>
              <a:rPr sz="1800" dirty="0"/>
            </a:br>
            <a:r>
              <a:rPr sz="1600" cap="none" dirty="0">
                <a:solidFill>
                  <a:srgbClr val="142C46"/>
                </a:solidFill>
                <a:latin typeface="Consolas"/>
              </a:rPr>
              <a:t>metadata:</a:t>
            </a:r>
            <a:br>
              <a:rPr sz="1800" dirty="0"/>
            </a:br>
            <a:r>
              <a:rPr sz="1600" cap="none" dirty="0">
                <a:solidFill>
                  <a:srgbClr val="142C46"/>
                </a:solidFill>
                <a:latin typeface="Consolas"/>
              </a:rPr>
              <a:t>  name: qwen3-coder-30b</a:t>
            </a:r>
            <a:br>
              <a:rPr sz="1800" dirty="0"/>
            </a:br>
            <a:r>
              <a:rPr sz="1600" cap="none" dirty="0">
                <a:solidFill>
                  <a:srgbClr val="142C46"/>
                </a:solidFill>
                <a:latin typeface="Consolas"/>
              </a:rPr>
              <a:t>spec:</a:t>
            </a:r>
            <a:br>
              <a:rPr sz="1800" dirty="0"/>
            </a:br>
            <a:r>
              <a:rPr sz="1600" cap="none" dirty="0">
                <a:solidFill>
                  <a:srgbClr val="142C46"/>
                </a:solidFill>
                <a:latin typeface="Consolas"/>
              </a:rPr>
              <a:t>  replicas: </a:t>
            </a:r>
            <a:r>
              <a:rPr sz="1600" cap="none" dirty="0">
                <a:solidFill>
                  <a:srgbClr val="00B050"/>
                </a:solidFill>
                <a:latin typeface="Consolas"/>
              </a:rPr>
              <a:t>3</a:t>
            </a:r>
            <a:br>
              <a:rPr sz="1800" dirty="0"/>
            </a:br>
            <a:r>
              <a:rPr sz="1600" cap="none" dirty="0">
                <a:solidFill>
                  <a:srgbClr val="142C46"/>
                </a:solidFill>
                <a:latin typeface="Consolas"/>
              </a:rPr>
              <a:t>  </a:t>
            </a:r>
            <a:r>
              <a:rPr sz="1600" cap="none" dirty="0" err="1">
                <a:solidFill>
                  <a:srgbClr val="142C46"/>
                </a:solidFill>
                <a:latin typeface="Consolas"/>
              </a:rPr>
              <a:t>labelSelector</a:t>
            </a:r>
            <a:r>
              <a:rPr sz="1600" cap="none" dirty="0">
                <a:solidFill>
                  <a:srgbClr val="142C46"/>
                </a:solidFill>
                <a:latin typeface="Consolas"/>
              </a:rPr>
              <a:t>:</a:t>
            </a:r>
            <a:br>
              <a:rPr sz="1800" dirty="0"/>
            </a:br>
            <a:r>
              <a:rPr sz="1600" cap="none" dirty="0">
                <a:solidFill>
                  <a:srgbClr val="142C46"/>
                </a:solidFill>
                <a:latin typeface="Consolas"/>
              </a:rPr>
              <a:t>    </a:t>
            </a:r>
            <a:r>
              <a:rPr sz="1600" cap="none" dirty="0" err="1">
                <a:solidFill>
                  <a:srgbClr val="142C46"/>
                </a:solidFill>
                <a:latin typeface="Consolas"/>
              </a:rPr>
              <a:t>matchLabels</a:t>
            </a:r>
            <a:r>
              <a:rPr sz="1600" cap="none" dirty="0">
                <a:solidFill>
                  <a:srgbClr val="142C46"/>
                </a:solidFill>
                <a:latin typeface="Consolas"/>
              </a:rPr>
              <a:t>:</a:t>
            </a:r>
            <a:br>
              <a:rPr sz="1800" dirty="0"/>
            </a:br>
            <a:r>
              <a:rPr sz="1600" cap="none" dirty="0">
                <a:solidFill>
                  <a:srgbClr val="142C46"/>
                </a:solidFill>
                <a:latin typeface="Consolas"/>
              </a:rPr>
              <a:t>      app: qwen3-coder-30b</a:t>
            </a:r>
            <a:br>
              <a:rPr sz="1800" dirty="0"/>
            </a:br>
            <a:r>
              <a:rPr sz="1600" cap="none" dirty="0">
                <a:solidFill>
                  <a:srgbClr val="142C46"/>
                </a:solidFill>
                <a:latin typeface="Consolas"/>
              </a:rPr>
              <a:t>  template:</a:t>
            </a:r>
            <a:br>
              <a:rPr sz="1800" dirty="0"/>
            </a:br>
            <a:r>
              <a:rPr sz="1600" cap="none" dirty="0">
                <a:solidFill>
                  <a:srgbClr val="142C46"/>
                </a:solidFill>
                <a:latin typeface="Consolas"/>
              </a:rPr>
              <a:t>    resource:</a:t>
            </a:r>
            <a:br>
              <a:rPr sz="1800" dirty="0"/>
            </a:br>
            <a:r>
              <a:rPr sz="1600" cap="none" dirty="0">
                <a:solidFill>
                  <a:srgbClr val="142C46"/>
                </a:solidFill>
                <a:latin typeface="Consolas"/>
              </a:rPr>
              <a:t>      </a:t>
            </a:r>
            <a:r>
              <a:rPr sz="1600" cap="none" dirty="0" err="1">
                <a:solidFill>
                  <a:srgbClr val="142C46"/>
                </a:solidFill>
                <a:latin typeface="Consolas"/>
              </a:rPr>
              <a:t>instanceType</a:t>
            </a:r>
            <a:r>
              <a:rPr sz="1600" cap="none" dirty="0">
                <a:solidFill>
                  <a:srgbClr val="142C46"/>
                </a:solidFill>
                <a:latin typeface="Consolas"/>
              </a:rPr>
              <a:t>: </a:t>
            </a:r>
            <a:r>
              <a:rPr sz="1600" b="1" cap="none" dirty="0">
                <a:solidFill>
                  <a:srgbClr val="00B050"/>
                </a:solidFill>
                <a:latin typeface="Consolas"/>
              </a:rPr>
              <a:t>Standard_NC24ads_A100_v4</a:t>
            </a:r>
            <a:r>
              <a:rPr sz="1600" cap="none" dirty="0">
                <a:solidFill>
                  <a:srgbClr val="142C46"/>
                </a:solidFill>
                <a:latin typeface="Consolas"/>
              </a:rPr>
              <a:t>   # &lt;- GPU SKU</a:t>
            </a:r>
            <a:br>
              <a:rPr sz="1800" dirty="0"/>
            </a:br>
            <a:r>
              <a:rPr sz="1600" cap="none" dirty="0">
                <a:solidFill>
                  <a:srgbClr val="142C46"/>
                </a:solidFill>
                <a:latin typeface="Consolas"/>
              </a:rPr>
              <a:t>    inference:</a:t>
            </a:r>
            <a:br>
              <a:rPr sz="1800" dirty="0"/>
            </a:br>
            <a:r>
              <a:rPr sz="1600" cap="none" dirty="0">
                <a:solidFill>
                  <a:srgbClr val="142C46"/>
                </a:solidFill>
                <a:latin typeface="Consolas"/>
              </a:rPr>
              <a:t>      preset:</a:t>
            </a:r>
            <a:br>
              <a:rPr sz="1800" dirty="0"/>
            </a:br>
            <a:r>
              <a:rPr sz="1600" cap="none" dirty="0">
                <a:solidFill>
                  <a:srgbClr val="142C46"/>
                </a:solidFill>
                <a:latin typeface="Consolas"/>
              </a:rPr>
              <a:t>        name: </a:t>
            </a:r>
            <a:r>
              <a:rPr sz="1600" b="1" dirty="0">
                <a:solidFill>
                  <a:srgbClr val="00B050"/>
                </a:solidFill>
                <a:latin typeface="Consolas"/>
              </a:rPr>
              <a:t>Qwen/Qwen3-Coder-30B-A3B-Instruct  </a:t>
            </a:r>
            <a:r>
              <a:rPr sz="1600" cap="none" dirty="0">
                <a:solidFill>
                  <a:srgbClr val="142C46"/>
                </a:solidFill>
                <a:latin typeface="Consolas"/>
              </a:rPr>
              <a:t># </a:t>
            </a:r>
            <a:r>
              <a:rPr lang="en-US" sz="1600" b="1" cap="none" dirty="0" err="1">
                <a:solidFill>
                  <a:srgbClr val="142C46"/>
                </a:solidFill>
                <a:latin typeface="Consolas"/>
              </a:rPr>
              <a:t>huggingface</a:t>
            </a:r>
            <a:r>
              <a:rPr lang="en-US" sz="1600" cap="none" dirty="0">
                <a:solidFill>
                  <a:srgbClr val="142C46"/>
                </a:solidFill>
                <a:latin typeface="Consolas"/>
              </a:rPr>
              <a:t> </a:t>
            </a:r>
            <a:r>
              <a:rPr sz="1600" cap="none" dirty="0">
                <a:solidFill>
                  <a:srgbClr val="142C46"/>
                </a:solidFill>
                <a:latin typeface="Consolas"/>
              </a:rPr>
              <a:t>model</a:t>
            </a:r>
            <a:r>
              <a:rPr lang="en-US" sz="1600" cap="none" dirty="0">
                <a:solidFill>
                  <a:srgbClr val="142C46"/>
                </a:solidFill>
                <a:latin typeface="Consolas"/>
              </a:rPr>
              <a:t> ID</a:t>
            </a:r>
            <a:endParaRPr sz="1600" cap="none" dirty="0">
              <a:solidFill>
                <a:srgbClr val="142C46"/>
              </a:solidFill>
              <a:latin typeface="Consolas"/>
            </a:endParaRP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9D51930-7DCB-554E-97B0-66A030D60AD4}" type="slidenum">
              <a:rPr lang="en-US"/>
              <a:t>19</a:t>
            </a:fld>
            <a:endParaRPr lang="en-US"/>
          </a:p>
        </p:txBody>
      </p:sp>
      <p:sp>
        <p:nvSpPr>
          <p:cNvPr id="1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dirty="0">
                <a:solidFill>
                  <a:srgbClr val="346CEC"/>
                </a:solidFill>
                <a:latin typeface="Arial"/>
              </a:rPr>
              <a:t>03 / </a:t>
            </a:r>
            <a:r>
              <a:rPr sz="750" b="1" dirty="0" err="1">
                <a:solidFill>
                  <a:srgbClr val="346CEC"/>
                </a:solidFill>
                <a:latin typeface="Arial"/>
              </a:rPr>
              <a:t>llm</a:t>
            </a:r>
            <a:r>
              <a:rPr sz="750" b="1" dirty="0">
                <a:solidFill>
                  <a:srgbClr val="346CEC"/>
                </a:solidFill>
                <a:latin typeface="Arial"/>
              </a:rPr>
              <a:t>-d and KAITO — </a:t>
            </a:r>
            <a:r>
              <a:rPr lang="en-US" sz="750" b="1" dirty="0">
                <a:solidFill>
                  <a:srgbClr val="346CEC"/>
                </a:solidFill>
                <a:latin typeface="Arial"/>
              </a:rPr>
              <a:t>inference </a:t>
            </a:r>
            <a:r>
              <a:rPr sz="750" b="1" dirty="0">
                <a:solidFill>
                  <a:srgbClr val="346CEC"/>
                </a:solidFill>
                <a:latin typeface="Arial"/>
              </a:rPr>
              <a:t>workload example</a:t>
            </a:r>
          </a:p>
        </p:txBody>
      </p:sp>
    </p:spTree>
    <p:extLst>
      <p:ext uri="{BB962C8B-B14F-4D97-AF65-F5344CB8AC3E}">
        <p14:creationId xmlns:p14="http://schemas.microsoft.com/office/powerpoint/2010/main" val="17304667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539496"/>
            <a:ext cx="8229600" cy="420624"/>
          </a:xfrm>
          <a:prstGeom prst="rect">
            <a:avLst/>
          </a:prstGeom>
          <a:noFill/>
        </p:spPr>
        <p:txBody>
          <a:bodyPr wrap="square" lIns="91440" tIns="45720" rIns="91440" bIns="45720" rtlCol="0">
            <a:normAutofit lnSpcReduction="10000"/>
          </a:bodyPr>
          <a:lstStyle/>
          <a:p>
            <a:r>
              <a:rPr lang="en-US" sz="2400" b="1" dirty="0"/>
              <a:t>KAITO works out the initial GPU node count</a:t>
            </a:r>
          </a:p>
        </p:txBody>
      </p:sp>
      <p:sp>
        <p:nvSpPr>
          <p:cNvPr id="3" name="Caption"/>
          <p:cNvSpPr txBox="1"/>
          <p:nvPr/>
        </p:nvSpPr>
        <p:spPr>
          <a:xfrm>
            <a:off x="457200" y="1000000"/>
            <a:ext cx="8229600" cy="420000"/>
          </a:xfrm>
          <a:prstGeom prst="rect">
            <a:avLst/>
          </a:prstGeom>
          <a:noFill/>
        </p:spPr>
        <p:txBody>
          <a:bodyPr wrap="square" lIns="91440" tIns="45720" rIns="91440" bIns="45720" rtlCol="0">
            <a:normAutofit/>
          </a:bodyPr>
          <a:lstStyle/>
          <a:p>
            <a:r>
              <a:rPr lang="en-US" b="1" dirty="0">
                <a:solidFill>
                  <a:schemeClr val="accent2">
                    <a:lumMod val="75000"/>
                  </a:schemeClr>
                </a:solidFill>
              </a:rPr>
              <a:t>Specify a model name and GPU SKU</a:t>
            </a:r>
            <a:r>
              <a:rPr lang="en-US" sz="1400" b="1" dirty="0">
                <a:solidFill>
                  <a:schemeClr val="accent2">
                    <a:lumMod val="75000"/>
                  </a:schemeClr>
                </a:solidFill>
              </a:rPr>
              <a:t>. KAITO estimates how many nodes the model needs.</a:t>
            </a:r>
          </a:p>
        </p:txBody>
      </p:sp>
      <p:sp>
        <p:nvSpPr>
          <p:cNvPr id="4" name="Inputs"/>
          <p:cNvSpPr txBox="1"/>
          <p:nvPr/>
        </p:nvSpPr>
        <p:spPr>
          <a:xfrm>
            <a:off x="457200" y="1470000"/>
            <a:ext cx="8229600" cy="420000"/>
          </a:xfrm>
          <a:prstGeom prst="rect">
            <a:avLst/>
          </a:prstGeom>
          <a:noFill/>
        </p:spPr>
        <p:txBody>
          <a:bodyPr wrap="square" lIns="91440" tIns="45720" rIns="91440" bIns="45720" rtlCol="0">
            <a:normAutofit/>
          </a:bodyPr>
          <a:lstStyle/>
          <a:p>
            <a:r>
              <a:rPr lang="en-US" sz="1200" dirty="0"/>
              <a:t>KAITO reserves memory for overhead and KV cache, then fits the weights into the remaining GPU memory.</a:t>
            </a:r>
          </a:p>
        </p:txBody>
      </p:sp>
      <p:sp>
        <p:nvSpPr>
          <p:cNvPr id="5" name="Formula"/>
          <p:cNvSpPr txBox="1"/>
          <p:nvPr/>
        </p:nvSpPr>
        <p:spPr>
          <a:xfrm>
            <a:off x="457200" y="1979999"/>
            <a:ext cx="8567766" cy="1899437"/>
          </a:xfrm>
          <a:prstGeom prst="rect">
            <a:avLst/>
          </a:prstGeom>
          <a:solidFill>
            <a:srgbClr val="F5F5F5"/>
          </a:solidFill>
          <a:ln w="9525">
            <a:solidFill>
              <a:srgbClr val="D0D0D0"/>
            </a:solidFill>
          </a:ln>
        </p:spPr>
        <p:txBody>
          <a:bodyPr wrap="square" lIns="91440" tIns="45720" rIns="91440" bIns="45720" rtlCol="0">
            <a:normAutofit/>
          </a:bodyPr>
          <a:lstStyle/>
          <a:p>
            <a:r>
              <a:rPr lang="en-US" sz="1600" dirty="0">
                <a:latin typeface="Consolas" panose="020B0609020204030204" pitchFamily="49" charset="0"/>
              </a:rPr>
              <a:t>per-GPU budget = GPU memory  ×  0.84            (vLLM memory utilization)</a:t>
            </a:r>
          </a:p>
          <a:p>
            <a:r>
              <a:rPr lang="en-US" sz="1600" dirty="0">
                <a:latin typeface="Consolas" panose="020B0609020204030204" pitchFamily="49" charset="0"/>
              </a:rPr>
              <a:t>               −  ~2.3 GiB   fixed overhead</a:t>
            </a:r>
          </a:p>
          <a:p>
            <a:r>
              <a:rPr lang="en-US" sz="1600" dirty="0">
                <a:latin typeface="Consolas" panose="020B0609020204030204" pitchFamily="49" charset="0"/>
              </a:rPr>
              <a:t>               −  KV cache   ( max-model-len × bytes-per-token )</a:t>
            </a:r>
          </a:p>
          <a:p>
            <a:r>
              <a:rPr lang="en-US" sz="1600" dirty="0">
                <a:latin typeface="Consolas" panose="020B0609020204030204" pitchFamily="49" charset="0"/>
              </a:rPr>
              <a:t> </a:t>
            </a:r>
          </a:p>
          <a:p>
            <a:r>
              <a:rPr lang="en-US" sz="1600" dirty="0">
                <a:latin typeface="Consolas" panose="020B0609020204030204" pitchFamily="49" charset="0"/>
              </a:rPr>
              <a:t>min GPUs    = ceil( model weights  ÷  per-GPU budget )   (weights × 1.02)</a:t>
            </a:r>
          </a:p>
          <a:p>
            <a:r>
              <a:rPr lang="en-US" sz="1600" dirty="0">
                <a:latin typeface="Consolas" panose="020B0609020204030204" pitchFamily="49" charset="0"/>
              </a:rPr>
              <a:t>node count  = ceil( min GPUs  ÷  GPUs-per-node )</a:t>
            </a:r>
          </a:p>
        </p:txBody>
      </p:sp>
      <p:sp>
        <p:nvSpPr>
          <p:cNvPr id="6" name="Result"/>
          <p:cNvSpPr txBox="1"/>
          <p:nvPr/>
        </p:nvSpPr>
        <p:spPr>
          <a:xfrm>
            <a:off x="457200" y="3980000"/>
            <a:ext cx="8229600" cy="900000"/>
          </a:xfrm>
          <a:prstGeom prst="rect">
            <a:avLst/>
          </a:prstGeom>
          <a:noFill/>
        </p:spPr>
        <p:txBody>
          <a:bodyPr wrap="square" lIns="91440" tIns="45720" rIns="91440" bIns="45720" rtlCol="0">
            <a:normAutofit/>
          </a:bodyPr>
          <a:lstStyle/>
          <a:p>
            <a:r>
              <a:rPr lang="en-US" sz="1200" b="1" dirty="0"/>
              <a:t>Save the result as status.targetNodeCount.</a:t>
            </a:r>
          </a:p>
          <a:p>
            <a:r>
              <a:rPr lang="en-US" sz="1200" dirty="0"/>
              <a:t>This path uses tensor parallelism within nodes and pipeline parallelism across nodes. It sizes memory, not traffic capacity.</a:t>
            </a:r>
          </a:p>
        </p:txBody>
      </p:sp>
      <p:sp>
        <p:nvSpPr>
          <p:cNvPr id="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GPU node sizing</a:t>
            </a:r>
          </a:p>
        </p:txBody>
      </p:sp>
      <p:sp>
        <p:nvSpPr>
          <p:cNvPr id="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E9836E9-72EC-5255-94D6-C8ED7AE999CF}" type="slidenum">
              <a:rPr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integration rationale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Why bring llm-d into KAITO?</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We want P/D routing without replacing KAITO’s Kubernetes operating model.</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KAITO manages deployment and lifecycle. llm-d adds endpoint selection and request routing.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2"/>
            <a:ext cx="2276856"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KAITO</a:t>
            </a:r>
          </a:p>
        </p:txBody>
      </p:sp>
      <p:sp>
        <p:nvSpPr>
          <p:cNvPr id="13" name="TextBox 12"/>
          <p:cNvSpPr txBox="1"/>
          <p:nvPr/>
        </p:nvSpPr>
        <p:spPr>
          <a:xfrm>
            <a:off x="486918"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MRI → child InferenceSets</a:t>
            </a:r>
          </a:p>
        </p:txBody>
      </p:sp>
      <p:sp>
        <p:nvSpPr>
          <p:cNvPr id="14" name="Rounded Rectangle 13"/>
          <p:cNvSpPr/>
          <p:nvPr/>
        </p:nvSpPr>
        <p:spPr>
          <a:xfrm>
            <a:off x="3332988"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32988" y="1549908"/>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35858" y="1570482"/>
            <a:ext cx="2276856" cy="263149"/>
          </a:xfrm>
          <a:prstGeom prst="rect">
            <a:avLst/>
          </a:prstGeom>
          <a:noFill/>
        </p:spPr>
        <p:txBody>
          <a:bodyPr wrap="square" lIns="10287" tIns="10287" rIns="10287" bIns="10287">
            <a:spAutoFit/>
          </a:bodyPr>
          <a:lstStyle/>
          <a:p>
            <a:pPr algn="ctr">
              <a:spcAft>
                <a:spcPts val="375"/>
              </a:spcAft>
              <a:defRPr sz="2100" b="1">
                <a:solidFill>
                  <a:srgbClr val="087F8C"/>
                </a:solidFill>
                <a:latin typeface="Arial"/>
              </a:defRPr>
            </a:pPr>
            <a:r>
              <a:rPr sz="1575" cap="none">
                <a:latin typeface="Arial"/>
              </a:rPr>
              <a:t>llm-d</a:t>
            </a:r>
          </a:p>
        </p:txBody>
      </p:sp>
      <p:sp>
        <p:nvSpPr>
          <p:cNvPr id="17" name="TextBox 16"/>
          <p:cNvSpPr txBox="1"/>
          <p:nvPr/>
        </p:nvSpPr>
        <p:spPr>
          <a:xfrm>
            <a:off x="3442716"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decode routing sidecar</a:t>
            </a:r>
          </a:p>
        </p:txBody>
      </p:sp>
      <p:sp>
        <p:nvSpPr>
          <p:cNvPr id="18" name="Rounded Rectangle 17"/>
          <p:cNvSpPr/>
          <p:nvPr/>
        </p:nvSpPr>
        <p:spPr>
          <a:xfrm>
            <a:off x="6288786" y="1481328"/>
            <a:ext cx="247573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288786" y="1549908"/>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391656" y="1570482"/>
            <a:ext cx="2269998" cy="263149"/>
          </a:xfrm>
          <a:prstGeom prst="rect">
            <a:avLst/>
          </a:prstGeom>
          <a:noFill/>
        </p:spPr>
        <p:txBody>
          <a:bodyPr wrap="square" lIns="10287" tIns="10287" rIns="10287" bIns="10287">
            <a:spAutoFit/>
          </a:bodyPr>
          <a:lstStyle/>
          <a:p>
            <a:pPr algn="ctr">
              <a:spcAft>
                <a:spcPts val="375"/>
              </a:spcAft>
              <a:defRPr sz="2100" b="1">
                <a:solidFill>
                  <a:srgbClr val="7354B8"/>
                </a:solidFill>
                <a:latin typeface="Arial"/>
              </a:defRPr>
            </a:pPr>
            <a:r>
              <a:rPr sz="1575" cap="none">
                <a:latin typeface="Arial"/>
              </a:rPr>
              <a:t>vLLM + NIXL</a:t>
            </a:r>
          </a:p>
        </p:txBody>
      </p:sp>
      <p:sp>
        <p:nvSpPr>
          <p:cNvPr id="21" name="TextBox 20"/>
          <p:cNvSpPr txBox="1"/>
          <p:nvPr/>
        </p:nvSpPr>
        <p:spPr>
          <a:xfrm>
            <a:off x="6398514" y="1899667"/>
            <a:ext cx="225628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vLLM runs; NIXL moves KV</a:t>
            </a:r>
          </a:p>
        </p:txBody>
      </p:sp>
      <p:sp>
        <p:nvSpPr>
          <p:cNvPr id="22" name="TextBox 21"/>
          <p:cNvSpPr txBox="1"/>
          <p:nvPr/>
        </p:nvSpPr>
        <p:spPr>
          <a:xfrm>
            <a:off x="2907792"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3" name="TextBox 22"/>
          <p:cNvSpPr txBox="1"/>
          <p:nvPr/>
        </p:nvSpPr>
        <p:spPr>
          <a:xfrm>
            <a:off x="5863590"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4" name="Rounded Rectangle 23"/>
          <p:cNvSpPr/>
          <p:nvPr/>
        </p:nvSpPr>
        <p:spPr>
          <a:xfrm>
            <a:off x="377190"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500634" y="259232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14350" y="272948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Reuse the API model</a:t>
            </a:r>
          </a:p>
        </p:txBody>
      </p:sp>
      <p:sp>
        <p:nvSpPr>
          <p:cNvPr id="27" name="TextBox 26"/>
          <p:cNvSpPr txBox="1"/>
          <p:nvPr/>
        </p:nvSpPr>
        <p:spPr>
          <a:xfrm>
            <a:off x="514350"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Keep Workspace and InferenceSet.</a:t>
            </a:r>
          </a:p>
          <a:p>
            <a:pPr>
              <a:spcAft>
                <a:spcPts val="375"/>
              </a:spcAft>
              <a:defRPr sz="1400" b="0">
                <a:solidFill>
                  <a:srgbClr val="172941"/>
                </a:solidFill>
                <a:latin typeface="Arial"/>
              </a:defRPr>
            </a:pPr>
            <a:r>
              <a:rPr sz="1050" cap="none">
                <a:latin typeface="Arial"/>
              </a:rPr>
              <a:t>Give each role its own replicas,</a:t>
            </a:r>
          </a:p>
          <a:p>
            <a:pPr>
              <a:spcAft>
                <a:spcPts val="375"/>
              </a:spcAft>
              <a:defRPr sz="1400" b="0">
                <a:solidFill>
                  <a:srgbClr val="172941"/>
                </a:solidFill>
                <a:latin typeface="Arial"/>
              </a:defRPr>
            </a:pPr>
            <a:r>
              <a:rPr sz="1050" cap="none">
                <a:latin typeface="Arial"/>
              </a:rPr>
              <a:t>GPU types and runtime settings.</a:t>
            </a:r>
          </a:p>
        </p:txBody>
      </p:sp>
      <p:sp>
        <p:nvSpPr>
          <p:cNvPr id="28" name="Rounded Rectangle 27"/>
          <p:cNvSpPr/>
          <p:nvPr/>
        </p:nvSpPr>
        <p:spPr>
          <a:xfrm>
            <a:off x="3216402"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39845" y="2592324"/>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353562" y="272948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Integrate, do not rebuild</a:t>
            </a:r>
          </a:p>
        </p:txBody>
      </p:sp>
      <p:sp>
        <p:nvSpPr>
          <p:cNvPr id="31" name="TextBox 30"/>
          <p:cNvSpPr txBox="1"/>
          <p:nvPr/>
        </p:nvSpPr>
        <p:spPr>
          <a:xfrm>
            <a:off x="3353562"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Reuse llm-d’s P/D routing.</a:t>
            </a:r>
          </a:p>
          <a:p>
            <a:pPr>
              <a:spcAft>
                <a:spcPts val="375"/>
              </a:spcAft>
              <a:defRPr sz="1400" b="0">
                <a:solidFill>
                  <a:srgbClr val="172941"/>
                </a:solidFill>
                <a:latin typeface="Arial"/>
              </a:defRPr>
            </a:pPr>
            <a:r>
              <a:rPr sz="1050" cap="none">
                <a:latin typeface="Arial"/>
              </a:rPr>
              <a:t>KAITO connects the sidecars,</a:t>
            </a:r>
          </a:p>
          <a:p>
            <a:pPr>
              <a:spcAft>
                <a:spcPts val="375"/>
              </a:spcAft>
              <a:defRPr sz="1400" b="0">
                <a:solidFill>
                  <a:srgbClr val="172941"/>
                </a:solidFill>
                <a:latin typeface="Arial"/>
              </a:defRPr>
            </a:pPr>
            <a:r>
              <a:rPr sz="1050" cap="none">
                <a:latin typeface="Arial"/>
              </a:rPr>
              <a:t>ports and InferencePool.</a:t>
            </a:r>
          </a:p>
        </p:txBody>
      </p:sp>
      <p:sp>
        <p:nvSpPr>
          <p:cNvPr id="32" name="Rounded Rectangle 31"/>
          <p:cNvSpPr/>
          <p:nvPr/>
        </p:nvSpPr>
        <p:spPr>
          <a:xfrm>
            <a:off x="6055614"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179058" y="2592324"/>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92773" y="272948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Clear ownership</a:t>
            </a:r>
          </a:p>
        </p:txBody>
      </p:sp>
      <p:sp>
        <p:nvSpPr>
          <p:cNvPr id="35" name="TextBox 34"/>
          <p:cNvSpPr txBox="1"/>
          <p:nvPr/>
        </p:nvSpPr>
        <p:spPr>
          <a:xfrm>
            <a:off x="6192773"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Use Gateway API and InferencePool.</a:t>
            </a:r>
          </a:p>
          <a:p>
            <a:pPr>
              <a:spcAft>
                <a:spcPts val="375"/>
              </a:spcAft>
              <a:defRPr sz="1400" b="0">
                <a:solidFill>
                  <a:srgbClr val="172941"/>
                </a:solidFill>
                <a:latin typeface="Arial"/>
              </a:defRPr>
            </a:pPr>
            <a:r>
              <a:rPr sz="1050" cap="none">
                <a:latin typeface="Arial"/>
              </a:rPr>
              <a:t>Keep routing plugins upstream,</a:t>
            </a:r>
          </a:p>
          <a:p>
            <a:pPr>
              <a:spcAft>
                <a:spcPts val="375"/>
              </a:spcAft>
              <a:defRPr sz="1400" b="0">
                <a:solidFill>
                  <a:srgbClr val="172941"/>
                </a:solidFill>
                <a:latin typeface="Arial"/>
              </a:defRPr>
            </a:pPr>
            <a:r>
              <a:rPr sz="1050" cap="none">
                <a:latin typeface="Arial"/>
              </a:rPr>
              <a:t>not in a second KAITO router.</a:t>
            </a:r>
          </a:p>
        </p:txBody>
      </p:sp>
      <p:sp>
        <p:nvSpPr>
          <p:cNvPr id="36" name="TextBox 35"/>
          <p:cNvSpPr txBox="1"/>
          <p:nvPr/>
        </p:nvSpPr>
        <p:spPr>
          <a:xfrm>
            <a:off x="397764" y="3963924"/>
            <a:ext cx="8332470" cy="170816"/>
          </a:xfrm>
          <a:prstGeom prst="rect">
            <a:avLst/>
          </a:prstGeom>
          <a:noFill/>
        </p:spPr>
        <p:txBody>
          <a:bodyPr wrap="square" lIns="10287" tIns="10287" rIns="10287" bIns="10287">
            <a:spAutoFit/>
          </a:bodyPr>
          <a:lstStyle/>
          <a:p>
            <a:pPr>
              <a:spcAft>
                <a:spcPts val="375"/>
              </a:spcAft>
              <a:defRPr sz="1300" b="0">
                <a:solidFill>
                  <a:srgbClr val="586A80"/>
                </a:solidFill>
                <a:latin typeface="Arial"/>
              </a:defRPr>
            </a:pPr>
            <a:r>
              <a:rPr sz="975" cap="none">
                <a:latin typeface="Arial"/>
              </a:rPr>
              <a:t>MultiRoleInference (MRI) is alpha: vLLM + Istio + GPU connectivity. Per-role autoscaling still needs integration.</a:t>
            </a:r>
          </a:p>
        </p:txBody>
      </p:sp>
      <p:sp>
        <p:nvSpPr>
          <p:cNvPr id="37" name="TextBox 3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2F19952-092E-53EE-BF11-96488629C97D}" type="slidenum">
              <a:rPr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a:t>Where </a:t>
            </a:r>
            <a:r>
              <a:rPr b="1" cap="none" dirty="0">
                <a:solidFill>
                  <a:srgbClr val="346CEC"/>
                </a:solidFill>
              </a:rPr>
              <a:t>KAITO</a:t>
            </a:r>
            <a:r>
              <a:rPr cap="none" dirty="0"/>
              <a:t> and </a:t>
            </a:r>
            <a:r>
              <a:rPr b="1" cap="none" dirty="0" err="1">
                <a:solidFill>
                  <a:srgbClr val="168C96"/>
                </a:solidFill>
              </a:rPr>
              <a:t>llm</a:t>
            </a:r>
            <a:r>
              <a:rPr b="1" cap="none" dirty="0">
                <a:solidFill>
                  <a:srgbClr val="168C96"/>
                </a:solidFill>
              </a:rPr>
              <a:t>-d</a:t>
            </a:r>
            <a:r>
              <a:rPr cap="none" dirty="0"/>
              <a:t> fit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This is a map of responsibilities, not a required installation checklist.</a:t>
            </a:r>
          </a:p>
        </p:txBody>
      </p:sp>
      <p:sp>
        <p:nvSpPr>
          <p:cNvPr id="4" name="Rounded Rectangle 3"/>
          <p:cNvSpPr/>
          <p:nvPr/>
        </p:nvSpPr>
        <p:spPr>
          <a:xfrm>
            <a:off x="457200" y="150876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57276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Applications</a:t>
            </a:r>
          </a:p>
        </p:txBody>
      </p:sp>
      <p:sp>
        <p:nvSpPr>
          <p:cNvPr id="6" name="TextBox 5"/>
          <p:cNvSpPr txBox="1"/>
          <p:nvPr/>
        </p:nvSpPr>
        <p:spPr>
          <a:xfrm>
            <a:off x="2633472" y="157276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Applications call the inference API.</a:t>
            </a:r>
          </a:p>
        </p:txBody>
      </p:sp>
      <p:sp>
        <p:nvSpPr>
          <p:cNvPr id="7" name="Rounded Rectangle 6"/>
          <p:cNvSpPr/>
          <p:nvPr/>
        </p:nvSpPr>
        <p:spPr>
          <a:xfrm>
            <a:off x="457200" y="1947672"/>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2011679"/>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Gateway</a:t>
            </a:r>
          </a:p>
        </p:txBody>
      </p:sp>
      <p:sp>
        <p:nvSpPr>
          <p:cNvPr id="9" name="TextBox 8"/>
          <p:cNvSpPr txBox="1"/>
          <p:nvPr/>
        </p:nvSpPr>
        <p:spPr>
          <a:xfrm>
            <a:off x="2633472" y="2011679"/>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The gateway handles ingress, auth and traffic policy.</a:t>
            </a:r>
          </a:p>
        </p:txBody>
      </p:sp>
      <p:sp>
        <p:nvSpPr>
          <p:cNvPr id="10" name="Rounded Rectangle 9"/>
          <p:cNvSpPr/>
          <p:nvPr/>
        </p:nvSpPr>
        <p:spPr>
          <a:xfrm>
            <a:off x="457200" y="2386584"/>
            <a:ext cx="8229600" cy="365760"/>
          </a:xfrm>
          <a:prstGeom prst="roundRect">
            <a:avLst/>
          </a:prstGeom>
          <a:solidFill>
            <a:srgbClr val="E9EF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2450591"/>
            <a:ext cx="1874519" cy="200055"/>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dirty="0"/>
              <a:t>Orchestration</a:t>
            </a:r>
          </a:p>
        </p:txBody>
      </p:sp>
      <p:sp>
        <p:nvSpPr>
          <p:cNvPr id="12" name="TextBox 11"/>
          <p:cNvSpPr txBox="1"/>
          <p:nvPr/>
        </p:nvSpPr>
        <p:spPr>
          <a:xfrm>
            <a:off x="2633472" y="2450591"/>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b="1" cap="none" dirty="0">
                <a:solidFill>
                  <a:srgbClr val="346CEC"/>
                </a:solidFill>
              </a:rPr>
              <a:t>KAITO</a:t>
            </a:r>
            <a:r>
              <a:rPr cap="none" dirty="0"/>
              <a:t> manages lifecycle; </a:t>
            </a:r>
            <a:r>
              <a:rPr b="1" cap="none" dirty="0" err="1">
                <a:solidFill>
                  <a:srgbClr val="168C96"/>
                </a:solidFill>
              </a:rPr>
              <a:t>llm</a:t>
            </a:r>
            <a:r>
              <a:rPr b="1" cap="none" dirty="0">
                <a:solidFill>
                  <a:srgbClr val="168C96"/>
                </a:solidFill>
              </a:rPr>
              <a:t>-d</a:t>
            </a:r>
            <a:r>
              <a:rPr cap="none" dirty="0"/>
              <a:t> selects endpoints.</a:t>
            </a:r>
          </a:p>
        </p:txBody>
      </p:sp>
      <p:sp>
        <p:nvSpPr>
          <p:cNvPr id="13" name="Rounded Rectangle 12"/>
          <p:cNvSpPr/>
          <p:nvPr/>
        </p:nvSpPr>
        <p:spPr>
          <a:xfrm>
            <a:off x="457200" y="2825496"/>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2889503"/>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Runtime</a:t>
            </a:r>
          </a:p>
        </p:txBody>
      </p:sp>
      <p:sp>
        <p:nvSpPr>
          <p:cNvPr id="15" name="TextBox 14"/>
          <p:cNvSpPr txBox="1"/>
          <p:nvPr/>
        </p:nvSpPr>
        <p:spPr>
          <a:xfrm>
            <a:off x="2633472" y="2889503"/>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vLLM runs prefill, decode and batching.</a:t>
            </a:r>
          </a:p>
        </p:txBody>
      </p:sp>
      <p:sp>
        <p:nvSpPr>
          <p:cNvPr id="16" name="Rounded Rectangle 15"/>
          <p:cNvSpPr/>
          <p:nvPr/>
        </p:nvSpPr>
        <p:spPr>
          <a:xfrm>
            <a:off x="457200" y="3264408"/>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3328415"/>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KV state</a:t>
            </a:r>
          </a:p>
        </p:txBody>
      </p:sp>
      <p:sp>
        <p:nvSpPr>
          <p:cNvPr id="18" name="TextBox 17"/>
          <p:cNvSpPr txBox="1"/>
          <p:nvPr/>
        </p:nvSpPr>
        <p:spPr>
          <a:xfrm>
            <a:off x="2633472" y="3328415"/>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NIXL moves KV; cache systems reuse or offload it.</a:t>
            </a:r>
          </a:p>
        </p:txBody>
      </p:sp>
      <p:sp>
        <p:nvSpPr>
          <p:cNvPr id="19" name="Rounded Rectangle 18"/>
          <p:cNvSpPr/>
          <p:nvPr/>
        </p:nvSpPr>
        <p:spPr>
          <a:xfrm>
            <a:off x="457200" y="370332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0080" y="376732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Infrastructure</a:t>
            </a:r>
          </a:p>
        </p:txBody>
      </p:sp>
      <p:sp>
        <p:nvSpPr>
          <p:cNvPr id="21" name="TextBox 20"/>
          <p:cNvSpPr txBox="1"/>
          <p:nvPr/>
        </p:nvSpPr>
        <p:spPr>
          <a:xfrm>
            <a:off x="2633472" y="376732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The infrastructure supports the stack.</a:t>
            </a:r>
          </a:p>
        </p:txBody>
      </p:sp>
      <p:sp>
        <p:nvSpPr>
          <p:cNvPr id="22" name="Rounded Rectangle 21"/>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We will follow the roles, request routing, KV transfer and capacity control.</a:t>
            </a:r>
          </a:p>
        </p:txBody>
      </p:sp>
      <p:sp>
        <p:nvSpPr>
          <p:cNvPr id="24" name="TextBox 2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5"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DD80BB0-C4A7-5D0F-8AC6-E9BAA6625D0E}" type="slidenum">
              <a:rPr lang="en-US"/>
              <a:t>22</a:t>
            </a:fld>
            <a:endParaRPr lang="en-US"/>
          </a:p>
        </p:txBody>
      </p:sp>
      <p:sp>
        <p:nvSpPr>
          <p:cNvPr id="26"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component boundaries</a:t>
            </a:r>
          </a:p>
        </p:txBody>
      </p:sp>
    </p:spTree>
    <p:extLst>
      <p:ext uri="{BB962C8B-B14F-4D97-AF65-F5344CB8AC3E}">
        <p14:creationId xmlns:p14="http://schemas.microsoft.com/office/powerpoint/2010/main" val="36272095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 llm-d: one service, two roles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Declare both roles together. Keep orchestration separate from execution.</a:t>
            </a:r>
          </a:p>
        </p:txBody>
      </p:sp>
      <p:sp>
        <p:nvSpPr>
          <p:cNvPr id="4" name="Rounded Rectangle 3"/>
          <p:cNvSpPr/>
          <p:nvPr/>
        </p:nvSpPr>
        <p:spPr>
          <a:xfrm>
            <a:off x="411480" y="1645920"/>
            <a:ext cx="370332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01368"/>
            <a:ext cx="337413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One declarative topology</a:t>
            </a:r>
          </a:p>
        </p:txBody>
      </p:sp>
      <p:sp>
        <p:nvSpPr>
          <p:cNvPr id="6" name="TextBox 5"/>
          <p:cNvSpPr txBox="1"/>
          <p:nvPr/>
        </p:nvSpPr>
        <p:spPr>
          <a:xfrm>
            <a:off x="576072" y="2276856"/>
            <a:ext cx="3374136" cy="1600199"/>
          </a:xfrm>
          <a:prstGeom prst="rect">
            <a:avLst/>
          </a:prstGeom>
          <a:noFill/>
        </p:spPr>
        <p:txBody>
          <a:bodyPr wrap="square" lIns="0" tIns="0" rIns="0" bIns="0">
            <a:spAutoFit/>
          </a:bodyPr>
          <a:lstStyle/>
          <a:p>
            <a:pPr>
              <a:spcAft>
                <a:spcPts val="500"/>
              </a:spcAft>
              <a:defRPr sz="1600" b="0">
                <a:solidFill>
                  <a:srgbClr val="142C46"/>
                </a:solidFill>
                <a:latin typeface="Arial"/>
              </a:defRPr>
            </a:pPr>
            <a:r>
              <a:rPr cap="none"/>
              <a:t>Serve one model through one endpoint.</a:t>
            </a:r>
          </a:p>
          <a:p>
            <a:pPr>
              <a:spcAft>
                <a:spcPts val="500"/>
              </a:spcAft>
              <a:defRPr sz="1600" b="0">
                <a:solidFill>
                  <a:srgbClr val="142C46"/>
                </a:solidFill>
                <a:latin typeface="Arial"/>
              </a:defRPr>
            </a:pPr>
            <a:r>
              <a:rPr cap="none"/>
              <a:t>Give prefill and decode their own</a:t>
            </a:r>
          </a:p>
          <a:p>
            <a:pPr>
              <a:spcAft>
                <a:spcPts val="500"/>
              </a:spcAft>
              <a:defRPr sz="1600" b="0">
                <a:solidFill>
                  <a:srgbClr val="142C46"/>
                </a:solidFill>
                <a:latin typeface="Arial"/>
              </a:defRPr>
            </a:pPr>
            <a:r>
              <a:rPr cap="none"/>
              <a:t>placement and replica counts.</a:t>
            </a:r>
          </a:p>
        </p:txBody>
      </p:sp>
      <p:sp>
        <p:nvSpPr>
          <p:cNvPr id="7" name="Rounded Rectangle 6"/>
          <p:cNvSpPr/>
          <p:nvPr/>
        </p:nvSpPr>
        <p:spPr>
          <a:xfrm>
            <a:off x="4434840" y="1554480"/>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90288" y="1609344"/>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KAITO</a:t>
            </a:r>
          </a:p>
        </p:txBody>
      </p:sp>
      <p:sp>
        <p:nvSpPr>
          <p:cNvPr id="9" name="TextBox 8"/>
          <p:cNvSpPr txBox="1"/>
          <p:nvPr/>
        </p:nvSpPr>
        <p:spPr>
          <a:xfrm>
            <a:off x="4590288" y="1847088"/>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KAITO maintains the role topology.</a:t>
            </a:r>
          </a:p>
        </p:txBody>
      </p:sp>
      <p:sp>
        <p:nvSpPr>
          <p:cNvPr id="10" name="Rounded Rectangle 9"/>
          <p:cNvSpPr/>
          <p:nvPr/>
        </p:nvSpPr>
        <p:spPr>
          <a:xfrm>
            <a:off x="4434840" y="2212848"/>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90288" y="2267712"/>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Gateway integration</a:t>
            </a:r>
          </a:p>
        </p:txBody>
      </p:sp>
      <p:sp>
        <p:nvSpPr>
          <p:cNvPr id="12" name="TextBox 11"/>
          <p:cNvSpPr txBox="1"/>
          <p:nvPr/>
        </p:nvSpPr>
        <p:spPr>
          <a:xfrm>
            <a:off x="4590288" y="2505456"/>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InferencePool links to the gateway.</a:t>
            </a:r>
          </a:p>
        </p:txBody>
      </p:sp>
      <p:sp>
        <p:nvSpPr>
          <p:cNvPr id="13" name="Rounded Rectangle 12"/>
          <p:cNvSpPr/>
          <p:nvPr/>
        </p:nvSpPr>
        <p:spPr>
          <a:xfrm>
            <a:off x="4434840" y="2871215"/>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90288" y="2926079"/>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llm-d</a:t>
            </a:r>
          </a:p>
        </p:txBody>
      </p:sp>
      <p:sp>
        <p:nvSpPr>
          <p:cNvPr id="15" name="TextBox 14"/>
          <p:cNvSpPr txBox="1"/>
          <p:nvPr/>
        </p:nvSpPr>
        <p:spPr>
          <a:xfrm>
            <a:off x="4590288" y="3163823"/>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llm-d selects and coordinates.</a:t>
            </a:r>
          </a:p>
        </p:txBody>
      </p:sp>
      <p:sp>
        <p:nvSpPr>
          <p:cNvPr id="16" name="Rounded Rectangle 15"/>
          <p:cNvSpPr/>
          <p:nvPr/>
        </p:nvSpPr>
        <p:spPr>
          <a:xfrm>
            <a:off x="4434840" y="3529584"/>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90288" y="3584448"/>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vLLM + NIXL</a:t>
            </a:r>
          </a:p>
        </p:txBody>
      </p:sp>
      <p:sp>
        <p:nvSpPr>
          <p:cNvPr id="18" name="TextBox 17"/>
          <p:cNvSpPr txBox="1"/>
          <p:nvPr/>
        </p:nvSpPr>
        <p:spPr>
          <a:xfrm>
            <a:off x="4590288" y="3822192"/>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vLLM runs; NIXL transfers KV.</a:t>
            </a:r>
          </a:p>
        </p:txBody>
      </p:sp>
      <p:sp>
        <p:nvSpPr>
          <p:cNvPr id="19" name="Rounded Rectangle 18"/>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One service coordinates P/D requests, while each role keeps its own capacity settings.</a:t>
            </a:r>
          </a:p>
        </p:txBody>
      </p:sp>
      <p:sp>
        <p:nvSpPr>
          <p:cNvPr id="21" name="TextBox 2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5A6428B-490A-53AA-8214-D5799B07E23F}" type="slidenum">
              <a:rPr lang="en-US"/>
              <a:t>23</a:t>
            </a:fld>
            <a:endParaRPr lang="en-US"/>
          </a:p>
        </p:txBody>
      </p:sp>
      <p:sp>
        <p:nvSpPr>
          <p:cNvPr id="23"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one service, two roles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OUTING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routing</a:t>
            </a:r>
          </a:p>
        </p:txBody>
      </p:sp>
      <p:sp>
        <p:nvSpPr>
          <p:cNvPr id="4" name="llm-d Router brings role-aware decision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llm-d picks workers for each role</a:t>
            </a:r>
          </a:p>
        </p:txBody>
      </p:sp>
      <p:sp>
        <p:nvSpPr>
          <p:cNvPr id="5" name="The Endpoint Picker selects workers; the serving path executes the decisi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Endpoint Picker selects workers. vLLM executes the inference phases.</a:t>
            </a:r>
          </a:p>
        </p:txBody>
      </p:sp>
      <p:sp>
        <p:nvSpPr>
          <p:cNvPr id="8" name="Panel 7"/>
          <p:cNvSpPr/>
          <p:nvPr/>
        </p:nvSpPr>
        <p:spPr>
          <a:xfrm>
            <a:off x="411480" y="1357884"/>
            <a:ext cx="8318754" cy="117957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Gateway"/>
          <p:cNvSpPr/>
          <p:nvPr/>
        </p:nvSpPr>
        <p:spPr>
          <a:xfrm>
            <a:off x="617220" y="1591056"/>
            <a:ext cx="1440180" cy="70637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GWIE integration</a:t>
            </a:r>
          </a:p>
        </p:txBody>
      </p:sp>
      <p:sp>
        <p:nvSpPr>
          <p:cNvPr id="10" name="llm-d Router EPP"/>
          <p:cNvSpPr/>
          <p:nvPr/>
        </p:nvSpPr>
        <p:spPr>
          <a:xfrm>
            <a:off x="2811779" y="1536192"/>
            <a:ext cx="2263140" cy="80924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7150C8"/>
                </a:solidFill>
                <a:latin typeface="Arial"/>
              </a:defRPr>
            </a:pPr>
            <a:r>
              <a:rPr sz="1500" cap="none">
                <a:latin typeface="Arial"/>
              </a:rPr>
              <a:t>llm-d Router EPP</a:t>
            </a:r>
          </a:p>
          <a:p>
            <a:pPr algn="ctr">
              <a:spcBef>
                <a:spcPts val="225"/>
              </a:spcBef>
              <a:defRPr sz="1200" b="0">
                <a:solidFill>
                  <a:srgbClr val="5B6E80"/>
                </a:solidFill>
                <a:latin typeface="Arial"/>
              </a:defRPr>
            </a:pPr>
            <a:r>
              <a:rPr sz="900" cap="none">
                <a:latin typeface="Arial"/>
              </a:rPr>
              <a:t>Endpoint selection + plugin chain</a:t>
            </a:r>
          </a:p>
        </p:txBody>
      </p:sp>
      <p:sp>
        <p:nvSpPr>
          <p:cNvPr id="11" name="Selected workers"/>
          <p:cNvSpPr/>
          <p:nvPr/>
        </p:nvSpPr>
        <p:spPr>
          <a:xfrm>
            <a:off x="5829300" y="1536192"/>
            <a:ext cx="2606040" cy="80924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087F82"/>
                </a:solidFill>
                <a:latin typeface="Arial"/>
              </a:defRPr>
            </a:pPr>
            <a:r>
              <a:rPr sz="1500" cap="none">
                <a:latin typeface="Arial"/>
              </a:rPr>
              <a:t>Selected workers</a:t>
            </a:r>
          </a:p>
          <a:p>
            <a:pPr algn="ctr">
              <a:spcBef>
                <a:spcPts val="225"/>
              </a:spcBef>
              <a:defRPr sz="1200" b="0">
                <a:solidFill>
                  <a:srgbClr val="5B6E80"/>
                </a:solidFill>
                <a:latin typeface="Arial"/>
              </a:defRPr>
            </a:pPr>
            <a:r>
              <a:rPr sz="900" cap="none">
                <a:latin typeface="Arial"/>
              </a:rPr>
              <a:t>Decode + optional prefill</a:t>
            </a:r>
          </a:p>
        </p:txBody>
      </p:sp>
      <p:cxnSp>
        <p:nvCxnSpPr>
          <p:cNvPr id="12" name="Gateway → llm-d Router EPP"/>
          <p:cNvCxnSpPr>
            <a:stCxn id="9" idx="3"/>
            <a:endCxn id="10" idx="1"/>
          </p:cNvCxnSpPr>
          <p:nvPr/>
        </p:nvCxnSpPr>
        <p:spPr>
          <a:xfrm flipV="1">
            <a:off x="2057401" y="1940814"/>
            <a:ext cx="754379" cy="3429"/>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llm-d Router EPP → Selected workers"/>
          <p:cNvCxnSpPr>
            <a:stCxn id="10" idx="3"/>
            <a:endCxn id="11" idx="1"/>
          </p:cNvCxnSpPr>
          <p:nvPr/>
        </p:nvCxnSpPr>
        <p:spPr>
          <a:xfrm flipV="1">
            <a:off x="5074920" y="1940814"/>
            <a:ext cx="754381"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pick request"/>
          <p:cNvSpPr txBox="1"/>
          <p:nvPr/>
        </p:nvSpPr>
        <p:spPr>
          <a:xfrm>
            <a:off x="205740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pick request</a:t>
            </a:r>
          </a:p>
        </p:txBody>
      </p:sp>
      <p:sp>
        <p:nvSpPr>
          <p:cNvPr id="15" name="decision"/>
          <p:cNvSpPr txBox="1"/>
          <p:nvPr/>
        </p:nvSpPr>
        <p:spPr>
          <a:xfrm>
            <a:off x="510921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decision</a:t>
            </a:r>
          </a:p>
        </p:txBody>
      </p:sp>
      <p:sp>
        <p:nvSpPr>
          <p:cNvPr id="16" name="Step 01"/>
          <p:cNvSpPr/>
          <p:nvPr/>
        </p:nvSpPr>
        <p:spPr>
          <a:xfrm>
            <a:off x="548640" y="2866644"/>
            <a:ext cx="198882" cy="198882"/>
          </a:xfrm>
          <a:prstGeom prst="ellipse">
            <a:avLst/>
          </a:prstGeom>
          <a:solidFill>
            <a:srgbClr val="2463D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01</a:t>
            </a:r>
          </a:p>
        </p:txBody>
      </p:sp>
      <p:sp>
        <p:nvSpPr>
          <p:cNvPr id="17" name="Select by role"/>
          <p:cNvSpPr txBox="1"/>
          <p:nvPr/>
        </p:nvSpPr>
        <p:spPr>
          <a:xfrm>
            <a:off x="83667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Select by role</a:t>
            </a:r>
          </a:p>
        </p:txBody>
      </p:sp>
      <p:sp>
        <p:nvSpPr>
          <p:cNvPr id="18" name="Model-aware selection / across prefill and decode."/>
          <p:cNvSpPr txBox="1"/>
          <p:nvPr/>
        </p:nvSpPr>
        <p:spPr>
          <a:xfrm>
            <a:off x="83667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Choose workers for</a:t>
            </a:r>
          </a:p>
          <a:p>
            <a:pPr>
              <a:spcAft>
                <a:spcPts val="150"/>
              </a:spcAft>
              <a:defRPr sz="1600" b="0">
                <a:solidFill>
                  <a:srgbClr val="5B6E80"/>
                </a:solidFill>
                <a:latin typeface="Arial"/>
              </a:defRPr>
            </a:pPr>
            <a:r>
              <a:rPr sz="1200" cap="none">
                <a:latin typeface="Arial"/>
              </a:rPr>
              <a:t>prefill and decode.</a:t>
            </a:r>
          </a:p>
        </p:txBody>
      </p:sp>
      <p:sp>
        <p:nvSpPr>
          <p:cNvPr id="19" name="Step 02"/>
          <p:cNvSpPr/>
          <p:nvPr/>
        </p:nvSpPr>
        <p:spPr>
          <a:xfrm>
            <a:off x="3394710" y="2866644"/>
            <a:ext cx="198882" cy="198882"/>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02</a:t>
            </a:r>
          </a:p>
        </p:txBody>
      </p:sp>
      <p:sp>
        <p:nvSpPr>
          <p:cNvPr id="20" name="Compose plugins"/>
          <p:cNvSpPr txBox="1"/>
          <p:nvPr/>
        </p:nvSpPr>
        <p:spPr>
          <a:xfrm>
            <a:off x="368274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Compose plugins</a:t>
            </a:r>
          </a:p>
        </p:txBody>
      </p:sp>
      <p:sp>
        <p:nvSpPr>
          <p:cNvPr id="21" name="KV-cache-aware logic / and P/D-aware scheduling."/>
          <p:cNvSpPr txBox="1"/>
          <p:nvPr/>
        </p:nvSpPr>
        <p:spPr>
          <a:xfrm>
            <a:off x="368274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Combine KV-aware and</a:t>
            </a:r>
          </a:p>
          <a:p>
            <a:pPr>
              <a:spcAft>
                <a:spcPts val="150"/>
              </a:spcAft>
              <a:defRPr sz="1600" b="0">
                <a:solidFill>
                  <a:srgbClr val="5B6E80"/>
                </a:solidFill>
                <a:latin typeface="Arial"/>
              </a:defRPr>
            </a:pPr>
            <a:r>
              <a:rPr sz="1200" cap="none">
                <a:latin typeface="Arial"/>
              </a:rPr>
              <a:t>P/D-aware plugins.</a:t>
            </a:r>
          </a:p>
        </p:txBody>
      </p:sp>
      <p:sp>
        <p:nvSpPr>
          <p:cNvPr id="22" name="Step 03"/>
          <p:cNvSpPr/>
          <p:nvPr/>
        </p:nvSpPr>
        <p:spPr>
          <a:xfrm>
            <a:off x="6185916" y="2866644"/>
            <a:ext cx="198882" cy="198882"/>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03</a:t>
            </a:r>
          </a:p>
        </p:txBody>
      </p:sp>
      <p:sp>
        <p:nvSpPr>
          <p:cNvPr id="23" name="Extend scheduling"/>
          <p:cNvSpPr txBox="1"/>
          <p:nvPr/>
        </p:nvSpPr>
        <p:spPr>
          <a:xfrm>
            <a:off x="6473952" y="2846070"/>
            <a:ext cx="204368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Extend scheduling</a:t>
            </a:r>
          </a:p>
        </p:txBody>
      </p:sp>
      <p:sp>
        <p:nvSpPr>
          <p:cNvPr id="24" name="A plugin surface for / future scheduling policy."/>
          <p:cNvSpPr txBox="1"/>
          <p:nvPr/>
        </p:nvSpPr>
        <p:spPr>
          <a:xfrm>
            <a:off x="6473952" y="3182112"/>
            <a:ext cx="204368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Add new policies</a:t>
            </a:r>
          </a:p>
          <a:p>
            <a:pPr>
              <a:spcAft>
                <a:spcPts val="150"/>
              </a:spcAft>
              <a:defRPr sz="1600" b="0">
                <a:solidFill>
                  <a:srgbClr val="5B6E80"/>
                </a:solidFill>
                <a:latin typeface="Arial"/>
              </a:defRPr>
            </a:pPr>
            <a:r>
              <a:rPr sz="1200" cap="none">
                <a:latin typeface="Arial"/>
              </a:rPr>
              <a:t>through plugins.</a:t>
            </a:r>
          </a:p>
        </p:txBody>
      </p:sp>
      <p:sp>
        <p:nvSpPr>
          <p:cNvPr id="25" name="Panel 24"/>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Panel 25"/>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KAITO builds on llm-d’s routing intelligence — it does not invent a second routi"/>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reuses llm-d’s routing decisions instead of building a second routing engine.</a:t>
            </a:r>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67E9DD2-B1D3-54D6-9EE1-5859D70BE723}" type="slidenum">
              <a:rPr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ARCHITECTUR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architecture</a:t>
            </a:r>
          </a:p>
        </p:txBody>
      </p:sp>
      <p:sp>
        <p:nvSpPr>
          <p:cNvPr id="4" name="One endpoint. Separate control, request and KV path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One endpoint, three separate paths</a:t>
            </a:r>
          </a:p>
        </p:txBody>
      </p:sp>
      <p:sp>
        <p:nvSpPr>
          <p:cNvPr id="5" name="Read the serving path left to right; endpoint selection is an out-of-band decis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KAITO manages resources. HTTP carries requests. NIXL moves KV between runtimes.</a:t>
            </a:r>
          </a:p>
        </p:txBody>
      </p:sp>
      <p:sp>
        <p:nvSpPr>
          <p:cNvPr id="8" name="Panel 7"/>
          <p:cNvSpPr/>
          <p:nvPr/>
        </p:nvSpPr>
        <p:spPr>
          <a:xfrm>
            <a:off x="411480" y="1357884"/>
            <a:ext cx="8318754" cy="74066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CONTROL PLANE"/>
          <p:cNvSpPr txBox="1"/>
          <p:nvPr/>
        </p:nvSpPr>
        <p:spPr>
          <a:xfrm>
            <a:off x="541782" y="1426464"/>
            <a:ext cx="157734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Control plane</a:t>
            </a:r>
          </a:p>
        </p:txBody>
      </p:sp>
      <p:sp>
        <p:nvSpPr>
          <p:cNvPr id="10" name="MultiRoleInference"/>
          <p:cNvSpPr/>
          <p:nvPr/>
        </p:nvSpPr>
        <p:spPr>
          <a:xfrm>
            <a:off x="548640" y="1604772"/>
            <a:ext cx="181737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MultiRoleInference</a:t>
            </a:r>
          </a:p>
        </p:txBody>
      </p:sp>
      <p:sp>
        <p:nvSpPr>
          <p:cNvPr id="11" name="KAITO controller"/>
          <p:cNvSpPr/>
          <p:nvPr/>
        </p:nvSpPr>
        <p:spPr>
          <a:xfrm>
            <a:off x="2777490" y="1604772"/>
            <a:ext cx="178308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KAITO controller</a:t>
            </a:r>
          </a:p>
        </p:txBody>
      </p:sp>
      <p:sp>
        <p:nvSpPr>
          <p:cNvPr id="12" name="Child InferenceSets + InferencePool + wiring"/>
          <p:cNvSpPr/>
          <p:nvPr/>
        </p:nvSpPr>
        <p:spPr>
          <a:xfrm>
            <a:off x="4985766" y="1604772"/>
            <a:ext cx="356616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7150C8"/>
                </a:solidFill>
                <a:latin typeface="Arial"/>
              </a:defRPr>
            </a:pPr>
            <a:r>
              <a:rPr sz="1050" cap="none">
                <a:latin typeface="Arial"/>
              </a:rPr>
              <a:t>Child InferenceSets + InferencePool + wiring</a:t>
            </a:r>
          </a:p>
        </p:txBody>
      </p:sp>
      <p:cxnSp>
        <p:nvCxnSpPr>
          <p:cNvPr id="13" name="MultiRoleInference → KAITO controller"/>
          <p:cNvCxnSpPr>
            <a:stCxn id="10" idx="3"/>
            <a:endCxn id="11" idx="1"/>
          </p:cNvCxnSpPr>
          <p:nvPr/>
        </p:nvCxnSpPr>
        <p:spPr>
          <a:xfrm flipV="1">
            <a:off x="2366010" y="1783080"/>
            <a:ext cx="411480"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14" name="KAITO controller → Child InferenceSets + InferencePool + wiring"/>
          <p:cNvCxnSpPr>
            <a:stCxn id="11" idx="3"/>
            <a:endCxn id="12" idx="1"/>
          </p:cNvCxnSpPr>
          <p:nvPr/>
        </p:nvCxnSpPr>
        <p:spPr>
          <a:xfrm flipV="1">
            <a:off x="4560570" y="1783080"/>
            <a:ext cx="425196"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llm-d Router EPP"/>
          <p:cNvSpPr/>
          <p:nvPr/>
        </p:nvSpPr>
        <p:spPr>
          <a:xfrm>
            <a:off x="1543050" y="2276856"/>
            <a:ext cx="1680210" cy="445770"/>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llm-d Router EPP</a:t>
            </a:r>
          </a:p>
        </p:txBody>
      </p:sp>
      <p:sp>
        <p:nvSpPr>
          <p:cNvPr id="16" name="Prefill vLLM"/>
          <p:cNvSpPr/>
          <p:nvPr/>
        </p:nvSpPr>
        <p:spPr>
          <a:xfrm>
            <a:off x="4183380" y="2276856"/>
            <a:ext cx="1611630" cy="445770"/>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A85C05"/>
                </a:solidFill>
                <a:latin typeface="Arial"/>
              </a:defRPr>
            </a:pPr>
            <a:r>
              <a:rPr sz="1200" cap="none">
                <a:latin typeface="Arial"/>
              </a:rPr>
              <a:t>Prefill vLLM</a:t>
            </a:r>
          </a:p>
        </p:txBody>
      </p:sp>
      <p:sp>
        <p:nvSpPr>
          <p:cNvPr id="17" name="PREFILL INFERENCESET"/>
          <p:cNvSpPr txBox="1"/>
          <p:nvPr/>
        </p:nvSpPr>
        <p:spPr>
          <a:xfrm>
            <a:off x="4094226" y="2098548"/>
            <a:ext cx="1783080" cy="130302"/>
          </a:xfrm>
          <a:prstGeom prst="rect">
            <a:avLst/>
          </a:prstGeom>
          <a:noFill/>
        </p:spPr>
        <p:txBody>
          <a:bodyPr wrap="square" lIns="0" tIns="0" rIns="0" bIns="0" anchor="t">
            <a:noAutofit/>
          </a:bodyPr>
          <a:lstStyle/>
          <a:p>
            <a:pPr algn="ctr">
              <a:spcAft>
                <a:spcPts val="150"/>
              </a:spcAft>
              <a:defRPr sz="900" b="1">
                <a:solidFill>
                  <a:srgbClr val="A85C05"/>
                </a:solidFill>
                <a:latin typeface="Arial"/>
              </a:defRPr>
            </a:pPr>
            <a:r>
              <a:rPr sz="675" cap="none">
                <a:latin typeface="Arial"/>
              </a:rPr>
              <a:t>Prefill inferenceset</a:t>
            </a:r>
          </a:p>
        </p:txBody>
      </p:sp>
      <p:sp>
        <p:nvSpPr>
          <p:cNvPr id="18" name="Panel 17"/>
          <p:cNvSpPr/>
          <p:nvPr/>
        </p:nvSpPr>
        <p:spPr>
          <a:xfrm>
            <a:off x="4018788" y="2990088"/>
            <a:ext cx="4533138" cy="843534"/>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DECODE INFERENCESET  /  SELECTED DECODE POD"/>
          <p:cNvSpPr txBox="1"/>
          <p:nvPr/>
        </p:nvSpPr>
        <p:spPr>
          <a:xfrm>
            <a:off x="4149090" y="3051810"/>
            <a:ext cx="3977640" cy="130302"/>
          </a:xfrm>
          <a:prstGeom prst="rect">
            <a:avLst/>
          </a:prstGeom>
          <a:noFill/>
        </p:spPr>
        <p:txBody>
          <a:bodyPr wrap="square" lIns="0" tIns="0" rIns="0" bIns="0" anchor="t">
            <a:noAutofit/>
          </a:bodyPr>
          <a:lstStyle/>
          <a:p>
            <a:pPr>
              <a:spcAft>
                <a:spcPts val="150"/>
              </a:spcAft>
              <a:defRPr sz="900" b="1">
                <a:solidFill>
                  <a:srgbClr val="087F82"/>
                </a:solidFill>
                <a:latin typeface="Arial"/>
              </a:defRPr>
            </a:pPr>
            <a:r>
              <a:rPr sz="675" cap="none">
                <a:latin typeface="Arial"/>
              </a:rPr>
              <a:t>Decode inferenceset  /  selected decode pod</a:t>
            </a:r>
          </a:p>
        </p:txBody>
      </p:sp>
      <p:sp>
        <p:nvSpPr>
          <p:cNvPr id="20" name="Client"/>
          <p:cNvSpPr/>
          <p:nvPr/>
        </p:nvSpPr>
        <p:spPr>
          <a:xfrm>
            <a:off x="445770" y="3312414"/>
            <a:ext cx="802386"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Client</a:t>
            </a:r>
          </a:p>
        </p:txBody>
      </p:sp>
      <p:sp>
        <p:nvSpPr>
          <p:cNvPr id="21" name="Gateway"/>
          <p:cNvSpPr/>
          <p:nvPr/>
        </p:nvSpPr>
        <p:spPr>
          <a:xfrm>
            <a:off x="1543050" y="3312414"/>
            <a:ext cx="168021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2463D4"/>
                </a:solidFill>
                <a:latin typeface="Arial"/>
              </a:defRPr>
            </a:pPr>
            <a:r>
              <a:rPr sz="1200" cap="none">
                <a:latin typeface="Arial"/>
              </a:rPr>
              <a:t>Gateway</a:t>
            </a:r>
          </a:p>
        </p:txBody>
      </p:sp>
      <p:sp>
        <p:nvSpPr>
          <p:cNvPr id="22" name="Routing sidecar"/>
          <p:cNvSpPr/>
          <p:nvPr/>
        </p:nvSpPr>
        <p:spPr>
          <a:xfrm>
            <a:off x="4183380" y="3312414"/>
            <a:ext cx="161163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Routing sidecar</a:t>
            </a:r>
          </a:p>
        </p:txBody>
      </p:sp>
      <p:sp>
        <p:nvSpPr>
          <p:cNvPr id="23" name="Decode vLLM"/>
          <p:cNvSpPr/>
          <p:nvPr/>
        </p:nvSpPr>
        <p:spPr>
          <a:xfrm>
            <a:off x="6858000" y="3312414"/>
            <a:ext cx="1508760" cy="445770"/>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087F82"/>
                </a:solidFill>
                <a:latin typeface="Arial"/>
              </a:defRPr>
            </a:pPr>
            <a:r>
              <a:rPr sz="1125" cap="none">
                <a:latin typeface="Arial"/>
              </a:rPr>
              <a:t>Decode vLLM</a:t>
            </a:r>
          </a:p>
        </p:txBody>
      </p:sp>
      <p:cxnSp>
        <p:nvCxnSpPr>
          <p:cNvPr id="24" name="Client → Gateway"/>
          <p:cNvCxnSpPr>
            <a:stCxn id="20" idx="3"/>
            <a:endCxn id="21" idx="1"/>
          </p:cNvCxnSpPr>
          <p:nvPr/>
        </p:nvCxnSpPr>
        <p:spPr>
          <a:xfrm flipV="1">
            <a:off x="1248156" y="3535299"/>
            <a:ext cx="2948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Gateway → Routing sidecar"/>
          <p:cNvCxnSpPr>
            <a:stCxn id="21" idx="3"/>
            <a:endCxn id="22" idx="1"/>
          </p:cNvCxnSpPr>
          <p:nvPr/>
        </p:nvCxnSpPr>
        <p:spPr>
          <a:xfrm flipV="1">
            <a:off x="3223260" y="3535299"/>
            <a:ext cx="96012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Routing sidecar → Decode vLLM"/>
          <p:cNvCxnSpPr>
            <a:stCxn id="22" idx="3"/>
            <a:endCxn id="23" idx="1"/>
          </p:cNvCxnSpPr>
          <p:nvPr/>
        </p:nvCxnSpPr>
        <p:spPr>
          <a:xfrm flipV="1">
            <a:off x="5795010" y="3535299"/>
            <a:ext cx="106299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request"/>
          <p:cNvSpPr txBox="1"/>
          <p:nvPr/>
        </p:nvSpPr>
        <p:spPr>
          <a:xfrm>
            <a:off x="3257550" y="3106674"/>
            <a:ext cx="857250" cy="157734"/>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request</a:t>
            </a:r>
          </a:p>
        </p:txBody>
      </p:sp>
      <p:sp>
        <p:nvSpPr>
          <p:cNvPr id="28" name="local proxy"/>
          <p:cNvSpPr txBox="1"/>
          <p:nvPr/>
        </p:nvSpPr>
        <p:spPr>
          <a:xfrm>
            <a:off x="5884164" y="3346704"/>
            <a:ext cx="864108" cy="137160"/>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local proxy</a:t>
            </a:r>
          </a:p>
        </p:txBody>
      </p:sp>
      <p:cxnSp>
        <p:nvCxnSpPr>
          <p:cNvPr id="29" name="Gateway ↔ EPP endpoint selection"/>
          <p:cNvCxnSpPr/>
          <p:nvPr/>
        </p:nvCxnSpPr>
        <p:spPr>
          <a:xfrm flipV="1">
            <a:off x="2386584" y="2729484"/>
            <a:ext cx="0" cy="562356"/>
          </a:xfrm>
          <a:prstGeom prst="line">
            <a:avLst/>
          </a:prstGeom>
          <a:ln w="1905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0" name="endpoint selection / via InferencePool"/>
          <p:cNvSpPr txBox="1"/>
          <p:nvPr/>
        </p:nvSpPr>
        <p:spPr>
          <a:xfrm>
            <a:off x="788670" y="2818638"/>
            <a:ext cx="1426464" cy="301752"/>
          </a:xfrm>
          <a:prstGeom prst="rect">
            <a:avLst/>
          </a:prstGeom>
          <a:noFill/>
        </p:spPr>
        <p:txBody>
          <a:bodyPr wrap="square" lIns="0" tIns="0" rIns="0" bIns="0" anchor="t">
            <a:noAutofit/>
          </a:bodyPr>
          <a:lstStyle/>
          <a:p>
            <a:pPr algn="r">
              <a:spcAft>
                <a:spcPts val="150"/>
              </a:spcAft>
              <a:defRPr sz="1000" b="0">
                <a:solidFill>
                  <a:srgbClr val="7150C8"/>
                </a:solidFill>
                <a:latin typeface="Arial"/>
              </a:defRPr>
            </a:pPr>
            <a:r>
              <a:rPr sz="750" cap="none">
                <a:latin typeface="Arial"/>
              </a:rPr>
              <a:t>endpoint selection</a:t>
            </a:r>
          </a:p>
          <a:p>
            <a:pPr algn="r">
              <a:spcAft>
                <a:spcPts val="150"/>
              </a:spcAft>
              <a:defRPr sz="1000" b="0">
                <a:solidFill>
                  <a:srgbClr val="7150C8"/>
                </a:solidFill>
                <a:latin typeface="Arial"/>
              </a:defRPr>
            </a:pPr>
            <a:r>
              <a:rPr sz="750" cap="none">
                <a:latin typeface="Arial"/>
              </a:rPr>
              <a:t>via InferencePool</a:t>
            </a:r>
          </a:p>
        </p:txBody>
      </p:sp>
      <p:cxnSp>
        <p:nvCxnSpPr>
          <p:cNvPr id="31" name="Sidecar → remote prefill request"/>
          <p:cNvCxnSpPr/>
          <p:nvPr/>
        </p:nvCxnSpPr>
        <p:spPr>
          <a:xfrm flipV="1">
            <a:off x="4992624" y="2736342"/>
            <a:ext cx="0" cy="56235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optional prefill"/>
          <p:cNvSpPr txBox="1"/>
          <p:nvPr/>
        </p:nvSpPr>
        <p:spPr>
          <a:xfrm>
            <a:off x="3545586" y="2763774"/>
            <a:ext cx="1303020" cy="150876"/>
          </a:xfrm>
          <a:prstGeom prst="rect">
            <a:avLst/>
          </a:prstGeom>
          <a:noFill/>
        </p:spPr>
        <p:txBody>
          <a:bodyPr wrap="square" lIns="0" tIns="0" rIns="0" bIns="0" anchor="t">
            <a:noAutofit/>
          </a:bodyPr>
          <a:lstStyle/>
          <a:p>
            <a:pPr algn="r">
              <a:spcAft>
                <a:spcPts val="150"/>
              </a:spcAft>
              <a:defRPr sz="1000" b="0">
                <a:solidFill>
                  <a:srgbClr val="A85C05"/>
                </a:solidFill>
                <a:latin typeface="Arial"/>
              </a:defRPr>
            </a:pPr>
            <a:r>
              <a:rPr sz="750" cap="none">
                <a:latin typeface="Arial"/>
              </a:rPr>
              <a:t>optional prefill</a:t>
            </a:r>
          </a:p>
        </p:txBody>
      </p:sp>
      <p:cxnSp>
        <p:nvCxnSpPr>
          <p:cNvPr id="33" name="Direct KV data transfer: prefill → decode"/>
          <p:cNvCxnSpPr/>
          <p:nvPr/>
        </p:nvCxnSpPr>
        <p:spPr>
          <a:xfrm>
            <a:off x="5801868" y="2503170"/>
            <a:ext cx="1810512" cy="0"/>
          </a:xfrm>
          <a:prstGeom prst="line">
            <a:avLst/>
          </a:prstGeom>
          <a:ln w="29209">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34" name="Direct KV data transfer: prefill → decode"/>
          <p:cNvCxnSpPr/>
          <p:nvPr/>
        </p:nvCxnSpPr>
        <p:spPr>
          <a:xfrm>
            <a:off x="7612380" y="2503170"/>
            <a:ext cx="0" cy="795528"/>
          </a:xfrm>
          <a:prstGeom prst="line">
            <a:avLst/>
          </a:prstGeom>
          <a:ln w="29209">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35" name="Direct KV data • NIXL"/>
          <p:cNvSpPr txBox="1"/>
          <p:nvPr/>
        </p:nvSpPr>
        <p:spPr>
          <a:xfrm>
            <a:off x="6069330" y="2235708"/>
            <a:ext cx="2400300" cy="171450"/>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NIXL</a:t>
            </a:r>
          </a:p>
        </p:txBody>
      </p:sp>
      <p:cxnSp>
        <p:nvCxnSpPr>
          <p:cNvPr id="36" name="Connector"/>
          <p:cNvCxnSpPr/>
          <p:nvPr/>
        </p:nvCxnSpPr>
        <p:spPr>
          <a:xfrm>
            <a:off x="582930" y="4094226"/>
            <a:ext cx="274320" cy="0"/>
          </a:xfrm>
          <a:prstGeom prst="line">
            <a:avLst/>
          </a:prstGeom>
          <a:ln w="2540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7" name="Control / selection"/>
          <p:cNvSpPr txBox="1"/>
          <p:nvPr/>
        </p:nvSpPr>
        <p:spPr>
          <a:xfrm>
            <a:off x="94640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Control / selection</a:t>
            </a:r>
          </a:p>
        </p:txBody>
      </p:sp>
      <p:cxnSp>
        <p:nvCxnSpPr>
          <p:cNvPr id="38" name="Connector"/>
          <p:cNvCxnSpPr/>
          <p:nvPr/>
        </p:nvCxnSpPr>
        <p:spPr>
          <a:xfrm>
            <a:off x="2811780" y="4094226"/>
            <a:ext cx="274321" cy="0"/>
          </a:xfrm>
          <a:prstGeom prst="line">
            <a:avLst/>
          </a:prstGeom>
          <a:ln w="2540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Request / local proxy"/>
          <p:cNvSpPr txBox="1"/>
          <p:nvPr/>
        </p:nvSpPr>
        <p:spPr>
          <a:xfrm>
            <a:off x="317525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Request / local proxy</a:t>
            </a:r>
          </a:p>
        </p:txBody>
      </p:sp>
      <p:cxnSp>
        <p:nvCxnSpPr>
          <p:cNvPr id="40" name="Connector"/>
          <p:cNvCxnSpPr/>
          <p:nvPr/>
        </p:nvCxnSpPr>
        <p:spPr>
          <a:xfrm>
            <a:off x="5623560" y="4094226"/>
            <a:ext cx="274321" cy="0"/>
          </a:xfrm>
          <a:prstGeom prst="line">
            <a:avLst/>
          </a:prstGeom>
          <a:ln w="2540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41" name="KV data (separate path)"/>
          <p:cNvSpPr txBox="1"/>
          <p:nvPr/>
        </p:nvSpPr>
        <p:spPr>
          <a:xfrm>
            <a:off x="5987033"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KV data (separate path)</a:t>
            </a:r>
          </a:p>
        </p:txBody>
      </p:sp>
      <p:sp>
        <p:nvSpPr>
          <p:cNvPr id="42" name="Panel 41"/>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Panel 42"/>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he client sees one endpoint; KV data never needs to pass through the gateway."/>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client uses one endpoint. KV data bypasses the gateway, EPP and routing sidecar.</a:t>
            </a:r>
          </a:p>
        </p:txBody>
      </p:sp>
      <p:sp>
        <p:nvSpPr>
          <p:cNvPr id="45" name="TextBox 4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B5E8E64-6832-5599-A743-0C9BB1EDEEF0}" type="slidenum">
              <a:rPr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DECLARATIVE API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declarative API</a:t>
            </a:r>
          </a:p>
        </p:txBody>
      </p:sp>
      <p:sp>
        <p:nvSpPr>
          <p:cNvPr id="4" name="One object declares the serving topology"/>
          <p:cNvSpPr txBox="1"/>
          <p:nvPr/>
        </p:nvSpPr>
        <p:spPr>
          <a:xfrm>
            <a:off x="365760" y="539496"/>
            <a:ext cx="8412480" cy="420624"/>
          </a:xfrm>
          <a:prstGeom prst="rect">
            <a:avLst/>
          </a:prstGeom>
          <a:noFill/>
        </p:spPr>
        <p:txBody>
          <a:bodyPr wrap="none" lIns="0" tIns="0" rIns="0" bIns="0" anchor="t">
            <a:noAutofit/>
          </a:bodyPr>
          <a:lstStyle/>
          <a:p>
            <a:r>
              <a:rPr lang="en-US" altLang="zh-CN" sz="2100" b="1" cap="none" dirty="0">
                <a:solidFill>
                  <a:srgbClr val="142C46"/>
                </a:solidFill>
                <a:latin typeface="Arial"/>
              </a:rPr>
              <a:t>One MultiRoleInference declares both roles</a:t>
            </a:r>
          </a:p>
        </p:txBody>
      </p:sp>
      <p:sp>
        <p:nvSpPr>
          <p:cNvPr id="5" name="One model, distinct instance types: 1 A100 prefill replica + 2 H100 decode repl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dirty="0">
                <a:solidFill>
                  <a:srgbClr val="52677D"/>
                </a:solidFill>
                <a:latin typeface="Arial"/>
              </a:rPr>
              <a:t>This example puts one prefill replica on A100 and two decode replicas on H100.</a:t>
            </a:r>
          </a:p>
        </p:txBody>
      </p:sp>
      <p:sp>
        <p:nvSpPr>
          <p:cNvPr id="8" name="Panel 7"/>
          <p:cNvSpPr/>
          <p:nvPr/>
        </p:nvSpPr>
        <p:spPr>
          <a:xfrm>
            <a:off x="411480" y="1385316"/>
            <a:ext cx="4238244" cy="2825496"/>
          </a:xfrm>
          <a:prstGeom prst="roundRect">
            <a:avLst>
              <a:gd name="adj" fmla="val 12000"/>
            </a:avLst>
          </a:prstGeom>
          <a:solidFill>
            <a:srgbClr val="1024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MultiRoleInference  /  model + role placement"/>
          <p:cNvSpPr txBox="1"/>
          <p:nvPr/>
        </p:nvSpPr>
        <p:spPr>
          <a:xfrm>
            <a:off x="582930" y="1529334"/>
            <a:ext cx="3895344" cy="171450"/>
          </a:xfrm>
          <a:prstGeom prst="rect">
            <a:avLst/>
          </a:prstGeom>
          <a:noFill/>
        </p:spPr>
        <p:txBody>
          <a:bodyPr wrap="square" lIns="0" tIns="0" rIns="0" bIns="0" anchor="t">
            <a:noAutofit/>
          </a:bodyPr>
          <a:lstStyle/>
          <a:p>
            <a:pPr>
              <a:spcAft>
                <a:spcPts val="150"/>
              </a:spcAft>
              <a:defRPr sz="1200" b="1">
                <a:solidFill>
                  <a:srgbClr val="C8D8E7"/>
                </a:solidFill>
                <a:latin typeface="Arial"/>
              </a:defRPr>
            </a:pPr>
            <a:r>
              <a:rPr sz="900" cap="none">
                <a:latin typeface="Arial"/>
              </a:rPr>
              <a:t>MultiRoleInference  /  model + role placement</a:t>
            </a:r>
          </a:p>
        </p:txBody>
      </p:sp>
      <p:sp>
        <p:nvSpPr>
          <p:cNvPr id="10" name="apiVersion: kaito.sh/v1alpha1 / kind: MultiRoleInference / metadata: /   name: q"/>
          <p:cNvSpPr txBox="1"/>
          <p:nvPr/>
        </p:nvSpPr>
        <p:spPr>
          <a:xfrm>
            <a:off x="589788" y="1851660"/>
            <a:ext cx="3895344" cy="2228850"/>
          </a:xfrm>
          <a:prstGeom prst="rect">
            <a:avLst/>
          </a:prstGeom>
          <a:noFill/>
        </p:spPr>
        <p:txBody>
          <a:bodyPr wrap="square" lIns="0" tIns="0" rIns="0" bIns="0" anchor="t">
            <a:noAutofit/>
          </a:bodyPr>
          <a:lstStyle/>
          <a:p>
            <a:pPr>
              <a:lnSpc>
                <a:spcPts val="1223"/>
              </a:lnSpc>
              <a:defRPr sz="1400" b="0">
                <a:solidFill>
                  <a:srgbClr val="FFFFFF"/>
                </a:solidFill>
                <a:latin typeface="Consolas"/>
              </a:defRPr>
            </a:pPr>
            <a:r>
              <a:rPr sz="1050" cap="none" dirty="0" err="1">
                <a:latin typeface="Consolas"/>
              </a:rPr>
              <a:t>apiVersion</a:t>
            </a:r>
            <a:r>
              <a:rPr sz="1050" cap="none" dirty="0">
                <a:latin typeface="Consolas"/>
              </a:rPr>
              <a:t>: kaito.sh/v1alpha1</a:t>
            </a:r>
          </a:p>
          <a:p>
            <a:pPr>
              <a:lnSpc>
                <a:spcPts val="1223"/>
              </a:lnSpc>
              <a:defRPr sz="1400" b="0">
                <a:solidFill>
                  <a:srgbClr val="FFFFFF"/>
                </a:solidFill>
                <a:latin typeface="Consolas"/>
              </a:defRPr>
            </a:pPr>
            <a:r>
              <a:rPr sz="1050" cap="none" dirty="0">
                <a:latin typeface="Consolas"/>
              </a:rPr>
              <a:t>kind: </a:t>
            </a:r>
            <a:r>
              <a:rPr sz="1050" cap="none" dirty="0" err="1">
                <a:latin typeface="Consolas"/>
              </a:rPr>
              <a:t>MultiRoleInference</a:t>
            </a:r>
            <a:endParaRPr sz="1050" cap="none" dirty="0">
              <a:latin typeface="Consolas"/>
            </a:endParaRPr>
          </a:p>
          <a:p>
            <a:pPr>
              <a:lnSpc>
                <a:spcPts val="1223"/>
              </a:lnSpc>
              <a:defRPr sz="1400" b="0">
                <a:solidFill>
                  <a:srgbClr val="FFFFFF"/>
                </a:solidFill>
                <a:latin typeface="Consolas"/>
              </a:defRPr>
            </a:pPr>
            <a:r>
              <a:rPr sz="1050" cap="none" dirty="0">
                <a:latin typeface="Consolas"/>
              </a:rPr>
              <a:t>metadata:</a:t>
            </a:r>
          </a:p>
          <a:p>
            <a:pPr>
              <a:lnSpc>
                <a:spcPts val="1223"/>
              </a:lnSpc>
              <a:defRPr sz="1400" b="0">
                <a:solidFill>
                  <a:srgbClr val="FFFFFF"/>
                </a:solidFill>
                <a:latin typeface="Consolas"/>
              </a:defRPr>
            </a:pPr>
            <a:r>
              <a:rPr sz="1050" cap="none" dirty="0">
                <a:latin typeface="Consolas"/>
              </a:rPr>
              <a:t>  name: qwen-3-8-27b</a:t>
            </a:r>
          </a:p>
          <a:p>
            <a:pPr>
              <a:lnSpc>
                <a:spcPts val="1223"/>
              </a:lnSpc>
              <a:defRPr sz="1400" b="0">
                <a:solidFill>
                  <a:srgbClr val="FFFFFF"/>
                </a:solidFill>
                <a:latin typeface="Consolas"/>
              </a:defRPr>
            </a:pPr>
            <a:r>
              <a:rPr sz="1050" cap="none" dirty="0">
                <a:latin typeface="Consolas"/>
              </a:rPr>
              <a:t>spec:</a:t>
            </a:r>
          </a:p>
          <a:p>
            <a:pPr>
              <a:lnSpc>
                <a:spcPts val="1223"/>
              </a:lnSpc>
              <a:defRPr sz="1400" b="0">
                <a:solidFill>
                  <a:srgbClr val="FFFFFF"/>
                </a:solidFill>
                <a:latin typeface="Consolas"/>
              </a:defRPr>
            </a:pPr>
            <a:r>
              <a:rPr sz="1050" cap="none" dirty="0">
                <a:latin typeface="Consolas"/>
              </a:rPr>
              <a:t>  model:</a:t>
            </a:r>
          </a:p>
          <a:p>
            <a:pPr>
              <a:lnSpc>
                <a:spcPts val="1223"/>
              </a:lnSpc>
              <a:defRPr sz="1400" b="0">
                <a:solidFill>
                  <a:srgbClr val="FFFFFF"/>
                </a:solidFill>
                <a:latin typeface="Consolas"/>
              </a:defRPr>
            </a:pPr>
            <a:r>
              <a:rPr sz="1050" cap="none" dirty="0">
                <a:latin typeface="Consolas"/>
              </a:rPr>
              <a:t>    name: Qwen/Qwen3.8-27B</a:t>
            </a:r>
          </a:p>
          <a:p>
            <a:pPr>
              <a:lnSpc>
                <a:spcPts val="1223"/>
              </a:lnSpc>
              <a:defRPr sz="1400" b="0">
                <a:solidFill>
                  <a:srgbClr val="FFFFFF"/>
                </a:solidFill>
                <a:latin typeface="Consolas"/>
              </a:defRPr>
            </a:pPr>
            <a:r>
              <a:rPr sz="1050" cap="none" dirty="0">
                <a:latin typeface="Consolas"/>
              </a:rPr>
              <a:t>  roles:</a:t>
            </a:r>
          </a:p>
          <a:p>
            <a:pPr>
              <a:lnSpc>
                <a:spcPts val="1223"/>
              </a:lnSpc>
              <a:defRPr sz="1400" b="0">
                <a:solidFill>
                  <a:srgbClr val="FFFFFF"/>
                </a:solidFill>
                <a:latin typeface="Consolas"/>
              </a:defRPr>
            </a:pPr>
            <a:r>
              <a:rPr sz="1050" cap="none" dirty="0">
                <a:latin typeface="Consolas"/>
              </a:rPr>
              <a:t>    - type: prefill</a:t>
            </a:r>
          </a:p>
          <a:p>
            <a:pPr>
              <a:lnSpc>
                <a:spcPts val="1223"/>
              </a:lnSpc>
              <a:defRPr sz="1400" b="0">
                <a:solidFill>
                  <a:srgbClr val="FFFFFF"/>
                </a:solidFill>
                <a:latin typeface="Consolas"/>
              </a:defRPr>
            </a:pPr>
            <a:r>
              <a:rPr sz="1050" cap="none" dirty="0">
                <a:latin typeface="Consolas"/>
              </a:rPr>
              <a:t>      replicas: 1</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Standard_NC24ads_A100_v4</a:t>
            </a:r>
          </a:p>
          <a:p>
            <a:pPr>
              <a:lnSpc>
                <a:spcPts val="1223"/>
              </a:lnSpc>
              <a:defRPr sz="1400" b="0">
                <a:solidFill>
                  <a:srgbClr val="FFFFFF"/>
                </a:solidFill>
                <a:latin typeface="Consolas"/>
              </a:defRPr>
            </a:pPr>
            <a:r>
              <a:rPr sz="1050" cap="none" dirty="0">
                <a:latin typeface="Consolas"/>
              </a:rPr>
              <a:t>    - type: decode</a:t>
            </a:r>
          </a:p>
          <a:p>
            <a:pPr>
              <a:lnSpc>
                <a:spcPts val="1223"/>
              </a:lnSpc>
              <a:defRPr sz="1400" b="0">
                <a:solidFill>
                  <a:srgbClr val="FFFFFF"/>
                </a:solidFill>
                <a:latin typeface="Consolas"/>
              </a:defRPr>
            </a:pPr>
            <a:r>
              <a:rPr sz="1050" cap="none" dirty="0">
                <a:latin typeface="Consolas"/>
              </a:rPr>
              <a:t>      replicas: 2</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Standard_NC80adis_H100_v5</a:t>
            </a:r>
          </a:p>
        </p:txBody>
      </p:sp>
      <p:cxnSp>
        <p:nvCxnSpPr>
          <p:cNvPr id="11" name="Flow"/>
          <p:cNvCxnSpPr/>
          <p:nvPr/>
        </p:nvCxnSpPr>
        <p:spPr>
          <a:xfrm>
            <a:off x="4718304" y="2791206"/>
            <a:ext cx="370332"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2" name="reconcile"/>
          <p:cNvSpPr txBox="1"/>
          <p:nvPr/>
        </p:nvSpPr>
        <p:spPr>
          <a:xfrm>
            <a:off x="4663440" y="2496312"/>
            <a:ext cx="500634" cy="205740"/>
          </a:xfrm>
          <a:prstGeom prst="rect">
            <a:avLst/>
          </a:prstGeom>
          <a:noFill/>
        </p:spPr>
        <p:txBody>
          <a:bodyPr wrap="square" lIns="0" tIns="0" rIns="0" bIns="0" anchor="t">
            <a:noAutofit/>
          </a:bodyPr>
          <a:lstStyle/>
          <a:p>
            <a:pPr algn="ctr">
              <a:spcAft>
                <a:spcPts val="150"/>
              </a:spcAft>
              <a:defRPr sz="900" b="0">
                <a:solidFill>
                  <a:srgbClr val="7150C8"/>
                </a:solidFill>
                <a:latin typeface="Arial"/>
              </a:defRPr>
            </a:pPr>
            <a:r>
              <a:rPr sz="675" cap="none">
                <a:latin typeface="Arial"/>
              </a:rPr>
              <a:t>reconcile</a:t>
            </a:r>
          </a:p>
        </p:txBody>
      </p:sp>
      <p:sp>
        <p:nvSpPr>
          <p:cNvPr id="13" name="qwen-3-8-27b"/>
          <p:cNvSpPr/>
          <p:nvPr/>
        </p:nvSpPr>
        <p:spPr>
          <a:xfrm>
            <a:off x="5212080" y="1385316"/>
            <a:ext cx="3518154" cy="58978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100" b="1">
                <a:solidFill>
                  <a:srgbClr val="2463D4"/>
                </a:solidFill>
                <a:latin typeface="Arial"/>
              </a:defRPr>
            </a:pPr>
            <a:r>
              <a:rPr sz="1575" cap="none">
                <a:latin typeface="Arial"/>
              </a:rPr>
              <a:t>qwen-3-8-27b</a:t>
            </a:r>
          </a:p>
          <a:p>
            <a:pPr algn="ctr">
              <a:spcBef>
                <a:spcPts val="225"/>
              </a:spcBef>
              <a:defRPr sz="1200" b="0">
                <a:solidFill>
                  <a:srgbClr val="5B6E80"/>
                </a:solidFill>
                <a:latin typeface="Arial"/>
              </a:defRPr>
            </a:pPr>
            <a:r>
              <a:rPr sz="900" cap="none">
                <a:latin typeface="Arial"/>
              </a:rPr>
              <a:t>Qwen/Qwen3.8-27B</a:t>
            </a:r>
          </a:p>
        </p:txBody>
      </p:sp>
      <p:sp>
        <p:nvSpPr>
          <p:cNvPr id="14" name="ONE LOGICAL SERVICE / INFERENCEPOOL"/>
          <p:cNvSpPr txBox="1"/>
          <p:nvPr/>
        </p:nvSpPr>
        <p:spPr>
          <a:xfrm>
            <a:off x="5232654" y="2057400"/>
            <a:ext cx="3477006" cy="164592"/>
          </a:xfrm>
          <a:prstGeom prst="rect">
            <a:avLst/>
          </a:prstGeom>
          <a:noFill/>
        </p:spPr>
        <p:txBody>
          <a:bodyPr wrap="square" lIns="0" tIns="0" rIns="0" bIns="0" anchor="t">
            <a:noAutofit/>
          </a:bodyPr>
          <a:lstStyle/>
          <a:p>
            <a:pPr algn="ctr">
              <a:spcAft>
                <a:spcPts val="150"/>
              </a:spcAft>
              <a:defRPr sz="1100" b="1">
                <a:solidFill>
                  <a:srgbClr val="5B6E80"/>
                </a:solidFill>
                <a:latin typeface="Arial"/>
              </a:defRPr>
            </a:pPr>
            <a:r>
              <a:rPr sz="825" cap="none">
                <a:latin typeface="Arial"/>
              </a:rPr>
              <a:t>One logical service / InferencePool</a:t>
            </a:r>
          </a:p>
        </p:txBody>
      </p:sp>
      <p:sp>
        <p:nvSpPr>
          <p:cNvPr id="15" name="Panel 14"/>
          <p:cNvSpPr/>
          <p:nvPr/>
        </p:nvSpPr>
        <p:spPr>
          <a:xfrm>
            <a:off x="5212080" y="2379726"/>
            <a:ext cx="1666494" cy="1831086"/>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Panel 15"/>
          <p:cNvSpPr/>
          <p:nvPr/>
        </p:nvSpPr>
        <p:spPr>
          <a:xfrm>
            <a:off x="7056882" y="2379726"/>
            <a:ext cx="1673352" cy="183108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Prefill role"/>
          <p:cNvSpPr txBox="1"/>
          <p:nvPr/>
        </p:nvSpPr>
        <p:spPr>
          <a:xfrm>
            <a:off x="5349241" y="2503170"/>
            <a:ext cx="1392173" cy="240030"/>
          </a:xfrm>
          <a:prstGeom prst="rect">
            <a:avLst/>
          </a:prstGeom>
          <a:noFill/>
        </p:spPr>
        <p:txBody>
          <a:bodyPr wrap="square" lIns="0" tIns="0" rIns="0" bIns="0" anchor="t">
            <a:noAutofit/>
          </a:bodyPr>
          <a:lstStyle/>
          <a:p>
            <a:pPr>
              <a:spcAft>
                <a:spcPts val="300"/>
              </a:spcAft>
              <a:defRPr sz="2000" b="1">
                <a:solidFill>
                  <a:srgbClr val="A85C05"/>
                </a:solidFill>
                <a:latin typeface="Arial"/>
              </a:defRPr>
            </a:pPr>
            <a:r>
              <a:rPr sz="1500" cap="none">
                <a:latin typeface="Arial"/>
              </a:rPr>
              <a:t>Prefill role</a:t>
            </a:r>
          </a:p>
        </p:txBody>
      </p:sp>
      <p:sp>
        <p:nvSpPr>
          <p:cNvPr id="18" name="Decode role"/>
          <p:cNvSpPr txBox="1"/>
          <p:nvPr/>
        </p:nvSpPr>
        <p:spPr>
          <a:xfrm>
            <a:off x="7194042" y="2503170"/>
            <a:ext cx="1399032" cy="240030"/>
          </a:xfrm>
          <a:prstGeom prst="rect">
            <a:avLst/>
          </a:prstGeom>
          <a:noFill/>
        </p:spPr>
        <p:txBody>
          <a:bodyPr wrap="square" lIns="0" tIns="0" rIns="0" bIns="0" anchor="t">
            <a:noAutofit/>
          </a:bodyPr>
          <a:lstStyle/>
          <a:p>
            <a:pPr>
              <a:spcAft>
                <a:spcPts val="300"/>
              </a:spcAft>
              <a:defRPr sz="2000" b="1">
                <a:solidFill>
                  <a:srgbClr val="087F82"/>
                </a:solidFill>
                <a:latin typeface="Arial"/>
              </a:defRPr>
            </a:pPr>
            <a:r>
              <a:rPr sz="1500" cap="none">
                <a:latin typeface="Arial"/>
              </a:rPr>
              <a:t>Decode role</a:t>
            </a:r>
          </a:p>
        </p:txBody>
      </p:sp>
      <p:sp>
        <p:nvSpPr>
          <p:cNvPr id="19" name="replicas: 1"/>
          <p:cNvSpPr txBox="1"/>
          <p:nvPr/>
        </p:nvSpPr>
        <p:spPr>
          <a:xfrm>
            <a:off x="5349241" y="2798064"/>
            <a:ext cx="1392173" cy="164592"/>
          </a:xfrm>
          <a:prstGeom prst="rect">
            <a:avLst/>
          </a:prstGeom>
          <a:noFill/>
        </p:spPr>
        <p:txBody>
          <a:bodyPr wrap="square" lIns="0" tIns="0" rIns="0" bIns="0" anchor="t">
            <a:noAutofit/>
          </a:bodyPr>
          <a:lstStyle/>
          <a:p>
            <a:pPr>
              <a:spcAft>
                <a:spcPts val="150"/>
              </a:spcAft>
              <a:defRPr sz="1300" b="0">
                <a:solidFill>
                  <a:srgbClr val="A85C05"/>
                </a:solidFill>
                <a:latin typeface="Arial"/>
              </a:defRPr>
            </a:pPr>
            <a:r>
              <a:rPr sz="975" cap="none">
                <a:latin typeface="Arial"/>
              </a:rPr>
              <a:t>replicas: 1</a:t>
            </a:r>
          </a:p>
        </p:txBody>
      </p:sp>
      <p:sp>
        <p:nvSpPr>
          <p:cNvPr id="20" name="replicas: 2"/>
          <p:cNvSpPr txBox="1"/>
          <p:nvPr/>
        </p:nvSpPr>
        <p:spPr>
          <a:xfrm>
            <a:off x="7194042" y="2798064"/>
            <a:ext cx="1399032" cy="164592"/>
          </a:xfrm>
          <a:prstGeom prst="rect">
            <a:avLst/>
          </a:prstGeom>
          <a:noFill/>
        </p:spPr>
        <p:txBody>
          <a:bodyPr wrap="square" lIns="0" tIns="0" rIns="0" bIns="0" anchor="t">
            <a:noAutofit/>
          </a:bodyPr>
          <a:lstStyle/>
          <a:p>
            <a:pPr>
              <a:spcAft>
                <a:spcPts val="150"/>
              </a:spcAft>
              <a:defRPr sz="1300" b="0">
                <a:solidFill>
                  <a:srgbClr val="087F82"/>
                </a:solidFill>
                <a:latin typeface="Arial"/>
              </a:defRPr>
            </a:pPr>
            <a:r>
              <a:rPr sz="975" cap="none">
                <a:latin typeface="Arial"/>
              </a:rPr>
              <a:t>replicas: 2</a:t>
            </a:r>
          </a:p>
        </p:txBody>
      </p:sp>
      <p:sp>
        <p:nvSpPr>
          <p:cNvPr id="21" name="A100 / replica 1"/>
          <p:cNvSpPr/>
          <p:nvPr/>
        </p:nvSpPr>
        <p:spPr>
          <a:xfrm>
            <a:off x="5356099" y="3072385"/>
            <a:ext cx="1378457"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A100 / replica 1</a:t>
            </a:r>
          </a:p>
        </p:txBody>
      </p:sp>
      <p:sp>
        <p:nvSpPr>
          <p:cNvPr id="22" name="H100 / replica 1"/>
          <p:cNvSpPr/>
          <p:nvPr/>
        </p:nvSpPr>
        <p:spPr>
          <a:xfrm>
            <a:off x="7200900" y="3072385"/>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1</a:t>
            </a:r>
          </a:p>
        </p:txBody>
      </p:sp>
      <p:sp>
        <p:nvSpPr>
          <p:cNvPr id="23" name="H100 / replica 2"/>
          <p:cNvSpPr/>
          <p:nvPr/>
        </p:nvSpPr>
        <p:spPr>
          <a:xfrm>
            <a:off x="7200900" y="3559303"/>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2</a:t>
            </a:r>
          </a:p>
        </p:txBody>
      </p:sp>
      <p:sp>
        <p:nvSpPr>
          <p:cNvPr id="24" name="Standard_NC24ads_A100_v4"/>
          <p:cNvSpPr txBox="1"/>
          <p:nvPr/>
        </p:nvSpPr>
        <p:spPr>
          <a:xfrm>
            <a:off x="5301234" y="4025646"/>
            <a:ext cx="1488186" cy="123444"/>
          </a:xfrm>
          <a:prstGeom prst="rect">
            <a:avLst/>
          </a:prstGeom>
          <a:noFill/>
        </p:spPr>
        <p:txBody>
          <a:bodyPr wrap="square" lIns="0" tIns="0" rIns="0" bIns="0" anchor="t">
            <a:noAutofit/>
          </a:bodyPr>
          <a:lstStyle/>
          <a:p>
            <a:pPr algn="ctr">
              <a:spcAft>
                <a:spcPts val="150"/>
              </a:spcAft>
              <a:defRPr sz="900" b="0">
                <a:solidFill>
                  <a:srgbClr val="A85C05"/>
                </a:solidFill>
                <a:latin typeface="Arial"/>
              </a:defRPr>
            </a:pPr>
            <a:r>
              <a:rPr sz="675" cap="none">
                <a:latin typeface="Arial"/>
              </a:rPr>
              <a:t>Standard_NC24ads_A100_v4</a:t>
            </a:r>
          </a:p>
        </p:txBody>
      </p:sp>
      <p:sp>
        <p:nvSpPr>
          <p:cNvPr id="25" name="Standard_NC80adis_H100_v5"/>
          <p:cNvSpPr txBox="1"/>
          <p:nvPr/>
        </p:nvSpPr>
        <p:spPr>
          <a:xfrm>
            <a:off x="7146036" y="4025646"/>
            <a:ext cx="1495044" cy="123444"/>
          </a:xfrm>
          <a:prstGeom prst="rect">
            <a:avLst/>
          </a:prstGeom>
          <a:noFill/>
        </p:spPr>
        <p:txBody>
          <a:bodyPr wrap="square" lIns="0" tIns="0" rIns="0" bIns="0" anchor="t">
            <a:noAutofit/>
          </a:bodyPr>
          <a:lstStyle/>
          <a:p>
            <a:pPr algn="ctr">
              <a:spcAft>
                <a:spcPts val="150"/>
              </a:spcAft>
              <a:defRPr sz="900" b="0">
                <a:solidFill>
                  <a:srgbClr val="087F82"/>
                </a:solidFill>
                <a:latin typeface="Arial"/>
              </a:defRPr>
            </a:pPr>
            <a:r>
              <a:rPr sz="675" cap="none">
                <a:latin typeface="Arial"/>
              </a:rPr>
              <a:t>Standard_NC80adis_H100_v5</a:t>
            </a:r>
          </a:p>
        </p:txBody>
      </p:sp>
      <p:cxnSp>
        <p:nvCxnSpPr>
          <p:cNvPr id="26" name="Flow"/>
          <p:cNvCxnSpPr/>
          <p:nvPr/>
        </p:nvCxnSpPr>
        <p:spPr>
          <a:xfrm>
            <a:off x="6048756" y="2249424"/>
            <a:ext cx="0" cy="10287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7" name="Flow"/>
          <p:cNvCxnSpPr/>
          <p:nvPr/>
        </p:nvCxnSpPr>
        <p:spPr>
          <a:xfrm>
            <a:off x="7893558" y="2249424"/>
            <a:ext cx="0" cy="102870"/>
          </a:xfrm>
          <a:prstGeom prst="line">
            <a:avLst/>
          </a:prstGeom>
          <a:ln w="22860">
            <a:solidFill>
              <a:srgbClr val="087F82"/>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Panel 2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Panel 2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Same model, independent role placement — A100 for prefill; H100 for decod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Both roles serve the same model. Each has its own InferenceSet and capacity settings.</a:t>
            </a:r>
          </a:p>
        </p:txBody>
      </p:sp>
      <p:sp>
        <p:nvSpPr>
          <p:cNvPr id="31" name="TextBox 3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C9D11D3-B3E0-5610-AEC2-EA17DC1E4ACC}" type="slidenum">
              <a:rPr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CONCILIATION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reconciliation</a:t>
            </a:r>
          </a:p>
        </p:txBody>
      </p:sp>
      <p:sp>
        <p:nvSpPr>
          <p:cNvPr id="4" name="KAITO generates resources — and keeps them aligne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KAITO creates resources and keeps them aligned</a:t>
            </a:r>
          </a:p>
        </p:txBody>
      </p:sp>
      <p:sp>
        <p:nvSpPr>
          <p:cNvPr id="5" name="A declarative topology becomes owned resources, runtime wiring and a shared rout"/>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KAITO turns the declared topology into workers, routing resources and runtime wiring.</a:t>
            </a:r>
          </a:p>
        </p:txBody>
      </p:sp>
      <p:sp>
        <p:nvSpPr>
          <p:cNvPr id="8" name="MultiRoleInference"/>
          <p:cNvSpPr/>
          <p:nvPr/>
        </p:nvSpPr>
        <p:spPr>
          <a:xfrm>
            <a:off x="3175254" y="1357884"/>
            <a:ext cx="2791206" cy="49377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200" b="1">
                <a:solidFill>
                  <a:srgbClr val="7150C8"/>
                </a:solidFill>
                <a:latin typeface="Arial"/>
              </a:defRPr>
            </a:pPr>
            <a:r>
              <a:rPr sz="1650" cap="none">
                <a:latin typeface="Arial"/>
              </a:rPr>
              <a:t>MultiRoleInference</a:t>
            </a:r>
          </a:p>
        </p:txBody>
      </p:sp>
      <p:sp>
        <p:nvSpPr>
          <p:cNvPr id="9" name="KAITO RECONCILES + OWNS"/>
          <p:cNvSpPr txBox="1"/>
          <p:nvPr/>
        </p:nvSpPr>
        <p:spPr>
          <a:xfrm>
            <a:off x="3429000" y="1947672"/>
            <a:ext cx="2276856" cy="164592"/>
          </a:xfrm>
          <a:prstGeom prst="rect">
            <a:avLst/>
          </a:prstGeom>
          <a:noFill/>
        </p:spPr>
        <p:txBody>
          <a:bodyPr wrap="square" lIns="0" tIns="0" rIns="0" bIns="0" anchor="t">
            <a:noAutofit/>
          </a:bodyPr>
          <a:lstStyle/>
          <a:p>
            <a:pPr algn="ctr">
              <a:spcAft>
                <a:spcPts val="150"/>
              </a:spcAft>
              <a:defRPr sz="1100" b="1">
                <a:solidFill>
                  <a:srgbClr val="7150C8"/>
                </a:solidFill>
                <a:latin typeface="Arial"/>
              </a:defRPr>
            </a:pPr>
            <a:r>
              <a:rPr sz="825" cap="none">
                <a:latin typeface="Arial"/>
              </a:rPr>
              <a:t>KAITO reconciles + owns</a:t>
            </a:r>
          </a:p>
        </p:txBody>
      </p:sp>
      <p:cxnSp>
        <p:nvCxnSpPr>
          <p:cNvPr id="10" name="KAITO owns Prefill InferenceSet"/>
          <p:cNvCxnSpPr/>
          <p:nvPr/>
        </p:nvCxnSpPr>
        <p:spPr>
          <a:xfrm flipH="1">
            <a:off x="1687068" y="2146554"/>
            <a:ext cx="288378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1" name="KAITO owns Prefill InferenceSet"/>
          <p:cNvCxnSpPr/>
          <p:nvPr/>
        </p:nvCxnSpPr>
        <p:spPr>
          <a:xfrm>
            <a:off x="168706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2" name="Prefill InferenceSet"/>
          <p:cNvSpPr/>
          <p:nvPr/>
        </p:nvSpPr>
        <p:spPr>
          <a:xfrm>
            <a:off x="432054" y="2400300"/>
            <a:ext cx="2516886" cy="637794"/>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A85C05"/>
                </a:solidFill>
                <a:latin typeface="Arial"/>
              </a:defRPr>
            </a:pPr>
            <a:r>
              <a:rPr sz="1425" cap="none">
                <a:latin typeface="Arial"/>
              </a:rPr>
              <a:t>Prefill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3" name="KAITO owns Decode InferenceSet"/>
          <p:cNvCxnSpPr/>
          <p:nvPr/>
        </p:nvCxnSpPr>
        <p:spPr>
          <a:xfrm flipH="1">
            <a:off x="4567428" y="2146554"/>
            <a:ext cx="342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4" name="KAITO owns Decode InferenceSet"/>
          <p:cNvCxnSpPr/>
          <p:nvPr/>
        </p:nvCxnSpPr>
        <p:spPr>
          <a:xfrm>
            <a:off x="456742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Decode InferenceSet"/>
          <p:cNvSpPr/>
          <p:nvPr/>
        </p:nvSpPr>
        <p:spPr>
          <a:xfrm>
            <a:off x="3312414" y="2400300"/>
            <a:ext cx="2516886" cy="63779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Decode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6" name="KAITO owns Routing resources"/>
          <p:cNvCxnSpPr/>
          <p:nvPr/>
        </p:nvCxnSpPr>
        <p:spPr>
          <a:xfrm>
            <a:off x="4570857" y="2146554"/>
            <a:ext cx="2876931"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7" name="KAITO owns Routing resources"/>
          <p:cNvCxnSpPr/>
          <p:nvPr/>
        </p:nvCxnSpPr>
        <p:spPr>
          <a:xfrm>
            <a:off x="744778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8" name="Routing resources"/>
          <p:cNvSpPr/>
          <p:nvPr/>
        </p:nvSpPr>
        <p:spPr>
          <a:xfrm>
            <a:off x="6192773" y="2400300"/>
            <a:ext cx="2516886" cy="63779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2463D4"/>
                </a:solidFill>
                <a:latin typeface="Arial"/>
              </a:defRPr>
            </a:pPr>
            <a:r>
              <a:rPr sz="1425" cap="none">
                <a:latin typeface="Arial"/>
              </a:rPr>
              <a:t>Routing resources</a:t>
            </a:r>
          </a:p>
          <a:p>
            <a:pPr algn="ctr">
              <a:spcBef>
                <a:spcPts val="225"/>
              </a:spcBef>
              <a:defRPr sz="1200" b="0">
                <a:solidFill>
                  <a:srgbClr val="5B6E80"/>
                </a:solidFill>
                <a:latin typeface="Arial"/>
              </a:defRPr>
            </a:pPr>
            <a:r>
              <a:rPr sz="900" cap="none">
                <a:latin typeface="Arial"/>
              </a:rPr>
              <a:t>InferencePool + llm-d EPP</a:t>
            </a:r>
          </a:p>
        </p:txBody>
      </p:sp>
      <p:sp>
        <p:nvSpPr>
          <p:cNvPr id="19" name="Role labels / NIXL host / Pod IP"/>
          <p:cNvSpPr txBox="1"/>
          <p:nvPr/>
        </p:nvSpPr>
        <p:spPr>
          <a:xfrm>
            <a:off x="60350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Set role labels and</a:t>
            </a:r>
          </a:p>
          <a:p>
            <a:pPr>
              <a:spcAft>
                <a:spcPts val="150"/>
              </a:spcAft>
              <a:defRPr sz="1700" b="0">
                <a:solidFill>
                  <a:srgbClr val="5B6E80"/>
                </a:solidFill>
                <a:latin typeface="Arial"/>
              </a:defRPr>
            </a:pPr>
            <a:r>
              <a:rPr sz="1275" cap="none">
                <a:latin typeface="Arial"/>
              </a:rPr>
              <a:t>NIXL host / Pod IP.</a:t>
            </a:r>
          </a:p>
        </p:txBody>
      </p:sp>
      <p:sp>
        <p:nvSpPr>
          <p:cNvPr id="20" name="Routing sidecar injection / NIXL + local vLLM ports"/>
          <p:cNvSpPr txBox="1"/>
          <p:nvPr/>
        </p:nvSpPr>
        <p:spPr>
          <a:xfrm>
            <a:off x="348386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dirty="0">
                <a:latin typeface="Arial"/>
              </a:rPr>
              <a:t>Inject the sidecar.</a:t>
            </a:r>
          </a:p>
          <a:p>
            <a:pPr>
              <a:spcAft>
                <a:spcPts val="150"/>
              </a:spcAft>
              <a:defRPr sz="1700" b="0">
                <a:solidFill>
                  <a:srgbClr val="5B6E80"/>
                </a:solidFill>
                <a:latin typeface="Arial"/>
              </a:defRPr>
            </a:pPr>
            <a:r>
              <a:rPr sz="1275" cap="none" dirty="0">
                <a:latin typeface="Arial"/>
              </a:rPr>
              <a:t>Align NIXL and </a:t>
            </a:r>
            <a:r>
              <a:rPr sz="1275" cap="none" dirty="0" err="1">
                <a:latin typeface="Arial"/>
              </a:rPr>
              <a:t>vLLM</a:t>
            </a:r>
            <a:r>
              <a:rPr sz="1275" cap="none" dirty="0">
                <a:latin typeface="Arial"/>
              </a:rPr>
              <a:t> ports.</a:t>
            </a:r>
          </a:p>
        </p:txBody>
      </p:sp>
      <p:sp>
        <p:nvSpPr>
          <p:cNvPr id="21" name="Services + targetPorts / Endpoint selection config"/>
          <p:cNvSpPr txBox="1"/>
          <p:nvPr/>
        </p:nvSpPr>
        <p:spPr>
          <a:xfrm>
            <a:off x="636422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Connect Services, ports</a:t>
            </a:r>
          </a:p>
          <a:p>
            <a:pPr>
              <a:spcAft>
                <a:spcPts val="150"/>
              </a:spcAft>
              <a:defRPr sz="1700" b="0">
                <a:solidFill>
                  <a:srgbClr val="5B6E80"/>
                </a:solidFill>
                <a:latin typeface="Arial"/>
              </a:defRPr>
            </a:pPr>
            <a:r>
              <a:rPr sz="1275" cap="none">
                <a:latin typeface="Arial"/>
              </a:rPr>
              <a:t>and endpoint selection.</a:t>
            </a:r>
          </a:p>
        </p:txBody>
      </p:sp>
      <p:sp>
        <p:nvSpPr>
          <p:cNvPr id="22" name="Panel 21"/>
          <p:cNvSpPr/>
          <p:nvPr/>
        </p:nvSpPr>
        <p:spPr>
          <a:xfrm>
            <a:off x="445770" y="3936492"/>
            <a:ext cx="8250174" cy="28803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Shared invariants: ownership references • role consistency • labels • ports • li"/>
          <p:cNvSpPr txBox="1"/>
          <p:nvPr/>
        </p:nvSpPr>
        <p:spPr>
          <a:xfrm>
            <a:off x="582930" y="3998214"/>
            <a:ext cx="7955280" cy="150876"/>
          </a:xfrm>
          <a:prstGeom prst="rect">
            <a:avLst/>
          </a:prstGeom>
          <a:noFill/>
        </p:spPr>
        <p:txBody>
          <a:bodyPr wrap="square" lIns="0" tIns="0" rIns="0" bIns="0" anchor="t">
            <a:noAutofit/>
          </a:bodyPr>
          <a:lstStyle/>
          <a:p>
            <a:pPr algn="ctr">
              <a:spcAft>
                <a:spcPts val="150"/>
              </a:spcAft>
              <a:defRPr sz="1300" b="0">
                <a:solidFill>
                  <a:srgbClr val="5B6E80"/>
                </a:solidFill>
                <a:latin typeface="Arial"/>
              </a:defRPr>
            </a:pPr>
            <a:r>
              <a:rPr sz="975" cap="none">
                <a:latin typeface="Arial"/>
              </a:rPr>
              <a:t>Keep ownership, roles, labels, ports and lifecycle consistent.</a:t>
            </a:r>
          </a:p>
        </p:txBody>
      </p:sp>
      <p:sp>
        <p:nvSpPr>
          <p:cNvPr id="24" name="Panel 23"/>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Panel 24"/>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Not just generated YAML: controller-owned relationships and consistent runtime 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keeps the resources working together; it does not just generate YAML.</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408E8023-5113-5A9C-8494-14DFEC31E5A7}" type="slidenum">
              <a:rPr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QUEST LIFECYCL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request lifecycle</a:t>
            </a:r>
          </a:p>
        </p:txBody>
      </p:sp>
      <p:sp>
        <p:nvSpPr>
          <p:cNvPr id="4" name="The decode sidecar coordinates the P/D request"/>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The decode sidecar coordinates the P/D request</a:t>
            </a:r>
          </a:p>
        </p:txBody>
      </p:sp>
      <p:sp>
        <p:nvSpPr>
          <p:cNvPr id="5" name="Remote prefill when needed; local decode on the selected worker."/>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sidecar calls remote prefill when needed, then invokes local decode.</a:t>
            </a:r>
          </a:p>
        </p:txBody>
      </p:sp>
      <p:sp>
        <p:nvSpPr>
          <p:cNvPr id="8" name="Client"/>
          <p:cNvSpPr/>
          <p:nvPr/>
        </p:nvSpPr>
        <p:spPr>
          <a:xfrm>
            <a:off x="144017"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Client</a:t>
            </a:r>
          </a:p>
        </p:txBody>
      </p:sp>
      <p:cxnSp>
        <p:nvCxnSpPr>
          <p:cNvPr id="9" name="Client lifeline"/>
          <p:cNvCxnSpPr/>
          <p:nvPr/>
        </p:nvCxnSpPr>
        <p:spPr>
          <a:xfrm>
            <a:off x="822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0" name="Gateway"/>
          <p:cNvSpPr/>
          <p:nvPr/>
        </p:nvSpPr>
        <p:spPr>
          <a:xfrm>
            <a:off x="1810511"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Gateway</a:t>
            </a:r>
          </a:p>
        </p:txBody>
      </p:sp>
      <p:cxnSp>
        <p:nvCxnSpPr>
          <p:cNvPr id="11" name="Gateway lifeline"/>
          <p:cNvCxnSpPr/>
          <p:nvPr/>
        </p:nvCxnSpPr>
        <p:spPr>
          <a:xfrm>
            <a:off x="2489454"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2" name="Decode sidecar"/>
          <p:cNvSpPr/>
          <p:nvPr/>
        </p:nvSpPr>
        <p:spPr>
          <a:xfrm>
            <a:off x="3470148"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Decode sidecar</a:t>
            </a:r>
          </a:p>
        </p:txBody>
      </p:sp>
      <p:cxnSp>
        <p:nvCxnSpPr>
          <p:cNvPr id="13" name="Decode sidecar lifeline"/>
          <p:cNvCxnSpPr/>
          <p:nvPr/>
        </p:nvCxnSpPr>
        <p:spPr>
          <a:xfrm>
            <a:off x="414909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4" name="Prefill vLLM"/>
          <p:cNvSpPr/>
          <p:nvPr/>
        </p:nvSpPr>
        <p:spPr>
          <a:xfrm>
            <a:off x="5150358" y="1392173"/>
            <a:ext cx="1357884" cy="37033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Prefill vLLM</a:t>
            </a:r>
          </a:p>
        </p:txBody>
      </p:sp>
      <p:cxnSp>
        <p:nvCxnSpPr>
          <p:cNvPr id="15" name="Prefill vLLM lifeline"/>
          <p:cNvCxnSpPr/>
          <p:nvPr/>
        </p:nvCxnSpPr>
        <p:spPr>
          <a:xfrm>
            <a:off x="582930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6" name="Decode vLLM"/>
          <p:cNvSpPr/>
          <p:nvPr/>
        </p:nvSpPr>
        <p:spPr>
          <a:xfrm>
            <a:off x="7002018" y="1392173"/>
            <a:ext cx="1357884" cy="370332"/>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Decode vLLM</a:t>
            </a:r>
          </a:p>
        </p:txBody>
      </p:sp>
      <p:cxnSp>
        <p:nvCxnSpPr>
          <p:cNvPr id="17" name="Decode vLLM lifeline"/>
          <p:cNvCxnSpPr/>
          <p:nvPr/>
        </p:nvCxnSpPr>
        <p:spPr>
          <a:xfrm>
            <a:off x="7680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cxnSp>
        <p:nvCxnSpPr>
          <p:cNvPr id="18" name="1  Inference request"/>
          <p:cNvCxnSpPr/>
          <p:nvPr/>
        </p:nvCxnSpPr>
        <p:spPr>
          <a:xfrm>
            <a:off x="822960" y="2016252"/>
            <a:ext cx="16664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1  Inference request"/>
          <p:cNvSpPr txBox="1"/>
          <p:nvPr/>
        </p:nvSpPr>
        <p:spPr>
          <a:xfrm>
            <a:off x="864109" y="1865376"/>
            <a:ext cx="1584197"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1  Inference request</a:t>
            </a:r>
          </a:p>
        </p:txBody>
      </p:sp>
      <p:cxnSp>
        <p:nvCxnSpPr>
          <p:cNvPr id="20" name="2  Selected decode + prefill header"/>
          <p:cNvCxnSpPr/>
          <p:nvPr/>
        </p:nvCxnSpPr>
        <p:spPr>
          <a:xfrm>
            <a:off x="2489454" y="2290572"/>
            <a:ext cx="1659636"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2  Route to decode sidecar /      + selected prefill header"/>
          <p:cNvSpPr txBox="1"/>
          <p:nvPr/>
        </p:nvSpPr>
        <p:spPr>
          <a:xfrm>
            <a:off x="2530602" y="2050542"/>
            <a:ext cx="1577340" cy="233172"/>
          </a:xfrm>
          <a:prstGeom prst="rect">
            <a:avLst/>
          </a:prstGeom>
          <a:noFill/>
        </p:spPr>
        <p:txBody>
          <a:bodyPr wrap="square" lIns="0" tIns="0" rIns="0" bIns="0" anchor="t">
            <a:noAutofit/>
          </a:bodyPr>
          <a:lstStyle/>
          <a:p>
            <a:pPr algn="ctr">
              <a:spcAft>
                <a:spcPts val="150"/>
              </a:spcAft>
              <a:defRPr sz="1050" b="0">
                <a:solidFill>
                  <a:srgbClr val="2463D4"/>
                </a:solidFill>
                <a:latin typeface="Arial"/>
              </a:defRPr>
            </a:pPr>
            <a:r>
              <a:rPr sz="788" cap="none">
                <a:latin typeface="Arial"/>
              </a:rPr>
              <a:t>2  Route to decode sidecar</a:t>
            </a:r>
          </a:p>
          <a:p>
            <a:pPr algn="ctr">
              <a:spcAft>
                <a:spcPts val="150"/>
              </a:spcAft>
              <a:defRPr sz="1050" b="0">
                <a:solidFill>
                  <a:srgbClr val="2463D4"/>
                </a:solidFill>
                <a:latin typeface="Arial"/>
              </a:defRPr>
            </a:pPr>
            <a:r>
              <a:rPr sz="788" cap="none">
                <a:latin typeface="Arial"/>
              </a:rPr>
              <a:t>     + selected prefill header</a:t>
            </a:r>
          </a:p>
        </p:txBody>
      </p:sp>
      <p:cxnSp>
        <p:nvCxnSpPr>
          <p:cNvPr id="22" name="3  Remote prefill · max_tokens=1"/>
          <p:cNvCxnSpPr/>
          <p:nvPr/>
        </p:nvCxnSpPr>
        <p:spPr>
          <a:xfrm>
            <a:off x="4149090" y="2564892"/>
            <a:ext cx="1680210" cy="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23" name="3  Remote prefill /      max_tokens=1"/>
          <p:cNvSpPr txBox="1"/>
          <p:nvPr/>
        </p:nvSpPr>
        <p:spPr>
          <a:xfrm>
            <a:off x="4190237" y="2324862"/>
            <a:ext cx="1597914" cy="233172"/>
          </a:xfrm>
          <a:prstGeom prst="rect">
            <a:avLst/>
          </a:prstGeom>
          <a:noFill/>
        </p:spPr>
        <p:txBody>
          <a:bodyPr wrap="square" lIns="0" tIns="0" rIns="0" bIns="0" anchor="t">
            <a:noAutofit/>
          </a:bodyPr>
          <a:lstStyle/>
          <a:p>
            <a:pPr algn="ctr">
              <a:spcAft>
                <a:spcPts val="150"/>
              </a:spcAft>
              <a:defRPr sz="1050" b="0">
                <a:solidFill>
                  <a:srgbClr val="A85C05"/>
                </a:solidFill>
                <a:latin typeface="Arial"/>
              </a:defRPr>
            </a:pPr>
            <a:r>
              <a:rPr sz="788" cap="none">
                <a:latin typeface="Arial"/>
              </a:rPr>
              <a:t>3  Remote prefill</a:t>
            </a:r>
          </a:p>
          <a:p>
            <a:pPr algn="ctr">
              <a:spcAft>
                <a:spcPts val="150"/>
              </a:spcAft>
              <a:defRPr sz="1050" b="0">
                <a:solidFill>
                  <a:srgbClr val="A85C05"/>
                </a:solidFill>
                <a:latin typeface="Arial"/>
              </a:defRPr>
            </a:pPr>
            <a:r>
              <a:rPr sz="788" cap="none">
                <a:latin typeface="Arial"/>
              </a:rPr>
              <a:t>     max_tokens=1</a:t>
            </a:r>
          </a:p>
        </p:txBody>
      </p:sp>
      <p:cxnSp>
        <p:nvCxnSpPr>
          <p:cNvPr id="24" name="4  Remote KV parameters"/>
          <p:cNvCxnSpPr/>
          <p:nvPr/>
        </p:nvCxnSpPr>
        <p:spPr>
          <a:xfrm flipH="1">
            <a:off x="4149090" y="2839211"/>
            <a:ext cx="1680210" cy="0"/>
          </a:xfrm>
          <a:prstGeom prst="line">
            <a:avLst/>
          </a:prstGeom>
          <a:ln w="22860">
            <a:solidFill>
              <a:srgbClr val="A85C05"/>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5" name="4  Remote KV parameters"/>
          <p:cNvSpPr txBox="1"/>
          <p:nvPr/>
        </p:nvSpPr>
        <p:spPr>
          <a:xfrm>
            <a:off x="4190237" y="2688335"/>
            <a:ext cx="1597914" cy="137160"/>
          </a:xfrm>
          <a:prstGeom prst="rect">
            <a:avLst/>
          </a:prstGeom>
          <a:noFill/>
        </p:spPr>
        <p:txBody>
          <a:bodyPr wrap="square" lIns="0" tIns="0" rIns="0" bIns="0" anchor="t">
            <a:noAutofit/>
          </a:bodyPr>
          <a:lstStyle/>
          <a:p>
            <a:pPr algn="ctr">
              <a:spcAft>
                <a:spcPts val="150"/>
              </a:spcAft>
              <a:defRPr sz="1100" b="0">
                <a:solidFill>
                  <a:srgbClr val="A85C05"/>
                </a:solidFill>
                <a:latin typeface="Arial"/>
              </a:defRPr>
            </a:pPr>
            <a:r>
              <a:rPr sz="825" cap="none">
                <a:latin typeface="Arial"/>
              </a:rPr>
              <a:t>4  Remote KV parameters</a:t>
            </a:r>
          </a:p>
        </p:txBody>
      </p:sp>
      <p:cxnSp>
        <p:nvCxnSpPr>
          <p:cNvPr id="26" name="5  Local decode · remote_prefill=true + IDs"/>
          <p:cNvCxnSpPr/>
          <p:nvPr/>
        </p:nvCxnSpPr>
        <p:spPr>
          <a:xfrm>
            <a:off x="4149090" y="3140964"/>
            <a:ext cx="353187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5  Local decode · remote_prefill=true + IDs"/>
          <p:cNvSpPr txBox="1"/>
          <p:nvPr/>
        </p:nvSpPr>
        <p:spPr>
          <a:xfrm>
            <a:off x="4190238" y="2990088"/>
            <a:ext cx="3449573"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5  Local decode · remote_prefill=true + IDs</a:t>
            </a:r>
          </a:p>
        </p:txBody>
      </p:sp>
      <p:cxnSp>
        <p:nvCxnSpPr>
          <p:cNvPr id="28" name="6  KV data → decode (NIXL read)"/>
          <p:cNvCxnSpPr/>
          <p:nvPr/>
        </p:nvCxnSpPr>
        <p:spPr>
          <a:xfrm>
            <a:off x="5829300" y="3442716"/>
            <a:ext cx="1851660" cy="0"/>
          </a:xfrm>
          <a:prstGeom prst="line">
            <a:avLst/>
          </a:prstGeom>
          <a:ln w="2286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9" name="6  KV data → decode /      NIXL read by decode"/>
          <p:cNvSpPr txBox="1"/>
          <p:nvPr/>
        </p:nvSpPr>
        <p:spPr>
          <a:xfrm>
            <a:off x="5870449" y="3202686"/>
            <a:ext cx="1769363" cy="233172"/>
          </a:xfrm>
          <a:prstGeom prst="rect">
            <a:avLst/>
          </a:prstGeom>
          <a:noFill/>
        </p:spPr>
        <p:txBody>
          <a:bodyPr wrap="square" lIns="0" tIns="0" rIns="0" bIns="0" anchor="t">
            <a:noAutofit/>
          </a:bodyPr>
          <a:lstStyle/>
          <a:p>
            <a:pPr algn="ctr">
              <a:spcAft>
                <a:spcPts val="150"/>
              </a:spcAft>
              <a:defRPr sz="1050" b="0">
                <a:solidFill>
                  <a:srgbClr val="24824C"/>
                </a:solidFill>
                <a:latin typeface="Arial"/>
              </a:defRPr>
            </a:pPr>
            <a:r>
              <a:rPr sz="788" cap="none">
                <a:latin typeface="Arial"/>
              </a:rPr>
              <a:t>6  KV data → decode</a:t>
            </a:r>
          </a:p>
          <a:p>
            <a:pPr algn="ctr">
              <a:spcAft>
                <a:spcPts val="150"/>
              </a:spcAft>
              <a:defRPr sz="1050" b="0">
                <a:solidFill>
                  <a:srgbClr val="24824C"/>
                </a:solidFill>
                <a:latin typeface="Arial"/>
              </a:defRPr>
            </a:pPr>
            <a:r>
              <a:rPr sz="788" cap="none">
                <a:latin typeface="Arial"/>
              </a:rPr>
              <a:t>     NIXL read by decode</a:t>
            </a:r>
          </a:p>
        </p:txBody>
      </p:sp>
      <p:cxnSp>
        <p:nvCxnSpPr>
          <p:cNvPr id="30" name="7  Inference response"/>
          <p:cNvCxnSpPr/>
          <p:nvPr/>
        </p:nvCxnSpPr>
        <p:spPr>
          <a:xfrm flipH="1">
            <a:off x="4149090" y="3744468"/>
            <a:ext cx="3531870"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1" name="7  Inference response"/>
          <p:cNvSpPr txBox="1"/>
          <p:nvPr/>
        </p:nvSpPr>
        <p:spPr>
          <a:xfrm>
            <a:off x="4190238" y="3593592"/>
            <a:ext cx="3449573"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7  Inference response</a:t>
            </a:r>
          </a:p>
        </p:txBody>
      </p:sp>
      <p:cxnSp>
        <p:nvCxnSpPr>
          <p:cNvPr id="32" name="8  Response"/>
          <p:cNvCxnSpPr/>
          <p:nvPr/>
        </p:nvCxnSpPr>
        <p:spPr>
          <a:xfrm flipH="1">
            <a:off x="2489454" y="4018788"/>
            <a:ext cx="1659636"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3" name="8  Response"/>
          <p:cNvSpPr txBox="1"/>
          <p:nvPr/>
        </p:nvSpPr>
        <p:spPr>
          <a:xfrm>
            <a:off x="2530602" y="3867912"/>
            <a:ext cx="1577340"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8  Response</a:t>
            </a:r>
          </a:p>
        </p:txBody>
      </p:sp>
      <p:cxnSp>
        <p:nvCxnSpPr>
          <p:cNvPr id="34" name="9  Final response"/>
          <p:cNvCxnSpPr/>
          <p:nvPr/>
        </p:nvCxnSpPr>
        <p:spPr>
          <a:xfrm flipH="1">
            <a:off x="822960" y="4272534"/>
            <a:ext cx="1666494"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5" name="9  Final response"/>
          <p:cNvSpPr txBox="1"/>
          <p:nvPr/>
        </p:nvSpPr>
        <p:spPr>
          <a:xfrm>
            <a:off x="864109" y="4121658"/>
            <a:ext cx="1584197"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9  Final response</a:t>
            </a:r>
          </a:p>
        </p:txBody>
      </p:sp>
      <p:sp>
        <p:nvSpPr>
          <p:cNvPr id="36" name="Run decode"/>
          <p:cNvSpPr txBox="1"/>
          <p:nvPr/>
        </p:nvSpPr>
        <p:spPr>
          <a:xfrm>
            <a:off x="7845552" y="3531870"/>
            <a:ext cx="1062990" cy="144018"/>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Run decode</a:t>
            </a:r>
          </a:p>
        </p:txBody>
      </p:sp>
      <p:sp>
        <p:nvSpPr>
          <p:cNvPr id="37" name="Run prefill"/>
          <p:cNvSpPr txBox="1"/>
          <p:nvPr/>
        </p:nvSpPr>
        <p:spPr>
          <a:xfrm>
            <a:off x="5959602" y="2633472"/>
            <a:ext cx="1062990" cy="144018"/>
          </a:xfrm>
          <a:prstGeom prst="rect">
            <a:avLst/>
          </a:prstGeom>
          <a:noFill/>
        </p:spPr>
        <p:txBody>
          <a:bodyPr wrap="square" lIns="0" tIns="0" rIns="0" bIns="0" anchor="t">
            <a:noAutofit/>
          </a:bodyPr>
          <a:lstStyle/>
          <a:p>
            <a:pPr>
              <a:spcAft>
                <a:spcPts val="150"/>
              </a:spcAft>
              <a:defRPr sz="1000" b="1">
                <a:solidFill>
                  <a:srgbClr val="A85C05"/>
                </a:solidFill>
                <a:latin typeface="Arial"/>
              </a:defRPr>
            </a:pPr>
            <a:r>
              <a:rPr sz="750" cap="none">
                <a:latin typeface="Arial"/>
              </a:rPr>
              <a:t>Run prefill</a:t>
            </a:r>
          </a:p>
        </p:txBody>
      </p:sp>
      <p:sp>
        <p:nvSpPr>
          <p:cNvPr id="38" name="Panel 3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Panel 3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he sidecar coordinates the request; KV data moves directly between the two runt"/>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passes calls and KV metadata. The runtimes transfer the actual KV data.</a:t>
            </a:r>
          </a:p>
        </p:txBody>
      </p:sp>
      <p:sp>
        <p:nvSpPr>
          <p:cNvPr id="41" name="TextBox 4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7EAFE44-CF2A-55A1-80B8-E6C294FE352D}" type="slidenum">
              <a:rPr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487"/>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err="1"/>
              <a:t>vLLM</a:t>
            </a:r>
            <a:r>
              <a:rPr cap="none" dirty="0"/>
              <a:t> and NIXL move KV between workers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KV moves between runtimes, not through the gateway or routing sidecar.</a:t>
            </a:r>
          </a:p>
        </p:txBody>
      </p:sp>
      <p:sp>
        <p:nvSpPr>
          <p:cNvPr id="4" name="Rounded Rectangle 3"/>
          <p:cNvSpPr/>
          <p:nvPr/>
        </p:nvSpPr>
        <p:spPr>
          <a:xfrm>
            <a:off x="50292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67512" y="2029967"/>
            <a:ext cx="223113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 worker</a:t>
            </a:r>
          </a:p>
        </p:txBody>
      </p:sp>
      <p:sp>
        <p:nvSpPr>
          <p:cNvPr id="6" name="TextBox 5"/>
          <p:cNvSpPr txBox="1"/>
          <p:nvPr/>
        </p:nvSpPr>
        <p:spPr>
          <a:xfrm>
            <a:off x="66751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Prefill builds KV</a:t>
            </a:r>
          </a:p>
          <a:p>
            <a:pPr>
              <a:spcAft>
                <a:spcPts val="500"/>
              </a:spcAft>
              <a:defRPr sz="1700" b="0">
                <a:solidFill>
                  <a:srgbClr val="142C46"/>
                </a:solidFill>
                <a:latin typeface="Arial"/>
              </a:defRPr>
            </a:pPr>
            <a:r>
              <a:rPr cap="none"/>
              <a:t>in GPU memory.</a:t>
            </a:r>
          </a:p>
        </p:txBody>
      </p:sp>
      <p:sp>
        <p:nvSpPr>
          <p:cNvPr id="7" name="Rounded Rectangle 6"/>
          <p:cNvSpPr/>
          <p:nvPr/>
        </p:nvSpPr>
        <p:spPr>
          <a:xfrm>
            <a:off x="608076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45352" y="2029967"/>
            <a:ext cx="223113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Decode worker</a:t>
            </a:r>
          </a:p>
        </p:txBody>
      </p:sp>
      <p:sp>
        <p:nvSpPr>
          <p:cNvPr id="9" name="TextBox 8"/>
          <p:cNvSpPr txBox="1"/>
          <p:nvPr/>
        </p:nvSpPr>
        <p:spPr>
          <a:xfrm>
            <a:off x="624535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Decode reuses KV</a:t>
            </a:r>
          </a:p>
          <a:p>
            <a:pPr>
              <a:spcAft>
                <a:spcPts val="500"/>
              </a:spcAft>
              <a:defRPr sz="1700" b="0">
                <a:solidFill>
                  <a:srgbClr val="142C46"/>
                </a:solidFill>
                <a:latin typeface="Arial"/>
              </a:defRPr>
            </a:pPr>
            <a:r>
              <a:rPr cap="none"/>
              <a:t>to keep generating.</a:t>
            </a:r>
          </a:p>
        </p:txBody>
      </p:sp>
      <p:sp>
        <p:nvSpPr>
          <p:cNvPr id="10" name="TextBox 9"/>
          <p:cNvSpPr txBox="1"/>
          <p:nvPr/>
        </p:nvSpPr>
        <p:spPr>
          <a:xfrm>
            <a:off x="3310128" y="2176272"/>
            <a:ext cx="2542032" cy="457200"/>
          </a:xfrm>
          <a:prstGeom prst="rect">
            <a:avLst/>
          </a:prstGeom>
          <a:noFill/>
        </p:spPr>
        <p:txBody>
          <a:bodyPr wrap="square" lIns="0" tIns="0" rIns="0" bIns="0">
            <a:spAutoFit/>
          </a:bodyPr>
          <a:lstStyle/>
          <a:p>
            <a:pPr>
              <a:spcAft>
                <a:spcPts val="500"/>
              </a:spcAft>
              <a:defRPr sz="2200" b="1">
                <a:solidFill>
                  <a:srgbClr val="346CEC"/>
                </a:solidFill>
                <a:latin typeface="Arial"/>
              </a:defRPr>
            </a:pPr>
            <a:r>
              <a:rPr cap="none"/>
              <a:t>KV data  →</a:t>
            </a:r>
          </a:p>
        </p:txBody>
      </p:sp>
      <p:sp>
        <p:nvSpPr>
          <p:cNvPr id="11" name="TextBox 10"/>
          <p:cNvSpPr txBox="1"/>
          <p:nvPr/>
        </p:nvSpPr>
        <p:spPr>
          <a:xfrm>
            <a:off x="3236976" y="2761488"/>
            <a:ext cx="2715768" cy="594360"/>
          </a:xfrm>
          <a:prstGeom prst="rect">
            <a:avLst/>
          </a:prstGeom>
          <a:noFill/>
        </p:spPr>
        <p:txBody>
          <a:bodyPr wrap="square" lIns="0" tIns="0" rIns="0" bIns="0">
            <a:spAutoFit/>
          </a:bodyPr>
          <a:lstStyle/>
          <a:p>
            <a:pPr>
              <a:spcAft>
                <a:spcPts val="500"/>
              </a:spcAft>
              <a:defRPr sz="1100" b="0">
                <a:solidFill>
                  <a:srgbClr val="52677D"/>
                </a:solidFill>
                <a:latin typeface="Arial"/>
              </a:defRPr>
            </a:pPr>
            <a:r>
              <a:rPr cap="none"/>
              <a:t>NIXL uses a transport backend.</a:t>
            </a:r>
          </a:p>
          <a:p>
            <a:pPr>
              <a:spcAft>
                <a:spcPts val="500"/>
              </a:spcAft>
              <a:defRPr sz="1100" b="0">
                <a:solidFill>
                  <a:srgbClr val="52677D"/>
                </a:solidFill>
                <a:latin typeface="Arial"/>
              </a:defRPr>
            </a:pPr>
            <a:r>
              <a:rPr cap="none"/>
              <a:t>Decode may initiate the read.</a:t>
            </a:r>
          </a:p>
        </p:txBody>
      </p:sp>
      <p:sp>
        <p:nvSpPr>
          <p:cNvPr id="12" name="TextBox 11"/>
          <p:cNvSpPr txBox="1"/>
          <p:nvPr/>
        </p:nvSpPr>
        <p:spPr>
          <a:xfrm>
            <a:off x="594360" y="3794760"/>
            <a:ext cx="8001000" cy="393192"/>
          </a:xfrm>
          <a:prstGeom prst="rect">
            <a:avLst/>
          </a:prstGeom>
          <a:noFill/>
        </p:spPr>
        <p:txBody>
          <a:bodyPr wrap="square" lIns="0" tIns="0" rIns="0" bIns="0">
            <a:spAutoFit/>
          </a:bodyPr>
          <a:lstStyle/>
          <a:p>
            <a:pPr>
              <a:spcAft>
                <a:spcPts val="500"/>
              </a:spcAft>
              <a:defRPr sz="1400" b="0">
                <a:solidFill>
                  <a:srgbClr val="142C46"/>
                </a:solidFill>
                <a:latin typeface="Arial"/>
              </a:defRPr>
            </a:pPr>
            <a:r>
              <a:rPr cap="none"/>
              <a:t>GPU-direct RDMA needs a supported GPU, NIC, fabric and backend.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A TCP path is not RDMA. Measure transfer latency and staging cost on your deployment.</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062C535-6B0B-59C1-8350-D9EEDE62CC85}" type="slidenum">
              <a:rPr lang="en-US"/>
              <a:t>29</a:t>
            </a:fld>
            <a:endParaRPr lang="en-US"/>
          </a:p>
        </p:txBody>
      </p:sp>
      <p:sp>
        <p:nvSpPr>
          <p:cNvPr id="1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KV transfer</a:t>
            </a:r>
          </a:p>
        </p:txBody>
      </p:sp>
    </p:spTree>
    <p:extLst>
      <p:ext uri="{BB962C8B-B14F-4D97-AF65-F5344CB8AC3E}">
        <p14:creationId xmlns:p14="http://schemas.microsoft.com/office/powerpoint/2010/main" val="239950130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overview</a:t>
            </a:r>
          </a:p>
        </p:txBody>
      </p:sp>
      <p:sp>
        <p:nvSpPr>
          <p:cNvPr id="3" name="TextBox 2"/>
          <p:cNvSpPr txBox="1"/>
          <p:nvPr/>
        </p:nvSpPr>
        <p:spPr>
          <a:xfrm>
            <a:off x="365760" y="539496"/>
            <a:ext cx="5822107"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Scale the role that needs more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approach: let prefill and decode make separate capacity decisions.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Match signals to each role’s load. Tune thresholds against latency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85950"/>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Prefill</a:t>
            </a:r>
          </a:p>
        </p:txBody>
      </p:sp>
      <p:sp>
        <p:nvSpPr>
          <p:cNvPr id="13" name="TextBox 12"/>
          <p:cNvSpPr txBox="1"/>
          <p:nvPr/>
        </p:nvSpPr>
        <p:spPr>
          <a:xfrm>
            <a:off x="514350"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dirty="0">
                <a:latin typeface="Arial"/>
              </a:rPr>
              <a:t>Prefill needs to protect</a:t>
            </a:r>
          </a:p>
          <a:p>
            <a:pPr>
              <a:spcAft>
                <a:spcPts val="375"/>
              </a:spcAft>
              <a:defRPr sz="2200" b="0">
                <a:solidFill>
                  <a:srgbClr val="172941"/>
                </a:solidFill>
                <a:latin typeface="Arial"/>
              </a:defRPr>
            </a:pPr>
            <a:r>
              <a:rPr sz="1650" cap="none" dirty="0">
                <a:latin typeface="Arial"/>
              </a:rPr>
              <a:t>time to first token </a:t>
            </a:r>
            <a:r>
              <a:rPr lang="en-US" sz="1650" cap="none" dirty="0">
                <a:latin typeface="Arial"/>
              </a:rPr>
              <a:t>(TTFT)</a:t>
            </a:r>
            <a:r>
              <a:rPr sz="1650" cap="none" dirty="0">
                <a:latin typeface="Arial"/>
              </a:rPr>
              <a:t>.</a:t>
            </a:r>
          </a:p>
        </p:txBody>
      </p:sp>
      <p:sp>
        <p:nvSpPr>
          <p:cNvPr id="14" name="Rounded Rectangle 13"/>
          <p:cNvSpPr/>
          <p:nvPr/>
        </p:nvSpPr>
        <p:spPr>
          <a:xfrm>
            <a:off x="377190" y="3669030"/>
            <a:ext cx="408051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425196" y="3693033"/>
            <a:ext cx="398449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Start with vLLM waiting requests.</a:t>
            </a:r>
          </a:p>
        </p:txBody>
      </p:sp>
      <p:sp>
        <p:nvSpPr>
          <p:cNvPr id="16" name="Rounded Rectangle 15"/>
          <p:cNvSpPr/>
          <p:nvPr/>
        </p:nvSpPr>
        <p:spPr>
          <a:xfrm>
            <a:off x="4649724"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4786884" y="1885950"/>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Decode</a:t>
            </a:r>
          </a:p>
        </p:txBody>
      </p:sp>
      <p:sp>
        <p:nvSpPr>
          <p:cNvPr id="19" name="TextBox 18"/>
          <p:cNvSpPr txBox="1"/>
          <p:nvPr/>
        </p:nvSpPr>
        <p:spPr>
          <a:xfrm>
            <a:off x="4786884"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Decode needs to sustain</a:t>
            </a:r>
          </a:p>
          <a:p>
            <a:pPr>
              <a:spcAft>
                <a:spcPts val="375"/>
              </a:spcAft>
              <a:defRPr sz="2200" b="0">
                <a:solidFill>
                  <a:srgbClr val="172941"/>
                </a:solidFill>
                <a:latin typeface="Arial"/>
              </a:defRPr>
            </a:pPr>
            <a:r>
              <a:rPr sz="1650" cap="none">
                <a:latin typeface="Arial"/>
              </a:rPr>
              <a:t>steady token delivery.</a:t>
            </a:r>
          </a:p>
        </p:txBody>
      </p:sp>
      <p:sp>
        <p:nvSpPr>
          <p:cNvPr id="20" name="Rounded Rectangle 19"/>
          <p:cNvSpPr/>
          <p:nvPr/>
        </p:nvSpPr>
        <p:spPr>
          <a:xfrm>
            <a:off x="4649724" y="3669030"/>
            <a:ext cx="408051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4697730" y="3693033"/>
            <a:ext cx="398449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Start with vLLM running requests.</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F202DEC2-6049-5BA3-9AA2-F2C508CD9D51}" type="slidenum">
              <a:rPr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existing capability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Today, KEDA scales an InferenceSet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KAITO documents scheduled scaling and metric-based scaling with KEDA.</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KEDA / HPA sets replicas on the InferenceSet. KAITO adjusts serving resources.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15618"/>
            <a:ext cx="1645920" cy="23317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7" y="1539621"/>
            <a:ext cx="1549907" cy="136191"/>
          </a:xfrm>
          <a:prstGeom prst="rect">
            <a:avLst/>
          </a:prstGeom>
          <a:noFill/>
        </p:spPr>
        <p:txBody>
          <a:bodyPr wrap="square" lIns="10287" tIns="10287" rIns="10287" bIns="10287">
            <a:spAutoFit/>
          </a:bodyPr>
          <a:lstStyle/>
          <a:p>
            <a:pPr algn="ctr">
              <a:spcAft>
                <a:spcPts val="375"/>
              </a:spcAft>
              <a:defRPr sz="1000" b="1">
                <a:solidFill>
                  <a:srgbClr val="2563EB"/>
                </a:solidFill>
                <a:latin typeface="Arial"/>
              </a:defRPr>
            </a:pPr>
            <a:r>
              <a:rPr sz="750" cap="none">
                <a:latin typeface="Arial"/>
              </a:rPr>
              <a:t>Documented today</a:t>
            </a:r>
          </a:p>
        </p:txBody>
      </p:sp>
      <p:sp>
        <p:nvSpPr>
          <p:cNvPr id="12" name="Rounded Rectangle 11"/>
          <p:cNvSpPr/>
          <p:nvPr/>
        </p:nvSpPr>
        <p:spPr>
          <a:xfrm>
            <a:off x="377190"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08276"/>
            <a:ext cx="37719" cy="80238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28850"/>
            <a:ext cx="2194560" cy="274691"/>
          </a:xfrm>
          <a:prstGeom prst="rect">
            <a:avLst/>
          </a:prstGeom>
          <a:noFill/>
        </p:spPr>
        <p:txBody>
          <a:bodyPr wrap="square" lIns="10287" tIns="10287" rIns="10287" bIns="10287">
            <a:spAutoFit/>
          </a:bodyPr>
          <a:lstStyle/>
          <a:p>
            <a:pPr algn="ctr">
              <a:spcAft>
                <a:spcPts val="375"/>
              </a:spcAft>
              <a:defRPr sz="2200" b="1">
                <a:solidFill>
                  <a:srgbClr val="AE641A"/>
                </a:solidFill>
                <a:latin typeface="Arial"/>
              </a:defRPr>
            </a:pPr>
            <a:r>
              <a:rPr sz="1650" cap="none">
                <a:latin typeface="Arial"/>
              </a:rPr>
              <a:t>Trigger</a:t>
            </a:r>
          </a:p>
        </p:txBody>
      </p:sp>
      <p:sp>
        <p:nvSpPr>
          <p:cNvPr id="15" name="TextBox 14"/>
          <p:cNvSpPr txBox="1"/>
          <p:nvPr/>
        </p:nvSpPr>
        <p:spPr>
          <a:xfrm>
            <a:off x="486918"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Cron or Prometheus query</a:t>
            </a:r>
          </a:p>
        </p:txBody>
      </p:sp>
      <p:sp>
        <p:nvSpPr>
          <p:cNvPr id="16" name="Rounded Rectangle 15"/>
          <p:cNvSpPr/>
          <p:nvPr/>
        </p:nvSpPr>
        <p:spPr>
          <a:xfrm>
            <a:off x="3374136"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374136" y="2208276"/>
            <a:ext cx="37719" cy="80238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477006" y="2228850"/>
            <a:ext cx="219456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KEDA / HPA</a:t>
            </a:r>
          </a:p>
        </p:txBody>
      </p:sp>
      <p:sp>
        <p:nvSpPr>
          <p:cNvPr id="19" name="TextBox 18"/>
          <p:cNvSpPr txBox="1"/>
          <p:nvPr/>
        </p:nvSpPr>
        <p:spPr>
          <a:xfrm>
            <a:off x="3483864"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ScaledObject target</a:t>
            </a:r>
          </a:p>
        </p:txBody>
      </p:sp>
      <p:sp>
        <p:nvSpPr>
          <p:cNvPr id="20" name="Rounded Rectangle 19"/>
          <p:cNvSpPr/>
          <p:nvPr/>
        </p:nvSpPr>
        <p:spPr>
          <a:xfrm>
            <a:off x="6364224"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364224" y="2208276"/>
            <a:ext cx="37719" cy="80238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467094" y="2228850"/>
            <a:ext cx="2194560" cy="274691"/>
          </a:xfrm>
          <a:prstGeom prst="rect">
            <a:avLst/>
          </a:prstGeom>
          <a:noFill/>
        </p:spPr>
        <p:txBody>
          <a:bodyPr wrap="square" lIns="10287" tIns="10287" rIns="10287" bIns="10287">
            <a:spAutoFit/>
          </a:bodyPr>
          <a:lstStyle/>
          <a:p>
            <a:pPr algn="ctr">
              <a:spcAft>
                <a:spcPts val="375"/>
              </a:spcAft>
              <a:defRPr sz="2200" b="1">
                <a:solidFill>
                  <a:srgbClr val="087F8C"/>
                </a:solidFill>
                <a:latin typeface="Arial"/>
              </a:defRPr>
            </a:pPr>
            <a:r>
              <a:rPr sz="1650" cap="none">
                <a:latin typeface="Arial"/>
              </a:rPr>
              <a:t>InferenceSet</a:t>
            </a:r>
          </a:p>
        </p:txBody>
      </p:sp>
      <p:sp>
        <p:nvSpPr>
          <p:cNvPr id="23" name="TextBox 22"/>
          <p:cNvSpPr txBox="1"/>
          <p:nvPr/>
        </p:nvSpPr>
        <p:spPr>
          <a:xfrm>
            <a:off x="6473952"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 subresource</a:t>
            </a:r>
          </a:p>
        </p:txBody>
      </p:sp>
      <p:cxnSp>
        <p:nvCxnSpPr>
          <p:cNvPr id="24" name="Connector 23"/>
          <p:cNvCxnSpPr/>
          <p:nvPr/>
        </p:nvCxnSpPr>
        <p:spPr>
          <a:xfrm>
            <a:off x="2777490" y="2606040"/>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774436" y="2606040"/>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77190" y="3463290"/>
            <a:ext cx="8387334" cy="6309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34924" y="3641599"/>
            <a:ext cx="2468880" cy="216982"/>
          </a:xfrm>
          <a:prstGeom prst="rect">
            <a:avLst/>
          </a:prstGeom>
          <a:noFill/>
        </p:spPr>
        <p:txBody>
          <a:bodyPr wrap="square" lIns="10287" tIns="10287" rIns="10287" bIns="10287">
            <a:spAutoFit/>
          </a:bodyPr>
          <a:lstStyle/>
          <a:p>
            <a:pPr>
              <a:spcAft>
                <a:spcPts val="375"/>
              </a:spcAft>
              <a:defRPr sz="1700" b="1">
                <a:solidFill>
                  <a:srgbClr val="586A80"/>
                </a:solidFill>
                <a:latin typeface="Arial"/>
              </a:defRPr>
            </a:pPr>
            <a:r>
              <a:rPr sz="1275" cap="none">
                <a:latin typeface="Arial"/>
              </a:rPr>
              <a:t>One example watches queues.</a:t>
            </a:r>
          </a:p>
        </p:txBody>
      </p:sp>
      <p:sp>
        <p:nvSpPr>
          <p:cNvPr id="28" name="TextBox 27"/>
          <p:cNvSpPr txBox="1"/>
          <p:nvPr/>
        </p:nvSpPr>
        <p:spPr>
          <a:xfrm>
            <a:off x="3223260" y="3641599"/>
            <a:ext cx="5280660" cy="240066"/>
          </a:xfrm>
          <a:prstGeom prst="rect">
            <a:avLst/>
          </a:prstGeom>
          <a:noFill/>
        </p:spPr>
        <p:txBody>
          <a:bodyPr wrap="square" lIns="10287" tIns="10287" rIns="10287" bIns="10287">
            <a:spAutoFit/>
          </a:bodyPr>
          <a:lstStyle/>
          <a:p>
            <a:pPr>
              <a:spcAft>
                <a:spcPts val="375"/>
              </a:spcAft>
              <a:defRPr sz="1900" b="0">
                <a:solidFill>
                  <a:srgbClr val="087F8C"/>
                </a:solidFill>
                <a:latin typeface="Courier New"/>
              </a:defRPr>
            </a:pPr>
            <a:r>
              <a:rPr sz="1425" cap="none">
                <a:latin typeface="Arial"/>
              </a:rPr>
              <a:t>vllm:num_requests_waiting</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D337148B-DEC8-5D32-8406-A5C22C53566C}" type="slidenum">
              <a:rPr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26A1F-4BB7-C9FB-B380-E8EF93D838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27F6EC-98A5-26CE-32B1-A95AD9F65C35}"/>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autoscaling: keda-</a:t>
            </a:r>
            <a:r>
              <a:rPr lang="en-US" sz="2100" b="1" cap="none" dirty="0" err="1">
                <a:solidFill>
                  <a:srgbClr val="142C46"/>
                </a:solidFill>
                <a:latin typeface="Arial"/>
              </a:rPr>
              <a:t>kaito</a:t>
            </a:r>
            <a:r>
              <a:rPr lang="en-US" sz="2100" b="1" cap="none" dirty="0">
                <a:solidFill>
                  <a:srgbClr val="142C46"/>
                </a:solidFill>
                <a:latin typeface="Arial"/>
              </a:rPr>
              <a:t>-scaler</a:t>
            </a:r>
          </a:p>
        </p:txBody>
      </p:sp>
      <p:pic>
        <p:nvPicPr>
          <p:cNvPr id="8" name="Picture 7">
            <a:extLst>
              <a:ext uri="{FF2B5EF4-FFF2-40B4-BE49-F238E27FC236}">
                <a16:creationId xmlns:a16="http://schemas.microsoft.com/office/drawing/2014/main" id="{8B14B8C5-6523-CC16-94B2-86B74AF39A2B}"/>
              </a:ext>
            </a:extLst>
          </p:cNvPr>
          <p:cNvPicPr>
            <a:picLocks noChangeAspect="1"/>
          </p:cNvPicPr>
          <p:nvPr/>
        </p:nvPicPr>
        <p:blipFill>
          <a:blip r:embed="rId3"/>
          <a:stretch>
            <a:fillRect/>
          </a:stretch>
        </p:blipFill>
        <p:spPr>
          <a:xfrm>
            <a:off x="94235" y="1504419"/>
            <a:ext cx="6382660" cy="3045938"/>
          </a:xfrm>
          <a:prstGeom prst="rect">
            <a:avLst/>
          </a:prstGeom>
        </p:spPr>
      </p:pic>
      <p:sp>
        <p:nvSpPr>
          <p:cNvPr id="20" name="TextBox Subtitle"/>
          <p:cNvSpPr txBox="1"/>
          <p:nvPr/>
        </p:nvSpPr>
        <p:spPr>
          <a:xfrm>
            <a:off x="384048" y="1033271"/>
            <a:ext cx="8321040" cy="329184"/>
          </a:xfrm>
          <a:prstGeom prst="rect">
            <a:avLst/>
          </a:prstGeom>
          <a:noFill/>
        </p:spPr>
        <p:txBody>
          <a:bodyPr wrap="square" rtlCol="0">
            <a:normAutofit/>
          </a:bodyPr>
          <a:lstStyle/>
          <a:p>
            <a:r>
              <a:rPr lang="en-US" b="1" cap="none" dirty="0">
                <a:solidFill>
                  <a:srgbClr val="52677D"/>
                </a:solidFill>
                <a:latin typeface="Arial"/>
              </a:rPr>
              <a:t>Read vLLM metrics directly, without Prometheus.</a:t>
            </a:r>
          </a:p>
        </p:txBody>
      </p:sp>
      <p:sp>
        <p:nvSpPr>
          <p:cNvPr id="21" name="How It Works"/>
          <p:cNvSpPr/>
          <p:nvPr/>
        </p:nvSpPr>
        <p:spPr>
          <a:xfrm>
            <a:off x="6347776" y="1504419"/>
            <a:ext cx="2688895" cy="2883619"/>
          </a:xfrm>
          <a:prstGeom prst="roundRect">
            <a:avLst/>
          </a:prstGeom>
          <a:solidFill>
            <a:schemeClr val="bg1">
              <a:lumMod val="95000"/>
            </a:schemeClr>
          </a:solidFill>
          <a:ln w="12700">
            <a:solidFill>
              <a:schemeClr val="accent2"/>
            </a:solidFill>
          </a:ln>
        </p:spPr>
        <p:txBody>
          <a:bodyPr rtlCol="0" anchor="ctr">
            <a:normAutofit/>
          </a:bodyPr>
          <a:lstStyle/>
          <a:p>
            <a:r>
              <a:rPr lang="en-US" b="1" cap="none" dirty="0">
                <a:solidFill>
                  <a:srgbClr val="142C46"/>
                </a:solidFill>
                <a:latin typeface="Arial"/>
              </a:rPr>
              <a:t>What it adds</a:t>
            </a:r>
            <a:br/>
            <a:r>
              <a:rPr cap="none" dirty="0">
                <a:solidFill>
                  <a:srgbClr val="142C46"/>
                </a:solidFill>
                <a:latin typeface="Arial"/>
              </a:rPr>
              <a:t>Read vLLM metrics directly.</a:t>
            </a:r>
            <a:br/>
            <a:r>
              <a:rPr cap="none" dirty="0">
                <a:solidFill>
                  <a:srgbClr val="142C46"/>
                </a:solidFill>
                <a:latin typeface="Arial"/>
              </a:rPr>
              <a:t>Use queue and latency signals.</a:t>
            </a:r>
            <a:br/>
            <a:r>
              <a:rPr cap="none" dirty="0">
                <a:solidFill>
                  <a:srgbClr val="142C46"/>
                </a:solidFill>
                <a:latin typeface="Arial"/>
              </a:rPr>
              <a:t>Take conservative replica steps.</a:t>
            </a:r>
            <a:br/>
            <a:r>
              <a:rPr cap="none" dirty="0">
                <a:solidFill>
                  <a:srgbClr val="142C46"/>
                </a:solidFill>
                <a:latin typeface="Arial"/>
              </a:rPr>
              <a:t>Combine conditions with AND.</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4CAF5E7-4DC8-598E-BD3A-4D97034839AB}" type="slidenum">
              <a:rPr lang="en-US"/>
              <a:t>32</a:t>
            </a:fld>
            <a:endParaRPr lang="en-US"/>
          </a:p>
        </p:txBody>
      </p:sp>
      <p:sp>
        <p:nvSpPr>
          <p:cNvPr id="2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KEDA scaler</a:t>
            </a:r>
          </a:p>
        </p:txBody>
      </p:sp>
    </p:spTree>
    <p:extLst>
      <p:ext uri="{BB962C8B-B14F-4D97-AF65-F5344CB8AC3E}">
        <p14:creationId xmlns:p14="http://schemas.microsoft.com/office/powerpoint/2010/main" val="17103403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independent loops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Let prefill and decode scale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design: each role gets its own signal, threshold and replica target.</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700784"/>
            <a:ext cx="102870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TextBox 8"/>
          <p:cNvSpPr txBox="1"/>
          <p:nvPr/>
        </p:nvSpPr>
        <p:spPr>
          <a:xfrm>
            <a:off x="425196" y="1724787"/>
            <a:ext cx="93268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0" name="Rounded Rectangle 9"/>
          <p:cNvSpPr/>
          <p:nvPr/>
        </p:nvSpPr>
        <p:spPr>
          <a:xfrm>
            <a:off x="1659636" y="1645920"/>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165963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1762506" y="1735075"/>
            <a:ext cx="174879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Waiting requests</a:t>
            </a:r>
          </a:p>
        </p:txBody>
      </p:sp>
      <p:sp>
        <p:nvSpPr>
          <p:cNvPr id="13" name="TextBox 12"/>
          <p:cNvSpPr txBox="1"/>
          <p:nvPr/>
        </p:nvSpPr>
        <p:spPr>
          <a:xfrm>
            <a:off x="1769364" y="2064259"/>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14" name="Rounded Rectangle 13"/>
          <p:cNvSpPr/>
          <p:nvPr/>
        </p:nvSpPr>
        <p:spPr>
          <a:xfrm>
            <a:off x="4114800" y="1645920"/>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114800"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217670" y="1735075"/>
            <a:ext cx="157734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KEDA / HPA</a:t>
            </a:r>
          </a:p>
        </p:txBody>
      </p:sp>
      <p:sp>
        <p:nvSpPr>
          <p:cNvPr id="17" name="TextBox 16"/>
          <p:cNvSpPr txBox="1"/>
          <p:nvPr/>
        </p:nvSpPr>
        <p:spPr>
          <a:xfrm>
            <a:off x="4224528" y="2064259"/>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18" name="Rounded Rectangle 17"/>
          <p:cNvSpPr/>
          <p:nvPr/>
        </p:nvSpPr>
        <p:spPr>
          <a:xfrm>
            <a:off x="6391656" y="1645920"/>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9165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94526" y="1735075"/>
            <a:ext cx="2167128"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Prefill InferenceSet</a:t>
            </a:r>
          </a:p>
        </p:txBody>
      </p:sp>
      <p:sp>
        <p:nvSpPr>
          <p:cNvPr id="21" name="TextBox 20"/>
          <p:cNvSpPr txBox="1"/>
          <p:nvPr/>
        </p:nvSpPr>
        <p:spPr>
          <a:xfrm>
            <a:off x="6501384" y="2064259"/>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22" name="Connector 21"/>
          <p:cNvCxnSpPr/>
          <p:nvPr/>
        </p:nvCxnSpPr>
        <p:spPr>
          <a:xfrm>
            <a:off x="3614166" y="2043684"/>
            <a:ext cx="50063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97880" y="2043684"/>
            <a:ext cx="49377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78090" y="2462022"/>
            <a:ext cx="0" cy="260604"/>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2633472" y="2722626"/>
            <a:ext cx="4944618"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633472" y="2462022"/>
            <a:ext cx="0" cy="260604"/>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77190" y="3120390"/>
            <a:ext cx="102870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425196" y="3144393"/>
            <a:ext cx="93268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9" name="Rounded Rectangle 28"/>
          <p:cNvSpPr/>
          <p:nvPr/>
        </p:nvSpPr>
        <p:spPr>
          <a:xfrm>
            <a:off x="1659636" y="3065526"/>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165963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1762506" y="3154681"/>
            <a:ext cx="174879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Running requests</a:t>
            </a:r>
          </a:p>
        </p:txBody>
      </p:sp>
      <p:sp>
        <p:nvSpPr>
          <p:cNvPr id="32" name="TextBox 31"/>
          <p:cNvSpPr txBox="1"/>
          <p:nvPr/>
        </p:nvSpPr>
        <p:spPr>
          <a:xfrm>
            <a:off x="1769364" y="3483864"/>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33" name="Rounded Rectangle 32"/>
          <p:cNvSpPr/>
          <p:nvPr/>
        </p:nvSpPr>
        <p:spPr>
          <a:xfrm>
            <a:off x="4114800" y="3065526"/>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Rectangle 33"/>
          <p:cNvSpPr/>
          <p:nvPr/>
        </p:nvSpPr>
        <p:spPr>
          <a:xfrm>
            <a:off x="4114800"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217670" y="3154681"/>
            <a:ext cx="157734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KEDA / HPA</a:t>
            </a:r>
          </a:p>
        </p:txBody>
      </p:sp>
      <p:sp>
        <p:nvSpPr>
          <p:cNvPr id="36" name="TextBox 35"/>
          <p:cNvSpPr txBox="1"/>
          <p:nvPr/>
        </p:nvSpPr>
        <p:spPr>
          <a:xfrm>
            <a:off x="4224528" y="3483864"/>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37" name="Rounded Rectangle 36"/>
          <p:cNvSpPr/>
          <p:nvPr/>
        </p:nvSpPr>
        <p:spPr>
          <a:xfrm>
            <a:off x="6391656" y="3065526"/>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Rectangle 37"/>
          <p:cNvSpPr/>
          <p:nvPr/>
        </p:nvSpPr>
        <p:spPr>
          <a:xfrm>
            <a:off x="639165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6494526" y="3154681"/>
            <a:ext cx="2167128"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Decode InferenceSet</a:t>
            </a:r>
          </a:p>
        </p:txBody>
      </p:sp>
      <p:sp>
        <p:nvSpPr>
          <p:cNvPr id="40" name="TextBox 39"/>
          <p:cNvSpPr txBox="1"/>
          <p:nvPr/>
        </p:nvSpPr>
        <p:spPr>
          <a:xfrm>
            <a:off x="6501384" y="3483864"/>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41" name="Connector 40"/>
          <p:cNvCxnSpPr/>
          <p:nvPr/>
        </p:nvCxnSpPr>
        <p:spPr>
          <a:xfrm>
            <a:off x="3614166" y="3463290"/>
            <a:ext cx="50063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97880" y="3463290"/>
            <a:ext cx="49377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78090" y="3881628"/>
            <a:ext cx="0" cy="260604"/>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2633472" y="4142232"/>
            <a:ext cx="4944618"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633472" y="3881628"/>
            <a:ext cx="0" cy="260604"/>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90905" y="4519422"/>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Give each target one owner. Allow warm-up time, stabilize changes and scale down safely.</a:t>
            </a:r>
          </a:p>
        </p:txBody>
      </p:sp>
      <p:sp>
        <p:nvSpPr>
          <p:cNvPr id="47" name="TextBox 4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C6F3D18-8EB6-51B5-B5A3-8E4C82745150}" type="slidenum">
              <a:rPr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policy boundary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service can scale its two roles separately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design: set service goals, then give each role its own scaling policy.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Scale a complete serving replica—not an individual tensor-parallel worker.</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2476"/>
            <a:ext cx="2948940" cy="2331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6" y="1546479"/>
            <a:ext cx="2852928" cy="136191"/>
          </a:xfrm>
          <a:prstGeom prst="rect">
            <a:avLst/>
          </a:prstGeom>
          <a:noFill/>
        </p:spPr>
        <p:txBody>
          <a:bodyPr wrap="square" lIns="10287" tIns="10287" rIns="10287" bIns="10287">
            <a:spAutoFit/>
          </a:bodyPr>
          <a:lstStyle/>
          <a:p>
            <a:pPr algn="ctr">
              <a:spcAft>
                <a:spcPts val="375"/>
              </a:spcAft>
              <a:defRPr sz="1000" b="1">
                <a:solidFill>
                  <a:srgbClr val="AE641A"/>
                </a:solidFill>
                <a:latin typeface="Arial"/>
              </a:defRPr>
            </a:pPr>
            <a:r>
              <a:rPr sz="750" cap="none">
                <a:latin typeface="Arial"/>
              </a:rPr>
              <a:t>Proposed service-to-role policy</a:t>
            </a:r>
          </a:p>
        </p:txBody>
      </p:sp>
      <p:sp>
        <p:nvSpPr>
          <p:cNvPr id="12" name="Rounded Rectangle 11"/>
          <p:cNvSpPr/>
          <p:nvPr/>
        </p:nvSpPr>
        <p:spPr>
          <a:xfrm>
            <a:off x="377190" y="2160270"/>
            <a:ext cx="2468880" cy="15224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28850"/>
            <a:ext cx="37719" cy="13853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49424"/>
            <a:ext cx="226314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Service-level intent</a:t>
            </a:r>
          </a:p>
        </p:txBody>
      </p:sp>
      <p:sp>
        <p:nvSpPr>
          <p:cNvPr id="15" name="TextBox 14"/>
          <p:cNvSpPr txBox="1"/>
          <p:nvPr/>
        </p:nvSpPr>
        <p:spPr>
          <a:xfrm>
            <a:off x="486918" y="2578608"/>
            <a:ext cx="2249424" cy="395236"/>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Protect prompt latency.</a:t>
            </a:r>
          </a:p>
          <a:p>
            <a:pPr algn="ctr">
              <a:spcAft>
                <a:spcPts val="375"/>
              </a:spcAft>
              <a:defRPr sz="1400" b="0">
                <a:solidFill>
                  <a:srgbClr val="586A80"/>
                </a:solidFill>
                <a:latin typeface="Arial"/>
              </a:defRPr>
            </a:pPr>
            <a:r>
              <a:rPr sz="1050" cap="none">
                <a:latin typeface="Arial"/>
              </a:rPr>
              <a:t>Keep tokens flowing.</a:t>
            </a:r>
          </a:p>
        </p:txBody>
      </p:sp>
      <p:sp>
        <p:nvSpPr>
          <p:cNvPr id="16" name="Rounded Rectangle 15"/>
          <p:cNvSpPr/>
          <p:nvPr/>
        </p:nvSpPr>
        <p:spPr>
          <a:xfrm>
            <a:off x="3429000" y="2420874"/>
            <a:ext cx="2263140" cy="100812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429000" y="2489454"/>
            <a:ext cx="37719" cy="87096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531870" y="2510027"/>
            <a:ext cx="205740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Policy reconciliation</a:t>
            </a:r>
          </a:p>
        </p:txBody>
      </p:sp>
      <p:sp>
        <p:nvSpPr>
          <p:cNvPr id="19" name="TextBox 18"/>
          <p:cNvSpPr txBox="1"/>
          <p:nvPr/>
        </p:nvSpPr>
        <p:spPr>
          <a:xfrm>
            <a:off x="3538728" y="2839212"/>
            <a:ext cx="204368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Set separate role targets.</a:t>
            </a:r>
          </a:p>
        </p:txBody>
      </p:sp>
      <p:sp>
        <p:nvSpPr>
          <p:cNvPr id="20" name="Rounded Rectangle 19"/>
          <p:cNvSpPr/>
          <p:nvPr/>
        </p:nvSpPr>
        <p:spPr>
          <a:xfrm>
            <a:off x="6275070" y="2029968"/>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275070" y="2098548"/>
            <a:ext cx="37719" cy="66522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377940" y="2119122"/>
            <a:ext cx="2283714"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scale target</a:t>
            </a:r>
          </a:p>
        </p:txBody>
      </p:sp>
      <p:sp>
        <p:nvSpPr>
          <p:cNvPr id="23" name="TextBox 22"/>
          <p:cNvSpPr txBox="1"/>
          <p:nvPr/>
        </p:nvSpPr>
        <p:spPr>
          <a:xfrm>
            <a:off x="6384798" y="2448307"/>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Apply the prefill policy.</a:t>
            </a:r>
          </a:p>
        </p:txBody>
      </p:sp>
      <p:sp>
        <p:nvSpPr>
          <p:cNvPr id="24" name="Rounded Rectangle 23"/>
          <p:cNvSpPr/>
          <p:nvPr/>
        </p:nvSpPr>
        <p:spPr>
          <a:xfrm>
            <a:off x="6275070" y="3175254"/>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6275070" y="3243834"/>
            <a:ext cx="37719" cy="66522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6377940" y="3264408"/>
            <a:ext cx="2283714"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scale target</a:t>
            </a:r>
          </a:p>
        </p:txBody>
      </p:sp>
      <p:sp>
        <p:nvSpPr>
          <p:cNvPr id="27" name="TextBox 26"/>
          <p:cNvSpPr txBox="1"/>
          <p:nvPr/>
        </p:nvSpPr>
        <p:spPr>
          <a:xfrm>
            <a:off x="6384798" y="3593592"/>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Apply the decode policy.</a:t>
            </a:r>
          </a:p>
        </p:txBody>
      </p:sp>
      <p:cxnSp>
        <p:nvCxnSpPr>
          <p:cNvPr id="28" name="Connector 27"/>
          <p:cNvCxnSpPr/>
          <p:nvPr/>
        </p:nvCxnSpPr>
        <p:spPr>
          <a:xfrm>
            <a:off x="2846070" y="2914650"/>
            <a:ext cx="58293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692141" y="2811779"/>
            <a:ext cx="27431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966459" y="2434591"/>
            <a:ext cx="0" cy="37718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966460" y="2434590"/>
            <a:ext cx="30861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692141" y="3031236"/>
            <a:ext cx="27431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6459" y="3031236"/>
            <a:ext cx="0" cy="54864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966460" y="3579876"/>
            <a:ext cx="30861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470E9173-506D-50F7-B564-D2BFC63AB0DC}" type="slidenum">
              <a:rPr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control-loop design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Observe each role. Act on its own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loops use valid role metrics—not GPU utilization alone—to decide capacity.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chooses where requests go; autoscaling changes how much capacity is available.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Role-specific policies</a:t>
            </a:r>
          </a:p>
        </p:txBody>
      </p:sp>
      <p:sp>
        <p:nvSpPr>
          <p:cNvPr id="13" name="TextBox 12"/>
          <p:cNvSpPr txBox="1"/>
          <p:nvPr/>
        </p:nvSpPr>
        <p:spPr>
          <a:xfrm>
            <a:off x="486918"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Validate signals and limits.</a:t>
            </a:r>
          </a:p>
        </p:txBody>
      </p:sp>
      <p:sp>
        <p:nvSpPr>
          <p:cNvPr id="14" name="Rounded Rectangle 13"/>
          <p:cNvSpPr/>
          <p:nvPr/>
        </p:nvSpPr>
        <p:spPr>
          <a:xfrm>
            <a:off x="3374136"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74136"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77006"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Independent decisions</a:t>
            </a:r>
          </a:p>
        </p:txBody>
      </p:sp>
      <p:sp>
        <p:nvSpPr>
          <p:cNvPr id="17" name="TextBox 16"/>
          <p:cNvSpPr txBox="1"/>
          <p:nvPr/>
        </p:nvSpPr>
        <p:spPr>
          <a:xfrm>
            <a:off x="3483864"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Give each target one owner.</a:t>
            </a:r>
          </a:p>
        </p:txBody>
      </p:sp>
      <p:sp>
        <p:nvSpPr>
          <p:cNvPr id="18" name="Rounded Rectangle 17"/>
          <p:cNvSpPr/>
          <p:nvPr/>
        </p:nvSpPr>
        <p:spPr>
          <a:xfrm>
            <a:off x="6364224"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64224"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67094"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Serving capacity</a:t>
            </a:r>
          </a:p>
        </p:txBody>
      </p:sp>
      <p:sp>
        <p:nvSpPr>
          <p:cNvPr id="21" name="TextBox 20"/>
          <p:cNvSpPr txBox="1"/>
          <p:nvPr/>
        </p:nvSpPr>
        <p:spPr>
          <a:xfrm>
            <a:off x="6473952"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Count only ready replicas.</a:t>
            </a:r>
          </a:p>
        </p:txBody>
      </p:sp>
      <p:cxnSp>
        <p:nvCxnSpPr>
          <p:cNvPr id="22" name="Connector 21"/>
          <p:cNvCxnSpPr/>
          <p:nvPr/>
        </p:nvCxnSpPr>
        <p:spPr>
          <a:xfrm>
            <a:off x="2777490" y="1927098"/>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774436" y="1927098"/>
            <a:ext cx="5897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377190"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77190"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480060"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vLLM /metrics</a:t>
            </a:r>
          </a:p>
        </p:txBody>
      </p:sp>
      <p:sp>
        <p:nvSpPr>
          <p:cNvPr id="27" name="TextBox 26"/>
          <p:cNvSpPr txBox="1"/>
          <p:nvPr/>
        </p:nvSpPr>
        <p:spPr>
          <a:xfrm>
            <a:off x="486918"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Waiting requests</a:t>
            </a:r>
          </a:p>
        </p:txBody>
      </p:sp>
      <p:sp>
        <p:nvSpPr>
          <p:cNvPr id="28" name="Rounded Rectangle 27"/>
          <p:cNvSpPr/>
          <p:nvPr/>
        </p:nvSpPr>
        <p:spPr>
          <a:xfrm>
            <a:off x="3374136"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74136"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477006"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autoscaler</a:t>
            </a:r>
          </a:p>
        </p:txBody>
      </p:sp>
      <p:sp>
        <p:nvSpPr>
          <p:cNvPr id="31" name="TextBox 30"/>
          <p:cNvSpPr txBox="1"/>
          <p:nvPr/>
        </p:nvSpPr>
        <p:spPr>
          <a:xfrm>
            <a:off x="3483864"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 for prefill alone.</a:t>
            </a:r>
          </a:p>
        </p:txBody>
      </p:sp>
      <p:sp>
        <p:nvSpPr>
          <p:cNvPr id="32" name="Rounded Rectangle 31"/>
          <p:cNvSpPr/>
          <p:nvPr/>
        </p:nvSpPr>
        <p:spPr>
          <a:xfrm>
            <a:off x="6364224"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364224"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467094"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replicas</a:t>
            </a:r>
          </a:p>
        </p:txBody>
      </p:sp>
      <p:sp>
        <p:nvSpPr>
          <p:cNvPr id="35" name="TextBox 34"/>
          <p:cNvSpPr txBox="1"/>
          <p:nvPr/>
        </p:nvSpPr>
        <p:spPr>
          <a:xfrm>
            <a:off x="6473952"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Adjust prefill capacity.</a:t>
            </a:r>
          </a:p>
        </p:txBody>
      </p:sp>
      <p:cxnSp>
        <p:nvCxnSpPr>
          <p:cNvPr id="36" name="Connector 35"/>
          <p:cNvCxnSpPr/>
          <p:nvPr/>
        </p:nvCxnSpPr>
        <p:spPr>
          <a:xfrm>
            <a:off x="2777490" y="3010662"/>
            <a:ext cx="59664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74436" y="3010662"/>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377190"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Rectangle 38"/>
          <p:cNvSpPr/>
          <p:nvPr/>
        </p:nvSpPr>
        <p:spPr>
          <a:xfrm>
            <a:off x="377190"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480060"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vLLM /metrics</a:t>
            </a:r>
          </a:p>
        </p:txBody>
      </p:sp>
      <p:sp>
        <p:nvSpPr>
          <p:cNvPr id="41" name="TextBox 40"/>
          <p:cNvSpPr txBox="1"/>
          <p:nvPr/>
        </p:nvSpPr>
        <p:spPr>
          <a:xfrm>
            <a:off x="486918"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Running requests</a:t>
            </a:r>
          </a:p>
        </p:txBody>
      </p:sp>
      <p:sp>
        <p:nvSpPr>
          <p:cNvPr id="42" name="Rounded Rectangle 41"/>
          <p:cNvSpPr/>
          <p:nvPr/>
        </p:nvSpPr>
        <p:spPr>
          <a:xfrm>
            <a:off x="3374136"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Rectangle 42"/>
          <p:cNvSpPr/>
          <p:nvPr/>
        </p:nvSpPr>
        <p:spPr>
          <a:xfrm>
            <a:off x="3374136"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3477006"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autoscaler</a:t>
            </a:r>
          </a:p>
        </p:txBody>
      </p:sp>
      <p:sp>
        <p:nvSpPr>
          <p:cNvPr id="45" name="TextBox 44"/>
          <p:cNvSpPr txBox="1"/>
          <p:nvPr/>
        </p:nvSpPr>
        <p:spPr>
          <a:xfrm>
            <a:off x="3483864"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 for decode alone.</a:t>
            </a:r>
          </a:p>
        </p:txBody>
      </p:sp>
      <p:sp>
        <p:nvSpPr>
          <p:cNvPr id="46" name="Rounded Rectangle 45"/>
          <p:cNvSpPr/>
          <p:nvPr/>
        </p:nvSpPr>
        <p:spPr>
          <a:xfrm>
            <a:off x="6364224"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Rectangle 46"/>
          <p:cNvSpPr/>
          <p:nvPr/>
        </p:nvSpPr>
        <p:spPr>
          <a:xfrm>
            <a:off x="6364224"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8" name="TextBox 47"/>
          <p:cNvSpPr txBox="1"/>
          <p:nvPr/>
        </p:nvSpPr>
        <p:spPr>
          <a:xfrm>
            <a:off x="6467094"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replicas</a:t>
            </a:r>
          </a:p>
        </p:txBody>
      </p:sp>
      <p:sp>
        <p:nvSpPr>
          <p:cNvPr id="49" name="TextBox 48"/>
          <p:cNvSpPr txBox="1"/>
          <p:nvPr/>
        </p:nvSpPr>
        <p:spPr>
          <a:xfrm>
            <a:off x="6473952"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Adjust decode capacity.</a:t>
            </a:r>
          </a:p>
        </p:txBody>
      </p:sp>
      <p:cxnSp>
        <p:nvCxnSpPr>
          <p:cNvPr id="50" name="Connector 49"/>
          <p:cNvCxnSpPr/>
          <p:nvPr/>
        </p:nvCxnSpPr>
        <p:spPr>
          <a:xfrm>
            <a:off x="2777490" y="3819906"/>
            <a:ext cx="59664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774436" y="3819906"/>
            <a:ext cx="58978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8DF736C-6335-5EF1-92B1-3FF1CB399460}" type="slidenum">
              <a:rPr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88036" y="539496"/>
            <a:ext cx="8435340" cy="355482"/>
          </a:xfrm>
          <a:prstGeom prst="rect">
            <a:avLst/>
          </a:prstGeom>
          <a:noFill/>
        </p:spPr>
        <p:txBody>
          <a:bodyPr wrap="square" lIns="10287" tIns="10287" rIns="10287" bIns="10287">
            <a:spAutoFit/>
          </a:bodyPr>
          <a:lstStyle/>
          <a:p>
            <a:pPr>
              <a:spcAft>
                <a:spcPts val="375"/>
              </a:spcAft>
              <a:defRPr sz="2000" b="1">
                <a:solidFill>
                  <a:srgbClr val="172941"/>
                </a:solidFill>
                <a:latin typeface="Arial"/>
              </a:defRPr>
            </a:pPr>
            <a:r>
              <a:rPr sz="2000" dirty="0"/>
              <a:t>Proposed policy: scale prefill and decode separately</a:t>
            </a:r>
          </a:p>
        </p:txBody>
      </p:sp>
      <p:sp>
        <p:nvSpPr>
          <p:cNvPr id="4" name="TextBox 3"/>
          <p:cNvSpPr txBox="1"/>
          <p:nvPr/>
        </p:nvSpPr>
        <p:spPr>
          <a:xfrm>
            <a:off x="333375" y="872019"/>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This is a proposed policy excerpt, not a ready-to-deploy manifest.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The MRI adapter and child opt-in still need integration. These thresholds are examples.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Slide Number"/>
          <p:cNvSpPr>
            <a:spLocks noGrp="1"/>
          </p:cNvSpPr>
          <p:nvPr>
            <p:ph type="sldNum" sz="quarter" idx="12"/>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fld id="{826CDA2B-5A8C-5399-A974-BBF866DEE846}" type="slidenum">
              <a:rPr lang="en-US" sz="675"/>
              <a:t>36</a:t>
            </a:fld>
            <a:endParaRPr lang="en-US" sz="675"/>
          </a:p>
        </p:txBody>
      </p:sp>
      <p:sp>
        <p:nvSpPr>
          <p:cNvPr id="10" name="Rounded Rectangle 9"/>
          <p:cNvSpPr/>
          <p:nvPr/>
        </p:nvSpPr>
        <p:spPr>
          <a:xfrm>
            <a:off x="377190" y="1200531"/>
            <a:ext cx="4251960" cy="3085719"/>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28066" y="1270040"/>
            <a:ext cx="3977640" cy="159274"/>
          </a:xfrm>
          <a:prstGeom prst="rect">
            <a:avLst/>
          </a:prstGeom>
          <a:noFill/>
        </p:spPr>
        <p:txBody>
          <a:bodyPr wrap="square" lIns="10287" tIns="10287" rIns="10287" bIns="10287">
            <a:spAutoFit/>
          </a:bodyPr>
          <a:lstStyle/>
          <a:p>
            <a:pPr>
              <a:spcAft>
                <a:spcPts val="375"/>
              </a:spcAft>
              <a:defRPr sz="1200" b="1">
                <a:solidFill>
                  <a:srgbClr val="2563EB"/>
                </a:solidFill>
                <a:latin typeface="Courier New"/>
              </a:defRPr>
            </a:pPr>
            <a:r>
              <a:rPr sz="900" dirty="0"/>
              <a:t>MRI </a:t>
            </a:r>
            <a:r>
              <a:rPr sz="900" dirty="0" err="1"/>
              <a:t>metadata.annotations</a:t>
            </a:r>
            <a:endParaRPr sz="900" dirty="0"/>
          </a:p>
        </p:txBody>
      </p:sp>
      <p:sp>
        <p:nvSpPr>
          <p:cNvPr id="12" name="TextBox 11"/>
          <p:cNvSpPr txBox="1"/>
          <p:nvPr/>
        </p:nvSpPr>
        <p:spPr>
          <a:xfrm>
            <a:off x="514350" y="1429314"/>
            <a:ext cx="3977640" cy="2446504"/>
          </a:xfrm>
          <a:prstGeom prst="rect">
            <a:avLst/>
          </a:prstGeom>
          <a:noFill/>
        </p:spPr>
        <p:txBody>
          <a:bodyPr wrap="square" lIns="10287" tIns="10287" rIns="10287" bIns="10287">
            <a:spAutoFit/>
          </a:bodyPr>
          <a:lstStyle/>
          <a:p>
            <a:pPr>
              <a:lnSpc>
                <a:spcPts val="915"/>
              </a:lnSpc>
              <a:defRPr sz="1070" b="0">
                <a:solidFill>
                  <a:srgbClr val="172941"/>
                </a:solidFill>
                <a:latin typeface="Courier New"/>
              </a:defRPr>
            </a:pPr>
            <a:r>
              <a:rPr sz="1200" dirty="0"/>
              <a:t>autoscaling.kaito.sh/roles: |</a:t>
            </a:r>
          </a:p>
          <a:p>
            <a:pPr>
              <a:lnSpc>
                <a:spcPts val="915"/>
              </a:lnSpc>
              <a:defRPr sz="1070" b="0">
                <a:solidFill>
                  <a:srgbClr val="172941"/>
                </a:solidFill>
                <a:latin typeface="Courier New"/>
              </a:defRPr>
            </a:pPr>
            <a:r>
              <a:rPr sz="1200" dirty="0"/>
              <a:t>  version: v1alpha1</a:t>
            </a:r>
          </a:p>
          <a:p>
            <a:pPr>
              <a:lnSpc>
                <a:spcPts val="915"/>
              </a:lnSpc>
              <a:defRPr sz="1070" b="0">
                <a:solidFill>
                  <a:srgbClr val="172941"/>
                </a:solidFill>
                <a:latin typeface="Courier New"/>
              </a:defRPr>
            </a:pPr>
            <a:r>
              <a:rPr sz="1200" dirty="0"/>
              <a:t>  roles:</a:t>
            </a:r>
          </a:p>
          <a:p>
            <a:pPr>
              <a:lnSpc>
                <a:spcPts val="915"/>
              </a:lnSpc>
              <a:defRPr sz="1070" b="0">
                <a:solidFill>
                  <a:srgbClr val="172941"/>
                </a:solidFill>
                <a:latin typeface="Courier New"/>
              </a:defRPr>
            </a:pPr>
            <a:r>
              <a:rPr sz="1200" dirty="0"/>
              <a:t>    prefill:</a:t>
            </a:r>
          </a:p>
          <a:p>
            <a:pPr>
              <a:lnSpc>
                <a:spcPts val="915"/>
              </a:lnSpc>
              <a:defRPr sz="1070" b="0">
                <a:solidFill>
                  <a:srgbClr val="172941"/>
                </a:solidFill>
                <a:latin typeface="Courier New"/>
              </a:defRPr>
            </a:pPr>
            <a:r>
              <a:rPr sz="1200" dirty="0"/>
              <a:t>      min-replicas: "1"</a:t>
            </a:r>
          </a:p>
          <a:p>
            <a:pPr>
              <a:lnSpc>
                <a:spcPts val="915"/>
              </a:lnSpc>
              <a:defRPr sz="1070" b="0">
                <a:solidFill>
                  <a:srgbClr val="172941"/>
                </a:solidFill>
                <a:latin typeface="Courier New"/>
              </a:defRPr>
            </a:pPr>
            <a:r>
              <a:rPr sz="1200" dirty="0"/>
              <a:t>      max-replicas: "8"</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rPr>
              <a:t>vllm:num_requests_waiting</a:t>
            </a:r>
            <a:endParaRPr sz="1200" b="1" dirty="0">
              <a:solidFill>
                <a:srgbClr val="00B050"/>
              </a:solidFill>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8</a:t>
            </a:r>
          </a:p>
          <a:p>
            <a:pPr>
              <a:lnSpc>
                <a:spcPts val="915"/>
              </a:lnSpc>
              <a:defRPr sz="1070" b="0">
                <a:solidFill>
                  <a:srgbClr val="172941"/>
                </a:solidFill>
                <a:latin typeface="Courier New"/>
              </a:defRPr>
            </a:pPr>
            <a:r>
              <a:rPr sz="1200" dirty="0"/>
              <a:t>        </a:t>
            </a:r>
            <a:r>
              <a:rPr sz="1200" dirty="0" err="1"/>
              <a:t>downthreshold</a:t>
            </a:r>
            <a:r>
              <a:rPr sz="1200" dirty="0"/>
              <a:t>: 1</a:t>
            </a:r>
          </a:p>
          <a:p>
            <a:pPr>
              <a:lnSpc>
                <a:spcPts val="915"/>
              </a:lnSpc>
              <a:defRPr sz="1070" b="0">
                <a:solidFill>
                  <a:srgbClr val="172941"/>
                </a:solidFill>
                <a:latin typeface="Courier New"/>
              </a:defRPr>
            </a:pPr>
            <a:r>
              <a:rPr sz="1200" dirty="0"/>
              <a:t>    decode:</a:t>
            </a:r>
          </a:p>
          <a:p>
            <a:pPr>
              <a:lnSpc>
                <a:spcPts val="915"/>
              </a:lnSpc>
              <a:defRPr sz="1070" b="0">
                <a:solidFill>
                  <a:srgbClr val="172941"/>
                </a:solidFill>
                <a:latin typeface="Courier New"/>
              </a:defRPr>
            </a:pPr>
            <a:r>
              <a:rPr sz="1200" dirty="0"/>
              <a:t>      min-replicas: "2"</a:t>
            </a:r>
          </a:p>
          <a:p>
            <a:pPr>
              <a:lnSpc>
                <a:spcPts val="915"/>
              </a:lnSpc>
              <a:defRPr sz="1070" b="0">
                <a:solidFill>
                  <a:srgbClr val="172941"/>
                </a:solidFill>
                <a:latin typeface="Courier New"/>
              </a:defRPr>
            </a:pPr>
            <a:r>
              <a:rPr sz="1200" dirty="0"/>
              <a:t>      max-replicas: "16"</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latin typeface="Courier New"/>
              </a:rPr>
              <a:t>vllm:num_requests_running</a:t>
            </a:r>
            <a:endParaRPr sz="1200" b="1" dirty="0">
              <a:solidFill>
                <a:srgbClr val="00B050"/>
              </a:solidFill>
              <a:latin typeface="Courier New"/>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24</a:t>
            </a:r>
          </a:p>
          <a:p>
            <a:pPr>
              <a:lnSpc>
                <a:spcPts val="915"/>
              </a:lnSpc>
              <a:defRPr sz="1070" b="0">
                <a:solidFill>
                  <a:srgbClr val="172941"/>
                </a:solidFill>
                <a:latin typeface="Courier New"/>
              </a:defRPr>
            </a:pPr>
            <a:r>
              <a:rPr sz="1200" dirty="0"/>
              <a:t>        </a:t>
            </a:r>
            <a:r>
              <a:rPr sz="1200" dirty="0" err="1"/>
              <a:t>downthreshold</a:t>
            </a:r>
            <a:r>
              <a:rPr sz="1200" dirty="0"/>
              <a:t>: 4</a:t>
            </a:r>
          </a:p>
        </p:txBody>
      </p:sp>
      <p:sp>
        <p:nvSpPr>
          <p:cNvPr id="13" name="Rounded Rectangle 12"/>
          <p:cNvSpPr/>
          <p:nvPr/>
        </p:nvSpPr>
        <p:spPr>
          <a:xfrm>
            <a:off x="4814316" y="1522476"/>
            <a:ext cx="3950208" cy="106299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951476" y="1618488"/>
            <a:ext cx="3675888" cy="170816"/>
          </a:xfrm>
          <a:prstGeom prst="rect">
            <a:avLst/>
          </a:prstGeom>
          <a:noFill/>
        </p:spPr>
        <p:txBody>
          <a:bodyPr wrap="square" lIns="10287" tIns="10287" rIns="10287" bIns="10287">
            <a:spAutoFit/>
          </a:bodyPr>
          <a:lstStyle/>
          <a:p>
            <a:pPr>
              <a:spcAft>
                <a:spcPts val="375"/>
              </a:spcAft>
              <a:defRPr sz="1300" b="1">
                <a:solidFill>
                  <a:srgbClr val="2563EB"/>
                </a:solidFill>
                <a:latin typeface="Courier New"/>
              </a:defRPr>
            </a:pPr>
            <a:r>
              <a:rPr sz="975"/>
              <a:t>MRI spec.roles (excerpt)</a:t>
            </a:r>
          </a:p>
        </p:txBody>
      </p:sp>
      <p:sp>
        <p:nvSpPr>
          <p:cNvPr id="15" name="TextBox 14"/>
          <p:cNvSpPr txBox="1"/>
          <p:nvPr/>
        </p:nvSpPr>
        <p:spPr>
          <a:xfrm>
            <a:off x="4951476" y="1940814"/>
            <a:ext cx="3675888" cy="636328"/>
          </a:xfrm>
          <a:prstGeom prst="rect">
            <a:avLst/>
          </a:prstGeom>
          <a:noFill/>
        </p:spPr>
        <p:txBody>
          <a:bodyPr wrap="square" lIns="10287" tIns="10287" rIns="10287" bIns="10287">
            <a:spAutoFit/>
          </a:bodyPr>
          <a:lstStyle/>
          <a:p>
            <a:pPr>
              <a:defRPr sz="1200" b="0">
                <a:solidFill>
                  <a:srgbClr val="172941"/>
                </a:solidFill>
                <a:latin typeface="Courier New"/>
              </a:defRPr>
            </a:pPr>
            <a:r>
              <a:rPr sz="1000" dirty="0"/>
              <a:t>- type: prefill</a:t>
            </a:r>
          </a:p>
          <a:p>
            <a:pPr>
              <a:defRPr sz="1200" b="0">
                <a:solidFill>
                  <a:srgbClr val="172941"/>
                </a:solidFill>
                <a:latin typeface="Courier New"/>
              </a:defRPr>
            </a:pPr>
            <a:r>
              <a:rPr sz="1000" dirty="0"/>
              <a:t>  replicas: null</a:t>
            </a:r>
          </a:p>
          <a:p>
            <a:pPr>
              <a:defRPr sz="1200" b="0">
                <a:solidFill>
                  <a:srgbClr val="172941"/>
                </a:solidFill>
                <a:latin typeface="Courier New"/>
              </a:defRPr>
            </a:pPr>
            <a:r>
              <a:rPr sz="1000" dirty="0"/>
              <a:t>- type: decode</a:t>
            </a:r>
          </a:p>
          <a:p>
            <a:pPr>
              <a:defRPr sz="1200" b="0">
                <a:solidFill>
                  <a:srgbClr val="172941"/>
                </a:solidFill>
                <a:latin typeface="Courier New"/>
              </a:defRPr>
            </a:pPr>
            <a:r>
              <a:rPr sz="1000" dirty="0"/>
              <a:t>  replicas: null</a:t>
            </a:r>
          </a:p>
        </p:txBody>
      </p:sp>
      <p:sp>
        <p:nvSpPr>
          <p:cNvPr id="16" name="TextBox 15"/>
          <p:cNvSpPr txBox="1"/>
          <p:nvPr/>
        </p:nvSpPr>
        <p:spPr>
          <a:xfrm>
            <a:off x="4828032" y="2729485"/>
            <a:ext cx="3902202"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a:t>ROLE AVERAGES / START AT P=1, D=2</a:t>
            </a:r>
          </a:p>
        </p:txBody>
      </p:sp>
      <p:sp>
        <p:nvSpPr>
          <p:cNvPr id="17" name="TextBox 16"/>
          <p:cNvSpPr txBox="1"/>
          <p:nvPr/>
        </p:nvSpPr>
        <p:spPr>
          <a:xfrm>
            <a:off x="4828032" y="3079243"/>
            <a:ext cx="3902202"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a:t>Waiting is 12; running is 12.</a:t>
            </a:r>
          </a:p>
          <a:p>
            <a:pPr>
              <a:spcAft>
                <a:spcPts val="375"/>
              </a:spcAft>
              <a:defRPr sz="1700" b="0">
                <a:solidFill>
                  <a:srgbClr val="087F8C"/>
                </a:solidFill>
                <a:latin typeface="Arial"/>
              </a:defRPr>
            </a:pPr>
            <a:r>
              <a:rPr sz="1275"/>
              <a:t>Prefill requests scale-up; decode holds.</a:t>
            </a:r>
          </a:p>
        </p:txBody>
      </p:sp>
      <p:sp>
        <p:nvSpPr>
          <p:cNvPr id="18" name="TextBox 17"/>
          <p:cNvSpPr txBox="1"/>
          <p:nvPr/>
        </p:nvSpPr>
        <p:spPr>
          <a:xfrm>
            <a:off x="4828032" y="3703320"/>
            <a:ext cx="3902202" cy="441403"/>
          </a:xfrm>
          <a:prstGeom prst="rect">
            <a:avLst/>
          </a:prstGeom>
          <a:noFill/>
        </p:spPr>
        <p:txBody>
          <a:bodyPr wrap="square" lIns="10287" tIns="10287" rIns="10287" bIns="10287">
            <a:spAutoFit/>
          </a:bodyPr>
          <a:lstStyle/>
          <a:p>
            <a:pPr>
              <a:spcAft>
                <a:spcPts val="375"/>
              </a:spcAft>
              <a:defRPr sz="1600" b="0">
                <a:solidFill>
                  <a:srgbClr val="7354B8"/>
                </a:solidFill>
                <a:latin typeface="Arial"/>
              </a:defRPr>
            </a:pPr>
            <a:r>
              <a:rPr sz="1200"/>
              <a:t>If running later exceeds 24,</a:t>
            </a:r>
          </a:p>
          <a:p>
            <a:pPr>
              <a:spcAft>
                <a:spcPts val="375"/>
              </a:spcAft>
              <a:defRPr sz="1600" b="0">
                <a:solidFill>
                  <a:srgbClr val="7354B8"/>
                </a:solidFill>
                <a:latin typeface="Arial"/>
              </a:defRPr>
            </a:pPr>
            <a:r>
              <a:rPr sz="1200"/>
              <a:t>decode can scale up on its own.</a:t>
            </a:r>
          </a:p>
        </p:txBody>
      </p:sp>
      <p:sp>
        <p:nvSpPr>
          <p:cNvPr id="19"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policy example</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vLLM-native metrics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lang="en-US" sz="2100" b="1" cap="none" dirty="0">
                <a:solidFill>
                  <a:srgbClr val="142C46"/>
                </a:solidFill>
                <a:latin typeface="Arial"/>
              </a:rPr>
              <a:t>Use two gauges to scale the two roles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Verify service-to-replica mapping before averaging each role’s load.</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These thresholds are examples. Verify /metrics before enabling either policy.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ounded Rectangle 10"/>
          <p:cNvSpPr/>
          <p:nvPr/>
        </p:nvSpPr>
        <p:spPr>
          <a:xfrm>
            <a:off x="514350" y="1700784"/>
            <a:ext cx="109728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62356" y="1724787"/>
            <a:ext cx="1001268" cy="143886"/>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800" cap="none" dirty="0">
                <a:latin typeface="Arial"/>
              </a:rPr>
              <a:t>Prefill</a:t>
            </a:r>
          </a:p>
        </p:txBody>
      </p:sp>
      <p:sp>
        <p:nvSpPr>
          <p:cNvPr id="13" name="TextBox 12"/>
          <p:cNvSpPr txBox="1"/>
          <p:nvPr/>
        </p:nvSpPr>
        <p:spPr>
          <a:xfrm>
            <a:off x="514350" y="2098548"/>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Courier New"/>
              </a:defRPr>
            </a:pPr>
            <a:r>
              <a:rPr sz="1500" cap="none" dirty="0" err="1">
                <a:latin typeface="Arial"/>
              </a:rPr>
              <a:t>vllm:num_requests_waiting</a:t>
            </a:r>
            <a:endParaRPr sz="1500" cap="none" dirty="0">
              <a:latin typeface="Arial"/>
            </a:endParaRPr>
          </a:p>
        </p:txBody>
      </p:sp>
      <p:sp>
        <p:nvSpPr>
          <p:cNvPr id="14" name="TextBox 13"/>
          <p:cNvSpPr txBox="1"/>
          <p:nvPr/>
        </p:nvSpPr>
        <p:spPr>
          <a:xfrm>
            <a:off x="514350"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Watch the prefill engine queue.</a:t>
            </a:r>
          </a:p>
          <a:p>
            <a:pPr>
              <a:spcAft>
                <a:spcPts val="375"/>
              </a:spcAft>
              <a:defRPr sz="1800" b="0">
                <a:solidFill>
                  <a:srgbClr val="172941"/>
                </a:solidFill>
                <a:latin typeface="Arial"/>
              </a:defRPr>
            </a:pPr>
            <a:r>
              <a:rPr sz="1350" cap="none">
                <a:latin typeface="Arial"/>
              </a:rPr>
              <a:t>Protect prompt admission latency.</a:t>
            </a:r>
          </a:p>
        </p:txBody>
      </p:sp>
      <p:sp>
        <p:nvSpPr>
          <p:cNvPr id="15" name="Rounded Rectangle 14"/>
          <p:cNvSpPr/>
          <p:nvPr/>
        </p:nvSpPr>
        <p:spPr>
          <a:xfrm>
            <a:off x="514350"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555498"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&lt; 1</a:t>
            </a:r>
          </a:p>
        </p:txBody>
      </p:sp>
      <p:sp>
        <p:nvSpPr>
          <p:cNvPr id="17" name="TextBox 16"/>
          <p:cNvSpPr txBox="1"/>
          <p:nvPr/>
        </p:nvSpPr>
        <p:spPr>
          <a:xfrm>
            <a:off x="555498"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down</a:t>
            </a:r>
          </a:p>
        </p:txBody>
      </p:sp>
      <p:sp>
        <p:nvSpPr>
          <p:cNvPr id="18" name="Rounded Rectangle 17"/>
          <p:cNvSpPr/>
          <p:nvPr/>
        </p:nvSpPr>
        <p:spPr>
          <a:xfrm>
            <a:off x="1789938"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1831086"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Between</a:t>
            </a:r>
          </a:p>
        </p:txBody>
      </p:sp>
      <p:sp>
        <p:nvSpPr>
          <p:cNvPr id="20" name="TextBox 19"/>
          <p:cNvSpPr txBox="1"/>
          <p:nvPr/>
        </p:nvSpPr>
        <p:spPr>
          <a:xfrm>
            <a:off x="1831086"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Hold</a:t>
            </a:r>
          </a:p>
        </p:txBody>
      </p:sp>
      <p:sp>
        <p:nvSpPr>
          <p:cNvPr id="21" name="Rounded Rectangle 20"/>
          <p:cNvSpPr/>
          <p:nvPr/>
        </p:nvSpPr>
        <p:spPr>
          <a:xfrm>
            <a:off x="3065526"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3106674"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&gt; 8</a:t>
            </a:r>
          </a:p>
        </p:txBody>
      </p:sp>
      <p:sp>
        <p:nvSpPr>
          <p:cNvPr id="23" name="TextBox 22"/>
          <p:cNvSpPr txBox="1"/>
          <p:nvPr/>
        </p:nvSpPr>
        <p:spPr>
          <a:xfrm>
            <a:off x="3106674"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up</a:t>
            </a:r>
          </a:p>
        </p:txBody>
      </p:sp>
      <p:sp>
        <p:nvSpPr>
          <p:cNvPr id="24" name="TextBox 23"/>
          <p:cNvSpPr txBox="1"/>
          <p:nvPr/>
        </p:nvSpPr>
        <p:spPr>
          <a:xfrm>
            <a:off x="514350"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1–8 role replicas</a:t>
            </a:r>
          </a:p>
        </p:txBody>
      </p:sp>
      <p:sp>
        <p:nvSpPr>
          <p:cNvPr id="25" name="Rounded Rectangle 24"/>
          <p:cNvSpPr/>
          <p:nvPr/>
        </p:nvSpPr>
        <p:spPr>
          <a:xfrm>
            <a:off x="4649724"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Rounded Rectangle 25"/>
          <p:cNvSpPr/>
          <p:nvPr/>
        </p:nvSpPr>
        <p:spPr>
          <a:xfrm>
            <a:off x="4786884" y="1700784"/>
            <a:ext cx="109728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4834890" y="1724787"/>
            <a:ext cx="1001268" cy="143886"/>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800" cap="none" dirty="0">
                <a:latin typeface="Arial"/>
              </a:rPr>
              <a:t>Decode</a:t>
            </a:r>
          </a:p>
        </p:txBody>
      </p:sp>
      <p:sp>
        <p:nvSpPr>
          <p:cNvPr id="28" name="TextBox 27"/>
          <p:cNvSpPr txBox="1"/>
          <p:nvPr/>
        </p:nvSpPr>
        <p:spPr>
          <a:xfrm>
            <a:off x="4786884" y="2098548"/>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Courier New"/>
              </a:defRPr>
            </a:pPr>
            <a:r>
              <a:rPr sz="1500" cap="none" dirty="0" err="1">
                <a:latin typeface="Arial"/>
              </a:rPr>
              <a:t>vllm:num_requests_running</a:t>
            </a:r>
            <a:endParaRPr sz="1500" cap="none" dirty="0">
              <a:latin typeface="Arial"/>
            </a:endParaRPr>
          </a:p>
        </p:txBody>
      </p:sp>
      <p:sp>
        <p:nvSpPr>
          <p:cNvPr id="29" name="TextBox 28"/>
          <p:cNvSpPr txBox="1"/>
          <p:nvPr/>
        </p:nvSpPr>
        <p:spPr>
          <a:xfrm>
            <a:off x="4786884"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Watch active decode requests.</a:t>
            </a:r>
          </a:p>
          <a:p>
            <a:pPr>
              <a:spcAft>
                <a:spcPts val="375"/>
              </a:spcAft>
              <a:defRPr sz="1800" b="0">
                <a:solidFill>
                  <a:srgbClr val="172941"/>
                </a:solidFill>
                <a:latin typeface="Arial"/>
              </a:defRPr>
            </a:pPr>
            <a:r>
              <a:rPr sz="1350" cap="none">
                <a:latin typeface="Arial"/>
              </a:rPr>
              <a:t>Protect token delivery under load.</a:t>
            </a:r>
          </a:p>
        </p:txBody>
      </p:sp>
      <p:sp>
        <p:nvSpPr>
          <p:cNvPr id="30" name="Rounded Rectangle 29"/>
          <p:cNvSpPr/>
          <p:nvPr/>
        </p:nvSpPr>
        <p:spPr>
          <a:xfrm>
            <a:off x="4786884"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4828032"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&lt; 4</a:t>
            </a:r>
          </a:p>
        </p:txBody>
      </p:sp>
      <p:sp>
        <p:nvSpPr>
          <p:cNvPr id="32" name="TextBox 31"/>
          <p:cNvSpPr txBox="1"/>
          <p:nvPr/>
        </p:nvSpPr>
        <p:spPr>
          <a:xfrm>
            <a:off x="4828032"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down</a:t>
            </a:r>
          </a:p>
        </p:txBody>
      </p:sp>
      <p:sp>
        <p:nvSpPr>
          <p:cNvPr id="33" name="Rounded Rectangle 32"/>
          <p:cNvSpPr/>
          <p:nvPr/>
        </p:nvSpPr>
        <p:spPr>
          <a:xfrm>
            <a:off x="6062472"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03620"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Between</a:t>
            </a:r>
          </a:p>
        </p:txBody>
      </p:sp>
      <p:sp>
        <p:nvSpPr>
          <p:cNvPr id="35" name="TextBox 34"/>
          <p:cNvSpPr txBox="1"/>
          <p:nvPr/>
        </p:nvSpPr>
        <p:spPr>
          <a:xfrm>
            <a:off x="6103620"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Hold</a:t>
            </a:r>
          </a:p>
        </p:txBody>
      </p:sp>
      <p:sp>
        <p:nvSpPr>
          <p:cNvPr id="36" name="Rounded Rectangle 35"/>
          <p:cNvSpPr/>
          <p:nvPr/>
        </p:nvSpPr>
        <p:spPr>
          <a:xfrm>
            <a:off x="7338060"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7379208"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&gt; 24</a:t>
            </a:r>
          </a:p>
        </p:txBody>
      </p:sp>
      <p:sp>
        <p:nvSpPr>
          <p:cNvPr id="38" name="TextBox 37"/>
          <p:cNvSpPr txBox="1"/>
          <p:nvPr/>
        </p:nvSpPr>
        <p:spPr>
          <a:xfrm>
            <a:off x="7379208"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up</a:t>
            </a:r>
          </a:p>
        </p:txBody>
      </p:sp>
      <p:sp>
        <p:nvSpPr>
          <p:cNvPr id="39" name="TextBox 38"/>
          <p:cNvSpPr txBox="1"/>
          <p:nvPr/>
        </p:nvSpPr>
        <p:spPr>
          <a:xfrm>
            <a:off x="4786884"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2–16 role replicas</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75B330E-544A-5373-A72D-2D5230A988E3}" type="slidenum">
              <a:rPr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signal interpretation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Use derived signals to explain the load</a:t>
            </a:r>
          </a:p>
        </p:txBody>
      </p:sp>
      <p:sp>
        <p:nvSpPr>
          <p:cNvPr id="4" name="TextBox 3"/>
          <p:cNvSpPr txBox="1"/>
          <p:nvPr/>
        </p:nvSpPr>
        <p:spPr>
          <a:xfrm>
            <a:off x="384048" y="1033271"/>
            <a:ext cx="8321040" cy="282385"/>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cap="none" dirty="0">
                <a:solidFill>
                  <a:srgbClr val="52677D"/>
                </a:solidFill>
                <a:latin typeface="Arial"/>
              </a:rPr>
              <a:t>Derive KV usage, latency and throughput. Check queries before use.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KV occupancy is not demand. Throughput alone should not change replica counts.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1" y="1543050"/>
            <a:ext cx="3020948"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7" y="1632205"/>
            <a:ext cx="2873501"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NATIVE INPUT (vllm: PREFIX)</a:t>
            </a:r>
          </a:p>
        </p:txBody>
      </p:sp>
      <p:sp>
        <p:nvSpPr>
          <p:cNvPr id="12" name="Rectangle 11"/>
          <p:cNvSpPr/>
          <p:nvPr/>
        </p:nvSpPr>
        <p:spPr>
          <a:xfrm>
            <a:off x="3415284" y="1543050"/>
            <a:ext cx="23145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3497580" y="1632205"/>
            <a:ext cx="21671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Derivation</a:t>
            </a:r>
          </a:p>
        </p:txBody>
      </p:sp>
      <p:sp>
        <p:nvSpPr>
          <p:cNvPr id="14" name="Rectangle 13"/>
          <p:cNvSpPr/>
          <p:nvPr/>
        </p:nvSpPr>
        <p:spPr>
          <a:xfrm>
            <a:off x="5747003" y="1543050"/>
            <a:ext cx="30003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829299" y="1632205"/>
            <a:ext cx="28529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Decision support</a:t>
            </a:r>
          </a:p>
        </p:txBody>
      </p:sp>
      <p:sp>
        <p:nvSpPr>
          <p:cNvPr id="16" name="Rectangle 15"/>
          <p:cNvSpPr/>
          <p:nvPr/>
        </p:nvSpPr>
        <p:spPr>
          <a:xfrm>
            <a:off x="377191" y="2077974"/>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7" y="2167128"/>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18" name="Rectangle 17"/>
          <p:cNvSpPr/>
          <p:nvPr/>
        </p:nvSpPr>
        <p:spPr>
          <a:xfrm>
            <a:off x="3415284" y="2077974"/>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3497580" y="2167128"/>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max(role samples)</a:t>
            </a:r>
          </a:p>
        </p:txBody>
      </p:sp>
      <p:sp>
        <p:nvSpPr>
          <p:cNvPr id="20" name="Rectangle 19"/>
          <p:cNvSpPr/>
          <p:nvPr/>
        </p:nvSpPr>
        <p:spPr>
          <a:xfrm>
            <a:off x="5747003" y="2077974"/>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829299" y="2167128"/>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Could guard scale-down</a:t>
            </a:r>
          </a:p>
        </p:txBody>
      </p:sp>
      <p:sp>
        <p:nvSpPr>
          <p:cNvPr id="22" name="Rectangle 21"/>
          <p:cNvSpPr/>
          <p:nvPr/>
        </p:nvSpPr>
        <p:spPr>
          <a:xfrm>
            <a:off x="377191" y="2612898"/>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7" y="2702052"/>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24" name="Rectangle 23"/>
          <p:cNvSpPr/>
          <p:nvPr/>
        </p:nvSpPr>
        <p:spPr>
          <a:xfrm>
            <a:off x="3415284" y="2612898"/>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3497580" y="2702052"/>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1 - max(role samples)</a:t>
            </a:r>
          </a:p>
        </p:txBody>
      </p:sp>
      <p:sp>
        <p:nvSpPr>
          <p:cNvPr id="26" name="Rectangle 25"/>
          <p:cNvSpPr/>
          <p:nvPr/>
        </p:nvSpPr>
        <p:spPr>
          <a:xfrm>
            <a:off x="5747003" y="2612898"/>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829299" y="2702052"/>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dirty="0">
                <a:latin typeface="Arial"/>
              </a:rPr>
              <a:t>Shows free fraction,</a:t>
            </a:r>
          </a:p>
          <a:p>
            <a:pPr>
              <a:spcAft>
                <a:spcPts val="375"/>
              </a:spcAft>
              <a:defRPr sz="1500" b="0">
                <a:solidFill>
                  <a:srgbClr val="172941"/>
                </a:solidFill>
                <a:latin typeface="Arial"/>
              </a:defRPr>
            </a:pPr>
            <a:r>
              <a:rPr sz="1125" cap="none" dirty="0">
                <a:latin typeface="Arial"/>
              </a:rPr>
              <a:t>not request capacity.</a:t>
            </a:r>
          </a:p>
        </p:txBody>
      </p:sp>
      <p:sp>
        <p:nvSpPr>
          <p:cNvPr id="28" name="Rectangle 27"/>
          <p:cNvSpPr/>
          <p:nvPr/>
        </p:nvSpPr>
        <p:spPr>
          <a:xfrm>
            <a:off x="377191" y="3147822"/>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7" y="3236976"/>
            <a:ext cx="2873501" cy="418320"/>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time_to_first_token_seconds</a:t>
            </a:r>
          </a:p>
          <a:p>
            <a:pPr>
              <a:spcAft>
                <a:spcPts val="375"/>
              </a:spcAft>
              <a:defRPr sz="1500" b="0">
                <a:solidFill>
                  <a:srgbClr val="2563EB"/>
                </a:solidFill>
                <a:latin typeface="Arial"/>
              </a:defRPr>
            </a:pPr>
            <a:r>
              <a:rPr sz="1125" cap="none">
                <a:latin typeface="Arial"/>
              </a:rPr>
              <a:t>(histogram buckets)</a:t>
            </a:r>
          </a:p>
        </p:txBody>
      </p:sp>
      <p:sp>
        <p:nvSpPr>
          <p:cNvPr id="30" name="Rectangle 29"/>
          <p:cNvSpPr/>
          <p:nvPr/>
        </p:nvSpPr>
        <p:spPr>
          <a:xfrm>
            <a:off x="3415284" y="3147822"/>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3497580" y="3236976"/>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P95 over bucket rates</a:t>
            </a:r>
          </a:p>
        </p:txBody>
      </p:sp>
      <p:sp>
        <p:nvSpPr>
          <p:cNvPr id="32" name="Rectangle 31"/>
          <p:cNvSpPr/>
          <p:nvPr/>
        </p:nvSpPr>
        <p:spPr>
          <a:xfrm>
            <a:off x="5747003" y="3147822"/>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829299" y="3236976"/>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Shows engine-side TTFT tails.</a:t>
            </a:r>
          </a:p>
        </p:txBody>
      </p:sp>
      <p:sp>
        <p:nvSpPr>
          <p:cNvPr id="34" name="Rectangle 33"/>
          <p:cNvSpPr/>
          <p:nvPr/>
        </p:nvSpPr>
        <p:spPr>
          <a:xfrm>
            <a:off x="377191" y="3682746"/>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7" y="3771900"/>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generation_tokens_total</a:t>
            </a:r>
          </a:p>
        </p:txBody>
      </p:sp>
      <p:sp>
        <p:nvSpPr>
          <p:cNvPr id="36" name="Rectangle 35"/>
          <p:cNvSpPr/>
          <p:nvPr/>
        </p:nvSpPr>
        <p:spPr>
          <a:xfrm>
            <a:off x="3415284" y="3682746"/>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3497580" y="3771900"/>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sum(rate(counter[5m]))</a:t>
            </a:r>
          </a:p>
        </p:txBody>
      </p:sp>
      <p:sp>
        <p:nvSpPr>
          <p:cNvPr id="38" name="Rectangle 37"/>
          <p:cNvSpPr/>
          <p:nvPr/>
        </p:nvSpPr>
        <p:spPr>
          <a:xfrm>
            <a:off x="5747003" y="3682746"/>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829299" y="3771900"/>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Shows output rate;</a:t>
            </a:r>
          </a:p>
          <a:p>
            <a:pPr>
              <a:spcAft>
                <a:spcPts val="375"/>
              </a:spcAft>
              <a:defRPr sz="1500" b="0">
                <a:solidFill>
                  <a:srgbClr val="172941"/>
                </a:solidFill>
                <a:latin typeface="Arial"/>
              </a:defRPr>
            </a:pPr>
            <a:r>
              <a:rPr sz="1125" cap="none">
                <a:latin typeface="Arial"/>
              </a:rPr>
              <a:t>benchmark it.</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9DD8370-845C-582D-8657-3333045C93B5}" type="slidenum">
              <a:rPr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5280292"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Where KAITO + </a:t>
            </a:r>
            <a:r>
              <a:rPr sz="2100" b="1" cap="none" dirty="0" err="1">
                <a:solidFill>
                  <a:srgbClr val="142C46"/>
                </a:solidFill>
                <a:latin typeface="Arial"/>
              </a:rPr>
              <a:t>llm</a:t>
            </a:r>
            <a:r>
              <a:rPr sz="2100" b="1" cap="none" dirty="0">
                <a:solidFill>
                  <a:srgbClr val="142C46"/>
                </a:solidFill>
                <a:latin typeface="Arial"/>
              </a:rPr>
              <a:t>-d</a:t>
            </a:r>
            <a:r>
              <a:rPr lang="en-US" sz="2100" b="1" cap="none" dirty="0">
                <a:solidFill>
                  <a:srgbClr val="142C46"/>
                </a:solidFill>
                <a:latin typeface="Arial"/>
              </a:rPr>
              <a:t> </a:t>
            </a:r>
            <a:r>
              <a:rPr sz="2100" b="1" cap="none" dirty="0">
                <a:solidFill>
                  <a:srgbClr val="142C46"/>
                </a:solidFill>
                <a:latin typeface="Arial"/>
              </a:rPr>
              <a:t>goes </a:t>
            </a:r>
            <a:r>
              <a:rPr lang="en-US" altLang="zh-CN" sz="2100" b="1" cap="none" dirty="0">
                <a:solidFill>
                  <a:srgbClr val="142C46"/>
                </a:solidFill>
                <a:latin typeface="Arial"/>
              </a:rPr>
              <a:t>n</a:t>
            </a:r>
            <a:r>
              <a:rPr sz="2100" b="1" cap="none" dirty="0">
                <a:solidFill>
                  <a:srgbClr val="142C46"/>
                </a:solidFill>
                <a:latin typeface="Arial"/>
              </a:rPr>
              <a:t>ex</a:t>
            </a:r>
            <a:r>
              <a:rPr lang="en-US" altLang="zh-CN" sz="2100" b="1" cap="none" dirty="0">
                <a:solidFill>
                  <a:srgbClr val="142C46"/>
                </a:solidFill>
                <a:latin typeface="Arial"/>
              </a:rPr>
              <a:t>t</a:t>
            </a:r>
            <a:endParaRPr sz="2100" b="1" cap="none" dirty="0">
              <a:solidFill>
                <a:srgbClr val="142C46"/>
              </a:solidFill>
              <a:latin typeface="Arial"/>
            </a:endParaRP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Next, explore better cache reuse, more inference roles and larger-scale execution.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These are integration directions, not release dates; some capabilities already exist upstream.</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Near term</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Cache-aware serving</a:t>
            </a:r>
          </a:p>
        </p:txBody>
      </p:sp>
      <p:sp>
        <p:nvSpPr>
          <p:cNvPr id="14" name="TextBox 13"/>
          <p:cNvSpPr txBox="1"/>
          <p:nvPr/>
        </p:nvSpPr>
        <p:spPr>
          <a:xfrm>
            <a:off x="514350"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Route using KV cache events.</a:t>
            </a:r>
          </a:p>
          <a:p>
            <a:pPr>
              <a:spcAft>
                <a:spcPts val="375"/>
              </a:spcAft>
              <a:defRPr sz="1700" b="0">
                <a:solidFill>
                  <a:srgbClr val="172941"/>
                </a:solidFill>
                <a:latin typeface="Arial"/>
              </a:defRPr>
            </a:pPr>
            <a:r>
              <a:rPr sz="1275" cap="none">
                <a:latin typeface="Arial"/>
              </a:rPr>
              <a:t>Tier cache across HBM, CPU RAM</a:t>
            </a:r>
          </a:p>
          <a:p>
            <a:pPr>
              <a:spcAft>
                <a:spcPts val="375"/>
              </a:spcAft>
              <a:defRPr sz="1700" b="0">
                <a:solidFill>
                  <a:srgbClr val="172941"/>
                </a:solidFill>
                <a:latin typeface="Arial"/>
              </a:defRPr>
            </a:pPr>
            <a:r>
              <a:t>and optional filesystems.</a:t>
            </a:r>
            <a:endParaRPr sz="1275"/>
          </a:p>
        </p:txBody>
      </p:sp>
      <p:sp>
        <p:nvSpPr>
          <p:cNvPr id="15" name="Rounded Rectangle 14"/>
          <p:cNvSpPr/>
          <p:nvPr/>
        </p:nvSpPr>
        <p:spPr>
          <a:xfrm>
            <a:off x="3216402"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Next topology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E/P/D</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Add Encode to Prefill / Decode.</a:t>
            </a:r>
          </a:p>
          <a:p>
            <a:pPr>
              <a:spcAft>
                <a:spcPts val="375"/>
              </a:spcAft>
              <a:defRPr sz="1700" b="0">
                <a:solidFill>
                  <a:srgbClr val="172941"/>
                </a:solidFill>
                <a:latin typeface="Arial"/>
              </a:defRPr>
            </a:pPr>
            <a:r>
              <a:t>Support more inference roles.</a:t>
            </a:r>
            <a:endParaRPr sz="1275"/>
          </a:p>
        </p:txBody>
      </p:sp>
      <p:sp>
        <p:nvSpPr>
          <p:cNvPr id="20" name="Rounded Rectangle 19"/>
          <p:cNvSpPr/>
          <p:nvPr/>
        </p:nvSpPr>
        <p:spPr>
          <a:xfrm>
            <a:off x="6055614"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At larger scale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Larger-scale systems</a:t>
            </a:r>
          </a:p>
        </p:txBody>
      </p:sp>
      <p:sp>
        <p:nvSpPr>
          <p:cNvPr id="24" name="TextBox 23"/>
          <p:cNvSpPr txBox="1"/>
          <p:nvPr/>
        </p:nvSpPr>
        <p:spPr>
          <a:xfrm>
            <a:off x="6192773"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Explore wide expert parallelism.</a:t>
            </a:r>
          </a:p>
          <a:p>
            <a:pPr>
              <a:spcAft>
                <a:spcPts val="375"/>
              </a:spcAft>
              <a:defRPr sz="1700" b="0">
                <a:solidFill>
                  <a:srgbClr val="172941"/>
                </a:solidFill>
                <a:latin typeface="Arial"/>
              </a:defRPr>
            </a:pPr>
            <a:r>
              <a:t>Improve cross-node transport</a:t>
            </a:r>
            <a:endParaRPr sz="1275"/>
          </a:p>
          <a:p>
            <a:pPr>
              <a:spcAft>
                <a:spcPts val="375"/>
              </a:spcAft>
              <a:defRPr sz="1700" b="0">
                <a:solidFill>
                  <a:srgbClr val="172941"/>
                </a:solidFill>
                <a:latin typeface="Arial"/>
              </a:defRPr>
            </a:pPr>
            <a:r>
              <a:rPr sz="1275" cap="none">
                <a:latin typeface="Arial"/>
              </a:rPr>
              <a:t>and communication.</a:t>
            </a:r>
          </a:p>
        </p:txBody>
      </p:sp>
      <p:sp>
        <p:nvSpPr>
          <p:cNvPr id="25" name="TextBox 2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0346B10-A62A-5F92-AEE1-7EB8A137B3F0}" type="slidenum">
              <a:rPr lang="en-US"/>
              <a:t>39</a:t>
            </a:fld>
            <a:endParaRPr lang="en-US"/>
          </a:p>
        </p:txBody>
      </p:sp>
      <p:sp>
        <p:nvSpPr>
          <p:cNvPr id="2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integration roadmap</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dirty="0">
                <a:solidFill>
                  <a:srgbClr val="142C46"/>
                </a:solidFill>
                <a:latin typeface="Arial"/>
              </a:rPr>
              <a:t>Resources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Explore the projects, then try the KAITO + llm-d P/D guide.</a:t>
            </a:r>
          </a:p>
        </p:txBody>
      </p:sp>
      <p:sp>
        <p:nvSpPr>
          <p:cNvPr id="4" name="Rounded Rectangle 3"/>
          <p:cNvSpPr/>
          <p:nvPr/>
        </p:nvSpPr>
        <p:spPr>
          <a:xfrm>
            <a:off x="411480" y="1554480"/>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03504" y="1627632"/>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llm-d  |  CNCF Sandbox</a:t>
            </a:r>
          </a:p>
        </p:txBody>
      </p:sp>
      <p:sp>
        <p:nvSpPr>
          <p:cNvPr id="6" name="TextBox 5"/>
          <p:cNvSpPr txBox="1"/>
          <p:nvPr/>
        </p:nvSpPr>
        <p:spPr>
          <a:xfrm>
            <a:off x="603504" y="1965960"/>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3"/>
              </a:rPr>
              <a:t>https://github.com/llm-d</a:t>
            </a:r>
          </a:p>
        </p:txBody>
      </p:sp>
      <p:sp>
        <p:nvSpPr>
          <p:cNvPr id="7" name="Rounded Rectangle 6"/>
          <p:cNvSpPr/>
          <p:nvPr/>
        </p:nvSpPr>
        <p:spPr>
          <a:xfrm>
            <a:off x="411480" y="2350008"/>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03504" y="2423160"/>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KAITO  |  CNCF Sandbox</a:t>
            </a:r>
          </a:p>
        </p:txBody>
      </p:sp>
      <p:sp>
        <p:nvSpPr>
          <p:cNvPr id="9" name="TextBox 8"/>
          <p:cNvSpPr txBox="1"/>
          <p:nvPr/>
        </p:nvSpPr>
        <p:spPr>
          <a:xfrm>
            <a:off x="603504" y="2761488"/>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4"/>
              </a:rPr>
              <a:t>https://github.com/kaito-project/kaito</a:t>
            </a:r>
          </a:p>
        </p:txBody>
      </p:sp>
      <p:sp>
        <p:nvSpPr>
          <p:cNvPr id="10" name="Rounded Rectangle 9"/>
          <p:cNvSpPr/>
          <p:nvPr/>
        </p:nvSpPr>
        <p:spPr>
          <a:xfrm>
            <a:off x="411480" y="3941063"/>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03504" y="4014215"/>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KAITO + llm-d: P/D guide</a:t>
            </a:r>
          </a:p>
        </p:txBody>
      </p:sp>
      <p:sp>
        <p:nvSpPr>
          <p:cNvPr id="12" name="TextBox 11"/>
          <p:cNvSpPr txBox="1"/>
          <p:nvPr/>
        </p:nvSpPr>
        <p:spPr>
          <a:xfrm>
            <a:off x="603504" y="4352544"/>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5"/>
              </a:rPr>
              <a:t>https://kaito-project.github.io/kaito/docs/prefill-decode-disaggregation/</a:t>
            </a:r>
          </a:p>
        </p:txBody>
      </p:sp>
      <p:sp>
        <p:nvSpPr>
          <p:cNvPr id="13" name="TextBox 12"/>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4"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fld id="{D633AFF8-0903-5210-BA25-743C5DEC4FDA}" type="slidenum">
              <a:rPr lang="en-US" sz="800" b="0" cap="none">
                <a:solidFill>
                  <a:srgbClr val="52677D"/>
                </a:solidFill>
                <a:latin typeface="Arial"/>
              </a:rPr>
              <a:t>40</a:t>
            </a:fld>
            <a:endParaRPr lang="en-US" sz="800" b="0" cap="none">
              <a:solidFill>
                <a:srgbClr val="52677D"/>
              </a:solidFill>
              <a:latin typeface="Arial"/>
            </a:endParaRPr>
          </a:p>
        </p:txBody>
      </p:sp>
      <p:sp>
        <p:nvSpPr>
          <p:cNvPr id="15" name="Scaler resource 15"/>
          <p:cNvSpPr/>
          <p:nvPr/>
        </p:nvSpPr>
        <p:spPr>
          <a:xfrm>
            <a:off x="411480" y="3145536"/>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caler resource 16"/>
          <p:cNvSpPr txBox="1"/>
          <p:nvPr/>
        </p:nvSpPr>
        <p:spPr>
          <a:xfrm>
            <a:off x="603504" y="3218688"/>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keda-kaito-scaler</a:t>
            </a:r>
          </a:p>
        </p:txBody>
      </p:sp>
      <p:sp>
        <p:nvSpPr>
          <p:cNvPr id="17" name="Scaler resource 17"/>
          <p:cNvSpPr txBox="1"/>
          <p:nvPr/>
        </p:nvSpPr>
        <p:spPr>
          <a:xfrm>
            <a:off x="603504" y="3557016"/>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6"/>
              </a:rPr>
              <a:t>https://github.com/kaito-project/keda-kaito-scaler</a:t>
            </a:r>
          </a:p>
        </p:txBody>
      </p:sp>
      <p:sp>
        <p:nvSpPr>
          <p:cNvPr id="1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resources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1371600"/>
            <a:ext cx="7863840" cy="685800"/>
          </a:xfrm>
          <a:prstGeom prst="rect">
            <a:avLst/>
          </a:prstGeom>
          <a:noFill/>
        </p:spPr>
        <p:txBody>
          <a:bodyPr wrap="square" lIns="0" tIns="0" rIns="0" bIns="0">
            <a:spAutoFit/>
          </a:bodyPr>
          <a:lstStyle/>
          <a:p>
            <a:pPr>
              <a:spcAft>
                <a:spcPts val="500"/>
              </a:spcAft>
              <a:defRPr sz="3800" b="1">
                <a:solidFill>
                  <a:srgbClr val="142C46"/>
                </a:solidFill>
                <a:latin typeface="Arial"/>
              </a:defRPr>
            </a:pPr>
            <a:r>
              <a:rPr cap="none"/>
              <a:t>Thank you</a:t>
            </a:r>
          </a:p>
        </p:txBody>
      </p:sp>
      <p:sp>
        <p:nvSpPr>
          <p:cNvPr id="3" name="TextBox 2"/>
          <p:cNvSpPr txBox="1"/>
          <p:nvPr/>
        </p:nvSpPr>
        <p:spPr>
          <a:xfrm>
            <a:off x="658368" y="2267712"/>
            <a:ext cx="7863840" cy="384721"/>
          </a:xfrm>
          <a:prstGeom prst="rect">
            <a:avLst/>
          </a:prstGeom>
          <a:noFill/>
        </p:spPr>
        <p:txBody>
          <a:bodyPr wrap="square" lIns="0" tIns="0" rIns="0" bIns="0">
            <a:spAutoFit/>
          </a:bodyPr>
          <a:lstStyle/>
          <a:p>
            <a:pPr>
              <a:spcAft>
                <a:spcPts val="500"/>
              </a:spcAft>
              <a:defRPr sz="2500" b="0">
                <a:solidFill>
                  <a:srgbClr val="346CEC"/>
                </a:solidFill>
                <a:latin typeface="Arial"/>
              </a:defRPr>
            </a:pPr>
            <a:r>
              <a:rPr lang="en-US" cap="none" dirty="0"/>
              <a:t>Q &amp; A</a:t>
            </a:r>
            <a:endParaRPr cap="none" dirty="0"/>
          </a:p>
        </p:txBody>
      </p:sp>
      <p:sp>
        <p:nvSpPr>
          <p:cNvPr id="4" name="TextBox 3"/>
          <p:cNvSpPr txBox="1"/>
          <p:nvPr/>
        </p:nvSpPr>
        <p:spPr>
          <a:xfrm>
            <a:off x="667512" y="3264408"/>
            <a:ext cx="7772400" cy="594360"/>
          </a:xfrm>
          <a:prstGeom prst="rect">
            <a:avLst/>
          </a:prstGeom>
          <a:noFill/>
        </p:spPr>
        <p:txBody>
          <a:bodyPr wrap="square" lIns="0" tIns="0" rIns="0" bIns="0">
            <a:spAutoFit/>
          </a:bodyPr>
          <a:lstStyle/>
          <a:p>
            <a:pPr>
              <a:spcAft>
                <a:spcPts val="500"/>
              </a:spcAft>
              <a:defRPr sz="1700" b="0">
                <a:solidFill>
                  <a:srgbClr val="52677D"/>
                </a:solidFill>
                <a:latin typeface="Arial"/>
              </a:defRPr>
            </a:pPr>
            <a:r>
              <a:rPr cap="none" dirty="0"/>
              <a:t>Andy Zhang  •  Linbo He</a:t>
            </a:r>
          </a:p>
          <a:p>
            <a:pPr>
              <a:spcAft>
                <a:spcPts val="500"/>
              </a:spcAft>
              <a:defRPr sz="1700" b="0">
                <a:solidFill>
                  <a:srgbClr val="52677D"/>
                </a:solidFill>
                <a:latin typeface="Arial"/>
              </a:defRPr>
            </a:pPr>
            <a:r>
              <a:rPr cap="none" dirty="0"/>
              <a:t>Microsoft  |  KAITO + </a:t>
            </a:r>
            <a:r>
              <a:rPr cap="none" dirty="0" err="1"/>
              <a:t>llm</a:t>
            </a:r>
            <a:r>
              <a:rPr cap="none" dirty="0"/>
              <a:t>-d</a:t>
            </a:r>
          </a:p>
        </p:txBody>
      </p:sp>
      <p:sp>
        <p:nvSpPr>
          <p:cNvPr id="5" name="TextBox 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E02EB4C-7898-5CBA-A75B-544C98B72AE1}" type="slidenum">
              <a:rPr lang="en-US"/>
              <a:t>41</a:t>
            </a:fld>
            <a:endParaRPr lang="en-US"/>
          </a:p>
        </p:txBody>
      </p:sp>
      <p:sp>
        <p:nvSpPr>
          <p:cNvPr id="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Q&amp;A</a:t>
            </a:r>
          </a:p>
        </p:txBody>
      </p:sp>
    </p:spTree>
    <p:extLst>
      <p:ext uri="{BB962C8B-B14F-4D97-AF65-F5344CB8AC3E}">
        <p14:creationId xmlns:p14="http://schemas.microsoft.com/office/powerpoint/2010/main" val="38108620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independent pools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Split the phases. Tune the pools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P/D separates prompt processing from generation, with KV transfer between them.</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transfer path must be fast enough to justify the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45920"/>
            <a:ext cx="3086100" cy="236601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824228"/>
            <a:ext cx="27432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pool</a:t>
            </a:r>
          </a:p>
        </p:txBody>
      </p:sp>
      <p:sp>
        <p:nvSpPr>
          <p:cNvPr id="12" name="Rounded Rectangle 11"/>
          <p:cNvSpPr/>
          <p:nvPr/>
        </p:nvSpPr>
        <p:spPr>
          <a:xfrm>
            <a:off x="582930"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582930" y="2400300"/>
            <a:ext cx="37719" cy="6446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685800" y="2420875"/>
            <a:ext cx="246888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Prompt processing</a:t>
            </a:r>
          </a:p>
        </p:txBody>
      </p:sp>
      <p:sp>
        <p:nvSpPr>
          <p:cNvPr id="15" name="TextBox 14"/>
          <p:cNvSpPr txBox="1"/>
          <p:nvPr/>
        </p:nvSpPr>
        <p:spPr>
          <a:xfrm>
            <a:off x="692658"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 latency</a:t>
            </a:r>
          </a:p>
        </p:txBody>
      </p:sp>
      <p:sp>
        <p:nvSpPr>
          <p:cNvPr id="16" name="TextBox 15"/>
          <p:cNvSpPr txBox="1"/>
          <p:nvPr/>
        </p:nvSpPr>
        <p:spPr>
          <a:xfrm>
            <a:off x="562356" y="3415285"/>
            <a:ext cx="2674620"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cap="none">
                <a:latin typeface="Arial"/>
              </a:rPr>
              <a:t>Size prefill replicas and parallelism</a:t>
            </a:r>
          </a:p>
          <a:p>
            <a:pPr>
              <a:spcAft>
                <a:spcPts val="375"/>
              </a:spcAft>
              <a:defRPr sz="1700" b="0">
                <a:solidFill>
                  <a:srgbClr val="087F8C"/>
                </a:solidFill>
                <a:latin typeface="Arial"/>
              </a:defRPr>
            </a:pPr>
            <a:r>
              <a:rPr sz="1275" cap="none">
                <a:latin typeface="Arial"/>
              </a:rPr>
              <a:t>for prompt pressure.</a:t>
            </a:r>
          </a:p>
        </p:txBody>
      </p:sp>
      <p:sp>
        <p:nvSpPr>
          <p:cNvPr id="17" name="Rounded Rectangle 16"/>
          <p:cNvSpPr/>
          <p:nvPr/>
        </p:nvSpPr>
        <p:spPr>
          <a:xfrm>
            <a:off x="5678423" y="1645920"/>
            <a:ext cx="3086100" cy="236601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849873" y="1824228"/>
            <a:ext cx="27432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pool</a:t>
            </a:r>
          </a:p>
        </p:txBody>
      </p:sp>
      <p:sp>
        <p:nvSpPr>
          <p:cNvPr id="19" name="Rounded Rectangle 18"/>
          <p:cNvSpPr/>
          <p:nvPr/>
        </p:nvSpPr>
        <p:spPr>
          <a:xfrm>
            <a:off x="5884164"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Rectangle 19"/>
          <p:cNvSpPr/>
          <p:nvPr/>
        </p:nvSpPr>
        <p:spPr>
          <a:xfrm>
            <a:off x="5884164" y="2400300"/>
            <a:ext cx="37719" cy="6446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987034" y="2420875"/>
            <a:ext cx="246888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Token generation</a:t>
            </a:r>
          </a:p>
        </p:txBody>
      </p:sp>
      <p:sp>
        <p:nvSpPr>
          <p:cNvPr id="22" name="TextBox 21"/>
          <p:cNvSpPr txBox="1"/>
          <p:nvPr/>
        </p:nvSpPr>
        <p:spPr>
          <a:xfrm>
            <a:off x="5993892"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Bandwidth + active KV memory</a:t>
            </a:r>
          </a:p>
        </p:txBody>
      </p:sp>
      <p:sp>
        <p:nvSpPr>
          <p:cNvPr id="23" name="TextBox 22"/>
          <p:cNvSpPr txBox="1"/>
          <p:nvPr/>
        </p:nvSpPr>
        <p:spPr>
          <a:xfrm>
            <a:off x="5863590" y="3415285"/>
            <a:ext cx="2674620" cy="464486"/>
          </a:xfrm>
          <a:prstGeom prst="rect">
            <a:avLst/>
          </a:prstGeom>
          <a:noFill/>
        </p:spPr>
        <p:txBody>
          <a:bodyPr wrap="square" lIns="10287" tIns="10287" rIns="10287" bIns="10287">
            <a:spAutoFit/>
          </a:bodyPr>
          <a:lstStyle/>
          <a:p>
            <a:pPr>
              <a:spcAft>
                <a:spcPts val="375"/>
              </a:spcAft>
              <a:defRPr sz="1700" b="0">
                <a:solidFill>
                  <a:srgbClr val="7354B8"/>
                </a:solidFill>
                <a:latin typeface="Arial"/>
              </a:defRPr>
            </a:pPr>
            <a:r>
              <a:rPr sz="1275" cap="none">
                <a:latin typeface="Arial"/>
              </a:rPr>
              <a:t>Size decode replicas and parallelism</a:t>
            </a:r>
          </a:p>
          <a:p>
            <a:pPr>
              <a:spcAft>
                <a:spcPts val="375"/>
              </a:spcAft>
              <a:defRPr sz="1700" b="0">
                <a:solidFill>
                  <a:srgbClr val="7354B8"/>
                </a:solidFill>
                <a:latin typeface="Arial"/>
              </a:defRPr>
            </a:pPr>
            <a:r>
              <a:rPr sz="1275" cap="none">
                <a:latin typeface="Arial"/>
              </a:rPr>
              <a:t>for sustained generation.</a:t>
            </a:r>
          </a:p>
        </p:txBody>
      </p:sp>
      <p:cxnSp>
        <p:nvCxnSpPr>
          <p:cNvPr id="24" name="Connector 23"/>
          <p:cNvCxnSpPr/>
          <p:nvPr/>
        </p:nvCxnSpPr>
        <p:spPr>
          <a:xfrm>
            <a:off x="3463291" y="2729484"/>
            <a:ext cx="2215133"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579876" y="2112264"/>
            <a:ext cx="1988820"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KV cache transfer</a:t>
            </a:r>
          </a:p>
        </p:txBody>
      </p:sp>
      <p:sp>
        <p:nvSpPr>
          <p:cNvPr id="26" name="TextBox 25"/>
          <p:cNvSpPr txBox="1"/>
          <p:nvPr/>
        </p:nvSpPr>
        <p:spPr>
          <a:xfrm>
            <a:off x="3552444" y="2983230"/>
            <a:ext cx="2023110" cy="464486"/>
          </a:xfrm>
          <a:prstGeom prst="rect">
            <a:avLst/>
          </a:prstGeom>
          <a:noFill/>
        </p:spPr>
        <p:txBody>
          <a:bodyPr wrap="square" lIns="10287" tIns="10287" rIns="10287" bIns="10287">
            <a:spAutoFit/>
          </a:bodyPr>
          <a:lstStyle/>
          <a:p>
            <a:pPr algn="ctr">
              <a:spcAft>
                <a:spcPts val="375"/>
              </a:spcAft>
              <a:defRPr sz="1700" b="0">
                <a:solidFill>
                  <a:srgbClr val="586A80"/>
                </a:solidFill>
                <a:latin typeface="Arial"/>
              </a:defRPr>
            </a:pPr>
            <a:r>
              <a:rPr sz="1275" cap="none">
                <a:latin typeface="Arial"/>
              </a:rPr>
              <a:t>Transfer and coordination</a:t>
            </a:r>
          </a:p>
          <a:p>
            <a:pPr algn="ctr">
              <a:spcAft>
                <a:spcPts val="375"/>
              </a:spcAft>
              <a:defRPr sz="1700" b="0">
                <a:solidFill>
                  <a:srgbClr val="586A80"/>
                </a:solidFill>
                <a:latin typeface="Arial"/>
              </a:defRPr>
            </a:pPr>
            <a:r>
              <a:rPr sz="1275" cap="none">
                <a:latin typeface="Arial"/>
              </a:rPr>
              <a:t>add cost.</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89DE900-23AE-5BF8-8C54-374C4C08B548}" type="slidenum">
              <a:rPr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role-specific decisions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Different roles need different scaling policies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Tune each role for its workload, using per-replica signals and shared safety checks.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These policies are examples. Validate thresholds, cooldown and model warm-up.</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543050"/>
            <a:ext cx="2177415"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6" y="1632205"/>
            <a:ext cx="202996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Policy</a:t>
            </a:r>
          </a:p>
        </p:txBody>
      </p:sp>
      <p:sp>
        <p:nvSpPr>
          <p:cNvPr id="12" name="Rectangle 11"/>
          <p:cNvSpPr/>
          <p:nvPr/>
        </p:nvSpPr>
        <p:spPr>
          <a:xfrm>
            <a:off x="2571751"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54047"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Prefill</a:t>
            </a:r>
          </a:p>
        </p:txBody>
      </p:sp>
      <p:sp>
        <p:nvSpPr>
          <p:cNvPr id="14" name="Rectangle 13"/>
          <p:cNvSpPr/>
          <p:nvPr/>
        </p:nvSpPr>
        <p:spPr>
          <a:xfrm>
            <a:off x="5664709"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747004"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Decode</a:t>
            </a:r>
          </a:p>
        </p:txBody>
      </p:sp>
      <p:sp>
        <p:nvSpPr>
          <p:cNvPr id="16" name="Rectangle 15"/>
          <p:cNvSpPr/>
          <p:nvPr/>
        </p:nvSpPr>
        <p:spPr>
          <a:xfrm>
            <a:off x="377190" y="1981962"/>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6" y="2071116"/>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Primary signal</a:t>
            </a:r>
          </a:p>
        </p:txBody>
      </p:sp>
      <p:sp>
        <p:nvSpPr>
          <p:cNvPr id="18" name="Rectangle 17"/>
          <p:cNvSpPr/>
          <p:nvPr/>
        </p:nvSpPr>
        <p:spPr>
          <a:xfrm>
            <a:off x="2571751"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54047"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Waiting requests</a:t>
            </a:r>
          </a:p>
        </p:txBody>
      </p:sp>
      <p:sp>
        <p:nvSpPr>
          <p:cNvPr id="20" name="Rectangle 19"/>
          <p:cNvSpPr/>
          <p:nvPr/>
        </p:nvSpPr>
        <p:spPr>
          <a:xfrm>
            <a:off x="5664709"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747004"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Running requests</a:t>
            </a:r>
          </a:p>
        </p:txBody>
      </p:sp>
      <p:sp>
        <p:nvSpPr>
          <p:cNvPr id="22" name="Rectangle 21"/>
          <p:cNvSpPr/>
          <p:nvPr/>
        </p:nvSpPr>
        <p:spPr>
          <a:xfrm>
            <a:off x="377190" y="2420874"/>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6" y="2510028"/>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replica range</a:t>
            </a:r>
          </a:p>
        </p:txBody>
      </p:sp>
      <p:sp>
        <p:nvSpPr>
          <p:cNvPr id="24" name="Rectangle 23"/>
          <p:cNvSpPr/>
          <p:nvPr/>
        </p:nvSpPr>
        <p:spPr>
          <a:xfrm>
            <a:off x="2571751"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54047"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1–8</a:t>
            </a:r>
          </a:p>
        </p:txBody>
      </p:sp>
      <p:sp>
        <p:nvSpPr>
          <p:cNvPr id="26" name="Rectangle 25"/>
          <p:cNvSpPr/>
          <p:nvPr/>
        </p:nvSpPr>
        <p:spPr>
          <a:xfrm>
            <a:off x="5664709"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747004"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2–16</a:t>
            </a:r>
          </a:p>
        </p:txBody>
      </p:sp>
      <p:sp>
        <p:nvSpPr>
          <p:cNvPr id="28" name="Rectangle 27"/>
          <p:cNvSpPr/>
          <p:nvPr/>
        </p:nvSpPr>
        <p:spPr>
          <a:xfrm>
            <a:off x="377190" y="2859786"/>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6" y="2948940"/>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scale-up</a:t>
            </a:r>
          </a:p>
        </p:txBody>
      </p:sp>
      <p:sp>
        <p:nvSpPr>
          <p:cNvPr id="30" name="Rectangle 29"/>
          <p:cNvSpPr/>
          <p:nvPr/>
        </p:nvSpPr>
        <p:spPr>
          <a:xfrm>
            <a:off x="2571751"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54047"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8</a:t>
            </a:r>
          </a:p>
        </p:txBody>
      </p:sp>
      <p:sp>
        <p:nvSpPr>
          <p:cNvPr id="32" name="Rectangle 31"/>
          <p:cNvSpPr/>
          <p:nvPr/>
        </p:nvSpPr>
        <p:spPr>
          <a:xfrm>
            <a:off x="5664709"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747004"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24</a:t>
            </a:r>
          </a:p>
        </p:txBody>
      </p:sp>
      <p:sp>
        <p:nvSpPr>
          <p:cNvPr id="34" name="Rectangle 33"/>
          <p:cNvSpPr/>
          <p:nvPr/>
        </p:nvSpPr>
        <p:spPr>
          <a:xfrm>
            <a:off x="377190" y="3298698"/>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6" y="3387852"/>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scale-down</a:t>
            </a:r>
          </a:p>
        </p:txBody>
      </p:sp>
      <p:sp>
        <p:nvSpPr>
          <p:cNvPr id="36" name="Rectangle 35"/>
          <p:cNvSpPr/>
          <p:nvPr/>
        </p:nvSpPr>
        <p:spPr>
          <a:xfrm>
            <a:off x="2571751"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54047"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1</a:t>
            </a:r>
          </a:p>
        </p:txBody>
      </p:sp>
      <p:sp>
        <p:nvSpPr>
          <p:cNvPr id="38" name="Rectangle 37"/>
          <p:cNvSpPr/>
          <p:nvPr/>
        </p:nvSpPr>
        <p:spPr>
          <a:xfrm>
            <a:off x="5664709"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747004"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4</a:t>
            </a:r>
          </a:p>
        </p:txBody>
      </p:sp>
      <p:sp>
        <p:nvSpPr>
          <p:cNvPr id="40" name="Rectangle 39"/>
          <p:cNvSpPr/>
          <p:nvPr/>
        </p:nvSpPr>
        <p:spPr>
          <a:xfrm>
            <a:off x="377190" y="3737610"/>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9486" y="3826764"/>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Shared guardrails</a:t>
            </a:r>
          </a:p>
        </p:txBody>
      </p:sp>
      <p:sp>
        <p:nvSpPr>
          <p:cNvPr id="42" name="Rectangle 41"/>
          <p:cNvSpPr/>
          <p:nvPr/>
        </p:nvSpPr>
        <p:spPr>
          <a:xfrm>
            <a:off x="2571751"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54047"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4" name="Rectangle 43"/>
          <p:cNvSpPr/>
          <p:nvPr/>
        </p:nvSpPr>
        <p:spPr>
          <a:xfrm>
            <a:off x="5664709"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747004"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6" name="TextBox 4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FB163AD-841B-551D-A793-197F41A80D17}" type="slidenum">
              <a:rPr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SPONSIBILITIES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responsibilities</a:t>
            </a:r>
          </a:p>
        </p:txBody>
      </p:sp>
      <p:sp>
        <p:nvSpPr>
          <p:cNvPr id="4" name="Three layers. Three clear responsibilitie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Three layers. Three clear responsibilities.</a:t>
            </a:r>
          </a:p>
        </p:txBody>
      </p:sp>
      <p:sp>
        <p:nvSpPr>
          <p:cNvPr id="5" name="The InferencePool contract connects platform orchestration to routing."/>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InferencePool contract connects platform orchestration to routing.</a:t>
            </a:r>
          </a:p>
        </p:txBody>
      </p:sp>
      <p:sp>
        <p:nvSpPr>
          <p:cNvPr id="8" name="Panel 7"/>
          <p:cNvSpPr/>
          <p:nvPr/>
        </p:nvSpPr>
        <p:spPr>
          <a:xfrm>
            <a:off x="411480" y="1378457"/>
            <a:ext cx="8318754" cy="76809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KAITO"/>
          <p:cNvSpPr txBox="1"/>
          <p:nvPr/>
        </p:nvSpPr>
        <p:spPr>
          <a:xfrm>
            <a:off x="589788" y="1501902"/>
            <a:ext cx="1851660" cy="260604"/>
          </a:xfrm>
          <a:prstGeom prst="rect">
            <a:avLst/>
          </a:prstGeom>
          <a:noFill/>
        </p:spPr>
        <p:txBody>
          <a:bodyPr wrap="square" lIns="0" tIns="0" rIns="0" bIns="0" anchor="t">
            <a:noAutofit/>
          </a:bodyPr>
          <a:lstStyle/>
          <a:p>
            <a:pPr>
              <a:spcAft>
                <a:spcPts val="300"/>
              </a:spcAft>
              <a:defRPr sz="2300" b="1">
                <a:solidFill>
                  <a:srgbClr val="7150C8"/>
                </a:solidFill>
                <a:latin typeface="Arial"/>
              </a:defRPr>
            </a:pPr>
            <a:r>
              <a:rPr sz="1725" cap="none">
                <a:latin typeface="Arial"/>
              </a:rPr>
              <a:t>KAITO</a:t>
            </a:r>
          </a:p>
        </p:txBody>
      </p:sp>
      <p:sp>
        <p:nvSpPr>
          <p:cNvPr id="10" name="DECLARE + RECONCILE"/>
          <p:cNvSpPr txBox="1"/>
          <p:nvPr/>
        </p:nvSpPr>
        <p:spPr>
          <a:xfrm>
            <a:off x="603504" y="1858518"/>
            <a:ext cx="185166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Declare + reconcile</a:t>
            </a:r>
          </a:p>
        </p:txBody>
      </p:sp>
      <p:cxnSp>
        <p:nvCxnSpPr>
          <p:cNvPr id="11" name="Connector"/>
          <p:cNvCxnSpPr/>
          <p:nvPr/>
        </p:nvCxnSpPr>
        <p:spPr>
          <a:xfrm>
            <a:off x="2619756" y="1515619"/>
            <a:ext cx="0" cy="493775"/>
          </a:xfrm>
          <a:prstGeom prst="line">
            <a:avLst/>
          </a:prstGeom>
          <a:ln w="12700">
            <a:solidFill>
              <a:srgbClr val="7150C8"/>
            </a:solidFill>
          </a:ln>
        </p:spPr>
        <p:style>
          <a:lnRef idx="2">
            <a:schemeClr val="accent1"/>
          </a:lnRef>
          <a:fillRef idx="0">
            <a:schemeClr val="accent1"/>
          </a:fillRef>
          <a:effectRef idx="1">
            <a:schemeClr val="accent1"/>
          </a:effectRef>
          <a:fontRef idx="minor">
            <a:schemeClr val="tx1"/>
          </a:fontRef>
        </p:style>
      </p:cxnSp>
      <p:sp>
        <p:nvSpPr>
          <p:cNvPr id="12" name="MultiRoleInference → role topology"/>
          <p:cNvSpPr txBox="1"/>
          <p:nvPr/>
        </p:nvSpPr>
        <p:spPr>
          <a:xfrm>
            <a:off x="2825497" y="150190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KAITO reconciles the role topology.</a:t>
            </a:r>
          </a:p>
        </p:txBody>
      </p:sp>
      <p:sp>
        <p:nvSpPr>
          <p:cNvPr id="13" name="Resource generation • ownership • lifecycle"/>
          <p:cNvSpPr txBox="1"/>
          <p:nvPr/>
        </p:nvSpPr>
        <p:spPr>
          <a:xfrm>
            <a:off x="2839211" y="184480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It creates resources and manages their lifecycle.</a:t>
            </a:r>
          </a:p>
        </p:txBody>
      </p:sp>
      <p:sp>
        <p:nvSpPr>
          <p:cNvPr id="14" name="Panel 13"/>
          <p:cNvSpPr/>
          <p:nvPr/>
        </p:nvSpPr>
        <p:spPr>
          <a:xfrm>
            <a:off x="411480" y="2304288"/>
            <a:ext cx="8318754"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GWIE"/>
          <p:cNvSpPr txBox="1"/>
          <p:nvPr/>
        </p:nvSpPr>
        <p:spPr>
          <a:xfrm>
            <a:off x="589788" y="2427732"/>
            <a:ext cx="1851660" cy="260604"/>
          </a:xfrm>
          <a:prstGeom prst="rect">
            <a:avLst/>
          </a:prstGeom>
          <a:noFill/>
        </p:spPr>
        <p:txBody>
          <a:bodyPr wrap="square" lIns="0" tIns="0" rIns="0" bIns="0" anchor="t">
            <a:noAutofit/>
          </a:bodyPr>
          <a:lstStyle/>
          <a:p>
            <a:pPr>
              <a:spcAft>
                <a:spcPts val="300"/>
              </a:spcAft>
              <a:defRPr sz="2300" b="1">
                <a:solidFill>
                  <a:srgbClr val="2463D4"/>
                </a:solidFill>
                <a:latin typeface="Arial"/>
              </a:defRPr>
            </a:pPr>
            <a:r>
              <a:rPr sz="1725" cap="none">
                <a:latin typeface="Arial"/>
              </a:rPr>
              <a:t>GWIE</a:t>
            </a:r>
          </a:p>
        </p:txBody>
      </p:sp>
      <p:sp>
        <p:nvSpPr>
          <p:cNvPr id="16" name="DEFINE THE CONTRACT"/>
          <p:cNvSpPr txBox="1"/>
          <p:nvPr/>
        </p:nvSpPr>
        <p:spPr>
          <a:xfrm>
            <a:off x="603504" y="2784347"/>
            <a:ext cx="1851660" cy="123444"/>
          </a:xfrm>
          <a:prstGeom prst="rect">
            <a:avLst/>
          </a:prstGeom>
          <a:noFill/>
        </p:spPr>
        <p:txBody>
          <a:bodyPr wrap="square" lIns="0" tIns="0" rIns="0" bIns="0" anchor="t">
            <a:noAutofit/>
          </a:bodyPr>
          <a:lstStyle/>
          <a:p>
            <a:pPr>
              <a:spcAft>
                <a:spcPts val="150"/>
              </a:spcAft>
              <a:defRPr sz="1000" b="1">
                <a:solidFill>
                  <a:srgbClr val="2463D4"/>
                </a:solidFill>
                <a:latin typeface="Arial"/>
              </a:defRPr>
            </a:pPr>
            <a:r>
              <a:rPr sz="750" cap="none">
                <a:latin typeface="Arial"/>
              </a:rPr>
              <a:t>Define the contract</a:t>
            </a:r>
          </a:p>
        </p:txBody>
      </p:sp>
      <p:cxnSp>
        <p:nvCxnSpPr>
          <p:cNvPr id="17" name="Connector"/>
          <p:cNvCxnSpPr/>
          <p:nvPr/>
        </p:nvCxnSpPr>
        <p:spPr>
          <a:xfrm>
            <a:off x="2619756" y="2441448"/>
            <a:ext cx="0" cy="493776"/>
          </a:xfrm>
          <a:prstGeom prst="line">
            <a:avLst/>
          </a:prstGeom>
          <a:ln w="12700">
            <a:solidFill>
              <a:srgbClr val="2463D4"/>
            </a:solidFill>
          </a:ln>
        </p:spPr>
        <p:style>
          <a:lnRef idx="2">
            <a:schemeClr val="accent1"/>
          </a:lnRef>
          <a:fillRef idx="0">
            <a:schemeClr val="accent1"/>
          </a:fillRef>
          <a:effectRef idx="1">
            <a:schemeClr val="accent1"/>
          </a:effectRef>
          <a:fontRef idx="minor">
            <a:schemeClr val="tx1"/>
          </a:fontRef>
        </p:style>
      </p:cxnSp>
      <p:sp>
        <p:nvSpPr>
          <p:cNvPr id="18" name="InferencePool + gateway integration"/>
          <p:cNvSpPr txBox="1"/>
          <p:nvPr/>
        </p:nvSpPr>
        <p:spPr>
          <a:xfrm>
            <a:off x="2825497" y="242773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GWIE defines the InferencePool contract.</a:t>
            </a:r>
          </a:p>
        </p:txBody>
      </p:sp>
      <p:sp>
        <p:nvSpPr>
          <p:cNvPr id="19" name="Kubernetes API surface • backend discovery"/>
          <p:cNvSpPr txBox="1"/>
          <p:nvPr/>
        </p:nvSpPr>
        <p:spPr>
          <a:xfrm>
            <a:off x="2839211" y="277063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It connects backends to gateway integration.</a:t>
            </a:r>
          </a:p>
        </p:txBody>
      </p:sp>
      <p:sp>
        <p:nvSpPr>
          <p:cNvPr id="20" name="Panel 19"/>
          <p:cNvSpPr/>
          <p:nvPr/>
        </p:nvSpPr>
        <p:spPr>
          <a:xfrm>
            <a:off x="411480" y="3230118"/>
            <a:ext cx="8318754"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llm-d Router"/>
          <p:cNvSpPr txBox="1"/>
          <p:nvPr/>
        </p:nvSpPr>
        <p:spPr>
          <a:xfrm>
            <a:off x="589788" y="3353562"/>
            <a:ext cx="1851660" cy="260604"/>
          </a:xfrm>
          <a:prstGeom prst="rect">
            <a:avLst/>
          </a:prstGeom>
          <a:noFill/>
        </p:spPr>
        <p:txBody>
          <a:bodyPr wrap="square" lIns="0" tIns="0" rIns="0" bIns="0" anchor="t">
            <a:noAutofit/>
          </a:bodyPr>
          <a:lstStyle/>
          <a:p>
            <a:pPr>
              <a:spcAft>
                <a:spcPts val="300"/>
              </a:spcAft>
              <a:defRPr sz="2300" b="1">
                <a:solidFill>
                  <a:srgbClr val="087F82"/>
                </a:solidFill>
                <a:latin typeface="Arial"/>
              </a:defRPr>
            </a:pPr>
            <a:r>
              <a:rPr sz="1725" cap="none">
                <a:latin typeface="Arial"/>
              </a:rPr>
              <a:t>llm-d Router</a:t>
            </a:r>
          </a:p>
        </p:txBody>
      </p:sp>
      <p:sp>
        <p:nvSpPr>
          <p:cNvPr id="22" name="SELECT ENDPOINTS"/>
          <p:cNvSpPr txBox="1"/>
          <p:nvPr/>
        </p:nvSpPr>
        <p:spPr>
          <a:xfrm>
            <a:off x="603504" y="3710178"/>
            <a:ext cx="1851660" cy="123444"/>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Select endpoints</a:t>
            </a:r>
          </a:p>
        </p:txBody>
      </p:sp>
      <p:cxnSp>
        <p:nvCxnSpPr>
          <p:cNvPr id="23" name="Connector"/>
          <p:cNvCxnSpPr/>
          <p:nvPr/>
        </p:nvCxnSpPr>
        <p:spPr>
          <a:xfrm>
            <a:off x="2619756" y="3367278"/>
            <a:ext cx="0" cy="493776"/>
          </a:xfrm>
          <a:prstGeom prst="line">
            <a:avLst/>
          </a:prstGeom>
          <a:ln w="12700">
            <a:solidFill>
              <a:srgbClr val="087F82"/>
            </a:solidFill>
          </a:ln>
        </p:spPr>
        <p:style>
          <a:lnRef idx="2">
            <a:schemeClr val="accent1"/>
          </a:lnRef>
          <a:fillRef idx="0">
            <a:schemeClr val="accent1"/>
          </a:fillRef>
          <a:effectRef idx="1">
            <a:schemeClr val="accent1"/>
          </a:effectRef>
          <a:fontRef idx="minor">
            <a:schemeClr val="tx1"/>
          </a:fontRef>
        </p:style>
      </p:cxnSp>
      <p:sp>
        <p:nvSpPr>
          <p:cNvPr id="24" name="EPP + P/D-aware scheduling"/>
          <p:cNvSpPr txBox="1"/>
          <p:nvPr/>
        </p:nvSpPr>
        <p:spPr>
          <a:xfrm>
            <a:off x="2825497" y="335356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It selects endpoints via EPP.</a:t>
            </a:r>
          </a:p>
        </p:txBody>
      </p:sp>
      <p:sp>
        <p:nvSpPr>
          <p:cNvPr id="25" name="Endpoint picking • role-aware routing decisions"/>
          <p:cNvSpPr txBox="1"/>
          <p:nvPr/>
        </p:nvSpPr>
        <p:spPr>
          <a:xfrm>
            <a:off x="2839211" y="369646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It makes role-aware routing decisions.</a:t>
            </a:r>
          </a:p>
        </p:txBody>
      </p:sp>
      <p:sp>
        <p:nvSpPr>
          <p:cNvPr id="26" name="Panel 25"/>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Panel 26"/>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KAITO owns the topology. GWIE defines the contract. llm-d Router makes the sele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owns the topology. GWIE defines the contract. llm-d Router makes the selection.</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EBFA6CB5-8150-5BE4-9269-43115AE52D6E}" type="slidenum">
              <a:rPr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How KAITO estimates GPU node count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Estimate initial memory capacity—not throughput—from the model and GPU memory.</a:t>
            </a:r>
          </a:p>
        </p:txBody>
      </p:sp>
      <p:sp>
        <p:nvSpPr>
          <p:cNvPr id="4" name="Rounded Rectangle 3"/>
          <p:cNvSpPr/>
          <p:nvPr/>
        </p:nvSpPr>
        <p:spPr>
          <a:xfrm>
            <a:off x="411480"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28216"/>
            <a:ext cx="2249424"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1  Memory budget</a:t>
            </a:r>
          </a:p>
        </p:txBody>
      </p:sp>
      <p:sp>
        <p:nvSpPr>
          <p:cNvPr id="6" name="TextBox 5"/>
          <p:cNvSpPr txBox="1"/>
          <p:nvPr/>
        </p:nvSpPr>
        <p:spPr>
          <a:xfrm>
            <a:off x="576072"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Start with GPU memory.</a:t>
            </a:r>
          </a:p>
          <a:p>
            <a:pPr>
              <a:spcAft>
                <a:spcPts val="500"/>
              </a:spcAft>
              <a:defRPr sz="1500" b="0">
                <a:solidFill>
                  <a:srgbClr val="142C46"/>
                </a:solidFill>
                <a:latin typeface="Arial"/>
              </a:defRPr>
            </a:pPr>
            <a:r>
              <a:rPr cap="none"/>
              <a:t>Reserve runtime overhead</a:t>
            </a:r>
          </a:p>
          <a:p>
            <a:pPr>
              <a:spcAft>
                <a:spcPts val="500"/>
              </a:spcAft>
              <a:defRPr sz="1500" b="0">
                <a:solidFill>
                  <a:srgbClr val="142C46"/>
                </a:solidFill>
                <a:latin typeface="Arial"/>
              </a:defRPr>
            </a:pPr>
            <a:r>
              <a:rPr cap="none"/>
              <a:t>and room for KV cache.</a:t>
            </a:r>
          </a:p>
        </p:txBody>
      </p:sp>
      <p:sp>
        <p:nvSpPr>
          <p:cNvPr id="7" name="Rounded Rectangle 6"/>
          <p:cNvSpPr/>
          <p:nvPr/>
        </p:nvSpPr>
        <p:spPr>
          <a:xfrm>
            <a:off x="3282696"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47288" y="1728216"/>
            <a:ext cx="2249424"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2  GPU count</a:t>
            </a:r>
          </a:p>
        </p:txBody>
      </p:sp>
      <p:sp>
        <p:nvSpPr>
          <p:cNvPr id="9" name="TextBox 8"/>
          <p:cNvSpPr txBox="1"/>
          <p:nvPr/>
        </p:nvSpPr>
        <p:spPr>
          <a:xfrm>
            <a:off x="3447288"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Fit the weights into</a:t>
            </a:r>
          </a:p>
          <a:p>
            <a:pPr>
              <a:spcAft>
                <a:spcPts val="500"/>
              </a:spcAft>
              <a:defRPr sz="1500" b="0">
                <a:solidFill>
                  <a:srgbClr val="142C46"/>
                </a:solidFill>
                <a:latin typeface="Arial"/>
              </a:defRPr>
            </a:pPr>
            <a:r>
              <a:rPr cap="none"/>
              <a:t>usable GPU memory.</a:t>
            </a:r>
          </a:p>
          <a:p>
            <a:pPr>
              <a:spcAft>
                <a:spcPts val="500"/>
              </a:spcAft>
              <a:defRPr sz="1500" b="0">
                <a:solidFill>
                  <a:srgbClr val="142C46"/>
                </a:solidFill>
                <a:latin typeface="Arial"/>
              </a:defRPr>
            </a:pPr>
            <a:r>
              <a:rPr cap="none"/>
              <a:t>Account for parallelism.</a:t>
            </a:r>
          </a:p>
        </p:txBody>
      </p:sp>
      <p:sp>
        <p:nvSpPr>
          <p:cNvPr id="10" name="Rounded Rectangle 9"/>
          <p:cNvSpPr/>
          <p:nvPr/>
        </p:nvSpPr>
        <p:spPr>
          <a:xfrm>
            <a:off x="6153912"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18504" y="1728216"/>
            <a:ext cx="2249424"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3  Node count</a:t>
            </a:r>
          </a:p>
        </p:txBody>
      </p:sp>
      <p:sp>
        <p:nvSpPr>
          <p:cNvPr id="12" name="TextBox 11"/>
          <p:cNvSpPr txBox="1"/>
          <p:nvPr/>
        </p:nvSpPr>
        <p:spPr>
          <a:xfrm>
            <a:off x="6318504"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Divide by GPUs per node.</a:t>
            </a:r>
          </a:p>
          <a:p>
            <a:pPr>
              <a:spcAft>
                <a:spcPts val="500"/>
              </a:spcAft>
              <a:defRPr sz="1500" b="0">
                <a:solidFill>
                  <a:srgbClr val="142C46"/>
                </a:solidFill>
                <a:latin typeface="Arial"/>
              </a:defRPr>
            </a:pPr>
            <a:r>
              <a:rPr cap="none"/>
              <a:t>Round up, then reconcile</a:t>
            </a:r>
          </a:p>
          <a:p>
            <a:pPr>
              <a:spcAft>
                <a:spcPts val="500"/>
              </a:spcAft>
              <a:defRPr sz="1500" b="0">
                <a:solidFill>
                  <a:srgbClr val="142C46"/>
                </a:solidFill>
                <a:latin typeface="Arial"/>
              </a:defRPr>
            </a:pPr>
            <a:r>
              <a:rPr cap="none"/>
              <a:t>the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The sizing formula and safety margins depend on the KAITO and runtime version.</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81A79EE-4F0A-5063-A577-E6A601BB1D9D}" type="slidenum">
              <a:rPr lang="en-US"/>
              <a:t>45</a:t>
            </a:fld>
            <a:endParaRPr lang="en-US"/>
          </a:p>
        </p:txBody>
      </p:sp>
      <p:sp>
        <p:nvSpPr>
          <p:cNvPr id="1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GPU node sizing</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9E82B80-1615-A235-7EBC-F7C32623D2E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4EEC12-C0AB-E9CD-340A-428C563DB520}"/>
              </a:ext>
            </a:extLst>
          </p:cNvPr>
          <p:cNvSpPr>
            <a:spLocks noGrp="1"/>
          </p:cNvSpPr>
          <p:nvPr>
            <p:ph type="title" idx="4294967295"/>
          </p:nvPr>
        </p:nvSpPr>
        <p:spPr>
          <a:xfrm>
            <a:off x="365760" y="539496"/>
            <a:ext cx="8412480" cy="420624"/>
          </a:xfrm>
        </p:spPr>
        <p:txBody>
          <a:bodyPr wrap="none" lIns="0" tIns="0" rIns="0" bIns="0">
            <a:normAutofit/>
          </a:bodyPr>
          <a:lstStyle/>
          <a:p>
            <a:pPr lvl="0">
              <a:spcAft>
                <a:spcPts val="400"/>
              </a:spcAft>
              <a:buClr>
                <a:srgbClr val="000000"/>
              </a:buClr>
              <a:buSzPts val="1200"/>
              <a:defRPr/>
            </a:pPr>
            <a:r>
              <a:rPr lang="en" altLang="zh-CN" sz="2100" b="1" cap="none" dirty="0" err="1">
                <a:solidFill>
                  <a:srgbClr val="142C46"/>
                </a:solidFill>
                <a:latin typeface="Arial"/>
                <a:sym typeface="IBM Plex Sans Light"/>
              </a:rPr>
              <a:t>llm-d connects routing, prefill and decode</a:t>
            </a:r>
          </a:p>
        </p:txBody>
      </p:sp>
      <p:sp>
        <p:nvSpPr>
          <p:cNvPr id="6" name="Google Shape;2152;p211">
            <a:extLst>
              <a:ext uri="{FF2B5EF4-FFF2-40B4-BE49-F238E27FC236}">
                <a16:creationId xmlns:a16="http://schemas.microsoft.com/office/drawing/2014/main" id="{736427AE-F789-8536-54B5-4299CA26D850}"/>
              </a:ext>
            </a:extLst>
          </p:cNvPr>
          <p:cNvSpPr txBox="1"/>
          <p:nvPr/>
        </p:nvSpPr>
        <p:spPr>
          <a:xfrm>
            <a:off x="254679" y="1045892"/>
            <a:ext cx="4512104" cy="1962045"/>
          </a:xfrm>
          <a:prstGeom prst="rect">
            <a:avLst/>
          </a:prstGeom>
          <a:noFill/>
          <a:ln>
            <a:noFill/>
          </a:ln>
        </p:spPr>
        <p:txBody>
          <a:bodyPr spcFirstLastPara="1" wrap="square" lIns="68575" tIns="34275" rIns="68575" bIns="34275" anchor="t" anchorCtr="0">
            <a:spAutoFit/>
          </a:bodyPr>
          <a:lstStyle/>
          <a:p>
            <a:pPr marL="254000" marR="0" lvl="0" indent="-260350" algn="l" defTabSz="914400" rtl="0" eaLnBrk="1" fontAlgn="auto" latinLnBrk="0" hangingPunct="1">
              <a:lnSpc>
                <a:spcPct val="100000"/>
              </a:lnSpc>
              <a:spcBef>
                <a:spcPts val="0"/>
              </a:spcBef>
              <a:spcAft>
                <a:spcPts val="0"/>
              </a:spcAft>
              <a:buClr>
                <a:srgbClr val="000000"/>
              </a:buClr>
              <a:buSzPts val="1100"/>
              <a:buFont typeface="IBM Plex Sans Light"/>
              <a:buChar char="▪"/>
              <a:tabLst/>
              <a:defRPr/>
            </a:pPr>
            <a:r>
              <a:rPr lang="en" cap="none" dirty="0">
                <a:latin typeface="Arial"/>
                <a:sym typeface="IBM Plex Sans Light"/>
              </a:rPr>
              <a:t>Route prefill and decode separately.</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Choose workers dynamically.</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Tune each role’s capacity and scheduling.</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Target TTFT and ITL SLOs—</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then measure the handoff cost.</a:t>
            </a:r>
            <a:endParaRPr dirty="0">
              <a:sym typeface="IBM Plex Sans Light"/>
            </a:endParaRPr>
          </a:p>
        </p:txBody>
      </p:sp>
      <p:pic>
        <p:nvPicPr>
          <p:cNvPr id="9" name="Google Shape;2157;p211" descr="A diagram of a process&#10;&#10;AI-generated content may be incorrect.">
            <a:extLst>
              <a:ext uri="{FF2B5EF4-FFF2-40B4-BE49-F238E27FC236}">
                <a16:creationId xmlns:a16="http://schemas.microsoft.com/office/drawing/2014/main" id="{D52FC06C-E51F-33E2-75D2-E3FFC034350A}"/>
              </a:ext>
            </a:extLst>
          </p:cNvPr>
          <p:cNvPicPr preferRelativeResize="0"/>
          <p:nvPr/>
        </p:nvPicPr>
        <p:blipFill rotWithShape="1">
          <a:blip r:embed="rId3">
            <a:alphaModFix/>
          </a:blip>
          <a:srcRect/>
          <a:stretch/>
        </p:blipFill>
        <p:spPr>
          <a:xfrm>
            <a:off x="1896814" y="1305000"/>
            <a:ext cx="6837248" cy="3561842"/>
          </a:xfrm>
          <a:prstGeom prst="rect">
            <a:avLst/>
          </a:prstGeom>
          <a:noFill/>
          <a:ln>
            <a:noFill/>
          </a:ln>
        </p:spPr>
      </p:pic>
      <p:sp>
        <p:nvSpPr>
          <p:cNvPr id="10" name="TextBox 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3E883C4E-6416-56F1-8D7F-29D6D517D45E}" type="slidenum">
              <a:rPr lang="en-US"/>
              <a:t>46</a:t>
            </a:fld>
            <a:endParaRPr lang="en-US"/>
          </a:p>
        </p:txBody>
      </p:sp>
      <p:sp>
        <p:nvSpPr>
          <p:cNvPr id="1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routing and execution</a:t>
            </a:r>
          </a:p>
        </p:txBody>
      </p:sp>
    </p:spTree>
    <p:extLst>
      <p:ext uri="{BB962C8B-B14F-4D97-AF65-F5344CB8AC3E}">
        <p14:creationId xmlns:p14="http://schemas.microsoft.com/office/powerpoint/2010/main" val="123288652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POD BOUNDARY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pod boundary</a:t>
            </a:r>
          </a:p>
        </p:txBody>
      </p:sp>
      <p:sp>
        <p:nvSpPr>
          <p:cNvPr id="4" name="Why the sidecar belongs on the decode po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dirty="0">
                <a:solidFill>
                  <a:srgbClr val="142C46"/>
                </a:solidFill>
                <a:latin typeface="Arial"/>
              </a:rPr>
              <a:t>The decode sidecar coordinates the request</a:t>
            </a:r>
          </a:p>
        </p:txBody>
      </p:sp>
      <p:sp>
        <p:nvSpPr>
          <p:cNvPr id="5" name="A single decode endpoint coordinates remote prefill and returns the final resp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One decode endpoint coordinates remote prefill and returns the final response.</a:t>
            </a:r>
          </a:p>
        </p:txBody>
      </p:sp>
      <p:sp>
        <p:nvSpPr>
          <p:cNvPr id="8" name="Decode pod boundary"/>
          <p:cNvSpPr/>
          <p:nvPr/>
        </p:nvSpPr>
        <p:spPr>
          <a:xfrm>
            <a:off x="2880360" y="1426464"/>
            <a:ext cx="5815584" cy="1783080"/>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SELECTED DECODE POD"/>
          <p:cNvSpPr txBox="1"/>
          <p:nvPr/>
        </p:nvSpPr>
        <p:spPr>
          <a:xfrm>
            <a:off x="3065526" y="1570482"/>
            <a:ext cx="5349240" cy="205740"/>
          </a:xfrm>
          <a:prstGeom prst="rect">
            <a:avLst/>
          </a:prstGeom>
          <a:noFill/>
        </p:spPr>
        <p:txBody>
          <a:bodyPr wrap="square" lIns="0" tIns="0" rIns="0" bIns="0" anchor="t">
            <a:noAutofit/>
          </a:bodyPr>
          <a:lstStyle/>
          <a:p>
            <a:pPr>
              <a:spcAft>
                <a:spcPts val="150"/>
              </a:spcAft>
              <a:defRPr sz="1200" b="1">
                <a:solidFill>
                  <a:srgbClr val="087F82"/>
                </a:solidFill>
                <a:latin typeface="Arial"/>
              </a:defRPr>
            </a:pPr>
            <a:r>
              <a:rPr sz="900" cap="none">
                <a:latin typeface="Arial"/>
              </a:rPr>
              <a:t>Selected decode pod</a:t>
            </a:r>
          </a:p>
        </p:txBody>
      </p:sp>
      <p:sp>
        <p:nvSpPr>
          <p:cNvPr id="10" name="Gateway"/>
          <p:cNvSpPr/>
          <p:nvPr/>
        </p:nvSpPr>
        <p:spPr>
          <a:xfrm>
            <a:off x="445770" y="2125980"/>
            <a:ext cx="1769364" cy="65151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EPP-selected endpoint</a:t>
            </a:r>
          </a:p>
        </p:txBody>
      </p:sp>
      <p:sp>
        <p:nvSpPr>
          <p:cNvPr id="11" name="Routing sidecar"/>
          <p:cNvSpPr/>
          <p:nvPr/>
        </p:nvSpPr>
        <p:spPr>
          <a:xfrm>
            <a:off x="3120390" y="2112264"/>
            <a:ext cx="1954530"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2463D4"/>
                </a:solidFill>
                <a:latin typeface="Arial"/>
              </a:defRPr>
            </a:pPr>
            <a:r>
              <a:rPr sz="1500" cap="none">
                <a:latin typeface="Arial"/>
              </a:rPr>
              <a:t>Routing sidecar</a:t>
            </a:r>
          </a:p>
          <a:p>
            <a:pPr algn="ctr">
              <a:spcBef>
                <a:spcPts val="225"/>
              </a:spcBef>
              <a:defRPr sz="1200" b="0">
                <a:solidFill>
                  <a:srgbClr val="5B6E80"/>
                </a:solidFill>
                <a:latin typeface="Arial"/>
              </a:defRPr>
            </a:pPr>
            <a:r>
              <a:rPr sz="900" cap="none">
                <a:latin typeface="Arial"/>
              </a:rPr>
              <a:t>Port 5000</a:t>
            </a:r>
          </a:p>
        </p:txBody>
      </p:sp>
      <p:sp>
        <p:nvSpPr>
          <p:cNvPr id="12" name="Local decode vLLM"/>
          <p:cNvSpPr/>
          <p:nvPr/>
        </p:nvSpPr>
        <p:spPr>
          <a:xfrm>
            <a:off x="6275070" y="2112264"/>
            <a:ext cx="2023110"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Local decode vLLM</a:t>
            </a:r>
          </a:p>
          <a:p>
            <a:pPr algn="ctr">
              <a:spcBef>
                <a:spcPts val="225"/>
              </a:spcBef>
              <a:defRPr sz="1200" b="0">
                <a:solidFill>
                  <a:srgbClr val="5B6E80"/>
                </a:solidFill>
                <a:latin typeface="Arial"/>
              </a:defRPr>
            </a:pPr>
            <a:r>
              <a:rPr sz="900" cap="none">
                <a:latin typeface="Arial"/>
              </a:rPr>
              <a:t>Port 5001</a:t>
            </a:r>
          </a:p>
        </p:txBody>
      </p:sp>
      <p:cxnSp>
        <p:nvCxnSpPr>
          <p:cNvPr id="13" name="Gateway → Routing sidecar"/>
          <p:cNvCxnSpPr>
            <a:stCxn id="10" idx="3"/>
            <a:endCxn id="11" idx="1"/>
          </p:cNvCxnSpPr>
          <p:nvPr/>
        </p:nvCxnSpPr>
        <p:spPr>
          <a:xfrm>
            <a:off x="2215134" y="2451735"/>
            <a:ext cx="905256" cy="44577"/>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 name="Routing sidecar → Local decode vLLM"/>
          <p:cNvCxnSpPr>
            <a:stCxn id="11" idx="3"/>
            <a:endCxn id="12" idx="1"/>
          </p:cNvCxnSpPr>
          <p:nvPr/>
        </p:nvCxnSpPr>
        <p:spPr>
          <a:xfrm flipV="1">
            <a:off x="5074920" y="2496312"/>
            <a:ext cx="120015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local request / + KV metadata"/>
          <p:cNvSpPr txBox="1"/>
          <p:nvPr/>
        </p:nvSpPr>
        <p:spPr>
          <a:xfrm>
            <a:off x="5157216" y="2187702"/>
            <a:ext cx="1014984" cy="30861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local request</a:t>
            </a:r>
          </a:p>
          <a:p>
            <a:pPr algn="ctr">
              <a:spcAft>
                <a:spcPts val="150"/>
              </a:spcAft>
              <a:defRPr sz="1100" b="0">
                <a:solidFill>
                  <a:srgbClr val="2463D4"/>
                </a:solidFill>
                <a:latin typeface="Arial"/>
              </a:defRPr>
            </a:pPr>
            <a:r>
              <a:rPr sz="825" cap="none">
                <a:latin typeface="Arial"/>
              </a:rPr>
              <a:t>+ KV metadata</a:t>
            </a:r>
          </a:p>
        </p:txBody>
      </p:sp>
      <p:sp>
        <p:nvSpPr>
          <p:cNvPr id="16" name="Remote prefill"/>
          <p:cNvSpPr/>
          <p:nvPr/>
        </p:nvSpPr>
        <p:spPr>
          <a:xfrm>
            <a:off x="3120390" y="3545586"/>
            <a:ext cx="1954530" cy="61036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A85C05"/>
                </a:solidFill>
                <a:latin typeface="Arial"/>
              </a:defRPr>
            </a:pPr>
            <a:r>
              <a:rPr sz="1350" cap="none">
                <a:latin typeface="Arial"/>
              </a:rPr>
              <a:t>Remote prefill</a:t>
            </a:r>
          </a:p>
          <a:p>
            <a:pPr algn="ctr">
              <a:spcBef>
                <a:spcPts val="225"/>
              </a:spcBef>
              <a:defRPr sz="1200" b="0">
                <a:solidFill>
                  <a:srgbClr val="5B6E80"/>
                </a:solidFill>
                <a:latin typeface="Arial"/>
              </a:defRPr>
            </a:pPr>
            <a:r>
              <a:rPr sz="900" cap="none">
                <a:latin typeface="Arial"/>
              </a:rPr>
              <a:t>vLLM worker</a:t>
            </a:r>
          </a:p>
        </p:txBody>
      </p:sp>
      <p:cxnSp>
        <p:nvCxnSpPr>
          <p:cNvPr id="17" name="Routing sidecar → Remote prefill"/>
          <p:cNvCxnSpPr>
            <a:stCxn id="11" idx="2"/>
            <a:endCxn id="16" idx="0"/>
          </p:cNvCxnSpPr>
          <p:nvPr/>
        </p:nvCxnSpPr>
        <p:spPr>
          <a:xfrm flipH="1">
            <a:off x="4097655" y="2880360"/>
            <a:ext cx="0" cy="66522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optional prefill request"/>
          <p:cNvSpPr txBox="1"/>
          <p:nvPr/>
        </p:nvSpPr>
        <p:spPr>
          <a:xfrm>
            <a:off x="1700784" y="3243834"/>
            <a:ext cx="2167128" cy="171450"/>
          </a:xfrm>
          <a:prstGeom prst="rect">
            <a:avLst/>
          </a:prstGeom>
          <a:noFill/>
        </p:spPr>
        <p:txBody>
          <a:bodyPr wrap="square" lIns="0" tIns="0" rIns="0" bIns="0" anchor="t">
            <a:noAutofit/>
          </a:bodyPr>
          <a:lstStyle/>
          <a:p>
            <a:pPr>
              <a:spcAft>
                <a:spcPts val="150"/>
              </a:spcAft>
              <a:defRPr sz="1100" b="0">
                <a:solidFill>
                  <a:srgbClr val="A85C05"/>
                </a:solidFill>
                <a:latin typeface="Arial"/>
              </a:defRPr>
            </a:pPr>
            <a:r>
              <a:rPr sz="825" cap="none">
                <a:latin typeface="Arial"/>
              </a:rPr>
              <a:t>optional prefill request</a:t>
            </a:r>
          </a:p>
        </p:txBody>
      </p:sp>
      <p:cxnSp>
        <p:nvCxnSpPr>
          <p:cNvPr id="19" name="NIXL KV data → local decode, bypassing sidecar"/>
          <p:cNvCxnSpPr/>
          <p:nvPr/>
        </p:nvCxnSpPr>
        <p:spPr>
          <a:xfrm>
            <a:off x="5088636" y="3847338"/>
            <a:ext cx="2194560" cy="0"/>
          </a:xfrm>
          <a:prstGeom prst="line">
            <a:avLst/>
          </a:prstGeom>
          <a:ln w="27940">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20" name="NIXL KV data → local decode, bypassing sidecar"/>
          <p:cNvCxnSpPr/>
          <p:nvPr/>
        </p:nvCxnSpPr>
        <p:spPr>
          <a:xfrm flipV="1">
            <a:off x="7283196" y="2894076"/>
            <a:ext cx="0" cy="953262"/>
          </a:xfrm>
          <a:prstGeom prst="line">
            <a:avLst/>
          </a:prstGeom>
          <a:ln w="2794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Direct KV data • bypasses sidecar"/>
          <p:cNvSpPr txBox="1"/>
          <p:nvPr/>
        </p:nvSpPr>
        <p:spPr>
          <a:xfrm>
            <a:off x="5520690" y="3957066"/>
            <a:ext cx="2743200" cy="164592"/>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bypasses sidecar</a:t>
            </a:r>
          </a:p>
        </p:txBody>
      </p:sp>
      <p:sp>
        <p:nvSpPr>
          <p:cNvPr id="22" name="STABLE EXTERNAL / ROUTING CONTRACT"/>
          <p:cNvSpPr txBox="1"/>
          <p:nvPr/>
        </p:nvSpPr>
        <p:spPr>
          <a:xfrm>
            <a:off x="507492" y="1604772"/>
            <a:ext cx="1920240" cy="315468"/>
          </a:xfrm>
          <a:prstGeom prst="rect">
            <a:avLst/>
          </a:prstGeom>
          <a:noFill/>
        </p:spPr>
        <p:txBody>
          <a:bodyPr wrap="square" lIns="0" tIns="0" rIns="0" bIns="0" anchor="t">
            <a:noAutofit/>
          </a:bodyPr>
          <a:lstStyle/>
          <a:p>
            <a:pPr>
              <a:spcAft>
                <a:spcPts val="150"/>
              </a:spcAft>
              <a:defRPr sz="1100" b="1">
                <a:solidFill>
                  <a:srgbClr val="2463D4"/>
                </a:solidFill>
                <a:latin typeface="Arial"/>
              </a:defRPr>
            </a:pPr>
            <a:r>
              <a:rPr sz="825" cap="none">
                <a:latin typeface="Arial"/>
              </a:rPr>
              <a:t>Stable external</a:t>
            </a:r>
            <a:br/>
            <a:r>
              <a:rPr cap="none">
                <a:latin typeface="Arial"/>
              </a:rPr>
              <a:t>routing contract</a:t>
            </a:r>
          </a:p>
        </p:txBody>
      </p:sp>
      <p:sp>
        <p:nvSpPr>
          <p:cNvPr id="23" name="Panel 22"/>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Panel 23"/>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Coordination lives in the sidecar. KV transport terminates at the decode runtim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coordinates requests. KV data goes directly to the decode runtime.</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E2AF91C-7097-5D02-9E7A-369A1A37DE7A}" type="slidenum">
              <a:rPr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When should you use P/D—and when not?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Ask two questions: do the roles need different capacity, and what does KV transfer cost?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Use P/D when roles need different capacity and KV transfer does not erase the gain.</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632204" y="1488186"/>
            <a:ext cx="3326130" cy="170816"/>
          </a:xfrm>
          <a:prstGeom prst="rect">
            <a:avLst/>
          </a:prstGeom>
          <a:noFill/>
        </p:spPr>
        <p:txBody>
          <a:bodyPr wrap="square" lIns="10287" tIns="10287" rIns="10287" bIns="10287">
            <a:spAutoFit/>
          </a:bodyPr>
          <a:lstStyle/>
          <a:p>
            <a:pPr algn="ctr">
              <a:spcAft>
                <a:spcPts val="375"/>
              </a:spcAft>
              <a:defRPr sz="1300" b="1">
                <a:solidFill>
                  <a:srgbClr val="AE641A"/>
                </a:solidFill>
                <a:latin typeface="Arial"/>
              </a:defRPr>
            </a:pPr>
            <a:r>
              <a:rPr sz="975" cap="none">
                <a:latin typeface="Arial"/>
              </a:rPr>
              <a:t>Expensive / weak KV transfer</a:t>
            </a:r>
          </a:p>
        </p:txBody>
      </p:sp>
      <p:sp>
        <p:nvSpPr>
          <p:cNvPr id="11" name="TextBox 10"/>
          <p:cNvSpPr txBox="1"/>
          <p:nvPr/>
        </p:nvSpPr>
        <p:spPr>
          <a:xfrm>
            <a:off x="5273802" y="1488186"/>
            <a:ext cx="3326130"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Cheap / fast enough KV transfer</a:t>
            </a:r>
          </a:p>
        </p:txBody>
      </p:sp>
      <p:sp>
        <p:nvSpPr>
          <p:cNvPr id="12" name="TextBox 11"/>
          <p:cNvSpPr txBox="1"/>
          <p:nvPr/>
        </p:nvSpPr>
        <p:spPr>
          <a:xfrm>
            <a:off x="377190" y="1988820"/>
            <a:ext cx="1062990" cy="608115"/>
          </a:xfrm>
          <a:prstGeom prst="rect">
            <a:avLst/>
          </a:prstGeom>
          <a:noFill/>
        </p:spPr>
        <p:txBody>
          <a:bodyPr wrap="square" lIns="10287" tIns="10287" rIns="10287" bIns="10287">
            <a:spAutoFit/>
          </a:bodyPr>
          <a:lstStyle/>
          <a:p>
            <a:pPr>
              <a:spcAft>
                <a:spcPts val="375"/>
              </a:spcAft>
              <a:defRPr sz="1400" b="1">
                <a:solidFill>
                  <a:srgbClr val="172941"/>
                </a:solidFill>
                <a:latin typeface="Arial"/>
              </a:defRPr>
            </a:pPr>
            <a:r>
              <a:rPr sz="1050" cap="none">
                <a:latin typeface="Arial"/>
              </a:rPr>
              <a:t>Different</a:t>
            </a:r>
          </a:p>
          <a:p>
            <a:pPr>
              <a:spcAft>
                <a:spcPts val="375"/>
              </a:spcAft>
              <a:defRPr sz="1400" b="1">
                <a:solidFill>
                  <a:srgbClr val="172941"/>
                </a:solidFill>
                <a:latin typeface="Arial"/>
              </a:defRPr>
            </a:pPr>
            <a:r>
              <a:rPr sz="1050" cap="none">
                <a:latin typeface="Arial"/>
              </a:rPr>
              <a:t>bottlenecks /</a:t>
            </a:r>
          </a:p>
          <a:p>
            <a:pPr>
              <a:spcAft>
                <a:spcPts val="375"/>
              </a:spcAft>
              <a:defRPr sz="1400" b="1">
                <a:solidFill>
                  <a:srgbClr val="172941"/>
                </a:solidFill>
                <a:latin typeface="Arial"/>
              </a:defRPr>
            </a:pPr>
            <a:r>
              <a:rPr sz="1050" cap="none">
                <a:latin typeface="Arial"/>
              </a:rPr>
              <a:t>scaling needs</a:t>
            </a:r>
          </a:p>
        </p:txBody>
      </p:sp>
      <p:sp>
        <p:nvSpPr>
          <p:cNvPr id="13" name="TextBox 12"/>
          <p:cNvSpPr txBox="1"/>
          <p:nvPr/>
        </p:nvSpPr>
        <p:spPr>
          <a:xfrm>
            <a:off x="377190" y="3250692"/>
            <a:ext cx="1062990" cy="608115"/>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Similar</a:t>
            </a:r>
          </a:p>
          <a:p>
            <a:pPr>
              <a:spcAft>
                <a:spcPts val="375"/>
              </a:spcAft>
              <a:defRPr sz="1400" b="1">
                <a:solidFill>
                  <a:srgbClr val="586A80"/>
                </a:solidFill>
                <a:latin typeface="Arial"/>
              </a:defRPr>
            </a:pPr>
            <a:r>
              <a:rPr sz="1050" cap="none">
                <a:latin typeface="Arial"/>
              </a:rPr>
              <a:t>bottlenecks /</a:t>
            </a:r>
          </a:p>
          <a:p>
            <a:pPr>
              <a:spcAft>
                <a:spcPts val="375"/>
              </a:spcAft>
              <a:defRPr sz="1400" b="1">
                <a:solidFill>
                  <a:srgbClr val="586A80"/>
                </a:solidFill>
                <a:latin typeface="Arial"/>
              </a:defRPr>
            </a:pPr>
            <a:r>
              <a:rPr sz="1050" cap="none">
                <a:latin typeface="Arial"/>
              </a:rPr>
              <a:t>scaling needs</a:t>
            </a:r>
          </a:p>
        </p:txBody>
      </p:sp>
      <p:sp>
        <p:nvSpPr>
          <p:cNvPr id="14" name="Rounded Rectangle 13"/>
          <p:cNvSpPr/>
          <p:nvPr/>
        </p:nvSpPr>
        <p:spPr>
          <a:xfrm>
            <a:off x="1577340" y="1837944"/>
            <a:ext cx="3463290" cy="1014984"/>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1700784" y="1947672"/>
            <a:ext cx="3216402" cy="205441"/>
          </a:xfrm>
          <a:prstGeom prst="rect">
            <a:avLst/>
          </a:prstGeom>
          <a:noFill/>
        </p:spPr>
        <p:txBody>
          <a:bodyPr wrap="square" lIns="10287" tIns="10287" rIns="10287" bIns="10287">
            <a:spAutoFit/>
          </a:bodyPr>
          <a:lstStyle/>
          <a:p>
            <a:pPr>
              <a:spcAft>
                <a:spcPts val="375"/>
              </a:spcAft>
              <a:defRPr sz="1600" b="1">
                <a:solidFill>
                  <a:srgbClr val="AE641A"/>
                </a:solidFill>
                <a:latin typeface="Arial"/>
              </a:defRPr>
            </a:pPr>
            <a:r>
              <a:rPr sz="1200" cap="none">
                <a:latin typeface="Arial"/>
              </a:rPr>
              <a:t>Improve topology first</a:t>
            </a:r>
          </a:p>
        </p:txBody>
      </p:sp>
      <p:sp>
        <p:nvSpPr>
          <p:cNvPr id="16" name="TextBox 15"/>
          <p:cNvSpPr txBox="1"/>
          <p:nvPr/>
        </p:nvSpPr>
        <p:spPr>
          <a:xfrm>
            <a:off x="1700784" y="2297430"/>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Separate capacity may help,</a:t>
            </a:r>
          </a:p>
          <a:p>
            <a:pPr>
              <a:spcAft>
                <a:spcPts val="375"/>
              </a:spcAft>
              <a:defRPr sz="1500" b="0">
                <a:solidFill>
                  <a:srgbClr val="172941"/>
                </a:solidFill>
                <a:latin typeface="Arial"/>
              </a:defRPr>
            </a:pPr>
            <a:r>
              <a:rPr sz="1125" cap="none">
                <a:latin typeface="Arial"/>
              </a:rPr>
              <a:t>but transfer may erase the gain.</a:t>
            </a:r>
          </a:p>
        </p:txBody>
      </p:sp>
      <p:sp>
        <p:nvSpPr>
          <p:cNvPr id="17" name="Rounded Rectangle 16"/>
          <p:cNvSpPr/>
          <p:nvPr/>
        </p:nvSpPr>
        <p:spPr>
          <a:xfrm>
            <a:off x="5225796" y="1837944"/>
            <a:ext cx="3538728" cy="101498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349240" y="1947672"/>
            <a:ext cx="3291840" cy="205441"/>
          </a:xfrm>
          <a:prstGeom prst="rect">
            <a:avLst/>
          </a:prstGeom>
          <a:noFill/>
        </p:spPr>
        <p:txBody>
          <a:bodyPr wrap="square" lIns="10287" tIns="10287" rIns="10287" bIns="10287">
            <a:spAutoFit/>
          </a:bodyPr>
          <a:lstStyle/>
          <a:p>
            <a:pPr>
              <a:spcAft>
                <a:spcPts val="375"/>
              </a:spcAft>
              <a:defRPr sz="1600" b="1">
                <a:solidFill>
                  <a:srgbClr val="247952"/>
                </a:solidFill>
                <a:latin typeface="Arial"/>
              </a:defRPr>
            </a:pPr>
            <a:r>
              <a:rPr sz="1200" cap="none">
                <a:latin typeface="Arial"/>
              </a:rPr>
              <a:t>Strong P/D candidate</a:t>
            </a:r>
          </a:p>
        </p:txBody>
      </p:sp>
      <p:sp>
        <p:nvSpPr>
          <p:cNvPr id="19" name="TextBox 18"/>
          <p:cNvSpPr txBox="1"/>
          <p:nvPr/>
        </p:nvSpPr>
        <p:spPr>
          <a:xfrm>
            <a:off x="5349240" y="2297430"/>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Tune each role separately.</a:t>
            </a:r>
          </a:p>
          <a:p>
            <a:pPr>
              <a:spcAft>
                <a:spcPts val="375"/>
              </a:spcAft>
              <a:defRPr sz="1500" b="0">
                <a:solidFill>
                  <a:srgbClr val="172941"/>
                </a:solidFill>
                <a:latin typeface="Arial"/>
              </a:defRPr>
            </a:pPr>
            <a:r>
              <a:rPr sz="1125" cap="none">
                <a:latin typeface="Arial"/>
              </a:rPr>
              <a:t>Validate at matched SLOs and cost.</a:t>
            </a:r>
          </a:p>
        </p:txBody>
      </p:sp>
      <p:sp>
        <p:nvSpPr>
          <p:cNvPr id="20" name="Rounded Rectangle 19"/>
          <p:cNvSpPr/>
          <p:nvPr/>
        </p:nvSpPr>
        <p:spPr>
          <a:xfrm>
            <a:off x="1577340" y="3010661"/>
            <a:ext cx="3463290" cy="1014984"/>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700784" y="3120390"/>
            <a:ext cx="3216402" cy="205441"/>
          </a:xfrm>
          <a:prstGeom prst="rect">
            <a:avLst/>
          </a:prstGeom>
          <a:noFill/>
        </p:spPr>
        <p:txBody>
          <a:bodyPr wrap="square" lIns="10287" tIns="10287" rIns="10287" bIns="10287">
            <a:spAutoFit/>
          </a:bodyPr>
          <a:lstStyle/>
          <a:p>
            <a:pPr>
              <a:spcAft>
                <a:spcPts val="375"/>
              </a:spcAft>
              <a:defRPr sz="1600" b="1">
                <a:solidFill>
                  <a:srgbClr val="586A80"/>
                </a:solidFill>
                <a:latin typeface="Arial"/>
              </a:defRPr>
            </a:pPr>
            <a:r>
              <a:rPr sz="1200" cap="none">
                <a:latin typeface="Arial"/>
              </a:rPr>
              <a:t>Stay aggregated</a:t>
            </a:r>
          </a:p>
        </p:txBody>
      </p:sp>
      <p:sp>
        <p:nvSpPr>
          <p:cNvPr id="22" name="TextBox 21"/>
          <p:cNvSpPr txBox="1"/>
          <p:nvPr/>
        </p:nvSpPr>
        <p:spPr>
          <a:xfrm>
            <a:off x="1700784" y="3470148"/>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Similar roles gain little,</a:t>
            </a:r>
          </a:p>
          <a:p>
            <a:pPr>
              <a:spcAft>
                <a:spcPts val="375"/>
              </a:spcAft>
              <a:defRPr sz="1500" b="0">
                <a:solidFill>
                  <a:srgbClr val="172941"/>
                </a:solidFill>
                <a:latin typeface="Arial"/>
              </a:defRPr>
            </a:pPr>
            <a:r>
              <a:rPr sz="1125" cap="none">
                <a:latin typeface="Arial"/>
              </a:rPr>
              <a:t>while expensive transfer adds cost.</a:t>
            </a:r>
          </a:p>
        </p:txBody>
      </p:sp>
      <p:sp>
        <p:nvSpPr>
          <p:cNvPr id="23" name="Rounded Rectangle 22"/>
          <p:cNvSpPr/>
          <p:nvPr/>
        </p:nvSpPr>
        <p:spPr>
          <a:xfrm>
            <a:off x="5225796" y="3010661"/>
            <a:ext cx="3538728" cy="1014984"/>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349240" y="3120390"/>
            <a:ext cx="3291840" cy="205441"/>
          </a:xfrm>
          <a:prstGeom prst="rect">
            <a:avLst/>
          </a:prstGeom>
          <a:noFill/>
        </p:spPr>
        <p:txBody>
          <a:bodyPr wrap="square" lIns="10287" tIns="10287" rIns="10287" bIns="10287">
            <a:spAutoFit/>
          </a:bodyPr>
          <a:lstStyle/>
          <a:p>
            <a:pPr>
              <a:spcAft>
                <a:spcPts val="375"/>
              </a:spcAft>
              <a:defRPr sz="1600" b="1">
                <a:solidFill>
                  <a:srgbClr val="2563EB"/>
                </a:solidFill>
                <a:latin typeface="Arial"/>
              </a:defRPr>
            </a:pPr>
            <a:r>
              <a:rPr sz="1200" cap="none">
                <a:latin typeface="Arial"/>
              </a:rPr>
              <a:t>Usually stay aggregated</a:t>
            </a:r>
          </a:p>
        </p:txBody>
      </p:sp>
      <p:sp>
        <p:nvSpPr>
          <p:cNvPr id="25" name="TextBox 24"/>
          <p:cNvSpPr txBox="1"/>
          <p:nvPr/>
        </p:nvSpPr>
        <p:spPr>
          <a:xfrm>
            <a:off x="5349240" y="3470148"/>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Fast fabric alone is no reason to split.</a:t>
            </a:r>
          </a:p>
          <a:p>
            <a:pPr>
              <a:spcAft>
                <a:spcPts val="375"/>
              </a:spcAft>
              <a:defRPr sz="1500" b="0">
                <a:solidFill>
                  <a:srgbClr val="172941"/>
                </a:solidFill>
                <a:latin typeface="Arial"/>
              </a:defRPr>
            </a:pPr>
            <a:r>
              <a:rPr sz="1125" cap="none">
                <a:latin typeface="Arial"/>
              </a:rPr>
              <a:t>Operational gains may be limited.</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E3448FEC-71FB-543C-9A5C-F0E202744C57}" type="slidenum">
              <a:rPr lang="en-US"/>
              <a:t>48</a:t>
            </a:fld>
            <a:endParaRPr lang="en-US"/>
          </a:p>
        </p:txBody>
      </p:sp>
      <p:sp>
        <p:nvSpPr>
          <p:cNvPr id="2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when to disaggregate</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a:solidFill>
                  <a:srgbClr val="142C46"/>
                </a:solidFill>
                <a:latin typeface="Arial"/>
              </a:rPr>
              <a:t>Summary</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Three takeaways for operating P/D on Kubernetes</a:t>
            </a:r>
          </a:p>
        </p:txBody>
      </p:sp>
      <p:sp>
        <p:nvSpPr>
          <p:cNvPr id="4" name="Rounded Rectangle 3"/>
          <p:cNvSpPr/>
          <p:nvPr/>
        </p:nvSpPr>
        <p:spPr>
          <a:xfrm>
            <a:off x="411480" y="1572768"/>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346CEC"/>
                </a:solidFill>
                <a:latin typeface="Arial"/>
              </a:rPr>
              <a:t>01</a:t>
            </a:r>
          </a:p>
        </p:txBody>
      </p:sp>
      <p:sp>
        <p:nvSpPr>
          <p:cNvPr id="6" name="TextBox 5"/>
          <p:cNvSpPr txBox="1"/>
          <p:nvPr/>
        </p:nvSpPr>
        <p:spPr>
          <a:xfrm>
            <a:off x="1133856" y="1664208"/>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Separate capacity to protect latency</a:t>
            </a:r>
          </a:p>
        </p:txBody>
      </p:sp>
      <p:sp>
        <p:nvSpPr>
          <p:cNvPr id="7" name="TextBox 6"/>
          <p:cNvSpPr txBox="1"/>
          <p:nvPr/>
        </p:nvSpPr>
        <p:spPr>
          <a:xfrm>
            <a:off x="1133856" y="1993392"/>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Prefill shapes first-token latency; decode shapes ongoing token delivery.</a:t>
            </a:r>
          </a:p>
        </p:txBody>
      </p:sp>
      <p:sp>
        <p:nvSpPr>
          <p:cNvPr id="8" name="Rounded Rectangle 7"/>
          <p:cNvSpPr/>
          <p:nvPr/>
        </p:nvSpPr>
        <p:spPr>
          <a:xfrm>
            <a:off x="411480" y="2432304"/>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6072" y="2606040"/>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168C96"/>
                </a:solidFill>
                <a:latin typeface="Arial"/>
              </a:rPr>
              <a:t>02</a:t>
            </a:r>
          </a:p>
        </p:txBody>
      </p:sp>
      <p:sp>
        <p:nvSpPr>
          <p:cNvPr id="10" name="TextBox 9"/>
          <p:cNvSpPr txBox="1"/>
          <p:nvPr/>
        </p:nvSpPr>
        <p:spPr>
          <a:xfrm>
            <a:off x="1133856" y="2523744"/>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Give each layer a clear job</a:t>
            </a:r>
          </a:p>
        </p:txBody>
      </p:sp>
      <p:sp>
        <p:nvSpPr>
          <p:cNvPr id="11" name="TextBox 10"/>
          <p:cNvSpPr txBox="1"/>
          <p:nvPr/>
        </p:nvSpPr>
        <p:spPr>
          <a:xfrm>
            <a:off x="1133856" y="2852928"/>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KAITO manages roles; llm-d routes; vLLM + NIXL execute and move KV.</a:t>
            </a:r>
          </a:p>
        </p:txBody>
      </p:sp>
      <p:sp>
        <p:nvSpPr>
          <p:cNvPr id="12" name="Rounded Rectangle 11"/>
          <p:cNvSpPr/>
          <p:nvPr/>
        </p:nvSpPr>
        <p:spPr>
          <a:xfrm>
            <a:off x="411480" y="3291839"/>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76072" y="3465575"/>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8060C3"/>
                </a:solidFill>
                <a:latin typeface="Arial"/>
              </a:rPr>
              <a:t>03</a:t>
            </a:r>
          </a:p>
        </p:txBody>
      </p:sp>
      <p:sp>
        <p:nvSpPr>
          <p:cNvPr id="14" name="TextBox 13"/>
          <p:cNvSpPr txBox="1"/>
          <p:nvPr/>
        </p:nvSpPr>
        <p:spPr>
          <a:xfrm>
            <a:off x="1133856" y="3383279"/>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Scale each role safely</a:t>
            </a:r>
          </a:p>
        </p:txBody>
      </p:sp>
      <p:sp>
        <p:nvSpPr>
          <p:cNvPr id="15" name="TextBox 14"/>
          <p:cNvSpPr txBox="1"/>
          <p:nvPr/>
        </p:nvSpPr>
        <p:spPr>
          <a:xfrm>
            <a:off x="1133856" y="3712463"/>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Use role signals and safe scale-down; MRI integration still needs work.</a:t>
            </a:r>
          </a:p>
        </p:txBody>
      </p:sp>
      <p:sp>
        <p:nvSpPr>
          <p:cNvPr id="16" name="TextBox 15"/>
          <p:cNvSpPr txBox="1"/>
          <p:nvPr/>
        </p:nvSpPr>
        <p:spPr>
          <a:xfrm>
            <a:off x="521207" y="4279392"/>
            <a:ext cx="8101583" cy="457200"/>
          </a:xfrm>
          <a:prstGeom prst="rect">
            <a:avLst/>
          </a:prstGeom>
          <a:noFill/>
        </p:spPr>
        <p:txBody>
          <a:bodyPr wrap="square" lIns="0" tIns="0" rIns="0" bIns="0">
            <a:spAutoFit/>
          </a:bodyPr>
          <a:lstStyle/>
          <a:p>
            <a:pPr>
              <a:spcBef>
                <a:spcPts val="0"/>
              </a:spcBef>
              <a:spcAft>
                <a:spcPts val="300"/>
              </a:spcAft>
            </a:pPr>
            <a:r>
              <a:rPr sz="1400" b="1" cap="none">
                <a:solidFill>
                  <a:srgbClr val="142C46"/>
                </a:solidFill>
                <a:latin typeface="Arial"/>
              </a:rPr>
              <a:t>Validate P/D against aggregated serving at matched workload, cost and latency targets.</a:t>
            </a:r>
          </a:p>
        </p:txBody>
      </p:sp>
      <p:sp>
        <p:nvSpPr>
          <p:cNvPr id="17" name="TextBox 16"/>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fld id="{600300ED-A470-5611-A9C7-AFAC6DDB14A8}" type="slidenum">
              <a:rPr lang="en-US" sz="800" b="0" cap="none">
                <a:solidFill>
                  <a:srgbClr val="52677D"/>
                </a:solidFill>
                <a:latin typeface="Arial"/>
              </a:rPr>
              <a:t>49</a:t>
            </a:fld>
            <a:endParaRPr lang="en-US" sz="800" b="0" cap="none">
              <a:solidFill>
                <a:srgbClr val="52677D"/>
              </a:solidFill>
              <a:latin typeface="Arial"/>
            </a:endParaRPr>
          </a:p>
        </p:txBody>
      </p:sp>
      <p:sp>
        <p:nvSpPr>
          <p:cNvPr id="19"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key takeaways</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098E84A-0A4F-A861-8024-10CF59AB7D37}"/>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autoscaling configuration</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Tune explicitly today; aim for simpler defaults next.</a:t>
            </a:r>
          </a:p>
        </p:txBody>
      </p:sp>
      <p:sp>
        <p:nvSpPr>
          <p:cNvPr id="4" name="Rounded Rectangle 3"/>
          <p:cNvSpPr/>
          <p:nvPr/>
        </p:nvSpPr>
        <p:spPr>
          <a:xfrm>
            <a:off x="41148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3749039"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Existing scaler settings</a:t>
            </a:r>
          </a:p>
        </p:txBody>
      </p:sp>
      <p:sp>
        <p:nvSpPr>
          <p:cNvPr id="6" name="TextBox 5"/>
          <p:cNvSpPr txBox="1"/>
          <p:nvPr/>
        </p:nvSpPr>
        <p:spPr>
          <a:xfrm>
            <a:off x="576072"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Choose queue and latency metrics.</a:t>
            </a:r>
          </a:p>
          <a:p>
            <a:pPr>
              <a:spcAft>
                <a:spcPts val="500"/>
              </a:spcAft>
              <a:defRPr sz="1500" b="0">
                <a:solidFill>
                  <a:srgbClr val="142C46"/>
                </a:solidFill>
                <a:latin typeface="Arial"/>
              </a:defRPr>
            </a:pPr>
            <a:r>
              <a:rPr cap="none"/>
              <a:t>Set thresholds and time windows.</a:t>
            </a:r>
          </a:p>
          <a:p>
            <a:pPr>
              <a:spcAft>
                <a:spcPts val="500"/>
              </a:spcAft>
              <a:defRPr sz="1500" b="0">
                <a:solidFill>
                  <a:srgbClr val="142C46"/>
                </a:solidFill>
                <a:latin typeface="Arial"/>
              </a:defRPr>
            </a:pPr>
            <a:r>
              <a:rPr cap="none"/>
              <a:t>Set replica bounds and cooldowns.</a:t>
            </a:r>
          </a:p>
          <a:p>
            <a:pPr>
              <a:spcAft>
                <a:spcPts val="500"/>
              </a:spcAft>
              <a:defRPr sz="1500" b="0">
                <a:solidFill>
                  <a:srgbClr val="142C46"/>
                </a:solidFill>
                <a:latin typeface="Arial"/>
              </a:defRPr>
            </a:pPr>
            <a:r>
              <a:rPr cap="none"/>
              <a:t>Combine signals with an AND policy.</a:t>
            </a:r>
          </a:p>
        </p:txBody>
      </p:sp>
      <p:sp>
        <p:nvSpPr>
          <p:cNvPr id="7" name="Rounded Rectangle 6"/>
          <p:cNvSpPr/>
          <p:nvPr/>
        </p:nvSpPr>
        <p:spPr>
          <a:xfrm>
            <a:off x="466344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28031" y="1746504"/>
            <a:ext cx="3749039"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Proposed simplification</a:t>
            </a:r>
          </a:p>
        </p:txBody>
      </p:sp>
      <p:sp>
        <p:nvSpPr>
          <p:cNvPr id="9" name="TextBox 8"/>
          <p:cNvSpPr txBox="1"/>
          <p:nvPr/>
        </p:nvSpPr>
        <p:spPr>
          <a:xfrm>
            <a:off x="4828031"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Keep minimum and maximum replicas.</a:t>
            </a:r>
          </a:p>
          <a:p>
            <a:pPr>
              <a:spcAft>
                <a:spcPts val="500"/>
              </a:spcAft>
              <a:defRPr sz="1500" b="0">
                <a:solidFill>
                  <a:srgbClr val="142C46"/>
                </a:solidFill>
                <a:latin typeface="Arial"/>
              </a:defRPr>
            </a:pPr>
            <a:r>
              <a:rPr cap="none"/>
              <a:t>Derive more defaults automatically.</a:t>
            </a:r>
          </a:p>
          <a:p>
            <a:pPr>
              <a:spcAft>
                <a:spcPts val="500"/>
              </a:spcAft>
              <a:defRPr sz="1500" b="0">
                <a:solidFill>
                  <a:srgbClr val="142C46"/>
                </a:solidFill>
                <a:latin typeface="Arial"/>
              </a:defRPr>
            </a:pPr>
            <a:r>
              <a:rPr cap="none"/>
              <a:t>Validate for the model and workload.</a:t>
            </a:r>
          </a:p>
          <a:p>
            <a:pPr>
              <a:spcAft>
                <a:spcPts val="500"/>
              </a:spcAft>
              <a:defRPr sz="1500" b="0">
                <a:solidFill>
                  <a:srgbClr val="142C46"/>
                </a:solidFill>
                <a:latin typeface="Arial"/>
              </a:defRPr>
            </a:pPr>
            <a:r>
              <a:rPr cap="none"/>
              <a:t>This is not shipped auto-tuning.</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Existing InferenceSet scaling is the base; MRI role-policy integration still needs work.</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578AE0C-1FD5-5FB5-86C9-FF2A0BA10B22}" type="slidenum">
              <a:rPr lang="en-US"/>
              <a:t>50</a:t>
            </a:fld>
            <a:endParaRPr lang="en-US"/>
          </a:p>
        </p:txBody>
      </p:sp>
      <p:sp>
        <p:nvSpPr>
          <p:cNvPr id="1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configuration</a:t>
            </a:r>
          </a:p>
        </p:txBody>
      </p:sp>
    </p:spTree>
    <p:extLst>
      <p:ext uri="{BB962C8B-B14F-4D97-AF65-F5344CB8AC3E}">
        <p14:creationId xmlns:p14="http://schemas.microsoft.com/office/powerpoint/2010/main" val="334493632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composable distributed inference</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Reuse the serving stack and add Kubernetes-native coordination.</a:t>
            </a:r>
          </a:p>
        </p:txBody>
      </p:sp>
      <p:sp>
        <p:nvSpPr>
          <p:cNvPr id="4" name="Rounded Rectangle 3"/>
          <p:cNvSpPr/>
          <p:nvPr/>
        </p:nvSpPr>
        <p:spPr>
          <a:xfrm>
            <a:off x="41148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47088"/>
            <a:ext cx="241401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Operate</a:t>
            </a:r>
          </a:p>
        </p:txBody>
      </p:sp>
      <p:sp>
        <p:nvSpPr>
          <p:cNvPr id="6" name="TextBox 5"/>
          <p:cNvSpPr txBox="1"/>
          <p:nvPr/>
        </p:nvSpPr>
        <p:spPr>
          <a:xfrm>
            <a:off x="57607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Run modular components</a:t>
            </a:r>
          </a:p>
          <a:p>
            <a:pPr>
              <a:spcAft>
                <a:spcPts val="500"/>
              </a:spcAft>
              <a:defRPr sz="1500" b="0">
                <a:solidFill>
                  <a:srgbClr val="142C46"/>
                </a:solidFill>
                <a:latin typeface="Arial"/>
              </a:defRPr>
            </a:pPr>
            <a:r>
              <a:rPr cap="none"/>
              <a:t>on Kubernetes.</a:t>
            </a:r>
          </a:p>
          <a:p>
            <a:pPr>
              <a:spcAft>
                <a:spcPts val="500"/>
              </a:spcAft>
              <a:defRPr sz="1500" b="0">
                <a:solidFill>
                  <a:srgbClr val="142C46"/>
                </a:solidFill>
                <a:latin typeface="Arial"/>
              </a:defRPr>
            </a:pPr>
            <a:r>
              <a:rPr cap="none"/>
              <a:t>Keep failure boundaries clear.</a:t>
            </a:r>
          </a:p>
        </p:txBody>
      </p:sp>
      <p:sp>
        <p:nvSpPr>
          <p:cNvPr id="7" name="Rounded Rectangle 6"/>
          <p:cNvSpPr/>
          <p:nvPr/>
        </p:nvSpPr>
        <p:spPr>
          <a:xfrm>
            <a:off x="324612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10712" y="1847088"/>
            <a:ext cx="241401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Compose</a:t>
            </a:r>
          </a:p>
        </p:txBody>
      </p:sp>
      <p:sp>
        <p:nvSpPr>
          <p:cNvPr id="9" name="TextBox 8"/>
          <p:cNvSpPr txBox="1"/>
          <p:nvPr/>
        </p:nvSpPr>
        <p:spPr>
          <a:xfrm>
            <a:off x="341071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Connect gateways, routing,</a:t>
            </a:r>
          </a:p>
          <a:p>
            <a:pPr>
              <a:spcAft>
                <a:spcPts val="500"/>
              </a:spcAft>
              <a:defRPr sz="1500" b="0">
                <a:solidFill>
                  <a:srgbClr val="142C46"/>
                </a:solidFill>
                <a:latin typeface="Arial"/>
              </a:defRPr>
            </a:pPr>
            <a:r>
              <a:rPr cap="none"/>
              <a:t>runtimes and KV interfaces.</a:t>
            </a:r>
          </a:p>
        </p:txBody>
      </p:sp>
      <p:sp>
        <p:nvSpPr>
          <p:cNvPr id="10" name="Rounded Rectangle 9"/>
          <p:cNvSpPr/>
          <p:nvPr/>
        </p:nvSpPr>
        <p:spPr>
          <a:xfrm>
            <a:off x="608076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45352" y="1847088"/>
            <a:ext cx="241401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Deploy</a:t>
            </a:r>
          </a:p>
        </p:txBody>
      </p:sp>
      <p:sp>
        <p:nvSpPr>
          <p:cNvPr id="12" name="TextBox 11"/>
          <p:cNvSpPr txBox="1"/>
          <p:nvPr/>
        </p:nvSpPr>
        <p:spPr>
          <a:xfrm>
            <a:off x="624535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Start with tested paths.</a:t>
            </a:r>
          </a:p>
          <a:p>
            <a:pPr>
              <a:spcAft>
                <a:spcPts val="500"/>
              </a:spcAft>
              <a:defRPr sz="1500" b="0">
                <a:solidFill>
                  <a:srgbClr val="142C46"/>
                </a:solidFill>
                <a:latin typeface="Arial"/>
              </a:defRPr>
            </a:pPr>
            <a:r>
              <a:rPr cap="none"/>
              <a:t>Weigh the trade-offs.</a:t>
            </a:r>
          </a:p>
          <a:p>
            <a:pPr>
              <a:spcAft>
                <a:spcPts val="500"/>
              </a:spcAft>
              <a:defRPr sz="1500" b="0">
                <a:solidFill>
                  <a:srgbClr val="142C46"/>
                </a:solidFill>
                <a:latin typeface="Arial"/>
              </a:defRPr>
            </a:pPr>
            <a:r>
              <a:rPr cap="none"/>
              <a:t>Tune for your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llm-d composes gateways, runtimes and transport; it does not replace them all.</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D3306F0-A800-5FBC-BD9B-6EAD0952F3BA}" type="slidenum">
              <a:rPr lang="en-US"/>
              <a:t>51</a:t>
            </a:fld>
            <a:endParaRPr lang="en-US"/>
          </a:p>
        </p:txBody>
      </p:sp>
      <p:sp>
        <p:nvSpPr>
          <p:cNvPr id="17" name="TextBox 16"/>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Tree>
    <p:extLst>
      <p:ext uri="{BB962C8B-B14F-4D97-AF65-F5344CB8AC3E}">
        <p14:creationId xmlns:p14="http://schemas.microsoft.com/office/powerpoint/2010/main" val="124656245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operational safeguards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Safe autoscaling needs one writer and valid data</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These are safety requirements to verify, not guarantees of current MRI integration.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Avoid competing controllers, count only ready capacity, and protect in-flight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01 / Replica ownership</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Choose one writer</a:t>
            </a:r>
          </a:p>
        </p:txBody>
      </p:sp>
      <p:sp>
        <p:nvSpPr>
          <p:cNvPr id="14" name="TextBox 13"/>
          <p:cNvSpPr txBox="1"/>
          <p:nvPr/>
        </p:nvSpPr>
        <p:spPr>
          <a:xfrm>
            <a:off x="514350" y="2599183"/>
            <a:ext cx="2434590" cy="711990"/>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Give each role one replica writer.</a:t>
            </a:r>
          </a:p>
          <a:p>
            <a:pPr>
              <a:spcAft>
                <a:spcPts val="375"/>
              </a:spcAft>
              <a:defRPr sz="1700" b="0">
                <a:solidFill>
                  <a:srgbClr val="172941"/>
                </a:solidFill>
                <a:latin typeface="Arial"/>
              </a:defRPr>
            </a:pPr>
            <a:r>
              <a:rPr sz="1275" cap="none">
                <a:latin typeface="Arial"/>
              </a:rPr>
              <a:t>Do not let autoscalers compete.</a:t>
            </a:r>
          </a:p>
        </p:txBody>
      </p:sp>
      <p:sp>
        <p:nvSpPr>
          <p:cNvPr id="15" name="Rounded Rectangle 14"/>
          <p:cNvSpPr/>
          <p:nvPr/>
        </p:nvSpPr>
        <p:spPr>
          <a:xfrm>
            <a:off x="3216402"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02 / Metric availability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Verify real signals</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Inspect actual /metrics.</a:t>
            </a:r>
          </a:p>
          <a:p>
            <a:pPr>
              <a:spcAft>
                <a:spcPts val="375"/>
              </a:spcAft>
              <a:defRPr sz="1700" b="0">
                <a:solidFill>
                  <a:srgbClr val="172941"/>
                </a:solidFill>
                <a:latin typeface="Arial"/>
              </a:defRPr>
            </a:pPr>
            <a:r>
              <a:rPr sz="1275" cap="none">
                <a:latin typeface="Arial"/>
              </a:rPr>
              <a:t>Scope samples per role.</a:t>
            </a:r>
          </a:p>
          <a:p>
            <a:pPr>
              <a:spcAft>
                <a:spcPts val="375"/>
              </a:spcAft>
              <a:defRPr sz="1700" b="0">
                <a:solidFill>
                  <a:srgbClr val="172941"/>
                </a:solidFill>
                <a:latin typeface="Arial"/>
              </a:defRPr>
            </a:pPr>
            <a:r>
              <a:rPr sz="1275" cap="none">
                <a:latin typeface="Arial"/>
              </a:rPr>
              <a:t>Missing is not zero.</a:t>
            </a:r>
          </a:p>
          <a:p>
            <a:pPr>
              <a:spcAft>
                <a:spcPts val="375"/>
              </a:spcAft>
              <a:defRPr sz="1700" b="0">
                <a:solidFill>
                  <a:srgbClr val="172941"/>
                </a:solidFill>
                <a:latin typeface="Arial"/>
              </a:defRPr>
            </a:pPr>
            <a:r>
              <a:rPr sz="1275" cap="none">
                <a:latin typeface="Arial"/>
              </a:rPr>
              <a:t>Hold and report on failure.</a:t>
            </a:r>
          </a:p>
        </p:txBody>
      </p:sp>
      <p:sp>
        <p:nvSpPr>
          <p:cNvPr id="20" name="Rounded Rectangle 19"/>
          <p:cNvSpPr/>
          <p:nvPr/>
        </p:nvSpPr>
        <p:spPr>
          <a:xfrm>
            <a:off x="6055614"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03 / Lifecycle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Make handoff explicit</a:t>
            </a:r>
          </a:p>
        </p:txBody>
      </p:sp>
      <p:sp>
        <p:nvSpPr>
          <p:cNvPr id="24" name="TextBox 23"/>
          <p:cNvSpPr txBox="1"/>
          <p:nvPr/>
        </p:nvSpPr>
        <p:spPr>
          <a:xfrm>
            <a:off x="6192773"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Stop the old writer first.</a:t>
            </a:r>
          </a:p>
          <a:p>
            <a:pPr>
              <a:spcAft>
                <a:spcPts val="375"/>
              </a:spcAft>
              <a:defRPr sz="1700" b="0">
                <a:solidFill>
                  <a:srgbClr val="172941"/>
                </a:solidFill>
                <a:latin typeface="Arial"/>
              </a:defRPr>
            </a:pPr>
            <a:r>
              <a:rPr sz="1275" cap="none">
                <a:latin typeface="Arial"/>
              </a:rPr>
              <a:t>Delete only owned scalers.</a:t>
            </a:r>
          </a:p>
          <a:p>
            <a:pPr>
              <a:spcAft>
                <a:spcPts val="375"/>
              </a:spcAft>
              <a:defRPr sz="1700" b="0">
                <a:solidFill>
                  <a:srgbClr val="172941"/>
                </a:solidFill>
                <a:latin typeface="Arial"/>
              </a:defRPr>
            </a:pPr>
            <a:r>
              <a:rPr sz="1275" cap="none">
                <a:latin typeface="Arial"/>
              </a:rPr>
              <a:t>Allow model warm-up.</a:t>
            </a:r>
          </a:p>
          <a:p>
            <a:pPr>
              <a:spcAft>
                <a:spcPts val="375"/>
              </a:spcAft>
              <a:defRPr sz="1700" b="0">
                <a:solidFill>
                  <a:srgbClr val="172941"/>
                </a:solidFill>
                <a:latin typeface="Arial"/>
              </a:defRPr>
            </a:pPr>
            <a:r>
              <a:rPr sz="1275" cap="none">
                <a:latin typeface="Arial"/>
              </a:rPr>
              <a:t>Test safe scale-down.</a:t>
            </a:r>
          </a:p>
        </p:txBody>
      </p:sp>
      <p:sp>
        <p:nvSpPr>
          <p:cNvPr id="25" name="TextBox 24"/>
          <p:cNvSpPr txBox="1"/>
          <p:nvPr/>
        </p:nvSpPr>
        <p:spPr>
          <a:xfrm>
            <a:off x="390905" y="4094226"/>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Missing or invalid signals must hold decisions and report a problem—not look like zero load.</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F61E26E7-CEE3-5331-8A9F-38E40821A4F4}" type="slidenum">
              <a:rPr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capabilities relevant to this talk</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These are building blocks, not benchmark guarantees.</a:t>
            </a:r>
          </a:p>
        </p:txBody>
      </p:sp>
      <p:sp>
        <p:nvSpPr>
          <p:cNvPr id="4" name="Rounded Rectangle 3"/>
          <p:cNvSpPr/>
          <p:nvPr/>
        </p:nvSpPr>
        <p:spPr>
          <a:xfrm>
            <a:off x="411480"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664207"/>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Distributed execution</a:t>
            </a:r>
          </a:p>
        </p:txBody>
      </p:sp>
      <p:sp>
        <p:nvSpPr>
          <p:cNvPr id="6" name="TextBox 5"/>
          <p:cNvSpPr txBox="1"/>
          <p:nvPr/>
        </p:nvSpPr>
        <p:spPr>
          <a:xfrm>
            <a:off x="576072"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Run large models with expert parallelism and tuned communication.</a:t>
            </a:r>
          </a:p>
        </p:txBody>
      </p:sp>
      <p:sp>
        <p:nvSpPr>
          <p:cNvPr id="7" name="Rounded Rectangle 6"/>
          <p:cNvSpPr/>
          <p:nvPr/>
        </p:nvSpPr>
        <p:spPr>
          <a:xfrm>
            <a:off x="4636008"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664207"/>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Prefill/decode separation</a:t>
            </a:r>
          </a:p>
        </p:txBody>
      </p:sp>
      <p:sp>
        <p:nvSpPr>
          <p:cNvPr id="9" name="TextBox 8"/>
          <p:cNvSpPr txBox="1"/>
          <p:nvPr/>
        </p:nvSpPr>
        <p:spPr>
          <a:xfrm>
            <a:off x="4800600"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Choose placement, batching and capacity for each phase.</a:t>
            </a:r>
          </a:p>
        </p:txBody>
      </p:sp>
      <p:sp>
        <p:nvSpPr>
          <p:cNvPr id="10" name="Rounded Rectangle 9"/>
          <p:cNvSpPr/>
          <p:nvPr/>
        </p:nvSpPr>
        <p:spPr>
          <a:xfrm>
            <a:off x="411480"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17520"/>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State-aware scheduling</a:t>
            </a:r>
          </a:p>
        </p:txBody>
      </p:sp>
      <p:sp>
        <p:nvSpPr>
          <p:cNvPr id="12" name="TextBox 11"/>
          <p:cNvSpPr txBox="1"/>
          <p:nvPr/>
        </p:nvSpPr>
        <p:spPr>
          <a:xfrm>
            <a:off x="576072"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Route with cache locality and runtime load in mind.</a:t>
            </a:r>
          </a:p>
        </p:txBody>
      </p:sp>
      <p:sp>
        <p:nvSpPr>
          <p:cNvPr id="13" name="Rounded Rectangle 12"/>
          <p:cNvSpPr/>
          <p:nvPr/>
        </p:nvSpPr>
        <p:spPr>
          <a:xfrm>
            <a:off x="4636008"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17520"/>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Capacity control</a:t>
            </a:r>
          </a:p>
        </p:txBody>
      </p:sp>
      <p:sp>
        <p:nvSpPr>
          <p:cNvPr id="15" name="TextBox 14"/>
          <p:cNvSpPr txBox="1"/>
          <p:nvPr/>
        </p:nvSpPr>
        <p:spPr>
          <a:xfrm>
            <a:off x="4800600"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Guide scaling with workload signals and latency targets.</a:t>
            </a:r>
          </a:p>
        </p:txBody>
      </p:sp>
      <p:sp>
        <p:nvSpPr>
          <p:cNvPr id="16" name="Rounded Rectangle 15"/>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Validate your model, hardware, traffic and SLOs. MRI policy integration still needs work.</a:t>
            </a:r>
          </a:p>
        </p:txBody>
      </p:sp>
      <p:sp>
        <p:nvSpPr>
          <p:cNvPr id="18" name="TextBox 1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8975329-D20F-58E0-8E2C-5B0A9B26DC8D}" type="slidenum">
              <a:rPr lang="en-US"/>
              <a:t>53</a:t>
            </a:fld>
            <a:endParaRPr lang="en-US"/>
          </a:p>
        </p:txBody>
      </p:sp>
      <p:sp>
        <p:nvSpPr>
          <p:cNvPr id="20"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capabilities</a:t>
            </a:r>
          </a:p>
        </p:txBody>
      </p:sp>
    </p:spTree>
    <p:extLst>
      <p:ext uri="{BB962C8B-B14F-4D97-AF65-F5344CB8AC3E}">
        <p14:creationId xmlns:p14="http://schemas.microsoft.com/office/powerpoint/2010/main" val="1046456089"/>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9832</TotalTime>
  <Words>14507</Words>
  <Application>Microsoft Office PowerPoint</Application>
  <PresentationFormat>On-screen Show (16:9)</PresentationFormat>
  <Paragraphs>1436</Paragraphs>
  <Slides>53</Slides>
  <Notes>53</Notes>
  <HiddenSlides>12</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53</vt:i4>
      </vt:variant>
    </vt:vector>
  </HeadingPairs>
  <TitlesOfParts>
    <vt:vector size="60" baseType="lpstr">
      <vt:lpstr>Arial</vt:lpstr>
      <vt:lpstr>Calibri</vt:lpstr>
      <vt:lpstr>Consolas</vt:lpstr>
      <vt:lpstr>Courier New</vt:lpstr>
      <vt:lpstr>IBM Plex Sans</vt:lpstr>
      <vt:lpstr>IBM Plex Sans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Production Distributed Inference Architecture</vt:lpstr>
      <vt:lpstr>PowerPoint Presentation</vt:lpstr>
      <vt:lpstr>llm-d: a distributed inference stack</vt:lpstr>
      <vt:lpstr>llm-d: capabilities for distributed inference</vt:lpstr>
      <vt:lpstr>PowerPoint Presentation</vt:lpstr>
      <vt:lpstr>What is KAITO (Kubernetes AI Toolchain Operator)?</vt:lpstr>
      <vt:lpstr>KAITO workload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KAITO autoscaling: keda-kaito-scaler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connects routing, prefill and decode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Alex Contini</dc:creator>
  <cp:lastModifiedBy>Andy Zhang (OSTC)</cp:lastModifiedBy>
  <cp:revision>419</cp:revision>
  <dcterms:created xsi:type="dcterms:W3CDTF">2019-07-29T21:37:05Z</dcterms:created>
  <dcterms:modified xsi:type="dcterms:W3CDTF">2026-10-29T09:46:07Z</dcterms:modified>
</cp:coreProperties>
</file>