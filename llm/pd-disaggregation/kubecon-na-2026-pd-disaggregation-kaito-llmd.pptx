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68" r:id="rId14"/>
    <p:sldId id="269" r:id="rId15"/>
    <p:sldId id="2147375737" r:id="rId16"/>
    <p:sldId id="2147375738" r:id="rId17"/>
    <p:sldId id="2147375701" r:id="rId18"/>
    <p:sldId id="278" r:id="rId19"/>
    <p:sldId id="2147375718" r:id="rId20"/>
    <p:sldId id="2147375739" r:id="rId21"/>
    <p:sldId id="270" r:id="rId22"/>
    <p:sldId id="2147375706" r:id="rId23"/>
    <p:sldId id="256" r:id="rId24"/>
    <p:sldId id="257" r:id="rId25"/>
    <p:sldId id="2147375721" r:id="rId26"/>
    <p:sldId id="2147375722" r:id="rId27"/>
    <p:sldId id="2147375723" r:id="rId28"/>
    <p:sldId id="2147375724" r:id="rId29"/>
    <p:sldId id="2147375725" r:id="rId30"/>
    <p:sldId id="2147375714" r:id="rId31"/>
    <p:sldId id="295" r:id="rId32"/>
    <p:sldId id="277" r:id="rId33"/>
    <p:sldId id="2147375729" r:id="rId34"/>
    <p:sldId id="273" r:id="rId35"/>
    <p:sldId id="279" r:id="rId36"/>
    <p:sldId id="280" r:id="rId37"/>
    <p:sldId id="281" r:id="rId38"/>
    <p:sldId id="287" r:id="rId39"/>
    <p:sldId id="282" r:id="rId40"/>
    <p:sldId id="283" r:id="rId41"/>
    <p:sldId id="285" r:id="rId42"/>
    <p:sldId id="301" r:id="rId43"/>
    <p:sldId id="2147375736" r:id="rId44"/>
    <p:sldId id="266" r:id="rId45"/>
    <p:sldId id="2147375719"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Speaker script</a:t>
            </a:r>
          </a:p>
          <a:p>
            <a:r>
              <a:rPr lang="en-US" sz="1200"/>
              <a:t>中文</a:t>
            </a:r>
          </a:p>
          <a:p>
            <a:r>
              <a:rPr lang="en-US" sz="1200"/>
              <a:t>大家好，欢迎来到 Cloud Native AI and Inference Day。今天我们想聊一个很实际的问题：大模型开始回答之前，和开始回答之后，做的其实是两种不太一样的工作。如果把它们放在同一组 GPU 上，我们怎么兼顾响应速度和资源利用？如果把它们拆开，又该怎么在 Kubernetes 上管理？</a:t>
            </a:r>
          </a:p>
          <a:p>
            <a:r>
              <a:rPr lang="en-US" sz="1200"/>
              <a:t>接下来，我们会从一次请求的执行过程讲起，再介绍 KAITO 和 llm-d 如何配合。重点不是为了拆分而拆分，而是理解什么时候拆分值得，以及拆分之后需要承担哪些成本。</a:t>
            </a:r>
          </a:p>
          <a:p>
            <a:r>
              <a:rPr lang="en-US" sz="1200"/>
              <a:t/>
            </a:r>
          </a:p>
          <a:p>
            <a:r>
              <a:rPr lang="en-US" sz="1200"/>
              <a:t>English</a:t>
            </a:r>
          </a:p>
          <a:p>
            <a:r>
              <a:rPr lang="en-US" sz="1200"/>
              <a:t>Welcome to Cloud Native AI and Inference Day. Today we want to tackle a practical question: the work an LLM does before it starts answering is different from the work it does while the answer is streaming. If both share the same GPUs, how do we balance responsiveness and capacity? And if we separate them, how do we operate that on Kubernetes?</a:t>
            </a:r>
          </a:p>
          <a:p>
            <a:r>
              <a:rPr lang="en-US" sz="1200"/>
              <a:t>We’ll start with a single request, then look at how KAITO and llm-d fit together. The goal is not separation for its own sake. It’s understanding when the split is useful, and what we take on when we make it.</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Speaker script</a:t>
            </a:r>
          </a:p>
          <a:p>
            <a:r>
              <a:rPr lang="en-US" sz="1200"/>
              <a:t>中文</a:t>
            </a:r>
          </a:p>
          <a:p>
            <a:r>
              <a:rPr lang="en-US" sz="1200"/>
              <a:t>我们的标题是：Prefill here, decode there。用直白一点的话说，就是一组 worker 负责处理提示词，另一组负责接着生成回答。后面我们会把这两部分简称为 P 和 D。</a:t>
            </a:r>
          </a:p>
          <a:p>
            <a:r>
              <a:rPr lang="en-US" sz="1200"/>
              <a:t>听起来只是把工作分到两边，但同一个请求还需要连续完成：谁来选 worker？前面算出的状态怎么交给后面？两边的容量又该怎么分别调整？这就是今天的主线。我们会用 KAITO 和 llm-d 的集成来讲清楚这些边界，也会区分现有能力与仍需设计和验证的扩缩容方案。</a:t>
            </a:r>
          </a:p>
          <a:p>
            <a:r>
              <a:rPr lang="en-US" sz="1200"/>
              <a:t/>
            </a:r>
          </a:p>
          <a:p>
            <a:r>
              <a:rPr lang="en-US" sz="1200"/>
              <a:t>English</a:t>
            </a:r>
          </a:p>
          <a:p>
            <a:r>
              <a:rPr lang="en-US" sz="1200"/>
              <a:t>Our title is ‘Prefill here, decode there.’ In plain terms, one group of workers processes the prompt, and another continues generating the answer. We’ll call those two roles P and D throughout the talk.</a:t>
            </a:r>
          </a:p>
          <a:p>
            <a:r>
              <a:rPr lang="en-US" sz="1200"/>
              <a:t>That sounds like a simple division of work. But it is still one request: somebody has to select the workers, hand over the state, and manage capacity on both sides. That’s the thread we’ll follow through the KAITO and llm-d integration. We’ll also distinguish the capabilities available today from the autoscaling patterns that still need integration work and validation.</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Speaker script</a:t>
            </a:r>
          </a:p>
          <a:p>
            <a:r>
              <a:rPr lang="en-US" sz="1200"/>
              <a:t>中文</a:t>
            </a:r>
          </a:p>
          <a:p>
            <a:r>
              <a:rPr lang="en-US" sz="1200"/>
              <a:t>先简单介绍一下我们。我们是微软的 Andy Zhang 和 Linbo He，都是 Principal Software Engineer，也都是 KAITO 的维护者。Andy 同时参与 CSI 驱动的维护，Linbo 也是 OpenYurt 的维护者。</a:t>
            </a:r>
          </a:p>
          <a:p>
            <a:r>
              <a:rPr lang="en-US" sz="1200"/>
              <a:t>所以，我们今天会比较关注平台工程师的视角：不只是模型能不能跑起来，还包括资源由谁管理、组件之间怎么配合，以及负载变化以后系统怎么继续保持一致。页面上有我们的 GitHub 账号，大家可以通过项目和后续讨论继续交流。</a:t>
            </a:r>
          </a:p>
          <a:p>
            <a:r>
              <a:rPr lang="en-US" sz="1200"/>
              <a:t/>
            </a:r>
          </a:p>
          <a:p>
            <a:r>
              <a:rPr lang="en-US" sz="1200"/>
              <a:t>English</a:t>
            </a:r>
          </a:p>
          <a:p>
            <a:r>
              <a:rPr lang="en-US" sz="1200"/>
              <a:t>We’re Andy Zhang and Linbo He, both principal software engineers at Microsoft and maintainers of KAITO. Andy also maintains CSI drivers, and Linbo is an OpenYurt maintainer.</a:t>
            </a:r>
          </a:p>
          <a:p>
            <a:r>
              <a:rPr lang="en-US" sz="1200"/>
              <a:t>That gives you a sense of our perspective today. We care not only about getting a model to run, but also about who manages the resources, how the components fit together, and what happens when the workload changes. Our GitHub handles are here if you’d like to continue the conversation through the projects afterward.</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Speaker script</a:t>
            </a:r>
          </a:p>
          <a:p>
            <a:r>
              <a:rPr lang="en-US" sz="1200"/>
              <a:t>中文</a:t>
            </a:r>
          </a:p>
          <a:p>
            <a:r>
              <a:rPr lang="en-US" sz="1200"/>
              <a:t>今天的内容按一条线展开。先看一次推理请求：prefill 和 decode 分别在做什么，以及用户感受到的两种延迟。接着讨论为什么要拆分，也把传输和运维成本一起摆出来。</a:t>
            </a:r>
          </a:p>
          <a:p>
            <a:r>
              <a:rPr lang="en-US" sz="1200"/>
              <a:t>有了这个背景，再介绍 llm-d 和 KAITO 各自负责什么，然后沿着请求路径，看角色拓扑、路由和 KV 状态传输怎样接起来。最后讨论按角色扩缩容：该看什么信号、谁来修改副本数，以及哪些保护措施不能省。结束前，我们会介绍后续方向和可以继续实践的资源。</a:t>
            </a:r>
          </a:p>
          <a:p>
            <a:r>
              <a:rPr lang="en-US" sz="1200"/>
              <a:t/>
            </a:r>
          </a:p>
          <a:p>
            <a:r>
              <a:rPr lang="en-US" sz="1200"/>
              <a:t>English</a:t>
            </a:r>
          </a:p>
          <a:p>
            <a:r>
              <a:rPr lang="en-US" sz="1200"/>
              <a:t>We’ll build this up in a few steps. First, we’ll follow an inference request and define prefill, decode, and the latency measures users actually experience. Then we’ll ask why we might separate the phases, including the transfer and operational costs.</a:t>
            </a:r>
          </a:p>
          <a:p>
            <a:r>
              <a:rPr lang="en-US" sz="1200"/>
              <a:t>With that context, we’ll introduce llm-d and KAITO and clarify what each owns. Then we’ll follow the topology, routing, and KV handoff through the integration. Finally, we’ll look at scaling each role: which signals to use, who owns the replica count, and what safeguards are needed. We’ll close with future directions and resources for trying the approach.</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先看模型说出第一个字之前发生了什么。这里的提示词是“What does Kubernetes do?”。为了容易看懂，我们把每个词和标点各画成一个 token，共五个位置；真实模型的分词不一定是这样。</a:t>
            </a:r>
          </a:p>
          <a:p>
            <a:r>
              <a:rPr lang="en-US" sz="1200"/>
              <a:t>Prefill 会一起处理这些提示词位置，但这里的“一起”不代表能看未来。它仍然遵守因果注意力：每个位置只能关注自己和前面的位置。计算过程中，模型会保存各层注意力的 key 和 value，也就是我们后面一直会说的 KV cache。它保存的是已处理位置的注意力状态，不是简单存一份提示词文本。</a:t>
            </a:r>
          </a:p>
          <a:p>
            <a:r>
              <a:rPr lang="en-US" sz="1200"/>
              <a:t>最后一个提示词位置产生用于选择输出的分数，这里选出的第一个 token 是“Kubernetes”。注意这个小细节：选出它，不等于已经把它自己的 KV 写入缓存。只有下一步真正把它作为输入处理时，才会生成并追加它的 KV。接下来就进入 decode。</a:t>
            </a:r>
          </a:p>
          <a:p>
            <a:r>
              <a:rPr lang="en-US" sz="1200"/>
              <a:t/>
            </a:r>
          </a:p>
          <a:p>
            <a:r>
              <a:rPr lang="en-US" sz="1200"/>
              <a:t>English</a:t>
            </a:r>
          </a:p>
          <a:p>
            <a:r>
              <a:rPr lang="en-US" sz="1200"/>
              <a:t>Let’s start before the model says anything. Our prompt is ‘What does Kubernetes do?’ We’ve drawn one word per token, plus punctuation, so there are five positions. That’s a teaching example, not a real tokenizer’s output.</a:t>
            </a:r>
          </a:p>
          <a:p>
            <a:r>
              <a:rPr lang="en-US" sz="1200"/>
              <a:t>Prefill processes those prompt positions together, but it still uses causal attention: each position can attend only to itself and earlier positions. As the model runs, it saves the attention keys and values for the processed positions at each layer. That’s the KV cache—not just a saved copy of the prompt text, but attention state we can reuse.</a:t>
            </a:r>
          </a:p>
          <a:p>
            <a:r>
              <a:rPr lang="en-US" sz="1200"/>
              <a:t>The final prompt position produces the scores used to select the first output token, ‘Kubernetes.’ There’s an important detail here: selecting that token does not yet cache its own keys and values. Those are created when the token is consumed as the next input. That takes us into decode.</a:t>
            </a:r>
          </a:p>
          <a:p>
            <a:r>
              <a:rPr lang="en-US" sz="1200"/>
              <a:t/>
            </a:r>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现在我们已经选出了“Kubernetes”，接下来要让回答继续。看表格第一行：decode 把“Kubernetes”作为输入，读取前面已经缓存的 KV，追加这个输入 token 自己的 KV，然后选出下一个 token：“helps”。第二行再把“helps”作为输入，选出“teams”，之后不断重复。</a:t>
            </a:r>
          </a:p>
          <a:p>
            <a:r>
              <a:rPr lang="en-US" sz="1200"/>
              <a:t>所以这里有两个容易混淆的动作：消费一个 token，和选出下一个 token。缓存里追加的是刚刚被消费的那个 token 的状态，而不是刚选出的那个。之前的 KV 可以复用，不需要每一步重新计算整个提示词。</a:t>
            </a:r>
          </a:p>
          <a:p>
            <a:r>
              <a:rPr lang="en-US" sz="1200"/>
              <a:t>下面的时间线换成用户视角。从发出请求到收到“Kubernetes”，是首 token 延迟；之后每两个 token 到达之间的间隔，是逐 token 延迟。图中的长度不代表实际耗时，但它说明了为什么“很快开始回答”和“回答过程很流畅”是两个不同的目标。</a:t>
            </a:r>
          </a:p>
          <a:p>
            <a:r>
              <a:rPr lang="en-US" sz="1200"/>
              <a:t/>
            </a:r>
          </a:p>
          <a:p>
            <a:r>
              <a:rPr lang="en-US" sz="1200"/>
              <a:t>English</a:t>
            </a:r>
          </a:p>
          <a:p>
            <a:r>
              <a:rPr lang="en-US" sz="1200"/>
              <a:t>We’ve selected ‘Kubernetes.’ How does the answer continue? In the first row, decode consumes ‘Kubernetes,’ reads the cached history, appends the keys and values for that input token, and selects ‘helps.’ The next row consumes ‘helps’ and selects ‘teams.’ We repeat that process until the answer is complete.</a:t>
            </a:r>
          </a:p>
          <a:p>
            <a:r>
              <a:rPr lang="en-US" sz="1200"/>
              <a:t>Keep those two actions separate: consuming a token and selecting the next one. The cache grows with the token we just consumed, not the token we just selected. And we reuse the previous KV state rather than recomputing the whole prompt at every step.</a:t>
            </a:r>
          </a:p>
          <a:p>
            <a:r>
              <a:rPr lang="en-US" sz="1200"/>
              <a:t>The timeline below switches to the client’s view. The wait from sending the request to receiving ‘Kubernetes’ is time to first token. The gaps between later arrivals are inter-token latency. These are schematic, not measured timings. They show why starting an answer quickly and keeping it flowing smoothly are two different goals.</a:t>
            </a:r>
          </a:p>
          <a:p>
            <a:r>
              <a:rPr lang="en-US" sz="1200"/>
              <a:t/>
            </a:r>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把刚才的过程连起来，就是上面这条链路：提示词进入，处理尚未缓存的输入，形成可复用的 KV 状态，再继续生成输出。这里我们关心的，不只是总共能生成多少 token，还包括用户实际等了多久。</a:t>
            </a:r>
          </a:p>
          <a:p>
            <a:r>
              <a:rPr lang="en-US" sz="1200"/>
              <a:t>左边是 time to first token，简称 TTFT，也就是首 token 延迟。Prefill 对它影响很大，但排队、协调和结果送达也会增加等待。右边是 inter-token latency，简称 ITL，关注回答开始以后 token 之间的间隔；time per output token，也就是 TPOT，则概括平均输出节奏。</a:t>
            </a:r>
          </a:p>
          <a:p>
            <a:r>
              <a:rPr lang="en-US" sz="1200"/>
              <a:t>Prefill 往往更受计算能力限制，decode 往往更受内存带宽限制，但这不是任何模型和负载下都成立的定律。我们的目标是满足延迟要求的有效请求吞吐，也就是 SLO goodput：每秒有多少请求真正达到了服务目标。单看 token 吞吐高，并不代表用户体验好。</a:t>
            </a:r>
          </a:p>
          <a:p>
            <a:r>
              <a:rPr lang="en-US" sz="1200"/>
              <a:t/>
            </a:r>
          </a:p>
          <a:p>
            <a:r>
              <a:rPr lang="en-US" sz="1200"/>
              <a:t>English</a:t>
            </a:r>
          </a:p>
          <a:p>
            <a:r>
              <a:rPr lang="en-US" sz="1200"/>
              <a:t>Put the phases together and we get the chain across the top: input arrives, uncached prompt positions are processed, KV state becomes available, and generation continues. But raw token throughput doesn’t tell us how that feels to a user.</a:t>
            </a:r>
          </a:p>
          <a:p>
            <a:r>
              <a:rPr lang="en-US" sz="1200"/>
              <a:t>On the left is time to first token, or TTFT: how long before the answer starts? Prefill is a major contributor, but queueing, coordination, and delivery also matter. On the right is inter-token latency, or ITL: how large are the gaps while the answer streams? Time per output token, or TPOT, summarizes the average output pace.</a:t>
            </a:r>
          </a:p>
          <a:p>
            <a:r>
              <a:rPr lang="en-US" sz="1200"/>
              <a:t>Prefill is often compute-bound; decode is often memory-bandwidth-bound. Those are useful tendencies, not universal rules. What we ultimately want is SLO goodput: requests per second that meet our service-level latency objectives. A higher token rate isn’t much help if more requests miss those targets. Now let’s see what happens when both phases share capacity.</a:t>
            </a:r>
          </a:p>
          <a:p>
            <a:r>
              <a:rPr lang="en-US" sz="1200"/>
              <a:t/>
            </a:r>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最直接的部署方式，就是左边这一组共享 GPU worker：每个 worker 既做 prefill，也做 decode。对于平台来说，它很好理解，一个部署、一套副本数，调度和运维的边界也比较少。这种简单性本身就是价值，不应该因为有了新架构就忽略它。</a:t>
            </a:r>
          </a:p>
          <a:p>
            <a:r>
              <a:rPr lang="en-US" sz="1200"/>
              <a:t>问题出现在流量结构发生变化的时候。比如，一批较长的新提示词进来，而已有请求还在持续生成。这时提示词处理和 token 生成会竞争同一组资源，可能影响已经开始的输出节奏。</a:t>
            </a:r>
          </a:p>
          <a:p>
            <a:r>
              <a:rPr lang="en-US" sz="1200"/>
              <a:t>如果我们通过增加副本应对，就同时增加了两种阶段的容量，即使真正紧张的只有一边。因此，这不只是单个 worker 怎么安排任务的问题，也是整个服务如何配置容量的问题。下一张图把这种执行上的竞争单独拿出来看。</a:t>
            </a:r>
          </a:p>
          <a:p>
            <a:r>
              <a:rPr lang="en-US" sz="1200"/>
              <a:t/>
            </a:r>
          </a:p>
          <a:p>
            <a:r>
              <a:rPr lang="en-US" sz="1200"/>
              <a:t>English</a:t>
            </a:r>
          </a:p>
          <a:p>
            <a:r>
              <a:rPr lang="en-US" sz="1200"/>
              <a:t>The simplest starting point is the shared GPU pool on the left. Every worker handles both prefill and decode. Operationally, that is attractive: one deployment, one replica count, and fewer moving parts. We shouldn’t dismiss that simplicity just because a more elaborate architecture exists.</a:t>
            </a:r>
          </a:p>
          <a:p>
            <a:r>
              <a:rPr lang="en-US" sz="1200"/>
              <a:t>The tension appears when the traffic mix changes. Imagine a burst of long prompts arriving while existing requests are already generating. Prompt processing and ongoing generation now compete for the same resources, and token delivery can become less steady.</a:t>
            </a:r>
          </a:p>
          <a:p>
            <a:r>
              <a:rPr lang="en-US" sz="1200"/>
              <a:t>If we add a replica, we add capacity for both phases together—even if only one is under pressure. So there are two questions here: how does a worker schedule competing work, and how do we size the service? The shared pool couples those decisions. Let’s zoom in on the execution conflict before we talk about separate capacity.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图中的 D 代表已有请求的一次 decode，P 代表一个新请求的 prefill。先看上面共享 GPU 的情况：decode 正在往前推进，这时插入一段 prefill，后面的 decode 就可能需要等待。用户看到的现象，就是回答已经开始，但中间突然停顿一下。</a:t>
            </a:r>
          </a:p>
          <a:p>
            <a:r>
              <a:rPr lang="en-US" sz="1200"/>
              <a:t>下面把 prefill 放到另一块 GPU 上，这样它执行时，就不再直接占用 decode 那块 GPU 的执行资源。已有请求可以继续生成，但新请求要接着 decode，仍然需要完成 KV 交接。我们消除的是一类直接干扰，不是所有延迟来源。</a:t>
            </a:r>
          </a:p>
          <a:p>
            <a:r>
              <a:rPr lang="en-US" sz="1200"/>
              <a:t>这是一张概念调度图，方块宽度和空隙都不是测量结果。共享部署也可以用分块 prefill 等方式缓解停顿，所以选择并不是只有“完全共享”或“立刻拆分”。接下来再看另一项差异：两种阶段究竟在批处理什么。</a:t>
            </a:r>
          </a:p>
          <a:p>
            <a:r>
              <a:rPr lang="en-US" sz="1200"/>
              <a:t/>
            </a:r>
          </a:p>
          <a:p>
            <a:r>
              <a:rPr lang="en-US" sz="1200"/>
              <a:t>English</a:t>
            </a:r>
          </a:p>
          <a:p>
            <a:r>
              <a:rPr lang="en-US" sz="1200"/>
              <a:t>Here, D is a decode step for ongoing work, and P is prefill for a new request. In the top row, decode is making progress on a shared GPU, then prefill takes an execution interval. Decode may have to wait. To the user, that can look like an answer that starts and then pauses.</a:t>
            </a:r>
          </a:p>
          <a:p>
            <a:r>
              <a:rPr lang="en-US" sz="1200"/>
              <a:t>In the lower rows, prefill runs on a separate GPU, removing that direct execution conflict from the decode GPU. Existing generation can continue. But the new request still needs a KV handoff before it can continue on decode. We’ve removed one source of interference, not every source of latency.</a:t>
            </a:r>
          </a:p>
          <a:p>
            <a:r>
              <a:rPr lang="en-US" sz="1200"/>
              <a:t>This is a conceptual schedule: block widths and gaps are not timings or benchmark results. Shared serving also has techniques such as chunked prefill to reduce pauses. So disaggregation is an option to evaluate, not the only remedy. Another reason to consider it is that the two phases batch different kinds of work.</a:t>
            </a:r>
          </a:p>
          <a:p>
            <a:r>
              <a:rPr lang="en-US" sz="1200"/>
              <a:t/>
            </a:r>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这里先看左边。Prefill 一次面对很多输入位置，可以把一个或多个请求的提示词位置放到一起处理，同时保持因果注意力。也就是说，长提示词本身就提供了不少可以并行处理的工作。</a:t>
            </a:r>
          </a:p>
          <a:p>
            <a:r>
              <a:rPr lang="en-US" sz="1200"/>
              <a:t>右边的普通 decode 不一样。每个活跃请求带着自己的历史 KV，再提供一个最新的输入 token。一次执行消费这个 token，并为这个请求选出下一个输出。所以 decode 的批处理并行度，主要来自多个同时活跃的请求，而不是同一个请求里很多尚未生成的位置。</a:t>
            </a:r>
          </a:p>
          <a:p>
            <a:r>
              <a:rPr lang="en-US" sz="1200"/>
              <a:t>这也解释了为什么批次不是越大越好。让更多请求一起 decode，可能提高资源利用率，但会占用更多 KV 内存，也可能拉大 token 之间的间隔。我们需要在延迟预算和 KV 内存预算内选择并发。两种阶段的工作单位不同，合理的批处理和容量设置自然也可能不同。</a:t>
            </a:r>
          </a:p>
          <a:p>
            <a:r>
              <a:rPr lang="en-US" sz="1200"/>
              <a:t/>
            </a:r>
          </a:p>
          <a:p>
            <a:r>
              <a:rPr lang="en-US" sz="1200"/>
              <a:t>English</a:t>
            </a:r>
          </a:p>
          <a:p>
            <a:r>
              <a:rPr lang="en-US" sz="1200"/>
              <a:t>Start on the left. Prefill has many input positions available, so it can batch prompt positions from one or more requests while preserving causal attention. A long prompt itself provides substantial parallel work.</a:t>
            </a:r>
          </a:p>
          <a:p>
            <a:r>
              <a:rPr lang="en-US" sz="1200"/>
              <a:t>Ordinary decode looks different. On the right, each active request brings its own KV history and one newest input token. The runtime consumes that token and selects the next output for that request. Much of decode’s parallelism therefore comes from advancing multiple active requests together, rather than processing many new positions within a single sequence.</a:t>
            </a:r>
          </a:p>
          <a:p>
            <a:r>
              <a:rPr lang="en-US" sz="1200"/>
              <a:t>That’s why a bigger decode batch is not automatically better. More concurrent requests may improve utilization, but they also need more KV memory and can increase the interval between tokens. We have to batch within both the latency budget and the memory budget. Once the units of work are different, it makes sense that the best capacity and batching choices may differ too.</a:t>
            </a:r>
          </a:p>
          <a:p>
            <a:r>
              <a:rPr lang="en-US" sz="1200"/>
              <a:t/>
            </a:r>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所以拆分的核心收益，不是多了两个部署，而是我们终于可以分别回答两个容量问题。左边如果是提示词处理压力大，就优先检查 prefill 容量和并行设置，保护首 token 延迟。右边如果是持续生成压力大，就重点看 decode 的批处理、带宽和活跃 KV 状态，保护输出节奏。</a:t>
            </a:r>
          </a:p>
          <a:p>
            <a:r>
              <a:rPr lang="en-US" sz="1200"/>
              <a:t>下面三组因素是一一对应的：延迟目标不同、资源需求不同，所以调整手段也可以不同。比如分别设置副本数、批处理策略，以及 tensor parallelism，也就是把模型计算分摊到多个 GPU 上的张量并行。这里不是说某个设置一定更快，而是让两边不必共用同一个折中方案。</a:t>
            </a:r>
          </a:p>
          <a:p>
            <a:r>
              <a:rPr lang="en-US" sz="1200"/>
              <a:t>当然，独立控制不是免费的：需要传输 KV、在两边放置模型权重，还要管理更多组件。只有这些针对不同阶段的收益足以覆盖额外成本，拆分才有意义。</a:t>
            </a:r>
          </a:p>
          <a:p>
            <a:r>
              <a:rPr lang="en-US" sz="1200"/>
              <a:t/>
            </a:r>
          </a:p>
          <a:p>
            <a:r>
              <a:rPr lang="en-US" sz="1200"/>
              <a:t>English</a:t>
            </a:r>
          </a:p>
          <a:p>
            <a:r>
              <a:rPr lang="en-US" sz="1200"/>
              <a:t>The payoff is not having two deployments. It’s being able to answer two capacity questions independently. If prompt processing is the bottleneck, we can focus on prefill capacity and parallelism to protect time to first token. If sustained generation is under pressure, we can focus on decode batching, bandwidth, and active KV state to protect token delivery.</a:t>
            </a:r>
          </a:p>
          <a:p>
            <a:r>
              <a:rPr lang="en-US" sz="1200"/>
              <a:t>The bottom row connects the reasoning: different latency targets, different resource needs, and therefore different configuration choices. Those choices include replica counts, batching policies, and tensor parallelism—distributing model computation across multiple GPUs. None is automatically better; separation simply removes the requirement that both phases share one compromise.</a:t>
            </a:r>
          </a:p>
          <a:p>
            <a:r>
              <a:rPr lang="en-US" sz="1200"/>
              <a:t>And that flexibility has a bill: KV transfer, additional copies of model weights, and more operational work. We should split only when phase-specific improvements cover those costs. Let’s make that new deployment boundary explicit.</a:t>
            </a:r>
          </a:p>
          <a:p>
            <a:r>
              <a:rPr lang="en-US" sz="1200"/>
              <a:t/>
            </a:r>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现在把独立容量落到部署上：左边是 prefill pool，按提示词压力配置；右边是 decode pool，按持续生成、带宽和活跃 KV 的需求配置。两边可以分别决定副本数和并行设置，但它们仍然是在合作完成同一个请求。</a:t>
            </a:r>
          </a:p>
          <a:p>
            <a:r>
              <a:rPr lang="en-US" sz="1200"/>
              <a:t>中间这条连接是拆分后新增的关键边界。对于需要远端 prefill 的请求，prefill 处理出的 KV 状态必须交给 decode 使用。这里要分清数据方向和发起方向：数据从 prefill 到 decode，但传输动作可以由 decode 发起读取。</a:t>
            </a:r>
          </a:p>
          <a:p>
            <a:r>
              <a:rPr lang="en-US" sz="1200"/>
              <a:t>这个交接包含传输和协调成本，不能只看两边 GPU 各自跑得快不快。也不是每个请求都必须走一次远端 prefill，具体路径还取决于缓存和路由选择。两池只是架构起点；要真正跑起来，我们还得把 Kubernetes 上的连接关系配对。</a:t>
            </a:r>
          </a:p>
          <a:p>
            <a:r>
              <a:rPr lang="en-US" sz="1200"/>
              <a:t/>
            </a:r>
          </a:p>
          <a:p>
            <a:r>
              <a:rPr lang="en-US" sz="1200"/>
              <a:t>English</a:t>
            </a:r>
          </a:p>
          <a:p>
            <a:r>
              <a:rPr lang="en-US" sz="1200"/>
              <a:t>Now turn independent capacity into a deployment. The prefill pool on the left is sized for prompt pressure. The decode pool on the right is sized for sustained generation, bandwidth, and active KV memory. Each can have its own replica count and parallelism, but they still cooperate on one request.</a:t>
            </a:r>
          </a:p>
          <a:p>
            <a:r>
              <a:rPr lang="en-US" sz="1200"/>
              <a:t>The connection between them is the new boundary. When a request uses remote prefill, the resulting KV state has to become available to decode. Distinguish the data direction from who initiates the operation: KV data moves from prefill to decode, even when decode initiates the read.</a:t>
            </a:r>
          </a:p>
          <a:p>
            <a:r>
              <a:rPr lang="en-US" sz="1200"/>
              <a:t>Transfer and coordination costs matter alongside execution time on each GPU. And remote prefill is not mandatory for every request; cache availability and routing can lead to other paths. Two pools are the architectural starting point. Making their contracts agree on Kubernetes is the next challenge.</a:t>
            </a:r>
          </a:p>
          <a:p>
            <a:r>
              <a:rPr lang="en-US" sz="1200"/>
              <a:t/>
            </a: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如果只是创建两个 Deployment，这个问题其实还没有解决。图中间仍然是一个模型服务，但周围几组约定必须同时成立，而且 Pod 重建或者副本变化以后也要继续成立。</a:t>
            </a:r>
          </a:p>
          <a:p>
            <a:r>
              <a:rPr lang="en-US" sz="1200"/>
              <a:t>路由这一边，需要发现合适的后端，并区分 prefill 和 decode。这里的 EPP 是 Endpoint Picker，也就是负责挑选服务端点的组件。Decode 侧的代理要根据选择结果协调请求。运行时之间还必须约定相容的 KV connector 和传输设置，否则选对了 worker，也不代表状态就能交过去。</a:t>
            </a:r>
          </a:p>
          <a:p>
            <a:r>
              <a:rPr lang="en-US" sz="1200"/>
              <a:t>再往下，还有标签、端口、健康检查和副本生命周期。这些配置单独看都不复杂，难的是它们之间要一直匹配。因此我们需要的不是另一份手工 YAML 清单，而是能维护这些关系的编排层。接下来先看看生态中有哪些不同的做法，再介绍我们选择的组合。</a:t>
            </a:r>
          </a:p>
          <a:p>
            <a:r>
              <a:rPr lang="en-US" sz="1200"/>
              <a:t/>
            </a:r>
          </a:p>
          <a:p>
            <a:r>
              <a:rPr lang="en-US" sz="1200"/>
              <a:t>English</a:t>
            </a:r>
          </a:p>
          <a:p>
            <a:r>
              <a:rPr lang="en-US" sz="1200"/>
              <a:t>Creating two Deployments does not finish the job. The center is still one model service, and the surrounding contracts all have to agree—not just initially, but as pods restart and replica counts change.</a:t>
            </a:r>
          </a:p>
          <a:p>
            <a:r>
              <a:rPr lang="en-US" sz="1200"/>
              <a:t>Routing must discover eligible backends and distinguish the roles. EPP means Endpoint Picker: the component that selects serving endpoints. The decode-side proxy then coordinates the request using that selection. Meanwhile, the runtimes need compatible KV connectors and transport settings. Selecting the right workers is not enough if they cannot exchange state.</a:t>
            </a:r>
          </a:p>
          <a:p>
            <a:r>
              <a:rPr lang="en-US" sz="1200"/>
              <a:t>Then there are labels, ports, readiness checks, and replica lifecycle. None is especially mysterious on its own. The difficult part is keeping their relationships consistent. That’s the orchestration gap: not another hand-written bundle of YAML, but something that maintains the contracts. Before introducing our composition, let’s place it alongside the other approaches in the ecosystem.</a:t>
            </a:r>
          </a:p>
          <a:p>
            <a:r>
              <a:rPr lang="en-US" sz="1200"/>
              <a:t/>
            </a: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P/D 并不是只有一种实现方式。这里列的是几条有代表性的开源路径，不是采用率排名，也不是互斥的产品清单。比如 Dynamo 提供集成式推理栈；llm-d 提供可以组合的路由和服务组件；AIBrix、KServe、Ray Serve 和 vLLM Production Stack，则通过不同的 API 和部署方式组织这些能力。</a:t>
            </a:r>
          </a:p>
          <a:p>
            <a:r>
              <a:rPr lang="en-US" sz="1200"/>
              <a:t>读这个表时，重点看中间和右边两列：请求怎样进入运行时，以及 Kubernetes 用户通过什么资源表达部署意图。一个很重要的事实是，声明式 API 和自定义资源早就存在了。我们的目标不是再宣称发明了第一个 P/D 自定义资源。</a:t>
            </a:r>
          </a:p>
          <a:p>
            <a:r>
              <a:rPr lang="en-US" sz="1200"/>
              <a:t>对于已经采用 KAITO 的团队，问题是怎样把成熟的组件接入现有运维模型，减少需要自己维护的连接工作。表中 llm-d 是 CNCF Sandbox 项目，KServe 是 Incubating 项目；这些项目定位也不是性能优劣的评分。下面我们先展开 llm-d。</a:t>
            </a:r>
          </a:p>
          <a:p>
            <a:r>
              <a:rPr lang="en-US" sz="1200"/>
              <a:t/>
            </a:r>
          </a:p>
          <a:p>
            <a:r>
              <a:rPr lang="en-US" sz="1200"/>
              <a:t>English</a:t>
            </a:r>
          </a:p>
          <a:p>
            <a:r>
              <a:rPr lang="en-US" sz="1200"/>
              <a:t>There isn’t just one open-source route to P/D. These are representative approaches, not an adoption ranking or a set of mutually exclusive products. Dynamo offers an integrated inference stack. llm-d provides composable serving and routing components. AIBrix, KServe, Ray Serve, and vLLM Production Stack organize the capabilities through different APIs and deployment models.</a:t>
            </a:r>
          </a:p>
          <a:p>
            <a:r>
              <a:rPr lang="en-US" sz="1200"/>
              <a:t>The useful comparison is in the middle and right columns: how does serving connect to routing, and what does the Kubernetes user declare? Declarative APIs and custom resources already exist. The opportunity here is not to claim the first P/D custom resource.</a:t>
            </a:r>
          </a:p>
          <a:p>
            <a:r>
              <a:rPr lang="en-US" sz="1200"/>
              <a:t>For teams already using KAITO, the question is how to integrate reusable components into that operating model with less wiring to maintain. llm-d is a CNCF Sandbox project, and KServe is Incubating; those labels are project context, not performance scores. Let’s look more closely at llm-d’s approach.</a:t>
            </a:r>
          </a:p>
          <a:p>
            <a:r>
              <a:rPr lang="en-US" sz="1200"/>
              <a:t/>
            </a:r>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中文</a:t>
            </a:r>
          </a:p>
          <a:p>
            <a:r>
              <a:rPr lang="en-US" sz="1200"/>
              <a:t>llm-d 在 2026 年 3 月加入 CNCF，目前处于 Sandbox 阶段。理解它最重要的一点，是它采用组合式架构：不是替换 vLLM、网关或者存储系统，而是把推理运行时、路由和 KV 传输这些组件接成 Kubernetes 上的分布式推理栈。</a:t>
            </a:r>
          </a:p>
          <a:p>
            <a:r>
              <a:rPr lang="en-US" sz="1200"/>
              <a:t>这页的三个关键词可以分别理解。模块化架构，让不同职责有清楚的边界；可扩展组件，让路由插件、运行时和 KV 传输能够配合，而不必把所有能力塞进一个组件；well-lit paths，则提供经过测试的部署路径，并把关键取舍讲清楚。</a:t>
            </a:r>
          </a:p>
          <a:p>
            <a:r>
              <a:rPr lang="en-US" sz="1200"/>
              <a:t>所以我们选择的不是一个什么都包办的黑盒，而是一套能组合、能解释职责的基础。参考路径可以减少从零摸索的工作，但仍然需要针对模型、硬件和负载验证。接下来看看这套基础覆盖哪些能力。</a:t>
            </a:r>
          </a:p>
          <a:p>
            <a:r>
              <a:rPr lang="en-US" sz="1200"/>
              <a:t/>
            </a:r>
          </a:p>
          <a:p>
            <a:r>
              <a:rPr lang="en-US" sz="1200"/>
              <a:t>English</a:t>
            </a:r>
          </a:p>
          <a:p>
            <a:r>
              <a:rPr lang="en-US" sz="1200"/>
              <a:t>llm-d joined the CNCF in March 2026 as a Sandbox project. The key idea is composition. It does not replace vLLM, gateways, or storage systems. It connects serving runtimes, routing, and KV transport into a distributed inference stack on Kubernetes.</a:t>
            </a:r>
          </a:p>
          <a:p>
            <a:r>
              <a:rPr lang="en-US" sz="1200"/>
              <a:t>The three ideas here explain that approach. A modular architecture gives components clear responsibilities. Extensible components let routing plugins, runtimes, and transport work together without putting everything into one component. And well-lit paths provide tested deployment patterns with the important trade-offs made explicit.</a:t>
            </a:r>
          </a:p>
          <a:p>
            <a:r>
              <a:rPr lang="en-US" sz="1200"/>
              <a:t>So this is not a black box that takes over every layer. It is a common foundation we can compose and reason about. Reference paths reduce the amount of exploration required to get started, but we still need to validate them for our model, hardware, and traffic. Next, let’s look at the capabilities that foundation brings together.</a:t>
            </a:r>
          </a:p>
          <a:p>
            <a:r>
              <a:rPr lang="en-US" sz="1200"/>
              <a:t/>
            </a:r>
          </a:p>
          <a:p>
            <a:r>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中文</a:t>
            </a:r>
          </a:p>
          <a:p>
            <a:r>
              <a:rPr lang="en-US" sz="1200"/>
              <a:t>这里的四项能力，分别解决不同层面的问题。第一项是 mixture of experts，也就是 MoE 模型的服务能力：通过专家并行，把专家计算分布到不同 GPU 上。第二项就是今天的主线，把 prefill 和 decode 分开配置，并在角色之间传递 KV 状态。</a:t>
            </a:r>
          </a:p>
          <a:p>
            <a:r>
              <a:rPr lang="en-US" sz="1200"/>
              <a:t>第三项是状态感知调度。选 worker 时，不只看它是否存活，还可以通过配置的路由插件考虑缓存和负载信号。第四项是容量控制：用负载信号和延迟目标指导扩缩容，但具体策略仍然取决于集成，不能理解成所有部署都自动获得同一套扩缩容方案。</a:t>
            </a:r>
          </a:p>
          <a:p>
            <a:r>
              <a:rPr lang="en-US" sz="1200"/>
              <a:t>左边的社区图提供的是项目发展背景，不是服务性能测试。这里要带走的是架构能力，而不是吞吐量承诺。尤其要区分两件事：把请求发给哪个 worker，和要增加多少 worker，是两个不同的决定。下面的 well-lit paths 会把这些能力整理成更容易选择的部署模式。</a:t>
            </a:r>
          </a:p>
          <a:p>
            <a:r>
              <a:rPr lang="en-US" sz="1200"/>
              <a:t/>
            </a:r>
          </a:p>
          <a:p>
            <a:r>
              <a:rPr lang="en-US" sz="1200"/>
              <a:t>English</a:t>
            </a:r>
          </a:p>
          <a:p>
            <a:r>
              <a:rPr lang="en-US" sz="1200"/>
              <a:t>These four areas address different problems. Mixture-of-experts, or MoE, serving uses expert parallelism to distribute expert computation across GPUs. Prefill/decode disaggregation separates the two phases and transfers KV state between their roles.</a:t>
            </a:r>
          </a:p>
          <a:p>
            <a:r>
              <a:rPr lang="en-US" sz="1200"/>
              <a:t>State-aware scheduling asks which worker is a good destination, using signals such as cache state and load through configured routing plugins. Capacity control asks how much serving capacity we need, using workload signals and latency objectives. The actual autoscaling policy remains integration-specific; this is not a promise that every deployment gets the same automatic controller.</a:t>
            </a:r>
          </a:p>
          <a:p>
            <a:r>
              <a:rPr lang="en-US" sz="1200"/>
              <a:t>The community graphic provides project history, not a serving benchmark. The takeaway is a set of architectural capabilities, not a throughput guarantee. In particular, choosing a worker and adding workers are different decisions. The well-lit paths turn these building blocks into deployment patterns that make those choices easier to understand.</a:t>
            </a:r>
          </a:p>
        </p:txBody>
      </p:sp>
    </p:spTree>
    <p:extLst>
      <p:ext uri="{BB962C8B-B14F-4D97-AF65-F5344CB8AC3E}">
        <p14:creationId xmlns:p14="http://schemas.microsoft.com/office/powerpoint/2010/main" val="3281151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中文</a:t>
            </a:r>
          </a:p>
          <a:p>
            <a:r>
              <a:rPr lang="en-US" sz="1200"/>
              <a:t>Well-lit path 可以理解为一条路标比较清楚、已经测试过的部署路线。它不是说任何环境照着做都一定达到某个性能数字，而是把组件怎样组合、解决什么问题、有哪些取舍，一起告诉平台团队。</a:t>
            </a:r>
          </a:p>
          <a:p>
            <a:r>
              <a:rPr lang="en-US" sz="1200"/>
              <a:t>这里四条路径分别回答四个问题。智能调度关心请求应该去哪台 worker；KV cache 管理关心可复用的状态应该放在哪里；宽专家并行关心大型 MoE 模型的专家计算怎样分布执行；P/D 拆分关心提示词处理和持续生成，应该采用怎样不同的容量和配置。</a:t>
            </a:r>
          </a:p>
          <a:p>
            <a:r>
              <a:rPr lang="en-US" sz="1200"/>
              <a:t>这些问题之间会有关联，但不必在第一次部署时把所有路径都一起引入。今天我们聚焦最后一条，先把角色拆分和交接讲清楚。接下来的问题是：有了 llm-d 的服务组件和参考路径，谁来把它们接进模型部署、节点和生命周期管理？这就轮到 KAITO 了。</a:t>
            </a:r>
          </a:p>
          <a:p>
            <a:r>
              <a:rPr lang="en-US" sz="1200"/>
              <a:t/>
            </a:r>
          </a:p>
          <a:p>
            <a:r>
              <a:rPr lang="en-US" sz="1200"/>
              <a:t>English</a:t>
            </a:r>
          </a:p>
          <a:p>
            <a:r>
              <a:rPr lang="en-US" sz="1200"/>
              <a:t>Think of a well-lit path as a tested deployment route with useful signposts. It tells a platform team how components fit together, which problem the pattern addresses, and what trade-offs remain. It is not a guarantee that following the route on any hardware will produce a particular performance number.</a:t>
            </a:r>
          </a:p>
          <a:p>
            <a:r>
              <a:rPr lang="en-US" sz="1200"/>
              <a:t>Each path here answers a different question. Intelligent scheduling asks where a request should run. KV cache management asks where reusable state should live. Wide expert parallelism asks how expert computation for a large MoE model should execute across GPUs. P/D disaggregation asks how prompt processing and generation should differ in capacity and configuration.</a:t>
            </a:r>
          </a:p>
          <a:p>
            <a:r>
              <a:rPr lang="en-US" sz="1200"/>
              <a:t>These concerns can interact, but we don’t need to introduce every path at once. Today we’re following the P/D path. With the serving components in place, the next question is how to connect them to model deployment and Kubernetes lifecycle management. That brings us to KAITO.</a:t>
            </a:r>
          </a:p>
        </p:txBody>
      </p:sp>
    </p:spTree>
    <p:extLst>
      <p:ext uri="{BB962C8B-B14F-4D97-AF65-F5344CB8AC3E}">
        <p14:creationId xmlns:p14="http://schemas.microsoft.com/office/powerpoint/2010/main" val="19007602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rPr lang="en-US" sz="1200"/>
              <a:t>Speaker script</a:t>
            </a:r>
          </a:p>
          <a:p>
            <a:r>
              <a:rPr lang="en-US" sz="1200"/>
              <a:t>中文</a:t>
            </a:r>
          </a:p>
          <a:p>
            <a:r>
              <a:rPr lang="en-US" sz="1200"/>
              <a:t>KAITO 是一个 CNCF Sandbox 项目，也是一套 Kubernetes operator，覆盖大模型推理、微调，以及 retrieval-augmented generation，也就是检索增强生成，通常简称 RAG。和刚才 llm-d 的服务组件视角不同，这里重点是模型工作负载怎样被部署和持续管理。</a:t>
            </a:r>
          </a:p>
          <a:p>
            <a:r>
              <a:rPr lang="en-US" sz="1200"/>
              <a:t>看这些能力，可以把它们理解成一条运维流程：先选择模型和 GPU 类型，根据模型内存需求进行节点供应；然后完成模型接入和本地缓存；运行以后，通过 InferenceSet 管理工作负载生命周期和滚动升级。KAITO 还可以通过 Kubernetes Event-driven Autoscaling，也就是 KEDA，接入基于负载的扩缩容。</a:t>
            </a:r>
          </a:p>
          <a:p>
            <a:r>
              <a:rPr lang="en-US" sz="1200"/>
              <a:t>这里要区分“有扩缩容机制”和“自动替你决定 P/D 的所有策略”。后面我们会专门讨论这个边界。先记住 KAITO 的角色：用声明式资源表达模型工作负载，并持续协调它的状态。下一页直接看一份 InferenceSet，看看使用者真正需要声明什么。</a:t>
            </a:r>
          </a:p>
          <a:p>
            <a:r>
              <a:rPr lang="en-US" sz="1200"/>
              <a:t/>
            </a:r>
          </a:p>
          <a:p>
            <a:r>
              <a:rPr lang="en-US" sz="1200"/>
              <a:t>English</a:t>
            </a:r>
          </a:p>
          <a:p>
            <a:r>
              <a:rPr lang="en-US" sz="1200"/>
              <a:t>KAITO is a CNCF Sandbox project and a suite of Kubernetes operators for LLM inference, fine-tuning, and retrieval-augmented generation, or RAG. Where llm-d gives us serving components and reference paths, KAITO focuses on deploying and maintaining the model workload.</a:t>
            </a:r>
          </a:p>
          <a:p>
            <a:r>
              <a:rPr lang="en-US" sz="1200"/>
              <a:t>You can read these capabilities as an operating workflow. Select the model and GPU type, provision nodes based on model memory needs, and handle model onboarding and local caching. Once it is running, InferenceSet manages workload lifecycle and rolling upgrades. KAITO also integrates with Kubernetes Event-driven Autoscaling, or KEDA, for workload scaling.</a:t>
            </a:r>
          </a:p>
          <a:p>
            <a:r>
              <a:rPr lang="en-US" sz="1200"/>
              <a:t>Having a scaling mechanism is not the same as automatically supplying every P/D scaling policy; we’ll return to that boundary later. For now, the important idea is declarative intent that is maintained over time, rather than a container launched once. Let’s look at an InferenceSet and see what the user actually declares.</a:t>
            </a:r>
          </a:p>
          <a:p>
            <a:r>
              <a:rPr lang="en-US" sz="1200"/>
              <a:t/>
            </a:r>
          </a:p>
          <a:p>
            <a:r>
              <a:t>References</a:t>
            </a:r>
          </a:p>
          <a:p>
            <a:r>
              <a:t>https://www.cncf.io/projects/kaito/</a:t>
            </a:r>
          </a:p>
          <a:p>
            <a:r>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Speaker script</a:t>
            </a:r>
          </a:p>
          <a:p>
            <a:r>
              <a:rPr lang="en-US" sz="1200"/>
              <a:t>中文</a:t>
            </a:r>
          </a:p>
          <a:p>
            <a:r>
              <a:rPr lang="en-US" sz="1200"/>
              <a:t>刚才介绍的是 KAITO 能帮我们管理什么，这里看一下用户实际要写什么。这个资源叫 InferenceSet。先看三个最重要的输入：服务哪个模型，用哪一种 GPU 实例，以及维持多少个服务副本。这里选择了一个 Qwen 模型、A100 实例类型，还有三个副本。标签则把这些工作负载关联起来，让控制器能够识别和管理它们。</a:t>
            </a:r>
          </a:p>
          <a:p>
            <a:r>
              <a:rPr lang="en-US" sz="1200"/>
              <a:t>这里的三个副本，不要直接理解成三张 GPU。副本描述的是服务容量的单位，而一个副本需要多少 GPU、多少节点，还要看模型和运行时配置。用户声明的是期望状态，KAITO 负责持续协调底层资源，而不是只在第一次创建时生成一份 YAML。那接下来的问题就是：选了模型和 GPU 类型之后，一个副本到底需要多大的资源？</a:t>
            </a:r>
          </a:p>
          <a:p>
            <a:r>
              <a:rPr lang="en-US" sz="1200"/>
              <a:t/>
            </a:r>
          </a:p>
          <a:p>
            <a:r>
              <a:rPr lang="en-US" sz="1200"/>
              <a:t>English</a:t>
            </a:r>
          </a:p>
          <a:p>
            <a:r>
              <a:rPr lang="en-US" sz="1200"/>
              <a:t>We have seen what KAITO manages. Here is what the user actually declares. The resource is an InferenceSet, and the three inputs to notice are the model, the GPU instance type, and the number of serving replicas. This example selects a Qwen model, an A100 instance type, and three replicas. The labels let the controllers identify and manage the associated workloads.</a:t>
            </a:r>
          </a:p>
          <a:p>
            <a:r>
              <a:rPr lang="en-US" sz="1200"/>
              <a:t>Three replicas does not automatically mean three GPUs. A replica is a unit of serving capacity; how many GPUs or nodes it needs depends on the model and runtime configuration. We declare the desired state, and KAITO keeps reconciling the underlying resources toward it. This is more than generating YAML once. The next question is how KAITO goes from a model and an instance type to the resources needed for that replica.</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Speaker script</a:t>
            </a:r>
          </a:p>
          <a:p>
            <a:r>
              <a:rPr lang="en-US" sz="1200"/>
              <a:t>中文</a:t>
            </a:r>
          </a:p>
          <a:p>
            <a:r>
              <a:rPr lang="en-US" sz="1200"/>
              <a:t>这里算的是初始节点规模，不是根据流量决定要几个服务副本。思路可以从显存预算开始：GPU 的全部显存不能都拿来装模型。按这页展示的计算方式，先取百分之八十四，再扣掉大约二点三 GiB 的固定开销，以及随最大上下文长度增长的 KV cache 预算。剩下的部分，才用来估算模型权重能放多少。</a:t>
            </a:r>
          </a:p>
          <a:p>
            <a:r>
              <a:rPr lang="en-US" sz="1200"/>
              <a:t>然后给权重加上百分之二的余量，除以单卡预算，向上取整得到 GPU 数量；再按每个节点有多少 GPU，换算成节点数，记录到 targetNodeCount。这里展示的多节点路径，是节点内张量并行、节点间流水线并行。具体系数和行为需要对应到实际 KAITO 和运行时版本；能装下模型，也不等于已经满足并发和延迟目标。理解了这个基础资源模型，我们再来看如何把它扩展成 prefill、decode 两种角色。</a:t>
            </a:r>
          </a:p>
          <a:p>
            <a:r>
              <a:rPr lang="en-US" sz="1200"/>
              <a:t/>
            </a:r>
          </a:p>
          <a:p>
            <a:r>
              <a:rPr lang="en-US" sz="1200"/>
              <a:t>English</a:t>
            </a:r>
          </a:p>
          <a:p>
            <a:r>
              <a:rPr lang="en-US" sz="1200"/>
              <a:t>This calculation sizes the initial nodes; it does not decide how many serving replicas traffic requires. Start with the memory budget. We cannot use all GPU memory for model weights. In the calculation shown here, we take eighty-four percent, subtract roughly 2.3 GiB of fixed overhead, and reserve KV cache space based on the maximum context length. What remains is the estimated weight budget per GPU.</a:t>
            </a:r>
          </a:p>
          <a:p>
            <a:r>
              <a:rPr lang="en-US" sz="1200"/>
              <a:t>Next, add the illustrated two-percent weight margin, divide by that budget, and round up to get the GPU count. Divide again by GPUs per node to get the node count, recorded as targetNodeCount. The multi-node path shown uses tensor parallelism within nodes and pipeline parallelism across them. These constants and behaviors need to match the installed KAITO and runtime versions. Fitting the model is a starting point, not proof of concurrency or latency capacity. Now we can extend that resource model to separate prefill and decode roles.</a:t>
            </a:r>
          </a:p>
        </p:txBody>
      </p:sp>
    </p:spTree>
    <p:extLst>
      <p:ext uri="{BB962C8B-B14F-4D97-AF65-F5344CB8AC3E}">
        <p14:creationId xmlns:p14="http://schemas.microsoft.com/office/powerpoint/2010/main" val="1449246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为什么在 KAITO 里面接入 llm-d？出发点很具体：已经使用 KAITO 的团队，希望继续沿用现有的 Kubernetes 管理方式，同时获得 P/D 的路由能力，而不是再维护一套重复的推理路由。上面三个框讲的是分工，不是请求依次经过的三个网络节点。</a:t>
            </a:r>
          </a:p>
          <a:p>
            <a:r>
              <a:rPr lang="en-US" sz="1200"/>
              <a:t>KAITO 通过 MultiRoleInference，也就是后面简称的 MRI，描述角色拓扑，再交给各角色的 InferenceSet 管理工作负载。llm-d 提供 Endpoint Picker 和 decode 侧的路由 sidecar，负责选工作节点、协调请求。真正执行模型的是 vLLM，KV 数据传输由 vLLM 与 NIXL 配合完成。</a:t>
            </a:r>
          </a:p>
          <a:p>
            <a:r>
              <a:rPr lang="en-US" sz="1200"/>
              <a:t>所以这是面向 KAITO 用户的集成选择，不是说其他平台都不如它。当前文档里的 MRI 仍是 alpha，支持范围包括 vLLM、Istio，以及适合 KV 传输的 GPU 连接条件。角色可以分别配置副本数，也不代表 MRI 已经自动提供了每个角色的扩缩容策略。</a:t>
            </a:r>
          </a:p>
          <a:p>
            <a:r>
              <a:rPr lang="en-US" sz="1200"/>
              <a:t/>
            </a:r>
          </a:p>
          <a:p>
            <a:r>
              <a:rPr lang="en-US" sz="1200"/>
              <a:t>English</a:t>
            </a:r>
          </a:p>
          <a:p>
            <a:r>
              <a:rPr lang="en-US" sz="1200"/>
              <a:t>Why integrate llm-d into KAITO? The goal is specific: teams already using KAITO want P/D routing without abandoning their Kubernetes operating model or maintaining a second inference router. These three boxes describe responsibilities, not three consecutive network hops.</a:t>
            </a:r>
          </a:p>
          <a:p>
            <a:r>
              <a:rPr lang="en-US" sz="1200"/>
              <a:t>KAITO uses MultiRoleInference, or MRI, to declare the role topology, with a child InferenceSet managing each role's workload. llm-d supplies the Endpoint Picker and the decode-side routing sidecar: one selects workers, and the other coordinates the request. vLLM executes the model, while vLLM and NIXL handle the KV transfer.</a:t>
            </a:r>
          </a:p>
          <a:p>
            <a:r>
              <a:rPr lang="en-US" sz="1200"/>
              <a:t>This is an integration choice for KAITO users, not a claim that every other platform is inferior. The documented MRI integration is still alpha, with vLLM, Istio, and suitable GPU connectivity in its current scope. And separate replica settings do not mean MRI already provides automatic scaling policies for each role. That distinction will matter when we reach autoscaling.</a:t>
            </a:r>
          </a:p>
          <a:p>
            <a:r>
              <a:rPr lang="en-US" sz="1200"/>
              <a:t/>
            </a:r>
          </a:p>
          <a:p>
            <a:r>
              <a:t>Technical reference (not part of the spoken script)</a:t>
            </a:r>
          </a:p>
          <a:p>
            <a:endParaRPr/>
          </a:p>
          <a:p>
            <a:r>
              <a:t>SPEAKER SCRIPT</a:t>
            </a:r>
          </a:p>
          <a:p>
            <a:endParaRPr/>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endParaRPr/>
          </a:p>
          <a:p>
            <a:r>
              <a:t>REFERENCE NOTES (NOT SPOKEN)</a:t>
            </a:r>
          </a:p>
          <a:p>
            <a:endParaRPr/>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endParaRP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中文</a:t>
            </a:r>
          </a:p>
          <a:p>
            <a:r>
              <a:rPr lang="en-US" sz="1200"/>
              <a:t>把视角稍微拉远，这张图可以当作排查问题时的职责地图。应用只看到一个推理 API，网关负责入口、认证和流量策略。再往下，KAITO 关心资源是否按声明创建和维护，llm-d 关心当前这个请求应该交给哪个服务端点。这里虽然放在同一层，但它们不是同一个控制过程。</a:t>
            </a:r>
          </a:p>
          <a:p>
            <a:r>
              <a:rPr lang="en-US" sz="1200"/>
              <a:t>真正的 prefill、decode 和 batching 都在 vLLM 里执行。KV 这一层也要分清：NIXL 解决状态传输，缓存系统可以解决复用或者卸载；并不是用了 NIXL，就自动拥有所有缓存能力。底下的 Kubernetes、GPU、网络和存储，则是这些组件工作的基础。</a:t>
            </a:r>
          </a:p>
          <a:p>
            <a:r>
              <a:rPr lang="en-US" sz="1200"/>
              <a:t>这不是一份每项都必须安装的清单，也不是请求从上到下逐层穿过的网络图。接下来我们只跟踪四件事：角色怎么声明，请求怎么选节点，KV 怎么移动，以及容量怎么调整。</a:t>
            </a:r>
          </a:p>
          <a:p>
            <a:r>
              <a:rPr lang="en-US" sz="1200"/>
              <a:t/>
            </a:r>
          </a:p>
          <a:p>
            <a:r>
              <a:rPr lang="en-US" sz="1200"/>
              <a:t>English</a:t>
            </a:r>
          </a:p>
          <a:p>
            <a:r>
              <a:rPr lang="en-US" sz="1200"/>
              <a:t>Zoom out for a moment. Think of this as a responsibility map you can use when troubleshooting. Applications see an inference API; the gateway handles ingress, authentication, and traffic policy. Below that, KAITO asks whether the declared resources exist and remain healthy, while llm-d asks which serving endpoint should handle this request. They share a row here, but they are different control activities.</a:t>
            </a:r>
          </a:p>
          <a:p>
            <a:r>
              <a:rPr lang="en-US" sz="1200"/>
              <a:t>The actual prefill, decode, and batching happen in vLLM. The KV row also contains two different concerns: NIXL supports state transfer, while cache systems can support reuse or offload. Using NIXL does not automatically provide every caching capability. Kubernetes, GPUs, networking, and storage support everything above them.</a:t>
            </a:r>
          </a:p>
          <a:p>
            <a:r>
              <a:rPr lang="en-US" sz="1200"/>
              <a:t>This is neither a mandatory installation checklist nor a diagram of requests crossing every layer. From here, we will follow four things: declaring roles, selecting workers, moving KV, and adjusting capacity.</a:t>
            </a:r>
          </a:p>
        </p:txBody>
      </p:sp>
    </p:spTree>
    <p:extLst>
      <p:ext uri="{BB962C8B-B14F-4D97-AF65-F5344CB8AC3E}">
        <p14:creationId xmlns:p14="http://schemas.microsoft.com/office/powerpoint/2010/main" val="417739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现在回到用户最关心的体验：后端拆成了两个角色，客户端要不要跟着改成两次调用？这里的目标是不需要。用户仍然声明一个模型服务，应用仍然访问一个端点；变化发生在服务内部，prefill 和 decode 可以有不同的放置方式和副本数。</a:t>
            </a:r>
          </a:p>
          <a:p>
            <a:r>
              <a:rPr lang="en-US" sz="1200"/>
              <a:t>右边这几层解释了怎么做到这一点。KAITO 保存并维护角色拓扑，InferencePool 把服务接入网关的推理路由契约，llm-d 选择具体工作节点，再由 sidecar 协调这一次请求。最后，vLLM 执行两个阶段，NIXL 支持运行时之间直接交换 KV。</a:t>
            </a:r>
          </a:p>
          <a:p>
            <a:r>
              <a:rPr lang="en-US" sz="1200"/>
              <a:t>所以底下这句话不是一条所有数据都要经过的流水线，而是一组相互配合的职责。资源声明、端点选择、HTTP 请求协调、KV 传输，各有自己的路径。下一页先把最容易混淆的端点选择单独拿出来看。</a:t>
            </a:r>
          </a:p>
          <a:p>
            <a:r>
              <a:rPr lang="en-US" sz="1200"/>
              <a:t/>
            </a:r>
          </a:p>
          <a:p>
            <a:r>
              <a:rPr lang="en-US" sz="1200"/>
              <a:t>English</a:t>
            </a:r>
          </a:p>
          <a:p>
            <a:r>
              <a:rPr lang="en-US" sz="1200"/>
              <a:t>Back to the user experience: if the backend splits into two roles, does the application now have to make two calls? The goal here is no. We still declare one model service, and the application still calls one endpoint. Inside that service, prefill and decode can have different placement and replica counts.</a:t>
            </a:r>
          </a:p>
          <a:p>
            <a:r>
              <a:rPr lang="en-US" sz="1200"/>
              <a:t>The right-hand side explains how. KAITO maintains the role topology. InferencePool connects the service to the gateway's inference-routing contract. llm-d selects the workers, and its sidecar coordinates the request. Finally, vLLM executes the phases, with NIXL supporting direct KV exchange between runtimes.</a:t>
            </a:r>
          </a:p>
          <a:p>
            <a:r>
              <a:rPr lang="en-US" sz="1200"/>
              <a:t>So the sentence at the bottom is a sequence of responsibilities, not a pipeline through which all data must travel. Resource declarations, endpoint selection, HTTP coordination, and KV transfer each have their own path. Let's isolate endpoint selection first, because that is an easy boundary to misunderstand.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这里的 Router，最关键的工作是回答一个问题：这个请求现在应该交给谁？网关通过 Gateway API Inference Extension，也就是 GWIE 的集成，向 Endpoint Picker 发起选择请求。EPP 运行配置好的插件链，返回 decode 工作节点，需要远端 prefill 时，也提供对应的 prefill 选择。</a:t>
            </a:r>
          </a:p>
          <a:p>
            <a:r>
              <a:rPr lang="en-US" sz="1200"/>
              <a:t>注意上面来回的箭头：出去的是选择请求，回来的是决策。推理请求并不是先穿过 EPP，再到模型服务；它是带外的决策组件，也不负责搬运 KV 数据。真正的 HTTP 服务路径会执行这个选择结果。</a:t>
            </a:r>
          </a:p>
          <a:p>
            <a:r>
              <a:rPr lang="en-US" sz="1200"/>
              <a:t>下面几张卡说明决策可以考虑什么：模型和角色是否匹配、配置的缓存感知逻辑、P/D 调度逻辑，以及以后通过插件扩展的策略。具体行为取决于启用了哪些插件，不是所有能力默认同时生效。KAITO 要做的是把这些能力正确接起来，而不是另外发明一个路由引擎。</a:t>
            </a:r>
          </a:p>
          <a:p>
            <a:r>
              <a:rPr lang="en-US" sz="1200"/>
              <a:t/>
            </a:r>
          </a:p>
          <a:p>
            <a:r>
              <a:rPr lang="en-US" sz="1200"/>
              <a:t>English</a:t>
            </a:r>
          </a:p>
          <a:p>
            <a:r>
              <a:rPr lang="en-US" sz="1200"/>
              <a:t>The router's key question here is: who should handle this request now? Through Gateway API Inference Extension integration, or GWIE, the gateway asks the Endpoint Picker for a selection. The EPP runs its configured plugin chain and returns a decode worker, plus a prefill selection when remote prefill is needed.</a:t>
            </a:r>
          </a:p>
          <a:p>
            <a:r>
              <a:rPr lang="en-US" sz="1200"/>
              <a:t>Notice the arrows going out and back. They carry a selection request and a decision. The inference request does not pass through the EPP on its way to the model. This is an out-of-band decision component, and it does not move KV data either. The HTTP serving path executes its decision.</a:t>
            </a:r>
          </a:p>
          <a:p>
            <a:r>
              <a:rPr lang="en-US" sz="1200"/>
              <a:t>The cards below describe possible inputs: model and role eligibility, configured cache-aware logic, P/D scheduling, and future policies through plugins. Actual behavior depends on the enabled configuration; these are not all automatically active. KAITO integrates that routing machinery rather than inventing another routing engine.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如果部署出来以后请求没有去到正确的节点，我们应该先查谁？这张图就是为了把这个问题拆开。第一层是 KAITO：角色拓扑有没有被正确协调，资源有没有生成，生命周期有没有对齐。第二层是 GWIE 的契约：InferencePool 有没有描述正确的后端集合，网关有没有接上端点选择机制。InferencePool 是 Kubernetes API 资源，不是又加了一层转发代理。</a:t>
            </a:r>
          </a:p>
          <a:p>
            <a:r>
              <a:rPr lang="en-US" sz="1200"/>
              <a:t>第三层才是 llm-d Router 的选择逻辑：面对已经发现的候选端点，插件为什么挑了这个工作节点？这和前面资源有没有创建成功，是不同的问题。</a:t>
            </a:r>
          </a:p>
          <a:p>
            <a:r>
              <a:rPr lang="en-US" sz="1200"/>
              <a:t>可以把它记成三个动作：KAITO 维护拓扑，GWIE 定义连接契约，llm-d 做端点选择。职责分开，不只是架构图更清楚，也让故障定位有明确入口。接下来把这三层放回实际请求路径，就能看到哪些箭头是控制，哪些是真正的数据。</a:t>
            </a:r>
          </a:p>
          <a:p>
            <a:r>
              <a:rPr lang="en-US" sz="1200"/>
              <a:t/>
            </a:r>
          </a:p>
          <a:p>
            <a:r>
              <a:rPr lang="en-US" sz="1200"/>
              <a:t>English</a:t>
            </a:r>
          </a:p>
          <a:p>
            <a:r>
              <a:rPr lang="en-US" sz="1200"/>
              <a:t>Suppose requests are reaching the wrong workers. Which component should we investigate first? This slide breaks that question into three parts. Start with KAITO: was the role topology reconciled correctly, were the resources created, and is their lifecycle consistent? Then check the GWIE contract: does InferencePool describe the intended backend set, and is the gateway connected to endpoint selection? InferencePool is a Kubernetes API resource, not another forwarding proxy.</a:t>
            </a:r>
          </a:p>
          <a:p>
            <a:r>
              <a:rPr lang="en-US" sz="1200"/>
              <a:t>Only then do we reach the llm-d Router's selection logic: given the discovered candidates, why did the plugins choose this worker? That is a different question from whether the resources were created correctly.</a:t>
            </a:r>
          </a:p>
          <a:p>
            <a:r>
              <a:rPr lang="en-US" sz="1200"/>
              <a:t>The shorthand is: KAITO maintains topology, GWIE defines the integration contract, and llm-d selects endpoints. These boundaries give us practical troubleshooting entry points. Now let's put them onto the request diagram and distinguish control arrows from actual data movement.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这张图不要一次追完所有箭头，我们分三遍看。先看最上面：用户声明 MultiRoleInference，KAITO 控制器维护子 InferenceSet、InferencePool 和运行时配置。这是控制面，表示资源关系，不是每次推理请求都要经过控制器。</a:t>
            </a:r>
          </a:p>
          <a:p>
            <a:r>
              <a:rPr lang="en-US" sz="1200"/>
              <a:t>第二遍看中间的服务路径。客户端调用网关，网关带外咨询 EPP，然后把 HTTP 请求发给选中的 decode pod 里的 routing sidecar。sidecar 按需要调用远端 prefill，再把请求交给本地 decode vLLM。这样客户端始终只面对一个入口。</a:t>
            </a:r>
          </a:p>
          <a:p>
            <a:r>
              <a:rPr lang="en-US" sz="1200"/>
              <a:t>第三遍只看 KV 连接。prefill 算出的状态直接交给 decode 运行时；在这里展示的流程中，是 decode 发起 NIXL 读取，但数据方向仍然是从 prefill 到 decode。KV 负载不经过网关、EPP，也不经过 routing sidecar。把这三条路径分清，后面的配置和排障就容易理解了。</a:t>
            </a:r>
          </a:p>
          <a:p>
            <a:r>
              <a:rPr lang="en-US" sz="1200"/>
              <a:t/>
            </a:r>
          </a:p>
          <a:p>
            <a:r>
              <a:rPr lang="en-US" sz="1200"/>
              <a:t>English</a:t>
            </a:r>
          </a:p>
          <a:p>
            <a:r>
              <a:rPr lang="en-US" sz="1200"/>
              <a:t>Rather than follow every arrow at once, make three passes through this diagram. First, the top band: the user declares MultiRoleInference, and KAITO maintains the child InferenceSets, InferencePool, and runtime wiring. That is the control plane. It describes resource relationships, not a controller that every inference request must visit.</a:t>
            </a:r>
          </a:p>
          <a:p>
            <a:r>
              <a:rPr lang="en-US" sz="1200"/>
              <a:t>Second, the serving path. The client calls the gateway, which consults the EPP out of band and sends the HTTP request to the selected decode pod's routing sidecar. The sidecar calls remote prefill when needed, then invokes local decode vLLM. The application still sees a single entry point.</a:t>
            </a:r>
          </a:p>
          <a:p>
            <a:r>
              <a:rPr lang="en-US" sz="1200"/>
              <a:t>Third, the KV connection. State produced by prefill goes directly to the decode runtime. In this flow, decode initiates the NIXL read, but the data still moves from prefill to decode. The KV payload bypasses the gateway, EPP, and routing sidecar. Keeping these three paths separate makes both configuration and troubleshooting much easier.</a:t>
            </a:r>
          </a:p>
          <a:p>
            <a:r>
              <a:rPr lang="en-US" sz="1200"/>
              <a:t/>
            </a:r>
          </a:p>
          <a:p>
            <a:r>
              <a:t>Technical reference (not part of the spoken script)</a:t>
            </a:r>
          </a:p>
          <a:p>
            <a:endParaRPr/>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前面的架构，在 API 里可以表达得很直接。左边这个 MultiRoleInference 只声明一次模型，然后给 prefill 和 decode 分别设置资源。示例里，prefill 是一个 A100 实例类型的副本，decode 是两个 H100 实例类型的副本。沿着中间的 reconcile 箭头看过去，右边仍然是一个逻辑服务和 InferencePool，下面才拆成两个角色的工作负载。</a:t>
            </a:r>
          </a:p>
          <a:p>
            <a:r>
              <a:rPr lang="en-US" sz="1200"/>
              <a:t>每个角色由自己的 InferenceSet 管理，因此后面容量变化时，也有独立的管理边界。图上的卡片表示服务副本，不是在数一台虚拟机里的 GPU。</a:t>
            </a:r>
          </a:p>
          <a:p>
            <a:r>
              <a:rPr lang="en-US" sz="1200"/>
              <a:t>这页要展示的是配置自由度，不是推荐大家照抄这个模型、SKU 或者一比二的比例。真正部署前，仍要验证模型可用性、安装的 API 版本、硬件兼容性以及 KV 传输路径。API 允许独立放置，性能是否合适，还得用实际工作负载来回答。</a:t>
            </a:r>
          </a:p>
          <a:p>
            <a:r>
              <a:rPr lang="en-US" sz="1200"/>
              <a:t/>
            </a:r>
          </a:p>
          <a:p>
            <a:r>
              <a:rPr lang="en-US" sz="1200"/>
              <a:t>English</a:t>
            </a:r>
          </a:p>
          <a:p>
            <a:r>
              <a:rPr lang="en-US" sz="1200"/>
              <a:t>The architecture has a fairly direct API expression. On the left, MultiRoleInference declares the model once, then gives prefill and decode separate resource settings. This example has one prefill replica on an A100 instance type and two decode replicas on an H100 instance type. Follow the reconcile arrow: the right side still has one logical service and InferencePool, with two role-specific workloads underneath.</a:t>
            </a:r>
          </a:p>
          <a:p>
            <a:r>
              <a:rPr lang="en-US" sz="1200"/>
              <a:t>Each role is managed through its own InferenceSet, giving it a separate capacity-management boundary. The cards represent serving replicas, not a count of GPUs inside a virtual machine.</a:t>
            </a:r>
          </a:p>
          <a:p>
            <a:r>
              <a:rPr lang="en-US" sz="1200"/>
              <a:t>This demonstrates configuration freedom, not a recommendation to copy this model, these SKUs, or the one-to-two ratio. A deployment still needs validation of model availability, the installed API version, hardware compatibility, and the KV-transfer path. The API permits independent placement; whether that placement performs well is a workload question.</a:t>
            </a:r>
          </a:p>
          <a:p>
            <a:r>
              <a:rPr lang="en-US" sz="1200"/>
              <a:t/>
            </a:r>
          </a:p>
          <a:p>
            <a:r>
              <a:t>Technical reference (not part of the spoken script)</a:t>
            </a:r>
          </a:p>
          <a:p>
            <a:endParaRPr/>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写完这份声明，KAITO 接下来做的不只是创建两组 pod。看左边的 prefill 分支，工作节点需要正确的角色标签和 NIXL 地址配置。中间的 decode 分支还需要注入 routing sidecar，并且让 sidecar、本地 vLLM 和 NIXL 的端口关系一致。右边的路由分支，则把 InferencePool、EPP 配置、Service 和目标端口连接起来。</a:t>
            </a:r>
          </a:p>
          <a:p>
            <a:r>
              <a:rPr lang="en-US" sz="1200"/>
              <a:t>这里最容易出问题的，往往不是缺一个大组件，而是一个小契约对不上：比如标签选不到后端，或者网关目标端口没有指向 sidecar。所以底下强调的是持续保持这些关系一致，包括角色身份、端口、资源归属和生命周期。</a:t>
            </a:r>
          </a:p>
          <a:p>
            <a:r>
              <a:rPr lang="en-US" sz="1200"/>
              <a:t>这棵树是职责地图，不表示每个对象都直接属于 MRI；有些工作会经过子控制器完成。它解决的是拓扑如何保持正确，不会因此自动产生扩缩容策略。资源接好之后，我们再跟着一个请求，看看这些配置是怎么一起工作的。</a:t>
            </a:r>
          </a:p>
          <a:p>
            <a:r>
              <a:rPr lang="en-US" sz="1200"/>
              <a:t/>
            </a:r>
          </a:p>
          <a:p>
            <a:r>
              <a:rPr lang="en-US" sz="1200"/>
              <a:t>English</a:t>
            </a:r>
          </a:p>
          <a:p>
            <a:r>
              <a:rPr lang="en-US" sz="1200"/>
              <a:t>After we submit that declaration, KAITO does more than create two groups of pods. The prefill branch needs the right role labels and NIXL address configuration. The decode branch also needs a routing sidecar, with consistent ports for the sidecar, local vLLM, and NIXL. The routing branch connects InferencePool, EPP configuration, Services, and target ports.</a:t>
            </a:r>
          </a:p>
          <a:p>
            <a:r>
              <a:rPr lang="en-US" sz="1200"/>
              <a:t>Failures here often come from a small contract mismatch rather than a missing major component: labels that select no backends, for example, or a gateway target port that does not reach the sidecar. That is why the bottom strip emphasizes keeping role identity, ports, ownership, and lifecycle aligned over time.</a:t>
            </a:r>
          </a:p>
          <a:p>
            <a:r>
              <a:rPr lang="en-US" sz="1200"/>
              <a:t>This tree is a responsibility map, not a claim that every object is directly owned by MRI; child controllers can handle parts of it. Reconciliation keeps the topology correct. It does not automatically supply scaling policy. With the resources connected, let's follow one request through them.</a:t>
            </a:r>
          </a:p>
          <a:p>
            <a:r>
              <a:rPr lang="en-US" sz="1200"/>
              <a:t/>
            </a:r>
          </a:p>
          <a:p>
            <a:r>
              <a:t>Technical reference (not part of the spoken script)</a:t>
            </a:r>
          </a:p>
          <a:p>
            <a:endParaRPr/>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现在顺着时间线看一次实际交互。客户端发出请求，网关完成端点选择后，把请求送到 decode sidecar，并在 header 里带上选中的 prefill 地址。EPP 的咨询过程在这张图里省略了，前面已经单独看过。</a:t>
            </a:r>
          </a:p>
          <a:p>
            <a:r>
              <a:rPr lang="en-US" sz="1200"/>
              <a:t>第三步，sidecar 向远端 prefill 发请求，把 max_tokens 设为一，让它完成提示词处理。第四步返回的是远端 KV 的参数，也就是后续读取需要的元数据，不是把整块 KV 塞进 HTTP 响应。接着 sidecar 调用本地 decode，带上 remote_prefill 标记，以及请求和内存块的标识。</a:t>
            </a:r>
          </a:p>
          <a:p>
            <a:r>
              <a:rPr lang="en-US" sz="1200"/>
              <a:t>真正的数据搬运发生在第六步：decode 通过 NIXL 发起读取，KV 从 prefill 运行时直接进入 decode 运行时。之后 decode 继续生成，结果再沿 sidecar、网关返回客户端。记住这个区别就够了：sidecar 协调的是调用和元数据，两个运行时之间传的才是 KV 负载。</a:t>
            </a:r>
          </a:p>
          <a:p>
            <a:r>
              <a:rPr lang="en-US" sz="1200"/>
              <a:t/>
            </a:r>
          </a:p>
          <a:p>
            <a:r>
              <a:rPr lang="en-US" sz="1200"/>
              <a:t>English</a:t>
            </a:r>
          </a:p>
          <a:p>
            <a:r>
              <a:rPr lang="en-US" sz="1200"/>
              <a:t>Now follow the interactions in time. The client sends a request. After endpoint selection, the gateway forwards it to the decode sidecar, carrying the selected prefill address in a header. The EPP consultation is omitted here because we covered it separately.</a:t>
            </a:r>
          </a:p>
          <a:p>
            <a:r>
              <a:rPr lang="en-US" sz="1200"/>
              <a:t>At step three, the sidecar calls remote prefill with max_tokens set to one to process the prompt. Step four returns remote KV parameters: metadata needed for the later read, not the whole KV payload inside an HTTP response. The sidecar then invokes local decode with the remote_prefill flag and the request and memory-block identifiers.</a:t>
            </a:r>
          </a:p>
          <a:p>
            <a:r>
              <a:rPr lang="en-US" sz="1200"/>
              <a:t>The actual state transfer happens at step six. Decode initiates a NIXL read, and KV moves directly from the prefill runtime to the decode runtime. Decode continues generation, and the response travels back through the sidecar and gateway. The distinction to remember is simple: the sidecar coordinates calls and metadata; the runtimes exchange the KV payload.</a:t>
            </a:r>
          </a:p>
          <a:p>
            <a:r>
              <a:rPr lang="en-US" sz="1200"/>
              <a:t/>
            </a:r>
          </a:p>
          <a:p>
            <a:r>
              <a:t>Technical reference (not part of the spoken script)</a:t>
            </a:r>
          </a:p>
          <a:p>
            <a:endParaRPr/>
          </a:p>
          <a:p>
            <a:r>
              <a:t>Based on llm-d-router docs/disaggregation.md#pd-sequence. Step 2 follows EPP selection; the EPP consultation is omitted from this sequence and shown on slide 26.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Speaker script</a:t>
            </a:r>
          </a:p>
          <a:p>
            <a:r>
              <a:rPr lang="en-US" sz="1200"/>
              <a:t>中文</a:t>
            </a:r>
          </a:p>
          <a:p>
            <a:r>
              <a:rPr lang="en-US" sz="1200"/>
              <a:t>刚才看的是一次请求的细节，这里把视角拉回整个服务。对客户端来说是一轮推理，对内部来说却可以拆成 prefill 和 decode 两个阶段的请求。路由在当前可用的工作节点中做动态选择，而专用的角色池让我们分别调整资源分配和调度方式。</a:t>
            </a:r>
          </a:p>
          <a:p>
            <a:r>
              <a:rPr lang="en-US" sz="1200"/>
              <a:t>这种分离给了我们更多控制手段：提示词压力上来时，可以关注 prefill；持续生成压力上来时，可以关注 decode。不必每次都把两种容量一起增加。但它不是自动满足 TTFT 和 ITL 的保证，队列、批处理以及两个阶段之间的交接仍然会影响结果。</a:t>
            </a:r>
          </a:p>
          <a:p>
            <a:r>
              <a:rPr lang="en-US" sz="1200"/>
              <a:t>所以接下来要追问的不是有没有画出两组 GPU，而是中间那份状态究竟怎么过去、代价有多大。sidecar 已经把交接协调起来了，下面看真正负责 KV 数据传输的 vLLM 和 NIXL。</a:t>
            </a:r>
          </a:p>
          <a:p>
            <a:r>
              <a:rPr lang="en-US" sz="1200"/>
              <a:t/>
            </a:r>
          </a:p>
          <a:p>
            <a:r>
              <a:rPr lang="en-US" sz="1200"/>
              <a:t>English</a:t>
            </a:r>
          </a:p>
          <a:p>
            <a:r>
              <a:rPr lang="en-US" sz="1200"/>
              <a:t>We have followed the details of one request. Now step back to the service view. What looks like one inference operation to the client can become separate internal requests for prefill and decode. Routing dynamically selects available workers, while dedicated role pools let us tune resource allocation and scheduling separately.</a:t>
            </a:r>
          </a:p>
          <a:p>
            <a:r>
              <a:rPr lang="en-US" sz="1200"/>
              <a:t>That separation gives us more control. When prompt pressure rises, we can focus on prefill; when sustained generation becomes the bottleneck, we can focus on decode. We do not always have to add both kinds of capacity together. But this is not an automatic guarantee of meeting TTFT and ITL targets. Queueing, batching, and the handoff still affect the result.</a:t>
            </a:r>
          </a:p>
          <a:p>
            <a:r>
              <a:rPr lang="en-US" sz="1200"/>
              <a:t>The next question is therefore not whether we have drawn two GPU pools, but how the state crosses between them and what that costs. The sidecar coordinates the handoff; vLLM and NIXL move the actual KV data.</a:t>
            </a:r>
          </a:p>
        </p:txBody>
      </p:sp>
    </p:spTree>
    <p:extLst>
      <p:ext uri="{BB962C8B-B14F-4D97-AF65-F5344CB8AC3E}">
        <p14:creationId xmlns:p14="http://schemas.microsoft.com/office/powerpoint/2010/main" val="169895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a:t>Speaker script</a:t>
            </a:r>
          </a:p>
          <a:p>
            <a:r>
              <a:rPr lang="en-US" sz="1200"/>
              <a:t>中文</a:t>
            </a:r>
          </a:p>
          <a:p>
            <a:r>
              <a:rPr lang="en-US" sz="1200"/>
              <a:t>这页只看数据，不再看 HTTP 请求。左边是 prefill 已经计算好的 prompt KV，右边的 decode 要复用这些状态，才能继续生成而不重算整段提示词。在这里的流程中，decode 可以发起读取，但数据方向始终是从左边的 prefill 到右边的 decode。网关、EPP 和 routing sidecar 都不在这条 KV 负载路径上。</a:t>
            </a:r>
          </a:p>
          <a:p>
            <a:r>
              <a:rPr lang="en-US" sz="1200"/>
              <a:t>NIXL 提供传输能力，具体怎么搬，取决于它下面的 transport backend 和实际硬件。GPU-direct RDMA 需要 GPU、网卡、网络以及后端共同支持，不能因为用了 NIXL 就默认已经获得。TCP 路径也不能叫作 RDMA。</a:t>
            </a:r>
          </a:p>
          <a:p>
            <a:r>
              <a:rPr lang="en-US" sz="1200"/>
              <a:t>所以部署时要测的是自己的 KV 传输延迟，以及是否存在中转、暂存或拷贝开销，而不是只确认组件启动了。到这里，请求能怎样跑通已经清楚了。下一步我们讨论流量变化时，到底应该给哪个角色增加容量。</a:t>
            </a:r>
          </a:p>
          <a:p>
            <a:r>
              <a:rPr lang="en-US" sz="1200"/>
              <a:t/>
            </a:r>
          </a:p>
          <a:p>
            <a:r>
              <a:rPr lang="en-US" sz="1200"/>
              <a:t>English</a:t>
            </a:r>
          </a:p>
          <a:p>
            <a:r>
              <a:rPr lang="en-US" sz="1200"/>
              <a:t>For this slide, ignore HTTP and follow only the data. On the left is the prompt KV already computed by prefill. Decode needs that state to continue generation without recomputing the entire prompt. Decode may initiate the read, but the data direction remains left to right, from prefill to decode. The gateway, EPP, and routing sidecar are not on this KV payload path.</a:t>
            </a:r>
          </a:p>
          <a:p>
            <a:r>
              <a:rPr lang="en-US" sz="1200"/>
              <a:t>NIXL provides transfer capabilities, while the transport backend and actual hardware determine how the bytes move. GPU-direct RDMA requires compatible GPUs, NICs, networking, and backend support. Using NIXL alone does not establish that capability, and a TCP path is not RDMA.</a:t>
            </a:r>
          </a:p>
          <a:p>
            <a:r>
              <a:rPr lang="en-US" sz="1200"/>
              <a:t>Measure KV-transfer latency and any staging or copy costs on the deployment itself, rather than just checking that the components started. We now know how a request runs. Next comes the operating question: when traffic changes, which role needs more capacity?</a:t>
            </a:r>
          </a:p>
        </p:txBody>
      </p:sp>
    </p:spTree>
    <p:extLst>
      <p:ext uri="{BB962C8B-B14F-4D97-AF65-F5344CB8AC3E}">
        <p14:creationId xmlns:p14="http://schemas.microsoft.com/office/powerpoint/2010/main" val="233665756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把两个角色拆开以后，扩容也应该回答两个不同的问题。prefill 这边，我们关心新的提示词是不是开始排队；decode 这边，我们关心正在生成的请求是否把持续服务能力压满。因此这里提出的起点，是用 vLLM 的 waiting requests 观察 prefill，用 running requests 观察 decode。</a:t>
            </a:r>
          </a:p>
          <a:p>
            <a:r>
              <a:rPr lang="en-US" sz="1200"/>
              <a:t>比如新提示词突然涌入，不一定意味着 decode 已经忙到需要扩容；反过来，一批长回答还在持续生成时，即使新请求不多，decode 仍可能很忙。两个信号分别接近两种压力，但都不是延迟目标本身，也不能脱离模型、上下文长度和批处理配置直接套阈值。</a:t>
            </a:r>
          </a:p>
          <a:p>
            <a:r>
              <a:rPr lang="en-US" sz="1200"/>
              <a:t>这里要划清能力边界：这是我们讨论的角色感知设计，不是 MRI 今天会自动替用户开启的功能。接下来先看已经存在的 KEDA 到 InferenceSet 的扩缩容机制，再看如何把它用于两个独立角色。</a:t>
            </a:r>
          </a:p>
          <a:p>
            <a:r>
              <a:rPr lang="en-US" sz="1200"/>
              <a:t/>
            </a:r>
          </a:p>
          <a:p>
            <a:r>
              <a:rPr lang="en-US" sz="1200"/>
              <a:t>English</a:t>
            </a:r>
          </a:p>
          <a:p>
            <a:r>
              <a:rPr lang="en-US" sz="1200"/>
              <a:t>Once we separate the roles, scaling should answer two different questions. On prefill, are new prompts starting to queue? On decode, are active generations putting pressure on sustained serving capacity? The proposed starting point is vLLM waiting requests for prefill and running requests for decode.</a:t>
            </a:r>
          </a:p>
          <a:p>
            <a:r>
              <a:rPr lang="en-US" sz="1200"/>
              <a:t>A burst of new prompts does not necessarily mean decode already needs more capacity. Conversely, a group of long answers can keep decode busy even when few new requests arrive. These signals describe different pressures, but neither is the latency objective itself. Their thresholds must be validated against the model, context lengths, and batching configuration.</a:t>
            </a:r>
          </a:p>
          <a:p>
            <a:r>
              <a:rPr lang="en-US" sz="1200"/>
              <a:t>There is an important capability boundary here: this is a role-aware design we are discussing, not something MRI automatically enables today. We will first establish the existing KEDA-to-InferenceSet scaling mechanism, then look at how it can support two separate role targets.</a:t>
            </a:r>
          </a:p>
          <a:p>
            <a:r>
              <a:rPr lang="en-US" sz="1200"/>
              <a:t/>
            </a: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先看已经有文档支持的部分。左边是触发条件，可以是时间表，比如工作时间增加容量，也可以是 Prometheus 查询出来的工作负载指标。KEDA 配合 HPA，把这些信号转成期望副本数，目标是右边 InferenceSet 的 scale 子资源。然后由 KAITO 把这个期望值协调成实际的服务资源。</a:t>
            </a:r>
          </a:p>
          <a:p>
            <a:r>
              <a:rPr lang="en-US" sz="1200"/>
              <a:t>这条链路里，我们不是手动增减某一个 pod，更不是随意移除张量并行中的一块 GPU。管理入口是 InferenceSet，底下的服务副本仍由相应控制器维护。下方的 waiting requests，就是文档里出现过的队列信号；KEDA 本身需要单独安装。</a:t>
            </a:r>
          </a:p>
          <a:p>
            <a:r>
              <a:rPr lang="en-US" sz="1200"/>
              <a:t>这说明我们已经有可复用的扩缩容执行机制，但执行机制不等于完整的 MRI 策略。两个角色用什么指标、谁拥有副本数、怎样安全交接，还需要专门的集成设计。下一页看另一种获取指标的方式。</a:t>
            </a:r>
          </a:p>
          <a:p>
            <a:r>
              <a:rPr lang="en-US" sz="1200"/>
              <a:t/>
            </a:r>
          </a:p>
          <a:p>
            <a:r>
              <a:rPr lang="en-US" sz="1200"/>
              <a:t>English</a:t>
            </a:r>
          </a:p>
          <a:p>
            <a:r>
              <a:rPr lang="en-US" sz="1200"/>
              <a:t>Start with what is already documented. On the left is a trigger: a schedule, such as adding capacity during working hours, or a workload metric obtained through a Prometheus query. KEDA works with the HPA to turn that signal into a desired replica count, targeting the InferenceSet's scale subresource. KAITO then reconciles that desired count into serving resources.</a:t>
            </a:r>
          </a:p>
          <a:p>
            <a:r>
              <a:rPr lang="en-US" sz="1200"/>
              <a:t>We are not manually adding or removing an arbitrary pod, and certainly not removing one GPU worker from a tensor-parallel group. The management entry point is InferenceSet; its controllers maintain the serving replicas underneath. Waiting requests is one documented queue signal. KEDA itself is installed separately.</a:t>
            </a:r>
          </a:p>
          <a:p>
            <a:r>
              <a:rPr lang="en-US" sz="1200"/>
              <a:t>So we have a reusable scaling mechanism, but a mechanism is not a complete MRI policy. Role-specific metrics, replica ownership, and safe handoff still need deliberate integration. The next slide shows another way to obtain the metrics.</a:t>
            </a:r>
          </a:p>
          <a:p>
            <a:r>
              <a:rPr lang="en-US" sz="1200"/>
              <a:t/>
            </a:r>
          </a:p>
          <a:p>
            <a:r>
              <a:t>Technical reference (not part of the spoken script)</a:t>
            </a:r>
          </a:p>
          <a:p>
            <a:endParaRPr/>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endParaRPr/>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sz="1200"/>
              <a:t>Speaker script</a:t>
            </a:r>
          </a:p>
          <a:p>
            <a:r>
              <a:rPr lang="en-US" sz="1200"/>
              <a:t>中文</a:t>
            </a:r>
          </a:p>
          <a:p>
            <a:r>
              <a:rPr lang="en-US" sz="1200"/>
              <a:t>如果只是为了扩缩容就要先维护一套 Prometheus，部署成本可能比较高。keda-kaito-scaler 提供的另一条路，是直接读取 vLLM 的指标。这样这条采集路径不依赖 Prometheus，但 KEDA 和底层的扩缩容控制链路仍然需要存在。</a:t>
            </a:r>
          </a:p>
          <a:p>
            <a:r>
              <a:rPr lang="en-US" sz="1200"/>
              <a:t>除了取数据，它还提供队列和延迟信号的配置，以及比较保守的副本变化控制。配置多个指标时，可以使用 AND 规则；要注意，这种组合比只要一个指标繁忙就扩容更保守，策略选错了，也可能把需要的扩容挡住。它不是自动知道哪个指标最适合当前模型。</a:t>
            </a:r>
          </a:p>
          <a:p>
            <a:r>
              <a:rPr lang="en-US" sz="1200"/>
              <a:t>具体配置要和安装的 scaler 版本对应。更重要的是，已有 InferenceSet 的这些能力，不代表把注解放到 MRI 上就会自动给两个子角色配置好。角色策略映射、子资源的显式启用，以及副本数所有权的交接，仍属于需要完成和验证的集成工作。</a:t>
            </a:r>
          </a:p>
          <a:p>
            <a:r>
              <a:rPr lang="en-US" sz="1200"/>
              <a:t/>
            </a:r>
          </a:p>
          <a:p>
            <a:r>
              <a:rPr lang="en-US" sz="1200"/>
              <a:t>English</a:t>
            </a:r>
          </a:p>
          <a:p>
            <a:r>
              <a:rPr lang="en-US" sz="1200"/>
              <a:t>Maintaining Prometheus just to drive scaling can add operational overhead. keda-kaito-scaler offers another path: reading metrics directly from vLLM. That collection path does not require Prometheus, but KEDA and the underlying scaling control chain are still required.</a:t>
            </a:r>
          </a:p>
          <a:p>
            <a:r>
              <a:rPr lang="en-US" sz="1200"/>
              <a:t>Beyond collecting data, the scaler provides configuration for queue and latency signals and conservative replica-change controls. Multiple metrics can use an AND rule. That is more conservative than scaling whenever any one metric is busy; the wrong combination can also block a needed scale-up. The scaler does not automatically know which signal best represents this model's capacity.</a:t>
            </a:r>
          </a:p>
          <a:p>
            <a:r>
              <a:rPr lang="en-US" sz="1200"/>
              <a:t>Configuration must match the installed scaler version. More importantly, these existing InferenceSet capabilities do not mean that placing annotations on MRI automatically configures both child roles. Mapping role policies, explicitly opting in MRI children, and handing over replica-count ownership remain integration work that must be implemented and validated.</a:t>
            </a:r>
          </a:p>
        </p:txBody>
      </p:sp>
    </p:spTree>
    <p:extLst>
      <p:ext uri="{BB962C8B-B14F-4D97-AF65-F5344CB8AC3E}">
        <p14:creationId xmlns:p14="http://schemas.microsoft.com/office/powerpoint/2010/main" val="31905224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有了这些基础，我们可以把目标设计画成两条反馈回路。上面一条观察 prefill 的 waiting requests，由这个角色自己的策略做决定，再通过 prefill InferenceSet 的 scale API 调整副本。下面一条观察 decode 的 running requests，独立决定是否调整 decode InferenceSet。它们共同服务同一个模型，但不必一起扩，也不必使用相同阈值。</a:t>
            </a:r>
          </a:p>
          <a:p>
            <a:r>
              <a:rPr lang="en-US" sz="1200"/>
              <a:t>关键是每个目标只能有一个明确的副本数控制者，不能让固定副本的协调逻辑和 autoscaler 互相覆盖。每条回路还要有稳定窗口，给模型加载和预热留时间；新 pod 启动了，不等于已经形成可服务的容量。缩容时，也必须考虑正在处理的请求和 KV 状态。</a:t>
            </a:r>
          </a:p>
          <a:p>
            <a:r>
              <a:rPr lang="en-US" sz="1200"/>
              <a:t>这是概念设计，不是已经默认开启的 MRI 行为。我们要复用已有的扩缩容机制，同时验证指标是否完整、新鲜、属于正确角色。接下来再进一步讨论：服务层怎样表达目标，而两个角色怎样各自管理容量。</a:t>
            </a:r>
          </a:p>
          <a:p>
            <a:r>
              <a:rPr lang="en-US" sz="1200"/>
              <a:t/>
            </a:r>
          </a:p>
          <a:p>
            <a:r>
              <a:rPr lang="en-US" sz="1200"/>
              <a:t>English</a:t>
            </a:r>
          </a:p>
          <a:p>
            <a:r>
              <a:rPr lang="en-US" sz="1200"/>
              <a:t>With those building blocks, we can draw the target design as two feedback loops. The upper loop observes prefill waiting requests, makes a role-specific decision, and changes replicas through the prefill InferenceSet's scale API. The lower loop observes decode running requests and independently adjusts the decode InferenceSet. They serve one model, but they do not have to scale together or use the same thresholds.</a:t>
            </a:r>
          </a:p>
          <a:p>
            <a:r>
              <a:rPr lang="en-US" sz="1200"/>
              <a:t>Each target needs one authoritative replica-count writer. A fixed-replica reconciler and an autoscaler must not keep overwriting each other. Each loop also needs stabilization and time for model loading and warm-up: a newly started pod is not automatically useful serving capacity. Scale-down must account for active requests and KV state.</a:t>
            </a:r>
          </a:p>
          <a:p>
            <a:r>
              <a:rPr lang="en-US" sz="1200"/>
              <a:t>This remains a conceptual design, not default MRI behavior. We want to reuse the existing mechanism while verifying complete, fresh, correctly scoped metrics. Next we can separate service-level objectives from the independent capacity decisions made for each role.</a:t>
            </a:r>
          </a:p>
          <a:p>
            <a:r>
              <a:rPr lang="en-US" sz="1200"/>
              <a:t/>
            </a:r>
          </a:p>
          <a:p>
            <a:r>
              <a:t>Technical reference (not part of the spoken script)</a:t>
            </a:r>
          </a:p>
          <a:p>
            <a:endParaRPr/>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前面把两个反馈环拆开了，这里再明确一个边界：服务目标可以统一表达，但容量要按角色分别管理。左边是服务希望达到的效果：prefill 关注首 token 等待时间，decode 关注后续 token 的输出节奏。中间的策略协调层，再把这些目标转换成两个独立的策略和扩缩容目标，而不是给整个服务一个共同的副本数。</a:t>
            </a:r>
          </a:p>
          <a:p>
            <a:r>
              <a:rPr lang="en-US" sz="1200"/>
              <a:t>这里说的一个副本，是一套能够完整提供推理服务的实例。如果模型采用张量并行，不能把其中一个 GPU worker 单独增减，就当成增加或减少了一份服务容量。同时，每个目标只能有一个权威的副本数写入方，避免固定副本协调器和自动扩缩容器互相覆盖。</a:t>
            </a:r>
          </a:p>
          <a:p>
            <a:r>
              <a:rPr lang="en-US" sz="1200"/>
              <a:t>这张图表达的是我们提出的设计边界。已有的 KEDA 到 InferenceSet 的扩缩容能力可以作为基础，但从 MRI 服务级策略自动生成角色策略，以及安全交接副本控制权，仍然需要集成工作，不能把它理解成已经交付的 MRI 自动扩缩容功能。</a:t>
            </a:r>
          </a:p>
          <a:p>
            <a:r>
              <a:rPr lang="en-US" sz="1200"/>
              <a:t/>
            </a:r>
          </a:p>
          <a:p>
            <a:r>
              <a:rPr lang="en-US" sz="1200"/>
              <a:t>English</a:t>
            </a:r>
          </a:p>
          <a:p>
            <a:r>
              <a:rPr lang="en-US" sz="1200"/>
              <a:t>We have separated the two feedback loops. Now let's make the policy boundary explicit. On the left, we express what the service needs: prefill should protect the wait for the first token, and decode should protect token delivery. Policy reconciliation translates that intent into separate policies and scale targets. It does not produce one shared replica count for the whole service.</a:t>
            </a:r>
          </a:p>
          <a:p>
            <a:r>
              <a:rPr lang="en-US" sz="1200"/>
              <a:t>The scaling unit is a complete serving replica. If a model uses tensor parallelism, removing one GPU worker from that group is not the same as removing one independent serving replica. Each target also needs one authoritative replica-count writer, so a fixed-replica reconciler and an autoscaler do not keep overwriting each other.</a:t>
            </a:r>
          </a:p>
          <a:p>
            <a:r>
              <a:rPr lang="en-US" sz="1200"/>
              <a:t>This is the proposed design boundary. Existing KEDA-to-InferenceSet scaling gives us a foundation. Projecting MRI-level intent into role policies, and safely handing over replica ownership, still require integration work; they are not capabilities this diagram claims already ship.</a:t>
            </a:r>
          </a:p>
          <a:p>
            <a:r>
              <a:rPr lang="en-US" sz="1200"/>
              <a:t/>
            </a:r>
          </a:p>
          <a:p>
            <a:r>
              <a:t>Technical reference (not part of the spoken script)</a:t>
            </a:r>
          </a:p>
          <a:p>
            <a:endParaRPr/>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把这个边界展开，就得到图里的两条独立控制回路。先看 prefill 这一行：采集 prefill 的 waiting requests，评估这个角色的压力，再调整它自己的服务副本。decode 这一行也是同样的结构，但输入换成 running requests，目标换成 decode 的 InferenceSet。图上的箭头是指标和决策的流向，不是推理请求经过扩缩容器的路径。</a:t>
            </a:r>
          </a:p>
          <a:p>
            <a:r>
              <a:rPr lang="en-US" sz="1200"/>
              <a:t>难点不只是读到一个数字。指标必须属于正确的角色，必要时要对重复的 engine 或 worker 序列去重，还要检查数据是否新鲜、覆盖是否完整。running requests 是并发负载的代理信号，不是 GPU 已经达到最大吞吐的证明。</a:t>
            </a:r>
          </a:p>
          <a:p>
            <a:r>
              <a:rPr lang="en-US" sz="1200"/>
              <a:t>另外，新建 Pod 不等于容量已经可用，模型加载完成、真正能够接收请求之后才算。对于缺失或无效的观测，我们要求暂停决策并报告问题，这个行为还需要端到端验证。记住两者的分工：路由决定请求去哪里，扩缩容决定有多少可用容量；这里描述的仍然是拟议的角色控制设计。</a:t>
            </a:r>
          </a:p>
          <a:p>
            <a:r>
              <a:rPr lang="en-US" sz="1200"/>
              <a:t/>
            </a:r>
          </a:p>
          <a:p>
            <a:r>
              <a:rPr lang="en-US" sz="1200"/>
              <a:t>English</a:t>
            </a:r>
          </a:p>
          <a:p>
            <a:r>
              <a:rPr lang="en-US" sz="1200"/>
              <a:t>Here is that boundary expanded into two feedback loops. Follow the prefill row: collect prefill waiting requests, evaluate pressure for that role, and adjust its serving replicas. The decode row has the same structure, but uses running requests and targets the decode InferenceSet. These arrows carry observations and decisions; inference requests do not pass through the autoscalers.</a:t>
            </a:r>
          </a:p>
          <a:p>
            <a:r>
              <a:rPr lang="en-US" sz="1200"/>
              <a:t>Reading a number is only the beginning. Samples must belong to the correct role, duplicate engine or worker series may need deduplication, and coverage and freshness must be checked. Running requests are a proxy for concurrency, not proof that the GPU has reached maximum throughput.</a:t>
            </a:r>
          </a:p>
          <a:p>
            <a:r>
              <a:rPr lang="en-US" sz="1200"/>
              <a:t>Also, a new pod is not useful capacity until its model is loaded and it can actually serve. Missing or invalid observations should hold decisions and surface the problem; that behavior needs end-to-end verification. Routing decides where a request goes. Autoscaling decides how much capacity is available. This remains the proposed role-control design, not a claim of automatic MRI support today.</a:t>
            </a:r>
          </a:p>
          <a:p>
            <a:r>
              <a:rPr lang="en-US" sz="1200"/>
              <a:t/>
            </a:r>
          </a:p>
          <a:p>
            <a:r>
              <a:t>Technical reference (not part of the spoken script)</a:t>
            </a:r>
          </a:p>
          <a:p>
            <a:endParaRPr/>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这段配置把前面的设计具体化，但它仍是提案，需要 MRI adapter 和子资源显式启用配合。左边 prefill 使用 waiting 指标，范围是一到八个副本；decode 使用 running 指标，范围是二到十六个。每个角色都只有一个指标，所以这里的 AND 只在角色内部生效，不是要求两个角色同时繁忙。右边 replicas 设为 null，表达的是交出固定副本控制权，不是单独修改这个字段就能完成交接。</a:t>
            </a:r>
          </a:p>
          <a:p>
            <a:r>
              <a:rPr lang="en-US" sz="1200"/>
              <a:t>从一个 prefill、两个 decode 副本开始。如果角色平均 waiting 是十二，超过八，就产生 prefill 扩容决策；decode 的 running 同样是十二，但处于四到二十四之间，所以保持不变。后面 running 超过二十四，decode 可以独立请求扩容。</a:t>
            </a:r>
          </a:p>
          <a:p>
            <a:r>
              <a:rPr lang="en-US" sz="1200"/>
              <a:t>再区分一下公式和实际动作：表达式输出二、零点五或一，原始目标是当前副本数乘以这个值再向上取整；每个冷却周期最多变化一个副本，是 HPA 行为策略的限制，不是公式本身。阈值仅供示例，决策也不会立即变成副本结果。就绪状态、上下限、冷却和稳定窗口都要检查，完整指标覆盖以及缺失不当作零的处理也仍需补齐。</a:t>
            </a:r>
          </a:p>
          <a:p>
            <a:r>
              <a:rPr lang="en-US" sz="1200"/>
              <a:t/>
            </a:r>
          </a:p>
          <a:p>
            <a:r>
              <a:rPr lang="en-US" sz="1200"/>
              <a:t>English</a:t>
            </a:r>
          </a:p>
          <a:p>
            <a:r>
              <a:rPr lang="en-US" sz="1200"/>
              <a:t>This annotation example is still a proposal: it requires the MRI adapter and child opt-in. Prefill uses waiting requests, bounded from one to eight replicas; decode uses running requests, bounded from two to sixteen. Each role has one metric, so AND is trivial within that role. It does not require both roles to be busy. Null replica fields express handing off fixed-replica ownership; changing those fields alone does not implement the handoff.</a:t>
            </a:r>
          </a:p>
          <a:p>
            <a:r>
              <a:rPr lang="en-US" sz="1200"/>
              <a:t>Start with one prefill and two decode replicas. An average waiting count of twelve exceeds eight, so prefill requests scale-up. Decode running at twelve is between four and twenty-four, so decode holds. If running later exceeds twenty-four, decode can request scale-up independently.</a:t>
            </a:r>
          </a:p>
          <a:p>
            <a:r>
              <a:rPr lang="en-US" sz="1200"/>
              <a:t>Separate the formula from the action: the expression returns two, one-half, or one, and the raw desired count is current replicas times that value, rounded up. The one-replica-per-cooldown limit comes from HPA behavior, not that formula. These illustrative decisions are not immediate replica results. Readiness, bounds, cooldown, and stabilization still apply. Complete metric coverage and missing-is-not-zero handling also require hardening.</a:t>
            </a:r>
          </a:p>
          <a:p>
            <a:r>
              <a:rPr lang="en-US" sz="1200"/>
              <a:t/>
            </a:r>
          </a:p>
          <a:p>
            <a:r>
              <a:t>Technical reference (not part of the spoken script)</a:t>
            </a:r>
          </a:p>
          <a:p/>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endParaRPr/>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为什么选这两个指标？先看左边，waiting requests 描述的是 prefill 引擎内部排队的请求，所以它能帮助我们观察提示词处理是否积压。但它看不到还在路由层等待、尚未进入引擎的请求。右边的 running requests 描述 decode 执行批次中的请求数，可以作为并发负载的代理信号；它不能单独证明 GPU 已经满负荷，也不能代替 token 延迟测量。</a:t>
            </a:r>
          </a:p>
          <a:p>
            <a:r>
              <a:rPr lang="en-US" sz="1200"/>
              <a:t>图中的阈值只是说明策略语义。prefill 大于八时请求扩容，小于一时请求缩容；decode 对应的是大于二十四和小于四。中间区间保持不变，恰好等于阈值也保持不变。这里看的是按角色、按服务副本聚合的信号，不是整个 MRI 的请求总和。</a:t>
            </a:r>
          </a:p>
          <a:p>
            <a:r>
              <a:rPr lang="en-US" sz="1200"/>
              <a:t>启用前，要检查实际 vLLM 的 metrics 输出，确认名称、类型和单位，并用部署的模型与流量调阈值。扩缩容仍受副本范围、模型就绪和稳定机制约束。缺失、过期或无效的数据不能被解释成零负载；暂停并报告的处理还需要实现和验证。</a:t>
            </a:r>
          </a:p>
          <a:p>
            <a:r>
              <a:rPr lang="en-US" sz="1200"/>
              <a:t/>
            </a:r>
          </a:p>
          <a:p>
            <a:r>
              <a:rPr lang="en-US" sz="1200"/>
              <a:t>English</a:t>
            </a:r>
          </a:p>
          <a:p>
            <a:r>
              <a:rPr lang="en-US" sz="1200"/>
              <a:t>Why these two gauges? On the left, waiting requests describe the queue inside the prefill engine. That helps identify prompt-processing backlog, but it excludes requests still waiting in the routing layer. On the right, running requests describe requests in decode execution batches. That is a useful concurrency proxy, not a standalone measurement of GPU saturation or token latency.</a:t>
            </a:r>
          </a:p>
          <a:p>
            <a:r>
              <a:rPr lang="en-US" sz="1200"/>
              <a:t>The thresholds illustrate policy semantics. Prefill requests scale-up above eight and scale-down below one. Decode uses above twenty-four and below four. Values between the thresholds hold, and equality also holds. We evaluate role-scoped, per-serving-replica signals, not a request total across the entire MRI.</a:t>
            </a:r>
          </a:p>
          <a:p>
            <a:r>
              <a:rPr lang="en-US" sz="1200"/>
              <a:t>Before activation, inspect the actual vLLM metrics output, verify names, types, and units, and tune against the deployed model and traffic. Replica bounds, model readiness, and stabilization still constrain any change. Missing, stale, or invalid data must not become zero load; hold-and-report behavior still needs implementation and validation.</a:t>
            </a:r>
          </a:p>
          <a:p>
            <a:r>
              <a:rPr lang="en-US" sz="1200"/>
              <a:t/>
            </a:r>
          </a:p>
          <a:p>
            <a:r>
              <a:t>Technical reference (not part of the spoken script)</a:t>
            </a:r>
          </a:p>
          <a:p>
            <a:endParaRPr/>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这张表放在一起看，重点不是记住八或者二十四，而是两边可以采用不同策略。prefill 主要观察等待队列，decode 主要观察运行中的并发请求；它们可以有不同的副本范围、扩容阈值和缩容阈值，因为要保护的用户体验不同。具体数值都只是示例，不是生产环境推荐配置。</a:t>
            </a:r>
          </a:p>
          <a:p>
            <a:r>
              <a:rPr lang="en-US" sz="1200"/>
              <a:t>这两个回路也不是简单的有负载就扩、没负载就缩。上下阈值之间有一个保持区间，等于阈值时同样保持。我们使用角色内按副本聚合的数据，避免把整个服务的请求总量直接套到某一个角色上。decode 并发数升高是否真的影响输出节奏，仍要结合实际工作负载验证。</a:t>
            </a:r>
          </a:p>
          <a:p>
            <a:r>
              <a:rPr lang="en-US" sz="1200"/>
              <a:t>最后一行才是两边必须一致的安全约定：指标新鲜且有效，容量真正就绪，控制权清楚。再加上冷却、稳定窗口和副本上下限，缩容还要保护正在执行的请求。因此，低指标只是一个候选决策，并不是立刻删除副本的指令。这是拟议策略必须满足的要求，不能假设所有集成路径已经做到。</a:t>
            </a:r>
          </a:p>
          <a:p>
            <a:r>
              <a:rPr lang="en-US" sz="1200"/>
              <a:t/>
            </a:r>
          </a:p>
          <a:p>
            <a:r>
              <a:rPr lang="en-US" sz="1200"/>
              <a:t>English</a:t>
            </a:r>
          </a:p>
          <a:p>
            <a:r>
              <a:rPr lang="en-US" sz="1200"/>
              <a:t>The point of this comparison is not to memorize eight or twenty-four. It is that the two roles can use different policies. Prefill primarily watches its waiting queue; decode watches active concurrency. Their replica ranges and thresholds can differ because they protect different parts of the user experience. Every number here is illustrative, not production guidance.</a:t>
            </a:r>
          </a:p>
          <a:p>
            <a:r>
              <a:rPr lang="en-US" sz="1200"/>
              <a:t>Neither loop simply means expand whenever there is work and shrink whenever there is less. There is a hold region between the thresholds, including equality. Signals are aggregated per replica within the role, rather than applying a whole-service total to one role. Whether higher decode concurrency actually harms token delivery still needs workload validation.</a:t>
            </a:r>
          </a:p>
          <a:p>
            <a:r>
              <a:rPr lang="en-US" sz="1200"/>
              <a:t>The shared requirement is the last row: fresh, valid observations and genuinely ready capacity, with clear ownership. Cooldown, stabilization, and bounds also apply, and scale-down must protect active requests. Low load creates a candidate decision, not an immediate instruction to delete a replica. These are requirements for the proposed policy, not guarantees that every integration path already meets.</a:t>
            </a:r>
          </a:p>
          <a:p>
            <a:r>
              <a:rPr lang="en-US" sz="1200"/>
              <a:t/>
            </a:r>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主信号之外，我们还需要一些指标解释现场发生了什么。前两行其实是同一件事的两个角度：取角色内最高的 KV 使用率，再用一减去它，得到最低空闲比例。使用率是零到一的比例，零点八就是百分之八十。空闲比例不是还能接多少请求，也不能告诉我们具体哪个副本可以安全删除。</a:t>
            </a:r>
          </a:p>
          <a:p>
            <a:r>
              <a:rPr lang="en-US" sz="1200"/>
              <a:t>第三行用直方图 bucket 的速率估算首 token 延迟的 P95，它需要足够样本，而且是引擎侧指标，不等于客户端看到的完整 P/D 延迟。最后一行先对生成 token 计数器求速率，再求和，用于观察输出吞吐；不能仅凭吞吐高低直接决定扩缩容。</a:t>
            </a:r>
          </a:p>
          <a:p>
            <a:r>
              <a:rPr lang="en-US" sz="1200"/>
              <a:t>这些都是派生信号，不会自动出现在 vLLM 的 metrics 接口里，接入控制环需要验证过的查询或 adapter。建议先观察，再经过工作负载和故障测试后用于控制。比如，KV 可以考虑作为缩容保护，但不能简单追加到 AND 列表：那可能把高并发下需要的扩容也挡住。这个非对称保护逻辑仍是设计工作，不是已经实现的 MRI 能力。</a:t>
            </a:r>
          </a:p>
          <a:p>
            <a:r>
              <a:rPr lang="en-US" sz="1200"/>
              <a:t/>
            </a:r>
          </a:p>
          <a:p>
            <a:r>
              <a:rPr lang="en-US" sz="1200"/>
              <a:t>English</a:t>
            </a:r>
          </a:p>
          <a:p>
            <a:r>
              <a:rPr lang="en-US" sz="1200"/>
              <a:t>Beyond the primary gauges, these signals help explain what is happening. The first two rows are two views of the same fact: take the highest KV usage in the role, then subtract it from one to get the lowest free fraction. Usage is a fraction; point eight means eighty percent. Free fraction is not effective request capacity, and it does not identify a replica that is safe to remove.</a:t>
            </a:r>
          </a:p>
          <a:p>
            <a:r>
              <a:rPr lang="en-US" sz="1200"/>
              <a:t>The third row estimates first-token P95 from histogram bucket rates. It needs enough observations and measures engine-side latency, not complete client-visible P/D latency. The final row takes rates of generation-token counters before summing them, to observe output throughput. Throughput alone should not drive replica changes.</a:t>
            </a:r>
          </a:p>
          <a:p>
            <a:r>
              <a:rPr lang="en-US" sz="1200"/>
              <a:t>These derived outputs do not automatically appear on vLLM's metrics endpoint; control integration needs a verified query or adapter. Observe first, then test before automating. KV usage might guard scale-down, but simply adding it to an AND list can also block necessary scale-up under high concurrency. That asymmetric guard remains design work, not an implemented MRI capability.</a:t>
            </a:r>
          </a:p>
          <a:p>
            <a:r>
              <a:rPr lang="en-US" sz="1200"/>
              <a:t/>
            </a:r>
          </a:p>
          <a:p>
            <a:r>
              <a:t>Technical reference (not part of the spoken script)</a:t>
            </a:r>
          </a:p>
          <a:p>
            <a:endParaRPr/>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接下来值得探索的方向，可以按这三列来看。第一列是更好地利用已有的 KV 状态：通过 KV 事件感知前缀缓存的位置，让路由有机会选择能够复用状态的 worker；同时考虑 HBM、CPU 内存以及可选文件系统层之间的分层缓存。这里关注的不只是缓存能不能存下来，还包括路由怎样使用这些信息。</a:t>
            </a:r>
          </a:p>
          <a:p>
            <a:r>
              <a:rPr lang="en-US" sz="1200"/>
              <a:t>第二列是更丰富的角色拓扑。P/D 把提示词处理和生成分开，E/P/D 则进一步引入独立的编码角色，让角色化部署模型能够表达更多推理阶段。第三列面向更大规模的执行，包括宽专家并行，以及跨节点传输和通信优化。</a:t>
            </a:r>
          </a:p>
          <a:p>
            <a:r>
              <a:rPr lang="en-US" sz="1200"/>
              <a:t>这些是 KAITO 与 llm-d 的集成探索方向，不是承诺的发布日期，也不是说上游的相关能力现在才出现。每个方向都要明确生命周期、运行时接口和性能权衡。我们今天建立的基础，是把角色、路由、状态传输和容量控制的边界讲清楚；后续集成可以在这个基础上逐项验证，而不是一次承诺全部能力。</a:t>
            </a:r>
          </a:p>
          <a:p>
            <a:r>
              <a:rPr lang="en-US" sz="1200"/>
              <a:t/>
            </a:r>
          </a:p>
          <a:p>
            <a:r>
              <a:rPr lang="en-US" sz="1200"/>
              <a:t>English</a:t>
            </a:r>
          </a:p>
          <a:p>
            <a:r>
              <a:rPr lang="en-US" sz="1200"/>
              <a:t>There are three directions worth exploring from here. The first is better use of existing KV state. KV events can inform prefix-cache-aware routing, so worker selection can consider opportunities to reuse state. Tiered caching can span HBM, CPU memory, and optional filesystem tiers. The integration question is not just where state lives, but how routing uses that information.</a:t>
            </a:r>
          </a:p>
          <a:p>
            <a:r>
              <a:rPr lang="en-US" sz="1200"/>
              <a:t>The second direction is richer role topology. P/D separates prompt processing from generation; E/P/D adds a distinct encoding role so the role-based deployment model can express more inference stages. The third concerns larger-scale execution: wide expert parallelism, cross-node transport, and communication optimization.</a:t>
            </a:r>
          </a:p>
          <a:p>
            <a:r>
              <a:rPr lang="en-US" sz="1200"/>
              <a:t>These are KAITO and llm-d integration directions, not release commitments or claims that the upstream capabilities are new. Each needs clear lifecycle responsibilities, runtime interfaces, and evaluated trade-offs. Today's foundation is the separation of roles, routing, state transfer, and capacity control. Future integration can build on those boundaries one validated step at a time.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lang="en-US" sz="1200"/>
              <a:t>Speaker script</a:t>
            </a:r>
          </a:p>
          <a:p>
            <a:r>
              <a:rPr lang="en-US" sz="1200"/>
              <a:t>中文</a:t>
            </a:r>
          </a:p>
          <a:p>
            <a:r>
              <a:rPr lang="en-US" sz="1200"/>
              <a:t>如果想继续看代码或者动手验证，可以从这几个入口开始。llm-d 和 KAITO 都是 CNCF Sandbox 项目；P/D 指南说明集成的前提条件和配置，keda-kaito-scaler 仓库提供扩缩容相关细节。试用前请核对支持的版本，也要区分文档中已有的 InferenceSet 扩缩容和今天讨论的 MRI 角色策略提案。</a:t>
            </a:r>
          </a:p>
          <a:p>
            <a:r>
              <a:rPr lang="en-US" sz="1200"/>
              <a:t/>
            </a:r>
          </a:p>
          <a:p>
            <a:r>
              <a:rPr lang="en-US" sz="1200"/>
              <a:t>English</a:t>
            </a:r>
          </a:p>
          <a:p>
            <a:r>
              <a:rPr lang="en-US" sz="1200"/>
              <a:t>For code and hands-on exploration, start with these links. llm-d and KAITO are both CNCF Sandbox projects. The P/D guide covers integration prerequisites and configuration; the keda-kaito-scaler repository covers scaling details. Check supported versions before trying it, and distinguish documented InferenceSet scaling from the proposed MRI role policies we discussed today.</a:t>
            </a:r>
          </a:p>
          <a:p>
            <a:r>
              <a:rPr lang="en-US" sz="1200"/>
              <a:t/>
            </a:r>
          </a:p>
          <a:p>
            <a:r>
              <a:t>References</a:t>
            </a:r>
          </a:p>
          <a:p>
            <a:r>
              <a:t>https://github.com/llm-d</a:t>
            </a:r>
          </a:p>
          <a:p>
            <a:r>
              <a:t>https://github.com/kaito-project/kaito</a:t>
            </a:r>
          </a:p>
          <a:p>
            <a:r>
              <a:t>https://kaito-project.github.io/kaito/docs/prefill-decode-disaggregation/</a:t>
            </a:r>
          </a:p>
          <a:p>
            <a:r>
              <a:t>https://www.cncf.io/projects/llm-d/</a:t>
            </a:r>
          </a:p>
          <a:p>
            <a:r>
              <a:t>https://www.cncf.io/projects/kaito/</a:t>
            </a:r>
          </a:p>
          <a:p>
            <a:r>
              <a:t>https://github.com/kaito-project/keda-kaito-scaler</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Speaker script</a:t>
            </a:r>
          </a:p>
          <a:p>
            <a:r>
              <a:rPr lang="en-US" sz="1200"/>
              <a:t>中文</a:t>
            </a:r>
          </a:p>
          <a:p>
            <a:r>
              <a:rPr lang="en-US" sz="1200"/>
              <a:t>谢谢大家。希望今天把一个问题讲清楚了：P/D 不只是把两个阶段放到不同 GPU 上，更要把路由、状态交接和容量控制一起设计好。欢迎提问，也欢迎交流你们在实际工作负载中遇到的取舍。</a:t>
            </a:r>
          </a:p>
          <a:p>
            <a:r>
              <a:rPr lang="en-US" sz="1200"/>
              <a:t/>
            </a:r>
          </a:p>
          <a:p>
            <a:r>
              <a:rPr lang="en-US" sz="1200"/>
              <a:t>English</a:t>
            </a:r>
          </a:p>
          <a:p>
            <a:r>
              <a:rPr lang="en-US" sz="1200"/>
              <a:t>Thank you. The main idea is that P/D is not just putting two phases on different GPUs. Routing, state handoff, and capacity control have to work together. We're happy to take questions and discuss the trade-offs you are seeing in your own workloads.</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Speaker script</a:t>
            </a:r>
          </a:p>
          <a:p>
            <a:r>
              <a:rPr lang="en-US" sz="1200"/>
              <a:t>中文</a:t>
            </a:r>
          </a:p>
          <a:p>
            <a:r>
              <a:rPr lang="en-US" sz="1200"/>
              <a:t>如果问题是 KAITO 怎样估算初始 GPU 节点数，可以用这三个步骤来解释。第一步先算内存预算。GPU 显存不能全部用于模型权重，运行时需要固定开销，KV 缓存也要占空间，而且上下文长度会影响这部分预算。剩余空间才是可以用于容纳权重的部分。</a:t>
            </a:r>
          </a:p>
          <a:p>
            <a:r>
              <a:rPr lang="en-US" sz="1200"/>
              <a:t>第二步根据这个可用预算估算需要多少 GPU，并考虑运行时的并行方式。第三步再根据每个节点包含多少 GPU，把 GPU 数量换算成节点数量，交给控制器协调相应工作负载。这里要区分 GPU 数、节点数和服务副本数，它们不是同一个容量单位。</a:t>
            </a:r>
          </a:p>
          <a:p>
            <a:r>
              <a:rPr lang="en-US" sz="1200"/>
              <a:t>这张图解释的是初始内存估算，不是吞吐保证。具体公式、安全余量和运行时设置取决于 KAITO 与运行时版本；某个固定的显存利用率只是估算假设。模型能放得下，也不代表目标并发下延迟一定合格。最终还需要结合上下文长度、并发和延迟目标验证实际服务能力。</a:t>
            </a:r>
          </a:p>
          <a:p>
            <a:r>
              <a:rPr lang="en-US" sz="1200"/>
              <a:t/>
            </a:r>
          </a:p>
          <a:p>
            <a:r>
              <a:rPr lang="en-US" sz="1200"/>
              <a:t>English</a:t>
            </a:r>
          </a:p>
          <a:p>
            <a:r>
              <a:rPr lang="en-US" sz="1200"/>
              <a:t>If the question is how KAITO estimates the initial GPU node count, these three steps explain it. First, establish the memory budget. GPU memory cannot all go to model weights: the runtime has overhead, and KV state needs space that depends on context length. What remains is the budget available for weights.</a:t>
            </a:r>
          </a:p>
          <a:p>
            <a:r>
              <a:rPr lang="en-US" sz="1200"/>
              <a:t>Second, estimate how many GPUs are needed to fit those weights, accounting for the runtime's parallelism. Third, translate the GPU requirement into nodes using the GPUs available per node, then reconcile the workload. GPU count, node count, and serving-replica count are different capacity units.</a:t>
            </a:r>
          </a:p>
          <a:p>
            <a:r>
              <a:rPr lang="en-US" sz="1200"/>
              <a:t>This is an initial memory estimate, not a throughput guarantee. The precise formula, safety margins, and runtime settings depend on the KAITO and runtime versions. A fixed memory-utilization allowance is a sizing assumption. Fitting the model does not prove that latency will meet the target at the intended concurrency; validate serving capacity against context length, concurrency, and latency objectives.</a:t>
            </a:r>
          </a:p>
        </p:txBody>
      </p:sp>
    </p:spTree>
    <p:extLst>
      <p:ext uri="{BB962C8B-B14F-4D97-AF65-F5344CB8AC3E}">
        <p14:creationId xmlns:p14="http://schemas.microsoft.com/office/powerpoint/2010/main" val="14492462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如果大家关心为什么把 routing sidecar 放在 decode Pod 里，这张图把边界画出来了。左边 gateway 根据 EPP 的选择，把请求送到选中的 decode 端点。这个端点首先到达 sidecar，而不是直接到达 decode vLLM。图中 sidecar 监听五千端口，vLLM 监听五千零一端口，这是当前配置的示例，不是所有部署必须使用的固定端口。</a:t>
            </a:r>
          </a:p>
          <a:p>
            <a:r>
              <a:rPr lang="en-US" sz="1200"/>
              <a:t>sidecar 负责协调请求：需要远程 prefill 时，调用下面的 prefill worker，再把请求和 KV 传输元数据交给本地 decode vLLM。关键配置约定是 InferencePool 的目标端口要指向 sidecar 的监听端口。</a:t>
            </a:r>
          </a:p>
          <a:p>
            <a:r>
              <a:rPr lang="en-US" sz="1200"/>
              <a:t>再看独立的 KV 路径。decode 运行时通过 NIXL 发起读取，KV 数据从 prefill 直接到 decode，不经过 HTTP sidecar。最终推理响应则由 sidecar 代理返回。这样，gateway 面对的是一个服务端点，请求协调留在 decode Pod 内，大块状态传输仍由运行时直接完成。</a:t>
            </a:r>
          </a:p>
          <a:p>
            <a:r>
              <a:rPr lang="en-US" sz="1200"/>
              <a:t/>
            </a:r>
          </a:p>
          <a:p>
            <a:r>
              <a:rPr lang="en-US" sz="1200"/>
              <a:t>English</a:t>
            </a:r>
          </a:p>
          <a:p>
            <a:r>
              <a:rPr lang="en-US" sz="1200"/>
              <a:t>If you are wondering why the routing sidecar lives in the decode pod, this diagram makes the boundary visible. The gateway sends the request to the decode endpoint chosen through EPP integration. That endpoint reaches the sidecar first, not decode vLLM directly. Ports five thousand and five thousand one are examples from this configuration, not universal requirements.</a:t>
            </a:r>
          </a:p>
          <a:p>
            <a:r>
              <a:rPr lang="en-US" sz="1200"/>
              <a:t>The sidecar coordinates the request. When remote prefill is needed, it calls the prefill worker below, then passes the request and KV-transfer metadata to local decode vLLM. The important configuration contract is that the InferencePool target port reaches the sidecar's listening port.</a:t>
            </a:r>
          </a:p>
          <a:p>
            <a:r>
              <a:rPr lang="en-US" sz="1200"/>
              <a:t>Now look at the separate KV path. Decode initiates a read through NIXL, and the KV data moves directly from prefill to decode, bypassing the HTTP sidecar. The final inference response is proxied back through the sidecar. This gives the gateway one serving endpoint, keeps request coordination inside the decode pod, and leaves bulk state transfer with the runtimes.</a:t>
            </a:r>
          </a:p>
          <a:p>
            <a:r>
              <a:rPr lang="en-US" sz="1200"/>
              <a:t/>
            </a:r>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要回答什么时候应该用 P/D，可以看这两个维度。横轴从左到右表示 KV 传输代价变得更可接受；纵轴从下到上表示两个角色的瓶颈、容量或并行需求差异更明显。最值得尝试的是右上角：独立配置有价值，而且传输成本不会把这部分收益吃掉。</a:t>
            </a:r>
          </a:p>
          <a:p>
            <a:r>
              <a:rPr lang="en-US" sz="1200"/>
              <a:t>左上角也可能有拆分价值，但应该先改善数据位置或传输路径。左下角通常保持聚合，因为角色需求相似，传输又贵。右下角也通常不必拆分：网络很快，不等于工作负载就需要两套角色容量。</a:t>
            </a:r>
          </a:p>
          <a:p>
            <a:r>
              <a:rPr lang="en-US" sz="1200"/>
              <a:t>这是一张定性的实验决策图，不是性能结果。跨节点不一定意味着链路弱，同节点也不意味着传输免费；实际 KV 数据量、竞争、尾延迟和可靠性都要测量。即使在右上角，也要把额外权重副本和运维复杂度算进去，在相同工作负载、成本和延迟目标下与聚合部署比较。P/D 是需要验证的选择，不是默认升级路线。</a:t>
            </a:r>
          </a:p>
          <a:p>
            <a:r>
              <a:rPr lang="en-US" sz="1200"/>
              <a:t/>
            </a:r>
          </a:p>
          <a:p>
            <a:r>
              <a:rPr lang="en-US" sz="1200"/>
              <a:t>English</a:t>
            </a:r>
          </a:p>
          <a:p>
            <a:r>
              <a:rPr lang="en-US" sz="1200"/>
              <a:t>To decide whether P/D is worth trying, use these two dimensions. Moving right means KV transfer becomes more affordable. Moving up means the roles have more distinct bottlenecks, capacity needs, or parallelism requirements. The strongest candidate is the top-right corner: independent configuration has value, and transfer does not consume that value.</a:t>
            </a:r>
          </a:p>
          <a:p>
            <a:r>
              <a:rPr lang="en-US" sz="1200"/>
              <a:t>At the top left, separation might help, but improve locality or transport first. At the bottom left, similar role needs and expensive transfer argue for staying aggregated. At the bottom right, usually stay aggregated too: a fast network alone does not create a need for separate capacity pools.</a:t>
            </a:r>
          </a:p>
          <a:p>
            <a:r>
              <a:rPr lang="en-US" sz="1200"/>
              <a:t>This is a qualitative guide for an experiment, not a performance result. Cross-node does not automatically mean weak transport, and same-node transfer is not free. Measure actual KV payloads, contention, tail latency, and reliability. Even a top-right candidate must account for duplicated weights and operational complexity, then compare with aggregated serving at matched workload, cost, and latency targets. P/D is a choice to validate, not a default upgrade.</a:t>
            </a:r>
          </a:p>
          <a:p>
            <a:r>
              <a:rPr lang="en-US" sz="1200"/>
              <a:t/>
            </a:r>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Speaker script</a:t>
            </a:r>
          </a:p>
          <a:p>
            <a:r>
              <a:rPr lang="en-US" sz="1200"/>
              <a:t>中文</a:t>
            </a:r>
          </a:p>
          <a:p>
            <a:r>
              <a:rPr lang="en-US" sz="1200"/>
              <a:t>如果需要用一页回顾整体设计，我会抓住这三点。第一，拆分的价值是获得独立的容量决策：prefill 主要影响首 token 等待时间，decode 主要影响持续输出的节奏。不是所有工作负载都需要拆分，只有两边需求确实不同，独立调整才更有意义。</a:t>
            </a:r>
          </a:p>
          <a:p>
            <a:r>
              <a:rPr lang="en-US" sz="1200"/>
              <a:t>第二，各组件职责要清楚。KAITO 管角色拓扑和生命周期，llm-d 负责端点选择与请求协调，vLLM 执行推理，NIXL 支持运行时之间的 KV 传输。不要把控制器、路由决策和数据路径混成一条链路。</a:t>
            </a:r>
          </a:p>
          <a:p>
            <a:r>
              <a:rPr lang="en-US" sz="1200"/>
              <a:t>第三，独立容量需要匹配的指标和保护机制。已有 KEDA 对 InferenceSet 的扩缩容能力，并不等于 MRI 已经具备完整的角色自动扩缩容；策略集成、控制权交接和指标覆盖仍需工作。最终判断标准还是测量：在一致的工作负载、成本和延迟目标下，收益能否覆盖传输和运维代价。</a:t>
            </a:r>
          </a:p>
          <a:p>
            <a:r>
              <a:rPr lang="en-US" sz="1200"/>
              <a:t/>
            </a:r>
          </a:p>
          <a:p>
            <a:r>
              <a:rPr lang="en-US" sz="1200"/>
              <a:t>English</a:t>
            </a:r>
          </a:p>
          <a:p>
            <a:r>
              <a:rPr lang="en-US" sz="1200"/>
              <a:t>For a one-page recap, I would focus on these three points. First, the value of separation is independent capacity decisions. Prefill mainly shapes the wait for the first token; decode mainly shapes the pace of continued output. Not every workload needs separation. Independent tuning matters most when the roles genuinely need different things.</a:t>
            </a:r>
          </a:p>
          <a:p>
            <a:r>
              <a:rPr lang="en-US" sz="1200"/>
              <a:t>Second, keep component responsibilities clear. KAITO manages role topology and lifecycle. llm-d handles endpoint selection and request coordination. vLLM executes inference, and NIXL supports runtime-to-runtime KV transfer. Controllers, routing decisions, and the data path are not one continuous traffic chain.</a:t>
            </a:r>
          </a:p>
          <a:p>
            <a:r>
              <a:rPr lang="en-US" sz="1200"/>
              <a:t>Third, independent capacity needs appropriate signals and safeguards. Existing KEDA scaling for InferenceSets does not mean MRI already provides complete role-aware autoscaling; policy integration, ownership handoff, and metric coverage still need work. The final test is measurement: at matched workload, cost, and latency objectives, do the gains justify the transfer and operational costs?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Speaker script</a:t>
            </a:r>
          </a:p>
          <a:p>
            <a:r>
              <a:rPr lang="en-US" sz="1200"/>
              <a:t>中文</a:t>
            </a:r>
          </a:p>
          <a:p>
            <a:r>
              <a:rPr lang="en-US" sz="1200"/>
              <a:t>这张备份页回答的是：扩缩容到底需要调哪些参数？左边是显式配置，包括队列或延迟指标、阈值、聚合窗口、副本上下限、冷却时间，以及多个信号如何组合。它们共同定义了控制器怎样判断繁忙、空闲和暂时不动作。已有的 scaler 配置能力，要以安装版本支持的内容为准。</a:t>
            </a:r>
          </a:p>
          <a:p>
            <a:r>
              <a:rPr lang="en-US" sz="1200"/>
              <a:t>右边是希望减少配置项的方向：保留用户最关心的容量上下限，让系统推导更多默认值，再用模型和工作负载验证。这里不是承诺已经有自动调优，也不是说只给最小、最大副本数就一定能满足延迟目标。</a:t>
            </a:r>
          </a:p>
          <a:p>
            <a:r>
              <a:rPr lang="en-US" sz="1200"/>
              <a:t>无论配置写成 annotation 还是其他形式，它表达的都只是意图。后面还需要控制器创建和维护扩缩容资源，明确谁拥有副本数，并处理无效数据。特别是从已有 InferenceSet 扩缩容走到 MRI 的角色策略，还需要 adapter、子资源启用和安全交接，不能把配置写法当成完整功能已经实现。</a:t>
            </a:r>
          </a:p>
          <a:p>
            <a:r>
              <a:rPr lang="en-US" sz="1200"/>
              <a:t/>
            </a:r>
          </a:p>
          <a:p>
            <a:r>
              <a:rPr lang="en-US" sz="1200"/>
              <a:t>English</a:t>
            </a:r>
          </a:p>
          <a:p>
            <a:r>
              <a:rPr lang="en-US" sz="1200"/>
              <a:t>This backup view answers a practical question: what do operators actually configure? The left side shows explicit choices: queue or latency metrics, thresholds, aggregation windows, replica bounds, cooldowns, and rules for combining signals. Together, these define what the controller considers busy, idle, or a reason to hold. Available scaler configuration must be checked against the installed version.</a:t>
            </a:r>
          </a:p>
          <a:p>
            <a:r>
              <a:rPr lang="en-US" sz="1200"/>
              <a:t>The right side is a direction for reducing that burden: retain the capacity bounds users care about, derive more defaults, and validate them against the model and workload. It is not a shipped auto-tuning promise, or a claim that minimum and maximum replicas alone guarantee latency targets.</a:t>
            </a:r>
          </a:p>
          <a:p>
            <a:r>
              <a:rPr lang="en-US" sz="1200"/>
              <a:t>Whether expressed through annotations or another interface, configuration is only intent. Controllers still need to create and maintain scaling resources, establish replica ownership, and handle invalid observations. Moving from existing InferenceSet scaling to MRI role policies specifically requires the adapter, child opt-in, and safe handoff. A configuration format is not proof that the complete integration already exists.</a:t>
            </a:r>
          </a:p>
          <a:p>
            <a:r>
              <a:rPr lang="en-US" sz="1200"/>
              <a:t/>
            </a:r>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中文</a:t>
            </a:r>
          </a:p>
          <a:p>
            <a:r>
              <a:rPr lang="en-US" sz="1200"/>
              <a:t>如果把 llm-d 概括为一个组件，很容易误解它的职责。这张图更适合说明它是怎样组合推理系统的。左边讲运行和维护：组件模块化，并接入 Kubernetes，让我们可以分开观察各层状态和故障，而不是把所有问题都归到一个黑盒里。</a:t>
            </a:r>
          </a:p>
          <a:p>
            <a:r>
              <a:rPr lang="en-US" sz="1200"/>
              <a:t>中间讲组合：gateway 集成、可扩展的路由，以及运行时和 KV 接口，把已有组件连接起来。llm-d 不需要替换所有 gateway、推理引擎或传输实现，才能提供协调能力。右边讲部署：经过验证的参考路径给出起点，同时保留明确的取舍和工作负载调优空间；它们不是对所有模型和硬件的统一性能保证。</a:t>
            </a:r>
          </a:p>
          <a:p>
            <a:r>
              <a:rPr lang="en-US" sz="1200"/>
              <a:t>llm-d 是 CNCF Sandbox 项目。放到 KAITO 集成里，这种组合方式的意义很直接：KAITO 继续负责声明和维护角色工作负载，llm-d 提供可复用的推理路由与协调能力。职责边界清楚，集成才能避免重复建设，也更容易定位问题。</a:t>
            </a:r>
          </a:p>
          <a:p>
            <a:r>
              <a:rPr lang="en-US" sz="1200"/>
              <a:t/>
            </a:r>
          </a:p>
          <a:p>
            <a:r>
              <a:rPr lang="en-US" sz="1200"/>
              <a:t>English</a:t>
            </a:r>
          </a:p>
          <a:p>
            <a:r>
              <a:rPr lang="en-US" sz="1200"/>
              <a:t>Treating llm-d as one replacement component can obscure what it does. These three columns describe how it composes a serving system. On the left, modular components and Kubernetes integration give operators boundaries where they can inspect state and failures, rather than treating everything as one black box.</a:t>
            </a:r>
          </a:p>
          <a:p>
            <a:r>
              <a:rPr lang="en-US" sz="1200"/>
              <a:t>In the middle, gateway integration, extensible routing, and runtime and KV interfaces connect existing components. llm-d does not have to replace every gateway, inference engine, or transport implementation to provide coordination. On the right, tested reference paths offer a deployment starting point while keeping trade-offs and workload-specific tuning explicit. They are not universal performance guarantees across models and hardware.</a:t>
            </a:r>
          </a:p>
          <a:p>
            <a:r>
              <a:rPr lang="en-US" sz="1200"/>
              <a:t>llm-d is a CNCF Sandbox project. For the KAITO integration, this compositional approach has a practical meaning: KAITO continues to declare and maintain role workloads, while llm-d supplies reusable inference routing and coordination. Clear responsibility boundaries help avoid rebuilding the same functions and make problems easier to locate.</a:t>
            </a:r>
          </a:p>
          <a:p>
            <a:r>
              <a:rPr lang="en-US" sz="1200"/>
              <a:t/>
            </a:r>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如果问题是怎样把角色扩缩容安全地投入运行，这三列比阈值公式更重要。第一列是控制权：每个角色的副本数只能有一个写入方。不能让 MRI 的固定副本协调和 autoscaler 同时控制同一个目标，也不能在一个 InferenceSet 上放两个互相竞争的扩缩容器。</a:t>
            </a:r>
          </a:p>
          <a:p>
            <a:r>
              <a:rPr lang="en-US" sz="1200"/>
              <a:t>第二列是数据。要查看实际运行时的 metrics，确认角色范围、覆盖和新鲜度。部分服务抓取失败，不能被平均结果掩盖；缺失、过期或无效的样本也不能当作零负载。我们要求这时暂停决策并报告状态，但这是需要验证的安全约定，不是声称所有现有回退路径已经实现。</a:t>
            </a:r>
          </a:p>
          <a:p>
            <a:r>
              <a:rPr lang="en-US" sz="1200"/>
              <a:t>第三列是生命周期。交接前先停止旧的写入方，只清理控制器自己拥有的 scaler，不能静默接管或删除用户创建的资源。新容量要等模型加载完成，缩容要在有进行中请求和 KV 状态时测试。已有 InferenceSet 扩缩容是基础；MRI adapter、控制权交接和完整覆盖保护仍然是集成工作。</a:t>
            </a:r>
          </a:p>
          <a:p>
            <a:r>
              <a:rPr lang="en-US" sz="1200"/>
              <a:t/>
            </a:r>
          </a:p>
          <a:p>
            <a:r>
              <a:rPr lang="en-US" sz="1200"/>
              <a:t>English</a:t>
            </a:r>
          </a:p>
          <a:p>
            <a:r>
              <a:rPr lang="en-US" sz="1200"/>
              <a:t>If the question is how to operate role autoscaling safely, these three columns matter more than the threshold formula. First, ownership: each role's replica count needs one writer. MRI fixed-replica reconciliation and an autoscaler must not control the same target simultaneously, and two autoscalers must not compete over one InferenceSet.</a:t>
            </a:r>
          </a:p>
          <a:p>
            <a:r>
              <a:rPr lang="en-US" sz="1200"/>
              <a:t>Second, data: inspect the actual runtime metrics and verify role scope, coverage, and freshness. Failed service scrapes must not disappear inside an apparently healthy average. Missing, stale, or invalid samples are not zero load. The required behavior is to hold decisions and report a condition, but that is a safety contract to verify, not a claim that every current fallback path implements it.</a:t>
            </a:r>
          </a:p>
          <a:p>
            <a:r>
              <a:rPr lang="en-US" sz="1200"/>
              <a:t>Third, lifecycle: stop the old writer before handoff, and remove only controller-owned scalers, never silently adopting or deleting user-managed resources. Wait for model loading before counting new capacity, and test scale-down with active requests and KV state. Existing InferenceSet scaling is the foundation; the MRI adapter, ownership handoff, and full-coverage protections remain integration work.</a:t>
            </a:r>
          </a:p>
          <a:p>
            <a:r>
              <a:rPr lang="en-US" sz="1200"/>
              <a:t/>
            </a:r>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中文</a:t>
            </a:r>
          </a:p>
          <a:p>
            <a:r>
              <a:rPr lang="en-US" sz="1200"/>
              <a:t>这张图适合回答 llm-d 相关能力分别解决什么问题。左上角的分布式执行，关注大模型怎样跨设备运行，包括专家并行和通信策略。右上角的 P/D 分离，关注两个推理阶段能否采用不同的放置方式、批处理方式和容量配置。这两个问题相关，但不是同一种优化。</a:t>
            </a:r>
          </a:p>
          <a:p>
            <a:r>
              <a:rPr lang="en-US" sz="1200"/>
              <a:t>左下角的状态感知调度，关注这一条请求应该交给谁，把缓存位置和运行时负载纳入选择。右下角的容量控制，则根据工作负载信号和延迟目标决定需要多少服务容量。选择一个更合适的 worker，与增加一个 worker，是不同的动作。</a:t>
            </a:r>
          </a:p>
          <a:p>
            <a:r>
              <a:rPr lang="en-US" sz="1200"/>
              <a:t>这里展示的是架构积木，不是吞吐或延迟的基准测试结果。KAITO 集成连接的是角色拓扑、生命周期和这些服务能力，而具体策略取决于集成实现，尤其 MRI 角色扩缩容仍有待完成的设计工作。最终效果取决于模型、硬件、流量和 SLO，需要在自己的工作负载上验证，不能从这四个能力名称直接推导性能承诺。</a:t>
            </a:r>
          </a:p>
          <a:p>
            <a:r>
              <a:rPr lang="en-US" sz="1200"/>
              <a:t/>
            </a:r>
          </a:p>
          <a:p>
            <a:r>
              <a:rPr lang="en-US" sz="1200"/>
              <a:t>English</a:t>
            </a:r>
          </a:p>
          <a:p>
            <a:r>
              <a:rPr lang="en-US" sz="1200"/>
              <a:t>This view helps explain which problem each capability addresses. At the upper left, distributed execution concerns how large models run across devices, including expert parallelism and communication strategies. At the upper right, P/D separation concerns whether the two inference phases can use different placement, batching, and capacity choices. Those are related questions, but not the same optimization.</a:t>
            </a:r>
          </a:p>
          <a:p>
            <a:r>
              <a:rPr lang="en-US" sz="1200"/>
              <a:t>At the lower left, state-aware scheduling asks which worker should handle this request, considering cache locality and runtime load. At the lower right, capacity control uses workload signals and latency objectives to decide how much serving capacity is needed. Choosing a better worker and adding another worker are different actions.</a:t>
            </a:r>
          </a:p>
          <a:p>
            <a:r>
              <a:rPr lang="en-US" sz="1200"/>
              <a:t>These are architectural building blocks, not throughput or latency benchmark results. KAITO integration connects role topology and lifecycle to serving capabilities, while policy depends on the implementation; MRI role-aware autoscaling still has design and integration work ahead. Results depend on model, hardware, traffic, and SLOs. Validate your workload rather than inferring a performance promise from these capability names.</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6.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xmlns:p="http://schemas.openxmlformats.org/presentationml/2006/main" xmlns:a="http://schemas.openxmlformats.org/drawingml/2006/main">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
        <p:nvSpPr>
          <p:cNvPr id="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2B3970F-F1C0-53CF-A6EB-3F0DEC1D8171}" type="slidenum">
              <a:rPr lang="en-US"/>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
              <a:rPr sz="2700" cap="none">
                <a:solidFill>
                  <a:srgbClr val="142C46"/>
                </a:solidFill>
                <a:latin typeface="Arial"/>
              </a:rPr>
              <a:t>Kubernetes-native LLM inference</a:t>
            </a:r>
            <a:br/>
            <a:r>
              <a:rPr sz="2700" cap="none">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88C00-B549-5551-AA4A-54B34703A47E}" type="slidenum">
              <a:rPr lang="en-US"/>
              <a:t>2</a:t>
            </a:fld>
          </a:p>
        </p:txBody>
      </p:sp>
      <p:sp xmlns:p="http://schemas.openxmlformats.org/presentationml/2006/main" xmlns:a="http://schemas.openxmlformats.org/drawingml/2006/main">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OpenYurt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CSI driver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DF9CBF6-91D4-5005-B196-1B81E8B8125C}" type="slidenum">
              <a:rPr lang="en-US"/>
              <a:t>3</a:t>
            </a:fld>
          </a:p>
        </p:txBody>
      </p:sp>
      <p:sp xmlns:p="http://schemas.openxmlformats.org/presentationml/2006/main" xmlns:a="http://schemas.openxmlformats.org/drawingml/2006/main">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D2CB0A2-A36F-5665-ACEC-972434B38D58}" type="slidenum">
              <a:rPr lang="en-US"/>
              <a:t>4</a:t>
            </a:fld>
          </a:p>
        </p:txBody>
      </p:sp>
      <p:sp xmlns:p="http://schemas.openxmlformats.org/presentationml/2006/main" xmlns:a="http://schemas.openxmlformats.org/drawingml/2006/main">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shows ongoing decode steps.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KV handoff still required</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continues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12</a:t>
            </a:fld>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13</a:t>
            </a:fl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14</a:t>
            </a:fld>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lIns="0" rIns="0" tIns="0" bIns="0" wrap="square" anchor="t">
            <a:noAutofit/>
          </a:bodyPr>
          <a:lstStyle/>
          <a:p>
            <a:pPr algn="l" marL="0" indent="0">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200" b="0">
                <a:solidFill>
                  <a:srgbClr val="52677D"/>
                </a:solidFill>
                <a:latin typeface="Arial"/>
              </a:defRPr>
            </a:pPr>
            <a:r>
              <a:rPr sz="1200" b="0">
                <a:solidFill>
                  <a:srgbClr val="52677D"/>
                </a:solidFill>
                <a:latin typeface="Arial"/>
              </a:rPr>
              <a:t>Compose serving runtimes, routing and KV transport on Kubernetes.</a:t>
            </a: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Modular architecture</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Integrate inference routing with Kubernetes through Gateway API.</a:t>
            </a:r>
          </a:p>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Extensible components</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Combine runtimes, routing plugins and KV transport.</a:t>
            </a:r>
          </a:p>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Well-lit paths</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Use tested deployment patterns with explicit trade-offs.</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gd name="adj" fmla="val 8333"/>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gd name="adj" fmla="val 8333"/>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algn="l" marL="0" indent="0">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xmlns:p="http://schemas.openxmlformats.org/presentationml/2006/main" xmlns:a="http://schemas.openxmlformats.org/drawingml/2006/main">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100" b="1">
                <a:solidFill>
                  <a:srgbClr val="087F8C"/>
                </a:solidFill>
                <a:latin typeface="Arial"/>
              </a:defRPr>
            </a:pPr>
            <a:r>
              <a:rPr sz="1100" b="1">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15</a:t>
            </a:fld>
          </a:p>
        </p:txBody>
      </p:sp>
    </p:spTree>
    <p:extLst>
      <p:ext uri="{BB962C8B-B14F-4D97-AF65-F5344CB8AC3E}">
        <p14:creationId xmlns:p14="http://schemas.microsoft.com/office/powerpoint/2010/main" val="3348379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lIns="0" rIns="0" tIns="0" bIns="0" wrap="square" anchor="t">
            <a:noAutofit/>
          </a:bodyPr>
          <a:lstStyle/>
          <a:p>
            <a:pPr algn="l" marL="0" indent="0">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A shared foundation for distributed inference.</a:t>
            </a:r>
          </a:p>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Composable components, not a replacement for the serving runtime.</a:t>
            </a:r>
          </a:p>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Reusable deployment paths expose design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200" b="1">
                <a:solidFill>
                  <a:srgbClr val="087F8C"/>
                </a:solidFill>
                <a:latin typeface="Arial"/>
              </a:defRPr>
            </a:pPr>
            <a:r>
              <a:rPr sz="1200" b="1">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MoE serving</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Distribute expert computation across GPUs with expert-parallel execution.</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Prefill/decode disaggregation</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Separate prompt processing from token generation; transfer KV state between roles.</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State-aware scheduling</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Use cache and load signals to inform endpoint selection through routing plugins.</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Autoscaling architecture</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Use workload signals and SLO targets to guide capacity; policy remains integration-specific.</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200" b="0">
                <a:solidFill>
                  <a:srgbClr val="52677D"/>
                </a:solidFill>
                <a:latin typeface="Arial"/>
              </a:defRPr>
            </a:pPr>
            <a:r>
              <a:rPr sz="1200" b="0">
                <a:solidFill>
                  <a:srgbClr val="52677D"/>
                </a:solidFill>
                <a:latin typeface="Arial"/>
              </a:rPr>
              <a:t>A common stack and reusable patterns—not a single model or a deployment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900" b="0">
                <a:solidFill>
                  <a:srgbClr val="52677D"/>
                </a:solidFill>
                <a:latin typeface="Arial"/>
              </a:defRPr>
            </a:pPr>
            <a:r>
              <a:rPr sz="900" b="0">
                <a:solidFill>
                  <a:srgbClr val="52677D"/>
                </a:solidFill>
                <a:latin typeface="Arial"/>
              </a:rPr>
              <a:t>Original project graphic;</a:t>
            </a:r>
          </a:p>
          <a:p>
            <a:pPr algn="l" marL="0" indent="0">
              <a:lnSpc>
                <a:spcPct val="108000"/>
              </a:lnSpc>
              <a:spcBef>
                <a:spcPts val="0"/>
              </a:spcBef>
              <a:spcAft>
                <a:spcPts val="0"/>
              </a:spcAft>
              <a:buNone/>
              <a:defRPr sz="900" b="0">
                <a:solidFill>
                  <a:srgbClr val="52677D"/>
                </a:solidFill>
                <a:latin typeface="Arial"/>
              </a:defRPr>
            </a:pPr>
            <a:r>
              <a:rPr sz="900" b="0">
                <a:solidFill>
                  <a:srgbClr val="52677D"/>
                </a:solidFill>
                <a:latin typeface="Arial"/>
              </a:rPr>
              <a:t>not a serving benchmark.</a:t>
            </a:r>
          </a:p>
        </p:txBody>
      </p:sp>
      <p:sp xmlns:p="http://schemas.openxmlformats.org/presentationml/2006/main" xmlns:a="http://schemas.openxmlformats.org/drawingml/2006/main">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16</a:t>
            </a:fld>
          </a:p>
        </p:txBody>
      </p:sp>
    </p:spTree>
    <p:extLst>
      <p:ext uri="{BB962C8B-B14F-4D97-AF65-F5344CB8AC3E}">
        <p14:creationId xmlns:p14="http://schemas.microsoft.com/office/powerpoint/2010/main" val="2704963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17</a:t>
            </a:fld>
          </a:p>
        </p:txBody>
      </p:sp>
      <p:sp xmlns:p="http://schemas.openxmlformats.org/presentationml/2006/main" xmlns:a="http://schemas.openxmlformats.org/drawingml/2006/main">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Model and GPU selection</a:t>
            </a:r>
            <a:br/>
            <a:r>
              <a:rPr sz="1300" cap="none">
                <a:solidFill>
                  <a:srgbClr val="142C46"/>
                </a:solidFill>
                <a:latin typeface="Arial"/>
              </a:rPr>
              <a:t>Node provisioning from model memory needs</a:t>
            </a:r>
            <a:br/>
            <a:r>
              <a:rPr sz="1300" cap="none">
                <a:solidFill>
                  <a:srgbClr val="142C46"/>
                </a:solidFill>
                <a:latin typeface="Arial"/>
              </a:rPr>
              <a:t>Model onboarding and local caching</a:t>
            </a:r>
            <a:br/>
            <a:r>
              <a:rPr sz="1300" cap="none">
                <a:solidFill>
                  <a:srgbClr val="142C46"/>
                </a:solidFill>
                <a:latin typeface="Arial"/>
              </a:rPr>
              <a:t>InferenceSet lifecycle and rolling upgrades</a:t>
            </a:r>
            <a:br/>
            <a:r>
              <a:rPr sz="1300" cap="none">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18</a:t>
            </a:fld>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cap="none" dirty="0">
                <a:solidFill>
                  <a:srgbClr val="142C46"/>
                </a:solidFill>
                <a:latin typeface="Consolas" panose="020B0609020204030204" pitchFamily="49" charset="0"/>
              </a:rPr>
              <a:t>apiVersion: kaito.sh/v1beta1</a:t>
            </a:r>
            <a:br/>
            <a:r>
              <a:rPr sz="1200" cap="none">
                <a:solidFill>
                  <a:srgbClr val="142C46"/>
                </a:solidFill>
                <a:latin typeface="Consolas"/>
              </a:rPr>
              <a:t>kind: InferenceSet</a:t>
            </a:r>
            <a:br/>
            <a:r>
              <a:rPr sz="1200" cap="none">
                <a:solidFill>
                  <a:srgbClr val="142C46"/>
                </a:solidFill>
                <a:latin typeface="Consolas"/>
              </a:rPr>
              <a:t>metadata:</a:t>
            </a:r>
            <a:br/>
            <a:r>
              <a:rPr sz="1200" cap="none">
                <a:solidFill>
                  <a:srgbClr val="142C46"/>
                </a:solidFill>
                <a:latin typeface="Consolas"/>
              </a:rPr>
              <a:t>  name: qwen3-coder-30b</a:t>
            </a:r>
            <a:br/>
            <a:r>
              <a:rPr sz="1200" cap="none">
                <a:solidFill>
                  <a:srgbClr val="142C46"/>
                </a:solidFill>
                <a:latin typeface="Consolas"/>
              </a:rPr>
              <a:t>spec:</a:t>
            </a:r>
            <a:br/>
            <a:r>
              <a:rPr sz="1200" cap="none">
                <a:solidFill>
                  <a:srgbClr val="142C46"/>
                </a:solidFill>
                <a:latin typeface="Consolas"/>
              </a:rPr>
              <a:t>  replicas: 3</a:t>
            </a:r>
            <a:br/>
            <a:r>
              <a:rPr sz="1200" cap="none">
                <a:solidFill>
                  <a:srgbClr val="142C46"/>
                </a:solidFill>
                <a:latin typeface="Consolas"/>
              </a:rPr>
              <a:t>  labelSelector:</a:t>
            </a:r>
            <a:br/>
            <a:r>
              <a:rPr sz="1200" cap="none">
                <a:solidFill>
                  <a:srgbClr val="142C46"/>
                </a:solidFill>
                <a:latin typeface="Consolas"/>
              </a:rPr>
              <a:t>    matchLabels:</a:t>
            </a:r>
            <a:br/>
            <a:r>
              <a:rPr sz="1200" cap="none">
                <a:solidFill>
                  <a:srgbClr val="142C46"/>
                </a:solidFill>
                <a:latin typeface="Consolas"/>
              </a:rPr>
              <a:t>      app: qwen3-coder-30b</a:t>
            </a:r>
            <a:br/>
            <a:r>
              <a:rPr sz="1200" cap="none">
                <a:solidFill>
                  <a:srgbClr val="142C46"/>
                </a:solidFill>
                <a:latin typeface="Consolas"/>
              </a:rPr>
              <a:t>  template:</a:t>
            </a:r>
            <a:br/>
            <a:r>
              <a:rPr sz="1200" cap="none">
                <a:solidFill>
                  <a:srgbClr val="142C46"/>
                </a:solidFill>
                <a:latin typeface="Consolas"/>
              </a:rPr>
              <a:t>    resource:</a:t>
            </a:r>
            <a:br/>
            <a:r>
              <a:rPr sz="1200" cap="none">
                <a:solidFill>
                  <a:srgbClr val="142C46"/>
                </a:solidFill>
                <a:latin typeface="Consolas"/>
              </a:rPr>
              <a:t>      instanceType: Standard_NC24ads_A100_v4   # &lt;- GPU SKU</a:t>
            </a:r>
            <a:br/>
            <a:r>
              <a:rPr sz="1200" cap="none">
                <a:solidFill>
                  <a:srgbClr val="142C46"/>
                </a:solidFill>
                <a:latin typeface="Consolas"/>
              </a:rPr>
              <a:t>    inference:</a:t>
            </a:r>
            <a:br/>
            <a:r>
              <a:rPr sz="1200" cap="none">
                <a:solidFill>
                  <a:srgbClr val="142C46"/>
                </a:solidFill>
                <a:latin typeface="Consolas"/>
              </a:rPr>
              <a:t>      preset:</a:t>
            </a:r>
            <a:br/>
            <a:r>
              <a:rPr sz="1200" cap="none">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19</a:t>
            </a:fld>
          </a:p>
        </p:txBody>
      </p:sp>
      <p:sp xmlns:p="http://schemas.openxmlformats.org/presentationml/2006/main" xmlns:a="http://schemas.openxmlformats.org/drawingml/2006/main">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workload example</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a:bodyPr>
          <a:lstStyle/>
          <a:p>
            <a:r>
              <a:rPr lang="en-US" sz="2400" b="1" dirty="0"/>
              <a:t>How GPU Node Count Is </a:t>
            </a:r>
            <a:r>
              <a:rPr lang="en-US" altLang="zh-CN" sz="2400" b="1" dirty="0"/>
              <a:t>c</a:t>
            </a:r>
            <a:r>
              <a:rPr lang="en-US" sz="2400" b="1" dirty="0"/>
              <a:t>omputed in KAITO</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You give model + GPU SKU. KAITO computes the node count — you never do the math.</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fontScale="92500"/>
          </a:bodyPr>
          <a:lstStyle/>
          <a:p>
            <a:r>
              <a:rPr lang="en-US" sz="1200" dirty="0"/>
              <a:t>Inputs KAITO reads: model weight size, context length (max-model-len), and the GPU SKU (memory + GPUs per node).</a:t>
            </a:r>
          </a:p>
        </p:txBody>
      </p:sp>
      <p:sp>
        <p:nvSpPr>
          <p:cNvPr id="5" name="Formula"/>
          <p:cNvSpPr txBox="1"/>
          <p:nvPr/>
        </p:nvSpPr>
        <p:spPr>
          <a:xfrm>
            <a:off x="457200" y="1980000"/>
            <a:ext cx="8229600" cy="1850000"/>
          </a:xfrm>
          <a:prstGeom prst="rect">
            <a:avLst/>
          </a:prstGeom>
          <a:solidFill>
            <a:srgbClr val="F5F5F5"/>
          </a:solidFill>
          <a:ln w="9525">
            <a:solidFill>
              <a:srgbClr val="D0D0D0"/>
            </a:solidFill>
          </a:ln>
        </p:spPr>
        <p:txBody>
          <a:bodyPr wrap="square" lIns="91440" tIns="45720" rIns="91440" bIns="45720" rtlCol="0">
            <a:normAutofit/>
          </a:bodyPr>
          <a:lstStyle/>
          <a:p>
            <a:r>
              <a:rPr lang="en-US" sz="1150" dirty="0">
                <a:latin typeface="Consolas" panose="020B0609020204030204" pitchFamily="49" charset="0"/>
              </a:rPr>
              <a:t>per-GPU budget = GPU memory  ×  0.84            (vLLM memory utilization)</a:t>
            </a:r>
          </a:p>
          <a:p>
            <a:r>
              <a:rPr lang="en-US" sz="1150" dirty="0">
                <a:latin typeface="Consolas" panose="020B0609020204030204" pitchFamily="49" charset="0"/>
              </a:rPr>
              <a:t>               −  ~2.3 GiB   fixed overhead</a:t>
            </a:r>
          </a:p>
          <a:p>
            <a:r>
              <a:rPr lang="en-US" sz="1150" dirty="0">
                <a:latin typeface="Consolas" panose="020B0609020204030204" pitchFamily="49" charset="0"/>
              </a:rPr>
              <a:t>               −  KV cache   ( max-model-len × bytes-per-token )</a:t>
            </a:r>
          </a:p>
          <a:p>
            <a:r>
              <a:rPr lang="en-US" sz="1150" dirty="0">
                <a:latin typeface="Consolas" panose="020B0609020204030204" pitchFamily="49" charset="0"/>
              </a:rPr>
              <a:t> </a:t>
            </a:r>
          </a:p>
          <a:p>
            <a:r>
              <a:rPr lang="en-US" sz="1150" dirty="0">
                <a:latin typeface="Consolas" panose="020B0609020204030204" pitchFamily="49" charset="0"/>
              </a:rPr>
              <a:t>min GPUs    = ceil( model weights  ÷  per-GPU budget )   (weights × 1.02)</a:t>
            </a:r>
          </a:p>
          <a:p>
            <a:r>
              <a:rPr lang="en-US" sz="115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 saved as status.targetNodeCount.</a:t>
            </a:r>
          </a:p>
          <a:p>
            <a:r>
              <a:rPr lang="en-US" sz="1200" dirty="0"/>
              <a:t>If it is &gt; 1, KAITO serves the model multi-node automatically: tensor-parallel inside each node, pipeline-parallel across nodes.</a:t>
            </a:r>
          </a:p>
        </p:txBody>
      </p:sp>
      <p:sp xmlns:p="http://schemas.openxmlformats.org/presentationml/2006/main" xmlns:a="http://schemas.openxmlformats.org/drawingml/2006/main">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20</a:t>
            </a:fld>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Where </a:t>
            </a:r>
            <a:r>
              <a:rPr b="1" cap="none">
                <a:solidFill>
                  <a:srgbClr val="346CEC"/>
                </a:solidFill>
              </a:rPr>
              <a:t>KAITO</a:t>
            </a:r>
            <a:r>
              <a:rPr cap="none"/>
              <a:t> and </a:t>
            </a:r>
            <a:r>
              <a:rPr b="1" cap="none">
                <a:solidFill>
                  <a:srgbClr val="168C96"/>
                </a:solidFill>
              </a:rPr>
              <a:t>llm-d</a:t>
            </a:r>
            <a:r>
              <a:rPr cap="none"/>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lifecycle  •  </a:t>
            </a:r>
            <a:r>
              <a:rPr b="1" cap="none" dirty="0" err="1">
                <a:solidFill>
                  <a:srgbClr val="168C96"/>
                </a:solidFill>
              </a:rPr>
              <a:t>llm</a:t>
            </a:r>
            <a:r>
              <a:rPr b="1" cap="none" dirty="0">
                <a:solidFill>
                  <a:srgbClr val="168C96"/>
                </a:solidFill>
              </a:rPr>
              <a:t>-d</a:t>
            </a:r>
            <a:r>
              <a:rPr cap="none" dirty="0"/>
              <a:t>: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22</a:t>
            </a:fld>
          </a:p>
        </p:txBody>
      </p:sp>
      <p:sp xmlns:p="http://schemas.openxmlformats.org/presentationml/2006/main" xmlns:a="http://schemas.openxmlformats.org/drawingml/2006/main">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23</a:t>
            </a:fld>
          </a:p>
        </p:txBody>
      </p:sp>
      <p:sp xmlns:p="http://schemas.openxmlformats.org/presentationml/2006/main" xmlns:a="http://schemas.openxmlformats.org/drawingml/2006/main">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24</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25</a:t>
            </a:fld>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26</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27</a:t>
            </a:fld>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28</a:t>
            </a:fld>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29</a:t>
            </a:fld>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cap="none" dirty="0">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30</a:t>
            </a:fld>
          </a:p>
        </p:txBody>
      </p:sp>
      <p:sp xmlns:p="http://schemas.openxmlformats.org/presentationml/2006/main" xmlns:a="http://schemas.openxmlformats.org/drawingml/2006/main">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Efficient KV transfer with </a:t>
            </a:r>
            <a:r>
              <a:rPr cap="none" dirty="0" err="1"/>
              <a:t>vLLM</a:t>
            </a:r>
            <a:r>
              <a:rPr cap="none" dirty="0"/>
              <a:t> and NIXL</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31</a:t>
            </a:fld>
          </a:p>
        </p:txBody>
      </p:sp>
      <p:sp xmlns:p="http://schemas.openxmlformats.org/presentationml/2006/main" xmlns:a="http://schemas.openxmlformats.org/drawingml/2006/main">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Autoscaling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32</a:t>
            </a:fld>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33</a:t>
            </a:fld>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cap="none" dirty="0">
                <a:solidFill>
                  <a:srgbClr val="142C46"/>
                </a:solidFill>
                <a:latin typeface="Arial"/>
              </a:rPr>
              <a:t>What it adds</a:t>
            </a:r>
            <a:br/>
            <a:r>
              <a:rPr sz="1300" cap="none">
                <a:solidFill>
                  <a:srgbClr val="142C46"/>
                </a:solidFill>
                <a:latin typeface="Arial"/>
              </a:rPr>
              <a:t>No Prometheus required</a:t>
            </a:r>
            <a:br/>
            <a:r>
              <a:rPr sz="1300" cap="none">
                <a:solidFill>
                  <a:srgbClr val="142C46"/>
                </a:solidFill>
                <a:latin typeface="Arial"/>
              </a:rPr>
              <a:t>Direct vLLM metric scraping</a:t>
            </a:r>
            <a:br/>
            <a:r>
              <a:rPr sz="1300" cap="none">
                <a:solidFill>
                  <a:srgbClr val="142C46"/>
                </a:solidFill>
                <a:latin typeface="Arial"/>
              </a:rPr>
              <a:t>Conservative replica steps</a:t>
            </a:r>
            <a:br/>
            <a:r>
              <a:rPr sz="1300" cap="none">
                <a:solidFill>
                  <a:srgbClr val="142C46"/>
                </a:solidFill>
                <a:latin typeface="Arial"/>
              </a:rPr>
              <a:t>Queue and latency signals</a:t>
            </a:r>
            <a:br/>
            <a:r>
              <a:rPr sz="1300" cap="none">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34</a:t>
            </a:fld>
          </a:p>
        </p:txBody>
      </p:sp>
      <p:sp xmlns:p="http://schemas.openxmlformats.org/presentationml/2006/main" xmlns:a="http://schemas.openxmlformats.org/drawingml/2006/main">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35</a:t>
            </a:fld>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36</a:t>
            </a:fld>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37</a:t>
            </a:fld>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Example: one MRI policy, independent P/D autoscaling decisions</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Illustrative policy excerpts. Full proposed manifest is linked in the speaker notes.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Requires the MRI adapter + child opt-in above. Thresholds are examples, not production tuning.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sz="675" lang="en-US"/>
              <a:t>38</a:t>
            </a:fld>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Waiting=12; running=12</a:t>
            </a:r>
          </a:p>
          <a:p>
            <a:pPr>
              <a:spcAft>
                <a:spcPts val="375"/>
              </a:spcAft>
              <a:defRPr sz="1700" b="0">
                <a:solidFill>
                  <a:srgbClr val="087F8C"/>
                </a:solidFill>
                <a:latin typeface="Arial"/>
              </a:defRPr>
            </a:pPr>
            <a:r>
              <a:rPr sz="1275"/>
              <a:t>Prefill scales 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Running later rises above 24:</a:t>
            </a:r>
          </a:p>
          <a:p>
            <a:pPr>
              <a:spcAft>
                <a:spcPts val="375"/>
              </a:spcAft>
              <a:defRPr sz="1600" b="0">
                <a:solidFill>
                  <a:srgbClr val="7354B8"/>
                </a:solidFill>
                <a:latin typeface="Arial"/>
              </a:defRPr>
            </a:pPr>
            <a:r>
              <a:rPr sz="1200"/>
              <a:t>decode can scale up independently.</a:t>
            </a:r>
          </a:p>
        </p:txBody>
      </p:sp>
      <p:sp xmlns:p="http://schemas.openxmlformats.org/presentationml/2006/main" xmlns:a="http://schemas.openxmlformats.org/drawingml/2006/main">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39</a:t>
            </a:fld>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40</a:t>
            </a:fld>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41</a:t>
            </a:fld>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What’s next for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lang="en-US" altLang="zh-CN" sz="2100" b="1" cap="none" dirty="0">
                <a:solidFill>
                  <a:srgbClr val="142C46"/>
                </a:solidFill>
                <a:latin typeface="Arial"/>
              </a:rPr>
              <a:t>integration</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42</a:t>
            </a:fld>
          </a:p>
        </p:txBody>
      </p:sp>
      <p:sp xmlns:p="http://schemas.openxmlformats.org/presentationml/2006/main" xmlns:a="http://schemas.openxmlformats.org/drawingml/2006/main">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and try KAITO + llm-d P/D serving</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sz="800" b="0" cap="none" lang="en-US">
                <a:solidFill>
                  <a:srgbClr val="52677D"/>
                </a:solidFill>
                <a:latin typeface="Arial"/>
              </a:rPr>
              <a:t>43</a:t>
            </a:fld>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xmlns:p="http://schemas.openxmlformats.org/presentationml/2006/main" xmlns:a="http://schemas.openxmlformats.org/drawingml/2006/main">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44</a:t>
            </a:fld>
          </a:p>
        </p:txBody>
      </p:sp>
      <p:sp xmlns:p="http://schemas.openxmlformats.org/presentationml/2006/main" xmlns:a="http://schemas.openxmlformats.org/drawingml/2006/main">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45</a:t>
            </a:fld>
          </a:p>
        </p:txBody>
      </p:sp>
      <p:sp xmlns:p="http://schemas.openxmlformats.org/presentationml/2006/main" xmlns:a="http://schemas.openxmlformats.org/drawingml/2006/main">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Why the sidecar belongs </a:t>
            </a:r>
            <a:r>
              <a:rPr lang="en-US" sz="2100" b="1" cap="none" dirty="0">
                <a:solidFill>
                  <a:srgbClr val="142C46"/>
                </a:solidFill>
                <a:latin typeface="Arial"/>
              </a:rPr>
              <a:t>to</a:t>
            </a:r>
            <a:r>
              <a:rPr sz="2100" b="1" cap="none" dirty="0">
                <a:solidFill>
                  <a:srgbClr val="142C46"/>
                </a:solidFill>
                <a:latin typeface="Arial"/>
              </a:rPr>
              <a:t>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46</a:t>
            </a:fld>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47</a:t>
            </a:fld>
          </a:p>
        </p:txBody>
      </p:sp>
      <p:sp xmlns:p="http://schemas.openxmlformats.org/presentationml/2006/main" xmlns:a="http://schemas.openxmlformats.org/drawingml/2006/main">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time to first token; decode shapes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Compose clear responsibilities</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with safeguards</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role-specific signals, model readiness and safe scale-down.</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sz="800" b="0" cap="none" lang="en-US">
                <a:solidFill>
                  <a:srgbClr val="52677D"/>
                </a:solidFill>
                <a:latin typeface="Arial"/>
              </a:rPr>
              <a:t>48</a:t>
            </a:fld>
          </a:p>
        </p:txBody>
      </p:sp>
      <p:sp xmlns:p="http://schemas.openxmlformats.org/presentationml/2006/main" xmlns:a="http://schemas.openxmlformats.org/drawingml/2006/main">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49</a:t>
            </a:fld>
          </a:p>
        </p:txBody>
      </p:sp>
      <p:sp xmlns:p="http://schemas.openxmlformats.org/presentationml/2006/main" xmlns:a="http://schemas.openxmlformats.org/drawingml/2006/main">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50</a:t>
            </a:fld>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51</a:t>
            </a:fld>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52</a:t>
            </a:fld>
          </a:p>
        </p:txBody>
      </p:sp>
      <p:sp xmlns:p="http://schemas.openxmlformats.org/presentationml/2006/main" xmlns:a="http://schemas.openxmlformats.org/drawingml/2006/main">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8600</TotalTime>
  <Words>12491</Words>
  <Application>Microsoft Office PowerPoint</Application>
  <PresentationFormat>On-screen Show (16:9)</PresentationFormat>
  <Paragraphs>1345</Paragraphs>
  <Slides>52</Slides>
  <Notes>52</Notes>
  <HiddenSlides>8</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Noto Sans Symbols</vt:lpstr>
      <vt:lpstr>Red Hat Display</vt:lpstr>
      <vt:lpstr>Arial</vt:lpstr>
      <vt:lpstr>Calibri</vt:lpstr>
      <vt:lpstr>Consolas</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is LLM-D?</vt:lpstr>
      <vt:lpstr>LLM-D has achieved so far</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119</cp:revision>
  <dcterms:created xsi:type="dcterms:W3CDTF">2019-07-29T21:37:05Z</dcterms:created>
  <dcterms:modified xsi:type="dcterms:W3CDTF">2026-10-25T02:58:39Z</dcterms:modified>
</cp:coreProperties>
</file>