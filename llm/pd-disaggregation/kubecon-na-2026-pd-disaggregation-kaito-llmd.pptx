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Welcome to Cloud Native AI and Inference Day. Today we want to tackle a practical question: the work an LLM does before it starts answering is different from the work it does while the answer is streaming. If both share the same GPUs, how do we balance responsiveness and capacity? And if we separate them, how do we operate that on Kubernetes?</a:t>
            </a:r>
          </a:p>
          <a:p>
            <a:r>
              <a:rPr lang="en-US" sz="1200"/>
              <a:t>We’ll start with a single request, then look at how KAITO and llm-d fit together. The goal is not separation for its own sake. It’s understanding when the split is useful, and what we take on when we make it.</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sz="1200" dirty="0"/>
              <a:t>I’m Andy Zhang, software engineer working in the Azure Kubernetes Service team at Microsoft, and a maintainer of KAITO and several CSI drivers.</a:t>
            </a:r>
          </a:p>
          <a:p>
            <a:pPr marL="457200" lvl="0" indent="-298450">
              <a:buClr>
                <a:srgbClr val="000000"/>
              </a:buClr>
              <a:buSzPts val="1100"/>
              <a:buFont typeface="Arial"/>
              <a:buChar char="●"/>
            </a:pPr>
            <a:r>
              <a:rPr lang="en-US" sz="1200" dirty="0"/>
              <a:t>Unfortunately, my co-presenter Linbo couldn’t join us because he cannot get his visa in time, so I’ll be presenting alone today.</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dirty="0"/>
              <a:t>Here’s the agenda. We’ll start with the basics of prefill and decode, and why it makes sense to separate them. Then, we’ll introduce </a:t>
            </a:r>
            <a:r>
              <a:rPr lang="en-US" sz="1200" dirty="0" err="1"/>
              <a:t>llm</a:t>
            </a:r>
            <a:r>
              <a:rPr lang="en-US" sz="1200" dirty="0"/>
              <a:t>-d and KAITO and show how they work together to support P/D disaggregation. Finally, we’ll explore how to scale prefill and decode independently.</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Here is an example for prefill and decode process, </a:t>
            </a:r>
            <a:r>
              <a:rPr lang="en-US" altLang="zh-CN" sz="1200" dirty="0"/>
              <a:t>our prompt is ‘What does Kubernetes do?’ We’ve drawn one word per token, plus punctuation, so there are five tokens here.  I need to mention that this is a teaching example, not a real tokenizer’s output. Prefill processes those prompt positions together, but it still uses causal attention which means each position can attend only to itself and earlier positions. As the model runs, it saves the attention keys and values for the processed positions at each layer. That’s the KV cache.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The final prompt position produces the scores used to select the first output token, ‘Kubernetes.’ That takes us into decode process.</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We’ve selected ‘Kubernetes.’ How does the answer continue? In the first row, decode consumes ‘Kubernetes,’ reads the cached history, appends the keys and values for that input token, and selects ‘helps.’ The next row consumes ‘helps’ and selects ‘teams.’ We repeat that process until the answer is complete.</a:t>
            </a:r>
          </a:p>
          <a:p>
            <a:r>
              <a:rPr lang="en-US" sz="1200" dirty="0"/>
              <a:t>Keep those two actions separate: consuming a token and selecting the next one. The cache grows with the token we just consumed. And we reuse the previous KV state rather than recomputing the whole prompt at every step.</a:t>
            </a:r>
          </a:p>
          <a:p>
            <a:r>
              <a:rPr lang="en-US" sz="1200"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a:t>
            </a:r>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When you use a chatbot, you usually care about two things: how soon does the answer start, and how smoothly does it keep going?</a:t>
            </a:r>
          </a:p>
          <a:p>
            <a:r>
              <a:rPr lang="en-US" sz="1200" dirty="0"/>
              <a:t>That’s what this slide is about. It’s one request, but there are two different performance targets.</a:t>
            </a:r>
          </a:p>
          <a:p>
            <a:r>
              <a:rPr lang="en-US" sz="1200" dirty="0"/>
              <a:t>First, how long do you wait before you see the first word? We call that time to first token, or TTFT. Prefill is a big part of that wait—the model must process your prompt before it can start answering.</a:t>
            </a:r>
          </a:p>
          <a:p>
            <a:r>
              <a:rPr lang="zh-CN" altLang="zh-CN" sz="1100" b="0" i="0" u="none" strike="noStrike" cap="none" spc="0" dirty="0">
                <a:solidFill>
                  <a:srgbClr val="000000"/>
                </a:solidFill>
                <a:effectLst/>
                <a:latin typeface="Arial"/>
                <a:ea typeface="Arial"/>
                <a:cs typeface="Arial"/>
                <a:sym typeface="Arial"/>
              </a:rPr>
              <a:t>Once the answer starts, we want it to keep going without pauses. That’s what decode is about. The time between tokens is called </a:t>
            </a:r>
            <a:r>
              <a:rPr lang="zh-CN" altLang="zh-CN" sz="1100" b="1" i="0" u="none" strike="noStrike" cap="none" spc="0" dirty="0">
                <a:solidFill>
                  <a:srgbClr val="000000"/>
                </a:solidFill>
                <a:effectLst/>
                <a:latin typeface="Arial"/>
                <a:ea typeface="Arial"/>
                <a:cs typeface="Arial"/>
                <a:sym typeface="Arial"/>
              </a:rPr>
              <a:t>inter-token latency</a:t>
            </a:r>
            <a:r>
              <a:rPr lang="zh-CN" altLang="zh-CN" sz="1100" b="0" i="0" u="none" strike="noStrike" cap="none" spc="0" dirty="0">
                <a:solidFill>
                  <a:srgbClr val="000000"/>
                </a:solidFill>
                <a:effectLst/>
                <a:latin typeface="Arial"/>
                <a:ea typeface="Arial"/>
                <a:cs typeface="Arial"/>
                <a:sym typeface="Arial"/>
              </a:rPr>
              <a:t>.</a:t>
            </a:r>
            <a:r>
              <a:rPr lang="en-US" altLang="zh-CN" sz="1100" b="0" i="0" u="none" strike="noStrike" cap="none" spc="0" dirty="0">
                <a:solidFill>
                  <a:srgbClr val="000000"/>
                </a:solidFill>
                <a:effectLst/>
                <a:latin typeface="Arial"/>
                <a:ea typeface="Arial"/>
                <a:cs typeface="Arial"/>
                <a:sym typeface="Arial"/>
              </a:rPr>
              <a:t> ITL</a:t>
            </a:r>
            <a:r>
              <a:rPr lang="zh-CN" altLang="en-US" sz="1100" b="0" i="0" u="none" strike="noStrike" cap="none" spc="0" dirty="0">
                <a:solidFill>
                  <a:srgbClr val="000000"/>
                </a:solidFill>
                <a:effectLst/>
                <a:latin typeface="Arial"/>
                <a:ea typeface="Arial"/>
                <a:cs typeface="Arial"/>
                <a:sym typeface="Arial"/>
              </a:rPr>
              <a:t>。</a:t>
            </a:r>
            <a:endParaRPr lang="en-US" altLang="zh-CN" sz="1100" b="0" i="0" u="none" strike="noStrike" cap="none" spc="0" dirty="0">
              <a:solidFill>
                <a:srgbClr val="000000"/>
              </a:solidFill>
              <a:effectLst/>
              <a:latin typeface="Arial"/>
              <a:ea typeface="Arial"/>
              <a:cs typeface="Arial"/>
              <a:sym typeface="Arial"/>
            </a:endParaRPr>
          </a:p>
          <a:p>
            <a:r>
              <a:rPr lang="en-US" sz="1200" dirty="0"/>
              <a:t>And these two phases tend to need different things from the GPU. Prefill is often compute bound, and decode is often memory bandwidth bound.</a:t>
            </a:r>
          </a:p>
          <a:p>
            <a:r>
              <a:rPr lang="en-US" altLang="zh-CN" sz="1200" cap="none" dirty="0">
                <a:latin typeface="Arial"/>
              </a:rPr>
              <a:t>Both affect total response latency and SLO goodput.</a:t>
            </a:r>
            <a:endParaRPr lang="en-US" sz="1200" dirty="0"/>
          </a:p>
          <a:p>
            <a:r>
              <a:rPr lang="en-US" sz="1200" dirty="0"/>
              <a:t>Now, what happens when prefill and decode must share the same GPU?</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simplest starting point is the shared GPU pool on the left. Every worker handles both prefill and decode. Operationally, that is attractive: one deployment, one replica count, and fewer moving parts for KV cache. </a:t>
            </a:r>
          </a:p>
          <a:p>
            <a:r>
              <a:rPr lang="zh-CN" altLang="zh-CN" sz="1100" b="0" i="0" u="none" strike="noStrike" cap="none" spc="0" dirty="0">
                <a:solidFill>
                  <a:srgbClr val="000000"/>
                </a:solidFill>
                <a:effectLst/>
                <a:latin typeface="Arial"/>
                <a:ea typeface="Arial"/>
                <a:cs typeface="Arial"/>
                <a:sym typeface="Arial"/>
              </a:rPr>
              <a:t>The problem shows up when the balance between short and long requests changes.</a:t>
            </a:r>
            <a:r>
              <a:rPr lang="en-US" sz="1200" dirty="0"/>
              <a:t> Imagine a burst of long prompts arriving while existing requests are already generating. Prompt processing and ongoing generation now compete for the same resources, and token delivery can become unstable.</a:t>
            </a:r>
          </a:p>
          <a:p>
            <a:r>
              <a:rPr lang="en-US" sz="1200" dirty="0"/>
              <a:t>If we add a replica, we add capacity for both phases together—even if only one is under pressure. </a:t>
            </a:r>
            <a:r>
              <a:rPr lang="zh-CN" altLang="zh-CN" sz="1100" b="0" i="0" u="none" strike="noStrike" cap="none" spc="0" dirty="0">
                <a:solidFill>
                  <a:srgbClr val="000000"/>
                </a:solidFill>
                <a:effectLst/>
                <a:latin typeface="Arial"/>
                <a:ea typeface="Arial"/>
                <a:cs typeface="Arial"/>
                <a:sym typeface="Arial"/>
              </a:rPr>
              <a:t>There are two questions: how does a worker handle different tasks, and how much capacity do we need? With a shared pool, these two decisions affect each other. Let’s first look at how the tasks compete for resources. Then we’ll talk about giving them separate capacity.</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Here, D is a decode step for ongoing work, and P is prefill for a new request. In the top graph, decode is making progress on a shared GPU, then prefill takes an execution interval. Decode may have to wait. From the user side, that can look like an answer that starts and then pauses.</a:t>
            </a:r>
          </a:p>
          <a:p>
            <a:r>
              <a:rPr lang="en-US" sz="1200" dirty="0"/>
              <a:t>In the lower graph, prefill runs on a separate GPU, removing that direct execution conflict from the decode GPU. Existing generation can continue. But the new request still needs a KV handoff before it can continue decode.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a:latin typeface="Arial"/>
              </a:rPr>
              <a:t>Separate GPUs remove direct prefill execution from the decode GPU—not every source of latency.</a:t>
            </a:r>
          </a:p>
          <a:p>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Start on the left graph. Prefill has many input positions available, so it can batch prompt positions from one or more requests while preserving causal attention. </a:t>
            </a:r>
          </a:p>
          <a:p>
            <a:r>
              <a:rPr lang="zh-CN" altLang="zh-CN" sz="1100" b="0" i="0" u="none" strike="noStrike" cap="none" spc="0" dirty="0">
                <a:solidFill>
                  <a:srgbClr val="000000"/>
                </a:solidFill>
                <a:effectLst/>
                <a:latin typeface="Arial"/>
                <a:ea typeface="Arial"/>
                <a:cs typeface="Arial"/>
                <a:sym typeface="Arial"/>
              </a:rPr>
              <a:t>Decode works differently. On the right, each request uses its KV cache and the latest token to generate the next token. Each request moves forward one token at a time, so parallelism mainly comes from processing multiple requests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That’s why a bigger decode batch is not automatically better. More concurrent requests may improve utilization, but they also need more KV memory and can increase the interval between tokens. We have to batch within both the latency budget and the memory budget. Once the units of work are different, it makes sense that the best capacity and batching choices may differ too.</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 real benefit is that we can tune and scale prefill and decode separately—not just run two deployments. If prefill is slow, we can give it more capacity so users get the first token sooner. If decode cannot keep up, we can tune its batching, memory bandwidth usage, and KV cache management to keep tokens flowing.</a:t>
            </a:r>
          </a:p>
          <a:p>
            <a:r>
              <a:rPr lang="zh-CN" altLang="zh-CN" sz="1100" b="0" i="0" u="none" strike="noStrike" cap="none" spc="0" dirty="0">
                <a:solidFill>
                  <a:srgbClr val="000000"/>
                </a:solidFill>
                <a:effectLst/>
                <a:latin typeface="Arial"/>
                <a:ea typeface="Arial"/>
                <a:cs typeface="Arial"/>
                <a:sym typeface="Arial"/>
              </a:rPr>
              <a:t>The bottom row shows why: prefill and decode have different latency goals and resource needs, so they may need different settings. We can choose different replica counts, batching policies, and ways to split model computation across GPUs, called tensor parallelism. There is no single best setup. Separating the two phases lets us tune each one without forcing both to use the same settings.</a:t>
            </a:r>
          </a:p>
          <a:p>
            <a:r>
              <a:rPr lang="zh-CN" altLang="zh-CN" sz="1100" b="0" i="0" u="none" strike="noStrike" cap="none" spc="0" dirty="0">
                <a:solidFill>
                  <a:srgbClr val="000000"/>
                </a:solidFill>
                <a:effectLst/>
                <a:latin typeface="Arial"/>
                <a:ea typeface="Arial"/>
                <a:cs typeface="Arial"/>
                <a:sym typeface="Arial"/>
              </a:rPr>
              <a:t>But this comes at a cost: moving KV data, keeping extra copies of model weights, and managing a more complex system. We should split only when the benefits outweigh those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Creating two Deployments is only the first step. Together, they still form one model service. All the parts must keep working together, even when pods restart or we scale up and down.</a:t>
            </a:r>
          </a:p>
          <a:p>
            <a:r>
              <a:rPr lang="zh-CN" altLang="zh-CN" sz="1100" b="0" i="0" u="none" strike="noStrike" cap="none" spc="0" dirty="0">
                <a:solidFill>
                  <a:srgbClr val="000000"/>
                </a:solidFill>
                <a:effectLst/>
                <a:latin typeface="Arial"/>
                <a:ea typeface="Arial"/>
                <a:cs typeface="Arial"/>
                <a:sym typeface="Arial"/>
              </a:rPr>
              <a:t>The routing layer needs to find available workers and tell prefill from decode. EPP stands for Endpoint Picker. It chooses the workers, and the decode-side proxy coordinates the request. The runtimes also need compatible KV connectors and transport settings. Picking the right workers is not enough—they must be able to share KV data.</a:t>
            </a:r>
          </a:p>
          <a:p>
            <a:r>
              <a:rPr lang="zh-CN" altLang="zh-CN" sz="1100" b="0" i="0" u="none" strike="noStrike" cap="none" spc="0" dirty="0">
                <a:solidFill>
                  <a:srgbClr val="000000"/>
                </a:solidFill>
                <a:effectLst/>
                <a:latin typeface="Arial"/>
                <a:ea typeface="Arial"/>
                <a:cs typeface="Arial"/>
                <a:sym typeface="Arial"/>
              </a:rPr>
              <a:t>Labels, ports, readiness checks, and replica changes all need to stay in sync. Each part is fairly simple; keeping them working together is the hard part. That is the orchestration gap. We need more than static YAML—we need a system that keeps these connections working as things change.</a:t>
            </a:r>
          </a:p>
          <a:p>
            <a:r>
              <a:rPr lang="zh-CN" altLang="zh-CN" sz="1100" b="0" i="0" u="none" strike="noStrike" cap="none" spc="0" dirty="0">
                <a:solidFill>
                  <a:srgbClr val="000000"/>
                </a:solidFill>
                <a:effectLst/>
                <a:latin typeface="Arial"/>
                <a:ea typeface="Arial"/>
                <a:cs typeface="Arial"/>
                <a:sym typeface="Arial"/>
              </a:rPr>
              <a:t>Before we introduce our approach, let’s look at the other options in the ecosystem.</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There are several open-source approaches to P/D </a:t>
            </a:r>
            <a:r>
              <a:rPr lang="en-US" altLang="zh-CN" sz="1100" b="0" i="0" u="none" strike="noStrike" cap="none" spc="0" dirty="0">
                <a:solidFill>
                  <a:srgbClr val="000000"/>
                </a:solidFill>
                <a:effectLst/>
                <a:latin typeface="Arial"/>
                <a:ea typeface="Arial"/>
                <a:cs typeface="Arial"/>
                <a:sym typeface="Arial"/>
              </a:rPr>
              <a:t>disaggregation</a:t>
            </a:r>
            <a:r>
              <a:rPr lang="zh-CN" altLang="zh-CN" sz="1100" b="0" i="0" u="none" strike="noStrike" cap="none" spc="0" dirty="0">
                <a:solidFill>
                  <a:srgbClr val="000000"/>
                </a:solidFill>
                <a:effectLst/>
                <a:latin typeface="Arial"/>
                <a:ea typeface="Arial"/>
                <a:cs typeface="Arial"/>
                <a:sym typeface="Arial"/>
              </a:rPr>
              <a:t>. These are examples, not ranking, and some can be used together. Dynamo provides an integrated inference stack. llm-d provides serving and routing components that can be combined. AIBrix, KServe, Ray Serve, and vLLM Production Stack use different APIs and deployment models.</a:t>
            </a:r>
          </a:p>
          <a:p>
            <a:r>
              <a:rPr lang="zh-CN" altLang="zh-CN" sz="1100" b="0" i="0" u="none" strike="noStrike" cap="none" spc="0" dirty="0">
                <a:solidFill>
                  <a:srgbClr val="000000"/>
                </a:solidFill>
                <a:effectLst/>
                <a:latin typeface="Arial"/>
                <a:ea typeface="Arial"/>
                <a:cs typeface="Arial"/>
                <a:sym typeface="Arial"/>
              </a:rPr>
              <a:t>Focus on the middle and right columns: how do serving and routing work together, and what does the user configure in Kubernetes? Declarative APIs and custom resources already exist. We are not trying to create the first P/D custom resource.</a:t>
            </a:r>
          </a:p>
          <a:p>
            <a:r>
              <a:rPr lang="zh-CN" altLang="zh-CN" sz="1100" b="0" i="0" u="none" strike="noStrike" cap="none" spc="0" dirty="0">
                <a:solidFill>
                  <a:srgbClr val="000000"/>
                </a:solidFill>
                <a:effectLst/>
                <a:latin typeface="Arial"/>
                <a:ea typeface="Arial"/>
                <a:cs typeface="Arial"/>
                <a:sym typeface="Arial"/>
              </a:rPr>
              <a:t>For KAITO users, the goal is to reuse these components within their existing setup, with less manual configuration to maintain. </a:t>
            </a:r>
            <a:endParaRPr lang="en-US"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Next, let’s take a closer look at llm-d.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joined the CNCF as a Sandbox project in March 2026. Its main idea is to connect existing tools, not replace them. It brings inference runtimes like vLLM together with routing and KV transfer to support distributed inference on Kubernetes.</a:t>
            </a:r>
          </a:p>
          <a:p>
            <a:r>
              <a:rPr lang="zh-CN" altLang="zh-CN" sz="1100" b="0" i="0" u="none" strike="noStrike" cap="none" spc="0" dirty="0">
                <a:solidFill>
                  <a:srgbClr val="000000"/>
                </a:solidFill>
                <a:effectLst/>
                <a:latin typeface="Arial"/>
                <a:ea typeface="Arial"/>
                <a:cs typeface="Arial"/>
                <a:sym typeface="Arial"/>
              </a:rPr>
              <a:t>The approach has three parts. First, each component has a clear job. Second, components can be extended and work together, instead of putting everything into one big system. Third, llm-d provides tested deployment examples, with clear explanations of the trade-offs.</a:t>
            </a:r>
          </a:p>
          <a:p>
            <a:r>
              <a:rPr lang="zh-CN" altLang="zh-CN" sz="1100" b="0" i="0" u="none" strike="noStrike" cap="none" spc="0" dirty="0">
                <a:solidFill>
                  <a:srgbClr val="000000"/>
                </a:solidFill>
                <a:effectLst/>
                <a:latin typeface="Arial"/>
                <a:ea typeface="Arial"/>
                <a:cs typeface="Arial"/>
                <a:sym typeface="Arial"/>
              </a:rPr>
              <a:t>It is not a black box that controls everything. It gives us building blocks we can understand and combine. The examples help us get started, but we still need to test them with our own models, hardware, and traffic.</a:t>
            </a:r>
          </a:p>
          <a:p>
            <a:r>
              <a:rPr lang="zh-CN" altLang="zh-CN" sz="1100" b="0" i="0" u="none" strike="noStrike" cap="none" spc="0" dirty="0">
                <a:solidFill>
                  <a:srgbClr val="000000"/>
                </a:solidFill>
                <a:effectLst/>
                <a:latin typeface="Arial"/>
                <a:ea typeface="Arial"/>
                <a:cs typeface="Arial"/>
                <a:sym typeface="Arial"/>
              </a:rPr>
              <a:t>Next, let’s look at the capabilities llm-d brings together.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four areas address different problems. Mixture-of-experts, or </a:t>
            </a:r>
            <a:r>
              <a:rPr lang="en-US" sz="1200" dirty="0" err="1"/>
              <a:t>MoE</a:t>
            </a:r>
            <a:r>
              <a:rPr lang="en-US" sz="1200" dirty="0"/>
              <a:t>, serving uses expert parallelism to distribute expert computation across GPUs. Prefill/decode disaggregation separates the two phases and transfers KV state between their roles.</a:t>
            </a:r>
          </a:p>
          <a:p>
            <a:r>
              <a:rPr lang="en-US" sz="1200" dirty="0"/>
              <a:t>State-aware scheduling asks which worker is a good destination, using signals such as cache state and load through configured routing plugins. Capacity control asks how much serving capacity we need, using workload signals and latency objectives. The actual autoscaling policy remains integration-specific; this is not a promise that every deployment gets the same automatic controller.</a:t>
            </a:r>
          </a:p>
          <a:p>
            <a:r>
              <a:rPr lang="en-US" sz="1200" dirty="0"/>
              <a:t>The community graphic provides project history, not a serving benchmark. The takeaway is a set of architectural capabilities, not a throughput guarantee. In particular, choosing a worker and adding workers are different decisions. The well-lit paths turn these building blocks into deployment patterns that make those choices easier to understand.</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A “well-lit path” is a tested deployment guide. It explains how the components work together, what problem they solve, and what trade-offs to consider. It does not guarantee the same performance on every hardware setup.</a:t>
            </a:r>
          </a:p>
          <a:p>
            <a:r>
              <a:rPr lang="zh-CN" altLang="zh-CN" sz="1100" b="0" i="0" u="none" strike="noStrike" cap="none" spc="0" dirty="0">
                <a:solidFill>
                  <a:srgbClr val="000000"/>
                </a:solidFill>
                <a:effectLst/>
                <a:latin typeface="Arial"/>
                <a:ea typeface="Arial"/>
                <a:cs typeface="Arial"/>
                <a:sym typeface="Arial"/>
              </a:rPr>
              <a:t>Each path focuses on a different question:</a:t>
            </a:r>
          </a:p>
          <a:p>
            <a:pPr lvl="0"/>
            <a:r>
              <a:rPr lang="zh-CN" altLang="zh-CN" sz="1100" b="0" i="0" u="none" strike="noStrike" cap="none" spc="0" dirty="0">
                <a:solidFill>
                  <a:srgbClr val="000000"/>
                </a:solidFill>
                <a:effectLst/>
                <a:latin typeface="Arial"/>
                <a:ea typeface="Arial"/>
                <a:cs typeface="Arial"/>
                <a:sym typeface="Arial"/>
              </a:rPr>
              <a:t>Intelligent scheduling: which worker should handle a request?</a:t>
            </a:r>
          </a:p>
          <a:p>
            <a:pPr lvl="0"/>
            <a:r>
              <a:rPr lang="zh-CN" altLang="zh-CN" sz="1100" b="0" i="0" u="none" strike="noStrike" cap="none" spc="0" dirty="0">
                <a:solidFill>
                  <a:srgbClr val="000000"/>
                </a:solidFill>
                <a:effectLst/>
                <a:latin typeface="Arial"/>
                <a:ea typeface="Arial"/>
                <a:cs typeface="Arial"/>
                <a:sym typeface="Arial"/>
              </a:rPr>
              <a:t>KV cache management: where should reusable KV data be stored?</a:t>
            </a:r>
          </a:p>
          <a:p>
            <a:pPr lvl="0"/>
            <a:r>
              <a:rPr lang="zh-CN" altLang="zh-CN" sz="1100" b="0" i="0" u="none" strike="noStrike" cap="none" spc="0" dirty="0">
                <a:solidFill>
                  <a:srgbClr val="000000"/>
                </a:solidFill>
                <a:effectLst/>
                <a:latin typeface="Arial"/>
                <a:ea typeface="Arial"/>
                <a:cs typeface="Arial"/>
                <a:sym typeface="Arial"/>
              </a:rPr>
              <a:t>Wide expert parallelism: how should a large MoE model’s experts run across GPUs?</a:t>
            </a:r>
          </a:p>
          <a:p>
            <a:pPr lvl="0"/>
            <a:r>
              <a:rPr lang="zh-CN" altLang="zh-CN" sz="1100" b="0" i="0" u="none" strike="noStrike" cap="none" spc="0" dirty="0">
                <a:solidFill>
                  <a:srgbClr val="000000"/>
                </a:solidFill>
                <a:effectLst/>
                <a:latin typeface="Arial"/>
                <a:ea typeface="Arial"/>
                <a:cs typeface="Arial"/>
                <a:sym typeface="Arial"/>
              </a:rPr>
              <a:t>P/D separation: how should we size and configure prefill and decode separately?</a:t>
            </a:r>
          </a:p>
          <a:p>
            <a:r>
              <a:rPr lang="zh-CN" altLang="zh-CN" sz="1100" b="0" i="0" u="none" strike="noStrike" cap="none" spc="0" dirty="0">
                <a:solidFill>
                  <a:srgbClr val="000000"/>
                </a:solidFill>
                <a:effectLst/>
                <a:latin typeface="Arial"/>
                <a:ea typeface="Arial"/>
                <a:cs typeface="Arial"/>
                <a:sym typeface="Arial"/>
              </a:rPr>
              <a:t>These features can work together, but we don’t need all of them at once. Today, we’ll focus on P/D separation. Next, we need to connect these serving components to model deployment, pod restarts, and scaling in Kubernetes. That’s where KAITO comes in.</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KAITO is a CNCF Sandbox project. It uses Kubernetes operators to automate LLM inference, fine-tuning, and RAG.</a:t>
            </a:r>
          </a:p>
          <a:p>
            <a:r>
              <a:rPr lang="zh-CN" altLang="zh-CN" sz="1100" b="0" i="0" u="none" strike="noStrike" cap="none" spc="0" dirty="0">
                <a:solidFill>
                  <a:srgbClr val="000000"/>
                </a:solidFill>
                <a:effectLst/>
                <a:latin typeface="Arial"/>
                <a:ea typeface="Arial"/>
                <a:cs typeface="Arial"/>
                <a:sym typeface="Arial"/>
              </a:rPr>
              <a:t>llm-d provides serving components and deployment guides. KAITO deploys and manages the model workloads.</a:t>
            </a:r>
          </a:p>
          <a:p>
            <a:r>
              <a:rPr lang="zh-CN" altLang="zh-CN" sz="1100" b="0" i="0" u="none" strike="noStrike" cap="none" spc="0" dirty="0">
                <a:solidFill>
                  <a:srgbClr val="000000"/>
                </a:solidFill>
                <a:effectLst/>
                <a:latin typeface="Arial"/>
                <a:ea typeface="Arial"/>
                <a:cs typeface="Arial"/>
                <a:sym typeface="Arial"/>
              </a:rPr>
              <a:t>The workflow is straightforward. Choose a model and GPU type. KAITO provisions nodes based on the model’s memory needs and handles model setup and local caching. </a:t>
            </a:r>
            <a:r>
              <a:rPr lang="en-US" altLang="zh-CN" sz="1100" b="0" i="0" u="none" strike="noStrike" cap="none" spc="0" dirty="0">
                <a:solidFill>
                  <a:srgbClr val="000000"/>
                </a:solidFill>
                <a:effectLst/>
                <a:latin typeface="Arial"/>
                <a:ea typeface="Arial"/>
                <a:cs typeface="Arial"/>
                <a:sym typeface="Arial"/>
              </a:rPr>
              <a:t>KAITO </a:t>
            </a:r>
            <a:r>
              <a:rPr lang="zh-CN" altLang="zh-CN" sz="1100" b="0" i="0" u="none" strike="noStrike" cap="none" spc="0" dirty="0">
                <a:solidFill>
                  <a:srgbClr val="000000"/>
                </a:solidFill>
                <a:effectLst/>
                <a:latin typeface="Arial"/>
                <a:ea typeface="Arial"/>
                <a:cs typeface="Arial"/>
                <a:sym typeface="Arial"/>
              </a:rPr>
              <a:t>manages the running workload and rolling updates</a:t>
            </a:r>
            <a:r>
              <a:rPr lang="en-US" altLang="zh-CN" sz="1100" b="0" i="0" u="none" strike="noStrike" cap="none" spc="0" dirty="0">
                <a:solidFill>
                  <a:srgbClr val="000000"/>
                </a:solidFill>
                <a:effectLst/>
                <a:latin typeface="Arial"/>
                <a:ea typeface="Arial"/>
                <a:cs typeface="Arial"/>
                <a:sym typeface="Arial"/>
              </a:rPr>
              <a:t>, and </a:t>
            </a:r>
            <a:r>
              <a:rPr lang="zh-CN" altLang="zh-CN" sz="1100" b="0" i="0" u="none" strike="noStrike" cap="none" spc="0" dirty="0">
                <a:solidFill>
                  <a:srgbClr val="000000"/>
                </a:solidFill>
                <a:effectLst/>
                <a:latin typeface="Arial"/>
                <a:ea typeface="Arial"/>
                <a:cs typeface="Arial"/>
                <a:sym typeface="Arial"/>
              </a:rPr>
              <a:t>also works with KEDA to scale the workload.</a:t>
            </a:r>
          </a:p>
          <a:p>
            <a:r>
              <a:rPr lang="zh-CN" altLang="zh-CN" sz="1100" b="0" i="0" u="none" strike="noStrike" cap="none" spc="0" dirty="0">
                <a:solidFill>
                  <a:srgbClr val="000000"/>
                </a:solidFill>
                <a:effectLst/>
                <a:latin typeface="Arial"/>
                <a:ea typeface="Arial"/>
                <a:cs typeface="Arial"/>
                <a:sym typeface="Arial"/>
              </a:rPr>
              <a:t>The key idea is simple: you declare what you want, and KAITO keeps the workload in that state—not just starts a container once. Let’s look at what you declare in an InferenceSet.</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We’ve seen what KAITO manages. Now let’s look at what the user specifies in an InferenceSet.</a:t>
            </a:r>
          </a:p>
          <a:p>
            <a:r>
              <a:rPr lang="zh-CN" altLang="zh-CN" sz="1100" b="0" i="0" u="none" strike="noStrike" cap="none" spc="0" dirty="0">
                <a:solidFill>
                  <a:srgbClr val="000000"/>
                </a:solidFill>
                <a:effectLst/>
                <a:latin typeface="Arial"/>
                <a:ea typeface="Arial"/>
                <a:cs typeface="Arial"/>
                <a:sym typeface="Arial"/>
              </a:rPr>
              <a:t>There are three main settings: the model, usually a Hugging Face model ID; the GPU instance type; and the replica count. This example uses a Qwen model, an A100 instance type, and three replicas. Labels help the controllers find and manage the related workloads.</a:t>
            </a:r>
          </a:p>
          <a:p>
            <a:r>
              <a:rPr lang="zh-CN" altLang="zh-CN" sz="1100" b="0" i="0" u="none" strike="noStrike" cap="none" spc="0" dirty="0">
                <a:solidFill>
                  <a:srgbClr val="000000"/>
                </a:solidFill>
                <a:effectLst/>
                <a:latin typeface="Arial"/>
                <a:ea typeface="Arial"/>
                <a:cs typeface="Arial"/>
                <a:sym typeface="Arial"/>
              </a:rPr>
              <a:t>Three replicas does not necessarily mean three GPUs. Each replica serves requests, but it may need multiple GPUs or nodes, depending on the model and runtime settings.</a:t>
            </a:r>
          </a:p>
          <a:p>
            <a:r>
              <a:rPr lang="zh-CN" altLang="zh-CN" sz="1100" b="0" i="0" u="none" strike="noStrike" cap="none" spc="0" dirty="0">
                <a:solidFill>
                  <a:srgbClr val="000000"/>
                </a:solidFill>
                <a:effectLst/>
                <a:latin typeface="Arial"/>
                <a:ea typeface="Arial"/>
                <a:cs typeface="Arial"/>
                <a:sym typeface="Arial"/>
              </a:rPr>
              <a:t>You declare the desired state, and KAITO keeps the actual resources in sync with it. It does more than generate YAML once.</a:t>
            </a:r>
          </a:p>
          <a:p>
            <a:r>
              <a:rPr lang="zh-CN" altLang="zh-CN" sz="1100" b="0" i="0" u="none" strike="noStrike" cap="none" spc="0" dirty="0">
                <a:solidFill>
                  <a:srgbClr val="000000"/>
                </a:solidFill>
                <a:effectLst/>
                <a:latin typeface="Arial"/>
                <a:ea typeface="Arial"/>
                <a:cs typeface="Arial"/>
                <a:sym typeface="Arial"/>
              </a:rPr>
              <a:t>So how does KAITO use the model and instance type to figure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You only need to provide the model name and GPU </a:t>
            </a:r>
            <a:r>
              <a:rPr lang="en-US" sz="1200" dirty="0" err="1"/>
              <a:t>sku</a:t>
            </a:r>
            <a:r>
              <a:rPr lang="en-US" sz="1200" dirty="0"/>
              <a:t>, </a:t>
            </a:r>
            <a:r>
              <a:rPr lang="en-US" altLang="zh-CN" sz="1200" b="0" dirty="0">
                <a:solidFill>
                  <a:schemeClr val="accent2">
                    <a:lumMod val="75000"/>
                  </a:schemeClr>
                </a:solidFill>
              </a:rPr>
              <a:t>KAITO computes the node count — you never do the math</a:t>
            </a:r>
            <a:endParaRPr lang="en-US" sz="1200" b="0" dirty="0"/>
          </a:p>
          <a:p>
            <a:endParaRPr lang="en-US" sz="1200" dirty="0"/>
          </a:p>
          <a:p>
            <a:r>
              <a:rPr lang="en-US" sz="1200" dirty="0"/>
              <a:t>This calculation sizes the initial nodes; it does not decide how many serving replicas traffic requires. Start with the memory budget. We cannot use all GPU memory for model weights. In the calculation shown here, we take eighty-four percent, subtract roughly 2.3 GiB of fixed overhead, and reserve KV cache space based on the maximum context length. What remains is the estimated weight budget per GPU.</a:t>
            </a:r>
          </a:p>
          <a:p>
            <a:r>
              <a:rPr lang="en-US" sz="1200" dirty="0"/>
              <a:t>Next, add the illustrated two-percent weight margin, divide by that budget, and round up to get the GPU count. Divide again by GPUs per node to get the node count, recorded as </a:t>
            </a:r>
            <a:r>
              <a:rPr lang="en-US" sz="1200" dirty="0" err="1"/>
              <a:t>targetNodeCount</a:t>
            </a:r>
            <a:r>
              <a:rPr lang="en-US" sz="1200" dirty="0"/>
              <a:t>. The multi-node path shown uses tensor parallelism within nodes and pipeline parallelism across them. These constants and behaviors need to match the installed KAITO and runtime versions. Fitting the model is a starting point, not proof of concurrency or latency capacity. Now we can extend that resource model to separate prefill and decode roles.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Why bring llm-d into KAITO? We want KAITO users to get P/D routing without changing how they manage workloads in Kubernetes or maintaining another inference router. The three boxes show who does what—not three network hops.</a:t>
            </a:r>
          </a:p>
          <a:p>
            <a:r>
              <a:rPr lang="zh-CN" altLang="zh-CN" sz="1100" b="0" i="0" u="none" strike="noStrike" cap="none" spc="0" dirty="0">
                <a:solidFill>
                  <a:srgbClr val="000000"/>
                </a:solidFill>
                <a:effectLst/>
                <a:latin typeface="Arial"/>
                <a:ea typeface="Arial"/>
                <a:cs typeface="Arial"/>
                <a:sym typeface="Arial"/>
              </a:rPr>
              <a:t>KAITO uses MultiRoleInference, or MRI, to define the prefill and decode roles. Each role has a child InferenceSet that manages its workload.</a:t>
            </a:r>
          </a:p>
          <a:p>
            <a:r>
              <a:rPr lang="zh-CN" altLang="zh-CN" sz="1100" b="0" i="0" u="none" strike="noStrike" cap="none" spc="0" dirty="0">
                <a:solidFill>
                  <a:srgbClr val="000000"/>
                </a:solidFill>
                <a:effectLst/>
                <a:latin typeface="Arial"/>
                <a:ea typeface="Arial"/>
                <a:cs typeface="Arial"/>
                <a:sym typeface="Arial"/>
              </a:rPr>
              <a:t>llm-d provides two components: the Endpoint Picker chooses the workers, and the decode-side routing sidecar coordinates the request. vLLM runs the model, and vLLM works with NIXL to transfer KV data.</a:t>
            </a:r>
          </a:p>
          <a:p>
            <a:r>
              <a:rPr lang="zh-CN" altLang="zh-CN" sz="1100" b="0" i="0" u="none" strike="noStrike" cap="none" spc="0" dirty="0">
                <a:solidFill>
                  <a:srgbClr val="000000"/>
                </a:solidFill>
                <a:effectLst/>
                <a:latin typeface="Arial"/>
                <a:ea typeface="Arial"/>
                <a:cs typeface="Arial"/>
                <a:sym typeface="Arial"/>
              </a:rPr>
              <a:t>This is an option for KAITO users, not a claim that it is better than every other platform. The MRI integration is still in alpha. Its current scope includes vLLM, Istio, and suitable connections between GPUs.</a:t>
            </a:r>
          </a:p>
          <a:p>
            <a:r>
              <a:rPr lang="zh-CN" altLang="zh-CN" sz="1100" b="0" i="0" u="none" strike="noStrike" cap="none" spc="0" dirty="0">
                <a:solidFill>
                  <a:srgbClr val="000000"/>
                </a:solidFill>
                <a:effectLst/>
                <a:latin typeface="Arial"/>
                <a:ea typeface="Arial"/>
                <a:cs typeface="Arial"/>
                <a:sym typeface="Arial"/>
              </a:rPr>
              <a:t>We can set replica counts separately for each role, but that does not mean MRI automatically decides when to scale each one. We’ll return to that distinction when we discuss autoscaling.</a:t>
            </a:r>
          </a:p>
          <a:p>
            <a:endParaRPr lang="en-US" sz="1200" dirty="0"/>
          </a:p>
          <a:p>
            <a:r>
              <a:rPr dirty="0"/>
              <a:t>Technical reference (not part of the spoken script)</a:t>
            </a:r>
          </a:p>
          <a:p>
            <a:endParaRPr dirty="0"/>
          </a:p>
          <a:p>
            <a:r>
              <a:rPr dirty="0"/>
              <a:t>SPEAKER SCRIPT</a:t>
            </a:r>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This is </a:t>
            </a:r>
            <a:r>
              <a:rPr lang="en-US" altLang="zh-CN" sz="1200" cap="none" dirty="0"/>
              <a:t>Where </a:t>
            </a:r>
            <a:r>
              <a:rPr lang="en-US" altLang="zh-CN" sz="1200" b="1" cap="none" dirty="0">
                <a:solidFill>
                  <a:srgbClr val="346CEC"/>
                </a:solidFill>
              </a:rPr>
              <a:t>KAITO</a:t>
            </a:r>
            <a:r>
              <a:rPr lang="en-US" altLang="zh-CN" sz="1200" cap="none" dirty="0"/>
              <a:t> and </a:t>
            </a:r>
            <a:r>
              <a:rPr lang="en-US" altLang="zh-CN" sz="1200" b="1" cap="none" dirty="0" err="1">
                <a:solidFill>
                  <a:srgbClr val="168C96"/>
                </a:solidFill>
              </a:rPr>
              <a:t>llm</a:t>
            </a:r>
            <a:r>
              <a:rPr lang="en-US" altLang="zh-CN" sz="1200" b="1" cap="none" dirty="0">
                <a:solidFill>
                  <a:srgbClr val="168C96"/>
                </a:solidFill>
              </a:rPr>
              <a:t>-d</a:t>
            </a:r>
            <a:r>
              <a:rPr lang="en-US" altLang="zh-CN" sz="1200" cap="none" dirty="0"/>
              <a:t> fit, it’s in the orchestration layer.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100" b="0" i="0" u="none" strike="noStrike" cap="none" spc="0" dirty="0">
                <a:solidFill>
                  <a:srgbClr val="000000"/>
                </a:solidFill>
                <a:effectLst/>
                <a:latin typeface="Arial"/>
                <a:ea typeface="Arial"/>
                <a:cs typeface="Arial"/>
                <a:sym typeface="Arial"/>
              </a:rPr>
              <a:t>vLLM runs prefill, decode, and batching. NIXL helps move KV data between workers. </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100" b="0" i="0" u="none" strike="noStrike" cap="none" spc="0" dirty="0">
              <a:solidFill>
                <a:srgbClr val="000000"/>
              </a:solidFill>
              <a:effectLst/>
              <a:latin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cap="none" dirty="0"/>
          </a:p>
          <a:p>
            <a:pPr marL="158750" indent="0">
              <a:buNone/>
            </a:pPr>
            <a:endParaRPr lang="en-US" sz="1200" dirty="0"/>
          </a:p>
          <a:p>
            <a:r>
              <a:rPr lang="en-US" sz="1200" dirty="0"/>
              <a:t>Zoom out for a moment. Think of this as a responsibility map you can use when troubleshooting. Applications see an inference API; the gateway handles ingress, authentication, and traffic policy. Below that, KAITO asks whether the declared resources exist and remain healthy, while </a:t>
            </a:r>
            <a:r>
              <a:rPr lang="en-US" sz="1200" dirty="0" err="1"/>
              <a:t>llm</a:t>
            </a:r>
            <a:r>
              <a:rPr lang="en-US" sz="1200" dirty="0"/>
              <a:t>-d asks which serving endpoint should handle this request. They share a row here, but they are different control activities.</a:t>
            </a:r>
          </a:p>
          <a:p>
            <a:r>
              <a:rPr lang="en-US" sz="1200" dirty="0"/>
              <a:t>The actual prefill, decode, and batching happen in </a:t>
            </a:r>
            <a:r>
              <a:rPr lang="en-US" sz="1200" dirty="0" err="1"/>
              <a:t>vLLM</a:t>
            </a:r>
            <a:r>
              <a:rPr lang="en-US" sz="1200" dirty="0"/>
              <a:t>. The KV row also contains two different concerns: NIXL supports state transfer, while cache systems can support reuse or offload. Using NIXL does not automatically provide every caching capability. Kubernetes, GPUs, networking, and storage support everything above them.</a:t>
            </a:r>
          </a:p>
          <a:p>
            <a:r>
              <a:rPr lang="en-US" sz="1200" dirty="0"/>
              <a:t>This is neither a mandatory installation checklist nor a diagram of requests crossing every layer. From here, we will follow four things: declaring roles, selecting workers, moving KV, and adjusting capacity.</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right-hand side explains how. KAITO maintains the role topology. </a:t>
            </a:r>
            <a:r>
              <a:rPr lang="en-US" sz="1200" dirty="0" err="1"/>
              <a:t>InferencePool</a:t>
            </a:r>
            <a:r>
              <a:rPr lang="en-US" sz="1200" dirty="0"/>
              <a:t> connects the service to the gateway's inference-routing contract. </a:t>
            </a:r>
            <a:r>
              <a:rPr lang="en-US" sz="1200" dirty="0" err="1"/>
              <a:t>llm</a:t>
            </a:r>
            <a:r>
              <a:rPr lang="en-US" sz="1200" dirty="0"/>
              <a:t>-d selects the workers, and its sidecar coordinates the request. Finally, </a:t>
            </a:r>
            <a:r>
              <a:rPr lang="en-US" sz="1200" dirty="0" err="1"/>
              <a:t>vLLM</a:t>
            </a:r>
            <a:r>
              <a:rPr lang="en-US" sz="1200" dirty="0"/>
              <a:t> executes the phases, with NIXL supporting direct KV exchange between runtimes.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router's key question here is: who should handle this request now? Through Gateway API Inference Extension integration, or GWIE, the gateway asks the Endpoint Picker for a selection. The EPP runs its configured plugin chain and returns a decode worker, plus a prefill selection when remote prefill is needed.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Rather than follow every arrow at once, make three passes through this diagram. First, the top band: the user declares </a:t>
            </a:r>
            <a:r>
              <a:rPr lang="en-US" sz="1200" dirty="0" err="1"/>
              <a:t>MultiRoleInference</a:t>
            </a:r>
            <a:r>
              <a:rPr lang="en-US" sz="1200" dirty="0"/>
              <a:t>, and KAITO maintains the child </a:t>
            </a:r>
            <a:r>
              <a:rPr lang="en-US" sz="1200" dirty="0" err="1"/>
              <a:t>InferenceSets</a:t>
            </a:r>
            <a:r>
              <a:rPr lang="en-US" sz="1200" dirty="0"/>
              <a:t>, </a:t>
            </a:r>
            <a:r>
              <a:rPr lang="en-US" sz="1200" dirty="0" err="1"/>
              <a:t>InferencePool</a:t>
            </a:r>
            <a:r>
              <a:rPr lang="en-US" sz="1200" dirty="0"/>
              <a:t>, and runtime wiring. That is the control plane. </a:t>
            </a:r>
          </a:p>
          <a:p>
            <a:r>
              <a:rPr lang="en-US" sz="1200" dirty="0"/>
              <a:t>Second, the serving path. The client calls the gateway, which consults the EPP out of band and sends the HTTP request to the selected decode pod's routing sidecar. The sidecar calls remote prefill when needed, then invokes local decode </a:t>
            </a:r>
            <a:r>
              <a:rPr lang="en-US" sz="1200" dirty="0" err="1"/>
              <a:t>vLLM</a:t>
            </a:r>
            <a:r>
              <a:rPr lang="en-US" sz="1200" dirty="0"/>
              <a:t>. The application still sees a single entry point.</a:t>
            </a:r>
          </a:p>
          <a:p>
            <a:r>
              <a:rPr lang="en-US" sz="1200" dirty="0"/>
              <a:t>Third, the KV connection. State produced by prefill goes directly to the decode runtime. In this flow, decode initiates the NIXL read, but the data still moves from prefill to decode. The KV payload bypasses the gateway, EPP, and routing sidecar. </a:t>
            </a:r>
          </a:p>
          <a:p>
            <a:endParaRPr lang="en-US" sz="1200" dirty="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architecture has a fairly direct API expression. On the left, KAITO </a:t>
            </a:r>
            <a:r>
              <a:rPr lang="en-US" sz="1200" dirty="0" err="1"/>
              <a:t>MultiRoleInference</a:t>
            </a:r>
            <a:r>
              <a:rPr lang="en-US" sz="1200" dirty="0"/>
              <a:t> declares the model, then gives prefill and decode separate resource settings. This example has one prefill replica on A100 and two decode replicas on H100. Follow the reconcile arrow: the right side still has one logical service and </a:t>
            </a:r>
            <a:r>
              <a:rPr lang="en-US" sz="1200" dirty="0" err="1"/>
              <a:t>InferencePool</a:t>
            </a:r>
            <a:r>
              <a:rPr lang="en-US" sz="1200" dirty="0"/>
              <a:t>, with two role-specific workloads underneath.</a:t>
            </a:r>
          </a:p>
          <a:p>
            <a:r>
              <a:rPr lang="en-US" sz="1200" dirty="0"/>
              <a:t>Each role is managed through its own </a:t>
            </a:r>
            <a:r>
              <a:rPr lang="en-US" sz="1200" dirty="0" err="1"/>
              <a:t>InferenceSet</a:t>
            </a:r>
            <a:r>
              <a:rPr lang="en-US" sz="1200" dirty="0"/>
              <a:t>, giving it a separate capacity-management boundary. </a:t>
            </a:r>
          </a:p>
          <a:p>
            <a:endParaRPr lang="en-US" sz="1200" dirty="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After we submit that </a:t>
            </a:r>
            <a:r>
              <a:rPr lang="en-US" sz="1200" dirty="0" err="1"/>
              <a:t>yaml</a:t>
            </a:r>
            <a:r>
              <a:rPr lang="en-US" sz="1200" dirty="0"/>
              <a:t> config, KAITO does more than create two groups of pods. The prefill branch needs the right role labels and NIXL address configuration. The decode branch also needs a routing sidecar </a:t>
            </a:r>
            <a:r>
              <a:rPr lang="en-US" altLang="zh-CN" sz="1200" cap="none" dirty="0">
                <a:latin typeface="Arial"/>
              </a:rPr>
              <a:t>injection</a:t>
            </a:r>
            <a:r>
              <a:rPr lang="en-US" sz="1200" dirty="0"/>
              <a:t>, with consistent ports for the sidecar, local </a:t>
            </a:r>
            <a:r>
              <a:rPr lang="en-US" sz="1200" dirty="0" err="1"/>
              <a:t>vLLM</a:t>
            </a:r>
            <a:r>
              <a:rPr lang="en-US" sz="1200" dirty="0"/>
              <a:t>, and NIXL config setting. The routing branch connects </a:t>
            </a:r>
            <a:r>
              <a:rPr lang="en-US" sz="1200" dirty="0" err="1"/>
              <a:t>InferencePool</a:t>
            </a:r>
            <a:r>
              <a:rPr lang="en-US" sz="1200" dirty="0"/>
              <a:t>, EPP configuration, Services, and target ports.</a:t>
            </a:r>
          </a:p>
          <a:p>
            <a:endParaRPr lang="en-US" sz="1200" dirty="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Now follow the interactions in time. The client sends a request. After endpoint selection, the gateway forwards it to the decode sidecar, carrying the selected prefill address in a header. The EPP consultation is omitted here because we covered it separately.</a:t>
            </a:r>
          </a:p>
          <a:p>
            <a:r>
              <a:rPr lang="en-US" sz="1200" dirty="0"/>
              <a:t>At step three, the sidecar calls remote prefill with </a:t>
            </a:r>
            <a:r>
              <a:rPr lang="en-US" sz="1200" dirty="0" err="1"/>
              <a:t>max_tokens</a:t>
            </a:r>
            <a:r>
              <a:rPr lang="en-US" sz="1200" dirty="0"/>
              <a:t> set to one to process the prompt. Step four returns remote KV parameters: metadata needed for the later read, not the whole KV payload inside an HTTP response. The sidecar then invokes local decode with the </a:t>
            </a:r>
            <a:r>
              <a:rPr lang="en-US" sz="1200" dirty="0" err="1"/>
              <a:t>remote_prefill</a:t>
            </a:r>
            <a:r>
              <a:rPr lang="en-US" sz="1200" dirty="0"/>
              <a:t> flag and the request and memory-block identifiers.</a:t>
            </a:r>
          </a:p>
          <a:p>
            <a:r>
              <a:rPr lang="en-US" sz="1200" dirty="0"/>
              <a:t>The actual state transfer happens at step six. Decode initiates a NIXL read, and KV moves directly from the prefill runtime to the decode runtime. Decode continues generation, and the response travels back through the sidecar and gateway. The distinction to remember is simple: the sidecar coordinates calls and metadata; the runtimes exchange the KV payload.</a:t>
            </a:r>
          </a:p>
          <a:p>
            <a:endParaRPr lang="en-US" sz="1200" dirty="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zh-CN" altLang="zh-CN" sz="1100" b="0" i="0" u="none" strike="noStrike" cap="none" spc="0" dirty="0">
                <a:solidFill>
                  <a:srgbClr val="000000"/>
                </a:solidFill>
                <a:effectLst/>
                <a:latin typeface="Arial"/>
                <a:ea typeface="Arial"/>
                <a:cs typeface="Arial"/>
                <a:sym typeface="Arial"/>
              </a:rPr>
              <a:t>On this slide, focus on the KV data, not the HTTP request. Prefill computes the KV cache, and decode uses it to generate the next tokens without processing the prompt again. Even if decode initiates the transfer, the data still flows from prefill to decode—not through the gateway, EPP, or routing sidecar.</a:t>
            </a:r>
          </a:p>
          <a:p>
            <a:r>
              <a:rPr lang="zh-CN" altLang="zh-CN" sz="1100" b="0" i="0" u="none" strike="noStrike" cap="none" spc="0" dirty="0">
                <a:solidFill>
                  <a:srgbClr val="000000"/>
                </a:solidFill>
                <a:effectLst/>
                <a:latin typeface="Arial"/>
                <a:ea typeface="Arial"/>
                <a:cs typeface="Arial"/>
                <a:sym typeface="Arial"/>
              </a:rPr>
              <a:t>NIXL handles the transfer, but the actual path depends on the backend and hardware. </a:t>
            </a:r>
            <a:r>
              <a:rPr lang="zh-CN" altLang="zh-CN" sz="1100" b="1" i="0" u="none" strike="noStrike" cap="none" spc="0" dirty="0">
                <a:solidFill>
                  <a:srgbClr val="000000"/>
                </a:solidFill>
                <a:effectLst/>
                <a:latin typeface="Arial"/>
                <a:ea typeface="Arial"/>
                <a:cs typeface="Arial"/>
                <a:sym typeface="Arial"/>
              </a:rPr>
              <a:t>Using NIXL does not automatically mean GPU-direct RDMA, and TCP is not RDMA.</a:t>
            </a:r>
            <a:r>
              <a:rPr lang="zh-CN" altLang="zh-CN" sz="1100" b="0" i="0" u="none" strike="noStrike" cap="none" spc="0" dirty="0">
                <a:solidFill>
                  <a:srgbClr val="000000"/>
                </a:solidFill>
                <a:effectLst/>
                <a:latin typeface="Arial"/>
                <a:ea typeface="Arial"/>
                <a:cs typeface="Arial"/>
                <a:sym typeface="Arial"/>
              </a:rPr>
              <a:t> We need to measure transfer latency and copy overhead in the actual deployment.</a:t>
            </a:r>
          </a:p>
          <a:p>
            <a:r>
              <a:rPr lang="zh-CN" altLang="zh-CN" sz="1100" b="0" i="0" u="none" strike="noStrike" cap="none" spc="0" dirty="0">
                <a:solidFill>
                  <a:srgbClr val="000000"/>
                </a:solidFill>
                <a:effectLst/>
                <a:latin typeface="Arial"/>
                <a:ea typeface="Arial"/>
                <a:cs typeface="Arial"/>
                <a:sym typeface="Arial"/>
              </a:rPr>
              <a:t>Now that we’ve covered the request flow, let’s look at scaling: </a:t>
            </a:r>
            <a:r>
              <a:rPr lang="zh-CN" altLang="zh-CN" sz="1100" b="1" i="0" u="none" strike="noStrike" cap="none" spc="0" dirty="0">
                <a:solidFill>
                  <a:srgbClr val="000000"/>
                </a:solidFill>
                <a:effectLst/>
                <a:latin typeface="Arial"/>
                <a:ea typeface="Arial"/>
                <a:cs typeface="Arial"/>
                <a:sym typeface="Arial"/>
              </a:rPr>
              <a:t>when traffic changes, do we need more prefill capacity, more decode capacity, or both?</a:t>
            </a:r>
            <a:endParaRPr lang="zh-CN" altLang="zh-CN" sz="1100" b="0" i="0" u="none" strike="noStrike" cap="none" spc="0" dirty="0">
              <a:solidFill>
                <a:srgbClr val="000000"/>
              </a:solidFill>
              <a:effectLst/>
              <a:latin typeface="Arial"/>
              <a:ea typeface="Arial"/>
              <a:cs typeface="Arial"/>
              <a:sym typeface="Arial"/>
            </a:endParaRP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Prefill and decode need different scaling signals. For prefill, we care about prompts waiting to be processed. For decode, we care about requests still generating tokens. Our starting point is to use vLLM’s waiting-request count for prefill and running-request count for decode.</a:t>
            </a:r>
          </a:p>
          <a:p>
            <a:r>
              <a:rPr lang="zh-CN" altLang="zh-CN" sz="1100" b="0" i="0" u="none" strike="noStrike" cap="none" spc="0" dirty="0">
                <a:solidFill>
                  <a:srgbClr val="000000"/>
                </a:solidFill>
                <a:effectLst/>
                <a:latin typeface="Arial"/>
                <a:ea typeface="Arial"/>
                <a:cs typeface="Arial"/>
                <a:sym typeface="Arial"/>
              </a:rPr>
              <a:t>A burst of prompts can create a prefill queue, while long answers can keep decode busy even after new traffic slows down. </a:t>
            </a:r>
            <a:r>
              <a:rPr lang="zh-CN" altLang="zh-CN" sz="1100" b="1" i="0" u="none" strike="noStrike" cap="none" spc="0" dirty="0">
                <a:solidFill>
                  <a:srgbClr val="000000"/>
                </a:solidFill>
                <a:effectLst/>
                <a:latin typeface="Arial"/>
                <a:ea typeface="Arial"/>
                <a:cs typeface="Arial"/>
                <a:sym typeface="Arial"/>
              </a:rPr>
              <a:t>These counts indicate load, not latency</a:t>
            </a:r>
            <a:r>
              <a:rPr lang="zh-CN" altLang="zh-CN" sz="1100" b="0" i="0" u="none" strike="noStrike" cap="none" spc="0" dirty="0">
                <a:solidFill>
                  <a:srgbClr val="000000"/>
                </a:solidFill>
                <a:effectLst/>
                <a:latin typeface="Arial"/>
                <a:ea typeface="Arial"/>
                <a:cs typeface="Arial"/>
                <a:sym typeface="Arial"/>
              </a:rPr>
              <a:t>, so we need to tune their thresholds against our latency targets for each model and workload.</a:t>
            </a:r>
          </a:p>
          <a:p>
            <a:r>
              <a:rPr lang="zh-CN" altLang="zh-CN" sz="1100" b="0" i="0" u="none" strike="noStrike" cap="none" spc="0" dirty="0">
                <a:solidFill>
                  <a:srgbClr val="000000"/>
                </a:solidFill>
                <a:effectLst/>
                <a:latin typeface="Arial"/>
                <a:ea typeface="Arial"/>
                <a:cs typeface="Arial"/>
                <a:sym typeface="Arial"/>
              </a:rPr>
              <a:t>Next, we’ll explain how KEDA scales an InferenceSet, then show how that mechanism could scale prefill and decode separately.</a:t>
            </a:r>
          </a:p>
          <a:p>
            <a:endParaRPr lang="en-US" sz="1200"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Scaling starts with a signal, such as a schedule or a workload metric from Prometheus. KEDA works with the HPA to update the InferenceSet’s desired replica count. KAITO then adjusts the serving resources to match.</a:t>
            </a:r>
          </a:p>
          <a:p>
            <a:r>
              <a:rPr lang="zh-CN" altLang="zh-CN" sz="1100" b="1" i="0" u="none" strike="noStrike" cap="none" spc="0" dirty="0">
                <a:solidFill>
                  <a:srgbClr val="000000"/>
                </a:solidFill>
                <a:effectLst/>
                <a:latin typeface="Arial"/>
                <a:ea typeface="Arial"/>
                <a:cs typeface="Arial"/>
                <a:sym typeface="Arial"/>
              </a:rPr>
              <a:t>We scale through InferenceSet—not by removing individual GPU workers from a tensor-parallel group.</a:t>
            </a:r>
            <a:r>
              <a:rPr lang="zh-CN" altLang="zh-CN" sz="1100" b="0" i="0" u="none" strike="noStrike" cap="none" spc="0" dirty="0">
                <a:solidFill>
                  <a:srgbClr val="000000"/>
                </a:solidFill>
                <a:effectLst/>
                <a:latin typeface="Arial"/>
                <a:ea typeface="Arial"/>
                <a:cs typeface="Arial"/>
                <a:sym typeface="Arial"/>
              </a:rPr>
              <a:t> Waiting-request count is one supported example of a scaling signal. KEDA needs to be installed separately.</a:t>
            </a:r>
          </a:p>
          <a:p>
            <a:r>
              <a:rPr lang="zh-CN" altLang="zh-CN" sz="1100" b="0" i="0" u="none" strike="noStrike" cap="none" spc="0" dirty="0">
                <a:solidFill>
                  <a:srgbClr val="000000"/>
                </a:solidFill>
                <a:effectLst/>
                <a:latin typeface="Arial"/>
                <a:ea typeface="Arial"/>
                <a:cs typeface="Arial"/>
                <a:sym typeface="Arial"/>
              </a:rPr>
              <a:t>This gives us a reusable scaling mechanism, </a:t>
            </a:r>
            <a:r>
              <a:rPr lang="zh-CN" altLang="zh-CN" sz="1100" b="1" i="0" u="none" strike="noStrike" cap="none" spc="0" dirty="0">
                <a:solidFill>
                  <a:srgbClr val="000000"/>
                </a:solidFill>
                <a:effectLst/>
                <a:latin typeface="Arial"/>
                <a:ea typeface="Arial"/>
                <a:cs typeface="Arial"/>
                <a:sym typeface="Arial"/>
              </a:rPr>
              <a:t>but not a complete MRI scaling policy</a:t>
            </a:r>
            <a:r>
              <a:rPr lang="zh-CN" altLang="zh-CN" sz="1100" b="0" i="0" u="none" strike="noStrike" cap="none" spc="0" dirty="0">
                <a:solidFill>
                  <a:srgbClr val="000000"/>
                </a:solidFill>
                <a:effectLst/>
                <a:latin typeface="Arial"/>
                <a:ea typeface="Arial"/>
                <a:cs typeface="Arial"/>
                <a:sym typeface="Arial"/>
              </a:rPr>
              <a:t>. We still need to define the metrics for each role, which controller owns the replica count, and how to hand over that control safely. Next, we’ll look at another way to collect the metrics.</a:t>
            </a:r>
          </a:p>
          <a:p>
            <a:endParaRPr lang="en-US" sz="1200" dirty="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keda-kaito-scaler reads metrics directly from vLLM, so this path needs KEDA but not Prometheus.</a:t>
            </a:r>
          </a:p>
          <a:p>
            <a:r>
              <a:rPr lang="zh-CN" altLang="zh-CN" sz="1100" b="0" i="0" u="none" strike="noStrike" cap="none" spc="0" dirty="0">
                <a:solidFill>
                  <a:srgbClr val="000000"/>
                </a:solidFill>
                <a:effectLst/>
                <a:latin typeface="Arial"/>
                <a:ea typeface="Arial"/>
                <a:cs typeface="Arial"/>
                <a:sym typeface="Arial"/>
              </a:rPr>
              <a:t>It supports queue and latency signals. Requiring multiple conditions can make scaling more conservative, but may also delay needed capacity. The settings must be tested for the model and supported by the installed scaler version.</a:t>
            </a:r>
          </a:p>
          <a:p>
            <a:r>
              <a:rPr lang="zh-CN" altLang="zh-CN" sz="1100" b="0" i="0" u="none" strike="noStrike" cap="none" spc="0" dirty="0">
                <a:solidFill>
                  <a:srgbClr val="000000"/>
                </a:solidFill>
                <a:effectLst/>
                <a:latin typeface="Arial"/>
                <a:ea typeface="Arial"/>
                <a:cs typeface="Arial"/>
                <a:sym typeface="Arial"/>
              </a:rPr>
              <a:t>These features work with InferenceSet today. </a:t>
            </a:r>
            <a:r>
              <a:rPr lang="zh-CN" altLang="zh-CN" sz="1100" b="1" i="0" u="none" strike="noStrike" cap="none" spc="0" dirty="0">
                <a:solidFill>
                  <a:srgbClr val="000000"/>
                </a:solidFill>
                <a:effectLst/>
                <a:latin typeface="Arial"/>
                <a:ea typeface="Arial"/>
                <a:cs typeface="Arial"/>
                <a:sym typeface="Arial"/>
              </a:rPr>
              <a:t>Applying them separately to MRI’s prefill and decode roles still requires integration</a:t>
            </a:r>
            <a:r>
              <a:rPr lang="zh-CN" altLang="zh-CN" sz="1100" b="0" i="0" u="none" strike="noStrike" cap="none" spc="0" dirty="0">
                <a:solidFill>
                  <a:srgbClr val="000000"/>
                </a:solidFill>
                <a:effectLst/>
                <a:latin typeface="Arial"/>
                <a:ea typeface="Arial"/>
                <a:cs typeface="Arial"/>
                <a:sym typeface="Arial"/>
              </a:rPr>
              <a:t>, including policies for each role and clear ownership of replica counts.</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 proposed design has two independent scaling loops: prefill uses waiting requests, and decode uses running requests. Each scales its own InferenceSet, with its own thresholds.</a:t>
            </a:r>
          </a:p>
          <a:p>
            <a:r>
              <a:rPr lang="zh-CN" altLang="zh-CN" sz="1100" b="0" i="0" u="none" strike="noStrike" cap="none" spc="0" dirty="0">
                <a:solidFill>
                  <a:srgbClr val="000000"/>
                </a:solidFill>
                <a:effectLst/>
                <a:latin typeface="Arial"/>
                <a:ea typeface="Arial"/>
                <a:cs typeface="Arial"/>
                <a:sym typeface="Arial"/>
              </a:rPr>
              <a:t>Each replica count needs one owner to avoid conflicting updates. Scaling must also allow time for model warm-up, avoid frequent changes, and protect active requests and KV state during scale-down.</a:t>
            </a:r>
          </a:p>
          <a:p>
            <a:r>
              <a:rPr lang="zh-CN" altLang="zh-CN" sz="1100" b="0" i="0" u="none" strike="noStrike" cap="none" spc="0" dirty="0">
                <a:solidFill>
                  <a:srgbClr val="000000"/>
                </a:solidFill>
                <a:effectLst/>
                <a:latin typeface="Arial"/>
                <a:ea typeface="Arial"/>
                <a:cs typeface="Arial"/>
                <a:sym typeface="Arial"/>
              </a:rPr>
              <a:t>It requires reliable metrics for each role. Next, we’ll separate overall service goals from each role’s scaling decisions.</a:t>
            </a:r>
          </a:p>
          <a:p>
            <a:endParaRPr lang="en-US" sz="1200" dirty="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We define goals for one service, but scale the two roles separately: prefill helps reduce </a:t>
            </a:r>
            <a:r>
              <a:rPr lang="en-US" altLang="zh-CN" sz="1100" b="0" i="0" u="none" strike="noStrike" cap="none" spc="0" dirty="0">
                <a:solidFill>
                  <a:srgbClr val="000000"/>
                </a:solidFill>
                <a:effectLst/>
                <a:latin typeface="Arial"/>
                <a:ea typeface="Arial"/>
                <a:cs typeface="Arial"/>
                <a:sym typeface="Arial"/>
              </a:rPr>
              <a:t>TTFT(</a:t>
            </a:r>
            <a:r>
              <a:rPr lang="zh-CN" altLang="zh-CN" sz="1100" b="0" i="0" u="none" strike="noStrike" cap="none" spc="0" dirty="0">
                <a:solidFill>
                  <a:srgbClr val="000000"/>
                </a:solidFill>
                <a:effectLst/>
                <a:latin typeface="Arial"/>
                <a:ea typeface="Arial"/>
                <a:cs typeface="Arial"/>
                <a:sym typeface="Arial"/>
              </a:rPr>
              <a:t>time to the first token</a:t>
            </a:r>
            <a:r>
              <a:rPr lang="en-US" altLang="zh-CN" sz="1100" b="0" i="0" u="none" strike="noStrike" cap="none" spc="0" dirty="0">
                <a:solidFill>
                  <a:srgbClr val="000000"/>
                </a:solidFill>
                <a:effectLst/>
                <a:latin typeface="Arial"/>
                <a:ea typeface="Arial"/>
                <a:cs typeface="Arial"/>
                <a:sym typeface="Arial"/>
              </a:rPr>
              <a:t>)</a:t>
            </a:r>
            <a:r>
              <a:rPr lang="zh-CN" altLang="zh-CN" sz="1100" b="0" i="0" u="none" strike="noStrike" cap="none" spc="0" dirty="0">
                <a:solidFill>
                  <a:srgbClr val="000000"/>
                </a:solidFill>
                <a:effectLst/>
                <a:latin typeface="Arial"/>
                <a:ea typeface="Arial"/>
                <a:cs typeface="Arial"/>
                <a:sym typeface="Arial"/>
              </a:rPr>
              <a:t>, while decode maintains token delivery speed. Each role gets its own policy and replica count.</a:t>
            </a:r>
          </a:p>
          <a:p>
            <a:r>
              <a:rPr lang="zh-CN" altLang="zh-CN" sz="1100" b="1" i="0" u="none" strike="noStrike" cap="none" spc="0" dirty="0">
                <a:solidFill>
                  <a:srgbClr val="000000"/>
                </a:solidFill>
                <a:effectLst/>
                <a:latin typeface="Arial"/>
                <a:ea typeface="Arial"/>
                <a:cs typeface="Arial"/>
                <a:sym typeface="Arial"/>
              </a:rPr>
              <a:t>We scale complete serving replicas—not individual GPU workers within a tensor-parallel group.</a:t>
            </a:r>
            <a:r>
              <a:rPr lang="zh-CN" altLang="zh-CN" sz="1100" b="0" i="0" u="none" strike="noStrike" cap="none" spc="0" dirty="0">
                <a:solidFill>
                  <a:srgbClr val="000000"/>
                </a:solidFill>
                <a:effectLst/>
                <a:latin typeface="Arial"/>
                <a:ea typeface="Arial"/>
                <a:cs typeface="Arial"/>
                <a:sym typeface="Arial"/>
              </a:rPr>
              <a:t> Each replica count also needs one owner to avoid conflicting updates.</a:t>
            </a:r>
          </a:p>
          <a:p>
            <a:r>
              <a:rPr lang="zh-CN" altLang="zh-CN" sz="1100" b="0" i="0" u="none" strike="noStrike" cap="none" spc="0" dirty="0">
                <a:solidFill>
                  <a:srgbClr val="000000"/>
                </a:solidFill>
                <a:effectLst/>
                <a:latin typeface="Arial"/>
                <a:ea typeface="Arial"/>
                <a:cs typeface="Arial"/>
                <a:sym typeface="Arial"/>
              </a:rPr>
              <a:t>KEDA and InferenceSet provide the scaling foundation. </a:t>
            </a:r>
            <a:r>
              <a:rPr lang="zh-CN" altLang="zh-CN" sz="1100" b="1" i="0" u="none" strike="noStrike" cap="none" spc="0" dirty="0">
                <a:solidFill>
                  <a:srgbClr val="000000"/>
                </a:solidFill>
                <a:effectLst/>
                <a:latin typeface="Arial"/>
                <a:ea typeface="Arial"/>
                <a:cs typeface="Arial"/>
                <a:sym typeface="Arial"/>
              </a:rPr>
              <a:t>Mapping MRI-level goals to role-specific policies and safely transferring replica control still require integration.</a:t>
            </a:r>
            <a:r>
              <a:rPr lang="zh-CN" altLang="zh-CN" sz="1100" b="0" i="0" u="none" strike="noStrike" cap="none" spc="0" dirty="0">
                <a:solidFill>
                  <a:srgbClr val="000000"/>
                </a:solidFill>
                <a:effectLst/>
                <a:latin typeface="Arial"/>
                <a:ea typeface="Arial"/>
                <a:cs typeface="Arial"/>
                <a:sym typeface="Arial"/>
              </a:rPr>
              <a:t> </a:t>
            </a:r>
          </a:p>
          <a:p>
            <a:endParaRPr lang="en-US" sz="1200" dirty="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Prefill scales on waiting requests; decode scales on running requests. </a:t>
            </a:r>
            <a:r>
              <a:rPr lang="zh-CN" altLang="zh-CN" sz="1100" b="1" i="0" u="none" strike="noStrike" cap="none" spc="0" dirty="0">
                <a:solidFill>
                  <a:srgbClr val="000000"/>
                </a:solidFill>
                <a:effectLst/>
                <a:latin typeface="Arial"/>
                <a:ea typeface="Arial"/>
                <a:cs typeface="Arial"/>
                <a:sym typeface="Arial"/>
              </a:rPr>
              <a:t>These loops carry metrics and scaling decisions—not inference traffic.</a:t>
            </a:r>
            <a:endParaRPr lang="zh-CN"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Metrics must be fresh, complete, and correctly assigned to each role, with duplicates removed where needed. Running requests indicate concurrency, not GPU saturation. New replicas count as capacity only when they are ready to serve.</a:t>
            </a:r>
          </a:p>
          <a:p>
            <a:r>
              <a:rPr lang="zh-CN" altLang="zh-CN" sz="1100" b="0" i="0" u="none" strike="noStrike" cap="none" spc="0" dirty="0">
                <a:solidFill>
                  <a:srgbClr val="000000"/>
                </a:solidFill>
                <a:effectLst/>
                <a:latin typeface="Arial"/>
                <a:ea typeface="Arial"/>
                <a:cs typeface="Arial"/>
                <a:sym typeface="Arial"/>
              </a:rPr>
              <a:t>Missing or invalid metrics should pause scaling and raise a warning. </a:t>
            </a:r>
            <a:r>
              <a:rPr lang="zh-CN" altLang="zh-CN" sz="1100" b="1" i="0" u="none" strike="noStrike" cap="none" spc="0" dirty="0">
                <a:solidFill>
                  <a:srgbClr val="000000"/>
                </a:solidFill>
                <a:effectLst/>
                <a:latin typeface="Arial"/>
                <a:ea typeface="Arial"/>
                <a:cs typeface="Arial"/>
                <a:sym typeface="Arial"/>
              </a:rPr>
              <a:t>Routing chooses where requests go; autoscaling adjusts capacity.</a:t>
            </a:r>
            <a:endParaRPr lang="zh-CN" altLang="zh-CN" sz="1100" b="0" i="0" u="none" strike="noStrike" cap="none" spc="0" dirty="0">
              <a:solidFill>
                <a:srgbClr val="000000"/>
              </a:solidFill>
              <a:effectLst/>
              <a:latin typeface="Arial"/>
              <a:ea typeface="Arial"/>
              <a:cs typeface="Arial"/>
              <a:sym typeface="Arial"/>
            </a:endParaRPr>
          </a:p>
          <a:p>
            <a:endParaRPr lang="en-US" sz="1200" dirty="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In this annotation example </a:t>
            </a:r>
            <a:r>
              <a:rPr lang="en-US" altLang="zh-CN" sz="1100" b="0" i="0" u="none" strike="noStrike" cap="none" spc="0" dirty="0">
                <a:solidFill>
                  <a:srgbClr val="000000"/>
                </a:solidFill>
                <a:effectLst/>
                <a:latin typeface="Arial"/>
                <a:cs typeface="Arial"/>
                <a:sym typeface="Arial"/>
              </a:rPr>
              <a:t>p</a:t>
            </a:r>
            <a:r>
              <a:rPr lang="zh-CN" altLang="zh-CN" sz="1100" b="0" i="0" u="none" strike="noStrike" cap="none" spc="0" dirty="0">
                <a:solidFill>
                  <a:srgbClr val="000000"/>
                </a:solidFill>
                <a:effectLst/>
                <a:latin typeface="Arial"/>
                <a:ea typeface="Arial"/>
                <a:cs typeface="Arial"/>
                <a:sym typeface="Arial"/>
              </a:rPr>
              <a:t>refill uses waiting requests and scales between one and eight replicas. Decode uses running requests and scales between two and sixteen. </a:t>
            </a:r>
            <a:r>
              <a:rPr lang="zh-CN" altLang="zh-CN" sz="1100" b="1" i="0" u="none" strike="noStrike" cap="none" spc="0" dirty="0">
                <a:solidFill>
                  <a:srgbClr val="000000"/>
                </a:solidFill>
                <a:effectLst/>
                <a:latin typeface="Arial"/>
                <a:ea typeface="Arial"/>
                <a:cs typeface="Arial"/>
                <a:sym typeface="Arial"/>
              </a:rPr>
              <a:t>They scale independently—both roles do not need to be busy.</a:t>
            </a:r>
            <a:r>
              <a:rPr lang="zh-CN" altLang="zh-CN" sz="1100" b="0" i="0" u="none" strike="noStrike" cap="none" spc="0" dirty="0">
                <a:solidFill>
                  <a:srgbClr val="000000"/>
                </a:solidFill>
                <a:effectLst/>
                <a:latin typeface="Arial"/>
                <a:ea typeface="Arial"/>
                <a:cs typeface="Arial"/>
                <a:sym typeface="Arial"/>
              </a:rPr>
              <a:t> </a:t>
            </a:r>
          </a:p>
          <a:p>
            <a:r>
              <a:rPr lang="zh-CN" altLang="zh-CN" sz="1100" b="0" i="0" u="none" strike="noStrike" cap="none" spc="0" dirty="0">
                <a:solidFill>
                  <a:srgbClr val="000000"/>
                </a:solidFill>
                <a:effectLst/>
                <a:latin typeface="Arial"/>
                <a:ea typeface="Arial"/>
                <a:cs typeface="Arial"/>
                <a:sym typeface="Arial"/>
              </a:rPr>
              <a:t>Starting with one prefill and two decode replicas: a waiting count of twelve triggers prefill scale-up, while a running count of twelve keeps decode unchanged. Decode can scale up independently when its count exceeds twenty-four.</a:t>
            </a:r>
          </a:p>
          <a:p>
            <a:r>
              <a:rPr lang="zh-CN" altLang="zh-CN" sz="1100" b="0" i="0" u="none" strike="noStrike" cap="none" spc="0" dirty="0">
                <a:solidFill>
                  <a:srgbClr val="000000"/>
                </a:solidFill>
                <a:effectLst/>
                <a:latin typeface="Arial"/>
                <a:ea typeface="Arial"/>
                <a:cs typeface="Arial"/>
                <a:sym typeface="Arial"/>
              </a:rPr>
              <a:t>The formula requests doubling, halving, or keeping the replica count, rounded up. </a:t>
            </a:r>
            <a:r>
              <a:rPr lang="zh-CN" altLang="zh-CN" sz="1100" b="1" i="0" u="none" strike="noStrike" cap="none" spc="0" dirty="0">
                <a:solidFill>
                  <a:srgbClr val="000000"/>
                </a:solidFill>
                <a:effectLst/>
                <a:latin typeface="Arial"/>
                <a:ea typeface="Arial"/>
                <a:cs typeface="Arial"/>
                <a:sym typeface="Arial"/>
              </a:rPr>
              <a:t>HPA behavior—not the formula—limits how quickly replicas change.</a:t>
            </a:r>
            <a:r>
              <a:rPr lang="zh-CN" altLang="zh-CN" sz="1100" b="0" i="0" u="none" strike="noStrike" cap="none" spc="0" dirty="0">
                <a:solidFill>
                  <a:srgbClr val="000000"/>
                </a:solidFill>
                <a:effectLst/>
                <a:latin typeface="Arial"/>
                <a:ea typeface="Arial"/>
                <a:cs typeface="Arial"/>
                <a:sym typeface="Arial"/>
              </a:rPr>
              <a:t> Readiness, replica bounds, cooldown, and stabilization still apply. </a:t>
            </a:r>
          </a:p>
          <a:p>
            <a:endParaRPr lang="en-US" sz="1200" dirty="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Waiting requests show the queue inside prefill, but exclude requests waiting in the routing layer. Running requests show decode concurrency—not GPU saturation or token latency.</a:t>
            </a:r>
          </a:p>
          <a:p>
            <a:r>
              <a:rPr lang="zh-CN" altLang="zh-CN" sz="1100" b="0" i="0" u="none" strike="noStrike" cap="none" spc="0" dirty="0">
                <a:solidFill>
                  <a:srgbClr val="000000"/>
                </a:solidFill>
                <a:effectLst/>
                <a:latin typeface="Arial"/>
                <a:ea typeface="Arial"/>
                <a:cs typeface="Arial"/>
                <a:sym typeface="Arial"/>
              </a:rPr>
              <a:t>Prefill scales up above eight and down below one; decode scales up above twenty-four and down below four. Otherwise, it holds—including at the thresholds. </a:t>
            </a:r>
            <a:r>
              <a:rPr lang="zh-CN" altLang="zh-CN" sz="1100" b="1" i="0" u="none" strike="noStrike" cap="none" spc="0" dirty="0">
                <a:solidFill>
                  <a:srgbClr val="000000"/>
                </a:solidFill>
                <a:effectLst/>
                <a:latin typeface="Arial"/>
                <a:ea typeface="Arial"/>
                <a:cs typeface="Arial"/>
                <a:sym typeface="Arial"/>
              </a:rPr>
              <a:t>These are per-replica signals for each role, not totals across MRI.</a:t>
            </a:r>
            <a:endParaRPr lang="zh-CN"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Before enabling scaling, verify the actual vLLM metrics and tune the thresholds for the model and traffic. Replica limits, readiness, and stabilization still apply. </a:t>
            </a:r>
            <a:r>
              <a:rPr lang="zh-CN" altLang="zh-CN" sz="1100" b="1" i="0" u="none" strike="noStrike" cap="none" spc="0" dirty="0">
                <a:solidFill>
                  <a:srgbClr val="000000"/>
                </a:solidFill>
                <a:effectLst/>
                <a:latin typeface="Arial"/>
                <a:ea typeface="Arial"/>
                <a:cs typeface="Arial"/>
                <a:sym typeface="Arial"/>
              </a:rPr>
              <a:t>Missing or stale data must not mean zero load.</a:t>
            </a:r>
            <a:r>
              <a:rPr lang="zh-CN" altLang="zh-CN" sz="1100" b="0" i="0" u="none" strike="noStrike" cap="none" spc="0" dirty="0">
                <a:solidFill>
                  <a:srgbClr val="000000"/>
                </a:solidFill>
                <a:effectLst/>
                <a:latin typeface="Arial"/>
                <a:ea typeface="Arial"/>
                <a:cs typeface="Arial"/>
                <a:sym typeface="Arial"/>
              </a:rPr>
              <a:t> Holding changes and reporting bad data still need implementation and validation.</a:t>
            </a:r>
          </a:p>
          <a:p>
            <a:endParaRPr lang="en-US" sz="1200" dirty="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These signals help explain load. KV usage shows cache pressure, but it does not tell us which replica is safe to remove.</a:t>
            </a:r>
          </a:p>
          <a:p>
            <a:r>
              <a:rPr lang="zh-CN" altLang="zh-CN" sz="1100" b="0" i="0" u="none" strike="noStrike" cap="none" spc="0" dirty="0">
                <a:solidFill>
                  <a:srgbClr val="000000"/>
                </a:solidFill>
                <a:effectLst/>
                <a:latin typeface="Arial"/>
                <a:ea typeface="Arial"/>
                <a:cs typeface="Arial"/>
                <a:sym typeface="Arial"/>
              </a:rPr>
              <a:t>First-token P95 measures engine-side latency, not full client-visible latency. Token throughput shows output rate. Neither should drive scaling alone.</a:t>
            </a:r>
          </a:p>
          <a:p>
            <a:r>
              <a:rPr lang="zh-CN" altLang="zh-CN" sz="1100" b="0" i="0" u="none" strike="noStrike" cap="none" spc="0" dirty="0">
                <a:solidFill>
                  <a:srgbClr val="000000"/>
                </a:solidFill>
                <a:effectLst/>
                <a:latin typeface="Arial"/>
                <a:ea typeface="Arial"/>
                <a:cs typeface="Arial"/>
                <a:sym typeface="Arial"/>
              </a:rPr>
              <a:t>These metrics need verified queries or an adapter. </a:t>
            </a:r>
            <a:r>
              <a:rPr lang="zh-CN" altLang="zh-CN" sz="1100" b="1" i="0" u="none" strike="noStrike" cap="none" spc="0" dirty="0">
                <a:solidFill>
                  <a:srgbClr val="000000"/>
                </a:solidFill>
                <a:effectLst/>
                <a:latin typeface="Arial"/>
                <a:ea typeface="Arial"/>
                <a:cs typeface="Arial"/>
                <a:sym typeface="Arial"/>
              </a:rPr>
              <a:t>Observe and test before automating.</a:t>
            </a:r>
            <a:r>
              <a:rPr lang="zh-CN" altLang="zh-CN" sz="1100" b="0" i="0" u="none" strike="noStrike" cap="none" spc="0" dirty="0">
                <a:solidFill>
                  <a:srgbClr val="000000"/>
                </a:solidFill>
                <a:effectLst/>
                <a:latin typeface="Arial"/>
                <a:ea typeface="Arial"/>
                <a:cs typeface="Arial"/>
                <a:sym typeface="Arial"/>
              </a:rPr>
              <a:t> KV usage could help prevent unsafe scale-down, but should not block needed scale-up. That protection still needs to be implemented.</a:t>
            </a:r>
          </a:p>
          <a:p>
            <a:endParaRPr lang="en-US" sz="1200" dirty="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ltLang="zh-CN" sz="1100" b="0" i="0" u="none" strike="noStrike" cap="none" spc="0" dirty="0">
                <a:solidFill>
                  <a:srgbClr val="000000"/>
                </a:solidFill>
                <a:effectLst/>
                <a:latin typeface="Arial"/>
                <a:ea typeface="Arial"/>
                <a:cs typeface="Arial"/>
                <a:sym typeface="Arial"/>
              </a:rPr>
              <a:t>There are </a:t>
            </a:r>
            <a:r>
              <a:rPr lang="zh-CN" altLang="zh-CN" sz="1100" b="0" i="0" u="none" strike="noStrike" cap="none" spc="0" dirty="0">
                <a:solidFill>
                  <a:srgbClr val="000000"/>
                </a:solidFill>
                <a:effectLst/>
                <a:latin typeface="Arial"/>
                <a:ea typeface="Arial"/>
                <a:cs typeface="Arial"/>
                <a:sym typeface="Arial"/>
              </a:rPr>
              <a:t>three directions to explore: </a:t>
            </a:r>
            <a:r>
              <a:rPr lang="zh-CN" altLang="zh-CN" sz="1100" b="1" i="0" u="none" strike="noStrike" cap="none" spc="0" dirty="0">
                <a:solidFill>
                  <a:srgbClr val="000000"/>
                </a:solidFill>
                <a:effectLst/>
                <a:latin typeface="Arial"/>
                <a:ea typeface="Arial"/>
                <a:cs typeface="Arial"/>
                <a:sym typeface="Arial"/>
              </a:rPr>
              <a:t>better KV reuse</a:t>
            </a:r>
            <a:r>
              <a:rPr lang="zh-CN" altLang="zh-CN" sz="1100" b="0" i="0" u="none" strike="noStrike" cap="none" spc="0" dirty="0">
                <a:solidFill>
                  <a:srgbClr val="000000"/>
                </a:solidFill>
                <a:effectLst/>
                <a:latin typeface="Arial"/>
                <a:ea typeface="Arial"/>
                <a:cs typeface="Arial"/>
                <a:sym typeface="Arial"/>
              </a:rPr>
              <a:t>, through cache-aware routing and tiered storage; </a:t>
            </a:r>
            <a:r>
              <a:rPr lang="zh-CN" altLang="zh-CN" sz="1100" b="1" i="0" u="none" strike="noStrike" cap="none" spc="0" dirty="0">
                <a:solidFill>
                  <a:srgbClr val="000000"/>
                </a:solidFill>
                <a:effectLst/>
                <a:latin typeface="Arial"/>
                <a:ea typeface="Arial"/>
                <a:cs typeface="Arial"/>
                <a:sym typeface="Arial"/>
              </a:rPr>
              <a:t>more inference roles</a:t>
            </a:r>
            <a:r>
              <a:rPr lang="zh-CN" altLang="zh-CN" sz="1100" b="0" i="0" u="none" strike="noStrike" cap="none" spc="0" dirty="0">
                <a:solidFill>
                  <a:srgbClr val="000000"/>
                </a:solidFill>
                <a:effectLst/>
                <a:latin typeface="Arial"/>
                <a:ea typeface="Arial"/>
                <a:cs typeface="Arial"/>
                <a:sym typeface="Arial"/>
              </a:rPr>
              <a:t>, such as adding encoding to P/D; and </a:t>
            </a:r>
            <a:r>
              <a:rPr lang="zh-CN" altLang="zh-CN" sz="1100" b="1" i="0" u="none" strike="noStrike" cap="none" spc="0" dirty="0">
                <a:solidFill>
                  <a:srgbClr val="000000"/>
                </a:solidFill>
                <a:effectLst/>
                <a:latin typeface="Arial"/>
                <a:ea typeface="Arial"/>
                <a:cs typeface="Arial"/>
                <a:sym typeface="Arial"/>
              </a:rPr>
              <a:t>larger-scale execution</a:t>
            </a:r>
            <a:r>
              <a:rPr lang="zh-CN" altLang="zh-CN" sz="1100" b="0" i="0" u="none" strike="noStrike" cap="none" spc="0" dirty="0">
                <a:solidFill>
                  <a:srgbClr val="000000"/>
                </a:solidFill>
                <a:effectLst/>
                <a:latin typeface="Arial"/>
                <a:ea typeface="Arial"/>
                <a:cs typeface="Arial"/>
                <a:sym typeface="Arial"/>
              </a:rPr>
              <a:t>, with wider expert parallelism and better cross-node communication.</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dirty="0"/>
              <a:t>For code and hands-on exploration, start with these links. </a:t>
            </a:r>
            <a:r>
              <a:rPr lang="en-US" sz="1200" dirty="0" err="1"/>
              <a:t>llm</a:t>
            </a:r>
            <a:r>
              <a:rPr lang="en-US" sz="1200" dirty="0"/>
              <a:t>-d and KAITO are both CNCF Sandbox projects. The P/D guide covers integration prerequisites and configuration; the </a:t>
            </a:r>
            <a:r>
              <a:rPr lang="en-US" sz="1200" dirty="0" err="1"/>
              <a:t>keda</a:t>
            </a:r>
            <a:r>
              <a:rPr lang="en-US" sz="1200" dirty="0"/>
              <a:t>-</a:t>
            </a:r>
            <a:r>
              <a:rPr lang="en-US" sz="1200" dirty="0" err="1"/>
              <a:t>kaito</a:t>
            </a:r>
            <a:r>
              <a:rPr lang="en-US" sz="1200" dirty="0"/>
              <a:t>-scaler repository covers scaling details. </a:t>
            </a:r>
          </a:p>
          <a:p>
            <a:endParaRPr lang="en-US" sz="1200" dirty="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Now turn independent capacity into a deployment. The prefill pool on the left is sized for prompt pressure. The decode pool on the right is sized for sustained generation, bandwidth, and active KV memory. Each can have its own replica count and parallelism, but they still cooperate on one request.</a:t>
            </a:r>
          </a:p>
          <a:p>
            <a:r>
              <a:rPr lang="en-US" sz="1200" dirty="0"/>
              <a:t>The connection between them is the new boundary. When a request uses remote prefill, the resulting KV state has to become available to decode. Distinguish the data direction from who initiates the operation: KV data moves from prefill to decode, even when decode initiates the read.</a:t>
            </a:r>
          </a:p>
          <a:p>
            <a:r>
              <a:rPr lang="en-US" sz="1200" dirty="0"/>
              <a:t>Transfer and coordination costs matter alongside execution time on each GPU. And remote prefill is not mandatory for every request; cache availability and routing can lead to other paths. Two pools are the architectural starting point. Making their contracts agree on Kubernetes is the next challenge.</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point of this comparison is not to memorize eight or twenty-four. It is that the two roles can use different policies. Prefill primarily watches its waiting queue; decode watches active concurrency. Their replica ranges and thresholds can differ because they protect different parts of the user experience. Every number here is illustrative, not production guidance.</a:t>
            </a:r>
          </a:p>
          <a:p>
            <a:r>
              <a:rPr lang="en-US" sz="1200"/>
              <a:t>Neither loop simply means expand whenever there is work and shrink whenever there is less. There is a hold region between the thresholds, including equality. Signals are aggregated per replica within the role, rather than applying a whole-service total to one role. Whether higher decode concurrency actually harms token delivery still needs workload validation.</a:t>
            </a:r>
          </a:p>
          <a:p>
            <a:r>
              <a:rPr lang="en-US" sz="1200"/>
              <a:t>The shared requirement is the last row: fresh, valid observations and genuinely ready capacity, with clear ownership. Cooldown, stabilization, and bounds also apply, and scale-down must protect active requests. Low load creates a candidate decision, not an immediate instruction to delete a replica. These are requirements for the proposed policy, not guarantees that every integration path already meets.</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Suppose requests are reaching the wrong workers. Which component should we investigate first? This slide breaks that question into three parts. Start with KAITO: was the role topology reconciled correctly, were the resources created, and is their lifecycle consistent? Then check the GWIE contract: does InferencePool describe the intended backend set, and is the gateway connected to endpoint selection? InferencePool is a Kubernetes API resource, not another forwarding proxy.</a:t>
            </a:r>
          </a:p>
          <a:p>
            <a:r>
              <a:rPr lang="en-US" sz="1200"/>
              <a:t>Only then do we reach the llm-d Router's selection logic: given the discovered candidates, why did the plugins choose this worker? That is a different question from whether the resources were created correctly.</a:t>
            </a:r>
          </a:p>
          <a:p>
            <a:r>
              <a:rPr lang="en-US" sz="1200"/>
              <a:t>The shorthand is: KAITO maintains topology, GWIE defines the integration contract, and llm-d selects endpoints. These boundaries give us practical troubleshooting entry points. Now let's put them onto the request diagram and distinguish control arrows from actual data movement.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If the question is how KAITO estimates the initial GPU node count, these three steps explain it. First, establish the memory budget. GPU memory cannot all go to model weights: the runtime has overhead, and KV state needs space that depends on context length. What remains is the budget available for weights.</a:t>
            </a:r>
          </a:p>
          <a:p>
            <a:r>
              <a:rPr lang="en-US" sz="1200"/>
              <a:t>Second, estimate how many GPUs are needed to fit those weights, accounting for the runtime's parallelism. Third, translate the GPU requirement into nodes using the GPUs available per node, then reconcile the workload. GPU count, node count, and serving-replica count are different capacity units.</a:t>
            </a:r>
          </a:p>
          <a:p>
            <a:r>
              <a:rPr lang="en-US" sz="1200"/>
              <a:t>This is an initial memory estimate, not a throughput guarantee. The precise formula, safety margins, and runtime settings depend on the KAITO and runtime versions. A fixed memory-utilization allowance is a sizing assumption. Fitting the model does not prove that latency will meet the target at the intended concurrency; validate serving capacity against context length, concurrency, and latency objectives.</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dirty="0"/>
              <a:t>We have followed the details of one request. Now step back to the service view. What looks like one inference operation to the client can become separate internal requests for prefill and decode. Routing dynamically selects available workers, while dedicated role pools let us tune resource allocation and scheduling separately.</a:t>
            </a:r>
          </a:p>
          <a:p>
            <a:r>
              <a:rPr lang="en-US" sz="1200" dirty="0"/>
              <a:t>That separation gives us more control. When prompt pressure rises, we can focus on prefill; when sustained generation becomes the bottleneck, we can focus on decode. We do not always have to add both kinds of capacity together. But this is not an automatic guarantee of meeting TTFT and ITL targets. Queueing, batching, and the handoff still affect the result.</a:t>
            </a:r>
          </a:p>
          <a:p>
            <a:r>
              <a:rPr lang="en-US" sz="1200" dirty="0"/>
              <a:t>The next question is therefore not whether we have drawn two GPU pools, but how the state crosses between them and what that costs. The sidecar coordinates the handoff; </a:t>
            </a:r>
            <a:r>
              <a:rPr lang="en-US" sz="1200" dirty="0" err="1"/>
              <a:t>vLLM</a:t>
            </a:r>
            <a:r>
              <a:rPr lang="en-US" sz="1200" dirty="0"/>
              <a:t> and NIXL move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you are wondering why the routing sidecar lives in the decode pod, this diagram makes the boundary visible. The gateway sends the request to the decode endpoint chosen through EPP integration. That endpoint reaches the sidecar first, not decode vLLM directly. Ports five thousand and five thousand one are examples from this configuration, not universal requirements.</a:t>
            </a:r>
          </a:p>
          <a:p>
            <a:r>
              <a:rPr lang="en-US" sz="1200"/>
              <a:t>The sidecar coordinates the request. When remote prefill is needed, it calls the prefill worker below, then passes the request and KV-transfer metadata to local decode vLLM. The important configuration contract is that the InferencePool target port reaches the sidecar's listening port.</a:t>
            </a:r>
          </a:p>
          <a:p>
            <a:r>
              <a:rPr lang="en-US" sz="1200"/>
              <a:t>Now look at the separate KV path. Decode initiates a read through NIXL, and the KV data moves directly from prefill to decode, bypassing the HTTP sidecar. The final inference response is proxied back through the sidecar. This gives the gateway one serving endpoint, keeps request coordination inside the decode pod, and leaves bulk state transfer with the runtimes.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To decide whether P/D is worth trying, use these two dimensions. Moving right means KV transfer becomes more affordable. Moving up means the roles have more distinct bottlenecks, capacity needs, or parallelism requirements. The strongest candidate is the top-right corner: independent configuration has value, and transfer does not consume that value.</a:t>
            </a:r>
          </a:p>
          <a:p>
            <a:r>
              <a:rPr lang="en-US" sz="1200"/>
              <a:t>At the top left, separation might help, but improve locality or transport first. At the bottom left, similar role needs and expensive transfer argue for staying aggregated. At the bottom right, usually stay aggregated too: a fast network alone does not create a need for separate capacity pools.</a:t>
            </a:r>
          </a:p>
          <a:p>
            <a:r>
              <a:rPr lang="en-US" sz="1200"/>
              <a:t>This is a qualitative guide for an experiment, not a performance result. Cross-node does not automatically mean weak transport, and same-node transfer is not free. Measure actual KV payloads, contention, tail latency, and reliability. Even a top-right candidate must account for duplicated weights and operational complexity, then compare with aggregated serving at matched workload, cost, and latency targets. P/D is a choice to validate, not a default upgrade.</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For a one-page recap, I would focus on these three points. First, the value of separation is independent capacity decisions. Prefill mainly shapes the wait for the first token; decode mainly shapes the pace of continued output. Not every workload needs separation. Independent tuning matters most when the roles genuinely need different things.</a:t>
            </a:r>
          </a:p>
          <a:p>
            <a:r>
              <a:rPr lang="en-US" sz="1200"/>
              <a:t>Second, keep component responsibilities clear. KAITO manages role topology and lifecycle. llm-d handles endpoint selection and request coordination. vLLM executes inference, and NIXL supports runtime-to-runtime KV transfer. Controllers, routing decisions, and the data path are not one continuous traffic chain.</a:t>
            </a:r>
          </a:p>
          <a:p>
            <a:r>
              <a:rPr lang="en-US" sz="1200"/>
              <a:t>Third, independent capacity needs appropriate signals and safeguards. Existing KEDA scaling for InferenceSets does not mean MRI already provides complete role-aware autoscaling; policy integration, ownership handoff, and metric coverage still need work. The final test is measurement: at matched workload, cost, and latency objectives, do the gains justify the transfer and operational costs?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Speaker script</a:t>
            </a:r>
          </a:p>
          <a:p>
            <a:r>
              <a:rPr lang="en-US" sz="1200"/>
              <a:t>This backup view answers a practical question: what do operators actually configure? The left side shows explicit choices: queue or latency metrics, thresholds, aggregation windows, replica bounds, cooldowns, and rules for combining signals. Together, these define what the controller considers busy, idle, or a reason to hold. Available scaler configuration must be checked against the installed version.</a:t>
            </a:r>
          </a:p>
          <a:p>
            <a:r>
              <a:rPr lang="en-US" sz="1200"/>
              <a:t>The right side is a direction for reducing that burden: retain the capacity bounds users care about, derive more defaults, and validate them against the model and workload. It is not a shipped auto-tuning promise, or a claim that minimum and maximum replicas alone guarantee latency targets.</a:t>
            </a:r>
          </a:p>
          <a:p>
            <a:r>
              <a:rPr lang="en-US" sz="1200"/>
              <a:t>Whether expressed through annotations or another interface, configuration is only intent. Controllers still need to create and maintain scaling resources, establish replica ownership, and handle invalid observations. Moving from existing InferenceSet scaling to MRI role policies specifically requires the adapter, child opt-in, and safe handoff. A configuration format is not proof that the complete integration already exists.</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Treating llm-d as one replacement component can obscure what it does. These three columns describe how it composes a serving system. On the left, modular components and Kubernetes integration give operators boundaries where they can inspect state and failures, rather than treating everything as one black box.</a:t>
            </a:r>
          </a:p>
          <a:p>
            <a:r>
              <a:rPr lang="en-US" sz="1200"/>
              <a:t>In the middle, gateway integration, extensible routing, and runtime and KV interfaces connect existing components. llm-d does not have to replace every gateway, inference engine, or transport implementation to provide coordination. On the right, tested reference paths offer a deployment starting point while keeping trade-offs and workload-specific tuning explicit. They are not universal performance guarantees across models and hardware.</a:t>
            </a:r>
          </a:p>
          <a:p>
            <a:r>
              <a:rPr lang="en-US" sz="1200"/>
              <a:t>llm-d is a CNCF Sandbox project. For the KAITO integration, this compositional approach has a practical meaning: KAITO continues to declare and maintain role workloads, while llm-d supplies reusable inference routing and coordination. Clear responsibility boundaries help avoid rebuilding the same functions and make problems easier to locate.</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the question is how to operate role autoscaling safely, these three columns matter more than the threshold formula. First, ownership: each role's replica count needs one writer. MRI fixed-replica reconciliation and an autoscaler must not control the same target simultaneously, and two autoscalers must not compete over one InferenceSet.</a:t>
            </a:r>
          </a:p>
          <a:p>
            <a:r>
              <a:rPr lang="en-US" sz="1200"/>
              <a:t>Second, data: inspect the actual runtime metrics and verify role scope, coverage, and freshness. Failed service scrapes must not disappear inside an apparently healthy average. Missing, stale, or invalid samples are not zero load. The required behavior is to hold decisions and report a condition, but that is a safety contract to verify, not a claim that every current fallback path implements it.</a:t>
            </a:r>
          </a:p>
          <a:p>
            <a:r>
              <a:rPr lang="en-US" sz="1200"/>
              <a:t>Third, lifecycle: stop the old writer before handoff, and remove only controller-owned scalers, never silently adopting or deleting user-managed resources. Wait for model loading before counting new capacity, and test scale-down with active requests and KV state. Existing InferenceSet scaling is the foundation; the MRI adapter, ownership handoff, and full-coverage protections remain integration work.</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This view helps explain which problem each capability addresses. At the upper left, distributed execution concerns how large models run across devices, including expert parallelism and communication strategies. At the upper right, P/D separation concerns whether the two inference phases can use different placement, batching, and capacity choices. Those are related questions, but not the same optimization.</a:t>
            </a:r>
          </a:p>
          <a:p>
            <a:r>
              <a:rPr lang="en-US" sz="1200"/>
              <a:t>At the lower left, state-aware scheduling asks which worker should handle this request, considering cache locality and runtime load. At the lower right, capacity control uses workload signals and latency objectives to decide how much serving capacity is needed. Choosing a better worker and adding another worker are different actions.</a:t>
            </a:r>
          </a:p>
          <a:p>
            <a:r>
              <a:rPr lang="en-US" sz="1200"/>
              <a:t>These are architectural building blocks, not throughput or latency benchmark results. KAITO integration connects role topology and lifecycle to serving capabilities, while policy depends on the implementation; MRI role-aware autoscaling still has design and integration work ahead. Results depend on model, hardware, traffic, and SLOs. Validate your workload rather than inferring a performance promise from these capability names.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Track prefill latency + input </a:t>
            </a:r>
            <a:r>
              <a:rPr sz="1275" cap="none" dirty="0" err="1">
                <a:latin typeface="Arial"/>
              </a:rPr>
              <a:t>tok</a:t>
            </a:r>
            <a:r>
              <a:rPr sz="1275" cap="none" dirty="0">
                <a:latin typeface="Arial"/>
              </a:rPr>
              <a:t>/s</a:t>
            </a:r>
          </a:p>
          <a:p>
            <a:pPr>
              <a:spcAft>
                <a:spcPts val="375"/>
              </a:spcAft>
              <a:defRPr sz="1700" b="0">
                <a:solidFill>
                  <a:srgbClr val="586A80"/>
                </a:solidFill>
                <a:latin typeface="Arial"/>
              </a:defRPr>
            </a:pPr>
            <a:r>
              <a:rPr sz="1275" cap="none" dirty="0">
                <a:latin typeface="Arial"/>
              </a:rPr>
              <a:t>Often </a:t>
            </a:r>
            <a:r>
              <a:rPr sz="1275" b="1" cap="none" dirty="0">
                <a:solidFill>
                  <a:srgbClr val="00B0F0"/>
                </a:solidFill>
                <a:latin typeface="Arial"/>
              </a:rPr>
              <a:t>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Lower is better • track aggregate output </a:t>
            </a:r>
            <a:r>
              <a:rPr sz="1275" cap="none" dirty="0" err="1">
                <a:latin typeface="Arial"/>
              </a:rPr>
              <a:t>tok</a:t>
            </a:r>
            <a:r>
              <a:rPr sz="1275" cap="none" dirty="0">
                <a:latin typeface="Arial"/>
              </a:rPr>
              <a:t>/s</a:t>
            </a:r>
          </a:p>
          <a:p>
            <a:pPr>
              <a:spcAft>
                <a:spcPts val="375"/>
              </a:spcAft>
              <a:defRPr sz="1700" b="0">
                <a:solidFill>
                  <a:srgbClr val="586A80"/>
                </a:solidFill>
                <a:latin typeface="Arial"/>
              </a:defRPr>
            </a:pPr>
            <a:r>
              <a:rPr sz="1275" cap="none" dirty="0">
                <a:latin typeface="Arial"/>
              </a:rPr>
              <a:t>Often </a:t>
            </a:r>
            <a:r>
              <a:rPr sz="1275" b="1" cap="none" dirty="0">
                <a:solidFill>
                  <a:srgbClr val="00B0F0"/>
                </a:solidFill>
                <a:latin typeface="Arial"/>
              </a:rPr>
              <a:t>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Not exclusive: queueing / delivery also affect TTFT; shared prefill can stall decode. Sources: </a:t>
            </a:r>
            <a:r>
              <a:rPr sz="825" cap="none" dirty="0" err="1">
                <a:latin typeface="Arial"/>
              </a:rPr>
              <a:t>vLLM</a:t>
            </a:r>
            <a:r>
              <a:rPr sz="825" cap="none" dirty="0">
                <a:latin typeface="Arial"/>
              </a:rPr>
              <a:t>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Integrate inference routing with Kubernetes through Gateway API.</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Routing sidecar injection</a:t>
            </a:r>
          </a:p>
          <a:p>
            <a:pPr>
              <a:spcAft>
                <a:spcPts val="150"/>
              </a:spcAft>
              <a:defRPr sz="1700" b="0">
                <a:solidFill>
                  <a:srgbClr val="5B6E80"/>
                </a:solidFill>
                <a:latin typeface="Arial"/>
              </a:defRPr>
            </a:pPr>
            <a:r>
              <a:rPr sz="1275" cap="none" dirty="0">
                <a:latin typeface="Arial"/>
              </a:rPr>
              <a:t>NIXL + local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Protect prompt latency</a:t>
            </a:r>
          </a:p>
          <a:p>
            <a:pPr>
              <a:spcAft>
                <a:spcPts val="375"/>
              </a:spcAft>
              <a:defRPr sz="2200" b="0">
                <a:solidFill>
                  <a:srgbClr val="172941"/>
                </a:solidFill>
                <a:latin typeface="Arial"/>
              </a:defRPr>
            </a:pPr>
            <a:r>
              <a:rPr sz="1650" cap="none" dirty="0">
                <a:latin typeface="Arial"/>
              </a:rPr>
              <a:t>and time to first token</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KEDA-driven scaling with metrics scraped directly from vLLM</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Pr sz="1600" dirty="0"/>
            </a:br>
            <a:r>
              <a:rPr cap="none" dirty="0">
                <a:solidFill>
                  <a:srgbClr val="142C46"/>
                </a:solidFill>
                <a:latin typeface="Arial"/>
              </a:rPr>
              <a:t>No Prometheus required</a:t>
            </a:r>
            <a:br>
              <a:rPr sz="1600" dirty="0"/>
            </a:br>
            <a:r>
              <a:rPr cap="none" dirty="0">
                <a:solidFill>
                  <a:srgbClr val="142C46"/>
                </a:solidFill>
                <a:latin typeface="Arial"/>
              </a:rPr>
              <a:t>Direct </a:t>
            </a:r>
            <a:r>
              <a:rPr cap="none" dirty="0" err="1">
                <a:solidFill>
                  <a:srgbClr val="142C46"/>
                </a:solidFill>
                <a:latin typeface="Arial"/>
              </a:rPr>
              <a:t>vLLM</a:t>
            </a:r>
            <a:r>
              <a:rPr cap="none" dirty="0">
                <a:solidFill>
                  <a:srgbClr val="142C46"/>
                </a:solidFill>
                <a:latin typeface="Arial"/>
              </a:rPr>
              <a:t> metric scraping</a:t>
            </a:r>
            <a:br>
              <a:rPr sz="1600" dirty="0"/>
            </a:br>
            <a:r>
              <a:rPr cap="none" dirty="0">
                <a:solidFill>
                  <a:srgbClr val="142C46"/>
                </a:solidFill>
                <a:latin typeface="Arial"/>
              </a:rPr>
              <a:t>Conservative replica steps</a:t>
            </a:r>
            <a:br>
              <a:rPr sz="1600" dirty="0"/>
            </a:br>
            <a:r>
              <a:rPr cap="none" dirty="0">
                <a:solidFill>
                  <a:srgbClr val="142C46"/>
                </a:solidFill>
                <a:latin typeface="Arial"/>
              </a:rPr>
              <a:t>Queue and latency signals</a:t>
            </a:r>
            <a:br>
              <a:rPr sz="1600" dirty="0"/>
            </a:br>
            <a:r>
              <a:rPr cap="none" dirty="0">
                <a:solidFill>
                  <a:srgbClr val="142C46"/>
                </a:solidFill>
                <a:latin typeface="Arial"/>
              </a:rPr>
              <a:t>Configurable </a:t>
            </a:r>
            <a:r>
              <a:rPr lang="en-US" cap="none" dirty="0">
                <a:solidFill>
                  <a:srgbClr val="142C46"/>
                </a:solidFill>
                <a:latin typeface="Arial"/>
              </a:rPr>
              <a:t>AND</a:t>
            </a:r>
            <a:r>
              <a:rPr cap="none" dirty="0">
                <a:solidFill>
                  <a:srgbClr val="142C46"/>
                </a:solidFill>
                <a:latin typeface="Arial"/>
              </a:rPr>
              <a:t>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Example: one MRI policy, independent P/D autoscaling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Aggregate native </a:t>
            </a:r>
            <a:r>
              <a:rPr cap="none" dirty="0" err="1">
                <a:solidFill>
                  <a:srgbClr val="52677D"/>
                </a:solidFill>
                <a:latin typeface="Arial"/>
              </a:rPr>
              <a:t>vLLM</a:t>
            </a:r>
            <a:r>
              <a:rPr cap="none" dirty="0">
                <a:solidFill>
                  <a:srgbClr val="52677D"/>
                </a:solidFill>
                <a:latin typeface="Arial"/>
              </a:rPr>
              <a:t>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Minimum free fraction;</a:t>
            </a:r>
          </a:p>
          <a:p>
            <a:pPr>
              <a:spcAft>
                <a:spcPts val="375"/>
              </a:spcAft>
              <a:defRPr sz="1500" b="0">
                <a:solidFill>
                  <a:srgbClr val="172941"/>
                </a:solidFill>
                <a:latin typeface="Arial"/>
              </a:defRPr>
            </a:pPr>
            <a:r>
              <a:rPr sz="1125" cap="none" dirty="0">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Separate requests for the prefill and decode stages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Dynamically decided  </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Dedicated Prefill and Decode nodes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Optimize resource allocation, utilization,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Easier to meet TTFT and ITL SLO requirements</a:t>
            </a:r>
            <a:endParaRPr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9093</TotalTime>
  <Words>24946</Words>
  <Application>Microsoft Office PowerPoint</Application>
  <PresentationFormat>On-screen Show (16:9)</PresentationFormat>
  <Paragraphs>1375</Paragraphs>
  <Slides>52</Slides>
  <Notes>52</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289</cp:revision>
  <dcterms:created xsi:type="dcterms:W3CDTF">2019-07-29T21:37:05Z</dcterms:created>
  <dcterms:modified xsi:type="dcterms:W3CDTF">2026-10-27T07:41:40Z</dcterms:modified>
</cp:coreProperties>
</file>