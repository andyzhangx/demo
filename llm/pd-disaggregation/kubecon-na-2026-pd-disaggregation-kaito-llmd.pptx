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8" r:id="rId13"/>
    <p:sldId id="269" r:id="rId14"/>
    <p:sldId id="2147375737" r:id="rId15"/>
    <p:sldId id="2147375738" r:id="rId16"/>
    <p:sldId id="2147375701" r:id="rId17"/>
    <p:sldId id="278" r:id="rId18"/>
    <p:sldId id="2147375718" r:id="rId19"/>
    <p:sldId id="2147375739" r:id="rId20"/>
    <p:sldId id="270" r:id="rId21"/>
    <p:sldId id="2147375706" r:id="rId22"/>
    <p:sldId id="256" r:id="rId23"/>
    <p:sldId id="257" r:id="rId24"/>
    <p:sldId id="2147375722" r:id="rId25"/>
    <p:sldId id="2147375723" r:id="rId26"/>
    <p:sldId id="2147375724" r:id="rId27"/>
    <p:sldId id="2147375725" r:id="rId28"/>
    <p:sldId id="295" r:id="rId29"/>
    <p:sldId id="277" r:id="rId30"/>
    <p:sldId id="2147375729" r:id="rId31"/>
    <p:sldId id="273" r:id="rId32"/>
    <p:sldId id="279" r:id="rId33"/>
    <p:sldId id="280" r:id="rId34"/>
    <p:sldId id="281" r:id="rId35"/>
    <p:sldId id="287" r:id="rId36"/>
    <p:sldId id="282" r:id="rId37"/>
    <p:sldId id="285" r:id="rId38"/>
    <p:sldId id="301" r:id="rId39"/>
    <p:sldId id="2147375736" r:id="rId40"/>
    <p:sldId id="266" r:id="rId41"/>
    <p:sldId id="265" r:id="rId42"/>
    <p:sldId id="283" r:id="rId43"/>
    <p:sldId id="2147375721" r:id="rId44"/>
    <p:sldId id="2147375719" r:id="rId45"/>
    <p:sldId id="2147375714" r:id="rId46"/>
    <p:sldId id="2147375726" r:id="rId47"/>
    <p:sldId id="296" r:id="rId48"/>
    <p:sldId id="2147375735" r:id="rId49"/>
    <p:sldId id="275" r:id="rId50"/>
    <p:sldId id="2147375697" r:id="rId51"/>
    <p:sldId id="284" r:id="rId52"/>
    <p:sldId id="2147375700" r:id="rId5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5"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5939" autoAdjust="0"/>
  </p:normalViewPr>
  <p:slideViewPr>
    <p:cSldViewPr snapToGrid="0">
      <p:cViewPr varScale="1">
        <p:scale>
          <a:sx n="66" d="100"/>
          <a:sy n="66" d="100"/>
        </p:scale>
        <p:origin x="1284" y="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Welcome to Cloud Native AI and Inference Day. Today we’ll look at why starting an LLM answer and keeping it flowing need different things—and when it makes sense to separate them on Kubernetes.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altLang="zh-CN" sz="1200" dirty="0"/>
              <a:t>OK, let's start now, this session is “</a:t>
            </a:r>
            <a:r>
              <a:rPr lang="en-US" altLang="zh-CN" sz="1200" b="0" cap="none" dirty="0">
                <a:solidFill>
                  <a:srgbClr val="142C46"/>
                </a:solidFill>
                <a:latin typeface="Arial"/>
              </a:rPr>
              <a:t>Prefill here, decode there</a:t>
            </a:r>
            <a:r>
              <a:rPr lang="en-US" altLang="zh-CN" sz="1200" b="1" cap="none" dirty="0">
                <a:solidFill>
                  <a:srgbClr val="142C46"/>
                </a:solidFill>
                <a:latin typeface="Arial"/>
              </a:rPr>
              <a:t>, </a:t>
            </a:r>
            <a:r>
              <a:rPr lang="en-US" altLang="zh-CN" sz="1200" cap="none" dirty="0">
                <a:solidFill>
                  <a:srgbClr val="142C46"/>
                </a:solidFill>
                <a:latin typeface="Arial"/>
              </a:rPr>
              <a:t>Kubernetes-native LLM inference with KAITO and </a:t>
            </a:r>
            <a:r>
              <a:rPr lang="en-US" altLang="zh-CN" sz="1200" cap="none" dirty="0" err="1">
                <a:solidFill>
                  <a:srgbClr val="142C46"/>
                </a:solidFill>
                <a:latin typeface="Arial"/>
              </a:rPr>
              <a:t>llm</a:t>
            </a:r>
            <a:r>
              <a:rPr lang="en-US" altLang="zh-CN" sz="1200" cap="none" dirty="0">
                <a:solidFill>
                  <a:srgbClr val="142C46"/>
                </a:solidFill>
                <a:latin typeface="Arial"/>
              </a:rPr>
              <a:t>-d”, I will explain what’s the prefill and decode processes in LLM inference, and how we implement this p/d disaggregation using KAITO and </a:t>
            </a:r>
            <a:r>
              <a:rPr lang="en-US" altLang="zh-CN" sz="1200" cap="none" dirty="0" err="1">
                <a:solidFill>
                  <a:srgbClr val="142C46"/>
                </a:solidFill>
                <a:latin typeface="Arial"/>
              </a:rPr>
              <a:t>llm</a:t>
            </a:r>
            <a:r>
              <a:rPr lang="en-US" altLang="zh-CN" sz="1200" cap="none" dirty="0">
                <a:solidFill>
                  <a:srgbClr val="142C46"/>
                </a:solidFill>
                <a:latin typeface="Arial"/>
              </a:rPr>
              <a:t>-d projects and how we perform autoscaling for these two processes </a:t>
            </a:r>
            <a:r>
              <a:rPr lang="zh-CN" altLang="zh-CN" sz="1200" b="0" i="0" u="none" strike="noStrike" cap="none" spc="0" dirty="0">
                <a:solidFill>
                  <a:srgbClr val="000000"/>
                </a:solidFill>
                <a:effectLst/>
                <a:latin typeface="Arial"/>
                <a:ea typeface="Arial"/>
                <a:cs typeface="Arial"/>
                <a:sym typeface="Arial"/>
              </a:rPr>
              <a:t>independently as traffic changes.</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To begin with, let me introduce myself. I am Andy Zhang, </a:t>
            </a:r>
            <a:r>
              <a:rPr lang="en-US" altLang="zh-CN" sz="1200" dirty="0"/>
              <a:t>Software Engineer </a:t>
            </a:r>
            <a:r>
              <a:rPr lang="en-US" sz="1200" dirty="0"/>
              <a:t>at Microsoft AKS team, and </a:t>
            </a:r>
            <a:r>
              <a:rPr lang="en-US" altLang="zh-CN" sz="1200" dirty="0"/>
              <a:t>I am a maintainer of KAITO and several CSI drivers.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Unfortunately, my co-presenter Linbo couldn’t join us because he cannot get his visa in time, so I’ll be presenting alone today.</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altLang="zh-CN" sz="1200" dirty="0"/>
          </a:p>
          <a:p>
            <a:pPr marL="457200" lvl="0" indent="-298450">
              <a:buClr>
                <a:srgbClr val="000000"/>
              </a:buClr>
              <a:buSzPts val="1100"/>
              <a:buFont typeface="Arial"/>
              <a:buChar char="●"/>
            </a:pPr>
            <a:endParaRPr lang="en-US" sz="1200" dirty="0"/>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altLang="zh-CN" sz="1200" dirty="0"/>
              <a:t>Here’s the agenda. We’ll start with the basics of prefill and decode, and why it makes sense to separate them. Then, we’ll introduce </a:t>
            </a:r>
            <a:r>
              <a:rPr lang="en-US" altLang="zh-CN" sz="1200" dirty="0" err="1"/>
              <a:t>llm</a:t>
            </a:r>
            <a:r>
              <a:rPr lang="en-US" altLang="zh-CN" sz="1200" dirty="0"/>
              <a:t>-d and KAITO and show how they work together to support P/D disaggregation. Finally, we’ll explore how to scale prefill and decode independently when traffic changes.</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lvl="0" indent="-298450">
              <a:buClr>
                <a:srgbClr val="000000"/>
              </a:buClr>
              <a:buSzPts val="1100"/>
              <a:buFont typeface="Arial"/>
              <a:buChar char="●"/>
            </a:pPr>
            <a:r>
              <a:rPr lang="en-US" altLang="zh-CN" sz="1200" dirty="0"/>
              <a:t>Here is an example for prefill process. </a:t>
            </a:r>
            <a:r>
              <a:rPr lang="en-US" sz="1200" dirty="0"/>
              <a:t>Our prompt is “What does Kubernetes do?” Assume one token per word, plus punctuation: five prompt positions. These word-level tokens are illustrative, not a real tokenizer’s output.</a:t>
            </a:r>
          </a:p>
          <a:p>
            <a:r>
              <a:rPr lang="en-US" sz="1200" dirty="0"/>
              <a:t>We process prompt positions together; each sees only itself and earlier positions. We cache attention keys and values for all five prompt positions at every layer. Use the final position’s scores to select “Kubernetes”. Decode will consume it and cache its K/V.</a:t>
            </a:r>
          </a:p>
          <a:p>
            <a:endParaRPr lang="en-US" sz="1200" dirty="0"/>
          </a:p>
          <a:p>
            <a:r>
              <a:rPr dirty="0"/>
              <a:t>References</a:t>
            </a:r>
          </a:p>
          <a:p>
            <a:r>
              <a:rPr dirty="0"/>
              <a:t>https://huggingface.co/docs/transformers/en/cache_explanation</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Decode consumes “Kubernetes”, reads past KV, appends K/V for “Kubernetes”, and selects “helps”. Next, it consumes “helps” and selects “teams”. We cache the token we consume, not the one we just select. We reuse past KV.</a:t>
            </a:r>
          </a:p>
          <a:p>
            <a:r>
              <a:rPr lang="en-US" sz="1200" dirty="0"/>
              <a:t>Each selected token becomes the next input. Repeat until the answer is complete. Below, TTFT is the wait from the request to the first token. ITL is the time between token arrivals. </a:t>
            </a:r>
          </a:p>
          <a:p>
            <a:r>
              <a:rPr lang="en-US" altLang="zh-CN" sz="1200" dirty="0"/>
              <a:t>They show why starting an answer quickly and keeping it flowing smoothly are two different goals.</a:t>
            </a:r>
          </a:p>
          <a:p>
            <a:endParaRPr lang="en-US" sz="1200" dirty="0"/>
          </a:p>
          <a:p>
            <a:endParaRPr lang="en-US" sz="1200" dirty="0"/>
          </a:p>
          <a:p>
            <a:r>
              <a:rPr dirty="0"/>
              <a:t>References</a:t>
            </a:r>
          </a:p>
          <a:p>
            <a:r>
              <a:rPr dirty="0"/>
              <a:t>https://huggingface.co/docs/transformers/en/cache_explanation</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We want answers to start quickly—and keep going smoothly. Prefill shapes the wait for the first token. Decode shapes the gaps between tokens. We call those time to first token, and inter-token latency.</a:t>
            </a:r>
          </a:p>
          <a:p>
            <a:r>
              <a:rPr lang="en-US" sz="1200" dirty="0"/>
              <a:t>Prefill often needs more compute; decode often needs more memory bandwidth. Queueing and delivery matter too. We measure both phases, then ask: how many requests per second can meet our latency targets? That’s SLO goodput.</a:t>
            </a:r>
          </a:p>
          <a:p>
            <a:endParaRPr lang="en-US" sz="1200" dirty="0"/>
          </a:p>
          <a:p>
            <a:r>
              <a:rPr dirty="0"/>
              <a:t>References</a:t>
            </a:r>
          </a:p>
          <a:p>
            <a:r>
              <a:rPr dirty="0"/>
              <a:t>https://docs.vllm.ai/en/latest/design/metrics/</a:t>
            </a:r>
          </a:p>
          <a:p>
            <a:r>
              <a:rPr dirty="0"/>
              <a:t>https://docs.vllm.ai/en/latest/benchmarking/cli/#understanding-the-latency-metrics</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A shared pool is simple, but prefill bursts compete with active decoding. Every worker handles both phases. One deployment scales both phases together.</a:t>
            </a:r>
          </a:p>
          <a:p>
            <a:r>
              <a:rPr lang="en-US" sz="1200"/>
              <a:t>Where is the trade-off? Prompt bursts can disrupt token delivery. Adding a replica adds both phases, even if only one is busy. We must decide how to run each phase and how much shared capacity to add. First, let’s look at that execution conflict.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lvl="0" indent="-298450">
              <a:buClr>
                <a:srgbClr val="000000"/>
              </a:buClr>
              <a:buSzPts val="1100"/>
              <a:buFont typeface="Arial"/>
              <a:buChar char="●"/>
            </a:pPr>
            <a:r>
              <a:rPr lang="en-US" altLang="zh-CN" sz="1200" dirty="0"/>
              <a:t>Here, </a:t>
            </a:r>
            <a:r>
              <a:rPr lang="en-US" sz="1200" dirty="0"/>
              <a:t>D is ongoing decode. P is prefill for a new request. Where should P run? On the shared GPU, prefill can pause decode. On separate GPUs, decode can continue while prefill runs elsewhere.</a:t>
            </a:r>
          </a:p>
          <a:p>
            <a:r>
              <a:rPr lang="en-US" sz="1200" dirty="0"/>
              <a:t>The new request still needs a KV handoff. Separate GPUs remove this execution conflict, but not every source of latency. </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Prefill batches prompt positions; ordinary decode batches independent requests. On the left, we process many input positions in one pass. We can batch positions from multiple prompts, while keeping causal attention.</a:t>
            </a:r>
          </a:p>
          <a:p>
            <a:r>
              <a:rPr lang="en-US" sz="1200"/>
              <a:t>On the right, we consume one new token per active request, read its past KV, then select its next output token. Prefill gets parallel work from prompt length; decode gets it from active requests. More decode concurrency can raise ITL. Stay within latency and KV-memory budgets.</a:t>
            </a:r>
          </a:p>
          <a:p>
            <a:endParaRPr lang="en-US" sz="1200"/>
          </a:p>
          <a:p>
            <a:r>
              <a:rPr dirty="0"/>
              <a:t>References</a:t>
            </a:r>
          </a:p>
          <a:p>
            <a:r>
              <a:rPr dirty="0"/>
              <a:t>https://developer.nvidia.com/blog/introducing-nvidia-dynamo-a-low-latency-distributed-inference-framework-for-scaling-reasoning-ai-models/</a:t>
            </a:r>
          </a:p>
          <a:p>
            <a:r>
              <a:rPr dirty="0"/>
              <a:t>https://vllm.ai/blog/2025-09-05-anatomy-of-vllm</a:t>
            </a:r>
          </a:p>
          <a:p>
            <a:r>
              <a:rPr dirty="0"/>
              <a:t>https://docs.nvidia.com/dynamo/kubernetes/disaggregated-serving/overview</a:t>
            </a:r>
          </a:p>
          <a:p>
            <a:r>
              <a:rPr dirty="0"/>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Separate pools let us tune each phase independently. The payoff is choosing capacity for each phase, not just running two deployments.</a:t>
            </a:r>
          </a:p>
          <a:p>
            <a:r>
              <a:rPr lang="en-US" sz="1200" dirty="0"/>
              <a:t>Prefill is often compute-bound. Tune its capacity and parallelism for TTFT. On the other hand, decode is often bandwidth-bound. Tune its capacity and batching for ITL. Different latency targets and resource needs can call for different replica counts, tensor parallelism and batching policies. Split only if the gains outweigh KV transfer, extra weight copies and operating costs.</a:t>
            </a:r>
          </a:p>
          <a:p>
            <a:endParaRPr lang="en-US" sz="1200" dirty="0"/>
          </a:p>
          <a:p>
            <a:r>
              <a:rPr dirty="0"/>
              <a:t>References</a:t>
            </a:r>
          </a:p>
          <a:p>
            <a:r>
              <a:rPr dirty="0"/>
              <a:t>https://docs.nvidia.com/dynamo/dev/kubernetes/disaggregated-serving/overview</a:t>
            </a:r>
          </a:p>
          <a:p>
            <a:r>
              <a:rPr dirty="0"/>
              <a:t>https://arxiv.org/html/2401.09670v2#S2.SS3</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Two pools still have to work together as one model service. The EPP, or Endpoint Picker, picks workers. KV transfer settings must match. The decode-side proxy coordinates requests. We must keep pods ready as replicas change.</a:t>
            </a:r>
          </a:p>
          <a:p>
            <a:r>
              <a:rPr lang="en-US" sz="1200"/>
              <a:t>Routing, KV transfer, labels, ports and readiness must stay in sync, even when pods restart or we scale. That is why the hard part is the Kubernetes wiring. Let’s see how existing projects approach it.</a:t>
            </a:r>
          </a:p>
          <a:p>
            <a:endParaRPr lang="en-US" sz="1200"/>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Open-source P/D has several paths, not one winner. These are examples, not a ranking. Some approaches can work together.</a:t>
            </a:r>
          </a:p>
          <a:p>
            <a:r>
              <a:rPr lang="en-US" sz="1200" dirty="0"/>
              <a:t>The middle column shows the serving and routing path; the right shows what users configure in Kubernetes. Dynamo, </a:t>
            </a:r>
            <a:r>
              <a:rPr lang="en-US" sz="1200" dirty="0" err="1"/>
              <a:t>llm</a:t>
            </a:r>
            <a:r>
              <a:rPr lang="en-US" sz="1200" dirty="0"/>
              <a:t>-d, </a:t>
            </a:r>
            <a:r>
              <a:rPr lang="en-US" sz="1200" dirty="0" err="1"/>
              <a:t>AIBrix</a:t>
            </a:r>
            <a:r>
              <a:rPr lang="en-US" sz="1200" dirty="0"/>
              <a:t>, </a:t>
            </a:r>
            <a:r>
              <a:rPr lang="en-US" sz="1200" dirty="0" err="1"/>
              <a:t>KServe</a:t>
            </a:r>
            <a:r>
              <a:rPr lang="en-US" sz="1200" dirty="0"/>
              <a:t>, Ray Serve and </a:t>
            </a:r>
            <a:r>
              <a:rPr lang="en-US" sz="1200" dirty="0" err="1"/>
              <a:t>vLLM</a:t>
            </a:r>
            <a:r>
              <a:rPr lang="en-US" sz="1200" dirty="0"/>
              <a:t> Production Stack offer different combinations. Declarative APIs already exist. P/D deployment options already exist. KAITO aims to make them easier to use. For KAITO users, that means less manual configuration to maintain. Let’s start with </a:t>
            </a:r>
            <a:r>
              <a:rPr lang="en-US" sz="1200" dirty="0" err="1"/>
              <a:t>llm</a:t>
            </a:r>
            <a:r>
              <a:rPr lang="en-US" sz="1200" dirty="0"/>
              <a:t>-d.</a:t>
            </a:r>
          </a:p>
          <a:p>
            <a:endParaRPr lang="en-US" sz="1200" dirty="0"/>
          </a:p>
          <a:p>
            <a:r>
              <a:rPr dirty="0"/>
              <a:t>References</a:t>
            </a:r>
          </a:p>
          <a:p>
            <a:r>
              <a:rPr dirty="0"/>
              <a:t>https://docs.nvidia.com/dynamo/v1.1.0/getting-started/kubernetes-deployment</a:t>
            </a:r>
          </a:p>
          <a:p>
            <a:r>
              <a:rPr dirty="0"/>
              <a:t>https://llm-d.ai/docs/architecture</a:t>
            </a:r>
          </a:p>
          <a:p>
            <a:r>
              <a:rPr dirty="0"/>
              <a:t>https://aibrix.readthedocs.io/latest/features/gateway-routing/pd-disaggregation.html</a:t>
            </a:r>
          </a:p>
          <a:p>
            <a:r>
              <a:rPr dirty="0"/>
              <a:t>https://aibrix.readthedocs.io/latest/designs/aibrix-stormservice.html</a:t>
            </a:r>
          </a:p>
          <a:p>
            <a:r>
              <a:rPr dirty="0"/>
              <a:t>https://kserve.github.io/website/docs/model-serving/generative-inference/llmisvc/llmisvc-overview</a:t>
            </a:r>
          </a:p>
          <a:p>
            <a:r>
              <a:rPr dirty="0"/>
              <a:t>https://docs.ray.io/en/latest/serve/llm/user-guides/prefill-decode.html</a:t>
            </a:r>
          </a:p>
          <a:p>
            <a:r>
              <a:rPr dirty="0"/>
              <a:t>https://docs.vllm.ai/projects/production-stack/en/latest/use_cases/disaggregated-prefill.html</a:t>
            </a:r>
          </a:p>
          <a:p>
            <a:r>
              <a:rPr dirty="0"/>
              <a:t>https://lws.sigs.k8s.io/docs/concepts/disaggregatedset/</a:t>
            </a:r>
          </a:p>
          <a:p>
            <a:r>
              <a:rPr dirty="0"/>
              <a:t>https://www.cncf.io/projects/llm-d/</a:t>
            </a:r>
          </a:p>
          <a:p>
            <a:r>
              <a:rPr dirty="0"/>
              <a:t>https://www.cncf.io/projects/kserve/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dirty="0" err="1"/>
              <a:t>llm</a:t>
            </a:r>
            <a:r>
              <a:rPr lang="en-US" sz="1200" dirty="0"/>
              <a:t>-d connects serving runtimes, routing and KV transport on Kubernetes. It joined the CNCF Sandbox in March 2026.</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Gateway API connects inference routing to Kubernetes. We combine runtimes, routing plugins and KV transport. </a:t>
            </a:r>
            <a:r>
              <a:rPr lang="en-US" altLang="zh-CN" sz="1200" dirty="0"/>
              <a:t>We have 4 </a:t>
            </a:r>
            <a:r>
              <a:rPr lang="en-US" altLang="zh-CN" sz="1200" b="0" i="0" u="none" strike="noStrike" cap="none" spc="0" dirty="0">
                <a:solidFill>
                  <a:srgbClr val="000000"/>
                </a:solidFill>
                <a:latin typeface="Arial"/>
                <a:cs typeface="Arial"/>
                <a:sym typeface="Arial"/>
              </a:rPr>
              <a:t>well-lit paths with t</a:t>
            </a:r>
            <a:r>
              <a:rPr lang="en-US" sz="1200" dirty="0"/>
              <a:t>ested deployment patterns make trade-offs clear. The idea is to connect existing tools, not replace them. We still need to validate those patterns with our own models, hardware and traffic.</a:t>
            </a:r>
          </a:p>
          <a:p>
            <a:endParaRPr lang="en-US" sz="1200" dirty="0"/>
          </a:p>
          <a:p>
            <a:r>
              <a:rPr dirty="0"/>
              <a:t>Official CNCF project reference: https://www.cncf.io/projects/llm-d/ (accepted March 12, 2026; Sandbox).</a:t>
            </a:r>
          </a:p>
        </p:txBody>
      </p:sp>
    </p:spTree>
    <p:extLst>
      <p:ext uri="{BB962C8B-B14F-4D97-AF65-F5344CB8AC3E}">
        <p14:creationId xmlns:p14="http://schemas.microsoft.com/office/powerpoint/2010/main" val="1651347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dirty="0"/>
              <a:t>These are reusable capabilities, not a performance guarantee. We build on the serving runtime, not replace it. The community graphic shows project history, not serving performance.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There are mainly </a:t>
            </a:r>
            <a:r>
              <a:rPr lang="en-US" altLang="zh-CN" sz="1200" b="0" dirty="0">
                <a:solidFill>
                  <a:srgbClr val="087F8C"/>
                </a:solidFill>
                <a:latin typeface="Arial"/>
              </a:rPr>
              <a:t>four areas of capability for </a:t>
            </a:r>
            <a:r>
              <a:rPr lang="en-US" altLang="zh-CN" sz="1200" b="0" dirty="0" err="1">
                <a:solidFill>
                  <a:srgbClr val="087F8C"/>
                </a:solidFill>
                <a:latin typeface="Arial"/>
              </a:rPr>
              <a:t>llm</a:t>
            </a:r>
            <a:r>
              <a:rPr lang="en-US" altLang="zh-CN" sz="1200" b="0" dirty="0">
                <a:solidFill>
                  <a:srgbClr val="087F8C"/>
                </a:solidFill>
                <a:latin typeface="Arial"/>
              </a:rPr>
              <a:t>-d projects:</a:t>
            </a:r>
            <a:endParaRPr lang="en-US" sz="1200" b="0" dirty="0"/>
          </a:p>
          <a:p>
            <a:r>
              <a:rPr lang="en-US" sz="1200" dirty="0"/>
              <a:t>Expert parallelism spreads expert computation across GPUs. For P/D, we separate the phases and transfer KV between roles. Routing plugins use cache and load signals to pick workers. Workload signals and SLOs guide capacity; each integration chooses its policy. Choosing a worker and adding workers are different decisions.</a:t>
            </a:r>
          </a:p>
        </p:txBody>
      </p:sp>
    </p:spTree>
    <p:extLst>
      <p:ext uri="{BB962C8B-B14F-4D97-AF65-F5344CB8AC3E}">
        <p14:creationId xmlns:p14="http://schemas.microsoft.com/office/powerpoint/2010/main" val="32811512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llm-d calls these “well-lit paths”: tested deployment patterns that explain the trade-offs.</a:t>
            </a:r>
          </a:p>
          <a:p>
            <a:r>
              <a:rPr lang="en-US" sz="1200"/>
              <a:t>Where should this request run? Where should reusable state live? How should a large MoE model run across GPUs?</a:t>
            </a:r>
          </a:p>
          <a:p>
            <a:r>
              <a:rPr lang="en-US" sz="1200"/>
              <a:t>MoE means Mixture of Experts—a team of specialists. The model picks a few experts to help process each token.</a:t>
            </a:r>
          </a:p>
          <a:p>
            <a:r>
              <a:rPr lang="en-US" sz="1200"/>
              <a:t>And how should prompt and generation capacity differ? These paths can work together, but we don’t need all of them at once. Results depend on the hardware. Today, we’ll focus on P/D disaggregation and use KAITO to manage the workloads.</a:t>
            </a:r>
          </a:p>
        </p:txBody>
      </p:sp>
    </p:spTree>
    <p:extLst>
      <p:ext uri="{BB962C8B-B14F-4D97-AF65-F5344CB8AC3E}">
        <p14:creationId xmlns:p14="http://schemas.microsoft.com/office/powerpoint/2010/main" val="19007602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rPr lang="en-US" sz="1200"/>
              <a:t>KAITO automates LLM inference, fine-tuning and RAG with Kubernetes operators. It is a CNCF Sandbox project.</a:t>
            </a:r>
          </a:p>
          <a:p>
            <a:r>
              <a:rPr lang="en-US" sz="1200"/>
              <a:t>Choose a model and GPU. KAITO sizes nodes for model memory. It sets up and caches models. It manages InferenceSets and rolling updates. KEDA scales the workload. llm-d provides serving components; KAITO deploys and manages model workloads. You declare the desired state, and KAITO keeps the workload in that state. Next, let’s look at that declaration.</a:t>
            </a:r>
          </a:p>
          <a:p>
            <a:endParaRPr lang="en-US" sz="1200"/>
          </a:p>
          <a:p>
            <a:r>
              <a:rPr dirty="0"/>
              <a:t>References</a:t>
            </a:r>
          </a:p>
          <a:p>
            <a:r>
              <a:rPr dirty="0"/>
              <a:t>https://www.cncf.io/projects/kaito/</a:t>
            </a:r>
          </a:p>
          <a:p>
            <a:r>
              <a:rPr dirty="0"/>
              <a:t>https://github.com/kaito-project/kaito</a:t>
            </a:r>
          </a:p>
        </p:txBody>
      </p:sp>
    </p:spTree>
    <p:extLst>
      <p:ext uri="{BB962C8B-B14F-4D97-AF65-F5344CB8AC3E}">
        <p14:creationId xmlns:p14="http://schemas.microsoft.com/office/powerpoint/2010/main" val="253558605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We declare the model, GPU instance type and replica count. This InferenceSet uses Qwen3-Coder-30B-A3B-Instruct, Standard_NC24ads_A100_v4 and three replicas. The labels identify the related workloads.</a:t>
            </a:r>
          </a:p>
          <a:p>
            <a:r>
              <a:rPr lang="en-US" sz="1200"/>
              <a:t>Three replicas does not necessarily mean three GPUs; each replica’s GPU and node needs depend on the model and runtime settings. KAITO keeps the actual resources in sync with this desired state. Next, how does it work out what each replica needs?</a:t>
            </a:r>
          </a:p>
        </p:txBody>
      </p:sp>
    </p:spTree>
    <p:extLst>
      <p:ext uri="{BB962C8B-B14F-4D97-AF65-F5344CB8AC3E}">
        <p14:creationId xmlns:p14="http://schemas.microsoft.com/office/powerpoint/2010/main" val="14492462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Choose the model and GPU SKU. KAITO estimates how many nodes the model needs. KAITO reserves memory for overhead and KV cache, then fits the weights into the remaining GPU memory.</a:t>
            </a:r>
          </a:p>
          <a:p>
            <a:r>
              <a:rPr lang="en-US" sz="1200"/>
              <a:t>Save the result as status.targetNodeCount. This path uses tensor parallelism within nodes and pipeline parallelism across nodes. It sizes memory, not traffic capacity. Check the calculation against your installed version.</a:t>
            </a:r>
          </a:p>
        </p:txBody>
      </p:sp>
    </p:spTree>
    <p:extLst>
      <p:ext uri="{BB962C8B-B14F-4D97-AF65-F5344CB8AC3E}">
        <p14:creationId xmlns:p14="http://schemas.microsoft.com/office/powerpoint/2010/main" val="14492462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We want P/D routing without replacing KAITO’s Kubernetes operating model. KAITO manages deployment and lifecycle. llm-d adds endpoint selection and request routing. vLLM runs the phases, and NIXL moves KV.</a:t>
            </a:r>
          </a:p>
          <a:p>
            <a:r>
              <a:rPr lang="en-US" sz="1200"/>
              <a:t>Keep Workspace and InferenceSet. Give each role its own replicas, GPU types and runtime settings. Reuse llm-d’s P/D routing. MultiRoleInference, or MRI, is alpha: vLLM, Istio and GPU connectivity. Automatic per-role scaling still needs integration.</a:t>
            </a:r>
          </a:p>
          <a:p>
            <a:endParaRPr lang="en-US" sz="1200"/>
          </a:p>
          <a:p>
            <a:r>
              <a:rPr dirty="0"/>
              <a:t>Technical reference (not part of the spoken script)</a:t>
            </a:r>
          </a:p>
          <a:p>
            <a:endParaRPr dirty="0"/>
          </a:p>
          <a:p>
            <a:endParaRPr dirty="0"/>
          </a:p>
          <a:p>
            <a:r>
              <a:rPr dirty="0"/>
              <a:t>For that goal, </a:t>
            </a:r>
            <a:r>
              <a:rPr dirty="0" err="1"/>
              <a:t>llm</a:t>
            </a:r>
            <a:r>
              <a:rPr dirty="0"/>
              <a:t>-d is a good fit. KAITO keeps deployment intent and lifecycle. </a:t>
            </a:r>
            <a:r>
              <a:rPr dirty="0" err="1"/>
              <a:t>llm</a:t>
            </a:r>
            <a:r>
              <a:rPr dirty="0"/>
              <a:t>-d contributes endpoint selection and request orchestration. </a:t>
            </a:r>
            <a:r>
              <a:rPr dirty="0" err="1"/>
              <a:t>vLLM</a:t>
            </a:r>
            <a:r>
              <a:rPr dirty="0"/>
              <a:t> and NIXL execute the phases and move the state. This is an integration choice, not a universal platform ranking. Today's documented MRI scope is alpha, with </a:t>
            </a:r>
            <a:r>
              <a:rPr dirty="0" err="1"/>
              <a:t>vLLM</a:t>
            </a:r>
            <a:r>
              <a:rPr dirty="0"/>
              <a:t>, Istio, and suitable GPU connectivity as important constraints.</a:t>
            </a:r>
          </a:p>
          <a:p>
            <a:endParaRPr dirty="0"/>
          </a:p>
          <a:p>
            <a:r>
              <a:rPr dirty="0"/>
              <a:t>REFERENCE NOTES (NOT SPOKEN)</a:t>
            </a:r>
          </a:p>
          <a:p>
            <a:endParaRPr dirty="0"/>
          </a:p>
          <a:p>
            <a:r>
              <a:rPr dirty="0"/>
              <a:t>Best fit is an architecture recommendation relative to the goal of extending KAITO, not evidence that KAITO beats every serving platform. KAITO users already have Workspace/</a:t>
            </a:r>
            <a:r>
              <a:rPr dirty="0" err="1"/>
              <a:t>InferenceSet</a:t>
            </a:r>
            <a:r>
              <a:rPr dirty="0"/>
              <a:t> APIs, model presets and infrastructure lifecycle workflows. MRI reuses that model through role-specific child </a:t>
            </a:r>
            <a:r>
              <a:rPr dirty="0" err="1"/>
              <a:t>InferenceSets</a:t>
            </a:r>
            <a:r>
              <a:rPr dirty="0"/>
              <a:t>. The documented controller creates an </a:t>
            </a:r>
            <a:r>
              <a:rPr dirty="0" err="1"/>
              <a:t>InferencePool</a:t>
            </a:r>
            <a:r>
              <a:rPr dirty="0"/>
              <a:t> and </a:t>
            </a:r>
            <a:r>
              <a:rPr dirty="0" err="1"/>
              <a:t>llm</a:t>
            </a:r>
            <a:r>
              <a:rPr dirty="0"/>
              <a:t>-d EPP, injects the decode routing sidecar, and sets </a:t>
            </a:r>
            <a:r>
              <a:rPr dirty="0" err="1"/>
              <a:t>vLLM</a:t>
            </a:r>
            <a:r>
              <a:rPr dirty="0"/>
              <a:t> NIXL side-channel configuration. </a:t>
            </a:r>
            <a:r>
              <a:rPr dirty="0" err="1"/>
              <a:t>llm</a:t>
            </a:r>
            <a:r>
              <a:rPr dirty="0"/>
              <a:t>-d contributes P/D endpoint-selection plugins and request orchestration; </a:t>
            </a:r>
            <a:r>
              <a:rPr dirty="0" err="1"/>
              <a:t>vLLM</a:t>
            </a:r>
            <a:r>
              <a:rPr dirty="0"/>
              <a:t> and NIXL execute inference and transfer KV directly between pods. The three boxes are a composition diagram, not a sequential request path. Gateway/</a:t>
            </a:r>
            <a:r>
              <a:rPr dirty="0" err="1"/>
              <a:t>HTTPRoute</a:t>
            </a:r>
            <a:r>
              <a:rPr dirty="0"/>
              <a:t>, certificates, GPU capacity and fabric setup remain platform prerequisites; do not claim MRI provisions every cluster dependency automatically. Compared with introducing another serving platform API alongside KAITO, reusing </a:t>
            </a:r>
            <a:r>
              <a:rPr dirty="0" err="1"/>
              <a:t>llm</a:t>
            </a:r>
            <a:r>
              <a:rPr dirty="0"/>
              <a:t>-d components preserves KAITO as the user-facing orchestration entry point. </a:t>
            </a:r>
            <a:r>
              <a:rPr dirty="0" err="1"/>
              <a:t>KServe</a:t>
            </a:r>
            <a:r>
              <a:rPr dirty="0"/>
              <a:t> and </a:t>
            </a:r>
            <a:r>
              <a:rPr dirty="0" err="1"/>
              <a:t>AIBrix</a:t>
            </a:r>
            <a:r>
              <a:rPr dirty="0"/>
              <a:t> are legitimate alternative orchestration platforms; Dynamo offers an integrated stack; Ray Serve fits Ray-centric applications. Existing users of those platforms need not migrate solely to obtain P/D. Documented KAITO limitations: MRI is alpha, currently </a:t>
            </a:r>
            <a:r>
              <a:rPr dirty="0" err="1"/>
              <a:t>vLLM</a:t>
            </a:r>
            <a:r>
              <a:rPr dirty="0"/>
              <a:t>-only and requires Istio plus suitable GPU-to-GPU connectivity. Independent role replica settings do not imply an automatic MRI-level autoscaling policy. The existing KEDA-</a:t>
            </a:r>
            <a:r>
              <a:rPr dirty="0" err="1"/>
              <a:t>InferenceSet</a:t>
            </a:r>
            <a:r>
              <a:rPr dirty="0"/>
              <a:t> capability and proposed MRI policy UX are discussed later. No throughput, latency, cost, hardware-portability or superiority claim is made. Sources checked 2026-10-20.</a:t>
            </a:r>
          </a:p>
          <a:p>
            <a:endParaRPr dirty="0"/>
          </a:p>
          <a:p>
            <a:r>
              <a:rPr dirty="0"/>
              <a:t>References</a:t>
            </a:r>
          </a:p>
          <a:p>
            <a:r>
              <a:rPr dirty="0"/>
              <a:t>https://kaito-project.github.io/kaito/docs/prefill-decode-disaggregation</a:t>
            </a:r>
          </a:p>
          <a:p>
            <a:r>
              <a:rPr dirty="0"/>
              <a:t>https://kaito-project.github.io/kaito/docs/keda-autoscaler-inference</a:t>
            </a:r>
          </a:p>
          <a:p>
            <a:r>
              <a:rPr dirty="0"/>
              <a:t>https://llm-d.ai/docs/architecture</a:t>
            </a:r>
          </a:p>
          <a:p>
            <a:r>
              <a:rPr dirty="0"/>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This is a map of responsibilities, not a required installation checklist. Applications call the inference API. The gateway handles ingress, auth and traffic policy. KAITO manages lifecycle; llm-d selects endpoints.</a:t>
            </a:r>
          </a:p>
          <a:p>
            <a:r>
              <a:rPr lang="en-US" sz="1200"/>
              <a:t>vLLM runs prefill, decode and batching. NIXL moves KV; cache systems reuse or offload it. The infrastructure supports the stack. We will follow the roles, request routing, KV transfer and capacity control.</a:t>
            </a:r>
          </a:p>
        </p:txBody>
      </p:sp>
    </p:spTree>
    <p:extLst>
      <p:ext uri="{BB962C8B-B14F-4D97-AF65-F5344CB8AC3E}">
        <p14:creationId xmlns:p14="http://schemas.microsoft.com/office/powerpoint/2010/main" val="41773934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Declare both roles together. Keep orchestration separate from execution. Serve one model through one endpoint. Give prefill and decode their own placement and replica counts.</a:t>
            </a:r>
          </a:p>
          <a:p>
            <a:r>
              <a:rPr lang="en-US" sz="1200"/>
              <a:t>KAITO maintains the role topology. InferencePool links to the gateway. llm-d selects workers and coordinates requests. vLLM runs the phases; NIXL transfers KV. One service coordinates P/D requests, while each role keeps its own capacity settings.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Endpoint Picker selects workers. vLLM executes the inference phases. The gateway asks the EPP for a decision: a decode worker, and a prefill worker when remote prefill is needed.</a:t>
            </a:r>
          </a:p>
          <a:p>
            <a:r>
              <a:rPr lang="en-US" sz="1200"/>
              <a:t>Choose workers for prefill and decode. Combine KV-aware and P/D-aware plugins. Add new policies through plugins. KAITO reuses llm-d’s routing decisions instead of building a second routing engine.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KAITO manages resources. HTTP carries requests. NIXL moves KV between runtimes. Start at the top: KAITO maintains the role InferenceSets, InferencePool and runtime wiring.</a:t>
            </a:r>
          </a:p>
          <a:p>
            <a:r>
              <a:rPr lang="en-US" sz="1200"/>
              <a:t>For a request, the gateway consults the EPP, then forwards to the selected decode sidecar. The sidecar calls remote prefill when needed and local decode. The client uses one endpoint. KV data bypasses the gateway, EPP and routing sidecar.</a:t>
            </a:r>
          </a:p>
          <a:p>
            <a:endParaRPr lang="en-US" sz="1200"/>
          </a:p>
          <a:p>
            <a:r>
              <a:rPr dirty="0"/>
              <a:t>Technical reference (not part of the spoken script)</a:t>
            </a:r>
          </a:p>
          <a:p>
            <a:endParaRPr dirty="0"/>
          </a:p>
          <a:p>
            <a:r>
              <a:rPr dirty="0"/>
              <a:t>The upper band is resource ownership, not traffic. The gateway consults the </a:t>
            </a:r>
            <a:r>
              <a:rPr dirty="0" err="1"/>
              <a:t>llm</a:t>
            </a:r>
            <a:r>
              <a:rPr dirty="0"/>
              <a:t>-d Router EPP through the </a:t>
            </a:r>
            <a:r>
              <a:rPr dirty="0" err="1"/>
              <a:t>InferencePool</a:t>
            </a:r>
            <a:r>
              <a:rPr dirty="0"/>
              <a:t>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29. </a:t>
            </a:r>
            <a:r>
              <a:rPr dirty="0" err="1"/>
              <a:t>InferenceSets</a:t>
            </a:r>
            <a:r>
              <a:rPr dirty="0"/>
              <a:t>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One MultiRoleInference declares both roles. This example puts one prefill replica on A100 and two decode replicas on H100. The YAML declares the model and the settings for each role.</a:t>
            </a:r>
          </a:p>
          <a:p>
            <a:r>
              <a:rPr lang="en-US" sz="1200"/>
              <a:t>On the right, we still have one logical service and InferencePool. Both roles serve the same model. Each has its own InferenceSet and capacity settings. The model and SKU values are illustrative, not deployment-validated.</a:t>
            </a:r>
          </a:p>
          <a:p>
            <a:endParaRPr lang="en-US" sz="1200"/>
          </a:p>
          <a:p>
            <a:r>
              <a:rPr dirty="0"/>
              <a:t>Technical reference (not part of the spoken script)</a:t>
            </a:r>
          </a:p>
          <a:p>
            <a:endParaRPr dirty="0"/>
          </a:p>
          <a:p>
            <a:r>
              <a:rPr dirty="0"/>
              <a:t>User-supplied example: kaito.sh/v1alpha1 </a:t>
            </a:r>
            <a:r>
              <a:rPr dirty="0" err="1"/>
              <a:t>MultiRoleInference</a:t>
            </a:r>
            <a:r>
              <a:rPr dirty="0"/>
              <a:t> named qwen-3-8-27b, model Qwen/Qwen3.8-27B. The prefill role has replicas: 1 and </a:t>
            </a:r>
            <a:r>
              <a:rPr dirty="0" err="1"/>
              <a:t>instanceType</a:t>
            </a:r>
            <a:r>
              <a:rPr dirty="0"/>
              <a:t>: Standard_NC24ads_A100_v4; the decode role has replicas: 2 and </a:t>
            </a:r>
            <a:r>
              <a:rPr dirty="0" err="1"/>
              <a:t>instanceType</a:t>
            </a:r>
            <a:r>
              <a:rPr dirty="0"/>
              <a:t>: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a:t>
            </a:r>
            <a:r>
              <a:rPr dirty="0" err="1"/>
              <a:t>InferenceSet</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KAITO turns the declared topology into workers, routing resources and runtime wiring. For prefill, set role labels and the NIXL host or Pod IP. For decode, inject the sidecar. Align NIXL and vLLM ports.</a:t>
            </a:r>
          </a:p>
          <a:p>
            <a:r>
              <a:rPr lang="en-US" sz="1200"/>
              <a:t>For routing, connect Services, ports and endpoint selection. Keep ownership, roles, labels, ports and lifecycle consistent. KAITO keeps the resources working together; it does not just generate YAML.</a:t>
            </a:r>
          </a:p>
          <a:p>
            <a:endParaRPr lang="en-US" sz="1200"/>
          </a:p>
          <a:p>
            <a:r>
              <a:rPr dirty="0"/>
              <a:t>Technical reference (not part of the spoken script)</a:t>
            </a:r>
          </a:p>
          <a:p>
            <a:endParaRPr dirty="0"/>
          </a:p>
          <a:p>
            <a:r>
              <a:rPr dirty="0"/>
              <a:t>The dashed tree is a resource and responsibility map, not an exact claim that every depicted object is a direct Kubernetes child of the </a:t>
            </a:r>
            <a:r>
              <a:rPr dirty="0" err="1"/>
              <a:t>MultiRoleInference</a:t>
            </a:r>
            <a:r>
              <a:rPr dirty="0"/>
              <a:t>.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sidecar calls remote prefill when needed, then invokes local decode. Follow steps three to six: prefill returns remote KV parameters, not the KV payload. The sidecar passes those parameters to local decode.</a:t>
            </a:r>
          </a:p>
          <a:p>
            <a:r>
              <a:rPr lang="en-US" sz="1200"/>
              <a:t>Decode initiates the NIXL read; the data moves from prefill to decode. The response returns through the sidecar and gateway. The sidecar passes calls and KV metadata. The runtimes transfer the actual KV data.</a:t>
            </a:r>
          </a:p>
          <a:p>
            <a:endParaRPr lang="en-US" sz="1200"/>
          </a:p>
          <a:p>
            <a:r>
              <a:rPr dirty="0"/>
              <a:t>Technical reference (not part of the spoken script)</a:t>
            </a:r>
          </a:p>
          <a:p>
            <a:endParaRPr dirty="0"/>
          </a:p>
          <a:p>
            <a:r>
              <a:rPr dirty="0"/>
              <a:t>Based on </a:t>
            </a:r>
            <a:r>
              <a:rPr dirty="0" err="1"/>
              <a:t>llm</a:t>
            </a:r>
            <a:r>
              <a:rPr dirty="0"/>
              <a:t>-d-router docs/</a:t>
            </a:r>
            <a:r>
              <a:rPr dirty="0" err="1"/>
              <a:t>disaggregation.md#pd-sequence</a:t>
            </a:r>
            <a:r>
              <a:rPr dirty="0"/>
              <a:t>. Step 2 follows EPP selection; the EPP consultation is omitted from this sequence and shown on slide 26. Step 4 returns transfer metadata, not the KV payload. Step 5 carries </a:t>
            </a:r>
            <a:r>
              <a:rPr dirty="0" err="1"/>
              <a:t>remote_prefill</a:t>
            </a:r>
            <a:r>
              <a:rPr dirty="0"/>
              <a:t>=true, prefill request ID and memory block IDs to local decode. Step 6 shows KV DATA direction (prefill → decode); decode initiates the NIXL read. Response arrows return via sidecar and gateway. Source: https://github.com/llm-d/llm-d-router/blob/main/docs/disaggregation.md#pd-sequence</a:t>
            </a:r>
          </a:p>
          <a:p>
            <a:endParaRPr dirty="0"/>
          </a:p>
          <a:p>
            <a:r>
              <a:rPr dirty="0"/>
              <a:t>References</a:t>
            </a:r>
          </a:p>
          <a:p>
            <a:r>
              <a:rPr dirty="0"/>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sz="1200"/>
              <a:t>KV moves between runtimes, not through the gateway or routing sidecar. Prefill builds KV in GPU memory. Decode reuses KV to keep generating. NIXL uses a transport backend. Decode may initiate the read.</a:t>
            </a:r>
          </a:p>
          <a:p>
            <a:r>
              <a:rPr lang="en-US" sz="1200"/>
              <a:t>GPU-direct RDMA needs a supported GPU, NIC, fabric and backend. A TCP path is not RDMA. Measure transfer latency and staging cost on your deployment. Next, let’s look at capacity.</a:t>
            </a:r>
          </a:p>
        </p:txBody>
      </p:sp>
    </p:spTree>
    <p:extLst>
      <p:ext uri="{BB962C8B-B14F-4D97-AF65-F5344CB8AC3E}">
        <p14:creationId xmlns:p14="http://schemas.microsoft.com/office/powerpoint/2010/main" val="233665756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Proposed approach: let prefill and decode make separate capacity decisions. Match signals to each role’s load. Tune thresholds against latency targets.</a:t>
            </a:r>
          </a:p>
          <a:p>
            <a:r>
              <a:rPr lang="en-US" sz="1200"/>
              <a:t>Prefill needs to protect time to first token. Start with vLLM waiting requests. Decode needs to sustain steady token delivery. Start with vLLM running requests. These counts indicate load, not latency or GPU saturation.</a:t>
            </a:r>
          </a:p>
          <a:p>
            <a:endParaRPr lang="en-US" sz="120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Today, KEDA scales an InferenceSet. KAITO documents scheduled scaling and metric-based scaling with KEDA. KEDA and HPA set replicas on the InferenceSet. KAITO adjusts serving resources.</a:t>
            </a:r>
          </a:p>
          <a:p>
            <a:r>
              <a:rPr lang="en-US" sz="1200"/>
              <a:t>One example watches queues, using vllm:num_requests_waiting. KEDA is installed separately. This is the existing scaling mechanism, not a finished MRI policy. Scale the complete serving replica, not an individual tensor-parallel worker.</a:t>
            </a:r>
          </a:p>
          <a:p>
            <a:endParaRPr lang="en-US" sz="1200"/>
          </a:p>
          <a:p>
            <a:r>
              <a:rPr dirty="0"/>
              <a:t>Technical reference (not part of the spoken script)</a:t>
            </a:r>
          </a:p>
          <a:p>
            <a:endParaRPr dirty="0"/>
          </a:p>
          <a:p>
            <a:r>
              <a:rPr dirty="0"/>
              <a:t>KEDA is installed separately. The KAITO documentation shows Cron and Prometheus triggers with a </a:t>
            </a:r>
            <a:r>
              <a:rPr dirty="0" err="1"/>
              <a:t>ScaledObject</a:t>
            </a:r>
            <a:r>
              <a:rPr dirty="0"/>
              <a:t> </a:t>
            </a:r>
            <a:r>
              <a:rPr dirty="0" err="1"/>
              <a:t>scaleTargetRef</a:t>
            </a:r>
            <a:r>
              <a:rPr dirty="0"/>
              <a:t> pointing to a kaito.sh </a:t>
            </a:r>
            <a:r>
              <a:rPr dirty="0" err="1"/>
              <a:t>InferenceSet</a:t>
            </a:r>
            <a:r>
              <a:rPr dirty="0"/>
              <a:t>. The controller reconciles the desired replicas into serving resources. The queue metric example is real; it does not establish native per-role MRI autoscaling policy.</a:t>
            </a:r>
          </a:p>
          <a:p>
            <a:endParaRPr dirty="0"/>
          </a:p>
          <a:p>
            <a:r>
              <a:rPr dirty="0"/>
              <a:t>References</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rPr lang="en-US" sz="1200"/>
              <a:t>Read vLLM metrics directly, without Prometheus. Use queue and latency signals. Take conservative replica steps. Combine conditions with AND.</a:t>
            </a:r>
          </a:p>
          <a:p>
            <a:r>
              <a:rPr lang="en-US" sz="1200"/>
              <a:t>AND can reduce unnecessary scaling, but it can also delay capacity. Check the installed scaler version and test the policy for your model. This works with InferenceSet; applying it separately to MRI roles still needs integration.</a:t>
            </a:r>
          </a:p>
        </p:txBody>
      </p:sp>
    </p:spTree>
    <p:extLst>
      <p:ext uri="{BB962C8B-B14F-4D97-AF65-F5344CB8AC3E}">
        <p14:creationId xmlns:p14="http://schemas.microsoft.com/office/powerpoint/2010/main" val="31905224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Let prefill and decode scale independently. Proposed design: each role gets its own signal, threshold and replica target. Prefill watches waiting requests and scales its InferenceSet. Decode watches running requests and scales its InferenceSet.</a:t>
            </a:r>
          </a:p>
          <a:p>
            <a:r>
              <a:rPr lang="en-US" sz="1200"/>
              <a:t>Give each target one owner. Allow warm-up time, stabilize changes and scale down safely. Independent capacity decisions are the goal; KEDA and HPA are one way to implement them.</a:t>
            </a:r>
          </a:p>
          <a:p>
            <a:endParaRPr lang="en-US" sz="1200"/>
          </a:p>
          <a:p>
            <a:r>
              <a:rPr dirty="0"/>
              <a:t>Technical reference (not part of the spoken script)</a:t>
            </a:r>
          </a:p>
          <a:p>
            <a:endParaRPr dirty="0"/>
          </a:p>
          <a:p>
            <a:r>
              <a:rPr dirty="0"/>
              <a:t>Conceptual two-loop design. A KEDA deployment can use one </a:t>
            </a:r>
            <a:r>
              <a:rPr dirty="0" err="1"/>
              <a:t>ScaledObject</a:t>
            </a:r>
            <a:r>
              <a:rPr dirty="0"/>
              <a:t> per target </a:t>
            </a:r>
            <a:r>
              <a:rPr dirty="0" err="1"/>
              <a:t>InferenceSet</a:t>
            </a:r>
            <a:r>
              <a:rPr dirty="0"/>
              <a:t>. Native </a:t>
            </a:r>
            <a:r>
              <a:rPr dirty="0" err="1"/>
              <a:t>vLLM</a:t>
            </a:r>
            <a:r>
              <a:rPr dirty="0"/>
              <a:t> waiting and running request gauges supply role-specific signals. Do not install conflicting </a:t>
            </a:r>
            <a:r>
              <a:rPr dirty="0" err="1"/>
              <a:t>autoscalers</a:t>
            </a:r>
            <a:r>
              <a:rPr dirty="0"/>
              <a:t> for one target. Metric aggregation, freshness, model warm-up and safe scale-down require verification. The following slides explain policy and signal choices independently of the configuration API.</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One service can scale its two roles separately. Proposed design: set service goals, then give each role its own scaling policy. Protect prompt latency. Keep tokens flowing. Set separate role targets.</a:t>
            </a:r>
          </a:p>
          <a:p>
            <a:r>
              <a:rPr lang="en-US" sz="1200"/>
              <a:t>Apply the prefill policy. Apply the decode policy. Scale a complete serving replica—not an individual tensor-parallel worker. Mapping service goals to those policies and handing over replica ownership still require MRI integration.</a:t>
            </a:r>
          </a:p>
          <a:p>
            <a:endParaRPr lang="en-US" sz="1200"/>
          </a:p>
          <a:p>
            <a:r>
              <a:rPr dirty="0"/>
              <a:t>Technical reference (not part of the spoken script)</a:t>
            </a:r>
          </a:p>
          <a:p>
            <a:endParaRPr dirty="0"/>
          </a:p>
          <a:p>
            <a:r>
              <a:rPr dirty="0"/>
              <a:t>Public-facing design pattern: express service objectives, reconcile independent role policies, and scale each role as a complete serving replica. Policy representation and controller-specific wiring are implementation details and intentionally omitted here. Existing KEDA/</a:t>
            </a:r>
            <a:r>
              <a:rPr dirty="0" err="1"/>
              <a:t>InferenceSet</a:t>
            </a:r>
            <a:r>
              <a:rPr dirty="0"/>
              <a:t> capability is described on the earlier slide; this diagram is not a claim that automatic service-level policy projection is already available. Keep one authoritative </a:t>
            </a:r>
            <a:r>
              <a:rPr dirty="0" err="1"/>
              <a:t>autoscaler</a:t>
            </a:r>
            <a:r>
              <a:rPr dirty="0"/>
              <a:t> per target.</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Proposed loops use valid role metrics—not GPU utilization alone—to decide capacity. Routing chooses where requests go; autoscaling changes how much capacity is available.</a:t>
            </a:r>
          </a:p>
          <a:p>
            <a:r>
              <a:rPr lang="en-US" sz="1200"/>
              <a:t>Validate signals and limits. Give each target one owner. Count only ready replicas. Waiting requests inform prefill capacity; running requests inform decode capacity. Running requests measure concurrency, not GPU saturation. Require fresh, complete role metrics before trusting a scaling decision.</a:t>
            </a:r>
          </a:p>
          <a:p>
            <a:endParaRPr lang="en-US" sz="1200"/>
          </a:p>
          <a:p>
            <a:r>
              <a:rPr dirty="0"/>
              <a:t>Technical reference (not part of the spoken script)</a:t>
            </a:r>
          </a:p>
          <a:p>
            <a:endParaRPr dirty="0"/>
          </a:p>
          <a:p>
            <a:r>
              <a:rPr dirty="0"/>
              <a:t>Architectural control pattern, independent of how policies are encoded. Each role has its own signals, controller decision and serving-replica target. KEDA/HPA targeting an </a:t>
            </a:r>
            <a:r>
              <a:rPr dirty="0" err="1"/>
              <a:t>InferenceSet</a:t>
            </a:r>
            <a:r>
              <a:rPr dirty="0"/>
              <a: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This is a proposed policy excerpt, not a ready-to-deploy manifest. The MRI adapter and child opt-in still need integration. These thresholds are examples.</a:t>
            </a:r>
          </a:p>
          <a:p>
            <a:r>
              <a:rPr lang="en-US" sz="1200"/>
              <a:t>Start with one prefill replica and two decode replicas. With role averages of twelve, prefill requests scale-up and decode holds. Decode can request scale-up above twenty-four. AND applies within each role, not across roles. The formula requests double, half or unchanged replicas, rounded up. HPA behavior limits the pace; readiness, bounds and stabilization still apply.</a:t>
            </a:r>
          </a:p>
          <a:p>
            <a:endParaRPr lang="en-US" sz="1200"/>
          </a:p>
          <a:p>
            <a:r>
              <a:rPr dirty="0"/>
              <a:t>Technical reference (not part of the spoken script)</a:t>
            </a:r>
          </a:p>
          <a:p>
            <a:endParaRPr dirty="0"/>
          </a:p>
          <a:p>
            <a:r>
              <a:rPr dirty="0"/>
              <a:t>The left panel is a literal excerpt under MRI </a:t>
            </a:r>
            <a:r>
              <a:rPr dirty="0" err="1"/>
              <a:t>metadata.annotations</a:t>
            </a:r>
            <a:r>
              <a:rPr dirty="0"/>
              <a:t>; the right is a </a:t>
            </a:r>
            <a:r>
              <a:rPr dirty="0" err="1"/>
              <a:t>spec.roles</a:t>
            </a:r>
            <a:r>
              <a:rPr dirty="0"/>
              <a:t> excerpt, not the entire deployable resource. Full YAML: </a:t>
            </a:r>
            <a:r>
              <a:rPr dirty="0" err="1"/>
              <a:t>llm</a:t>
            </a:r>
            <a:r>
              <a:rPr dirty="0"/>
              <a:t>/</a:t>
            </a:r>
            <a:r>
              <a:rPr dirty="0" err="1"/>
              <a:t>kaito</a:t>
            </a:r>
            <a:r>
              <a:rPr dirty="0"/>
              <a:t>-</a:t>
            </a:r>
            <a:r>
              <a:rPr dirty="0" err="1"/>
              <a:t>llm</a:t>
            </a:r>
            <a:r>
              <a:rPr dirty="0"/>
              <a:t>-d/examples/proposed-pd-autoscaling-</a:t>
            </a:r>
            <a:r>
              <a:rPr dirty="0" err="1"/>
              <a:t>annotations.yaml</a:t>
            </a:r>
            <a:r>
              <a:rPr dirty="0"/>
              <a:t> in this repository. Model and </a:t>
            </a:r>
            <a:r>
              <a:rPr dirty="0" err="1"/>
              <a:t>instanceType</a:t>
            </a:r>
            <a:r>
              <a:rPr dirty="0"/>
              <a:t>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a:t>
            </a:r>
            <a:r>
              <a:rPr dirty="0" err="1"/>
              <a:t>modelpod</a:t>
            </a:r>
            <a:r>
              <a:rPr dirty="0"/>
              <a:t> source discovers Workspaces owned by the target </a:t>
            </a:r>
            <a:r>
              <a:rPr dirty="0" err="1"/>
              <a:t>InferenceSet</a:t>
            </a:r>
            <a:r>
              <a:rPr dirty="0"/>
              <a: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a:t>
            </a:r>
            <a:r>
              <a:rPr dirty="0" err="1"/>
              <a:t>vLLM</a:t>
            </a:r>
            <a:r>
              <a:rPr dirty="0"/>
              <a:t> /metrics verification and full-role sample coverage before activation.</a:t>
            </a:r>
          </a:p>
          <a:p>
            <a:endParaRPr dirty="0"/>
          </a:p>
          <a:p>
            <a:r>
              <a:rPr dirty="0"/>
              <a:t>Narrative source: kubecon-na-2026-pd-disaggregation.md</a:t>
            </a:r>
          </a:p>
          <a:p>
            <a:r>
              <a:rPr dirty="0"/>
              <a:t>References:</a:t>
            </a:r>
          </a:p>
          <a:p>
            <a:r>
              <a:rPr dirty="0"/>
              <a:t>https://github.com/andyzhangx/demo/blob/26c3e14a340d4b0aae5c820b43087d71b85d1554/llm/kaito-llm-d/kaito-role-aware-autoscaling-for-pd.md</a:t>
            </a:r>
          </a:p>
          <a:p>
            <a:r>
              <a:rPr dirty="0"/>
              <a:t>https://docs.vllm.ai/en/stable/usage/metrics/</a:t>
            </a:r>
          </a:p>
          <a:p>
            <a:r>
              <a:rPr dirty="0"/>
              <a:t>https://github.com/andyzhangx/demo/blob/master/llm/kaito-llm-d/examples/proposed-pd-autoscaling-annotations.yaml</a:t>
            </a:r>
          </a:p>
          <a:p>
            <a:r>
              <a:rPr dirty="0"/>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Use two gauges to scale the two roles. Verify service-to-replica mapping before averaging each role’s load. The default sums matching series within each service, then averages scraped services. Check full coverage: missing data is not zero. Watch the prefill engine queue and active decode requests.</a:t>
            </a:r>
          </a:p>
          <a:p>
            <a:r>
              <a:rPr lang="en-US" sz="1200"/>
              <a:t>In this example, prefill scales up above eight and down below one; decode scales up above twenty-four and down below four. Both hold between the thresholds, including equality. These thresholds are examples. Verify /metrics before enabling either policy.</a:t>
            </a:r>
          </a:p>
          <a:p>
            <a:endParaRPr lang="en-US" sz="1200"/>
          </a:p>
          <a:p>
            <a:r>
              <a:rPr dirty="0"/>
              <a:t>Technical reference (not part of the spoken script)</a:t>
            </a:r>
          </a:p>
          <a:p>
            <a:endParaRPr dirty="0"/>
          </a:p>
          <a:p>
            <a:r>
              <a:rPr dirty="0"/>
              <a:t>Native </a:t>
            </a:r>
            <a:r>
              <a:rPr dirty="0" err="1"/>
              <a:t>vllm:num_requests_waiting</a:t>
            </a:r>
            <a:r>
              <a:rPr dirty="0"/>
              <a:t> and </a:t>
            </a:r>
            <a:r>
              <a:rPr dirty="0" err="1"/>
              <a:t>vllm:num_requests_running</a:t>
            </a:r>
            <a:r>
              <a:rPr dirty="0"/>
              <a:t>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endParaRPr dirty="0"/>
          </a:p>
          <a:p>
            <a:r>
              <a:rPr dirty="0"/>
              <a:t>References</a:t>
            </a:r>
          </a:p>
          <a:p>
            <a:r>
              <a:rPr dirty="0"/>
              <a:t>https://github.com/andyzhangx/demo/blob/26c3e14a340d4b0aae5c820b43087d71b85d1554/llm/kaito-llm-d/kaito-role-aware-autoscaling-for-pd.md</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Use derived signals to explain the load. Derive KV usage, latency and throughput. Check queries before use. Maximum KV usage could guard scale-down. Its complement shows free fraction, not request capacity. First-token P95 shows engine-side TTFT tails. Token throughput shows output rate; benchmark it.</a:t>
            </a:r>
          </a:p>
          <a:p>
            <a:r>
              <a:rPr lang="en-US" sz="1200"/>
              <a:t>KV occupancy is not demand. Throughput alone should not change replica counts. These are proposed derived signals, not metrics already integrated into MRI.</a:t>
            </a:r>
          </a:p>
          <a:p>
            <a:endParaRPr lang="en-US" sz="1200"/>
          </a:p>
          <a:p>
            <a:r>
              <a:rPr dirty="0"/>
              <a:t>Technical reference (not part of the spoken script)</a:t>
            </a:r>
          </a:p>
          <a:p>
            <a:endParaRPr dirty="0"/>
          </a:p>
          <a:p>
            <a:r>
              <a:rPr dirty="0"/>
              <a:t>These are derived-signal design examples, not metrics natively emitted by </a:t>
            </a:r>
            <a:r>
              <a:rPr dirty="0" err="1"/>
              <a:t>vLLM</a:t>
            </a:r>
            <a:r>
              <a:rPr dirty="0"/>
              <a:t> or a claim of current MRI integration support. All table input names have the </a:t>
            </a:r>
            <a:r>
              <a:rPr dirty="0" err="1"/>
              <a:t>vllm</a:t>
            </a:r>
            <a:r>
              <a:rPr dirty="0"/>
              <a:t>: prefix. Proposed recording-rule names: </a:t>
            </a:r>
            <a:r>
              <a:rPr dirty="0" err="1"/>
              <a:t>kaito:decode_kv_cache_usage_max</a:t>
            </a:r>
            <a:r>
              <a:rPr dirty="0"/>
              <a:t> = max valid role-scoped </a:t>
            </a:r>
            <a:r>
              <a:rPr dirty="0" err="1"/>
              <a:t>vllm:kv_cache_usage_perc</a:t>
            </a:r>
            <a:r>
              <a:rPr dirty="0"/>
              <a:t>; </a:t>
            </a:r>
            <a:r>
              <a:rPr dirty="0" err="1"/>
              <a:t>kaito:decode_kv_cache_free_fraction_min</a:t>
            </a:r>
            <a:r>
              <a:rPr dirty="0"/>
              <a:t> = 1 - that maximum; kaito:prefill_ttft_p95_seconds = </a:t>
            </a:r>
            <a:r>
              <a:rPr dirty="0" err="1"/>
              <a:t>histogram_quantile</a:t>
            </a:r>
            <a:r>
              <a:rPr dirty="0"/>
              <a:t>(0.95, summed per-series 5m bucket rates preserving workload/role and le); </a:t>
            </a:r>
            <a:r>
              <a:rPr dirty="0" err="1"/>
              <a:t>kaito:decode_generation_tokens_per_second</a:t>
            </a:r>
            <a:r>
              <a:rPr dirty="0"/>
              <a:t> = sum of reset-aware rate(</a:t>
            </a:r>
            <a:r>
              <a:rPr dirty="0" err="1"/>
              <a:t>vllm:generation_tokens_total</a:t>
            </a:r>
            <a:r>
              <a:rPr dirty="0"/>
              <a:t>[5m]).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a:t>
            </a:r>
            <a:r>
              <a:rPr dirty="0" err="1"/>
              <a:t>vLLM</a:t>
            </a:r>
            <a:r>
              <a:rPr dirty="0"/>
              <a:t>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endParaRPr dirty="0"/>
          </a:p>
          <a:p>
            <a:r>
              <a:rPr dirty="0"/>
              <a:t>References</a:t>
            </a:r>
          </a:p>
          <a:p>
            <a:r>
              <a:rPr dirty="0"/>
              <a:t>https://github.com/andyzhangx/demo/blob/26c3e14a340d4b0aae5c820b43087d71b85d1554/llm/kaito-llm-d/kaito-role-aware-autoscaling-for-pd.md</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Next, explore better cache reuse, more inference roles and larger-scale execution. Route using KV cache events. Tier cache across HBM, CPU RAM and optional filesystems. Add Encode to Prefill / Decode. Support more inference roles. Explore wide expert parallelism. Improve cross-node transport and communication.</a:t>
            </a:r>
          </a:p>
          <a:p>
            <a:r>
              <a:rPr lang="en-US" sz="1200"/>
              <a:t>These are integration directions, not release dates; some capabilities already exist upstream.</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Explore the projects, then try the KAITO + llm-d P/D guide. llm-d and KAITO are both CNCF Sandbox projects. Start with their repositories for the code, check keda-kaito-scaler for scaling details, and use the P/D guide for prerequisites and configuration.</a:t>
            </a:r>
          </a:p>
          <a:p>
            <a:endParaRPr lang="en-US" sz="1200"/>
          </a:p>
          <a:p>
            <a:r>
              <a:rPr dirty="0"/>
              <a:t>References</a:t>
            </a:r>
          </a:p>
          <a:p>
            <a:r>
              <a:rPr dirty="0"/>
              <a:t>https://github.com/llm-d</a:t>
            </a:r>
          </a:p>
          <a:p>
            <a:r>
              <a:rPr dirty="0"/>
              <a:t>https://github.com/kaito-project/kaito</a:t>
            </a:r>
          </a:p>
          <a:p>
            <a:r>
              <a:rPr dirty="0"/>
              <a:t>https://kaito-project.github.io/kaito/docs/prefill-decode-disaggregation/</a:t>
            </a:r>
          </a:p>
          <a:p>
            <a:r>
              <a:rPr dirty="0"/>
              <a:t>https://www.cncf.io/projects/llm-d/</a:t>
            </a:r>
          </a:p>
          <a:p>
            <a:r>
              <a:rPr dirty="0"/>
              <a:t>https://www.cncf.io/projects/kaito/</a:t>
            </a:r>
          </a:p>
          <a:p>
            <a:r>
              <a:rPr dirty="0"/>
              <a:t>https://github.com/kaito-project/keda-kaito-scaler</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Thank you. We’re happy to take questions.</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Split the phases. Tune the pools independently. P/D separates prompt processing from generation, with KV transfer between them. Size prefill replicas and parallelism for prompt pressure. Size decode replicas and parallelism for sustained generation.</a:t>
            </a:r>
          </a:p>
          <a:p>
            <a:r>
              <a:rPr lang="en-US" sz="1200"/>
              <a:t>Transfer and coordination add cost. KV data moves from prefill to decode, even when decode initiates the read. The transfer path must be fast enough to justify the split.</a:t>
            </a:r>
          </a:p>
          <a:p>
            <a:endParaRPr lang="en-US" sz="1200"/>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Different roles need different scaling policies. Tune each role for its workload, using per-replica signals and shared safety checks. Prefill watches waiting requests; decode watches running requests. The example ranges are one to eight and two to sixteen replicas.</a:t>
            </a:r>
          </a:p>
          <a:p>
            <a:r>
              <a:rPr lang="en-US" sz="1200"/>
              <a:t>Prefill scales up above eight and down below one; decode scales up above twenty-four and down below four. Otherwise, hold. Both need readiness and fresh metrics. These policies are examples. Validate thresholds, cooldown and model warm-up. These are safety requirements, not guarantees of current MRI integration.</a:t>
            </a:r>
          </a:p>
          <a:p>
            <a:endParaRPr lang="en-US" sz="1200"/>
          </a:p>
          <a:p>
            <a:r>
              <a:t>Technical reference (not part of the spoken script)</a:t>
            </a:r>
          </a:p>
          <a:p>
            <a:endParaRPr/>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Three layers. Three clear responsibilities. The InferencePool contract connects platform orchestration to routing. KAITO reconciles the role topology. It creates resources and manages their lifecycle. GWIE defines the InferencePool contract. It connects backends to gateway integration. llm-d Router selects endpoints via EPP. It makes role-aware routing decisions.</a:t>
            </a:r>
          </a:p>
          <a:p>
            <a:r>
              <a:rPr lang="en-US" sz="1200"/>
              <a:t>KAITO owns the topology. GWIE defines the contract. llm-d Router makes the selection. InferencePool is an API resource, not another forwarding proxy.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Here is how KAITO estimates GPU node count. Estimate initial memory capacity—not throughput—from the model and GPU memory. Start with GPU memory. Reserve runtime overhead and room for KV cache. Fit the weights into usable GPU memory. Account for parallelism. Divide by GPUs per node. Round up, then reconcile the workload.</a:t>
            </a:r>
          </a:p>
          <a:p>
            <a:r>
              <a:rPr lang="en-US" sz="1200"/>
              <a:t>The sizing formula and safety margins depend on the KAITO and runtime version. Fitting the model is not a latency or throughput guarantee.</a:t>
            </a:r>
          </a:p>
        </p:txBody>
      </p:sp>
    </p:spTree>
    <p:extLst>
      <p:ext uri="{BB962C8B-B14F-4D97-AF65-F5344CB8AC3E}">
        <p14:creationId xmlns:p14="http://schemas.microsoft.com/office/powerpoint/2010/main" val="144924624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rPr lang="en-US" sz="1200"/>
              <a:t>llm-d connects routing, prefill and decode. Route prefill and decode separately. Choose workers dynamically. Tune each role’s capacity and scheduling. Target TTFT and ITL SLOs—then measure the handoff cost.</a:t>
            </a:r>
          </a:p>
          <a:p>
            <a:r>
              <a:rPr lang="en-US" sz="1200"/>
              <a:t>One client request can become separate internal requests. Separate pools give us more control, not a guarantee of meeting latency targets. The sidecar coordinates the handoff; vLLM and NIXL move the KV data.</a:t>
            </a:r>
          </a:p>
        </p:txBody>
      </p:sp>
    </p:spTree>
    <p:extLst>
      <p:ext uri="{BB962C8B-B14F-4D97-AF65-F5344CB8AC3E}">
        <p14:creationId xmlns:p14="http://schemas.microsoft.com/office/powerpoint/2010/main" val="16989503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decode sidecar coordinates the request. One decode endpoint coordinates remote prefill and returns the final response. The gateway reaches the selected decode pod’s sidecar. When needed, the sidecar requests remote prefill, then passes the request and KV metadata to local decode vLLM.</a:t>
            </a:r>
          </a:p>
          <a:p>
            <a:r>
              <a:rPr lang="en-US" sz="1200"/>
              <a:t>The sidecar coordinates requests. KV data goes directly to the decode runtime. Decode initiates the read; KV data bypasses the sidecar. Ports five thousand and five thousand one are configuration examples.</a:t>
            </a:r>
          </a:p>
          <a:p>
            <a:endParaRPr lang="en-US" sz="1200"/>
          </a:p>
          <a:p>
            <a:r>
              <a:t>Technical reference (not part of the spoken script)</a:t>
            </a:r>
          </a:p>
          <a:p>
            <a:endParaRPr/>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Ask two questions: do the roles need different capacity, and what does KV transfer cost? With different role needs but costly transfer, improve topology first: separate capacity may help, but transfer may erase the gain. With different needs and affordable transfer, tune each role separately. Validate at matched SLOs and cost.</a:t>
            </a:r>
          </a:p>
          <a:p>
            <a:r>
              <a:rPr lang="en-US" sz="1200"/>
              <a:t>With similar needs, usually stay aggregated. Similar roles gain little, while expensive transfer adds cost. Fast fabric alone is no reason to split. Use P/D when roles need different capacity and KV transfer does not erase the gain.</a:t>
            </a:r>
          </a:p>
          <a:p>
            <a:endParaRPr lang="en-US" sz="1200"/>
          </a:p>
          <a:p>
            <a:r>
              <a:t>Technical reference (not part of the spoken script)</a:t>
            </a:r>
          </a:p>
          <a:p>
            <a:endParaRPr/>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Three takeaways for operating P/D on Kubernetes. Separate capacity to protect latency. Prefill shapes first-token latency; decode shapes ongoing token delivery. Give each layer a clear job. KAITO manages roles; llm-d routes; vLLM + NIXL execute and move KV.</a:t>
            </a:r>
          </a:p>
          <a:p>
            <a:r>
              <a:rPr lang="en-US" sz="1200"/>
              <a:t>Scale each role safely. Use role signals and safe scale-down; MRI integration still needs work. Validate P/D against aggregated serving at matched workload, cost and latency targets.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rPr lang="en-US" sz="1200"/>
              <a:t>Tune explicitly today; aim for simpler defaults next. Choose queue and latency metrics. Set thresholds and time windows. Set replica bounds and cooldowns. Combine signals with an AND policy. Check available settings against your installed scaler version.</a:t>
            </a:r>
          </a:p>
          <a:p>
            <a:r>
              <a:rPr lang="en-US" sz="1200"/>
              <a:t>The proposal is to keep minimum and maximum replicas, derive more defaults automatically, and validate for the model and workload. This is not shipped auto-tuning. Existing InferenceSet scaling is the base; MRI role-policy integration still needs work.</a:t>
            </a:r>
          </a:p>
          <a:p>
            <a:endParaRPr lang="en-US" sz="1200"/>
          </a:p>
          <a:p>
            <a:r>
              <a:t>Configuration reference (from the original deck; validate against the installed scaler version)</a:t>
            </a:r>
          </a:p>
          <a:p>
            <a:endParaRPr/>
          </a:p>
          <a:p>
            <a:endParaRPr/>
          </a:p>
        </p:txBody>
      </p:sp>
    </p:spTree>
    <p:extLst>
      <p:ext uri="{BB962C8B-B14F-4D97-AF65-F5344CB8AC3E}">
        <p14:creationId xmlns:p14="http://schemas.microsoft.com/office/powerpoint/2010/main" val="36214008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Reuse the serving stack and add Kubernetes-native coordination. Run modular components on Kubernetes. Keep failure boundaries clear. Connect gateways, routing, runtimes and KV interfaces. Start with tested paths. Weigh the trade-offs. Tune for your workload.</a:t>
            </a:r>
          </a:p>
          <a:p>
            <a:r>
              <a:rPr lang="en-US" sz="1200"/>
              <a:t>llm-d composes gateways, runtimes and transport; it does not replace them all. These reference paths are starting points, not performance guarantees for every model and hardware combination.</a:t>
            </a:r>
          </a:p>
          <a:p>
            <a:endParaRPr lang="en-US" sz="1200"/>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Safe autoscaling needs one writer and valid data. These are safety requirements to verify, not guarantees of current MRI integration. Give each role one replica writer. Do not let autoscalers compete. Inspect actual /metrics. Scope samples per role. Missing is not zero. Hold and report on failure.</a:t>
            </a:r>
          </a:p>
          <a:p>
            <a:r>
              <a:rPr lang="en-US" sz="1200"/>
              <a:t>Stop the old writer first. Delete only owned scalers. Allow model warm-up. Test safe scale-down. Avoid competing controllers, count only ready capacity, and protect in-flight requests.</a:t>
            </a:r>
          </a:p>
          <a:p>
            <a:endParaRPr lang="en-US" sz="1200"/>
          </a:p>
          <a:p>
            <a:r>
              <a:t>Technical reference (not part of the spoken script)</a:t>
            </a:r>
          </a:p>
          <a:p>
            <a:endParaRPr/>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endParaRPr/>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These are building blocks, not benchmark guarantees. Run large models with expert parallelism and tuned communication. Choose placement, batching and capacity for each phase. Route with cache locality and runtime load in mind. Guide scaling with workload signals and latency targets.</a:t>
            </a:r>
          </a:p>
          <a:p>
            <a:r>
              <a:rPr lang="en-US" sz="1200"/>
              <a:t>Choosing a worker and adding capacity are different decisions. Validate your model, hardware, traffic and SLOs. MRI policy integration still needs work.</a:t>
            </a:r>
          </a:p>
        </p:txBody>
      </p:sp>
    </p:spTree>
    <p:extLst>
      <p:ext uri="{BB962C8B-B14F-4D97-AF65-F5344CB8AC3E}">
        <p14:creationId xmlns:p14="http://schemas.microsoft.com/office/powerpoint/2010/main" val="32811512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15.xml"/><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github.com/llm-d"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github.com/kaito-project/keda-kaito-scaler" TargetMode="External"/><Relationship Id="rId5" Type="http://schemas.openxmlformats.org/officeDocument/2006/relationships/hyperlink" Target="https://kaito-project.github.io/kaito/docs/prefill-decode-disaggregation/" TargetMode="External"/><Relationship Id="rId4" Type="http://schemas.openxmlformats.org/officeDocument/2006/relationships/hyperlink" Target="https://github.com/kaito-project/kaito" TargetMode="Externa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Cloud Native AI + Inference Day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cap="none" dirty="0">
                <a:solidFill>
                  <a:srgbClr val="142C46"/>
                </a:solidFill>
                <a:latin typeface="Arial"/>
              </a:rPr>
              <a:t>Andy Zhang — Microsoft</a:t>
            </a:r>
            <a:br/>
            <a:r>
              <a:rPr sz="2000" cap="none">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cap="none" dirty="0">
                <a:solidFill>
                  <a:srgbClr val="142C46"/>
                </a:solidFill>
                <a:latin typeface="Arial"/>
              </a:rPr>
              <a:t>Prefill here, decode there</a:t>
            </a:r>
            <a:br>
              <a:rPr dirty="0"/>
            </a:br>
            <a:r>
              <a:rPr sz="2700" cap="none" dirty="0">
                <a:solidFill>
                  <a:srgbClr val="142C46"/>
                </a:solidFill>
                <a:latin typeface="Arial"/>
              </a:rPr>
              <a:t>Kubernetes-native LLM inference</a:t>
            </a:r>
            <a:br>
              <a:rPr dirty="0"/>
            </a:br>
            <a:r>
              <a:rPr sz="2700" cap="none" dirty="0">
                <a:solidFill>
                  <a:srgbClr val="142C46"/>
                </a:solidFill>
                <a:latin typeface="Arial"/>
              </a:rPr>
              <a:t>with KAITO and </a:t>
            </a:r>
            <a:r>
              <a:rPr sz="2700" cap="none" dirty="0" err="1">
                <a:solidFill>
                  <a:srgbClr val="142C46"/>
                </a:solidFill>
                <a:latin typeface="Arial"/>
              </a:rPr>
              <a:t>llm</a:t>
            </a:r>
            <a:r>
              <a:rPr sz="2700" cap="none" dirty="0">
                <a:solidFill>
                  <a:srgbClr val="142C46"/>
                </a:solidFill>
                <a:latin typeface="Arial"/>
              </a:rPr>
              <a:t>-d</a:t>
            </a:r>
          </a:p>
        </p:txBody>
      </p:sp>
      <p:sp>
        <p:nvSpPr>
          <p:cNvPr id="110" name="TextBox 10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prefill here, decode there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cap="none" dirty="0">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646331"/>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a:t>
            </a:r>
            <a:r>
              <a:rPr lang="en-US" altLang="zh-CN" sz="1200" dirty="0">
                <a:solidFill>
                  <a:srgbClr val="52677D"/>
                </a:solidFill>
              </a:rPr>
              <a:t>Microsoft AKS team</a:t>
            </a:r>
            <a:endParaRPr lang="en-US" altLang="zh-CN" sz="1200" cap="none" dirty="0">
              <a:solidFill>
                <a:srgbClr val="52677D"/>
              </a:solidFill>
              <a:latin typeface="Arial"/>
            </a:endParaRPr>
          </a:p>
          <a:p>
            <a:pPr marL="114300"/>
            <a:r>
              <a:rPr lang="en-US" altLang="zh-CN" sz="1200" cap="none" dirty="0">
                <a:solidFill>
                  <a:srgbClr val="52677D"/>
                </a:solidFill>
                <a:latin typeface="Arial"/>
              </a:rPr>
              <a:t>I maintain KAITO and OpenYurt.</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rambohe</a:t>
            </a:r>
            <a:r>
              <a:rPr lang="en-US" altLang="zh-CN" sz="1200" cap="none" dirty="0">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cap="none" dirty="0">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646331"/>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 AKS team</a:t>
            </a:r>
          </a:p>
          <a:p>
            <a:pPr marL="114300"/>
            <a:r>
              <a:rPr lang="en-US" altLang="zh-CN" sz="1200" cap="none" dirty="0">
                <a:solidFill>
                  <a:srgbClr val="52677D"/>
                </a:solidFill>
                <a:latin typeface="Arial"/>
              </a:rPr>
              <a:t>I maintain KAITO and CSI drivers.</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30650" y="4243533"/>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5"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speakers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We’ll go from inference basics to running P/D on Kubernetes.</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30352"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400" cap="none" dirty="0"/>
              <a:t>Inference basics: prefill and decode</a:t>
            </a:r>
          </a:p>
        </p:txBody>
      </p:sp>
      <p:sp>
        <p:nvSpPr>
          <p:cNvPr id="7" name="TextBox 6"/>
          <p:cNvSpPr txBox="1"/>
          <p:nvPr/>
        </p:nvSpPr>
        <p:spPr>
          <a:xfrm>
            <a:off x="1078992"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how each phase affects latency.</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00600"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dirty="0"/>
              <a:t>Why P/D disaggregation</a:t>
            </a:r>
          </a:p>
        </p:txBody>
      </p:sp>
      <p:sp>
        <p:nvSpPr>
          <p:cNvPr id="11" name="TextBox 10"/>
          <p:cNvSpPr txBox="1"/>
          <p:nvPr/>
        </p:nvSpPr>
        <p:spPr>
          <a:xfrm>
            <a:off x="5349240"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Weigh the benefits against the costs.</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altLang="zh-CN" dirty="0" err="1"/>
              <a:t>llm</a:t>
            </a:r>
            <a:r>
              <a:rPr lang="en-US" altLang="zh-CN" dirty="0"/>
              <a:t>-d and </a:t>
            </a:r>
            <a:r>
              <a:rPr cap="none" dirty="0"/>
              <a:t>KAITO overview</a:t>
            </a:r>
          </a:p>
        </p:txBody>
      </p:sp>
      <p:sp>
        <p:nvSpPr>
          <p:cNvPr id="15" name="TextBox 14"/>
          <p:cNvSpPr txBox="1"/>
          <p:nvPr/>
        </p:nvSpPr>
        <p:spPr>
          <a:xfrm>
            <a:off x="1078992"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what each project owns.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00600"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46221"/>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600" cap="none" dirty="0"/>
              <a:t>How KAITO + </a:t>
            </a:r>
            <a:r>
              <a:rPr sz="1600" cap="none" dirty="0" err="1"/>
              <a:t>llm</a:t>
            </a:r>
            <a:r>
              <a:rPr sz="1600" cap="none" dirty="0"/>
              <a:t>-d supports P/D</a:t>
            </a:r>
          </a:p>
        </p:txBody>
      </p:sp>
      <p:sp>
        <p:nvSpPr>
          <p:cNvPr id="19" name="TextBox 18"/>
          <p:cNvSpPr txBox="1"/>
          <p:nvPr/>
        </p:nvSpPr>
        <p:spPr>
          <a:xfrm>
            <a:off x="5349240"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Follow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Scale each role with its own signals.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00600"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cap="none" dirty="0"/>
              <a:t>What’s next</a:t>
            </a:r>
            <a:endParaRPr cap="none" dirty="0"/>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agenda</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process the prompt and select the first token</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selects “Kubernetes”. Decode will consume it and cache its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Words + punctuation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We process prompt positions together; each sees only itself and earlier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position sees future tokens.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Use the final position’s scores.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We cache attention keys and values for all 5 prompt positions at every layer.</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These are teaching tokens, not a real tokenizer’s output.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09E1CB-202C-5945-B1F8-E2D475FB5EAB}" type="slidenum">
              <a:rPr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We cache the token we consume, not the one we just select. We reuse past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Each selected token becomes the next input. Repeat until the answer is complete.</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ITL = gaps / First 6 words shown /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token</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41D5DA8-AB86-57A3-AD75-484E857A5432}" type="slidenum">
              <a:rPr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latency targets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One request. Two different performance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answers to start quickly—and keep going smoothly.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Both affect total latency and SLO goodput: requests per second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How soon does the answer start?</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Often </a:t>
            </a:r>
            <a:r>
              <a:rPr sz="1275" b="1" cap="none" dirty="0">
                <a:latin typeface="Arial"/>
              </a:rPr>
              <a:t>compute-b</a:t>
            </a:r>
            <a:r>
              <a:rPr sz="1275" b="1" cap="none" dirty="0" err="1">
                <a:latin typeface="Arial"/>
              </a:rPr>
              <a:t>o</a:t>
            </a:r>
            <a:r>
              <a:rPr sz="1275" b="1" cap="none" dirty="0">
                <a:latin typeface="Arial"/>
              </a:rPr>
              <a:t>und</a:t>
            </a:r>
            <a:r>
              <a:rPr sz="1275" cap="none" dirty="0">
                <a:latin typeface="Arial"/>
              </a:rPr>
              <a:t>.</a:t>
            </a:r>
          </a:p>
          <a:p>
            <a:pPr>
              <a:spcAft>
                <a:spcPts val="375"/>
              </a:spcAft>
              <a:defRPr sz="1700" b="0">
                <a:solidFill>
                  <a:srgbClr val="586A80"/>
                </a:solidFill>
                <a:latin typeface="Arial"/>
              </a:defRPr>
            </a:pPr>
            <a:r>
              <a:rPr sz="1275" b="1" cap="none" dirty="0">
                <a:solidFill>
                  <a:srgbClr val="00B0F0"/>
                </a:solidFill>
                <a:latin typeface="Arial"/>
              </a:rPr>
              <a:t>Track pre</a:t>
            </a:r>
            <a:r>
              <a:rPr sz="1275" cap="none" dirty="0">
                <a:latin typeface="Arial"/>
              </a:rPr>
              <a:t>f</a:t>
            </a:r>
            <a:r>
              <a:rPr sz="1275" b="1" cap="none" dirty="0">
                <a:solidFill>
                  <a:srgbClr val="00B0F0"/>
                </a:solidFill>
                <a:latin typeface="Arial"/>
              </a:rPr>
              <a:t>ill la</a:t>
            </a:r>
            <a:r>
              <a:rPr sz="1275" cap="none" dirty="0">
                <a:latin typeface="Arial"/>
              </a:rPr>
              <a:t>ten</a:t>
            </a:r>
            <a:r>
              <a:rPr sz="1275" b="1" cap="none" dirty="0">
                <a:solidFill>
                  <a:srgbClr val="00B0F0"/>
                </a:solidFill>
                <a:latin typeface="Arial"/>
              </a:rPr>
              <a:t>cy</a:t>
            </a:r>
            <a:r>
              <a:rPr sz="1275" cap="none" dirty="0">
                <a:latin typeface="Arial"/>
              </a:rPr>
              <a:t> </a:t>
            </a:r>
            <a:r>
              <a:rPr sz="1275" b="1" cap="none" dirty="0">
                <a:solidFill>
                  <a:srgbClr val="00B0F0"/>
                </a:solidFill>
                <a:latin typeface="Arial"/>
              </a:rPr>
              <a:t>and input tok/s.</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Does the answer keep flowing?</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Decode is often </a:t>
            </a:r>
            <a:r>
              <a:rPr sz="1275" b="1" cap="none" dirty="0">
                <a:latin typeface="Arial"/>
              </a:rPr>
              <a:t>memory-bandwidth-bound</a:t>
            </a:r>
            <a:r>
              <a:rPr sz="1275" cap="none" dirty="0">
                <a:latin typeface="Arial"/>
              </a:rPr>
              <a:t>.</a:t>
            </a:r>
          </a:p>
          <a:p>
            <a:pPr>
              <a:spcAft>
                <a:spcPts val="375"/>
              </a:spcAft>
              <a:defRPr sz="1700" b="0">
                <a:solidFill>
                  <a:srgbClr val="586A80"/>
                </a:solidFill>
                <a:latin typeface="Arial"/>
              </a:defRPr>
            </a:pPr>
            <a:r>
              <a:rPr sz="1275" b="1" cap="none" dirty="0">
                <a:solidFill>
                  <a:srgbClr val="00B0F0"/>
                </a:solidFill>
                <a:latin typeface="Arial"/>
              </a:rPr>
              <a:t>Track ITL, TP</a:t>
            </a:r>
            <a:r>
              <a:rPr sz="1275" cap="none" dirty="0">
                <a:latin typeface="Arial"/>
              </a:rPr>
              <a:t>O</a:t>
            </a:r>
            <a:r>
              <a:rPr sz="1275" b="1" cap="none" dirty="0">
                <a:solidFill>
                  <a:srgbClr val="00B0F0"/>
                </a:solidFill>
                <a:latin typeface="Arial"/>
              </a:rPr>
              <a:t>T</a:t>
            </a:r>
            <a:r>
              <a:rPr sz="1275" cap="none" dirty="0">
                <a:latin typeface="Arial"/>
              </a:rPr>
              <a:t> </a:t>
            </a:r>
            <a:r>
              <a:rPr sz="1275" b="1" cap="none" dirty="0">
                <a:solidFill>
                  <a:srgbClr val="00B0F0"/>
                </a:solidFill>
                <a:latin typeface="Arial"/>
              </a:rPr>
              <a:t>and total output tok/s.</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dirty="0">
                <a:latin typeface="Arial"/>
              </a:rPr>
              <a:t>TTFT also includes delivery; ITL is not just decode time. TPOT = avg. time per output token. Sources: </a:t>
            </a:r>
            <a:r>
              <a:rPr sz="825" cap="none" dirty="0" err="1">
                <a:latin typeface="Arial"/>
              </a:rPr>
              <a:t>vLLM</a:t>
            </a:r>
            <a:r>
              <a:rPr sz="825" cap="none" dirty="0">
                <a:latin typeface="Arial"/>
              </a:rPr>
              <a:t>; NVIDIA Dynamo.</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169D348-B678-52F2-9658-8DF9984D4975}" type="slidenum">
              <a:rPr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shared capacity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shared pool ties two capacity decisions together</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 shared pool is simple, but prefill bursts compete with active decoding.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We must decide how to run each phase and how much shared capacity to add.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scales both phases together.</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Where is the trade-off?</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Adding a replica adds both phases, even if only one is busy.</a:t>
            </a:r>
          </a:p>
        </p:txBody>
      </p:sp>
      <p:sp>
        <p:nvSpPr>
          <p:cNvPr id="32" name="TextBox 3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28DA5E-1BFD-54E8-B3C9-4F5FB8E58F81}" type="slidenum">
              <a:rPr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 is ongoing decode. P is prefill for a new request. Where should P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Separate GPUs remove this execution conflict, but 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Prefill can pause decode.</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b="1" cap="none" dirty="0">
                <a:latin typeface="Arial"/>
              </a:rPr>
              <a:t>We still need a KV handoff.</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Decode can continue while prefill runs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D = decode step; P = prefill for a new request. Chunked prefill can reduce shared-GPU pauses.</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B4C7E29-4AB2-5620-8B05-D5887A69BEA0}" type="slidenum">
              <a:rPr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batches prompt positions; ordinary decode batches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gets parallel work from prompt length; decode gets it from active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We process many input positions in one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We consume one new token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We can batch positions from multiple prompts.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we select each request’s next output token.</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raise ITL. Stay within latency and KV-memory budgets.</a:t>
            </a:r>
          </a:p>
        </p:txBody>
      </p:sp>
      <p:sp>
        <p:nvSpPr>
          <p:cNvPr id="60" name="TextBox 5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44E89BC-B2E2-55EA-8424-6B46D6F453FE}" type="slidenum">
              <a:rPr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Separate pools let us tune each phase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choosing capacity for each phase, not just running two deployments.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if the gains outweigh KV transfer, extra weight copies and operating costs.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Prefill is often compute-bound.</a:t>
            </a:r>
          </a:p>
          <a:p>
            <a:pPr>
              <a:spcAft>
                <a:spcPts val="375"/>
              </a:spcAft>
              <a:defRPr sz="1800" b="0">
                <a:solidFill>
                  <a:srgbClr val="172941"/>
                </a:solidFill>
                <a:latin typeface="Arial"/>
              </a:defRPr>
            </a:pPr>
            <a:r>
              <a:rPr sz="1350" cap="none">
                <a:latin typeface="Arial"/>
              </a:rPr>
              <a:t>Tune its capacity and parallelism for TTFT.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Decode is often bandwidth-bound.</a:t>
            </a:r>
          </a:p>
          <a:p>
            <a:pPr>
              <a:spcAft>
                <a:spcPts val="375"/>
              </a:spcAft>
              <a:defRPr sz="1800" b="0">
                <a:solidFill>
                  <a:srgbClr val="172941"/>
                </a:solidFill>
                <a:latin typeface="Arial"/>
              </a:defRPr>
            </a:pPr>
            <a:r>
              <a:rPr sz="1350" cap="none">
                <a:latin typeface="Arial"/>
              </a:rPr>
              <a:t>Tune its capacity and batching for ITL.</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343940"/>
          </a:xfrm>
          <a:prstGeom prst="rect">
            <a:avLst/>
          </a:prstGeom>
          <a:noFill/>
        </p:spPr>
        <p:txBody>
          <a:bodyPr wrap="square" lIns="10287" tIns="10287" rIns="10287" bIns="10287">
            <a:spAutoFit/>
          </a:bodyPr>
          <a:lstStyle/>
          <a:p>
            <a:pPr marL="457200" indent="-298450" algn="ctr">
              <a:spcAft>
                <a:spcPts val="375"/>
              </a:spcAft>
              <a:buSzPts val="1100"/>
              <a:buFont typeface="Arial"/>
              <a:buChar char="●"/>
              <a:defRPr sz="1400" b="0">
                <a:solidFill>
                  <a:srgbClr val="586A80"/>
                </a:solidFill>
                <a:latin typeface="Arial"/>
              </a:defRPr>
            </a:pPr>
            <a:r>
              <a:rPr sz="1050" cap="none" dirty="0">
                <a:latin typeface="Arial"/>
              </a:rPr>
              <a:t>Replicas, </a:t>
            </a:r>
            <a:r>
              <a:rPr lang="en-US" altLang="zh-CN" sz="1050" dirty="0"/>
              <a:t>tensor parallelism</a:t>
            </a:r>
            <a:r>
              <a:rPr sz="1050" cap="none" dirty="0">
                <a:latin typeface="Arial"/>
              </a:rPr>
              <a:t>,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08DF92D-F553-51E4-BFEF-426FDAA9E6C4}" type="slidenum">
              <a:rPr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pools still have to work together as one model service.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KV transfer, labels, ports and readiness must stay in sync.</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Both roles serve one model.</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The EPP picks workers.</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KV transfer settings must match.</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We coordinate requests.</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Keep pods ready as replicas change.</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8225035-027D-52F9-82D5-82890CDA2AAC}" type="slidenum">
              <a:rPr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Open-source P/D has several paths, not one winner</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These are examples, not a ranking. Some approaches can work together.</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lang="en-US" sz="1125" dirty="0"/>
              <a:t>P/D deployment options already exist. KAITO aims to make them easier to use.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LWS DisaggregatedSet manages roles; engines and KV transport are still separate.</a:t>
            </a:r>
          </a:p>
        </p:txBody>
      </p:sp>
      <p:sp>
        <p:nvSpPr>
          <p:cNvPr id="54" name="TextBox 5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A0110B-285A-5FA0-8058-78B52F37C189}" type="slidenum">
              <a:rPr lang="en-US"/>
              <a:t>13</a:t>
            </a:fld>
            <a:endParaRPr lang="en-US"/>
          </a:p>
        </p:txBody>
      </p:sp>
      <p:sp>
        <p:nvSpPr>
          <p:cNvPr id="56" name="TextBox 55"/>
          <p:cNvSpPr txBox="1"/>
          <p:nvPr/>
        </p:nvSpPr>
        <p:spPr>
          <a:xfrm>
            <a:off x="493776" y="4215384"/>
            <a:ext cx="8161020" cy="155448"/>
          </a:xfrm>
          <a:prstGeom prst="rect">
            <a:avLst/>
          </a:prstGeom>
          <a:noFill/>
        </p:spPr>
        <p:txBody>
          <a:bodyPr wrap="none" lIns="0" tIns="0" r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B9500A9-0A5A-33F4-E08B-B3D6EC55E471}"/>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a distributed inference stack</a:t>
            </a:r>
          </a:p>
        </p:txBody>
      </p:sp>
      <p:sp>
        <p:nvSpPr>
          <p:cNvPr id="5" name="文本框 4">
            <a:extLst>
              <a:ext uri="{FF2B5EF4-FFF2-40B4-BE49-F238E27FC236}">
                <a16:creationId xmlns:a16="http://schemas.microsoft.com/office/drawing/2014/main" id="{1C6AC1EF-B30F-D9A1-EAC6-2BE45494A30E}"/>
              </a:ext>
            </a:extLst>
          </p:cNvPr>
          <p:cNvSpPr txBox="1"/>
          <p:nvPr/>
        </p:nvSpPr>
        <p:spPr>
          <a:xfrm>
            <a:off x="384048" y="1033271"/>
            <a:ext cx="8321040" cy="329184"/>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200" b="0">
                <a:solidFill>
                  <a:srgbClr val="52677D"/>
                </a:solidFill>
                <a:latin typeface="Arial"/>
              </a:defRPr>
            </a:pPr>
            <a:r>
              <a:rPr sz="1200" b="0">
                <a:solidFill>
                  <a:srgbClr val="52677D"/>
                </a:solidFill>
                <a:latin typeface="Arial"/>
              </a:rPr>
              <a:t>llm-d connects serving runtimes, routing and KV transport on Kubernetes.</a:t>
            </a:r>
          </a:p>
        </p:txBody>
      </p:sp>
      <p:pic>
        <p:nvPicPr>
          <p:cNvPr id="45" name="图片 44" descr="图像">
            <a:extLst>
              <a:ext uri="{FF2B5EF4-FFF2-40B4-BE49-F238E27FC236}">
                <a16:creationId xmlns:a16="http://schemas.microsoft.com/office/drawing/2014/main" id="{7DFB2DCE-CD02-D5C0-8785-E831D117747C}"/>
              </a:ext>
            </a:extLst>
          </p:cNvPr>
          <p:cNvPicPr>
            <a:picLocks noChangeAspect="1"/>
          </p:cNvPicPr>
          <p:nvPr/>
        </p:nvPicPr>
        <p:blipFill rotWithShape="1">
          <a:blip r:embed="rId3"/>
          <a:srcRect l="11014" t="14" r="13044" b="-1100"/>
          <a:stretch>
            <a:fillRect/>
          </a:stretch>
        </p:blipFill>
        <p:spPr>
          <a:xfrm>
            <a:off x="1691640" y="1636776"/>
            <a:ext cx="5010912" cy="2668219"/>
          </a:xfrm>
          <a:prstGeom prst="rect">
            <a:avLst/>
          </a:prstGeom>
        </p:spPr>
      </p:pic>
      <p:sp>
        <p:nvSpPr>
          <p:cNvPr id="7" name="Google Shape;1967;p206">
            <a:extLst>
              <a:ext uri="{FF2B5EF4-FFF2-40B4-BE49-F238E27FC236}">
                <a16:creationId xmlns:a16="http://schemas.microsoft.com/office/drawing/2014/main" id="{9795D038-C52C-C3EB-FC4C-2D52D464CD63}"/>
              </a:ext>
            </a:extLst>
          </p:cNvPr>
          <p:cNvSpPr txBox="1"/>
          <p:nvPr/>
        </p:nvSpPr>
        <p:spPr>
          <a:xfrm>
            <a:off x="6903720" y="1892807"/>
            <a:ext cx="1874519" cy="2697480"/>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Modular architecture</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Gateway API connects inference routing to Kubernetes.</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Extensible components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We combine runtimes, routing plugins and KV transport.</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Well-lit paths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Tested deployment patterns make trade-offs clear.</a:t>
            </a:r>
          </a:p>
        </p:txBody>
      </p:sp>
      <p:sp>
        <p:nvSpPr>
          <p:cNvPr id="8" name="Google Shape;1968;p206">
            <a:extLst>
              <a:ext uri="{FF2B5EF4-FFF2-40B4-BE49-F238E27FC236}">
                <a16:creationId xmlns:a16="http://schemas.microsoft.com/office/drawing/2014/main" id="{38453113-39B8-B5B2-327B-7027AD87F63C}"/>
              </a:ext>
            </a:extLst>
          </p:cNvPr>
          <p:cNvSpPr/>
          <p:nvPr/>
        </p:nvSpPr>
        <p:spPr>
          <a:xfrm>
            <a:off x="6903720" y="1773936"/>
            <a:ext cx="1874519"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9" name="Google Shape;1969;p206">
            <a:extLst>
              <a:ext uri="{FF2B5EF4-FFF2-40B4-BE49-F238E27FC236}">
                <a16:creationId xmlns:a16="http://schemas.microsoft.com/office/drawing/2014/main" id="{E62CD8A2-B73E-EFB8-E6E0-F9380384315A}"/>
              </a:ext>
            </a:extLst>
          </p:cNvPr>
          <p:cNvSpPr txBox="1"/>
          <p:nvPr/>
        </p:nvSpPr>
        <p:spPr>
          <a:xfrm>
            <a:off x="6903720" y="1499616"/>
            <a:ext cx="1874519" cy="210312"/>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a:solidFill>
                  <a:srgbClr val="087F8C"/>
                </a:solidFill>
                <a:latin typeface="Arial"/>
              </a:rPr>
              <a:t>Why compose?</a:t>
            </a:r>
          </a:p>
        </p:txBody>
      </p:sp>
      <p:cxnSp>
        <p:nvCxnSpPr>
          <p:cNvPr id="24" name="Google Shape;1963;p206">
            <a:extLst>
              <a:ext uri="{FF2B5EF4-FFF2-40B4-BE49-F238E27FC236}">
                <a16:creationId xmlns:a16="http://schemas.microsoft.com/office/drawing/2014/main" id="{E26F95B9-C5C4-CDB3-B065-D3B23423D87A}"/>
              </a:ext>
            </a:extLst>
          </p:cNvPr>
          <p:cNvCxnSpPr/>
          <p:nvPr/>
        </p:nvCxnSpPr>
        <p:spPr>
          <a:xfrm>
            <a:off x="1188366" y="3957731"/>
            <a:ext cx="503582" cy="0"/>
          </a:xfrm>
          <a:prstGeom prst="straightConnector1">
            <a:avLst/>
          </a:prstGeom>
          <a:noFill/>
          <a:ln w="8890" cap="flat" cmpd="sng">
            <a:solidFill>
              <a:srgbClr val="CFD9E5"/>
            </a:solidFill>
            <a:prstDash val="solid"/>
            <a:round/>
            <a:headEnd type="none" w="sm" len="sm"/>
            <a:tailEnd type="triangle" w="med" len="med"/>
          </a:ln>
        </p:spPr>
      </p:cxnSp>
      <p:cxnSp>
        <p:nvCxnSpPr>
          <p:cNvPr id="25" name="Google Shape;1964;p206">
            <a:extLst>
              <a:ext uri="{FF2B5EF4-FFF2-40B4-BE49-F238E27FC236}">
                <a16:creationId xmlns:a16="http://schemas.microsoft.com/office/drawing/2014/main" id="{9E64A3DA-69B0-3CA2-FAFF-6F48A5471A6B}"/>
              </a:ext>
            </a:extLst>
          </p:cNvPr>
          <p:cNvCxnSpPr>
            <a:cxnSpLocks/>
            <a:stCxn id="35" idx="3"/>
          </p:cNvCxnSpPr>
          <p:nvPr/>
        </p:nvCxnSpPr>
        <p:spPr>
          <a:xfrm>
            <a:off x="1294803" y="3482852"/>
            <a:ext cx="462300" cy="0"/>
          </a:xfrm>
          <a:prstGeom prst="straightConnector1">
            <a:avLst/>
          </a:prstGeom>
          <a:noFill/>
          <a:ln w="8890" cap="flat" cmpd="sng">
            <a:solidFill>
              <a:srgbClr val="CFD9E5"/>
            </a:solidFill>
            <a:prstDash val="solid"/>
            <a:round/>
            <a:headEnd type="none" w="sm" len="sm"/>
            <a:tailEnd type="triangle" w="med" len="med"/>
          </a:ln>
        </p:spPr>
      </p:cxnSp>
      <p:cxnSp>
        <p:nvCxnSpPr>
          <p:cNvPr id="26" name="Google Shape;1966;p206">
            <a:extLst>
              <a:ext uri="{FF2B5EF4-FFF2-40B4-BE49-F238E27FC236}">
                <a16:creationId xmlns:a16="http://schemas.microsoft.com/office/drawing/2014/main" id="{4F3ACB37-0FB0-52E1-D4CC-FC2CB3931D69}"/>
              </a:ext>
            </a:extLst>
          </p:cNvPr>
          <p:cNvCxnSpPr/>
          <p:nvPr/>
        </p:nvCxnSpPr>
        <p:spPr>
          <a:xfrm>
            <a:off x="1512564" y="2482167"/>
            <a:ext cx="244570" cy="0"/>
          </a:xfrm>
          <a:prstGeom prst="straightConnector1">
            <a:avLst/>
          </a:prstGeom>
          <a:noFill/>
          <a:ln w="8890" cap="flat" cmpd="sng">
            <a:solidFill>
              <a:srgbClr val="CFD9E5"/>
            </a:solidFill>
            <a:prstDash val="solid"/>
            <a:round/>
            <a:headEnd type="none" w="sm" len="sm"/>
            <a:tailEnd type="triangle" w="med" len="med"/>
          </a:ln>
        </p:spPr>
      </p:cxnSp>
      <p:sp>
        <p:nvSpPr>
          <p:cNvPr id="27" name="Google Shape;1970;p206">
            <a:extLst>
              <a:ext uri="{FF2B5EF4-FFF2-40B4-BE49-F238E27FC236}">
                <a16:creationId xmlns:a16="http://schemas.microsoft.com/office/drawing/2014/main" id="{1BF497AC-42D0-F0CC-FBAA-417B868713D0}"/>
              </a:ext>
            </a:extLst>
          </p:cNvPr>
          <p:cNvSpPr/>
          <p:nvPr/>
        </p:nvSpPr>
        <p:spPr>
          <a:xfrm>
            <a:off x="384048" y="2002536"/>
            <a:ext cx="1161288"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28" name="Google Shape;1971;p206">
            <a:extLst>
              <a:ext uri="{FF2B5EF4-FFF2-40B4-BE49-F238E27FC236}">
                <a16:creationId xmlns:a16="http://schemas.microsoft.com/office/drawing/2014/main" id="{28B75ED9-1C37-42B1-8878-6D4AF7880FD2}"/>
              </a:ext>
            </a:extLst>
          </p:cNvPr>
          <p:cNvSpPr txBox="1"/>
          <p:nvPr/>
        </p:nvSpPr>
        <p:spPr>
          <a:xfrm>
            <a:off x="384048" y="1490472"/>
            <a:ext cx="1179576" cy="45720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Open</a:t>
            </a:r>
          </a:p>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integrations</a:t>
            </a:r>
          </a:p>
        </p:txBody>
      </p:sp>
      <p:sp>
        <p:nvSpPr>
          <p:cNvPr id="29" name="Google Shape;1979;p206">
            <a:extLst>
              <a:ext uri="{FF2B5EF4-FFF2-40B4-BE49-F238E27FC236}">
                <a16:creationId xmlns:a16="http://schemas.microsoft.com/office/drawing/2014/main" id="{35BED977-9839-5F4F-6115-CD932472133F}"/>
              </a:ext>
            </a:extLst>
          </p:cNvPr>
          <p:cNvSpPr txBox="1"/>
          <p:nvPr/>
        </p:nvSpPr>
        <p:spPr>
          <a:xfrm>
            <a:off x="552164" y="3801919"/>
            <a:ext cx="669239" cy="284663"/>
          </a:xfrm>
          <a:prstGeom prst="rect">
            <a:avLst/>
          </a:prstGeom>
          <a:solidFill>
            <a:srgbClr val="FFFFFF"/>
          </a:solidFill>
          <a:ln w="12700" cap="flat" cmpd="sng">
            <a:solidFill>
              <a:srgbClr val="D8D8D8"/>
            </a:solidFill>
            <a:prstDash val="solid"/>
            <a:miter lim="400000"/>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Tx/>
              <a:buFontTx/>
              <a:buNone/>
              <a:tabLst/>
              <a:defRPr sz="800">
                <a:solidFill>
                  <a:srgbClr val="142C46"/>
                </a:solidFill>
                <a:latin typeface="Arial"/>
                <a:ea typeface="Arial"/>
                <a:cs typeface="Arial"/>
                <a:sym typeface="Arial"/>
              </a:defRPr>
            </a:pPr>
            <a:r>
              <a:rPr kumimoji="0" lang="en" sz="800" b="1" i="0" u="none" strike="noStrike" kern="0" cap="none" spc="0" normalizeH="0" baseline="0" noProof="0">
                <a:ln>
                  <a:noFill/>
                </a:ln>
                <a:solidFill>
                  <a:srgbClr val="142C46"/>
                </a:solidFill>
                <a:effectLst/>
                <a:uLnTx/>
                <a:uFillTx/>
                <a:latin typeface="Arial"/>
                <a:ea typeface="Arial"/>
                <a:cs typeface="Arial"/>
                <a:sym typeface="Arial"/>
              </a:rPr>
              <a:t>KV storage providers</a:t>
            </a:r>
            <a:endParaRPr kumimoji="0" sz="8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grpSp>
        <p:nvGrpSpPr>
          <p:cNvPr id="30" name="Google Shape;1980;p206">
            <a:extLst>
              <a:ext uri="{FF2B5EF4-FFF2-40B4-BE49-F238E27FC236}">
                <a16:creationId xmlns:a16="http://schemas.microsoft.com/office/drawing/2014/main" id="{E9234712-A20F-29F3-B283-A18C3B8B643F}"/>
              </a:ext>
            </a:extLst>
          </p:cNvPr>
          <p:cNvGrpSpPr/>
          <p:nvPr/>
        </p:nvGrpSpPr>
        <p:grpSpPr>
          <a:xfrm>
            <a:off x="433136" y="2332815"/>
            <a:ext cx="1080160" cy="324120"/>
            <a:chOff x="266274" y="2335911"/>
            <a:chExt cx="1440213" cy="432160"/>
          </a:xfrm>
        </p:grpSpPr>
        <p:grpSp>
          <p:nvGrpSpPr>
            <p:cNvPr id="31" name="Google Shape;1981;p206">
              <a:extLst>
                <a:ext uri="{FF2B5EF4-FFF2-40B4-BE49-F238E27FC236}">
                  <a16:creationId xmlns:a16="http://schemas.microsoft.com/office/drawing/2014/main" id="{77675B2D-6D0A-3F4D-06DD-2122EEF91B4D}"/>
                </a:ext>
              </a:extLst>
            </p:cNvPr>
            <p:cNvGrpSpPr/>
            <p:nvPr/>
          </p:nvGrpSpPr>
          <p:grpSpPr>
            <a:xfrm>
              <a:off x="288089" y="2374513"/>
              <a:ext cx="1387295" cy="346754"/>
              <a:chOff x="288089" y="2386835"/>
              <a:chExt cx="1387295" cy="346754"/>
            </a:xfrm>
          </p:grpSpPr>
          <p:pic>
            <p:nvPicPr>
              <p:cNvPr id="33" name="Google Shape;1982;p206" descr="A black background with a black square&#10;&#10;AI-generated content may be incorrect.">
                <a:extLst>
                  <a:ext uri="{FF2B5EF4-FFF2-40B4-BE49-F238E27FC236}">
                    <a16:creationId xmlns:a16="http://schemas.microsoft.com/office/drawing/2014/main" id="{F129295C-F224-7FB5-895D-99F16DBAB180}"/>
                  </a:ext>
                </a:extLst>
              </p:cNvPr>
              <p:cNvPicPr preferRelativeResize="0"/>
              <p:nvPr/>
            </p:nvPicPr>
            <p:blipFill rotWithShape="1">
              <a:blip r:embed="rId4">
                <a:alphaModFix/>
              </a:blip>
              <a:srcRect t="1" r="70451" b="1366"/>
              <a:stretch/>
            </p:blipFill>
            <p:spPr>
              <a:xfrm>
                <a:off x="288089" y="2386835"/>
                <a:ext cx="331270" cy="306342"/>
              </a:xfrm>
              <a:prstGeom prst="rect">
                <a:avLst/>
              </a:prstGeom>
              <a:solidFill>
                <a:srgbClr val="FFFFFF"/>
              </a:solidFill>
              <a:ln>
                <a:noFill/>
              </a:ln>
            </p:spPr>
          </p:pic>
          <p:sp>
            <p:nvSpPr>
              <p:cNvPr id="34" name="Google Shape;1983;p206">
                <a:extLst>
                  <a:ext uri="{FF2B5EF4-FFF2-40B4-BE49-F238E27FC236}">
                    <a16:creationId xmlns:a16="http://schemas.microsoft.com/office/drawing/2014/main" id="{514D56D8-9816-B24E-9C20-0A4CB3E8F63B}"/>
                  </a:ext>
                </a:extLst>
              </p:cNvPr>
              <p:cNvSpPr txBox="1"/>
              <p:nvPr/>
            </p:nvSpPr>
            <p:spPr>
              <a:xfrm>
                <a:off x="562658" y="2395036"/>
                <a:ext cx="1112726" cy="338553"/>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600" b="0"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Gateway API Inference Extension</a:t>
                </a:r>
                <a:endParaRPr kumimoji="0" sz="600" b="0" i="0" u="none" strike="noStrike" kern="0" cap="none" spc="0" normalizeH="0" baseline="0" noProof="0" dirty="0">
                  <a:ln>
                    <a:noFill/>
                  </a:ln>
                  <a:solidFill>
                    <a:sysClr val="windowText" lastClr="000000"/>
                  </a:solidFill>
                  <a:effectLst/>
                  <a:uLnTx/>
                  <a:uFillTx/>
                  <a:latin typeface="+mn-lt"/>
                  <a:ea typeface="IBM Plex Sans"/>
                  <a:cs typeface="IBM Plex Sans"/>
                  <a:sym typeface="IBM Plex Sans"/>
                </a:endParaRPr>
              </a:p>
            </p:txBody>
          </p:sp>
        </p:grpSp>
        <p:sp>
          <p:nvSpPr>
            <p:cNvPr id="32" name="Google Shape;1984;p206">
              <a:extLst>
                <a:ext uri="{FF2B5EF4-FFF2-40B4-BE49-F238E27FC236}">
                  <a16:creationId xmlns:a16="http://schemas.microsoft.com/office/drawing/2014/main" id="{3B48979A-1395-A71A-AAA2-BB874E8BB920}"/>
                </a:ext>
              </a:extLst>
            </p:cNvPr>
            <p:cNvSpPr/>
            <p:nvPr/>
          </p:nvSpPr>
          <p:spPr>
            <a:xfrm>
              <a:off x="266274" y="2335911"/>
              <a:ext cx="1440213" cy="432160"/>
            </a:xfrm>
            <a:prstGeom prst="rect">
              <a:avLst/>
            </a:prstGeom>
            <a:noFill/>
            <a:ln w="9525" cap="flat" cmpd="sng">
              <a:solidFill>
                <a:srgbClr val="316CE5">
                  <a:alpha val="41961"/>
                </a:srgbClr>
              </a:solidFill>
              <a:prstDash val="solid"/>
              <a:round/>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Pts val="1400"/>
                <a:buFont typeface="IBM Plex Sans Light"/>
                <a:buNone/>
                <a:tabLst/>
                <a:defRPr sz="700">
                  <a:solidFill>
                    <a:srgbClr val="142C46"/>
                  </a:solidFill>
                  <a:latin typeface="Arial"/>
                  <a:ea typeface="Arial"/>
                  <a:cs typeface="Arial"/>
                  <a:sym typeface="Arial"/>
                </a:defRPr>
              </a:pPr>
              <a:endParaRPr kumimoji="0" sz="700" b="0" i="0" u="none" strike="noStrike" kern="0" cap="none" spc="0" normalizeH="0" baseline="0" noProof="0">
                <a:ln>
                  <a:noFill/>
                </a:ln>
                <a:solidFill>
                  <a:srgbClr val="191919"/>
                </a:solidFill>
                <a:effectLst/>
                <a:uLnTx/>
                <a:uFillTx/>
                <a:latin typeface="Arial"/>
                <a:ea typeface="Arial"/>
                <a:cs typeface="Arial"/>
                <a:sym typeface="Arial"/>
              </a:endParaRPr>
            </a:p>
          </p:txBody>
        </p:sp>
      </p:grpSp>
      <p:sp>
        <p:nvSpPr>
          <p:cNvPr id="35" name="Google Shape;1965;p206">
            <a:extLst>
              <a:ext uri="{FF2B5EF4-FFF2-40B4-BE49-F238E27FC236}">
                <a16:creationId xmlns:a16="http://schemas.microsoft.com/office/drawing/2014/main" id="{2BA9DFB8-9EEB-D319-50C2-29BFCC73A35F}"/>
              </a:ext>
            </a:extLst>
          </p:cNvPr>
          <p:cNvSpPr/>
          <p:nvPr/>
        </p:nvSpPr>
        <p:spPr>
          <a:xfrm>
            <a:off x="506894" y="3321370"/>
            <a:ext cx="787909" cy="322964"/>
          </a:xfrm>
          <a:prstGeom prst="rect">
            <a:avLst/>
          </a:prstGeom>
          <a:noFill/>
          <a:ln w="12700" cap="flat" cmpd="sng">
            <a:solidFill>
              <a:srgbClr val="82B900">
                <a:alpha val="40000"/>
              </a:srgbClr>
            </a:solidFill>
            <a:prstDash val="solid"/>
            <a:round/>
            <a:headEnd type="none" w="sm" len="sm"/>
            <a:tailEnd type="none" w="sm" len="sm"/>
          </a:ln>
        </p:spPr>
        <p:txBody>
          <a:bodyPr spcFirstLastPara="1" wrap="square" lIns="27000" tIns="27000" rIns="27000" bIns="27000" anchor="t" anchorCtr="0">
            <a:noAutofit/>
          </a:bodyPr>
          <a:lstStyle/>
          <a:p>
            <a:pPr>
              <a:lnSpc>
                <a:spcPct val="90000"/>
              </a:lnSpc>
              <a:buSzPts val="1500"/>
              <a:buFont typeface="IBM Plex Sans Light"/>
              <a:buNone/>
              <a:defRPr/>
            </a:pPr>
            <a:endParaRPr sz="1500">
              <a:solidFill>
                <a:srgbClr val="191919"/>
              </a:solidFill>
              <a:latin typeface="+mn-lt"/>
              <a:ea typeface="IBM Plex Sans"/>
              <a:cs typeface="IBM Plex Sans"/>
              <a:sym typeface="IBM Plex Sans"/>
            </a:endParaRPr>
          </a:p>
        </p:txBody>
      </p:sp>
      <p:sp>
        <p:nvSpPr>
          <p:cNvPr id="36" name="Google Shape;1987;p206">
            <a:extLst>
              <a:ext uri="{FF2B5EF4-FFF2-40B4-BE49-F238E27FC236}">
                <a16:creationId xmlns:a16="http://schemas.microsoft.com/office/drawing/2014/main" id="{93B6C654-F9B4-DFCA-6357-27A7C6DD4381}"/>
              </a:ext>
            </a:extLst>
          </p:cNvPr>
          <p:cNvSpPr txBox="1"/>
          <p:nvPr/>
        </p:nvSpPr>
        <p:spPr>
          <a:xfrm>
            <a:off x="827830" y="3365664"/>
            <a:ext cx="456600" cy="223200"/>
          </a:xfrm>
          <a:prstGeom prst="rect">
            <a:avLst/>
          </a:prstGeom>
          <a:noFill/>
          <a:ln>
            <a:noFill/>
          </a:ln>
        </p:spPr>
        <p:txBody>
          <a:bodyPr spcFirstLastPara="1" wrap="square" lIns="0" tIns="0" rIns="0" bIns="0" anchor="t" anchorCtr="0">
            <a:noAutofit/>
          </a:bodyPr>
          <a:lstStyle/>
          <a:p>
            <a:pPr marL="0" marR="0" lvl="0" indent="0" algn="ctr" defTabSz="914400" eaLnBrk="1" fontAlgn="auto" latinLnBrk="0" hangingPunct="1">
              <a:lnSpc>
                <a:spcPct val="104000"/>
              </a:lnSpc>
              <a:spcBef>
                <a:spcPts val="0"/>
              </a:spcBef>
              <a:spcAft>
                <a:spcPts val="0"/>
              </a:spcAft>
              <a:buClrTx/>
              <a:buSzPts val="1100"/>
              <a:buFont typeface="IBM Plex Sans"/>
              <a:buNone/>
              <a:tabLst/>
              <a:defRPr sz="10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142C46"/>
                </a:solidFill>
                <a:effectLst/>
                <a:uLnTx/>
                <a:uFillTx/>
                <a:latin typeface="Arial"/>
                <a:ea typeface="Arial"/>
                <a:cs typeface="Arial"/>
                <a:sym typeface="Arial"/>
              </a:rPr>
              <a:t>NIXL</a:t>
            </a:r>
            <a:endParaRPr kumimoji="0" sz="10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pic>
        <p:nvPicPr>
          <p:cNvPr id="37" name="Google Shape;1988;p206" descr="A green and black logo&#10;&#10;AI-generated content may be incorrect.">
            <a:extLst>
              <a:ext uri="{FF2B5EF4-FFF2-40B4-BE49-F238E27FC236}">
                <a16:creationId xmlns:a16="http://schemas.microsoft.com/office/drawing/2014/main" id="{51F324B6-8D1F-7CD5-E181-82FB7A92C785}"/>
              </a:ext>
            </a:extLst>
          </p:cNvPr>
          <p:cNvPicPr preferRelativeResize="0"/>
          <p:nvPr/>
        </p:nvPicPr>
        <p:blipFill rotWithShape="1">
          <a:blip r:embed="rId5">
            <a:alphaModFix/>
          </a:blip>
          <a:srcRect/>
          <a:stretch/>
        </p:blipFill>
        <p:spPr>
          <a:xfrm>
            <a:off x="556477" y="3378723"/>
            <a:ext cx="295126" cy="217310"/>
          </a:xfrm>
          <a:prstGeom prst="rect">
            <a:avLst/>
          </a:prstGeom>
          <a:noFill/>
          <a:ln>
            <a:noFill/>
          </a:ln>
        </p:spPr>
      </p:pic>
      <p:pic>
        <p:nvPicPr>
          <p:cNvPr id="39" name="Google Shape;3253;p347" title="image (1).png">
            <a:extLst>
              <a:ext uri="{FF2B5EF4-FFF2-40B4-BE49-F238E27FC236}">
                <a16:creationId xmlns:a16="http://schemas.microsoft.com/office/drawing/2014/main" id="{4965FB30-425E-50B8-58F1-B261B1F74AFC}"/>
              </a:ext>
            </a:extLst>
          </p:cNvPr>
          <p:cNvPicPr preferRelativeResize="0"/>
          <p:nvPr/>
        </p:nvPicPr>
        <p:blipFill rotWithShape="1">
          <a:blip r:embed="rId6">
            <a:alphaModFix/>
          </a:blip>
          <a:srcRect/>
          <a:stretch/>
        </p:blipFill>
        <p:spPr>
          <a:xfrm>
            <a:off x="3520440" y="4471888"/>
            <a:ext cx="1371600" cy="419679"/>
          </a:xfrm>
          <a:prstGeom prst="rect">
            <a:avLst/>
          </a:prstGeom>
          <a:noFill/>
          <a:ln>
            <a:noFill/>
          </a:ln>
        </p:spPr>
      </p:pic>
      <p:pic>
        <p:nvPicPr>
          <p:cNvPr id="40" name="Google Shape;3254;p347">
            <a:extLst>
              <a:ext uri="{FF2B5EF4-FFF2-40B4-BE49-F238E27FC236}">
                <a16:creationId xmlns:a16="http://schemas.microsoft.com/office/drawing/2014/main" id="{41F31096-14D0-289C-8067-6D843CFC668E}"/>
              </a:ext>
            </a:extLst>
          </p:cNvPr>
          <p:cNvPicPr preferRelativeResize="0"/>
          <p:nvPr/>
        </p:nvPicPr>
        <p:blipFill rotWithShape="1">
          <a:blip r:embed="rId7">
            <a:alphaModFix/>
          </a:blip>
          <a:srcRect/>
          <a:stretch/>
        </p:blipFill>
        <p:spPr>
          <a:xfrm>
            <a:off x="5449824" y="4536262"/>
            <a:ext cx="1645920" cy="290931"/>
          </a:xfrm>
          <a:prstGeom prst="rect">
            <a:avLst/>
          </a:prstGeom>
          <a:noFill/>
          <a:ln>
            <a:noFill/>
          </a:ln>
        </p:spPr>
      </p:pic>
      <p:pic>
        <p:nvPicPr>
          <p:cNvPr id="41" name="Google Shape;3255;p347">
            <a:extLst>
              <a:ext uri="{FF2B5EF4-FFF2-40B4-BE49-F238E27FC236}">
                <a16:creationId xmlns:a16="http://schemas.microsoft.com/office/drawing/2014/main" id="{C23CCDBF-3A0D-C267-8752-02BC2CFCE6CC}"/>
              </a:ext>
            </a:extLst>
          </p:cNvPr>
          <p:cNvPicPr preferRelativeResize="0"/>
          <p:nvPr/>
        </p:nvPicPr>
        <p:blipFill rotWithShape="1">
          <a:blip r:embed="rId8">
            <a:alphaModFix/>
          </a:blip>
          <a:srcRect/>
          <a:stretch/>
        </p:blipFill>
        <p:spPr>
          <a:xfrm>
            <a:off x="1883664" y="4519225"/>
            <a:ext cx="1133856" cy="325005"/>
          </a:xfrm>
          <a:prstGeom prst="rect">
            <a:avLst/>
          </a:prstGeom>
          <a:noFill/>
          <a:ln>
            <a:noFill/>
          </a:ln>
        </p:spPr>
      </p:pic>
      <p:sp>
        <p:nvSpPr>
          <p:cNvPr id="4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stack</a:t>
            </a:r>
          </a:p>
        </p:txBody>
      </p:sp>
      <p:sp>
        <p:nvSpPr>
          <p:cNvPr id="47" name="CNCF Sandbox project badge">
            <a:extLst>
              <a:ext uri="{FF2B5EF4-FFF2-40B4-BE49-F238E27FC236}">
                <a16:creationId xmlns:a16="http://schemas.microsoft.com/office/drawing/2014/main" id="{E62CD8A2-B73E-EFB8-E6E0-F9380384315A}"/>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A7F602-171C-5CC4-A39F-59E0A94CBFBA}" type="slidenum">
              <a:rPr lang="en-US"/>
              <a:t>14</a:t>
            </a:fld>
            <a:endParaRPr lang="en-US"/>
          </a:p>
        </p:txBody>
      </p:sp>
    </p:spTree>
    <p:extLst>
      <p:ext uri="{BB962C8B-B14F-4D97-AF65-F5344CB8AC3E}">
        <p14:creationId xmlns:p14="http://schemas.microsoft.com/office/powerpoint/2010/main" val="33483791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223A9-45D2-042F-CACA-82BC763A8D75}"/>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capabilities for distributed inference</a:t>
            </a:r>
          </a:p>
        </p:txBody>
      </p:sp>
      <p:pic>
        <p:nvPicPr>
          <p:cNvPr id="4" name="Google Shape;2011;p207" descr="A graph with a red line&#10;&#10;AI-generated content may be incorrect.">
            <a:extLst>
              <a:ext uri="{FF2B5EF4-FFF2-40B4-BE49-F238E27FC236}">
                <a16:creationId xmlns:a16="http://schemas.microsoft.com/office/drawing/2014/main" id="{B6998E27-292F-8170-6199-9A0615202BAB}"/>
              </a:ext>
            </a:extLst>
          </p:cNvPr>
          <p:cNvPicPr preferRelativeResize="0"/>
          <p:nvPr/>
        </p:nvPicPr>
        <p:blipFill rotWithShape="1">
          <a:blip r:embed="rId3">
            <a:alphaModFix/>
          </a:blip>
          <a:srcRect/>
          <a:stretch/>
        </p:blipFill>
        <p:spPr>
          <a:xfrm>
            <a:off x="749808" y="3831336"/>
            <a:ext cx="1188720" cy="894283"/>
          </a:xfrm>
          <a:prstGeom prst="rect">
            <a:avLst/>
          </a:prstGeom>
          <a:noFill/>
          <a:ln w="9525" cap="flat" cmpd="sng">
            <a:solidFill>
              <a:srgbClr val="D8D8D8"/>
            </a:solidFill>
            <a:prstDash val="solid"/>
            <a:round/>
            <a:headEnd type="none" w="sm" len="sm"/>
            <a:tailEnd type="none" w="sm" len="sm"/>
          </a:ln>
        </p:spPr>
      </p:pic>
      <p:sp>
        <p:nvSpPr>
          <p:cNvPr id="5" name="Google Shape;2012;p207">
            <a:extLst>
              <a:ext uri="{FF2B5EF4-FFF2-40B4-BE49-F238E27FC236}">
                <a16:creationId xmlns:a16="http://schemas.microsoft.com/office/drawing/2014/main" id="{15879AF3-79DD-8683-D2A1-56B1E01B06A4}"/>
              </a:ext>
            </a:extLst>
          </p:cNvPr>
          <p:cNvSpPr txBox="1">
            <a:spLocks/>
          </p:cNvSpPr>
          <p:nvPr/>
        </p:nvSpPr>
        <p:spPr>
          <a:xfrm>
            <a:off x="438912" y="2761488"/>
            <a:ext cx="3877056" cy="85039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10000"/>
              </a:lnSpc>
              <a:spcBef>
                <a:spcPts val="0"/>
              </a:spcBef>
              <a:spcAft>
                <a:spcPts val="0"/>
              </a:spcAft>
              <a:buClr>
                <a:schemeClr val="lt1"/>
              </a:buClr>
              <a:buSzPts val="1100"/>
              <a:buFont typeface="IBM Plex Sans Light"/>
              <a:buNone/>
              <a:defRPr sz="1100" b="0" i="0" u="none" strike="noStrike" cap="none">
                <a:solidFill>
                  <a:schemeClr val="lt1"/>
                </a:solidFill>
                <a:latin typeface="IBM Plex Sans Light"/>
                <a:ea typeface="IBM Plex Sans Light"/>
                <a:cs typeface="IBM Plex Sans Light"/>
                <a:sym typeface="IBM Plex Sans Light"/>
              </a:defRPr>
            </a:lvl1pPr>
            <a:lvl2pPr marL="914400" marR="0" lvl="1"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2pPr>
            <a:lvl3pPr marL="1371600" marR="0" lvl="2"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3pPr>
            <a:lvl4pPr marL="1828800" marR="0" lvl="3"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4pPr>
            <a:lvl5pPr marL="2286000" marR="0" lvl="4" indent="-298450" algn="l" rtl="0">
              <a:lnSpc>
                <a:spcPct val="110000"/>
              </a:lnSpc>
              <a:spcBef>
                <a:spcPts val="0"/>
              </a:spcBef>
              <a:spcAft>
                <a:spcPts val="0"/>
              </a:spcAft>
              <a:buClr>
                <a:schemeClr val="lt1"/>
              </a:buClr>
              <a:buSzPts val="1100"/>
              <a:buFont typeface="IBM Plex Sans"/>
              <a:buChar char="•"/>
              <a:defRPr sz="1100" b="0" i="0" u="none" strike="noStrike" cap="none">
                <a:solidFill>
                  <a:schemeClr val="lt1"/>
                </a:solidFill>
                <a:latin typeface="IBM Plex Sans Light"/>
                <a:ea typeface="IBM Plex Sans Light"/>
                <a:cs typeface="IBM Plex Sans Light"/>
                <a:sym typeface="IBM Plex Sans Light"/>
              </a:defRPr>
            </a:lvl5pPr>
            <a:lvl6pPr marL="2743200" marR="0" lvl="5"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6pPr>
            <a:lvl7pPr marL="3200400" marR="0" lvl="6"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7pPr>
            <a:lvl8pPr marL="3657600" marR="0" lvl="7"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8pPr>
            <a:lvl9pPr marL="4114800" marR="0" lvl="8"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9pPr>
          </a:lstStyle>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We build on the serving runtime, not replace it.</a:t>
            </a:r>
          </a:p>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We combine reusable components.</a:t>
            </a:r>
          </a:p>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Deployment paths explain the trade-offs.</a:t>
            </a:r>
          </a:p>
        </p:txBody>
      </p:sp>
      <p:sp>
        <p:nvSpPr>
          <p:cNvPr id="6" name="Google Shape;2013;p207">
            <a:extLst>
              <a:ext uri="{FF2B5EF4-FFF2-40B4-BE49-F238E27FC236}">
                <a16:creationId xmlns:a16="http://schemas.microsoft.com/office/drawing/2014/main" id="{3C962F2B-69D2-0E59-292F-D7AE5E5A1436}"/>
              </a:ext>
            </a:extLst>
          </p:cNvPr>
          <p:cNvSpPr txBox="1"/>
          <p:nvPr/>
        </p:nvSpPr>
        <p:spPr>
          <a:xfrm>
            <a:off x="384048" y="1508760"/>
            <a:ext cx="3931920"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a:solidFill>
                  <a:srgbClr val="087F8C"/>
                </a:solidFill>
                <a:latin typeface="Arial"/>
              </a:rPr>
              <a:t>A cross-vendor ecosystem</a:t>
            </a:r>
          </a:p>
        </p:txBody>
      </p:sp>
      <p:sp>
        <p:nvSpPr>
          <p:cNvPr id="7" name="Google Shape;2014;p207">
            <a:extLst>
              <a:ext uri="{FF2B5EF4-FFF2-40B4-BE49-F238E27FC236}">
                <a16:creationId xmlns:a16="http://schemas.microsoft.com/office/drawing/2014/main" id="{E1D31B77-7729-A17D-C481-EC3E4F6CD7E5}"/>
              </a:ext>
            </a:extLst>
          </p:cNvPr>
          <p:cNvSpPr/>
          <p:nvPr/>
        </p:nvSpPr>
        <p:spPr>
          <a:xfrm>
            <a:off x="620215" y="1906592"/>
            <a:ext cx="3801680" cy="620646"/>
          </a:xfrm>
          <a:prstGeom prst="rect">
            <a:avLst/>
          </a:prstGeom>
          <a:noFill/>
          <a:ln w="8890" cap="flat" cmpd="sng">
            <a:solidFill>
              <a:srgbClr val="CFD9E5"/>
            </a:solidFill>
            <a:prstDash val="solid"/>
            <a:round/>
            <a:headEnd type="none" w="sm" len="sm"/>
            <a:tailEnd type="none" w="sm" len="sm"/>
          </a:ln>
        </p:spPr>
        <p:txBody>
          <a:bodyPr spcFirstLastPara="1" wrap="square" lIns="34275" tIns="34275" rIns="34275" bIns="34275" anchor="t" anchorCtr="0">
            <a:noAutofit/>
          </a:bodyPr>
          <a:lstStyle/>
          <a:p>
            <a:pPr>
              <a:buClr>
                <a:srgbClr val="FFFFFF"/>
              </a:buClr>
              <a:buSzPts val="500"/>
              <a:buFont typeface="IBM Plex Sans Light"/>
              <a:buNone/>
              <a:defRPr/>
            </a:pPr>
            <a:endParaRPr sz="500">
              <a:solidFill>
                <a:srgbClr val="FFFFFF"/>
              </a:solidFill>
              <a:latin typeface="IBM Plex Sans Light"/>
              <a:ea typeface="IBM Plex Sans Light"/>
              <a:cs typeface="IBM Plex Sans Light"/>
              <a:sym typeface="IBM Plex Sans Light"/>
            </a:endParaRPr>
          </a:p>
        </p:txBody>
      </p:sp>
      <p:cxnSp>
        <p:nvCxnSpPr>
          <p:cNvPr id="8" name="Google Shape;2015;p207">
            <a:extLst>
              <a:ext uri="{FF2B5EF4-FFF2-40B4-BE49-F238E27FC236}">
                <a16:creationId xmlns:a16="http://schemas.microsoft.com/office/drawing/2014/main" id="{BB6F89D5-20FB-A1BF-4DAB-384B5E4A61D2}"/>
              </a:ext>
            </a:extLst>
          </p:cNvPr>
          <p:cNvCxnSpPr/>
          <p:nvPr/>
        </p:nvCxnSpPr>
        <p:spPr>
          <a:xfrm>
            <a:off x="384048" y="2606040"/>
            <a:ext cx="3977639" cy="914"/>
          </a:xfrm>
          <a:prstGeom prst="straightConnector1">
            <a:avLst/>
          </a:prstGeom>
          <a:noFill/>
          <a:ln w="8890" cap="flat" cmpd="sng">
            <a:solidFill>
              <a:srgbClr val="346CEC"/>
            </a:solidFill>
            <a:prstDash val="solid"/>
            <a:round/>
            <a:headEnd type="none" w="sm" len="sm"/>
            <a:tailEnd type="none" w="sm" len="sm"/>
          </a:ln>
        </p:spPr>
      </p:cxnSp>
      <p:pic>
        <p:nvPicPr>
          <p:cNvPr id="9" name="Google Shape;2016;p207" descr="A yellow star with a cat silhouette&#10;&#10;AI-generated content may be incorrect.">
            <a:extLst>
              <a:ext uri="{FF2B5EF4-FFF2-40B4-BE49-F238E27FC236}">
                <a16:creationId xmlns:a16="http://schemas.microsoft.com/office/drawing/2014/main" id="{D8C1E15D-36A5-82CE-01EC-9E5A29200D03}"/>
              </a:ext>
            </a:extLst>
          </p:cNvPr>
          <p:cNvPicPr preferRelativeResize="0"/>
          <p:nvPr/>
        </p:nvPicPr>
        <p:blipFill rotWithShape="1">
          <a:blip r:embed="rId4">
            <a:alphaModFix/>
          </a:blip>
          <a:srcRect/>
          <a:stretch/>
        </p:blipFill>
        <p:spPr>
          <a:xfrm>
            <a:off x="438912" y="4187952"/>
            <a:ext cx="192024" cy="181051"/>
          </a:xfrm>
          <a:prstGeom prst="rect">
            <a:avLst/>
          </a:prstGeom>
          <a:noFill/>
          <a:ln>
            <a:noFill/>
          </a:ln>
        </p:spPr>
      </p:pic>
      <p:pic>
        <p:nvPicPr>
          <p:cNvPr id="10" name="Google Shape;2017;p207">
            <a:extLst>
              <a:ext uri="{FF2B5EF4-FFF2-40B4-BE49-F238E27FC236}">
                <a16:creationId xmlns:a16="http://schemas.microsoft.com/office/drawing/2014/main" id="{FF59AF69-E21D-C1FF-E438-1CFDB6BAB563}"/>
              </a:ext>
            </a:extLst>
          </p:cNvPr>
          <p:cNvPicPr preferRelativeResize="0"/>
          <p:nvPr/>
        </p:nvPicPr>
        <p:blipFill rotWithShape="1">
          <a:blip r:embed="rId5">
            <a:alphaModFix/>
          </a:blip>
          <a:srcRect/>
          <a:stretch/>
        </p:blipFill>
        <p:spPr>
          <a:xfrm>
            <a:off x="866765" y="2059208"/>
            <a:ext cx="509493" cy="119881"/>
          </a:xfrm>
          <a:prstGeom prst="rect">
            <a:avLst/>
          </a:prstGeom>
          <a:noFill/>
          <a:ln>
            <a:noFill/>
          </a:ln>
        </p:spPr>
      </p:pic>
      <p:pic>
        <p:nvPicPr>
          <p:cNvPr id="11" name="Google Shape;2018;p207" descr="IBM 8-bar logo">
            <a:extLst>
              <a:ext uri="{FF2B5EF4-FFF2-40B4-BE49-F238E27FC236}">
                <a16:creationId xmlns:a16="http://schemas.microsoft.com/office/drawing/2014/main" id="{13DE8387-F492-777F-A675-D7F24EA672D5}"/>
              </a:ext>
            </a:extLst>
          </p:cNvPr>
          <p:cNvPicPr preferRelativeResize="0"/>
          <p:nvPr/>
        </p:nvPicPr>
        <p:blipFill rotWithShape="1">
          <a:blip r:embed="rId6">
            <a:alphaModFix/>
          </a:blip>
          <a:srcRect/>
          <a:stretch/>
        </p:blipFill>
        <p:spPr>
          <a:xfrm>
            <a:off x="785352" y="2301474"/>
            <a:ext cx="231859" cy="92510"/>
          </a:xfrm>
          <a:prstGeom prst="rect">
            <a:avLst/>
          </a:prstGeom>
          <a:noFill/>
          <a:ln>
            <a:noFill/>
          </a:ln>
        </p:spPr>
      </p:pic>
      <p:pic>
        <p:nvPicPr>
          <p:cNvPr id="12" name="Google Shape;2019;p207" descr="A blue and black logo&#10;&#10;AI-generated content may be incorrect.">
            <a:extLst>
              <a:ext uri="{FF2B5EF4-FFF2-40B4-BE49-F238E27FC236}">
                <a16:creationId xmlns:a16="http://schemas.microsoft.com/office/drawing/2014/main" id="{6F73BEB6-5442-8087-8331-1C02638C6F86}"/>
              </a:ext>
            </a:extLst>
          </p:cNvPr>
          <p:cNvPicPr preferRelativeResize="0"/>
          <p:nvPr/>
        </p:nvPicPr>
        <p:blipFill rotWithShape="1">
          <a:blip r:embed="rId7">
            <a:alphaModFix/>
          </a:blip>
          <a:srcRect/>
          <a:stretch/>
        </p:blipFill>
        <p:spPr>
          <a:xfrm>
            <a:off x="3379616" y="2054695"/>
            <a:ext cx="244085" cy="128907"/>
          </a:xfrm>
          <a:prstGeom prst="rect">
            <a:avLst/>
          </a:prstGeom>
          <a:noFill/>
          <a:ln>
            <a:noFill/>
          </a:ln>
        </p:spPr>
      </p:pic>
      <p:pic>
        <p:nvPicPr>
          <p:cNvPr id="13" name="Google Shape;2020;p207" descr="A blue and black logo&#10;&#10;AI-generated content may be incorrect.">
            <a:extLst>
              <a:ext uri="{FF2B5EF4-FFF2-40B4-BE49-F238E27FC236}">
                <a16:creationId xmlns:a16="http://schemas.microsoft.com/office/drawing/2014/main" id="{B7778424-8673-1197-8CFC-79A2FBA72D2A}"/>
              </a:ext>
            </a:extLst>
          </p:cNvPr>
          <p:cNvPicPr preferRelativeResize="0"/>
          <p:nvPr/>
        </p:nvPicPr>
        <p:blipFill rotWithShape="1">
          <a:blip r:embed="rId8">
            <a:alphaModFix/>
          </a:blip>
          <a:srcRect/>
          <a:stretch/>
        </p:blipFill>
        <p:spPr>
          <a:xfrm>
            <a:off x="2170053" y="2070808"/>
            <a:ext cx="238390" cy="96680"/>
          </a:xfrm>
          <a:prstGeom prst="rect">
            <a:avLst/>
          </a:prstGeom>
          <a:noFill/>
          <a:ln>
            <a:noFill/>
          </a:ln>
        </p:spPr>
      </p:pic>
      <p:pic>
        <p:nvPicPr>
          <p:cNvPr id="14" name="Google Shape;2021;p207" descr="A black text on a black background&#10;&#10;AI-generated content may be incorrect.">
            <a:extLst>
              <a:ext uri="{FF2B5EF4-FFF2-40B4-BE49-F238E27FC236}">
                <a16:creationId xmlns:a16="http://schemas.microsoft.com/office/drawing/2014/main" id="{DB6254C0-C2B9-B86C-9696-8FC638AE2C6F}"/>
              </a:ext>
            </a:extLst>
          </p:cNvPr>
          <p:cNvPicPr preferRelativeResize="0"/>
          <p:nvPr/>
        </p:nvPicPr>
        <p:blipFill rotWithShape="1">
          <a:blip r:embed="rId9">
            <a:alphaModFix/>
          </a:blip>
          <a:srcRect/>
          <a:stretch/>
        </p:blipFill>
        <p:spPr>
          <a:xfrm>
            <a:off x="2664121" y="2054695"/>
            <a:ext cx="553885" cy="128907"/>
          </a:xfrm>
          <a:prstGeom prst="rect">
            <a:avLst/>
          </a:prstGeom>
          <a:noFill/>
          <a:ln>
            <a:noFill/>
          </a:ln>
        </p:spPr>
      </p:pic>
      <p:sp>
        <p:nvSpPr>
          <p:cNvPr id="15" name="Google Shape;2022;p207">
            <a:extLst>
              <a:ext uri="{FF2B5EF4-FFF2-40B4-BE49-F238E27FC236}">
                <a16:creationId xmlns:a16="http://schemas.microsoft.com/office/drawing/2014/main" id="{BF52F8A5-3F42-5B4B-ED9F-8392EA77AAC1}"/>
              </a:ext>
            </a:extLst>
          </p:cNvPr>
          <p:cNvSpPr txBox="1"/>
          <p:nvPr/>
        </p:nvSpPr>
        <p:spPr>
          <a:xfrm>
            <a:off x="384048" y="2423160"/>
            <a:ext cx="914400" cy="16459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800" b="0">
                <a:solidFill>
                  <a:srgbClr val="52677D"/>
                </a:solidFill>
                <a:latin typeface="Arial"/>
              </a:defRPr>
            </a:pPr>
            <a:r>
              <a:rPr sz="800" b="0">
                <a:solidFill>
                  <a:srgbClr val="52677D"/>
                </a:solidFill>
                <a:latin typeface="Arial"/>
              </a:rPr>
              <a:t>Since May 2025</a:t>
            </a:r>
          </a:p>
        </p:txBody>
      </p:sp>
      <p:cxnSp>
        <p:nvCxnSpPr>
          <p:cNvPr id="16" name="Google Shape;2023;p207">
            <a:extLst>
              <a:ext uri="{FF2B5EF4-FFF2-40B4-BE49-F238E27FC236}">
                <a16:creationId xmlns:a16="http://schemas.microsoft.com/office/drawing/2014/main" id="{8A2F155E-29A2-E8C4-EE64-6BDB8901D3B5}"/>
              </a:ext>
            </a:extLst>
          </p:cNvPr>
          <p:cNvCxnSpPr>
            <a:endCxn id="15" idx="2"/>
          </p:cNvCxnSpPr>
          <p:nvPr/>
        </p:nvCxnSpPr>
        <p:spPr>
          <a:xfrm rot="10800000">
            <a:off x="512064" y="2569464"/>
            <a:ext cx="914" cy="36576"/>
          </a:xfrm>
          <a:prstGeom prst="straightConnector1">
            <a:avLst/>
          </a:prstGeom>
          <a:noFill/>
          <a:ln w="8890" cap="flat" cmpd="sng">
            <a:solidFill>
              <a:srgbClr val="346CEC"/>
            </a:solidFill>
            <a:prstDash val="solid"/>
            <a:round/>
            <a:headEnd type="oval" w="lg" len="lg"/>
            <a:tailEnd type="none" w="sm" len="sm"/>
          </a:ln>
        </p:spPr>
      </p:cxnSp>
      <p:pic>
        <p:nvPicPr>
          <p:cNvPr id="17" name="Google Shape;2024;p207" descr="A black and white logo&#10;&#10;AI-generated content may be incorrect.">
            <a:extLst>
              <a:ext uri="{FF2B5EF4-FFF2-40B4-BE49-F238E27FC236}">
                <a16:creationId xmlns:a16="http://schemas.microsoft.com/office/drawing/2014/main" id="{F1F8E47D-0637-D18E-A0CA-3CDC57713F4E}"/>
              </a:ext>
            </a:extLst>
          </p:cNvPr>
          <p:cNvPicPr preferRelativeResize="0"/>
          <p:nvPr/>
        </p:nvPicPr>
        <p:blipFill rotWithShape="1">
          <a:blip r:embed="rId10">
            <a:alphaModFix/>
          </a:blip>
          <a:srcRect/>
          <a:stretch/>
        </p:blipFill>
        <p:spPr>
          <a:xfrm>
            <a:off x="3597956" y="2299388"/>
            <a:ext cx="436345" cy="96680"/>
          </a:xfrm>
          <a:prstGeom prst="rect">
            <a:avLst/>
          </a:prstGeom>
          <a:noFill/>
          <a:ln>
            <a:noFill/>
          </a:ln>
        </p:spPr>
      </p:pic>
      <p:pic>
        <p:nvPicPr>
          <p:cNvPr id="18" name="Google Shape;2025;p207" descr="A colorful circle logo on a black background&#10;&#10;AI-generated content may be incorrect.">
            <a:extLst>
              <a:ext uri="{FF2B5EF4-FFF2-40B4-BE49-F238E27FC236}">
                <a16:creationId xmlns:a16="http://schemas.microsoft.com/office/drawing/2014/main" id="{574C11ED-C68A-A35A-228D-F3CCF9351E17}"/>
              </a:ext>
            </a:extLst>
          </p:cNvPr>
          <p:cNvPicPr preferRelativeResize="0"/>
          <p:nvPr/>
        </p:nvPicPr>
        <p:blipFill rotWithShape="1">
          <a:blip r:embed="rId11">
            <a:alphaModFix/>
          </a:blip>
          <a:srcRect/>
          <a:stretch/>
        </p:blipFill>
        <p:spPr>
          <a:xfrm>
            <a:off x="1165118" y="2294625"/>
            <a:ext cx="313909" cy="106206"/>
          </a:xfrm>
          <a:prstGeom prst="rect">
            <a:avLst/>
          </a:prstGeom>
          <a:noFill/>
          <a:ln>
            <a:noFill/>
          </a:ln>
        </p:spPr>
      </p:pic>
      <p:pic>
        <p:nvPicPr>
          <p:cNvPr id="19" name="Google Shape;2026;p207">
            <a:extLst>
              <a:ext uri="{FF2B5EF4-FFF2-40B4-BE49-F238E27FC236}">
                <a16:creationId xmlns:a16="http://schemas.microsoft.com/office/drawing/2014/main" id="{39848DC3-EBC3-FFC7-6162-4E97265813D7}"/>
              </a:ext>
            </a:extLst>
          </p:cNvPr>
          <p:cNvPicPr preferRelativeResize="0"/>
          <p:nvPr/>
        </p:nvPicPr>
        <p:blipFill rotWithShape="1">
          <a:blip r:embed="rId12">
            <a:alphaModFix/>
          </a:blip>
          <a:srcRect/>
          <a:stretch/>
        </p:blipFill>
        <p:spPr>
          <a:xfrm>
            <a:off x="3784877" y="2054695"/>
            <a:ext cx="484745" cy="128907"/>
          </a:xfrm>
          <a:prstGeom prst="rect">
            <a:avLst/>
          </a:prstGeom>
          <a:noFill/>
          <a:ln>
            <a:noFill/>
          </a:ln>
        </p:spPr>
      </p:pic>
      <p:pic>
        <p:nvPicPr>
          <p:cNvPr id="20" name="Google Shape;2027;p207" descr="A green and black logo&#10;&#10;AI-generated content may be incorrect.">
            <a:extLst>
              <a:ext uri="{FF2B5EF4-FFF2-40B4-BE49-F238E27FC236}">
                <a16:creationId xmlns:a16="http://schemas.microsoft.com/office/drawing/2014/main" id="{478A105A-4EC8-DF5F-4B84-0C063A407CFC}"/>
              </a:ext>
            </a:extLst>
          </p:cNvPr>
          <p:cNvPicPr preferRelativeResize="0"/>
          <p:nvPr/>
        </p:nvPicPr>
        <p:blipFill rotWithShape="1">
          <a:blip r:embed="rId13">
            <a:alphaModFix/>
          </a:blip>
          <a:srcRect/>
          <a:stretch/>
        </p:blipFill>
        <p:spPr>
          <a:xfrm>
            <a:off x="1768273" y="2044756"/>
            <a:ext cx="202888" cy="148785"/>
          </a:xfrm>
          <a:prstGeom prst="rect">
            <a:avLst/>
          </a:prstGeom>
          <a:noFill/>
          <a:ln>
            <a:noFill/>
          </a:ln>
        </p:spPr>
      </p:pic>
      <p:pic>
        <p:nvPicPr>
          <p:cNvPr id="21" name="Google Shape;2028;p207">
            <a:extLst>
              <a:ext uri="{FF2B5EF4-FFF2-40B4-BE49-F238E27FC236}">
                <a16:creationId xmlns:a16="http://schemas.microsoft.com/office/drawing/2014/main" id="{7303DBD4-483B-5008-5B0F-580762DDF2F2}"/>
              </a:ext>
            </a:extLst>
          </p:cNvPr>
          <p:cNvPicPr preferRelativeResize="0"/>
          <p:nvPr/>
        </p:nvPicPr>
        <p:blipFill rotWithShape="1">
          <a:blip r:embed="rId14">
            <a:alphaModFix/>
          </a:blip>
          <a:srcRect/>
          <a:stretch/>
        </p:blipFill>
        <p:spPr>
          <a:xfrm>
            <a:off x="1949046" y="2307445"/>
            <a:ext cx="338043" cy="80567"/>
          </a:xfrm>
          <a:prstGeom prst="rect">
            <a:avLst/>
          </a:prstGeom>
          <a:noFill/>
          <a:ln>
            <a:noFill/>
          </a:ln>
        </p:spPr>
      </p:pic>
      <p:cxnSp>
        <p:nvCxnSpPr>
          <p:cNvPr id="22" name="Google Shape;2029;p207">
            <a:extLst>
              <a:ext uri="{FF2B5EF4-FFF2-40B4-BE49-F238E27FC236}">
                <a16:creationId xmlns:a16="http://schemas.microsoft.com/office/drawing/2014/main" id="{58DBF0BB-F2D0-4EAE-D55A-C36B82061991}"/>
              </a:ext>
            </a:extLst>
          </p:cNvPr>
          <p:cNvCxnSpPr/>
          <p:nvPr/>
        </p:nvCxnSpPr>
        <p:spPr>
          <a:xfrm>
            <a:off x="1601654"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3" name="Google Shape;2030;p207">
            <a:extLst>
              <a:ext uri="{FF2B5EF4-FFF2-40B4-BE49-F238E27FC236}">
                <a16:creationId xmlns:a16="http://schemas.microsoft.com/office/drawing/2014/main" id="{C9750DD3-1F5E-B58D-8354-DBB40F7A7AC8}"/>
              </a:ext>
            </a:extLst>
          </p:cNvPr>
          <p:cNvCxnSpPr/>
          <p:nvPr/>
        </p:nvCxnSpPr>
        <p:spPr>
          <a:xfrm>
            <a:off x="2537609"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4" name="Google Shape;2031;p207">
            <a:extLst>
              <a:ext uri="{FF2B5EF4-FFF2-40B4-BE49-F238E27FC236}">
                <a16:creationId xmlns:a16="http://schemas.microsoft.com/office/drawing/2014/main" id="{9D2B16A6-E644-3156-C60D-5A6A7C579ACE}"/>
              </a:ext>
            </a:extLst>
          </p:cNvPr>
          <p:cNvCxnSpPr/>
          <p:nvPr/>
        </p:nvCxnSpPr>
        <p:spPr>
          <a:xfrm>
            <a:off x="4535424" y="1499616"/>
            <a:ext cx="914" cy="3300984"/>
          </a:xfrm>
          <a:prstGeom prst="straightConnector1">
            <a:avLst/>
          </a:prstGeom>
          <a:noFill/>
          <a:ln w="8890" cap="flat" cmpd="sng">
            <a:solidFill>
              <a:srgbClr val="CFD9E5"/>
            </a:solidFill>
            <a:prstDash val="solid"/>
            <a:round/>
            <a:headEnd type="none" w="sm" len="sm"/>
            <a:tailEnd type="none" w="sm" len="sm"/>
          </a:ln>
        </p:spPr>
      </p:cxnSp>
      <p:sp>
        <p:nvSpPr>
          <p:cNvPr id="25" name="Google Shape;2032;p207">
            <a:extLst>
              <a:ext uri="{FF2B5EF4-FFF2-40B4-BE49-F238E27FC236}">
                <a16:creationId xmlns:a16="http://schemas.microsoft.com/office/drawing/2014/main" id="{06695568-9159-D80F-35F5-996C2A24712B}"/>
              </a:ext>
            </a:extLst>
          </p:cNvPr>
          <p:cNvSpPr txBox="1"/>
          <p:nvPr/>
        </p:nvSpPr>
        <p:spPr>
          <a:xfrm>
            <a:off x="4709160" y="1508760"/>
            <a:ext cx="4050791"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dirty="0">
                <a:solidFill>
                  <a:srgbClr val="087F8C"/>
                </a:solidFill>
                <a:latin typeface="Arial"/>
              </a:rPr>
              <a:t>Four areas of capability</a:t>
            </a:r>
          </a:p>
        </p:txBody>
      </p:sp>
      <p:sp>
        <p:nvSpPr>
          <p:cNvPr id="26" name="Google Shape;2034;p207">
            <a:extLst>
              <a:ext uri="{FF2B5EF4-FFF2-40B4-BE49-F238E27FC236}">
                <a16:creationId xmlns:a16="http://schemas.microsoft.com/office/drawing/2014/main" id="{4C02AEEA-99FF-7BD0-F400-84B924354D13}"/>
              </a:ext>
            </a:extLst>
          </p:cNvPr>
          <p:cNvSpPr txBox="1"/>
          <p:nvPr/>
        </p:nvSpPr>
        <p:spPr>
          <a:xfrm>
            <a:off x="4882896" y="1956816"/>
            <a:ext cx="3867912" cy="27706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MoE serving</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Expert parallelism spreads expert computation across GPUs.</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Prefill/decode disaggregation</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We separate the phases and transfer KV between roles.</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State-aware scheduling</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Routing plugins use cache and load signals to pick workers.</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Autoscaling architecture</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Workload signals and SLOs guide capacity; each integration chooses its policy.</a:t>
            </a:r>
          </a:p>
        </p:txBody>
      </p:sp>
      <p:cxnSp>
        <p:nvCxnSpPr>
          <p:cNvPr id="27" name="Google Shape;2035;p207">
            <a:extLst>
              <a:ext uri="{FF2B5EF4-FFF2-40B4-BE49-F238E27FC236}">
                <a16:creationId xmlns:a16="http://schemas.microsoft.com/office/drawing/2014/main" id="{BBF49D1E-6B67-59EA-C147-2DBD69E46518}"/>
              </a:ext>
            </a:extLst>
          </p:cNvPr>
          <p:cNvCxnSpPr/>
          <p:nvPr/>
        </p:nvCxnSpPr>
        <p:spPr>
          <a:xfrm>
            <a:off x="4718304" y="1975104"/>
            <a:ext cx="100584" cy="914"/>
          </a:xfrm>
          <a:prstGeom prst="straightConnector1">
            <a:avLst/>
          </a:prstGeom>
          <a:noFill/>
          <a:ln w="8890" cap="flat" cmpd="sng">
            <a:solidFill>
              <a:srgbClr val="346CEC"/>
            </a:solidFill>
            <a:prstDash val="solid"/>
            <a:round/>
            <a:headEnd type="oval" w="lg" len="lg"/>
            <a:tailEnd type="none" w="sm" len="sm"/>
          </a:ln>
        </p:spPr>
      </p:cxnSp>
      <p:sp>
        <p:nvSpPr>
          <p:cNvPr id="28" name="Google Shape;2036;p207">
            <a:extLst>
              <a:ext uri="{FF2B5EF4-FFF2-40B4-BE49-F238E27FC236}">
                <a16:creationId xmlns:a16="http://schemas.microsoft.com/office/drawing/2014/main" id="{2395275C-9B53-E228-EF6E-66B09804D0CC}"/>
              </a:ext>
            </a:extLst>
          </p:cNvPr>
          <p:cNvSpPr/>
          <p:nvPr/>
        </p:nvSpPr>
        <p:spPr>
          <a:xfrm>
            <a:off x="4727448" y="1965960"/>
            <a:ext cx="27432" cy="2715768"/>
          </a:xfrm>
          <a:prstGeom prst="leftBracket">
            <a:avLst>
              <a:gd name="adj" fmla="val 8333"/>
            </a:avLst>
          </a:prstGeom>
          <a:noFill/>
          <a:ln w="8890" cap="flat" cmpd="sng">
            <a:solidFill>
              <a:srgbClr val="346CEC"/>
            </a:solidFill>
            <a:prstDash val="solid"/>
            <a:round/>
            <a:headEnd type="none" w="sm" len="sm"/>
            <a:tailEnd type="none" w="sm" len="sm"/>
          </a:ln>
        </p:spPr>
        <p:txBody>
          <a:bodyPr spcFirstLastPara="1" wrap="square" lIns="68575" tIns="34275" rIns="68575" bIns="34275" anchor="ctr" anchorCtr="0">
            <a:noAutofit/>
          </a:bodyPr>
          <a:lstStyle/>
          <a:p>
            <a:pPr algn="ctr">
              <a:buSzPts val="1400"/>
              <a:buFont typeface="IBM Plex Sans Light"/>
              <a:buNone/>
              <a:defRPr/>
            </a:pPr>
            <a:endParaRPr>
              <a:latin typeface="IBM Plex Sans Light"/>
              <a:ea typeface="IBM Plex Sans Light"/>
              <a:cs typeface="IBM Plex Sans Light"/>
              <a:sym typeface="IBM Plex Sans Light"/>
            </a:endParaRPr>
          </a:p>
        </p:txBody>
      </p:sp>
      <p:cxnSp>
        <p:nvCxnSpPr>
          <p:cNvPr id="29" name="Google Shape;2037;p207">
            <a:extLst>
              <a:ext uri="{FF2B5EF4-FFF2-40B4-BE49-F238E27FC236}">
                <a16:creationId xmlns:a16="http://schemas.microsoft.com/office/drawing/2014/main" id="{16453C01-CF46-124D-5E59-0BF62DF979E3}"/>
              </a:ext>
            </a:extLst>
          </p:cNvPr>
          <p:cNvCxnSpPr/>
          <p:nvPr/>
        </p:nvCxnSpPr>
        <p:spPr>
          <a:xfrm>
            <a:off x="8046720" y="4700016"/>
            <a:ext cx="914" cy="155448"/>
          </a:xfrm>
          <a:prstGeom prst="straightConnector1">
            <a:avLst/>
          </a:prstGeom>
          <a:noFill/>
          <a:ln w="8890" cap="flat" cmpd="sng">
            <a:solidFill>
              <a:srgbClr val="CFD9E5"/>
            </a:solidFill>
            <a:prstDash val="solid"/>
            <a:miter lim="800000"/>
            <a:headEnd type="none" w="sm" len="sm"/>
            <a:tailEnd type="none" w="sm" len="sm"/>
          </a:ln>
        </p:spPr>
      </p:cxnSp>
      <p:pic>
        <p:nvPicPr>
          <p:cNvPr id="30" name="Google Shape;2038;p207" descr="A black and grey logo&#10;&#10;AI-generated content may be incorrect.">
            <a:extLst>
              <a:ext uri="{FF2B5EF4-FFF2-40B4-BE49-F238E27FC236}">
                <a16:creationId xmlns:a16="http://schemas.microsoft.com/office/drawing/2014/main" id="{00CE1514-DA04-B543-9D2B-E6C49612E5A9}"/>
              </a:ext>
            </a:extLst>
          </p:cNvPr>
          <p:cNvPicPr preferRelativeResize="0"/>
          <p:nvPr/>
        </p:nvPicPr>
        <p:blipFill rotWithShape="1">
          <a:blip r:embed="rId15">
            <a:alphaModFix/>
          </a:blip>
          <a:srcRect/>
          <a:stretch/>
        </p:blipFill>
        <p:spPr>
          <a:xfrm>
            <a:off x="8220456" y="4700016"/>
            <a:ext cx="512064" cy="156362"/>
          </a:xfrm>
          <a:prstGeom prst="rect">
            <a:avLst/>
          </a:prstGeom>
          <a:noFill/>
          <a:ln>
            <a:noFill/>
          </a:ln>
        </p:spPr>
      </p:pic>
      <p:pic>
        <p:nvPicPr>
          <p:cNvPr id="31" name="Google Shape;2039;p207" title="66faf0b57e9fd277afa8c523_65777e4f9ada94a53cc28302_logo-mistral.png">
            <a:extLst>
              <a:ext uri="{FF2B5EF4-FFF2-40B4-BE49-F238E27FC236}">
                <a16:creationId xmlns:a16="http://schemas.microsoft.com/office/drawing/2014/main" id="{64A072FC-F9C0-AD5C-C362-BE2132950638}"/>
              </a:ext>
            </a:extLst>
          </p:cNvPr>
          <p:cNvPicPr preferRelativeResize="0"/>
          <p:nvPr/>
        </p:nvPicPr>
        <p:blipFill>
          <a:blip r:embed="rId16">
            <a:alphaModFix/>
          </a:blip>
          <a:stretch>
            <a:fillRect/>
          </a:stretch>
        </p:blipFill>
        <p:spPr>
          <a:xfrm>
            <a:off x="3014904" y="2269803"/>
            <a:ext cx="407132" cy="155850"/>
          </a:xfrm>
          <a:prstGeom prst="rect">
            <a:avLst/>
          </a:prstGeom>
          <a:noFill/>
          <a:ln>
            <a:noFill/>
          </a:ln>
        </p:spPr>
      </p:pic>
      <p:sp>
        <p:nvSpPr>
          <p:cNvPr id="33" name="文本框 32">
            <a:extLst>
              <a:ext uri="{FF2B5EF4-FFF2-40B4-BE49-F238E27FC236}">
                <a16:creationId xmlns:a16="http://schemas.microsoft.com/office/drawing/2014/main" id="{69365E8B-5DD5-9F06-FD5E-ECEF8FAF7AA8}"/>
              </a:ext>
            </a:extLst>
          </p:cNvPr>
          <p:cNvSpPr txBox="1"/>
          <p:nvPr/>
        </p:nvSpPr>
        <p:spPr>
          <a:xfrm>
            <a:off x="384048" y="1033271"/>
            <a:ext cx="8321040" cy="329184"/>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200" b="0">
                <a:solidFill>
                  <a:srgbClr val="52677D"/>
                </a:solidFill>
                <a:latin typeface="Arial"/>
              </a:defRPr>
            </a:pPr>
            <a:r>
              <a:rPr sz="1200" b="0">
                <a:solidFill>
                  <a:srgbClr val="52677D"/>
                </a:solidFill>
                <a:latin typeface="Arial"/>
              </a:rPr>
              <a:t>These are reusable capabilities, not a performance guarantee.</a:t>
            </a:r>
          </a:p>
        </p:txBody>
      </p:sp>
      <p:sp>
        <p:nvSpPr>
          <p:cNvPr id="35" name="右大括号 34">
            <a:extLst>
              <a:ext uri="{FF2B5EF4-FFF2-40B4-BE49-F238E27FC236}">
                <a16:creationId xmlns:a16="http://schemas.microsoft.com/office/drawing/2014/main" id="{C0325AD1-219F-E5EF-2E15-5CB33A2144CD}"/>
              </a:ext>
            </a:extLst>
          </p:cNvPr>
          <p:cNvSpPr/>
          <p:nvPr/>
        </p:nvSpPr>
        <p:spPr>
          <a:xfrm>
            <a:off x="4709160" y="1837943"/>
            <a:ext cx="4023360" cy="914"/>
          </a:xfrm>
          <a:prstGeom prst="rect">
            <a:avLst/>
          </a:prstGeom>
          <a:noFill/>
          <a:ln w="8890">
            <a:solidFill>
              <a:srgbClr val="CFD9E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36" name="TextBox 35"/>
          <p:cNvSpPr txBox="1"/>
          <p:nvPr/>
        </p:nvSpPr>
        <p:spPr>
          <a:xfrm>
            <a:off x="2157984" y="3977639"/>
            <a:ext cx="2011680" cy="210312"/>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000" b="1">
                <a:solidFill>
                  <a:srgbClr val="346CEC"/>
                </a:solidFill>
                <a:latin typeface="Arial"/>
              </a:defRPr>
            </a:pPr>
            <a:r>
              <a:rPr sz="1000" b="1">
                <a:solidFill>
                  <a:srgbClr val="346CEC"/>
                </a:solidFill>
                <a:latin typeface="Arial"/>
              </a:rPr>
              <a:t>Community history</a:t>
            </a:r>
          </a:p>
        </p:txBody>
      </p:sp>
      <p:sp>
        <p:nvSpPr>
          <p:cNvPr id="37" name="TextBox 36"/>
          <p:cNvSpPr txBox="1"/>
          <p:nvPr/>
        </p:nvSpPr>
        <p:spPr>
          <a:xfrm>
            <a:off x="2157984" y="4279392"/>
            <a:ext cx="2103120" cy="384048"/>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900" b="0">
                <a:solidFill>
                  <a:srgbClr val="52677D"/>
                </a:solidFill>
                <a:latin typeface="Arial"/>
              </a:defRPr>
            </a:pPr>
            <a:r>
              <a:rPr sz="900" b="0" dirty="0">
                <a:solidFill>
                  <a:srgbClr val="52677D"/>
                </a:solidFill>
                <a:latin typeface="Arial"/>
              </a:rPr>
              <a:t>This shows project history,</a:t>
            </a:r>
          </a:p>
          <a:p>
            <a:pPr marL="0" indent="0" algn="l">
              <a:lnSpc>
                <a:spcPct val="108000"/>
              </a:lnSpc>
              <a:spcBef>
                <a:spcPts val="0"/>
              </a:spcBef>
              <a:spcAft>
                <a:spcPts val="0"/>
              </a:spcAft>
              <a:buNone/>
              <a:defRPr sz="900" b="0">
                <a:solidFill>
                  <a:srgbClr val="52677D"/>
                </a:solidFill>
                <a:latin typeface="Arial"/>
              </a:defRPr>
            </a:pPr>
            <a:r>
              <a:rPr sz="900" b="0" dirty="0">
                <a:solidFill>
                  <a:srgbClr val="52677D"/>
                </a:solidFill>
                <a:latin typeface="Arial"/>
              </a:rPr>
              <a:t>not serving performance.</a:t>
            </a:r>
          </a:p>
        </p:txBody>
      </p:sp>
      <p:sp>
        <p:nvSpPr>
          <p:cNvPr id="3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capabilities</a:t>
            </a:r>
          </a:p>
        </p:txBody>
      </p:sp>
      <p:sp>
        <p:nvSpPr>
          <p:cNvPr id="3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A1FC9AA-8A27-5007-8CA3-E320F79495E1}" type="slidenum">
              <a:rPr lang="en-US"/>
              <a:t>15</a:t>
            </a:fld>
            <a:endParaRPr lang="en-US"/>
          </a:p>
        </p:txBody>
      </p:sp>
    </p:spTree>
    <p:extLst>
      <p:ext uri="{BB962C8B-B14F-4D97-AF65-F5344CB8AC3E}">
        <p14:creationId xmlns:p14="http://schemas.microsoft.com/office/powerpoint/2010/main" val="27049635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llm</a:t>
            </a:r>
            <a:r>
              <a:rPr cap="none" dirty="0"/>
              <a:t>-d “well-lit paths”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These tested deployment patterns explain the trade-offs.</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09928"/>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709928"/>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63239"/>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a large MoE model run across GPUs?</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63239"/>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35F917B-C6BC-5F81-B5BA-F01A8FB9B5B8}" type="slidenum">
              <a:rPr lang="en-US"/>
              <a:t>16</a:t>
            </a:fld>
            <a:endParaRPr lang="en-US"/>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well-lit paths</a:t>
            </a:r>
          </a:p>
        </p:txBody>
      </p:sp>
      <p:sp>
        <p:nvSpPr>
          <p:cNvPr id="19" name="MoE explained in plain English"/>
          <p:cNvSpPr txBox="1"/>
          <p:nvPr/>
        </p:nvSpPr>
        <p:spPr>
          <a:xfrm>
            <a:off x="576072" y="4270248"/>
            <a:ext cx="7991856" cy="466344"/>
          </a:xfrm>
          <a:prstGeom prst="rect">
            <a:avLst/>
          </a:prstGeom>
          <a:noFill/>
        </p:spPr>
        <p:txBody>
          <a:bodyPr wrap="square" lIns="0" tIns="0" rIns="0" bIns="0">
            <a:noAutofit/>
          </a:bodyPr>
          <a:lstStyle/>
          <a:p>
            <a:pPr>
              <a:spcAft>
                <a:spcPts val="100"/>
              </a:spcAft>
              <a:defRPr sz="1350" b="1">
                <a:solidFill>
                  <a:srgbClr val="8060C3"/>
                </a:solidFill>
                <a:latin typeface="Arial"/>
              </a:defRPr>
            </a:pPr>
            <a:r>
              <a:rPr cap="none"/>
              <a:t>MoE means Mixture of Experts—a team of specialists.</a:t>
            </a:r>
          </a:p>
          <a:p>
            <a:pPr>
              <a:spcAft>
                <a:spcPts val="100"/>
              </a:spcAft>
              <a:defRPr sz="1350" b="0">
                <a:solidFill>
                  <a:srgbClr val="142C46"/>
                </a:solidFill>
                <a:latin typeface="Arial"/>
              </a:defRPr>
            </a:pPr>
            <a:r>
              <a:rPr cap="none"/>
              <a:t>The model picks a few experts to help process each token.</a:t>
            </a:r>
          </a:p>
        </p:txBody>
      </p:sp>
    </p:spTree>
    <p:extLst>
      <p:ext uri="{BB962C8B-B14F-4D97-AF65-F5344CB8AC3E}">
        <p14:creationId xmlns:p14="http://schemas.microsoft.com/office/powerpoint/2010/main" val="18811374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KAITO automates LLM inference, fine-tuning and RAG with Kubernetes operators.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a:bodyPr>
          <a:lstStyle/>
          <a:p>
            <a:r>
              <a:rPr lang="en-US" sz="1300" b="1" cap="none" dirty="0">
                <a:solidFill>
                  <a:srgbClr val="142C46"/>
                </a:solidFill>
                <a:latin typeface="Arial"/>
              </a:rPr>
              <a:t>Choose a model and GPU.</a:t>
            </a:r>
            <a:br/>
            <a:r>
              <a:rPr sz="1300" cap="none">
                <a:solidFill>
                  <a:srgbClr val="142C46"/>
                </a:solidFill>
                <a:latin typeface="Arial"/>
              </a:rPr>
              <a:t>KAITO sizes nodes for model memory.</a:t>
            </a:r>
            <a:br/>
            <a:r>
              <a:rPr sz="1300" cap="none">
                <a:solidFill>
                  <a:srgbClr val="142C46"/>
                </a:solidFill>
                <a:latin typeface="Arial"/>
              </a:rPr>
              <a:t>It sets up and caches models.</a:t>
            </a:r>
            <a:br/>
            <a:r>
              <a:rPr sz="1300" cap="none">
                <a:solidFill>
                  <a:srgbClr val="142C46"/>
                </a:solidFill>
                <a:latin typeface="Arial"/>
              </a:rPr>
              <a:t>It manages InferenceSets and rolling updates.</a:t>
            </a:r>
            <a:br/>
            <a:r>
              <a:rPr sz="1300" cap="none">
                <a:solidFill>
                  <a:srgbClr val="142C46"/>
                </a:solidFill>
                <a:latin typeface="Arial"/>
              </a:rPr>
              <a:t>KEDA scales the workload.</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B26C1FB-63EB-594A-A3FB-E44458705754}" type="slidenum">
              <a:rPr lang="en-US"/>
              <a:t>17</a:t>
            </a:fld>
            <a:endParaRPr lang="en-US"/>
          </a:p>
        </p:txBody>
      </p:sp>
      <p:sp>
        <p:nvSpPr>
          <p:cNvPr id="14" name="TextBox 13"/>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
        <p:nvSpPr>
          <p:cNvPr id="5" name="TextBox 4">
            <a:extLst>
              <a:ext uri="{FF2B5EF4-FFF2-40B4-BE49-F238E27FC236}">
                <a16:creationId xmlns:a16="http://schemas.microsoft.com/office/drawing/2014/main" id="{6053000E-CF1E-C0D3-11FA-D4E8ED1A7F6C}"/>
              </a:ext>
            </a:extLst>
          </p:cNvPr>
          <p:cNvSpPr txBox="1"/>
          <p:nvPr/>
        </p:nvSpPr>
        <p:spPr>
          <a:xfrm>
            <a:off x="2286000" y="2428494"/>
            <a:ext cx="4572000" cy="288541"/>
          </a:xfrm>
          <a:prstGeom prst="rect">
            <a:avLst/>
          </a:prstGeom>
          <a:noFill/>
        </p:spPr>
        <p:txBody>
          <a:bodyPr wrap="square">
            <a:spAutoFit/>
          </a:bodyPr>
          <a:lstStyle/>
          <a:p>
            <a:r>
              <a:rPr lang="en-US" altLang="zh-CN" sz="1275" cap="none" dirty="0">
                <a:latin typeface="Arial"/>
              </a:rPr>
              <a:t>injection</a:t>
            </a:r>
            <a:endParaRPr lang="zh-CN" altLang="en-US" dirty="0"/>
          </a:p>
        </p:txBody>
      </p:sp>
      <p:sp>
        <p:nvSpPr>
          <p:cNvPr id="7" name="CNCF Sandbox project badge">
            <a:extLst>
              <a:ext uri="{FF2B5EF4-FFF2-40B4-BE49-F238E27FC236}">
                <a16:creationId xmlns:a16="http://schemas.microsoft.com/office/drawing/2014/main" id="{ECBBFB4C-B88F-CC6E-89AE-FE8C9C420F16}"/>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Tree>
    <p:extLst>
      <p:ext uri="{BB962C8B-B14F-4D97-AF65-F5344CB8AC3E}">
        <p14:creationId xmlns:p14="http://schemas.microsoft.com/office/powerpoint/2010/main" val="26212137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We declare the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lnSpcReduction="10000"/>
          </a:bodyPr>
          <a:lstStyle/>
          <a:p>
            <a:r>
              <a:rPr lang="en-US" sz="1600" cap="none" dirty="0">
                <a:solidFill>
                  <a:srgbClr val="142C46"/>
                </a:solidFill>
                <a:latin typeface="Consolas" panose="020B0609020204030204" pitchFamily="49" charset="0"/>
              </a:rPr>
              <a:t>apiVersion: kaito.sh/v1beta1</a:t>
            </a:r>
            <a:br>
              <a:rPr sz="1800" dirty="0"/>
            </a:br>
            <a:r>
              <a:rPr sz="1600" cap="none" dirty="0">
                <a:solidFill>
                  <a:srgbClr val="142C46"/>
                </a:solidFill>
                <a:latin typeface="Consolas"/>
              </a:rPr>
              <a:t>kind: </a:t>
            </a:r>
            <a:r>
              <a:rPr sz="1600" cap="none" dirty="0" err="1">
                <a:solidFill>
                  <a:srgbClr val="142C46"/>
                </a:solidFill>
                <a:latin typeface="Consolas"/>
              </a:rPr>
              <a:t>InferenceSet</a:t>
            </a:r>
            <a:br>
              <a:rPr sz="1800" dirty="0"/>
            </a:br>
            <a:r>
              <a:rPr sz="1600" cap="none" dirty="0">
                <a:solidFill>
                  <a:srgbClr val="142C46"/>
                </a:solidFill>
                <a:latin typeface="Consolas"/>
              </a:rPr>
              <a:t>metadata:</a:t>
            </a:r>
            <a:br>
              <a:rPr sz="1800" dirty="0"/>
            </a:br>
            <a:r>
              <a:rPr sz="1600" cap="none" dirty="0">
                <a:solidFill>
                  <a:srgbClr val="142C46"/>
                </a:solidFill>
                <a:latin typeface="Consolas"/>
              </a:rPr>
              <a:t>  name: qwen3-coder-30b</a:t>
            </a:r>
            <a:br>
              <a:rPr sz="1800" dirty="0"/>
            </a:br>
            <a:r>
              <a:rPr sz="1600" cap="none" dirty="0">
                <a:solidFill>
                  <a:srgbClr val="142C46"/>
                </a:solidFill>
                <a:latin typeface="Consolas"/>
              </a:rPr>
              <a:t>spec:</a:t>
            </a:r>
            <a:br>
              <a:rPr sz="1800" dirty="0"/>
            </a:br>
            <a:r>
              <a:rPr sz="1600" cap="none" dirty="0">
                <a:solidFill>
                  <a:srgbClr val="142C46"/>
                </a:solidFill>
                <a:latin typeface="Consolas"/>
              </a:rPr>
              <a:t>  replicas: </a:t>
            </a:r>
            <a:r>
              <a:rPr sz="1600" cap="none" dirty="0">
                <a:solidFill>
                  <a:srgbClr val="00B050"/>
                </a:solidFill>
                <a:latin typeface="Consolas"/>
              </a:rPr>
              <a:t>3</a:t>
            </a:r>
            <a:br>
              <a:rPr sz="1800" dirty="0"/>
            </a:br>
            <a:r>
              <a:rPr sz="1600" cap="none" dirty="0">
                <a:solidFill>
                  <a:srgbClr val="142C46"/>
                </a:solidFill>
                <a:latin typeface="Consolas"/>
              </a:rPr>
              <a:t>  </a:t>
            </a:r>
            <a:r>
              <a:rPr sz="1600" cap="none" dirty="0" err="1">
                <a:solidFill>
                  <a:srgbClr val="142C46"/>
                </a:solidFill>
                <a:latin typeface="Consolas"/>
              </a:rPr>
              <a:t>labelSelector</a:t>
            </a:r>
            <a:r>
              <a:rPr sz="1600" cap="none" dirty="0">
                <a:solidFill>
                  <a:srgbClr val="142C46"/>
                </a:solidFill>
                <a:latin typeface="Consolas"/>
              </a:rPr>
              <a:t>:</a:t>
            </a:r>
            <a:br>
              <a:rPr sz="1800" dirty="0"/>
            </a:br>
            <a:r>
              <a:rPr sz="1600" cap="none" dirty="0">
                <a:solidFill>
                  <a:srgbClr val="142C46"/>
                </a:solidFill>
                <a:latin typeface="Consolas"/>
              </a:rPr>
              <a:t>    </a:t>
            </a:r>
            <a:r>
              <a:rPr sz="1600" cap="none" dirty="0" err="1">
                <a:solidFill>
                  <a:srgbClr val="142C46"/>
                </a:solidFill>
                <a:latin typeface="Consolas"/>
              </a:rPr>
              <a:t>matchLabels</a:t>
            </a:r>
            <a:r>
              <a:rPr sz="1600" cap="none" dirty="0">
                <a:solidFill>
                  <a:srgbClr val="142C46"/>
                </a:solidFill>
                <a:latin typeface="Consolas"/>
              </a:rPr>
              <a:t>:</a:t>
            </a:r>
            <a:br>
              <a:rPr sz="1800" dirty="0"/>
            </a:br>
            <a:r>
              <a:rPr sz="1600" cap="none" dirty="0">
                <a:solidFill>
                  <a:srgbClr val="142C46"/>
                </a:solidFill>
                <a:latin typeface="Consolas"/>
              </a:rPr>
              <a:t>      app: qwen3-coder-30b</a:t>
            </a:r>
            <a:br>
              <a:rPr sz="1800" dirty="0"/>
            </a:br>
            <a:r>
              <a:rPr sz="1600" cap="none" dirty="0">
                <a:solidFill>
                  <a:srgbClr val="142C46"/>
                </a:solidFill>
                <a:latin typeface="Consolas"/>
              </a:rPr>
              <a:t>  template:</a:t>
            </a:r>
            <a:br>
              <a:rPr sz="1800" dirty="0"/>
            </a:br>
            <a:r>
              <a:rPr sz="1600" cap="none" dirty="0">
                <a:solidFill>
                  <a:srgbClr val="142C46"/>
                </a:solidFill>
                <a:latin typeface="Consolas"/>
              </a:rPr>
              <a:t>    resource:</a:t>
            </a:r>
            <a:br>
              <a:rPr sz="1800" dirty="0"/>
            </a:br>
            <a:r>
              <a:rPr sz="1600" cap="none" dirty="0">
                <a:solidFill>
                  <a:srgbClr val="142C46"/>
                </a:solidFill>
                <a:latin typeface="Consolas"/>
              </a:rPr>
              <a:t>      </a:t>
            </a:r>
            <a:r>
              <a:rPr sz="1600" cap="none" dirty="0" err="1">
                <a:solidFill>
                  <a:srgbClr val="142C46"/>
                </a:solidFill>
                <a:latin typeface="Consolas"/>
              </a:rPr>
              <a:t>instanceType</a:t>
            </a:r>
            <a:r>
              <a:rPr sz="1600" cap="none" dirty="0">
                <a:solidFill>
                  <a:srgbClr val="142C46"/>
                </a:solidFill>
                <a:latin typeface="Consolas"/>
              </a:rPr>
              <a:t>: </a:t>
            </a:r>
            <a:r>
              <a:rPr sz="1600" b="1" cap="none" dirty="0">
                <a:solidFill>
                  <a:srgbClr val="00B050"/>
                </a:solidFill>
                <a:latin typeface="Consolas"/>
              </a:rPr>
              <a:t>Standard_NC24ads_A100_v4</a:t>
            </a:r>
            <a:r>
              <a:rPr sz="1600" cap="none" dirty="0">
                <a:solidFill>
                  <a:srgbClr val="142C46"/>
                </a:solidFill>
                <a:latin typeface="Consolas"/>
              </a:rPr>
              <a:t>   # &lt;- GPU SKU</a:t>
            </a:r>
            <a:br>
              <a:rPr sz="1800" dirty="0"/>
            </a:br>
            <a:r>
              <a:rPr sz="1600" cap="none" dirty="0">
                <a:solidFill>
                  <a:srgbClr val="142C46"/>
                </a:solidFill>
                <a:latin typeface="Consolas"/>
              </a:rPr>
              <a:t>    inference:</a:t>
            </a:r>
            <a:br>
              <a:rPr sz="1800" dirty="0"/>
            </a:br>
            <a:r>
              <a:rPr sz="1600" cap="none" dirty="0">
                <a:solidFill>
                  <a:srgbClr val="142C46"/>
                </a:solidFill>
                <a:latin typeface="Consolas"/>
              </a:rPr>
              <a:t>      preset:</a:t>
            </a:r>
            <a:br>
              <a:rPr sz="1800" dirty="0"/>
            </a:br>
            <a:r>
              <a:rPr sz="1600" cap="none" dirty="0">
                <a:solidFill>
                  <a:srgbClr val="142C46"/>
                </a:solidFill>
                <a:latin typeface="Consolas"/>
              </a:rPr>
              <a:t>        name: </a:t>
            </a:r>
            <a:r>
              <a:rPr sz="1600" b="1" dirty="0">
                <a:solidFill>
                  <a:srgbClr val="00B050"/>
                </a:solidFill>
                <a:latin typeface="Consolas"/>
              </a:rPr>
              <a:t>Qwen/Qwen3-Coder-30B-A3B-Instruct  </a:t>
            </a:r>
            <a:r>
              <a:rPr sz="1600" cap="none" dirty="0">
                <a:solidFill>
                  <a:srgbClr val="142C46"/>
                </a:solidFill>
                <a:latin typeface="Consolas"/>
              </a:rPr>
              <a:t># </a:t>
            </a:r>
            <a:r>
              <a:rPr lang="en-US" sz="1600" b="1" cap="none" dirty="0" err="1">
                <a:solidFill>
                  <a:srgbClr val="142C46"/>
                </a:solidFill>
                <a:latin typeface="Consolas"/>
              </a:rPr>
              <a:t>huggingface</a:t>
            </a:r>
            <a:r>
              <a:rPr lang="en-US" sz="1600" cap="none" dirty="0">
                <a:solidFill>
                  <a:srgbClr val="142C46"/>
                </a:solidFill>
                <a:latin typeface="Consolas"/>
              </a:rPr>
              <a:t> </a:t>
            </a:r>
            <a:r>
              <a:rPr sz="1600" cap="none" dirty="0">
                <a:solidFill>
                  <a:srgbClr val="142C46"/>
                </a:solidFill>
                <a:latin typeface="Consolas"/>
              </a:rPr>
              <a:t>model</a:t>
            </a:r>
            <a:r>
              <a:rPr lang="en-US" sz="1600" cap="none" dirty="0">
                <a:solidFill>
                  <a:srgbClr val="142C46"/>
                </a:solidFill>
                <a:latin typeface="Consolas"/>
              </a:rPr>
              <a:t> ID</a:t>
            </a:r>
            <a:endParaRPr sz="1600" cap="none" dirty="0">
              <a:solidFill>
                <a:srgbClr val="142C46"/>
              </a:solidFill>
              <a:latin typeface="Consolas"/>
            </a:endParaRP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9D51930-7DCB-554E-97B0-66A030D60AD4}" type="slidenum">
              <a:rPr lang="en-US"/>
              <a:t>18</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workload example</a:t>
            </a:r>
          </a:p>
        </p:txBody>
      </p:sp>
    </p:spTree>
    <p:extLst>
      <p:ext uri="{BB962C8B-B14F-4D97-AF65-F5344CB8AC3E}">
        <p14:creationId xmlns:p14="http://schemas.microsoft.com/office/powerpoint/2010/main" val="17304667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539496"/>
            <a:ext cx="8229600" cy="420624"/>
          </a:xfrm>
          <a:prstGeom prst="rect">
            <a:avLst/>
          </a:prstGeom>
          <a:noFill/>
        </p:spPr>
        <p:txBody>
          <a:bodyPr wrap="square" lIns="91440" tIns="45720" rIns="91440" bIns="45720" rtlCol="0">
            <a:normAutofit lnSpcReduction="10000"/>
          </a:bodyPr>
          <a:lstStyle/>
          <a:p>
            <a:r>
              <a:rPr lang="en-US" sz="2400" b="1" dirty="0"/>
              <a:t>KAITO works out the initial GPU node count</a:t>
            </a:r>
          </a:p>
        </p:txBody>
      </p:sp>
      <p:sp>
        <p:nvSpPr>
          <p:cNvPr id="3" name="Caption"/>
          <p:cNvSpPr txBox="1"/>
          <p:nvPr/>
        </p:nvSpPr>
        <p:spPr>
          <a:xfrm>
            <a:off x="457200" y="1000000"/>
            <a:ext cx="8229600" cy="420000"/>
          </a:xfrm>
          <a:prstGeom prst="rect">
            <a:avLst/>
          </a:prstGeom>
          <a:noFill/>
        </p:spPr>
        <p:txBody>
          <a:bodyPr wrap="square" lIns="91440" tIns="45720" rIns="91440" bIns="45720" rtlCol="0">
            <a:normAutofit/>
          </a:bodyPr>
          <a:lstStyle/>
          <a:p>
            <a:r>
              <a:rPr lang="en-US" sz="1400" b="1" dirty="0">
                <a:solidFill>
                  <a:schemeClr val="accent2">
                    <a:lumMod val="75000"/>
                  </a:schemeClr>
                </a:solidFill>
              </a:rPr>
              <a:t>Choose the model and GPU SKU. KAITO estimates how many nodes the model needs.</a:t>
            </a:r>
          </a:p>
        </p:txBody>
      </p:sp>
      <p:sp>
        <p:nvSpPr>
          <p:cNvPr id="4" name="Inputs"/>
          <p:cNvSpPr txBox="1"/>
          <p:nvPr/>
        </p:nvSpPr>
        <p:spPr>
          <a:xfrm>
            <a:off x="457200" y="1470000"/>
            <a:ext cx="8229600" cy="420000"/>
          </a:xfrm>
          <a:prstGeom prst="rect">
            <a:avLst/>
          </a:prstGeom>
          <a:noFill/>
        </p:spPr>
        <p:txBody>
          <a:bodyPr wrap="square" lIns="91440" tIns="45720" rIns="91440" bIns="45720" rtlCol="0">
            <a:normAutofit/>
          </a:bodyPr>
          <a:lstStyle/>
          <a:p>
            <a:r>
              <a:rPr lang="en-US" sz="1200" dirty="0"/>
              <a:t>KAITO reserves memory for overhead and KV cache, then fits the weights into the remaining GPU memory.</a:t>
            </a:r>
          </a:p>
        </p:txBody>
      </p:sp>
      <p:sp>
        <p:nvSpPr>
          <p:cNvPr id="5" name="Formula"/>
          <p:cNvSpPr txBox="1"/>
          <p:nvPr/>
        </p:nvSpPr>
        <p:spPr>
          <a:xfrm>
            <a:off x="457200" y="1979999"/>
            <a:ext cx="8567766" cy="1899437"/>
          </a:xfrm>
          <a:prstGeom prst="rect">
            <a:avLst/>
          </a:prstGeom>
          <a:solidFill>
            <a:srgbClr val="F5F5F5"/>
          </a:solidFill>
          <a:ln w="9525">
            <a:solidFill>
              <a:srgbClr val="D0D0D0"/>
            </a:solidFill>
          </a:ln>
        </p:spPr>
        <p:txBody>
          <a:bodyPr wrap="square" lIns="91440" tIns="45720" rIns="91440" bIns="45720" rtlCol="0">
            <a:normAutofit/>
          </a:bodyPr>
          <a:lstStyle/>
          <a:p>
            <a:r>
              <a:rPr lang="en-US" sz="1600" dirty="0">
                <a:latin typeface="Consolas" panose="020B0609020204030204" pitchFamily="49" charset="0"/>
              </a:rPr>
              <a:t>per-GPU budget = GPU memory  ×  0.84            (vLLM memory utilization)</a:t>
            </a:r>
          </a:p>
          <a:p>
            <a:r>
              <a:rPr lang="en-US" sz="1600" dirty="0">
                <a:latin typeface="Consolas" panose="020B0609020204030204" pitchFamily="49" charset="0"/>
              </a:rPr>
              <a:t>               −  ~2.3 GiB   fixed overhead</a:t>
            </a:r>
          </a:p>
          <a:p>
            <a:r>
              <a:rPr lang="en-US" sz="1600" dirty="0">
                <a:latin typeface="Consolas" panose="020B0609020204030204" pitchFamily="49" charset="0"/>
              </a:rPr>
              <a:t>               −  KV cache   ( max-model-len × bytes-per-token )</a:t>
            </a:r>
          </a:p>
          <a:p>
            <a:r>
              <a:rPr lang="en-US" sz="1600" dirty="0">
                <a:latin typeface="Consolas" panose="020B0609020204030204" pitchFamily="49" charset="0"/>
              </a:rPr>
              <a:t> </a:t>
            </a:r>
          </a:p>
          <a:p>
            <a:r>
              <a:rPr lang="en-US" sz="1600" dirty="0">
                <a:latin typeface="Consolas" panose="020B0609020204030204" pitchFamily="49" charset="0"/>
              </a:rPr>
              <a:t>min GPUs    = ceil( model weights  ÷  per-GPU budget )   (weights × 1.02)</a:t>
            </a:r>
          </a:p>
          <a:p>
            <a:r>
              <a:rPr lang="en-US" sz="1600" dirty="0">
                <a:latin typeface="Consolas" panose="020B0609020204030204" pitchFamily="49" charset="0"/>
              </a:rPr>
              <a:t>node count  = ceil( min GPUs  ÷  GPUs-per-node )</a:t>
            </a:r>
          </a:p>
        </p:txBody>
      </p:sp>
      <p:sp>
        <p:nvSpPr>
          <p:cNvPr id="6" name="Result"/>
          <p:cNvSpPr txBox="1"/>
          <p:nvPr/>
        </p:nvSpPr>
        <p:spPr>
          <a:xfrm>
            <a:off x="457200" y="3980000"/>
            <a:ext cx="8229600" cy="900000"/>
          </a:xfrm>
          <a:prstGeom prst="rect">
            <a:avLst/>
          </a:prstGeom>
          <a:noFill/>
        </p:spPr>
        <p:txBody>
          <a:bodyPr wrap="square" lIns="91440" tIns="45720" rIns="91440" bIns="45720" rtlCol="0">
            <a:normAutofit/>
          </a:bodyPr>
          <a:lstStyle/>
          <a:p>
            <a:r>
              <a:rPr lang="en-US" sz="1200" b="1" dirty="0"/>
              <a:t>Save the result as status.targetNodeCount.</a:t>
            </a:r>
          </a:p>
          <a:p>
            <a:r>
              <a:rPr lang="en-US" sz="1200" dirty="0"/>
              <a:t>This path uses tensor parallelism within nodes and pipeline parallelism across nodes. It sizes memory, not traffic capacity.</a:t>
            </a:r>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
        <p:nvSpPr>
          <p:cNvPr id="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9836E9-72EC-5255-94D6-C8ED7AE999CF}" type="slidenum">
              <a:rPr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Why bring llm-d into KAITO?</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P/D routing without replacing KAITO’s Kubernetes operating model.</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manages deployment and lifecycle. llm-d adds endpoint selection and request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vLLM runs; NIXL moves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and InferenceSet.</a:t>
            </a:r>
          </a:p>
          <a:p>
            <a:pPr>
              <a:spcAft>
                <a:spcPts val="375"/>
              </a:spcAft>
              <a:defRPr sz="1400" b="0">
                <a:solidFill>
                  <a:srgbClr val="172941"/>
                </a:solidFill>
                <a:latin typeface="Arial"/>
              </a:defRPr>
            </a:pPr>
            <a:r>
              <a:rPr sz="1050" cap="none">
                <a:latin typeface="Arial"/>
              </a:rPr>
              <a:t>Give each role its own replicas,</a:t>
            </a:r>
          </a:p>
          <a:p>
            <a:pPr>
              <a:spcAft>
                <a:spcPts val="375"/>
              </a:spcAft>
              <a:defRPr sz="1400" b="0">
                <a:solidFill>
                  <a:srgbClr val="172941"/>
                </a:solidFill>
                <a:latin typeface="Arial"/>
              </a:defRPr>
            </a:pPr>
            <a:r>
              <a:rPr sz="1050" cap="none">
                <a:latin typeface="Arial"/>
              </a:rPr>
              <a:t>GPU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llm-d’s P/D routing.</a:t>
            </a:r>
          </a:p>
          <a:p>
            <a:pPr>
              <a:spcAft>
                <a:spcPts val="375"/>
              </a:spcAft>
              <a:defRPr sz="1400" b="0">
                <a:solidFill>
                  <a:srgbClr val="172941"/>
                </a:solidFill>
                <a:latin typeface="Arial"/>
              </a:defRPr>
            </a:pPr>
            <a:r>
              <a:rPr sz="1050" cap="none">
                <a:latin typeface="Arial"/>
              </a:rPr>
              <a:t>KAITO connects the sidecars,</a:t>
            </a:r>
          </a:p>
          <a:p>
            <a:pPr>
              <a:spcAft>
                <a:spcPts val="375"/>
              </a:spcAft>
              <a:defRPr sz="1400" b="0">
                <a:solidFill>
                  <a:srgbClr val="172941"/>
                </a:solidFill>
                <a:latin typeface="Arial"/>
              </a:defRPr>
            </a:pPr>
            <a:r>
              <a:rPr sz="1050" cap="none">
                <a:latin typeface="Arial"/>
              </a:rPr>
              <a:t>ports and InferencePool.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and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not in a second KAITO router.</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MultiRoleInference (MRI) is alpha: vLLM + Istio + GPU connectivity. Per-role autoscaling still needs integration.</a:t>
            </a:r>
          </a:p>
        </p:txBody>
      </p:sp>
      <p:sp>
        <p:nvSpPr>
          <p:cNvPr id="37" name="TextBox 3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2F19952-092E-53EE-BF11-96488629C97D}" type="slidenum">
              <a:rPr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a:t>Where </a:t>
            </a:r>
            <a:r>
              <a:rPr b="1" cap="none" dirty="0">
                <a:solidFill>
                  <a:srgbClr val="346CEC"/>
                </a:solidFill>
              </a:rPr>
              <a:t>KAITO</a:t>
            </a:r>
            <a:r>
              <a:rPr cap="none" dirty="0"/>
              <a:t> and </a:t>
            </a:r>
            <a:r>
              <a:rPr b="1" cap="none" dirty="0" err="1">
                <a:solidFill>
                  <a:srgbClr val="168C96"/>
                </a:solidFill>
              </a:rPr>
              <a:t>llm</a:t>
            </a:r>
            <a:r>
              <a:rPr b="1" cap="none" dirty="0">
                <a:solidFill>
                  <a:srgbClr val="168C96"/>
                </a:solidFill>
              </a:rPr>
              <a:t>-d</a:t>
            </a:r>
            <a:r>
              <a:rPr cap="none" dirty="0"/>
              <a:t> fit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This is a map of responsibilities, not a required installation checklist.</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7276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Applications call the inference API.</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79"/>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The gateway handles ingress, auth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450591"/>
            <a:ext cx="1874519" cy="200055"/>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dirty="0"/>
              <a:t>Orchestration</a:t>
            </a:r>
          </a:p>
        </p:txBody>
      </p:sp>
      <p:sp>
        <p:nvSpPr>
          <p:cNvPr id="12" name="TextBox 11"/>
          <p:cNvSpPr txBox="1"/>
          <p:nvPr/>
        </p:nvSpPr>
        <p:spPr>
          <a:xfrm>
            <a:off x="2633472" y="2450591"/>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b="1" cap="none" dirty="0">
                <a:solidFill>
                  <a:srgbClr val="346CEC"/>
                </a:solidFill>
              </a:rPr>
              <a:t>KAITO</a:t>
            </a:r>
            <a:r>
              <a:rPr cap="none" dirty="0"/>
              <a:t> manages lifecycle; </a:t>
            </a:r>
            <a:r>
              <a:rPr b="1" cap="none" dirty="0" err="1">
                <a:solidFill>
                  <a:srgbClr val="168C96"/>
                </a:solidFill>
              </a:rPr>
              <a:t>llm</a:t>
            </a:r>
            <a:r>
              <a:rPr b="1" cap="none" dirty="0">
                <a:solidFill>
                  <a:srgbClr val="168C96"/>
                </a:solidFill>
              </a:rPr>
              <a:t>-d</a:t>
            </a:r>
            <a:r>
              <a:rPr cap="none" dirty="0"/>
              <a:t> selects endpoints.</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889503"/>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vLLM runs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328415"/>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NIXL moves KV; cache systems reuse or offload it.</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6732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The infrastructure supports the stack.</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We will follow the roles,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DD80BB0-C4A7-5D0F-8AC6-E9BAA6625D0E}" type="slidenum">
              <a:rPr lang="en-US"/>
              <a:t>21</a:t>
            </a:fld>
            <a:endParaRPr lang="en-US"/>
          </a:p>
        </p:txBody>
      </p:sp>
      <p:sp>
        <p:nvSpPr>
          <p:cNvPr id="2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component boundaries</a:t>
            </a:r>
          </a:p>
        </p:txBody>
      </p:sp>
    </p:spTree>
    <p:extLst>
      <p:ext uri="{BB962C8B-B14F-4D97-AF65-F5344CB8AC3E}">
        <p14:creationId xmlns:p14="http://schemas.microsoft.com/office/powerpoint/2010/main" val="36272095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Declare both roles together. Keep orchestration separate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01368"/>
            <a:ext cx="337413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tIns="0" rIns="0" bIns="0">
            <a:spAutoFit/>
          </a:bodyPr>
          <a:lstStyle/>
          <a:p>
            <a:pPr>
              <a:spcAft>
                <a:spcPts val="500"/>
              </a:spcAft>
              <a:defRPr sz="1600" b="0">
                <a:solidFill>
                  <a:srgbClr val="142C46"/>
                </a:solidFill>
                <a:latin typeface="Arial"/>
              </a:defRPr>
            </a:pPr>
            <a:r>
              <a:rPr cap="none"/>
              <a:t>Serve one model through one endpoint.</a:t>
            </a:r>
          </a:p>
          <a:p>
            <a:pPr>
              <a:spcAft>
                <a:spcPts val="500"/>
              </a:spcAft>
              <a:defRPr sz="1600" b="0">
                <a:solidFill>
                  <a:srgbClr val="142C46"/>
                </a:solidFill>
                <a:latin typeface="Arial"/>
              </a:defRPr>
            </a:pPr>
            <a:r>
              <a:rPr cap="none"/>
              <a:t>Give prefill and decode their own</a:t>
            </a:r>
          </a:p>
          <a:p>
            <a:pPr>
              <a:spcAft>
                <a:spcPts val="500"/>
              </a:spcAft>
              <a:defRPr sz="1600" b="0">
                <a:solidFill>
                  <a:srgbClr val="142C46"/>
                </a:solidFill>
                <a:latin typeface="Arial"/>
              </a:defRPr>
            </a:pPr>
            <a:r>
              <a:rPr cap="none"/>
              <a:t>placement and replica counts.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90288" y="1609344"/>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KAITO maintains the role topology.</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2267712"/>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InferencePool links to the gateway.</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90288" y="2926079"/>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llm-d selects and coordinates.</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90288" y="3584448"/>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vLLM runs; NIXL transfers KV.</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One service coordinates P/D requests, while each role keeps its own capacity settings.</a:t>
            </a:r>
          </a:p>
        </p:txBody>
      </p:sp>
      <p:sp>
        <p:nvSpPr>
          <p:cNvPr id="21" name="TextBox 2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5A6428B-490A-53AA-8214-D5799B07E23F}" type="slidenum">
              <a:rPr lang="en-US"/>
              <a:t>22</a:t>
            </a:fld>
            <a:endParaRPr lang="en-US"/>
          </a:p>
        </p:txBody>
      </p:sp>
      <p:sp>
        <p:nvSpPr>
          <p:cNvPr id="23"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one service, two roles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llm-d picks workers for each role</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vLLM executes the inference phases.</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Choose workers for</a:t>
            </a:r>
          </a:p>
          <a:p>
            <a:pPr>
              <a:spcAft>
                <a:spcPts val="150"/>
              </a:spcAft>
              <a:defRPr sz="1600" b="0">
                <a:solidFill>
                  <a:srgbClr val="5B6E80"/>
                </a:solidFill>
                <a:latin typeface="Arial"/>
              </a:defRPr>
            </a:pPr>
            <a:r>
              <a:rPr sz="1200" cap="none">
                <a:latin typeface="Arial"/>
              </a:rPr>
              <a:t>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Combine KV-aware and</a:t>
            </a:r>
          </a:p>
          <a:p>
            <a:pPr>
              <a:spcAft>
                <a:spcPts val="150"/>
              </a:spcAft>
              <a:defRPr sz="1600" b="0">
                <a:solidFill>
                  <a:srgbClr val="5B6E80"/>
                </a:solidFill>
                <a:latin typeface="Arial"/>
              </a:defRPr>
            </a:pPr>
            <a:r>
              <a:rPr sz="1200" cap="none">
                <a:latin typeface="Arial"/>
              </a:rPr>
              <a:t>P/D-aware plugins.</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Add new policies</a:t>
            </a:r>
          </a:p>
          <a:p>
            <a:pPr>
              <a:spcAft>
                <a:spcPts val="150"/>
              </a:spcAft>
              <a:defRPr sz="1600" b="0">
                <a:solidFill>
                  <a:srgbClr val="5B6E80"/>
                </a:solidFill>
                <a:latin typeface="Arial"/>
              </a:defRPr>
            </a:pPr>
            <a:r>
              <a:rPr sz="1200" cap="none">
                <a:latin typeface="Arial"/>
              </a:rPr>
              <a:t>through plugins.</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reuses llm-d’s routing decisions instead of building a second routing engine.</a:t>
            </a:r>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67E9DD2-B1D3-54D6-9EE1-5859D70BE723}" type="slidenum">
              <a:rPr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architecture</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KAITO manages resources. HTTP carries requests. NIXL moves KV between runtimes.</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uses one endpoint. KV data bypasses the gateway, EPP and routing sidecar.</a:t>
            </a:r>
          </a:p>
        </p:txBody>
      </p:sp>
      <p:sp>
        <p:nvSpPr>
          <p:cNvPr id="45" name="TextBox 4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5E8E64-6832-5599-A743-0C9BB1EDEEF0}" type="slidenum">
              <a:rPr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declarative API</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cap="none" dirty="0">
                <a:solidFill>
                  <a:srgbClr val="142C46"/>
                </a:solidFill>
                <a:latin typeface="Arial"/>
              </a:rPr>
              <a:t>One MultiRoleInference declares both roles</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This example puts one prefill replica on A100 and two decode replicas on H100.</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dirty="0" err="1">
                <a:latin typeface="Consolas"/>
              </a:rPr>
              <a:t>apiVersion</a:t>
            </a:r>
            <a:r>
              <a:rPr sz="1050" cap="none" dirty="0">
                <a:latin typeface="Consolas"/>
              </a:rPr>
              <a:t>: kaito.sh/v1alpha1</a:t>
            </a:r>
          </a:p>
          <a:p>
            <a:pPr>
              <a:lnSpc>
                <a:spcPts val="1223"/>
              </a:lnSpc>
              <a:defRPr sz="1400" b="0">
                <a:solidFill>
                  <a:srgbClr val="FFFFFF"/>
                </a:solidFill>
                <a:latin typeface="Consolas"/>
              </a:defRPr>
            </a:pPr>
            <a:r>
              <a:rPr sz="1050" cap="none" dirty="0">
                <a:latin typeface="Consolas"/>
              </a:rPr>
              <a:t>kind: </a:t>
            </a:r>
            <a:r>
              <a:rPr sz="1050" cap="none" dirty="0" err="1">
                <a:latin typeface="Consolas"/>
              </a:rPr>
              <a:t>MultiRoleInference</a:t>
            </a:r>
            <a:endParaRPr sz="1050" cap="none" dirty="0">
              <a:latin typeface="Consolas"/>
            </a:endParaRPr>
          </a:p>
          <a:p>
            <a:pPr>
              <a:lnSpc>
                <a:spcPts val="1223"/>
              </a:lnSpc>
              <a:defRPr sz="1400" b="0">
                <a:solidFill>
                  <a:srgbClr val="FFFFFF"/>
                </a:solidFill>
                <a:latin typeface="Consolas"/>
              </a:defRPr>
            </a:pPr>
            <a:r>
              <a:rPr sz="1050" cap="none" dirty="0">
                <a:latin typeface="Consolas"/>
              </a:rPr>
              <a:t>metadata:</a:t>
            </a:r>
          </a:p>
          <a:p>
            <a:pPr>
              <a:lnSpc>
                <a:spcPts val="1223"/>
              </a:lnSpc>
              <a:defRPr sz="1400" b="0">
                <a:solidFill>
                  <a:srgbClr val="FFFFFF"/>
                </a:solidFill>
                <a:latin typeface="Consolas"/>
              </a:defRPr>
            </a:pPr>
            <a:r>
              <a:rPr sz="1050" cap="none" dirty="0">
                <a:latin typeface="Consolas"/>
              </a:rPr>
              <a:t>  name: qwen-3-8-27b</a:t>
            </a:r>
          </a:p>
          <a:p>
            <a:pPr>
              <a:lnSpc>
                <a:spcPts val="1223"/>
              </a:lnSpc>
              <a:defRPr sz="1400" b="0">
                <a:solidFill>
                  <a:srgbClr val="FFFFFF"/>
                </a:solidFill>
                <a:latin typeface="Consolas"/>
              </a:defRPr>
            </a:pPr>
            <a:r>
              <a:rPr sz="1050" cap="none" dirty="0">
                <a:latin typeface="Consolas"/>
              </a:rPr>
              <a:t>spec:</a:t>
            </a:r>
          </a:p>
          <a:p>
            <a:pPr>
              <a:lnSpc>
                <a:spcPts val="1223"/>
              </a:lnSpc>
              <a:defRPr sz="1400" b="0">
                <a:solidFill>
                  <a:srgbClr val="FFFFFF"/>
                </a:solidFill>
                <a:latin typeface="Consolas"/>
              </a:defRPr>
            </a:pPr>
            <a:r>
              <a:rPr sz="1050" cap="none" dirty="0">
                <a:latin typeface="Consolas"/>
              </a:rPr>
              <a:t>  model:</a:t>
            </a:r>
          </a:p>
          <a:p>
            <a:pPr>
              <a:lnSpc>
                <a:spcPts val="1223"/>
              </a:lnSpc>
              <a:defRPr sz="1400" b="0">
                <a:solidFill>
                  <a:srgbClr val="FFFFFF"/>
                </a:solidFill>
                <a:latin typeface="Consolas"/>
              </a:defRPr>
            </a:pPr>
            <a:r>
              <a:rPr sz="1050" cap="none" dirty="0">
                <a:latin typeface="Consolas"/>
              </a:rPr>
              <a:t>    name: Qwen/Qwen3.8-27B</a:t>
            </a:r>
          </a:p>
          <a:p>
            <a:pPr>
              <a:lnSpc>
                <a:spcPts val="1223"/>
              </a:lnSpc>
              <a:defRPr sz="1400" b="0">
                <a:solidFill>
                  <a:srgbClr val="FFFFFF"/>
                </a:solidFill>
                <a:latin typeface="Consolas"/>
              </a:defRPr>
            </a:pPr>
            <a:r>
              <a:rPr sz="1050" cap="none" dirty="0">
                <a:latin typeface="Consolas"/>
              </a:rPr>
              <a:t>  roles:</a:t>
            </a:r>
          </a:p>
          <a:p>
            <a:pPr>
              <a:lnSpc>
                <a:spcPts val="1223"/>
              </a:lnSpc>
              <a:defRPr sz="1400" b="0">
                <a:solidFill>
                  <a:srgbClr val="FFFFFF"/>
                </a:solidFill>
                <a:latin typeface="Consolas"/>
              </a:defRPr>
            </a:pPr>
            <a:r>
              <a:rPr sz="1050" cap="none" dirty="0">
                <a:latin typeface="Consolas"/>
              </a:rPr>
              <a:t>    - type: prefill</a:t>
            </a:r>
          </a:p>
          <a:p>
            <a:pPr>
              <a:lnSpc>
                <a:spcPts val="1223"/>
              </a:lnSpc>
              <a:defRPr sz="1400" b="0">
                <a:solidFill>
                  <a:srgbClr val="FFFFFF"/>
                </a:solidFill>
                <a:latin typeface="Consolas"/>
              </a:defRPr>
            </a:pPr>
            <a:r>
              <a:rPr sz="1050" cap="none" dirty="0">
                <a:latin typeface="Consolas"/>
              </a:rPr>
              <a:t>      replicas: 1</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Standard_NC24ads_A100_v4</a:t>
            </a:r>
          </a:p>
          <a:p>
            <a:pPr>
              <a:lnSpc>
                <a:spcPts val="1223"/>
              </a:lnSpc>
              <a:defRPr sz="1400" b="0">
                <a:solidFill>
                  <a:srgbClr val="FFFFFF"/>
                </a:solidFill>
                <a:latin typeface="Consolas"/>
              </a:defRPr>
            </a:pPr>
            <a:r>
              <a:rPr sz="1050" cap="none" dirty="0">
                <a:latin typeface="Consolas"/>
              </a:rPr>
              <a:t>    - type: decode</a:t>
            </a:r>
          </a:p>
          <a:p>
            <a:pPr>
              <a:lnSpc>
                <a:spcPts val="1223"/>
              </a:lnSpc>
              <a:defRPr sz="1400" b="0">
                <a:solidFill>
                  <a:srgbClr val="FFFFFF"/>
                </a:solidFill>
                <a:latin typeface="Consolas"/>
              </a:defRPr>
            </a:pPr>
            <a:r>
              <a:rPr sz="1050" cap="none" dirty="0">
                <a:latin typeface="Consolas"/>
              </a:rPr>
              <a:t>      replicas: 2</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Both roles serve the same model. Each has its own InferenceSet and capacity settings.</a:t>
            </a:r>
          </a:p>
        </p:txBody>
      </p:sp>
      <p:sp>
        <p:nvSpPr>
          <p:cNvPr id="31" name="TextBox 3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C9D11D3-B3E0-5610-AEC2-EA17DC1E4ACC}" type="slidenum">
              <a:rPr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reconciliation</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KAITO creates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KAITO turns the declared topology into workers, routing resources and runtime wiring.</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Set role labels and</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dirty="0">
                <a:latin typeface="Arial"/>
              </a:rPr>
              <a:t>Inject the sidecar.</a:t>
            </a:r>
          </a:p>
          <a:p>
            <a:pPr>
              <a:spcAft>
                <a:spcPts val="150"/>
              </a:spcAft>
              <a:defRPr sz="1700" b="0">
                <a:solidFill>
                  <a:srgbClr val="5B6E80"/>
                </a:solidFill>
                <a:latin typeface="Arial"/>
              </a:defRPr>
            </a:pPr>
            <a:r>
              <a:rPr sz="1275" cap="none" dirty="0">
                <a:latin typeface="Arial"/>
              </a:rPr>
              <a:t>Align NIXL and </a:t>
            </a:r>
            <a:r>
              <a:rPr sz="1275" cap="none" dirty="0" err="1">
                <a:latin typeface="Arial"/>
              </a:rPr>
              <a:t>vLLM</a:t>
            </a:r>
            <a:r>
              <a:rPr sz="1275" cap="none" dirty="0">
                <a:latin typeface="Arial"/>
              </a:rPr>
              <a:t>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Connect Services, ports</a:t>
            </a:r>
          </a:p>
          <a:p>
            <a:pPr>
              <a:spcAft>
                <a:spcPts val="150"/>
              </a:spcAft>
              <a:defRPr sz="1700" b="0">
                <a:solidFill>
                  <a:srgbClr val="5B6E80"/>
                </a:solidFill>
                <a:latin typeface="Arial"/>
              </a:defRPr>
            </a:pPr>
            <a:r>
              <a:rPr sz="1275" cap="none">
                <a:latin typeface="Arial"/>
              </a:rPr>
              <a:t>and endpoint selection.</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Keep ownership, roles, labels, ports and lifecycle consistent.</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keeps the resources working together; it does not just generate YAML.</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08E8023-5113-5A9C-8494-14DFEC31E5A7}" type="slidenum">
              <a:rPr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request lifecycle</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sidecar calls remote prefill when needed, then invokes local decode.</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passes calls and KV metadata. The runtimes transfer the actual KV data.</a:t>
            </a:r>
          </a:p>
        </p:txBody>
      </p:sp>
      <p:sp>
        <p:nvSpPr>
          <p:cNvPr id="41" name="TextBox 4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7EAFE44-CF2A-55A1-80B8-E6C294FE352D}" type="slidenum">
              <a:rPr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vLLM</a:t>
            </a:r>
            <a:r>
              <a:rPr cap="none" dirty="0"/>
              <a:t> and NIXL move KV between workers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KV moves between runtimes, 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67512" y="2029967"/>
            <a:ext cx="223113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Prefill builds KV</a:t>
            </a:r>
          </a:p>
          <a:p>
            <a:pPr>
              <a:spcAft>
                <a:spcPts val="500"/>
              </a:spcAft>
              <a:defRPr sz="1700" b="0">
                <a:solidFill>
                  <a:srgbClr val="142C46"/>
                </a:solidFill>
                <a:latin typeface="Arial"/>
              </a:defRPr>
            </a:pPr>
            <a:r>
              <a:rPr cap="none"/>
              <a:t>in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45352" y="2029967"/>
            <a:ext cx="223113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Decode reuses KV</a:t>
            </a:r>
          </a:p>
          <a:p>
            <a:pPr>
              <a:spcAft>
                <a:spcPts val="500"/>
              </a:spcAft>
              <a:defRPr sz="1700" b="0">
                <a:solidFill>
                  <a:srgbClr val="142C46"/>
                </a:solidFill>
                <a:latin typeface="Arial"/>
              </a:defRPr>
            </a:pPr>
            <a:r>
              <a:rPr cap="none"/>
              <a:t>to keep generating.</a:t>
            </a:r>
          </a:p>
        </p:txBody>
      </p:sp>
      <p:sp>
        <p:nvSpPr>
          <p:cNvPr id="10" name="TextBox 9"/>
          <p:cNvSpPr txBox="1"/>
          <p:nvPr/>
        </p:nvSpPr>
        <p:spPr>
          <a:xfrm>
            <a:off x="3310128" y="2176272"/>
            <a:ext cx="2542032" cy="457200"/>
          </a:xfrm>
          <a:prstGeom prst="rect">
            <a:avLst/>
          </a:prstGeom>
          <a:noFill/>
        </p:spPr>
        <p:txBody>
          <a:bodyPr wrap="square" lIns="0" tIns="0" r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tIns="0" rIns="0" bIns="0">
            <a:spAutoFit/>
          </a:bodyPr>
          <a:lstStyle/>
          <a:p>
            <a:pPr>
              <a:spcAft>
                <a:spcPts val="500"/>
              </a:spcAft>
              <a:defRPr sz="1100" b="0">
                <a:solidFill>
                  <a:srgbClr val="52677D"/>
                </a:solidFill>
                <a:latin typeface="Arial"/>
              </a:defRPr>
            </a:pPr>
            <a:r>
              <a:rPr cap="none"/>
              <a:t>NIXL uses a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tIns="0" rIns="0" bIns="0">
            <a:spAutoFit/>
          </a:bodyPr>
          <a:lstStyle/>
          <a:p>
            <a:pPr>
              <a:spcAft>
                <a:spcPts val="500"/>
              </a:spcAft>
              <a:defRPr sz="1400" b="0">
                <a:solidFill>
                  <a:srgbClr val="142C46"/>
                </a:solidFill>
                <a:latin typeface="Arial"/>
              </a:defRPr>
            </a:pPr>
            <a:r>
              <a:rPr cap="none"/>
              <a:t>GPU-direct RDMA needs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062C535-6B0B-59C1-8350-D9EEDE62CC85}" type="slidenum">
              <a:rPr lang="en-US"/>
              <a:t>28</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KV transfer</a:t>
            </a:r>
          </a:p>
        </p:txBody>
      </p:sp>
    </p:spTree>
    <p:extLst>
      <p:ext uri="{BB962C8B-B14F-4D97-AF65-F5344CB8AC3E}">
        <p14:creationId xmlns:p14="http://schemas.microsoft.com/office/powerpoint/2010/main" val="23995013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overview</a:t>
            </a:r>
          </a:p>
        </p:txBody>
      </p:sp>
      <p:sp>
        <p:nvSpPr>
          <p:cNvPr id="3" name="TextBox 2"/>
          <p:cNvSpPr txBox="1"/>
          <p:nvPr/>
        </p:nvSpPr>
        <p:spPr>
          <a:xfrm>
            <a:off x="365760" y="539496"/>
            <a:ext cx="582210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Scale the role that needs more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approach: let prefill and decode make separate capacity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Match signals to each role’s load. Tune thresholds against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dirty="0">
                <a:latin typeface="Arial"/>
              </a:rPr>
              <a:t>Prefill needs to protect</a:t>
            </a:r>
          </a:p>
          <a:p>
            <a:pPr>
              <a:spcAft>
                <a:spcPts val="375"/>
              </a:spcAft>
              <a:defRPr sz="2200" b="0">
                <a:solidFill>
                  <a:srgbClr val="172941"/>
                </a:solidFill>
                <a:latin typeface="Arial"/>
              </a:defRPr>
            </a:pPr>
            <a:r>
              <a:rPr sz="1650" cap="none" dirty="0">
                <a:latin typeface="Arial"/>
              </a:rPr>
              <a:t>time to first token </a:t>
            </a:r>
            <a:r>
              <a:rPr lang="en-US" sz="1650" cap="none" dirty="0">
                <a:latin typeface="Arial"/>
              </a:rPr>
              <a:t>(TTFT)</a:t>
            </a:r>
            <a:r>
              <a:rPr sz="1650" cap="none" dirty="0">
                <a:latin typeface="Arial"/>
              </a:rPr>
              <a:t>.</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Start with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Decode needs to sustain</a:t>
            </a:r>
          </a:p>
          <a:p>
            <a:pPr>
              <a:spcAft>
                <a:spcPts val="375"/>
              </a:spcAft>
              <a:defRPr sz="2200" b="0">
                <a:solidFill>
                  <a:srgbClr val="172941"/>
                </a:solidFill>
                <a:latin typeface="Arial"/>
              </a:defRPr>
            </a:pPr>
            <a:r>
              <a:rPr sz="1650" cap="none">
                <a:latin typeface="Arial"/>
              </a:rPr>
              <a:t>steady token delivery.</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Start with vLLM running requests.</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202DEC2-6049-5BA3-9AA2-F2C508CD9D51}" type="slidenum">
              <a:rPr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Today, KEDA scales an InferenceSet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KAITO documents scheduled scaling and metric-based scaling with KEDA.</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KEDA / HPA sets replicas on the InferenceSet. KAITO adjusts serving resources.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One example watches queues.</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337148B-DEC8-5D32-8406-A5C22C53566C}" type="slidenum">
              <a:rPr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autoscaling: keda-</a:t>
            </a:r>
            <a:r>
              <a:rPr lang="en-US" sz="2100" b="1" cap="none" dirty="0" err="1">
                <a:solidFill>
                  <a:srgbClr val="142C46"/>
                </a:solidFill>
                <a:latin typeface="Arial"/>
              </a:rPr>
              <a:t>kaito</a:t>
            </a:r>
            <a:r>
              <a:rPr lang="en-US" sz="2100" b="1" cap="none" dirty="0">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94235" y="1504419"/>
            <a:ext cx="6382660" cy="3045938"/>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a:bodyPr>
          <a:lstStyle/>
          <a:p>
            <a:r>
              <a:rPr lang="en-US" b="1" cap="none" dirty="0">
                <a:solidFill>
                  <a:srgbClr val="52677D"/>
                </a:solidFill>
                <a:latin typeface="Arial"/>
              </a:rPr>
              <a:t>Read vLLM metrics directly, without Prometheus.</a:t>
            </a:r>
          </a:p>
        </p:txBody>
      </p:sp>
      <p:sp>
        <p:nvSpPr>
          <p:cNvPr id="21" name="How It Works"/>
          <p:cNvSpPr/>
          <p:nvPr/>
        </p:nvSpPr>
        <p:spPr>
          <a:xfrm>
            <a:off x="6347776" y="1504419"/>
            <a:ext cx="2688895" cy="2883619"/>
          </a:xfrm>
          <a:prstGeom prst="roundRect">
            <a:avLst/>
          </a:prstGeom>
          <a:solidFill>
            <a:schemeClr val="bg1">
              <a:lumMod val="95000"/>
            </a:schemeClr>
          </a:solidFill>
          <a:ln w="12700">
            <a:solidFill>
              <a:schemeClr val="accent2"/>
            </a:solidFill>
          </a:ln>
        </p:spPr>
        <p:txBody>
          <a:bodyPr rtlCol="0" anchor="ctr">
            <a:normAutofit/>
          </a:bodyPr>
          <a:lstStyle/>
          <a:p>
            <a:r>
              <a:rPr lang="en-US" b="1" cap="none" dirty="0">
                <a:solidFill>
                  <a:srgbClr val="142C46"/>
                </a:solidFill>
                <a:latin typeface="Arial"/>
              </a:rPr>
              <a:t>What it adds</a:t>
            </a:r>
            <a:br/>
            <a:r>
              <a:rPr cap="none" dirty="0">
                <a:solidFill>
                  <a:srgbClr val="142C46"/>
                </a:solidFill>
                <a:latin typeface="Arial"/>
              </a:rPr>
              <a:t>Read vLLM metrics directly.</a:t>
            </a:r>
            <a:br/>
            <a:r>
              <a:rPr cap="none" dirty="0">
                <a:solidFill>
                  <a:srgbClr val="142C46"/>
                </a:solidFill>
                <a:latin typeface="Arial"/>
              </a:rPr>
              <a:t>Use queue and latency signals.</a:t>
            </a:r>
            <a:br/>
            <a:r>
              <a:rPr cap="none" dirty="0">
                <a:solidFill>
                  <a:srgbClr val="142C46"/>
                </a:solidFill>
                <a:latin typeface="Arial"/>
              </a:rPr>
              <a:t>Take conservative replica steps.</a:t>
            </a:r>
            <a:br/>
            <a:r>
              <a:rPr cap="none" dirty="0">
                <a:solidFill>
                  <a:srgbClr val="142C46"/>
                </a:solidFill>
                <a:latin typeface="Arial"/>
              </a:rPr>
              <a:t>Combine conditions with AND.</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CAF5E7-4DC8-598E-BD3A-4D97034839AB}" type="slidenum">
              <a:rPr lang="en-US"/>
              <a:t>31</a:t>
            </a:fld>
            <a:endParaRPr lang="en-US"/>
          </a:p>
        </p:txBody>
      </p:sp>
      <p:sp>
        <p:nvSpPr>
          <p:cNvPr id="2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KEDA scaler</a:t>
            </a:r>
          </a:p>
        </p:txBody>
      </p:sp>
    </p:spTree>
    <p:extLst>
      <p:ext uri="{BB962C8B-B14F-4D97-AF65-F5344CB8AC3E}">
        <p14:creationId xmlns:p14="http://schemas.microsoft.com/office/powerpoint/2010/main" val="17103403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independent loops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Let prefill and decode scale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design: each role gets its own signal, threshold and replica target.</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Give each target one owner. Allow warm-up time, stabilize changes and scale down safely.</a:t>
            </a:r>
          </a:p>
        </p:txBody>
      </p:sp>
      <p:sp>
        <p:nvSpPr>
          <p:cNvPr id="47" name="TextBox 4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C6F3D18-8EB6-51B5-B5A3-8E4C82745150}" type="slidenum">
              <a:rPr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service can scale its two roles separately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design: set service goals, then give each role its own scaling policy.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Proposed service-to-role policy</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Protect prompt latency.</a:t>
            </a:r>
          </a:p>
          <a:p>
            <a:pPr algn="ctr">
              <a:spcAft>
                <a:spcPts val="375"/>
              </a:spcAft>
              <a:defRPr sz="1400" b="0">
                <a:solidFill>
                  <a:srgbClr val="586A80"/>
                </a:solidFill>
                <a:latin typeface="Arial"/>
              </a:defRPr>
            </a:pPr>
            <a:r>
              <a:rPr sz="1050" cap="none">
                <a:latin typeface="Arial"/>
              </a:rPr>
              <a:t>Keep tokens flowing.</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Set separate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prefill policy.</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decode policy.</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70E9173-506D-50F7-B564-D2BFC63AB0DC}" type="slidenum">
              <a:rPr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loops use valid role metrics—not GPU utilization alone—to decide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Validate signals and limits.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Give each target one owner.</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only 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prefill alone.</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prefill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decode alone.</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decode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8DF736C-6335-5EF1-92B1-3FF1CB399460}" type="slidenum">
              <a:rPr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8036" y="539496"/>
            <a:ext cx="8435340" cy="355482"/>
          </a:xfrm>
          <a:prstGeom prst="rect">
            <a:avLst/>
          </a:prstGeom>
          <a:noFill/>
        </p:spPr>
        <p:txBody>
          <a:bodyPr wrap="square" lIns="10287" tIns="10287" rIns="10287" bIns="10287">
            <a:spAutoFit/>
          </a:bodyPr>
          <a:lstStyle/>
          <a:p>
            <a:pPr>
              <a:spcAft>
                <a:spcPts val="375"/>
              </a:spcAft>
              <a:defRPr sz="2000" b="1">
                <a:solidFill>
                  <a:srgbClr val="172941"/>
                </a:solidFill>
                <a:latin typeface="Arial"/>
              </a:defRPr>
            </a:pPr>
            <a:r>
              <a:rPr sz="2000" dirty="0"/>
              <a:t>Proposed policy: scale prefill and decode separately</a:t>
            </a:r>
          </a:p>
        </p:txBody>
      </p:sp>
      <p:sp>
        <p:nvSpPr>
          <p:cNvPr id="4" name="TextBox 3"/>
          <p:cNvSpPr txBox="1"/>
          <p:nvPr/>
        </p:nvSpPr>
        <p:spPr>
          <a:xfrm>
            <a:off x="333375" y="872019"/>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This is a proposed policy excerpt, not a ready-to-deploy manifest.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The MRI adapter and child opt-in still need integration. These thresholds are examples.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Slide Number"/>
          <p:cNvSpPr>
            <a:spLocks noGrp="1"/>
          </p:cNvSpPr>
          <p:nvPr>
            <p:ph type="sldNum" sz="quarter" idx="12"/>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fld id="{826CDA2B-5A8C-5399-A974-BBF866DEE846}" type="slidenum">
              <a:rPr lang="en-US" sz="675"/>
              <a:t>35</a:t>
            </a:fld>
            <a:endParaRPr lang="en-US" sz="675"/>
          </a:p>
        </p:txBody>
      </p:sp>
      <p:sp>
        <p:nvSpPr>
          <p:cNvPr id="10" name="Rounded Rectangle 9"/>
          <p:cNvSpPr/>
          <p:nvPr/>
        </p:nvSpPr>
        <p:spPr>
          <a:xfrm>
            <a:off x="377190" y="1200531"/>
            <a:ext cx="4251960" cy="3085719"/>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28066" y="1270040"/>
            <a:ext cx="3977640" cy="159274"/>
          </a:xfrm>
          <a:prstGeom prst="rect">
            <a:avLst/>
          </a:prstGeom>
          <a:noFill/>
        </p:spPr>
        <p:txBody>
          <a:bodyPr wrap="square" lIns="10287" tIns="10287" rIns="10287" bIns="10287">
            <a:spAutoFit/>
          </a:bodyPr>
          <a:lstStyle/>
          <a:p>
            <a:pPr>
              <a:spcAft>
                <a:spcPts val="375"/>
              </a:spcAft>
              <a:defRPr sz="1200" b="1">
                <a:solidFill>
                  <a:srgbClr val="2563EB"/>
                </a:solidFill>
                <a:latin typeface="Courier New"/>
              </a:defRPr>
            </a:pPr>
            <a:r>
              <a:rPr sz="900" dirty="0"/>
              <a:t>MRI </a:t>
            </a:r>
            <a:r>
              <a:rPr sz="900" dirty="0" err="1"/>
              <a:t>metadata.annotations</a:t>
            </a:r>
            <a:endParaRPr sz="900" dirty="0"/>
          </a:p>
        </p:txBody>
      </p:sp>
      <p:sp>
        <p:nvSpPr>
          <p:cNvPr id="12" name="TextBox 11"/>
          <p:cNvSpPr txBox="1"/>
          <p:nvPr/>
        </p:nvSpPr>
        <p:spPr>
          <a:xfrm>
            <a:off x="514350" y="1429314"/>
            <a:ext cx="3977640" cy="2446504"/>
          </a:xfrm>
          <a:prstGeom prst="rect">
            <a:avLst/>
          </a:prstGeom>
          <a:noFill/>
        </p:spPr>
        <p:txBody>
          <a:bodyPr wrap="square" lIns="10287" tIns="10287" rIns="10287" bIns="10287">
            <a:spAutoFit/>
          </a:bodyPr>
          <a:lstStyle/>
          <a:p>
            <a:pPr>
              <a:lnSpc>
                <a:spcPts val="915"/>
              </a:lnSpc>
              <a:defRPr sz="1070" b="0">
                <a:solidFill>
                  <a:srgbClr val="172941"/>
                </a:solidFill>
                <a:latin typeface="Courier New"/>
              </a:defRPr>
            </a:pPr>
            <a:r>
              <a:rPr sz="1200" dirty="0"/>
              <a:t>autoscaling.kaito.sh/roles: |</a:t>
            </a:r>
          </a:p>
          <a:p>
            <a:pPr>
              <a:lnSpc>
                <a:spcPts val="915"/>
              </a:lnSpc>
              <a:defRPr sz="1070" b="0">
                <a:solidFill>
                  <a:srgbClr val="172941"/>
                </a:solidFill>
                <a:latin typeface="Courier New"/>
              </a:defRPr>
            </a:pPr>
            <a:r>
              <a:rPr sz="1200" dirty="0"/>
              <a:t>  version: v1alpha1</a:t>
            </a:r>
          </a:p>
          <a:p>
            <a:pPr>
              <a:lnSpc>
                <a:spcPts val="915"/>
              </a:lnSpc>
              <a:defRPr sz="1070" b="0">
                <a:solidFill>
                  <a:srgbClr val="172941"/>
                </a:solidFill>
                <a:latin typeface="Courier New"/>
              </a:defRPr>
            </a:pPr>
            <a:r>
              <a:rPr sz="1200" dirty="0"/>
              <a:t>  roles:</a:t>
            </a:r>
          </a:p>
          <a:p>
            <a:pPr>
              <a:lnSpc>
                <a:spcPts val="915"/>
              </a:lnSpc>
              <a:defRPr sz="1070" b="0">
                <a:solidFill>
                  <a:srgbClr val="172941"/>
                </a:solidFill>
                <a:latin typeface="Courier New"/>
              </a:defRPr>
            </a:pPr>
            <a:r>
              <a:rPr sz="1200" dirty="0"/>
              <a:t>    prefill:</a:t>
            </a:r>
          </a:p>
          <a:p>
            <a:pPr>
              <a:lnSpc>
                <a:spcPts val="915"/>
              </a:lnSpc>
              <a:defRPr sz="1070" b="0">
                <a:solidFill>
                  <a:srgbClr val="172941"/>
                </a:solidFill>
                <a:latin typeface="Courier New"/>
              </a:defRPr>
            </a:pPr>
            <a:r>
              <a:rPr sz="1200" dirty="0"/>
              <a:t>      min-replicas: "1"</a:t>
            </a:r>
          </a:p>
          <a:p>
            <a:pPr>
              <a:lnSpc>
                <a:spcPts val="915"/>
              </a:lnSpc>
              <a:defRPr sz="1070" b="0">
                <a:solidFill>
                  <a:srgbClr val="172941"/>
                </a:solidFill>
                <a:latin typeface="Courier New"/>
              </a:defRPr>
            </a:pPr>
            <a:r>
              <a:rPr sz="1200" dirty="0"/>
              <a:t>      max-replicas: "8"</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rPr>
              <a:t>vllm:num_requests_waiting</a:t>
            </a:r>
            <a:endParaRPr sz="1200" b="1" dirty="0">
              <a:solidFill>
                <a:srgbClr val="00B050"/>
              </a:solidFill>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8</a:t>
            </a:r>
          </a:p>
          <a:p>
            <a:pPr>
              <a:lnSpc>
                <a:spcPts val="915"/>
              </a:lnSpc>
              <a:defRPr sz="1070" b="0">
                <a:solidFill>
                  <a:srgbClr val="172941"/>
                </a:solidFill>
                <a:latin typeface="Courier New"/>
              </a:defRPr>
            </a:pPr>
            <a:r>
              <a:rPr sz="1200" dirty="0"/>
              <a:t>        </a:t>
            </a:r>
            <a:r>
              <a:rPr sz="1200" dirty="0" err="1"/>
              <a:t>downthreshold</a:t>
            </a:r>
            <a:r>
              <a:rPr sz="1200" dirty="0"/>
              <a:t>: 1</a:t>
            </a:r>
          </a:p>
          <a:p>
            <a:pPr>
              <a:lnSpc>
                <a:spcPts val="915"/>
              </a:lnSpc>
              <a:defRPr sz="1070" b="0">
                <a:solidFill>
                  <a:srgbClr val="172941"/>
                </a:solidFill>
                <a:latin typeface="Courier New"/>
              </a:defRPr>
            </a:pPr>
            <a:r>
              <a:rPr sz="1200" dirty="0"/>
              <a:t>    decode:</a:t>
            </a:r>
          </a:p>
          <a:p>
            <a:pPr>
              <a:lnSpc>
                <a:spcPts val="915"/>
              </a:lnSpc>
              <a:defRPr sz="1070" b="0">
                <a:solidFill>
                  <a:srgbClr val="172941"/>
                </a:solidFill>
                <a:latin typeface="Courier New"/>
              </a:defRPr>
            </a:pPr>
            <a:r>
              <a:rPr sz="1200" dirty="0"/>
              <a:t>      min-replicas: "2"</a:t>
            </a:r>
          </a:p>
          <a:p>
            <a:pPr>
              <a:lnSpc>
                <a:spcPts val="915"/>
              </a:lnSpc>
              <a:defRPr sz="1070" b="0">
                <a:solidFill>
                  <a:srgbClr val="172941"/>
                </a:solidFill>
                <a:latin typeface="Courier New"/>
              </a:defRPr>
            </a:pPr>
            <a:r>
              <a:rPr sz="1200" dirty="0"/>
              <a:t>      max-replicas: "16"</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latin typeface="Courier New"/>
              </a:rPr>
              <a:t>vllm:num_requests_running</a:t>
            </a:r>
            <a:endParaRPr sz="1200" b="1" dirty="0">
              <a:solidFill>
                <a:srgbClr val="00B050"/>
              </a:solidFill>
              <a:latin typeface="Courier New"/>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24</a:t>
            </a:r>
          </a:p>
          <a:p>
            <a:pPr>
              <a:lnSpc>
                <a:spcPts val="915"/>
              </a:lnSpc>
              <a:defRPr sz="1070" b="0">
                <a:solidFill>
                  <a:srgbClr val="172941"/>
                </a:solidFill>
                <a:latin typeface="Courier New"/>
              </a:defRPr>
            </a:pPr>
            <a:r>
              <a:rPr sz="1200" dirty="0"/>
              <a:t>        </a:t>
            </a:r>
            <a:r>
              <a:rPr sz="1200" dirty="0" err="1"/>
              <a:t>downthreshold</a:t>
            </a:r>
            <a:r>
              <a:rPr sz="1200" dirty="0"/>
              <a:t>: 4</a:t>
            </a:r>
          </a:p>
        </p:txBody>
      </p:sp>
      <p:sp>
        <p:nvSpPr>
          <p:cNvPr id="13" name="Rounded Rectangle 12"/>
          <p:cNvSpPr/>
          <p:nvPr/>
        </p:nvSpPr>
        <p:spPr>
          <a:xfrm>
            <a:off x="4814316" y="1522476"/>
            <a:ext cx="3950208" cy="106299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951476" y="1618488"/>
            <a:ext cx="3675888" cy="170816"/>
          </a:xfrm>
          <a:prstGeom prst="rect">
            <a:avLst/>
          </a:prstGeom>
          <a:noFill/>
        </p:spPr>
        <p:txBody>
          <a:bodyPr wrap="square" lIns="10287" tIns="10287" rIns="10287" bIns="10287">
            <a:spAutoFit/>
          </a:bodyPr>
          <a:lstStyle/>
          <a:p>
            <a:pPr>
              <a:spcAft>
                <a:spcPts val="375"/>
              </a:spcAft>
              <a:defRPr sz="1300" b="1">
                <a:solidFill>
                  <a:srgbClr val="2563EB"/>
                </a:solidFill>
                <a:latin typeface="Courier New"/>
              </a:defRPr>
            </a:pPr>
            <a:r>
              <a:rPr sz="975"/>
              <a:t>MRI spec.roles (excerpt)</a:t>
            </a:r>
          </a:p>
        </p:txBody>
      </p:sp>
      <p:sp>
        <p:nvSpPr>
          <p:cNvPr id="15" name="TextBox 14"/>
          <p:cNvSpPr txBox="1"/>
          <p:nvPr/>
        </p:nvSpPr>
        <p:spPr>
          <a:xfrm>
            <a:off x="4951476" y="1940814"/>
            <a:ext cx="3675888" cy="636328"/>
          </a:xfrm>
          <a:prstGeom prst="rect">
            <a:avLst/>
          </a:prstGeom>
          <a:noFill/>
        </p:spPr>
        <p:txBody>
          <a:bodyPr wrap="square" lIns="10287" tIns="10287" rIns="10287" bIns="10287">
            <a:spAutoFit/>
          </a:bodyPr>
          <a:lstStyle/>
          <a:p>
            <a:pPr>
              <a:defRPr sz="1200" b="0">
                <a:solidFill>
                  <a:srgbClr val="172941"/>
                </a:solidFill>
                <a:latin typeface="Courier New"/>
              </a:defRPr>
            </a:pPr>
            <a:r>
              <a:rPr sz="1000" dirty="0"/>
              <a:t>- type: prefill</a:t>
            </a:r>
          </a:p>
          <a:p>
            <a:pPr>
              <a:defRPr sz="1200" b="0">
                <a:solidFill>
                  <a:srgbClr val="172941"/>
                </a:solidFill>
                <a:latin typeface="Courier New"/>
              </a:defRPr>
            </a:pPr>
            <a:r>
              <a:rPr sz="1000" dirty="0"/>
              <a:t>  replicas: null</a:t>
            </a:r>
          </a:p>
          <a:p>
            <a:pPr>
              <a:defRPr sz="1200" b="0">
                <a:solidFill>
                  <a:srgbClr val="172941"/>
                </a:solidFill>
                <a:latin typeface="Courier New"/>
              </a:defRPr>
            </a:pPr>
            <a:r>
              <a:rPr sz="1000" dirty="0"/>
              <a:t>- type: decode</a:t>
            </a:r>
          </a:p>
          <a:p>
            <a:pPr>
              <a:defRPr sz="1200" b="0">
                <a:solidFill>
                  <a:srgbClr val="172941"/>
                </a:solidFill>
                <a:latin typeface="Courier New"/>
              </a:defRPr>
            </a:pPr>
            <a:r>
              <a:rPr sz="1000" dirty="0"/>
              <a:t>  replicas: null</a:t>
            </a:r>
          </a:p>
        </p:txBody>
      </p:sp>
      <p:sp>
        <p:nvSpPr>
          <p:cNvPr id="16" name="TextBox 15"/>
          <p:cNvSpPr txBox="1"/>
          <p:nvPr/>
        </p:nvSpPr>
        <p:spPr>
          <a:xfrm>
            <a:off x="4828032" y="2729485"/>
            <a:ext cx="3902202"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a:t>ROLE AVERAGES / START AT P=1, D=2</a:t>
            </a:r>
          </a:p>
        </p:txBody>
      </p:sp>
      <p:sp>
        <p:nvSpPr>
          <p:cNvPr id="17" name="TextBox 16"/>
          <p:cNvSpPr txBox="1"/>
          <p:nvPr/>
        </p:nvSpPr>
        <p:spPr>
          <a:xfrm>
            <a:off x="4828032" y="3079243"/>
            <a:ext cx="3902202"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a:t>Waiting is 12; running is 12.</a:t>
            </a:r>
          </a:p>
          <a:p>
            <a:pPr>
              <a:spcAft>
                <a:spcPts val="375"/>
              </a:spcAft>
              <a:defRPr sz="1700" b="0">
                <a:solidFill>
                  <a:srgbClr val="087F8C"/>
                </a:solidFill>
                <a:latin typeface="Arial"/>
              </a:defRPr>
            </a:pPr>
            <a:r>
              <a:rPr sz="1275"/>
              <a:t>Prefill requests scale-up; decode holds.</a:t>
            </a:r>
          </a:p>
        </p:txBody>
      </p:sp>
      <p:sp>
        <p:nvSpPr>
          <p:cNvPr id="18" name="TextBox 17"/>
          <p:cNvSpPr txBox="1"/>
          <p:nvPr/>
        </p:nvSpPr>
        <p:spPr>
          <a:xfrm>
            <a:off x="4828032" y="3703320"/>
            <a:ext cx="3902202" cy="441403"/>
          </a:xfrm>
          <a:prstGeom prst="rect">
            <a:avLst/>
          </a:prstGeom>
          <a:noFill/>
        </p:spPr>
        <p:txBody>
          <a:bodyPr wrap="square" lIns="10287" tIns="10287" rIns="10287" bIns="10287">
            <a:spAutoFit/>
          </a:bodyPr>
          <a:lstStyle/>
          <a:p>
            <a:pPr>
              <a:spcAft>
                <a:spcPts val="375"/>
              </a:spcAft>
              <a:defRPr sz="1600" b="0">
                <a:solidFill>
                  <a:srgbClr val="7354B8"/>
                </a:solidFill>
                <a:latin typeface="Arial"/>
              </a:defRPr>
            </a:pPr>
            <a:r>
              <a:rPr sz="1200"/>
              <a:t>If running later exceeds 24,</a:t>
            </a:r>
          </a:p>
          <a:p>
            <a:pPr>
              <a:spcAft>
                <a:spcPts val="375"/>
              </a:spcAft>
              <a:defRPr sz="1600" b="0">
                <a:solidFill>
                  <a:srgbClr val="7354B8"/>
                </a:solidFill>
                <a:latin typeface="Arial"/>
              </a:defRPr>
            </a:pPr>
            <a:r>
              <a:rPr sz="1200"/>
              <a:t>decode can scale up on its own.</a:t>
            </a: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example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b="1" cap="none" dirty="0">
                <a:solidFill>
                  <a:srgbClr val="142C46"/>
                </a:solidFill>
                <a:latin typeface="Arial"/>
              </a:rPr>
              <a:t>Use two gauges to scale the two roles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Verify service-to-replica mapping before averaging each role’s 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thresholds are examples. Verify /metrics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43886"/>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800" cap="none" dirty="0">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dirty="0" err="1">
                <a:latin typeface="Arial"/>
              </a:rPr>
              <a:t>vllm:num_requests_waiting</a:t>
            </a:r>
            <a:endParaRPr sz="1500" cap="none" dirty="0">
              <a:latin typeface="Arial"/>
            </a:endParaRP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the prefill engine queue.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43886"/>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800" cap="none" dirty="0">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dirty="0" err="1">
                <a:latin typeface="Arial"/>
              </a:rPr>
              <a:t>vllm:num_requests_running</a:t>
            </a:r>
            <a:endParaRPr sz="1500" cap="none" dirty="0">
              <a:latin typeface="Arial"/>
            </a:endParaRP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active decode requests.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75B330E-544A-5373-A72D-2D5230A988E3}" type="slidenum">
              <a:rPr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Use derived signals to explain the load</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Derive KV usage, latency and throughput. Check queries before use.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Could guard scale-down</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dirty="0">
                <a:latin typeface="Arial"/>
              </a:rPr>
              <a:t>Shows free fraction,</a:t>
            </a:r>
          </a:p>
          <a:p>
            <a:pPr>
              <a:spcAft>
                <a:spcPts val="375"/>
              </a:spcAft>
              <a:defRPr sz="1500" b="0">
                <a:solidFill>
                  <a:srgbClr val="172941"/>
                </a:solidFill>
                <a:latin typeface="Arial"/>
              </a:defRPr>
            </a:pPr>
            <a:r>
              <a:rPr sz="1125" cap="none" dirty="0">
                <a:latin typeface="Arial"/>
              </a:rPr>
              <a:t>not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Shows engine-side TTFT tails.</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Shows output rate;</a:t>
            </a:r>
          </a:p>
          <a:p>
            <a:pPr>
              <a:spcAft>
                <a:spcPts val="375"/>
              </a:spcAft>
              <a:defRPr sz="1500" b="0">
                <a:solidFill>
                  <a:srgbClr val="172941"/>
                </a:solidFill>
                <a:latin typeface="Arial"/>
              </a:defRPr>
            </a:pPr>
            <a:r>
              <a:rPr sz="1125" cap="none">
                <a:latin typeface="Arial"/>
              </a:rPr>
              <a:t>benchmark it.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9DD8370-845C-582D-8657-3333045C93B5}" type="slidenum">
              <a:rPr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5280292"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Where KAITO + </a:t>
            </a:r>
            <a:r>
              <a:rPr sz="2100" b="1" cap="none" dirty="0" err="1">
                <a:solidFill>
                  <a:srgbClr val="142C46"/>
                </a:solidFill>
                <a:latin typeface="Arial"/>
              </a:rPr>
              <a:t>llm</a:t>
            </a:r>
            <a:r>
              <a:rPr sz="2100" b="1" cap="none" dirty="0">
                <a:solidFill>
                  <a:srgbClr val="142C46"/>
                </a:solidFill>
                <a:latin typeface="Arial"/>
              </a:rPr>
              <a:t>-d</a:t>
            </a:r>
            <a:r>
              <a:rPr lang="en-US" sz="2100" b="1" cap="none" dirty="0">
                <a:solidFill>
                  <a:srgbClr val="142C46"/>
                </a:solidFill>
                <a:latin typeface="Arial"/>
              </a:rPr>
              <a:t> </a:t>
            </a:r>
            <a:r>
              <a:rPr sz="2100" b="1" cap="none" dirty="0">
                <a:solidFill>
                  <a:srgbClr val="142C46"/>
                </a:solidFill>
                <a:latin typeface="Arial"/>
              </a:rPr>
              <a:t>goes </a:t>
            </a:r>
            <a:r>
              <a:rPr lang="en-US" altLang="zh-CN" sz="2100" b="1" cap="none" dirty="0">
                <a:solidFill>
                  <a:srgbClr val="142C46"/>
                </a:solidFill>
                <a:latin typeface="Arial"/>
              </a:rPr>
              <a:t>n</a:t>
            </a:r>
            <a:r>
              <a:rPr sz="2100" b="1" cap="none" dirty="0">
                <a:solidFill>
                  <a:srgbClr val="142C46"/>
                </a:solidFill>
                <a:latin typeface="Arial"/>
              </a:rPr>
              <a:t>ex</a:t>
            </a:r>
            <a:r>
              <a:rPr lang="en-US" altLang="zh-CN" sz="2100" b="1" cap="none" dirty="0">
                <a:solidFill>
                  <a:srgbClr val="142C46"/>
                </a:solidFill>
                <a:latin typeface="Arial"/>
              </a:rPr>
              <a:t>t</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Next, explore better cache reuse, more inference roles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are integration directions, not release dates; some capabilities already exist upstream.</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Route using KV cache events.</a:t>
            </a:r>
          </a:p>
          <a:p>
            <a:pPr>
              <a:spcAft>
                <a:spcPts val="375"/>
              </a:spcAft>
              <a:defRPr sz="1700" b="0">
                <a:solidFill>
                  <a:srgbClr val="172941"/>
                </a:solidFill>
                <a:latin typeface="Arial"/>
              </a:defRPr>
            </a:pPr>
            <a:r>
              <a:rPr sz="1275" cap="none">
                <a:latin typeface="Arial"/>
              </a:rPr>
              <a:t>Tier cache across HBM, CPU RAM</a:t>
            </a:r>
          </a:p>
          <a:p>
            <a:pPr>
              <a:spcAft>
                <a:spcPts val="375"/>
              </a:spcAft>
              <a:defRPr sz="1700" b="0">
                <a:solidFill>
                  <a:srgbClr val="172941"/>
                </a:solidFill>
                <a:latin typeface="Arial"/>
              </a:defRPr>
            </a:pPr>
            <a:r>
              <a:t>and optional filesystems.</a:t>
            </a:r>
            <a:endParaRPr sz="1275"/>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Add Encode to Prefill / Decode.</a:t>
            </a:r>
          </a:p>
          <a:p>
            <a:pPr>
              <a:spcAft>
                <a:spcPts val="375"/>
              </a:spcAft>
              <a:defRPr sz="1700" b="0">
                <a:solidFill>
                  <a:srgbClr val="172941"/>
                </a:solidFill>
                <a:latin typeface="Arial"/>
              </a:defRPr>
            </a:pPr>
            <a:r>
              <a:t>Support more inference roles.</a:t>
            </a:r>
            <a:endParaRPr sz="1275"/>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Explore wide expert parallelism.</a:t>
            </a:r>
          </a:p>
          <a:p>
            <a:pPr>
              <a:spcAft>
                <a:spcPts val="375"/>
              </a:spcAft>
              <a:defRPr sz="1700" b="0">
                <a:solidFill>
                  <a:srgbClr val="172941"/>
                </a:solidFill>
                <a:latin typeface="Arial"/>
              </a:defRPr>
            </a:pPr>
            <a:r>
              <a:t>Improve cross-node transport</a:t>
            </a:r>
            <a:endParaRPr sz="1275"/>
          </a:p>
          <a:p>
            <a:pPr>
              <a:spcAft>
                <a:spcPts val="375"/>
              </a:spcAft>
              <a:defRPr sz="1700" b="0">
                <a:solidFill>
                  <a:srgbClr val="172941"/>
                </a:solidFill>
                <a:latin typeface="Arial"/>
              </a:defRPr>
            </a:pPr>
            <a:r>
              <a:rPr sz="1275" cap="none">
                <a:latin typeface="Arial"/>
              </a:rPr>
              <a:t>and communication.</a:t>
            </a:r>
          </a:p>
        </p:txBody>
      </p:sp>
      <p:sp>
        <p:nvSpPr>
          <p:cNvPr id="25" name="TextBox 2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0346B10-A62A-5F92-AEE1-7EB8A137B3F0}" type="slidenum">
              <a:rPr lang="en-US"/>
              <a:t>38</a:t>
            </a:fld>
            <a:endParaRPr lang="en-US"/>
          </a:p>
        </p:txBody>
      </p:sp>
      <p:sp>
        <p:nvSpPr>
          <p:cNvPr id="2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integration roadmap</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dirty="0">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Explore the projects, then try the KAITO + llm-d P/D guide.</a:t>
            </a:r>
          </a:p>
        </p:txBody>
      </p:sp>
      <p:sp>
        <p:nvSpPr>
          <p:cNvPr id="4" name="Rounded Rectangle 3"/>
          <p:cNvSpPr/>
          <p:nvPr/>
        </p:nvSpPr>
        <p:spPr>
          <a:xfrm>
            <a:off x="411480" y="1554480"/>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03504" y="1627632"/>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1965960"/>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3"/>
              </a:rPr>
              <a:t>https://github.com/llm-d</a:t>
            </a:r>
          </a:p>
        </p:txBody>
      </p:sp>
      <p:sp>
        <p:nvSpPr>
          <p:cNvPr id="7" name="Rounded Rectangle 6"/>
          <p:cNvSpPr/>
          <p:nvPr/>
        </p:nvSpPr>
        <p:spPr>
          <a:xfrm>
            <a:off x="411480" y="2350008"/>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3504" y="2423160"/>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761488"/>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4"/>
              </a:rPr>
              <a:t>https://github.com/kaito-project/kaito</a:t>
            </a:r>
          </a:p>
        </p:txBody>
      </p:sp>
      <p:sp>
        <p:nvSpPr>
          <p:cNvPr id="10" name="Rounded Rectangle 9"/>
          <p:cNvSpPr/>
          <p:nvPr/>
        </p:nvSpPr>
        <p:spPr>
          <a:xfrm>
            <a:off x="411480" y="3941063"/>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 y="4014215"/>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4352544"/>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5"/>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D633AFF8-0903-5210-BA25-743C5DEC4FDA}" type="slidenum">
              <a:rPr lang="en-US" sz="800" b="0" cap="none">
                <a:solidFill>
                  <a:srgbClr val="52677D"/>
                </a:solidFill>
                <a:latin typeface="Arial"/>
              </a:rPr>
              <a:t>39</a:t>
            </a:fld>
            <a:endParaRPr lang="en-US" sz="800" b="0" cap="none">
              <a:solidFill>
                <a:srgbClr val="52677D"/>
              </a:solidFill>
              <a:latin typeface="Arial"/>
            </a:endParaRPr>
          </a:p>
        </p:txBody>
      </p:sp>
      <p:sp>
        <p:nvSpPr>
          <p:cNvPr id="15" name="Scaler resource 15"/>
          <p:cNvSpPr/>
          <p:nvPr/>
        </p:nvSpPr>
        <p:spPr>
          <a:xfrm>
            <a:off x="411480" y="3145536"/>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aler resource 16"/>
          <p:cNvSpPr txBox="1"/>
          <p:nvPr/>
        </p:nvSpPr>
        <p:spPr>
          <a:xfrm>
            <a:off x="603504" y="3218688"/>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keda-kaito-scaler</a:t>
            </a:r>
          </a:p>
        </p:txBody>
      </p:sp>
      <p:sp>
        <p:nvSpPr>
          <p:cNvPr id="17" name="Scaler resource 17"/>
          <p:cNvSpPr txBox="1"/>
          <p:nvPr/>
        </p:nvSpPr>
        <p:spPr>
          <a:xfrm>
            <a:off x="603504" y="3557016"/>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6"/>
              </a:rPr>
              <a:t>https://github.com/kaito-project/keda-kaito-scaler</a:t>
            </a:r>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resources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tIns="0" r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384721"/>
          </a:xfrm>
          <a:prstGeom prst="rect">
            <a:avLst/>
          </a:prstGeom>
          <a:noFill/>
        </p:spPr>
        <p:txBody>
          <a:bodyPr wrap="square" lIns="0" tIns="0" rIns="0" bIns="0">
            <a:spAutoFit/>
          </a:bodyPr>
          <a:lstStyle/>
          <a:p>
            <a:pPr>
              <a:spcAft>
                <a:spcPts val="500"/>
              </a:spcAft>
              <a:defRPr sz="2500" b="0">
                <a:solidFill>
                  <a:srgbClr val="346CEC"/>
                </a:solidFill>
                <a:latin typeface="Arial"/>
              </a:defRPr>
            </a:pPr>
            <a:r>
              <a:rPr lang="en-US" cap="none" dirty="0"/>
              <a:t>Q &amp; A</a:t>
            </a:r>
            <a:endParaRPr cap="none" dirty="0"/>
          </a:p>
        </p:txBody>
      </p:sp>
      <p:sp>
        <p:nvSpPr>
          <p:cNvPr id="4" name="TextBox 3"/>
          <p:cNvSpPr txBox="1"/>
          <p:nvPr/>
        </p:nvSpPr>
        <p:spPr>
          <a:xfrm>
            <a:off x="667512" y="3264408"/>
            <a:ext cx="7772400" cy="594360"/>
          </a:xfrm>
          <a:prstGeom prst="rect">
            <a:avLst/>
          </a:prstGeom>
          <a:noFill/>
        </p:spPr>
        <p:txBody>
          <a:bodyPr wrap="square" lIns="0" tIns="0" rIns="0" bIns="0">
            <a:spAutoFit/>
          </a:bodyPr>
          <a:lstStyle/>
          <a:p>
            <a:pPr>
              <a:spcAft>
                <a:spcPts val="500"/>
              </a:spcAft>
              <a:defRPr sz="1700" b="0">
                <a:solidFill>
                  <a:srgbClr val="52677D"/>
                </a:solidFill>
                <a:latin typeface="Arial"/>
              </a:defRPr>
            </a:pPr>
            <a:r>
              <a:rPr cap="none" dirty="0"/>
              <a:t>Andy Zhang  •  Linbo He</a:t>
            </a:r>
          </a:p>
          <a:p>
            <a:pPr>
              <a:spcAft>
                <a:spcPts val="500"/>
              </a:spcAft>
              <a:defRPr sz="1700" b="0">
                <a:solidFill>
                  <a:srgbClr val="52677D"/>
                </a:solidFill>
                <a:latin typeface="Arial"/>
              </a:defRPr>
            </a:pPr>
            <a:r>
              <a:rPr cap="none" dirty="0"/>
              <a:t>Microsoft  |  KAITO + </a:t>
            </a:r>
            <a:r>
              <a:rPr cap="none" dirty="0" err="1"/>
              <a:t>llm</a:t>
            </a:r>
            <a:r>
              <a:rPr cap="none" dirty="0"/>
              <a:t>-d</a:t>
            </a:r>
          </a:p>
        </p:txBody>
      </p:sp>
      <p:sp>
        <p:nvSpPr>
          <p:cNvPr id="5" name="TextBox 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E02EB4C-7898-5CBA-A75B-544C98B72AE1}" type="slidenum">
              <a:rPr lang="en-US"/>
              <a:t>40</a:t>
            </a:fld>
            <a:endParaRPr lang="en-US"/>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Q&amp;A</a:t>
            </a:r>
          </a:p>
        </p:txBody>
      </p:sp>
    </p:spTree>
    <p:extLst>
      <p:ext uri="{BB962C8B-B14F-4D97-AF65-F5344CB8AC3E}">
        <p14:creationId xmlns:p14="http://schemas.microsoft.com/office/powerpoint/2010/main" val="38108620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independent pools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separates prompt processing from generation, with KV transfer between them.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Size prefill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Size decode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Transfer and coordination</a:t>
            </a:r>
          </a:p>
          <a:p>
            <a:pPr algn="ctr">
              <a:spcAft>
                <a:spcPts val="375"/>
              </a:spcAft>
              <a:defRPr sz="1700" b="0">
                <a:solidFill>
                  <a:srgbClr val="586A80"/>
                </a:solidFill>
                <a:latin typeface="Arial"/>
              </a:defRPr>
            </a:pPr>
            <a:r>
              <a:rPr sz="1275" cap="none">
                <a:latin typeface="Arial"/>
              </a:rPr>
              <a:t>add cost.</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89DE900-23AE-5BF8-8C54-374C4C08B548}" type="slidenum">
              <a:rPr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Tune each role for its workload, using per-replica signals and shared safety checks.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policies are examples.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FB163AD-841B-551D-A793-197F41A80D17}" type="slidenum">
              <a:rPr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responsibilities</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KAITO reconciles the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creates resources and manages their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GWIE defines the InferencePool contract.</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connects backends to gateway integration.</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It selects endpoints via EPP.</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makes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BFA6CB5-8150-5BE4-9269-43115AE52D6E}" type="slidenum">
              <a:rPr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Estimate initial memory capacity—not throughput—from the model and GPU memory.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28216"/>
            <a:ext cx="2249424"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room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47288" y="1728216"/>
            <a:ext cx="2249424"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Fit the weights into</a:t>
            </a:r>
          </a:p>
          <a:p>
            <a:pPr>
              <a:spcAft>
                <a:spcPts val="500"/>
              </a:spcAft>
              <a:defRPr sz="1500" b="0">
                <a:solidFill>
                  <a:srgbClr val="142C46"/>
                </a:solidFill>
                <a:latin typeface="Arial"/>
              </a:defRPr>
            </a:pPr>
            <a:r>
              <a:rPr cap="none"/>
              <a:t>usable GPU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18504" y="1728216"/>
            <a:ext cx="2249424"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Divide by GPUs per node.</a:t>
            </a:r>
          </a:p>
          <a:p>
            <a:pPr>
              <a:spcAft>
                <a:spcPts val="500"/>
              </a:spcAft>
              <a:defRPr sz="1500" b="0">
                <a:solidFill>
                  <a:srgbClr val="142C46"/>
                </a:solidFill>
                <a:latin typeface="Arial"/>
              </a:defRPr>
            </a:pPr>
            <a:r>
              <a:rPr cap="none"/>
              <a:t>Round up, then reconcile</a:t>
            </a:r>
          </a:p>
          <a:p>
            <a:pPr>
              <a:spcAft>
                <a:spcPts val="500"/>
              </a:spcAft>
              <a:defRPr sz="1500" b="0">
                <a:solidFill>
                  <a:srgbClr val="142C46"/>
                </a:solidFill>
                <a:latin typeface="Arial"/>
              </a:defRPr>
            </a:pPr>
            <a:r>
              <a:rPr cap="none"/>
              <a:t>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81A79EE-4F0A-5063-A577-E6A601BB1D9D}" type="slidenum">
              <a:rPr lang="en-US"/>
              <a:t>44</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wrap="none" lIns="0" tIns="0" rIns="0" bIns="0">
            <a:normAutofit/>
          </a:bodyPr>
          <a:lstStyle/>
          <a:p>
            <a:pPr lvl="0">
              <a:spcAft>
                <a:spcPts val="400"/>
              </a:spcAft>
              <a:buClr>
                <a:srgbClr val="000000"/>
              </a:buClr>
              <a:buSzPts val="1200"/>
              <a:defRPr/>
            </a:pPr>
            <a:r>
              <a:rPr lang="en" altLang="zh-CN" sz="2100" b="1" cap="none" dirty="0" err="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045892"/>
            <a:ext cx="4512104" cy="1962045"/>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cap="none" dirty="0">
                <a:latin typeface="Arial"/>
                <a:sym typeface="IBM Plex Sans Light"/>
              </a:rPr>
              <a:t>Route prefill and decode separately.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Choose workers dynamically.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Tune each role’s capacity and scheduling.</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Target TTFT and ITL SLOs—</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then measure the handoff cost.</a:t>
            </a:r>
            <a:endParaRPr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E883C4E-6416-56F1-8D7F-29D6D517D45E}" type="slidenum">
              <a:rPr lang="en-US"/>
              <a:t>45</a:t>
            </a:fld>
            <a:endParaRPr lang="en-US"/>
          </a:p>
        </p:txBody>
      </p:sp>
      <p:sp>
        <p:nvSpPr>
          <p:cNvPr id="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 and execution</a:t>
            </a:r>
          </a:p>
        </p:txBody>
      </p:sp>
    </p:spTree>
    <p:extLst>
      <p:ext uri="{BB962C8B-B14F-4D97-AF65-F5344CB8AC3E}">
        <p14:creationId xmlns:p14="http://schemas.microsoft.com/office/powerpoint/2010/main" val="12328865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pod boundary</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The decode sidecar coordinates the request</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One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requests. KV data goes directly to the decode runtime.</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E2AF91C-7097-5D02-9E7A-369A1A37DE7A}" type="slidenum">
              <a:rPr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Ask two questions: do the roles need different capacity, and what does KV transfer cost?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roles need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Separate capacity may help,</a:t>
            </a:r>
          </a:p>
          <a:p>
            <a:pPr>
              <a:spcAft>
                <a:spcPts val="375"/>
              </a:spcAft>
              <a:defRPr sz="1500" b="0">
                <a:solidFill>
                  <a:srgbClr val="172941"/>
                </a:solidFill>
                <a:latin typeface="Arial"/>
              </a:defRPr>
            </a:pPr>
            <a:r>
              <a:rPr sz="1125" cap="none">
                <a:latin typeface="Arial"/>
              </a:rPr>
              <a:t>but transfer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Tune each role separately.</a:t>
            </a:r>
          </a:p>
          <a:p>
            <a:pPr>
              <a:spcAft>
                <a:spcPts val="375"/>
              </a:spcAft>
              <a:defRPr sz="1500" b="0">
                <a:solidFill>
                  <a:srgbClr val="172941"/>
                </a:solidFill>
                <a:latin typeface="Arial"/>
              </a:defRPr>
            </a:pPr>
            <a:r>
              <a:rPr sz="1125" cap="none">
                <a:latin typeface="Arial"/>
              </a:rPr>
              <a:t>Validate at matched SLOs and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Similar roles gain little,</a:t>
            </a:r>
          </a:p>
          <a:p>
            <a:pPr>
              <a:spcAft>
                <a:spcPts val="375"/>
              </a:spcAft>
              <a:defRPr sz="1500" b="0">
                <a:solidFill>
                  <a:srgbClr val="172941"/>
                </a:solidFill>
                <a:latin typeface="Arial"/>
              </a:defRPr>
            </a:pPr>
            <a:r>
              <a:rPr sz="1125" cap="none">
                <a:latin typeface="Arial"/>
              </a:rPr>
              <a:t>while expensive transfer adds cost.</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3448FEC-71FB-543C-9A5C-F0E202744C57}" type="slidenum">
              <a:rPr lang="en-US"/>
              <a:t>47</a:t>
            </a:fld>
            <a:endParaRPr lang="en-US"/>
          </a:p>
        </p:txBody>
      </p:sp>
      <p:sp>
        <p:nvSpPr>
          <p:cNvPr id="2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when to disaggregate</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Separate capacity to protect latency</a:t>
            </a:r>
          </a:p>
        </p:txBody>
      </p:sp>
      <p:sp>
        <p:nvSpPr>
          <p:cNvPr id="7" name="TextBox 6"/>
          <p:cNvSpPr txBox="1"/>
          <p:nvPr/>
        </p:nvSpPr>
        <p:spPr>
          <a:xfrm>
            <a:off x="1133856" y="1993392"/>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Prefill shapes first-token latency; decode shapes ongoing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2606040"/>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Give each layer a clear job</a:t>
            </a:r>
          </a:p>
        </p:txBody>
      </p:sp>
      <p:sp>
        <p:nvSpPr>
          <p:cNvPr id="11" name="TextBox 10"/>
          <p:cNvSpPr txBox="1"/>
          <p:nvPr/>
        </p:nvSpPr>
        <p:spPr>
          <a:xfrm>
            <a:off x="1133856" y="2852928"/>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 y="3465575"/>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Scale each role safely</a:t>
            </a:r>
          </a:p>
        </p:txBody>
      </p:sp>
      <p:sp>
        <p:nvSpPr>
          <p:cNvPr id="15" name="TextBox 14"/>
          <p:cNvSpPr txBox="1"/>
          <p:nvPr/>
        </p:nvSpPr>
        <p:spPr>
          <a:xfrm>
            <a:off x="1133856" y="3712463"/>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Use role signals and safe scale-down; MRI integration still needs work.</a:t>
            </a:r>
          </a:p>
        </p:txBody>
      </p:sp>
      <p:sp>
        <p:nvSpPr>
          <p:cNvPr id="16" name="TextBox 15"/>
          <p:cNvSpPr txBox="1"/>
          <p:nvPr/>
        </p:nvSpPr>
        <p:spPr>
          <a:xfrm>
            <a:off x="521207" y="4279392"/>
            <a:ext cx="8101583" cy="457200"/>
          </a:xfrm>
          <a:prstGeom prst="rect">
            <a:avLst/>
          </a:prstGeom>
          <a:noFill/>
        </p:spPr>
        <p:txBody>
          <a:bodyPr wrap="square" lIns="0" tIns="0" r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600300ED-A470-5611-A9C7-AFAC6DDB14A8}" type="slidenum">
              <a:rPr lang="en-US" sz="800" b="0" cap="none">
                <a:solidFill>
                  <a:srgbClr val="52677D"/>
                </a:solidFill>
                <a:latin typeface="Arial"/>
              </a:rPr>
              <a:t>48</a:t>
            </a:fld>
            <a:endParaRPr lang="en-US" sz="800" b="0" cap="none">
              <a:solidFill>
                <a:srgbClr val="52677D"/>
              </a:solidFill>
              <a:latin typeface="Arial"/>
            </a:endParaRP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key takeaways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Tune explicitly today; aim for simpler defaults next.</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3749039"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Existing scaler settings</a:t>
            </a:r>
          </a:p>
        </p:txBody>
      </p:sp>
      <p:sp>
        <p:nvSpPr>
          <p:cNvPr id="6" name="TextBox 5"/>
          <p:cNvSpPr txBox="1"/>
          <p:nvPr/>
        </p:nvSpPr>
        <p:spPr>
          <a:xfrm>
            <a:off x="576072"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Choose queue and latency metrics.</a:t>
            </a:r>
          </a:p>
          <a:p>
            <a:pPr>
              <a:spcAft>
                <a:spcPts val="500"/>
              </a:spcAft>
              <a:defRPr sz="1500" b="0">
                <a:solidFill>
                  <a:srgbClr val="142C46"/>
                </a:solidFill>
                <a:latin typeface="Arial"/>
              </a:defRPr>
            </a:pPr>
            <a:r>
              <a:rPr cap="none"/>
              <a:t>Set thresholds and time windows.</a:t>
            </a:r>
          </a:p>
          <a:p>
            <a:pPr>
              <a:spcAft>
                <a:spcPts val="500"/>
              </a:spcAft>
              <a:defRPr sz="1500" b="0">
                <a:solidFill>
                  <a:srgbClr val="142C46"/>
                </a:solidFill>
                <a:latin typeface="Arial"/>
              </a:defRPr>
            </a:pPr>
            <a:r>
              <a:rPr cap="none"/>
              <a:t>Set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28031" y="1746504"/>
            <a:ext cx="3749039"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for the model and workload.</a:t>
            </a:r>
          </a:p>
          <a:p>
            <a:pPr>
              <a:spcAft>
                <a:spcPts val="500"/>
              </a:spcAft>
              <a:defRPr sz="1500" b="0">
                <a:solidFill>
                  <a:srgbClr val="142C46"/>
                </a:solidFill>
                <a:latin typeface="Arial"/>
              </a:defRPr>
            </a:pPr>
            <a:r>
              <a:rPr cap="none"/>
              <a:t>This is not shipped auto-tuning.</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Existing InferenceSet scaling is the base; MRI role-policy integration still needs work.</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78AE0C-1FD5-5FB5-86C9-FF2A0BA10B22}" type="slidenum">
              <a:rPr lang="en-US"/>
              <a:t>49</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configuration</a:t>
            </a:r>
          </a:p>
        </p:txBody>
      </p:sp>
    </p:spTree>
    <p:extLst>
      <p:ext uri="{BB962C8B-B14F-4D97-AF65-F5344CB8AC3E}">
        <p14:creationId xmlns:p14="http://schemas.microsoft.com/office/powerpoint/2010/main" val="334493632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Reuse the serving stack and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47088"/>
            <a:ext cx="241401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Run modular components</a:t>
            </a:r>
          </a:p>
          <a:p>
            <a:pPr>
              <a:spcAft>
                <a:spcPts val="500"/>
              </a:spcAft>
              <a:defRPr sz="1500" b="0">
                <a:solidFill>
                  <a:srgbClr val="142C46"/>
                </a:solidFill>
                <a:latin typeface="Arial"/>
              </a:defRPr>
            </a:pPr>
            <a:r>
              <a:rPr cap="none"/>
              <a:t>on Kubernetes.</a:t>
            </a:r>
          </a:p>
          <a:p>
            <a:pPr>
              <a:spcAft>
                <a:spcPts val="500"/>
              </a:spcAft>
              <a:defRPr sz="1500" b="0">
                <a:solidFill>
                  <a:srgbClr val="142C46"/>
                </a:solidFill>
                <a:latin typeface="Arial"/>
              </a:defRPr>
            </a:pPr>
            <a:r>
              <a:rPr cap="none"/>
              <a:t>Keep failure boundaries clear.</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10712" y="1847088"/>
            <a:ext cx="241401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Connect gateways, routing,</a:t>
            </a:r>
          </a:p>
          <a:p>
            <a:pPr>
              <a:spcAft>
                <a:spcPts val="500"/>
              </a:spcAft>
              <a:defRPr sz="1500" b="0">
                <a:solidFill>
                  <a:srgbClr val="142C46"/>
                </a:solidFill>
                <a:latin typeface="Arial"/>
              </a:defRPr>
            </a:pPr>
            <a:r>
              <a:rPr cap="none"/>
              <a:t>runtimes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45352" y="1847088"/>
            <a:ext cx="241401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tested paths.</a:t>
            </a:r>
          </a:p>
          <a:p>
            <a:pPr>
              <a:spcAft>
                <a:spcPts val="500"/>
              </a:spcAft>
              <a:defRPr sz="1500" b="0">
                <a:solidFill>
                  <a:srgbClr val="142C46"/>
                </a:solidFill>
                <a:latin typeface="Arial"/>
              </a:defRPr>
            </a:pPr>
            <a:r>
              <a:rPr cap="none"/>
              <a:t>Weigh the trade-offs.</a:t>
            </a:r>
          </a:p>
          <a:p>
            <a:pPr>
              <a:spcAft>
                <a:spcPts val="500"/>
              </a:spcAft>
              <a:defRPr sz="1500" b="0">
                <a:solidFill>
                  <a:srgbClr val="142C46"/>
                </a:solidFill>
                <a:latin typeface="Arial"/>
              </a:defRPr>
            </a:pPr>
            <a:r>
              <a:rPr cap="none"/>
              <a:t>Tune for your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D3306F0-A800-5FBC-BD9B-6EAD0952F3BA}" type="slidenum">
              <a:rPr lang="en-US"/>
              <a:t>50</a:t>
            </a:fld>
            <a:endParaRPr lang="en-US"/>
          </a:p>
        </p:txBody>
      </p:sp>
      <p:sp>
        <p:nvSpPr>
          <p:cNvPr id="17" name="TextBox 16"/>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12465624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Safe autoscaling needs one writer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These are safety requirements to verify, not guarantees of current MRI integration.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Give each role one replica writer.</a:t>
            </a:r>
          </a:p>
          <a:p>
            <a:pPr>
              <a:spcAft>
                <a:spcPts val="375"/>
              </a:spcAft>
              <a:defRPr sz="1700" b="0">
                <a:solidFill>
                  <a:srgbClr val="172941"/>
                </a:solidFill>
                <a:latin typeface="Arial"/>
              </a:defRPr>
            </a:pPr>
            <a:r>
              <a:rPr sz="1275" cap="none">
                <a:latin typeface="Arial"/>
              </a:rPr>
              <a:t>Do not let autoscalers compete.</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Hold and report on failure.</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Missing or invalid signals must hold decisions and report a problem—not look like zero load.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61E26E7-CEE3-5331-8A9F-38E40821A4F4}" type="slidenum">
              <a:rPr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These are building blocks, 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664207"/>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Run large models with expert parallelism and tuned communication.</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664207"/>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Choose placement, batching and capacity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17520"/>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17520"/>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Guide scaling with workload signals and latency targets.</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Validate your model, hardware, traffic and SLOs. MRI policy integration still needs work.</a:t>
            </a:r>
          </a:p>
        </p:txBody>
      </p:sp>
      <p:sp>
        <p:nvSpPr>
          <p:cNvPr id="18" name="TextBox 1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8975329-D20F-58E0-8E2C-5B0A9B26DC8D}" type="slidenum">
              <a:rPr lang="en-US"/>
              <a:t>52</a:t>
            </a:fld>
            <a:endParaRPr lang="en-US"/>
          </a:p>
        </p:txBody>
      </p:sp>
      <p:sp>
        <p:nvSpPr>
          <p:cNvPr id="2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capabilities</a:t>
            </a:r>
          </a:p>
        </p:txBody>
      </p:sp>
    </p:spTree>
    <p:extLst>
      <p:ext uri="{BB962C8B-B14F-4D97-AF65-F5344CB8AC3E}">
        <p14:creationId xmlns:p14="http://schemas.microsoft.com/office/powerpoint/2010/main" val="104645608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9119</TotalTime>
  <Words>13367</Words>
  <Application>Microsoft Office PowerPoint</Application>
  <PresentationFormat>On-screen Show (16:9)</PresentationFormat>
  <Paragraphs>1300</Paragraphs>
  <Slides>52</Slides>
  <Notes>52</Notes>
  <HiddenSlides>12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52</vt:i4>
      </vt:variant>
    </vt:vector>
  </HeadingPairs>
  <TitlesOfParts>
    <vt:vector size="59" baseType="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a distributed inference stack</vt:lpstr>
      <vt:lpstr>llm-d: capabilities for distributed inference</vt:lpstr>
      <vt:lpstr>PowerPoint Presentation</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KAITO autoscaling: keda-kaito-scaler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connects routing, prefill and decode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310</cp:revision>
  <dcterms:created xsi:type="dcterms:W3CDTF">2019-07-29T21:37:05Z</dcterms:created>
  <dcterms:modified xsi:type="dcterms:W3CDTF">2026-10-27T09:23:00Z</dcterms:modified>
</cp:coreProperties>
</file>