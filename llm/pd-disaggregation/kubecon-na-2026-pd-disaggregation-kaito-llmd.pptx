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5"/>
  </p:notesMasterIdLst>
  <p:sldIdLst>
    <p:sldId id="258" r:id="rId2"/>
    <p:sldId id="260" r:id="rId3"/>
    <p:sldId id="259" r:id="rId4"/>
    <p:sldId id="261" r:id="rId5"/>
    <p:sldId id="2147375730" r:id="rId6"/>
    <p:sldId id="2147375731" r:id="rId7"/>
    <p:sldId id="2147375740" r:id="rId8"/>
    <p:sldId id="2147375733" r:id="rId9"/>
    <p:sldId id="262" r:id="rId10"/>
    <p:sldId id="263" r:id="rId11"/>
    <p:sldId id="264" r:id="rId12"/>
    <p:sldId id="268" r:id="rId13"/>
    <p:sldId id="2147375741"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2" r:id="rId26"/>
    <p:sldId id="2147375723" r:id="rId27"/>
    <p:sldId id="2147375724" r:id="rId28"/>
    <p:sldId id="2147375725" r:id="rId29"/>
    <p:sldId id="277" r:id="rId30"/>
    <p:sldId id="2147375729" r:id="rId31"/>
    <p:sldId id="273" r:id="rId32"/>
    <p:sldId id="279" r:id="rId33"/>
    <p:sldId id="280" r:id="rId34"/>
    <p:sldId id="281" r:id="rId35"/>
    <p:sldId id="287" r:id="rId36"/>
    <p:sldId id="282" r:id="rId37"/>
    <p:sldId id="285" r:id="rId38"/>
    <p:sldId id="301" r:id="rId39"/>
    <p:sldId id="2147375736" r:id="rId40"/>
    <p:sldId id="266" r:id="rId41"/>
    <p:sldId id="265" r:id="rId42"/>
    <p:sldId id="283" r:id="rId43"/>
    <p:sldId id="2147375721" r:id="rId44"/>
    <p:sldId id="295" r:id="rId45"/>
    <p:sldId id="2147375719" r:id="rId46"/>
    <p:sldId id="2147375714" r:id="rId47"/>
    <p:sldId id="2147375726" r:id="rId48"/>
    <p:sldId id="296" r:id="rId49"/>
    <p:sldId id="2147375735" r:id="rId50"/>
    <p:sldId id="275" r:id="rId51"/>
    <p:sldId id="2147375697" r:id="rId52"/>
    <p:sldId id="284" r:id="rId53"/>
    <p:sldId id="2147375700" r:id="rId5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6"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as 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with, let me introduce myself. I am Andy Zhang, </a:t>
            </a:r>
            <a:r>
              <a:rPr lang="en-US" altLang="zh-CN" sz="1200" dirty="0"/>
              <a:t>Software Engineer </a:t>
            </a:r>
            <a:r>
              <a:rPr lang="en-US" sz="1200" dirty="0"/>
              <a:t>at Microsoft AKS team, and </a:t>
            </a:r>
            <a:r>
              <a:rPr lang="en-US" altLang="zh-CN" sz="1200" dirty="0"/>
              <a:t>I </a:t>
            </a:r>
            <a:r>
              <a:rPr lang="en-US" altLang="zh-CN" sz="1200"/>
              <a:t>am the </a:t>
            </a:r>
            <a:r>
              <a:rPr lang="en-US" altLang="zh-CN" sz="1200" dirty="0"/>
              <a:t>maintainer of KAITO and several CSI drivers.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join us because he cannot get his visa in time, so I’ll be presenting alone today.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dirty="0"/>
          </a:p>
          <a:p>
            <a:pPr marL="457200" lvl="0" indent="-298450">
              <a:buClr>
                <a:srgbClr val="000000"/>
              </a:buClr>
              <a:buSzPts val="1100"/>
              <a:buFont typeface="Arial"/>
              <a:buChar char="●"/>
            </a:pPr>
            <a:endParaRPr lang="en-US" sz="1200"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agenda. We’ll start with inference basics, what are the prefill and decode processes, and why it makes sense to separate them. Then, , I will  introduce </a:t>
            </a:r>
            <a:r>
              <a:rPr lang="en-US" altLang="zh-CN" sz="1200" dirty="0" err="1"/>
              <a:t>llm</a:t>
            </a:r>
            <a:r>
              <a:rPr lang="en-US" altLang="zh-CN" sz="1200" dirty="0"/>
              <a:t>-d and KAITO and show how they work together to support P/D disaggregation. Finally, I will explore how to scale prefill and decode independently when traffic changes.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is an example for prefill process. </a:t>
            </a:r>
            <a:r>
              <a:rPr lang="en-US" sz="1200" dirty="0"/>
              <a:t>Our prompt is “What does Kubernetes do?” Assume one token per word, plus punctuation: five prompt positions. These word-level tokens are illustrative, not a real tokenizer’s output.</a:t>
            </a:r>
          </a:p>
          <a:p>
            <a:r>
              <a:rPr lang="en-US" sz="1200" dirty="0"/>
              <a:t>We process prompt positions together; each sees only itself and earlier positions. We cache attention keys and values for all five prompt positions at every layer. </a:t>
            </a:r>
          </a:p>
          <a:p>
            <a:pPr marL="158750" indent="0">
              <a:buNone/>
            </a:pPr>
            <a:r>
              <a:rPr lang="en-US" sz="1200" dirty="0"/>
              <a:t>       </a:t>
            </a:r>
            <a:r>
              <a:rPr lang="en-US" sz="1200" b="1" dirty="0"/>
              <a:t>Prefill process will use the final position’s scores to select “Kubernetes”. And then </a:t>
            </a:r>
            <a:r>
              <a:rPr lang="en-US" sz="1200" b="1" dirty="0" err="1"/>
              <a:t>dDecode</a:t>
            </a:r>
            <a:r>
              <a:rPr lang="en-US" sz="1200" b="1" dirty="0"/>
              <a:t> will consume it and cache its K/V.</a:t>
            </a:r>
          </a:p>
          <a:p>
            <a:endParaRPr lang="en-US" sz="1200" dirty="0"/>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Decode consumes “Kubernetes”, reads past KV, appends K/V for “Kubernetes” to each layer, and selects “helps”. Next, it consumes “helps” and selects “teams”. We cache the token we consume, not the one we just select. We reuse past KV.</a:t>
            </a:r>
          </a:p>
          <a:p>
            <a:r>
              <a:rPr lang="en-US" sz="1200" dirty="0"/>
              <a:t>Each selected token becomes the next input. Repeat until the answer is complete. Below, TTFT is the wait from the request to the first token. ITL is the time between token arrivals.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1" dirty="0"/>
              <a:t>The timeline below switches to the client’s view. The wait from sending the request to receiving ‘Kubernetes’ is time to first token, which is TTFT. The gaps between later arrivals are inter-token latency, which is ITL. They show why starting an answer quickly and keeping it flowing smoothly are two different goals. </a:t>
            </a:r>
            <a:endParaRPr lang="en-US" sz="1200" dirty="0"/>
          </a:p>
          <a:p>
            <a:endParaRPr lang="en-US" sz="1200"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We want answers to start quickly—and keep going smoothly. </a:t>
            </a:r>
          </a:p>
          <a:p>
            <a:pPr>
              <a:spcAft>
                <a:spcPts val="375"/>
              </a:spcAft>
              <a:defRPr sz="1700" b="0">
                <a:solidFill>
                  <a:srgbClr val="586A80"/>
                </a:solidFill>
                <a:latin typeface="Arial"/>
              </a:defRPr>
            </a:pPr>
            <a:r>
              <a:rPr lang="en-US" altLang="zh-CN" sz="1200" dirty="0"/>
              <a:t>Prefill determines </a:t>
            </a:r>
            <a:r>
              <a:rPr lang="en-US" altLang="zh-CN" sz="1200" cap="none" dirty="0">
                <a:latin typeface="Arial"/>
              </a:rPr>
              <a:t>how soon the answer starts, so it determines </a:t>
            </a:r>
            <a:r>
              <a:rPr lang="en-US" altLang="zh-CN" sz="1200" dirty="0"/>
              <a:t>time to first token, TTFT, and </a:t>
            </a:r>
            <a:r>
              <a:rPr lang="en-US" altLang="zh-CN" sz="1200" cap="none" dirty="0">
                <a:latin typeface="Arial"/>
              </a:rPr>
              <a:t>Prefill processes the input and is often compute-bound.</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Decode determines whether the answer keeps flowing, </a:t>
            </a:r>
            <a:r>
              <a:rPr lang="en-US" altLang="zh-CN" sz="1200" cap="none" dirty="0">
                <a:latin typeface="Arial"/>
              </a:rPr>
              <a:t>so it determines </a:t>
            </a:r>
            <a:r>
              <a:rPr lang="en-US" altLang="zh-CN" sz="1200" dirty="0"/>
              <a:t>inter-token, ITL, and decode is often </a:t>
            </a:r>
            <a:r>
              <a:rPr lang="en-US" altLang="zh-CN" sz="1200" b="0" cap="none" dirty="0">
                <a:latin typeface="Arial"/>
              </a:rPr>
              <a:t>memory bandwidth bound</a:t>
            </a:r>
            <a:r>
              <a:rPr lang="en-US" altLang="zh-CN" sz="1200" dirty="0"/>
              <a:t>. Queueing and delivery matter too.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Our goal is to serve more requests while meeting both latency targets. SLO goodput means the number of requests per second that meet both targets.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1" dirty="0"/>
              <a:t>Delete</a:t>
            </a:r>
            <a:r>
              <a:rPr lang="en-US" sz="1200" dirty="0"/>
              <a:t>: If we complete 100 requests per second, but only 70 meet both targets, our SLO goodput is 70 requests per second. </a:t>
            </a:r>
          </a:p>
          <a:p>
            <a:endParaRPr lang="en-US" sz="1200"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A shared pool is simple, but prefill bursts compete with active decoding. </a:t>
            </a:r>
            <a:r>
              <a:rPr lang="en-US" sz="1200" b="1" dirty="0"/>
              <a:t>Every worker handles both phases</a:t>
            </a:r>
            <a:r>
              <a:rPr lang="en-US" sz="1200" b="0" dirty="0"/>
              <a:t>. One deployment scales both phases together.</a:t>
            </a:r>
          </a:p>
          <a:p>
            <a:r>
              <a:rPr lang="en-US" sz="1200" dirty="0"/>
              <a:t>Where is the trade-off? Prompt bursts can disrupt token delivery. Adding a replica adds both phases, even if only one is busy. We must decide how to run each phase and how much shared capacity to add. First, let’s look at that execution conflict.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Long prefills can interrupt token delivery.</a:t>
            </a:r>
          </a:p>
          <a:p>
            <a:pPr marL="457200" lvl="0" indent="-298450">
              <a:buClr>
                <a:srgbClr val="000000"/>
              </a:buClr>
              <a:buSzPts val="1100"/>
              <a:buFont typeface="Arial"/>
              <a:buChar char="●"/>
            </a:pPr>
            <a:r>
              <a:rPr lang="en-US" altLang="zh-CN" sz="1200" dirty="0"/>
              <a:t>In this slide, </a:t>
            </a:r>
            <a:r>
              <a:rPr lang="en-US" sz="1200" dirty="0"/>
              <a:t>D is ongoing decode. P is prefill for a new request. Where should P run? On the shared GPU, prefill can pause decode. On separate GPUs, decode can continue while prefill runs elsewhere. The new request still needs a KV handoff in </a:t>
            </a:r>
            <a:r>
              <a:rPr lang="en-US" altLang="zh-CN" sz="1200" dirty="0"/>
              <a:t>separate GPUs scenario.</a:t>
            </a:r>
            <a:endParaRPr lang="en-US" sz="1200" dirty="0"/>
          </a:p>
          <a:p>
            <a:pPr marL="457200" lvl="0" indent="-298450">
              <a:buClr>
                <a:srgbClr val="000000"/>
              </a:buClr>
              <a:buSzPts val="1100"/>
              <a:buFont typeface="Arial"/>
              <a:buChar char="●"/>
            </a:pPr>
            <a:r>
              <a:rPr lang="en-US" sz="1200" b="1" dirty="0"/>
              <a:t>So </a:t>
            </a:r>
            <a:r>
              <a:rPr lang="en-US" sz="1200" b="0" dirty="0"/>
              <a:t>s</a:t>
            </a:r>
            <a:r>
              <a:rPr lang="en-US" sz="1200" dirty="0"/>
              <a:t>eparate GPUs remove this execution conflict, but not every source of latency. </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Prefill and decode batch different work, </a:t>
            </a:r>
            <a:r>
              <a:rPr lang="en-US" sz="1200" dirty="0"/>
              <a:t>Prefill batches prompt positions; ordinary decode batches independent requests. On the left, prefill processes many input positions in one pass. We can batch positions from multiple prompts, while keeping causal attention.</a:t>
            </a:r>
          </a:p>
          <a:p>
            <a:pPr marL="457200" lvl="0" indent="-298450">
              <a:buClr>
                <a:srgbClr val="000000"/>
              </a:buClr>
              <a:buSzPts val="1100"/>
              <a:buFont typeface="Arial"/>
              <a:buChar char="●"/>
            </a:pPr>
            <a:r>
              <a:rPr lang="en-US" sz="1200" dirty="0"/>
              <a:t>On the right, decode consumes one new token per active request, </a:t>
            </a:r>
            <a:r>
              <a:rPr lang="en-US" sz="1200" b="1" dirty="0"/>
              <a:t>read its past KV cache</a:t>
            </a:r>
            <a:r>
              <a:rPr lang="en-US" sz="1200" dirty="0"/>
              <a:t>, then select its next output token. Prefill gets parallel work from prompt length; decode gets it from active requests. More decode concurrency can raise ITL. Stay within latency and KV-memory budgets.</a:t>
            </a:r>
          </a:p>
          <a:p>
            <a:endParaRPr lang="en-US" sz="1200"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Separate GPU pools let us tune each phase independently. </a:t>
            </a:r>
            <a:r>
              <a:rPr lang="en-US" altLang="zh-CN" sz="1200" dirty="0"/>
              <a:t>The </a:t>
            </a:r>
            <a:r>
              <a:rPr lang="en-US" sz="1200" dirty="0"/>
              <a:t>real benefit is scaling prefill and decode independently to match demand—not simply splitting them into two deployments.</a:t>
            </a:r>
          </a:p>
          <a:p>
            <a:r>
              <a:rPr lang="en-US" sz="1200" dirty="0"/>
              <a:t>Prefill is often compute-bound. Tune its capacity and parallelism for TTFT. On the other hand, decode is often </a:t>
            </a:r>
            <a:r>
              <a:rPr lang="en-US" altLang="zh-CN" sz="1200" cap="none" dirty="0">
                <a:latin typeface="Arial"/>
              </a:rPr>
              <a:t>memory-</a:t>
            </a:r>
            <a:r>
              <a:rPr lang="en-US" sz="1200" dirty="0"/>
              <a:t>bandwidth-bound. Tune its capacity and batching for ITL. </a:t>
            </a:r>
            <a:r>
              <a:rPr lang="en-US" sz="1200" b="1" dirty="0"/>
              <a:t>Different latency targets and resource needs can call for different replicas, tensor parallelism and batching policies</a:t>
            </a:r>
            <a:r>
              <a:rPr lang="en-US" sz="1200" dirty="0"/>
              <a:t>. Split only if the gains outweigh KV transfer, extra weight copies and operating costs.</a:t>
            </a:r>
          </a:p>
          <a:p>
            <a:endParaRPr lang="en-US" sz="1200" dirty="0"/>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The hard part is the Kubernetes wiring to support prefill and decode disaggregation.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200" dirty="0"/>
          </a:p>
          <a:p>
            <a:r>
              <a:rPr lang="en-US" sz="1200" dirty="0"/>
              <a:t>Two pools still have to work together as one model service. The EPP, or Endpoint Picker, picks workers. KV transfer settings must match. The decode-side proxy coordinates requests. We must keep pods ready as replicas change.</a:t>
            </a:r>
          </a:p>
          <a:p>
            <a:r>
              <a:rPr lang="en-US" sz="1200" dirty="0"/>
              <a:t>Routing, KV transfer, labels, ports and readiness must stay in sync, </a:t>
            </a:r>
            <a:r>
              <a:rPr lang="en-US" sz="1200" b="1" dirty="0"/>
              <a:t>even when pods restart or we scale. That is why the hard part is the Kubernetes wiring. Let’s see how existing projects approach it.</a:t>
            </a:r>
          </a:p>
          <a:p>
            <a:endParaRPr lang="en-US" sz="1200" dirty="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dirty="0"/>
              <a:t>So, this slide shows the big picture.</a:t>
            </a:r>
          </a:p>
          <a:p>
            <a:r>
              <a:rPr lang="en-US" dirty="0"/>
              <a:t>Running an LLM takes more than just a model and a GPU. We also need to route requests, manage workloads, and scale when traffic changes.</a:t>
            </a:r>
          </a:p>
          <a:p>
            <a:r>
              <a:rPr lang="en-US" dirty="0"/>
              <a:t>That’s where KAITO and </a:t>
            </a:r>
            <a:r>
              <a:rPr lang="en-US" dirty="0" err="1"/>
              <a:t>llm</a:t>
            </a:r>
            <a:r>
              <a:rPr lang="en-US" dirty="0"/>
              <a:t>-d come in—the orchestration layer in the middle.</a:t>
            </a:r>
          </a:p>
          <a:p>
            <a:r>
              <a:rPr lang="en-US" dirty="0"/>
              <a:t>Below that, </a:t>
            </a:r>
            <a:r>
              <a:rPr lang="en-US" dirty="0" err="1"/>
              <a:t>vLLM</a:t>
            </a:r>
            <a:r>
              <a:rPr lang="en-US" dirty="0"/>
              <a:t> runs the model, and the KV cache helps us reuse work instead of doing it again. Kubernetes provides the infrastructure underneath.</a:t>
            </a:r>
          </a:p>
          <a:p>
            <a:r>
              <a:rPr lang="en-US" dirty="0"/>
              <a:t>We also need things like security and monitoring around the whole system.</a:t>
            </a:r>
          </a:p>
          <a:p>
            <a:r>
              <a:rPr lang="en-US" dirty="0"/>
              <a:t>The main takeaway is simple: all these pieces need to work together.</a:t>
            </a:r>
          </a:p>
          <a:p>
            <a:r>
              <a:rPr lang="en-US" dirty="0"/>
              <a:t>Today, we’ll focus on how KAITO and </a:t>
            </a:r>
            <a:r>
              <a:rPr lang="en-US" dirty="0" err="1"/>
              <a:t>llm</a:t>
            </a:r>
            <a:r>
              <a:rPr lang="en-US" dirty="0"/>
              <a:t>-d help with that. Let’s look at some of the open-source options.</a:t>
            </a:r>
          </a:p>
        </p:txBody>
      </p:sp>
    </p:spTree>
    <p:extLst>
      <p:ext uri="{BB962C8B-B14F-4D97-AF65-F5344CB8AC3E}">
        <p14:creationId xmlns:p14="http://schemas.microsoft.com/office/powerpoint/2010/main" val="4177393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Open-source P/D has several paths, not one winner. </a:t>
            </a:r>
            <a:r>
              <a:rPr lang="zh-CN" altLang="zh-CN" sz="1100" b="0" i="0" u="none" strike="noStrike" cap="none" spc="0" dirty="0">
                <a:solidFill>
                  <a:srgbClr val="000000"/>
                </a:solidFill>
                <a:effectLst/>
                <a:latin typeface="Arial"/>
                <a:ea typeface="Arial"/>
                <a:cs typeface="Arial"/>
                <a:sym typeface="Arial"/>
              </a:rPr>
              <a:t>The following table presents examples, not a ranking. Some approaches can be used together.</a:t>
            </a:r>
            <a:endParaRPr lang="en-US" altLang="zh-CN" sz="1100" b="0" i="0" u="none" strike="noStrike" cap="none" spc="0" dirty="0">
              <a:solidFill>
                <a:srgbClr val="000000"/>
              </a:solidFill>
              <a:effectLst/>
              <a:latin typeface="Arial"/>
              <a:ea typeface="Arial"/>
              <a:cs typeface="Arial"/>
              <a:sym typeface="Arial"/>
            </a:endParaRPr>
          </a:p>
          <a:p>
            <a:r>
              <a:rPr lang="en-US" sz="1200" dirty="0"/>
              <a:t>The middle column shows the serving and routing path; the right column shows what users configure in Kubernetes. Dynamo, </a:t>
            </a:r>
            <a:r>
              <a:rPr lang="en-US" sz="1200" dirty="0" err="1"/>
              <a:t>llm</a:t>
            </a:r>
            <a:r>
              <a:rPr lang="en-US" sz="1200" dirty="0"/>
              <a:t>-d, </a:t>
            </a:r>
            <a:r>
              <a:rPr lang="en-US" sz="1200" dirty="0" err="1"/>
              <a:t>AIBrix</a:t>
            </a:r>
            <a:r>
              <a:rPr lang="en-US" sz="1200" dirty="0"/>
              <a:t>, </a:t>
            </a:r>
            <a:r>
              <a:rPr lang="en-US" sz="1200" dirty="0" err="1"/>
              <a:t>KServe</a:t>
            </a:r>
            <a:r>
              <a:rPr lang="en-US" sz="1200" dirty="0"/>
              <a:t>, Ray Serve and </a:t>
            </a:r>
            <a:r>
              <a:rPr lang="en-US" sz="1200" dirty="0" err="1"/>
              <a:t>vLLM</a:t>
            </a:r>
            <a:r>
              <a:rPr lang="en-US" sz="1200" dirty="0"/>
              <a:t> Production Stack offer different combinations. </a:t>
            </a:r>
            <a:r>
              <a:rPr lang="en-US" sz="1200" b="1" dirty="0"/>
              <a:t>Declarative APIs already exist</a:t>
            </a:r>
            <a:r>
              <a:rPr lang="en-US" sz="1200" dirty="0"/>
              <a:t>. P/D deployment options already exist. KAITO aims to make them easier to use. </a:t>
            </a:r>
            <a:r>
              <a:rPr lang="en-US" sz="1200" b="1" dirty="0"/>
              <a:t>For KAITO users, that means less manual configuration to maintain. Let’s start with </a:t>
            </a:r>
            <a:r>
              <a:rPr lang="en-US" sz="1200" b="1" dirty="0" err="1"/>
              <a:t>llm</a:t>
            </a:r>
            <a:r>
              <a:rPr lang="en-US" sz="1200" b="1" dirty="0"/>
              <a:t>-d.</a:t>
            </a:r>
          </a:p>
          <a:p>
            <a:endParaRPr lang="en-US" sz="1200"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200" b="0" i="0" u="none" strike="noStrike" cap="none" dirty="0">
                <a:solidFill>
                  <a:srgbClr val="000000"/>
                </a:solidFill>
                <a:effectLst/>
                <a:latin typeface="Arial"/>
                <a:ea typeface="Arial"/>
                <a:cs typeface="Arial"/>
                <a:sym typeface="Arial"/>
              </a:rPr>
              <a:t>llm-d is a Kubernetes-native framework for high-performance distributed inference. </a:t>
            </a:r>
            <a:r>
              <a:rPr lang="en-US" altLang="zh-CN" sz="1200" dirty="0"/>
              <a:t>It joined the CNCF Sandbox in March 2026. </a:t>
            </a:r>
            <a:r>
              <a:rPr lang="zh-CN" altLang="zh-CN" sz="1200" b="1" i="0" u="none" strike="noStrike" cap="none" dirty="0">
                <a:solidFill>
                  <a:srgbClr val="000000"/>
                </a:solidFill>
                <a:effectLst/>
                <a:latin typeface="Arial"/>
                <a:ea typeface="Arial"/>
                <a:cs typeface="Arial"/>
                <a:sym typeface="Arial"/>
              </a:rPr>
              <a:t>It does not replace vLLM, gateways, or storage systems; it composes them</a:t>
            </a:r>
            <a:r>
              <a:rPr lang="zh-CN" altLang="zh-CN" sz="1200" b="0" i="0" u="none" strike="noStrike" cap="none" dirty="0">
                <a:solidFill>
                  <a:srgbClr val="000000"/>
                </a:solidFill>
                <a:effectLst/>
                <a:latin typeface="Arial"/>
                <a:ea typeface="Arial"/>
                <a:cs typeface="Arial"/>
                <a:sym typeface="Arial"/>
              </a:rPr>
              <a:t>. </a:t>
            </a:r>
            <a:r>
              <a:rPr lang="zh-CN" altLang="zh-CN" sz="1200" b="1" i="0" u="none" strike="noStrike" cap="none" dirty="0">
                <a:solidFill>
                  <a:srgbClr val="000000"/>
                </a:solidFill>
                <a:effectLst/>
                <a:latin typeface="Arial"/>
                <a:ea typeface="Arial"/>
                <a:cs typeface="Arial"/>
                <a:sym typeface="Arial"/>
              </a:rPr>
              <a:t>Its value is organized</a:t>
            </a:r>
            <a:r>
              <a:rPr lang="en-US" altLang="zh-CN" sz="1200" b="1" i="0" u="none" strike="noStrike" cap="none" dirty="0">
                <a:solidFill>
                  <a:srgbClr val="000000"/>
                </a:solidFill>
                <a:effectLst/>
                <a:latin typeface="Arial"/>
                <a:ea typeface="Arial"/>
                <a:cs typeface="Arial"/>
                <a:sym typeface="Arial"/>
              </a:rPr>
              <a:t> into </a:t>
            </a:r>
            <a:r>
              <a:rPr lang="zh-CN" altLang="zh-CN" sz="1200" b="1" i="0" u="none" strike="noStrike" cap="none" dirty="0">
                <a:solidFill>
                  <a:srgbClr val="000000"/>
                </a:solidFill>
                <a:effectLst/>
                <a:latin typeface="Arial"/>
                <a:ea typeface="Arial"/>
                <a:cs typeface="Arial"/>
                <a:sym typeface="Arial"/>
              </a:rPr>
              <a:t>three ideas</a:t>
            </a:r>
            <a:r>
              <a:rPr lang="zh-CN" altLang="zh-CN" sz="1200" b="0" i="0" u="none" strike="noStrike" cap="none" dirty="0">
                <a:solidFill>
                  <a:srgbClr val="000000"/>
                </a:solidFill>
                <a:effectLst/>
                <a:latin typeface="Arial"/>
                <a:ea typeface="Arial"/>
                <a:cs typeface="Arial"/>
                <a:sym typeface="Arial"/>
              </a:rPr>
              <a:t>:</a:t>
            </a:r>
            <a:r>
              <a:rPr lang="en-US" altLang="zh-CN" sz="1200" b="0" i="0" u="none" strike="noStrike" cap="none" dirty="0">
                <a:solidFill>
                  <a:srgbClr val="000000"/>
                </a:solidFill>
                <a:effectLst/>
                <a:latin typeface="Arial"/>
                <a:ea typeface="Arial"/>
                <a:cs typeface="Arial"/>
                <a:sym typeface="Arial"/>
              </a:rPr>
              <a:t> first </a:t>
            </a:r>
            <a:r>
              <a:rPr lang="en-US" altLang="zh-CN" sz="1200" b="0" dirty="0">
                <a:solidFill>
                  <a:srgbClr val="346CEC"/>
                </a:solidFill>
                <a:latin typeface="Arial"/>
              </a:rPr>
              <a:t>modular architecture: </a:t>
            </a:r>
            <a:r>
              <a:rPr lang="en-US" altLang="zh-CN" sz="1200" b="0" dirty="0">
                <a:solidFill>
                  <a:srgbClr val="142C46"/>
                </a:solidFill>
                <a:latin typeface="Arial"/>
              </a:rPr>
              <a:t>Gateway API connects inference routing to Kubernetes, second, </a:t>
            </a:r>
            <a:r>
              <a:rPr lang="en-US" altLang="zh-CN" sz="1200" b="0" dirty="0">
                <a:solidFill>
                  <a:srgbClr val="346CEC"/>
                </a:solidFill>
                <a:latin typeface="Arial"/>
              </a:rPr>
              <a:t>Extensible components: </a:t>
            </a:r>
            <a:r>
              <a:rPr lang="en-US" altLang="zh-CN" sz="1200" b="0" dirty="0">
                <a:solidFill>
                  <a:srgbClr val="142C46"/>
                </a:solidFill>
                <a:latin typeface="Arial"/>
              </a:rPr>
              <a:t>combine runtimes, routing plugins and KV transport,</a:t>
            </a:r>
            <a:r>
              <a:rPr lang="zh-CN" altLang="en-US" sz="1200" b="0" dirty="0">
                <a:solidFill>
                  <a:srgbClr val="142C46"/>
                </a:solidFill>
                <a:latin typeface="Arial"/>
              </a:rPr>
              <a:t> </a:t>
            </a:r>
            <a:r>
              <a:rPr lang="en-US" altLang="zh-CN" sz="1200" b="0" dirty="0">
                <a:solidFill>
                  <a:srgbClr val="142C46"/>
                </a:solidFill>
                <a:latin typeface="Arial"/>
              </a:rPr>
              <a:t>third, </a:t>
            </a:r>
            <a:r>
              <a:rPr lang="en-US" altLang="zh-CN" sz="1200" b="0" dirty="0">
                <a:solidFill>
                  <a:srgbClr val="346CEC"/>
                </a:solidFill>
                <a:latin typeface="Arial"/>
              </a:rPr>
              <a:t>Well-lit paths, there are </a:t>
            </a:r>
            <a:r>
              <a:rPr lang="en-US" altLang="zh-CN" sz="1200" b="0" dirty="0">
                <a:solidFill>
                  <a:srgbClr val="142C46"/>
                </a:solidFill>
                <a:latin typeface="Arial"/>
              </a:rPr>
              <a:t>tested deployment patterns make trade-offs clear.</a:t>
            </a:r>
          </a:p>
          <a:p>
            <a:endParaRPr lang="en-US" sz="1200" dirty="0"/>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These are reusable capabilities, not a performance guarantee. We build on the serving runtime, not replace it. And we combine reusable </a:t>
            </a:r>
            <a:r>
              <a:rPr lang="en-US" altLang="zh-CN" sz="1200" b="0" dirty="0" err="1">
                <a:solidFill>
                  <a:srgbClr val="142C46"/>
                </a:solidFill>
                <a:latin typeface="Arial"/>
              </a:rPr>
              <a:t>llm</a:t>
            </a:r>
            <a:r>
              <a:rPr lang="en-US" altLang="zh-CN" sz="1200" b="0" dirty="0">
                <a:solidFill>
                  <a:srgbClr val="142C46"/>
                </a:solidFill>
                <a:latin typeface="Arial"/>
              </a:rPr>
              <a:t>-d </a:t>
            </a:r>
            <a:r>
              <a:rPr lang="en-US" sz="1200" dirty="0"/>
              <a:t>components, </a:t>
            </a:r>
            <a:r>
              <a:rPr lang="en-US" altLang="zh-CN" sz="1200" b="0" dirty="0">
                <a:solidFill>
                  <a:srgbClr val="142C46"/>
                </a:solidFill>
                <a:latin typeface="Arial"/>
              </a:rPr>
              <a:t>Deployment paths explain the trade-offs.</a:t>
            </a: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There are mainly </a:t>
            </a:r>
            <a:r>
              <a:rPr lang="en-US" altLang="zh-CN" sz="1200" b="0" dirty="0">
                <a:solidFill>
                  <a:srgbClr val="087F8C"/>
                </a:solidFill>
                <a:latin typeface="Arial"/>
              </a:rPr>
              <a:t>four areas of capability for </a:t>
            </a:r>
            <a:r>
              <a:rPr lang="en-US" altLang="zh-CN" sz="1200" b="0" dirty="0" err="1">
                <a:solidFill>
                  <a:srgbClr val="087F8C"/>
                </a:solidFill>
                <a:latin typeface="Arial"/>
              </a:rPr>
              <a:t>llm</a:t>
            </a:r>
            <a:r>
              <a:rPr lang="en-US" altLang="zh-CN" sz="1200" b="0" dirty="0">
                <a:solidFill>
                  <a:srgbClr val="087F8C"/>
                </a:solidFill>
                <a:latin typeface="Arial"/>
              </a:rPr>
              <a:t>-d projects:</a:t>
            </a:r>
            <a:endParaRPr lang="en-US" sz="1200" b="0" dirty="0"/>
          </a:p>
          <a:p>
            <a:pPr>
              <a:lnSpc>
                <a:spcPct val="108000"/>
              </a:lnSpc>
              <a:spcAft>
                <a:spcPts val="500"/>
              </a:spcAft>
              <a:defRPr sz="1050" b="0">
                <a:solidFill>
                  <a:srgbClr val="142C46"/>
                </a:solidFill>
                <a:latin typeface="Arial"/>
              </a:defRPr>
            </a:pPr>
            <a:r>
              <a:rPr lang="en-US" sz="1200" dirty="0"/>
              <a:t>first: </a:t>
            </a:r>
            <a:r>
              <a:rPr lang="en-US" altLang="zh-CN" sz="1400" b="0" dirty="0">
                <a:solidFill>
                  <a:srgbClr val="346CEC"/>
                </a:solidFill>
              </a:rPr>
              <a:t>State-of-the-art </a:t>
            </a:r>
            <a:r>
              <a:rPr lang="en-US" altLang="zh-CN" sz="1400" b="0" dirty="0" err="1">
                <a:solidFill>
                  <a:srgbClr val="346CEC"/>
                </a:solidFill>
                <a:latin typeface="Arial"/>
              </a:rPr>
              <a:t>MoE</a:t>
            </a:r>
            <a:r>
              <a:rPr lang="en-US" altLang="zh-CN" sz="1400" b="0" dirty="0">
                <a:solidFill>
                  <a:srgbClr val="346CEC"/>
                </a:solidFill>
                <a:latin typeface="Arial"/>
              </a:rPr>
              <a:t> serving, </a:t>
            </a:r>
            <a:r>
              <a:rPr lang="en-US" altLang="zh-CN" sz="1400" b="1" dirty="0">
                <a:solidFill>
                  <a:srgbClr val="346CEC"/>
                </a:solidFill>
                <a:latin typeface="Arial"/>
              </a:rPr>
              <a:t>Here, </a:t>
            </a:r>
            <a:r>
              <a:rPr lang="en-US" altLang="zh-CN" sz="1400" b="1" dirty="0" err="1">
                <a:solidFill>
                  <a:srgbClr val="346CEC"/>
                </a:solidFill>
                <a:latin typeface="Arial"/>
              </a:rPr>
              <a:t>MoE</a:t>
            </a:r>
            <a:r>
              <a:rPr lang="en-US" altLang="zh-CN" sz="1400" b="1" dirty="0">
                <a:solidFill>
                  <a:srgbClr val="346CEC"/>
                </a:solidFill>
                <a:latin typeface="Arial"/>
              </a:rPr>
              <a:t> stands for Mixture of Experts, which is widely used in mainstream LLMs. </a:t>
            </a:r>
            <a:r>
              <a:rPr lang="en-US" altLang="zh-CN" sz="1200" b="0" dirty="0">
                <a:solidFill>
                  <a:srgbClr val="142C46"/>
                </a:solidFill>
                <a:latin typeface="Arial"/>
              </a:rPr>
              <a:t>Expert parallelism spreads expert computation across GPUs, second, p</a:t>
            </a:r>
            <a:r>
              <a:rPr lang="en-US" altLang="zh-CN" sz="1400" b="0" dirty="0">
                <a:solidFill>
                  <a:srgbClr val="346CEC"/>
                </a:solidFill>
                <a:latin typeface="Arial"/>
              </a:rPr>
              <a:t>refill/decode disaggregation, w</a:t>
            </a:r>
            <a:r>
              <a:rPr lang="en-US" altLang="zh-CN" sz="1200" b="0" dirty="0">
                <a:solidFill>
                  <a:srgbClr val="142C46"/>
                </a:solidFill>
                <a:latin typeface="Arial"/>
              </a:rPr>
              <a:t>e separate the phases and transfer KV between roles. Third, </a:t>
            </a:r>
            <a:r>
              <a:rPr lang="en-US" altLang="zh-CN" sz="1400" b="0" dirty="0">
                <a:solidFill>
                  <a:srgbClr val="346CEC"/>
                </a:solidFill>
                <a:latin typeface="Arial"/>
              </a:rPr>
              <a:t>State-aware scheduling: </a:t>
            </a:r>
            <a:r>
              <a:rPr lang="en-US" altLang="zh-CN" sz="1200" b="0" dirty="0">
                <a:solidFill>
                  <a:srgbClr val="142C46"/>
                </a:solidFill>
                <a:latin typeface="Arial"/>
              </a:rPr>
              <a:t>Routing plugins use cache and load signals to pick workers. Last is a</a:t>
            </a:r>
            <a:r>
              <a:rPr lang="en-US" altLang="zh-CN" sz="1400" b="0" dirty="0">
                <a:solidFill>
                  <a:srgbClr val="346CEC"/>
                </a:solidFill>
                <a:latin typeface="Arial"/>
              </a:rPr>
              <a:t>utoscaling architecture: w</a:t>
            </a:r>
            <a:r>
              <a:rPr lang="en-US" altLang="zh-CN" sz="1200" b="0" dirty="0">
                <a:solidFill>
                  <a:srgbClr val="142C46"/>
                </a:solidFill>
                <a:latin typeface="Arial"/>
              </a:rPr>
              <a:t>orkload signals and SLOs guide capacity; each integration chooses its policy.</a:t>
            </a:r>
          </a:p>
          <a:p>
            <a:endParaRPr lang="en-US" sz="1200"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llm-d calls these “well-lit paths”—tested ways to deploy, with clear guidance on what works well and what the limitations are.</a:t>
            </a:r>
            <a:endParaRPr lang="en-US" altLang="zh-CN" sz="1100" b="0" i="0" u="none" strike="noStrike" cap="none" spc="0"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Intelligent scheduling determines where should this request run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KV cache management determines where should reusable state live?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Wide expert parallelism determines how should a large </a:t>
            </a:r>
            <a:r>
              <a:rPr lang="en-US" altLang="zh-CN" sz="1200" cap="none" dirty="0" err="1"/>
              <a:t>MoE</a:t>
            </a:r>
            <a:r>
              <a:rPr lang="en-US" altLang="zh-CN" sz="1200" cap="none" dirty="0"/>
              <a:t> model run across GPUs?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P/D disaggregation determines how should prompt and generation capacity differ?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1" dirty="0"/>
              <a:t>These paths can work together, but we don’t need all of them at once. Results depend on the hardware. Today, we’ll focus on P/D disaggregation and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pPr marL="457200" lvl="0" indent="-298450">
              <a:buClr>
                <a:srgbClr val="000000"/>
              </a:buClr>
              <a:buSzPts val="1100"/>
              <a:buFont typeface="Arial"/>
              <a:buChar char="●"/>
            </a:pPr>
            <a:r>
              <a:rPr lang="en-US" sz="1200" dirty="0"/>
              <a:t>Next, what is KAITO, </a:t>
            </a:r>
            <a:r>
              <a:rPr lang="en-US" altLang="zh-CN" sz="1200" dirty="0"/>
              <a:t>KAITO is</a:t>
            </a:r>
            <a:r>
              <a:rPr lang="en-US" sz="1200" dirty="0"/>
              <a:t> a </a:t>
            </a:r>
            <a:r>
              <a:rPr lang="en-US" altLang="zh-CN" sz="1200" b="0" dirty="0">
                <a:solidFill>
                  <a:srgbClr val="142C46"/>
                </a:solidFill>
                <a:latin typeface="Arial"/>
              </a:rPr>
              <a:t>Kubernetes AI Toolchain Operator, which </a:t>
            </a:r>
            <a:r>
              <a:rPr lang="en-US" sz="1200" dirty="0"/>
              <a:t>automates LLM inference, fine-tuning and RAG with Kubernetes operators. It is also a CNCF Sandbox project.</a:t>
            </a:r>
          </a:p>
          <a:p>
            <a:r>
              <a:rPr lang="en-US" altLang="zh-CN" sz="1200" cap="none" dirty="0">
                <a:solidFill>
                  <a:srgbClr val="142C46"/>
                </a:solidFill>
                <a:latin typeface="Arial"/>
              </a:rPr>
              <a:t>With KAITO, you only need to specify a model name and GPU VM SKU. KAITO sizes the nodes to fit the model’s memory requirements, handles model setup and caching, manages inference workloads and rolling updates on Kubernetes, and uses KEDA to automatically scale workloads.</a:t>
            </a:r>
          </a:p>
          <a:p>
            <a:endParaRPr lang="en-US" sz="1200" dirty="0"/>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dirty="0"/>
              <a:t>Here is a KAITO </a:t>
            </a:r>
            <a:r>
              <a:rPr lang="en-US" altLang="zh-CN" sz="800" b="0" dirty="0">
                <a:solidFill>
                  <a:srgbClr val="346CEC"/>
                </a:solidFill>
                <a:latin typeface="Arial"/>
              </a:rPr>
              <a:t>inference workload example, user only needs to </a:t>
            </a:r>
            <a:r>
              <a:rPr lang="en-US" altLang="zh-CN" sz="800" b="0" cap="none" dirty="0">
                <a:solidFill>
                  <a:srgbClr val="52677D"/>
                </a:solidFill>
                <a:latin typeface="Arial"/>
              </a:rPr>
              <a:t>Specify the model name, GPU instance type and replica count.</a:t>
            </a:r>
          </a:p>
          <a:p>
            <a:pPr marL="457200" lvl="0" indent="-298450">
              <a:buClr>
                <a:srgbClr val="000000"/>
              </a:buClr>
              <a:buSzPts val="1100"/>
              <a:buFont typeface="Arial"/>
              <a:buChar char="●"/>
            </a:pPr>
            <a:r>
              <a:rPr lang="en-US" altLang="zh-CN" sz="800" b="0" cap="none" dirty="0">
                <a:solidFill>
                  <a:srgbClr val="52677D"/>
                </a:solidFill>
                <a:latin typeface="Arial"/>
              </a:rPr>
              <a:t>In this example, user specifies a qwen3 model name which is a </a:t>
            </a:r>
            <a:r>
              <a:rPr lang="en-US" altLang="zh-CN" sz="800" b="0" cap="none" dirty="0" err="1">
                <a:solidFill>
                  <a:srgbClr val="52677D"/>
                </a:solidFill>
                <a:latin typeface="Arial"/>
              </a:rPr>
              <a:t>huggingface</a:t>
            </a:r>
            <a:r>
              <a:rPr lang="en-US" altLang="zh-CN" sz="800" b="0" cap="none" dirty="0">
                <a:solidFill>
                  <a:srgbClr val="52677D"/>
                </a:solidFill>
                <a:latin typeface="Arial"/>
              </a:rPr>
              <a:t> model id and specifies A100 GPU instance type with 3 replicas, </a:t>
            </a:r>
            <a:r>
              <a:rPr lang="en-US" altLang="zh-CN" sz="800" b="1" dirty="0"/>
              <a:t>three replicas does not necessarily mean three GPUs; each replica’s GPU and node needs depend on the model and runtime settings. </a:t>
            </a:r>
            <a:endParaRPr lang="en-US" altLang="zh-CN" sz="800" b="1" cap="none" dirty="0">
              <a:solidFill>
                <a:srgbClr val="52677D"/>
              </a:solidFill>
              <a:latin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800" b="1" cap="none" dirty="0">
                <a:solidFill>
                  <a:srgbClr val="52677D"/>
                </a:solidFill>
                <a:latin typeface="Arial"/>
              </a:rPr>
              <a:t>KAITO does all the rest of work, like provisioning the required GPU nodes </a:t>
            </a:r>
            <a:r>
              <a:rPr lang="en-US" altLang="zh-CN" sz="800" b="1" cap="none" dirty="0">
                <a:solidFill>
                  <a:srgbClr val="142C46"/>
                </a:solidFill>
                <a:latin typeface="Arial"/>
              </a:rPr>
              <a:t>to fit the model’s memory requirements, handles model setup and caching, manages inference workloads and rolling updates on Kubernetes, and uses KEDA to automatically scale workloads.</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b="1" dirty="0"/>
              <a:t>This slide shows how does the KAITO do the math.</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User </a:t>
            </a:r>
            <a:r>
              <a:rPr lang="en-US" altLang="zh-CN" sz="1200" b="0" dirty="0">
                <a:solidFill>
                  <a:schemeClr val="accent2">
                    <a:lumMod val="75000"/>
                  </a:schemeClr>
                </a:solidFill>
              </a:rPr>
              <a:t>specifies a model name and GPU SKU. KAITO estimates how many nodes the model needs.</a:t>
            </a:r>
          </a:p>
          <a:p>
            <a:r>
              <a:rPr lang="en-US" sz="1200" dirty="0"/>
              <a:t>KAITO reserves memory for overhead and KV cache, then fits the weights into the remaining GPU memory.</a:t>
            </a:r>
          </a:p>
          <a:p>
            <a:r>
              <a:rPr lang="en-US" sz="1200" dirty="0"/>
              <a:t>KAITO saves the result as </a:t>
            </a:r>
            <a:r>
              <a:rPr lang="en-US" sz="1200" dirty="0" err="1"/>
              <a:t>status.targetNodeCount</a:t>
            </a:r>
            <a:r>
              <a:rPr lang="en-US" sz="1200" dirty="0"/>
              <a:t>. This path uses tensor parallelism within nodes and pipeline parallelism across nodes. It sizes memory, not traffic capacity. </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So why do we bring </a:t>
            </a:r>
            <a:r>
              <a:rPr lang="en-US" altLang="zh-CN" sz="1200" b="0" cap="none" dirty="0" err="1">
                <a:solidFill>
                  <a:srgbClr val="142C46"/>
                </a:solidFill>
                <a:latin typeface="Arial"/>
              </a:rPr>
              <a:t>llm</a:t>
            </a:r>
            <a:r>
              <a:rPr lang="en-US" altLang="zh-CN" sz="1200" b="0" cap="none" dirty="0">
                <a:solidFill>
                  <a:srgbClr val="142C46"/>
                </a:solidFill>
                <a:latin typeface="Arial"/>
              </a:rPr>
              <a:t>-d into KAITO?</a:t>
            </a:r>
            <a:r>
              <a:rPr lang="en-US" sz="1200" b="0" dirty="0"/>
              <a:t> </a:t>
            </a:r>
          </a:p>
          <a:p>
            <a:r>
              <a:rPr lang="en-US" sz="1200" dirty="0"/>
              <a:t>We want P/D routing without replacing KAITO’s Kubernetes operating model. KAITO manages deployment and lifecycle. </a:t>
            </a:r>
            <a:r>
              <a:rPr lang="en-US" sz="1200" dirty="0" err="1"/>
              <a:t>llm</a:t>
            </a:r>
            <a:r>
              <a:rPr lang="en-US" sz="1200" dirty="0"/>
              <a:t>-d adds endpoint selection and request routing. </a:t>
            </a:r>
            <a:r>
              <a:rPr lang="en-US" sz="1200" b="1" dirty="0" err="1"/>
              <a:t>vLLM</a:t>
            </a:r>
            <a:r>
              <a:rPr lang="en-US" sz="1200" b="1" dirty="0"/>
              <a:t> runs the prefill and decode phases, and NIXL moves KV.</a:t>
            </a:r>
          </a:p>
          <a:p>
            <a:endParaRPr lang="en-US" sz="1200" dirty="0"/>
          </a:p>
          <a:p>
            <a:r>
              <a:rPr dirty="0"/>
              <a:t>Technical reference (not part of the spoken script)</a:t>
            </a:r>
          </a:p>
          <a:p>
            <a:endParaRPr dirty="0"/>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This is a map of responsibilities, not a required installation checklist. Applications call the inference API. The gateway handles ingress, auth and traffic policy. KAITO manages lifecycle; llm-d selects endpoints.</a:t>
            </a:r>
          </a:p>
          <a:p>
            <a:r>
              <a:rPr lang="en-US" sz="1200"/>
              <a:t>vLLM runs prefill, decode and batching. NIXL moves KV; cache systems reuse or offload it. The infrastructure supports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b="1" dirty="0"/>
              <a:t>With KAITO and </a:t>
            </a:r>
            <a:r>
              <a:rPr lang="en-US" sz="1200" b="1" dirty="0" err="1"/>
              <a:t>llm</a:t>
            </a:r>
            <a:r>
              <a:rPr lang="en-US" sz="1200" b="1" dirty="0"/>
              <a:t>-d</a:t>
            </a:r>
            <a:r>
              <a:rPr lang="en-US" sz="1200" dirty="0"/>
              <a:t>, we </a:t>
            </a:r>
            <a:r>
              <a:rPr lang="en-US" sz="1200" dirty="0" err="1"/>
              <a:t>eeclare</a:t>
            </a:r>
            <a:r>
              <a:rPr lang="en-US" sz="1200" dirty="0"/>
              <a:t> both roles together. Keep orchestration separate from execution. Serve one model through one endpoint. Give prefill and decode their own placement and replica counts.</a:t>
            </a:r>
          </a:p>
          <a:p>
            <a:r>
              <a:rPr lang="en-US" sz="1200" dirty="0"/>
              <a:t>KAITO maintains the role topology. </a:t>
            </a:r>
            <a:r>
              <a:rPr lang="en-US" sz="1200" dirty="0" err="1"/>
              <a:t>InferencePool</a:t>
            </a:r>
            <a:r>
              <a:rPr lang="en-US" sz="1200" dirty="0"/>
              <a:t> links to the gateway. </a:t>
            </a:r>
            <a:r>
              <a:rPr lang="en-US" sz="1200" dirty="0" err="1"/>
              <a:t>llm</a:t>
            </a:r>
            <a:r>
              <a:rPr lang="en-US" sz="1200" dirty="0"/>
              <a:t>-d selects workers and coordinates requests. </a:t>
            </a:r>
            <a:r>
              <a:rPr lang="en-US" sz="1200" dirty="0" err="1"/>
              <a:t>vLLM</a:t>
            </a:r>
            <a:r>
              <a:rPr lang="en-US" sz="1200" dirty="0"/>
              <a:t> runs the prefill and decode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CN" altLang="zh-CN" sz="1100" b="0" i="0" u="none" strike="noStrike" cap="none" spc="0" dirty="0">
                <a:solidFill>
                  <a:srgbClr val="000000"/>
                </a:solidFill>
                <a:effectLst/>
                <a:latin typeface="Arial"/>
                <a:ea typeface="Arial"/>
                <a:cs typeface="Arial"/>
                <a:sym typeface="Arial"/>
              </a:rPr>
              <a:t>Now that we have separate prefill and decode workers, the next question is: which workers should handle each request?</a:t>
            </a:r>
          </a:p>
          <a:p>
            <a:r>
              <a:rPr lang="zh-CN" altLang="zh-CN" sz="1100" b="1" i="0" u="none" strike="noStrike" cap="none" spc="0" dirty="0">
                <a:solidFill>
                  <a:srgbClr val="000000"/>
                </a:solidFill>
                <a:effectLst/>
                <a:latin typeface="Arial"/>
                <a:ea typeface="Arial"/>
                <a:cs typeface="Arial"/>
                <a:sym typeface="Arial"/>
              </a:rPr>
              <a:t>That’s where llm-d’s Endpoint Picker, or EPP, comes in. </a:t>
            </a:r>
            <a:endParaRPr lang="en-US" altLang="zh-CN" sz="1100" b="1" i="0" u="none" strike="noStrike" cap="none" spc="0" dirty="0">
              <a:solidFill>
                <a:srgbClr val="000000"/>
              </a:solidFill>
              <a:effectLst/>
              <a:latin typeface="Arial"/>
              <a:ea typeface="Arial"/>
              <a:cs typeface="Arial"/>
              <a:sym typeface="Arial"/>
            </a:endParaRPr>
          </a:p>
          <a:p>
            <a:r>
              <a:rPr lang="en-US" altLang="zh-CN" sz="1100" b="1" i="0" u="none" strike="noStrike" cap="none" spc="0" dirty="0">
                <a:solidFill>
                  <a:srgbClr val="000000"/>
                </a:solidFill>
                <a:effectLst/>
                <a:latin typeface="Arial"/>
                <a:ea typeface="Arial"/>
                <a:cs typeface="Arial"/>
                <a:sym typeface="Arial"/>
              </a:rPr>
              <a:t>When there is a new request, t</a:t>
            </a:r>
            <a:r>
              <a:rPr lang="zh-CN" altLang="zh-CN" sz="1100" b="1" i="0" u="none" strike="noStrike" cap="none" spc="0" dirty="0">
                <a:solidFill>
                  <a:srgbClr val="000000"/>
                </a:solidFill>
                <a:effectLst/>
                <a:latin typeface="Arial"/>
                <a:ea typeface="Arial"/>
                <a:cs typeface="Arial"/>
                <a:sym typeface="Arial"/>
              </a:rPr>
              <a:t>he gateway asks the EPP to choose a decode worker—and, when remote prefill is needed, a prefill worker as well.</a:t>
            </a:r>
          </a:p>
          <a:p>
            <a:pPr>
              <a:spcAft>
                <a:spcPts val="150"/>
              </a:spcAft>
              <a:defRPr sz="1600" b="0">
                <a:solidFill>
                  <a:srgbClr val="5B6E80"/>
                </a:solidFill>
                <a:latin typeface="Arial"/>
              </a:defRPr>
            </a:pPr>
            <a:r>
              <a:rPr lang="zh-CN" altLang="zh-CN" sz="1100" b="1" i="0" u="none" strike="noStrike" cap="none" spc="0" dirty="0">
                <a:solidFill>
                  <a:srgbClr val="000000"/>
                </a:solidFill>
                <a:effectLst/>
                <a:latin typeface="Arial"/>
                <a:ea typeface="Arial"/>
                <a:cs typeface="Arial"/>
                <a:sym typeface="Arial"/>
              </a:rPr>
              <a:t>The selection logic is built from plugins. </a:t>
            </a:r>
            <a:r>
              <a:rPr lang="zh-CN" altLang="zh-CN" sz="1100" b="0" i="0" u="none" strike="noStrike" cap="none" spc="0" dirty="0">
                <a:solidFill>
                  <a:srgbClr val="000000"/>
                </a:solidFill>
                <a:effectLst/>
                <a:latin typeface="Arial"/>
                <a:ea typeface="Arial"/>
                <a:cs typeface="Arial"/>
                <a:sym typeface="Arial"/>
              </a:rPr>
              <a:t>We can combine </a:t>
            </a:r>
            <a:r>
              <a:rPr lang="en-US" altLang="zh-CN" sz="1100" cap="none" dirty="0">
                <a:latin typeface="Arial"/>
              </a:rPr>
              <a:t>KV-aware and P/D-aware plugins, </a:t>
            </a:r>
            <a:r>
              <a:rPr lang="zh-CN" altLang="zh-CN" sz="1100" b="0" i="0" u="none" strike="noStrike" cap="none" spc="0" dirty="0">
                <a:solidFill>
                  <a:srgbClr val="000000"/>
                </a:solidFill>
                <a:effectLst/>
                <a:latin typeface="Arial"/>
                <a:ea typeface="Arial"/>
                <a:cs typeface="Arial"/>
                <a:sym typeface="Arial"/>
              </a:rPr>
              <a:t>add new policies through </a:t>
            </a:r>
            <a:r>
              <a:rPr lang="en-US" altLang="zh-CN" sz="1100" cap="none" dirty="0">
                <a:latin typeface="Arial"/>
              </a:rPr>
              <a:t>plugins</a:t>
            </a:r>
            <a:r>
              <a:rPr lang="zh-CN" altLang="zh-CN" sz="1100" b="0" i="0" u="none" strike="noStrike" cap="none" spc="0" dirty="0">
                <a:solidFill>
                  <a:srgbClr val="000000"/>
                </a:solidFill>
                <a:effectLst/>
                <a:latin typeface="Arial"/>
                <a:ea typeface="Arial"/>
                <a:cs typeface="Arial"/>
                <a:sym typeface="Arial"/>
              </a:rPr>
              <a:t>.</a:t>
            </a:r>
          </a:p>
          <a:p>
            <a:pPr>
              <a:spcAft>
                <a:spcPts val="150"/>
              </a:spcAft>
              <a:defRPr sz="1400" b="1">
                <a:solidFill>
                  <a:srgbClr val="10243A"/>
                </a:solidFill>
                <a:latin typeface="Arial"/>
              </a:defRPr>
            </a:pPr>
            <a:r>
              <a:rPr lang="en-US" altLang="zh-CN" sz="1100" b="0" cap="none" dirty="0">
                <a:latin typeface="Arial"/>
              </a:rPr>
              <a:t>KAITO reuses </a:t>
            </a:r>
            <a:r>
              <a:rPr lang="en-US" altLang="zh-CN" sz="1100" b="0" cap="none" dirty="0" err="1">
                <a:latin typeface="Arial"/>
              </a:rPr>
              <a:t>llm</a:t>
            </a:r>
            <a:r>
              <a:rPr lang="en-US" altLang="zh-CN" sz="1100" b="0" cap="none" dirty="0">
                <a:latin typeface="Arial"/>
              </a:rPr>
              <a:t>-d’s routing decisions instead of building a second routing engine.</a:t>
            </a:r>
          </a:p>
          <a:p>
            <a:r>
              <a:rPr lang="zh-CN" altLang="zh-CN" sz="1100" b="1" i="0" u="none" strike="noStrike" cap="none" spc="0" dirty="0">
                <a:solidFill>
                  <a:srgbClr val="000000"/>
                </a:solidFill>
                <a:effectLst/>
                <a:latin typeface="Arial"/>
                <a:ea typeface="Arial"/>
                <a:cs typeface="Arial"/>
                <a:sym typeface="Arial"/>
              </a:rPr>
              <a:t>Next, let’s see how those choices fit into the full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KAITO manages resources. HTTP carries requests. NIXL moves KV between runtimes. </a:t>
            </a:r>
          </a:p>
          <a:p>
            <a:r>
              <a:rPr lang="en-US" sz="1200" b="1" dirty="0"/>
              <a:t>Start at the top</a:t>
            </a:r>
            <a:r>
              <a:rPr lang="en-US" sz="1200" dirty="0"/>
              <a:t>: KAITO maintains the role </a:t>
            </a:r>
            <a:r>
              <a:rPr lang="en-US" sz="1200" dirty="0" err="1"/>
              <a:t>InferenceSets</a:t>
            </a:r>
            <a:r>
              <a:rPr lang="en-US" sz="1200" dirty="0"/>
              <a:t>, </a:t>
            </a:r>
            <a:r>
              <a:rPr lang="en-US" sz="1200" dirty="0" err="1"/>
              <a:t>InferencePool</a:t>
            </a:r>
            <a:r>
              <a:rPr lang="en-US" sz="1200" dirty="0"/>
              <a:t> and runtime wiring.</a:t>
            </a:r>
          </a:p>
          <a:p>
            <a:r>
              <a:rPr lang="en-US" sz="1200" b="1" dirty="0"/>
              <a:t>For a request, the gateway consults the EPP, then forwards to the selected decode sidecar. The sidecar calls remote prefill when needed and local decode. </a:t>
            </a:r>
            <a:r>
              <a:rPr lang="en-US" sz="1200" dirty="0"/>
              <a:t>The client uses one endpoint. KV data bypasses the gateway, EPP and routing sidecar. </a:t>
            </a:r>
            <a:r>
              <a:rPr lang="en-US" sz="1200" b="1" dirty="0"/>
              <a:t>NIXL would move KV data between prefill and decode </a:t>
            </a:r>
            <a:r>
              <a:rPr lang="en-US" sz="1200" b="1" dirty="0" err="1"/>
              <a:t>vLLM</a:t>
            </a:r>
            <a:r>
              <a:rPr lang="en-US" sz="1200" b="1" dirty="0"/>
              <a:t> runtime directly.</a:t>
            </a:r>
          </a:p>
          <a:p>
            <a:endParaRPr lang="en-US" sz="1200" dirty="0"/>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One </a:t>
            </a:r>
            <a:r>
              <a:rPr lang="en-US" sz="1200" dirty="0" err="1"/>
              <a:t>MultiRoleInference</a:t>
            </a:r>
            <a:r>
              <a:rPr lang="en-US" sz="1200" dirty="0"/>
              <a:t> declares both roles. This KAITO </a:t>
            </a:r>
            <a:r>
              <a:rPr lang="en-US" sz="1200" dirty="0" err="1"/>
              <a:t>yaml</a:t>
            </a:r>
            <a:r>
              <a:rPr lang="en-US" sz="1200" dirty="0"/>
              <a:t> example sets one prefill replica on A100 and two decode replicas on H100</a:t>
            </a:r>
          </a:p>
          <a:p>
            <a:r>
              <a:rPr lang="en-US" sz="1200" dirty="0"/>
              <a:t>On the right, we still have one logical service and </a:t>
            </a:r>
            <a:r>
              <a:rPr lang="en-US" sz="1200" dirty="0" err="1"/>
              <a:t>InferencePool</a:t>
            </a:r>
            <a:r>
              <a:rPr lang="en-US" sz="1200" dirty="0"/>
              <a:t>. </a:t>
            </a:r>
            <a:r>
              <a:rPr lang="en-US" sz="1200" b="1" dirty="0"/>
              <a:t>Both roles serve the same model. </a:t>
            </a:r>
            <a:r>
              <a:rPr lang="en-US" sz="1200" dirty="0"/>
              <a:t>Each has its own </a:t>
            </a:r>
            <a:r>
              <a:rPr lang="en-US" sz="1200" dirty="0" err="1"/>
              <a:t>InferenceSet</a:t>
            </a:r>
            <a:r>
              <a:rPr lang="en-US" sz="1200" dirty="0"/>
              <a:t> and capacity settings. </a:t>
            </a:r>
          </a:p>
          <a:p>
            <a:pPr marL="158750" indent="0">
              <a:buNone/>
            </a:pPr>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KAITO creates resources and keeps them aligned</a:t>
            </a:r>
            <a:endParaRPr lang="en-US" sz="1200" b="0" dirty="0"/>
          </a:p>
          <a:p>
            <a:r>
              <a:rPr lang="en-US" sz="1200" dirty="0"/>
              <a:t>KAITO turns the declared topology into workers, routing resources and runtime wiring. For prefill, KAITO set </a:t>
            </a:r>
            <a:r>
              <a:rPr lang="en-US" altLang="zh-CN" sz="1200" cap="none" dirty="0" err="1">
                <a:latin typeface="Arial"/>
              </a:rPr>
              <a:t>lm</a:t>
            </a:r>
            <a:r>
              <a:rPr lang="en-US" altLang="zh-CN" sz="1200" cap="none" dirty="0">
                <a:latin typeface="Arial"/>
              </a:rPr>
              <a:t>-d </a:t>
            </a:r>
            <a:r>
              <a:rPr lang="en-US" sz="1200" dirty="0"/>
              <a:t>role labels and the NIXL host or Pod IP. For decode, KAITO injects the </a:t>
            </a:r>
            <a:r>
              <a:rPr lang="en-US" sz="1200" dirty="0" err="1"/>
              <a:t>llm</a:t>
            </a:r>
            <a:r>
              <a:rPr lang="en-US" sz="1200" dirty="0"/>
              <a:t>-d sidecar. Align NIXL and </a:t>
            </a:r>
            <a:r>
              <a:rPr lang="en-US" sz="1200" dirty="0" err="1"/>
              <a:t>vLLM</a:t>
            </a:r>
            <a:r>
              <a:rPr lang="en-US" sz="1200" dirty="0"/>
              <a:t> ports.</a:t>
            </a:r>
          </a:p>
          <a:p>
            <a:r>
              <a:rPr lang="en-US" sz="1200" dirty="0"/>
              <a:t>For routing, </a:t>
            </a:r>
            <a:r>
              <a:rPr lang="en-US" sz="1200" dirty="0" err="1"/>
              <a:t>llm</a:t>
            </a:r>
            <a:r>
              <a:rPr lang="en-US" sz="1200" dirty="0"/>
              <a:t>-d connect Services, ports and endpoint selection. </a:t>
            </a:r>
            <a:r>
              <a:rPr lang="en-US" sz="1200" b="1" dirty="0"/>
              <a:t>So with KAITO and </a:t>
            </a:r>
            <a:r>
              <a:rPr lang="en-US" sz="1200" b="1" dirty="0" err="1"/>
              <a:t>llm</a:t>
            </a:r>
            <a:r>
              <a:rPr lang="en-US" sz="1200" b="1" dirty="0"/>
              <a:t>-d</a:t>
            </a:r>
            <a:r>
              <a:rPr lang="en-US" sz="1200" dirty="0"/>
              <a:t>, we keep ownership, roles, labels, ports and lifecycle consistent. </a:t>
            </a:r>
          </a:p>
          <a:p>
            <a:r>
              <a:rPr lang="en-US" sz="1200" dirty="0"/>
              <a:t>KAITO keeps the resources working together; it does not just generate YAML.</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The decode sidecar coordinates the P/D request</a:t>
            </a:r>
            <a:endParaRPr lang="en-US" sz="1200" b="0" dirty="0"/>
          </a:p>
          <a:p>
            <a:r>
              <a:rPr lang="en-US" sz="1200" dirty="0"/>
              <a:t>The sidecar calls remote prefill when needed, then invokes local decode. </a:t>
            </a:r>
          </a:p>
          <a:p>
            <a:r>
              <a:rPr lang="en-US" sz="1200" b="1" dirty="0"/>
              <a:t>So here is the graph which shows the whole process.</a:t>
            </a:r>
          </a:p>
          <a:p>
            <a:endParaRPr lang="en-US" sz="1200" dirty="0"/>
          </a:p>
          <a:p>
            <a:r>
              <a:rPr lang="zh-CN" altLang="zh-CN" sz="1100" b="1" i="0" u="none" strike="noStrike" cap="none" spc="0" dirty="0">
                <a:solidFill>
                  <a:srgbClr val="000000"/>
                </a:solidFill>
                <a:effectLst/>
                <a:latin typeface="Arial"/>
                <a:ea typeface="Arial"/>
                <a:cs typeface="Arial"/>
                <a:sym typeface="Arial"/>
              </a:rPr>
              <a:t>Starting with step one, the gateway sends the request to the decode sidecar.</a:t>
            </a:r>
          </a:p>
          <a:p>
            <a:r>
              <a:rPr lang="zh-CN" altLang="zh-CN" sz="1100" b="1" i="0" u="none" strike="noStrike" cap="none" spc="0" dirty="0">
                <a:solidFill>
                  <a:srgbClr val="000000"/>
                </a:solidFill>
                <a:effectLst/>
                <a:latin typeface="Arial"/>
                <a:ea typeface="Arial"/>
                <a:cs typeface="Arial"/>
                <a:sym typeface="Arial"/>
              </a:rPr>
              <a:t>The sidecar calls the remote prefill worker to process the prompt. Prefill returns the KV cache metadata—not the actual KV data.</a:t>
            </a:r>
          </a:p>
          <a:p>
            <a:r>
              <a:rPr lang="zh-CN" altLang="zh-CN" sz="1100" b="1" i="0" u="none" strike="noStrike" cap="none" spc="0" dirty="0">
                <a:solidFill>
                  <a:srgbClr val="000000"/>
                </a:solidFill>
                <a:effectLst/>
                <a:latin typeface="Arial"/>
                <a:ea typeface="Arial"/>
                <a:cs typeface="Arial"/>
                <a:sym typeface="Arial"/>
              </a:rPr>
              <a:t>The sidecar passes that metadata to the local decode worker, which uses NIXL to fetch the KV cache directly from prefill and generate the response.</a:t>
            </a:r>
          </a:p>
          <a:p>
            <a:r>
              <a:rPr lang="zh-CN" altLang="zh-CN" sz="1100" b="1" i="0" u="none" strike="noStrike" cap="none" spc="0" dirty="0">
                <a:solidFill>
                  <a:srgbClr val="000000"/>
                </a:solidFill>
                <a:effectLst/>
                <a:latin typeface="Arial"/>
                <a:ea typeface="Arial"/>
                <a:cs typeface="Arial"/>
                <a:sym typeface="Arial"/>
              </a:rPr>
              <a:t>The response then goes back through the sidecar and gateway to the client.</a:t>
            </a:r>
          </a:p>
          <a:p>
            <a:r>
              <a:rPr lang="zh-CN" altLang="zh-CN" sz="1100" b="1" i="0" u="none" strike="noStrike" cap="none" spc="0" dirty="0">
                <a:solidFill>
                  <a:srgbClr val="000000"/>
                </a:solidFill>
                <a:effectLst/>
                <a:latin typeface="Arial"/>
                <a:ea typeface="Arial"/>
                <a:cs typeface="Arial"/>
                <a:sym typeface="Arial"/>
              </a:rPr>
              <a:t>So, the sidecar coordinates the request, while the runtimes transfer the KV data directly.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Next  is how do we </a:t>
            </a:r>
            <a:r>
              <a:rPr lang="en-US" sz="1200" dirty="0" err="1"/>
              <a:t>autoscale</a:t>
            </a:r>
            <a:r>
              <a:rPr lang="en-US" sz="1200" dirty="0"/>
              <a:t> in p/d disaggregation scenario.</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We scale the role that needs more capacity and </a:t>
            </a:r>
            <a:r>
              <a:rPr lang="en-US" sz="1200" dirty="0"/>
              <a:t>let prefill and decode make separate capacity decisions. Match signals to each role’s load. Tune thresholds against latency targets.</a:t>
            </a:r>
          </a:p>
          <a:p>
            <a:pPr marL="457200" lvl="0" indent="-298450">
              <a:buClr>
                <a:srgbClr val="000000"/>
              </a:buClr>
              <a:buSzPts val="1100"/>
              <a:buFont typeface="Arial"/>
              <a:buChar char="●"/>
            </a:pPr>
            <a:r>
              <a:rPr lang="en-US" sz="1200" dirty="0"/>
              <a:t>Prefill needs to protect time to first token. Start with </a:t>
            </a:r>
            <a:r>
              <a:rPr lang="en-US" sz="1200" dirty="0" err="1"/>
              <a:t>vLLM</a:t>
            </a:r>
            <a:r>
              <a:rPr lang="en-US" sz="1200" dirty="0"/>
              <a:t> waiting requests. Decode needs to sustain steady token delivery, which is </a:t>
            </a:r>
            <a:r>
              <a:rPr lang="en-US" altLang="zh-CN" sz="1200" dirty="0"/>
              <a:t>Inter-Token Latency, that is ITL. It starts with </a:t>
            </a:r>
            <a:r>
              <a:rPr lang="en-US" altLang="zh-CN" sz="1200" dirty="0" err="1"/>
              <a:t>vLLM</a:t>
            </a:r>
            <a:r>
              <a:rPr lang="en-US" altLang="zh-CN" sz="1200" dirty="0"/>
              <a:t> running requests.</a:t>
            </a:r>
            <a:endParaRPr lang="en-US" sz="1200" dirty="0"/>
          </a:p>
          <a:p>
            <a:endParaRPr lang="en-US" sz="1200" dirty="0"/>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Today, KEDA scales an </a:t>
            </a:r>
            <a:r>
              <a:rPr lang="en-US" sz="1200" dirty="0" err="1"/>
              <a:t>InferenceSet</a:t>
            </a:r>
            <a:r>
              <a:rPr lang="en-US" sz="1200" dirty="0"/>
              <a:t>. KAITO documents scheduled scaling and metric-based scaling with KEDA. KEDA and HPA set replicas on the </a:t>
            </a:r>
            <a:r>
              <a:rPr lang="en-US" sz="1200" dirty="0" err="1"/>
              <a:t>InferenceSet</a:t>
            </a:r>
            <a:r>
              <a:rPr lang="en-US" sz="1200" dirty="0"/>
              <a:t>. KAITO adjusts serving resources.</a:t>
            </a:r>
          </a:p>
          <a:p>
            <a:r>
              <a:rPr lang="en-US" sz="1200" dirty="0"/>
              <a:t>One example watches queues, using </a:t>
            </a:r>
            <a:r>
              <a:rPr lang="en-US" sz="1200" dirty="0" err="1"/>
              <a:t>vllm:num_requests_waiting</a:t>
            </a:r>
            <a:r>
              <a:rPr lang="en-US" sz="1200" dirty="0"/>
              <a:t>. KEDA is installed separately. This is the existing scaling mechanism, not a finished MRI policy. Scale the complete serving replica, not an individual tensor-parallel worker.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Read vLLM metrics directly, without Prometheus. Use queue and latency signals. Take conservative replica steps. Combine conditions with AND.</a:t>
            </a:r>
          </a:p>
          <a:p>
            <a:r>
              <a:rPr lang="en-US" sz="1200"/>
              <a:t>AND can reduce unnecessary scaling, but it can also delay capacity. Check the installed scaler version and test the policy for your model. This works with InferenceSet; applying it separately to MRI roles still needs integration.</a:t>
            </a:r>
          </a:p>
        </p:txBody>
      </p:sp>
    </p:spTree>
    <p:extLst>
      <p:ext uri="{BB962C8B-B14F-4D97-AF65-F5344CB8AC3E}">
        <p14:creationId xmlns:p14="http://schemas.microsoft.com/office/powerpoint/2010/main" val="31905224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Let prefill and decode scale independently. Proposed design: each role gets its own signal, threshold and replica target. Prefill watches waiting requests and scales its InferenceSet. Decode watches running requests and scales its InferenceSet.</a:t>
            </a:r>
          </a:p>
          <a:p>
            <a:r>
              <a:rPr lang="en-US" sz="1200"/>
              <a:t>Give each target one owner. Allow warm-up time, stabilize changes and scale down safely. Independent capacity decisions are the goal; KEDA and HPA are one way to implement them.</a:t>
            </a:r>
          </a:p>
          <a:p>
            <a:endParaRPr lang="en-US" sz="1200"/>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is a proposed policy excerpt, not a ready-to-deploy manifest. The MRI adapter and child opt-in still need integration. These thresholds are examples.</a:t>
            </a:r>
          </a:p>
          <a:p>
            <a:r>
              <a:rPr lang="en-US" sz="1200"/>
              <a:t>Start with one prefill replica and two decode replicas. With role averages of twelve, prefill requests scale-up and decode holds. Decode can request scale-up above twenty-four. AND applies within each role, not across roles. The formula requests double, half or unchanged replicas, rounded up. HPA behavior limits the pace; readiness, bounds and stabilization still apply.</a:t>
            </a:r>
          </a:p>
          <a:p>
            <a:endParaRPr lang="en-US" sz="1200"/>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two gauges to scale the two roles. Verify service-to-replica mapping before averaging each role’s load. The default sums matching series within each service, then averages scraped services. Check full coverage: missing data is not zero. Watch the prefill engine queue and active decode requests.</a:t>
            </a:r>
          </a:p>
          <a:p>
            <a:r>
              <a:rPr lang="en-US" sz="1200"/>
              <a:t>In this example, prefill scales up above eight and down below one; decode scales up above twenty-four and down below four. Both hold between the thresholds, including equality. These thresholds are examples. Verify /metrics before enabling either policy.</a:t>
            </a:r>
          </a:p>
          <a:p>
            <a:endParaRPr lang="en-US" sz="1200"/>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derived signals to explain the load. Derive KV usage, latency and throughput. Check queries before use. Maximum KV usage could guard scale-down. Its complement shows free fraction, not request capacity. First-token P95 shows engine-side TTFT tails. Token throughput shows output rate; benchmark it.</a:t>
            </a:r>
          </a:p>
          <a:p>
            <a:r>
              <a:rPr lang="en-US" sz="1200"/>
              <a:t>KV occupancy is not demand. Throughput alone should not change replica counts. These are proposed derived signals, not metrics already integrated into MRI.</a:t>
            </a:r>
          </a:p>
          <a:p>
            <a:endParaRPr lang="en-US" sz="1200"/>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Next, explore better cache reuse, more inference roles and larger-scale execution. Route using KV cache events. Tier cache across HBM, CPU RAM and optional filesystems. Add Encode to Prefill / Decode. Support more inference roles. Explore wide expert parallelism. Improve cross-node transport and communication.</a:t>
            </a:r>
          </a:p>
          <a:p>
            <a:r>
              <a:rPr lang="en-US" sz="1200"/>
              <a:t>These are integration directions, not release dates; some capabilities already exist upstream.</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Explore the projects, then try the KAITO + llm-d P/D guide. llm-d and KAITO are both CNCF Sandbox projects. Start with their repositories for the code, check keda-kaito-scaler for scaling details, and use the P/D guide for prerequisites and configuration.</a:t>
            </a:r>
          </a:p>
          <a:p>
            <a:endParaRPr lang="en-US" sz="120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dirty="0"/>
              <a:t>KV moves between runtimes, not through the gateway or routing sidecar. Prefill builds KV in GPU memory. Decode reuses KV to keep generating. NIXL uses a transport backend. Decode may initiate the read.</a:t>
            </a:r>
          </a:p>
          <a:p>
            <a:r>
              <a:rPr lang="en-US" sz="1200" dirty="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selects “Kubernetes”.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We 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We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latency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45720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398264"/>
            <a:ext cx="8209026" cy="393192"/>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Our goal: serve more requests while meeting both latency targets.</a:t>
            </a:r>
          </a:p>
          <a:p>
            <a:pPr>
              <a:spcAft>
                <a:spcPts val="375"/>
              </a:spcAft>
              <a:defRPr sz="1500" b="1">
                <a:solidFill>
                  <a:srgbClr val="172941"/>
                </a:solidFill>
                <a:latin typeface="Arial"/>
              </a:defRPr>
            </a:pPr>
            <a:r>
              <a:rPr sz="1125" cap="none" dirty="0">
                <a:latin typeface="Arial"/>
              </a:rPr>
              <a:t>SLO goodput = requests per second that meet both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Prefill processes the input and is 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 smoothly?</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generates tokens and is 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We still 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batches prompt positions; ordinary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process many input positions in one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dirty="0">
                <a:latin typeface="Arial"/>
              </a:rPr>
              <a:t>batch positions from multiple prompts.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we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745556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Separate </a:t>
            </a:r>
            <a:r>
              <a:rPr lang="en-US" sz="2100" b="1" cap="none" dirty="0">
                <a:solidFill>
                  <a:srgbClr val="142C46"/>
                </a:solidFill>
                <a:latin typeface="Arial"/>
              </a:rPr>
              <a:t>GPU </a:t>
            </a:r>
            <a:r>
              <a:rPr sz="2100" b="1" cap="none" dirty="0">
                <a:solidFill>
                  <a:srgbClr val="142C46"/>
                </a:solidFill>
                <a:latin typeface="Arial"/>
              </a:rPr>
              <a:t>pools let us tune each phase independently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lang="en-US" sz="1200" dirty="0">
                <a:solidFill>
                  <a:srgbClr val="52677D"/>
                </a:solidFill>
              </a:rPr>
              <a:t>real benefit is scaling prefill and decode independently to match demand—not simply splitting them into two deployments</a:t>
            </a:r>
            <a:endParaRPr sz="1200" cap="none" dirty="0">
              <a:solidFill>
                <a:srgbClr val="52677D"/>
              </a:solidFill>
              <a:latin typeface="Arial"/>
            </a:endParaRP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Prefill is often compute-bound.</a:t>
            </a:r>
          </a:p>
          <a:p>
            <a:pPr>
              <a:spcAft>
                <a:spcPts val="375"/>
              </a:spcAft>
              <a:defRPr sz="1800" b="0">
                <a:solidFill>
                  <a:srgbClr val="172941"/>
                </a:solidFill>
                <a:latin typeface="Arial"/>
              </a:defRPr>
            </a:pPr>
            <a:r>
              <a:rPr sz="1350" cap="none">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dirty="0">
                <a:latin typeface="Arial"/>
              </a:rPr>
              <a:t>Decode is often </a:t>
            </a:r>
            <a:r>
              <a:rPr lang="en-US" sz="1350" cap="none" dirty="0">
                <a:latin typeface="Arial"/>
              </a:rPr>
              <a:t>memory-</a:t>
            </a:r>
            <a:r>
              <a:rPr sz="1350" cap="none" dirty="0">
                <a:latin typeface="Arial"/>
              </a:rPr>
              <a:t>bandwidth-bound.</a:t>
            </a:r>
          </a:p>
          <a:p>
            <a:pPr>
              <a:spcAft>
                <a:spcPts val="375"/>
              </a:spcAft>
              <a:defRPr sz="1800" b="0">
                <a:solidFill>
                  <a:srgbClr val="172941"/>
                </a:solidFill>
                <a:latin typeface="Arial"/>
              </a:defRPr>
            </a:pPr>
            <a:r>
              <a:rPr sz="1350" cap="none" dirty="0">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dirty="0">
                <a:latin typeface="Arial"/>
              </a:rPr>
              <a:t>Different capacity </a:t>
            </a:r>
            <a:r>
              <a:rPr lang="en-US" sz="1350" cap="none" dirty="0">
                <a:latin typeface="Arial"/>
              </a:rPr>
              <a:t>needs</a:t>
            </a:r>
            <a:endParaRPr sz="1350" cap="none" dirty="0">
              <a:latin typeface="Arial"/>
            </a:endParaRP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457200" indent="-298450" algn="ctr">
              <a:spcAft>
                <a:spcPts val="375"/>
              </a:spcAft>
              <a:buSzPts val="1100"/>
              <a:buFont typeface="Arial"/>
              <a:buChar char="●"/>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6859250"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The hard part is the Kubernetes wiring</a:t>
            </a:r>
            <a:r>
              <a:rPr lang="en-US" sz="2100" b="1" cap="none" dirty="0">
                <a:solidFill>
                  <a:srgbClr val="142C46"/>
                </a:solidFill>
                <a:latin typeface="Arial"/>
              </a:rPr>
              <a:t> to support P/D</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KV transfer, labels, ports and readiness must stay in sync.</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dirty="0">
                <a:latin typeface="Arial"/>
              </a:rPr>
              <a:t>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108608-17E5-7B6D-7E28-99CBA2F215A6}"/>
              </a:ext>
            </a:extLst>
          </p:cNvPr>
          <p:cNvSpPr>
            <a:spLocks noGrp="1"/>
          </p:cNvSpPr>
          <p:nvPr>
            <p:ph type="title" idx="4294967295"/>
          </p:nvPr>
        </p:nvSpPr>
        <p:spPr>
          <a:xfrm>
            <a:off x="0" y="0"/>
            <a:ext cx="6950075" cy="1047750"/>
          </a:xfrm>
        </p:spPr>
        <p:txBody>
          <a:bodyPr>
            <a:normAutofit/>
          </a:bodyPr>
          <a:lstStyle/>
          <a:p>
            <a:r>
              <a:rPr lang="zh-CN" altLang="zh-CN" sz="2800" dirty="0"/>
              <a:t>Production Distributed Inference Architecture</a:t>
            </a:r>
            <a:endParaRPr lang="zh-CN" altLang="en-US" sz="2800" dirty="0"/>
          </a:p>
        </p:txBody>
      </p:sp>
      <p:sp>
        <p:nvSpPr>
          <p:cNvPr id="85" name="application-rail-box">
            <a:extLst>
              <a:ext uri="{FF2B5EF4-FFF2-40B4-BE49-F238E27FC236}">
                <a16:creationId xmlns:a16="http://schemas.microsoft.com/office/drawing/2014/main" id="{A7F0BE18-D8B7-6DC5-F1F5-9FFE9AA4A4EC}"/>
              </a:ext>
            </a:extLst>
          </p:cNvPr>
          <p:cNvSpPr>
            <a:spLocks noGrp="1"/>
          </p:cNvSpPr>
          <p:nvPr/>
        </p:nvSpPr>
        <p:spPr>
          <a:xfrm>
            <a:off x="76201" y="1214619"/>
            <a:ext cx="762000" cy="381000"/>
          </a:xfrm>
          <a:prstGeom prst="roundRect">
            <a:avLst>
              <a:gd name="adj" fmla="val 10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a:solidFill>
                  <a:srgbClr val="FFFFFF"/>
                </a:solidFill>
                <a:latin typeface="Arial"/>
                <a:ea typeface="Arial"/>
                <a:cs typeface="Arial"/>
              </a:rPr>
              <a:t>Application</a:t>
            </a:r>
          </a:p>
          <a:p>
            <a:pPr algn="ctr">
              <a:defRPr sz="750" b="1">
                <a:solidFill>
                  <a:srgbClr val="FFFFFF"/>
                </a:solidFill>
                <a:latin typeface="Arial"/>
                <a:ea typeface="Arial"/>
                <a:cs typeface="Arial"/>
              </a:defRPr>
            </a:pPr>
            <a:r>
              <a:rPr sz="800" b="1">
                <a:solidFill>
                  <a:srgbClr val="FFFFFF"/>
                </a:solidFill>
                <a:latin typeface="Arial"/>
                <a:ea typeface="Arial"/>
                <a:cs typeface="Arial"/>
              </a:rPr>
              <a:t>Layer</a:t>
            </a:r>
          </a:p>
        </p:txBody>
      </p:sp>
      <p:sp>
        <p:nvSpPr>
          <p:cNvPr id="86" name="application-surface">
            <a:extLst>
              <a:ext uri="{FF2B5EF4-FFF2-40B4-BE49-F238E27FC236}">
                <a16:creationId xmlns:a16="http://schemas.microsoft.com/office/drawing/2014/main" id="{FC6739DF-595B-0861-5B4C-3EB609F0BE25}"/>
              </a:ext>
            </a:extLst>
          </p:cNvPr>
          <p:cNvSpPr>
            <a:spLocks noGrp="1"/>
          </p:cNvSpPr>
          <p:nvPr/>
        </p:nvSpPr>
        <p:spPr>
          <a:xfrm>
            <a:off x="933451" y="1214619"/>
            <a:ext cx="6191250" cy="381000"/>
          </a:xfrm>
          <a:prstGeom prst="roundRect">
            <a:avLst>
              <a:gd name="adj" fmla="val 10000"/>
            </a:avLst>
          </a:prstGeom>
          <a:solidFill>
            <a:srgbClr val="FFFFFF"/>
          </a:solidFill>
          <a:ln w="9525">
            <a:solidFill>
              <a:srgbClr val="D7DEE8"/>
            </a:solidFill>
            <a:prstDash val="solid"/>
          </a:ln>
        </p:spPr>
        <p:txBody>
          <a:bodyPr/>
          <a:lstStyle/>
          <a:p>
            <a:endParaRPr lang="zh-CN" altLang="en-US" sz="1600"/>
          </a:p>
        </p:txBody>
      </p:sp>
      <p:sp>
        <p:nvSpPr>
          <p:cNvPr id="87" name="application-items-1-box">
            <a:extLst>
              <a:ext uri="{FF2B5EF4-FFF2-40B4-BE49-F238E27FC236}">
                <a16:creationId xmlns:a16="http://schemas.microsoft.com/office/drawing/2014/main" id="{BEA3F104-EC15-50E4-8804-0470EBD25CC5}"/>
              </a:ext>
            </a:extLst>
          </p:cNvPr>
          <p:cNvSpPr>
            <a:spLocks noGrp="1"/>
          </p:cNvSpPr>
          <p:nvPr/>
        </p:nvSpPr>
        <p:spPr>
          <a:xfrm>
            <a:off x="100965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Web / H5</a:t>
            </a:r>
          </a:p>
        </p:txBody>
      </p:sp>
      <p:sp>
        <p:nvSpPr>
          <p:cNvPr id="88" name="application-items-2-box">
            <a:extLst>
              <a:ext uri="{FF2B5EF4-FFF2-40B4-BE49-F238E27FC236}">
                <a16:creationId xmlns:a16="http://schemas.microsoft.com/office/drawing/2014/main" id="{57E157B9-D48E-A70C-5494-69B0C8A18EAB}"/>
              </a:ext>
            </a:extLst>
          </p:cNvPr>
          <p:cNvSpPr>
            <a:spLocks noGrp="1"/>
          </p:cNvSpPr>
          <p:nvPr/>
        </p:nvSpPr>
        <p:spPr>
          <a:xfrm>
            <a:off x="222504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Mobile Apps</a:t>
            </a:r>
          </a:p>
        </p:txBody>
      </p:sp>
      <p:sp>
        <p:nvSpPr>
          <p:cNvPr id="89" name="application-items-3-box">
            <a:extLst>
              <a:ext uri="{FF2B5EF4-FFF2-40B4-BE49-F238E27FC236}">
                <a16:creationId xmlns:a16="http://schemas.microsoft.com/office/drawing/2014/main" id="{AF6EAF3A-86AC-BECC-5A7D-DE5355C98487}"/>
              </a:ext>
            </a:extLst>
          </p:cNvPr>
          <p:cNvSpPr>
            <a:spLocks noGrp="1"/>
          </p:cNvSpPr>
          <p:nvPr/>
        </p:nvSpPr>
        <p:spPr>
          <a:xfrm>
            <a:off x="344043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Enterprise Applications</a:t>
            </a:r>
          </a:p>
        </p:txBody>
      </p:sp>
      <p:sp>
        <p:nvSpPr>
          <p:cNvPr id="90" name="application-items-4-box">
            <a:extLst>
              <a:ext uri="{FF2B5EF4-FFF2-40B4-BE49-F238E27FC236}">
                <a16:creationId xmlns:a16="http://schemas.microsoft.com/office/drawing/2014/main" id="{34B4D230-2C91-F76F-810B-3B7C3D5A2CB2}"/>
              </a:ext>
            </a:extLst>
          </p:cNvPr>
          <p:cNvSpPr>
            <a:spLocks noGrp="1"/>
          </p:cNvSpPr>
          <p:nvPr/>
        </p:nvSpPr>
        <p:spPr>
          <a:xfrm>
            <a:off x="465582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Third-party Applications</a:t>
            </a:r>
          </a:p>
        </p:txBody>
      </p:sp>
      <p:sp>
        <p:nvSpPr>
          <p:cNvPr id="91" name="application-items-5-box">
            <a:extLst>
              <a:ext uri="{FF2B5EF4-FFF2-40B4-BE49-F238E27FC236}">
                <a16:creationId xmlns:a16="http://schemas.microsoft.com/office/drawing/2014/main" id="{1D1A6355-73EA-D445-E7EF-D9224D4305DF}"/>
              </a:ext>
            </a:extLst>
          </p:cNvPr>
          <p:cNvSpPr>
            <a:spLocks noGrp="1"/>
          </p:cNvSpPr>
          <p:nvPr/>
        </p:nvSpPr>
        <p:spPr>
          <a:xfrm>
            <a:off x="587121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a:t>
            </a:r>
          </a:p>
        </p:txBody>
      </p:sp>
      <p:sp>
        <p:nvSpPr>
          <p:cNvPr id="92" name="inference-rail-box">
            <a:extLst>
              <a:ext uri="{FF2B5EF4-FFF2-40B4-BE49-F238E27FC236}">
                <a16:creationId xmlns:a16="http://schemas.microsoft.com/office/drawing/2014/main" id="{18DF6413-76FC-31B2-239D-B1BF29732B34}"/>
              </a:ext>
            </a:extLst>
          </p:cNvPr>
          <p:cNvSpPr>
            <a:spLocks noGrp="1"/>
          </p:cNvSpPr>
          <p:nvPr/>
        </p:nvSpPr>
        <p:spPr>
          <a:xfrm>
            <a:off x="76201" y="1652769"/>
            <a:ext cx="762000" cy="2057400"/>
          </a:xfrm>
          <a:prstGeom prst="roundRect">
            <a:avLst>
              <a:gd name="adj" fmla="val 5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dirty="0">
                <a:solidFill>
                  <a:srgbClr val="FFFFFF"/>
                </a:solidFill>
                <a:latin typeface="Arial"/>
                <a:ea typeface="Arial"/>
                <a:cs typeface="Arial"/>
              </a:rPr>
              <a:t>Inference</a:t>
            </a:r>
          </a:p>
          <a:p>
            <a:pPr algn="ctr">
              <a:defRPr sz="750" b="1">
                <a:solidFill>
                  <a:srgbClr val="FFFFFF"/>
                </a:solidFill>
                <a:latin typeface="Arial"/>
                <a:ea typeface="Arial"/>
                <a:cs typeface="Arial"/>
              </a:defRPr>
            </a:pPr>
            <a:r>
              <a:rPr sz="800" b="1" dirty="0">
                <a:solidFill>
                  <a:srgbClr val="FFFFFF"/>
                </a:solidFill>
                <a:latin typeface="Arial"/>
                <a:ea typeface="Arial"/>
                <a:cs typeface="Arial"/>
              </a:rPr>
              <a:t>Layer</a:t>
            </a:r>
          </a:p>
        </p:txBody>
      </p:sp>
      <p:sp>
        <p:nvSpPr>
          <p:cNvPr id="93" name="inference-core-surface">
            <a:extLst>
              <a:ext uri="{FF2B5EF4-FFF2-40B4-BE49-F238E27FC236}">
                <a16:creationId xmlns:a16="http://schemas.microsoft.com/office/drawing/2014/main" id="{318E048E-0E1C-139B-BB3F-18BC924CB124}"/>
              </a:ext>
            </a:extLst>
          </p:cNvPr>
          <p:cNvSpPr>
            <a:spLocks noGrp="1"/>
          </p:cNvSpPr>
          <p:nvPr/>
        </p:nvSpPr>
        <p:spPr>
          <a:xfrm>
            <a:off x="933451" y="1652769"/>
            <a:ext cx="6191250" cy="2057400"/>
          </a:xfrm>
          <a:prstGeom prst="roundRect">
            <a:avLst>
              <a:gd name="adj" fmla="val 2315"/>
            </a:avLst>
          </a:prstGeom>
          <a:solidFill>
            <a:srgbClr val="F9FCF7"/>
          </a:solidFill>
          <a:ln w="9525">
            <a:solidFill>
              <a:srgbClr val="CFE3C7"/>
            </a:solidFill>
            <a:prstDash val="solid"/>
          </a:ln>
        </p:spPr>
        <p:txBody>
          <a:bodyPr/>
          <a:lstStyle/>
          <a:p>
            <a:endParaRPr lang="zh-CN" altLang="en-US" sz="1600"/>
          </a:p>
        </p:txBody>
      </p:sp>
      <p:sp>
        <p:nvSpPr>
          <p:cNvPr id="94" name="inferx-box">
            <a:extLst>
              <a:ext uri="{FF2B5EF4-FFF2-40B4-BE49-F238E27FC236}">
                <a16:creationId xmlns:a16="http://schemas.microsoft.com/office/drawing/2014/main" id="{220BC63F-1079-1FEB-140C-CF510E2917AD}"/>
              </a:ext>
            </a:extLst>
          </p:cNvPr>
          <p:cNvSpPr>
            <a:spLocks noGrp="1"/>
          </p:cNvSpPr>
          <p:nvPr/>
        </p:nvSpPr>
        <p:spPr>
          <a:xfrm>
            <a:off x="990601" y="1709919"/>
            <a:ext cx="6019800" cy="219075"/>
          </a:xfrm>
          <a:prstGeom prst="roundRect">
            <a:avLst>
              <a:gd name="adj" fmla="val 21739"/>
            </a:avLst>
          </a:prstGeom>
          <a:solidFill>
            <a:srgbClr val="247A06"/>
          </a:solidFill>
          <a:ln w="9525">
            <a:solidFill>
              <a:srgbClr val="247A06"/>
            </a:solidFill>
            <a:prstDash val="solid"/>
          </a:ln>
        </p:spPr>
        <p:txBody>
          <a:bodyPr wrap="square" lIns="28575" tIns="9525" rIns="28575" bIns="9525" anchor="ctr">
            <a:normAutofit/>
          </a:bodyPr>
          <a:lstStyle/>
          <a:p>
            <a:pPr algn="ctr">
              <a:defRPr sz="825" b="1">
                <a:solidFill>
                  <a:srgbClr val="FFFFFF"/>
                </a:solidFill>
                <a:latin typeface="Arial"/>
                <a:ea typeface="Arial"/>
                <a:cs typeface="Arial"/>
              </a:defRPr>
            </a:pPr>
            <a:r>
              <a:rPr lang="en-US" sz="900" b="1" dirty="0">
                <a:solidFill>
                  <a:srgbClr val="FFFFFF"/>
                </a:solidFill>
              </a:rPr>
              <a:t>AI</a:t>
            </a:r>
            <a:r>
              <a:rPr lang="en-US" sz="900" b="1" dirty="0">
                <a:solidFill>
                  <a:srgbClr val="FFFFFF"/>
                </a:solidFill>
                <a:latin typeface="Arial"/>
                <a:ea typeface="Arial"/>
                <a:cs typeface="Arial"/>
              </a:rPr>
              <a:t> </a:t>
            </a:r>
            <a:r>
              <a:rPr lang="en-US" sz="900" b="1" dirty="0">
                <a:solidFill>
                  <a:srgbClr val="FFFFFF"/>
                </a:solidFill>
              </a:rPr>
              <a:t>G</a:t>
            </a:r>
            <a:r>
              <a:rPr lang="en-US" sz="900" b="1" dirty="0">
                <a:solidFill>
                  <a:srgbClr val="FFFFFF"/>
                </a:solidFill>
                <a:latin typeface="Arial"/>
                <a:ea typeface="Arial"/>
                <a:cs typeface="Arial"/>
              </a:rPr>
              <a:t>ateway</a:t>
            </a:r>
            <a:r>
              <a:rPr sz="900" b="1" dirty="0">
                <a:solidFill>
                  <a:srgbClr val="FFFFFF"/>
                </a:solidFill>
                <a:latin typeface="Arial"/>
                <a:ea typeface="Arial"/>
                <a:cs typeface="Arial"/>
              </a:rPr>
              <a:t> </a:t>
            </a:r>
            <a:r>
              <a:rPr lang="en-US" sz="900" b="1" dirty="0">
                <a:solidFill>
                  <a:srgbClr val="FFFFFF"/>
                </a:solidFill>
                <a:latin typeface="Arial"/>
                <a:ea typeface="Arial"/>
                <a:cs typeface="Arial"/>
              </a:rPr>
              <a:t>(Business Logic)</a:t>
            </a:r>
            <a:r>
              <a:rPr sz="900" b="1" dirty="0">
                <a:solidFill>
                  <a:srgbClr val="FFFFFF"/>
                </a:solidFill>
                <a:latin typeface="Arial"/>
                <a:ea typeface="Arial"/>
                <a:cs typeface="Arial"/>
              </a:rPr>
              <a:t> (</a:t>
            </a:r>
            <a:r>
              <a:rPr lang="en-US" sz="900" b="1" dirty="0" err="1">
                <a:solidFill>
                  <a:srgbClr val="FFFFFF"/>
                </a:solidFill>
                <a:latin typeface="Arial"/>
                <a:ea typeface="Arial"/>
                <a:cs typeface="Arial"/>
              </a:rPr>
              <a:t>AgentGateway</a:t>
            </a:r>
            <a:r>
              <a:rPr lang="en-US" sz="900" b="1" dirty="0">
                <a:solidFill>
                  <a:srgbClr val="FFFFFF"/>
                </a:solidFill>
              </a:rPr>
              <a:t> , Higress</a:t>
            </a:r>
            <a:r>
              <a:rPr sz="900" b="1" dirty="0">
                <a:solidFill>
                  <a:srgbClr val="FFFFFF"/>
                </a:solidFill>
                <a:latin typeface="Arial"/>
                <a:ea typeface="Arial"/>
                <a:cs typeface="Arial"/>
              </a:rPr>
              <a:t>)</a:t>
            </a:r>
          </a:p>
        </p:txBody>
      </p:sp>
      <p:sp>
        <p:nvSpPr>
          <p:cNvPr id="95" name="orchestration-frame">
            <a:extLst>
              <a:ext uri="{FF2B5EF4-FFF2-40B4-BE49-F238E27FC236}">
                <a16:creationId xmlns:a16="http://schemas.microsoft.com/office/drawing/2014/main" id="{8FB5F1C0-3018-7932-FBBC-E52D91340907}"/>
              </a:ext>
            </a:extLst>
          </p:cNvPr>
          <p:cNvSpPr>
            <a:spLocks noGrp="1"/>
          </p:cNvSpPr>
          <p:nvPr/>
        </p:nvSpPr>
        <p:spPr>
          <a:xfrm>
            <a:off x="990601" y="1976619"/>
            <a:ext cx="6076950" cy="514350"/>
          </a:xfrm>
          <a:prstGeom prst="roundRect">
            <a:avLst>
              <a:gd name="adj" fmla="val 7407"/>
            </a:avLst>
          </a:prstGeom>
          <a:solidFill>
            <a:srgbClr val="FFFFFF"/>
          </a:solidFill>
          <a:ln w="9525">
            <a:solidFill>
              <a:srgbClr val="CFE3C7"/>
            </a:solidFill>
            <a:prstDash val="solid"/>
          </a:ln>
        </p:spPr>
        <p:txBody>
          <a:bodyPr/>
          <a:lstStyle/>
          <a:p>
            <a:endParaRPr lang="zh-CN" altLang="en-US" sz="1600"/>
          </a:p>
        </p:txBody>
      </p:sp>
      <p:sp>
        <p:nvSpPr>
          <p:cNvPr id="96" name="orchestration-title">
            <a:extLst>
              <a:ext uri="{FF2B5EF4-FFF2-40B4-BE49-F238E27FC236}">
                <a16:creationId xmlns:a16="http://schemas.microsoft.com/office/drawing/2014/main" id="{5BA7DF17-5A3A-A056-85FE-9BB04DABD02F}"/>
              </a:ext>
            </a:extLst>
          </p:cNvPr>
          <p:cNvSpPr>
            <a:spLocks noGrp="1"/>
          </p:cNvSpPr>
          <p:nvPr/>
        </p:nvSpPr>
        <p:spPr>
          <a:xfrm>
            <a:off x="1047751" y="2005194"/>
            <a:ext cx="5962650" cy="133350"/>
          </a:xfrm>
          <a:prstGeom prst="rect">
            <a:avLst/>
          </a:prstGeom>
          <a:noFill/>
          <a:ln w="0">
            <a:noFill/>
            <a:prstDash val="solid"/>
          </a:ln>
        </p:spPr>
        <p:txBody>
          <a:bodyPr wrap="square" lIns="19050" tIns="9525" rIns="19050" bIns="9525" anchor="ctr">
            <a:noAutofit/>
          </a:bodyPr>
          <a:lstStyle/>
          <a:p>
            <a:pPr algn="ctr">
              <a:defRPr sz="675" b="1">
                <a:solidFill>
                  <a:srgbClr val="2F8B45"/>
                </a:solidFill>
                <a:latin typeface="Arial"/>
                <a:ea typeface="Arial"/>
                <a:cs typeface="Arial"/>
              </a:defRPr>
            </a:pPr>
            <a:r>
              <a:rPr sz="800" b="1" dirty="0">
                <a:solidFill>
                  <a:srgbClr val="2F8B45"/>
                </a:solidFill>
                <a:latin typeface="Arial"/>
                <a:ea typeface="Arial"/>
                <a:cs typeface="Arial"/>
              </a:rPr>
              <a:t>Orchestration Layer  (LLM-D</a:t>
            </a:r>
            <a:r>
              <a:rPr lang="en-US" sz="800" b="1" dirty="0">
                <a:solidFill>
                  <a:srgbClr val="2F8B45"/>
                </a:solidFill>
                <a:latin typeface="Arial"/>
                <a:ea typeface="Arial"/>
                <a:cs typeface="Arial"/>
              </a:rPr>
              <a:t>, KAITO, Dynamo</a:t>
            </a:r>
            <a:r>
              <a:rPr sz="800" b="1" dirty="0">
                <a:solidFill>
                  <a:srgbClr val="2F8B45"/>
                </a:solidFill>
                <a:latin typeface="Arial"/>
                <a:ea typeface="Arial"/>
                <a:cs typeface="Arial"/>
              </a:rPr>
              <a:t>)</a:t>
            </a:r>
          </a:p>
        </p:txBody>
      </p:sp>
      <p:sp>
        <p:nvSpPr>
          <p:cNvPr id="97" name="orchestration-capabilities-1-box">
            <a:extLst>
              <a:ext uri="{FF2B5EF4-FFF2-40B4-BE49-F238E27FC236}">
                <a16:creationId xmlns:a16="http://schemas.microsoft.com/office/drawing/2014/main" id="{0B42DAF5-12F5-56C0-C211-F8B2FA28F646}"/>
              </a:ext>
            </a:extLst>
          </p:cNvPr>
          <p:cNvSpPr>
            <a:spLocks noGrp="1"/>
          </p:cNvSpPr>
          <p:nvPr/>
        </p:nvSpPr>
        <p:spPr>
          <a:xfrm>
            <a:off x="1711146"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Service</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Orchestration</a:t>
            </a:r>
          </a:p>
        </p:txBody>
      </p:sp>
      <p:sp>
        <p:nvSpPr>
          <p:cNvPr id="98" name="orchestration-capabilities-2-box">
            <a:extLst>
              <a:ext uri="{FF2B5EF4-FFF2-40B4-BE49-F238E27FC236}">
                <a16:creationId xmlns:a16="http://schemas.microsoft.com/office/drawing/2014/main" id="{C460F9DE-7201-3B00-BFAC-6B4779F72D19}"/>
              </a:ext>
            </a:extLst>
          </p:cNvPr>
          <p:cNvSpPr>
            <a:spLocks noGrp="1"/>
          </p:cNvSpPr>
          <p:nvPr/>
        </p:nvSpPr>
        <p:spPr>
          <a:xfrm>
            <a:off x="256703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Routing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Load Balancing</a:t>
            </a:r>
          </a:p>
        </p:txBody>
      </p:sp>
      <p:sp>
        <p:nvSpPr>
          <p:cNvPr id="99" name="orchestration-capabilities-3-box">
            <a:extLst>
              <a:ext uri="{FF2B5EF4-FFF2-40B4-BE49-F238E27FC236}">
                <a16:creationId xmlns:a16="http://schemas.microsoft.com/office/drawing/2014/main" id="{CDDCCF35-840B-3FA3-7C86-F00B5F1D7F12}"/>
              </a:ext>
            </a:extLst>
          </p:cNvPr>
          <p:cNvSpPr>
            <a:spLocks noGrp="1"/>
          </p:cNvSpPr>
          <p:nvPr/>
        </p:nvSpPr>
        <p:spPr>
          <a:xfrm>
            <a:off x="342292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Scheduling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Autoscaling</a:t>
            </a:r>
          </a:p>
        </p:txBody>
      </p:sp>
      <p:sp>
        <p:nvSpPr>
          <p:cNvPr id="100" name="orchestration-capabilities-4-box">
            <a:extLst>
              <a:ext uri="{FF2B5EF4-FFF2-40B4-BE49-F238E27FC236}">
                <a16:creationId xmlns:a16="http://schemas.microsoft.com/office/drawing/2014/main" id="{DB1B3049-C44C-3902-4B37-8DAB89330443}"/>
              </a:ext>
            </a:extLst>
          </p:cNvPr>
          <p:cNvSpPr>
            <a:spLocks noGrp="1"/>
          </p:cNvSpPr>
          <p:nvPr/>
        </p:nvSpPr>
        <p:spPr>
          <a:xfrm>
            <a:off x="4278814"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Policy &amp; Strategy</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Management</a:t>
            </a:r>
          </a:p>
        </p:txBody>
      </p:sp>
      <p:sp>
        <p:nvSpPr>
          <p:cNvPr id="102" name="orchestration-capabilities-6-box">
            <a:extLst>
              <a:ext uri="{FF2B5EF4-FFF2-40B4-BE49-F238E27FC236}">
                <a16:creationId xmlns:a16="http://schemas.microsoft.com/office/drawing/2014/main" id="{D4C56765-5941-5A9B-11A7-CA3184DF781D}"/>
              </a:ext>
            </a:extLst>
          </p:cNvPr>
          <p:cNvSpPr>
            <a:spLocks noGrp="1"/>
          </p:cNvSpPr>
          <p:nvPr/>
        </p:nvSpPr>
        <p:spPr>
          <a:xfrm>
            <a:off x="520409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Elastic</a:t>
            </a:r>
          </a:p>
          <a:p>
            <a:pPr algn="ctr">
              <a:defRPr sz="465" b="0">
                <a:solidFill>
                  <a:srgbClr val="102031"/>
                </a:solidFill>
                <a:latin typeface="Arial"/>
                <a:ea typeface="Arial"/>
                <a:cs typeface="Arial"/>
              </a:defRPr>
            </a:pPr>
            <a:r>
              <a:rPr sz="600" b="0">
                <a:solidFill>
                  <a:srgbClr val="102031"/>
                </a:solidFill>
                <a:latin typeface="Arial"/>
                <a:ea typeface="Arial"/>
                <a:cs typeface="Arial"/>
              </a:rPr>
              <a:t>Scaling</a:t>
            </a:r>
          </a:p>
        </p:txBody>
      </p:sp>
      <p:sp>
        <p:nvSpPr>
          <p:cNvPr id="103" name="orchestration-capabilities-7-box">
            <a:extLst>
              <a:ext uri="{FF2B5EF4-FFF2-40B4-BE49-F238E27FC236}">
                <a16:creationId xmlns:a16="http://schemas.microsoft.com/office/drawing/2014/main" id="{142455BB-019D-478E-144D-E85B309E82DD}"/>
              </a:ext>
            </a:extLst>
          </p:cNvPr>
          <p:cNvSpPr>
            <a:spLocks noGrp="1"/>
          </p:cNvSpPr>
          <p:nvPr/>
        </p:nvSpPr>
        <p:spPr>
          <a:xfrm>
            <a:off x="605998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Observability &amp;</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Monitoring</a:t>
            </a:r>
          </a:p>
        </p:txBody>
      </p:sp>
      <p:sp>
        <p:nvSpPr>
          <p:cNvPr id="104" name="runtime-frame">
            <a:extLst>
              <a:ext uri="{FF2B5EF4-FFF2-40B4-BE49-F238E27FC236}">
                <a16:creationId xmlns:a16="http://schemas.microsoft.com/office/drawing/2014/main" id="{1FAF42A9-034D-2498-9D21-870CF65024CE}"/>
              </a:ext>
            </a:extLst>
          </p:cNvPr>
          <p:cNvSpPr>
            <a:spLocks noGrp="1"/>
          </p:cNvSpPr>
          <p:nvPr/>
        </p:nvSpPr>
        <p:spPr>
          <a:xfrm>
            <a:off x="990601" y="2538594"/>
            <a:ext cx="6076950" cy="409575"/>
          </a:xfrm>
          <a:prstGeom prst="roundRect">
            <a:avLst>
              <a:gd name="adj" fmla="val 9302"/>
            </a:avLst>
          </a:prstGeom>
          <a:solidFill>
            <a:srgbClr val="FFFFFF"/>
          </a:solidFill>
          <a:ln w="9525">
            <a:solidFill>
              <a:srgbClr val="CFE3C7"/>
            </a:solidFill>
            <a:prstDash val="solid"/>
          </a:ln>
        </p:spPr>
        <p:txBody>
          <a:bodyPr/>
          <a:lstStyle/>
          <a:p>
            <a:endParaRPr lang="zh-CN" altLang="en-US" sz="1600"/>
          </a:p>
        </p:txBody>
      </p:sp>
      <p:sp>
        <p:nvSpPr>
          <p:cNvPr id="105" name="runtime-title">
            <a:extLst>
              <a:ext uri="{FF2B5EF4-FFF2-40B4-BE49-F238E27FC236}">
                <a16:creationId xmlns:a16="http://schemas.microsoft.com/office/drawing/2014/main" id="{B1F77162-90B2-16C0-A95B-FBEEFECB9417}"/>
              </a:ext>
            </a:extLst>
          </p:cNvPr>
          <p:cNvSpPr>
            <a:spLocks noGrp="1"/>
          </p:cNvSpPr>
          <p:nvPr/>
        </p:nvSpPr>
        <p:spPr>
          <a:xfrm>
            <a:off x="1666876" y="2567169"/>
            <a:ext cx="5334000" cy="123825"/>
          </a:xfrm>
          <a:prstGeom prst="rect">
            <a:avLst/>
          </a:prstGeom>
          <a:noFill/>
          <a:ln w="0">
            <a:noFill/>
            <a:prstDash val="solid"/>
          </a:ln>
        </p:spPr>
        <p:txBody>
          <a:bodyPr wrap="square" lIns="19050" tIns="9525" rIns="19050" bIns="9525" anchor="ctr">
            <a:noAutofit/>
          </a:bodyPr>
          <a:lstStyle/>
          <a:p>
            <a:pPr algn="ctr">
              <a:defRPr sz="638" b="1">
                <a:solidFill>
                  <a:srgbClr val="2F8B45"/>
                </a:solidFill>
                <a:latin typeface="Arial"/>
                <a:ea typeface="Arial"/>
                <a:cs typeface="Arial"/>
              </a:defRPr>
            </a:pPr>
            <a:r>
              <a:rPr sz="700" b="1" dirty="0">
                <a:solidFill>
                  <a:srgbClr val="2F8B45"/>
                </a:solidFill>
                <a:latin typeface="Arial"/>
                <a:ea typeface="Arial"/>
                <a:cs typeface="Arial"/>
              </a:rPr>
              <a:t>Inference Runtime Layer  (</a:t>
            </a:r>
            <a:r>
              <a:rPr sz="700" b="1" dirty="0" err="1">
                <a:solidFill>
                  <a:srgbClr val="2F8B45"/>
                </a:solidFill>
                <a:latin typeface="Arial"/>
                <a:ea typeface="Arial"/>
                <a:cs typeface="Arial"/>
              </a:rPr>
              <a:t>vLLM</a:t>
            </a:r>
            <a:r>
              <a:rPr lang="en-US" sz="700" b="1" dirty="0">
                <a:solidFill>
                  <a:srgbClr val="2F8B45"/>
                </a:solidFill>
                <a:latin typeface="Arial"/>
                <a:ea typeface="Arial"/>
                <a:cs typeface="Arial"/>
              </a:rPr>
              <a:t>, </a:t>
            </a:r>
            <a:r>
              <a:rPr lang="en-US" sz="700" b="1" dirty="0" err="1">
                <a:solidFill>
                  <a:srgbClr val="2F8B45"/>
                </a:solidFill>
                <a:latin typeface="Arial"/>
                <a:ea typeface="Arial"/>
                <a:cs typeface="Arial"/>
              </a:rPr>
              <a:t>SGLang</a:t>
            </a:r>
            <a:r>
              <a:rPr lang="en-US" sz="700" b="1" dirty="0">
                <a:solidFill>
                  <a:srgbClr val="2F8B45"/>
                </a:solidFill>
                <a:latin typeface="Arial"/>
                <a:ea typeface="Arial"/>
                <a:cs typeface="Arial"/>
              </a:rPr>
              <a:t>, Triton </a:t>
            </a:r>
            <a:r>
              <a:rPr sz="700" b="1" dirty="0">
                <a:solidFill>
                  <a:srgbClr val="2F8B45"/>
                </a:solidFill>
                <a:latin typeface="Arial"/>
                <a:ea typeface="Arial"/>
                <a:cs typeface="Arial"/>
              </a:rPr>
              <a:t>)</a:t>
            </a:r>
          </a:p>
        </p:txBody>
      </p:sp>
      <p:sp>
        <p:nvSpPr>
          <p:cNvPr id="106" name="vllm-wordmark">
            <a:extLst>
              <a:ext uri="{FF2B5EF4-FFF2-40B4-BE49-F238E27FC236}">
                <a16:creationId xmlns:a16="http://schemas.microsoft.com/office/drawing/2014/main" id="{1735F861-B3FD-E358-3BB5-BA350EE256E2}"/>
              </a:ext>
            </a:extLst>
          </p:cNvPr>
          <p:cNvSpPr>
            <a:spLocks noGrp="1"/>
          </p:cNvSpPr>
          <p:nvPr/>
        </p:nvSpPr>
        <p:spPr>
          <a:xfrm>
            <a:off x="1066801" y="2681469"/>
            <a:ext cx="552450" cy="190500"/>
          </a:xfrm>
          <a:prstGeom prst="rect">
            <a:avLst/>
          </a:prstGeom>
          <a:noFill/>
          <a:ln w="0">
            <a:noFill/>
            <a:prstDash val="solid"/>
          </a:ln>
        </p:spPr>
        <p:txBody>
          <a:bodyPr wrap="square" lIns="19050" tIns="9525" rIns="19050" bIns="9525" anchor="ctr">
            <a:noAutofit/>
          </a:bodyPr>
          <a:lstStyle/>
          <a:p>
            <a:pPr algn="ctr">
              <a:defRPr sz="1200" b="1">
                <a:solidFill>
                  <a:srgbClr val="475569"/>
                </a:solidFill>
                <a:latin typeface="Arial"/>
                <a:ea typeface="Arial"/>
                <a:cs typeface="Arial"/>
              </a:defRPr>
            </a:pPr>
            <a:r>
              <a:rPr sz="1200" b="1" dirty="0" err="1">
                <a:solidFill>
                  <a:srgbClr val="475569"/>
                </a:solidFill>
                <a:latin typeface="Arial"/>
                <a:ea typeface="Arial"/>
                <a:cs typeface="Arial"/>
              </a:rPr>
              <a:t>vLLM</a:t>
            </a:r>
            <a:endParaRPr sz="1200" b="1" dirty="0">
              <a:solidFill>
                <a:srgbClr val="475569"/>
              </a:solidFill>
              <a:latin typeface="Arial"/>
              <a:ea typeface="Arial"/>
              <a:cs typeface="Arial"/>
            </a:endParaRPr>
          </a:p>
        </p:txBody>
      </p:sp>
      <p:sp>
        <p:nvSpPr>
          <p:cNvPr id="107" name="runtime-capabilities-1-box">
            <a:extLst>
              <a:ext uri="{FF2B5EF4-FFF2-40B4-BE49-F238E27FC236}">
                <a16:creationId xmlns:a16="http://schemas.microsoft.com/office/drawing/2014/main" id="{1B5EEE5A-CE88-FD07-0F39-5C91565950A2}"/>
              </a:ext>
            </a:extLst>
          </p:cNvPr>
          <p:cNvSpPr>
            <a:spLocks noGrp="1"/>
          </p:cNvSpPr>
          <p:nvPr/>
        </p:nvSpPr>
        <p:spPr>
          <a:xfrm>
            <a:off x="167640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Continuous Batching</a:t>
            </a:r>
          </a:p>
        </p:txBody>
      </p:sp>
      <p:sp>
        <p:nvSpPr>
          <p:cNvPr id="108" name="runtime-capabilities-2-box">
            <a:extLst>
              <a:ext uri="{FF2B5EF4-FFF2-40B4-BE49-F238E27FC236}">
                <a16:creationId xmlns:a16="http://schemas.microsoft.com/office/drawing/2014/main" id="{8231CD6F-71C3-8B76-1B47-9F0F0DC17A8F}"/>
              </a:ext>
            </a:extLst>
          </p:cNvPr>
          <p:cNvSpPr>
            <a:spLocks noGrp="1"/>
          </p:cNvSpPr>
          <p:nvPr/>
        </p:nvSpPr>
        <p:spPr>
          <a:xfrm>
            <a:off x="256698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Paged Attention</a:t>
            </a:r>
          </a:p>
        </p:txBody>
      </p:sp>
      <p:sp>
        <p:nvSpPr>
          <p:cNvPr id="109" name="runtime-capabilities-3-box">
            <a:extLst>
              <a:ext uri="{FF2B5EF4-FFF2-40B4-BE49-F238E27FC236}">
                <a16:creationId xmlns:a16="http://schemas.microsoft.com/office/drawing/2014/main" id="{0D66DF2C-42DA-189C-E7EA-7816A229F0E3}"/>
              </a:ext>
            </a:extLst>
          </p:cNvPr>
          <p:cNvSpPr>
            <a:spLocks noGrp="1"/>
          </p:cNvSpPr>
          <p:nvPr/>
        </p:nvSpPr>
        <p:spPr>
          <a:xfrm>
            <a:off x="3457576"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Speculative Decoding</a:t>
            </a:r>
          </a:p>
        </p:txBody>
      </p:sp>
      <p:sp>
        <p:nvSpPr>
          <p:cNvPr id="110" name="runtime-capabilities-4-box">
            <a:extLst>
              <a:ext uri="{FF2B5EF4-FFF2-40B4-BE49-F238E27FC236}">
                <a16:creationId xmlns:a16="http://schemas.microsoft.com/office/drawing/2014/main" id="{30C600C0-E27C-C2C8-5F01-5F570FB8A7E4}"/>
              </a:ext>
            </a:extLst>
          </p:cNvPr>
          <p:cNvSpPr>
            <a:spLocks noGrp="1"/>
          </p:cNvSpPr>
          <p:nvPr/>
        </p:nvSpPr>
        <p:spPr>
          <a:xfrm>
            <a:off x="4348164"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Multi-LoRA</a:t>
            </a:r>
          </a:p>
        </p:txBody>
      </p:sp>
      <p:sp>
        <p:nvSpPr>
          <p:cNvPr id="111" name="runtime-capabilities-5-box">
            <a:extLst>
              <a:ext uri="{FF2B5EF4-FFF2-40B4-BE49-F238E27FC236}">
                <a16:creationId xmlns:a16="http://schemas.microsoft.com/office/drawing/2014/main" id="{BF57638F-BE9A-670B-FBAF-FD8B9860ED44}"/>
              </a:ext>
            </a:extLst>
          </p:cNvPr>
          <p:cNvSpPr>
            <a:spLocks noGrp="1"/>
          </p:cNvSpPr>
          <p:nvPr/>
        </p:nvSpPr>
        <p:spPr>
          <a:xfrm>
            <a:off x="523875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Prefix Cache</a:t>
            </a:r>
          </a:p>
        </p:txBody>
      </p:sp>
      <p:sp>
        <p:nvSpPr>
          <p:cNvPr id="112" name="runtime-capabilities-6-box">
            <a:extLst>
              <a:ext uri="{FF2B5EF4-FFF2-40B4-BE49-F238E27FC236}">
                <a16:creationId xmlns:a16="http://schemas.microsoft.com/office/drawing/2014/main" id="{79144BC9-1D6E-9DDF-CC7A-1C253E4EA11F}"/>
              </a:ext>
            </a:extLst>
          </p:cNvPr>
          <p:cNvSpPr>
            <a:spLocks noGrp="1"/>
          </p:cNvSpPr>
          <p:nvPr/>
        </p:nvSpPr>
        <p:spPr>
          <a:xfrm>
            <a:off x="612933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a:t>
            </a:r>
          </a:p>
        </p:txBody>
      </p:sp>
      <p:sp>
        <p:nvSpPr>
          <p:cNvPr id="113" name="kv-frame">
            <a:extLst>
              <a:ext uri="{FF2B5EF4-FFF2-40B4-BE49-F238E27FC236}">
                <a16:creationId xmlns:a16="http://schemas.microsoft.com/office/drawing/2014/main" id="{2AEC3F3C-C0AE-2DCE-C52A-5FD994AE1283}"/>
              </a:ext>
            </a:extLst>
          </p:cNvPr>
          <p:cNvSpPr>
            <a:spLocks noGrp="1"/>
          </p:cNvSpPr>
          <p:nvPr/>
        </p:nvSpPr>
        <p:spPr>
          <a:xfrm>
            <a:off x="990601" y="2995794"/>
            <a:ext cx="6076950" cy="657225"/>
          </a:xfrm>
          <a:prstGeom prst="roundRect">
            <a:avLst>
              <a:gd name="adj" fmla="val 5797"/>
            </a:avLst>
          </a:prstGeom>
          <a:solidFill>
            <a:srgbClr val="FFFFFF"/>
          </a:solidFill>
          <a:ln w="9525">
            <a:solidFill>
              <a:srgbClr val="CFE3C7"/>
            </a:solidFill>
            <a:prstDash val="solid"/>
          </a:ln>
        </p:spPr>
        <p:txBody>
          <a:bodyPr/>
          <a:lstStyle/>
          <a:p>
            <a:endParaRPr lang="zh-CN" altLang="en-US" sz="1600"/>
          </a:p>
        </p:txBody>
      </p:sp>
      <p:sp>
        <p:nvSpPr>
          <p:cNvPr id="114" name="kv-title">
            <a:extLst>
              <a:ext uri="{FF2B5EF4-FFF2-40B4-BE49-F238E27FC236}">
                <a16:creationId xmlns:a16="http://schemas.microsoft.com/office/drawing/2014/main" id="{47181DCF-CFDD-7158-04D6-90A5F078E914}"/>
              </a:ext>
            </a:extLst>
          </p:cNvPr>
          <p:cNvSpPr>
            <a:spLocks noGrp="1"/>
          </p:cNvSpPr>
          <p:nvPr/>
        </p:nvSpPr>
        <p:spPr>
          <a:xfrm>
            <a:off x="1047751" y="3014844"/>
            <a:ext cx="5962650" cy="123825"/>
          </a:xfrm>
          <a:prstGeom prst="rect">
            <a:avLst/>
          </a:prstGeom>
          <a:noFill/>
          <a:ln w="0">
            <a:noFill/>
            <a:prstDash val="solid"/>
          </a:ln>
        </p:spPr>
        <p:txBody>
          <a:bodyPr wrap="square" lIns="19050" tIns="9525" rIns="19050" bIns="9525" anchor="ctr">
            <a:noAutofit/>
          </a:bodyPr>
          <a:lstStyle/>
          <a:p>
            <a:pPr algn="ctr">
              <a:defRPr sz="653" b="1">
                <a:solidFill>
                  <a:srgbClr val="2F8B45"/>
                </a:solidFill>
                <a:latin typeface="Arial"/>
                <a:ea typeface="Arial"/>
                <a:cs typeface="Arial"/>
              </a:defRPr>
            </a:pPr>
            <a:r>
              <a:rPr sz="800" b="1" dirty="0">
                <a:solidFill>
                  <a:srgbClr val="2F8B45"/>
                </a:solidFill>
                <a:latin typeface="Arial"/>
                <a:ea typeface="Arial"/>
                <a:cs typeface="Arial"/>
              </a:rPr>
              <a:t>KV-Cache Offload &amp; Management Layer  (</a:t>
            </a:r>
            <a:r>
              <a:rPr lang="en-US" sz="800" b="1" dirty="0" err="1">
                <a:solidFill>
                  <a:srgbClr val="2F8B45"/>
                </a:solidFill>
                <a:latin typeface="Arial"/>
                <a:ea typeface="Arial"/>
                <a:cs typeface="Arial"/>
              </a:rPr>
              <a:t>LMCache</a:t>
            </a:r>
            <a:r>
              <a:rPr lang="en-US" sz="800" b="1" dirty="0">
                <a:solidFill>
                  <a:srgbClr val="2F8B45"/>
                </a:solidFill>
                <a:latin typeface="Arial"/>
                <a:ea typeface="Arial"/>
                <a:cs typeface="Arial"/>
              </a:rPr>
              <a:t>, KVBM</a:t>
            </a:r>
            <a:r>
              <a:rPr lang="en-US" sz="800" b="1" dirty="0">
                <a:solidFill>
                  <a:srgbClr val="2F8B45"/>
                </a:solidFill>
              </a:rPr>
              <a:t>, </a:t>
            </a:r>
            <a:r>
              <a:rPr lang="en-US" sz="800" b="1" dirty="0">
                <a:solidFill>
                  <a:srgbClr val="2F8B45"/>
                </a:solidFill>
                <a:latin typeface="Arial"/>
                <a:ea typeface="Arial"/>
                <a:cs typeface="Arial"/>
              </a:rPr>
              <a:t>Mooncake</a:t>
            </a:r>
            <a:r>
              <a:rPr sz="800" b="1" dirty="0">
                <a:solidFill>
                  <a:srgbClr val="2F8B45"/>
                </a:solidFill>
                <a:latin typeface="Arial"/>
                <a:ea typeface="Arial"/>
                <a:cs typeface="Arial"/>
              </a:rPr>
              <a:t>)</a:t>
            </a:r>
          </a:p>
        </p:txBody>
      </p:sp>
      <p:sp>
        <p:nvSpPr>
          <p:cNvPr id="115" name="kv-col-1">
            <a:extLst>
              <a:ext uri="{FF2B5EF4-FFF2-40B4-BE49-F238E27FC236}">
                <a16:creationId xmlns:a16="http://schemas.microsoft.com/office/drawing/2014/main" id="{EA1F52F3-EE9D-BB92-FE97-4D6B1DFAA101}"/>
              </a:ext>
            </a:extLst>
          </p:cNvPr>
          <p:cNvSpPr>
            <a:spLocks noGrp="1"/>
          </p:cNvSpPr>
          <p:nvPr/>
        </p:nvSpPr>
        <p:spPr>
          <a:xfrm>
            <a:off x="10477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6" name="kv-col-1-title">
            <a:extLst>
              <a:ext uri="{FF2B5EF4-FFF2-40B4-BE49-F238E27FC236}">
                <a16:creationId xmlns:a16="http://schemas.microsoft.com/office/drawing/2014/main" id="{BE4C0944-2FC8-C97E-1732-615921EF4C8D}"/>
              </a:ext>
            </a:extLst>
          </p:cNvPr>
          <p:cNvSpPr>
            <a:spLocks noGrp="1"/>
          </p:cNvSpPr>
          <p:nvPr/>
        </p:nvSpPr>
        <p:spPr>
          <a:xfrm>
            <a:off x="10668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KV Cache Management</a:t>
            </a:r>
          </a:p>
        </p:txBody>
      </p:sp>
      <p:sp>
        <p:nvSpPr>
          <p:cNvPr id="117" name="kv-col-1-body">
            <a:extLst>
              <a:ext uri="{FF2B5EF4-FFF2-40B4-BE49-F238E27FC236}">
                <a16:creationId xmlns:a16="http://schemas.microsoft.com/office/drawing/2014/main" id="{BC40F0CE-8360-1C41-8532-6F898F7566E3}"/>
              </a:ext>
            </a:extLst>
          </p:cNvPr>
          <p:cNvSpPr>
            <a:spLocks noGrp="1"/>
          </p:cNvSpPr>
          <p:nvPr/>
        </p:nvSpPr>
        <p:spPr>
          <a:xfrm>
            <a:off x="10763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KVBM</a:t>
            </a:r>
          </a:p>
          <a:p>
            <a:pPr algn="ctr">
              <a:defRPr sz="397" b="0">
                <a:solidFill>
                  <a:srgbClr val="102031"/>
                </a:solidFill>
                <a:latin typeface="Arial"/>
                <a:ea typeface="Arial"/>
                <a:cs typeface="Arial"/>
              </a:defRPr>
            </a:pPr>
            <a:r>
              <a:rPr sz="500" b="0">
                <a:solidFill>
                  <a:srgbClr val="102031"/>
                </a:solidFill>
                <a:latin typeface="Arial"/>
                <a:ea typeface="Arial"/>
                <a:cs typeface="Arial"/>
              </a:rPr>
              <a:t>LMCache</a:t>
            </a:r>
          </a:p>
          <a:p>
            <a:pPr algn="ctr">
              <a:defRPr sz="397" b="0">
                <a:solidFill>
                  <a:srgbClr val="102031"/>
                </a:solidFill>
                <a:latin typeface="Arial"/>
                <a:ea typeface="Arial"/>
                <a:cs typeface="Arial"/>
              </a:defRPr>
            </a:pPr>
            <a:r>
              <a:rPr sz="500" b="0">
                <a:solidFill>
                  <a:srgbClr val="102031"/>
                </a:solidFill>
                <a:latin typeface="Arial"/>
                <a:ea typeface="Arial"/>
                <a:cs typeface="Arial"/>
              </a:rPr>
              <a:t>Mooncake</a:t>
            </a:r>
          </a:p>
          <a:p>
            <a:pPr algn="ctr">
              <a:defRPr sz="397" b="0">
                <a:solidFill>
                  <a:srgbClr val="102031"/>
                </a:solidFill>
                <a:latin typeface="Arial"/>
                <a:ea typeface="Arial"/>
                <a:cs typeface="Arial"/>
              </a:defRPr>
            </a:pPr>
            <a:r>
              <a:rPr sz="500" b="0">
                <a:solidFill>
                  <a:srgbClr val="102031"/>
                </a:solidFill>
                <a:latin typeface="Arial"/>
                <a:ea typeface="Arial"/>
                <a:cs typeface="Arial"/>
              </a:rPr>
              <a:t>…</a:t>
            </a:r>
          </a:p>
        </p:txBody>
      </p:sp>
      <p:sp>
        <p:nvSpPr>
          <p:cNvPr id="118" name="kv-col-2">
            <a:extLst>
              <a:ext uri="{FF2B5EF4-FFF2-40B4-BE49-F238E27FC236}">
                <a16:creationId xmlns:a16="http://schemas.microsoft.com/office/drawing/2014/main" id="{5D38B01C-3D48-22EC-122E-E7DDB21B7DA1}"/>
              </a:ext>
            </a:extLst>
          </p:cNvPr>
          <p:cNvSpPr>
            <a:spLocks noGrp="1"/>
          </p:cNvSpPr>
          <p:nvPr/>
        </p:nvSpPr>
        <p:spPr>
          <a:xfrm>
            <a:off x="22479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9" name="kv-col-2-title">
            <a:extLst>
              <a:ext uri="{FF2B5EF4-FFF2-40B4-BE49-F238E27FC236}">
                <a16:creationId xmlns:a16="http://schemas.microsoft.com/office/drawing/2014/main" id="{223D98C9-3BE5-99F9-577E-D11575812298}"/>
              </a:ext>
            </a:extLst>
          </p:cNvPr>
          <p:cNvSpPr>
            <a:spLocks noGrp="1"/>
          </p:cNvSpPr>
          <p:nvPr/>
        </p:nvSpPr>
        <p:spPr>
          <a:xfrm>
            <a:off x="22669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Abstraction (NIXL)</a:t>
            </a:r>
          </a:p>
        </p:txBody>
      </p:sp>
      <p:sp>
        <p:nvSpPr>
          <p:cNvPr id="120" name="kv-col-2-body">
            <a:extLst>
              <a:ext uri="{FF2B5EF4-FFF2-40B4-BE49-F238E27FC236}">
                <a16:creationId xmlns:a16="http://schemas.microsoft.com/office/drawing/2014/main" id="{5A7AAD5E-D4A8-3867-7636-7C37C780A8CC}"/>
              </a:ext>
            </a:extLst>
          </p:cNvPr>
          <p:cNvSpPr>
            <a:spLocks noGrp="1"/>
          </p:cNvSpPr>
          <p:nvPr/>
        </p:nvSpPr>
        <p:spPr>
          <a:xfrm>
            <a:off x="227647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Unified Interface</a:t>
            </a:r>
          </a:p>
          <a:p>
            <a:pPr algn="ctr">
              <a:defRPr sz="397" b="0">
                <a:solidFill>
                  <a:srgbClr val="102031"/>
                </a:solidFill>
                <a:latin typeface="Arial"/>
                <a:ea typeface="Arial"/>
                <a:cs typeface="Arial"/>
              </a:defRPr>
            </a:pPr>
            <a:r>
              <a:rPr sz="500" b="0">
                <a:solidFill>
                  <a:srgbClr val="102031"/>
                </a:solidFill>
                <a:latin typeface="Arial"/>
                <a:ea typeface="Arial"/>
                <a:cs typeface="Arial"/>
              </a:rPr>
              <a:t>Tiered Storage Mgmt.</a:t>
            </a:r>
          </a:p>
          <a:p>
            <a:pPr algn="ctr">
              <a:defRPr sz="397" b="0">
                <a:solidFill>
                  <a:srgbClr val="102031"/>
                </a:solidFill>
                <a:latin typeface="Arial"/>
                <a:ea typeface="Arial"/>
                <a:cs typeface="Arial"/>
              </a:defRPr>
            </a:pPr>
            <a:r>
              <a:rPr sz="500" b="0">
                <a:solidFill>
                  <a:srgbClr val="102031"/>
                </a:solidFill>
                <a:latin typeface="Arial"/>
                <a:ea typeface="Arial"/>
                <a:cs typeface="Arial"/>
              </a:rPr>
              <a:t>Cache Policy</a:t>
            </a:r>
          </a:p>
          <a:p>
            <a:pPr algn="ctr">
              <a:defRPr sz="397" b="0">
                <a:solidFill>
                  <a:srgbClr val="102031"/>
                </a:solidFill>
                <a:latin typeface="Arial"/>
                <a:ea typeface="Arial"/>
                <a:cs typeface="Arial"/>
              </a:defRPr>
            </a:pPr>
            <a:r>
              <a:rPr sz="500" b="0">
                <a:solidFill>
                  <a:srgbClr val="102031"/>
                </a:solidFill>
                <a:latin typeface="Arial"/>
                <a:ea typeface="Arial"/>
                <a:cs typeface="Arial"/>
              </a:rPr>
              <a:t>Data Consistency</a:t>
            </a:r>
          </a:p>
        </p:txBody>
      </p:sp>
      <p:sp>
        <p:nvSpPr>
          <p:cNvPr id="121" name="kv-col-3">
            <a:extLst>
              <a:ext uri="{FF2B5EF4-FFF2-40B4-BE49-F238E27FC236}">
                <a16:creationId xmlns:a16="http://schemas.microsoft.com/office/drawing/2014/main" id="{03E3C4CC-A53E-7325-CD9B-FFCEB733698E}"/>
              </a:ext>
            </a:extLst>
          </p:cNvPr>
          <p:cNvSpPr>
            <a:spLocks noGrp="1"/>
          </p:cNvSpPr>
          <p:nvPr/>
        </p:nvSpPr>
        <p:spPr>
          <a:xfrm>
            <a:off x="34480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2" name="kv-col-3-title">
            <a:extLst>
              <a:ext uri="{FF2B5EF4-FFF2-40B4-BE49-F238E27FC236}">
                <a16:creationId xmlns:a16="http://schemas.microsoft.com/office/drawing/2014/main" id="{CB1131DB-E96F-8364-712C-33FD2CFD269A}"/>
              </a:ext>
            </a:extLst>
          </p:cNvPr>
          <p:cNvSpPr>
            <a:spLocks noGrp="1"/>
          </p:cNvSpPr>
          <p:nvPr/>
        </p:nvSpPr>
        <p:spPr>
          <a:xfrm>
            <a:off x="34671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Distributed Memory KV Transport</a:t>
            </a:r>
          </a:p>
        </p:txBody>
      </p:sp>
      <p:sp>
        <p:nvSpPr>
          <p:cNvPr id="123" name="kv-col-3-body">
            <a:extLst>
              <a:ext uri="{FF2B5EF4-FFF2-40B4-BE49-F238E27FC236}">
                <a16:creationId xmlns:a16="http://schemas.microsoft.com/office/drawing/2014/main" id="{8B80068E-4C4C-3A0E-5B67-3C766C4AFE41}"/>
              </a:ext>
            </a:extLst>
          </p:cNvPr>
          <p:cNvSpPr>
            <a:spLocks noGrp="1"/>
          </p:cNvSpPr>
          <p:nvPr/>
        </p:nvSpPr>
        <p:spPr>
          <a:xfrm>
            <a:off x="34766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dirty="0" err="1">
                <a:solidFill>
                  <a:srgbClr val="102031"/>
                </a:solidFill>
                <a:latin typeface="Arial"/>
                <a:ea typeface="Arial"/>
                <a:cs typeface="Arial"/>
              </a:rPr>
              <a:t>Redhare</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(Distributed Memory KV Transport)</a:t>
            </a:r>
          </a:p>
          <a:p>
            <a:pPr algn="ctr">
              <a:defRPr sz="397" b="0">
                <a:solidFill>
                  <a:srgbClr val="102031"/>
                </a:solidFill>
                <a:latin typeface="Arial"/>
                <a:ea typeface="Arial"/>
                <a:cs typeface="Arial"/>
              </a:defRPr>
            </a:pPr>
            <a:r>
              <a:rPr sz="500" b="0" dirty="0" err="1">
                <a:solidFill>
                  <a:srgbClr val="102031"/>
                </a:solidFill>
                <a:latin typeface="Arial"/>
                <a:ea typeface="Arial"/>
                <a:cs typeface="Arial"/>
              </a:rPr>
              <a:t>ContextStor</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(Large Context Storage)</a:t>
            </a:r>
          </a:p>
        </p:txBody>
      </p:sp>
      <p:sp>
        <p:nvSpPr>
          <p:cNvPr id="124" name="kv-col-4">
            <a:extLst>
              <a:ext uri="{FF2B5EF4-FFF2-40B4-BE49-F238E27FC236}">
                <a16:creationId xmlns:a16="http://schemas.microsoft.com/office/drawing/2014/main" id="{C0067503-6750-50A1-6C54-7120A8D8D9AD}"/>
              </a:ext>
            </a:extLst>
          </p:cNvPr>
          <p:cNvSpPr>
            <a:spLocks noGrp="1"/>
          </p:cNvSpPr>
          <p:nvPr/>
        </p:nvSpPr>
        <p:spPr>
          <a:xfrm>
            <a:off x="46482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5" name="kv-col-4-title">
            <a:extLst>
              <a:ext uri="{FF2B5EF4-FFF2-40B4-BE49-F238E27FC236}">
                <a16:creationId xmlns:a16="http://schemas.microsoft.com/office/drawing/2014/main" id="{B9D81905-06C0-BAB5-C490-190A118C5448}"/>
              </a:ext>
            </a:extLst>
          </p:cNvPr>
          <p:cNvSpPr>
            <a:spLocks noGrp="1"/>
          </p:cNvSpPr>
          <p:nvPr/>
        </p:nvSpPr>
        <p:spPr>
          <a:xfrm>
            <a:off x="46672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Backend</a:t>
            </a:r>
          </a:p>
        </p:txBody>
      </p:sp>
      <p:sp>
        <p:nvSpPr>
          <p:cNvPr id="126" name="kv-col-4-body">
            <a:extLst>
              <a:ext uri="{FF2B5EF4-FFF2-40B4-BE49-F238E27FC236}">
                <a16:creationId xmlns:a16="http://schemas.microsoft.com/office/drawing/2014/main" id="{45628B75-DA1D-EE1F-A039-FB875A2BA173}"/>
              </a:ext>
            </a:extLst>
          </p:cNvPr>
          <p:cNvSpPr>
            <a:spLocks noGrp="1"/>
          </p:cNvSpPr>
          <p:nvPr/>
        </p:nvSpPr>
        <p:spPr>
          <a:xfrm>
            <a:off x="467677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Object / File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High-performance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Cloud / On-prem Storage</a:t>
            </a:r>
          </a:p>
        </p:txBody>
      </p:sp>
      <p:sp>
        <p:nvSpPr>
          <p:cNvPr id="127" name="kv-col-5">
            <a:extLst>
              <a:ext uri="{FF2B5EF4-FFF2-40B4-BE49-F238E27FC236}">
                <a16:creationId xmlns:a16="http://schemas.microsoft.com/office/drawing/2014/main" id="{1EE7A009-20AF-7E11-FF5A-4EE1664C9665}"/>
              </a:ext>
            </a:extLst>
          </p:cNvPr>
          <p:cNvSpPr>
            <a:spLocks noGrp="1"/>
          </p:cNvSpPr>
          <p:nvPr/>
        </p:nvSpPr>
        <p:spPr>
          <a:xfrm>
            <a:off x="58483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8" name="kv-col-5-title">
            <a:extLst>
              <a:ext uri="{FF2B5EF4-FFF2-40B4-BE49-F238E27FC236}">
                <a16:creationId xmlns:a16="http://schemas.microsoft.com/office/drawing/2014/main" id="{6B4B0ECF-0BE7-F0E1-DE94-AFEEA2DDB242}"/>
              </a:ext>
            </a:extLst>
          </p:cNvPr>
          <p:cNvSpPr>
            <a:spLocks noGrp="1"/>
          </p:cNvSpPr>
          <p:nvPr/>
        </p:nvSpPr>
        <p:spPr>
          <a:xfrm>
            <a:off x="58674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DPU Storage Gateway</a:t>
            </a:r>
          </a:p>
        </p:txBody>
      </p:sp>
      <p:sp>
        <p:nvSpPr>
          <p:cNvPr id="129" name="kv-col-5-body">
            <a:extLst>
              <a:ext uri="{FF2B5EF4-FFF2-40B4-BE49-F238E27FC236}">
                <a16:creationId xmlns:a16="http://schemas.microsoft.com/office/drawing/2014/main" id="{C779D286-49EA-452F-945C-071D5E11C130}"/>
              </a:ext>
            </a:extLst>
          </p:cNvPr>
          <p:cNvSpPr>
            <a:spLocks noGrp="1"/>
          </p:cNvSpPr>
          <p:nvPr/>
        </p:nvSpPr>
        <p:spPr>
          <a:xfrm>
            <a:off x="587692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DPU Acceleration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Protocol Offload · Data Optimization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Security Isolation · High Performance</a:t>
            </a:r>
          </a:p>
        </p:txBody>
      </p:sp>
      <p:sp>
        <p:nvSpPr>
          <p:cNvPr id="130" name="maas-surface">
            <a:extLst>
              <a:ext uri="{FF2B5EF4-FFF2-40B4-BE49-F238E27FC236}">
                <a16:creationId xmlns:a16="http://schemas.microsoft.com/office/drawing/2014/main" id="{4ADEFAD5-77C8-137A-8AD9-1C31AC61F5EE}"/>
              </a:ext>
            </a:extLst>
          </p:cNvPr>
          <p:cNvSpPr>
            <a:spLocks noGrp="1"/>
          </p:cNvSpPr>
          <p:nvPr/>
        </p:nvSpPr>
        <p:spPr>
          <a:xfrm>
            <a:off x="7219950" y="1214618"/>
            <a:ext cx="1847849" cy="3609975"/>
          </a:xfrm>
          <a:prstGeom prst="roundRect">
            <a:avLst>
              <a:gd name="adj" fmla="val 2577"/>
            </a:avLst>
          </a:prstGeom>
          <a:solidFill>
            <a:srgbClr val="F9FCF7"/>
          </a:solidFill>
          <a:ln w="9525">
            <a:solidFill>
              <a:srgbClr val="CFE3C7"/>
            </a:solidFill>
            <a:prstDash val="solid"/>
          </a:ln>
        </p:spPr>
        <p:txBody>
          <a:bodyPr/>
          <a:lstStyle/>
          <a:p>
            <a:endParaRPr lang="zh-CN" altLang="en-US" sz="1600"/>
          </a:p>
        </p:txBody>
      </p:sp>
      <p:sp>
        <p:nvSpPr>
          <p:cNvPr id="131" name="maas-title">
            <a:extLst>
              <a:ext uri="{FF2B5EF4-FFF2-40B4-BE49-F238E27FC236}">
                <a16:creationId xmlns:a16="http://schemas.microsoft.com/office/drawing/2014/main" id="{3D8EA3ED-CB2E-8143-2480-4035C5254D03}"/>
              </a:ext>
            </a:extLst>
          </p:cNvPr>
          <p:cNvSpPr>
            <a:spLocks noGrp="1"/>
          </p:cNvSpPr>
          <p:nvPr/>
        </p:nvSpPr>
        <p:spPr>
          <a:xfrm>
            <a:off x="7277100" y="1241606"/>
            <a:ext cx="1733550" cy="142875"/>
          </a:xfrm>
          <a:prstGeom prst="rect">
            <a:avLst/>
          </a:prstGeom>
          <a:noFill/>
          <a:ln w="0">
            <a:noFill/>
            <a:prstDash val="solid"/>
          </a:ln>
        </p:spPr>
        <p:txBody>
          <a:bodyPr wrap="square" lIns="19050" tIns="9525" rIns="19050" bIns="9525" anchor="ctr">
            <a:normAutofit/>
          </a:bodyPr>
          <a:lstStyle/>
          <a:p>
            <a:pPr algn="ctr">
              <a:defRPr sz="638" b="1">
                <a:solidFill>
                  <a:srgbClr val="2F8B45"/>
                </a:solidFill>
                <a:latin typeface="Arial"/>
                <a:ea typeface="Arial"/>
                <a:cs typeface="Arial"/>
              </a:defRPr>
            </a:pPr>
            <a:r>
              <a:rPr sz="700" b="1">
                <a:solidFill>
                  <a:srgbClr val="2F8B45"/>
                </a:solidFill>
                <a:latin typeface="Arial"/>
                <a:ea typeface="Arial"/>
                <a:cs typeface="Arial"/>
              </a:rPr>
              <a:t>MaaS Operations  (Token as a Service)</a:t>
            </a:r>
          </a:p>
        </p:txBody>
      </p:sp>
      <p:sp>
        <p:nvSpPr>
          <p:cNvPr id="132" name="gateway-security-frame">
            <a:extLst>
              <a:ext uri="{FF2B5EF4-FFF2-40B4-BE49-F238E27FC236}">
                <a16:creationId xmlns:a16="http://schemas.microsoft.com/office/drawing/2014/main" id="{7D679BF6-1FB5-8E05-B8C8-975BEA84951C}"/>
              </a:ext>
            </a:extLst>
          </p:cNvPr>
          <p:cNvSpPr>
            <a:spLocks noGrp="1"/>
          </p:cNvSpPr>
          <p:nvPr/>
        </p:nvSpPr>
        <p:spPr>
          <a:xfrm>
            <a:off x="7277100" y="1432106"/>
            <a:ext cx="1733550" cy="742950"/>
          </a:xfrm>
          <a:prstGeom prst="roundRect">
            <a:avLst>
              <a:gd name="adj" fmla="val 3846"/>
            </a:avLst>
          </a:prstGeom>
          <a:solidFill>
            <a:srgbClr val="FFFFFF"/>
          </a:solidFill>
          <a:ln w="9525">
            <a:solidFill>
              <a:srgbClr val="D5E8CD"/>
            </a:solidFill>
            <a:prstDash val="solid"/>
          </a:ln>
        </p:spPr>
        <p:txBody>
          <a:bodyPr/>
          <a:lstStyle/>
          <a:p>
            <a:endParaRPr lang="zh-CN" altLang="en-US" sz="1600"/>
          </a:p>
        </p:txBody>
      </p:sp>
      <p:sp>
        <p:nvSpPr>
          <p:cNvPr id="133" name="gateway-security-title">
            <a:extLst>
              <a:ext uri="{FF2B5EF4-FFF2-40B4-BE49-F238E27FC236}">
                <a16:creationId xmlns:a16="http://schemas.microsoft.com/office/drawing/2014/main" id="{8E03BDBC-917F-0366-F0BB-964AD34605A1}"/>
              </a:ext>
            </a:extLst>
          </p:cNvPr>
          <p:cNvSpPr>
            <a:spLocks noGrp="1"/>
          </p:cNvSpPr>
          <p:nvPr/>
        </p:nvSpPr>
        <p:spPr>
          <a:xfrm>
            <a:off x="7334250" y="1460681"/>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Gateway &amp; Security</a:t>
            </a:r>
          </a:p>
        </p:txBody>
      </p:sp>
      <p:sp>
        <p:nvSpPr>
          <p:cNvPr id="134" name="gateway-security-item-1">
            <a:extLst>
              <a:ext uri="{FF2B5EF4-FFF2-40B4-BE49-F238E27FC236}">
                <a16:creationId xmlns:a16="http://schemas.microsoft.com/office/drawing/2014/main" id="{BEBEB976-1737-6FBF-ACE0-D80AA4F94515}"/>
              </a:ext>
            </a:extLst>
          </p:cNvPr>
          <p:cNvSpPr>
            <a:spLocks noGrp="1"/>
          </p:cNvSpPr>
          <p:nvPr/>
        </p:nvSpPr>
        <p:spPr>
          <a:xfrm>
            <a:off x="7343775" y="1594031"/>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Unified API Gateway (OpenAI Compatible)</a:t>
            </a:r>
          </a:p>
        </p:txBody>
      </p:sp>
      <p:sp>
        <p:nvSpPr>
          <p:cNvPr id="135" name="gateway-security-item-2">
            <a:extLst>
              <a:ext uri="{FF2B5EF4-FFF2-40B4-BE49-F238E27FC236}">
                <a16:creationId xmlns:a16="http://schemas.microsoft.com/office/drawing/2014/main" id="{495EACE3-B22B-FDDB-2727-3CD3490863E2}"/>
              </a:ext>
            </a:extLst>
          </p:cNvPr>
          <p:cNvSpPr>
            <a:spLocks noGrp="1"/>
          </p:cNvSpPr>
          <p:nvPr/>
        </p:nvSpPr>
        <p:spPr>
          <a:xfrm>
            <a:off x="7343775" y="1732144"/>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Safety &amp; Content Filtering</a:t>
            </a:r>
          </a:p>
        </p:txBody>
      </p:sp>
      <p:sp>
        <p:nvSpPr>
          <p:cNvPr id="136" name="gateway-security-item-3">
            <a:extLst>
              <a:ext uri="{FF2B5EF4-FFF2-40B4-BE49-F238E27FC236}">
                <a16:creationId xmlns:a16="http://schemas.microsoft.com/office/drawing/2014/main" id="{4B64571A-7B6F-6C57-1E24-4F142205428B}"/>
              </a:ext>
            </a:extLst>
          </p:cNvPr>
          <p:cNvSpPr>
            <a:spLocks noGrp="1"/>
          </p:cNvSpPr>
          <p:nvPr/>
        </p:nvSpPr>
        <p:spPr>
          <a:xfrm>
            <a:off x="7343775" y="1870256"/>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Rate Limiting &amp; Access Control</a:t>
            </a:r>
          </a:p>
        </p:txBody>
      </p:sp>
      <p:sp>
        <p:nvSpPr>
          <p:cNvPr id="137" name="gateway-security-item-4">
            <a:extLst>
              <a:ext uri="{FF2B5EF4-FFF2-40B4-BE49-F238E27FC236}">
                <a16:creationId xmlns:a16="http://schemas.microsoft.com/office/drawing/2014/main" id="{E1D3FFD9-545B-9825-E750-EECE096478E1}"/>
              </a:ext>
            </a:extLst>
          </p:cNvPr>
          <p:cNvSpPr>
            <a:spLocks noGrp="1"/>
          </p:cNvSpPr>
          <p:nvPr/>
        </p:nvSpPr>
        <p:spPr>
          <a:xfrm>
            <a:off x="7343775" y="2008369"/>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WAF / DDoS / Shield</a:t>
            </a:r>
          </a:p>
        </p:txBody>
      </p:sp>
      <p:sp>
        <p:nvSpPr>
          <p:cNvPr id="138" name="metering-billing-frame">
            <a:extLst>
              <a:ext uri="{FF2B5EF4-FFF2-40B4-BE49-F238E27FC236}">
                <a16:creationId xmlns:a16="http://schemas.microsoft.com/office/drawing/2014/main" id="{EFA8CABD-F361-9692-B5E7-4056AA8F927D}"/>
              </a:ext>
            </a:extLst>
          </p:cNvPr>
          <p:cNvSpPr>
            <a:spLocks noGrp="1"/>
          </p:cNvSpPr>
          <p:nvPr/>
        </p:nvSpPr>
        <p:spPr>
          <a:xfrm>
            <a:off x="7277100" y="2222681"/>
            <a:ext cx="1733550" cy="581025"/>
          </a:xfrm>
          <a:prstGeom prst="roundRect">
            <a:avLst>
              <a:gd name="adj" fmla="val 4918"/>
            </a:avLst>
          </a:prstGeom>
          <a:solidFill>
            <a:srgbClr val="FFFFFF"/>
          </a:solidFill>
          <a:ln w="9525">
            <a:solidFill>
              <a:srgbClr val="D5E8CD"/>
            </a:solidFill>
            <a:prstDash val="solid"/>
          </a:ln>
        </p:spPr>
        <p:txBody>
          <a:bodyPr/>
          <a:lstStyle/>
          <a:p>
            <a:endParaRPr lang="zh-CN" altLang="en-US" sz="1600"/>
          </a:p>
        </p:txBody>
      </p:sp>
      <p:sp>
        <p:nvSpPr>
          <p:cNvPr id="139" name="metering-billing-title">
            <a:extLst>
              <a:ext uri="{FF2B5EF4-FFF2-40B4-BE49-F238E27FC236}">
                <a16:creationId xmlns:a16="http://schemas.microsoft.com/office/drawing/2014/main" id="{12D60C8D-4D23-D55D-0FB4-5B51EEB805F5}"/>
              </a:ext>
            </a:extLst>
          </p:cNvPr>
          <p:cNvSpPr>
            <a:spLocks noGrp="1"/>
          </p:cNvSpPr>
          <p:nvPr/>
        </p:nvSpPr>
        <p:spPr>
          <a:xfrm>
            <a:off x="7334250" y="2251256"/>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Metering &amp; Billing</a:t>
            </a:r>
          </a:p>
        </p:txBody>
      </p:sp>
      <p:sp>
        <p:nvSpPr>
          <p:cNvPr id="140" name="metering-billing-item-1">
            <a:extLst>
              <a:ext uri="{FF2B5EF4-FFF2-40B4-BE49-F238E27FC236}">
                <a16:creationId xmlns:a16="http://schemas.microsoft.com/office/drawing/2014/main" id="{85762D1B-6C9C-0EC2-6072-24EED45E2A60}"/>
              </a:ext>
            </a:extLst>
          </p:cNvPr>
          <p:cNvSpPr>
            <a:spLocks noGrp="1"/>
          </p:cNvSpPr>
          <p:nvPr/>
        </p:nvSpPr>
        <p:spPr>
          <a:xfrm>
            <a:off x="7343775" y="238460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Metering (Tokens / Requests)</a:t>
            </a:r>
          </a:p>
        </p:txBody>
      </p:sp>
      <p:sp>
        <p:nvSpPr>
          <p:cNvPr id="141" name="metering-billing-item-2">
            <a:extLst>
              <a:ext uri="{FF2B5EF4-FFF2-40B4-BE49-F238E27FC236}">
                <a16:creationId xmlns:a16="http://schemas.microsoft.com/office/drawing/2014/main" id="{774E5C02-91AC-A2ED-90FB-9380957F5859}"/>
              </a:ext>
            </a:extLst>
          </p:cNvPr>
          <p:cNvSpPr>
            <a:spLocks noGrp="1"/>
          </p:cNvSpPr>
          <p:nvPr/>
        </p:nvSpPr>
        <p:spPr>
          <a:xfrm>
            <a:off x="7343775" y="2514781"/>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Billing &amp; Invoicing</a:t>
            </a:r>
          </a:p>
        </p:txBody>
      </p:sp>
      <p:sp>
        <p:nvSpPr>
          <p:cNvPr id="142" name="metering-billing-item-3">
            <a:extLst>
              <a:ext uri="{FF2B5EF4-FFF2-40B4-BE49-F238E27FC236}">
                <a16:creationId xmlns:a16="http://schemas.microsoft.com/office/drawing/2014/main" id="{37550AC2-90D4-7118-2831-79CEEA622880}"/>
              </a:ext>
            </a:extLst>
          </p:cNvPr>
          <p:cNvSpPr>
            <a:spLocks noGrp="1"/>
          </p:cNvSpPr>
          <p:nvPr/>
        </p:nvSpPr>
        <p:spPr>
          <a:xfrm>
            <a:off x="7343775" y="264495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Analytics &amp; Reporting</a:t>
            </a:r>
          </a:p>
        </p:txBody>
      </p:sp>
      <p:sp>
        <p:nvSpPr>
          <p:cNvPr id="143" name="operations-management-frame">
            <a:extLst>
              <a:ext uri="{FF2B5EF4-FFF2-40B4-BE49-F238E27FC236}">
                <a16:creationId xmlns:a16="http://schemas.microsoft.com/office/drawing/2014/main" id="{85ABA155-6141-0BA4-40E4-5394247A1977}"/>
              </a:ext>
            </a:extLst>
          </p:cNvPr>
          <p:cNvSpPr>
            <a:spLocks noGrp="1"/>
          </p:cNvSpPr>
          <p:nvPr/>
        </p:nvSpPr>
        <p:spPr>
          <a:xfrm>
            <a:off x="7277100" y="2857557"/>
            <a:ext cx="1676400" cy="1252661"/>
          </a:xfrm>
          <a:prstGeom prst="roundRect">
            <a:avLst>
              <a:gd name="adj" fmla="val 2113"/>
            </a:avLst>
          </a:prstGeom>
          <a:solidFill>
            <a:srgbClr val="FFFFFF"/>
          </a:solidFill>
          <a:ln w="9525">
            <a:solidFill>
              <a:srgbClr val="D5E8CD"/>
            </a:solidFill>
            <a:prstDash val="solid"/>
          </a:ln>
        </p:spPr>
        <p:txBody>
          <a:bodyPr/>
          <a:lstStyle/>
          <a:p>
            <a:endParaRPr lang="zh-CN" altLang="en-US" sz="1600" dirty="0"/>
          </a:p>
        </p:txBody>
      </p:sp>
      <p:sp>
        <p:nvSpPr>
          <p:cNvPr id="144" name="operations-management-title">
            <a:extLst>
              <a:ext uri="{FF2B5EF4-FFF2-40B4-BE49-F238E27FC236}">
                <a16:creationId xmlns:a16="http://schemas.microsoft.com/office/drawing/2014/main" id="{0C82BDCC-AF92-2253-52DA-3C95CC167E7D}"/>
              </a:ext>
            </a:extLst>
          </p:cNvPr>
          <p:cNvSpPr>
            <a:spLocks noGrp="1"/>
          </p:cNvSpPr>
          <p:nvPr/>
        </p:nvSpPr>
        <p:spPr>
          <a:xfrm>
            <a:off x="7334250" y="2880310"/>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dirty="0">
                <a:solidFill>
                  <a:srgbClr val="2F8B45"/>
                </a:solidFill>
                <a:latin typeface="Arial"/>
                <a:ea typeface="Arial"/>
                <a:cs typeface="Arial"/>
              </a:rPr>
              <a:t>Operations Management</a:t>
            </a:r>
          </a:p>
        </p:txBody>
      </p:sp>
      <p:sp>
        <p:nvSpPr>
          <p:cNvPr id="145" name="operations-management-item-1">
            <a:extLst>
              <a:ext uri="{FF2B5EF4-FFF2-40B4-BE49-F238E27FC236}">
                <a16:creationId xmlns:a16="http://schemas.microsoft.com/office/drawing/2014/main" id="{BD21C4E8-3B90-58FD-406F-2274469F4A88}"/>
              </a:ext>
            </a:extLst>
          </p:cNvPr>
          <p:cNvSpPr>
            <a:spLocks noGrp="1"/>
          </p:cNvSpPr>
          <p:nvPr/>
        </p:nvSpPr>
        <p:spPr>
          <a:xfrm>
            <a:off x="7343775" y="3013014"/>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SKU &amp; Model Management</a:t>
            </a:r>
          </a:p>
        </p:txBody>
      </p:sp>
      <p:sp>
        <p:nvSpPr>
          <p:cNvPr id="146" name="operations-management-item-2">
            <a:extLst>
              <a:ext uri="{FF2B5EF4-FFF2-40B4-BE49-F238E27FC236}">
                <a16:creationId xmlns:a16="http://schemas.microsoft.com/office/drawing/2014/main" id="{4B6C752F-7B8C-587D-A084-724CE588E0F4}"/>
              </a:ext>
            </a:extLst>
          </p:cNvPr>
          <p:cNvSpPr>
            <a:spLocks noGrp="1"/>
          </p:cNvSpPr>
          <p:nvPr/>
        </p:nvSpPr>
        <p:spPr>
          <a:xfrm>
            <a:off x="7343775" y="3188005"/>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Pricing &amp; Policy Management</a:t>
            </a:r>
          </a:p>
        </p:txBody>
      </p:sp>
      <p:sp>
        <p:nvSpPr>
          <p:cNvPr id="147" name="operations-management-item-3">
            <a:extLst>
              <a:ext uri="{FF2B5EF4-FFF2-40B4-BE49-F238E27FC236}">
                <a16:creationId xmlns:a16="http://schemas.microsoft.com/office/drawing/2014/main" id="{C98CA1BC-0608-0FD7-5708-F9C6D3E525F2}"/>
              </a:ext>
            </a:extLst>
          </p:cNvPr>
          <p:cNvSpPr>
            <a:spLocks noGrp="1"/>
          </p:cNvSpPr>
          <p:nvPr/>
        </p:nvSpPr>
        <p:spPr>
          <a:xfrm>
            <a:off x="7343775" y="3362996"/>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Coupon &amp; Promotion</a:t>
            </a:r>
          </a:p>
        </p:txBody>
      </p:sp>
      <p:sp>
        <p:nvSpPr>
          <p:cNvPr id="148" name="operations-management-item-4">
            <a:extLst>
              <a:ext uri="{FF2B5EF4-FFF2-40B4-BE49-F238E27FC236}">
                <a16:creationId xmlns:a16="http://schemas.microsoft.com/office/drawing/2014/main" id="{F649213F-EFD9-5E49-A547-92972987A86F}"/>
              </a:ext>
            </a:extLst>
          </p:cNvPr>
          <p:cNvSpPr>
            <a:spLocks noGrp="1"/>
          </p:cNvSpPr>
          <p:nvPr/>
        </p:nvSpPr>
        <p:spPr>
          <a:xfrm>
            <a:off x="7343775" y="3537987"/>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Quota &amp; Share Management</a:t>
            </a:r>
          </a:p>
        </p:txBody>
      </p:sp>
      <p:sp>
        <p:nvSpPr>
          <p:cNvPr id="149" name="operations-management-item-5">
            <a:extLst>
              <a:ext uri="{FF2B5EF4-FFF2-40B4-BE49-F238E27FC236}">
                <a16:creationId xmlns:a16="http://schemas.microsoft.com/office/drawing/2014/main" id="{19F684F8-33E0-E692-D154-8C0C7D93A23D}"/>
              </a:ext>
            </a:extLst>
          </p:cNvPr>
          <p:cNvSpPr>
            <a:spLocks noGrp="1"/>
          </p:cNvSpPr>
          <p:nvPr/>
        </p:nvSpPr>
        <p:spPr>
          <a:xfrm>
            <a:off x="7343775" y="3712978"/>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Cost Allocation &amp; Chargeback</a:t>
            </a:r>
          </a:p>
        </p:txBody>
      </p:sp>
      <p:sp>
        <p:nvSpPr>
          <p:cNvPr id="150" name="operations-management-item-6">
            <a:extLst>
              <a:ext uri="{FF2B5EF4-FFF2-40B4-BE49-F238E27FC236}">
                <a16:creationId xmlns:a16="http://schemas.microsoft.com/office/drawing/2014/main" id="{0742CF17-89A0-59FF-EF05-6E5DF5178BDB}"/>
              </a:ext>
            </a:extLst>
          </p:cNvPr>
          <p:cNvSpPr>
            <a:spLocks noGrp="1"/>
          </p:cNvSpPr>
          <p:nvPr/>
        </p:nvSpPr>
        <p:spPr>
          <a:xfrm>
            <a:off x="7343775" y="3887969"/>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FinOps &amp; Cost Optimization</a:t>
            </a:r>
          </a:p>
        </p:txBody>
      </p:sp>
      <p:sp>
        <p:nvSpPr>
          <p:cNvPr id="151" name="serving-targets-frame">
            <a:extLst>
              <a:ext uri="{FF2B5EF4-FFF2-40B4-BE49-F238E27FC236}">
                <a16:creationId xmlns:a16="http://schemas.microsoft.com/office/drawing/2014/main" id="{E9073987-98BC-81EA-D12B-D1855FB43E25}"/>
              </a:ext>
            </a:extLst>
          </p:cNvPr>
          <p:cNvSpPr>
            <a:spLocks noGrp="1"/>
          </p:cNvSpPr>
          <p:nvPr/>
        </p:nvSpPr>
        <p:spPr>
          <a:xfrm>
            <a:off x="7277100" y="4157844"/>
            <a:ext cx="1733550" cy="609600"/>
          </a:xfrm>
          <a:prstGeom prst="roundRect">
            <a:avLst>
              <a:gd name="adj" fmla="val 4688"/>
            </a:avLst>
          </a:prstGeom>
          <a:solidFill>
            <a:srgbClr val="FFFFFF"/>
          </a:solidFill>
          <a:ln w="9525">
            <a:solidFill>
              <a:srgbClr val="D5E8CD"/>
            </a:solidFill>
            <a:prstDash val="solid"/>
          </a:ln>
        </p:spPr>
        <p:txBody>
          <a:bodyPr/>
          <a:lstStyle/>
          <a:p>
            <a:endParaRPr lang="zh-CN" altLang="en-US" sz="1600"/>
          </a:p>
        </p:txBody>
      </p:sp>
      <p:sp>
        <p:nvSpPr>
          <p:cNvPr id="152" name="serving-targets-title">
            <a:extLst>
              <a:ext uri="{FF2B5EF4-FFF2-40B4-BE49-F238E27FC236}">
                <a16:creationId xmlns:a16="http://schemas.microsoft.com/office/drawing/2014/main" id="{499DA736-9F02-538E-441B-43126E348696}"/>
              </a:ext>
            </a:extLst>
          </p:cNvPr>
          <p:cNvSpPr>
            <a:spLocks noGrp="1"/>
          </p:cNvSpPr>
          <p:nvPr/>
        </p:nvSpPr>
        <p:spPr>
          <a:xfrm>
            <a:off x="7334250" y="4186419"/>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Serving Targets</a:t>
            </a:r>
          </a:p>
        </p:txBody>
      </p:sp>
      <p:sp>
        <p:nvSpPr>
          <p:cNvPr id="153" name="serving-targets-items-1-box">
            <a:extLst>
              <a:ext uri="{FF2B5EF4-FFF2-40B4-BE49-F238E27FC236}">
                <a16:creationId xmlns:a16="http://schemas.microsoft.com/office/drawing/2014/main" id="{2555DF3E-6C98-3508-9ABE-58C359A550C7}"/>
              </a:ext>
            </a:extLst>
          </p:cNvPr>
          <p:cNvSpPr>
            <a:spLocks noGrp="1"/>
          </p:cNvSpPr>
          <p:nvPr/>
        </p:nvSpPr>
        <p:spPr>
          <a:xfrm>
            <a:off x="7334250"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Cloud</a:t>
            </a:r>
          </a:p>
        </p:txBody>
      </p:sp>
      <p:sp>
        <p:nvSpPr>
          <p:cNvPr id="154" name="serving-targets-items-2-box">
            <a:extLst>
              <a:ext uri="{FF2B5EF4-FFF2-40B4-BE49-F238E27FC236}">
                <a16:creationId xmlns:a16="http://schemas.microsoft.com/office/drawing/2014/main" id="{F7419E93-1D4C-C492-E787-34F58C36C675}"/>
              </a:ext>
            </a:extLst>
          </p:cNvPr>
          <p:cNvSpPr>
            <a:spLocks noGrp="1"/>
          </p:cNvSpPr>
          <p:nvPr/>
        </p:nvSpPr>
        <p:spPr>
          <a:xfrm>
            <a:off x="8162925"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Enterprise</a:t>
            </a:r>
          </a:p>
        </p:txBody>
      </p:sp>
      <p:sp>
        <p:nvSpPr>
          <p:cNvPr id="156" name="data-management-surface">
            <a:extLst>
              <a:ext uri="{FF2B5EF4-FFF2-40B4-BE49-F238E27FC236}">
                <a16:creationId xmlns:a16="http://schemas.microsoft.com/office/drawing/2014/main" id="{2A8A5E81-E831-80B3-55A3-495464D3BCC4}"/>
              </a:ext>
            </a:extLst>
          </p:cNvPr>
          <p:cNvSpPr>
            <a:spLocks noGrp="1"/>
          </p:cNvSpPr>
          <p:nvPr/>
        </p:nvSpPr>
        <p:spPr>
          <a:xfrm>
            <a:off x="933450" y="3773723"/>
            <a:ext cx="6191250" cy="238125"/>
          </a:xfrm>
          <a:prstGeom prst="roundRect">
            <a:avLst>
              <a:gd name="adj" fmla="val 16000"/>
            </a:avLst>
          </a:prstGeom>
          <a:solidFill>
            <a:srgbClr val="F7FCFC"/>
          </a:solidFill>
          <a:ln w="9525">
            <a:solidFill>
              <a:srgbClr val="C8E1DF"/>
            </a:solidFill>
            <a:prstDash val="solid"/>
          </a:ln>
        </p:spPr>
        <p:txBody>
          <a:bodyPr/>
          <a:lstStyle/>
          <a:p>
            <a:endParaRPr lang="zh-CN" altLang="en-US" sz="1600"/>
          </a:p>
        </p:txBody>
      </p:sp>
      <p:sp>
        <p:nvSpPr>
          <p:cNvPr id="157" name="data-management-items-1-box">
            <a:extLst>
              <a:ext uri="{FF2B5EF4-FFF2-40B4-BE49-F238E27FC236}">
                <a16:creationId xmlns:a16="http://schemas.microsoft.com/office/drawing/2014/main" id="{F83F80F0-5534-A3C2-97AA-E7B9DC33E652}"/>
              </a:ext>
            </a:extLst>
          </p:cNvPr>
          <p:cNvSpPr>
            <a:spLocks noGrp="1"/>
          </p:cNvSpPr>
          <p:nvPr/>
        </p:nvSpPr>
        <p:spPr>
          <a:xfrm>
            <a:off x="100965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Model Hub (MatrixHub)</a:t>
            </a:r>
          </a:p>
        </p:txBody>
      </p:sp>
      <p:sp>
        <p:nvSpPr>
          <p:cNvPr id="158" name="data-management-items-2-box">
            <a:extLst>
              <a:ext uri="{FF2B5EF4-FFF2-40B4-BE49-F238E27FC236}">
                <a16:creationId xmlns:a16="http://schemas.microsoft.com/office/drawing/2014/main" id="{4ECDE597-794C-A826-42B9-9A8E339143B2}"/>
              </a:ext>
            </a:extLst>
          </p:cNvPr>
          <p:cNvSpPr>
            <a:spLocks noGrp="1"/>
          </p:cNvSpPr>
          <p:nvPr/>
        </p:nvSpPr>
        <p:spPr>
          <a:xfrm>
            <a:off x="202088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500" b="0">
                <a:solidFill>
                  <a:srgbClr val="102031"/>
                </a:solidFill>
                <a:latin typeface="Arial"/>
                <a:ea typeface="Arial"/>
                <a:cs typeface="Arial"/>
              </a:rPr>
              <a:t>Model Distribution (ModelExpress)</a:t>
            </a:r>
          </a:p>
        </p:txBody>
      </p:sp>
      <p:sp>
        <p:nvSpPr>
          <p:cNvPr id="159" name="data-management-items-3-box">
            <a:extLst>
              <a:ext uri="{FF2B5EF4-FFF2-40B4-BE49-F238E27FC236}">
                <a16:creationId xmlns:a16="http://schemas.microsoft.com/office/drawing/2014/main" id="{378708FC-8BBE-4F38-6951-B9E5CC1B9B0A}"/>
              </a:ext>
            </a:extLst>
          </p:cNvPr>
          <p:cNvSpPr>
            <a:spLocks noGrp="1"/>
          </p:cNvSpPr>
          <p:nvPr/>
        </p:nvSpPr>
        <p:spPr>
          <a:xfrm>
            <a:off x="3032125"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Dataset Management</a:t>
            </a:r>
          </a:p>
        </p:txBody>
      </p:sp>
      <p:sp>
        <p:nvSpPr>
          <p:cNvPr id="160" name="data-management-items-4-box">
            <a:extLst>
              <a:ext uri="{FF2B5EF4-FFF2-40B4-BE49-F238E27FC236}">
                <a16:creationId xmlns:a16="http://schemas.microsoft.com/office/drawing/2014/main" id="{52CF88E4-04EE-4775-FA49-2838E88BDD39}"/>
              </a:ext>
            </a:extLst>
          </p:cNvPr>
          <p:cNvSpPr>
            <a:spLocks noGrp="1"/>
          </p:cNvSpPr>
          <p:nvPr/>
        </p:nvSpPr>
        <p:spPr>
          <a:xfrm>
            <a:off x="4043363"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Catalog</a:t>
            </a:r>
          </a:p>
        </p:txBody>
      </p:sp>
      <p:sp>
        <p:nvSpPr>
          <p:cNvPr id="161" name="data-management-items-5-box">
            <a:extLst>
              <a:ext uri="{FF2B5EF4-FFF2-40B4-BE49-F238E27FC236}">
                <a16:creationId xmlns:a16="http://schemas.microsoft.com/office/drawing/2014/main" id="{96681C94-E86E-3CEB-F2B5-04115534E42E}"/>
              </a:ext>
            </a:extLst>
          </p:cNvPr>
          <p:cNvSpPr>
            <a:spLocks noGrp="1"/>
          </p:cNvSpPr>
          <p:nvPr/>
        </p:nvSpPr>
        <p:spPr>
          <a:xfrm>
            <a:off x="505460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Processing</a:t>
            </a:r>
          </a:p>
        </p:txBody>
      </p:sp>
      <p:sp>
        <p:nvSpPr>
          <p:cNvPr id="162" name="data-management-items-6-box">
            <a:extLst>
              <a:ext uri="{FF2B5EF4-FFF2-40B4-BE49-F238E27FC236}">
                <a16:creationId xmlns:a16="http://schemas.microsoft.com/office/drawing/2014/main" id="{99276E16-3013-20C4-4893-965A8B38EA32}"/>
              </a:ext>
            </a:extLst>
          </p:cNvPr>
          <p:cNvSpPr>
            <a:spLocks noGrp="1"/>
          </p:cNvSpPr>
          <p:nvPr/>
        </p:nvSpPr>
        <p:spPr>
          <a:xfrm>
            <a:off x="606583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Quality</a:t>
            </a:r>
          </a:p>
        </p:txBody>
      </p:sp>
      <p:sp>
        <p:nvSpPr>
          <p:cNvPr id="163" name="compute-orchestration-rail-box">
            <a:extLst>
              <a:ext uri="{FF2B5EF4-FFF2-40B4-BE49-F238E27FC236}">
                <a16:creationId xmlns:a16="http://schemas.microsoft.com/office/drawing/2014/main" id="{1CEC1F22-F880-46CC-B47A-75E4080E216A}"/>
              </a:ext>
            </a:extLst>
          </p:cNvPr>
          <p:cNvSpPr>
            <a:spLocks noGrp="1"/>
          </p:cNvSpPr>
          <p:nvPr/>
        </p:nvSpPr>
        <p:spPr>
          <a:xfrm>
            <a:off x="76200" y="3773723"/>
            <a:ext cx="755100" cy="800727"/>
          </a:xfrm>
          <a:prstGeom prst="roundRect">
            <a:avLst>
              <a:gd name="adj" fmla="val 16000"/>
            </a:avLst>
          </a:prstGeom>
          <a:solidFill>
            <a:srgbClr val="2F8B45"/>
          </a:solidFill>
          <a:ln w="9525">
            <a:solidFill>
              <a:srgbClr val="2F8B45"/>
            </a:solidFill>
            <a:prstDash val="solid"/>
          </a:ln>
        </p:spPr>
        <p:txBody>
          <a:bodyPr wrap="square" lIns="28575" tIns="9525" rIns="28575" bIns="9525" anchor="ctr">
            <a:normAutofit fontScale="99064"/>
          </a:bodyPr>
          <a:lstStyle/>
          <a:p>
            <a:pPr algn="ctr">
              <a:defRPr sz="525" b="1">
                <a:solidFill>
                  <a:srgbClr val="FFFFFF"/>
                </a:solidFill>
                <a:latin typeface="Arial"/>
                <a:ea typeface="Arial"/>
                <a:cs typeface="Arial"/>
              </a:defRPr>
            </a:pPr>
            <a:r>
              <a:rPr lang="en" sz="800" dirty="0">
                <a:solidFill>
                  <a:srgbClr val="FFFFFF"/>
                </a:solidFill>
              </a:rPr>
              <a:t>Kubernetes</a:t>
            </a:r>
            <a:r>
              <a:rPr lang="en" sz="800" b="1" dirty="0">
                <a:solidFill>
                  <a:srgbClr val="FFFFFF"/>
                </a:solidFill>
              </a:rPr>
              <a:t> GPU</a:t>
            </a:r>
            <a:r>
              <a:rPr lang="zh-CN" altLang="en-US" sz="800" b="1" dirty="0">
                <a:solidFill>
                  <a:srgbClr val="FFFFFF"/>
                </a:solidFill>
              </a:rPr>
              <a:t> </a:t>
            </a:r>
            <a:r>
              <a:rPr lang="en-US" altLang="zh-CN" sz="800" b="1" dirty="0">
                <a:solidFill>
                  <a:srgbClr val="FFFFFF"/>
                </a:solidFill>
              </a:rPr>
              <a:t>&amp;</a:t>
            </a:r>
            <a:r>
              <a:rPr lang="zh-CN" altLang="en-US" sz="800" b="1" dirty="0">
                <a:solidFill>
                  <a:srgbClr val="FFFFFF"/>
                </a:solidFill>
              </a:rPr>
              <a:t> </a:t>
            </a:r>
            <a:r>
              <a:rPr lang="en" altLang="zh-CN" sz="800" b="1" dirty="0">
                <a:solidFill>
                  <a:srgbClr val="FFFFFF"/>
                </a:solidFill>
              </a:rPr>
              <a:t>Data</a:t>
            </a:r>
            <a:r>
              <a:rPr lang="en" sz="800" b="1" dirty="0">
                <a:solidFill>
                  <a:srgbClr val="FFFFFF"/>
                </a:solidFill>
              </a:rPr>
              <a:t> Scheduling</a:t>
            </a:r>
          </a:p>
        </p:txBody>
      </p:sp>
      <p:sp>
        <p:nvSpPr>
          <p:cNvPr id="164" name="compute-orchestration-surface">
            <a:extLst>
              <a:ext uri="{FF2B5EF4-FFF2-40B4-BE49-F238E27FC236}">
                <a16:creationId xmlns:a16="http://schemas.microsoft.com/office/drawing/2014/main" id="{654999C4-3805-4C4D-5FCC-B0099477929E}"/>
              </a:ext>
            </a:extLst>
          </p:cNvPr>
          <p:cNvSpPr>
            <a:spLocks noGrp="1"/>
          </p:cNvSpPr>
          <p:nvPr/>
        </p:nvSpPr>
        <p:spPr>
          <a:xfrm>
            <a:off x="933450" y="4069052"/>
            <a:ext cx="6191250" cy="250717"/>
          </a:xfrm>
          <a:prstGeom prst="roundRect">
            <a:avLst>
              <a:gd name="adj" fmla="val 16000"/>
            </a:avLst>
          </a:prstGeom>
          <a:solidFill>
            <a:srgbClr val="F8FCF5"/>
          </a:solidFill>
          <a:ln w="9525">
            <a:solidFill>
              <a:srgbClr val="CFE3C7"/>
            </a:solidFill>
            <a:prstDash val="solid"/>
          </a:ln>
        </p:spPr>
        <p:txBody>
          <a:bodyPr/>
          <a:lstStyle/>
          <a:p>
            <a:endParaRPr lang="zh-CN" altLang="en-US" sz="1600"/>
          </a:p>
        </p:txBody>
      </p:sp>
      <p:sp>
        <p:nvSpPr>
          <p:cNvPr id="165" name="compute-orchestration-items-1-box">
            <a:extLst>
              <a:ext uri="{FF2B5EF4-FFF2-40B4-BE49-F238E27FC236}">
                <a16:creationId xmlns:a16="http://schemas.microsoft.com/office/drawing/2014/main" id="{699A0DB5-EABD-FB32-F820-B8580B8FEAF1}"/>
              </a:ext>
            </a:extLst>
          </p:cNvPr>
          <p:cNvSpPr>
            <a:spLocks noGrp="1"/>
          </p:cNvSpPr>
          <p:nvPr/>
        </p:nvSpPr>
        <p:spPr>
          <a:xfrm>
            <a:off x="100965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Resource Pool Management</a:t>
            </a:r>
          </a:p>
        </p:txBody>
      </p:sp>
      <p:sp>
        <p:nvSpPr>
          <p:cNvPr id="166" name="compute-orchestration-items-2-box">
            <a:extLst>
              <a:ext uri="{FF2B5EF4-FFF2-40B4-BE49-F238E27FC236}">
                <a16:creationId xmlns:a16="http://schemas.microsoft.com/office/drawing/2014/main" id="{B9C5958C-E1B0-659E-0F38-DA0AE9A594FE}"/>
              </a:ext>
            </a:extLst>
          </p:cNvPr>
          <p:cNvSpPr>
            <a:spLocks noGrp="1"/>
          </p:cNvSpPr>
          <p:nvPr/>
        </p:nvSpPr>
        <p:spPr>
          <a:xfrm>
            <a:off x="202088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Priority &amp; Preemption</a:t>
            </a:r>
          </a:p>
        </p:txBody>
      </p:sp>
      <p:sp>
        <p:nvSpPr>
          <p:cNvPr id="167" name="compute-orchestration-items-3-box">
            <a:extLst>
              <a:ext uri="{FF2B5EF4-FFF2-40B4-BE49-F238E27FC236}">
                <a16:creationId xmlns:a16="http://schemas.microsoft.com/office/drawing/2014/main" id="{4D81ECD1-3C38-FC31-5237-AAEE099890D8}"/>
              </a:ext>
            </a:extLst>
          </p:cNvPr>
          <p:cNvSpPr>
            <a:spLocks noGrp="1"/>
          </p:cNvSpPr>
          <p:nvPr/>
        </p:nvSpPr>
        <p:spPr>
          <a:xfrm>
            <a:off x="3032125"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Fair Scheduling</a:t>
            </a:r>
          </a:p>
        </p:txBody>
      </p:sp>
      <p:sp>
        <p:nvSpPr>
          <p:cNvPr id="168" name="compute-orchestration-items-4-box">
            <a:extLst>
              <a:ext uri="{FF2B5EF4-FFF2-40B4-BE49-F238E27FC236}">
                <a16:creationId xmlns:a16="http://schemas.microsoft.com/office/drawing/2014/main" id="{4BCA633C-6E74-0A91-2707-241D402DE11A}"/>
              </a:ext>
            </a:extLst>
          </p:cNvPr>
          <p:cNvSpPr>
            <a:spLocks noGrp="1"/>
          </p:cNvSpPr>
          <p:nvPr/>
        </p:nvSpPr>
        <p:spPr>
          <a:xfrm>
            <a:off x="4043363"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Elastic Resource Allocation</a:t>
            </a:r>
          </a:p>
        </p:txBody>
      </p:sp>
      <p:sp>
        <p:nvSpPr>
          <p:cNvPr id="169" name="compute-orchestration-items-5-box">
            <a:extLst>
              <a:ext uri="{FF2B5EF4-FFF2-40B4-BE49-F238E27FC236}">
                <a16:creationId xmlns:a16="http://schemas.microsoft.com/office/drawing/2014/main" id="{1F32C19F-D03F-6CD4-FDDA-1E7BC79FAD21}"/>
              </a:ext>
            </a:extLst>
          </p:cNvPr>
          <p:cNvSpPr>
            <a:spLocks noGrp="1"/>
          </p:cNvSpPr>
          <p:nvPr/>
        </p:nvSpPr>
        <p:spPr>
          <a:xfrm>
            <a:off x="505460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70" name="compute-orchestration-items-6-box">
            <a:extLst>
              <a:ext uri="{FF2B5EF4-FFF2-40B4-BE49-F238E27FC236}">
                <a16:creationId xmlns:a16="http://schemas.microsoft.com/office/drawing/2014/main" id="{08E4B0D7-DDA6-3DEE-B4F7-4698F400DB03}"/>
              </a:ext>
            </a:extLst>
          </p:cNvPr>
          <p:cNvSpPr>
            <a:spLocks noGrp="1"/>
          </p:cNvSpPr>
          <p:nvPr/>
        </p:nvSpPr>
        <p:spPr>
          <a:xfrm>
            <a:off x="606583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Workflow Orchestration</a:t>
            </a:r>
          </a:p>
        </p:txBody>
      </p:sp>
      <p:sp>
        <p:nvSpPr>
          <p:cNvPr id="172" name="kubernetes-gpu-surface">
            <a:extLst>
              <a:ext uri="{FF2B5EF4-FFF2-40B4-BE49-F238E27FC236}">
                <a16:creationId xmlns:a16="http://schemas.microsoft.com/office/drawing/2014/main" id="{6AEDF670-2B7A-B129-36C0-FBE6F1475138}"/>
              </a:ext>
            </a:extLst>
          </p:cNvPr>
          <p:cNvSpPr>
            <a:spLocks noGrp="1"/>
          </p:cNvSpPr>
          <p:nvPr/>
        </p:nvSpPr>
        <p:spPr>
          <a:xfrm>
            <a:off x="933450" y="4367394"/>
            <a:ext cx="6191250" cy="238125"/>
          </a:xfrm>
          <a:prstGeom prst="roundRect">
            <a:avLst>
              <a:gd name="adj" fmla="val 16000"/>
            </a:avLst>
          </a:prstGeom>
          <a:solidFill>
            <a:srgbClr val="F7FAFF"/>
          </a:solidFill>
          <a:ln w="9525">
            <a:solidFill>
              <a:srgbClr val="C8D8F1"/>
            </a:solidFill>
            <a:prstDash val="solid"/>
          </a:ln>
        </p:spPr>
        <p:txBody>
          <a:bodyPr/>
          <a:lstStyle/>
          <a:p>
            <a:endParaRPr lang="zh-CN" altLang="en-US" sz="1600"/>
          </a:p>
        </p:txBody>
      </p:sp>
      <p:sp>
        <p:nvSpPr>
          <p:cNvPr id="173" name="kubernetes-gpu-items-1-box">
            <a:extLst>
              <a:ext uri="{FF2B5EF4-FFF2-40B4-BE49-F238E27FC236}">
                <a16:creationId xmlns:a16="http://schemas.microsoft.com/office/drawing/2014/main" id="{61CDCF19-8242-EDBB-F5F3-5C3474D7F50B}"/>
              </a:ext>
            </a:extLst>
          </p:cNvPr>
          <p:cNvSpPr>
            <a:spLocks noGrp="1"/>
          </p:cNvSpPr>
          <p:nvPr/>
        </p:nvSpPr>
        <p:spPr>
          <a:xfrm>
            <a:off x="10096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1" dirty="0">
                <a:solidFill>
                  <a:srgbClr val="102031"/>
                </a:solidFill>
                <a:latin typeface="Arial"/>
                <a:ea typeface="Arial"/>
                <a:cs typeface="Arial"/>
              </a:rPr>
              <a:t>Kubernetes</a:t>
            </a:r>
          </a:p>
        </p:txBody>
      </p:sp>
      <p:sp>
        <p:nvSpPr>
          <p:cNvPr id="174" name="kubernetes-gpu-items-2-box">
            <a:extLst>
              <a:ext uri="{FF2B5EF4-FFF2-40B4-BE49-F238E27FC236}">
                <a16:creationId xmlns:a16="http://schemas.microsoft.com/office/drawing/2014/main" id="{C77AB38E-B910-0067-928F-19F5BD32D598}"/>
              </a:ext>
            </a:extLst>
          </p:cNvPr>
          <p:cNvSpPr>
            <a:spLocks noGrp="1"/>
          </p:cNvSpPr>
          <p:nvPr/>
        </p:nvSpPr>
        <p:spPr>
          <a:xfrm>
            <a:off x="18764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Operator</a:t>
            </a:r>
          </a:p>
        </p:txBody>
      </p:sp>
      <p:sp>
        <p:nvSpPr>
          <p:cNvPr id="175" name="kubernetes-gpu-items-3-box">
            <a:extLst>
              <a:ext uri="{FF2B5EF4-FFF2-40B4-BE49-F238E27FC236}">
                <a16:creationId xmlns:a16="http://schemas.microsoft.com/office/drawing/2014/main" id="{22972BFF-687C-6A8C-8863-7D96B585133F}"/>
              </a:ext>
            </a:extLst>
          </p:cNvPr>
          <p:cNvSpPr>
            <a:spLocks noGrp="1"/>
          </p:cNvSpPr>
          <p:nvPr/>
        </p:nvSpPr>
        <p:spPr>
          <a:xfrm>
            <a:off x="27432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Device Plugin</a:t>
            </a:r>
          </a:p>
        </p:txBody>
      </p:sp>
      <p:sp>
        <p:nvSpPr>
          <p:cNvPr id="176" name="kubernetes-gpu-items-4-box">
            <a:extLst>
              <a:ext uri="{FF2B5EF4-FFF2-40B4-BE49-F238E27FC236}">
                <a16:creationId xmlns:a16="http://schemas.microsoft.com/office/drawing/2014/main" id="{51152C1A-2883-D420-D486-527933149EEF}"/>
              </a:ext>
            </a:extLst>
          </p:cNvPr>
          <p:cNvSpPr>
            <a:spLocks noGrp="1"/>
          </p:cNvSpPr>
          <p:nvPr/>
        </p:nvSpPr>
        <p:spPr>
          <a:xfrm>
            <a:off x="360997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Monitoring</a:t>
            </a:r>
          </a:p>
        </p:txBody>
      </p:sp>
      <p:sp>
        <p:nvSpPr>
          <p:cNvPr id="177" name="kubernetes-gpu-items-5-box">
            <a:extLst>
              <a:ext uri="{FF2B5EF4-FFF2-40B4-BE49-F238E27FC236}">
                <a16:creationId xmlns:a16="http://schemas.microsoft.com/office/drawing/2014/main" id="{F1C4C1AD-9BD0-9A7E-00D3-97C5A8273808}"/>
              </a:ext>
            </a:extLst>
          </p:cNvPr>
          <p:cNvSpPr>
            <a:spLocks noGrp="1"/>
          </p:cNvSpPr>
          <p:nvPr/>
        </p:nvSpPr>
        <p:spPr>
          <a:xfrm>
            <a:off x="44767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Topology Manager</a:t>
            </a:r>
          </a:p>
        </p:txBody>
      </p:sp>
      <p:sp>
        <p:nvSpPr>
          <p:cNvPr id="178" name="kubernetes-gpu-items-6-box">
            <a:extLst>
              <a:ext uri="{FF2B5EF4-FFF2-40B4-BE49-F238E27FC236}">
                <a16:creationId xmlns:a16="http://schemas.microsoft.com/office/drawing/2014/main" id="{51FB50EB-6A4A-18DB-7A55-E941FFDD2068}"/>
              </a:ext>
            </a:extLst>
          </p:cNvPr>
          <p:cNvSpPr>
            <a:spLocks noGrp="1"/>
          </p:cNvSpPr>
          <p:nvPr/>
        </p:nvSpPr>
        <p:spPr>
          <a:xfrm>
            <a:off x="53435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Node Auto-discovery</a:t>
            </a:r>
          </a:p>
        </p:txBody>
      </p:sp>
      <p:sp>
        <p:nvSpPr>
          <p:cNvPr id="179" name="kubernetes-gpu-items-7-box">
            <a:extLst>
              <a:ext uri="{FF2B5EF4-FFF2-40B4-BE49-F238E27FC236}">
                <a16:creationId xmlns:a16="http://schemas.microsoft.com/office/drawing/2014/main" id="{22245C04-67A9-80DF-84B9-860EAB67B4E1}"/>
              </a:ext>
            </a:extLst>
          </p:cNvPr>
          <p:cNvSpPr>
            <a:spLocks noGrp="1"/>
          </p:cNvSpPr>
          <p:nvPr/>
        </p:nvSpPr>
        <p:spPr>
          <a:xfrm>
            <a:off x="62103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80" name="infrastructure-rail-box">
            <a:extLst>
              <a:ext uri="{FF2B5EF4-FFF2-40B4-BE49-F238E27FC236}">
                <a16:creationId xmlns:a16="http://schemas.microsoft.com/office/drawing/2014/main" id="{E8A91F7C-D116-EA58-9A8A-F819E1B42313}"/>
              </a:ext>
            </a:extLst>
          </p:cNvPr>
          <p:cNvSpPr>
            <a:spLocks noGrp="1"/>
          </p:cNvSpPr>
          <p:nvPr/>
        </p:nvSpPr>
        <p:spPr>
          <a:xfrm>
            <a:off x="76200" y="4653144"/>
            <a:ext cx="762000" cy="190500"/>
          </a:xfrm>
          <a:prstGeom prst="roundRect">
            <a:avLst>
              <a:gd name="adj" fmla="val 20000"/>
            </a:avLst>
          </a:prstGeom>
          <a:solidFill>
            <a:srgbClr val="102031"/>
          </a:solidFill>
          <a:ln w="9525">
            <a:solidFill>
              <a:srgbClr val="102031"/>
            </a:solidFill>
            <a:prstDash val="solid"/>
          </a:ln>
        </p:spPr>
        <p:txBody>
          <a:bodyPr wrap="square" lIns="28575" tIns="9525" rIns="28575" bIns="9525" anchor="ctr">
            <a:noAutofit/>
          </a:bodyPr>
          <a:lstStyle/>
          <a:p>
            <a:pPr algn="ctr">
              <a:defRPr sz="525" b="1">
                <a:solidFill>
                  <a:srgbClr val="FFFFFF"/>
                </a:solidFill>
                <a:latin typeface="Arial"/>
                <a:ea typeface="Arial"/>
                <a:cs typeface="Arial"/>
              </a:defRPr>
            </a:pPr>
            <a:r>
              <a:rPr sz="600" b="1">
                <a:solidFill>
                  <a:srgbClr val="FFFFFF"/>
                </a:solidFill>
                <a:latin typeface="Arial"/>
                <a:ea typeface="Arial"/>
                <a:cs typeface="Arial"/>
              </a:rPr>
              <a:t>Infrastructure</a:t>
            </a:r>
          </a:p>
          <a:p>
            <a:pPr algn="ctr">
              <a:defRPr sz="525" b="1">
                <a:solidFill>
                  <a:srgbClr val="FFFFFF"/>
                </a:solidFill>
                <a:latin typeface="Arial"/>
                <a:ea typeface="Arial"/>
                <a:cs typeface="Arial"/>
              </a:defRPr>
            </a:pPr>
            <a:r>
              <a:rPr sz="600" b="1">
                <a:solidFill>
                  <a:srgbClr val="FFFFFF"/>
                </a:solidFill>
                <a:latin typeface="Arial"/>
                <a:ea typeface="Arial"/>
                <a:cs typeface="Arial"/>
              </a:rPr>
              <a:t>Operations</a:t>
            </a:r>
          </a:p>
        </p:txBody>
      </p:sp>
      <p:sp>
        <p:nvSpPr>
          <p:cNvPr id="181" name="infrastructure-surface">
            <a:extLst>
              <a:ext uri="{FF2B5EF4-FFF2-40B4-BE49-F238E27FC236}">
                <a16:creationId xmlns:a16="http://schemas.microsoft.com/office/drawing/2014/main" id="{E9666790-F5E6-786E-4021-DCD511CCA1E2}"/>
              </a:ext>
            </a:extLst>
          </p:cNvPr>
          <p:cNvSpPr>
            <a:spLocks noGrp="1"/>
          </p:cNvSpPr>
          <p:nvPr/>
        </p:nvSpPr>
        <p:spPr>
          <a:xfrm>
            <a:off x="933450" y="4653144"/>
            <a:ext cx="6191250" cy="190500"/>
          </a:xfrm>
          <a:prstGeom prst="roundRect">
            <a:avLst>
              <a:gd name="adj" fmla="val 20000"/>
            </a:avLst>
          </a:prstGeom>
          <a:solidFill>
            <a:srgbClr val="F7FAFF"/>
          </a:solidFill>
          <a:ln w="9525">
            <a:solidFill>
              <a:srgbClr val="C8D8F1"/>
            </a:solidFill>
            <a:prstDash val="solid"/>
          </a:ln>
        </p:spPr>
        <p:txBody>
          <a:bodyPr/>
          <a:lstStyle/>
          <a:p>
            <a:endParaRPr lang="zh-CN" altLang="en-US" sz="1600"/>
          </a:p>
        </p:txBody>
      </p:sp>
      <p:sp>
        <p:nvSpPr>
          <p:cNvPr id="182" name="infrastructure-items-1-box">
            <a:extLst>
              <a:ext uri="{FF2B5EF4-FFF2-40B4-BE49-F238E27FC236}">
                <a16:creationId xmlns:a16="http://schemas.microsoft.com/office/drawing/2014/main" id="{F02F3BB5-5C1A-B2C2-142C-AFFAB3E2934D}"/>
              </a:ext>
            </a:extLst>
          </p:cNvPr>
          <p:cNvSpPr>
            <a:spLocks noGrp="1"/>
          </p:cNvSpPr>
          <p:nvPr/>
        </p:nvSpPr>
        <p:spPr>
          <a:xfrm>
            <a:off x="1009650"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Compute</a:t>
            </a:r>
          </a:p>
          <a:p>
            <a:pPr algn="ctr">
              <a:defRPr sz="435" b="0">
                <a:solidFill>
                  <a:srgbClr val="102031"/>
                </a:solidFill>
                <a:latin typeface="Arial"/>
                <a:ea typeface="Arial"/>
                <a:cs typeface="Arial"/>
              </a:defRPr>
            </a:pPr>
            <a:r>
              <a:rPr sz="300" b="0">
                <a:solidFill>
                  <a:srgbClr val="102031"/>
                </a:solidFill>
                <a:latin typeface="Arial"/>
                <a:ea typeface="Arial"/>
                <a:cs typeface="Arial"/>
              </a:rPr>
              <a:t>(VM / Bare Metal)</a:t>
            </a:r>
          </a:p>
        </p:txBody>
      </p:sp>
      <p:sp>
        <p:nvSpPr>
          <p:cNvPr id="183" name="infrastructure-items-2-box">
            <a:extLst>
              <a:ext uri="{FF2B5EF4-FFF2-40B4-BE49-F238E27FC236}">
                <a16:creationId xmlns:a16="http://schemas.microsoft.com/office/drawing/2014/main" id="{9B0BBF7D-394A-50D2-0FD2-FF9329BB6D39}"/>
              </a:ext>
            </a:extLst>
          </p:cNvPr>
          <p:cNvSpPr>
            <a:spLocks noGrp="1"/>
          </p:cNvSpPr>
          <p:nvPr/>
        </p:nvSpPr>
        <p:spPr>
          <a:xfrm>
            <a:off x="1768078"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Network</a:t>
            </a:r>
          </a:p>
          <a:p>
            <a:pPr algn="ctr">
              <a:defRPr sz="435" b="0">
                <a:solidFill>
                  <a:srgbClr val="102031"/>
                </a:solidFill>
                <a:latin typeface="Arial"/>
                <a:ea typeface="Arial"/>
                <a:cs typeface="Arial"/>
              </a:defRPr>
            </a:pPr>
            <a:r>
              <a:rPr sz="300" b="0">
                <a:solidFill>
                  <a:srgbClr val="102031"/>
                </a:solidFill>
                <a:latin typeface="Arial"/>
                <a:ea typeface="Arial"/>
                <a:cs typeface="Arial"/>
              </a:rPr>
              <a:t>(VPC / SDN)</a:t>
            </a:r>
          </a:p>
        </p:txBody>
      </p:sp>
      <p:sp>
        <p:nvSpPr>
          <p:cNvPr id="184" name="infrastructure-items-3-box">
            <a:extLst>
              <a:ext uri="{FF2B5EF4-FFF2-40B4-BE49-F238E27FC236}">
                <a16:creationId xmlns:a16="http://schemas.microsoft.com/office/drawing/2014/main" id="{1863AA5E-7510-42EE-8E75-96EDC8DE25BD}"/>
              </a:ext>
            </a:extLst>
          </p:cNvPr>
          <p:cNvSpPr>
            <a:spLocks noGrp="1"/>
          </p:cNvSpPr>
          <p:nvPr/>
        </p:nvSpPr>
        <p:spPr>
          <a:xfrm>
            <a:off x="2526506"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Storage</a:t>
            </a:r>
          </a:p>
          <a:p>
            <a:pPr algn="ctr">
              <a:defRPr sz="435" b="0">
                <a:solidFill>
                  <a:srgbClr val="102031"/>
                </a:solidFill>
                <a:latin typeface="Arial"/>
                <a:ea typeface="Arial"/>
                <a:cs typeface="Arial"/>
              </a:defRPr>
            </a:pPr>
            <a:r>
              <a:rPr sz="300" b="0">
                <a:solidFill>
                  <a:srgbClr val="102031"/>
                </a:solidFill>
                <a:latin typeface="Arial"/>
                <a:ea typeface="Arial"/>
                <a:cs typeface="Arial"/>
              </a:rPr>
              <a:t>(Distributed)</a:t>
            </a:r>
          </a:p>
        </p:txBody>
      </p:sp>
      <p:sp>
        <p:nvSpPr>
          <p:cNvPr id="185" name="infrastructure-items-4-box">
            <a:extLst>
              <a:ext uri="{FF2B5EF4-FFF2-40B4-BE49-F238E27FC236}">
                <a16:creationId xmlns:a16="http://schemas.microsoft.com/office/drawing/2014/main" id="{1DC82E08-D77B-5A04-E9A3-4799EF0513A2}"/>
              </a:ext>
            </a:extLst>
          </p:cNvPr>
          <p:cNvSpPr>
            <a:spLocks noGrp="1"/>
          </p:cNvSpPr>
          <p:nvPr/>
        </p:nvSpPr>
        <p:spPr>
          <a:xfrm>
            <a:off x="3284934"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Security</a:t>
            </a:r>
          </a:p>
          <a:p>
            <a:pPr algn="ctr">
              <a:defRPr sz="435" b="0">
                <a:solidFill>
                  <a:srgbClr val="102031"/>
                </a:solidFill>
                <a:latin typeface="Arial"/>
                <a:ea typeface="Arial"/>
                <a:cs typeface="Arial"/>
              </a:defRPr>
            </a:pPr>
            <a:r>
              <a:rPr sz="300" b="0">
                <a:solidFill>
                  <a:srgbClr val="102031"/>
                </a:solidFill>
                <a:latin typeface="Arial"/>
                <a:ea typeface="Arial"/>
                <a:cs typeface="Arial"/>
              </a:rPr>
              <a:t>(FW / IDS)</a:t>
            </a:r>
          </a:p>
        </p:txBody>
      </p:sp>
      <p:sp>
        <p:nvSpPr>
          <p:cNvPr id="186" name="infrastructure-items-5-box">
            <a:extLst>
              <a:ext uri="{FF2B5EF4-FFF2-40B4-BE49-F238E27FC236}">
                <a16:creationId xmlns:a16="http://schemas.microsoft.com/office/drawing/2014/main" id="{3BA4C529-07B3-59B6-8AA1-5BE025F17DAA}"/>
              </a:ext>
            </a:extLst>
          </p:cNvPr>
          <p:cNvSpPr>
            <a:spLocks noGrp="1"/>
          </p:cNvSpPr>
          <p:nvPr/>
        </p:nvSpPr>
        <p:spPr>
          <a:xfrm>
            <a:off x="4043363"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Monitoring</a:t>
            </a:r>
          </a:p>
          <a:p>
            <a:pPr algn="ctr">
              <a:defRPr sz="435" b="0">
                <a:solidFill>
                  <a:srgbClr val="102031"/>
                </a:solidFill>
                <a:latin typeface="Arial"/>
                <a:ea typeface="Arial"/>
                <a:cs typeface="Arial"/>
              </a:defRPr>
            </a:pPr>
            <a:r>
              <a:rPr sz="300" b="0">
                <a:solidFill>
                  <a:srgbClr val="102031"/>
                </a:solidFill>
                <a:latin typeface="Arial"/>
                <a:ea typeface="Arial"/>
                <a:cs typeface="Arial"/>
              </a:rPr>
              <a:t>(Prometheus)</a:t>
            </a:r>
          </a:p>
        </p:txBody>
      </p:sp>
      <p:sp>
        <p:nvSpPr>
          <p:cNvPr id="187" name="infrastructure-items-6-box">
            <a:extLst>
              <a:ext uri="{FF2B5EF4-FFF2-40B4-BE49-F238E27FC236}">
                <a16:creationId xmlns:a16="http://schemas.microsoft.com/office/drawing/2014/main" id="{2DBCD637-1B48-A53C-5C31-1DF3173E650F}"/>
              </a:ext>
            </a:extLst>
          </p:cNvPr>
          <p:cNvSpPr>
            <a:spLocks noGrp="1"/>
          </p:cNvSpPr>
          <p:nvPr/>
        </p:nvSpPr>
        <p:spPr>
          <a:xfrm>
            <a:off x="4801791"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Logging</a:t>
            </a:r>
          </a:p>
          <a:p>
            <a:pPr algn="ctr">
              <a:defRPr sz="435" b="0">
                <a:solidFill>
                  <a:srgbClr val="102031"/>
                </a:solidFill>
                <a:latin typeface="Arial"/>
                <a:ea typeface="Arial"/>
                <a:cs typeface="Arial"/>
              </a:defRPr>
            </a:pPr>
            <a:r>
              <a:rPr sz="300" b="0">
                <a:solidFill>
                  <a:srgbClr val="102031"/>
                </a:solidFill>
                <a:latin typeface="Arial"/>
                <a:ea typeface="Arial"/>
                <a:cs typeface="Arial"/>
              </a:rPr>
              <a:t>(ELK)</a:t>
            </a:r>
          </a:p>
        </p:txBody>
      </p:sp>
      <p:sp>
        <p:nvSpPr>
          <p:cNvPr id="188" name="infrastructure-items-7-box">
            <a:extLst>
              <a:ext uri="{FF2B5EF4-FFF2-40B4-BE49-F238E27FC236}">
                <a16:creationId xmlns:a16="http://schemas.microsoft.com/office/drawing/2014/main" id="{7332C11D-84AF-EB39-4669-407DAF74ED90}"/>
              </a:ext>
            </a:extLst>
          </p:cNvPr>
          <p:cNvSpPr>
            <a:spLocks noGrp="1"/>
          </p:cNvSpPr>
          <p:nvPr/>
        </p:nvSpPr>
        <p:spPr>
          <a:xfrm>
            <a:off x="5560219"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Automation</a:t>
            </a:r>
          </a:p>
          <a:p>
            <a:pPr algn="ctr">
              <a:defRPr sz="435" b="0">
                <a:solidFill>
                  <a:srgbClr val="102031"/>
                </a:solidFill>
                <a:latin typeface="Arial"/>
                <a:ea typeface="Arial"/>
                <a:cs typeface="Arial"/>
              </a:defRPr>
            </a:pPr>
            <a:r>
              <a:rPr sz="300" b="0">
                <a:solidFill>
                  <a:srgbClr val="102031"/>
                </a:solidFill>
                <a:latin typeface="Arial"/>
                <a:ea typeface="Arial"/>
                <a:cs typeface="Arial"/>
              </a:rPr>
              <a:t>(Ansible)</a:t>
            </a:r>
          </a:p>
        </p:txBody>
      </p:sp>
      <p:sp>
        <p:nvSpPr>
          <p:cNvPr id="189" name="infrastructure-items-8-box">
            <a:extLst>
              <a:ext uri="{FF2B5EF4-FFF2-40B4-BE49-F238E27FC236}">
                <a16:creationId xmlns:a16="http://schemas.microsoft.com/office/drawing/2014/main" id="{1EBAF33E-9853-62AF-AC8E-2920247E635B}"/>
              </a:ext>
            </a:extLst>
          </p:cNvPr>
          <p:cNvSpPr>
            <a:spLocks noGrp="1"/>
          </p:cNvSpPr>
          <p:nvPr/>
        </p:nvSpPr>
        <p:spPr>
          <a:xfrm>
            <a:off x="6318647"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CI/CD</a:t>
            </a:r>
          </a:p>
          <a:p>
            <a:pPr algn="ctr">
              <a:defRPr sz="435" b="0">
                <a:solidFill>
                  <a:srgbClr val="102031"/>
                </a:solidFill>
                <a:latin typeface="Arial"/>
                <a:ea typeface="Arial"/>
                <a:cs typeface="Arial"/>
              </a:defRPr>
            </a:pPr>
            <a:r>
              <a:rPr sz="300" b="0">
                <a:solidFill>
                  <a:srgbClr val="102031"/>
                </a:solidFill>
                <a:latin typeface="Arial"/>
                <a:ea typeface="Arial"/>
                <a:cs typeface="Arial"/>
              </a:rPr>
              <a:t>(GitOps)</a:t>
            </a:r>
          </a:p>
        </p:txBody>
      </p:sp>
      <p:sp>
        <p:nvSpPr>
          <p:cNvPr id="6" name="文本框 5">
            <a:extLst>
              <a:ext uri="{FF2B5EF4-FFF2-40B4-BE49-F238E27FC236}">
                <a16:creationId xmlns:a16="http://schemas.microsoft.com/office/drawing/2014/main" id="{0DC8EAE8-7214-0CAB-B297-4A9BD9A4B529}"/>
              </a:ext>
            </a:extLst>
          </p:cNvPr>
          <p:cNvSpPr txBox="1"/>
          <p:nvPr/>
        </p:nvSpPr>
        <p:spPr>
          <a:xfrm>
            <a:off x="1103735" y="2040678"/>
            <a:ext cx="648868" cy="461665"/>
          </a:xfrm>
          <a:prstGeom prst="rect">
            <a:avLst/>
          </a:prstGeom>
          <a:noFill/>
          <a:ln w="0">
            <a:noFill/>
            <a:prstDash val="solid"/>
          </a:ln>
        </p:spPr>
        <p:txBody>
          <a:bodyPr wrap="square" lIns="19050" tIns="9525" rIns="19050" bIns="9525" anchor="ctr">
            <a:normAutofit fontScale="93750"/>
          </a:bodyPr>
          <a:lstStyle>
            <a:defPPr marR="0" lvl="0" algn="l" rtl="0">
              <a:lnSpc>
                <a:spcPct val="100000"/>
              </a:lnSpc>
              <a:spcBef>
                <a:spcPts val="0"/>
              </a:spcBef>
              <a:spcAft>
                <a:spcPts val="0"/>
              </a:spcAft>
            </a:defPPr>
            <a:lvl1pPr algn="ctr">
              <a:defRPr sz="1200" b="1">
                <a:solidFill>
                  <a:srgbClr val="475569"/>
                </a:solidFill>
              </a:defRPr>
            </a:lvl1pPr>
          </a:lstStyle>
          <a:p>
            <a:pPr algn="l"/>
            <a:r>
              <a:rPr lang="en" altLang="zh-CN" dirty="0"/>
              <a:t>LLM-D</a:t>
            </a:r>
          </a:p>
          <a:p>
            <a:pPr algn="l"/>
            <a:r>
              <a:rPr lang="en" altLang="zh-CN" dirty="0"/>
              <a:t>KAITO</a:t>
            </a:r>
            <a:endParaRPr lang="zh-CN" altLang="en-US" dirty="0"/>
          </a:p>
        </p:txBody>
      </p:sp>
    </p:spTree>
    <p:extLst>
      <p:ext uri="{BB962C8B-B14F-4D97-AF65-F5344CB8AC3E}">
        <p14:creationId xmlns:p14="http://schemas.microsoft.com/office/powerpoint/2010/main" val="31577067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marL="158750">
              <a:buSzPts val="1100"/>
            </a:pPr>
            <a:r>
              <a:rPr lang="zh-CN" altLang="zh-CN" sz="1200" dirty="0"/>
              <a:t>The following table presents examples, not a ranking. Some approaches can be used together.</a:t>
            </a:r>
            <a:endParaRPr lang="en-US" altLang="zh-CN" sz="1200" dirty="0"/>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14</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dirty="0" err="1">
                <a:solidFill>
                  <a:srgbClr val="142C46"/>
                </a:solidFill>
                <a:latin typeface="Arial"/>
              </a:rPr>
              <a:t>llm</a:t>
            </a:r>
            <a:r>
              <a:rPr sz="2100" b="1" dirty="0">
                <a:solidFill>
                  <a:srgbClr val="142C46"/>
                </a:solidFill>
                <a:latin typeface="Arial"/>
              </a:rPr>
              <a:t>-d: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a:lnSpc>
                <a:spcPct val="108000"/>
              </a:lnSpc>
              <a:defRPr sz="1200" b="0">
                <a:solidFill>
                  <a:srgbClr val="52677D"/>
                </a:solidFill>
                <a:latin typeface="Arial"/>
              </a:defRPr>
            </a:pPr>
            <a:r>
              <a:rPr lang="en-US" sz="1200" dirty="0">
                <a:solidFill>
                  <a:srgbClr val="52677D"/>
                </a:solidFill>
              </a:rPr>
              <a:t>Kubernetes-native high-performance distributed LLM inference framework</a:t>
            </a:r>
            <a:endParaRPr sz="1200" b="0" dirty="0">
              <a:solidFill>
                <a:srgbClr val="52677D"/>
              </a:solidFill>
              <a:latin typeface="Arial"/>
            </a:endParaRP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15</a:t>
            </a:fld>
            <a:endParaRPr lang="en-US"/>
          </a:p>
        </p:txBody>
      </p:sp>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combine reusable </a:t>
            </a:r>
            <a:r>
              <a:rPr lang="en-US" sz="1100" b="0" dirty="0" err="1">
                <a:solidFill>
                  <a:srgbClr val="142C46"/>
                </a:solidFill>
                <a:latin typeface="Arial"/>
              </a:rPr>
              <a:t>llm</a:t>
            </a:r>
            <a:r>
              <a:rPr lang="en-US" sz="1100" b="0" dirty="0">
                <a:solidFill>
                  <a:srgbClr val="142C46"/>
                </a:solidFill>
                <a:latin typeface="Arial"/>
              </a:rPr>
              <a:t>-d </a:t>
            </a:r>
            <a:r>
              <a:rPr sz="1100" b="0" dirty="0">
                <a:solidFill>
                  <a:srgbClr val="142C46"/>
                </a:solidFill>
                <a:latin typeface="Arial"/>
              </a:rPr>
              <a:t>components.</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nSpc>
                <a:spcPct val="108000"/>
              </a:lnSpc>
              <a:spcAft>
                <a:spcPts val="500"/>
              </a:spcAft>
              <a:defRPr sz="1050" b="0">
                <a:solidFill>
                  <a:srgbClr val="142C46"/>
                </a:solidFill>
                <a:latin typeface="Arial"/>
              </a:defRPr>
            </a:pPr>
            <a:r>
              <a:rPr lang="en-US" sz="1100" b="1" dirty="0">
                <a:solidFill>
                  <a:srgbClr val="346CEC"/>
                </a:solidFill>
              </a:rPr>
              <a:t>State-of-the-art </a:t>
            </a:r>
            <a:r>
              <a:rPr sz="1100" b="1" dirty="0" err="1">
                <a:solidFill>
                  <a:srgbClr val="346CEC"/>
                </a:solidFill>
                <a:latin typeface="Arial"/>
              </a:rPr>
              <a:t>MoE</a:t>
            </a:r>
            <a:r>
              <a:rPr sz="1100" b="1" dirty="0">
                <a:solidFill>
                  <a:srgbClr val="346CEC"/>
                </a:solidFill>
                <a:latin typeface="Arial"/>
              </a:rPr>
              <a:t> serving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16</a:t>
            </a:fld>
            <a:endParaRPr lang="en-US"/>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184666"/>
          </a:xfrm>
          <a:prstGeom prst="rect">
            <a:avLst/>
          </a:prstGeom>
          <a:noFill/>
        </p:spPr>
        <p:txBody>
          <a:bodyPr wrap="square" lIns="0" tIns="0" rIns="0" bIns="0">
            <a:spAutoFit/>
          </a:bodyPr>
          <a:lstStyle/>
          <a:p>
            <a:pPr marL="158750">
              <a:buSzPts val="1100"/>
            </a:pPr>
            <a:r>
              <a:rPr lang="zh-CN" altLang="zh-CN" sz="1200" dirty="0"/>
              <a:t>tested ways to deploy, with clear guidance on what works well and what the limitations are.</a:t>
            </a:r>
            <a:endParaRPr lang="en-US" altLang="zh-CN" sz="1200" dirty="0"/>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dirty="0"/>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dirty="0"/>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a large </a:t>
            </a:r>
            <a:r>
              <a:rPr cap="none" dirty="0" err="1"/>
              <a:t>MoE</a:t>
            </a:r>
            <a:r>
              <a:rPr cap="none" dirty="0"/>
              <a:t> model run across GPUs?</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17</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
        <p:nvSpPr>
          <p:cNvPr id="19" name="MoE explained in plain English"/>
          <p:cNvSpPr txBox="1"/>
          <p:nvPr/>
        </p:nvSpPr>
        <p:spPr>
          <a:xfrm>
            <a:off x="576072" y="4270248"/>
            <a:ext cx="7991856" cy="466344"/>
          </a:xfrm>
          <a:prstGeom prst="rect">
            <a:avLst/>
          </a:prstGeom>
          <a:noFill/>
        </p:spPr>
        <p:txBody>
          <a:bodyPr wrap="square" lIns="0" tIns="0" rIns="0" bIns="0">
            <a:noAutofit/>
          </a:bodyPr>
          <a:lstStyle/>
          <a:p>
            <a:pPr>
              <a:spcAft>
                <a:spcPts val="100"/>
              </a:spcAft>
              <a:defRPr sz="1350" b="1">
                <a:solidFill>
                  <a:srgbClr val="8060C3"/>
                </a:solidFill>
                <a:latin typeface="Arial"/>
              </a:defRPr>
            </a:pPr>
            <a:r>
              <a:rPr cap="none" dirty="0" err="1"/>
              <a:t>MoE</a:t>
            </a:r>
            <a:r>
              <a:rPr lang="en-US" dirty="0"/>
              <a:t>:</a:t>
            </a:r>
            <a:r>
              <a:rPr lang="zh-CN" altLang="en-US" dirty="0"/>
              <a:t> </a:t>
            </a:r>
            <a:r>
              <a:rPr cap="none" dirty="0"/>
              <a:t>Mixture of Experts—a team of specialists.</a:t>
            </a:r>
          </a:p>
          <a:p>
            <a:pPr>
              <a:spcAft>
                <a:spcPts val="100"/>
              </a:spcAft>
              <a:defRPr sz="1350" b="0">
                <a:solidFill>
                  <a:srgbClr val="142C46"/>
                </a:solidFill>
                <a:latin typeface="Arial"/>
              </a:defRPr>
            </a:pPr>
            <a:r>
              <a:rPr cap="none" dirty="0"/>
              <a:t>The model picks a few experts to help process each token</a:t>
            </a:r>
            <a:r>
              <a:rPr lang="en-US" dirty="0"/>
              <a:t> instead of using all experts every time.</a:t>
            </a:r>
            <a:endParaRPr cap="none" dirty="0"/>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1800" b="1" cap="none" dirty="0">
                <a:solidFill>
                  <a:srgbClr val="142C46"/>
                </a:solidFill>
                <a:latin typeface="Arial"/>
              </a:rPr>
              <a:t>What is KAITO </a:t>
            </a:r>
            <a:r>
              <a:rPr lang="en-US" sz="1800" b="1" dirty="0">
                <a:solidFill>
                  <a:srgbClr val="142C46"/>
                </a:solidFill>
                <a:latin typeface="Arial"/>
              </a:rPr>
              <a:t>(Kubernetes AI Toolchain Operator)</a:t>
            </a:r>
            <a:r>
              <a:rPr lang="en-US" sz="1800" b="1" cap="none" dirty="0">
                <a:solidFill>
                  <a:srgbClr val="142C46"/>
                </a:solidFill>
                <a:latin typeface="Arial"/>
              </a:rPr>
              <a:t>?</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5885848" y="2184839"/>
            <a:ext cx="3407344"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Specify a model name and GPU SKU</a:t>
            </a:r>
          </a:p>
          <a:p>
            <a:pPr marL="285750" indent="-285750">
              <a:buFont typeface="Arial" panose="020B0604020202020204" pitchFamily="34" charset="0"/>
              <a:buChar char="•"/>
            </a:pPr>
            <a:r>
              <a:rPr lang="en-US" sz="1300" dirty="0">
                <a:solidFill>
                  <a:srgbClr val="142C46"/>
                </a:solidFill>
              </a:rPr>
              <a:t>sizes the nodes to fit the model’s memory requirements</a:t>
            </a:r>
          </a:p>
          <a:p>
            <a:pPr marL="285750" indent="-285750">
              <a:buFont typeface="Arial" panose="020B0604020202020204" pitchFamily="34" charset="0"/>
              <a:buChar char="•"/>
            </a:pPr>
            <a:r>
              <a:rPr lang="en-US" sz="1300" dirty="0">
                <a:solidFill>
                  <a:srgbClr val="142C46"/>
                </a:solidFill>
              </a:rPr>
              <a:t>handles model setup and caching</a:t>
            </a:r>
          </a:p>
          <a:p>
            <a:pPr marL="285750" indent="-285750">
              <a:buFont typeface="Arial" panose="020B0604020202020204" pitchFamily="34" charset="0"/>
              <a:buChar char="•"/>
            </a:pPr>
            <a:r>
              <a:rPr lang="en-US" sz="1300" dirty="0">
                <a:solidFill>
                  <a:srgbClr val="142C46"/>
                </a:solidFill>
              </a:rPr>
              <a:t>manages inference workloads and rolling updates on Kubernetes</a:t>
            </a:r>
          </a:p>
          <a:p>
            <a:pPr marL="285750" indent="-285750">
              <a:buFont typeface="Arial" panose="020B0604020202020204" pitchFamily="34" charset="0"/>
              <a:buChar char="•"/>
            </a:pPr>
            <a:r>
              <a:rPr lang="en-US" sz="1300" dirty="0">
                <a:solidFill>
                  <a:srgbClr val="142C46"/>
                </a:solidFill>
              </a:rPr>
              <a:t>uses KEDA to automatically scale workloads</a:t>
            </a:r>
            <a:endParaRPr sz="1300" cap="none" dirty="0">
              <a:solidFill>
                <a:srgbClr val="142C46"/>
              </a:solidFill>
              <a:latin typeface="Arial"/>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18</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Specify the model name,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03 / </a:t>
            </a:r>
            <a:r>
              <a:rPr sz="750" b="1" dirty="0" err="1">
                <a:solidFill>
                  <a:srgbClr val="346CEC"/>
                </a:solidFill>
                <a:latin typeface="Arial"/>
              </a:rPr>
              <a:t>llm</a:t>
            </a:r>
            <a:r>
              <a:rPr sz="750" b="1" dirty="0">
                <a:solidFill>
                  <a:srgbClr val="346CEC"/>
                </a:solidFill>
                <a:latin typeface="Arial"/>
              </a:rPr>
              <a:t>-d and KAITO — </a:t>
            </a:r>
            <a:r>
              <a:rPr lang="en-US" sz="750" b="1" dirty="0">
                <a:solidFill>
                  <a:srgbClr val="346CEC"/>
                </a:solidFill>
                <a:latin typeface="Arial"/>
              </a:rPr>
              <a:t>inference </a:t>
            </a:r>
            <a:r>
              <a:rPr sz="750" b="1" dirty="0">
                <a:solidFill>
                  <a:srgbClr val="346CEC"/>
                </a:solidFill>
                <a:latin typeface="Arial"/>
              </a:rPr>
              <a:t>workload example</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b="1" dirty="0">
                <a:solidFill>
                  <a:schemeClr val="accent2">
                    <a:lumMod val="75000"/>
                  </a:schemeClr>
                </a:solidFill>
              </a:rPr>
              <a:t>Specify a model name and GPU SKU</a:t>
            </a:r>
            <a:r>
              <a:rPr lang="en-US" sz="1400" b="1" dirty="0">
                <a:solidFill>
                  <a:schemeClr val="accent2">
                    <a:lumMod val="75000"/>
                  </a:schemeClr>
                </a:solidFill>
              </a:rPr>
              <a:t>.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Why bring </a:t>
            </a:r>
            <a:r>
              <a:rPr sz="2100" b="1" cap="none" dirty="0" err="1">
                <a:solidFill>
                  <a:srgbClr val="142C46"/>
                </a:solidFill>
                <a:latin typeface="Arial"/>
              </a:rPr>
              <a:t>llm</a:t>
            </a:r>
            <a:r>
              <a:rPr sz="2100" b="1" cap="none" dirty="0">
                <a:solidFill>
                  <a:srgbClr val="142C46"/>
                </a:solidFill>
                <a:latin typeface="Arial"/>
              </a:rPr>
              <a:t>-d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22</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23</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err="1">
                <a:solidFill>
                  <a:srgbClr val="142C46"/>
                </a:solidFill>
                <a:latin typeface="Arial"/>
              </a:rPr>
              <a:t>llm</a:t>
            </a:r>
            <a:r>
              <a:rPr sz="2100" b="1" cap="none" dirty="0">
                <a:solidFill>
                  <a:srgbClr val="142C46"/>
                </a:solidFill>
                <a:latin typeface="Arial"/>
              </a:rPr>
              <a:t>-d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dirty="0" err="1">
                <a:latin typeface="Arial"/>
              </a:rPr>
              <a:t>llm</a:t>
            </a:r>
            <a:r>
              <a:rPr sz="1500" cap="none" dirty="0">
                <a:latin typeface="Arial"/>
              </a:rPr>
              <a:t>-d Router EPP</a:t>
            </a:r>
          </a:p>
          <a:p>
            <a:pPr algn="ctr">
              <a:spcBef>
                <a:spcPts val="225"/>
              </a:spcBef>
              <a:defRPr sz="1200" b="0">
                <a:solidFill>
                  <a:srgbClr val="5B6E80"/>
                </a:solidFill>
                <a:latin typeface="Arial"/>
              </a:defRPr>
            </a:pPr>
            <a:r>
              <a:rPr sz="900" cap="none" dirty="0">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2811779" y="2882647"/>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099815" y="2862073"/>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dirty="0">
                <a:latin typeface="Arial"/>
              </a:rPr>
              <a:t>Compose plugins</a:t>
            </a:r>
          </a:p>
        </p:txBody>
      </p:sp>
      <p:sp>
        <p:nvSpPr>
          <p:cNvPr id="21" name="KV-cache-aware logic / and P/D-aware scheduling."/>
          <p:cNvSpPr txBox="1"/>
          <p:nvPr/>
        </p:nvSpPr>
        <p:spPr>
          <a:xfrm>
            <a:off x="3099815" y="3198115"/>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dirty="0">
                <a:latin typeface="Arial"/>
              </a:rPr>
              <a:t>Combine KV-aware and</a:t>
            </a:r>
          </a:p>
          <a:p>
            <a:pPr>
              <a:spcAft>
                <a:spcPts val="150"/>
              </a:spcAft>
              <a:defRPr sz="1600" b="0">
                <a:solidFill>
                  <a:srgbClr val="5B6E80"/>
                </a:solidFill>
                <a:latin typeface="Arial"/>
              </a:defRPr>
            </a:pPr>
            <a:r>
              <a:rPr sz="1200" cap="none" dirty="0">
                <a:latin typeface="Arial"/>
              </a:rPr>
              <a:t>P/D-aware plugins.</a:t>
            </a:r>
          </a:p>
        </p:txBody>
      </p:sp>
      <p:sp>
        <p:nvSpPr>
          <p:cNvPr id="22" name="Step 03"/>
          <p:cNvSpPr/>
          <p:nvPr/>
        </p:nvSpPr>
        <p:spPr>
          <a:xfrm>
            <a:off x="583844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12648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12648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dirty="0">
                <a:latin typeface="Arial"/>
              </a:rPr>
              <a:t>Add new policies</a:t>
            </a:r>
          </a:p>
          <a:p>
            <a:pPr>
              <a:spcAft>
                <a:spcPts val="150"/>
              </a:spcAft>
              <a:defRPr sz="1600" b="0">
                <a:solidFill>
                  <a:srgbClr val="5B6E80"/>
                </a:solidFill>
                <a:latin typeface="Arial"/>
              </a:defRPr>
            </a:pPr>
            <a:r>
              <a:rPr sz="1200" cap="none" dirty="0">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dirty="0">
                <a:latin typeface="Arial"/>
              </a:rPr>
              <a:t>KAITO reuses </a:t>
            </a:r>
            <a:r>
              <a:rPr sz="1050" cap="none" dirty="0" err="1">
                <a:latin typeface="Arial"/>
              </a:rPr>
              <a:t>llm</a:t>
            </a:r>
            <a:r>
              <a:rPr sz="1050" cap="none" dirty="0">
                <a:latin typeface="Arial"/>
              </a:rPr>
              <a:t>-d’s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KAITO manages resources. HTTP carries requests. NIXL moves KV between</a:t>
            </a:r>
            <a:r>
              <a:rPr lang="en-US" sz="1200" cap="none" dirty="0">
                <a:solidFill>
                  <a:srgbClr val="52677D"/>
                </a:solidFill>
                <a:latin typeface="Arial"/>
              </a:rPr>
              <a:t> </a:t>
            </a:r>
            <a:r>
              <a:rPr lang="en-US" sz="1200" cap="none" dirty="0" err="1">
                <a:solidFill>
                  <a:srgbClr val="52677D"/>
                </a:solidFill>
                <a:latin typeface="Arial"/>
              </a:rPr>
              <a:t>vLLM</a:t>
            </a:r>
            <a:r>
              <a:rPr sz="1200" cap="none" dirty="0">
                <a:solidFill>
                  <a:srgbClr val="52677D"/>
                </a:solidFill>
                <a:latin typeface="Arial"/>
              </a:rPr>
              <a:t>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dirty="0">
                <a:latin typeface="Arial"/>
              </a:rPr>
              <a:t>Both roles serve the same model. Each has its own </a:t>
            </a:r>
            <a:r>
              <a:rPr sz="1050" cap="none" dirty="0" err="1">
                <a:latin typeface="Arial"/>
              </a:rPr>
              <a:t>InferenceSet</a:t>
            </a:r>
            <a:r>
              <a:rPr sz="1050" cap="none" dirty="0">
                <a:latin typeface="Arial"/>
              </a:rPr>
              <a: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Set </a:t>
            </a:r>
            <a:r>
              <a:rPr lang="en-US" sz="1275" cap="none" dirty="0" err="1">
                <a:latin typeface="Arial"/>
              </a:rPr>
              <a:t>llm</a:t>
            </a:r>
            <a:r>
              <a:rPr lang="en-US" sz="1275" cap="none" dirty="0">
                <a:latin typeface="Arial"/>
              </a:rPr>
              <a:t>-d </a:t>
            </a:r>
            <a:r>
              <a:rPr sz="1275" cap="none" dirty="0">
                <a:latin typeface="Arial"/>
              </a:rPr>
              <a:t>role labels and</a:t>
            </a:r>
          </a:p>
          <a:p>
            <a:pPr>
              <a:spcAft>
                <a:spcPts val="150"/>
              </a:spcAft>
              <a:defRPr sz="1700" b="0">
                <a:solidFill>
                  <a:srgbClr val="5B6E80"/>
                </a:solidFill>
                <a:latin typeface="Arial"/>
              </a:defRPr>
            </a:pPr>
            <a:r>
              <a:rPr sz="1275" cap="none" dirty="0">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a:t>
            </a:r>
            <a:r>
              <a:rPr lang="en-US" sz="1275" cap="none" dirty="0">
                <a:latin typeface="Arial"/>
              </a:rPr>
              <a:t> </a:t>
            </a:r>
            <a:r>
              <a:rPr lang="en-US" sz="1275" cap="none" dirty="0" err="1">
                <a:latin typeface="Arial"/>
              </a:rPr>
              <a:t>llm</a:t>
            </a:r>
            <a:r>
              <a:rPr lang="en-US" sz="1275" cap="none" dirty="0">
                <a:latin typeface="Arial"/>
              </a:rPr>
              <a:t>-d</a:t>
            </a:r>
            <a:r>
              <a:rPr sz="1275" cap="none" dirty="0">
                <a:latin typeface="Arial"/>
              </a:rPr>
              <a:t>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endParaRPr sz="1650" cap="none" dirty="0">
              <a:latin typeface="Arial"/>
            </a:endParaRP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Start with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885114"/>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Decode needs to sustain</a:t>
            </a:r>
          </a:p>
          <a:p>
            <a:pPr>
              <a:spcAft>
                <a:spcPts val="375"/>
              </a:spcAft>
              <a:defRPr sz="2200" b="0">
                <a:solidFill>
                  <a:srgbClr val="172941"/>
                </a:solidFill>
                <a:latin typeface="Arial"/>
              </a:defRPr>
            </a:pPr>
            <a:r>
              <a:rPr sz="1650" cap="none" dirty="0">
                <a:latin typeface="Arial"/>
              </a:rPr>
              <a:t>steady token delivery</a:t>
            </a:r>
            <a:r>
              <a:rPr lang="en-US" sz="1650" cap="none" dirty="0">
                <a:latin typeface="Arial"/>
              </a:rPr>
              <a:t> </a:t>
            </a:r>
          </a:p>
          <a:p>
            <a:pPr>
              <a:spcAft>
                <a:spcPts val="375"/>
              </a:spcAft>
              <a:defRPr sz="2200" b="0">
                <a:solidFill>
                  <a:srgbClr val="172941"/>
                </a:solidFill>
                <a:latin typeface="Arial"/>
              </a:defRPr>
            </a:pPr>
            <a:r>
              <a:rPr lang="en-US" sz="1650" dirty="0"/>
              <a:t>Inter-Token Latency </a:t>
            </a:r>
            <a:r>
              <a:rPr lang="en-US" sz="1650" cap="none" dirty="0">
                <a:latin typeface="Arial"/>
              </a:rPr>
              <a:t>(ITL)</a:t>
            </a:r>
            <a:endParaRPr sz="1650" cap="none" dirty="0">
              <a:latin typeface="Arial"/>
            </a:endParaRP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dirty="0">
                <a:latin typeface="Arial"/>
              </a:rPr>
              <a:t>Start with </a:t>
            </a:r>
            <a:r>
              <a:rPr sz="750" cap="none" dirty="0" err="1">
                <a:latin typeface="Arial"/>
              </a:rPr>
              <a:t>vLLM</a:t>
            </a:r>
            <a:r>
              <a:rPr sz="750" cap="none" dirty="0">
                <a:latin typeface="Arial"/>
              </a:rPr>
              <a:t>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5594480"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Today, KEDA scales an</a:t>
            </a:r>
            <a:r>
              <a:rPr lang="en-US" sz="2100" b="1" cap="none" dirty="0">
                <a:solidFill>
                  <a:srgbClr val="142C46"/>
                </a:solidFill>
                <a:latin typeface="Arial"/>
              </a:rPr>
              <a:t> KAITO </a:t>
            </a:r>
            <a:r>
              <a:rPr sz="2100" b="1" cap="none" dirty="0" err="1">
                <a:solidFill>
                  <a:srgbClr val="142C46"/>
                </a:solidFill>
                <a:latin typeface="Arial"/>
              </a:rPr>
              <a:t>InferenceSet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dirty="0">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Read vLLM metrics directly, without Prometheus.</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
              <a:rPr cap="none" dirty="0">
                <a:solidFill>
                  <a:srgbClr val="142C46"/>
                </a:solidFill>
                <a:latin typeface="Arial"/>
              </a:rPr>
              <a:t>Read vLLM metrics directly.</a:t>
            </a:r>
            <a:br/>
            <a:r>
              <a:rPr cap="none" dirty="0">
                <a:solidFill>
                  <a:srgbClr val="142C46"/>
                </a:solidFill>
                <a:latin typeface="Arial"/>
              </a:rPr>
              <a:t>Use queue and latency signals.</a:t>
            </a:r>
            <a:br/>
            <a:r>
              <a:rPr cap="none" dirty="0">
                <a:solidFill>
                  <a:srgbClr val="142C46"/>
                </a:solidFill>
                <a:latin typeface="Arial"/>
              </a:rPr>
              <a:t>Take conservative replica steps.</a:t>
            </a:r>
            <a:br/>
            <a:r>
              <a:rPr cap="none" dirty="0">
                <a:solidFill>
                  <a:srgbClr val="142C46"/>
                </a:solidFill>
                <a:latin typeface="Arial"/>
              </a:rPr>
              <a:t>Combine conditions with AND.</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31</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Proposed policy: scale prefill and decode separately</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This is a proposed policy excerpt, not a ready-to-deploy manifest.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MRI adapter and child opt-in still need integration. These thresholds are examples.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35</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If running later exceeds 24,</a:t>
            </a:r>
          </a:p>
          <a:p>
            <a:pPr>
              <a:spcAft>
                <a:spcPts val="375"/>
              </a:spcAft>
              <a:defRPr sz="1600" b="0">
                <a:solidFill>
                  <a:srgbClr val="7354B8"/>
                </a:solidFill>
                <a:latin typeface="Arial"/>
              </a:defRPr>
            </a:pPr>
            <a:r>
              <a:rPr sz="120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Use two gauges to scale the two roles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are integration directions, not release dates; some capabilities already exist upstream.</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Route using KV cache events.</a:t>
            </a:r>
          </a:p>
          <a:p>
            <a:pPr>
              <a:spcAft>
                <a:spcPts val="375"/>
              </a:spcAft>
              <a:defRPr sz="1700" b="0">
                <a:solidFill>
                  <a:srgbClr val="172941"/>
                </a:solidFill>
                <a:latin typeface="Arial"/>
              </a:defRPr>
            </a:pPr>
            <a:r>
              <a:rPr sz="1275" cap="none">
                <a:latin typeface="Arial"/>
              </a:rPr>
              <a:t>Tier cache across HBM, CPU RAM</a:t>
            </a:r>
          </a:p>
          <a:p>
            <a:pPr>
              <a:spcAft>
                <a:spcPts val="375"/>
              </a:spcAft>
              <a:defRPr sz="1700" b="0">
                <a:solidFill>
                  <a:srgbClr val="172941"/>
                </a:solidFill>
                <a:latin typeface="Arial"/>
              </a:defRPr>
            </a:pPr>
            <a:r>
              <a:t>and optional filesystems.</a:t>
            </a:r>
            <a:endParaRPr sz="1275"/>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Add Encode to Prefill / Decode.</a:t>
            </a:r>
          </a:p>
          <a:p>
            <a:pPr>
              <a:spcAft>
                <a:spcPts val="375"/>
              </a:spcAft>
              <a:defRPr sz="1700" b="0">
                <a:solidFill>
                  <a:srgbClr val="172941"/>
                </a:solidFill>
                <a:latin typeface="Arial"/>
              </a:defRPr>
            </a:pPr>
            <a:r>
              <a:t>Support more inference roles.</a:t>
            </a:r>
            <a:endParaRPr sz="1275"/>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Explore wide expert parallelism.</a:t>
            </a:r>
          </a:p>
          <a:p>
            <a:pPr>
              <a:spcAft>
                <a:spcPts val="375"/>
              </a:spcAft>
              <a:defRPr sz="1700" b="0">
                <a:solidFill>
                  <a:srgbClr val="172941"/>
                </a:solidFill>
                <a:latin typeface="Arial"/>
              </a:defRPr>
            </a:pPr>
            <a:r>
              <a:t>Improve cross-node transport</a:t>
            </a:r>
            <a:endParaRPr sz="1275"/>
          </a:p>
          <a:p>
            <a:pPr>
              <a:spcAft>
                <a:spcPts val="375"/>
              </a:spcAft>
              <a:defRPr sz="1700" b="0">
                <a:solidFill>
                  <a:srgbClr val="172941"/>
                </a:solidFill>
                <a:latin typeface="Arial"/>
              </a:defRPr>
            </a:pPr>
            <a:r>
              <a:rPr sz="1275" cap="none">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38</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39</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40</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44</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45</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46</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48</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49</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50</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51</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53</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10693</TotalTime>
  <Words>14795</Words>
  <Application>Microsoft Office PowerPoint</Application>
  <PresentationFormat>On-screen Show (16:9)</PresentationFormat>
  <Paragraphs>1429</Paragraphs>
  <Slides>53</Slides>
  <Notes>53</Notes>
  <HiddenSlides>13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53</vt:i4>
      </vt:variant>
    </vt:vector>
  </HeadingPairs>
  <TitlesOfParts>
    <vt:vector size="60" baseType="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PowerPoint Presentation</vt:lpstr>
      <vt:lpstr>llm-d: a distributed inference stack</vt:lpstr>
      <vt:lpstr>llm-d: capabilities for distributed inference</vt:lpstr>
      <vt:lpstr>PowerPoint Presentation</vt:lpstr>
      <vt:lpstr>What is KAITO (Kubernetes AI Toolchain Operator)?</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483</cp:revision>
  <dcterms:created xsi:type="dcterms:W3CDTF">2019-07-29T21:37:05Z</dcterms:created>
  <dcterms:modified xsi:type="dcterms:W3CDTF">2026-10-30T04:07:53Z</dcterms:modified>
</cp:coreProperties>
</file>