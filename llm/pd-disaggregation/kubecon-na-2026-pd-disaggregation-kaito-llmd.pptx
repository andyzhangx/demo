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68"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1" r:id="rId26"/>
    <p:sldId id="2147375722" r:id="rId27"/>
    <p:sldId id="2147375723" r:id="rId28"/>
    <p:sldId id="2147375724" r:id="rId29"/>
    <p:sldId id="2147375725" r:id="rId30"/>
    <p:sldId id="2147375714" r:id="rId31"/>
    <p:sldId id="295" r:id="rId32"/>
    <p:sldId id="277" r:id="rId33"/>
    <p:sldId id="2147375729" r:id="rId34"/>
    <p:sldId id="273" r:id="rId35"/>
    <p:sldId id="279" r:id="rId36"/>
    <p:sldId id="280" r:id="rId37"/>
    <p:sldId id="281" r:id="rId38"/>
    <p:sldId id="287" r:id="rId39"/>
    <p:sldId id="282" r:id="rId40"/>
    <p:sldId id="283" r:id="rId41"/>
    <p:sldId id="285" r:id="rId42"/>
    <p:sldId id="301" r:id="rId43"/>
    <p:sldId id="2147375736" r:id="rId44"/>
    <p:sldId id="266" r:id="rId45"/>
    <p:sldId id="2147375719"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Welcome to Cloud Native AI and Inference Day. Today, we’ll look at how Kubernetes helps us run LLM inference when processing prompts and generating tokens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Here’s the idea: prefill runs here, and decode runs there. We’ll see how KAITO and llm-d make that work on Kubernetes, and when the extra complexity is worth it.</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dirty="0"/>
              <a:t>Speaker script</a:t>
            </a:r>
          </a:p>
          <a:p>
            <a:endParaRPr dirty="0"/>
          </a:p>
          <a:p>
            <a:r>
              <a:rPr dirty="0"/>
              <a:t>We’re Andy Zhang and Linbo He, both principal software engineers at Microsoft. We both maintain KAITO. Andy also works on CSI drivers, and Linbo also maintains </a:t>
            </a:r>
            <a:r>
              <a:rPr dirty="0" err="1"/>
              <a:t>OpenYurt</a:t>
            </a:r>
            <a:r>
              <a:rPr dirty="0"/>
              <a:t>.</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First, we’ll cover inference basics and why we might split prefill and decode. Then we’ll look at KAITO and llm-d, how they support P/D, and how each role scales. We’ll finish with takeaways and next steps.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Our prompt is “What does Kubernetes do?” Here, we treat it as five tokens. Prefill processes them together and builds the KV cache. It picks “Kubernetes” as the first output token. That token’s KV gets added in the next decode step.</a:t>
            </a:r>
          </a:p>
          <a:p>
            <a:endParaRPr/>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Next, decode takes “Kubernetes,” reuses the KV cache, and picks “helps.” Then it takes “helps” and picks “teams.” Each step adds KV for the token going in, not the new token coming out.</a:t>
            </a:r>
          </a:p>
          <a:p>
            <a:endParaRPr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For prefill, we want the first token quickly: that’s TTFT. For decode, we want short gaps between tokens: ITL, or average TPOT. Prefill is often compute-bound; decode is often memory-bandwidth-bound. We want more requests to meet both latency targets.</a:t>
            </a:r>
          </a:p>
          <a:p>
            <a:endParaRPr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One shared GPU pool is simple to start with. But a burst of prompts can slow down tokens we’re already generating. And when we add capacity, we scale both phases—even if only one needs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D marks a decode step; P marks prefill for a new request. On a shared GPU, prefill can interrupt ongoing decoding. Separate GPUs remove that direct conflict, but the new request still needs KV transfer. This is a conceptual schedule, not a benchmark.</a:t>
            </a:r>
          </a:p>
          <a:p>
            <a:endParaRPr dirty="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Prefill handles many prompt tokens at once. Ordinary decode takes one token per active request at each step. So, to keep decode busy, we batch more requests together. The trade-off is more KV memory and potentially slower token delivery.</a:t>
            </a:r>
          </a:p>
          <a:p>
            <a:endParaRP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With separate pools, we can tune replicas, parallelism, and batching for each phase. We no longer need one setup to serve two different needs. But the gain must cover KV transfer, extra model copies, and the work of managing two pools.</a:t>
            </a:r>
          </a:p>
          <a:p>
            <a:endParaRPr/>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prefill pool handles the prompt, then passes KV to the decode pool. Each pool can have its own size and setup. That’s the benefit—but the handoff still needs to fit our latency and cost budgets.</a:t>
            </a:r>
          </a:p>
          <a:p>
            <a:endParaRP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Creating two deployments is only the start. Routing, the decode proxy, KV connectors, labels, ports, and readiness all need to line up. KAITO helps keep that wiring consistent; it doesn’t replace the inference engine.</a:t>
            </a:r>
          </a:p>
          <a:p>
            <a:endParaRP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These are alternative ways to build P/D serving, not a ranking. </a:t>
            </a:r>
            <a:r>
              <a:rPr dirty="0" err="1"/>
              <a:t>llm</a:t>
            </a:r>
            <a:r>
              <a:rPr dirty="0"/>
              <a:t>-d is a CNCF Sandbox project, and </a:t>
            </a:r>
            <a:r>
              <a:rPr dirty="0" err="1"/>
              <a:t>KServe</a:t>
            </a:r>
            <a:r>
              <a:rPr dirty="0"/>
              <a:t> is Incubating. Declarative APIs already exist; KAITO aims to simplify their integration into its operating model.</a:t>
            </a:r>
          </a:p>
          <a:p>
            <a:endParaRPr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是 Kubernetes-native 的高性能分布式推理框架。它不是替换 vLLM、gateway 或 storage，而是组合这些组件。它强调三个价值：可运营的模块化架构、跨平台的可扩展实现，以及 well-lit paths。Well-lit path 的意义，是把经过验证的部署模式和 trade-off 直接交给平台团队。</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llm-d is a Kubernetes-native framework for high-performance distributed inference. It does not replace vLLM, gateways, or storage systems; it composes them. Its value is organized around three ideas: an operable modular architecture, extensible cross-platform implementations, and well-lit paths. A well-lit path gives platform teams a validated deployment pattern together with the trade-offs behind it.</a:t>
            </a:r>
          </a:p>
          <a:p>
            <a:br>
              <a:rPr lang="zh-CN" altLang="zh-CN" dirty="0"/>
            </a:br>
            <a:endParaRPr kumimoji="1" lang="zh-CN" altLang="en-US" dirty="0"/>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社区正在建立一个跨厂商的分布式推理公共栈，并把关键能力从实验推进到可复现路径。这里包括 MoE serving、P/D disaggregation、state-aware scheduling 和 predictive autoscaling。后面不会逐条重复这些结果，而是挑四个架构模式，看它们各自解决什么瓶颈。</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The llm-d community is building a cross-vendor common stack for distributed inference and turning important techniques into reproducible paths. These include MoE serving, prefill/decode disaggregation, state-aware scheduling, and predictive autoscaling. Rather than reading every result on this slide, I will focus on four architectural patterns and the bottleneck each one addresses.</a:t>
            </a:r>
          </a:p>
          <a:p>
            <a:br>
              <a:rPr lang="zh-CN" altLang="zh-CN" dirty="0"/>
            </a:br>
            <a:endParaRPr kumimoji="1" lang="zh-CN" altLang="en-US" dirty="0"/>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Each path answers a question: where should requests run, where should KV live, how should experts run, or how should we split prefill and decode? In this talk, we’re following the P/D path.</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endParaRPr/>
          </a:p>
          <a:p>
            <a:r>
              <a:t>KAITO is also a CNCF Sandbox project. It automates inference, fine-tuning, and RAG on Kubernetes, handling model and GPU selection, node provisioning, caching, and workload lifecycle. It also supports KEDA-based scaling.</a:t>
            </a:r>
          </a:p>
          <a:p>
            <a:endParaRPr/>
          </a:p>
          <a:p>
            <a:r>
              <a:t>References</a:t>
            </a:r>
          </a:p>
          <a:p>
            <a:r>
              <a:t>https://www.cncf.io/projects/kaito/</a:t>
            </a:r>
          </a:p>
          <a:p>
            <a:r>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endParaRPr/>
          </a:p>
          <a:p>
            <a:r>
              <a:t>Here, we ask for a Qwen model, an A100 instance type, and three replicas. That’s the desired state. KAITO takes this InferenceSet and works to provision and maintain the workload we asked for.</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dirty="0"/>
              <a:t>You might wonder how KAITO picks the number of GPU nodes. You do not set it - KAITO computes it from the model and the GPU type.</a:t>
            </a:r>
          </a:p>
          <a:p>
            <a:r>
              <a:rPr lang="en-US" dirty="0"/>
              <a:t>The idea is simple. First, it takes the GPU memory and keeps about 84 percent, the part vLLM can actually use. From that it subtracts a small fixed overhead, and the KV cache, which grows with the context length. What is left is the budget on each GPU for the model weights.</a:t>
            </a:r>
          </a:p>
          <a:p>
            <a:r>
              <a:rPr lang="en-US" dirty="0"/>
              <a:t>Then it divides the model size by that budget to get the smallest number of GPUs, and divides again by the GPUs per node to get the node count.</a:t>
            </a:r>
          </a:p>
          <a:p>
            <a:r>
              <a:rPr lang="en-US" dirty="0"/>
              <a:t>This number is saved as targetNodeCount. And if it is more than one, KAITO serves the model across nodes on its own - tensor parallel inside a node, and pipeline parallel across nodes. So both the sizing and the parallel setup are automatic. Now, once it is running, how do we handle changing traffic? That is autoscaling, which is next.</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KAITO handles deployment and lifecycle. llm-d handles routing, while vLLM and NIXL run inference and move KV. The integration has runtime, gateway, and GPU-connectivity requirements. Automatic per-role scaling is separate work.</a:t>
            </a:r>
          </a:p>
          <a:p>
            <a:endParaRPr/>
          </a:p>
          <a:p>
            <a:r>
              <a:t>Technical reference (not part of the spoken script)</a:t>
            </a:r>
          </a:p>
          <a:p>
            <a:endParaRPr/>
          </a:p>
          <a:p>
            <a:r>
              <a:t>SPEAKER SCRIPT</a:t>
            </a:r>
          </a:p>
          <a:p>
            <a:endParaRPr/>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endParaRPr/>
          </a:p>
          <a:p>
            <a:r>
              <a:t>REFERENCE NOTES (NOT SPOKEN)</a:t>
            </a:r>
          </a:p>
          <a:p>
            <a:endParaRPr/>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endParaRP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Here’s where the pieces fit. KAITO manages lifecycle, llm-d picks endpoints, vLLM runs inference, and NIXL moves KV. Read this as a map of responsibilities, not a list of everything you must install.</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We expose one service, but configure prefill and decode separately. KAITO manages the topology. InferencePool connects it to the gateway, llm-d picks and coordinates workers, and vLLM with NIXL runs inference and moves KV.</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gateway asks the Endpoint Picker which workers to use. The picker can consider roles and cache state, depending on its plugins. It returns a routing decision; the actual inference request doesn’t pass through it.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Think of three jobs. KAITO manages the topology. The Gateway API Inference Extension defines how the gateway connects to it. llm-d picks the endpoints. InferencePool connects discovery and routing; it isn’t another proxy in the request path.</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Follow the three paths. KAITO creates and updates resources. The gateway asks the picker, then sends the request to the decode sidecar. The sidecar coordinates prefill and decode, while KV moves directly between the runtimes—not through the gateway.</a:t>
            </a:r>
          </a:p>
          <a:p>
            <a:endParaRPr/>
          </a:p>
          <a:p>
            <a:r>
              <a:t>Technical reference (not part of the spoken script)</a:t>
            </a:r>
          </a:p>
          <a:p>
            <a:endParaRPr/>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This example uses one A100 prefill replica and two H100 decode replicas. The point is that each role can have its own placement and replica count. It’s not a recommended ratio; we still need to check hardware and transfer compatibility.</a:t>
            </a:r>
          </a:p>
          <a:p>
            <a:endParaRPr/>
          </a:p>
          <a:p>
            <a:r>
              <a:t>Technical reference (not part of the spoken script)</a:t>
            </a:r>
          </a:p>
          <a:p>
            <a:endParaRPr/>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From one topology, KAITO creates the role-specific InferenceSets and routing resources. It keeps labels, ports, sidecars, and ownership aligned as things change. That handles the wiring; it doesn’t automatically decide how each role should scale.</a:t>
            </a:r>
          </a:p>
          <a:p>
            <a:endParaRPr/>
          </a:p>
          <a:p>
            <a:r>
              <a:t>Technical reference (not part of the spoken script)</a:t>
            </a:r>
          </a:p>
          <a:p>
            <a:endParaRPr/>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request reaches the decode sidecar, which calls prefill and gets KV metadata back. Local decode uses that metadata to read KV directly from prefill through NIXL. The answer then returns through the sidecar and gateway.</a:t>
            </a:r>
          </a:p>
          <a:p>
            <a:endParaRPr/>
          </a:p>
          <a:p>
            <a:r>
              <a:t>Technical reference (not part of the spoken script)</a:t>
            </a:r>
          </a:p>
          <a:p>
            <a:endParaRPr/>
          </a:p>
          <a:p>
            <a:r>
              <a:t>Based on llm-d-router docs/disaggregation.md#pd-sequence. Step 2 follows EPP selection; the EPP consultation is omitted from this sequence and shown on slide 26.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endParaRPr/>
          </a:p>
          <a:p>
            <a:r>
              <a:t>Here, routing connects two separate stages: prefill and decode. Each stage has its own nodes, so we can choose different resources and schedules. That gives us more control over first-token latency and the pace of later tokens.</a:t>
            </a:r>
          </a:p>
        </p:txBody>
      </p:sp>
    </p:spTree>
    <p:extLst>
      <p:ext uri="{BB962C8B-B14F-4D97-AF65-F5344CB8AC3E}">
        <p14:creationId xmlns:p14="http://schemas.microsoft.com/office/powerpoint/2010/main" val="169895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endParaRPr/>
          </a:p>
          <a:p>
            <a:r>
              <a:t>KV goes directly from prefill to decode through NIXL. GPU-direct RDMA only works with compatible hardware and backend support; TCP isn’t RDMA. So we need to measure transfer time and any staging cost on our own setup.</a:t>
            </a:r>
          </a:p>
        </p:txBody>
      </p:sp>
    </p:spTree>
    <p:extLst>
      <p:ext uri="{BB962C8B-B14F-4D97-AF65-F5344CB8AC3E}">
        <p14:creationId xmlns:p14="http://schemas.microsoft.com/office/powerpoint/2010/main" val="233665756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Scale the role that needs more capacity. Waiting requests can show prefill pressure; running requests can show decode load. This is a proposed role-aware pattern, not something MRI does automatically. We still need to validate the signals and safeguards.</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Today, KEDA can scale an InferenceSet using a schedule or Prometheus metrics. KEDA is installed separately. This gives us workload scaling, but it doesn’t yet give us native MRI-level policies for each role.</a:t>
            </a:r>
          </a:p>
          <a:p>
            <a:endParaRPr/>
          </a:p>
          <a:p>
            <a:r>
              <a:t>Technical reference (not part of the spoken script)</a:t>
            </a:r>
          </a:p>
          <a:p>
            <a:endParaRPr/>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endParaRPr/>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endParaRPr/>
          </a:p>
          <a:p>
            <a:r>
              <a:t>This scaler reads vLLM metrics directly, so it doesn’t need Prometheus. It can combine queue and latency signals with an AND rule and take conservative scaling steps. We still need KEDA and a safe replica lifecycle.</a:t>
            </a:r>
          </a:p>
        </p:txBody>
      </p:sp>
    </p:spTree>
    <p:extLst>
      <p:ext uri="{BB962C8B-B14F-4D97-AF65-F5344CB8AC3E}">
        <p14:creationId xmlns:p14="http://schemas.microsoft.com/office/powerpoint/2010/main" val="31905224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Give prefill and decode their own feedback loops, each targeting its own InferenceSet. Keep one autoscaler per target. Both loops need time to settle, time to load the model, and a safe way to scale down.</a:t>
            </a:r>
          </a:p>
          <a:p>
            <a:endParaRPr/>
          </a:p>
          <a:p>
            <a:r>
              <a:t>Technical reference (not part of the spoken script)</a:t>
            </a:r>
          </a:p>
          <a:p>
            <a:endParaRPr/>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We start with one service-level goal, then manage each role’s capacity separately. Scale a complete serving replica, not one tensor-parallel worker. And make sure only one controller owns the replica count for each role.</a:t>
            </a:r>
          </a:p>
          <a:p>
            <a:endParaRPr/>
          </a:p>
          <a:p>
            <a:r>
              <a:t>Technical reference (not part of the spoken script)</a:t>
            </a:r>
          </a:p>
          <a:p>
            <a:endParaRPr/>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Routing decides where a request goes; autoscaling decides how much capacity exists. Each role needs its own metrics and decisions. Watch out for duplicated metrics, and don’t count a new replica until its model is ready.</a:t>
            </a:r>
          </a:p>
          <a:p>
            <a:endParaRPr/>
          </a:p>
          <a:p>
            <a:r>
              <a:t>Technical reference (not part of the spoken script)</a:t>
            </a:r>
          </a:p>
          <a:p>
            <a:endParaRPr/>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endParaRPr/>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For prefill, more than eight waiting requests means scale up; fewer than one means scale down. For decode, the running-request thresholds are twenty-four and four. Otherwise, hold. These are example values—we need to test our own thresholds.</a:t>
            </a:r>
          </a:p>
          <a:p>
            <a:endParaRPr/>
          </a:p>
          <a:p>
            <a:r>
              <a:t>Technical reference (not part of the spoken script)</a:t>
            </a:r>
          </a:p>
          <a:p>
            <a:endParaRPr/>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two roles use different signals, thresholds, and replica limits. They share the same basic safeguards: ready replicas and fresh metrics. These numbers are examples. Before scaling down, allow for cooldown and model warm-up, and protect active requests.</a:t>
            </a:r>
          </a:p>
          <a:p>
            <a:endParaRPr/>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We can derive cache usage, free space, latency, and throughput from native metrics. But free cache space isn’t the same as room for more requests, and throughput alone doesn’t tell us demand. Start by using these signals to understand the workload.</a:t>
            </a:r>
          </a:p>
          <a:p>
            <a:endParaRPr/>
          </a:p>
          <a:p>
            <a:r>
              <a:t>Technical reference (not part of the spoken script)</a:t>
            </a:r>
          </a:p>
          <a:p>
            <a:endParaRPr/>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Next, we can explore cache-aware routing, tiered cache, and a separate encoding stage. At larger scale, there’s wide expert parallelism and better cross-node transport. These are integration directions to explore, not promised release dates or claims that the underlying features are new.</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Speaker script</a:t>
            </a:r>
          </a:p>
          <a:p>
            <a:endParaRPr/>
          </a:p>
          <a:p>
            <a:r>
              <a:t>These links cover llm-d and KAITO, both CNCF Sandbox projects, plus the keda-kaito-scaler project and KAITO’s P/D guide. Use the guide for prerequisites and configuration, and the scaler repository for autoscaling details. Check supported versions before trying the integration.</a:t>
            </a:r>
          </a:p>
          <a:p>
            <a:endParaRPr/>
          </a:p>
          <a:p>
            <a:r>
              <a:t>References</a:t>
            </a:r>
          </a:p>
          <a:p>
            <a:r>
              <a:t>https://github.com/llm-d</a:t>
            </a:r>
          </a:p>
          <a:p>
            <a:r>
              <a:t>https://github.com/kaito-project/kaito</a:t>
            </a:r>
          </a:p>
          <a:p>
            <a:r>
              <a:t>https://kaito-project.github.io/kaito/docs/prefill-decode-disaggregation/</a:t>
            </a:r>
          </a:p>
          <a:p>
            <a:r>
              <a:t>https://www.cncf.io/projects/llm-d/</a:t>
            </a:r>
          </a:p>
          <a:p>
            <a:r>
              <a:t>https://www.cncf.io/projects/kaito/</a:t>
            </a:r>
          </a:p>
          <a:p>
            <a:r>
              <a:t>https://github.com/kaito-project/keda-kaito-scaler</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Speaker script</a:t>
            </a:r>
          </a:p>
          <a:p>
            <a:endParaRPr/>
          </a:p>
          <a:p>
            <a:r>
              <a:t>Thank you for joining us. We’re happy to take your questions.</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endParaRPr/>
          </a:p>
          <a:p>
            <a:r>
              <a:t>Start with GPU memory and leave room for runtime overhead and KV cache. Next, estimate how many GPUs the weights need, then map those GPUs to nodes. This gives us a starting point—not a substitute for load testing.</a:t>
            </a:r>
          </a:p>
        </p:txBody>
      </p:sp>
    </p:spTree>
    <p:extLst>
      <p:ext uri="{BB962C8B-B14F-4D97-AF65-F5344CB8AC3E}">
        <p14:creationId xmlns:p14="http://schemas.microsoft.com/office/powerpoint/2010/main" val="14492462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gateway talks to one endpoint: the decode sidecar. The sidecar calls remote prefill and local decode, then returns the response. KV takes a separate, direct path. The port numbers here are configuration choices, not fixed requirements.</a:t>
            </a:r>
          </a:p>
          <a:p>
            <a:endParaRPr/>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P/D looks most useful when the roles need different capacity and KV transfer is affordable. If transfer costs too much, fix the topology first. If both roles need similar capacity, one pool may be enough. Compare under the same workload, cost, and latency targets.</a:t>
            </a:r>
          </a:p>
          <a:p>
            <a:endParaRPr/>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Speaker script</a:t>
            </a:r>
          </a:p>
          <a:p>
            <a:endParaRPr/>
          </a:p>
          <a:p>
            <a:r>
              <a:t>Remember three things: prefill and decode need different capacity, KAITO and llm-d have clear responsibilities, and each role needs its own scaling signals and safeguards. Keep the split only when measured gains justify the extra cost.</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endParaRPr/>
          </a:p>
          <a:p>
            <a:r>
              <a:t>Today, we choose the metrics, thresholds, timing windows, replica limits, and cooldowns. The idea on the right is to derive more defaults for us; that isn’t shipped auto-tuning. Annotations express what we want, and controllers manage the scaling resources.</a:t>
            </a:r>
          </a:p>
          <a:p>
            <a:endParaRPr/>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llm-d is a CNCF Sandbox project for distributed inference on Kubernetes. It brings gateways, runtimes, and transport together without replacing them. Its modular components and tested paths give us a starting point, with compatibility and workload tuning still our responsibility.</a:t>
            </a:r>
          </a:p>
          <a:p>
            <a:endParaRPr/>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Only one controller should write each role’s replica count. Stop the old writer before handing over. If metrics are missing or invalid, hold and report the problem—don’t treat them as zero. Then test warm-up and safe scale-down.</a:t>
            </a:r>
          </a:p>
          <a:p>
            <a:endParaRPr/>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These capabilities solve different problems: running across GPUs, splitting prefill and decode, routing with state in mind, and adjusting capacity. They’re building blocks, not performance promises. We still need to test our model and traffic.</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
              <a:rPr sz="2700" cap="none">
                <a:solidFill>
                  <a:srgbClr val="142C46"/>
                </a:solidFill>
                <a:latin typeface="Arial"/>
              </a:rPr>
              <a:t>Kubernetes-native LLM inference</a:t>
            </a:r>
            <a:br/>
            <a:r>
              <a:rPr sz="2700" cap="none">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OpenYurt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CSI driver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shows ongoing decode steps.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KV handoff still required</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continues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14 / 49</a:t>
            </a:r>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lIns="0" rIns="0" tIns="0" bIns="0" wrap="square" anchor="t">
            <a:noAutofit/>
          </a:bodyPr>
          <a:lstStyle/>
          <a:p>
            <a:pPr algn="l">
              <a:lnSpc>
                <a:spcPct val="104000"/>
              </a:lnSpc>
              <a:spcBef>
                <a:spcPts val="0"/>
              </a:spcBef>
              <a:spcAft>
                <a:spcPts val="0"/>
              </a:spcAft>
              <a:defRPr sz="2100">
                <a:solidFill>
                  <a:srgbClr val="142C46"/>
                </a:solidFill>
                <a:latin typeface="Arial"/>
                <a:ea typeface="Arial"/>
                <a:cs typeface="Arial"/>
                <a:sym typeface="Arial"/>
              </a:defRPr>
            </a:pPr>
            <a:r>
              <a:rPr lang="en" altLang="zh-CN" dirty="0" sz="2100" b="1">
                <a:solidFill>
                  <a:srgbClr val="142C46"/>
                </a:solidFill>
                <a:latin typeface="Arial"/>
                <a:ea typeface="Arial"/>
                <a:cs typeface="Arial"/>
                <a:sym typeface="Arial"/>
              </a:rPr>
              <a:t>What is </a:t>
            </a:r>
            <a:r>
              <a:rPr lang="en-US" altLang="zh-CN" dirty="0" sz="2100" b="1">
                <a:solidFill>
                  <a:srgbClr val="142C46"/>
                </a:solidFill>
                <a:latin typeface="Arial"/>
                <a:ea typeface="Arial"/>
                <a:cs typeface="Arial"/>
                <a:sym typeface="Arial"/>
              </a:rPr>
              <a:t>LLM-D</a:t>
            </a:r>
            <a:r>
              <a:rPr lang="en" altLang="zh-CN" dirty="0" sz="2100" b="1">
                <a:solidFill>
                  <a:srgbClr val="142C46"/>
                </a:solidFill>
                <a:latin typeface="Arial"/>
                <a:ea typeface="Arial"/>
                <a:cs typeface="Arial"/>
                <a:sym typeface="Arial"/>
              </a:rPr>
              <a:t>?</a:t>
            </a:r>
            <a:endParaRPr lang="zh-CN" altLang="en-US" dirty="0" sz="2100">
              <a:latin typeface="Arial"/>
              <a:ea typeface="Arial"/>
              <a:cs typeface="Arial"/>
              <a:sym typeface="Arial"/>
            </a:endParaRP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rIns="0" tIns="0" bIns="0" anchor="t">
            <a:noAutofit/>
          </a:bodyPr>
          <a:lstStyle/>
          <a:p>
            <a:pPr lvl="0">
              <a:lnSpc>
                <a:spcPct val="104000"/>
              </a:lnSpc>
              <a:spcBef>
                <a:spcPts val="0"/>
              </a:spcBef>
              <a:spcAft>
                <a:spcPts val="0"/>
              </a:spcAft>
              <a:defRPr sz="1200">
                <a:solidFill>
                  <a:srgbClr val="52677D"/>
                </a:solidFill>
                <a:latin typeface="Arial"/>
                <a:ea typeface="Arial"/>
                <a:cs typeface="Arial"/>
                <a:sym typeface="Arial"/>
              </a:defRPr>
            </a:pPr>
            <a:r>
              <a:rPr lang="en" altLang="zh-CN" b="0" dirty="0" sz="1200">
                <a:solidFill>
                  <a:srgbClr val="52677D"/>
                </a:solidFill>
                <a:latin typeface="Arial"/>
                <a:ea typeface="Arial"/>
                <a:cs typeface="Arial"/>
                <a:sym typeface="Arial"/>
              </a:rPr>
              <a:t>A Kubernetes-native high-performance distributed LLM inference framework</a:t>
            </a:r>
            <a:endParaRPr lang="en" altLang="zh-CN" b="1" dirty="0" sz="1200">
              <a:solidFill>
                <a:schemeClr val="tx1"/>
              </a:solidFill>
              <a:latin typeface="Arial"/>
              <a:ea typeface="Arial"/>
              <a:cs typeface="Arial"/>
              <a:sym typeface="Arial"/>
            </a:endParaRP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47088"/>
            <a:ext cx="1874519" cy="2679192"/>
          </a:xfrm>
          <a:prstGeom prst="rect">
            <a:avLst/>
          </a:prstGeom>
          <a:noFill/>
          <a:ln>
            <a:noFill/>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400"/>
              </a:spcAft>
              <a:buClrTx/>
              <a:buSzTx/>
              <a:buFontTx/>
              <a:buNone/>
              <a:tabLst/>
              <a:defRPr sz="9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346CEC"/>
                </a:solidFill>
                <a:effectLst/>
                <a:uLnTx/>
                <a:uFillTx/>
                <a:latin typeface="Arial"/>
                <a:ea typeface="Arial"/>
                <a:cs typeface="Arial"/>
                <a:sym typeface="Arial"/>
              </a:rPr>
              <a:t>Operationalizability</a:t>
            </a:r>
            <a:endParaRPr kumimoji="0" sz="900" b="1" i="0" u="none" strike="noStrike" kern="0" cap="none" spc="0" normalizeH="0" baseline="0" noProof="0">
              <a:ln>
                <a:noFill/>
              </a:ln>
              <a:solidFill>
                <a:srgbClr val="1C1E21"/>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500"/>
              </a:spcAft>
              <a:buClrTx/>
              <a:buSzTx/>
              <a:buFontTx/>
              <a:buNone/>
              <a:tabLst/>
              <a:defRPr sz="900">
                <a:solidFill>
                  <a:srgbClr val="142C46"/>
                </a:solidFill>
                <a:latin typeface="Arial"/>
                <a:ea typeface="Arial"/>
                <a:cs typeface="Arial"/>
                <a:sym typeface="Arial"/>
              </a:defRPr>
            </a:pPr>
            <a:r>
              <a:rPr kumimoji="0" lang="en" sz="900" b="0" i="0" u="none" strike="noStrike" kern="0" cap="none" spc="0" normalizeH="0" baseline="0" noProof="0">
                <a:ln>
                  <a:noFill/>
                </a:ln>
                <a:solidFill>
                  <a:srgbClr val="142C46"/>
                </a:solidFill>
                <a:effectLst/>
                <a:uLnTx/>
                <a:uFillTx/>
                <a:latin typeface="Arial"/>
                <a:ea typeface="Arial"/>
                <a:cs typeface="Arial"/>
                <a:sym typeface="Arial"/>
              </a:rPr>
              <a:t>modular and resilient architecture with native integration into Kubernetes via Inference Gateway API</a:t>
            </a:r>
            <a:endParaRPr kumimoji="0" sz="900" b="0" i="0" u="none" strike="noStrike" kern="0" cap="none" spc="0" normalizeH="0" baseline="0" noProof="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ts val="400"/>
              </a:lnSpc>
              <a:spcBef>
                <a:spcPts val="0"/>
              </a:spcBef>
              <a:spcAft>
                <a:spcPts val="0"/>
              </a:spcAft>
              <a:buClrTx/>
              <a:buSzTx/>
              <a:buFontTx/>
              <a:buNone/>
              <a:tabLst/>
              <a:defRPr sz="400">
                <a:solidFill>
                  <a:srgbClr val="142C46"/>
                </a:solidFill>
                <a:latin typeface="Arial"/>
                <a:ea typeface="Arial"/>
                <a:cs typeface="Arial"/>
                <a:sym typeface="Arial"/>
              </a:defRPr>
            </a:pPr>
            <a:endParaRPr kumimoji="0" sz="900" b="1" i="0" u="none" strike="noStrike" kern="0" cap="none" spc="0" normalizeH="0" baseline="0" noProof="0">
              <a:ln>
                <a:noFill/>
              </a:ln>
              <a:solidFill>
                <a:srgbClr val="1C1E21"/>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400"/>
              </a:spcAft>
              <a:buClrTx/>
              <a:buSzTx/>
              <a:buFontTx/>
              <a:buNone/>
              <a:tabLst/>
              <a:defRPr sz="9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346CEC"/>
                </a:solidFill>
                <a:effectLst/>
                <a:uLnTx/>
                <a:uFillTx/>
                <a:latin typeface="Arial"/>
                <a:ea typeface="Arial"/>
                <a:cs typeface="Arial"/>
                <a:sym typeface="Arial"/>
              </a:rPr>
              <a:t>Flexibility</a:t>
            </a:r>
            <a:endParaRPr kumimoji="0" sz="900" b="1" i="0" u="none" strike="noStrike" kern="0" cap="none" spc="0" normalizeH="0" baseline="0" noProof="0">
              <a:ln>
                <a:noFill/>
              </a:ln>
              <a:solidFill>
                <a:srgbClr val="1C1E21"/>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500"/>
              </a:spcAft>
              <a:buClrTx/>
              <a:buSzTx/>
              <a:buFontTx/>
              <a:buNone/>
              <a:tabLst/>
              <a:defRPr sz="900">
                <a:solidFill>
                  <a:srgbClr val="142C46"/>
                </a:solidFill>
                <a:latin typeface="Arial"/>
                <a:ea typeface="Arial"/>
                <a:cs typeface="Arial"/>
                <a:sym typeface="Arial"/>
              </a:defRPr>
            </a:pPr>
            <a:r>
              <a:rPr kumimoji="0" lang="en" sz="900" b="0" i="0" u="none" strike="noStrike" kern="0" cap="none" spc="0" normalizeH="0" baseline="0" noProof="0">
                <a:ln>
                  <a:noFill/>
                </a:ln>
                <a:solidFill>
                  <a:srgbClr val="142C46"/>
                </a:solidFill>
                <a:effectLst/>
                <a:uLnTx/>
                <a:uFillTx/>
                <a:latin typeface="Arial"/>
                <a:ea typeface="Arial"/>
                <a:cs typeface="Arial"/>
                <a:sym typeface="Arial"/>
              </a:rPr>
              <a:t>cross-platform with extensible implementations of key composable layers of the stack</a:t>
            </a:r>
            <a:endParaRPr kumimoji="0" sz="900" b="0" i="0" u="none" strike="noStrike" kern="0" cap="none" spc="0" normalizeH="0" baseline="0" noProof="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ts val="400"/>
              </a:lnSpc>
              <a:spcBef>
                <a:spcPts val="0"/>
              </a:spcBef>
              <a:spcAft>
                <a:spcPts val="0"/>
              </a:spcAft>
              <a:buClrTx/>
              <a:buSzTx/>
              <a:buFontTx/>
              <a:buNone/>
              <a:tabLst/>
              <a:defRPr sz="400">
                <a:solidFill>
                  <a:srgbClr val="142C46"/>
                </a:solidFill>
                <a:latin typeface="Arial"/>
                <a:ea typeface="Arial"/>
                <a:cs typeface="Arial"/>
                <a:sym typeface="Arial"/>
              </a:defRPr>
            </a:pPr>
            <a:endParaRPr kumimoji="0" sz="900" b="1" i="0" u="none" strike="noStrike" kern="0" cap="none" spc="0" normalizeH="0" baseline="0" noProof="0">
              <a:ln>
                <a:noFill/>
              </a:ln>
              <a:solidFill>
                <a:srgbClr val="1C1E21"/>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400"/>
              </a:spcAft>
              <a:buClrTx/>
              <a:buSzTx/>
              <a:buFontTx/>
              <a:buNone/>
              <a:tabLst/>
              <a:defRPr sz="9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346CEC"/>
                </a:solidFill>
                <a:effectLst/>
                <a:uLnTx/>
                <a:uFillTx/>
                <a:latin typeface="Arial"/>
                <a:ea typeface="Arial"/>
                <a:cs typeface="Arial"/>
                <a:sym typeface="Arial"/>
              </a:rPr>
              <a:t>Well-lit paths</a:t>
            </a:r>
            <a:endParaRPr kumimoji="0" sz="900" b="0" i="0" u="none" strike="noStrike" kern="0" cap="none" spc="0" normalizeH="0" baseline="0" noProof="0">
              <a:ln>
                <a:noFill/>
              </a:ln>
              <a:solidFill>
                <a:srgbClr val="1C1E21"/>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500"/>
              </a:spcAft>
              <a:buClrTx/>
              <a:buSzTx/>
              <a:buFontTx/>
              <a:buNone/>
              <a:tabLst/>
              <a:defRPr sz="900">
                <a:solidFill>
                  <a:srgbClr val="142C46"/>
                </a:solidFill>
                <a:latin typeface="Arial"/>
                <a:ea typeface="Arial"/>
                <a:cs typeface="Arial"/>
                <a:sym typeface="Arial"/>
              </a:defRPr>
            </a:pPr>
            <a:r>
              <a:rPr kumimoji="0" lang="en" sz="900" b="0" i="0" u="none" strike="noStrike" kern="0" cap="none" spc="0" normalizeH="0" baseline="0" noProof="0">
                <a:ln>
                  <a:noFill/>
                </a:ln>
                <a:solidFill>
                  <a:srgbClr val="142C46"/>
                </a:solidFill>
                <a:effectLst/>
                <a:uLnTx/>
                <a:uFillTx/>
                <a:latin typeface="Arial"/>
                <a:ea typeface="Arial"/>
                <a:cs typeface="Arial"/>
                <a:sym typeface="Arial"/>
              </a:rPr>
              <a:t>Helping deployers navigate key decisions from experimentation to production by exposing trade-offs through tested blueprints</a:t>
            </a:r>
            <a:endParaRPr kumimoji="0" sz="9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Tx/>
              <a:buFontTx/>
              <a:buNone/>
              <a:tabLst/>
              <a:defRPr sz="1000">
                <a:solidFill>
                  <a:srgbClr val="087F8C"/>
                </a:solidFill>
                <a:latin typeface="Arial"/>
                <a:ea typeface="Arial"/>
                <a:cs typeface="Arial"/>
                <a:sym typeface="Arial"/>
              </a:defRPr>
            </a:pPr>
            <a:r>
              <a:rPr kumimoji="0" lang="en" sz="1000" b="1" i="0" u="none" strike="noStrike" kern="0" cap="none" spc="0" normalizeH="0" baseline="0" noProof="0">
                <a:ln>
                  <a:noFill/>
                </a:ln>
                <a:solidFill>
                  <a:srgbClr val="087F8C"/>
                </a:solidFill>
                <a:effectLst/>
                <a:uLnTx/>
                <a:uFillTx/>
                <a:latin typeface="Arial"/>
                <a:ea typeface="Arial"/>
                <a:cs typeface="Arial"/>
                <a:sym typeface="Arial"/>
              </a:rPr>
              <a:t>Unique value proposition</a:t>
            </a: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900">
                <a:solidFill>
                  <a:srgbClr val="087F8C"/>
                </a:solidFill>
                <a:latin typeface="Arial"/>
                <a:ea typeface="Arial"/>
                <a:cs typeface="Arial"/>
                <a:sym typeface="Arial"/>
              </a:defRPr>
            </a:pPr>
            <a:r>
              <a:rPr kumimoji="0" lang="en" sz="900" b="1" i="0" u="none" strike="noStrike" kern="0" cap="none" spc="0" normalizeH="0" baseline="0" noProof="0">
                <a:ln>
                  <a:noFill/>
                </a:ln>
                <a:solidFill>
                  <a:srgbClr val="087F8C"/>
                </a:solidFill>
                <a:effectLst/>
                <a:uLnTx/>
                <a:uFillTx/>
                <a:latin typeface="Arial"/>
                <a:ea typeface="Arial"/>
                <a:cs typeface="Arial"/>
                <a:sym typeface="Arial"/>
              </a:rPr>
              <a:t>Leveraging middleware and engaging partners</a:t>
            </a:r>
            <a:endParaRPr kumimoji="0" sz="9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lIns="0" rIns="0" tIns="0" bIns="0" wrap="square" anchor="t">
            <a:noAutofit/>
          </a:bodyPr>
          <a:lstStyle/>
          <a:p>
            <a:pPr algn="l">
              <a:lnSpc>
                <a:spcPct val="104000"/>
              </a:lnSpc>
              <a:spcBef>
                <a:spcPts val="0"/>
              </a:spcBef>
              <a:spcAft>
                <a:spcPts val="0"/>
              </a:spcAft>
              <a:defRPr sz="2100">
                <a:solidFill>
                  <a:srgbClr val="142C46"/>
                </a:solidFill>
                <a:latin typeface="Arial"/>
                <a:ea typeface="Arial"/>
                <a:cs typeface="Arial"/>
                <a:sym typeface="Arial"/>
              </a:defRPr>
            </a:pPr>
            <a:r>
              <a:rPr lang="en-US" altLang="zh-CN" dirty="0" sz="2100" b="1">
                <a:solidFill>
                  <a:srgbClr val="142C46"/>
                </a:solidFill>
                <a:latin typeface="Arial"/>
                <a:ea typeface="Arial"/>
                <a:cs typeface="Arial"/>
                <a:sym typeface="Arial"/>
              </a:rPr>
              <a:t>LLM-D</a:t>
            </a:r>
            <a:r>
              <a:rPr lang="zh-CN" altLang="en-US" dirty="0" sz="2100" b="1">
                <a:solidFill>
                  <a:srgbClr val="142C46"/>
                </a:solidFill>
                <a:latin typeface="Arial"/>
                <a:ea typeface="Arial"/>
                <a:cs typeface="Arial"/>
                <a:sym typeface="Arial"/>
              </a:rPr>
              <a:t> </a:t>
            </a:r>
            <a:r>
              <a:rPr lang="en" altLang="zh-CN" dirty="0" sz="2100" b="1">
                <a:solidFill>
                  <a:srgbClr val="142C46"/>
                </a:solidFill>
                <a:latin typeface="Arial"/>
                <a:ea typeface="Arial"/>
                <a:cs typeface="Arial"/>
                <a:sym typeface="Arial"/>
              </a:rPr>
              <a:t>has achieved so far</a:t>
            </a:r>
            <a:endParaRPr lang="zh-CN" altLang="en-US" dirty="0" sz="2100">
              <a:latin typeface="Arial"/>
              <a:ea typeface="Arial"/>
              <a:cs typeface="Arial"/>
              <a:sym typeface="Arial"/>
            </a:endParaRP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4197096"/>
            <a:ext cx="914400" cy="687628"/>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276856"/>
            <a:ext cx="3877056" cy="1865376"/>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marR="0" lvl="1" indent="0" algn="l" defTabSz="914400" rtl="0" eaLnBrk="1" fontAlgn="auto" latinLnBrk="0" hangingPunct="1">
              <a:lnSpc>
                <a:spcPct val="104000"/>
              </a:lnSpc>
              <a:spcBef>
                <a:spcPts val="0"/>
              </a:spcBef>
              <a:spcAft>
                <a:spcPts val="300"/>
              </a:spcAft>
              <a:buClr>
                <a:srgbClr val="000000"/>
              </a:buClr>
              <a:buSzPts val="800"/>
              <a:buFont typeface="IBM Plex Sans"/>
              <a:buNone/>
              <a:tabLst/>
              <a:defRPr sz="950">
                <a:solidFill>
                  <a:srgbClr val="142C46"/>
                </a:solidFill>
                <a:latin typeface="Arial"/>
                <a:ea typeface="Arial"/>
                <a:cs typeface="Arial"/>
                <a:sym typeface="Arial"/>
              </a:defRPr>
            </a:pP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Cross-vendor</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 effort establishing a common stack for distributed inference</a:t>
            </a:r>
            <a:endParaRPr kumimoji="0" lang="en" sz="95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1" indent="0" algn="l" defTabSz="914400" rtl="0" eaLnBrk="1" fontAlgn="auto" latinLnBrk="0" hangingPunct="1">
              <a:lnSpc>
                <a:spcPct val="104000"/>
              </a:lnSpc>
              <a:spcBef>
                <a:spcPts val="0"/>
              </a:spcBef>
              <a:spcAft>
                <a:spcPts val="300"/>
              </a:spcAft>
              <a:buClr>
                <a:srgbClr val="000000"/>
              </a:buClr>
              <a:buSzPts val="800"/>
              <a:buFont typeface="IBM Plex Sans Light"/>
              <a:buNone/>
              <a:tabLst/>
              <a:defRPr sz="950">
                <a:solidFill>
                  <a:srgbClr val="142C46"/>
                </a:solidFill>
                <a:latin typeface="Arial"/>
                <a:ea typeface="Arial"/>
                <a:cs typeface="Arial"/>
                <a:sym typeface="Arial"/>
              </a:defRPr>
            </a:pP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Pioneered </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core primitives </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for scaling serving cost-efficiently on Kubernetes</a:t>
            </a:r>
            <a:endParaRPr kumimoji="0" lang="en" sz="95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1" indent="0" algn="l" defTabSz="914400" rtl="0" eaLnBrk="1" fontAlgn="auto" latinLnBrk="0" hangingPunct="1">
              <a:lnSpc>
                <a:spcPct val="104000"/>
              </a:lnSpc>
              <a:spcBef>
                <a:spcPts val="0"/>
              </a:spcBef>
              <a:spcAft>
                <a:spcPts val="300"/>
              </a:spcAft>
              <a:buClr>
                <a:srgbClr val="000000"/>
              </a:buClr>
              <a:buSzPts val="800"/>
              <a:buFont typeface="IBM Plex Sans Light"/>
              <a:buNone/>
              <a:tabLst/>
              <a:defRPr sz="950">
                <a:solidFill>
                  <a:srgbClr val="142C46"/>
                </a:solidFill>
                <a:latin typeface="Arial"/>
                <a:ea typeface="Arial"/>
                <a:cs typeface="Arial"/>
                <a:sym typeface="Arial"/>
              </a:defRPr>
            </a:pP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Among the fastest-growing projects in the inference space</a:t>
            </a:r>
            <a:endParaRPr kumimoji="0" lang="en" sz="95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1" indent="0" algn="l" defTabSz="914400" rtl="0" eaLnBrk="1" fontAlgn="auto" latinLnBrk="0" hangingPunct="1">
              <a:lnSpc>
                <a:spcPct val="104000"/>
              </a:lnSpc>
              <a:spcBef>
                <a:spcPts val="0"/>
              </a:spcBef>
              <a:spcAft>
                <a:spcPts val="300"/>
              </a:spcAft>
              <a:buClr>
                <a:srgbClr val="000000"/>
              </a:buClr>
              <a:buSzPts val="800"/>
              <a:buFont typeface="IBM Plex Sans Light"/>
              <a:buNone/>
              <a:tabLst/>
              <a:defRPr sz="950">
                <a:solidFill>
                  <a:srgbClr val="142C46"/>
                </a:solidFill>
                <a:latin typeface="Arial"/>
                <a:ea typeface="Arial"/>
                <a:cs typeface="Arial"/>
                <a:sym typeface="Arial"/>
              </a:defRPr>
            </a:pP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GitHub stars from </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500+ </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unique institutions across commercial, academic, </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and research communities</a:t>
            </a:r>
            <a:endParaRPr kumimoji="0" lang="en" sz="95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1" indent="0" algn="l" defTabSz="914400" rtl="0" eaLnBrk="1" fontAlgn="auto" latinLnBrk="0" hangingPunct="1">
              <a:lnSpc>
                <a:spcPct val="104000"/>
              </a:lnSpc>
              <a:spcBef>
                <a:spcPts val="0"/>
              </a:spcBef>
              <a:spcAft>
                <a:spcPts val="300"/>
              </a:spcAft>
              <a:buClr>
                <a:srgbClr val="000000"/>
              </a:buClr>
              <a:buSzPts val="800"/>
              <a:buFont typeface="IBM Plex Sans"/>
              <a:buNone/>
              <a:tabLst/>
              <a:defRPr sz="950">
                <a:solidFill>
                  <a:srgbClr val="142C46"/>
                </a:solidFill>
                <a:latin typeface="Arial"/>
                <a:ea typeface="Arial"/>
                <a:cs typeface="Arial"/>
                <a:sym typeface="Arial"/>
              </a:defRPr>
            </a:pPr>
            <a:r>
              <a:rPr kumimoji="0" lang="en" sz="950" b="1" i="0" u="none" strike="noStrike" kern="0" cap="none" spc="0" normalizeH="0" baseline="0" noProof="0" dirty="0">
                <a:ln>
                  <a:noFill/>
                </a:ln>
                <a:solidFill>
                  <a:srgbClr val="142C46"/>
                </a:solidFill>
                <a:effectLst/>
                <a:uLnTx/>
                <a:uFillTx/>
                <a:latin typeface="Arial"/>
                <a:ea typeface="Arial"/>
                <a:cs typeface="Arial"/>
                <a:sym typeface="Arial"/>
              </a:rPr>
              <a:t>Organic engagement</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 exploration, and </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adoption</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 from  self-hosting startups to large enterprises </a:t>
            </a:r>
            <a:endParaRPr kumimoji="0" lang="en" sz="95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1" indent="0" algn="l" defTabSz="914400" rtl="0" eaLnBrk="1" fontAlgn="auto" latinLnBrk="0" hangingPunct="1">
              <a:lnSpc>
                <a:spcPct val="104000"/>
              </a:lnSpc>
              <a:spcBef>
                <a:spcPts val="0"/>
              </a:spcBef>
              <a:spcAft>
                <a:spcPts val="300"/>
              </a:spcAft>
              <a:buClr>
                <a:srgbClr val="000000"/>
              </a:buClr>
              <a:buSzPts val="800"/>
              <a:buFont typeface="IBM Plex Sans Light"/>
              <a:buNone/>
              <a:tabLst/>
              <a:defRPr sz="950">
                <a:solidFill>
                  <a:srgbClr val="142C46"/>
                </a:solidFill>
                <a:latin typeface="Arial"/>
                <a:ea typeface="Arial"/>
                <a:cs typeface="Arial"/>
                <a:sym typeface="Arial"/>
              </a:defRPr>
            </a:pP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Downstream in existing and upcoming commercial offerings (e.g. Red Hat® AI 3)</a:t>
            </a:r>
            <a:endParaRPr kumimoji="0" lang="en" sz="95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143000"/>
            <a:ext cx="3950208" cy="329184"/>
          </a:xfrm>
          <a:prstGeom prst="rect">
            <a:avLst/>
          </a:prstGeom>
          <a:noFill/>
          <a:ln>
            <a:noFill/>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100"/>
              <a:buFont typeface="IBM Plex Sans"/>
              <a:buNone/>
              <a:tabLst/>
              <a:defRPr sz="1100">
                <a:solidFill>
                  <a:srgbClr val="087F8C"/>
                </a:solidFill>
                <a:latin typeface="Arial"/>
                <a:ea typeface="Arial"/>
                <a:cs typeface="Arial"/>
                <a:sym typeface="Arial"/>
              </a:defRPr>
            </a:pPr>
            <a:r>
              <a:rPr kumimoji="0" lang="en" sz="1100" b="1" i="0" u="none" strike="noStrike" kern="0" cap="none" spc="0" normalizeH="0" baseline="0" noProof="0">
                <a:ln>
                  <a:noFill/>
                </a:ln>
                <a:solidFill>
                  <a:srgbClr val="087F8C"/>
                </a:solidFill>
                <a:effectLst/>
                <a:uLnTx/>
                <a:uFillTx/>
                <a:latin typeface="Arial"/>
                <a:ea typeface="Arial"/>
                <a:cs typeface="Arial"/>
                <a:sym typeface="Arial"/>
              </a:rPr>
              <a:t>Laying the foundation for a common platform…</a:t>
            </a:r>
            <a:endParaRPr kumimoji="0" sz="11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54083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167128"/>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489704"/>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169344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193571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168893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170504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168893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1975104"/>
            <a:ext cx="594360" cy="182880"/>
          </a:xfrm>
          <a:prstGeom prst="rect">
            <a:avLst/>
          </a:prstGeom>
          <a:noFill/>
          <a:ln>
            <a:noFill/>
          </a:ln>
        </p:spPr>
        <p:txBody>
          <a:bodyPr spcFirstLastPara="1" wrap="square" lIns="0" tIns="0" rIns="0" bIns="0" anchor="t" anchorCtr="0">
            <a:noAutofit/>
          </a:bodyPr>
          <a:lstStyle/>
          <a:p>
            <a:pPr algn="ctr">
              <a:lnSpc>
                <a:spcPct val="104000"/>
              </a:lnSpc>
              <a:spcBef>
                <a:spcPts val="0"/>
              </a:spcBef>
              <a:spcAft>
                <a:spcPts val="0"/>
              </a:spcAft>
              <a:buSzPts val="600"/>
              <a:buFont typeface="IBM Plex Sans"/>
              <a:buNone/>
              <a:defRPr sz="800">
                <a:solidFill>
                  <a:srgbClr val="52677D"/>
                </a:solidFill>
                <a:latin typeface="Arial"/>
                <a:ea typeface="Arial"/>
                <a:cs typeface="Arial"/>
                <a:sym typeface="Arial"/>
              </a:defRPr>
            </a:pPr>
            <a:r>
              <a:rPr lang="en" sz="800">
                <a:solidFill>
                  <a:srgbClr val="52677D"/>
                </a:solidFill>
                <a:latin typeface="Arial"/>
                <a:ea typeface="Arial"/>
                <a:cs typeface="Arial"/>
                <a:sym typeface="Arial"/>
              </a:rPr>
              <a:t>May ’25</a:t>
            </a:r>
            <a:endParaRPr sz="800" baseline="30000">
              <a:latin typeface="Arial"/>
              <a:ea typeface="Arial"/>
              <a:cs typeface="Arial"/>
              <a:sym typeface="Arial"/>
            </a:endParaRP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130552"/>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193362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192886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168893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167899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194168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62202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62202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152144"/>
            <a:ext cx="914" cy="3648456"/>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143000"/>
            <a:ext cx="4050791" cy="329184"/>
          </a:xfrm>
          <a:prstGeom prst="rect">
            <a:avLst/>
          </a:prstGeom>
          <a:noFill/>
          <a:ln>
            <a:noFill/>
          </a:ln>
        </p:spPr>
        <p:txBody>
          <a:bodyPr spcFirstLastPara="1" wrap="square" lIns="0" tIns="0" rIns="0" bIns="0" anchor="t" anchorCtr="0">
            <a:noAutofit/>
          </a:bodyPr>
          <a:lstStyle/>
          <a:p>
            <a:pPr>
              <a:lnSpc>
                <a:spcPct val="104000"/>
              </a:lnSpc>
              <a:spcBef>
                <a:spcPts val="0"/>
              </a:spcBef>
              <a:spcAft>
                <a:spcPts val="0"/>
              </a:spcAft>
              <a:buSzPts val="1100"/>
              <a:buFont typeface="IBM Plex Sans"/>
              <a:buNone/>
              <a:defRPr sz="1100">
                <a:solidFill>
                  <a:srgbClr val="087F8C"/>
                </a:solidFill>
                <a:latin typeface="Arial"/>
                <a:ea typeface="Arial"/>
                <a:cs typeface="Arial"/>
                <a:sym typeface="Arial"/>
              </a:defRPr>
            </a:pPr>
            <a:r>
              <a:rPr lang="en" sz="1100" dirty="0" b="1">
                <a:solidFill>
                  <a:srgbClr val="087F8C"/>
                </a:solidFill>
                <a:latin typeface="Arial"/>
                <a:ea typeface="Arial"/>
                <a:cs typeface="Arial"/>
                <a:sym typeface="Arial"/>
              </a:rPr>
              <a:t>... delivering </a:t>
            </a:r>
            <a:r>
              <a:rPr lang="en" dirty="0" err="1" sz="1100" b="1">
                <a:solidFill>
                  <a:srgbClr val="087F8C"/>
                </a:solidFill>
                <a:latin typeface="Arial"/>
                <a:ea typeface="Arial"/>
                <a:cs typeface="Arial"/>
                <a:sym typeface="Arial"/>
              </a:rPr>
              <a:t>SoTA</a:t>
            </a:r>
            <a:r>
              <a:rPr lang="zh-CN" altLang="en-US" dirty="0" sz="1100" b="1">
                <a:solidFill>
                  <a:srgbClr val="087F8C"/>
                </a:solidFill>
                <a:latin typeface="Arial"/>
                <a:ea typeface="Arial"/>
                <a:cs typeface="Arial"/>
                <a:sym typeface="Arial"/>
              </a:rPr>
              <a:t>(</a:t>
            </a:r>
            <a:r>
              <a:rPr lang="zh-CN" altLang="zh-CN" dirty="0" sz="1100" b="1">
                <a:solidFill>
                  <a:srgbClr val="087F8C"/>
                </a:solidFill>
                <a:latin typeface="Arial"/>
                <a:ea typeface="Arial"/>
                <a:cs typeface="Arial"/>
                <a:sym typeface="Arial"/>
              </a:rPr>
              <a:t> state-of-the-art </a:t>
            </a:r>
            <a:r>
              <a:rPr lang="zh-CN" altLang="en-US" dirty="0" sz="1100" b="1">
                <a:solidFill>
                  <a:srgbClr val="087F8C"/>
                </a:solidFill>
                <a:latin typeface="Arial"/>
                <a:ea typeface="Arial"/>
                <a:cs typeface="Arial"/>
                <a:sym typeface="Arial"/>
              </a:rPr>
              <a:t>)</a:t>
            </a:r>
            <a:r>
              <a:rPr lang="en-US" altLang="zh-CN" sz="1100" dirty="0" b="1">
                <a:solidFill>
                  <a:srgbClr val="087F8C"/>
                </a:solidFill>
                <a:latin typeface="Arial"/>
                <a:ea typeface="Arial"/>
                <a:cs typeface="Arial"/>
                <a:sym typeface="Arial"/>
              </a:rPr>
              <a:t>LLM</a:t>
            </a:r>
            <a:r>
              <a:rPr lang="zh-CN" altLang="en-US" sz="1100" dirty="0" b="1">
                <a:solidFill>
                  <a:srgbClr val="087F8C"/>
                </a:solidFill>
                <a:latin typeface="Arial"/>
                <a:ea typeface="Arial"/>
                <a:cs typeface="Arial"/>
                <a:sym typeface="Arial"/>
              </a:rPr>
              <a:t> </a:t>
            </a:r>
            <a:r>
              <a:rPr lang="en-US" altLang="zh-CN" sz="1100" dirty="0" b="1">
                <a:solidFill>
                  <a:srgbClr val="087F8C"/>
                </a:solidFill>
                <a:latin typeface="Arial"/>
                <a:ea typeface="Arial"/>
                <a:cs typeface="Arial"/>
                <a:sym typeface="Arial"/>
              </a:rPr>
              <a:t>model</a:t>
            </a:r>
            <a:endParaRPr sz="1100" dirty="0">
              <a:latin typeface="Arial"/>
              <a:ea typeface="Arial"/>
              <a:cs typeface="Arial"/>
              <a:sym typeface="Arial"/>
            </a:endParaRP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65960"/>
            <a:ext cx="3867912" cy="2788920"/>
          </a:xfrm>
          <a:prstGeom prst="rect">
            <a:avLst/>
          </a:prstGeom>
          <a:noFill/>
          <a:ln>
            <a:noFill/>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400"/>
              </a:spcAft>
              <a:buClrTx/>
              <a:buSzPts val="800"/>
              <a:buFont typeface="IBM Plex Sans"/>
              <a:buNone/>
              <a:tabLst/>
              <a:defRPr sz="1000">
                <a:solidFill>
                  <a:srgbClr val="142C46"/>
                </a:solidFill>
                <a:latin typeface="Arial"/>
                <a:ea typeface="Arial"/>
                <a:cs typeface="Arial"/>
                <a:sym typeface="Arial"/>
              </a:defRPr>
            </a:pPr>
            <a:r>
              <a:rPr kumimoji="0" lang="en" sz="1100" b="1" i="0" u="none" strike="noStrike" kern="0" cap="none" spc="0" normalizeH="0" baseline="0" noProof="0" dirty="0">
                <a:ln>
                  <a:noFill/>
                </a:ln>
                <a:solidFill>
                  <a:srgbClr val="346CEC"/>
                </a:solidFill>
                <a:effectLst/>
                <a:uLnTx/>
                <a:uFillTx/>
                <a:latin typeface="Arial"/>
                <a:ea typeface="Arial"/>
                <a:cs typeface="Arial"/>
                <a:sym typeface="Arial"/>
              </a:rPr>
              <a:t>State-of-the-art </a:t>
            </a:r>
            <a:r>
              <a:rPr kumimoji="0" lang="en" sz="1100" b="1" i="0" u="none" strike="noStrike" kern="0" cap="none" spc="0" normalizeH="0" baseline="0" noProof="0" dirty="0" err="1">
                <a:ln>
                  <a:noFill/>
                </a:ln>
                <a:solidFill>
                  <a:srgbClr val="346CEC"/>
                </a:solidFill>
                <a:effectLst/>
                <a:uLnTx/>
                <a:uFillTx/>
                <a:latin typeface="Arial"/>
                <a:ea typeface="Arial"/>
                <a:cs typeface="Arial"/>
                <a:sym typeface="Arial"/>
              </a:rPr>
              <a:t>MoE</a:t>
            </a:r>
            <a:r>
              <a:rPr kumimoji="0" lang="en" sz="1100" b="1" i="0" u="none" strike="noStrike" kern="0" cap="none" spc="0" normalizeH="0" baseline="0" noProof="0" dirty="0">
                <a:ln>
                  <a:noFill/>
                </a:ln>
                <a:solidFill>
                  <a:srgbClr val="346CEC"/>
                </a:solidFill>
                <a:effectLst/>
                <a:uLnTx/>
                <a:uFillTx/>
                <a:latin typeface="Arial"/>
                <a:ea typeface="Arial"/>
                <a:cs typeface="Arial"/>
                <a:sym typeface="Arial"/>
              </a:rPr>
              <a:t> serving</a:t>
            </a: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600"/>
              </a:spcAft>
              <a:buClrTx/>
              <a:buSzPts val="800"/>
              <a:buFont typeface="IBM Plex Sans Light"/>
              <a:buNone/>
              <a:tabLst/>
              <a:defRPr sz="1000">
                <a:solidFill>
                  <a:srgbClr val="142C46"/>
                </a:solidFill>
                <a:latin typeface="Arial"/>
                <a:ea typeface="Arial"/>
                <a:cs typeface="Arial"/>
                <a:sym typeface="Arial"/>
              </a:defRPr>
            </a:pP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Advanced communication strategies like Dual Batch Overlap reaching </a:t>
            </a:r>
            <a:r>
              <a:rPr kumimoji="0" lang="en" sz="1000" b="1" i="0" u="none" strike="noStrike" kern="0" cap="none" spc="0" normalizeH="0" baseline="0" noProof="0" dirty="0">
                <a:ln>
                  <a:noFill/>
                </a:ln>
                <a:solidFill>
                  <a:srgbClr val="142C46"/>
                </a:solidFill>
                <a:effectLst/>
                <a:uLnTx/>
                <a:uFillTx/>
                <a:latin typeface="Arial"/>
                <a:ea typeface="Arial"/>
                <a:cs typeface="Arial"/>
                <a:sym typeface="Arial"/>
              </a:rPr>
              <a:t>2.2k tokens/second per GPU</a:t>
            </a: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ts val="400"/>
              </a:lnSpc>
              <a:spcBef>
                <a:spcPts val="0"/>
              </a:spcBef>
              <a:spcAft>
                <a:spcPts val="0"/>
              </a:spcAft>
              <a:buClrTx/>
              <a:buSzPts val="800"/>
              <a:buFont typeface="IBM Plex Sans Light"/>
              <a:buNone/>
              <a:tabLst/>
              <a:defRPr sz="400">
                <a:solidFill>
                  <a:srgbClr val="142C46"/>
                </a:solidFill>
                <a:latin typeface="Arial"/>
                <a:ea typeface="Arial"/>
                <a:cs typeface="Arial"/>
                <a:sym typeface="Arial"/>
              </a:defRPr>
            </a:pP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400"/>
              </a:spcAft>
              <a:buClrTx/>
              <a:buSzPts val="800"/>
              <a:buFont typeface="IBM Plex Sans"/>
              <a:buNone/>
              <a:tabLst/>
              <a:defRPr sz="1000">
                <a:solidFill>
                  <a:srgbClr val="142C46"/>
                </a:solidFill>
                <a:latin typeface="Arial"/>
                <a:ea typeface="Arial"/>
                <a:cs typeface="Arial"/>
                <a:sym typeface="Arial"/>
              </a:defRPr>
            </a:pPr>
            <a:r>
              <a:rPr kumimoji="0" lang="en" sz="1100" b="1" i="0" u="none" strike="noStrike" kern="0" cap="none" spc="0" normalizeH="0" baseline="0" noProof="0" dirty="0">
                <a:ln>
                  <a:noFill/>
                </a:ln>
                <a:solidFill>
                  <a:srgbClr val="346CEC"/>
                </a:solidFill>
                <a:effectLst/>
                <a:uLnTx/>
                <a:uFillTx/>
                <a:latin typeface="Arial"/>
                <a:ea typeface="Arial"/>
                <a:cs typeface="Arial"/>
                <a:sym typeface="Arial"/>
              </a:rPr>
              <a:t>Production-ready prefill/decode disaggregation</a:t>
            </a:r>
            <a:endParaRPr kumimoji="0" sz="1000" b="1"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600"/>
              </a:spcAft>
              <a:buClrTx/>
              <a:buSzPts val="800"/>
              <a:buFont typeface="IBM Plex Sans Light"/>
              <a:buNone/>
              <a:tabLst/>
              <a:defRPr sz="1000">
                <a:solidFill>
                  <a:srgbClr val="142C46"/>
                </a:solidFill>
                <a:latin typeface="Arial"/>
                <a:ea typeface="Arial"/>
                <a:cs typeface="Arial"/>
                <a:sym typeface="Arial"/>
              </a:defRPr>
            </a:pP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Adaptive SLO balancer, improving P90 latency </a:t>
            </a:r>
            <a:r>
              <a:rPr kumimoji="0" lang="en" sz="1000" b="1" i="0" u="none" strike="noStrike" kern="0" cap="none" spc="0" normalizeH="0" baseline="0" noProof="0" dirty="0">
                <a:ln>
                  <a:noFill/>
                </a:ln>
                <a:solidFill>
                  <a:srgbClr val="142C46"/>
                </a:solidFill>
                <a:effectLst/>
                <a:uLnTx/>
                <a:uFillTx/>
                <a:latin typeface="Arial"/>
                <a:ea typeface="Arial"/>
                <a:cs typeface="Arial"/>
                <a:sym typeface="Arial"/>
              </a:rPr>
              <a:t>by up to 3x</a:t>
            </a: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 in long-prefill workloads.</a:t>
            </a: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ts val="400"/>
              </a:lnSpc>
              <a:spcBef>
                <a:spcPts val="0"/>
              </a:spcBef>
              <a:spcAft>
                <a:spcPts val="0"/>
              </a:spcAft>
              <a:buClrTx/>
              <a:buSzPts val="800"/>
              <a:buFont typeface="IBM Plex Sans Light"/>
              <a:buNone/>
              <a:tabLst/>
              <a:defRPr sz="400">
                <a:solidFill>
                  <a:srgbClr val="142C46"/>
                </a:solidFill>
                <a:latin typeface="Arial"/>
                <a:ea typeface="Arial"/>
                <a:cs typeface="Arial"/>
                <a:sym typeface="Arial"/>
              </a:defRPr>
            </a:pPr>
            <a:endParaRPr kumimoji="0" sz="1000" b="1"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400"/>
              </a:spcAft>
              <a:buClrTx/>
              <a:buSzPts val="800"/>
              <a:buFont typeface="IBM Plex Sans"/>
              <a:buNone/>
              <a:tabLst/>
              <a:defRPr sz="1000">
                <a:solidFill>
                  <a:srgbClr val="142C46"/>
                </a:solidFill>
                <a:latin typeface="Arial"/>
                <a:ea typeface="Arial"/>
                <a:cs typeface="Arial"/>
                <a:sym typeface="Arial"/>
              </a:defRPr>
            </a:pPr>
            <a:r>
              <a:rPr kumimoji="0" lang="en" sz="1100" b="1" i="0" u="none" strike="noStrike" kern="0" cap="none" spc="0" normalizeH="0" baseline="0" noProof="0" dirty="0">
                <a:ln>
                  <a:noFill/>
                </a:ln>
                <a:solidFill>
                  <a:srgbClr val="346CEC"/>
                </a:solidFill>
                <a:effectLst/>
                <a:uLnTx/>
                <a:uFillTx/>
                <a:latin typeface="Arial"/>
                <a:ea typeface="Arial"/>
                <a:cs typeface="Arial"/>
                <a:sym typeface="Arial"/>
              </a:rPr>
              <a:t>Pioneered state-aware scheduler</a:t>
            </a: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600"/>
              </a:spcAft>
              <a:buClrTx/>
              <a:buSzPts val="800"/>
              <a:buFont typeface="IBM Plex Sans Light"/>
              <a:buNone/>
              <a:tabLst/>
              <a:defRPr sz="1000">
                <a:solidFill>
                  <a:srgbClr val="142C46"/>
                </a:solidFill>
                <a:latin typeface="Arial"/>
                <a:ea typeface="Arial"/>
                <a:cs typeface="Arial"/>
                <a:sym typeface="Arial"/>
              </a:defRPr>
            </a:pP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Precise prefix-caching </a:t>
            </a:r>
            <a:r>
              <a:rPr kumimoji="0" lang="en" sz="1000" b="1" i="0" u="none" strike="noStrike" kern="0" cap="none" spc="0" normalizeH="0" baseline="0" noProof="0" dirty="0">
                <a:ln>
                  <a:noFill/>
                </a:ln>
                <a:solidFill>
                  <a:srgbClr val="142C46"/>
                </a:solidFill>
                <a:effectLst/>
                <a:uLnTx/>
                <a:uFillTx/>
                <a:latin typeface="Arial"/>
                <a:ea typeface="Arial"/>
                <a:cs typeface="Arial"/>
                <a:sym typeface="Arial"/>
              </a:rPr>
              <a:t>57x faster</a:t>
            </a: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 than the default intelligent scheduler under heavy, multi-tenant load.</a:t>
            </a:r>
            <a:endParaRPr kumimoji="0" sz="1000" b="1"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ts val="400"/>
              </a:lnSpc>
              <a:spcBef>
                <a:spcPts val="0"/>
              </a:spcBef>
              <a:spcAft>
                <a:spcPts val="0"/>
              </a:spcAft>
              <a:buClrTx/>
              <a:buSzPts val="800"/>
              <a:buFont typeface="IBM Plex Sans Light"/>
              <a:buNone/>
              <a:tabLst/>
              <a:defRPr sz="400">
                <a:solidFill>
                  <a:srgbClr val="142C46"/>
                </a:solidFill>
                <a:latin typeface="Arial"/>
                <a:ea typeface="Arial"/>
                <a:cs typeface="Arial"/>
                <a:sym typeface="Arial"/>
              </a:defRPr>
            </a:pPr>
            <a:endParaRPr kumimoji="0" sz="1000" b="1"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400"/>
              </a:spcAft>
              <a:buClrTx/>
              <a:buSzPts val="800"/>
              <a:buFont typeface="IBM Plex Sans"/>
              <a:buNone/>
              <a:tabLst/>
              <a:defRPr sz="1000">
                <a:solidFill>
                  <a:srgbClr val="142C46"/>
                </a:solidFill>
                <a:latin typeface="Arial"/>
                <a:ea typeface="Arial"/>
                <a:cs typeface="Arial"/>
                <a:sym typeface="Arial"/>
              </a:defRPr>
            </a:pPr>
            <a:r>
              <a:rPr kumimoji="0" lang="en" sz="1100" b="1" i="0" u="none" strike="noStrike" kern="0" cap="none" spc="0" normalizeH="0" baseline="0" noProof="0" dirty="0">
                <a:ln>
                  <a:noFill/>
                </a:ln>
                <a:solidFill>
                  <a:srgbClr val="346CEC"/>
                </a:solidFill>
                <a:effectLst/>
                <a:uLnTx/>
                <a:uFillTx/>
                <a:latin typeface="Arial"/>
                <a:ea typeface="Arial"/>
                <a:cs typeface="Arial"/>
                <a:sym typeface="Arial"/>
              </a:rPr>
              <a:t>Predictive, SLO-driven </a:t>
            </a:r>
            <a:r>
              <a:rPr kumimoji="0" lang="en" sz="1100" b="1" i="0" u="none" strike="noStrike" kern="0" cap="none" spc="0" normalizeH="0" baseline="0" noProof="0" dirty="0" err="1">
                <a:ln>
                  <a:noFill/>
                </a:ln>
                <a:solidFill>
                  <a:srgbClr val="346CEC"/>
                </a:solidFill>
                <a:effectLst/>
                <a:uLnTx/>
                <a:uFillTx/>
                <a:latin typeface="Arial"/>
                <a:ea typeface="Arial"/>
                <a:cs typeface="Arial"/>
                <a:sym typeface="Arial"/>
              </a:rPr>
              <a:t>autoscaler</a:t>
            </a:r>
            <a:r>
              <a:rPr kumimoji="0" lang="en" sz="1100" b="1" i="0" u="none" strike="noStrike" kern="0" cap="none" spc="0" normalizeH="0" baseline="0" noProof="0" dirty="0">
                <a:ln>
                  <a:noFill/>
                </a:ln>
                <a:solidFill>
                  <a:srgbClr val="346CEC"/>
                </a:solidFill>
                <a:effectLst/>
                <a:uLnTx/>
                <a:uFillTx/>
                <a:latin typeface="Arial"/>
                <a:ea typeface="Arial"/>
                <a:cs typeface="Arial"/>
                <a:sym typeface="Arial"/>
              </a:rPr>
              <a:t> architecture</a:t>
            </a:r>
            <a:endParaRPr kumimoji="0" sz="1000" b="1"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600"/>
              </a:spcAft>
              <a:buClrTx/>
              <a:buSzPts val="800"/>
              <a:buFont typeface="IBM Plex Sans Light"/>
              <a:buNone/>
              <a:tabLst/>
              <a:defRPr sz="1000">
                <a:solidFill>
                  <a:srgbClr val="142C46"/>
                </a:solidFill>
                <a:latin typeface="Arial"/>
                <a:ea typeface="Arial"/>
                <a:cs typeface="Arial"/>
                <a:sym typeface="Arial"/>
              </a:defRPr>
            </a:pP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Enabled </a:t>
            </a:r>
            <a:r>
              <a:rPr kumimoji="0" lang="en" sz="1000" b="1" i="0" u="none" strike="noStrike" kern="0" cap="none" spc="0" normalizeH="0" baseline="0" noProof="0" dirty="0">
                <a:ln>
                  <a:noFill/>
                </a:ln>
                <a:solidFill>
                  <a:srgbClr val="142C46"/>
                </a:solidFill>
                <a:effectLst/>
                <a:uLnTx/>
                <a:uFillTx/>
                <a:latin typeface="Arial"/>
                <a:ea typeface="Arial"/>
                <a:cs typeface="Arial"/>
                <a:sym typeface="Arial"/>
              </a:rPr>
              <a:t>scale-to-zero</a:t>
            </a: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 enabling dynamic resource allocation to maximize cluster utilization</a:t>
            </a: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34056"/>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190404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4709160" y="1517904"/>
            <a:ext cx="4023360" cy="356616"/>
          </a:xfrm>
          <a:prstGeom prst="rect">
            <a:avLst/>
          </a:prstGeom>
          <a:noFill/>
        </p:spPr>
        <p:txBody>
          <a:bodyPr wrap="square" lIns="0" rIns="0" tIns="0" bIns="0" anchor="t">
            <a:noAutofit/>
          </a:bodyPr>
          <a:lstStyle/>
          <a:p>
            <a:pPr>
              <a:lnSpc>
                <a:spcPct val="104000"/>
              </a:lnSpc>
              <a:spcBef>
                <a:spcPts val="0"/>
              </a:spcBef>
              <a:spcAft>
                <a:spcPts val="0"/>
              </a:spcAft>
              <a:defRPr sz="900">
                <a:solidFill>
                  <a:srgbClr val="52677D"/>
                </a:solidFill>
                <a:latin typeface="Arial"/>
                <a:ea typeface="Arial"/>
                <a:cs typeface="Arial"/>
                <a:sym typeface="Arial"/>
              </a:defRPr>
            </a:pPr>
            <a:r>
              <a:rPr lang="zh-CN" altLang="zh-CN" sz="900" dirty="0">
                <a:solidFill>
                  <a:srgbClr val="52677D"/>
                </a:solidFill>
                <a:latin typeface="Arial"/>
                <a:ea typeface="Arial"/>
                <a:cs typeface="Arial"/>
                <a:sym typeface="Arial"/>
              </a:rPr>
              <a:t>a large language model with the most advanced capabilities currently available.</a:t>
            </a:r>
            <a:endParaRPr lang="zh-CN" altLang="en-US" sz="900" dirty="0">
              <a:solidFill>
                <a:schemeClr val="accent3"/>
              </a:solidFill>
              <a:latin typeface="Arial"/>
              <a:ea typeface="Arial"/>
              <a:cs typeface="Arial"/>
              <a:sym typeface="Arial"/>
            </a:endParaRPr>
          </a:p>
        </p:txBody>
      </p:sp>
      <p:sp>
        <p:nvSpPr>
          <p:cNvPr id="35" name="右大括号 34">
            <a:extLst>
              <a:ext uri="{FF2B5EF4-FFF2-40B4-BE49-F238E27FC236}">
                <a16:creationId xmlns:a16="http://schemas.microsoft.com/office/drawing/2014/main" id="{C0325AD1-219F-E5EF-2E15-5CB33A2144CD}"/>
              </a:ext>
            </a:extLst>
          </p:cNvPr>
          <p:cNvSpPr/>
          <p:nvPr/>
        </p:nvSpPr>
        <p:spPr>
          <a:xfrm>
            <a:off x="6053328" y="1472184"/>
            <a:ext cx="1673352"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17 / 49</a:t>
            </a:r>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Model and GPU selection</a:t>
            </a:r>
            <a:br/>
            <a:r>
              <a:rPr sz="1300" cap="none">
                <a:solidFill>
                  <a:srgbClr val="142C46"/>
                </a:solidFill>
                <a:latin typeface="Arial"/>
              </a:rPr>
              <a:t>Node provisioning from model memory needs</a:t>
            </a:r>
            <a:br/>
            <a:r>
              <a:rPr sz="1300" cap="none">
                <a:solidFill>
                  <a:srgbClr val="142C46"/>
                </a:solidFill>
                <a:latin typeface="Arial"/>
              </a:rPr>
              <a:t>Model onboarding and local caching</a:t>
            </a:r>
            <a:br/>
            <a:r>
              <a:rPr sz="1300" cap="none">
                <a:solidFill>
                  <a:srgbClr val="142C46"/>
                </a:solidFill>
                <a:latin typeface="Arial"/>
              </a:rPr>
              <a:t>InferenceSet lifecycle and rolling upgrades</a:t>
            </a:r>
            <a:br/>
            <a:r>
              <a:rPr sz="1300" cap="none">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18 / 49</a:t>
            </a:r>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cap="none" dirty="0">
                <a:solidFill>
                  <a:srgbClr val="142C46"/>
                </a:solidFill>
                <a:latin typeface="Consolas" panose="020B0609020204030204" pitchFamily="49" charset="0"/>
              </a:rPr>
              <a:t>apiVersion: kaito.sh/v1beta1</a:t>
            </a:r>
            <a:br/>
            <a:r>
              <a:rPr sz="1200" cap="none">
                <a:solidFill>
                  <a:srgbClr val="142C46"/>
                </a:solidFill>
                <a:latin typeface="Consolas"/>
              </a:rPr>
              <a:t>kind: InferenceSet</a:t>
            </a:r>
            <a:br/>
            <a:r>
              <a:rPr sz="1200" cap="none">
                <a:solidFill>
                  <a:srgbClr val="142C46"/>
                </a:solidFill>
                <a:latin typeface="Consolas"/>
              </a:rPr>
              <a:t>metadata:</a:t>
            </a:r>
            <a:br/>
            <a:r>
              <a:rPr sz="1200" cap="none">
                <a:solidFill>
                  <a:srgbClr val="142C46"/>
                </a:solidFill>
                <a:latin typeface="Consolas"/>
              </a:rPr>
              <a:t>  name: qwen3-coder-30b</a:t>
            </a:r>
            <a:br/>
            <a:r>
              <a:rPr sz="1200" cap="none">
                <a:solidFill>
                  <a:srgbClr val="142C46"/>
                </a:solidFill>
                <a:latin typeface="Consolas"/>
              </a:rPr>
              <a:t>spec:</a:t>
            </a:r>
            <a:br/>
            <a:r>
              <a:rPr sz="1200" cap="none">
                <a:solidFill>
                  <a:srgbClr val="142C46"/>
                </a:solidFill>
                <a:latin typeface="Consolas"/>
              </a:rPr>
              <a:t>  replicas: 3</a:t>
            </a:r>
            <a:br/>
            <a:r>
              <a:rPr sz="1200" cap="none">
                <a:solidFill>
                  <a:srgbClr val="142C46"/>
                </a:solidFill>
                <a:latin typeface="Consolas"/>
              </a:rPr>
              <a:t>  labelSelector:</a:t>
            </a:r>
            <a:br/>
            <a:r>
              <a:rPr sz="1200" cap="none">
                <a:solidFill>
                  <a:srgbClr val="142C46"/>
                </a:solidFill>
                <a:latin typeface="Consolas"/>
              </a:rPr>
              <a:t>    matchLabels:</a:t>
            </a:r>
            <a:br/>
            <a:r>
              <a:rPr sz="1200" cap="none">
                <a:solidFill>
                  <a:srgbClr val="142C46"/>
                </a:solidFill>
                <a:latin typeface="Consolas"/>
              </a:rPr>
              <a:t>      app: qwen3-coder-30b</a:t>
            </a:r>
            <a:br/>
            <a:r>
              <a:rPr sz="1200" cap="none">
                <a:solidFill>
                  <a:srgbClr val="142C46"/>
                </a:solidFill>
                <a:latin typeface="Consolas"/>
              </a:rPr>
              <a:t>  template:</a:t>
            </a:r>
            <a:br/>
            <a:r>
              <a:rPr sz="1200" cap="none">
                <a:solidFill>
                  <a:srgbClr val="142C46"/>
                </a:solidFill>
                <a:latin typeface="Consolas"/>
              </a:rPr>
              <a:t>    resource:</a:t>
            </a:r>
            <a:br/>
            <a:r>
              <a:rPr sz="1200" cap="none">
                <a:solidFill>
                  <a:srgbClr val="142C46"/>
                </a:solidFill>
                <a:latin typeface="Consolas"/>
              </a:rPr>
              <a:t>      instanceType: Standard_NC24ads_A100_v4   # &lt;- GPU SKU</a:t>
            </a:r>
            <a:br/>
            <a:r>
              <a:rPr sz="1200" cap="none">
                <a:solidFill>
                  <a:srgbClr val="142C46"/>
                </a:solidFill>
                <a:latin typeface="Consolas"/>
              </a:rPr>
              <a:t>    inference:</a:t>
            </a:r>
            <a:br/>
            <a:r>
              <a:rPr sz="1200" cap="none">
                <a:solidFill>
                  <a:srgbClr val="142C46"/>
                </a:solidFill>
                <a:latin typeface="Consolas"/>
              </a:rPr>
              <a:t>      preset:</a:t>
            </a:r>
            <a:br/>
            <a:r>
              <a:rPr sz="1200" cap="none">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80000"/>
            <a:ext cx="8229600" cy="650000"/>
          </a:xfrm>
          <a:prstGeom prst="rect">
            <a:avLst/>
          </a:prstGeom>
          <a:noFill/>
        </p:spPr>
        <p:txBody>
          <a:bodyPr wrap="square" lIns="91440" tIns="45720" rIns="91440" bIns="45720" rtlCol="0">
            <a:normAutofit/>
          </a:bodyPr>
          <a:lstStyle/>
          <a:p>
            <a:r>
              <a:rPr lang="en-US" sz="2400" b="1" dirty="0"/>
              <a:t>How GPU Node Count Is </a:t>
            </a:r>
            <a:r>
              <a:rPr lang="en-US" altLang="zh-CN" sz="2400" b="1" dirty="0"/>
              <a:t>c</a:t>
            </a:r>
            <a:r>
              <a:rPr lang="en-US" sz="2400" b="1" dirty="0"/>
              <a:t>omputed in KAITO</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You give model + GPU SKU. KAITO computes the node count — you never do the math.</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fontScale="92500"/>
          </a:bodyPr>
          <a:lstStyle/>
          <a:p>
            <a:r>
              <a:rPr lang="en-US" sz="1200" dirty="0"/>
              <a:t>Inputs KAITO reads: model weight size, context length (max-model-len), and the GPU SKU (memory + GPUs per node).</a:t>
            </a:r>
          </a:p>
        </p:txBody>
      </p:sp>
      <p:sp>
        <p:nvSpPr>
          <p:cNvPr id="5" name="Formula"/>
          <p:cNvSpPr txBox="1"/>
          <p:nvPr/>
        </p:nvSpPr>
        <p:spPr>
          <a:xfrm>
            <a:off x="457200" y="1980000"/>
            <a:ext cx="8229600" cy="1850000"/>
          </a:xfrm>
          <a:prstGeom prst="rect">
            <a:avLst/>
          </a:prstGeom>
          <a:solidFill>
            <a:srgbClr val="F5F5F5"/>
          </a:solidFill>
          <a:ln w="9525">
            <a:solidFill>
              <a:srgbClr val="D0D0D0"/>
            </a:solidFill>
          </a:ln>
        </p:spPr>
        <p:txBody>
          <a:bodyPr wrap="square" lIns="91440" tIns="45720" rIns="91440" bIns="45720" rtlCol="0">
            <a:normAutofit/>
          </a:bodyPr>
          <a:lstStyle/>
          <a:p>
            <a:r>
              <a:rPr lang="en-US" sz="1150" dirty="0">
                <a:latin typeface="Consolas" panose="020B0609020204030204" pitchFamily="49" charset="0"/>
              </a:rPr>
              <a:t>per-GPU budget = GPU memory  ×  0.84            (vLLM memory utilization)</a:t>
            </a:r>
          </a:p>
          <a:p>
            <a:r>
              <a:rPr lang="en-US" sz="1150" dirty="0">
                <a:latin typeface="Consolas" panose="020B0609020204030204" pitchFamily="49" charset="0"/>
              </a:rPr>
              <a:t>               −  ~2.3 GiB   fixed overhead</a:t>
            </a:r>
          </a:p>
          <a:p>
            <a:r>
              <a:rPr lang="en-US" sz="1150" dirty="0">
                <a:latin typeface="Consolas" panose="020B0609020204030204" pitchFamily="49" charset="0"/>
              </a:rPr>
              <a:t>               −  KV cache   ( max-model-len × bytes-per-token )</a:t>
            </a:r>
          </a:p>
          <a:p>
            <a:r>
              <a:rPr lang="en-US" sz="1150" dirty="0">
                <a:latin typeface="Consolas" panose="020B0609020204030204" pitchFamily="49" charset="0"/>
              </a:rPr>
              <a:t> </a:t>
            </a:r>
          </a:p>
          <a:p>
            <a:r>
              <a:rPr lang="en-US" sz="1150" dirty="0">
                <a:latin typeface="Consolas" panose="020B0609020204030204" pitchFamily="49" charset="0"/>
              </a:rPr>
              <a:t>min GPUs    = ceil( model weights  ÷  per-GPU budget )   (weights × 1.02)</a:t>
            </a:r>
          </a:p>
          <a:p>
            <a:r>
              <a:rPr lang="en-US" sz="115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 saved as status.targetNodeCount.</a:t>
            </a:r>
          </a:p>
          <a:p>
            <a:r>
              <a:rPr lang="en-US" sz="1200" dirty="0"/>
              <a:t>If it is &gt; 1, KAITO serves the model multi-node automatically: tensor-parallel inside each node, pipeline-parallel across nodes.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21 / 49</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Where </a:t>
            </a:r>
            <a:r>
              <a:rPr b="1" cap="none">
                <a:solidFill>
                  <a:srgbClr val="346CEC"/>
                </a:solidFill>
              </a:rPr>
              <a:t>KAITO</a:t>
            </a:r>
            <a:r>
              <a:rPr cap="none"/>
              <a:t> and </a:t>
            </a:r>
            <a:r>
              <a:rPr b="1" cap="none">
                <a:solidFill>
                  <a:srgbClr val="168C96"/>
                </a:solidFill>
              </a:rPr>
              <a:t>llm-d</a:t>
            </a:r>
            <a:r>
              <a:rPr cap="none"/>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lifecycle  •  </a:t>
            </a:r>
            <a:r>
              <a:rPr b="1" cap="none" dirty="0" err="1">
                <a:solidFill>
                  <a:srgbClr val="168C96"/>
                </a:solidFill>
              </a:rPr>
              <a:t>llm</a:t>
            </a:r>
            <a:r>
              <a:rPr b="1" cap="none" dirty="0">
                <a:solidFill>
                  <a:srgbClr val="168C96"/>
                </a:solidFill>
              </a:rPr>
              <a:t>-d</a:t>
            </a:r>
            <a:r>
              <a:rPr cap="none" dirty="0"/>
              <a:t>: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23 / 49</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cap="none" dirty="0">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31 / 49</a:t>
            </a:r>
          </a:p>
        </p:txBody>
      </p:sp>
    </p:spTree>
    <p:extLst>
      <p:ext uri="{BB962C8B-B14F-4D97-AF65-F5344CB8AC3E}">
        <p14:creationId xmlns:p14="http://schemas.microsoft.com/office/powerpoint/2010/main" val="1232886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Efficient KV transfer with </a:t>
            </a:r>
            <a:r>
              <a:rPr cap="none" dirty="0" err="1"/>
              <a:t>vLLM</a:t>
            </a:r>
            <a:r>
              <a:rPr cap="none" dirty="0"/>
              <a:t> and NIXL</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32 / 49</a:t>
            </a:r>
          </a:p>
        </p:txBody>
      </p:sp>
    </p:spTree>
    <p:extLst>
      <p:ext uri="{BB962C8B-B14F-4D97-AF65-F5344CB8AC3E}">
        <p14:creationId xmlns:p14="http://schemas.microsoft.com/office/powerpoint/2010/main" val="23995013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Autoscaling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33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34 / 49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cap="none" dirty="0">
                <a:solidFill>
                  <a:srgbClr val="142C46"/>
                </a:solidFill>
                <a:latin typeface="Arial"/>
              </a:rPr>
              <a:t>What it adds</a:t>
            </a:r>
            <a:br/>
            <a:r>
              <a:rPr sz="1300" cap="none">
                <a:solidFill>
                  <a:srgbClr val="142C46"/>
                </a:solidFill>
                <a:latin typeface="Arial"/>
              </a:rPr>
              <a:t>No Prometheus required</a:t>
            </a:r>
            <a:br/>
            <a:r>
              <a:rPr sz="1300" cap="none">
                <a:solidFill>
                  <a:srgbClr val="142C46"/>
                </a:solidFill>
                <a:latin typeface="Arial"/>
              </a:rPr>
              <a:t>Direct vLLM metric scraping</a:t>
            </a:r>
            <a:br/>
            <a:r>
              <a:rPr sz="1300" cap="none">
                <a:solidFill>
                  <a:srgbClr val="142C46"/>
                </a:solidFill>
                <a:latin typeface="Arial"/>
              </a:rPr>
              <a:t>Conservative replica steps</a:t>
            </a:r>
            <a:br/>
            <a:r>
              <a:rPr sz="1300" cap="none">
                <a:solidFill>
                  <a:srgbClr val="142C46"/>
                </a:solidFill>
                <a:latin typeface="Arial"/>
              </a:rPr>
              <a:t>Queue and latency signals</a:t>
            </a:r>
            <a:br/>
            <a:r>
              <a:rPr sz="1300" cap="none">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35 / 49</a:t>
            </a:r>
          </a:p>
        </p:txBody>
      </p:sp>
    </p:spTree>
    <p:extLst>
      <p:ext uri="{BB962C8B-B14F-4D97-AF65-F5344CB8AC3E}">
        <p14:creationId xmlns:p14="http://schemas.microsoft.com/office/powerpoint/2010/main" val="17103403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37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38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190296"/>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dirty="0"/>
              <a:t>Example: one MRI policy, independent P/D decisions</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Illustrative policy excerpts. Full proposed manifest is linked in the speaker notes.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Requires the MRI adapter + child opt-in above. Thresholds are examples, not production tuning.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32 / 48</a:t>
            </a:r>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Waiting=12; running=12</a:t>
            </a:r>
          </a:p>
          <a:p>
            <a:pPr>
              <a:spcAft>
                <a:spcPts val="375"/>
              </a:spcAft>
              <a:defRPr sz="1700" b="0">
                <a:solidFill>
                  <a:srgbClr val="087F8C"/>
                </a:solidFill>
                <a:latin typeface="Arial"/>
              </a:defRPr>
            </a:pPr>
            <a:r>
              <a:rPr sz="1275"/>
              <a:t>Prefill scales 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Running later rises above 24:</a:t>
            </a:r>
          </a:p>
          <a:p>
            <a:pPr>
              <a:spcAft>
                <a:spcPts val="375"/>
              </a:spcAft>
              <a:defRPr sz="1600" b="0">
                <a:solidFill>
                  <a:srgbClr val="7354B8"/>
                </a:solidFill>
                <a:latin typeface="Arial"/>
              </a:defRPr>
            </a:pPr>
            <a:r>
              <a:rPr sz="1200"/>
              <a:t>decode can scale up independently.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What’s next for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lang="en-US" altLang="zh-CN" sz="2100" b="1" cap="none" dirty="0">
                <a:solidFill>
                  <a:srgbClr val="142C46"/>
                </a:solidFill>
                <a:latin typeface="Arial"/>
              </a:rPr>
              <a:t>integration</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TextBox 13"/>
          <p:cNvSpPr txBox="1"/>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r>
              <a:rPr sz="800" b="0" cap="none">
                <a:solidFill>
                  <a:srgbClr val="52677D"/>
                </a:solidFill>
                <a:latin typeface="Arial"/>
              </a:rPr>
              <a:t>48 / 49</a:t>
            </a: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20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Why the sidecar belongs </a:t>
            </a:r>
            <a:r>
              <a:rPr lang="en-US" sz="2100" b="1" cap="none" dirty="0">
                <a:solidFill>
                  <a:srgbClr val="142C46"/>
                </a:solidFill>
                <a:latin typeface="Arial"/>
              </a:rPr>
              <a:t>to</a:t>
            </a:r>
            <a:r>
              <a:rPr sz="2100" b="1" cap="none" dirty="0">
                <a:solidFill>
                  <a:srgbClr val="142C46"/>
                </a:solidFill>
                <a:latin typeface="Arial"/>
              </a:rPr>
              <a:t>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TextBox 17"/>
          <p:cNvSpPr txBox="1"/>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r>
              <a:rPr sz="800" b="0" cap="none">
                <a:solidFill>
                  <a:srgbClr val="52677D"/>
                </a:solidFill>
                <a:latin typeface="Arial"/>
              </a:rPr>
              <a:t>47 / 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36 / 49</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15 / 49</a:t>
            </a:r>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16 / 49</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8600</TotalTime>
  <Words>12491</Words>
  <Application>Microsoft Office PowerPoint</Application>
  <PresentationFormat>On-screen Show (16:9)</PresentationFormat>
  <Paragraphs>1345</Paragraphs>
  <Slides>52</Slides>
  <Notes>52</Notes>
  <HiddenSlides>8</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Noto Sans Symbols</vt:lpstr>
      <vt:lpstr>Red Hat Display</vt:lpstr>
      <vt:lpstr>Arial</vt:lpstr>
      <vt:lpstr>Calibri</vt:lpstr>
      <vt:lpstr>Consolas</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LLM-D?</vt:lpstr>
      <vt:lpstr>LLM-D has achieved so far</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119</cp:revision>
  <dcterms:created xsi:type="dcterms:W3CDTF">2019-07-29T21:37:05Z</dcterms:created>
  <dcterms:modified xsi:type="dcterms:W3CDTF">2026-10-25T02:58:39Z</dcterms:modified>
</cp:coreProperties>
</file>