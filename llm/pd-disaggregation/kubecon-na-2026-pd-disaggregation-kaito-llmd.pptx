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5.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68" r:id="rId16"/>
    <p:sldId id="269" r:id="rId17"/>
    <p:sldId id="2147375697" r:id="rId20"/>
    <p:sldId id="2147375700" r:id="rId21"/>
    <p:sldId id="2147375701" r:id="rId22"/>
    <p:sldId id="278" r:id="rId23"/>
    <p:sldId id="2147375718" r:id="rId24"/>
    <p:sldId id="2147375719" r:id="rId25"/>
    <p:sldId id="270" r:id="rId18"/>
    <p:sldId id="2147375706" r:id="rId19"/>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147375735" r:id="rId52"/>
    <p:sldId id="2147375736" r:id="rId58"/>
    <p:sldId id="266"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slide" Target="slides/slide47.xml"/><Relationship Id="rId53" Type="http://customschemas.google.com/relationships/presentationmetadata" Target="meta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openxmlformats.org/officeDocument/2006/relationships/slide" Target="slides/slide48.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Welcome to Cloud Native AI and Inference Day. Today, we’ll look at how Kubernetes helps us run LLM inference when processing prompts and generating tokens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Here’s the idea: prefill runs here, and decode runs there. We’ll see how KAITO and llm-d make that work on Kubernetes, and when the extra complexity is worth it.</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We’re Andy Zhang and Linbo He, both principal software engineers at Microsoft. We both maintain KAITO. Andy also works on CSI drivers, and Linbo also maintains OpenYurt.</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First, we’ll cover inference basics and why we might split prefill and decode. Then we’ll look at KAITO and llm-d, how they support P/D, and how each role scales. We’ll finish with takeaways and next steps.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Our prompt is “What does Kubernetes do?” Here, we treat it as five tokens. Prefill processes them together and builds the KV cache. It picks “Kubernetes” as the first output token. That token’s KV gets added in the next decode step.</a:t>
            </a:r>
          </a:p>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Next, decode takes “Kubernetes,” reuses the KV cache, and picks “helps.” Then it takes “helps” and picks “teams.” Each step adds KV for the token going in, not the new token coming out.</a:t>
            </a:r>
          </a:p>
          <a:p/>
          <a:p>
            <a:r>
              <a:t>References</a:t>
            </a:r>
          </a:p>
          <a:p>
            <a:r>
              <a:t>https://huggingface.co/docs/transformers/en/cache_explanation</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prefill, we want the first token quickly: that’s TTFT. For decode, we want short gaps between tokens: ITL, or average TPOT. Prefill is often compute-bound; decode is often memory-bandwidth-bound. We want more requests to meet both latency targets.</a:t>
            </a:r>
          </a:p>
          <a:p/>
          <a:p>
            <a:r>
              <a:t>References</a:t>
            </a:r>
          </a:p>
          <a:p>
            <a:r>
              <a:t>https://docs.vllm.ai/en/latest/design/metrics/</a:t>
            </a:r>
          </a:p>
          <a:p>
            <a:r>
              <a:t>https://docs.vllm.ai/en/latest/benchmarking/cli/#understanding-the-latency-metrics</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One shared GPU pool is simple to start with. But a burst of prompts can slow down tokens we’re already generating. And when we add capacity, we scale both phases—even if only one needs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 marks a decode step; P marks prefill for a new request. On a shared GPU, prefill can interrupt ongoing decoding. Separate GPUs remove that direct conflict, but the new request still needs KV transfer. This is a conceptual schedule, not a benchmark.</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Prefill handles many prompt tokens at once. Ordinary decode takes one token per active request at each step. So, to keep decode busy, we batch more requests together. The trade-off is more KV memory and potentially slower token delivery.</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With separate pools, we can tune replicas, parallelism, and batching for each phase. We no longer need one setup to serve two different needs. But the gain must cover KV transfer, extra model copies, and the work of managing two pools.</a:t>
            </a:r>
          </a:p>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prefill pool handles the prompt, then passes KV to the decode pool. Each pool can have its own size and setup. That’s the benefit—but the handoff still needs to fit our latency and cost budgets.</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Creating two deployments is only the start. Routing, the decode proxy, KV connectors, labels, ports, and readiness all need to line up. KAITO helps keep that wiring consistent; it doesn’t replace the inference engine.</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These are alternative ways to build P/D serving, not a ranking. llm-d is a CNCF Sandbox project, and KServe is Incubating. Declarative APIs already exist; KAITO aims to simplify their integration into its operating model.</a:t>
            </a:r>
          </a:p>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https://www.cncf.io/projects/llm-d/</a:t>
            </a:r>
          </a:p>
          <a:p>
            <a:r>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KAITO handles deployment and lifecycle. llm-d handles routing, while vLLM and NIXL run inference and move KV. The integration has runtime, gateway, and GPU-connectivity requirements. Automatic per-role scaling is separate work.</a:t>
            </a:r>
          </a:p>
          <a:p/>
          <a:p>
            <a:r>
              <a:t>Technical reference (not part of the spoken script)</a:t>
            </a:r>
          </a:p>
          <a:p/>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Here’s where the pieces fit. KAITO manages lifecycle, llm-d picks endpoints, vLLM runs inference, and NIXL moves KV. Read this as a map of responsibilities, not a list of everything you must install.</a:t>
            </a:r>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llm-d is a CNCF Sandbox project for distributed inference on Kubernetes. It brings gateways, runtimes, and transport together without replacing them. Its modular components and tested paths give us a starting point, with compatibility and workload tuning still our responsibility.</a:t>
            </a:r>
          </a:p>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These capabilities solve different problems: running across GPUs, splitting prefill and decode, routing with state in mind, and adjusting capacity. They’re building blocks, not performance promises. We still need to test our model and traffic.</a:t>
            </a:r>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Each path answers a question: where should requests run, where should KV live, how should experts run, or how should we split prefill and decode? In this talk, we’re following the P/D path.</a:t>
            </a:r>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p>
            <a:r>
              <a:t>KAITO is also a CNCF Sandbox project. It automates inference, fine-tuning, and RAG on Kubernetes, handling model and GPU selection, node provisioning, caching, and workload lifecycle. It also supports KEDA-based scaling.</a:t>
            </a:r>
          </a:p>
          <a:p/>
          <a:p>
            <a:r>
              <a:t>References</a:t>
            </a:r>
          </a:p>
          <a:p>
            <a:r>
              <a:t>https://www.cncf.io/projects/kaito/</a:t>
            </a:r>
          </a:p>
          <a:p>
            <a:r>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Here, we ask for a Qwen model, an A100 instance type, and three replicas. That’s the desired state. KAITO takes this InferenceSet and works to provision and maintain the workload we asked for.</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Start with GPU memory and leave room for runtime overhead and KV cache. Next, estimate how many GPUs the weights need, then map those GPUs to nodes. This gives us a starting point—not a substitute for load testing.</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expose one service, but configure prefill and decode separately. KAITO manages the topology. InferencePool connects it to the gateway, llm-d picks and coordinates workers, and vLLM with NIXL runs inference and moves KV.</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gateway asks the Endpoint Picker which workers to use. The picker can consider roles and cache state, depending on its plugins. It returns a routing decision; the actual inference request doesn’t pass through it.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Think of three jobs. KAITO manages the topology. The Gateway API Inference Extension defines how the gateway connects to it. llm-d picks the endpoints. InferencePool connects discovery and routing; it isn’t another proxy in the request path.</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Follow the three paths. KAITO creates and updates resources. The gateway asks the picker, then sends the request to the decode sidecar. The sidecar coordinates prefill and decode, while KV moves directly between the runtimes—not through the gateway.</a:t>
            </a:r>
          </a:p>
          <a:p/>
          <a:p>
            <a:r>
              <a:t>Technical reference (not part of the spoken script)</a:t>
            </a:r>
          </a:p>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uses one A100 prefill replica and two H100 decode replicas. The point is that each role can have its own placement and replica count. It’s not a recommended ratio; we still need to check hardware and transfer compatibility.</a:t>
            </a:r>
          </a:p>
          <a:p/>
          <a:p>
            <a:r>
              <a:t>Technical reference (not part of the spoken script)</a:t>
            </a:r>
          </a:p>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From one topology, KAITO creates the role-specific InferenceSets and routing resources. It keeps labels, ports, sidecars, and ownership aligned as things change. That handles the wiring; it doesn’t automatically decide how each role should scale.</a:t>
            </a:r>
          </a:p>
          <a:p/>
          <a:p>
            <a:r>
              <a:t>Technical reference (not part of the spoken script)</a:t>
            </a:r>
          </a:p>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request reaches the decode sidecar, which calls prefill and gets KV metadata back. Local decode uses that metadata to read KV directly from prefill through NIXL. The answer then returns through the sidecar and gateway.</a:t>
            </a:r>
          </a:p>
          <a:p/>
          <a:p>
            <a:r>
              <a:t>Technical reference (not part of the spoken script)</a:t>
            </a:r>
          </a:p>
          <a:p/>
          <a:p>
            <a:r>
              <a:t>Based on llm-d-router docs/disaggregation.md#pd-sequence. Step 2 follows EPP selection; the EPP consultation is omitted from this sequence and shown on slide 26.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gateway talks to one endpoint: the decode sidecar. The sidecar calls remote prefill and local decode, then returns the response. KV takes a separate, direct path. The port numbers here are configuration choices, not fixed requirements.</a:t>
            </a:r>
          </a:p>
          <a:p/>
          <a:p>
            <a:r>
              <a:t>Technical reference (not part of the spoken script)</a:t>
            </a:r>
          </a:p>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p>
            <a:r>
              <a:t>Here, routing connects two separate stages: prefill and decode. Each stage has its own nodes, so we can choose different resources and schedules. That gives us more control over first-token latency and the pace of later tokens.</a:t>
            </a:r>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p>
            <a:r>
              <a:t>KV goes directly from prefill to decode through NIXL. GPU-direct RDMA only works with compatible hardware and backend support; TCP isn’t RDMA. So we need to measure transfer time and any staging cost on our own setup.</a:t>
            </a: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Scale the role that needs more capacity. Waiting requests can show prefill pressure; running requests can show decode load. This is a proposed role-aware pattern, not something MRI does automatically. We still need to validate the signals and safeguards.</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Today, KEDA can scale an InferenceSet using a schedule or Prometheus metrics. KEDA is installed separately. This gives us workload scaling, but it doesn’t yet give us native MRI-level policies for each role.</a:t>
            </a:r>
          </a:p>
          <a:p/>
          <a:p>
            <a:r>
              <a:t>Technical reference (not part of the spoken script)</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p>
            <a:r>
              <a:t>This scaler reads vLLM metrics directly, so it doesn’t need Prometheus. It can combine queue and latency signals with an AND rule and take conservative scaling steps. We still need KEDA and a safe replica lifecycle.</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p>
            <a:r>
              <a:t>Today, we choose the metrics, thresholds, timing windows, replica limits, and cooldowns. The idea on the right is to derive more defaults for us; that isn’t shipped auto-tuning. Annotations express what we want, and controllers manage the scaling resources.</a:t>
            </a:r>
          </a:p>
          <a:p/>
          <a:p>
            <a:r>
              <a:t>Configuration reference (from the original deck; validate against the installed scaler version)</a:t>
            </a:r>
          </a:p>
          <a:p/>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Give prefill and decode their own feedback loops, each targeting its own InferenceSet. Keep one autoscaler per target. Both loops need time to settle, time to load the model, and a safe way to scale down.</a:t>
            </a:r>
          </a:p>
          <a:p/>
          <a:p>
            <a:r>
              <a:t>Technical reference (not part of the spoken script)</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start with one service-level goal, then manage each role’s capacity separately. Scale a complete serving replica, not one tensor-parallel worker. And make sure only one controller owns the replica count for each role.</a:t>
            </a:r>
          </a:p>
          <a:p/>
          <a:p>
            <a:r>
              <a:t>Technical reference (not part of the spoken script)</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Routing decides where a request goes; autoscaling decides how much capacity exists. Each role needs its own metrics and decisions. Watch out for duplicated metrics, and don’t count a new replica until its model is ready.</a:t>
            </a:r>
          </a:p>
          <a:p/>
          <a:p>
            <a:r>
              <a:t>Technical reference (not part of the spoken script)</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prefill, more than eight waiting requests means scale up; fewer than one means scale down. For decode, the running-request thresholds are twenty-four and four. Otherwise, hold. These are example values—we need to test our own thresholds.</a:t>
            </a:r>
          </a:p>
          <a:p/>
          <a:p>
            <a:r>
              <a:t>Technical reference (not part of the spoken script)</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two roles use different signals, thresholds, and replica limits. They share the same basic safeguards: ready replicas and fresh metrics. These numbers are examples. Before scaling down, allow for cooldown and model warm-up, and protect active requests.</a:t>
            </a:r>
          </a:p>
          <a:p/>
          <a:p>
            <a:r>
              <a:t>Technical reference (not part of the spoken script)</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Only one controller should write each role’s replica count. Stop the old writer before handing over. If metrics are missing or invalid, hold and report the problem—don’t treat them as zero. Then test warm-up and safe scale-down.</a:t>
            </a:r>
          </a:p>
          <a:p/>
          <a:p>
            <a:r>
              <a:t>Technical reference (not part of the spoken script)</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can derive cache usage, free space, latency, and throughput from native metrics. But free cache space isn’t the same as room for more requests, and throughput alone doesn’t tell us demand. Start by using these signals to understand the workload.</a:t>
            </a:r>
          </a:p>
          <a:p/>
          <a:p>
            <a:r>
              <a:t>Technical reference (not part of the spoken script)</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this proposed policy, twelve waiting requests make prefill scale up. Twelve running requests leave decode unchanged. The thresholds differ because the roles differ. This still needs an MRI adapter, child opt-in, and one replica-count owner per role.</a:t>
            </a:r>
          </a:p>
          <a:p/>
          <a:p>
            <a:r>
              <a:t>Full proposed YAML: https://github.com/andyzhangx/demo/blob/master/llm/kaito-llm-d/examples/proposed-pd-autoscaling-annotations.yaml</a:t>
            </a:r>
          </a:p>
          <a:p/>
          <a:p>
            <a:r>
              <a:t>Technical reference (not part of the spoken script)</a:t>
            </a:r>
          </a:p>
          <a:p/>
          <a:p>
            <a:r>
              <a:t>The slide summarizes a proposed per-role policy; the linked file contains the full resource example. Full YAML: llm/kaito-llm-d/examples/proposed-pd-autoscaling-annotations.yaml in this repository. Model and instanceType values in that file are illustrative and not deployment-validated. Annotation policy is a proposal and needs the integration work described in this technical reference.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Full proposed YAML (design example; requires adapter integration)</a:t>
            </a:r>
          </a:p>
          <a:p/>
          <a:p>
            <a:r>
              <a:t># PROPOSAL ONLY: not a currently deployable MRI autoscaling API.</a:t>
            </a:r>
          </a:p>
          <a:p>
            <a:r>
              <a:t># Requires a validated MRI role-policy adapter and explicit scaler opt-in for MRI children.</a:t>
            </a:r>
          </a:p>
          <a:p>
            <a:r>
              <a:t># Model, SKUs, bounds and thresholds are illustrative; no cluster validation was performed.</a:t>
            </a:r>
          </a:p>
          <a:p>
            <a:r>
              <a:t># See ../kaito-role-aware-autoscaling-for-pd.md for ownership, prerequisites and safety.</a:t>
            </a:r>
          </a:p>
          <a:p>
            <a:r>
              <a:t>apiVersion: kaito.sh/v1alpha1</a:t>
            </a:r>
          </a:p>
          <a:p>
            <a:r>
              <a:t>kind: MultiRoleInference</a:t>
            </a:r>
          </a:p>
          <a:p>
            <a:r>
              <a:t>metadata:</a:t>
            </a:r>
          </a:p>
          <a:p>
            <a:r>
              <a:t>  name: deepseek-v3</a:t>
            </a:r>
          </a:p>
          <a:p>
            <a:r>
              <a:t>  annotations:</a:t>
            </a:r>
          </a:p>
          <a:p>
            <a:r>
              <a:t>    autoscaling.kaito.sh/roles: |</a:t>
            </a:r>
          </a:p>
          <a:p>
            <a:r>
              <a:t>      version: v1alpha1</a:t>
            </a:r>
          </a:p>
          <a:p>
            <a:r>
              <a:t>      roles:</a:t>
            </a:r>
          </a:p>
          <a:p>
            <a:r>
              <a:t>        prefill:</a:t>
            </a:r>
          </a:p>
          <a:p>
            <a:r>
              <a:t>          min-replicas: "1"</a:t>
            </a:r>
          </a:p>
          <a:p>
            <a:r>
              <a:t>          max-replicas: "8"</a:t>
            </a:r>
          </a:p>
          <a:p>
            <a:r>
              <a:t>          combinepolicy: AND</a:t>
            </a:r>
          </a:p>
          <a:p>
            <a:r>
              <a:t>          metrics:</a:t>
            </a:r>
          </a:p>
          <a:p>
            <a:r>
              <a:t>          - name: vllm:num_requests_waiting</a:t>
            </a:r>
          </a:p>
          <a:p>
            <a:r>
              <a:t>            type: gauge</a:t>
            </a:r>
          </a:p>
          <a:p>
            <a:r>
              <a:t>            upthreshold: 8</a:t>
            </a:r>
          </a:p>
          <a:p>
            <a:r>
              <a:t>            downthreshold: 1</a:t>
            </a:r>
          </a:p>
          <a:p>
            <a:r>
              <a:t>        decode:</a:t>
            </a:r>
          </a:p>
          <a:p>
            <a:r>
              <a:t>          min-replicas: "2"</a:t>
            </a:r>
          </a:p>
          <a:p>
            <a:r>
              <a:t>          max-replicas: "16"</a:t>
            </a:r>
          </a:p>
          <a:p>
            <a:r>
              <a:t>          combinepolicy: AND</a:t>
            </a:r>
          </a:p>
          <a:p>
            <a:r>
              <a:t>          metrics:</a:t>
            </a:r>
          </a:p>
          <a:p>
            <a:r>
              <a:t>          - name: vllm:num_requests_running</a:t>
            </a:r>
          </a:p>
          <a:p>
            <a:r>
              <a:t>            type: gauge</a:t>
            </a:r>
          </a:p>
          <a:p>
            <a:r>
              <a:t>            upthreshold: 24</a:t>
            </a:r>
          </a:p>
          <a:p>
            <a:r>
              <a:t>            downthreshold: 4</a:t>
            </a:r>
          </a:p>
          <a:p>
            <a:r>
              <a:t>spec:</a:t>
            </a:r>
          </a:p>
          <a:p>
            <a:r>
              <a:t>  labelSelector:</a:t>
            </a:r>
          </a:p>
          <a:p>
            <a:r>
              <a:t>    matchLabels:</a:t>
            </a:r>
          </a:p>
          <a:p>
            <a:r>
              <a:t>      apps: deepseek-v3</a:t>
            </a:r>
          </a:p>
          <a:p>
            <a:r>
              <a:t>  model:</a:t>
            </a:r>
          </a:p>
          <a:p>
            <a:r>
              <a:t>    name: deepseek-ai/DeepSeek-V3</a:t>
            </a:r>
          </a:p>
          <a:p>
            <a:r>
              <a:t>  roles:</a:t>
            </a:r>
          </a:p>
          <a:p>
            <a:r>
              <a:t>  - type: prefill</a:t>
            </a:r>
          </a:p>
          <a:p>
            <a:r>
              <a:t>    instanceType: Standard_ND96isr_H100_v5</a:t>
            </a:r>
          </a:p>
          <a:p>
            <a:r>
              <a:t>    replicas: null</a:t>
            </a:r>
          </a:p>
          <a:p>
            <a:r>
              <a:t>  - type: decode</a:t>
            </a:r>
          </a:p>
          <a:p>
            <a:r>
              <a:t>    instanceType: Standard_ND96isr_H100_v5</a:t>
            </a:r>
          </a:p>
          <a:p>
            <a:r>
              <a:t>    replicas: null</a:t>
            </a:r>
          </a:p>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P/D looks most useful when the roles need different capacity and KV transfer is affordable. If transfer costs too much, fix the topology first. If both roles need similar capacity, one pool may be enough. Compare under the same workload, cost, and latency targets.</a:t>
            </a:r>
          </a:p>
          <a:p/>
          <a:p>
            <a:r>
              <a:t>Technical reference (not part of the spoken script)</a:t>
            </a:r>
          </a:p>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Next, we can explore cache-aware routing, tiered cache, and a separate encoding stage. At larger scale, there’s wide expert parallelism and better cross-node transport. These are integration directions to explore, not promised release dates or claims that the underlying features are new.</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Thank you for joining us. We’re happy to take your questions.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Remember three things: prefill and decode need different capacity, KAITO and llm-d have clear responsibilities, and each role needs its own scaling signals and safeguards. Keep the split only when measured gains justify the extra cost.</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These links cover llm-d and KAITO, both CNCF Sandbox projects, plus the keda-kaito-scaler project and KAITO’s P/D guide. Use the guide for prerequisites and configuration, and the scaler repository for autoscaling details. Check supported versions before trying the integration.</a:t>
            </a:r>
          </a:p>
          <a:p/>
          <a:p>
            <a:r>
              <a:t>References</a:t>
            </a:r>
          </a:p>
          <a:p>
            <a:r>
              <a:t>https://github.com/llm-d</a:t>
            </a:r>
          </a:p>
          <a:p>
            <a:r>
              <a:t>https://github.com/kaito-project/kaito</a:t>
            </a:r>
          </a:p>
          <a:p>
            <a:r>
              <a:t>https://kaito-project.github.io/kaito/docs/prefill-decode-disaggregation/</a:t>
            </a:r>
          </a:p>
          <a:p>
            <a:r>
              <a:t>https://www.cncf.io/projects/llm-d/</a:t>
            </a:r>
          </a:p>
          <a:p>
            <a:r>
              <a:t>https://www.cncf.io/projects/kaito/</a:t>
            </a:r>
          </a:p>
          <a:p>
            <a:r>
              <a:t>https://github.com/kaito-project/keda-kaito-scaler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github.com/llm-d" TargetMode="External"/><Relationship Id="rId3" Type="http://schemas.openxmlformats.org/officeDocument/2006/relationships/hyperlink" Target="https://github.com/kaito-project/kaito" TargetMode="External"/><Relationship Id="rId4" Type="http://schemas.openxmlformats.org/officeDocument/2006/relationships/hyperlink" Target="https://kaito-project.github.io/kaito/docs/prefill-decode-disaggregation/" TargetMode="External"/><Relationship Id="rId5" Type="http://schemas.openxmlformats.org/officeDocument/2006/relationships/notesSlide" Target="../notesSlides/notesSlide51.xml"/><Relationship Id="rId6" Type="http://schemas.openxmlformats.org/officeDocument/2006/relationships/hyperlink" Target="https://github.com/kaito-project/keda-kaito-scaler"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g"/><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dirty="0" cap="none">
                <a:solidFill>
                  <a:srgbClr val="142C46"/>
                </a:solidFill>
                <a:latin typeface="Arial"/>
              </a:rPr>
              <a:t>Andy Zhang — Microsoft</a:t>
            </a:r>
            <a:br/>
            <a:r>
              <a:rPr cap="none" sz="2000">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dirty="0" cap="none">
                <a:solidFill>
                  <a:srgbClr val="142C46"/>
                </a:solidFill>
                <a:latin typeface="Arial"/>
              </a:rPr>
              <a:t>Prefill here, decode there</a:t>
            </a:r>
            <a:br/>
            <a:r>
              <a:rPr cap="none" sz="2700">
                <a:solidFill>
                  <a:srgbClr val="142C46"/>
                </a:solidFill>
                <a:latin typeface="Arial"/>
              </a:rPr>
              <a:t>Kubernetes-native LLM inference</a:t>
            </a:r>
            <a:br/>
            <a:r>
              <a:rPr cap="none" sz="2700">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dirty="0" cap="none">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OpenYurt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rambohe</a:t>
            </a:r>
            <a:r>
              <a:rPr lang="en-US" altLang="zh-CN" sz="1200" dirty="0" cap="none">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dirty="0" cap="none">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a:t>
            </a:r>
            <a:r>
              <a:rPr lang="en-US" altLang="zh-CN" dirty="0" cap="none" sz="1200">
                <a:solidFill>
                  <a:srgbClr val="52677D"/>
                </a:solidFill>
                <a:latin typeface="Arial"/>
              </a:rPr>
              <a:t>CSI driver</a:t>
            </a:r>
            <a:r>
              <a:rPr lang="en-US" altLang="zh-CN" sz="1200" dirty="0" cap="none">
                <a:solidFill>
                  <a:srgbClr val="52677D"/>
                </a:solidFill>
                <a:latin typeface="Arial"/>
              </a:rPr>
              <a: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Inference basics: prefill and decode</a:t>
            </a:r>
          </a:p>
        </p:txBody>
      </p:sp>
      <p:sp>
        <p:nvSpPr>
          <p:cNvPr id="7" name="TextBox 6"/>
          <p:cNvSpPr txBox="1"/>
          <p:nvPr/>
        </p:nvSpPr>
        <p:spPr>
          <a:xfrm>
            <a:off x="1078992"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KAITO + llm-d overview</a:t>
            </a:r>
          </a:p>
        </p:txBody>
      </p:sp>
      <p:sp>
        <p:nvSpPr>
          <p:cNvPr id="15" name="TextBox 14"/>
          <p:cNvSpPr txBox="1"/>
          <p:nvPr/>
        </p:nvSpPr>
        <p:spPr>
          <a:xfrm>
            <a:off x="1078992"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0600"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How KAITO + llm-d supports P/D</a:t>
            </a:r>
          </a:p>
        </p:txBody>
      </p:sp>
      <p:sp>
        <p:nvSpPr>
          <p:cNvPr id="19" name="TextBox 18"/>
          <p:cNvSpPr txBox="1"/>
          <p:nvPr/>
        </p:nvSpPr>
        <p:spPr>
          <a:xfrm>
            <a:off x="5349240"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Wrap-up and next steps</a:t>
            </a:r>
          </a:p>
        </p:txBody>
      </p:sp>
      <p:sp>
        <p:nvSpPr>
          <p:cNvPr id="27" name="TextBox 26"/>
          <p:cNvSpPr txBox="1"/>
          <p:nvPr/>
        </p:nvSpPr>
        <p:spPr>
          <a:xfrm>
            <a:off x="5349240"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Key takeaways and ways to contribute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shows ongoing decode steps.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KV handoff still required</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continues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different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The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14 / 49</a:t>
            </a:r>
          </a:p>
        </p:txBody>
      </p:sp>
      <p:sp>
        <p:nvSpPr>
          <p:cNvPr id="56" name="TextBox 55"/>
          <p:cNvSpPr txBox="1"/>
          <p:nvPr/>
        </p:nvSpPr>
        <p:spPr>
          <a:xfrm>
            <a:off x="493776" y="4215384"/>
            <a:ext cx="8161020" cy="155448"/>
          </a:xfrm>
          <a:prstGeom prst="rect">
            <a:avLst/>
          </a:prstGeom>
          <a:noFill/>
        </p:spPr>
        <p:txBody>
          <a:bodyPr wrap="none" lIns="0" rIns="0" t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47088"/>
            <a:ext cx="241401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10712" y="1847088"/>
            <a:ext cx="241401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47088"/>
            <a:ext cx="241401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15 / 49</a:t>
            </a:r>
          </a:p>
        </p:txBody>
      </p:sp>
      <p:sp>
        <p:nvSpPr>
          <p:cNvPr id="17" name="TextBox 16"/>
          <p:cNvSpPr txBox="1"/>
          <p:nvPr/>
        </p:nvSpPr>
        <p:spPr>
          <a:xfrm>
            <a:off x="384048" y="201168"/>
            <a:ext cx="4572000" cy="192024"/>
          </a:xfrm>
          <a:prstGeom prst="rect">
            <a:avLst/>
          </a:prstGeom>
          <a:noFill/>
        </p:spPr>
        <p:txBody>
          <a:bodyPr wrap="none" lIns="0" rIns="0" tIns="0" bIns="0">
            <a:spAutoFit/>
          </a:bodyPr>
          <a:lstStyle/>
          <a:p>
            <a:pPr>
              <a:spcBef>
                <a:spcPts val="0"/>
              </a:spcBef>
              <a:spcAft>
                <a:spcPts val="0"/>
              </a:spcAft>
            </a:pPr>
            <a:r>
              <a:rPr sz="950" b="1">
                <a:solidFill>
                  <a:srgbClr val="087F8C"/>
                </a:solidFill>
                <a:latin typeface="Arial"/>
              </a:rPr>
              <a:t>CNCF SANDBOX PROJECT</a:t>
            </a:r>
          </a:p>
        </p:txBody>
      </p:sp>
    </p:spTree>
    <p:extLst>
      <p:ext uri="{BB962C8B-B14F-4D97-AF65-F5344CB8AC3E}">
        <p14:creationId xmlns:p14="http://schemas.microsoft.com/office/powerpoint/2010/main" val="12465624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664207"/>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64207"/>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17520"/>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17520"/>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16 / 49</a:t>
            </a:r>
          </a:p>
        </p:txBody>
      </p:sp>
    </p:spTree>
    <p:extLst>
      <p:ext uri="{BB962C8B-B14F-4D97-AF65-F5344CB8AC3E}">
        <p14:creationId xmlns:p14="http://schemas.microsoft.com/office/powerpoint/2010/main" val="10464560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“well-lit paths”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709928"/>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63239"/>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63239"/>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17 / 49</a:t>
            </a:r>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300" b="1" dirty="0" cap="none">
                <a:solidFill>
                  <a:srgbClr val="142C46"/>
                </a:solidFill>
                <a:latin typeface="Arial"/>
              </a:rPr>
              <a:t>Model and GPU selection</a:t>
            </a:r>
            <a:br/>
            <a:r>
              <a:rPr cap="none" sz="1300">
                <a:solidFill>
                  <a:srgbClr val="142C46"/>
                </a:solidFill>
                <a:latin typeface="Arial"/>
              </a:rPr>
              <a:t>Node provisioning from model memory needs</a:t>
            </a:r>
            <a:br/>
            <a:r>
              <a:rPr cap="none" sz="1300">
                <a:solidFill>
                  <a:srgbClr val="142C46"/>
                </a:solidFill>
                <a:latin typeface="Arial"/>
              </a:rPr>
              <a:t>Model onboarding and local caching</a:t>
            </a:r>
            <a:br/>
            <a:r>
              <a:rPr cap="none" sz="1300">
                <a:solidFill>
                  <a:srgbClr val="142C46"/>
                </a:solidFill>
                <a:latin typeface="Arial"/>
              </a:rPr>
              <a:t>InferenceSet lifecycle and rolling upgrades</a:t>
            </a:r>
            <a:br/>
            <a:r>
              <a:rPr cap="none" sz="1300">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18 / 49</a:t>
            </a:r>
          </a:p>
        </p:txBody>
      </p:sp>
      <p:sp>
        <p:nvSpPr>
          <p:cNvPr id="14" name="TextBox 13"/>
          <p:cNvSpPr txBox="1"/>
          <p:nvPr/>
        </p:nvSpPr>
        <p:spPr>
          <a:xfrm>
            <a:off x="384048" y="201168"/>
            <a:ext cx="4572000" cy="192024"/>
          </a:xfrm>
          <a:prstGeom prst="rect">
            <a:avLst/>
          </a:prstGeom>
          <a:noFill/>
        </p:spPr>
        <p:txBody>
          <a:bodyPr wrap="none" lIns="0" rIns="0" tIns="0" bIns="0">
            <a:spAutoFit/>
          </a:bodyPr>
          <a:lstStyle/>
          <a:p>
            <a:pPr>
              <a:spcBef>
                <a:spcPts val="0"/>
              </a:spcBef>
              <a:spcAft>
                <a:spcPts val="0"/>
              </a:spcAft>
            </a:pPr>
            <a:r>
              <a:rPr sz="950" b="1">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dirty="0" cap="none">
                <a:solidFill>
                  <a:srgbClr val="142C46"/>
                </a:solidFill>
                <a:latin typeface="Consolas" panose="020B0609020204030204" pitchFamily="49" charset="0"/>
              </a:rPr>
              <a:t>apiVersion: kaito.sh/v1beta1</a:t>
            </a:r>
            <a:br/>
            <a:r>
              <a:rPr cap="none" sz="1200">
                <a:solidFill>
                  <a:srgbClr val="142C46"/>
                </a:solidFill>
                <a:latin typeface="Consolas"/>
              </a:rPr>
              <a:t>kind: InferenceSet</a:t>
            </a:r>
            <a:br/>
            <a:r>
              <a:rPr cap="none" sz="1200">
                <a:solidFill>
                  <a:srgbClr val="142C46"/>
                </a:solidFill>
                <a:latin typeface="Consolas"/>
              </a:rPr>
              <a:t>metadata:</a:t>
            </a:r>
            <a:br/>
            <a:r>
              <a:rPr cap="none" sz="1200">
                <a:solidFill>
                  <a:srgbClr val="142C46"/>
                </a:solidFill>
                <a:latin typeface="Consolas"/>
              </a:rPr>
              <a:t>  name: qwen3-coder-30b</a:t>
            </a:r>
            <a:br/>
            <a:r>
              <a:rPr cap="none" sz="1200">
                <a:solidFill>
                  <a:srgbClr val="142C46"/>
                </a:solidFill>
                <a:latin typeface="Consolas"/>
              </a:rPr>
              <a:t>spec:</a:t>
            </a:r>
            <a:br/>
            <a:r>
              <a:rPr cap="none" sz="1200">
                <a:solidFill>
                  <a:srgbClr val="142C46"/>
                </a:solidFill>
                <a:latin typeface="Consolas"/>
              </a:rPr>
              <a:t>  replicas: 3</a:t>
            </a:r>
            <a:br/>
            <a:r>
              <a:rPr cap="none" sz="1200">
                <a:solidFill>
                  <a:srgbClr val="142C46"/>
                </a:solidFill>
                <a:latin typeface="Consolas"/>
              </a:rPr>
              <a:t>  labelSelector:</a:t>
            </a:r>
            <a:br/>
            <a:r>
              <a:rPr cap="none" sz="1200">
                <a:solidFill>
                  <a:srgbClr val="142C46"/>
                </a:solidFill>
                <a:latin typeface="Consolas"/>
              </a:rPr>
              <a:t>    matchLabels:</a:t>
            </a:r>
            <a:br/>
            <a:r>
              <a:rPr cap="none" sz="1200">
                <a:solidFill>
                  <a:srgbClr val="142C46"/>
                </a:solidFill>
                <a:latin typeface="Consolas"/>
              </a:rPr>
              <a:t>      app: qwen3-coder-30b</a:t>
            </a:r>
            <a:br/>
            <a:r>
              <a:rPr cap="none" sz="1200">
                <a:solidFill>
                  <a:srgbClr val="142C46"/>
                </a:solidFill>
                <a:latin typeface="Consolas"/>
              </a:rPr>
              <a:t>  template:</a:t>
            </a:r>
            <a:br/>
            <a:r>
              <a:rPr cap="none" sz="1200">
                <a:solidFill>
                  <a:srgbClr val="142C46"/>
                </a:solidFill>
                <a:latin typeface="Consolas"/>
              </a:rPr>
              <a:t>    resource:</a:t>
            </a:r>
            <a:br/>
            <a:r>
              <a:rPr cap="none" sz="1200">
                <a:solidFill>
                  <a:srgbClr val="142C46"/>
                </a:solidFill>
                <a:latin typeface="Consolas"/>
              </a:rPr>
              <a:t>      instanceType: Standard_NC24ads_A100_v4   # &lt;- GPU SKU</a:t>
            </a:r>
            <a:br/>
            <a:r>
              <a:rPr cap="none" sz="1200">
                <a:solidFill>
                  <a:srgbClr val="142C46"/>
                </a:solidFill>
                <a:latin typeface="Consolas"/>
              </a:rPr>
              <a:t>    inference:</a:t>
            </a:r>
            <a:br/>
            <a:r>
              <a:rPr cap="none" sz="1200">
                <a:solidFill>
                  <a:srgbClr val="142C46"/>
                </a:solidFill>
                <a:latin typeface="Consolas"/>
              </a:rPr>
              <a:t>      preset:</a:t>
            </a:r>
            <a:br/>
            <a:r>
              <a:rPr cap="none" sz="1200">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28216"/>
            <a:ext cx="2249424"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7288" y="1728216"/>
            <a:ext cx="2249424"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28216"/>
            <a:ext cx="2249424"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20 / 49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03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21 / 49</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Where </a:t>
            </a:r>
            <a:r>
              <a:rPr cap="none" b="1">
                <a:solidFill>
                  <a:srgbClr val="346CEC"/>
                </a:solidFill>
              </a:rPr>
              <a:t>KAITO</a:t>
            </a:r>
            <a:r>
              <a:rPr cap="none"/>
              <a:t> and </a:t>
            </a:r>
            <a:r>
              <a:rPr cap="none" b="1">
                <a:solidFill>
                  <a:srgbClr val="168C96"/>
                </a:solidFill>
              </a:rPr>
              <a:t>llm-d</a:t>
            </a:r>
            <a:r>
              <a:rPr cap="none"/>
              <a:t> fit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79"/>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50591"/>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Orchestration</a:t>
            </a:r>
          </a:p>
        </p:txBody>
      </p:sp>
      <p:sp>
        <p:nvSpPr>
          <p:cNvPr id="12" name="TextBox 11"/>
          <p:cNvSpPr txBox="1"/>
          <p:nvPr/>
        </p:nvSpPr>
        <p:spPr>
          <a:xfrm>
            <a:off x="2633472" y="2450591"/>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b="1">
                <a:solidFill>
                  <a:srgbClr val="346CEC"/>
                </a:solidFill>
              </a:rPr>
              <a:t>KAITO</a:t>
            </a:r>
            <a:r>
              <a:rPr cap="none"/>
              <a:t>: lifecycle  •  </a:t>
            </a:r>
            <a:r>
              <a:rPr cap="none" b="1">
                <a:solidFill>
                  <a:srgbClr val="168C96"/>
                </a:solidFill>
              </a:rPr>
              <a:t>llm-d</a:t>
            </a:r>
            <a:r>
              <a:rPr cap="none"/>
              <a:t>: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9503"/>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28415"/>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6732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01368"/>
            <a:ext cx="337413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rIns="0" t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0288" y="1609344"/>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267712"/>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926079"/>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3584448"/>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23 / 49</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ROUTING  /  KAITO + llm-d</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RESPONSIBILITIES  /  KAITO + llm-d</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ARCHITECTURE  /  KAITO + llm-d</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DECLARATIVE API  /  KAITO + llm-d</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dirty="0" cap="none">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dirty="0" cap="none">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a:latin typeface="Consolas"/>
              </a:rPr>
              <a:t>apiVersion: kaito.sh/v1alpha1</a:t>
            </a:r>
          </a:p>
          <a:p>
            <a:pPr>
              <a:lnSpc>
                <a:spcPts val="1223"/>
              </a:lnSpc>
              <a:defRPr sz="1400" b="0">
                <a:solidFill>
                  <a:srgbClr val="FFFFFF"/>
                </a:solidFill>
                <a:latin typeface="Consolas"/>
              </a:defRPr>
            </a:pPr>
            <a:r>
              <a:rPr sz="1050" cap="none">
                <a:latin typeface="Consolas"/>
              </a:rPr>
              <a:t>kind: MultiRoleInference</a:t>
            </a:r>
          </a:p>
          <a:p>
            <a:pPr>
              <a:lnSpc>
                <a:spcPts val="1223"/>
              </a:lnSpc>
              <a:defRPr sz="1400" b="0">
                <a:solidFill>
                  <a:srgbClr val="FFFFFF"/>
                </a:solidFill>
                <a:latin typeface="Consolas"/>
              </a:defRPr>
            </a:pPr>
            <a:r>
              <a:rPr sz="1050" cap="none">
                <a:latin typeface="Consolas"/>
              </a:rPr>
              <a:t>metadata:</a:t>
            </a:r>
          </a:p>
          <a:p>
            <a:pPr>
              <a:lnSpc>
                <a:spcPts val="1223"/>
              </a:lnSpc>
              <a:defRPr sz="1400" b="0">
                <a:solidFill>
                  <a:srgbClr val="FFFFFF"/>
                </a:solidFill>
                <a:latin typeface="Consolas"/>
              </a:defRPr>
            </a:pPr>
            <a:r>
              <a:rPr sz="1050" cap="none">
                <a:latin typeface="Consolas"/>
              </a:rPr>
              <a:t>  name: qwen-3-8-27b</a:t>
            </a:r>
          </a:p>
          <a:p>
            <a:pPr>
              <a:lnSpc>
                <a:spcPts val="1223"/>
              </a:lnSpc>
              <a:defRPr sz="1400" b="0">
                <a:solidFill>
                  <a:srgbClr val="FFFFFF"/>
                </a:solidFill>
                <a:latin typeface="Consolas"/>
              </a:defRPr>
            </a:pPr>
            <a:r>
              <a:rPr sz="1050" cap="none">
                <a:latin typeface="Consolas"/>
              </a:rPr>
              <a:t>spec:</a:t>
            </a:r>
          </a:p>
          <a:p>
            <a:pPr>
              <a:lnSpc>
                <a:spcPts val="1223"/>
              </a:lnSpc>
              <a:defRPr sz="1400" b="0">
                <a:solidFill>
                  <a:srgbClr val="FFFFFF"/>
                </a:solidFill>
                <a:latin typeface="Consolas"/>
              </a:defRPr>
            </a:pPr>
            <a:r>
              <a:rPr sz="1050" cap="none">
                <a:latin typeface="Consolas"/>
              </a:rPr>
              <a:t>  model:</a:t>
            </a:r>
          </a:p>
          <a:p>
            <a:pPr>
              <a:lnSpc>
                <a:spcPts val="1223"/>
              </a:lnSpc>
              <a:defRPr sz="1400" b="0">
                <a:solidFill>
                  <a:srgbClr val="FFFFFF"/>
                </a:solidFill>
                <a:latin typeface="Consolas"/>
              </a:defRPr>
            </a:pPr>
            <a:r>
              <a:rPr sz="1050" cap="none">
                <a:latin typeface="Consolas"/>
              </a:rPr>
              <a:t>    name: Qwen/Qwen3.8-27B</a:t>
            </a:r>
          </a:p>
          <a:p>
            <a:pPr>
              <a:lnSpc>
                <a:spcPts val="1223"/>
              </a:lnSpc>
              <a:defRPr sz="1400" b="0">
                <a:solidFill>
                  <a:srgbClr val="FFFFFF"/>
                </a:solidFill>
                <a:latin typeface="Consolas"/>
              </a:defRPr>
            </a:pPr>
            <a:r>
              <a:rPr sz="1050" cap="none">
                <a:latin typeface="Consolas"/>
              </a:rPr>
              <a:t>  roles:</a:t>
            </a:r>
          </a:p>
          <a:p>
            <a:pPr>
              <a:lnSpc>
                <a:spcPts val="1223"/>
              </a:lnSpc>
              <a:defRPr sz="1400" b="0">
                <a:solidFill>
                  <a:srgbClr val="FFFFFF"/>
                </a:solidFill>
                <a:latin typeface="Consolas"/>
              </a:defRPr>
            </a:pPr>
            <a:r>
              <a:rPr sz="1050" cap="none">
                <a:latin typeface="Consolas"/>
              </a:rPr>
              <a:t>    - type: prefill</a:t>
            </a:r>
          </a:p>
          <a:p>
            <a:pPr>
              <a:lnSpc>
                <a:spcPts val="1223"/>
              </a:lnSpc>
              <a:defRPr sz="1400" b="0">
                <a:solidFill>
                  <a:srgbClr val="FFFFFF"/>
                </a:solidFill>
                <a:latin typeface="Consolas"/>
              </a:defRPr>
            </a:pPr>
            <a:r>
              <a:rPr sz="1050" cap="none">
                <a:latin typeface="Consolas"/>
              </a:rPr>
              <a:t>      replicas: 1</a:t>
            </a:r>
          </a:p>
          <a:p>
            <a:pPr>
              <a:lnSpc>
                <a:spcPts val="1223"/>
              </a:lnSpc>
              <a:defRPr sz="1400" b="0">
                <a:solidFill>
                  <a:srgbClr val="FFFFFF"/>
                </a:solidFill>
                <a:latin typeface="Consolas"/>
              </a:defRPr>
            </a:pPr>
            <a:r>
              <a:rPr sz="1050" cap="none">
                <a:latin typeface="Consolas"/>
              </a:rPr>
              <a:t>      instanceType: Standard_NC24ads_A100_v4</a:t>
            </a:r>
          </a:p>
          <a:p>
            <a:pPr>
              <a:lnSpc>
                <a:spcPts val="1223"/>
              </a:lnSpc>
              <a:defRPr sz="1400" b="0">
                <a:solidFill>
                  <a:srgbClr val="FFFFFF"/>
                </a:solidFill>
                <a:latin typeface="Consolas"/>
              </a:defRPr>
            </a:pPr>
            <a:r>
              <a:rPr sz="1050" cap="none">
                <a:latin typeface="Consolas"/>
              </a:rPr>
              <a:t>    - type: decode</a:t>
            </a:r>
          </a:p>
          <a:p>
            <a:pPr>
              <a:lnSpc>
                <a:spcPts val="1223"/>
              </a:lnSpc>
              <a:defRPr sz="1400" b="0">
                <a:solidFill>
                  <a:srgbClr val="FFFFFF"/>
                </a:solidFill>
                <a:latin typeface="Consolas"/>
              </a:defRPr>
            </a:pPr>
            <a:r>
              <a:rPr sz="1050" cap="none">
                <a:latin typeface="Consolas"/>
              </a:rPr>
              <a:t>      replicas: 2</a:t>
            </a:r>
          </a:p>
          <a:p>
            <a:pPr>
              <a:lnSpc>
                <a:spcPts val="1223"/>
              </a:lnSpc>
              <a:defRPr sz="1400" b="0">
                <a:solidFill>
                  <a:srgbClr val="FFFFFF"/>
                </a:solidFill>
                <a:latin typeface="Consolas"/>
              </a:defRPr>
            </a:pPr>
            <a:r>
              <a:rPr sz="1050" cap="none">
                <a:latin typeface="Consolas"/>
              </a:rPr>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RECONCILIATION  /  KAITO + llm-d</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REQUEST LIFECYCLE  /  KAITO + llm-d</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POD BOUNDARY  /  KAITO + llm-d</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Why the sidecar belongs on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lIns="0" rIns="0" tIns="0" bIns="0" wrap="none">
            <a:normAutofit/>
          </a:bodyPr>
          <a:lstStyle/>
          <a:p>
            <a:pPr lvl="0">
              <a:spcAft>
                <a:spcPts val="400"/>
              </a:spcAft>
              <a:buClr>
                <a:srgbClr val="000000"/>
              </a:buClr>
              <a:buSzPts val="1200"/>
              <a:defRPr/>
            </a:pPr>
            <a:r>
              <a:rPr lang="en" altLang="zh-CN" sz="2100" dirty="0" err="1" cap="none" b="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dirty="0" cap="none">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31 / 49</a:t>
            </a:r>
          </a:p>
        </p:txBody>
      </p:sp>
    </p:spTree>
    <p:extLst>
      <p:ext uri="{BB962C8B-B14F-4D97-AF65-F5344CB8AC3E}">
        <p14:creationId xmlns:p14="http://schemas.microsoft.com/office/powerpoint/2010/main" val="12328865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Efficient KV transfer with vLLM and NIXL</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2029967"/>
            <a:ext cx="223113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45352" y="2029967"/>
            <a:ext cx="223113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rIns="0" t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rIns="0" t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rIns="0" t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32 / 49</a:t>
            </a:r>
          </a:p>
        </p:txBody>
      </p:sp>
    </p:spTree>
    <p:extLst>
      <p:ext uri="{BB962C8B-B14F-4D97-AF65-F5344CB8AC3E}">
        <p14:creationId xmlns:p14="http://schemas.microsoft.com/office/powerpoint/2010/main" val="23995013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err="1" cap="none" b="1">
                <a:solidFill>
                  <a:srgbClr val="142C46"/>
                </a:solidFill>
                <a:latin typeface="Arial"/>
              </a:rPr>
              <a:t>Autoscale</a:t>
            </a:r>
            <a:r>
              <a:rPr sz="2100" dirty="0" cap="none" b="1">
                <a:solidFill>
                  <a:srgbClr val="142C46"/>
                </a:solidFill>
                <a:latin typeface="Arial"/>
              </a:rPr>
              <a:t>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33 / 49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34 / 49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autoscaling: keda-</a:t>
            </a:r>
            <a:r>
              <a:rPr lang="en-US" dirty="0" err="1" cap="none" sz="2100" b="1">
                <a:solidFill>
                  <a:srgbClr val="142C46"/>
                </a:solidFill>
                <a:latin typeface="Arial"/>
              </a:rPr>
              <a:t>kaito</a:t>
            </a:r>
            <a:r>
              <a:rPr lang="en-US" dirty="0" cap="none" sz="2100" b="1">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fontScale="92500"/>
          </a:bodyPr>
          <a:lstStyle/>
          <a:p>
            <a:r>
              <a:rPr lang="en-US" sz="1200" b="1" dirty="0" cap="none">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cap="none">
                <a:solidFill>
                  <a:srgbClr val="142C46"/>
                </a:solidFill>
                <a:latin typeface="Arial"/>
              </a:rPr>
              <a:t>What it adds</a:t>
            </a:r>
            <a:br/>
            <a:r>
              <a:rPr cap="none" sz="1300">
                <a:solidFill>
                  <a:srgbClr val="142C46"/>
                </a:solidFill>
                <a:latin typeface="Arial"/>
              </a:rPr>
              <a:t>No Prometheus required</a:t>
            </a:r>
            <a:br/>
            <a:r>
              <a:rPr cap="none" sz="1300">
                <a:solidFill>
                  <a:srgbClr val="142C46"/>
                </a:solidFill>
                <a:latin typeface="Arial"/>
              </a:rPr>
              <a:t>Direct vLLM metric scraping</a:t>
            </a:r>
            <a:br/>
            <a:r>
              <a:rPr cap="none" sz="1300">
                <a:solidFill>
                  <a:srgbClr val="142C46"/>
                </a:solidFill>
                <a:latin typeface="Arial"/>
              </a:rPr>
              <a:t>Conservative replica steps</a:t>
            </a:r>
            <a:br/>
            <a:r>
              <a:rPr cap="none" sz="1300">
                <a:solidFill>
                  <a:srgbClr val="142C46"/>
                </a:solidFill>
                <a:latin typeface="Arial"/>
              </a:rPr>
              <a:t>Queue and latency signals</a:t>
            </a:r>
            <a:br/>
            <a:r>
              <a:rPr cap="none" sz="1300">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35 / 49</a:t>
            </a:r>
          </a:p>
        </p:txBody>
      </p:sp>
    </p:spTree>
    <p:extLst>
      <p:ext uri="{BB962C8B-B14F-4D97-AF65-F5344CB8AC3E}">
        <p14:creationId xmlns:p14="http://schemas.microsoft.com/office/powerpoint/2010/main" val="17103403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3749039"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46504"/>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36 / 49</a:t>
            </a:r>
          </a:p>
        </p:txBody>
      </p:sp>
    </p:spTree>
    <p:extLst>
      <p:ext uri="{BB962C8B-B14F-4D97-AF65-F5344CB8AC3E}">
        <p14:creationId xmlns:p14="http://schemas.microsoft.com/office/powerpoint/2010/main" val="3344936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37 / 49</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38 / 49</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dirty="0" cap="none" b="1">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a:latin typeface="Arial"/>
              </a:rPr>
              <a:t>vllm:num_requests_waiting</a:t>
            </a: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a:latin typeface="Arial"/>
              </a:rPr>
              <a:t>vllm:num_requests_running</a:t>
            </a: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dirty="0" cap="none">
                <a:latin typeface="Arial"/>
              </a:rPr>
              <a:t>04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Proposed MRI policy: independent role decisions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Illustrative design—not a ready-to-apply API. Full example and schema are in the notes.</a:t>
            </a:r>
          </a:p>
        </p:txBody>
      </p:sp>
      <p:sp>
        <p:nvSpPr>
          <p:cNvPr id="4" name="Rounded Rectangle 3"/>
          <p:cNvSpPr/>
          <p:nvPr/>
        </p:nvSpPr>
        <p:spPr>
          <a:xfrm>
            <a:off x="41148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49039"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policy</a:t>
            </a:r>
          </a:p>
        </p:txBody>
      </p:sp>
      <p:sp>
        <p:nvSpPr>
          <p:cNvPr id="6" name="TextBox 5"/>
          <p:cNvSpPr txBox="1"/>
          <p:nvPr/>
        </p:nvSpPr>
        <p:spPr>
          <a:xfrm>
            <a:off x="576072"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waiting requests</a:t>
            </a:r>
          </a:p>
          <a:p>
            <a:pPr>
              <a:spcAft>
                <a:spcPts val="500"/>
              </a:spcAft>
              <a:defRPr sz="1500" b="0">
                <a:solidFill>
                  <a:srgbClr val="142C46"/>
                </a:solidFill>
                <a:latin typeface="Arial"/>
              </a:defRPr>
            </a:pPr>
            <a:r>
              <a:rPr cap="none"/>
              <a:t>Replica range: 1–8</a:t>
            </a:r>
          </a:p>
          <a:p>
            <a:pPr>
              <a:spcAft>
                <a:spcPts val="500"/>
              </a:spcAft>
              <a:defRPr sz="1500" b="0">
                <a:solidFill>
                  <a:srgbClr val="142C46"/>
                </a:solidFill>
                <a:latin typeface="Arial"/>
              </a:defRPr>
            </a:pPr>
            <a:r>
              <a:rPr cap="none"/>
              <a:t>Scale up above 8; down below 1</a:t>
            </a:r>
          </a:p>
          <a:p>
            <a:pPr>
              <a:spcAft>
                <a:spcPts val="500"/>
              </a:spcAft>
              <a:defRPr sz="1500" b="0">
                <a:solidFill>
                  <a:srgbClr val="142C46"/>
                </a:solidFill>
                <a:latin typeface="Arial"/>
              </a:defRPr>
            </a:pPr>
            <a:r>
              <a:rPr cap="none"/>
              <a:t>At waiting = 12: scale up</a:t>
            </a:r>
          </a:p>
        </p:txBody>
      </p:sp>
      <p:sp>
        <p:nvSpPr>
          <p:cNvPr id="7" name="Rounded Rectangle 6"/>
          <p:cNvSpPr/>
          <p:nvPr/>
        </p:nvSpPr>
        <p:spPr>
          <a:xfrm>
            <a:off x="466344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09928"/>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policy</a:t>
            </a:r>
          </a:p>
        </p:txBody>
      </p:sp>
      <p:sp>
        <p:nvSpPr>
          <p:cNvPr id="9" name="TextBox 8"/>
          <p:cNvSpPr txBox="1"/>
          <p:nvPr/>
        </p:nvSpPr>
        <p:spPr>
          <a:xfrm>
            <a:off x="4828031"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running requests</a:t>
            </a:r>
          </a:p>
          <a:p>
            <a:pPr>
              <a:spcAft>
                <a:spcPts val="500"/>
              </a:spcAft>
              <a:defRPr sz="1500" b="0">
                <a:solidFill>
                  <a:srgbClr val="142C46"/>
                </a:solidFill>
                <a:latin typeface="Arial"/>
              </a:defRPr>
            </a:pPr>
            <a:r>
              <a:rPr cap="none"/>
              <a:t>Replica range: 2–16</a:t>
            </a:r>
          </a:p>
          <a:p>
            <a:pPr>
              <a:spcAft>
                <a:spcPts val="500"/>
              </a:spcAft>
              <a:defRPr sz="1500" b="0">
                <a:solidFill>
                  <a:srgbClr val="142C46"/>
                </a:solidFill>
                <a:latin typeface="Arial"/>
              </a:defRPr>
            </a:pPr>
            <a:r>
              <a:rPr cap="none"/>
              <a:t>Scale up above 24; down below 4</a:t>
            </a:r>
          </a:p>
          <a:p>
            <a:pPr>
              <a:spcAft>
                <a:spcPts val="500"/>
              </a:spcAft>
              <a:defRPr sz="1500" b="0">
                <a:solidFill>
                  <a:srgbClr val="142C46"/>
                </a:solidFill>
                <a:latin typeface="Arial"/>
              </a:defRPr>
            </a:pPr>
            <a:r>
              <a:rPr cap="none"/>
              <a:t>At running = 12: hold</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Requires an MRI adapter, child opt-in and one replica-count owner per role. Values are examples.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44 / 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What’s next for KAITO + </a:t>
            </a:r>
            <a:r>
              <a:rPr sz="2100" dirty="0" err="1" cap="none" b="1">
                <a:solidFill>
                  <a:srgbClr val="142C46"/>
                </a:solidFill>
                <a:latin typeface="Arial"/>
              </a:rPr>
              <a:t>llm</a:t>
            </a:r>
            <a:r>
              <a:rPr sz="2100" dirty="0" cap="none" b="1">
                <a:solidFill>
                  <a:srgbClr val="142C46"/>
                </a:solidFill>
                <a:latin typeface="Arial"/>
              </a:rPr>
              <a:t>-d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539496"/>
            <a:ext cx="8412480" cy="420624"/>
          </a:xfrm>
          <a:prstGeom prst="rect">
            <a:avLst/>
          </a:prstGeom>
          <a:noFill/>
        </p:spPr>
        <p:txBody>
          <a:bodyPr wrap="square" lIns="0" rIns="0" t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457200" cy="320040"/>
          </a:xfrm>
          <a:prstGeom prst="rect">
            <a:avLst/>
          </a:prstGeom>
          <a:noFill/>
        </p:spPr>
        <p:txBody>
          <a:bodyPr wrap="square" lIns="0" rIns="0" t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rIns="0" t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rIns="0" t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606040"/>
            <a:ext cx="457200" cy="320040"/>
          </a:xfrm>
          <a:prstGeom prst="rect">
            <a:avLst/>
          </a:prstGeom>
          <a:noFill/>
        </p:spPr>
        <p:txBody>
          <a:bodyPr wrap="square" lIns="0" rIns="0" t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rIns="0" t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rIns="0" t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 y="3465575"/>
            <a:ext cx="457200" cy="320040"/>
          </a:xfrm>
          <a:prstGeom prst="rect">
            <a:avLst/>
          </a:prstGeom>
          <a:noFill/>
        </p:spPr>
        <p:txBody>
          <a:bodyPr wrap="square" lIns="0" rIns="0" t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rIns="0" t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rIns="0" t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rIns="0" t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rIns="0" t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TextBox 17"/>
          <p:cNvSpPr txBox="1"/>
          <p:nvPr/>
        </p:nvSpPr>
        <p:spPr>
          <a:xfrm>
            <a:off x="8257031" y="4873752"/>
            <a:ext cx="502920" cy="201168"/>
          </a:xfrm>
          <a:prstGeom prst="rect">
            <a:avLst/>
          </a:prstGeom>
          <a:noFill/>
        </p:spPr>
        <p:txBody>
          <a:bodyPr wrap="square" lIns="0" rIns="0" tIns="0" bIns="0">
            <a:spAutoFit/>
          </a:bodyPr>
          <a:lstStyle/>
          <a:p>
            <a:pPr algn="r">
              <a:spcBef>
                <a:spcPts val="0"/>
              </a:spcBef>
              <a:spcAft>
                <a:spcPts val="300"/>
              </a:spcAft>
            </a:pPr>
            <a:r>
              <a:rPr sz="800" b="0" cap="none">
                <a:solidFill>
                  <a:srgbClr val="52677D"/>
                </a:solidFill>
                <a:latin typeface="Arial"/>
              </a:rPr>
              <a:t>47 / 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539496"/>
            <a:ext cx="8412480" cy="420624"/>
          </a:xfrm>
          <a:prstGeom prst="rect">
            <a:avLst/>
          </a:prstGeom>
          <a:noFill/>
        </p:spPr>
        <p:txBody>
          <a:bodyPr wrap="square" lIns="0" rIns="0" tIns="0" bIns="0">
            <a:spAutoFit/>
          </a:bodyPr>
          <a:lstStyle/>
          <a:p>
            <a:pPr>
              <a:spcBef>
                <a:spcPts val="0"/>
              </a:spcBef>
              <a:spcAft>
                <a:spcPts val="300"/>
              </a:spcAft>
            </a:pPr>
            <a:r>
              <a:rPr sz="2400" b="1" cap="none">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4" y="1627632"/>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2"/>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 y="2423160"/>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3"/>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4014215"/>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4"/>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rIns="0" t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TextBox 13"/>
          <p:cNvSpPr txBox="1"/>
          <p:nvPr/>
        </p:nvSpPr>
        <p:spPr>
          <a:xfrm>
            <a:off x="8257031" y="4873752"/>
            <a:ext cx="502920" cy="201168"/>
          </a:xfrm>
          <a:prstGeom prst="rect">
            <a:avLst/>
          </a:prstGeom>
          <a:noFill/>
        </p:spPr>
        <p:txBody>
          <a:bodyPr wrap="square" lIns="0" rIns="0" tIns="0" bIns="0">
            <a:spAutoFit/>
          </a:bodyPr>
          <a:lstStyle/>
          <a:p>
            <a:pPr algn="r">
              <a:spcBef>
                <a:spcPts val="0"/>
              </a:spcBef>
              <a:spcAft>
                <a:spcPts val="300"/>
              </a:spcAft>
            </a:pPr>
            <a:r>
              <a:rPr sz="800" b="0" cap="none">
                <a:solidFill>
                  <a:srgbClr val="52677D"/>
                </a:solidFill>
                <a:latin typeface="Arial"/>
              </a:rPr>
              <a:t>48 / 49</a:t>
            </a: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caler resource 16"/>
          <p:cNvSpPr txBox="1"/>
          <p:nvPr/>
        </p:nvSpPr>
        <p:spPr>
          <a:xfrm>
            <a:off x="603504" y="3218688"/>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6"/>
              </a:rPr>
              <a:t>https://github.com/kaito-project/keda-kaito-scaler</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rIns="0" t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502920"/>
          </a:xfrm>
          <a:prstGeom prst="rect">
            <a:avLst/>
          </a:prstGeom>
          <a:noFill/>
        </p:spPr>
        <p:txBody>
          <a:bodyPr wrap="square" lIns="0" rIns="0" tIns="0" bIns="0">
            <a:spAutoFit/>
          </a:bodyPr>
          <a:lstStyle/>
          <a:p>
            <a:pPr>
              <a:spcAft>
                <a:spcPts val="500"/>
              </a:spcAft>
              <a:defRPr sz="2500" b="0">
                <a:solidFill>
                  <a:srgbClr val="346CEC"/>
                </a:solidFill>
                <a:latin typeface="Arial"/>
              </a:defRPr>
            </a:pPr>
            <a:r>
              <a:rPr cap="none"/>
              <a:t>Questions and discussion</a:t>
            </a:r>
          </a:p>
        </p:txBody>
      </p:sp>
      <p:sp>
        <p:nvSpPr>
          <p:cNvPr id="4" name="TextBox 3"/>
          <p:cNvSpPr txBox="1"/>
          <p:nvPr/>
        </p:nvSpPr>
        <p:spPr>
          <a:xfrm>
            <a:off x="667512" y="3264408"/>
            <a:ext cx="7772400" cy="594360"/>
          </a:xfrm>
          <a:prstGeom prst="rect">
            <a:avLst/>
          </a:prstGeom>
          <a:noFill/>
        </p:spPr>
        <p:txBody>
          <a:bodyPr wrap="square" lIns="0" rIns="0" tIns="0" bIns="0">
            <a:spAutoFit/>
          </a:bodyPr>
          <a:lstStyle/>
          <a:p>
            <a:pPr>
              <a:spcAft>
                <a:spcPts val="500"/>
              </a:spcAft>
              <a:defRPr sz="1700" b="0">
                <a:solidFill>
                  <a:srgbClr val="52677D"/>
                </a:solidFill>
                <a:latin typeface="Arial"/>
              </a:defRPr>
            </a:pPr>
            <a:r>
              <a:rPr cap="none"/>
              <a:t>Andy Zhang  •  Linbo He</a:t>
            </a:r>
          </a:p>
          <a:p>
            <a:pPr>
              <a:spcAft>
                <a:spcPts val="500"/>
              </a:spcAft>
              <a:defRPr sz="1700" b="0">
                <a:solidFill>
                  <a:srgbClr val="52677D"/>
                </a:solidFill>
                <a:latin typeface="Arial"/>
              </a:defRPr>
            </a:pPr>
            <a:r>
              <a:rPr cap="none"/>
              <a:t>Microsoft  |  KAITO + llm-d</a:t>
            </a:r>
          </a:p>
        </p:txBody>
      </p:sp>
      <p:sp>
        <p:nvSpPr>
          <p:cNvPr id="5" name="TextBox 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