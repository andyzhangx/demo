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5.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258" r:id="rId2"/>
    <p:sldId id="260" r:id="rId3"/>
    <p:sldId id="259" r:id="rId4"/>
    <p:sldId id="261" r:id="rId5"/>
    <p:sldId id="2147375730" r:id="rId6"/>
    <p:sldId id="2147375731" r:id="rId7"/>
    <p:sldId id="2147375732" r:id="rId8"/>
    <p:sldId id="2147375733" r:id="rId9"/>
    <p:sldId id="262" r:id="rId10"/>
    <p:sldId id="263" r:id="rId11"/>
    <p:sldId id="264" r:id="rId12"/>
    <p:sldId id="265" r:id="rId13"/>
    <p:sldId id="2147375734" r:id="rId14"/>
    <p:sldId id="267" r:id="rId15"/>
    <p:sldId id="268" r:id="rId16"/>
    <p:sldId id="269" r:id="rId17"/>
    <p:sldId id="270" r:id="rId18"/>
    <p:sldId id="2147375706" r:id="rId19"/>
    <p:sldId id="2147375697" r:id="rId20"/>
    <p:sldId id="2147375700" r:id="rId21"/>
    <p:sldId id="2147375701" r:id="rId22"/>
    <p:sldId id="278" r:id="rId23"/>
    <p:sldId id="2147375718" r:id="rId24"/>
    <p:sldId id="2147375719" r:id="rId25"/>
    <p:sldId id="256" r:id="rId26"/>
    <p:sldId id="257" r:id="rId27"/>
    <p:sldId id="2147375721" r:id="rId28"/>
    <p:sldId id="2147375722" r:id="rId29"/>
    <p:sldId id="2147375723" r:id="rId30"/>
    <p:sldId id="2147375724" r:id="rId31"/>
    <p:sldId id="2147375725" r:id="rId32"/>
    <p:sldId id="2147375726" r:id="rId33"/>
    <p:sldId id="2147375714" r:id="rId34"/>
    <p:sldId id="295" r:id="rId35"/>
    <p:sldId id="277" r:id="rId36"/>
    <p:sldId id="2147375729" r:id="rId37"/>
    <p:sldId id="273" r:id="rId38"/>
    <p:sldId id="275" r:id="rId39"/>
    <p:sldId id="279" r:id="rId40"/>
    <p:sldId id="280" r:id="rId41"/>
    <p:sldId id="281" r:id="rId42"/>
    <p:sldId id="282" r:id="rId43"/>
    <p:sldId id="283" r:id="rId44"/>
    <p:sldId id="284" r:id="rId45"/>
    <p:sldId id="285" r:id="rId46"/>
    <p:sldId id="287" r:id="rId47"/>
    <p:sldId id="296" r:id="rId48"/>
    <p:sldId id="301" r:id="rId49"/>
    <p:sldId id="266"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gP6jlGysE4CB0wmKbnycLtctRs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273" autoAdjust="0"/>
  </p:normalViewPr>
  <p:slideViewPr>
    <p:cSldViewPr snapToGrid="0">
      <p:cViewPr varScale="1">
        <p:scale>
          <a:sx n="67" d="100"/>
          <a:sy n="67" d="100"/>
        </p:scale>
        <p:origin x="1264"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3" Type="http://customschemas.google.com/relationships/presentationmetadata" Target="meta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19A22C-6702-4553-A4E5-F6384627C34D}" type="doc">
      <dgm:prSet loTypeId="urn:microsoft.com/office/officeart/2008/layout/LinedList" loCatId="list" qsTypeId="urn:microsoft.com/office/officeart/2005/8/quickstyle/simple4" qsCatId="simple" csTypeId="urn:microsoft.com/office/officeart/2005/8/colors/accent3_2" csCatId="accent3" phldr="1"/>
      <dgm:spPr/>
      <dgm:t>
        <a:bodyPr/>
        <a:lstStyle/>
        <a:p>
          <a:endParaRPr lang="en-US"/>
        </a:p>
      </dgm:t>
    </dgm:pt>
    <dgm:pt modelId="{F6179A96-FB08-4F12-8FC7-D4A247637A7E}">
      <dgm:prSet/>
      <dgm:spPr/>
      <dgm:t>
        <a:bodyPr/>
        <a:lstStyle/>
        <a:p>
          <a:r>
            <a:rPr lang="en-US" b="0" i="0" dirty="0"/>
            <a:t>Why separate prefill and decode?</a:t>
          </a:r>
          <a:endParaRPr lang="en-US" dirty="0"/>
        </a:p>
      </dgm:t>
    </dgm:pt>
    <dgm:pt modelId="{8C39974D-B1B3-402D-B23C-EBC0CDDCFDC5}" type="parTrans" cxnId="{05F812C0-9469-44F9-96FD-F3C8C3E65962}">
      <dgm:prSet/>
      <dgm:spPr/>
      <dgm:t>
        <a:bodyPr/>
        <a:lstStyle/>
        <a:p>
          <a:endParaRPr lang="en-US"/>
        </a:p>
      </dgm:t>
    </dgm:pt>
    <dgm:pt modelId="{4BC765CE-CC1A-4608-81DB-BDCEFEBECF95}" type="sibTrans" cxnId="{05F812C0-9469-44F9-96FD-F3C8C3E65962}">
      <dgm:prSet/>
      <dgm:spPr/>
      <dgm:t>
        <a:bodyPr/>
        <a:lstStyle/>
        <a:p>
          <a:endParaRPr lang="en-US"/>
        </a:p>
      </dgm:t>
    </dgm:pt>
    <dgm:pt modelId="{684DCF20-C166-4FC4-AAA6-D7F336CE5188}">
      <dgm:prSet custT="1"/>
      <dgm:spPr/>
      <dgm:t>
        <a:bodyPr/>
        <a:lstStyle/>
        <a:p>
          <a:r>
            <a:rPr lang="en-US" sz="2600" b="0" i="0" kern="1200" dirty="0">
              <a:solidFill>
                <a:srgbClr val="000000">
                  <a:hueOff val="0"/>
                  <a:satOff val="0"/>
                  <a:lumOff val="0"/>
                  <a:alphaOff val="0"/>
                </a:srgbClr>
              </a:solidFill>
              <a:latin typeface="Arial"/>
              <a:ea typeface="+mn-ea"/>
              <a:cs typeface="+mn-cs"/>
            </a:rPr>
            <a:t>Why</a:t>
          </a:r>
          <a:r>
            <a:rPr lang="en-US" sz="1800" b="0" i="0" kern="1200" dirty="0"/>
            <a:t> </a:t>
          </a:r>
          <a:r>
            <a:rPr lang="en-US" sz="2600" b="0" i="0" kern="1200" dirty="0">
              <a:solidFill>
                <a:srgbClr val="000000">
                  <a:hueOff val="0"/>
                  <a:satOff val="0"/>
                  <a:lumOff val="0"/>
                  <a:alphaOff val="0"/>
                </a:srgbClr>
              </a:solidFill>
              <a:latin typeface="Arial"/>
              <a:ea typeface="+mn-ea"/>
              <a:cs typeface="+mn-cs"/>
            </a:rPr>
            <a:t>is P/D still </a:t>
          </a:r>
          <a:r>
            <a:rPr lang="en-US" altLang="zh-CN" sz="2600" b="0" i="0" kern="1200" dirty="0">
              <a:solidFill>
                <a:srgbClr val="000000">
                  <a:hueOff val="0"/>
                  <a:satOff val="0"/>
                  <a:lumOff val="0"/>
                  <a:alphaOff val="0"/>
                </a:srgbClr>
              </a:solidFill>
              <a:latin typeface="Arial"/>
              <a:ea typeface="+mn-ea"/>
              <a:cs typeface="+mn-cs"/>
            </a:rPr>
            <a:t>operationally</a:t>
          </a:r>
          <a:r>
            <a:rPr lang="en-US" sz="2600" b="0" i="0" kern="1200" dirty="0">
              <a:solidFill>
                <a:srgbClr val="000000">
                  <a:hueOff val="0"/>
                  <a:satOff val="0"/>
                  <a:lumOff val="0"/>
                  <a:alphaOff val="0"/>
                </a:srgbClr>
              </a:solidFill>
              <a:latin typeface="Arial"/>
              <a:ea typeface="+mn-ea"/>
              <a:cs typeface="+mn-cs"/>
            </a:rPr>
            <a:t> hard on Kubernetes</a:t>
          </a:r>
          <a:r>
            <a:rPr lang="en-US" sz="1800" b="0" i="0" kern="1200" dirty="0"/>
            <a:t>?</a:t>
          </a:r>
          <a:endParaRPr lang="en-US" sz="1800" kern="1200" dirty="0"/>
        </a:p>
      </dgm:t>
    </dgm:pt>
    <dgm:pt modelId="{B127EC52-5914-418C-BF51-718BD3305111}" type="parTrans" cxnId="{7DED4325-D9DB-424C-87D8-3E5DCD3CD8C2}">
      <dgm:prSet/>
      <dgm:spPr/>
      <dgm:t>
        <a:bodyPr/>
        <a:lstStyle/>
        <a:p>
          <a:endParaRPr lang="en-US"/>
        </a:p>
      </dgm:t>
    </dgm:pt>
    <dgm:pt modelId="{90A92338-283C-4406-8EA8-75038FF0BCCB}" type="sibTrans" cxnId="{7DED4325-D9DB-424C-87D8-3E5DCD3CD8C2}">
      <dgm:prSet/>
      <dgm:spPr/>
      <dgm:t>
        <a:bodyPr/>
        <a:lstStyle/>
        <a:p>
          <a:endParaRPr lang="en-US"/>
        </a:p>
      </dgm:t>
    </dgm:pt>
    <dgm:pt modelId="{647D59D8-F992-4FEA-AF7E-A2E792A5F292}">
      <dgm:prSet/>
      <dgm:spPr/>
      <dgm:t>
        <a:bodyPr/>
        <a:lstStyle/>
        <a:p>
          <a:r>
            <a:rPr lang="en-US" b="0" i="0" dirty="0"/>
            <a:t>KAITO + </a:t>
          </a:r>
          <a:r>
            <a:rPr lang="en-US" b="0" i="0" dirty="0" err="1"/>
            <a:t>llm</a:t>
          </a:r>
          <a:r>
            <a:rPr lang="en-US" b="0" i="0" dirty="0"/>
            <a:t>-d architecture</a:t>
          </a:r>
          <a:endParaRPr lang="en-US" dirty="0"/>
        </a:p>
      </dgm:t>
    </dgm:pt>
    <dgm:pt modelId="{0835BC66-97DE-4F83-966B-AC146821383C}" type="parTrans" cxnId="{83F493E2-5B1C-41D0-BCE2-68E2D101EAEE}">
      <dgm:prSet/>
      <dgm:spPr/>
      <dgm:t>
        <a:bodyPr/>
        <a:lstStyle/>
        <a:p>
          <a:endParaRPr lang="en-US"/>
        </a:p>
      </dgm:t>
    </dgm:pt>
    <dgm:pt modelId="{58691E8A-10F1-4DF6-8004-0FEB4609038D}" type="sibTrans" cxnId="{83F493E2-5B1C-41D0-BCE2-68E2D101EAEE}">
      <dgm:prSet/>
      <dgm:spPr/>
      <dgm:t>
        <a:bodyPr/>
        <a:lstStyle/>
        <a:p>
          <a:endParaRPr lang="en-US"/>
        </a:p>
      </dgm:t>
    </dgm:pt>
    <dgm:pt modelId="{75AAE208-C1AD-4CC9-9F70-3CAA236FE51C}">
      <dgm:prSet/>
      <dgm:spPr/>
      <dgm:t>
        <a:bodyPr/>
        <a:lstStyle/>
        <a:p>
          <a:r>
            <a:rPr lang="en-US" b="0" i="0" dirty="0"/>
            <a:t>How KAITO + </a:t>
          </a:r>
          <a:r>
            <a:rPr lang="en-US" b="0" i="0" dirty="0" err="1"/>
            <a:t>llm</a:t>
          </a:r>
          <a:r>
            <a:rPr lang="en-US" b="0" i="0" dirty="0"/>
            <a:t>-d supports P/D</a:t>
          </a:r>
          <a:endParaRPr lang="en-US" dirty="0"/>
        </a:p>
      </dgm:t>
    </dgm:pt>
    <dgm:pt modelId="{877CC7DC-8753-4EE6-97FA-DDA62A2A1464}" type="parTrans" cxnId="{31278B97-0A81-42CB-920C-776F5AAF2C82}">
      <dgm:prSet/>
      <dgm:spPr/>
      <dgm:t>
        <a:bodyPr/>
        <a:lstStyle/>
        <a:p>
          <a:endParaRPr lang="en-US"/>
        </a:p>
      </dgm:t>
    </dgm:pt>
    <dgm:pt modelId="{26340508-F9C4-43AF-98F1-FBB8BC691B55}" type="sibTrans" cxnId="{31278B97-0A81-42CB-920C-776F5AAF2C82}">
      <dgm:prSet/>
      <dgm:spPr/>
      <dgm:t>
        <a:bodyPr/>
        <a:lstStyle/>
        <a:p>
          <a:endParaRPr lang="en-US"/>
        </a:p>
      </dgm:t>
    </dgm:pt>
    <dgm:pt modelId="{F26A0DFB-3FD3-407F-93D3-0136C781FE27}">
      <dgm:prSet/>
      <dgm:spPr/>
      <dgm:t>
        <a:bodyPr/>
        <a:lstStyle/>
        <a:p>
          <a:r>
            <a:rPr lang="en-US" b="0" i="0" dirty="0"/>
            <a:t>How does P/D auto scale</a:t>
          </a:r>
          <a:endParaRPr lang="en-US" dirty="0"/>
        </a:p>
      </dgm:t>
    </dgm:pt>
    <dgm:pt modelId="{946D02BF-ADA1-4188-9F7A-7ECC7201110A}" type="parTrans" cxnId="{5E6DABF0-AF24-4A84-8669-D58C1BEA6B37}">
      <dgm:prSet/>
      <dgm:spPr/>
      <dgm:t>
        <a:bodyPr/>
        <a:lstStyle/>
        <a:p>
          <a:endParaRPr lang="en-US"/>
        </a:p>
      </dgm:t>
    </dgm:pt>
    <dgm:pt modelId="{51E0ABB6-2AAD-4456-9812-6B7C9B632AEF}" type="sibTrans" cxnId="{5E6DABF0-AF24-4A84-8669-D58C1BEA6B37}">
      <dgm:prSet/>
      <dgm:spPr/>
      <dgm:t>
        <a:bodyPr/>
        <a:lstStyle/>
        <a:p>
          <a:endParaRPr lang="en-US"/>
        </a:p>
      </dgm:t>
    </dgm:pt>
    <dgm:pt modelId="{6A4F5EA4-89B5-4266-8DE7-5F7C49BF4432}">
      <dgm:prSet/>
      <dgm:spPr/>
      <dgm:t>
        <a:bodyPr/>
        <a:lstStyle/>
        <a:p>
          <a:r>
            <a:rPr lang="en-US" b="0" i="0"/>
            <a:t>What comes next</a:t>
          </a:r>
          <a:endParaRPr lang="en-US"/>
        </a:p>
      </dgm:t>
    </dgm:pt>
    <dgm:pt modelId="{56EF1DEE-1169-4E6A-9A1E-E1C6F1D539FC}" type="parTrans" cxnId="{E9B4A946-567C-4C8E-A74F-36FCD6BFB1FC}">
      <dgm:prSet/>
      <dgm:spPr/>
      <dgm:t>
        <a:bodyPr/>
        <a:lstStyle/>
        <a:p>
          <a:endParaRPr lang="en-US"/>
        </a:p>
      </dgm:t>
    </dgm:pt>
    <dgm:pt modelId="{26177335-033A-472A-AB8F-F49EAE180A8E}" type="sibTrans" cxnId="{E9B4A946-567C-4C8E-A74F-36FCD6BFB1FC}">
      <dgm:prSet/>
      <dgm:spPr/>
      <dgm:t>
        <a:bodyPr/>
        <a:lstStyle/>
        <a:p>
          <a:endParaRPr lang="en-US"/>
        </a:p>
      </dgm:t>
    </dgm:pt>
    <dgm:pt modelId="{0839C05E-E5D9-4E99-A810-80D7D5323A91}" type="pres">
      <dgm:prSet presAssocID="{4019A22C-6702-4553-A4E5-F6384627C34D}" presName="vert0" presStyleCnt="0">
        <dgm:presLayoutVars>
          <dgm:dir/>
          <dgm:animOne val="branch"/>
          <dgm:animLvl val="lvl"/>
        </dgm:presLayoutVars>
      </dgm:prSet>
      <dgm:spPr/>
    </dgm:pt>
    <dgm:pt modelId="{4AB45A69-BCF6-45B5-B087-DE0790034E11}" type="pres">
      <dgm:prSet presAssocID="{F6179A96-FB08-4F12-8FC7-D4A247637A7E}" presName="thickLine" presStyleLbl="alignNode1" presStyleIdx="0" presStyleCnt="6"/>
      <dgm:spPr/>
    </dgm:pt>
    <dgm:pt modelId="{583A3A07-A38B-41B6-89BB-0B302DAED886}" type="pres">
      <dgm:prSet presAssocID="{F6179A96-FB08-4F12-8FC7-D4A247637A7E}" presName="horz1" presStyleCnt="0"/>
      <dgm:spPr/>
    </dgm:pt>
    <dgm:pt modelId="{28462BA5-7A38-4C40-9C4F-1F95293E9969}" type="pres">
      <dgm:prSet presAssocID="{F6179A96-FB08-4F12-8FC7-D4A247637A7E}" presName="tx1" presStyleLbl="revTx" presStyleIdx="0" presStyleCnt="6"/>
      <dgm:spPr/>
    </dgm:pt>
    <dgm:pt modelId="{C4659E0D-1A38-4807-9A43-66F48ADEF2DC}" type="pres">
      <dgm:prSet presAssocID="{F6179A96-FB08-4F12-8FC7-D4A247637A7E}" presName="vert1" presStyleCnt="0"/>
      <dgm:spPr/>
    </dgm:pt>
    <dgm:pt modelId="{05D7F976-F886-4351-A2FC-77D5B0014DF2}" type="pres">
      <dgm:prSet presAssocID="{684DCF20-C166-4FC4-AAA6-D7F336CE5188}" presName="thickLine" presStyleLbl="alignNode1" presStyleIdx="1" presStyleCnt="6"/>
      <dgm:spPr/>
    </dgm:pt>
    <dgm:pt modelId="{6DA174AF-A1A5-42C3-9322-26C93E938117}" type="pres">
      <dgm:prSet presAssocID="{684DCF20-C166-4FC4-AAA6-D7F336CE5188}" presName="horz1" presStyleCnt="0"/>
      <dgm:spPr/>
    </dgm:pt>
    <dgm:pt modelId="{3635B788-A54E-4F52-8C60-16CBF7672555}" type="pres">
      <dgm:prSet presAssocID="{684DCF20-C166-4FC4-AAA6-D7F336CE5188}" presName="tx1" presStyleLbl="revTx" presStyleIdx="1" presStyleCnt="6"/>
      <dgm:spPr/>
    </dgm:pt>
    <dgm:pt modelId="{940424B9-08EF-4628-A6D5-F3832F0B7F3C}" type="pres">
      <dgm:prSet presAssocID="{684DCF20-C166-4FC4-AAA6-D7F336CE5188}" presName="vert1" presStyleCnt="0"/>
      <dgm:spPr/>
    </dgm:pt>
    <dgm:pt modelId="{648C4BDA-5BEA-433A-A849-5BB24C35588C}" type="pres">
      <dgm:prSet presAssocID="{647D59D8-F992-4FEA-AF7E-A2E792A5F292}" presName="thickLine" presStyleLbl="alignNode1" presStyleIdx="2" presStyleCnt="6"/>
      <dgm:spPr/>
    </dgm:pt>
    <dgm:pt modelId="{71E9A0F1-BE8C-44F6-99BD-1C1EA6D2A8A7}" type="pres">
      <dgm:prSet presAssocID="{647D59D8-F992-4FEA-AF7E-A2E792A5F292}" presName="horz1" presStyleCnt="0"/>
      <dgm:spPr/>
    </dgm:pt>
    <dgm:pt modelId="{597E659A-C577-4506-8A68-DE11C7C64A33}" type="pres">
      <dgm:prSet presAssocID="{647D59D8-F992-4FEA-AF7E-A2E792A5F292}" presName="tx1" presStyleLbl="revTx" presStyleIdx="2" presStyleCnt="6"/>
      <dgm:spPr/>
    </dgm:pt>
    <dgm:pt modelId="{3C342D57-51E2-42B3-8341-8B1BF1E14997}" type="pres">
      <dgm:prSet presAssocID="{647D59D8-F992-4FEA-AF7E-A2E792A5F292}" presName="vert1" presStyleCnt="0"/>
      <dgm:spPr/>
    </dgm:pt>
    <dgm:pt modelId="{71302073-2EC4-4C31-BC3A-CEA00A974B0B}" type="pres">
      <dgm:prSet presAssocID="{75AAE208-C1AD-4CC9-9F70-3CAA236FE51C}" presName="thickLine" presStyleLbl="alignNode1" presStyleIdx="3" presStyleCnt="6"/>
      <dgm:spPr/>
    </dgm:pt>
    <dgm:pt modelId="{BF525C7E-F337-42E9-B755-662303022DCD}" type="pres">
      <dgm:prSet presAssocID="{75AAE208-C1AD-4CC9-9F70-3CAA236FE51C}" presName="horz1" presStyleCnt="0"/>
      <dgm:spPr/>
    </dgm:pt>
    <dgm:pt modelId="{85ECF1A5-AC62-4111-AA0F-8CA2F18C9346}" type="pres">
      <dgm:prSet presAssocID="{75AAE208-C1AD-4CC9-9F70-3CAA236FE51C}" presName="tx1" presStyleLbl="revTx" presStyleIdx="3" presStyleCnt="6"/>
      <dgm:spPr/>
    </dgm:pt>
    <dgm:pt modelId="{DA0C3119-CFCF-447D-B6B3-F46326927B47}" type="pres">
      <dgm:prSet presAssocID="{75AAE208-C1AD-4CC9-9F70-3CAA236FE51C}" presName="vert1" presStyleCnt="0"/>
      <dgm:spPr/>
    </dgm:pt>
    <dgm:pt modelId="{8B1DAD49-0802-4123-8751-7911B88CCC27}" type="pres">
      <dgm:prSet presAssocID="{F26A0DFB-3FD3-407F-93D3-0136C781FE27}" presName="thickLine" presStyleLbl="alignNode1" presStyleIdx="4" presStyleCnt="6"/>
      <dgm:spPr/>
    </dgm:pt>
    <dgm:pt modelId="{1805B2A5-3666-4098-961C-B659F399EBE8}" type="pres">
      <dgm:prSet presAssocID="{F26A0DFB-3FD3-407F-93D3-0136C781FE27}" presName="horz1" presStyleCnt="0"/>
      <dgm:spPr/>
    </dgm:pt>
    <dgm:pt modelId="{F53770F9-1F91-4111-AC93-8C7B0E431D14}" type="pres">
      <dgm:prSet presAssocID="{F26A0DFB-3FD3-407F-93D3-0136C781FE27}" presName="tx1" presStyleLbl="revTx" presStyleIdx="4" presStyleCnt="6"/>
      <dgm:spPr/>
    </dgm:pt>
    <dgm:pt modelId="{A9EFFFC1-8460-476B-B4B6-08108CD47548}" type="pres">
      <dgm:prSet presAssocID="{F26A0DFB-3FD3-407F-93D3-0136C781FE27}" presName="vert1" presStyleCnt="0"/>
      <dgm:spPr/>
    </dgm:pt>
    <dgm:pt modelId="{5742A4F9-2B50-4971-83E9-0A5DABFBAF69}" type="pres">
      <dgm:prSet presAssocID="{6A4F5EA4-89B5-4266-8DE7-5F7C49BF4432}" presName="thickLine" presStyleLbl="alignNode1" presStyleIdx="5" presStyleCnt="6"/>
      <dgm:spPr/>
    </dgm:pt>
    <dgm:pt modelId="{F3A94397-9147-464D-B980-025FED510606}" type="pres">
      <dgm:prSet presAssocID="{6A4F5EA4-89B5-4266-8DE7-5F7C49BF4432}" presName="horz1" presStyleCnt="0"/>
      <dgm:spPr/>
    </dgm:pt>
    <dgm:pt modelId="{4CF1FDAC-8C13-48DE-8A19-25A2BCEEDF02}" type="pres">
      <dgm:prSet presAssocID="{6A4F5EA4-89B5-4266-8DE7-5F7C49BF4432}" presName="tx1" presStyleLbl="revTx" presStyleIdx="5" presStyleCnt="6"/>
      <dgm:spPr/>
    </dgm:pt>
    <dgm:pt modelId="{82F83A6B-858C-4A78-B7C7-C6EACF7713F1}" type="pres">
      <dgm:prSet presAssocID="{6A4F5EA4-89B5-4266-8DE7-5F7C49BF4432}" presName="vert1" presStyleCnt="0"/>
      <dgm:spPr/>
    </dgm:pt>
  </dgm:ptLst>
  <dgm:cxnLst>
    <dgm:cxn modelId="{F545890B-4B38-4B42-AF65-4A136CA783F6}" type="presOf" srcId="{75AAE208-C1AD-4CC9-9F70-3CAA236FE51C}" destId="{85ECF1A5-AC62-4111-AA0F-8CA2F18C9346}" srcOrd="0" destOrd="0" presId="urn:microsoft.com/office/officeart/2008/layout/LinedList"/>
    <dgm:cxn modelId="{7DED4325-D9DB-424C-87D8-3E5DCD3CD8C2}" srcId="{4019A22C-6702-4553-A4E5-F6384627C34D}" destId="{684DCF20-C166-4FC4-AAA6-D7F336CE5188}" srcOrd="1" destOrd="0" parTransId="{B127EC52-5914-418C-BF51-718BD3305111}" sibTransId="{90A92338-283C-4406-8EA8-75038FF0BCCB}"/>
    <dgm:cxn modelId="{0F36BB27-20FA-4242-99C3-3AE1A8979594}" type="presOf" srcId="{F6179A96-FB08-4F12-8FC7-D4A247637A7E}" destId="{28462BA5-7A38-4C40-9C4F-1F95293E9969}" srcOrd="0" destOrd="0" presId="urn:microsoft.com/office/officeart/2008/layout/LinedList"/>
    <dgm:cxn modelId="{E9B4A946-567C-4C8E-A74F-36FCD6BFB1FC}" srcId="{4019A22C-6702-4553-A4E5-F6384627C34D}" destId="{6A4F5EA4-89B5-4266-8DE7-5F7C49BF4432}" srcOrd="5" destOrd="0" parTransId="{56EF1DEE-1169-4E6A-9A1E-E1C6F1D539FC}" sibTransId="{26177335-033A-472A-AB8F-F49EAE180A8E}"/>
    <dgm:cxn modelId="{9088834F-46B3-4C1D-847F-526889A28717}" type="presOf" srcId="{4019A22C-6702-4553-A4E5-F6384627C34D}" destId="{0839C05E-E5D9-4E99-A810-80D7D5323A91}" srcOrd="0" destOrd="0" presId="urn:microsoft.com/office/officeart/2008/layout/LinedList"/>
    <dgm:cxn modelId="{31278B97-0A81-42CB-920C-776F5AAF2C82}" srcId="{4019A22C-6702-4553-A4E5-F6384627C34D}" destId="{75AAE208-C1AD-4CC9-9F70-3CAA236FE51C}" srcOrd="3" destOrd="0" parTransId="{877CC7DC-8753-4EE6-97FA-DDA62A2A1464}" sibTransId="{26340508-F9C4-43AF-98F1-FBB8BC691B55}"/>
    <dgm:cxn modelId="{F32EF5B6-0774-44BF-A32E-B59D286C10A2}" type="presOf" srcId="{6A4F5EA4-89B5-4266-8DE7-5F7C49BF4432}" destId="{4CF1FDAC-8C13-48DE-8A19-25A2BCEEDF02}" srcOrd="0" destOrd="0" presId="urn:microsoft.com/office/officeart/2008/layout/LinedList"/>
    <dgm:cxn modelId="{05F812C0-9469-44F9-96FD-F3C8C3E65962}" srcId="{4019A22C-6702-4553-A4E5-F6384627C34D}" destId="{F6179A96-FB08-4F12-8FC7-D4A247637A7E}" srcOrd="0" destOrd="0" parTransId="{8C39974D-B1B3-402D-B23C-EBC0CDDCFDC5}" sibTransId="{4BC765CE-CC1A-4608-81DB-BDCEFEBECF95}"/>
    <dgm:cxn modelId="{55A56DD1-3E7E-4FB9-9E28-2218A8AA4C36}" type="presOf" srcId="{647D59D8-F992-4FEA-AF7E-A2E792A5F292}" destId="{597E659A-C577-4506-8A68-DE11C7C64A33}" srcOrd="0" destOrd="0" presId="urn:microsoft.com/office/officeart/2008/layout/LinedList"/>
    <dgm:cxn modelId="{D69787D7-6769-4BF0-8CE3-8252CA317676}" type="presOf" srcId="{684DCF20-C166-4FC4-AAA6-D7F336CE5188}" destId="{3635B788-A54E-4F52-8C60-16CBF7672555}" srcOrd="0" destOrd="0" presId="urn:microsoft.com/office/officeart/2008/layout/LinedList"/>
    <dgm:cxn modelId="{121064DD-5843-4073-B8B8-95F359219B5E}" type="presOf" srcId="{F26A0DFB-3FD3-407F-93D3-0136C781FE27}" destId="{F53770F9-1F91-4111-AC93-8C7B0E431D14}" srcOrd="0" destOrd="0" presId="urn:microsoft.com/office/officeart/2008/layout/LinedList"/>
    <dgm:cxn modelId="{83F493E2-5B1C-41D0-BCE2-68E2D101EAEE}" srcId="{4019A22C-6702-4553-A4E5-F6384627C34D}" destId="{647D59D8-F992-4FEA-AF7E-A2E792A5F292}" srcOrd="2" destOrd="0" parTransId="{0835BC66-97DE-4F83-966B-AC146821383C}" sibTransId="{58691E8A-10F1-4DF6-8004-0FEB4609038D}"/>
    <dgm:cxn modelId="{5E6DABF0-AF24-4A84-8669-D58C1BEA6B37}" srcId="{4019A22C-6702-4553-A4E5-F6384627C34D}" destId="{F26A0DFB-3FD3-407F-93D3-0136C781FE27}" srcOrd="4" destOrd="0" parTransId="{946D02BF-ADA1-4188-9F7A-7ECC7201110A}" sibTransId="{51E0ABB6-2AAD-4456-9812-6B7C9B632AEF}"/>
    <dgm:cxn modelId="{A834791F-30DB-4056-B3CA-F5C0FF1A4BF2}" type="presParOf" srcId="{0839C05E-E5D9-4E99-A810-80D7D5323A91}" destId="{4AB45A69-BCF6-45B5-B087-DE0790034E11}" srcOrd="0" destOrd="0" presId="urn:microsoft.com/office/officeart/2008/layout/LinedList"/>
    <dgm:cxn modelId="{21F36B45-3F51-42DF-B0AA-C4F71587991B}" type="presParOf" srcId="{0839C05E-E5D9-4E99-A810-80D7D5323A91}" destId="{583A3A07-A38B-41B6-89BB-0B302DAED886}" srcOrd="1" destOrd="0" presId="urn:microsoft.com/office/officeart/2008/layout/LinedList"/>
    <dgm:cxn modelId="{D6E50E13-1231-45CC-86F6-A01EBCBE16A7}" type="presParOf" srcId="{583A3A07-A38B-41B6-89BB-0B302DAED886}" destId="{28462BA5-7A38-4C40-9C4F-1F95293E9969}" srcOrd="0" destOrd="0" presId="urn:microsoft.com/office/officeart/2008/layout/LinedList"/>
    <dgm:cxn modelId="{F8E3E152-B4C1-4A4F-866A-CE5673B5715E}" type="presParOf" srcId="{583A3A07-A38B-41B6-89BB-0B302DAED886}" destId="{C4659E0D-1A38-4807-9A43-66F48ADEF2DC}" srcOrd="1" destOrd="0" presId="urn:microsoft.com/office/officeart/2008/layout/LinedList"/>
    <dgm:cxn modelId="{16060255-2499-45DD-8DC1-7590A13295A5}" type="presParOf" srcId="{0839C05E-E5D9-4E99-A810-80D7D5323A91}" destId="{05D7F976-F886-4351-A2FC-77D5B0014DF2}" srcOrd="2" destOrd="0" presId="urn:microsoft.com/office/officeart/2008/layout/LinedList"/>
    <dgm:cxn modelId="{4E41BABC-713E-4DB2-ADB3-4D46D4F91D21}" type="presParOf" srcId="{0839C05E-E5D9-4E99-A810-80D7D5323A91}" destId="{6DA174AF-A1A5-42C3-9322-26C93E938117}" srcOrd="3" destOrd="0" presId="urn:microsoft.com/office/officeart/2008/layout/LinedList"/>
    <dgm:cxn modelId="{4DC2BE8D-CBAE-412D-895B-5ABAB0CC413E}" type="presParOf" srcId="{6DA174AF-A1A5-42C3-9322-26C93E938117}" destId="{3635B788-A54E-4F52-8C60-16CBF7672555}" srcOrd="0" destOrd="0" presId="urn:microsoft.com/office/officeart/2008/layout/LinedList"/>
    <dgm:cxn modelId="{44E60BB1-E635-4BDF-B862-A6453C86283D}" type="presParOf" srcId="{6DA174AF-A1A5-42C3-9322-26C93E938117}" destId="{940424B9-08EF-4628-A6D5-F3832F0B7F3C}" srcOrd="1" destOrd="0" presId="urn:microsoft.com/office/officeart/2008/layout/LinedList"/>
    <dgm:cxn modelId="{E22B8F0B-B039-4701-BBA4-D72F5592374E}" type="presParOf" srcId="{0839C05E-E5D9-4E99-A810-80D7D5323A91}" destId="{648C4BDA-5BEA-433A-A849-5BB24C35588C}" srcOrd="4" destOrd="0" presId="urn:microsoft.com/office/officeart/2008/layout/LinedList"/>
    <dgm:cxn modelId="{04C64C32-BA60-4DFE-AE6C-ECD599AD7396}" type="presParOf" srcId="{0839C05E-E5D9-4E99-A810-80D7D5323A91}" destId="{71E9A0F1-BE8C-44F6-99BD-1C1EA6D2A8A7}" srcOrd="5" destOrd="0" presId="urn:microsoft.com/office/officeart/2008/layout/LinedList"/>
    <dgm:cxn modelId="{EF8B4E8C-197A-4E90-A969-4CEFBAC8A183}" type="presParOf" srcId="{71E9A0F1-BE8C-44F6-99BD-1C1EA6D2A8A7}" destId="{597E659A-C577-4506-8A68-DE11C7C64A33}" srcOrd="0" destOrd="0" presId="urn:microsoft.com/office/officeart/2008/layout/LinedList"/>
    <dgm:cxn modelId="{A65619ED-BD0C-41DD-902D-5E8E20CDAC0C}" type="presParOf" srcId="{71E9A0F1-BE8C-44F6-99BD-1C1EA6D2A8A7}" destId="{3C342D57-51E2-42B3-8341-8B1BF1E14997}" srcOrd="1" destOrd="0" presId="urn:microsoft.com/office/officeart/2008/layout/LinedList"/>
    <dgm:cxn modelId="{669DABE2-F81C-467A-A5B3-EEB54A2E27B5}" type="presParOf" srcId="{0839C05E-E5D9-4E99-A810-80D7D5323A91}" destId="{71302073-2EC4-4C31-BC3A-CEA00A974B0B}" srcOrd="6" destOrd="0" presId="urn:microsoft.com/office/officeart/2008/layout/LinedList"/>
    <dgm:cxn modelId="{F5017A92-BC80-4FA2-BFC5-23B4A1306B23}" type="presParOf" srcId="{0839C05E-E5D9-4E99-A810-80D7D5323A91}" destId="{BF525C7E-F337-42E9-B755-662303022DCD}" srcOrd="7" destOrd="0" presId="urn:microsoft.com/office/officeart/2008/layout/LinedList"/>
    <dgm:cxn modelId="{189A63AC-0777-440A-A019-7C15330437BE}" type="presParOf" srcId="{BF525C7E-F337-42E9-B755-662303022DCD}" destId="{85ECF1A5-AC62-4111-AA0F-8CA2F18C9346}" srcOrd="0" destOrd="0" presId="urn:microsoft.com/office/officeart/2008/layout/LinedList"/>
    <dgm:cxn modelId="{8270BA8C-0C07-4AE0-ACB7-87EC4D14F123}" type="presParOf" srcId="{BF525C7E-F337-42E9-B755-662303022DCD}" destId="{DA0C3119-CFCF-447D-B6B3-F46326927B47}" srcOrd="1" destOrd="0" presId="urn:microsoft.com/office/officeart/2008/layout/LinedList"/>
    <dgm:cxn modelId="{01BC6F47-1B65-4B0D-A07D-36A1DE8DB94D}" type="presParOf" srcId="{0839C05E-E5D9-4E99-A810-80D7D5323A91}" destId="{8B1DAD49-0802-4123-8751-7911B88CCC27}" srcOrd="8" destOrd="0" presId="urn:microsoft.com/office/officeart/2008/layout/LinedList"/>
    <dgm:cxn modelId="{2BCD0928-FEF0-4E5C-A503-3D9FBC67E773}" type="presParOf" srcId="{0839C05E-E5D9-4E99-A810-80D7D5323A91}" destId="{1805B2A5-3666-4098-961C-B659F399EBE8}" srcOrd="9" destOrd="0" presId="urn:microsoft.com/office/officeart/2008/layout/LinedList"/>
    <dgm:cxn modelId="{32C8AD0B-0750-497B-9E6B-DA263714CD98}" type="presParOf" srcId="{1805B2A5-3666-4098-961C-B659F399EBE8}" destId="{F53770F9-1F91-4111-AC93-8C7B0E431D14}" srcOrd="0" destOrd="0" presId="urn:microsoft.com/office/officeart/2008/layout/LinedList"/>
    <dgm:cxn modelId="{761A3DE1-B8B1-4D50-BF67-1E5C1FC04EBA}" type="presParOf" srcId="{1805B2A5-3666-4098-961C-B659F399EBE8}" destId="{A9EFFFC1-8460-476B-B4B6-08108CD47548}" srcOrd="1" destOrd="0" presId="urn:microsoft.com/office/officeart/2008/layout/LinedList"/>
    <dgm:cxn modelId="{316DEC10-462D-4812-AE32-2F246DE9091E}" type="presParOf" srcId="{0839C05E-E5D9-4E99-A810-80D7D5323A91}" destId="{5742A4F9-2B50-4971-83E9-0A5DABFBAF69}" srcOrd="10" destOrd="0" presId="urn:microsoft.com/office/officeart/2008/layout/LinedList"/>
    <dgm:cxn modelId="{A98D0B13-1DBE-45F6-8044-333FB22A74A8}" type="presParOf" srcId="{0839C05E-E5D9-4E99-A810-80D7D5323A91}" destId="{F3A94397-9147-464D-B980-025FED510606}" srcOrd="11" destOrd="0" presId="urn:microsoft.com/office/officeart/2008/layout/LinedList"/>
    <dgm:cxn modelId="{17E72731-E105-418D-81DC-04995CF69482}" type="presParOf" srcId="{F3A94397-9147-464D-B980-025FED510606}" destId="{4CF1FDAC-8C13-48DE-8A19-25A2BCEEDF02}" srcOrd="0" destOrd="0" presId="urn:microsoft.com/office/officeart/2008/layout/LinedList"/>
    <dgm:cxn modelId="{0E8C99DC-6040-4ACD-99C2-3145FB7DED78}" type="presParOf" srcId="{F3A94397-9147-464D-B980-025FED510606}" destId="{82F83A6B-858C-4A78-B7C7-C6EACF7713F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B45A69-BCF6-45B5-B087-DE0790034E11}">
      <dsp:nvSpPr>
        <dsp:cNvPr id="0" name=""/>
        <dsp:cNvSpPr/>
      </dsp:nvSpPr>
      <dsp:spPr>
        <a:xfrm>
          <a:off x="0" y="1593"/>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8462BA5-7A38-4C40-9C4F-1F95293E9969}">
      <dsp:nvSpPr>
        <dsp:cNvPr id="0" name=""/>
        <dsp:cNvSpPr/>
      </dsp:nvSpPr>
      <dsp:spPr>
        <a:xfrm>
          <a:off x="0" y="1593"/>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dirty="0"/>
            <a:t>Why separate prefill and decode?</a:t>
          </a:r>
          <a:endParaRPr lang="en-US" sz="2600" kern="1200" dirty="0"/>
        </a:p>
      </dsp:txBody>
      <dsp:txXfrm>
        <a:off x="0" y="1593"/>
        <a:ext cx="7886700" cy="543536"/>
      </dsp:txXfrm>
    </dsp:sp>
    <dsp:sp modelId="{05D7F976-F886-4351-A2FC-77D5B0014DF2}">
      <dsp:nvSpPr>
        <dsp:cNvPr id="0" name=""/>
        <dsp:cNvSpPr/>
      </dsp:nvSpPr>
      <dsp:spPr>
        <a:xfrm>
          <a:off x="0" y="545130"/>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635B788-A54E-4F52-8C60-16CBF7672555}">
      <dsp:nvSpPr>
        <dsp:cNvPr id="0" name=""/>
        <dsp:cNvSpPr/>
      </dsp:nvSpPr>
      <dsp:spPr>
        <a:xfrm>
          <a:off x="0" y="545130"/>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dirty="0">
              <a:solidFill>
                <a:srgbClr val="000000">
                  <a:hueOff val="0"/>
                  <a:satOff val="0"/>
                  <a:lumOff val="0"/>
                  <a:alphaOff val="0"/>
                </a:srgbClr>
              </a:solidFill>
              <a:latin typeface="Arial"/>
              <a:ea typeface="+mn-ea"/>
              <a:cs typeface="+mn-cs"/>
            </a:rPr>
            <a:t>Why</a:t>
          </a:r>
          <a:r>
            <a:rPr lang="en-US" sz="1800" b="0" i="0" kern="1200" dirty="0"/>
            <a:t> </a:t>
          </a:r>
          <a:r>
            <a:rPr lang="en-US" sz="2600" b="0" i="0" kern="1200" dirty="0">
              <a:solidFill>
                <a:srgbClr val="000000">
                  <a:hueOff val="0"/>
                  <a:satOff val="0"/>
                  <a:lumOff val="0"/>
                  <a:alphaOff val="0"/>
                </a:srgbClr>
              </a:solidFill>
              <a:latin typeface="Arial"/>
              <a:ea typeface="+mn-ea"/>
              <a:cs typeface="+mn-cs"/>
            </a:rPr>
            <a:t>is P/D still </a:t>
          </a:r>
          <a:r>
            <a:rPr lang="en-US" altLang="zh-CN" sz="2600" b="0" i="0" kern="1200" dirty="0">
              <a:solidFill>
                <a:srgbClr val="000000">
                  <a:hueOff val="0"/>
                  <a:satOff val="0"/>
                  <a:lumOff val="0"/>
                  <a:alphaOff val="0"/>
                </a:srgbClr>
              </a:solidFill>
              <a:latin typeface="Arial"/>
              <a:ea typeface="+mn-ea"/>
              <a:cs typeface="+mn-cs"/>
            </a:rPr>
            <a:t>operationally</a:t>
          </a:r>
          <a:r>
            <a:rPr lang="en-US" sz="2600" b="0" i="0" kern="1200" dirty="0">
              <a:solidFill>
                <a:srgbClr val="000000">
                  <a:hueOff val="0"/>
                  <a:satOff val="0"/>
                  <a:lumOff val="0"/>
                  <a:alphaOff val="0"/>
                </a:srgbClr>
              </a:solidFill>
              <a:latin typeface="Arial"/>
              <a:ea typeface="+mn-ea"/>
              <a:cs typeface="+mn-cs"/>
            </a:rPr>
            <a:t> hard on Kubernetes</a:t>
          </a:r>
          <a:r>
            <a:rPr lang="en-US" sz="1800" b="0" i="0" kern="1200" dirty="0"/>
            <a:t>?</a:t>
          </a:r>
          <a:endParaRPr lang="en-US" sz="1800" kern="1200" dirty="0"/>
        </a:p>
      </dsp:txBody>
      <dsp:txXfrm>
        <a:off x="0" y="545130"/>
        <a:ext cx="7886700" cy="543536"/>
      </dsp:txXfrm>
    </dsp:sp>
    <dsp:sp modelId="{648C4BDA-5BEA-433A-A849-5BB24C35588C}">
      <dsp:nvSpPr>
        <dsp:cNvPr id="0" name=""/>
        <dsp:cNvSpPr/>
      </dsp:nvSpPr>
      <dsp:spPr>
        <a:xfrm>
          <a:off x="0" y="1088667"/>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97E659A-C577-4506-8A68-DE11C7C64A33}">
      <dsp:nvSpPr>
        <dsp:cNvPr id="0" name=""/>
        <dsp:cNvSpPr/>
      </dsp:nvSpPr>
      <dsp:spPr>
        <a:xfrm>
          <a:off x="0" y="1088667"/>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dirty="0"/>
            <a:t>KAITO + </a:t>
          </a:r>
          <a:r>
            <a:rPr lang="en-US" sz="2600" b="0" i="0" kern="1200" dirty="0" err="1"/>
            <a:t>llm</a:t>
          </a:r>
          <a:r>
            <a:rPr lang="en-US" sz="2600" b="0" i="0" kern="1200" dirty="0"/>
            <a:t>-d architecture</a:t>
          </a:r>
          <a:endParaRPr lang="en-US" sz="2600" kern="1200" dirty="0"/>
        </a:p>
      </dsp:txBody>
      <dsp:txXfrm>
        <a:off x="0" y="1088667"/>
        <a:ext cx="7886700" cy="543536"/>
      </dsp:txXfrm>
    </dsp:sp>
    <dsp:sp modelId="{71302073-2EC4-4C31-BC3A-CEA00A974B0B}">
      <dsp:nvSpPr>
        <dsp:cNvPr id="0" name=""/>
        <dsp:cNvSpPr/>
      </dsp:nvSpPr>
      <dsp:spPr>
        <a:xfrm>
          <a:off x="0" y="1632204"/>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5ECF1A5-AC62-4111-AA0F-8CA2F18C9346}">
      <dsp:nvSpPr>
        <dsp:cNvPr id="0" name=""/>
        <dsp:cNvSpPr/>
      </dsp:nvSpPr>
      <dsp:spPr>
        <a:xfrm>
          <a:off x="0" y="1632204"/>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dirty="0"/>
            <a:t>How KAITO + </a:t>
          </a:r>
          <a:r>
            <a:rPr lang="en-US" sz="2600" b="0" i="0" kern="1200" dirty="0" err="1"/>
            <a:t>llm</a:t>
          </a:r>
          <a:r>
            <a:rPr lang="en-US" sz="2600" b="0" i="0" kern="1200" dirty="0"/>
            <a:t>-d supports P/D</a:t>
          </a:r>
          <a:endParaRPr lang="en-US" sz="2600" kern="1200" dirty="0"/>
        </a:p>
      </dsp:txBody>
      <dsp:txXfrm>
        <a:off x="0" y="1632204"/>
        <a:ext cx="7886700" cy="543536"/>
      </dsp:txXfrm>
    </dsp:sp>
    <dsp:sp modelId="{8B1DAD49-0802-4123-8751-7911B88CCC27}">
      <dsp:nvSpPr>
        <dsp:cNvPr id="0" name=""/>
        <dsp:cNvSpPr/>
      </dsp:nvSpPr>
      <dsp:spPr>
        <a:xfrm>
          <a:off x="0" y="2175740"/>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53770F9-1F91-4111-AC93-8C7B0E431D14}">
      <dsp:nvSpPr>
        <dsp:cNvPr id="0" name=""/>
        <dsp:cNvSpPr/>
      </dsp:nvSpPr>
      <dsp:spPr>
        <a:xfrm>
          <a:off x="0" y="2175740"/>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dirty="0"/>
            <a:t>How does P/D auto scale</a:t>
          </a:r>
          <a:endParaRPr lang="en-US" sz="2600" kern="1200" dirty="0"/>
        </a:p>
      </dsp:txBody>
      <dsp:txXfrm>
        <a:off x="0" y="2175740"/>
        <a:ext cx="7886700" cy="543536"/>
      </dsp:txXfrm>
    </dsp:sp>
    <dsp:sp modelId="{5742A4F9-2B50-4971-83E9-0A5DABFBAF69}">
      <dsp:nvSpPr>
        <dsp:cNvPr id="0" name=""/>
        <dsp:cNvSpPr/>
      </dsp:nvSpPr>
      <dsp:spPr>
        <a:xfrm>
          <a:off x="0" y="2719277"/>
          <a:ext cx="78867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CF1FDAC-8C13-48DE-8A19-25A2BCEEDF02}">
      <dsp:nvSpPr>
        <dsp:cNvPr id="0" name=""/>
        <dsp:cNvSpPr/>
      </dsp:nvSpPr>
      <dsp:spPr>
        <a:xfrm>
          <a:off x="0" y="2719277"/>
          <a:ext cx="7886700" cy="543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0" i="0" kern="1200"/>
            <a:t>What comes next</a:t>
          </a:r>
          <a:endParaRPr lang="en-US" sz="2600" kern="1200"/>
        </a:p>
      </dsp:txBody>
      <dsp:txXfrm>
        <a:off x="0" y="2719277"/>
        <a:ext cx="7886700" cy="5435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Speaker script</a:t>
            </a:r>
          </a:p>
          <a:p/>
          <a:p>
            <a:r>
              <a:t>Welcome, everyone. Thanks for joining us at Cloud Native AI and Inference Day North America. Today we will look at how Kubernetes can help us operate large language model inference when prompt processing and token generation need different resources.</a:t>
            </a:r>
          </a:p>
        </p:txBody>
      </p:sp>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Speaker script</a:t>
            </a:r>
          </a:p>
          <a:p/>
          <a:p>
            <a:r>
              <a:t>Our talk is called Prefill Here, Decode There. We will explain why separating these two phases can help, what it costs, and how KAITO and llm-d fit together to make the topology manageable on Kubernetes. The goal is not separation for its own sake. It is better control over capacity while protecting the experience users actually see.</a:t>
            </a: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Speaker script</a:t>
            </a:r>
          </a:p>
          <a:p/>
          <a:p>
            <a:r>
              <a:t>We are Andy Zhang and Linbo He, both principal software engineers at Microsoft. Andy maintains KAITO and Container Storage Interface drivers. Linbo maintains KAITO and OpenYurt. We will connect the inference concepts to the Kubernetes resources and operational decisions that platform teams need to understand.</a:t>
            </a: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873DB8F0-69AE-A128-084F-BA75E68FA44E}"/>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4AEF8EC1-9D83-9206-6FD4-1256E57E7B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Speaker script</a:t>
            </a:r>
          </a:p>
          <a:p/>
          <a:p>
            <a:r>
              <a:t>We will cover six topics: foundations; why prefill/decode disaggregation; KAITO and llm-d; how KAITO and llm-d support prefill/decode disaggregation through topology, routing, and KV transfer; per-role autoscaling; and finally, when to use prefill/decode disaggregation and what comes next. We will distinguish existing capabilities from proposed integration work throughout.</a:t>
            </a:r>
          </a:p>
        </p:txBody>
      </p:sp>
      <p:sp>
        <p:nvSpPr>
          <p:cNvPr id="100" name="Google Shape;100;p3:notes">
            <a:extLst>
              <a:ext uri="{FF2B5EF4-FFF2-40B4-BE49-F238E27FC236}">
                <a16:creationId xmlns:a16="http://schemas.microsoft.com/office/drawing/2014/main" id="{A1D61140-BECF-FCA5-B5A6-3748E8BA59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7269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Let's start with what the model actually does. This teaching example treats each word and punctuation mark as a token; a real tokenizer behaves differently. Prefill processes the five prompt positions with causal attention and creates their per-layer keys and values, or KV. The final prompt position selects the first output token, Kubernetes. Selecting that token does not add its KV to the cache. That happens when the next step consumes it. This is an authored example, not a captured model response.</a:t>
            </a:r>
          </a:p>
          <a:p/>
          <a:p>
            <a:r>
              <a:t>References</a:t>
            </a:r>
          </a:p>
          <a:p>
            <a:r>
              <a:t>https://huggingface.co/docs/transformers/en/cache_explanation</a:t>
            </a:r>
          </a:p>
          <a:p>
            <a:r>
              <a:t>https://docs.nvidia.com/dynamo/dev/kubernetes/disaggregated-serving/overview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Decode now consumes Kubernetes, reads the cached history, adds that consumed token's keys and values, and selects helps. Then it repeats. Caching avoids recomputing old keys and values, not all attention work. On the client timeline, time to first token, or TTFT, is the initial wait. Inter-token latency, or ITL, is each subsequent gap. Average time per output token summarizes the later intervals; it is not interchangeable with an individual gap or its percentile. The timeline is schematic, not measured.</a:t>
            </a:r>
          </a:p>
          <a:p/>
          <a:p>
            <a:r>
              <a:t>References</a:t>
            </a:r>
          </a:p>
          <a:p>
            <a:r>
              <a:t>https://huggingface.co/docs/transformers/en/cache_explanation</a:t>
            </a:r>
          </a:p>
          <a:p>
            <a:r>
              <a:t>https://docs.vllm.ai/en/stable/usage/metrics/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These phases create two different performance targets. Prefill often stresses compute and mainly shapes time to first token. Decode often stresses memory bandwidth and shapes the pace of the stream. Neither relationship is exclusive: queueing, scheduling, transfer, and delivery matter too. Average time per output token, or TPOT, describes the per-request pace after the first token. Our ultimate target is service-level objective, or SLO, goodput: requests per second that meet both latency targets, rather than simply maximizing aggregate tokens per second.</a:t>
            </a:r>
          </a:p>
          <a:p/>
          <a:p>
            <a:r>
              <a:t>References</a:t>
            </a:r>
          </a:p>
          <a:p>
            <a:r>
              <a:t>https://docs.vllm.ai/en/latest/design/metrics/</a:t>
            </a:r>
          </a:p>
          <a:p>
            <a:r>
              <a:t>https://docs.vllm.ai/en/latest/benchmarking/cli/#understanding-the-latency-metrics</a:t>
            </a:r>
          </a:p>
          <a:p>
            <a:r>
              <a:t>https://docs.nvidia.com/dynamo/dev/kubernetes/disaggregated-serving/overview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In aggregated serving, both phases share a GPU pool and a scaling boundary. That is a sensible starting point, and continuous batching or chunked prefill can make it work well. The operational tension appears when prompt bursts compete with ongoing generation. Adding capacity also adds both phases together, even if only one is under pressure. The issue is therefore not that aggregated serving is inherently slow. It is that capacity decisions remain coupled.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Here, A is an ongoing request and B is a new arrival. Each D block represents a decode execution step, not a measured token duration. On the shared GPU, B's prefill can interrupt A. Chunked prefill can reduce that pause. Separate workers remove the direct execution conflict, but B still needs a KV handoff, and queueing or shared infrastructure can still affect latency. This is a conceptual schedule, not an equal-budget benchmark or a promise of perfectly even token delivery.</a:t>
            </a:r>
          </a:p>
          <a:p/>
          <a:p>
            <a:r>
              <a:t>References</a:t>
            </a:r>
          </a:p>
          <a:p>
            <a:r>
              <a:t>https://developer.nvidia.com/blog/introducing-nvidia-dynamo-a-low-latency-distributed-inference-framework-for-scaling-reasoning-ai-models/</a:t>
            </a:r>
          </a:p>
          <a:p>
            <a:r>
              <a:t>https://vllm.ai/blog/2025-09-05-anatomy-of-vllm</a:t>
            </a:r>
          </a:p>
          <a:p>
            <a:r>
              <a:t>https://docs.nvidia.com/dynamo/kubernetes/disaggregated-serving/overview</a:t>
            </a:r>
          </a:p>
          <a:p>
            <a:r>
              <a:t>https://docs.vllm.ai/en/latest/features/disagg_prefill/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batching opportunities are different too. Prefill can process many prompt positions together while preserving causal attention. Ordinary decode advances one newest input position for each independent request, so it finds parallelism across active sequences. More decode concurrency can improve aggregate efficiency, but it also consumes KV memory and may lengthen each iteration. Generation remains sequential within an individual request in this example. We still have to batch within the latency and memory budgets; more concurrency is not automatically better.</a:t>
            </a:r>
          </a:p>
          <a:p/>
          <a:p>
            <a:r>
              <a:t>References</a:t>
            </a:r>
          </a:p>
          <a:p>
            <a:r>
              <a:t>https://developer.nvidia.com/blog/introducing-nvidia-dynamo-a-low-latency-distributed-inference-framework-for-scaling-reasoning-ai-models/</a:t>
            </a:r>
          </a:p>
          <a:p>
            <a:r>
              <a:t>https://vllm.ai/blog/2025-09-05-anatomy-of-vllm</a:t>
            </a:r>
          </a:p>
          <a:p>
            <a:r>
              <a:t>https://docs.nvidia.com/dynamo/kubernetes/disaggregated-serving/overview</a:t>
            </a:r>
          </a:p>
          <a:p>
            <a:r>
              <a:t>https://docs.vllm.ai/en/latest/features/disagg_prefill/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This is the central motivation: two capacity decisions instead of one forced compromise. Prompt-heavy demand may need different replica counts, batching, or tensor parallelism from generation-heavy demand. Tensor parallelism splits model computation across devices. The available choices depend on runtime and connector compatibility, so separate pools do not imply that every hardware combination works. Separation is worthwhile only when the measured benefit exceeds KV transfer, duplicated model weights, and the operational cost of managing two pools.</a:t>
            </a:r>
          </a:p>
          <a:p/>
          <a:p>
            <a:r>
              <a:t>References</a:t>
            </a:r>
          </a:p>
          <a:p>
            <a:r>
              <a:t>https://docs.nvidia.com/dynamo/dev/kubernetes/disaggregated-serving/overview</a:t>
            </a:r>
          </a:p>
          <a:p>
            <a:r>
              <a:t>https://arxiv.org/html/2401.09670v2#S2.SS3</a:t>
            </a:r>
          </a:p>
          <a:p>
            <a:r>
              <a:t>https://kaito-project.github.io/kaito/docs/prefill-decode-disaggregation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resulting topology has a prefill pool and a decode pool, with a new transfer boundary between them. Prefill capacity follows prompt pressure; decode capacity follows sustained generation and active KV memory. The data moves from prefill memory to decode memory, even if decode initiates the read. That movement and its coordination are real costs. They must fit the service's latency and cost budgets, and the supported transport depends on the deployment.</a:t>
            </a:r>
          </a:p>
          <a:p/>
          <a:p>
            <a:r>
              <a:t>References</a:t>
            </a:r>
          </a:p>
          <a:p>
            <a:r>
              <a:t>https://kaito-project.github.io/kaito/docs/prefill-decode-disaggregation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Start with the traffic profile, not the architecture trend. Retrieval-augmented generation, or RAG, can add substantial prompt processing. Long answers and high concurrency keep decode busy and KV state resident. These are reasons to investigate independent capacity, not automatic evidence that disaggregation wins. Longer prompts also increase transfer volume and decode attention work. The useful question is whether separate capacity choices address a bottleneck we actually observe, after accounting for the transfer path and operational complexity.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Sometimes the right answer is to stay aggregated. Small models, short prompts, low concurrency, and stable capacity needs may not justify another transfer path or more failure boundaries. A shared deployment also has useful scheduling optimizations available. If it already meets the service targets simply and predictably, splitting it may be a step backward. The break-even point is empirical: it depends on the model, traffic, hardware, and fabric, not on an architectural preference.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conceptual split is straightforward. The Kubernetes wiring is where the work expands. The Endpoint Picker, or EPP, selects workers; the decode-side proxy coordinates the request; and the runtimes must agree on KV transfer. Labels, ports, readiness, and lifecycle settings connect those pieces. Individually valid manifests can still form a broken service when their contracts disagree. This is the orchestration gap KAITO aims to close, rather than replacing the model execution engine.</a:t>
            </a:r>
          </a:p>
          <a:p/>
          <a:p>
            <a:r>
              <a:t>References</a:t>
            </a:r>
          </a:p>
          <a:p>
            <a:r>
              <a:t>https://kaito-project.github.io/kaito/docs/prefill-decode-disaggregation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ecosystem already offers several approaches with different abstractions. Dynamo provides an integrated stack; llm-d offers reusable routing components; KServe, AIBrix, Ray, and the vLLM Production Stack provide other packaging and operating models. These are not mutually exclusive categories or an adoption ranking. Declarative Kubernetes APIs already exist. Our narrower question is how to integrate disaggregation cleanly into KAITO's operating model, while checking the release compatibility and maturity of the components we choose.</a:t>
            </a:r>
          </a:p>
          <a:p/>
          <a:p>
            <a:r>
              <a:t>References</a:t>
            </a:r>
          </a:p>
          <a:p>
            <a:r>
              <a:t>https://docs.nvidia.com/dynamo/v1.1.0/getting-started/kubernetes-deployment</a:t>
            </a:r>
          </a:p>
          <a:p>
            <a:r>
              <a:t>https://llm-d.ai/docs/architecture</a:t>
            </a:r>
          </a:p>
          <a:p>
            <a:r>
              <a:t>https://aibrix.readthedocs.io/latest/features/gateway-routing/pd-disaggregation.html</a:t>
            </a:r>
          </a:p>
          <a:p>
            <a:r>
              <a:t>https://aibrix.readthedocs.io/latest/designs/aibrix-stormservice.html</a:t>
            </a:r>
          </a:p>
          <a:p>
            <a:r>
              <a:t>https://kserve.github.io/website/docs/model-serving/generative-inference/llmisvc/llmisvc-overview</a:t>
            </a:r>
          </a:p>
          <a:p>
            <a:r>
              <a:t>https://docs.ray.io/en/latest/serve/llm/user-guides/prefill-decode.html</a:t>
            </a:r>
          </a:p>
          <a:p>
            <a:r>
              <a:t>https://docs.vllm.ai/projects/production-stack/en/latest/use_cases/disaggregated-prefill.html</a:t>
            </a:r>
          </a:p>
          <a:p>
            <a:r>
              <a:t>https://lws.sigs.k8s.io/docs/concepts/disaggregatedset/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For teams already using KAITO, llm-d is a good architectural fit. KAITO retains deployment intent and lifecycle through MultiRoleInference, or MRI, and role-specific InferenceSets. llm-d contributes endpoint selection and request orchestration. vLLM executes inference, and the NVIDIA Inference Xfer Library, or NIXL, supports KV transfer. This is an integration choice, not a universal platform ranking. The documented MRI scope is alpha, with vLLM, Istio, and suitable GPU connectivity as important constraints. Independent replica settings do not mean automatic role-level policy is already available.</a:t>
            </a:r>
          </a:p>
          <a:p/>
          <a:p>
            <a:r>
              <a:t>Technical reference (not part of the spoken script)</a:t>
            </a:r>
          </a:p>
          <a:p/>
          <a:p>
            <a:r>
              <a:t>SPEAKER SCRIPT</a:t>
            </a:r>
          </a:p>
          <a:p/>
          <a:p>
            <a:r>
              <a:t>For that goal, llm-d is a good fit. KAITO keeps deployment intent and lifecycle. llm-d contributes endpoint selection and request orchestration. vLLM and NIXL execute the phases and move the state. This is an integration choice, not a universal platform ranking. Today's documented MRI scope is alpha, with vLLM, Istio, and suitable GPU connectivity as important constraints.</a:t>
            </a:r>
          </a:p>
          <a:p/>
          <a:p>
            <a:r>
              <a:t>REFERENCE NOTES (NOT SPOKEN)</a:t>
            </a:r>
          </a:p>
          <a:p/>
          <a:p>
            <a:r>
              <a:t>Best fit is an architecture recommendation relative to the goal of extending KAITO, not evidence that KAITO beats every serving platform. KAITO users already have Workspace/InferenceSet APIs, model presets and infrastructure lifecycle workflows. MRI reuses that model through role-specific child InferenceSets. The documented controller creates an InferencePool and llm-d EPP, injects the decode routing sidecar, and sets vLLM NIXL side-channel configuration. llm-d contributes P/D endpoint-selection plugins and request orchestration; vLLM and NIXL execute inference and transfer KV directly between pods. The three boxes are a composition diagram, not a sequential request path. Gateway/HTTPRoute, certificates, GPU capacity and fabric setup remain platform prerequisites; do not claim MRI provisions every cluster dependency automatically. Compared with introducing another serving platform API alongside KAITO, reusing llm-d components preserves KAITO as the user-facing orchestration entry point. KServe and AIBrix are legitimate alternative orchestration platforms; Dynamo offers an integrated stack; Ray Serve fits Ray-centric applications. Existing users of those platforms need not migrate solely to obtain P/D. Documented KAITO limitations: MRI is alpha, currently vLLM-only and requires Istio plus suitable GPU-to-GPU connectivity. Independent role replica settings do not imply an automatic MRI-level autoscaling policy. The existing KEDA-InferenceSet capability and proposed MRI policy UX are discussed later. No throughput, latency, cost, hardware-portability or superiority claim is made. Sources checked 2026-10-20.</a:t>
            </a:r>
          </a:p>
          <a:p/>
          <a:p>
            <a:r>
              <a:t>References</a:t>
            </a:r>
          </a:p>
          <a:p>
            <a:r>
              <a:t>https://kaito-project.github.io/kaito/docs/prefill-decode-disaggregation</a:t>
            </a:r>
          </a:p>
          <a:p>
            <a:r>
              <a:t>https://kaito-project.github.io/kaito/docs/keda-autoscaler-inference</a:t>
            </a:r>
          </a:p>
          <a:p>
            <a:r>
              <a:t>https://llm-d.ai/docs/architecture</a:t>
            </a:r>
          </a:p>
          <a:p>
            <a:r>
              <a:t>https://kserve.github.io/website/docs/model-serving/generative-inference/llmisvc/llmisvc-overview</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t>Speaker script</a:t>
            </a:r>
          </a:p>
          <a:p/>
          <a:p>
            <a:r>
              <a:t>It helps to place this integration in a smaller platform map. Applications call a gateway. Orchestration manages the serving topology. A runtime executes the model, while the KV layer handles transfer and, where configured, reuse or tiering. Infrastructure supplies compute, network, storage, and observability. Our focus is KAITO and llm-d in the orchestration and routing layers, working with vLLM and NIXL beneath them. These layers are responsibilities, not a requirement to install every project in the ecosystem.</a:t>
            </a:r>
          </a:p>
        </p:txBody>
      </p:sp>
    </p:spTree>
    <p:extLst>
      <p:ext uri="{BB962C8B-B14F-4D97-AF65-F5344CB8AC3E}">
        <p14:creationId xmlns:p14="http://schemas.microsoft.com/office/powerpoint/2010/main" val="417739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t>Speaker script</a:t>
            </a:r>
          </a:p>
          <a:p/>
          <a:p>
            <a:r>
              <a:t>llm-d composes existing inference components rather than replacing the runtime, gateway, or storage system. Its architecture emphasizes modular Kubernetes integration, extensible implementations, and well-lit paths. A well-lit path gives a platform team a tested deployment pattern and makes its trade-offs easier to understand. That is valuable because distributed inference has many compatibility boundaries. A documented path reduces integration guesswork, but teams still need to validate its versions, hardware requirements, and production behavior for their own environment.</a:t>
            </a:r>
          </a:p>
        </p:txBody>
      </p:sp>
    </p:spTree>
    <p:extLst>
      <p:ext uri="{BB962C8B-B14F-4D97-AF65-F5344CB8AC3E}">
        <p14:creationId xmlns:p14="http://schemas.microsoft.com/office/powerpoint/2010/main" val="16513470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t>Speaker script</a:t>
            </a:r>
          </a:p>
          <a:p/>
          <a:p>
            <a:r>
              <a:t>The useful story here is the set of capabilities the community is developing, not a leaderboard. These include distributed mixture-of-experts serving, prefill/decode disaggregation, state-aware scheduling, and approaches to predictive autoscaling. Mixture-of-experts models activate selected expert networks for each token, creating their own communication and placement challenges. Each capability addresses a different bottleneck. We are not attaching universal speedups or adoption claims to them; performance and operational readiness must be evaluated against a specific configuration and workload.</a:t>
            </a:r>
          </a:p>
        </p:txBody>
      </p:sp>
    </p:spTree>
    <p:extLst>
      <p:ext uri="{BB962C8B-B14F-4D97-AF65-F5344CB8AC3E}">
        <p14:creationId xmlns:p14="http://schemas.microsoft.com/office/powerpoint/2010/main" val="3281151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t>Speaker script</a:t>
            </a:r>
          </a:p>
          <a:p/>
          <a:p>
            <a:r>
              <a:t>These four paths give us a way to organize the design space. Intelligent scheduling decides where a request should run. KV cache management decides where reusable attention state lives. Wide expert parallelism distributes experts across devices for mixture-of-experts execution. Prefill/decode disaggregation gives prompt processing and token generation separate resource configurations. They can complement one another, but they are not interchangeable optimizations. Our detailed walkthrough focuses on the last path and the routing and state-transfer contracts that make it work.</a:t>
            </a:r>
          </a:p>
        </p:txBody>
      </p:sp>
    </p:spTree>
    <p:extLst>
      <p:ext uri="{BB962C8B-B14F-4D97-AF65-F5344CB8AC3E}">
        <p14:creationId xmlns:p14="http://schemas.microsoft.com/office/powerpoint/2010/main" val="1900760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7F044-F805-8F78-5C36-BF0D6B04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CAAE5-ACD6-15FC-E34E-DC1D8A8B687A}"/>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ED37E7B8-A81E-2DF7-4877-05D84CE73A04}"/>
              </a:ext>
            </a:extLst>
          </p:cNvPr>
          <p:cNvSpPr>
            <a:spLocks noGrp="1"/>
          </p:cNvSpPr>
          <p:nvPr>
            <p:ph type="body" idx="1"/>
          </p:nvPr>
        </p:nvSpPr>
        <p:spPr/>
        <p:txBody>
          <a:bodyPr/>
          <a:lstStyle/>
          <a:p>
            <a:r>
              <a:t>Speaker script</a:t>
            </a:r>
          </a:p>
          <a:p/>
          <a:p>
            <a:r>
              <a:t>KAITO is a Kubernetes operator suite for model inference, fine-tuning, and retrieval-augmented generation. It aims to reduce the work of onboarding a model and managing its serving lifecycle. Depending on the supported configuration, that includes GPU provisioning, model distribution, InferenceSet reconciliation, and integration with autoscaling. The model and GPU instance type are important inputs, but platform prerequisites and workload-specific settings still matter. Think of KAITO as automation around the model service, not a guarantee that every model or cluster needs no configuration.</a:t>
            </a:r>
          </a:p>
        </p:txBody>
      </p:sp>
    </p:spTree>
    <p:extLst>
      <p:ext uri="{BB962C8B-B14F-4D97-AF65-F5344CB8AC3E}">
        <p14:creationId xmlns:p14="http://schemas.microsoft.com/office/powerpoint/2010/main" val="2535586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CF1D-2689-0743-8B34-ADD41CAC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60F8-42A3-5624-602E-7F3B108808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F467683-052E-4E6B-BCD1-AF036F6B40A1}"/>
              </a:ext>
            </a:extLst>
          </p:cNvPr>
          <p:cNvSpPr>
            <a:spLocks noGrp="1"/>
          </p:cNvSpPr>
          <p:nvPr>
            <p:ph type="body" idx="1"/>
          </p:nvPr>
        </p:nvSpPr>
        <p:spPr/>
        <p:txBody>
          <a:bodyPr/>
          <a:lstStyle/>
          <a:p>
            <a:r>
              <a:t>Speaker script</a:t>
            </a:r>
          </a:p>
          <a:p/>
          <a:p>
            <a:r>
              <a:t>This InferenceSet example uses the name qwen3-coder-30b to match the Qwen3-Coder-30B model being requested. The preset identifies the model, the instance type identifies the GPU virtual machine, and replicas requests three serving copies. KAITO reconciles the workload from that intent. This excerpt does not enable Model Mirror or demonstrate an upgrade policy, so we should not infer either capability from it. Before deployment, validate model support, the installed API schema, GPU availability, and the resulting memory requirements.</a:t>
            </a:r>
          </a:p>
        </p:txBody>
      </p:sp>
    </p:spTree>
    <p:extLst>
      <p:ext uri="{BB962C8B-B14F-4D97-AF65-F5344CB8AC3E}">
        <p14:creationId xmlns:p14="http://schemas.microsoft.com/office/powerpoint/2010/main" val="14492462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DCF1D-2689-0743-8B34-ADD41CAC1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460F8-42A3-5624-602E-7F3B10880897}"/>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F467683-052E-4E6B-BCD1-AF036F6B40A1}"/>
              </a:ext>
            </a:extLst>
          </p:cNvPr>
          <p:cNvSpPr>
            <a:spLocks noGrp="1"/>
          </p:cNvSpPr>
          <p:nvPr>
            <p:ph type="body" idx="1"/>
          </p:nvPr>
        </p:nvSpPr>
        <p:spPr/>
        <p:txBody>
          <a:bodyPr/>
          <a:lstStyle/>
          <a:p>
            <a:r>
              <a:t>Speaker script</a:t>
            </a:r>
          </a:p>
          <a:p/>
          <a:p>
            <a:r>
              <a:t>KAITO estimates the initial capacity from the model and the selected GPU instance type. Start with GPU memory, reserve space for runtime overhead and KV state, then estimate how many GPUs can hold the weights. Map those GPUs to nodes and check the supported parallelism. This is a starting point, not a production capacity guarantee. Context length, precision, concurrency, and the installed KAITO and runtime versions all matter. Verify the computed node count and load-test before relying on the estimate.</a:t>
            </a:r>
          </a:p>
        </p:txBody>
      </p:sp>
    </p:spTree>
    <p:extLst>
      <p:ext uri="{BB962C8B-B14F-4D97-AF65-F5344CB8AC3E}">
        <p14:creationId xmlns:p14="http://schemas.microsoft.com/office/powerpoint/2010/main" val="14492462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Now we can combine the pieces into one serving topology. KAITO's MultiRoleInference declares the roles and manages their lifecycle. The Gateway API Inference Extension, or GWIE, provides the InferencePool contract. The llm-d router supplies endpoint selection and request orchestration, while vLLM and NIXL execute the phases and move KV state. This is a responsibility stack, not a network packet path. The client sees one serving endpoint even though the platform manages two specialized roles.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Endpoint Picker makes a routing decision; it is not the proxy carrying the inference payload. The gateway asks it to select appropriate workers, which can include a decode worker and, when needed, a prefill worker. A plugin chain provides the scheduling extension points, including role-aware and cache-aware logic where configured. KAITO builds on that llm-d routing implementation instead of creating a second engine. The extension surface does not mean every possible scheduling policy is implemented or enabled by default.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Keep the API contract separate from its implementation. KAITO declares and reconciles the role topology. The Gateway API Inference Extension defines Kubernetes objects and gateway integration, including InferencePool. The llm-d router implements endpoint selection and prefill/decode-aware decisions. An InferencePool is not an inline traffic proxy, and this integration does not imply use of a reference Endpoint Picker implementation. These ownership boundaries help us understand which component to inspect when deployment, discovery, or routing goes wrong.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There are three paths here. The upper control plane reconciles resources; it does not carry requests. The gateway consults the Endpoint Picker, then sends the inference request to the selected decode pod's routing sidecar. That sidecar coordinates optional remote prefill and local decode. KV data takes a separate, direct path between runtimes, with decode initiating the read. InferenceSets are managed resources, not network hops. We will trace the response path in the request lifecycle on slide 31.</a:t>
            </a:r>
          </a:p>
          <a:p/>
          <a:p>
            <a:r>
              <a:t>Technical reference (not part of the spoken script)</a:t>
            </a:r>
          </a:p>
          <a:p/>
          <a:p>
            <a:r>
              <a:t>The upper band is resource ownership, not traffic. The gateway consults the llm-d Router EPP through the InferencePool integration and forwards to the selected decode sidecar, carrying the selected prefill worker when applicable. The sidecar invokes remote prefill and local decode. The green arrow denotes the direction of KV data (prefill to decode); the decode runtime initiates the read. Response arrows are omitted for clarity and shown on slide 31. InferenceSets are managed resources, not network hops.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This example declares one logical model service with one prefill replica and two decode replicas, using different GPU instance types. Each role is managed through its own InferenceSet. The important feature is independent role placement, not a recommended one-to-two ratio or hardware pairing. The cards represent serving replicas, not GPU counts inside each virtual machine. Model identifiers, instance availability, quota, the installed schema, and cross-role runtime and transfer compatibility still need validation before this becomes a deployable configuration.</a:t>
            </a:r>
          </a:p>
          <a:p/>
          <a:p>
            <a:r>
              <a:t>Technical reference (not part of the spoken script)</a:t>
            </a:r>
          </a:p>
          <a:p/>
          <a:p>
            <a:r>
              <a:t>User-supplied example: kaito.sh/v1alpha1 MultiRoleInference named qwen-3-8-27b, model Qwen/Qwen3.8-27B. The prefill role has replicas: 1 and instanceType: Standard_NC24ads_A100_v4; the decode role has replicas: 2 and instanceType: Standard_NC80adis_H100_v5. The diagram shows role replicas, not the number of GPUs in each VM. Model and SKU identifiers are reproduced as provided; model availability, installed CRD schema, deployment prerequisites, quota and regional SKU support have not been validated by this presentation edit. Replica cards are illustrative workers; each role is managed through its own InferenceSet.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Reconciliation turns the declared topology into serving resources and keeps their contracts aligned. That includes role-specific InferenceSets, routing resources, labels, sidecar injection, transfer addresses, and matching ports. The diagram is a responsibility map: some resources can be managed through child controllers rather than being direct children of MultiRoleInference. The value is not merely producing YAML once. It is maintaining relationships through updates and failures. Automatic per-role scaling policy remains a separate integration concern, not something this resource tree proves is available.</a:t>
            </a:r>
          </a:p>
          <a:p/>
          <a:p>
            <a:r>
              <a:t>Technical reference (not part of the spoken script)</a:t>
            </a:r>
          </a:p>
          <a:p/>
          <a:p>
            <a:r>
              <a:t>The dashed tree is a resource and responsibility map, not an exact claim that every depicted object is a direct Kubernetes child of the MultiRoleInference. Ownership and reconciliation can be delegated through child controllers. Distinguish the resources from the wiring installed in their pods. Per-role autoscaling is an integration surface; do not imply every policy is provided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After endpoint selection, the gateway forwards to the decode sidecar with the selected prefill information. The sidecar invokes remote prefill, then receives transfer metadata rather than the KV payload itself. It passes that metadata and remote-prefill identifiers to local decode. The decode runtime initiates a NIXL read, moving KV data from prefill to decode, and generation continues. The response returns through the sidecar and gateway. Endpoint selection is omitted from this sequence because we covered it in the architecture diagram on slide 28.</a:t>
            </a:r>
          </a:p>
          <a:p/>
          <a:p>
            <a:r>
              <a:t>Technical reference (not part of the spoken script)</a:t>
            </a:r>
          </a:p>
          <a:p/>
          <a:p>
            <a:r>
              <a:t>Based on llm-d-router docs/disaggregation.md#pd-sequence. Step 2 follows EPP selection; the EPP consultation is omitted from this sequence and shown on slide 28. Step 4 returns transfer metadata, not the KV payload. Step 5 carries remote_prefill=true, prefill request ID and memory block IDs to local decode. Step 6 shows KV DATA direction (prefill → decode); decode initiates the NIXL read. Response arrows return via sidecar and gateway. Source: https://github.com/llm-d/llm-d-router/blob/main/docs/disaggregation.md#pd-sequence</a:t>
            </a:r>
          </a:p>
          <a:p/>
          <a:p>
            <a:r>
              <a:t>References</a:t>
            </a:r>
          </a:p>
          <a:p>
            <a:r>
              <a:t>https://github.com/llm-d/llm-d-router/blob/main/docs/disaggregation.md#pd-sequence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Putting the sidecar on the decode pod gives the gateway one endpoint for coordination and response delivery. The sidecar can call a remote prefill worker, then send the local decode runtime the metadata it needs. The KV payload bypasses the HTTP sidecar and terminates at the runtime. Ports 5000 and 5001 are this configuration's choices, not universal llm-d requirements. What must remain consistent is the InferencePool target port, the sidecar listener, and the local runtime endpoint.</a:t>
            </a:r>
          </a:p>
          <a:p/>
          <a:p>
            <a:r>
              <a:t>Technical reference (not part of the spoken script)</a:t>
            </a:r>
          </a:p>
          <a:p/>
          <a:p>
            <a:r>
              <a:t>Ports 5000 and 5001 reflect this deployment configuration, not universal requirements for every llm-d deployment. The InferencePool targetPort must reach the sidecar’s listening port. The sidecar coordinates remote prefill, passes transfer metadata to local vLLM, and proxies the final response. KV payload does not transit through the HTTP sidecar. The decode runtime performs the KV read over NIXL.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C2CB-C297-C660-5463-BB72561552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80E2BF-14C8-4C97-42B9-340F5154E37E}"/>
              </a:ext>
            </a:extLst>
          </p:cNvPr>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a:extLst>
              <a:ext uri="{FF2B5EF4-FFF2-40B4-BE49-F238E27FC236}">
                <a16:creationId xmlns:a16="http://schemas.microsoft.com/office/drawing/2014/main" id="{0273D939-1A03-F20C-296E-6597666CD096}"/>
              </a:ext>
            </a:extLst>
          </p:cNvPr>
          <p:cNvSpPr>
            <a:spLocks noGrp="1"/>
          </p:cNvSpPr>
          <p:nvPr>
            <p:ph type="body" idx="1"/>
          </p:nvPr>
        </p:nvSpPr>
        <p:spPr/>
        <p:txBody>
          <a:bodyPr/>
          <a:lstStyle/>
          <a:p>
            <a:r>
              <a:t>Speaker script</a:t>
            </a:r>
          </a:p>
          <a:p/>
          <a:p>
            <a:r>
              <a:t>Stepping back, llm-d composes the gateway and runtime into a coordinated disaggregated flow. Scheduling can select a separate prefill worker when the configured policy calls for one. The sidecar orchestrates the requests, while the runtimes handle the KV data path. Separate pools make independent resource allocation possible, but they do not automatically provide an autoscaling policy or guarantee better latency. We still need to choose routing behavior, capacity, and transfer configuration against the service's first-token and token-delivery objectives.</a:t>
            </a:r>
          </a:p>
        </p:txBody>
      </p:sp>
    </p:spTree>
    <p:extLst>
      <p:ext uri="{BB962C8B-B14F-4D97-AF65-F5344CB8AC3E}">
        <p14:creationId xmlns:p14="http://schemas.microsoft.com/office/powerpoint/2010/main" val="169895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4"/>
        <p:cNvGrpSpPr/>
        <p:nvPr/>
      </p:nvGrpSpPr>
      <p:grpSpPr>
        <a:xfrm>
          <a:off x="0" y="0"/>
          <a:ext cx="0" cy="0"/>
          <a:chOff x="0" y="0"/>
          <a:chExt cx="0" cy="0"/>
        </a:xfrm>
      </p:grpSpPr>
      <p:sp>
        <p:nvSpPr>
          <p:cNvPr id="3485" name="Google Shape;3485;g3e5338da07b_0_2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
        <p:nvSpPr>
          <p:cNvPr id="3486" name="Google Shape;3486;g3e5338da07b_0_2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Speaker script</a:t>
            </a:r>
          </a:p>
          <a:p/>
          <a:p>
            <a:r>
              <a:t>Efficient transfer is essential to making the split worthwhile. Through NIXL, vLLM can use GPU-direct remote direct memory access, or RDMA, on supported hardware and backends, potentially avoiding host staging. The Unified Communication X framework, or UCX, can provide transport over different networks. InfiniBand and RDMA over Converged Ethernet, or RoCE, can support RDMA paths; TCP is a different transport, not RDMA. The takeaway is reduced copying and staging where supported, never literally zero overhead. Measure the actual deployment's transfer behavior.</a:t>
            </a:r>
          </a:p>
        </p:txBody>
      </p:sp>
    </p:spTree>
    <p:extLst>
      <p:ext uri="{BB962C8B-B14F-4D97-AF65-F5344CB8AC3E}">
        <p14:creationId xmlns:p14="http://schemas.microsoft.com/office/powerpoint/2010/main" val="2336657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Once the roles are separate, scale the role that is actually under pressure. Waiting requests inside the prefill engine are a useful starting signal for prompt pressure. Running requests on decode are a useful starting signal for active generation load. These are control-pattern recommendations, not an automatically available MRI feature. Verify the metrics on your runtime and aggregate them by role. Latency and KV utilization add context, but any signal used to control capacity needs validated semantics and a safety policy.</a:t>
            </a:r>
          </a:p>
          <a:p/>
          <a:p>
            <a:r>
              <a:t>References</a:t>
            </a:r>
          </a:p>
          <a:p>
            <a:r>
              <a:t>https://github.com/andyzhangx/demo/blob/26c3e14a340d4b0aae5c820b43087d71b85d1554/llm/kaito-llm-d/kaito-role-aware-autoscaling-for-pd.md</a:t>
            </a:r>
          </a:p>
          <a:p>
            <a:r>
              <a:t>https://kaito-project.github.io/kaito/docs/keda-autoscaler-inference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There is already a documented foundation: Kubernetes Event-driven Autoscaling, or KEDA, can target an InferenceSet through its scale API. KAITO examples use scheduled triggers or Prometheus queries, including the vLLM waiting-request metric. KEDA works with the Horizontal Pod Autoscaler, or HPA, and the InferenceSet controller reconciles the desired serving capacity. KEDA is installed separately. This existing capability is important, but it does not by itself establish a native MultiRoleInference policy that automatically manages both roles.</a:t>
            </a:r>
          </a:p>
          <a:p/>
          <a:p>
            <a:r>
              <a:t>Technical reference (not part of the spoken script)</a:t>
            </a:r>
          </a:p>
          <a:p/>
          <a:p>
            <a:r>
              <a:t>KEDA is installed separately. The KAITO documentation shows Cron and Prometheus triggers with a ScaledObject scaleTargetRef pointing to a kaito.sh InferenceSet. The controller reconciles the desired replicas into serving resources. The queue metric example is real; it does not establish native per-role MRI autoscaling policy.</a:t>
            </a:r>
          </a:p>
          <a:p/>
          <a:p>
            <a:r>
              <a:t>References</a:t>
            </a:r>
          </a:p>
          <a:p>
            <a:r>
              <a:t>https://kaito-project.github.io/kaito/docs/keda-autoscaler-inference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E1FD-DF2C-B744-F449-580268366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F622D-7B76-6ED7-8FBE-63F9EDE6C268}"/>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A526001A-7849-5A55-C08F-CDCA6635D57C}"/>
              </a:ext>
            </a:extLst>
          </p:cNvPr>
          <p:cNvSpPr>
            <a:spLocks noGrp="1"/>
          </p:cNvSpPr>
          <p:nvPr>
            <p:ph type="body" idx="1"/>
          </p:nvPr>
        </p:nvSpPr>
        <p:spPr/>
        <p:txBody>
          <a:bodyPr/>
          <a:lstStyle/>
          <a:p>
            <a:r>
              <a:t>Speaker script</a:t>
            </a:r>
          </a:p>
          <a:p/>
          <a:p>
            <a:r>
              <a:t>The keda-kaito-scaler approach reads vLLM metrics directly, avoiding a Prometheus requirement for that path. It still depends on KEDA, the scaler, runtime endpoints, and their configuration, so no Prometheus does not mean no dependencies. The design uses conservative replica changes and can combine signals under an AND policy. Those choices can reduce abrupt reactions, but they do not guarantee GPU safety or minimum cost. Model warm-up, metric validity, ownership, and safe scale-down remain essential parts of the deployment.</a:t>
            </a:r>
          </a:p>
        </p:txBody>
      </p:sp>
    </p:spTree>
    <p:extLst>
      <p:ext uri="{BB962C8B-B14F-4D97-AF65-F5344CB8AC3E}">
        <p14:creationId xmlns:p14="http://schemas.microsoft.com/office/powerpoint/2010/main" val="31905224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F81C-0A63-C991-6B5C-C9782F9A4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ACE33-ED3D-07B2-95CE-3EA7C114641D}"/>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24D00C3-B364-8AFC-DCCF-39E6FB80E4E0}"/>
              </a:ext>
            </a:extLst>
          </p:cNvPr>
          <p:cNvSpPr>
            <a:spLocks noGrp="1"/>
          </p:cNvSpPr>
          <p:nvPr>
            <p:ph type="body" idx="1"/>
          </p:nvPr>
        </p:nvSpPr>
        <p:spPr/>
        <p:txBody>
          <a:bodyPr/>
          <a:lstStyle/>
          <a:p>
            <a:r>
              <a:t>Speaker script</a:t>
            </a:r>
          </a:p>
          <a:p/>
          <a:p>
            <a:r>
              <a:t>The annotations provide a compact way to configure the scaler, including metrics, thresholds, evaluation windows, cooldowns, and replica bounds. They do not eliminate Kubernetes objects: auto-provisioning creates the scaling objects on the user's behalf. With an AND policy, all configured signals must satisfy the relevant condition, which needs careful workload testing. The proposed simplification on the right would reduce manual tuning; it is not a shipped auto-tuning guarantee. Today, treat thresholds and timing values as explicit choices to validate, rather than assuming universal best-practice defaults.</a:t>
            </a:r>
          </a:p>
          <a:p/>
          <a:p>
            <a:r>
              <a:t>Configuration reference (from the original deck; validate against the installed scaler version)</a:t>
            </a:r>
          </a:p>
          <a:p/>
          <a:p/>
        </p:txBody>
      </p:sp>
    </p:spTree>
    <p:extLst>
      <p:ext uri="{BB962C8B-B14F-4D97-AF65-F5344CB8AC3E}">
        <p14:creationId xmlns:p14="http://schemas.microsoft.com/office/powerpoint/2010/main" val="36214008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proposed control pattern has two independent loops behind one logical service. Prefill observes waiting requests and changes prefill serving capacity. Decode observes running requests and changes decode capacity. One KEDA ScaledObject per target InferenceSet is a possible implementation, but avoid competing autoscalers on the same target. Each loop needs stabilization, model warm-up awareness, fresh and correctly aggregated metrics, and safe scale-down. Independence means one role can act without requiring the other role to be equally busy.</a:t>
            </a:r>
          </a:p>
          <a:p/>
          <a:p>
            <a:r>
              <a:t>Technical reference (not part of the spoken script)</a:t>
            </a:r>
          </a:p>
          <a:p/>
          <a:p>
            <a:r>
              <a:t>Conceptual two-loop design. A KEDA deployment can use one ScaledObject per target InferenceSet. Native vLLM waiting and running request gauges supply role-specific signals. Do not install conflicting autoscalers for one target. Metric aggregation, freshness, model warm-up and safe scale-down require verification. The following slides explain policy and signal choices independently of the configuration API.</a:t>
            </a:r>
          </a:p>
          <a:p/>
          <a:p>
            <a:r>
              <a:t>References</a:t>
            </a:r>
          </a:p>
          <a:p>
            <a:r>
              <a:t>https://github.com/andyzhangx/demo/blob/26c3e14a340d4b0aae5c820b43087d71b85d1554/llm/kaito-llm-d/kaito-role-aware-autoscaling-for-pd.md</a:t>
            </a:r>
          </a:p>
          <a:p>
            <a:r>
              <a:t>https://kaito-project.github.io/kaito/docs/keda-autoscaler-inference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Service objectives should coordinate the overall experience without forcing both roles to share a capacity decision. Prefill has a prompt-latency objective; decode has a token-delivery objective. A policy layer can translate those into separate role targets. This is a design pattern, not a claim that automatic service-level policy projection is already available. The scaling unit must be a complete serving replica, potentially spanning multiple workers, rather than an individual tensor-parallel process. Each target should have one authoritative replica controller.</a:t>
            </a:r>
          </a:p>
          <a:p/>
          <a:p>
            <a:r>
              <a:t>Technical reference (not part of the spoken script)</a:t>
            </a:r>
          </a:p>
          <a:p/>
          <a:p>
            <a:r>
              <a:t>Public-facing design pattern: express service objectives, reconcile independent role policies, and scale each role as a complete serving replica. Policy representation and controller-specific wiring are implementation details and intentionally omitted here. Existing KEDA/InferenceSet capability is described on the earlier slide; this diagram is not a claim that automatic service-level policy projection is already available. Keep one authoritative autoscaler per target.</a:t>
            </a:r>
          </a:p>
          <a:p/>
          <a:p>
            <a:r>
              <a:t>References</a:t>
            </a:r>
          </a:p>
          <a:p>
            <a:r>
              <a:t>https://github.com/andyzhangx/demo/blob/26c3e14a340d4b0aae5c820b43087d71b85d1554/llm/kaito-llm-d/kaito-role-aware-autoscaling-for-pd.md</a:t>
            </a:r>
          </a:p>
          <a:p>
            <a:r>
              <a:t>https://kaito-project.github.io/kaito/docs/keda-autoscaler-inference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Routing and autoscaling solve different problems. Routing chooses where the next request goes; autoscaling changes how much serving capacity exists. In each loop, scope the metric samples to the correct role, remove duplicate engine or worker series, and evaluate that role's policy independently. New replicas should count as capacity only when the model is loaded and eligible to serve. The arrows describe policy and measurement relationships, not a requirement for push-based metrics or a particular Kubernetes ownership tree.</a:t>
            </a:r>
          </a:p>
          <a:p/>
          <a:p>
            <a:r>
              <a:t>Technical reference (not part of the spoken script)</a:t>
            </a:r>
          </a:p>
          <a:p/>
          <a:p>
            <a:r>
              <a:t>Architectural control pattern, independent of how policies are encoded. Each role has its own signals, controller decision and serving-replica target. KEDA/HPA targeting an InferenceSet is one implementation. Scope samples to the actual role and deduplicate engine/worker series. Scale complete serving replicas and account for model loading before counting new capacity as ready. Arrows show conceptual policy and metric flow, not strict ownership references or push-based scraping. The serving topology still coordinates P/D requests while the capacity loops act independently. Implementation-specific automatic policy projection is outside this talk slide.</a:t>
            </a:r>
          </a:p>
          <a:p/>
          <a:p>
            <a:r>
              <a:t>References</a:t>
            </a:r>
          </a:p>
          <a:p>
            <a:r>
              <a:t>https://github.com/andyzhangx/demo/blob/26c3e14a340d4b0aae5c820b43087d71b85d1554/llm/kaito-llm-d/kaito-role-aware-autoscaling-for-pd.md</a:t>
            </a:r>
          </a:p>
          <a:p>
            <a:r>
              <a:t>https://kaito-project.github.io/kaito/docs/keda-autoscaler-inference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example uses two native gauges: waiting requests for prefill and running requests for decode. The thresholds and replica bounds are illustrative, not production recommendations. Aggregate them per serving replica within the role, and remember that an engine-local queue excludes requests still waiting upstream. Strictly above or below a threshold requests a change; equality and the middle range hold. Missing, stale, or invalid samples must not become zero. Validate that hold-and-report behavior in the actual controller before enabling the policy.</a:t>
            </a:r>
          </a:p>
          <a:p/>
          <a:p>
            <a:r>
              <a:t>Technical reference (not part of the spoken script)</a:t>
            </a:r>
          </a:p>
          <a:p/>
          <a:p>
            <a:r>
              <a:t>Native vllm:num_requests_waiting and vllm:num_requests_running are the primary signals for the respective roles. Verify metric presence, type and units on the actual runtime. Engine-local queues exclude requests still waiting in the router/EPP. Thresholds and bounds are illustrative, not capacity recommendations. The design example uses bounded incremental adjustments; behavior still depends on readiness, stabilization, cooldown and the chosen controller. Equal-to-threshold values hold under the stated strict comparisons. KV utilization and latency support diagnosis; integrating them into automated decisions needs an explicit tested policy. Missing/stale/non-finite data must not become zero; hold/report semantics require implementation and validation.</a:t>
            </a:r>
          </a:p>
          <a:p/>
          <a:p>
            <a:r>
              <a:t>References</a:t>
            </a:r>
          </a:p>
          <a:p>
            <a:r>
              <a:t>https://github.com/andyzhangx/demo/blob/26c3e14a340d4b0aae5c820b43087d71b85d1554/llm/kaito-llm-d/kaito-role-aware-autoscaling-for-pd.md</a:t>
            </a:r>
          </a:p>
          <a:p>
            <a:r>
              <a:t>https://docs.vllm.ai/en/stable/usage/metrics/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two roles share a safety contract, not identical tuning. In this example, prefill has a one-to-eight replica range and reacts to waiting requests. Decode has a two-to-sixteen range and reacts to running requests. These values only illustrate independent decisions. Both policies need fresh role-scoped data, readiness checks, stabilization, cooldowns, and clear ownership. A low signal is not sufficient justification to remove capacity immediately: scale-down must also protect in-flight requests and respect the minimum replica count.</a:t>
            </a:r>
          </a:p>
          <a:p/>
          <a:p>
            <a:r>
              <a:t>Technical reference (not part of the spoken script)</a:t>
            </a:r>
          </a:p>
          <a:p/>
          <a:p>
            <a:r>
              <a:t>The slide explains policy semantics without exposing configuration syntax. Values are illustrative and match the source design: waiting-request thresholds 8/1 and bounds 1–8 for prefill; running-request thresholds 24/4 and bounds 2–16 for decode. Evaluate role-scoped per-replica aggregation, not a whole-service sum. Apply strict above/below comparisons, hold between/equal to thresholds, and enforce bounds, fresh-data checks, readiness, stabilization and cooldown for both roles. Scale-down also requires safe treatment of in-flight work. Policy ownership must be unambiguous. The underlying representation is intentionally outside the external presentation.</a:t>
            </a:r>
          </a:p>
          <a:p/>
          <a:p>
            <a:r>
              <a:t>References</a:t>
            </a:r>
          </a:p>
          <a:p>
            <a:r>
              <a:t>https://github.com/andyzhangx/demo/blob/26c3e14a340d4b0aae5c820b43087d71b85d1554/llm/kaito-llm-d/kaito-role-aware-autoscaling-for-pd.md</a:t>
            </a:r>
          </a:p>
          <a:p>
            <a:r>
              <a:t>https://docs.vllm.ai/en/stable/usage/metrics/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Most autoscaling failures happen outside the happy path. First, choose one writer for each replica count, and stop the old writer before handing over control. Second, verify complete, fresh metric coverage; a failed scrape is not zero load. Third, account for model loading and protect active requests and KV state during removal. Hold and report on invalid data is the required safety contract here, not an assertion that every fallback path already implements it. Test these failures end to end.</a:t>
            </a:r>
          </a:p>
          <a:p/>
          <a:p>
            <a:r>
              <a:t>Technical reference (not part of the spoken script)</a:t>
            </a:r>
          </a:p>
          <a:p/>
          <a:p>
            <a:r>
              <a:t>Safety contract: do not let a fixed-replica reconciler and an autoscaler compete for the same target. Stop the old writer before handing over control, and never silently adopt/delete user-managed autoscalers. Missing, stale, unreachable or non-finite metric samples should prevent activation or hold active decisions and surface a condition/event. This is the required behavior, not an assertion that all controller/HPA fallback paths implement it today; verify end to end. Partial scrape coverage must not look like zero load. Readiness includes model loading and actual serving eligibility. Protect in-flight requests and KV state during scale-down.</a:t>
            </a:r>
          </a:p>
          <a:p/>
          <a:p>
            <a:r>
              <a:t>References</a:t>
            </a:r>
          </a:p>
          <a:p>
            <a:r>
              <a:t>https://github.com/andyzhangx/demo/blob/26c3e14a340d4b0aae5c820b43087d71b85d1554/llm/kaito-llm-d/kaito-role-aware-autoscaling-for-pd.md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Derived signals help explain pressure, but they need careful interpretation. KV usage is a fraction; its maximum and the complementary free fraction are not independent evidence or effective request capacity. A latency percentile requires histogram bucket rates and enough observations, and engine timing is not end-to-end client timing. Throughput counters need reset-aware rates before aggregation. These derived outputs require a query or adapter integration; they are not new native vLLM metrics. Start with observation, and do not let an indiscriminate AND rule suppress needed scale-up.</a:t>
            </a:r>
          </a:p>
          <a:p/>
          <a:p>
            <a:r>
              <a:t>Technical reference (not part of the spoken script)</a:t>
            </a:r>
          </a:p>
          <a:p/>
          <a:p>
            <a:r>
              <a:t>These are derived-signal design examples, not metrics natively emitted by vLLM or a claim of current MRI integration support. All table input names have the vllm: prefix. Proposed recording-rule names: kaito:decode_kv_cache_usage_max = max valid role-scoped vllm:kv_cache_usage_perc; kaito:decode_kv_cache_free_fraction_min = 1 - that maximum; kaito:prefill_ttft_p95_seconds = histogram_quantile(0.95, summed per-series 5m bucket rates preserving workload/role and le); kaito:decode_generation_tokens_per_second = sum of reset-aware rate(vllm:generation_tokens_total[5m]). Generation tokens is a native Counter exposed with the _total suffix. KV usage is a fraction 0–1; 0.8 is 80%. Maximum usage and minimum free fraction are complements, not independent evidence, bytes or effective request capacity. A fleet maximum does not identify a safe removal target. Histogram quantiles need sufficient observations and are engine-local, not client P/D latency. Apply rate before summing counters, account for resets, deduplicate engines and require fresh/full role coverage. Recording-rule outputs do not appear on vLLM /metrics; a verified adapter/query integration is required. The desired guard allows high running load to scale up independently of KV occupancy, while low load permits scale-down only with safe KV utilization. Simply appending KV to the existing conservative AND list can suppress needed scale-up and is not this policy. Start with observation; promote a signal to control only after failure and workload tests.</a:t>
            </a:r>
          </a:p>
          <a:p/>
          <a:p>
            <a:r>
              <a:t>References</a:t>
            </a:r>
          </a:p>
          <a:p>
            <a:r>
              <a:t>https://github.com/andyzhangx/demo/blob/26c3e14a340d4b0aae5c820b43087d71b85d1554/llm/kaito-llm-d/kaito-role-aware-autoscaling-for-pd.md</a:t>
            </a:r>
          </a:p>
          <a:p>
            <a:r>
              <a:t>https://docs.vllm.ai/en/stable/usage/metrics/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This is a proposed annotation schema, not ready-to-apply configuration. It requires an MRI adapter, child scaling opt-in, ownership handoff, and complete-coverage metric hardening. With prefill waiting at twelve and decode running at twelve, prefill can request scale-up while decode holds. Later, decode can act independently. AND applies within a role, not across both roles. Outcomes remain subject to readiness, cooldowns, stabilization, and bounds. The full proposed YAML is linked in these notes for design review, not as a validated deployment recipe.</a:t>
            </a:r>
          </a:p>
          <a:p/>
          <a:p>
            <a:r>
              <a:t>Full proposed YAML: https://github.com/andyzhangx/demo/blob/master/llm/kaito-llm-d/examples/proposed-pd-autoscaling-annotations.yaml</a:t>
            </a:r>
          </a:p>
          <a:p/>
          <a:p>
            <a:r>
              <a:t>Technical reference (not part of the spoken script)</a:t>
            </a:r>
          </a:p>
          <a:p/>
          <a:p>
            <a:r>
              <a:t>The slide summarizes a proposed per-role policy; the linked file contains the full resource example. Full YAML: llm/kaito-llm-d/examples/proposed-pd-autoscaling-annotations.yaml in this repository. Model and instanceType values in that file are illustrative and not deployment-validated. Annotation policy is a proposal and needs the integration work described in this technical reference. Role replicas are null to stop MRI enforcement; the adapter must reject non-null replicas with an enabled policy and bootstrap minima safely. The modelpod source discovers Workspaces owned by the target InferenceSet and scrapes their Workspace Service /metrics endpoints, not every GPU worker individually. The gauge default is service-avg: sum matching label series within each service, then average across successfully scraped services. Treat this as a per-serving-replica signal only after verifying the runtime/service topology; do not use an MRI-wide total or include router/EPP queues. Current source skips failed services and can treat a partially absent metric as zero, so complete-coverage missing-is-not-zero hardening is still required, not an existing guarantee. Example: with P=1 and D=2, prefill waiting=12 is above 8, so prefill has an up decision while decode running=12 lies between 4 and 24, so decode holds. Later running above 24 can independently request decode scale-up. These are illustrative decision outcomes, not observed tests or guaranteed instantaneous replica counts: readiness, cooldown, stabilization, data availability and bounds still apply. Strict comparisons mean equality holds. The generated expression produces 2.0 when ready and above up-threshold, 0.5 below down-threshold, otherwise 1.0; raw desired replicas are ceil(current replicas times that result). The generated HPA behavior limits each directional change to at most one replica per configured cooldown period, subject to stabilization and bounds. The formula is not itself N+1/N-1 and an evaluation does not guarantee immediate scaling. Values below 1 for prefill or below 4 for decode can request scale-down only after safeguards and within minima. Each role has only one metric, so AND is trivial within a role; it does NOT mean prefill and decode must both be busy. Do not claim an asymmetric KV guard is implemented by appending KV to AND. Require deployed vLLM /metrics verification and full-role sample coverage before activation.</a:t>
            </a:r>
          </a:p>
          <a:p/>
          <a:p>
            <a:r>
              <a:t>Full proposed YAML (design example; requires adapter integration)</a:t>
            </a:r>
          </a:p>
          <a:p/>
          <a:p>
            <a:r>
              <a:t># PROPOSAL ONLY: not a currently deployable MRI autoscaling API.</a:t>
            </a:r>
          </a:p>
          <a:p>
            <a:r>
              <a:t># Requires a validated MRI role-policy adapter and explicit scaler opt-in for MRI children.</a:t>
            </a:r>
          </a:p>
          <a:p>
            <a:r>
              <a:t># Model, SKUs, bounds and thresholds are illustrative; no cluster validation was performed.</a:t>
            </a:r>
          </a:p>
          <a:p>
            <a:r>
              <a:t># See ../kaito-role-aware-autoscaling-for-pd.md for ownership, prerequisites and safety.</a:t>
            </a:r>
          </a:p>
          <a:p>
            <a:r>
              <a:t>apiVersion: kaito.sh/v1alpha1</a:t>
            </a:r>
          </a:p>
          <a:p>
            <a:r>
              <a:t>kind: MultiRoleInference</a:t>
            </a:r>
          </a:p>
          <a:p>
            <a:r>
              <a:t>metadata:</a:t>
            </a:r>
          </a:p>
          <a:p>
            <a:r>
              <a:t>  name: deepseek-v3</a:t>
            </a:r>
          </a:p>
          <a:p>
            <a:r>
              <a:t>  annotations:</a:t>
            </a:r>
          </a:p>
          <a:p>
            <a:r>
              <a:t>    autoscaling.kaito.sh/roles: |</a:t>
            </a:r>
          </a:p>
          <a:p>
            <a:r>
              <a:t>      version: v1alpha1</a:t>
            </a:r>
          </a:p>
          <a:p>
            <a:r>
              <a:t>      roles:</a:t>
            </a:r>
          </a:p>
          <a:p>
            <a:r>
              <a:t>        prefill:</a:t>
            </a:r>
          </a:p>
          <a:p>
            <a:r>
              <a:t>          min-replicas: "1"</a:t>
            </a:r>
          </a:p>
          <a:p>
            <a:r>
              <a:t>          max-replicas: "8"</a:t>
            </a:r>
          </a:p>
          <a:p>
            <a:r>
              <a:t>          combinepolicy: AND</a:t>
            </a:r>
          </a:p>
          <a:p>
            <a:r>
              <a:t>          metrics:</a:t>
            </a:r>
          </a:p>
          <a:p>
            <a:r>
              <a:t>          - name: vllm:num_requests_waiting</a:t>
            </a:r>
          </a:p>
          <a:p>
            <a:r>
              <a:t>            type: gauge</a:t>
            </a:r>
          </a:p>
          <a:p>
            <a:r>
              <a:t>            upthreshold: 8</a:t>
            </a:r>
          </a:p>
          <a:p>
            <a:r>
              <a:t>            downthreshold: 1</a:t>
            </a:r>
          </a:p>
          <a:p>
            <a:r>
              <a:t>        decode:</a:t>
            </a:r>
          </a:p>
          <a:p>
            <a:r>
              <a:t>          min-replicas: "2"</a:t>
            </a:r>
          </a:p>
          <a:p>
            <a:r>
              <a:t>          max-replicas: "16"</a:t>
            </a:r>
          </a:p>
          <a:p>
            <a:r>
              <a:t>          combinepolicy: AND</a:t>
            </a:r>
          </a:p>
          <a:p>
            <a:r>
              <a:t>          metrics:</a:t>
            </a:r>
          </a:p>
          <a:p>
            <a:r>
              <a:t>          - name: vllm:num_requests_running</a:t>
            </a:r>
          </a:p>
          <a:p>
            <a:r>
              <a:t>            type: gauge</a:t>
            </a:r>
          </a:p>
          <a:p>
            <a:r>
              <a:t>            upthreshold: 24</a:t>
            </a:r>
          </a:p>
          <a:p>
            <a:r>
              <a:t>            downthreshold: 4</a:t>
            </a:r>
          </a:p>
          <a:p>
            <a:r>
              <a:t>spec:</a:t>
            </a:r>
          </a:p>
          <a:p>
            <a:r>
              <a:t>  labelSelector:</a:t>
            </a:r>
          </a:p>
          <a:p>
            <a:r>
              <a:t>    matchLabels:</a:t>
            </a:r>
          </a:p>
          <a:p>
            <a:r>
              <a:t>      apps: deepseek-v3</a:t>
            </a:r>
          </a:p>
          <a:p>
            <a:r>
              <a:t>  model:</a:t>
            </a:r>
          </a:p>
          <a:p>
            <a:r>
              <a:t>    name: deepseek-ai/DeepSeek-V3</a:t>
            </a:r>
          </a:p>
          <a:p>
            <a:r>
              <a:t>  roles:</a:t>
            </a:r>
          </a:p>
          <a:p>
            <a:r>
              <a:t>  - type: prefill</a:t>
            </a:r>
          </a:p>
          <a:p>
            <a:r>
              <a:t>    instanceType: Standard_ND96isr_H100_v5</a:t>
            </a:r>
          </a:p>
          <a:p>
            <a:r>
              <a:t>    replicas: null</a:t>
            </a:r>
          </a:p>
          <a:p>
            <a:r>
              <a:t>  - type: decode</a:t>
            </a:r>
          </a:p>
          <a:p>
            <a:r>
              <a:t>    instanceType: Standard_ND96isr_H100_v5</a:t>
            </a:r>
          </a:p>
          <a:p>
            <a:r>
              <a:t>    replicas: null</a:t>
            </a:r>
          </a:p>
          <a:p/>
          <a:p/>
          <a:p>
            <a:r>
              <a:t>References</a:t>
            </a:r>
          </a:p>
          <a:p>
            <a:r>
              <a:t>https://github.com/andyzhangx/demo/blob/26c3e14a340d4b0aae5c820b43087d71b85d1554/llm/kaito-llm-d/kaito-role-aware-autoscaling-for-pd.md</a:t>
            </a:r>
          </a:p>
          <a:p>
            <a:r>
              <a:t>https://docs.vllm.ai/en/stable/usage/metrics/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Use this as a qualitative decision framework, not a benchmark. The strongest candidate has meaningfully different role capacity needs and a transfer path cheap enough to preserve the benefit. If the roles differ but transfer is expensive, improve locality or transport first. If the roles have similar needs, fast fabric alone is not a reason to split. Cross-node transfer is not automatically slow, and same-node transfer is not free. Validate the result with matched workloads, cost, and latency objectives, including operational complexity.</a:t>
            </a:r>
          </a:p>
          <a:p/>
          <a:p>
            <a:r>
              <a:t>Technical reference (not part of the spoken script)</a:t>
            </a:r>
          </a:p>
          <a:p/>
          <a:p>
            <a:r>
              <a:t>Source: companion Markdown section — When to use P/D, and when not to. This is a qualitative decision matrix, not measured results or a performance guarantee. The horizontal axis increases from costly/weak transfer to cheap/fast-enough transfer; the vertical axis increases from similar role bottlenecks at the bottom to meaningfully different scaling, bottlenecks or parallelism at the top. Top-right is the strongest candidate; bottom-left stays aggregated. Top-left should first improve locality/transport or investigate same-node placement. Bottom-right usually remains aggregated because cheap transfer does not by itself create a reason for role separation. Cross-node placement is a risk factor to measure, not proof that fabric is weak: fast cross-node links can satisfy the right-hand condition. Likewise single-node transfer is not automatically free. Compare actual KV payload transfer cost, contention, tail latency, reliability and operational complexity. A strong candidate still requires a matched workload/cost/SLO benchmark.</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Speaker script</a:t>
            </a:r>
          </a:p>
          <a:p/>
          <a:p>
            <a:r>
              <a:t>The next directions build on the same architecture. Cache-aware routing can use KV events to improve prefix reuse, with tiered storage across GPU high-bandwidth memory, CPU memory, and optional filesystem tiers. Richer topologies can separate encode, prefill, and decode. Larger deployments also motivate wide expert parallelism and communication optimization. These are KAITO integration directions, not release dates or claims that upstream projects lack these capabilities today. Availability must remain tied to the deployed KAITO, llm-d, runtime, and transport versions.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Speaker script</a:t>
            </a:r>
          </a:p>
          <a:p/>
          <a:p>
            <a:r>
              <a:t>Thanks for joining us. The takeaway is simple: separate prefill and decode when independent capacity solves a measured problem, keep request coordination distinct from KV movement, and scale each role with validated signals and safeguards. We are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cSld name="2_Title Slide">
    <p:bg>
      <p:bgPr>
        <a:gradFill>
          <a:gsLst>
            <a:gs pos="0">
              <a:srgbClr val="316CE5">
                <a:alpha val="74902"/>
              </a:srgbClr>
            </a:gs>
            <a:gs pos="100000">
              <a:schemeClr val="lt1"/>
            </a:gs>
          </a:gsLst>
          <a:lin ang="10800000" scaled="0"/>
        </a:gradFill>
        <a:effectLst/>
      </p:bgPr>
    </p:bg>
    <p:spTree>
      <p:nvGrpSpPr>
        <p:cNvPr id="1" name="Shape 11"/>
        <p:cNvGrpSpPr/>
        <p:nvPr/>
      </p:nvGrpSpPr>
      <p:grpSpPr>
        <a:xfrm>
          <a:off x="0" y="0"/>
          <a:ext cx="0" cy="0"/>
          <a:chOff x="0" y="0"/>
          <a:chExt cx="0" cy="0"/>
        </a:xfrm>
      </p:grpSpPr>
      <p:pic>
        <p:nvPicPr>
          <p:cNvPr id="12" name="Google Shape;12;p8" title="CloudNativeAIInferenceDay_NA_Logos_horizontal-color.png"/>
          <p:cNvPicPr preferRelativeResize="0"/>
          <p:nvPr/>
        </p:nvPicPr>
        <p:blipFill rotWithShape="1">
          <a:blip r:embed="rId2">
            <a:alphaModFix/>
          </a:blip>
          <a:srcRect/>
          <a:stretch/>
        </p:blipFill>
        <p:spPr>
          <a:xfrm>
            <a:off x="1146366" y="1166703"/>
            <a:ext cx="6851277" cy="2810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chemeClr val="lt1"/>
        </a:solidFill>
        <a:effectLst/>
      </p:bgPr>
    </p:bg>
    <p:spTree>
      <p:nvGrpSpPr>
        <p:cNvPr id="1" name="Shape 13"/>
        <p:cNvGrpSpPr/>
        <p:nvPr/>
      </p:nvGrpSpPr>
      <p:grpSpPr>
        <a:xfrm>
          <a:off x="0" y="0"/>
          <a:ext cx="0" cy="0"/>
          <a:chOff x="0" y="0"/>
          <a:chExt cx="0" cy="0"/>
        </a:xfrm>
      </p:grpSpPr>
      <p:sp>
        <p:nvSpPr>
          <p:cNvPr id="14" name="Google Shape;14;p11"/>
          <p:cNvSpPr/>
          <p:nvPr/>
        </p:nvSpPr>
        <p:spPr>
          <a:xfrm>
            <a:off x="0" y="0"/>
            <a:ext cx="9144000" cy="701566"/>
          </a:xfrm>
          <a:prstGeom prst="rect">
            <a:avLst/>
          </a:prstGeom>
          <a:gradFill>
            <a:gsLst>
              <a:gs pos="0">
                <a:srgbClr val="316CE5">
                  <a:alpha val="44706"/>
                </a:srgbClr>
              </a:gs>
              <a:gs pos="100000">
                <a:schemeClr val="lt1"/>
              </a:gs>
            </a:gsLst>
            <a:lin ang="10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5" name="Google Shape;15;p11" title="CloudNativeAIInferenceDay_NA_Logos_horizontal-color.png"/>
          <p:cNvPicPr preferRelativeResize="0"/>
          <p:nvPr/>
        </p:nvPicPr>
        <p:blipFill rotWithShape="1">
          <a:blip r:embed="rId2">
            <a:alphaModFix/>
          </a:blip>
          <a:srcRect/>
          <a:stretch/>
        </p:blipFill>
        <p:spPr>
          <a:xfrm>
            <a:off x="7459074" y="57825"/>
            <a:ext cx="1428577" cy="585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bg>
      <p:bgPr>
        <a:gradFill>
          <a:gsLst>
            <a:gs pos="0">
              <a:srgbClr val="316CE5">
                <a:alpha val="49804"/>
              </a:srgbClr>
            </a:gs>
            <a:gs pos="100000">
              <a:schemeClr val="lt1"/>
            </a:gs>
          </a:gsLst>
          <a:lin ang="10200000" scaled="0"/>
        </a:gradFill>
        <a:effectLst/>
      </p:bgPr>
    </p:bg>
    <p:spTree>
      <p:nvGrpSpPr>
        <p:cNvPr id="1" name="Shape 16"/>
        <p:cNvGrpSpPr/>
        <p:nvPr/>
      </p:nvGrpSpPr>
      <p:grpSpPr>
        <a:xfrm>
          <a:off x="0" y="0"/>
          <a:ext cx="0" cy="0"/>
          <a:chOff x="0" y="0"/>
          <a:chExt cx="0" cy="0"/>
        </a:xfrm>
      </p:grpSpPr>
      <p:pic>
        <p:nvPicPr>
          <p:cNvPr id="17" name="Google Shape;17;p9" title="CloudNativeAIInferenceDay_NA_Logos_horizontal-color.png"/>
          <p:cNvPicPr preferRelativeResize="0"/>
          <p:nvPr/>
        </p:nvPicPr>
        <p:blipFill rotWithShape="1">
          <a:blip r:embed="rId2">
            <a:alphaModFix/>
          </a:blip>
          <a:srcRect/>
          <a:stretch/>
        </p:blipFill>
        <p:spPr>
          <a:xfrm>
            <a:off x="6763466" y="179974"/>
            <a:ext cx="2170701" cy="8902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gradFill>
          <a:gsLst>
            <a:gs pos="0">
              <a:srgbClr val="316CE5">
                <a:alpha val="60000"/>
              </a:srgbClr>
            </a:gs>
            <a:gs pos="100000">
              <a:schemeClr val="lt1"/>
            </a:gs>
          </a:gsLst>
          <a:lin ang="10200000" scaled="0"/>
        </a:gradFill>
        <a:effectLst/>
      </p:bgPr>
    </p:bg>
    <p:spTree>
      <p:nvGrpSpPr>
        <p:cNvPr id="1" name="Shape 18"/>
        <p:cNvGrpSpPr/>
        <p:nvPr/>
      </p:nvGrpSpPr>
      <p:grpSpPr>
        <a:xfrm>
          <a:off x="0" y="0"/>
          <a:ext cx="0" cy="0"/>
          <a:chOff x="0" y="0"/>
          <a:chExt cx="0" cy="0"/>
        </a:xfrm>
      </p:grpSpPr>
      <p:sp>
        <p:nvSpPr>
          <p:cNvPr id="19" name="Google Shape;1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Slide">
  <p:cSld name="1_Title Slide">
    <p:bg>
      <p:bgPr>
        <a:gradFill>
          <a:gsLst>
            <a:gs pos="0">
              <a:srgbClr val="316CE5">
                <a:alpha val="60000"/>
              </a:srgbClr>
            </a:gs>
            <a:gs pos="100000">
              <a:schemeClr val="lt1"/>
            </a:gs>
          </a:gsLst>
          <a:lin ang="10200000" scaled="0"/>
        </a:gradFill>
        <a:effectLst/>
      </p:bgPr>
    </p:bg>
    <p:spTree>
      <p:nvGrpSpPr>
        <p:cNvPr id="1" name="Shape 2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23"/>
        <p:cNvGrpSpPr/>
        <p:nvPr/>
      </p:nvGrpSpPr>
      <p:grpSpPr>
        <a:xfrm>
          <a:off x="0" y="0"/>
          <a:ext cx="0" cy="0"/>
          <a:chOff x="0" y="0"/>
          <a:chExt cx="0" cy="0"/>
        </a:xfrm>
      </p:grpSpPr>
      <p:sp>
        <p:nvSpPr>
          <p:cNvPr id="24" name="Google Shape;24;p12"/>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12"/>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chemeClr val="lt1"/>
        </a:solidFill>
        <a:effectLst/>
      </p:bgPr>
    </p:bg>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13"/>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13"/>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bg>
      <p:bgPr>
        <a:solidFill>
          <a:schemeClr val="lt1"/>
        </a:solidFill>
        <a:effectLst/>
      </p:bgPr>
    </p:bg>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14"/>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14"/>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1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14"/>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45"/>
        <p:cNvGrpSpPr/>
        <p:nvPr/>
      </p:nvGrpSpPr>
      <p:grpSpPr>
        <a:xfrm>
          <a:off x="0" y="0"/>
          <a:ext cx="0" cy="0"/>
          <a:chOff x="0" y="0"/>
          <a:chExt cx="0" cy="0"/>
        </a:xfrm>
      </p:grpSpPr>
      <p:sp>
        <p:nvSpPr>
          <p:cNvPr id="46" name="Google Shape;46;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bg>
      <p:bgPr>
        <a:solidFill>
          <a:schemeClr val="lt1"/>
        </a:solidFill>
        <a:effectLst/>
      </p:bgPr>
    </p:bg>
    <p:spTree>
      <p:nvGrpSpPr>
        <p:cNvPr id="1" name="Shape 50"/>
        <p:cNvGrpSpPr/>
        <p:nvPr/>
      </p:nvGrpSpPr>
      <p:grpSpPr>
        <a:xfrm>
          <a:off x="0" y="0"/>
          <a:ext cx="0" cy="0"/>
          <a:chOff x="0" y="0"/>
          <a:chExt cx="0" cy="0"/>
        </a:xfrm>
      </p:grpSpPr>
      <p:sp>
        <p:nvSpPr>
          <p:cNvPr id="51" name="Google Shape;51;p17"/>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7"/>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3" name="Google Shape;53;p17"/>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4" name="Google Shape;54;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lt1"/>
        </a:solidFill>
        <a:effectLst/>
      </p:bgPr>
    </p:bg>
    <p:spTree>
      <p:nvGrpSpPr>
        <p:cNvPr id="1" name="Shape 57"/>
        <p:cNvGrpSpPr/>
        <p:nvPr/>
      </p:nvGrpSpPr>
      <p:grpSpPr>
        <a:xfrm>
          <a:off x="0" y="0"/>
          <a:ext cx="0" cy="0"/>
          <a:chOff x="0" y="0"/>
          <a:chExt cx="0" cy="0"/>
        </a:xfrm>
      </p:grpSpPr>
      <p:sp>
        <p:nvSpPr>
          <p:cNvPr id="58" name="Google Shape;58;p18"/>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18"/>
          <p:cNvSpPr>
            <a:spLocks noGrp="1"/>
          </p:cNvSpPr>
          <p:nvPr>
            <p:ph type="pic" idx="2"/>
          </p:nvPr>
        </p:nvSpPr>
        <p:spPr>
          <a:xfrm>
            <a:off x="3887391" y="740569"/>
            <a:ext cx="4629300" cy="3655200"/>
          </a:xfrm>
          <a:prstGeom prst="rect">
            <a:avLst/>
          </a:prstGeom>
          <a:noFill/>
          <a:ln>
            <a:noFill/>
          </a:ln>
        </p:spPr>
      </p:sp>
      <p:sp>
        <p:nvSpPr>
          <p:cNvPr id="60" name="Google Shape;60;p18"/>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1" name="Google Shape;61;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chemeClr val="lt1"/>
        </a:solidFill>
        <a:effectLst/>
      </p:bgPr>
    </p:bg>
    <p:spTree>
      <p:nvGrpSpPr>
        <p:cNvPr id="1" name="Shape 64"/>
        <p:cNvGrpSpPr/>
        <p:nvPr/>
      </p:nvGrpSpPr>
      <p:grpSpPr>
        <a:xfrm>
          <a:off x="0" y="0"/>
          <a:ext cx="0" cy="0"/>
          <a:chOff x="0" y="0"/>
          <a:chExt cx="0" cy="0"/>
        </a:xfrm>
      </p:grpSpPr>
      <p:sp>
        <p:nvSpPr>
          <p:cNvPr id="65" name="Google Shape;65;p1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9"/>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chemeClr val="lt1"/>
        </a:solidFill>
        <a:effectLst/>
      </p:bgPr>
    </p:bg>
    <p:spTree>
      <p:nvGrpSpPr>
        <p:cNvPr id="1" name="Shape 70"/>
        <p:cNvGrpSpPr/>
        <p:nvPr/>
      </p:nvGrpSpPr>
      <p:grpSpPr>
        <a:xfrm>
          <a:off x="0" y="0"/>
          <a:ext cx="0" cy="0"/>
          <a:chOff x="0" y="0"/>
          <a:chExt cx="0" cy="0"/>
        </a:xfrm>
      </p:grpSpPr>
      <p:sp>
        <p:nvSpPr>
          <p:cNvPr id="71" name="Google Shape;71;p20"/>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20"/>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8"/>
          <p:cNvSpPr/>
          <p:nvPr/>
        </p:nvSpPr>
        <p:spPr>
          <a:xfrm>
            <a:off x="0" y="842962"/>
            <a:ext cx="9144000" cy="4314600"/>
          </a:xfrm>
          <a:prstGeom prst="rect">
            <a:avLst/>
          </a:prstGeom>
          <a:solidFill>
            <a:schemeClr val="l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Arial"/>
              <a:ea typeface="Arial"/>
              <a:cs typeface="Arial"/>
              <a:sym typeface="Arial"/>
            </a:endParaRPr>
          </a:p>
        </p:txBody>
      </p:sp>
      <p:sp>
        <p:nvSpPr>
          <p:cNvPr id="25" name="Google Shape;25;p8"/>
          <p:cNvSpPr txBox="1">
            <a:spLocks noGrp="1"/>
          </p:cNvSpPr>
          <p:nvPr>
            <p:ph type="title"/>
          </p:nvPr>
        </p:nvSpPr>
        <p:spPr>
          <a:xfrm>
            <a:off x="121444" y="0"/>
            <a:ext cx="6257925" cy="8430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000"/>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8"/>
          <p:cNvSpPr txBox="1">
            <a:spLocks noGrp="1"/>
          </p:cNvSpPr>
          <p:nvPr>
            <p:ph type="body" idx="1"/>
          </p:nvPr>
        </p:nvSpPr>
        <p:spPr>
          <a:xfrm>
            <a:off x="628650" y="1107281"/>
            <a:ext cx="7886700" cy="387787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pic>
        <p:nvPicPr>
          <p:cNvPr id="27" name="Google Shape;27;p8" descr="A black and white logo&#10;&#10;Description automatically generated"/>
          <p:cNvPicPr preferRelativeResize="0"/>
          <p:nvPr/>
        </p:nvPicPr>
        <p:blipFill rotWithShape="1">
          <a:blip r:embed="rId3">
            <a:alphaModFix/>
          </a:blip>
          <a:srcRect/>
          <a:stretch/>
        </p:blipFill>
        <p:spPr>
          <a:xfrm>
            <a:off x="6544069" y="176569"/>
            <a:ext cx="2468869" cy="502088"/>
          </a:xfrm>
          <a:prstGeom prst="rect">
            <a:avLst/>
          </a:prstGeom>
          <a:noFill/>
          <a:ln>
            <a:noFill/>
          </a:ln>
        </p:spPr>
      </p:pic>
      <p:sp>
        <p:nvSpPr>
          <p:cNvPr id="28" name="Google Shape;28;p8"/>
          <p:cNvSpPr txBox="1">
            <a:spLocks noGrp="1"/>
          </p:cNvSpPr>
          <p:nvPr>
            <p:ph type="sldNum" idx="12"/>
          </p:nvPr>
        </p:nvSpPr>
        <p:spPr>
          <a:xfrm>
            <a:off x="8605166" y="4740731"/>
            <a:ext cx="312075" cy="273825"/>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900" b="0" i="0" u="none" strike="noStrike" cap="none">
                <a:solidFill>
                  <a:schemeClr val="dk2"/>
                </a:solidFill>
                <a:latin typeface="Arial"/>
                <a:ea typeface="Arial"/>
                <a:cs typeface="Arial"/>
                <a:sym typeface="Arial"/>
              </a:defRPr>
            </a:lvl1pPr>
            <a:lvl2pPr marL="0" lvl="1" indent="0" algn="r" rtl="0">
              <a:spcBef>
                <a:spcPts val="0"/>
              </a:spcBef>
              <a:buNone/>
              <a:defRPr sz="900" b="0" i="0" u="none" strike="noStrike" cap="none">
                <a:solidFill>
                  <a:schemeClr val="dk2"/>
                </a:solidFill>
                <a:latin typeface="Arial"/>
                <a:ea typeface="Arial"/>
                <a:cs typeface="Arial"/>
                <a:sym typeface="Arial"/>
              </a:defRPr>
            </a:lvl2pPr>
            <a:lvl3pPr marL="0" lvl="2" indent="0" algn="r" rtl="0">
              <a:spcBef>
                <a:spcPts val="0"/>
              </a:spcBef>
              <a:buNone/>
              <a:defRPr sz="900" b="0" i="0" u="none" strike="noStrike" cap="none">
                <a:solidFill>
                  <a:schemeClr val="dk2"/>
                </a:solidFill>
                <a:latin typeface="Arial"/>
                <a:ea typeface="Arial"/>
                <a:cs typeface="Arial"/>
                <a:sym typeface="Arial"/>
              </a:defRPr>
            </a:lvl3pPr>
            <a:lvl4pPr marL="0" lvl="3" indent="0" algn="r" rtl="0">
              <a:spcBef>
                <a:spcPts val="0"/>
              </a:spcBef>
              <a:buNone/>
              <a:defRPr sz="900" b="0" i="0" u="none" strike="noStrike" cap="none">
                <a:solidFill>
                  <a:schemeClr val="dk2"/>
                </a:solidFill>
                <a:latin typeface="Arial"/>
                <a:ea typeface="Arial"/>
                <a:cs typeface="Arial"/>
                <a:sym typeface="Arial"/>
              </a:defRPr>
            </a:lvl4pPr>
            <a:lvl5pPr marL="0" lvl="4" indent="0" algn="r" rtl="0">
              <a:spcBef>
                <a:spcPts val="0"/>
              </a:spcBef>
              <a:buNone/>
              <a:defRPr sz="900" b="0" i="0" u="none" strike="noStrike" cap="none">
                <a:solidFill>
                  <a:schemeClr val="dk2"/>
                </a:solidFill>
                <a:latin typeface="Arial"/>
                <a:ea typeface="Arial"/>
                <a:cs typeface="Arial"/>
                <a:sym typeface="Arial"/>
              </a:defRPr>
            </a:lvl5pPr>
            <a:lvl6pPr marL="0" lvl="5" indent="0" algn="r" rtl="0">
              <a:spcBef>
                <a:spcPts val="0"/>
              </a:spcBef>
              <a:buNone/>
              <a:defRPr sz="900" b="0" i="0" u="none" strike="noStrike" cap="none">
                <a:solidFill>
                  <a:schemeClr val="dk2"/>
                </a:solidFill>
                <a:latin typeface="Arial"/>
                <a:ea typeface="Arial"/>
                <a:cs typeface="Arial"/>
                <a:sym typeface="Arial"/>
              </a:defRPr>
            </a:lvl6pPr>
            <a:lvl7pPr marL="0" lvl="6" indent="0" algn="r" rtl="0">
              <a:spcBef>
                <a:spcPts val="0"/>
              </a:spcBef>
              <a:buNone/>
              <a:defRPr sz="900" b="0" i="0" u="none" strike="noStrike" cap="none">
                <a:solidFill>
                  <a:schemeClr val="dk2"/>
                </a:solidFill>
                <a:latin typeface="Arial"/>
                <a:ea typeface="Arial"/>
                <a:cs typeface="Arial"/>
                <a:sym typeface="Arial"/>
              </a:defRPr>
            </a:lvl7pPr>
            <a:lvl8pPr marL="0" lvl="7" indent="0" algn="r" rtl="0">
              <a:spcBef>
                <a:spcPts val="0"/>
              </a:spcBef>
              <a:buNone/>
              <a:defRPr sz="900" b="0" i="0" u="none" strike="noStrike" cap="none">
                <a:solidFill>
                  <a:schemeClr val="dk2"/>
                </a:solidFill>
                <a:latin typeface="Arial"/>
                <a:ea typeface="Arial"/>
                <a:cs typeface="Arial"/>
                <a:sym typeface="Arial"/>
              </a:defRPr>
            </a:lvl8pPr>
            <a:lvl9pPr marL="0" lvl="8" indent="0" algn="r" rtl="0">
              <a:spcBef>
                <a:spcPts val="0"/>
              </a:spcBef>
              <a:buNone/>
              <a:defRPr sz="900" b="0" i="0" u="none" strike="noStrike" cap="none">
                <a:solidFill>
                  <a:schemeClr val="dk2"/>
                </a:solidFill>
                <a:latin typeface="Arial"/>
                <a:ea typeface="Arial"/>
                <a:cs typeface="Arial"/>
                <a:sym typeface="Arial"/>
              </a:defRPr>
            </a:lvl9pPr>
          </a:lstStyle>
          <a:p>
            <a:fld id="{00000000-1234-1234-1234-123412341234}" type="slidenum">
              <a:rPr lang="en-CA" smtClean="0"/>
              <a:pPr/>
              <a:t>‹#›</a:t>
            </a:fld>
            <a:endParaRPr lang="en-CA"/>
          </a:p>
        </p:txBody>
      </p:sp>
    </p:spTree>
    <p:extLst>
      <p:ext uri="{BB962C8B-B14F-4D97-AF65-F5344CB8AC3E}">
        <p14:creationId xmlns:p14="http://schemas.microsoft.com/office/powerpoint/2010/main" val="292616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rgbClr val="3939D9"/>
        </a:solidFill>
        <a:effectLst/>
      </p:bgPr>
    </p:bg>
    <p:spTree>
      <p:nvGrpSpPr>
        <p:cNvPr id="1" name="Shape 15"/>
        <p:cNvGrpSpPr/>
        <p:nvPr/>
      </p:nvGrpSpPr>
      <p:grpSpPr>
        <a:xfrm>
          <a:off x="0" y="0"/>
          <a:ext cx="0" cy="0"/>
          <a:chOff x="0" y="0"/>
          <a:chExt cx="0" cy="0"/>
        </a:xfrm>
      </p:grpSpPr>
      <p:pic>
        <p:nvPicPr>
          <p:cNvPr id="4" name="Picture 3">
            <a:extLst>
              <a:ext uri="{FF2B5EF4-FFF2-40B4-BE49-F238E27FC236}">
                <a16:creationId xmlns:a16="http://schemas.microsoft.com/office/drawing/2014/main" id="{BAD15AED-7235-C191-92E3-AA26F3A5AF72}"/>
              </a:ext>
            </a:extLst>
          </p:cNvPr>
          <p:cNvPicPr>
            <a:picLocks noChangeAspect="1"/>
          </p:cNvPicPr>
          <p:nvPr/>
        </p:nvPicPr>
        <p:blipFill>
          <a:blip r:embed="rId2"/>
          <a:stretch>
            <a:fillRect/>
          </a:stretch>
        </p:blipFill>
        <p:spPr>
          <a:xfrm>
            <a:off x="0" y="1037627"/>
            <a:ext cx="9144000" cy="4572000"/>
          </a:xfrm>
          <a:prstGeom prst="rect">
            <a:avLst/>
          </a:prstGeom>
        </p:spPr>
      </p:pic>
      <p:sp>
        <p:nvSpPr>
          <p:cNvPr id="18" name="Google Shape;18;p3"/>
          <p:cNvSpPr txBox="1">
            <a:spLocks noGrp="1"/>
          </p:cNvSpPr>
          <p:nvPr>
            <p:ph type="title"/>
          </p:nvPr>
        </p:nvSpPr>
        <p:spPr>
          <a:xfrm>
            <a:off x="311700" y="1940538"/>
            <a:ext cx="8520600" cy="841800"/>
          </a:xfrm>
          <a:prstGeom prst="rect">
            <a:avLst/>
          </a:prstGeom>
        </p:spPr>
        <p:txBody>
          <a:bodyPr spcFirstLastPara="1" wrap="square" lIns="0" tIns="0" rIns="0" bIns="0" anchor="ctr" anchorCtr="0">
            <a:noAutofit/>
          </a:bodyPr>
          <a:lstStyle>
            <a:lvl1pPr lvl="0" algn="l">
              <a:spcBef>
                <a:spcPts val="0"/>
              </a:spcBef>
              <a:spcAft>
                <a:spcPts val="0"/>
              </a:spcAft>
              <a:buClr>
                <a:schemeClr val="lt1"/>
              </a:buClr>
              <a:buSzPts val="3600"/>
              <a:buNone/>
              <a:defRPr sz="3600">
                <a:solidFill>
                  <a:schemeClr val="bg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r>
              <a:rPr lang="zh-CN" altLang="en-US"/>
              <a:t>单击此处编辑母版标题样式</a:t>
            </a:r>
            <a:endParaRPr dirty="0"/>
          </a:p>
        </p:txBody>
      </p:sp>
      <p:pic>
        <p:nvPicPr>
          <p:cNvPr id="2" name="Graphic 1">
            <a:extLst>
              <a:ext uri="{FF2B5EF4-FFF2-40B4-BE49-F238E27FC236}">
                <a16:creationId xmlns:a16="http://schemas.microsoft.com/office/drawing/2014/main" id="{5800D33B-D352-5CF8-487B-62E99AF875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pic>
        <p:nvPicPr>
          <p:cNvPr id="3" name="Picture 3">
            <a:extLst>
              <a:ext uri="{FF2B5EF4-FFF2-40B4-BE49-F238E27FC236}">
                <a16:creationId xmlns:a16="http://schemas.microsoft.com/office/drawing/2014/main" id="{C8A91009-3244-D7B1-D387-1E5F81E3842D}"/>
              </a:ext>
            </a:extLst>
          </p:cNvPr>
          <p:cNvPicPr>
            <a:picLocks noChangeAspect="1"/>
          </p:cNvPicPr>
          <p:nvPr userDrawn="1"/>
        </p:nvPicPr>
        <p:blipFill>
          <a:blip r:embed="rId2"/>
          <a:stretch>
            <a:fillRect/>
          </a:stretch>
        </p:blipFill>
        <p:spPr>
          <a:xfrm>
            <a:off x="0" y="1037627"/>
            <a:ext cx="9144000" cy="4572000"/>
          </a:xfrm>
          <a:prstGeom prst="rect">
            <a:avLst/>
          </a:prstGeom>
        </p:spPr>
      </p:pic>
      <p:pic>
        <p:nvPicPr>
          <p:cNvPr id="5" name="Graphic 1">
            <a:extLst>
              <a:ext uri="{FF2B5EF4-FFF2-40B4-BE49-F238E27FC236}">
                <a16:creationId xmlns:a16="http://schemas.microsoft.com/office/drawing/2014/main" id="{14824A21-FF8F-D8BA-5392-A7B6169F1A7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213" y="178533"/>
            <a:ext cx="2007965" cy="882288"/>
          </a:xfrm>
          <a:prstGeom prst="rect">
            <a:avLst/>
          </a:prstGeom>
        </p:spPr>
      </p:pic>
    </p:spTree>
    <p:extLst>
      <p:ext uri="{BB962C8B-B14F-4D97-AF65-F5344CB8AC3E}">
        <p14:creationId xmlns:p14="http://schemas.microsoft.com/office/powerpoint/2010/main" val="31332655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20"/>
        <p:cNvGrpSpPr/>
        <p:nvPr/>
      </p:nvGrpSpPr>
      <p:grpSpPr>
        <a:xfrm>
          <a:off x="0" y="0"/>
          <a:ext cx="0" cy="0"/>
          <a:chOff x="0" y="0"/>
          <a:chExt cx="0" cy="0"/>
        </a:xfrm>
      </p:grpSpPr>
      <p:sp>
        <p:nvSpPr>
          <p:cNvPr id="2" name="Google Shape;21;p9">
            <a:extLst>
              <a:ext uri="{FF2B5EF4-FFF2-40B4-BE49-F238E27FC236}">
                <a16:creationId xmlns:a16="http://schemas.microsoft.com/office/drawing/2014/main" id="{75690BBD-4CD0-DFB9-AB2D-E63C2BD08AB7}"/>
              </a:ext>
            </a:extLst>
          </p:cNvPr>
          <p:cNvSpPr/>
          <p:nvPr/>
        </p:nvSpPr>
        <p:spPr>
          <a:xfrm>
            <a:off x="7100" y="5625"/>
            <a:ext cx="9136900" cy="1047900"/>
          </a:xfrm>
          <a:prstGeom prst="rect">
            <a:avLst/>
          </a:prstGeom>
          <a:solidFill>
            <a:srgbClr val="393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2" name="Google Shape;22;p4"/>
          <p:cNvSpPr txBox="1">
            <a:spLocks noGrp="1"/>
          </p:cNvSpPr>
          <p:nvPr>
            <p:ph type="title"/>
          </p:nvPr>
        </p:nvSpPr>
        <p:spPr>
          <a:xfrm>
            <a:off x="311700" y="0"/>
            <a:ext cx="6949739" cy="1047900"/>
          </a:xfrm>
          <a:prstGeom prst="rect">
            <a:avLst/>
          </a:prstGeom>
        </p:spPr>
        <p:txBody>
          <a:bodyPr spcFirstLastPara="1" wrap="square" lIns="0" tIns="0" rIns="0" bIns="0" anchor="ctr" anchorCtr="0">
            <a:normAutofit/>
          </a:bodyPr>
          <a:lstStyle>
            <a:lvl1pPr lvl="0">
              <a:spcBef>
                <a:spcPts val="0"/>
              </a:spcBef>
              <a:spcAft>
                <a:spcPts val="0"/>
              </a:spcAft>
              <a:buSzPts val="2800"/>
              <a:buNone/>
              <a:defRPr>
                <a:solidFill>
                  <a:schemeClr val="bg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zh-CN" altLang="en-US"/>
              <a:t>单击此处编辑母版标题样式</a:t>
            </a:r>
            <a:endParaRPr dirty="0"/>
          </a:p>
        </p:txBody>
      </p:sp>
      <p:sp>
        <p:nvSpPr>
          <p:cNvPr id="23" name="Google Shape;23;p4"/>
          <p:cNvSpPr txBox="1">
            <a:spLocks noGrp="1"/>
          </p:cNvSpPr>
          <p:nvPr>
            <p:ph type="body" idx="1"/>
          </p:nvPr>
        </p:nvSpPr>
        <p:spPr>
          <a:xfrm>
            <a:off x="311700" y="1152475"/>
            <a:ext cx="8520600" cy="33174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sz="12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zh-CN" altLang="en-US"/>
              <a:t>单击此处编辑母版文本样式</a:t>
            </a:r>
          </a:p>
        </p:txBody>
      </p:sp>
      <p:sp>
        <p:nvSpPr>
          <p:cNvPr id="3" name="Google Shape;8;p1">
            <a:extLst>
              <a:ext uri="{FF2B5EF4-FFF2-40B4-BE49-F238E27FC236}">
                <a16:creationId xmlns:a16="http://schemas.microsoft.com/office/drawing/2014/main" id="{19D7AB29-BDB6-7644-4042-CFF53942E56F}"/>
              </a:ext>
            </a:extLst>
          </p:cNvPr>
          <p:cNvSpPr txBox="1">
            <a:spLocks noGrp="1"/>
          </p:cNvSpPr>
          <p:nvPr>
            <p:ph type="sldNum" idx="12"/>
          </p:nvPr>
        </p:nvSpPr>
        <p:spPr>
          <a:xfrm>
            <a:off x="8283600" y="4663217"/>
            <a:ext cx="548700" cy="393600"/>
          </a:xfrm>
          <a:prstGeom prst="rect">
            <a:avLst/>
          </a:prstGeom>
          <a:noFill/>
          <a:ln>
            <a:noFill/>
          </a:ln>
        </p:spPr>
        <p:txBody>
          <a:bodyPr spcFirstLastPara="1" wrap="square" lIns="0" tIns="0" rIns="0" bIns="0"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5" name="Graphic 4">
            <a:extLst>
              <a:ext uri="{FF2B5EF4-FFF2-40B4-BE49-F238E27FC236}">
                <a16:creationId xmlns:a16="http://schemas.microsoft.com/office/drawing/2014/main" id="{CD8E9950-A10C-9781-AB14-71F0DE3ED8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86494" y="262283"/>
            <a:ext cx="1245804" cy="547399"/>
          </a:xfrm>
          <a:prstGeom prst="rect">
            <a:avLst/>
          </a:prstGeom>
        </p:spPr>
      </p:pic>
    </p:spTree>
    <p:extLst>
      <p:ext uri="{BB962C8B-B14F-4D97-AF65-F5344CB8AC3E}">
        <p14:creationId xmlns:p14="http://schemas.microsoft.com/office/powerpoint/2010/main" val="18180361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316CE5">
                <a:alpha val="29020"/>
              </a:srgbClr>
            </a:gs>
            <a:gs pos="100000">
              <a:schemeClr val="lt1"/>
            </a:gs>
          </a:gsLst>
          <a:lin ang="10200000" scaled="0"/>
        </a:gra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 Id="rId14" Type="http://schemas.openxmlformats.org/officeDocument/2006/relationships/image" Target="../media/image26.png"/><Relationship Id="rId15" Type="http://schemas.openxmlformats.org/officeDocument/2006/relationships/image" Target="../media/image27.png"/><Relationship Id="rId16"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g"/><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p:nvPr/>
        </p:nvSpPr>
        <p:spPr>
          <a:xfrm>
            <a:off x="470842" y="3435059"/>
            <a:ext cx="7886700" cy="994200"/>
          </a:xfrm>
          <a:prstGeom prst="rect">
            <a:avLst/>
          </a:prstGeom>
          <a:noFill/>
          <a:ln>
            <a:noFill/>
          </a:ln>
        </p:spPr>
        <p:txBody>
          <a:bodyPr spcFirstLastPara="1" wrap="square" lIns="68575" tIns="34275" rIns="68575" bIns="34275" anchor="ctr" anchorCtr="0">
            <a:normAutofit/>
          </a:bodyPr>
          <a:lstStyle/>
          <a:p>
            <a:pPr lvl="0">
              <a:lnSpc>
                <a:spcPct val="90000"/>
              </a:lnSpc>
              <a:buClr>
                <a:schemeClr val="lt1"/>
              </a:buClr>
              <a:buSzPts val="2700"/>
            </a:pPr>
            <a:r>
              <a:rPr lang="en-US" sz="2000" i="1" dirty="0" cap="none">
                <a:solidFill>
                  <a:srgbClr val="142C46"/>
                </a:solidFill>
                <a:latin typeface="Arial"/>
              </a:rPr>
              <a:t>Andy Zhang — Microsoft</a:t>
            </a:r>
            <a:br/>
            <a:r>
              <a:rPr cap="none" sz="2000">
                <a:solidFill>
                  <a:srgbClr val="142C46"/>
                </a:solidFill>
                <a:latin typeface="Arial"/>
              </a:rPr>
              <a:t>Linbo He — Microsoft</a:t>
            </a:r>
            <a:endParaRPr lang="en-US" sz="2700" i="1" dirty="0">
              <a:solidFill>
                <a:schemeClr val="tx1"/>
              </a:solidFill>
            </a:endParaRPr>
          </a:p>
        </p:txBody>
      </p:sp>
      <p:sp>
        <p:nvSpPr>
          <p:cNvPr id="109" name="Google Shape;109;p2"/>
          <p:cNvSpPr txBox="1"/>
          <p:nvPr/>
        </p:nvSpPr>
        <p:spPr>
          <a:xfrm>
            <a:off x="470842" y="1082277"/>
            <a:ext cx="8148092" cy="2286000"/>
          </a:xfrm>
          <a:prstGeom prst="rect">
            <a:avLst/>
          </a:prstGeom>
          <a:noFill/>
          <a:ln>
            <a:noFill/>
          </a:ln>
        </p:spPr>
        <p:txBody>
          <a:bodyPr spcFirstLastPara="1" wrap="square" lIns="68575" tIns="34275" rIns="68575" bIns="34275" anchor="ctr" anchorCtr="0">
            <a:normAutofit/>
          </a:bodyPr>
          <a:lstStyle/>
          <a:p>
            <a:pPr lvl="0">
              <a:lnSpc>
                <a:spcPct val="90000"/>
              </a:lnSpc>
              <a:buClr>
                <a:schemeClr val="lt1"/>
              </a:buClr>
              <a:buSzPts val="5600"/>
            </a:pPr>
            <a:r>
              <a:rPr lang="en-US" sz="2700" b="1" dirty="0" cap="none">
                <a:solidFill>
                  <a:srgbClr val="142C46"/>
                </a:solidFill>
                <a:latin typeface="Arial"/>
              </a:rPr>
              <a:t>Prefill here, decode there</a:t>
            </a:r>
            <a:br/>
            <a:r>
              <a:rPr cap="none" sz="2700">
                <a:solidFill>
                  <a:srgbClr val="142C46"/>
                </a:solidFill>
                <a:latin typeface="Arial"/>
              </a:rPr>
              <a:t>Kubernetes-native LLM inference</a:t>
            </a:r>
            <a:br/>
            <a:r>
              <a:rPr cap="none" sz="2700">
                <a:solidFill>
                  <a:srgbClr val="142C46"/>
                </a:solidFill>
                <a:latin typeface="Arial"/>
              </a:rPr>
              <a:t>with KAITO and llm-d</a:t>
            </a:r>
          </a:p>
        </p:txBody>
      </p:sp>
      <p:sp>
        <p:nvSpPr>
          <p:cNvPr id="110" name="TextBox 10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11" name="TextBox 11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02 / 49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365760" y="539496"/>
            <a:ext cx="8412480" cy="41148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chemeClr val="lt1"/>
              </a:buClr>
              <a:buSzPts val="2700"/>
              <a:buFont typeface="Arial"/>
              <a:buNone/>
            </a:pPr>
            <a:r>
              <a:rPr lang="en-US" altLang="zh-CN" sz="2100" b="1" i="0" u="none" strike="noStrike" cap="none" dirty="0">
                <a:solidFill>
                  <a:srgbClr val="142C46"/>
                </a:solidFill>
                <a:latin typeface="Arial"/>
                <a:ea typeface="Arial"/>
                <a:cs typeface="Arial"/>
                <a:sym typeface="Arial"/>
              </a:rPr>
              <a:t>About us</a:t>
            </a:r>
            <a:endParaRPr sz="2400" b="1" i="0" u="none" strike="noStrike" cap="none" dirty="0">
              <a:solidFill>
                <a:srgbClr val="316CE5"/>
              </a:solidFill>
              <a:latin typeface="Arial"/>
              <a:ea typeface="Arial"/>
              <a:cs typeface="Arial"/>
              <a:sym typeface="Arial"/>
            </a:endParaRPr>
          </a:p>
        </p:txBody>
      </p:sp>
      <p:sp>
        <p:nvSpPr>
          <p:cNvPr id="11" name="Google Shape;148;p31">
            <a:extLst>
              <a:ext uri="{FF2B5EF4-FFF2-40B4-BE49-F238E27FC236}">
                <a16:creationId xmlns:a16="http://schemas.microsoft.com/office/drawing/2014/main" id="{FB60E743-B83B-2F67-84EA-9ABF5AAA2207}"/>
              </a:ext>
            </a:extLst>
          </p:cNvPr>
          <p:cNvSpPr txBox="1"/>
          <p:nvPr/>
        </p:nvSpPr>
        <p:spPr>
          <a:xfrm>
            <a:off x="4983480" y="3383280"/>
            <a:ext cx="3657600" cy="438912"/>
          </a:xfrm>
          <a:prstGeom prst="rect">
            <a:avLst/>
          </a:prstGeom>
          <a:noFill/>
          <a:ln>
            <a:noFill/>
          </a:ln>
        </p:spPr>
        <p:txBody>
          <a:bodyPr spcFirstLastPara="1" wrap="square" lIns="91425" tIns="45700" rIns="91425" bIns="45700" anchor="t" anchorCtr="0">
            <a:spAutoFit/>
          </a:bodyPr>
          <a:lstStyle/>
          <a:p>
            <a:pPr lvl="0">
              <a:buSzPts val="3200"/>
            </a:pPr>
            <a:r>
              <a:rPr lang="zh-CN" altLang="zh-CN" sz="2300" b="1" dirty="0" cap="none">
                <a:solidFill>
                  <a:srgbClr val="142C46"/>
                </a:solidFill>
                <a:latin typeface="Arial"/>
              </a:rPr>
              <a:t>Linbo He</a:t>
            </a:r>
            <a:endParaRPr lang="en-US" altLang="zh-CN" sz="3200" b="1" dirty="0"/>
          </a:p>
        </p:txBody>
      </p:sp>
      <p:pic>
        <p:nvPicPr>
          <p:cNvPr id="17" name="Picture 4">
            <a:extLst>
              <a:ext uri="{FF2B5EF4-FFF2-40B4-BE49-F238E27FC236}">
                <a16:creationId xmlns:a16="http://schemas.microsoft.com/office/drawing/2014/main" id="{3CCD3BDD-D922-3F8A-6A35-8FEC76E27A5F}"/>
              </a:ext>
            </a:extLst>
          </p:cNvPr>
          <p:cNvPicPr>
            <a:picLocks noChangeAspect="1"/>
          </p:cNvPicPr>
          <p:nvPr/>
        </p:nvPicPr>
        <p:blipFill>
          <a:blip r:embed="rId3">
            <a:alphaModFix/>
          </a:blip>
          <a:stretch>
            <a:fillRect/>
          </a:stretch>
        </p:blipFill>
        <p:spPr>
          <a:xfrm>
            <a:off x="5396592" y="1175560"/>
            <a:ext cx="2082913" cy="2082913"/>
          </a:xfrm>
          <a:prstGeom prst="rect">
            <a:avLst/>
          </a:prstGeom>
          <a:noFill/>
          <a:ln>
            <a:noFill/>
          </a:ln>
          <a:effectLst>
            <a:outerShdw blurRad="292100" dist="139700" dir="2700000" algn="tl" rotWithShape="0">
              <a:srgbClr val="333333">
                <a:alpha val="64313"/>
              </a:srgbClr>
            </a:outerShdw>
          </a:effectLst>
        </p:spPr>
      </p:pic>
      <p:sp>
        <p:nvSpPr>
          <p:cNvPr id="19" name="文本框 20">
            <a:extLst>
              <a:ext uri="{FF2B5EF4-FFF2-40B4-BE49-F238E27FC236}">
                <a16:creationId xmlns:a16="http://schemas.microsoft.com/office/drawing/2014/main" id="{A5A5092C-10A2-873B-22FC-0DEAFA08A4FE}"/>
              </a:ext>
            </a:extLst>
          </p:cNvPr>
          <p:cNvSpPr txBox="1"/>
          <p:nvPr/>
        </p:nvSpPr>
        <p:spPr>
          <a:xfrm>
            <a:off x="4983480" y="3922776"/>
            <a:ext cx="3657600" cy="777240"/>
          </a:xfrm>
          <a:prstGeom prst="rect">
            <a:avLst/>
          </a:prstGeom>
          <a:noFill/>
        </p:spPr>
        <p:txBody>
          <a:bodyPr wrap="square">
            <a:spAutoFit/>
          </a:bodyPr>
          <a:lstStyle/>
          <a:p>
            <a:pPr marL="114300"/>
            <a:r>
              <a:rPr lang="en-US" altLang="zh-CN" sz="1200" dirty="0" cap="none">
                <a:solidFill>
                  <a:srgbClr val="52677D"/>
                </a:solidFill>
                <a:latin typeface="Arial"/>
              </a:rPr>
              <a:t>Principal Software Engineer, Microsoft</a:t>
            </a:r>
          </a:p>
          <a:p>
            <a:pPr marL="114300"/>
            <a:r>
              <a:rPr lang="en-US" altLang="zh-CN" sz="1200" dirty="0" cap="none">
                <a:solidFill>
                  <a:srgbClr val="52677D"/>
                </a:solidFill>
                <a:latin typeface="Arial"/>
              </a:rPr>
              <a:t>KAITO &amp; OpenYurt maintainer</a:t>
            </a:r>
          </a:p>
          <a:p>
            <a:pPr marL="114300"/>
            <a:r>
              <a:rPr lang="en-US" altLang="zh-CN" sz="1200" dirty="0" cap="none">
                <a:solidFill>
                  <a:srgbClr val="52677D"/>
                </a:solidFill>
                <a:latin typeface="Arial"/>
              </a:rPr>
              <a:t>GitHub: </a:t>
            </a:r>
            <a:r>
              <a:rPr lang="en-US" altLang="zh-CN" sz="1200" dirty="0" err="1" cap="none">
                <a:solidFill>
                  <a:srgbClr val="52677D"/>
                </a:solidFill>
                <a:latin typeface="Arial"/>
              </a:rPr>
              <a:t>rambohe</a:t>
            </a:r>
            <a:r>
              <a:rPr lang="en-US" altLang="zh-CN" sz="1200" dirty="0" cap="none">
                <a:solidFill>
                  <a:srgbClr val="52677D"/>
                </a:solidFill>
                <a:latin typeface="Arial"/>
              </a:rPr>
              <a:t>-ch</a:t>
            </a:r>
          </a:p>
        </p:txBody>
      </p:sp>
      <p:pic>
        <p:nvPicPr>
          <p:cNvPr id="21" name="图片 3" descr="Microsoft - Free logo icons">
            <a:extLst>
              <a:ext uri="{FF2B5EF4-FFF2-40B4-BE49-F238E27FC236}">
                <a16:creationId xmlns:a16="http://schemas.microsoft.com/office/drawing/2014/main" id="{A0C9B620-8DDE-33A2-A6DF-CDFA248BF052}"/>
              </a:ext>
            </a:extLst>
          </p:cNvPr>
          <p:cNvPicPr>
            <a:picLocks noChangeAspect="1"/>
          </p:cNvPicPr>
          <p:nvPr/>
        </p:nvPicPr>
        <p:blipFill>
          <a:blip r:embed="rId4"/>
          <a:stretch>
            <a:fillRect/>
          </a:stretch>
        </p:blipFill>
        <p:spPr>
          <a:xfrm>
            <a:off x="8498657" y="4148065"/>
            <a:ext cx="236311" cy="236311"/>
          </a:xfrm>
          <a:prstGeom prst="rect">
            <a:avLst/>
          </a:prstGeom>
        </p:spPr>
      </p:pic>
      <p:sp>
        <p:nvSpPr>
          <p:cNvPr id="23" name="Google Shape;148;p31">
            <a:extLst>
              <a:ext uri="{FF2B5EF4-FFF2-40B4-BE49-F238E27FC236}">
                <a16:creationId xmlns:a16="http://schemas.microsoft.com/office/drawing/2014/main" id="{C843ABA0-8DE8-F620-B241-487588553B97}"/>
              </a:ext>
            </a:extLst>
          </p:cNvPr>
          <p:cNvSpPr txBox="1"/>
          <p:nvPr/>
        </p:nvSpPr>
        <p:spPr>
          <a:xfrm>
            <a:off x="548640" y="3383280"/>
            <a:ext cx="3657600" cy="438912"/>
          </a:xfrm>
          <a:prstGeom prst="rect">
            <a:avLst/>
          </a:prstGeom>
          <a:noFill/>
          <a:ln>
            <a:noFill/>
          </a:ln>
        </p:spPr>
        <p:txBody>
          <a:bodyPr spcFirstLastPara="1" wrap="square" lIns="91425" tIns="45700" rIns="91425" bIns="45700" anchor="t" anchorCtr="0">
            <a:spAutoFit/>
          </a:bodyPr>
          <a:lstStyle/>
          <a:p>
            <a:pPr lvl="0">
              <a:buSzPts val="3200"/>
            </a:pPr>
            <a:r>
              <a:rPr lang="en-US" altLang="zh-CN" sz="2300" b="1" dirty="0" cap="none">
                <a:solidFill>
                  <a:srgbClr val="142C46"/>
                </a:solidFill>
                <a:latin typeface="Arial"/>
              </a:rPr>
              <a:t>Andy Zhang</a:t>
            </a:r>
          </a:p>
        </p:txBody>
      </p:sp>
      <p:sp>
        <p:nvSpPr>
          <p:cNvPr id="29" name="文本框 20">
            <a:extLst>
              <a:ext uri="{FF2B5EF4-FFF2-40B4-BE49-F238E27FC236}">
                <a16:creationId xmlns:a16="http://schemas.microsoft.com/office/drawing/2014/main" id="{BDBB3C74-44FB-90A6-8DFB-D9B7E6EA4542}"/>
              </a:ext>
            </a:extLst>
          </p:cNvPr>
          <p:cNvSpPr txBox="1"/>
          <p:nvPr/>
        </p:nvSpPr>
        <p:spPr>
          <a:xfrm>
            <a:off x="548640" y="3922776"/>
            <a:ext cx="3657600" cy="777240"/>
          </a:xfrm>
          <a:prstGeom prst="rect">
            <a:avLst/>
          </a:prstGeom>
          <a:noFill/>
        </p:spPr>
        <p:txBody>
          <a:bodyPr wrap="square">
            <a:spAutoFit/>
          </a:bodyPr>
          <a:lstStyle/>
          <a:p>
            <a:pPr marL="114300"/>
            <a:r>
              <a:rPr lang="en-US" altLang="zh-CN" sz="1200" dirty="0" cap="none">
                <a:solidFill>
                  <a:srgbClr val="52677D"/>
                </a:solidFill>
                <a:latin typeface="Arial"/>
              </a:rPr>
              <a:t>Principal Software Engineer, Microsoft</a:t>
            </a:r>
          </a:p>
          <a:p>
            <a:pPr marL="114300"/>
            <a:r>
              <a:rPr lang="en-US" altLang="zh-CN" sz="1200" dirty="0" cap="none">
                <a:solidFill>
                  <a:srgbClr val="52677D"/>
                </a:solidFill>
                <a:latin typeface="Arial"/>
              </a:rPr>
              <a:t>KAITO &amp; </a:t>
            </a:r>
            <a:r>
              <a:rPr lang="en-US" altLang="zh-CN" dirty="0" cap="none" sz="1200">
                <a:solidFill>
                  <a:srgbClr val="52677D"/>
                </a:solidFill>
                <a:latin typeface="Arial"/>
              </a:rPr>
              <a:t>CSI driver</a:t>
            </a:r>
            <a:r>
              <a:rPr lang="en-US" altLang="zh-CN" sz="1200" dirty="0" cap="none">
                <a:solidFill>
                  <a:srgbClr val="52677D"/>
                </a:solidFill>
                <a:latin typeface="Arial"/>
              </a:rPr>
              <a:t> maintainer</a:t>
            </a:r>
          </a:p>
          <a:p>
            <a:pPr marL="114300"/>
            <a:r>
              <a:rPr lang="en-US" altLang="zh-CN" sz="1200" dirty="0" cap="none">
                <a:solidFill>
                  <a:srgbClr val="52677D"/>
                </a:solidFill>
                <a:latin typeface="Arial"/>
              </a:rPr>
              <a:t>GitHub: </a:t>
            </a:r>
            <a:r>
              <a:rPr lang="en-US" altLang="zh-CN" sz="1200" dirty="0" err="1" cap="none">
                <a:solidFill>
                  <a:srgbClr val="52677D"/>
                </a:solidFill>
                <a:latin typeface="Arial"/>
              </a:rPr>
              <a:t>andyzhangx</a:t>
            </a:r>
            <a:endParaRPr lang="en-US" altLang="zh-CN" sz="1400" dirty="0"/>
          </a:p>
        </p:txBody>
      </p:sp>
      <p:pic>
        <p:nvPicPr>
          <p:cNvPr id="31" name="图片 3" descr="Microsoft - Free logo icons">
            <a:extLst>
              <a:ext uri="{FF2B5EF4-FFF2-40B4-BE49-F238E27FC236}">
                <a16:creationId xmlns:a16="http://schemas.microsoft.com/office/drawing/2014/main" id="{D7CDD7F5-919D-E08B-B96D-1A9A5AC3A33F}"/>
              </a:ext>
            </a:extLst>
          </p:cNvPr>
          <p:cNvPicPr>
            <a:picLocks noChangeAspect="1"/>
          </p:cNvPicPr>
          <p:nvPr/>
        </p:nvPicPr>
        <p:blipFill>
          <a:blip r:embed="rId4"/>
          <a:stretch>
            <a:fillRect/>
          </a:stretch>
        </p:blipFill>
        <p:spPr>
          <a:xfrm>
            <a:off x="3721025" y="4161686"/>
            <a:ext cx="236311" cy="236311"/>
          </a:xfrm>
          <a:prstGeom prst="rect">
            <a:avLst/>
          </a:prstGeom>
        </p:spPr>
      </p:pic>
      <p:pic>
        <p:nvPicPr>
          <p:cNvPr id="35" name="Picture 34">
            <a:extLst>
              <a:ext uri="{FF2B5EF4-FFF2-40B4-BE49-F238E27FC236}">
                <a16:creationId xmlns:a16="http://schemas.microsoft.com/office/drawing/2014/main" id="{A550370D-93D9-3044-D735-006AEE2F17AA}"/>
              </a:ext>
            </a:extLst>
          </p:cNvPr>
          <p:cNvPicPr>
            <a:picLocks noChangeAspect="1"/>
          </p:cNvPicPr>
          <p:nvPr/>
        </p:nvPicPr>
        <p:blipFill>
          <a:blip r:embed="rId5"/>
          <a:stretch>
            <a:fillRect/>
          </a:stretch>
        </p:blipFill>
        <p:spPr>
          <a:xfrm>
            <a:off x="527187" y="1232829"/>
            <a:ext cx="3048260" cy="2025644"/>
          </a:xfrm>
          <a:prstGeom prst="rect">
            <a:avLst/>
          </a:prstGeom>
        </p:spPr>
      </p:pic>
      <p:sp>
        <p:nvSpPr>
          <p:cNvPr id="103" name="TextBox 102"/>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04" name="TextBox 103"/>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03 / 49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2895BA3-4A61-0588-5457-C3969249CD4D}"/>
            </a:ext>
          </a:extLst>
        </p:cNvPr>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Agenda</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From the inference basics to a Kubernetes operating model</a:t>
            </a:r>
          </a:p>
        </p:txBody>
      </p:sp>
      <p:sp>
        <p:nvSpPr>
          <p:cNvPr id="4" name="Rounded Rectangle 3"/>
          <p:cNvSpPr/>
          <p:nvPr/>
        </p:nvSpPr>
        <p:spPr>
          <a:xfrm>
            <a:off x="384048" y="157276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70078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01</a:t>
            </a:r>
          </a:p>
        </p:txBody>
      </p:sp>
      <p:sp>
        <p:nvSpPr>
          <p:cNvPr id="6" name="TextBox 5"/>
          <p:cNvSpPr txBox="1"/>
          <p:nvPr/>
        </p:nvSpPr>
        <p:spPr>
          <a:xfrm>
            <a:off x="1078992" y="1682495"/>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a:t>Foundations</a:t>
            </a:r>
          </a:p>
        </p:txBody>
      </p:sp>
      <p:sp>
        <p:nvSpPr>
          <p:cNvPr id="7" name="TextBox 6"/>
          <p:cNvSpPr txBox="1"/>
          <p:nvPr/>
        </p:nvSpPr>
        <p:spPr>
          <a:xfrm>
            <a:off x="1078992" y="202082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Prefill, decode and latency targets</a:t>
            </a:r>
          </a:p>
        </p:txBody>
      </p:sp>
      <p:sp>
        <p:nvSpPr>
          <p:cNvPr id="8" name="Rounded Rectangle 7"/>
          <p:cNvSpPr/>
          <p:nvPr/>
        </p:nvSpPr>
        <p:spPr>
          <a:xfrm>
            <a:off x="4654296" y="157276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600" y="170078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02</a:t>
            </a:r>
          </a:p>
        </p:txBody>
      </p:sp>
      <p:sp>
        <p:nvSpPr>
          <p:cNvPr id="10" name="TextBox 9"/>
          <p:cNvSpPr txBox="1"/>
          <p:nvPr/>
        </p:nvSpPr>
        <p:spPr>
          <a:xfrm>
            <a:off x="5349240" y="1682495"/>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a:t>Why P/D disaggregation</a:t>
            </a:r>
          </a:p>
        </p:txBody>
      </p:sp>
      <p:sp>
        <p:nvSpPr>
          <p:cNvPr id="11" name="TextBox 10"/>
          <p:cNvSpPr txBox="1"/>
          <p:nvPr/>
        </p:nvSpPr>
        <p:spPr>
          <a:xfrm>
            <a:off x="5349240" y="202082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Benefits, costs and the orchestration gap</a:t>
            </a:r>
          </a:p>
        </p:txBody>
      </p:sp>
      <p:sp>
        <p:nvSpPr>
          <p:cNvPr id="12" name="Rounded Rectangle 11"/>
          <p:cNvSpPr/>
          <p:nvPr/>
        </p:nvSpPr>
        <p:spPr>
          <a:xfrm>
            <a:off x="384048" y="253288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266090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03</a:t>
            </a:r>
          </a:p>
        </p:txBody>
      </p:sp>
      <p:sp>
        <p:nvSpPr>
          <p:cNvPr id="14" name="TextBox 13"/>
          <p:cNvSpPr txBox="1"/>
          <p:nvPr/>
        </p:nvSpPr>
        <p:spPr>
          <a:xfrm>
            <a:off x="1078992" y="2642616"/>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a:t>KAITO + llm-d</a:t>
            </a:r>
          </a:p>
        </p:txBody>
      </p:sp>
      <p:sp>
        <p:nvSpPr>
          <p:cNvPr id="15" name="TextBox 14"/>
          <p:cNvSpPr txBox="1"/>
          <p:nvPr/>
        </p:nvSpPr>
        <p:spPr>
          <a:xfrm>
            <a:off x="1078992" y="298094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Components and ownership boundaries</a:t>
            </a:r>
          </a:p>
        </p:txBody>
      </p:sp>
      <p:sp>
        <p:nvSpPr>
          <p:cNvPr id="16" name="Rounded Rectangle 15"/>
          <p:cNvSpPr/>
          <p:nvPr/>
        </p:nvSpPr>
        <p:spPr>
          <a:xfrm>
            <a:off x="4654296" y="253288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66090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04</a:t>
            </a:r>
          </a:p>
        </p:txBody>
      </p:sp>
      <p:sp>
        <p:nvSpPr>
          <p:cNvPr id="18" name="TextBox 17"/>
          <p:cNvSpPr txBox="1"/>
          <p:nvPr/>
        </p:nvSpPr>
        <p:spPr>
          <a:xfrm>
            <a:off x="5349240" y="2642616"/>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sz="1400"/>
              <a:t>How KAITO + llm-d supports P/D</a:t>
            </a:r>
          </a:p>
        </p:txBody>
      </p:sp>
      <p:sp>
        <p:nvSpPr>
          <p:cNvPr id="19" name="TextBox 18"/>
          <p:cNvSpPr txBox="1"/>
          <p:nvPr/>
        </p:nvSpPr>
        <p:spPr>
          <a:xfrm>
            <a:off x="5349240" y="298094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Topology, routing and KV transfer</a:t>
            </a:r>
          </a:p>
        </p:txBody>
      </p:sp>
      <p:sp>
        <p:nvSpPr>
          <p:cNvPr id="20" name="Rounded Rectangle 19"/>
          <p:cNvSpPr/>
          <p:nvPr/>
        </p:nvSpPr>
        <p:spPr>
          <a:xfrm>
            <a:off x="384048" y="349300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62102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05</a:t>
            </a:r>
          </a:p>
        </p:txBody>
      </p:sp>
      <p:sp>
        <p:nvSpPr>
          <p:cNvPr id="22" name="TextBox 21"/>
          <p:cNvSpPr txBox="1"/>
          <p:nvPr/>
        </p:nvSpPr>
        <p:spPr>
          <a:xfrm>
            <a:off x="1078992" y="3602736"/>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a:t>Per-role autoscaling</a:t>
            </a:r>
          </a:p>
        </p:txBody>
      </p:sp>
      <p:sp>
        <p:nvSpPr>
          <p:cNvPr id="23" name="TextBox 22"/>
          <p:cNvSpPr txBox="1"/>
          <p:nvPr/>
        </p:nvSpPr>
        <p:spPr>
          <a:xfrm>
            <a:off x="1078992" y="394106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Signals, policies and safe control loops</a:t>
            </a:r>
          </a:p>
        </p:txBody>
      </p:sp>
      <p:sp>
        <p:nvSpPr>
          <p:cNvPr id="24" name="Rounded Rectangle 23"/>
          <p:cNvSpPr/>
          <p:nvPr/>
        </p:nvSpPr>
        <p:spPr>
          <a:xfrm>
            <a:off x="4654296" y="3493008"/>
            <a:ext cx="4096512" cy="8046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621024"/>
            <a:ext cx="402336" cy="292608"/>
          </a:xfrm>
          <a:prstGeom prst="rect">
            <a:avLst/>
          </a:prstGeom>
          <a:noFill/>
        </p:spPr>
        <p:txBody>
          <a:bodyPr wrap="square" lIns="0" rIns="0" tIns="0" bIns="0">
            <a:spAutoFit/>
          </a:bodyPr>
          <a:lstStyle/>
          <a:p>
            <a:pPr>
              <a:spcAft>
                <a:spcPts val="500"/>
              </a:spcAft>
              <a:defRPr sz="1700" b="1">
                <a:solidFill>
                  <a:srgbClr val="346CEC"/>
                </a:solidFill>
                <a:latin typeface="Arial"/>
              </a:defRPr>
            </a:pPr>
            <a:r>
              <a:rPr cap="none"/>
              <a:t>06</a:t>
            </a:r>
          </a:p>
        </p:txBody>
      </p:sp>
      <p:sp>
        <p:nvSpPr>
          <p:cNvPr id="26" name="TextBox 25"/>
          <p:cNvSpPr txBox="1"/>
          <p:nvPr/>
        </p:nvSpPr>
        <p:spPr>
          <a:xfrm>
            <a:off x="5349240" y="3602736"/>
            <a:ext cx="3218688" cy="274320"/>
          </a:xfrm>
          <a:prstGeom prst="rect">
            <a:avLst/>
          </a:prstGeom>
          <a:noFill/>
        </p:spPr>
        <p:txBody>
          <a:bodyPr wrap="square" lIns="0" rIns="0" tIns="0" bIns="0">
            <a:spAutoFit/>
          </a:bodyPr>
          <a:lstStyle/>
          <a:p>
            <a:pPr>
              <a:spcAft>
                <a:spcPts val="500"/>
              </a:spcAft>
              <a:defRPr sz="1700" b="1">
                <a:solidFill>
                  <a:srgbClr val="142C46"/>
                </a:solidFill>
                <a:latin typeface="Arial"/>
              </a:defRPr>
            </a:pPr>
            <a:r>
              <a:rPr cap="none"/>
              <a:t>When to use P/D</a:t>
            </a:r>
          </a:p>
        </p:txBody>
      </p:sp>
      <p:sp>
        <p:nvSpPr>
          <p:cNvPr id="27" name="TextBox 26"/>
          <p:cNvSpPr txBox="1"/>
          <p:nvPr/>
        </p:nvSpPr>
        <p:spPr>
          <a:xfrm>
            <a:off x="5349240" y="3941064"/>
            <a:ext cx="3218688" cy="210312"/>
          </a:xfrm>
          <a:prstGeom prst="rect">
            <a:avLst/>
          </a:prstGeom>
          <a:noFill/>
        </p:spPr>
        <p:txBody>
          <a:bodyPr wrap="square" lIns="0" rIns="0" tIns="0" bIns="0">
            <a:spAutoFit/>
          </a:bodyPr>
          <a:lstStyle/>
          <a:p>
            <a:pPr>
              <a:spcAft>
                <a:spcPts val="500"/>
              </a:spcAft>
              <a:defRPr sz="1050" b="0">
                <a:solidFill>
                  <a:srgbClr val="52677D"/>
                </a:solidFill>
                <a:latin typeface="Arial"/>
              </a:defRPr>
            </a:pPr>
            <a:r>
              <a:rPr cap="none"/>
              <a:t>Decision framework and next steps</a:t>
            </a:r>
          </a:p>
        </p:txBody>
      </p:sp>
      <p:sp>
        <p:nvSpPr>
          <p:cNvPr id="28" name="TextBox 27"/>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9" name="TextBox 28"/>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04 / 49</a:t>
            </a:r>
          </a:p>
        </p:txBody>
      </p:sp>
    </p:spTree>
    <p:extLst>
      <p:ext uri="{BB962C8B-B14F-4D97-AF65-F5344CB8AC3E}">
        <p14:creationId xmlns:p14="http://schemas.microsoft.com/office/powerpoint/2010/main" val="413774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Foundations — prefill</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Prefill: process the prompt and select the first token</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Prompt: “What does Kubernetes do?”</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Prefill caches the prompt, then selects “Kubernetes”. Its K/V is not cached until it is consumed.</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770" y="1488187"/>
            <a:ext cx="8161020" cy="159274"/>
          </a:xfrm>
          <a:prstGeom prst="rect">
            <a:avLst/>
          </a:prstGeom>
          <a:noFill/>
        </p:spPr>
        <p:txBody>
          <a:bodyPr wrap="square" lIns="10287" tIns="10287" rIns="10287" bIns="10287">
            <a:spAutoFit/>
          </a:bodyPr>
          <a:lstStyle/>
          <a:p>
            <a:pPr>
              <a:spcAft>
                <a:spcPts val="375"/>
              </a:spcAft>
              <a:defRPr sz="1200" b="1">
                <a:solidFill>
                  <a:srgbClr val="2563EB"/>
                </a:solidFill>
                <a:latin typeface="Arial"/>
              </a:defRPr>
            </a:pPr>
            <a:r>
              <a:rPr sz="900" cap="none">
                <a:latin typeface="Arial"/>
              </a:rPr>
              <a:t>Teaching example  /  One word per token</a:t>
            </a:r>
          </a:p>
        </p:txBody>
      </p:sp>
      <p:sp>
        <p:nvSpPr>
          <p:cNvPr id="11" name="Rounded Rectangle 10"/>
          <p:cNvSpPr/>
          <p:nvPr/>
        </p:nvSpPr>
        <p:spPr>
          <a:xfrm>
            <a:off x="445770" y="1789938"/>
            <a:ext cx="1632204" cy="48006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00634" y="1885950"/>
            <a:ext cx="1522476"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What</a:t>
            </a:r>
          </a:p>
        </p:txBody>
      </p:sp>
      <p:sp>
        <p:nvSpPr>
          <p:cNvPr id="13" name="Rounded Rectangle 12"/>
          <p:cNvSpPr/>
          <p:nvPr/>
        </p:nvSpPr>
        <p:spPr>
          <a:xfrm>
            <a:off x="2098548" y="1789938"/>
            <a:ext cx="1632204" cy="48006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2153412" y="1885950"/>
            <a:ext cx="1522476"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does</a:t>
            </a:r>
          </a:p>
        </p:txBody>
      </p:sp>
      <p:sp>
        <p:nvSpPr>
          <p:cNvPr id="15" name="Rounded Rectangle 14"/>
          <p:cNvSpPr/>
          <p:nvPr/>
        </p:nvSpPr>
        <p:spPr>
          <a:xfrm>
            <a:off x="3751326" y="1789938"/>
            <a:ext cx="1632204" cy="48006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3806190" y="1885950"/>
            <a:ext cx="1522476"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Kubernetes</a:t>
            </a:r>
          </a:p>
        </p:txBody>
      </p:sp>
      <p:sp>
        <p:nvSpPr>
          <p:cNvPr id="17" name="Rounded Rectangle 16"/>
          <p:cNvSpPr/>
          <p:nvPr/>
        </p:nvSpPr>
        <p:spPr>
          <a:xfrm>
            <a:off x="5404104" y="1789938"/>
            <a:ext cx="1632204" cy="48006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458968" y="1885950"/>
            <a:ext cx="1522476"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do</a:t>
            </a:r>
          </a:p>
        </p:txBody>
      </p:sp>
      <p:sp>
        <p:nvSpPr>
          <p:cNvPr id="19" name="Rounded Rectangle 18"/>
          <p:cNvSpPr/>
          <p:nvPr/>
        </p:nvSpPr>
        <p:spPr>
          <a:xfrm>
            <a:off x="7056882" y="1789938"/>
            <a:ext cx="1632204" cy="480060"/>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7111746" y="1885950"/>
            <a:ext cx="1522476"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a:t>
            </a:r>
          </a:p>
        </p:txBody>
      </p:sp>
      <p:sp>
        <p:nvSpPr>
          <p:cNvPr id="21" name="TextBox 20"/>
          <p:cNvSpPr txBox="1"/>
          <p:nvPr/>
        </p:nvSpPr>
        <p:spPr>
          <a:xfrm>
            <a:off x="445770" y="2427733"/>
            <a:ext cx="8243316" cy="216982"/>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Process the prompt positions together, with attention only to earlier or current positions.</a:t>
            </a:r>
          </a:p>
        </p:txBody>
      </p:sp>
      <p:sp>
        <p:nvSpPr>
          <p:cNvPr id="22" name="Rounded Rectangle 21"/>
          <p:cNvSpPr/>
          <p:nvPr/>
        </p:nvSpPr>
        <p:spPr>
          <a:xfrm>
            <a:off x="445770" y="2859786"/>
            <a:ext cx="2057400"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Rectangle 22"/>
          <p:cNvSpPr/>
          <p:nvPr/>
        </p:nvSpPr>
        <p:spPr>
          <a:xfrm>
            <a:off x="445770" y="2928365"/>
            <a:ext cx="37719" cy="6995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548640" y="2948940"/>
            <a:ext cx="1851660" cy="251607"/>
          </a:xfrm>
          <a:prstGeom prst="rect">
            <a:avLst/>
          </a:prstGeom>
          <a:noFill/>
        </p:spPr>
        <p:txBody>
          <a:bodyPr wrap="square" lIns="10287" tIns="10287" rIns="10287" bIns="10287">
            <a:spAutoFit/>
          </a:bodyPr>
          <a:lstStyle/>
          <a:p>
            <a:pPr algn="ctr">
              <a:spcAft>
                <a:spcPts val="375"/>
              </a:spcAft>
              <a:defRPr sz="2000" b="1">
                <a:solidFill>
                  <a:srgbClr val="2563EB"/>
                </a:solidFill>
                <a:latin typeface="Arial"/>
              </a:defRPr>
            </a:pPr>
            <a:r>
              <a:rPr sz="1500" cap="none">
                <a:latin typeface="Arial"/>
              </a:rPr>
              <a:t>5 prompt positions</a:t>
            </a:r>
          </a:p>
        </p:txBody>
      </p:sp>
      <p:sp>
        <p:nvSpPr>
          <p:cNvPr id="25" name="TextBox 24"/>
          <p:cNvSpPr txBox="1"/>
          <p:nvPr/>
        </p:nvSpPr>
        <p:spPr>
          <a:xfrm>
            <a:off x="555498" y="3278124"/>
            <a:ext cx="18379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4 words + punctuation</a:t>
            </a:r>
          </a:p>
        </p:txBody>
      </p:sp>
      <p:sp>
        <p:nvSpPr>
          <p:cNvPr id="26" name="Rounded Rectangle 25"/>
          <p:cNvSpPr/>
          <p:nvPr/>
        </p:nvSpPr>
        <p:spPr>
          <a:xfrm>
            <a:off x="2846070" y="2859786"/>
            <a:ext cx="2852928"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Rectangle 26"/>
          <p:cNvSpPr/>
          <p:nvPr/>
        </p:nvSpPr>
        <p:spPr>
          <a:xfrm>
            <a:off x="2846070" y="2928365"/>
            <a:ext cx="37719" cy="6995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8" name="TextBox 27"/>
          <p:cNvSpPr txBox="1"/>
          <p:nvPr/>
        </p:nvSpPr>
        <p:spPr>
          <a:xfrm>
            <a:off x="2948940" y="2948940"/>
            <a:ext cx="2647188" cy="251607"/>
          </a:xfrm>
          <a:prstGeom prst="rect">
            <a:avLst/>
          </a:prstGeom>
          <a:noFill/>
        </p:spPr>
        <p:txBody>
          <a:bodyPr wrap="square" lIns="10287" tIns="10287" rIns="10287" bIns="10287">
            <a:spAutoFit/>
          </a:bodyPr>
          <a:lstStyle/>
          <a:p>
            <a:pPr algn="ctr">
              <a:spcAft>
                <a:spcPts val="375"/>
              </a:spcAft>
              <a:defRPr sz="2000" b="1">
                <a:solidFill>
                  <a:srgbClr val="087F8C"/>
                </a:solidFill>
                <a:latin typeface="Arial"/>
              </a:defRPr>
            </a:pPr>
            <a:r>
              <a:rPr sz="1500" cap="none">
                <a:latin typeface="Arial"/>
              </a:rPr>
              <a:t>Causal prefill</a:t>
            </a:r>
          </a:p>
        </p:txBody>
      </p:sp>
      <p:sp>
        <p:nvSpPr>
          <p:cNvPr id="29" name="TextBox 28"/>
          <p:cNvSpPr txBox="1"/>
          <p:nvPr/>
        </p:nvSpPr>
        <p:spPr>
          <a:xfrm>
            <a:off x="2955798" y="3278124"/>
            <a:ext cx="2633472"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No attention to future positions</a:t>
            </a:r>
          </a:p>
        </p:txBody>
      </p:sp>
      <p:sp>
        <p:nvSpPr>
          <p:cNvPr id="30" name="Rounded Rectangle 29"/>
          <p:cNvSpPr/>
          <p:nvPr/>
        </p:nvSpPr>
        <p:spPr>
          <a:xfrm>
            <a:off x="6172200" y="2859786"/>
            <a:ext cx="2516886"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Rectangle 30"/>
          <p:cNvSpPr/>
          <p:nvPr/>
        </p:nvSpPr>
        <p:spPr>
          <a:xfrm>
            <a:off x="6172200" y="2928365"/>
            <a:ext cx="37719" cy="69951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2" name="TextBox 31"/>
          <p:cNvSpPr txBox="1"/>
          <p:nvPr/>
        </p:nvSpPr>
        <p:spPr>
          <a:xfrm>
            <a:off x="6275070" y="2948940"/>
            <a:ext cx="2311146" cy="251607"/>
          </a:xfrm>
          <a:prstGeom prst="rect">
            <a:avLst/>
          </a:prstGeom>
          <a:noFill/>
        </p:spPr>
        <p:txBody>
          <a:bodyPr wrap="square" lIns="10287" tIns="10287" rIns="10287" bIns="10287">
            <a:spAutoFit/>
          </a:bodyPr>
          <a:lstStyle/>
          <a:p>
            <a:pPr algn="ctr">
              <a:spcAft>
                <a:spcPts val="375"/>
              </a:spcAft>
              <a:defRPr sz="2000" b="1">
                <a:solidFill>
                  <a:srgbClr val="7354B8"/>
                </a:solidFill>
                <a:latin typeface="Arial"/>
              </a:defRPr>
            </a:pPr>
            <a:r>
              <a:rPr sz="1500" cap="none">
                <a:latin typeface="Arial"/>
              </a:rPr>
              <a:t>Select “Kubernetes”</a:t>
            </a:r>
          </a:p>
        </p:txBody>
      </p:sp>
      <p:sp>
        <p:nvSpPr>
          <p:cNvPr id="33" name="TextBox 32"/>
          <p:cNvSpPr txBox="1"/>
          <p:nvPr/>
        </p:nvSpPr>
        <p:spPr>
          <a:xfrm>
            <a:off x="6281928" y="3278124"/>
            <a:ext cx="2297430"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Final prompt-position logits</a:t>
            </a:r>
          </a:p>
        </p:txBody>
      </p:sp>
      <p:cxnSp>
        <p:nvCxnSpPr>
          <p:cNvPr id="34" name="Connector 33"/>
          <p:cNvCxnSpPr/>
          <p:nvPr/>
        </p:nvCxnSpPr>
        <p:spPr>
          <a:xfrm>
            <a:off x="2503170" y="3271266"/>
            <a:ext cx="3429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98998" y="3271266"/>
            <a:ext cx="473202"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72534" y="3696462"/>
            <a:ext cx="0" cy="130302"/>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45770" y="3840480"/>
            <a:ext cx="8243316"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8" name="TextBox 37"/>
          <p:cNvSpPr txBox="1"/>
          <p:nvPr/>
        </p:nvSpPr>
        <p:spPr>
          <a:xfrm>
            <a:off x="582930" y="3895344"/>
            <a:ext cx="7968996" cy="205441"/>
          </a:xfrm>
          <a:prstGeom prst="rect">
            <a:avLst/>
          </a:prstGeom>
          <a:noFill/>
        </p:spPr>
        <p:txBody>
          <a:bodyPr wrap="square" lIns="10287" tIns="10287" rIns="10287" bIns="10287">
            <a:spAutoFit/>
          </a:bodyPr>
          <a:lstStyle/>
          <a:p>
            <a:pPr>
              <a:spcAft>
                <a:spcPts val="375"/>
              </a:spcAft>
              <a:defRPr sz="1600" b="0">
                <a:solidFill>
                  <a:srgbClr val="087F8C"/>
                </a:solidFill>
                <a:latin typeface="Arial"/>
              </a:defRPr>
            </a:pPr>
            <a:r>
              <a:rPr sz="1200" cap="none">
                <a:latin typeface="Arial"/>
              </a:rPr>
              <a:t>Prompt KV = per-layer attention keys + values for the 5 processed prompt positions.</a:t>
            </a:r>
          </a:p>
        </p:txBody>
      </p:sp>
      <p:sp>
        <p:nvSpPr>
          <p:cNvPr id="39" name="TextBox 38"/>
          <p:cNvSpPr txBox="1"/>
          <p:nvPr/>
        </p:nvSpPr>
        <p:spPr>
          <a:xfrm>
            <a:off x="445770" y="4197096"/>
            <a:ext cx="8243316" cy="147733"/>
          </a:xfrm>
          <a:prstGeom prst="rect">
            <a:avLst/>
          </a:prstGeom>
          <a:noFill/>
        </p:spPr>
        <p:txBody>
          <a:bodyPr wrap="square" lIns="10287" tIns="10287" rIns="10287" bIns="10287">
            <a:spAutoFit/>
          </a:bodyPr>
          <a:lstStyle/>
          <a:p>
            <a:pPr>
              <a:spcAft>
                <a:spcPts val="375"/>
              </a:spcAft>
              <a:defRPr sz="1100" b="0">
                <a:solidFill>
                  <a:srgbClr val="586A80"/>
                </a:solidFill>
                <a:latin typeface="Arial"/>
              </a:defRPr>
            </a:pPr>
            <a:r>
              <a:rPr sz="825" cap="none">
                <a:latin typeface="Arial"/>
              </a:rPr>
              <a:t>Illustrative word-level tokens; not a real model tokenizer.</a:t>
            </a:r>
          </a:p>
        </p:txBody>
      </p:sp>
      <p:sp>
        <p:nvSpPr>
          <p:cNvPr id="40" name="TextBox 3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1" name="TextBox 4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05 / 49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Foundations — decode</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Decode: consume a token, select the next, repeat</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Illustrative output: “Kubernetes helps teams deploy and scale applications.”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Append KV for the consumed token—not the newly selected token. Read past KV; do not recompute it.</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770" y="1440180"/>
            <a:ext cx="8243316" cy="147733"/>
          </a:xfrm>
          <a:prstGeom prst="rect">
            <a:avLst/>
          </a:prstGeom>
          <a:noFill/>
        </p:spPr>
        <p:txBody>
          <a:bodyPr wrap="square" lIns="10287" tIns="10287" rIns="10287" bIns="10287">
            <a:spAutoFit/>
          </a:bodyPr>
          <a:lstStyle/>
          <a:p>
            <a:pPr>
              <a:spcAft>
                <a:spcPts val="375"/>
              </a:spcAft>
              <a:defRPr sz="1100" b="0">
                <a:solidFill>
                  <a:srgbClr val="586A80"/>
                </a:solidFill>
                <a:latin typeface="Arial"/>
              </a:defRPr>
            </a:pPr>
            <a:r>
              <a:rPr sz="825" cap="none">
                <a:latin typeface="Arial"/>
              </a:rPr>
              <a:t>Illustrative word-level tokens; not a real model tokenizer.</a:t>
            </a:r>
          </a:p>
        </p:txBody>
      </p:sp>
      <p:sp>
        <p:nvSpPr>
          <p:cNvPr id="11" name="Rectangle 10"/>
          <p:cNvSpPr/>
          <p:nvPr/>
        </p:nvSpPr>
        <p:spPr>
          <a:xfrm>
            <a:off x="445770" y="1666494"/>
            <a:ext cx="500634" cy="2331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00635" y="1700784"/>
            <a:ext cx="390905" cy="136191"/>
          </a:xfrm>
          <a:prstGeom prst="rect">
            <a:avLst/>
          </a:prstGeom>
          <a:noFill/>
        </p:spPr>
        <p:txBody>
          <a:bodyPr wrap="square" lIns="10287" tIns="10287" rIns="10287" bIns="10287">
            <a:spAutoFit/>
          </a:bodyPr>
          <a:lstStyle/>
          <a:p>
            <a:pPr>
              <a:spcAft>
                <a:spcPts val="375"/>
              </a:spcAft>
              <a:defRPr sz="1000" b="1">
                <a:solidFill>
                  <a:srgbClr val="FFFFFF"/>
                </a:solidFill>
                <a:latin typeface="Arial"/>
              </a:defRPr>
            </a:pPr>
            <a:r>
              <a:rPr sz="750" cap="none">
                <a:latin typeface="Arial"/>
              </a:rPr>
              <a:t>Step</a:t>
            </a:r>
          </a:p>
        </p:txBody>
      </p:sp>
      <p:sp>
        <p:nvSpPr>
          <p:cNvPr id="13" name="Rectangle 12"/>
          <p:cNvSpPr/>
          <p:nvPr/>
        </p:nvSpPr>
        <p:spPr>
          <a:xfrm>
            <a:off x="960120" y="1666494"/>
            <a:ext cx="2125980" cy="2331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1014984" y="1700784"/>
            <a:ext cx="2016252" cy="136191"/>
          </a:xfrm>
          <a:prstGeom prst="rect">
            <a:avLst/>
          </a:prstGeom>
          <a:noFill/>
        </p:spPr>
        <p:txBody>
          <a:bodyPr wrap="square" lIns="10287" tIns="10287" rIns="10287" bIns="10287">
            <a:spAutoFit/>
          </a:bodyPr>
          <a:lstStyle/>
          <a:p>
            <a:pPr>
              <a:spcAft>
                <a:spcPts val="375"/>
              </a:spcAft>
              <a:defRPr sz="1000" b="1">
                <a:solidFill>
                  <a:srgbClr val="FFFFFF"/>
                </a:solidFill>
                <a:latin typeface="Arial"/>
              </a:defRPr>
            </a:pPr>
            <a:r>
              <a:rPr sz="750" cap="none">
                <a:latin typeface="Arial"/>
              </a:rPr>
              <a:t>Consume + read past KV</a:t>
            </a:r>
          </a:p>
        </p:txBody>
      </p:sp>
      <p:sp>
        <p:nvSpPr>
          <p:cNvPr id="15" name="Rectangle 14"/>
          <p:cNvSpPr/>
          <p:nvPr/>
        </p:nvSpPr>
        <p:spPr>
          <a:xfrm>
            <a:off x="3120391" y="1666494"/>
            <a:ext cx="2756915" cy="2331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3175255" y="1700784"/>
            <a:ext cx="2647187" cy="136191"/>
          </a:xfrm>
          <a:prstGeom prst="rect">
            <a:avLst/>
          </a:prstGeom>
          <a:noFill/>
        </p:spPr>
        <p:txBody>
          <a:bodyPr wrap="square" lIns="10287" tIns="10287" rIns="10287" bIns="10287">
            <a:spAutoFit/>
          </a:bodyPr>
          <a:lstStyle/>
          <a:p>
            <a:pPr>
              <a:spcAft>
                <a:spcPts val="375"/>
              </a:spcAft>
              <a:defRPr sz="1000" b="1">
                <a:solidFill>
                  <a:srgbClr val="FFFFFF"/>
                </a:solidFill>
                <a:latin typeface="Arial"/>
              </a:defRPr>
            </a:pPr>
            <a:r>
              <a:rPr sz="750" cap="none">
                <a:latin typeface="Arial"/>
              </a:rPr>
              <a:t>Append to per-layer KV</a:t>
            </a:r>
          </a:p>
        </p:txBody>
      </p:sp>
      <p:sp>
        <p:nvSpPr>
          <p:cNvPr id="17" name="Rectangle 16"/>
          <p:cNvSpPr/>
          <p:nvPr/>
        </p:nvSpPr>
        <p:spPr>
          <a:xfrm>
            <a:off x="5911595" y="1666494"/>
            <a:ext cx="2777490" cy="233172"/>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966460" y="1700784"/>
            <a:ext cx="2667761" cy="136191"/>
          </a:xfrm>
          <a:prstGeom prst="rect">
            <a:avLst/>
          </a:prstGeom>
          <a:noFill/>
        </p:spPr>
        <p:txBody>
          <a:bodyPr wrap="square" lIns="10287" tIns="10287" rIns="10287" bIns="10287">
            <a:spAutoFit/>
          </a:bodyPr>
          <a:lstStyle/>
          <a:p>
            <a:pPr>
              <a:spcAft>
                <a:spcPts val="375"/>
              </a:spcAft>
              <a:defRPr sz="1000" b="1">
                <a:solidFill>
                  <a:srgbClr val="FFFFFF"/>
                </a:solidFill>
                <a:latin typeface="Arial"/>
              </a:defRPr>
            </a:pPr>
            <a:r>
              <a:rPr sz="750" cap="none">
                <a:latin typeface="Arial"/>
              </a:rPr>
              <a:t>Select next output</a:t>
            </a:r>
          </a:p>
        </p:txBody>
      </p:sp>
      <p:sp>
        <p:nvSpPr>
          <p:cNvPr id="19" name="Rectangle 18"/>
          <p:cNvSpPr/>
          <p:nvPr/>
        </p:nvSpPr>
        <p:spPr>
          <a:xfrm>
            <a:off x="445770" y="1940814"/>
            <a:ext cx="8243316" cy="2057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500634" y="1964818"/>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1</a:t>
            </a:r>
          </a:p>
        </p:txBody>
      </p:sp>
      <p:sp>
        <p:nvSpPr>
          <p:cNvPr id="21" name="TextBox 20"/>
          <p:cNvSpPr txBox="1"/>
          <p:nvPr/>
        </p:nvSpPr>
        <p:spPr>
          <a:xfrm>
            <a:off x="1021842" y="1964818"/>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Kubernetes</a:t>
            </a:r>
          </a:p>
        </p:txBody>
      </p:sp>
      <p:sp>
        <p:nvSpPr>
          <p:cNvPr id="22" name="TextBox 21"/>
          <p:cNvSpPr txBox="1"/>
          <p:nvPr/>
        </p:nvSpPr>
        <p:spPr>
          <a:xfrm>
            <a:off x="3182112" y="1964818"/>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“Kubernetes”</a:t>
            </a:r>
          </a:p>
        </p:txBody>
      </p:sp>
      <p:sp>
        <p:nvSpPr>
          <p:cNvPr id="23" name="TextBox 22"/>
          <p:cNvSpPr txBox="1"/>
          <p:nvPr/>
        </p:nvSpPr>
        <p:spPr>
          <a:xfrm>
            <a:off x="5973318" y="1964818"/>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helps</a:t>
            </a:r>
          </a:p>
        </p:txBody>
      </p:sp>
      <p:sp>
        <p:nvSpPr>
          <p:cNvPr id="24" name="Rectangle 23"/>
          <p:cNvSpPr/>
          <p:nvPr/>
        </p:nvSpPr>
        <p:spPr>
          <a:xfrm>
            <a:off x="445770" y="2160270"/>
            <a:ext cx="8243316" cy="20574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500634" y="2184274"/>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2</a:t>
            </a:r>
          </a:p>
        </p:txBody>
      </p:sp>
      <p:sp>
        <p:nvSpPr>
          <p:cNvPr id="26" name="TextBox 25"/>
          <p:cNvSpPr txBox="1"/>
          <p:nvPr/>
        </p:nvSpPr>
        <p:spPr>
          <a:xfrm>
            <a:off x="1021842" y="2184274"/>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helps</a:t>
            </a:r>
          </a:p>
        </p:txBody>
      </p:sp>
      <p:sp>
        <p:nvSpPr>
          <p:cNvPr id="27" name="TextBox 26"/>
          <p:cNvSpPr txBox="1"/>
          <p:nvPr/>
        </p:nvSpPr>
        <p:spPr>
          <a:xfrm>
            <a:off x="3182112" y="2184274"/>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“helps”</a:t>
            </a:r>
          </a:p>
        </p:txBody>
      </p:sp>
      <p:sp>
        <p:nvSpPr>
          <p:cNvPr id="28" name="TextBox 27"/>
          <p:cNvSpPr txBox="1"/>
          <p:nvPr/>
        </p:nvSpPr>
        <p:spPr>
          <a:xfrm>
            <a:off x="5973318" y="2184274"/>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teams</a:t>
            </a:r>
          </a:p>
        </p:txBody>
      </p:sp>
      <p:sp>
        <p:nvSpPr>
          <p:cNvPr id="29" name="Rectangle 28"/>
          <p:cNvSpPr/>
          <p:nvPr/>
        </p:nvSpPr>
        <p:spPr>
          <a:xfrm>
            <a:off x="445770" y="2379726"/>
            <a:ext cx="8243316" cy="2057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500634" y="2403730"/>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3</a:t>
            </a:r>
          </a:p>
        </p:txBody>
      </p:sp>
      <p:sp>
        <p:nvSpPr>
          <p:cNvPr id="31" name="TextBox 30"/>
          <p:cNvSpPr txBox="1"/>
          <p:nvPr/>
        </p:nvSpPr>
        <p:spPr>
          <a:xfrm>
            <a:off x="1021842" y="2403730"/>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teams</a:t>
            </a:r>
          </a:p>
        </p:txBody>
      </p:sp>
      <p:sp>
        <p:nvSpPr>
          <p:cNvPr id="32" name="TextBox 31"/>
          <p:cNvSpPr txBox="1"/>
          <p:nvPr/>
        </p:nvSpPr>
        <p:spPr>
          <a:xfrm>
            <a:off x="3182112" y="2403730"/>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“teams”</a:t>
            </a:r>
          </a:p>
        </p:txBody>
      </p:sp>
      <p:sp>
        <p:nvSpPr>
          <p:cNvPr id="33" name="TextBox 32"/>
          <p:cNvSpPr txBox="1"/>
          <p:nvPr/>
        </p:nvSpPr>
        <p:spPr>
          <a:xfrm>
            <a:off x="5973318" y="2403730"/>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deploy</a:t>
            </a:r>
          </a:p>
        </p:txBody>
      </p:sp>
      <p:sp>
        <p:nvSpPr>
          <p:cNvPr id="34" name="Rectangle 33"/>
          <p:cNvSpPr/>
          <p:nvPr/>
        </p:nvSpPr>
        <p:spPr>
          <a:xfrm>
            <a:off x="445770" y="2599182"/>
            <a:ext cx="8243316" cy="20574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500634" y="2623186"/>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4</a:t>
            </a:r>
          </a:p>
        </p:txBody>
      </p:sp>
      <p:sp>
        <p:nvSpPr>
          <p:cNvPr id="36" name="TextBox 35"/>
          <p:cNvSpPr txBox="1"/>
          <p:nvPr/>
        </p:nvSpPr>
        <p:spPr>
          <a:xfrm>
            <a:off x="1021842" y="2623186"/>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deploy</a:t>
            </a:r>
          </a:p>
        </p:txBody>
      </p:sp>
      <p:sp>
        <p:nvSpPr>
          <p:cNvPr id="37" name="TextBox 36"/>
          <p:cNvSpPr txBox="1"/>
          <p:nvPr/>
        </p:nvSpPr>
        <p:spPr>
          <a:xfrm>
            <a:off x="3182112" y="2623186"/>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“deploy”</a:t>
            </a:r>
          </a:p>
        </p:txBody>
      </p:sp>
      <p:sp>
        <p:nvSpPr>
          <p:cNvPr id="38" name="TextBox 37"/>
          <p:cNvSpPr txBox="1"/>
          <p:nvPr/>
        </p:nvSpPr>
        <p:spPr>
          <a:xfrm>
            <a:off x="5973318" y="2623186"/>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and</a:t>
            </a:r>
          </a:p>
        </p:txBody>
      </p:sp>
      <p:sp>
        <p:nvSpPr>
          <p:cNvPr id="39" name="Rectangle 38"/>
          <p:cNvSpPr/>
          <p:nvPr/>
        </p:nvSpPr>
        <p:spPr>
          <a:xfrm>
            <a:off x="445770" y="2818638"/>
            <a:ext cx="8243316" cy="2057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0" name="TextBox 39"/>
          <p:cNvSpPr txBox="1"/>
          <p:nvPr/>
        </p:nvSpPr>
        <p:spPr>
          <a:xfrm>
            <a:off x="500634" y="2842642"/>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5</a:t>
            </a:r>
          </a:p>
        </p:txBody>
      </p:sp>
      <p:sp>
        <p:nvSpPr>
          <p:cNvPr id="41" name="TextBox 40"/>
          <p:cNvSpPr txBox="1"/>
          <p:nvPr/>
        </p:nvSpPr>
        <p:spPr>
          <a:xfrm>
            <a:off x="1021842" y="2842642"/>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and</a:t>
            </a:r>
          </a:p>
        </p:txBody>
      </p:sp>
      <p:sp>
        <p:nvSpPr>
          <p:cNvPr id="42" name="TextBox 41"/>
          <p:cNvSpPr txBox="1"/>
          <p:nvPr/>
        </p:nvSpPr>
        <p:spPr>
          <a:xfrm>
            <a:off x="3182112" y="2842642"/>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“and”</a:t>
            </a:r>
          </a:p>
        </p:txBody>
      </p:sp>
      <p:sp>
        <p:nvSpPr>
          <p:cNvPr id="43" name="TextBox 42"/>
          <p:cNvSpPr txBox="1"/>
          <p:nvPr/>
        </p:nvSpPr>
        <p:spPr>
          <a:xfrm>
            <a:off x="5973318" y="2842642"/>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scale</a:t>
            </a:r>
          </a:p>
        </p:txBody>
      </p:sp>
      <p:sp>
        <p:nvSpPr>
          <p:cNvPr id="44" name="Rectangle 43"/>
          <p:cNvSpPr/>
          <p:nvPr/>
        </p:nvSpPr>
        <p:spPr>
          <a:xfrm>
            <a:off x="445770" y="3038093"/>
            <a:ext cx="8243316" cy="205740"/>
          </a:xfrm>
          <a:prstGeom prst="rect">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5" name="TextBox 44"/>
          <p:cNvSpPr txBox="1"/>
          <p:nvPr/>
        </p:nvSpPr>
        <p:spPr>
          <a:xfrm>
            <a:off x="500634" y="3062098"/>
            <a:ext cx="377190" cy="182358"/>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6</a:t>
            </a:r>
          </a:p>
        </p:txBody>
      </p:sp>
      <p:sp>
        <p:nvSpPr>
          <p:cNvPr id="46" name="TextBox 45"/>
          <p:cNvSpPr txBox="1"/>
          <p:nvPr/>
        </p:nvSpPr>
        <p:spPr>
          <a:xfrm>
            <a:off x="1021842" y="3062098"/>
            <a:ext cx="198882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scale</a:t>
            </a:r>
          </a:p>
        </p:txBody>
      </p:sp>
      <p:sp>
        <p:nvSpPr>
          <p:cNvPr id="47" name="TextBox 46"/>
          <p:cNvSpPr txBox="1"/>
          <p:nvPr/>
        </p:nvSpPr>
        <p:spPr>
          <a:xfrm>
            <a:off x="3182112" y="3062098"/>
            <a:ext cx="2619756"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K/V for “scale”</a:t>
            </a:r>
          </a:p>
        </p:txBody>
      </p:sp>
      <p:sp>
        <p:nvSpPr>
          <p:cNvPr id="48" name="TextBox 47"/>
          <p:cNvSpPr txBox="1"/>
          <p:nvPr/>
        </p:nvSpPr>
        <p:spPr>
          <a:xfrm>
            <a:off x="5973318" y="3062098"/>
            <a:ext cx="264033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applications</a:t>
            </a:r>
          </a:p>
        </p:txBody>
      </p:sp>
      <p:sp>
        <p:nvSpPr>
          <p:cNvPr id="49" name="TextBox 48"/>
          <p:cNvSpPr txBox="1"/>
          <p:nvPr/>
        </p:nvSpPr>
        <p:spPr>
          <a:xfrm>
            <a:off x="445770" y="3319273"/>
            <a:ext cx="8243316" cy="182358"/>
          </a:xfrm>
          <a:prstGeom prst="rect">
            <a:avLst/>
          </a:prstGeom>
          <a:noFill/>
        </p:spPr>
        <p:txBody>
          <a:bodyPr wrap="square" lIns="10287" tIns="10287" rIns="10287" bIns="10287">
            <a:spAutoFit/>
          </a:bodyPr>
          <a:lstStyle/>
          <a:p>
            <a:pPr>
              <a:spcAft>
                <a:spcPts val="375"/>
              </a:spcAft>
              <a:defRPr sz="1400" b="0">
                <a:solidFill>
                  <a:srgbClr val="586A80"/>
                </a:solidFill>
                <a:latin typeface="Arial"/>
              </a:defRPr>
            </a:pPr>
            <a:r>
              <a:rPr sz="1050" cap="none">
                <a:latin typeface="Arial"/>
              </a:rPr>
              <a:t>Repeat until the answer is complete. Each selected token becomes the next input.</a:t>
            </a:r>
          </a:p>
        </p:txBody>
      </p:sp>
      <p:sp>
        <p:nvSpPr>
          <p:cNvPr id="50" name="TextBox 49"/>
          <p:cNvSpPr txBox="1"/>
          <p:nvPr/>
        </p:nvSpPr>
        <p:spPr>
          <a:xfrm>
            <a:off x="445770" y="3552444"/>
            <a:ext cx="816102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Client arrivals  /  First 6 words shown  /  Schematic, not to scale</a:t>
            </a:r>
          </a:p>
        </p:txBody>
      </p:sp>
      <p:sp>
        <p:nvSpPr>
          <p:cNvPr id="51" name="Rounded Rectangle 50"/>
          <p:cNvSpPr/>
          <p:nvPr/>
        </p:nvSpPr>
        <p:spPr>
          <a:xfrm>
            <a:off x="445770" y="3963924"/>
            <a:ext cx="994410" cy="267462"/>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2" name="TextBox 51"/>
          <p:cNvSpPr txBox="1"/>
          <p:nvPr/>
        </p:nvSpPr>
        <p:spPr>
          <a:xfrm>
            <a:off x="462915" y="4011931"/>
            <a:ext cx="960120" cy="159274"/>
          </a:xfrm>
          <a:prstGeom prst="rect">
            <a:avLst/>
          </a:prstGeom>
          <a:noFill/>
        </p:spPr>
        <p:txBody>
          <a:bodyPr wrap="square" lIns="10287" tIns="10287" rIns="10287" bIns="10287">
            <a:spAutoFit/>
          </a:bodyPr>
          <a:lstStyle/>
          <a:p>
            <a:pPr algn="ctr">
              <a:spcAft>
                <a:spcPts val="375"/>
              </a:spcAft>
              <a:defRPr sz="1200" b="1">
                <a:solidFill>
                  <a:srgbClr val="2563EB"/>
                </a:solidFill>
                <a:latin typeface="Arial"/>
              </a:defRPr>
            </a:pPr>
            <a:r>
              <a:rPr sz="900" cap="none">
                <a:latin typeface="Arial"/>
              </a:rPr>
              <a:t>Request</a:t>
            </a:r>
          </a:p>
        </p:txBody>
      </p:sp>
      <p:sp>
        <p:nvSpPr>
          <p:cNvPr id="53" name="Rounded Rectangle 52"/>
          <p:cNvSpPr/>
          <p:nvPr/>
        </p:nvSpPr>
        <p:spPr>
          <a:xfrm>
            <a:off x="2777490" y="3963924"/>
            <a:ext cx="1179576" cy="26746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4" name="TextBox 53"/>
          <p:cNvSpPr txBox="1"/>
          <p:nvPr/>
        </p:nvSpPr>
        <p:spPr>
          <a:xfrm>
            <a:off x="2794635" y="4011931"/>
            <a:ext cx="1145286" cy="159274"/>
          </a:xfrm>
          <a:prstGeom prst="rect">
            <a:avLst/>
          </a:prstGeom>
          <a:noFill/>
        </p:spPr>
        <p:txBody>
          <a:bodyPr wrap="square" lIns="10287" tIns="10287" rIns="10287" bIns="10287">
            <a:spAutoFit/>
          </a:bodyPr>
          <a:lstStyle/>
          <a:p>
            <a:pPr algn="ctr">
              <a:spcAft>
                <a:spcPts val="375"/>
              </a:spcAft>
              <a:defRPr sz="1200" b="1">
                <a:solidFill>
                  <a:srgbClr val="087F8C"/>
                </a:solidFill>
                <a:latin typeface="Arial"/>
              </a:defRPr>
            </a:pPr>
            <a:r>
              <a:rPr sz="900" cap="none">
                <a:latin typeface="Arial"/>
              </a:rPr>
              <a:t>Kubernetes</a:t>
            </a:r>
          </a:p>
        </p:txBody>
      </p:sp>
      <p:cxnSp>
        <p:nvCxnSpPr>
          <p:cNvPr id="55" name="Connector 54"/>
          <p:cNvCxnSpPr/>
          <p:nvPr/>
        </p:nvCxnSpPr>
        <p:spPr>
          <a:xfrm>
            <a:off x="1440180" y="4097655"/>
            <a:ext cx="1337310" cy="0"/>
          </a:xfrm>
          <a:prstGeom prst="line">
            <a:avLst/>
          </a:prstGeom>
          <a:ln w="1778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45770" y="3785616"/>
            <a:ext cx="2331720" cy="147733"/>
          </a:xfrm>
          <a:prstGeom prst="rect">
            <a:avLst/>
          </a:prstGeom>
          <a:noFill/>
        </p:spPr>
        <p:txBody>
          <a:bodyPr wrap="square" lIns="10287" tIns="10287" rIns="10287" bIns="10287">
            <a:spAutoFit/>
          </a:bodyPr>
          <a:lstStyle/>
          <a:p>
            <a:pPr algn="ctr">
              <a:spcAft>
                <a:spcPts val="375"/>
              </a:spcAft>
              <a:defRPr sz="1100" b="1">
                <a:solidFill>
                  <a:srgbClr val="087F8C"/>
                </a:solidFill>
                <a:latin typeface="Arial"/>
              </a:defRPr>
            </a:pPr>
            <a:r>
              <a:rPr sz="825" cap="none">
                <a:latin typeface="Arial"/>
              </a:rPr>
              <a:t>TTFT → first word</a:t>
            </a:r>
          </a:p>
        </p:txBody>
      </p:sp>
      <p:sp>
        <p:nvSpPr>
          <p:cNvPr id="57" name="Rounded Rectangle 56"/>
          <p:cNvSpPr/>
          <p:nvPr/>
        </p:nvSpPr>
        <p:spPr>
          <a:xfrm>
            <a:off x="4080510" y="3963924"/>
            <a:ext cx="802386"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8" name="TextBox 57"/>
          <p:cNvSpPr txBox="1"/>
          <p:nvPr/>
        </p:nvSpPr>
        <p:spPr>
          <a:xfrm>
            <a:off x="4097656" y="4011931"/>
            <a:ext cx="768095" cy="159274"/>
          </a:xfrm>
          <a:prstGeom prst="rect">
            <a:avLst/>
          </a:prstGeom>
          <a:noFill/>
        </p:spPr>
        <p:txBody>
          <a:bodyPr wrap="square" lIns="10287" tIns="10287" rIns="10287" bIns="10287">
            <a:spAutoFit/>
          </a:bodyPr>
          <a:lstStyle/>
          <a:p>
            <a:pPr algn="ctr">
              <a:spcAft>
                <a:spcPts val="375"/>
              </a:spcAft>
              <a:defRPr sz="1200" b="1">
                <a:solidFill>
                  <a:srgbClr val="7354B8"/>
                </a:solidFill>
                <a:latin typeface="Arial"/>
              </a:defRPr>
            </a:pPr>
            <a:r>
              <a:rPr sz="900" cap="none">
                <a:latin typeface="Arial"/>
              </a:rPr>
              <a:t>helps</a:t>
            </a:r>
          </a:p>
        </p:txBody>
      </p:sp>
      <p:cxnSp>
        <p:nvCxnSpPr>
          <p:cNvPr id="59" name="Connector 58"/>
          <p:cNvCxnSpPr/>
          <p:nvPr/>
        </p:nvCxnSpPr>
        <p:spPr>
          <a:xfrm>
            <a:off x="3957066" y="4097655"/>
            <a:ext cx="123444"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2777490" y="3785616"/>
            <a:ext cx="1303020" cy="147733"/>
          </a:xfrm>
          <a:prstGeom prst="rect">
            <a:avLst/>
          </a:prstGeom>
          <a:noFill/>
        </p:spPr>
        <p:txBody>
          <a:bodyPr wrap="square" lIns="10287" tIns="10287" rIns="10287" bIns="10287">
            <a:spAutoFit/>
          </a:bodyPr>
          <a:lstStyle/>
          <a:p>
            <a:pPr algn="ctr">
              <a:spcAft>
                <a:spcPts val="375"/>
              </a:spcAft>
              <a:defRPr sz="1100" b="1">
                <a:solidFill>
                  <a:srgbClr val="7354B8"/>
                </a:solidFill>
                <a:latin typeface="Arial"/>
              </a:defRPr>
            </a:pPr>
            <a:r>
              <a:rPr sz="825" cap="none">
                <a:latin typeface="Arial"/>
              </a:rPr>
              <a:t>ITL 1</a:t>
            </a:r>
          </a:p>
        </p:txBody>
      </p:sp>
      <p:sp>
        <p:nvSpPr>
          <p:cNvPr id="61" name="Rounded Rectangle 60"/>
          <p:cNvSpPr/>
          <p:nvPr/>
        </p:nvSpPr>
        <p:spPr>
          <a:xfrm>
            <a:off x="5006340" y="3963924"/>
            <a:ext cx="802386"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2" name="TextBox 61"/>
          <p:cNvSpPr txBox="1"/>
          <p:nvPr/>
        </p:nvSpPr>
        <p:spPr>
          <a:xfrm>
            <a:off x="5023486" y="4011931"/>
            <a:ext cx="768095" cy="159274"/>
          </a:xfrm>
          <a:prstGeom prst="rect">
            <a:avLst/>
          </a:prstGeom>
          <a:noFill/>
        </p:spPr>
        <p:txBody>
          <a:bodyPr wrap="square" lIns="10287" tIns="10287" rIns="10287" bIns="10287">
            <a:spAutoFit/>
          </a:bodyPr>
          <a:lstStyle/>
          <a:p>
            <a:pPr algn="ctr">
              <a:spcAft>
                <a:spcPts val="375"/>
              </a:spcAft>
              <a:defRPr sz="1200" b="1">
                <a:solidFill>
                  <a:srgbClr val="7354B8"/>
                </a:solidFill>
                <a:latin typeface="Arial"/>
              </a:defRPr>
            </a:pPr>
            <a:r>
              <a:rPr sz="900" cap="none">
                <a:latin typeface="Arial"/>
              </a:rPr>
              <a:t>teams</a:t>
            </a:r>
          </a:p>
        </p:txBody>
      </p:sp>
      <p:cxnSp>
        <p:nvCxnSpPr>
          <p:cNvPr id="63" name="Connector 62"/>
          <p:cNvCxnSpPr/>
          <p:nvPr/>
        </p:nvCxnSpPr>
        <p:spPr>
          <a:xfrm>
            <a:off x="4882896" y="4097655"/>
            <a:ext cx="123444"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080511" y="3785616"/>
            <a:ext cx="925829" cy="147733"/>
          </a:xfrm>
          <a:prstGeom prst="rect">
            <a:avLst/>
          </a:prstGeom>
          <a:noFill/>
        </p:spPr>
        <p:txBody>
          <a:bodyPr wrap="square" lIns="10287" tIns="10287" rIns="10287" bIns="10287">
            <a:spAutoFit/>
          </a:bodyPr>
          <a:lstStyle/>
          <a:p>
            <a:pPr algn="ctr">
              <a:spcAft>
                <a:spcPts val="375"/>
              </a:spcAft>
              <a:defRPr sz="1100" b="1">
                <a:solidFill>
                  <a:srgbClr val="7354B8"/>
                </a:solidFill>
                <a:latin typeface="Arial"/>
              </a:defRPr>
            </a:pPr>
            <a:r>
              <a:rPr sz="825" cap="none">
                <a:latin typeface="Arial"/>
              </a:rPr>
              <a:t>ITL 2</a:t>
            </a:r>
          </a:p>
        </p:txBody>
      </p:sp>
      <p:sp>
        <p:nvSpPr>
          <p:cNvPr id="65" name="Rounded Rectangle 64"/>
          <p:cNvSpPr/>
          <p:nvPr/>
        </p:nvSpPr>
        <p:spPr>
          <a:xfrm>
            <a:off x="5932170" y="3963924"/>
            <a:ext cx="802386"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6" name="TextBox 65"/>
          <p:cNvSpPr txBox="1"/>
          <p:nvPr/>
        </p:nvSpPr>
        <p:spPr>
          <a:xfrm>
            <a:off x="5949316" y="4011931"/>
            <a:ext cx="768095" cy="159274"/>
          </a:xfrm>
          <a:prstGeom prst="rect">
            <a:avLst/>
          </a:prstGeom>
          <a:noFill/>
        </p:spPr>
        <p:txBody>
          <a:bodyPr wrap="square" lIns="10287" tIns="10287" rIns="10287" bIns="10287">
            <a:spAutoFit/>
          </a:bodyPr>
          <a:lstStyle/>
          <a:p>
            <a:pPr algn="ctr">
              <a:spcAft>
                <a:spcPts val="375"/>
              </a:spcAft>
              <a:defRPr sz="1200" b="1">
                <a:solidFill>
                  <a:srgbClr val="7354B8"/>
                </a:solidFill>
                <a:latin typeface="Arial"/>
              </a:defRPr>
            </a:pPr>
            <a:r>
              <a:rPr sz="900" cap="none">
                <a:latin typeface="Arial"/>
              </a:rPr>
              <a:t>deploy</a:t>
            </a:r>
          </a:p>
        </p:txBody>
      </p:sp>
      <p:cxnSp>
        <p:nvCxnSpPr>
          <p:cNvPr id="67" name="Connector 66"/>
          <p:cNvCxnSpPr/>
          <p:nvPr/>
        </p:nvCxnSpPr>
        <p:spPr>
          <a:xfrm>
            <a:off x="5808726" y="4097655"/>
            <a:ext cx="123445"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06340" y="3785616"/>
            <a:ext cx="925830" cy="147733"/>
          </a:xfrm>
          <a:prstGeom prst="rect">
            <a:avLst/>
          </a:prstGeom>
          <a:noFill/>
        </p:spPr>
        <p:txBody>
          <a:bodyPr wrap="square" lIns="10287" tIns="10287" rIns="10287" bIns="10287">
            <a:spAutoFit/>
          </a:bodyPr>
          <a:lstStyle/>
          <a:p>
            <a:pPr algn="ctr">
              <a:spcAft>
                <a:spcPts val="375"/>
              </a:spcAft>
              <a:defRPr sz="1100" b="1">
                <a:solidFill>
                  <a:srgbClr val="7354B8"/>
                </a:solidFill>
                <a:latin typeface="Arial"/>
              </a:defRPr>
            </a:pPr>
            <a:r>
              <a:rPr sz="825" cap="none">
                <a:latin typeface="Arial"/>
              </a:rPr>
              <a:t>ITL 3</a:t>
            </a:r>
          </a:p>
        </p:txBody>
      </p:sp>
      <p:sp>
        <p:nvSpPr>
          <p:cNvPr id="69" name="Rounded Rectangle 68"/>
          <p:cNvSpPr/>
          <p:nvPr/>
        </p:nvSpPr>
        <p:spPr>
          <a:xfrm>
            <a:off x="6858000" y="3963924"/>
            <a:ext cx="802386"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70" name="TextBox 69"/>
          <p:cNvSpPr txBox="1"/>
          <p:nvPr/>
        </p:nvSpPr>
        <p:spPr>
          <a:xfrm>
            <a:off x="6875146" y="4011931"/>
            <a:ext cx="768095" cy="159274"/>
          </a:xfrm>
          <a:prstGeom prst="rect">
            <a:avLst/>
          </a:prstGeom>
          <a:noFill/>
        </p:spPr>
        <p:txBody>
          <a:bodyPr wrap="square" lIns="10287" tIns="10287" rIns="10287" bIns="10287">
            <a:spAutoFit/>
          </a:bodyPr>
          <a:lstStyle/>
          <a:p>
            <a:pPr algn="ctr">
              <a:spcAft>
                <a:spcPts val="375"/>
              </a:spcAft>
              <a:defRPr sz="1200" b="1">
                <a:solidFill>
                  <a:srgbClr val="7354B8"/>
                </a:solidFill>
                <a:latin typeface="Arial"/>
              </a:defRPr>
            </a:pPr>
            <a:r>
              <a:rPr sz="900" cap="none">
                <a:latin typeface="Arial"/>
              </a:rPr>
              <a:t>and</a:t>
            </a:r>
          </a:p>
        </p:txBody>
      </p:sp>
      <p:cxnSp>
        <p:nvCxnSpPr>
          <p:cNvPr id="71" name="Connector 70"/>
          <p:cNvCxnSpPr/>
          <p:nvPr/>
        </p:nvCxnSpPr>
        <p:spPr>
          <a:xfrm>
            <a:off x="6734556" y="4097655"/>
            <a:ext cx="123444"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932171" y="3785616"/>
            <a:ext cx="925829" cy="147733"/>
          </a:xfrm>
          <a:prstGeom prst="rect">
            <a:avLst/>
          </a:prstGeom>
          <a:noFill/>
        </p:spPr>
        <p:txBody>
          <a:bodyPr wrap="square" lIns="10287" tIns="10287" rIns="10287" bIns="10287">
            <a:spAutoFit/>
          </a:bodyPr>
          <a:lstStyle/>
          <a:p>
            <a:pPr algn="ctr">
              <a:spcAft>
                <a:spcPts val="375"/>
              </a:spcAft>
              <a:defRPr sz="1100" b="1">
                <a:solidFill>
                  <a:srgbClr val="7354B8"/>
                </a:solidFill>
                <a:latin typeface="Arial"/>
              </a:defRPr>
            </a:pPr>
            <a:r>
              <a:rPr sz="825" cap="none">
                <a:latin typeface="Arial"/>
              </a:rPr>
              <a:t>ITL 4</a:t>
            </a:r>
          </a:p>
        </p:txBody>
      </p:sp>
      <p:sp>
        <p:nvSpPr>
          <p:cNvPr id="73" name="Rounded Rectangle 72"/>
          <p:cNvSpPr/>
          <p:nvPr/>
        </p:nvSpPr>
        <p:spPr>
          <a:xfrm>
            <a:off x="7783830" y="3963924"/>
            <a:ext cx="802386"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74" name="TextBox 73"/>
          <p:cNvSpPr txBox="1"/>
          <p:nvPr/>
        </p:nvSpPr>
        <p:spPr>
          <a:xfrm>
            <a:off x="7800976" y="4011931"/>
            <a:ext cx="768095" cy="159274"/>
          </a:xfrm>
          <a:prstGeom prst="rect">
            <a:avLst/>
          </a:prstGeom>
          <a:noFill/>
        </p:spPr>
        <p:txBody>
          <a:bodyPr wrap="square" lIns="10287" tIns="10287" rIns="10287" bIns="10287">
            <a:spAutoFit/>
          </a:bodyPr>
          <a:lstStyle/>
          <a:p>
            <a:pPr algn="ctr">
              <a:spcAft>
                <a:spcPts val="375"/>
              </a:spcAft>
              <a:defRPr sz="1200" b="1">
                <a:solidFill>
                  <a:srgbClr val="7354B8"/>
                </a:solidFill>
                <a:latin typeface="Arial"/>
              </a:defRPr>
            </a:pPr>
            <a:r>
              <a:rPr sz="900" cap="none">
                <a:latin typeface="Arial"/>
              </a:rPr>
              <a:t>scale</a:t>
            </a:r>
          </a:p>
        </p:txBody>
      </p:sp>
      <p:cxnSp>
        <p:nvCxnSpPr>
          <p:cNvPr id="75" name="Connector 74"/>
          <p:cNvCxnSpPr/>
          <p:nvPr/>
        </p:nvCxnSpPr>
        <p:spPr>
          <a:xfrm>
            <a:off x="7660386" y="4097655"/>
            <a:ext cx="123444" cy="0"/>
          </a:xfrm>
          <a:prstGeom prst="line">
            <a:avLst/>
          </a:prstGeom>
          <a:ln w="1778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858001" y="3785616"/>
            <a:ext cx="925829" cy="147733"/>
          </a:xfrm>
          <a:prstGeom prst="rect">
            <a:avLst/>
          </a:prstGeom>
          <a:noFill/>
        </p:spPr>
        <p:txBody>
          <a:bodyPr wrap="square" lIns="10287" tIns="10287" rIns="10287" bIns="10287">
            <a:spAutoFit/>
          </a:bodyPr>
          <a:lstStyle/>
          <a:p>
            <a:pPr algn="ctr">
              <a:spcAft>
                <a:spcPts val="375"/>
              </a:spcAft>
              <a:defRPr sz="1100" b="1">
                <a:solidFill>
                  <a:srgbClr val="7354B8"/>
                </a:solidFill>
                <a:latin typeface="Arial"/>
              </a:defRPr>
            </a:pPr>
            <a:r>
              <a:rPr sz="825" cap="none">
                <a:latin typeface="Arial"/>
              </a:rPr>
              <a:t>ITL 5</a:t>
            </a:r>
          </a:p>
        </p:txBody>
      </p:sp>
      <p:sp>
        <p:nvSpPr>
          <p:cNvPr id="77" name="TextBox 76"/>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78" name="TextBox 77"/>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06 / 49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The problem</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One request. Two different performance targets.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Prefill mainly shapes the wait for the first token; decode shapes the pace after it.</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Both affect total response latency and SLO goodput: requests/s meeting the latency targets.</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481328"/>
            <a:ext cx="1371600" cy="7406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377190" y="1549908"/>
            <a:ext cx="37719" cy="6035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480060" y="1570483"/>
            <a:ext cx="1165860" cy="240066"/>
          </a:xfrm>
          <a:prstGeom prst="rect">
            <a:avLst/>
          </a:prstGeom>
          <a:noFill/>
        </p:spPr>
        <p:txBody>
          <a:bodyPr wrap="square" lIns="10287" tIns="10287" rIns="10287" bIns="10287">
            <a:spAutoFit/>
          </a:bodyPr>
          <a:lstStyle/>
          <a:p>
            <a:pPr algn="ctr">
              <a:spcAft>
                <a:spcPts val="375"/>
              </a:spcAft>
              <a:defRPr sz="1900" b="1">
                <a:solidFill>
                  <a:srgbClr val="2563EB"/>
                </a:solidFill>
                <a:latin typeface="Arial"/>
              </a:defRPr>
            </a:pPr>
            <a:r>
              <a:rPr sz="1425" cap="none">
                <a:latin typeface="Arial"/>
              </a:rPr>
              <a:t>Prompt</a:t>
            </a:r>
          </a:p>
        </p:txBody>
      </p:sp>
      <p:sp>
        <p:nvSpPr>
          <p:cNvPr id="13" name="TextBox 12"/>
          <p:cNvSpPr txBox="1"/>
          <p:nvPr/>
        </p:nvSpPr>
        <p:spPr>
          <a:xfrm>
            <a:off x="486918" y="1899667"/>
            <a:ext cx="11521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Input tokens</a:t>
            </a:r>
          </a:p>
        </p:txBody>
      </p:sp>
      <p:sp>
        <p:nvSpPr>
          <p:cNvPr id="14" name="Rounded Rectangle 13"/>
          <p:cNvSpPr/>
          <p:nvPr/>
        </p:nvSpPr>
        <p:spPr>
          <a:xfrm>
            <a:off x="2057400" y="1481328"/>
            <a:ext cx="2057400" cy="7406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2057400" y="1549908"/>
            <a:ext cx="37719" cy="60350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2160270" y="1570483"/>
            <a:ext cx="1851660" cy="240066"/>
          </a:xfrm>
          <a:prstGeom prst="rect">
            <a:avLst/>
          </a:prstGeom>
          <a:noFill/>
        </p:spPr>
        <p:txBody>
          <a:bodyPr wrap="square" lIns="10287" tIns="10287" rIns="10287" bIns="10287">
            <a:spAutoFit/>
          </a:bodyPr>
          <a:lstStyle/>
          <a:p>
            <a:pPr algn="ctr">
              <a:spcAft>
                <a:spcPts val="375"/>
              </a:spcAft>
              <a:defRPr sz="1900" b="1">
                <a:solidFill>
                  <a:srgbClr val="087F8C"/>
                </a:solidFill>
                <a:latin typeface="Arial"/>
              </a:defRPr>
            </a:pPr>
            <a:r>
              <a:rPr sz="1425" cap="none">
                <a:latin typeface="Arial"/>
              </a:rPr>
              <a:t>Prefill</a:t>
            </a:r>
          </a:p>
        </p:txBody>
      </p:sp>
      <p:sp>
        <p:nvSpPr>
          <p:cNvPr id="17" name="TextBox 16"/>
          <p:cNvSpPr txBox="1"/>
          <p:nvPr/>
        </p:nvSpPr>
        <p:spPr>
          <a:xfrm>
            <a:off x="2167128" y="1899667"/>
            <a:ext cx="18379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Process uncached input</a:t>
            </a:r>
          </a:p>
        </p:txBody>
      </p:sp>
      <p:sp>
        <p:nvSpPr>
          <p:cNvPr id="18" name="Rounded Rectangle 17"/>
          <p:cNvSpPr/>
          <p:nvPr/>
        </p:nvSpPr>
        <p:spPr>
          <a:xfrm>
            <a:off x="4457700" y="1481328"/>
            <a:ext cx="1371600" cy="7406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4457700" y="1549908"/>
            <a:ext cx="37719" cy="603504"/>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4560570" y="1570483"/>
            <a:ext cx="1165860" cy="240066"/>
          </a:xfrm>
          <a:prstGeom prst="rect">
            <a:avLst/>
          </a:prstGeom>
          <a:noFill/>
        </p:spPr>
        <p:txBody>
          <a:bodyPr wrap="square" lIns="10287" tIns="10287" rIns="10287" bIns="10287">
            <a:spAutoFit/>
          </a:bodyPr>
          <a:lstStyle/>
          <a:p>
            <a:pPr algn="ctr">
              <a:spcAft>
                <a:spcPts val="375"/>
              </a:spcAft>
              <a:defRPr sz="1900" b="1">
                <a:solidFill>
                  <a:srgbClr val="AE641A"/>
                </a:solidFill>
                <a:latin typeface="Arial"/>
              </a:defRPr>
            </a:pPr>
            <a:r>
              <a:rPr sz="1425" cap="none">
                <a:latin typeface="Arial"/>
              </a:rPr>
              <a:t>KV cache</a:t>
            </a:r>
          </a:p>
        </p:txBody>
      </p:sp>
      <p:sp>
        <p:nvSpPr>
          <p:cNvPr id="21" name="TextBox 20"/>
          <p:cNvSpPr txBox="1"/>
          <p:nvPr/>
        </p:nvSpPr>
        <p:spPr>
          <a:xfrm>
            <a:off x="4567428" y="1899667"/>
            <a:ext cx="11521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Attention state</a:t>
            </a:r>
          </a:p>
        </p:txBody>
      </p:sp>
      <p:sp>
        <p:nvSpPr>
          <p:cNvPr id="22" name="Rounded Rectangle 21"/>
          <p:cNvSpPr/>
          <p:nvPr/>
        </p:nvSpPr>
        <p:spPr>
          <a:xfrm>
            <a:off x="6172200" y="1481328"/>
            <a:ext cx="2571750" cy="740664"/>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Rectangle 22"/>
          <p:cNvSpPr/>
          <p:nvPr/>
        </p:nvSpPr>
        <p:spPr>
          <a:xfrm>
            <a:off x="6172200" y="1549908"/>
            <a:ext cx="37719" cy="603504"/>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6275070" y="1570483"/>
            <a:ext cx="2366010" cy="240066"/>
          </a:xfrm>
          <a:prstGeom prst="rect">
            <a:avLst/>
          </a:prstGeom>
          <a:noFill/>
        </p:spPr>
        <p:txBody>
          <a:bodyPr wrap="square" lIns="10287" tIns="10287" rIns="10287" bIns="10287">
            <a:spAutoFit/>
          </a:bodyPr>
          <a:lstStyle/>
          <a:p>
            <a:pPr algn="ctr">
              <a:spcAft>
                <a:spcPts val="375"/>
              </a:spcAft>
              <a:defRPr sz="1900" b="1">
                <a:solidFill>
                  <a:srgbClr val="7354B8"/>
                </a:solidFill>
                <a:latin typeface="Arial"/>
              </a:defRPr>
            </a:pPr>
            <a:r>
              <a:rPr sz="1425" cap="none">
                <a:latin typeface="Arial"/>
              </a:rPr>
              <a:t>Decode</a:t>
            </a:r>
          </a:p>
        </p:txBody>
      </p:sp>
      <p:sp>
        <p:nvSpPr>
          <p:cNvPr id="25" name="TextBox 24"/>
          <p:cNvSpPr txBox="1"/>
          <p:nvPr/>
        </p:nvSpPr>
        <p:spPr>
          <a:xfrm>
            <a:off x="6281928" y="1899667"/>
            <a:ext cx="235229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Generate tokens iteratively</a:t>
            </a:r>
          </a:p>
        </p:txBody>
      </p:sp>
      <p:cxnSp>
        <p:nvCxnSpPr>
          <p:cNvPr id="26" name="Connector 25"/>
          <p:cNvCxnSpPr/>
          <p:nvPr/>
        </p:nvCxnSpPr>
        <p:spPr>
          <a:xfrm>
            <a:off x="1748790" y="1851660"/>
            <a:ext cx="308610" cy="0"/>
          </a:xfrm>
          <a:prstGeom prst="line">
            <a:avLst/>
          </a:prstGeom>
          <a:ln w="25400">
            <a:solidFill>
              <a:srgbClr val="586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114800" y="1851660"/>
            <a:ext cx="342900"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29300" y="1851660"/>
            <a:ext cx="342900"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77190" y="2407158"/>
            <a:ext cx="4080510" cy="168021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Rectangle 29"/>
          <p:cNvSpPr/>
          <p:nvPr/>
        </p:nvSpPr>
        <p:spPr>
          <a:xfrm>
            <a:off x="500634" y="2551176"/>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Rounded Rectangle 30"/>
          <p:cNvSpPr/>
          <p:nvPr/>
        </p:nvSpPr>
        <p:spPr>
          <a:xfrm>
            <a:off x="4649724" y="2407158"/>
            <a:ext cx="4080510" cy="168021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2" name="Rectangle 31"/>
          <p:cNvSpPr/>
          <p:nvPr/>
        </p:nvSpPr>
        <p:spPr>
          <a:xfrm>
            <a:off x="4773168" y="2551176"/>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TextBox 32"/>
          <p:cNvSpPr txBox="1"/>
          <p:nvPr/>
        </p:nvSpPr>
        <p:spPr>
          <a:xfrm>
            <a:off x="521208" y="2674620"/>
            <a:ext cx="3771900" cy="286232"/>
          </a:xfrm>
          <a:prstGeom prst="rect">
            <a:avLst/>
          </a:prstGeom>
          <a:noFill/>
        </p:spPr>
        <p:txBody>
          <a:bodyPr wrap="square" lIns="10287" tIns="10287" rIns="10287" bIns="10287">
            <a:spAutoFit/>
          </a:bodyPr>
          <a:lstStyle/>
          <a:p>
            <a:pPr>
              <a:spcAft>
                <a:spcPts val="375"/>
              </a:spcAft>
              <a:defRPr sz="2300" b="1">
                <a:solidFill>
                  <a:srgbClr val="087F8C"/>
                </a:solidFill>
                <a:latin typeface="Arial"/>
              </a:defRPr>
            </a:pPr>
            <a:r>
              <a:rPr sz="1725" cap="none">
                <a:latin typeface="Arial"/>
              </a:rPr>
              <a:t>Prefill → TTFT</a:t>
            </a:r>
          </a:p>
        </p:txBody>
      </p:sp>
      <p:sp>
        <p:nvSpPr>
          <p:cNvPr id="34" name="TextBox 33"/>
          <p:cNvSpPr txBox="1"/>
          <p:nvPr/>
        </p:nvSpPr>
        <p:spPr>
          <a:xfrm>
            <a:off x="521208" y="3010662"/>
            <a:ext cx="3771900" cy="228524"/>
          </a:xfrm>
          <a:prstGeom prst="rect">
            <a:avLst/>
          </a:prstGeom>
          <a:noFill/>
        </p:spPr>
        <p:txBody>
          <a:bodyPr wrap="square" lIns="10287" tIns="10287" rIns="10287" bIns="10287">
            <a:spAutoFit/>
          </a:bodyPr>
          <a:lstStyle/>
          <a:p>
            <a:pPr>
              <a:spcAft>
                <a:spcPts val="375"/>
              </a:spcAft>
              <a:defRPr sz="1800" b="1">
                <a:solidFill>
                  <a:srgbClr val="172941"/>
                </a:solidFill>
                <a:latin typeface="Arial"/>
              </a:defRPr>
            </a:pPr>
            <a:r>
              <a:rPr sz="1350" cap="none">
                <a:latin typeface="Arial"/>
              </a:rPr>
              <a:t>Time to first token • lower is better</a:t>
            </a:r>
          </a:p>
        </p:txBody>
      </p:sp>
      <p:sp>
        <p:nvSpPr>
          <p:cNvPr id="35" name="TextBox 34"/>
          <p:cNvSpPr txBox="1"/>
          <p:nvPr/>
        </p:nvSpPr>
        <p:spPr>
          <a:xfrm>
            <a:off x="521208" y="3374137"/>
            <a:ext cx="3771900" cy="464486"/>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75" cap="none">
                <a:latin typeface="Arial"/>
              </a:rPr>
              <a:t>Track prefill latency + input tok/s</a:t>
            </a:r>
          </a:p>
          <a:p>
            <a:pPr>
              <a:spcAft>
                <a:spcPts val="375"/>
              </a:spcAft>
              <a:defRPr sz="1700" b="0">
                <a:solidFill>
                  <a:srgbClr val="586A80"/>
                </a:solidFill>
                <a:latin typeface="Arial"/>
              </a:defRPr>
            </a:pPr>
            <a:r>
              <a:rPr sz="1275" cap="none">
                <a:latin typeface="Arial"/>
              </a:rPr>
              <a:t>Often compute-bound</a:t>
            </a:r>
          </a:p>
        </p:txBody>
      </p:sp>
      <p:sp>
        <p:nvSpPr>
          <p:cNvPr id="36" name="TextBox 35"/>
          <p:cNvSpPr txBox="1"/>
          <p:nvPr/>
        </p:nvSpPr>
        <p:spPr>
          <a:xfrm>
            <a:off x="4793742" y="2674620"/>
            <a:ext cx="3771900" cy="286232"/>
          </a:xfrm>
          <a:prstGeom prst="rect">
            <a:avLst/>
          </a:prstGeom>
          <a:noFill/>
        </p:spPr>
        <p:txBody>
          <a:bodyPr wrap="square" lIns="10287" tIns="10287" rIns="10287" bIns="10287">
            <a:spAutoFit/>
          </a:bodyPr>
          <a:lstStyle/>
          <a:p>
            <a:pPr>
              <a:spcAft>
                <a:spcPts val="375"/>
              </a:spcAft>
              <a:defRPr sz="2300" b="1">
                <a:solidFill>
                  <a:srgbClr val="7354B8"/>
                </a:solidFill>
                <a:latin typeface="Arial"/>
              </a:defRPr>
            </a:pPr>
            <a:r>
              <a:rPr sz="1725" cap="none">
                <a:latin typeface="Arial"/>
              </a:rPr>
              <a:t>Decode → ITL / TPOT</a:t>
            </a:r>
          </a:p>
        </p:txBody>
      </p:sp>
      <p:sp>
        <p:nvSpPr>
          <p:cNvPr id="37" name="TextBox 36"/>
          <p:cNvSpPr txBox="1"/>
          <p:nvPr/>
        </p:nvSpPr>
        <p:spPr>
          <a:xfrm>
            <a:off x="4793742" y="3010661"/>
            <a:ext cx="3771900" cy="205441"/>
          </a:xfrm>
          <a:prstGeom prst="rect">
            <a:avLst/>
          </a:prstGeom>
          <a:noFill/>
        </p:spPr>
        <p:txBody>
          <a:bodyPr wrap="square" lIns="10287" tIns="10287" rIns="10287" bIns="10287">
            <a:spAutoFit/>
          </a:bodyPr>
          <a:lstStyle/>
          <a:p>
            <a:pPr>
              <a:spcAft>
                <a:spcPts val="375"/>
              </a:spcAft>
              <a:defRPr sz="1600" b="1">
                <a:solidFill>
                  <a:srgbClr val="172941"/>
                </a:solidFill>
                <a:latin typeface="Arial"/>
              </a:defRPr>
            </a:pPr>
            <a:r>
              <a:rPr sz="1200" cap="none">
                <a:latin typeface="Arial"/>
              </a:rPr>
              <a:t>Inter-token latency / avg. time per output token</a:t>
            </a:r>
          </a:p>
        </p:txBody>
      </p:sp>
      <p:sp>
        <p:nvSpPr>
          <p:cNvPr id="38" name="TextBox 37"/>
          <p:cNvSpPr txBox="1"/>
          <p:nvPr/>
        </p:nvSpPr>
        <p:spPr>
          <a:xfrm>
            <a:off x="4793742" y="3374137"/>
            <a:ext cx="3771900" cy="464486"/>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75" cap="none">
                <a:latin typeface="Arial"/>
              </a:rPr>
              <a:t>Lower is better • track aggregate output tok/s</a:t>
            </a:r>
          </a:p>
          <a:p>
            <a:pPr>
              <a:spcAft>
                <a:spcPts val="375"/>
              </a:spcAft>
              <a:defRPr sz="1700" b="0">
                <a:solidFill>
                  <a:srgbClr val="586A80"/>
                </a:solidFill>
                <a:latin typeface="Arial"/>
              </a:defRPr>
            </a:pPr>
            <a:r>
              <a:rPr sz="1275" cap="none">
                <a:latin typeface="Arial"/>
              </a:rPr>
              <a:t>Often memory-bandwidth-bound</a:t>
            </a:r>
          </a:p>
        </p:txBody>
      </p:sp>
      <p:sp>
        <p:nvSpPr>
          <p:cNvPr id="39" name="TextBox 38"/>
          <p:cNvSpPr txBox="1"/>
          <p:nvPr/>
        </p:nvSpPr>
        <p:spPr>
          <a:xfrm>
            <a:off x="445770" y="4162806"/>
            <a:ext cx="8243316" cy="147733"/>
          </a:xfrm>
          <a:prstGeom prst="rect">
            <a:avLst/>
          </a:prstGeom>
          <a:noFill/>
        </p:spPr>
        <p:txBody>
          <a:bodyPr wrap="square" lIns="10287" tIns="10287" rIns="10287" bIns="10287">
            <a:spAutoFit/>
          </a:bodyPr>
          <a:lstStyle/>
          <a:p>
            <a:pPr>
              <a:spcAft>
                <a:spcPts val="375"/>
              </a:spcAft>
              <a:defRPr sz="1100" b="0">
                <a:solidFill>
                  <a:srgbClr val="586A80"/>
                </a:solidFill>
                <a:latin typeface="Arial"/>
              </a:defRPr>
            </a:pPr>
            <a:r>
              <a:rPr sz="825" cap="none">
                <a:latin typeface="Arial"/>
              </a:rPr>
              <a:t>Not exclusive: queueing / delivery also affect TTFT; shared prefill can stall decode. Sources: vLLM metrics; NVIDIA Dynamo.</a:t>
            </a:r>
          </a:p>
        </p:txBody>
      </p:sp>
      <p:sp>
        <p:nvSpPr>
          <p:cNvPr id="40" name="TextBox 3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1" name="TextBox 4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07 / 49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The problem</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One shared pool couples two capacity decisions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Aggregated serving is simple—but prefill bursts and active decoding share resources.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The compromise is not only performance. It is how you size and scale the service.</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577340"/>
            <a:ext cx="4903470" cy="25717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548640" y="1755649"/>
            <a:ext cx="4526280" cy="216982"/>
          </a:xfrm>
          <a:prstGeom prst="rect">
            <a:avLst/>
          </a:prstGeom>
          <a:noFill/>
        </p:spPr>
        <p:txBody>
          <a:bodyPr wrap="square" lIns="10287" tIns="10287" rIns="10287" bIns="10287">
            <a:spAutoFit/>
          </a:bodyPr>
          <a:lstStyle/>
          <a:p>
            <a:pPr>
              <a:spcAft>
                <a:spcPts val="375"/>
              </a:spcAft>
              <a:defRPr sz="1700" b="1">
                <a:solidFill>
                  <a:srgbClr val="2563EB"/>
                </a:solidFill>
                <a:latin typeface="Arial"/>
              </a:defRPr>
            </a:pPr>
            <a:r>
              <a:rPr sz="1275" cap="none">
                <a:latin typeface="Arial"/>
              </a:rPr>
              <a:t>Shared GPU pool</a:t>
            </a:r>
          </a:p>
        </p:txBody>
      </p:sp>
      <p:sp>
        <p:nvSpPr>
          <p:cNvPr id="12" name="Rounded Rectangle 11"/>
          <p:cNvSpPr/>
          <p:nvPr/>
        </p:nvSpPr>
        <p:spPr>
          <a:xfrm>
            <a:off x="589788" y="2290572"/>
            <a:ext cx="1357884" cy="109728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Rounded Rectangle 12"/>
          <p:cNvSpPr/>
          <p:nvPr/>
        </p:nvSpPr>
        <p:spPr>
          <a:xfrm>
            <a:off x="672084" y="2441448"/>
            <a:ext cx="1186434"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720091" y="2465451"/>
            <a:ext cx="1090421"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Prefill</a:t>
            </a:r>
          </a:p>
        </p:txBody>
      </p:sp>
      <p:sp>
        <p:nvSpPr>
          <p:cNvPr id="15" name="Rounded Rectangle 14"/>
          <p:cNvSpPr/>
          <p:nvPr/>
        </p:nvSpPr>
        <p:spPr>
          <a:xfrm>
            <a:off x="672084" y="2839211"/>
            <a:ext cx="1186434"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720091" y="2863215"/>
            <a:ext cx="1090421"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Decode</a:t>
            </a:r>
          </a:p>
        </p:txBody>
      </p:sp>
      <p:sp>
        <p:nvSpPr>
          <p:cNvPr id="17" name="Rounded Rectangle 16"/>
          <p:cNvSpPr/>
          <p:nvPr/>
        </p:nvSpPr>
        <p:spPr>
          <a:xfrm>
            <a:off x="2098548" y="2290572"/>
            <a:ext cx="1357884" cy="109728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Rounded Rectangle 17"/>
          <p:cNvSpPr/>
          <p:nvPr/>
        </p:nvSpPr>
        <p:spPr>
          <a:xfrm>
            <a:off x="2180844" y="2441448"/>
            <a:ext cx="1186434"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2228851" y="2465451"/>
            <a:ext cx="1090421"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Prefill</a:t>
            </a:r>
          </a:p>
        </p:txBody>
      </p:sp>
      <p:sp>
        <p:nvSpPr>
          <p:cNvPr id="20" name="Rounded Rectangle 19"/>
          <p:cNvSpPr/>
          <p:nvPr/>
        </p:nvSpPr>
        <p:spPr>
          <a:xfrm>
            <a:off x="2180844" y="2839211"/>
            <a:ext cx="1186434"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2228851" y="2863215"/>
            <a:ext cx="1090421"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Decode</a:t>
            </a:r>
          </a:p>
        </p:txBody>
      </p:sp>
      <p:sp>
        <p:nvSpPr>
          <p:cNvPr id="22" name="Rounded Rectangle 21"/>
          <p:cNvSpPr/>
          <p:nvPr/>
        </p:nvSpPr>
        <p:spPr>
          <a:xfrm>
            <a:off x="3607308" y="2290572"/>
            <a:ext cx="1357884" cy="1097280"/>
          </a:xfrm>
          <a:prstGeom prst="roundRect">
            <a:avLst>
              <a:gd name="adj" fmla="val 10000"/>
            </a:avLst>
          </a:prstGeom>
          <a:solidFill>
            <a:srgbClr val="F6F8FC"/>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Rounded Rectangle 22"/>
          <p:cNvSpPr/>
          <p:nvPr/>
        </p:nvSpPr>
        <p:spPr>
          <a:xfrm>
            <a:off x="3689604" y="2441448"/>
            <a:ext cx="1186434"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3737611" y="2465451"/>
            <a:ext cx="1090421"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Prefill</a:t>
            </a:r>
          </a:p>
        </p:txBody>
      </p:sp>
      <p:sp>
        <p:nvSpPr>
          <p:cNvPr id="25" name="Rounded Rectangle 24"/>
          <p:cNvSpPr/>
          <p:nvPr/>
        </p:nvSpPr>
        <p:spPr>
          <a:xfrm>
            <a:off x="3689604" y="2839211"/>
            <a:ext cx="1186434"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3737611" y="2863215"/>
            <a:ext cx="1090421"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Decode</a:t>
            </a:r>
          </a:p>
        </p:txBody>
      </p:sp>
      <p:sp>
        <p:nvSpPr>
          <p:cNvPr id="27" name="TextBox 26"/>
          <p:cNvSpPr txBox="1"/>
          <p:nvPr/>
        </p:nvSpPr>
        <p:spPr>
          <a:xfrm>
            <a:off x="562356" y="3607309"/>
            <a:ext cx="4457700" cy="216982"/>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75" cap="none">
                <a:latin typeface="Arial"/>
              </a:rPr>
              <a:t>One deployment • one coupled scaling boundary</a:t>
            </a:r>
          </a:p>
        </p:txBody>
      </p:sp>
      <p:sp>
        <p:nvSpPr>
          <p:cNvPr id="28" name="Rounded Rectangle 27"/>
          <p:cNvSpPr/>
          <p:nvPr/>
        </p:nvSpPr>
        <p:spPr>
          <a:xfrm>
            <a:off x="5520690" y="1577340"/>
            <a:ext cx="3236976" cy="25717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Rectangle 28"/>
          <p:cNvSpPr/>
          <p:nvPr/>
        </p:nvSpPr>
        <p:spPr>
          <a:xfrm>
            <a:off x="5644134" y="1714500"/>
            <a:ext cx="260604" cy="44577"/>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5657851" y="1851659"/>
            <a:ext cx="2962655" cy="251607"/>
          </a:xfrm>
          <a:prstGeom prst="rect">
            <a:avLst/>
          </a:prstGeom>
          <a:noFill/>
        </p:spPr>
        <p:txBody>
          <a:bodyPr wrap="square" lIns="10287" tIns="10287" rIns="10287" bIns="10287">
            <a:spAutoFit/>
          </a:bodyPr>
          <a:lstStyle/>
          <a:p>
            <a:pPr>
              <a:spcAft>
                <a:spcPts val="375"/>
              </a:spcAft>
              <a:defRPr sz="2000" b="1">
                <a:solidFill>
                  <a:srgbClr val="AE641A"/>
                </a:solidFill>
                <a:latin typeface="Arial"/>
              </a:defRPr>
            </a:pPr>
            <a:r>
              <a:rPr sz="1500" cap="none">
                <a:latin typeface="Arial"/>
              </a:rPr>
              <a:t>The operational tension</a:t>
            </a:r>
          </a:p>
        </p:txBody>
      </p:sp>
      <p:sp>
        <p:nvSpPr>
          <p:cNvPr id="31" name="TextBox 30"/>
          <p:cNvSpPr txBox="1"/>
          <p:nvPr/>
        </p:nvSpPr>
        <p:spPr>
          <a:xfrm>
            <a:off x="5657851" y="2304289"/>
            <a:ext cx="2962655" cy="1219821"/>
          </a:xfrm>
          <a:prstGeom prst="rect">
            <a:avLst/>
          </a:prstGeom>
          <a:noFill/>
        </p:spPr>
        <p:txBody>
          <a:bodyPr wrap="square" lIns="10287" tIns="10287" rIns="10287" bIns="10287">
            <a:spAutoFit/>
          </a:bodyPr>
          <a:lstStyle/>
          <a:p>
            <a:pPr>
              <a:spcAft>
                <a:spcPts val="375"/>
              </a:spcAft>
              <a:defRPr sz="1900" b="0">
                <a:solidFill>
                  <a:srgbClr val="172941"/>
                </a:solidFill>
                <a:latin typeface="Arial"/>
              </a:defRPr>
            </a:pPr>
            <a:r>
              <a:rPr sz="1425" cap="none">
                <a:latin typeface="Arial"/>
              </a:rPr>
              <a:t>Prompt bursts can disrupt token delivery.</a:t>
            </a:r>
          </a:p>
          <a:p>
            <a:pPr>
              <a:spcAft>
                <a:spcPts val="375"/>
              </a:spcAft>
              <a:defRPr sz="1900" b="0">
                <a:solidFill>
                  <a:srgbClr val="172941"/>
                </a:solidFill>
                <a:latin typeface="Arial"/>
              </a:defRPr>
            </a:pPr>
            <a:endParaRPr sz="1425"/>
          </a:p>
          <a:p>
            <a:pPr>
              <a:spcAft>
                <a:spcPts val="375"/>
              </a:spcAft>
              <a:defRPr sz="1900" b="0">
                <a:solidFill>
                  <a:srgbClr val="172941"/>
                </a:solidFill>
                <a:latin typeface="Arial"/>
              </a:defRPr>
            </a:pPr>
            <a:r>
              <a:rPr sz="1425" cap="none">
                <a:latin typeface="Arial"/>
              </a:rPr>
              <a:t>Scaling adds both phases, even when only one is saturated.</a:t>
            </a:r>
          </a:p>
        </p:txBody>
      </p:sp>
      <p:sp>
        <p:nvSpPr>
          <p:cNvPr id="32" name="TextBox 3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3" name="TextBox 3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08 / 49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Why split — execution interference</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Long prefills can interrupt token delivery</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A is already decoding. B arrives with a new prompt. Where should B run?</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Separate GPUs remove direct prefill execution from the decode GPU—not every source of latency.</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770" y="1453897"/>
            <a:ext cx="8229600" cy="159274"/>
          </a:xfrm>
          <a:prstGeom prst="rect">
            <a:avLst/>
          </a:prstGeom>
          <a:noFill/>
        </p:spPr>
        <p:txBody>
          <a:bodyPr wrap="square" lIns="10287" tIns="10287" rIns="10287" bIns="10287">
            <a:spAutoFit/>
          </a:bodyPr>
          <a:lstStyle/>
          <a:p>
            <a:pPr>
              <a:spcAft>
                <a:spcPts val="375"/>
              </a:spcAft>
              <a:defRPr sz="1200" b="1">
                <a:solidFill>
                  <a:srgbClr val="AE641A"/>
                </a:solidFill>
                <a:latin typeface="Arial"/>
              </a:defRPr>
            </a:pPr>
            <a:r>
              <a:rPr sz="900" cap="none">
                <a:latin typeface="Arial"/>
              </a:rPr>
              <a:t>Conceptual schedule · Not a benchmark · Block widths and gaps are not timings</a:t>
            </a:r>
          </a:p>
        </p:txBody>
      </p:sp>
      <p:sp>
        <p:nvSpPr>
          <p:cNvPr id="11" name="Rounded Rectangle 10"/>
          <p:cNvSpPr/>
          <p:nvPr/>
        </p:nvSpPr>
        <p:spPr>
          <a:xfrm>
            <a:off x="377190" y="1769364"/>
            <a:ext cx="8387334" cy="87096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21208" y="1920240"/>
            <a:ext cx="1817370" cy="263149"/>
          </a:xfrm>
          <a:prstGeom prst="rect">
            <a:avLst/>
          </a:prstGeom>
          <a:noFill/>
        </p:spPr>
        <p:txBody>
          <a:bodyPr wrap="square" lIns="10287" tIns="10287" rIns="10287" bIns="10287">
            <a:spAutoFit/>
          </a:bodyPr>
          <a:lstStyle/>
          <a:p>
            <a:pPr>
              <a:spcAft>
                <a:spcPts val="375"/>
              </a:spcAft>
              <a:defRPr sz="2100" b="1">
                <a:solidFill>
                  <a:srgbClr val="172941"/>
                </a:solidFill>
                <a:latin typeface="Arial"/>
              </a:defRPr>
            </a:pPr>
            <a:r>
              <a:rPr sz="1575" cap="none">
                <a:latin typeface="Arial"/>
              </a:rPr>
              <a:t>Shared GPU</a:t>
            </a:r>
          </a:p>
        </p:txBody>
      </p:sp>
      <p:sp>
        <p:nvSpPr>
          <p:cNvPr id="13" name="TextBox 12"/>
          <p:cNvSpPr txBox="1"/>
          <p:nvPr/>
        </p:nvSpPr>
        <p:spPr>
          <a:xfrm>
            <a:off x="521208" y="2256283"/>
            <a:ext cx="1817370" cy="182358"/>
          </a:xfrm>
          <a:prstGeom prst="rect">
            <a:avLst/>
          </a:prstGeom>
          <a:noFill/>
        </p:spPr>
        <p:txBody>
          <a:bodyPr wrap="square" lIns="10287" tIns="10287" rIns="10287" bIns="10287">
            <a:spAutoFit/>
          </a:bodyPr>
          <a:lstStyle/>
          <a:p>
            <a:pPr>
              <a:spcAft>
                <a:spcPts val="375"/>
              </a:spcAft>
              <a:defRPr sz="1400" b="0">
                <a:solidFill>
                  <a:srgbClr val="586A80"/>
                </a:solidFill>
                <a:latin typeface="Arial"/>
              </a:defRPr>
            </a:pPr>
            <a:r>
              <a:rPr sz="1050" cap="none">
                <a:latin typeface="Arial"/>
              </a:rPr>
              <a:t>One worker does both</a:t>
            </a:r>
          </a:p>
        </p:txBody>
      </p:sp>
      <p:sp>
        <p:nvSpPr>
          <p:cNvPr id="14" name="Rounded Rectangle 13"/>
          <p:cNvSpPr/>
          <p:nvPr/>
        </p:nvSpPr>
        <p:spPr>
          <a:xfrm>
            <a:off x="2571750" y="2119122"/>
            <a:ext cx="754380" cy="33604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2592324" y="2180844"/>
            <a:ext cx="713232"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D</a:t>
            </a:r>
          </a:p>
        </p:txBody>
      </p:sp>
      <p:sp>
        <p:nvSpPr>
          <p:cNvPr id="16" name="Rounded Rectangle 15"/>
          <p:cNvSpPr/>
          <p:nvPr/>
        </p:nvSpPr>
        <p:spPr>
          <a:xfrm>
            <a:off x="3463290" y="2119122"/>
            <a:ext cx="754380" cy="33604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3483864" y="2180844"/>
            <a:ext cx="713232"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D</a:t>
            </a:r>
          </a:p>
        </p:txBody>
      </p:sp>
      <p:sp>
        <p:nvSpPr>
          <p:cNvPr id="18" name="Rounded Rectangle 17"/>
          <p:cNvSpPr/>
          <p:nvPr/>
        </p:nvSpPr>
        <p:spPr>
          <a:xfrm>
            <a:off x="4354830" y="2119122"/>
            <a:ext cx="2057400" cy="33604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4375404" y="2180844"/>
            <a:ext cx="2016252"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Prefill B</a:t>
            </a:r>
          </a:p>
        </p:txBody>
      </p:sp>
      <p:sp>
        <p:nvSpPr>
          <p:cNvPr id="20" name="Rounded Rectangle 19"/>
          <p:cNvSpPr/>
          <p:nvPr/>
        </p:nvSpPr>
        <p:spPr>
          <a:xfrm>
            <a:off x="6549390" y="2119122"/>
            <a:ext cx="754380" cy="33604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6569964" y="2180844"/>
            <a:ext cx="713232"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D</a:t>
            </a:r>
          </a:p>
        </p:txBody>
      </p:sp>
      <p:sp>
        <p:nvSpPr>
          <p:cNvPr id="22" name="Rounded Rectangle 21"/>
          <p:cNvSpPr/>
          <p:nvPr/>
        </p:nvSpPr>
        <p:spPr>
          <a:xfrm>
            <a:off x="7440930" y="2119122"/>
            <a:ext cx="754380" cy="33604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7461504" y="2180844"/>
            <a:ext cx="713232"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D</a:t>
            </a:r>
          </a:p>
        </p:txBody>
      </p:sp>
      <p:sp>
        <p:nvSpPr>
          <p:cNvPr id="24" name="TextBox 23"/>
          <p:cNvSpPr txBox="1"/>
          <p:nvPr/>
        </p:nvSpPr>
        <p:spPr>
          <a:xfrm>
            <a:off x="4272534" y="1837944"/>
            <a:ext cx="2228850" cy="193899"/>
          </a:xfrm>
          <a:prstGeom prst="rect">
            <a:avLst/>
          </a:prstGeom>
          <a:noFill/>
        </p:spPr>
        <p:txBody>
          <a:bodyPr wrap="square" lIns="10287" tIns="10287" rIns="10287" bIns="10287">
            <a:spAutoFit/>
          </a:bodyPr>
          <a:lstStyle/>
          <a:p>
            <a:pPr algn="ctr">
              <a:spcAft>
                <a:spcPts val="375"/>
              </a:spcAft>
              <a:defRPr sz="1500" b="1">
                <a:solidFill>
                  <a:srgbClr val="AE641A"/>
                </a:solidFill>
                <a:latin typeface="Arial"/>
              </a:defRPr>
            </a:pPr>
            <a:r>
              <a:rPr sz="1125" cap="none">
                <a:latin typeface="Arial"/>
              </a:rPr>
              <a:t>A waits while B runs prefill</a:t>
            </a:r>
          </a:p>
        </p:txBody>
      </p:sp>
      <p:sp>
        <p:nvSpPr>
          <p:cNvPr id="25" name="Rounded Rectangle 24"/>
          <p:cNvSpPr/>
          <p:nvPr/>
        </p:nvSpPr>
        <p:spPr>
          <a:xfrm>
            <a:off x="377190" y="2784347"/>
            <a:ext cx="8387334" cy="122758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521208" y="2948940"/>
            <a:ext cx="1817370" cy="263149"/>
          </a:xfrm>
          <a:prstGeom prst="rect">
            <a:avLst/>
          </a:prstGeom>
          <a:noFill/>
        </p:spPr>
        <p:txBody>
          <a:bodyPr wrap="square" lIns="10287" tIns="10287" rIns="10287" bIns="10287">
            <a:spAutoFit/>
          </a:bodyPr>
          <a:lstStyle/>
          <a:p>
            <a:pPr>
              <a:spcAft>
                <a:spcPts val="375"/>
              </a:spcAft>
              <a:defRPr sz="2100" b="1">
                <a:solidFill>
                  <a:srgbClr val="172941"/>
                </a:solidFill>
                <a:latin typeface="Arial"/>
              </a:defRPr>
            </a:pPr>
            <a:r>
              <a:rPr sz="1575" cap="none">
                <a:latin typeface="Arial"/>
              </a:rPr>
              <a:t>Separate GPUs</a:t>
            </a:r>
          </a:p>
        </p:txBody>
      </p:sp>
      <p:sp>
        <p:nvSpPr>
          <p:cNvPr id="27" name="TextBox 26"/>
          <p:cNvSpPr txBox="1"/>
          <p:nvPr/>
        </p:nvSpPr>
        <p:spPr>
          <a:xfrm>
            <a:off x="521208" y="3326131"/>
            <a:ext cx="1817370"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Prefill worker</a:t>
            </a:r>
          </a:p>
        </p:txBody>
      </p:sp>
      <p:sp>
        <p:nvSpPr>
          <p:cNvPr id="28" name="TextBox 27"/>
          <p:cNvSpPr txBox="1"/>
          <p:nvPr/>
        </p:nvSpPr>
        <p:spPr>
          <a:xfrm>
            <a:off x="521208" y="3675889"/>
            <a:ext cx="1817370" cy="182358"/>
          </a:xfrm>
          <a:prstGeom prst="rect">
            <a:avLst/>
          </a:prstGeom>
          <a:noFill/>
        </p:spPr>
        <p:txBody>
          <a:bodyPr wrap="square" lIns="10287" tIns="10287" rIns="10287" bIns="10287">
            <a:spAutoFit/>
          </a:bodyPr>
          <a:lstStyle/>
          <a:p>
            <a:pPr>
              <a:spcAft>
                <a:spcPts val="375"/>
              </a:spcAft>
              <a:defRPr sz="1400" b="1">
                <a:solidFill>
                  <a:srgbClr val="7354B8"/>
                </a:solidFill>
                <a:latin typeface="Arial"/>
              </a:defRPr>
            </a:pPr>
            <a:r>
              <a:rPr sz="1050" cap="none">
                <a:latin typeface="Arial"/>
              </a:rPr>
              <a:t>Decode worker</a:t>
            </a:r>
          </a:p>
        </p:txBody>
      </p:sp>
      <p:sp>
        <p:nvSpPr>
          <p:cNvPr id="29" name="Rounded Rectangle 28"/>
          <p:cNvSpPr/>
          <p:nvPr/>
        </p:nvSpPr>
        <p:spPr>
          <a:xfrm>
            <a:off x="4354830" y="3257550"/>
            <a:ext cx="205740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4375404" y="3298698"/>
            <a:ext cx="2016252"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Prefill B</a:t>
            </a:r>
          </a:p>
        </p:txBody>
      </p:sp>
      <p:sp>
        <p:nvSpPr>
          <p:cNvPr id="31" name="TextBox 30"/>
          <p:cNvSpPr txBox="1"/>
          <p:nvPr/>
        </p:nvSpPr>
        <p:spPr>
          <a:xfrm>
            <a:off x="6563106" y="3298698"/>
            <a:ext cx="1920240" cy="170816"/>
          </a:xfrm>
          <a:prstGeom prst="rect">
            <a:avLst/>
          </a:prstGeom>
          <a:noFill/>
        </p:spPr>
        <p:txBody>
          <a:bodyPr wrap="square" lIns="10287" tIns="10287" rIns="10287" bIns="10287">
            <a:spAutoFit/>
          </a:bodyPr>
          <a:lstStyle/>
          <a:p>
            <a:pPr>
              <a:spcAft>
                <a:spcPts val="375"/>
              </a:spcAft>
              <a:defRPr sz="1300" b="0">
                <a:solidFill>
                  <a:srgbClr val="AE641A"/>
                </a:solidFill>
                <a:latin typeface="Arial"/>
              </a:defRPr>
            </a:pPr>
            <a:r>
              <a:rPr sz="975" cap="none">
                <a:latin typeface="Arial"/>
              </a:rPr>
              <a:t>B still needs KV handoff</a:t>
            </a:r>
          </a:p>
        </p:txBody>
      </p:sp>
      <p:sp>
        <p:nvSpPr>
          <p:cNvPr id="32" name="Rounded Rectangle 31"/>
          <p:cNvSpPr/>
          <p:nvPr/>
        </p:nvSpPr>
        <p:spPr>
          <a:xfrm>
            <a:off x="257175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TextBox 32"/>
          <p:cNvSpPr txBox="1"/>
          <p:nvPr/>
        </p:nvSpPr>
        <p:spPr>
          <a:xfrm>
            <a:off x="2585466"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34" name="Rounded Rectangle 33"/>
          <p:cNvSpPr/>
          <p:nvPr/>
        </p:nvSpPr>
        <p:spPr>
          <a:xfrm>
            <a:off x="346329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3477005"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36" name="Rounded Rectangle 35"/>
          <p:cNvSpPr/>
          <p:nvPr/>
        </p:nvSpPr>
        <p:spPr>
          <a:xfrm>
            <a:off x="435483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7" name="TextBox 36"/>
          <p:cNvSpPr txBox="1"/>
          <p:nvPr/>
        </p:nvSpPr>
        <p:spPr>
          <a:xfrm>
            <a:off x="4368545"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38" name="Rounded Rectangle 37"/>
          <p:cNvSpPr/>
          <p:nvPr/>
        </p:nvSpPr>
        <p:spPr>
          <a:xfrm>
            <a:off x="524637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TextBox 38"/>
          <p:cNvSpPr txBox="1"/>
          <p:nvPr/>
        </p:nvSpPr>
        <p:spPr>
          <a:xfrm>
            <a:off x="5260086"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40" name="Rounded Rectangle 39"/>
          <p:cNvSpPr/>
          <p:nvPr/>
        </p:nvSpPr>
        <p:spPr>
          <a:xfrm>
            <a:off x="6137909"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1" name="TextBox 40"/>
          <p:cNvSpPr txBox="1"/>
          <p:nvPr/>
        </p:nvSpPr>
        <p:spPr>
          <a:xfrm>
            <a:off x="6151625"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42" name="Rounded Rectangle 41"/>
          <p:cNvSpPr/>
          <p:nvPr/>
        </p:nvSpPr>
        <p:spPr>
          <a:xfrm>
            <a:off x="702945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3" name="TextBox 42"/>
          <p:cNvSpPr txBox="1"/>
          <p:nvPr/>
        </p:nvSpPr>
        <p:spPr>
          <a:xfrm>
            <a:off x="7043166"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44" name="Rounded Rectangle 43"/>
          <p:cNvSpPr/>
          <p:nvPr/>
        </p:nvSpPr>
        <p:spPr>
          <a:xfrm>
            <a:off x="7920990" y="3621024"/>
            <a:ext cx="548640" cy="26746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5" name="TextBox 44"/>
          <p:cNvSpPr txBox="1"/>
          <p:nvPr/>
        </p:nvSpPr>
        <p:spPr>
          <a:xfrm>
            <a:off x="7934706" y="3655314"/>
            <a:ext cx="521208" cy="193899"/>
          </a:xfrm>
          <a:prstGeom prst="rect">
            <a:avLst/>
          </a:prstGeom>
          <a:noFill/>
        </p:spPr>
        <p:txBody>
          <a:bodyPr wrap="square" lIns="10287" tIns="10287" rIns="10287" bIns="10287">
            <a:spAutoFit/>
          </a:bodyPr>
          <a:lstStyle/>
          <a:p>
            <a:pPr algn="ctr">
              <a:spcAft>
                <a:spcPts val="375"/>
              </a:spcAft>
              <a:defRPr sz="1500" b="1">
                <a:solidFill>
                  <a:srgbClr val="7354B8"/>
                </a:solidFill>
                <a:latin typeface="Arial"/>
              </a:defRPr>
            </a:pPr>
            <a:r>
              <a:rPr sz="1125" cap="none">
                <a:latin typeface="Arial"/>
              </a:rPr>
              <a:t>D</a:t>
            </a:r>
          </a:p>
        </p:txBody>
      </p:sp>
      <p:sp>
        <p:nvSpPr>
          <p:cNvPr id="46" name="TextBox 45"/>
          <p:cNvSpPr txBox="1"/>
          <p:nvPr/>
        </p:nvSpPr>
        <p:spPr>
          <a:xfrm>
            <a:off x="2571750" y="2900934"/>
            <a:ext cx="5932170" cy="205441"/>
          </a:xfrm>
          <a:prstGeom prst="rect">
            <a:avLst/>
          </a:prstGeom>
          <a:noFill/>
        </p:spPr>
        <p:txBody>
          <a:bodyPr wrap="square" lIns="10287" tIns="10287" rIns="10287" bIns="10287">
            <a:spAutoFit/>
          </a:bodyPr>
          <a:lstStyle/>
          <a:p>
            <a:pPr>
              <a:spcAft>
                <a:spcPts val="375"/>
              </a:spcAft>
              <a:defRPr sz="1600" b="1">
                <a:solidFill>
                  <a:srgbClr val="7354B8"/>
                </a:solidFill>
                <a:latin typeface="Arial"/>
              </a:defRPr>
            </a:pPr>
            <a:r>
              <a:rPr sz="1200" cap="none">
                <a:latin typeface="Arial"/>
              </a:rPr>
              <a:t>A can continue decoding while B runs prefill elsewhere</a:t>
            </a:r>
          </a:p>
        </p:txBody>
      </p:sp>
      <p:sp>
        <p:nvSpPr>
          <p:cNvPr id="47" name="TextBox 46"/>
          <p:cNvSpPr txBox="1"/>
          <p:nvPr/>
        </p:nvSpPr>
        <p:spPr>
          <a:xfrm>
            <a:off x="445770" y="4094226"/>
            <a:ext cx="8195310" cy="147733"/>
          </a:xfrm>
          <a:prstGeom prst="rect">
            <a:avLst/>
          </a:prstGeom>
          <a:noFill/>
        </p:spPr>
        <p:txBody>
          <a:bodyPr wrap="square" lIns="10287" tIns="10287" rIns="10287" bIns="10287">
            <a:spAutoFit/>
          </a:bodyPr>
          <a:lstStyle/>
          <a:p>
            <a:pPr>
              <a:spcAft>
                <a:spcPts val="375"/>
              </a:spcAft>
              <a:defRPr sz="1100" b="0">
                <a:solidFill>
                  <a:srgbClr val="586A80"/>
                </a:solidFill>
                <a:latin typeface="Arial"/>
              </a:defRPr>
            </a:pPr>
            <a:r>
              <a:rPr sz="825" cap="none">
                <a:latin typeface="Arial"/>
              </a:rPr>
              <a:t>A = ongoing decode; B = new request. Chunked prefill can mitigate the shared-worker pause.</a:t>
            </a:r>
          </a:p>
        </p:txBody>
      </p:sp>
      <p:sp>
        <p:nvSpPr>
          <p:cNvPr id="48" name="TextBox 47"/>
          <p:cNvSpPr txBox="1"/>
          <p:nvPr/>
        </p:nvSpPr>
        <p:spPr>
          <a:xfrm>
            <a:off x="445770" y="4265676"/>
            <a:ext cx="8195310" cy="113108"/>
          </a:xfrm>
          <a:prstGeom prst="rect">
            <a:avLst/>
          </a:prstGeom>
          <a:noFill/>
        </p:spPr>
        <p:txBody>
          <a:bodyPr wrap="square" lIns="10287" tIns="10287" rIns="10287" bIns="10287">
            <a:spAutoFit/>
          </a:bodyPr>
          <a:lstStyle/>
          <a:p>
            <a:pPr>
              <a:spcAft>
                <a:spcPts val="375"/>
              </a:spcAft>
              <a:defRPr sz="800" b="0">
                <a:solidFill>
                  <a:srgbClr val="586A80"/>
                </a:solidFill>
                <a:latin typeface="Arial"/>
              </a:defRPr>
            </a:pPr>
            <a:r>
              <a:rPr sz="600" cap="none">
                <a:latin typeface="Arial"/>
              </a:rPr>
              <a:t>Original conceptual illustration; sources: NVIDIA and vLLM (2025) + current documentation.</a:t>
            </a:r>
          </a:p>
        </p:txBody>
      </p:sp>
      <p:sp>
        <p:nvSpPr>
          <p:cNvPr id="49" name="TextBox 48"/>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50" name="TextBox 49"/>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09 / 49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Why split — different batching units</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Prefill and decode batch different work</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Prefill processes many prompt positions; ordinary decode advances many independent requests.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Prefill finds parallel work in prompt length; decode finds it across active sequences.</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45770" y="1453897"/>
            <a:ext cx="8229600" cy="159274"/>
          </a:xfrm>
          <a:prstGeom prst="rect">
            <a:avLst/>
          </a:prstGeom>
          <a:noFill/>
        </p:spPr>
        <p:txBody>
          <a:bodyPr wrap="square" lIns="10287" tIns="10287" rIns="10287" bIns="10287">
            <a:spAutoFit/>
          </a:bodyPr>
          <a:lstStyle/>
          <a:p>
            <a:pPr>
              <a:spcAft>
                <a:spcPts val="375"/>
              </a:spcAft>
              <a:defRPr sz="1200" b="1">
                <a:solidFill>
                  <a:srgbClr val="AE641A"/>
                </a:solidFill>
                <a:latin typeface="Arial"/>
              </a:defRPr>
            </a:pPr>
            <a:r>
              <a:rPr sz="900" cap="none">
                <a:latin typeface="Arial"/>
              </a:rPr>
              <a:t>Conceptual illustration · Not a benchmark · Tokens and request counts are schematic</a:t>
            </a:r>
          </a:p>
        </p:txBody>
      </p:sp>
      <p:sp>
        <p:nvSpPr>
          <p:cNvPr id="11" name="Rounded Rectangle 10"/>
          <p:cNvSpPr/>
          <p:nvPr/>
        </p:nvSpPr>
        <p:spPr>
          <a:xfrm>
            <a:off x="377190" y="1769364"/>
            <a:ext cx="4107942" cy="224256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Rectangle 11"/>
          <p:cNvSpPr/>
          <p:nvPr/>
        </p:nvSpPr>
        <p:spPr>
          <a:xfrm>
            <a:off x="500634" y="1927098"/>
            <a:ext cx="48006" cy="27432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630936" y="1892809"/>
            <a:ext cx="3682746" cy="297774"/>
          </a:xfrm>
          <a:prstGeom prst="rect">
            <a:avLst/>
          </a:prstGeom>
          <a:noFill/>
        </p:spPr>
        <p:txBody>
          <a:bodyPr wrap="square" lIns="10287" tIns="10287" rIns="10287" bIns="10287">
            <a:spAutoFit/>
          </a:bodyPr>
          <a:lstStyle/>
          <a:p>
            <a:pPr>
              <a:spcAft>
                <a:spcPts val="375"/>
              </a:spcAft>
              <a:defRPr sz="2400" b="1">
                <a:solidFill>
                  <a:srgbClr val="087F8C"/>
                </a:solidFill>
                <a:latin typeface="Arial"/>
              </a:defRPr>
            </a:pPr>
            <a:r>
              <a:rPr sz="1800" cap="none">
                <a:latin typeface="Arial"/>
              </a:rPr>
              <a:t>Prefill</a:t>
            </a:r>
          </a:p>
        </p:txBody>
      </p:sp>
      <p:sp>
        <p:nvSpPr>
          <p:cNvPr id="14" name="TextBox 13"/>
          <p:cNvSpPr txBox="1"/>
          <p:nvPr/>
        </p:nvSpPr>
        <p:spPr>
          <a:xfrm>
            <a:off x="528066" y="2269998"/>
            <a:ext cx="3806190" cy="205441"/>
          </a:xfrm>
          <a:prstGeom prst="rect">
            <a:avLst/>
          </a:prstGeom>
          <a:noFill/>
        </p:spPr>
        <p:txBody>
          <a:bodyPr wrap="square" lIns="10287" tIns="10287" rIns="10287" bIns="10287">
            <a:spAutoFit/>
          </a:bodyPr>
          <a:lstStyle/>
          <a:p>
            <a:pPr>
              <a:spcAft>
                <a:spcPts val="375"/>
              </a:spcAft>
              <a:defRPr sz="1600" b="0">
                <a:solidFill>
                  <a:srgbClr val="172941"/>
                </a:solidFill>
                <a:latin typeface="Arial"/>
              </a:defRPr>
            </a:pPr>
            <a:r>
              <a:rPr sz="1200" cap="none">
                <a:latin typeface="Arial"/>
              </a:rPr>
              <a:t>Many input positions in one forward pass</a:t>
            </a:r>
          </a:p>
        </p:txBody>
      </p:sp>
      <p:sp>
        <p:nvSpPr>
          <p:cNvPr id="15" name="Rounded Rectangle 14"/>
          <p:cNvSpPr/>
          <p:nvPr/>
        </p:nvSpPr>
        <p:spPr>
          <a:xfrm>
            <a:off x="4656582" y="1769364"/>
            <a:ext cx="4107942" cy="224256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Rectangle 15"/>
          <p:cNvSpPr/>
          <p:nvPr/>
        </p:nvSpPr>
        <p:spPr>
          <a:xfrm>
            <a:off x="4780026" y="1927098"/>
            <a:ext cx="48006" cy="27432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910328" y="1892809"/>
            <a:ext cx="3682746" cy="297774"/>
          </a:xfrm>
          <a:prstGeom prst="rect">
            <a:avLst/>
          </a:prstGeom>
          <a:noFill/>
        </p:spPr>
        <p:txBody>
          <a:bodyPr wrap="square" lIns="10287" tIns="10287" rIns="10287" bIns="10287">
            <a:spAutoFit/>
          </a:bodyPr>
          <a:lstStyle/>
          <a:p>
            <a:pPr>
              <a:spcAft>
                <a:spcPts val="375"/>
              </a:spcAft>
              <a:defRPr sz="2400" b="1">
                <a:solidFill>
                  <a:srgbClr val="7354B8"/>
                </a:solidFill>
                <a:latin typeface="Arial"/>
              </a:defRPr>
            </a:pPr>
            <a:r>
              <a:rPr sz="1800" cap="none">
                <a:latin typeface="Arial"/>
              </a:rPr>
              <a:t>Decode</a:t>
            </a:r>
          </a:p>
        </p:txBody>
      </p:sp>
      <p:sp>
        <p:nvSpPr>
          <p:cNvPr id="18" name="TextBox 17"/>
          <p:cNvSpPr txBox="1"/>
          <p:nvPr/>
        </p:nvSpPr>
        <p:spPr>
          <a:xfrm>
            <a:off x="4807458" y="2269998"/>
            <a:ext cx="3806190" cy="205441"/>
          </a:xfrm>
          <a:prstGeom prst="rect">
            <a:avLst/>
          </a:prstGeom>
          <a:noFill/>
        </p:spPr>
        <p:txBody>
          <a:bodyPr wrap="square" lIns="10287" tIns="10287" rIns="10287" bIns="10287">
            <a:spAutoFit/>
          </a:bodyPr>
          <a:lstStyle/>
          <a:p>
            <a:pPr>
              <a:spcAft>
                <a:spcPts val="375"/>
              </a:spcAft>
              <a:defRPr sz="1600" b="0">
                <a:solidFill>
                  <a:srgbClr val="172941"/>
                </a:solidFill>
                <a:latin typeface="Arial"/>
              </a:defRPr>
            </a:pPr>
            <a:r>
              <a:rPr sz="1200" cap="none">
                <a:latin typeface="Arial"/>
              </a:rPr>
              <a:t>One newest input position per active request</a:t>
            </a:r>
          </a:p>
        </p:txBody>
      </p:sp>
      <p:sp>
        <p:nvSpPr>
          <p:cNvPr id="19" name="TextBox 18"/>
          <p:cNvSpPr txBox="1"/>
          <p:nvPr/>
        </p:nvSpPr>
        <p:spPr>
          <a:xfrm>
            <a:off x="534924" y="2743200"/>
            <a:ext cx="918972" cy="193899"/>
          </a:xfrm>
          <a:prstGeom prst="rect">
            <a:avLst/>
          </a:prstGeom>
          <a:noFill/>
        </p:spPr>
        <p:txBody>
          <a:bodyPr wrap="square" lIns="10287" tIns="10287" rIns="10287" bIns="10287">
            <a:spAutoFit/>
          </a:bodyPr>
          <a:lstStyle/>
          <a:p>
            <a:pPr>
              <a:spcAft>
                <a:spcPts val="375"/>
              </a:spcAft>
              <a:defRPr sz="1500" b="1">
                <a:solidFill>
                  <a:srgbClr val="586A80"/>
                </a:solidFill>
                <a:latin typeface="Arial"/>
              </a:defRPr>
            </a:pPr>
            <a:r>
              <a:rPr sz="1125" cap="none">
                <a:latin typeface="Arial"/>
              </a:rPr>
              <a:t>Request A</a:t>
            </a:r>
          </a:p>
        </p:txBody>
      </p:sp>
      <p:sp>
        <p:nvSpPr>
          <p:cNvPr id="20" name="Rounded Rectangle 19"/>
          <p:cNvSpPr/>
          <p:nvPr/>
        </p:nvSpPr>
        <p:spPr>
          <a:xfrm>
            <a:off x="1570482" y="2702052"/>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1580769" y="2753486"/>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p1</a:t>
            </a:r>
          </a:p>
        </p:txBody>
      </p:sp>
      <p:sp>
        <p:nvSpPr>
          <p:cNvPr id="22" name="Rounded Rectangle 21"/>
          <p:cNvSpPr/>
          <p:nvPr/>
        </p:nvSpPr>
        <p:spPr>
          <a:xfrm>
            <a:off x="2119122" y="2702052"/>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2129409" y="2753486"/>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p2</a:t>
            </a:r>
          </a:p>
        </p:txBody>
      </p:sp>
      <p:sp>
        <p:nvSpPr>
          <p:cNvPr id="24" name="Rounded Rectangle 23"/>
          <p:cNvSpPr/>
          <p:nvPr/>
        </p:nvSpPr>
        <p:spPr>
          <a:xfrm>
            <a:off x="2667762" y="2702052"/>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2678049" y="2753486"/>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p3</a:t>
            </a:r>
          </a:p>
        </p:txBody>
      </p:sp>
      <p:sp>
        <p:nvSpPr>
          <p:cNvPr id="26" name="Rounded Rectangle 25"/>
          <p:cNvSpPr/>
          <p:nvPr/>
        </p:nvSpPr>
        <p:spPr>
          <a:xfrm>
            <a:off x="3216402" y="2702052"/>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3226689" y="2753486"/>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p4</a:t>
            </a:r>
          </a:p>
        </p:txBody>
      </p:sp>
      <p:sp>
        <p:nvSpPr>
          <p:cNvPr id="28" name="TextBox 27"/>
          <p:cNvSpPr txBox="1"/>
          <p:nvPr/>
        </p:nvSpPr>
        <p:spPr>
          <a:xfrm>
            <a:off x="534924" y="3140963"/>
            <a:ext cx="918972" cy="193899"/>
          </a:xfrm>
          <a:prstGeom prst="rect">
            <a:avLst/>
          </a:prstGeom>
          <a:noFill/>
        </p:spPr>
        <p:txBody>
          <a:bodyPr wrap="square" lIns="10287" tIns="10287" rIns="10287" bIns="10287">
            <a:spAutoFit/>
          </a:bodyPr>
          <a:lstStyle/>
          <a:p>
            <a:pPr>
              <a:spcAft>
                <a:spcPts val="375"/>
              </a:spcAft>
              <a:defRPr sz="1500" b="1">
                <a:solidFill>
                  <a:srgbClr val="586A80"/>
                </a:solidFill>
                <a:latin typeface="Arial"/>
              </a:defRPr>
            </a:pPr>
            <a:r>
              <a:rPr sz="1125" cap="none">
                <a:latin typeface="Arial"/>
              </a:rPr>
              <a:t>Request B</a:t>
            </a:r>
          </a:p>
        </p:txBody>
      </p:sp>
      <p:sp>
        <p:nvSpPr>
          <p:cNvPr id="29" name="Rounded Rectangle 28"/>
          <p:cNvSpPr/>
          <p:nvPr/>
        </p:nvSpPr>
        <p:spPr>
          <a:xfrm>
            <a:off x="1570482" y="3099815"/>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1580769" y="3151251"/>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q1</a:t>
            </a:r>
          </a:p>
        </p:txBody>
      </p:sp>
      <p:sp>
        <p:nvSpPr>
          <p:cNvPr id="31" name="Rounded Rectangle 30"/>
          <p:cNvSpPr/>
          <p:nvPr/>
        </p:nvSpPr>
        <p:spPr>
          <a:xfrm>
            <a:off x="2119122" y="3099815"/>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2" name="TextBox 31"/>
          <p:cNvSpPr txBox="1"/>
          <p:nvPr/>
        </p:nvSpPr>
        <p:spPr>
          <a:xfrm>
            <a:off x="2129409" y="3151251"/>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q2</a:t>
            </a:r>
          </a:p>
        </p:txBody>
      </p:sp>
      <p:sp>
        <p:nvSpPr>
          <p:cNvPr id="33" name="Rounded Rectangle 32"/>
          <p:cNvSpPr/>
          <p:nvPr/>
        </p:nvSpPr>
        <p:spPr>
          <a:xfrm>
            <a:off x="2667762" y="3099815"/>
            <a:ext cx="445770" cy="29489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TextBox 33"/>
          <p:cNvSpPr txBox="1"/>
          <p:nvPr/>
        </p:nvSpPr>
        <p:spPr>
          <a:xfrm>
            <a:off x="2678049" y="3151251"/>
            <a:ext cx="425196"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q3</a:t>
            </a:r>
          </a:p>
        </p:txBody>
      </p:sp>
      <p:sp>
        <p:nvSpPr>
          <p:cNvPr id="35" name="TextBox 34"/>
          <p:cNvSpPr txBox="1"/>
          <p:nvPr/>
        </p:nvSpPr>
        <p:spPr>
          <a:xfrm>
            <a:off x="541782" y="3621025"/>
            <a:ext cx="3730752" cy="182358"/>
          </a:xfrm>
          <a:prstGeom prst="rect">
            <a:avLst/>
          </a:prstGeom>
          <a:noFill/>
        </p:spPr>
        <p:txBody>
          <a:bodyPr wrap="square" lIns="10287" tIns="10287" rIns="10287" bIns="10287">
            <a:spAutoFit/>
          </a:bodyPr>
          <a:lstStyle/>
          <a:p>
            <a:pPr>
              <a:spcAft>
                <a:spcPts val="375"/>
              </a:spcAft>
              <a:defRPr sz="1400" b="1">
                <a:solidFill>
                  <a:srgbClr val="087F8C"/>
                </a:solidFill>
                <a:latin typeface="Arial"/>
              </a:defRPr>
            </a:pPr>
            <a:r>
              <a:rPr sz="1050" cap="none">
                <a:latin typeface="Arial"/>
              </a:rPr>
              <a:t>Batch prompt positions from one or more requests.</a:t>
            </a:r>
          </a:p>
        </p:txBody>
      </p:sp>
      <p:sp>
        <p:nvSpPr>
          <p:cNvPr id="36" name="TextBox 35"/>
          <p:cNvSpPr txBox="1"/>
          <p:nvPr/>
        </p:nvSpPr>
        <p:spPr>
          <a:xfrm>
            <a:off x="4814316" y="2578608"/>
            <a:ext cx="939546" cy="147733"/>
          </a:xfrm>
          <a:prstGeom prst="rect">
            <a:avLst/>
          </a:prstGeom>
          <a:noFill/>
        </p:spPr>
        <p:txBody>
          <a:bodyPr wrap="square" lIns="10287" tIns="10287" rIns="10287" bIns="10287">
            <a:spAutoFit/>
          </a:bodyPr>
          <a:lstStyle/>
          <a:p>
            <a:pPr>
              <a:spcAft>
                <a:spcPts val="375"/>
              </a:spcAft>
              <a:defRPr sz="1100" b="1">
                <a:solidFill>
                  <a:srgbClr val="586A80"/>
                </a:solidFill>
                <a:latin typeface="Arial"/>
              </a:defRPr>
            </a:pPr>
            <a:r>
              <a:rPr sz="825" cap="none">
                <a:latin typeface="Arial"/>
              </a:rPr>
              <a:t>Request</a:t>
            </a:r>
          </a:p>
        </p:txBody>
      </p:sp>
      <p:sp>
        <p:nvSpPr>
          <p:cNvPr id="37" name="TextBox 36"/>
          <p:cNvSpPr txBox="1"/>
          <p:nvPr/>
        </p:nvSpPr>
        <p:spPr>
          <a:xfrm>
            <a:off x="5774436" y="2578608"/>
            <a:ext cx="898398" cy="147733"/>
          </a:xfrm>
          <a:prstGeom prst="rect">
            <a:avLst/>
          </a:prstGeom>
          <a:noFill/>
        </p:spPr>
        <p:txBody>
          <a:bodyPr wrap="square" lIns="10287" tIns="10287" rIns="10287" bIns="10287">
            <a:spAutoFit/>
          </a:bodyPr>
          <a:lstStyle/>
          <a:p>
            <a:pPr>
              <a:spcAft>
                <a:spcPts val="375"/>
              </a:spcAft>
              <a:defRPr sz="1100" b="1">
                <a:solidFill>
                  <a:srgbClr val="586A80"/>
                </a:solidFill>
                <a:latin typeface="Arial"/>
              </a:defRPr>
            </a:pPr>
            <a:r>
              <a:rPr sz="825" cap="none">
                <a:latin typeface="Arial"/>
              </a:rPr>
              <a:t>Read history</a:t>
            </a:r>
          </a:p>
        </p:txBody>
      </p:sp>
      <p:sp>
        <p:nvSpPr>
          <p:cNvPr id="38" name="TextBox 37"/>
          <p:cNvSpPr txBox="1"/>
          <p:nvPr/>
        </p:nvSpPr>
        <p:spPr>
          <a:xfrm>
            <a:off x="6933438" y="2578608"/>
            <a:ext cx="1611630" cy="147733"/>
          </a:xfrm>
          <a:prstGeom prst="rect">
            <a:avLst/>
          </a:prstGeom>
          <a:noFill/>
        </p:spPr>
        <p:txBody>
          <a:bodyPr wrap="square" lIns="10287" tIns="10287" rIns="10287" bIns="10287">
            <a:spAutoFit/>
          </a:bodyPr>
          <a:lstStyle/>
          <a:p>
            <a:pPr>
              <a:spcAft>
                <a:spcPts val="375"/>
              </a:spcAft>
              <a:defRPr sz="1100" b="1">
                <a:solidFill>
                  <a:srgbClr val="586A80"/>
                </a:solidFill>
                <a:latin typeface="Arial"/>
              </a:defRPr>
            </a:pPr>
            <a:r>
              <a:rPr sz="825" cap="none">
                <a:latin typeface="Arial"/>
              </a:rPr>
              <a:t>Consume newest input</a:t>
            </a:r>
          </a:p>
        </p:txBody>
      </p:sp>
      <p:sp>
        <p:nvSpPr>
          <p:cNvPr id="39" name="TextBox 38"/>
          <p:cNvSpPr txBox="1"/>
          <p:nvPr/>
        </p:nvSpPr>
        <p:spPr>
          <a:xfrm>
            <a:off x="4814316" y="2839211"/>
            <a:ext cx="829818" cy="205441"/>
          </a:xfrm>
          <a:prstGeom prst="rect">
            <a:avLst/>
          </a:prstGeom>
          <a:noFill/>
        </p:spPr>
        <p:txBody>
          <a:bodyPr wrap="square" lIns="10287" tIns="10287" rIns="10287" bIns="10287">
            <a:spAutoFit/>
          </a:bodyPr>
          <a:lstStyle/>
          <a:p>
            <a:pPr>
              <a:spcAft>
                <a:spcPts val="375"/>
              </a:spcAft>
              <a:defRPr sz="1600" b="1">
                <a:solidFill>
                  <a:srgbClr val="7354B8"/>
                </a:solidFill>
                <a:latin typeface="Arial"/>
              </a:defRPr>
            </a:pPr>
            <a:r>
              <a:rPr sz="1200" cap="none">
                <a:latin typeface="Arial"/>
              </a:rPr>
              <a:t>A</a:t>
            </a:r>
          </a:p>
        </p:txBody>
      </p:sp>
      <p:sp>
        <p:nvSpPr>
          <p:cNvPr id="40" name="Rounded Rectangle 39"/>
          <p:cNvSpPr/>
          <p:nvPr/>
        </p:nvSpPr>
        <p:spPr>
          <a:xfrm>
            <a:off x="5760720" y="2811779"/>
            <a:ext cx="836676" cy="24003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1" name="TextBox 40"/>
          <p:cNvSpPr txBox="1"/>
          <p:nvPr/>
        </p:nvSpPr>
        <p:spPr>
          <a:xfrm>
            <a:off x="5781294" y="2835783"/>
            <a:ext cx="795528" cy="170816"/>
          </a:xfrm>
          <a:prstGeom prst="rect">
            <a:avLst/>
          </a:prstGeom>
          <a:noFill/>
        </p:spPr>
        <p:txBody>
          <a:bodyPr wrap="square" lIns="10287" tIns="10287" rIns="10287" bIns="10287">
            <a:spAutoFit/>
          </a:bodyPr>
          <a:lstStyle/>
          <a:p>
            <a:pPr algn="ctr">
              <a:spcAft>
                <a:spcPts val="375"/>
              </a:spcAft>
              <a:defRPr sz="1300" b="1">
                <a:solidFill>
                  <a:srgbClr val="087F8C"/>
                </a:solidFill>
                <a:latin typeface="Arial"/>
              </a:defRPr>
            </a:pPr>
            <a:r>
              <a:rPr sz="975" cap="none">
                <a:latin typeface="Arial"/>
              </a:rPr>
              <a:t>Prior KV</a:t>
            </a:r>
          </a:p>
        </p:txBody>
      </p:sp>
      <p:sp>
        <p:nvSpPr>
          <p:cNvPr id="42" name="TextBox 41"/>
          <p:cNvSpPr txBox="1"/>
          <p:nvPr/>
        </p:nvSpPr>
        <p:spPr>
          <a:xfrm>
            <a:off x="6665976" y="2825495"/>
            <a:ext cx="192024" cy="193899"/>
          </a:xfrm>
          <a:prstGeom prst="rect">
            <a:avLst/>
          </a:prstGeom>
          <a:noFill/>
        </p:spPr>
        <p:txBody>
          <a:bodyPr wrap="square" lIns="10287" tIns="10287" rIns="10287" bIns="10287">
            <a:spAutoFit/>
          </a:bodyPr>
          <a:lstStyle/>
          <a:p>
            <a:pPr algn="ctr">
              <a:spcAft>
                <a:spcPts val="375"/>
              </a:spcAft>
              <a:defRPr sz="1500" b="1">
                <a:solidFill>
                  <a:srgbClr val="586A80"/>
                </a:solidFill>
                <a:latin typeface="Arial"/>
              </a:defRPr>
            </a:pPr>
            <a:r>
              <a:rPr sz="1125" cap="none">
                <a:latin typeface="Arial"/>
              </a:rPr>
              <a:t>+</a:t>
            </a:r>
          </a:p>
        </p:txBody>
      </p:sp>
      <p:sp>
        <p:nvSpPr>
          <p:cNvPr id="43" name="Rounded Rectangle 42"/>
          <p:cNvSpPr/>
          <p:nvPr/>
        </p:nvSpPr>
        <p:spPr>
          <a:xfrm>
            <a:off x="6947154" y="2811779"/>
            <a:ext cx="1357884" cy="24003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4" name="TextBox 43"/>
          <p:cNvSpPr txBox="1"/>
          <p:nvPr/>
        </p:nvSpPr>
        <p:spPr>
          <a:xfrm>
            <a:off x="6967728" y="2835783"/>
            <a:ext cx="1316736" cy="170816"/>
          </a:xfrm>
          <a:prstGeom prst="rect">
            <a:avLst/>
          </a:prstGeom>
          <a:noFill/>
        </p:spPr>
        <p:txBody>
          <a:bodyPr wrap="square" lIns="10287" tIns="10287" rIns="10287" bIns="10287">
            <a:spAutoFit/>
          </a:bodyPr>
          <a:lstStyle/>
          <a:p>
            <a:pPr algn="ctr">
              <a:spcAft>
                <a:spcPts val="375"/>
              </a:spcAft>
              <a:defRPr sz="1300" b="1">
                <a:solidFill>
                  <a:srgbClr val="7354B8"/>
                </a:solidFill>
                <a:latin typeface="Arial"/>
              </a:defRPr>
            </a:pPr>
            <a:r>
              <a:rPr sz="975" cap="none">
                <a:latin typeface="Arial"/>
              </a:rPr>
              <a:t>One token</a:t>
            </a:r>
          </a:p>
        </p:txBody>
      </p:sp>
      <p:sp>
        <p:nvSpPr>
          <p:cNvPr id="45" name="TextBox 44"/>
          <p:cNvSpPr txBox="1"/>
          <p:nvPr/>
        </p:nvSpPr>
        <p:spPr>
          <a:xfrm>
            <a:off x="4814316" y="3168396"/>
            <a:ext cx="829818" cy="205441"/>
          </a:xfrm>
          <a:prstGeom prst="rect">
            <a:avLst/>
          </a:prstGeom>
          <a:noFill/>
        </p:spPr>
        <p:txBody>
          <a:bodyPr wrap="square" lIns="10287" tIns="10287" rIns="10287" bIns="10287">
            <a:spAutoFit/>
          </a:bodyPr>
          <a:lstStyle/>
          <a:p>
            <a:pPr>
              <a:spcAft>
                <a:spcPts val="375"/>
              </a:spcAft>
              <a:defRPr sz="1600" b="1">
                <a:solidFill>
                  <a:srgbClr val="7354B8"/>
                </a:solidFill>
                <a:latin typeface="Arial"/>
              </a:defRPr>
            </a:pPr>
            <a:r>
              <a:rPr sz="1200" cap="none">
                <a:latin typeface="Arial"/>
              </a:rPr>
              <a:t>B</a:t>
            </a:r>
          </a:p>
        </p:txBody>
      </p:sp>
      <p:sp>
        <p:nvSpPr>
          <p:cNvPr id="46" name="Rounded Rectangle 45"/>
          <p:cNvSpPr/>
          <p:nvPr/>
        </p:nvSpPr>
        <p:spPr>
          <a:xfrm>
            <a:off x="5760720" y="3140964"/>
            <a:ext cx="836676" cy="24003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7" name="TextBox 46"/>
          <p:cNvSpPr txBox="1"/>
          <p:nvPr/>
        </p:nvSpPr>
        <p:spPr>
          <a:xfrm>
            <a:off x="5781294" y="3164967"/>
            <a:ext cx="795528" cy="170816"/>
          </a:xfrm>
          <a:prstGeom prst="rect">
            <a:avLst/>
          </a:prstGeom>
          <a:noFill/>
        </p:spPr>
        <p:txBody>
          <a:bodyPr wrap="square" lIns="10287" tIns="10287" rIns="10287" bIns="10287">
            <a:spAutoFit/>
          </a:bodyPr>
          <a:lstStyle/>
          <a:p>
            <a:pPr algn="ctr">
              <a:spcAft>
                <a:spcPts val="375"/>
              </a:spcAft>
              <a:defRPr sz="1300" b="1">
                <a:solidFill>
                  <a:srgbClr val="087F8C"/>
                </a:solidFill>
                <a:latin typeface="Arial"/>
              </a:defRPr>
            </a:pPr>
            <a:r>
              <a:rPr sz="975" cap="none">
                <a:latin typeface="Arial"/>
              </a:rPr>
              <a:t>Prior KV</a:t>
            </a:r>
          </a:p>
        </p:txBody>
      </p:sp>
      <p:sp>
        <p:nvSpPr>
          <p:cNvPr id="48" name="TextBox 47"/>
          <p:cNvSpPr txBox="1"/>
          <p:nvPr/>
        </p:nvSpPr>
        <p:spPr>
          <a:xfrm>
            <a:off x="6665976" y="3154680"/>
            <a:ext cx="192024" cy="193899"/>
          </a:xfrm>
          <a:prstGeom prst="rect">
            <a:avLst/>
          </a:prstGeom>
          <a:noFill/>
        </p:spPr>
        <p:txBody>
          <a:bodyPr wrap="square" lIns="10287" tIns="10287" rIns="10287" bIns="10287">
            <a:spAutoFit/>
          </a:bodyPr>
          <a:lstStyle/>
          <a:p>
            <a:pPr algn="ctr">
              <a:spcAft>
                <a:spcPts val="375"/>
              </a:spcAft>
              <a:defRPr sz="1500" b="1">
                <a:solidFill>
                  <a:srgbClr val="586A80"/>
                </a:solidFill>
                <a:latin typeface="Arial"/>
              </a:defRPr>
            </a:pPr>
            <a:r>
              <a:rPr sz="1125" cap="none">
                <a:latin typeface="Arial"/>
              </a:rPr>
              <a:t>+</a:t>
            </a:r>
          </a:p>
        </p:txBody>
      </p:sp>
      <p:sp>
        <p:nvSpPr>
          <p:cNvPr id="49" name="Rounded Rectangle 48"/>
          <p:cNvSpPr/>
          <p:nvPr/>
        </p:nvSpPr>
        <p:spPr>
          <a:xfrm>
            <a:off x="6947154" y="3140964"/>
            <a:ext cx="1357884" cy="24003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0" name="TextBox 49"/>
          <p:cNvSpPr txBox="1"/>
          <p:nvPr/>
        </p:nvSpPr>
        <p:spPr>
          <a:xfrm>
            <a:off x="6967728" y="3164967"/>
            <a:ext cx="1316736" cy="170816"/>
          </a:xfrm>
          <a:prstGeom prst="rect">
            <a:avLst/>
          </a:prstGeom>
          <a:noFill/>
        </p:spPr>
        <p:txBody>
          <a:bodyPr wrap="square" lIns="10287" tIns="10287" rIns="10287" bIns="10287">
            <a:spAutoFit/>
          </a:bodyPr>
          <a:lstStyle/>
          <a:p>
            <a:pPr algn="ctr">
              <a:spcAft>
                <a:spcPts val="375"/>
              </a:spcAft>
              <a:defRPr sz="1300" b="1">
                <a:solidFill>
                  <a:srgbClr val="7354B8"/>
                </a:solidFill>
                <a:latin typeface="Arial"/>
              </a:defRPr>
            </a:pPr>
            <a:r>
              <a:rPr sz="975" cap="none">
                <a:latin typeface="Arial"/>
              </a:rPr>
              <a:t>One token</a:t>
            </a:r>
          </a:p>
        </p:txBody>
      </p:sp>
      <p:sp>
        <p:nvSpPr>
          <p:cNvPr id="51" name="TextBox 50"/>
          <p:cNvSpPr txBox="1"/>
          <p:nvPr/>
        </p:nvSpPr>
        <p:spPr>
          <a:xfrm>
            <a:off x="4814316" y="3497580"/>
            <a:ext cx="829818" cy="205441"/>
          </a:xfrm>
          <a:prstGeom prst="rect">
            <a:avLst/>
          </a:prstGeom>
          <a:noFill/>
        </p:spPr>
        <p:txBody>
          <a:bodyPr wrap="square" lIns="10287" tIns="10287" rIns="10287" bIns="10287">
            <a:spAutoFit/>
          </a:bodyPr>
          <a:lstStyle/>
          <a:p>
            <a:pPr>
              <a:spcAft>
                <a:spcPts val="375"/>
              </a:spcAft>
              <a:defRPr sz="1600" b="1">
                <a:solidFill>
                  <a:srgbClr val="7354B8"/>
                </a:solidFill>
                <a:latin typeface="Arial"/>
              </a:defRPr>
            </a:pPr>
            <a:r>
              <a:rPr sz="1200" cap="none">
                <a:latin typeface="Arial"/>
              </a:rPr>
              <a:t>C</a:t>
            </a:r>
          </a:p>
        </p:txBody>
      </p:sp>
      <p:sp>
        <p:nvSpPr>
          <p:cNvPr id="52" name="Rounded Rectangle 51"/>
          <p:cNvSpPr/>
          <p:nvPr/>
        </p:nvSpPr>
        <p:spPr>
          <a:xfrm>
            <a:off x="5760720" y="3470148"/>
            <a:ext cx="836676" cy="24003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3" name="TextBox 52"/>
          <p:cNvSpPr txBox="1"/>
          <p:nvPr/>
        </p:nvSpPr>
        <p:spPr>
          <a:xfrm>
            <a:off x="5781294" y="3494151"/>
            <a:ext cx="795528" cy="170816"/>
          </a:xfrm>
          <a:prstGeom prst="rect">
            <a:avLst/>
          </a:prstGeom>
          <a:noFill/>
        </p:spPr>
        <p:txBody>
          <a:bodyPr wrap="square" lIns="10287" tIns="10287" rIns="10287" bIns="10287">
            <a:spAutoFit/>
          </a:bodyPr>
          <a:lstStyle/>
          <a:p>
            <a:pPr algn="ctr">
              <a:spcAft>
                <a:spcPts val="375"/>
              </a:spcAft>
              <a:defRPr sz="1300" b="1">
                <a:solidFill>
                  <a:srgbClr val="087F8C"/>
                </a:solidFill>
                <a:latin typeface="Arial"/>
              </a:defRPr>
            </a:pPr>
            <a:r>
              <a:rPr sz="975" cap="none">
                <a:latin typeface="Arial"/>
              </a:rPr>
              <a:t>Prior KV</a:t>
            </a:r>
          </a:p>
        </p:txBody>
      </p:sp>
      <p:sp>
        <p:nvSpPr>
          <p:cNvPr id="54" name="TextBox 53"/>
          <p:cNvSpPr txBox="1"/>
          <p:nvPr/>
        </p:nvSpPr>
        <p:spPr>
          <a:xfrm>
            <a:off x="6665976" y="3483863"/>
            <a:ext cx="192024" cy="193899"/>
          </a:xfrm>
          <a:prstGeom prst="rect">
            <a:avLst/>
          </a:prstGeom>
          <a:noFill/>
        </p:spPr>
        <p:txBody>
          <a:bodyPr wrap="square" lIns="10287" tIns="10287" rIns="10287" bIns="10287">
            <a:spAutoFit/>
          </a:bodyPr>
          <a:lstStyle/>
          <a:p>
            <a:pPr algn="ctr">
              <a:spcAft>
                <a:spcPts val="375"/>
              </a:spcAft>
              <a:defRPr sz="1500" b="1">
                <a:solidFill>
                  <a:srgbClr val="586A80"/>
                </a:solidFill>
                <a:latin typeface="Arial"/>
              </a:defRPr>
            </a:pPr>
            <a:r>
              <a:rPr sz="1125" cap="none">
                <a:latin typeface="Arial"/>
              </a:rPr>
              <a:t>+</a:t>
            </a:r>
          </a:p>
        </p:txBody>
      </p:sp>
      <p:sp>
        <p:nvSpPr>
          <p:cNvPr id="55" name="Rounded Rectangle 54"/>
          <p:cNvSpPr/>
          <p:nvPr/>
        </p:nvSpPr>
        <p:spPr>
          <a:xfrm>
            <a:off x="6947154" y="3470148"/>
            <a:ext cx="1357884" cy="24003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6" name="TextBox 55"/>
          <p:cNvSpPr txBox="1"/>
          <p:nvPr/>
        </p:nvSpPr>
        <p:spPr>
          <a:xfrm>
            <a:off x="6967728" y="3494151"/>
            <a:ext cx="1316736" cy="170816"/>
          </a:xfrm>
          <a:prstGeom prst="rect">
            <a:avLst/>
          </a:prstGeom>
          <a:noFill/>
        </p:spPr>
        <p:txBody>
          <a:bodyPr wrap="square" lIns="10287" tIns="10287" rIns="10287" bIns="10287">
            <a:spAutoFit/>
          </a:bodyPr>
          <a:lstStyle/>
          <a:p>
            <a:pPr algn="ctr">
              <a:spcAft>
                <a:spcPts val="375"/>
              </a:spcAft>
              <a:defRPr sz="1300" b="1">
                <a:solidFill>
                  <a:srgbClr val="7354B8"/>
                </a:solidFill>
                <a:latin typeface="Arial"/>
              </a:defRPr>
            </a:pPr>
            <a:r>
              <a:rPr sz="975" cap="none">
                <a:latin typeface="Arial"/>
              </a:rPr>
              <a:t>One token</a:t>
            </a:r>
          </a:p>
        </p:txBody>
      </p:sp>
      <p:sp>
        <p:nvSpPr>
          <p:cNvPr id="57" name="TextBox 56"/>
          <p:cNvSpPr txBox="1"/>
          <p:nvPr/>
        </p:nvSpPr>
        <p:spPr>
          <a:xfrm>
            <a:off x="4814316" y="3833623"/>
            <a:ext cx="3737610" cy="159274"/>
          </a:xfrm>
          <a:prstGeom prst="rect">
            <a:avLst/>
          </a:prstGeom>
          <a:noFill/>
        </p:spPr>
        <p:txBody>
          <a:bodyPr wrap="square" lIns="10287" tIns="10287" rIns="10287" bIns="10287">
            <a:spAutoFit/>
          </a:bodyPr>
          <a:lstStyle/>
          <a:p>
            <a:pPr>
              <a:spcAft>
                <a:spcPts val="375"/>
              </a:spcAft>
              <a:defRPr sz="1200" b="1">
                <a:solidFill>
                  <a:srgbClr val="7354B8"/>
                </a:solidFill>
                <a:latin typeface="Arial"/>
              </a:defRPr>
            </a:pPr>
            <a:r>
              <a:rPr sz="900" cap="none">
                <a:latin typeface="Arial"/>
              </a:rPr>
              <a:t>Then select a next output token for each request.</a:t>
            </a:r>
          </a:p>
        </p:txBody>
      </p:sp>
      <p:sp>
        <p:nvSpPr>
          <p:cNvPr id="58" name="TextBox 57"/>
          <p:cNvSpPr txBox="1"/>
          <p:nvPr/>
        </p:nvSpPr>
        <p:spPr>
          <a:xfrm>
            <a:off x="445770" y="4107942"/>
            <a:ext cx="8195310" cy="170816"/>
          </a:xfrm>
          <a:prstGeom prst="rect">
            <a:avLst/>
          </a:prstGeom>
          <a:noFill/>
        </p:spPr>
        <p:txBody>
          <a:bodyPr wrap="square" lIns="10287" tIns="10287" rIns="10287" bIns="10287">
            <a:spAutoFit/>
          </a:bodyPr>
          <a:lstStyle/>
          <a:p>
            <a:pPr>
              <a:spcAft>
                <a:spcPts val="375"/>
              </a:spcAft>
              <a:defRPr sz="1300" b="1">
                <a:solidFill>
                  <a:srgbClr val="AE641A"/>
                </a:solidFill>
                <a:latin typeface="Arial"/>
              </a:defRPr>
            </a:pPr>
            <a:r>
              <a:rPr sz="975" cap="none">
                <a:latin typeface="Arial"/>
              </a:rPr>
              <a:t>More decode concurrency can increase ITL. Batch within latency and KV-memory budgets.</a:t>
            </a:r>
          </a:p>
        </p:txBody>
      </p:sp>
      <p:sp>
        <p:nvSpPr>
          <p:cNvPr id="59" name="TextBox 58"/>
          <p:cNvSpPr txBox="1"/>
          <p:nvPr/>
        </p:nvSpPr>
        <p:spPr>
          <a:xfrm>
            <a:off x="445770" y="4265676"/>
            <a:ext cx="8195310" cy="113108"/>
          </a:xfrm>
          <a:prstGeom prst="rect">
            <a:avLst/>
          </a:prstGeom>
          <a:noFill/>
        </p:spPr>
        <p:txBody>
          <a:bodyPr wrap="square" lIns="10287" tIns="10287" rIns="10287" bIns="10287">
            <a:spAutoFit/>
          </a:bodyPr>
          <a:lstStyle/>
          <a:p>
            <a:pPr>
              <a:spcAft>
                <a:spcPts val="375"/>
              </a:spcAft>
              <a:defRPr sz="800" b="0">
                <a:solidFill>
                  <a:srgbClr val="586A80"/>
                </a:solidFill>
                <a:latin typeface="Arial"/>
              </a:defRPr>
            </a:pPr>
            <a:r>
              <a:rPr sz="600" cap="none">
                <a:latin typeface="Arial"/>
              </a:rPr>
              <a:t>Original conceptual illustration; sources: NVIDIA and vLLM (2025) + current documentation.</a:t>
            </a:r>
          </a:p>
        </p:txBody>
      </p:sp>
      <p:sp>
        <p:nvSpPr>
          <p:cNvPr id="60" name="TextBox 5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61" name="TextBox 6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10 / 49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Why split — capacity control</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Independent pools remove a forced compromise</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The payoff is a separate capacity decision for each phase—not separation for its own sake.</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Split only when phase-specific gains outweigh KV transfer, duplicated weights and operational cost.</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11630"/>
            <a:ext cx="4087368" cy="16596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500634" y="1748790"/>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0" y="1865376"/>
            <a:ext cx="3813048" cy="147733"/>
          </a:xfrm>
          <a:prstGeom prst="rect">
            <a:avLst/>
          </a:prstGeom>
          <a:noFill/>
        </p:spPr>
        <p:txBody>
          <a:bodyPr wrap="square" lIns="10287" tIns="10287" rIns="10287" bIns="10287">
            <a:spAutoFit/>
          </a:bodyPr>
          <a:lstStyle/>
          <a:p>
            <a:pPr>
              <a:spcAft>
                <a:spcPts val="375"/>
              </a:spcAft>
              <a:defRPr sz="1100" b="1">
                <a:solidFill>
                  <a:srgbClr val="087F8C"/>
                </a:solidFill>
                <a:latin typeface="Arial"/>
              </a:defRPr>
            </a:pPr>
            <a:r>
              <a:rPr sz="825" cap="none">
                <a:latin typeface="Arial"/>
              </a:rPr>
              <a:t>Input side</a:t>
            </a:r>
          </a:p>
        </p:txBody>
      </p:sp>
      <p:sp>
        <p:nvSpPr>
          <p:cNvPr id="13" name="TextBox 12"/>
          <p:cNvSpPr txBox="1"/>
          <p:nvPr/>
        </p:nvSpPr>
        <p:spPr>
          <a:xfrm>
            <a:off x="514350" y="2146554"/>
            <a:ext cx="3813048"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Prompt-heavy demand</a:t>
            </a:r>
          </a:p>
        </p:txBody>
      </p:sp>
      <p:sp>
        <p:nvSpPr>
          <p:cNvPr id="14" name="TextBox 13"/>
          <p:cNvSpPr txBox="1"/>
          <p:nvPr/>
        </p:nvSpPr>
        <p:spPr>
          <a:xfrm>
            <a:off x="514350" y="2599182"/>
            <a:ext cx="3813048" cy="487569"/>
          </a:xfrm>
          <a:prstGeom prst="rect">
            <a:avLst/>
          </a:prstGeom>
          <a:noFill/>
        </p:spPr>
        <p:txBody>
          <a:bodyPr wrap="square" lIns="10287" tIns="10287" rIns="10287" bIns="10287">
            <a:spAutoFit/>
          </a:bodyPr>
          <a:lstStyle/>
          <a:p>
            <a:pPr>
              <a:spcAft>
                <a:spcPts val="375"/>
              </a:spcAft>
              <a:defRPr sz="1800" b="0">
                <a:solidFill>
                  <a:srgbClr val="172941"/>
                </a:solidFill>
                <a:latin typeface="Arial"/>
              </a:defRPr>
            </a:pPr>
            <a:r>
              <a:rPr sz="1350" cap="none">
                <a:latin typeface="Arial"/>
              </a:rPr>
              <a:t>Usually compute-bound; target TTFT.</a:t>
            </a:r>
          </a:p>
          <a:p>
            <a:pPr>
              <a:spcAft>
                <a:spcPts val="375"/>
              </a:spcAft>
              <a:defRPr sz="1800" b="0">
                <a:solidFill>
                  <a:srgbClr val="172941"/>
                </a:solidFill>
                <a:latin typeface="Arial"/>
              </a:defRPr>
            </a:pPr>
            <a:r>
              <a:rPr sz="1350" cap="none">
                <a:latin typeface="Arial"/>
              </a:rPr>
              <a:t>Tune prefill capacity / parallelism first.</a:t>
            </a:r>
          </a:p>
        </p:txBody>
      </p:sp>
      <p:sp>
        <p:nvSpPr>
          <p:cNvPr id="15" name="Rounded Rectangle 14"/>
          <p:cNvSpPr/>
          <p:nvPr/>
        </p:nvSpPr>
        <p:spPr>
          <a:xfrm>
            <a:off x="4649724" y="1611630"/>
            <a:ext cx="4087368" cy="16596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Rectangle 15"/>
          <p:cNvSpPr/>
          <p:nvPr/>
        </p:nvSpPr>
        <p:spPr>
          <a:xfrm>
            <a:off x="4773168" y="1748790"/>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786884" y="1865376"/>
            <a:ext cx="3813048" cy="147733"/>
          </a:xfrm>
          <a:prstGeom prst="rect">
            <a:avLst/>
          </a:prstGeom>
          <a:noFill/>
        </p:spPr>
        <p:txBody>
          <a:bodyPr wrap="square" lIns="10287" tIns="10287" rIns="10287" bIns="10287">
            <a:spAutoFit/>
          </a:bodyPr>
          <a:lstStyle/>
          <a:p>
            <a:pPr>
              <a:spcAft>
                <a:spcPts val="375"/>
              </a:spcAft>
              <a:defRPr sz="1100" b="1">
                <a:solidFill>
                  <a:srgbClr val="7354B8"/>
                </a:solidFill>
                <a:latin typeface="Arial"/>
              </a:defRPr>
            </a:pPr>
            <a:r>
              <a:rPr sz="825" cap="none">
                <a:latin typeface="Arial"/>
              </a:rPr>
              <a:t>Output side</a:t>
            </a:r>
          </a:p>
        </p:txBody>
      </p:sp>
      <p:sp>
        <p:nvSpPr>
          <p:cNvPr id="18" name="TextBox 17"/>
          <p:cNvSpPr txBox="1"/>
          <p:nvPr/>
        </p:nvSpPr>
        <p:spPr>
          <a:xfrm>
            <a:off x="4786884" y="2146554"/>
            <a:ext cx="3813048"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Generation-heavy demand</a:t>
            </a:r>
          </a:p>
        </p:txBody>
      </p:sp>
      <p:sp>
        <p:nvSpPr>
          <p:cNvPr id="19" name="TextBox 18"/>
          <p:cNvSpPr txBox="1"/>
          <p:nvPr/>
        </p:nvSpPr>
        <p:spPr>
          <a:xfrm>
            <a:off x="4786884" y="2599182"/>
            <a:ext cx="3813048" cy="487569"/>
          </a:xfrm>
          <a:prstGeom prst="rect">
            <a:avLst/>
          </a:prstGeom>
          <a:noFill/>
        </p:spPr>
        <p:txBody>
          <a:bodyPr wrap="square" lIns="10287" tIns="10287" rIns="10287" bIns="10287">
            <a:spAutoFit/>
          </a:bodyPr>
          <a:lstStyle/>
          <a:p>
            <a:pPr>
              <a:spcAft>
                <a:spcPts val="375"/>
              </a:spcAft>
              <a:defRPr sz="1800" b="0">
                <a:solidFill>
                  <a:srgbClr val="172941"/>
                </a:solidFill>
                <a:latin typeface="Arial"/>
              </a:defRPr>
            </a:pPr>
            <a:r>
              <a:rPr sz="1350" cap="none">
                <a:latin typeface="Arial"/>
              </a:rPr>
              <a:t>Often bandwidth-bound; target ITL.</a:t>
            </a:r>
          </a:p>
          <a:p>
            <a:pPr>
              <a:spcAft>
                <a:spcPts val="375"/>
              </a:spcAft>
              <a:defRPr sz="1800" b="0">
                <a:solidFill>
                  <a:srgbClr val="172941"/>
                </a:solidFill>
                <a:latin typeface="Arial"/>
              </a:defRPr>
            </a:pPr>
            <a:r>
              <a:rPr sz="1350" cap="none">
                <a:latin typeface="Arial"/>
              </a:rPr>
              <a:t>Tune decode capacity / batching first.</a:t>
            </a:r>
          </a:p>
        </p:txBody>
      </p:sp>
      <p:sp>
        <p:nvSpPr>
          <p:cNvPr id="20" name="Rounded Rectangle 19"/>
          <p:cNvSpPr/>
          <p:nvPr/>
        </p:nvSpPr>
        <p:spPr>
          <a:xfrm>
            <a:off x="445770" y="3374136"/>
            <a:ext cx="2640330" cy="76123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Rectangle 20"/>
          <p:cNvSpPr/>
          <p:nvPr/>
        </p:nvSpPr>
        <p:spPr>
          <a:xfrm>
            <a:off x="445770" y="3442716"/>
            <a:ext cx="37719" cy="62407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548640" y="3463290"/>
            <a:ext cx="2434590" cy="228524"/>
          </a:xfrm>
          <a:prstGeom prst="rect">
            <a:avLst/>
          </a:prstGeom>
          <a:noFill/>
        </p:spPr>
        <p:txBody>
          <a:bodyPr wrap="square" lIns="10287" tIns="10287" rIns="10287" bIns="10287">
            <a:spAutoFit/>
          </a:bodyPr>
          <a:lstStyle/>
          <a:p>
            <a:pPr algn="ctr">
              <a:spcAft>
                <a:spcPts val="375"/>
              </a:spcAft>
              <a:defRPr sz="1800" b="1">
                <a:solidFill>
                  <a:srgbClr val="2563EB"/>
                </a:solidFill>
                <a:latin typeface="Arial"/>
              </a:defRPr>
            </a:pPr>
            <a:r>
              <a:rPr sz="1350" cap="none">
                <a:latin typeface="Arial"/>
              </a:rPr>
              <a:t>Different latency targets</a:t>
            </a:r>
          </a:p>
        </p:txBody>
      </p:sp>
      <p:sp>
        <p:nvSpPr>
          <p:cNvPr id="23" name="TextBox 22"/>
          <p:cNvSpPr txBox="1"/>
          <p:nvPr/>
        </p:nvSpPr>
        <p:spPr>
          <a:xfrm>
            <a:off x="555498" y="3792474"/>
            <a:ext cx="242087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TTFT versus token delivery</a:t>
            </a:r>
          </a:p>
        </p:txBody>
      </p:sp>
      <p:sp>
        <p:nvSpPr>
          <p:cNvPr id="24" name="Rounded Rectangle 23"/>
          <p:cNvSpPr/>
          <p:nvPr/>
        </p:nvSpPr>
        <p:spPr>
          <a:xfrm>
            <a:off x="3250692" y="3374136"/>
            <a:ext cx="2640330" cy="76123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Rectangle 24"/>
          <p:cNvSpPr/>
          <p:nvPr/>
        </p:nvSpPr>
        <p:spPr>
          <a:xfrm>
            <a:off x="3250692" y="3442716"/>
            <a:ext cx="37719" cy="624078"/>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3353562" y="3463290"/>
            <a:ext cx="2434590"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Different resource needs</a:t>
            </a:r>
          </a:p>
        </p:txBody>
      </p:sp>
      <p:sp>
        <p:nvSpPr>
          <p:cNvPr id="27" name="TextBox 26"/>
          <p:cNvSpPr txBox="1"/>
          <p:nvPr/>
        </p:nvSpPr>
        <p:spPr>
          <a:xfrm>
            <a:off x="3360420" y="3792474"/>
            <a:ext cx="242087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Compute, bandwidth, active KV</a:t>
            </a:r>
          </a:p>
        </p:txBody>
      </p:sp>
      <p:sp>
        <p:nvSpPr>
          <p:cNvPr id="28" name="Rounded Rectangle 27"/>
          <p:cNvSpPr/>
          <p:nvPr/>
        </p:nvSpPr>
        <p:spPr>
          <a:xfrm>
            <a:off x="6055614" y="3374136"/>
            <a:ext cx="2640330" cy="76123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Rectangle 28"/>
          <p:cNvSpPr/>
          <p:nvPr/>
        </p:nvSpPr>
        <p:spPr>
          <a:xfrm>
            <a:off x="6055614" y="3442716"/>
            <a:ext cx="37719" cy="624078"/>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6158484" y="3463290"/>
            <a:ext cx="2434590"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Different capacity knobs</a:t>
            </a:r>
          </a:p>
        </p:txBody>
      </p:sp>
      <p:sp>
        <p:nvSpPr>
          <p:cNvPr id="31" name="TextBox 30"/>
          <p:cNvSpPr txBox="1"/>
          <p:nvPr/>
        </p:nvSpPr>
        <p:spPr>
          <a:xfrm>
            <a:off x="6165342" y="3792474"/>
            <a:ext cx="242087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Replicas, TP, batching policy</a:t>
            </a:r>
          </a:p>
        </p:txBody>
      </p:sp>
      <p:sp>
        <p:nvSpPr>
          <p:cNvPr id="32" name="TextBox 31"/>
          <p:cNvSpPr txBox="1"/>
          <p:nvPr/>
        </p:nvSpPr>
        <p:spPr>
          <a:xfrm>
            <a:off x="445770" y="4231386"/>
            <a:ext cx="8092440" cy="113108"/>
          </a:xfrm>
          <a:prstGeom prst="rect">
            <a:avLst/>
          </a:prstGeom>
          <a:noFill/>
        </p:spPr>
        <p:txBody>
          <a:bodyPr wrap="square" lIns="10287" tIns="10287" rIns="10287" bIns="10287">
            <a:spAutoFit/>
          </a:bodyPr>
          <a:lstStyle/>
          <a:p>
            <a:pPr>
              <a:spcAft>
                <a:spcPts val="375"/>
              </a:spcAft>
              <a:defRPr sz="800" b="0">
                <a:solidFill>
                  <a:srgbClr val="586A80"/>
                </a:solidFill>
                <a:latin typeface="Arial"/>
              </a:defRPr>
            </a:pPr>
            <a:r>
              <a:rPr sz="600" cap="none">
                <a:latin typeface="Arial"/>
              </a:rPr>
              <a:t>Sources: NVIDIA Dynamo disaggregated-serving overview + DistServe §2.3 • Conceptual; bottlenecks depend on workload</a:t>
            </a:r>
          </a:p>
        </p:txBody>
      </p:sp>
      <p:sp>
        <p:nvSpPr>
          <p:cNvPr id="33" name="TextBox 32"/>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4" name="TextBox 33"/>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11 / 49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The problem</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Split the phases. Tune the pools independently.</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P/D introduces a KV-transfer boundary between prompt processing and generation.</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The transfer path must be fast enough to justify the split.</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45920"/>
            <a:ext cx="3086100" cy="2366010"/>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548640" y="1824228"/>
            <a:ext cx="2743200" cy="286232"/>
          </a:xfrm>
          <a:prstGeom prst="rect">
            <a:avLst/>
          </a:prstGeom>
          <a:noFill/>
        </p:spPr>
        <p:txBody>
          <a:bodyPr wrap="square" lIns="10287" tIns="10287" rIns="10287" bIns="10287">
            <a:spAutoFit/>
          </a:bodyPr>
          <a:lstStyle/>
          <a:p>
            <a:pPr>
              <a:spcAft>
                <a:spcPts val="375"/>
              </a:spcAft>
              <a:defRPr sz="2300" b="1">
                <a:solidFill>
                  <a:srgbClr val="087F8C"/>
                </a:solidFill>
                <a:latin typeface="Arial"/>
              </a:defRPr>
            </a:pPr>
            <a:r>
              <a:rPr sz="1725" cap="none">
                <a:latin typeface="Arial"/>
              </a:rPr>
              <a:t>Prefill pool</a:t>
            </a:r>
          </a:p>
        </p:txBody>
      </p:sp>
      <p:sp>
        <p:nvSpPr>
          <p:cNvPr id="12" name="Rounded Rectangle 11"/>
          <p:cNvSpPr/>
          <p:nvPr/>
        </p:nvSpPr>
        <p:spPr>
          <a:xfrm>
            <a:off x="582930" y="2331721"/>
            <a:ext cx="2674620" cy="781811"/>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Rectangle 12"/>
          <p:cNvSpPr/>
          <p:nvPr/>
        </p:nvSpPr>
        <p:spPr>
          <a:xfrm>
            <a:off x="582930" y="2400300"/>
            <a:ext cx="37719" cy="6446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685800" y="2420875"/>
            <a:ext cx="2468880" cy="240066"/>
          </a:xfrm>
          <a:prstGeom prst="rect">
            <a:avLst/>
          </a:prstGeom>
          <a:noFill/>
        </p:spPr>
        <p:txBody>
          <a:bodyPr wrap="square" lIns="10287" tIns="10287" rIns="10287" bIns="10287">
            <a:spAutoFit/>
          </a:bodyPr>
          <a:lstStyle/>
          <a:p>
            <a:pPr algn="ctr">
              <a:spcAft>
                <a:spcPts val="375"/>
              </a:spcAft>
              <a:defRPr sz="1900" b="1">
                <a:solidFill>
                  <a:srgbClr val="087F8C"/>
                </a:solidFill>
                <a:latin typeface="Arial"/>
              </a:defRPr>
            </a:pPr>
            <a:r>
              <a:rPr sz="1425" cap="none">
                <a:latin typeface="Arial"/>
              </a:rPr>
              <a:t>Prompt processing</a:t>
            </a:r>
          </a:p>
        </p:txBody>
      </p:sp>
      <p:sp>
        <p:nvSpPr>
          <p:cNvPr id="15" name="TextBox 14"/>
          <p:cNvSpPr txBox="1"/>
          <p:nvPr/>
        </p:nvSpPr>
        <p:spPr>
          <a:xfrm>
            <a:off x="692658" y="2750059"/>
            <a:ext cx="245516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Compute + latency</a:t>
            </a:r>
          </a:p>
        </p:txBody>
      </p:sp>
      <p:sp>
        <p:nvSpPr>
          <p:cNvPr id="16" name="TextBox 15"/>
          <p:cNvSpPr txBox="1"/>
          <p:nvPr/>
        </p:nvSpPr>
        <p:spPr>
          <a:xfrm>
            <a:off x="562356" y="3415285"/>
            <a:ext cx="2674620" cy="464486"/>
          </a:xfrm>
          <a:prstGeom prst="rect">
            <a:avLst/>
          </a:prstGeom>
          <a:noFill/>
        </p:spPr>
        <p:txBody>
          <a:bodyPr wrap="square" lIns="10287" tIns="10287" rIns="10287" bIns="10287">
            <a:spAutoFit/>
          </a:bodyPr>
          <a:lstStyle/>
          <a:p>
            <a:pPr>
              <a:spcAft>
                <a:spcPts val="375"/>
              </a:spcAft>
              <a:defRPr sz="1700" b="0">
                <a:solidFill>
                  <a:srgbClr val="087F8C"/>
                </a:solidFill>
                <a:latin typeface="Arial"/>
              </a:defRPr>
            </a:pPr>
            <a:r>
              <a:rPr sz="1275" cap="none">
                <a:latin typeface="Arial"/>
              </a:rPr>
              <a:t>Choose replicas and parallelism</a:t>
            </a:r>
          </a:p>
          <a:p>
            <a:pPr>
              <a:spcAft>
                <a:spcPts val="375"/>
              </a:spcAft>
              <a:defRPr sz="1700" b="0">
                <a:solidFill>
                  <a:srgbClr val="087F8C"/>
                </a:solidFill>
                <a:latin typeface="Arial"/>
              </a:defRPr>
            </a:pPr>
            <a:r>
              <a:rPr sz="1275" cap="none">
                <a:latin typeface="Arial"/>
              </a:rPr>
              <a:t>for prompt pressure.</a:t>
            </a:r>
          </a:p>
        </p:txBody>
      </p:sp>
      <p:sp>
        <p:nvSpPr>
          <p:cNvPr id="17" name="Rounded Rectangle 16"/>
          <p:cNvSpPr/>
          <p:nvPr/>
        </p:nvSpPr>
        <p:spPr>
          <a:xfrm>
            <a:off x="5678423" y="1645920"/>
            <a:ext cx="3086100" cy="2366010"/>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849873" y="1824228"/>
            <a:ext cx="2743200" cy="286232"/>
          </a:xfrm>
          <a:prstGeom prst="rect">
            <a:avLst/>
          </a:prstGeom>
          <a:noFill/>
        </p:spPr>
        <p:txBody>
          <a:bodyPr wrap="square" lIns="10287" tIns="10287" rIns="10287" bIns="10287">
            <a:spAutoFit/>
          </a:bodyPr>
          <a:lstStyle/>
          <a:p>
            <a:pPr>
              <a:spcAft>
                <a:spcPts val="375"/>
              </a:spcAft>
              <a:defRPr sz="2300" b="1">
                <a:solidFill>
                  <a:srgbClr val="7354B8"/>
                </a:solidFill>
                <a:latin typeface="Arial"/>
              </a:defRPr>
            </a:pPr>
            <a:r>
              <a:rPr sz="1725" cap="none">
                <a:latin typeface="Arial"/>
              </a:rPr>
              <a:t>Decode pool</a:t>
            </a:r>
          </a:p>
        </p:txBody>
      </p:sp>
      <p:sp>
        <p:nvSpPr>
          <p:cNvPr id="19" name="Rounded Rectangle 18"/>
          <p:cNvSpPr/>
          <p:nvPr/>
        </p:nvSpPr>
        <p:spPr>
          <a:xfrm>
            <a:off x="5884164" y="2331721"/>
            <a:ext cx="2674620" cy="781811"/>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Rectangle 19"/>
          <p:cNvSpPr/>
          <p:nvPr/>
        </p:nvSpPr>
        <p:spPr>
          <a:xfrm>
            <a:off x="5884164" y="2400300"/>
            <a:ext cx="37719" cy="64465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5987034" y="2420875"/>
            <a:ext cx="2468880" cy="240066"/>
          </a:xfrm>
          <a:prstGeom prst="rect">
            <a:avLst/>
          </a:prstGeom>
          <a:noFill/>
        </p:spPr>
        <p:txBody>
          <a:bodyPr wrap="square" lIns="10287" tIns="10287" rIns="10287" bIns="10287">
            <a:spAutoFit/>
          </a:bodyPr>
          <a:lstStyle/>
          <a:p>
            <a:pPr algn="ctr">
              <a:spcAft>
                <a:spcPts val="375"/>
              </a:spcAft>
              <a:defRPr sz="1900" b="1">
                <a:solidFill>
                  <a:srgbClr val="7354B8"/>
                </a:solidFill>
                <a:latin typeface="Arial"/>
              </a:defRPr>
            </a:pPr>
            <a:r>
              <a:rPr sz="1425" cap="none">
                <a:latin typeface="Arial"/>
              </a:rPr>
              <a:t>Token generation</a:t>
            </a:r>
          </a:p>
        </p:txBody>
      </p:sp>
      <p:sp>
        <p:nvSpPr>
          <p:cNvPr id="22" name="TextBox 21"/>
          <p:cNvSpPr txBox="1"/>
          <p:nvPr/>
        </p:nvSpPr>
        <p:spPr>
          <a:xfrm>
            <a:off x="5993892" y="2750059"/>
            <a:ext cx="245516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Bandwidth + active KV memory</a:t>
            </a:r>
          </a:p>
        </p:txBody>
      </p:sp>
      <p:sp>
        <p:nvSpPr>
          <p:cNvPr id="23" name="TextBox 22"/>
          <p:cNvSpPr txBox="1"/>
          <p:nvPr/>
        </p:nvSpPr>
        <p:spPr>
          <a:xfrm>
            <a:off x="5863590" y="3415285"/>
            <a:ext cx="2674620" cy="464486"/>
          </a:xfrm>
          <a:prstGeom prst="rect">
            <a:avLst/>
          </a:prstGeom>
          <a:noFill/>
        </p:spPr>
        <p:txBody>
          <a:bodyPr wrap="square" lIns="10287" tIns="10287" rIns="10287" bIns="10287">
            <a:spAutoFit/>
          </a:bodyPr>
          <a:lstStyle/>
          <a:p>
            <a:pPr>
              <a:spcAft>
                <a:spcPts val="375"/>
              </a:spcAft>
              <a:defRPr sz="1700" b="0">
                <a:solidFill>
                  <a:srgbClr val="7354B8"/>
                </a:solidFill>
                <a:latin typeface="Arial"/>
              </a:defRPr>
            </a:pPr>
            <a:r>
              <a:rPr sz="1275" cap="none">
                <a:latin typeface="Arial"/>
              </a:rPr>
              <a:t>Choose replicas and parallelism</a:t>
            </a:r>
          </a:p>
          <a:p>
            <a:pPr>
              <a:spcAft>
                <a:spcPts val="375"/>
              </a:spcAft>
              <a:defRPr sz="1700" b="0">
                <a:solidFill>
                  <a:srgbClr val="7354B8"/>
                </a:solidFill>
                <a:latin typeface="Arial"/>
              </a:defRPr>
            </a:pPr>
            <a:r>
              <a:rPr sz="1275" cap="none">
                <a:latin typeface="Arial"/>
              </a:rPr>
              <a:t>for sustained generation.</a:t>
            </a:r>
          </a:p>
        </p:txBody>
      </p:sp>
      <p:cxnSp>
        <p:nvCxnSpPr>
          <p:cNvPr id="24" name="Connector 23"/>
          <p:cNvCxnSpPr/>
          <p:nvPr/>
        </p:nvCxnSpPr>
        <p:spPr>
          <a:xfrm>
            <a:off x="3463291" y="2729484"/>
            <a:ext cx="2215133" cy="0"/>
          </a:xfrm>
          <a:prstGeom prst="line">
            <a:avLst/>
          </a:prstGeom>
          <a:ln w="381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579876" y="2112264"/>
            <a:ext cx="1988820" cy="251607"/>
          </a:xfrm>
          <a:prstGeom prst="rect">
            <a:avLst/>
          </a:prstGeom>
          <a:noFill/>
        </p:spPr>
        <p:txBody>
          <a:bodyPr wrap="square" lIns="10287" tIns="10287" rIns="10287" bIns="10287">
            <a:spAutoFit/>
          </a:bodyPr>
          <a:lstStyle/>
          <a:p>
            <a:pPr algn="ctr">
              <a:spcAft>
                <a:spcPts val="375"/>
              </a:spcAft>
              <a:defRPr sz="2000" b="1">
                <a:solidFill>
                  <a:srgbClr val="087F8C"/>
                </a:solidFill>
                <a:latin typeface="Arial"/>
              </a:defRPr>
            </a:pPr>
            <a:r>
              <a:rPr sz="1500" cap="none">
                <a:latin typeface="Arial"/>
              </a:rPr>
              <a:t>KV cache transfer</a:t>
            </a:r>
          </a:p>
        </p:txBody>
      </p:sp>
      <p:sp>
        <p:nvSpPr>
          <p:cNvPr id="26" name="TextBox 25"/>
          <p:cNvSpPr txBox="1"/>
          <p:nvPr/>
        </p:nvSpPr>
        <p:spPr>
          <a:xfrm>
            <a:off x="3552444" y="2983230"/>
            <a:ext cx="2023110" cy="464486"/>
          </a:xfrm>
          <a:prstGeom prst="rect">
            <a:avLst/>
          </a:prstGeom>
          <a:noFill/>
        </p:spPr>
        <p:txBody>
          <a:bodyPr wrap="square" lIns="10287" tIns="10287" rIns="10287" bIns="10287">
            <a:spAutoFit/>
          </a:bodyPr>
          <a:lstStyle/>
          <a:p>
            <a:pPr algn="ctr">
              <a:spcAft>
                <a:spcPts val="375"/>
              </a:spcAft>
              <a:defRPr sz="1700" b="0">
                <a:solidFill>
                  <a:srgbClr val="586A80"/>
                </a:solidFill>
                <a:latin typeface="Arial"/>
              </a:defRPr>
            </a:pPr>
            <a:r>
              <a:rPr sz="1275" cap="none">
                <a:latin typeface="Arial"/>
              </a:rPr>
              <a:t>New cost:</a:t>
            </a:r>
          </a:p>
          <a:p>
            <a:pPr algn="ctr">
              <a:spcAft>
                <a:spcPts val="375"/>
              </a:spcAft>
              <a:defRPr sz="1700" b="0">
                <a:solidFill>
                  <a:srgbClr val="586A80"/>
                </a:solidFill>
                <a:latin typeface="Arial"/>
              </a:defRPr>
            </a:pPr>
            <a:r>
              <a:rPr sz="1275" cap="none">
                <a:latin typeface="Arial"/>
              </a:rPr>
              <a:t>transfer + coordination</a:t>
            </a:r>
          </a:p>
        </p:txBody>
      </p:sp>
      <p:sp>
        <p:nvSpPr>
          <p:cNvPr id="27" name="TextBox 26"/>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8" name="TextBox 27"/>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12 / 49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The problem</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P/D fits when the phases need different shapes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Start with the traffic profile, not the architecture trend.</a:t>
            </a:r>
          </a:p>
        </p:txBody>
      </p:sp>
      <p:cxnSp>
        <p:nvCxnSpPr>
          <p:cNvPr id="5" name="Connector 4"/>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7190" y="1611630"/>
            <a:ext cx="2708910" cy="236601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Rectangle 8"/>
          <p:cNvSpPr/>
          <p:nvPr/>
        </p:nvSpPr>
        <p:spPr>
          <a:xfrm>
            <a:off x="500634" y="1748790"/>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0" name="TextBox 9"/>
          <p:cNvSpPr txBox="1"/>
          <p:nvPr/>
        </p:nvSpPr>
        <p:spPr>
          <a:xfrm>
            <a:off x="514350" y="1865376"/>
            <a:ext cx="2434590" cy="147733"/>
          </a:xfrm>
          <a:prstGeom prst="rect">
            <a:avLst/>
          </a:prstGeom>
          <a:noFill/>
        </p:spPr>
        <p:txBody>
          <a:bodyPr wrap="square" lIns="10287" tIns="10287" rIns="10287" bIns="10287">
            <a:spAutoFit/>
          </a:bodyPr>
          <a:lstStyle/>
          <a:p>
            <a:pPr>
              <a:spcAft>
                <a:spcPts val="375"/>
              </a:spcAft>
              <a:defRPr sz="1100" b="1">
                <a:solidFill>
                  <a:srgbClr val="087F8C"/>
                </a:solidFill>
                <a:latin typeface="Arial"/>
              </a:defRPr>
            </a:pPr>
            <a:r>
              <a:rPr sz="825" cap="none">
                <a:latin typeface="Arial"/>
              </a:rPr>
              <a:t>Prompt pressure</a:t>
            </a:r>
          </a:p>
        </p:txBody>
      </p:sp>
      <p:sp>
        <p:nvSpPr>
          <p:cNvPr id="11" name="TextBox 10"/>
          <p:cNvSpPr txBox="1"/>
          <p:nvPr/>
        </p:nvSpPr>
        <p:spPr>
          <a:xfrm>
            <a:off x="514350" y="2146554"/>
            <a:ext cx="2434590"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Long prompts</a:t>
            </a:r>
          </a:p>
        </p:txBody>
      </p:sp>
      <p:sp>
        <p:nvSpPr>
          <p:cNvPr id="12" name="TextBox 11"/>
          <p:cNvSpPr txBox="1"/>
          <p:nvPr/>
        </p:nvSpPr>
        <p:spPr>
          <a:xfrm>
            <a:off x="514350" y="2599182"/>
            <a:ext cx="2434590" cy="482440"/>
          </a:xfrm>
          <a:prstGeom prst="rect">
            <a:avLst/>
          </a:prstGeom>
          <a:noFill/>
        </p:spPr>
        <p:txBody>
          <a:bodyPr wrap="square" lIns="10287" tIns="10287" rIns="10287" bIns="10287">
            <a:spAutoFit/>
          </a:bodyPr>
          <a:lstStyle/>
          <a:p>
            <a:pPr>
              <a:spcAft>
                <a:spcPts val="375"/>
              </a:spcAft>
              <a:defRPr sz="2000" b="0">
                <a:solidFill>
                  <a:srgbClr val="172941"/>
                </a:solidFill>
                <a:latin typeface="Arial"/>
              </a:defRPr>
            </a:pPr>
            <a:r>
              <a:rPr sz="1500" cap="none">
                <a:latin typeface="Arial"/>
              </a:rPr>
              <a:t>RAG and retrieval add significant prefill work.</a:t>
            </a:r>
          </a:p>
        </p:txBody>
      </p:sp>
      <p:sp>
        <p:nvSpPr>
          <p:cNvPr id="13" name="Rounded Rectangle 12"/>
          <p:cNvSpPr/>
          <p:nvPr/>
        </p:nvSpPr>
        <p:spPr>
          <a:xfrm>
            <a:off x="3216402" y="1611630"/>
            <a:ext cx="2708910" cy="236601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Rectangle 13"/>
          <p:cNvSpPr/>
          <p:nvPr/>
        </p:nvSpPr>
        <p:spPr>
          <a:xfrm>
            <a:off x="3339845" y="1748790"/>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3353562" y="1865376"/>
            <a:ext cx="2434590" cy="147733"/>
          </a:xfrm>
          <a:prstGeom prst="rect">
            <a:avLst/>
          </a:prstGeom>
          <a:noFill/>
        </p:spPr>
        <p:txBody>
          <a:bodyPr wrap="square" lIns="10287" tIns="10287" rIns="10287" bIns="10287">
            <a:spAutoFit/>
          </a:bodyPr>
          <a:lstStyle/>
          <a:p>
            <a:pPr>
              <a:spcAft>
                <a:spcPts val="375"/>
              </a:spcAft>
              <a:defRPr sz="1100" b="1">
                <a:solidFill>
                  <a:srgbClr val="7354B8"/>
                </a:solidFill>
                <a:latin typeface="Arial"/>
              </a:defRPr>
            </a:pPr>
            <a:r>
              <a:rPr sz="825" cap="none">
                <a:latin typeface="Arial"/>
              </a:rPr>
              <a:t>Generation pressure</a:t>
            </a:r>
          </a:p>
        </p:txBody>
      </p:sp>
      <p:sp>
        <p:nvSpPr>
          <p:cNvPr id="16" name="TextBox 15"/>
          <p:cNvSpPr txBox="1"/>
          <p:nvPr/>
        </p:nvSpPr>
        <p:spPr>
          <a:xfrm>
            <a:off x="3353562" y="2146554"/>
            <a:ext cx="2434590"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Long generations</a:t>
            </a:r>
          </a:p>
        </p:txBody>
      </p:sp>
      <p:sp>
        <p:nvSpPr>
          <p:cNvPr id="17" name="TextBox 16"/>
          <p:cNvSpPr txBox="1"/>
          <p:nvPr/>
        </p:nvSpPr>
        <p:spPr>
          <a:xfrm>
            <a:off x="3353562" y="2599182"/>
            <a:ext cx="2434590" cy="713272"/>
          </a:xfrm>
          <a:prstGeom prst="rect">
            <a:avLst/>
          </a:prstGeom>
          <a:noFill/>
        </p:spPr>
        <p:txBody>
          <a:bodyPr wrap="square" lIns="10287" tIns="10287" rIns="10287" bIns="10287">
            <a:spAutoFit/>
          </a:bodyPr>
          <a:lstStyle/>
          <a:p>
            <a:pPr>
              <a:spcAft>
                <a:spcPts val="375"/>
              </a:spcAft>
              <a:defRPr sz="2000" b="0">
                <a:solidFill>
                  <a:srgbClr val="172941"/>
                </a:solidFill>
                <a:latin typeface="Arial"/>
              </a:defRPr>
            </a:pPr>
            <a:r>
              <a:rPr sz="1500" cap="none">
                <a:latin typeface="Arial"/>
              </a:rPr>
              <a:t>High concurrency keeps decode busy and KV state resident.</a:t>
            </a:r>
          </a:p>
        </p:txBody>
      </p:sp>
      <p:sp>
        <p:nvSpPr>
          <p:cNvPr id="18" name="Rounded Rectangle 17"/>
          <p:cNvSpPr/>
          <p:nvPr/>
        </p:nvSpPr>
        <p:spPr>
          <a:xfrm>
            <a:off x="6055614" y="1611630"/>
            <a:ext cx="2708910" cy="236601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6179058" y="1748790"/>
            <a:ext cx="260604" cy="4457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6192773" y="1865376"/>
            <a:ext cx="2434590" cy="147733"/>
          </a:xfrm>
          <a:prstGeom prst="rect">
            <a:avLst/>
          </a:prstGeom>
          <a:noFill/>
        </p:spPr>
        <p:txBody>
          <a:bodyPr wrap="square" lIns="10287" tIns="10287" rIns="10287" bIns="10287">
            <a:spAutoFit/>
          </a:bodyPr>
          <a:lstStyle/>
          <a:p>
            <a:pPr>
              <a:spcAft>
                <a:spcPts val="375"/>
              </a:spcAft>
              <a:defRPr sz="1100" b="1">
                <a:solidFill>
                  <a:srgbClr val="2563EB"/>
                </a:solidFill>
                <a:latin typeface="Arial"/>
              </a:defRPr>
            </a:pPr>
            <a:r>
              <a:rPr sz="825" cap="none">
                <a:latin typeface="Arial"/>
              </a:rPr>
              <a:t>Capacity mismatch</a:t>
            </a:r>
          </a:p>
        </p:txBody>
      </p:sp>
      <p:sp>
        <p:nvSpPr>
          <p:cNvPr id="21" name="TextBox 20"/>
          <p:cNvSpPr txBox="1"/>
          <p:nvPr/>
        </p:nvSpPr>
        <p:spPr>
          <a:xfrm>
            <a:off x="6192773" y="2146554"/>
            <a:ext cx="2434590" cy="251607"/>
          </a:xfrm>
          <a:prstGeom prst="rect">
            <a:avLst/>
          </a:prstGeom>
          <a:noFill/>
        </p:spPr>
        <p:txBody>
          <a:bodyPr wrap="square" lIns="10287" tIns="10287" rIns="10287" bIns="10287">
            <a:spAutoFit/>
          </a:bodyPr>
          <a:lstStyle/>
          <a:p>
            <a:pPr>
              <a:spcAft>
                <a:spcPts val="375"/>
              </a:spcAft>
              <a:defRPr sz="2000" b="1">
                <a:solidFill>
                  <a:srgbClr val="2563EB"/>
                </a:solidFill>
                <a:latin typeface="Arial"/>
              </a:defRPr>
            </a:pPr>
            <a:r>
              <a:rPr sz="1500" cap="none">
                <a:latin typeface="Arial"/>
              </a:rPr>
              <a:t>Different resources</a:t>
            </a:r>
          </a:p>
        </p:txBody>
      </p:sp>
      <p:sp>
        <p:nvSpPr>
          <p:cNvPr id="22" name="TextBox 21"/>
          <p:cNvSpPr txBox="1"/>
          <p:nvPr/>
        </p:nvSpPr>
        <p:spPr>
          <a:xfrm>
            <a:off x="6192773" y="2599182"/>
            <a:ext cx="2434590" cy="713272"/>
          </a:xfrm>
          <a:prstGeom prst="rect">
            <a:avLst/>
          </a:prstGeom>
          <a:noFill/>
        </p:spPr>
        <p:txBody>
          <a:bodyPr wrap="square" lIns="10287" tIns="10287" rIns="10287" bIns="10287">
            <a:spAutoFit/>
          </a:bodyPr>
          <a:lstStyle/>
          <a:p>
            <a:pPr>
              <a:spcAft>
                <a:spcPts val="375"/>
              </a:spcAft>
              <a:defRPr sz="2000" b="0">
                <a:solidFill>
                  <a:srgbClr val="172941"/>
                </a:solidFill>
                <a:latin typeface="Arial"/>
              </a:defRPr>
            </a:pPr>
            <a:r>
              <a:rPr sz="1500" cap="none">
                <a:latin typeface="Arial"/>
              </a:rPr>
              <a:t>Each phase needs its own scaling or parallelism choices.</a:t>
            </a:r>
          </a:p>
        </p:txBody>
      </p:sp>
      <p:sp>
        <p:nvSpPr>
          <p:cNvPr id="23" name="TextBox 22"/>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4" name="TextBox 23"/>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13 / 49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01 / The problem</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Keep aggregated serving when simplicity wins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P/D is an option, not a default.</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Small workload + slow transfer fabric is a strong reason not to split.</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32204"/>
            <a:ext cx="4080510" cy="243459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500634" y="1769364"/>
            <a:ext cx="260604" cy="4457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0" y="1906524"/>
            <a:ext cx="3806190" cy="251607"/>
          </a:xfrm>
          <a:prstGeom prst="rect">
            <a:avLst/>
          </a:prstGeom>
          <a:noFill/>
        </p:spPr>
        <p:txBody>
          <a:bodyPr wrap="square" lIns="10287" tIns="10287" rIns="10287" bIns="10287">
            <a:spAutoFit/>
          </a:bodyPr>
          <a:lstStyle/>
          <a:p>
            <a:pPr>
              <a:spcAft>
                <a:spcPts val="375"/>
              </a:spcAft>
              <a:defRPr sz="2000" b="1">
                <a:solidFill>
                  <a:srgbClr val="2563EB"/>
                </a:solidFill>
                <a:latin typeface="Arial"/>
              </a:defRPr>
            </a:pPr>
            <a:r>
              <a:rPr sz="1500" cap="none">
                <a:latin typeface="Arial"/>
              </a:rPr>
              <a:t>When aggregated fits</a:t>
            </a:r>
          </a:p>
        </p:txBody>
      </p:sp>
      <p:sp>
        <p:nvSpPr>
          <p:cNvPr id="13" name="TextBox 12"/>
          <p:cNvSpPr txBox="1"/>
          <p:nvPr/>
        </p:nvSpPr>
        <p:spPr>
          <a:xfrm>
            <a:off x="514350" y="2359152"/>
            <a:ext cx="3806190" cy="1380121"/>
          </a:xfrm>
          <a:prstGeom prst="rect">
            <a:avLst/>
          </a:prstGeom>
          <a:noFill/>
        </p:spPr>
        <p:txBody>
          <a:bodyPr wrap="square" lIns="10287" tIns="10287" rIns="10287" bIns="10287">
            <a:spAutoFit/>
          </a:bodyPr>
          <a:lstStyle/>
          <a:p>
            <a:pPr>
              <a:spcAft>
                <a:spcPts val="375"/>
              </a:spcAft>
              <a:defRPr sz="2000" b="0">
                <a:solidFill>
                  <a:srgbClr val="172941"/>
                </a:solidFill>
                <a:latin typeface="Arial"/>
              </a:defRPr>
            </a:pPr>
            <a:r>
              <a:rPr sz="1500" cap="none">
                <a:latin typeface="Arial"/>
              </a:rPr>
              <a:t>Small models or short prompts</a:t>
            </a:r>
          </a:p>
          <a:p>
            <a:pPr>
              <a:spcAft>
                <a:spcPts val="375"/>
              </a:spcAft>
              <a:defRPr sz="2000" b="0">
                <a:solidFill>
                  <a:srgbClr val="172941"/>
                </a:solidFill>
                <a:latin typeface="Arial"/>
              </a:defRPr>
            </a:pPr>
            <a:endParaRPr sz="1500"/>
          </a:p>
          <a:p>
            <a:pPr>
              <a:spcAft>
                <a:spcPts val="375"/>
              </a:spcAft>
              <a:defRPr sz="2000" b="0">
                <a:solidFill>
                  <a:srgbClr val="172941"/>
                </a:solidFill>
                <a:latin typeface="Arial"/>
              </a:defRPr>
            </a:pPr>
            <a:r>
              <a:rPr sz="1500" cap="none">
                <a:latin typeface="Arial"/>
              </a:rPr>
              <a:t>Low request concurrency</a:t>
            </a:r>
          </a:p>
          <a:p>
            <a:pPr>
              <a:spcAft>
                <a:spcPts val="375"/>
              </a:spcAft>
              <a:defRPr sz="2000" b="0">
                <a:solidFill>
                  <a:srgbClr val="172941"/>
                </a:solidFill>
                <a:latin typeface="Arial"/>
              </a:defRPr>
            </a:pPr>
            <a:endParaRPr sz="1500"/>
          </a:p>
          <a:p>
            <a:pPr>
              <a:spcAft>
                <a:spcPts val="375"/>
              </a:spcAft>
              <a:defRPr sz="2000" b="0">
                <a:solidFill>
                  <a:srgbClr val="172941"/>
                </a:solidFill>
                <a:latin typeface="Arial"/>
              </a:defRPr>
            </a:pPr>
            <a:r>
              <a:rPr sz="1500" cap="none">
                <a:latin typeface="Arial"/>
              </a:rPr>
              <a:t>Simple, stable capacity needs</a:t>
            </a:r>
          </a:p>
        </p:txBody>
      </p:sp>
      <p:sp>
        <p:nvSpPr>
          <p:cNvPr id="14" name="Rounded Rectangle 13"/>
          <p:cNvSpPr/>
          <p:nvPr/>
        </p:nvSpPr>
        <p:spPr>
          <a:xfrm>
            <a:off x="4649724" y="1632204"/>
            <a:ext cx="4080510" cy="243459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4773168" y="1769364"/>
            <a:ext cx="260604" cy="44577"/>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4786884" y="1906524"/>
            <a:ext cx="3806190" cy="251607"/>
          </a:xfrm>
          <a:prstGeom prst="rect">
            <a:avLst/>
          </a:prstGeom>
          <a:noFill/>
        </p:spPr>
        <p:txBody>
          <a:bodyPr wrap="square" lIns="10287" tIns="10287" rIns="10287" bIns="10287">
            <a:spAutoFit/>
          </a:bodyPr>
          <a:lstStyle/>
          <a:p>
            <a:pPr>
              <a:spcAft>
                <a:spcPts val="375"/>
              </a:spcAft>
              <a:defRPr sz="2000" b="1">
                <a:solidFill>
                  <a:srgbClr val="AE641A"/>
                </a:solidFill>
                <a:latin typeface="Arial"/>
              </a:defRPr>
            </a:pPr>
            <a:r>
              <a:rPr sz="1500" cap="none">
                <a:latin typeface="Arial"/>
              </a:rPr>
              <a:t>The split adds real costs</a:t>
            </a:r>
          </a:p>
        </p:txBody>
      </p:sp>
      <p:sp>
        <p:nvSpPr>
          <p:cNvPr id="17" name="TextBox 16"/>
          <p:cNvSpPr txBox="1"/>
          <p:nvPr/>
        </p:nvSpPr>
        <p:spPr>
          <a:xfrm>
            <a:off x="4786884" y="2359152"/>
            <a:ext cx="3806190" cy="1380121"/>
          </a:xfrm>
          <a:prstGeom prst="rect">
            <a:avLst/>
          </a:prstGeom>
          <a:noFill/>
        </p:spPr>
        <p:txBody>
          <a:bodyPr wrap="square" lIns="10287" tIns="10287" rIns="10287" bIns="10287">
            <a:spAutoFit/>
          </a:bodyPr>
          <a:lstStyle/>
          <a:p>
            <a:pPr>
              <a:spcAft>
                <a:spcPts val="375"/>
              </a:spcAft>
              <a:defRPr sz="2000" b="0">
                <a:solidFill>
                  <a:srgbClr val="172941"/>
                </a:solidFill>
                <a:latin typeface="Arial"/>
              </a:defRPr>
            </a:pPr>
            <a:r>
              <a:rPr sz="1500" cap="none">
                <a:latin typeface="Arial"/>
              </a:rPr>
              <a:t>KV transfer across the fabric</a:t>
            </a:r>
          </a:p>
          <a:p>
            <a:pPr>
              <a:spcAft>
                <a:spcPts val="375"/>
              </a:spcAft>
              <a:defRPr sz="2000" b="0">
                <a:solidFill>
                  <a:srgbClr val="172941"/>
                </a:solidFill>
                <a:latin typeface="Arial"/>
              </a:defRPr>
            </a:pPr>
            <a:endParaRPr sz="1500"/>
          </a:p>
          <a:p>
            <a:pPr>
              <a:spcAft>
                <a:spcPts val="375"/>
              </a:spcAft>
              <a:defRPr sz="2000" b="0">
                <a:solidFill>
                  <a:srgbClr val="172941"/>
                </a:solidFill>
                <a:latin typeface="Arial"/>
              </a:defRPr>
            </a:pPr>
            <a:r>
              <a:rPr sz="1500" cap="none">
                <a:latin typeface="Arial"/>
              </a:rPr>
              <a:t>More routing and runtime wiring</a:t>
            </a:r>
          </a:p>
          <a:p>
            <a:pPr>
              <a:spcAft>
                <a:spcPts val="375"/>
              </a:spcAft>
              <a:defRPr sz="2000" b="0">
                <a:solidFill>
                  <a:srgbClr val="172941"/>
                </a:solidFill>
                <a:latin typeface="Arial"/>
              </a:defRPr>
            </a:pPr>
            <a:endParaRPr sz="1500"/>
          </a:p>
          <a:p>
            <a:pPr>
              <a:spcAft>
                <a:spcPts val="375"/>
              </a:spcAft>
              <a:defRPr sz="2000" b="0">
                <a:solidFill>
                  <a:srgbClr val="172941"/>
                </a:solidFill>
                <a:latin typeface="Arial"/>
              </a:defRPr>
            </a:pPr>
            <a:r>
              <a:rPr sz="1500" cap="none">
                <a:latin typeface="Arial"/>
              </a:rPr>
              <a:t>Additional failure boundaries</a:t>
            </a:r>
          </a:p>
        </p:txBody>
      </p:sp>
      <p:sp>
        <p:nvSpPr>
          <p:cNvPr id="18" name="TextBox 17"/>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9" name="TextBox 18"/>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14 / 49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02 / The orchestration gap</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The hard part is the Kubernetes wiring</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The two-pool idea expands into a network of runtime contracts.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Correct routing, transfer settings, labels, ports, and readiness must agree.</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05556" y="2352294"/>
            <a:ext cx="2537460" cy="72009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3305556" y="2420874"/>
            <a:ext cx="37719" cy="58293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3408426" y="2441449"/>
            <a:ext cx="2331720" cy="240066"/>
          </a:xfrm>
          <a:prstGeom prst="rect">
            <a:avLst/>
          </a:prstGeom>
          <a:noFill/>
        </p:spPr>
        <p:txBody>
          <a:bodyPr wrap="square" lIns="10287" tIns="10287" rIns="10287" bIns="10287">
            <a:spAutoFit/>
          </a:bodyPr>
          <a:lstStyle/>
          <a:p>
            <a:pPr algn="ctr">
              <a:spcAft>
                <a:spcPts val="375"/>
              </a:spcAft>
              <a:defRPr sz="1900" b="1">
                <a:solidFill>
                  <a:srgbClr val="2563EB"/>
                </a:solidFill>
                <a:latin typeface="Arial"/>
              </a:defRPr>
            </a:pPr>
            <a:r>
              <a:rPr sz="1425" cap="none">
                <a:latin typeface="Arial"/>
              </a:rPr>
              <a:t>One model service</a:t>
            </a:r>
          </a:p>
        </p:txBody>
      </p:sp>
      <p:sp>
        <p:nvSpPr>
          <p:cNvPr id="13" name="TextBox 12"/>
          <p:cNvSpPr txBox="1"/>
          <p:nvPr/>
        </p:nvSpPr>
        <p:spPr>
          <a:xfrm>
            <a:off x="3415284" y="2770633"/>
            <a:ext cx="231800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Two role-specific backends</a:t>
            </a:r>
          </a:p>
        </p:txBody>
      </p:sp>
      <p:sp>
        <p:nvSpPr>
          <p:cNvPr id="14" name="Rounded Rectangle 13"/>
          <p:cNvSpPr/>
          <p:nvPr/>
        </p:nvSpPr>
        <p:spPr>
          <a:xfrm>
            <a:off x="377190" y="1577340"/>
            <a:ext cx="2571750" cy="8572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377190" y="1645920"/>
            <a:ext cx="37719" cy="72009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480060" y="1666494"/>
            <a:ext cx="2366010" cy="228524"/>
          </a:xfrm>
          <a:prstGeom prst="rect">
            <a:avLst/>
          </a:prstGeom>
          <a:noFill/>
        </p:spPr>
        <p:txBody>
          <a:bodyPr wrap="square" lIns="10287" tIns="10287" rIns="10287" bIns="10287">
            <a:spAutoFit/>
          </a:bodyPr>
          <a:lstStyle/>
          <a:p>
            <a:pPr algn="ctr">
              <a:spcAft>
                <a:spcPts val="375"/>
              </a:spcAft>
              <a:defRPr sz="1800" b="1">
                <a:solidFill>
                  <a:srgbClr val="2563EB"/>
                </a:solidFill>
                <a:latin typeface="Arial"/>
              </a:defRPr>
            </a:pPr>
            <a:r>
              <a:rPr sz="1350" cap="none">
                <a:latin typeface="Arial"/>
              </a:rPr>
              <a:t>Routing topology</a:t>
            </a:r>
          </a:p>
        </p:txBody>
      </p:sp>
      <p:sp>
        <p:nvSpPr>
          <p:cNvPr id="17" name="TextBox 16"/>
          <p:cNvSpPr txBox="1"/>
          <p:nvPr/>
        </p:nvSpPr>
        <p:spPr>
          <a:xfrm>
            <a:off x="486918" y="1995679"/>
            <a:ext cx="235229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EPP + endpoint selection</a:t>
            </a:r>
          </a:p>
        </p:txBody>
      </p:sp>
      <p:sp>
        <p:nvSpPr>
          <p:cNvPr id="18" name="Rounded Rectangle 17"/>
          <p:cNvSpPr/>
          <p:nvPr/>
        </p:nvSpPr>
        <p:spPr>
          <a:xfrm>
            <a:off x="377190" y="3140964"/>
            <a:ext cx="2571750" cy="8572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377190" y="3209544"/>
            <a:ext cx="37719" cy="72009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480060" y="3230118"/>
            <a:ext cx="2366010"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KV-transfer contract</a:t>
            </a:r>
          </a:p>
        </p:txBody>
      </p:sp>
      <p:sp>
        <p:nvSpPr>
          <p:cNvPr id="21" name="TextBox 20"/>
          <p:cNvSpPr txBox="1"/>
          <p:nvPr/>
        </p:nvSpPr>
        <p:spPr>
          <a:xfrm>
            <a:off x="486918" y="3559303"/>
            <a:ext cx="235229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Connector + transport settings</a:t>
            </a:r>
          </a:p>
        </p:txBody>
      </p:sp>
      <p:sp>
        <p:nvSpPr>
          <p:cNvPr id="22" name="Rounded Rectangle 21"/>
          <p:cNvSpPr/>
          <p:nvPr/>
        </p:nvSpPr>
        <p:spPr>
          <a:xfrm>
            <a:off x="6192773" y="1577340"/>
            <a:ext cx="2571750" cy="8572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Rectangle 22"/>
          <p:cNvSpPr/>
          <p:nvPr/>
        </p:nvSpPr>
        <p:spPr>
          <a:xfrm>
            <a:off x="6192773" y="1645920"/>
            <a:ext cx="37719" cy="72009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6295644" y="1666494"/>
            <a:ext cx="2366010"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Decode-side proxy</a:t>
            </a:r>
          </a:p>
        </p:txBody>
      </p:sp>
      <p:sp>
        <p:nvSpPr>
          <p:cNvPr id="25" name="TextBox 24"/>
          <p:cNvSpPr txBox="1"/>
          <p:nvPr/>
        </p:nvSpPr>
        <p:spPr>
          <a:xfrm>
            <a:off x="6302502" y="1995679"/>
            <a:ext cx="235229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Request orchestration</a:t>
            </a:r>
          </a:p>
        </p:txBody>
      </p:sp>
      <p:sp>
        <p:nvSpPr>
          <p:cNvPr id="26" name="Rounded Rectangle 25"/>
          <p:cNvSpPr/>
          <p:nvPr/>
        </p:nvSpPr>
        <p:spPr>
          <a:xfrm>
            <a:off x="6192773" y="3140964"/>
            <a:ext cx="2571750" cy="85725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Rectangle 26"/>
          <p:cNvSpPr/>
          <p:nvPr/>
        </p:nvSpPr>
        <p:spPr>
          <a:xfrm>
            <a:off x="6192773" y="3209544"/>
            <a:ext cx="37719" cy="720090"/>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8" name="TextBox 27"/>
          <p:cNvSpPr txBox="1"/>
          <p:nvPr/>
        </p:nvSpPr>
        <p:spPr>
          <a:xfrm>
            <a:off x="6295644" y="3230118"/>
            <a:ext cx="2366010" cy="228524"/>
          </a:xfrm>
          <a:prstGeom prst="rect">
            <a:avLst/>
          </a:prstGeom>
          <a:noFill/>
        </p:spPr>
        <p:txBody>
          <a:bodyPr wrap="square" lIns="10287" tIns="10287" rIns="10287" bIns="10287">
            <a:spAutoFit/>
          </a:bodyPr>
          <a:lstStyle/>
          <a:p>
            <a:pPr algn="ctr">
              <a:spcAft>
                <a:spcPts val="375"/>
              </a:spcAft>
              <a:defRPr sz="1800" b="1">
                <a:solidFill>
                  <a:srgbClr val="AE641A"/>
                </a:solidFill>
                <a:latin typeface="Arial"/>
              </a:defRPr>
            </a:pPr>
            <a:r>
              <a:rPr sz="1350" cap="none">
                <a:latin typeface="Arial"/>
              </a:rPr>
              <a:t>Lifecycle + scaling</a:t>
            </a:r>
          </a:p>
        </p:txBody>
      </p:sp>
      <p:sp>
        <p:nvSpPr>
          <p:cNvPr id="29" name="TextBox 28"/>
          <p:cNvSpPr txBox="1"/>
          <p:nvPr/>
        </p:nvSpPr>
        <p:spPr>
          <a:xfrm>
            <a:off x="6302502" y="3559303"/>
            <a:ext cx="235229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Ports, labels, probes, replicas</a:t>
            </a:r>
          </a:p>
        </p:txBody>
      </p:sp>
      <p:cxnSp>
        <p:nvCxnSpPr>
          <p:cNvPr id="30" name="Connector 29"/>
          <p:cNvCxnSpPr/>
          <p:nvPr/>
        </p:nvCxnSpPr>
        <p:spPr>
          <a:xfrm>
            <a:off x="2948940" y="2009394"/>
            <a:ext cx="17145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120390" y="2009394"/>
            <a:ext cx="0" cy="562356"/>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120390" y="2571750"/>
            <a:ext cx="185166"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48940" y="3566160"/>
            <a:ext cx="171450"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120390" y="2859786"/>
            <a:ext cx="0" cy="706374"/>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20390" y="2859786"/>
            <a:ext cx="185166"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43016" y="2571750"/>
            <a:ext cx="171450"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014466" y="2009394"/>
            <a:ext cx="0" cy="562356"/>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14467" y="2009394"/>
            <a:ext cx="178307"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843016" y="2859786"/>
            <a:ext cx="171450" cy="0"/>
          </a:xfrm>
          <a:prstGeom prst="line">
            <a:avLst/>
          </a:prstGeom>
          <a:ln w="25400">
            <a:solidFill>
              <a:srgbClr val="AE64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14466" y="2859786"/>
            <a:ext cx="0" cy="706374"/>
          </a:xfrm>
          <a:prstGeom prst="line">
            <a:avLst/>
          </a:prstGeom>
          <a:ln w="25400">
            <a:solidFill>
              <a:srgbClr val="AE64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14467" y="3566160"/>
            <a:ext cx="178307" cy="0"/>
          </a:xfrm>
          <a:prstGeom prst="line">
            <a:avLst/>
          </a:prstGeom>
          <a:ln w="25400">
            <a:solidFill>
              <a:srgbClr val="AE64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3" name="TextBox 4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15 / 49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02 / Ecosystem landscape</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Open-source P/D: several paths, different abstractions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Representative approaches—not an adoption ranking or mutually exclusive stacks.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Declarative APIs already exist. The opportunity is simpler integration—not the first CRD.</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77190" y="1453896"/>
            <a:ext cx="2143125" cy="305181"/>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52629" y="1512189"/>
            <a:ext cx="2009393" cy="170816"/>
          </a:xfrm>
          <a:prstGeom prst="rect">
            <a:avLst/>
          </a:prstGeom>
          <a:noFill/>
        </p:spPr>
        <p:txBody>
          <a:bodyPr wrap="square" lIns="10287" tIns="10287" rIns="10287" bIns="10287">
            <a:spAutoFit/>
          </a:bodyPr>
          <a:lstStyle/>
          <a:p>
            <a:pPr>
              <a:spcAft>
                <a:spcPts val="375"/>
              </a:spcAft>
              <a:defRPr sz="1300" b="1">
                <a:solidFill>
                  <a:srgbClr val="FFFFFF"/>
                </a:solidFill>
                <a:latin typeface="Arial"/>
              </a:defRPr>
            </a:pPr>
            <a:r>
              <a:rPr sz="975" cap="none">
                <a:latin typeface="Arial"/>
              </a:rPr>
              <a:t>Approach</a:t>
            </a:r>
          </a:p>
        </p:txBody>
      </p:sp>
      <p:sp>
        <p:nvSpPr>
          <p:cNvPr id="12" name="Rectangle 11"/>
          <p:cNvSpPr/>
          <p:nvPr/>
        </p:nvSpPr>
        <p:spPr>
          <a:xfrm>
            <a:off x="2537461" y="1453896"/>
            <a:ext cx="2952368" cy="305181"/>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2612898" y="1512189"/>
            <a:ext cx="2818638" cy="170816"/>
          </a:xfrm>
          <a:prstGeom prst="rect">
            <a:avLst/>
          </a:prstGeom>
          <a:noFill/>
        </p:spPr>
        <p:txBody>
          <a:bodyPr wrap="square" lIns="10287" tIns="10287" rIns="10287" bIns="10287">
            <a:spAutoFit/>
          </a:bodyPr>
          <a:lstStyle/>
          <a:p>
            <a:pPr>
              <a:spcAft>
                <a:spcPts val="375"/>
              </a:spcAft>
              <a:defRPr sz="1300" b="1">
                <a:solidFill>
                  <a:srgbClr val="FFFFFF"/>
                </a:solidFill>
                <a:latin typeface="Arial"/>
              </a:defRPr>
            </a:pPr>
            <a:r>
              <a:rPr sz="975" cap="none">
                <a:latin typeface="Arial"/>
              </a:rPr>
              <a:t>Serving / routing path</a:t>
            </a:r>
          </a:p>
        </p:txBody>
      </p:sp>
      <p:sp>
        <p:nvSpPr>
          <p:cNvPr id="14" name="Rectangle 13"/>
          <p:cNvSpPr/>
          <p:nvPr/>
        </p:nvSpPr>
        <p:spPr>
          <a:xfrm>
            <a:off x="5506974" y="1453896"/>
            <a:ext cx="3240405" cy="305181"/>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5582412" y="1512189"/>
            <a:ext cx="3106674" cy="170816"/>
          </a:xfrm>
          <a:prstGeom prst="rect">
            <a:avLst/>
          </a:prstGeom>
          <a:noFill/>
        </p:spPr>
        <p:txBody>
          <a:bodyPr wrap="square" lIns="10287" tIns="10287" rIns="10287" bIns="10287">
            <a:spAutoFit/>
          </a:bodyPr>
          <a:lstStyle/>
          <a:p>
            <a:pPr>
              <a:spcAft>
                <a:spcPts val="375"/>
              </a:spcAft>
              <a:defRPr sz="1300" b="1">
                <a:solidFill>
                  <a:srgbClr val="FFFFFF"/>
                </a:solidFill>
                <a:latin typeface="Arial"/>
              </a:defRPr>
            </a:pPr>
            <a:r>
              <a:rPr sz="975" cap="none">
                <a:latin typeface="Arial"/>
              </a:rPr>
              <a:t>Kubernetes packaging</a:t>
            </a:r>
          </a:p>
        </p:txBody>
      </p:sp>
      <p:sp>
        <p:nvSpPr>
          <p:cNvPr id="16" name="Rectangle 15"/>
          <p:cNvSpPr/>
          <p:nvPr/>
        </p:nvSpPr>
        <p:spPr>
          <a:xfrm>
            <a:off x="377190" y="1776222"/>
            <a:ext cx="214312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52629" y="1834516"/>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NVIDIA Dynamo</a:t>
            </a:r>
          </a:p>
        </p:txBody>
      </p:sp>
      <p:sp>
        <p:nvSpPr>
          <p:cNvPr id="18" name="Rectangle 17"/>
          <p:cNvSpPr/>
          <p:nvPr/>
        </p:nvSpPr>
        <p:spPr>
          <a:xfrm>
            <a:off x="2537461" y="1776222"/>
            <a:ext cx="2952368"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2612898" y="1834516"/>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Integrated inference stack</a:t>
            </a:r>
          </a:p>
        </p:txBody>
      </p:sp>
      <p:sp>
        <p:nvSpPr>
          <p:cNvPr id="20" name="Rectangle 19"/>
          <p:cNvSpPr/>
          <p:nvPr/>
        </p:nvSpPr>
        <p:spPr>
          <a:xfrm>
            <a:off x="5506974" y="1776222"/>
            <a:ext cx="324040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5582412" y="1834516"/>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Operator + DynamoGraphDeployment</a:t>
            </a:r>
          </a:p>
        </p:txBody>
      </p:sp>
      <p:sp>
        <p:nvSpPr>
          <p:cNvPr id="22" name="Rectangle 21"/>
          <p:cNvSpPr/>
          <p:nvPr/>
        </p:nvSpPr>
        <p:spPr>
          <a:xfrm>
            <a:off x="377190" y="2098548"/>
            <a:ext cx="214312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452629" y="2156842"/>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llm-d</a:t>
            </a:r>
          </a:p>
        </p:txBody>
      </p:sp>
      <p:sp>
        <p:nvSpPr>
          <p:cNvPr id="24" name="Rectangle 23"/>
          <p:cNvSpPr/>
          <p:nvPr/>
        </p:nvSpPr>
        <p:spPr>
          <a:xfrm>
            <a:off x="2537461" y="2098548"/>
            <a:ext cx="2952368"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2612898" y="2156842"/>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P/D-aware EPP + routing sidecar</a:t>
            </a:r>
          </a:p>
        </p:txBody>
      </p:sp>
      <p:sp>
        <p:nvSpPr>
          <p:cNvPr id="26" name="Rectangle 25"/>
          <p:cNvSpPr/>
          <p:nvPr/>
        </p:nvSpPr>
        <p:spPr>
          <a:xfrm>
            <a:off x="5506974" y="2098548"/>
            <a:ext cx="324040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5582412" y="2156842"/>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Gateway API / InferencePool</a:t>
            </a:r>
          </a:p>
        </p:txBody>
      </p:sp>
      <p:sp>
        <p:nvSpPr>
          <p:cNvPr id="28" name="Rectangle 27"/>
          <p:cNvSpPr/>
          <p:nvPr/>
        </p:nvSpPr>
        <p:spPr>
          <a:xfrm>
            <a:off x="377190" y="2420874"/>
            <a:ext cx="214312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TextBox 28"/>
          <p:cNvSpPr txBox="1"/>
          <p:nvPr/>
        </p:nvSpPr>
        <p:spPr>
          <a:xfrm>
            <a:off x="452629" y="2479168"/>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AIBrix</a:t>
            </a:r>
          </a:p>
        </p:txBody>
      </p:sp>
      <p:sp>
        <p:nvSpPr>
          <p:cNvPr id="30" name="Rectangle 29"/>
          <p:cNvSpPr/>
          <p:nvPr/>
        </p:nvSpPr>
        <p:spPr>
          <a:xfrm>
            <a:off x="2537461" y="2420874"/>
            <a:ext cx="2952368"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2612898" y="2479168"/>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P/D-aware gateway + engines</a:t>
            </a:r>
          </a:p>
        </p:txBody>
      </p:sp>
      <p:sp>
        <p:nvSpPr>
          <p:cNvPr id="32" name="Rectangle 31"/>
          <p:cNvSpPr/>
          <p:nvPr/>
        </p:nvSpPr>
        <p:spPr>
          <a:xfrm>
            <a:off x="5506974" y="2420874"/>
            <a:ext cx="324040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TextBox 32"/>
          <p:cNvSpPr txBox="1"/>
          <p:nvPr/>
        </p:nvSpPr>
        <p:spPr>
          <a:xfrm>
            <a:off x="5582412" y="2479168"/>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StormService / RoleSet</a:t>
            </a:r>
          </a:p>
        </p:txBody>
      </p:sp>
      <p:sp>
        <p:nvSpPr>
          <p:cNvPr id="34" name="Rectangle 33"/>
          <p:cNvSpPr/>
          <p:nvPr/>
        </p:nvSpPr>
        <p:spPr>
          <a:xfrm>
            <a:off x="377190" y="2743200"/>
            <a:ext cx="214312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452629" y="2801494"/>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KServe + llm-d</a:t>
            </a:r>
          </a:p>
        </p:txBody>
      </p:sp>
      <p:sp>
        <p:nvSpPr>
          <p:cNvPr id="36" name="Rectangle 35"/>
          <p:cNvSpPr/>
          <p:nvPr/>
        </p:nvSpPr>
        <p:spPr>
          <a:xfrm>
            <a:off x="2537461" y="2743200"/>
            <a:ext cx="2952368"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7" name="TextBox 36"/>
          <p:cNvSpPr txBox="1"/>
          <p:nvPr/>
        </p:nvSpPr>
        <p:spPr>
          <a:xfrm>
            <a:off x="2612898" y="2801494"/>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llm-d serving integration</a:t>
            </a:r>
          </a:p>
        </p:txBody>
      </p:sp>
      <p:sp>
        <p:nvSpPr>
          <p:cNvPr id="38" name="Rectangle 37"/>
          <p:cNvSpPr/>
          <p:nvPr/>
        </p:nvSpPr>
        <p:spPr>
          <a:xfrm>
            <a:off x="5506974" y="2743200"/>
            <a:ext cx="324040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TextBox 38"/>
          <p:cNvSpPr txBox="1"/>
          <p:nvPr/>
        </p:nvSpPr>
        <p:spPr>
          <a:xfrm>
            <a:off x="5582412" y="2801494"/>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LLMInferenceService</a:t>
            </a:r>
          </a:p>
        </p:txBody>
      </p:sp>
      <p:sp>
        <p:nvSpPr>
          <p:cNvPr id="40" name="Rectangle 39"/>
          <p:cNvSpPr/>
          <p:nvPr/>
        </p:nvSpPr>
        <p:spPr>
          <a:xfrm>
            <a:off x="377190" y="3065526"/>
            <a:ext cx="214312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1" name="TextBox 40"/>
          <p:cNvSpPr txBox="1"/>
          <p:nvPr/>
        </p:nvSpPr>
        <p:spPr>
          <a:xfrm>
            <a:off x="452629" y="3123819"/>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Ray Serve + KubeRay</a:t>
            </a:r>
          </a:p>
        </p:txBody>
      </p:sp>
      <p:sp>
        <p:nvSpPr>
          <p:cNvPr id="42" name="Rectangle 41"/>
          <p:cNvSpPr/>
          <p:nvPr/>
        </p:nvSpPr>
        <p:spPr>
          <a:xfrm>
            <a:off x="2537461" y="3065526"/>
            <a:ext cx="2952368"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3" name="TextBox 42"/>
          <p:cNvSpPr txBox="1"/>
          <p:nvPr/>
        </p:nvSpPr>
        <p:spPr>
          <a:xfrm>
            <a:off x="2612898" y="3123819"/>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P/D app + vLLM KV connectors</a:t>
            </a:r>
          </a:p>
        </p:txBody>
      </p:sp>
      <p:sp>
        <p:nvSpPr>
          <p:cNvPr id="44" name="Rectangle 43"/>
          <p:cNvSpPr/>
          <p:nvPr/>
        </p:nvSpPr>
        <p:spPr>
          <a:xfrm>
            <a:off x="5506974" y="3065526"/>
            <a:ext cx="3240405" cy="30518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5" name="TextBox 44"/>
          <p:cNvSpPr txBox="1"/>
          <p:nvPr/>
        </p:nvSpPr>
        <p:spPr>
          <a:xfrm>
            <a:off x="5582412" y="3123819"/>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RayService + Serve configuration</a:t>
            </a:r>
          </a:p>
        </p:txBody>
      </p:sp>
      <p:sp>
        <p:nvSpPr>
          <p:cNvPr id="46" name="Rectangle 45"/>
          <p:cNvSpPr/>
          <p:nvPr/>
        </p:nvSpPr>
        <p:spPr>
          <a:xfrm>
            <a:off x="377190" y="3387852"/>
            <a:ext cx="214312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7" name="TextBox 46"/>
          <p:cNvSpPr txBox="1"/>
          <p:nvPr/>
        </p:nvSpPr>
        <p:spPr>
          <a:xfrm>
            <a:off x="452629" y="3446145"/>
            <a:ext cx="2009393" cy="182358"/>
          </a:xfrm>
          <a:prstGeom prst="rect">
            <a:avLst/>
          </a:prstGeom>
          <a:noFill/>
        </p:spPr>
        <p:txBody>
          <a:bodyPr wrap="square" lIns="10287" tIns="10287" rIns="10287" bIns="10287">
            <a:spAutoFit/>
          </a:bodyPr>
          <a:lstStyle/>
          <a:p>
            <a:pPr>
              <a:spcAft>
                <a:spcPts val="375"/>
              </a:spcAft>
              <a:defRPr sz="1400" b="1">
                <a:solidFill>
                  <a:srgbClr val="2563EB"/>
                </a:solidFill>
                <a:latin typeface="Arial"/>
              </a:defRPr>
            </a:pPr>
            <a:r>
              <a:rPr sz="1050" cap="none">
                <a:latin typeface="Arial"/>
              </a:rPr>
              <a:t>vLLM Production Stack</a:t>
            </a:r>
          </a:p>
        </p:txBody>
      </p:sp>
      <p:sp>
        <p:nvSpPr>
          <p:cNvPr id="48" name="Rectangle 47"/>
          <p:cNvSpPr/>
          <p:nvPr/>
        </p:nvSpPr>
        <p:spPr>
          <a:xfrm>
            <a:off x="2537461" y="3387852"/>
            <a:ext cx="2952368"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9" name="TextBox 48"/>
          <p:cNvSpPr txBox="1"/>
          <p:nvPr/>
        </p:nvSpPr>
        <p:spPr>
          <a:xfrm>
            <a:off x="2612898" y="3446145"/>
            <a:ext cx="2818638"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vLLM + LMCache / NIXL + router</a:t>
            </a:r>
          </a:p>
        </p:txBody>
      </p:sp>
      <p:sp>
        <p:nvSpPr>
          <p:cNvPr id="50" name="Rectangle 49"/>
          <p:cNvSpPr/>
          <p:nvPr/>
        </p:nvSpPr>
        <p:spPr>
          <a:xfrm>
            <a:off x="5506974" y="3387852"/>
            <a:ext cx="3240405" cy="305181"/>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1" name="TextBox 50"/>
          <p:cNvSpPr txBox="1"/>
          <p:nvPr/>
        </p:nvSpPr>
        <p:spPr>
          <a:xfrm>
            <a:off x="5582412" y="3446145"/>
            <a:ext cx="3106674" cy="182358"/>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Helm-managed P/D deployment</a:t>
            </a:r>
          </a:p>
        </p:txBody>
      </p:sp>
      <p:sp>
        <p:nvSpPr>
          <p:cNvPr id="52" name="Rounded Rectangle 51"/>
          <p:cNvSpPr/>
          <p:nvPr/>
        </p:nvSpPr>
        <p:spPr>
          <a:xfrm>
            <a:off x="377190" y="3806191"/>
            <a:ext cx="8387334" cy="390905"/>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53" name="TextBox 52"/>
          <p:cNvSpPr txBox="1"/>
          <p:nvPr/>
        </p:nvSpPr>
        <p:spPr>
          <a:xfrm>
            <a:off x="493776" y="3895344"/>
            <a:ext cx="8161020" cy="193899"/>
          </a:xfrm>
          <a:prstGeom prst="rect">
            <a:avLst/>
          </a:prstGeom>
          <a:noFill/>
        </p:spPr>
        <p:txBody>
          <a:bodyPr wrap="square" lIns="10287" tIns="10287" rIns="10287" bIns="10287">
            <a:spAutoFit/>
          </a:bodyPr>
          <a:lstStyle/>
          <a:p>
            <a:pPr>
              <a:spcAft>
                <a:spcPts val="375"/>
              </a:spcAft>
              <a:defRPr sz="1500" b="0">
                <a:solidFill>
                  <a:srgbClr val="087F8C"/>
                </a:solidFill>
                <a:latin typeface="Arial"/>
              </a:defRPr>
            </a:pPr>
            <a:r>
              <a:rPr sz="1125" cap="none">
                <a:latin typeface="Arial"/>
              </a:rPr>
              <a:t>Also: LWS DisaggregatedSet orchestrates roles; engines and KV transport remain separate.</a:t>
            </a:r>
          </a:p>
        </p:txBody>
      </p:sp>
      <p:sp>
        <p:nvSpPr>
          <p:cNvPr id="54" name="TextBox 53"/>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55" name="TextBox 54"/>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16 / 49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03 / Integration rationale</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Why KAITO integrates with llm-d</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For teams choosing KAITO’s Kubernetes operating model—not a universal best-platform claim.</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KAITO owns deployment intent and lifecycle; llm-d supplies reusable inference routing.</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481328"/>
            <a:ext cx="2482596"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377190" y="1549908"/>
            <a:ext cx="37719" cy="6995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480060" y="1570482"/>
            <a:ext cx="2276856" cy="263149"/>
          </a:xfrm>
          <a:prstGeom prst="rect">
            <a:avLst/>
          </a:prstGeom>
          <a:noFill/>
        </p:spPr>
        <p:txBody>
          <a:bodyPr wrap="square" lIns="10287" tIns="10287" rIns="10287" bIns="10287">
            <a:spAutoFit/>
          </a:bodyPr>
          <a:lstStyle/>
          <a:p>
            <a:pPr algn="ctr">
              <a:spcAft>
                <a:spcPts val="375"/>
              </a:spcAft>
              <a:defRPr sz="2100" b="1">
                <a:solidFill>
                  <a:srgbClr val="2563EB"/>
                </a:solidFill>
                <a:latin typeface="Arial"/>
              </a:defRPr>
            </a:pPr>
            <a:r>
              <a:rPr sz="1575" cap="none">
                <a:latin typeface="Arial"/>
              </a:rPr>
              <a:t>KAITO</a:t>
            </a:r>
          </a:p>
        </p:txBody>
      </p:sp>
      <p:sp>
        <p:nvSpPr>
          <p:cNvPr id="13" name="TextBox 12"/>
          <p:cNvSpPr txBox="1"/>
          <p:nvPr/>
        </p:nvSpPr>
        <p:spPr>
          <a:xfrm>
            <a:off x="486918" y="1899667"/>
            <a:ext cx="2263140"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MRI → child InferenceSets</a:t>
            </a:r>
          </a:p>
        </p:txBody>
      </p:sp>
      <p:sp>
        <p:nvSpPr>
          <p:cNvPr id="14" name="Rounded Rectangle 13"/>
          <p:cNvSpPr/>
          <p:nvPr/>
        </p:nvSpPr>
        <p:spPr>
          <a:xfrm>
            <a:off x="3332988" y="1481328"/>
            <a:ext cx="2482596"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3332988" y="1549908"/>
            <a:ext cx="37719" cy="69951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3435858" y="1570482"/>
            <a:ext cx="2276856" cy="263149"/>
          </a:xfrm>
          <a:prstGeom prst="rect">
            <a:avLst/>
          </a:prstGeom>
          <a:noFill/>
        </p:spPr>
        <p:txBody>
          <a:bodyPr wrap="square" lIns="10287" tIns="10287" rIns="10287" bIns="10287">
            <a:spAutoFit/>
          </a:bodyPr>
          <a:lstStyle/>
          <a:p>
            <a:pPr algn="ctr">
              <a:spcAft>
                <a:spcPts val="375"/>
              </a:spcAft>
              <a:defRPr sz="2100" b="1">
                <a:solidFill>
                  <a:srgbClr val="087F8C"/>
                </a:solidFill>
                <a:latin typeface="Arial"/>
              </a:defRPr>
            </a:pPr>
            <a:r>
              <a:rPr sz="1575" cap="none">
                <a:latin typeface="Arial"/>
              </a:rPr>
              <a:t>llm-d</a:t>
            </a:r>
          </a:p>
        </p:txBody>
      </p:sp>
      <p:sp>
        <p:nvSpPr>
          <p:cNvPr id="17" name="TextBox 16"/>
          <p:cNvSpPr txBox="1"/>
          <p:nvPr/>
        </p:nvSpPr>
        <p:spPr>
          <a:xfrm>
            <a:off x="3442716" y="1899667"/>
            <a:ext cx="2263140"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EPP + decode routing sidecar</a:t>
            </a:r>
          </a:p>
        </p:txBody>
      </p:sp>
      <p:sp>
        <p:nvSpPr>
          <p:cNvPr id="18" name="Rounded Rectangle 17"/>
          <p:cNvSpPr/>
          <p:nvPr/>
        </p:nvSpPr>
        <p:spPr>
          <a:xfrm>
            <a:off x="6288786" y="1481328"/>
            <a:ext cx="2475738" cy="8366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6288786" y="1549908"/>
            <a:ext cx="37719" cy="69951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6391656" y="1570482"/>
            <a:ext cx="2269998" cy="263149"/>
          </a:xfrm>
          <a:prstGeom prst="rect">
            <a:avLst/>
          </a:prstGeom>
          <a:noFill/>
        </p:spPr>
        <p:txBody>
          <a:bodyPr wrap="square" lIns="10287" tIns="10287" rIns="10287" bIns="10287">
            <a:spAutoFit/>
          </a:bodyPr>
          <a:lstStyle/>
          <a:p>
            <a:pPr algn="ctr">
              <a:spcAft>
                <a:spcPts val="375"/>
              </a:spcAft>
              <a:defRPr sz="2100" b="1">
                <a:solidFill>
                  <a:srgbClr val="7354B8"/>
                </a:solidFill>
                <a:latin typeface="Arial"/>
              </a:defRPr>
            </a:pPr>
            <a:r>
              <a:rPr sz="1575" cap="none">
                <a:latin typeface="Arial"/>
              </a:rPr>
              <a:t>vLLM + NIXL</a:t>
            </a:r>
          </a:p>
        </p:txBody>
      </p:sp>
      <p:sp>
        <p:nvSpPr>
          <p:cNvPr id="21" name="TextBox 20"/>
          <p:cNvSpPr txBox="1"/>
          <p:nvPr/>
        </p:nvSpPr>
        <p:spPr>
          <a:xfrm>
            <a:off x="6398514" y="1899667"/>
            <a:ext cx="2256282"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Execute phases + move KV</a:t>
            </a:r>
          </a:p>
        </p:txBody>
      </p:sp>
      <p:sp>
        <p:nvSpPr>
          <p:cNvPr id="22" name="TextBox 21"/>
          <p:cNvSpPr txBox="1"/>
          <p:nvPr/>
        </p:nvSpPr>
        <p:spPr>
          <a:xfrm>
            <a:off x="2907792" y="1728216"/>
            <a:ext cx="370332" cy="320857"/>
          </a:xfrm>
          <a:prstGeom prst="rect">
            <a:avLst/>
          </a:prstGeom>
          <a:noFill/>
        </p:spPr>
        <p:txBody>
          <a:bodyPr wrap="square" lIns="10287" tIns="10287" rIns="10287" bIns="10287">
            <a:spAutoFit/>
          </a:bodyPr>
          <a:lstStyle/>
          <a:p>
            <a:pPr algn="ctr">
              <a:spcAft>
                <a:spcPts val="375"/>
              </a:spcAft>
              <a:defRPr sz="2600" b="1">
                <a:solidFill>
                  <a:srgbClr val="586A80"/>
                </a:solidFill>
                <a:latin typeface="Arial"/>
              </a:defRPr>
            </a:pPr>
            <a:r>
              <a:rPr sz="1950" cap="none">
                <a:latin typeface="Arial"/>
              </a:rPr>
              <a:t>+</a:t>
            </a:r>
          </a:p>
        </p:txBody>
      </p:sp>
      <p:sp>
        <p:nvSpPr>
          <p:cNvPr id="23" name="TextBox 22"/>
          <p:cNvSpPr txBox="1"/>
          <p:nvPr/>
        </p:nvSpPr>
        <p:spPr>
          <a:xfrm>
            <a:off x="5863590" y="1728216"/>
            <a:ext cx="370332" cy="320857"/>
          </a:xfrm>
          <a:prstGeom prst="rect">
            <a:avLst/>
          </a:prstGeom>
          <a:noFill/>
        </p:spPr>
        <p:txBody>
          <a:bodyPr wrap="square" lIns="10287" tIns="10287" rIns="10287" bIns="10287">
            <a:spAutoFit/>
          </a:bodyPr>
          <a:lstStyle/>
          <a:p>
            <a:pPr algn="ctr">
              <a:spcAft>
                <a:spcPts val="375"/>
              </a:spcAft>
              <a:defRPr sz="2600" b="1">
                <a:solidFill>
                  <a:srgbClr val="586A80"/>
                </a:solidFill>
                <a:latin typeface="Arial"/>
              </a:defRPr>
            </a:pPr>
            <a:r>
              <a:rPr sz="1950" cap="none">
                <a:latin typeface="Arial"/>
              </a:rPr>
              <a:t>+</a:t>
            </a:r>
          </a:p>
        </p:txBody>
      </p:sp>
      <p:sp>
        <p:nvSpPr>
          <p:cNvPr id="24" name="Rounded Rectangle 23"/>
          <p:cNvSpPr/>
          <p:nvPr/>
        </p:nvSpPr>
        <p:spPr>
          <a:xfrm>
            <a:off x="377190" y="2455164"/>
            <a:ext cx="2708910" cy="145389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Rectangle 24"/>
          <p:cNvSpPr/>
          <p:nvPr/>
        </p:nvSpPr>
        <p:spPr>
          <a:xfrm>
            <a:off x="500634" y="2592324"/>
            <a:ext cx="260604" cy="4457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514350" y="2729484"/>
            <a:ext cx="2434590" cy="251607"/>
          </a:xfrm>
          <a:prstGeom prst="rect">
            <a:avLst/>
          </a:prstGeom>
          <a:noFill/>
        </p:spPr>
        <p:txBody>
          <a:bodyPr wrap="square" lIns="10287" tIns="10287" rIns="10287" bIns="10287">
            <a:spAutoFit/>
          </a:bodyPr>
          <a:lstStyle/>
          <a:p>
            <a:pPr>
              <a:spcAft>
                <a:spcPts val="375"/>
              </a:spcAft>
              <a:defRPr sz="2000" b="1">
                <a:solidFill>
                  <a:srgbClr val="2563EB"/>
                </a:solidFill>
                <a:latin typeface="Arial"/>
              </a:defRPr>
            </a:pPr>
            <a:r>
              <a:rPr sz="1500" cap="none">
                <a:latin typeface="Arial"/>
              </a:rPr>
              <a:t>Reuse the API model</a:t>
            </a:r>
          </a:p>
        </p:txBody>
      </p:sp>
      <p:sp>
        <p:nvSpPr>
          <p:cNvPr id="27" name="TextBox 26"/>
          <p:cNvSpPr txBox="1"/>
          <p:nvPr/>
        </p:nvSpPr>
        <p:spPr>
          <a:xfrm>
            <a:off x="514350" y="3182112"/>
            <a:ext cx="2434590" cy="608115"/>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Keep Workspace / InferenceSet.</a:t>
            </a:r>
          </a:p>
          <a:p>
            <a:pPr>
              <a:spcAft>
                <a:spcPts val="375"/>
              </a:spcAft>
              <a:defRPr sz="1400" b="0">
                <a:solidFill>
                  <a:srgbClr val="172941"/>
                </a:solidFill>
                <a:latin typeface="Arial"/>
              </a:defRPr>
            </a:pPr>
            <a:r>
              <a:rPr sz="1050" cap="none">
                <a:latin typeface="Arial"/>
              </a:rPr>
              <a:t>Add role-specific replicas, GPU</a:t>
            </a:r>
          </a:p>
          <a:p>
            <a:pPr>
              <a:spcAft>
                <a:spcPts val="375"/>
              </a:spcAft>
              <a:defRPr sz="1400" b="0">
                <a:solidFill>
                  <a:srgbClr val="172941"/>
                </a:solidFill>
                <a:latin typeface="Arial"/>
              </a:defRPr>
            </a:pPr>
            <a:r>
              <a:rPr sz="1050" cap="none">
                <a:latin typeface="Arial"/>
              </a:rPr>
              <a:t>instance types and runtime settings.</a:t>
            </a:r>
          </a:p>
        </p:txBody>
      </p:sp>
      <p:sp>
        <p:nvSpPr>
          <p:cNvPr id="28" name="Rounded Rectangle 27"/>
          <p:cNvSpPr/>
          <p:nvPr/>
        </p:nvSpPr>
        <p:spPr>
          <a:xfrm>
            <a:off x="3216402" y="2455164"/>
            <a:ext cx="2708910" cy="145389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Rectangle 28"/>
          <p:cNvSpPr/>
          <p:nvPr/>
        </p:nvSpPr>
        <p:spPr>
          <a:xfrm>
            <a:off x="3339845" y="2592324"/>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3353562" y="2729484"/>
            <a:ext cx="2434590"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Integrate, do not rebuild</a:t>
            </a:r>
          </a:p>
        </p:txBody>
      </p:sp>
      <p:sp>
        <p:nvSpPr>
          <p:cNvPr id="31" name="TextBox 30"/>
          <p:cNvSpPr txBox="1"/>
          <p:nvPr/>
        </p:nvSpPr>
        <p:spPr>
          <a:xfrm>
            <a:off x="3353562" y="3182112"/>
            <a:ext cx="2434590" cy="608115"/>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Reuse P/D-aware endpoint selection</a:t>
            </a:r>
          </a:p>
          <a:p>
            <a:pPr>
              <a:spcAft>
                <a:spcPts val="375"/>
              </a:spcAft>
              <a:defRPr sz="1400" b="0">
                <a:solidFill>
                  <a:srgbClr val="172941"/>
                </a:solidFill>
                <a:latin typeface="Arial"/>
              </a:defRPr>
            </a:pPr>
            <a:r>
              <a:rPr sz="1050" cap="none">
                <a:latin typeface="Arial"/>
              </a:rPr>
              <a:t>and request orchestration. KAITO</a:t>
            </a:r>
          </a:p>
          <a:p>
            <a:pPr>
              <a:spcAft>
                <a:spcPts val="375"/>
              </a:spcAft>
              <a:defRPr sz="1400" b="0">
                <a:solidFill>
                  <a:srgbClr val="172941"/>
                </a:solidFill>
                <a:latin typeface="Arial"/>
              </a:defRPr>
            </a:pPr>
            <a:r>
              <a:rPr sz="1050" cap="none">
                <a:latin typeface="Arial"/>
              </a:rPr>
              <a:t>wires sidecars, ports and the pool.</a:t>
            </a:r>
          </a:p>
        </p:txBody>
      </p:sp>
      <p:sp>
        <p:nvSpPr>
          <p:cNvPr id="32" name="Rounded Rectangle 31"/>
          <p:cNvSpPr/>
          <p:nvPr/>
        </p:nvSpPr>
        <p:spPr>
          <a:xfrm>
            <a:off x="6055614" y="2455164"/>
            <a:ext cx="2708910" cy="145389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Rectangle 32"/>
          <p:cNvSpPr/>
          <p:nvPr/>
        </p:nvSpPr>
        <p:spPr>
          <a:xfrm>
            <a:off x="6179058" y="2592324"/>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TextBox 33"/>
          <p:cNvSpPr txBox="1"/>
          <p:nvPr/>
        </p:nvSpPr>
        <p:spPr>
          <a:xfrm>
            <a:off x="6192773" y="2729484"/>
            <a:ext cx="2434590"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Clear ownership</a:t>
            </a:r>
          </a:p>
        </p:txBody>
      </p:sp>
      <p:sp>
        <p:nvSpPr>
          <p:cNvPr id="35" name="TextBox 34"/>
          <p:cNvSpPr txBox="1"/>
          <p:nvPr/>
        </p:nvSpPr>
        <p:spPr>
          <a:xfrm>
            <a:off x="6192773" y="3182112"/>
            <a:ext cx="2434590" cy="608115"/>
          </a:xfrm>
          <a:prstGeom prst="rect">
            <a:avLst/>
          </a:prstGeom>
          <a:noFill/>
        </p:spPr>
        <p:txBody>
          <a:bodyPr wrap="square" lIns="10287" tIns="10287" rIns="10287" bIns="10287">
            <a:spAutoFit/>
          </a:bodyPr>
          <a:lstStyle/>
          <a:p>
            <a:pPr>
              <a:spcAft>
                <a:spcPts val="375"/>
              </a:spcAft>
              <a:defRPr sz="1400" b="0">
                <a:solidFill>
                  <a:srgbClr val="172941"/>
                </a:solidFill>
                <a:latin typeface="Arial"/>
              </a:defRPr>
            </a:pPr>
            <a:r>
              <a:rPr sz="1050" cap="none">
                <a:latin typeface="Arial"/>
              </a:rPr>
              <a:t>Use Gateway API / InferencePool.</a:t>
            </a:r>
          </a:p>
          <a:p>
            <a:pPr>
              <a:spcAft>
                <a:spcPts val="375"/>
              </a:spcAft>
              <a:defRPr sz="1400" b="0">
                <a:solidFill>
                  <a:srgbClr val="172941"/>
                </a:solidFill>
                <a:latin typeface="Arial"/>
              </a:defRPr>
            </a:pPr>
            <a:r>
              <a:rPr sz="1050" cap="none">
                <a:latin typeface="Arial"/>
              </a:rPr>
              <a:t>Keep routing plugins upstream;</a:t>
            </a:r>
          </a:p>
          <a:p>
            <a:pPr>
              <a:spcAft>
                <a:spcPts val="375"/>
              </a:spcAft>
              <a:defRPr sz="1400" b="0">
                <a:solidFill>
                  <a:srgbClr val="172941"/>
                </a:solidFill>
                <a:latin typeface="Arial"/>
              </a:defRPr>
            </a:pPr>
            <a:r>
              <a:rPr sz="1050" cap="none">
                <a:latin typeface="Arial"/>
              </a:rPr>
              <a:t>avoid adding a second serving API.</a:t>
            </a:r>
          </a:p>
        </p:txBody>
      </p:sp>
      <p:sp>
        <p:nvSpPr>
          <p:cNvPr id="36" name="TextBox 35"/>
          <p:cNvSpPr txBox="1"/>
          <p:nvPr/>
        </p:nvSpPr>
        <p:spPr>
          <a:xfrm>
            <a:off x="397764" y="3963924"/>
            <a:ext cx="8332470" cy="170816"/>
          </a:xfrm>
          <a:prstGeom prst="rect">
            <a:avLst/>
          </a:prstGeom>
          <a:noFill/>
        </p:spPr>
        <p:txBody>
          <a:bodyPr wrap="square" lIns="10287" tIns="10287" rIns="10287" bIns="10287">
            <a:spAutoFit/>
          </a:bodyPr>
          <a:lstStyle/>
          <a:p>
            <a:pPr>
              <a:spcAft>
                <a:spcPts val="375"/>
              </a:spcAft>
              <a:defRPr sz="1300" b="0">
                <a:solidFill>
                  <a:srgbClr val="586A80"/>
                </a:solidFill>
                <a:latin typeface="Arial"/>
              </a:defRPr>
            </a:pPr>
            <a:r>
              <a:rPr sz="975" cap="none">
                <a:latin typeface="Arial"/>
              </a:rPr>
              <a:t>Current scope: alpha MRI • vLLM + Istio • GPU connectivity for KV transfer • scaling policy still needs design</a:t>
            </a:r>
          </a:p>
        </p:txBody>
      </p:sp>
      <p:sp>
        <p:nvSpPr>
          <p:cNvPr id="37" name="TextBox 36"/>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8" name="TextBox 37"/>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17 / 49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Where KAITO and llm-d fit</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A focused view of the distributed inference stack—not a required bill of materials</a:t>
            </a:r>
          </a:p>
        </p:txBody>
      </p:sp>
      <p:sp>
        <p:nvSpPr>
          <p:cNvPr id="4" name="Rounded Rectangle 3"/>
          <p:cNvSpPr/>
          <p:nvPr/>
        </p:nvSpPr>
        <p:spPr>
          <a:xfrm>
            <a:off x="457200" y="1508760"/>
            <a:ext cx="8229600" cy="365760"/>
          </a:xfrm>
          <a:prstGeom prst="roundRect">
            <a:avLst/>
          </a:prstGeom>
          <a:solidFill>
            <a:srgbClr val="F4F7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72768"/>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Applications</a:t>
            </a:r>
          </a:p>
        </p:txBody>
      </p:sp>
      <p:sp>
        <p:nvSpPr>
          <p:cNvPr id="6" name="TextBox 5"/>
          <p:cNvSpPr txBox="1"/>
          <p:nvPr/>
        </p:nvSpPr>
        <p:spPr>
          <a:xfrm>
            <a:off x="2633472" y="1572768"/>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Chat, agents and enterprise services</a:t>
            </a:r>
          </a:p>
        </p:txBody>
      </p:sp>
      <p:sp>
        <p:nvSpPr>
          <p:cNvPr id="7" name="Rounded Rectangle 6"/>
          <p:cNvSpPr/>
          <p:nvPr/>
        </p:nvSpPr>
        <p:spPr>
          <a:xfrm>
            <a:off x="457200" y="1947672"/>
            <a:ext cx="8229600" cy="365760"/>
          </a:xfrm>
          <a:prstGeom prst="roundRect">
            <a:avLst/>
          </a:prstGeom>
          <a:solidFill>
            <a:srgbClr val="F4F7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11679"/>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Gateway</a:t>
            </a:r>
          </a:p>
        </p:txBody>
      </p:sp>
      <p:sp>
        <p:nvSpPr>
          <p:cNvPr id="9" name="TextBox 8"/>
          <p:cNvSpPr txBox="1"/>
          <p:nvPr/>
        </p:nvSpPr>
        <p:spPr>
          <a:xfrm>
            <a:off x="2633472" y="2011679"/>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API ingress, authentication and traffic policy</a:t>
            </a:r>
          </a:p>
        </p:txBody>
      </p:sp>
      <p:sp>
        <p:nvSpPr>
          <p:cNvPr id="10" name="Rounded Rectangle 9"/>
          <p:cNvSpPr/>
          <p:nvPr/>
        </p:nvSpPr>
        <p:spPr>
          <a:xfrm>
            <a:off x="457200" y="2386584"/>
            <a:ext cx="8229600" cy="365760"/>
          </a:xfrm>
          <a:prstGeom prst="roundRect">
            <a:avLst/>
          </a:prstGeom>
          <a:solidFill>
            <a:srgbClr val="E9EF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50591"/>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Orchestration</a:t>
            </a:r>
          </a:p>
        </p:txBody>
      </p:sp>
      <p:sp>
        <p:nvSpPr>
          <p:cNvPr id="12" name="TextBox 11"/>
          <p:cNvSpPr txBox="1"/>
          <p:nvPr/>
        </p:nvSpPr>
        <p:spPr>
          <a:xfrm>
            <a:off x="2633472" y="2450591"/>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KAITO: lifecycle  •  llm-d: endpoint selection</a:t>
            </a:r>
          </a:p>
        </p:txBody>
      </p:sp>
      <p:sp>
        <p:nvSpPr>
          <p:cNvPr id="13" name="Rounded Rectangle 12"/>
          <p:cNvSpPr/>
          <p:nvPr/>
        </p:nvSpPr>
        <p:spPr>
          <a:xfrm>
            <a:off x="457200" y="2825496"/>
            <a:ext cx="8229600" cy="365760"/>
          </a:xfrm>
          <a:prstGeom prst="roundRect">
            <a:avLst/>
          </a:prstGeom>
          <a:solidFill>
            <a:srgbClr val="F4F7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89503"/>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Runtime</a:t>
            </a:r>
          </a:p>
        </p:txBody>
      </p:sp>
      <p:sp>
        <p:nvSpPr>
          <p:cNvPr id="15" name="TextBox 14"/>
          <p:cNvSpPr txBox="1"/>
          <p:nvPr/>
        </p:nvSpPr>
        <p:spPr>
          <a:xfrm>
            <a:off x="2633472" y="2889503"/>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vLLM: prefill, decode and batching</a:t>
            </a:r>
          </a:p>
        </p:txBody>
      </p:sp>
      <p:sp>
        <p:nvSpPr>
          <p:cNvPr id="16" name="Rounded Rectangle 15"/>
          <p:cNvSpPr/>
          <p:nvPr/>
        </p:nvSpPr>
        <p:spPr>
          <a:xfrm>
            <a:off x="457200" y="3264408"/>
            <a:ext cx="8229600" cy="365760"/>
          </a:xfrm>
          <a:prstGeom prst="roundRect">
            <a:avLst/>
          </a:prstGeom>
          <a:solidFill>
            <a:srgbClr val="F4F7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28415"/>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KV state</a:t>
            </a:r>
          </a:p>
        </p:txBody>
      </p:sp>
      <p:sp>
        <p:nvSpPr>
          <p:cNvPr id="18" name="TextBox 17"/>
          <p:cNvSpPr txBox="1"/>
          <p:nvPr/>
        </p:nvSpPr>
        <p:spPr>
          <a:xfrm>
            <a:off x="2633472" y="3328415"/>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NIXL: transfer  •  cache systems: reuse and offload</a:t>
            </a:r>
          </a:p>
        </p:txBody>
      </p:sp>
      <p:sp>
        <p:nvSpPr>
          <p:cNvPr id="19" name="Rounded Rectangle 18"/>
          <p:cNvSpPr/>
          <p:nvPr/>
        </p:nvSpPr>
        <p:spPr>
          <a:xfrm>
            <a:off x="457200" y="3703320"/>
            <a:ext cx="8229600" cy="365760"/>
          </a:xfrm>
          <a:prstGeom prst="roundRect">
            <a:avLst/>
          </a:prstGeom>
          <a:solidFill>
            <a:srgbClr val="F4F7FB"/>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67328"/>
            <a:ext cx="1874519" cy="256032"/>
          </a:xfrm>
          <a:prstGeom prst="rect">
            <a:avLst/>
          </a:prstGeom>
          <a:noFill/>
        </p:spPr>
        <p:txBody>
          <a:bodyPr wrap="square" lIns="0" rIns="0" tIns="0" bIns="0">
            <a:spAutoFit/>
          </a:bodyPr>
          <a:lstStyle/>
          <a:p>
            <a:pPr>
              <a:spcAft>
                <a:spcPts val="500"/>
              </a:spcAft>
              <a:defRPr sz="1300" b="1">
                <a:solidFill>
                  <a:srgbClr val="346CEC"/>
                </a:solidFill>
                <a:latin typeface="Arial"/>
              </a:defRPr>
            </a:pPr>
            <a:r>
              <a:rPr cap="none"/>
              <a:t>Infrastructure</a:t>
            </a:r>
          </a:p>
        </p:txBody>
      </p:sp>
      <p:sp>
        <p:nvSpPr>
          <p:cNvPr id="21" name="TextBox 20"/>
          <p:cNvSpPr txBox="1"/>
          <p:nvPr/>
        </p:nvSpPr>
        <p:spPr>
          <a:xfrm>
            <a:off x="2633472" y="3767328"/>
            <a:ext cx="5852160" cy="256032"/>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Kubernetes, GPUs, networking and storage</a:t>
            </a:r>
          </a:p>
        </p:txBody>
      </p:sp>
      <p:sp>
        <p:nvSpPr>
          <p:cNvPr id="22" name="Rounded Rectangle 21"/>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This talk focuses on role topology, request routing, KV transfer and capacity control.</a:t>
            </a:r>
          </a:p>
        </p:txBody>
      </p:sp>
      <p:sp>
        <p:nvSpPr>
          <p:cNvPr id="24" name="TextBox 23"/>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5" name="TextBox 24"/>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18 / 49</a:t>
            </a:r>
          </a:p>
        </p:txBody>
      </p:sp>
    </p:spTree>
    <p:extLst>
      <p:ext uri="{BB962C8B-B14F-4D97-AF65-F5344CB8AC3E}">
        <p14:creationId xmlns:p14="http://schemas.microsoft.com/office/powerpoint/2010/main" val="3627209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A800-8BD1-8108-8288-34A444BB010E}"/>
            </a:ext>
          </a:extLst>
        </p:cNvPr>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llm-d: composable distributed inference</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Reuse the serving stack; add Kubernetes-native coordination</a:t>
            </a:r>
          </a:p>
        </p:txBody>
      </p:sp>
      <p:sp>
        <p:nvSpPr>
          <p:cNvPr id="4" name="Rounded Rectangle 3"/>
          <p:cNvSpPr/>
          <p:nvPr/>
        </p:nvSpPr>
        <p:spPr>
          <a:xfrm>
            <a:off x="411480" y="1691640"/>
            <a:ext cx="2743200" cy="233172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847088"/>
            <a:ext cx="2414016"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Operate</a:t>
            </a:r>
          </a:p>
        </p:txBody>
      </p:sp>
      <p:sp>
        <p:nvSpPr>
          <p:cNvPr id="6" name="TextBox 5"/>
          <p:cNvSpPr txBox="1"/>
          <p:nvPr/>
        </p:nvSpPr>
        <p:spPr>
          <a:xfrm>
            <a:off x="576072" y="2322576"/>
            <a:ext cx="2414016" cy="1600199"/>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Modular components</a:t>
            </a:r>
          </a:p>
          <a:p>
            <a:pPr>
              <a:spcAft>
                <a:spcPts val="500"/>
              </a:spcAft>
              <a:defRPr sz="1500" b="0">
                <a:solidFill>
                  <a:srgbClr val="142C46"/>
                </a:solidFill>
                <a:latin typeface="Arial"/>
              </a:defRPr>
            </a:pPr>
            <a:r>
              <a:rPr cap="none"/>
              <a:t>Kubernetes integration</a:t>
            </a:r>
          </a:p>
          <a:p>
            <a:pPr>
              <a:spcAft>
                <a:spcPts val="500"/>
              </a:spcAft>
              <a:defRPr sz="1500" b="0">
                <a:solidFill>
                  <a:srgbClr val="142C46"/>
                </a:solidFill>
                <a:latin typeface="Arial"/>
              </a:defRPr>
            </a:pPr>
            <a:r>
              <a:rPr cap="none"/>
              <a:t>Clear failure boundaries</a:t>
            </a:r>
          </a:p>
        </p:txBody>
      </p:sp>
      <p:sp>
        <p:nvSpPr>
          <p:cNvPr id="7" name="Rounded Rectangle 6"/>
          <p:cNvSpPr/>
          <p:nvPr/>
        </p:nvSpPr>
        <p:spPr>
          <a:xfrm>
            <a:off x="3246120" y="1691640"/>
            <a:ext cx="2743200" cy="233172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0712" y="1847088"/>
            <a:ext cx="2414016"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Compose</a:t>
            </a:r>
          </a:p>
        </p:txBody>
      </p:sp>
      <p:sp>
        <p:nvSpPr>
          <p:cNvPr id="9" name="TextBox 8"/>
          <p:cNvSpPr txBox="1"/>
          <p:nvPr/>
        </p:nvSpPr>
        <p:spPr>
          <a:xfrm>
            <a:off x="3410712" y="2322576"/>
            <a:ext cx="2414016" cy="1600199"/>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Gateway integration</a:t>
            </a:r>
          </a:p>
          <a:p>
            <a:pPr>
              <a:spcAft>
                <a:spcPts val="500"/>
              </a:spcAft>
              <a:defRPr sz="1500" b="0">
                <a:solidFill>
                  <a:srgbClr val="142C46"/>
                </a:solidFill>
                <a:latin typeface="Arial"/>
              </a:defRPr>
            </a:pPr>
            <a:r>
              <a:rPr cap="none"/>
              <a:t>Extensible routing</a:t>
            </a:r>
          </a:p>
          <a:p>
            <a:pPr>
              <a:spcAft>
                <a:spcPts val="500"/>
              </a:spcAft>
              <a:defRPr sz="1500" b="0">
                <a:solidFill>
                  <a:srgbClr val="142C46"/>
                </a:solidFill>
                <a:latin typeface="Arial"/>
              </a:defRPr>
            </a:pPr>
            <a:r>
              <a:rPr cap="none"/>
              <a:t>Runtime and KV interfaces</a:t>
            </a:r>
          </a:p>
        </p:txBody>
      </p:sp>
      <p:sp>
        <p:nvSpPr>
          <p:cNvPr id="10" name="Rounded Rectangle 9"/>
          <p:cNvSpPr/>
          <p:nvPr/>
        </p:nvSpPr>
        <p:spPr>
          <a:xfrm>
            <a:off x="6080760" y="1691640"/>
            <a:ext cx="2743200" cy="233172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847088"/>
            <a:ext cx="2414016"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Deploy</a:t>
            </a:r>
          </a:p>
        </p:txBody>
      </p:sp>
      <p:sp>
        <p:nvSpPr>
          <p:cNvPr id="12" name="TextBox 11"/>
          <p:cNvSpPr txBox="1"/>
          <p:nvPr/>
        </p:nvSpPr>
        <p:spPr>
          <a:xfrm>
            <a:off x="6245352" y="2322576"/>
            <a:ext cx="2414016" cy="1600199"/>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Tested reference paths</a:t>
            </a:r>
          </a:p>
          <a:p>
            <a:pPr>
              <a:spcAft>
                <a:spcPts val="500"/>
              </a:spcAft>
              <a:defRPr sz="1500" b="0">
                <a:solidFill>
                  <a:srgbClr val="142C46"/>
                </a:solidFill>
                <a:latin typeface="Arial"/>
              </a:defRPr>
            </a:pPr>
            <a:r>
              <a:rPr cap="none"/>
              <a:t>Explicit trade-offs</a:t>
            </a:r>
          </a:p>
          <a:p>
            <a:pPr>
              <a:spcAft>
                <a:spcPts val="500"/>
              </a:spcAft>
              <a:defRPr sz="1500" b="0">
                <a:solidFill>
                  <a:srgbClr val="142C46"/>
                </a:solidFill>
                <a:latin typeface="Arial"/>
              </a:defRPr>
            </a:pPr>
            <a:r>
              <a:rPr cap="none"/>
              <a:t>Workload-specific tuning</a:t>
            </a:r>
          </a:p>
        </p:txBody>
      </p:sp>
      <p:sp>
        <p:nvSpPr>
          <p:cNvPr id="13" name="Rounded Rectangle 12"/>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llm-d composes gateways, runtimes and transport; it does not replace them all.</a:t>
            </a:r>
          </a:p>
        </p:txBody>
      </p:sp>
      <p:sp>
        <p:nvSpPr>
          <p:cNvPr id="15" name="TextBox 1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6" name="TextBox 1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19 / 49</a:t>
            </a:r>
          </a:p>
        </p:txBody>
      </p:sp>
    </p:spTree>
    <p:extLst>
      <p:ext uri="{BB962C8B-B14F-4D97-AF65-F5344CB8AC3E}">
        <p14:creationId xmlns:p14="http://schemas.microsoft.com/office/powerpoint/2010/main" val="1246562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llm-d capabilities relevant to this talk</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Architecture building blocks—not benchmark guarantees</a:t>
            </a:r>
          </a:p>
        </p:txBody>
      </p:sp>
      <p:sp>
        <p:nvSpPr>
          <p:cNvPr id="4" name="Rounded Rectangle 3"/>
          <p:cNvSpPr/>
          <p:nvPr/>
        </p:nvSpPr>
        <p:spPr>
          <a:xfrm>
            <a:off x="411480" y="1508760"/>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664207"/>
            <a:ext cx="3767328"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Distributed execution</a:t>
            </a:r>
          </a:p>
        </p:txBody>
      </p:sp>
      <p:sp>
        <p:nvSpPr>
          <p:cNvPr id="6" name="TextBox 5"/>
          <p:cNvSpPr txBox="1"/>
          <p:nvPr/>
        </p:nvSpPr>
        <p:spPr>
          <a:xfrm>
            <a:off x="576072" y="2139696"/>
            <a:ext cx="3767328" cy="502920"/>
          </a:xfrm>
          <a:prstGeom prst="rect">
            <a:avLst/>
          </a:prstGeom>
          <a:noFill/>
        </p:spPr>
        <p:txBody>
          <a:bodyPr wrap="square" lIns="0" rIns="0" tIns="0" bIns="0">
            <a:spAutoFit/>
          </a:bodyPr>
          <a:lstStyle/>
          <a:p>
            <a:pPr>
              <a:spcAft>
                <a:spcPts val="500"/>
              </a:spcAft>
              <a:defRPr sz="1200" b="0">
                <a:solidFill>
                  <a:srgbClr val="142C46"/>
                </a:solidFill>
                <a:latin typeface="Arial"/>
              </a:defRPr>
            </a:pPr>
            <a:r>
              <a:rPr cap="none"/>
              <a:t>Expert parallelism and communication strategies for large models.</a:t>
            </a:r>
          </a:p>
        </p:txBody>
      </p:sp>
      <p:sp>
        <p:nvSpPr>
          <p:cNvPr id="7" name="Rounded Rectangle 6"/>
          <p:cNvSpPr/>
          <p:nvPr/>
        </p:nvSpPr>
        <p:spPr>
          <a:xfrm>
            <a:off x="4636008" y="1508760"/>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664207"/>
            <a:ext cx="3767328"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Prefill/decode separation</a:t>
            </a:r>
          </a:p>
        </p:txBody>
      </p:sp>
      <p:sp>
        <p:nvSpPr>
          <p:cNvPr id="9" name="TextBox 8"/>
          <p:cNvSpPr txBox="1"/>
          <p:nvPr/>
        </p:nvSpPr>
        <p:spPr>
          <a:xfrm>
            <a:off x="4800600" y="2139696"/>
            <a:ext cx="3767328" cy="502920"/>
          </a:xfrm>
          <a:prstGeom prst="rect">
            <a:avLst/>
          </a:prstGeom>
          <a:noFill/>
        </p:spPr>
        <p:txBody>
          <a:bodyPr wrap="square" lIns="0" rIns="0" tIns="0" bIns="0">
            <a:spAutoFit/>
          </a:bodyPr>
          <a:lstStyle/>
          <a:p>
            <a:pPr>
              <a:spcAft>
                <a:spcPts val="500"/>
              </a:spcAft>
              <a:defRPr sz="1200" b="0">
                <a:solidFill>
                  <a:srgbClr val="142C46"/>
                </a:solidFill>
                <a:latin typeface="Arial"/>
              </a:defRPr>
            </a:pPr>
            <a:r>
              <a:rPr cap="none"/>
              <a:t>Different placement, batching and capacity choices for each phase.</a:t>
            </a:r>
          </a:p>
        </p:txBody>
      </p:sp>
      <p:sp>
        <p:nvSpPr>
          <p:cNvPr id="10" name="Rounded Rectangle 9"/>
          <p:cNvSpPr/>
          <p:nvPr/>
        </p:nvSpPr>
        <p:spPr>
          <a:xfrm>
            <a:off x="411480" y="2862072"/>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3017520"/>
            <a:ext cx="3767328"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State-aware scheduling</a:t>
            </a:r>
          </a:p>
        </p:txBody>
      </p:sp>
      <p:sp>
        <p:nvSpPr>
          <p:cNvPr id="12" name="TextBox 11"/>
          <p:cNvSpPr txBox="1"/>
          <p:nvPr/>
        </p:nvSpPr>
        <p:spPr>
          <a:xfrm>
            <a:off x="576072" y="3493008"/>
            <a:ext cx="3767328" cy="502920"/>
          </a:xfrm>
          <a:prstGeom prst="rect">
            <a:avLst/>
          </a:prstGeom>
          <a:noFill/>
        </p:spPr>
        <p:txBody>
          <a:bodyPr wrap="square" lIns="0" rIns="0" tIns="0" bIns="0">
            <a:spAutoFit/>
          </a:bodyPr>
          <a:lstStyle/>
          <a:p>
            <a:pPr>
              <a:spcAft>
                <a:spcPts val="500"/>
              </a:spcAft>
              <a:defRPr sz="1200" b="0">
                <a:solidFill>
                  <a:srgbClr val="142C46"/>
                </a:solidFill>
                <a:latin typeface="Arial"/>
              </a:defRPr>
            </a:pPr>
            <a:r>
              <a:rPr cap="none"/>
              <a:t>Route with cache locality and runtime load in mind.</a:t>
            </a:r>
          </a:p>
        </p:txBody>
      </p:sp>
      <p:sp>
        <p:nvSpPr>
          <p:cNvPr id="13" name="Rounded Rectangle 12"/>
          <p:cNvSpPr/>
          <p:nvPr/>
        </p:nvSpPr>
        <p:spPr>
          <a:xfrm>
            <a:off x="4636008" y="2862072"/>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017520"/>
            <a:ext cx="3767328"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Capacity control</a:t>
            </a:r>
          </a:p>
        </p:txBody>
      </p:sp>
      <p:sp>
        <p:nvSpPr>
          <p:cNvPr id="15" name="TextBox 14"/>
          <p:cNvSpPr txBox="1"/>
          <p:nvPr/>
        </p:nvSpPr>
        <p:spPr>
          <a:xfrm>
            <a:off x="4800600" y="3493008"/>
            <a:ext cx="3767328" cy="502920"/>
          </a:xfrm>
          <a:prstGeom prst="rect">
            <a:avLst/>
          </a:prstGeom>
          <a:noFill/>
        </p:spPr>
        <p:txBody>
          <a:bodyPr wrap="square" lIns="0" rIns="0" tIns="0" bIns="0">
            <a:spAutoFit/>
          </a:bodyPr>
          <a:lstStyle/>
          <a:p>
            <a:pPr>
              <a:spcAft>
                <a:spcPts val="500"/>
              </a:spcAft>
              <a:defRPr sz="1200" b="0">
                <a:solidFill>
                  <a:srgbClr val="142C46"/>
                </a:solidFill>
                <a:latin typeface="Arial"/>
              </a:defRPr>
            </a:pPr>
            <a:r>
              <a:rPr cap="none"/>
              <a:t>Use workload signals and latency objectives to guide scaling.</a:t>
            </a:r>
          </a:p>
        </p:txBody>
      </p:sp>
      <p:sp>
        <p:nvSpPr>
          <p:cNvPr id="16" name="Rounded Rectangle 15"/>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Results depend on model, hardware, traffic and SLOs. Validate your own workload.</a:t>
            </a:r>
          </a:p>
        </p:txBody>
      </p:sp>
      <p:sp>
        <p:nvSpPr>
          <p:cNvPr id="18" name="TextBox 17"/>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9" name="TextBox 18"/>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20 / 49</a:t>
            </a:r>
          </a:p>
        </p:txBody>
      </p:sp>
    </p:spTree>
    <p:extLst>
      <p:ext uri="{BB962C8B-B14F-4D97-AF65-F5344CB8AC3E}">
        <p14:creationId xmlns:p14="http://schemas.microsoft.com/office/powerpoint/2010/main" val="1046456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llm-d “well-lit paths”</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Tested deployment patterns that make important trade-offs explicit</a:t>
            </a:r>
          </a:p>
        </p:txBody>
      </p:sp>
      <p:sp>
        <p:nvSpPr>
          <p:cNvPr id="4" name="Rounded Rectangle 3"/>
          <p:cNvSpPr/>
          <p:nvPr/>
        </p:nvSpPr>
        <p:spPr>
          <a:xfrm>
            <a:off x="411480" y="1554480"/>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709928"/>
            <a:ext cx="3767328"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Intelligent scheduling</a:t>
            </a:r>
          </a:p>
        </p:txBody>
      </p:sp>
      <p:sp>
        <p:nvSpPr>
          <p:cNvPr id="6" name="TextBox 5"/>
          <p:cNvSpPr txBox="1"/>
          <p:nvPr/>
        </p:nvSpPr>
        <p:spPr>
          <a:xfrm>
            <a:off x="576072" y="2185415"/>
            <a:ext cx="3767328" cy="502920"/>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Where should this request run?</a:t>
            </a:r>
          </a:p>
        </p:txBody>
      </p:sp>
      <p:sp>
        <p:nvSpPr>
          <p:cNvPr id="7" name="Rounded Rectangle 6"/>
          <p:cNvSpPr/>
          <p:nvPr/>
        </p:nvSpPr>
        <p:spPr>
          <a:xfrm>
            <a:off x="4636008" y="1554480"/>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600" y="1709928"/>
            <a:ext cx="3767328"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KV cache management</a:t>
            </a:r>
          </a:p>
        </p:txBody>
      </p:sp>
      <p:sp>
        <p:nvSpPr>
          <p:cNvPr id="9" name="TextBox 8"/>
          <p:cNvSpPr txBox="1"/>
          <p:nvPr/>
        </p:nvSpPr>
        <p:spPr>
          <a:xfrm>
            <a:off x="4800600" y="2185415"/>
            <a:ext cx="3767328" cy="502920"/>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Where should reusable state live?</a:t>
            </a:r>
          </a:p>
        </p:txBody>
      </p:sp>
      <p:sp>
        <p:nvSpPr>
          <p:cNvPr id="10" name="Rounded Rectangle 9"/>
          <p:cNvSpPr/>
          <p:nvPr/>
        </p:nvSpPr>
        <p:spPr>
          <a:xfrm>
            <a:off x="411480" y="2907791"/>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3063239"/>
            <a:ext cx="3767328"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Wide expert parallelism</a:t>
            </a:r>
          </a:p>
        </p:txBody>
      </p:sp>
      <p:sp>
        <p:nvSpPr>
          <p:cNvPr id="12" name="TextBox 11"/>
          <p:cNvSpPr txBox="1"/>
          <p:nvPr/>
        </p:nvSpPr>
        <p:spPr>
          <a:xfrm>
            <a:off x="576072" y="3538727"/>
            <a:ext cx="3767328" cy="502920"/>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How should a large MoE model execute?</a:t>
            </a:r>
          </a:p>
        </p:txBody>
      </p:sp>
      <p:sp>
        <p:nvSpPr>
          <p:cNvPr id="13" name="Rounded Rectangle 12"/>
          <p:cNvSpPr/>
          <p:nvPr/>
        </p:nvSpPr>
        <p:spPr>
          <a:xfrm>
            <a:off x="4636008" y="2907791"/>
            <a:ext cx="4096512" cy="123444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063239"/>
            <a:ext cx="3767328"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P/D disaggregation</a:t>
            </a:r>
          </a:p>
        </p:txBody>
      </p:sp>
      <p:sp>
        <p:nvSpPr>
          <p:cNvPr id="15" name="TextBox 14"/>
          <p:cNvSpPr txBox="1"/>
          <p:nvPr/>
        </p:nvSpPr>
        <p:spPr>
          <a:xfrm>
            <a:off x="4800600" y="3538727"/>
            <a:ext cx="3767328" cy="502920"/>
          </a:xfrm>
          <a:prstGeom prst="rect">
            <a:avLst/>
          </a:prstGeom>
          <a:noFill/>
        </p:spPr>
        <p:txBody>
          <a:bodyPr wrap="square" lIns="0" rIns="0" tIns="0" bIns="0">
            <a:spAutoFit/>
          </a:bodyPr>
          <a:lstStyle/>
          <a:p>
            <a:pPr>
              <a:spcAft>
                <a:spcPts val="500"/>
              </a:spcAft>
              <a:defRPr sz="1300" b="0">
                <a:solidFill>
                  <a:srgbClr val="142C46"/>
                </a:solidFill>
                <a:latin typeface="Arial"/>
              </a:defRPr>
            </a:pPr>
            <a:r>
              <a:rPr cap="none"/>
              <a:t>How should prompt and generation capacity differ?</a:t>
            </a:r>
          </a:p>
        </p:txBody>
      </p:sp>
      <p:sp>
        <p:nvSpPr>
          <p:cNvPr id="16" name="TextBox 15"/>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7" name="TextBox 16"/>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21 / 49</a:t>
            </a:r>
          </a:p>
        </p:txBody>
      </p:sp>
    </p:spTree>
    <p:extLst>
      <p:ext uri="{BB962C8B-B14F-4D97-AF65-F5344CB8AC3E}">
        <p14:creationId xmlns:p14="http://schemas.microsoft.com/office/powerpoint/2010/main" val="1881137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03ED3-9B6B-3BAB-0E83-FF6DAA5EE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52F12-066A-5C71-350D-F3B31BAA9F87}"/>
              </a:ext>
            </a:extLst>
          </p:cNvPr>
          <p:cNvSpPr>
            <a:spLocks noGrp="1"/>
          </p:cNvSpPr>
          <p:nvPr>
            <p:ph type="title" idx="4294967295"/>
          </p:nvPr>
        </p:nvSpPr>
        <p:spPr>
          <a:xfrm>
            <a:off x="365760" y="539496"/>
            <a:ext cx="8412480" cy="420624"/>
          </a:xfrm>
        </p:spPr>
        <p:txBody>
          <a:bodyPr lIns="0" rIns="0" tIns="0" bIns="0" wrap="none">
            <a:normAutofit/>
          </a:bodyPr>
          <a:lstStyle/>
          <a:p>
            <a:r>
              <a:rPr lang="en-US" dirty="0" cap="none" sz="2100" b="1">
                <a:solidFill>
                  <a:srgbClr val="142C46"/>
                </a:solidFill>
                <a:latin typeface="Arial"/>
              </a:rPr>
              <a:t>What is KAITO?</a:t>
            </a:r>
          </a:p>
        </p:txBody>
      </p:sp>
      <p:pic>
        <p:nvPicPr>
          <p:cNvPr id="4" name="Picture 3" descr="KAITO architecture">
            <a:extLst>
              <a:ext uri="{FF2B5EF4-FFF2-40B4-BE49-F238E27FC236}">
                <a16:creationId xmlns:a16="http://schemas.microsoft.com/office/drawing/2014/main" id="{5B1CC189-03AF-A169-CA62-02B380D43C23}"/>
              </a:ext>
            </a:extLst>
          </p:cNvPr>
          <p:cNvPicPr>
            <a:picLocks noChangeAspect="1"/>
          </p:cNvPicPr>
          <p:nvPr/>
        </p:nvPicPr>
        <p:blipFill>
          <a:blip r:embed="rId3"/>
          <a:stretch>
            <a:fillRect/>
          </a:stretch>
        </p:blipFill>
        <p:spPr>
          <a:xfrm>
            <a:off x="666749" y="1579675"/>
            <a:ext cx="5455961" cy="2890200"/>
          </a:xfrm>
          <a:prstGeom prst="rect">
            <a:avLst/>
          </a:prstGeom>
        </p:spPr>
      </p:pic>
      <p:sp>
        <p:nvSpPr>
          <p:cNvPr id="10" name="TextBox Subtitle"/>
          <p:cNvSpPr txBox="1"/>
          <p:nvPr/>
        </p:nvSpPr>
        <p:spPr>
          <a:xfrm>
            <a:off x="384048" y="1033271"/>
            <a:ext cx="8321040" cy="329184"/>
          </a:xfrm>
          <a:prstGeom prst="rect">
            <a:avLst/>
          </a:prstGeom>
          <a:noFill/>
        </p:spPr>
        <p:txBody>
          <a:bodyPr wrap="square" rtlCol="0">
            <a:normAutofit/>
          </a:bodyPr>
          <a:lstStyle/>
          <a:p>
            <a:r>
              <a:rPr lang="en-US" sz="1200" b="1" dirty="0" cap="none">
                <a:solidFill>
                  <a:srgbClr val="52677D"/>
                </a:solidFill>
                <a:latin typeface="Arial"/>
              </a:rPr>
              <a:t>An operator suite that automates LLM inference, fine-tuning &amp; RAG on Kubernetes.</a:t>
            </a:r>
          </a:p>
        </p:txBody>
      </p:sp>
      <p:sp>
        <p:nvSpPr>
          <p:cNvPr id="11" name="Key Differentiators"/>
          <p:cNvSpPr/>
          <p:nvPr/>
        </p:nvSpPr>
        <p:spPr>
          <a:xfrm>
            <a:off x="6019500" y="2184839"/>
            <a:ext cx="2812800" cy="2285036"/>
          </a:xfrm>
          <a:prstGeom prst="roundRect">
            <a:avLst/>
          </a:prstGeom>
          <a:solidFill>
            <a:schemeClr val="bg1">
              <a:lumMod val="95000"/>
            </a:schemeClr>
          </a:solidFill>
          <a:ln w="12700">
            <a:solidFill>
              <a:schemeClr val="accent2"/>
            </a:solidFill>
          </a:ln>
        </p:spPr>
        <p:txBody>
          <a:bodyPr rtlCol="0" anchor="t">
            <a:normAutofit fontScale="92500" lnSpcReduction="10000"/>
          </a:bodyPr>
          <a:lstStyle/>
          <a:p>
            <a:r>
              <a:rPr lang="en-US" sz="1300" b="1" dirty="0" cap="none">
                <a:solidFill>
                  <a:srgbClr val="142C46"/>
                </a:solidFill>
                <a:latin typeface="Arial"/>
              </a:rPr>
              <a:t>Model and GPU selection</a:t>
            </a:r>
            <a:br/>
            <a:r>
              <a:rPr cap="none" sz="1300">
                <a:solidFill>
                  <a:srgbClr val="142C46"/>
                </a:solidFill>
                <a:latin typeface="Arial"/>
              </a:rPr>
              <a:t>Node provisioning from model memory needs</a:t>
            </a:r>
            <a:br/>
            <a:r>
              <a:rPr cap="none" sz="1300">
                <a:solidFill>
                  <a:srgbClr val="142C46"/>
                </a:solidFill>
                <a:latin typeface="Arial"/>
              </a:rPr>
              <a:t>Model onboarding and local caching</a:t>
            </a:r>
            <a:br/>
            <a:r>
              <a:rPr cap="none" sz="1300">
                <a:solidFill>
                  <a:srgbClr val="142C46"/>
                </a:solidFill>
                <a:latin typeface="Arial"/>
              </a:rPr>
              <a:t>InferenceSet lifecycle and rolling upgrades</a:t>
            </a:r>
            <a:br/>
            <a:r>
              <a:rPr cap="none" sz="1300">
                <a:solidFill>
                  <a:srgbClr val="142C46"/>
                </a:solidFill>
                <a:latin typeface="Arial"/>
              </a:rPr>
              <a:t>KEDA-based workload scaling</a:t>
            </a:r>
          </a:p>
        </p:txBody>
      </p:sp>
      <p:sp>
        <p:nvSpPr>
          <p:cNvPr id="12" name="TextBox 1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3" name="TextBox 1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22 / 49</a:t>
            </a:r>
          </a:p>
        </p:txBody>
      </p:sp>
    </p:spTree>
    <p:extLst>
      <p:ext uri="{BB962C8B-B14F-4D97-AF65-F5344CB8AC3E}">
        <p14:creationId xmlns:p14="http://schemas.microsoft.com/office/powerpoint/2010/main" val="2621213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CCD9-1F69-9D7B-F431-AD30EC2D4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86216-B473-FF36-1629-FC035EACB0F0}"/>
              </a:ext>
            </a:extLst>
          </p:cNvPr>
          <p:cNvSpPr>
            <a:spLocks noGrp="1"/>
          </p:cNvSpPr>
          <p:nvPr>
            <p:ph type="title" idx="4294967295"/>
          </p:nvPr>
        </p:nvSpPr>
        <p:spPr>
          <a:xfrm>
            <a:off x="365760" y="539496"/>
            <a:ext cx="8412480" cy="420624"/>
          </a:xfrm>
        </p:spPr>
        <p:txBody>
          <a:bodyPr lIns="0" rIns="0" tIns="0" bIns="0" wrap="none">
            <a:normAutofit/>
          </a:bodyPr>
          <a:lstStyle/>
          <a:p>
            <a:r>
              <a:rPr lang="en-US" dirty="0" cap="none" sz="2100" b="1">
                <a:solidFill>
                  <a:srgbClr val="142C46"/>
                </a:solidFill>
                <a:latin typeface="Arial"/>
              </a:rPr>
              <a:t>KAITO workload example</a:t>
            </a:r>
          </a:p>
        </p:txBody>
      </p:sp>
      <p:sp>
        <p:nvSpPr>
          <p:cNvPr id="10" name="Caption"/>
          <p:cNvSpPr txBox="1"/>
          <p:nvPr/>
        </p:nvSpPr>
        <p:spPr>
          <a:xfrm>
            <a:off x="384048" y="1033271"/>
            <a:ext cx="8321040" cy="329184"/>
          </a:xfrm>
          <a:prstGeom prst="rect">
            <a:avLst/>
          </a:prstGeom>
          <a:noFill/>
        </p:spPr>
        <p:txBody>
          <a:bodyPr wrap="square" rtlCol="0">
            <a:normAutofit/>
          </a:bodyPr>
          <a:lstStyle/>
          <a:p>
            <a:r>
              <a:rPr lang="en-US" sz="1200" b="1" dirty="0" cap="none">
                <a:solidFill>
                  <a:srgbClr val="52677D"/>
                </a:solidFill>
                <a:latin typeface="Arial"/>
              </a:rPr>
              <a:t>Declare a model, GPU instance type and replica count</a:t>
            </a:r>
          </a:p>
        </p:txBody>
      </p:sp>
      <p:sp>
        <p:nvSpPr>
          <p:cNvPr id="11" name="InferenceSet YAML"/>
          <p:cNvSpPr txBox="1"/>
          <p:nvPr/>
        </p:nvSpPr>
        <p:spPr>
          <a:xfrm>
            <a:off x="457200" y="1400000"/>
            <a:ext cx="8434388" cy="3467275"/>
          </a:xfrm>
          <a:prstGeom prst="rect">
            <a:avLst/>
          </a:prstGeom>
          <a:solidFill>
            <a:schemeClr val="bg1">
              <a:lumMod val="95000"/>
            </a:schemeClr>
          </a:solidFill>
          <a:ln w="9525">
            <a:solidFill>
              <a:srgbClr val="D0D0D0"/>
            </a:solidFill>
          </a:ln>
        </p:spPr>
        <p:txBody>
          <a:bodyPr wrap="square" lIns="91440" tIns="45720" rIns="91440" bIns="45720" rtlCol="0">
            <a:normAutofit/>
          </a:bodyPr>
          <a:lstStyle/>
          <a:p>
            <a:r>
              <a:rPr lang="en-US" sz="1200" dirty="0" cap="none">
                <a:solidFill>
                  <a:srgbClr val="142C46"/>
                </a:solidFill>
                <a:latin typeface="Consolas" panose="020B0609020204030204" pitchFamily="49" charset="0"/>
              </a:rPr>
              <a:t>apiVersion: kaito.sh/v1beta1</a:t>
            </a:r>
            <a:br/>
            <a:r>
              <a:rPr cap="none" sz="1200">
                <a:solidFill>
                  <a:srgbClr val="142C46"/>
                </a:solidFill>
                <a:latin typeface="Consolas"/>
              </a:rPr>
              <a:t>kind: InferenceSet</a:t>
            </a:r>
            <a:br/>
            <a:r>
              <a:rPr cap="none" sz="1200">
                <a:solidFill>
                  <a:srgbClr val="142C46"/>
                </a:solidFill>
                <a:latin typeface="Consolas"/>
              </a:rPr>
              <a:t>metadata:</a:t>
            </a:r>
            <a:br/>
            <a:r>
              <a:rPr cap="none" sz="1200">
                <a:solidFill>
                  <a:srgbClr val="142C46"/>
                </a:solidFill>
                <a:latin typeface="Consolas"/>
              </a:rPr>
              <a:t>  name: qwen3-coder-30b</a:t>
            </a:r>
            <a:br/>
            <a:r>
              <a:rPr cap="none" sz="1200">
                <a:solidFill>
                  <a:srgbClr val="142C46"/>
                </a:solidFill>
                <a:latin typeface="Consolas"/>
              </a:rPr>
              <a:t>spec:</a:t>
            </a:r>
            <a:br/>
            <a:r>
              <a:rPr cap="none" sz="1200">
                <a:solidFill>
                  <a:srgbClr val="142C46"/>
                </a:solidFill>
                <a:latin typeface="Consolas"/>
              </a:rPr>
              <a:t>  replicas: 3</a:t>
            </a:r>
            <a:br/>
            <a:r>
              <a:rPr cap="none" sz="1200">
                <a:solidFill>
                  <a:srgbClr val="142C46"/>
                </a:solidFill>
                <a:latin typeface="Consolas"/>
              </a:rPr>
              <a:t>  labelSelector:</a:t>
            </a:r>
            <a:br/>
            <a:r>
              <a:rPr cap="none" sz="1200">
                <a:solidFill>
                  <a:srgbClr val="142C46"/>
                </a:solidFill>
                <a:latin typeface="Consolas"/>
              </a:rPr>
              <a:t>    matchLabels:</a:t>
            </a:r>
            <a:br/>
            <a:r>
              <a:rPr cap="none" sz="1200">
                <a:solidFill>
                  <a:srgbClr val="142C46"/>
                </a:solidFill>
                <a:latin typeface="Consolas"/>
              </a:rPr>
              <a:t>      app: qwen3-coder-30b</a:t>
            </a:r>
            <a:br/>
            <a:r>
              <a:rPr cap="none" sz="1200">
                <a:solidFill>
                  <a:srgbClr val="142C46"/>
                </a:solidFill>
                <a:latin typeface="Consolas"/>
              </a:rPr>
              <a:t>  template:</a:t>
            </a:r>
            <a:br/>
            <a:r>
              <a:rPr cap="none" sz="1200">
                <a:solidFill>
                  <a:srgbClr val="142C46"/>
                </a:solidFill>
                <a:latin typeface="Consolas"/>
              </a:rPr>
              <a:t>    resource:</a:t>
            </a:r>
            <a:br/>
            <a:r>
              <a:rPr cap="none" sz="1200">
                <a:solidFill>
                  <a:srgbClr val="142C46"/>
                </a:solidFill>
                <a:latin typeface="Consolas"/>
              </a:rPr>
              <a:t>      instanceType: Standard_NC24ads_A100_v4   # &lt;- GPU SKU</a:t>
            </a:r>
            <a:br/>
            <a:r>
              <a:rPr cap="none" sz="1200">
                <a:solidFill>
                  <a:srgbClr val="142C46"/>
                </a:solidFill>
                <a:latin typeface="Consolas"/>
              </a:rPr>
              <a:t>    inference:</a:t>
            </a:r>
            <a:br/>
            <a:r>
              <a:rPr cap="none" sz="1200">
                <a:solidFill>
                  <a:srgbClr val="142C46"/>
                </a:solidFill>
                <a:latin typeface="Consolas"/>
              </a:rPr>
              <a:t>      preset:</a:t>
            </a:r>
            <a:br/>
            <a:r>
              <a:rPr cap="none" sz="1200">
                <a:solidFill>
                  <a:srgbClr val="142C46"/>
                </a:solidFill>
                <a:latin typeface="Consolas"/>
              </a:rPr>
              <a:t>        name: Qwen/Qwen3-Coder-30B-A3B-Instruct  # model</a:t>
            </a:r>
          </a:p>
        </p:txBody>
      </p:sp>
      <p:sp>
        <p:nvSpPr>
          <p:cNvPr id="12" name="TextBox 1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3" name="TextBox 1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23 / 49</a:t>
            </a:r>
          </a:p>
        </p:txBody>
      </p:sp>
    </p:spTree>
    <p:extLst>
      <p:ext uri="{BB962C8B-B14F-4D97-AF65-F5344CB8AC3E}">
        <p14:creationId xmlns:p14="http://schemas.microsoft.com/office/powerpoint/2010/main" val="1730466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How KAITO estimates GPU node count</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Model size, context length and GPU memory determine the initial capacity</a:t>
            </a:r>
          </a:p>
        </p:txBody>
      </p:sp>
      <p:sp>
        <p:nvSpPr>
          <p:cNvPr id="4" name="Rounded Rectangle 3"/>
          <p:cNvSpPr/>
          <p:nvPr/>
        </p:nvSpPr>
        <p:spPr>
          <a:xfrm>
            <a:off x="411480" y="1572768"/>
            <a:ext cx="2578608" cy="2304288"/>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728216"/>
            <a:ext cx="2249424"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1  Memory budget</a:t>
            </a:r>
          </a:p>
        </p:txBody>
      </p:sp>
      <p:sp>
        <p:nvSpPr>
          <p:cNvPr id="6" name="TextBox 5"/>
          <p:cNvSpPr txBox="1"/>
          <p:nvPr/>
        </p:nvSpPr>
        <p:spPr>
          <a:xfrm>
            <a:off x="576072" y="2203704"/>
            <a:ext cx="2249424" cy="1572768"/>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Start with GPU memory.</a:t>
            </a:r>
          </a:p>
          <a:p>
            <a:pPr>
              <a:spcAft>
                <a:spcPts val="500"/>
              </a:spcAft>
              <a:defRPr sz="1500" b="0">
                <a:solidFill>
                  <a:srgbClr val="142C46"/>
                </a:solidFill>
                <a:latin typeface="Arial"/>
              </a:defRPr>
            </a:pPr>
            <a:r>
              <a:rPr cap="none"/>
              <a:t>Reserve runtime overhead</a:t>
            </a:r>
          </a:p>
          <a:p>
            <a:pPr>
              <a:spcAft>
                <a:spcPts val="500"/>
              </a:spcAft>
              <a:defRPr sz="1500" b="0">
                <a:solidFill>
                  <a:srgbClr val="142C46"/>
                </a:solidFill>
                <a:latin typeface="Arial"/>
              </a:defRPr>
            </a:pPr>
            <a:r>
              <a:rPr cap="none"/>
              <a:t>and space for KV cache.</a:t>
            </a:r>
          </a:p>
        </p:txBody>
      </p:sp>
      <p:sp>
        <p:nvSpPr>
          <p:cNvPr id="7" name="Rounded Rectangle 6"/>
          <p:cNvSpPr/>
          <p:nvPr/>
        </p:nvSpPr>
        <p:spPr>
          <a:xfrm>
            <a:off x="3282696" y="1572768"/>
            <a:ext cx="2578608" cy="2304288"/>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7288" y="1728216"/>
            <a:ext cx="2249424"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2  GPU count</a:t>
            </a:r>
          </a:p>
        </p:txBody>
      </p:sp>
      <p:sp>
        <p:nvSpPr>
          <p:cNvPr id="9" name="TextBox 8"/>
          <p:cNvSpPr txBox="1"/>
          <p:nvPr/>
        </p:nvSpPr>
        <p:spPr>
          <a:xfrm>
            <a:off x="3447288" y="2203704"/>
            <a:ext cx="2249424" cy="1572768"/>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Fit model weights into</a:t>
            </a:r>
          </a:p>
          <a:p>
            <a:pPr>
              <a:spcAft>
                <a:spcPts val="500"/>
              </a:spcAft>
              <a:defRPr sz="1500" b="0">
                <a:solidFill>
                  <a:srgbClr val="142C46"/>
                </a:solidFill>
                <a:latin typeface="Arial"/>
              </a:defRPr>
            </a:pPr>
            <a:r>
              <a:rPr cap="none"/>
              <a:t>the usable memory.</a:t>
            </a:r>
          </a:p>
          <a:p>
            <a:pPr>
              <a:spcAft>
                <a:spcPts val="500"/>
              </a:spcAft>
              <a:defRPr sz="1500" b="0">
                <a:solidFill>
                  <a:srgbClr val="142C46"/>
                </a:solidFill>
                <a:latin typeface="Arial"/>
              </a:defRPr>
            </a:pPr>
            <a:r>
              <a:rPr cap="none"/>
              <a:t>Account for parallelism.</a:t>
            </a:r>
          </a:p>
        </p:txBody>
      </p:sp>
      <p:sp>
        <p:nvSpPr>
          <p:cNvPr id="10" name="Rounded Rectangle 9"/>
          <p:cNvSpPr/>
          <p:nvPr/>
        </p:nvSpPr>
        <p:spPr>
          <a:xfrm>
            <a:off x="6153912" y="1572768"/>
            <a:ext cx="2578608" cy="2304288"/>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728216"/>
            <a:ext cx="2249424"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3  Node count</a:t>
            </a:r>
          </a:p>
        </p:txBody>
      </p:sp>
      <p:sp>
        <p:nvSpPr>
          <p:cNvPr id="12" name="TextBox 11"/>
          <p:cNvSpPr txBox="1"/>
          <p:nvPr/>
        </p:nvSpPr>
        <p:spPr>
          <a:xfrm>
            <a:off x="6318504" y="2203704"/>
            <a:ext cx="2249424" cy="1572768"/>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Map required GPUs to</a:t>
            </a:r>
          </a:p>
          <a:p>
            <a:pPr>
              <a:spcAft>
                <a:spcPts val="500"/>
              </a:spcAft>
              <a:defRPr sz="1500" b="0">
                <a:solidFill>
                  <a:srgbClr val="142C46"/>
                </a:solidFill>
                <a:latin typeface="Arial"/>
              </a:defRPr>
            </a:pPr>
            <a:r>
              <a:rPr cap="none"/>
              <a:t>GPUs per node.</a:t>
            </a:r>
          </a:p>
          <a:p>
            <a:pPr>
              <a:spcAft>
                <a:spcPts val="500"/>
              </a:spcAft>
              <a:defRPr sz="1500" b="0">
                <a:solidFill>
                  <a:srgbClr val="142C46"/>
                </a:solidFill>
                <a:latin typeface="Arial"/>
              </a:defRPr>
            </a:pPr>
            <a:r>
              <a:rPr cap="none"/>
              <a:t>Reconcile the workload.</a:t>
            </a:r>
          </a:p>
        </p:txBody>
      </p:sp>
      <p:sp>
        <p:nvSpPr>
          <p:cNvPr id="13" name="Rounded Rectangle 12"/>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The sizing formula and safety margins depend on the KAITO and runtime version.</a:t>
            </a:r>
          </a:p>
        </p:txBody>
      </p:sp>
      <p:sp>
        <p:nvSpPr>
          <p:cNvPr id="15" name="TextBox 1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6" name="TextBox 1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24 / 49</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KAITO + llm-d: one service, two roles</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Declare the topology once; separate orchestration from execution</a:t>
            </a:r>
          </a:p>
        </p:txBody>
      </p:sp>
      <p:sp>
        <p:nvSpPr>
          <p:cNvPr id="4" name="Rounded Rectangle 3"/>
          <p:cNvSpPr/>
          <p:nvPr/>
        </p:nvSpPr>
        <p:spPr>
          <a:xfrm>
            <a:off x="411480" y="1645920"/>
            <a:ext cx="3703320" cy="2331720"/>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801368"/>
            <a:ext cx="3374136"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One declarative topology</a:t>
            </a:r>
          </a:p>
        </p:txBody>
      </p:sp>
      <p:sp>
        <p:nvSpPr>
          <p:cNvPr id="6" name="TextBox 5"/>
          <p:cNvSpPr txBox="1"/>
          <p:nvPr/>
        </p:nvSpPr>
        <p:spPr>
          <a:xfrm>
            <a:off x="576072" y="2276856"/>
            <a:ext cx="3374136" cy="1600199"/>
          </a:xfrm>
          <a:prstGeom prst="rect">
            <a:avLst/>
          </a:prstGeom>
          <a:noFill/>
        </p:spPr>
        <p:txBody>
          <a:bodyPr wrap="square" lIns="0" rIns="0" tIns="0" bIns="0">
            <a:spAutoFit/>
          </a:bodyPr>
          <a:lstStyle/>
          <a:p>
            <a:pPr>
              <a:spcAft>
                <a:spcPts val="500"/>
              </a:spcAft>
              <a:defRPr sz="1600" b="0">
                <a:solidFill>
                  <a:srgbClr val="142C46"/>
                </a:solidFill>
                <a:latin typeface="Arial"/>
              </a:defRPr>
            </a:pPr>
            <a:r>
              <a:rPr cap="none"/>
              <a:t>One model and endpoint</a:t>
            </a:r>
          </a:p>
          <a:p>
            <a:pPr>
              <a:spcAft>
                <a:spcPts val="500"/>
              </a:spcAft>
              <a:defRPr sz="1600" b="0">
                <a:solidFill>
                  <a:srgbClr val="142C46"/>
                </a:solidFill>
                <a:latin typeface="Arial"/>
              </a:defRPr>
            </a:pPr>
            <a:r>
              <a:rPr cap="none"/>
              <a:t>Independent prefill and decode roles</a:t>
            </a:r>
          </a:p>
          <a:p>
            <a:pPr>
              <a:spcAft>
                <a:spcPts val="500"/>
              </a:spcAft>
              <a:defRPr sz="1600" b="0">
                <a:solidFill>
                  <a:srgbClr val="142C46"/>
                </a:solidFill>
                <a:latin typeface="Arial"/>
              </a:defRPr>
            </a:pPr>
            <a:r>
              <a:rPr cap="none"/>
              <a:t>Role-specific placement and replicas</a:t>
            </a:r>
          </a:p>
        </p:txBody>
      </p:sp>
      <p:sp>
        <p:nvSpPr>
          <p:cNvPr id="7" name="Rounded Rectangle 6"/>
          <p:cNvSpPr/>
          <p:nvPr/>
        </p:nvSpPr>
        <p:spPr>
          <a:xfrm>
            <a:off x="4434840" y="1554480"/>
            <a:ext cx="4279392" cy="53949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1609344"/>
            <a:ext cx="3931920" cy="210312"/>
          </a:xfrm>
          <a:prstGeom prst="rect">
            <a:avLst/>
          </a:prstGeom>
          <a:noFill/>
        </p:spPr>
        <p:txBody>
          <a:bodyPr wrap="square" lIns="0" rIns="0" tIns="0" bIns="0">
            <a:spAutoFit/>
          </a:bodyPr>
          <a:lstStyle/>
          <a:p>
            <a:pPr>
              <a:spcAft>
                <a:spcPts val="500"/>
              </a:spcAft>
              <a:defRPr sz="1300" b="1">
                <a:solidFill>
                  <a:srgbClr val="168C96"/>
                </a:solidFill>
                <a:latin typeface="Arial"/>
              </a:defRPr>
            </a:pPr>
            <a:r>
              <a:rPr cap="none"/>
              <a:t>KAITO</a:t>
            </a:r>
          </a:p>
        </p:txBody>
      </p:sp>
      <p:sp>
        <p:nvSpPr>
          <p:cNvPr id="9" name="TextBox 8"/>
          <p:cNvSpPr txBox="1"/>
          <p:nvPr/>
        </p:nvSpPr>
        <p:spPr>
          <a:xfrm>
            <a:off x="4590288" y="1847088"/>
            <a:ext cx="3931920" cy="192024"/>
          </a:xfrm>
          <a:prstGeom prst="rect">
            <a:avLst/>
          </a:prstGeom>
          <a:noFill/>
        </p:spPr>
        <p:txBody>
          <a:bodyPr wrap="square" lIns="0" rIns="0" tIns="0" bIns="0">
            <a:spAutoFit/>
          </a:bodyPr>
          <a:lstStyle/>
          <a:p>
            <a:pPr>
              <a:spcAft>
                <a:spcPts val="500"/>
              </a:spcAft>
              <a:defRPr sz="1100" b="0">
                <a:solidFill>
                  <a:srgbClr val="142C46"/>
                </a:solidFill>
                <a:latin typeface="Arial"/>
              </a:defRPr>
            </a:pPr>
            <a:r>
              <a:rPr cap="none"/>
              <a:t>MultiRoleInference and lifecycle</a:t>
            </a:r>
          </a:p>
        </p:txBody>
      </p:sp>
      <p:sp>
        <p:nvSpPr>
          <p:cNvPr id="10" name="Rounded Rectangle 9"/>
          <p:cNvSpPr/>
          <p:nvPr/>
        </p:nvSpPr>
        <p:spPr>
          <a:xfrm>
            <a:off x="4434840" y="2212848"/>
            <a:ext cx="4279392" cy="53949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267712"/>
            <a:ext cx="3931920" cy="210312"/>
          </a:xfrm>
          <a:prstGeom prst="rect">
            <a:avLst/>
          </a:prstGeom>
          <a:noFill/>
        </p:spPr>
        <p:txBody>
          <a:bodyPr wrap="square" lIns="0" rIns="0" tIns="0" bIns="0">
            <a:spAutoFit/>
          </a:bodyPr>
          <a:lstStyle/>
          <a:p>
            <a:pPr>
              <a:spcAft>
                <a:spcPts val="500"/>
              </a:spcAft>
              <a:defRPr sz="1300" b="1">
                <a:solidFill>
                  <a:srgbClr val="168C96"/>
                </a:solidFill>
                <a:latin typeface="Arial"/>
              </a:defRPr>
            </a:pPr>
            <a:r>
              <a:rPr cap="none"/>
              <a:t>Gateway integration</a:t>
            </a:r>
          </a:p>
        </p:txBody>
      </p:sp>
      <p:sp>
        <p:nvSpPr>
          <p:cNvPr id="12" name="TextBox 11"/>
          <p:cNvSpPr txBox="1"/>
          <p:nvPr/>
        </p:nvSpPr>
        <p:spPr>
          <a:xfrm>
            <a:off x="4590288" y="2505456"/>
            <a:ext cx="3931920" cy="192024"/>
          </a:xfrm>
          <a:prstGeom prst="rect">
            <a:avLst/>
          </a:prstGeom>
          <a:noFill/>
        </p:spPr>
        <p:txBody>
          <a:bodyPr wrap="square" lIns="0" rIns="0" tIns="0" bIns="0">
            <a:spAutoFit/>
          </a:bodyPr>
          <a:lstStyle/>
          <a:p>
            <a:pPr>
              <a:spcAft>
                <a:spcPts val="500"/>
              </a:spcAft>
              <a:defRPr sz="1100" b="0">
                <a:solidFill>
                  <a:srgbClr val="142C46"/>
                </a:solidFill>
                <a:latin typeface="Arial"/>
              </a:defRPr>
            </a:pPr>
            <a:r>
              <a:rPr cap="none"/>
              <a:t>InferencePool contract</a:t>
            </a:r>
          </a:p>
        </p:txBody>
      </p:sp>
      <p:sp>
        <p:nvSpPr>
          <p:cNvPr id="13" name="Rounded Rectangle 12"/>
          <p:cNvSpPr/>
          <p:nvPr/>
        </p:nvSpPr>
        <p:spPr>
          <a:xfrm>
            <a:off x="4434840" y="2871215"/>
            <a:ext cx="4279392" cy="53949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926079"/>
            <a:ext cx="3931920" cy="210312"/>
          </a:xfrm>
          <a:prstGeom prst="rect">
            <a:avLst/>
          </a:prstGeom>
          <a:noFill/>
        </p:spPr>
        <p:txBody>
          <a:bodyPr wrap="square" lIns="0" rIns="0" tIns="0" bIns="0">
            <a:spAutoFit/>
          </a:bodyPr>
          <a:lstStyle/>
          <a:p>
            <a:pPr>
              <a:spcAft>
                <a:spcPts val="500"/>
              </a:spcAft>
              <a:defRPr sz="1300" b="1">
                <a:solidFill>
                  <a:srgbClr val="168C96"/>
                </a:solidFill>
                <a:latin typeface="Arial"/>
              </a:defRPr>
            </a:pPr>
            <a:r>
              <a:rPr cap="none"/>
              <a:t>llm-d</a:t>
            </a:r>
          </a:p>
        </p:txBody>
      </p:sp>
      <p:sp>
        <p:nvSpPr>
          <p:cNvPr id="15" name="TextBox 14"/>
          <p:cNvSpPr txBox="1"/>
          <p:nvPr/>
        </p:nvSpPr>
        <p:spPr>
          <a:xfrm>
            <a:off x="4590288" y="3163823"/>
            <a:ext cx="3931920" cy="192024"/>
          </a:xfrm>
          <a:prstGeom prst="rect">
            <a:avLst/>
          </a:prstGeom>
          <a:noFill/>
        </p:spPr>
        <p:txBody>
          <a:bodyPr wrap="square" lIns="0" rIns="0" tIns="0" bIns="0">
            <a:spAutoFit/>
          </a:bodyPr>
          <a:lstStyle/>
          <a:p>
            <a:pPr>
              <a:spcAft>
                <a:spcPts val="500"/>
              </a:spcAft>
              <a:defRPr sz="1100" b="0">
                <a:solidFill>
                  <a:srgbClr val="142C46"/>
                </a:solidFill>
                <a:latin typeface="Arial"/>
              </a:defRPr>
            </a:pPr>
            <a:r>
              <a:rPr cap="none"/>
              <a:t>Endpoint selection and sidecar</a:t>
            </a:r>
          </a:p>
        </p:txBody>
      </p:sp>
      <p:sp>
        <p:nvSpPr>
          <p:cNvPr id="16" name="Rounded Rectangle 15"/>
          <p:cNvSpPr/>
          <p:nvPr/>
        </p:nvSpPr>
        <p:spPr>
          <a:xfrm>
            <a:off x="4434840" y="3529584"/>
            <a:ext cx="4279392" cy="53949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3584448"/>
            <a:ext cx="3931920" cy="210312"/>
          </a:xfrm>
          <a:prstGeom prst="rect">
            <a:avLst/>
          </a:prstGeom>
          <a:noFill/>
        </p:spPr>
        <p:txBody>
          <a:bodyPr wrap="square" lIns="0" rIns="0" tIns="0" bIns="0">
            <a:spAutoFit/>
          </a:bodyPr>
          <a:lstStyle/>
          <a:p>
            <a:pPr>
              <a:spcAft>
                <a:spcPts val="500"/>
              </a:spcAft>
              <a:defRPr sz="1300" b="1">
                <a:solidFill>
                  <a:srgbClr val="168C96"/>
                </a:solidFill>
                <a:latin typeface="Arial"/>
              </a:defRPr>
            </a:pPr>
            <a:r>
              <a:rPr cap="none"/>
              <a:t>vLLM + NIXL</a:t>
            </a:r>
          </a:p>
        </p:txBody>
      </p:sp>
      <p:sp>
        <p:nvSpPr>
          <p:cNvPr id="18" name="TextBox 17"/>
          <p:cNvSpPr txBox="1"/>
          <p:nvPr/>
        </p:nvSpPr>
        <p:spPr>
          <a:xfrm>
            <a:off x="4590288" y="3822192"/>
            <a:ext cx="3931920" cy="192024"/>
          </a:xfrm>
          <a:prstGeom prst="rect">
            <a:avLst/>
          </a:prstGeom>
          <a:noFill/>
        </p:spPr>
        <p:txBody>
          <a:bodyPr wrap="square" lIns="0" rIns="0" tIns="0" bIns="0">
            <a:spAutoFit/>
          </a:bodyPr>
          <a:lstStyle/>
          <a:p>
            <a:pPr>
              <a:spcAft>
                <a:spcPts val="500"/>
              </a:spcAft>
              <a:defRPr sz="1100" b="0">
                <a:solidFill>
                  <a:srgbClr val="142C46"/>
                </a:solidFill>
                <a:latin typeface="Arial"/>
              </a:defRPr>
            </a:pPr>
            <a:r>
              <a:rPr cap="none"/>
              <a:t>Execution and direct KV transfer</a:t>
            </a:r>
          </a:p>
        </p:txBody>
      </p:sp>
      <p:sp>
        <p:nvSpPr>
          <p:cNvPr id="19" name="Rounded Rectangle 18"/>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Declare topology → select workers → coordinate the request → transfer KV directly.</a:t>
            </a:r>
          </a:p>
        </p:txBody>
      </p:sp>
      <p:sp>
        <p:nvSpPr>
          <p:cNvPr id="21" name="TextBox 20"/>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2" name="TextBox 21"/>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25 / 49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ROUTING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ROUTING  /  KAITO + llm-d</a:t>
            </a:r>
          </a:p>
        </p:txBody>
      </p:sp>
      <p:sp>
        <p:nvSpPr>
          <p:cNvPr id="4" name="llm-d Router brings role-aware decisions"/>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llm-d Router brings role-aware decisions</a:t>
            </a:r>
          </a:p>
        </p:txBody>
      </p:sp>
      <p:sp>
        <p:nvSpPr>
          <p:cNvPr id="5" name="The Endpoint Picker selects workers; the serving path executes the decision."/>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The Endpoint Picker selects workers; the serving path executes the decision.</a:t>
            </a:r>
          </a:p>
        </p:txBody>
      </p:sp>
      <p:sp>
        <p:nvSpPr>
          <p:cNvPr id="8" name="Panel 7"/>
          <p:cNvSpPr/>
          <p:nvPr/>
        </p:nvSpPr>
        <p:spPr>
          <a:xfrm>
            <a:off x="411480" y="1357884"/>
            <a:ext cx="8318754" cy="1179576"/>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Gateway"/>
          <p:cNvSpPr/>
          <p:nvPr/>
        </p:nvSpPr>
        <p:spPr>
          <a:xfrm>
            <a:off x="617220" y="1591056"/>
            <a:ext cx="1440180" cy="706374"/>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800" b="1">
                <a:solidFill>
                  <a:srgbClr val="2463D4"/>
                </a:solidFill>
                <a:latin typeface="Arial"/>
              </a:defRPr>
            </a:pPr>
            <a:r>
              <a:rPr sz="1350" cap="none">
                <a:latin typeface="Arial"/>
              </a:rPr>
              <a:t>Gateway</a:t>
            </a:r>
          </a:p>
          <a:p>
            <a:pPr algn="ctr">
              <a:spcBef>
                <a:spcPts val="225"/>
              </a:spcBef>
              <a:defRPr sz="1200" b="0">
                <a:solidFill>
                  <a:srgbClr val="5B6E80"/>
                </a:solidFill>
                <a:latin typeface="Arial"/>
              </a:defRPr>
            </a:pPr>
            <a:r>
              <a:rPr sz="900" cap="none">
                <a:latin typeface="Arial"/>
              </a:rPr>
              <a:t>GWIE integration</a:t>
            </a:r>
          </a:p>
        </p:txBody>
      </p:sp>
      <p:sp>
        <p:nvSpPr>
          <p:cNvPr id="10" name="llm-d Router EPP"/>
          <p:cNvSpPr/>
          <p:nvPr/>
        </p:nvSpPr>
        <p:spPr>
          <a:xfrm>
            <a:off x="2811779" y="1536192"/>
            <a:ext cx="2263140" cy="809244"/>
          </a:xfrm>
          <a:prstGeom prst="roundRect">
            <a:avLst>
              <a:gd name="adj" fmla="val 12000"/>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2000" b="1">
                <a:solidFill>
                  <a:srgbClr val="7150C8"/>
                </a:solidFill>
                <a:latin typeface="Arial"/>
              </a:defRPr>
            </a:pPr>
            <a:r>
              <a:rPr sz="1500" cap="none">
                <a:latin typeface="Arial"/>
              </a:rPr>
              <a:t>llm-d Router EPP</a:t>
            </a:r>
          </a:p>
          <a:p>
            <a:pPr algn="ctr">
              <a:spcBef>
                <a:spcPts val="225"/>
              </a:spcBef>
              <a:defRPr sz="1200" b="0">
                <a:solidFill>
                  <a:srgbClr val="5B6E80"/>
                </a:solidFill>
                <a:latin typeface="Arial"/>
              </a:defRPr>
            </a:pPr>
            <a:r>
              <a:rPr sz="900" cap="none">
                <a:latin typeface="Arial"/>
              </a:rPr>
              <a:t>Endpoint selection + plugin chain</a:t>
            </a:r>
          </a:p>
        </p:txBody>
      </p:sp>
      <p:sp>
        <p:nvSpPr>
          <p:cNvPr id="11" name="Selected workers"/>
          <p:cNvSpPr/>
          <p:nvPr/>
        </p:nvSpPr>
        <p:spPr>
          <a:xfrm>
            <a:off x="5829300" y="1536192"/>
            <a:ext cx="2606040" cy="809244"/>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2000" b="1">
                <a:solidFill>
                  <a:srgbClr val="087F82"/>
                </a:solidFill>
                <a:latin typeface="Arial"/>
              </a:defRPr>
            </a:pPr>
            <a:r>
              <a:rPr sz="1500" cap="none">
                <a:latin typeface="Arial"/>
              </a:rPr>
              <a:t>Selected workers</a:t>
            </a:r>
          </a:p>
          <a:p>
            <a:pPr algn="ctr">
              <a:spcBef>
                <a:spcPts val="225"/>
              </a:spcBef>
              <a:defRPr sz="1200" b="0">
                <a:solidFill>
                  <a:srgbClr val="5B6E80"/>
                </a:solidFill>
                <a:latin typeface="Arial"/>
              </a:defRPr>
            </a:pPr>
            <a:r>
              <a:rPr sz="900" cap="none">
                <a:latin typeface="Arial"/>
              </a:rPr>
              <a:t>Decode + optional prefill</a:t>
            </a:r>
          </a:p>
        </p:txBody>
      </p:sp>
      <p:cxnSp>
        <p:nvCxnSpPr>
          <p:cNvPr id="12" name="Gateway → llm-d Router EPP"/>
          <p:cNvCxnSpPr>
            <a:stCxn id="9" idx="3"/>
            <a:endCxn id="10" idx="1"/>
          </p:cNvCxnSpPr>
          <p:nvPr/>
        </p:nvCxnSpPr>
        <p:spPr>
          <a:xfrm flipV="1">
            <a:off x="2057401" y="1940814"/>
            <a:ext cx="754379" cy="3429"/>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llm-d Router EPP → Selected workers"/>
          <p:cNvCxnSpPr>
            <a:stCxn id="10" idx="3"/>
            <a:endCxn id="11" idx="1"/>
          </p:cNvCxnSpPr>
          <p:nvPr/>
        </p:nvCxnSpPr>
        <p:spPr>
          <a:xfrm flipV="1">
            <a:off x="5074920" y="1940814"/>
            <a:ext cx="754381" cy="0"/>
          </a:xfrm>
          <a:prstGeom prst="line">
            <a:avLst/>
          </a:prstGeom>
          <a:ln w="22860">
            <a:solidFill>
              <a:srgbClr val="7150C8"/>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pick request"/>
          <p:cNvSpPr txBox="1"/>
          <p:nvPr/>
        </p:nvSpPr>
        <p:spPr>
          <a:xfrm>
            <a:off x="2057400" y="1385316"/>
            <a:ext cx="822960" cy="137160"/>
          </a:xfrm>
          <a:prstGeom prst="rect">
            <a:avLst/>
          </a:prstGeom>
          <a:noFill/>
        </p:spPr>
        <p:txBody>
          <a:bodyPr wrap="square" lIns="0" tIns="0" rIns="0" bIns="0" anchor="t">
            <a:noAutofit/>
          </a:bodyPr>
          <a:lstStyle/>
          <a:p>
            <a:pPr algn="ctr">
              <a:spcAft>
                <a:spcPts val="150"/>
              </a:spcAft>
              <a:defRPr sz="1000" b="0">
                <a:solidFill>
                  <a:srgbClr val="5B6E80"/>
                </a:solidFill>
                <a:latin typeface="Arial"/>
              </a:defRPr>
            </a:pPr>
            <a:r>
              <a:rPr sz="750" cap="none">
                <a:latin typeface="Arial"/>
              </a:rPr>
              <a:t>pick request</a:t>
            </a:r>
          </a:p>
        </p:txBody>
      </p:sp>
      <p:sp>
        <p:nvSpPr>
          <p:cNvPr id="15" name="decision"/>
          <p:cNvSpPr txBox="1"/>
          <p:nvPr/>
        </p:nvSpPr>
        <p:spPr>
          <a:xfrm>
            <a:off x="5109210" y="1385316"/>
            <a:ext cx="822960" cy="137160"/>
          </a:xfrm>
          <a:prstGeom prst="rect">
            <a:avLst/>
          </a:prstGeom>
          <a:noFill/>
        </p:spPr>
        <p:txBody>
          <a:bodyPr wrap="square" lIns="0" tIns="0" rIns="0" bIns="0" anchor="t">
            <a:noAutofit/>
          </a:bodyPr>
          <a:lstStyle/>
          <a:p>
            <a:pPr algn="ctr">
              <a:spcAft>
                <a:spcPts val="150"/>
              </a:spcAft>
              <a:defRPr sz="1000" b="0">
                <a:solidFill>
                  <a:srgbClr val="5B6E80"/>
                </a:solidFill>
                <a:latin typeface="Arial"/>
              </a:defRPr>
            </a:pPr>
            <a:r>
              <a:rPr sz="750" cap="none">
                <a:latin typeface="Arial"/>
              </a:rPr>
              <a:t>decision</a:t>
            </a:r>
          </a:p>
        </p:txBody>
      </p:sp>
      <p:sp>
        <p:nvSpPr>
          <p:cNvPr id="16" name="Step 01"/>
          <p:cNvSpPr/>
          <p:nvPr/>
        </p:nvSpPr>
        <p:spPr>
          <a:xfrm>
            <a:off x="548640" y="2866644"/>
            <a:ext cx="198882" cy="198882"/>
          </a:xfrm>
          <a:prstGeom prst="ellipse">
            <a:avLst/>
          </a:prstGeom>
          <a:solidFill>
            <a:srgbClr val="2463D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FFFFFF"/>
                </a:solidFill>
                <a:latin typeface="Arial"/>
              </a:defRPr>
            </a:pPr>
            <a:r>
              <a:rPr sz="750" cap="none">
                <a:latin typeface="Arial"/>
              </a:rPr>
              <a:t>01</a:t>
            </a:r>
          </a:p>
        </p:txBody>
      </p:sp>
      <p:sp>
        <p:nvSpPr>
          <p:cNvPr id="17" name="Select by role"/>
          <p:cNvSpPr txBox="1"/>
          <p:nvPr/>
        </p:nvSpPr>
        <p:spPr>
          <a:xfrm>
            <a:off x="836676" y="2846070"/>
            <a:ext cx="2180844" cy="253746"/>
          </a:xfrm>
          <a:prstGeom prst="rect">
            <a:avLst/>
          </a:prstGeom>
          <a:noFill/>
        </p:spPr>
        <p:txBody>
          <a:bodyPr wrap="square" lIns="0" tIns="0" rIns="0" bIns="0" anchor="t">
            <a:noAutofit/>
          </a:bodyPr>
          <a:lstStyle/>
          <a:p>
            <a:pPr>
              <a:spcAft>
                <a:spcPts val="300"/>
              </a:spcAft>
              <a:defRPr sz="1800" b="1">
                <a:solidFill>
                  <a:srgbClr val="10243A"/>
                </a:solidFill>
                <a:latin typeface="Arial"/>
              </a:defRPr>
            </a:pPr>
            <a:r>
              <a:rPr sz="1350" cap="none">
                <a:latin typeface="Arial"/>
              </a:rPr>
              <a:t>Select by role</a:t>
            </a:r>
          </a:p>
        </p:txBody>
      </p:sp>
      <p:sp>
        <p:nvSpPr>
          <p:cNvPr id="18" name="Model-aware selection / across prefill and decode."/>
          <p:cNvSpPr txBox="1"/>
          <p:nvPr/>
        </p:nvSpPr>
        <p:spPr>
          <a:xfrm>
            <a:off x="836676" y="3182112"/>
            <a:ext cx="2180844" cy="672084"/>
          </a:xfrm>
          <a:prstGeom prst="rect">
            <a:avLst/>
          </a:prstGeom>
          <a:noFill/>
        </p:spPr>
        <p:txBody>
          <a:bodyPr wrap="square" lIns="0" tIns="0" rIns="0" bIns="0" anchor="t">
            <a:noAutofit/>
          </a:bodyPr>
          <a:lstStyle/>
          <a:p>
            <a:pPr>
              <a:spcAft>
                <a:spcPts val="150"/>
              </a:spcAft>
              <a:defRPr sz="1600" b="0">
                <a:solidFill>
                  <a:srgbClr val="5B6E80"/>
                </a:solidFill>
                <a:latin typeface="Arial"/>
              </a:defRPr>
            </a:pPr>
            <a:r>
              <a:rPr sz="1200" cap="none">
                <a:latin typeface="Arial"/>
              </a:rPr>
              <a:t>Model-aware selection</a:t>
            </a:r>
          </a:p>
          <a:p>
            <a:pPr>
              <a:spcAft>
                <a:spcPts val="150"/>
              </a:spcAft>
              <a:defRPr sz="1600" b="0">
                <a:solidFill>
                  <a:srgbClr val="5B6E80"/>
                </a:solidFill>
                <a:latin typeface="Arial"/>
              </a:defRPr>
            </a:pPr>
            <a:r>
              <a:rPr sz="1200" cap="none">
                <a:latin typeface="Arial"/>
              </a:rPr>
              <a:t>across prefill and decode.</a:t>
            </a:r>
          </a:p>
        </p:txBody>
      </p:sp>
      <p:sp>
        <p:nvSpPr>
          <p:cNvPr id="19" name="Step 02"/>
          <p:cNvSpPr/>
          <p:nvPr/>
        </p:nvSpPr>
        <p:spPr>
          <a:xfrm>
            <a:off x="3394710" y="2866644"/>
            <a:ext cx="198882" cy="198882"/>
          </a:xfrm>
          <a:prstGeom prst="ellipse">
            <a:avLst/>
          </a:prstGeom>
          <a:solidFill>
            <a:srgbClr val="7150C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FFFFFF"/>
                </a:solidFill>
                <a:latin typeface="Arial"/>
              </a:defRPr>
            </a:pPr>
            <a:r>
              <a:rPr sz="750" cap="none">
                <a:latin typeface="Arial"/>
              </a:rPr>
              <a:t>02</a:t>
            </a:r>
          </a:p>
        </p:txBody>
      </p:sp>
      <p:sp>
        <p:nvSpPr>
          <p:cNvPr id="20" name="Compose plugins"/>
          <p:cNvSpPr txBox="1"/>
          <p:nvPr/>
        </p:nvSpPr>
        <p:spPr>
          <a:xfrm>
            <a:off x="3682746" y="2846070"/>
            <a:ext cx="2180844" cy="253746"/>
          </a:xfrm>
          <a:prstGeom prst="rect">
            <a:avLst/>
          </a:prstGeom>
          <a:noFill/>
        </p:spPr>
        <p:txBody>
          <a:bodyPr wrap="square" lIns="0" tIns="0" rIns="0" bIns="0" anchor="t">
            <a:noAutofit/>
          </a:bodyPr>
          <a:lstStyle/>
          <a:p>
            <a:pPr>
              <a:spcAft>
                <a:spcPts val="300"/>
              </a:spcAft>
              <a:defRPr sz="1800" b="1">
                <a:solidFill>
                  <a:srgbClr val="10243A"/>
                </a:solidFill>
                <a:latin typeface="Arial"/>
              </a:defRPr>
            </a:pPr>
            <a:r>
              <a:rPr sz="1350" cap="none">
                <a:latin typeface="Arial"/>
              </a:rPr>
              <a:t>Compose plugins</a:t>
            </a:r>
          </a:p>
        </p:txBody>
      </p:sp>
      <p:sp>
        <p:nvSpPr>
          <p:cNvPr id="21" name="KV-cache-aware logic / and P/D-aware scheduling."/>
          <p:cNvSpPr txBox="1"/>
          <p:nvPr/>
        </p:nvSpPr>
        <p:spPr>
          <a:xfrm>
            <a:off x="3682746" y="3182112"/>
            <a:ext cx="2180844" cy="672084"/>
          </a:xfrm>
          <a:prstGeom prst="rect">
            <a:avLst/>
          </a:prstGeom>
          <a:noFill/>
        </p:spPr>
        <p:txBody>
          <a:bodyPr wrap="square" lIns="0" tIns="0" rIns="0" bIns="0" anchor="t">
            <a:noAutofit/>
          </a:bodyPr>
          <a:lstStyle/>
          <a:p>
            <a:pPr>
              <a:spcAft>
                <a:spcPts val="150"/>
              </a:spcAft>
              <a:defRPr sz="1600" b="0">
                <a:solidFill>
                  <a:srgbClr val="5B6E80"/>
                </a:solidFill>
                <a:latin typeface="Arial"/>
              </a:defRPr>
            </a:pPr>
            <a:r>
              <a:rPr sz="1200" cap="none">
                <a:latin typeface="Arial"/>
              </a:rPr>
              <a:t>KV-cache-aware logic</a:t>
            </a:r>
          </a:p>
          <a:p>
            <a:pPr>
              <a:spcAft>
                <a:spcPts val="150"/>
              </a:spcAft>
              <a:defRPr sz="1600" b="0">
                <a:solidFill>
                  <a:srgbClr val="5B6E80"/>
                </a:solidFill>
                <a:latin typeface="Arial"/>
              </a:defRPr>
            </a:pPr>
            <a:r>
              <a:rPr sz="1200" cap="none">
                <a:latin typeface="Arial"/>
              </a:rPr>
              <a:t>and P/D-aware scheduling.</a:t>
            </a:r>
          </a:p>
        </p:txBody>
      </p:sp>
      <p:sp>
        <p:nvSpPr>
          <p:cNvPr id="22" name="Step 03"/>
          <p:cNvSpPr/>
          <p:nvPr/>
        </p:nvSpPr>
        <p:spPr>
          <a:xfrm>
            <a:off x="6185916" y="2866644"/>
            <a:ext cx="198882" cy="198882"/>
          </a:xfrm>
          <a:prstGeom prst="ellipse">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000" b="1">
                <a:solidFill>
                  <a:srgbClr val="FFFFFF"/>
                </a:solidFill>
                <a:latin typeface="Arial"/>
              </a:defRPr>
            </a:pPr>
            <a:r>
              <a:rPr sz="750" cap="none">
                <a:latin typeface="Arial"/>
              </a:rPr>
              <a:t>03</a:t>
            </a:r>
          </a:p>
        </p:txBody>
      </p:sp>
      <p:sp>
        <p:nvSpPr>
          <p:cNvPr id="23" name="Extend scheduling"/>
          <p:cNvSpPr txBox="1"/>
          <p:nvPr/>
        </p:nvSpPr>
        <p:spPr>
          <a:xfrm>
            <a:off x="6473952" y="2846070"/>
            <a:ext cx="2043684" cy="253746"/>
          </a:xfrm>
          <a:prstGeom prst="rect">
            <a:avLst/>
          </a:prstGeom>
          <a:noFill/>
        </p:spPr>
        <p:txBody>
          <a:bodyPr wrap="square" lIns="0" tIns="0" rIns="0" bIns="0" anchor="t">
            <a:noAutofit/>
          </a:bodyPr>
          <a:lstStyle/>
          <a:p>
            <a:pPr>
              <a:spcAft>
                <a:spcPts val="300"/>
              </a:spcAft>
              <a:defRPr sz="1800" b="1">
                <a:solidFill>
                  <a:srgbClr val="10243A"/>
                </a:solidFill>
                <a:latin typeface="Arial"/>
              </a:defRPr>
            </a:pPr>
            <a:r>
              <a:rPr sz="1350" cap="none">
                <a:latin typeface="Arial"/>
              </a:rPr>
              <a:t>Extend scheduling</a:t>
            </a:r>
          </a:p>
        </p:txBody>
      </p:sp>
      <p:sp>
        <p:nvSpPr>
          <p:cNvPr id="24" name="A plugin surface for / future scheduling policy."/>
          <p:cNvSpPr txBox="1"/>
          <p:nvPr/>
        </p:nvSpPr>
        <p:spPr>
          <a:xfrm>
            <a:off x="6473952" y="3182112"/>
            <a:ext cx="2043684" cy="672084"/>
          </a:xfrm>
          <a:prstGeom prst="rect">
            <a:avLst/>
          </a:prstGeom>
          <a:noFill/>
        </p:spPr>
        <p:txBody>
          <a:bodyPr wrap="square" lIns="0" tIns="0" rIns="0" bIns="0" anchor="t">
            <a:noAutofit/>
          </a:bodyPr>
          <a:lstStyle/>
          <a:p>
            <a:pPr>
              <a:spcAft>
                <a:spcPts val="150"/>
              </a:spcAft>
              <a:defRPr sz="1600" b="0">
                <a:solidFill>
                  <a:srgbClr val="5B6E80"/>
                </a:solidFill>
                <a:latin typeface="Arial"/>
              </a:defRPr>
            </a:pPr>
            <a:r>
              <a:rPr sz="1200" cap="none">
                <a:latin typeface="Arial"/>
              </a:rPr>
              <a:t>A plugin surface for</a:t>
            </a:r>
          </a:p>
          <a:p>
            <a:pPr>
              <a:spcAft>
                <a:spcPts val="150"/>
              </a:spcAft>
              <a:defRPr sz="1600" b="0">
                <a:solidFill>
                  <a:srgbClr val="5B6E80"/>
                </a:solidFill>
                <a:latin typeface="Arial"/>
              </a:defRPr>
            </a:pPr>
            <a:r>
              <a:rPr sz="1200" cap="none">
                <a:latin typeface="Arial"/>
              </a:rPr>
              <a:t>future scheduling policy.</a:t>
            </a:r>
          </a:p>
        </p:txBody>
      </p:sp>
      <p:sp>
        <p:nvSpPr>
          <p:cNvPr id="25" name="Panel 24"/>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Panel 25"/>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KAITO builds on llm-d’s routing intelligence — it does not invent a second routi"/>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KAITO builds on llm-d’s routing intelligence — it does not invent a second routing engine.</a:t>
            </a:r>
          </a:p>
        </p:txBody>
      </p:sp>
      <p:sp>
        <p:nvSpPr>
          <p:cNvPr id="28" name="TextBox 27"/>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9" name="TextBox 28"/>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26 / 49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RESPONSIBILITIES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RESPONSIBILITIES  /  KAITO + llm-d</a:t>
            </a:r>
          </a:p>
        </p:txBody>
      </p:sp>
      <p:sp>
        <p:nvSpPr>
          <p:cNvPr id="4" name="Three layers. Three clear responsibilities."/>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Three layers. Three clear responsibilities.</a:t>
            </a:r>
          </a:p>
        </p:txBody>
      </p:sp>
      <p:sp>
        <p:nvSpPr>
          <p:cNvPr id="5" name="The InferencePool contract connects platform orchestration to routing."/>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The InferencePool contract connects platform orchestration to routing.</a:t>
            </a:r>
          </a:p>
        </p:txBody>
      </p:sp>
      <p:sp>
        <p:nvSpPr>
          <p:cNvPr id="8" name="Panel 7"/>
          <p:cNvSpPr/>
          <p:nvPr/>
        </p:nvSpPr>
        <p:spPr>
          <a:xfrm>
            <a:off x="411480" y="1378457"/>
            <a:ext cx="8318754" cy="768096"/>
          </a:xfrm>
          <a:prstGeom prst="roundRect">
            <a:avLst>
              <a:gd name="adj" fmla="val 12000"/>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KAITO"/>
          <p:cNvSpPr txBox="1"/>
          <p:nvPr/>
        </p:nvSpPr>
        <p:spPr>
          <a:xfrm>
            <a:off x="589788" y="1501902"/>
            <a:ext cx="1851660" cy="260604"/>
          </a:xfrm>
          <a:prstGeom prst="rect">
            <a:avLst/>
          </a:prstGeom>
          <a:noFill/>
        </p:spPr>
        <p:txBody>
          <a:bodyPr wrap="square" lIns="0" tIns="0" rIns="0" bIns="0" anchor="t">
            <a:noAutofit/>
          </a:bodyPr>
          <a:lstStyle/>
          <a:p>
            <a:pPr>
              <a:spcAft>
                <a:spcPts val="300"/>
              </a:spcAft>
              <a:defRPr sz="2300" b="1">
                <a:solidFill>
                  <a:srgbClr val="7150C8"/>
                </a:solidFill>
                <a:latin typeface="Arial"/>
              </a:defRPr>
            </a:pPr>
            <a:r>
              <a:rPr sz="1725" cap="none">
                <a:latin typeface="Arial"/>
              </a:rPr>
              <a:t>KAITO</a:t>
            </a:r>
          </a:p>
        </p:txBody>
      </p:sp>
      <p:sp>
        <p:nvSpPr>
          <p:cNvPr id="10" name="DECLARE + RECONCILE"/>
          <p:cNvSpPr txBox="1"/>
          <p:nvPr/>
        </p:nvSpPr>
        <p:spPr>
          <a:xfrm>
            <a:off x="603504" y="1858518"/>
            <a:ext cx="1851660" cy="123444"/>
          </a:xfrm>
          <a:prstGeom prst="rect">
            <a:avLst/>
          </a:prstGeom>
          <a:noFill/>
        </p:spPr>
        <p:txBody>
          <a:bodyPr wrap="square" lIns="0" tIns="0" rIns="0" bIns="0" anchor="t">
            <a:noAutofit/>
          </a:bodyPr>
          <a:lstStyle/>
          <a:p>
            <a:pPr>
              <a:spcAft>
                <a:spcPts val="150"/>
              </a:spcAft>
              <a:defRPr sz="1000" b="1">
                <a:solidFill>
                  <a:srgbClr val="7150C8"/>
                </a:solidFill>
                <a:latin typeface="Arial"/>
              </a:defRPr>
            </a:pPr>
            <a:r>
              <a:rPr sz="750" cap="none">
                <a:latin typeface="Arial"/>
              </a:rPr>
              <a:t>Declare + reconcile</a:t>
            </a:r>
          </a:p>
        </p:txBody>
      </p:sp>
      <p:cxnSp>
        <p:nvCxnSpPr>
          <p:cNvPr id="11" name="Connector"/>
          <p:cNvCxnSpPr/>
          <p:nvPr/>
        </p:nvCxnSpPr>
        <p:spPr>
          <a:xfrm>
            <a:off x="2619756" y="1515619"/>
            <a:ext cx="0" cy="493775"/>
          </a:xfrm>
          <a:prstGeom prst="line">
            <a:avLst/>
          </a:prstGeom>
          <a:ln w="12700">
            <a:solidFill>
              <a:srgbClr val="7150C8"/>
            </a:solidFill>
          </a:ln>
        </p:spPr>
        <p:style>
          <a:lnRef idx="2">
            <a:schemeClr val="accent1"/>
          </a:lnRef>
          <a:fillRef idx="0">
            <a:schemeClr val="accent1"/>
          </a:fillRef>
          <a:effectRef idx="1">
            <a:schemeClr val="accent1"/>
          </a:effectRef>
          <a:fontRef idx="minor">
            <a:schemeClr val="tx1"/>
          </a:fontRef>
        </p:style>
      </p:cxnSp>
      <p:sp>
        <p:nvSpPr>
          <p:cNvPr id="12" name="MultiRoleInference → role topology"/>
          <p:cNvSpPr txBox="1"/>
          <p:nvPr/>
        </p:nvSpPr>
        <p:spPr>
          <a:xfrm>
            <a:off x="2825497" y="1501902"/>
            <a:ext cx="5623559" cy="240030"/>
          </a:xfrm>
          <a:prstGeom prst="rect">
            <a:avLst/>
          </a:prstGeom>
          <a:noFill/>
        </p:spPr>
        <p:txBody>
          <a:bodyPr wrap="square" lIns="0" tIns="0" rIns="0" bIns="0" anchor="t">
            <a:noAutofit/>
          </a:bodyPr>
          <a:lstStyle/>
          <a:p>
            <a:pPr>
              <a:spcAft>
                <a:spcPts val="300"/>
              </a:spcAft>
              <a:defRPr sz="2100" b="1">
                <a:solidFill>
                  <a:srgbClr val="10243A"/>
                </a:solidFill>
                <a:latin typeface="Arial"/>
              </a:defRPr>
            </a:pPr>
            <a:r>
              <a:rPr sz="1575" cap="none">
                <a:latin typeface="Arial"/>
              </a:rPr>
              <a:t>MultiRoleInference → role topology</a:t>
            </a:r>
          </a:p>
        </p:txBody>
      </p:sp>
      <p:sp>
        <p:nvSpPr>
          <p:cNvPr id="13" name="Resource generation • ownership • lifecycle"/>
          <p:cNvSpPr txBox="1"/>
          <p:nvPr/>
        </p:nvSpPr>
        <p:spPr>
          <a:xfrm>
            <a:off x="2839211" y="1844802"/>
            <a:ext cx="5486400" cy="171450"/>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125" cap="none">
                <a:latin typeface="Arial"/>
              </a:rPr>
              <a:t>Resource generation • ownership • lifecycle</a:t>
            </a:r>
          </a:p>
        </p:txBody>
      </p:sp>
      <p:sp>
        <p:nvSpPr>
          <p:cNvPr id="14" name="Panel 13"/>
          <p:cNvSpPr/>
          <p:nvPr/>
        </p:nvSpPr>
        <p:spPr>
          <a:xfrm>
            <a:off x="411480" y="2304288"/>
            <a:ext cx="8318754" cy="768096"/>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GWIE"/>
          <p:cNvSpPr txBox="1"/>
          <p:nvPr/>
        </p:nvSpPr>
        <p:spPr>
          <a:xfrm>
            <a:off x="589788" y="2427732"/>
            <a:ext cx="1851660" cy="260604"/>
          </a:xfrm>
          <a:prstGeom prst="rect">
            <a:avLst/>
          </a:prstGeom>
          <a:noFill/>
        </p:spPr>
        <p:txBody>
          <a:bodyPr wrap="square" lIns="0" tIns="0" rIns="0" bIns="0" anchor="t">
            <a:noAutofit/>
          </a:bodyPr>
          <a:lstStyle/>
          <a:p>
            <a:pPr>
              <a:spcAft>
                <a:spcPts val="300"/>
              </a:spcAft>
              <a:defRPr sz="2300" b="1">
                <a:solidFill>
                  <a:srgbClr val="2463D4"/>
                </a:solidFill>
                <a:latin typeface="Arial"/>
              </a:defRPr>
            </a:pPr>
            <a:r>
              <a:rPr sz="1725" cap="none">
                <a:latin typeface="Arial"/>
              </a:rPr>
              <a:t>GWIE</a:t>
            </a:r>
          </a:p>
        </p:txBody>
      </p:sp>
      <p:sp>
        <p:nvSpPr>
          <p:cNvPr id="16" name="DEFINE THE CONTRACT"/>
          <p:cNvSpPr txBox="1"/>
          <p:nvPr/>
        </p:nvSpPr>
        <p:spPr>
          <a:xfrm>
            <a:off x="603504" y="2784347"/>
            <a:ext cx="1851660" cy="123444"/>
          </a:xfrm>
          <a:prstGeom prst="rect">
            <a:avLst/>
          </a:prstGeom>
          <a:noFill/>
        </p:spPr>
        <p:txBody>
          <a:bodyPr wrap="square" lIns="0" tIns="0" rIns="0" bIns="0" anchor="t">
            <a:noAutofit/>
          </a:bodyPr>
          <a:lstStyle/>
          <a:p>
            <a:pPr>
              <a:spcAft>
                <a:spcPts val="150"/>
              </a:spcAft>
              <a:defRPr sz="1000" b="1">
                <a:solidFill>
                  <a:srgbClr val="2463D4"/>
                </a:solidFill>
                <a:latin typeface="Arial"/>
              </a:defRPr>
            </a:pPr>
            <a:r>
              <a:rPr sz="750" cap="none">
                <a:latin typeface="Arial"/>
              </a:rPr>
              <a:t>Define the contract</a:t>
            </a:r>
          </a:p>
        </p:txBody>
      </p:sp>
      <p:cxnSp>
        <p:nvCxnSpPr>
          <p:cNvPr id="17" name="Connector"/>
          <p:cNvCxnSpPr/>
          <p:nvPr/>
        </p:nvCxnSpPr>
        <p:spPr>
          <a:xfrm>
            <a:off x="2619756" y="2441448"/>
            <a:ext cx="0" cy="493776"/>
          </a:xfrm>
          <a:prstGeom prst="line">
            <a:avLst/>
          </a:prstGeom>
          <a:ln w="12700">
            <a:solidFill>
              <a:srgbClr val="2463D4"/>
            </a:solidFill>
          </a:ln>
        </p:spPr>
        <p:style>
          <a:lnRef idx="2">
            <a:schemeClr val="accent1"/>
          </a:lnRef>
          <a:fillRef idx="0">
            <a:schemeClr val="accent1"/>
          </a:fillRef>
          <a:effectRef idx="1">
            <a:schemeClr val="accent1"/>
          </a:effectRef>
          <a:fontRef idx="minor">
            <a:schemeClr val="tx1"/>
          </a:fontRef>
        </p:style>
      </p:cxnSp>
      <p:sp>
        <p:nvSpPr>
          <p:cNvPr id="18" name="InferencePool + gateway integration"/>
          <p:cNvSpPr txBox="1"/>
          <p:nvPr/>
        </p:nvSpPr>
        <p:spPr>
          <a:xfrm>
            <a:off x="2825497" y="2427732"/>
            <a:ext cx="5623559" cy="240030"/>
          </a:xfrm>
          <a:prstGeom prst="rect">
            <a:avLst/>
          </a:prstGeom>
          <a:noFill/>
        </p:spPr>
        <p:txBody>
          <a:bodyPr wrap="square" lIns="0" tIns="0" rIns="0" bIns="0" anchor="t">
            <a:noAutofit/>
          </a:bodyPr>
          <a:lstStyle/>
          <a:p>
            <a:pPr>
              <a:spcAft>
                <a:spcPts val="300"/>
              </a:spcAft>
              <a:defRPr sz="2100" b="1">
                <a:solidFill>
                  <a:srgbClr val="10243A"/>
                </a:solidFill>
                <a:latin typeface="Arial"/>
              </a:defRPr>
            </a:pPr>
            <a:r>
              <a:rPr sz="1575" cap="none">
                <a:latin typeface="Arial"/>
              </a:rPr>
              <a:t>InferencePool + gateway integration</a:t>
            </a:r>
          </a:p>
        </p:txBody>
      </p:sp>
      <p:sp>
        <p:nvSpPr>
          <p:cNvPr id="19" name="Kubernetes API surface • backend discovery"/>
          <p:cNvSpPr txBox="1"/>
          <p:nvPr/>
        </p:nvSpPr>
        <p:spPr>
          <a:xfrm>
            <a:off x="2839211" y="2770632"/>
            <a:ext cx="5486400" cy="171450"/>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125" cap="none">
                <a:latin typeface="Arial"/>
              </a:rPr>
              <a:t>Kubernetes API surface • backend discovery</a:t>
            </a:r>
          </a:p>
        </p:txBody>
      </p:sp>
      <p:sp>
        <p:nvSpPr>
          <p:cNvPr id="20" name="Panel 19"/>
          <p:cNvSpPr/>
          <p:nvPr/>
        </p:nvSpPr>
        <p:spPr>
          <a:xfrm>
            <a:off x="411480" y="3230118"/>
            <a:ext cx="8318754" cy="768096"/>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llm-d Router"/>
          <p:cNvSpPr txBox="1"/>
          <p:nvPr/>
        </p:nvSpPr>
        <p:spPr>
          <a:xfrm>
            <a:off x="589788" y="3353562"/>
            <a:ext cx="1851660" cy="260604"/>
          </a:xfrm>
          <a:prstGeom prst="rect">
            <a:avLst/>
          </a:prstGeom>
          <a:noFill/>
        </p:spPr>
        <p:txBody>
          <a:bodyPr wrap="square" lIns="0" tIns="0" rIns="0" bIns="0" anchor="t">
            <a:noAutofit/>
          </a:bodyPr>
          <a:lstStyle/>
          <a:p>
            <a:pPr>
              <a:spcAft>
                <a:spcPts val="300"/>
              </a:spcAft>
              <a:defRPr sz="2300" b="1">
                <a:solidFill>
                  <a:srgbClr val="087F82"/>
                </a:solidFill>
                <a:latin typeface="Arial"/>
              </a:defRPr>
            </a:pPr>
            <a:r>
              <a:rPr sz="1725" cap="none">
                <a:latin typeface="Arial"/>
              </a:rPr>
              <a:t>llm-d Router</a:t>
            </a:r>
          </a:p>
        </p:txBody>
      </p:sp>
      <p:sp>
        <p:nvSpPr>
          <p:cNvPr id="22" name="SELECT ENDPOINTS"/>
          <p:cNvSpPr txBox="1"/>
          <p:nvPr/>
        </p:nvSpPr>
        <p:spPr>
          <a:xfrm>
            <a:off x="603504" y="3710178"/>
            <a:ext cx="1851660" cy="123444"/>
          </a:xfrm>
          <a:prstGeom prst="rect">
            <a:avLst/>
          </a:prstGeom>
          <a:noFill/>
        </p:spPr>
        <p:txBody>
          <a:bodyPr wrap="square" lIns="0" tIns="0" rIns="0" bIns="0" anchor="t">
            <a:noAutofit/>
          </a:bodyPr>
          <a:lstStyle/>
          <a:p>
            <a:pPr>
              <a:spcAft>
                <a:spcPts val="150"/>
              </a:spcAft>
              <a:defRPr sz="1000" b="1">
                <a:solidFill>
                  <a:srgbClr val="087F82"/>
                </a:solidFill>
                <a:latin typeface="Arial"/>
              </a:defRPr>
            </a:pPr>
            <a:r>
              <a:rPr sz="750" cap="none">
                <a:latin typeface="Arial"/>
              </a:rPr>
              <a:t>Select endpoints</a:t>
            </a:r>
          </a:p>
        </p:txBody>
      </p:sp>
      <p:cxnSp>
        <p:nvCxnSpPr>
          <p:cNvPr id="23" name="Connector"/>
          <p:cNvCxnSpPr/>
          <p:nvPr/>
        </p:nvCxnSpPr>
        <p:spPr>
          <a:xfrm>
            <a:off x="2619756" y="3367278"/>
            <a:ext cx="0" cy="493776"/>
          </a:xfrm>
          <a:prstGeom prst="line">
            <a:avLst/>
          </a:prstGeom>
          <a:ln w="12700">
            <a:solidFill>
              <a:srgbClr val="087F82"/>
            </a:solidFill>
          </a:ln>
        </p:spPr>
        <p:style>
          <a:lnRef idx="2">
            <a:schemeClr val="accent1"/>
          </a:lnRef>
          <a:fillRef idx="0">
            <a:schemeClr val="accent1"/>
          </a:fillRef>
          <a:effectRef idx="1">
            <a:schemeClr val="accent1"/>
          </a:effectRef>
          <a:fontRef idx="minor">
            <a:schemeClr val="tx1"/>
          </a:fontRef>
        </p:style>
      </p:cxnSp>
      <p:sp>
        <p:nvSpPr>
          <p:cNvPr id="24" name="EPP + P/D-aware scheduling"/>
          <p:cNvSpPr txBox="1"/>
          <p:nvPr/>
        </p:nvSpPr>
        <p:spPr>
          <a:xfrm>
            <a:off x="2825497" y="3353562"/>
            <a:ext cx="5623559" cy="240030"/>
          </a:xfrm>
          <a:prstGeom prst="rect">
            <a:avLst/>
          </a:prstGeom>
          <a:noFill/>
        </p:spPr>
        <p:txBody>
          <a:bodyPr wrap="square" lIns="0" tIns="0" rIns="0" bIns="0" anchor="t">
            <a:noAutofit/>
          </a:bodyPr>
          <a:lstStyle/>
          <a:p>
            <a:pPr>
              <a:spcAft>
                <a:spcPts val="300"/>
              </a:spcAft>
              <a:defRPr sz="2100" b="1">
                <a:solidFill>
                  <a:srgbClr val="10243A"/>
                </a:solidFill>
                <a:latin typeface="Arial"/>
              </a:defRPr>
            </a:pPr>
            <a:r>
              <a:rPr sz="1575" cap="none">
                <a:latin typeface="Arial"/>
              </a:rPr>
              <a:t>EPP + P/D-aware scheduling</a:t>
            </a:r>
          </a:p>
        </p:txBody>
      </p:sp>
      <p:sp>
        <p:nvSpPr>
          <p:cNvPr id="25" name="Endpoint picking • role-aware routing decisions"/>
          <p:cNvSpPr txBox="1"/>
          <p:nvPr/>
        </p:nvSpPr>
        <p:spPr>
          <a:xfrm>
            <a:off x="2839211" y="3696462"/>
            <a:ext cx="5486400" cy="171450"/>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125" cap="none">
                <a:latin typeface="Arial"/>
              </a:rPr>
              <a:t>Endpoint picking • role-aware routing decisions</a:t>
            </a:r>
          </a:p>
        </p:txBody>
      </p:sp>
      <p:sp>
        <p:nvSpPr>
          <p:cNvPr id="26" name="Panel 25"/>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Panel 26"/>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8" name="KAITO owns the topology. GWIE defines the contract. llm-d Router makes the selec"/>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KAITO owns the topology. GWIE defines the contract. llm-d Router makes the selection.</a:t>
            </a:r>
          </a:p>
        </p:txBody>
      </p:sp>
      <p:sp>
        <p:nvSpPr>
          <p:cNvPr id="29" name="TextBox 28"/>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0" name="TextBox 29"/>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27 / 49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ARCHITECTURE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ARCHITECTURE  /  KAITO + llm-d</a:t>
            </a:r>
          </a:p>
        </p:txBody>
      </p:sp>
      <p:sp>
        <p:nvSpPr>
          <p:cNvPr id="4" name="One endpoint. Separate control, request and KV paths."/>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One endpoint, three separate paths</a:t>
            </a:r>
          </a:p>
        </p:txBody>
      </p:sp>
      <p:sp>
        <p:nvSpPr>
          <p:cNvPr id="5" name="Read the serving path left to right; endpoint selection is an out-of-band decisi"/>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Read the serving path left to right; endpoint selection is an out-of-band decision.</a:t>
            </a:r>
          </a:p>
        </p:txBody>
      </p:sp>
      <p:sp>
        <p:nvSpPr>
          <p:cNvPr id="8" name="Panel 7"/>
          <p:cNvSpPr/>
          <p:nvPr/>
        </p:nvSpPr>
        <p:spPr>
          <a:xfrm>
            <a:off x="411480" y="1357884"/>
            <a:ext cx="8318754" cy="740664"/>
          </a:xfrm>
          <a:prstGeom prst="roundRect">
            <a:avLst>
              <a:gd name="adj" fmla="val 12000"/>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CONTROL PLANE"/>
          <p:cNvSpPr txBox="1"/>
          <p:nvPr/>
        </p:nvSpPr>
        <p:spPr>
          <a:xfrm>
            <a:off x="541782" y="1426464"/>
            <a:ext cx="1577340" cy="123444"/>
          </a:xfrm>
          <a:prstGeom prst="rect">
            <a:avLst/>
          </a:prstGeom>
          <a:noFill/>
        </p:spPr>
        <p:txBody>
          <a:bodyPr wrap="square" lIns="0" tIns="0" rIns="0" bIns="0" anchor="t">
            <a:noAutofit/>
          </a:bodyPr>
          <a:lstStyle/>
          <a:p>
            <a:pPr>
              <a:spcAft>
                <a:spcPts val="150"/>
              </a:spcAft>
              <a:defRPr sz="1000" b="1">
                <a:solidFill>
                  <a:srgbClr val="7150C8"/>
                </a:solidFill>
                <a:latin typeface="Arial"/>
              </a:defRPr>
            </a:pPr>
            <a:r>
              <a:rPr sz="750" cap="none">
                <a:latin typeface="Arial"/>
              </a:rPr>
              <a:t>Control plane</a:t>
            </a:r>
          </a:p>
        </p:txBody>
      </p:sp>
      <p:sp>
        <p:nvSpPr>
          <p:cNvPr id="10" name="MultiRoleInference"/>
          <p:cNvSpPr/>
          <p:nvPr/>
        </p:nvSpPr>
        <p:spPr>
          <a:xfrm>
            <a:off x="548640" y="1604772"/>
            <a:ext cx="1817370" cy="3566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7150C8"/>
                </a:solidFill>
                <a:latin typeface="Arial"/>
              </a:defRPr>
            </a:pPr>
            <a:r>
              <a:rPr sz="1125" cap="none">
                <a:latin typeface="Arial"/>
              </a:rPr>
              <a:t>MultiRoleInference</a:t>
            </a:r>
          </a:p>
        </p:txBody>
      </p:sp>
      <p:sp>
        <p:nvSpPr>
          <p:cNvPr id="11" name="KAITO controller"/>
          <p:cNvSpPr/>
          <p:nvPr/>
        </p:nvSpPr>
        <p:spPr>
          <a:xfrm>
            <a:off x="2777490" y="1604772"/>
            <a:ext cx="1783080" cy="3566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7150C8"/>
                </a:solidFill>
                <a:latin typeface="Arial"/>
              </a:defRPr>
            </a:pPr>
            <a:r>
              <a:rPr sz="1125" cap="none">
                <a:latin typeface="Arial"/>
              </a:rPr>
              <a:t>KAITO controller</a:t>
            </a:r>
          </a:p>
        </p:txBody>
      </p:sp>
      <p:sp>
        <p:nvSpPr>
          <p:cNvPr id="12" name="Child InferenceSets + InferencePool + wiring"/>
          <p:cNvSpPr/>
          <p:nvPr/>
        </p:nvSpPr>
        <p:spPr>
          <a:xfrm>
            <a:off x="4985766" y="1604772"/>
            <a:ext cx="3566160" cy="35661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7150C8"/>
                </a:solidFill>
                <a:latin typeface="Arial"/>
              </a:defRPr>
            </a:pPr>
            <a:r>
              <a:rPr sz="1050" cap="none">
                <a:latin typeface="Arial"/>
              </a:rPr>
              <a:t>Child InferenceSets + InferencePool + wiring</a:t>
            </a:r>
          </a:p>
        </p:txBody>
      </p:sp>
      <p:cxnSp>
        <p:nvCxnSpPr>
          <p:cNvPr id="13" name="MultiRoleInference → KAITO controller"/>
          <p:cNvCxnSpPr>
            <a:stCxn id="10" idx="3"/>
            <a:endCxn id="11" idx="1"/>
          </p:cNvCxnSpPr>
          <p:nvPr/>
        </p:nvCxnSpPr>
        <p:spPr>
          <a:xfrm flipV="1">
            <a:off x="2366010" y="1783080"/>
            <a:ext cx="411480" cy="0"/>
          </a:xfrm>
          <a:prstGeom prst="line">
            <a:avLst/>
          </a:prstGeom>
          <a:ln w="2286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14" name="KAITO controller → Child InferenceSets + InferencePool + wiring"/>
          <p:cNvCxnSpPr>
            <a:stCxn id="11" idx="3"/>
            <a:endCxn id="12" idx="1"/>
          </p:cNvCxnSpPr>
          <p:nvPr/>
        </p:nvCxnSpPr>
        <p:spPr>
          <a:xfrm flipV="1">
            <a:off x="4560570" y="1783080"/>
            <a:ext cx="425196" cy="0"/>
          </a:xfrm>
          <a:prstGeom prst="line">
            <a:avLst/>
          </a:prstGeom>
          <a:ln w="2286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5" name="llm-d Router EPP"/>
          <p:cNvSpPr/>
          <p:nvPr/>
        </p:nvSpPr>
        <p:spPr>
          <a:xfrm>
            <a:off x="1543050" y="2276856"/>
            <a:ext cx="1680210" cy="445770"/>
          </a:xfrm>
          <a:prstGeom prst="roundRect">
            <a:avLst>
              <a:gd name="adj" fmla="val 12000"/>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7150C8"/>
                </a:solidFill>
                <a:latin typeface="Arial"/>
              </a:defRPr>
            </a:pPr>
            <a:r>
              <a:rPr sz="1125" cap="none">
                <a:latin typeface="Arial"/>
              </a:rPr>
              <a:t>llm-d Router EPP</a:t>
            </a:r>
          </a:p>
        </p:txBody>
      </p:sp>
      <p:sp>
        <p:nvSpPr>
          <p:cNvPr id="16" name="Prefill vLLM"/>
          <p:cNvSpPr/>
          <p:nvPr/>
        </p:nvSpPr>
        <p:spPr>
          <a:xfrm>
            <a:off x="4183380" y="2276856"/>
            <a:ext cx="1611630" cy="445770"/>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600" b="1">
                <a:solidFill>
                  <a:srgbClr val="A85C05"/>
                </a:solidFill>
                <a:latin typeface="Arial"/>
              </a:defRPr>
            </a:pPr>
            <a:r>
              <a:rPr sz="1200" cap="none">
                <a:latin typeface="Arial"/>
              </a:rPr>
              <a:t>Prefill vLLM</a:t>
            </a:r>
          </a:p>
        </p:txBody>
      </p:sp>
      <p:sp>
        <p:nvSpPr>
          <p:cNvPr id="17" name="PREFILL INFERENCESET"/>
          <p:cNvSpPr txBox="1"/>
          <p:nvPr/>
        </p:nvSpPr>
        <p:spPr>
          <a:xfrm>
            <a:off x="4094226" y="2098548"/>
            <a:ext cx="1783080" cy="130302"/>
          </a:xfrm>
          <a:prstGeom prst="rect">
            <a:avLst/>
          </a:prstGeom>
          <a:noFill/>
        </p:spPr>
        <p:txBody>
          <a:bodyPr wrap="square" lIns="0" tIns="0" rIns="0" bIns="0" anchor="t">
            <a:noAutofit/>
          </a:bodyPr>
          <a:lstStyle/>
          <a:p>
            <a:pPr algn="ctr">
              <a:spcAft>
                <a:spcPts val="150"/>
              </a:spcAft>
              <a:defRPr sz="900" b="1">
                <a:solidFill>
                  <a:srgbClr val="A85C05"/>
                </a:solidFill>
                <a:latin typeface="Arial"/>
              </a:defRPr>
            </a:pPr>
            <a:r>
              <a:rPr sz="675" cap="none">
                <a:latin typeface="Arial"/>
              </a:rPr>
              <a:t>Prefill inferenceset</a:t>
            </a:r>
          </a:p>
        </p:txBody>
      </p:sp>
      <p:sp>
        <p:nvSpPr>
          <p:cNvPr id="18" name="Panel 17"/>
          <p:cNvSpPr/>
          <p:nvPr/>
        </p:nvSpPr>
        <p:spPr>
          <a:xfrm>
            <a:off x="4018788" y="2990088"/>
            <a:ext cx="4533138" cy="843534"/>
          </a:xfrm>
          <a:prstGeom prst="roundRect">
            <a:avLst>
              <a:gd name="adj" fmla="val 12000"/>
            </a:avLst>
          </a:prstGeom>
          <a:solidFill>
            <a:srgbClr val="F5F8FC"/>
          </a:solidFill>
          <a:ln w="1270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DECODE INFERENCESET  /  SELECTED DECODE POD"/>
          <p:cNvSpPr txBox="1"/>
          <p:nvPr/>
        </p:nvSpPr>
        <p:spPr>
          <a:xfrm>
            <a:off x="4149090" y="3051810"/>
            <a:ext cx="3977640" cy="130302"/>
          </a:xfrm>
          <a:prstGeom prst="rect">
            <a:avLst/>
          </a:prstGeom>
          <a:noFill/>
        </p:spPr>
        <p:txBody>
          <a:bodyPr wrap="square" lIns="0" tIns="0" rIns="0" bIns="0" anchor="t">
            <a:noAutofit/>
          </a:bodyPr>
          <a:lstStyle/>
          <a:p>
            <a:pPr>
              <a:spcAft>
                <a:spcPts val="150"/>
              </a:spcAft>
              <a:defRPr sz="900" b="1">
                <a:solidFill>
                  <a:srgbClr val="087F82"/>
                </a:solidFill>
                <a:latin typeface="Arial"/>
              </a:defRPr>
            </a:pPr>
            <a:r>
              <a:rPr sz="675" cap="none">
                <a:latin typeface="Arial"/>
              </a:rPr>
              <a:t>Decode inferenceset  /  selected decode pod</a:t>
            </a:r>
          </a:p>
        </p:txBody>
      </p:sp>
      <p:sp>
        <p:nvSpPr>
          <p:cNvPr id="20" name="Client"/>
          <p:cNvSpPr/>
          <p:nvPr/>
        </p:nvSpPr>
        <p:spPr>
          <a:xfrm>
            <a:off x="445770" y="3312414"/>
            <a:ext cx="802386" cy="445770"/>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2463D4"/>
                </a:solidFill>
                <a:latin typeface="Arial"/>
              </a:defRPr>
            </a:pPr>
            <a:r>
              <a:rPr sz="1125" cap="none">
                <a:latin typeface="Arial"/>
              </a:rPr>
              <a:t>Client</a:t>
            </a:r>
          </a:p>
        </p:txBody>
      </p:sp>
      <p:sp>
        <p:nvSpPr>
          <p:cNvPr id="21" name="Gateway"/>
          <p:cNvSpPr/>
          <p:nvPr/>
        </p:nvSpPr>
        <p:spPr>
          <a:xfrm>
            <a:off x="1543050" y="3312414"/>
            <a:ext cx="1680210" cy="445770"/>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600" b="1">
                <a:solidFill>
                  <a:srgbClr val="2463D4"/>
                </a:solidFill>
                <a:latin typeface="Arial"/>
              </a:defRPr>
            </a:pPr>
            <a:r>
              <a:rPr sz="1200" cap="none">
                <a:latin typeface="Arial"/>
              </a:rPr>
              <a:t>Gateway</a:t>
            </a:r>
          </a:p>
        </p:txBody>
      </p:sp>
      <p:sp>
        <p:nvSpPr>
          <p:cNvPr id="22" name="Routing sidecar"/>
          <p:cNvSpPr/>
          <p:nvPr/>
        </p:nvSpPr>
        <p:spPr>
          <a:xfrm>
            <a:off x="4183380" y="3312414"/>
            <a:ext cx="1611630" cy="445770"/>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2463D4"/>
                </a:solidFill>
                <a:latin typeface="Arial"/>
              </a:defRPr>
            </a:pPr>
            <a:r>
              <a:rPr sz="1125" cap="none">
                <a:latin typeface="Arial"/>
              </a:rPr>
              <a:t>Routing sidecar</a:t>
            </a:r>
          </a:p>
        </p:txBody>
      </p:sp>
      <p:sp>
        <p:nvSpPr>
          <p:cNvPr id="23" name="Decode vLLM"/>
          <p:cNvSpPr/>
          <p:nvPr/>
        </p:nvSpPr>
        <p:spPr>
          <a:xfrm>
            <a:off x="6858000" y="3312414"/>
            <a:ext cx="1508760" cy="445770"/>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500" b="1">
                <a:solidFill>
                  <a:srgbClr val="087F82"/>
                </a:solidFill>
                <a:latin typeface="Arial"/>
              </a:defRPr>
            </a:pPr>
            <a:r>
              <a:rPr sz="1125" cap="none">
                <a:latin typeface="Arial"/>
              </a:rPr>
              <a:t>Decode vLLM</a:t>
            </a:r>
          </a:p>
        </p:txBody>
      </p:sp>
      <p:cxnSp>
        <p:nvCxnSpPr>
          <p:cNvPr id="24" name="Client → Gateway"/>
          <p:cNvCxnSpPr>
            <a:stCxn id="20" idx="3"/>
            <a:endCxn id="21" idx="1"/>
          </p:cNvCxnSpPr>
          <p:nvPr/>
        </p:nvCxnSpPr>
        <p:spPr>
          <a:xfrm flipV="1">
            <a:off x="1248156" y="3535299"/>
            <a:ext cx="294894"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Gateway → Routing sidecar"/>
          <p:cNvCxnSpPr>
            <a:stCxn id="21" idx="3"/>
            <a:endCxn id="22" idx="1"/>
          </p:cNvCxnSpPr>
          <p:nvPr/>
        </p:nvCxnSpPr>
        <p:spPr>
          <a:xfrm flipV="1">
            <a:off x="3223260" y="3535299"/>
            <a:ext cx="960120"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Routing sidecar → Decode vLLM"/>
          <p:cNvCxnSpPr>
            <a:stCxn id="22" idx="3"/>
            <a:endCxn id="23" idx="1"/>
          </p:cNvCxnSpPr>
          <p:nvPr/>
        </p:nvCxnSpPr>
        <p:spPr>
          <a:xfrm flipV="1">
            <a:off x="5795010" y="3535299"/>
            <a:ext cx="1062990"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equest"/>
          <p:cNvSpPr txBox="1"/>
          <p:nvPr/>
        </p:nvSpPr>
        <p:spPr>
          <a:xfrm>
            <a:off x="3257550" y="3106674"/>
            <a:ext cx="857250" cy="157734"/>
          </a:xfrm>
          <a:prstGeom prst="rect">
            <a:avLst/>
          </a:prstGeom>
          <a:noFill/>
        </p:spPr>
        <p:txBody>
          <a:bodyPr wrap="square" lIns="0" tIns="0" rIns="0" bIns="0" anchor="t">
            <a:noAutofit/>
          </a:bodyPr>
          <a:lstStyle/>
          <a:p>
            <a:pPr algn="ctr">
              <a:spcAft>
                <a:spcPts val="150"/>
              </a:spcAft>
              <a:defRPr sz="1000" b="0">
                <a:solidFill>
                  <a:srgbClr val="2463D4"/>
                </a:solidFill>
                <a:latin typeface="Arial"/>
              </a:defRPr>
            </a:pPr>
            <a:r>
              <a:rPr sz="750" cap="none">
                <a:latin typeface="Arial"/>
              </a:rPr>
              <a:t>request</a:t>
            </a:r>
          </a:p>
        </p:txBody>
      </p:sp>
      <p:sp>
        <p:nvSpPr>
          <p:cNvPr id="28" name="local proxy"/>
          <p:cNvSpPr txBox="1"/>
          <p:nvPr/>
        </p:nvSpPr>
        <p:spPr>
          <a:xfrm>
            <a:off x="5884164" y="3346704"/>
            <a:ext cx="864108" cy="137160"/>
          </a:xfrm>
          <a:prstGeom prst="rect">
            <a:avLst/>
          </a:prstGeom>
          <a:noFill/>
        </p:spPr>
        <p:txBody>
          <a:bodyPr wrap="square" lIns="0" tIns="0" rIns="0" bIns="0" anchor="t">
            <a:noAutofit/>
          </a:bodyPr>
          <a:lstStyle/>
          <a:p>
            <a:pPr algn="ctr">
              <a:spcAft>
                <a:spcPts val="150"/>
              </a:spcAft>
              <a:defRPr sz="1000" b="0">
                <a:solidFill>
                  <a:srgbClr val="2463D4"/>
                </a:solidFill>
                <a:latin typeface="Arial"/>
              </a:defRPr>
            </a:pPr>
            <a:r>
              <a:rPr sz="750" cap="none">
                <a:latin typeface="Arial"/>
              </a:rPr>
              <a:t>local proxy</a:t>
            </a:r>
          </a:p>
        </p:txBody>
      </p:sp>
      <p:cxnSp>
        <p:nvCxnSpPr>
          <p:cNvPr id="29" name="Gateway ↔ EPP endpoint selection"/>
          <p:cNvCxnSpPr/>
          <p:nvPr/>
        </p:nvCxnSpPr>
        <p:spPr>
          <a:xfrm flipV="1">
            <a:off x="2386584" y="2729484"/>
            <a:ext cx="0" cy="562356"/>
          </a:xfrm>
          <a:prstGeom prst="line">
            <a:avLst/>
          </a:prstGeom>
          <a:ln w="1905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0" name="endpoint selection / via InferencePool"/>
          <p:cNvSpPr txBox="1"/>
          <p:nvPr/>
        </p:nvSpPr>
        <p:spPr>
          <a:xfrm>
            <a:off x="788670" y="2818638"/>
            <a:ext cx="1426464" cy="301752"/>
          </a:xfrm>
          <a:prstGeom prst="rect">
            <a:avLst/>
          </a:prstGeom>
          <a:noFill/>
        </p:spPr>
        <p:txBody>
          <a:bodyPr wrap="square" lIns="0" tIns="0" rIns="0" bIns="0" anchor="t">
            <a:noAutofit/>
          </a:bodyPr>
          <a:lstStyle/>
          <a:p>
            <a:pPr algn="r">
              <a:spcAft>
                <a:spcPts val="150"/>
              </a:spcAft>
              <a:defRPr sz="1000" b="0">
                <a:solidFill>
                  <a:srgbClr val="7150C8"/>
                </a:solidFill>
                <a:latin typeface="Arial"/>
              </a:defRPr>
            </a:pPr>
            <a:r>
              <a:rPr sz="750" cap="none">
                <a:latin typeface="Arial"/>
              </a:rPr>
              <a:t>endpoint selection</a:t>
            </a:r>
          </a:p>
          <a:p>
            <a:pPr algn="r">
              <a:spcAft>
                <a:spcPts val="150"/>
              </a:spcAft>
              <a:defRPr sz="1000" b="0">
                <a:solidFill>
                  <a:srgbClr val="7150C8"/>
                </a:solidFill>
                <a:latin typeface="Arial"/>
              </a:defRPr>
            </a:pPr>
            <a:r>
              <a:rPr sz="750" cap="none">
                <a:latin typeface="Arial"/>
              </a:rPr>
              <a:t>via InferencePool</a:t>
            </a:r>
          </a:p>
        </p:txBody>
      </p:sp>
      <p:cxnSp>
        <p:nvCxnSpPr>
          <p:cNvPr id="31" name="Sidecar → remote prefill request"/>
          <p:cNvCxnSpPr/>
          <p:nvPr/>
        </p:nvCxnSpPr>
        <p:spPr>
          <a:xfrm flipV="1">
            <a:off x="4992624" y="2736342"/>
            <a:ext cx="0" cy="562356"/>
          </a:xfrm>
          <a:prstGeom prst="line">
            <a:avLst/>
          </a:prstGeom>
          <a:ln w="22860">
            <a:solidFill>
              <a:srgbClr val="A85C05"/>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optional prefill"/>
          <p:cNvSpPr txBox="1"/>
          <p:nvPr/>
        </p:nvSpPr>
        <p:spPr>
          <a:xfrm>
            <a:off x="3545586" y="2763774"/>
            <a:ext cx="1303020" cy="150876"/>
          </a:xfrm>
          <a:prstGeom prst="rect">
            <a:avLst/>
          </a:prstGeom>
          <a:noFill/>
        </p:spPr>
        <p:txBody>
          <a:bodyPr wrap="square" lIns="0" tIns="0" rIns="0" bIns="0" anchor="t">
            <a:noAutofit/>
          </a:bodyPr>
          <a:lstStyle/>
          <a:p>
            <a:pPr algn="r">
              <a:spcAft>
                <a:spcPts val="150"/>
              </a:spcAft>
              <a:defRPr sz="1000" b="0">
                <a:solidFill>
                  <a:srgbClr val="A85C05"/>
                </a:solidFill>
                <a:latin typeface="Arial"/>
              </a:defRPr>
            </a:pPr>
            <a:r>
              <a:rPr sz="750" cap="none">
                <a:latin typeface="Arial"/>
              </a:rPr>
              <a:t>optional prefill</a:t>
            </a:r>
          </a:p>
        </p:txBody>
      </p:sp>
      <p:cxnSp>
        <p:nvCxnSpPr>
          <p:cNvPr id="33" name="Direct KV data transfer: prefill → decode"/>
          <p:cNvCxnSpPr/>
          <p:nvPr/>
        </p:nvCxnSpPr>
        <p:spPr>
          <a:xfrm>
            <a:off x="5801868" y="2503170"/>
            <a:ext cx="1810512" cy="0"/>
          </a:xfrm>
          <a:prstGeom prst="line">
            <a:avLst/>
          </a:prstGeom>
          <a:ln w="29209">
            <a:solidFill>
              <a:srgbClr val="24824C"/>
            </a:solidFill>
          </a:ln>
        </p:spPr>
        <p:style>
          <a:lnRef idx="2">
            <a:schemeClr val="accent1"/>
          </a:lnRef>
          <a:fillRef idx="0">
            <a:schemeClr val="accent1"/>
          </a:fillRef>
          <a:effectRef idx="1">
            <a:schemeClr val="accent1"/>
          </a:effectRef>
          <a:fontRef idx="minor">
            <a:schemeClr val="tx1"/>
          </a:fontRef>
        </p:style>
      </p:cxnSp>
      <p:cxnSp>
        <p:nvCxnSpPr>
          <p:cNvPr id="34" name="Direct KV data transfer: prefill → decode"/>
          <p:cNvCxnSpPr/>
          <p:nvPr/>
        </p:nvCxnSpPr>
        <p:spPr>
          <a:xfrm>
            <a:off x="7612380" y="2503170"/>
            <a:ext cx="0" cy="795528"/>
          </a:xfrm>
          <a:prstGeom prst="line">
            <a:avLst/>
          </a:prstGeom>
          <a:ln w="29209">
            <a:solidFill>
              <a:srgbClr val="24824C"/>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Direct KV data • NIXL"/>
          <p:cNvSpPr txBox="1"/>
          <p:nvPr/>
        </p:nvSpPr>
        <p:spPr>
          <a:xfrm>
            <a:off x="6069330" y="2235708"/>
            <a:ext cx="2400300" cy="171450"/>
          </a:xfrm>
          <a:prstGeom prst="rect">
            <a:avLst/>
          </a:prstGeom>
          <a:noFill/>
        </p:spPr>
        <p:txBody>
          <a:bodyPr wrap="square" lIns="0" tIns="0" rIns="0" bIns="0" anchor="t">
            <a:noAutofit/>
          </a:bodyPr>
          <a:lstStyle/>
          <a:p>
            <a:pPr>
              <a:spcAft>
                <a:spcPts val="150"/>
              </a:spcAft>
              <a:defRPr sz="1200" b="1">
                <a:solidFill>
                  <a:srgbClr val="24824C"/>
                </a:solidFill>
                <a:latin typeface="Arial"/>
              </a:defRPr>
            </a:pPr>
            <a:r>
              <a:rPr sz="900" cap="none">
                <a:latin typeface="Arial"/>
              </a:rPr>
              <a:t>Direct KV data • NIXL</a:t>
            </a:r>
          </a:p>
        </p:txBody>
      </p:sp>
      <p:cxnSp>
        <p:nvCxnSpPr>
          <p:cNvPr id="36" name="Connector"/>
          <p:cNvCxnSpPr/>
          <p:nvPr/>
        </p:nvCxnSpPr>
        <p:spPr>
          <a:xfrm>
            <a:off x="582930" y="4094226"/>
            <a:ext cx="274320" cy="0"/>
          </a:xfrm>
          <a:prstGeom prst="line">
            <a:avLst/>
          </a:prstGeom>
          <a:ln w="2540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7" name="Control / selection"/>
          <p:cNvSpPr txBox="1"/>
          <p:nvPr/>
        </p:nvSpPr>
        <p:spPr>
          <a:xfrm>
            <a:off x="946404" y="4011930"/>
            <a:ext cx="2606040" cy="178308"/>
          </a:xfrm>
          <a:prstGeom prst="rect">
            <a:avLst/>
          </a:prstGeom>
          <a:noFill/>
        </p:spPr>
        <p:txBody>
          <a:bodyPr wrap="square" lIns="0" tIns="0" rIns="0" bIns="0" anchor="t">
            <a:noAutofit/>
          </a:bodyPr>
          <a:lstStyle/>
          <a:p>
            <a:pPr>
              <a:spcAft>
                <a:spcPts val="150"/>
              </a:spcAft>
              <a:defRPr sz="1200" b="0">
                <a:solidFill>
                  <a:srgbClr val="5B6E80"/>
                </a:solidFill>
                <a:latin typeface="Arial"/>
              </a:defRPr>
            </a:pPr>
            <a:r>
              <a:rPr sz="900" cap="none">
                <a:latin typeface="Arial"/>
              </a:rPr>
              <a:t>Control / selection</a:t>
            </a:r>
          </a:p>
        </p:txBody>
      </p:sp>
      <p:cxnSp>
        <p:nvCxnSpPr>
          <p:cNvPr id="38" name="Connector"/>
          <p:cNvCxnSpPr/>
          <p:nvPr/>
        </p:nvCxnSpPr>
        <p:spPr>
          <a:xfrm>
            <a:off x="2811780" y="4094226"/>
            <a:ext cx="274321" cy="0"/>
          </a:xfrm>
          <a:prstGeom prst="line">
            <a:avLst/>
          </a:prstGeom>
          <a:ln w="2540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equest / local proxy"/>
          <p:cNvSpPr txBox="1"/>
          <p:nvPr/>
        </p:nvSpPr>
        <p:spPr>
          <a:xfrm>
            <a:off x="3175254" y="4011930"/>
            <a:ext cx="2606040" cy="178308"/>
          </a:xfrm>
          <a:prstGeom prst="rect">
            <a:avLst/>
          </a:prstGeom>
          <a:noFill/>
        </p:spPr>
        <p:txBody>
          <a:bodyPr wrap="square" lIns="0" tIns="0" rIns="0" bIns="0" anchor="t">
            <a:noAutofit/>
          </a:bodyPr>
          <a:lstStyle/>
          <a:p>
            <a:pPr>
              <a:spcAft>
                <a:spcPts val="150"/>
              </a:spcAft>
              <a:defRPr sz="1200" b="0">
                <a:solidFill>
                  <a:srgbClr val="5B6E80"/>
                </a:solidFill>
                <a:latin typeface="Arial"/>
              </a:defRPr>
            </a:pPr>
            <a:r>
              <a:rPr sz="900" cap="none">
                <a:latin typeface="Arial"/>
              </a:rPr>
              <a:t>Request / local proxy</a:t>
            </a:r>
          </a:p>
        </p:txBody>
      </p:sp>
      <p:cxnSp>
        <p:nvCxnSpPr>
          <p:cNvPr id="40" name="Connector"/>
          <p:cNvCxnSpPr/>
          <p:nvPr/>
        </p:nvCxnSpPr>
        <p:spPr>
          <a:xfrm>
            <a:off x="5623560" y="4094226"/>
            <a:ext cx="274321" cy="0"/>
          </a:xfrm>
          <a:prstGeom prst="line">
            <a:avLst/>
          </a:prstGeom>
          <a:ln w="25400">
            <a:solidFill>
              <a:srgbClr val="24824C"/>
            </a:solidFill>
            <a:tailEnd type="triangle" w="sm" len="sm"/>
          </a:ln>
        </p:spPr>
        <p:style>
          <a:lnRef idx="2">
            <a:schemeClr val="accent1"/>
          </a:lnRef>
          <a:fillRef idx="0">
            <a:schemeClr val="accent1"/>
          </a:fillRef>
          <a:effectRef idx="1">
            <a:schemeClr val="accent1"/>
          </a:effectRef>
          <a:fontRef idx="minor">
            <a:schemeClr val="tx1"/>
          </a:fontRef>
        </p:style>
      </p:cxnSp>
      <p:sp>
        <p:nvSpPr>
          <p:cNvPr id="41" name="KV data (separate path)"/>
          <p:cNvSpPr txBox="1"/>
          <p:nvPr/>
        </p:nvSpPr>
        <p:spPr>
          <a:xfrm>
            <a:off x="5987033" y="4011930"/>
            <a:ext cx="2606040" cy="178308"/>
          </a:xfrm>
          <a:prstGeom prst="rect">
            <a:avLst/>
          </a:prstGeom>
          <a:noFill/>
        </p:spPr>
        <p:txBody>
          <a:bodyPr wrap="square" lIns="0" tIns="0" rIns="0" bIns="0" anchor="t">
            <a:noAutofit/>
          </a:bodyPr>
          <a:lstStyle/>
          <a:p>
            <a:pPr>
              <a:spcAft>
                <a:spcPts val="150"/>
              </a:spcAft>
              <a:defRPr sz="1200" b="0">
                <a:solidFill>
                  <a:srgbClr val="5B6E80"/>
                </a:solidFill>
                <a:latin typeface="Arial"/>
              </a:defRPr>
            </a:pPr>
            <a:r>
              <a:rPr sz="900" cap="none">
                <a:latin typeface="Arial"/>
              </a:rPr>
              <a:t>KV data (separate path)</a:t>
            </a:r>
          </a:p>
        </p:txBody>
      </p:sp>
      <p:sp>
        <p:nvSpPr>
          <p:cNvPr id="42" name="Panel 41"/>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3" name="Panel 42"/>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4" name="The client sees one endpoint; KV data never needs to pass through the gateway."/>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The client sees one endpoint; KV data never needs to pass through the gateway.</a:t>
            </a:r>
          </a:p>
        </p:txBody>
      </p:sp>
      <p:sp>
        <p:nvSpPr>
          <p:cNvPr id="45" name="TextBox 4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6" name="TextBox 4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28 / 49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DECLARATIVE API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DECLARATIVE API  /  KAITO + llm-d</a:t>
            </a:r>
          </a:p>
        </p:txBody>
      </p:sp>
      <p:sp>
        <p:nvSpPr>
          <p:cNvPr id="4" name="One object declares the serving topology"/>
          <p:cNvSpPr txBox="1"/>
          <p:nvPr/>
        </p:nvSpPr>
        <p:spPr>
          <a:xfrm>
            <a:off x="365760" y="539496"/>
            <a:ext cx="8412480" cy="420624"/>
          </a:xfrm>
          <a:prstGeom prst="rect">
            <a:avLst/>
          </a:prstGeom>
          <a:noFill/>
        </p:spPr>
        <p:txBody>
          <a:bodyPr wrap="none" lIns="0" tIns="0" rIns="0" bIns="0" anchor="t">
            <a:noAutofit/>
          </a:bodyPr>
          <a:lstStyle/>
          <a:p>
            <a:r>
              <a:rPr lang="en-US" altLang="zh-CN" sz="2100" b="1" dirty="0" cap="none">
                <a:solidFill>
                  <a:srgbClr val="142C46"/>
                </a:solidFill>
                <a:latin typeface="Arial"/>
              </a:rPr>
              <a:t>One MultiRoleInference defines the topology</a:t>
            </a:r>
          </a:p>
        </p:txBody>
      </p:sp>
      <p:sp>
        <p:nvSpPr>
          <p:cNvPr id="5" name="One model, distinct instance types: 1 A100 prefill replica + 2 H100 decode repli"/>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dirty="0" cap="none">
                <a:solidFill>
                  <a:srgbClr val="52677D"/>
                </a:solidFill>
                <a:latin typeface="Arial"/>
              </a:rPr>
              <a:t>One model, distinct instance types: 1 A100 prefill replica + 2 H100 decode replicas.</a:t>
            </a:r>
          </a:p>
        </p:txBody>
      </p:sp>
      <p:sp>
        <p:nvSpPr>
          <p:cNvPr id="8" name="Panel 7"/>
          <p:cNvSpPr/>
          <p:nvPr/>
        </p:nvSpPr>
        <p:spPr>
          <a:xfrm>
            <a:off x="411480" y="1385316"/>
            <a:ext cx="4238244" cy="2825496"/>
          </a:xfrm>
          <a:prstGeom prst="roundRect">
            <a:avLst>
              <a:gd name="adj" fmla="val 12000"/>
            </a:avLst>
          </a:prstGeom>
          <a:solidFill>
            <a:srgbClr val="10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MultiRoleInference  /  model + role placement"/>
          <p:cNvSpPr txBox="1"/>
          <p:nvPr/>
        </p:nvSpPr>
        <p:spPr>
          <a:xfrm>
            <a:off x="582930" y="1529334"/>
            <a:ext cx="3895344" cy="171450"/>
          </a:xfrm>
          <a:prstGeom prst="rect">
            <a:avLst/>
          </a:prstGeom>
          <a:noFill/>
        </p:spPr>
        <p:txBody>
          <a:bodyPr wrap="square" lIns="0" tIns="0" rIns="0" bIns="0" anchor="t">
            <a:noAutofit/>
          </a:bodyPr>
          <a:lstStyle/>
          <a:p>
            <a:pPr>
              <a:spcAft>
                <a:spcPts val="150"/>
              </a:spcAft>
              <a:defRPr sz="1200" b="1">
                <a:solidFill>
                  <a:srgbClr val="C8D8E7"/>
                </a:solidFill>
                <a:latin typeface="Arial"/>
              </a:defRPr>
            </a:pPr>
            <a:r>
              <a:rPr sz="900" cap="none">
                <a:latin typeface="Arial"/>
              </a:rPr>
              <a:t>MultiRoleInference  /  model + role placement</a:t>
            </a:r>
          </a:p>
        </p:txBody>
      </p:sp>
      <p:sp>
        <p:nvSpPr>
          <p:cNvPr id="10" name="apiVersion: kaito.sh/v1alpha1 / kind: MultiRoleInference / metadata: /   name: q"/>
          <p:cNvSpPr txBox="1"/>
          <p:nvPr/>
        </p:nvSpPr>
        <p:spPr>
          <a:xfrm>
            <a:off x="589788" y="1851660"/>
            <a:ext cx="3895344" cy="2228850"/>
          </a:xfrm>
          <a:prstGeom prst="rect">
            <a:avLst/>
          </a:prstGeom>
          <a:noFill/>
        </p:spPr>
        <p:txBody>
          <a:bodyPr wrap="square" lIns="0" tIns="0" rIns="0" bIns="0" anchor="t">
            <a:noAutofit/>
          </a:bodyPr>
          <a:lstStyle/>
          <a:p>
            <a:pPr>
              <a:lnSpc>
                <a:spcPts val="1223"/>
              </a:lnSpc>
              <a:defRPr sz="1400" b="0">
                <a:solidFill>
                  <a:srgbClr val="FFFFFF"/>
                </a:solidFill>
                <a:latin typeface="Consolas"/>
              </a:defRPr>
            </a:pPr>
            <a:r>
              <a:rPr sz="1050" cap="none">
                <a:latin typeface="Consolas"/>
              </a:rPr>
              <a:t>apiVersion: kaito.sh/v1alpha1</a:t>
            </a:r>
          </a:p>
          <a:p>
            <a:pPr>
              <a:lnSpc>
                <a:spcPts val="1223"/>
              </a:lnSpc>
              <a:defRPr sz="1400" b="0">
                <a:solidFill>
                  <a:srgbClr val="FFFFFF"/>
                </a:solidFill>
                <a:latin typeface="Consolas"/>
              </a:defRPr>
            </a:pPr>
            <a:r>
              <a:rPr sz="1050" cap="none">
                <a:latin typeface="Consolas"/>
              </a:rPr>
              <a:t>kind: MultiRoleInference</a:t>
            </a:r>
          </a:p>
          <a:p>
            <a:pPr>
              <a:lnSpc>
                <a:spcPts val="1223"/>
              </a:lnSpc>
              <a:defRPr sz="1400" b="0">
                <a:solidFill>
                  <a:srgbClr val="FFFFFF"/>
                </a:solidFill>
                <a:latin typeface="Consolas"/>
              </a:defRPr>
            </a:pPr>
            <a:r>
              <a:rPr sz="1050" cap="none">
                <a:latin typeface="Consolas"/>
              </a:rPr>
              <a:t>metadata:</a:t>
            </a:r>
          </a:p>
          <a:p>
            <a:pPr>
              <a:lnSpc>
                <a:spcPts val="1223"/>
              </a:lnSpc>
              <a:defRPr sz="1400" b="0">
                <a:solidFill>
                  <a:srgbClr val="FFFFFF"/>
                </a:solidFill>
                <a:latin typeface="Consolas"/>
              </a:defRPr>
            </a:pPr>
            <a:r>
              <a:rPr sz="1050" cap="none">
                <a:latin typeface="Consolas"/>
              </a:rPr>
              <a:t>  name: qwen-3-8-27b</a:t>
            </a:r>
          </a:p>
          <a:p>
            <a:pPr>
              <a:lnSpc>
                <a:spcPts val="1223"/>
              </a:lnSpc>
              <a:defRPr sz="1400" b="0">
                <a:solidFill>
                  <a:srgbClr val="FFFFFF"/>
                </a:solidFill>
                <a:latin typeface="Consolas"/>
              </a:defRPr>
            </a:pPr>
            <a:r>
              <a:rPr sz="1050" cap="none">
                <a:latin typeface="Consolas"/>
              </a:rPr>
              <a:t>spec:</a:t>
            </a:r>
          </a:p>
          <a:p>
            <a:pPr>
              <a:lnSpc>
                <a:spcPts val="1223"/>
              </a:lnSpc>
              <a:defRPr sz="1400" b="0">
                <a:solidFill>
                  <a:srgbClr val="FFFFFF"/>
                </a:solidFill>
                <a:latin typeface="Consolas"/>
              </a:defRPr>
            </a:pPr>
            <a:r>
              <a:rPr sz="1050" cap="none">
                <a:latin typeface="Consolas"/>
              </a:rPr>
              <a:t>  model:</a:t>
            </a:r>
          </a:p>
          <a:p>
            <a:pPr>
              <a:lnSpc>
                <a:spcPts val="1223"/>
              </a:lnSpc>
              <a:defRPr sz="1400" b="0">
                <a:solidFill>
                  <a:srgbClr val="FFFFFF"/>
                </a:solidFill>
                <a:latin typeface="Consolas"/>
              </a:defRPr>
            </a:pPr>
            <a:r>
              <a:rPr sz="1050" cap="none">
                <a:latin typeface="Consolas"/>
              </a:rPr>
              <a:t>    name: Qwen/Qwen3.8-27B</a:t>
            </a:r>
          </a:p>
          <a:p>
            <a:pPr>
              <a:lnSpc>
                <a:spcPts val="1223"/>
              </a:lnSpc>
              <a:defRPr sz="1400" b="0">
                <a:solidFill>
                  <a:srgbClr val="FFFFFF"/>
                </a:solidFill>
                <a:latin typeface="Consolas"/>
              </a:defRPr>
            </a:pPr>
            <a:r>
              <a:rPr sz="1050" cap="none">
                <a:latin typeface="Consolas"/>
              </a:rPr>
              <a:t>  roles:</a:t>
            </a:r>
          </a:p>
          <a:p>
            <a:pPr>
              <a:lnSpc>
                <a:spcPts val="1223"/>
              </a:lnSpc>
              <a:defRPr sz="1400" b="0">
                <a:solidFill>
                  <a:srgbClr val="FFFFFF"/>
                </a:solidFill>
                <a:latin typeface="Consolas"/>
              </a:defRPr>
            </a:pPr>
            <a:r>
              <a:rPr sz="1050" cap="none">
                <a:latin typeface="Consolas"/>
              </a:rPr>
              <a:t>    - type: prefill</a:t>
            </a:r>
          </a:p>
          <a:p>
            <a:pPr>
              <a:lnSpc>
                <a:spcPts val="1223"/>
              </a:lnSpc>
              <a:defRPr sz="1400" b="0">
                <a:solidFill>
                  <a:srgbClr val="FFFFFF"/>
                </a:solidFill>
                <a:latin typeface="Consolas"/>
              </a:defRPr>
            </a:pPr>
            <a:r>
              <a:rPr sz="1050" cap="none">
                <a:latin typeface="Consolas"/>
              </a:rPr>
              <a:t>      replicas: 1</a:t>
            </a:r>
          </a:p>
          <a:p>
            <a:pPr>
              <a:lnSpc>
                <a:spcPts val="1223"/>
              </a:lnSpc>
              <a:defRPr sz="1400" b="0">
                <a:solidFill>
                  <a:srgbClr val="FFFFFF"/>
                </a:solidFill>
                <a:latin typeface="Consolas"/>
              </a:defRPr>
            </a:pPr>
            <a:r>
              <a:rPr sz="1050" cap="none">
                <a:latin typeface="Consolas"/>
              </a:rPr>
              <a:t>      instanceType: Standard_NC24ads_A100_v4</a:t>
            </a:r>
          </a:p>
          <a:p>
            <a:pPr>
              <a:lnSpc>
                <a:spcPts val="1223"/>
              </a:lnSpc>
              <a:defRPr sz="1400" b="0">
                <a:solidFill>
                  <a:srgbClr val="FFFFFF"/>
                </a:solidFill>
                <a:latin typeface="Consolas"/>
              </a:defRPr>
            </a:pPr>
            <a:r>
              <a:rPr sz="1050" cap="none">
                <a:latin typeface="Consolas"/>
              </a:rPr>
              <a:t>    - type: decode</a:t>
            </a:r>
          </a:p>
          <a:p>
            <a:pPr>
              <a:lnSpc>
                <a:spcPts val="1223"/>
              </a:lnSpc>
              <a:defRPr sz="1400" b="0">
                <a:solidFill>
                  <a:srgbClr val="FFFFFF"/>
                </a:solidFill>
                <a:latin typeface="Consolas"/>
              </a:defRPr>
            </a:pPr>
            <a:r>
              <a:rPr sz="1050" cap="none">
                <a:latin typeface="Consolas"/>
              </a:rPr>
              <a:t>      replicas: 2</a:t>
            </a:r>
          </a:p>
          <a:p>
            <a:pPr>
              <a:lnSpc>
                <a:spcPts val="1223"/>
              </a:lnSpc>
              <a:defRPr sz="1400" b="0">
                <a:solidFill>
                  <a:srgbClr val="FFFFFF"/>
                </a:solidFill>
                <a:latin typeface="Consolas"/>
              </a:defRPr>
            </a:pPr>
            <a:r>
              <a:rPr sz="1050" cap="none">
                <a:latin typeface="Consolas"/>
              </a:rPr>
              <a:t>      instanceType: Standard_NC80adis_H100_v5</a:t>
            </a:r>
          </a:p>
        </p:txBody>
      </p:sp>
      <p:cxnSp>
        <p:nvCxnSpPr>
          <p:cNvPr id="11" name="Flow"/>
          <p:cNvCxnSpPr/>
          <p:nvPr/>
        </p:nvCxnSpPr>
        <p:spPr>
          <a:xfrm>
            <a:off x="4718304" y="2791206"/>
            <a:ext cx="370332" cy="0"/>
          </a:xfrm>
          <a:prstGeom prst="line">
            <a:avLst/>
          </a:prstGeom>
          <a:ln w="22860">
            <a:solidFill>
              <a:srgbClr val="7150C8"/>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econcile"/>
          <p:cNvSpPr txBox="1"/>
          <p:nvPr/>
        </p:nvSpPr>
        <p:spPr>
          <a:xfrm>
            <a:off x="4663440" y="2496312"/>
            <a:ext cx="500634" cy="205740"/>
          </a:xfrm>
          <a:prstGeom prst="rect">
            <a:avLst/>
          </a:prstGeom>
          <a:noFill/>
        </p:spPr>
        <p:txBody>
          <a:bodyPr wrap="square" lIns="0" tIns="0" rIns="0" bIns="0" anchor="t">
            <a:noAutofit/>
          </a:bodyPr>
          <a:lstStyle/>
          <a:p>
            <a:pPr algn="ctr">
              <a:spcAft>
                <a:spcPts val="150"/>
              </a:spcAft>
              <a:defRPr sz="900" b="0">
                <a:solidFill>
                  <a:srgbClr val="7150C8"/>
                </a:solidFill>
                <a:latin typeface="Arial"/>
              </a:defRPr>
            </a:pPr>
            <a:r>
              <a:rPr sz="675" cap="none">
                <a:latin typeface="Arial"/>
              </a:rPr>
              <a:t>reconcile</a:t>
            </a:r>
          </a:p>
        </p:txBody>
      </p:sp>
      <p:sp>
        <p:nvSpPr>
          <p:cNvPr id="13" name="qwen-3-8-27b"/>
          <p:cNvSpPr/>
          <p:nvPr/>
        </p:nvSpPr>
        <p:spPr>
          <a:xfrm>
            <a:off x="5212080" y="1385316"/>
            <a:ext cx="3518154" cy="589788"/>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2100" b="1">
                <a:solidFill>
                  <a:srgbClr val="2463D4"/>
                </a:solidFill>
                <a:latin typeface="Arial"/>
              </a:defRPr>
            </a:pPr>
            <a:r>
              <a:rPr sz="1575" cap="none">
                <a:latin typeface="Arial"/>
              </a:rPr>
              <a:t>qwen-3-8-27b</a:t>
            </a:r>
          </a:p>
          <a:p>
            <a:pPr algn="ctr">
              <a:spcBef>
                <a:spcPts val="225"/>
              </a:spcBef>
              <a:defRPr sz="1200" b="0">
                <a:solidFill>
                  <a:srgbClr val="5B6E80"/>
                </a:solidFill>
                <a:latin typeface="Arial"/>
              </a:defRPr>
            </a:pPr>
            <a:r>
              <a:rPr sz="900" cap="none">
                <a:latin typeface="Arial"/>
              </a:rPr>
              <a:t>Qwen/Qwen3.8-27B</a:t>
            </a:r>
          </a:p>
        </p:txBody>
      </p:sp>
      <p:sp>
        <p:nvSpPr>
          <p:cNvPr id="14" name="ONE LOGICAL SERVICE / INFERENCEPOOL"/>
          <p:cNvSpPr txBox="1"/>
          <p:nvPr/>
        </p:nvSpPr>
        <p:spPr>
          <a:xfrm>
            <a:off x="5232654" y="2057400"/>
            <a:ext cx="3477006" cy="164592"/>
          </a:xfrm>
          <a:prstGeom prst="rect">
            <a:avLst/>
          </a:prstGeom>
          <a:noFill/>
        </p:spPr>
        <p:txBody>
          <a:bodyPr wrap="square" lIns="0" tIns="0" rIns="0" bIns="0" anchor="t">
            <a:noAutofit/>
          </a:bodyPr>
          <a:lstStyle/>
          <a:p>
            <a:pPr algn="ctr">
              <a:spcAft>
                <a:spcPts val="150"/>
              </a:spcAft>
              <a:defRPr sz="1100" b="1">
                <a:solidFill>
                  <a:srgbClr val="5B6E80"/>
                </a:solidFill>
                <a:latin typeface="Arial"/>
              </a:defRPr>
            </a:pPr>
            <a:r>
              <a:rPr sz="825" cap="none">
                <a:latin typeface="Arial"/>
              </a:rPr>
              <a:t>One logical service / InferencePool</a:t>
            </a:r>
          </a:p>
        </p:txBody>
      </p:sp>
      <p:sp>
        <p:nvSpPr>
          <p:cNvPr id="15" name="Panel 14"/>
          <p:cNvSpPr/>
          <p:nvPr/>
        </p:nvSpPr>
        <p:spPr>
          <a:xfrm>
            <a:off x="5212080" y="2379726"/>
            <a:ext cx="1666494" cy="1831086"/>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Panel 15"/>
          <p:cNvSpPr/>
          <p:nvPr/>
        </p:nvSpPr>
        <p:spPr>
          <a:xfrm>
            <a:off x="7056882" y="2379726"/>
            <a:ext cx="1673352" cy="1831086"/>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Prefill role"/>
          <p:cNvSpPr txBox="1"/>
          <p:nvPr/>
        </p:nvSpPr>
        <p:spPr>
          <a:xfrm>
            <a:off x="5349241" y="2503170"/>
            <a:ext cx="1392173" cy="240030"/>
          </a:xfrm>
          <a:prstGeom prst="rect">
            <a:avLst/>
          </a:prstGeom>
          <a:noFill/>
        </p:spPr>
        <p:txBody>
          <a:bodyPr wrap="square" lIns="0" tIns="0" rIns="0" bIns="0" anchor="t">
            <a:noAutofit/>
          </a:bodyPr>
          <a:lstStyle/>
          <a:p>
            <a:pPr>
              <a:spcAft>
                <a:spcPts val="300"/>
              </a:spcAft>
              <a:defRPr sz="2000" b="1">
                <a:solidFill>
                  <a:srgbClr val="A85C05"/>
                </a:solidFill>
                <a:latin typeface="Arial"/>
              </a:defRPr>
            </a:pPr>
            <a:r>
              <a:rPr sz="1500" cap="none">
                <a:latin typeface="Arial"/>
              </a:rPr>
              <a:t>Prefill role</a:t>
            </a:r>
          </a:p>
        </p:txBody>
      </p:sp>
      <p:sp>
        <p:nvSpPr>
          <p:cNvPr id="18" name="Decode role"/>
          <p:cNvSpPr txBox="1"/>
          <p:nvPr/>
        </p:nvSpPr>
        <p:spPr>
          <a:xfrm>
            <a:off x="7194042" y="2503170"/>
            <a:ext cx="1399032" cy="240030"/>
          </a:xfrm>
          <a:prstGeom prst="rect">
            <a:avLst/>
          </a:prstGeom>
          <a:noFill/>
        </p:spPr>
        <p:txBody>
          <a:bodyPr wrap="square" lIns="0" tIns="0" rIns="0" bIns="0" anchor="t">
            <a:noAutofit/>
          </a:bodyPr>
          <a:lstStyle/>
          <a:p>
            <a:pPr>
              <a:spcAft>
                <a:spcPts val="300"/>
              </a:spcAft>
              <a:defRPr sz="2000" b="1">
                <a:solidFill>
                  <a:srgbClr val="087F82"/>
                </a:solidFill>
                <a:latin typeface="Arial"/>
              </a:defRPr>
            </a:pPr>
            <a:r>
              <a:rPr sz="1500" cap="none">
                <a:latin typeface="Arial"/>
              </a:rPr>
              <a:t>Decode role</a:t>
            </a:r>
          </a:p>
        </p:txBody>
      </p:sp>
      <p:sp>
        <p:nvSpPr>
          <p:cNvPr id="19" name="replicas: 1"/>
          <p:cNvSpPr txBox="1"/>
          <p:nvPr/>
        </p:nvSpPr>
        <p:spPr>
          <a:xfrm>
            <a:off x="5349241" y="2798064"/>
            <a:ext cx="1392173" cy="164592"/>
          </a:xfrm>
          <a:prstGeom prst="rect">
            <a:avLst/>
          </a:prstGeom>
          <a:noFill/>
        </p:spPr>
        <p:txBody>
          <a:bodyPr wrap="square" lIns="0" tIns="0" rIns="0" bIns="0" anchor="t">
            <a:noAutofit/>
          </a:bodyPr>
          <a:lstStyle/>
          <a:p>
            <a:pPr>
              <a:spcAft>
                <a:spcPts val="150"/>
              </a:spcAft>
              <a:defRPr sz="1300" b="0">
                <a:solidFill>
                  <a:srgbClr val="A85C05"/>
                </a:solidFill>
                <a:latin typeface="Arial"/>
              </a:defRPr>
            </a:pPr>
            <a:r>
              <a:rPr sz="975" cap="none">
                <a:latin typeface="Arial"/>
              </a:rPr>
              <a:t>replicas: 1</a:t>
            </a:r>
          </a:p>
        </p:txBody>
      </p:sp>
      <p:sp>
        <p:nvSpPr>
          <p:cNvPr id="20" name="replicas: 2"/>
          <p:cNvSpPr txBox="1"/>
          <p:nvPr/>
        </p:nvSpPr>
        <p:spPr>
          <a:xfrm>
            <a:off x="7194042" y="2798064"/>
            <a:ext cx="1399032" cy="164592"/>
          </a:xfrm>
          <a:prstGeom prst="rect">
            <a:avLst/>
          </a:prstGeom>
          <a:noFill/>
        </p:spPr>
        <p:txBody>
          <a:bodyPr wrap="square" lIns="0" tIns="0" rIns="0" bIns="0" anchor="t">
            <a:noAutofit/>
          </a:bodyPr>
          <a:lstStyle/>
          <a:p>
            <a:pPr>
              <a:spcAft>
                <a:spcPts val="150"/>
              </a:spcAft>
              <a:defRPr sz="1300" b="0">
                <a:solidFill>
                  <a:srgbClr val="087F82"/>
                </a:solidFill>
                <a:latin typeface="Arial"/>
              </a:defRPr>
            </a:pPr>
            <a:r>
              <a:rPr sz="975" cap="none">
                <a:latin typeface="Arial"/>
              </a:rPr>
              <a:t>replicas: 2</a:t>
            </a:r>
          </a:p>
        </p:txBody>
      </p:sp>
      <p:sp>
        <p:nvSpPr>
          <p:cNvPr id="21" name="A100 / replica 1"/>
          <p:cNvSpPr/>
          <p:nvPr/>
        </p:nvSpPr>
        <p:spPr>
          <a:xfrm>
            <a:off x="5356099" y="3072385"/>
            <a:ext cx="1378457" cy="390905"/>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A85C05"/>
                </a:solidFill>
                <a:latin typeface="Arial"/>
              </a:defRPr>
            </a:pPr>
            <a:r>
              <a:rPr sz="1050" cap="none">
                <a:latin typeface="Arial"/>
              </a:rPr>
              <a:t>A100 / replica 1</a:t>
            </a:r>
          </a:p>
        </p:txBody>
      </p:sp>
      <p:sp>
        <p:nvSpPr>
          <p:cNvPr id="22" name="H100 / replica 1"/>
          <p:cNvSpPr/>
          <p:nvPr/>
        </p:nvSpPr>
        <p:spPr>
          <a:xfrm>
            <a:off x="7200900" y="3072385"/>
            <a:ext cx="1385316" cy="390905"/>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087F82"/>
                </a:solidFill>
                <a:latin typeface="Arial"/>
              </a:defRPr>
            </a:pPr>
            <a:r>
              <a:rPr sz="1050" cap="none">
                <a:latin typeface="Arial"/>
              </a:rPr>
              <a:t>H100 / replica 1</a:t>
            </a:r>
          </a:p>
        </p:txBody>
      </p:sp>
      <p:sp>
        <p:nvSpPr>
          <p:cNvPr id="23" name="H100 / replica 2"/>
          <p:cNvSpPr/>
          <p:nvPr/>
        </p:nvSpPr>
        <p:spPr>
          <a:xfrm>
            <a:off x="7200900" y="3559303"/>
            <a:ext cx="1385316" cy="390905"/>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087F82"/>
                </a:solidFill>
                <a:latin typeface="Arial"/>
              </a:defRPr>
            </a:pPr>
            <a:r>
              <a:rPr sz="1050" cap="none">
                <a:latin typeface="Arial"/>
              </a:rPr>
              <a:t>H100 / replica 2</a:t>
            </a:r>
          </a:p>
        </p:txBody>
      </p:sp>
      <p:sp>
        <p:nvSpPr>
          <p:cNvPr id="24" name="Standard_NC24ads_A100_v4"/>
          <p:cNvSpPr txBox="1"/>
          <p:nvPr/>
        </p:nvSpPr>
        <p:spPr>
          <a:xfrm>
            <a:off x="5301234" y="4025646"/>
            <a:ext cx="1488186" cy="123444"/>
          </a:xfrm>
          <a:prstGeom prst="rect">
            <a:avLst/>
          </a:prstGeom>
          <a:noFill/>
        </p:spPr>
        <p:txBody>
          <a:bodyPr wrap="square" lIns="0" tIns="0" rIns="0" bIns="0" anchor="t">
            <a:noAutofit/>
          </a:bodyPr>
          <a:lstStyle/>
          <a:p>
            <a:pPr algn="ctr">
              <a:spcAft>
                <a:spcPts val="150"/>
              </a:spcAft>
              <a:defRPr sz="900" b="0">
                <a:solidFill>
                  <a:srgbClr val="A85C05"/>
                </a:solidFill>
                <a:latin typeface="Arial"/>
              </a:defRPr>
            </a:pPr>
            <a:r>
              <a:rPr sz="675" cap="none">
                <a:latin typeface="Arial"/>
              </a:rPr>
              <a:t>Standard_NC24ads_A100_v4</a:t>
            </a:r>
          </a:p>
        </p:txBody>
      </p:sp>
      <p:sp>
        <p:nvSpPr>
          <p:cNvPr id="25" name="Standard_NC80adis_H100_v5"/>
          <p:cNvSpPr txBox="1"/>
          <p:nvPr/>
        </p:nvSpPr>
        <p:spPr>
          <a:xfrm>
            <a:off x="7146036" y="4025646"/>
            <a:ext cx="1495044" cy="123444"/>
          </a:xfrm>
          <a:prstGeom prst="rect">
            <a:avLst/>
          </a:prstGeom>
          <a:noFill/>
        </p:spPr>
        <p:txBody>
          <a:bodyPr wrap="square" lIns="0" tIns="0" rIns="0" bIns="0" anchor="t">
            <a:noAutofit/>
          </a:bodyPr>
          <a:lstStyle/>
          <a:p>
            <a:pPr algn="ctr">
              <a:spcAft>
                <a:spcPts val="150"/>
              </a:spcAft>
              <a:defRPr sz="900" b="0">
                <a:solidFill>
                  <a:srgbClr val="087F82"/>
                </a:solidFill>
                <a:latin typeface="Arial"/>
              </a:defRPr>
            </a:pPr>
            <a:r>
              <a:rPr sz="675" cap="none">
                <a:latin typeface="Arial"/>
              </a:rPr>
              <a:t>Standard_NC80adis_H100_v5</a:t>
            </a:r>
          </a:p>
        </p:txBody>
      </p:sp>
      <p:cxnSp>
        <p:nvCxnSpPr>
          <p:cNvPr id="26" name="Flow"/>
          <p:cNvCxnSpPr/>
          <p:nvPr/>
        </p:nvCxnSpPr>
        <p:spPr>
          <a:xfrm>
            <a:off x="6048756" y="2249424"/>
            <a:ext cx="0" cy="102870"/>
          </a:xfrm>
          <a:prstGeom prst="line">
            <a:avLst/>
          </a:prstGeom>
          <a:ln w="22860">
            <a:solidFill>
              <a:srgbClr val="A85C05"/>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Flow"/>
          <p:cNvCxnSpPr/>
          <p:nvPr/>
        </p:nvCxnSpPr>
        <p:spPr>
          <a:xfrm>
            <a:off x="7893558" y="2249424"/>
            <a:ext cx="0" cy="102870"/>
          </a:xfrm>
          <a:prstGeom prst="line">
            <a:avLst/>
          </a:prstGeom>
          <a:ln w="22860">
            <a:solidFill>
              <a:srgbClr val="087F82"/>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Panel 27"/>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Panel 28"/>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Same model, independent role placement — A100 for prefill; H100 for decode."/>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Same model, independent role placement — A100 for prefill; H100 for decode.</a:t>
            </a:r>
          </a:p>
        </p:txBody>
      </p:sp>
      <p:sp>
        <p:nvSpPr>
          <p:cNvPr id="31" name="TextBox 30"/>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2" name="TextBox 31"/>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29 / 49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RECONCILIATION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RECONCILIATION  /  KAITO + llm-d</a:t>
            </a:r>
          </a:p>
        </p:txBody>
      </p:sp>
      <p:sp>
        <p:nvSpPr>
          <p:cNvPr id="4" name="KAITO generates resources — and keeps them aligned"/>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KAITO generates resources and keeps them aligned</a:t>
            </a:r>
          </a:p>
        </p:txBody>
      </p:sp>
      <p:sp>
        <p:nvSpPr>
          <p:cNvPr id="5" name="A declarative topology becomes owned resources, runtime wiring and a shared rout"/>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A declarative topology becomes owned resources, runtime wiring and a shared routing contract.</a:t>
            </a:r>
          </a:p>
        </p:txBody>
      </p:sp>
      <p:sp>
        <p:nvSpPr>
          <p:cNvPr id="8" name="MultiRoleInference"/>
          <p:cNvSpPr/>
          <p:nvPr/>
        </p:nvSpPr>
        <p:spPr>
          <a:xfrm>
            <a:off x="3175254" y="1357884"/>
            <a:ext cx="2791206" cy="493776"/>
          </a:xfrm>
          <a:prstGeom prst="roundRect">
            <a:avLst>
              <a:gd name="adj" fmla="val 12000"/>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2200" b="1">
                <a:solidFill>
                  <a:srgbClr val="7150C8"/>
                </a:solidFill>
                <a:latin typeface="Arial"/>
              </a:defRPr>
            </a:pPr>
            <a:r>
              <a:rPr sz="1650" cap="none">
                <a:latin typeface="Arial"/>
              </a:rPr>
              <a:t>MultiRoleInference</a:t>
            </a:r>
          </a:p>
        </p:txBody>
      </p:sp>
      <p:sp>
        <p:nvSpPr>
          <p:cNvPr id="9" name="KAITO RECONCILES + OWNS"/>
          <p:cNvSpPr txBox="1"/>
          <p:nvPr/>
        </p:nvSpPr>
        <p:spPr>
          <a:xfrm>
            <a:off x="3429000" y="1947672"/>
            <a:ext cx="2276856" cy="164592"/>
          </a:xfrm>
          <a:prstGeom prst="rect">
            <a:avLst/>
          </a:prstGeom>
          <a:noFill/>
        </p:spPr>
        <p:txBody>
          <a:bodyPr wrap="square" lIns="0" tIns="0" rIns="0" bIns="0" anchor="t">
            <a:noAutofit/>
          </a:bodyPr>
          <a:lstStyle/>
          <a:p>
            <a:pPr algn="ctr">
              <a:spcAft>
                <a:spcPts val="150"/>
              </a:spcAft>
              <a:defRPr sz="1100" b="1">
                <a:solidFill>
                  <a:srgbClr val="7150C8"/>
                </a:solidFill>
                <a:latin typeface="Arial"/>
              </a:defRPr>
            </a:pPr>
            <a:r>
              <a:rPr sz="825" cap="none">
                <a:latin typeface="Arial"/>
              </a:rPr>
              <a:t>KAITO reconciles + owns</a:t>
            </a:r>
          </a:p>
        </p:txBody>
      </p:sp>
      <p:cxnSp>
        <p:nvCxnSpPr>
          <p:cNvPr id="10" name="KAITO owns Prefill InferenceSet"/>
          <p:cNvCxnSpPr/>
          <p:nvPr/>
        </p:nvCxnSpPr>
        <p:spPr>
          <a:xfrm flipH="1">
            <a:off x="1687068" y="2146554"/>
            <a:ext cx="2883789" cy="0"/>
          </a:xfrm>
          <a:prstGeom prst="line">
            <a:avLst/>
          </a:prstGeom>
          <a:ln w="22860">
            <a:solidFill>
              <a:srgbClr val="7150C8"/>
            </a:solidFill>
            <a:prstDash val="dash"/>
          </a:ln>
        </p:spPr>
        <p:style>
          <a:lnRef idx="2">
            <a:schemeClr val="accent1"/>
          </a:lnRef>
          <a:fillRef idx="0">
            <a:schemeClr val="accent1"/>
          </a:fillRef>
          <a:effectRef idx="1">
            <a:schemeClr val="accent1"/>
          </a:effectRef>
          <a:fontRef idx="minor">
            <a:schemeClr val="tx1"/>
          </a:fontRef>
        </p:style>
      </p:cxnSp>
      <p:cxnSp>
        <p:nvCxnSpPr>
          <p:cNvPr id="11" name="KAITO owns Prefill InferenceSet"/>
          <p:cNvCxnSpPr/>
          <p:nvPr/>
        </p:nvCxnSpPr>
        <p:spPr>
          <a:xfrm>
            <a:off x="1687068" y="2146554"/>
            <a:ext cx="0" cy="240030"/>
          </a:xfrm>
          <a:prstGeom prst="line">
            <a:avLst/>
          </a:prstGeom>
          <a:ln w="2286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2" name="Prefill InferenceSet"/>
          <p:cNvSpPr/>
          <p:nvPr/>
        </p:nvSpPr>
        <p:spPr>
          <a:xfrm>
            <a:off x="432054" y="2400300"/>
            <a:ext cx="2516886" cy="637794"/>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900" b="1">
                <a:solidFill>
                  <a:srgbClr val="A85C05"/>
                </a:solidFill>
                <a:latin typeface="Arial"/>
              </a:defRPr>
            </a:pPr>
            <a:r>
              <a:rPr sz="1425" cap="none">
                <a:latin typeface="Arial"/>
              </a:rPr>
              <a:t>Prefill InferenceSet</a:t>
            </a:r>
          </a:p>
          <a:p>
            <a:pPr algn="ctr">
              <a:spcBef>
                <a:spcPts val="225"/>
              </a:spcBef>
              <a:defRPr sz="1200" b="0">
                <a:solidFill>
                  <a:srgbClr val="5B6E80"/>
                </a:solidFill>
                <a:latin typeface="Arial"/>
              </a:defRPr>
            </a:pPr>
            <a:r>
              <a:rPr sz="900" cap="none">
                <a:latin typeface="Arial"/>
              </a:rPr>
              <a:t>Role-specific workers</a:t>
            </a:r>
          </a:p>
        </p:txBody>
      </p:sp>
      <p:cxnSp>
        <p:nvCxnSpPr>
          <p:cNvPr id="13" name="KAITO owns Decode InferenceSet"/>
          <p:cNvCxnSpPr/>
          <p:nvPr/>
        </p:nvCxnSpPr>
        <p:spPr>
          <a:xfrm flipH="1">
            <a:off x="4567428" y="2146554"/>
            <a:ext cx="3429" cy="0"/>
          </a:xfrm>
          <a:prstGeom prst="line">
            <a:avLst/>
          </a:prstGeom>
          <a:ln w="22860">
            <a:solidFill>
              <a:srgbClr val="7150C8"/>
            </a:solidFill>
            <a:prstDash val="dash"/>
          </a:ln>
        </p:spPr>
        <p:style>
          <a:lnRef idx="2">
            <a:schemeClr val="accent1"/>
          </a:lnRef>
          <a:fillRef idx="0">
            <a:schemeClr val="accent1"/>
          </a:fillRef>
          <a:effectRef idx="1">
            <a:schemeClr val="accent1"/>
          </a:effectRef>
          <a:fontRef idx="minor">
            <a:schemeClr val="tx1"/>
          </a:fontRef>
        </p:style>
      </p:cxnSp>
      <p:cxnSp>
        <p:nvCxnSpPr>
          <p:cNvPr id="14" name="KAITO owns Decode InferenceSet"/>
          <p:cNvCxnSpPr/>
          <p:nvPr/>
        </p:nvCxnSpPr>
        <p:spPr>
          <a:xfrm>
            <a:off x="4567428" y="2146554"/>
            <a:ext cx="0" cy="240030"/>
          </a:xfrm>
          <a:prstGeom prst="line">
            <a:avLst/>
          </a:prstGeom>
          <a:ln w="2286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5" name="Decode InferenceSet"/>
          <p:cNvSpPr/>
          <p:nvPr/>
        </p:nvSpPr>
        <p:spPr>
          <a:xfrm>
            <a:off x="3312414" y="2400300"/>
            <a:ext cx="2516886" cy="637794"/>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900" b="1">
                <a:solidFill>
                  <a:srgbClr val="087F82"/>
                </a:solidFill>
                <a:latin typeface="Arial"/>
              </a:defRPr>
            </a:pPr>
            <a:r>
              <a:rPr sz="1425" cap="none">
                <a:latin typeface="Arial"/>
              </a:rPr>
              <a:t>Decode InferenceSet</a:t>
            </a:r>
          </a:p>
          <a:p>
            <a:pPr algn="ctr">
              <a:spcBef>
                <a:spcPts val="225"/>
              </a:spcBef>
              <a:defRPr sz="1200" b="0">
                <a:solidFill>
                  <a:srgbClr val="5B6E80"/>
                </a:solidFill>
                <a:latin typeface="Arial"/>
              </a:defRPr>
            </a:pPr>
            <a:r>
              <a:rPr sz="900" cap="none">
                <a:latin typeface="Arial"/>
              </a:rPr>
              <a:t>Role-specific workers</a:t>
            </a:r>
          </a:p>
        </p:txBody>
      </p:sp>
      <p:cxnSp>
        <p:nvCxnSpPr>
          <p:cNvPr id="16" name="KAITO owns Routing resources"/>
          <p:cNvCxnSpPr/>
          <p:nvPr/>
        </p:nvCxnSpPr>
        <p:spPr>
          <a:xfrm>
            <a:off x="4570857" y="2146554"/>
            <a:ext cx="2876931" cy="0"/>
          </a:xfrm>
          <a:prstGeom prst="line">
            <a:avLst/>
          </a:prstGeom>
          <a:ln w="22860">
            <a:solidFill>
              <a:srgbClr val="7150C8"/>
            </a:solidFill>
            <a:prstDash val="dash"/>
          </a:ln>
        </p:spPr>
        <p:style>
          <a:lnRef idx="2">
            <a:schemeClr val="accent1"/>
          </a:lnRef>
          <a:fillRef idx="0">
            <a:schemeClr val="accent1"/>
          </a:fillRef>
          <a:effectRef idx="1">
            <a:schemeClr val="accent1"/>
          </a:effectRef>
          <a:fontRef idx="minor">
            <a:schemeClr val="tx1"/>
          </a:fontRef>
        </p:style>
      </p:cxnSp>
      <p:cxnSp>
        <p:nvCxnSpPr>
          <p:cNvPr id="17" name="KAITO owns Routing resources"/>
          <p:cNvCxnSpPr/>
          <p:nvPr/>
        </p:nvCxnSpPr>
        <p:spPr>
          <a:xfrm>
            <a:off x="7447788" y="2146554"/>
            <a:ext cx="0" cy="240030"/>
          </a:xfrm>
          <a:prstGeom prst="line">
            <a:avLst/>
          </a:prstGeom>
          <a:ln w="22860">
            <a:solidFill>
              <a:srgbClr val="7150C8"/>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8" name="Routing resources"/>
          <p:cNvSpPr/>
          <p:nvPr/>
        </p:nvSpPr>
        <p:spPr>
          <a:xfrm>
            <a:off x="6192773" y="2400300"/>
            <a:ext cx="2516886" cy="637794"/>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900" b="1">
                <a:solidFill>
                  <a:srgbClr val="2463D4"/>
                </a:solidFill>
                <a:latin typeface="Arial"/>
              </a:defRPr>
            </a:pPr>
            <a:r>
              <a:rPr sz="1425" cap="none">
                <a:latin typeface="Arial"/>
              </a:rPr>
              <a:t>Routing resources</a:t>
            </a:r>
          </a:p>
          <a:p>
            <a:pPr algn="ctr">
              <a:spcBef>
                <a:spcPts val="225"/>
              </a:spcBef>
              <a:defRPr sz="1200" b="0">
                <a:solidFill>
                  <a:srgbClr val="5B6E80"/>
                </a:solidFill>
                <a:latin typeface="Arial"/>
              </a:defRPr>
            </a:pPr>
            <a:r>
              <a:rPr sz="900" cap="none">
                <a:latin typeface="Arial"/>
              </a:rPr>
              <a:t>InferencePool + llm-d EPP</a:t>
            </a:r>
          </a:p>
        </p:txBody>
      </p:sp>
      <p:sp>
        <p:nvSpPr>
          <p:cNvPr id="19" name="Role labels / NIXL host / Pod IP"/>
          <p:cNvSpPr txBox="1"/>
          <p:nvPr/>
        </p:nvSpPr>
        <p:spPr>
          <a:xfrm>
            <a:off x="603504" y="3230118"/>
            <a:ext cx="2160270" cy="548640"/>
          </a:xfrm>
          <a:prstGeom prst="rect">
            <a:avLst/>
          </a:prstGeom>
          <a:noFill/>
        </p:spPr>
        <p:txBody>
          <a:bodyPr wrap="square" lIns="0" tIns="0" rIns="0" bIns="0" anchor="t">
            <a:noAutofit/>
          </a:bodyPr>
          <a:lstStyle/>
          <a:p>
            <a:pPr>
              <a:spcAft>
                <a:spcPts val="150"/>
              </a:spcAft>
              <a:defRPr sz="1700" b="0">
                <a:solidFill>
                  <a:srgbClr val="5B6E80"/>
                </a:solidFill>
                <a:latin typeface="Arial"/>
              </a:defRPr>
            </a:pPr>
            <a:r>
              <a:rPr sz="1275" cap="none">
                <a:latin typeface="Arial"/>
              </a:rPr>
              <a:t>Role labels</a:t>
            </a:r>
          </a:p>
          <a:p>
            <a:pPr>
              <a:spcAft>
                <a:spcPts val="150"/>
              </a:spcAft>
              <a:defRPr sz="1700" b="0">
                <a:solidFill>
                  <a:srgbClr val="5B6E80"/>
                </a:solidFill>
                <a:latin typeface="Arial"/>
              </a:defRPr>
            </a:pPr>
            <a:r>
              <a:rPr sz="1275" cap="none">
                <a:latin typeface="Arial"/>
              </a:rPr>
              <a:t>NIXL host / Pod IP</a:t>
            </a:r>
          </a:p>
        </p:txBody>
      </p:sp>
      <p:sp>
        <p:nvSpPr>
          <p:cNvPr id="20" name="Routing sidecar injection / NIXL + local vLLM ports"/>
          <p:cNvSpPr txBox="1"/>
          <p:nvPr/>
        </p:nvSpPr>
        <p:spPr>
          <a:xfrm>
            <a:off x="3483864" y="3230118"/>
            <a:ext cx="2160270" cy="548640"/>
          </a:xfrm>
          <a:prstGeom prst="rect">
            <a:avLst/>
          </a:prstGeom>
          <a:noFill/>
        </p:spPr>
        <p:txBody>
          <a:bodyPr wrap="square" lIns="0" tIns="0" rIns="0" bIns="0" anchor="t">
            <a:noAutofit/>
          </a:bodyPr>
          <a:lstStyle/>
          <a:p>
            <a:pPr>
              <a:spcAft>
                <a:spcPts val="150"/>
              </a:spcAft>
              <a:defRPr sz="1700" b="0">
                <a:solidFill>
                  <a:srgbClr val="5B6E80"/>
                </a:solidFill>
                <a:latin typeface="Arial"/>
              </a:defRPr>
            </a:pPr>
            <a:r>
              <a:rPr sz="1275" cap="none">
                <a:latin typeface="Arial"/>
              </a:rPr>
              <a:t>Routing sidecar injection</a:t>
            </a:r>
          </a:p>
          <a:p>
            <a:pPr>
              <a:spcAft>
                <a:spcPts val="150"/>
              </a:spcAft>
              <a:defRPr sz="1700" b="0">
                <a:solidFill>
                  <a:srgbClr val="5B6E80"/>
                </a:solidFill>
                <a:latin typeface="Arial"/>
              </a:defRPr>
            </a:pPr>
            <a:r>
              <a:rPr sz="1275" cap="none">
                <a:latin typeface="Arial"/>
              </a:rPr>
              <a:t>NIXL + local vLLM ports</a:t>
            </a:r>
          </a:p>
        </p:txBody>
      </p:sp>
      <p:sp>
        <p:nvSpPr>
          <p:cNvPr id="21" name="Services + targetPorts / Endpoint selection config"/>
          <p:cNvSpPr txBox="1"/>
          <p:nvPr/>
        </p:nvSpPr>
        <p:spPr>
          <a:xfrm>
            <a:off x="6364224" y="3230118"/>
            <a:ext cx="2160270" cy="548640"/>
          </a:xfrm>
          <a:prstGeom prst="rect">
            <a:avLst/>
          </a:prstGeom>
          <a:noFill/>
        </p:spPr>
        <p:txBody>
          <a:bodyPr wrap="square" lIns="0" tIns="0" rIns="0" bIns="0" anchor="t">
            <a:noAutofit/>
          </a:bodyPr>
          <a:lstStyle/>
          <a:p>
            <a:pPr>
              <a:spcAft>
                <a:spcPts val="150"/>
              </a:spcAft>
              <a:defRPr sz="1700" b="0">
                <a:solidFill>
                  <a:srgbClr val="5B6E80"/>
                </a:solidFill>
                <a:latin typeface="Arial"/>
              </a:defRPr>
            </a:pPr>
            <a:r>
              <a:rPr sz="1275" cap="none">
                <a:latin typeface="Arial"/>
              </a:rPr>
              <a:t>Services + targetPorts</a:t>
            </a:r>
          </a:p>
          <a:p>
            <a:pPr>
              <a:spcAft>
                <a:spcPts val="150"/>
              </a:spcAft>
              <a:defRPr sz="1700" b="0">
                <a:solidFill>
                  <a:srgbClr val="5B6E80"/>
                </a:solidFill>
                <a:latin typeface="Arial"/>
              </a:defRPr>
            </a:pPr>
            <a:r>
              <a:rPr sz="1275" cap="none">
                <a:latin typeface="Arial"/>
              </a:rPr>
              <a:t>Endpoint selection config</a:t>
            </a:r>
          </a:p>
        </p:txBody>
      </p:sp>
      <p:sp>
        <p:nvSpPr>
          <p:cNvPr id="22" name="Panel 21"/>
          <p:cNvSpPr/>
          <p:nvPr/>
        </p:nvSpPr>
        <p:spPr>
          <a:xfrm>
            <a:off x="445770" y="3936492"/>
            <a:ext cx="8250174" cy="288036"/>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Shared invariants: ownership references • role consistency • labels • ports • li"/>
          <p:cNvSpPr txBox="1"/>
          <p:nvPr/>
        </p:nvSpPr>
        <p:spPr>
          <a:xfrm>
            <a:off x="582930" y="3998214"/>
            <a:ext cx="7955280" cy="150876"/>
          </a:xfrm>
          <a:prstGeom prst="rect">
            <a:avLst/>
          </a:prstGeom>
          <a:noFill/>
        </p:spPr>
        <p:txBody>
          <a:bodyPr wrap="square" lIns="0" tIns="0" rIns="0" bIns="0" anchor="t">
            <a:noAutofit/>
          </a:bodyPr>
          <a:lstStyle/>
          <a:p>
            <a:pPr algn="ctr">
              <a:spcAft>
                <a:spcPts val="150"/>
              </a:spcAft>
              <a:defRPr sz="1300" b="0">
                <a:solidFill>
                  <a:srgbClr val="5B6E80"/>
                </a:solidFill>
                <a:latin typeface="Arial"/>
              </a:defRPr>
            </a:pPr>
            <a:r>
              <a:rPr sz="975" cap="none">
                <a:latin typeface="Arial"/>
              </a:rPr>
              <a:t>Shared invariants: ownership references • role consistency • labels • ports • lifecycle</a:t>
            </a:r>
          </a:p>
        </p:txBody>
      </p:sp>
      <p:sp>
        <p:nvSpPr>
          <p:cNvPr id="24" name="Panel 23"/>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Panel 24"/>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Not just generated YAML: controller-owned relationships and consistent runtime c"/>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Not just generated YAML: controller-owned relationships and consistent runtime contracts.</a:t>
            </a:r>
          </a:p>
        </p:txBody>
      </p:sp>
      <p:sp>
        <p:nvSpPr>
          <p:cNvPr id="27" name="TextBox 26"/>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8" name="TextBox 27"/>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30 / 49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REQUEST LIFECYCLE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REQUEST LIFECYCLE  /  KAITO + llm-d</a:t>
            </a:r>
          </a:p>
        </p:txBody>
      </p:sp>
      <p:sp>
        <p:nvSpPr>
          <p:cNvPr id="4" name="The decode sidecar coordinates the P/D request"/>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The decode sidecar coordinates the P/D request</a:t>
            </a:r>
          </a:p>
        </p:txBody>
      </p:sp>
      <p:sp>
        <p:nvSpPr>
          <p:cNvPr id="5" name="Remote prefill when needed; local decode on the selected worker."/>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Remote prefill when needed; local decode on the selected worker.</a:t>
            </a:r>
          </a:p>
        </p:txBody>
      </p:sp>
      <p:sp>
        <p:nvSpPr>
          <p:cNvPr id="8" name="Client"/>
          <p:cNvSpPr/>
          <p:nvPr/>
        </p:nvSpPr>
        <p:spPr>
          <a:xfrm>
            <a:off x="144017" y="1392173"/>
            <a:ext cx="1357884" cy="370332"/>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2463D4"/>
                </a:solidFill>
                <a:latin typeface="Arial"/>
              </a:defRPr>
            </a:pPr>
            <a:r>
              <a:rPr sz="1050" cap="none">
                <a:latin typeface="Arial"/>
              </a:rPr>
              <a:t>Client</a:t>
            </a:r>
          </a:p>
        </p:txBody>
      </p:sp>
      <p:cxnSp>
        <p:nvCxnSpPr>
          <p:cNvPr id="9" name="Client lifeline"/>
          <p:cNvCxnSpPr/>
          <p:nvPr/>
        </p:nvCxnSpPr>
        <p:spPr>
          <a:xfrm>
            <a:off x="822960" y="1824228"/>
            <a:ext cx="0" cy="2503170"/>
          </a:xfrm>
          <a:prstGeom prst="line">
            <a:avLst/>
          </a:prstGeom>
          <a:ln w="13970">
            <a:solidFill>
              <a:srgbClr val="DCE5EF"/>
            </a:solidFill>
            <a:prstDash val="dash"/>
          </a:ln>
        </p:spPr>
        <p:style>
          <a:lnRef idx="2">
            <a:schemeClr val="accent1"/>
          </a:lnRef>
          <a:fillRef idx="0">
            <a:schemeClr val="accent1"/>
          </a:fillRef>
          <a:effectRef idx="1">
            <a:schemeClr val="accent1"/>
          </a:effectRef>
          <a:fontRef idx="minor">
            <a:schemeClr val="tx1"/>
          </a:fontRef>
        </p:style>
      </p:cxnSp>
      <p:sp>
        <p:nvSpPr>
          <p:cNvPr id="10" name="Gateway"/>
          <p:cNvSpPr/>
          <p:nvPr/>
        </p:nvSpPr>
        <p:spPr>
          <a:xfrm>
            <a:off x="1810511" y="1392173"/>
            <a:ext cx="1357884" cy="370332"/>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2463D4"/>
                </a:solidFill>
                <a:latin typeface="Arial"/>
              </a:defRPr>
            </a:pPr>
            <a:r>
              <a:rPr sz="1050" cap="none">
                <a:latin typeface="Arial"/>
              </a:rPr>
              <a:t>Gateway</a:t>
            </a:r>
          </a:p>
        </p:txBody>
      </p:sp>
      <p:cxnSp>
        <p:nvCxnSpPr>
          <p:cNvPr id="11" name="Gateway lifeline"/>
          <p:cNvCxnSpPr/>
          <p:nvPr/>
        </p:nvCxnSpPr>
        <p:spPr>
          <a:xfrm>
            <a:off x="2489454" y="1824228"/>
            <a:ext cx="0" cy="2503170"/>
          </a:xfrm>
          <a:prstGeom prst="line">
            <a:avLst/>
          </a:prstGeom>
          <a:ln w="13970">
            <a:solidFill>
              <a:srgbClr val="DCE5EF"/>
            </a:solidFill>
            <a:prstDash val="dash"/>
          </a:ln>
        </p:spPr>
        <p:style>
          <a:lnRef idx="2">
            <a:schemeClr val="accent1"/>
          </a:lnRef>
          <a:fillRef idx="0">
            <a:schemeClr val="accent1"/>
          </a:fillRef>
          <a:effectRef idx="1">
            <a:schemeClr val="accent1"/>
          </a:effectRef>
          <a:fontRef idx="minor">
            <a:schemeClr val="tx1"/>
          </a:fontRef>
        </p:style>
      </p:cxnSp>
      <p:sp>
        <p:nvSpPr>
          <p:cNvPr id="12" name="Decode sidecar"/>
          <p:cNvSpPr/>
          <p:nvPr/>
        </p:nvSpPr>
        <p:spPr>
          <a:xfrm>
            <a:off x="3470148" y="1392173"/>
            <a:ext cx="1357884" cy="370332"/>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2463D4"/>
                </a:solidFill>
                <a:latin typeface="Arial"/>
              </a:defRPr>
            </a:pPr>
            <a:r>
              <a:rPr sz="1050" cap="none">
                <a:latin typeface="Arial"/>
              </a:rPr>
              <a:t>Decode sidecar</a:t>
            </a:r>
          </a:p>
        </p:txBody>
      </p:sp>
      <p:cxnSp>
        <p:nvCxnSpPr>
          <p:cNvPr id="13" name="Decode sidecar lifeline"/>
          <p:cNvCxnSpPr/>
          <p:nvPr/>
        </p:nvCxnSpPr>
        <p:spPr>
          <a:xfrm>
            <a:off x="4149090" y="1824228"/>
            <a:ext cx="0" cy="2503170"/>
          </a:xfrm>
          <a:prstGeom prst="line">
            <a:avLst/>
          </a:prstGeom>
          <a:ln w="13970">
            <a:solidFill>
              <a:srgbClr val="DCE5EF"/>
            </a:solidFill>
            <a:prstDash val="dash"/>
          </a:ln>
        </p:spPr>
        <p:style>
          <a:lnRef idx="2">
            <a:schemeClr val="accent1"/>
          </a:lnRef>
          <a:fillRef idx="0">
            <a:schemeClr val="accent1"/>
          </a:fillRef>
          <a:effectRef idx="1">
            <a:schemeClr val="accent1"/>
          </a:effectRef>
          <a:fontRef idx="minor">
            <a:schemeClr val="tx1"/>
          </a:fontRef>
        </p:style>
      </p:cxnSp>
      <p:sp>
        <p:nvSpPr>
          <p:cNvPr id="14" name="Prefill vLLM"/>
          <p:cNvSpPr/>
          <p:nvPr/>
        </p:nvSpPr>
        <p:spPr>
          <a:xfrm>
            <a:off x="5150358" y="1392173"/>
            <a:ext cx="1357884" cy="370332"/>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A85C05"/>
                </a:solidFill>
                <a:latin typeface="Arial"/>
              </a:defRPr>
            </a:pPr>
            <a:r>
              <a:rPr sz="1050" cap="none">
                <a:latin typeface="Arial"/>
              </a:rPr>
              <a:t>Prefill vLLM</a:t>
            </a:r>
          </a:p>
        </p:txBody>
      </p:sp>
      <p:cxnSp>
        <p:nvCxnSpPr>
          <p:cNvPr id="15" name="Prefill vLLM lifeline"/>
          <p:cNvCxnSpPr/>
          <p:nvPr/>
        </p:nvCxnSpPr>
        <p:spPr>
          <a:xfrm>
            <a:off x="5829300" y="1824228"/>
            <a:ext cx="0" cy="2503170"/>
          </a:xfrm>
          <a:prstGeom prst="line">
            <a:avLst/>
          </a:prstGeom>
          <a:ln w="13970">
            <a:solidFill>
              <a:srgbClr val="DCE5EF"/>
            </a:solidFill>
            <a:prstDash val="dash"/>
          </a:ln>
        </p:spPr>
        <p:style>
          <a:lnRef idx="2">
            <a:schemeClr val="accent1"/>
          </a:lnRef>
          <a:fillRef idx="0">
            <a:schemeClr val="accent1"/>
          </a:fillRef>
          <a:effectRef idx="1">
            <a:schemeClr val="accent1"/>
          </a:effectRef>
          <a:fontRef idx="minor">
            <a:schemeClr val="tx1"/>
          </a:fontRef>
        </p:style>
      </p:cxnSp>
      <p:sp>
        <p:nvSpPr>
          <p:cNvPr id="16" name="Decode vLLM"/>
          <p:cNvSpPr/>
          <p:nvPr/>
        </p:nvSpPr>
        <p:spPr>
          <a:xfrm>
            <a:off x="7002018" y="1392173"/>
            <a:ext cx="1357884" cy="370332"/>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400" b="1">
                <a:solidFill>
                  <a:srgbClr val="087F82"/>
                </a:solidFill>
                <a:latin typeface="Arial"/>
              </a:defRPr>
            </a:pPr>
            <a:r>
              <a:rPr sz="1050" cap="none">
                <a:latin typeface="Arial"/>
              </a:rPr>
              <a:t>Decode vLLM</a:t>
            </a:r>
          </a:p>
        </p:txBody>
      </p:sp>
      <p:cxnSp>
        <p:nvCxnSpPr>
          <p:cNvPr id="17" name="Decode vLLM lifeline"/>
          <p:cNvCxnSpPr/>
          <p:nvPr/>
        </p:nvCxnSpPr>
        <p:spPr>
          <a:xfrm>
            <a:off x="7680960" y="1824228"/>
            <a:ext cx="0" cy="2503170"/>
          </a:xfrm>
          <a:prstGeom prst="line">
            <a:avLst/>
          </a:prstGeom>
          <a:ln w="13970">
            <a:solidFill>
              <a:srgbClr val="DCE5EF"/>
            </a:solidFill>
            <a:prstDash val="dash"/>
          </a:ln>
        </p:spPr>
        <p:style>
          <a:lnRef idx="2">
            <a:schemeClr val="accent1"/>
          </a:lnRef>
          <a:fillRef idx="0">
            <a:schemeClr val="accent1"/>
          </a:fillRef>
          <a:effectRef idx="1">
            <a:schemeClr val="accent1"/>
          </a:effectRef>
          <a:fontRef idx="minor">
            <a:schemeClr val="tx1"/>
          </a:fontRef>
        </p:style>
      </p:cxnSp>
      <p:cxnSp>
        <p:nvCxnSpPr>
          <p:cNvPr id="18" name="1  Inference request"/>
          <p:cNvCxnSpPr/>
          <p:nvPr/>
        </p:nvCxnSpPr>
        <p:spPr>
          <a:xfrm>
            <a:off x="822960" y="2016252"/>
            <a:ext cx="1666494"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1  Inference request"/>
          <p:cNvSpPr txBox="1"/>
          <p:nvPr/>
        </p:nvSpPr>
        <p:spPr>
          <a:xfrm>
            <a:off x="864109" y="1865376"/>
            <a:ext cx="1584197" cy="137160"/>
          </a:xfrm>
          <a:prstGeom prst="rect">
            <a:avLst/>
          </a:prstGeom>
          <a:noFill/>
        </p:spPr>
        <p:txBody>
          <a:bodyPr wrap="square" lIns="0" tIns="0" rIns="0" bIns="0" anchor="t">
            <a:noAutofit/>
          </a:bodyPr>
          <a:lstStyle/>
          <a:p>
            <a:pPr algn="ctr">
              <a:spcAft>
                <a:spcPts val="150"/>
              </a:spcAft>
              <a:defRPr sz="1100" b="0">
                <a:solidFill>
                  <a:srgbClr val="2463D4"/>
                </a:solidFill>
                <a:latin typeface="Arial"/>
              </a:defRPr>
            </a:pPr>
            <a:r>
              <a:rPr sz="825" cap="none">
                <a:latin typeface="Arial"/>
              </a:rPr>
              <a:t>1  Inference request</a:t>
            </a:r>
          </a:p>
        </p:txBody>
      </p:sp>
      <p:cxnSp>
        <p:nvCxnSpPr>
          <p:cNvPr id="20" name="2  Selected decode + prefill header"/>
          <p:cNvCxnSpPr/>
          <p:nvPr/>
        </p:nvCxnSpPr>
        <p:spPr>
          <a:xfrm>
            <a:off x="2489454" y="2290572"/>
            <a:ext cx="1659636"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2  Route to decode sidecar /      + selected prefill header"/>
          <p:cNvSpPr txBox="1"/>
          <p:nvPr/>
        </p:nvSpPr>
        <p:spPr>
          <a:xfrm>
            <a:off x="2530602" y="2050542"/>
            <a:ext cx="1577340" cy="233172"/>
          </a:xfrm>
          <a:prstGeom prst="rect">
            <a:avLst/>
          </a:prstGeom>
          <a:noFill/>
        </p:spPr>
        <p:txBody>
          <a:bodyPr wrap="square" lIns="0" tIns="0" rIns="0" bIns="0" anchor="t">
            <a:noAutofit/>
          </a:bodyPr>
          <a:lstStyle/>
          <a:p>
            <a:pPr algn="ctr">
              <a:spcAft>
                <a:spcPts val="150"/>
              </a:spcAft>
              <a:defRPr sz="1050" b="0">
                <a:solidFill>
                  <a:srgbClr val="2463D4"/>
                </a:solidFill>
                <a:latin typeface="Arial"/>
              </a:defRPr>
            </a:pPr>
            <a:r>
              <a:rPr sz="788" cap="none">
                <a:latin typeface="Arial"/>
              </a:rPr>
              <a:t>2  Route to decode sidecar</a:t>
            </a:r>
          </a:p>
          <a:p>
            <a:pPr algn="ctr">
              <a:spcAft>
                <a:spcPts val="150"/>
              </a:spcAft>
              <a:defRPr sz="1050" b="0">
                <a:solidFill>
                  <a:srgbClr val="2463D4"/>
                </a:solidFill>
                <a:latin typeface="Arial"/>
              </a:defRPr>
            </a:pPr>
            <a:r>
              <a:rPr sz="788" cap="none">
                <a:latin typeface="Arial"/>
              </a:rPr>
              <a:t>     + selected prefill header</a:t>
            </a:r>
          </a:p>
        </p:txBody>
      </p:sp>
      <p:cxnSp>
        <p:nvCxnSpPr>
          <p:cNvPr id="22" name="3  Remote prefill · max_tokens=1"/>
          <p:cNvCxnSpPr/>
          <p:nvPr/>
        </p:nvCxnSpPr>
        <p:spPr>
          <a:xfrm>
            <a:off x="4149090" y="2564892"/>
            <a:ext cx="1680210" cy="0"/>
          </a:xfrm>
          <a:prstGeom prst="line">
            <a:avLst/>
          </a:prstGeom>
          <a:ln w="22860">
            <a:solidFill>
              <a:srgbClr val="A85C05"/>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3  Remote prefill /      max_tokens=1"/>
          <p:cNvSpPr txBox="1"/>
          <p:nvPr/>
        </p:nvSpPr>
        <p:spPr>
          <a:xfrm>
            <a:off x="4190237" y="2324862"/>
            <a:ext cx="1597914" cy="233172"/>
          </a:xfrm>
          <a:prstGeom prst="rect">
            <a:avLst/>
          </a:prstGeom>
          <a:noFill/>
        </p:spPr>
        <p:txBody>
          <a:bodyPr wrap="square" lIns="0" tIns="0" rIns="0" bIns="0" anchor="t">
            <a:noAutofit/>
          </a:bodyPr>
          <a:lstStyle/>
          <a:p>
            <a:pPr algn="ctr">
              <a:spcAft>
                <a:spcPts val="150"/>
              </a:spcAft>
              <a:defRPr sz="1050" b="0">
                <a:solidFill>
                  <a:srgbClr val="A85C05"/>
                </a:solidFill>
                <a:latin typeface="Arial"/>
              </a:defRPr>
            </a:pPr>
            <a:r>
              <a:rPr sz="788" cap="none">
                <a:latin typeface="Arial"/>
              </a:rPr>
              <a:t>3  Remote prefill</a:t>
            </a:r>
          </a:p>
          <a:p>
            <a:pPr algn="ctr">
              <a:spcAft>
                <a:spcPts val="150"/>
              </a:spcAft>
              <a:defRPr sz="1050" b="0">
                <a:solidFill>
                  <a:srgbClr val="A85C05"/>
                </a:solidFill>
                <a:latin typeface="Arial"/>
              </a:defRPr>
            </a:pPr>
            <a:r>
              <a:rPr sz="788" cap="none">
                <a:latin typeface="Arial"/>
              </a:rPr>
              <a:t>     max_tokens=1</a:t>
            </a:r>
          </a:p>
        </p:txBody>
      </p:sp>
      <p:cxnSp>
        <p:nvCxnSpPr>
          <p:cNvPr id="24" name="4  Remote KV parameters"/>
          <p:cNvCxnSpPr/>
          <p:nvPr/>
        </p:nvCxnSpPr>
        <p:spPr>
          <a:xfrm flipH="1">
            <a:off x="4149090" y="2839211"/>
            <a:ext cx="1680210" cy="0"/>
          </a:xfrm>
          <a:prstGeom prst="line">
            <a:avLst/>
          </a:prstGeom>
          <a:ln w="22860">
            <a:solidFill>
              <a:srgbClr val="A85C05"/>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5" name="4  Remote KV parameters"/>
          <p:cNvSpPr txBox="1"/>
          <p:nvPr/>
        </p:nvSpPr>
        <p:spPr>
          <a:xfrm>
            <a:off x="4190237" y="2688335"/>
            <a:ext cx="1597914" cy="137160"/>
          </a:xfrm>
          <a:prstGeom prst="rect">
            <a:avLst/>
          </a:prstGeom>
          <a:noFill/>
        </p:spPr>
        <p:txBody>
          <a:bodyPr wrap="square" lIns="0" tIns="0" rIns="0" bIns="0" anchor="t">
            <a:noAutofit/>
          </a:bodyPr>
          <a:lstStyle/>
          <a:p>
            <a:pPr algn="ctr">
              <a:spcAft>
                <a:spcPts val="150"/>
              </a:spcAft>
              <a:defRPr sz="1100" b="0">
                <a:solidFill>
                  <a:srgbClr val="A85C05"/>
                </a:solidFill>
                <a:latin typeface="Arial"/>
              </a:defRPr>
            </a:pPr>
            <a:r>
              <a:rPr sz="825" cap="none">
                <a:latin typeface="Arial"/>
              </a:rPr>
              <a:t>4  Remote KV parameters</a:t>
            </a:r>
          </a:p>
        </p:txBody>
      </p:sp>
      <p:cxnSp>
        <p:nvCxnSpPr>
          <p:cNvPr id="26" name="5  Local decode · remote_prefill=true + IDs"/>
          <p:cNvCxnSpPr/>
          <p:nvPr/>
        </p:nvCxnSpPr>
        <p:spPr>
          <a:xfrm>
            <a:off x="4149090" y="3140964"/>
            <a:ext cx="3531870"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5  Local decode · remote_prefill=true + IDs"/>
          <p:cNvSpPr txBox="1"/>
          <p:nvPr/>
        </p:nvSpPr>
        <p:spPr>
          <a:xfrm>
            <a:off x="4190238" y="2990088"/>
            <a:ext cx="3449573" cy="137160"/>
          </a:xfrm>
          <a:prstGeom prst="rect">
            <a:avLst/>
          </a:prstGeom>
          <a:noFill/>
        </p:spPr>
        <p:txBody>
          <a:bodyPr wrap="square" lIns="0" tIns="0" rIns="0" bIns="0" anchor="t">
            <a:noAutofit/>
          </a:bodyPr>
          <a:lstStyle/>
          <a:p>
            <a:pPr algn="ctr">
              <a:spcAft>
                <a:spcPts val="150"/>
              </a:spcAft>
              <a:defRPr sz="1100" b="0">
                <a:solidFill>
                  <a:srgbClr val="2463D4"/>
                </a:solidFill>
                <a:latin typeface="Arial"/>
              </a:defRPr>
            </a:pPr>
            <a:r>
              <a:rPr sz="825" cap="none">
                <a:latin typeface="Arial"/>
              </a:rPr>
              <a:t>5  Local decode · remote_prefill=true + IDs</a:t>
            </a:r>
          </a:p>
        </p:txBody>
      </p:sp>
      <p:cxnSp>
        <p:nvCxnSpPr>
          <p:cNvPr id="28" name="6  KV data → decode (NIXL read)"/>
          <p:cNvCxnSpPr/>
          <p:nvPr/>
        </p:nvCxnSpPr>
        <p:spPr>
          <a:xfrm>
            <a:off x="5829300" y="3442716"/>
            <a:ext cx="1851660" cy="0"/>
          </a:xfrm>
          <a:prstGeom prst="line">
            <a:avLst/>
          </a:prstGeom>
          <a:ln w="22860">
            <a:solidFill>
              <a:srgbClr val="24824C"/>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6  KV data → decode /      NIXL read by decode"/>
          <p:cNvSpPr txBox="1"/>
          <p:nvPr/>
        </p:nvSpPr>
        <p:spPr>
          <a:xfrm>
            <a:off x="5870449" y="3202686"/>
            <a:ext cx="1769363" cy="233172"/>
          </a:xfrm>
          <a:prstGeom prst="rect">
            <a:avLst/>
          </a:prstGeom>
          <a:noFill/>
        </p:spPr>
        <p:txBody>
          <a:bodyPr wrap="square" lIns="0" tIns="0" rIns="0" bIns="0" anchor="t">
            <a:noAutofit/>
          </a:bodyPr>
          <a:lstStyle/>
          <a:p>
            <a:pPr algn="ctr">
              <a:spcAft>
                <a:spcPts val="150"/>
              </a:spcAft>
              <a:defRPr sz="1050" b="0">
                <a:solidFill>
                  <a:srgbClr val="24824C"/>
                </a:solidFill>
                <a:latin typeface="Arial"/>
              </a:defRPr>
            </a:pPr>
            <a:r>
              <a:rPr sz="788" cap="none">
                <a:latin typeface="Arial"/>
              </a:rPr>
              <a:t>6  KV data → decode</a:t>
            </a:r>
          </a:p>
          <a:p>
            <a:pPr algn="ctr">
              <a:spcAft>
                <a:spcPts val="150"/>
              </a:spcAft>
              <a:defRPr sz="1050" b="0">
                <a:solidFill>
                  <a:srgbClr val="24824C"/>
                </a:solidFill>
                <a:latin typeface="Arial"/>
              </a:defRPr>
            </a:pPr>
            <a:r>
              <a:rPr sz="788" cap="none">
                <a:latin typeface="Arial"/>
              </a:rPr>
              <a:t>     NIXL read by decode</a:t>
            </a:r>
          </a:p>
        </p:txBody>
      </p:sp>
      <p:cxnSp>
        <p:nvCxnSpPr>
          <p:cNvPr id="30" name="7  Inference response"/>
          <p:cNvCxnSpPr/>
          <p:nvPr/>
        </p:nvCxnSpPr>
        <p:spPr>
          <a:xfrm flipH="1">
            <a:off x="4149090" y="3744468"/>
            <a:ext cx="3531870" cy="0"/>
          </a:xfrm>
          <a:prstGeom prst="line">
            <a:avLst/>
          </a:prstGeom>
          <a:ln w="22860">
            <a:solidFill>
              <a:srgbClr val="087F82"/>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1" name="7  Inference response"/>
          <p:cNvSpPr txBox="1"/>
          <p:nvPr/>
        </p:nvSpPr>
        <p:spPr>
          <a:xfrm>
            <a:off x="4190238" y="3593592"/>
            <a:ext cx="3449573" cy="137160"/>
          </a:xfrm>
          <a:prstGeom prst="rect">
            <a:avLst/>
          </a:prstGeom>
          <a:noFill/>
        </p:spPr>
        <p:txBody>
          <a:bodyPr wrap="square" lIns="0" tIns="0" rIns="0" bIns="0" anchor="t">
            <a:noAutofit/>
          </a:bodyPr>
          <a:lstStyle/>
          <a:p>
            <a:pPr algn="ctr">
              <a:spcAft>
                <a:spcPts val="150"/>
              </a:spcAft>
              <a:defRPr sz="1100" b="0">
                <a:solidFill>
                  <a:srgbClr val="087F82"/>
                </a:solidFill>
                <a:latin typeface="Arial"/>
              </a:defRPr>
            </a:pPr>
            <a:r>
              <a:rPr sz="825" cap="none">
                <a:latin typeface="Arial"/>
              </a:rPr>
              <a:t>7  Inference response</a:t>
            </a:r>
          </a:p>
        </p:txBody>
      </p:sp>
      <p:cxnSp>
        <p:nvCxnSpPr>
          <p:cNvPr id="32" name="8  Response"/>
          <p:cNvCxnSpPr/>
          <p:nvPr/>
        </p:nvCxnSpPr>
        <p:spPr>
          <a:xfrm flipH="1">
            <a:off x="2489454" y="4018788"/>
            <a:ext cx="1659636" cy="0"/>
          </a:xfrm>
          <a:prstGeom prst="line">
            <a:avLst/>
          </a:prstGeom>
          <a:ln w="22860">
            <a:solidFill>
              <a:srgbClr val="087F82"/>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3" name="8  Response"/>
          <p:cNvSpPr txBox="1"/>
          <p:nvPr/>
        </p:nvSpPr>
        <p:spPr>
          <a:xfrm>
            <a:off x="2530602" y="3867912"/>
            <a:ext cx="1577340" cy="137160"/>
          </a:xfrm>
          <a:prstGeom prst="rect">
            <a:avLst/>
          </a:prstGeom>
          <a:noFill/>
        </p:spPr>
        <p:txBody>
          <a:bodyPr wrap="square" lIns="0" tIns="0" rIns="0" bIns="0" anchor="t">
            <a:noAutofit/>
          </a:bodyPr>
          <a:lstStyle/>
          <a:p>
            <a:pPr algn="ctr">
              <a:spcAft>
                <a:spcPts val="150"/>
              </a:spcAft>
              <a:defRPr sz="1100" b="0">
                <a:solidFill>
                  <a:srgbClr val="087F82"/>
                </a:solidFill>
                <a:latin typeface="Arial"/>
              </a:defRPr>
            </a:pPr>
            <a:r>
              <a:rPr sz="825" cap="none">
                <a:latin typeface="Arial"/>
              </a:rPr>
              <a:t>8  Response</a:t>
            </a:r>
          </a:p>
        </p:txBody>
      </p:sp>
      <p:cxnSp>
        <p:nvCxnSpPr>
          <p:cNvPr id="34" name="9  Final response"/>
          <p:cNvCxnSpPr/>
          <p:nvPr/>
        </p:nvCxnSpPr>
        <p:spPr>
          <a:xfrm flipH="1">
            <a:off x="822960" y="4272534"/>
            <a:ext cx="1666494" cy="0"/>
          </a:xfrm>
          <a:prstGeom prst="line">
            <a:avLst/>
          </a:prstGeom>
          <a:ln w="22860">
            <a:solidFill>
              <a:srgbClr val="087F82"/>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5" name="9  Final response"/>
          <p:cNvSpPr txBox="1"/>
          <p:nvPr/>
        </p:nvSpPr>
        <p:spPr>
          <a:xfrm>
            <a:off x="864109" y="4121658"/>
            <a:ext cx="1584197" cy="137160"/>
          </a:xfrm>
          <a:prstGeom prst="rect">
            <a:avLst/>
          </a:prstGeom>
          <a:noFill/>
        </p:spPr>
        <p:txBody>
          <a:bodyPr wrap="square" lIns="0" tIns="0" rIns="0" bIns="0" anchor="t">
            <a:noAutofit/>
          </a:bodyPr>
          <a:lstStyle/>
          <a:p>
            <a:pPr algn="ctr">
              <a:spcAft>
                <a:spcPts val="150"/>
              </a:spcAft>
              <a:defRPr sz="1100" b="0">
                <a:solidFill>
                  <a:srgbClr val="087F82"/>
                </a:solidFill>
                <a:latin typeface="Arial"/>
              </a:defRPr>
            </a:pPr>
            <a:r>
              <a:rPr sz="825" cap="none">
                <a:latin typeface="Arial"/>
              </a:rPr>
              <a:t>9  Final response</a:t>
            </a:r>
          </a:p>
        </p:txBody>
      </p:sp>
      <p:sp>
        <p:nvSpPr>
          <p:cNvPr id="36" name="Run decode"/>
          <p:cNvSpPr txBox="1"/>
          <p:nvPr/>
        </p:nvSpPr>
        <p:spPr>
          <a:xfrm>
            <a:off x="7845552" y="3531870"/>
            <a:ext cx="1062990" cy="144018"/>
          </a:xfrm>
          <a:prstGeom prst="rect">
            <a:avLst/>
          </a:prstGeom>
          <a:noFill/>
        </p:spPr>
        <p:txBody>
          <a:bodyPr wrap="square" lIns="0" tIns="0" rIns="0" bIns="0" anchor="t">
            <a:noAutofit/>
          </a:bodyPr>
          <a:lstStyle/>
          <a:p>
            <a:pPr>
              <a:spcAft>
                <a:spcPts val="150"/>
              </a:spcAft>
              <a:defRPr sz="1000" b="1">
                <a:solidFill>
                  <a:srgbClr val="087F82"/>
                </a:solidFill>
                <a:latin typeface="Arial"/>
              </a:defRPr>
            </a:pPr>
            <a:r>
              <a:rPr sz="750" cap="none">
                <a:latin typeface="Arial"/>
              </a:rPr>
              <a:t>Run decode</a:t>
            </a:r>
          </a:p>
        </p:txBody>
      </p:sp>
      <p:sp>
        <p:nvSpPr>
          <p:cNvPr id="37" name="Run prefill"/>
          <p:cNvSpPr txBox="1"/>
          <p:nvPr/>
        </p:nvSpPr>
        <p:spPr>
          <a:xfrm>
            <a:off x="5959602" y="2633472"/>
            <a:ext cx="1062990" cy="144018"/>
          </a:xfrm>
          <a:prstGeom prst="rect">
            <a:avLst/>
          </a:prstGeom>
          <a:noFill/>
        </p:spPr>
        <p:txBody>
          <a:bodyPr wrap="square" lIns="0" tIns="0" rIns="0" bIns="0" anchor="t">
            <a:noAutofit/>
          </a:bodyPr>
          <a:lstStyle/>
          <a:p>
            <a:pPr>
              <a:spcAft>
                <a:spcPts val="150"/>
              </a:spcAft>
              <a:defRPr sz="1000" b="1">
                <a:solidFill>
                  <a:srgbClr val="A85C05"/>
                </a:solidFill>
                <a:latin typeface="Arial"/>
              </a:defRPr>
            </a:pPr>
            <a:r>
              <a:rPr sz="750" cap="none">
                <a:latin typeface="Arial"/>
              </a:rPr>
              <a:t>Run prefill</a:t>
            </a:r>
          </a:p>
        </p:txBody>
      </p:sp>
      <p:sp>
        <p:nvSpPr>
          <p:cNvPr id="38" name="Panel 37"/>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Panel 38"/>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0" name="The sidecar coordinates the request; KV data moves directly between the two runt"/>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The sidecar coordinates the request; KV data moves directly between the two runtimes.</a:t>
            </a:r>
          </a:p>
        </p:txBody>
      </p:sp>
      <p:sp>
        <p:nvSpPr>
          <p:cNvPr id="41" name="TextBox 40"/>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2" name="TextBox 41"/>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31 / 49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nel 1"/>
          <p:cNvSpPr/>
          <p:nvPr/>
        </p:nvSpPr>
        <p:spPr>
          <a:xfrm>
            <a:off x="411480" y="246888"/>
            <a:ext cx="233172" cy="30861"/>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 name="POD BOUNDARY  /  KAITO + llm-d"/>
          <p:cNvSpPr txBox="1"/>
          <p:nvPr/>
        </p:nvSpPr>
        <p:spPr>
          <a:xfrm>
            <a:off x="720090" y="198882"/>
            <a:ext cx="7406640" cy="137160"/>
          </a:xfrm>
          <a:prstGeom prst="rect">
            <a:avLst/>
          </a:prstGeom>
          <a:noFill/>
        </p:spPr>
        <p:txBody>
          <a:bodyPr wrap="square" lIns="0" tIns="0" rIns="0" bIns="0" anchor="t">
            <a:noAutofit/>
          </a:bodyPr>
          <a:lstStyle/>
          <a:p>
            <a:pPr>
              <a:spcAft>
                <a:spcPts val="150"/>
              </a:spcAft>
              <a:defRPr sz="1000" b="1">
                <a:solidFill>
                  <a:srgbClr val="5B6E80"/>
                </a:solidFill>
                <a:latin typeface="Arial"/>
              </a:defRPr>
            </a:pPr>
            <a:r>
              <a:rPr sz="750" cap="none">
                <a:latin typeface="Arial"/>
              </a:rPr>
              <a:t>POD BOUNDARY  /  KAITO + llm-d</a:t>
            </a:r>
          </a:p>
        </p:txBody>
      </p:sp>
      <p:sp>
        <p:nvSpPr>
          <p:cNvPr id="4" name="Why the sidecar belongs on the decode pod"/>
          <p:cNvSpPr txBox="1"/>
          <p:nvPr/>
        </p:nvSpPr>
        <p:spPr>
          <a:xfrm>
            <a:off x="365760" y="539496"/>
            <a:ext cx="8412480" cy="420624"/>
          </a:xfrm>
          <a:prstGeom prst="rect">
            <a:avLst/>
          </a:prstGeom>
          <a:noFill/>
        </p:spPr>
        <p:txBody>
          <a:bodyPr wrap="none" lIns="0" tIns="0" rIns="0" bIns="0" anchor="t">
            <a:noAutofit/>
          </a:bodyPr>
          <a:lstStyle/>
          <a:p>
            <a:pPr>
              <a:spcAft>
                <a:spcPts val="300"/>
              </a:spcAft>
              <a:defRPr sz="3000" b="1">
                <a:solidFill>
                  <a:srgbClr val="10243A"/>
                </a:solidFill>
                <a:latin typeface="Arial"/>
              </a:defRPr>
            </a:pPr>
            <a:r>
              <a:rPr sz="2100" cap="none" b="1">
                <a:solidFill>
                  <a:srgbClr val="142C46"/>
                </a:solidFill>
                <a:latin typeface="Arial"/>
              </a:rPr>
              <a:t>Why the sidecar belongs on the decode pod</a:t>
            </a:r>
          </a:p>
        </p:txBody>
      </p:sp>
      <p:sp>
        <p:nvSpPr>
          <p:cNvPr id="5" name="A single decode endpoint coordinates remote prefill and returns the final respon"/>
          <p:cNvSpPr txBox="1"/>
          <p:nvPr/>
        </p:nvSpPr>
        <p:spPr>
          <a:xfrm>
            <a:off x="384048" y="1033271"/>
            <a:ext cx="8321040" cy="329184"/>
          </a:xfrm>
          <a:prstGeom prst="rect">
            <a:avLst/>
          </a:prstGeom>
          <a:noFill/>
        </p:spPr>
        <p:txBody>
          <a:bodyPr wrap="square" lIns="0" tIns="0" rIns="0" bIns="0" anchor="t">
            <a:noAutofit/>
          </a:bodyPr>
          <a:lstStyle/>
          <a:p>
            <a:pPr>
              <a:spcAft>
                <a:spcPts val="150"/>
              </a:spcAft>
              <a:defRPr sz="1500" b="0">
                <a:solidFill>
                  <a:srgbClr val="5B6E80"/>
                </a:solidFill>
                <a:latin typeface="Arial"/>
              </a:defRPr>
            </a:pPr>
            <a:r>
              <a:rPr sz="1200" cap="none">
                <a:solidFill>
                  <a:srgbClr val="52677D"/>
                </a:solidFill>
                <a:latin typeface="Arial"/>
              </a:rPr>
              <a:t>A single decode endpoint coordinates remote prefill and returns the final response.</a:t>
            </a:r>
          </a:p>
        </p:txBody>
      </p:sp>
      <p:sp>
        <p:nvSpPr>
          <p:cNvPr id="8" name="Decode pod boundary"/>
          <p:cNvSpPr/>
          <p:nvPr/>
        </p:nvSpPr>
        <p:spPr>
          <a:xfrm>
            <a:off x="2880360" y="1426464"/>
            <a:ext cx="5815584" cy="1783080"/>
          </a:xfrm>
          <a:prstGeom prst="roundRect">
            <a:avLst>
              <a:gd name="adj" fmla="val 12000"/>
            </a:avLst>
          </a:prstGeom>
          <a:solidFill>
            <a:srgbClr val="F5F8FC"/>
          </a:solidFill>
          <a:ln w="12700">
            <a:solidFill>
              <a:srgbClr val="DCE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SELECTED DECODE POD"/>
          <p:cNvSpPr txBox="1"/>
          <p:nvPr/>
        </p:nvSpPr>
        <p:spPr>
          <a:xfrm>
            <a:off x="3065526" y="1570482"/>
            <a:ext cx="5349240" cy="205740"/>
          </a:xfrm>
          <a:prstGeom prst="rect">
            <a:avLst/>
          </a:prstGeom>
          <a:noFill/>
        </p:spPr>
        <p:txBody>
          <a:bodyPr wrap="square" lIns="0" tIns="0" rIns="0" bIns="0" anchor="t">
            <a:noAutofit/>
          </a:bodyPr>
          <a:lstStyle/>
          <a:p>
            <a:pPr>
              <a:spcAft>
                <a:spcPts val="150"/>
              </a:spcAft>
              <a:defRPr sz="1200" b="1">
                <a:solidFill>
                  <a:srgbClr val="087F82"/>
                </a:solidFill>
                <a:latin typeface="Arial"/>
              </a:defRPr>
            </a:pPr>
            <a:r>
              <a:rPr sz="900" cap="none">
                <a:latin typeface="Arial"/>
              </a:rPr>
              <a:t>Selected decode pod</a:t>
            </a:r>
          </a:p>
        </p:txBody>
      </p:sp>
      <p:sp>
        <p:nvSpPr>
          <p:cNvPr id="10" name="Gateway"/>
          <p:cNvSpPr/>
          <p:nvPr/>
        </p:nvSpPr>
        <p:spPr>
          <a:xfrm>
            <a:off x="445770" y="2125980"/>
            <a:ext cx="1769364" cy="651510"/>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800" b="1">
                <a:solidFill>
                  <a:srgbClr val="2463D4"/>
                </a:solidFill>
                <a:latin typeface="Arial"/>
              </a:defRPr>
            </a:pPr>
            <a:r>
              <a:rPr sz="1350" cap="none">
                <a:latin typeface="Arial"/>
              </a:rPr>
              <a:t>Gateway</a:t>
            </a:r>
          </a:p>
          <a:p>
            <a:pPr algn="ctr">
              <a:spcBef>
                <a:spcPts val="225"/>
              </a:spcBef>
              <a:defRPr sz="1200" b="0">
                <a:solidFill>
                  <a:srgbClr val="5B6E80"/>
                </a:solidFill>
                <a:latin typeface="Arial"/>
              </a:defRPr>
            </a:pPr>
            <a:r>
              <a:rPr sz="900" cap="none">
                <a:latin typeface="Arial"/>
              </a:rPr>
              <a:t>EPP-selected endpoint</a:t>
            </a:r>
          </a:p>
        </p:txBody>
      </p:sp>
      <p:sp>
        <p:nvSpPr>
          <p:cNvPr id="11" name="Routing sidecar"/>
          <p:cNvSpPr/>
          <p:nvPr/>
        </p:nvSpPr>
        <p:spPr>
          <a:xfrm>
            <a:off x="3120390" y="2112264"/>
            <a:ext cx="1954530" cy="768096"/>
          </a:xfrm>
          <a:prstGeom prst="roundRect">
            <a:avLst>
              <a:gd name="adj" fmla="val 12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2000" b="1">
                <a:solidFill>
                  <a:srgbClr val="2463D4"/>
                </a:solidFill>
                <a:latin typeface="Arial"/>
              </a:defRPr>
            </a:pPr>
            <a:r>
              <a:rPr sz="1500" cap="none">
                <a:latin typeface="Arial"/>
              </a:rPr>
              <a:t>Routing sidecar</a:t>
            </a:r>
          </a:p>
          <a:p>
            <a:pPr algn="ctr">
              <a:spcBef>
                <a:spcPts val="225"/>
              </a:spcBef>
              <a:defRPr sz="1200" b="0">
                <a:solidFill>
                  <a:srgbClr val="5B6E80"/>
                </a:solidFill>
                <a:latin typeface="Arial"/>
              </a:defRPr>
            </a:pPr>
            <a:r>
              <a:rPr sz="900" cap="none">
                <a:latin typeface="Arial"/>
              </a:rPr>
              <a:t>Port 5000</a:t>
            </a:r>
          </a:p>
        </p:txBody>
      </p:sp>
      <p:sp>
        <p:nvSpPr>
          <p:cNvPr id="12" name="Local decode vLLM"/>
          <p:cNvSpPr/>
          <p:nvPr/>
        </p:nvSpPr>
        <p:spPr>
          <a:xfrm>
            <a:off x="6275070" y="2112264"/>
            <a:ext cx="2023110" cy="768096"/>
          </a:xfrm>
          <a:prstGeom prst="roundRect">
            <a:avLst>
              <a:gd name="adj" fmla="val 12000"/>
            </a:avLst>
          </a:prstGeom>
          <a:solidFill>
            <a:srgbClr val="E5F5F3"/>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900" b="1">
                <a:solidFill>
                  <a:srgbClr val="087F82"/>
                </a:solidFill>
                <a:latin typeface="Arial"/>
              </a:defRPr>
            </a:pPr>
            <a:r>
              <a:rPr sz="1425" cap="none">
                <a:latin typeface="Arial"/>
              </a:rPr>
              <a:t>Local decode vLLM</a:t>
            </a:r>
          </a:p>
          <a:p>
            <a:pPr algn="ctr">
              <a:spcBef>
                <a:spcPts val="225"/>
              </a:spcBef>
              <a:defRPr sz="1200" b="0">
                <a:solidFill>
                  <a:srgbClr val="5B6E80"/>
                </a:solidFill>
                <a:latin typeface="Arial"/>
              </a:defRPr>
            </a:pPr>
            <a:r>
              <a:rPr sz="900" cap="none">
                <a:latin typeface="Arial"/>
              </a:rPr>
              <a:t>Port 5001</a:t>
            </a:r>
          </a:p>
        </p:txBody>
      </p:sp>
      <p:cxnSp>
        <p:nvCxnSpPr>
          <p:cNvPr id="13" name="Gateway → Routing sidecar"/>
          <p:cNvCxnSpPr>
            <a:stCxn id="10" idx="3"/>
            <a:endCxn id="11" idx="1"/>
          </p:cNvCxnSpPr>
          <p:nvPr/>
        </p:nvCxnSpPr>
        <p:spPr>
          <a:xfrm>
            <a:off x="2215134" y="2451735"/>
            <a:ext cx="905256" cy="44577"/>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Routing sidecar → Local decode vLLM"/>
          <p:cNvCxnSpPr>
            <a:stCxn id="11" idx="3"/>
            <a:endCxn id="12" idx="1"/>
          </p:cNvCxnSpPr>
          <p:nvPr/>
        </p:nvCxnSpPr>
        <p:spPr>
          <a:xfrm flipV="1">
            <a:off x="5074920" y="2496312"/>
            <a:ext cx="1200150" cy="0"/>
          </a:xfrm>
          <a:prstGeom prst="line">
            <a:avLst/>
          </a:prstGeom>
          <a:ln w="22860">
            <a:solidFill>
              <a:srgbClr val="2463D4"/>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local request / + KV metadata"/>
          <p:cNvSpPr txBox="1"/>
          <p:nvPr/>
        </p:nvSpPr>
        <p:spPr>
          <a:xfrm>
            <a:off x="5157216" y="2187702"/>
            <a:ext cx="1014984" cy="308610"/>
          </a:xfrm>
          <a:prstGeom prst="rect">
            <a:avLst/>
          </a:prstGeom>
          <a:noFill/>
        </p:spPr>
        <p:txBody>
          <a:bodyPr wrap="square" lIns="0" tIns="0" rIns="0" bIns="0" anchor="t">
            <a:noAutofit/>
          </a:bodyPr>
          <a:lstStyle/>
          <a:p>
            <a:pPr algn="ctr">
              <a:spcAft>
                <a:spcPts val="150"/>
              </a:spcAft>
              <a:defRPr sz="1100" b="0">
                <a:solidFill>
                  <a:srgbClr val="2463D4"/>
                </a:solidFill>
                <a:latin typeface="Arial"/>
              </a:defRPr>
            </a:pPr>
            <a:r>
              <a:rPr sz="825" cap="none">
                <a:latin typeface="Arial"/>
              </a:rPr>
              <a:t>local request</a:t>
            </a:r>
          </a:p>
          <a:p>
            <a:pPr algn="ctr">
              <a:spcAft>
                <a:spcPts val="150"/>
              </a:spcAft>
              <a:defRPr sz="1100" b="0">
                <a:solidFill>
                  <a:srgbClr val="2463D4"/>
                </a:solidFill>
                <a:latin typeface="Arial"/>
              </a:defRPr>
            </a:pPr>
            <a:r>
              <a:rPr sz="825" cap="none">
                <a:latin typeface="Arial"/>
              </a:rPr>
              <a:t>+ KV metadata</a:t>
            </a:r>
          </a:p>
        </p:txBody>
      </p:sp>
      <p:sp>
        <p:nvSpPr>
          <p:cNvPr id="16" name="Remote prefill"/>
          <p:cNvSpPr/>
          <p:nvPr/>
        </p:nvSpPr>
        <p:spPr>
          <a:xfrm>
            <a:off x="3120390" y="3545586"/>
            <a:ext cx="1954530" cy="610362"/>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wrap="square" lIns="82296" tIns="41148" rIns="82296" bIns="41148" rtlCol="0" anchor="ctr">
            <a:noAutofit/>
          </a:bodyPr>
          <a:lstStyle/>
          <a:p>
            <a:pPr algn="ctr">
              <a:defRPr sz="1800" b="1">
                <a:solidFill>
                  <a:srgbClr val="A85C05"/>
                </a:solidFill>
                <a:latin typeface="Arial"/>
              </a:defRPr>
            </a:pPr>
            <a:r>
              <a:rPr sz="1350" cap="none">
                <a:latin typeface="Arial"/>
              </a:rPr>
              <a:t>Remote prefill</a:t>
            </a:r>
          </a:p>
          <a:p>
            <a:pPr algn="ctr">
              <a:spcBef>
                <a:spcPts val="225"/>
              </a:spcBef>
              <a:defRPr sz="1200" b="0">
                <a:solidFill>
                  <a:srgbClr val="5B6E80"/>
                </a:solidFill>
                <a:latin typeface="Arial"/>
              </a:defRPr>
            </a:pPr>
            <a:r>
              <a:rPr sz="900" cap="none">
                <a:latin typeface="Arial"/>
              </a:rPr>
              <a:t>vLLM worker</a:t>
            </a:r>
          </a:p>
        </p:txBody>
      </p:sp>
      <p:cxnSp>
        <p:nvCxnSpPr>
          <p:cNvPr id="17" name="Routing sidecar → Remote prefill"/>
          <p:cNvCxnSpPr>
            <a:stCxn id="11" idx="2"/>
            <a:endCxn id="16" idx="0"/>
          </p:cNvCxnSpPr>
          <p:nvPr/>
        </p:nvCxnSpPr>
        <p:spPr>
          <a:xfrm flipH="1">
            <a:off x="4097655" y="2880360"/>
            <a:ext cx="0" cy="665226"/>
          </a:xfrm>
          <a:prstGeom prst="line">
            <a:avLst/>
          </a:prstGeom>
          <a:ln w="22860">
            <a:solidFill>
              <a:srgbClr val="A85C05"/>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optional prefill request"/>
          <p:cNvSpPr txBox="1"/>
          <p:nvPr/>
        </p:nvSpPr>
        <p:spPr>
          <a:xfrm>
            <a:off x="1700784" y="3243834"/>
            <a:ext cx="2167128" cy="171450"/>
          </a:xfrm>
          <a:prstGeom prst="rect">
            <a:avLst/>
          </a:prstGeom>
          <a:noFill/>
        </p:spPr>
        <p:txBody>
          <a:bodyPr wrap="square" lIns="0" tIns="0" rIns="0" bIns="0" anchor="t">
            <a:noAutofit/>
          </a:bodyPr>
          <a:lstStyle/>
          <a:p>
            <a:pPr>
              <a:spcAft>
                <a:spcPts val="150"/>
              </a:spcAft>
              <a:defRPr sz="1100" b="0">
                <a:solidFill>
                  <a:srgbClr val="A85C05"/>
                </a:solidFill>
                <a:latin typeface="Arial"/>
              </a:defRPr>
            </a:pPr>
            <a:r>
              <a:rPr sz="825" cap="none">
                <a:latin typeface="Arial"/>
              </a:rPr>
              <a:t>optional prefill request</a:t>
            </a:r>
          </a:p>
        </p:txBody>
      </p:sp>
      <p:cxnSp>
        <p:nvCxnSpPr>
          <p:cNvPr id="19" name="NIXL KV data → local decode, bypassing sidecar"/>
          <p:cNvCxnSpPr/>
          <p:nvPr/>
        </p:nvCxnSpPr>
        <p:spPr>
          <a:xfrm>
            <a:off x="5088636" y="3847338"/>
            <a:ext cx="2194560" cy="0"/>
          </a:xfrm>
          <a:prstGeom prst="line">
            <a:avLst/>
          </a:prstGeom>
          <a:ln w="27940">
            <a:solidFill>
              <a:srgbClr val="24824C"/>
            </a:solidFill>
          </a:ln>
        </p:spPr>
        <p:style>
          <a:lnRef idx="2">
            <a:schemeClr val="accent1"/>
          </a:lnRef>
          <a:fillRef idx="0">
            <a:schemeClr val="accent1"/>
          </a:fillRef>
          <a:effectRef idx="1">
            <a:schemeClr val="accent1"/>
          </a:effectRef>
          <a:fontRef idx="minor">
            <a:schemeClr val="tx1"/>
          </a:fontRef>
        </p:style>
      </p:cxnSp>
      <p:cxnSp>
        <p:nvCxnSpPr>
          <p:cNvPr id="20" name="NIXL KV data → local decode, bypassing sidecar"/>
          <p:cNvCxnSpPr/>
          <p:nvPr/>
        </p:nvCxnSpPr>
        <p:spPr>
          <a:xfrm flipV="1">
            <a:off x="7283196" y="2894076"/>
            <a:ext cx="0" cy="953262"/>
          </a:xfrm>
          <a:prstGeom prst="line">
            <a:avLst/>
          </a:prstGeom>
          <a:ln w="27940">
            <a:solidFill>
              <a:srgbClr val="24824C"/>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Direct KV data • bypasses sidecar"/>
          <p:cNvSpPr txBox="1"/>
          <p:nvPr/>
        </p:nvSpPr>
        <p:spPr>
          <a:xfrm>
            <a:off x="5520690" y="3957066"/>
            <a:ext cx="2743200" cy="164592"/>
          </a:xfrm>
          <a:prstGeom prst="rect">
            <a:avLst/>
          </a:prstGeom>
          <a:noFill/>
        </p:spPr>
        <p:txBody>
          <a:bodyPr wrap="square" lIns="0" tIns="0" rIns="0" bIns="0" anchor="t">
            <a:noAutofit/>
          </a:bodyPr>
          <a:lstStyle/>
          <a:p>
            <a:pPr>
              <a:spcAft>
                <a:spcPts val="150"/>
              </a:spcAft>
              <a:defRPr sz="1200" b="1">
                <a:solidFill>
                  <a:srgbClr val="24824C"/>
                </a:solidFill>
                <a:latin typeface="Arial"/>
              </a:defRPr>
            </a:pPr>
            <a:r>
              <a:rPr sz="900" cap="none">
                <a:latin typeface="Arial"/>
              </a:rPr>
              <a:t>Direct KV data • bypasses sidecar</a:t>
            </a:r>
          </a:p>
        </p:txBody>
      </p:sp>
      <p:sp>
        <p:nvSpPr>
          <p:cNvPr id="22" name="STABLE EXTERNAL / ROUTING CONTRACT"/>
          <p:cNvSpPr txBox="1"/>
          <p:nvPr/>
        </p:nvSpPr>
        <p:spPr>
          <a:xfrm>
            <a:off x="507492" y="1604772"/>
            <a:ext cx="1920240" cy="315468"/>
          </a:xfrm>
          <a:prstGeom prst="rect">
            <a:avLst/>
          </a:prstGeom>
          <a:noFill/>
        </p:spPr>
        <p:txBody>
          <a:bodyPr wrap="square" lIns="0" tIns="0" rIns="0" bIns="0" anchor="t">
            <a:noAutofit/>
          </a:bodyPr>
          <a:lstStyle/>
          <a:p>
            <a:pPr>
              <a:spcAft>
                <a:spcPts val="150"/>
              </a:spcAft>
              <a:defRPr sz="1100" b="1">
                <a:solidFill>
                  <a:srgbClr val="2463D4"/>
                </a:solidFill>
                <a:latin typeface="Arial"/>
              </a:defRPr>
            </a:pPr>
            <a:r>
              <a:rPr sz="825" cap="none">
                <a:latin typeface="Arial"/>
              </a:rPr>
              <a:t>Stable external</a:t>
            </a:r>
            <a:br/>
            <a:r>
              <a:rPr cap="none">
                <a:latin typeface="Arial"/>
              </a:rPr>
              <a:t>routing contract</a:t>
            </a:r>
          </a:p>
        </p:txBody>
      </p:sp>
      <p:sp>
        <p:nvSpPr>
          <p:cNvPr id="23" name="Panel 22"/>
          <p:cNvSpPr/>
          <p:nvPr/>
        </p:nvSpPr>
        <p:spPr>
          <a:xfrm>
            <a:off x="411480" y="4443984"/>
            <a:ext cx="8318754" cy="336042"/>
          </a:xfrm>
          <a:prstGeom prst="roundRect">
            <a:avLst>
              <a:gd name="adj" fmla="val 12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Panel 23"/>
          <p:cNvSpPr/>
          <p:nvPr/>
        </p:nvSpPr>
        <p:spPr>
          <a:xfrm>
            <a:off x="411480" y="4443984"/>
            <a:ext cx="30861" cy="336042"/>
          </a:xfrm>
          <a:prstGeom prst="rect">
            <a:avLst/>
          </a:prstGeom>
          <a:solidFill>
            <a:srgbClr val="08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Coordination lives in the sidecar. KV transport terminates at the decode runtime"/>
          <p:cNvSpPr txBox="1"/>
          <p:nvPr/>
        </p:nvSpPr>
        <p:spPr>
          <a:xfrm>
            <a:off x="555498" y="4519422"/>
            <a:ext cx="8023860" cy="178308"/>
          </a:xfrm>
          <a:prstGeom prst="rect">
            <a:avLst/>
          </a:prstGeom>
          <a:noFill/>
        </p:spPr>
        <p:txBody>
          <a:bodyPr wrap="square" lIns="0" tIns="0" rIns="0" bIns="0" anchor="t">
            <a:noAutofit/>
          </a:bodyPr>
          <a:lstStyle/>
          <a:p>
            <a:pPr>
              <a:spcAft>
                <a:spcPts val="150"/>
              </a:spcAft>
              <a:defRPr sz="1400" b="1">
                <a:solidFill>
                  <a:srgbClr val="10243A"/>
                </a:solidFill>
                <a:latin typeface="Arial"/>
              </a:defRPr>
            </a:pPr>
            <a:r>
              <a:rPr sz="1050" cap="none">
                <a:latin typeface="Arial"/>
              </a:rPr>
              <a:t>Coordination lives in the sidecar. KV transport terminates at the decode runtime.</a:t>
            </a:r>
          </a:p>
        </p:txBody>
      </p:sp>
      <p:sp>
        <p:nvSpPr>
          <p:cNvPr id="26" name="TextBox 25"/>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7" name="TextBox 26"/>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32 / 49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82B80-1615-A235-7EBC-F7C32623D2E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4EEC12-C0AB-E9CD-340A-428C563DB520}"/>
              </a:ext>
            </a:extLst>
          </p:cNvPr>
          <p:cNvSpPr>
            <a:spLocks noGrp="1"/>
          </p:cNvSpPr>
          <p:nvPr>
            <p:ph type="title" idx="4294967295"/>
          </p:nvPr>
        </p:nvSpPr>
        <p:spPr>
          <a:xfrm>
            <a:off x="365760" y="539496"/>
            <a:ext cx="8412480" cy="420624"/>
          </a:xfrm>
        </p:spPr>
        <p:txBody>
          <a:bodyPr lIns="0" rIns="0" tIns="0" bIns="0" wrap="none">
            <a:normAutofit/>
          </a:bodyPr>
          <a:lstStyle/>
          <a:p>
            <a:pPr lvl="0">
              <a:spcAft>
                <a:spcPts val="400"/>
              </a:spcAft>
              <a:buClr>
                <a:srgbClr val="000000"/>
              </a:buClr>
              <a:buSzPts val="1200"/>
              <a:defRPr/>
            </a:pPr>
            <a:r>
              <a:rPr lang="en" altLang="zh-CN" sz="2100" dirty="0" err="1" cap="none" b="1">
                <a:solidFill>
                  <a:srgbClr val="142C46"/>
                </a:solidFill>
                <a:latin typeface="Arial"/>
                <a:sym typeface="IBM Plex Sans Light"/>
              </a:rPr>
              <a:t>llm-d connects routing, prefill and decode</a:t>
            </a:r>
          </a:p>
        </p:txBody>
      </p:sp>
      <p:sp>
        <p:nvSpPr>
          <p:cNvPr id="6" name="Google Shape;2152;p211">
            <a:extLst>
              <a:ext uri="{FF2B5EF4-FFF2-40B4-BE49-F238E27FC236}">
                <a16:creationId xmlns:a16="http://schemas.microsoft.com/office/drawing/2014/main" id="{736427AE-F789-8536-54B5-4299CA26D850}"/>
              </a:ext>
            </a:extLst>
          </p:cNvPr>
          <p:cNvSpPr txBox="1"/>
          <p:nvPr/>
        </p:nvSpPr>
        <p:spPr>
          <a:xfrm>
            <a:off x="254679" y="1186569"/>
            <a:ext cx="4147200" cy="1469603"/>
          </a:xfrm>
          <a:prstGeom prst="rect">
            <a:avLst/>
          </a:prstGeom>
          <a:noFill/>
          <a:ln>
            <a:noFill/>
          </a:ln>
        </p:spPr>
        <p:txBody>
          <a:bodyPr spcFirstLastPara="1" wrap="square" lIns="68575" tIns="34275" rIns="68575" bIns="34275" anchor="t" anchorCtr="0">
            <a:spAutoFit/>
          </a:bodyPr>
          <a:lstStyle/>
          <a:p>
            <a:pPr marL="254000" marR="0" lvl="0" indent="-260350" algn="l" defTabSz="914400" rtl="0" eaLnBrk="1" fontAlgn="auto" latinLnBrk="0" hangingPunct="1">
              <a:lnSpc>
                <a:spcPct val="100000"/>
              </a:lnSpc>
              <a:spcBef>
                <a:spcPts val="0"/>
              </a:spcBef>
              <a:spcAft>
                <a:spcPts val="0"/>
              </a:spcAft>
              <a:buClr>
                <a:srgbClr val="000000"/>
              </a:buClr>
              <a:buSzPts val="1100"/>
              <a:buFont typeface="IBM Plex Sans Light"/>
              <a:buChar char="▪"/>
              <a:tabLst/>
              <a:defRPr/>
            </a:pPr>
            <a:r>
              <a:rPr lang="en" sz="1100" dirty="0" cap="none">
                <a:latin typeface="Arial"/>
                <a:sym typeface="IBM Plex Sans Light"/>
              </a:rPr>
              <a:t>Separate requests for the prefill and decode stages</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cap="none">
                <a:latin typeface="Arial"/>
                <a:sym typeface="IBM Plex Sans Light"/>
              </a:rPr>
              <a:t>Dynamically decided  </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cap="none">
                <a:latin typeface="Arial"/>
                <a:sym typeface="IBM Plex Sans Light"/>
              </a:rPr>
              <a:t>Dedicated Prefill and Decode nodes</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cap="none">
                <a:latin typeface="Arial"/>
                <a:sym typeface="IBM Plex Sans Light"/>
              </a:rPr>
              <a:t>Optimize resource allocation, utilization, and scheduling</a:t>
            </a:r>
            <a:endParaRPr sz="1100" dirty="0">
              <a:sym typeface="IBM Plex Sans Light"/>
            </a:endParaRPr>
          </a:p>
          <a:p>
            <a:pPr marL="254000" marR="0" lvl="0" indent="-260350" algn="l" defTabSz="914400" rtl="0" eaLnBrk="1" fontAlgn="auto" latinLnBrk="0" hangingPunct="1">
              <a:lnSpc>
                <a:spcPct val="100000"/>
              </a:lnSpc>
              <a:spcBef>
                <a:spcPts val="600"/>
              </a:spcBef>
              <a:spcAft>
                <a:spcPts val="0"/>
              </a:spcAft>
              <a:buClr>
                <a:srgbClr val="000000"/>
              </a:buClr>
              <a:buSzPts val="1100"/>
              <a:buFont typeface="IBM Plex Sans Light"/>
              <a:buChar char="▪"/>
              <a:tabLst/>
              <a:defRPr/>
            </a:pPr>
            <a:r>
              <a:rPr lang="en" sz="1100" dirty="0" cap="none">
                <a:latin typeface="Arial"/>
                <a:sym typeface="IBM Plex Sans Light"/>
              </a:rPr>
              <a:t>Easier to meet TTFT and ITL SLO requirements</a:t>
            </a:r>
            <a:endParaRPr sz="1100" dirty="0">
              <a:sym typeface="IBM Plex Sans Light"/>
            </a:endParaRPr>
          </a:p>
          <a:p>
            <a:pPr marL="0" marR="0" lvl="0" indent="101600" algn="l" defTabSz="914400" rtl="0" eaLnBrk="1" fontAlgn="auto" latinLnBrk="0" hangingPunct="1">
              <a:lnSpc>
                <a:spcPct val="100000"/>
              </a:lnSpc>
              <a:spcBef>
                <a:spcPts val="600"/>
              </a:spcBef>
              <a:spcAft>
                <a:spcPts val="0"/>
              </a:spcAft>
              <a:buClr>
                <a:srgbClr val="000000"/>
              </a:buClr>
              <a:buSzPts val="1600"/>
              <a:buFont typeface="Noto Sans Symbols"/>
              <a:buNone/>
              <a:tabLst/>
              <a:defRPr/>
            </a:pPr>
            <a:endParaRPr sz="1100" dirty="0">
              <a:sym typeface="IBM Plex Sans Light"/>
            </a:endParaRPr>
          </a:p>
        </p:txBody>
      </p:sp>
      <p:pic>
        <p:nvPicPr>
          <p:cNvPr id="9" name="Google Shape;2157;p211" descr="A diagram of a process&#10;&#10;AI-generated content may be incorrect.">
            <a:extLst>
              <a:ext uri="{FF2B5EF4-FFF2-40B4-BE49-F238E27FC236}">
                <a16:creationId xmlns:a16="http://schemas.microsoft.com/office/drawing/2014/main" id="{D52FC06C-E51F-33E2-75D2-E3FFC034350A}"/>
              </a:ext>
            </a:extLst>
          </p:cNvPr>
          <p:cNvPicPr preferRelativeResize="0"/>
          <p:nvPr/>
        </p:nvPicPr>
        <p:blipFill rotWithShape="1">
          <a:blip r:embed="rId3">
            <a:alphaModFix/>
          </a:blip>
          <a:srcRect/>
          <a:stretch/>
        </p:blipFill>
        <p:spPr>
          <a:xfrm>
            <a:off x="1896814" y="1305000"/>
            <a:ext cx="6837248" cy="3561842"/>
          </a:xfrm>
          <a:prstGeom prst="rect">
            <a:avLst/>
          </a:prstGeom>
          <a:noFill/>
          <a:ln>
            <a:noFill/>
          </a:ln>
        </p:spPr>
      </p:pic>
      <p:sp>
        <p:nvSpPr>
          <p:cNvPr id="10" name="TextBox 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1" name="TextBox 1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33 / 49</a:t>
            </a:r>
          </a:p>
        </p:txBody>
      </p:sp>
    </p:spTree>
    <p:extLst>
      <p:ext uri="{BB962C8B-B14F-4D97-AF65-F5344CB8AC3E}">
        <p14:creationId xmlns:p14="http://schemas.microsoft.com/office/powerpoint/2010/main" val="1232886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87"/>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Efficient KV transfer with vLLM and NIXL</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KV data moves between runtimes—not through the gateway or routing sidecar</a:t>
            </a:r>
          </a:p>
        </p:txBody>
      </p:sp>
      <p:sp>
        <p:nvSpPr>
          <p:cNvPr id="4" name="Rounded Rectangle 3"/>
          <p:cNvSpPr/>
          <p:nvPr/>
        </p:nvSpPr>
        <p:spPr>
          <a:xfrm>
            <a:off x="502920" y="1874519"/>
            <a:ext cx="2560320" cy="162763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2029967"/>
            <a:ext cx="2231136"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Prefill worker</a:t>
            </a:r>
          </a:p>
        </p:txBody>
      </p:sp>
      <p:sp>
        <p:nvSpPr>
          <p:cNvPr id="6" name="TextBox 5"/>
          <p:cNvSpPr txBox="1"/>
          <p:nvPr/>
        </p:nvSpPr>
        <p:spPr>
          <a:xfrm>
            <a:off x="667512" y="2505456"/>
            <a:ext cx="2231136" cy="896112"/>
          </a:xfrm>
          <a:prstGeom prst="rect">
            <a:avLst/>
          </a:prstGeom>
          <a:noFill/>
        </p:spPr>
        <p:txBody>
          <a:bodyPr wrap="square" lIns="0" rIns="0" tIns="0" bIns="0">
            <a:spAutoFit/>
          </a:bodyPr>
          <a:lstStyle/>
          <a:p>
            <a:pPr>
              <a:spcAft>
                <a:spcPts val="500"/>
              </a:spcAft>
              <a:defRPr sz="1700" b="0">
                <a:solidFill>
                  <a:srgbClr val="142C46"/>
                </a:solidFill>
                <a:latin typeface="Arial"/>
              </a:defRPr>
            </a:pPr>
            <a:r>
              <a:rPr cap="none"/>
              <a:t>Prompt KV state</a:t>
            </a:r>
          </a:p>
          <a:p>
            <a:pPr>
              <a:spcAft>
                <a:spcPts val="500"/>
              </a:spcAft>
              <a:defRPr sz="1700" b="0">
                <a:solidFill>
                  <a:srgbClr val="142C46"/>
                </a:solidFill>
                <a:latin typeface="Arial"/>
              </a:defRPr>
            </a:pPr>
            <a:r>
              <a:rPr cap="none"/>
              <a:t>Source GPU memory</a:t>
            </a:r>
          </a:p>
        </p:txBody>
      </p:sp>
      <p:sp>
        <p:nvSpPr>
          <p:cNvPr id="7" name="Rounded Rectangle 6"/>
          <p:cNvSpPr/>
          <p:nvPr/>
        </p:nvSpPr>
        <p:spPr>
          <a:xfrm>
            <a:off x="6080760" y="1874519"/>
            <a:ext cx="2560320" cy="162763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45352" y="2029967"/>
            <a:ext cx="2231136"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Decode worker</a:t>
            </a:r>
          </a:p>
        </p:txBody>
      </p:sp>
      <p:sp>
        <p:nvSpPr>
          <p:cNvPr id="9" name="TextBox 8"/>
          <p:cNvSpPr txBox="1"/>
          <p:nvPr/>
        </p:nvSpPr>
        <p:spPr>
          <a:xfrm>
            <a:off x="6245352" y="2505456"/>
            <a:ext cx="2231136" cy="896112"/>
          </a:xfrm>
          <a:prstGeom prst="rect">
            <a:avLst/>
          </a:prstGeom>
          <a:noFill/>
        </p:spPr>
        <p:txBody>
          <a:bodyPr wrap="square" lIns="0" rIns="0" tIns="0" bIns="0">
            <a:spAutoFit/>
          </a:bodyPr>
          <a:lstStyle/>
          <a:p>
            <a:pPr>
              <a:spcAft>
                <a:spcPts val="500"/>
              </a:spcAft>
              <a:defRPr sz="1700" b="0">
                <a:solidFill>
                  <a:srgbClr val="142C46"/>
                </a:solidFill>
                <a:latin typeface="Arial"/>
              </a:defRPr>
            </a:pPr>
            <a:r>
              <a:rPr cap="none"/>
              <a:t>Reuse received KV</a:t>
            </a:r>
          </a:p>
          <a:p>
            <a:pPr>
              <a:spcAft>
                <a:spcPts val="500"/>
              </a:spcAft>
              <a:defRPr sz="1700" b="0">
                <a:solidFill>
                  <a:srgbClr val="142C46"/>
                </a:solidFill>
                <a:latin typeface="Arial"/>
              </a:defRPr>
            </a:pPr>
            <a:r>
              <a:rPr cap="none"/>
              <a:t>Continue generation</a:t>
            </a:r>
          </a:p>
        </p:txBody>
      </p:sp>
      <p:sp>
        <p:nvSpPr>
          <p:cNvPr id="10" name="TextBox 9"/>
          <p:cNvSpPr txBox="1"/>
          <p:nvPr/>
        </p:nvSpPr>
        <p:spPr>
          <a:xfrm>
            <a:off x="3310128" y="2176272"/>
            <a:ext cx="2542032" cy="457200"/>
          </a:xfrm>
          <a:prstGeom prst="rect">
            <a:avLst/>
          </a:prstGeom>
          <a:noFill/>
        </p:spPr>
        <p:txBody>
          <a:bodyPr wrap="square" lIns="0" rIns="0" tIns="0" bIns="0">
            <a:spAutoFit/>
          </a:bodyPr>
          <a:lstStyle/>
          <a:p>
            <a:pPr>
              <a:spcAft>
                <a:spcPts val="500"/>
              </a:spcAft>
              <a:defRPr sz="2200" b="1">
                <a:solidFill>
                  <a:srgbClr val="346CEC"/>
                </a:solidFill>
                <a:latin typeface="Arial"/>
              </a:defRPr>
            </a:pPr>
            <a:r>
              <a:rPr cap="none"/>
              <a:t>KV data  →</a:t>
            </a:r>
          </a:p>
        </p:txBody>
      </p:sp>
      <p:sp>
        <p:nvSpPr>
          <p:cNvPr id="11" name="TextBox 10"/>
          <p:cNvSpPr txBox="1"/>
          <p:nvPr/>
        </p:nvSpPr>
        <p:spPr>
          <a:xfrm>
            <a:off x="3236976" y="2761488"/>
            <a:ext cx="2715768" cy="594360"/>
          </a:xfrm>
          <a:prstGeom prst="rect">
            <a:avLst/>
          </a:prstGeom>
          <a:noFill/>
        </p:spPr>
        <p:txBody>
          <a:bodyPr wrap="square" lIns="0" rIns="0" tIns="0" bIns="0">
            <a:spAutoFit/>
          </a:bodyPr>
          <a:lstStyle/>
          <a:p>
            <a:pPr>
              <a:spcAft>
                <a:spcPts val="500"/>
              </a:spcAft>
              <a:defRPr sz="1100" b="0">
                <a:solidFill>
                  <a:srgbClr val="52677D"/>
                </a:solidFill>
                <a:latin typeface="Arial"/>
              </a:defRPr>
            </a:pPr>
            <a:r>
              <a:rPr cap="none"/>
              <a:t>NIXL + transport backend</a:t>
            </a:r>
          </a:p>
          <a:p>
            <a:pPr>
              <a:spcAft>
                <a:spcPts val="500"/>
              </a:spcAft>
              <a:defRPr sz="1100" b="0">
                <a:solidFill>
                  <a:srgbClr val="52677D"/>
                </a:solidFill>
                <a:latin typeface="Arial"/>
              </a:defRPr>
            </a:pPr>
            <a:r>
              <a:rPr cap="none"/>
              <a:t>Decode may initiate the read</a:t>
            </a:r>
          </a:p>
        </p:txBody>
      </p:sp>
      <p:sp>
        <p:nvSpPr>
          <p:cNvPr id="12" name="TextBox 11"/>
          <p:cNvSpPr txBox="1"/>
          <p:nvPr/>
        </p:nvSpPr>
        <p:spPr>
          <a:xfrm>
            <a:off x="594360" y="3794760"/>
            <a:ext cx="8001000" cy="393192"/>
          </a:xfrm>
          <a:prstGeom prst="rect">
            <a:avLst/>
          </a:prstGeom>
          <a:noFill/>
        </p:spPr>
        <p:txBody>
          <a:bodyPr wrap="square" lIns="0" rIns="0" tIns="0" bIns="0">
            <a:spAutoFit/>
          </a:bodyPr>
          <a:lstStyle/>
          <a:p>
            <a:pPr>
              <a:spcAft>
                <a:spcPts val="500"/>
              </a:spcAft>
              <a:defRPr sz="1400" b="0">
                <a:solidFill>
                  <a:srgbClr val="142C46"/>
                </a:solidFill>
                <a:latin typeface="Arial"/>
              </a:defRPr>
            </a:pPr>
            <a:r>
              <a:rPr cap="none"/>
              <a:t>GPU-direct RDMA requires a supported GPU, NIC, fabric and backend.</a:t>
            </a:r>
          </a:p>
        </p:txBody>
      </p:sp>
      <p:sp>
        <p:nvSpPr>
          <p:cNvPr id="13" name="Rounded Rectangle 12"/>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A TCP path is not RDMA. Measure transfer latency and staging cost on your deployment.</a:t>
            </a:r>
          </a:p>
        </p:txBody>
      </p:sp>
      <p:sp>
        <p:nvSpPr>
          <p:cNvPr id="15" name="TextBox 1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6" name="TextBox 1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34 / 49</a:t>
            </a:r>
          </a:p>
        </p:txBody>
      </p:sp>
    </p:spTree>
    <p:extLst>
      <p:ext uri="{BB962C8B-B14F-4D97-AF65-F5344CB8AC3E}">
        <p14:creationId xmlns:p14="http://schemas.microsoft.com/office/powerpoint/2010/main" val="2399501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Per-role autoscaling</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dirty="0" err="1" cap="none" b="1">
                <a:solidFill>
                  <a:srgbClr val="142C46"/>
                </a:solidFill>
                <a:latin typeface="Arial"/>
              </a:rPr>
              <a:t>Autoscale</a:t>
            </a:r>
            <a:r>
              <a:rPr sz="2100" dirty="0" cap="none" b="1">
                <a:solidFill>
                  <a:srgbClr val="142C46"/>
                </a:solidFill>
                <a:latin typeface="Arial"/>
              </a:rPr>
              <a:t> the role that is actually saturated</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Different bottlenecks deserve different signals and scale decisions.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Independent scaling only helps when the metrics match each role.</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11630"/>
            <a:ext cx="4080510" cy="18516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500634" y="1748790"/>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0" y="1885950"/>
            <a:ext cx="3806190"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Prefill</a:t>
            </a:r>
          </a:p>
        </p:txBody>
      </p:sp>
      <p:sp>
        <p:nvSpPr>
          <p:cNvPr id="13" name="TextBox 12"/>
          <p:cNvSpPr txBox="1"/>
          <p:nvPr/>
        </p:nvSpPr>
        <p:spPr>
          <a:xfrm>
            <a:off x="514350" y="2338579"/>
            <a:ext cx="3806190" cy="579902"/>
          </a:xfrm>
          <a:prstGeom prst="rect">
            <a:avLst/>
          </a:prstGeom>
          <a:noFill/>
        </p:spPr>
        <p:txBody>
          <a:bodyPr wrap="square" lIns="10287" tIns="10287" rIns="10287" bIns="10287">
            <a:spAutoFit/>
          </a:bodyPr>
          <a:lstStyle/>
          <a:p>
            <a:pPr>
              <a:spcAft>
                <a:spcPts val="375"/>
              </a:spcAft>
              <a:defRPr sz="2200" b="0">
                <a:solidFill>
                  <a:srgbClr val="172941"/>
                </a:solidFill>
                <a:latin typeface="Arial"/>
              </a:defRPr>
            </a:pPr>
            <a:r>
              <a:rPr sz="1650" cap="none">
                <a:latin typeface="Arial"/>
              </a:rPr>
              <a:t>Protect prompt latency</a:t>
            </a:r>
          </a:p>
          <a:p>
            <a:pPr>
              <a:spcAft>
                <a:spcPts val="375"/>
              </a:spcAft>
              <a:defRPr sz="2200" b="0">
                <a:solidFill>
                  <a:srgbClr val="172941"/>
                </a:solidFill>
                <a:latin typeface="Arial"/>
              </a:defRPr>
            </a:pPr>
            <a:r>
              <a:rPr sz="1650" cap="none">
                <a:latin typeface="Arial"/>
              </a:rPr>
              <a:t>and time to first token.</a:t>
            </a:r>
          </a:p>
        </p:txBody>
      </p:sp>
      <p:sp>
        <p:nvSpPr>
          <p:cNvPr id="14" name="Rounded Rectangle 13"/>
          <p:cNvSpPr/>
          <p:nvPr/>
        </p:nvSpPr>
        <p:spPr>
          <a:xfrm>
            <a:off x="377190" y="3669030"/>
            <a:ext cx="4080510"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425196" y="3693033"/>
            <a:ext cx="3984498"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Primary signal: vLLM waiting requests</a:t>
            </a:r>
          </a:p>
        </p:txBody>
      </p:sp>
      <p:sp>
        <p:nvSpPr>
          <p:cNvPr id="16" name="Rounded Rectangle 15"/>
          <p:cNvSpPr/>
          <p:nvPr/>
        </p:nvSpPr>
        <p:spPr>
          <a:xfrm>
            <a:off x="4649724" y="1611630"/>
            <a:ext cx="4080510" cy="185166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Rectangle 16"/>
          <p:cNvSpPr/>
          <p:nvPr/>
        </p:nvSpPr>
        <p:spPr>
          <a:xfrm>
            <a:off x="4773168" y="1748790"/>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4786884" y="1885950"/>
            <a:ext cx="3806190"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Decode</a:t>
            </a:r>
          </a:p>
        </p:txBody>
      </p:sp>
      <p:sp>
        <p:nvSpPr>
          <p:cNvPr id="19" name="TextBox 18"/>
          <p:cNvSpPr txBox="1"/>
          <p:nvPr/>
        </p:nvSpPr>
        <p:spPr>
          <a:xfrm>
            <a:off x="4786884" y="2338579"/>
            <a:ext cx="3806190" cy="579902"/>
          </a:xfrm>
          <a:prstGeom prst="rect">
            <a:avLst/>
          </a:prstGeom>
          <a:noFill/>
        </p:spPr>
        <p:txBody>
          <a:bodyPr wrap="square" lIns="10287" tIns="10287" rIns="10287" bIns="10287">
            <a:spAutoFit/>
          </a:bodyPr>
          <a:lstStyle/>
          <a:p>
            <a:pPr>
              <a:spcAft>
                <a:spcPts val="375"/>
              </a:spcAft>
              <a:defRPr sz="2200" b="0">
                <a:solidFill>
                  <a:srgbClr val="172941"/>
                </a:solidFill>
                <a:latin typeface="Arial"/>
              </a:defRPr>
            </a:pPr>
            <a:r>
              <a:rPr sz="1650" cap="none">
                <a:latin typeface="Arial"/>
              </a:rPr>
              <a:t>Protect token delivery</a:t>
            </a:r>
          </a:p>
          <a:p>
            <a:pPr>
              <a:spcAft>
                <a:spcPts val="375"/>
              </a:spcAft>
              <a:defRPr sz="2200" b="0">
                <a:solidFill>
                  <a:srgbClr val="172941"/>
                </a:solidFill>
                <a:latin typeface="Arial"/>
              </a:defRPr>
            </a:pPr>
            <a:r>
              <a:rPr sz="1650" cap="none">
                <a:latin typeface="Arial"/>
              </a:rPr>
              <a:t>and sustained throughput.</a:t>
            </a:r>
          </a:p>
        </p:txBody>
      </p:sp>
      <p:sp>
        <p:nvSpPr>
          <p:cNvPr id="20" name="Rounded Rectangle 19"/>
          <p:cNvSpPr/>
          <p:nvPr/>
        </p:nvSpPr>
        <p:spPr>
          <a:xfrm>
            <a:off x="4649724" y="3669030"/>
            <a:ext cx="4080510"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4697730" y="3693033"/>
            <a:ext cx="3984498"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Primary signal: vLLM running requests</a:t>
            </a:r>
          </a:p>
        </p:txBody>
      </p:sp>
      <p:sp>
        <p:nvSpPr>
          <p:cNvPr id="22" name="TextBox 2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3" name="TextBox 2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35 / 49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Existing capability</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Today: KEDA targets the InferenceSet scale API</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Documented KAITO examples cover both scheduled and metric-based scaling.</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The scale target is the InferenceSet—not a manually scaled workload Pod.</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515618"/>
            <a:ext cx="1645920" cy="233172"/>
          </a:xfrm>
          <a:prstGeom prst="roundRect">
            <a:avLst>
              <a:gd name="adj" fmla="val 10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25197" y="1539621"/>
            <a:ext cx="1549907" cy="136191"/>
          </a:xfrm>
          <a:prstGeom prst="rect">
            <a:avLst/>
          </a:prstGeom>
          <a:noFill/>
        </p:spPr>
        <p:txBody>
          <a:bodyPr wrap="square" lIns="10287" tIns="10287" rIns="10287" bIns="10287">
            <a:spAutoFit/>
          </a:bodyPr>
          <a:lstStyle/>
          <a:p>
            <a:pPr algn="ctr">
              <a:spcAft>
                <a:spcPts val="375"/>
              </a:spcAft>
              <a:defRPr sz="1000" b="1">
                <a:solidFill>
                  <a:srgbClr val="2563EB"/>
                </a:solidFill>
                <a:latin typeface="Arial"/>
              </a:defRPr>
            </a:pPr>
            <a:r>
              <a:rPr sz="750" cap="none">
                <a:latin typeface="Arial"/>
              </a:rPr>
              <a:t>Documented today</a:t>
            </a:r>
          </a:p>
        </p:txBody>
      </p:sp>
      <p:sp>
        <p:nvSpPr>
          <p:cNvPr id="12" name="Rounded Rectangle 11"/>
          <p:cNvSpPr/>
          <p:nvPr/>
        </p:nvSpPr>
        <p:spPr>
          <a:xfrm>
            <a:off x="377190" y="2139696"/>
            <a:ext cx="2400300" cy="93954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Rectangle 12"/>
          <p:cNvSpPr/>
          <p:nvPr/>
        </p:nvSpPr>
        <p:spPr>
          <a:xfrm>
            <a:off x="377190" y="2208276"/>
            <a:ext cx="37719" cy="802386"/>
          </a:xfrm>
          <a:prstGeom prst="rect">
            <a:avLst/>
          </a:prstGeom>
          <a:solidFill>
            <a:srgbClr val="AE6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480060" y="2228850"/>
            <a:ext cx="2194560" cy="274691"/>
          </a:xfrm>
          <a:prstGeom prst="rect">
            <a:avLst/>
          </a:prstGeom>
          <a:noFill/>
        </p:spPr>
        <p:txBody>
          <a:bodyPr wrap="square" lIns="10287" tIns="10287" rIns="10287" bIns="10287">
            <a:spAutoFit/>
          </a:bodyPr>
          <a:lstStyle/>
          <a:p>
            <a:pPr algn="ctr">
              <a:spcAft>
                <a:spcPts val="375"/>
              </a:spcAft>
              <a:defRPr sz="2200" b="1">
                <a:solidFill>
                  <a:srgbClr val="AE641A"/>
                </a:solidFill>
                <a:latin typeface="Arial"/>
              </a:defRPr>
            </a:pPr>
            <a:r>
              <a:rPr sz="1650" cap="none">
                <a:latin typeface="Arial"/>
              </a:rPr>
              <a:t>Trigger</a:t>
            </a:r>
          </a:p>
        </p:txBody>
      </p:sp>
      <p:sp>
        <p:nvSpPr>
          <p:cNvPr id="15" name="TextBox 14"/>
          <p:cNvSpPr txBox="1"/>
          <p:nvPr/>
        </p:nvSpPr>
        <p:spPr>
          <a:xfrm>
            <a:off x="486918" y="255803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Cron or Prometheus query</a:t>
            </a:r>
          </a:p>
        </p:txBody>
      </p:sp>
      <p:sp>
        <p:nvSpPr>
          <p:cNvPr id="16" name="Rounded Rectangle 15"/>
          <p:cNvSpPr/>
          <p:nvPr/>
        </p:nvSpPr>
        <p:spPr>
          <a:xfrm>
            <a:off x="3374136" y="2139696"/>
            <a:ext cx="2400300" cy="93954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Rectangle 16"/>
          <p:cNvSpPr/>
          <p:nvPr/>
        </p:nvSpPr>
        <p:spPr>
          <a:xfrm>
            <a:off x="3374136" y="2208276"/>
            <a:ext cx="37719" cy="80238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3477006" y="2228850"/>
            <a:ext cx="2194560"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KEDA / HPA</a:t>
            </a:r>
          </a:p>
        </p:txBody>
      </p:sp>
      <p:sp>
        <p:nvSpPr>
          <p:cNvPr id="19" name="TextBox 18"/>
          <p:cNvSpPr txBox="1"/>
          <p:nvPr/>
        </p:nvSpPr>
        <p:spPr>
          <a:xfrm>
            <a:off x="3483864" y="255803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ScaledObject target</a:t>
            </a:r>
          </a:p>
        </p:txBody>
      </p:sp>
      <p:sp>
        <p:nvSpPr>
          <p:cNvPr id="20" name="Rounded Rectangle 19"/>
          <p:cNvSpPr/>
          <p:nvPr/>
        </p:nvSpPr>
        <p:spPr>
          <a:xfrm>
            <a:off x="6364224" y="2139696"/>
            <a:ext cx="2400300" cy="93954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Rectangle 20"/>
          <p:cNvSpPr/>
          <p:nvPr/>
        </p:nvSpPr>
        <p:spPr>
          <a:xfrm>
            <a:off x="6364224" y="2208276"/>
            <a:ext cx="37719" cy="80238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6467094" y="2228850"/>
            <a:ext cx="2194560" cy="274691"/>
          </a:xfrm>
          <a:prstGeom prst="rect">
            <a:avLst/>
          </a:prstGeom>
          <a:noFill/>
        </p:spPr>
        <p:txBody>
          <a:bodyPr wrap="square" lIns="10287" tIns="10287" rIns="10287" bIns="10287">
            <a:spAutoFit/>
          </a:bodyPr>
          <a:lstStyle/>
          <a:p>
            <a:pPr algn="ctr">
              <a:spcAft>
                <a:spcPts val="375"/>
              </a:spcAft>
              <a:defRPr sz="2200" b="1">
                <a:solidFill>
                  <a:srgbClr val="087F8C"/>
                </a:solidFill>
                <a:latin typeface="Arial"/>
              </a:defRPr>
            </a:pPr>
            <a:r>
              <a:rPr sz="1650" cap="none">
                <a:latin typeface="Arial"/>
              </a:rPr>
              <a:t>InferenceSet</a:t>
            </a:r>
          </a:p>
        </p:txBody>
      </p:sp>
      <p:sp>
        <p:nvSpPr>
          <p:cNvPr id="23" name="TextBox 22"/>
          <p:cNvSpPr txBox="1"/>
          <p:nvPr/>
        </p:nvSpPr>
        <p:spPr>
          <a:xfrm>
            <a:off x="6473952" y="255803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Scale subresource</a:t>
            </a:r>
          </a:p>
        </p:txBody>
      </p:sp>
      <p:cxnSp>
        <p:nvCxnSpPr>
          <p:cNvPr id="24" name="Connector 23"/>
          <p:cNvCxnSpPr/>
          <p:nvPr/>
        </p:nvCxnSpPr>
        <p:spPr>
          <a:xfrm>
            <a:off x="2777490" y="2606040"/>
            <a:ext cx="596646"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74436" y="2606040"/>
            <a:ext cx="589788"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77190" y="3463290"/>
            <a:ext cx="8387334" cy="63093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534924" y="3641599"/>
            <a:ext cx="2468880" cy="216982"/>
          </a:xfrm>
          <a:prstGeom prst="rect">
            <a:avLst/>
          </a:prstGeom>
          <a:noFill/>
        </p:spPr>
        <p:txBody>
          <a:bodyPr wrap="square" lIns="10287" tIns="10287" rIns="10287" bIns="10287">
            <a:spAutoFit/>
          </a:bodyPr>
          <a:lstStyle/>
          <a:p>
            <a:pPr>
              <a:spcAft>
                <a:spcPts val="375"/>
              </a:spcAft>
              <a:defRPr sz="1700" b="1">
                <a:solidFill>
                  <a:srgbClr val="586A80"/>
                </a:solidFill>
                <a:latin typeface="Arial"/>
              </a:defRPr>
            </a:pPr>
            <a:r>
              <a:rPr sz="1275" cap="none">
                <a:latin typeface="Arial"/>
              </a:rPr>
              <a:t>Documented queue signal</a:t>
            </a:r>
          </a:p>
        </p:txBody>
      </p:sp>
      <p:sp>
        <p:nvSpPr>
          <p:cNvPr id="28" name="TextBox 27"/>
          <p:cNvSpPr txBox="1"/>
          <p:nvPr/>
        </p:nvSpPr>
        <p:spPr>
          <a:xfrm>
            <a:off x="3223260" y="3641599"/>
            <a:ext cx="5280660" cy="240066"/>
          </a:xfrm>
          <a:prstGeom prst="rect">
            <a:avLst/>
          </a:prstGeom>
          <a:noFill/>
        </p:spPr>
        <p:txBody>
          <a:bodyPr wrap="square" lIns="10287" tIns="10287" rIns="10287" bIns="10287">
            <a:spAutoFit/>
          </a:bodyPr>
          <a:lstStyle/>
          <a:p>
            <a:pPr>
              <a:spcAft>
                <a:spcPts val="375"/>
              </a:spcAft>
              <a:defRPr sz="1900" b="0">
                <a:solidFill>
                  <a:srgbClr val="087F8C"/>
                </a:solidFill>
                <a:latin typeface="Courier New"/>
              </a:defRPr>
            </a:pPr>
            <a:r>
              <a:rPr sz="1425" cap="none">
                <a:latin typeface="Arial"/>
              </a:rPr>
              <a:t>vllm:num_requests_waiting</a:t>
            </a:r>
          </a:p>
        </p:txBody>
      </p:sp>
      <p:sp>
        <p:nvSpPr>
          <p:cNvPr id="29" name="TextBox 28"/>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0" name="TextBox 29"/>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36 / 49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26A1F-4BB7-C9FB-B380-E8EF93D83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7F6EC-98A5-26CE-32B1-A95AD9F65C35}"/>
              </a:ext>
            </a:extLst>
          </p:cNvPr>
          <p:cNvSpPr>
            <a:spLocks noGrp="1"/>
          </p:cNvSpPr>
          <p:nvPr>
            <p:ph type="title" idx="4294967295"/>
          </p:nvPr>
        </p:nvSpPr>
        <p:spPr>
          <a:xfrm>
            <a:off x="365760" y="539496"/>
            <a:ext cx="8412480" cy="420624"/>
          </a:xfrm>
        </p:spPr>
        <p:txBody>
          <a:bodyPr lIns="0" rIns="0" tIns="0" bIns="0" wrap="none">
            <a:normAutofit/>
          </a:bodyPr>
          <a:lstStyle/>
          <a:p>
            <a:r>
              <a:rPr lang="en-US" dirty="0" cap="none" sz="2100" b="1">
                <a:solidFill>
                  <a:srgbClr val="142C46"/>
                </a:solidFill>
                <a:latin typeface="Arial"/>
              </a:rPr>
              <a:t>KAITO autoscaling: keda-</a:t>
            </a:r>
            <a:r>
              <a:rPr lang="en-US" dirty="0" err="1" cap="none" sz="2100" b="1">
                <a:solidFill>
                  <a:srgbClr val="142C46"/>
                </a:solidFill>
                <a:latin typeface="Arial"/>
              </a:rPr>
              <a:t>kaito</a:t>
            </a:r>
            <a:r>
              <a:rPr lang="en-US" dirty="0" cap="none" sz="2100" b="1">
                <a:solidFill>
                  <a:srgbClr val="142C46"/>
                </a:solidFill>
                <a:latin typeface="Arial"/>
              </a:rPr>
              <a:t>-scaler</a:t>
            </a:r>
          </a:p>
        </p:txBody>
      </p:sp>
      <p:pic>
        <p:nvPicPr>
          <p:cNvPr id="8" name="Picture 7">
            <a:extLst>
              <a:ext uri="{FF2B5EF4-FFF2-40B4-BE49-F238E27FC236}">
                <a16:creationId xmlns:a16="http://schemas.microsoft.com/office/drawing/2014/main" id="{8B14B8C5-6523-CC16-94B2-86B74AF39A2B}"/>
              </a:ext>
            </a:extLst>
          </p:cNvPr>
          <p:cNvPicPr>
            <a:picLocks noChangeAspect="1"/>
          </p:cNvPicPr>
          <p:nvPr/>
        </p:nvPicPr>
        <p:blipFill>
          <a:blip r:embed="rId3"/>
          <a:stretch>
            <a:fillRect/>
          </a:stretch>
        </p:blipFill>
        <p:spPr>
          <a:xfrm>
            <a:off x="381000" y="1504419"/>
            <a:ext cx="5739000" cy="2738770"/>
          </a:xfrm>
          <a:prstGeom prst="rect">
            <a:avLst/>
          </a:prstGeom>
        </p:spPr>
      </p:pic>
      <p:sp>
        <p:nvSpPr>
          <p:cNvPr id="20" name="TextBox Subtitle"/>
          <p:cNvSpPr txBox="1"/>
          <p:nvPr/>
        </p:nvSpPr>
        <p:spPr>
          <a:xfrm>
            <a:off x="384048" y="1033271"/>
            <a:ext cx="8321040" cy="329184"/>
          </a:xfrm>
          <a:prstGeom prst="rect">
            <a:avLst/>
          </a:prstGeom>
          <a:noFill/>
        </p:spPr>
        <p:txBody>
          <a:bodyPr wrap="square" rtlCol="0">
            <a:normAutofit fontScale="92500"/>
          </a:bodyPr>
          <a:lstStyle/>
          <a:p>
            <a:r>
              <a:rPr lang="en-US" sz="1200" b="1" dirty="0" cap="none">
                <a:solidFill>
                  <a:srgbClr val="52677D"/>
                </a:solidFill>
                <a:latin typeface="Arial"/>
              </a:rPr>
              <a:t>KEDA-driven scaling with metrics scraped directly from vLLM</a:t>
            </a:r>
          </a:p>
        </p:txBody>
      </p:sp>
      <p:sp>
        <p:nvSpPr>
          <p:cNvPr id="21" name="How It Works"/>
          <p:cNvSpPr/>
          <p:nvPr/>
        </p:nvSpPr>
        <p:spPr>
          <a:xfrm>
            <a:off x="6216900" y="1504419"/>
            <a:ext cx="2615400" cy="2738770"/>
          </a:xfrm>
          <a:prstGeom prst="roundRect">
            <a:avLst/>
          </a:prstGeom>
          <a:solidFill>
            <a:schemeClr val="bg1">
              <a:lumMod val="95000"/>
            </a:schemeClr>
          </a:solidFill>
          <a:ln w="12700">
            <a:solidFill>
              <a:schemeClr val="accent2"/>
            </a:solidFill>
          </a:ln>
        </p:spPr>
        <p:txBody>
          <a:bodyPr rtlCol="0" anchor="ctr">
            <a:normAutofit/>
          </a:bodyPr>
          <a:lstStyle/>
          <a:p>
            <a:r>
              <a:rPr lang="en-US" sz="1300" b="1" dirty="0" cap="none">
                <a:solidFill>
                  <a:srgbClr val="142C46"/>
                </a:solidFill>
                <a:latin typeface="Arial"/>
              </a:rPr>
              <a:t>What it adds</a:t>
            </a:r>
            <a:br/>
            <a:r>
              <a:rPr cap="none" sz="1300">
                <a:solidFill>
                  <a:srgbClr val="142C46"/>
                </a:solidFill>
                <a:latin typeface="Arial"/>
              </a:rPr>
              <a:t>No Prometheus required</a:t>
            </a:r>
            <a:br/>
            <a:r>
              <a:rPr cap="none" sz="1300">
                <a:solidFill>
                  <a:srgbClr val="142C46"/>
                </a:solidFill>
                <a:latin typeface="Arial"/>
              </a:rPr>
              <a:t>Direct vLLM metric scraping</a:t>
            </a:r>
            <a:br/>
            <a:r>
              <a:rPr cap="none" sz="1300">
                <a:solidFill>
                  <a:srgbClr val="142C46"/>
                </a:solidFill>
                <a:latin typeface="Arial"/>
              </a:rPr>
              <a:t>Conservative replica steps</a:t>
            </a:r>
            <a:br/>
            <a:r>
              <a:rPr cap="none" sz="1300">
                <a:solidFill>
                  <a:srgbClr val="142C46"/>
                </a:solidFill>
                <a:latin typeface="Arial"/>
              </a:rPr>
              <a:t>Queue and latency signals</a:t>
            </a:r>
            <a:br/>
            <a:r>
              <a:rPr cap="none" sz="1300">
                <a:solidFill>
                  <a:srgbClr val="142C46"/>
                </a:solidFill>
                <a:latin typeface="Arial"/>
              </a:rPr>
              <a:t>Configurable AND policy</a:t>
            </a:r>
          </a:p>
        </p:txBody>
      </p:sp>
      <p:sp>
        <p:nvSpPr>
          <p:cNvPr id="22" name="TextBox 2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3" name="TextBox 2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37 / 49</a:t>
            </a:r>
          </a:p>
        </p:txBody>
      </p:sp>
    </p:spTree>
    <p:extLst>
      <p:ext uri="{BB962C8B-B14F-4D97-AF65-F5344CB8AC3E}">
        <p14:creationId xmlns:p14="http://schemas.microsoft.com/office/powerpoint/2010/main" val="1710340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8E84A-0A4F-A861-8024-10CF59AB7D37}"/>
            </a:ext>
          </a:extLst>
        </p:cNvPr>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KAITO autoscaling configuration</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Today: explicit tuning. Future direction: fewer knobs.</a:t>
            </a:r>
          </a:p>
        </p:txBody>
      </p:sp>
      <p:sp>
        <p:nvSpPr>
          <p:cNvPr id="4" name="Rounded Rectangle 3"/>
          <p:cNvSpPr/>
          <p:nvPr/>
        </p:nvSpPr>
        <p:spPr>
          <a:xfrm>
            <a:off x="411480" y="1591056"/>
            <a:ext cx="4078224" cy="250545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746504"/>
            <a:ext cx="3749039" cy="365760"/>
          </a:xfrm>
          <a:prstGeom prst="rect">
            <a:avLst/>
          </a:prstGeom>
          <a:noFill/>
        </p:spPr>
        <p:txBody>
          <a:bodyPr wrap="square" lIns="0" rIns="0" tIns="0" bIns="0">
            <a:spAutoFit/>
          </a:bodyPr>
          <a:lstStyle/>
          <a:p>
            <a:pPr>
              <a:spcAft>
                <a:spcPts val="500"/>
              </a:spcAft>
              <a:defRPr sz="1600" b="1">
                <a:solidFill>
                  <a:srgbClr val="346CEC"/>
                </a:solidFill>
                <a:latin typeface="Arial"/>
              </a:defRPr>
            </a:pPr>
            <a:r>
              <a:rPr cap="none"/>
              <a:t>Available configuration</a:t>
            </a:r>
          </a:p>
        </p:txBody>
      </p:sp>
      <p:sp>
        <p:nvSpPr>
          <p:cNvPr id="6" name="TextBox 5"/>
          <p:cNvSpPr txBox="1"/>
          <p:nvPr/>
        </p:nvSpPr>
        <p:spPr>
          <a:xfrm>
            <a:off x="576072" y="2221991"/>
            <a:ext cx="3749039" cy="1773936"/>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Select queue and latency metrics</a:t>
            </a:r>
          </a:p>
          <a:p>
            <a:pPr>
              <a:spcAft>
                <a:spcPts val="500"/>
              </a:spcAft>
              <a:defRPr sz="1500" b="0">
                <a:solidFill>
                  <a:srgbClr val="142C46"/>
                </a:solidFill>
                <a:latin typeface="Arial"/>
              </a:defRPr>
            </a:pPr>
            <a:r>
              <a:rPr cap="none"/>
              <a:t>Set thresholds and aggregation windows</a:t>
            </a:r>
          </a:p>
          <a:p>
            <a:pPr>
              <a:spcAft>
                <a:spcPts val="500"/>
              </a:spcAft>
              <a:defRPr sz="1500" b="0">
                <a:solidFill>
                  <a:srgbClr val="142C46"/>
                </a:solidFill>
                <a:latin typeface="Arial"/>
              </a:defRPr>
            </a:pPr>
            <a:r>
              <a:rPr cap="none"/>
              <a:t>Choose replica bounds and cooldowns</a:t>
            </a:r>
          </a:p>
          <a:p>
            <a:pPr>
              <a:spcAft>
                <a:spcPts val="500"/>
              </a:spcAft>
              <a:defRPr sz="1500" b="0">
                <a:solidFill>
                  <a:srgbClr val="142C46"/>
                </a:solidFill>
                <a:latin typeface="Arial"/>
              </a:defRPr>
            </a:pPr>
            <a:r>
              <a:rPr cap="none"/>
              <a:t>Combine signals with an AND policy</a:t>
            </a:r>
          </a:p>
        </p:txBody>
      </p:sp>
      <p:sp>
        <p:nvSpPr>
          <p:cNvPr id="7" name="Rounded Rectangle 6"/>
          <p:cNvSpPr/>
          <p:nvPr/>
        </p:nvSpPr>
        <p:spPr>
          <a:xfrm>
            <a:off x="4663440" y="1591056"/>
            <a:ext cx="4078224" cy="2505456"/>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8031" y="1746504"/>
            <a:ext cx="3749039"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Proposed simplification</a:t>
            </a:r>
          </a:p>
        </p:txBody>
      </p:sp>
      <p:sp>
        <p:nvSpPr>
          <p:cNvPr id="9" name="TextBox 8"/>
          <p:cNvSpPr txBox="1"/>
          <p:nvPr/>
        </p:nvSpPr>
        <p:spPr>
          <a:xfrm>
            <a:off x="4828031" y="2221991"/>
            <a:ext cx="3749039" cy="1773936"/>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Keep minimum and maximum replicas</a:t>
            </a:r>
          </a:p>
          <a:p>
            <a:pPr>
              <a:spcAft>
                <a:spcPts val="500"/>
              </a:spcAft>
              <a:defRPr sz="1500" b="0">
                <a:solidFill>
                  <a:srgbClr val="142C46"/>
                </a:solidFill>
                <a:latin typeface="Arial"/>
              </a:defRPr>
            </a:pPr>
            <a:r>
              <a:rPr cap="none"/>
              <a:t>Derive more defaults automatically</a:t>
            </a:r>
          </a:p>
          <a:p>
            <a:pPr>
              <a:spcAft>
                <a:spcPts val="500"/>
              </a:spcAft>
              <a:defRPr sz="1500" b="0">
                <a:solidFill>
                  <a:srgbClr val="142C46"/>
                </a:solidFill>
                <a:latin typeface="Arial"/>
              </a:defRPr>
            </a:pPr>
            <a:r>
              <a:rPr cap="none"/>
              <a:t>Validate against the model and workload</a:t>
            </a:r>
          </a:p>
          <a:p>
            <a:pPr>
              <a:spcAft>
                <a:spcPts val="500"/>
              </a:spcAft>
              <a:defRPr sz="1500" b="0">
                <a:solidFill>
                  <a:srgbClr val="142C46"/>
                </a:solidFill>
                <a:latin typeface="Arial"/>
              </a:defRPr>
            </a:pPr>
            <a:r>
              <a:rPr cap="none"/>
              <a:t>Not a shipped auto-tuning guarantee</a:t>
            </a:r>
          </a:p>
        </p:txBody>
      </p:sp>
      <p:sp>
        <p:nvSpPr>
          <p:cNvPr id="10" name="Rounded Rectangle 9"/>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Annotations express intent; controllers still create and manage scaling resources.</a:t>
            </a:r>
          </a:p>
        </p:txBody>
      </p:sp>
      <p:sp>
        <p:nvSpPr>
          <p:cNvPr id="12" name="TextBox 1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3" name="TextBox 1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38 / 49</a:t>
            </a:r>
          </a:p>
        </p:txBody>
      </p:sp>
    </p:spTree>
    <p:extLst>
      <p:ext uri="{BB962C8B-B14F-4D97-AF65-F5344CB8AC3E}">
        <p14:creationId xmlns:p14="http://schemas.microsoft.com/office/powerpoint/2010/main" val="3344936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Per-role autoscaling</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Two independent control loops, one logical service</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Conceptual design: validate signals and thresholds for the actual workload.</a:t>
            </a:r>
          </a:p>
        </p:txBody>
      </p:sp>
      <p:cxnSp>
        <p:nvCxnSpPr>
          <p:cNvPr id="5" name="Connector 4"/>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77190" y="1700784"/>
            <a:ext cx="1028700"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9" name="TextBox 8"/>
          <p:cNvSpPr txBox="1"/>
          <p:nvPr/>
        </p:nvSpPr>
        <p:spPr>
          <a:xfrm>
            <a:off x="425196" y="1724787"/>
            <a:ext cx="932688"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Prefill</a:t>
            </a:r>
          </a:p>
        </p:txBody>
      </p:sp>
      <p:sp>
        <p:nvSpPr>
          <p:cNvPr id="10" name="Rounded Rectangle 9"/>
          <p:cNvSpPr/>
          <p:nvPr/>
        </p:nvSpPr>
        <p:spPr>
          <a:xfrm>
            <a:off x="1659636" y="1645920"/>
            <a:ext cx="1954530"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1659636" y="1714500"/>
            <a:ext cx="37719" cy="67894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1762506" y="1735075"/>
            <a:ext cx="1748790" cy="216982"/>
          </a:xfrm>
          <a:prstGeom prst="rect">
            <a:avLst/>
          </a:prstGeom>
          <a:noFill/>
        </p:spPr>
        <p:txBody>
          <a:bodyPr wrap="square" lIns="10287" tIns="10287" rIns="10287" bIns="10287">
            <a:spAutoFit/>
          </a:bodyPr>
          <a:lstStyle/>
          <a:p>
            <a:pPr algn="ctr">
              <a:spcAft>
                <a:spcPts val="375"/>
              </a:spcAft>
              <a:defRPr sz="1700" b="1">
                <a:solidFill>
                  <a:srgbClr val="087F8C"/>
                </a:solidFill>
                <a:latin typeface="Arial"/>
              </a:defRPr>
            </a:pPr>
            <a:r>
              <a:rPr sz="1275" cap="none">
                <a:latin typeface="Arial"/>
              </a:rPr>
              <a:t>Waiting requests</a:t>
            </a:r>
          </a:p>
        </p:txBody>
      </p:sp>
      <p:sp>
        <p:nvSpPr>
          <p:cNvPr id="13" name="TextBox 12"/>
          <p:cNvSpPr txBox="1"/>
          <p:nvPr/>
        </p:nvSpPr>
        <p:spPr>
          <a:xfrm>
            <a:off x="1769364" y="2064259"/>
            <a:ext cx="173507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Observe</a:t>
            </a:r>
          </a:p>
        </p:txBody>
      </p:sp>
      <p:sp>
        <p:nvSpPr>
          <p:cNvPr id="14" name="Rounded Rectangle 13"/>
          <p:cNvSpPr/>
          <p:nvPr/>
        </p:nvSpPr>
        <p:spPr>
          <a:xfrm>
            <a:off x="4114800" y="1645920"/>
            <a:ext cx="1783080"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4114800" y="1714500"/>
            <a:ext cx="37719" cy="67894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4217670" y="1735075"/>
            <a:ext cx="1577340" cy="216982"/>
          </a:xfrm>
          <a:prstGeom prst="rect">
            <a:avLst/>
          </a:prstGeom>
          <a:noFill/>
        </p:spPr>
        <p:txBody>
          <a:bodyPr wrap="square" lIns="10287" tIns="10287" rIns="10287" bIns="10287">
            <a:spAutoFit/>
          </a:bodyPr>
          <a:lstStyle/>
          <a:p>
            <a:pPr algn="ctr">
              <a:spcAft>
                <a:spcPts val="375"/>
              </a:spcAft>
              <a:defRPr sz="1700" b="1">
                <a:solidFill>
                  <a:srgbClr val="087F8C"/>
                </a:solidFill>
                <a:latin typeface="Arial"/>
              </a:defRPr>
            </a:pPr>
            <a:r>
              <a:rPr sz="1275" cap="none">
                <a:latin typeface="Arial"/>
              </a:rPr>
              <a:t>KEDA / HPA</a:t>
            </a:r>
          </a:p>
        </p:txBody>
      </p:sp>
      <p:sp>
        <p:nvSpPr>
          <p:cNvPr id="17" name="TextBox 16"/>
          <p:cNvSpPr txBox="1"/>
          <p:nvPr/>
        </p:nvSpPr>
        <p:spPr>
          <a:xfrm>
            <a:off x="4224528" y="2064259"/>
            <a:ext cx="156362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Decide</a:t>
            </a:r>
          </a:p>
        </p:txBody>
      </p:sp>
      <p:sp>
        <p:nvSpPr>
          <p:cNvPr id="18" name="Rounded Rectangle 17"/>
          <p:cNvSpPr/>
          <p:nvPr/>
        </p:nvSpPr>
        <p:spPr>
          <a:xfrm>
            <a:off x="6391656" y="1645920"/>
            <a:ext cx="2372868"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6391656" y="1714500"/>
            <a:ext cx="37719" cy="67894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6494526" y="1735075"/>
            <a:ext cx="2167128" cy="216982"/>
          </a:xfrm>
          <a:prstGeom prst="rect">
            <a:avLst/>
          </a:prstGeom>
          <a:noFill/>
        </p:spPr>
        <p:txBody>
          <a:bodyPr wrap="square" lIns="10287" tIns="10287" rIns="10287" bIns="10287">
            <a:spAutoFit/>
          </a:bodyPr>
          <a:lstStyle/>
          <a:p>
            <a:pPr algn="ctr">
              <a:spcAft>
                <a:spcPts val="375"/>
              </a:spcAft>
              <a:defRPr sz="1700" b="1">
                <a:solidFill>
                  <a:srgbClr val="087F8C"/>
                </a:solidFill>
                <a:latin typeface="Arial"/>
              </a:defRPr>
            </a:pPr>
            <a:r>
              <a:rPr sz="1275" cap="none">
                <a:latin typeface="Arial"/>
              </a:rPr>
              <a:t>Prefill InferenceSet</a:t>
            </a:r>
          </a:p>
        </p:txBody>
      </p:sp>
      <p:sp>
        <p:nvSpPr>
          <p:cNvPr id="21" name="TextBox 20"/>
          <p:cNvSpPr txBox="1"/>
          <p:nvPr/>
        </p:nvSpPr>
        <p:spPr>
          <a:xfrm>
            <a:off x="6501384" y="2064259"/>
            <a:ext cx="2153412"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Reconcile replicas</a:t>
            </a:r>
          </a:p>
        </p:txBody>
      </p:sp>
      <p:cxnSp>
        <p:nvCxnSpPr>
          <p:cNvPr id="22" name="Connector 21"/>
          <p:cNvCxnSpPr/>
          <p:nvPr/>
        </p:nvCxnSpPr>
        <p:spPr>
          <a:xfrm>
            <a:off x="3614166" y="2043684"/>
            <a:ext cx="500634"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97880" y="2043684"/>
            <a:ext cx="493776"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78090" y="2462022"/>
            <a:ext cx="0" cy="260604"/>
          </a:xfrm>
          <a:prstGeom prst="line">
            <a:avLst/>
          </a:prstGeom>
          <a:ln w="2540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633472" y="2722626"/>
            <a:ext cx="4944618" cy="0"/>
          </a:xfrm>
          <a:prstGeom prst="line">
            <a:avLst/>
          </a:prstGeom>
          <a:ln w="25400">
            <a:solidFill>
              <a:srgbClr val="087F8C"/>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633472" y="2462022"/>
            <a:ext cx="0" cy="260604"/>
          </a:xfrm>
          <a:prstGeom prst="line">
            <a:avLst/>
          </a:prstGeom>
          <a:ln w="25400">
            <a:solidFill>
              <a:srgbClr val="087F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77190" y="3120390"/>
            <a:ext cx="1028700"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8" name="TextBox 27"/>
          <p:cNvSpPr txBox="1"/>
          <p:nvPr/>
        </p:nvSpPr>
        <p:spPr>
          <a:xfrm>
            <a:off x="425196" y="3144393"/>
            <a:ext cx="932688"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Decode</a:t>
            </a:r>
          </a:p>
        </p:txBody>
      </p:sp>
      <p:sp>
        <p:nvSpPr>
          <p:cNvPr id="29" name="Rounded Rectangle 28"/>
          <p:cNvSpPr/>
          <p:nvPr/>
        </p:nvSpPr>
        <p:spPr>
          <a:xfrm>
            <a:off x="1659636" y="3065526"/>
            <a:ext cx="1954530"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Rectangle 29"/>
          <p:cNvSpPr/>
          <p:nvPr/>
        </p:nvSpPr>
        <p:spPr>
          <a:xfrm>
            <a:off x="1659636" y="3134105"/>
            <a:ext cx="37719" cy="67894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1762506" y="3154681"/>
            <a:ext cx="1748790" cy="216982"/>
          </a:xfrm>
          <a:prstGeom prst="rect">
            <a:avLst/>
          </a:prstGeom>
          <a:noFill/>
        </p:spPr>
        <p:txBody>
          <a:bodyPr wrap="square" lIns="10287" tIns="10287" rIns="10287" bIns="10287">
            <a:spAutoFit/>
          </a:bodyPr>
          <a:lstStyle/>
          <a:p>
            <a:pPr algn="ctr">
              <a:spcAft>
                <a:spcPts val="375"/>
              </a:spcAft>
              <a:defRPr sz="1700" b="1">
                <a:solidFill>
                  <a:srgbClr val="7354B8"/>
                </a:solidFill>
                <a:latin typeface="Arial"/>
              </a:defRPr>
            </a:pPr>
            <a:r>
              <a:rPr sz="1275" cap="none">
                <a:latin typeface="Arial"/>
              </a:rPr>
              <a:t>Running requests</a:t>
            </a:r>
          </a:p>
        </p:txBody>
      </p:sp>
      <p:sp>
        <p:nvSpPr>
          <p:cNvPr id="32" name="TextBox 31"/>
          <p:cNvSpPr txBox="1"/>
          <p:nvPr/>
        </p:nvSpPr>
        <p:spPr>
          <a:xfrm>
            <a:off x="1769364" y="3483864"/>
            <a:ext cx="173507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Observe</a:t>
            </a:r>
          </a:p>
        </p:txBody>
      </p:sp>
      <p:sp>
        <p:nvSpPr>
          <p:cNvPr id="33" name="Rounded Rectangle 32"/>
          <p:cNvSpPr/>
          <p:nvPr/>
        </p:nvSpPr>
        <p:spPr>
          <a:xfrm>
            <a:off x="4114800" y="3065526"/>
            <a:ext cx="1783080"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Rectangle 33"/>
          <p:cNvSpPr/>
          <p:nvPr/>
        </p:nvSpPr>
        <p:spPr>
          <a:xfrm>
            <a:off x="4114800" y="3134105"/>
            <a:ext cx="37719" cy="67894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4217670" y="3154681"/>
            <a:ext cx="1577340" cy="216982"/>
          </a:xfrm>
          <a:prstGeom prst="rect">
            <a:avLst/>
          </a:prstGeom>
          <a:noFill/>
        </p:spPr>
        <p:txBody>
          <a:bodyPr wrap="square" lIns="10287" tIns="10287" rIns="10287" bIns="10287">
            <a:spAutoFit/>
          </a:bodyPr>
          <a:lstStyle/>
          <a:p>
            <a:pPr algn="ctr">
              <a:spcAft>
                <a:spcPts val="375"/>
              </a:spcAft>
              <a:defRPr sz="1700" b="1">
                <a:solidFill>
                  <a:srgbClr val="7354B8"/>
                </a:solidFill>
                <a:latin typeface="Arial"/>
              </a:defRPr>
            </a:pPr>
            <a:r>
              <a:rPr sz="1275" cap="none">
                <a:latin typeface="Arial"/>
              </a:rPr>
              <a:t>KEDA / HPA</a:t>
            </a:r>
          </a:p>
        </p:txBody>
      </p:sp>
      <p:sp>
        <p:nvSpPr>
          <p:cNvPr id="36" name="TextBox 35"/>
          <p:cNvSpPr txBox="1"/>
          <p:nvPr/>
        </p:nvSpPr>
        <p:spPr>
          <a:xfrm>
            <a:off x="4224528" y="3483864"/>
            <a:ext cx="156362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Decide</a:t>
            </a:r>
          </a:p>
        </p:txBody>
      </p:sp>
      <p:sp>
        <p:nvSpPr>
          <p:cNvPr id="37" name="Rounded Rectangle 36"/>
          <p:cNvSpPr/>
          <p:nvPr/>
        </p:nvSpPr>
        <p:spPr>
          <a:xfrm>
            <a:off x="6391656" y="3065526"/>
            <a:ext cx="2372868" cy="816102"/>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8" name="Rectangle 37"/>
          <p:cNvSpPr/>
          <p:nvPr/>
        </p:nvSpPr>
        <p:spPr>
          <a:xfrm>
            <a:off x="6391656" y="3134105"/>
            <a:ext cx="37719" cy="678942"/>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TextBox 38"/>
          <p:cNvSpPr txBox="1"/>
          <p:nvPr/>
        </p:nvSpPr>
        <p:spPr>
          <a:xfrm>
            <a:off x="6494526" y="3154681"/>
            <a:ext cx="2167128" cy="216982"/>
          </a:xfrm>
          <a:prstGeom prst="rect">
            <a:avLst/>
          </a:prstGeom>
          <a:noFill/>
        </p:spPr>
        <p:txBody>
          <a:bodyPr wrap="square" lIns="10287" tIns="10287" rIns="10287" bIns="10287">
            <a:spAutoFit/>
          </a:bodyPr>
          <a:lstStyle/>
          <a:p>
            <a:pPr algn="ctr">
              <a:spcAft>
                <a:spcPts val="375"/>
              </a:spcAft>
              <a:defRPr sz="1700" b="1">
                <a:solidFill>
                  <a:srgbClr val="7354B8"/>
                </a:solidFill>
                <a:latin typeface="Arial"/>
              </a:defRPr>
            </a:pPr>
            <a:r>
              <a:rPr sz="1275" cap="none">
                <a:latin typeface="Arial"/>
              </a:rPr>
              <a:t>Decode InferenceSet</a:t>
            </a:r>
          </a:p>
        </p:txBody>
      </p:sp>
      <p:sp>
        <p:nvSpPr>
          <p:cNvPr id="40" name="TextBox 39"/>
          <p:cNvSpPr txBox="1"/>
          <p:nvPr/>
        </p:nvSpPr>
        <p:spPr>
          <a:xfrm>
            <a:off x="6501384" y="3483864"/>
            <a:ext cx="2153412"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Reconcile replicas</a:t>
            </a:r>
          </a:p>
        </p:txBody>
      </p:sp>
      <p:cxnSp>
        <p:nvCxnSpPr>
          <p:cNvPr id="41" name="Connector 40"/>
          <p:cNvCxnSpPr/>
          <p:nvPr/>
        </p:nvCxnSpPr>
        <p:spPr>
          <a:xfrm>
            <a:off x="3614166" y="3463290"/>
            <a:ext cx="500634"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897880" y="3463290"/>
            <a:ext cx="493776"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578090" y="3881628"/>
            <a:ext cx="0" cy="260604"/>
          </a:xfrm>
          <a:prstGeom prst="line">
            <a:avLst/>
          </a:prstGeom>
          <a:ln w="25400">
            <a:solidFill>
              <a:srgbClr val="7354B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2633472" y="4142232"/>
            <a:ext cx="4944618" cy="0"/>
          </a:xfrm>
          <a:prstGeom prst="line">
            <a:avLst/>
          </a:prstGeom>
          <a:ln w="25400">
            <a:solidFill>
              <a:srgbClr val="7354B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33472" y="3881628"/>
            <a:ext cx="0" cy="260604"/>
          </a:xfrm>
          <a:prstGeom prst="line">
            <a:avLst/>
          </a:prstGeom>
          <a:ln w="25400">
            <a:solidFill>
              <a:srgbClr val="7354B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90905" y="4519422"/>
            <a:ext cx="8298180" cy="205441"/>
          </a:xfrm>
          <a:prstGeom prst="rect">
            <a:avLst/>
          </a:prstGeom>
          <a:noFill/>
        </p:spPr>
        <p:txBody>
          <a:bodyPr wrap="square" lIns="10287" tIns="10287" rIns="10287" bIns="10287">
            <a:spAutoFit/>
          </a:bodyPr>
          <a:lstStyle/>
          <a:p>
            <a:pPr>
              <a:spcAft>
                <a:spcPts val="375"/>
              </a:spcAft>
              <a:defRPr sz="1600" b="0">
                <a:solidFill>
                  <a:srgbClr val="586A80"/>
                </a:solidFill>
                <a:latin typeface="Arial"/>
              </a:defRPr>
            </a:pPr>
            <a:r>
              <a:rPr sz="1200" cap="none">
                <a:latin typeface="Arial"/>
              </a:rPr>
              <a:t>Add stabilization, warm-up awareness, and safe scale-down behavior to each loop.</a:t>
            </a:r>
          </a:p>
        </p:txBody>
      </p:sp>
      <p:sp>
        <p:nvSpPr>
          <p:cNvPr id="47" name="TextBox 46"/>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8" name="TextBox 47"/>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39 / 49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Policy boundary</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One service, independently managed role capacity</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Coordinate P/D at the service level; make capacity decisions separately for each role.</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Scale a complete serving replica—not an individual tensor-parallel worker.</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522476"/>
            <a:ext cx="2948940" cy="233172"/>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25196" y="1546479"/>
            <a:ext cx="2852928" cy="136191"/>
          </a:xfrm>
          <a:prstGeom prst="rect">
            <a:avLst/>
          </a:prstGeom>
          <a:noFill/>
        </p:spPr>
        <p:txBody>
          <a:bodyPr wrap="square" lIns="10287" tIns="10287" rIns="10287" bIns="10287">
            <a:spAutoFit/>
          </a:bodyPr>
          <a:lstStyle/>
          <a:p>
            <a:pPr algn="ctr">
              <a:spcAft>
                <a:spcPts val="375"/>
              </a:spcAft>
              <a:defRPr sz="1000" b="1">
                <a:solidFill>
                  <a:srgbClr val="AE641A"/>
                </a:solidFill>
                <a:latin typeface="Arial"/>
              </a:defRPr>
            </a:pPr>
            <a:r>
              <a:rPr sz="750" cap="none">
                <a:latin typeface="Arial"/>
              </a:rPr>
              <a:t>Design pattern / per-role control</a:t>
            </a:r>
          </a:p>
        </p:txBody>
      </p:sp>
      <p:sp>
        <p:nvSpPr>
          <p:cNvPr id="12" name="Rounded Rectangle 11"/>
          <p:cNvSpPr/>
          <p:nvPr/>
        </p:nvSpPr>
        <p:spPr>
          <a:xfrm>
            <a:off x="377190" y="2160270"/>
            <a:ext cx="2468880" cy="15224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Rectangle 12"/>
          <p:cNvSpPr/>
          <p:nvPr/>
        </p:nvSpPr>
        <p:spPr>
          <a:xfrm>
            <a:off x="377190" y="2228850"/>
            <a:ext cx="37719" cy="138531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4" name="TextBox 13"/>
          <p:cNvSpPr txBox="1"/>
          <p:nvPr/>
        </p:nvSpPr>
        <p:spPr>
          <a:xfrm>
            <a:off x="480060" y="2249424"/>
            <a:ext cx="2263140" cy="274691"/>
          </a:xfrm>
          <a:prstGeom prst="rect">
            <a:avLst/>
          </a:prstGeom>
          <a:noFill/>
        </p:spPr>
        <p:txBody>
          <a:bodyPr wrap="square" lIns="10287" tIns="10287" rIns="10287" bIns="10287">
            <a:spAutoFit/>
          </a:bodyPr>
          <a:lstStyle/>
          <a:p>
            <a:pPr algn="ctr">
              <a:spcAft>
                <a:spcPts val="375"/>
              </a:spcAft>
              <a:defRPr sz="2200" b="1">
                <a:solidFill>
                  <a:srgbClr val="2563EB"/>
                </a:solidFill>
                <a:latin typeface="Arial"/>
              </a:defRPr>
            </a:pPr>
            <a:r>
              <a:rPr sz="1650" cap="none">
                <a:latin typeface="Arial"/>
              </a:rPr>
              <a:t>Service-level intent</a:t>
            </a:r>
          </a:p>
        </p:txBody>
      </p:sp>
      <p:sp>
        <p:nvSpPr>
          <p:cNvPr id="15" name="TextBox 14"/>
          <p:cNvSpPr txBox="1"/>
          <p:nvPr/>
        </p:nvSpPr>
        <p:spPr>
          <a:xfrm>
            <a:off x="486918" y="2578608"/>
            <a:ext cx="2249424" cy="395236"/>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Prefill: latency objective</a:t>
            </a:r>
          </a:p>
          <a:p>
            <a:pPr algn="ctr">
              <a:spcAft>
                <a:spcPts val="375"/>
              </a:spcAft>
              <a:defRPr sz="1400" b="0">
                <a:solidFill>
                  <a:srgbClr val="586A80"/>
                </a:solidFill>
                <a:latin typeface="Arial"/>
              </a:defRPr>
            </a:pPr>
            <a:r>
              <a:rPr sz="1050" cap="none">
                <a:latin typeface="Arial"/>
              </a:rPr>
              <a:t>Decode: delivery objective</a:t>
            </a:r>
          </a:p>
        </p:txBody>
      </p:sp>
      <p:sp>
        <p:nvSpPr>
          <p:cNvPr id="16" name="Rounded Rectangle 15"/>
          <p:cNvSpPr/>
          <p:nvPr/>
        </p:nvSpPr>
        <p:spPr>
          <a:xfrm>
            <a:off x="3429000" y="2420874"/>
            <a:ext cx="2263140" cy="100812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Rectangle 16"/>
          <p:cNvSpPr/>
          <p:nvPr/>
        </p:nvSpPr>
        <p:spPr>
          <a:xfrm>
            <a:off x="3429000" y="2489454"/>
            <a:ext cx="37719" cy="87096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3531870" y="2510027"/>
            <a:ext cx="2057400" cy="263149"/>
          </a:xfrm>
          <a:prstGeom prst="rect">
            <a:avLst/>
          </a:prstGeom>
          <a:noFill/>
        </p:spPr>
        <p:txBody>
          <a:bodyPr wrap="square" lIns="10287" tIns="10287" rIns="10287" bIns="10287">
            <a:spAutoFit/>
          </a:bodyPr>
          <a:lstStyle/>
          <a:p>
            <a:pPr algn="ctr">
              <a:spcAft>
                <a:spcPts val="375"/>
              </a:spcAft>
              <a:defRPr sz="2100" b="1">
                <a:solidFill>
                  <a:srgbClr val="2563EB"/>
                </a:solidFill>
                <a:latin typeface="Arial"/>
              </a:defRPr>
            </a:pPr>
            <a:r>
              <a:rPr sz="1575" cap="none">
                <a:latin typeface="Arial"/>
              </a:rPr>
              <a:t>Policy reconciliation</a:t>
            </a:r>
          </a:p>
        </p:txBody>
      </p:sp>
      <p:sp>
        <p:nvSpPr>
          <p:cNvPr id="19" name="TextBox 18"/>
          <p:cNvSpPr txBox="1"/>
          <p:nvPr/>
        </p:nvSpPr>
        <p:spPr>
          <a:xfrm>
            <a:off x="3538728" y="2839212"/>
            <a:ext cx="204368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Independent role targets</a:t>
            </a:r>
          </a:p>
        </p:txBody>
      </p:sp>
      <p:sp>
        <p:nvSpPr>
          <p:cNvPr id="20" name="Rounded Rectangle 19"/>
          <p:cNvSpPr/>
          <p:nvPr/>
        </p:nvSpPr>
        <p:spPr>
          <a:xfrm>
            <a:off x="6275070" y="2029968"/>
            <a:ext cx="2489454" cy="80238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Rectangle 20"/>
          <p:cNvSpPr/>
          <p:nvPr/>
        </p:nvSpPr>
        <p:spPr>
          <a:xfrm>
            <a:off x="6275070" y="2098548"/>
            <a:ext cx="37719" cy="665226"/>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6377940" y="2119122"/>
            <a:ext cx="2283714"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Prefill scale target</a:t>
            </a:r>
          </a:p>
        </p:txBody>
      </p:sp>
      <p:sp>
        <p:nvSpPr>
          <p:cNvPr id="23" name="TextBox 22"/>
          <p:cNvSpPr txBox="1"/>
          <p:nvPr/>
        </p:nvSpPr>
        <p:spPr>
          <a:xfrm>
            <a:off x="6384798" y="2448307"/>
            <a:ext cx="2269998"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Generated policy + target</a:t>
            </a:r>
          </a:p>
        </p:txBody>
      </p:sp>
      <p:sp>
        <p:nvSpPr>
          <p:cNvPr id="24" name="Rounded Rectangle 23"/>
          <p:cNvSpPr/>
          <p:nvPr/>
        </p:nvSpPr>
        <p:spPr>
          <a:xfrm>
            <a:off x="6275070" y="3175254"/>
            <a:ext cx="2489454" cy="80238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Rectangle 24"/>
          <p:cNvSpPr/>
          <p:nvPr/>
        </p:nvSpPr>
        <p:spPr>
          <a:xfrm>
            <a:off x="6275070" y="3243834"/>
            <a:ext cx="37719" cy="665226"/>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6377940" y="3264408"/>
            <a:ext cx="2283714"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Decode scale target</a:t>
            </a:r>
          </a:p>
        </p:txBody>
      </p:sp>
      <p:sp>
        <p:nvSpPr>
          <p:cNvPr id="27" name="TextBox 26"/>
          <p:cNvSpPr txBox="1"/>
          <p:nvPr/>
        </p:nvSpPr>
        <p:spPr>
          <a:xfrm>
            <a:off x="6384798" y="3593592"/>
            <a:ext cx="2269998"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Generated policy + target</a:t>
            </a:r>
          </a:p>
        </p:txBody>
      </p:sp>
      <p:cxnSp>
        <p:nvCxnSpPr>
          <p:cNvPr id="28" name="Connector 27"/>
          <p:cNvCxnSpPr/>
          <p:nvPr/>
        </p:nvCxnSpPr>
        <p:spPr>
          <a:xfrm>
            <a:off x="2846070" y="2914650"/>
            <a:ext cx="582930"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92141" y="2811779"/>
            <a:ext cx="274319"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966459" y="2434591"/>
            <a:ext cx="0" cy="377189"/>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966460" y="2434590"/>
            <a:ext cx="308611"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692141" y="3031236"/>
            <a:ext cx="274319" cy="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66459" y="3031236"/>
            <a:ext cx="0" cy="548640"/>
          </a:xfrm>
          <a:prstGeom prst="line">
            <a:avLst/>
          </a:prstGeom>
          <a:ln w="25400">
            <a:solidFill>
              <a:srgbClr val="7354B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66460" y="3579876"/>
            <a:ext cx="308611"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36" name="TextBox 3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40 / 49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Control-loop design</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Observe each role. Act on its own capacity.</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Independent feedback loops connect role-specific load to role-specific serving capacity.</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Routing chooses where requests go; autoscaling changes how much capacity is available.</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529334"/>
            <a:ext cx="2400300" cy="795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377190" y="1597914"/>
            <a:ext cx="37719"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480060" y="1618488"/>
            <a:ext cx="2194560" cy="263149"/>
          </a:xfrm>
          <a:prstGeom prst="rect">
            <a:avLst/>
          </a:prstGeom>
          <a:noFill/>
        </p:spPr>
        <p:txBody>
          <a:bodyPr wrap="square" lIns="10287" tIns="10287" rIns="10287" bIns="10287">
            <a:spAutoFit/>
          </a:bodyPr>
          <a:lstStyle/>
          <a:p>
            <a:pPr algn="ctr">
              <a:spcAft>
                <a:spcPts val="375"/>
              </a:spcAft>
              <a:defRPr sz="2100" b="1">
                <a:solidFill>
                  <a:srgbClr val="2563EB"/>
                </a:solidFill>
                <a:latin typeface="Arial"/>
              </a:defRPr>
            </a:pPr>
            <a:r>
              <a:rPr sz="1575" cap="none">
                <a:latin typeface="Arial"/>
              </a:rPr>
              <a:t>Role-specific policies</a:t>
            </a:r>
          </a:p>
        </p:txBody>
      </p:sp>
      <p:sp>
        <p:nvSpPr>
          <p:cNvPr id="13" name="TextBox 12"/>
          <p:cNvSpPr txBox="1"/>
          <p:nvPr/>
        </p:nvSpPr>
        <p:spPr>
          <a:xfrm>
            <a:off x="486918" y="1947673"/>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Signals, thresholds and bounds</a:t>
            </a:r>
          </a:p>
        </p:txBody>
      </p:sp>
      <p:sp>
        <p:nvSpPr>
          <p:cNvPr id="14" name="Rounded Rectangle 13"/>
          <p:cNvSpPr/>
          <p:nvPr/>
        </p:nvSpPr>
        <p:spPr>
          <a:xfrm>
            <a:off x="3374136" y="1529334"/>
            <a:ext cx="2400300" cy="795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Rectangle 14"/>
          <p:cNvSpPr/>
          <p:nvPr/>
        </p:nvSpPr>
        <p:spPr>
          <a:xfrm>
            <a:off x="3374136" y="1597914"/>
            <a:ext cx="37719"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3477006" y="1618488"/>
            <a:ext cx="2194560" cy="263149"/>
          </a:xfrm>
          <a:prstGeom prst="rect">
            <a:avLst/>
          </a:prstGeom>
          <a:noFill/>
        </p:spPr>
        <p:txBody>
          <a:bodyPr wrap="square" lIns="10287" tIns="10287" rIns="10287" bIns="10287">
            <a:spAutoFit/>
          </a:bodyPr>
          <a:lstStyle/>
          <a:p>
            <a:pPr algn="ctr">
              <a:spcAft>
                <a:spcPts val="375"/>
              </a:spcAft>
              <a:defRPr sz="2100" b="1">
                <a:solidFill>
                  <a:srgbClr val="2563EB"/>
                </a:solidFill>
                <a:latin typeface="Arial"/>
              </a:defRPr>
            </a:pPr>
            <a:r>
              <a:rPr sz="1575" cap="none">
                <a:latin typeface="Arial"/>
              </a:rPr>
              <a:t>Independent decisions</a:t>
            </a:r>
          </a:p>
        </p:txBody>
      </p:sp>
      <p:sp>
        <p:nvSpPr>
          <p:cNvPr id="17" name="TextBox 16"/>
          <p:cNvSpPr txBox="1"/>
          <p:nvPr/>
        </p:nvSpPr>
        <p:spPr>
          <a:xfrm>
            <a:off x="3483864" y="1947673"/>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One controller per target</a:t>
            </a:r>
          </a:p>
        </p:txBody>
      </p:sp>
      <p:sp>
        <p:nvSpPr>
          <p:cNvPr id="18" name="Rounded Rectangle 17"/>
          <p:cNvSpPr/>
          <p:nvPr/>
        </p:nvSpPr>
        <p:spPr>
          <a:xfrm>
            <a:off x="6364224" y="1529334"/>
            <a:ext cx="2400300" cy="795528"/>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Rectangle 18"/>
          <p:cNvSpPr/>
          <p:nvPr/>
        </p:nvSpPr>
        <p:spPr>
          <a:xfrm>
            <a:off x="6364224" y="1597914"/>
            <a:ext cx="37719"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0" name="TextBox 19"/>
          <p:cNvSpPr txBox="1"/>
          <p:nvPr/>
        </p:nvSpPr>
        <p:spPr>
          <a:xfrm>
            <a:off x="6467094" y="1618488"/>
            <a:ext cx="2194560" cy="263149"/>
          </a:xfrm>
          <a:prstGeom prst="rect">
            <a:avLst/>
          </a:prstGeom>
          <a:noFill/>
        </p:spPr>
        <p:txBody>
          <a:bodyPr wrap="square" lIns="10287" tIns="10287" rIns="10287" bIns="10287">
            <a:spAutoFit/>
          </a:bodyPr>
          <a:lstStyle/>
          <a:p>
            <a:pPr algn="ctr">
              <a:spcAft>
                <a:spcPts val="375"/>
              </a:spcAft>
              <a:defRPr sz="2100" b="1">
                <a:solidFill>
                  <a:srgbClr val="2563EB"/>
                </a:solidFill>
                <a:latin typeface="Arial"/>
              </a:defRPr>
            </a:pPr>
            <a:r>
              <a:rPr sz="1575" cap="none">
                <a:latin typeface="Arial"/>
              </a:rPr>
              <a:t>Serving capacity</a:t>
            </a:r>
          </a:p>
        </p:txBody>
      </p:sp>
      <p:sp>
        <p:nvSpPr>
          <p:cNvPr id="21" name="TextBox 20"/>
          <p:cNvSpPr txBox="1"/>
          <p:nvPr/>
        </p:nvSpPr>
        <p:spPr>
          <a:xfrm>
            <a:off x="6473952" y="1947673"/>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Count model-ready replicas</a:t>
            </a:r>
          </a:p>
        </p:txBody>
      </p:sp>
      <p:cxnSp>
        <p:nvCxnSpPr>
          <p:cNvPr id="22" name="Connector 21"/>
          <p:cNvCxnSpPr/>
          <p:nvPr/>
        </p:nvCxnSpPr>
        <p:spPr>
          <a:xfrm>
            <a:off x="2777490" y="1927098"/>
            <a:ext cx="596646"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774436" y="1927098"/>
            <a:ext cx="589788" cy="0"/>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77190" y="2667762"/>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Rectangle 24"/>
          <p:cNvSpPr/>
          <p:nvPr/>
        </p:nvSpPr>
        <p:spPr>
          <a:xfrm>
            <a:off x="377190" y="2736342"/>
            <a:ext cx="37719" cy="5486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TextBox 25"/>
          <p:cNvSpPr txBox="1"/>
          <p:nvPr/>
        </p:nvSpPr>
        <p:spPr>
          <a:xfrm>
            <a:off x="480060" y="2756916"/>
            <a:ext cx="2194560"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Prefill vLLM /metrics</a:t>
            </a:r>
          </a:p>
        </p:txBody>
      </p:sp>
      <p:sp>
        <p:nvSpPr>
          <p:cNvPr id="27" name="TextBox 26"/>
          <p:cNvSpPr txBox="1"/>
          <p:nvPr/>
        </p:nvSpPr>
        <p:spPr>
          <a:xfrm>
            <a:off x="486918" y="3086101"/>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Waiting requests</a:t>
            </a:r>
          </a:p>
        </p:txBody>
      </p:sp>
      <p:sp>
        <p:nvSpPr>
          <p:cNvPr id="28" name="Rounded Rectangle 27"/>
          <p:cNvSpPr/>
          <p:nvPr/>
        </p:nvSpPr>
        <p:spPr>
          <a:xfrm>
            <a:off x="3374136" y="2667762"/>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Rectangle 28"/>
          <p:cNvSpPr/>
          <p:nvPr/>
        </p:nvSpPr>
        <p:spPr>
          <a:xfrm>
            <a:off x="3374136" y="2736342"/>
            <a:ext cx="37719" cy="5486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0" name="TextBox 29"/>
          <p:cNvSpPr txBox="1"/>
          <p:nvPr/>
        </p:nvSpPr>
        <p:spPr>
          <a:xfrm>
            <a:off x="3477006" y="2756916"/>
            <a:ext cx="2194560"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Prefill autoscaler</a:t>
            </a:r>
          </a:p>
        </p:txBody>
      </p:sp>
      <p:sp>
        <p:nvSpPr>
          <p:cNvPr id="31" name="TextBox 30"/>
          <p:cNvSpPr txBox="1"/>
          <p:nvPr/>
        </p:nvSpPr>
        <p:spPr>
          <a:xfrm>
            <a:off x="3483864" y="3086101"/>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Evaluate this role independently</a:t>
            </a:r>
          </a:p>
        </p:txBody>
      </p:sp>
      <p:sp>
        <p:nvSpPr>
          <p:cNvPr id="32" name="Rounded Rectangle 31"/>
          <p:cNvSpPr/>
          <p:nvPr/>
        </p:nvSpPr>
        <p:spPr>
          <a:xfrm>
            <a:off x="6364224" y="2667762"/>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Rectangle 32"/>
          <p:cNvSpPr/>
          <p:nvPr/>
        </p:nvSpPr>
        <p:spPr>
          <a:xfrm>
            <a:off x="6364224" y="2736342"/>
            <a:ext cx="37719" cy="54864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TextBox 33"/>
          <p:cNvSpPr txBox="1"/>
          <p:nvPr/>
        </p:nvSpPr>
        <p:spPr>
          <a:xfrm>
            <a:off x="6467094" y="2756916"/>
            <a:ext cx="2194560" cy="228524"/>
          </a:xfrm>
          <a:prstGeom prst="rect">
            <a:avLst/>
          </a:prstGeom>
          <a:noFill/>
        </p:spPr>
        <p:txBody>
          <a:bodyPr wrap="square" lIns="10287" tIns="10287" rIns="10287" bIns="10287">
            <a:spAutoFit/>
          </a:bodyPr>
          <a:lstStyle/>
          <a:p>
            <a:pPr algn="ctr">
              <a:spcAft>
                <a:spcPts val="375"/>
              </a:spcAft>
              <a:defRPr sz="1800" b="1">
                <a:solidFill>
                  <a:srgbClr val="087F8C"/>
                </a:solidFill>
                <a:latin typeface="Arial"/>
              </a:defRPr>
            </a:pPr>
            <a:r>
              <a:rPr sz="1350" cap="none">
                <a:latin typeface="Arial"/>
              </a:rPr>
              <a:t>Prefill replicas</a:t>
            </a:r>
          </a:p>
        </p:txBody>
      </p:sp>
      <p:sp>
        <p:nvSpPr>
          <p:cNvPr id="35" name="TextBox 34"/>
          <p:cNvSpPr txBox="1"/>
          <p:nvPr/>
        </p:nvSpPr>
        <p:spPr>
          <a:xfrm>
            <a:off x="6473952" y="3086101"/>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Reconcile serving capacity</a:t>
            </a:r>
          </a:p>
        </p:txBody>
      </p:sp>
      <p:cxnSp>
        <p:nvCxnSpPr>
          <p:cNvPr id="36" name="Connector 35"/>
          <p:cNvCxnSpPr/>
          <p:nvPr/>
        </p:nvCxnSpPr>
        <p:spPr>
          <a:xfrm>
            <a:off x="2777490" y="3010662"/>
            <a:ext cx="596646"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74436" y="3010662"/>
            <a:ext cx="589788" cy="0"/>
          </a:xfrm>
          <a:prstGeom prst="line">
            <a:avLst/>
          </a:prstGeom>
          <a:ln w="25400">
            <a:solidFill>
              <a:srgbClr val="087F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77190" y="3477006"/>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Rectangle 38"/>
          <p:cNvSpPr/>
          <p:nvPr/>
        </p:nvSpPr>
        <p:spPr>
          <a:xfrm>
            <a:off x="377190" y="3545586"/>
            <a:ext cx="37719" cy="54864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0" name="TextBox 39"/>
          <p:cNvSpPr txBox="1"/>
          <p:nvPr/>
        </p:nvSpPr>
        <p:spPr>
          <a:xfrm>
            <a:off x="480060" y="3566160"/>
            <a:ext cx="2194560"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Decode vLLM /metrics</a:t>
            </a:r>
          </a:p>
        </p:txBody>
      </p:sp>
      <p:sp>
        <p:nvSpPr>
          <p:cNvPr id="41" name="TextBox 40"/>
          <p:cNvSpPr txBox="1"/>
          <p:nvPr/>
        </p:nvSpPr>
        <p:spPr>
          <a:xfrm>
            <a:off x="486918" y="389534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Running requests</a:t>
            </a:r>
          </a:p>
        </p:txBody>
      </p:sp>
      <p:sp>
        <p:nvSpPr>
          <p:cNvPr id="42" name="Rounded Rectangle 41"/>
          <p:cNvSpPr/>
          <p:nvPr/>
        </p:nvSpPr>
        <p:spPr>
          <a:xfrm>
            <a:off x="3374136" y="3477006"/>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3" name="Rectangle 42"/>
          <p:cNvSpPr/>
          <p:nvPr/>
        </p:nvSpPr>
        <p:spPr>
          <a:xfrm>
            <a:off x="3374136" y="3545586"/>
            <a:ext cx="37719" cy="54864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4" name="TextBox 43"/>
          <p:cNvSpPr txBox="1"/>
          <p:nvPr/>
        </p:nvSpPr>
        <p:spPr>
          <a:xfrm>
            <a:off x="3477006" y="3566160"/>
            <a:ext cx="2194560"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Decode autoscaler</a:t>
            </a:r>
          </a:p>
        </p:txBody>
      </p:sp>
      <p:sp>
        <p:nvSpPr>
          <p:cNvPr id="45" name="TextBox 44"/>
          <p:cNvSpPr txBox="1"/>
          <p:nvPr/>
        </p:nvSpPr>
        <p:spPr>
          <a:xfrm>
            <a:off x="3483864" y="389534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Evaluate this role independently</a:t>
            </a:r>
          </a:p>
        </p:txBody>
      </p:sp>
      <p:sp>
        <p:nvSpPr>
          <p:cNvPr id="46" name="Rounded Rectangle 45"/>
          <p:cNvSpPr/>
          <p:nvPr/>
        </p:nvSpPr>
        <p:spPr>
          <a:xfrm>
            <a:off x="6364224" y="3477006"/>
            <a:ext cx="2400300" cy="68580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7" name="Rectangle 46"/>
          <p:cNvSpPr/>
          <p:nvPr/>
        </p:nvSpPr>
        <p:spPr>
          <a:xfrm>
            <a:off x="6364224" y="3545586"/>
            <a:ext cx="37719" cy="548640"/>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8" name="TextBox 47"/>
          <p:cNvSpPr txBox="1"/>
          <p:nvPr/>
        </p:nvSpPr>
        <p:spPr>
          <a:xfrm>
            <a:off x="6467094" y="3566160"/>
            <a:ext cx="2194560" cy="228524"/>
          </a:xfrm>
          <a:prstGeom prst="rect">
            <a:avLst/>
          </a:prstGeom>
          <a:noFill/>
        </p:spPr>
        <p:txBody>
          <a:bodyPr wrap="square" lIns="10287" tIns="10287" rIns="10287" bIns="10287">
            <a:spAutoFit/>
          </a:bodyPr>
          <a:lstStyle/>
          <a:p>
            <a:pPr algn="ctr">
              <a:spcAft>
                <a:spcPts val="375"/>
              </a:spcAft>
              <a:defRPr sz="1800" b="1">
                <a:solidFill>
                  <a:srgbClr val="7354B8"/>
                </a:solidFill>
                <a:latin typeface="Arial"/>
              </a:defRPr>
            </a:pPr>
            <a:r>
              <a:rPr sz="1350" cap="none">
                <a:latin typeface="Arial"/>
              </a:rPr>
              <a:t>Decode replicas</a:t>
            </a:r>
          </a:p>
        </p:txBody>
      </p:sp>
      <p:sp>
        <p:nvSpPr>
          <p:cNvPr id="49" name="TextBox 48"/>
          <p:cNvSpPr txBox="1"/>
          <p:nvPr/>
        </p:nvSpPr>
        <p:spPr>
          <a:xfrm>
            <a:off x="6473952" y="3895345"/>
            <a:ext cx="2180844" cy="182358"/>
          </a:xfrm>
          <a:prstGeom prst="rect">
            <a:avLst/>
          </a:prstGeom>
          <a:noFill/>
        </p:spPr>
        <p:txBody>
          <a:bodyPr wrap="square" lIns="10287" tIns="10287" rIns="10287" bIns="10287">
            <a:spAutoFit/>
          </a:bodyPr>
          <a:lstStyle/>
          <a:p>
            <a:pPr algn="ctr">
              <a:spcAft>
                <a:spcPts val="375"/>
              </a:spcAft>
              <a:defRPr sz="1400" b="0">
                <a:solidFill>
                  <a:srgbClr val="586A80"/>
                </a:solidFill>
                <a:latin typeface="Arial"/>
              </a:defRPr>
            </a:pPr>
            <a:r>
              <a:rPr sz="1050" cap="none">
                <a:latin typeface="Arial"/>
              </a:rPr>
              <a:t>Reconcile serving capacity</a:t>
            </a:r>
          </a:p>
        </p:txBody>
      </p:sp>
      <p:cxnSp>
        <p:nvCxnSpPr>
          <p:cNvPr id="50" name="Connector 49"/>
          <p:cNvCxnSpPr/>
          <p:nvPr/>
        </p:nvCxnSpPr>
        <p:spPr>
          <a:xfrm>
            <a:off x="2777490" y="3819906"/>
            <a:ext cx="596646"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774436" y="3819906"/>
            <a:ext cx="589788" cy="0"/>
          </a:xfrm>
          <a:prstGeom prst="line">
            <a:avLst/>
          </a:prstGeom>
          <a:ln w="25400">
            <a:solidFill>
              <a:srgbClr val="7354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53" name="TextBox 5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41 / 49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Vllm-native metrics</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lang="en-US" sz="2100" dirty="0" cap="none" b="1">
                <a:solidFill>
                  <a:srgbClr val="142C46"/>
                </a:solidFill>
                <a:latin typeface="Arial"/>
              </a:rPr>
              <a:t>Two native gauges, two scaling decisions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Use per-replica role aggregation; tune thresholds against the deployed model and workload.</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Illustrative thresholds only. Verify actual /metrics output before enabling either policy.</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563623"/>
            <a:ext cx="4080510" cy="26060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ounded Rectangle 10"/>
          <p:cNvSpPr/>
          <p:nvPr/>
        </p:nvSpPr>
        <p:spPr>
          <a:xfrm>
            <a:off x="514350" y="1700784"/>
            <a:ext cx="1097280" cy="233172"/>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62356" y="1724787"/>
            <a:ext cx="1001268" cy="136191"/>
          </a:xfrm>
          <a:prstGeom prst="rect">
            <a:avLst/>
          </a:prstGeom>
          <a:noFill/>
        </p:spPr>
        <p:txBody>
          <a:bodyPr wrap="square" lIns="10287" tIns="10287" rIns="10287" bIns="10287">
            <a:spAutoFit/>
          </a:bodyPr>
          <a:lstStyle/>
          <a:p>
            <a:pPr algn="ctr">
              <a:spcAft>
                <a:spcPts val="375"/>
              </a:spcAft>
              <a:defRPr sz="1000" b="1">
                <a:solidFill>
                  <a:srgbClr val="087F8C"/>
                </a:solidFill>
                <a:latin typeface="Arial"/>
              </a:defRPr>
            </a:pPr>
            <a:r>
              <a:rPr sz="750" cap="none">
                <a:latin typeface="Arial"/>
              </a:rPr>
              <a:t>Prefill</a:t>
            </a:r>
          </a:p>
        </p:txBody>
      </p:sp>
      <p:sp>
        <p:nvSpPr>
          <p:cNvPr id="13" name="TextBox 12"/>
          <p:cNvSpPr txBox="1"/>
          <p:nvPr/>
        </p:nvSpPr>
        <p:spPr>
          <a:xfrm>
            <a:off x="514350" y="2098548"/>
            <a:ext cx="3806190" cy="251607"/>
          </a:xfrm>
          <a:prstGeom prst="rect">
            <a:avLst/>
          </a:prstGeom>
          <a:noFill/>
        </p:spPr>
        <p:txBody>
          <a:bodyPr wrap="square" lIns="10287" tIns="10287" rIns="10287" bIns="10287">
            <a:spAutoFit/>
          </a:bodyPr>
          <a:lstStyle/>
          <a:p>
            <a:pPr>
              <a:spcAft>
                <a:spcPts val="375"/>
              </a:spcAft>
              <a:defRPr sz="2000" b="1">
                <a:solidFill>
                  <a:srgbClr val="087F8C"/>
                </a:solidFill>
                <a:latin typeface="Courier New"/>
              </a:defRPr>
            </a:pPr>
            <a:r>
              <a:rPr sz="1500" cap="none">
                <a:latin typeface="Arial"/>
              </a:rPr>
              <a:t>vllm:num_requests_waiting</a:t>
            </a:r>
          </a:p>
        </p:txBody>
      </p:sp>
      <p:sp>
        <p:nvSpPr>
          <p:cNvPr id="14" name="TextBox 13"/>
          <p:cNvSpPr txBox="1"/>
          <p:nvPr/>
        </p:nvSpPr>
        <p:spPr>
          <a:xfrm>
            <a:off x="514350" y="2510028"/>
            <a:ext cx="3806190" cy="487569"/>
          </a:xfrm>
          <a:prstGeom prst="rect">
            <a:avLst/>
          </a:prstGeom>
          <a:noFill/>
        </p:spPr>
        <p:txBody>
          <a:bodyPr wrap="square" lIns="10287" tIns="10287" rIns="10287" bIns="10287">
            <a:spAutoFit/>
          </a:bodyPr>
          <a:lstStyle/>
          <a:p>
            <a:pPr>
              <a:spcAft>
                <a:spcPts val="375"/>
              </a:spcAft>
              <a:defRPr sz="1800" b="0">
                <a:solidFill>
                  <a:srgbClr val="172941"/>
                </a:solidFill>
                <a:latin typeface="Arial"/>
              </a:defRPr>
            </a:pPr>
            <a:r>
              <a:rPr sz="1350" cap="none">
                <a:latin typeface="Arial"/>
              </a:rPr>
              <a:t>Queue inside the prefill engine.</a:t>
            </a:r>
          </a:p>
          <a:p>
            <a:pPr>
              <a:spcAft>
                <a:spcPts val="375"/>
              </a:spcAft>
              <a:defRPr sz="1800" b="0">
                <a:solidFill>
                  <a:srgbClr val="172941"/>
                </a:solidFill>
                <a:latin typeface="Arial"/>
              </a:defRPr>
            </a:pPr>
            <a:r>
              <a:rPr sz="1350" cap="none">
                <a:latin typeface="Arial"/>
              </a:rPr>
              <a:t>Protect prompt admission latency.</a:t>
            </a:r>
          </a:p>
        </p:txBody>
      </p:sp>
      <p:sp>
        <p:nvSpPr>
          <p:cNvPr id="15" name="Rounded Rectangle 14"/>
          <p:cNvSpPr/>
          <p:nvPr/>
        </p:nvSpPr>
        <p:spPr>
          <a:xfrm>
            <a:off x="514350" y="3188970"/>
            <a:ext cx="1179576" cy="56921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TextBox 15"/>
          <p:cNvSpPr txBox="1"/>
          <p:nvPr/>
        </p:nvSpPr>
        <p:spPr>
          <a:xfrm>
            <a:off x="555498" y="3250692"/>
            <a:ext cx="1097280"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&lt; 1</a:t>
            </a:r>
          </a:p>
        </p:txBody>
      </p:sp>
      <p:sp>
        <p:nvSpPr>
          <p:cNvPr id="17" name="TextBox 16"/>
          <p:cNvSpPr txBox="1"/>
          <p:nvPr/>
        </p:nvSpPr>
        <p:spPr>
          <a:xfrm>
            <a:off x="555498" y="3504438"/>
            <a:ext cx="1097280" cy="170816"/>
          </a:xfrm>
          <a:prstGeom prst="rect">
            <a:avLst/>
          </a:prstGeom>
          <a:noFill/>
        </p:spPr>
        <p:txBody>
          <a:bodyPr wrap="square" lIns="10287" tIns="10287" rIns="10287" bIns="10287">
            <a:spAutoFit/>
          </a:bodyPr>
          <a:lstStyle/>
          <a:p>
            <a:pPr algn="ctr">
              <a:spcAft>
                <a:spcPts val="375"/>
              </a:spcAft>
              <a:defRPr sz="1300" b="0">
                <a:solidFill>
                  <a:srgbClr val="087F8C"/>
                </a:solidFill>
                <a:latin typeface="Arial"/>
              </a:defRPr>
            </a:pPr>
            <a:r>
              <a:rPr sz="975" cap="none">
                <a:latin typeface="Arial"/>
              </a:rPr>
              <a:t>Scale down</a:t>
            </a:r>
          </a:p>
        </p:txBody>
      </p:sp>
      <p:sp>
        <p:nvSpPr>
          <p:cNvPr id="18" name="Rounded Rectangle 17"/>
          <p:cNvSpPr/>
          <p:nvPr/>
        </p:nvSpPr>
        <p:spPr>
          <a:xfrm>
            <a:off x="1789938" y="3188970"/>
            <a:ext cx="1179576" cy="56921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1831086" y="3250692"/>
            <a:ext cx="1097280"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Between</a:t>
            </a:r>
          </a:p>
        </p:txBody>
      </p:sp>
      <p:sp>
        <p:nvSpPr>
          <p:cNvPr id="20" name="TextBox 19"/>
          <p:cNvSpPr txBox="1"/>
          <p:nvPr/>
        </p:nvSpPr>
        <p:spPr>
          <a:xfrm>
            <a:off x="1831086" y="3504438"/>
            <a:ext cx="1097280" cy="170816"/>
          </a:xfrm>
          <a:prstGeom prst="rect">
            <a:avLst/>
          </a:prstGeom>
          <a:noFill/>
        </p:spPr>
        <p:txBody>
          <a:bodyPr wrap="square" lIns="10287" tIns="10287" rIns="10287" bIns="10287">
            <a:spAutoFit/>
          </a:bodyPr>
          <a:lstStyle/>
          <a:p>
            <a:pPr algn="ctr">
              <a:spcAft>
                <a:spcPts val="375"/>
              </a:spcAft>
              <a:defRPr sz="1300" b="0">
                <a:solidFill>
                  <a:srgbClr val="087F8C"/>
                </a:solidFill>
                <a:latin typeface="Arial"/>
              </a:defRPr>
            </a:pPr>
            <a:r>
              <a:rPr sz="975" cap="none">
                <a:latin typeface="Arial"/>
              </a:rPr>
              <a:t>Hold</a:t>
            </a:r>
          </a:p>
        </p:txBody>
      </p:sp>
      <p:sp>
        <p:nvSpPr>
          <p:cNvPr id="21" name="Rounded Rectangle 20"/>
          <p:cNvSpPr/>
          <p:nvPr/>
        </p:nvSpPr>
        <p:spPr>
          <a:xfrm>
            <a:off x="3065526" y="3188970"/>
            <a:ext cx="1179576" cy="56921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3106674" y="3250692"/>
            <a:ext cx="1097280" cy="205441"/>
          </a:xfrm>
          <a:prstGeom prst="rect">
            <a:avLst/>
          </a:prstGeom>
          <a:noFill/>
        </p:spPr>
        <p:txBody>
          <a:bodyPr wrap="square" lIns="10287" tIns="10287" rIns="10287" bIns="10287">
            <a:spAutoFit/>
          </a:bodyPr>
          <a:lstStyle/>
          <a:p>
            <a:pPr algn="ctr">
              <a:spcAft>
                <a:spcPts val="375"/>
              </a:spcAft>
              <a:defRPr sz="1600" b="1">
                <a:solidFill>
                  <a:srgbClr val="087F8C"/>
                </a:solidFill>
                <a:latin typeface="Arial"/>
              </a:defRPr>
            </a:pPr>
            <a:r>
              <a:rPr sz="1200" cap="none">
                <a:latin typeface="Arial"/>
              </a:rPr>
              <a:t>&gt; 8</a:t>
            </a:r>
          </a:p>
        </p:txBody>
      </p:sp>
      <p:sp>
        <p:nvSpPr>
          <p:cNvPr id="23" name="TextBox 22"/>
          <p:cNvSpPr txBox="1"/>
          <p:nvPr/>
        </p:nvSpPr>
        <p:spPr>
          <a:xfrm>
            <a:off x="3106674" y="3504438"/>
            <a:ext cx="1097280" cy="170816"/>
          </a:xfrm>
          <a:prstGeom prst="rect">
            <a:avLst/>
          </a:prstGeom>
          <a:noFill/>
        </p:spPr>
        <p:txBody>
          <a:bodyPr wrap="square" lIns="10287" tIns="10287" rIns="10287" bIns="10287">
            <a:spAutoFit/>
          </a:bodyPr>
          <a:lstStyle/>
          <a:p>
            <a:pPr algn="ctr">
              <a:spcAft>
                <a:spcPts val="375"/>
              </a:spcAft>
              <a:defRPr sz="1300" b="0">
                <a:solidFill>
                  <a:srgbClr val="087F8C"/>
                </a:solidFill>
                <a:latin typeface="Arial"/>
              </a:defRPr>
            </a:pPr>
            <a:r>
              <a:rPr sz="975" cap="none">
                <a:latin typeface="Arial"/>
              </a:rPr>
              <a:t>Scale up</a:t>
            </a:r>
          </a:p>
        </p:txBody>
      </p:sp>
      <p:sp>
        <p:nvSpPr>
          <p:cNvPr id="24" name="TextBox 23"/>
          <p:cNvSpPr txBox="1"/>
          <p:nvPr/>
        </p:nvSpPr>
        <p:spPr>
          <a:xfrm>
            <a:off x="514350" y="3902202"/>
            <a:ext cx="3806190" cy="193899"/>
          </a:xfrm>
          <a:prstGeom prst="rect">
            <a:avLst/>
          </a:prstGeom>
          <a:noFill/>
        </p:spPr>
        <p:txBody>
          <a:bodyPr wrap="square" lIns="10287" tIns="10287" rIns="10287" bIns="10287">
            <a:spAutoFit/>
          </a:bodyPr>
          <a:lstStyle/>
          <a:p>
            <a:pPr>
              <a:spcAft>
                <a:spcPts val="375"/>
              </a:spcAft>
              <a:defRPr sz="1500" b="0">
                <a:solidFill>
                  <a:srgbClr val="586A80"/>
                </a:solidFill>
                <a:latin typeface="Arial"/>
              </a:defRPr>
            </a:pPr>
            <a:r>
              <a:rPr sz="1125" cap="none">
                <a:latin typeface="Arial"/>
              </a:rPr>
              <a:t>Example bounds: 1–8 role replicas</a:t>
            </a:r>
          </a:p>
        </p:txBody>
      </p:sp>
      <p:sp>
        <p:nvSpPr>
          <p:cNvPr id="25" name="Rounded Rectangle 24"/>
          <p:cNvSpPr/>
          <p:nvPr/>
        </p:nvSpPr>
        <p:spPr>
          <a:xfrm>
            <a:off x="4649724" y="1563623"/>
            <a:ext cx="4080510" cy="260604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6" name="Rounded Rectangle 25"/>
          <p:cNvSpPr/>
          <p:nvPr/>
        </p:nvSpPr>
        <p:spPr>
          <a:xfrm>
            <a:off x="4786884" y="1700784"/>
            <a:ext cx="1097280" cy="233172"/>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4834890" y="1724787"/>
            <a:ext cx="1001268" cy="136191"/>
          </a:xfrm>
          <a:prstGeom prst="rect">
            <a:avLst/>
          </a:prstGeom>
          <a:noFill/>
        </p:spPr>
        <p:txBody>
          <a:bodyPr wrap="square" lIns="10287" tIns="10287" rIns="10287" bIns="10287">
            <a:spAutoFit/>
          </a:bodyPr>
          <a:lstStyle/>
          <a:p>
            <a:pPr algn="ctr">
              <a:spcAft>
                <a:spcPts val="375"/>
              </a:spcAft>
              <a:defRPr sz="1000" b="1">
                <a:solidFill>
                  <a:srgbClr val="7354B8"/>
                </a:solidFill>
                <a:latin typeface="Arial"/>
              </a:defRPr>
            </a:pPr>
            <a:r>
              <a:rPr sz="750" cap="none">
                <a:latin typeface="Arial"/>
              </a:rPr>
              <a:t>Decode</a:t>
            </a:r>
          </a:p>
        </p:txBody>
      </p:sp>
      <p:sp>
        <p:nvSpPr>
          <p:cNvPr id="28" name="TextBox 27"/>
          <p:cNvSpPr txBox="1"/>
          <p:nvPr/>
        </p:nvSpPr>
        <p:spPr>
          <a:xfrm>
            <a:off x="4786884" y="2098548"/>
            <a:ext cx="3806190" cy="251607"/>
          </a:xfrm>
          <a:prstGeom prst="rect">
            <a:avLst/>
          </a:prstGeom>
          <a:noFill/>
        </p:spPr>
        <p:txBody>
          <a:bodyPr wrap="square" lIns="10287" tIns="10287" rIns="10287" bIns="10287">
            <a:spAutoFit/>
          </a:bodyPr>
          <a:lstStyle/>
          <a:p>
            <a:pPr>
              <a:spcAft>
                <a:spcPts val="375"/>
              </a:spcAft>
              <a:defRPr sz="2000" b="1">
                <a:solidFill>
                  <a:srgbClr val="7354B8"/>
                </a:solidFill>
                <a:latin typeface="Courier New"/>
              </a:defRPr>
            </a:pPr>
            <a:r>
              <a:rPr sz="1500" cap="none">
                <a:latin typeface="Arial"/>
              </a:rPr>
              <a:t>vllm:num_requests_running</a:t>
            </a:r>
          </a:p>
        </p:txBody>
      </p:sp>
      <p:sp>
        <p:nvSpPr>
          <p:cNvPr id="29" name="TextBox 28"/>
          <p:cNvSpPr txBox="1"/>
          <p:nvPr/>
        </p:nvSpPr>
        <p:spPr>
          <a:xfrm>
            <a:off x="4786884" y="2510028"/>
            <a:ext cx="3806190" cy="487569"/>
          </a:xfrm>
          <a:prstGeom prst="rect">
            <a:avLst/>
          </a:prstGeom>
          <a:noFill/>
        </p:spPr>
        <p:txBody>
          <a:bodyPr wrap="square" lIns="10287" tIns="10287" rIns="10287" bIns="10287">
            <a:spAutoFit/>
          </a:bodyPr>
          <a:lstStyle/>
          <a:p>
            <a:pPr>
              <a:spcAft>
                <a:spcPts val="375"/>
              </a:spcAft>
              <a:defRPr sz="1800" b="0">
                <a:solidFill>
                  <a:srgbClr val="172941"/>
                </a:solidFill>
                <a:latin typeface="Arial"/>
              </a:defRPr>
            </a:pPr>
            <a:r>
              <a:rPr sz="1350" cap="none">
                <a:latin typeface="Arial"/>
              </a:rPr>
              <a:t>Requests in decode execution batches.</a:t>
            </a:r>
          </a:p>
          <a:p>
            <a:pPr>
              <a:spcAft>
                <a:spcPts val="375"/>
              </a:spcAft>
              <a:defRPr sz="1800" b="0">
                <a:solidFill>
                  <a:srgbClr val="172941"/>
                </a:solidFill>
                <a:latin typeface="Arial"/>
              </a:defRPr>
            </a:pPr>
            <a:r>
              <a:rPr sz="1350" cap="none">
                <a:latin typeface="Arial"/>
              </a:rPr>
              <a:t>Protect token delivery under load.</a:t>
            </a:r>
          </a:p>
        </p:txBody>
      </p:sp>
      <p:sp>
        <p:nvSpPr>
          <p:cNvPr id="30" name="Rounded Rectangle 29"/>
          <p:cNvSpPr/>
          <p:nvPr/>
        </p:nvSpPr>
        <p:spPr>
          <a:xfrm>
            <a:off x="4786884" y="3188970"/>
            <a:ext cx="1179576" cy="569214"/>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4828032" y="3250692"/>
            <a:ext cx="1097280"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&lt; 4</a:t>
            </a:r>
          </a:p>
        </p:txBody>
      </p:sp>
      <p:sp>
        <p:nvSpPr>
          <p:cNvPr id="32" name="TextBox 31"/>
          <p:cNvSpPr txBox="1"/>
          <p:nvPr/>
        </p:nvSpPr>
        <p:spPr>
          <a:xfrm>
            <a:off x="4828032" y="3504438"/>
            <a:ext cx="1097280" cy="170816"/>
          </a:xfrm>
          <a:prstGeom prst="rect">
            <a:avLst/>
          </a:prstGeom>
          <a:noFill/>
        </p:spPr>
        <p:txBody>
          <a:bodyPr wrap="square" lIns="10287" tIns="10287" rIns="10287" bIns="10287">
            <a:spAutoFit/>
          </a:bodyPr>
          <a:lstStyle/>
          <a:p>
            <a:pPr algn="ctr">
              <a:spcAft>
                <a:spcPts val="375"/>
              </a:spcAft>
              <a:defRPr sz="1300" b="0">
                <a:solidFill>
                  <a:srgbClr val="7354B8"/>
                </a:solidFill>
                <a:latin typeface="Arial"/>
              </a:defRPr>
            </a:pPr>
            <a:r>
              <a:rPr sz="975" cap="none">
                <a:latin typeface="Arial"/>
              </a:rPr>
              <a:t>Scale down</a:t>
            </a:r>
          </a:p>
        </p:txBody>
      </p:sp>
      <p:sp>
        <p:nvSpPr>
          <p:cNvPr id="33" name="Rounded Rectangle 32"/>
          <p:cNvSpPr/>
          <p:nvPr/>
        </p:nvSpPr>
        <p:spPr>
          <a:xfrm>
            <a:off x="6062472" y="3188970"/>
            <a:ext cx="1179576" cy="569214"/>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4" name="TextBox 33"/>
          <p:cNvSpPr txBox="1"/>
          <p:nvPr/>
        </p:nvSpPr>
        <p:spPr>
          <a:xfrm>
            <a:off x="6103620" y="3250692"/>
            <a:ext cx="1097280"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Between</a:t>
            </a:r>
          </a:p>
        </p:txBody>
      </p:sp>
      <p:sp>
        <p:nvSpPr>
          <p:cNvPr id="35" name="TextBox 34"/>
          <p:cNvSpPr txBox="1"/>
          <p:nvPr/>
        </p:nvSpPr>
        <p:spPr>
          <a:xfrm>
            <a:off x="6103620" y="3504438"/>
            <a:ext cx="1097280" cy="170816"/>
          </a:xfrm>
          <a:prstGeom prst="rect">
            <a:avLst/>
          </a:prstGeom>
          <a:noFill/>
        </p:spPr>
        <p:txBody>
          <a:bodyPr wrap="square" lIns="10287" tIns="10287" rIns="10287" bIns="10287">
            <a:spAutoFit/>
          </a:bodyPr>
          <a:lstStyle/>
          <a:p>
            <a:pPr algn="ctr">
              <a:spcAft>
                <a:spcPts val="375"/>
              </a:spcAft>
              <a:defRPr sz="1300" b="0">
                <a:solidFill>
                  <a:srgbClr val="7354B8"/>
                </a:solidFill>
                <a:latin typeface="Arial"/>
              </a:defRPr>
            </a:pPr>
            <a:r>
              <a:rPr sz="975" cap="none">
                <a:latin typeface="Arial"/>
              </a:rPr>
              <a:t>Hold</a:t>
            </a:r>
          </a:p>
        </p:txBody>
      </p:sp>
      <p:sp>
        <p:nvSpPr>
          <p:cNvPr id="36" name="Rounded Rectangle 35"/>
          <p:cNvSpPr/>
          <p:nvPr/>
        </p:nvSpPr>
        <p:spPr>
          <a:xfrm>
            <a:off x="7338060" y="3188970"/>
            <a:ext cx="1179576" cy="569214"/>
          </a:xfrm>
          <a:prstGeom prst="roundRect">
            <a:avLst>
              <a:gd name="adj" fmla="val 10000"/>
            </a:avLst>
          </a:prstGeom>
          <a:solidFill>
            <a:srgbClr val="F0E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7" name="TextBox 36"/>
          <p:cNvSpPr txBox="1"/>
          <p:nvPr/>
        </p:nvSpPr>
        <p:spPr>
          <a:xfrm>
            <a:off x="7379208" y="3250692"/>
            <a:ext cx="1097280" cy="205441"/>
          </a:xfrm>
          <a:prstGeom prst="rect">
            <a:avLst/>
          </a:prstGeom>
          <a:noFill/>
        </p:spPr>
        <p:txBody>
          <a:bodyPr wrap="square" lIns="10287" tIns="10287" rIns="10287" bIns="10287">
            <a:spAutoFit/>
          </a:bodyPr>
          <a:lstStyle/>
          <a:p>
            <a:pPr algn="ctr">
              <a:spcAft>
                <a:spcPts val="375"/>
              </a:spcAft>
              <a:defRPr sz="1600" b="1">
                <a:solidFill>
                  <a:srgbClr val="7354B8"/>
                </a:solidFill>
                <a:latin typeface="Arial"/>
              </a:defRPr>
            </a:pPr>
            <a:r>
              <a:rPr sz="1200" cap="none">
                <a:latin typeface="Arial"/>
              </a:rPr>
              <a:t>&gt; 24</a:t>
            </a:r>
          </a:p>
        </p:txBody>
      </p:sp>
      <p:sp>
        <p:nvSpPr>
          <p:cNvPr id="38" name="TextBox 37"/>
          <p:cNvSpPr txBox="1"/>
          <p:nvPr/>
        </p:nvSpPr>
        <p:spPr>
          <a:xfrm>
            <a:off x="7379208" y="3504438"/>
            <a:ext cx="1097280" cy="170816"/>
          </a:xfrm>
          <a:prstGeom prst="rect">
            <a:avLst/>
          </a:prstGeom>
          <a:noFill/>
        </p:spPr>
        <p:txBody>
          <a:bodyPr wrap="square" lIns="10287" tIns="10287" rIns="10287" bIns="10287">
            <a:spAutoFit/>
          </a:bodyPr>
          <a:lstStyle/>
          <a:p>
            <a:pPr algn="ctr">
              <a:spcAft>
                <a:spcPts val="375"/>
              </a:spcAft>
              <a:defRPr sz="1300" b="0">
                <a:solidFill>
                  <a:srgbClr val="7354B8"/>
                </a:solidFill>
                <a:latin typeface="Arial"/>
              </a:defRPr>
            </a:pPr>
            <a:r>
              <a:rPr sz="975" cap="none">
                <a:latin typeface="Arial"/>
              </a:rPr>
              <a:t>Scale up</a:t>
            </a:r>
          </a:p>
        </p:txBody>
      </p:sp>
      <p:sp>
        <p:nvSpPr>
          <p:cNvPr id="39" name="TextBox 38"/>
          <p:cNvSpPr txBox="1"/>
          <p:nvPr/>
        </p:nvSpPr>
        <p:spPr>
          <a:xfrm>
            <a:off x="4786884" y="3902202"/>
            <a:ext cx="3806190" cy="193899"/>
          </a:xfrm>
          <a:prstGeom prst="rect">
            <a:avLst/>
          </a:prstGeom>
          <a:noFill/>
        </p:spPr>
        <p:txBody>
          <a:bodyPr wrap="square" lIns="10287" tIns="10287" rIns="10287" bIns="10287">
            <a:spAutoFit/>
          </a:bodyPr>
          <a:lstStyle/>
          <a:p>
            <a:pPr>
              <a:spcAft>
                <a:spcPts val="375"/>
              </a:spcAft>
              <a:defRPr sz="1500" b="0">
                <a:solidFill>
                  <a:srgbClr val="586A80"/>
                </a:solidFill>
                <a:latin typeface="Arial"/>
              </a:defRPr>
            </a:pPr>
            <a:r>
              <a:rPr sz="1125" cap="none">
                <a:latin typeface="Arial"/>
              </a:rPr>
              <a:t>Example bounds: 2–16 role replicas</a:t>
            </a:r>
          </a:p>
        </p:txBody>
      </p:sp>
      <p:sp>
        <p:nvSpPr>
          <p:cNvPr id="40" name="TextBox 3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1" name="TextBox 4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42 / 49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dirty="0" cap="none">
                <a:latin typeface="Arial"/>
              </a:rPr>
              <a:t>04 / Role-specific decisions</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dirty="0" cap="none" b="1">
                <a:solidFill>
                  <a:srgbClr val="142C46"/>
                </a:solidFill>
                <a:latin typeface="Arial"/>
              </a:rPr>
              <a:t>Different roles need different scaling policies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Use the same safety contract, but tune each role against its own workload and objective.</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Illustrative policy—not universal tuning. Validate thresholds, cooldown and model warm-up.</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77190" y="1543050"/>
            <a:ext cx="2177415" cy="42176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59486" y="1632205"/>
            <a:ext cx="2029968"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Policy</a:t>
            </a:r>
          </a:p>
        </p:txBody>
      </p:sp>
      <p:sp>
        <p:nvSpPr>
          <p:cNvPr id="12" name="Rectangle 11"/>
          <p:cNvSpPr/>
          <p:nvPr/>
        </p:nvSpPr>
        <p:spPr>
          <a:xfrm>
            <a:off x="2571751" y="1543050"/>
            <a:ext cx="3075812" cy="42176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2654047" y="1632205"/>
            <a:ext cx="2928365"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Prefill</a:t>
            </a:r>
          </a:p>
        </p:txBody>
      </p:sp>
      <p:sp>
        <p:nvSpPr>
          <p:cNvPr id="14" name="Rectangle 13"/>
          <p:cNvSpPr/>
          <p:nvPr/>
        </p:nvSpPr>
        <p:spPr>
          <a:xfrm>
            <a:off x="5664709" y="1543050"/>
            <a:ext cx="3075812" cy="421767"/>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5747004" y="1632205"/>
            <a:ext cx="2928365"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Decode</a:t>
            </a:r>
          </a:p>
        </p:txBody>
      </p:sp>
      <p:sp>
        <p:nvSpPr>
          <p:cNvPr id="16" name="Rectangle 15"/>
          <p:cNvSpPr/>
          <p:nvPr/>
        </p:nvSpPr>
        <p:spPr>
          <a:xfrm>
            <a:off x="377190" y="1981962"/>
            <a:ext cx="2177415"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59486" y="2071116"/>
            <a:ext cx="2029968"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Primary signal</a:t>
            </a:r>
          </a:p>
        </p:txBody>
      </p:sp>
      <p:sp>
        <p:nvSpPr>
          <p:cNvPr id="18" name="Rectangle 17"/>
          <p:cNvSpPr/>
          <p:nvPr/>
        </p:nvSpPr>
        <p:spPr>
          <a:xfrm>
            <a:off x="2571751" y="1981962"/>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2654047" y="2071116"/>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Waiting requests</a:t>
            </a:r>
          </a:p>
        </p:txBody>
      </p:sp>
      <p:sp>
        <p:nvSpPr>
          <p:cNvPr id="20" name="Rectangle 19"/>
          <p:cNvSpPr/>
          <p:nvPr/>
        </p:nvSpPr>
        <p:spPr>
          <a:xfrm>
            <a:off x="5664709" y="1981962"/>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5747004" y="2071116"/>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Running requests</a:t>
            </a:r>
          </a:p>
        </p:txBody>
      </p:sp>
      <p:sp>
        <p:nvSpPr>
          <p:cNvPr id="22" name="Rectangle 21"/>
          <p:cNvSpPr/>
          <p:nvPr/>
        </p:nvSpPr>
        <p:spPr>
          <a:xfrm>
            <a:off x="377190" y="2420874"/>
            <a:ext cx="2177415"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459486" y="2510028"/>
            <a:ext cx="2029968"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Example replica range</a:t>
            </a:r>
          </a:p>
        </p:txBody>
      </p:sp>
      <p:sp>
        <p:nvSpPr>
          <p:cNvPr id="24" name="Rectangle 23"/>
          <p:cNvSpPr/>
          <p:nvPr/>
        </p:nvSpPr>
        <p:spPr>
          <a:xfrm>
            <a:off x="2571751" y="2420874"/>
            <a:ext cx="3075812"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2654047" y="2510028"/>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1–8</a:t>
            </a:r>
          </a:p>
        </p:txBody>
      </p:sp>
      <p:sp>
        <p:nvSpPr>
          <p:cNvPr id="26" name="Rectangle 25"/>
          <p:cNvSpPr/>
          <p:nvPr/>
        </p:nvSpPr>
        <p:spPr>
          <a:xfrm>
            <a:off x="5664709" y="2420874"/>
            <a:ext cx="3075812"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5747004" y="2510028"/>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2–16</a:t>
            </a:r>
          </a:p>
        </p:txBody>
      </p:sp>
      <p:sp>
        <p:nvSpPr>
          <p:cNvPr id="28" name="Rectangle 27"/>
          <p:cNvSpPr/>
          <p:nvPr/>
        </p:nvSpPr>
        <p:spPr>
          <a:xfrm>
            <a:off x="377190" y="2859786"/>
            <a:ext cx="2177415"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TextBox 28"/>
          <p:cNvSpPr txBox="1"/>
          <p:nvPr/>
        </p:nvSpPr>
        <p:spPr>
          <a:xfrm>
            <a:off x="459486" y="2948940"/>
            <a:ext cx="2029968"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Example scale-up</a:t>
            </a:r>
          </a:p>
        </p:txBody>
      </p:sp>
      <p:sp>
        <p:nvSpPr>
          <p:cNvPr id="30" name="Rectangle 29"/>
          <p:cNvSpPr/>
          <p:nvPr/>
        </p:nvSpPr>
        <p:spPr>
          <a:xfrm>
            <a:off x="2571751" y="2859786"/>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2654047" y="2948940"/>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Signal &gt; 8</a:t>
            </a:r>
          </a:p>
        </p:txBody>
      </p:sp>
      <p:sp>
        <p:nvSpPr>
          <p:cNvPr id="32" name="Rectangle 31"/>
          <p:cNvSpPr/>
          <p:nvPr/>
        </p:nvSpPr>
        <p:spPr>
          <a:xfrm>
            <a:off x="5664709" y="2859786"/>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TextBox 32"/>
          <p:cNvSpPr txBox="1"/>
          <p:nvPr/>
        </p:nvSpPr>
        <p:spPr>
          <a:xfrm>
            <a:off x="5747004" y="2948940"/>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Signal &gt; 24</a:t>
            </a:r>
          </a:p>
        </p:txBody>
      </p:sp>
      <p:sp>
        <p:nvSpPr>
          <p:cNvPr id="34" name="Rectangle 33"/>
          <p:cNvSpPr/>
          <p:nvPr/>
        </p:nvSpPr>
        <p:spPr>
          <a:xfrm>
            <a:off x="377190" y="3298698"/>
            <a:ext cx="2177415"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459486" y="3387852"/>
            <a:ext cx="2029968"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Example scale-down</a:t>
            </a:r>
          </a:p>
        </p:txBody>
      </p:sp>
      <p:sp>
        <p:nvSpPr>
          <p:cNvPr id="36" name="Rectangle 35"/>
          <p:cNvSpPr/>
          <p:nvPr/>
        </p:nvSpPr>
        <p:spPr>
          <a:xfrm>
            <a:off x="2571751" y="3298698"/>
            <a:ext cx="3075812"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7" name="TextBox 36"/>
          <p:cNvSpPr txBox="1"/>
          <p:nvPr/>
        </p:nvSpPr>
        <p:spPr>
          <a:xfrm>
            <a:off x="2654047" y="3387852"/>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Signal &lt; 1</a:t>
            </a:r>
          </a:p>
        </p:txBody>
      </p:sp>
      <p:sp>
        <p:nvSpPr>
          <p:cNvPr id="38" name="Rectangle 37"/>
          <p:cNvSpPr/>
          <p:nvPr/>
        </p:nvSpPr>
        <p:spPr>
          <a:xfrm>
            <a:off x="5664709" y="3298698"/>
            <a:ext cx="3075812" cy="421767"/>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TextBox 38"/>
          <p:cNvSpPr txBox="1"/>
          <p:nvPr/>
        </p:nvSpPr>
        <p:spPr>
          <a:xfrm>
            <a:off x="5747004" y="3387852"/>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Signal &lt; 4</a:t>
            </a:r>
          </a:p>
        </p:txBody>
      </p:sp>
      <p:sp>
        <p:nvSpPr>
          <p:cNvPr id="40" name="Rectangle 39"/>
          <p:cNvSpPr/>
          <p:nvPr/>
        </p:nvSpPr>
        <p:spPr>
          <a:xfrm>
            <a:off x="377190" y="3737610"/>
            <a:ext cx="2177415"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1" name="TextBox 40"/>
          <p:cNvSpPr txBox="1"/>
          <p:nvPr/>
        </p:nvSpPr>
        <p:spPr>
          <a:xfrm>
            <a:off x="459486" y="3826764"/>
            <a:ext cx="2029968"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Shared guardrails</a:t>
            </a:r>
          </a:p>
        </p:txBody>
      </p:sp>
      <p:sp>
        <p:nvSpPr>
          <p:cNvPr id="42" name="Rectangle 41"/>
          <p:cNvSpPr/>
          <p:nvPr/>
        </p:nvSpPr>
        <p:spPr>
          <a:xfrm>
            <a:off x="2571751" y="3737610"/>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3" name="TextBox 42"/>
          <p:cNvSpPr txBox="1"/>
          <p:nvPr/>
        </p:nvSpPr>
        <p:spPr>
          <a:xfrm>
            <a:off x="2654047" y="3826764"/>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Readiness + fresh metrics</a:t>
            </a:r>
          </a:p>
        </p:txBody>
      </p:sp>
      <p:sp>
        <p:nvSpPr>
          <p:cNvPr id="44" name="Rectangle 43"/>
          <p:cNvSpPr/>
          <p:nvPr/>
        </p:nvSpPr>
        <p:spPr>
          <a:xfrm>
            <a:off x="5664709" y="3737610"/>
            <a:ext cx="3075812" cy="4217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45" name="TextBox 44"/>
          <p:cNvSpPr txBox="1"/>
          <p:nvPr/>
        </p:nvSpPr>
        <p:spPr>
          <a:xfrm>
            <a:off x="5747004" y="3826764"/>
            <a:ext cx="2928365"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Readiness + fresh metrics</a:t>
            </a:r>
          </a:p>
        </p:txBody>
      </p:sp>
      <p:sp>
        <p:nvSpPr>
          <p:cNvPr id="46" name="TextBox 45"/>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7" name="TextBox 46"/>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43 / 49</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Operational safeguards</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Safe autoscaling starts with ownership and valid data</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The happy path is small. Correct handoff and failure behavior make it operable.</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Avoid competing controllers, count only ready capacity, and protect in-flight requests.</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11630"/>
            <a:ext cx="2708910" cy="229743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500634" y="1748790"/>
            <a:ext cx="260604" cy="4457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0" y="1865376"/>
            <a:ext cx="2434590" cy="147733"/>
          </a:xfrm>
          <a:prstGeom prst="rect">
            <a:avLst/>
          </a:prstGeom>
          <a:noFill/>
        </p:spPr>
        <p:txBody>
          <a:bodyPr wrap="square" lIns="10287" tIns="10287" rIns="10287" bIns="10287">
            <a:spAutoFit/>
          </a:bodyPr>
          <a:lstStyle/>
          <a:p>
            <a:pPr>
              <a:spcAft>
                <a:spcPts val="375"/>
              </a:spcAft>
              <a:defRPr sz="1100" b="1">
                <a:solidFill>
                  <a:srgbClr val="2563EB"/>
                </a:solidFill>
                <a:latin typeface="Arial"/>
              </a:defRPr>
            </a:pPr>
            <a:r>
              <a:rPr sz="825" cap="none">
                <a:latin typeface="Arial"/>
              </a:rPr>
              <a:t>01 / Replica ownership</a:t>
            </a:r>
          </a:p>
        </p:txBody>
      </p:sp>
      <p:sp>
        <p:nvSpPr>
          <p:cNvPr id="13" name="TextBox 12"/>
          <p:cNvSpPr txBox="1"/>
          <p:nvPr/>
        </p:nvSpPr>
        <p:spPr>
          <a:xfrm>
            <a:off x="514350" y="2146554"/>
            <a:ext cx="2434590" cy="251607"/>
          </a:xfrm>
          <a:prstGeom prst="rect">
            <a:avLst/>
          </a:prstGeom>
          <a:noFill/>
        </p:spPr>
        <p:txBody>
          <a:bodyPr wrap="square" lIns="10287" tIns="10287" rIns="10287" bIns="10287">
            <a:spAutoFit/>
          </a:bodyPr>
          <a:lstStyle/>
          <a:p>
            <a:pPr>
              <a:spcAft>
                <a:spcPts val="375"/>
              </a:spcAft>
              <a:defRPr sz="2000" b="1">
                <a:solidFill>
                  <a:srgbClr val="2563EB"/>
                </a:solidFill>
                <a:latin typeface="Arial"/>
              </a:defRPr>
            </a:pPr>
            <a:r>
              <a:rPr sz="1500" cap="none">
                <a:latin typeface="Arial"/>
              </a:rPr>
              <a:t>Choose one writer</a:t>
            </a:r>
          </a:p>
        </p:txBody>
      </p:sp>
      <p:sp>
        <p:nvSpPr>
          <p:cNvPr id="14" name="TextBox 13"/>
          <p:cNvSpPr txBox="1"/>
          <p:nvPr/>
        </p:nvSpPr>
        <p:spPr>
          <a:xfrm>
            <a:off x="514350" y="2599183"/>
            <a:ext cx="2434590" cy="711990"/>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One policy owns replica count</a:t>
            </a:r>
          </a:p>
          <a:p>
            <a:pPr>
              <a:spcAft>
                <a:spcPts val="375"/>
              </a:spcAft>
              <a:defRPr sz="1700" b="0">
                <a:solidFill>
                  <a:srgbClr val="172941"/>
                </a:solidFill>
                <a:latin typeface="Arial"/>
              </a:defRPr>
            </a:pPr>
            <a:r>
              <a:rPr sz="1275" cap="none">
                <a:latin typeface="Arial"/>
              </a:rPr>
              <a:t>Separate targets for P and D</a:t>
            </a:r>
          </a:p>
          <a:p>
            <a:pPr>
              <a:spcAft>
                <a:spcPts val="375"/>
              </a:spcAft>
              <a:defRPr sz="1700" b="0">
                <a:solidFill>
                  <a:srgbClr val="172941"/>
                </a:solidFill>
                <a:latin typeface="Arial"/>
              </a:defRPr>
            </a:pPr>
            <a:r>
              <a:rPr sz="1275" cap="none">
                <a:latin typeface="Arial"/>
              </a:rPr>
              <a:t>No competing autoscalers</a:t>
            </a:r>
          </a:p>
        </p:txBody>
      </p:sp>
      <p:sp>
        <p:nvSpPr>
          <p:cNvPr id="15" name="Rounded Rectangle 14"/>
          <p:cNvSpPr/>
          <p:nvPr/>
        </p:nvSpPr>
        <p:spPr>
          <a:xfrm>
            <a:off x="3216402" y="1611630"/>
            <a:ext cx="2708910" cy="229743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Rectangle 15"/>
          <p:cNvSpPr/>
          <p:nvPr/>
        </p:nvSpPr>
        <p:spPr>
          <a:xfrm>
            <a:off x="3339845" y="1748790"/>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3353562" y="1865376"/>
            <a:ext cx="2434590" cy="147733"/>
          </a:xfrm>
          <a:prstGeom prst="rect">
            <a:avLst/>
          </a:prstGeom>
          <a:noFill/>
        </p:spPr>
        <p:txBody>
          <a:bodyPr wrap="square" lIns="10287" tIns="10287" rIns="10287" bIns="10287">
            <a:spAutoFit/>
          </a:bodyPr>
          <a:lstStyle/>
          <a:p>
            <a:pPr>
              <a:spcAft>
                <a:spcPts val="375"/>
              </a:spcAft>
              <a:defRPr sz="1100" b="1">
                <a:solidFill>
                  <a:srgbClr val="087F8C"/>
                </a:solidFill>
                <a:latin typeface="Arial"/>
              </a:defRPr>
            </a:pPr>
            <a:r>
              <a:rPr sz="825" cap="none">
                <a:latin typeface="Arial"/>
              </a:rPr>
              <a:t>02 / Metric availability</a:t>
            </a:r>
          </a:p>
        </p:txBody>
      </p:sp>
      <p:sp>
        <p:nvSpPr>
          <p:cNvPr id="18" name="TextBox 17"/>
          <p:cNvSpPr txBox="1"/>
          <p:nvPr/>
        </p:nvSpPr>
        <p:spPr>
          <a:xfrm>
            <a:off x="3353562" y="2146554"/>
            <a:ext cx="2434590"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Verify real signals</a:t>
            </a:r>
          </a:p>
        </p:txBody>
      </p:sp>
      <p:sp>
        <p:nvSpPr>
          <p:cNvPr id="19" name="TextBox 18"/>
          <p:cNvSpPr txBox="1"/>
          <p:nvPr/>
        </p:nvSpPr>
        <p:spPr>
          <a:xfrm>
            <a:off x="3353562" y="2599182"/>
            <a:ext cx="2434590" cy="959493"/>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Inspect actual /metrics</a:t>
            </a:r>
          </a:p>
          <a:p>
            <a:pPr>
              <a:spcAft>
                <a:spcPts val="375"/>
              </a:spcAft>
              <a:defRPr sz="1700" b="0">
                <a:solidFill>
                  <a:srgbClr val="172941"/>
                </a:solidFill>
                <a:latin typeface="Arial"/>
              </a:defRPr>
            </a:pPr>
            <a:r>
              <a:rPr sz="1275" cap="none">
                <a:latin typeface="Arial"/>
              </a:rPr>
              <a:t>Scope samples per role</a:t>
            </a:r>
          </a:p>
          <a:p>
            <a:pPr>
              <a:spcAft>
                <a:spcPts val="375"/>
              </a:spcAft>
              <a:defRPr sz="1700" b="0">
                <a:solidFill>
                  <a:srgbClr val="172941"/>
                </a:solidFill>
                <a:latin typeface="Arial"/>
              </a:defRPr>
            </a:pPr>
            <a:r>
              <a:rPr sz="1275" cap="none">
                <a:latin typeface="Arial"/>
              </a:rPr>
              <a:t>Missing is not zero</a:t>
            </a:r>
          </a:p>
          <a:p>
            <a:pPr>
              <a:spcAft>
                <a:spcPts val="375"/>
              </a:spcAft>
              <a:defRPr sz="1700" b="0">
                <a:solidFill>
                  <a:srgbClr val="172941"/>
                </a:solidFill>
                <a:latin typeface="Arial"/>
              </a:defRPr>
            </a:pPr>
            <a:r>
              <a:rPr sz="1275" cap="none">
                <a:latin typeface="Arial"/>
              </a:rPr>
              <a:t>On failure: hold + report</a:t>
            </a:r>
          </a:p>
        </p:txBody>
      </p:sp>
      <p:sp>
        <p:nvSpPr>
          <p:cNvPr id="20" name="Rounded Rectangle 19"/>
          <p:cNvSpPr/>
          <p:nvPr/>
        </p:nvSpPr>
        <p:spPr>
          <a:xfrm>
            <a:off x="6055614" y="1611630"/>
            <a:ext cx="2708910" cy="2297430"/>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Rectangle 20"/>
          <p:cNvSpPr/>
          <p:nvPr/>
        </p:nvSpPr>
        <p:spPr>
          <a:xfrm>
            <a:off x="6179058" y="1748790"/>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6192773" y="1865376"/>
            <a:ext cx="2434590" cy="147733"/>
          </a:xfrm>
          <a:prstGeom prst="rect">
            <a:avLst/>
          </a:prstGeom>
          <a:noFill/>
        </p:spPr>
        <p:txBody>
          <a:bodyPr wrap="square" lIns="10287" tIns="10287" rIns="10287" bIns="10287">
            <a:spAutoFit/>
          </a:bodyPr>
          <a:lstStyle/>
          <a:p>
            <a:pPr>
              <a:spcAft>
                <a:spcPts val="375"/>
              </a:spcAft>
              <a:defRPr sz="1100" b="1">
                <a:solidFill>
                  <a:srgbClr val="7354B8"/>
                </a:solidFill>
                <a:latin typeface="Arial"/>
              </a:defRPr>
            </a:pPr>
            <a:r>
              <a:rPr sz="825" cap="none">
                <a:latin typeface="Arial"/>
              </a:rPr>
              <a:t>03 / Lifecycle</a:t>
            </a:r>
          </a:p>
        </p:txBody>
      </p:sp>
      <p:sp>
        <p:nvSpPr>
          <p:cNvPr id="23" name="TextBox 22"/>
          <p:cNvSpPr txBox="1"/>
          <p:nvPr/>
        </p:nvSpPr>
        <p:spPr>
          <a:xfrm>
            <a:off x="6192773" y="2146554"/>
            <a:ext cx="2434590"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Make handoff explicit</a:t>
            </a:r>
          </a:p>
        </p:txBody>
      </p:sp>
      <p:sp>
        <p:nvSpPr>
          <p:cNvPr id="24" name="TextBox 23"/>
          <p:cNvSpPr txBox="1"/>
          <p:nvPr/>
        </p:nvSpPr>
        <p:spPr>
          <a:xfrm>
            <a:off x="6192773" y="2599182"/>
            <a:ext cx="2434590" cy="959493"/>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Stop the old writer first</a:t>
            </a:r>
          </a:p>
          <a:p>
            <a:pPr>
              <a:spcAft>
                <a:spcPts val="375"/>
              </a:spcAft>
              <a:defRPr sz="1700" b="0">
                <a:solidFill>
                  <a:srgbClr val="172941"/>
                </a:solidFill>
                <a:latin typeface="Arial"/>
              </a:defRPr>
            </a:pPr>
            <a:r>
              <a:rPr sz="1275" cap="none">
                <a:latin typeface="Arial"/>
              </a:rPr>
              <a:t>Delete only owned scalers</a:t>
            </a:r>
          </a:p>
          <a:p>
            <a:pPr>
              <a:spcAft>
                <a:spcPts val="375"/>
              </a:spcAft>
              <a:defRPr sz="1700" b="0">
                <a:solidFill>
                  <a:srgbClr val="172941"/>
                </a:solidFill>
                <a:latin typeface="Arial"/>
              </a:defRPr>
            </a:pPr>
            <a:r>
              <a:rPr sz="1275" cap="none">
                <a:latin typeface="Arial"/>
              </a:rPr>
              <a:t>Allow model warm-up</a:t>
            </a:r>
          </a:p>
          <a:p>
            <a:pPr>
              <a:spcAft>
                <a:spcPts val="375"/>
              </a:spcAft>
              <a:defRPr sz="1700" b="0">
                <a:solidFill>
                  <a:srgbClr val="172941"/>
                </a:solidFill>
                <a:latin typeface="Arial"/>
              </a:defRPr>
            </a:pPr>
            <a:r>
              <a:rPr sz="1275" cap="none">
                <a:latin typeface="Arial"/>
              </a:rPr>
              <a:t>Test safe scale-down</a:t>
            </a:r>
          </a:p>
        </p:txBody>
      </p:sp>
      <p:sp>
        <p:nvSpPr>
          <p:cNvPr id="25" name="TextBox 24"/>
          <p:cNvSpPr txBox="1"/>
          <p:nvPr/>
        </p:nvSpPr>
        <p:spPr>
          <a:xfrm>
            <a:off x="390905" y="4094226"/>
            <a:ext cx="8298180" cy="205441"/>
          </a:xfrm>
          <a:prstGeom prst="rect">
            <a:avLst/>
          </a:prstGeom>
          <a:noFill/>
        </p:spPr>
        <p:txBody>
          <a:bodyPr wrap="square" lIns="10287" tIns="10287" rIns="10287" bIns="10287">
            <a:spAutoFit/>
          </a:bodyPr>
          <a:lstStyle/>
          <a:p>
            <a:pPr>
              <a:spcAft>
                <a:spcPts val="375"/>
              </a:spcAft>
              <a:defRPr sz="1600" b="0">
                <a:solidFill>
                  <a:srgbClr val="586A80"/>
                </a:solidFill>
                <a:latin typeface="Arial"/>
              </a:defRPr>
            </a:pPr>
            <a:r>
              <a:rPr sz="1200" cap="none">
                <a:latin typeface="Arial"/>
              </a:rPr>
              <a:t>On missing or invalid signals: hold decisions and report the problem. Missing is not zero.</a:t>
            </a:r>
          </a:p>
        </p:txBody>
      </p:sp>
      <p:sp>
        <p:nvSpPr>
          <p:cNvPr id="26" name="TextBox 25"/>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7" name="TextBox 26"/>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44 / 49</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185166"/>
            <a:ext cx="8092440" cy="136191"/>
          </a:xfrm>
          <a:prstGeom prst="rect">
            <a:avLst/>
          </a:prstGeom>
          <a:noFill/>
        </p:spPr>
        <p:txBody>
          <a:bodyPr wrap="square" lIns="10287" tIns="10287" rIns="10287" bIns="10287">
            <a:spAutoFit/>
          </a:bodyPr>
          <a:lstStyle/>
          <a:p>
            <a:pPr>
              <a:spcAft>
                <a:spcPts val="375"/>
              </a:spcAft>
              <a:defRPr sz="1000" b="1">
                <a:solidFill>
                  <a:srgbClr val="2563EB"/>
                </a:solidFill>
                <a:latin typeface="Arial"/>
              </a:defRPr>
            </a:pPr>
            <a:r>
              <a:rPr sz="750" cap="none">
                <a:latin typeface="Arial"/>
              </a:rPr>
              <a:t>04 / Signal interpretation</a:t>
            </a:r>
          </a:p>
        </p:txBody>
      </p:sp>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Derived signals add context to scaling decisions</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Aggregate native vLLM metrics to understand KV utilization, latency and throughput.</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KV occupancy is not demand. High or low throughput alone should not change replica counts.</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77191" y="1543050"/>
            <a:ext cx="3020948" cy="517779"/>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TextBox 10"/>
          <p:cNvSpPr txBox="1"/>
          <p:nvPr/>
        </p:nvSpPr>
        <p:spPr>
          <a:xfrm>
            <a:off x="459487" y="1632205"/>
            <a:ext cx="2873501"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NATIVE INPUT (vllm: PREFIX)</a:t>
            </a:r>
          </a:p>
        </p:txBody>
      </p:sp>
      <p:sp>
        <p:nvSpPr>
          <p:cNvPr id="12" name="Rectangle 11"/>
          <p:cNvSpPr/>
          <p:nvPr/>
        </p:nvSpPr>
        <p:spPr>
          <a:xfrm>
            <a:off x="3415284" y="1543050"/>
            <a:ext cx="2314575" cy="517779"/>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3" name="TextBox 12"/>
          <p:cNvSpPr txBox="1"/>
          <p:nvPr/>
        </p:nvSpPr>
        <p:spPr>
          <a:xfrm>
            <a:off x="3497580" y="1632205"/>
            <a:ext cx="2167128"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Derivation</a:t>
            </a:r>
          </a:p>
        </p:txBody>
      </p:sp>
      <p:sp>
        <p:nvSpPr>
          <p:cNvPr id="14" name="Rectangle 13"/>
          <p:cNvSpPr/>
          <p:nvPr/>
        </p:nvSpPr>
        <p:spPr>
          <a:xfrm>
            <a:off x="5747003" y="1543050"/>
            <a:ext cx="3000375" cy="517779"/>
          </a:xfrm>
          <a:prstGeom prst="rect">
            <a:avLst/>
          </a:prstGeom>
          <a:solidFill>
            <a:srgbClr val="102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5829299" y="1632205"/>
            <a:ext cx="2852928" cy="182358"/>
          </a:xfrm>
          <a:prstGeom prst="rect">
            <a:avLst/>
          </a:prstGeom>
          <a:noFill/>
        </p:spPr>
        <p:txBody>
          <a:bodyPr wrap="square" lIns="10287" tIns="10287" rIns="10287" bIns="10287">
            <a:spAutoFit/>
          </a:bodyPr>
          <a:lstStyle/>
          <a:p>
            <a:pPr>
              <a:spcAft>
                <a:spcPts val="375"/>
              </a:spcAft>
              <a:defRPr sz="1400" b="1">
                <a:solidFill>
                  <a:srgbClr val="FFFFFF"/>
                </a:solidFill>
                <a:latin typeface="Arial"/>
              </a:defRPr>
            </a:pPr>
            <a:r>
              <a:rPr sz="1050" cap="none">
                <a:latin typeface="Arial"/>
              </a:rPr>
              <a:t>Decision support</a:t>
            </a:r>
          </a:p>
        </p:txBody>
      </p:sp>
      <p:sp>
        <p:nvSpPr>
          <p:cNvPr id="16" name="Rectangle 15"/>
          <p:cNvSpPr/>
          <p:nvPr/>
        </p:nvSpPr>
        <p:spPr>
          <a:xfrm>
            <a:off x="377191" y="2077974"/>
            <a:ext cx="3020948"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459487" y="2167128"/>
            <a:ext cx="2873501"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kv_cache_usage_perc</a:t>
            </a:r>
          </a:p>
        </p:txBody>
      </p:sp>
      <p:sp>
        <p:nvSpPr>
          <p:cNvPr id="18" name="Rectangle 17"/>
          <p:cNvSpPr/>
          <p:nvPr/>
        </p:nvSpPr>
        <p:spPr>
          <a:xfrm>
            <a:off x="3415284" y="2077974"/>
            <a:ext cx="2314575"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9" name="TextBox 18"/>
          <p:cNvSpPr txBox="1"/>
          <p:nvPr/>
        </p:nvSpPr>
        <p:spPr>
          <a:xfrm>
            <a:off x="3497580" y="2167128"/>
            <a:ext cx="21671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max(role samples)</a:t>
            </a:r>
          </a:p>
        </p:txBody>
      </p:sp>
      <p:sp>
        <p:nvSpPr>
          <p:cNvPr id="20" name="Rectangle 19"/>
          <p:cNvSpPr/>
          <p:nvPr/>
        </p:nvSpPr>
        <p:spPr>
          <a:xfrm>
            <a:off x="5747003" y="2077974"/>
            <a:ext cx="3000375"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5829299" y="2167128"/>
            <a:ext cx="28529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Candidate downscale guard</a:t>
            </a:r>
          </a:p>
        </p:txBody>
      </p:sp>
      <p:sp>
        <p:nvSpPr>
          <p:cNvPr id="22" name="Rectangle 21"/>
          <p:cNvSpPr/>
          <p:nvPr/>
        </p:nvSpPr>
        <p:spPr>
          <a:xfrm>
            <a:off x="377191" y="2612898"/>
            <a:ext cx="3020948"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3" name="TextBox 22"/>
          <p:cNvSpPr txBox="1"/>
          <p:nvPr/>
        </p:nvSpPr>
        <p:spPr>
          <a:xfrm>
            <a:off x="459487" y="2702052"/>
            <a:ext cx="2873501"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kv_cache_usage_perc</a:t>
            </a:r>
          </a:p>
        </p:txBody>
      </p:sp>
      <p:sp>
        <p:nvSpPr>
          <p:cNvPr id="24" name="Rectangle 23"/>
          <p:cNvSpPr/>
          <p:nvPr/>
        </p:nvSpPr>
        <p:spPr>
          <a:xfrm>
            <a:off x="3415284" y="2612898"/>
            <a:ext cx="2314575"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5" name="TextBox 24"/>
          <p:cNvSpPr txBox="1"/>
          <p:nvPr/>
        </p:nvSpPr>
        <p:spPr>
          <a:xfrm>
            <a:off x="3497580" y="2702052"/>
            <a:ext cx="21671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1 - max(role samples)</a:t>
            </a:r>
          </a:p>
        </p:txBody>
      </p:sp>
      <p:sp>
        <p:nvSpPr>
          <p:cNvPr id="26" name="Rectangle 25"/>
          <p:cNvSpPr/>
          <p:nvPr/>
        </p:nvSpPr>
        <p:spPr>
          <a:xfrm>
            <a:off x="5747003" y="2612898"/>
            <a:ext cx="3000375"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7" name="TextBox 26"/>
          <p:cNvSpPr txBox="1"/>
          <p:nvPr/>
        </p:nvSpPr>
        <p:spPr>
          <a:xfrm>
            <a:off x="5829299" y="2702052"/>
            <a:ext cx="2852928"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Minimum free fraction;</a:t>
            </a:r>
          </a:p>
          <a:p>
            <a:pPr>
              <a:spcAft>
                <a:spcPts val="375"/>
              </a:spcAft>
              <a:defRPr sz="1500" b="0">
                <a:solidFill>
                  <a:srgbClr val="172941"/>
                </a:solidFill>
                <a:latin typeface="Arial"/>
              </a:defRPr>
            </a:pPr>
            <a:r>
              <a:rPr sz="1125" cap="none">
                <a:latin typeface="Arial"/>
              </a:rPr>
              <a:t>not effective request capacity</a:t>
            </a:r>
          </a:p>
        </p:txBody>
      </p:sp>
      <p:sp>
        <p:nvSpPr>
          <p:cNvPr id="28" name="Rectangle 27"/>
          <p:cNvSpPr/>
          <p:nvPr/>
        </p:nvSpPr>
        <p:spPr>
          <a:xfrm>
            <a:off x="377191" y="3147822"/>
            <a:ext cx="3020948"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9" name="TextBox 28"/>
          <p:cNvSpPr txBox="1"/>
          <p:nvPr/>
        </p:nvSpPr>
        <p:spPr>
          <a:xfrm>
            <a:off x="459487" y="3236976"/>
            <a:ext cx="2873501" cy="418320"/>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time_to_first_token_seconds</a:t>
            </a:r>
          </a:p>
          <a:p>
            <a:pPr>
              <a:spcAft>
                <a:spcPts val="375"/>
              </a:spcAft>
              <a:defRPr sz="1500" b="0">
                <a:solidFill>
                  <a:srgbClr val="2563EB"/>
                </a:solidFill>
                <a:latin typeface="Arial"/>
              </a:defRPr>
            </a:pPr>
            <a:r>
              <a:rPr sz="1125" cap="none">
                <a:latin typeface="Arial"/>
              </a:rPr>
              <a:t>(histogram buckets)</a:t>
            </a:r>
          </a:p>
        </p:txBody>
      </p:sp>
      <p:sp>
        <p:nvSpPr>
          <p:cNvPr id="30" name="Rectangle 29"/>
          <p:cNvSpPr/>
          <p:nvPr/>
        </p:nvSpPr>
        <p:spPr>
          <a:xfrm>
            <a:off x="3415284" y="3147822"/>
            <a:ext cx="2314575"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1" name="TextBox 30"/>
          <p:cNvSpPr txBox="1"/>
          <p:nvPr/>
        </p:nvSpPr>
        <p:spPr>
          <a:xfrm>
            <a:off x="3497580" y="3236976"/>
            <a:ext cx="21671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P95 over bucket rates</a:t>
            </a:r>
          </a:p>
        </p:txBody>
      </p:sp>
      <p:sp>
        <p:nvSpPr>
          <p:cNvPr id="32" name="Rectangle 31"/>
          <p:cNvSpPr/>
          <p:nvPr/>
        </p:nvSpPr>
        <p:spPr>
          <a:xfrm>
            <a:off x="5747003" y="3147822"/>
            <a:ext cx="3000375" cy="51777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3" name="TextBox 32"/>
          <p:cNvSpPr txBox="1"/>
          <p:nvPr/>
        </p:nvSpPr>
        <p:spPr>
          <a:xfrm>
            <a:off x="5829299" y="3236976"/>
            <a:ext cx="28529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Latency tail; tune prefill policy</a:t>
            </a:r>
          </a:p>
        </p:txBody>
      </p:sp>
      <p:sp>
        <p:nvSpPr>
          <p:cNvPr id="34" name="Rectangle 33"/>
          <p:cNvSpPr/>
          <p:nvPr/>
        </p:nvSpPr>
        <p:spPr>
          <a:xfrm>
            <a:off x="377191" y="3682746"/>
            <a:ext cx="3020948"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5" name="TextBox 34"/>
          <p:cNvSpPr txBox="1"/>
          <p:nvPr/>
        </p:nvSpPr>
        <p:spPr>
          <a:xfrm>
            <a:off x="459487" y="3771900"/>
            <a:ext cx="2873501" cy="193899"/>
          </a:xfrm>
          <a:prstGeom prst="rect">
            <a:avLst/>
          </a:prstGeom>
          <a:noFill/>
        </p:spPr>
        <p:txBody>
          <a:bodyPr wrap="square" lIns="10287" tIns="10287" rIns="10287" bIns="10287">
            <a:spAutoFit/>
          </a:bodyPr>
          <a:lstStyle/>
          <a:p>
            <a:pPr>
              <a:spcAft>
                <a:spcPts val="375"/>
              </a:spcAft>
              <a:defRPr sz="1500" b="0">
                <a:solidFill>
                  <a:srgbClr val="2563EB"/>
                </a:solidFill>
                <a:latin typeface="Arial"/>
              </a:defRPr>
            </a:pPr>
            <a:r>
              <a:rPr sz="1125" cap="none">
                <a:latin typeface="Arial"/>
              </a:rPr>
              <a:t>generation_tokens_total</a:t>
            </a:r>
          </a:p>
        </p:txBody>
      </p:sp>
      <p:sp>
        <p:nvSpPr>
          <p:cNvPr id="36" name="Rectangle 35"/>
          <p:cNvSpPr/>
          <p:nvPr/>
        </p:nvSpPr>
        <p:spPr>
          <a:xfrm>
            <a:off x="3415284" y="3682746"/>
            <a:ext cx="2314575"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7" name="TextBox 36"/>
          <p:cNvSpPr txBox="1"/>
          <p:nvPr/>
        </p:nvSpPr>
        <p:spPr>
          <a:xfrm>
            <a:off x="3497580" y="3771900"/>
            <a:ext cx="2167128" cy="193899"/>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sum(rate(counter[5m]))</a:t>
            </a:r>
          </a:p>
        </p:txBody>
      </p:sp>
      <p:sp>
        <p:nvSpPr>
          <p:cNvPr id="38" name="Rectangle 37"/>
          <p:cNvSpPr/>
          <p:nvPr/>
        </p:nvSpPr>
        <p:spPr>
          <a:xfrm>
            <a:off x="5747003" y="3682746"/>
            <a:ext cx="3000375" cy="517779"/>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39" name="TextBox 38"/>
          <p:cNvSpPr txBox="1"/>
          <p:nvPr/>
        </p:nvSpPr>
        <p:spPr>
          <a:xfrm>
            <a:off x="5829299" y="3771900"/>
            <a:ext cx="2852928"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Output throughput;</a:t>
            </a:r>
          </a:p>
          <a:p>
            <a:pPr>
              <a:spcAft>
                <a:spcPts val="375"/>
              </a:spcAft>
              <a:defRPr sz="1500" b="0">
                <a:solidFill>
                  <a:srgbClr val="172941"/>
                </a:solidFill>
                <a:latin typeface="Arial"/>
              </a:defRPr>
            </a:pPr>
            <a:r>
              <a:rPr sz="1125" cap="none">
                <a:latin typeface="Arial"/>
              </a:rPr>
              <a:t>observe and benchmark</a:t>
            </a:r>
          </a:p>
        </p:txBody>
      </p:sp>
      <p:sp>
        <p:nvSpPr>
          <p:cNvPr id="40" name="TextBox 39"/>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41" name="TextBox 40"/>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45 / 49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539496"/>
            <a:ext cx="8412480" cy="411480"/>
          </a:xfrm>
          <a:prstGeom prst="rect">
            <a:avLst/>
          </a:prstGeom>
          <a:noFill/>
        </p:spPr>
        <p:txBody>
          <a:bodyPr wrap="square" lIns="0" rIns="0" tIns="0" bIns="0">
            <a:spAutoFit/>
          </a:bodyPr>
          <a:lstStyle/>
          <a:p>
            <a:pPr>
              <a:spcAft>
                <a:spcPts val="500"/>
              </a:spcAft>
              <a:defRPr sz="2100" b="1">
                <a:solidFill>
                  <a:srgbClr val="142C46"/>
                </a:solidFill>
                <a:latin typeface="Arial"/>
              </a:defRPr>
            </a:pPr>
            <a:r>
              <a:rPr cap="none"/>
              <a:t>Proposed MRI policy: independent role decisions</a:t>
            </a:r>
          </a:p>
        </p:txBody>
      </p:sp>
      <p:sp>
        <p:nvSpPr>
          <p:cNvPr id="3" name="TextBox 2"/>
          <p:cNvSpPr txBox="1"/>
          <p:nvPr/>
        </p:nvSpPr>
        <p:spPr>
          <a:xfrm>
            <a:off x="384048" y="1033271"/>
            <a:ext cx="8321040" cy="365760"/>
          </a:xfrm>
          <a:prstGeom prst="rect">
            <a:avLst/>
          </a:prstGeom>
          <a:noFill/>
        </p:spPr>
        <p:txBody>
          <a:bodyPr wrap="square" lIns="0" rIns="0" tIns="0" bIns="0">
            <a:spAutoFit/>
          </a:bodyPr>
          <a:lstStyle/>
          <a:p>
            <a:pPr>
              <a:spcAft>
                <a:spcPts val="500"/>
              </a:spcAft>
              <a:defRPr sz="1200" b="0">
                <a:solidFill>
                  <a:srgbClr val="52677D"/>
                </a:solidFill>
                <a:latin typeface="Arial"/>
              </a:defRPr>
            </a:pPr>
            <a:r>
              <a:rPr cap="none"/>
              <a:t>Illustrative design—not a ready-to-apply API. Full example and schema are in the notes.</a:t>
            </a:r>
          </a:p>
        </p:txBody>
      </p:sp>
      <p:sp>
        <p:nvSpPr>
          <p:cNvPr id="4" name="Rounded Rectangle 3"/>
          <p:cNvSpPr/>
          <p:nvPr/>
        </p:nvSpPr>
        <p:spPr>
          <a:xfrm>
            <a:off x="411480" y="1554480"/>
            <a:ext cx="4078224" cy="2523744"/>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72" y="1709928"/>
            <a:ext cx="3749039" cy="365760"/>
          </a:xfrm>
          <a:prstGeom prst="rect">
            <a:avLst/>
          </a:prstGeom>
          <a:noFill/>
        </p:spPr>
        <p:txBody>
          <a:bodyPr wrap="square" lIns="0" rIns="0" tIns="0" bIns="0">
            <a:spAutoFit/>
          </a:bodyPr>
          <a:lstStyle/>
          <a:p>
            <a:pPr>
              <a:spcAft>
                <a:spcPts val="500"/>
              </a:spcAft>
              <a:defRPr sz="1600" b="1">
                <a:solidFill>
                  <a:srgbClr val="168C96"/>
                </a:solidFill>
                <a:latin typeface="Arial"/>
              </a:defRPr>
            </a:pPr>
            <a:r>
              <a:rPr cap="none"/>
              <a:t>Prefill policy</a:t>
            </a:r>
          </a:p>
        </p:txBody>
      </p:sp>
      <p:sp>
        <p:nvSpPr>
          <p:cNvPr id="6" name="TextBox 5"/>
          <p:cNvSpPr txBox="1"/>
          <p:nvPr/>
        </p:nvSpPr>
        <p:spPr>
          <a:xfrm>
            <a:off x="576072" y="2185415"/>
            <a:ext cx="3749039" cy="1792223"/>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Signal: average waiting requests</a:t>
            </a:r>
          </a:p>
          <a:p>
            <a:pPr>
              <a:spcAft>
                <a:spcPts val="500"/>
              </a:spcAft>
              <a:defRPr sz="1500" b="0">
                <a:solidFill>
                  <a:srgbClr val="142C46"/>
                </a:solidFill>
                <a:latin typeface="Arial"/>
              </a:defRPr>
            </a:pPr>
            <a:r>
              <a:rPr cap="none"/>
              <a:t>Replica range: 1–8</a:t>
            </a:r>
          </a:p>
          <a:p>
            <a:pPr>
              <a:spcAft>
                <a:spcPts val="500"/>
              </a:spcAft>
              <a:defRPr sz="1500" b="0">
                <a:solidFill>
                  <a:srgbClr val="142C46"/>
                </a:solidFill>
                <a:latin typeface="Arial"/>
              </a:defRPr>
            </a:pPr>
            <a:r>
              <a:rPr cap="none"/>
              <a:t>Scale up above 8; down below 1</a:t>
            </a:r>
          </a:p>
          <a:p>
            <a:pPr>
              <a:spcAft>
                <a:spcPts val="500"/>
              </a:spcAft>
              <a:defRPr sz="1500" b="0">
                <a:solidFill>
                  <a:srgbClr val="142C46"/>
                </a:solidFill>
                <a:latin typeface="Arial"/>
              </a:defRPr>
            </a:pPr>
            <a:r>
              <a:rPr cap="none"/>
              <a:t>At waiting = 12: scale up</a:t>
            </a:r>
          </a:p>
        </p:txBody>
      </p:sp>
      <p:sp>
        <p:nvSpPr>
          <p:cNvPr id="7" name="Rounded Rectangle 6"/>
          <p:cNvSpPr/>
          <p:nvPr/>
        </p:nvSpPr>
        <p:spPr>
          <a:xfrm>
            <a:off x="4663440" y="1554480"/>
            <a:ext cx="4078224" cy="2523744"/>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28031" y="1709928"/>
            <a:ext cx="3749039" cy="365760"/>
          </a:xfrm>
          <a:prstGeom prst="rect">
            <a:avLst/>
          </a:prstGeom>
          <a:noFill/>
        </p:spPr>
        <p:txBody>
          <a:bodyPr wrap="square" lIns="0" rIns="0" tIns="0" bIns="0">
            <a:spAutoFit/>
          </a:bodyPr>
          <a:lstStyle/>
          <a:p>
            <a:pPr>
              <a:spcAft>
                <a:spcPts val="500"/>
              </a:spcAft>
              <a:defRPr sz="1600" b="1">
                <a:solidFill>
                  <a:srgbClr val="8060C3"/>
                </a:solidFill>
                <a:latin typeface="Arial"/>
              </a:defRPr>
            </a:pPr>
            <a:r>
              <a:rPr cap="none"/>
              <a:t>Decode policy</a:t>
            </a:r>
          </a:p>
        </p:txBody>
      </p:sp>
      <p:sp>
        <p:nvSpPr>
          <p:cNvPr id="9" name="TextBox 8"/>
          <p:cNvSpPr txBox="1"/>
          <p:nvPr/>
        </p:nvSpPr>
        <p:spPr>
          <a:xfrm>
            <a:off x="4828031" y="2185415"/>
            <a:ext cx="3749039" cy="1792223"/>
          </a:xfrm>
          <a:prstGeom prst="rect">
            <a:avLst/>
          </a:prstGeom>
          <a:noFill/>
        </p:spPr>
        <p:txBody>
          <a:bodyPr wrap="square" lIns="0" rIns="0" tIns="0" bIns="0">
            <a:spAutoFit/>
          </a:bodyPr>
          <a:lstStyle/>
          <a:p>
            <a:pPr>
              <a:spcAft>
                <a:spcPts val="500"/>
              </a:spcAft>
              <a:defRPr sz="1500" b="0">
                <a:solidFill>
                  <a:srgbClr val="142C46"/>
                </a:solidFill>
                <a:latin typeface="Arial"/>
              </a:defRPr>
            </a:pPr>
            <a:r>
              <a:rPr cap="none"/>
              <a:t>Signal: average running requests</a:t>
            </a:r>
          </a:p>
          <a:p>
            <a:pPr>
              <a:spcAft>
                <a:spcPts val="500"/>
              </a:spcAft>
              <a:defRPr sz="1500" b="0">
                <a:solidFill>
                  <a:srgbClr val="142C46"/>
                </a:solidFill>
                <a:latin typeface="Arial"/>
              </a:defRPr>
            </a:pPr>
            <a:r>
              <a:rPr cap="none"/>
              <a:t>Replica range: 2–16</a:t>
            </a:r>
          </a:p>
          <a:p>
            <a:pPr>
              <a:spcAft>
                <a:spcPts val="500"/>
              </a:spcAft>
              <a:defRPr sz="1500" b="0">
                <a:solidFill>
                  <a:srgbClr val="142C46"/>
                </a:solidFill>
                <a:latin typeface="Arial"/>
              </a:defRPr>
            </a:pPr>
            <a:r>
              <a:rPr cap="none"/>
              <a:t>Scale up above 24; down below 4</a:t>
            </a:r>
          </a:p>
          <a:p>
            <a:pPr>
              <a:spcAft>
                <a:spcPts val="500"/>
              </a:spcAft>
              <a:defRPr sz="1500" b="0">
                <a:solidFill>
                  <a:srgbClr val="142C46"/>
                </a:solidFill>
                <a:latin typeface="Arial"/>
              </a:defRPr>
            </a:pPr>
            <a:r>
              <a:rPr cap="none"/>
              <a:t>At running = 12: hold</a:t>
            </a:r>
          </a:p>
        </p:txBody>
      </p:sp>
      <p:sp>
        <p:nvSpPr>
          <p:cNvPr id="10" name="Rounded Rectangle 9"/>
          <p:cNvSpPr/>
          <p:nvPr/>
        </p:nvSpPr>
        <p:spPr>
          <a:xfrm>
            <a:off x="365760" y="4425696"/>
            <a:ext cx="8412480" cy="347472"/>
          </a:xfrm>
          <a:prstGeom prst="roundRect">
            <a:avLst/>
          </a:prstGeom>
          <a:solidFill>
            <a:srgbClr val="EEF3FA"/>
          </a:solidFill>
          <a:ln>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4489704"/>
            <a:ext cx="8138160" cy="219456"/>
          </a:xfrm>
          <a:prstGeom prst="rect">
            <a:avLst/>
          </a:prstGeom>
          <a:noFill/>
        </p:spPr>
        <p:txBody>
          <a:bodyPr wrap="square" lIns="0" rIns="0" tIns="0" bIns="0">
            <a:spAutoFit/>
          </a:bodyPr>
          <a:lstStyle/>
          <a:p>
            <a:pPr>
              <a:spcAft>
                <a:spcPts val="500"/>
              </a:spcAft>
              <a:defRPr sz="1000" b="1">
                <a:solidFill>
                  <a:srgbClr val="142C46"/>
                </a:solidFill>
                <a:latin typeface="Arial"/>
              </a:defRPr>
            </a:pPr>
            <a:r>
              <a:rPr cap="none"/>
              <a:t>Requires an MRI adapter, child opt-in and one replica-count owner per role. Values are examples.</a:t>
            </a:r>
          </a:p>
        </p:txBody>
      </p:sp>
      <p:sp>
        <p:nvSpPr>
          <p:cNvPr id="12" name="TextBox 11"/>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13" name="TextBox 12"/>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46 / 49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cap="none" b="1">
                <a:solidFill>
                  <a:srgbClr val="142C46"/>
                </a:solidFill>
                <a:latin typeface="Arial"/>
              </a:rPr>
              <a:t>When should you use P/D—and when not?</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Two axes matter: how different the roles are, and what the KV-transfer path costs.</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Use P/D when the roles want different capacity AND KV transfer does not erase the gain.</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632204" y="1488186"/>
            <a:ext cx="3326130" cy="170816"/>
          </a:xfrm>
          <a:prstGeom prst="rect">
            <a:avLst/>
          </a:prstGeom>
          <a:noFill/>
        </p:spPr>
        <p:txBody>
          <a:bodyPr wrap="square" lIns="10287" tIns="10287" rIns="10287" bIns="10287">
            <a:spAutoFit/>
          </a:bodyPr>
          <a:lstStyle/>
          <a:p>
            <a:pPr algn="ctr">
              <a:spcAft>
                <a:spcPts val="375"/>
              </a:spcAft>
              <a:defRPr sz="1300" b="1">
                <a:solidFill>
                  <a:srgbClr val="AE641A"/>
                </a:solidFill>
                <a:latin typeface="Arial"/>
              </a:defRPr>
            </a:pPr>
            <a:r>
              <a:rPr sz="975" cap="none">
                <a:latin typeface="Arial"/>
              </a:rPr>
              <a:t>Expensive / weak KV transfer</a:t>
            </a:r>
          </a:p>
        </p:txBody>
      </p:sp>
      <p:sp>
        <p:nvSpPr>
          <p:cNvPr id="11" name="TextBox 10"/>
          <p:cNvSpPr txBox="1"/>
          <p:nvPr/>
        </p:nvSpPr>
        <p:spPr>
          <a:xfrm>
            <a:off x="5273802" y="1488186"/>
            <a:ext cx="3326130" cy="170816"/>
          </a:xfrm>
          <a:prstGeom prst="rect">
            <a:avLst/>
          </a:prstGeom>
          <a:noFill/>
        </p:spPr>
        <p:txBody>
          <a:bodyPr wrap="square" lIns="10287" tIns="10287" rIns="10287" bIns="10287">
            <a:spAutoFit/>
          </a:bodyPr>
          <a:lstStyle/>
          <a:p>
            <a:pPr algn="ctr">
              <a:spcAft>
                <a:spcPts val="375"/>
              </a:spcAft>
              <a:defRPr sz="1300" b="1">
                <a:solidFill>
                  <a:srgbClr val="087F8C"/>
                </a:solidFill>
                <a:latin typeface="Arial"/>
              </a:defRPr>
            </a:pPr>
            <a:r>
              <a:rPr sz="975" cap="none">
                <a:latin typeface="Arial"/>
              </a:rPr>
              <a:t>Cheap / fast enough KV transfer</a:t>
            </a:r>
          </a:p>
        </p:txBody>
      </p:sp>
      <p:sp>
        <p:nvSpPr>
          <p:cNvPr id="12" name="TextBox 11"/>
          <p:cNvSpPr txBox="1"/>
          <p:nvPr/>
        </p:nvSpPr>
        <p:spPr>
          <a:xfrm>
            <a:off x="377190" y="1988820"/>
            <a:ext cx="1062990" cy="608115"/>
          </a:xfrm>
          <a:prstGeom prst="rect">
            <a:avLst/>
          </a:prstGeom>
          <a:noFill/>
        </p:spPr>
        <p:txBody>
          <a:bodyPr wrap="square" lIns="10287" tIns="10287" rIns="10287" bIns="10287">
            <a:spAutoFit/>
          </a:bodyPr>
          <a:lstStyle/>
          <a:p>
            <a:pPr>
              <a:spcAft>
                <a:spcPts val="375"/>
              </a:spcAft>
              <a:defRPr sz="1400" b="1">
                <a:solidFill>
                  <a:srgbClr val="172941"/>
                </a:solidFill>
                <a:latin typeface="Arial"/>
              </a:defRPr>
            </a:pPr>
            <a:r>
              <a:rPr sz="1050" cap="none">
                <a:latin typeface="Arial"/>
              </a:rPr>
              <a:t>Different</a:t>
            </a:r>
          </a:p>
          <a:p>
            <a:pPr>
              <a:spcAft>
                <a:spcPts val="375"/>
              </a:spcAft>
              <a:defRPr sz="1400" b="1">
                <a:solidFill>
                  <a:srgbClr val="172941"/>
                </a:solidFill>
                <a:latin typeface="Arial"/>
              </a:defRPr>
            </a:pPr>
            <a:r>
              <a:rPr sz="1050" cap="none">
                <a:latin typeface="Arial"/>
              </a:rPr>
              <a:t>bottlenecks /</a:t>
            </a:r>
          </a:p>
          <a:p>
            <a:pPr>
              <a:spcAft>
                <a:spcPts val="375"/>
              </a:spcAft>
              <a:defRPr sz="1400" b="1">
                <a:solidFill>
                  <a:srgbClr val="172941"/>
                </a:solidFill>
                <a:latin typeface="Arial"/>
              </a:defRPr>
            </a:pPr>
            <a:r>
              <a:rPr sz="1050" cap="none">
                <a:latin typeface="Arial"/>
              </a:rPr>
              <a:t>scaling needs</a:t>
            </a:r>
          </a:p>
        </p:txBody>
      </p:sp>
      <p:sp>
        <p:nvSpPr>
          <p:cNvPr id="13" name="TextBox 12"/>
          <p:cNvSpPr txBox="1"/>
          <p:nvPr/>
        </p:nvSpPr>
        <p:spPr>
          <a:xfrm>
            <a:off x="377190" y="3250692"/>
            <a:ext cx="1062990" cy="608115"/>
          </a:xfrm>
          <a:prstGeom prst="rect">
            <a:avLst/>
          </a:prstGeom>
          <a:noFill/>
        </p:spPr>
        <p:txBody>
          <a:bodyPr wrap="square" lIns="10287" tIns="10287" rIns="10287" bIns="10287">
            <a:spAutoFit/>
          </a:bodyPr>
          <a:lstStyle/>
          <a:p>
            <a:pPr>
              <a:spcAft>
                <a:spcPts val="375"/>
              </a:spcAft>
              <a:defRPr sz="1400" b="1">
                <a:solidFill>
                  <a:srgbClr val="586A80"/>
                </a:solidFill>
                <a:latin typeface="Arial"/>
              </a:defRPr>
            </a:pPr>
            <a:r>
              <a:rPr sz="1050" cap="none">
                <a:latin typeface="Arial"/>
              </a:rPr>
              <a:t>Similar</a:t>
            </a:r>
          </a:p>
          <a:p>
            <a:pPr>
              <a:spcAft>
                <a:spcPts val="375"/>
              </a:spcAft>
              <a:defRPr sz="1400" b="1">
                <a:solidFill>
                  <a:srgbClr val="586A80"/>
                </a:solidFill>
                <a:latin typeface="Arial"/>
              </a:defRPr>
            </a:pPr>
            <a:r>
              <a:rPr sz="1050" cap="none">
                <a:latin typeface="Arial"/>
              </a:rPr>
              <a:t>bottlenecks /</a:t>
            </a:r>
          </a:p>
          <a:p>
            <a:pPr>
              <a:spcAft>
                <a:spcPts val="375"/>
              </a:spcAft>
              <a:defRPr sz="1400" b="1">
                <a:solidFill>
                  <a:srgbClr val="586A80"/>
                </a:solidFill>
                <a:latin typeface="Arial"/>
              </a:defRPr>
            </a:pPr>
            <a:r>
              <a:rPr sz="1050" cap="none">
                <a:latin typeface="Arial"/>
              </a:rPr>
              <a:t>scaling needs</a:t>
            </a:r>
          </a:p>
        </p:txBody>
      </p:sp>
      <p:sp>
        <p:nvSpPr>
          <p:cNvPr id="14" name="Rounded Rectangle 13"/>
          <p:cNvSpPr/>
          <p:nvPr/>
        </p:nvSpPr>
        <p:spPr>
          <a:xfrm>
            <a:off x="1577340" y="1837944"/>
            <a:ext cx="3463290" cy="1014984"/>
          </a:xfrm>
          <a:prstGeom prst="roundRect">
            <a:avLst>
              <a:gd name="adj" fmla="val 10000"/>
            </a:avLst>
          </a:prstGeom>
          <a:solidFill>
            <a:srgbClr val="FFF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5" name="TextBox 14"/>
          <p:cNvSpPr txBox="1"/>
          <p:nvPr/>
        </p:nvSpPr>
        <p:spPr>
          <a:xfrm>
            <a:off x="1700784" y="1947672"/>
            <a:ext cx="3216402" cy="205441"/>
          </a:xfrm>
          <a:prstGeom prst="rect">
            <a:avLst/>
          </a:prstGeom>
          <a:noFill/>
        </p:spPr>
        <p:txBody>
          <a:bodyPr wrap="square" lIns="10287" tIns="10287" rIns="10287" bIns="10287">
            <a:spAutoFit/>
          </a:bodyPr>
          <a:lstStyle/>
          <a:p>
            <a:pPr>
              <a:spcAft>
                <a:spcPts val="375"/>
              </a:spcAft>
              <a:defRPr sz="1600" b="1">
                <a:solidFill>
                  <a:srgbClr val="AE641A"/>
                </a:solidFill>
                <a:latin typeface="Arial"/>
              </a:defRPr>
            </a:pPr>
            <a:r>
              <a:rPr sz="1200" cap="none">
                <a:latin typeface="Arial"/>
              </a:rPr>
              <a:t>Improve topology first</a:t>
            </a:r>
          </a:p>
        </p:txBody>
      </p:sp>
      <p:sp>
        <p:nvSpPr>
          <p:cNvPr id="16" name="TextBox 15"/>
          <p:cNvSpPr txBox="1"/>
          <p:nvPr/>
        </p:nvSpPr>
        <p:spPr>
          <a:xfrm>
            <a:off x="1700784" y="2297430"/>
            <a:ext cx="3216402"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Independent capacity may help.</a:t>
            </a:r>
          </a:p>
          <a:p>
            <a:pPr>
              <a:spcAft>
                <a:spcPts val="375"/>
              </a:spcAft>
              <a:defRPr sz="1500" b="0">
                <a:solidFill>
                  <a:srgbClr val="172941"/>
                </a:solidFill>
                <a:latin typeface="Arial"/>
              </a:defRPr>
            </a:pPr>
            <a:r>
              <a:rPr sz="1125" cap="none">
                <a:latin typeface="Arial"/>
              </a:rPr>
              <a:t>Transfer overhead may erase the gain.</a:t>
            </a:r>
          </a:p>
        </p:txBody>
      </p:sp>
      <p:sp>
        <p:nvSpPr>
          <p:cNvPr id="17" name="Rounded Rectangle 16"/>
          <p:cNvSpPr/>
          <p:nvPr/>
        </p:nvSpPr>
        <p:spPr>
          <a:xfrm>
            <a:off x="5225796" y="1837944"/>
            <a:ext cx="3538728" cy="1014984"/>
          </a:xfrm>
          <a:prstGeom prst="roundRect">
            <a:avLst>
              <a:gd name="adj" fmla="val 10000"/>
            </a:avLst>
          </a:prstGeom>
          <a:solidFill>
            <a:srgbClr val="E4F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8" name="TextBox 17"/>
          <p:cNvSpPr txBox="1"/>
          <p:nvPr/>
        </p:nvSpPr>
        <p:spPr>
          <a:xfrm>
            <a:off x="5349240" y="1947672"/>
            <a:ext cx="3291840" cy="205441"/>
          </a:xfrm>
          <a:prstGeom prst="rect">
            <a:avLst/>
          </a:prstGeom>
          <a:noFill/>
        </p:spPr>
        <p:txBody>
          <a:bodyPr wrap="square" lIns="10287" tIns="10287" rIns="10287" bIns="10287">
            <a:spAutoFit/>
          </a:bodyPr>
          <a:lstStyle/>
          <a:p>
            <a:pPr>
              <a:spcAft>
                <a:spcPts val="375"/>
              </a:spcAft>
              <a:defRPr sz="1600" b="1">
                <a:solidFill>
                  <a:srgbClr val="247952"/>
                </a:solidFill>
                <a:latin typeface="Arial"/>
              </a:defRPr>
            </a:pPr>
            <a:r>
              <a:rPr sz="1200" cap="none">
                <a:latin typeface="Arial"/>
              </a:rPr>
              <a:t>Strong P/D candidate</a:t>
            </a:r>
          </a:p>
        </p:txBody>
      </p:sp>
      <p:sp>
        <p:nvSpPr>
          <p:cNvPr id="19" name="TextBox 18"/>
          <p:cNvSpPr txBox="1"/>
          <p:nvPr/>
        </p:nvSpPr>
        <p:spPr>
          <a:xfrm>
            <a:off x="5349240" y="2297430"/>
            <a:ext cx="3291840"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Different role capacity or parallelism.</a:t>
            </a:r>
          </a:p>
          <a:p>
            <a:pPr>
              <a:spcAft>
                <a:spcPts val="375"/>
              </a:spcAft>
              <a:defRPr sz="1500" b="0">
                <a:solidFill>
                  <a:srgbClr val="172941"/>
                </a:solidFill>
                <a:latin typeface="Arial"/>
              </a:defRPr>
            </a:pPr>
            <a:r>
              <a:rPr sz="1125" cap="none">
                <a:latin typeface="Arial"/>
              </a:rPr>
              <a:t>Validate the gain at matched SLO + cost.</a:t>
            </a:r>
          </a:p>
        </p:txBody>
      </p:sp>
      <p:sp>
        <p:nvSpPr>
          <p:cNvPr id="20" name="Rounded Rectangle 19"/>
          <p:cNvSpPr/>
          <p:nvPr/>
        </p:nvSpPr>
        <p:spPr>
          <a:xfrm>
            <a:off x="1577340" y="3010661"/>
            <a:ext cx="3463290" cy="1014984"/>
          </a:xfrm>
          <a:prstGeom prst="roundRect">
            <a:avLst>
              <a:gd name="adj" fmla="val 10000"/>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TextBox 20"/>
          <p:cNvSpPr txBox="1"/>
          <p:nvPr/>
        </p:nvSpPr>
        <p:spPr>
          <a:xfrm>
            <a:off x="1700784" y="3120390"/>
            <a:ext cx="3216402" cy="205441"/>
          </a:xfrm>
          <a:prstGeom prst="rect">
            <a:avLst/>
          </a:prstGeom>
          <a:noFill/>
        </p:spPr>
        <p:txBody>
          <a:bodyPr wrap="square" lIns="10287" tIns="10287" rIns="10287" bIns="10287">
            <a:spAutoFit/>
          </a:bodyPr>
          <a:lstStyle/>
          <a:p>
            <a:pPr>
              <a:spcAft>
                <a:spcPts val="375"/>
              </a:spcAft>
              <a:defRPr sz="1600" b="1">
                <a:solidFill>
                  <a:srgbClr val="586A80"/>
                </a:solidFill>
                <a:latin typeface="Arial"/>
              </a:defRPr>
            </a:pPr>
            <a:r>
              <a:rPr sz="1200" cap="none">
                <a:latin typeface="Arial"/>
              </a:rPr>
              <a:t>Stay aggregated</a:t>
            </a:r>
          </a:p>
        </p:txBody>
      </p:sp>
      <p:sp>
        <p:nvSpPr>
          <p:cNvPr id="22" name="TextBox 21"/>
          <p:cNvSpPr txBox="1"/>
          <p:nvPr/>
        </p:nvSpPr>
        <p:spPr>
          <a:xfrm>
            <a:off x="1700784" y="3470148"/>
            <a:ext cx="3216402"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Little role separation benefit,</a:t>
            </a:r>
          </a:p>
          <a:p>
            <a:pPr>
              <a:spcAft>
                <a:spcPts val="375"/>
              </a:spcAft>
              <a:defRPr sz="1500" b="0">
                <a:solidFill>
                  <a:srgbClr val="172941"/>
                </a:solidFill>
                <a:latin typeface="Arial"/>
              </a:defRPr>
            </a:pPr>
            <a:r>
              <a:rPr sz="1125" cap="none">
                <a:latin typeface="Arial"/>
              </a:rPr>
              <a:t>plus an expensive transfer path.</a:t>
            </a:r>
          </a:p>
        </p:txBody>
      </p:sp>
      <p:sp>
        <p:nvSpPr>
          <p:cNvPr id="23" name="Rounded Rectangle 22"/>
          <p:cNvSpPr/>
          <p:nvPr/>
        </p:nvSpPr>
        <p:spPr>
          <a:xfrm>
            <a:off x="5225796" y="3010661"/>
            <a:ext cx="3538728" cy="10149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4" name="TextBox 23"/>
          <p:cNvSpPr txBox="1"/>
          <p:nvPr/>
        </p:nvSpPr>
        <p:spPr>
          <a:xfrm>
            <a:off x="5349240" y="3120390"/>
            <a:ext cx="3291840" cy="205441"/>
          </a:xfrm>
          <a:prstGeom prst="rect">
            <a:avLst/>
          </a:prstGeom>
          <a:noFill/>
        </p:spPr>
        <p:txBody>
          <a:bodyPr wrap="square" lIns="10287" tIns="10287" rIns="10287" bIns="10287">
            <a:spAutoFit/>
          </a:bodyPr>
          <a:lstStyle/>
          <a:p>
            <a:pPr>
              <a:spcAft>
                <a:spcPts val="375"/>
              </a:spcAft>
              <a:defRPr sz="1600" b="1">
                <a:solidFill>
                  <a:srgbClr val="2563EB"/>
                </a:solidFill>
                <a:latin typeface="Arial"/>
              </a:defRPr>
            </a:pPr>
            <a:r>
              <a:rPr sz="1200" cap="none">
                <a:latin typeface="Arial"/>
              </a:rPr>
              <a:t>Usually stay aggregated</a:t>
            </a:r>
          </a:p>
        </p:txBody>
      </p:sp>
      <p:sp>
        <p:nvSpPr>
          <p:cNvPr id="25" name="TextBox 24"/>
          <p:cNvSpPr txBox="1"/>
          <p:nvPr/>
        </p:nvSpPr>
        <p:spPr>
          <a:xfrm>
            <a:off x="5349240" y="3470148"/>
            <a:ext cx="3291840" cy="418320"/>
          </a:xfrm>
          <a:prstGeom prst="rect">
            <a:avLst/>
          </a:prstGeom>
          <a:noFill/>
        </p:spPr>
        <p:txBody>
          <a:bodyPr wrap="square" lIns="10287" tIns="10287" rIns="10287" bIns="10287">
            <a:spAutoFit/>
          </a:bodyPr>
          <a:lstStyle/>
          <a:p>
            <a:pPr>
              <a:spcAft>
                <a:spcPts val="375"/>
              </a:spcAft>
              <a:defRPr sz="1500" b="0">
                <a:solidFill>
                  <a:srgbClr val="172941"/>
                </a:solidFill>
                <a:latin typeface="Arial"/>
              </a:defRPr>
            </a:pPr>
            <a:r>
              <a:rPr sz="1125" cap="none">
                <a:latin typeface="Arial"/>
              </a:rPr>
              <a:t>Fast fabric alone is not a reason to split.</a:t>
            </a:r>
          </a:p>
          <a:p>
            <a:pPr>
              <a:spcAft>
                <a:spcPts val="375"/>
              </a:spcAft>
              <a:defRPr sz="1500" b="0">
                <a:solidFill>
                  <a:srgbClr val="172941"/>
                </a:solidFill>
                <a:latin typeface="Arial"/>
              </a:defRPr>
            </a:pPr>
            <a:r>
              <a:rPr sz="1125" cap="none">
                <a:latin typeface="Arial"/>
              </a:rPr>
              <a:t>Operational gains may be limited.</a:t>
            </a:r>
          </a:p>
        </p:txBody>
      </p:sp>
      <p:sp>
        <p:nvSpPr>
          <p:cNvPr id="26" name="TextBox 25"/>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7" name="TextBox 26"/>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47 / 49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539496"/>
            <a:ext cx="8412480" cy="420624"/>
          </a:xfrm>
          <a:prstGeom prst="rect">
            <a:avLst/>
          </a:prstGeom>
          <a:noFill/>
        </p:spPr>
        <p:txBody>
          <a:bodyPr wrap="none" lIns="0" tIns="0" rIns="0" bIns="0">
            <a:spAutoFit/>
          </a:bodyPr>
          <a:lstStyle/>
          <a:p>
            <a:pPr>
              <a:spcAft>
                <a:spcPts val="375"/>
              </a:spcAft>
              <a:defRPr sz="2900" b="1">
                <a:solidFill>
                  <a:srgbClr val="172941"/>
                </a:solidFill>
                <a:latin typeface="Arial"/>
              </a:defRPr>
            </a:pPr>
            <a:r>
              <a:rPr sz="2100" dirty="0" cap="none" b="1">
                <a:solidFill>
                  <a:srgbClr val="142C46"/>
                </a:solidFill>
                <a:latin typeface="Arial"/>
              </a:rPr>
              <a:t>What’s next for KAITO + </a:t>
            </a:r>
            <a:r>
              <a:rPr sz="2100" dirty="0" err="1" cap="none" b="1">
                <a:solidFill>
                  <a:srgbClr val="142C46"/>
                </a:solidFill>
                <a:latin typeface="Arial"/>
              </a:rPr>
              <a:t>llm</a:t>
            </a:r>
            <a:r>
              <a:rPr sz="2100" dirty="0" cap="none" b="1">
                <a:solidFill>
                  <a:srgbClr val="142C46"/>
                </a:solidFill>
                <a:latin typeface="Arial"/>
              </a:rPr>
              <a:t>-d</a:t>
            </a:r>
          </a:p>
        </p:txBody>
      </p:sp>
      <p:sp>
        <p:nvSpPr>
          <p:cNvPr id="4" name="TextBox 3"/>
          <p:cNvSpPr txBox="1"/>
          <p:nvPr/>
        </p:nvSpPr>
        <p:spPr>
          <a:xfrm>
            <a:off x="384048" y="1033271"/>
            <a:ext cx="8321040" cy="329184"/>
          </a:xfrm>
          <a:prstGeom prst="rect">
            <a:avLst/>
          </a:prstGeom>
          <a:noFill/>
        </p:spPr>
        <p:txBody>
          <a:bodyPr wrap="square" lIns="10287" tIns="10287" rIns="10287" bIns="10287">
            <a:spAutoFit/>
          </a:bodyPr>
          <a:lstStyle/>
          <a:p>
            <a:pPr>
              <a:spcAft>
                <a:spcPts val="375"/>
              </a:spcAft>
              <a:defRPr sz="1700" b="0">
                <a:solidFill>
                  <a:srgbClr val="586A80"/>
                </a:solidFill>
                <a:latin typeface="Arial"/>
              </a:defRPr>
            </a:pPr>
            <a:r>
              <a:rPr sz="1200" cap="none">
                <a:solidFill>
                  <a:srgbClr val="52677D"/>
                </a:solidFill>
                <a:latin typeface="Arial"/>
              </a:rPr>
              <a:t>Build on P/D with better cache reuse, richer role layouts and larger-scale execution.</a:t>
            </a:r>
          </a:p>
        </p:txBody>
      </p:sp>
      <p:sp>
        <p:nvSpPr>
          <p:cNvPr id="5" name="Rectangle 4"/>
          <p:cNvSpPr/>
          <p:nvPr/>
        </p:nvSpPr>
        <p:spPr>
          <a:xfrm>
            <a:off x="342900" y="4375404"/>
            <a:ext cx="8455914" cy="363474"/>
          </a:xfrm>
          <a:prstGeom prst="rect">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6" name="TextBox 5"/>
          <p:cNvSpPr txBox="1"/>
          <p:nvPr/>
        </p:nvSpPr>
        <p:spPr>
          <a:xfrm>
            <a:off x="466344" y="4450842"/>
            <a:ext cx="8209026" cy="193899"/>
          </a:xfrm>
          <a:prstGeom prst="rect">
            <a:avLst/>
          </a:prstGeom>
          <a:noFill/>
        </p:spPr>
        <p:txBody>
          <a:bodyPr wrap="square" lIns="10287" tIns="10287" rIns="10287" bIns="10287">
            <a:spAutoFit/>
          </a:bodyPr>
          <a:lstStyle/>
          <a:p>
            <a:pPr>
              <a:spcAft>
                <a:spcPts val="375"/>
              </a:spcAft>
              <a:defRPr sz="1500" b="1">
                <a:solidFill>
                  <a:srgbClr val="172941"/>
                </a:solidFill>
                <a:latin typeface="Arial"/>
              </a:defRPr>
            </a:pPr>
            <a:r>
              <a:rPr sz="1125" cap="none">
                <a:latin typeface="Arial"/>
              </a:rPr>
              <a:t>Integration directions—not release dates or claims that every upstream capability is new.</a:t>
            </a:r>
          </a:p>
        </p:txBody>
      </p:sp>
      <p:cxnSp>
        <p:nvCxnSpPr>
          <p:cNvPr id="7" name="Connector 6"/>
          <p:cNvCxnSpPr/>
          <p:nvPr/>
        </p:nvCxnSpPr>
        <p:spPr>
          <a:xfrm>
            <a:off x="342900" y="4882896"/>
            <a:ext cx="8455914" cy="0"/>
          </a:xfrm>
          <a:prstGeom prst="line">
            <a:avLst/>
          </a:prstGeom>
          <a:ln w="8890">
            <a:solidFill>
              <a:srgbClr val="D9E2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7190" y="1611630"/>
            <a:ext cx="2708910" cy="25511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1" name="Rectangle 10"/>
          <p:cNvSpPr/>
          <p:nvPr/>
        </p:nvSpPr>
        <p:spPr>
          <a:xfrm>
            <a:off x="500634" y="1748790"/>
            <a:ext cx="260604" cy="44577"/>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2" name="TextBox 11"/>
          <p:cNvSpPr txBox="1"/>
          <p:nvPr/>
        </p:nvSpPr>
        <p:spPr>
          <a:xfrm>
            <a:off x="514350" y="1865376"/>
            <a:ext cx="2434590" cy="147733"/>
          </a:xfrm>
          <a:prstGeom prst="rect">
            <a:avLst/>
          </a:prstGeom>
          <a:noFill/>
        </p:spPr>
        <p:txBody>
          <a:bodyPr wrap="square" lIns="10287" tIns="10287" rIns="10287" bIns="10287">
            <a:spAutoFit/>
          </a:bodyPr>
          <a:lstStyle/>
          <a:p>
            <a:pPr>
              <a:spcAft>
                <a:spcPts val="375"/>
              </a:spcAft>
              <a:defRPr sz="1100" b="1">
                <a:solidFill>
                  <a:srgbClr val="087F8C"/>
                </a:solidFill>
                <a:latin typeface="Arial"/>
              </a:defRPr>
            </a:pPr>
            <a:r>
              <a:rPr sz="825" cap="none">
                <a:latin typeface="Arial"/>
              </a:rPr>
              <a:t>Near term</a:t>
            </a:r>
          </a:p>
        </p:txBody>
      </p:sp>
      <p:sp>
        <p:nvSpPr>
          <p:cNvPr id="13" name="TextBox 12"/>
          <p:cNvSpPr txBox="1"/>
          <p:nvPr/>
        </p:nvSpPr>
        <p:spPr>
          <a:xfrm>
            <a:off x="514350" y="2146554"/>
            <a:ext cx="2434590" cy="251607"/>
          </a:xfrm>
          <a:prstGeom prst="rect">
            <a:avLst/>
          </a:prstGeom>
          <a:noFill/>
        </p:spPr>
        <p:txBody>
          <a:bodyPr wrap="square" lIns="10287" tIns="10287" rIns="10287" bIns="10287">
            <a:spAutoFit/>
          </a:bodyPr>
          <a:lstStyle/>
          <a:p>
            <a:pPr>
              <a:spcAft>
                <a:spcPts val="375"/>
              </a:spcAft>
              <a:defRPr sz="2000" b="1">
                <a:solidFill>
                  <a:srgbClr val="087F8C"/>
                </a:solidFill>
                <a:latin typeface="Arial"/>
              </a:defRPr>
            </a:pPr>
            <a:r>
              <a:rPr sz="1500" cap="none">
                <a:latin typeface="Arial"/>
              </a:rPr>
              <a:t>Cache-aware serving</a:t>
            </a:r>
          </a:p>
        </p:txBody>
      </p:sp>
      <p:sp>
        <p:nvSpPr>
          <p:cNvPr id="14" name="TextBox 13"/>
          <p:cNvSpPr txBox="1"/>
          <p:nvPr/>
        </p:nvSpPr>
        <p:spPr>
          <a:xfrm>
            <a:off x="514350" y="2599182"/>
            <a:ext cx="2434590" cy="1206997"/>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KV-event-based</a:t>
            </a:r>
          </a:p>
          <a:p>
            <a:pPr>
              <a:spcAft>
                <a:spcPts val="375"/>
              </a:spcAft>
              <a:defRPr sz="1700" b="0">
                <a:solidFill>
                  <a:srgbClr val="172941"/>
                </a:solidFill>
                <a:latin typeface="Arial"/>
              </a:defRPr>
            </a:pPr>
            <a:r>
              <a:rPr sz="1275" cap="none">
                <a:latin typeface="Arial"/>
              </a:rPr>
              <a:t>prefix-cache routing</a:t>
            </a:r>
          </a:p>
          <a:p>
            <a:pPr>
              <a:spcAft>
                <a:spcPts val="375"/>
              </a:spcAft>
              <a:defRPr sz="1700" b="0">
                <a:solidFill>
                  <a:srgbClr val="172941"/>
                </a:solidFill>
                <a:latin typeface="Arial"/>
              </a:defRPr>
            </a:pPr>
            <a:endParaRPr sz="1275"/>
          </a:p>
          <a:p>
            <a:pPr>
              <a:spcAft>
                <a:spcPts val="375"/>
              </a:spcAft>
              <a:defRPr sz="1700" b="0">
                <a:solidFill>
                  <a:srgbClr val="172941"/>
                </a:solidFill>
                <a:latin typeface="Arial"/>
              </a:defRPr>
            </a:pPr>
            <a:r>
              <a:rPr sz="1275" cap="none">
                <a:latin typeface="Arial"/>
              </a:rPr>
              <a:t>Tiered cache: HBM + CPU RAM</a:t>
            </a:r>
          </a:p>
          <a:p>
            <a:pPr>
              <a:spcAft>
                <a:spcPts val="375"/>
              </a:spcAft>
              <a:defRPr sz="1700" b="0">
                <a:solidFill>
                  <a:srgbClr val="172941"/>
                </a:solidFill>
                <a:latin typeface="Arial"/>
              </a:defRPr>
            </a:pPr>
            <a:r>
              <a:rPr sz="1275" cap="none">
                <a:latin typeface="Arial"/>
              </a:rPr>
              <a:t>+ optional filesystem tiers</a:t>
            </a:r>
          </a:p>
        </p:txBody>
      </p:sp>
      <p:sp>
        <p:nvSpPr>
          <p:cNvPr id="15" name="Rounded Rectangle 14"/>
          <p:cNvSpPr/>
          <p:nvPr/>
        </p:nvSpPr>
        <p:spPr>
          <a:xfrm>
            <a:off x="3216402" y="1611630"/>
            <a:ext cx="2708910" cy="25511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6" name="Rectangle 15"/>
          <p:cNvSpPr/>
          <p:nvPr/>
        </p:nvSpPr>
        <p:spPr>
          <a:xfrm>
            <a:off x="3339845" y="1748790"/>
            <a:ext cx="260604" cy="44577"/>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17" name="TextBox 16"/>
          <p:cNvSpPr txBox="1"/>
          <p:nvPr/>
        </p:nvSpPr>
        <p:spPr>
          <a:xfrm>
            <a:off x="3353562" y="1865376"/>
            <a:ext cx="2434590" cy="147733"/>
          </a:xfrm>
          <a:prstGeom prst="rect">
            <a:avLst/>
          </a:prstGeom>
          <a:noFill/>
        </p:spPr>
        <p:txBody>
          <a:bodyPr wrap="square" lIns="10287" tIns="10287" rIns="10287" bIns="10287">
            <a:spAutoFit/>
          </a:bodyPr>
          <a:lstStyle/>
          <a:p>
            <a:pPr>
              <a:spcAft>
                <a:spcPts val="375"/>
              </a:spcAft>
              <a:defRPr sz="1100" b="1">
                <a:solidFill>
                  <a:srgbClr val="2563EB"/>
                </a:solidFill>
                <a:latin typeface="Arial"/>
              </a:defRPr>
            </a:pPr>
            <a:r>
              <a:rPr sz="825" cap="none">
                <a:latin typeface="Arial"/>
              </a:rPr>
              <a:t>Next topology</a:t>
            </a:r>
          </a:p>
        </p:txBody>
      </p:sp>
      <p:sp>
        <p:nvSpPr>
          <p:cNvPr id="18" name="TextBox 17"/>
          <p:cNvSpPr txBox="1"/>
          <p:nvPr/>
        </p:nvSpPr>
        <p:spPr>
          <a:xfrm>
            <a:off x="3353562" y="2146554"/>
            <a:ext cx="2434590" cy="251607"/>
          </a:xfrm>
          <a:prstGeom prst="rect">
            <a:avLst/>
          </a:prstGeom>
          <a:noFill/>
        </p:spPr>
        <p:txBody>
          <a:bodyPr wrap="square" lIns="10287" tIns="10287" rIns="10287" bIns="10287">
            <a:spAutoFit/>
          </a:bodyPr>
          <a:lstStyle/>
          <a:p>
            <a:pPr>
              <a:spcAft>
                <a:spcPts val="375"/>
              </a:spcAft>
              <a:defRPr sz="2000" b="1">
                <a:solidFill>
                  <a:srgbClr val="2563EB"/>
                </a:solidFill>
                <a:latin typeface="Arial"/>
              </a:defRPr>
            </a:pPr>
            <a:r>
              <a:rPr sz="1500" cap="none">
                <a:latin typeface="Arial"/>
              </a:rPr>
              <a:t>E/P/D</a:t>
            </a:r>
          </a:p>
        </p:txBody>
      </p:sp>
      <p:sp>
        <p:nvSpPr>
          <p:cNvPr id="19" name="TextBox 18"/>
          <p:cNvSpPr txBox="1"/>
          <p:nvPr/>
        </p:nvSpPr>
        <p:spPr>
          <a:xfrm>
            <a:off x="3353562" y="2599182"/>
            <a:ext cx="2434590" cy="959493"/>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Encode / Prefill / Decode</a:t>
            </a:r>
          </a:p>
          <a:p>
            <a:pPr>
              <a:spcAft>
                <a:spcPts val="375"/>
              </a:spcAft>
              <a:defRPr sz="1700" b="0">
                <a:solidFill>
                  <a:srgbClr val="172941"/>
                </a:solidFill>
                <a:latin typeface="Arial"/>
              </a:defRPr>
            </a:pPr>
            <a:endParaRPr sz="1275"/>
          </a:p>
          <a:p>
            <a:pPr>
              <a:spcAft>
                <a:spcPts val="375"/>
              </a:spcAft>
              <a:defRPr sz="1700" b="0">
                <a:solidFill>
                  <a:srgbClr val="172941"/>
                </a:solidFill>
                <a:latin typeface="Arial"/>
              </a:defRPr>
            </a:pPr>
            <a:r>
              <a:rPr sz="1275" cap="none">
                <a:latin typeface="Arial"/>
              </a:rPr>
              <a:t>Extend role-based serving</a:t>
            </a:r>
          </a:p>
          <a:p>
            <a:pPr>
              <a:spcAft>
                <a:spcPts val="375"/>
              </a:spcAft>
              <a:defRPr sz="1700" b="0">
                <a:solidFill>
                  <a:srgbClr val="172941"/>
                </a:solidFill>
                <a:latin typeface="Arial"/>
              </a:defRPr>
            </a:pPr>
            <a:r>
              <a:rPr sz="1275" cap="none">
                <a:latin typeface="Arial"/>
              </a:rPr>
              <a:t>to richer inference topologies.</a:t>
            </a:r>
          </a:p>
        </p:txBody>
      </p:sp>
      <p:sp>
        <p:nvSpPr>
          <p:cNvPr id="20" name="Rounded Rectangle 19"/>
          <p:cNvSpPr/>
          <p:nvPr/>
        </p:nvSpPr>
        <p:spPr>
          <a:xfrm>
            <a:off x="6055614" y="1611630"/>
            <a:ext cx="2708910" cy="2551176"/>
          </a:xfrm>
          <a:prstGeom prst="roundRect">
            <a:avLst>
              <a:gd name="adj" fmla="val 10000"/>
            </a:avLst>
          </a:prstGeom>
          <a:solidFill>
            <a:srgbClr val="FFFFFF"/>
          </a:solidFill>
          <a:ln w="12700">
            <a:solidFill>
              <a:srgbClr val="D9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1" name="Rectangle 20"/>
          <p:cNvSpPr/>
          <p:nvPr/>
        </p:nvSpPr>
        <p:spPr>
          <a:xfrm>
            <a:off x="6179058" y="1748790"/>
            <a:ext cx="260604" cy="44577"/>
          </a:xfrm>
          <a:prstGeom prst="rect">
            <a:avLst/>
          </a:prstGeom>
          <a:solidFill>
            <a:srgbClr val="7354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22" name="TextBox 21"/>
          <p:cNvSpPr txBox="1"/>
          <p:nvPr/>
        </p:nvSpPr>
        <p:spPr>
          <a:xfrm>
            <a:off x="6192773" y="1865376"/>
            <a:ext cx="2434590" cy="147733"/>
          </a:xfrm>
          <a:prstGeom prst="rect">
            <a:avLst/>
          </a:prstGeom>
          <a:noFill/>
        </p:spPr>
        <p:txBody>
          <a:bodyPr wrap="square" lIns="10287" tIns="10287" rIns="10287" bIns="10287">
            <a:spAutoFit/>
          </a:bodyPr>
          <a:lstStyle/>
          <a:p>
            <a:pPr>
              <a:spcAft>
                <a:spcPts val="375"/>
              </a:spcAft>
              <a:defRPr sz="1100" b="1">
                <a:solidFill>
                  <a:srgbClr val="7354B8"/>
                </a:solidFill>
                <a:latin typeface="Arial"/>
              </a:defRPr>
            </a:pPr>
            <a:r>
              <a:rPr sz="825" cap="none">
                <a:latin typeface="Arial"/>
              </a:rPr>
              <a:t>At larger scale</a:t>
            </a:r>
          </a:p>
        </p:txBody>
      </p:sp>
      <p:sp>
        <p:nvSpPr>
          <p:cNvPr id="23" name="TextBox 22"/>
          <p:cNvSpPr txBox="1"/>
          <p:nvPr/>
        </p:nvSpPr>
        <p:spPr>
          <a:xfrm>
            <a:off x="6192773" y="2146554"/>
            <a:ext cx="2434590" cy="251607"/>
          </a:xfrm>
          <a:prstGeom prst="rect">
            <a:avLst/>
          </a:prstGeom>
          <a:noFill/>
        </p:spPr>
        <p:txBody>
          <a:bodyPr wrap="square" lIns="10287" tIns="10287" rIns="10287" bIns="10287">
            <a:spAutoFit/>
          </a:bodyPr>
          <a:lstStyle/>
          <a:p>
            <a:pPr>
              <a:spcAft>
                <a:spcPts val="375"/>
              </a:spcAft>
              <a:defRPr sz="2000" b="1">
                <a:solidFill>
                  <a:srgbClr val="7354B8"/>
                </a:solidFill>
                <a:latin typeface="Arial"/>
              </a:defRPr>
            </a:pPr>
            <a:r>
              <a:rPr sz="1500" cap="none">
                <a:latin typeface="Arial"/>
              </a:rPr>
              <a:t>Larger-scale systems</a:t>
            </a:r>
          </a:p>
        </p:txBody>
      </p:sp>
      <p:sp>
        <p:nvSpPr>
          <p:cNvPr id="24" name="TextBox 23"/>
          <p:cNvSpPr txBox="1"/>
          <p:nvPr/>
        </p:nvSpPr>
        <p:spPr>
          <a:xfrm>
            <a:off x="6192773" y="2599182"/>
            <a:ext cx="2434590" cy="1206997"/>
          </a:xfrm>
          <a:prstGeom prst="rect">
            <a:avLst/>
          </a:prstGeom>
          <a:noFill/>
        </p:spPr>
        <p:txBody>
          <a:bodyPr wrap="square" lIns="10287" tIns="10287" rIns="10287" bIns="10287">
            <a:spAutoFit/>
          </a:bodyPr>
          <a:lstStyle/>
          <a:p>
            <a:pPr>
              <a:spcAft>
                <a:spcPts val="375"/>
              </a:spcAft>
              <a:defRPr sz="1700" b="0">
                <a:solidFill>
                  <a:srgbClr val="172941"/>
                </a:solidFill>
                <a:latin typeface="Arial"/>
              </a:defRPr>
            </a:pPr>
            <a:r>
              <a:rPr sz="1275" cap="none">
                <a:latin typeface="Arial"/>
              </a:rPr>
              <a:t>Wide Expert Parallelism</a:t>
            </a:r>
          </a:p>
          <a:p>
            <a:pPr>
              <a:spcAft>
                <a:spcPts val="375"/>
              </a:spcAft>
              <a:defRPr sz="1700" b="0">
                <a:solidFill>
                  <a:srgbClr val="172941"/>
                </a:solidFill>
                <a:latin typeface="Arial"/>
              </a:defRPr>
            </a:pPr>
            <a:endParaRPr sz="1275"/>
          </a:p>
          <a:p>
            <a:pPr>
              <a:spcAft>
                <a:spcPts val="375"/>
              </a:spcAft>
              <a:defRPr sz="1700" b="0">
                <a:solidFill>
                  <a:srgbClr val="172941"/>
                </a:solidFill>
                <a:latin typeface="Arial"/>
              </a:defRPr>
            </a:pPr>
            <a:r>
              <a:rPr sz="1275" cap="none">
                <a:latin typeface="Arial"/>
              </a:rPr>
              <a:t>Cross-node transport</a:t>
            </a:r>
          </a:p>
          <a:p>
            <a:pPr>
              <a:spcAft>
                <a:spcPts val="375"/>
              </a:spcAft>
              <a:defRPr sz="1700" b="0">
                <a:solidFill>
                  <a:srgbClr val="172941"/>
                </a:solidFill>
                <a:latin typeface="Arial"/>
              </a:defRPr>
            </a:pPr>
            <a:r>
              <a:rPr sz="1275" cap="none">
                <a:latin typeface="Arial"/>
              </a:rPr>
              <a:t>and communication</a:t>
            </a:r>
          </a:p>
          <a:p>
            <a:pPr>
              <a:spcAft>
                <a:spcPts val="375"/>
              </a:spcAft>
              <a:defRPr sz="1700" b="0">
                <a:solidFill>
                  <a:srgbClr val="172941"/>
                </a:solidFill>
                <a:latin typeface="Arial"/>
              </a:defRPr>
            </a:pPr>
            <a:r>
              <a:rPr sz="1275" cap="none">
                <a:latin typeface="Arial"/>
              </a:rPr>
              <a:t>optimization</a:t>
            </a:r>
          </a:p>
        </p:txBody>
      </p:sp>
      <p:sp>
        <p:nvSpPr>
          <p:cNvPr id="25" name="TextBox 2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26" name="TextBox 2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48 / 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1371600"/>
            <a:ext cx="7863840" cy="685800"/>
          </a:xfrm>
          <a:prstGeom prst="rect">
            <a:avLst/>
          </a:prstGeom>
          <a:noFill/>
        </p:spPr>
        <p:txBody>
          <a:bodyPr wrap="square" lIns="0" rIns="0" tIns="0" bIns="0">
            <a:spAutoFit/>
          </a:bodyPr>
          <a:lstStyle/>
          <a:p>
            <a:pPr>
              <a:spcAft>
                <a:spcPts val="500"/>
              </a:spcAft>
              <a:defRPr sz="3800" b="1">
                <a:solidFill>
                  <a:srgbClr val="142C46"/>
                </a:solidFill>
                <a:latin typeface="Arial"/>
              </a:defRPr>
            </a:pPr>
            <a:r>
              <a:rPr cap="none"/>
              <a:t>Thank you</a:t>
            </a:r>
          </a:p>
        </p:txBody>
      </p:sp>
      <p:sp>
        <p:nvSpPr>
          <p:cNvPr id="3" name="TextBox 2"/>
          <p:cNvSpPr txBox="1"/>
          <p:nvPr/>
        </p:nvSpPr>
        <p:spPr>
          <a:xfrm>
            <a:off x="658368" y="2267712"/>
            <a:ext cx="7863840" cy="502920"/>
          </a:xfrm>
          <a:prstGeom prst="rect">
            <a:avLst/>
          </a:prstGeom>
          <a:noFill/>
        </p:spPr>
        <p:txBody>
          <a:bodyPr wrap="square" lIns="0" rIns="0" tIns="0" bIns="0">
            <a:spAutoFit/>
          </a:bodyPr>
          <a:lstStyle/>
          <a:p>
            <a:pPr>
              <a:spcAft>
                <a:spcPts val="500"/>
              </a:spcAft>
              <a:defRPr sz="2500" b="0">
                <a:solidFill>
                  <a:srgbClr val="346CEC"/>
                </a:solidFill>
                <a:latin typeface="Arial"/>
              </a:defRPr>
            </a:pPr>
            <a:r>
              <a:rPr cap="none"/>
              <a:t>Questions and discussion</a:t>
            </a:r>
          </a:p>
        </p:txBody>
      </p:sp>
      <p:sp>
        <p:nvSpPr>
          <p:cNvPr id="4" name="TextBox 3"/>
          <p:cNvSpPr txBox="1"/>
          <p:nvPr/>
        </p:nvSpPr>
        <p:spPr>
          <a:xfrm>
            <a:off x="667512" y="3264408"/>
            <a:ext cx="7772400" cy="594360"/>
          </a:xfrm>
          <a:prstGeom prst="rect">
            <a:avLst/>
          </a:prstGeom>
          <a:noFill/>
        </p:spPr>
        <p:txBody>
          <a:bodyPr wrap="square" lIns="0" rIns="0" tIns="0" bIns="0">
            <a:spAutoFit/>
          </a:bodyPr>
          <a:lstStyle/>
          <a:p>
            <a:pPr>
              <a:spcAft>
                <a:spcPts val="500"/>
              </a:spcAft>
              <a:defRPr sz="1700" b="0">
                <a:solidFill>
                  <a:srgbClr val="52677D"/>
                </a:solidFill>
                <a:latin typeface="Arial"/>
              </a:defRPr>
            </a:pPr>
            <a:r>
              <a:rPr cap="none"/>
              <a:t>Andy Zhang  •  Linbo He</a:t>
            </a:r>
          </a:p>
          <a:p>
            <a:pPr>
              <a:spcAft>
                <a:spcPts val="500"/>
              </a:spcAft>
              <a:defRPr sz="1700" b="0">
                <a:solidFill>
                  <a:srgbClr val="52677D"/>
                </a:solidFill>
                <a:latin typeface="Arial"/>
              </a:defRPr>
            </a:pPr>
            <a:r>
              <a:rPr cap="none"/>
              <a:t>Microsoft  |  KAITO + llm-d</a:t>
            </a:r>
          </a:p>
        </p:txBody>
      </p:sp>
      <p:sp>
        <p:nvSpPr>
          <p:cNvPr id="5" name="TextBox 4"/>
          <p:cNvSpPr txBox="1"/>
          <p:nvPr/>
        </p:nvSpPr>
        <p:spPr>
          <a:xfrm>
            <a:off x="384048" y="4901184"/>
            <a:ext cx="7680960" cy="146304"/>
          </a:xfrm>
          <a:prstGeom prst="rect">
            <a:avLst/>
          </a:prstGeom>
          <a:noFill/>
        </p:spPr>
        <p:txBody>
          <a:bodyPr wrap="square" lIns="0" rIns="0" tIns="0" bIns="0">
            <a:spAutoFit/>
          </a:bodyPr>
          <a:lstStyle/>
          <a:p>
            <a:pPr>
              <a:spcAft>
                <a:spcPts val="500"/>
              </a:spcAft>
              <a:defRPr sz="650" b="0">
                <a:solidFill>
                  <a:srgbClr val="52677D"/>
                </a:solidFill>
                <a:latin typeface="Arial"/>
              </a:defRPr>
            </a:pPr>
            <a:r>
              <a:t>Cloud Native AI + Inference Day North America 2026  /  KAITO + llm-d</a:t>
            </a:r>
          </a:p>
        </p:txBody>
      </p:sp>
      <p:sp>
        <p:nvSpPr>
          <p:cNvPr id="6" name="TextBox 5"/>
          <p:cNvSpPr txBox="1"/>
          <p:nvPr/>
        </p:nvSpPr>
        <p:spPr>
          <a:xfrm>
            <a:off x="8257031" y="4873752"/>
            <a:ext cx="502920" cy="201168"/>
          </a:xfrm>
          <a:prstGeom prst="rect">
            <a:avLst/>
          </a:prstGeom>
          <a:noFill/>
        </p:spPr>
        <p:txBody>
          <a:bodyPr wrap="square" lIns="0" rIns="0" tIns="0" bIns="0">
            <a:spAutoFit/>
          </a:bodyPr>
          <a:lstStyle/>
          <a:p>
            <a:pPr algn="r">
              <a:spcAft>
                <a:spcPts val="500"/>
              </a:spcAft>
              <a:defRPr sz="800" b="0">
                <a:solidFill>
                  <a:srgbClr val="52677D"/>
                </a:solidFill>
                <a:latin typeface="Arial"/>
              </a:defRPr>
            </a:pPr>
            <a:r>
              <a:t>49 / 49</a:t>
            </a:r>
          </a:p>
        </p:txBody>
      </p:sp>
    </p:spTree>
    <p:extLst>
      <p:ext uri="{BB962C8B-B14F-4D97-AF65-F5344CB8AC3E}">
        <p14:creationId xmlns:p14="http://schemas.microsoft.com/office/powerpoint/2010/main" val="381086207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7799</TotalTime>
  <Words>16612</Words>
  <Application>Microsoft Office PowerPoint</Application>
  <PresentationFormat>On-screen Show (16:9)</PresentationFormat>
  <Paragraphs>1406</Paragraphs>
  <Slides>49</Slides>
  <Notes>48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49</vt:i4>
      </vt:variant>
    </vt:vector>
  </HeadingPairs>
  <TitlesOfParts>
    <vt:vector size="62" baseType="lpstr">
      <vt:lpstr>Noto Sans Symbols</vt:lpstr>
      <vt:lpstr>Red Hat Display</vt:lpstr>
      <vt:lpstr>Red Hat Display SemiBold</vt:lpstr>
      <vt:lpstr>Red Hat Text</vt:lpstr>
      <vt:lpstr>Red Hat Text Medium</vt:lpstr>
      <vt:lpstr>Aptos Display</vt:lpstr>
      <vt:lpstr>Arial</vt:lpstr>
      <vt:lpstr>Calibri</vt:lpstr>
      <vt:lpstr>Consolas</vt:lpstr>
      <vt:lpstr>Courier New</vt:lpstr>
      <vt:lpstr>IBM Plex Sans</vt:lpstr>
      <vt:lpstr>IBM Plex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Production Distributed Inference Architecture</vt:lpstr>
      <vt:lpstr>LLM-D: Scheduling &amp; Distributed Inference</vt:lpstr>
      <vt:lpstr>LLM-D has achieved so far</vt:lpstr>
      <vt:lpstr>LLM-D “Well-lit” Paths</vt:lpstr>
      <vt:lpstr>What is KAITO?</vt:lpstr>
      <vt:lpstr>KAITO workload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llm-d composes vLLM and Gateway to enable P/D disaggregation</vt:lpstr>
      <vt:lpstr>Efficient KV Transfer in vLLM via NIXL</vt:lpstr>
      <vt:lpstr>PowerPoint Presentation</vt:lpstr>
      <vt:lpstr>PowerPoint Presentation</vt:lpstr>
      <vt:lpstr>KAITO autoscaling: keda-kaito-scaler</vt:lpstr>
      <vt:lpstr>KAITO autoscaling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 Contini</dc:creator>
  <cp:lastModifiedBy>Andy Zhang (OSTC)</cp:lastModifiedBy>
  <cp:revision>94</cp:revision>
  <dcterms:created xsi:type="dcterms:W3CDTF">2019-07-29T21:37:05Z</dcterms:created>
  <dcterms:modified xsi:type="dcterms:W3CDTF">2026-10-24T04:00:37Z</dcterms:modified>
</cp:coreProperties>
</file>