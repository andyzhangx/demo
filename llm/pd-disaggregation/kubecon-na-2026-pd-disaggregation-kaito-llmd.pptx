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data1.xml" ContentType="application/vnd.openxmlformats-officedocument.drawingml.diagramData+xml"/>
  <Override PartName="/ppt/diagrams/drawing1.xml" ContentType="application/vnd.ms-office.drawingml.diagramDrawing+xml"/>
  <Override PartName="/ppt/diagrams/layout1.xml" ContentType="application/vnd.openxmlformats-officedocument.drawingml.diagramLayout+xml"/>
  <Override PartName="/ppt/diagrams/quickStyle1.xml" ContentType="application/vnd.openxmlformats-officedocument.drawingml.diagramStyle+xml"/>
  <Override PartName="/ppt/media/image5.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51"/>
  </p:notesMasterIdLst>
  <p:sldIdLst>
    <p:sldId id="258" r:id="rId2"/>
    <p:sldId id="260" r:id="rId3"/>
    <p:sldId id="259" r:id="rId4"/>
    <p:sldId id="261" r:id="rId5"/>
    <p:sldId id="2147375730" r:id="rId6"/>
    <p:sldId id="2147375731" r:id="rId7"/>
    <p:sldId id="2147375732" r:id="rId8"/>
    <p:sldId id="2147375733" r:id="rId9"/>
    <p:sldId id="262" r:id="rId10"/>
    <p:sldId id="263" r:id="rId11"/>
    <p:sldId id="264" r:id="rId12"/>
    <p:sldId id="265" r:id="rId13"/>
    <p:sldId id="268" r:id="rId16"/>
    <p:sldId id="269" r:id="rId17"/>
    <p:sldId id="2147375697" r:id="rId20"/>
    <p:sldId id="2147375700" r:id="rId21"/>
    <p:sldId id="2147375701" r:id="rId22"/>
    <p:sldId id="278" r:id="rId23"/>
    <p:sldId id="2147375718" r:id="rId24"/>
    <p:sldId id="2147375719" r:id="rId25"/>
    <p:sldId id="270" r:id="rId18"/>
    <p:sldId id="2147375706" r:id="rId19"/>
    <p:sldId id="256" r:id="rId26"/>
    <p:sldId id="257" r:id="rId27"/>
    <p:sldId id="2147375721" r:id="rId28"/>
    <p:sldId id="2147375722" r:id="rId29"/>
    <p:sldId id="2147375723" r:id="rId30"/>
    <p:sldId id="2147375724" r:id="rId31"/>
    <p:sldId id="2147375725" r:id="rId32"/>
    <p:sldId id="2147375726" r:id="rId33"/>
    <p:sldId id="2147375714" r:id="rId34"/>
    <p:sldId id="295" r:id="rId35"/>
    <p:sldId id="277" r:id="rId36"/>
    <p:sldId id="2147375729" r:id="rId37"/>
    <p:sldId id="273" r:id="rId38"/>
    <p:sldId id="275" r:id="rId39"/>
    <p:sldId id="279" r:id="rId40"/>
    <p:sldId id="280" r:id="rId41"/>
    <p:sldId id="281" r:id="rId42"/>
    <p:sldId id="282" r:id="rId43"/>
    <p:sldId id="283" r:id="rId44"/>
    <p:sldId id="284" r:id="rId45"/>
    <p:sldId id="285" r:id="rId46"/>
    <p:sldId id="287" r:id="rId47"/>
    <p:sldId id="296" r:id="rId48"/>
    <p:sldId id="301" r:id="rId49"/>
    <p:sldId id="2147375735" r:id="rId52"/>
    <p:sldId id="2147375736" r:id="rId58"/>
    <p:sldId id="266" r:id="rId5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3" roundtripDataSignature="AMtx7mgP6jlGysE4CB0wmKbnycLtctRsu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7273" autoAdjust="0"/>
  </p:normalViewPr>
  <p:slideViewPr>
    <p:cSldViewPr snapToGrid="0">
      <p:cViewPr varScale="1">
        <p:scale>
          <a:sx n="67" d="100"/>
          <a:sy n="67" d="100"/>
        </p:scale>
        <p:origin x="1264" y="3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8.xml"/><Relationship Id="rId51" Type="http://schemas.openxmlformats.org/officeDocument/2006/relationships/notesMaster" Target="notesMasters/notesMaster1.xml"/><Relationship Id="rId52" Type="http://schemas.openxmlformats.org/officeDocument/2006/relationships/slide" Target="slides/slide47.xml"/><Relationship Id="rId53" Type="http://customschemas.google.com/relationships/presentationmetadata" Target="meta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 Id="rId58" Type="http://schemas.openxmlformats.org/officeDocument/2006/relationships/slide" Target="slides/slide49.xml"/></Relationships>
</file>

<file path=ppt/diagrams/colors1.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019A22C-6702-4553-A4E5-F6384627C34D}" type="doc">
      <dgm:prSet loTypeId="urn:microsoft.com/office/officeart/2008/layout/LinedList" loCatId="list" qsTypeId="urn:microsoft.com/office/officeart/2005/8/quickstyle/simple4" qsCatId="simple" csTypeId="urn:microsoft.com/office/officeart/2005/8/colors/accent3_2" csCatId="accent3" phldr="1"/>
      <dgm:spPr/>
      <dgm:t>
        <a:bodyPr/>
        <a:lstStyle/>
        <a:p>
          <a:endParaRPr lang="en-US"/>
        </a:p>
      </dgm:t>
    </dgm:pt>
    <dgm:pt modelId="{F6179A96-FB08-4F12-8FC7-D4A247637A7E}">
      <dgm:prSet/>
      <dgm:spPr/>
      <dgm:t>
        <a:bodyPr/>
        <a:lstStyle/>
        <a:p>
          <a:r>
            <a:rPr lang="en-US" b="0" i="0" dirty="0"/>
            <a:t>Why separate prefill and decode?</a:t>
          </a:r>
          <a:endParaRPr lang="en-US" dirty="0"/>
        </a:p>
      </dgm:t>
    </dgm:pt>
    <dgm:pt modelId="{8C39974D-B1B3-402D-B23C-EBC0CDDCFDC5}" type="parTrans" cxnId="{05F812C0-9469-44F9-96FD-F3C8C3E65962}">
      <dgm:prSet/>
      <dgm:spPr/>
      <dgm:t>
        <a:bodyPr/>
        <a:lstStyle/>
        <a:p>
          <a:endParaRPr lang="en-US"/>
        </a:p>
      </dgm:t>
    </dgm:pt>
    <dgm:pt modelId="{4BC765CE-CC1A-4608-81DB-BDCEFEBECF95}" type="sibTrans" cxnId="{05F812C0-9469-44F9-96FD-F3C8C3E65962}">
      <dgm:prSet/>
      <dgm:spPr/>
      <dgm:t>
        <a:bodyPr/>
        <a:lstStyle/>
        <a:p>
          <a:endParaRPr lang="en-US"/>
        </a:p>
      </dgm:t>
    </dgm:pt>
    <dgm:pt modelId="{684DCF20-C166-4FC4-AAA6-D7F336CE5188}">
      <dgm:prSet custT="1"/>
      <dgm:spPr/>
      <dgm:t>
        <a:bodyPr/>
        <a:lstStyle/>
        <a:p>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gm:t>
    </dgm:pt>
    <dgm:pt modelId="{B127EC52-5914-418C-BF51-718BD3305111}" type="parTrans" cxnId="{7DED4325-D9DB-424C-87D8-3E5DCD3CD8C2}">
      <dgm:prSet/>
      <dgm:spPr/>
      <dgm:t>
        <a:bodyPr/>
        <a:lstStyle/>
        <a:p>
          <a:endParaRPr lang="en-US"/>
        </a:p>
      </dgm:t>
    </dgm:pt>
    <dgm:pt modelId="{90A92338-283C-4406-8EA8-75038FF0BCCB}" type="sibTrans" cxnId="{7DED4325-D9DB-424C-87D8-3E5DCD3CD8C2}">
      <dgm:prSet/>
      <dgm:spPr/>
      <dgm:t>
        <a:bodyPr/>
        <a:lstStyle/>
        <a:p>
          <a:endParaRPr lang="en-US"/>
        </a:p>
      </dgm:t>
    </dgm:pt>
    <dgm:pt modelId="{647D59D8-F992-4FEA-AF7E-A2E792A5F292}">
      <dgm:prSet/>
      <dgm:spPr/>
      <dgm:t>
        <a:bodyPr/>
        <a:lstStyle/>
        <a:p>
          <a:r>
            <a:rPr lang="en-US" b="0" i="0" dirty="0"/>
            <a:t>KAITO + </a:t>
          </a:r>
          <a:r>
            <a:rPr lang="en-US" b="0" i="0" dirty="0" err="1"/>
            <a:t>llm</a:t>
          </a:r>
          <a:r>
            <a:rPr lang="en-US" b="0" i="0" dirty="0"/>
            <a:t>-d architecture</a:t>
          </a:r>
          <a:endParaRPr lang="en-US" dirty="0"/>
        </a:p>
      </dgm:t>
    </dgm:pt>
    <dgm:pt modelId="{0835BC66-97DE-4F83-966B-AC146821383C}" type="parTrans" cxnId="{83F493E2-5B1C-41D0-BCE2-68E2D101EAEE}">
      <dgm:prSet/>
      <dgm:spPr/>
      <dgm:t>
        <a:bodyPr/>
        <a:lstStyle/>
        <a:p>
          <a:endParaRPr lang="en-US"/>
        </a:p>
      </dgm:t>
    </dgm:pt>
    <dgm:pt modelId="{58691E8A-10F1-4DF6-8004-0FEB4609038D}" type="sibTrans" cxnId="{83F493E2-5B1C-41D0-BCE2-68E2D101EAEE}">
      <dgm:prSet/>
      <dgm:spPr/>
      <dgm:t>
        <a:bodyPr/>
        <a:lstStyle/>
        <a:p>
          <a:endParaRPr lang="en-US"/>
        </a:p>
      </dgm:t>
    </dgm:pt>
    <dgm:pt modelId="{75AAE208-C1AD-4CC9-9F70-3CAA236FE51C}">
      <dgm:prSet/>
      <dgm:spPr/>
      <dgm:t>
        <a:bodyPr/>
        <a:lstStyle/>
        <a:p>
          <a:r>
            <a:rPr lang="en-US" b="0" i="0" dirty="0"/>
            <a:t>How KAITO + </a:t>
          </a:r>
          <a:r>
            <a:rPr lang="en-US" b="0" i="0" dirty="0" err="1"/>
            <a:t>llm</a:t>
          </a:r>
          <a:r>
            <a:rPr lang="en-US" b="0" i="0" dirty="0"/>
            <a:t>-d supports P/D</a:t>
          </a:r>
          <a:endParaRPr lang="en-US" dirty="0"/>
        </a:p>
      </dgm:t>
    </dgm:pt>
    <dgm:pt modelId="{877CC7DC-8753-4EE6-97FA-DDA62A2A1464}" type="parTrans" cxnId="{31278B97-0A81-42CB-920C-776F5AAF2C82}">
      <dgm:prSet/>
      <dgm:spPr/>
      <dgm:t>
        <a:bodyPr/>
        <a:lstStyle/>
        <a:p>
          <a:endParaRPr lang="en-US"/>
        </a:p>
      </dgm:t>
    </dgm:pt>
    <dgm:pt modelId="{26340508-F9C4-43AF-98F1-FBB8BC691B55}" type="sibTrans" cxnId="{31278B97-0A81-42CB-920C-776F5AAF2C82}">
      <dgm:prSet/>
      <dgm:spPr/>
      <dgm:t>
        <a:bodyPr/>
        <a:lstStyle/>
        <a:p>
          <a:endParaRPr lang="en-US"/>
        </a:p>
      </dgm:t>
    </dgm:pt>
    <dgm:pt modelId="{F26A0DFB-3FD3-407F-93D3-0136C781FE27}">
      <dgm:prSet/>
      <dgm:spPr/>
      <dgm:t>
        <a:bodyPr/>
        <a:lstStyle/>
        <a:p>
          <a:r>
            <a:rPr lang="en-US" b="0" i="0" dirty="0"/>
            <a:t>How does P/D auto scale</a:t>
          </a:r>
          <a:endParaRPr lang="en-US" dirty="0"/>
        </a:p>
      </dgm:t>
    </dgm:pt>
    <dgm:pt modelId="{946D02BF-ADA1-4188-9F7A-7ECC7201110A}" type="parTrans" cxnId="{5E6DABF0-AF24-4A84-8669-D58C1BEA6B37}">
      <dgm:prSet/>
      <dgm:spPr/>
      <dgm:t>
        <a:bodyPr/>
        <a:lstStyle/>
        <a:p>
          <a:endParaRPr lang="en-US"/>
        </a:p>
      </dgm:t>
    </dgm:pt>
    <dgm:pt modelId="{51E0ABB6-2AAD-4456-9812-6B7C9B632AEF}" type="sibTrans" cxnId="{5E6DABF0-AF24-4A84-8669-D58C1BEA6B37}">
      <dgm:prSet/>
      <dgm:spPr/>
      <dgm:t>
        <a:bodyPr/>
        <a:lstStyle/>
        <a:p>
          <a:endParaRPr lang="en-US"/>
        </a:p>
      </dgm:t>
    </dgm:pt>
    <dgm:pt modelId="{6A4F5EA4-89B5-4266-8DE7-5F7C49BF4432}">
      <dgm:prSet/>
      <dgm:spPr/>
      <dgm:t>
        <a:bodyPr/>
        <a:lstStyle/>
        <a:p>
          <a:r>
            <a:rPr lang="en-US" b="0" i="0"/>
            <a:t>What comes next</a:t>
          </a:r>
          <a:endParaRPr lang="en-US"/>
        </a:p>
      </dgm:t>
    </dgm:pt>
    <dgm:pt modelId="{56EF1DEE-1169-4E6A-9A1E-E1C6F1D539FC}" type="parTrans" cxnId="{E9B4A946-567C-4C8E-A74F-36FCD6BFB1FC}">
      <dgm:prSet/>
      <dgm:spPr/>
      <dgm:t>
        <a:bodyPr/>
        <a:lstStyle/>
        <a:p>
          <a:endParaRPr lang="en-US"/>
        </a:p>
      </dgm:t>
    </dgm:pt>
    <dgm:pt modelId="{26177335-033A-472A-AB8F-F49EAE180A8E}" type="sibTrans" cxnId="{E9B4A946-567C-4C8E-A74F-36FCD6BFB1FC}">
      <dgm:prSet/>
      <dgm:spPr/>
      <dgm:t>
        <a:bodyPr/>
        <a:lstStyle/>
        <a:p>
          <a:endParaRPr lang="en-US"/>
        </a:p>
      </dgm:t>
    </dgm:pt>
    <dgm:pt modelId="{0839C05E-E5D9-4E99-A810-80D7D5323A91}" type="pres">
      <dgm:prSet presAssocID="{4019A22C-6702-4553-A4E5-F6384627C34D}" presName="vert0" presStyleCnt="0">
        <dgm:presLayoutVars>
          <dgm:dir/>
          <dgm:animOne val="branch"/>
          <dgm:animLvl val="lvl"/>
        </dgm:presLayoutVars>
      </dgm:prSet>
      <dgm:spPr/>
    </dgm:pt>
    <dgm:pt modelId="{4AB45A69-BCF6-45B5-B087-DE0790034E11}" type="pres">
      <dgm:prSet presAssocID="{F6179A96-FB08-4F12-8FC7-D4A247637A7E}" presName="thickLine" presStyleLbl="alignNode1" presStyleIdx="0" presStyleCnt="6"/>
      <dgm:spPr/>
    </dgm:pt>
    <dgm:pt modelId="{583A3A07-A38B-41B6-89BB-0B302DAED886}" type="pres">
      <dgm:prSet presAssocID="{F6179A96-FB08-4F12-8FC7-D4A247637A7E}" presName="horz1" presStyleCnt="0"/>
      <dgm:spPr/>
    </dgm:pt>
    <dgm:pt modelId="{28462BA5-7A38-4C40-9C4F-1F95293E9969}" type="pres">
      <dgm:prSet presAssocID="{F6179A96-FB08-4F12-8FC7-D4A247637A7E}" presName="tx1" presStyleLbl="revTx" presStyleIdx="0" presStyleCnt="6"/>
      <dgm:spPr/>
    </dgm:pt>
    <dgm:pt modelId="{C4659E0D-1A38-4807-9A43-66F48ADEF2DC}" type="pres">
      <dgm:prSet presAssocID="{F6179A96-FB08-4F12-8FC7-D4A247637A7E}" presName="vert1" presStyleCnt="0"/>
      <dgm:spPr/>
    </dgm:pt>
    <dgm:pt modelId="{05D7F976-F886-4351-A2FC-77D5B0014DF2}" type="pres">
      <dgm:prSet presAssocID="{684DCF20-C166-4FC4-AAA6-D7F336CE5188}" presName="thickLine" presStyleLbl="alignNode1" presStyleIdx="1" presStyleCnt="6"/>
      <dgm:spPr/>
    </dgm:pt>
    <dgm:pt modelId="{6DA174AF-A1A5-42C3-9322-26C93E938117}" type="pres">
      <dgm:prSet presAssocID="{684DCF20-C166-4FC4-AAA6-D7F336CE5188}" presName="horz1" presStyleCnt="0"/>
      <dgm:spPr/>
    </dgm:pt>
    <dgm:pt modelId="{3635B788-A54E-4F52-8C60-16CBF7672555}" type="pres">
      <dgm:prSet presAssocID="{684DCF20-C166-4FC4-AAA6-D7F336CE5188}" presName="tx1" presStyleLbl="revTx" presStyleIdx="1" presStyleCnt="6"/>
      <dgm:spPr/>
    </dgm:pt>
    <dgm:pt modelId="{940424B9-08EF-4628-A6D5-F3832F0B7F3C}" type="pres">
      <dgm:prSet presAssocID="{684DCF20-C166-4FC4-AAA6-D7F336CE5188}" presName="vert1" presStyleCnt="0"/>
      <dgm:spPr/>
    </dgm:pt>
    <dgm:pt modelId="{648C4BDA-5BEA-433A-A849-5BB24C35588C}" type="pres">
      <dgm:prSet presAssocID="{647D59D8-F992-4FEA-AF7E-A2E792A5F292}" presName="thickLine" presStyleLbl="alignNode1" presStyleIdx="2" presStyleCnt="6"/>
      <dgm:spPr/>
    </dgm:pt>
    <dgm:pt modelId="{71E9A0F1-BE8C-44F6-99BD-1C1EA6D2A8A7}" type="pres">
      <dgm:prSet presAssocID="{647D59D8-F992-4FEA-AF7E-A2E792A5F292}" presName="horz1" presStyleCnt="0"/>
      <dgm:spPr/>
    </dgm:pt>
    <dgm:pt modelId="{597E659A-C577-4506-8A68-DE11C7C64A33}" type="pres">
      <dgm:prSet presAssocID="{647D59D8-F992-4FEA-AF7E-A2E792A5F292}" presName="tx1" presStyleLbl="revTx" presStyleIdx="2" presStyleCnt="6"/>
      <dgm:spPr/>
    </dgm:pt>
    <dgm:pt modelId="{3C342D57-51E2-42B3-8341-8B1BF1E14997}" type="pres">
      <dgm:prSet presAssocID="{647D59D8-F992-4FEA-AF7E-A2E792A5F292}" presName="vert1" presStyleCnt="0"/>
      <dgm:spPr/>
    </dgm:pt>
    <dgm:pt modelId="{71302073-2EC4-4C31-BC3A-CEA00A974B0B}" type="pres">
      <dgm:prSet presAssocID="{75AAE208-C1AD-4CC9-9F70-3CAA236FE51C}" presName="thickLine" presStyleLbl="alignNode1" presStyleIdx="3" presStyleCnt="6"/>
      <dgm:spPr/>
    </dgm:pt>
    <dgm:pt modelId="{BF525C7E-F337-42E9-B755-662303022DCD}" type="pres">
      <dgm:prSet presAssocID="{75AAE208-C1AD-4CC9-9F70-3CAA236FE51C}" presName="horz1" presStyleCnt="0"/>
      <dgm:spPr/>
    </dgm:pt>
    <dgm:pt modelId="{85ECF1A5-AC62-4111-AA0F-8CA2F18C9346}" type="pres">
      <dgm:prSet presAssocID="{75AAE208-C1AD-4CC9-9F70-3CAA236FE51C}" presName="tx1" presStyleLbl="revTx" presStyleIdx="3" presStyleCnt="6"/>
      <dgm:spPr/>
    </dgm:pt>
    <dgm:pt modelId="{DA0C3119-CFCF-447D-B6B3-F46326927B47}" type="pres">
      <dgm:prSet presAssocID="{75AAE208-C1AD-4CC9-9F70-3CAA236FE51C}" presName="vert1" presStyleCnt="0"/>
      <dgm:spPr/>
    </dgm:pt>
    <dgm:pt modelId="{8B1DAD49-0802-4123-8751-7911B88CCC27}" type="pres">
      <dgm:prSet presAssocID="{F26A0DFB-3FD3-407F-93D3-0136C781FE27}" presName="thickLine" presStyleLbl="alignNode1" presStyleIdx="4" presStyleCnt="6"/>
      <dgm:spPr/>
    </dgm:pt>
    <dgm:pt modelId="{1805B2A5-3666-4098-961C-B659F399EBE8}" type="pres">
      <dgm:prSet presAssocID="{F26A0DFB-3FD3-407F-93D3-0136C781FE27}" presName="horz1" presStyleCnt="0"/>
      <dgm:spPr/>
    </dgm:pt>
    <dgm:pt modelId="{F53770F9-1F91-4111-AC93-8C7B0E431D14}" type="pres">
      <dgm:prSet presAssocID="{F26A0DFB-3FD3-407F-93D3-0136C781FE27}" presName="tx1" presStyleLbl="revTx" presStyleIdx="4" presStyleCnt="6"/>
      <dgm:spPr/>
    </dgm:pt>
    <dgm:pt modelId="{A9EFFFC1-8460-476B-B4B6-08108CD47548}" type="pres">
      <dgm:prSet presAssocID="{F26A0DFB-3FD3-407F-93D3-0136C781FE27}" presName="vert1" presStyleCnt="0"/>
      <dgm:spPr/>
    </dgm:pt>
    <dgm:pt modelId="{5742A4F9-2B50-4971-83E9-0A5DABFBAF69}" type="pres">
      <dgm:prSet presAssocID="{6A4F5EA4-89B5-4266-8DE7-5F7C49BF4432}" presName="thickLine" presStyleLbl="alignNode1" presStyleIdx="5" presStyleCnt="6"/>
      <dgm:spPr/>
    </dgm:pt>
    <dgm:pt modelId="{F3A94397-9147-464D-B980-025FED510606}" type="pres">
      <dgm:prSet presAssocID="{6A4F5EA4-89B5-4266-8DE7-5F7C49BF4432}" presName="horz1" presStyleCnt="0"/>
      <dgm:spPr/>
    </dgm:pt>
    <dgm:pt modelId="{4CF1FDAC-8C13-48DE-8A19-25A2BCEEDF02}" type="pres">
      <dgm:prSet presAssocID="{6A4F5EA4-89B5-4266-8DE7-5F7C49BF4432}" presName="tx1" presStyleLbl="revTx" presStyleIdx="5" presStyleCnt="6"/>
      <dgm:spPr/>
    </dgm:pt>
    <dgm:pt modelId="{82F83A6B-858C-4A78-B7C7-C6EACF7713F1}" type="pres">
      <dgm:prSet presAssocID="{6A4F5EA4-89B5-4266-8DE7-5F7C49BF4432}" presName="vert1" presStyleCnt="0"/>
      <dgm:spPr/>
    </dgm:pt>
  </dgm:ptLst>
  <dgm:cxnLst>
    <dgm:cxn modelId="{F545890B-4B38-4B42-AF65-4A136CA783F6}" type="presOf" srcId="{75AAE208-C1AD-4CC9-9F70-3CAA236FE51C}" destId="{85ECF1A5-AC62-4111-AA0F-8CA2F18C9346}" srcOrd="0" destOrd="0" presId="urn:microsoft.com/office/officeart/2008/layout/LinedList"/>
    <dgm:cxn modelId="{7DED4325-D9DB-424C-87D8-3E5DCD3CD8C2}" srcId="{4019A22C-6702-4553-A4E5-F6384627C34D}" destId="{684DCF20-C166-4FC4-AAA6-D7F336CE5188}" srcOrd="1" destOrd="0" parTransId="{B127EC52-5914-418C-BF51-718BD3305111}" sibTransId="{90A92338-283C-4406-8EA8-75038FF0BCCB}"/>
    <dgm:cxn modelId="{0F36BB27-20FA-4242-99C3-3AE1A8979594}" type="presOf" srcId="{F6179A96-FB08-4F12-8FC7-D4A247637A7E}" destId="{28462BA5-7A38-4C40-9C4F-1F95293E9969}" srcOrd="0" destOrd="0" presId="urn:microsoft.com/office/officeart/2008/layout/LinedList"/>
    <dgm:cxn modelId="{E9B4A946-567C-4C8E-A74F-36FCD6BFB1FC}" srcId="{4019A22C-6702-4553-A4E5-F6384627C34D}" destId="{6A4F5EA4-89B5-4266-8DE7-5F7C49BF4432}" srcOrd="5" destOrd="0" parTransId="{56EF1DEE-1169-4E6A-9A1E-E1C6F1D539FC}" sibTransId="{26177335-033A-472A-AB8F-F49EAE180A8E}"/>
    <dgm:cxn modelId="{9088834F-46B3-4C1D-847F-526889A28717}" type="presOf" srcId="{4019A22C-6702-4553-A4E5-F6384627C34D}" destId="{0839C05E-E5D9-4E99-A810-80D7D5323A91}" srcOrd="0" destOrd="0" presId="urn:microsoft.com/office/officeart/2008/layout/LinedList"/>
    <dgm:cxn modelId="{31278B97-0A81-42CB-920C-776F5AAF2C82}" srcId="{4019A22C-6702-4553-A4E5-F6384627C34D}" destId="{75AAE208-C1AD-4CC9-9F70-3CAA236FE51C}" srcOrd="3" destOrd="0" parTransId="{877CC7DC-8753-4EE6-97FA-DDA62A2A1464}" sibTransId="{26340508-F9C4-43AF-98F1-FBB8BC691B55}"/>
    <dgm:cxn modelId="{F32EF5B6-0774-44BF-A32E-B59D286C10A2}" type="presOf" srcId="{6A4F5EA4-89B5-4266-8DE7-5F7C49BF4432}" destId="{4CF1FDAC-8C13-48DE-8A19-25A2BCEEDF02}" srcOrd="0" destOrd="0" presId="urn:microsoft.com/office/officeart/2008/layout/LinedList"/>
    <dgm:cxn modelId="{05F812C0-9469-44F9-96FD-F3C8C3E65962}" srcId="{4019A22C-6702-4553-A4E5-F6384627C34D}" destId="{F6179A96-FB08-4F12-8FC7-D4A247637A7E}" srcOrd="0" destOrd="0" parTransId="{8C39974D-B1B3-402D-B23C-EBC0CDDCFDC5}" sibTransId="{4BC765CE-CC1A-4608-81DB-BDCEFEBECF95}"/>
    <dgm:cxn modelId="{55A56DD1-3E7E-4FB9-9E28-2218A8AA4C36}" type="presOf" srcId="{647D59D8-F992-4FEA-AF7E-A2E792A5F292}" destId="{597E659A-C577-4506-8A68-DE11C7C64A33}" srcOrd="0" destOrd="0" presId="urn:microsoft.com/office/officeart/2008/layout/LinedList"/>
    <dgm:cxn modelId="{D69787D7-6769-4BF0-8CE3-8252CA317676}" type="presOf" srcId="{684DCF20-C166-4FC4-AAA6-D7F336CE5188}" destId="{3635B788-A54E-4F52-8C60-16CBF7672555}" srcOrd="0" destOrd="0" presId="urn:microsoft.com/office/officeart/2008/layout/LinedList"/>
    <dgm:cxn modelId="{121064DD-5843-4073-B8B8-95F359219B5E}" type="presOf" srcId="{F26A0DFB-3FD3-407F-93D3-0136C781FE27}" destId="{F53770F9-1F91-4111-AC93-8C7B0E431D14}" srcOrd="0" destOrd="0" presId="urn:microsoft.com/office/officeart/2008/layout/LinedList"/>
    <dgm:cxn modelId="{83F493E2-5B1C-41D0-BCE2-68E2D101EAEE}" srcId="{4019A22C-6702-4553-A4E5-F6384627C34D}" destId="{647D59D8-F992-4FEA-AF7E-A2E792A5F292}" srcOrd="2" destOrd="0" parTransId="{0835BC66-97DE-4F83-966B-AC146821383C}" sibTransId="{58691E8A-10F1-4DF6-8004-0FEB4609038D}"/>
    <dgm:cxn modelId="{5E6DABF0-AF24-4A84-8669-D58C1BEA6B37}" srcId="{4019A22C-6702-4553-A4E5-F6384627C34D}" destId="{F26A0DFB-3FD3-407F-93D3-0136C781FE27}" srcOrd="4" destOrd="0" parTransId="{946D02BF-ADA1-4188-9F7A-7ECC7201110A}" sibTransId="{51E0ABB6-2AAD-4456-9812-6B7C9B632AEF}"/>
    <dgm:cxn modelId="{A834791F-30DB-4056-B3CA-F5C0FF1A4BF2}" type="presParOf" srcId="{0839C05E-E5D9-4E99-A810-80D7D5323A91}" destId="{4AB45A69-BCF6-45B5-B087-DE0790034E11}" srcOrd="0" destOrd="0" presId="urn:microsoft.com/office/officeart/2008/layout/LinedList"/>
    <dgm:cxn modelId="{21F36B45-3F51-42DF-B0AA-C4F71587991B}" type="presParOf" srcId="{0839C05E-E5D9-4E99-A810-80D7D5323A91}" destId="{583A3A07-A38B-41B6-89BB-0B302DAED886}" srcOrd="1" destOrd="0" presId="urn:microsoft.com/office/officeart/2008/layout/LinedList"/>
    <dgm:cxn modelId="{D6E50E13-1231-45CC-86F6-A01EBCBE16A7}" type="presParOf" srcId="{583A3A07-A38B-41B6-89BB-0B302DAED886}" destId="{28462BA5-7A38-4C40-9C4F-1F95293E9969}" srcOrd="0" destOrd="0" presId="urn:microsoft.com/office/officeart/2008/layout/LinedList"/>
    <dgm:cxn modelId="{F8E3E152-B4C1-4A4F-866A-CE5673B5715E}" type="presParOf" srcId="{583A3A07-A38B-41B6-89BB-0B302DAED886}" destId="{C4659E0D-1A38-4807-9A43-66F48ADEF2DC}" srcOrd="1" destOrd="0" presId="urn:microsoft.com/office/officeart/2008/layout/LinedList"/>
    <dgm:cxn modelId="{16060255-2499-45DD-8DC1-7590A13295A5}" type="presParOf" srcId="{0839C05E-E5D9-4E99-A810-80D7D5323A91}" destId="{05D7F976-F886-4351-A2FC-77D5B0014DF2}" srcOrd="2" destOrd="0" presId="urn:microsoft.com/office/officeart/2008/layout/LinedList"/>
    <dgm:cxn modelId="{4E41BABC-713E-4DB2-ADB3-4D46D4F91D21}" type="presParOf" srcId="{0839C05E-E5D9-4E99-A810-80D7D5323A91}" destId="{6DA174AF-A1A5-42C3-9322-26C93E938117}" srcOrd="3" destOrd="0" presId="urn:microsoft.com/office/officeart/2008/layout/LinedList"/>
    <dgm:cxn modelId="{4DC2BE8D-CBAE-412D-895B-5ABAB0CC413E}" type="presParOf" srcId="{6DA174AF-A1A5-42C3-9322-26C93E938117}" destId="{3635B788-A54E-4F52-8C60-16CBF7672555}" srcOrd="0" destOrd="0" presId="urn:microsoft.com/office/officeart/2008/layout/LinedList"/>
    <dgm:cxn modelId="{44E60BB1-E635-4BDF-B862-A6453C86283D}" type="presParOf" srcId="{6DA174AF-A1A5-42C3-9322-26C93E938117}" destId="{940424B9-08EF-4628-A6D5-F3832F0B7F3C}" srcOrd="1" destOrd="0" presId="urn:microsoft.com/office/officeart/2008/layout/LinedList"/>
    <dgm:cxn modelId="{E22B8F0B-B039-4701-BBA4-D72F5592374E}" type="presParOf" srcId="{0839C05E-E5D9-4E99-A810-80D7D5323A91}" destId="{648C4BDA-5BEA-433A-A849-5BB24C35588C}" srcOrd="4" destOrd="0" presId="urn:microsoft.com/office/officeart/2008/layout/LinedList"/>
    <dgm:cxn modelId="{04C64C32-BA60-4DFE-AE6C-ECD599AD7396}" type="presParOf" srcId="{0839C05E-E5D9-4E99-A810-80D7D5323A91}" destId="{71E9A0F1-BE8C-44F6-99BD-1C1EA6D2A8A7}" srcOrd="5" destOrd="0" presId="urn:microsoft.com/office/officeart/2008/layout/LinedList"/>
    <dgm:cxn modelId="{EF8B4E8C-197A-4E90-A969-4CEFBAC8A183}" type="presParOf" srcId="{71E9A0F1-BE8C-44F6-99BD-1C1EA6D2A8A7}" destId="{597E659A-C577-4506-8A68-DE11C7C64A33}" srcOrd="0" destOrd="0" presId="urn:microsoft.com/office/officeart/2008/layout/LinedList"/>
    <dgm:cxn modelId="{A65619ED-BD0C-41DD-902D-5E8E20CDAC0C}" type="presParOf" srcId="{71E9A0F1-BE8C-44F6-99BD-1C1EA6D2A8A7}" destId="{3C342D57-51E2-42B3-8341-8B1BF1E14997}" srcOrd="1" destOrd="0" presId="urn:microsoft.com/office/officeart/2008/layout/LinedList"/>
    <dgm:cxn modelId="{669DABE2-F81C-467A-A5B3-EEB54A2E27B5}" type="presParOf" srcId="{0839C05E-E5D9-4E99-A810-80D7D5323A91}" destId="{71302073-2EC4-4C31-BC3A-CEA00A974B0B}" srcOrd="6" destOrd="0" presId="urn:microsoft.com/office/officeart/2008/layout/LinedList"/>
    <dgm:cxn modelId="{F5017A92-BC80-4FA2-BFC5-23B4A1306B23}" type="presParOf" srcId="{0839C05E-E5D9-4E99-A810-80D7D5323A91}" destId="{BF525C7E-F337-42E9-B755-662303022DCD}" srcOrd="7" destOrd="0" presId="urn:microsoft.com/office/officeart/2008/layout/LinedList"/>
    <dgm:cxn modelId="{189A63AC-0777-440A-A019-7C15330437BE}" type="presParOf" srcId="{BF525C7E-F337-42E9-B755-662303022DCD}" destId="{85ECF1A5-AC62-4111-AA0F-8CA2F18C9346}" srcOrd="0" destOrd="0" presId="urn:microsoft.com/office/officeart/2008/layout/LinedList"/>
    <dgm:cxn modelId="{8270BA8C-0C07-4AE0-ACB7-87EC4D14F123}" type="presParOf" srcId="{BF525C7E-F337-42E9-B755-662303022DCD}" destId="{DA0C3119-CFCF-447D-B6B3-F46326927B47}" srcOrd="1" destOrd="0" presId="urn:microsoft.com/office/officeart/2008/layout/LinedList"/>
    <dgm:cxn modelId="{01BC6F47-1B65-4B0D-A07D-36A1DE8DB94D}" type="presParOf" srcId="{0839C05E-E5D9-4E99-A810-80D7D5323A91}" destId="{8B1DAD49-0802-4123-8751-7911B88CCC27}" srcOrd="8" destOrd="0" presId="urn:microsoft.com/office/officeart/2008/layout/LinedList"/>
    <dgm:cxn modelId="{2BCD0928-FEF0-4E5C-A503-3D9FBC67E773}" type="presParOf" srcId="{0839C05E-E5D9-4E99-A810-80D7D5323A91}" destId="{1805B2A5-3666-4098-961C-B659F399EBE8}" srcOrd="9" destOrd="0" presId="urn:microsoft.com/office/officeart/2008/layout/LinedList"/>
    <dgm:cxn modelId="{32C8AD0B-0750-497B-9E6B-DA263714CD98}" type="presParOf" srcId="{1805B2A5-3666-4098-961C-B659F399EBE8}" destId="{F53770F9-1F91-4111-AC93-8C7B0E431D14}" srcOrd="0" destOrd="0" presId="urn:microsoft.com/office/officeart/2008/layout/LinedList"/>
    <dgm:cxn modelId="{761A3DE1-B8B1-4D50-BF67-1E5C1FC04EBA}" type="presParOf" srcId="{1805B2A5-3666-4098-961C-B659F399EBE8}" destId="{A9EFFFC1-8460-476B-B4B6-08108CD47548}" srcOrd="1" destOrd="0" presId="urn:microsoft.com/office/officeart/2008/layout/LinedList"/>
    <dgm:cxn modelId="{316DEC10-462D-4812-AE32-2F246DE9091E}" type="presParOf" srcId="{0839C05E-E5D9-4E99-A810-80D7D5323A91}" destId="{5742A4F9-2B50-4971-83E9-0A5DABFBAF69}" srcOrd="10" destOrd="0" presId="urn:microsoft.com/office/officeart/2008/layout/LinedList"/>
    <dgm:cxn modelId="{A98D0B13-1DBE-45F6-8044-333FB22A74A8}" type="presParOf" srcId="{0839C05E-E5D9-4E99-A810-80D7D5323A91}" destId="{F3A94397-9147-464D-B980-025FED510606}" srcOrd="11" destOrd="0" presId="urn:microsoft.com/office/officeart/2008/layout/LinedList"/>
    <dgm:cxn modelId="{17E72731-E105-418D-81DC-04995CF69482}" type="presParOf" srcId="{F3A94397-9147-464D-B980-025FED510606}" destId="{4CF1FDAC-8C13-48DE-8A19-25A2BCEEDF02}" srcOrd="0" destOrd="0" presId="urn:microsoft.com/office/officeart/2008/layout/LinedList"/>
    <dgm:cxn modelId="{0E8C99DC-6040-4ACD-99C2-3145FB7DED78}" type="presParOf" srcId="{F3A94397-9147-464D-B980-025FED510606}" destId="{82F83A6B-858C-4A78-B7C7-C6EACF7713F1}"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B45A69-BCF6-45B5-B087-DE0790034E11}">
      <dsp:nvSpPr>
        <dsp:cNvPr id="0" name=""/>
        <dsp:cNvSpPr/>
      </dsp:nvSpPr>
      <dsp:spPr>
        <a:xfrm>
          <a:off x="0" y="1593"/>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28462BA5-7A38-4C40-9C4F-1F95293E9969}">
      <dsp:nvSpPr>
        <dsp:cNvPr id="0" name=""/>
        <dsp:cNvSpPr/>
      </dsp:nvSpPr>
      <dsp:spPr>
        <a:xfrm>
          <a:off x="0" y="1593"/>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Why separate prefill and decode?</a:t>
          </a:r>
          <a:endParaRPr lang="en-US" sz="2600" kern="1200" dirty="0"/>
        </a:p>
      </dsp:txBody>
      <dsp:txXfrm>
        <a:off x="0" y="1593"/>
        <a:ext cx="7886700" cy="543536"/>
      </dsp:txXfrm>
    </dsp:sp>
    <dsp:sp modelId="{05D7F976-F886-4351-A2FC-77D5B0014DF2}">
      <dsp:nvSpPr>
        <dsp:cNvPr id="0" name=""/>
        <dsp:cNvSpPr/>
      </dsp:nvSpPr>
      <dsp:spPr>
        <a:xfrm>
          <a:off x="0" y="54513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3635B788-A54E-4F52-8C60-16CBF7672555}">
      <dsp:nvSpPr>
        <dsp:cNvPr id="0" name=""/>
        <dsp:cNvSpPr/>
      </dsp:nvSpPr>
      <dsp:spPr>
        <a:xfrm>
          <a:off x="0" y="54513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solidFill>
                <a:srgbClr val="000000">
                  <a:hueOff val="0"/>
                  <a:satOff val="0"/>
                  <a:lumOff val="0"/>
                  <a:alphaOff val="0"/>
                </a:srgbClr>
              </a:solidFill>
              <a:latin typeface="Arial"/>
              <a:ea typeface="+mn-ea"/>
              <a:cs typeface="+mn-cs"/>
            </a:rPr>
            <a:t>Why</a:t>
          </a:r>
          <a:r>
            <a:rPr lang="en-US" sz="1800" b="0" i="0" kern="1200" dirty="0"/>
            <a:t> </a:t>
          </a:r>
          <a:r>
            <a:rPr lang="en-US" sz="2600" b="0" i="0" kern="1200" dirty="0">
              <a:solidFill>
                <a:srgbClr val="000000">
                  <a:hueOff val="0"/>
                  <a:satOff val="0"/>
                  <a:lumOff val="0"/>
                  <a:alphaOff val="0"/>
                </a:srgbClr>
              </a:solidFill>
              <a:latin typeface="Arial"/>
              <a:ea typeface="+mn-ea"/>
              <a:cs typeface="+mn-cs"/>
            </a:rPr>
            <a:t>is P/D still </a:t>
          </a:r>
          <a:r>
            <a:rPr lang="en-US" altLang="zh-CN" sz="2600" b="0" i="0" kern="1200" dirty="0">
              <a:solidFill>
                <a:srgbClr val="000000">
                  <a:hueOff val="0"/>
                  <a:satOff val="0"/>
                  <a:lumOff val="0"/>
                  <a:alphaOff val="0"/>
                </a:srgbClr>
              </a:solidFill>
              <a:latin typeface="Arial"/>
              <a:ea typeface="+mn-ea"/>
              <a:cs typeface="+mn-cs"/>
            </a:rPr>
            <a:t>operationally</a:t>
          </a:r>
          <a:r>
            <a:rPr lang="en-US" sz="2600" b="0" i="0" kern="1200" dirty="0">
              <a:solidFill>
                <a:srgbClr val="000000">
                  <a:hueOff val="0"/>
                  <a:satOff val="0"/>
                  <a:lumOff val="0"/>
                  <a:alphaOff val="0"/>
                </a:srgbClr>
              </a:solidFill>
              <a:latin typeface="Arial"/>
              <a:ea typeface="+mn-ea"/>
              <a:cs typeface="+mn-cs"/>
            </a:rPr>
            <a:t> hard on Kubernetes</a:t>
          </a:r>
          <a:r>
            <a:rPr lang="en-US" sz="1800" b="0" i="0" kern="1200" dirty="0"/>
            <a:t>?</a:t>
          </a:r>
          <a:endParaRPr lang="en-US" sz="1800" kern="1200" dirty="0"/>
        </a:p>
      </dsp:txBody>
      <dsp:txXfrm>
        <a:off x="0" y="545130"/>
        <a:ext cx="7886700" cy="543536"/>
      </dsp:txXfrm>
    </dsp:sp>
    <dsp:sp modelId="{648C4BDA-5BEA-433A-A849-5BB24C35588C}">
      <dsp:nvSpPr>
        <dsp:cNvPr id="0" name=""/>
        <dsp:cNvSpPr/>
      </dsp:nvSpPr>
      <dsp:spPr>
        <a:xfrm>
          <a:off x="0" y="108866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597E659A-C577-4506-8A68-DE11C7C64A33}">
      <dsp:nvSpPr>
        <dsp:cNvPr id="0" name=""/>
        <dsp:cNvSpPr/>
      </dsp:nvSpPr>
      <dsp:spPr>
        <a:xfrm>
          <a:off x="0" y="108866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KAITO + </a:t>
          </a:r>
          <a:r>
            <a:rPr lang="en-US" sz="2600" b="0" i="0" kern="1200" dirty="0" err="1"/>
            <a:t>llm</a:t>
          </a:r>
          <a:r>
            <a:rPr lang="en-US" sz="2600" b="0" i="0" kern="1200" dirty="0"/>
            <a:t>-d architecture</a:t>
          </a:r>
          <a:endParaRPr lang="en-US" sz="2600" kern="1200" dirty="0"/>
        </a:p>
      </dsp:txBody>
      <dsp:txXfrm>
        <a:off x="0" y="1088667"/>
        <a:ext cx="7886700" cy="543536"/>
      </dsp:txXfrm>
    </dsp:sp>
    <dsp:sp modelId="{71302073-2EC4-4C31-BC3A-CEA00A974B0B}">
      <dsp:nvSpPr>
        <dsp:cNvPr id="0" name=""/>
        <dsp:cNvSpPr/>
      </dsp:nvSpPr>
      <dsp:spPr>
        <a:xfrm>
          <a:off x="0" y="1632204"/>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85ECF1A5-AC62-4111-AA0F-8CA2F18C9346}">
      <dsp:nvSpPr>
        <dsp:cNvPr id="0" name=""/>
        <dsp:cNvSpPr/>
      </dsp:nvSpPr>
      <dsp:spPr>
        <a:xfrm>
          <a:off x="0" y="1632204"/>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KAITO + </a:t>
          </a:r>
          <a:r>
            <a:rPr lang="en-US" sz="2600" b="0" i="0" kern="1200" dirty="0" err="1"/>
            <a:t>llm</a:t>
          </a:r>
          <a:r>
            <a:rPr lang="en-US" sz="2600" b="0" i="0" kern="1200" dirty="0"/>
            <a:t>-d supports P/D</a:t>
          </a:r>
          <a:endParaRPr lang="en-US" sz="2600" kern="1200" dirty="0"/>
        </a:p>
      </dsp:txBody>
      <dsp:txXfrm>
        <a:off x="0" y="1632204"/>
        <a:ext cx="7886700" cy="543536"/>
      </dsp:txXfrm>
    </dsp:sp>
    <dsp:sp modelId="{8B1DAD49-0802-4123-8751-7911B88CCC27}">
      <dsp:nvSpPr>
        <dsp:cNvPr id="0" name=""/>
        <dsp:cNvSpPr/>
      </dsp:nvSpPr>
      <dsp:spPr>
        <a:xfrm>
          <a:off x="0" y="2175740"/>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F53770F9-1F91-4111-AC93-8C7B0E431D14}">
      <dsp:nvSpPr>
        <dsp:cNvPr id="0" name=""/>
        <dsp:cNvSpPr/>
      </dsp:nvSpPr>
      <dsp:spPr>
        <a:xfrm>
          <a:off x="0" y="2175740"/>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dirty="0"/>
            <a:t>How does P/D auto scale</a:t>
          </a:r>
          <a:endParaRPr lang="en-US" sz="2600" kern="1200" dirty="0"/>
        </a:p>
      </dsp:txBody>
      <dsp:txXfrm>
        <a:off x="0" y="2175740"/>
        <a:ext cx="7886700" cy="543536"/>
      </dsp:txXfrm>
    </dsp:sp>
    <dsp:sp modelId="{5742A4F9-2B50-4971-83E9-0A5DABFBAF69}">
      <dsp:nvSpPr>
        <dsp:cNvPr id="0" name=""/>
        <dsp:cNvSpPr/>
      </dsp:nvSpPr>
      <dsp:spPr>
        <a:xfrm>
          <a:off x="0" y="2719277"/>
          <a:ext cx="7886700" cy="0"/>
        </a:xfrm>
        <a:prstGeom prst="line">
          <a:avLst/>
        </a:prstGeom>
        <a:gradFill rotWithShape="0">
          <a:gsLst>
            <a:gs pos="0">
              <a:schemeClr val="accent3">
                <a:hueOff val="0"/>
                <a:satOff val="0"/>
                <a:lumOff val="0"/>
                <a:alphaOff val="0"/>
                <a:tint val="100000"/>
                <a:shade val="100000"/>
                <a:satMod val="130000"/>
              </a:schemeClr>
            </a:gs>
            <a:gs pos="100000">
              <a:schemeClr val="accent3">
                <a:hueOff val="0"/>
                <a:satOff val="0"/>
                <a:lumOff val="0"/>
                <a:alphaOff val="0"/>
                <a:tint val="50000"/>
                <a:shade val="100000"/>
                <a:satMod val="350000"/>
              </a:schemeClr>
            </a:gs>
          </a:gsLst>
          <a:lin ang="16200000" scaled="0"/>
        </a:gradFill>
        <a:ln w="9525" cap="flat" cmpd="sng" algn="ctr">
          <a:solidFill>
            <a:schemeClr val="accent3">
              <a:hueOff val="0"/>
              <a:satOff val="0"/>
              <a:lumOff val="0"/>
              <a:alphaOff val="0"/>
            </a:schemeClr>
          </a:solidFill>
          <a:prstDash val="solid"/>
        </a:ln>
        <a:effectLst>
          <a:outerShdw blurRad="40000" dist="23000" dir="5400000" rotWithShape="0">
            <a:srgbClr val="000000">
              <a:alpha val="35000"/>
            </a:srgbClr>
          </a:outerShdw>
        </a:effectLst>
      </dsp:spPr>
      <dsp:style>
        <a:lnRef idx="1">
          <a:scrgbClr r="0" g="0" b="0"/>
        </a:lnRef>
        <a:fillRef idx="3">
          <a:scrgbClr r="0" g="0" b="0"/>
        </a:fillRef>
        <a:effectRef idx="2">
          <a:scrgbClr r="0" g="0" b="0"/>
        </a:effectRef>
        <a:fontRef idx="minor">
          <a:schemeClr val="lt1"/>
        </a:fontRef>
      </dsp:style>
    </dsp:sp>
    <dsp:sp modelId="{4CF1FDAC-8C13-48DE-8A19-25A2BCEEDF02}">
      <dsp:nvSpPr>
        <dsp:cNvPr id="0" name=""/>
        <dsp:cNvSpPr/>
      </dsp:nvSpPr>
      <dsp:spPr>
        <a:xfrm>
          <a:off x="0" y="2719277"/>
          <a:ext cx="7886700" cy="54353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9060" tIns="99060" rIns="99060" bIns="99060" numCol="1" spcCol="1270" anchor="t" anchorCtr="0">
          <a:noAutofit/>
        </a:bodyPr>
        <a:lstStyle/>
        <a:p>
          <a:pPr marL="0" lvl="0" indent="0" algn="l" defTabSz="1155700">
            <a:lnSpc>
              <a:spcPct val="90000"/>
            </a:lnSpc>
            <a:spcBef>
              <a:spcPct val="0"/>
            </a:spcBef>
            <a:spcAft>
              <a:spcPct val="35000"/>
            </a:spcAft>
            <a:buNone/>
          </a:pPr>
          <a:r>
            <a:rPr lang="en-US" sz="2600" b="0" i="0" kern="1200"/>
            <a:t>What comes next</a:t>
          </a:r>
          <a:endParaRPr lang="en-US" sz="2600" kern="1200"/>
        </a:p>
      </dsp:txBody>
      <dsp:txXfrm>
        <a:off x="0" y="2719277"/>
        <a:ext cx="7886700" cy="543536"/>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Welcome to Cloud Native AI and Inference Day. Today, we’ll look at how Kubernetes helps us run LLM inference when processing prompts and generating tokens need different resources.</a:t>
            </a:r>
          </a:p>
        </p:txBody>
      </p:sp>
      <p:sp>
        <p:nvSpPr>
          <p:cNvPr id="96" name="Google Shape;96;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Here’s the idea: prefill runs here, and decode runs there. We’ll see how KAITO and llm-d make that work on Kubernetes, and when the extra complexity is worth it.</a:t>
            </a:r>
          </a:p>
        </p:txBody>
      </p:sp>
      <p:sp>
        <p:nvSpPr>
          <p:cNvPr id="106" name="Google Shape;106;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We’re Andy Zhang and Linbo He, both principal software engineers at Microsoft. We both maintain KAITO. Andy also works on CSI drivers, and Linbo also maintains OpenYurt.</a:t>
            </a:r>
          </a:p>
        </p:txBody>
      </p:sp>
      <p:sp>
        <p:nvSpPr>
          <p:cNvPr id="100" name="Google Shape;10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873DB8F0-69AE-A128-084F-BA75E68FA44E}"/>
            </a:ext>
          </a:extLst>
        </p:cNvPr>
        <p:cNvGrpSpPr/>
        <p:nvPr/>
      </p:nvGrpSpPr>
      <p:grpSpPr>
        <a:xfrm>
          <a:off x="0" y="0"/>
          <a:ext cx="0" cy="0"/>
          <a:chOff x="0" y="0"/>
          <a:chExt cx="0" cy="0"/>
        </a:xfrm>
      </p:grpSpPr>
      <p:sp>
        <p:nvSpPr>
          <p:cNvPr id="99" name="Google Shape;99;p3:notes">
            <a:extLst>
              <a:ext uri="{FF2B5EF4-FFF2-40B4-BE49-F238E27FC236}">
                <a16:creationId xmlns:a16="http://schemas.microsoft.com/office/drawing/2014/main" id="{4AEF8EC1-9D83-9206-6FD4-1256E57E7B4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r>
              <a:t>Speaker script</a:t>
            </a:r>
          </a:p>
          <a:p/>
          <a:p>
            <a:r>
              <a:t>First, we’ll cover inference basics and why we might split prefill and decode. Then we’ll look at KAITO and llm-d, how they support P/D, and how each role scales. We’ll finish with takeaways and next steps.</a:t>
            </a:r>
          </a:p>
        </p:txBody>
      </p:sp>
      <p:sp>
        <p:nvSpPr>
          <p:cNvPr id="100" name="Google Shape;100;p3:notes">
            <a:extLst>
              <a:ext uri="{FF2B5EF4-FFF2-40B4-BE49-F238E27FC236}">
                <a16:creationId xmlns:a16="http://schemas.microsoft.com/office/drawing/2014/main" id="{A1D61140-BECF-FCA5-B5A6-3748E8BA593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672694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Our prompt is “What does Kubernetes do?” Here, we treat it as five tokens. Prefill processes them together and builds the KV cache. It picks “Kubernetes” as the first output token. That token’s KV gets added in the next decode step.</a:t>
            </a:r>
          </a:p>
          <a:p/>
          <a:p>
            <a:r>
              <a:t>References</a:t>
            </a:r>
          </a:p>
          <a:p>
            <a:r>
              <a:t>https://huggingface.co/docs/transformers/en/cache_explanation</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Next, decode takes “Kubernetes,” reuses the KV cache, and picks “helps.” Then it takes “helps” and picks “teams.” Each step adds KV for the token going in, not the new token coming out.</a:t>
            </a:r>
          </a:p>
          <a:p/>
          <a:p>
            <a:r>
              <a:t>References</a:t>
            </a:r>
          </a:p>
          <a:p>
            <a:r>
              <a:t>https://huggingface.co/docs/transformers/en/cache_explanation</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prefill, we want the first token quickly: that’s TTFT. For decode, we want short gaps between tokens: ITL, or average TPOT. Prefill is often compute-bound; decode is often memory-bandwidth-bound. We want more requests to meet both latency targets.</a:t>
            </a:r>
          </a:p>
          <a:p/>
          <a:p>
            <a:r>
              <a:t>References</a:t>
            </a:r>
          </a:p>
          <a:p>
            <a:r>
              <a:t>https://docs.vllm.ai/en/latest/design/metrics/</a:t>
            </a:r>
          </a:p>
          <a:p>
            <a:r>
              <a:t>https://docs.vllm.ai/en/latest/benchmarking/cli/#understanding-the-latency-metrics</a:t>
            </a:r>
          </a:p>
          <a:p>
            <a:r>
              <a:t>https://docs.nvidia.com/dynamo/dev/kubernetes/disaggregated-serving/overview</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One shared GPU pool is simple to start with. But a burst of prompts can slow down tokens we’re already generating. And when we add capacity, we scale both phases—even if only one needs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A is already decoding when B arrives. On a shared GPU, B’s prefill can make A wait. With separate GPUs, A keeps decoding while B runs prefill. B still needs KV transfer. This is an example schedule, not a benchmark.</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Prefill handles many prompt tokens at once. Ordinary decode takes one token per active request at each step. So, to keep decode busy, we batch more requests together. The trade-off is more KV memory and potentially slower token delivery.</a:t>
            </a:r>
          </a:p>
          <a:p/>
          <a:p>
            <a:r>
              <a:t>References</a:t>
            </a:r>
          </a:p>
          <a:p>
            <a:r>
              <a:t>https://developer.nvidia.com/blog/introducing-nvidia-dynamo-a-low-latency-distributed-inference-framework-for-scaling-reasoning-ai-models/</a:t>
            </a:r>
          </a:p>
          <a:p>
            <a:r>
              <a:t>https://vllm.ai/blog/2025-09-05-anatomy-of-vllm</a:t>
            </a:r>
          </a:p>
          <a:p>
            <a:r>
              <a:t>https://docs.nvidia.com/dynamo/kubernetes/disaggregated-serving/overview</a:t>
            </a:r>
          </a:p>
          <a:p>
            <a:r>
              <a:t>https://docs.vllm.ai/en/latest/features/disagg_prefill/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With separate pools, we can tune replicas, parallelism, and batching for each phase. We no longer need one setup to serve two different needs. But the gain must cover KV transfer, extra model copies, and the work of managing two pools.</a:t>
            </a:r>
          </a:p>
          <a:p/>
          <a:p>
            <a:r>
              <a:t>References</a:t>
            </a:r>
          </a:p>
          <a:p>
            <a:r>
              <a:t>https://docs.nvidia.com/dynamo/dev/kubernetes/disaggregated-serving/overview</a:t>
            </a:r>
          </a:p>
          <a:p>
            <a:r>
              <a:t>https://arxiv.org/html/2401.09670v2#S2.SS3</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prefill pool handles the prompt, then passes KV to the decode pool. Each pool can have its own size and setup. That’s the benefit—but the handoff still needs to fit our latency and cost budgets.</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Creating two deployments is only the start. Routing, the decode proxy, KV connectors, labels, ports, and readiness all need to line up. KAITO helps keep that wiring consistent; it doesn’t replace the inference engine.</a:t>
            </a:r>
          </a:p>
          <a:p/>
          <a:p>
            <a:r>
              <a:t>References</a:t>
            </a:r>
          </a:p>
          <a:p>
            <a:r>
              <a:t>https://kaito-project.github.io/kaito/docs/prefill-decode-disaggregation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These are alternative ways to build P/D serving, not a ranking. llm-d is a CNCF Sandbox project, and KServe is Incubating. Declarative APIs already exist; KAITO aims to simplify their integration into its operating model.</a:t>
            </a:r>
          </a:p>
          <a:p/>
          <a:p>
            <a:r>
              <a:t>References</a:t>
            </a:r>
          </a:p>
          <a:p>
            <a:r>
              <a:t>https://docs.nvidia.com/dynamo/v1.1.0/getting-started/kubernetes-deployment</a:t>
            </a:r>
          </a:p>
          <a:p>
            <a:r>
              <a:t>https://llm-d.ai/docs/architecture</a:t>
            </a:r>
          </a:p>
          <a:p>
            <a:r>
              <a:t>https://aibrix.readthedocs.io/latest/features/gateway-routing/pd-disaggregation.html</a:t>
            </a:r>
          </a:p>
          <a:p>
            <a:r>
              <a:t>https://aibrix.readthedocs.io/latest/designs/aibrix-stormservice.html</a:t>
            </a:r>
          </a:p>
          <a:p>
            <a:r>
              <a:t>https://kserve.github.io/website/docs/model-serving/generative-inference/llmisvc/llmisvc-overview</a:t>
            </a:r>
          </a:p>
          <a:p>
            <a:r>
              <a:t>https://docs.ray.io/en/latest/serve/llm/user-guides/prefill-decode.html</a:t>
            </a:r>
          </a:p>
          <a:p>
            <a:r>
              <a:t>https://docs.vllm.ai/projects/production-stack/en/latest/use_cases/disaggregated-prefill.html</a:t>
            </a:r>
          </a:p>
          <a:p>
            <a:r>
              <a:t>https://lws.sigs.k8s.io/docs/concepts/disaggregatedset/</a:t>
            </a:r>
          </a:p>
          <a:p>
            <a:r>
              <a:t>https://www.cncf.io/projects/llm-d/</a:t>
            </a:r>
          </a:p>
          <a:p>
            <a:r>
              <a:t>https://www.cncf.io/projects/kserve/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KAITO handles deployment and lifecycle. llm-d handles routing, while vLLM and NIXL run inference and move KV. The MRI integration is alpha, with runtime, gateway, and GPU-connectivity limits. Automatic per-role scaling is separate work.</a:t>
            </a:r>
          </a:p>
          <a:p/>
          <a:p>
            <a:r>
              <a:t>Technical reference (not part of the spoken script)</a:t>
            </a:r>
          </a:p>
          <a:p/>
          <a:p>
            <a:r>
              <a:t>SPEAKER SCRIPT</a:t>
            </a:r>
          </a:p>
          <a:p/>
          <a:p>
            <a:r>
              <a:t>For that goal, llm-d is a good fit. KAITO keeps deployment intent and lifecycle. llm-d contributes endpoint selection and request orchestration. vLLM and NIXL execute the phases and move the state. This is an integration choice, not a universal platform ranking. Today's documented MRI scope is alpha, with vLLM, Istio, and suitable GPU connectivity as important constraints.</a:t>
            </a:r>
          </a:p>
          <a:p/>
          <a:p>
            <a:r>
              <a:t>REFERENCE NOTES (NOT SPOKEN)</a:t>
            </a:r>
          </a:p>
          <a:p/>
          <a:p>
            <a:r>
              <a:t>Best fit is an architecture recommendation relative to the goal of extending KAITO, not evidence that KAITO beats every serving platform. KAITO users already have Workspace/InferenceSet APIs, model presets and infrastructure lifecycle workflows. MRI reuses that model through role-specific child InferenceSets. The documented controller creates an InferencePool and llm-d EPP, injects the decode routing sidecar, and sets vLLM NIXL side-channel configuration. llm-d contributes P/D endpoint-selection plugins and request orchestration; vLLM and NIXL execute inference and transfer KV directly between pods. The three boxes are a composition diagram, not a sequential request path. Gateway/HTTPRoute, certificates, GPU capacity and fabric setup remain platform prerequisites; do not claim MRI provisions every cluster dependency automatically. Compared with introducing another serving platform API alongside KAITO, reusing llm-d components preserves KAITO as the user-facing orchestration entry point. KServe and AIBrix are legitimate alternative orchestration platforms; Dynamo offers an integrated stack; Ray Serve fits Ray-centric applications. Existing users of those platforms need not migrate solely to obtain P/D. Documented KAITO limitations: MRI is alpha, currently vLLM-only and requires Istio plus suitable GPU-to-GPU connectivity. Independent role replica settings do not imply an automatic MRI-level autoscaling policy. The existing KEDA-InferenceSet capability and proposed MRI policy UX are discussed later. No throughput, latency, cost, hardware-portability or superiority claim is made. Sources checked 2026-10-20.</a:t>
            </a:r>
          </a:p>
          <a:p/>
          <a:p>
            <a:r>
              <a:t>References</a:t>
            </a:r>
          </a:p>
          <a:p>
            <a:r>
              <a:t>https://kaito-project.github.io/kaito/docs/prefill-decode-disaggregation</a:t>
            </a:r>
          </a:p>
          <a:p>
            <a:r>
              <a:t>https://kaito-project.github.io/kaito/docs/keda-autoscaler-inference</a:t>
            </a:r>
          </a:p>
          <a:p>
            <a:r>
              <a:t>https://llm-d.ai/docs/architecture</a:t>
            </a:r>
          </a:p>
          <a:p>
            <a:r>
              <a:t>https://kserve.github.io/website/docs/model-serving/generative-inference/llmisvc/llmisvc-overview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Here’s where the pieces fit. KAITO manages lifecycle, llm-d picks endpoints, vLLM runs inference, and NIXL moves KV. Read this as a map of responsibilities, not a list of everything you must install.</a:t>
            </a:r>
          </a:p>
        </p:txBody>
      </p:sp>
    </p:spTree>
    <p:extLst>
      <p:ext uri="{BB962C8B-B14F-4D97-AF65-F5344CB8AC3E}">
        <p14:creationId xmlns:p14="http://schemas.microsoft.com/office/powerpoint/2010/main" val="41773934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llm-d is a CNCF Sandbox project for distributed inference on Kubernetes. It brings gateways, runtimes, and transport together without replacing them. Its modular components and tested paths give us a starting point, with compatibility and workload tuning still our responsibility.</a:t>
            </a:r>
          </a:p>
          <a:p/>
          <a:p>
            <a:r>
              <a:t>References</a:t>
            </a:r>
          </a:p>
          <a:p>
            <a:r>
              <a:t>https://www.cncf.io/projects/llm-d/</a:t>
            </a:r>
          </a:p>
          <a:p>
            <a:r>
              <a:t>https://github.com/llm-d</a:t>
            </a:r>
          </a:p>
        </p:txBody>
      </p:sp>
    </p:spTree>
    <p:extLst>
      <p:ext uri="{BB962C8B-B14F-4D97-AF65-F5344CB8AC3E}">
        <p14:creationId xmlns:p14="http://schemas.microsoft.com/office/powerpoint/2010/main" val="16513470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These capabilities solve different problems: running across GPUs, splitting prefill and decode, routing with state in mind, and adjusting capacity. They’re building blocks, not performance promises. We still need to test our model and traffic.</a:t>
            </a:r>
          </a:p>
        </p:txBody>
      </p:sp>
    </p:spTree>
    <p:extLst>
      <p:ext uri="{BB962C8B-B14F-4D97-AF65-F5344CB8AC3E}">
        <p14:creationId xmlns:p14="http://schemas.microsoft.com/office/powerpoint/2010/main" val="328115127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r>
              <a:t>Speaker script</a:t>
            </a:r>
          </a:p>
          <a:p/>
          <a:p>
            <a:r>
              <a:t>Each path answers a question: where should requests run, where should KV live, how should experts run, or how should we split prefill and decode? In this talk, we’re following the P/D path.</a:t>
            </a:r>
          </a:p>
        </p:txBody>
      </p:sp>
    </p:spTree>
    <p:extLst>
      <p:ext uri="{BB962C8B-B14F-4D97-AF65-F5344CB8AC3E}">
        <p14:creationId xmlns:p14="http://schemas.microsoft.com/office/powerpoint/2010/main" val="190076023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87F044-F805-8F78-5C36-BF0D6B04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BCAAE5-ACD6-15FC-E34E-DC1D8A8B687A}"/>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ED37E7B8-A81E-2DF7-4877-05D84CE73A04}"/>
              </a:ext>
            </a:extLst>
          </p:cNvPr>
          <p:cNvSpPr>
            <a:spLocks noGrp="1"/>
          </p:cNvSpPr>
          <p:nvPr>
            <p:ph type="body" idx="1"/>
          </p:nvPr>
        </p:nvSpPr>
        <p:spPr/>
        <p:txBody>
          <a:bodyPr/>
          <a:lstStyle/>
          <a:p>
            <a:r>
              <a:t>Speaker script</a:t>
            </a:r>
          </a:p>
          <a:p/>
          <a:p>
            <a:r>
              <a:t>KAITO is also a CNCF Sandbox project. It automates inference, fine-tuning, and RAG on Kubernetes, handling model and GPU selection, node provisioning, caching, and workload lifecycle. It also supports KEDA-based scaling.</a:t>
            </a:r>
          </a:p>
          <a:p/>
          <a:p>
            <a:r>
              <a:t>References</a:t>
            </a:r>
          </a:p>
          <a:p>
            <a:r>
              <a:t>https://www.cncf.io/projects/kaito/</a:t>
            </a:r>
          </a:p>
          <a:p>
            <a:r>
              <a:t>https://github.com/kaito-project/kaito</a:t>
            </a:r>
          </a:p>
        </p:txBody>
      </p:sp>
    </p:spTree>
    <p:extLst>
      <p:ext uri="{BB962C8B-B14F-4D97-AF65-F5344CB8AC3E}">
        <p14:creationId xmlns:p14="http://schemas.microsoft.com/office/powerpoint/2010/main" val="253558605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Here, we ask for a Qwen model, an A100 instance type, and three replicas. That’s the desired state. KAITO takes this InferenceSet and works to provision and maintain the workload we asked for.</a:t>
            </a:r>
          </a:p>
        </p:txBody>
      </p:sp>
    </p:spTree>
    <p:extLst>
      <p:ext uri="{BB962C8B-B14F-4D97-AF65-F5344CB8AC3E}">
        <p14:creationId xmlns:p14="http://schemas.microsoft.com/office/powerpoint/2010/main" val="14492462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CF1D-2689-0743-8B34-ADD41CAC18C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7460F8-42A3-5624-602E-7F3B10880897}"/>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F467683-052E-4E6B-BCD1-AF036F6B40A1}"/>
              </a:ext>
            </a:extLst>
          </p:cNvPr>
          <p:cNvSpPr>
            <a:spLocks noGrp="1"/>
          </p:cNvSpPr>
          <p:nvPr>
            <p:ph type="body" idx="1"/>
          </p:nvPr>
        </p:nvSpPr>
        <p:spPr/>
        <p:txBody>
          <a:bodyPr/>
          <a:lstStyle/>
          <a:p>
            <a:r>
              <a:t>Speaker script</a:t>
            </a:r>
          </a:p>
          <a:p/>
          <a:p>
            <a:r>
              <a:t>Start with GPU memory and leave room for runtime overhead and KV cache. Next, estimate how many GPUs the weights need, then map those GPUs to nodes. This gives us a starting point—not a substitute for load testing.</a:t>
            </a:r>
          </a:p>
        </p:txBody>
      </p:sp>
    </p:spTree>
    <p:extLst>
      <p:ext uri="{BB962C8B-B14F-4D97-AF65-F5344CB8AC3E}">
        <p14:creationId xmlns:p14="http://schemas.microsoft.com/office/powerpoint/2010/main" val="14492462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expose one service, but configure prefill and decode separately. KAITO manages the topology. InferencePool connects it to the gateway, llm-d picks and coordinates workers, and vLLM with NIXL runs inference and moves KV.</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gateway asks the Endpoint Picker which workers to use. The picker can consider roles and cache state, depending on its plugins. It returns a routing decision; the actual inference request doesn’t pass through it.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Think of three jobs. KAITO manages the topology. The Gateway API Inference Extension defines how the gateway connects to it. llm-d picks the endpoints. InferencePool connects discovery and routing; it isn’t another proxy in the request path.</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Follow the three paths. KAITO creates and updates resources. The gateway asks the picker, then sends the request to the decode sidecar. The sidecar coordinates prefill and decode, while KV moves directly between the runtimes—not through the gateway.</a:t>
            </a:r>
          </a:p>
          <a:p/>
          <a:p>
            <a:r>
              <a:t>Technical reference (not part of the spoken script)</a:t>
            </a:r>
          </a:p>
          <a:p/>
          <a:p>
            <a:r>
              <a:t>The upper band is resource ownership, not traffic. The gateway consults the llm-d Router EPP through the InferencePool integration and forwards to the selected decode sidecar, carrying the selected prefill worker when applicable. The sidecar invokes remote prefill and local decode. The green arrow denotes the direction of KV data (prefill to decode); the decode runtime initiates the read. Response arrows are omitted for clarity and shown on slide 29. InferenceSets are managed resources, not network hops.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This example uses one A100 prefill replica and two H100 decode replicas. The point is that each role can have its own placement and replica count. It’s not a recommended ratio; we still need to check hardware and transfer compatibility.</a:t>
            </a:r>
          </a:p>
          <a:p/>
          <a:p>
            <a:r>
              <a:t>Technical reference (not part of the spoken script)</a:t>
            </a:r>
          </a:p>
          <a:p/>
          <a:p>
            <a:r>
              <a:t>User-supplied example: kaito.sh/v1alpha1 MultiRoleInference named qwen-3-8-27b, model Qwen/Qwen3.8-27B. The prefill role has replicas: 1 and instanceType: Standard_NC24ads_A100_v4; the decode role has replicas: 2 and instanceType: Standard_NC80adis_H100_v5. The diagram shows role replicas, not the number of GPUs in each VM. Model and SKU identifiers are reproduced as provided; model availability, installed CRD schema, deployment prerequisites, quota and regional SKU support have not been validated by this presentation edit. Replica cards are illustrative workers; each role is managed through its own InferenceSet.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From one topology, KAITO creates the role-specific InferenceSets and routing resources. It keeps labels, ports, sidecars, and ownership aligned as things change. That handles the wiring; it doesn’t automatically decide how each role should scale.</a:t>
            </a:r>
          </a:p>
          <a:p/>
          <a:p>
            <a:r>
              <a:t>Technical reference (not part of the spoken script)</a:t>
            </a:r>
          </a:p>
          <a:p/>
          <a:p>
            <a:r>
              <a:t>The dashed tree is a resource and responsibility map, not an exact claim that every depicted object is a direct Kubernetes child of the MultiRoleInference. Ownership and reconciliation can be delegated through child controllers. Distinguish the resources from the wiring installed in their pods. Per-role autoscaling is an integration surface; do not imply every policy is provided automatically.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request reaches the decode sidecar, which calls prefill and gets KV metadata back. Local decode uses that metadata to read KV directly from prefill through NIXL. The answer then returns through the sidecar and gateway.</a:t>
            </a:r>
          </a:p>
          <a:p/>
          <a:p>
            <a:r>
              <a:t>Technical reference (not part of the spoken script)</a:t>
            </a:r>
          </a:p>
          <a:p/>
          <a:p>
            <a:r>
              <a:t>Based on llm-d-router docs/disaggregation.md#pd-sequence. Step 2 follows EPP selection; the EPP consultation is omitted from this sequence and shown on slide 26. Step 4 returns transfer metadata, not the KV payload. Step 5 carries remote_prefill=true, prefill request ID and memory block IDs to local decode. Step 6 shows KV DATA direction (prefill → decode); decode initiates the NIXL read. Response arrows return via sidecar and gateway. Source: https://github.com/llm-d/llm-d-router/blob/main/docs/disaggregation.md#pd-sequence</a:t>
            </a:r>
          </a:p>
          <a:p/>
          <a:p>
            <a:r>
              <a:t>References</a:t>
            </a:r>
          </a:p>
          <a:p>
            <a:r>
              <a:t>https://github.com/llm-d/llm-d-router/blob/main/docs/disaggregation.md#pd-sequence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gateway talks to one endpoint: the decode sidecar. The sidecar calls remote prefill and local decode, then returns the response. KV takes a separate, direct path. The port numbers here are configuration choices, not fixed requirements.</a:t>
            </a:r>
          </a:p>
          <a:p/>
          <a:p>
            <a:r>
              <a:t>Technical reference (not part of the spoken script)</a:t>
            </a:r>
          </a:p>
          <a:p/>
          <a:p>
            <a:r>
              <a:t>Ports 5000 and 5001 reflect this deployment configuration, not universal requirements for every llm-d deployment. The InferencePool targetPort must reach the sidecar’s listening port. The sidecar coordinates remote prefill, passes transfer metadata to local vLLM, and proxies the final response. KV payload does not transit through the HTTP sidecar. The decode runtime performs the KV read over NIXL.</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0FC2CB-C297-C660-5463-BB725615520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380E2BF-14C8-4C97-42B9-340F5154E37E}"/>
              </a:ext>
            </a:extLst>
          </p:cNvPr>
          <p:cNvSpPr>
            <a:spLocks noGrp="1" noRot="1" noChangeAspect="1"/>
          </p:cNvSpPr>
          <p:nvPr>
            <p:ph type="sldImg"/>
          </p:nvPr>
        </p:nvSpPr>
        <p:spPr>
          <a:xfrm>
            <a:off x="381000" y="685800"/>
            <a:ext cx="6096000" cy="3429000"/>
          </a:xfrm>
        </p:spPr>
        <p:txBody>
          <a:bodyPr/>
          <a:lstStyle/>
          <a:p>
            <a:endParaRPr lang="zh-CN" altLang="en-US"/>
          </a:p>
        </p:txBody>
      </p:sp>
      <p:sp>
        <p:nvSpPr>
          <p:cNvPr id="3" name="备注占位符 2">
            <a:extLst>
              <a:ext uri="{FF2B5EF4-FFF2-40B4-BE49-F238E27FC236}">
                <a16:creationId xmlns:a16="http://schemas.microsoft.com/office/drawing/2014/main" id="{0273D939-1A03-F20C-296E-6597666CD096}"/>
              </a:ext>
            </a:extLst>
          </p:cNvPr>
          <p:cNvSpPr>
            <a:spLocks noGrp="1"/>
          </p:cNvSpPr>
          <p:nvPr>
            <p:ph type="body" idx="1"/>
          </p:nvPr>
        </p:nvSpPr>
        <p:spPr/>
        <p:txBody>
          <a:bodyPr/>
          <a:lstStyle/>
          <a:p>
            <a:r>
              <a:t>Speaker script</a:t>
            </a:r>
          </a:p>
          <a:p/>
          <a:p>
            <a:r>
              <a:t>Here, routing connects two separate stages: prefill and decode. Each stage has its own nodes, so we can choose different resources and schedules. That gives us more control over first-token latency and the pace of later tokens.</a:t>
            </a:r>
          </a:p>
        </p:txBody>
      </p:sp>
    </p:spTree>
    <p:extLst>
      <p:ext uri="{BB962C8B-B14F-4D97-AF65-F5344CB8AC3E}">
        <p14:creationId xmlns:p14="http://schemas.microsoft.com/office/powerpoint/2010/main" val="1698950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4"/>
        <p:cNvGrpSpPr/>
        <p:nvPr/>
      </p:nvGrpSpPr>
      <p:grpSpPr>
        <a:xfrm>
          <a:off x="0" y="0"/>
          <a:ext cx="0" cy="0"/>
          <a:chOff x="0" y="0"/>
          <a:chExt cx="0" cy="0"/>
        </a:xfrm>
      </p:grpSpPr>
      <p:sp>
        <p:nvSpPr>
          <p:cNvPr id="3485" name="Google Shape;3485;g3e5338da07b_0_22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zh-CN" altLang="en-US"/>
          </a:p>
        </p:txBody>
      </p:sp>
      <p:sp>
        <p:nvSpPr>
          <p:cNvPr id="3486" name="Google Shape;3486;g3e5338da07b_0_22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Speaker script</a:t>
            </a:r>
          </a:p>
          <a:p/>
          <a:p>
            <a:r>
              <a:t>KV goes directly from prefill to decode through NIXL. GPU-direct RDMA only works with compatible hardware and backend support; TCP isn’t RDMA. So we need to measure transfer time and any staging cost on our own setup.</a:t>
            </a:r>
          </a:p>
        </p:txBody>
      </p:sp>
    </p:spTree>
    <p:extLst>
      <p:ext uri="{BB962C8B-B14F-4D97-AF65-F5344CB8AC3E}">
        <p14:creationId xmlns:p14="http://schemas.microsoft.com/office/powerpoint/2010/main" val="233665756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Scale the role that needs more capacity. Waiting requests can show prefill pressure; running requests can show decode load. This is a proposed role-aware pattern, not something MRI does automatically. We still need to validate the signals and safeguards.</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Today, KEDA can scale an InferenceSet using a schedule or Prometheus metrics. KEDA is installed separately. This gives us workload scaling, but it doesn’t yet give us native MRI-level policies for each role.</a:t>
            </a:r>
          </a:p>
          <a:p/>
          <a:p>
            <a:r>
              <a:t>Technical reference (not part of the spoken script)</a:t>
            </a:r>
          </a:p>
          <a:p/>
          <a:p>
            <a:r>
              <a:t>KEDA is installed separately. The KAITO documentation shows Cron and Prometheus triggers with a ScaledObject scaleTargetRef pointing to a kaito.sh InferenceSet. The controller reconciles the desired replicas into serving resources. The queue metric example is real; it does not establish native per-role MRI autoscaling policy.</a:t>
            </a:r>
          </a:p>
          <a:p/>
          <a:p>
            <a:r>
              <a:t>References</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3E1FD-DF2C-B744-F449-580268366C1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7F622D-7B76-6ED7-8FBE-63F9EDE6C268}"/>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A526001A-7849-5A55-C08F-CDCA6635D57C}"/>
              </a:ext>
            </a:extLst>
          </p:cNvPr>
          <p:cNvSpPr>
            <a:spLocks noGrp="1"/>
          </p:cNvSpPr>
          <p:nvPr>
            <p:ph type="body" idx="1"/>
          </p:nvPr>
        </p:nvSpPr>
        <p:spPr/>
        <p:txBody>
          <a:bodyPr/>
          <a:lstStyle/>
          <a:p>
            <a:r>
              <a:t>Speaker script</a:t>
            </a:r>
          </a:p>
          <a:p/>
          <a:p>
            <a:r>
              <a:t>This scaler reads vLLM metrics directly, so it doesn’t need Prometheus. It can combine queue and latency signals with an AND rule and take conservative scaling steps. We still need KEDA and a safe replica lifecycle.</a:t>
            </a:r>
          </a:p>
        </p:txBody>
      </p:sp>
    </p:spTree>
    <p:extLst>
      <p:ext uri="{BB962C8B-B14F-4D97-AF65-F5344CB8AC3E}">
        <p14:creationId xmlns:p14="http://schemas.microsoft.com/office/powerpoint/2010/main" val="319052246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61F81C-0A63-C991-6B5C-C9782F9A45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FACE33-ED3D-07B2-95CE-3EA7C114641D}"/>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024D00C3-B364-8AFC-DCCF-39E6FB80E4E0}"/>
              </a:ext>
            </a:extLst>
          </p:cNvPr>
          <p:cNvSpPr>
            <a:spLocks noGrp="1"/>
          </p:cNvSpPr>
          <p:nvPr>
            <p:ph type="body" idx="1"/>
          </p:nvPr>
        </p:nvSpPr>
        <p:spPr/>
        <p:txBody>
          <a:bodyPr/>
          <a:lstStyle/>
          <a:p>
            <a:r>
              <a:t>Speaker script</a:t>
            </a:r>
          </a:p>
          <a:p/>
          <a:p>
            <a:r>
              <a:t>Today, we choose the metrics, thresholds, timing windows, replica limits, and cooldowns. The idea on the right is to derive more defaults for us; that isn’t shipped auto-tuning. Annotations express what we want, and controllers manage the scaling resources.</a:t>
            </a:r>
          </a:p>
          <a:p/>
          <a:p>
            <a:r>
              <a:t>Configuration reference (from the original deck; validate against the installed scaler version)</a:t>
            </a:r>
          </a:p>
          <a:p/>
          <a:p/>
        </p:txBody>
      </p:sp>
    </p:spTree>
    <p:extLst>
      <p:ext uri="{BB962C8B-B14F-4D97-AF65-F5344CB8AC3E}">
        <p14:creationId xmlns:p14="http://schemas.microsoft.com/office/powerpoint/2010/main" val="362140088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Give prefill and decode their own feedback loops, each targeting its own InferenceSet. Keep one autoscaler per target. Both loops need time to settle, time to load the model, and a safe way to scale down.</a:t>
            </a:r>
          </a:p>
          <a:p/>
          <a:p>
            <a:r>
              <a:t>Technical reference (not part of the spoken script)</a:t>
            </a:r>
          </a:p>
          <a:p/>
          <a:p>
            <a:r>
              <a:t>Conceptual two-loop design. A KEDA deployment can use one ScaledObject per target InferenceSet. Native vLLM waiting and running request gauges supply role-specific signals. Do not install conflicting autoscalers for one target. Metric aggregation, freshness, model warm-up and safe scale-down require verification. The following slides explain policy and signal choices independently of the configuration API.</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start with one service-level goal, then manage each role’s capacity separately. Scale a complete serving replica, not one tensor-parallel worker. And make sure only one controller owns the replica count for each role.</a:t>
            </a:r>
          </a:p>
          <a:p/>
          <a:p>
            <a:r>
              <a:t>Technical reference (not part of the spoken script)</a:t>
            </a:r>
          </a:p>
          <a:p/>
          <a:p>
            <a:r>
              <a:t>Public-facing design pattern: express service objectives, reconcile independent role policies, and scale each role as a complete serving replica. Policy representation and controller-specific wiring are implementation details and intentionally omitted here. Existing KEDA/InferenceSet capability is described on the earlier slide; this diagram is not a claim that automatic service-level policy projection is already available. Keep one authoritative autoscaler per target.</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Routing decides where a request goes; autoscaling decides how much capacity exists. Each role needs its own metrics and decisions. Watch out for duplicated metrics, and don’t count a new replica until its model is ready.</a:t>
            </a:r>
          </a:p>
          <a:p/>
          <a:p>
            <a:r>
              <a:t>Technical reference (not part of the spoken script)</a:t>
            </a:r>
          </a:p>
          <a:p/>
          <a:p>
            <a:r>
              <a:t>Architectural control pattern, independent of how policies are encoded. Each role has its own signals, controller decision and serving-replica target. KEDA/HPA targeting an InferenceSet is one implementation. Scope samples to the actual role and deduplicate engine/worker series. Scale complete serving replicas and account for model loading before counting new capacity as ready. Arrows show conceptual policy and metric flow, not strict ownership references or push-based scraping. The serving topology still coordinates P/D requests while the capacity loops act independently. Implementation-specific automatic policy projection is outside this talk slide.</a:t>
            </a:r>
          </a:p>
          <a:p/>
          <a:p>
            <a:r>
              <a:t>References</a:t>
            </a:r>
          </a:p>
          <a:p>
            <a:r>
              <a:t>https://github.com/andyzhangx/demo/blob/26c3e14a340d4b0aae5c820b43087d71b85d1554/llm/kaito-llm-d/kaito-role-aware-autoscaling-for-pd.md</a:t>
            </a:r>
          </a:p>
          <a:p>
            <a:r>
              <a:t>https://kaito-project.github.io/kaito/docs/keda-autoscaler-inference</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For prefill, more than eight waiting requests means scale up; fewer than one means scale down. For decode, the running-request thresholds are twenty-four and four. Otherwise, hold. These are example values—we need to test our own thresholds.</a:t>
            </a:r>
          </a:p>
          <a:p/>
          <a:p>
            <a:r>
              <a:t>Technical reference (not part of the spoken script)</a:t>
            </a:r>
          </a:p>
          <a:p/>
          <a:p>
            <a:r>
              <a:t>Native vllm:num_requests_waiting and vllm:num_requests_running are the primary signals for the respective roles. Verify metric presence, type and units on the actual runtime. Engine-local queues exclude requests still waiting in the router/EPP. Thresholds and bounds are illustrative, not capacity recommendations. The design example uses bounded incremental adjustments; behavior still depends on readiness, stabilization, cooldown and the chosen controller. Equal-to-threshold values hold under the stated strict comparisons. KV utilization and latency support diagnosis; integrating them into automated decisions needs an explicit tested policy. Missing/stale/non-finite data must not become zero; hold/report semantics require implementation and validation.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The two roles use different signals, thresholds, and replica limits. They share the same basic safeguards: ready replicas and fresh metrics. These numbers are examples. Before scaling down, allow for cooldown and model warm-up, and protect active requests.</a:t>
            </a:r>
          </a:p>
          <a:p/>
          <a:p>
            <a:r>
              <a:t>Technical reference (not part of the spoken script)</a:t>
            </a:r>
          </a:p>
          <a:p/>
          <a:p>
            <a:r>
              <a:t>The slide explains policy semantics without exposing configuration syntax. Values are illustrative and match the source design: waiting-request thresholds 8/1 and bounds 1–8 for prefill; running-request thresholds 24/4 and bounds 2–16 for decode. Evaluate role-scoped per-replica aggregation, not a whole-service sum. Apply strict above/below comparisons, hold between/equal to thresholds, and enforce bounds, fresh-data checks, readiness, stabilization and cooldown for both roles. Scale-down also requires safe treatment of in-flight work. Policy ownership must be unambiguous. The underlying representation is intentionally outside the external presentation.</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Only one controller should write each role’s replica count. Stop the old writer before handing over. If metrics are missing or invalid, hold and report the problem—don’t treat them as zero. Then test warm-up and safe scale-down.</a:t>
            </a:r>
          </a:p>
          <a:p/>
          <a:p>
            <a:r>
              <a:t>Technical reference (not part of the spoken script)</a:t>
            </a:r>
          </a:p>
          <a:p/>
          <a:p>
            <a:r>
              <a:t>Safety contract: do not let a fixed-replica reconciler and an autoscaler compete for the same target. Stop the old writer before handing over control, and never silently adopt/delete user-managed autoscalers. Missing, stale, unreachable or non-finite metric samples should prevent activation or hold active decisions and surface a condition/event. This is the required behavior, not an assertion that all controller/HPA fallback paths implement it today; verify end to end. Partial scrape coverage must not look like zero load. Readiness includes model loading and actual serving eligibility. Protect in-flight requests and KV state during scale-down.</a:t>
            </a:r>
          </a:p>
          <a:p/>
          <a:p>
            <a:r>
              <a:t>References</a:t>
            </a:r>
          </a:p>
          <a:p>
            <a:r>
              <a:t>https://github.com/andyzhangx/demo/blob/26c3e14a340d4b0aae5c820b43087d71b85d1554/llm/kaito-llm-d/kaito-role-aware-autoscaling-for-pd.md</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We can derive cache usage, free space, latency, and throughput from native metrics. But free cache space isn’t the same as room for more requests, and throughput alone doesn’t tell us demand. Start by using these signals to understand the workload.</a:t>
            </a:r>
          </a:p>
          <a:p/>
          <a:p>
            <a:r>
              <a:t>Technical reference (not part of the spoken script)</a:t>
            </a:r>
          </a:p>
          <a:p/>
          <a:p>
            <a:r>
              <a:t>These are derived-signal design examples, not metrics natively emitted by vLLM or a claim of current MRI integration support. All table input names have the vllm: prefix. Proposed recording-rule names: kaito:decode_kv_cache_usage_max = max valid role-scoped vllm:kv_cache_usage_perc; kaito:decode_kv_cache_free_fraction_min = 1 - that maximum; kaito:prefill_ttft_p95_seconds = histogram_quantile(0.95, summed per-series 5m bucket rates preserving workload/role and le); kaito:decode_generation_tokens_per_second = sum of reset-aware rate(vllm:generation_tokens_total[5m]). Generation tokens is a native Counter exposed with the _total suffix. KV usage is a fraction 0–1; 0.8 is 80%. Maximum usage and minimum free fraction are complements, not independent evidence, bytes or effective request capacity. A fleet maximum does not identify a safe removal target. Histogram quantiles need sufficient observations and are engine-local, not client P/D latency. Apply rate before summing counters, account for resets, deduplicate engines and require fresh/full role coverage. Recording-rule outputs do not appear on vLLM /metrics; a verified adapter/query integration is required. The desired guard allows high running load to scale up independently of KV occupancy, while low load permits scale-down only with safe KV utilization. Simply appending KV to the existing conservative AND list can suppress needed scale-up and is not this policy. Start with observation; promote a signal to control only after failure and workload tests.</a:t>
            </a:r>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In this proposed policy, twelve waiting requests make prefill scale up. Twelve running requests leave decode unchanged. The thresholds differ because the roles differ. This still needs an MRI adapter, child opt-in, and one replica-count owner per role.</a:t>
            </a:r>
          </a:p>
          <a:p/>
          <a:p>
            <a:r>
              <a:t>Full proposed YAML: https://github.com/andyzhangx/demo/blob/master/llm/kaito-llm-d/examples/proposed-pd-autoscaling-annotations.yaml</a:t>
            </a:r>
          </a:p>
          <a:p/>
          <a:p>
            <a:r>
              <a:t>Technical reference (not part of the spoken script)</a:t>
            </a:r>
          </a:p>
          <a:p/>
          <a:p>
            <a:r>
              <a:t>The slide summarizes a proposed per-role policy; the linked file contains the full resource example. Full YAML: llm/kaito-llm-d/examples/proposed-pd-autoscaling-annotations.yaml in this repository. Model and instanceType values in that file are illustrative and not deployment-validated. Annotation policy is a proposal and needs the integration work described in this technical reference. Role replicas are null to stop MRI enforcement; the adapter must reject non-null replicas with an enabled policy and bootstrap minima safely. The modelpod source discovers Workspaces owned by the target InferenceSet and scrapes their Workspace Service /metrics endpoints, not every GPU worker individually. The gauge default is service-avg: sum matching label series within each service, then average across successfully scraped services. Treat this as a per-serving-replica signal only after verifying the runtime/service topology; do not use an MRI-wide total or include router/EPP queues. Current source skips failed services and can treat a partially absent metric as zero, so complete-coverage missing-is-not-zero hardening is still required, not an existing guarantee. Example: with P=1 and D=2, prefill waiting=12 is above 8, so prefill has an up decision while decode running=12 lies between 4 and 24, so decode holds. Later running above 24 can independently request decode scale-up. These are illustrative decision outcomes, not observed tests or guaranteed instantaneous replica counts: readiness, cooldown, stabilization, data availability and bounds still apply. Strict comparisons mean equality holds. The generated expression produces 2.0 when ready and above up-threshold, 0.5 below down-threshold, otherwise 1.0; raw desired replicas are ceil(current replicas times that result). The generated HPA behavior limits each directional change to at most one replica per configured cooldown period, subject to stabilization and bounds. The formula is not itself N+1/N-1 and an evaluation does not guarantee immediate scaling. Values below 1 for prefill or below 4 for decode can request scale-down only after safeguards and within minima. Each role has only one metric, so AND is trivial within a role; it does NOT mean prefill and decode must both be busy. Do not claim an asymmetric KV guard is implemented by appending KV to AND. Require deployed vLLM /metrics verification and full-role sample coverage before activation.</a:t>
            </a:r>
          </a:p>
          <a:p/>
          <a:p>
            <a:r>
              <a:t>Full proposed YAML (design example; requires adapter integration)</a:t>
            </a:r>
          </a:p>
          <a:p/>
          <a:p>
            <a:r>
              <a:t># PROPOSAL ONLY: not a currently deployable MRI autoscaling API.</a:t>
            </a:r>
          </a:p>
          <a:p>
            <a:r>
              <a:t># Requires a validated MRI role-policy adapter and explicit scaler opt-in for MRI children.</a:t>
            </a:r>
          </a:p>
          <a:p>
            <a:r>
              <a:t># Model, SKUs, bounds and thresholds are illustrative; no cluster validation was performed.</a:t>
            </a:r>
          </a:p>
          <a:p>
            <a:r>
              <a:t># See ../kaito-role-aware-autoscaling-for-pd.md for ownership, prerequisites and safety.</a:t>
            </a:r>
          </a:p>
          <a:p>
            <a:r>
              <a:t>apiVersion: kaito.sh/v1alpha1</a:t>
            </a:r>
          </a:p>
          <a:p>
            <a:r>
              <a:t>kind: MultiRoleInference</a:t>
            </a:r>
          </a:p>
          <a:p>
            <a:r>
              <a:t>metadata:</a:t>
            </a:r>
          </a:p>
          <a:p>
            <a:r>
              <a:t>  name: deepseek-v3</a:t>
            </a:r>
          </a:p>
          <a:p>
            <a:r>
              <a:t>  annotations:</a:t>
            </a:r>
          </a:p>
          <a:p>
            <a:r>
              <a:t>    autoscaling.kaito.sh/roles: |</a:t>
            </a:r>
          </a:p>
          <a:p>
            <a:r>
              <a:t>      version: v1alpha1</a:t>
            </a:r>
          </a:p>
          <a:p>
            <a:r>
              <a:t>      roles:</a:t>
            </a:r>
          </a:p>
          <a:p>
            <a:r>
              <a:t>        prefill:</a:t>
            </a:r>
          </a:p>
          <a:p>
            <a:r>
              <a:t>          min-replicas: "1"</a:t>
            </a:r>
          </a:p>
          <a:p>
            <a:r>
              <a:t>          max-replicas: "8"</a:t>
            </a:r>
          </a:p>
          <a:p>
            <a:r>
              <a:t>          combinepolicy: AND</a:t>
            </a:r>
          </a:p>
          <a:p>
            <a:r>
              <a:t>          metrics:</a:t>
            </a:r>
          </a:p>
          <a:p>
            <a:r>
              <a:t>          - name: vllm:num_requests_waiting</a:t>
            </a:r>
          </a:p>
          <a:p>
            <a:r>
              <a:t>            type: gauge</a:t>
            </a:r>
          </a:p>
          <a:p>
            <a:r>
              <a:t>            upthreshold: 8</a:t>
            </a:r>
          </a:p>
          <a:p>
            <a:r>
              <a:t>            downthreshold: 1</a:t>
            </a:r>
          </a:p>
          <a:p>
            <a:r>
              <a:t>        decode:</a:t>
            </a:r>
          </a:p>
          <a:p>
            <a:r>
              <a:t>          min-replicas: "2"</a:t>
            </a:r>
          </a:p>
          <a:p>
            <a:r>
              <a:t>          max-replicas: "16"</a:t>
            </a:r>
          </a:p>
          <a:p>
            <a:r>
              <a:t>          combinepolicy: AND</a:t>
            </a:r>
          </a:p>
          <a:p>
            <a:r>
              <a:t>          metrics:</a:t>
            </a:r>
          </a:p>
          <a:p>
            <a:r>
              <a:t>          - name: vllm:num_requests_running</a:t>
            </a:r>
          </a:p>
          <a:p>
            <a:r>
              <a:t>            type: gauge</a:t>
            </a:r>
          </a:p>
          <a:p>
            <a:r>
              <a:t>            upthreshold: 24</a:t>
            </a:r>
          </a:p>
          <a:p>
            <a:r>
              <a:t>            downthreshold: 4</a:t>
            </a:r>
          </a:p>
          <a:p>
            <a:r>
              <a:t>spec:</a:t>
            </a:r>
          </a:p>
          <a:p>
            <a:r>
              <a:t>  labelSelector:</a:t>
            </a:r>
          </a:p>
          <a:p>
            <a:r>
              <a:t>    matchLabels:</a:t>
            </a:r>
          </a:p>
          <a:p>
            <a:r>
              <a:t>      apps: deepseek-v3</a:t>
            </a:r>
          </a:p>
          <a:p>
            <a:r>
              <a:t>  model:</a:t>
            </a:r>
          </a:p>
          <a:p>
            <a:r>
              <a:t>    name: deepseek-ai/DeepSeek-V3</a:t>
            </a:r>
          </a:p>
          <a:p>
            <a:r>
              <a:t>  roles:</a:t>
            </a:r>
          </a:p>
          <a:p>
            <a:r>
              <a:t>  - type: prefill</a:t>
            </a:r>
          </a:p>
          <a:p>
            <a:r>
              <a:t>    instanceType: Standard_ND96isr_H100_v5</a:t>
            </a:r>
          </a:p>
          <a:p>
            <a:r>
              <a:t>    replicas: null</a:t>
            </a:r>
          </a:p>
          <a:p>
            <a:r>
              <a:t>  - type: decode</a:t>
            </a:r>
          </a:p>
          <a:p>
            <a:r>
              <a:t>    instanceType: Standard_ND96isr_H100_v5</a:t>
            </a:r>
          </a:p>
          <a:p>
            <a:r>
              <a:t>    replicas: null</a:t>
            </a:r>
          </a:p>
          <a:p/>
          <a:p/>
          <a:p>
            <a:r>
              <a:t>References</a:t>
            </a:r>
          </a:p>
          <a:p>
            <a:r>
              <a:t>https://github.com/andyzhangx/demo/blob/26c3e14a340d4b0aae5c820b43087d71b85d1554/llm/kaito-llm-d/kaito-role-aware-autoscaling-for-pd.md</a:t>
            </a:r>
          </a:p>
          <a:p>
            <a:r>
              <a:t>https://docs.vllm.ai/en/stable/usage/metrics/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P/D looks most useful when the roles need different capacity and KV transfer is affordable. If transfer costs too much, fix the topology first. If both roles need similar capacity, one pool may be enough. Compare under the same workload, cost, and latency targets.</a:t>
            </a:r>
          </a:p>
          <a:p/>
          <a:p>
            <a:r>
              <a:t>Technical reference (not part of the spoken script)</a:t>
            </a:r>
          </a:p>
          <a:p/>
          <a:p>
            <a:r>
              <a:t>Source: companion Markdown section — When to use P/D, and when not to. This is a qualitative decision matrix, not measured results or a performance guarantee. The horizontal axis increases from costly/weak transfer to cheap/fast-enough transfer; the vertical axis increases from similar role bottlenecks at the bottom to meaningfully different scaling, bottlenecks or parallelism at the top. Top-right is the strongest candidate; bottom-left stays aggregated. Top-left should first improve locality/transport or investigate same-node placement. Bottom-right usually remains aggregated because cheap transfer does not by itself create a reason for role separation. Cross-node placement is a risk factor to measure, not proof that fabric is weak: fast cross-node links can satisfy the right-hand condition. Likewise single-node transfer is not automatically free. Compare actual KV payload transfer cost, contention, tail latency, reliability and operational complexity. A strong candidate still requires a matched workload/cost/SLO benchmark.</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t>Speaker script</a:t>
            </a:r>
          </a:p>
          <a:p/>
          <a:p>
            <a:r>
              <a:t>Next, we can explore cache-aware routing, tiered cache, and a separate encoding stage. At larger scale, there’s wide expert parallelism and better cross-node transport. These are integration directions to explore, not promised release dates or claims that the underlying features are new.</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Thank you for joining us. We’re happy to take your questions.</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Remember three things: prefill and decode need different capacity, KAITO and llm-d have clear responsibilities, and each role needs its own scaling signals and safeguards. Keep the split only when measured gains justify the extra cost.</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Speaker script</a:t>
            </a:r>
          </a:p>
          <a:p/>
          <a:p>
            <a:r>
              <a:t>Both llm-d and KAITO are CNCF Sandbox projects. These links take you to their GitHub projects and KAITO’s P/D guide, covering prerequisites and configuration. Check the supported versions before trying the integration on your cluster.</a:t>
            </a:r>
          </a:p>
          <a:p/>
          <a:p>
            <a:r>
              <a:t>References</a:t>
            </a:r>
          </a:p>
          <a:p>
            <a:r>
              <a:t>https://github.com/llm-d</a:t>
            </a:r>
          </a:p>
          <a:p>
            <a:r>
              <a:t>https://github.com/kaito-project/kaito</a:t>
            </a:r>
          </a:p>
          <a:p>
            <a:r>
              <a:t>https://kaito-project.github.io/kaito/docs/prefill-decode-disaggregation/</a:t>
            </a:r>
          </a:p>
          <a:p>
            <a:r>
              <a:t>https://www.cncf.io/projects/llm-d/</a:t>
            </a:r>
          </a:p>
          <a:p>
            <a:r>
              <a:t>https://www.cncf.io/projects/kaito/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Title Slide">
  <p:cSld name="2_Title Slide">
    <p:bg>
      <p:bgPr>
        <a:gradFill>
          <a:gsLst>
            <a:gs pos="0">
              <a:srgbClr val="316CE5">
                <a:alpha val="74902"/>
              </a:srgbClr>
            </a:gs>
            <a:gs pos="100000">
              <a:schemeClr val="lt1"/>
            </a:gs>
          </a:gsLst>
          <a:lin ang="10800000" scaled="0"/>
        </a:gradFill>
        <a:effectLst/>
      </p:bgPr>
    </p:bg>
    <p:spTree>
      <p:nvGrpSpPr>
        <p:cNvPr id="1" name="Shape 11"/>
        <p:cNvGrpSpPr/>
        <p:nvPr/>
      </p:nvGrpSpPr>
      <p:grpSpPr>
        <a:xfrm>
          <a:off x="0" y="0"/>
          <a:ext cx="0" cy="0"/>
          <a:chOff x="0" y="0"/>
          <a:chExt cx="0" cy="0"/>
        </a:xfrm>
      </p:grpSpPr>
      <p:pic>
        <p:nvPicPr>
          <p:cNvPr id="12" name="Google Shape;12;p8" title="CloudNativeAIInferenceDay_NA_Logos_horizontal-color.png"/>
          <p:cNvPicPr preferRelativeResize="0"/>
          <p:nvPr/>
        </p:nvPicPr>
        <p:blipFill rotWithShape="1">
          <a:blip r:embed="rId2">
            <a:alphaModFix/>
          </a:blip>
          <a:srcRect/>
          <a:stretch/>
        </p:blipFill>
        <p:spPr>
          <a:xfrm>
            <a:off x="1146366" y="1166703"/>
            <a:ext cx="6851277" cy="28101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bg>
      <p:bgPr>
        <a:solidFill>
          <a:schemeClr val="lt1"/>
        </a:solidFill>
        <a:effectLst/>
      </p:bgPr>
    </p:bg>
    <p:spTree>
      <p:nvGrpSpPr>
        <p:cNvPr id="1" name="Shape 13"/>
        <p:cNvGrpSpPr/>
        <p:nvPr/>
      </p:nvGrpSpPr>
      <p:grpSpPr>
        <a:xfrm>
          <a:off x="0" y="0"/>
          <a:ext cx="0" cy="0"/>
          <a:chOff x="0" y="0"/>
          <a:chExt cx="0" cy="0"/>
        </a:xfrm>
      </p:grpSpPr>
      <p:sp>
        <p:nvSpPr>
          <p:cNvPr id="14" name="Google Shape;14;p11"/>
          <p:cNvSpPr/>
          <p:nvPr/>
        </p:nvSpPr>
        <p:spPr>
          <a:xfrm>
            <a:off x="0" y="0"/>
            <a:ext cx="9144000" cy="701566"/>
          </a:xfrm>
          <a:prstGeom prst="rect">
            <a:avLst/>
          </a:prstGeom>
          <a:gradFill>
            <a:gsLst>
              <a:gs pos="0">
                <a:srgbClr val="316CE5">
                  <a:alpha val="44706"/>
                </a:srgbClr>
              </a:gs>
              <a:gs pos="100000">
                <a:schemeClr val="lt1"/>
              </a:gs>
            </a:gsLst>
            <a:lin ang="102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chemeClr val="lt1"/>
              </a:solidFill>
              <a:latin typeface="Arial"/>
              <a:ea typeface="Arial"/>
              <a:cs typeface="Arial"/>
              <a:sym typeface="Arial"/>
            </a:endParaRPr>
          </a:p>
        </p:txBody>
      </p:sp>
      <p:pic>
        <p:nvPicPr>
          <p:cNvPr id="15" name="Google Shape;15;p11" title="CloudNativeAIInferenceDay_NA_Logos_horizontal-color.png"/>
          <p:cNvPicPr preferRelativeResize="0"/>
          <p:nvPr/>
        </p:nvPicPr>
        <p:blipFill rotWithShape="1">
          <a:blip r:embed="rId2">
            <a:alphaModFix/>
          </a:blip>
          <a:srcRect/>
          <a:stretch/>
        </p:blipFill>
        <p:spPr>
          <a:xfrm>
            <a:off x="7459074" y="57825"/>
            <a:ext cx="1428577" cy="5859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bg>
      <p:bgPr>
        <a:gradFill>
          <a:gsLst>
            <a:gs pos="0">
              <a:srgbClr val="316CE5">
                <a:alpha val="49804"/>
              </a:srgbClr>
            </a:gs>
            <a:gs pos="100000">
              <a:schemeClr val="lt1"/>
            </a:gs>
          </a:gsLst>
          <a:lin ang="10200000" scaled="0"/>
        </a:gradFill>
        <a:effectLst/>
      </p:bgPr>
    </p:bg>
    <p:spTree>
      <p:nvGrpSpPr>
        <p:cNvPr id="1" name="Shape 16"/>
        <p:cNvGrpSpPr/>
        <p:nvPr/>
      </p:nvGrpSpPr>
      <p:grpSpPr>
        <a:xfrm>
          <a:off x="0" y="0"/>
          <a:ext cx="0" cy="0"/>
          <a:chOff x="0" y="0"/>
          <a:chExt cx="0" cy="0"/>
        </a:xfrm>
      </p:grpSpPr>
      <p:pic>
        <p:nvPicPr>
          <p:cNvPr id="17" name="Google Shape;17;p9" title="CloudNativeAIInferenceDay_NA_Logos_horizontal-color.png"/>
          <p:cNvPicPr preferRelativeResize="0"/>
          <p:nvPr/>
        </p:nvPicPr>
        <p:blipFill rotWithShape="1">
          <a:blip r:embed="rId2">
            <a:alphaModFix/>
          </a:blip>
          <a:srcRect/>
          <a:stretch/>
        </p:blipFill>
        <p:spPr>
          <a:xfrm>
            <a:off x="6763466" y="179974"/>
            <a:ext cx="2170701" cy="89029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bg>
      <p:bgPr>
        <a:gradFill>
          <a:gsLst>
            <a:gs pos="0">
              <a:srgbClr val="316CE5">
                <a:alpha val="60000"/>
              </a:srgbClr>
            </a:gs>
            <a:gs pos="100000">
              <a:schemeClr val="lt1"/>
            </a:gs>
          </a:gsLst>
          <a:lin ang="10200000" scaled="0"/>
        </a:gradFill>
        <a:effectLst/>
      </p:bgPr>
    </p:bg>
    <p:spTree>
      <p:nvGrpSpPr>
        <p:cNvPr id="1" name="Shape 18"/>
        <p:cNvGrpSpPr/>
        <p:nvPr/>
      </p:nvGrpSpPr>
      <p:grpSpPr>
        <a:xfrm>
          <a:off x="0" y="0"/>
          <a:ext cx="0" cy="0"/>
          <a:chOff x="0" y="0"/>
          <a:chExt cx="0" cy="0"/>
        </a:xfrm>
      </p:grpSpPr>
      <p:sp>
        <p:nvSpPr>
          <p:cNvPr id="19" name="Google Shape;19;p1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0" name="Google Shape;20;p1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1" name="Google Shape;21;p1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1_Title Slide">
  <p:cSld name="1_Title Slide">
    <p:bg>
      <p:bgPr>
        <a:gradFill>
          <a:gsLst>
            <a:gs pos="0">
              <a:srgbClr val="316CE5">
                <a:alpha val="60000"/>
              </a:srgbClr>
            </a:gs>
            <a:gs pos="100000">
              <a:schemeClr val="lt1"/>
            </a:gs>
          </a:gsLst>
          <a:lin ang="10200000" scaled="0"/>
        </a:gradFill>
        <a:effectLst/>
      </p:bgPr>
    </p:bg>
    <p:spTree>
      <p:nvGrpSpPr>
        <p:cNvPr id="1" name="Shape 22"/>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lt1"/>
        </a:solidFill>
        <a:effectLst/>
      </p:bgPr>
    </p:bg>
    <p:spTree>
      <p:nvGrpSpPr>
        <p:cNvPr id="1" name="Shape 23"/>
        <p:cNvGrpSpPr/>
        <p:nvPr/>
      </p:nvGrpSpPr>
      <p:grpSpPr>
        <a:xfrm>
          <a:off x="0" y="0"/>
          <a:ext cx="0" cy="0"/>
          <a:chOff x="0" y="0"/>
          <a:chExt cx="0" cy="0"/>
        </a:xfrm>
      </p:grpSpPr>
      <p:sp>
        <p:nvSpPr>
          <p:cNvPr id="24" name="Google Shape;24;p12"/>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5" name="Google Shape;25;p12"/>
          <p:cNvSpPr txBox="1">
            <a:spLocks noGrp="1"/>
          </p:cNvSpPr>
          <p:nvPr>
            <p:ph type="body" idx="1"/>
          </p:nvPr>
        </p:nvSpPr>
        <p:spPr>
          <a:xfrm>
            <a:off x="623888" y="3442097"/>
            <a:ext cx="7886700" cy="11250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26" name="Google Shape;26;p1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7" name="Google Shape;27;p1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28" name="Google Shape;28;p1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wo Content" type="twoObj">
  <p:cSld name="TWO_OBJECTS">
    <p:bg>
      <p:bgPr>
        <a:solidFill>
          <a:schemeClr val="lt1"/>
        </a:solidFill>
        <a:effectLst/>
      </p:bgPr>
    </p:bg>
    <p:spTree>
      <p:nvGrpSpPr>
        <p:cNvPr id="1" name="Shape 29"/>
        <p:cNvGrpSpPr/>
        <p:nvPr/>
      </p:nvGrpSpPr>
      <p:grpSpPr>
        <a:xfrm>
          <a:off x="0" y="0"/>
          <a:ext cx="0" cy="0"/>
          <a:chOff x="0" y="0"/>
          <a:chExt cx="0" cy="0"/>
        </a:xfrm>
      </p:grpSpPr>
      <p:sp>
        <p:nvSpPr>
          <p:cNvPr id="30" name="Google Shape;30;p13"/>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1" name="Google Shape;31;p13"/>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2" name="Google Shape;32;p13"/>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33" name="Google Shape;33;p1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4" name="Google Shape;34;p1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5" name="Google Shape;35;p1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bg>
      <p:bgPr>
        <a:solidFill>
          <a:schemeClr val="lt1"/>
        </a:solidFill>
        <a:effectLst/>
      </p:bgPr>
    </p:bg>
    <p:spTree>
      <p:nvGrpSpPr>
        <p:cNvPr id="1" name="Shape 36"/>
        <p:cNvGrpSpPr/>
        <p:nvPr/>
      </p:nvGrpSpPr>
      <p:grpSpPr>
        <a:xfrm>
          <a:off x="0" y="0"/>
          <a:ext cx="0" cy="0"/>
          <a:chOff x="0" y="0"/>
          <a:chExt cx="0" cy="0"/>
        </a:xfrm>
      </p:grpSpPr>
      <p:sp>
        <p:nvSpPr>
          <p:cNvPr id="37" name="Google Shape;37;p14"/>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38" name="Google Shape;38;p14"/>
          <p:cNvSpPr txBox="1">
            <a:spLocks noGrp="1"/>
          </p:cNvSpPr>
          <p:nvPr>
            <p:ph type="body" idx="1"/>
          </p:nvPr>
        </p:nvSpPr>
        <p:spPr>
          <a:xfrm>
            <a:off x="629841" y="1260872"/>
            <a:ext cx="38682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39" name="Google Shape;39;p14"/>
          <p:cNvSpPr txBox="1">
            <a:spLocks noGrp="1"/>
          </p:cNvSpPr>
          <p:nvPr>
            <p:ph type="body" idx="2"/>
          </p:nvPr>
        </p:nvSpPr>
        <p:spPr>
          <a:xfrm>
            <a:off x="629841" y="1878806"/>
            <a:ext cx="38682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0" name="Google Shape;40;p14"/>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41" name="Google Shape;41;p14"/>
          <p:cNvSpPr txBox="1">
            <a:spLocks noGrp="1"/>
          </p:cNvSpPr>
          <p:nvPr>
            <p:ph type="body" idx="4"/>
          </p:nvPr>
        </p:nvSpPr>
        <p:spPr>
          <a:xfrm>
            <a:off x="4629150" y="1878806"/>
            <a:ext cx="3887400" cy="27633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42" name="Google Shape;42;p1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3" name="Google Shape;43;p1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4" name="Google Shape;44;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Only" type="titleOnly">
  <p:cSld name="TITLE_ONLY">
    <p:bg>
      <p:bgPr>
        <a:solidFill>
          <a:schemeClr val="lt1"/>
        </a:solidFill>
        <a:effectLst/>
      </p:bgPr>
    </p:bg>
    <p:spTree>
      <p:nvGrpSpPr>
        <p:cNvPr id="1" name="Shape 45"/>
        <p:cNvGrpSpPr/>
        <p:nvPr/>
      </p:nvGrpSpPr>
      <p:grpSpPr>
        <a:xfrm>
          <a:off x="0" y="0"/>
          <a:ext cx="0" cy="0"/>
          <a:chOff x="0" y="0"/>
          <a:chExt cx="0" cy="0"/>
        </a:xfrm>
      </p:grpSpPr>
      <p:sp>
        <p:nvSpPr>
          <p:cNvPr id="46" name="Google Shape;46;p15"/>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7" name="Google Shape;47;p1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8" name="Google Shape;48;p1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49" name="Google Shape;49;p1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bg>
      <p:bgPr>
        <a:solidFill>
          <a:schemeClr val="lt1"/>
        </a:solidFill>
        <a:effectLst/>
      </p:bgPr>
    </p:bg>
    <p:spTree>
      <p:nvGrpSpPr>
        <p:cNvPr id="1" name="Shape 50"/>
        <p:cNvGrpSpPr/>
        <p:nvPr/>
      </p:nvGrpSpPr>
      <p:grpSpPr>
        <a:xfrm>
          <a:off x="0" y="0"/>
          <a:ext cx="0" cy="0"/>
          <a:chOff x="0" y="0"/>
          <a:chExt cx="0" cy="0"/>
        </a:xfrm>
      </p:grpSpPr>
      <p:sp>
        <p:nvSpPr>
          <p:cNvPr id="51" name="Google Shape;51;p17"/>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2" name="Google Shape;52;p1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53" name="Google Shape;53;p17"/>
          <p:cNvSpPr txBox="1">
            <a:spLocks noGrp="1"/>
          </p:cNvSpPr>
          <p:nvPr>
            <p:ph type="body" idx="2"/>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54" name="Google Shape;54;p1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5" name="Google Shape;55;p1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6" name="Google Shape;56;p1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bg>
      <p:bgPr>
        <a:solidFill>
          <a:schemeClr val="lt1"/>
        </a:solidFill>
        <a:effectLst/>
      </p:bgPr>
    </p:bg>
    <p:spTree>
      <p:nvGrpSpPr>
        <p:cNvPr id="1" name="Shape 57"/>
        <p:cNvGrpSpPr/>
        <p:nvPr/>
      </p:nvGrpSpPr>
      <p:grpSpPr>
        <a:xfrm>
          <a:off x="0" y="0"/>
          <a:ext cx="0" cy="0"/>
          <a:chOff x="0" y="0"/>
          <a:chExt cx="0" cy="0"/>
        </a:xfrm>
      </p:grpSpPr>
      <p:sp>
        <p:nvSpPr>
          <p:cNvPr id="58" name="Google Shape;58;p18"/>
          <p:cNvSpPr txBox="1">
            <a:spLocks noGrp="1"/>
          </p:cNvSpPr>
          <p:nvPr>
            <p:ph type="title"/>
          </p:nvPr>
        </p:nvSpPr>
        <p:spPr>
          <a:xfrm>
            <a:off x="629841" y="342900"/>
            <a:ext cx="29493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59" name="Google Shape;59;p18"/>
          <p:cNvSpPr>
            <a:spLocks noGrp="1"/>
          </p:cNvSpPr>
          <p:nvPr>
            <p:ph type="pic" idx="2"/>
          </p:nvPr>
        </p:nvSpPr>
        <p:spPr>
          <a:xfrm>
            <a:off x="3887391" y="740569"/>
            <a:ext cx="4629300" cy="3655200"/>
          </a:xfrm>
          <a:prstGeom prst="rect">
            <a:avLst/>
          </a:prstGeom>
          <a:noFill/>
          <a:ln>
            <a:noFill/>
          </a:ln>
        </p:spPr>
      </p:sp>
      <p:sp>
        <p:nvSpPr>
          <p:cNvPr id="60" name="Google Shape;60;p18"/>
          <p:cNvSpPr txBox="1">
            <a:spLocks noGrp="1"/>
          </p:cNvSpPr>
          <p:nvPr>
            <p:ph type="body" idx="1"/>
          </p:nvPr>
        </p:nvSpPr>
        <p:spPr>
          <a:xfrm>
            <a:off x="629841" y="1543050"/>
            <a:ext cx="29493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61" name="Google Shape;61;p1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2" name="Google Shape;62;p1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3" name="Google Shape;63;p1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bg>
      <p:bgPr>
        <a:solidFill>
          <a:schemeClr val="lt1"/>
        </a:solidFill>
        <a:effectLst/>
      </p:bgPr>
    </p:bg>
    <p:spTree>
      <p:nvGrpSpPr>
        <p:cNvPr id="1" name="Shape 64"/>
        <p:cNvGrpSpPr/>
        <p:nvPr/>
      </p:nvGrpSpPr>
      <p:grpSpPr>
        <a:xfrm>
          <a:off x="0" y="0"/>
          <a:ext cx="0" cy="0"/>
          <a:chOff x="0" y="0"/>
          <a:chExt cx="0" cy="0"/>
        </a:xfrm>
      </p:grpSpPr>
      <p:sp>
        <p:nvSpPr>
          <p:cNvPr id="65" name="Google Shape;65;p1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6" name="Google Shape;66;p1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67" name="Google Shape;67;p1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8" name="Google Shape;68;p1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69" name="Google Shape;69;p1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bg>
      <p:bgPr>
        <a:solidFill>
          <a:schemeClr val="lt1"/>
        </a:solidFill>
        <a:effectLst/>
      </p:bgPr>
    </p:bg>
    <p:spTree>
      <p:nvGrpSpPr>
        <p:cNvPr id="1" name="Shape 70"/>
        <p:cNvGrpSpPr/>
        <p:nvPr/>
      </p:nvGrpSpPr>
      <p:grpSpPr>
        <a:xfrm>
          <a:off x="0" y="0"/>
          <a:ext cx="0" cy="0"/>
          <a:chOff x="0" y="0"/>
          <a:chExt cx="0" cy="0"/>
        </a:xfrm>
      </p:grpSpPr>
      <p:sp>
        <p:nvSpPr>
          <p:cNvPr id="71" name="Google Shape;71;p2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2" name="Google Shape;72;p2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73" name="Google Shape;73;p2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4" name="Google Shape;74;p2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a:endParaRPr/>
          </a:p>
        </p:txBody>
      </p:sp>
      <p:sp>
        <p:nvSpPr>
          <p:cNvPr id="75" name="Google Shape;75;p2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1_Title and Content">
    <p:bg>
      <p:bgPr>
        <a:blipFill>
          <a:blip r:embed="rId2">
            <a:alphaModFix/>
          </a:blip>
          <a:stretch>
            <a:fillRect/>
          </a:stretch>
        </a:blipFill>
        <a:effectLst/>
      </p:bgPr>
    </p:bg>
    <p:spTree>
      <p:nvGrpSpPr>
        <p:cNvPr id="1" name="Shape 23"/>
        <p:cNvGrpSpPr/>
        <p:nvPr/>
      </p:nvGrpSpPr>
      <p:grpSpPr>
        <a:xfrm>
          <a:off x="0" y="0"/>
          <a:ext cx="0" cy="0"/>
          <a:chOff x="0" y="0"/>
          <a:chExt cx="0" cy="0"/>
        </a:xfrm>
      </p:grpSpPr>
      <p:sp>
        <p:nvSpPr>
          <p:cNvPr id="24" name="Google Shape;24;p8"/>
          <p:cNvSpPr/>
          <p:nvPr/>
        </p:nvSpPr>
        <p:spPr>
          <a:xfrm>
            <a:off x="0" y="842962"/>
            <a:ext cx="9144000" cy="4314600"/>
          </a:xfrm>
          <a:prstGeom prst="rect">
            <a:avLst/>
          </a:prstGeom>
          <a:solidFill>
            <a:schemeClr val="lt1"/>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b="0" i="0" u="none" strike="noStrike" cap="none">
              <a:solidFill>
                <a:schemeClr val="lt1"/>
              </a:solidFill>
              <a:latin typeface="Arial"/>
              <a:ea typeface="Arial"/>
              <a:cs typeface="Arial"/>
              <a:sym typeface="Arial"/>
            </a:endParaRPr>
          </a:p>
        </p:txBody>
      </p:sp>
      <p:sp>
        <p:nvSpPr>
          <p:cNvPr id="25" name="Google Shape;25;p8"/>
          <p:cNvSpPr txBox="1">
            <a:spLocks noGrp="1"/>
          </p:cNvSpPr>
          <p:nvPr>
            <p:ph type="title"/>
          </p:nvPr>
        </p:nvSpPr>
        <p:spPr>
          <a:xfrm>
            <a:off x="121444" y="0"/>
            <a:ext cx="6257925" cy="8430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lt1"/>
              </a:buClr>
              <a:buSzPts val="1000"/>
              <a:buNone/>
              <a:defRPr sz="2700">
                <a:solidFill>
                  <a:schemeClr val="lt1"/>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8"/>
          <p:cNvSpPr txBox="1">
            <a:spLocks noGrp="1"/>
          </p:cNvSpPr>
          <p:nvPr>
            <p:ph type="body" idx="1"/>
          </p:nvPr>
        </p:nvSpPr>
        <p:spPr>
          <a:xfrm>
            <a:off x="628650" y="1107281"/>
            <a:ext cx="7886700" cy="3877875"/>
          </a:xfrm>
          <a:prstGeom prst="rect">
            <a:avLst/>
          </a:prstGeom>
          <a:noFill/>
          <a:ln>
            <a:noFill/>
          </a:ln>
        </p:spPr>
        <p:txBody>
          <a:bodyPr spcFirstLastPara="1" wrap="square" lIns="91425" tIns="45700" rIns="91425" bIns="45700" anchor="t" anchorCtr="0">
            <a:normAutofit/>
          </a:bodyPr>
          <a:lstStyle>
            <a:lvl1pPr marL="342900" lvl="0" indent="-257175" algn="l">
              <a:lnSpc>
                <a:spcPct val="90000"/>
              </a:lnSpc>
              <a:spcBef>
                <a:spcPts val="750"/>
              </a:spcBef>
              <a:spcAft>
                <a:spcPts val="0"/>
              </a:spcAft>
              <a:buClr>
                <a:schemeClr val="dk1"/>
              </a:buClr>
              <a:buSzPts val="1800"/>
              <a:buChar char="•"/>
              <a:defRPr/>
            </a:lvl1pPr>
            <a:lvl2pPr marL="685800" lvl="1" indent="-257175" algn="l">
              <a:lnSpc>
                <a:spcPct val="90000"/>
              </a:lnSpc>
              <a:spcBef>
                <a:spcPts val="375"/>
              </a:spcBef>
              <a:spcAft>
                <a:spcPts val="0"/>
              </a:spcAft>
              <a:buClr>
                <a:schemeClr val="dk1"/>
              </a:buClr>
              <a:buSzPts val="1800"/>
              <a:buChar char="•"/>
              <a:defRPr/>
            </a:lvl2pPr>
            <a:lvl3pPr marL="1028700" lvl="2" indent="-257175" algn="l">
              <a:lnSpc>
                <a:spcPct val="90000"/>
              </a:lnSpc>
              <a:spcBef>
                <a:spcPts val="375"/>
              </a:spcBef>
              <a:spcAft>
                <a:spcPts val="0"/>
              </a:spcAft>
              <a:buClr>
                <a:schemeClr val="dk1"/>
              </a:buClr>
              <a:buSzPts val="1800"/>
              <a:buChar char="•"/>
              <a:defRPr/>
            </a:lvl3pPr>
            <a:lvl4pPr marL="1371600" lvl="3" indent="-257175" algn="l">
              <a:lnSpc>
                <a:spcPct val="90000"/>
              </a:lnSpc>
              <a:spcBef>
                <a:spcPts val="375"/>
              </a:spcBef>
              <a:spcAft>
                <a:spcPts val="0"/>
              </a:spcAft>
              <a:buClr>
                <a:schemeClr val="dk1"/>
              </a:buClr>
              <a:buSzPts val="1800"/>
              <a:buChar char="•"/>
              <a:defRPr/>
            </a:lvl4pPr>
            <a:lvl5pPr marL="1714500" lvl="4" indent="-257175" algn="l">
              <a:lnSpc>
                <a:spcPct val="90000"/>
              </a:lnSpc>
              <a:spcBef>
                <a:spcPts val="375"/>
              </a:spcBef>
              <a:spcAft>
                <a:spcPts val="0"/>
              </a:spcAft>
              <a:buClr>
                <a:schemeClr val="dk1"/>
              </a:buClr>
              <a:buSzPts val="1800"/>
              <a:buChar char="•"/>
              <a:defRPr/>
            </a:lvl5pPr>
            <a:lvl6pPr marL="2057400" lvl="5" indent="-257175" algn="l">
              <a:lnSpc>
                <a:spcPct val="90000"/>
              </a:lnSpc>
              <a:spcBef>
                <a:spcPts val="375"/>
              </a:spcBef>
              <a:spcAft>
                <a:spcPts val="0"/>
              </a:spcAft>
              <a:buClr>
                <a:schemeClr val="dk1"/>
              </a:buClr>
              <a:buSzPts val="1800"/>
              <a:buChar char="•"/>
              <a:defRPr/>
            </a:lvl6pPr>
            <a:lvl7pPr marL="2400300" lvl="6" indent="-257175" algn="l">
              <a:lnSpc>
                <a:spcPct val="90000"/>
              </a:lnSpc>
              <a:spcBef>
                <a:spcPts val="375"/>
              </a:spcBef>
              <a:spcAft>
                <a:spcPts val="0"/>
              </a:spcAft>
              <a:buClr>
                <a:schemeClr val="dk1"/>
              </a:buClr>
              <a:buSzPts val="1800"/>
              <a:buChar char="•"/>
              <a:defRPr/>
            </a:lvl7pPr>
            <a:lvl8pPr marL="2743200" lvl="7" indent="-257175" algn="l">
              <a:lnSpc>
                <a:spcPct val="90000"/>
              </a:lnSpc>
              <a:spcBef>
                <a:spcPts val="375"/>
              </a:spcBef>
              <a:spcAft>
                <a:spcPts val="0"/>
              </a:spcAft>
              <a:buClr>
                <a:schemeClr val="dk1"/>
              </a:buClr>
              <a:buSzPts val="1800"/>
              <a:buChar char="•"/>
              <a:defRPr/>
            </a:lvl8pPr>
            <a:lvl9pPr marL="3086100" lvl="8" indent="-257175" algn="l">
              <a:lnSpc>
                <a:spcPct val="90000"/>
              </a:lnSpc>
              <a:spcBef>
                <a:spcPts val="375"/>
              </a:spcBef>
              <a:spcAft>
                <a:spcPts val="0"/>
              </a:spcAft>
              <a:buClr>
                <a:schemeClr val="dk1"/>
              </a:buClr>
              <a:buSzPts val="1800"/>
              <a:buChar char="•"/>
              <a:defRPr/>
            </a:lvl9pPr>
          </a:lstStyle>
          <a:p>
            <a:endParaRPr/>
          </a:p>
        </p:txBody>
      </p:sp>
      <p:pic>
        <p:nvPicPr>
          <p:cNvPr id="27" name="Google Shape;27;p8" descr="A black and white logo&#10;&#10;Description automatically generated"/>
          <p:cNvPicPr preferRelativeResize="0"/>
          <p:nvPr/>
        </p:nvPicPr>
        <p:blipFill rotWithShape="1">
          <a:blip r:embed="rId3">
            <a:alphaModFix/>
          </a:blip>
          <a:srcRect/>
          <a:stretch/>
        </p:blipFill>
        <p:spPr>
          <a:xfrm>
            <a:off x="6544069" y="176569"/>
            <a:ext cx="2468869" cy="502088"/>
          </a:xfrm>
          <a:prstGeom prst="rect">
            <a:avLst/>
          </a:prstGeom>
          <a:noFill/>
          <a:ln>
            <a:noFill/>
          </a:ln>
        </p:spPr>
      </p:pic>
      <p:sp>
        <p:nvSpPr>
          <p:cNvPr id="28" name="Google Shape;28;p8"/>
          <p:cNvSpPr txBox="1">
            <a:spLocks noGrp="1"/>
          </p:cNvSpPr>
          <p:nvPr>
            <p:ph type="sldNum" idx="12"/>
          </p:nvPr>
        </p:nvSpPr>
        <p:spPr>
          <a:xfrm>
            <a:off x="8605166" y="4740731"/>
            <a:ext cx="312075" cy="273825"/>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sz="900" b="0" i="0" u="none" strike="noStrike" cap="none">
                <a:solidFill>
                  <a:schemeClr val="dk2"/>
                </a:solidFill>
                <a:latin typeface="Arial"/>
                <a:ea typeface="Arial"/>
                <a:cs typeface="Arial"/>
                <a:sym typeface="Arial"/>
              </a:defRPr>
            </a:lvl1pPr>
            <a:lvl2pPr marL="0" lvl="1" indent="0" algn="r" rtl="0">
              <a:spcBef>
                <a:spcPts val="0"/>
              </a:spcBef>
              <a:buNone/>
              <a:defRPr sz="900" b="0" i="0" u="none" strike="noStrike" cap="none">
                <a:solidFill>
                  <a:schemeClr val="dk2"/>
                </a:solidFill>
                <a:latin typeface="Arial"/>
                <a:ea typeface="Arial"/>
                <a:cs typeface="Arial"/>
                <a:sym typeface="Arial"/>
              </a:defRPr>
            </a:lvl2pPr>
            <a:lvl3pPr marL="0" lvl="2" indent="0" algn="r" rtl="0">
              <a:spcBef>
                <a:spcPts val="0"/>
              </a:spcBef>
              <a:buNone/>
              <a:defRPr sz="900" b="0" i="0" u="none" strike="noStrike" cap="none">
                <a:solidFill>
                  <a:schemeClr val="dk2"/>
                </a:solidFill>
                <a:latin typeface="Arial"/>
                <a:ea typeface="Arial"/>
                <a:cs typeface="Arial"/>
                <a:sym typeface="Arial"/>
              </a:defRPr>
            </a:lvl3pPr>
            <a:lvl4pPr marL="0" lvl="3" indent="0" algn="r" rtl="0">
              <a:spcBef>
                <a:spcPts val="0"/>
              </a:spcBef>
              <a:buNone/>
              <a:defRPr sz="900" b="0" i="0" u="none" strike="noStrike" cap="none">
                <a:solidFill>
                  <a:schemeClr val="dk2"/>
                </a:solidFill>
                <a:latin typeface="Arial"/>
                <a:ea typeface="Arial"/>
                <a:cs typeface="Arial"/>
                <a:sym typeface="Arial"/>
              </a:defRPr>
            </a:lvl4pPr>
            <a:lvl5pPr marL="0" lvl="4" indent="0" algn="r" rtl="0">
              <a:spcBef>
                <a:spcPts val="0"/>
              </a:spcBef>
              <a:buNone/>
              <a:defRPr sz="900" b="0" i="0" u="none" strike="noStrike" cap="none">
                <a:solidFill>
                  <a:schemeClr val="dk2"/>
                </a:solidFill>
                <a:latin typeface="Arial"/>
                <a:ea typeface="Arial"/>
                <a:cs typeface="Arial"/>
                <a:sym typeface="Arial"/>
              </a:defRPr>
            </a:lvl5pPr>
            <a:lvl6pPr marL="0" lvl="5" indent="0" algn="r" rtl="0">
              <a:spcBef>
                <a:spcPts val="0"/>
              </a:spcBef>
              <a:buNone/>
              <a:defRPr sz="900" b="0" i="0" u="none" strike="noStrike" cap="none">
                <a:solidFill>
                  <a:schemeClr val="dk2"/>
                </a:solidFill>
                <a:latin typeface="Arial"/>
                <a:ea typeface="Arial"/>
                <a:cs typeface="Arial"/>
                <a:sym typeface="Arial"/>
              </a:defRPr>
            </a:lvl6pPr>
            <a:lvl7pPr marL="0" lvl="6" indent="0" algn="r" rtl="0">
              <a:spcBef>
                <a:spcPts val="0"/>
              </a:spcBef>
              <a:buNone/>
              <a:defRPr sz="900" b="0" i="0" u="none" strike="noStrike" cap="none">
                <a:solidFill>
                  <a:schemeClr val="dk2"/>
                </a:solidFill>
                <a:latin typeface="Arial"/>
                <a:ea typeface="Arial"/>
                <a:cs typeface="Arial"/>
                <a:sym typeface="Arial"/>
              </a:defRPr>
            </a:lvl7pPr>
            <a:lvl8pPr marL="0" lvl="7" indent="0" algn="r" rtl="0">
              <a:spcBef>
                <a:spcPts val="0"/>
              </a:spcBef>
              <a:buNone/>
              <a:defRPr sz="900" b="0" i="0" u="none" strike="noStrike" cap="none">
                <a:solidFill>
                  <a:schemeClr val="dk2"/>
                </a:solidFill>
                <a:latin typeface="Arial"/>
                <a:ea typeface="Arial"/>
                <a:cs typeface="Arial"/>
                <a:sym typeface="Arial"/>
              </a:defRPr>
            </a:lvl8pPr>
            <a:lvl9pPr marL="0" lvl="8" indent="0" algn="r" rtl="0">
              <a:spcBef>
                <a:spcPts val="0"/>
              </a:spcBef>
              <a:buNone/>
              <a:defRPr sz="900" b="0" i="0" u="none" strike="noStrike" cap="none">
                <a:solidFill>
                  <a:schemeClr val="dk2"/>
                </a:solidFill>
                <a:latin typeface="Arial"/>
                <a:ea typeface="Arial"/>
                <a:cs typeface="Arial"/>
                <a:sym typeface="Arial"/>
              </a:defRPr>
            </a:lvl9pPr>
          </a:lstStyle>
          <a:p>
            <a:fld id="{00000000-1234-1234-1234-123412341234}" type="slidenum">
              <a:rPr lang="en-CA" smtClean="0"/>
              <a:pPr/>
              <a:t>‹#›</a:t>
            </a:fld>
            <a:endParaRPr lang="en-CA"/>
          </a:p>
        </p:txBody>
      </p:sp>
    </p:spTree>
    <p:extLst>
      <p:ext uri="{BB962C8B-B14F-4D97-AF65-F5344CB8AC3E}">
        <p14:creationId xmlns:p14="http://schemas.microsoft.com/office/powerpoint/2010/main" val="2926168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1_Section header">
    <p:bg>
      <p:bgPr>
        <a:solidFill>
          <a:srgbClr val="3939D9"/>
        </a:solidFill>
        <a:effectLst/>
      </p:bgPr>
    </p:bg>
    <p:spTree>
      <p:nvGrpSpPr>
        <p:cNvPr id="1" name="Shape 15"/>
        <p:cNvGrpSpPr/>
        <p:nvPr/>
      </p:nvGrpSpPr>
      <p:grpSpPr>
        <a:xfrm>
          <a:off x="0" y="0"/>
          <a:ext cx="0" cy="0"/>
          <a:chOff x="0" y="0"/>
          <a:chExt cx="0" cy="0"/>
        </a:xfrm>
      </p:grpSpPr>
      <p:pic>
        <p:nvPicPr>
          <p:cNvPr id="4" name="Picture 3">
            <a:extLst>
              <a:ext uri="{FF2B5EF4-FFF2-40B4-BE49-F238E27FC236}">
                <a16:creationId xmlns:a16="http://schemas.microsoft.com/office/drawing/2014/main" id="{BAD15AED-7235-C191-92E3-AA26F3A5AF72}"/>
              </a:ext>
            </a:extLst>
          </p:cNvPr>
          <p:cNvPicPr>
            <a:picLocks noChangeAspect="1"/>
          </p:cNvPicPr>
          <p:nvPr/>
        </p:nvPicPr>
        <p:blipFill>
          <a:blip r:embed="rId2"/>
          <a:stretch>
            <a:fillRect/>
          </a:stretch>
        </p:blipFill>
        <p:spPr>
          <a:xfrm>
            <a:off x="0" y="1037627"/>
            <a:ext cx="9144000" cy="4572000"/>
          </a:xfrm>
          <a:prstGeom prst="rect">
            <a:avLst/>
          </a:prstGeom>
        </p:spPr>
      </p:pic>
      <p:sp>
        <p:nvSpPr>
          <p:cNvPr id="18" name="Google Shape;18;p3"/>
          <p:cNvSpPr txBox="1">
            <a:spLocks noGrp="1"/>
          </p:cNvSpPr>
          <p:nvPr>
            <p:ph type="title"/>
          </p:nvPr>
        </p:nvSpPr>
        <p:spPr>
          <a:xfrm>
            <a:off x="311700" y="1940538"/>
            <a:ext cx="8520600" cy="841800"/>
          </a:xfrm>
          <a:prstGeom prst="rect">
            <a:avLst/>
          </a:prstGeom>
        </p:spPr>
        <p:txBody>
          <a:bodyPr spcFirstLastPara="1" wrap="square" lIns="0" tIns="0" rIns="0" bIns="0" anchor="ctr" anchorCtr="0">
            <a:noAutofit/>
          </a:bodyPr>
          <a:lstStyle>
            <a:lvl1pPr lvl="0" algn="l">
              <a:spcBef>
                <a:spcPts val="0"/>
              </a:spcBef>
              <a:spcAft>
                <a:spcPts val="0"/>
              </a:spcAft>
              <a:buClr>
                <a:schemeClr val="lt1"/>
              </a:buClr>
              <a:buSzPts val="3600"/>
              <a:buNone/>
              <a:defRPr sz="3600">
                <a:solidFill>
                  <a:schemeClr val="bg1"/>
                </a:solidFill>
              </a:defRPr>
            </a:lvl1pPr>
            <a:lvl2pPr lvl="1" algn="ctr">
              <a:spcBef>
                <a:spcPts val="0"/>
              </a:spcBef>
              <a:spcAft>
                <a:spcPts val="0"/>
              </a:spcAft>
              <a:buClr>
                <a:schemeClr val="lt1"/>
              </a:buClr>
              <a:buSzPts val="3600"/>
              <a:buNone/>
              <a:defRPr sz="3600">
                <a:solidFill>
                  <a:schemeClr val="lt1"/>
                </a:solidFill>
              </a:defRPr>
            </a:lvl2pPr>
            <a:lvl3pPr lvl="2" algn="ctr">
              <a:spcBef>
                <a:spcPts val="0"/>
              </a:spcBef>
              <a:spcAft>
                <a:spcPts val="0"/>
              </a:spcAft>
              <a:buClr>
                <a:schemeClr val="lt1"/>
              </a:buClr>
              <a:buSzPts val="3600"/>
              <a:buNone/>
              <a:defRPr sz="3600">
                <a:solidFill>
                  <a:schemeClr val="lt1"/>
                </a:solidFill>
              </a:defRPr>
            </a:lvl3pPr>
            <a:lvl4pPr lvl="3" algn="ctr">
              <a:spcBef>
                <a:spcPts val="0"/>
              </a:spcBef>
              <a:spcAft>
                <a:spcPts val="0"/>
              </a:spcAft>
              <a:buClr>
                <a:schemeClr val="lt1"/>
              </a:buClr>
              <a:buSzPts val="3600"/>
              <a:buNone/>
              <a:defRPr sz="3600">
                <a:solidFill>
                  <a:schemeClr val="lt1"/>
                </a:solidFill>
              </a:defRPr>
            </a:lvl4pPr>
            <a:lvl5pPr lvl="4" algn="ctr">
              <a:spcBef>
                <a:spcPts val="0"/>
              </a:spcBef>
              <a:spcAft>
                <a:spcPts val="0"/>
              </a:spcAft>
              <a:buClr>
                <a:schemeClr val="lt1"/>
              </a:buClr>
              <a:buSzPts val="3600"/>
              <a:buNone/>
              <a:defRPr sz="3600">
                <a:solidFill>
                  <a:schemeClr val="lt1"/>
                </a:solidFill>
              </a:defRPr>
            </a:lvl5pPr>
            <a:lvl6pPr lvl="5" algn="ctr">
              <a:spcBef>
                <a:spcPts val="0"/>
              </a:spcBef>
              <a:spcAft>
                <a:spcPts val="0"/>
              </a:spcAft>
              <a:buClr>
                <a:schemeClr val="lt1"/>
              </a:buClr>
              <a:buSzPts val="3600"/>
              <a:buNone/>
              <a:defRPr sz="3600">
                <a:solidFill>
                  <a:schemeClr val="lt1"/>
                </a:solidFill>
              </a:defRPr>
            </a:lvl6pPr>
            <a:lvl7pPr lvl="6" algn="ctr">
              <a:spcBef>
                <a:spcPts val="0"/>
              </a:spcBef>
              <a:spcAft>
                <a:spcPts val="0"/>
              </a:spcAft>
              <a:buClr>
                <a:schemeClr val="lt1"/>
              </a:buClr>
              <a:buSzPts val="3600"/>
              <a:buNone/>
              <a:defRPr sz="3600">
                <a:solidFill>
                  <a:schemeClr val="lt1"/>
                </a:solidFill>
              </a:defRPr>
            </a:lvl7pPr>
            <a:lvl8pPr lvl="7" algn="ctr">
              <a:spcBef>
                <a:spcPts val="0"/>
              </a:spcBef>
              <a:spcAft>
                <a:spcPts val="0"/>
              </a:spcAft>
              <a:buClr>
                <a:schemeClr val="lt1"/>
              </a:buClr>
              <a:buSzPts val="3600"/>
              <a:buNone/>
              <a:defRPr sz="3600">
                <a:solidFill>
                  <a:schemeClr val="lt1"/>
                </a:solidFill>
              </a:defRPr>
            </a:lvl8pPr>
            <a:lvl9pPr lvl="8" algn="ctr">
              <a:spcBef>
                <a:spcPts val="0"/>
              </a:spcBef>
              <a:spcAft>
                <a:spcPts val="0"/>
              </a:spcAft>
              <a:buClr>
                <a:schemeClr val="lt1"/>
              </a:buClr>
              <a:buSzPts val="3600"/>
              <a:buNone/>
              <a:defRPr sz="3600">
                <a:solidFill>
                  <a:schemeClr val="lt1"/>
                </a:solidFill>
              </a:defRPr>
            </a:lvl9pPr>
          </a:lstStyle>
          <a:p>
            <a:r>
              <a:rPr lang="zh-CN" altLang="en-US"/>
              <a:t>单击此处编辑母版标题样式</a:t>
            </a:r>
            <a:endParaRPr dirty="0"/>
          </a:p>
        </p:txBody>
      </p:sp>
      <p:pic>
        <p:nvPicPr>
          <p:cNvPr id="2" name="Graphic 1">
            <a:extLst>
              <a:ext uri="{FF2B5EF4-FFF2-40B4-BE49-F238E27FC236}">
                <a16:creationId xmlns:a16="http://schemas.microsoft.com/office/drawing/2014/main" id="{5800D33B-D352-5CF8-487B-62E99AF875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pic>
        <p:nvPicPr>
          <p:cNvPr id="3" name="Picture 3">
            <a:extLst>
              <a:ext uri="{FF2B5EF4-FFF2-40B4-BE49-F238E27FC236}">
                <a16:creationId xmlns:a16="http://schemas.microsoft.com/office/drawing/2014/main" id="{C8A91009-3244-D7B1-D387-1E5F81E3842D}"/>
              </a:ext>
            </a:extLst>
          </p:cNvPr>
          <p:cNvPicPr>
            <a:picLocks noChangeAspect="1"/>
          </p:cNvPicPr>
          <p:nvPr userDrawn="1"/>
        </p:nvPicPr>
        <p:blipFill>
          <a:blip r:embed="rId2"/>
          <a:stretch>
            <a:fillRect/>
          </a:stretch>
        </p:blipFill>
        <p:spPr>
          <a:xfrm>
            <a:off x="0" y="1037627"/>
            <a:ext cx="9144000" cy="4572000"/>
          </a:xfrm>
          <a:prstGeom prst="rect">
            <a:avLst/>
          </a:prstGeom>
        </p:spPr>
      </p:pic>
      <p:pic>
        <p:nvPicPr>
          <p:cNvPr id="5" name="Graphic 1">
            <a:extLst>
              <a:ext uri="{FF2B5EF4-FFF2-40B4-BE49-F238E27FC236}">
                <a16:creationId xmlns:a16="http://schemas.microsoft.com/office/drawing/2014/main" id="{14824A21-FF8F-D8BA-5392-A7B6169F1A7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11213" y="178533"/>
            <a:ext cx="2007965" cy="882288"/>
          </a:xfrm>
          <a:prstGeom prst="rect">
            <a:avLst/>
          </a:prstGeom>
        </p:spPr>
      </p:pic>
    </p:spTree>
    <p:extLst>
      <p:ext uri="{BB962C8B-B14F-4D97-AF65-F5344CB8AC3E}">
        <p14:creationId xmlns:p14="http://schemas.microsoft.com/office/powerpoint/2010/main" val="3133265539"/>
      </p:ext>
    </p:extLst>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body" type="tx">
  <p:cSld name="Title and body">
    <p:bg>
      <p:bgPr>
        <a:solidFill>
          <a:schemeClr val="lt1"/>
        </a:solidFill>
        <a:effectLst/>
      </p:bgPr>
    </p:bg>
    <p:spTree>
      <p:nvGrpSpPr>
        <p:cNvPr id="1" name="Shape 20"/>
        <p:cNvGrpSpPr/>
        <p:nvPr/>
      </p:nvGrpSpPr>
      <p:grpSpPr>
        <a:xfrm>
          <a:off x="0" y="0"/>
          <a:ext cx="0" cy="0"/>
          <a:chOff x="0" y="0"/>
          <a:chExt cx="0" cy="0"/>
        </a:xfrm>
      </p:grpSpPr>
      <p:sp>
        <p:nvSpPr>
          <p:cNvPr id="2" name="Google Shape;21;p9">
            <a:extLst>
              <a:ext uri="{FF2B5EF4-FFF2-40B4-BE49-F238E27FC236}">
                <a16:creationId xmlns:a16="http://schemas.microsoft.com/office/drawing/2014/main" id="{75690BBD-4CD0-DFB9-AB2D-E63C2BD08AB7}"/>
              </a:ext>
            </a:extLst>
          </p:cNvPr>
          <p:cNvSpPr/>
          <p:nvPr/>
        </p:nvSpPr>
        <p:spPr>
          <a:xfrm>
            <a:off x="7100" y="5625"/>
            <a:ext cx="9136900" cy="1047900"/>
          </a:xfrm>
          <a:prstGeom prst="rect">
            <a:avLst/>
          </a:prstGeom>
          <a:solidFill>
            <a:srgbClr val="3939D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dirty="0"/>
          </a:p>
        </p:txBody>
      </p:sp>
      <p:sp>
        <p:nvSpPr>
          <p:cNvPr id="22" name="Google Shape;22;p4"/>
          <p:cNvSpPr txBox="1">
            <a:spLocks noGrp="1"/>
          </p:cNvSpPr>
          <p:nvPr>
            <p:ph type="title"/>
          </p:nvPr>
        </p:nvSpPr>
        <p:spPr>
          <a:xfrm>
            <a:off x="311700" y="0"/>
            <a:ext cx="6949739" cy="1047900"/>
          </a:xfrm>
          <a:prstGeom prst="rect">
            <a:avLst/>
          </a:prstGeom>
        </p:spPr>
        <p:txBody>
          <a:bodyPr spcFirstLastPara="1" wrap="square" lIns="0" tIns="0" rIns="0" bIns="0" anchor="ctr" anchorCtr="0">
            <a:normAutofit/>
          </a:bodyPr>
          <a:lstStyle>
            <a:lvl1pPr lvl="0">
              <a:spcBef>
                <a:spcPts val="0"/>
              </a:spcBef>
              <a:spcAft>
                <a:spcPts val="0"/>
              </a:spcAft>
              <a:buSzPts val="2800"/>
              <a:buNone/>
              <a:defRPr>
                <a:solidFill>
                  <a:schemeClr val="bg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r>
              <a:rPr lang="zh-CN" altLang="en-US"/>
              <a:t>单击此处编辑母版标题样式</a:t>
            </a:r>
            <a:endParaRPr dirty="0"/>
          </a:p>
        </p:txBody>
      </p:sp>
      <p:sp>
        <p:nvSpPr>
          <p:cNvPr id="23" name="Google Shape;23;p4"/>
          <p:cNvSpPr txBox="1">
            <a:spLocks noGrp="1"/>
          </p:cNvSpPr>
          <p:nvPr>
            <p:ph type="body" idx="1"/>
          </p:nvPr>
        </p:nvSpPr>
        <p:spPr>
          <a:xfrm>
            <a:off x="311700" y="1152475"/>
            <a:ext cx="8520600" cy="3317400"/>
          </a:xfrm>
          <a:prstGeom prst="rect">
            <a:avLst/>
          </a:prstGeom>
        </p:spPr>
        <p:txBody>
          <a:bodyPr spcFirstLastPara="1" wrap="square" lIns="0" tIns="0" rIns="0" bIns="0" anchor="t" anchorCtr="0">
            <a:noAutofit/>
          </a:bodyPr>
          <a:lstStyle>
            <a:lvl1pPr marL="457200" lvl="0" indent="-342900">
              <a:spcBef>
                <a:spcPts val="0"/>
              </a:spcBef>
              <a:spcAft>
                <a:spcPts val="0"/>
              </a:spcAft>
              <a:buSzPts val="1800"/>
              <a:buChar char="●"/>
              <a:defRPr sz="1200"/>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pPr lvl="0"/>
            <a:r>
              <a:rPr lang="zh-CN" altLang="en-US"/>
              <a:t>单击此处编辑母版文本样式</a:t>
            </a:r>
          </a:p>
        </p:txBody>
      </p:sp>
      <p:sp>
        <p:nvSpPr>
          <p:cNvPr id="3" name="Google Shape;8;p1">
            <a:extLst>
              <a:ext uri="{FF2B5EF4-FFF2-40B4-BE49-F238E27FC236}">
                <a16:creationId xmlns:a16="http://schemas.microsoft.com/office/drawing/2014/main" id="{19D7AB29-BDB6-7644-4042-CFF53942E56F}"/>
              </a:ext>
            </a:extLst>
          </p:cNvPr>
          <p:cNvSpPr txBox="1">
            <a:spLocks noGrp="1"/>
          </p:cNvSpPr>
          <p:nvPr>
            <p:ph type="sldNum" idx="12"/>
          </p:nvPr>
        </p:nvSpPr>
        <p:spPr>
          <a:xfrm>
            <a:off x="8283600" y="4663217"/>
            <a:ext cx="548700" cy="393600"/>
          </a:xfrm>
          <a:prstGeom prst="rect">
            <a:avLst/>
          </a:prstGeom>
          <a:noFill/>
          <a:ln>
            <a:noFill/>
          </a:ln>
        </p:spPr>
        <p:txBody>
          <a:bodyPr spcFirstLastPara="1" wrap="square" lIns="0" tIns="0" rIns="0" bIns="0"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5" name="Graphic 4">
            <a:extLst>
              <a:ext uri="{FF2B5EF4-FFF2-40B4-BE49-F238E27FC236}">
                <a16:creationId xmlns:a16="http://schemas.microsoft.com/office/drawing/2014/main" id="{CD8E9950-A10C-9781-AB14-71F0DE3ED83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586494" y="262283"/>
            <a:ext cx="1245804" cy="547399"/>
          </a:xfrm>
          <a:prstGeom prst="rect">
            <a:avLst/>
          </a:prstGeom>
        </p:spPr>
      </p:pic>
    </p:spTree>
    <p:extLst>
      <p:ext uri="{BB962C8B-B14F-4D97-AF65-F5344CB8AC3E}">
        <p14:creationId xmlns:p14="http://schemas.microsoft.com/office/powerpoint/2010/main" val="18180361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rgbClr val="316CE5">
                <a:alpha val="29020"/>
              </a:srgbClr>
            </a:gs>
            <a:gs pos="100000">
              <a:schemeClr val="lt1"/>
            </a:gs>
          </a:gsLst>
          <a:lin ang="10200000" scaled="0"/>
        </a:gradFill>
        <a:effectLst/>
      </p:bgPr>
    </p:bg>
    <p:spTree>
      <p:nvGrpSpPr>
        <p:cNvPr id="1" name="Shape 5"/>
        <p:cNvGrpSpPr/>
        <p:nvPr/>
      </p:nvGrpSpPr>
      <p:grpSpPr>
        <a:xfrm>
          <a:off x="0" y="0"/>
          <a:ext cx="0" cy="0"/>
          <a:chOff x="0" y="0"/>
          <a:chExt cx="0" cy="0"/>
        </a:xfrm>
      </p:grpSpPr>
      <p:sp>
        <p:nvSpPr>
          <p:cNvPr id="6" name="Google Shape;6;p7"/>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7" name="Google Shape;7;p7"/>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rtl="0">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rtl="0">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8" name="Google Shape;8;p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9" name="Google Shape;9;p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10" name="Google Shape;10;p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CA"/>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6.jpg"/><Relationship Id="rId4" Type="http://schemas.openxmlformats.org/officeDocument/2006/relationships/image" Target="../media/image7.png"/><Relationship Id="rId5" Type="http://schemas.openxmlformats.org/officeDocument/2006/relationships/image" Target="../media/image8.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diagramData" Target="../diagrams/data1.xml"/><Relationship Id="rId4" Type="http://schemas.openxmlformats.org/officeDocument/2006/relationships/diagramLayout" Target="../diagrams/layout1.xml"/><Relationship Id="rId5" Type="http://schemas.openxmlformats.org/officeDocument/2006/relationships/diagramQuickStyle" Target="../diagrams/quickStyle1.xml"/><Relationship Id="rId6" Type="http://schemas.openxmlformats.org/officeDocument/2006/relationships/diagramColors" Target="../diagrams/colors1.xml"/><Relationship Id="rId7" Type="http://schemas.microsoft.com/office/2007/relationships/diagramDrawing" Target="../diagrams/drawing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9.jpe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24.png"/><Relationship Id="rId13" Type="http://schemas.openxmlformats.org/officeDocument/2006/relationships/image" Target="../media/image25.png"/><Relationship Id="rId14" Type="http://schemas.openxmlformats.org/officeDocument/2006/relationships/image" Target="../media/image26.png"/><Relationship Id="rId15" Type="http://schemas.openxmlformats.org/officeDocument/2006/relationships/image" Target="../media/image27.png"/><Relationship Id="rId16" Type="http://schemas.openxmlformats.org/officeDocument/2006/relationships/image" Target="../media/image2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3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g"/><Relationship Id="rId3" Type="http://schemas.openxmlformats.org/officeDocument/2006/relationships/notesSlide" Target="../notesSlides/notesSlide49.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github.com/llm-d" TargetMode="External"/><Relationship Id="rId3" Type="http://schemas.openxmlformats.org/officeDocument/2006/relationships/hyperlink" Target="https://github.com/kaito-project/kaito" TargetMode="External"/><Relationship Id="rId4" Type="http://schemas.openxmlformats.org/officeDocument/2006/relationships/hyperlink" Target="https://kaito-project.github.io/kaito/docs/prefill-decode-disaggregation/" TargetMode="External"/><Relationship Id="rId5"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2"/>
          <p:cNvSpPr txBox="1"/>
          <p:nvPr/>
        </p:nvSpPr>
        <p:spPr>
          <a:xfrm>
            <a:off x="470842" y="3435059"/>
            <a:ext cx="7886700" cy="9942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2700"/>
            </a:pPr>
            <a:r>
              <a:rPr lang="en-US" sz="2000" i="1" dirty="0" cap="none">
                <a:solidFill>
                  <a:srgbClr val="142C46"/>
                </a:solidFill>
                <a:latin typeface="Arial"/>
              </a:rPr>
              <a:t>Andy Zhang — Microsoft</a:t>
            </a:r>
            <a:br/>
            <a:r>
              <a:rPr cap="none" sz="2000">
                <a:solidFill>
                  <a:srgbClr val="142C46"/>
                </a:solidFill>
                <a:latin typeface="Arial"/>
              </a:rPr>
              <a:t>Linbo He — Microsoft</a:t>
            </a:r>
            <a:endParaRPr lang="en-US" sz="2700" i="1" dirty="0">
              <a:solidFill>
                <a:schemeClr val="tx1"/>
              </a:solidFill>
            </a:endParaRPr>
          </a:p>
        </p:txBody>
      </p:sp>
      <p:sp>
        <p:nvSpPr>
          <p:cNvPr id="109" name="Google Shape;109;p2"/>
          <p:cNvSpPr txBox="1"/>
          <p:nvPr/>
        </p:nvSpPr>
        <p:spPr>
          <a:xfrm>
            <a:off x="470842" y="1082277"/>
            <a:ext cx="8148092" cy="2286000"/>
          </a:xfrm>
          <a:prstGeom prst="rect">
            <a:avLst/>
          </a:prstGeom>
          <a:noFill/>
          <a:ln>
            <a:noFill/>
          </a:ln>
        </p:spPr>
        <p:txBody>
          <a:bodyPr spcFirstLastPara="1" wrap="square" lIns="68575" tIns="34275" rIns="68575" bIns="34275" anchor="ctr" anchorCtr="0">
            <a:normAutofit/>
          </a:bodyPr>
          <a:lstStyle/>
          <a:p>
            <a:pPr lvl="0">
              <a:lnSpc>
                <a:spcPct val="90000"/>
              </a:lnSpc>
              <a:buClr>
                <a:schemeClr val="lt1"/>
              </a:buClr>
              <a:buSzPts val="5600"/>
            </a:pPr>
            <a:r>
              <a:rPr lang="en-US" sz="2700" b="1" dirty="0" cap="none">
                <a:solidFill>
                  <a:srgbClr val="142C46"/>
                </a:solidFill>
                <a:latin typeface="Arial"/>
              </a:rPr>
              <a:t>Prefill here, decode there</a:t>
            </a:r>
            <a:br/>
            <a:r>
              <a:rPr cap="none" sz="2700">
                <a:solidFill>
                  <a:srgbClr val="142C46"/>
                </a:solidFill>
                <a:latin typeface="Arial"/>
              </a:rPr>
              <a:t>Kubernetes-native LLM inference</a:t>
            </a:r>
            <a:br/>
            <a:r>
              <a:rPr cap="none" sz="2700">
                <a:solidFill>
                  <a:srgbClr val="142C46"/>
                </a:solidFill>
                <a:latin typeface="Arial"/>
              </a:rPr>
              <a:t>with KAITO and llm-d</a:t>
            </a:r>
          </a:p>
        </p:txBody>
      </p:sp>
      <p:sp>
        <p:nvSpPr>
          <p:cNvPr id="110" name="TextBox 10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1" name="TextBox 1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02 / 49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3"/>
          <p:cNvSpPr txBox="1"/>
          <p:nvPr/>
        </p:nvSpPr>
        <p:spPr>
          <a:xfrm>
            <a:off x="365760" y="539496"/>
            <a:ext cx="8412480" cy="411480"/>
          </a:xfrm>
          <a:prstGeom prst="rect">
            <a:avLst/>
          </a:prstGeom>
          <a:noFill/>
          <a:ln>
            <a:noFill/>
          </a:ln>
        </p:spPr>
        <p:txBody>
          <a:bodyPr spcFirstLastPara="1" wrap="square" lIns="68575" tIns="34275" rIns="68575" bIns="34275" anchor="ctr" anchorCtr="0">
            <a:normAutofit/>
          </a:bodyPr>
          <a:lstStyle/>
          <a:p>
            <a:pPr marL="0" marR="0" lvl="0" indent="0" algn="l" rtl="0">
              <a:lnSpc>
                <a:spcPct val="90000"/>
              </a:lnSpc>
              <a:spcBef>
                <a:spcPts val="0"/>
              </a:spcBef>
              <a:spcAft>
                <a:spcPts val="0"/>
              </a:spcAft>
              <a:buClr>
                <a:schemeClr val="lt1"/>
              </a:buClr>
              <a:buSzPts val="2700"/>
              <a:buFont typeface="Arial"/>
              <a:buNone/>
            </a:pPr>
            <a:r>
              <a:rPr lang="en-US" altLang="zh-CN" sz="2100" b="1" i="0" u="none" strike="noStrike" cap="none" dirty="0">
                <a:solidFill>
                  <a:srgbClr val="142C46"/>
                </a:solidFill>
                <a:latin typeface="Arial"/>
                <a:ea typeface="Arial"/>
                <a:cs typeface="Arial"/>
                <a:sym typeface="Arial"/>
              </a:rPr>
              <a:t>About us</a:t>
            </a:r>
            <a:endParaRPr sz="2400" b="1" i="0" u="none" strike="noStrike" cap="none" dirty="0">
              <a:solidFill>
                <a:srgbClr val="316CE5"/>
              </a:solidFill>
              <a:latin typeface="Arial"/>
              <a:ea typeface="Arial"/>
              <a:cs typeface="Arial"/>
              <a:sym typeface="Arial"/>
            </a:endParaRPr>
          </a:p>
        </p:txBody>
      </p:sp>
      <p:sp>
        <p:nvSpPr>
          <p:cNvPr id="11" name="Google Shape;148;p31">
            <a:extLst>
              <a:ext uri="{FF2B5EF4-FFF2-40B4-BE49-F238E27FC236}">
                <a16:creationId xmlns:a16="http://schemas.microsoft.com/office/drawing/2014/main" id="{FB60E743-B83B-2F67-84EA-9ABF5AAA2207}"/>
              </a:ext>
            </a:extLst>
          </p:cNvPr>
          <p:cNvSpPr txBox="1"/>
          <p:nvPr/>
        </p:nvSpPr>
        <p:spPr>
          <a:xfrm>
            <a:off x="498348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zh-CN" altLang="zh-CN" sz="2300" b="1" dirty="0" cap="none">
                <a:solidFill>
                  <a:srgbClr val="142C46"/>
                </a:solidFill>
                <a:latin typeface="Arial"/>
              </a:rPr>
              <a:t>Linbo He</a:t>
            </a:r>
            <a:endParaRPr lang="en-US" altLang="zh-CN" sz="3200" b="1" dirty="0"/>
          </a:p>
        </p:txBody>
      </p:sp>
      <p:pic>
        <p:nvPicPr>
          <p:cNvPr id="17" name="Picture 4">
            <a:extLst>
              <a:ext uri="{FF2B5EF4-FFF2-40B4-BE49-F238E27FC236}">
                <a16:creationId xmlns:a16="http://schemas.microsoft.com/office/drawing/2014/main" id="{3CCD3BDD-D922-3F8A-6A35-8FEC76E27A5F}"/>
              </a:ext>
            </a:extLst>
          </p:cNvPr>
          <p:cNvPicPr>
            <a:picLocks noChangeAspect="1"/>
          </p:cNvPicPr>
          <p:nvPr/>
        </p:nvPicPr>
        <p:blipFill>
          <a:blip r:embed="rId3">
            <a:alphaModFix/>
          </a:blip>
          <a:stretch>
            <a:fillRect/>
          </a:stretch>
        </p:blipFill>
        <p:spPr>
          <a:xfrm>
            <a:off x="5396592" y="1175560"/>
            <a:ext cx="2082913" cy="2082913"/>
          </a:xfrm>
          <a:prstGeom prst="rect">
            <a:avLst/>
          </a:prstGeom>
          <a:noFill/>
          <a:ln>
            <a:noFill/>
          </a:ln>
          <a:effectLst>
            <a:outerShdw blurRad="292100" dist="139700" dir="2700000" algn="tl" rotWithShape="0">
              <a:srgbClr val="333333">
                <a:alpha val="64313"/>
              </a:srgbClr>
            </a:outerShdw>
          </a:effectLst>
        </p:spPr>
      </p:pic>
      <p:sp>
        <p:nvSpPr>
          <p:cNvPr id="19" name="文本框 20">
            <a:extLst>
              <a:ext uri="{FF2B5EF4-FFF2-40B4-BE49-F238E27FC236}">
                <a16:creationId xmlns:a16="http://schemas.microsoft.com/office/drawing/2014/main" id="{A5A5092C-10A2-873B-22FC-0DEAFA08A4FE}"/>
              </a:ext>
            </a:extLst>
          </p:cNvPr>
          <p:cNvSpPr txBox="1"/>
          <p:nvPr/>
        </p:nvSpPr>
        <p:spPr>
          <a:xfrm>
            <a:off x="498348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OpenYurt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rambohe</a:t>
            </a:r>
            <a:r>
              <a:rPr lang="en-US" altLang="zh-CN" sz="1200" dirty="0" cap="none">
                <a:solidFill>
                  <a:srgbClr val="52677D"/>
                </a:solidFill>
                <a:latin typeface="Arial"/>
              </a:rPr>
              <a:t>-ch</a:t>
            </a:r>
          </a:p>
        </p:txBody>
      </p:sp>
      <p:pic>
        <p:nvPicPr>
          <p:cNvPr id="21" name="图片 3" descr="Microsoft - Free logo icons">
            <a:extLst>
              <a:ext uri="{FF2B5EF4-FFF2-40B4-BE49-F238E27FC236}">
                <a16:creationId xmlns:a16="http://schemas.microsoft.com/office/drawing/2014/main" id="{A0C9B620-8DDE-33A2-A6DF-CDFA248BF052}"/>
              </a:ext>
            </a:extLst>
          </p:cNvPr>
          <p:cNvPicPr>
            <a:picLocks noChangeAspect="1"/>
          </p:cNvPicPr>
          <p:nvPr/>
        </p:nvPicPr>
        <p:blipFill>
          <a:blip r:embed="rId4"/>
          <a:stretch>
            <a:fillRect/>
          </a:stretch>
        </p:blipFill>
        <p:spPr>
          <a:xfrm>
            <a:off x="8498657" y="4148065"/>
            <a:ext cx="236311" cy="236311"/>
          </a:xfrm>
          <a:prstGeom prst="rect">
            <a:avLst/>
          </a:prstGeom>
        </p:spPr>
      </p:pic>
      <p:sp>
        <p:nvSpPr>
          <p:cNvPr id="23" name="Google Shape;148;p31">
            <a:extLst>
              <a:ext uri="{FF2B5EF4-FFF2-40B4-BE49-F238E27FC236}">
                <a16:creationId xmlns:a16="http://schemas.microsoft.com/office/drawing/2014/main" id="{C843ABA0-8DE8-F620-B241-487588553B97}"/>
              </a:ext>
            </a:extLst>
          </p:cNvPr>
          <p:cNvSpPr txBox="1"/>
          <p:nvPr/>
        </p:nvSpPr>
        <p:spPr>
          <a:xfrm>
            <a:off x="548640" y="3383280"/>
            <a:ext cx="3657600" cy="438912"/>
          </a:xfrm>
          <a:prstGeom prst="rect">
            <a:avLst/>
          </a:prstGeom>
          <a:noFill/>
          <a:ln>
            <a:noFill/>
          </a:ln>
        </p:spPr>
        <p:txBody>
          <a:bodyPr spcFirstLastPara="1" wrap="square" lIns="91425" tIns="45700" rIns="91425" bIns="45700" anchor="t" anchorCtr="0">
            <a:spAutoFit/>
          </a:bodyPr>
          <a:lstStyle/>
          <a:p>
            <a:pPr lvl="0">
              <a:buSzPts val="3200"/>
            </a:pPr>
            <a:r>
              <a:rPr lang="en-US" altLang="zh-CN" sz="2300" b="1" dirty="0" cap="none">
                <a:solidFill>
                  <a:srgbClr val="142C46"/>
                </a:solidFill>
                <a:latin typeface="Arial"/>
              </a:rPr>
              <a:t>Andy Zhang</a:t>
            </a:r>
          </a:p>
        </p:txBody>
      </p:sp>
      <p:sp>
        <p:nvSpPr>
          <p:cNvPr id="29" name="文本框 20">
            <a:extLst>
              <a:ext uri="{FF2B5EF4-FFF2-40B4-BE49-F238E27FC236}">
                <a16:creationId xmlns:a16="http://schemas.microsoft.com/office/drawing/2014/main" id="{BDBB3C74-44FB-90A6-8DFB-D9B7E6EA4542}"/>
              </a:ext>
            </a:extLst>
          </p:cNvPr>
          <p:cNvSpPr txBox="1"/>
          <p:nvPr/>
        </p:nvSpPr>
        <p:spPr>
          <a:xfrm>
            <a:off x="548640" y="3922776"/>
            <a:ext cx="3657600" cy="777240"/>
          </a:xfrm>
          <a:prstGeom prst="rect">
            <a:avLst/>
          </a:prstGeom>
          <a:noFill/>
        </p:spPr>
        <p:txBody>
          <a:bodyPr wrap="square">
            <a:spAutoFit/>
          </a:bodyPr>
          <a:lstStyle/>
          <a:p>
            <a:pPr marL="114300"/>
            <a:r>
              <a:rPr lang="en-US" altLang="zh-CN" sz="1200" dirty="0" cap="none">
                <a:solidFill>
                  <a:srgbClr val="52677D"/>
                </a:solidFill>
                <a:latin typeface="Arial"/>
              </a:rPr>
              <a:t>Principal Software Engineer, Microsoft</a:t>
            </a:r>
          </a:p>
          <a:p>
            <a:pPr marL="114300"/>
            <a:r>
              <a:rPr lang="en-US" altLang="zh-CN" sz="1200" dirty="0" cap="none">
                <a:solidFill>
                  <a:srgbClr val="52677D"/>
                </a:solidFill>
                <a:latin typeface="Arial"/>
              </a:rPr>
              <a:t>KAITO &amp; </a:t>
            </a:r>
            <a:r>
              <a:rPr lang="en-US" altLang="zh-CN" dirty="0" cap="none" sz="1200">
                <a:solidFill>
                  <a:srgbClr val="52677D"/>
                </a:solidFill>
                <a:latin typeface="Arial"/>
              </a:rPr>
              <a:t>CSI driver</a:t>
            </a:r>
            <a:r>
              <a:rPr lang="en-US" altLang="zh-CN" sz="1200" dirty="0" cap="none">
                <a:solidFill>
                  <a:srgbClr val="52677D"/>
                </a:solidFill>
                <a:latin typeface="Arial"/>
              </a:rPr>
              <a:t> maintainer</a:t>
            </a:r>
          </a:p>
          <a:p>
            <a:pPr marL="114300"/>
            <a:r>
              <a:rPr lang="en-US" altLang="zh-CN" sz="1200" dirty="0" cap="none">
                <a:solidFill>
                  <a:srgbClr val="52677D"/>
                </a:solidFill>
                <a:latin typeface="Arial"/>
              </a:rPr>
              <a:t>GitHub: </a:t>
            </a:r>
            <a:r>
              <a:rPr lang="en-US" altLang="zh-CN" sz="1200" dirty="0" err="1" cap="none">
                <a:solidFill>
                  <a:srgbClr val="52677D"/>
                </a:solidFill>
                <a:latin typeface="Arial"/>
              </a:rPr>
              <a:t>andyzhangx</a:t>
            </a:r>
            <a:endParaRPr lang="en-US" altLang="zh-CN" sz="1400" dirty="0"/>
          </a:p>
        </p:txBody>
      </p:sp>
      <p:pic>
        <p:nvPicPr>
          <p:cNvPr id="31" name="图片 3" descr="Microsoft - Free logo icons">
            <a:extLst>
              <a:ext uri="{FF2B5EF4-FFF2-40B4-BE49-F238E27FC236}">
                <a16:creationId xmlns:a16="http://schemas.microsoft.com/office/drawing/2014/main" id="{D7CDD7F5-919D-E08B-B96D-1A9A5AC3A33F}"/>
              </a:ext>
            </a:extLst>
          </p:cNvPr>
          <p:cNvPicPr>
            <a:picLocks noChangeAspect="1"/>
          </p:cNvPicPr>
          <p:nvPr/>
        </p:nvPicPr>
        <p:blipFill>
          <a:blip r:embed="rId4"/>
          <a:stretch>
            <a:fillRect/>
          </a:stretch>
        </p:blipFill>
        <p:spPr>
          <a:xfrm>
            <a:off x="3721025" y="4161686"/>
            <a:ext cx="236311" cy="236311"/>
          </a:xfrm>
          <a:prstGeom prst="rect">
            <a:avLst/>
          </a:prstGeom>
        </p:spPr>
      </p:pic>
      <p:pic>
        <p:nvPicPr>
          <p:cNvPr id="35" name="Picture 34">
            <a:extLst>
              <a:ext uri="{FF2B5EF4-FFF2-40B4-BE49-F238E27FC236}">
                <a16:creationId xmlns:a16="http://schemas.microsoft.com/office/drawing/2014/main" id="{A550370D-93D9-3044-D735-006AEE2F17AA}"/>
              </a:ext>
            </a:extLst>
          </p:cNvPr>
          <p:cNvPicPr>
            <a:picLocks noChangeAspect="1"/>
          </p:cNvPicPr>
          <p:nvPr/>
        </p:nvPicPr>
        <p:blipFill>
          <a:blip r:embed="rId5"/>
          <a:stretch>
            <a:fillRect/>
          </a:stretch>
        </p:blipFill>
        <p:spPr>
          <a:xfrm>
            <a:off x="527187" y="1232829"/>
            <a:ext cx="3048260" cy="2025644"/>
          </a:xfrm>
          <a:prstGeom prst="rect">
            <a:avLst/>
          </a:prstGeom>
        </p:spPr>
      </p:pic>
      <p:sp>
        <p:nvSpPr>
          <p:cNvPr id="103" name="TextBox 10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04" name="TextBox 10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03 / 49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2895BA3-4A61-0588-5457-C3969249CD4D}"/>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Agenda</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From the inference basics to a Kubernetes operating model</a:t>
            </a:r>
          </a:p>
        </p:txBody>
      </p:sp>
      <p:sp>
        <p:nvSpPr>
          <p:cNvPr id="4" name="Rounded Rectangle 3"/>
          <p:cNvSpPr/>
          <p:nvPr/>
        </p:nvSpPr>
        <p:spPr>
          <a:xfrm>
            <a:off x="384048"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0352"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01</a:t>
            </a:r>
          </a:p>
        </p:txBody>
      </p:sp>
      <p:sp>
        <p:nvSpPr>
          <p:cNvPr id="6" name="TextBox 5"/>
          <p:cNvSpPr txBox="1"/>
          <p:nvPr/>
        </p:nvSpPr>
        <p:spPr>
          <a:xfrm>
            <a:off x="1078992"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Inference basics: prefill and decode</a:t>
            </a:r>
          </a:p>
        </p:txBody>
      </p:sp>
      <p:sp>
        <p:nvSpPr>
          <p:cNvPr id="7" name="TextBox 6"/>
          <p:cNvSpPr txBox="1"/>
          <p:nvPr/>
        </p:nvSpPr>
        <p:spPr>
          <a:xfrm>
            <a:off x="1078992"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Inference phases and latency metrics</a:t>
            </a:r>
          </a:p>
        </p:txBody>
      </p:sp>
      <p:sp>
        <p:nvSpPr>
          <p:cNvPr id="8" name="Rounded Rectangle 7"/>
          <p:cNvSpPr/>
          <p:nvPr/>
        </p:nvSpPr>
        <p:spPr>
          <a:xfrm>
            <a:off x="4654296" y="157276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170078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02</a:t>
            </a:r>
          </a:p>
        </p:txBody>
      </p:sp>
      <p:sp>
        <p:nvSpPr>
          <p:cNvPr id="10" name="TextBox 9"/>
          <p:cNvSpPr txBox="1"/>
          <p:nvPr/>
        </p:nvSpPr>
        <p:spPr>
          <a:xfrm>
            <a:off x="5349240" y="1682495"/>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Why P/D disaggregation</a:t>
            </a:r>
          </a:p>
        </p:txBody>
      </p:sp>
      <p:sp>
        <p:nvSpPr>
          <p:cNvPr id="11" name="TextBox 10"/>
          <p:cNvSpPr txBox="1"/>
          <p:nvPr/>
        </p:nvSpPr>
        <p:spPr>
          <a:xfrm>
            <a:off x="5349240" y="202082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Benefits, costs and the orchestration gap</a:t>
            </a:r>
          </a:p>
        </p:txBody>
      </p:sp>
      <p:sp>
        <p:nvSpPr>
          <p:cNvPr id="12" name="Rounded Rectangle 11"/>
          <p:cNvSpPr/>
          <p:nvPr/>
        </p:nvSpPr>
        <p:spPr>
          <a:xfrm>
            <a:off x="384048"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03</a:t>
            </a:r>
          </a:p>
        </p:txBody>
      </p:sp>
      <p:sp>
        <p:nvSpPr>
          <p:cNvPr id="14" name="TextBox 13"/>
          <p:cNvSpPr txBox="1"/>
          <p:nvPr/>
        </p:nvSpPr>
        <p:spPr>
          <a:xfrm>
            <a:off x="1078992"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KAITO + llm-d overview</a:t>
            </a:r>
          </a:p>
        </p:txBody>
      </p:sp>
      <p:sp>
        <p:nvSpPr>
          <p:cNvPr id="15" name="TextBox 14"/>
          <p:cNvSpPr txBox="1"/>
          <p:nvPr/>
        </p:nvSpPr>
        <p:spPr>
          <a:xfrm>
            <a:off x="1078992"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Components and ownership boundaries</a:t>
            </a:r>
          </a:p>
        </p:txBody>
      </p:sp>
      <p:sp>
        <p:nvSpPr>
          <p:cNvPr id="16" name="Rounded Rectangle 15"/>
          <p:cNvSpPr/>
          <p:nvPr/>
        </p:nvSpPr>
        <p:spPr>
          <a:xfrm>
            <a:off x="4654296" y="253288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0600" y="266090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04</a:t>
            </a:r>
          </a:p>
        </p:txBody>
      </p:sp>
      <p:sp>
        <p:nvSpPr>
          <p:cNvPr id="18" name="TextBox 17"/>
          <p:cNvSpPr txBox="1"/>
          <p:nvPr/>
        </p:nvSpPr>
        <p:spPr>
          <a:xfrm>
            <a:off x="5349240" y="264261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sz="1400"/>
              <a:t>How KAITO + llm-d supports P/D</a:t>
            </a:r>
          </a:p>
        </p:txBody>
      </p:sp>
      <p:sp>
        <p:nvSpPr>
          <p:cNvPr id="19" name="TextBox 18"/>
          <p:cNvSpPr txBox="1"/>
          <p:nvPr/>
        </p:nvSpPr>
        <p:spPr>
          <a:xfrm>
            <a:off x="5349240" y="298094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Topology, routing and KV transfer</a:t>
            </a:r>
          </a:p>
        </p:txBody>
      </p:sp>
      <p:sp>
        <p:nvSpPr>
          <p:cNvPr id="20" name="Rounded Rectangle 19"/>
          <p:cNvSpPr/>
          <p:nvPr/>
        </p:nvSpPr>
        <p:spPr>
          <a:xfrm>
            <a:off x="384048"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0352"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05</a:t>
            </a:r>
          </a:p>
        </p:txBody>
      </p:sp>
      <p:sp>
        <p:nvSpPr>
          <p:cNvPr id="22" name="TextBox 21"/>
          <p:cNvSpPr txBox="1"/>
          <p:nvPr/>
        </p:nvSpPr>
        <p:spPr>
          <a:xfrm>
            <a:off x="1078992"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Per-role autoscaling for P/D</a:t>
            </a:r>
          </a:p>
        </p:txBody>
      </p:sp>
      <p:sp>
        <p:nvSpPr>
          <p:cNvPr id="23" name="TextBox 22"/>
          <p:cNvSpPr txBox="1"/>
          <p:nvPr/>
        </p:nvSpPr>
        <p:spPr>
          <a:xfrm>
            <a:off x="1078992"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Signals, policies and safe control loops</a:t>
            </a:r>
          </a:p>
        </p:txBody>
      </p:sp>
      <p:sp>
        <p:nvSpPr>
          <p:cNvPr id="24" name="Rounded Rectangle 23"/>
          <p:cNvSpPr/>
          <p:nvPr/>
        </p:nvSpPr>
        <p:spPr>
          <a:xfrm>
            <a:off x="4654296" y="3493008"/>
            <a:ext cx="4096512"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00600" y="3621024"/>
            <a:ext cx="402336" cy="292608"/>
          </a:xfrm>
          <a:prstGeom prst="rect">
            <a:avLst/>
          </a:prstGeom>
          <a:noFill/>
        </p:spPr>
        <p:txBody>
          <a:bodyPr wrap="square" lIns="0" rIns="0" tIns="0" bIns="0">
            <a:spAutoFit/>
          </a:bodyPr>
          <a:lstStyle/>
          <a:p>
            <a:pPr>
              <a:spcAft>
                <a:spcPts val="500"/>
              </a:spcAft>
              <a:defRPr sz="1700" b="1">
                <a:solidFill>
                  <a:srgbClr val="346CEC"/>
                </a:solidFill>
                <a:latin typeface="Arial"/>
              </a:defRPr>
            </a:pPr>
            <a:r>
              <a:rPr cap="none"/>
              <a:t>06</a:t>
            </a:r>
          </a:p>
        </p:txBody>
      </p:sp>
      <p:sp>
        <p:nvSpPr>
          <p:cNvPr id="26" name="TextBox 25"/>
          <p:cNvSpPr txBox="1"/>
          <p:nvPr/>
        </p:nvSpPr>
        <p:spPr>
          <a:xfrm>
            <a:off x="5349240" y="3602736"/>
            <a:ext cx="3218688" cy="274320"/>
          </a:xfrm>
          <a:prstGeom prst="rect">
            <a:avLst/>
          </a:prstGeom>
          <a:noFill/>
        </p:spPr>
        <p:txBody>
          <a:bodyPr wrap="square" lIns="0" rIns="0" tIns="0" bIns="0">
            <a:spAutoFit/>
          </a:bodyPr>
          <a:lstStyle/>
          <a:p>
            <a:pPr>
              <a:spcAft>
                <a:spcPts val="500"/>
              </a:spcAft>
              <a:defRPr sz="1700" b="1">
                <a:solidFill>
                  <a:srgbClr val="142C46"/>
                </a:solidFill>
                <a:latin typeface="Arial"/>
              </a:defRPr>
            </a:pPr>
            <a:r>
              <a:rPr cap="none"/>
              <a:t>Wrap-up and next steps</a:t>
            </a:r>
          </a:p>
        </p:txBody>
      </p:sp>
      <p:sp>
        <p:nvSpPr>
          <p:cNvPr id="27" name="TextBox 26"/>
          <p:cNvSpPr txBox="1"/>
          <p:nvPr/>
        </p:nvSpPr>
        <p:spPr>
          <a:xfrm>
            <a:off x="5349240" y="3941064"/>
            <a:ext cx="3218688" cy="210312"/>
          </a:xfrm>
          <a:prstGeom prst="rect">
            <a:avLst/>
          </a:prstGeom>
          <a:noFill/>
        </p:spPr>
        <p:txBody>
          <a:bodyPr wrap="square" lIns="0" rIns="0" tIns="0" bIns="0">
            <a:spAutoFit/>
          </a:bodyPr>
          <a:lstStyle/>
          <a:p>
            <a:pPr>
              <a:spcAft>
                <a:spcPts val="500"/>
              </a:spcAft>
              <a:defRPr sz="1050" b="0">
                <a:solidFill>
                  <a:srgbClr val="52677D"/>
                </a:solidFill>
                <a:latin typeface="Arial"/>
              </a:defRPr>
            </a:pPr>
            <a:r>
              <a:rPr cap="none"/>
              <a:t>Key takeaways and ways to contribute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04 / 49</a:t>
            </a:r>
          </a:p>
        </p:txBody>
      </p:sp>
    </p:spTree>
    <p:extLst>
      <p:ext uri="{BB962C8B-B14F-4D97-AF65-F5344CB8AC3E}">
        <p14:creationId xmlns:p14="http://schemas.microsoft.com/office/powerpoint/2010/main" val="413774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prefill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process the prompt and select the first token</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Prompt: “What does Kubernetes do?”</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caches the prompt, then selects “Kubernetes”. Its K/V is not cached until it is consumed.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88187"/>
            <a:ext cx="8161020" cy="159274"/>
          </a:xfrm>
          <a:prstGeom prst="rect">
            <a:avLst/>
          </a:prstGeom>
          <a:noFill/>
        </p:spPr>
        <p:txBody>
          <a:bodyPr wrap="square" lIns="10287" tIns="10287" rIns="10287" bIns="10287">
            <a:spAutoFit/>
          </a:bodyPr>
          <a:lstStyle/>
          <a:p>
            <a:pPr>
              <a:spcAft>
                <a:spcPts val="375"/>
              </a:spcAft>
              <a:defRPr sz="1200" b="1">
                <a:solidFill>
                  <a:srgbClr val="2563EB"/>
                </a:solidFill>
                <a:latin typeface="Arial"/>
              </a:defRPr>
            </a:pPr>
            <a:r>
              <a:rPr sz="900" cap="none">
                <a:latin typeface="Arial"/>
              </a:rPr>
              <a:t>Teaching example  /  One word per token</a:t>
            </a:r>
          </a:p>
        </p:txBody>
      </p:sp>
      <p:sp>
        <p:nvSpPr>
          <p:cNvPr id="11" name="Rounded Rectangle 10"/>
          <p:cNvSpPr/>
          <p:nvPr/>
        </p:nvSpPr>
        <p:spPr>
          <a:xfrm>
            <a:off x="445770"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4"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What</a:t>
            </a:r>
          </a:p>
        </p:txBody>
      </p:sp>
      <p:sp>
        <p:nvSpPr>
          <p:cNvPr id="13" name="Rounded Rectangle 12"/>
          <p:cNvSpPr/>
          <p:nvPr/>
        </p:nvSpPr>
        <p:spPr>
          <a:xfrm>
            <a:off x="2098548"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2153412"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does</a:t>
            </a:r>
          </a:p>
        </p:txBody>
      </p:sp>
      <p:sp>
        <p:nvSpPr>
          <p:cNvPr id="15" name="Rounded Rectangle 14"/>
          <p:cNvSpPr/>
          <p:nvPr/>
        </p:nvSpPr>
        <p:spPr>
          <a:xfrm>
            <a:off x="3751326"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806190"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Kubernetes</a:t>
            </a:r>
          </a:p>
        </p:txBody>
      </p:sp>
      <p:sp>
        <p:nvSpPr>
          <p:cNvPr id="17" name="Rounded Rectangle 16"/>
          <p:cNvSpPr/>
          <p:nvPr/>
        </p:nvSpPr>
        <p:spPr>
          <a:xfrm>
            <a:off x="5404104"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458968"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do</a:t>
            </a:r>
          </a:p>
        </p:txBody>
      </p:sp>
      <p:sp>
        <p:nvSpPr>
          <p:cNvPr id="19" name="Rounded Rectangle 18"/>
          <p:cNvSpPr/>
          <p:nvPr/>
        </p:nvSpPr>
        <p:spPr>
          <a:xfrm>
            <a:off x="7056882" y="1789938"/>
            <a:ext cx="1632204" cy="480060"/>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7111746" y="1885950"/>
            <a:ext cx="1522476"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a:t>
            </a:r>
          </a:p>
        </p:txBody>
      </p:sp>
      <p:sp>
        <p:nvSpPr>
          <p:cNvPr id="21" name="TextBox 20"/>
          <p:cNvSpPr txBox="1"/>
          <p:nvPr/>
        </p:nvSpPr>
        <p:spPr>
          <a:xfrm>
            <a:off x="445770" y="2427733"/>
            <a:ext cx="8243316" cy="216982"/>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Process the prompt positions together, with attention only to earlier or current positions.</a:t>
            </a:r>
          </a:p>
        </p:txBody>
      </p:sp>
      <p:sp>
        <p:nvSpPr>
          <p:cNvPr id="22" name="Rounded Rectangle 21"/>
          <p:cNvSpPr/>
          <p:nvPr/>
        </p:nvSpPr>
        <p:spPr>
          <a:xfrm>
            <a:off x="445770" y="2859786"/>
            <a:ext cx="2057400"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445770" y="2928365"/>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48640" y="2948940"/>
            <a:ext cx="1851660" cy="251607"/>
          </a:xfrm>
          <a:prstGeom prst="rect">
            <a:avLst/>
          </a:prstGeom>
          <a:noFill/>
        </p:spPr>
        <p:txBody>
          <a:bodyPr wrap="square" lIns="10287" tIns="10287" rIns="10287" bIns="10287">
            <a:spAutoFit/>
          </a:bodyPr>
          <a:lstStyle/>
          <a:p>
            <a:pPr algn="ctr">
              <a:spcAft>
                <a:spcPts val="375"/>
              </a:spcAft>
              <a:defRPr sz="2000" b="1">
                <a:solidFill>
                  <a:srgbClr val="2563EB"/>
                </a:solidFill>
                <a:latin typeface="Arial"/>
              </a:defRPr>
            </a:pPr>
            <a:r>
              <a:rPr sz="1500" cap="none">
                <a:latin typeface="Arial"/>
              </a:rPr>
              <a:t>5 prompt positions</a:t>
            </a:r>
          </a:p>
        </p:txBody>
      </p:sp>
      <p:sp>
        <p:nvSpPr>
          <p:cNvPr id="25" name="TextBox 24"/>
          <p:cNvSpPr txBox="1"/>
          <p:nvPr/>
        </p:nvSpPr>
        <p:spPr>
          <a:xfrm>
            <a:off x="555498" y="3278124"/>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4 words + punctuation</a:t>
            </a:r>
          </a:p>
        </p:txBody>
      </p:sp>
      <p:sp>
        <p:nvSpPr>
          <p:cNvPr id="26" name="Rounded Rectangle 25"/>
          <p:cNvSpPr/>
          <p:nvPr/>
        </p:nvSpPr>
        <p:spPr>
          <a:xfrm>
            <a:off x="2846070" y="2859786"/>
            <a:ext cx="285292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2846070" y="2928365"/>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2948940" y="2948940"/>
            <a:ext cx="2647188"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Causal prefill</a:t>
            </a:r>
          </a:p>
        </p:txBody>
      </p:sp>
      <p:sp>
        <p:nvSpPr>
          <p:cNvPr id="29" name="TextBox 28"/>
          <p:cNvSpPr txBox="1"/>
          <p:nvPr/>
        </p:nvSpPr>
        <p:spPr>
          <a:xfrm>
            <a:off x="2955798" y="3278124"/>
            <a:ext cx="263347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No attention to future positions</a:t>
            </a:r>
          </a:p>
        </p:txBody>
      </p:sp>
      <p:sp>
        <p:nvSpPr>
          <p:cNvPr id="30" name="Rounded Rectangle 29"/>
          <p:cNvSpPr/>
          <p:nvPr/>
        </p:nvSpPr>
        <p:spPr>
          <a:xfrm>
            <a:off x="6172200" y="2859786"/>
            <a:ext cx="251688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ectangle 30"/>
          <p:cNvSpPr/>
          <p:nvPr/>
        </p:nvSpPr>
        <p:spPr>
          <a:xfrm>
            <a:off x="6172200" y="2928365"/>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6275070" y="2948940"/>
            <a:ext cx="2311146" cy="251607"/>
          </a:xfrm>
          <a:prstGeom prst="rect">
            <a:avLst/>
          </a:prstGeom>
          <a:noFill/>
        </p:spPr>
        <p:txBody>
          <a:bodyPr wrap="square" lIns="10287" tIns="10287" rIns="10287" bIns="10287">
            <a:spAutoFit/>
          </a:bodyPr>
          <a:lstStyle/>
          <a:p>
            <a:pPr algn="ctr">
              <a:spcAft>
                <a:spcPts val="375"/>
              </a:spcAft>
              <a:defRPr sz="2000" b="1">
                <a:solidFill>
                  <a:srgbClr val="7354B8"/>
                </a:solidFill>
                <a:latin typeface="Arial"/>
              </a:defRPr>
            </a:pPr>
            <a:r>
              <a:rPr sz="1500" cap="none">
                <a:latin typeface="Arial"/>
              </a:rPr>
              <a:t>Select “Kubernetes”</a:t>
            </a:r>
          </a:p>
        </p:txBody>
      </p:sp>
      <p:sp>
        <p:nvSpPr>
          <p:cNvPr id="33" name="TextBox 32"/>
          <p:cNvSpPr txBox="1"/>
          <p:nvPr/>
        </p:nvSpPr>
        <p:spPr>
          <a:xfrm>
            <a:off x="6281928" y="3278124"/>
            <a:ext cx="229743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Final prompt-position logits</a:t>
            </a:r>
          </a:p>
        </p:txBody>
      </p:sp>
      <p:cxnSp>
        <p:nvCxnSpPr>
          <p:cNvPr id="34" name="Connector 33"/>
          <p:cNvCxnSpPr/>
          <p:nvPr/>
        </p:nvCxnSpPr>
        <p:spPr>
          <a:xfrm>
            <a:off x="2503170" y="3271266"/>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98998" y="3271266"/>
            <a:ext cx="473202"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272534" y="3696462"/>
            <a:ext cx="0" cy="130302"/>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445770" y="3840480"/>
            <a:ext cx="8243316"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TextBox 37"/>
          <p:cNvSpPr txBox="1"/>
          <p:nvPr/>
        </p:nvSpPr>
        <p:spPr>
          <a:xfrm>
            <a:off x="582930" y="3895344"/>
            <a:ext cx="7968996" cy="205441"/>
          </a:xfrm>
          <a:prstGeom prst="rect">
            <a:avLst/>
          </a:prstGeom>
          <a:noFill/>
        </p:spPr>
        <p:txBody>
          <a:bodyPr wrap="square" lIns="10287" tIns="10287" rIns="10287" bIns="10287">
            <a:spAutoFit/>
          </a:bodyPr>
          <a:lstStyle/>
          <a:p>
            <a:pPr>
              <a:spcAft>
                <a:spcPts val="375"/>
              </a:spcAft>
              <a:defRPr sz="1600" b="0">
                <a:solidFill>
                  <a:srgbClr val="087F8C"/>
                </a:solidFill>
                <a:latin typeface="Arial"/>
              </a:defRPr>
            </a:pPr>
            <a:r>
              <a:rPr sz="1200" cap="none">
                <a:latin typeface="Arial"/>
              </a:rPr>
              <a:t>Prompt KV = per-layer attention keys + values for the 5 processed prompt positions.</a:t>
            </a:r>
          </a:p>
        </p:txBody>
      </p:sp>
      <p:sp>
        <p:nvSpPr>
          <p:cNvPr id="39" name="TextBox 38"/>
          <p:cNvSpPr txBox="1"/>
          <p:nvPr/>
        </p:nvSpPr>
        <p:spPr>
          <a:xfrm>
            <a:off x="445770" y="419709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05 / 49</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Foundations — decode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Decode: consume a token, select the next, repeat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Illustrative output: “Kubernetes helps teams deploy and scale applications.”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Append KV for the consumed token—not the newly selected token. Read past KV; do not recompute 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40180"/>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Illustrative word-level tokens; not a real model tokenizer.</a:t>
            </a:r>
          </a:p>
        </p:txBody>
      </p:sp>
      <p:sp>
        <p:nvSpPr>
          <p:cNvPr id="11" name="Rectangle 10"/>
          <p:cNvSpPr/>
          <p:nvPr/>
        </p:nvSpPr>
        <p:spPr>
          <a:xfrm>
            <a:off x="445770" y="1666494"/>
            <a:ext cx="500634"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00635" y="1700784"/>
            <a:ext cx="390905"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Step</a:t>
            </a:r>
          </a:p>
        </p:txBody>
      </p:sp>
      <p:sp>
        <p:nvSpPr>
          <p:cNvPr id="13" name="Rectangle 12"/>
          <p:cNvSpPr/>
          <p:nvPr/>
        </p:nvSpPr>
        <p:spPr>
          <a:xfrm>
            <a:off x="960120" y="1666494"/>
            <a:ext cx="212598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1014984" y="1700784"/>
            <a:ext cx="2016252"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Consume + read past KV</a:t>
            </a:r>
          </a:p>
        </p:txBody>
      </p:sp>
      <p:sp>
        <p:nvSpPr>
          <p:cNvPr id="15" name="Rectangle 14"/>
          <p:cNvSpPr/>
          <p:nvPr/>
        </p:nvSpPr>
        <p:spPr>
          <a:xfrm>
            <a:off x="3120391" y="1666494"/>
            <a:ext cx="2756915"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175255" y="1700784"/>
            <a:ext cx="2647187"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Append to per-layer KV</a:t>
            </a:r>
          </a:p>
        </p:txBody>
      </p:sp>
      <p:sp>
        <p:nvSpPr>
          <p:cNvPr id="17" name="Rectangle 16"/>
          <p:cNvSpPr/>
          <p:nvPr/>
        </p:nvSpPr>
        <p:spPr>
          <a:xfrm>
            <a:off x="5911595" y="1666494"/>
            <a:ext cx="2777490" cy="233172"/>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966460" y="1700784"/>
            <a:ext cx="2667761" cy="136191"/>
          </a:xfrm>
          <a:prstGeom prst="rect">
            <a:avLst/>
          </a:prstGeom>
          <a:noFill/>
        </p:spPr>
        <p:txBody>
          <a:bodyPr wrap="square" lIns="10287" tIns="10287" rIns="10287" bIns="10287">
            <a:spAutoFit/>
          </a:bodyPr>
          <a:lstStyle/>
          <a:p>
            <a:pPr>
              <a:spcAft>
                <a:spcPts val="375"/>
              </a:spcAft>
              <a:defRPr sz="1000" b="1">
                <a:solidFill>
                  <a:srgbClr val="FFFFFF"/>
                </a:solidFill>
                <a:latin typeface="Arial"/>
              </a:defRPr>
            </a:pPr>
            <a:r>
              <a:rPr sz="750" cap="none">
                <a:latin typeface="Arial"/>
              </a:rPr>
              <a:t>Select next output</a:t>
            </a:r>
          </a:p>
        </p:txBody>
      </p:sp>
      <p:sp>
        <p:nvSpPr>
          <p:cNvPr id="19" name="Rectangle 18"/>
          <p:cNvSpPr/>
          <p:nvPr/>
        </p:nvSpPr>
        <p:spPr>
          <a:xfrm>
            <a:off x="445770" y="1940814"/>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500634" y="196481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1</a:t>
            </a:r>
          </a:p>
        </p:txBody>
      </p:sp>
      <p:sp>
        <p:nvSpPr>
          <p:cNvPr id="21" name="TextBox 20"/>
          <p:cNvSpPr txBox="1"/>
          <p:nvPr/>
        </p:nvSpPr>
        <p:spPr>
          <a:xfrm>
            <a:off x="1021842" y="196481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Kubernetes</a:t>
            </a:r>
          </a:p>
        </p:txBody>
      </p:sp>
      <p:sp>
        <p:nvSpPr>
          <p:cNvPr id="22" name="TextBox 21"/>
          <p:cNvSpPr txBox="1"/>
          <p:nvPr/>
        </p:nvSpPr>
        <p:spPr>
          <a:xfrm>
            <a:off x="3182112" y="196481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“Kubernetes”</a:t>
            </a:r>
          </a:p>
        </p:txBody>
      </p:sp>
      <p:sp>
        <p:nvSpPr>
          <p:cNvPr id="23" name="TextBox 22"/>
          <p:cNvSpPr txBox="1"/>
          <p:nvPr/>
        </p:nvSpPr>
        <p:spPr>
          <a:xfrm>
            <a:off x="5973318" y="196481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4" name="Rectangle 23"/>
          <p:cNvSpPr/>
          <p:nvPr/>
        </p:nvSpPr>
        <p:spPr>
          <a:xfrm>
            <a:off x="445770" y="2160270"/>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500634" y="2184274"/>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2</a:t>
            </a:r>
          </a:p>
        </p:txBody>
      </p:sp>
      <p:sp>
        <p:nvSpPr>
          <p:cNvPr id="26" name="TextBox 25"/>
          <p:cNvSpPr txBox="1"/>
          <p:nvPr/>
        </p:nvSpPr>
        <p:spPr>
          <a:xfrm>
            <a:off x="1021842" y="2184274"/>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helps</a:t>
            </a:r>
          </a:p>
        </p:txBody>
      </p:sp>
      <p:sp>
        <p:nvSpPr>
          <p:cNvPr id="27" name="TextBox 26"/>
          <p:cNvSpPr txBox="1"/>
          <p:nvPr/>
        </p:nvSpPr>
        <p:spPr>
          <a:xfrm>
            <a:off x="3182112" y="2184274"/>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“helps”</a:t>
            </a:r>
          </a:p>
        </p:txBody>
      </p:sp>
      <p:sp>
        <p:nvSpPr>
          <p:cNvPr id="28" name="TextBox 27"/>
          <p:cNvSpPr txBox="1"/>
          <p:nvPr/>
        </p:nvSpPr>
        <p:spPr>
          <a:xfrm>
            <a:off x="5973318" y="2184274"/>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29" name="Rectangle 28"/>
          <p:cNvSpPr/>
          <p:nvPr/>
        </p:nvSpPr>
        <p:spPr>
          <a:xfrm>
            <a:off x="445770" y="2379726"/>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00634" y="2403730"/>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3</a:t>
            </a:r>
          </a:p>
        </p:txBody>
      </p:sp>
      <p:sp>
        <p:nvSpPr>
          <p:cNvPr id="31" name="TextBox 30"/>
          <p:cNvSpPr txBox="1"/>
          <p:nvPr/>
        </p:nvSpPr>
        <p:spPr>
          <a:xfrm>
            <a:off x="1021842" y="2403730"/>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teams</a:t>
            </a:r>
          </a:p>
        </p:txBody>
      </p:sp>
      <p:sp>
        <p:nvSpPr>
          <p:cNvPr id="32" name="TextBox 31"/>
          <p:cNvSpPr txBox="1"/>
          <p:nvPr/>
        </p:nvSpPr>
        <p:spPr>
          <a:xfrm>
            <a:off x="3182112" y="2403730"/>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“teams”</a:t>
            </a:r>
          </a:p>
        </p:txBody>
      </p:sp>
      <p:sp>
        <p:nvSpPr>
          <p:cNvPr id="33" name="TextBox 32"/>
          <p:cNvSpPr txBox="1"/>
          <p:nvPr/>
        </p:nvSpPr>
        <p:spPr>
          <a:xfrm>
            <a:off x="5973318" y="2403730"/>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4" name="Rectangle 33"/>
          <p:cNvSpPr/>
          <p:nvPr/>
        </p:nvSpPr>
        <p:spPr>
          <a:xfrm>
            <a:off x="445770" y="2599182"/>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500634" y="2623186"/>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4</a:t>
            </a:r>
          </a:p>
        </p:txBody>
      </p:sp>
      <p:sp>
        <p:nvSpPr>
          <p:cNvPr id="36" name="TextBox 35"/>
          <p:cNvSpPr txBox="1"/>
          <p:nvPr/>
        </p:nvSpPr>
        <p:spPr>
          <a:xfrm>
            <a:off x="1021842" y="2623186"/>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deploy</a:t>
            </a:r>
          </a:p>
        </p:txBody>
      </p:sp>
      <p:sp>
        <p:nvSpPr>
          <p:cNvPr id="37" name="TextBox 36"/>
          <p:cNvSpPr txBox="1"/>
          <p:nvPr/>
        </p:nvSpPr>
        <p:spPr>
          <a:xfrm>
            <a:off x="3182112" y="2623186"/>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“deploy”</a:t>
            </a:r>
          </a:p>
        </p:txBody>
      </p:sp>
      <p:sp>
        <p:nvSpPr>
          <p:cNvPr id="38" name="TextBox 37"/>
          <p:cNvSpPr txBox="1"/>
          <p:nvPr/>
        </p:nvSpPr>
        <p:spPr>
          <a:xfrm>
            <a:off x="5973318" y="2623186"/>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39" name="Rectangle 38"/>
          <p:cNvSpPr/>
          <p:nvPr/>
        </p:nvSpPr>
        <p:spPr>
          <a:xfrm>
            <a:off x="445770" y="2818638"/>
            <a:ext cx="8243316" cy="2057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500634" y="2842642"/>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5</a:t>
            </a:r>
          </a:p>
        </p:txBody>
      </p:sp>
      <p:sp>
        <p:nvSpPr>
          <p:cNvPr id="41" name="TextBox 40"/>
          <p:cNvSpPr txBox="1"/>
          <p:nvPr/>
        </p:nvSpPr>
        <p:spPr>
          <a:xfrm>
            <a:off x="1021842" y="2842642"/>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and</a:t>
            </a:r>
          </a:p>
        </p:txBody>
      </p:sp>
      <p:sp>
        <p:nvSpPr>
          <p:cNvPr id="42" name="TextBox 41"/>
          <p:cNvSpPr txBox="1"/>
          <p:nvPr/>
        </p:nvSpPr>
        <p:spPr>
          <a:xfrm>
            <a:off x="3182112" y="2842642"/>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“and”</a:t>
            </a:r>
          </a:p>
        </p:txBody>
      </p:sp>
      <p:sp>
        <p:nvSpPr>
          <p:cNvPr id="43" name="TextBox 42"/>
          <p:cNvSpPr txBox="1"/>
          <p:nvPr/>
        </p:nvSpPr>
        <p:spPr>
          <a:xfrm>
            <a:off x="5973318" y="2842642"/>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4" name="Rectangle 43"/>
          <p:cNvSpPr/>
          <p:nvPr/>
        </p:nvSpPr>
        <p:spPr>
          <a:xfrm>
            <a:off x="445770" y="3038093"/>
            <a:ext cx="8243316" cy="205740"/>
          </a:xfrm>
          <a:prstGeom prst="rect">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00634" y="3062098"/>
            <a:ext cx="377190" cy="182358"/>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6</a:t>
            </a:r>
          </a:p>
        </p:txBody>
      </p:sp>
      <p:sp>
        <p:nvSpPr>
          <p:cNvPr id="46" name="TextBox 45"/>
          <p:cNvSpPr txBox="1"/>
          <p:nvPr/>
        </p:nvSpPr>
        <p:spPr>
          <a:xfrm>
            <a:off x="1021842" y="3062098"/>
            <a:ext cx="198882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scale</a:t>
            </a:r>
          </a:p>
        </p:txBody>
      </p:sp>
      <p:sp>
        <p:nvSpPr>
          <p:cNvPr id="47" name="TextBox 46"/>
          <p:cNvSpPr txBox="1"/>
          <p:nvPr/>
        </p:nvSpPr>
        <p:spPr>
          <a:xfrm>
            <a:off x="3182112" y="3062098"/>
            <a:ext cx="2619756"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K/V for “scale”</a:t>
            </a:r>
          </a:p>
        </p:txBody>
      </p:sp>
      <p:sp>
        <p:nvSpPr>
          <p:cNvPr id="48" name="TextBox 47"/>
          <p:cNvSpPr txBox="1"/>
          <p:nvPr/>
        </p:nvSpPr>
        <p:spPr>
          <a:xfrm>
            <a:off x="5973318" y="3062098"/>
            <a:ext cx="264033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applications</a:t>
            </a:r>
          </a:p>
        </p:txBody>
      </p:sp>
      <p:sp>
        <p:nvSpPr>
          <p:cNvPr id="49" name="TextBox 48"/>
          <p:cNvSpPr txBox="1"/>
          <p:nvPr/>
        </p:nvSpPr>
        <p:spPr>
          <a:xfrm>
            <a:off x="445770" y="3319273"/>
            <a:ext cx="8243316"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Repeat until the answer is complete. Each selected token becomes the next input.</a:t>
            </a:r>
          </a:p>
        </p:txBody>
      </p:sp>
      <p:sp>
        <p:nvSpPr>
          <p:cNvPr id="50" name="TextBox 49"/>
          <p:cNvSpPr txBox="1"/>
          <p:nvPr/>
        </p:nvSpPr>
        <p:spPr>
          <a:xfrm>
            <a:off x="445770" y="3552444"/>
            <a:ext cx="816102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Client arrivals  /  First 6 words shown  /  Schematic, not to scale</a:t>
            </a:r>
          </a:p>
        </p:txBody>
      </p:sp>
      <p:sp>
        <p:nvSpPr>
          <p:cNvPr id="51" name="Rounded Rectangle 50"/>
          <p:cNvSpPr/>
          <p:nvPr/>
        </p:nvSpPr>
        <p:spPr>
          <a:xfrm>
            <a:off x="445770" y="3963924"/>
            <a:ext cx="994410" cy="26746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2" name="TextBox 51"/>
          <p:cNvSpPr txBox="1"/>
          <p:nvPr/>
        </p:nvSpPr>
        <p:spPr>
          <a:xfrm>
            <a:off x="462915" y="4011931"/>
            <a:ext cx="960120" cy="159274"/>
          </a:xfrm>
          <a:prstGeom prst="rect">
            <a:avLst/>
          </a:prstGeom>
          <a:noFill/>
        </p:spPr>
        <p:txBody>
          <a:bodyPr wrap="square" lIns="10287" tIns="10287" rIns="10287" bIns="10287">
            <a:spAutoFit/>
          </a:bodyPr>
          <a:lstStyle/>
          <a:p>
            <a:pPr algn="ctr">
              <a:spcAft>
                <a:spcPts val="375"/>
              </a:spcAft>
              <a:defRPr sz="1200" b="1">
                <a:solidFill>
                  <a:srgbClr val="2563EB"/>
                </a:solidFill>
                <a:latin typeface="Arial"/>
              </a:defRPr>
            </a:pPr>
            <a:r>
              <a:rPr sz="900" cap="none">
                <a:latin typeface="Arial"/>
              </a:rPr>
              <a:t>Request</a:t>
            </a:r>
          </a:p>
        </p:txBody>
      </p:sp>
      <p:sp>
        <p:nvSpPr>
          <p:cNvPr id="53" name="Rounded Rectangle 52"/>
          <p:cNvSpPr/>
          <p:nvPr/>
        </p:nvSpPr>
        <p:spPr>
          <a:xfrm>
            <a:off x="2777490" y="3963924"/>
            <a:ext cx="1179576" cy="26746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4" name="TextBox 53"/>
          <p:cNvSpPr txBox="1"/>
          <p:nvPr/>
        </p:nvSpPr>
        <p:spPr>
          <a:xfrm>
            <a:off x="2794635" y="4011931"/>
            <a:ext cx="1145286" cy="159274"/>
          </a:xfrm>
          <a:prstGeom prst="rect">
            <a:avLst/>
          </a:prstGeom>
          <a:noFill/>
        </p:spPr>
        <p:txBody>
          <a:bodyPr wrap="square" lIns="10287" tIns="10287" rIns="10287" bIns="10287">
            <a:spAutoFit/>
          </a:bodyPr>
          <a:lstStyle/>
          <a:p>
            <a:pPr algn="ctr">
              <a:spcAft>
                <a:spcPts val="375"/>
              </a:spcAft>
              <a:defRPr sz="1200" b="1">
                <a:solidFill>
                  <a:srgbClr val="087F8C"/>
                </a:solidFill>
                <a:latin typeface="Arial"/>
              </a:defRPr>
            </a:pPr>
            <a:r>
              <a:rPr sz="900" cap="none">
                <a:latin typeface="Arial"/>
              </a:rPr>
              <a:t>Kubernetes</a:t>
            </a:r>
          </a:p>
        </p:txBody>
      </p:sp>
      <p:cxnSp>
        <p:nvCxnSpPr>
          <p:cNvPr id="55" name="Connector 54"/>
          <p:cNvCxnSpPr/>
          <p:nvPr/>
        </p:nvCxnSpPr>
        <p:spPr>
          <a:xfrm>
            <a:off x="1440180" y="4097655"/>
            <a:ext cx="1337310" cy="0"/>
          </a:xfrm>
          <a:prstGeom prst="line">
            <a:avLst/>
          </a:prstGeom>
          <a:ln w="1778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445770" y="3785616"/>
            <a:ext cx="2331720" cy="147733"/>
          </a:xfrm>
          <a:prstGeom prst="rect">
            <a:avLst/>
          </a:prstGeom>
          <a:noFill/>
        </p:spPr>
        <p:txBody>
          <a:bodyPr wrap="square" lIns="10287" tIns="10287" rIns="10287" bIns="10287">
            <a:spAutoFit/>
          </a:bodyPr>
          <a:lstStyle/>
          <a:p>
            <a:pPr algn="ctr">
              <a:spcAft>
                <a:spcPts val="375"/>
              </a:spcAft>
              <a:defRPr sz="1100" b="1">
                <a:solidFill>
                  <a:srgbClr val="087F8C"/>
                </a:solidFill>
                <a:latin typeface="Arial"/>
              </a:defRPr>
            </a:pPr>
            <a:r>
              <a:rPr sz="825" cap="none">
                <a:latin typeface="Arial"/>
              </a:rPr>
              <a:t>TTFT → first word</a:t>
            </a:r>
          </a:p>
        </p:txBody>
      </p:sp>
      <p:sp>
        <p:nvSpPr>
          <p:cNvPr id="57" name="Rounded Rectangle 56"/>
          <p:cNvSpPr/>
          <p:nvPr/>
        </p:nvSpPr>
        <p:spPr>
          <a:xfrm>
            <a:off x="408051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8" name="TextBox 57"/>
          <p:cNvSpPr txBox="1"/>
          <p:nvPr/>
        </p:nvSpPr>
        <p:spPr>
          <a:xfrm>
            <a:off x="409765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helps</a:t>
            </a:r>
          </a:p>
        </p:txBody>
      </p:sp>
      <p:cxnSp>
        <p:nvCxnSpPr>
          <p:cNvPr id="59" name="Connector 58"/>
          <p:cNvCxnSpPr/>
          <p:nvPr/>
        </p:nvCxnSpPr>
        <p:spPr>
          <a:xfrm>
            <a:off x="395706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0" name="TextBox 59"/>
          <p:cNvSpPr txBox="1"/>
          <p:nvPr/>
        </p:nvSpPr>
        <p:spPr>
          <a:xfrm>
            <a:off x="2777490" y="3785616"/>
            <a:ext cx="130302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1</a:t>
            </a:r>
          </a:p>
        </p:txBody>
      </p:sp>
      <p:sp>
        <p:nvSpPr>
          <p:cNvPr id="61" name="Rounded Rectangle 60"/>
          <p:cNvSpPr/>
          <p:nvPr/>
        </p:nvSpPr>
        <p:spPr>
          <a:xfrm>
            <a:off x="500634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2" name="TextBox 61"/>
          <p:cNvSpPr txBox="1"/>
          <p:nvPr/>
        </p:nvSpPr>
        <p:spPr>
          <a:xfrm>
            <a:off x="502348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teams</a:t>
            </a:r>
          </a:p>
        </p:txBody>
      </p:sp>
      <p:cxnSp>
        <p:nvCxnSpPr>
          <p:cNvPr id="63" name="Connector 62"/>
          <p:cNvCxnSpPr/>
          <p:nvPr/>
        </p:nvCxnSpPr>
        <p:spPr>
          <a:xfrm>
            <a:off x="488289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Box 63"/>
          <p:cNvSpPr txBox="1"/>
          <p:nvPr/>
        </p:nvSpPr>
        <p:spPr>
          <a:xfrm>
            <a:off x="408051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2</a:t>
            </a:r>
          </a:p>
        </p:txBody>
      </p:sp>
      <p:sp>
        <p:nvSpPr>
          <p:cNvPr id="65" name="Rounded Rectangle 64"/>
          <p:cNvSpPr/>
          <p:nvPr/>
        </p:nvSpPr>
        <p:spPr>
          <a:xfrm>
            <a:off x="593217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6" name="TextBox 65"/>
          <p:cNvSpPr txBox="1"/>
          <p:nvPr/>
        </p:nvSpPr>
        <p:spPr>
          <a:xfrm>
            <a:off x="594931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deploy</a:t>
            </a:r>
          </a:p>
        </p:txBody>
      </p:sp>
      <p:cxnSp>
        <p:nvCxnSpPr>
          <p:cNvPr id="67" name="Connector 66"/>
          <p:cNvCxnSpPr/>
          <p:nvPr/>
        </p:nvCxnSpPr>
        <p:spPr>
          <a:xfrm>
            <a:off x="5808726" y="4097655"/>
            <a:ext cx="123445"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5006340" y="3785616"/>
            <a:ext cx="925830"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3</a:t>
            </a:r>
          </a:p>
        </p:txBody>
      </p:sp>
      <p:sp>
        <p:nvSpPr>
          <p:cNvPr id="69" name="Rounded Rectangle 68"/>
          <p:cNvSpPr/>
          <p:nvPr/>
        </p:nvSpPr>
        <p:spPr>
          <a:xfrm>
            <a:off x="685800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0" name="TextBox 69"/>
          <p:cNvSpPr txBox="1"/>
          <p:nvPr/>
        </p:nvSpPr>
        <p:spPr>
          <a:xfrm>
            <a:off x="687514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and</a:t>
            </a:r>
          </a:p>
        </p:txBody>
      </p:sp>
      <p:cxnSp>
        <p:nvCxnSpPr>
          <p:cNvPr id="71" name="Connector 70"/>
          <p:cNvCxnSpPr/>
          <p:nvPr/>
        </p:nvCxnSpPr>
        <p:spPr>
          <a:xfrm>
            <a:off x="673455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93217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4</a:t>
            </a:r>
          </a:p>
        </p:txBody>
      </p:sp>
      <p:sp>
        <p:nvSpPr>
          <p:cNvPr id="73" name="Rounded Rectangle 72"/>
          <p:cNvSpPr/>
          <p:nvPr/>
        </p:nvSpPr>
        <p:spPr>
          <a:xfrm>
            <a:off x="7783830" y="3963924"/>
            <a:ext cx="802386"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74" name="TextBox 73"/>
          <p:cNvSpPr txBox="1"/>
          <p:nvPr/>
        </p:nvSpPr>
        <p:spPr>
          <a:xfrm>
            <a:off x="7800976" y="4011931"/>
            <a:ext cx="768095" cy="159274"/>
          </a:xfrm>
          <a:prstGeom prst="rect">
            <a:avLst/>
          </a:prstGeom>
          <a:noFill/>
        </p:spPr>
        <p:txBody>
          <a:bodyPr wrap="square" lIns="10287" tIns="10287" rIns="10287" bIns="10287">
            <a:spAutoFit/>
          </a:bodyPr>
          <a:lstStyle/>
          <a:p>
            <a:pPr algn="ctr">
              <a:spcAft>
                <a:spcPts val="375"/>
              </a:spcAft>
              <a:defRPr sz="1200" b="1">
                <a:solidFill>
                  <a:srgbClr val="7354B8"/>
                </a:solidFill>
                <a:latin typeface="Arial"/>
              </a:defRPr>
            </a:pPr>
            <a:r>
              <a:rPr sz="900" cap="none">
                <a:latin typeface="Arial"/>
              </a:rPr>
              <a:t>scale</a:t>
            </a:r>
          </a:p>
        </p:txBody>
      </p:sp>
      <p:cxnSp>
        <p:nvCxnSpPr>
          <p:cNvPr id="75" name="Connector 74"/>
          <p:cNvCxnSpPr/>
          <p:nvPr/>
        </p:nvCxnSpPr>
        <p:spPr>
          <a:xfrm>
            <a:off x="7660386" y="4097655"/>
            <a:ext cx="123444" cy="0"/>
          </a:xfrm>
          <a:prstGeom prst="line">
            <a:avLst/>
          </a:prstGeom>
          <a:ln w="1778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858001" y="3785616"/>
            <a:ext cx="925829" cy="147733"/>
          </a:xfrm>
          <a:prstGeom prst="rect">
            <a:avLst/>
          </a:prstGeom>
          <a:noFill/>
        </p:spPr>
        <p:txBody>
          <a:bodyPr wrap="square" lIns="10287" tIns="10287" rIns="10287" bIns="10287">
            <a:spAutoFit/>
          </a:bodyPr>
          <a:lstStyle/>
          <a:p>
            <a:pPr algn="ctr">
              <a:spcAft>
                <a:spcPts val="375"/>
              </a:spcAft>
              <a:defRPr sz="1100" b="1">
                <a:solidFill>
                  <a:srgbClr val="7354B8"/>
                </a:solidFill>
                <a:latin typeface="Arial"/>
              </a:defRPr>
            </a:pPr>
            <a:r>
              <a:rPr sz="825" cap="none">
                <a:latin typeface="Arial"/>
              </a:rPr>
              <a:t>ITL 5</a:t>
            </a:r>
          </a:p>
        </p:txBody>
      </p:sp>
      <p:sp>
        <p:nvSpPr>
          <p:cNvPr id="77" name="TextBox 7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78" name="TextBox 7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06 / 49</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request. Two different performance targets.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mainly shapes the wait for the first token; decode shapes the pace after it.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Both affect total response latency and SLO goodput: requests/s meeting the latency targets.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03504"/>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3"/>
            <a:ext cx="116586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Prompt</a:t>
            </a:r>
          </a:p>
        </p:txBody>
      </p:sp>
      <p:sp>
        <p:nvSpPr>
          <p:cNvPr id="13" name="TextBox 12"/>
          <p:cNvSpPr txBox="1"/>
          <p:nvPr/>
        </p:nvSpPr>
        <p:spPr>
          <a:xfrm>
            <a:off x="48691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Input tokens</a:t>
            </a:r>
          </a:p>
        </p:txBody>
      </p:sp>
      <p:sp>
        <p:nvSpPr>
          <p:cNvPr id="14" name="Rounded Rectangle 13"/>
          <p:cNvSpPr/>
          <p:nvPr/>
        </p:nvSpPr>
        <p:spPr>
          <a:xfrm>
            <a:off x="2057400" y="1481328"/>
            <a:ext cx="20574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2057400" y="1549908"/>
            <a:ext cx="37719" cy="603504"/>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2160270" y="1570483"/>
            <a:ext cx="185166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Prefill</a:t>
            </a:r>
          </a:p>
        </p:txBody>
      </p:sp>
      <p:sp>
        <p:nvSpPr>
          <p:cNvPr id="17" name="TextBox 16"/>
          <p:cNvSpPr txBox="1"/>
          <p:nvPr/>
        </p:nvSpPr>
        <p:spPr>
          <a:xfrm>
            <a:off x="2167128" y="1899667"/>
            <a:ext cx="18379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Process uncached input</a:t>
            </a:r>
          </a:p>
        </p:txBody>
      </p:sp>
      <p:sp>
        <p:nvSpPr>
          <p:cNvPr id="18" name="Rounded Rectangle 17"/>
          <p:cNvSpPr/>
          <p:nvPr/>
        </p:nvSpPr>
        <p:spPr>
          <a:xfrm>
            <a:off x="4457700" y="1481328"/>
            <a:ext cx="137160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4457700" y="1549908"/>
            <a:ext cx="37719" cy="603504"/>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560570" y="1570483"/>
            <a:ext cx="1165860" cy="240066"/>
          </a:xfrm>
          <a:prstGeom prst="rect">
            <a:avLst/>
          </a:prstGeom>
          <a:noFill/>
        </p:spPr>
        <p:txBody>
          <a:bodyPr wrap="square" lIns="10287" tIns="10287" rIns="10287" bIns="10287">
            <a:spAutoFit/>
          </a:bodyPr>
          <a:lstStyle/>
          <a:p>
            <a:pPr algn="ctr">
              <a:spcAft>
                <a:spcPts val="375"/>
              </a:spcAft>
              <a:defRPr sz="1900" b="1">
                <a:solidFill>
                  <a:srgbClr val="AE641A"/>
                </a:solidFill>
                <a:latin typeface="Arial"/>
              </a:defRPr>
            </a:pPr>
            <a:r>
              <a:rPr sz="1425" cap="none">
                <a:latin typeface="Arial"/>
              </a:rPr>
              <a:t>KV cache</a:t>
            </a:r>
          </a:p>
        </p:txBody>
      </p:sp>
      <p:sp>
        <p:nvSpPr>
          <p:cNvPr id="21" name="TextBox 20"/>
          <p:cNvSpPr txBox="1"/>
          <p:nvPr/>
        </p:nvSpPr>
        <p:spPr>
          <a:xfrm>
            <a:off x="4567428" y="1899667"/>
            <a:ext cx="11521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Attention state</a:t>
            </a:r>
          </a:p>
        </p:txBody>
      </p:sp>
      <p:sp>
        <p:nvSpPr>
          <p:cNvPr id="22" name="Rounded Rectangle 21"/>
          <p:cNvSpPr/>
          <p:nvPr/>
        </p:nvSpPr>
        <p:spPr>
          <a:xfrm>
            <a:off x="6172200" y="1481328"/>
            <a:ext cx="2571750" cy="740664"/>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72200" y="1549908"/>
            <a:ext cx="37719" cy="603504"/>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75070" y="1570483"/>
            <a:ext cx="236601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Decode</a:t>
            </a:r>
          </a:p>
        </p:txBody>
      </p:sp>
      <p:sp>
        <p:nvSpPr>
          <p:cNvPr id="25" name="TextBox 24"/>
          <p:cNvSpPr txBox="1"/>
          <p:nvPr/>
        </p:nvSpPr>
        <p:spPr>
          <a:xfrm>
            <a:off x="6281928" y="1899667"/>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 tokens iteratively</a:t>
            </a:r>
          </a:p>
        </p:txBody>
      </p:sp>
      <p:cxnSp>
        <p:nvCxnSpPr>
          <p:cNvPr id="26" name="Connector 25"/>
          <p:cNvCxnSpPr/>
          <p:nvPr/>
        </p:nvCxnSpPr>
        <p:spPr>
          <a:xfrm>
            <a:off x="1748790" y="1851660"/>
            <a:ext cx="308610" cy="0"/>
          </a:xfrm>
          <a:prstGeom prst="line">
            <a:avLst/>
          </a:prstGeom>
          <a:ln w="25400">
            <a:solidFill>
              <a:srgbClr val="586A8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114800" y="1851660"/>
            <a:ext cx="342900"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5829300" y="1851660"/>
            <a:ext cx="342900"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77190"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500634" y="2551176"/>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Rounded Rectangle 30"/>
          <p:cNvSpPr/>
          <p:nvPr/>
        </p:nvSpPr>
        <p:spPr>
          <a:xfrm>
            <a:off x="4649724" y="2407158"/>
            <a:ext cx="4080510" cy="168021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Rectangle 31"/>
          <p:cNvSpPr/>
          <p:nvPr/>
        </p:nvSpPr>
        <p:spPr>
          <a:xfrm>
            <a:off x="4773168" y="2551176"/>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21208" y="2674620"/>
            <a:ext cx="37719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 TTFT</a:t>
            </a:r>
          </a:p>
        </p:txBody>
      </p:sp>
      <p:sp>
        <p:nvSpPr>
          <p:cNvPr id="34" name="TextBox 33"/>
          <p:cNvSpPr txBox="1"/>
          <p:nvPr/>
        </p:nvSpPr>
        <p:spPr>
          <a:xfrm>
            <a:off x="521208" y="3010662"/>
            <a:ext cx="3771900" cy="228524"/>
          </a:xfrm>
          <a:prstGeom prst="rect">
            <a:avLst/>
          </a:prstGeom>
          <a:noFill/>
        </p:spPr>
        <p:txBody>
          <a:bodyPr wrap="square" lIns="10287" tIns="10287" rIns="10287" bIns="10287">
            <a:spAutoFit/>
          </a:bodyPr>
          <a:lstStyle/>
          <a:p>
            <a:pPr>
              <a:spcAft>
                <a:spcPts val="375"/>
              </a:spcAft>
              <a:defRPr sz="1800" b="1">
                <a:solidFill>
                  <a:srgbClr val="172941"/>
                </a:solidFill>
                <a:latin typeface="Arial"/>
              </a:defRPr>
            </a:pPr>
            <a:r>
              <a:rPr sz="1350" cap="none">
                <a:latin typeface="Arial"/>
              </a:rPr>
              <a:t>Time to first token • lower is better</a:t>
            </a:r>
          </a:p>
        </p:txBody>
      </p:sp>
      <p:sp>
        <p:nvSpPr>
          <p:cNvPr id="35" name="TextBox 34"/>
          <p:cNvSpPr txBox="1"/>
          <p:nvPr/>
        </p:nvSpPr>
        <p:spPr>
          <a:xfrm>
            <a:off x="521208"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Track prefill latency + input tok/s</a:t>
            </a:r>
          </a:p>
          <a:p>
            <a:pPr>
              <a:spcAft>
                <a:spcPts val="375"/>
              </a:spcAft>
              <a:defRPr sz="1700" b="0">
                <a:solidFill>
                  <a:srgbClr val="586A80"/>
                </a:solidFill>
                <a:latin typeface="Arial"/>
              </a:defRPr>
            </a:pPr>
            <a:r>
              <a:rPr sz="1275" cap="none">
                <a:latin typeface="Arial"/>
              </a:rPr>
              <a:t>Often compute-bound</a:t>
            </a:r>
          </a:p>
        </p:txBody>
      </p:sp>
      <p:sp>
        <p:nvSpPr>
          <p:cNvPr id="36" name="TextBox 35"/>
          <p:cNvSpPr txBox="1"/>
          <p:nvPr/>
        </p:nvSpPr>
        <p:spPr>
          <a:xfrm>
            <a:off x="4793742" y="2674620"/>
            <a:ext cx="37719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 ITL / TPOT</a:t>
            </a:r>
          </a:p>
        </p:txBody>
      </p:sp>
      <p:sp>
        <p:nvSpPr>
          <p:cNvPr id="37" name="TextBox 36"/>
          <p:cNvSpPr txBox="1"/>
          <p:nvPr/>
        </p:nvSpPr>
        <p:spPr>
          <a:xfrm>
            <a:off x="4793742" y="3010661"/>
            <a:ext cx="3771900" cy="205441"/>
          </a:xfrm>
          <a:prstGeom prst="rect">
            <a:avLst/>
          </a:prstGeom>
          <a:noFill/>
        </p:spPr>
        <p:txBody>
          <a:bodyPr wrap="square" lIns="10287" tIns="10287" rIns="10287" bIns="10287">
            <a:spAutoFit/>
          </a:bodyPr>
          <a:lstStyle/>
          <a:p>
            <a:pPr>
              <a:spcAft>
                <a:spcPts val="375"/>
              </a:spcAft>
              <a:defRPr sz="1600" b="1">
                <a:solidFill>
                  <a:srgbClr val="172941"/>
                </a:solidFill>
                <a:latin typeface="Arial"/>
              </a:defRPr>
            </a:pPr>
            <a:r>
              <a:rPr sz="1200" cap="none">
                <a:latin typeface="Arial"/>
              </a:rPr>
              <a:t>Inter-token latency / avg. time per output token</a:t>
            </a:r>
          </a:p>
        </p:txBody>
      </p:sp>
      <p:sp>
        <p:nvSpPr>
          <p:cNvPr id="38" name="TextBox 37"/>
          <p:cNvSpPr txBox="1"/>
          <p:nvPr/>
        </p:nvSpPr>
        <p:spPr>
          <a:xfrm>
            <a:off x="4793742" y="3374137"/>
            <a:ext cx="3771900" cy="464486"/>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Lower is better • track aggregate output tok/s</a:t>
            </a:r>
          </a:p>
          <a:p>
            <a:pPr>
              <a:spcAft>
                <a:spcPts val="375"/>
              </a:spcAft>
              <a:defRPr sz="1700" b="0">
                <a:solidFill>
                  <a:srgbClr val="586A80"/>
                </a:solidFill>
                <a:latin typeface="Arial"/>
              </a:defRPr>
            </a:pPr>
            <a:r>
              <a:rPr sz="1275" cap="none">
                <a:latin typeface="Arial"/>
              </a:rPr>
              <a:t>Often memory-bandwidth-bound</a:t>
            </a:r>
          </a:p>
        </p:txBody>
      </p:sp>
      <p:sp>
        <p:nvSpPr>
          <p:cNvPr id="39" name="TextBox 38"/>
          <p:cNvSpPr txBox="1"/>
          <p:nvPr/>
        </p:nvSpPr>
        <p:spPr>
          <a:xfrm>
            <a:off x="445770" y="4162806"/>
            <a:ext cx="8243316"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Not exclusive: queueing / delivery also affect TTFT; shared prefill can stall decode. Sources: vLLM metrics; NVIDIA Dynamo.</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07 / 49</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shared pool couples two capacity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Aggregated serving is simple—but prefill bursts and active decoding share resources.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compromise is not only performance. It is how you size and scale the service.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77340"/>
            <a:ext cx="4903470"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755649"/>
            <a:ext cx="4526280" cy="216982"/>
          </a:xfrm>
          <a:prstGeom prst="rect">
            <a:avLst/>
          </a:prstGeom>
          <a:noFill/>
        </p:spPr>
        <p:txBody>
          <a:bodyPr wrap="square" lIns="10287" tIns="10287" rIns="10287" bIns="10287">
            <a:spAutoFit/>
          </a:bodyPr>
          <a:lstStyle/>
          <a:p>
            <a:pPr>
              <a:spcAft>
                <a:spcPts val="375"/>
              </a:spcAft>
              <a:defRPr sz="1700" b="1">
                <a:solidFill>
                  <a:srgbClr val="2563EB"/>
                </a:solidFill>
                <a:latin typeface="Arial"/>
              </a:defRPr>
            </a:pPr>
            <a:r>
              <a:rPr sz="1275" cap="none">
                <a:latin typeface="Arial"/>
              </a:rPr>
              <a:t>Shared GPU pool</a:t>
            </a:r>
          </a:p>
        </p:txBody>
      </p:sp>
      <p:sp>
        <p:nvSpPr>
          <p:cNvPr id="12" name="Rounded Rectangle 11"/>
          <p:cNvSpPr/>
          <p:nvPr/>
        </p:nvSpPr>
        <p:spPr>
          <a:xfrm>
            <a:off x="58978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ounded Rectangle 12"/>
          <p:cNvSpPr/>
          <p:nvPr/>
        </p:nvSpPr>
        <p:spPr>
          <a:xfrm>
            <a:off x="67208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72009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5" name="Rounded Rectangle 14"/>
          <p:cNvSpPr/>
          <p:nvPr/>
        </p:nvSpPr>
        <p:spPr>
          <a:xfrm>
            <a:off x="67208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72009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17" name="Rounded Rectangle 16"/>
          <p:cNvSpPr/>
          <p:nvPr/>
        </p:nvSpPr>
        <p:spPr>
          <a:xfrm>
            <a:off x="209854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Rounded Rectangle 17"/>
          <p:cNvSpPr/>
          <p:nvPr/>
        </p:nvSpPr>
        <p:spPr>
          <a:xfrm>
            <a:off x="218084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22885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0" name="Rounded Rectangle 19"/>
          <p:cNvSpPr/>
          <p:nvPr/>
        </p:nvSpPr>
        <p:spPr>
          <a:xfrm>
            <a:off x="218084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222885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2" name="Rounded Rectangle 21"/>
          <p:cNvSpPr/>
          <p:nvPr/>
        </p:nvSpPr>
        <p:spPr>
          <a:xfrm>
            <a:off x="3607308" y="2290572"/>
            <a:ext cx="1357884" cy="1097280"/>
          </a:xfrm>
          <a:prstGeom prst="roundRect">
            <a:avLst>
              <a:gd name="adj" fmla="val 10000"/>
            </a:avLst>
          </a:prstGeom>
          <a:solidFill>
            <a:srgbClr val="F6F8FC"/>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ounded Rectangle 22"/>
          <p:cNvSpPr/>
          <p:nvPr/>
        </p:nvSpPr>
        <p:spPr>
          <a:xfrm>
            <a:off x="3689604" y="2441448"/>
            <a:ext cx="1186434"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3737611" y="2465451"/>
            <a:ext cx="1090421"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25" name="Rounded Rectangle 24"/>
          <p:cNvSpPr/>
          <p:nvPr/>
        </p:nvSpPr>
        <p:spPr>
          <a:xfrm>
            <a:off x="3689604" y="2839211"/>
            <a:ext cx="1186434"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737611" y="2863215"/>
            <a:ext cx="1090421"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7" name="TextBox 26"/>
          <p:cNvSpPr txBox="1"/>
          <p:nvPr/>
        </p:nvSpPr>
        <p:spPr>
          <a:xfrm>
            <a:off x="562356" y="3607309"/>
            <a:ext cx="4457700" cy="216982"/>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75" cap="none">
                <a:latin typeface="Arial"/>
              </a:rPr>
              <a:t>One deployment • one coupled scaling boundary</a:t>
            </a:r>
          </a:p>
        </p:txBody>
      </p:sp>
      <p:sp>
        <p:nvSpPr>
          <p:cNvPr id="28" name="Rounded Rectangle 27"/>
          <p:cNvSpPr/>
          <p:nvPr/>
        </p:nvSpPr>
        <p:spPr>
          <a:xfrm>
            <a:off x="5520690" y="1577340"/>
            <a:ext cx="3236976" cy="25717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5644134" y="1714500"/>
            <a:ext cx="260604" cy="44577"/>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5657851" y="1851659"/>
            <a:ext cx="2962655" cy="251607"/>
          </a:xfrm>
          <a:prstGeom prst="rect">
            <a:avLst/>
          </a:prstGeom>
          <a:noFill/>
        </p:spPr>
        <p:txBody>
          <a:bodyPr wrap="square" lIns="10287" tIns="10287" rIns="10287" bIns="10287">
            <a:spAutoFit/>
          </a:bodyPr>
          <a:lstStyle/>
          <a:p>
            <a:pPr>
              <a:spcAft>
                <a:spcPts val="375"/>
              </a:spcAft>
              <a:defRPr sz="2000" b="1">
                <a:solidFill>
                  <a:srgbClr val="AE641A"/>
                </a:solidFill>
                <a:latin typeface="Arial"/>
              </a:defRPr>
            </a:pPr>
            <a:r>
              <a:rPr sz="1500" cap="none">
                <a:latin typeface="Arial"/>
              </a:rPr>
              <a:t>The operational tension</a:t>
            </a:r>
          </a:p>
        </p:txBody>
      </p:sp>
      <p:sp>
        <p:nvSpPr>
          <p:cNvPr id="31" name="TextBox 30"/>
          <p:cNvSpPr txBox="1"/>
          <p:nvPr/>
        </p:nvSpPr>
        <p:spPr>
          <a:xfrm>
            <a:off x="5657851" y="2304289"/>
            <a:ext cx="2962655" cy="1219821"/>
          </a:xfrm>
          <a:prstGeom prst="rect">
            <a:avLst/>
          </a:prstGeom>
          <a:noFill/>
        </p:spPr>
        <p:txBody>
          <a:bodyPr wrap="square" lIns="10287" tIns="10287" rIns="10287" bIns="10287">
            <a:spAutoFit/>
          </a:bodyPr>
          <a:lstStyle/>
          <a:p>
            <a:pPr>
              <a:spcAft>
                <a:spcPts val="375"/>
              </a:spcAft>
              <a:defRPr sz="1900" b="0">
                <a:solidFill>
                  <a:srgbClr val="172941"/>
                </a:solidFill>
                <a:latin typeface="Arial"/>
              </a:defRPr>
            </a:pPr>
            <a:r>
              <a:rPr sz="1425" cap="none">
                <a:latin typeface="Arial"/>
              </a:rPr>
              <a:t>Prompt bursts can disrupt token delivery.</a:t>
            </a:r>
          </a:p>
          <a:p>
            <a:pPr>
              <a:spcAft>
                <a:spcPts val="375"/>
              </a:spcAft>
              <a:defRPr sz="1900" b="0">
                <a:solidFill>
                  <a:srgbClr val="172941"/>
                </a:solidFill>
                <a:latin typeface="Arial"/>
              </a:defRPr>
            </a:pPr>
            <a:endParaRPr sz="1425"/>
          </a:p>
          <a:p>
            <a:pPr>
              <a:spcAft>
                <a:spcPts val="375"/>
              </a:spcAft>
              <a:defRPr sz="1900" b="0">
                <a:solidFill>
                  <a:srgbClr val="172941"/>
                </a:solidFill>
                <a:latin typeface="Arial"/>
              </a:defRPr>
            </a:pPr>
            <a:r>
              <a:rPr sz="1425" cap="none">
                <a:latin typeface="Arial"/>
              </a:rPr>
              <a:t>Scaling adds both phases, even when only one is saturated.</a:t>
            </a:r>
          </a:p>
        </p:txBody>
      </p:sp>
      <p:sp>
        <p:nvSpPr>
          <p:cNvPr id="32" name="TextBox 3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3" name="TextBox 3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08 / 49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execution interference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Long prefills can interrupt token delivery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 is already decoding. B arrives with a new prompt. Where should B run?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Separate GPUs remove direct prefill execution from the decode GPU—not every source of latency.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schedule · Not a benchmark · Block widths and gaps are not timings</a:t>
            </a:r>
          </a:p>
        </p:txBody>
      </p:sp>
      <p:sp>
        <p:nvSpPr>
          <p:cNvPr id="11" name="Rounded Rectangle 10"/>
          <p:cNvSpPr/>
          <p:nvPr/>
        </p:nvSpPr>
        <p:spPr>
          <a:xfrm>
            <a:off x="377190" y="1769364"/>
            <a:ext cx="8387334" cy="8709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21208" y="19202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Shared GPU</a:t>
            </a:r>
          </a:p>
        </p:txBody>
      </p:sp>
      <p:sp>
        <p:nvSpPr>
          <p:cNvPr id="13" name="TextBox 12"/>
          <p:cNvSpPr txBox="1"/>
          <p:nvPr/>
        </p:nvSpPr>
        <p:spPr>
          <a:xfrm>
            <a:off x="521208" y="2256283"/>
            <a:ext cx="1817370" cy="182358"/>
          </a:xfrm>
          <a:prstGeom prst="rect">
            <a:avLst/>
          </a:prstGeom>
          <a:noFill/>
        </p:spPr>
        <p:txBody>
          <a:bodyPr wrap="square" lIns="10287" tIns="10287" rIns="10287" bIns="10287">
            <a:spAutoFit/>
          </a:bodyPr>
          <a:lstStyle/>
          <a:p>
            <a:pPr>
              <a:spcAft>
                <a:spcPts val="375"/>
              </a:spcAft>
              <a:defRPr sz="1400" b="0">
                <a:solidFill>
                  <a:srgbClr val="586A80"/>
                </a:solidFill>
                <a:latin typeface="Arial"/>
              </a:defRPr>
            </a:pPr>
            <a:r>
              <a:rPr sz="1050" cap="none">
                <a:latin typeface="Arial"/>
              </a:rPr>
              <a:t>One worker does both</a:t>
            </a:r>
          </a:p>
        </p:txBody>
      </p:sp>
      <p:sp>
        <p:nvSpPr>
          <p:cNvPr id="14" name="Rounded Rectangle 13"/>
          <p:cNvSpPr/>
          <p:nvPr/>
        </p:nvSpPr>
        <p:spPr>
          <a:xfrm>
            <a:off x="257175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259232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6" name="Rounded Rectangle 15"/>
          <p:cNvSpPr/>
          <p:nvPr/>
        </p:nvSpPr>
        <p:spPr>
          <a:xfrm>
            <a:off x="34632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4838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18" name="Rounded Rectangle 17"/>
          <p:cNvSpPr/>
          <p:nvPr/>
        </p:nvSpPr>
        <p:spPr>
          <a:xfrm>
            <a:off x="4354830" y="2119122"/>
            <a:ext cx="2057400" cy="33604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4375404" y="2180844"/>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20" name="Rounded Rectangle 19"/>
          <p:cNvSpPr/>
          <p:nvPr/>
        </p:nvSpPr>
        <p:spPr>
          <a:xfrm>
            <a:off x="654939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656996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2" name="Rounded Rectangle 21"/>
          <p:cNvSpPr/>
          <p:nvPr/>
        </p:nvSpPr>
        <p:spPr>
          <a:xfrm>
            <a:off x="7440930" y="2119122"/>
            <a:ext cx="754380" cy="33604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7461504" y="2180844"/>
            <a:ext cx="713232"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D</a:t>
            </a:r>
          </a:p>
        </p:txBody>
      </p:sp>
      <p:sp>
        <p:nvSpPr>
          <p:cNvPr id="24" name="TextBox 23"/>
          <p:cNvSpPr txBox="1"/>
          <p:nvPr/>
        </p:nvSpPr>
        <p:spPr>
          <a:xfrm>
            <a:off x="4272534" y="1837944"/>
            <a:ext cx="2228850" cy="193899"/>
          </a:xfrm>
          <a:prstGeom prst="rect">
            <a:avLst/>
          </a:prstGeom>
          <a:noFill/>
        </p:spPr>
        <p:txBody>
          <a:bodyPr wrap="square" lIns="10287" tIns="10287" rIns="10287" bIns="10287">
            <a:spAutoFit/>
          </a:bodyPr>
          <a:lstStyle/>
          <a:p>
            <a:pPr algn="ctr">
              <a:spcAft>
                <a:spcPts val="375"/>
              </a:spcAft>
              <a:defRPr sz="1500" b="1">
                <a:solidFill>
                  <a:srgbClr val="AE641A"/>
                </a:solidFill>
                <a:latin typeface="Arial"/>
              </a:defRPr>
            </a:pPr>
            <a:r>
              <a:rPr sz="1125" cap="none">
                <a:latin typeface="Arial"/>
              </a:rPr>
              <a:t>A waits while B runs prefill</a:t>
            </a:r>
          </a:p>
        </p:txBody>
      </p:sp>
      <p:sp>
        <p:nvSpPr>
          <p:cNvPr id="25" name="Rounded Rectangle 24"/>
          <p:cNvSpPr/>
          <p:nvPr/>
        </p:nvSpPr>
        <p:spPr>
          <a:xfrm>
            <a:off x="377190" y="2784347"/>
            <a:ext cx="8387334" cy="122758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21208" y="2948940"/>
            <a:ext cx="1817370" cy="263149"/>
          </a:xfrm>
          <a:prstGeom prst="rect">
            <a:avLst/>
          </a:prstGeom>
          <a:noFill/>
        </p:spPr>
        <p:txBody>
          <a:bodyPr wrap="square" lIns="10287" tIns="10287" rIns="10287" bIns="10287">
            <a:spAutoFit/>
          </a:bodyPr>
          <a:lstStyle/>
          <a:p>
            <a:pPr>
              <a:spcAft>
                <a:spcPts val="375"/>
              </a:spcAft>
              <a:defRPr sz="2100" b="1">
                <a:solidFill>
                  <a:srgbClr val="172941"/>
                </a:solidFill>
                <a:latin typeface="Arial"/>
              </a:defRPr>
            </a:pPr>
            <a:r>
              <a:rPr sz="1575" cap="none">
                <a:latin typeface="Arial"/>
              </a:rPr>
              <a:t>Separate GPUs</a:t>
            </a:r>
          </a:p>
        </p:txBody>
      </p:sp>
      <p:sp>
        <p:nvSpPr>
          <p:cNvPr id="27" name="TextBox 26"/>
          <p:cNvSpPr txBox="1"/>
          <p:nvPr/>
        </p:nvSpPr>
        <p:spPr>
          <a:xfrm>
            <a:off x="521208" y="3326131"/>
            <a:ext cx="1817370"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Prefill worker</a:t>
            </a:r>
          </a:p>
        </p:txBody>
      </p:sp>
      <p:sp>
        <p:nvSpPr>
          <p:cNvPr id="28" name="TextBox 27"/>
          <p:cNvSpPr txBox="1"/>
          <p:nvPr/>
        </p:nvSpPr>
        <p:spPr>
          <a:xfrm>
            <a:off x="521208" y="3675889"/>
            <a:ext cx="1817370" cy="182358"/>
          </a:xfrm>
          <a:prstGeom prst="rect">
            <a:avLst/>
          </a:prstGeom>
          <a:noFill/>
        </p:spPr>
        <p:txBody>
          <a:bodyPr wrap="square" lIns="10287" tIns="10287" rIns="10287" bIns="10287">
            <a:spAutoFit/>
          </a:bodyPr>
          <a:lstStyle/>
          <a:p>
            <a:pPr>
              <a:spcAft>
                <a:spcPts val="375"/>
              </a:spcAft>
              <a:defRPr sz="1400" b="1">
                <a:solidFill>
                  <a:srgbClr val="7354B8"/>
                </a:solidFill>
                <a:latin typeface="Arial"/>
              </a:defRPr>
            </a:pPr>
            <a:r>
              <a:rPr sz="1050" cap="none">
                <a:latin typeface="Arial"/>
              </a:rPr>
              <a:t>Decode worker</a:t>
            </a:r>
          </a:p>
        </p:txBody>
      </p:sp>
      <p:sp>
        <p:nvSpPr>
          <p:cNvPr id="29" name="Rounded Rectangle 28"/>
          <p:cNvSpPr/>
          <p:nvPr/>
        </p:nvSpPr>
        <p:spPr>
          <a:xfrm>
            <a:off x="4354830" y="3257550"/>
            <a:ext cx="205740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4375404" y="3298698"/>
            <a:ext cx="2016252"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Prefill B</a:t>
            </a:r>
          </a:p>
        </p:txBody>
      </p:sp>
      <p:sp>
        <p:nvSpPr>
          <p:cNvPr id="31" name="TextBox 30"/>
          <p:cNvSpPr txBox="1"/>
          <p:nvPr/>
        </p:nvSpPr>
        <p:spPr>
          <a:xfrm>
            <a:off x="6563106" y="3298698"/>
            <a:ext cx="1920240" cy="170816"/>
          </a:xfrm>
          <a:prstGeom prst="rect">
            <a:avLst/>
          </a:prstGeom>
          <a:noFill/>
        </p:spPr>
        <p:txBody>
          <a:bodyPr wrap="square" lIns="10287" tIns="10287" rIns="10287" bIns="10287">
            <a:spAutoFit/>
          </a:bodyPr>
          <a:lstStyle/>
          <a:p>
            <a:pPr>
              <a:spcAft>
                <a:spcPts val="375"/>
              </a:spcAft>
              <a:defRPr sz="1300" b="0">
                <a:solidFill>
                  <a:srgbClr val="AE641A"/>
                </a:solidFill>
                <a:latin typeface="Arial"/>
              </a:defRPr>
            </a:pPr>
            <a:r>
              <a:rPr sz="975" cap="none">
                <a:latin typeface="Arial"/>
              </a:rPr>
              <a:t>B still needs KV handoff</a:t>
            </a:r>
          </a:p>
        </p:txBody>
      </p:sp>
      <p:sp>
        <p:nvSpPr>
          <p:cNvPr id="32" name="Rounded Rectangle 31"/>
          <p:cNvSpPr/>
          <p:nvPr/>
        </p:nvSpPr>
        <p:spPr>
          <a:xfrm>
            <a:off x="25717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25854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4" name="Rounded Rectangle 33"/>
          <p:cNvSpPr/>
          <p:nvPr/>
        </p:nvSpPr>
        <p:spPr>
          <a:xfrm>
            <a:off x="34632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347700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6" name="Rounded Rectangle 35"/>
          <p:cNvSpPr/>
          <p:nvPr/>
        </p:nvSpPr>
        <p:spPr>
          <a:xfrm>
            <a:off x="435483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436854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38" name="Rounded Rectangle 37"/>
          <p:cNvSpPr/>
          <p:nvPr/>
        </p:nvSpPr>
        <p:spPr>
          <a:xfrm>
            <a:off x="524637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26008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0" name="Rounded Rectangle 39"/>
          <p:cNvSpPr/>
          <p:nvPr/>
        </p:nvSpPr>
        <p:spPr>
          <a:xfrm>
            <a:off x="6137909"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6151625"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2" name="Rounded Rectangle 41"/>
          <p:cNvSpPr/>
          <p:nvPr/>
        </p:nvSpPr>
        <p:spPr>
          <a:xfrm>
            <a:off x="702945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704316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4" name="Rounded Rectangle 43"/>
          <p:cNvSpPr/>
          <p:nvPr/>
        </p:nvSpPr>
        <p:spPr>
          <a:xfrm>
            <a:off x="7920990" y="3621024"/>
            <a:ext cx="548640" cy="26746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7934706" y="3655314"/>
            <a:ext cx="521208" cy="193899"/>
          </a:xfrm>
          <a:prstGeom prst="rect">
            <a:avLst/>
          </a:prstGeom>
          <a:noFill/>
        </p:spPr>
        <p:txBody>
          <a:bodyPr wrap="square" lIns="10287" tIns="10287" rIns="10287" bIns="10287">
            <a:spAutoFit/>
          </a:bodyPr>
          <a:lstStyle/>
          <a:p>
            <a:pPr algn="ctr">
              <a:spcAft>
                <a:spcPts val="375"/>
              </a:spcAft>
              <a:defRPr sz="1500" b="1">
                <a:solidFill>
                  <a:srgbClr val="7354B8"/>
                </a:solidFill>
                <a:latin typeface="Arial"/>
              </a:defRPr>
            </a:pPr>
            <a:r>
              <a:rPr sz="1125" cap="none">
                <a:latin typeface="Arial"/>
              </a:rPr>
              <a:t>D</a:t>
            </a:r>
          </a:p>
        </p:txBody>
      </p:sp>
      <p:sp>
        <p:nvSpPr>
          <p:cNvPr id="46" name="TextBox 45"/>
          <p:cNvSpPr txBox="1"/>
          <p:nvPr/>
        </p:nvSpPr>
        <p:spPr>
          <a:xfrm>
            <a:off x="2571750" y="2900934"/>
            <a:ext cx="5932170"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 can continue decoding while B runs prefill elsewhere</a:t>
            </a:r>
          </a:p>
        </p:txBody>
      </p:sp>
      <p:sp>
        <p:nvSpPr>
          <p:cNvPr id="47" name="TextBox 46"/>
          <p:cNvSpPr txBox="1"/>
          <p:nvPr/>
        </p:nvSpPr>
        <p:spPr>
          <a:xfrm>
            <a:off x="445770" y="4094226"/>
            <a:ext cx="8195310" cy="147733"/>
          </a:xfrm>
          <a:prstGeom prst="rect">
            <a:avLst/>
          </a:prstGeom>
          <a:noFill/>
        </p:spPr>
        <p:txBody>
          <a:bodyPr wrap="square" lIns="10287" tIns="10287" rIns="10287" bIns="10287">
            <a:spAutoFit/>
          </a:bodyPr>
          <a:lstStyle/>
          <a:p>
            <a:pPr>
              <a:spcAft>
                <a:spcPts val="375"/>
              </a:spcAft>
              <a:defRPr sz="1100" b="0">
                <a:solidFill>
                  <a:srgbClr val="586A80"/>
                </a:solidFill>
                <a:latin typeface="Arial"/>
              </a:defRPr>
            </a:pPr>
            <a:r>
              <a:rPr sz="825" cap="none">
                <a:latin typeface="Arial"/>
              </a:rPr>
              <a:t>A = ongoing decode; B = new request. Chunked prefill can mitigate the shared-worker pause.</a:t>
            </a:r>
          </a:p>
        </p:txBody>
      </p:sp>
      <p:sp>
        <p:nvSpPr>
          <p:cNvPr id="48" name="TextBox 47"/>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49" name="TextBox 4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0" name="TextBox 4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09 / 49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different batching units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Prefill and decode batch different work</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Prefill processes many prompt positions; ordinary decode advances many independent requests.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Prefill finds parallel work in prompt length; decode finds it across active sequences.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45770" y="1453897"/>
            <a:ext cx="8229600" cy="159274"/>
          </a:xfrm>
          <a:prstGeom prst="rect">
            <a:avLst/>
          </a:prstGeom>
          <a:noFill/>
        </p:spPr>
        <p:txBody>
          <a:bodyPr wrap="square" lIns="10287" tIns="10287" rIns="10287" bIns="10287">
            <a:spAutoFit/>
          </a:bodyPr>
          <a:lstStyle/>
          <a:p>
            <a:pPr>
              <a:spcAft>
                <a:spcPts val="375"/>
              </a:spcAft>
              <a:defRPr sz="1200" b="1">
                <a:solidFill>
                  <a:srgbClr val="AE641A"/>
                </a:solidFill>
                <a:latin typeface="Arial"/>
              </a:defRPr>
            </a:pPr>
            <a:r>
              <a:rPr sz="900" cap="none">
                <a:latin typeface="Arial"/>
              </a:rPr>
              <a:t>Conceptual illustration · Not a benchmark · Tokens and request counts are schematic</a:t>
            </a:r>
          </a:p>
        </p:txBody>
      </p:sp>
      <p:sp>
        <p:nvSpPr>
          <p:cNvPr id="11" name="Rounded Rectangle 10"/>
          <p:cNvSpPr/>
          <p:nvPr/>
        </p:nvSpPr>
        <p:spPr>
          <a:xfrm>
            <a:off x="377190"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Rectangle 11"/>
          <p:cNvSpPr/>
          <p:nvPr/>
        </p:nvSpPr>
        <p:spPr>
          <a:xfrm>
            <a:off x="500634" y="1927098"/>
            <a:ext cx="48006" cy="27432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630936" y="1892809"/>
            <a:ext cx="3682746" cy="297774"/>
          </a:xfrm>
          <a:prstGeom prst="rect">
            <a:avLst/>
          </a:prstGeom>
          <a:noFill/>
        </p:spPr>
        <p:txBody>
          <a:bodyPr wrap="square" lIns="10287" tIns="10287" rIns="10287" bIns="10287">
            <a:spAutoFit/>
          </a:bodyPr>
          <a:lstStyle/>
          <a:p>
            <a:pPr>
              <a:spcAft>
                <a:spcPts val="375"/>
              </a:spcAft>
              <a:defRPr sz="2400" b="1">
                <a:solidFill>
                  <a:srgbClr val="087F8C"/>
                </a:solidFill>
                <a:latin typeface="Arial"/>
              </a:defRPr>
            </a:pPr>
            <a:r>
              <a:rPr sz="1800" cap="none">
                <a:latin typeface="Arial"/>
              </a:rPr>
              <a:t>Prefill</a:t>
            </a:r>
          </a:p>
        </p:txBody>
      </p:sp>
      <p:sp>
        <p:nvSpPr>
          <p:cNvPr id="14" name="TextBox 13"/>
          <p:cNvSpPr txBox="1"/>
          <p:nvPr/>
        </p:nvSpPr>
        <p:spPr>
          <a:xfrm>
            <a:off x="528066"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Many input positions in one forward pass</a:t>
            </a:r>
          </a:p>
        </p:txBody>
      </p:sp>
      <p:sp>
        <p:nvSpPr>
          <p:cNvPr id="15" name="Rounded Rectangle 14"/>
          <p:cNvSpPr/>
          <p:nvPr/>
        </p:nvSpPr>
        <p:spPr>
          <a:xfrm>
            <a:off x="4656582" y="1769364"/>
            <a:ext cx="4107942" cy="224256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80026" y="1927098"/>
            <a:ext cx="48006" cy="27432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910328" y="1892809"/>
            <a:ext cx="3682746" cy="297774"/>
          </a:xfrm>
          <a:prstGeom prst="rect">
            <a:avLst/>
          </a:prstGeom>
          <a:noFill/>
        </p:spPr>
        <p:txBody>
          <a:bodyPr wrap="square" lIns="10287" tIns="10287" rIns="10287" bIns="10287">
            <a:spAutoFit/>
          </a:bodyPr>
          <a:lstStyle/>
          <a:p>
            <a:pPr>
              <a:spcAft>
                <a:spcPts val="375"/>
              </a:spcAft>
              <a:defRPr sz="2400" b="1">
                <a:solidFill>
                  <a:srgbClr val="7354B8"/>
                </a:solidFill>
                <a:latin typeface="Arial"/>
              </a:defRPr>
            </a:pPr>
            <a:r>
              <a:rPr sz="1800" cap="none">
                <a:latin typeface="Arial"/>
              </a:rPr>
              <a:t>Decode</a:t>
            </a:r>
          </a:p>
        </p:txBody>
      </p:sp>
      <p:sp>
        <p:nvSpPr>
          <p:cNvPr id="18" name="TextBox 17"/>
          <p:cNvSpPr txBox="1"/>
          <p:nvPr/>
        </p:nvSpPr>
        <p:spPr>
          <a:xfrm>
            <a:off x="4807458" y="2269998"/>
            <a:ext cx="3806190" cy="205441"/>
          </a:xfrm>
          <a:prstGeom prst="rect">
            <a:avLst/>
          </a:prstGeom>
          <a:noFill/>
        </p:spPr>
        <p:txBody>
          <a:bodyPr wrap="square" lIns="10287" tIns="10287" rIns="10287" bIns="10287">
            <a:spAutoFit/>
          </a:bodyPr>
          <a:lstStyle/>
          <a:p>
            <a:pPr>
              <a:spcAft>
                <a:spcPts val="375"/>
              </a:spcAft>
              <a:defRPr sz="1600" b="0">
                <a:solidFill>
                  <a:srgbClr val="172941"/>
                </a:solidFill>
                <a:latin typeface="Arial"/>
              </a:defRPr>
            </a:pPr>
            <a:r>
              <a:rPr sz="1200" cap="none">
                <a:latin typeface="Arial"/>
              </a:rPr>
              <a:t>One newest input position per active request</a:t>
            </a:r>
          </a:p>
        </p:txBody>
      </p:sp>
      <p:sp>
        <p:nvSpPr>
          <p:cNvPr id="19" name="TextBox 18"/>
          <p:cNvSpPr txBox="1"/>
          <p:nvPr/>
        </p:nvSpPr>
        <p:spPr>
          <a:xfrm>
            <a:off x="534924" y="2743200"/>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A</a:t>
            </a:r>
          </a:p>
        </p:txBody>
      </p:sp>
      <p:sp>
        <p:nvSpPr>
          <p:cNvPr id="20" name="Rounded Rectangle 19"/>
          <p:cNvSpPr/>
          <p:nvPr/>
        </p:nvSpPr>
        <p:spPr>
          <a:xfrm>
            <a:off x="157048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58076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p1</a:t>
            </a:r>
          </a:p>
        </p:txBody>
      </p:sp>
      <p:sp>
        <p:nvSpPr>
          <p:cNvPr id="22" name="Rounded Rectangle 21"/>
          <p:cNvSpPr/>
          <p:nvPr/>
        </p:nvSpPr>
        <p:spPr>
          <a:xfrm>
            <a:off x="211912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212940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p2</a:t>
            </a:r>
          </a:p>
        </p:txBody>
      </p:sp>
      <p:sp>
        <p:nvSpPr>
          <p:cNvPr id="24" name="Rounded Rectangle 23"/>
          <p:cNvSpPr/>
          <p:nvPr/>
        </p:nvSpPr>
        <p:spPr>
          <a:xfrm>
            <a:off x="266776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7804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p3</a:t>
            </a:r>
          </a:p>
        </p:txBody>
      </p:sp>
      <p:sp>
        <p:nvSpPr>
          <p:cNvPr id="26" name="Rounded Rectangle 25"/>
          <p:cNvSpPr/>
          <p:nvPr/>
        </p:nvSpPr>
        <p:spPr>
          <a:xfrm>
            <a:off x="3216402" y="2702052"/>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3226689" y="2753486"/>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p4</a:t>
            </a:r>
          </a:p>
        </p:txBody>
      </p:sp>
      <p:sp>
        <p:nvSpPr>
          <p:cNvPr id="28" name="TextBox 27"/>
          <p:cNvSpPr txBox="1"/>
          <p:nvPr/>
        </p:nvSpPr>
        <p:spPr>
          <a:xfrm>
            <a:off x="534924" y="3140963"/>
            <a:ext cx="918972" cy="193899"/>
          </a:xfrm>
          <a:prstGeom prst="rect">
            <a:avLst/>
          </a:prstGeom>
          <a:noFill/>
        </p:spPr>
        <p:txBody>
          <a:bodyPr wrap="square" lIns="10287" tIns="10287" rIns="10287" bIns="10287">
            <a:spAutoFit/>
          </a:bodyPr>
          <a:lstStyle/>
          <a:p>
            <a:pPr>
              <a:spcAft>
                <a:spcPts val="375"/>
              </a:spcAft>
              <a:defRPr sz="1500" b="1">
                <a:solidFill>
                  <a:srgbClr val="586A80"/>
                </a:solidFill>
                <a:latin typeface="Arial"/>
              </a:defRPr>
            </a:pPr>
            <a:r>
              <a:rPr sz="1125" cap="none">
                <a:latin typeface="Arial"/>
              </a:rPr>
              <a:t>Request B</a:t>
            </a:r>
          </a:p>
        </p:txBody>
      </p:sp>
      <p:sp>
        <p:nvSpPr>
          <p:cNvPr id="29" name="Rounded Rectangle 28"/>
          <p:cNvSpPr/>
          <p:nvPr/>
        </p:nvSpPr>
        <p:spPr>
          <a:xfrm>
            <a:off x="157048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158076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q1</a:t>
            </a:r>
          </a:p>
        </p:txBody>
      </p:sp>
      <p:sp>
        <p:nvSpPr>
          <p:cNvPr id="31" name="Rounded Rectangle 30"/>
          <p:cNvSpPr/>
          <p:nvPr/>
        </p:nvSpPr>
        <p:spPr>
          <a:xfrm>
            <a:off x="211912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2" name="TextBox 31"/>
          <p:cNvSpPr txBox="1"/>
          <p:nvPr/>
        </p:nvSpPr>
        <p:spPr>
          <a:xfrm>
            <a:off x="212940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q2</a:t>
            </a:r>
          </a:p>
        </p:txBody>
      </p:sp>
      <p:sp>
        <p:nvSpPr>
          <p:cNvPr id="33" name="Rounded Rectangle 32"/>
          <p:cNvSpPr/>
          <p:nvPr/>
        </p:nvSpPr>
        <p:spPr>
          <a:xfrm>
            <a:off x="2667762" y="3099815"/>
            <a:ext cx="445770" cy="29489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2678049" y="3151251"/>
            <a:ext cx="425196"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q3</a:t>
            </a:r>
          </a:p>
        </p:txBody>
      </p:sp>
      <p:sp>
        <p:nvSpPr>
          <p:cNvPr id="35" name="TextBox 34"/>
          <p:cNvSpPr txBox="1"/>
          <p:nvPr/>
        </p:nvSpPr>
        <p:spPr>
          <a:xfrm>
            <a:off x="541782" y="3621025"/>
            <a:ext cx="3730752" cy="182358"/>
          </a:xfrm>
          <a:prstGeom prst="rect">
            <a:avLst/>
          </a:prstGeom>
          <a:noFill/>
        </p:spPr>
        <p:txBody>
          <a:bodyPr wrap="square" lIns="10287" tIns="10287" rIns="10287" bIns="10287">
            <a:spAutoFit/>
          </a:bodyPr>
          <a:lstStyle/>
          <a:p>
            <a:pPr>
              <a:spcAft>
                <a:spcPts val="375"/>
              </a:spcAft>
              <a:defRPr sz="1400" b="1">
                <a:solidFill>
                  <a:srgbClr val="087F8C"/>
                </a:solidFill>
                <a:latin typeface="Arial"/>
              </a:defRPr>
            </a:pPr>
            <a:r>
              <a:rPr sz="1050" cap="none">
                <a:latin typeface="Arial"/>
              </a:rPr>
              <a:t>Batch prompt positions from one or more requests.</a:t>
            </a:r>
          </a:p>
        </p:txBody>
      </p:sp>
      <p:sp>
        <p:nvSpPr>
          <p:cNvPr id="36" name="TextBox 35"/>
          <p:cNvSpPr txBox="1"/>
          <p:nvPr/>
        </p:nvSpPr>
        <p:spPr>
          <a:xfrm>
            <a:off x="4814316" y="2578608"/>
            <a:ext cx="939546"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Request</a:t>
            </a:r>
          </a:p>
        </p:txBody>
      </p:sp>
      <p:sp>
        <p:nvSpPr>
          <p:cNvPr id="37" name="TextBox 36"/>
          <p:cNvSpPr txBox="1"/>
          <p:nvPr/>
        </p:nvSpPr>
        <p:spPr>
          <a:xfrm>
            <a:off x="5774436" y="2578608"/>
            <a:ext cx="898398"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Read history</a:t>
            </a:r>
          </a:p>
        </p:txBody>
      </p:sp>
      <p:sp>
        <p:nvSpPr>
          <p:cNvPr id="38" name="TextBox 37"/>
          <p:cNvSpPr txBox="1"/>
          <p:nvPr/>
        </p:nvSpPr>
        <p:spPr>
          <a:xfrm>
            <a:off x="6933438" y="2578608"/>
            <a:ext cx="1611630" cy="147733"/>
          </a:xfrm>
          <a:prstGeom prst="rect">
            <a:avLst/>
          </a:prstGeom>
          <a:noFill/>
        </p:spPr>
        <p:txBody>
          <a:bodyPr wrap="square" lIns="10287" tIns="10287" rIns="10287" bIns="10287">
            <a:spAutoFit/>
          </a:bodyPr>
          <a:lstStyle/>
          <a:p>
            <a:pPr>
              <a:spcAft>
                <a:spcPts val="375"/>
              </a:spcAft>
              <a:defRPr sz="1100" b="1">
                <a:solidFill>
                  <a:srgbClr val="586A80"/>
                </a:solidFill>
                <a:latin typeface="Arial"/>
              </a:defRPr>
            </a:pPr>
            <a:r>
              <a:rPr sz="825" cap="none">
                <a:latin typeface="Arial"/>
              </a:rPr>
              <a:t>Consume newest input</a:t>
            </a:r>
          </a:p>
        </p:txBody>
      </p:sp>
      <p:sp>
        <p:nvSpPr>
          <p:cNvPr id="39" name="TextBox 38"/>
          <p:cNvSpPr txBox="1"/>
          <p:nvPr/>
        </p:nvSpPr>
        <p:spPr>
          <a:xfrm>
            <a:off x="4814316" y="2839211"/>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A</a:t>
            </a:r>
          </a:p>
        </p:txBody>
      </p:sp>
      <p:sp>
        <p:nvSpPr>
          <p:cNvPr id="40" name="Rounded Rectangle 39"/>
          <p:cNvSpPr/>
          <p:nvPr/>
        </p:nvSpPr>
        <p:spPr>
          <a:xfrm>
            <a:off x="5760720" y="2811779"/>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5781294" y="2835783"/>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2" name="TextBox 41"/>
          <p:cNvSpPr txBox="1"/>
          <p:nvPr/>
        </p:nvSpPr>
        <p:spPr>
          <a:xfrm>
            <a:off x="6665976" y="2825495"/>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3" name="Rounded Rectangle 42"/>
          <p:cNvSpPr/>
          <p:nvPr/>
        </p:nvSpPr>
        <p:spPr>
          <a:xfrm>
            <a:off x="6947154" y="2811779"/>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6967728" y="2835783"/>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45" name="TextBox 44"/>
          <p:cNvSpPr txBox="1"/>
          <p:nvPr/>
        </p:nvSpPr>
        <p:spPr>
          <a:xfrm>
            <a:off x="4814316" y="3168396"/>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B</a:t>
            </a:r>
          </a:p>
        </p:txBody>
      </p:sp>
      <p:sp>
        <p:nvSpPr>
          <p:cNvPr id="46" name="Rounded Rectangle 45"/>
          <p:cNvSpPr/>
          <p:nvPr/>
        </p:nvSpPr>
        <p:spPr>
          <a:xfrm>
            <a:off x="5760720" y="3140964"/>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5781294" y="3164967"/>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48" name="TextBox 47"/>
          <p:cNvSpPr txBox="1"/>
          <p:nvPr/>
        </p:nvSpPr>
        <p:spPr>
          <a:xfrm>
            <a:off x="6665976" y="3154680"/>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49" name="Rounded Rectangle 48"/>
          <p:cNvSpPr/>
          <p:nvPr/>
        </p:nvSpPr>
        <p:spPr>
          <a:xfrm>
            <a:off x="6947154" y="3140964"/>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0" name="TextBox 49"/>
          <p:cNvSpPr txBox="1"/>
          <p:nvPr/>
        </p:nvSpPr>
        <p:spPr>
          <a:xfrm>
            <a:off x="6967728" y="3164967"/>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1" name="TextBox 50"/>
          <p:cNvSpPr txBox="1"/>
          <p:nvPr/>
        </p:nvSpPr>
        <p:spPr>
          <a:xfrm>
            <a:off x="4814316" y="3497580"/>
            <a:ext cx="829818" cy="205441"/>
          </a:xfrm>
          <a:prstGeom prst="rect">
            <a:avLst/>
          </a:prstGeom>
          <a:noFill/>
        </p:spPr>
        <p:txBody>
          <a:bodyPr wrap="square" lIns="10287" tIns="10287" rIns="10287" bIns="10287">
            <a:spAutoFit/>
          </a:bodyPr>
          <a:lstStyle/>
          <a:p>
            <a:pPr>
              <a:spcAft>
                <a:spcPts val="375"/>
              </a:spcAft>
              <a:defRPr sz="1600" b="1">
                <a:solidFill>
                  <a:srgbClr val="7354B8"/>
                </a:solidFill>
                <a:latin typeface="Arial"/>
              </a:defRPr>
            </a:pPr>
            <a:r>
              <a:rPr sz="1200" cap="none">
                <a:latin typeface="Arial"/>
              </a:rPr>
              <a:t>C</a:t>
            </a:r>
          </a:p>
        </p:txBody>
      </p:sp>
      <p:sp>
        <p:nvSpPr>
          <p:cNvPr id="52" name="Rounded Rectangle 51"/>
          <p:cNvSpPr/>
          <p:nvPr/>
        </p:nvSpPr>
        <p:spPr>
          <a:xfrm>
            <a:off x="5760720" y="3470148"/>
            <a:ext cx="836676" cy="24003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5781294" y="3494151"/>
            <a:ext cx="795528"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Prior KV</a:t>
            </a:r>
          </a:p>
        </p:txBody>
      </p:sp>
      <p:sp>
        <p:nvSpPr>
          <p:cNvPr id="54" name="TextBox 53"/>
          <p:cNvSpPr txBox="1"/>
          <p:nvPr/>
        </p:nvSpPr>
        <p:spPr>
          <a:xfrm>
            <a:off x="6665976" y="3483863"/>
            <a:ext cx="192024" cy="193899"/>
          </a:xfrm>
          <a:prstGeom prst="rect">
            <a:avLst/>
          </a:prstGeom>
          <a:noFill/>
        </p:spPr>
        <p:txBody>
          <a:bodyPr wrap="square" lIns="10287" tIns="10287" rIns="10287" bIns="10287">
            <a:spAutoFit/>
          </a:bodyPr>
          <a:lstStyle/>
          <a:p>
            <a:pPr algn="ctr">
              <a:spcAft>
                <a:spcPts val="375"/>
              </a:spcAft>
              <a:defRPr sz="1500" b="1">
                <a:solidFill>
                  <a:srgbClr val="586A80"/>
                </a:solidFill>
                <a:latin typeface="Arial"/>
              </a:defRPr>
            </a:pPr>
            <a:r>
              <a:rPr sz="1125" cap="none">
                <a:latin typeface="Arial"/>
              </a:rPr>
              <a:t>+</a:t>
            </a:r>
          </a:p>
        </p:txBody>
      </p:sp>
      <p:sp>
        <p:nvSpPr>
          <p:cNvPr id="55" name="Rounded Rectangle 54"/>
          <p:cNvSpPr/>
          <p:nvPr/>
        </p:nvSpPr>
        <p:spPr>
          <a:xfrm>
            <a:off x="6947154" y="3470148"/>
            <a:ext cx="1357884" cy="24003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6" name="TextBox 55"/>
          <p:cNvSpPr txBox="1"/>
          <p:nvPr/>
        </p:nvSpPr>
        <p:spPr>
          <a:xfrm>
            <a:off x="6967728" y="3494151"/>
            <a:ext cx="1316736" cy="170816"/>
          </a:xfrm>
          <a:prstGeom prst="rect">
            <a:avLst/>
          </a:prstGeom>
          <a:noFill/>
        </p:spPr>
        <p:txBody>
          <a:bodyPr wrap="square" lIns="10287" tIns="10287" rIns="10287" bIns="10287">
            <a:spAutoFit/>
          </a:bodyPr>
          <a:lstStyle/>
          <a:p>
            <a:pPr algn="ctr">
              <a:spcAft>
                <a:spcPts val="375"/>
              </a:spcAft>
              <a:defRPr sz="1300" b="1">
                <a:solidFill>
                  <a:srgbClr val="7354B8"/>
                </a:solidFill>
                <a:latin typeface="Arial"/>
              </a:defRPr>
            </a:pPr>
            <a:r>
              <a:rPr sz="975" cap="none">
                <a:latin typeface="Arial"/>
              </a:rPr>
              <a:t>One token</a:t>
            </a:r>
          </a:p>
        </p:txBody>
      </p:sp>
      <p:sp>
        <p:nvSpPr>
          <p:cNvPr id="57" name="TextBox 56"/>
          <p:cNvSpPr txBox="1"/>
          <p:nvPr/>
        </p:nvSpPr>
        <p:spPr>
          <a:xfrm>
            <a:off x="4814316" y="3833623"/>
            <a:ext cx="3737610" cy="159274"/>
          </a:xfrm>
          <a:prstGeom prst="rect">
            <a:avLst/>
          </a:prstGeom>
          <a:noFill/>
        </p:spPr>
        <p:txBody>
          <a:bodyPr wrap="square" lIns="10287" tIns="10287" rIns="10287" bIns="10287">
            <a:spAutoFit/>
          </a:bodyPr>
          <a:lstStyle/>
          <a:p>
            <a:pPr>
              <a:spcAft>
                <a:spcPts val="375"/>
              </a:spcAft>
              <a:defRPr sz="1200" b="1">
                <a:solidFill>
                  <a:srgbClr val="7354B8"/>
                </a:solidFill>
                <a:latin typeface="Arial"/>
              </a:defRPr>
            </a:pPr>
            <a:r>
              <a:rPr sz="900" cap="none">
                <a:latin typeface="Arial"/>
              </a:rPr>
              <a:t>Then select a next output token for each request.</a:t>
            </a:r>
          </a:p>
        </p:txBody>
      </p:sp>
      <p:sp>
        <p:nvSpPr>
          <p:cNvPr id="58" name="TextBox 57"/>
          <p:cNvSpPr txBox="1"/>
          <p:nvPr/>
        </p:nvSpPr>
        <p:spPr>
          <a:xfrm>
            <a:off x="445770" y="4107942"/>
            <a:ext cx="8195310" cy="170816"/>
          </a:xfrm>
          <a:prstGeom prst="rect">
            <a:avLst/>
          </a:prstGeom>
          <a:noFill/>
        </p:spPr>
        <p:txBody>
          <a:bodyPr wrap="square" lIns="10287" tIns="10287" rIns="10287" bIns="10287">
            <a:spAutoFit/>
          </a:bodyPr>
          <a:lstStyle/>
          <a:p>
            <a:pPr>
              <a:spcAft>
                <a:spcPts val="375"/>
              </a:spcAft>
              <a:defRPr sz="1300" b="1">
                <a:solidFill>
                  <a:srgbClr val="AE641A"/>
                </a:solidFill>
                <a:latin typeface="Arial"/>
              </a:defRPr>
            </a:pPr>
            <a:r>
              <a:rPr sz="975" cap="none">
                <a:latin typeface="Arial"/>
              </a:rPr>
              <a:t>More decode concurrency can increase ITL. Batch within latency and KV-memory budgets.</a:t>
            </a:r>
          </a:p>
        </p:txBody>
      </p:sp>
      <p:sp>
        <p:nvSpPr>
          <p:cNvPr id="59" name="TextBox 58"/>
          <p:cNvSpPr txBox="1"/>
          <p:nvPr/>
        </p:nvSpPr>
        <p:spPr>
          <a:xfrm>
            <a:off x="445770" y="4265676"/>
            <a:ext cx="819531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Original conceptual illustration; sources: NVIDIA and vLLM (2025) + current documentation.</a:t>
            </a:r>
          </a:p>
        </p:txBody>
      </p:sp>
      <p:sp>
        <p:nvSpPr>
          <p:cNvPr id="60" name="TextBox 5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1" name="TextBox 6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10 / 49</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Why split — capacity control</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Independent pools remove a forced compromise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payoff is a separate capacity decision for each phase—not separation for its own sake.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Split only when phase-specific gains outweigh KV transfer, duplicated weights and operational cost.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3813048"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Input side</a:t>
            </a:r>
          </a:p>
        </p:txBody>
      </p:sp>
      <p:sp>
        <p:nvSpPr>
          <p:cNvPr id="13" name="TextBox 12"/>
          <p:cNvSpPr txBox="1"/>
          <p:nvPr/>
        </p:nvSpPr>
        <p:spPr>
          <a:xfrm>
            <a:off x="514350" y="2146554"/>
            <a:ext cx="3813048"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Prompt-heavy demand</a:t>
            </a:r>
          </a:p>
        </p:txBody>
      </p:sp>
      <p:sp>
        <p:nvSpPr>
          <p:cNvPr id="14" name="TextBox 13"/>
          <p:cNvSpPr txBox="1"/>
          <p:nvPr/>
        </p:nvSpPr>
        <p:spPr>
          <a:xfrm>
            <a:off x="514350"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Usually compute-bound; target TTFT.</a:t>
            </a:r>
          </a:p>
          <a:p>
            <a:pPr>
              <a:spcAft>
                <a:spcPts val="375"/>
              </a:spcAft>
              <a:defRPr sz="1800" b="0">
                <a:solidFill>
                  <a:srgbClr val="172941"/>
                </a:solidFill>
                <a:latin typeface="Arial"/>
              </a:defRPr>
            </a:pPr>
            <a:r>
              <a:rPr sz="1350" cap="none">
                <a:latin typeface="Arial"/>
              </a:rPr>
              <a:t>Tune prefill capacity / parallelism first.</a:t>
            </a:r>
          </a:p>
        </p:txBody>
      </p:sp>
      <p:sp>
        <p:nvSpPr>
          <p:cNvPr id="15" name="Rounded Rectangle 14"/>
          <p:cNvSpPr/>
          <p:nvPr/>
        </p:nvSpPr>
        <p:spPr>
          <a:xfrm>
            <a:off x="4649724" y="1611630"/>
            <a:ext cx="4087368" cy="16596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786884" y="1865376"/>
            <a:ext cx="3813048"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Output side</a:t>
            </a:r>
          </a:p>
        </p:txBody>
      </p:sp>
      <p:sp>
        <p:nvSpPr>
          <p:cNvPr id="18" name="TextBox 17"/>
          <p:cNvSpPr txBox="1"/>
          <p:nvPr/>
        </p:nvSpPr>
        <p:spPr>
          <a:xfrm>
            <a:off x="4786884" y="2146554"/>
            <a:ext cx="3813048"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Generation-heavy demand</a:t>
            </a:r>
          </a:p>
        </p:txBody>
      </p:sp>
      <p:sp>
        <p:nvSpPr>
          <p:cNvPr id="19" name="TextBox 18"/>
          <p:cNvSpPr txBox="1"/>
          <p:nvPr/>
        </p:nvSpPr>
        <p:spPr>
          <a:xfrm>
            <a:off x="4786884" y="2599182"/>
            <a:ext cx="3813048"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Often bandwidth-bound; target ITL.</a:t>
            </a:r>
          </a:p>
          <a:p>
            <a:pPr>
              <a:spcAft>
                <a:spcPts val="375"/>
              </a:spcAft>
              <a:defRPr sz="1800" b="0">
                <a:solidFill>
                  <a:srgbClr val="172941"/>
                </a:solidFill>
                <a:latin typeface="Arial"/>
              </a:defRPr>
            </a:pPr>
            <a:r>
              <a:rPr sz="1350" cap="none">
                <a:latin typeface="Arial"/>
              </a:rPr>
              <a:t>Tune decode capacity / batching first.</a:t>
            </a:r>
          </a:p>
        </p:txBody>
      </p:sp>
      <p:sp>
        <p:nvSpPr>
          <p:cNvPr id="20" name="Rounded Rectangle 19"/>
          <p:cNvSpPr/>
          <p:nvPr/>
        </p:nvSpPr>
        <p:spPr>
          <a:xfrm>
            <a:off x="445770"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445770" y="3442716"/>
            <a:ext cx="37719" cy="62407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548640" y="3463290"/>
            <a:ext cx="243459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Different latency targets</a:t>
            </a:r>
          </a:p>
        </p:txBody>
      </p:sp>
      <p:sp>
        <p:nvSpPr>
          <p:cNvPr id="23" name="TextBox 22"/>
          <p:cNvSpPr txBox="1"/>
          <p:nvPr/>
        </p:nvSpPr>
        <p:spPr>
          <a:xfrm>
            <a:off x="555498"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TTFT versus token delivery</a:t>
            </a:r>
          </a:p>
        </p:txBody>
      </p:sp>
      <p:sp>
        <p:nvSpPr>
          <p:cNvPr id="24" name="Rounded Rectangle 23"/>
          <p:cNvSpPr/>
          <p:nvPr/>
        </p:nvSpPr>
        <p:spPr>
          <a:xfrm>
            <a:off x="3250692"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250692" y="3442716"/>
            <a:ext cx="37719" cy="624078"/>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3353562" y="3463290"/>
            <a:ext cx="243459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Different resource needs</a:t>
            </a:r>
          </a:p>
        </p:txBody>
      </p:sp>
      <p:sp>
        <p:nvSpPr>
          <p:cNvPr id="27" name="TextBox 26"/>
          <p:cNvSpPr txBox="1"/>
          <p:nvPr/>
        </p:nvSpPr>
        <p:spPr>
          <a:xfrm>
            <a:off x="3360420"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bandwidth, active KV</a:t>
            </a:r>
          </a:p>
        </p:txBody>
      </p:sp>
      <p:sp>
        <p:nvSpPr>
          <p:cNvPr id="28" name="Rounded Rectangle 27"/>
          <p:cNvSpPr/>
          <p:nvPr/>
        </p:nvSpPr>
        <p:spPr>
          <a:xfrm>
            <a:off x="6055614" y="3374136"/>
            <a:ext cx="2640330" cy="76123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6055614" y="3442716"/>
            <a:ext cx="37719" cy="624078"/>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6158484" y="3463290"/>
            <a:ext cx="243459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Different capacity knobs</a:t>
            </a:r>
          </a:p>
        </p:txBody>
      </p:sp>
      <p:sp>
        <p:nvSpPr>
          <p:cNvPr id="31" name="TextBox 30"/>
          <p:cNvSpPr txBox="1"/>
          <p:nvPr/>
        </p:nvSpPr>
        <p:spPr>
          <a:xfrm>
            <a:off x="6165342" y="3792474"/>
            <a:ext cx="24208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Replicas, TP, batching policy</a:t>
            </a:r>
          </a:p>
        </p:txBody>
      </p:sp>
      <p:sp>
        <p:nvSpPr>
          <p:cNvPr id="32" name="TextBox 31"/>
          <p:cNvSpPr txBox="1"/>
          <p:nvPr/>
        </p:nvSpPr>
        <p:spPr>
          <a:xfrm>
            <a:off x="445770" y="4231386"/>
            <a:ext cx="8092440" cy="113108"/>
          </a:xfrm>
          <a:prstGeom prst="rect">
            <a:avLst/>
          </a:prstGeom>
          <a:noFill/>
        </p:spPr>
        <p:txBody>
          <a:bodyPr wrap="square" lIns="10287" tIns="10287" rIns="10287" bIns="10287">
            <a:spAutoFit/>
          </a:bodyPr>
          <a:lstStyle/>
          <a:p>
            <a:pPr>
              <a:spcAft>
                <a:spcPts val="375"/>
              </a:spcAft>
              <a:defRPr sz="800" b="0">
                <a:solidFill>
                  <a:srgbClr val="586A80"/>
                </a:solidFill>
                <a:latin typeface="Arial"/>
              </a:defRPr>
            </a:pPr>
            <a:r>
              <a:rPr sz="600" cap="none">
                <a:latin typeface="Arial"/>
              </a:rPr>
              <a:t>Sources: NVIDIA Dynamo disaggregated-serving overview + DistServe §2.3 • Conceptual; bottlenecks depend on workload</a:t>
            </a:r>
          </a:p>
        </p:txBody>
      </p:sp>
      <p:sp>
        <p:nvSpPr>
          <p:cNvPr id="33" name="TextBox 32"/>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4" name="TextBox 33"/>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11 / 49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01 / The problem</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Split the phases. Tune the pools independently.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P/D introduces a KV-transfer boundary between prompt processing and generation.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transfer path must be fast enough to justify the split.</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45920"/>
            <a:ext cx="3086100" cy="2366010"/>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548640" y="1824228"/>
            <a:ext cx="2743200" cy="286232"/>
          </a:xfrm>
          <a:prstGeom prst="rect">
            <a:avLst/>
          </a:prstGeom>
          <a:noFill/>
        </p:spPr>
        <p:txBody>
          <a:bodyPr wrap="square" lIns="10287" tIns="10287" rIns="10287" bIns="10287">
            <a:spAutoFit/>
          </a:bodyPr>
          <a:lstStyle/>
          <a:p>
            <a:pPr>
              <a:spcAft>
                <a:spcPts val="375"/>
              </a:spcAft>
              <a:defRPr sz="2300" b="1">
                <a:solidFill>
                  <a:srgbClr val="087F8C"/>
                </a:solidFill>
                <a:latin typeface="Arial"/>
              </a:defRPr>
            </a:pPr>
            <a:r>
              <a:rPr sz="1725" cap="none">
                <a:latin typeface="Arial"/>
              </a:rPr>
              <a:t>Prefill pool</a:t>
            </a:r>
          </a:p>
        </p:txBody>
      </p:sp>
      <p:sp>
        <p:nvSpPr>
          <p:cNvPr id="12" name="Rounded Rectangle 11"/>
          <p:cNvSpPr/>
          <p:nvPr/>
        </p:nvSpPr>
        <p:spPr>
          <a:xfrm>
            <a:off x="582930"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582930" y="2400300"/>
            <a:ext cx="37719" cy="64465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685800" y="2420875"/>
            <a:ext cx="2468880" cy="240066"/>
          </a:xfrm>
          <a:prstGeom prst="rect">
            <a:avLst/>
          </a:prstGeom>
          <a:noFill/>
        </p:spPr>
        <p:txBody>
          <a:bodyPr wrap="square" lIns="10287" tIns="10287" rIns="10287" bIns="10287">
            <a:spAutoFit/>
          </a:bodyPr>
          <a:lstStyle/>
          <a:p>
            <a:pPr algn="ctr">
              <a:spcAft>
                <a:spcPts val="375"/>
              </a:spcAft>
              <a:defRPr sz="1900" b="1">
                <a:solidFill>
                  <a:srgbClr val="087F8C"/>
                </a:solidFill>
                <a:latin typeface="Arial"/>
              </a:defRPr>
            </a:pPr>
            <a:r>
              <a:rPr sz="1425" cap="none">
                <a:latin typeface="Arial"/>
              </a:rPr>
              <a:t>Prompt processing</a:t>
            </a:r>
          </a:p>
        </p:txBody>
      </p:sp>
      <p:sp>
        <p:nvSpPr>
          <p:cNvPr id="15" name="TextBox 14"/>
          <p:cNvSpPr txBox="1"/>
          <p:nvPr/>
        </p:nvSpPr>
        <p:spPr>
          <a:xfrm>
            <a:off x="692658"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Compute + latency</a:t>
            </a:r>
          </a:p>
        </p:txBody>
      </p:sp>
      <p:sp>
        <p:nvSpPr>
          <p:cNvPr id="16" name="TextBox 15"/>
          <p:cNvSpPr txBox="1"/>
          <p:nvPr/>
        </p:nvSpPr>
        <p:spPr>
          <a:xfrm>
            <a:off x="562356" y="3415285"/>
            <a:ext cx="2674620" cy="464486"/>
          </a:xfrm>
          <a:prstGeom prst="rect">
            <a:avLst/>
          </a:prstGeom>
          <a:noFill/>
        </p:spPr>
        <p:txBody>
          <a:bodyPr wrap="square" lIns="10287" tIns="10287" rIns="10287" bIns="10287">
            <a:spAutoFit/>
          </a:bodyPr>
          <a:lstStyle/>
          <a:p>
            <a:pPr>
              <a:spcAft>
                <a:spcPts val="375"/>
              </a:spcAft>
              <a:defRPr sz="1700" b="0">
                <a:solidFill>
                  <a:srgbClr val="087F8C"/>
                </a:solidFill>
                <a:latin typeface="Arial"/>
              </a:defRPr>
            </a:pPr>
            <a:r>
              <a:rPr sz="1275" cap="none">
                <a:latin typeface="Arial"/>
              </a:rPr>
              <a:t>Choose replicas and parallelism</a:t>
            </a:r>
          </a:p>
          <a:p>
            <a:pPr>
              <a:spcAft>
                <a:spcPts val="375"/>
              </a:spcAft>
              <a:defRPr sz="1700" b="0">
                <a:solidFill>
                  <a:srgbClr val="087F8C"/>
                </a:solidFill>
                <a:latin typeface="Arial"/>
              </a:defRPr>
            </a:pPr>
            <a:r>
              <a:rPr sz="1275" cap="none">
                <a:latin typeface="Arial"/>
              </a:rPr>
              <a:t>for prompt pressure.</a:t>
            </a:r>
          </a:p>
        </p:txBody>
      </p:sp>
      <p:sp>
        <p:nvSpPr>
          <p:cNvPr id="17" name="Rounded Rectangle 16"/>
          <p:cNvSpPr/>
          <p:nvPr/>
        </p:nvSpPr>
        <p:spPr>
          <a:xfrm>
            <a:off x="5678423" y="1645920"/>
            <a:ext cx="3086100" cy="2366010"/>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849873" y="1824228"/>
            <a:ext cx="2743200" cy="286232"/>
          </a:xfrm>
          <a:prstGeom prst="rect">
            <a:avLst/>
          </a:prstGeom>
          <a:noFill/>
        </p:spPr>
        <p:txBody>
          <a:bodyPr wrap="square" lIns="10287" tIns="10287" rIns="10287" bIns="10287">
            <a:spAutoFit/>
          </a:bodyPr>
          <a:lstStyle/>
          <a:p>
            <a:pPr>
              <a:spcAft>
                <a:spcPts val="375"/>
              </a:spcAft>
              <a:defRPr sz="2300" b="1">
                <a:solidFill>
                  <a:srgbClr val="7354B8"/>
                </a:solidFill>
                <a:latin typeface="Arial"/>
              </a:defRPr>
            </a:pPr>
            <a:r>
              <a:rPr sz="1725" cap="none">
                <a:latin typeface="Arial"/>
              </a:rPr>
              <a:t>Decode pool</a:t>
            </a:r>
          </a:p>
        </p:txBody>
      </p:sp>
      <p:sp>
        <p:nvSpPr>
          <p:cNvPr id="19" name="Rounded Rectangle 18"/>
          <p:cNvSpPr/>
          <p:nvPr/>
        </p:nvSpPr>
        <p:spPr>
          <a:xfrm>
            <a:off x="5884164" y="2331721"/>
            <a:ext cx="2674620" cy="781811"/>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Rectangle 19"/>
          <p:cNvSpPr/>
          <p:nvPr/>
        </p:nvSpPr>
        <p:spPr>
          <a:xfrm>
            <a:off x="5884164" y="2400300"/>
            <a:ext cx="37719" cy="64465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987034" y="2420875"/>
            <a:ext cx="2468880" cy="240066"/>
          </a:xfrm>
          <a:prstGeom prst="rect">
            <a:avLst/>
          </a:prstGeom>
          <a:noFill/>
        </p:spPr>
        <p:txBody>
          <a:bodyPr wrap="square" lIns="10287" tIns="10287" rIns="10287" bIns="10287">
            <a:spAutoFit/>
          </a:bodyPr>
          <a:lstStyle/>
          <a:p>
            <a:pPr algn="ctr">
              <a:spcAft>
                <a:spcPts val="375"/>
              </a:spcAft>
              <a:defRPr sz="1900" b="1">
                <a:solidFill>
                  <a:srgbClr val="7354B8"/>
                </a:solidFill>
                <a:latin typeface="Arial"/>
              </a:defRPr>
            </a:pPr>
            <a:r>
              <a:rPr sz="1425" cap="none">
                <a:latin typeface="Arial"/>
              </a:rPr>
              <a:t>Token generation</a:t>
            </a:r>
          </a:p>
        </p:txBody>
      </p:sp>
      <p:sp>
        <p:nvSpPr>
          <p:cNvPr id="22" name="TextBox 21"/>
          <p:cNvSpPr txBox="1"/>
          <p:nvPr/>
        </p:nvSpPr>
        <p:spPr>
          <a:xfrm>
            <a:off x="5993892" y="2750059"/>
            <a:ext cx="245516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Bandwidth + active KV memory</a:t>
            </a:r>
          </a:p>
        </p:txBody>
      </p:sp>
      <p:sp>
        <p:nvSpPr>
          <p:cNvPr id="23" name="TextBox 22"/>
          <p:cNvSpPr txBox="1"/>
          <p:nvPr/>
        </p:nvSpPr>
        <p:spPr>
          <a:xfrm>
            <a:off x="5863590" y="3415285"/>
            <a:ext cx="2674620" cy="464486"/>
          </a:xfrm>
          <a:prstGeom prst="rect">
            <a:avLst/>
          </a:prstGeom>
          <a:noFill/>
        </p:spPr>
        <p:txBody>
          <a:bodyPr wrap="square" lIns="10287" tIns="10287" rIns="10287" bIns="10287">
            <a:spAutoFit/>
          </a:bodyPr>
          <a:lstStyle/>
          <a:p>
            <a:pPr>
              <a:spcAft>
                <a:spcPts val="375"/>
              </a:spcAft>
              <a:defRPr sz="1700" b="0">
                <a:solidFill>
                  <a:srgbClr val="7354B8"/>
                </a:solidFill>
                <a:latin typeface="Arial"/>
              </a:defRPr>
            </a:pPr>
            <a:r>
              <a:rPr sz="1275" cap="none">
                <a:latin typeface="Arial"/>
              </a:rPr>
              <a:t>Choose replicas and parallelism</a:t>
            </a:r>
          </a:p>
          <a:p>
            <a:pPr>
              <a:spcAft>
                <a:spcPts val="375"/>
              </a:spcAft>
              <a:defRPr sz="1700" b="0">
                <a:solidFill>
                  <a:srgbClr val="7354B8"/>
                </a:solidFill>
                <a:latin typeface="Arial"/>
              </a:defRPr>
            </a:pPr>
            <a:r>
              <a:rPr sz="1275" cap="none">
                <a:latin typeface="Arial"/>
              </a:rPr>
              <a:t>for sustained generation.</a:t>
            </a:r>
          </a:p>
        </p:txBody>
      </p:sp>
      <p:cxnSp>
        <p:nvCxnSpPr>
          <p:cNvPr id="24" name="Connector 23"/>
          <p:cNvCxnSpPr/>
          <p:nvPr/>
        </p:nvCxnSpPr>
        <p:spPr>
          <a:xfrm>
            <a:off x="3463291" y="2729484"/>
            <a:ext cx="2215133" cy="0"/>
          </a:xfrm>
          <a:prstGeom prst="line">
            <a:avLst/>
          </a:prstGeom>
          <a:ln w="381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579876" y="2112264"/>
            <a:ext cx="1988820" cy="251607"/>
          </a:xfrm>
          <a:prstGeom prst="rect">
            <a:avLst/>
          </a:prstGeom>
          <a:noFill/>
        </p:spPr>
        <p:txBody>
          <a:bodyPr wrap="square" lIns="10287" tIns="10287" rIns="10287" bIns="10287">
            <a:spAutoFit/>
          </a:bodyPr>
          <a:lstStyle/>
          <a:p>
            <a:pPr algn="ctr">
              <a:spcAft>
                <a:spcPts val="375"/>
              </a:spcAft>
              <a:defRPr sz="2000" b="1">
                <a:solidFill>
                  <a:srgbClr val="087F8C"/>
                </a:solidFill>
                <a:latin typeface="Arial"/>
              </a:defRPr>
            </a:pPr>
            <a:r>
              <a:rPr sz="1500" cap="none">
                <a:latin typeface="Arial"/>
              </a:rPr>
              <a:t>KV cache transfer</a:t>
            </a:r>
          </a:p>
        </p:txBody>
      </p:sp>
      <p:sp>
        <p:nvSpPr>
          <p:cNvPr id="26" name="TextBox 25"/>
          <p:cNvSpPr txBox="1"/>
          <p:nvPr/>
        </p:nvSpPr>
        <p:spPr>
          <a:xfrm>
            <a:off x="3552444" y="2983230"/>
            <a:ext cx="2023110" cy="464486"/>
          </a:xfrm>
          <a:prstGeom prst="rect">
            <a:avLst/>
          </a:prstGeom>
          <a:noFill/>
        </p:spPr>
        <p:txBody>
          <a:bodyPr wrap="square" lIns="10287" tIns="10287" rIns="10287" bIns="10287">
            <a:spAutoFit/>
          </a:bodyPr>
          <a:lstStyle/>
          <a:p>
            <a:pPr algn="ctr">
              <a:spcAft>
                <a:spcPts val="375"/>
              </a:spcAft>
              <a:defRPr sz="1700" b="0">
                <a:solidFill>
                  <a:srgbClr val="586A80"/>
                </a:solidFill>
                <a:latin typeface="Arial"/>
              </a:defRPr>
            </a:pPr>
            <a:r>
              <a:rPr sz="1275" cap="none">
                <a:latin typeface="Arial"/>
              </a:rPr>
              <a:t>New cost:</a:t>
            </a:r>
          </a:p>
          <a:p>
            <a:pPr algn="ctr">
              <a:spcAft>
                <a:spcPts val="375"/>
              </a:spcAft>
              <a:defRPr sz="1700" b="0">
                <a:solidFill>
                  <a:srgbClr val="586A80"/>
                </a:solidFill>
                <a:latin typeface="Arial"/>
              </a:defRPr>
            </a:pPr>
            <a:r>
              <a:rPr sz="1275" cap="none">
                <a:latin typeface="Arial"/>
              </a:rPr>
              <a:t>transfer + coordination</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12 / 49</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The orchestration gap</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The hard part is the Kubernetes wiring</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two-pool idea expands into a network of runtime contracts.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Correct routing, transfer settings, labels, ports, and readiness must agree.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305556" y="2352294"/>
            <a:ext cx="2537460" cy="72009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305556" y="2420874"/>
            <a:ext cx="37719" cy="58293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3408426" y="2441449"/>
            <a:ext cx="2331720" cy="240066"/>
          </a:xfrm>
          <a:prstGeom prst="rect">
            <a:avLst/>
          </a:prstGeom>
          <a:noFill/>
        </p:spPr>
        <p:txBody>
          <a:bodyPr wrap="square" lIns="10287" tIns="10287" rIns="10287" bIns="10287">
            <a:spAutoFit/>
          </a:bodyPr>
          <a:lstStyle/>
          <a:p>
            <a:pPr algn="ctr">
              <a:spcAft>
                <a:spcPts val="375"/>
              </a:spcAft>
              <a:defRPr sz="1900" b="1">
                <a:solidFill>
                  <a:srgbClr val="2563EB"/>
                </a:solidFill>
                <a:latin typeface="Arial"/>
              </a:defRPr>
            </a:pPr>
            <a:r>
              <a:rPr sz="1425" cap="none">
                <a:latin typeface="Arial"/>
              </a:rPr>
              <a:t>One model service</a:t>
            </a:r>
          </a:p>
        </p:txBody>
      </p:sp>
      <p:sp>
        <p:nvSpPr>
          <p:cNvPr id="13" name="TextBox 12"/>
          <p:cNvSpPr txBox="1"/>
          <p:nvPr/>
        </p:nvSpPr>
        <p:spPr>
          <a:xfrm>
            <a:off x="3415284" y="2770633"/>
            <a:ext cx="231800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Two role-specific backends</a:t>
            </a:r>
          </a:p>
        </p:txBody>
      </p:sp>
      <p:sp>
        <p:nvSpPr>
          <p:cNvPr id="14" name="Rounded Rectangle 13"/>
          <p:cNvSpPr/>
          <p:nvPr/>
        </p:nvSpPr>
        <p:spPr>
          <a:xfrm>
            <a:off x="377190"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77190" y="1645920"/>
            <a:ext cx="37719" cy="72009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80060" y="1666494"/>
            <a:ext cx="2366010" cy="228524"/>
          </a:xfrm>
          <a:prstGeom prst="rect">
            <a:avLst/>
          </a:prstGeom>
          <a:noFill/>
        </p:spPr>
        <p:txBody>
          <a:bodyPr wrap="square" lIns="10287" tIns="10287" rIns="10287" bIns="10287">
            <a:spAutoFit/>
          </a:bodyPr>
          <a:lstStyle/>
          <a:p>
            <a:pPr algn="ctr">
              <a:spcAft>
                <a:spcPts val="375"/>
              </a:spcAft>
              <a:defRPr sz="1800" b="1">
                <a:solidFill>
                  <a:srgbClr val="2563EB"/>
                </a:solidFill>
                <a:latin typeface="Arial"/>
              </a:defRPr>
            </a:pPr>
            <a:r>
              <a:rPr sz="1350" cap="none">
                <a:latin typeface="Arial"/>
              </a:rPr>
              <a:t>Routing topology</a:t>
            </a:r>
          </a:p>
        </p:txBody>
      </p:sp>
      <p:sp>
        <p:nvSpPr>
          <p:cNvPr id="17" name="TextBox 16"/>
          <p:cNvSpPr txBox="1"/>
          <p:nvPr/>
        </p:nvSpPr>
        <p:spPr>
          <a:xfrm>
            <a:off x="486918"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endpoint selection</a:t>
            </a:r>
          </a:p>
        </p:txBody>
      </p:sp>
      <p:sp>
        <p:nvSpPr>
          <p:cNvPr id="18" name="Rounded Rectangle 17"/>
          <p:cNvSpPr/>
          <p:nvPr/>
        </p:nvSpPr>
        <p:spPr>
          <a:xfrm>
            <a:off x="377190"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377190" y="3209544"/>
            <a:ext cx="37719" cy="72009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480060" y="3230118"/>
            <a:ext cx="236601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KV-transfer contract</a:t>
            </a:r>
          </a:p>
        </p:txBody>
      </p:sp>
      <p:sp>
        <p:nvSpPr>
          <p:cNvPr id="21" name="TextBox 20"/>
          <p:cNvSpPr txBox="1"/>
          <p:nvPr/>
        </p:nvSpPr>
        <p:spPr>
          <a:xfrm>
            <a:off x="486918"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Connector + transport settings</a:t>
            </a:r>
          </a:p>
        </p:txBody>
      </p:sp>
      <p:sp>
        <p:nvSpPr>
          <p:cNvPr id="22" name="Rounded Rectangle 21"/>
          <p:cNvSpPr/>
          <p:nvPr/>
        </p:nvSpPr>
        <p:spPr>
          <a:xfrm>
            <a:off x="6192773" y="1577340"/>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Rectangle 22"/>
          <p:cNvSpPr/>
          <p:nvPr/>
        </p:nvSpPr>
        <p:spPr>
          <a:xfrm>
            <a:off x="6192773" y="1645920"/>
            <a:ext cx="37719" cy="72009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6295644" y="1666494"/>
            <a:ext cx="236601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Decode-side proxy</a:t>
            </a:r>
          </a:p>
        </p:txBody>
      </p:sp>
      <p:sp>
        <p:nvSpPr>
          <p:cNvPr id="25" name="TextBox 24"/>
          <p:cNvSpPr txBox="1"/>
          <p:nvPr/>
        </p:nvSpPr>
        <p:spPr>
          <a:xfrm>
            <a:off x="6302502" y="1995679"/>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Request orchestration</a:t>
            </a:r>
          </a:p>
        </p:txBody>
      </p:sp>
      <p:sp>
        <p:nvSpPr>
          <p:cNvPr id="26" name="Rounded Rectangle 25"/>
          <p:cNvSpPr/>
          <p:nvPr/>
        </p:nvSpPr>
        <p:spPr>
          <a:xfrm>
            <a:off x="6192773" y="3140964"/>
            <a:ext cx="2571750" cy="85725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Rectangle 26"/>
          <p:cNvSpPr/>
          <p:nvPr/>
        </p:nvSpPr>
        <p:spPr>
          <a:xfrm>
            <a:off x="6192773" y="3209544"/>
            <a:ext cx="37719" cy="720090"/>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6295644" y="3230118"/>
            <a:ext cx="2366010" cy="228524"/>
          </a:xfrm>
          <a:prstGeom prst="rect">
            <a:avLst/>
          </a:prstGeom>
          <a:noFill/>
        </p:spPr>
        <p:txBody>
          <a:bodyPr wrap="square" lIns="10287" tIns="10287" rIns="10287" bIns="10287">
            <a:spAutoFit/>
          </a:bodyPr>
          <a:lstStyle/>
          <a:p>
            <a:pPr algn="ctr">
              <a:spcAft>
                <a:spcPts val="375"/>
              </a:spcAft>
              <a:defRPr sz="1800" b="1">
                <a:solidFill>
                  <a:srgbClr val="AE641A"/>
                </a:solidFill>
                <a:latin typeface="Arial"/>
              </a:defRPr>
            </a:pPr>
            <a:r>
              <a:rPr sz="1350" cap="none">
                <a:latin typeface="Arial"/>
              </a:rPr>
              <a:t>Lifecycle + scaling</a:t>
            </a:r>
          </a:p>
        </p:txBody>
      </p:sp>
      <p:sp>
        <p:nvSpPr>
          <p:cNvPr id="29" name="TextBox 28"/>
          <p:cNvSpPr txBox="1"/>
          <p:nvPr/>
        </p:nvSpPr>
        <p:spPr>
          <a:xfrm>
            <a:off x="6302502" y="3559303"/>
            <a:ext cx="235229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Ports, labels, probes, replicas</a:t>
            </a:r>
          </a:p>
        </p:txBody>
      </p:sp>
      <p:cxnSp>
        <p:nvCxnSpPr>
          <p:cNvPr id="30" name="Connector 29"/>
          <p:cNvCxnSpPr/>
          <p:nvPr/>
        </p:nvCxnSpPr>
        <p:spPr>
          <a:xfrm>
            <a:off x="2948940" y="2009394"/>
            <a:ext cx="171450" cy="0"/>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20390" y="2009394"/>
            <a:ext cx="0" cy="562356"/>
          </a:xfrm>
          <a:prstGeom prst="line">
            <a:avLst/>
          </a:prstGeom>
          <a:ln w="2540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120390" y="2571750"/>
            <a:ext cx="18516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2948940" y="3566160"/>
            <a:ext cx="171450"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3120390" y="2859786"/>
            <a:ext cx="0" cy="706374"/>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120390" y="2859786"/>
            <a:ext cx="18516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43016" y="2571750"/>
            <a:ext cx="171450"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6014466" y="2009394"/>
            <a:ext cx="0" cy="562356"/>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014467" y="2009394"/>
            <a:ext cx="178307"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5843016" y="2859786"/>
            <a:ext cx="171450" cy="0"/>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014466" y="2859786"/>
            <a:ext cx="0" cy="706374"/>
          </a:xfrm>
          <a:prstGeom prst="line">
            <a:avLst/>
          </a:prstGeom>
          <a:ln w="25400">
            <a:solidFill>
              <a:srgbClr val="AE641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014467" y="3566160"/>
            <a:ext cx="178307" cy="0"/>
          </a:xfrm>
          <a:prstGeom prst="line">
            <a:avLst/>
          </a:prstGeom>
          <a:ln w="25400">
            <a:solidFill>
              <a:srgbClr val="AE641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3" name="TextBox 4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13 / 49</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02 / Ecosystem landscape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Open-source P/D: several paths, different abstractions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Representative approaches—not an adoption ranking or mutually exclusive stacks.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Declarative APIs already exist. The opportunity is simpler integration—not the first CRD.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453896"/>
            <a:ext cx="214312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2629" y="1512189"/>
            <a:ext cx="2009393"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Approach</a:t>
            </a:r>
          </a:p>
        </p:txBody>
      </p:sp>
      <p:sp>
        <p:nvSpPr>
          <p:cNvPr id="12" name="Rectangle 11"/>
          <p:cNvSpPr/>
          <p:nvPr/>
        </p:nvSpPr>
        <p:spPr>
          <a:xfrm>
            <a:off x="2537461" y="1453896"/>
            <a:ext cx="2952368"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12898" y="1512189"/>
            <a:ext cx="2818638"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Serving / routing path</a:t>
            </a:r>
          </a:p>
        </p:txBody>
      </p:sp>
      <p:sp>
        <p:nvSpPr>
          <p:cNvPr id="14" name="Rectangle 13"/>
          <p:cNvSpPr/>
          <p:nvPr/>
        </p:nvSpPr>
        <p:spPr>
          <a:xfrm>
            <a:off x="5506974" y="1453896"/>
            <a:ext cx="3240405" cy="305181"/>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582412" y="1512189"/>
            <a:ext cx="3106674" cy="170816"/>
          </a:xfrm>
          <a:prstGeom prst="rect">
            <a:avLst/>
          </a:prstGeom>
          <a:noFill/>
        </p:spPr>
        <p:txBody>
          <a:bodyPr wrap="square" lIns="10287" tIns="10287" rIns="10287" bIns="10287">
            <a:spAutoFit/>
          </a:bodyPr>
          <a:lstStyle/>
          <a:p>
            <a:pPr>
              <a:spcAft>
                <a:spcPts val="375"/>
              </a:spcAft>
              <a:defRPr sz="1300" b="1">
                <a:solidFill>
                  <a:srgbClr val="FFFFFF"/>
                </a:solidFill>
                <a:latin typeface="Arial"/>
              </a:defRPr>
            </a:pPr>
            <a:r>
              <a:rPr sz="975" cap="none">
                <a:latin typeface="Arial"/>
              </a:rPr>
              <a:t>Kubernetes packaging</a:t>
            </a:r>
          </a:p>
        </p:txBody>
      </p:sp>
      <p:sp>
        <p:nvSpPr>
          <p:cNvPr id="16" name="Rectangle 15"/>
          <p:cNvSpPr/>
          <p:nvPr/>
        </p:nvSpPr>
        <p:spPr>
          <a:xfrm>
            <a:off x="377190" y="1776222"/>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2629" y="1834516"/>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NVIDIA Dynamo</a:t>
            </a:r>
          </a:p>
        </p:txBody>
      </p:sp>
      <p:sp>
        <p:nvSpPr>
          <p:cNvPr id="18" name="Rectangle 17"/>
          <p:cNvSpPr/>
          <p:nvPr/>
        </p:nvSpPr>
        <p:spPr>
          <a:xfrm>
            <a:off x="2537461" y="1776222"/>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12898" y="1834516"/>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Integrated inference stack</a:t>
            </a:r>
          </a:p>
        </p:txBody>
      </p:sp>
      <p:sp>
        <p:nvSpPr>
          <p:cNvPr id="20" name="Rectangle 19"/>
          <p:cNvSpPr/>
          <p:nvPr/>
        </p:nvSpPr>
        <p:spPr>
          <a:xfrm>
            <a:off x="5506974" y="1776222"/>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582412" y="1834516"/>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Operator + DynamoGraphDeployment</a:t>
            </a:r>
          </a:p>
        </p:txBody>
      </p:sp>
      <p:sp>
        <p:nvSpPr>
          <p:cNvPr id="22" name="Rectangle 21"/>
          <p:cNvSpPr/>
          <p:nvPr/>
        </p:nvSpPr>
        <p:spPr>
          <a:xfrm>
            <a:off x="377190" y="2098548"/>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2629" y="2156842"/>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llm-d [CNCF]</a:t>
            </a:r>
          </a:p>
        </p:txBody>
      </p:sp>
      <p:sp>
        <p:nvSpPr>
          <p:cNvPr id="24" name="Rectangle 23"/>
          <p:cNvSpPr/>
          <p:nvPr/>
        </p:nvSpPr>
        <p:spPr>
          <a:xfrm>
            <a:off x="2537461" y="2098548"/>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12898" y="2156842"/>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EPP + routing sidecar</a:t>
            </a:r>
          </a:p>
        </p:txBody>
      </p:sp>
      <p:sp>
        <p:nvSpPr>
          <p:cNvPr id="26" name="Rectangle 25"/>
          <p:cNvSpPr/>
          <p:nvPr/>
        </p:nvSpPr>
        <p:spPr>
          <a:xfrm>
            <a:off x="5506974" y="2098548"/>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582412" y="2156842"/>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Gateway API / InferencePool</a:t>
            </a:r>
          </a:p>
        </p:txBody>
      </p:sp>
      <p:sp>
        <p:nvSpPr>
          <p:cNvPr id="28" name="Rectangle 27"/>
          <p:cNvSpPr/>
          <p:nvPr/>
        </p:nvSpPr>
        <p:spPr>
          <a:xfrm>
            <a:off x="377190" y="2420874"/>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2629" y="2479168"/>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AIBrix</a:t>
            </a:r>
          </a:p>
        </p:txBody>
      </p:sp>
      <p:sp>
        <p:nvSpPr>
          <p:cNvPr id="30" name="Rectangle 29"/>
          <p:cNvSpPr/>
          <p:nvPr/>
        </p:nvSpPr>
        <p:spPr>
          <a:xfrm>
            <a:off x="2537461" y="2420874"/>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12898" y="2479168"/>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P/D-aware gateway + engines</a:t>
            </a:r>
          </a:p>
        </p:txBody>
      </p:sp>
      <p:sp>
        <p:nvSpPr>
          <p:cNvPr id="32" name="Rectangle 31"/>
          <p:cNvSpPr/>
          <p:nvPr/>
        </p:nvSpPr>
        <p:spPr>
          <a:xfrm>
            <a:off x="5506974" y="2420874"/>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582412" y="2479168"/>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StormService / RoleSet</a:t>
            </a:r>
          </a:p>
        </p:txBody>
      </p:sp>
      <p:sp>
        <p:nvSpPr>
          <p:cNvPr id="34" name="Rectangle 33"/>
          <p:cNvSpPr/>
          <p:nvPr/>
        </p:nvSpPr>
        <p:spPr>
          <a:xfrm>
            <a:off x="377190" y="2743200"/>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2629" y="2801494"/>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KServe + llm-d [CNCF]</a:t>
            </a:r>
          </a:p>
        </p:txBody>
      </p:sp>
      <p:sp>
        <p:nvSpPr>
          <p:cNvPr id="36" name="Rectangle 35"/>
          <p:cNvSpPr/>
          <p:nvPr/>
        </p:nvSpPr>
        <p:spPr>
          <a:xfrm>
            <a:off x="2537461" y="2743200"/>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12898" y="2801494"/>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llm-d serving integration</a:t>
            </a:r>
          </a:p>
        </p:txBody>
      </p:sp>
      <p:sp>
        <p:nvSpPr>
          <p:cNvPr id="38" name="Rectangle 37"/>
          <p:cNvSpPr/>
          <p:nvPr/>
        </p:nvSpPr>
        <p:spPr>
          <a:xfrm>
            <a:off x="5506974" y="2743200"/>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582412" y="2801494"/>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LLMInferenceService</a:t>
            </a:r>
          </a:p>
        </p:txBody>
      </p:sp>
      <p:sp>
        <p:nvSpPr>
          <p:cNvPr id="40" name="Rectangle 39"/>
          <p:cNvSpPr/>
          <p:nvPr/>
        </p:nvSpPr>
        <p:spPr>
          <a:xfrm>
            <a:off x="377190" y="3065526"/>
            <a:ext cx="214312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2629" y="3123819"/>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Ray Serve + KubeRay</a:t>
            </a:r>
          </a:p>
        </p:txBody>
      </p:sp>
      <p:sp>
        <p:nvSpPr>
          <p:cNvPr id="42" name="Rectangle 41"/>
          <p:cNvSpPr/>
          <p:nvPr/>
        </p:nvSpPr>
        <p:spPr>
          <a:xfrm>
            <a:off x="2537461" y="3065526"/>
            <a:ext cx="2952368"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12898" y="3123819"/>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P/D app + vLLM KV connectors</a:t>
            </a:r>
          </a:p>
        </p:txBody>
      </p:sp>
      <p:sp>
        <p:nvSpPr>
          <p:cNvPr id="44" name="Rectangle 43"/>
          <p:cNvSpPr/>
          <p:nvPr/>
        </p:nvSpPr>
        <p:spPr>
          <a:xfrm>
            <a:off x="5506974" y="3065526"/>
            <a:ext cx="3240405" cy="305181"/>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582412" y="3123819"/>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RayService + Serve configuration</a:t>
            </a:r>
          </a:p>
        </p:txBody>
      </p:sp>
      <p:sp>
        <p:nvSpPr>
          <p:cNvPr id="46" name="Rectangle 45"/>
          <p:cNvSpPr/>
          <p:nvPr/>
        </p:nvSpPr>
        <p:spPr>
          <a:xfrm>
            <a:off x="377190" y="3387852"/>
            <a:ext cx="214312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TextBox 46"/>
          <p:cNvSpPr txBox="1"/>
          <p:nvPr/>
        </p:nvSpPr>
        <p:spPr>
          <a:xfrm>
            <a:off x="452629" y="3446145"/>
            <a:ext cx="2009393" cy="182358"/>
          </a:xfrm>
          <a:prstGeom prst="rect">
            <a:avLst/>
          </a:prstGeom>
          <a:noFill/>
        </p:spPr>
        <p:txBody>
          <a:bodyPr wrap="square" lIns="10287" tIns="10287" rIns="10287" bIns="10287">
            <a:spAutoFit/>
          </a:bodyPr>
          <a:lstStyle/>
          <a:p>
            <a:pPr>
              <a:spcAft>
                <a:spcPts val="375"/>
              </a:spcAft>
              <a:defRPr sz="1400" b="1">
                <a:solidFill>
                  <a:srgbClr val="2563EB"/>
                </a:solidFill>
                <a:latin typeface="Arial"/>
              </a:defRPr>
            </a:pPr>
            <a:r>
              <a:rPr sz="1050" cap="none">
                <a:latin typeface="Arial"/>
              </a:rPr>
              <a:t>vLLM Production Stack</a:t>
            </a:r>
          </a:p>
        </p:txBody>
      </p:sp>
      <p:sp>
        <p:nvSpPr>
          <p:cNvPr id="48" name="Rectangle 47"/>
          <p:cNvSpPr/>
          <p:nvPr/>
        </p:nvSpPr>
        <p:spPr>
          <a:xfrm>
            <a:off x="2537461" y="3387852"/>
            <a:ext cx="2952368"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9" name="TextBox 48"/>
          <p:cNvSpPr txBox="1"/>
          <p:nvPr/>
        </p:nvSpPr>
        <p:spPr>
          <a:xfrm>
            <a:off x="2612898" y="3446145"/>
            <a:ext cx="2818638"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vLLM + LMCache / NIXL + router</a:t>
            </a:r>
          </a:p>
        </p:txBody>
      </p:sp>
      <p:sp>
        <p:nvSpPr>
          <p:cNvPr id="50" name="Rectangle 49"/>
          <p:cNvSpPr/>
          <p:nvPr/>
        </p:nvSpPr>
        <p:spPr>
          <a:xfrm>
            <a:off x="5506974" y="3387852"/>
            <a:ext cx="3240405" cy="305181"/>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1" name="TextBox 50"/>
          <p:cNvSpPr txBox="1"/>
          <p:nvPr/>
        </p:nvSpPr>
        <p:spPr>
          <a:xfrm>
            <a:off x="5582412" y="3446145"/>
            <a:ext cx="3106674" cy="182358"/>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Helm-managed P/D deployment</a:t>
            </a:r>
          </a:p>
        </p:txBody>
      </p:sp>
      <p:sp>
        <p:nvSpPr>
          <p:cNvPr id="52" name="Rounded Rectangle 51"/>
          <p:cNvSpPr/>
          <p:nvPr/>
        </p:nvSpPr>
        <p:spPr>
          <a:xfrm>
            <a:off x="377190" y="3806191"/>
            <a:ext cx="8387334" cy="390905"/>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53" name="TextBox 52"/>
          <p:cNvSpPr txBox="1"/>
          <p:nvPr/>
        </p:nvSpPr>
        <p:spPr>
          <a:xfrm>
            <a:off x="493776" y="3895344"/>
            <a:ext cx="8161020" cy="193899"/>
          </a:xfrm>
          <a:prstGeom prst="rect">
            <a:avLst/>
          </a:prstGeom>
          <a:noFill/>
        </p:spPr>
        <p:txBody>
          <a:bodyPr wrap="square" lIns="10287" tIns="10287" rIns="10287" bIns="10287">
            <a:spAutoFit/>
          </a:bodyPr>
          <a:lstStyle/>
          <a:p>
            <a:pPr>
              <a:spcAft>
                <a:spcPts val="375"/>
              </a:spcAft>
              <a:defRPr sz="1500" b="0">
                <a:solidFill>
                  <a:srgbClr val="087F8C"/>
                </a:solidFill>
                <a:latin typeface="Arial"/>
              </a:defRPr>
            </a:pPr>
            <a:r>
              <a:rPr sz="1125" cap="none">
                <a:latin typeface="Arial"/>
              </a:rPr>
              <a:t>Also: LWS DisaggregatedSet orchestrates roles; engines and KV transport remain separate.</a:t>
            </a:r>
          </a:p>
        </p:txBody>
      </p:sp>
      <p:sp>
        <p:nvSpPr>
          <p:cNvPr id="54" name="TextBox 5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5" name="TextBox 5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14 / 49</a:t>
            </a:r>
          </a:p>
        </p:txBody>
      </p:sp>
      <p:sp>
        <p:nvSpPr>
          <p:cNvPr id="56" name="TextBox 55"/>
          <p:cNvSpPr txBox="1"/>
          <p:nvPr/>
        </p:nvSpPr>
        <p:spPr>
          <a:xfrm>
            <a:off x="493776" y="4215384"/>
            <a:ext cx="8161020" cy="155448"/>
          </a:xfrm>
          <a:prstGeom prst="rect">
            <a:avLst/>
          </a:prstGeom>
          <a:noFill/>
        </p:spPr>
        <p:txBody>
          <a:bodyPr wrap="none" lIns="0" rIns="0" tIns="0" bIns="0">
            <a:spAutoFit/>
          </a:bodyPr>
          <a:lstStyle/>
          <a:p>
            <a:pPr>
              <a:spcBef>
                <a:spcPts val="0"/>
              </a:spcBef>
              <a:spcAft>
                <a:spcPts val="0"/>
              </a:spcAft>
            </a:pPr>
            <a:r>
              <a:rPr sz="950" b="1">
                <a:solidFill>
                  <a:srgbClr val="087F8C"/>
                </a:solidFill>
                <a:latin typeface="Arial"/>
              </a:rPr>
              <a:t>CNCF: llm-d — Sandbox; KServe — Incubating. Marked entries are CNCF-hosted projects.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03 / Integration rationale</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Why KAITO integrates with llm-d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For teams choosing KAITO’s Kubernetes operating model—not a universal best-platform claim.</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KAITO owns deployment intent and lifecycle; llm-d supplies reusable inference routing.</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49908"/>
            <a:ext cx="37719" cy="6995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570482"/>
            <a:ext cx="2276856"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KAITO</a:t>
            </a:r>
          </a:p>
        </p:txBody>
      </p:sp>
      <p:sp>
        <p:nvSpPr>
          <p:cNvPr id="13" name="TextBox 12"/>
          <p:cNvSpPr txBox="1"/>
          <p:nvPr/>
        </p:nvSpPr>
        <p:spPr>
          <a:xfrm>
            <a:off x="486918"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MRI → child InferenceSets</a:t>
            </a:r>
          </a:p>
        </p:txBody>
      </p:sp>
      <p:sp>
        <p:nvSpPr>
          <p:cNvPr id="14" name="Rounded Rectangle 13"/>
          <p:cNvSpPr/>
          <p:nvPr/>
        </p:nvSpPr>
        <p:spPr>
          <a:xfrm>
            <a:off x="3332988" y="1481328"/>
            <a:ext cx="2482596"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32988" y="1549908"/>
            <a:ext cx="37719" cy="69951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35858" y="1570482"/>
            <a:ext cx="2276856" cy="263149"/>
          </a:xfrm>
          <a:prstGeom prst="rect">
            <a:avLst/>
          </a:prstGeom>
          <a:noFill/>
        </p:spPr>
        <p:txBody>
          <a:bodyPr wrap="square" lIns="10287" tIns="10287" rIns="10287" bIns="10287">
            <a:spAutoFit/>
          </a:bodyPr>
          <a:lstStyle/>
          <a:p>
            <a:pPr algn="ctr">
              <a:spcAft>
                <a:spcPts val="375"/>
              </a:spcAft>
              <a:defRPr sz="2100" b="1">
                <a:solidFill>
                  <a:srgbClr val="087F8C"/>
                </a:solidFill>
                <a:latin typeface="Arial"/>
              </a:defRPr>
            </a:pPr>
            <a:r>
              <a:rPr sz="1575" cap="none">
                <a:latin typeface="Arial"/>
              </a:rPr>
              <a:t>llm-d</a:t>
            </a:r>
          </a:p>
        </p:txBody>
      </p:sp>
      <p:sp>
        <p:nvSpPr>
          <p:cNvPr id="17" name="TextBox 16"/>
          <p:cNvSpPr txBox="1"/>
          <p:nvPr/>
        </p:nvSpPr>
        <p:spPr>
          <a:xfrm>
            <a:off x="3442716" y="1899667"/>
            <a:ext cx="2263140"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EPP + decode routing sidecar</a:t>
            </a:r>
          </a:p>
        </p:txBody>
      </p:sp>
      <p:sp>
        <p:nvSpPr>
          <p:cNvPr id="18" name="Rounded Rectangle 17"/>
          <p:cNvSpPr/>
          <p:nvPr/>
        </p:nvSpPr>
        <p:spPr>
          <a:xfrm>
            <a:off x="6288786" y="1481328"/>
            <a:ext cx="2475738" cy="8366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288786" y="1549908"/>
            <a:ext cx="37719" cy="69951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391656" y="1570482"/>
            <a:ext cx="2269998" cy="263149"/>
          </a:xfrm>
          <a:prstGeom prst="rect">
            <a:avLst/>
          </a:prstGeom>
          <a:noFill/>
        </p:spPr>
        <p:txBody>
          <a:bodyPr wrap="square" lIns="10287" tIns="10287" rIns="10287" bIns="10287">
            <a:spAutoFit/>
          </a:bodyPr>
          <a:lstStyle/>
          <a:p>
            <a:pPr algn="ctr">
              <a:spcAft>
                <a:spcPts val="375"/>
              </a:spcAft>
              <a:defRPr sz="2100" b="1">
                <a:solidFill>
                  <a:srgbClr val="7354B8"/>
                </a:solidFill>
                <a:latin typeface="Arial"/>
              </a:defRPr>
            </a:pPr>
            <a:r>
              <a:rPr sz="1575" cap="none">
                <a:latin typeface="Arial"/>
              </a:rPr>
              <a:t>vLLM + NIXL</a:t>
            </a:r>
          </a:p>
        </p:txBody>
      </p:sp>
      <p:sp>
        <p:nvSpPr>
          <p:cNvPr id="21" name="TextBox 20"/>
          <p:cNvSpPr txBox="1"/>
          <p:nvPr/>
        </p:nvSpPr>
        <p:spPr>
          <a:xfrm>
            <a:off x="6398514" y="1899667"/>
            <a:ext cx="225628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Execute phases + move KV</a:t>
            </a:r>
          </a:p>
        </p:txBody>
      </p:sp>
      <p:sp>
        <p:nvSpPr>
          <p:cNvPr id="22" name="TextBox 21"/>
          <p:cNvSpPr txBox="1"/>
          <p:nvPr/>
        </p:nvSpPr>
        <p:spPr>
          <a:xfrm>
            <a:off x="2907792"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3" name="TextBox 22"/>
          <p:cNvSpPr txBox="1"/>
          <p:nvPr/>
        </p:nvSpPr>
        <p:spPr>
          <a:xfrm>
            <a:off x="5863590" y="1728216"/>
            <a:ext cx="370332" cy="320857"/>
          </a:xfrm>
          <a:prstGeom prst="rect">
            <a:avLst/>
          </a:prstGeom>
          <a:noFill/>
        </p:spPr>
        <p:txBody>
          <a:bodyPr wrap="square" lIns="10287" tIns="10287" rIns="10287" bIns="10287">
            <a:spAutoFit/>
          </a:bodyPr>
          <a:lstStyle/>
          <a:p>
            <a:pPr algn="ctr">
              <a:spcAft>
                <a:spcPts val="375"/>
              </a:spcAft>
              <a:defRPr sz="2600" b="1">
                <a:solidFill>
                  <a:srgbClr val="586A80"/>
                </a:solidFill>
                <a:latin typeface="Arial"/>
              </a:defRPr>
            </a:pPr>
            <a:r>
              <a:rPr sz="1950" cap="none">
                <a:latin typeface="Arial"/>
              </a:rPr>
              <a:t>+</a:t>
            </a:r>
          </a:p>
        </p:txBody>
      </p:sp>
      <p:sp>
        <p:nvSpPr>
          <p:cNvPr id="24" name="Rounded Rectangle 23"/>
          <p:cNvSpPr/>
          <p:nvPr/>
        </p:nvSpPr>
        <p:spPr>
          <a:xfrm>
            <a:off x="377190"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500634" y="2592324"/>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514350" y="272948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Reuse the API model</a:t>
            </a:r>
          </a:p>
        </p:txBody>
      </p:sp>
      <p:sp>
        <p:nvSpPr>
          <p:cNvPr id="27" name="TextBox 26"/>
          <p:cNvSpPr txBox="1"/>
          <p:nvPr/>
        </p:nvSpPr>
        <p:spPr>
          <a:xfrm>
            <a:off x="514350"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Keep Workspace / InferenceSet.</a:t>
            </a:r>
          </a:p>
          <a:p>
            <a:pPr>
              <a:spcAft>
                <a:spcPts val="375"/>
              </a:spcAft>
              <a:defRPr sz="1400" b="0">
                <a:solidFill>
                  <a:srgbClr val="172941"/>
                </a:solidFill>
                <a:latin typeface="Arial"/>
              </a:defRPr>
            </a:pPr>
            <a:r>
              <a:rPr sz="1050" cap="none">
                <a:latin typeface="Arial"/>
              </a:rPr>
              <a:t>Add role-specific replicas, GPU</a:t>
            </a:r>
          </a:p>
          <a:p>
            <a:pPr>
              <a:spcAft>
                <a:spcPts val="375"/>
              </a:spcAft>
              <a:defRPr sz="1400" b="0">
                <a:solidFill>
                  <a:srgbClr val="172941"/>
                </a:solidFill>
                <a:latin typeface="Arial"/>
              </a:defRPr>
            </a:pPr>
            <a:r>
              <a:rPr sz="1050" cap="none">
                <a:latin typeface="Arial"/>
              </a:rPr>
              <a:t>instance types and runtime settings.</a:t>
            </a:r>
          </a:p>
        </p:txBody>
      </p:sp>
      <p:sp>
        <p:nvSpPr>
          <p:cNvPr id="28" name="Rounded Rectangle 27"/>
          <p:cNvSpPr/>
          <p:nvPr/>
        </p:nvSpPr>
        <p:spPr>
          <a:xfrm>
            <a:off x="3216402"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39845" y="2592324"/>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353562" y="272948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Integrate, do not rebuild</a:t>
            </a:r>
          </a:p>
        </p:txBody>
      </p:sp>
      <p:sp>
        <p:nvSpPr>
          <p:cNvPr id="31" name="TextBox 30"/>
          <p:cNvSpPr txBox="1"/>
          <p:nvPr/>
        </p:nvSpPr>
        <p:spPr>
          <a:xfrm>
            <a:off x="3353562"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Reuse P/D-aware endpoint selection</a:t>
            </a:r>
          </a:p>
          <a:p>
            <a:pPr>
              <a:spcAft>
                <a:spcPts val="375"/>
              </a:spcAft>
              <a:defRPr sz="1400" b="0">
                <a:solidFill>
                  <a:srgbClr val="172941"/>
                </a:solidFill>
                <a:latin typeface="Arial"/>
              </a:defRPr>
            </a:pPr>
            <a:r>
              <a:rPr sz="1050" cap="none">
                <a:latin typeface="Arial"/>
              </a:rPr>
              <a:t>and request orchestration. KAITO</a:t>
            </a:r>
          </a:p>
          <a:p>
            <a:pPr>
              <a:spcAft>
                <a:spcPts val="375"/>
              </a:spcAft>
              <a:defRPr sz="1400" b="0">
                <a:solidFill>
                  <a:srgbClr val="172941"/>
                </a:solidFill>
                <a:latin typeface="Arial"/>
              </a:defRPr>
            </a:pPr>
            <a:r>
              <a:rPr sz="1050" cap="none">
                <a:latin typeface="Arial"/>
              </a:rPr>
              <a:t>wires sidecars, ports and the pool.</a:t>
            </a:r>
          </a:p>
        </p:txBody>
      </p:sp>
      <p:sp>
        <p:nvSpPr>
          <p:cNvPr id="32" name="Rounded Rectangle 31"/>
          <p:cNvSpPr/>
          <p:nvPr/>
        </p:nvSpPr>
        <p:spPr>
          <a:xfrm>
            <a:off x="6055614" y="2455164"/>
            <a:ext cx="2708910" cy="145389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179058" y="2592324"/>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92773" y="272948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Clear ownership</a:t>
            </a:r>
          </a:p>
        </p:txBody>
      </p:sp>
      <p:sp>
        <p:nvSpPr>
          <p:cNvPr id="35" name="TextBox 34"/>
          <p:cNvSpPr txBox="1"/>
          <p:nvPr/>
        </p:nvSpPr>
        <p:spPr>
          <a:xfrm>
            <a:off x="6192773" y="3182112"/>
            <a:ext cx="2434590" cy="608115"/>
          </a:xfrm>
          <a:prstGeom prst="rect">
            <a:avLst/>
          </a:prstGeom>
          <a:noFill/>
        </p:spPr>
        <p:txBody>
          <a:bodyPr wrap="square" lIns="10287" tIns="10287" rIns="10287" bIns="10287">
            <a:spAutoFit/>
          </a:bodyPr>
          <a:lstStyle/>
          <a:p>
            <a:pPr>
              <a:spcAft>
                <a:spcPts val="375"/>
              </a:spcAft>
              <a:defRPr sz="1400" b="0">
                <a:solidFill>
                  <a:srgbClr val="172941"/>
                </a:solidFill>
                <a:latin typeface="Arial"/>
              </a:defRPr>
            </a:pPr>
            <a:r>
              <a:rPr sz="1050" cap="none">
                <a:latin typeface="Arial"/>
              </a:rPr>
              <a:t>Use Gateway API / InferencePool.</a:t>
            </a:r>
          </a:p>
          <a:p>
            <a:pPr>
              <a:spcAft>
                <a:spcPts val="375"/>
              </a:spcAft>
              <a:defRPr sz="1400" b="0">
                <a:solidFill>
                  <a:srgbClr val="172941"/>
                </a:solidFill>
                <a:latin typeface="Arial"/>
              </a:defRPr>
            </a:pPr>
            <a:r>
              <a:rPr sz="1050" cap="none">
                <a:latin typeface="Arial"/>
              </a:rPr>
              <a:t>Keep routing plugins upstream;</a:t>
            </a:r>
          </a:p>
          <a:p>
            <a:pPr>
              <a:spcAft>
                <a:spcPts val="375"/>
              </a:spcAft>
              <a:defRPr sz="1400" b="0">
                <a:solidFill>
                  <a:srgbClr val="172941"/>
                </a:solidFill>
                <a:latin typeface="Arial"/>
              </a:defRPr>
            </a:pPr>
            <a:r>
              <a:rPr sz="1050" cap="none">
                <a:latin typeface="Arial"/>
              </a:rPr>
              <a:t>avoid adding a second serving API.</a:t>
            </a:r>
          </a:p>
        </p:txBody>
      </p:sp>
      <p:sp>
        <p:nvSpPr>
          <p:cNvPr id="36" name="TextBox 35"/>
          <p:cNvSpPr txBox="1"/>
          <p:nvPr/>
        </p:nvSpPr>
        <p:spPr>
          <a:xfrm>
            <a:off x="397764" y="3963924"/>
            <a:ext cx="8332470" cy="170816"/>
          </a:xfrm>
          <a:prstGeom prst="rect">
            <a:avLst/>
          </a:prstGeom>
          <a:noFill/>
        </p:spPr>
        <p:txBody>
          <a:bodyPr wrap="square" lIns="10287" tIns="10287" rIns="10287" bIns="10287">
            <a:spAutoFit/>
          </a:bodyPr>
          <a:lstStyle/>
          <a:p>
            <a:pPr>
              <a:spcAft>
                <a:spcPts val="375"/>
              </a:spcAft>
              <a:defRPr sz="1300" b="0">
                <a:solidFill>
                  <a:srgbClr val="586A80"/>
                </a:solidFill>
                <a:latin typeface="Arial"/>
              </a:defRPr>
            </a:pPr>
            <a:r>
              <a:rPr sz="975" cap="none">
                <a:latin typeface="Arial"/>
              </a:rPr>
              <a:t>Current scope: alpha MRI • vLLM + Istio • GPU connectivity for KV transfer • scaling policy still needs design</a:t>
            </a:r>
          </a:p>
        </p:txBody>
      </p:sp>
      <p:sp>
        <p:nvSpPr>
          <p:cNvPr id="37" name="TextBox 3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8" name="TextBox 3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21 / 49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Where KAITO and llm-d fit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 focused view of the distributed inference stack—not a required bill of materials</a:t>
            </a:r>
          </a:p>
        </p:txBody>
      </p:sp>
      <p:sp>
        <p:nvSpPr>
          <p:cNvPr id="4" name="Rounded Rectangle 3"/>
          <p:cNvSpPr/>
          <p:nvPr/>
        </p:nvSpPr>
        <p:spPr>
          <a:xfrm>
            <a:off x="457200" y="150876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57276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Applications</a:t>
            </a:r>
          </a:p>
        </p:txBody>
      </p:sp>
      <p:sp>
        <p:nvSpPr>
          <p:cNvPr id="6" name="TextBox 5"/>
          <p:cNvSpPr txBox="1"/>
          <p:nvPr/>
        </p:nvSpPr>
        <p:spPr>
          <a:xfrm>
            <a:off x="2633472" y="157276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Chat, agents and enterprise services</a:t>
            </a:r>
          </a:p>
        </p:txBody>
      </p:sp>
      <p:sp>
        <p:nvSpPr>
          <p:cNvPr id="7" name="Rounded Rectangle 6"/>
          <p:cNvSpPr/>
          <p:nvPr/>
        </p:nvSpPr>
        <p:spPr>
          <a:xfrm>
            <a:off x="457200" y="1947672"/>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79"/>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Gateway</a:t>
            </a:r>
          </a:p>
        </p:txBody>
      </p:sp>
      <p:sp>
        <p:nvSpPr>
          <p:cNvPr id="9" name="TextBox 8"/>
          <p:cNvSpPr txBox="1"/>
          <p:nvPr/>
        </p:nvSpPr>
        <p:spPr>
          <a:xfrm>
            <a:off x="2633472" y="2011679"/>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API ingress, authentication and traffic policy</a:t>
            </a:r>
          </a:p>
        </p:txBody>
      </p:sp>
      <p:sp>
        <p:nvSpPr>
          <p:cNvPr id="10" name="Rounded Rectangle 9"/>
          <p:cNvSpPr/>
          <p:nvPr/>
        </p:nvSpPr>
        <p:spPr>
          <a:xfrm>
            <a:off x="457200" y="2386584"/>
            <a:ext cx="8229600" cy="365760"/>
          </a:xfrm>
          <a:prstGeom prst="roundRect">
            <a:avLst/>
          </a:prstGeom>
          <a:solidFill>
            <a:srgbClr val="E9EF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450591"/>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Orchestration</a:t>
            </a:r>
          </a:p>
        </p:txBody>
      </p:sp>
      <p:sp>
        <p:nvSpPr>
          <p:cNvPr id="12" name="TextBox 11"/>
          <p:cNvSpPr txBox="1"/>
          <p:nvPr/>
        </p:nvSpPr>
        <p:spPr>
          <a:xfrm>
            <a:off x="2633472" y="2450591"/>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KAITO: lifecycle  •  llm-d: endpoint selection</a:t>
            </a:r>
          </a:p>
        </p:txBody>
      </p:sp>
      <p:sp>
        <p:nvSpPr>
          <p:cNvPr id="13" name="Rounded Rectangle 12"/>
          <p:cNvSpPr/>
          <p:nvPr/>
        </p:nvSpPr>
        <p:spPr>
          <a:xfrm>
            <a:off x="457200" y="2825496"/>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89503"/>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Runtime</a:t>
            </a:r>
          </a:p>
        </p:txBody>
      </p:sp>
      <p:sp>
        <p:nvSpPr>
          <p:cNvPr id="15" name="TextBox 14"/>
          <p:cNvSpPr txBox="1"/>
          <p:nvPr/>
        </p:nvSpPr>
        <p:spPr>
          <a:xfrm>
            <a:off x="2633472" y="2889503"/>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vLLM: prefill, decode and batching</a:t>
            </a:r>
          </a:p>
        </p:txBody>
      </p:sp>
      <p:sp>
        <p:nvSpPr>
          <p:cNvPr id="16" name="Rounded Rectangle 15"/>
          <p:cNvSpPr/>
          <p:nvPr/>
        </p:nvSpPr>
        <p:spPr>
          <a:xfrm>
            <a:off x="457200" y="3264408"/>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28415"/>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KV state</a:t>
            </a:r>
          </a:p>
        </p:txBody>
      </p:sp>
      <p:sp>
        <p:nvSpPr>
          <p:cNvPr id="18" name="TextBox 17"/>
          <p:cNvSpPr txBox="1"/>
          <p:nvPr/>
        </p:nvSpPr>
        <p:spPr>
          <a:xfrm>
            <a:off x="2633472" y="3328415"/>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NIXL: transfer  •  cache systems: reuse and offload</a:t>
            </a:r>
          </a:p>
        </p:txBody>
      </p:sp>
      <p:sp>
        <p:nvSpPr>
          <p:cNvPr id="19" name="Rounded Rectangle 18"/>
          <p:cNvSpPr/>
          <p:nvPr/>
        </p:nvSpPr>
        <p:spPr>
          <a:xfrm>
            <a:off x="457200" y="3703320"/>
            <a:ext cx="8229600" cy="365760"/>
          </a:xfrm>
          <a:prstGeom prst="roundRect">
            <a:avLst/>
          </a:prstGeom>
          <a:solidFill>
            <a:srgbClr val="F4F7FB"/>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3767328"/>
            <a:ext cx="1874519" cy="256032"/>
          </a:xfrm>
          <a:prstGeom prst="rect">
            <a:avLst/>
          </a:prstGeom>
          <a:noFill/>
        </p:spPr>
        <p:txBody>
          <a:bodyPr wrap="square" lIns="0" rIns="0" tIns="0" bIns="0">
            <a:spAutoFit/>
          </a:bodyPr>
          <a:lstStyle/>
          <a:p>
            <a:pPr>
              <a:spcAft>
                <a:spcPts val="500"/>
              </a:spcAft>
              <a:defRPr sz="1300" b="1">
                <a:solidFill>
                  <a:srgbClr val="346CEC"/>
                </a:solidFill>
                <a:latin typeface="Arial"/>
              </a:defRPr>
            </a:pPr>
            <a:r>
              <a:rPr cap="none"/>
              <a:t>Infrastructure</a:t>
            </a:r>
          </a:p>
        </p:txBody>
      </p:sp>
      <p:sp>
        <p:nvSpPr>
          <p:cNvPr id="21" name="TextBox 20"/>
          <p:cNvSpPr txBox="1"/>
          <p:nvPr/>
        </p:nvSpPr>
        <p:spPr>
          <a:xfrm>
            <a:off x="2633472" y="3767328"/>
            <a:ext cx="5852160" cy="256032"/>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Kubernetes, GPUs, networking and storage</a:t>
            </a:r>
          </a:p>
        </p:txBody>
      </p:sp>
      <p:sp>
        <p:nvSpPr>
          <p:cNvPr id="22" name="Rounded Rectangle 21"/>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This talk focuses on role topology, request routing, KV transfer and capacity control.</a:t>
            </a:r>
          </a:p>
        </p:txBody>
      </p:sp>
      <p:sp>
        <p:nvSpPr>
          <p:cNvPr id="24" name="TextBox 23"/>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5" name="TextBox 24"/>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22 / 49</a:t>
            </a:r>
          </a:p>
        </p:txBody>
      </p:sp>
    </p:spTree>
    <p:extLst>
      <p:ext uri="{BB962C8B-B14F-4D97-AF65-F5344CB8AC3E}">
        <p14:creationId xmlns:p14="http://schemas.microsoft.com/office/powerpoint/2010/main" val="36272095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DA800-8BD1-8108-8288-34A444BB010E}"/>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composable distributed inference</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Reuse the serving stack; add Kubernetes-native coordination</a:t>
            </a:r>
          </a:p>
        </p:txBody>
      </p:sp>
      <p:sp>
        <p:nvSpPr>
          <p:cNvPr id="4" name="Rounded Rectangle 3"/>
          <p:cNvSpPr/>
          <p:nvPr/>
        </p:nvSpPr>
        <p:spPr>
          <a:xfrm>
            <a:off x="41148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47088"/>
            <a:ext cx="241401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Operate</a:t>
            </a:r>
          </a:p>
        </p:txBody>
      </p:sp>
      <p:sp>
        <p:nvSpPr>
          <p:cNvPr id="6" name="TextBox 5"/>
          <p:cNvSpPr txBox="1"/>
          <p:nvPr/>
        </p:nvSpPr>
        <p:spPr>
          <a:xfrm>
            <a:off x="57607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Modular components</a:t>
            </a:r>
          </a:p>
          <a:p>
            <a:pPr>
              <a:spcAft>
                <a:spcPts val="500"/>
              </a:spcAft>
              <a:defRPr sz="1500" b="0">
                <a:solidFill>
                  <a:srgbClr val="142C46"/>
                </a:solidFill>
                <a:latin typeface="Arial"/>
              </a:defRPr>
            </a:pPr>
            <a:r>
              <a:rPr cap="none"/>
              <a:t>Kubernetes integration</a:t>
            </a:r>
          </a:p>
          <a:p>
            <a:pPr>
              <a:spcAft>
                <a:spcPts val="500"/>
              </a:spcAft>
              <a:defRPr sz="1500" b="0">
                <a:solidFill>
                  <a:srgbClr val="142C46"/>
                </a:solidFill>
                <a:latin typeface="Arial"/>
              </a:defRPr>
            </a:pPr>
            <a:r>
              <a:rPr cap="none"/>
              <a:t>Clear failure boundaries</a:t>
            </a:r>
          </a:p>
        </p:txBody>
      </p:sp>
      <p:sp>
        <p:nvSpPr>
          <p:cNvPr id="7" name="Rounded Rectangle 6"/>
          <p:cNvSpPr/>
          <p:nvPr/>
        </p:nvSpPr>
        <p:spPr>
          <a:xfrm>
            <a:off x="324612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10712" y="1847088"/>
            <a:ext cx="241401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Compose</a:t>
            </a:r>
          </a:p>
        </p:txBody>
      </p:sp>
      <p:sp>
        <p:nvSpPr>
          <p:cNvPr id="9" name="TextBox 8"/>
          <p:cNvSpPr txBox="1"/>
          <p:nvPr/>
        </p:nvSpPr>
        <p:spPr>
          <a:xfrm>
            <a:off x="341071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Gateway integration</a:t>
            </a:r>
          </a:p>
          <a:p>
            <a:pPr>
              <a:spcAft>
                <a:spcPts val="500"/>
              </a:spcAft>
              <a:defRPr sz="1500" b="0">
                <a:solidFill>
                  <a:srgbClr val="142C46"/>
                </a:solidFill>
                <a:latin typeface="Arial"/>
              </a:defRPr>
            </a:pPr>
            <a:r>
              <a:rPr cap="none"/>
              <a:t>Extensible routing</a:t>
            </a:r>
          </a:p>
          <a:p>
            <a:pPr>
              <a:spcAft>
                <a:spcPts val="500"/>
              </a:spcAft>
              <a:defRPr sz="1500" b="0">
                <a:solidFill>
                  <a:srgbClr val="142C46"/>
                </a:solidFill>
                <a:latin typeface="Arial"/>
              </a:defRPr>
            </a:pPr>
            <a:r>
              <a:rPr cap="none"/>
              <a:t>Runtime and KV interfaces</a:t>
            </a:r>
          </a:p>
        </p:txBody>
      </p:sp>
      <p:sp>
        <p:nvSpPr>
          <p:cNvPr id="10" name="Rounded Rectangle 9"/>
          <p:cNvSpPr/>
          <p:nvPr/>
        </p:nvSpPr>
        <p:spPr>
          <a:xfrm>
            <a:off x="6080760" y="1691640"/>
            <a:ext cx="274320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45352" y="1847088"/>
            <a:ext cx="241401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Deploy</a:t>
            </a:r>
          </a:p>
        </p:txBody>
      </p:sp>
      <p:sp>
        <p:nvSpPr>
          <p:cNvPr id="12" name="TextBox 11"/>
          <p:cNvSpPr txBox="1"/>
          <p:nvPr/>
        </p:nvSpPr>
        <p:spPr>
          <a:xfrm>
            <a:off x="6245352" y="2322576"/>
            <a:ext cx="2414016" cy="1600199"/>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Tested reference paths</a:t>
            </a:r>
          </a:p>
          <a:p>
            <a:pPr>
              <a:spcAft>
                <a:spcPts val="500"/>
              </a:spcAft>
              <a:defRPr sz="1500" b="0">
                <a:solidFill>
                  <a:srgbClr val="142C46"/>
                </a:solidFill>
                <a:latin typeface="Arial"/>
              </a:defRPr>
            </a:pPr>
            <a:r>
              <a:rPr cap="none"/>
              <a:t>Explicit trade-offs</a:t>
            </a:r>
          </a:p>
          <a:p>
            <a:pPr>
              <a:spcAft>
                <a:spcPts val="500"/>
              </a:spcAft>
              <a:defRPr sz="1500" b="0">
                <a:solidFill>
                  <a:srgbClr val="142C46"/>
                </a:solidFill>
                <a:latin typeface="Arial"/>
              </a:defRPr>
            </a:pPr>
            <a:r>
              <a:rPr cap="none"/>
              <a:t>Workload-specific tuning</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llm-d composes gateways, runtimes and transport; it does not replace them all.</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15 / 49</a:t>
            </a:r>
          </a:p>
        </p:txBody>
      </p:sp>
      <p:sp>
        <p:nvSpPr>
          <p:cNvPr id="17" name="TextBox 16"/>
          <p:cNvSpPr txBox="1"/>
          <p:nvPr/>
        </p:nvSpPr>
        <p:spPr>
          <a:xfrm>
            <a:off x="384048" y="201168"/>
            <a:ext cx="4572000" cy="192024"/>
          </a:xfrm>
          <a:prstGeom prst="rect">
            <a:avLst/>
          </a:prstGeom>
          <a:noFill/>
        </p:spPr>
        <p:txBody>
          <a:bodyPr wrap="none" lIns="0" rIns="0" tIns="0" bIns="0">
            <a:spAutoFit/>
          </a:bodyPr>
          <a:lstStyle/>
          <a:p>
            <a:pPr>
              <a:spcBef>
                <a:spcPts val="0"/>
              </a:spcBef>
              <a:spcAft>
                <a:spcPts val="0"/>
              </a:spcAft>
            </a:pPr>
            <a:r>
              <a:rPr sz="950" b="1">
                <a:solidFill>
                  <a:srgbClr val="087F8C"/>
                </a:solidFill>
                <a:latin typeface="Arial"/>
              </a:rPr>
              <a:t>CNCF SANDBOX PROJECT</a:t>
            </a:r>
          </a:p>
        </p:txBody>
      </p:sp>
    </p:spTree>
    <p:extLst>
      <p:ext uri="{BB962C8B-B14F-4D97-AF65-F5344CB8AC3E}">
        <p14:creationId xmlns:p14="http://schemas.microsoft.com/office/powerpoint/2010/main" val="12465624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capabilities relevant to this talk</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Architecture building blocks—not benchmark guarantees</a:t>
            </a:r>
          </a:p>
        </p:txBody>
      </p:sp>
      <p:sp>
        <p:nvSpPr>
          <p:cNvPr id="4" name="Rounded Rectangle 3"/>
          <p:cNvSpPr/>
          <p:nvPr/>
        </p:nvSpPr>
        <p:spPr>
          <a:xfrm>
            <a:off x="411480"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664207"/>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Distributed execution</a:t>
            </a:r>
          </a:p>
        </p:txBody>
      </p:sp>
      <p:sp>
        <p:nvSpPr>
          <p:cNvPr id="6" name="TextBox 5"/>
          <p:cNvSpPr txBox="1"/>
          <p:nvPr/>
        </p:nvSpPr>
        <p:spPr>
          <a:xfrm>
            <a:off x="576072"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Expert parallelism and communication strategies for large models.</a:t>
            </a:r>
          </a:p>
        </p:txBody>
      </p:sp>
      <p:sp>
        <p:nvSpPr>
          <p:cNvPr id="7" name="Rounded Rectangle 6"/>
          <p:cNvSpPr/>
          <p:nvPr/>
        </p:nvSpPr>
        <p:spPr>
          <a:xfrm>
            <a:off x="4636008" y="150876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64207"/>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Prefill/decode separation</a:t>
            </a:r>
          </a:p>
        </p:txBody>
      </p:sp>
      <p:sp>
        <p:nvSpPr>
          <p:cNvPr id="9" name="TextBox 8"/>
          <p:cNvSpPr txBox="1"/>
          <p:nvPr/>
        </p:nvSpPr>
        <p:spPr>
          <a:xfrm>
            <a:off x="4800600" y="2139696"/>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Different placement, batching and capacity choices for each phase.</a:t>
            </a:r>
          </a:p>
        </p:txBody>
      </p:sp>
      <p:sp>
        <p:nvSpPr>
          <p:cNvPr id="10" name="Rounded Rectangle 9"/>
          <p:cNvSpPr/>
          <p:nvPr/>
        </p:nvSpPr>
        <p:spPr>
          <a:xfrm>
            <a:off x="411480"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17520"/>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State-aware scheduling</a:t>
            </a:r>
          </a:p>
        </p:txBody>
      </p:sp>
      <p:sp>
        <p:nvSpPr>
          <p:cNvPr id="12" name="TextBox 11"/>
          <p:cNvSpPr txBox="1"/>
          <p:nvPr/>
        </p:nvSpPr>
        <p:spPr>
          <a:xfrm>
            <a:off x="576072"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Route with cache locality and runtime load in mind.</a:t>
            </a:r>
          </a:p>
        </p:txBody>
      </p:sp>
      <p:sp>
        <p:nvSpPr>
          <p:cNvPr id="13" name="Rounded Rectangle 12"/>
          <p:cNvSpPr/>
          <p:nvPr/>
        </p:nvSpPr>
        <p:spPr>
          <a:xfrm>
            <a:off x="4636008" y="2862072"/>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17520"/>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Capacity control</a:t>
            </a:r>
          </a:p>
        </p:txBody>
      </p:sp>
      <p:sp>
        <p:nvSpPr>
          <p:cNvPr id="15" name="TextBox 14"/>
          <p:cNvSpPr txBox="1"/>
          <p:nvPr/>
        </p:nvSpPr>
        <p:spPr>
          <a:xfrm>
            <a:off x="4800600" y="3493008"/>
            <a:ext cx="3767328" cy="502920"/>
          </a:xfrm>
          <a:prstGeom prst="rect">
            <a:avLst/>
          </a:prstGeom>
          <a:noFill/>
        </p:spPr>
        <p:txBody>
          <a:bodyPr wrap="square" lIns="0" rIns="0" tIns="0" bIns="0">
            <a:spAutoFit/>
          </a:bodyPr>
          <a:lstStyle/>
          <a:p>
            <a:pPr>
              <a:spcAft>
                <a:spcPts val="500"/>
              </a:spcAft>
              <a:defRPr sz="1200" b="0">
                <a:solidFill>
                  <a:srgbClr val="142C46"/>
                </a:solidFill>
                <a:latin typeface="Arial"/>
              </a:defRPr>
            </a:pPr>
            <a:r>
              <a:rPr cap="none"/>
              <a:t>Use workload signals and latency objectives to guide scaling.</a:t>
            </a:r>
          </a:p>
        </p:txBody>
      </p:sp>
      <p:sp>
        <p:nvSpPr>
          <p:cNvPr id="16" name="Rounded Rectangle 15"/>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Results depend on model, hardware, traffic and SLOs. Validate your own workload.</a:t>
            </a:r>
          </a:p>
        </p:txBody>
      </p:sp>
      <p:sp>
        <p:nvSpPr>
          <p:cNvPr id="18" name="TextBox 1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9" name="TextBox 1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16 / 49</a:t>
            </a:r>
          </a:p>
        </p:txBody>
      </p:sp>
    </p:spTree>
    <p:extLst>
      <p:ext uri="{BB962C8B-B14F-4D97-AF65-F5344CB8AC3E}">
        <p14:creationId xmlns:p14="http://schemas.microsoft.com/office/powerpoint/2010/main" val="104645608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llm-d “well-lit paths”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Tested deployment patterns that make important trade-offs explicit</a:t>
            </a:r>
          </a:p>
        </p:txBody>
      </p:sp>
      <p:sp>
        <p:nvSpPr>
          <p:cNvPr id="4" name="Rounded Rectangle 3"/>
          <p:cNvSpPr/>
          <p:nvPr/>
        </p:nvSpPr>
        <p:spPr>
          <a:xfrm>
            <a:off x="411480"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Intelligent scheduling</a:t>
            </a:r>
          </a:p>
        </p:txBody>
      </p:sp>
      <p:sp>
        <p:nvSpPr>
          <p:cNvPr id="6" name="TextBox 5"/>
          <p:cNvSpPr txBox="1"/>
          <p:nvPr/>
        </p:nvSpPr>
        <p:spPr>
          <a:xfrm>
            <a:off x="576072"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this request run?</a:t>
            </a:r>
          </a:p>
        </p:txBody>
      </p:sp>
      <p:sp>
        <p:nvSpPr>
          <p:cNvPr id="7" name="Rounded Rectangle 6"/>
          <p:cNvSpPr/>
          <p:nvPr/>
        </p:nvSpPr>
        <p:spPr>
          <a:xfrm>
            <a:off x="4636008" y="1554480"/>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709928"/>
            <a:ext cx="3767328"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KV cache management</a:t>
            </a:r>
          </a:p>
        </p:txBody>
      </p:sp>
      <p:sp>
        <p:nvSpPr>
          <p:cNvPr id="9" name="TextBox 8"/>
          <p:cNvSpPr txBox="1"/>
          <p:nvPr/>
        </p:nvSpPr>
        <p:spPr>
          <a:xfrm>
            <a:off x="4800600" y="2185415"/>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Where should reusable state live?</a:t>
            </a:r>
          </a:p>
        </p:txBody>
      </p:sp>
      <p:sp>
        <p:nvSpPr>
          <p:cNvPr id="10" name="Rounded Rectangle 9"/>
          <p:cNvSpPr/>
          <p:nvPr/>
        </p:nvSpPr>
        <p:spPr>
          <a:xfrm>
            <a:off x="411480"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3063239"/>
            <a:ext cx="3767328"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Wide expert parallelism</a:t>
            </a:r>
          </a:p>
        </p:txBody>
      </p:sp>
      <p:sp>
        <p:nvSpPr>
          <p:cNvPr id="12" name="TextBox 11"/>
          <p:cNvSpPr txBox="1"/>
          <p:nvPr/>
        </p:nvSpPr>
        <p:spPr>
          <a:xfrm>
            <a:off x="576072"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a large MoE model execute?</a:t>
            </a:r>
          </a:p>
        </p:txBody>
      </p:sp>
      <p:sp>
        <p:nvSpPr>
          <p:cNvPr id="13" name="Rounded Rectangle 12"/>
          <p:cNvSpPr/>
          <p:nvPr/>
        </p:nvSpPr>
        <p:spPr>
          <a:xfrm>
            <a:off x="4636008" y="2907791"/>
            <a:ext cx="4096512" cy="123444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063239"/>
            <a:ext cx="3767328"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P/D disaggregation</a:t>
            </a:r>
          </a:p>
        </p:txBody>
      </p:sp>
      <p:sp>
        <p:nvSpPr>
          <p:cNvPr id="15" name="TextBox 14"/>
          <p:cNvSpPr txBox="1"/>
          <p:nvPr/>
        </p:nvSpPr>
        <p:spPr>
          <a:xfrm>
            <a:off x="4800600" y="3538727"/>
            <a:ext cx="3767328" cy="502920"/>
          </a:xfrm>
          <a:prstGeom prst="rect">
            <a:avLst/>
          </a:prstGeom>
          <a:noFill/>
        </p:spPr>
        <p:txBody>
          <a:bodyPr wrap="square" lIns="0" rIns="0" tIns="0" bIns="0">
            <a:spAutoFit/>
          </a:bodyPr>
          <a:lstStyle/>
          <a:p>
            <a:pPr>
              <a:spcAft>
                <a:spcPts val="500"/>
              </a:spcAft>
              <a:defRPr sz="1300" b="0">
                <a:solidFill>
                  <a:srgbClr val="142C46"/>
                </a:solidFill>
                <a:latin typeface="Arial"/>
              </a:defRPr>
            </a:pPr>
            <a:r>
              <a:rPr cap="none"/>
              <a:t>How should prompt and generation capacity differ?</a:t>
            </a:r>
          </a:p>
        </p:txBody>
      </p:sp>
      <p:sp>
        <p:nvSpPr>
          <p:cNvPr id="16" name="TextBox 1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7" name="TextBox 1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17 / 49</a:t>
            </a:r>
          </a:p>
        </p:txBody>
      </p:sp>
    </p:spTree>
    <p:extLst>
      <p:ext uri="{BB962C8B-B14F-4D97-AF65-F5344CB8AC3E}">
        <p14:creationId xmlns:p14="http://schemas.microsoft.com/office/powerpoint/2010/main" val="188113749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003ED3-9B6B-3BAB-0E83-FF6DAA5EED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452F12-066A-5C71-350D-F3B31BAA9F87}"/>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What is KAITO?</a:t>
            </a:r>
          </a:p>
        </p:txBody>
      </p:sp>
      <p:pic>
        <p:nvPicPr>
          <p:cNvPr id="4" name="Picture 3" descr="KAITO architecture">
            <a:extLst>
              <a:ext uri="{FF2B5EF4-FFF2-40B4-BE49-F238E27FC236}">
                <a16:creationId xmlns:a16="http://schemas.microsoft.com/office/drawing/2014/main" id="{5B1CC189-03AF-A169-CA62-02B380D43C23}"/>
              </a:ext>
            </a:extLst>
          </p:cNvPr>
          <p:cNvPicPr>
            <a:picLocks noChangeAspect="1"/>
          </p:cNvPicPr>
          <p:nvPr/>
        </p:nvPicPr>
        <p:blipFill>
          <a:blip r:embed="rId3"/>
          <a:stretch>
            <a:fillRect/>
          </a:stretch>
        </p:blipFill>
        <p:spPr>
          <a:xfrm>
            <a:off x="666749" y="1579675"/>
            <a:ext cx="5455961" cy="2890200"/>
          </a:xfrm>
          <a:prstGeom prst="rect">
            <a:avLst/>
          </a:prstGeom>
        </p:spPr>
      </p:pic>
      <p:sp>
        <p:nvSpPr>
          <p:cNvPr id="10" name="TextBox Subtitle"/>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An operator suite that automates LLM inference, fine-tuning &amp; RAG on Kubernetes.</a:t>
            </a:r>
          </a:p>
        </p:txBody>
      </p:sp>
      <p:sp>
        <p:nvSpPr>
          <p:cNvPr id="11" name="Key Differentiators"/>
          <p:cNvSpPr/>
          <p:nvPr/>
        </p:nvSpPr>
        <p:spPr>
          <a:xfrm>
            <a:off x="6019500" y="2184839"/>
            <a:ext cx="2812800" cy="2285036"/>
          </a:xfrm>
          <a:prstGeom prst="roundRect">
            <a:avLst/>
          </a:prstGeom>
          <a:solidFill>
            <a:schemeClr val="bg1">
              <a:lumMod val="95000"/>
            </a:schemeClr>
          </a:solidFill>
          <a:ln w="12700">
            <a:solidFill>
              <a:schemeClr val="accent2"/>
            </a:solidFill>
          </a:ln>
        </p:spPr>
        <p:txBody>
          <a:bodyPr rtlCol="0" anchor="t">
            <a:normAutofit fontScale="92500" lnSpcReduction="10000"/>
          </a:bodyPr>
          <a:lstStyle/>
          <a:p>
            <a:r>
              <a:rPr lang="en-US" sz="1300" b="1" dirty="0" cap="none">
                <a:solidFill>
                  <a:srgbClr val="142C46"/>
                </a:solidFill>
                <a:latin typeface="Arial"/>
              </a:rPr>
              <a:t>Model and GPU selection</a:t>
            </a:r>
            <a:br/>
            <a:r>
              <a:rPr cap="none" sz="1300">
                <a:solidFill>
                  <a:srgbClr val="142C46"/>
                </a:solidFill>
                <a:latin typeface="Arial"/>
              </a:rPr>
              <a:t>Node provisioning from model memory needs</a:t>
            </a:r>
            <a:br/>
            <a:r>
              <a:rPr cap="none" sz="1300">
                <a:solidFill>
                  <a:srgbClr val="142C46"/>
                </a:solidFill>
                <a:latin typeface="Arial"/>
              </a:rPr>
              <a:t>Model onboarding and local caching</a:t>
            </a:r>
            <a:br/>
            <a:r>
              <a:rPr cap="none" sz="1300">
                <a:solidFill>
                  <a:srgbClr val="142C46"/>
                </a:solidFill>
                <a:latin typeface="Arial"/>
              </a:rPr>
              <a:t>InferenceSet lifecycle and rolling upgrades</a:t>
            </a:r>
            <a:br/>
            <a:r>
              <a:rPr cap="none" sz="1300">
                <a:solidFill>
                  <a:srgbClr val="142C46"/>
                </a:solidFill>
                <a:latin typeface="Arial"/>
              </a:rPr>
              <a:t>KEDA-based workload scaling</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18 / 49</a:t>
            </a:r>
          </a:p>
        </p:txBody>
      </p:sp>
      <p:sp>
        <p:nvSpPr>
          <p:cNvPr id="14" name="TextBox 13"/>
          <p:cNvSpPr txBox="1"/>
          <p:nvPr/>
        </p:nvSpPr>
        <p:spPr>
          <a:xfrm>
            <a:off x="384048" y="201168"/>
            <a:ext cx="4572000" cy="192024"/>
          </a:xfrm>
          <a:prstGeom prst="rect">
            <a:avLst/>
          </a:prstGeom>
          <a:noFill/>
        </p:spPr>
        <p:txBody>
          <a:bodyPr wrap="none" lIns="0" rIns="0" tIns="0" bIns="0">
            <a:spAutoFit/>
          </a:bodyPr>
          <a:lstStyle/>
          <a:p>
            <a:pPr>
              <a:spcBef>
                <a:spcPts val="0"/>
              </a:spcBef>
              <a:spcAft>
                <a:spcPts val="0"/>
              </a:spcAft>
            </a:pPr>
            <a:r>
              <a:rPr sz="950" b="1">
                <a:solidFill>
                  <a:srgbClr val="087F8C"/>
                </a:solidFill>
                <a:latin typeface="Arial"/>
              </a:rPr>
              <a:t>CNCF SANDBOX PROJECT</a:t>
            </a:r>
          </a:p>
        </p:txBody>
      </p:sp>
    </p:spTree>
    <p:extLst>
      <p:ext uri="{BB962C8B-B14F-4D97-AF65-F5344CB8AC3E}">
        <p14:creationId xmlns:p14="http://schemas.microsoft.com/office/powerpoint/2010/main" val="26212137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1CCD9-1F69-9D7B-F431-AD30EC2D4F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D86216-B473-FF36-1629-FC035EACB0F0}"/>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workload example</a:t>
            </a:r>
          </a:p>
        </p:txBody>
      </p:sp>
      <p:sp>
        <p:nvSpPr>
          <p:cNvPr id="10" name="Caption"/>
          <p:cNvSpPr txBox="1"/>
          <p:nvPr/>
        </p:nvSpPr>
        <p:spPr>
          <a:xfrm>
            <a:off x="384048" y="1033271"/>
            <a:ext cx="8321040" cy="329184"/>
          </a:xfrm>
          <a:prstGeom prst="rect">
            <a:avLst/>
          </a:prstGeom>
          <a:noFill/>
        </p:spPr>
        <p:txBody>
          <a:bodyPr wrap="square" rtlCol="0">
            <a:normAutofit/>
          </a:bodyPr>
          <a:lstStyle/>
          <a:p>
            <a:r>
              <a:rPr lang="en-US" sz="1200" b="1" dirty="0" cap="none">
                <a:solidFill>
                  <a:srgbClr val="52677D"/>
                </a:solidFill>
                <a:latin typeface="Arial"/>
              </a:rPr>
              <a:t>Declare a model, GPU instance type and replica count</a:t>
            </a:r>
          </a:p>
        </p:txBody>
      </p:sp>
      <p:sp>
        <p:nvSpPr>
          <p:cNvPr id="11" name="InferenceSet YAML"/>
          <p:cNvSpPr txBox="1"/>
          <p:nvPr/>
        </p:nvSpPr>
        <p:spPr>
          <a:xfrm>
            <a:off x="457200" y="1400000"/>
            <a:ext cx="8434388" cy="3467275"/>
          </a:xfrm>
          <a:prstGeom prst="rect">
            <a:avLst/>
          </a:prstGeom>
          <a:solidFill>
            <a:schemeClr val="bg1">
              <a:lumMod val="95000"/>
            </a:schemeClr>
          </a:solidFill>
          <a:ln w="9525">
            <a:solidFill>
              <a:srgbClr val="D0D0D0"/>
            </a:solidFill>
          </a:ln>
        </p:spPr>
        <p:txBody>
          <a:bodyPr wrap="square" lIns="91440" tIns="45720" rIns="91440" bIns="45720" rtlCol="0">
            <a:normAutofit/>
          </a:bodyPr>
          <a:lstStyle/>
          <a:p>
            <a:r>
              <a:rPr lang="en-US" sz="1200" dirty="0" cap="none">
                <a:solidFill>
                  <a:srgbClr val="142C46"/>
                </a:solidFill>
                <a:latin typeface="Consolas" panose="020B0609020204030204" pitchFamily="49" charset="0"/>
              </a:rPr>
              <a:t>apiVersion: kaito.sh/v1beta1</a:t>
            </a:r>
            <a:br/>
            <a:r>
              <a:rPr cap="none" sz="1200">
                <a:solidFill>
                  <a:srgbClr val="142C46"/>
                </a:solidFill>
                <a:latin typeface="Consolas"/>
              </a:rPr>
              <a:t>kind: InferenceSet</a:t>
            </a:r>
            <a:br/>
            <a:r>
              <a:rPr cap="none" sz="1200">
                <a:solidFill>
                  <a:srgbClr val="142C46"/>
                </a:solidFill>
                <a:latin typeface="Consolas"/>
              </a:rPr>
              <a:t>metadata:</a:t>
            </a:r>
            <a:br/>
            <a:r>
              <a:rPr cap="none" sz="1200">
                <a:solidFill>
                  <a:srgbClr val="142C46"/>
                </a:solidFill>
                <a:latin typeface="Consolas"/>
              </a:rPr>
              <a:t>  name: qwen3-coder-30b</a:t>
            </a:r>
            <a:br/>
            <a:r>
              <a:rPr cap="none" sz="1200">
                <a:solidFill>
                  <a:srgbClr val="142C46"/>
                </a:solidFill>
                <a:latin typeface="Consolas"/>
              </a:rPr>
              <a:t>spec:</a:t>
            </a:r>
            <a:br/>
            <a:r>
              <a:rPr cap="none" sz="1200">
                <a:solidFill>
                  <a:srgbClr val="142C46"/>
                </a:solidFill>
                <a:latin typeface="Consolas"/>
              </a:rPr>
              <a:t>  replicas: 3</a:t>
            </a:r>
            <a:br/>
            <a:r>
              <a:rPr cap="none" sz="1200">
                <a:solidFill>
                  <a:srgbClr val="142C46"/>
                </a:solidFill>
                <a:latin typeface="Consolas"/>
              </a:rPr>
              <a:t>  labelSelector:</a:t>
            </a:r>
            <a:br/>
            <a:r>
              <a:rPr cap="none" sz="1200">
                <a:solidFill>
                  <a:srgbClr val="142C46"/>
                </a:solidFill>
                <a:latin typeface="Consolas"/>
              </a:rPr>
              <a:t>    matchLabels:</a:t>
            </a:r>
            <a:br/>
            <a:r>
              <a:rPr cap="none" sz="1200">
                <a:solidFill>
                  <a:srgbClr val="142C46"/>
                </a:solidFill>
                <a:latin typeface="Consolas"/>
              </a:rPr>
              <a:t>      app: qwen3-coder-30b</a:t>
            </a:r>
            <a:br/>
            <a:r>
              <a:rPr cap="none" sz="1200">
                <a:solidFill>
                  <a:srgbClr val="142C46"/>
                </a:solidFill>
                <a:latin typeface="Consolas"/>
              </a:rPr>
              <a:t>  template:</a:t>
            </a:r>
            <a:br/>
            <a:r>
              <a:rPr cap="none" sz="1200">
                <a:solidFill>
                  <a:srgbClr val="142C46"/>
                </a:solidFill>
                <a:latin typeface="Consolas"/>
              </a:rPr>
              <a:t>    resource:</a:t>
            </a:r>
            <a:br/>
            <a:r>
              <a:rPr cap="none" sz="1200">
                <a:solidFill>
                  <a:srgbClr val="142C46"/>
                </a:solidFill>
                <a:latin typeface="Consolas"/>
              </a:rPr>
              <a:t>      instanceType: Standard_NC24ads_A100_v4   # &lt;- GPU SKU</a:t>
            </a:r>
            <a:br/>
            <a:r>
              <a:rPr cap="none" sz="1200">
                <a:solidFill>
                  <a:srgbClr val="142C46"/>
                </a:solidFill>
                <a:latin typeface="Consolas"/>
              </a:rPr>
              <a:t>    inference:</a:t>
            </a:r>
            <a:br/>
            <a:r>
              <a:rPr cap="none" sz="1200">
                <a:solidFill>
                  <a:srgbClr val="142C46"/>
                </a:solidFill>
                <a:latin typeface="Consolas"/>
              </a:rPr>
              <a:t>      preset:</a:t>
            </a:r>
            <a:br/>
            <a:r>
              <a:rPr cap="none" sz="1200">
                <a:solidFill>
                  <a:srgbClr val="142C46"/>
                </a:solidFill>
                <a:latin typeface="Consolas"/>
              </a:rPr>
              <a:t>        name: Qwen/Qwen3-Coder-30B-A3B-Instruct  # model</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19 / 49</a:t>
            </a:r>
          </a:p>
        </p:txBody>
      </p:sp>
    </p:spTree>
    <p:extLst>
      <p:ext uri="{BB962C8B-B14F-4D97-AF65-F5344CB8AC3E}">
        <p14:creationId xmlns:p14="http://schemas.microsoft.com/office/powerpoint/2010/main" val="17304667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How KAITO estimates GPU node count</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Model size, context length and GPU memory determine the initial capacity</a:t>
            </a:r>
          </a:p>
        </p:txBody>
      </p:sp>
      <p:sp>
        <p:nvSpPr>
          <p:cNvPr id="4" name="Rounded Rectangle 3"/>
          <p:cNvSpPr/>
          <p:nvPr/>
        </p:nvSpPr>
        <p:spPr>
          <a:xfrm>
            <a:off x="411480"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28216"/>
            <a:ext cx="2249424"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1  Memory budget</a:t>
            </a:r>
          </a:p>
        </p:txBody>
      </p:sp>
      <p:sp>
        <p:nvSpPr>
          <p:cNvPr id="6" name="TextBox 5"/>
          <p:cNvSpPr txBox="1"/>
          <p:nvPr/>
        </p:nvSpPr>
        <p:spPr>
          <a:xfrm>
            <a:off x="576072"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Start with GPU memory.</a:t>
            </a:r>
          </a:p>
          <a:p>
            <a:pPr>
              <a:spcAft>
                <a:spcPts val="500"/>
              </a:spcAft>
              <a:defRPr sz="1500" b="0">
                <a:solidFill>
                  <a:srgbClr val="142C46"/>
                </a:solidFill>
                <a:latin typeface="Arial"/>
              </a:defRPr>
            </a:pPr>
            <a:r>
              <a:rPr cap="none"/>
              <a:t>Reserve runtime overhead</a:t>
            </a:r>
          </a:p>
          <a:p>
            <a:pPr>
              <a:spcAft>
                <a:spcPts val="500"/>
              </a:spcAft>
              <a:defRPr sz="1500" b="0">
                <a:solidFill>
                  <a:srgbClr val="142C46"/>
                </a:solidFill>
                <a:latin typeface="Arial"/>
              </a:defRPr>
            </a:pPr>
            <a:r>
              <a:rPr cap="none"/>
              <a:t>and space for KV cache.</a:t>
            </a:r>
          </a:p>
        </p:txBody>
      </p:sp>
      <p:sp>
        <p:nvSpPr>
          <p:cNvPr id="7" name="Rounded Rectangle 6"/>
          <p:cNvSpPr/>
          <p:nvPr/>
        </p:nvSpPr>
        <p:spPr>
          <a:xfrm>
            <a:off x="3282696"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7288" y="1728216"/>
            <a:ext cx="2249424"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2  GPU count</a:t>
            </a:r>
          </a:p>
        </p:txBody>
      </p:sp>
      <p:sp>
        <p:nvSpPr>
          <p:cNvPr id="9" name="TextBox 8"/>
          <p:cNvSpPr txBox="1"/>
          <p:nvPr/>
        </p:nvSpPr>
        <p:spPr>
          <a:xfrm>
            <a:off x="3447288"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Fit model weights into</a:t>
            </a:r>
          </a:p>
          <a:p>
            <a:pPr>
              <a:spcAft>
                <a:spcPts val="500"/>
              </a:spcAft>
              <a:defRPr sz="1500" b="0">
                <a:solidFill>
                  <a:srgbClr val="142C46"/>
                </a:solidFill>
                <a:latin typeface="Arial"/>
              </a:defRPr>
            </a:pPr>
            <a:r>
              <a:rPr cap="none"/>
              <a:t>the usable memory.</a:t>
            </a:r>
          </a:p>
          <a:p>
            <a:pPr>
              <a:spcAft>
                <a:spcPts val="500"/>
              </a:spcAft>
              <a:defRPr sz="1500" b="0">
                <a:solidFill>
                  <a:srgbClr val="142C46"/>
                </a:solidFill>
                <a:latin typeface="Arial"/>
              </a:defRPr>
            </a:pPr>
            <a:r>
              <a:rPr cap="none"/>
              <a:t>Account for parallelism.</a:t>
            </a:r>
          </a:p>
        </p:txBody>
      </p:sp>
      <p:sp>
        <p:nvSpPr>
          <p:cNvPr id="10" name="Rounded Rectangle 9"/>
          <p:cNvSpPr/>
          <p:nvPr/>
        </p:nvSpPr>
        <p:spPr>
          <a:xfrm>
            <a:off x="6153912" y="1572768"/>
            <a:ext cx="2578608" cy="230428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8504" y="1728216"/>
            <a:ext cx="2249424"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3  Node count</a:t>
            </a:r>
          </a:p>
        </p:txBody>
      </p:sp>
      <p:sp>
        <p:nvSpPr>
          <p:cNvPr id="12" name="TextBox 11"/>
          <p:cNvSpPr txBox="1"/>
          <p:nvPr/>
        </p:nvSpPr>
        <p:spPr>
          <a:xfrm>
            <a:off x="6318504" y="2203704"/>
            <a:ext cx="2249424" cy="1572768"/>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Map required GPUs to</a:t>
            </a:r>
          </a:p>
          <a:p>
            <a:pPr>
              <a:spcAft>
                <a:spcPts val="500"/>
              </a:spcAft>
              <a:defRPr sz="1500" b="0">
                <a:solidFill>
                  <a:srgbClr val="142C46"/>
                </a:solidFill>
                <a:latin typeface="Arial"/>
              </a:defRPr>
            </a:pPr>
            <a:r>
              <a:rPr cap="none"/>
              <a:t>GPUs per node.</a:t>
            </a:r>
          </a:p>
          <a:p>
            <a:pPr>
              <a:spcAft>
                <a:spcPts val="500"/>
              </a:spcAft>
              <a:defRPr sz="1500" b="0">
                <a:solidFill>
                  <a:srgbClr val="142C46"/>
                </a:solidFill>
                <a:latin typeface="Arial"/>
              </a:defRPr>
            </a:pPr>
            <a:r>
              <a:rPr cap="none"/>
              <a:t>Reconcile the workload.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The sizing formula and safety margins depend on the KAITO and runtime version.</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20 / 49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 llm-d: one service, two roles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Declare the topology once; separate orchestration from execution</a:t>
            </a:r>
          </a:p>
        </p:txBody>
      </p:sp>
      <p:sp>
        <p:nvSpPr>
          <p:cNvPr id="4" name="Rounded Rectangle 3"/>
          <p:cNvSpPr/>
          <p:nvPr/>
        </p:nvSpPr>
        <p:spPr>
          <a:xfrm>
            <a:off x="411480" y="1645920"/>
            <a:ext cx="3703320" cy="2331720"/>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801368"/>
            <a:ext cx="3374136"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One declarative topology</a:t>
            </a:r>
          </a:p>
        </p:txBody>
      </p:sp>
      <p:sp>
        <p:nvSpPr>
          <p:cNvPr id="6" name="TextBox 5"/>
          <p:cNvSpPr txBox="1"/>
          <p:nvPr/>
        </p:nvSpPr>
        <p:spPr>
          <a:xfrm>
            <a:off x="576072" y="2276856"/>
            <a:ext cx="3374136" cy="1600199"/>
          </a:xfrm>
          <a:prstGeom prst="rect">
            <a:avLst/>
          </a:prstGeom>
          <a:noFill/>
        </p:spPr>
        <p:txBody>
          <a:bodyPr wrap="square" lIns="0" rIns="0" tIns="0" bIns="0">
            <a:spAutoFit/>
          </a:bodyPr>
          <a:lstStyle/>
          <a:p>
            <a:pPr>
              <a:spcAft>
                <a:spcPts val="500"/>
              </a:spcAft>
              <a:defRPr sz="1600" b="0">
                <a:solidFill>
                  <a:srgbClr val="142C46"/>
                </a:solidFill>
                <a:latin typeface="Arial"/>
              </a:defRPr>
            </a:pPr>
            <a:r>
              <a:rPr cap="none"/>
              <a:t>One model and endpoint</a:t>
            </a:r>
          </a:p>
          <a:p>
            <a:pPr>
              <a:spcAft>
                <a:spcPts val="500"/>
              </a:spcAft>
              <a:defRPr sz="1600" b="0">
                <a:solidFill>
                  <a:srgbClr val="142C46"/>
                </a:solidFill>
                <a:latin typeface="Arial"/>
              </a:defRPr>
            </a:pPr>
            <a:r>
              <a:rPr cap="none"/>
              <a:t>Independent prefill and decode roles</a:t>
            </a:r>
          </a:p>
          <a:p>
            <a:pPr>
              <a:spcAft>
                <a:spcPts val="500"/>
              </a:spcAft>
              <a:defRPr sz="1600" b="0">
                <a:solidFill>
                  <a:srgbClr val="142C46"/>
                </a:solidFill>
                <a:latin typeface="Arial"/>
              </a:defRPr>
            </a:pPr>
            <a:r>
              <a:rPr cap="none"/>
              <a:t>Role-specific placement and replicas</a:t>
            </a:r>
          </a:p>
        </p:txBody>
      </p:sp>
      <p:sp>
        <p:nvSpPr>
          <p:cNvPr id="7" name="Rounded Rectangle 6"/>
          <p:cNvSpPr/>
          <p:nvPr/>
        </p:nvSpPr>
        <p:spPr>
          <a:xfrm>
            <a:off x="4434840" y="1554480"/>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0288" y="1609344"/>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KAITO</a:t>
            </a:r>
          </a:p>
        </p:txBody>
      </p:sp>
      <p:sp>
        <p:nvSpPr>
          <p:cNvPr id="9" name="TextBox 8"/>
          <p:cNvSpPr txBox="1"/>
          <p:nvPr/>
        </p:nvSpPr>
        <p:spPr>
          <a:xfrm>
            <a:off x="4590288" y="1847088"/>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MultiRoleInference and lifecycle</a:t>
            </a:r>
          </a:p>
        </p:txBody>
      </p:sp>
      <p:sp>
        <p:nvSpPr>
          <p:cNvPr id="10" name="Rounded Rectangle 9"/>
          <p:cNvSpPr/>
          <p:nvPr/>
        </p:nvSpPr>
        <p:spPr>
          <a:xfrm>
            <a:off x="4434840" y="2212848"/>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2267712"/>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Gateway integration</a:t>
            </a:r>
          </a:p>
        </p:txBody>
      </p:sp>
      <p:sp>
        <p:nvSpPr>
          <p:cNvPr id="12" name="TextBox 11"/>
          <p:cNvSpPr txBox="1"/>
          <p:nvPr/>
        </p:nvSpPr>
        <p:spPr>
          <a:xfrm>
            <a:off x="4590288" y="2505456"/>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InferencePool contract</a:t>
            </a:r>
          </a:p>
        </p:txBody>
      </p:sp>
      <p:sp>
        <p:nvSpPr>
          <p:cNvPr id="13" name="Rounded Rectangle 12"/>
          <p:cNvSpPr/>
          <p:nvPr/>
        </p:nvSpPr>
        <p:spPr>
          <a:xfrm>
            <a:off x="4434840" y="2871215"/>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926079"/>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llm-d</a:t>
            </a:r>
          </a:p>
        </p:txBody>
      </p:sp>
      <p:sp>
        <p:nvSpPr>
          <p:cNvPr id="15" name="TextBox 14"/>
          <p:cNvSpPr txBox="1"/>
          <p:nvPr/>
        </p:nvSpPr>
        <p:spPr>
          <a:xfrm>
            <a:off x="4590288" y="3163823"/>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Endpoint selection and sidecar</a:t>
            </a:r>
          </a:p>
        </p:txBody>
      </p:sp>
      <p:sp>
        <p:nvSpPr>
          <p:cNvPr id="16" name="Rounded Rectangle 15"/>
          <p:cNvSpPr/>
          <p:nvPr/>
        </p:nvSpPr>
        <p:spPr>
          <a:xfrm>
            <a:off x="4434840" y="3529584"/>
            <a:ext cx="4279392" cy="53949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3584448"/>
            <a:ext cx="3931920" cy="210312"/>
          </a:xfrm>
          <a:prstGeom prst="rect">
            <a:avLst/>
          </a:prstGeom>
          <a:noFill/>
        </p:spPr>
        <p:txBody>
          <a:bodyPr wrap="square" lIns="0" rIns="0" tIns="0" bIns="0">
            <a:spAutoFit/>
          </a:bodyPr>
          <a:lstStyle/>
          <a:p>
            <a:pPr>
              <a:spcAft>
                <a:spcPts val="500"/>
              </a:spcAft>
              <a:defRPr sz="1300" b="1">
                <a:solidFill>
                  <a:srgbClr val="168C96"/>
                </a:solidFill>
                <a:latin typeface="Arial"/>
              </a:defRPr>
            </a:pPr>
            <a:r>
              <a:rPr cap="none"/>
              <a:t>vLLM + NIXL</a:t>
            </a:r>
          </a:p>
        </p:txBody>
      </p:sp>
      <p:sp>
        <p:nvSpPr>
          <p:cNvPr id="18" name="TextBox 17"/>
          <p:cNvSpPr txBox="1"/>
          <p:nvPr/>
        </p:nvSpPr>
        <p:spPr>
          <a:xfrm>
            <a:off x="4590288" y="3822192"/>
            <a:ext cx="3931920" cy="192024"/>
          </a:xfrm>
          <a:prstGeom prst="rect">
            <a:avLst/>
          </a:prstGeom>
          <a:noFill/>
        </p:spPr>
        <p:txBody>
          <a:bodyPr wrap="square" lIns="0" rIns="0" tIns="0" bIns="0">
            <a:spAutoFit/>
          </a:bodyPr>
          <a:lstStyle/>
          <a:p>
            <a:pPr>
              <a:spcAft>
                <a:spcPts val="500"/>
              </a:spcAft>
              <a:defRPr sz="1100" b="0">
                <a:solidFill>
                  <a:srgbClr val="142C46"/>
                </a:solidFill>
                <a:latin typeface="Arial"/>
              </a:defRPr>
            </a:pPr>
            <a:r>
              <a:rPr cap="none"/>
              <a:t>Execution and direct KV transfer</a:t>
            </a:r>
          </a:p>
        </p:txBody>
      </p:sp>
      <p:sp>
        <p:nvSpPr>
          <p:cNvPr id="19" name="Rounded Rectangle 18"/>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Declare topology → select workers → coordinate the request → transfer KV directly.</a:t>
            </a:r>
          </a:p>
        </p:txBody>
      </p:sp>
      <p:sp>
        <p:nvSpPr>
          <p:cNvPr id="21" name="TextBox 2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2" name="TextBox 2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23 / 49</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OUTING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ROUTING  /  KAITO + llm-d</a:t>
            </a:r>
          </a:p>
        </p:txBody>
      </p:sp>
      <p:sp>
        <p:nvSpPr>
          <p:cNvPr id="4" name="llm-d Router brings role-aware decision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llm-d Router brings role-aware decisions</a:t>
            </a:r>
          </a:p>
        </p:txBody>
      </p:sp>
      <p:sp>
        <p:nvSpPr>
          <p:cNvPr id="5" name="The Endpoint Picker selects workers; the serving path executes the decisi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Endpoint Picker selects workers; the serving path executes the decision.</a:t>
            </a:r>
          </a:p>
        </p:txBody>
      </p:sp>
      <p:sp>
        <p:nvSpPr>
          <p:cNvPr id="8" name="Panel 7"/>
          <p:cNvSpPr/>
          <p:nvPr/>
        </p:nvSpPr>
        <p:spPr>
          <a:xfrm>
            <a:off x="411480" y="1357884"/>
            <a:ext cx="8318754" cy="117957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Gateway"/>
          <p:cNvSpPr/>
          <p:nvPr/>
        </p:nvSpPr>
        <p:spPr>
          <a:xfrm>
            <a:off x="617220" y="1591056"/>
            <a:ext cx="1440180" cy="70637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GWIE integration</a:t>
            </a:r>
          </a:p>
        </p:txBody>
      </p:sp>
      <p:sp>
        <p:nvSpPr>
          <p:cNvPr id="10" name="llm-d Router EPP"/>
          <p:cNvSpPr/>
          <p:nvPr/>
        </p:nvSpPr>
        <p:spPr>
          <a:xfrm>
            <a:off x="2811779" y="1536192"/>
            <a:ext cx="2263140" cy="80924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7150C8"/>
                </a:solidFill>
                <a:latin typeface="Arial"/>
              </a:defRPr>
            </a:pPr>
            <a:r>
              <a:rPr sz="1500" cap="none">
                <a:latin typeface="Arial"/>
              </a:rPr>
              <a:t>llm-d Router EPP</a:t>
            </a:r>
          </a:p>
          <a:p>
            <a:pPr algn="ctr">
              <a:spcBef>
                <a:spcPts val="225"/>
              </a:spcBef>
              <a:defRPr sz="1200" b="0">
                <a:solidFill>
                  <a:srgbClr val="5B6E80"/>
                </a:solidFill>
                <a:latin typeface="Arial"/>
              </a:defRPr>
            </a:pPr>
            <a:r>
              <a:rPr sz="900" cap="none">
                <a:latin typeface="Arial"/>
              </a:rPr>
              <a:t>Endpoint selection + plugin chain</a:t>
            </a:r>
          </a:p>
        </p:txBody>
      </p:sp>
      <p:sp>
        <p:nvSpPr>
          <p:cNvPr id="11" name="Selected workers"/>
          <p:cNvSpPr/>
          <p:nvPr/>
        </p:nvSpPr>
        <p:spPr>
          <a:xfrm>
            <a:off x="5829300" y="1536192"/>
            <a:ext cx="2606040" cy="80924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087F82"/>
                </a:solidFill>
                <a:latin typeface="Arial"/>
              </a:defRPr>
            </a:pPr>
            <a:r>
              <a:rPr sz="1500" cap="none">
                <a:latin typeface="Arial"/>
              </a:rPr>
              <a:t>Selected workers</a:t>
            </a:r>
          </a:p>
          <a:p>
            <a:pPr algn="ctr">
              <a:spcBef>
                <a:spcPts val="225"/>
              </a:spcBef>
              <a:defRPr sz="1200" b="0">
                <a:solidFill>
                  <a:srgbClr val="5B6E80"/>
                </a:solidFill>
                <a:latin typeface="Arial"/>
              </a:defRPr>
            </a:pPr>
            <a:r>
              <a:rPr sz="900" cap="none">
                <a:latin typeface="Arial"/>
              </a:rPr>
              <a:t>Decode + optional prefill</a:t>
            </a:r>
          </a:p>
        </p:txBody>
      </p:sp>
      <p:cxnSp>
        <p:nvCxnSpPr>
          <p:cNvPr id="12" name="Gateway → llm-d Router EPP"/>
          <p:cNvCxnSpPr>
            <a:stCxn id="9" idx="3"/>
            <a:endCxn id="10" idx="1"/>
          </p:cNvCxnSpPr>
          <p:nvPr/>
        </p:nvCxnSpPr>
        <p:spPr>
          <a:xfrm flipV="1">
            <a:off x="2057401" y="1940814"/>
            <a:ext cx="754379" cy="3429"/>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3" name="llm-d Router EPP → Selected workers"/>
          <p:cNvCxnSpPr>
            <a:stCxn id="10" idx="3"/>
            <a:endCxn id="11" idx="1"/>
          </p:cNvCxnSpPr>
          <p:nvPr/>
        </p:nvCxnSpPr>
        <p:spPr>
          <a:xfrm flipV="1">
            <a:off x="5074920" y="1940814"/>
            <a:ext cx="754381"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4" name="pick request"/>
          <p:cNvSpPr txBox="1"/>
          <p:nvPr/>
        </p:nvSpPr>
        <p:spPr>
          <a:xfrm>
            <a:off x="205740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pick request</a:t>
            </a:r>
          </a:p>
        </p:txBody>
      </p:sp>
      <p:sp>
        <p:nvSpPr>
          <p:cNvPr id="15" name="decision"/>
          <p:cNvSpPr txBox="1"/>
          <p:nvPr/>
        </p:nvSpPr>
        <p:spPr>
          <a:xfrm>
            <a:off x="5109210" y="1385316"/>
            <a:ext cx="822960" cy="137160"/>
          </a:xfrm>
          <a:prstGeom prst="rect">
            <a:avLst/>
          </a:prstGeom>
          <a:noFill/>
        </p:spPr>
        <p:txBody>
          <a:bodyPr wrap="square" lIns="0" tIns="0" rIns="0" bIns="0" anchor="t">
            <a:noAutofit/>
          </a:bodyPr>
          <a:lstStyle/>
          <a:p>
            <a:pPr algn="ctr">
              <a:spcAft>
                <a:spcPts val="150"/>
              </a:spcAft>
              <a:defRPr sz="1000" b="0">
                <a:solidFill>
                  <a:srgbClr val="5B6E80"/>
                </a:solidFill>
                <a:latin typeface="Arial"/>
              </a:defRPr>
            </a:pPr>
            <a:r>
              <a:rPr sz="750" cap="none">
                <a:latin typeface="Arial"/>
              </a:rPr>
              <a:t>decision</a:t>
            </a:r>
          </a:p>
        </p:txBody>
      </p:sp>
      <p:sp>
        <p:nvSpPr>
          <p:cNvPr id="16" name="Step 01"/>
          <p:cNvSpPr/>
          <p:nvPr/>
        </p:nvSpPr>
        <p:spPr>
          <a:xfrm>
            <a:off x="548640" y="2866644"/>
            <a:ext cx="198882" cy="198882"/>
          </a:xfrm>
          <a:prstGeom prst="ellipse">
            <a:avLst/>
          </a:prstGeom>
          <a:solidFill>
            <a:srgbClr val="2463D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01</a:t>
            </a:r>
          </a:p>
        </p:txBody>
      </p:sp>
      <p:sp>
        <p:nvSpPr>
          <p:cNvPr id="17" name="Select by role"/>
          <p:cNvSpPr txBox="1"/>
          <p:nvPr/>
        </p:nvSpPr>
        <p:spPr>
          <a:xfrm>
            <a:off x="83667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Select by role</a:t>
            </a:r>
          </a:p>
        </p:txBody>
      </p:sp>
      <p:sp>
        <p:nvSpPr>
          <p:cNvPr id="18" name="Model-aware selection / across prefill and decode."/>
          <p:cNvSpPr txBox="1"/>
          <p:nvPr/>
        </p:nvSpPr>
        <p:spPr>
          <a:xfrm>
            <a:off x="83667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Model-aware selection</a:t>
            </a:r>
          </a:p>
          <a:p>
            <a:pPr>
              <a:spcAft>
                <a:spcPts val="150"/>
              </a:spcAft>
              <a:defRPr sz="1600" b="0">
                <a:solidFill>
                  <a:srgbClr val="5B6E80"/>
                </a:solidFill>
                <a:latin typeface="Arial"/>
              </a:defRPr>
            </a:pPr>
            <a:r>
              <a:rPr sz="1200" cap="none">
                <a:latin typeface="Arial"/>
              </a:rPr>
              <a:t>across prefill and decode.</a:t>
            </a:r>
          </a:p>
        </p:txBody>
      </p:sp>
      <p:sp>
        <p:nvSpPr>
          <p:cNvPr id="19" name="Step 02"/>
          <p:cNvSpPr/>
          <p:nvPr/>
        </p:nvSpPr>
        <p:spPr>
          <a:xfrm>
            <a:off x="3394710" y="2866644"/>
            <a:ext cx="198882" cy="198882"/>
          </a:xfrm>
          <a:prstGeom prst="ellipse">
            <a:avLst/>
          </a:prstGeom>
          <a:solidFill>
            <a:srgbClr val="7150C8"/>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02</a:t>
            </a:r>
          </a:p>
        </p:txBody>
      </p:sp>
      <p:sp>
        <p:nvSpPr>
          <p:cNvPr id="20" name="Compose plugins"/>
          <p:cNvSpPr txBox="1"/>
          <p:nvPr/>
        </p:nvSpPr>
        <p:spPr>
          <a:xfrm>
            <a:off x="3682746" y="2846070"/>
            <a:ext cx="218084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Compose plugins</a:t>
            </a:r>
          </a:p>
        </p:txBody>
      </p:sp>
      <p:sp>
        <p:nvSpPr>
          <p:cNvPr id="21" name="KV-cache-aware logic / and P/D-aware scheduling."/>
          <p:cNvSpPr txBox="1"/>
          <p:nvPr/>
        </p:nvSpPr>
        <p:spPr>
          <a:xfrm>
            <a:off x="3682746" y="3182112"/>
            <a:ext cx="218084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KV-cache-aware logic</a:t>
            </a:r>
          </a:p>
          <a:p>
            <a:pPr>
              <a:spcAft>
                <a:spcPts val="150"/>
              </a:spcAft>
              <a:defRPr sz="1600" b="0">
                <a:solidFill>
                  <a:srgbClr val="5B6E80"/>
                </a:solidFill>
                <a:latin typeface="Arial"/>
              </a:defRPr>
            </a:pPr>
            <a:r>
              <a:rPr sz="1200" cap="none">
                <a:latin typeface="Arial"/>
              </a:rPr>
              <a:t>and P/D-aware scheduling.</a:t>
            </a:r>
          </a:p>
        </p:txBody>
      </p:sp>
      <p:sp>
        <p:nvSpPr>
          <p:cNvPr id="22" name="Step 03"/>
          <p:cNvSpPr/>
          <p:nvPr/>
        </p:nvSpPr>
        <p:spPr>
          <a:xfrm>
            <a:off x="6185916" y="2866644"/>
            <a:ext cx="198882" cy="198882"/>
          </a:xfrm>
          <a:prstGeom prst="ellipse">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1000" b="1">
                <a:solidFill>
                  <a:srgbClr val="FFFFFF"/>
                </a:solidFill>
                <a:latin typeface="Arial"/>
              </a:defRPr>
            </a:pPr>
            <a:r>
              <a:rPr sz="750" cap="none">
                <a:latin typeface="Arial"/>
              </a:rPr>
              <a:t>03</a:t>
            </a:r>
          </a:p>
        </p:txBody>
      </p:sp>
      <p:sp>
        <p:nvSpPr>
          <p:cNvPr id="23" name="Extend scheduling"/>
          <p:cNvSpPr txBox="1"/>
          <p:nvPr/>
        </p:nvSpPr>
        <p:spPr>
          <a:xfrm>
            <a:off x="6473952" y="2846070"/>
            <a:ext cx="2043684" cy="253746"/>
          </a:xfrm>
          <a:prstGeom prst="rect">
            <a:avLst/>
          </a:prstGeom>
          <a:noFill/>
        </p:spPr>
        <p:txBody>
          <a:bodyPr wrap="square" lIns="0" tIns="0" rIns="0" bIns="0" anchor="t">
            <a:noAutofit/>
          </a:bodyPr>
          <a:lstStyle/>
          <a:p>
            <a:pPr>
              <a:spcAft>
                <a:spcPts val="300"/>
              </a:spcAft>
              <a:defRPr sz="1800" b="1">
                <a:solidFill>
                  <a:srgbClr val="10243A"/>
                </a:solidFill>
                <a:latin typeface="Arial"/>
              </a:defRPr>
            </a:pPr>
            <a:r>
              <a:rPr sz="1350" cap="none">
                <a:latin typeface="Arial"/>
              </a:rPr>
              <a:t>Extend scheduling</a:t>
            </a:r>
          </a:p>
        </p:txBody>
      </p:sp>
      <p:sp>
        <p:nvSpPr>
          <p:cNvPr id="24" name="A plugin surface for / future scheduling policy."/>
          <p:cNvSpPr txBox="1"/>
          <p:nvPr/>
        </p:nvSpPr>
        <p:spPr>
          <a:xfrm>
            <a:off x="6473952" y="3182112"/>
            <a:ext cx="2043684" cy="672084"/>
          </a:xfrm>
          <a:prstGeom prst="rect">
            <a:avLst/>
          </a:prstGeom>
          <a:noFill/>
        </p:spPr>
        <p:txBody>
          <a:bodyPr wrap="square" lIns="0" tIns="0" rIns="0" bIns="0" anchor="t">
            <a:noAutofit/>
          </a:bodyPr>
          <a:lstStyle/>
          <a:p>
            <a:pPr>
              <a:spcAft>
                <a:spcPts val="150"/>
              </a:spcAft>
              <a:defRPr sz="1600" b="0">
                <a:solidFill>
                  <a:srgbClr val="5B6E80"/>
                </a:solidFill>
                <a:latin typeface="Arial"/>
              </a:defRPr>
            </a:pPr>
            <a:r>
              <a:rPr sz="1200" cap="none">
                <a:latin typeface="Arial"/>
              </a:rPr>
              <a:t>A plugin surface for</a:t>
            </a:r>
          </a:p>
          <a:p>
            <a:pPr>
              <a:spcAft>
                <a:spcPts val="150"/>
              </a:spcAft>
              <a:defRPr sz="1600" b="0">
                <a:solidFill>
                  <a:srgbClr val="5B6E80"/>
                </a:solidFill>
                <a:latin typeface="Arial"/>
              </a:defRPr>
            </a:pPr>
            <a:r>
              <a:rPr sz="1200" cap="none">
                <a:latin typeface="Arial"/>
              </a:rPr>
              <a:t>future scheduling policy.</a:t>
            </a:r>
          </a:p>
        </p:txBody>
      </p:sp>
      <p:sp>
        <p:nvSpPr>
          <p:cNvPr id="25" name="Panel 24"/>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Panel 25"/>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KAITO builds on llm-d’s routing intelligence — it does not invent a second routi"/>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builds on llm-d’s routing intelligence — it does not invent a second routing engine.</a:t>
            </a:r>
          </a:p>
        </p:txBody>
      </p:sp>
      <p:sp>
        <p:nvSpPr>
          <p:cNvPr id="28" name="TextBox 27"/>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9" name="TextBox 28"/>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24 / 49</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SPONSIBILITIES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RESPONSIBILITIES  /  KAITO + llm-d</a:t>
            </a:r>
          </a:p>
        </p:txBody>
      </p:sp>
      <p:sp>
        <p:nvSpPr>
          <p:cNvPr id="4" name="Three layers. Three clear responsibilitie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Three layers. Three clear responsibilities.</a:t>
            </a:r>
          </a:p>
        </p:txBody>
      </p:sp>
      <p:sp>
        <p:nvSpPr>
          <p:cNvPr id="5" name="The InferencePool contract connects platform orchestration to routing."/>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The InferencePool contract connects platform orchestration to routing.</a:t>
            </a:r>
          </a:p>
        </p:txBody>
      </p:sp>
      <p:sp>
        <p:nvSpPr>
          <p:cNvPr id="8" name="Panel 7"/>
          <p:cNvSpPr/>
          <p:nvPr/>
        </p:nvSpPr>
        <p:spPr>
          <a:xfrm>
            <a:off x="411480" y="1378457"/>
            <a:ext cx="8318754" cy="76809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KAITO"/>
          <p:cNvSpPr txBox="1"/>
          <p:nvPr/>
        </p:nvSpPr>
        <p:spPr>
          <a:xfrm>
            <a:off x="589788" y="1501902"/>
            <a:ext cx="1851660" cy="260604"/>
          </a:xfrm>
          <a:prstGeom prst="rect">
            <a:avLst/>
          </a:prstGeom>
          <a:noFill/>
        </p:spPr>
        <p:txBody>
          <a:bodyPr wrap="square" lIns="0" tIns="0" rIns="0" bIns="0" anchor="t">
            <a:noAutofit/>
          </a:bodyPr>
          <a:lstStyle/>
          <a:p>
            <a:pPr>
              <a:spcAft>
                <a:spcPts val="300"/>
              </a:spcAft>
              <a:defRPr sz="2300" b="1">
                <a:solidFill>
                  <a:srgbClr val="7150C8"/>
                </a:solidFill>
                <a:latin typeface="Arial"/>
              </a:defRPr>
            </a:pPr>
            <a:r>
              <a:rPr sz="1725" cap="none">
                <a:latin typeface="Arial"/>
              </a:rPr>
              <a:t>KAITO</a:t>
            </a:r>
          </a:p>
        </p:txBody>
      </p:sp>
      <p:sp>
        <p:nvSpPr>
          <p:cNvPr id="10" name="DECLARE + RECONCILE"/>
          <p:cNvSpPr txBox="1"/>
          <p:nvPr/>
        </p:nvSpPr>
        <p:spPr>
          <a:xfrm>
            <a:off x="603504" y="1858518"/>
            <a:ext cx="185166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Declare + reconcile</a:t>
            </a:r>
          </a:p>
        </p:txBody>
      </p:sp>
      <p:cxnSp>
        <p:nvCxnSpPr>
          <p:cNvPr id="11" name="Connector"/>
          <p:cNvCxnSpPr/>
          <p:nvPr/>
        </p:nvCxnSpPr>
        <p:spPr>
          <a:xfrm>
            <a:off x="2619756" y="1515619"/>
            <a:ext cx="0" cy="493775"/>
          </a:xfrm>
          <a:prstGeom prst="line">
            <a:avLst/>
          </a:prstGeom>
          <a:ln w="12700">
            <a:solidFill>
              <a:srgbClr val="7150C8"/>
            </a:solidFill>
          </a:ln>
        </p:spPr>
        <p:style>
          <a:lnRef idx="2">
            <a:schemeClr val="accent1"/>
          </a:lnRef>
          <a:fillRef idx="0">
            <a:schemeClr val="accent1"/>
          </a:fillRef>
          <a:effectRef idx="1">
            <a:schemeClr val="accent1"/>
          </a:effectRef>
          <a:fontRef idx="minor">
            <a:schemeClr val="tx1"/>
          </a:fontRef>
        </p:style>
      </p:cxnSp>
      <p:sp>
        <p:nvSpPr>
          <p:cNvPr id="12" name="MultiRoleInference → role topology"/>
          <p:cNvSpPr txBox="1"/>
          <p:nvPr/>
        </p:nvSpPr>
        <p:spPr>
          <a:xfrm>
            <a:off x="2825497" y="150190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MultiRoleInference → role topology</a:t>
            </a:r>
          </a:p>
        </p:txBody>
      </p:sp>
      <p:sp>
        <p:nvSpPr>
          <p:cNvPr id="13" name="Resource generation • ownership • lifecycle"/>
          <p:cNvSpPr txBox="1"/>
          <p:nvPr/>
        </p:nvSpPr>
        <p:spPr>
          <a:xfrm>
            <a:off x="2839211" y="184480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Resource generation • ownership • lifecycle</a:t>
            </a:r>
          </a:p>
        </p:txBody>
      </p:sp>
      <p:sp>
        <p:nvSpPr>
          <p:cNvPr id="14" name="Panel 13"/>
          <p:cNvSpPr/>
          <p:nvPr/>
        </p:nvSpPr>
        <p:spPr>
          <a:xfrm>
            <a:off x="411480" y="2304288"/>
            <a:ext cx="8318754"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GWIE"/>
          <p:cNvSpPr txBox="1"/>
          <p:nvPr/>
        </p:nvSpPr>
        <p:spPr>
          <a:xfrm>
            <a:off x="589788" y="2427732"/>
            <a:ext cx="1851660" cy="260604"/>
          </a:xfrm>
          <a:prstGeom prst="rect">
            <a:avLst/>
          </a:prstGeom>
          <a:noFill/>
        </p:spPr>
        <p:txBody>
          <a:bodyPr wrap="square" lIns="0" tIns="0" rIns="0" bIns="0" anchor="t">
            <a:noAutofit/>
          </a:bodyPr>
          <a:lstStyle/>
          <a:p>
            <a:pPr>
              <a:spcAft>
                <a:spcPts val="300"/>
              </a:spcAft>
              <a:defRPr sz="2300" b="1">
                <a:solidFill>
                  <a:srgbClr val="2463D4"/>
                </a:solidFill>
                <a:latin typeface="Arial"/>
              </a:defRPr>
            </a:pPr>
            <a:r>
              <a:rPr sz="1725" cap="none">
                <a:latin typeface="Arial"/>
              </a:rPr>
              <a:t>GWIE</a:t>
            </a:r>
          </a:p>
        </p:txBody>
      </p:sp>
      <p:sp>
        <p:nvSpPr>
          <p:cNvPr id="16" name="DEFINE THE CONTRACT"/>
          <p:cNvSpPr txBox="1"/>
          <p:nvPr/>
        </p:nvSpPr>
        <p:spPr>
          <a:xfrm>
            <a:off x="603504" y="2784347"/>
            <a:ext cx="1851660" cy="123444"/>
          </a:xfrm>
          <a:prstGeom prst="rect">
            <a:avLst/>
          </a:prstGeom>
          <a:noFill/>
        </p:spPr>
        <p:txBody>
          <a:bodyPr wrap="square" lIns="0" tIns="0" rIns="0" bIns="0" anchor="t">
            <a:noAutofit/>
          </a:bodyPr>
          <a:lstStyle/>
          <a:p>
            <a:pPr>
              <a:spcAft>
                <a:spcPts val="150"/>
              </a:spcAft>
              <a:defRPr sz="1000" b="1">
                <a:solidFill>
                  <a:srgbClr val="2463D4"/>
                </a:solidFill>
                <a:latin typeface="Arial"/>
              </a:defRPr>
            </a:pPr>
            <a:r>
              <a:rPr sz="750" cap="none">
                <a:latin typeface="Arial"/>
              </a:rPr>
              <a:t>Define the contract</a:t>
            </a:r>
          </a:p>
        </p:txBody>
      </p:sp>
      <p:cxnSp>
        <p:nvCxnSpPr>
          <p:cNvPr id="17" name="Connector"/>
          <p:cNvCxnSpPr/>
          <p:nvPr/>
        </p:nvCxnSpPr>
        <p:spPr>
          <a:xfrm>
            <a:off x="2619756" y="2441448"/>
            <a:ext cx="0" cy="493776"/>
          </a:xfrm>
          <a:prstGeom prst="line">
            <a:avLst/>
          </a:prstGeom>
          <a:ln w="12700">
            <a:solidFill>
              <a:srgbClr val="2463D4"/>
            </a:solidFill>
          </a:ln>
        </p:spPr>
        <p:style>
          <a:lnRef idx="2">
            <a:schemeClr val="accent1"/>
          </a:lnRef>
          <a:fillRef idx="0">
            <a:schemeClr val="accent1"/>
          </a:fillRef>
          <a:effectRef idx="1">
            <a:schemeClr val="accent1"/>
          </a:effectRef>
          <a:fontRef idx="minor">
            <a:schemeClr val="tx1"/>
          </a:fontRef>
        </p:style>
      </p:cxnSp>
      <p:sp>
        <p:nvSpPr>
          <p:cNvPr id="18" name="InferencePool + gateway integration"/>
          <p:cNvSpPr txBox="1"/>
          <p:nvPr/>
        </p:nvSpPr>
        <p:spPr>
          <a:xfrm>
            <a:off x="2825497" y="242773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InferencePool + gateway integration</a:t>
            </a:r>
          </a:p>
        </p:txBody>
      </p:sp>
      <p:sp>
        <p:nvSpPr>
          <p:cNvPr id="19" name="Kubernetes API surface • backend discovery"/>
          <p:cNvSpPr txBox="1"/>
          <p:nvPr/>
        </p:nvSpPr>
        <p:spPr>
          <a:xfrm>
            <a:off x="2839211" y="277063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Kubernetes API surface • backend discovery</a:t>
            </a:r>
          </a:p>
        </p:txBody>
      </p:sp>
      <p:sp>
        <p:nvSpPr>
          <p:cNvPr id="20" name="Panel 19"/>
          <p:cNvSpPr/>
          <p:nvPr/>
        </p:nvSpPr>
        <p:spPr>
          <a:xfrm>
            <a:off x="411480" y="3230118"/>
            <a:ext cx="8318754"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llm-d Router"/>
          <p:cNvSpPr txBox="1"/>
          <p:nvPr/>
        </p:nvSpPr>
        <p:spPr>
          <a:xfrm>
            <a:off x="589788" y="3353562"/>
            <a:ext cx="1851660" cy="260604"/>
          </a:xfrm>
          <a:prstGeom prst="rect">
            <a:avLst/>
          </a:prstGeom>
          <a:noFill/>
        </p:spPr>
        <p:txBody>
          <a:bodyPr wrap="square" lIns="0" tIns="0" rIns="0" bIns="0" anchor="t">
            <a:noAutofit/>
          </a:bodyPr>
          <a:lstStyle/>
          <a:p>
            <a:pPr>
              <a:spcAft>
                <a:spcPts val="300"/>
              </a:spcAft>
              <a:defRPr sz="2300" b="1">
                <a:solidFill>
                  <a:srgbClr val="087F82"/>
                </a:solidFill>
                <a:latin typeface="Arial"/>
              </a:defRPr>
            </a:pPr>
            <a:r>
              <a:rPr sz="1725" cap="none">
                <a:latin typeface="Arial"/>
              </a:rPr>
              <a:t>llm-d Router</a:t>
            </a:r>
          </a:p>
        </p:txBody>
      </p:sp>
      <p:sp>
        <p:nvSpPr>
          <p:cNvPr id="22" name="SELECT ENDPOINTS"/>
          <p:cNvSpPr txBox="1"/>
          <p:nvPr/>
        </p:nvSpPr>
        <p:spPr>
          <a:xfrm>
            <a:off x="603504" y="3710178"/>
            <a:ext cx="1851660" cy="123444"/>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Select endpoints</a:t>
            </a:r>
          </a:p>
        </p:txBody>
      </p:sp>
      <p:cxnSp>
        <p:nvCxnSpPr>
          <p:cNvPr id="23" name="Connector"/>
          <p:cNvCxnSpPr/>
          <p:nvPr/>
        </p:nvCxnSpPr>
        <p:spPr>
          <a:xfrm>
            <a:off x="2619756" y="3367278"/>
            <a:ext cx="0" cy="493776"/>
          </a:xfrm>
          <a:prstGeom prst="line">
            <a:avLst/>
          </a:prstGeom>
          <a:ln w="12700">
            <a:solidFill>
              <a:srgbClr val="087F82"/>
            </a:solidFill>
          </a:ln>
        </p:spPr>
        <p:style>
          <a:lnRef idx="2">
            <a:schemeClr val="accent1"/>
          </a:lnRef>
          <a:fillRef idx="0">
            <a:schemeClr val="accent1"/>
          </a:fillRef>
          <a:effectRef idx="1">
            <a:schemeClr val="accent1"/>
          </a:effectRef>
          <a:fontRef idx="minor">
            <a:schemeClr val="tx1"/>
          </a:fontRef>
        </p:style>
      </p:cxnSp>
      <p:sp>
        <p:nvSpPr>
          <p:cNvPr id="24" name="EPP + P/D-aware scheduling"/>
          <p:cNvSpPr txBox="1"/>
          <p:nvPr/>
        </p:nvSpPr>
        <p:spPr>
          <a:xfrm>
            <a:off x="2825497" y="3353562"/>
            <a:ext cx="5623559" cy="240030"/>
          </a:xfrm>
          <a:prstGeom prst="rect">
            <a:avLst/>
          </a:prstGeom>
          <a:noFill/>
        </p:spPr>
        <p:txBody>
          <a:bodyPr wrap="square" lIns="0" tIns="0" rIns="0" bIns="0" anchor="t">
            <a:noAutofit/>
          </a:bodyPr>
          <a:lstStyle/>
          <a:p>
            <a:pPr>
              <a:spcAft>
                <a:spcPts val="300"/>
              </a:spcAft>
              <a:defRPr sz="2100" b="1">
                <a:solidFill>
                  <a:srgbClr val="10243A"/>
                </a:solidFill>
                <a:latin typeface="Arial"/>
              </a:defRPr>
            </a:pPr>
            <a:r>
              <a:rPr sz="1575" cap="none">
                <a:latin typeface="Arial"/>
              </a:rPr>
              <a:t>EPP + P/D-aware scheduling</a:t>
            </a:r>
          </a:p>
        </p:txBody>
      </p:sp>
      <p:sp>
        <p:nvSpPr>
          <p:cNvPr id="25" name="Endpoint picking • role-aware routing decisions"/>
          <p:cNvSpPr txBox="1"/>
          <p:nvPr/>
        </p:nvSpPr>
        <p:spPr>
          <a:xfrm>
            <a:off x="2839211" y="3696462"/>
            <a:ext cx="5486400" cy="171450"/>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125" cap="none">
                <a:latin typeface="Arial"/>
              </a:rPr>
              <a:t>Endpoint picking • role-aware routing decisions</a:t>
            </a:r>
          </a:p>
        </p:txBody>
      </p:sp>
      <p:sp>
        <p:nvSpPr>
          <p:cNvPr id="26" name="Panel 25"/>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Panel 26"/>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KAITO owns the topology. GWIE defines the contract. llm-d Router makes the sele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KAITO owns the topology. GWIE defines the contract. llm-d Router makes the selection.</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25 / 49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ARCHITECTUR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ARCHITECTURE  /  KAITO + llm-d</a:t>
            </a:r>
          </a:p>
        </p:txBody>
      </p:sp>
      <p:sp>
        <p:nvSpPr>
          <p:cNvPr id="4" name="One endpoint. Separate control, request and KV paths."/>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One endpoint, three separate paths</a:t>
            </a:r>
          </a:p>
        </p:txBody>
      </p:sp>
      <p:sp>
        <p:nvSpPr>
          <p:cNvPr id="5" name="Read the serving path left to right; endpoint selection is an out-of-band decis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Read the serving path left to right; endpoint selection is an out-of-band decision.</a:t>
            </a:r>
          </a:p>
        </p:txBody>
      </p:sp>
      <p:sp>
        <p:nvSpPr>
          <p:cNvPr id="8" name="Panel 7"/>
          <p:cNvSpPr/>
          <p:nvPr/>
        </p:nvSpPr>
        <p:spPr>
          <a:xfrm>
            <a:off x="411480" y="1357884"/>
            <a:ext cx="8318754" cy="740664"/>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CONTROL PLANE"/>
          <p:cNvSpPr txBox="1"/>
          <p:nvPr/>
        </p:nvSpPr>
        <p:spPr>
          <a:xfrm>
            <a:off x="541782" y="1426464"/>
            <a:ext cx="1577340" cy="123444"/>
          </a:xfrm>
          <a:prstGeom prst="rect">
            <a:avLst/>
          </a:prstGeom>
          <a:noFill/>
        </p:spPr>
        <p:txBody>
          <a:bodyPr wrap="square" lIns="0" tIns="0" rIns="0" bIns="0" anchor="t">
            <a:noAutofit/>
          </a:bodyPr>
          <a:lstStyle/>
          <a:p>
            <a:pPr>
              <a:spcAft>
                <a:spcPts val="150"/>
              </a:spcAft>
              <a:defRPr sz="1000" b="1">
                <a:solidFill>
                  <a:srgbClr val="7150C8"/>
                </a:solidFill>
                <a:latin typeface="Arial"/>
              </a:defRPr>
            </a:pPr>
            <a:r>
              <a:rPr sz="750" cap="none">
                <a:latin typeface="Arial"/>
              </a:rPr>
              <a:t>Control plane</a:t>
            </a:r>
          </a:p>
        </p:txBody>
      </p:sp>
      <p:sp>
        <p:nvSpPr>
          <p:cNvPr id="10" name="MultiRoleInference"/>
          <p:cNvSpPr/>
          <p:nvPr/>
        </p:nvSpPr>
        <p:spPr>
          <a:xfrm>
            <a:off x="548640" y="1604772"/>
            <a:ext cx="181737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MultiRoleInference</a:t>
            </a:r>
          </a:p>
        </p:txBody>
      </p:sp>
      <p:sp>
        <p:nvSpPr>
          <p:cNvPr id="11" name="KAITO controller"/>
          <p:cNvSpPr/>
          <p:nvPr/>
        </p:nvSpPr>
        <p:spPr>
          <a:xfrm>
            <a:off x="2777490" y="1604772"/>
            <a:ext cx="178308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KAITO controller</a:t>
            </a:r>
          </a:p>
        </p:txBody>
      </p:sp>
      <p:sp>
        <p:nvSpPr>
          <p:cNvPr id="12" name="Child InferenceSets + InferencePool + wiring"/>
          <p:cNvSpPr/>
          <p:nvPr/>
        </p:nvSpPr>
        <p:spPr>
          <a:xfrm>
            <a:off x="4985766" y="1604772"/>
            <a:ext cx="3566160" cy="356616"/>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7150C8"/>
                </a:solidFill>
                <a:latin typeface="Arial"/>
              </a:defRPr>
            </a:pPr>
            <a:r>
              <a:rPr sz="1050" cap="none">
                <a:latin typeface="Arial"/>
              </a:rPr>
              <a:t>Child InferenceSets + InferencePool + wiring</a:t>
            </a:r>
          </a:p>
        </p:txBody>
      </p:sp>
      <p:cxnSp>
        <p:nvCxnSpPr>
          <p:cNvPr id="13" name="MultiRoleInference → KAITO controller"/>
          <p:cNvCxnSpPr>
            <a:stCxn id="10" idx="3"/>
            <a:endCxn id="11" idx="1"/>
          </p:cNvCxnSpPr>
          <p:nvPr/>
        </p:nvCxnSpPr>
        <p:spPr>
          <a:xfrm flipV="1">
            <a:off x="2366010" y="1783080"/>
            <a:ext cx="411480"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14" name="KAITO controller → Child InferenceSets + InferencePool + wiring"/>
          <p:cNvCxnSpPr>
            <a:stCxn id="11" idx="3"/>
            <a:endCxn id="12" idx="1"/>
          </p:cNvCxnSpPr>
          <p:nvPr/>
        </p:nvCxnSpPr>
        <p:spPr>
          <a:xfrm flipV="1">
            <a:off x="4560570" y="1783080"/>
            <a:ext cx="425196" cy="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llm-d Router EPP"/>
          <p:cNvSpPr/>
          <p:nvPr/>
        </p:nvSpPr>
        <p:spPr>
          <a:xfrm>
            <a:off x="1543050" y="2276856"/>
            <a:ext cx="1680210" cy="445770"/>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7150C8"/>
                </a:solidFill>
                <a:latin typeface="Arial"/>
              </a:defRPr>
            </a:pPr>
            <a:r>
              <a:rPr sz="1125" cap="none">
                <a:latin typeface="Arial"/>
              </a:rPr>
              <a:t>llm-d Router EPP</a:t>
            </a:r>
          </a:p>
        </p:txBody>
      </p:sp>
      <p:sp>
        <p:nvSpPr>
          <p:cNvPr id="16" name="Prefill vLLM"/>
          <p:cNvSpPr/>
          <p:nvPr/>
        </p:nvSpPr>
        <p:spPr>
          <a:xfrm>
            <a:off x="4183380" y="2276856"/>
            <a:ext cx="1611630" cy="445770"/>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A85C05"/>
                </a:solidFill>
                <a:latin typeface="Arial"/>
              </a:defRPr>
            </a:pPr>
            <a:r>
              <a:rPr sz="1200" cap="none">
                <a:latin typeface="Arial"/>
              </a:rPr>
              <a:t>Prefill vLLM</a:t>
            </a:r>
          </a:p>
        </p:txBody>
      </p:sp>
      <p:sp>
        <p:nvSpPr>
          <p:cNvPr id="17" name="PREFILL INFERENCESET"/>
          <p:cNvSpPr txBox="1"/>
          <p:nvPr/>
        </p:nvSpPr>
        <p:spPr>
          <a:xfrm>
            <a:off x="4094226" y="2098548"/>
            <a:ext cx="1783080" cy="130302"/>
          </a:xfrm>
          <a:prstGeom prst="rect">
            <a:avLst/>
          </a:prstGeom>
          <a:noFill/>
        </p:spPr>
        <p:txBody>
          <a:bodyPr wrap="square" lIns="0" tIns="0" rIns="0" bIns="0" anchor="t">
            <a:noAutofit/>
          </a:bodyPr>
          <a:lstStyle/>
          <a:p>
            <a:pPr algn="ctr">
              <a:spcAft>
                <a:spcPts val="150"/>
              </a:spcAft>
              <a:defRPr sz="900" b="1">
                <a:solidFill>
                  <a:srgbClr val="A85C05"/>
                </a:solidFill>
                <a:latin typeface="Arial"/>
              </a:defRPr>
            </a:pPr>
            <a:r>
              <a:rPr sz="675" cap="none">
                <a:latin typeface="Arial"/>
              </a:rPr>
              <a:t>Prefill inferenceset</a:t>
            </a:r>
          </a:p>
        </p:txBody>
      </p:sp>
      <p:sp>
        <p:nvSpPr>
          <p:cNvPr id="18" name="Panel 17"/>
          <p:cNvSpPr/>
          <p:nvPr/>
        </p:nvSpPr>
        <p:spPr>
          <a:xfrm>
            <a:off x="4018788" y="2990088"/>
            <a:ext cx="4533138" cy="843534"/>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DECODE INFERENCESET  /  SELECTED DECODE POD"/>
          <p:cNvSpPr txBox="1"/>
          <p:nvPr/>
        </p:nvSpPr>
        <p:spPr>
          <a:xfrm>
            <a:off x="4149090" y="3051810"/>
            <a:ext cx="3977640" cy="130302"/>
          </a:xfrm>
          <a:prstGeom prst="rect">
            <a:avLst/>
          </a:prstGeom>
          <a:noFill/>
        </p:spPr>
        <p:txBody>
          <a:bodyPr wrap="square" lIns="0" tIns="0" rIns="0" bIns="0" anchor="t">
            <a:noAutofit/>
          </a:bodyPr>
          <a:lstStyle/>
          <a:p>
            <a:pPr>
              <a:spcAft>
                <a:spcPts val="150"/>
              </a:spcAft>
              <a:defRPr sz="900" b="1">
                <a:solidFill>
                  <a:srgbClr val="087F82"/>
                </a:solidFill>
                <a:latin typeface="Arial"/>
              </a:defRPr>
            </a:pPr>
            <a:r>
              <a:rPr sz="675" cap="none">
                <a:latin typeface="Arial"/>
              </a:rPr>
              <a:t>Decode inferenceset  /  selected decode pod</a:t>
            </a:r>
          </a:p>
        </p:txBody>
      </p:sp>
      <p:sp>
        <p:nvSpPr>
          <p:cNvPr id="20" name="Client"/>
          <p:cNvSpPr/>
          <p:nvPr/>
        </p:nvSpPr>
        <p:spPr>
          <a:xfrm>
            <a:off x="445770" y="3312414"/>
            <a:ext cx="802386"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Client</a:t>
            </a:r>
          </a:p>
        </p:txBody>
      </p:sp>
      <p:sp>
        <p:nvSpPr>
          <p:cNvPr id="21" name="Gateway"/>
          <p:cNvSpPr/>
          <p:nvPr/>
        </p:nvSpPr>
        <p:spPr>
          <a:xfrm>
            <a:off x="1543050" y="3312414"/>
            <a:ext cx="168021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600" b="1">
                <a:solidFill>
                  <a:srgbClr val="2463D4"/>
                </a:solidFill>
                <a:latin typeface="Arial"/>
              </a:defRPr>
            </a:pPr>
            <a:r>
              <a:rPr sz="1200" cap="none">
                <a:latin typeface="Arial"/>
              </a:rPr>
              <a:t>Gateway</a:t>
            </a:r>
          </a:p>
        </p:txBody>
      </p:sp>
      <p:sp>
        <p:nvSpPr>
          <p:cNvPr id="22" name="Routing sidecar"/>
          <p:cNvSpPr/>
          <p:nvPr/>
        </p:nvSpPr>
        <p:spPr>
          <a:xfrm>
            <a:off x="4183380" y="3312414"/>
            <a:ext cx="1611630" cy="44577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2463D4"/>
                </a:solidFill>
                <a:latin typeface="Arial"/>
              </a:defRPr>
            </a:pPr>
            <a:r>
              <a:rPr sz="1125" cap="none">
                <a:latin typeface="Arial"/>
              </a:rPr>
              <a:t>Routing sidecar</a:t>
            </a:r>
          </a:p>
        </p:txBody>
      </p:sp>
      <p:sp>
        <p:nvSpPr>
          <p:cNvPr id="23" name="Decode vLLM"/>
          <p:cNvSpPr/>
          <p:nvPr/>
        </p:nvSpPr>
        <p:spPr>
          <a:xfrm>
            <a:off x="6858000" y="3312414"/>
            <a:ext cx="1508760" cy="445770"/>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500" b="1">
                <a:solidFill>
                  <a:srgbClr val="087F82"/>
                </a:solidFill>
                <a:latin typeface="Arial"/>
              </a:defRPr>
            </a:pPr>
            <a:r>
              <a:rPr sz="1125" cap="none">
                <a:latin typeface="Arial"/>
              </a:rPr>
              <a:t>Decode vLLM</a:t>
            </a:r>
          </a:p>
        </p:txBody>
      </p:sp>
      <p:cxnSp>
        <p:nvCxnSpPr>
          <p:cNvPr id="24" name="Client → Gateway"/>
          <p:cNvCxnSpPr>
            <a:stCxn id="20" idx="3"/>
            <a:endCxn id="21" idx="1"/>
          </p:cNvCxnSpPr>
          <p:nvPr/>
        </p:nvCxnSpPr>
        <p:spPr>
          <a:xfrm flipV="1">
            <a:off x="1248156" y="3535299"/>
            <a:ext cx="2948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5" name="Gateway → Routing sidecar"/>
          <p:cNvCxnSpPr>
            <a:stCxn id="21" idx="3"/>
            <a:endCxn id="22" idx="1"/>
          </p:cNvCxnSpPr>
          <p:nvPr/>
        </p:nvCxnSpPr>
        <p:spPr>
          <a:xfrm flipV="1">
            <a:off x="3223260" y="3535299"/>
            <a:ext cx="96012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6" name="Routing sidecar → Decode vLLM"/>
          <p:cNvCxnSpPr>
            <a:stCxn id="22" idx="3"/>
            <a:endCxn id="23" idx="1"/>
          </p:cNvCxnSpPr>
          <p:nvPr/>
        </p:nvCxnSpPr>
        <p:spPr>
          <a:xfrm flipV="1">
            <a:off x="5795010" y="3535299"/>
            <a:ext cx="106299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request"/>
          <p:cNvSpPr txBox="1"/>
          <p:nvPr/>
        </p:nvSpPr>
        <p:spPr>
          <a:xfrm>
            <a:off x="3257550" y="3106674"/>
            <a:ext cx="857250" cy="157734"/>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request</a:t>
            </a:r>
          </a:p>
        </p:txBody>
      </p:sp>
      <p:sp>
        <p:nvSpPr>
          <p:cNvPr id="28" name="local proxy"/>
          <p:cNvSpPr txBox="1"/>
          <p:nvPr/>
        </p:nvSpPr>
        <p:spPr>
          <a:xfrm>
            <a:off x="5884164" y="3346704"/>
            <a:ext cx="864108" cy="137160"/>
          </a:xfrm>
          <a:prstGeom prst="rect">
            <a:avLst/>
          </a:prstGeom>
          <a:noFill/>
        </p:spPr>
        <p:txBody>
          <a:bodyPr wrap="square" lIns="0" tIns="0" rIns="0" bIns="0" anchor="t">
            <a:noAutofit/>
          </a:bodyPr>
          <a:lstStyle/>
          <a:p>
            <a:pPr algn="ctr">
              <a:spcAft>
                <a:spcPts val="150"/>
              </a:spcAft>
              <a:defRPr sz="1000" b="0">
                <a:solidFill>
                  <a:srgbClr val="2463D4"/>
                </a:solidFill>
                <a:latin typeface="Arial"/>
              </a:defRPr>
            </a:pPr>
            <a:r>
              <a:rPr sz="750" cap="none">
                <a:latin typeface="Arial"/>
              </a:rPr>
              <a:t>local proxy</a:t>
            </a:r>
          </a:p>
        </p:txBody>
      </p:sp>
      <p:cxnSp>
        <p:nvCxnSpPr>
          <p:cNvPr id="29" name="Gateway ↔ EPP endpoint selection"/>
          <p:cNvCxnSpPr/>
          <p:nvPr/>
        </p:nvCxnSpPr>
        <p:spPr>
          <a:xfrm flipV="1">
            <a:off x="2386584" y="2729484"/>
            <a:ext cx="0" cy="562356"/>
          </a:xfrm>
          <a:prstGeom prst="line">
            <a:avLst/>
          </a:prstGeom>
          <a:ln w="1905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0" name="endpoint selection / via InferencePool"/>
          <p:cNvSpPr txBox="1"/>
          <p:nvPr/>
        </p:nvSpPr>
        <p:spPr>
          <a:xfrm>
            <a:off x="788670" y="2818638"/>
            <a:ext cx="1426464" cy="301752"/>
          </a:xfrm>
          <a:prstGeom prst="rect">
            <a:avLst/>
          </a:prstGeom>
          <a:noFill/>
        </p:spPr>
        <p:txBody>
          <a:bodyPr wrap="square" lIns="0" tIns="0" rIns="0" bIns="0" anchor="t">
            <a:noAutofit/>
          </a:bodyPr>
          <a:lstStyle/>
          <a:p>
            <a:pPr algn="r">
              <a:spcAft>
                <a:spcPts val="150"/>
              </a:spcAft>
              <a:defRPr sz="1000" b="0">
                <a:solidFill>
                  <a:srgbClr val="7150C8"/>
                </a:solidFill>
                <a:latin typeface="Arial"/>
              </a:defRPr>
            </a:pPr>
            <a:r>
              <a:rPr sz="750" cap="none">
                <a:latin typeface="Arial"/>
              </a:rPr>
              <a:t>endpoint selection</a:t>
            </a:r>
          </a:p>
          <a:p>
            <a:pPr algn="r">
              <a:spcAft>
                <a:spcPts val="150"/>
              </a:spcAft>
              <a:defRPr sz="1000" b="0">
                <a:solidFill>
                  <a:srgbClr val="7150C8"/>
                </a:solidFill>
                <a:latin typeface="Arial"/>
              </a:defRPr>
            </a:pPr>
            <a:r>
              <a:rPr sz="750" cap="none">
                <a:latin typeface="Arial"/>
              </a:rPr>
              <a:t>via InferencePool</a:t>
            </a:r>
          </a:p>
        </p:txBody>
      </p:sp>
      <p:cxnSp>
        <p:nvCxnSpPr>
          <p:cNvPr id="31" name="Sidecar → remote prefill request"/>
          <p:cNvCxnSpPr/>
          <p:nvPr/>
        </p:nvCxnSpPr>
        <p:spPr>
          <a:xfrm flipV="1">
            <a:off x="4992624" y="2736342"/>
            <a:ext cx="0" cy="56235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32" name="optional prefill"/>
          <p:cNvSpPr txBox="1"/>
          <p:nvPr/>
        </p:nvSpPr>
        <p:spPr>
          <a:xfrm>
            <a:off x="3545586" y="2763774"/>
            <a:ext cx="1303020" cy="150876"/>
          </a:xfrm>
          <a:prstGeom prst="rect">
            <a:avLst/>
          </a:prstGeom>
          <a:noFill/>
        </p:spPr>
        <p:txBody>
          <a:bodyPr wrap="square" lIns="0" tIns="0" rIns="0" bIns="0" anchor="t">
            <a:noAutofit/>
          </a:bodyPr>
          <a:lstStyle/>
          <a:p>
            <a:pPr algn="r">
              <a:spcAft>
                <a:spcPts val="150"/>
              </a:spcAft>
              <a:defRPr sz="1000" b="0">
                <a:solidFill>
                  <a:srgbClr val="A85C05"/>
                </a:solidFill>
                <a:latin typeface="Arial"/>
              </a:defRPr>
            </a:pPr>
            <a:r>
              <a:rPr sz="750" cap="none">
                <a:latin typeface="Arial"/>
              </a:rPr>
              <a:t>optional prefill</a:t>
            </a:r>
          </a:p>
        </p:txBody>
      </p:sp>
      <p:cxnSp>
        <p:nvCxnSpPr>
          <p:cNvPr id="33" name="Direct KV data transfer: prefill → decode"/>
          <p:cNvCxnSpPr/>
          <p:nvPr/>
        </p:nvCxnSpPr>
        <p:spPr>
          <a:xfrm>
            <a:off x="5801868" y="2503170"/>
            <a:ext cx="1810512" cy="0"/>
          </a:xfrm>
          <a:prstGeom prst="line">
            <a:avLst/>
          </a:prstGeom>
          <a:ln w="29209">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34" name="Direct KV data transfer: prefill → decode"/>
          <p:cNvCxnSpPr/>
          <p:nvPr/>
        </p:nvCxnSpPr>
        <p:spPr>
          <a:xfrm>
            <a:off x="7612380" y="2503170"/>
            <a:ext cx="0" cy="795528"/>
          </a:xfrm>
          <a:prstGeom prst="line">
            <a:avLst/>
          </a:prstGeom>
          <a:ln w="29209">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35" name="Direct KV data • NIXL"/>
          <p:cNvSpPr txBox="1"/>
          <p:nvPr/>
        </p:nvSpPr>
        <p:spPr>
          <a:xfrm>
            <a:off x="6069330" y="2235708"/>
            <a:ext cx="2400300" cy="171450"/>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NIXL</a:t>
            </a:r>
          </a:p>
        </p:txBody>
      </p:sp>
      <p:cxnSp>
        <p:nvCxnSpPr>
          <p:cNvPr id="36" name="Connector"/>
          <p:cNvCxnSpPr/>
          <p:nvPr/>
        </p:nvCxnSpPr>
        <p:spPr>
          <a:xfrm>
            <a:off x="582930" y="4094226"/>
            <a:ext cx="274320" cy="0"/>
          </a:xfrm>
          <a:prstGeom prst="line">
            <a:avLst/>
          </a:prstGeom>
          <a:ln w="2540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7" name="Control / selection"/>
          <p:cNvSpPr txBox="1"/>
          <p:nvPr/>
        </p:nvSpPr>
        <p:spPr>
          <a:xfrm>
            <a:off x="94640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Control / selection</a:t>
            </a:r>
          </a:p>
        </p:txBody>
      </p:sp>
      <p:cxnSp>
        <p:nvCxnSpPr>
          <p:cNvPr id="38" name="Connector"/>
          <p:cNvCxnSpPr/>
          <p:nvPr/>
        </p:nvCxnSpPr>
        <p:spPr>
          <a:xfrm>
            <a:off x="2811780" y="4094226"/>
            <a:ext cx="274321" cy="0"/>
          </a:xfrm>
          <a:prstGeom prst="line">
            <a:avLst/>
          </a:prstGeom>
          <a:ln w="2540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39" name="Request / local proxy"/>
          <p:cNvSpPr txBox="1"/>
          <p:nvPr/>
        </p:nvSpPr>
        <p:spPr>
          <a:xfrm>
            <a:off x="3175254"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Request / local proxy</a:t>
            </a:r>
          </a:p>
        </p:txBody>
      </p:sp>
      <p:cxnSp>
        <p:nvCxnSpPr>
          <p:cNvPr id="40" name="Connector"/>
          <p:cNvCxnSpPr/>
          <p:nvPr/>
        </p:nvCxnSpPr>
        <p:spPr>
          <a:xfrm>
            <a:off x="5623560" y="4094226"/>
            <a:ext cx="274321" cy="0"/>
          </a:xfrm>
          <a:prstGeom prst="line">
            <a:avLst/>
          </a:prstGeom>
          <a:ln w="2540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41" name="KV data (separate path)"/>
          <p:cNvSpPr txBox="1"/>
          <p:nvPr/>
        </p:nvSpPr>
        <p:spPr>
          <a:xfrm>
            <a:off x="5987033" y="4011930"/>
            <a:ext cx="2606040" cy="178308"/>
          </a:xfrm>
          <a:prstGeom prst="rect">
            <a:avLst/>
          </a:prstGeom>
          <a:noFill/>
        </p:spPr>
        <p:txBody>
          <a:bodyPr wrap="square" lIns="0" tIns="0" rIns="0" bIns="0" anchor="t">
            <a:noAutofit/>
          </a:bodyPr>
          <a:lstStyle/>
          <a:p>
            <a:pPr>
              <a:spcAft>
                <a:spcPts val="150"/>
              </a:spcAft>
              <a:defRPr sz="1200" b="0">
                <a:solidFill>
                  <a:srgbClr val="5B6E80"/>
                </a:solidFill>
                <a:latin typeface="Arial"/>
              </a:defRPr>
            </a:pPr>
            <a:r>
              <a:rPr sz="900" cap="none">
                <a:latin typeface="Arial"/>
              </a:rPr>
              <a:t>KV data (separate path)</a:t>
            </a:r>
          </a:p>
        </p:txBody>
      </p:sp>
      <p:sp>
        <p:nvSpPr>
          <p:cNvPr id="42" name="Panel 41"/>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Panel 42"/>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he client sees one endpoint; KV data never needs to pass through the gateway."/>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client sees one endpoint; KV data never needs to pass through the gateway.</a:t>
            </a:r>
          </a:p>
        </p:txBody>
      </p:sp>
      <p:sp>
        <p:nvSpPr>
          <p:cNvPr id="45" name="TextBox 4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6" name="TextBox 4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26 / 49</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DECLARATIVE API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DECLARATIVE API  /  KAITO + llm-d</a:t>
            </a:r>
          </a:p>
        </p:txBody>
      </p:sp>
      <p:sp>
        <p:nvSpPr>
          <p:cNvPr id="4" name="One object declares the serving topology"/>
          <p:cNvSpPr txBox="1"/>
          <p:nvPr/>
        </p:nvSpPr>
        <p:spPr>
          <a:xfrm>
            <a:off x="365760" y="539496"/>
            <a:ext cx="8412480" cy="420624"/>
          </a:xfrm>
          <a:prstGeom prst="rect">
            <a:avLst/>
          </a:prstGeom>
          <a:noFill/>
        </p:spPr>
        <p:txBody>
          <a:bodyPr wrap="none" lIns="0" tIns="0" rIns="0" bIns="0" anchor="t">
            <a:noAutofit/>
          </a:bodyPr>
          <a:lstStyle/>
          <a:p>
            <a:r>
              <a:rPr lang="en-US" altLang="zh-CN" sz="2100" b="1" dirty="0" cap="none">
                <a:solidFill>
                  <a:srgbClr val="142C46"/>
                </a:solidFill>
                <a:latin typeface="Arial"/>
              </a:rPr>
              <a:t>One MultiRoleInference defines the topology</a:t>
            </a:r>
          </a:p>
        </p:txBody>
      </p:sp>
      <p:sp>
        <p:nvSpPr>
          <p:cNvPr id="5" name="One model, distinct instance types: 1 A100 prefill replica + 2 H100 decode repli"/>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dirty="0" cap="none">
                <a:solidFill>
                  <a:srgbClr val="52677D"/>
                </a:solidFill>
                <a:latin typeface="Arial"/>
              </a:rPr>
              <a:t>One model, distinct instance types: 1 A100 prefill replica + 2 H100 decode replicas.</a:t>
            </a:r>
          </a:p>
        </p:txBody>
      </p:sp>
      <p:sp>
        <p:nvSpPr>
          <p:cNvPr id="8" name="Panel 7"/>
          <p:cNvSpPr/>
          <p:nvPr/>
        </p:nvSpPr>
        <p:spPr>
          <a:xfrm>
            <a:off x="411480" y="1385316"/>
            <a:ext cx="4238244" cy="2825496"/>
          </a:xfrm>
          <a:prstGeom prst="roundRect">
            <a:avLst>
              <a:gd name="adj" fmla="val 12000"/>
            </a:avLst>
          </a:prstGeom>
          <a:solidFill>
            <a:srgbClr val="1024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MultiRoleInference  /  model + role placement"/>
          <p:cNvSpPr txBox="1"/>
          <p:nvPr/>
        </p:nvSpPr>
        <p:spPr>
          <a:xfrm>
            <a:off x="582930" y="1529334"/>
            <a:ext cx="3895344" cy="171450"/>
          </a:xfrm>
          <a:prstGeom prst="rect">
            <a:avLst/>
          </a:prstGeom>
          <a:noFill/>
        </p:spPr>
        <p:txBody>
          <a:bodyPr wrap="square" lIns="0" tIns="0" rIns="0" bIns="0" anchor="t">
            <a:noAutofit/>
          </a:bodyPr>
          <a:lstStyle/>
          <a:p>
            <a:pPr>
              <a:spcAft>
                <a:spcPts val="150"/>
              </a:spcAft>
              <a:defRPr sz="1200" b="1">
                <a:solidFill>
                  <a:srgbClr val="C8D8E7"/>
                </a:solidFill>
                <a:latin typeface="Arial"/>
              </a:defRPr>
            </a:pPr>
            <a:r>
              <a:rPr sz="900" cap="none">
                <a:latin typeface="Arial"/>
              </a:rPr>
              <a:t>MultiRoleInference  /  model + role placement</a:t>
            </a:r>
          </a:p>
        </p:txBody>
      </p:sp>
      <p:sp>
        <p:nvSpPr>
          <p:cNvPr id="10" name="apiVersion: kaito.sh/v1alpha1 / kind: MultiRoleInference / metadata: /   name: q"/>
          <p:cNvSpPr txBox="1"/>
          <p:nvPr/>
        </p:nvSpPr>
        <p:spPr>
          <a:xfrm>
            <a:off x="589788" y="1851660"/>
            <a:ext cx="3895344" cy="2228850"/>
          </a:xfrm>
          <a:prstGeom prst="rect">
            <a:avLst/>
          </a:prstGeom>
          <a:noFill/>
        </p:spPr>
        <p:txBody>
          <a:bodyPr wrap="square" lIns="0" tIns="0" rIns="0" bIns="0" anchor="t">
            <a:noAutofit/>
          </a:bodyPr>
          <a:lstStyle/>
          <a:p>
            <a:pPr>
              <a:lnSpc>
                <a:spcPts val="1223"/>
              </a:lnSpc>
              <a:defRPr sz="1400" b="0">
                <a:solidFill>
                  <a:srgbClr val="FFFFFF"/>
                </a:solidFill>
                <a:latin typeface="Consolas"/>
              </a:defRPr>
            </a:pPr>
            <a:r>
              <a:rPr sz="1050" cap="none">
                <a:latin typeface="Consolas"/>
              </a:rPr>
              <a:t>apiVersion: kaito.sh/v1alpha1</a:t>
            </a:r>
          </a:p>
          <a:p>
            <a:pPr>
              <a:lnSpc>
                <a:spcPts val="1223"/>
              </a:lnSpc>
              <a:defRPr sz="1400" b="0">
                <a:solidFill>
                  <a:srgbClr val="FFFFFF"/>
                </a:solidFill>
                <a:latin typeface="Consolas"/>
              </a:defRPr>
            </a:pPr>
            <a:r>
              <a:rPr sz="1050" cap="none">
                <a:latin typeface="Consolas"/>
              </a:rPr>
              <a:t>kind: MultiRoleInference</a:t>
            </a:r>
          </a:p>
          <a:p>
            <a:pPr>
              <a:lnSpc>
                <a:spcPts val="1223"/>
              </a:lnSpc>
              <a:defRPr sz="1400" b="0">
                <a:solidFill>
                  <a:srgbClr val="FFFFFF"/>
                </a:solidFill>
                <a:latin typeface="Consolas"/>
              </a:defRPr>
            </a:pPr>
            <a:r>
              <a:rPr sz="1050" cap="none">
                <a:latin typeface="Consolas"/>
              </a:rPr>
              <a:t>metadata:</a:t>
            </a:r>
          </a:p>
          <a:p>
            <a:pPr>
              <a:lnSpc>
                <a:spcPts val="1223"/>
              </a:lnSpc>
              <a:defRPr sz="1400" b="0">
                <a:solidFill>
                  <a:srgbClr val="FFFFFF"/>
                </a:solidFill>
                <a:latin typeface="Consolas"/>
              </a:defRPr>
            </a:pPr>
            <a:r>
              <a:rPr sz="1050" cap="none">
                <a:latin typeface="Consolas"/>
              </a:rPr>
              <a:t>  name: qwen-3-8-27b</a:t>
            </a:r>
          </a:p>
          <a:p>
            <a:pPr>
              <a:lnSpc>
                <a:spcPts val="1223"/>
              </a:lnSpc>
              <a:defRPr sz="1400" b="0">
                <a:solidFill>
                  <a:srgbClr val="FFFFFF"/>
                </a:solidFill>
                <a:latin typeface="Consolas"/>
              </a:defRPr>
            </a:pPr>
            <a:r>
              <a:rPr sz="1050" cap="none">
                <a:latin typeface="Consolas"/>
              </a:rPr>
              <a:t>spec:</a:t>
            </a:r>
          </a:p>
          <a:p>
            <a:pPr>
              <a:lnSpc>
                <a:spcPts val="1223"/>
              </a:lnSpc>
              <a:defRPr sz="1400" b="0">
                <a:solidFill>
                  <a:srgbClr val="FFFFFF"/>
                </a:solidFill>
                <a:latin typeface="Consolas"/>
              </a:defRPr>
            </a:pPr>
            <a:r>
              <a:rPr sz="1050" cap="none">
                <a:latin typeface="Consolas"/>
              </a:rPr>
              <a:t>  model:</a:t>
            </a:r>
          </a:p>
          <a:p>
            <a:pPr>
              <a:lnSpc>
                <a:spcPts val="1223"/>
              </a:lnSpc>
              <a:defRPr sz="1400" b="0">
                <a:solidFill>
                  <a:srgbClr val="FFFFFF"/>
                </a:solidFill>
                <a:latin typeface="Consolas"/>
              </a:defRPr>
            </a:pPr>
            <a:r>
              <a:rPr sz="1050" cap="none">
                <a:latin typeface="Consolas"/>
              </a:rPr>
              <a:t>    name: Qwen/Qwen3.8-27B</a:t>
            </a:r>
          </a:p>
          <a:p>
            <a:pPr>
              <a:lnSpc>
                <a:spcPts val="1223"/>
              </a:lnSpc>
              <a:defRPr sz="1400" b="0">
                <a:solidFill>
                  <a:srgbClr val="FFFFFF"/>
                </a:solidFill>
                <a:latin typeface="Consolas"/>
              </a:defRPr>
            </a:pPr>
            <a:r>
              <a:rPr sz="1050" cap="none">
                <a:latin typeface="Consolas"/>
              </a:rPr>
              <a:t>  roles:</a:t>
            </a:r>
          </a:p>
          <a:p>
            <a:pPr>
              <a:lnSpc>
                <a:spcPts val="1223"/>
              </a:lnSpc>
              <a:defRPr sz="1400" b="0">
                <a:solidFill>
                  <a:srgbClr val="FFFFFF"/>
                </a:solidFill>
                <a:latin typeface="Consolas"/>
              </a:defRPr>
            </a:pPr>
            <a:r>
              <a:rPr sz="1050" cap="none">
                <a:latin typeface="Consolas"/>
              </a:rPr>
              <a:t>    - type: prefill</a:t>
            </a:r>
          </a:p>
          <a:p>
            <a:pPr>
              <a:lnSpc>
                <a:spcPts val="1223"/>
              </a:lnSpc>
              <a:defRPr sz="1400" b="0">
                <a:solidFill>
                  <a:srgbClr val="FFFFFF"/>
                </a:solidFill>
                <a:latin typeface="Consolas"/>
              </a:defRPr>
            </a:pPr>
            <a:r>
              <a:rPr sz="1050" cap="none">
                <a:latin typeface="Consolas"/>
              </a:rPr>
              <a:t>      replicas: 1</a:t>
            </a:r>
          </a:p>
          <a:p>
            <a:pPr>
              <a:lnSpc>
                <a:spcPts val="1223"/>
              </a:lnSpc>
              <a:defRPr sz="1400" b="0">
                <a:solidFill>
                  <a:srgbClr val="FFFFFF"/>
                </a:solidFill>
                <a:latin typeface="Consolas"/>
              </a:defRPr>
            </a:pPr>
            <a:r>
              <a:rPr sz="1050" cap="none">
                <a:latin typeface="Consolas"/>
              </a:rPr>
              <a:t>      instanceType: Standard_NC24ads_A100_v4</a:t>
            </a:r>
          </a:p>
          <a:p>
            <a:pPr>
              <a:lnSpc>
                <a:spcPts val="1223"/>
              </a:lnSpc>
              <a:defRPr sz="1400" b="0">
                <a:solidFill>
                  <a:srgbClr val="FFFFFF"/>
                </a:solidFill>
                <a:latin typeface="Consolas"/>
              </a:defRPr>
            </a:pPr>
            <a:r>
              <a:rPr sz="1050" cap="none">
                <a:latin typeface="Consolas"/>
              </a:rPr>
              <a:t>    - type: decode</a:t>
            </a:r>
          </a:p>
          <a:p>
            <a:pPr>
              <a:lnSpc>
                <a:spcPts val="1223"/>
              </a:lnSpc>
              <a:defRPr sz="1400" b="0">
                <a:solidFill>
                  <a:srgbClr val="FFFFFF"/>
                </a:solidFill>
                <a:latin typeface="Consolas"/>
              </a:defRPr>
            </a:pPr>
            <a:r>
              <a:rPr sz="1050" cap="none">
                <a:latin typeface="Consolas"/>
              </a:rPr>
              <a:t>      replicas: 2</a:t>
            </a:r>
          </a:p>
          <a:p>
            <a:pPr>
              <a:lnSpc>
                <a:spcPts val="1223"/>
              </a:lnSpc>
              <a:defRPr sz="1400" b="0">
                <a:solidFill>
                  <a:srgbClr val="FFFFFF"/>
                </a:solidFill>
                <a:latin typeface="Consolas"/>
              </a:defRPr>
            </a:pPr>
            <a:r>
              <a:rPr sz="1050" cap="none">
                <a:latin typeface="Consolas"/>
              </a:rPr>
              <a:t>      instanceType: Standard_NC80adis_H100_v5</a:t>
            </a:r>
          </a:p>
        </p:txBody>
      </p:sp>
      <p:cxnSp>
        <p:nvCxnSpPr>
          <p:cNvPr id="11" name="Flow"/>
          <p:cNvCxnSpPr/>
          <p:nvPr/>
        </p:nvCxnSpPr>
        <p:spPr>
          <a:xfrm>
            <a:off x="4718304" y="2791206"/>
            <a:ext cx="370332" cy="0"/>
          </a:xfrm>
          <a:prstGeom prst="line">
            <a:avLst/>
          </a:prstGeom>
          <a:ln w="22860">
            <a:solidFill>
              <a:srgbClr val="7150C8"/>
            </a:solidFill>
            <a:tailEnd type="triangle" w="sm" len="sm"/>
          </a:ln>
        </p:spPr>
        <p:style>
          <a:lnRef idx="2">
            <a:schemeClr val="accent1"/>
          </a:lnRef>
          <a:fillRef idx="0">
            <a:schemeClr val="accent1"/>
          </a:fillRef>
          <a:effectRef idx="1">
            <a:schemeClr val="accent1"/>
          </a:effectRef>
          <a:fontRef idx="minor">
            <a:schemeClr val="tx1"/>
          </a:fontRef>
        </p:style>
      </p:cxnSp>
      <p:sp>
        <p:nvSpPr>
          <p:cNvPr id="12" name="reconcile"/>
          <p:cNvSpPr txBox="1"/>
          <p:nvPr/>
        </p:nvSpPr>
        <p:spPr>
          <a:xfrm>
            <a:off x="4663440" y="2496312"/>
            <a:ext cx="500634" cy="205740"/>
          </a:xfrm>
          <a:prstGeom prst="rect">
            <a:avLst/>
          </a:prstGeom>
          <a:noFill/>
        </p:spPr>
        <p:txBody>
          <a:bodyPr wrap="square" lIns="0" tIns="0" rIns="0" bIns="0" anchor="t">
            <a:noAutofit/>
          </a:bodyPr>
          <a:lstStyle/>
          <a:p>
            <a:pPr algn="ctr">
              <a:spcAft>
                <a:spcPts val="150"/>
              </a:spcAft>
              <a:defRPr sz="900" b="0">
                <a:solidFill>
                  <a:srgbClr val="7150C8"/>
                </a:solidFill>
                <a:latin typeface="Arial"/>
              </a:defRPr>
            </a:pPr>
            <a:r>
              <a:rPr sz="675" cap="none">
                <a:latin typeface="Arial"/>
              </a:rPr>
              <a:t>reconcile</a:t>
            </a:r>
          </a:p>
        </p:txBody>
      </p:sp>
      <p:sp>
        <p:nvSpPr>
          <p:cNvPr id="13" name="qwen-3-8-27b"/>
          <p:cNvSpPr/>
          <p:nvPr/>
        </p:nvSpPr>
        <p:spPr>
          <a:xfrm>
            <a:off x="5212080" y="1385316"/>
            <a:ext cx="3518154" cy="589788"/>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100" b="1">
                <a:solidFill>
                  <a:srgbClr val="2463D4"/>
                </a:solidFill>
                <a:latin typeface="Arial"/>
              </a:defRPr>
            </a:pPr>
            <a:r>
              <a:rPr sz="1575" cap="none">
                <a:latin typeface="Arial"/>
              </a:rPr>
              <a:t>qwen-3-8-27b</a:t>
            </a:r>
          </a:p>
          <a:p>
            <a:pPr algn="ctr">
              <a:spcBef>
                <a:spcPts val="225"/>
              </a:spcBef>
              <a:defRPr sz="1200" b="0">
                <a:solidFill>
                  <a:srgbClr val="5B6E80"/>
                </a:solidFill>
                <a:latin typeface="Arial"/>
              </a:defRPr>
            </a:pPr>
            <a:r>
              <a:rPr sz="900" cap="none">
                <a:latin typeface="Arial"/>
              </a:rPr>
              <a:t>Qwen/Qwen3.8-27B</a:t>
            </a:r>
          </a:p>
        </p:txBody>
      </p:sp>
      <p:sp>
        <p:nvSpPr>
          <p:cNvPr id="14" name="ONE LOGICAL SERVICE / INFERENCEPOOL"/>
          <p:cNvSpPr txBox="1"/>
          <p:nvPr/>
        </p:nvSpPr>
        <p:spPr>
          <a:xfrm>
            <a:off x="5232654" y="2057400"/>
            <a:ext cx="3477006" cy="164592"/>
          </a:xfrm>
          <a:prstGeom prst="rect">
            <a:avLst/>
          </a:prstGeom>
          <a:noFill/>
        </p:spPr>
        <p:txBody>
          <a:bodyPr wrap="square" lIns="0" tIns="0" rIns="0" bIns="0" anchor="t">
            <a:noAutofit/>
          </a:bodyPr>
          <a:lstStyle/>
          <a:p>
            <a:pPr algn="ctr">
              <a:spcAft>
                <a:spcPts val="150"/>
              </a:spcAft>
              <a:defRPr sz="1100" b="1">
                <a:solidFill>
                  <a:srgbClr val="5B6E80"/>
                </a:solidFill>
                <a:latin typeface="Arial"/>
              </a:defRPr>
            </a:pPr>
            <a:r>
              <a:rPr sz="825" cap="none">
                <a:latin typeface="Arial"/>
              </a:rPr>
              <a:t>One logical service / InferencePool</a:t>
            </a:r>
          </a:p>
        </p:txBody>
      </p:sp>
      <p:sp>
        <p:nvSpPr>
          <p:cNvPr id="15" name="Panel 14"/>
          <p:cNvSpPr/>
          <p:nvPr/>
        </p:nvSpPr>
        <p:spPr>
          <a:xfrm>
            <a:off x="5212080" y="2379726"/>
            <a:ext cx="1666494" cy="1831086"/>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Panel 15"/>
          <p:cNvSpPr/>
          <p:nvPr/>
        </p:nvSpPr>
        <p:spPr>
          <a:xfrm>
            <a:off x="7056882" y="2379726"/>
            <a:ext cx="1673352" cy="183108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Prefill role"/>
          <p:cNvSpPr txBox="1"/>
          <p:nvPr/>
        </p:nvSpPr>
        <p:spPr>
          <a:xfrm>
            <a:off x="5349241" y="2503170"/>
            <a:ext cx="1392173" cy="240030"/>
          </a:xfrm>
          <a:prstGeom prst="rect">
            <a:avLst/>
          </a:prstGeom>
          <a:noFill/>
        </p:spPr>
        <p:txBody>
          <a:bodyPr wrap="square" lIns="0" tIns="0" rIns="0" bIns="0" anchor="t">
            <a:noAutofit/>
          </a:bodyPr>
          <a:lstStyle/>
          <a:p>
            <a:pPr>
              <a:spcAft>
                <a:spcPts val="300"/>
              </a:spcAft>
              <a:defRPr sz="2000" b="1">
                <a:solidFill>
                  <a:srgbClr val="A85C05"/>
                </a:solidFill>
                <a:latin typeface="Arial"/>
              </a:defRPr>
            </a:pPr>
            <a:r>
              <a:rPr sz="1500" cap="none">
                <a:latin typeface="Arial"/>
              </a:rPr>
              <a:t>Prefill role</a:t>
            </a:r>
          </a:p>
        </p:txBody>
      </p:sp>
      <p:sp>
        <p:nvSpPr>
          <p:cNvPr id="18" name="Decode role"/>
          <p:cNvSpPr txBox="1"/>
          <p:nvPr/>
        </p:nvSpPr>
        <p:spPr>
          <a:xfrm>
            <a:off x="7194042" y="2503170"/>
            <a:ext cx="1399032" cy="240030"/>
          </a:xfrm>
          <a:prstGeom prst="rect">
            <a:avLst/>
          </a:prstGeom>
          <a:noFill/>
        </p:spPr>
        <p:txBody>
          <a:bodyPr wrap="square" lIns="0" tIns="0" rIns="0" bIns="0" anchor="t">
            <a:noAutofit/>
          </a:bodyPr>
          <a:lstStyle/>
          <a:p>
            <a:pPr>
              <a:spcAft>
                <a:spcPts val="300"/>
              </a:spcAft>
              <a:defRPr sz="2000" b="1">
                <a:solidFill>
                  <a:srgbClr val="087F82"/>
                </a:solidFill>
                <a:latin typeface="Arial"/>
              </a:defRPr>
            </a:pPr>
            <a:r>
              <a:rPr sz="1500" cap="none">
                <a:latin typeface="Arial"/>
              </a:rPr>
              <a:t>Decode role</a:t>
            </a:r>
          </a:p>
        </p:txBody>
      </p:sp>
      <p:sp>
        <p:nvSpPr>
          <p:cNvPr id="19" name="replicas: 1"/>
          <p:cNvSpPr txBox="1"/>
          <p:nvPr/>
        </p:nvSpPr>
        <p:spPr>
          <a:xfrm>
            <a:off x="5349241" y="2798064"/>
            <a:ext cx="1392173" cy="164592"/>
          </a:xfrm>
          <a:prstGeom prst="rect">
            <a:avLst/>
          </a:prstGeom>
          <a:noFill/>
        </p:spPr>
        <p:txBody>
          <a:bodyPr wrap="square" lIns="0" tIns="0" rIns="0" bIns="0" anchor="t">
            <a:noAutofit/>
          </a:bodyPr>
          <a:lstStyle/>
          <a:p>
            <a:pPr>
              <a:spcAft>
                <a:spcPts val="150"/>
              </a:spcAft>
              <a:defRPr sz="1300" b="0">
                <a:solidFill>
                  <a:srgbClr val="A85C05"/>
                </a:solidFill>
                <a:latin typeface="Arial"/>
              </a:defRPr>
            </a:pPr>
            <a:r>
              <a:rPr sz="975" cap="none">
                <a:latin typeface="Arial"/>
              </a:rPr>
              <a:t>replicas: 1</a:t>
            </a:r>
          </a:p>
        </p:txBody>
      </p:sp>
      <p:sp>
        <p:nvSpPr>
          <p:cNvPr id="20" name="replicas: 2"/>
          <p:cNvSpPr txBox="1"/>
          <p:nvPr/>
        </p:nvSpPr>
        <p:spPr>
          <a:xfrm>
            <a:off x="7194042" y="2798064"/>
            <a:ext cx="1399032" cy="164592"/>
          </a:xfrm>
          <a:prstGeom prst="rect">
            <a:avLst/>
          </a:prstGeom>
          <a:noFill/>
        </p:spPr>
        <p:txBody>
          <a:bodyPr wrap="square" lIns="0" tIns="0" rIns="0" bIns="0" anchor="t">
            <a:noAutofit/>
          </a:bodyPr>
          <a:lstStyle/>
          <a:p>
            <a:pPr>
              <a:spcAft>
                <a:spcPts val="150"/>
              </a:spcAft>
              <a:defRPr sz="1300" b="0">
                <a:solidFill>
                  <a:srgbClr val="087F82"/>
                </a:solidFill>
                <a:latin typeface="Arial"/>
              </a:defRPr>
            </a:pPr>
            <a:r>
              <a:rPr sz="975" cap="none">
                <a:latin typeface="Arial"/>
              </a:rPr>
              <a:t>replicas: 2</a:t>
            </a:r>
          </a:p>
        </p:txBody>
      </p:sp>
      <p:sp>
        <p:nvSpPr>
          <p:cNvPr id="21" name="A100 / replica 1"/>
          <p:cNvSpPr/>
          <p:nvPr/>
        </p:nvSpPr>
        <p:spPr>
          <a:xfrm>
            <a:off x="5356099" y="3072385"/>
            <a:ext cx="1378457"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A100 / replica 1</a:t>
            </a:r>
          </a:p>
        </p:txBody>
      </p:sp>
      <p:sp>
        <p:nvSpPr>
          <p:cNvPr id="22" name="H100 / replica 1"/>
          <p:cNvSpPr/>
          <p:nvPr/>
        </p:nvSpPr>
        <p:spPr>
          <a:xfrm>
            <a:off x="7200900" y="3072385"/>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1</a:t>
            </a:r>
          </a:p>
        </p:txBody>
      </p:sp>
      <p:sp>
        <p:nvSpPr>
          <p:cNvPr id="23" name="H100 / replica 2"/>
          <p:cNvSpPr/>
          <p:nvPr/>
        </p:nvSpPr>
        <p:spPr>
          <a:xfrm>
            <a:off x="7200900" y="3559303"/>
            <a:ext cx="1385316" cy="390905"/>
          </a:xfrm>
          <a:prstGeom prst="roundRect">
            <a:avLst>
              <a:gd name="adj" fmla="val 12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H100 / replica 2</a:t>
            </a:r>
          </a:p>
        </p:txBody>
      </p:sp>
      <p:sp>
        <p:nvSpPr>
          <p:cNvPr id="24" name="Standard_NC24ads_A100_v4"/>
          <p:cNvSpPr txBox="1"/>
          <p:nvPr/>
        </p:nvSpPr>
        <p:spPr>
          <a:xfrm>
            <a:off x="5301234" y="4025646"/>
            <a:ext cx="1488186" cy="123444"/>
          </a:xfrm>
          <a:prstGeom prst="rect">
            <a:avLst/>
          </a:prstGeom>
          <a:noFill/>
        </p:spPr>
        <p:txBody>
          <a:bodyPr wrap="square" lIns="0" tIns="0" rIns="0" bIns="0" anchor="t">
            <a:noAutofit/>
          </a:bodyPr>
          <a:lstStyle/>
          <a:p>
            <a:pPr algn="ctr">
              <a:spcAft>
                <a:spcPts val="150"/>
              </a:spcAft>
              <a:defRPr sz="900" b="0">
                <a:solidFill>
                  <a:srgbClr val="A85C05"/>
                </a:solidFill>
                <a:latin typeface="Arial"/>
              </a:defRPr>
            </a:pPr>
            <a:r>
              <a:rPr sz="675" cap="none">
                <a:latin typeface="Arial"/>
              </a:rPr>
              <a:t>Standard_NC24ads_A100_v4</a:t>
            </a:r>
          </a:p>
        </p:txBody>
      </p:sp>
      <p:sp>
        <p:nvSpPr>
          <p:cNvPr id="25" name="Standard_NC80adis_H100_v5"/>
          <p:cNvSpPr txBox="1"/>
          <p:nvPr/>
        </p:nvSpPr>
        <p:spPr>
          <a:xfrm>
            <a:off x="7146036" y="4025646"/>
            <a:ext cx="1495044" cy="123444"/>
          </a:xfrm>
          <a:prstGeom prst="rect">
            <a:avLst/>
          </a:prstGeom>
          <a:noFill/>
        </p:spPr>
        <p:txBody>
          <a:bodyPr wrap="square" lIns="0" tIns="0" rIns="0" bIns="0" anchor="t">
            <a:noAutofit/>
          </a:bodyPr>
          <a:lstStyle/>
          <a:p>
            <a:pPr algn="ctr">
              <a:spcAft>
                <a:spcPts val="150"/>
              </a:spcAft>
              <a:defRPr sz="900" b="0">
                <a:solidFill>
                  <a:srgbClr val="087F82"/>
                </a:solidFill>
                <a:latin typeface="Arial"/>
              </a:defRPr>
            </a:pPr>
            <a:r>
              <a:rPr sz="675" cap="none">
                <a:latin typeface="Arial"/>
              </a:rPr>
              <a:t>Standard_NC80adis_H100_v5</a:t>
            </a:r>
          </a:p>
        </p:txBody>
      </p:sp>
      <p:cxnSp>
        <p:nvCxnSpPr>
          <p:cNvPr id="26" name="Flow"/>
          <p:cNvCxnSpPr/>
          <p:nvPr/>
        </p:nvCxnSpPr>
        <p:spPr>
          <a:xfrm>
            <a:off x="6048756" y="2249424"/>
            <a:ext cx="0" cy="10287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27" name="Flow"/>
          <p:cNvCxnSpPr/>
          <p:nvPr/>
        </p:nvCxnSpPr>
        <p:spPr>
          <a:xfrm>
            <a:off x="7893558" y="2249424"/>
            <a:ext cx="0" cy="102870"/>
          </a:xfrm>
          <a:prstGeom prst="line">
            <a:avLst/>
          </a:prstGeom>
          <a:ln w="22860">
            <a:solidFill>
              <a:srgbClr val="087F82"/>
            </a:solidFill>
            <a:tailEnd type="triangle" w="sm" len="sm"/>
          </a:ln>
        </p:spPr>
        <p:style>
          <a:lnRef idx="2">
            <a:schemeClr val="accent1"/>
          </a:lnRef>
          <a:fillRef idx="0">
            <a:schemeClr val="accent1"/>
          </a:fillRef>
          <a:effectRef idx="1">
            <a:schemeClr val="accent1"/>
          </a:effectRef>
          <a:fontRef idx="minor">
            <a:schemeClr val="tx1"/>
          </a:fontRef>
        </p:style>
      </p:cxnSp>
      <p:sp>
        <p:nvSpPr>
          <p:cNvPr id="28" name="Panel 2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Panel 2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Same model, independent role placement — A100 for prefill; H100 for decod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Same model, independent role placement — A100 for prefill; H100 for decode.</a:t>
            </a:r>
          </a:p>
        </p:txBody>
      </p:sp>
      <p:sp>
        <p:nvSpPr>
          <p:cNvPr id="31" name="TextBox 3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2" name="TextBox 3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27 / 49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CONCILIATION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RECONCILIATION  /  KAITO + llm-d</a:t>
            </a:r>
          </a:p>
        </p:txBody>
      </p:sp>
      <p:sp>
        <p:nvSpPr>
          <p:cNvPr id="4" name="KAITO generates resources — and keeps them aligne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KAITO generates resources and keeps them aligned</a:t>
            </a:r>
          </a:p>
        </p:txBody>
      </p:sp>
      <p:sp>
        <p:nvSpPr>
          <p:cNvPr id="5" name="A declarative topology becomes owned resources, runtime wiring and a shared rout"/>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declarative topology becomes owned resources, runtime wiring and a shared routing contract.</a:t>
            </a:r>
          </a:p>
        </p:txBody>
      </p:sp>
      <p:sp>
        <p:nvSpPr>
          <p:cNvPr id="8" name="MultiRoleInference"/>
          <p:cNvSpPr/>
          <p:nvPr/>
        </p:nvSpPr>
        <p:spPr>
          <a:xfrm>
            <a:off x="3175254" y="1357884"/>
            <a:ext cx="2791206" cy="493776"/>
          </a:xfrm>
          <a:prstGeom prst="roundRect">
            <a:avLst>
              <a:gd name="adj" fmla="val 12000"/>
            </a:avLst>
          </a:prstGeom>
          <a:solidFill>
            <a:srgbClr val="F0ECFA"/>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200" b="1">
                <a:solidFill>
                  <a:srgbClr val="7150C8"/>
                </a:solidFill>
                <a:latin typeface="Arial"/>
              </a:defRPr>
            </a:pPr>
            <a:r>
              <a:rPr sz="1650" cap="none">
                <a:latin typeface="Arial"/>
              </a:rPr>
              <a:t>MultiRoleInference</a:t>
            </a:r>
          </a:p>
        </p:txBody>
      </p:sp>
      <p:sp>
        <p:nvSpPr>
          <p:cNvPr id="9" name="KAITO RECONCILES + OWNS"/>
          <p:cNvSpPr txBox="1"/>
          <p:nvPr/>
        </p:nvSpPr>
        <p:spPr>
          <a:xfrm>
            <a:off x="3429000" y="1947672"/>
            <a:ext cx="2276856" cy="164592"/>
          </a:xfrm>
          <a:prstGeom prst="rect">
            <a:avLst/>
          </a:prstGeom>
          <a:noFill/>
        </p:spPr>
        <p:txBody>
          <a:bodyPr wrap="square" lIns="0" tIns="0" rIns="0" bIns="0" anchor="t">
            <a:noAutofit/>
          </a:bodyPr>
          <a:lstStyle/>
          <a:p>
            <a:pPr algn="ctr">
              <a:spcAft>
                <a:spcPts val="150"/>
              </a:spcAft>
              <a:defRPr sz="1100" b="1">
                <a:solidFill>
                  <a:srgbClr val="7150C8"/>
                </a:solidFill>
                <a:latin typeface="Arial"/>
              </a:defRPr>
            </a:pPr>
            <a:r>
              <a:rPr sz="825" cap="none">
                <a:latin typeface="Arial"/>
              </a:rPr>
              <a:t>KAITO reconciles + owns</a:t>
            </a:r>
          </a:p>
        </p:txBody>
      </p:sp>
      <p:cxnSp>
        <p:nvCxnSpPr>
          <p:cNvPr id="10" name="KAITO owns Prefill InferenceSet"/>
          <p:cNvCxnSpPr/>
          <p:nvPr/>
        </p:nvCxnSpPr>
        <p:spPr>
          <a:xfrm flipH="1">
            <a:off x="1687068" y="2146554"/>
            <a:ext cx="288378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1" name="KAITO owns Prefill InferenceSet"/>
          <p:cNvCxnSpPr/>
          <p:nvPr/>
        </p:nvCxnSpPr>
        <p:spPr>
          <a:xfrm>
            <a:off x="168706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2" name="Prefill InferenceSet"/>
          <p:cNvSpPr/>
          <p:nvPr/>
        </p:nvSpPr>
        <p:spPr>
          <a:xfrm>
            <a:off x="432054" y="2400300"/>
            <a:ext cx="2516886" cy="637794"/>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A85C05"/>
                </a:solidFill>
                <a:latin typeface="Arial"/>
              </a:defRPr>
            </a:pPr>
            <a:r>
              <a:rPr sz="1425" cap="none">
                <a:latin typeface="Arial"/>
              </a:rPr>
              <a:t>Prefill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3" name="KAITO owns Decode InferenceSet"/>
          <p:cNvCxnSpPr/>
          <p:nvPr/>
        </p:nvCxnSpPr>
        <p:spPr>
          <a:xfrm flipH="1">
            <a:off x="4567428" y="2146554"/>
            <a:ext cx="3429"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4" name="KAITO owns Decode InferenceSet"/>
          <p:cNvCxnSpPr/>
          <p:nvPr/>
        </p:nvCxnSpPr>
        <p:spPr>
          <a:xfrm>
            <a:off x="456742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5" name="Decode InferenceSet"/>
          <p:cNvSpPr/>
          <p:nvPr/>
        </p:nvSpPr>
        <p:spPr>
          <a:xfrm>
            <a:off x="3312414" y="2400300"/>
            <a:ext cx="2516886" cy="637794"/>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Decode InferenceSet</a:t>
            </a:r>
          </a:p>
          <a:p>
            <a:pPr algn="ctr">
              <a:spcBef>
                <a:spcPts val="225"/>
              </a:spcBef>
              <a:defRPr sz="1200" b="0">
                <a:solidFill>
                  <a:srgbClr val="5B6E80"/>
                </a:solidFill>
                <a:latin typeface="Arial"/>
              </a:defRPr>
            </a:pPr>
            <a:r>
              <a:rPr sz="900" cap="none">
                <a:latin typeface="Arial"/>
              </a:rPr>
              <a:t>Role-specific workers</a:t>
            </a:r>
          </a:p>
        </p:txBody>
      </p:sp>
      <p:cxnSp>
        <p:nvCxnSpPr>
          <p:cNvPr id="16" name="KAITO owns Routing resources"/>
          <p:cNvCxnSpPr/>
          <p:nvPr/>
        </p:nvCxnSpPr>
        <p:spPr>
          <a:xfrm>
            <a:off x="4570857" y="2146554"/>
            <a:ext cx="2876931" cy="0"/>
          </a:xfrm>
          <a:prstGeom prst="line">
            <a:avLst/>
          </a:prstGeom>
          <a:ln w="22860">
            <a:solidFill>
              <a:srgbClr val="7150C8"/>
            </a:solidFill>
            <a:prstDash val="dash"/>
          </a:ln>
        </p:spPr>
        <p:style>
          <a:lnRef idx="2">
            <a:schemeClr val="accent1"/>
          </a:lnRef>
          <a:fillRef idx="0">
            <a:schemeClr val="accent1"/>
          </a:fillRef>
          <a:effectRef idx="1">
            <a:schemeClr val="accent1"/>
          </a:effectRef>
          <a:fontRef idx="minor">
            <a:schemeClr val="tx1"/>
          </a:fontRef>
        </p:style>
      </p:cxnSp>
      <p:cxnSp>
        <p:nvCxnSpPr>
          <p:cNvPr id="17" name="KAITO owns Routing resources"/>
          <p:cNvCxnSpPr/>
          <p:nvPr/>
        </p:nvCxnSpPr>
        <p:spPr>
          <a:xfrm>
            <a:off x="7447788" y="2146554"/>
            <a:ext cx="0" cy="240030"/>
          </a:xfrm>
          <a:prstGeom prst="line">
            <a:avLst/>
          </a:prstGeom>
          <a:ln w="22860">
            <a:solidFill>
              <a:srgbClr val="7150C8"/>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8" name="Routing resources"/>
          <p:cNvSpPr/>
          <p:nvPr/>
        </p:nvSpPr>
        <p:spPr>
          <a:xfrm>
            <a:off x="6192773" y="2400300"/>
            <a:ext cx="2516886" cy="637794"/>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2463D4"/>
                </a:solidFill>
                <a:latin typeface="Arial"/>
              </a:defRPr>
            </a:pPr>
            <a:r>
              <a:rPr sz="1425" cap="none">
                <a:latin typeface="Arial"/>
              </a:rPr>
              <a:t>Routing resources</a:t>
            </a:r>
          </a:p>
          <a:p>
            <a:pPr algn="ctr">
              <a:spcBef>
                <a:spcPts val="225"/>
              </a:spcBef>
              <a:defRPr sz="1200" b="0">
                <a:solidFill>
                  <a:srgbClr val="5B6E80"/>
                </a:solidFill>
                <a:latin typeface="Arial"/>
              </a:defRPr>
            </a:pPr>
            <a:r>
              <a:rPr sz="900" cap="none">
                <a:latin typeface="Arial"/>
              </a:rPr>
              <a:t>InferencePool + llm-d EPP</a:t>
            </a:r>
          </a:p>
        </p:txBody>
      </p:sp>
      <p:sp>
        <p:nvSpPr>
          <p:cNvPr id="19" name="Role labels / NIXL host / Pod IP"/>
          <p:cNvSpPr txBox="1"/>
          <p:nvPr/>
        </p:nvSpPr>
        <p:spPr>
          <a:xfrm>
            <a:off x="60350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Role labels</a:t>
            </a:r>
          </a:p>
          <a:p>
            <a:pPr>
              <a:spcAft>
                <a:spcPts val="150"/>
              </a:spcAft>
              <a:defRPr sz="1700" b="0">
                <a:solidFill>
                  <a:srgbClr val="5B6E80"/>
                </a:solidFill>
                <a:latin typeface="Arial"/>
              </a:defRPr>
            </a:pPr>
            <a:r>
              <a:rPr sz="1275" cap="none">
                <a:latin typeface="Arial"/>
              </a:rPr>
              <a:t>NIXL host / Pod IP</a:t>
            </a:r>
          </a:p>
        </p:txBody>
      </p:sp>
      <p:sp>
        <p:nvSpPr>
          <p:cNvPr id="20" name="Routing sidecar injection / NIXL + local vLLM ports"/>
          <p:cNvSpPr txBox="1"/>
          <p:nvPr/>
        </p:nvSpPr>
        <p:spPr>
          <a:xfrm>
            <a:off x="348386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Routing sidecar injection</a:t>
            </a:r>
          </a:p>
          <a:p>
            <a:pPr>
              <a:spcAft>
                <a:spcPts val="150"/>
              </a:spcAft>
              <a:defRPr sz="1700" b="0">
                <a:solidFill>
                  <a:srgbClr val="5B6E80"/>
                </a:solidFill>
                <a:latin typeface="Arial"/>
              </a:defRPr>
            </a:pPr>
            <a:r>
              <a:rPr sz="1275" cap="none">
                <a:latin typeface="Arial"/>
              </a:rPr>
              <a:t>NIXL + local vLLM ports</a:t>
            </a:r>
          </a:p>
        </p:txBody>
      </p:sp>
      <p:sp>
        <p:nvSpPr>
          <p:cNvPr id="21" name="Services + targetPorts / Endpoint selection config"/>
          <p:cNvSpPr txBox="1"/>
          <p:nvPr/>
        </p:nvSpPr>
        <p:spPr>
          <a:xfrm>
            <a:off x="6364224" y="3230118"/>
            <a:ext cx="2160270" cy="548640"/>
          </a:xfrm>
          <a:prstGeom prst="rect">
            <a:avLst/>
          </a:prstGeom>
          <a:noFill/>
        </p:spPr>
        <p:txBody>
          <a:bodyPr wrap="square" lIns="0" tIns="0" rIns="0" bIns="0" anchor="t">
            <a:noAutofit/>
          </a:bodyPr>
          <a:lstStyle/>
          <a:p>
            <a:pPr>
              <a:spcAft>
                <a:spcPts val="150"/>
              </a:spcAft>
              <a:defRPr sz="1700" b="0">
                <a:solidFill>
                  <a:srgbClr val="5B6E80"/>
                </a:solidFill>
                <a:latin typeface="Arial"/>
              </a:defRPr>
            </a:pPr>
            <a:r>
              <a:rPr sz="1275" cap="none">
                <a:latin typeface="Arial"/>
              </a:rPr>
              <a:t>Services + targetPorts</a:t>
            </a:r>
          </a:p>
          <a:p>
            <a:pPr>
              <a:spcAft>
                <a:spcPts val="150"/>
              </a:spcAft>
              <a:defRPr sz="1700" b="0">
                <a:solidFill>
                  <a:srgbClr val="5B6E80"/>
                </a:solidFill>
                <a:latin typeface="Arial"/>
              </a:defRPr>
            </a:pPr>
            <a:r>
              <a:rPr sz="1275" cap="none">
                <a:latin typeface="Arial"/>
              </a:rPr>
              <a:t>Endpoint selection config</a:t>
            </a:r>
          </a:p>
        </p:txBody>
      </p:sp>
      <p:sp>
        <p:nvSpPr>
          <p:cNvPr id="22" name="Panel 21"/>
          <p:cNvSpPr/>
          <p:nvPr/>
        </p:nvSpPr>
        <p:spPr>
          <a:xfrm>
            <a:off x="445770" y="3936492"/>
            <a:ext cx="8250174" cy="288036"/>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Shared invariants: ownership references • role consistency • labels • ports • li"/>
          <p:cNvSpPr txBox="1"/>
          <p:nvPr/>
        </p:nvSpPr>
        <p:spPr>
          <a:xfrm>
            <a:off x="582930" y="3998214"/>
            <a:ext cx="7955280" cy="150876"/>
          </a:xfrm>
          <a:prstGeom prst="rect">
            <a:avLst/>
          </a:prstGeom>
          <a:noFill/>
        </p:spPr>
        <p:txBody>
          <a:bodyPr wrap="square" lIns="0" tIns="0" rIns="0" bIns="0" anchor="t">
            <a:noAutofit/>
          </a:bodyPr>
          <a:lstStyle/>
          <a:p>
            <a:pPr algn="ctr">
              <a:spcAft>
                <a:spcPts val="150"/>
              </a:spcAft>
              <a:defRPr sz="1300" b="0">
                <a:solidFill>
                  <a:srgbClr val="5B6E80"/>
                </a:solidFill>
                <a:latin typeface="Arial"/>
              </a:defRPr>
            </a:pPr>
            <a:r>
              <a:rPr sz="975" cap="none">
                <a:latin typeface="Arial"/>
              </a:rPr>
              <a:t>Shared invariants: ownership references • role consistency • labels • ports • lifecycle</a:t>
            </a:r>
          </a:p>
        </p:txBody>
      </p:sp>
      <p:sp>
        <p:nvSpPr>
          <p:cNvPr id="24" name="Panel 23"/>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Panel 24"/>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Not just generated YAML: controller-owned relationships and consistent runtime c"/>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Not just generated YAML: controller-owned relationships and consistent runtime contracts.</a:t>
            </a:r>
          </a:p>
        </p:txBody>
      </p:sp>
      <p:sp>
        <p:nvSpPr>
          <p:cNvPr id="27" name="TextBox 2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8" name="TextBox 2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28 / 49</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REQUEST LIFECYCLE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REQUEST LIFECYCLE  /  KAITO + llm-d</a:t>
            </a:r>
          </a:p>
        </p:txBody>
      </p:sp>
      <p:sp>
        <p:nvSpPr>
          <p:cNvPr id="4" name="The decode sidecar coordinates the P/D request"/>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The decode sidecar coordinates the P/D request</a:t>
            </a:r>
          </a:p>
        </p:txBody>
      </p:sp>
      <p:sp>
        <p:nvSpPr>
          <p:cNvPr id="5" name="Remote prefill when needed; local decode on the selected worker."/>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Remote prefill when needed; local decode on the selected worker.</a:t>
            </a:r>
          </a:p>
        </p:txBody>
      </p:sp>
      <p:sp>
        <p:nvSpPr>
          <p:cNvPr id="8" name="Client"/>
          <p:cNvSpPr/>
          <p:nvPr/>
        </p:nvSpPr>
        <p:spPr>
          <a:xfrm>
            <a:off x="144017"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Client</a:t>
            </a:r>
          </a:p>
        </p:txBody>
      </p:sp>
      <p:cxnSp>
        <p:nvCxnSpPr>
          <p:cNvPr id="9" name="Client lifeline"/>
          <p:cNvCxnSpPr/>
          <p:nvPr/>
        </p:nvCxnSpPr>
        <p:spPr>
          <a:xfrm>
            <a:off x="822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0" name="Gateway"/>
          <p:cNvSpPr/>
          <p:nvPr/>
        </p:nvSpPr>
        <p:spPr>
          <a:xfrm>
            <a:off x="1810511"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Gateway</a:t>
            </a:r>
          </a:p>
        </p:txBody>
      </p:sp>
      <p:cxnSp>
        <p:nvCxnSpPr>
          <p:cNvPr id="11" name="Gateway lifeline"/>
          <p:cNvCxnSpPr/>
          <p:nvPr/>
        </p:nvCxnSpPr>
        <p:spPr>
          <a:xfrm>
            <a:off x="2489454"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2" name="Decode sidecar"/>
          <p:cNvSpPr/>
          <p:nvPr/>
        </p:nvSpPr>
        <p:spPr>
          <a:xfrm>
            <a:off x="3470148" y="1392173"/>
            <a:ext cx="1357884" cy="370332"/>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2463D4"/>
                </a:solidFill>
                <a:latin typeface="Arial"/>
              </a:defRPr>
            </a:pPr>
            <a:r>
              <a:rPr sz="1050" cap="none">
                <a:latin typeface="Arial"/>
              </a:rPr>
              <a:t>Decode sidecar</a:t>
            </a:r>
          </a:p>
        </p:txBody>
      </p:sp>
      <p:cxnSp>
        <p:nvCxnSpPr>
          <p:cNvPr id="13" name="Decode sidecar lifeline"/>
          <p:cNvCxnSpPr/>
          <p:nvPr/>
        </p:nvCxnSpPr>
        <p:spPr>
          <a:xfrm>
            <a:off x="414909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4" name="Prefill vLLM"/>
          <p:cNvSpPr/>
          <p:nvPr/>
        </p:nvSpPr>
        <p:spPr>
          <a:xfrm>
            <a:off x="5150358" y="1392173"/>
            <a:ext cx="1357884" cy="37033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A85C05"/>
                </a:solidFill>
                <a:latin typeface="Arial"/>
              </a:defRPr>
            </a:pPr>
            <a:r>
              <a:rPr sz="1050" cap="none">
                <a:latin typeface="Arial"/>
              </a:rPr>
              <a:t>Prefill vLLM</a:t>
            </a:r>
          </a:p>
        </p:txBody>
      </p:sp>
      <p:cxnSp>
        <p:nvCxnSpPr>
          <p:cNvPr id="15" name="Prefill vLLM lifeline"/>
          <p:cNvCxnSpPr/>
          <p:nvPr/>
        </p:nvCxnSpPr>
        <p:spPr>
          <a:xfrm>
            <a:off x="582930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sp>
        <p:nvSpPr>
          <p:cNvPr id="16" name="Decode vLLM"/>
          <p:cNvSpPr/>
          <p:nvPr/>
        </p:nvSpPr>
        <p:spPr>
          <a:xfrm>
            <a:off x="7002018" y="1392173"/>
            <a:ext cx="1357884" cy="370332"/>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400" b="1">
                <a:solidFill>
                  <a:srgbClr val="087F82"/>
                </a:solidFill>
                <a:latin typeface="Arial"/>
              </a:defRPr>
            </a:pPr>
            <a:r>
              <a:rPr sz="1050" cap="none">
                <a:latin typeface="Arial"/>
              </a:rPr>
              <a:t>Decode vLLM</a:t>
            </a:r>
          </a:p>
        </p:txBody>
      </p:sp>
      <p:cxnSp>
        <p:nvCxnSpPr>
          <p:cNvPr id="17" name="Decode vLLM lifeline"/>
          <p:cNvCxnSpPr/>
          <p:nvPr/>
        </p:nvCxnSpPr>
        <p:spPr>
          <a:xfrm>
            <a:off x="7680960" y="1824228"/>
            <a:ext cx="0" cy="2503170"/>
          </a:xfrm>
          <a:prstGeom prst="line">
            <a:avLst/>
          </a:prstGeom>
          <a:ln w="13970">
            <a:solidFill>
              <a:srgbClr val="DCE5EF"/>
            </a:solidFill>
            <a:prstDash val="dash"/>
          </a:ln>
        </p:spPr>
        <p:style>
          <a:lnRef idx="2">
            <a:schemeClr val="accent1"/>
          </a:lnRef>
          <a:fillRef idx="0">
            <a:schemeClr val="accent1"/>
          </a:fillRef>
          <a:effectRef idx="1">
            <a:schemeClr val="accent1"/>
          </a:effectRef>
          <a:fontRef idx="minor">
            <a:schemeClr val="tx1"/>
          </a:fontRef>
        </p:style>
      </p:cxnSp>
      <p:cxnSp>
        <p:nvCxnSpPr>
          <p:cNvPr id="18" name="1  Inference request"/>
          <p:cNvCxnSpPr/>
          <p:nvPr/>
        </p:nvCxnSpPr>
        <p:spPr>
          <a:xfrm>
            <a:off x="822960" y="2016252"/>
            <a:ext cx="1666494"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9" name="1  Inference request"/>
          <p:cNvSpPr txBox="1"/>
          <p:nvPr/>
        </p:nvSpPr>
        <p:spPr>
          <a:xfrm>
            <a:off x="864109" y="1865376"/>
            <a:ext cx="1584197"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1  Inference request</a:t>
            </a:r>
          </a:p>
        </p:txBody>
      </p:sp>
      <p:cxnSp>
        <p:nvCxnSpPr>
          <p:cNvPr id="20" name="2  Selected decode + prefill header"/>
          <p:cNvCxnSpPr/>
          <p:nvPr/>
        </p:nvCxnSpPr>
        <p:spPr>
          <a:xfrm>
            <a:off x="2489454" y="2290572"/>
            <a:ext cx="1659636"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2  Route to decode sidecar /      + selected prefill header"/>
          <p:cNvSpPr txBox="1"/>
          <p:nvPr/>
        </p:nvSpPr>
        <p:spPr>
          <a:xfrm>
            <a:off x="2530602" y="2050542"/>
            <a:ext cx="1577340" cy="233172"/>
          </a:xfrm>
          <a:prstGeom prst="rect">
            <a:avLst/>
          </a:prstGeom>
          <a:noFill/>
        </p:spPr>
        <p:txBody>
          <a:bodyPr wrap="square" lIns="0" tIns="0" rIns="0" bIns="0" anchor="t">
            <a:noAutofit/>
          </a:bodyPr>
          <a:lstStyle/>
          <a:p>
            <a:pPr algn="ctr">
              <a:spcAft>
                <a:spcPts val="150"/>
              </a:spcAft>
              <a:defRPr sz="1050" b="0">
                <a:solidFill>
                  <a:srgbClr val="2463D4"/>
                </a:solidFill>
                <a:latin typeface="Arial"/>
              </a:defRPr>
            </a:pPr>
            <a:r>
              <a:rPr sz="788" cap="none">
                <a:latin typeface="Arial"/>
              </a:rPr>
              <a:t>2  Route to decode sidecar</a:t>
            </a:r>
          </a:p>
          <a:p>
            <a:pPr algn="ctr">
              <a:spcAft>
                <a:spcPts val="150"/>
              </a:spcAft>
              <a:defRPr sz="1050" b="0">
                <a:solidFill>
                  <a:srgbClr val="2463D4"/>
                </a:solidFill>
                <a:latin typeface="Arial"/>
              </a:defRPr>
            </a:pPr>
            <a:r>
              <a:rPr sz="788" cap="none">
                <a:latin typeface="Arial"/>
              </a:rPr>
              <a:t>     + selected prefill header</a:t>
            </a:r>
          </a:p>
        </p:txBody>
      </p:sp>
      <p:cxnSp>
        <p:nvCxnSpPr>
          <p:cNvPr id="22" name="3  Remote prefill · max_tokens=1"/>
          <p:cNvCxnSpPr/>
          <p:nvPr/>
        </p:nvCxnSpPr>
        <p:spPr>
          <a:xfrm>
            <a:off x="4149090" y="2564892"/>
            <a:ext cx="1680210" cy="0"/>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23" name="3  Remote prefill /      max_tokens=1"/>
          <p:cNvSpPr txBox="1"/>
          <p:nvPr/>
        </p:nvSpPr>
        <p:spPr>
          <a:xfrm>
            <a:off x="4190237" y="2324862"/>
            <a:ext cx="1597914" cy="233172"/>
          </a:xfrm>
          <a:prstGeom prst="rect">
            <a:avLst/>
          </a:prstGeom>
          <a:noFill/>
        </p:spPr>
        <p:txBody>
          <a:bodyPr wrap="square" lIns="0" tIns="0" rIns="0" bIns="0" anchor="t">
            <a:noAutofit/>
          </a:bodyPr>
          <a:lstStyle/>
          <a:p>
            <a:pPr algn="ctr">
              <a:spcAft>
                <a:spcPts val="150"/>
              </a:spcAft>
              <a:defRPr sz="1050" b="0">
                <a:solidFill>
                  <a:srgbClr val="A85C05"/>
                </a:solidFill>
                <a:latin typeface="Arial"/>
              </a:defRPr>
            </a:pPr>
            <a:r>
              <a:rPr sz="788" cap="none">
                <a:latin typeface="Arial"/>
              </a:rPr>
              <a:t>3  Remote prefill</a:t>
            </a:r>
          </a:p>
          <a:p>
            <a:pPr algn="ctr">
              <a:spcAft>
                <a:spcPts val="150"/>
              </a:spcAft>
              <a:defRPr sz="1050" b="0">
                <a:solidFill>
                  <a:srgbClr val="A85C05"/>
                </a:solidFill>
                <a:latin typeface="Arial"/>
              </a:defRPr>
            </a:pPr>
            <a:r>
              <a:rPr sz="788" cap="none">
                <a:latin typeface="Arial"/>
              </a:rPr>
              <a:t>     max_tokens=1</a:t>
            </a:r>
          </a:p>
        </p:txBody>
      </p:sp>
      <p:cxnSp>
        <p:nvCxnSpPr>
          <p:cNvPr id="24" name="4  Remote KV parameters"/>
          <p:cNvCxnSpPr/>
          <p:nvPr/>
        </p:nvCxnSpPr>
        <p:spPr>
          <a:xfrm flipH="1">
            <a:off x="4149090" y="2839211"/>
            <a:ext cx="1680210" cy="0"/>
          </a:xfrm>
          <a:prstGeom prst="line">
            <a:avLst/>
          </a:prstGeom>
          <a:ln w="22860">
            <a:solidFill>
              <a:srgbClr val="A85C05"/>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25" name="4  Remote KV parameters"/>
          <p:cNvSpPr txBox="1"/>
          <p:nvPr/>
        </p:nvSpPr>
        <p:spPr>
          <a:xfrm>
            <a:off x="4190237" y="2688335"/>
            <a:ext cx="1597914" cy="137160"/>
          </a:xfrm>
          <a:prstGeom prst="rect">
            <a:avLst/>
          </a:prstGeom>
          <a:noFill/>
        </p:spPr>
        <p:txBody>
          <a:bodyPr wrap="square" lIns="0" tIns="0" rIns="0" bIns="0" anchor="t">
            <a:noAutofit/>
          </a:bodyPr>
          <a:lstStyle/>
          <a:p>
            <a:pPr algn="ctr">
              <a:spcAft>
                <a:spcPts val="150"/>
              </a:spcAft>
              <a:defRPr sz="1100" b="0">
                <a:solidFill>
                  <a:srgbClr val="A85C05"/>
                </a:solidFill>
                <a:latin typeface="Arial"/>
              </a:defRPr>
            </a:pPr>
            <a:r>
              <a:rPr sz="825" cap="none">
                <a:latin typeface="Arial"/>
              </a:rPr>
              <a:t>4  Remote KV parameters</a:t>
            </a:r>
          </a:p>
        </p:txBody>
      </p:sp>
      <p:cxnSp>
        <p:nvCxnSpPr>
          <p:cNvPr id="26" name="5  Local decode · remote_prefill=true + IDs"/>
          <p:cNvCxnSpPr/>
          <p:nvPr/>
        </p:nvCxnSpPr>
        <p:spPr>
          <a:xfrm>
            <a:off x="4149090" y="3140964"/>
            <a:ext cx="353187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27" name="5  Local decode · remote_prefill=true + IDs"/>
          <p:cNvSpPr txBox="1"/>
          <p:nvPr/>
        </p:nvSpPr>
        <p:spPr>
          <a:xfrm>
            <a:off x="4190238" y="2990088"/>
            <a:ext cx="3449573" cy="13716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5  Local decode · remote_prefill=true + IDs</a:t>
            </a:r>
          </a:p>
        </p:txBody>
      </p:sp>
      <p:cxnSp>
        <p:nvCxnSpPr>
          <p:cNvPr id="28" name="6  KV data → decode (NIXL read)"/>
          <p:cNvCxnSpPr/>
          <p:nvPr/>
        </p:nvCxnSpPr>
        <p:spPr>
          <a:xfrm>
            <a:off x="5829300" y="3442716"/>
            <a:ext cx="1851660" cy="0"/>
          </a:xfrm>
          <a:prstGeom prst="line">
            <a:avLst/>
          </a:prstGeom>
          <a:ln w="2286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9" name="6  KV data → decode /      NIXL read by decode"/>
          <p:cNvSpPr txBox="1"/>
          <p:nvPr/>
        </p:nvSpPr>
        <p:spPr>
          <a:xfrm>
            <a:off x="5870449" y="3202686"/>
            <a:ext cx="1769363" cy="233172"/>
          </a:xfrm>
          <a:prstGeom prst="rect">
            <a:avLst/>
          </a:prstGeom>
          <a:noFill/>
        </p:spPr>
        <p:txBody>
          <a:bodyPr wrap="square" lIns="0" tIns="0" rIns="0" bIns="0" anchor="t">
            <a:noAutofit/>
          </a:bodyPr>
          <a:lstStyle/>
          <a:p>
            <a:pPr algn="ctr">
              <a:spcAft>
                <a:spcPts val="150"/>
              </a:spcAft>
              <a:defRPr sz="1050" b="0">
                <a:solidFill>
                  <a:srgbClr val="24824C"/>
                </a:solidFill>
                <a:latin typeface="Arial"/>
              </a:defRPr>
            </a:pPr>
            <a:r>
              <a:rPr sz="788" cap="none">
                <a:latin typeface="Arial"/>
              </a:rPr>
              <a:t>6  KV data → decode</a:t>
            </a:r>
          </a:p>
          <a:p>
            <a:pPr algn="ctr">
              <a:spcAft>
                <a:spcPts val="150"/>
              </a:spcAft>
              <a:defRPr sz="1050" b="0">
                <a:solidFill>
                  <a:srgbClr val="24824C"/>
                </a:solidFill>
                <a:latin typeface="Arial"/>
              </a:defRPr>
            </a:pPr>
            <a:r>
              <a:rPr sz="788" cap="none">
                <a:latin typeface="Arial"/>
              </a:rPr>
              <a:t>     NIXL read by decode</a:t>
            </a:r>
          </a:p>
        </p:txBody>
      </p:sp>
      <p:cxnSp>
        <p:nvCxnSpPr>
          <p:cNvPr id="30" name="7  Inference response"/>
          <p:cNvCxnSpPr/>
          <p:nvPr/>
        </p:nvCxnSpPr>
        <p:spPr>
          <a:xfrm flipH="1">
            <a:off x="4149090" y="3744468"/>
            <a:ext cx="3531870"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1" name="7  Inference response"/>
          <p:cNvSpPr txBox="1"/>
          <p:nvPr/>
        </p:nvSpPr>
        <p:spPr>
          <a:xfrm>
            <a:off x="4190238" y="3593592"/>
            <a:ext cx="3449573"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7  Inference response</a:t>
            </a:r>
          </a:p>
        </p:txBody>
      </p:sp>
      <p:cxnSp>
        <p:nvCxnSpPr>
          <p:cNvPr id="32" name="8  Response"/>
          <p:cNvCxnSpPr/>
          <p:nvPr/>
        </p:nvCxnSpPr>
        <p:spPr>
          <a:xfrm flipH="1">
            <a:off x="2489454" y="4018788"/>
            <a:ext cx="1659636"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3" name="8  Response"/>
          <p:cNvSpPr txBox="1"/>
          <p:nvPr/>
        </p:nvSpPr>
        <p:spPr>
          <a:xfrm>
            <a:off x="2530602" y="3867912"/>
            <a:ext cx="1577340"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8  Response</a:t>
            </a:r>
          </a:p>
        </p:txBody>
      </p:sp>
      <p:cxnSp>
        <p:nvCxnSpPr>
          <p:cNvPr id="34" name="9  Final response"/>
          <p:cNvCxnSpPr/>
          <p:nvPr/>
        </p:nvCxnSpPr>
        <p:spPr>
          <a:xfrm flipH="1">
            <a:off x="822960" y="4272534"/>
            <a:ext cx="1666494" cy="0"/>
          </a:xfrm>
          <a:prstGeom prst="line">
            <a:avLst/>
          </a:prstGeom>
          <a:ln w="22860">
            <a:solidFill>
              <a:srgbClr val="087F82"/>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35" name="9  Final response"/>
          <p:cNvSpPr txBox="1"/>
          <p:nvPr/>
        </p:nvSpPr>
        <p:spPr>
          <a:xfrm>
            <a:off x="864109" y="4121658"/>
            <a:ext cx="1584197" cy="137160"/>
          </a:xfrm>
          <a:prstGeom prst="rect">
            <a:avLst/>
          </a:prstGeom>
          <a:noFill/>
        </p:spPr>
        <p:txBody>
          <a:bodyPr wrap="square" lIns="0" tIns="0" rIns="0" bIns="0" anchor="t">
            <a:noAutofit/>
          </a:bodyPr>
          <a:lstStyle/>
          <a:p>
            <a:pPr algn="ctr">
              <a:spcAft>
                <a:spcPts val="150"/>
              </a:spcAft>
              <a:defRPr sz="1100" b="0">
                <a:solidFill>
                  <a:srgbClr val="087F82"/>
                </a:solidFill>
                <a:latin typeface="Arial"/>
              </a:defRPr>
            </a:pPr>
            <a:r>
              <a:rPr sz="825" cap="none">
                <a:latin typeface="Arial"/>
              </a:rPr>
              <a:t>9  Final response</a:t>
            </a:r>
          </a:p>
        </p:txBody>
      </p:sp>
      <p:sp>
        <p:nvSpPr>
          <p:cNvPr id="36" name="Run decode"/>
          <p:cNvSpPr txBox="1"/>
          <p:nvPr/>
        </p:nvSpPr>
        <p:spPr>
          <a:xfrm>
            <a:off x="7845552" y="3531870"/>
            <a:ext cx="1062990" cy="144018"/>
          </a:xfrm>
          <a:prstGeom prst="rect">
            <a:avLst/>
          </a:prstGeom>
          <a:noFill/>
        </p:spPr>
        <p:txBody>
          <a:bodyPr wrap="square" lIns="0" tIns="0" rIns="0" bIns="0" anchor="t">
            <a:noAutofit/>
          </a:bodyPr>
          <a:lstStyle/>
          <a:p>
            <a:pPr>
              <a:spcAft>
                <a:spcPts val="150"/>
              </a:spcAft>
              <a:defRPr sz="1000" b="1">
                <a:solidFill>
                  <a:srgbClr val="087F82"/>
                </a:solidFill>
                <a:latin typeface="Arial"/>
              </a:defRPr>
            </a:pPr>
            <a:r>
              <a:rPr sz="750" cap="none">
                <a:latin typeface="Arial"/>
              </a:rPr>
              <a:t>Run decode</a:t>
            </a:r>
          </a:p>
        </p:txBody>
      </p:sp>
      <p:sp>
        <p:nvSpPr>
          <p:cNvPr id="37" name="Run prefill"/>
          <p:cNvSpPr txBox="1"/>
          <p:nvPr/>
        </p:nvSpPr>
        <p:spPr>
          <a:xfrm>
            <a:off x="5959602" y="2633472"/>
            <a:ext cx="1062990" cy="144018"/>
          </a:xfrm>
          <a:prstGeom prst="rect">
            <a:avLst/>
          </a:prstGeom>
          <a:noFill/>
        </p:spPr>
        <p:txBody>
          <a:bodyPr wrap="square" lIns="0" tIns="0" rIns="0" bIns="0" anchor="t">
            <a:noAutofit/>
          </a:bodyPr>
          <a:lstStyle/>
          <a:p>
            <a:pPr>
              <a:spcAft>
                <a:spcPts val="150"/>
              </a:spcAft>
              <a:defRPr sz="1000" b="1">
                <a:solidFill>
                  <a:srgbClr val="A85C05"/>
                </a:solidFill>
                <a:latin typeface="Arial"/>
              </a:defRPr>
            </a:pPr>
            <a:r>
              <a:rPr sz="750" cap="none">
                <a:latin typeface="Arial"/>
              </a:rPr>
              <a:t>Run prefill</a:t>
            </a:r>
          </a:p>
        </p:txBody>
      </p:sp>
      <p:sp>
        <p:nvSpPr>
          <p:cNvPr id="38" name="Panel 37"/>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Panel 38"/>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he sidecar coordinates the request; KV data moves directly between the two runt"/>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The sidecar coordinates the request; KV data moves directly between the two runtimes.</a:t>
            </a:r>
          </a:p>
        </p:txBody>
      </p:sp>
      <p:sp>
        <p:nvSpPr>
          <p:cNvPr id="41" name="TextBox 40"/>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2" name="TextBox 41"/>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29 / 49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anel 1"/>
          <p:cNvSpPr/>
          <p:nvPr/>
        </p:nvSpPr>
        <p:spPr>
          <a:xfrm>
            <a:off x="411480" y="246888"/>
            <a:ext cx="233172" cy="30861"/>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 name="POD BOUNDARY  /  KAITO + llm-d"/>
          <p:cNvSpPr txBox="1"/>
          <p:nvPr/>
        </p:nvSpPr>
        <p:spPr>
          <a:xfrm>
            <a:off x="720090" y="198882"/>
            <a:ext cx="7406640" cy="137160"/>
          </a:xfrm>
          <a:prstGeom prst="rect">
            <a:avLst/>
          </a:prstGeom>
          <a:noFill/>
        </p:spPr>
        <p:txBody>
          <a:bodyPr wrap="square" lIns="0" tIns="0" rIns="0" bIns="0" anchor="t">
            <a:noAutofit/>
          </a:bodyPr>
          <a:lstStyle/>
          <a:p>
            <a:pPr>
              <a:spcAft>
                <a:spcPts val="150"/>
              </a:spcAft>
              <a:defRPr sz="1000" b="1">
                <a:solidFill>
                  <a:srgbClr val="5B6E80"/>
                </a:solidFill>
                <a:latin typeface="Arial"/>
              </a:defRPr>
            </a:pPr>
            <a:r>
              <a:rPr sz="750" cap="none">
                <a:latin typeface="Arial"/>
              </a:rPr>
              <a:t>POD BOUNDARY  /  KAITO + llm-d</a:t>
            </a:r>
          </a:p>
        </p:txBody>
      </p:sp>
      <p:sp>
        <p:nvSpPr>
          <p:cNvPr id="4" name="Why the sidecar belongs on the decode pod"/>
          <p:cNvSpPr txBox="1"/>
          <p:nvPr/>
        </p:nvSpPr>
        <p:spPr>
          <a:xfrm>
            <a:off x="365760" y="539496"/>
            <a:ext cx="8412480" cy="420624"/>
          </a:xfrm>
          <a:prstGeom prst="rect">
            <a:avLst/>
          </a:prstGeom>
          <a:noFill/>
        </p:spPr>
        <p:txBody>
          <a:bodyPr wrap="none" lIns="0" tIns="0" rIns="0" bIns="0" anchor="t">
            <a:noAutofit/>
          </a:bodyPr>
          <a:lstStyle/>
          <a:p>
            <a:pPr>
              <a:spcAft>
                <a:spcPts val="300"/>
              </a:spcAft>
              <a:defRPr sz="3000" b="1">
                <a:solidFill>
                  <a:srgbClr val="10243A"/>
                </a:solidFill>
                <a:latin typeface="Arial"/>
              </a:defRPr>
            </a:pPr>
            <a:r>
              <a:rPr sz="2100" cap="none" b="1">
                <a:solidFill>
                  <a:srgbClr val="142C46"/>
                </a:solidFill>
                <a:latin typeface="Arial"/>
              </a:rPr>
              <a:t>Why the sidecar belongs on the decode pod</a:t>
            </a:r>
          </a:p>
        </p:txBody>
      </p:sp>
      <p:sp>
        <p:nvSpPr>
          <p:cNvPr id="5" name="A single decode endpoint coordinates remote prefill and returns the final respon"/>
          <p:cNvSpPr txBox="1"/>
          <p:nvPr/>
        </p:nvSpPr>
        <p:spPr>
          <a:xfrm>
            <a:off x="384048" y="1033271"/>
            <a:ext cx="8321040" cy="329184"/>
          </a:xfrm>
          <a:prstGeom prst="rect">
            <a:avLst/>
          </a:prstGeom>
          <a:noFill/>
        </p:spPr>
        <p:txBody>
          <a:bodyPr wrap="square" lIns="0" tIns="0" rIns="0" bIns="0" anchor="t">
            <a:noAutofit/>
          </a:bodyPr>
          <a:lstStyle/>
          <a:p>
            <a:pPr>
              <a:spcAft>
                <a:spcPts val="150"/>
              </a:spcAft>
              <a:defRPr sz="1500" b="0">
                <a:solidFill>
                  <a:srgbClr val="5B6E80"/>
                </a:solidFill>
                <a:latin typeface="Arial"/>
              </a:defRPr>
            </a:pPr>
            <a:r>
              <a:rPr sz="1200" cap="none">
                <a:solidFill>
                  <a:srgbClr val="52677D"/>
                </a:solidFill>
                <a:latin typeface="Arial"/>
              </a:rPr>
              <a:t>A single decode endpoint coordinates remote prefill and returns the final response.</a:t>
            </a:r>
          </a:p>
        </p:txBody>
      </p:sp>
      <p:sp>
        <p:nvSpPr>
          <p:cNvPr id="8" name="Decode pod boundary"/>
          <p:cNvSpPr/>
          <p:nvPr/>
        </p:nvSpPr>
        <p:spPr>
          <a:xfrm>
            <a:off x="2880360" y="1426464"/>
            <a:ext cx="5815584" cy="1783080"/>
          </a:xfrm>
          <a:prstGeom prst="roundRect">
            <a:avLst>
              <a:gd name="adj" fmla="val 12000"/>
            </a:avLst>
          </a:prstGeom>
          <a:solidFill>
            <a:srgbClr val="F5F8FC"/>
          </a:solidFill>
          <a:ln w="12700">
            <a:solidFill>
              <a:srgbClr val="DC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SELECTED DECODE POD"/>
          <p:cNvSpPr txBox="1"/>
          <p:nvPr/>
        </p:nvSpPr>
        <p:spPr>
          <a:xfrm>
            <a:off x="3065526" y="1570482"/>
            <a:ext cx="5349240" cy="205740"/>
          </a:xfrm>
          <a:prstGeom prst="rect">
            <a:avLst/>
          </a:prstGeom>
          <a:noFill/>
        </p:spPr>
        <p:txBody>
          <a:bodyPr wrap="square" lIns="0" tIns="0" rIns="0" bIns="0" anchor="t">
            <a:noAutofit/>
          </a:bodyPr>
          <a:lstStyle/>
          <a:p>
            <a:pPr>
              <a:spcAft>
                <a:spcPts val="150"/>
              </a:spcAft>
              <a:defRPr sz="1200" b="1">
                <a:solidFill>
                  <a:srgbClr val="087F82"/>
                </a:solidFill>
                <a:latin typeface="Arial"/>
              </a:defRPr>
            </a:pPr>
            <a:r>
              <a:rPr sz="900" cap="none">
                <a:latin typeface="Arial"/>
              </a:rPr>
              <a:t>Selected decode pod</a:t>
            </a:r>
          </a:p>
        </p:txBody>
      </p:sp>
      <p:sp>
        <p:nvSpPr>
          <p:cNvPr id="10" name="Gateway"/>
          <p:cNvSpPr/>
          <p:nvPr/>
        </p:nvSpPr>
        <p:spPr>
          <a:xfrm>
            <a:off x="445770" y="2125980"/>
            <a:ext cx="1769364" cy="651510"/>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2463D4"/>
                </a:solidFill>
                <a:latin typeface="Arial"/>
              </a:defRPr>
            </a:pPr>
            <a:r>
              <a:rPr sz="1350" cap="none">
                <a:latin typeface="Arial"/>
              </a:rPr>
              <a:t>Gateway</a:t>
            </a:r>
          </a:p>
          <a:p>
            <a:pPr algn="ctr">
              <a:spcBef>
                <a:spcPts val="225"/>
              </a:spcBef>
              <a:defRPr sz="1200" b="0">
                <a:solidFill>
                  <a:srgbClr val="5B6E80"/>
                </a:solidFill>
                <a:latin typeface="Arial"/>
              </a:defRPr>
            </a:pPr>
            <a:r>
              <a:rPr sz="900" cap="none">
                <a:latin typeface="Arial"/>
              </a:rPr>
              <a:t>EPP-selected endpoint</a:t>
            </a:r>
          </a:p>
        </p:txBody>
      </p:sp>
      <p:sp>
        <p:nvSpPr>
          <p:cNvPr id="11" name="Routing sidecar"/>
          <p:cNvSpPr/>
          <p:nvPr/>
        </p:nvSpPr>
        <p:spPr>
          <a:xfrm>
            <a:off x="3120390" y="2112264"/>
            <a:ext cx="1954530" cy="768096"/>
          </a:xfrm>
          <a:prstGeom prst="roundRect">
            <a:avLst>
              <a:gd name="adj" fmla="val 12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2000" b="1">
                <a:solidFill>
                  <a:srgbClr val="2463D4"/>
                </a:solidFill>
                <a:latin typeface="Arial"/>
              </a:defRPr>
            </a:pPr>
            <a:r>
              <a:rPr sz="1500" cap="none">
                <a:latin typeface="Arial"/>
              </a:rPr>
              <a:t>Routing sidecar</a:t>
            </a:r>
          </a:p>
          <a:p>
            <a:pPr algn="ctr">
              <a:spcBef>
                <a:spcPts val="225"/>
              </a:spcBef>
              <a:defRPr sz="1200" b="0">
                <a:solidFill>
                  <a:srgbClr val="5B6E80"/>
                </a:solidFill>
                <a:latin typeface="Arial"/>
              </a:defRPr>
            </a:pPr>
            <a:r>
              <a:rPr sz="900" cap="none">
                <a:latin typeface="Arial"/>
              </a:rPr>
              <a:t>Port 5000</a:t>
            </a:r>
          </a:p>
        </p:txBody>
      </p:sp>
      <p:sp>
        <p:nvSpPr>
          <p:cNvPr id="12" name="Local decode vLLM"/>
          <p:cNvSpPr/>
          <p:nvPr/>
        </p:nvSpPr>
        <p:spPr>
          <a:xfrm>
            <a:off x="6275070" y="2112264"/>
            <a:ext cx="2023110" cy="768096"/>
          </a:xfrm>
          <a:prstGeom prst="roundRect">
            <a:avLst>
              <a:gd name="adj" fmla="val 12000"/>
            </a:avLst>
          </a:prstGeom>
          <a:solidFill>
            <a:srgbClr val="E5F5F3"/>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900" b="1">
                <a:solidFill>
                  <a:srgbClr val="087F82"/>
                </a:solidFill>
                <a:latin typeface="Arial"/>
              </a:defRPr>
            </a:pPr>
            <a:r>
              <a:rPr sz="1425" cap="none">
                <a:latin typeface="Arial"/>
              </a:rPr>
              <a:t>Local decode vLLM</a:t>
            </a:r>
          </a:p>
          <a:p>
            <a:pPr algn="ctr">
              <a:spcBef>
                <a:spcPts val="225"/>
              </a:spcBef>
              <a:defRPr sz="1200" b="0">
                <a:solidFill>
                  <a:srgbClr val="5B6E80"/>
                </a:solidFill>
                <a:latin typeface="Arial"/>
              </a:defRPr>
            </a:pPr>
            <a:r>
              <a:rPr sz="900" cap="none">
                <a:latin typeface="Arial"/>
              </a:rPr>
              <a:t>Port 5001</a:t>
            </a:r>
          </a:p>
        </p:txBody>
      </p:sp>
      <p:cxnSp>
        <p:nvCxnSpPr>
          <p:cNvPr id="13" name="Gateway → Routing sidecar"/>
          <p:cNvCxnSpPr>
            <a:stCxn id="10" idx="3"/>
            <a:endCxn id="11" idx="1"/>
          </p:cNvCxnSpPr>
          <p:nvPr/>
        </p:nvCxnSpPr>
        <p:spPr>
          <a:xfrm>
            <a:off x="2215134" y="2451735"/>
            <a:ext cx="905256" cy="44577"/>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4" name="Routing sidecar → Local decode vLLM"/>
          <p:cNvCxnSpPr>
            <a:stCxn id="11" idx="3"/>
            <a:endCxn id="12" idx="1"/>
          </p:cNvCxnSpPr>
          <p:nvPr/>
        </p:nvCxnSpPr>
        <p:spPr>
          <a:xfrm flipV="1">
            <a:off x="5074920" y="2496312"/>
            <a:ext cx="1200150" cy="0"/>
          </a:xfrm>
          <a:prstGeom prst="line">
            <a:avLst/>
          </a:prstGeom>
          <a:ln w="22860">
            <a:solidFill>
              <a:srgbClr val="2463D4"/>
            </a:solidFill>
            <a:tailEnd type="triangle" w="sm" len="sm"/>
          </a:ln>
        </p:spPr>
        <p:style>
          <a:lnRef idx="2">
            <a:schemeClr val="accent1"/>
          </a:lnRef>
          <a:fillRef idx="0">
            <a:schemeClr val="accent1"/>
          </a:fillRef>
          <a:effectRef idx="1">
            <a:schemeClr val="accent1"/>
          </a:effectRef>
          <a:fontRef idx="minor">
            <a:schemeClr val="tx1"/>
          </a:fontRef>
        </p:style>
      </p:cxnSp>
      <p:sp>
        <p:nvSpPr>
          <p:cNvPr id="15" name="local request / + KV metadata"/>
          <p:cNvSpPr txBox="1"/>
          <p:nvPr/>
        </p:nvSpPr>
        <p:spPr>
          <a:xfrm>
            <a:off x="5157216" y="2187702"/>
            <a:ext cx="1014984" cy="308610"/>
          </a:xfrm>
          <a:prstGeom prst="rect">
            <a:avLst/>
          </a:prstGeom>
          <a:noFill/>
        </p:spPr>
        <p:txBody>
          <a:bodyPr wrap="square" lIns="0" tIns="0" rIns="0" bIns="0" anchor="t">
            <a:noAutofit/>
          </a:bodyPr>
          <a:lstStyle/>
          <a:p>
            <a:pPr algn="ctr">
              <a:spcAft>
                <a:spcPts val="150"/>
              </a:spcAft>
              <a:defRPr sz="1100" b="0">
                <a:solidFill>
                  <a:srgbClr val="2463D4"/>
                </a:solidFill>
                <a:latin typeface="Arial"/>
              </a:defRPr>
            </a:pPr>
            <a:r>
              <a:rPr sz="825" cap="none">
                <a:latin typeface="Arial"/>
              </a:rPr>
              <a:t>local request</a:t>
            </a:r>
          </a:p>
          <a:p>
            <a:pPr algn="ctr">
              <a:spcAft>
                <a:spcPts val="150"/>
              </a:spcAft>
              <a:defRPr sz="1100" b="0">
                <a:solidFill>
                  <a:srgbClr val="2463D4"/>
                </a:solidFill>
                <a:latin typeface="Arial"/>
              </a:defRPr>
            </a:pPr>
            <a:r>
              <a:rPr sz="825" cap="none">
                <a:latin typeface="Arial"/>
              </a:rPr>
              <a:t>+ KV metadata</a:t>
            </a:r>
          </a:p>
        </p:txBody>
      </p:sp>
      <p:sp>
        <p:nvSpPr>
          <p:cNvPr id="16" name="Remote prefill"/>
          <p:cNvSpPr/>
          <p:nvPr/>
        </p:nvSpPr>
        <p:spPr>
          <a:xfrm>
            <a:off x="3120390" y="3545586"/>
            <a:ext cx="1954530" cy="610362"/>
          </a:xfrm>
          <a:prstGeom prst="roundRect">
            <a:avLst>
              <a:gd name="adj" fmla="val 12000"/>
            </a:avLst>
          </a:prstGeom>
          <a:solidFill>
            <a:srgbClr val="FFF3DD"/>
          </a:solidFill>
          <a:ln>
            <a:noFill/>
          </a:ln>
        </p:spPr>
        <p:style>
          <a:lnRef idx="1">
            <a:schemeClr val="accent1"/>
          </a:lnRef>
          <a:fillRef idx="3">
            <a:schemeClr val="accent1"/>
          </a:fillRef>
          <a:effectRef idx="2">
            <a:schemeClr val="accent1"/>
          </a:effectRef>
          <a:fontRef idx="minor">
            <a:schemeClr val="lt1"/>
          </a:fontRef>
        </p:style>
        <p:txBody>
          <a:bodyPr wrap="square" lIns="82296" tIns="41148" rIns="82296" bIns="41148" rtlCol="0" anchor="ctr">
            <a:noAutofit/>
          </a:bodyPr>
          <a:lstStyle/>
          <a:p>
            <a:pPr algn="ctr">
              <a:defRPr sz="1800" b="1">
                <a:solidFill>
                  <a:srgbClr val="A85C05"/>
                </a:solidFill>
                <a:latin typeface="Arial"/>
              </a:defRPr>
            </a:pPr>
            <a:r>
              <a:rPr sz="1350" cap="none">
                <a:latin typeface="Arial"/>
              </a:rPr>
              <a:t>Remote prefill</a:t>
            </a:r>
          </a:p>
          <a:p>
            <a:pPr algn="ctr">
              <a:spcBef>
                <a:spcPts val="225"/>
              </a:spcBef>
              <a:defRPr sz="1200" b="0">
                <a:solidFill>
                  <a:srgbClr val="5B6E80"/>
                </a:solidFill>
                <a:latin typeface="Arial"/>
              </a:defRPr>
            </a:pPr>
            <a:r>
              <a:rPr sz="900" cap="none">
                <a:latin typeface="Arial"/>
              </a:rPr>
              <a:t>vLLM worker</a:t>
            </a:r>
          </a:p>
        </p:txBody>
      </p:sp>
      <p:cxnSp>
        <p:nvCxnSpPr>
          <p:cNvPr id="17" name="Routing sidecar → Remote prefill"/>
          <p:cNvCxnSpPr>
            <a:stCxn id="11" idx="2"/>
            <a:endCxn id="16" idx="0"/>
          </p:cNvCxnSpPr>
          <p:nvPr/>
        </p:nvCxnSpPr>
        <p:spPr>
          <a:xfrm flipH="1">
            <a:off x="4097655" y="2880360"/>
            <a:ext cx="0" cy="665226"/>
          </a:xfrm>
          <a:prstGeom prst="line">
            <a:avLst/>
          </a:prstGeom>
          <a:ln w="22860">
            <a:solidFill>
              <a:srgbClr val="A85C05"/>
            </a:solidFill>
            <a:tailEnd type="triangle" w="sm" len="sm"/>
          </a:ln>
        </p:spPr>
        <p:style>
          <a:lnRef idx="2">
            <a:schemeClr val="accent1"/>
          </a:lnRef>
          <a:fillRef idx="0">
            <a:schemeClr val="accent1"/>
          </a:fillRef>
          <a:effectRef idx="1">
            <a:schemeClr val="accent1"/>
          </a:effectRef>
          <a:fontRef idx="minor">
            <a:schemeClr val="tx1"/>
          </a:fontRef>
        </p:style>
      </p:cxnSp>
      <p:sp>
        <p:nvSpPr>
          <p:cNvPr id="18" name="optional prefill request"/>
          <p:cNvSpPr txBox="1"/>
          <p:nvPr/>
        </p:nvSpPr>
        <p:spPr>
          <a:xfrm>
            <a:off x="1700784" y="3243834"/>
            <a:ext cx="2167128" cy="171450"/>
          </a:xfrm>
          <a:prstGeom prst="rect">
            <a:avLst/>
          </a:prstGeom>
          <a:noFill/>
        </p:spPr>
        <p:txBody>
          <a:bodyPr wrap="square" lIns="0" tIns="0" rIns="0" bIns="0" anchor="t">
            <a:noAutofit/>
          </a:bodyPr>
          <a:lstStyle/>
          <a:p>
            <a:pPr>
              <a:spcAft>
                <a:spcPts val="150"/>
              </a:spcAft>
              <a:defRPr sz="1100" b="0">
                <a:solidFill>
                  <a:srgbClr val="A85C05"/>
                </a:solidFill>
                <a:latin typeface="Arial"/>
              </a:defRPr>
            </a:pPr>
            <a:r>
              <a:rPr sz="825" cap="none">
                <a:latin typeface="Arial"/>
              </a:rPr>
              <a:t>optional prefill request</a:t>
            </a:r>
          </a:p>
        </p:txBody>
      </p:sp>
      <p:cxnSp>
        <p:nvCxnSpPr>
          <p:cNvPr id="19" name="NIXL KV data → local decode, bypassing sidecar"/>
          <p:cNvCxnSpPr/>
          <p:nvPr/>
        </p:nvCxnSpPr>
        <p:spPr>
          <a:xfrm>
            <a:off x="5088636" y="3847338"/>
            <a:ext cx="2194560" cy="0"/>
          </a:xfrm>
          <a:prstGeom prst="line">
            <a:avLst/>
          </a:prstGeom>
          <a:ln w="27940">
            <a:solidFill>
              <a:srgbClr val="24824C"/>
            </a:solidFill>
          </a:ln>
        </p:spPr>
        <p:style>
          <a:lnRef idx="2">
            <a:schemeClr val="accent1"/>
          </a:lnRef>
          <a:fillRef idx="0">
            <a:schemeClr val="accent1"/>
          </a:fillRef>
          <a:effectRef idx="1">
            <a:schemeClr val="accent1"/>
          </a:effectRef>
          <a:fontRef idx="minor">
            <a:schemeClr val="tx1"/>
          </a:fontRef>
        </p:style>
      </p:cxnSp>
      <p:cxnSp>
        <p:nvCxnSpPr>
          <p:cNvPr id="20" name="NIXL KV data → local decode, bypassing sidecar"/>
          <p:cNvCxnSpPr/>
          <p:nvPr/>
        </p:nvCxnSpPr>
        <p:spPr>
          <a:xfrm flipV="1">
            <a:off x="7283196" y="2894076"/>
            <a:ext cx="0" cy="953262"/>
          </a:xfrm>
          <a:prstGeom prst="line">
            <a:avLst/>
          </a:prstGeom>
          <a:ln w="27940">
            <a:solidFill>
              <a:srgbClr val="24824C"/>
            </a:solidFill>
            <a:tailEnd type="triangle" w="sm" len="sm"/>
          </a:ln>
        </p:spPr>
        <p:style>
          <a:lnRef idx="2">
            <a:schemeClr val="accent1"/>
          </a:lnRef>
          <a:fillRef idx="0">
            <a:schemeClr val="accent1"/>
          </a:fillRef>
          <a:effectRef idx="1">
            <a:schemeClr val="accent1"/>
          </a:effectRef>
          <a:fontRef idx="minor">
            <a:schemeClr val="tx1"/>
          </a:fontRef>
        </p:style>
      </p:cxnSp>
      <p:sp>
        <p:nvSpPr>
          <p:cNvPr id="21" name="Direct KV data • bypasses sidecar"/>
          <p:cNvSpPr txBox="1"/>
          <p:nvPr/>
        </p:nvSpPr>
        <p:spPr>
          <a:xfrm>
            <a:off x="5520690" y="3957066"/>
            <a:ext cx="2743200" cy="164592"/>
          </a:xfrm>
          <a:prstGeom prst="rect">
            <a:avLst/>
          </a:prstGeom>
          <a:noFill/>
        </p:spPr>
        <p:txBody>
          <a:bodyPr wrap="square" lIns="0" tIns="0" rIns="0" bIns="0" anchor="t">
            <a:noAutofit/>
          </a:bodyPr>
          <a:lstStyle/>
          <a:p>
            <a:pPr>
              <a:spcAft>
                <a:spcPts val="150"/>
              </a:spcAft>
              <a:defRPr sz="1200" b="1">
                <a:solidFill>
                  <a:srgbClr val="24824C"/>
                </a:solidFill>
                <a:latin typeface="Arial"/>
              </a:defRPr>
            </a:pPr>
            <a:r>
              <a:rPr sz="900" cap="none">
                <a:latin typeface="Arial"/>
              </a:rPr>
              <a:t>Direct KV data • bypasses sidecar</a:t>
            </a:r>
          </a:p>
        </p:txBody>
      </p:sp>
      <p:sp>
        <p:nvSpPr>
          <p:cNvPr id="22" name="STABLE EXTERNAL / ROUTING CONTRACT"/>
          <p:cNvSpPr txBox="1"/>
          <p:nvPr/>
        </p:nvSpPr>
        <p:spPr>
          <a:xfrm>
            <a:off x="507492" y="1604772"/>
            <a:ext cx="1920240" cy="315468"/>
          </a:xfrm>
          <a:prstGeom prst="rect">
            <a:avLst/>
          </a:prstGeom>
          <a:noFill/>
        </p:spPr>
        <p:txBody>
          <a:bodyPr wrap="square" lIns="0" tIns="0" rIns="0" bIns="0" anchor="t">
            <a:noAutofit/>
          </a:bodyPr>
          <a:lstStyle/>
          <a:p>
            <a:pPr>
              <a:spcAft>
                <a:spcPts val="150"/>
              </a:spcAft>
              <a:defRPr sz="1100" b="1">
                <a:solidFill>
                  <a:srgbClr val="2463D4"/>
                </a:solidFill>
                <a:latin typeface="Arial"/>
              </a:defRPr>
            </a:pPr>
            <a:r>
              <a:rPr sz="825" cap="none">
                <a:latin typeface="Arial"/>
              </a:rPr>
              <a:t>Stable external</a:t>
            </a:r>
            <a:br/>
            <a:r>
              <a:rPr cap="none">
                <a:latin typeface="Arial"/>
              </a:rPr>
              <a:t>routing contract</a:t>
            </a:r>
          </a:p>
        </p:txBody>
      </p:sp>
      <p:sp>
        <p:nvSpPr>
          <p:cNvPr id="23" name="Panel 22"/>
          <p:cNvSpPr/>
          <p:nvPr/>
        </p:nvSpPr>
        <p:spPr>
          <a:xfrm>
            <a:off x="411480" y="4443984"/>
            <a:ext cx="8318754" cy="336042"/>
          </a:xfrm>
          <a:prstGeom prst="roundRect">
            <a:avLst>
              <a:gd name="adj" fmla="val 12000"/>
            </a:avLst>
          </a:prstGeom>
          <a:solidFill>
            <a:srgbClr val="F5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Panel 23"/>
          <p:cNvSpPr/>
          <p:nvPr/>
        </p:nvSpPr>
        <p:spPr>
          <a:xfrm>
            <a:off x="411480" y="4443984"/>
            <a:ext cx="30861" cy="336042"/>
          </a:xfrm>
          <a:prstGeom prst="rect">
            <a:avLst/>
          </a:prstGeom>
          <a:solidFill>
            <a:srgbClr val="087F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Coordination lives in the sidecar. KV transport terminates at the decode runtime"/>
          <p:cNvSpPr txBox="1"/>
          <p:nvPr/>
        </p:nvSpPr>
        <p:spPr>
          <a:xfrm>
            <a:off x="555498" y="4519422"/>
            <a:ext cx="8023860" cy="178308"/>
          </a:xfrm>
          <a:prstGeom prst="rect">
            <a:avLst/>
          </a:prstGeom>
          <a:noFill/>
        </p:spPr>
        <p:txBody>
          <a:bodyPr wrap="square" lIns="0" tIns="0" rIns="0" bIns="0" anchor="t">
            <a:noAutofit/>
          </a:bodyPr>
          <a:lstStyle/>
          <a:p>
            <a:pPr>
              <a:spcAft>
                <a:spcPts val="150"/>
              </a:spcAft>
              <a:defRPr sz="1400" b="1">
                <a:solidFill>
                  <a:srgbClr val="10243A"/>
                </a:solidFill>
                <a:latin typeface="Arial"/>
              </a:defRPr>
            </a:pPr>
            <a:r>
              <a:rPr sz="1050" cap="none">
                <a:latin typeface="Arial"/>
              </a:rPr>
              <a:t>Coordination lives in the sidecar. KV transport terminates at the decode runtime.</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30 / 49</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82B80-1615-A235-7EBC-F7C32623D2E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64EEC12-C0AB-E9CD-340A-428C563DB520}"/>
              </a:ext>
            </a:extLst>
          </p:cNvPr>
          <p:cNvSpPr>
            <a:spLocks noGrp="1"/>
          </p:cNvSpPr>
          <p:nvPr>
            <p:ph type="title" idx="4294967295"/>
          </p:nvPr>
        </p:nvSpPr>
        <p:spPr>
          <a:xfrm>
            <a:off x="365760" y="539496"/>
            <a:ext cx="8412480" cy="420624"/>
          </a:xfrm>
        </p:spPr>
        <p:txBody>
          <a:bodyPr lIns="0" rIns="0" tIns="0" bIns="0" wrap="none">
            <a:normAutofit/>
          </a:bodyPr>
          <a:lstStyle/>
          <a:p>
            <a:pPr lvl="0">
              <a:spcAft>
                <a:spcPts val="400"/>
              </a:spcAft>
              <a:buClr>
                <a:srgbClr val="000000"/>
              </a:buClr>
              <a:buSzPts val="1200"/>
              <a:defRPr/>
            </a:pPr>
            <a:r>
              <a:rPr lang="en" altLang="zh-CN" sz="2100" dirty="0" err="1" cap="none" b="1">
                <a:solidFill>
                  <a:srgbClr val="142C46"/>
                </a:solidFill>
                <a:latin typeface="Arial"/>
                <a:sym typeface="IBM Plex Sans Light"/>
              </a:rPr>
              <a:t>llm-d connects routing, prefill and decode</a:t>
            </a:r>
          </a:p>
        </p:txBody>
      </p:sp>
      <p:sp>
        <p:nvSpPr>
          <p:cNvPr id="6" name="Google Shape;2152;p211">
            <a:extLst>
              <a:ext uri="{FF2B5EF4-FFF2-40B4-BE49-F238E27FC236}">
                <a16:creationId xmlns:a16="http://schemas.microsoft.com/office/drawing/2014/main" id="{736427AE-F789-8536-54B5-4299CA26D850}"/>
              </a:ext>
            </a:extLst>
          </p:cNvPr>
          <p:cNvSpPr txBox="1"/>
          <p:nvPr/>
        </p:nvSpPr>
        <p:spPr>
          <a:xfrm>
            <a:off x="254679" y="1186569"/>
            <a:ext cx="4147200" cy="1469603"/>
          </a:xfrm>
          <a:prstGeom prst="rect">
            <a:avLst/>
          </a:prstGeom>
          <a:noFill/>
          <a:ln>
            <a:noFill/>
          </a:ln>
        </p:spPr>
        <p:txBody>
          <a:bodyPr spcFirstLastPara="1" wrap="square" lIns="68575" tIns="34275" rIns="68575" bIns="34275" anchor="t" anchorCtr="0">
            <a:spAutoFit/>
          </a:bodyPr>
          <a:lstStyle/>
          <a:p>
            <a:pPr marL="254000" marR="0" lvl="0" indent="-260350" algn="l" defTabSz="914400" rtl="0" eaLnBrk="1" fontAlgn="auto" latinLnBrk="0" hangingPunct="1">
              <a:lnSpc>
                <a:spcPct val="100000"/>
              </a:lnSpc>
              <a:spcBef>
                <a:spcPts val="0"/>
              </a:spcBef>
              <a:spcAft>
                <a:spcPts val="0"/>
              </a:spcAft>
              <a:buClr>
                <a:srgbClr val="000000"/>
              </a:buClr>
              <a:buSzPts val="1100"/>
              <a:buFont typeface="IBM Plex Sans Light"/>
              <a:buChar char="▪"/>
              <a:tabLst/>
              <a:defRPr/>
            </a:pPr>
            <a:r>
              <a:rPr lang="en" sz="1100" dirty="0" cap="none">
                <a:latin typeface="Arial"/>
                <a:sym typeface="IBM Plex Sans Light"/>
              </a:rPr>
              <a:t>Separate requests for the prefill and decode stages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Dynamically decided  </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Dedicated Prefill and Decode nodes</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Optimize resource allocation, utilization, and scheduling</a:t>
            </a:r>
            <a:endParaRPr sz="1100" dirty="0">
              <a:sym typeface="IBM Plex Sans Light"/>
            </a:endParaRPr>
          </a:p>
          <a:p>
            <a:pPr marL="254000" marR="0" lvl="0" indent="-260350" algn="l" defTabSz="914400" rtl="0" eaLnBrk="1" fontAlgn="auto" latinLnBrk="0" hangingPunct="1">
              <a:lnSpc>
                <a:spcPct val="100000"/>
              </a:lnSpc>
              <a:spcBef>
                <a:spcPts val="600"/>
              </a:spcBef>
              <a:spcAft>
                <a:spcPts val="0"/>
              </a:spcAft>
              <a:buClr>
                <a:srgbClr val="000000"/>
              </a:buClr>
              <a:buSzPts val="1100"/>
              <a:buFont typeface="IBM Plex Sans Light"/>
              <a:buChar char="▪"/>
              <a:tabLst/>
              <a:defRPr/>
            </a:pPr>
            <a:r>
              <a:rPr lang="en" sz="1100" dirty="0" cap="none">
                <a:latin typeface="Arial"/>
                <a:sym typeface="IBM Plex Sans Light"/>
              </a:rPr>
              <a:t>Easier to meet TTFT and ITL SLO requirements</a:t>
            </a:r>
            <a:endParaRPr sz="1100" dirty="0">
              <a:sym typeface="IBM Plex Sans Light"/>
            </a:endParaRPr>
          </a:p>
          <a:p>
            <a:pPr marL="0" marR="0" lvl="0" indent="101600" algn="l" defTabSz="914400" rtl="0" eaLnBrk="1" fontAlgn="auto" latinLnBrk="0" hangingPunct="1">
              <a:lnSpc>
                <a:spcPct val="100000"/>
              </a:lnSpc>
              <a:spcBef>
                <a:spcPts val="600"/>
              </a:spcBef>
              <a:spcAft>
                <a:spcPts val="0"/>
              </a:spcAft>
              <a:buClr>
                <a:srgbClr val="000000"/>
              </a:buClr>
              <a:buSzPts val="1600"/>
              <a:buFont typeface="Noto Sans Symbols"/>
              <a:buNone/>
              <a:tabLst/>
              <a:defRPr/>
            </a:pPr>
            <a:endParaRPr sz="1100" dirty="0">
              <a:sym typeface="IBM Plex Sans Light"/>
            </a:endParaRPr>
          </a:p>
        </p:txBody>
      </p:sp>
      <p:pic>
        <p:nvPicPr>
          <p:cNvPr id="9" name="Google Shape;2157;p211" descr="A diagram of a process&#10;&#10;AI-generated content may be incorrect.">
            <a:extLst>
              <a:ext uri="{FF2B5EF4-FFF2-40B4-BE49-F238E27FC236}">
                <a16:creationId xmlns:a16="http://schemas.microsoft.com/office/drawing/2014/main" id="{D52FC06C-E51F-33E2-75D2-E3FFC034350A}"/>
              </a:ext>
            </a:extLst>
          </p:cNvPr>
          <p:cNvPicPr preferRelativeResize="0"/>
          <p:nvPr/>
        </p:nvPicPr>
        <p:blipFill rotWithShape="1">
          <a:blip r:embed="rId3">
            <a:alphaModFix/>
          </a:blip>
          <a:srcRect/>
          <a:stretch/>
        </p:blipFill>
        <p:spPr>
          <a:xfrm>
            <a:off x="1896814" y="1305000"/>
            <a:ext cx="6837248" cy="3561842"/>
          </a:xfrm>
          <a:prstGeom prst="rect">
            <a:avLst/>
          </a:prstGeom>
          <a:noFill/>
          <a:ln>
            <a:noFill/>
          </a:ln>
        </p:spPr>
      </p:pic>
      <p:sp>
        <p:nvSpPr>
          <p:cNvPr id="10" name="TextBox 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1" name="TextBox 1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31 / 49</a:t>
            </a:r>
          </a:p>
        </p:txBody>
      </p:sp>
    </p:spTree>
    <p:extLst>
      <p:ext uri="{BB962C8B-B14F-4D97-AF65-F5344CB8AC3E}">
        <p14:creationId xmlns:p14="http://schemas.microsoft.com/office/powerpoint/2010/main" val="12328865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487"/>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Efficient KV transfer with vLLM and NIXL</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KV data moves between runtimes—not through the gateway or routing sidecar</a:t>
            </a:r>
          </a:p>
        </p:txBody>
      </p:sp>
      <p:sp>
        <p:nvSpPr>
          <p:cNvPr id="4" name="Rounded Rectangle 3"/>
          <p:cNvSpPr/>
          <p:nvPr/>
        </p:nvSpPr>
        <p:spPr>
          <a:xfrm>
            <a:off x="50292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2029967"/>
            <a:ext cx="2231136"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worker</a:t>
            </a:r>
          </a:p>
        </p:txBody>
      </p:sp>
      <p:sp>
        <p:nvSpPr>
          <p:cNvPr id="6" name="TextBox 5"/>
          <p:cNvSpPr txBox="1"/>
          <p:nvPr/>
        </p:nvSpPr>
        <p:spPr>
          <a:xfrm>
            <a:off x="66751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Prompt KV state</a:t>
            </a:r>
          </a:p>
          <a:p>
            <a:pPr>
              <a:spcAft>
                <a:spcPts val="500"/>
              </a:spcAft>
              <a:defRPr sz="1700" b="0">
                <a:solidFill>
                  <a:srgbClr val="142C46"/>
                </a:solidFill>
                <a:latin typeface="Arial"/>
              </a:defRPr>
            </a:pPr>
            <a:r>
              <a:rPr cap="none"/>
              <a:t>Source GPU memory</a:t>
            </a:r>
          </a:p>
        </p:txBody>
      </p:sp>
      <p:sp>
        <p:nvSpPr>
          <p:cNvPr id="7" name="Rounded Rectangle 6"/>
          <p:cNvSpPr/>
          <p:nvPr/>
        </p:nvSpPr>
        <p:spPr>
          <a:xfrm>
            <a:off x="6080760" y="1874519"/>
            <a:ext cx="2560320" cy="162763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45352" y="2029967"/>
            <a:ext cx="2231136"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worker</a:t>
            </a:r>
          </a:p>
        </p:txBody>
      </p:sp>
      <p:sp>
        <p:nvSpPr>
          <p:cNvPr id="9" name="TextBox 8"/>
          <p:cNvSpPr txBox="1"/>
          <p:nvPr/>
        </p:nvSpPr>
        <p:spPr>
          <a:xfrm>
            <a:off x="6245352" y="2505456"/>
            <a:ext cx="2231136" cy="896112"/>
          </a:xfrm>
          <a:prstGeom prst="rect">
            <a:avLst/>
          </a:prstGeom>
          <a:noFill/>
        </p:spPr>
        <p:txBody>
          <a:bodyPr wrap="square" lIns="0" rIns="0" tIns="0" bIns="0">
            <a:spAutoFit/>
          </a:bodyPr>
          <a:lstStyle/>
          <a:p>
            <a:pPr>
              <a:spcAft>
                <a:spcPts val="500"/>
              </a:spcAft>
              <a:defRPr sz="1700" b="0">
                <a:solidFill>
                  <a:srgbClr val="142C46"/>
                </a:solidFill>
                <a:latin typeface="Arial"/>
              </a:defRPr>
            </a:pPr>
            <a:r>
              <a:rPr cap="none"/>
              <a:t>Reuse received KV</a:t>
            </a:r>
          </a:p>
          <a:p>
            <a:pPr>
              <a:spcAft>
                <a:spcPts val="500"/>
              </a:spcAft>
              <a:defRPr sz="1700" b="0">
                <a:solidFill>
                  <a:srgbClr val="142C46"/>
                </a:solidFill>
                <a:latin typeface="Arial"/>
              </a:defRPr>
            </a:pPr>
            <a:r>
              <a:rPr cap="none"/>
              <a:t>Continue generation</a:t>
            </a:r>
          </a:p>
        </p:txBody>
      </p:sp>
      <p:sp>
        <p:nvSpPr>
          <p:cNvPr id="10" name="TextBox 9"/>
          <p:cNvSpPr txBox="1"/>
          <p:nvPr/>
        </p:nvSpPr>
        <p:spPr>
          <a:xfrm>
            <a:off x="3310128" y="2176272"/>
            <a:ext cx="2542032" cy="457200"/>
          </a:xfrm>
          <a:prstGeom prst="rect">
            <a:avLst/>
          </a:prstGeom>
          <a:noFill/>
        </p:spPr>
        <p:txBody>
          <a:bodyPr wrap="square" lIns="0" rIns="0" tIns="0" bIns="0">
            <a:spAutoFit/>
          </a:bodyPr>
          <a:lstStyle/>
          <a:p>
            <a:pPr>
              <a:spcAft>
                <a:spcPts val="500"/>
              </a:spcAft>
              <a:defRPr sz="2200" b="1">
                <a:solidFill>
                  <a:srgbClr val="346CEC"/>
                </a:solidFill>
                <a:latin typeface="Arial"/>
              </a:defRPr>
            </a:pPr>
            <a:r>
              <a:rPr cap="none"/>
              <a:t>KV data  →</a:t>
            </a:r>
          </a:p>
        </p:txBody>
      </p:sp>
      <p:sp>
        <p:nvSpPr>
          <p:cNvPr id="11" name="TextBox 10"/>
          <p:cNvSpPr txBox="1"/>
          <p:nvPr/>
        </p:nvSpPr>
        <p:spPr>
          <a:xfrm>
            <a:off x="3236976" y="2761488"/>
            <a:ext cx="2715768" cy="594360"/>
          </a:xfrm>
          <a:prstGeom prst="rect">
            <a:avLst/>
          </a:prstGeom>
          <a:noFill/>
        </p:spPr>
        <p:txBody>
          <a:bodyPr wrap="square" lIns="0" rIns="0" tIns="0" bIns="0">
            <a:spAutoFit/>
          </a:bodyPr>
          <a:lstStyle/>
          <a:p>
            <a:pPr>
              <a:spcAft>
                <a:spcPts val="500"/>
              </a:spcAft>
              <a:defRPr sz="1100" b="0">
                <a:solidFill>
                  <a:srgbClr val="52677D"/>
                </a:solidFill>
                <a:latin typeface="Arial"/>
              </a:defRPr>
            </a:pPr>
            <a:r>
              <a:rPr cap="none"/>
              <a:t>NIXL + transport backend</a:t>
            </a:r>
          </a:p>
          <a:p>
            <a:pPr>
              <a:spcAft>
                <a:spcPts val="500"/>
              </a:spcAft>
              <a:defRPr sz="1100" b="0">
                <a:solidFill>
                  <a:srgbClr val="52677D"/>
                </a:solidFill>
                <a:latin typeface="Arial"/>
              </a:defRPr>
            </a:pPr>
            <a:r>
              <a:rPr cap="none"/>
              <a:t>Decode may initiate the read</a:t>
            </a:r>
          </a:p>
        </p:txBody>
      </p:sp>
      <p:sp>
        <p:nvSpPr>
          <p:cNvPr id="12" name="TextBox 11"/>
          <p:cNvSpPr txBox="1"/>
          <p:nvPr/>
        </p:nvSpPr>
        <p:spPr>
          <a:xfrm>
            <a:off x="594360" y="3794760"/>
            <a:ext cx="8001000" cy="393192"/>
          </a:xfrm>
          <a:prstGeom prst="rect">
            <a:avLst/>
          </a:prstGeom>
          <a:noFill/>
        </p:spPr>
        <p:txBody>
          <a:bodyPr wrap="square" lIns="0" rIns="0" tIns="0" bIns="0">
            <a:spAutoFit/>
          </a:bodyPr>
          <a:lstStyle/>
          <a:p>
            <a:pPr>
              <a:spcAft>
                <a:spcPts val="500"/>
              </a:spcAft>
              <a:defRPr sz="1400" b="0">
                <a:solidFill>
                  <a:srgbClr val="142C46"/>
                </a:solidFill>
                <a:latin typeface="Arial"/>
              </a:defRPr>
            </a:pPr>
            <a:r>
              <a:rPr cap="none"/>
              <a:t>GPU-direct RDMA requires a supported GPU, NIC, fabric and backend.</a:t>
            </a:r>
          </a:p>
        </p:txBody>
      </p:sp>
      <p:sp>
        <p:nvSpPr>
          <p:cNvPr id="13" name="Rounded Rectangle 12"/>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 TCP path is not RDMA. Measure transfer latency and staging cost on your deployment.</a:t>
            </a:r>
          </a:p>
        </p:txBody>
      </p:sp>
      <p:sp>
        <p:nvSpPr>
          <p:cNvPr id="15" name="TextBox 1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6" name="TextBox 1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32 / 49</a:t>
            </a:r>
          </a:p>
        </p:txBody>
      </p:sp>
    </p:spTree>
    <p:extLst>
      <p:ext uri="{BB962C8B-B14F-4D97-AF65-F5344CB8AC3E}">
        <p14:creationId xmlns:p14="http://schemas.microsoft.com/office/powerpoint/2010/main" val="239950130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err="1" cap="none" b="1">
                <a:solidFill>
                  <a:srgbClr val="142C46"/>
                </a:solidFill>
                <a:latin typeface="Arial"/>
              </a:rPr>
              <a:t>Autoscale</a:t>
            </a:r>
            <a:r>
              <a:rPr sz="2100" dirty="0" cap="none" b="1">
                <a:solidFill>
                  <a:srgbClr val="142C46"/>
                </a:solidFill>
                <a:latin typeface="Arial"/>
              </a:rPr>
              <a:t> the role that is actually saturated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Different bottlenecks deserve different signals and scale decisions.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Independent scaling only helps when the metrics match each role.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85950"/>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Prefill</a:t>
            </a:r>
          </a:p>
        </p:txBody>
      </p:sp>
      <p:sp>
        <p:nvSpPr>
          <p:cNvPr id="13" name="TextBox 12"/>
          <p:cNvSpPr txBox="1"/>
          <p:nvPr/>
        </p:nvSpPr>
        <p:spPr>
          <a:xfrm>
            <a:off x="514350"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prompt latency</a:t>
            </a:r>
          </a:p>
          <a:p>
            <a:pPr>
              <a:spcAft>
                <a:spcPts val="375"/>
              </a:spcAft>
              <a:defRPr sz="2200" b="0">
                <a:solidFill>
                  <a:srgbClr val="172941"/>
                </a:solidFill>
                <a:latin typeface="Arial"/>
              </a:defRPr>
            </a:pPr>
            <a:r>
              <a:rPr sz="1650" cap="none">
                <a:latin typeface="Arial"/>
              </a:rPr>
              <a:t>and time to first token.</a:t>
            </a:r>
          </a:p>
        </p:txBody>
      </p:sp>
      <p:sp>
        <p:nvSpPr>
          <p:cNvPr id="14" name="Rounded Rectangle 13"/>
          <p:cNvSpPr/>
          <p:nvPr/>
        </p:nvSpPr>
        <p:spPr>
          <a:xfrm>
            <a:off x="377190" y="3669030"/>
            <a:ext cx="408051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425196" y="3693033"/>
            <a:ext cx="398449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Primary signal: vLLM waiting requests</a:t>
            </a:r>
          </a:p>
        </p:txBody>
      </p:sp>
      <p:sp>
        <p:nvSpPr>
          <p:cNvPr id="16" name="Rounded Rectangle 15"/>
          <p:cNvSpPr/>
          <p:nvPr/>
        </p:nvSpPr>
        <p:spPr>
          <a:xfrm>
            <a:off x="4649724" y="1611630"/>
            <a:ext cx="4080510" cy="185166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477316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4786884" y="1885950"/>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Decode</a:t>
            </a:r>
          </a:p>
        </p:txBody>
      </p:sp>
      <p:sp>
        <p:nvSpPr>
          <p:cNvPr id="19" name="TextBox 18"/>
          <p:cNvSpPr txBox="1"/>
          <p:nvPr/>
        </p:nvSpPr>
        <p:spPr>
          <a:xfrm>
            <a:off x="4786884" y="2338579"/>
            <a:ext cx="3806190" cy="579902"/>
          </a:xfrm>
          <a:prstGeom prst="rect">
            <a:avLst/>
          </a:prstGeom>
          <a:noFill/>
        </p:spPr>
        <p:txBody>
          <a:bodyPr wrap="square" lIns="10287" tIns="10287" rIns="10287" bIns="10287">
            <a:spAutoFit/>
          </a:bodyPr>
          <a:lstStyle/>
          <a:p>
            <a:pPr>
              <a:spcAft>
                <a:spcPts val="375"/>
              </a:spcAft>
              <a:defRPr sz="2200" b="0">
                <a:solidFill>
                  <a:srgbClr val="172941"/>
                </a:solidFill>
                <a:latin typeface="Arial"/>
              </a:defRPr>
            </a:pPr>
            <a:r>
              <a:rPr sz="1650" cap="none">
                <a:latin typeface="Arial"/>
              </a:rPr>
              <a:t>Protect token delivery</a:t>
            </a:r>
          </a:p>
          <a:p>
            <a:pPr>
              <a:spcAft>
                <a:spcPts val="375"/>
              </a:spcAft>
              <a:defRPr sz="2200" b="0">
                <a:solidFill>
                  <a:srgbClr val="172941"/>
                </a:solidFill>
                <a:latin typeface="Arial"/>
              </a:defRPr>
            </a:pPr>
            <a:r>
              <a:rPr sz="1650" cap="none">
                <a:latin typeface="Arial"/>
              </a:rPr>
              <a:t>and sustained throughput.</a:t>
            </a:r>
          </a:p>
        </p:txBody>
      </p:sp>
      <p:sp>
        <p:nvSpPr>
          <p:cNvPr id="20" name="Rounded Rectangle 19"/>
          <p:cNvSpPr/>
          <p:nvPr/>
        </p:nvSpPr>
        <p:spPr>
          <a:xfrm>
            <a:off x="4649724" y="3669030"/>
            <a:ext cx="408051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4697730" y="3693033"/>
            <a:ext cx="398449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Primary signal: vLLM running requests</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33 / 49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Existing capability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Today: KEDA targets the InferenceSet scale API</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Documented KAITO examples cover both scheduled and metric-based scaling.</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The scale target is the InferenceSet—not a manually scaled workload Pod.</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15618"/>
            <a:ext cx="1645920" cy="233172"/>
          </a:xfrm>
          <a:prstGeom prst="roundRect">
            <a:avLst>
              <a:gd name="adj" fmla="val 10000"/>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7" y="1539621"/>
            <a:ext cx="1549907" cy="136191"/>
          </a:xfrm>
          <a:prstGeom prst="rect">
            <a:avLst/>
          </a:prstGeom>
          <a:noFill/>
        </p:spPr>
        <p:txBody>
          <a:bodyPr wrap="square" lIns="10287" tIns="10287" rIns="10287" bIns="10287">
            <a:spAutoFit/>
          </a:bodyPr>
          <a:lstStyle/>
          <a:p>
            <a:pPr algn="ctr">
              <a:spcAft>
                <a:spcPts val="375"/>
              </a:spcAft>
              <a:defRPr sz="1000" b="1">
                <a:solidFill>
                  <a:srgbClr val="2563EB"/>
                </a:solidFill>
                <a:latin typeface="Arial"/>
              </a:defRPr>
            </a:pPr>
            <a:r>
              <a:rPr sz="750" cap="none">
                <a:latin typeface="Arial"/>
              </a:rPr>
              <a:t>Documented today</a:t>
            </a:r>
          </a:p>
        </p:txBody>
      </p:sp>
      <p:sp>
        <p:nvSpPr>
          <p:cNvPr id="12" name="Rounded Rectangle 11"/>
          <p:cNvSpPr/>
          <p:nvPr/>
        </p:nvSpPr>
        <p:spPr>
          <a:xfrm>
            <a:off x="377190"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08276"/>
            <a:ext cx="37719" cy="802386"/>
          </a:xfrm>
          <a:prstGeom prst="rect">
            <a:avLst/>
          </a:prstGeom>
          <a:solidFill>
            <a:srgbClr val="AE64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28850"/>
            <a:ext cx="2194560" cy="274691"/>
          </a:xfrm>
          <a:prstGeom prst="rect">
            <a:avLst/>
          </a:prstGeom>
          <a:noFill/>
        </p:spPr>
        <p:txBody>
          <a:bodyPr wrap="square" lIns="10287" tIns="10287" rIns="10287" bIns="10287">
            <a:spAutoFit/>
          </a:bodyPr>
          <a:lstStyle/>
          <a:p>
            <a:pPr algn="ctr">
              <a:spcAft>
                <a:spcPts val="375"/>
              </a:spcAft>
              <a:defRPr sz="2200" b="1">
                <a:solidFill>
                  <a:srgbClr val="AE641A"/>
                </a:solidFill>
                <a:latin typeface="Arial"/>
              </a:defRPr>
            </a:pPr>
            <a:r>
              <a:rPr sz="1650" cap="none">
                <a:latin typeface="Arial"/>
              </a:rPr>
              <a:t>Trigger</a:t>
            </a:r>
          </a:p>
        </p:txBody>
      </p:sp>
      <p:sp>
        <p:nvSpPr>
          <p:cNvPr id="15" name="TextBox 14"/>
          <p:cNvSpPr txBox="1"/>
          <p:nvPr/>
        </p:nvSpPr>
        <p:spPr>
          <a:xfrm>
            <a:off x="486918"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Cron or Prometheus query</a:t>
            </a:r>
          </a:p>
        </p:txBody>
      </p:sp>
      <p:sp>
        <p:nvSpPr>
          <p:cNvPr id="16" name="Rounded Rectangle 15"/>
          <p:cNvSpPr/>
          <p:nvPr/>
        </p:nvSpPr>
        <p:spPr>
          <a:xfrm>
            <a:off x="3374136"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374136" y="2208276"/>
            <a:ext cx="37719" cy="80238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477006" y="2228850"/>
            <a:ext cx="219456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KEDA / HPA</a:t>
            </a:r>
          </a:p>
        </p:txBody>
      </p:sp>
      <p:sp>
        <p:nvSpPr>
          <p:cNvPr id="19" name="TextBox 18"/>
          <p:cNvSpPr txBox="1"/>
          <p:nvPr/>
        </p:nvSpPr>
        <p:spPr>
          <a:xfrm>
            <a:off x="3483864"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ScaledObject target</a:t>
            </a:r>
          </a:p>
        </p:txBody>
      </p:sp>
      <p:sp>
        <p:nvSpPr>
          <p:cNvPr id="20" name="Rounded Rectangle 19"/>
          <p:cNvSpPr/>
          <p:nvPr/>
        </p:nvSpPr>
        <p:spPr>
          <a:xfrm>
            <a:off x="6364224" y="2139696"/>
            <a:ext cx="2400300" cy="93954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364224" y="2208276"/>
            <a:ext cx="37719" cy="80238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467094" y="2228850"/>
            <a:ext cx="2194560" cy="274691"/>
          </a:xfrm>
          <a:prstGeom prst="rect">
            <a:avLst/>
          </a:prstGeom>
          <a:noFill/>
        </p:spPr>
        <p:txBody>
          <a:bodyPr wrap="square" lIns="10287" tIns="10287" rIns="10287" bIns="10287">
            <a:spAutoFit/>
          </a:bodyPr>
          <a:lstStyle/>
          <a:p>
            <a:pPr algn="ctr">
              <a:spcAft>
                <a:spcPts val="375"/>
              </a:spcAft>
              <a:defRPr sz="2200" b="1">
                <a:solidFill>
                  <a:srgbClr val="087F8C"/>
                </a:solidFill>
                <a:latin typeface="Arial"/>
              </a:defRPr>
            </a:pPr>
            <a:r>
              <a:rPr sz="1650" cap="none">
                <a:latin typeface="Arial"/>
              </a:rPr>
              <a:t>InferenceSet</a:t>
            </a:r>
          </a:p>
        </p:txBody>
      </p:sp>
      <p:sp>
        <p:nvSpPr>
          <p:cNvPr id="23" name="TextBox 22"/>
          <p:cNvSpPr txBox="1"/>
          <p:nvPr/>
        </p:nvSpPr>
        <p:spPr>
          <a:xfrm>
            <a:off x="6473952" y="255803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Scale subresource</a:t>
            </a:r>
          </a:p>
        </p:txBody>
      </p:sp>
      <p:cxnSp>
        <p:nvCxnSpPr>
          <p:cNvPr id="24" name="Connector 23"/>
          <p:cNvCxnSpPr/>
          <p:nvPr/>
        </p:nvCxnSpPr>
        <p:spPr>
          <a:xfrm>
            <a:off x="2777490" y="2606040"/>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774436" y="2606040"/>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377190" y="3463290"/>
            <a:ext cx="8387334" cy="63093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34924" y="3641599"/>
            <a:ext cx="2468880" cy="216982"/>
          </a:xfrm>
          <a:prstGeom prst="rect">
            <a:avLst/>
          </a:prstGeom>
          <a:noFill/>
        </p:spPr>
        <p:txBody>
          <a:bodyPr wrap="square" lIns="10287" tIns="10287" rIns="10287" bIns="10287">
            <a:spAutoFit/>
          </a:bodyPr>
          <a:lstStyle/>
          <a:p>
            <a:pPr>
              <a:spcAft>
                <a:spcPts val="375"/>
              </a:spcAft>
              <a:defRPr sz="1700" b="1">
                <a:solidFill>
                  <a:srgbClr val="586A80"/>
                </a:solidFill>
                <a:latin typeface="Arial"/>
              </a:defRPr>
            </a:pPr>
            <a:r>
              <a:rPr sz="1275" cap="none">
                <a:latin typeface="Arial"/>
              </a:rPr>
              <a:t>Documented queue signal</a:t>
            </a:r>
          </a:p>
        </p:txBody>
      </p:sp>
      <p:sp>
        <p:nvSpPr>
          <p:cNvPr id="28" name="TextBox 27"/>
          <p:cNvSpPr txBox="1"/>
          <p:nvPr/>
        </p:nvSpPr>
        <p:spPr>
          <a:xfrm>
            <a:off x="3223260" y="3641599"/>
            <a:ext cx="5280660" cy="240066"/>
          </a:xfrm>
          <a:prstGeom prst="rect">
            <a:avLst/>
          </a:prstGeom>
          <a:noFill/>
        </p:spPr>
        <p:txBody>
          <a:bodyPr wrap="square" lIns="10287" tIns="10287" rIns="10287" bIns="10287">
            <a:spAutoFit/>
          </a:bodyPr>
          <a:lstStyle/>
          <a:p>
            <a:pPr>
              <a:spcAft>
                <a:spcPts val="375"/>
              </a:spcAft>
              <a:defRPr sz="1900" b="0">
                <a:solidFill>
                  <a:srgbClr val="087F8C"/>
                </a:solidFill>
                <a:latin typeface="Courier New"/>
              </a:defRPr>
            </a:pPr>
            <a:r>
              <a:rPr sz="1425" cap="none">
                <a:latin typeface="Arial"/>
              </a:rPr>
              <a:t>vllm:num_requests_waiting</a:t>
            </a:r>
          </a:p>
        </p:txBody>
      </p:sp>
      <p:sp>
        <p:nvSpPr>
          <p:cNvPr id="29" name="TextBox 28"/>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0" name="TextBox 29"/>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34 / 49</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B26A1F-4BB7-C9FB-B380-E8EF93D8380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27F6EC-98A5-26CE-32B1-A95AD9F65C35}"/>
              </a:ext>
            </a:extLst>
          </p:cNvPr>
          <p:cNvSpPr>
            <a:spLocks noGrp="1"/>
          </p:cNvSpPr>
          <p:nvPr>
            <p:ph type="title" idx="4294967295"/>
          </p:nvPr>
        </p:nvSpPr>
        <p:spPr>
          <a:xfrm>
            <a:off x="365760" y="539496"/>
            <a:ext cx="8412480" cy="420624"/>
          </a:xfrm>
        </p:spPr>
        <p:txBody>
          <a:bodyPr lIns="0" rIns="0" tIns="0" bIns="0" wrap="none">
            <a:normAutofit/>
          </a:bodyPr>
          <a:lstStyle/>
          <a:p>
            <a:r>
              <a:rPr lang="en-US" dirty="0" cap="none" sz="2100" b="1">
                <a:solidFill>
                  <a:srgbClr val="142C46"/>
                </a:solidFill>
                <a:latin typeface="Arial"/>
              </a:rPr>
              <a:t>KAITO autoscaling: keda-</a:t>
            </a:r>
            <a:r>
              <a:rPr lang="en-US" dirty="0" err="1" cap="none" sz="2100" b="1">
                <a:solidFill>
                  <a:srgbClr val="142C46"/>
                </a:solidFill>
                <a:latin typeface="Arial"/>
              </a:rPr>
              <a:t>kaito</a:t>
            </a:r>
            <a:r>
              <a:rPr lang="en-US" dirty="0" cap="none" sz="2100" b="1">
                <a:solidFill>
                  <a:srgbClr val="142C46"/>
                </a:solidFill>
                <a:latin typeface="Arial"/>
              </a:rPr>
              <a:t>-scaler</a:t>
            </a:r>
          </a:p>
        </p:txBody>
      </p:sp>
      <p:pic>
        <p:nvPicPr>
          <p:cNvPr id="8" name="Picture 7">
            <a:extLst>
              <a:ext uri="{FF2B5EF4-FFF2-40B4-BE49-F238E27FC236}">
                <a16:creationId xmlns:a16="http://schemas.microsoft.com/office/drawing/2014/main" id="{8B14B8C5-6523-CC16-94B2-86B74AF39A2B}"/>
              </a:ext>
            </a:extLst>
          </p:cNvPr>
          <p:cNvPicPr>
            <a:picLocks noChangeAspect="1"/>
          </p:cNvPicPr>
          <p:nvPr/>
        </p:nvPicPr>
        <p:blipFill>
          <a:blip r:embed="rId3"/>
          <a:stretch>
            <a:fillRect/>
          </a:stretch>
        </p:blipFill>
        <p:spPr>
          <a:xfrm>
            <a:off x="381000" y="1504419"/>
            <a:ext cx="5739000" cy="2738770"/>
          </a:xfrm>
          <a:prstGeom prst="rect">
            <a:avLst/>
          </a:prstGeom>
        </p:spPr>
      </p:pic>
      <p:sp>
        <p:nvSpPr>
          <p:cNvPr id="20" name="TextBox Subtitle"/>
          <p:cNvSpPr txBox="1"/>
          <p:nvPr/>
        </p:nvSpPr>
        <p:spPr>
          <a:xfrm>
            <a:off x="384048" y="1033271"/>
            <a:ext cx="8321040" cy="329184"/>
          </a:xfrm>
          <a:prstGeom prst="rect">
            <a:avLst/>
          </a:prstGeom>
          <a:noFill/>
        </p:spPr>
        <p:txBody>
          <a:bodyPr wrap="square" rtlCol="0">
            <a:normAutofit fontScale="92500"/>
          </a:bodyPr>
          <a:lstStyle/>
          <a:p>
            <a:r>
              <a:rPr lang="en-US" sz="1200" b="1" dirty="0" cap="none">
                <a:solidFill>
                  <a:srgbClr val="52677D"/>
                </a:solidFill>
                <a:latin typeface="Arial"/>
              </a:rPr>
              <a:t>KEDA-driven scaling with metrics scraped directly from vLLM</a:t>
            </a:r>
          </a:p>
        </p:txBody>
      </p:sp>
      <p:sp>
        <p:nvSpPr>
          <p:cNvPr id="21" name="How It Works"/>
          <p:cNvSpPr/>
          <p:nvPr/>
        </p:nvSpPr>
        <p:spPr>
          <a:xfrm>
            <a:off x="6216900" y="1504419"/>
            <a:ext cx="2615400" cy="2738770"/>
          </a:xfrm>
          <a:prstGeom prst="roundRect">
            <a:avLst/>
          </a:prstGeom>
          <a:solidFill>
            <a:schemeClr val="bg1">
              <a:lumMod val="95000"/>
            </a:schemeClr>
          </a:solidFill>
          <a:ln w="12700">
            <a:solidFill>
              <a:schemeClr val="accent2"/>
            </a:solidFill>
          </a:ln>
        </p:spPr>
        <p:txBody>
          <a:bodyPr rtlCol="0" anchor="ctr">
            <a:normAutofit/>
          </a:bodyPr>
          <a:lstStyle/>
          <a:p>
            <a:r>
              <a:rPr lang="en-US" sz="1300" b="1" dirty="0" cap="none">
                <a:solidFill>
                  <a:srgbClr val="142C46"/>
                </a:solidFill>
                <a:latin typeface="Arial"/>
              </a:rPr>
              <a:t>What it adds</a:t>
            </a:r>
            <a:br/>
            <a:r>
              <a:rPr cap="none" sz="1300">
                <a:solidFill>
                  <a:srgbClr val="142C46"/>
                </a:solidFill>
                <a:latin typeface="Arial"/>
              </a:rPr>
              <a:t>No Prometheus required</a:t>
            </a:r>
            <a:br/>
            <a:r>
              <a:rPr cap="none" sz="1300">
                <a:solidFill>
                  <a:srgbClr val="142C46"/>
                </a:solidFill>
                <a:latin typeface="Arial"/>
              </a:rPr>
              <a:t>Direct vLLM metric scraping</a:t>
            </a:r>
            <a:br/>
            <a:r>
              <a:rPr cap="none" sz="1300">
                <a:solidFill>
                  <a:srgbClr val="142C46"/>
                </a:solidFill>
                <a:latin typeface="Arial"/>
              </a:rPr>
              <a:t>Conservative replica steps</a:t>
            </a:r>
            <a:br/>
            <a:r>
              <a:rPr cap="none" sz="1300">
                <a:solidFill>
                  <a:srgbClr val="142C46"/>
                </a:solidFill>
                <a:latin typeface="Arial"/>
              </a:rPr>
              <a:t>Queue and latency signals</a:t>
            </a:r>
            <a:br/>
            <a:r>
              <a:rPr cap="none" sz="1300">
                <a:solidFill>
                  <a:srgbClr val="142C46"/>
                </a:solidFill>
                <a:latin typeface="Arial"/>
              </a:rPr>
              <a:t>Configurable AND policy</a:t>
            </a:r>
          </a:p>
        </p:txBody>
      </p:sp>
      <p:sp>
        <p:nvSpPr>
          <p:cNvPr id="22" name="TextBox 2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3" name="TextBox 2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35 / 49</a:t>
            </a:r>
          </a:p>
        </p:txBody>
      </p:sp>
    </p:spTree>
    <p:extLst>
      <p:ext uri="{BB962C8B-B14F-4D97-AF65-F5344CB8AC3E}">
        <p14:creationId xmlns:p14="http://schemas.microsoft.com/office/powerpoint/2010/main" val="17103403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98E84A-0A4F-A861-8024-10CF59AB7D37}"/>
            </a:ext>
          </a:extLst>
        </p:cNvPr>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KAITO autoscaling configuration</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Today: explicit tuning. Future direction: fewer knobs.</a:t>
            </a:r>
          </a:p>
        </p:txBody>
      </p:sp>
      <p:sp>
        <p:nvSpPr>
          <p:cNvPr id="4" name="Rounded Rectangle 3"/>
          <p:cNvSpPr/>
          <p:nvPr/>
        </p:nvSpPr>
        <p:spPr>
          <a:xfrm>
            <a:off x="41148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3749039" cy="365760"/>
          </a:xfrm>
          <a:prstGeom prst="rect">
            <a:avLst/>
          </a:prstGeom>
          <a:noFill/>
        </p:spPr>
        <p:txBody>
          <a:bodyPr wrap="square" lIns="0" rIns="0" tIns="0" bIns="0">
            <a:spAutoFit/>
          </a:bodyPr>
          <a:lstStyle/>
          <a:p>
            <a:pPr>
              <a:spcAft>
                <a:spcPts val="500"/>
              </a:spcAft>
              <a:defRPr sz="1600" b="1">
                <a:solidFill>
                  <a:srgbClr val="346CEC"/>
                </a:solidFill>
                <a:latin typeface="Arial"/>
              </a:defRPr>
            </a:pPr>
            <a:r>
              <a:rPr cap="none"/>
              <a:t>Available configuration</a:t>
            </a:r>
          </a:p>
        </p:txBody>
      </p:sp>
      <p:sp>
        <p:nvSpPr>
          <p:cNvPr id="6" name="TextBox 5"/>
          <p:cNvSpPr txBox="1"/>
          <p:nvPr/>
        </p:nvSpPr>
        <p:spPr>
          <a:xfrm>
            <a:off x="576072"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Select queue and latency metrics</a:t>
            </a:r>
          </a:p>
          <a:p>
            <a:pPr>
              <a:spcAft>
                <a:spcPts val="500"/>
              </a:spcAft>
              <a:defRPr sz="1500" b="0">
                <a:solidFill>
                  <a:srgbClr val="142C46"/>
                </a:solidFill>
                <a:latin typeface="Arial"/>
              </a:defRPr>
            </a:pPr>
            <a:r>
              <a:rPr cap="none"/>
              <a:t>Set thresholds and aggregation windows</a:t>
            </a:r>
          </a:p>
          <a:p>
            <a:pPr>
              <a:spcAft>
                <a:spcPts val="500"/>
              </a:spcAft>
              <a:defRPr sz="1500" b="0">
                <a:solidFill>
                  <a:srgbClr val="142C46"/>
                </a:solidFill>
                <a:latin typeface="Arial"/>
              </a:defRPr>
            </a:pPr>
            <a:r>
              <a:rPr cap="none"/>
              <a:t>Choose replica bounds and cooldowns</a:t>
            </a:r>
          </a:p>
          <a:p>
            <a:pPr>
              <a:spcAft>
                <a:spcPts val="500"/>
              </a:spcAft>
              <a:defRPr sz="1500" b="0">
                <a:solidFill>
                  <a:srgbClr val="142C46"/>
                </a:solidFill>
                <a:latin typeface="Arial"/>
              </a:defRPr>
            </a:pPr>
            <a:r>
              <a:rPr cap="none"/>
              <a:t>Combine signals with an AND policy</a:t>
            </a:r>
          </a:p>
        </p:txBody>
      </p:sp>
      <p:sp>
        <p:nvSpPr>
          <p:cNvPr id="7" name="Rounded Rectangle 6"/>
          <p:cNvSpPr/>
          <p:nvPr/>
        </p:nvSpPr>
        <p:spPr>
          <a:xfrm>
            <a:off x="4663440" y="1591056"/>
            <a:ext cx="4078224" cy="2505456"/>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46504"/>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Proposed simplification</a:t>
            </a:r>
          </a:p>
        </p:txBody>
      </p:sp>
      <p:sp>
        <p:nvSpPr>
          <p:cNvPr id="9" name="TextBox 8"/>
          <p:cNvSpPr txBox="1"/>
          <p:nvPr/>
        </p:nvSpPr>
        <p:spPr>
          <a:xfrm>
            <a:off x="4828031" y="2221991"/>
            <a:ext cx="3749039" cy="1773936"/>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Keep minimum and maximum replicas</a:t>
            </a:r>
          </a:p>
          <a:p>
            <a:pPr>
              <a:spcAft>
                <a:spcPts val="500"/>
              </a:spcAft>
              <a:defRPr sz="1500" b="0">
                <a:solidFill>
                  <a:srgbClr val="142C46"/>
                </a:solidFill>
                <a:latin typeface="Arial"/>
              </a:defRPr>
            </a:pPr>
            <a:r>
              <a:rPr cap="none"/>
              <a:t>Derive more defaults automatically</a:t>
            </a:r>
          </a:p>
          <a:p>
            <a:pPr>
              <a:spcAft>
                <a:spcPts val="500"/>
              </a:spcAft>
              <a:defRPr sz="1500" b="0">
                <a:solidFill>
                  <a:srgbClr val="142C46"/>
                </a:solidFill>
                <a:latin typeface="Arial"/>
              </a:defRPr>
            </a:pPr>
            <a:r>
              <a:rPr cap="none"/>
              <a:t>Validate against the model and workload</a:t>
            </a:r>
          </a:p>
          <a:p>
            <a:pPr>
              <a:spcAft>
                <a:spcPts val="500"/>
              </a:spcAft>
              <a:defRPr sz="1500" b="0">
                <a:solidFill>
                  <a:srgbClr val="142C46"/>
                </a:solidFill>
                <a:latin typeface="Arial"/>
              </a:defRPr>
            </a:pPr>
            <a:r>
              <a:rPr cap="none"/>
              <a:t>Not a shipped auto-tuning guarantee</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Annotations express intent; controllers still create and manage scaling resources.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36 / 49</a:t>
            </a:r>
          </a:p>
        </p:txBody>
      </p:sp>
    </p:spTree>
    <p:extLst>
      <p:ext uri="{BB962C8B-B14F-4D97-AF65-F5344CB8AC3E}">
        <p14:creationId xmlns:p14="http://schemas.microsoft.com/office/powerpoint/2010/main" val="3344936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Per-role autoscaling</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Two independent control loops, one logical service</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Conceptual design: validate signals and thresholds for the actual workload.</a:t>
            </a:r>
          </a:p>
        </p:txBody>
      </p:sp>
      <p:cxnSp>
        <p:nvCxnSpPr>
          <p:cNvPr id="5" name="Connector 4"/>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77190" y="1700784"/>
            <a:ext cx="102870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9" name="TextBox 8"/>
          <p:cNvSpPr txBox="1"/>
          <p:nvPr/>
        </p:nvSpPr>
        <p:spPr>
          <a:xfrm>
            <a:off x="425196" y="1724787"/>
            <a:ext cx="93268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0" name="Rounded Rectangle 9"/>
          <p:cNvSpPr/>
          <p:nvPr/>
        </p:nvSpPr>
        <p:spPr>
          <a:xfrm>
            <a:off x="1659636" y="1645920"/>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165963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1762506" y="1735075"/>
            <a:ext cx="174879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Waiting requests</a:t>
            </a:r>
          </a:p>
        </p:txBody>
      </p:sp>
      <p:sp>
        <p:nvSpPr>
          <p:cNvPr id="13" name="TextBox 12"/>
          <p:cNvSpPr txBox="1"/>
          <p:nvPr/>
        </p:nvSpPr>
        <p:spPr>
          <a:xfrm>
            <a:off x="1769364" y="2064259"/>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14" name="Rounded Rectangle 13"/>
          <p:cNvSpPr/>
          <p:nvPr/>
        </p:nvSpPr>
        <p:spPr>
          <a:xfrm>
            <a:off x="4114800" y="1645920"/>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4114800"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4217670" y="1735075"/>
            <a:ext cx="1577340"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KEDA / HPA</a:t>
            </a:r>
          </a:p>
        </p:txBody>
      </p:sp>
      <p:sp>
        <p:nvSpPr>
          <p:cNvPr id="17" name="TextBox 16"/>
          <p:cNvSpPr txBox="1"/>
          <p:nvPr/>
        </p:nvSpPr>
        <p:spPr>
          <a:xfrm>
            <a:off x="4224528" y="2064259"/>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18" name="Rounded Rectangle 17"/>
          <p:cNvSpPr/>
          <p:nvPr/>
        </p:nvSpPr>
        <p:spPr>
          <a:xfrm>
            <a:off x="6391656" y="1645920"/>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91656" y="1714500"/>
            <a:ext cx="37719" cy="67894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94526" y="1735075"/>
            <a:ext cx="2167128" cy="216982"/>
          </a:xfrm>
          <a:prstGeom prst="rect">
            <a:avLst/>
          </a:prstGeom>
          <a:noFill/>
        </p:spPr>
        <p:txBody>
          <a:bodyPr wrap="square" lIns="10287" tIns="10287" rIns="10287" bIns="10287">
            <a:spAutoFit/>
          </a:bodyPr>
          <a:lstStyle/>
          <a:p>
            <a:pPr algn="ctr">
              <a:spcAft>
                <a:spcPts val="375"/>
              </a:spcAft>
              <a:defRPr sz="1700" b="1">
                <a:solidFill>
                  <a:srgbClr val="087F8C"/>
                </a:solidFill>
                <a:latin typeface="Arial"/>
              </a:defRPr>
            </a:pPr>
            <a:r>
              <a:rPr sz="1275" cap="none">
                <a:latin typeface="Arial"/>
              </a:rPr>
              <a:t>Prefill InferenceSet</a:t>
            </a:r>
          </a:p>
        </p:txBody>
      </p:sp>
      <p:sp>
        <p:nvSpPr>
          <p:cNvPr id="21" name="TextBox 20"/>
          <p:cNvSpPr txBox="1"/>
          <p:nvPr/>
        </p:nvSpPr>
        <p:spPr>
          <a:xfrm>
            <a:off x="6501384" y="2064259"/>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22" name="Connector 21"/>
          <p:cNvCxnSpPr/>
          <p:nvPr/>
        </p:nvCxnSpPr>
        <p:spPr>
          <a:xfrm>
            <a:off x="3614166" y="2043684"/>
            <a:ext cx="500634"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897880" y="2043684"/>
            <a:ext cx="49377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78090" y="2462022"/>
            <a:ext cx="0" cy="260604"/>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2633472" y="2722626"/>
            <a:ext cx="4944618" cy="0"/>
          </a:xfrm>
          <a:prstGeom prst="line">
            <a:avLst/>
          </a:prstGeom>
          <a:ln w="25400">
            <a:solidFill>
              <a:srgbClr val="087F8C"/>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633472" y="2462022"/>
            <a:ext cx="0" cy="260604"/>
          </a:xfrm>
          <a:prstGeom prst="line">
            <a:avLst/>
          </a:prstGeom>
          <a:ln w="25400">
            <a:solidFill>
              <a:srgbClr val="087F8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377190" y="3120390"/>
            <a:ext cx="102870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8" name="TextBox 27"/>
          <p:cNvSpPr txBox="1"/>
          <p:nvPr/>
        </p:nvSpPr>
        <p:spPr>
          <a:xfrm>
            <a:off x="425196" y="3144393"/>
            <a:ext cx="93268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9" name="Rounded Rectangle 28"/>
          <p:cNvSpPr/>
          <p:nvPr/>
        </p:nvSpPr>
        <p:spPr>
          <a:xfrm>
            <a:off x="1659636" y="3065526"/>
            <a:ext cx="195453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Rectangle 29"/>
          <p:cNvSpPr/>
          <p:nvPr/>
        </p:nvSpPr>
        <p:spPr>
          <a:xfrm>
            <a:off x="165963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1762506" y="3154681"/>
            <a:ext cx="174879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Running requests</a:t>
            </a:r>
          </a:p>
        </p:txBody>
      </p:sp>
      <p:sp>
        <p:nvSpPr>
          <p:cNvPr id="32" name="TextBox 31"/>
          <p:cNvSpPr txBox="1"/>
          <p:nvPr/>
        </p:nvSpPr>
        <p:spPr>
          <a:xfrm>
            <a:off x="1769364" y="3483864"/>
            <a:ext cx="173507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Observe</a:t>
            </a:r>
          </a:p>
        </p:txBody>
      </p:sp>
      <p:sp>
        <p:nvSpPr>
          <p:cNvPr id="33" name="Rounded Rectangle 32"/>
          <p:cNvSpPr/>
          <p:nvPr/>
        </p:nvSpPr>
        <p:spPr>
          <a:xfrm>
            <a:off x="4114800" y="3065526"/>
            <a:ext cx="1783080"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Rectangle 33"/>
          <p:cNvSpPr/>
          <p:nvPr/>
        </p:nvSpPr>
        <p:spPr>
          <a:xfrm>
            <a:off x="4114800"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217670" y="3154681"/>
            <a:ext cx="1577340"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KEDA / HPA</a:t>
            </a:r>
          </a:p>
        </p:txBody>
      </p:sp>
      <p:sp>
        <p:nvSpPr>
          <p:cNvPr id="36" name="TextBox 35"/>
          <p:cNvSpPr txBox="1"/>
          <p:nvPr/>
        </p:nvSpPr>
        <p:spPr>
          <a:xfrm>
            <a:off x="4224528" y="3483864"/>
            <a:ext cx="156362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Decide</a:t>
            </a:r>
          </a:p>
        </p:txBody>
      </p:sp>
      <p:sp>
        <p:nvSpPr>
          <p:cNvPr id="37" name="Rounded Rectangle 36"/>
          <p:cNvSpPr/>
          <p:nvPr/>
        </p:nvSpPr>
        <p:spPr>
          <a:xfrm>
            <a:off x="6391656" y="3065526"/>
            <a:ext cx="2372868" cy="816102"/>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8" name="Rectangle 37"/>
          <p:cNvSpPr/>
          <p:nvPr/>
        </p:nvSpPr>
        <p:spPr>
          <a:xfrm>
            <a:off x="6391656" y="3134105"/>
            <a:ext cx="37719" cy="678942"/>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6494526" y="3154681"/>
            <a:ext cx="2167128" cy="216982"/>
          </a:xfrm>
          <a:prstGeom prst="rect">
            <a:avLst/>
          </a:prstGeom>
          <a:noFill/>
        </p:spPr>
        <p:txBody>
          <a:bodyPr wrap="square" lIns="10287" tIns="10287" rIns="10287" bIns="10287">
            <a:spAutoFit/>
          </a:bodyPr>
          <a:lstStyle/>
          <a:p>
            <a:pPr algn="ctr">
              <a:spcAft>
                <a:spcPts val="375"/>
              </a:spcAft>
              <a:defRPr sz="1700" b="1">
                <a:solidFill>
                  <a:srgbClr val="7354B8"/>
                </a:solidFill>
                <a:latin typeface="Arial"/>
              </a:defRPr>
            </a:pPr>
            <a:r>
              <a:rPr sz="1275" cap="none">
                <a:latin typeface="Arial"/>
              </a:rPr>
              <a:t>Decode InferenceSet</a:t>
            </a:r>
          </a:p>
        </p:txBody>
      </p:sp>
      <p:sp>
        <p:nvSpPr>
          <p:cNvPr id="40" name="TextBox 39"/>
          <p:cNvSpPr txBox="1"/>
          <p:nvPr/>
        </p:nvSpPr>
        <p:spPr>
          <a:xfrm>
            <a:off x="6501384" y="3483864"/>
            <a:ext cx="2153412"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replicas</a:t>
            </a:r>
          </a:p>
        </p:txBody>
      </p:sp>
      <p:cxnSp>
        <p:nvCxnSpPr>
          <p:cNvPr id="41" name="Connector 40"/>
          <p:cNvCxnSpPr/>
          <p:nvPr/>
        </p:nvCxnSpPr>
        <p:spPr>
          <a:xfrm>
            <a:off x="3614166" y="3463290"/>
            <a:ext cx="500634"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897880" y="3463290"/>
            <a:ext cx="49377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578090" y="3881628"/>
            <a:ext cx="0" cy="260604"/>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2633472" y="4142232"/>
            <a:ext cx="4944618" cy="0"/>
          </a:xfrm>
          <a:prstGeom prst="line">
            <a:avLst/>
          </a:prstGeom>
          <a:ln w="25400">
            <a:solidFill>
              <a:srgbClr val="7354B8"/>
            </a:solidFill>
            <a:prstDash val="dash"/>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2633472" y="3881628"/>
            <a:ext cx="0" cy="260604"/>
          </a:xfrm>
          <a:prstGeom prst="line">
            <a:avLst/>
          </a:prstGeom>
          <a:ln w="25400">
            <a:solidFill>
              <a:srgbClr val="7354B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390905" y="4519422"/>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Add stabilization, warm-up awareness, and safe scale-down behavior to each loop.</a:t>
            </a:r>
          </a:p>
        </p:txBody>
      </p:sp>
      <p:sp>
        <p:nvSpPr>
          <p:cNvPr id="47" name="TextBox 46"/>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8" name="TextBox 47"/>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37 / 49</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Policy boundary</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One service, independently managed role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Coordinate P/D at the service level; make capacity decisions separately for each role.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Scale a complete serving replica—not an individual tensor-parallel worker.</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2476"/>
            <a:ext cx="2948940" cy="233172"/>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25196" y="1546479"/>
            <a:ext cx="2852928" cy="136191"/>
          </a:xfrm>
          <a:prstGeom prst="rect">
            <a:avLst/>
          </a:prstGeom>
          <a:noFill/>
        </p:spPr>
        <p:txBody>
          <a:bodyPr wrap="square" lIns="10287" tIns="10287" rIns="10287" bIns="10287">
            <a:spAutoFit/>
          </a:bodyPr>
          <a:lstStyle/>
          <a:p>
            <a:pPr algn="ctr">
              <a:spcAft>
                <a:spcPts val="375"/>
              </a:spcAft>
              <a:defRPr sz="1000" b="1">
                <a:solidFill>
                  <a:srgbClr val="AE641A"/>
                </a:solidFill>
                <a:latin typeface="Arial"/>
              </a:defRPr>
            </a:pPr>
            <a:r>
              <a:rPr sz="750" cap="none">
                <a:latin typeface="Arial"/>
              </a:rPr>
              <a:t>Design pattern / per-role control</a:t>
            </a:r>
          </a:p>
        </p:txBody>
      </p:sp>
      <p:sp>
        <p:nvSpPr>
          <p:cNvPr id="12" name="Rounded Rectangle 11"/>
          <p:cNvSpPr/>
          <p:nvPr/>
        </p:nvSpPr>
        <p:spPr>
          <a:xfrm>
            <a:off x="377190" y="2160270"/>
            <a:ext cx="2468880" cy="15224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Rectangle 12"/>
          <p:cNvSpPr/>
          <p:nvPr/>
        </p:nvSpPr>
        <p:spPr>
          <a:xfrm>
            <a:off x="377190" y="2228850"/>
            <a:ext cx="37719" cy="13853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4" name="TextBox 13"/>
          <p:cNvSpPr txBox="1"/>
          <p:nvPr/>
        </p:nvSpPr>
        <p:spPr>
          <a:xfrm>
            <a:off x="480060" y="2249424"/>
            <a:ext cx="2263140" cy="274691"/>
          </a:xfrm>
          <a:prstGeom prst="rect">
            <a:avLst/>
          </a:prstGeom>
          <a:noFill/>
        </p:spPr>
        <p:txBody>
          <a:bodyPr wrap="square" lIns="10287" tIns="10287" rIns="10287" bIns="10287">
            <a:spAutoFit/>
          </a:bodyPr>
          <a:lstStyle/>
          <a:p>
            <a:pPr algn="ctr">
              <a:spcAft>
                <a:spcPts val="375"/>
              </a:spcAft>
              <a:defRPr sz="2200" b="1">
                <a:solidFill>
                  <a:srgbClr val="2563EB"/>
                </a:solidFill>
                <a:latin typeface="Arial"/>
              </a:defRPr>
            </a:pPr>
            <a:r>
              <a:rPr sz="1650" cap="none">
                <a:latin typeface="Arial"/>
              </a:rPr>
              <a:t>Service-level intent</a:t>
            </a:r>
          </a:p>
        </p:txBody>
      </p:sp>
      <p:sp>
        <p:nvSpPr>
          <p:cNvPr id="15" name="TextBox 14"/>
          <p:cNvSpPr txBox="1"/>
          <p:nvPr/>
        </p:nvSpPr>
        <p:spPr>
          <a:xfrm>
            <a:off x="486918" y="2578608"/>
            <a:ext cx="2249424" cy="395236"/>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Prefill: latency objective</a:t>
            </a:r>
          </a:p>
          <a:p>
            <a:pPr algn="ctr">
              <a:spcAft>
                <a:spcPts val="375"/>
              </a:spcAft>
              <a:defRPr sz="1400" b="0">
                <a:solidFill>
                  <a:srgbClr val="586A80"/>
                </a:solidFill>
                <a:latin typeface="Arial"/>
              </a:defRPr>
            </a:pPr>
            <a:r>
              <a:rPr sz="1050" cap="none">
                <a:latin typeface="Arial"/>
              </a:rPr>
              <a:t>Decode: delivery objective</a:t>
            </a:r>
          </a:p>
        </p:txBody>
      </p:sp>
      <p:sp>
        <p:nvSpPr>
          <p:cNvPr id="16" name="Rounded Rectangle 15"/>
          <p:cNvSpPr/>
          <p:nvPr/>
        </p:nvSpPr>
        <p:spPr>
          <a:xfrm>
            <a:off x="3429000" y="2420874"/>
            <a:ext cx="2263140" cy="100812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Rectangle 16"/>
          <p:cNvSpPr/>
          <p:nvPr/>
        </p:nvSpPr>
        <p:spPr>
          <a:xfrm>
            <a:off x="3429000" y="2489454"/>
            <a:ext cx="37719" cy="87096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3531870" y="2510027"/>
            <a:ext cx="205740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Policy reconciliation</a:t>
            </a:r>
          </a:p>
        </p:txBody>
      </p:sp>
      <p:sp>
        <p:nvSpPr>
          <p:cNvPr id="19" name="TextBox 18"/>
          <p:cNvSpPr txBox="1"/>
          <p:nvPr/>
        </p:nvSpPr>
        <p:spPr>
          <a:xfrm>
            <a:off x="3538728" y="2839212"/>
            <a:ext cx="204368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Independent role targets</a:t>
            </a:r>
          </a:p>
        </p:txBody>
      </p:sp>
      <p:sp>
        <p:nvSpPr>
          <p:cNvPr id="20" name="Rounded Rectangle 19"/>
          <p:cNvSpPr/>
          <p:nvPr/>
        </p:nvSpPr>
        <p:spPr>
          <a:xfrm>
            <a:off x="6275070" y="2029968"/>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275070" y="2098548"/>
            <a:ext cx="37719" cy="66522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377940" y="2119122"/>
            <a:ext cx="2283714"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scale target</a:t>
            </a:r>
          </a:p>
        </p:txBody>
      </p:sp>
      <p:sp>
        <p:nvSpPr>
          <p:cNvPr id="23" name="TextBox 22"/>
          <p:cNvSpPr txBox="1"/>
          <p:nvPr/>
        </p:nvSpPr>
        <p:spPr>
          <a:xfrm>
            <a:off x="6384798" y="2448307"/>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sp>
        <p:nvSpPr>
          <p:cNvPr id="24" name="Rounded Rectangle 23"/>
          <p:cNvSpPr/>
          <p:nvPr/>
        </p:nvSpPr>
        <p:spPr>
          <a:xfrm>
            <a:off x="6275070" y="3175254"/>
            <a:ext cx="2489454" cy="80238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6275070" y="3243834"/>
            <a:ext cx="37719" cy="665226"/>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6377940" y="3264408"/>
            <a:ext cx="2283714"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scale target</a:t>
            </a:r>
          </a:p>
        </p:txBody>
      </p:sp>
      <p:sp>
        <p:nvSpPr>
          <p:cNvPr id="27" name="TextBox 26"/>
          <p:cNvSpPr txBox="1"/>
          <p:nvPr/>
        </p:nvSpPr>
        <p:spPr>
          <a:xfrm>
            <a:off x="6384798" y="3593592"/>
            <a:ext cx="2269998"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Generated policy + target</a:t>
            </a:r>
          </a:p>
        </p:txBody>
      </p:sp>
      <p:cxnSp>
        <p:nvCxnSpPr>
          <p:cNvPr id="28" name="Connector 27"/>
          <p:cNvCxnSpPr/>
          <p:nvPr/>
        </p:nvCxnSpPr>
        <p:spPr>
          <a:xfrm>
            <a:off x="2846070" y="2914650"/>
            <a:ext cx="582930"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692141" y="2811779"/>
            <a:ext cx="274319" cy="0"/>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5966459" y="2434591"/>
            <a:ext cx="0" cy="377189"/>
          </a:xfrm>
          <a:prstGeom prst="line">
            <a:avLst/>
          </a:prstGeom>
          <a:ln w="25400">
            <a:solidFill>
              <a:srgbClr val="087F8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5966460" y="2434590"/>
            <a:ext cx="308611"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692141" y="3031236"/>
            <a:ext cx="274319" cy="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966459" y="3031236"/>
            <a:ext cx="0" cy="548640"/>
          </a:xfrm>
          <a:prstGeom prst="line">
            <a:avLst/>
          </a:prstGeom>
          <a:ln w="25400">
            <a:solidFill>
              <a:srgbClr val="7354B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966460" y="3579876"/>
            <a:ext cx="308611"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36" name="TextBox 3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38 / 49</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Control-loop design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Observe each role. Act on its own capacity.</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Independent feedback loops connect role-specific load to role-specific serving capacity.</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Routing chooses where requests go; autoscaling changes how much capacity is available.</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377190"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480060"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Role-specific policies</a:t>
            </a:r>
          </a:p>
        </p:txBody>
      </p:sp>
      <p:sp>
        <p:nvSpPr>
          <p:cNvPr id="13" name="TextBox 12"/>
          <p:cNvSpPr txBox="1"/>
          <p:nvPr/>
        </p:nvSpPr>
        <p:spPr>
          <a:xfrm>
            <a:off x="486918"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Signals, thresholds and bounds</a:t>
            </a:r>
          </a:p>
        </p:txBody>
      </p:sp>
      <p:sp>
        <p:nvSpPr>
          <p:cNvPr id="14" name="Rounded Rectangle 13"/>
          <p:cNvSpPr/>
          <p:nvPr/>
        </p:nvSpPr>
        <p:spPr>
          <a:xfrm>
            <a:off x="3374136"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Rectangle 14"/>
          <p:cNvSpPr/>
          <p:nvPr/>
        </p:nvSpPr>
        <p:spPr>
          <a:xfrm>
            <a:off x="3374136"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3477006"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Independent decisions</a:t>
            </a:r>
          </a:p>
        </p:txBody>
      </p:sp>
      <p:sp>
        <p:nvSpPr>
          <p:cNvPr id="17" name="TextBox 16"/>
          <p:cNvSpPr txBox="1"/>
          <p:nvPr/>
        </p:nvSpPr>
        <p:spPr>
          <a:xfrm>
            <a:off x="3483864"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One controller per target</a:t>
            </a:r>
          </a:p>
        </p:txBody>
      </p:sp>
      <p:sp>
        <p:nvSpPr>
          <p:cNvPr id="18" name="Rounded Rectangle 17"/>
          <p:cNvSpPr/>
          <p:nvPr/>
        </p:nvSpPr>
        <p:spPr>
          <a:xfrm>
            <a:off x="6364224" y="1529334"/>
            <a:ext cx="2400300" cy="795528"/>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Rectangle 18"/>
          <p:cNvSpPr/>
          <p:nvPr/>
        </p:nvSpPr>
        <p:spPr>
          <a:xfrm>
            <a:off x="6364224" y="1597914"/>
            <a:ext cx="37719" cy="658368"/>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0" name="TextBox 19"/>
          <p:cNvSpPr txBox="1"/>
          <p:nvPr/>
        </p:nvSpPr>
        <p:spPr>
          <a:xfrm>
            <a:off x="6467094" y="1618488"/>
            <a:ext cx="2194560" cy="263149"/>
          </a:xfrm>
          <a:prstGeom prst="rect">
            <a:avLst/>
          </a:prstGeom>
          <a:noFill/>
        </p:spPr>
        <p:txBody>
          <a:bodyPr wrap="square" lIns="10287" tIns="10287" rIns="10287" bIns="10287">
            <a:spAutoFit/>
          </a:bodyPr>
          <a:lstStyle/>
          <a:p>
            <a:pPr algn="ctr">
              <a:spcAft>
                <a:spcPts val="375"/>
              </a:spcAft>
              <a:defRPr sz="2100" b="1">
                <a:solidFill>
                  <a:srgbClr val="2563EB"/>
                </a:solidFill>
                <a:latin typeface="Arial"/>
              </a:defRPr>
            </a:pPr>
            <a:r>
              <a:rPr sz="1575" cap="none">
                <a:latin typeface="Arial"/>
              </a:rPr>
              <a:t>Serving capacity</a:t>
            </a:r>
          </a:p>
        </p:txBody>
      </p:sp>
      <p:sp>
        <p:nvSpPr>
          <p:cNvPr id="21" name="TextBox 20"/>
          <p:cNvSpPr txBox="1"/>
          <p:nvPr/>
        </p:nvSpPr>
        <p:spPr>
          <a:xfrm>
            <a:off x="6473952" y="1947673"/>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Count model-ready replicas</a:t>
            </a:r>
          </a:p>
        </p:txBody>
      </p:sp>
      <p:cxnSp>
        <p:nvCxnSpPr>
          <p:cNvPr id="22" name="Connector 21"/>
          <p:cNvCxnSpPr/>
          <p:nvPr/>
        </p:nvCxnSpPr>
        <p:spPr>
          <a:xfrm>
            <a:off x="2777490" y="1927098"/>
            <a:ext cx="596646"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774436" y="1927098"/>
            <a:ext cx="589788" cy="0"/>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377190"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Rectangle 24"/>
          <p:cNvSpPr/>
          <p:nvPr/>
        </p:nvSpPr>
        <p:spPr>
          <a:xfrm>
            <a:off x="377190"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TextBox 25"/>
          <p:cNvSpPr txBox="1"/>
          <p:nvPr/>
        </p:nvSpPr>
        <p:spPr>
          <a:xfrm>
            <a:off x="480060"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vLLM /metrics</a:t>
            </a:r>
          </a:p>
        </p:txBody>
      </p:sp>
      <p:sp>
        <p:nvSpPr>
          <p:cNvPr id="27" name="TextBox 26"/>
          <p:cNvSpPr txBox="1"/>
          <p:nvPr/>
        </p:nvSpPr>
        <p:spPr>
          <a:xfrm>
            <a:off x="486918"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Waiting requests</a:t>
            </a:r>
          </a:p>
        </p:txBody>
      </p:sp>
      <p:sp>
        <p:nvSpPr>
          <p:cNvPr id="28" name="Rounded Rectangle 27"/>
          <p:cNvSpPr/>
          <p:nvPr/>
        </p:nvSpPr>
        <p:spPr>
          <a:xfrm>
            <a:off x="3374136"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Rectangle 28"/>
          <p:cNvSpPr/>
          <p:nvPr/>
        </p:nvSpPr>
        <p:spPr>
          <a:xfrm>
            <a:off x="3374136"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0" name="TextBox 29"/>
          <p:cNvSpPr txBox="1"/>
          <p:nvPr/>
        </p:nvSpPr>
        <p:spPr>
          <a:xfrm>
            <a:off x="3477006"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autoscaler</a:t>
            </a:r>
          </a:p>
        </p:txBody>
      </p:sp>
      <p:sp>
        <p:nvSpPr>
          <p:cNvPr id="31" name="TextBox 30"/>
          <p:cNvSpPr txBox="1"/>
          <p:nvPr/>
        </p:nvSpPr>
        <p:spPr>
          <a:xfrm>
            <a:off x="3483864"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32" name="Rounded Rectangle 31"/>
          <p:cNvSpPr/>
          <p:nvPr/>
        </p:nvSpPr>
        <p:spPr>
          <a:xfrm>
            <a:off x="6364224" y="2667762"/>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Rectangle 32"/>
          <p:cNvSpPr/>
          <p:nvPr/>
        </p:nvSpPr>
        <p:spPr>
          <a:xfrm>
            <a:off x="6364224" y="2736342"/>
            <a:ext cx="37719" cy="548640"/>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467094" y="2756916"/>
            <a:ext cx="2194560" cy="228524"/>
          </a:xfrm>
          <a:prstGeom prst="rect">
            <a:avLst/>
          </a:prstGeom>
          <a:noFill/>
        </p:spPr>
        <p:txBody>
          <a:bodyPr wrap="square" lIns="10287" tIns="10287" rIns="10287" bIns="10287">
            <a:spAutoFit/>
          </a:bodyPr>
          <a:lstStyle/>
          <a:p>
            <a:pPr algn="ctr">
              <a:spcAft>
                <a:spcPts val="375"/>
              </a:spcAft>
              <a:defRPr sz="1800" b="1">
                <a:solidFill>
                  <a:srgbClr val="087F8C"/>
                </a:solidFill>
                <a:latin typeface="Arial"/>
              </a:defRPr>
            </a:pPr>
            <a:r>
              <a:rPr sz="1350" cap="none">
                <a:latin typeface="Arial"/>
              </a:rPr>
              <a:t>Prefill replicas</a:t>
            </a:r>
          </a:p>
        </p:txBody>
      </p:sp>
      <p:sp>
        <p:nvSpPr>
          <p:cNvPr id="35" name="TextBox 34"/>
          <p:cNvSpPr txBox="1"/>
          <p:nvPr/>
        </p:nvSpPr>
        <p:spPr>
          <a:xfrm>
            <a:off x="6473952" y="3086101"/>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36" name="Connector 35"/>
          <p:cNvCxnSpPr/>
          <p:nvPr/>
        </p:nvCxnSpPr>
        <p:spPr>
          <a:xfrm>
            <a:off x="2777490" y="3010662"/>
            <a:ext cx="596646"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774436" y="3010662"/>
            <a:ext cx="589788" cy="0"/>
          </a:xfrm>
          <a:prstGeom prst="line">
            <a:avLst/>
          </a:prstGeom>
          <a:ln w="25400">
            <a:solidFill>
              <a:srgbClr val="087F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377190"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Rectangle 38"/>
          <p:cNvSpPr/>
          <p:nvPr/>
        </p:nvSpPr>
        <p:spPr>
          <a:xfrm>
            <a:off x="377190"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0" name="TextBox 39"/>
          <p:cNvSpPr txBox="1"/>
          <p:nvPr/>
        </p:nvSpPr>
        <p:spPr>
          <a:xfrm>
            <a:off x="480060"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vLLM /metrics</a:t>
            </a:r>
          </a:p>
        </p:txBody>
      </p:sp>
      <p:sp>
        <p:nvSpPr>
          <p:cNvPr id="41" name="TextBox 40"/>
          <p:cNvSpPr txBox="1"/>
          <p:nvPr/>
        </p:nvSpPr>
        <p:spPr>
          <a:xfrm>
            <a:off x="486918"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Running requests</a:t>
            </a:r>
          </a:p>
        </p:txBody>
      </p:sp>
      <p:sp>
        <p:nvSpPr>
          <p:cNvPr id="42" name="Rounded Rectangle 41"/>
          <p:cNvSpPr/>
          <p:nvPr/>
        </p:nvSpPr>
        <p:spPr>
          <a:xfrm>
            <a:off x="3374136"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Rectangle 42"/>
          <p:cNvSpPr/>
          <p:nvPr/>
        </p:nvSpPr>
        <p:spPr>
          <a:xfrm>
            <a:off x="3374136"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4" name="TextBox 43"/>
          <p:cNvSpPr txBox="1"/>
          <p:nvPr/>
        </p:nvSpPr>
        <p:spPr>
          <a:xfrm>
            <a:off x="3477006"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autoscaler</a:t>
            </a:r>
          </a:p>
        </p:txBody>
      </p:sp>
      <p:sp>
        <p:nvSpPr>
          <p:cNvPr id="45" name="TextBox 44"/>
          <p:cNvSpPr txBox="1"/>
          <p:nvPr/>
        </p:nvSpPr>
        <p:spPr>
          <a:xfrm>
            <a:off x="3483864"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Evaluate this role independently</a:t>
            </a:r>
          </a:p>
        </p:txBody>
      </p:sp>
      <p:sp>
        <p:nvSpPr>
          <p:cNvPr id="46" name="Rounded Rectangle 45"/>
          <p:cNvSpPr/>
          <p:nvPr/>
        </p:nvSpPr>
        <p:spPr>
          <a:xfrm>
            <a:off x="6364224" y="3477006"/>
            <a:ext cx="2400300" cy="68580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7" name="Rectangle 46"/>
          <p:cNvSpPr/>
          <p:nvPr/>
        </p:nvSpPr>
        <p:spPr>
          <a:xfrm>
            <a:off x="6364224" y="3545586"/>
            <a:ext cx="37719" cy="548640"/>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8" name="TextBox 47"/>
          <p:cNvSpPr txBox="1"/>
          <p:nvPr/>
        </p:nvSpPr>
        <p:spPr>
          <a:xfrm>
            <a:off x="6467094" y="3566160"/>
            <a:ext cx="2194560" cy="228524"/>
          </a:xfrm>
          <a:prstGeom prst="rect">
            <a:avLst/>
          </a:prstGeom>
          <a:noFill/>
        </p:spPr>
        <p:txBody>
          <a:bodyPr wrap="square" lIns="10287" tIns="10287" rIns="10287" bIns="10287">
            <a:spAutoFit/>
          </a:bodyPr>
          <a:lstStyle/>
          <a:p>
            <a:pPr algn="ctr">
              <a:spcAft>
                <a:spcPts val="375"/>
              </a:spcAft>
              <a:defRPr sz="1800" b="1">
                <a:solidFill>
                  <a:srgbClr val="7354B8"/>
                </a:solidFill>
                <a:latin typeface="Arial"/>
              </a:defRPr>
            </a:pPr>
            <a:r>
              <a:rPr sz="1350" cap="none">
                <a:latin typeface="Arial"/>
              </a:rPr>
              <a:t>Decode replicas</a:t>
            </a:r>
          </a:p>
        </p:txBody>
      </p:sp>
      <p:sp>
        <p:nvSpPr>
          <p:cNvPr id="49" name="TextBox 48"/>
          <p:cNvSpPr txBox="1"/>
          <p:nvPr/>
        </p:nvSpPr>
        <p:spPr>
          <a:xfrm>
            <a:off x="6473952" y="3895345"/>
            <a:ext cx="2180844" cy="182358"/>
          </a:xfrm>
          <a:prstGeom prst="rect">
            <a:avLst/>
          </a:prstGeom>
          <a:noFill/>
        </p:spPr>
        <p:txBody>
          <a:bodyPr wrap="square" lIns="10287" tIns="10287" rIns="10287" bIns="10287">
            <a:spAutoFit/>
          </a:bodyPr>
          <a:lstStyle/>
          <a:p>
            <a:pPr algn="ctr">
              <a:spcAft>
                <a:spcPts val="375"/>
              </a:spcAft>
              <a:defRPr sz="1400" b="0">
                <a:solidFill>
                  <a:srgbClr val="586A80"/>
                </a:solidFill>
                <a:latin typeface="Arial"/>
              </a:defRPr>
            </a:pPr>
            <a:r>
              <a:rPr sz="1050" cap="none">
                <a:latin typeface="Arial"/>
              </a:rPr>
              <a:t>Reconcile serving capacity</a:t>
            </a:r>
          </a:p>
        </p:txBody>
      </p:sp>
      <p:cxnSp>
        <p:nvCxnSpPr>
          <p:cNvPr id="50" name="Connector 49"/>
          <p:cNvCxnSpPr/>
          <p:nvPr/>
        </p:nvCxnSpPr>
        <p:spPr>
          <a:xfrm>
            <a:off x="2777490" y="3819906"/>
            <a:ext cx="596646"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774436" y="3819906"/>
            <a:ext cx="589788" cy="0"/>
          </a:xfrm>
          <a:prstGeom prst="line">
            <a:avLst/>
          </a:prstGeom>
          <a:ln w="25400">
            <a:solidFill>
              <a:srgbClr val="7354B8"/>
            </a:solidFill>
            <a:tailEnd type="triangle" w="med" len="med"/>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53" name="TextBox 5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39 / 49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Vllm-native metrics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lang="en-US" sz="2100" dirty="0" cap="none" b="1">
                <a:solidFill>
                  <a:srgbClr val="142C46"/>
                </a:solidFill>
                <a:latin typeface="Arial"/>
              </a:rPr>
              <a:t>Two native gauges, two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per-replica role aggregation; tune thresholds against the deployed model and workload.</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thresholds only. Verify actual /metrics output before enabling either policy.</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ounded Rectangle 10"/>
          <p:cNvSpPr/>
          <p:nvPr/>
        </p:nvSpPr>
        <p:spPr>
          <a:xfrm>
            <a:off x="514350" y="1700784"/>
            <a:ext cx="1097280" cy="233172"/>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62356" y="1724787"/>
            <a:ext cx="1001268" cy="136191"/>
          </a:xfrm>
          <a:prstGeom prst="rect">
            <a:avLst/>
          </a:prstGeom>
          <a:noFill/>
        </p:spPr>
        <p:txBody>
          <a:bodyPr wrap="square" lIns="10287" tIns="10287" rIns="10287" bIns="10287">
            <a:spAutoFit/>
          </a:bodyPr>
          <a:lstStyle/>
          <a:p>
            <a:pPr algn="ctr">
              <a:spcAft>
                <a:spcPts val="375"/>
              </a:spcAft>
              <a:defRPr sz="1000" b="1">
                <a:solidFill>
                  <a:srgbClr val="087F8C"/>
                </a:solidFill>
                <a:latin typeface="Arial"/>
              </a:defRPr>
            </a:pPr>
            <a:r>
              <a:rPr sz="750" cap="none">
                <a:latin typeface="Arial"/>
              </a:rPr>
              <a:t>Prefill</a:t>
            </a:r>
          </a:p>
        </p:txBody>
      </p:sp>
      <p:sp>
        <p:nvSpPr>
          <p:cNvPr id="13" name="TextBox 12"/>
          <p:cNvSpPr txBox="1"/>
          <p:nvPr/>
        </p:nvSpPr>
        <p:spPr>
          <a:xfrm>
            <a:off x="514350" y="2098548"/>
            <a:ext cx="3806190" cy="251607"/>
          </a:xfrm>
          <a:prstGeom prst="rect">
            <a:avLst/>
          </a:prstGeom>
          <a:noFill/>
        </p:spPr>
        <p:txBody>
          <a:bodyPr wrap="square" lIns="10287" tIns="10287" rIns="10287" bIns="10287">
            <a:spAutoFit/>
          </a:bodyPr>
          <a:lstStyle/>
          <a:p>
            <a:pPr>
              <a:spcAft>
                <a:spcPts val="375"/>
              </a:spcAft>
              <a:defRPr sz="2000" b="1">
                <a:solidFill>
                  <a:srgbClr val="087F8C"/>
                </a:solidFill>
                <a:latin typeface="Courier New"/>
              </a:defRPr>
            </a:pPr>
            <a:r>
              <a:rPr sz="1500" cap="none">
                <a:latin typeface="Arial"/>
              </a:rPr>
              <a:t>vllm:num_requests_waiting</a:t>
            </a:r>
          </a:p>
        </p:txBody>
      </p:sp>
      <p:sp>
        <p:nvSpPr>
          <p:cNvPr id="14" name="TextBox 13"/>
          <p:cNvSpPr txBox="1"/>
          <p:nvPr/>
        </p:nvSpPr>
        <p:spPr>
          <a:xfrm>
            <a:off x="514350"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Queue inside the prefill engine.</a:t>
            </a:r>
          </a:p>
          <a:p>
            <a:pPr>
              <a:spcAft>
                <a:spcPts val="375"/>
              </a:spcAft>
              <a:defRPr sz="1800" b="0">
                <a:solidFill>
                  <a:srgbClr val="172941"/>
                </a:solidFill>
                <a:latin typeface="Arial"/>
              </a:defRPr>
            </a:pPr>
            <a:r>
              <a:rPr sz="1350" cap="none">
                <a:latin typeface="Arial"/>
              </a:rPr>
              <a:t>Protect prompt admission latency.</a:t>
            </a:r>
          </a:p>
        </p:txBody>
      </p:sp>
      <p:sp>
        <p:nvSpPr>
          <p:cNvPr id="15" name="Rounded Rectangle 14"/>
          <p:cNvSpPr/>
          <p:nvPr/>
        </p:nvSpPr>
        <p:spPr>
          <a:xfrm>
            <a:off x="514350"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TextBox 15"/>
          <p:cNvSpPr txBox="1"/>
          <p:nvPr/>
        </p:nvSpPr>
        <p:spPr>
          <a:xfrm>
            <a:off x="555498"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&lt; 1</a:t>
            </a:r>
          </a:p>
        </p:txBody>
      </p:sp>
      <p:sp>
        <p:nvSpPr>
          <p:cNvPr id="17" name="TextBox 16"/>
          <p:cNvSpPr txBox="1"/>
          <p:nvPr/>
        </p:nvSpPr>
        <p:spPr>
          <a:xfrm>
            <a:off x="555498"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down</a:t>
            </a:r>
          </a:p>
        </p:txBody>
      </p:sp>
      <p:sp>
        <p:nvSpPr>
          <p:cNvPr id="18" name="Rounded Rectangle 17"/>
          <p:cNvSpPr/>
          <p:nvPr/>
        </p:nvSpPr>
        <p:spPr>
          <a:xfrm>
            <a:off x="1789938"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1831086"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Between</a:t>
            </a:r>
          </a:p>
        </p:txBody>
      </p:sp>
      <p:sp>
        <p:nvSpPr>
          <p:cNvPr id="20" name="TextBox 19"/>
          <p:cNvSpPr txBox="1"/>
          <p:nvPr/>
        </p:nvSpPr>
        <p:spPr>
          <a:xfrm>
            <a:off x="1831086"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Hold</a:t>
            </a:r>
          </a:p>
        </p:txBody>
      </p:sp>
      <p:sp>
        <p:nvSpPr>
          <p:cNvPr id="21" name="Rounded Rectangle 20"/>
          <p:cNvSpPr/>
          <p:nvPr/>
        </p:nvSpPr>
        <p:spPr>
          <a:xfrm>
            <a:off x="3065526" y="3188970"/>
            <a:ext cx="1179576" cy="56921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3106674" y="3250692"/>
            <a:ext cx="1097280" cy="205441"/>
          </a:xfrm>
          <a:prstGeom prst="rect">
            <a:avLst/>
          </a:prstGeom>
          <a:noFill/>
        </p:spPr>
        <p:txBody>
          <a:bodyPr wrap="square" lIns="10287" tIns="10287" rIns="10287" bIns="10287">
            <a:spAutoFit/>
          </a:bodyPr>
          <a:lstStyle/>
          <a:p>
            <a:pPr algn="ctr">
              <a:spcAft>
                <a:spcPts val="375"/>
              </a:spcAft>
              <a:defRPr sz="1600" b="1">
                <a:solidFill>
                  <a:srgbClr val="087F8C"/>
                </a:solidFill>
                <a:latin typeface="Arial"/>
              </a:defRPr>
            </a:pPr>
            <a:r>
              <a:rPr sz="1200" cap="none">
                <a:latin typeface="Arial"/>
              </a:rPr>
              <a:t>&gt; 8</a:t>
            </a:r>
          </a:p>
        </p:txBody>
      </p:sp>
      <p:sp>
        <p:nvSpPr>
          <p:cNvPr id="23" name="TextBox 22"/>
          <p:cNvSpPr txBox="1"/>
          <p:nvPr/>
        </p:nvSpPr>
        <p:spPr>
          <a:xfrm>
            <a:off x="3106674" y="3504438"/>
            <a:ext cx="1097280" cy="170816"/>
          </a:xfrm>
          <a:prstGeom prst="rect">
            <a:avLst/>
          </a:prstGeom>
          <a:noFill/>
        </p:spPr>
        <p:txBody>
          <a:bodyPr wrap="square" lIns="10287" tIns="10287" rIns="10287" bIns="10287">
            <a:spAutoFit/>
          </a:bodyPr>
          <a:lstStyle/>
          <a:p>
            <a:pPr algn="ctr">
              <a:spcAft>
                <a:spcPts val="375"/>
              </a:spcAft>
              <a:defRPr sz="1300" b="0">
                <a:solidFill>
                  <a:srgbClr val="087F8C"/>
                </a:solidFill>
                <a:latin typeface="Arial"/>
              </a:defRPr>
            </a:pPr>
            <a:r>
              <a:rPr sz="975" cap="none">
                <a:latin typeface="Arial"/>
              </a:rPr>
              <a:t>Scale up</a:t>
            </a:r>
          </a:p>
        </p:txBody>
      </p:sp>
      <p:sp>
        <p:nvSpPr>
          <p:cNvPr id="24" name="TextBox 23"/>
          <p:cNvSpPr txBox="1"/>
          <p:nvPr/>
        </p:nvSpPr>
        <p:spPr>
          <a:xfrm>
            <a:off x="514350"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1–8 role replicas</a:t>
            </a:r>
          </a:p>
        </p:txBody>
      </p:sp>
      <p:sp>
        <p:nvSpPr>
          <p:cNvPr id="25" name="Rounded Rectangle 24"/>
          <p:cNvSpPr/>
          <p:nvPr/>
        </p:nvSpPr>
        <p:spPr>
          <a:xfrm>
            <a:off x="4649724" y="1563623"/>
            <a:ext cx="4080510" cy="260604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6" name="Rounded Rectangle 25"/>
          <p:cNvSpPr/>
          <p:nvPr/>
        </p:nvSpPr>
        <p:spPr>
          <a:xfrm>
            <a:off x="4786884" y="1700784"/>
            <a:ext cx="1097280" cy="233172"/>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4834890" y="1724787"/>
            <a:ext cx="1001268" cy="136191"/>
          </a:xfrm>
          <a:prstGeom prst="rect">
            <a:avLst/>
          </a:prstGeom>
          <a:noFill/>
        </p:spPr>
        <p:txBody>
          <a:bodyPr wrap="square" lIns="10287" tIns="10287" rIns="10287" bIns="10287">
            <a:spAutoFit/>
          </a:bodyPr>
          <a:lstStyle/>
          <a:p>
            <a:pPr algn="ctr">
              <a:spcAft>
                <a:spcPts val="375"/>
              </a:spcAft>
              <a:defRPr sz="1000" b="1">
                <a:solidFill>
                  <a:srgbClr val="7354B8"/>
                </a:solidFill>
                <a:latin typeface="Arial"/>
              </a:defRPr>
            </a:pPr>
            <a:r>
              <a:rPr sz="750" cap="none">
                <a:latin typeface="Arial"/>
              </a:rPr>
              <a:t>Decode</a:t>
            </a:r>
          </a:p>
        </p:txBody>
      </p:sp>
      <p:sp>
        <p:nvSpPr>
          <p:cNvPr id="28" name="TextBox 27"/>
          <p:cNvSpPr txBox="1"/>
          <p:nvPr/>
        </p:nvSpPr>
        <p:spPr>
          <a:xfrm>
            <a:off x="4786884" y="2098548"/>
            <a:ext cx="3806190" cy="251607"/>
          </a:xfrm>
          <a:prstGeom prst="rect">
            <a:avLst/>
          </a:prstGeom>
          <a:noFill/>
        </p:spPr>
        <p:txBody>
          <a:bodyPr wrap="square" lIns="10287" tIns="10287" rIns="10287" bIns="10287">
            <a:spAutoFit/>
          </a:bodyPr>
          <a:lstStyle/>
          <a:p>
            <a:pPr>
              <a:spcAft>
                <a:spcPts val="375"/>
              </a:spcAft>
              <a:defRPr sz="2000" b="1">
                <a:solidFill>
                  <a:srgbClr val="7354B8"/>
                </a:solidFill>
                <a:latin typeface="Courier New"/>
              </a:defRPr>
            </a:pPr>
            <a:r>
              <a:rPr sz="1500" cap="none">
                <a:latin typeface="Arial"/>
              </a:rPr>
              <a:t>vllm:num_requests_running</a:t>
            </a:r>
          </a:p>
        </p:txBody>
      </p:sp>
      <p:sp>
        <p:nvSpPr>
          <p:cNvPr id="29" name="TextBox 28"/>
          <p:cNvSpPr txBox="1"/>
          <p:nvPr/>
        </p:nvSpPr>
        <p:spPr>
          <a:xfrm>
            <a:off x="4786884" y="2510028"/>
            <a:ext cx="3806190" cy="487569"/>
          </a:xfrm>
          <a:prstGeom prst="rect">
            <a:avLst/>
          </a:prstGeom>
          <a:noFill/>
        </p:spPr>
        <p:txBody>
          <a:bodyPr wrap="square" lIns="10287" tIns="10287" rIns="10287" bIns="10287">
            <a:spAutoFit/>
          </a:bodyPr>
          <a:lstStyle/>
          <a:p>
            <a:pPr>
              <a:spcAft>
                <a:spcPts val="375"/>
              </a:spcAft>
              <a:defRPr sz="1800" b="0">
                <a:solidFill>
                  <a:srgbClr val="172941"/>
                </a:solidFill>
                <a:latin typeface="Arial"/>
              </a:defRPr>
            </a:pPr>
            <a:r>
              <a:rPr sz="1350" cap="none">
                <a:latin typeface="Arial"/>
              </a:rPr>
              <a:t>Requests in decode execution batches.</a:t>
            </a:r>
          </a:p>
          <a:p>
            <a:pPr>
              <a:spcAft>
                <a:spcPts val="375"/>
              </a:spcAft>
              <a:defRPr sz="1800" b="0">
                <a:solidFill>
                  <a:srgbClr val="172941"/>
                </a:solidFill>
                <a:latin typeface="Arial"/>
              </a:defRPr>
            </a:pPr>
            <a:r>
              <a:rPr sz="1350" cap="none">
                <a:latin typeface="Arial"/>
              </a:rPr>
              <a:t>Protect token delivery under load.</a:t>
            </a:r>
          </a:p>
        </p:txBody>
      </p:sp>
      <p:sp>
        <p:nvSpPr>
          <p:cNvPr id="30" name="Rounded Rectangle 29"/>
          <p:cNvSpPr/>
          <p:nvPr/>
        </p:nvSpPr>
        <p:spPr>
          <a:xfrm>
            <a:off x="4786884"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4828032"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&lt; 4</a:t>
            </a:r>
          </a:p>
        </p:txBody>
      </p:sp>
      <p:sp>
        <p:nvSpPr>
          <p:cNvPr id="32" name="TextBox 31"/>
          <p:cNvSpPr txBox="1"/>
          <p:nvPr/>
        </p:nvSpPr>
        <p:spPr>
          <a:xfrm>
            <a:off x="4828032"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down</a:t>
            </a:r>
          </a:p>
        </p:txBody>
      </p:sp>
      <p:sp>
        <p:nvSpPr>
          <p:cNvPr id="33" name="Rounded Rectangle 32"/>
          <p:cNvSpPr/>
          <p:nvPr/>
        </p:nvSpPr>
        <p:spPr>
          <a:xfrm>
            <a:off x="6062472"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4" name="TextBox 33"/>
          <p:cNvSpPr txBox="1"/>
          <p:nvPr/>
        </p:nvSpPr>
        <p:spPr>
          <a:xfrm>
            <a:off x="6103620"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Between</a:t>
            </a:r>
          </a:p>
        </p:txBody>
      </p:sp>
      <p:sp>
        <p:nvSpPr>
          <p:cNvPr id="35" name="TextBox 34"/>
          <p:cNvSpPr txBox="1"/>
          <p:nvPr/>
        </p:nvSpPr>
        <p:spPr>
          <a:xfrm>
            <a:off x="6103620"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Hold</a:t>
            </a:r>
          </a:p>
        </p:txBody>
      </p:sp>
      <p:sp>
        <p:nvSpPr>
          <p:cNvPr id="36" name="Rounded Rectangle 35"/>
          <p:cNvSpPr/>
          <p:nvPr/>
        </p:nvSpPr>
        <p:spPr>
          <a:xfrm>
            <a:off x="7338060" y="3188970"/>
            <a:ext cx="1179576" cy="569214"/>
          </a:xfrm>
          <a:prstGeom prst="roundRect">
            <a:avLst>
              <a:gd name="adj" fmla="val 10000"/>
            </a:avLst>
          </a:prstGeom>
          <a:solidFill>
            <a:srgbClr val="F0E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7379208" y="3250692"/>
            <a:ext cx="1097280" cy="205441"/>
          </a:xfrm>
          <a:prstGeom prst="rect">
            <a:avLst/>
          </a:prstGeom>
          <a:noFill/>
        </p:spPr>
        <p:txBody>
          <a:bodyPr wrap="square" lIns="10287" tIns="10287" rIns="10287" bIns="10287">
            <a:spAutoFit/>
          </a:bodyPr>
          <a:lstStyle/>
          <a:p>
            <a:pPr algn="ctr">
              <a:spcAft>
                <a:spcPts val="375"/>
              </a:spcAft>
              <a:defRPr sz="1600" b="1">
                <a:solidFill>
                  <a:srgbClr val="7354B8"/>
                </a:solidFill>
                <a:latin typeface="Arial"/>
              </a:defRPr>
            </a:pPr>
            <a:r>
              <a:rPr sz="1200" cap="none">
                <a:latin typeface="Arial"/>
              </a:rPr>
              <a:t>&gt; 24</a:t>
            </a:r>
          </a:p>
        </p:txBody>
      </p:sp>
      <p:sp>
        <p:nvSpPr>
          <p:cNvPr id="38" name="TextBox 37"/>
          <p:cNvSpPr txBox="1"/>
          <p:nvPr/>
        </p:nvSpPr>
        <p:spPr>
          <a:xfrm>
            <a:off x="7379208" y="3504438"/>
            <a:ext cx="1097280" cy="170816"/>
          </a:xfrm>
          <a:prstGeom prst="rect">
            <a:avLst/>
          </a:prstGeom>
          <a:noFill/>
        </p:spPr>
        <p:txBody>
          <a:bodyPr wrap="square" lIns="10287" tIns="10287" rIns="10287" bIns="10287">
            <a:spAutoFit/>
          </a:bodyPr>
          <a:lstStyle/>
          <a:p>
            <a:pPr algn="ctr">
              <a:spcAft>
                <a:spcPts val="375"/>
              </a:spcAft>
              <a:defRPr sz="1300" b="0">
                <a:solidFill>
                  <a:srgbClr val="7354B8"/>
                </a:solidFill>
                <a:latin typeface="Arial"/>
              </a:defRPr>
            </a:pPr>
            <a:r>
              <a:rPr sz="975" cap="none">
                <a:latin typeface="Arial"/>
              </a:rPr>
              <a:t>Scale up</a:t>
            </a:r>
          </a:p>
        </p:txBody>
      </p:sp>
      <p:sp>
        <p:nvSpPr>
          <p:cNvPr id="39" name="TextBox 38"/>
          <p:cNvSpPr txBox="1"/>
          <p:nvPr/>
        </p:nvSpPr>
        <p:spPr>
          <a:xfrm>
            <a:off x="4786884" y="3902202"/>
            <a:ext cx="3806190" cy="193899"/>
          </a:xfrm>
          <a:prstGeom prst="rect">
            <a:avLst/>
          </a:prstGeom>
          <a:noFill/>
        </p:spPr>
        <p:txBody>
          <a:bodyPr wrap="square" lIns="10287" tIns="10287" rIns="10287" bIns="10287">
            <a:spAutoFit/>
          </a:bodyPr>
          <a:lstStyle/>
          <a:p>
            <a:pPr>
              <a:spcAft>
                <a:spcPts val="375"/>
              </a:spcAft>
              <a:defRPr sz="1500" b="0">
                <a:solidFill>
                  <a:srgbClr val="586A80"/>
                </a:solidFill>
                <a:latin typeface="Arial"/>
              </a:defRPr>
            </a:pPr>
            <a:r>
              <a:rPr sz="1125" cap="none">
                <a:latin typeface="Arial"/>
              </a:rPr>
              <a:t>Example bounds: 2–16 role replicas</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40 / 49</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dirty="0" cap="none">
                <a:latin typeface="Arial"/>
              </a:rPr>
              <a:t>04 / Role-specific decisions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Different roles need different scaling policies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Use the same safety contract, but tune each role against its own workload and objective.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Illustrative policy—not universal tuning. Validate thresholds, cooldown and model warm-up.</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0" y="1543050"/>
            <a:ext cx="2177415"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6" y="1632205"/>
            <a:ext cx="202996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Policy</a:t>
            </a:r>
          </a:p>
        </p:txBody>
      </p:sp>
      <p:sp>
        <p:nvSpPr>
          <p:cNvPr id="12" name="Rectangle 11"/>
          <p:cNvSpPr/>
          <p:nvPr/>
        </p:nvSpPr>
        <p:spPr>
          <a:xfrm>
            <a:off x="2571751"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2654047"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Prefill</a:t>
            </a:r>
          </a:p>
        </p:txBody>
      </p:sp>
      <p:sp>
        <p:nvSpPr>
          <p:cNvPr id="14" name="Rectangle 13"/>
          <p:cNvSpPr/>
          <p:nvPr/>
        </p:nvSpPr>
        <p:spPr>
          <a:xfrm>
            <a:off x="5664709" y="1543050"/>
            <a:ext cx="3075812" cy="421767"/>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747004" y="1632205"/>
            <a:ext cx="2928365"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Decode</a:t>
            </a:r>
          </a:p>
        </p:txBody>
      </p:sp>
      <p:sp>
        <p:nvSpPr>
          <p:cNvPr id="16" name="Rectangle 15"/>
          <p:cNvSpPr/>
          <p:nvPr/>
        </p:nvSpPr>
        <p:spPr>
          <a:xfrm>
            <a:off x="377190" y="1981962"/>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6" y="2071116"/>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Primary signal</a:t>
            </a:r>
          </a:p>
        </p:txBody>
      </p:sp>
      <p:sp>
        <p:nvSpPr>
          <p:cNvPr id="18" name="Rectangle 17"/>
          <p:cNvSpPr/>
          <p:nvPr/>
        </p:nvSpPr>
        <p:spPr>
          <a:xfrm>
            <a:off x="2571751"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2654047"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Waiting requests</a:t>
            </a:r>
          </a:p>
        </p:txBody>
      </p:sp>
      <p:sp>
        <p:nvSpPr>
          <p:cNvPr id="20" name="Rectangle 19"/>
          <p:cNvSpPr/>
          <p:nvPr/>
        </p:nvSpPr>
        <p:spPr>
          <a:xfrm>
            <a:off x="5664709" y="1981962"/>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747004" y="2071116"/>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Running requests</a:t>
            </a:r>
          </a:p>
        </p:txBody>
      </p:sp>
      <p:sp>
        <p:nvSpPr>
          <p:cNvPr id="22" name="Rectangle 21"/>
          <p:cNvSpPr/>
          <p:nvPr/>
        </p:nvSpPr>
        <p:spPr>
          <a:xfrm>
            <a:off x="377190" y="2420874"/>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6" y="2510028"/>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replica range</a:t>
            </a:r>
          </a:p>
        </p:txBody>
      </p:sp>
      <p:sp>
        <p:nvSpPr>
          <p:cNvPr id="24" name="Rectangle 23"/>
          <p:cNvSpPr/>
          <p:nvPr/>
        </p:nvSpPr>
        <p:spPr>
          <a:xfrm>
            <a:off x="2571751"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2654047"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1–8</a:t>
            </a:r>
          </a:p>
        </p:txBody>
      </p:sp>
      <p:sp>
        <p:nvSpPr>
          <p:cNvPr id="26" name="Rectangle 25"/>
          <p:cNvSpPr/>
          <p:nvPr/>
        </p:nvSpPr>
        <p:spPr>
          <a:xfrm>
            <a:off x="5664709" y="2420874"/>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747004" y="2510028"/>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2–16</a:t>
            </a:r>
          </a:p>
        </p:txBody>
      </p:sp>
      <p:sp>
        <p:nvSpPr>
          <p:cNvPr id="28" name="Rectangle 27"/>
          <p:cNvSpPr/>
          <p:nvPr/>
        </p:nvSpPr>
        <p:spPr>
          <a:xfrm>
            <a:off x="377190" y="2859786"/>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6" y="2948940"/>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scale-up</a:t>
            </a:r>
          </a:p>
        </p:txBody>
      </p:sp>
      <p:sp>
        <p:nvSpPr>
          <p:cNvPr id="30" name="Rectangle 29"/>
          <p:cNvSpPr/>
          <p:nvPr/>
        </p:nvSpPr>
        <p:spPr>
          <a:xfrm>
            <a:off x="2571751"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2654047"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8</a:t>
            </a:r>
          </a:p>
        </p:txBody>
      </p:sp>
      <p:sp>
        <p:nvSpPr>
          <p:cNvPr id="32" name="Rectangle 31"/>
          <p:cNvSpPr/>
          <p:nvPr/>
        </p:nvSpPr>
        <p:spPr>
          <a:xfrm>
            <a:off x="5664709" y="2859786"/>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747004" y="2948940"/>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&gt; 24</a:t>
            </a:r>
          </a:p>
        </p:txBody>
      </p:sp>
      <p:sp>
        <p:nvSpPr>
          <p:cNvPr id="34" name="Rectangle 33"/>
          <p:cNvSpPr/>
          <p:nvPr/>
        </p:nvSpPr>
        <p:spPr>
          <a:xfrm>
            <a:off x="377190" y="3298698"/>
            <a:ext cx="2177415"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6" y="3387852"/>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Example scale-down</a:t>
            </a:r>
          </a:p>
        </p:txBody>
      </p:sp>
      <p:sp>
        <p:nvSpPr>
          <p:cNvPr id="36" name="Rectangle 35"/>
          <p:cNvSpPr/>
          <p:nvPr/>
        </p:nvSpPr>
        <p:spPr>
          <a:xfrm>
            <a:off x="2571751"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2654047"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1</a:t>
            </a:r>
          </a:p>
        </p:txBody>
      </p:sp>
      <p:sp>
        <p:nvSpPr>
          <p:cNvPr id="38" name="Rectangle 37"/>
          <p:cNvSpPr/>
          <p:nvPr/>
        </p:nvSpPr>
        <p:spPr>
          <a:xfrm>
            <a:off x="5664709" y="3298698"/>
            <a:ext cx="3075812" cy="421767"/>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747004" y="3387852"/>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Signal &lt; 4</a:t>
            </a:r>
          </a:p>
        </p:txBody>
      </p:sp>
      <p:sp>
        <p:nvSpPr>
          <p:cNvPr id="40" name="Rectangle 39"/>
          <p:cNvSpPr/>
          <p:nvPr/>
        </p:nvSpPr>
        <p:spPr>
          <a:xfrm>
            <a:off x="377190" y="3737610"/>
            <a:ext cx="2177415"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1" name="TextBox 40"/>
          <p:cNvSpPr txBox="1"/>
          <p:nvPr/>
        </p:nvSpPr>
        <p:spPr>
          <a:xfrm>
            <a:off x="459486" y="3826764"/>
            <a:ext cx="2029968"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Shared guardrails</a:t>
            </a:r>
          </a:p>
        </p:txBody>
      </p:sp>
      <p:sp>
        <p:nvSpPr>
          <p:cNvPr id="42" name="Rectangle 41"/>
          <p:cNvSpPr/>
          <p:nvPr/>
        </p:nvSpPr>
        <p:spPr>
          <a:xfrm>
            <a:off x="2571751"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3" name="TextBox 42"/>
          <p:cNvSpPr txBox="1"/>
          <p:nvPr/>
        </p:nvSpPr>
        <p:spPr>
          <a:xfrm>
            <a:off x="2654047"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4" name="Rectangle 43"/>
          <p:cNvSpPr/>
          <p:nvPr/>
        </p:nvSpPr>
        <p:spPr>
          <a:xfrm>
            <a:off x="5664709" y="3737610"/>
            <a:ext cx="3075812" cy="421767"/>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45" name="TextBox 44"/>
          <p:cNvSpPr txBox="1"/>
          <p:nvPr/>
        </p:nvSpPr>
        <p:spPr>
          <a:xfrm>
            <a:off x="5747004" y="3826764"/>
            <a:ext cx="2928365"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Readiness + fresh metrics</a:t>
            </a:r>
          </a:p>
        </p:txBody>
      </p:sp>
      <p:sp>
        <p:nvSpPr>
          <p:cNvPr id="46" name="TextBox 4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7" name="TextBox 4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41 / 49</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Operational safeguards</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Safe autoscaling starts with ownership and valid data</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The happy path is small. Correct handoff and failure behavior make it operable.</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Avoid competing controllers, count only ready capacity, and protect in-flight requests.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01 / Replica ownership</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Choose one writer</a:t>
            </a:r>
          </a:p>
        </p:txBody>
      </p:sp>
      <p:sp>
        <p:nvSpPr>
          <p:cNvPr id="14" name="TextBox 13"/>
          <p:cNvSpPr txBox="1"/>
          <p:nvPr/>
        </p:nvSpPr>
        <p:spPr>
          <a:xfrm>
            <a:off x="514350" y="2599183"/>
            <a:ext cx="2434590" cy="711990"/>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One policy owns replica count</a:t>
            </a:r>
          </a:p>
          <a:p>
            <a:pPr>
              <a:spcAft>
                <a:spcPts val="375"/>
              </a:spcAft>
              <a:defRPr sz="1700" b="0">
                <a:solidFill>
                  <a:srgbClr val="172941"/>
                </a:solidFill>
                <a:latin typeface="Arial"/>
              </a:defRPr>
            </a:pPr>
            <a:r>
              <a:rPr sz="1275" cap="none">
                <a:latin typeface="Arial"/>
              </a:rPr>
              <a:t>Separate targets for P and D</a:t>
            </a:r>
          </a:p>
          <a:p>
            <a:pPr>
              <a:spcAft>
                <a:spcPts val="375"/>
              </a:spcAft>
              <a:defRPr sz="1700" b="0">
                <a:solidFill>
                  <a:srgbClr val="172941"/>
                </a:solidFill>
                <a:latin typeface="Arial"/>
              </a:defRPr>
            </a:pPr>
            <a:r>
              <a:rPr sz="1275" cap="none">
                <a:latin typeface="Arial"/>
              </a:rPr>
              <a:t>No competing autoscalers</a:t>
            </a:r>
          </a:p>
        </p:txBody>
      </p:sp>
      <p:sp>
        <p:nvSpPr>
          <p:cNvPr id="15" name="Rounded Rectangle 14"/>
          <p:cNvSpPr/>
          <p:nvPr/>
        </p:nvSpPr>
        <p:spPr>
          <a:xfrm>
            <a:off x="3216402"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02 / Metric availability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Verify real signals</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Inspect actual /metrics</a:t>
            </a:r>
          </a:p>
          <a:p>
            <a:pPr>
              <a:spcAft>
                <a:spcPts val="375"/>
              </a:spcAft>
              <a:defRPr sz="1700" b="0">
                <a:solidFill>
                  <a:srgbClr val="172941"/>
                </a:solidFill>
                <a:latin typeface="Arial"/>
              </a:defRPr>
            </a:pPr>
            <a:r>
              <a:rPr sz="1275" cap="none">
                <a:latin typeface="Arial"/>
              </a:rPr>
              <a:t>Scope samples per role</a:t>
            </a:r>
          </a:p>
          <a:p>
            <a:pPr>
              <a:spcAft>
                <a:spcPts val="375"/>
              </a:spcAft>
              <a:defRPr sz="1700" b="0">
                <a:solidFill>
                  <a:srgbClr val="172941"/>
                </a:solidFill>
                <a:latin typeface="Arial"/>
              </a:defRPr>
            </a:pPr>
            <a:r>
              <a:rPr sz="1275" cap="none">
                <a:latin typeface="Arial"/>
              </a:rPr>
              <a:t>Missing is not zero</a:t>
            </a:r>
          </a:p>
          <a:p>
            <a:pPr>
              <a:spcAft>
                <a:spcPts val="375"/>
              </a:spcAft>
              <a:defRPr sz="1700" b="0">
                <a:solidFill>
                  <a:srgbClr val="172941"/>
                </a:solidFill>
                <a:latin typeface="Arial"/>
              </a:defRPr>
            </a:pPr>
            <a:r>
              <a:rPr sz="1275" cap="none">
                <a:latin typeface="Arial"/>
              </a:rPr>
              <a:t>On failure: hold + report</a:t>
            </a:r>
          </a:p>
        </p:txBody>
      </p:sp>
      <p:sp>
        <p:nvSpPr>
          <p:cNvPr id="20" name="Rounded Rectangle 19"/>
          <p:cNvSpPr/>
          <p:nvPr/>
        </p:nvSpPr>
        <p:spPr>
          <a:xfrm>
            <a:off x="6055614" y="1611630"/>
            <a:ext cx="2708910" cy="2297430"/>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03 / Lifecycle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Make handoff explicit</a:t>
            </a:r>
          </a:p>
        </p:txBody>
      </p:sp>
      <p:sp>
        <p:nvSpPr>
          <p:cNvPr id="24" name="TextBox 23"/>
          <p:cNvSpPr txBox="1"/>
          <p:nvPr/>
        </p:nvSpPr>
        <p:spPr>
          <a:xfrm>
            <a:off x="6192773"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Stop the old writer first</a:t>
            </a:r>
          </a:p>
          <a:p>
            <a:pPr>
              <a:spcAft>
                <a:spcPts val="375"/>
              </a:spcAft>
              <a:defRPr sz="1700" b="0">
                <a:solidFill>
                  <a:srgbClr val="172941"/>
                </a:solidFill>
                <a:latin typeface="Arial"/>
              </a:defRPr>
            </a:pPr>
            <a:r>
              <a:rPr sz="1275" cap="none">
                <a:latin typeface="Arial"/>
              </a:rPr>
              <a:t>Delete only owned scalers</a:t>
            </a:r>
          </a:p>
          <a:p>
            <a:pPr>
              <a:spcAft>
                <a:spcPts val="375"/>
              </a:spcAft>
              <a:defRPr sz="1700" b="0">
                <a:solidFill>
                  <a:srgbClr val="172941"/>
                </a:solidFill>
                <a:latin typeface="Arial"/>
              </a:defRPr>
            </a:pPr>
            <a:r>
              <a:rPr sz="1275" cap="none">
                <a:latin typeface="Arial"/>
              </a:rPr>
              <a:t>Allow model warm-up</a:t>
            </a:r>
          </a:p>
          <a:p>
            <a:pPr>
              <a:spcAft>
                <a:spcPts val="375"/>
              </a:spcAft>
              <a:defRPr sz="1700" b="0">
                <a:solidFill>
                  <a:srgbClr val="172941"/>
                </a:solidFill>
                <a:latin typeface="Arial"/>
              </a:defRPr>
            </a:pPr>
            <a:r>
              <a:rPr sz="1275" cap="none">
                <a:latin typeface="Arial"/>
              </a:rPr>
              <a:t>Test safe scale-down</a:t>
            </a:r>
          </a:p>
        </p:txBody>
      </p:sp>
      <p:sp>
        <p:nvSpPr>
          <p:cNvPr id="25" name="TextBox 24"/>
          <p:cNvSpPr txBox="1"/>
          <p:nvPr/>
        </p:nvSpPr>
        <p:spPr>
          <a:xfrm>
            <a:off x="390905" y="4094226"/>
            <a:ext cx="8298180" cy="205441"/>
          </a:xfrm>
          <a:prstGeom prst="rect">
            <a:avLst/>
          </a:prstGeom>
          <a:noFill/>
        </p:spPr>
        <p:txBody>
          <a:bodyPr wrap="square" lIns="10287" tIns="10287" rIns="10287" bIns="10287">
            <a:spAutoFit/>
          </a:bodyPr>
          <a:lstStyle/>
          <a:p>
            <a:pPr>
              <a:spcAft>
                <a:spcPts val="375"/>
              </a:spcAft>
              <a:defRPr sz="1600" b="0">
                <a:solidFill>
                  <a:srgbClr val="586A80"/>
                </a:solidFill>
                <a:latin typeface="Arial"/>
              </a:defRPr>
            </a:pPr>
            <a:r>
              <a:rPr sz="1200" cap="none">
                <a:latin typeface="Arial"/>
              </a:rPr>
              <a:t>On missing or invalid signals: hold decisions and report the problem. Missing is not zero.</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42 / 49</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42900" y="185166"/>
            <a:ext cx="8092440" cy="136191"/>
          </a:xfrm>
          <a:prstGeom prst="rect">
            <a:avLst/>
          </a:prstGeom>
          <a:noFill/>
        </p:spPr>
        <p:txBody>
          <a:bodyPr wrap="square" lIns="10287" tIns="10287" rIns="10287" bIns="10287">
            <a:spAutoFit/>
          </a:bodyPr>
          <a:lstStyle/>
          <a:p>
            <a:pPr>
              <a:spcAft>
                <a:spcPts val="375"/>
              </a:spcAft>
              <a:defRPr sz="1000" b="1">
                <a:solidFill>
                  <a:srgbClr val="2563EB"/>
                </a:solidFill>
                <a:latin typeface="Arial"/>
              </a:defRPr>
            </a:pPr>
            <a:r>
              <a:rPr sz="750" cap="none">
                <a:latin typeface="Arial"/>
              </a:rPr>
              <a:t>04 / Signal interpretation</a:t>
            </a:r>
          </a:p>
        </p:txBody>
      </p:sp>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Derived signals add context to scaling decisions</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Aggregate native vLLM metrics to understand KV utilization, latency and throughput.</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KV occupancy is not demand. High or low throughput alone should not change replica counts.</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7191" y="1543050"/>
            <a:ext cx="3020948"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TextBox 10"/>
          <p:cNvSpPr txBox="1"/>
          <p:nvPr/>
        </p:nvSpPr>
        <p:spPr>
          <a:xfrm>
            <a:off x="459487" y="1632205"/>
            <a:ext cx="2873501"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NATIVE INPUT (vllm: PREFIX)</a:t>
            </a:r>
          </a:p>
        </p:txBody>
      </p:sp>
      <p:sp>
        <p:nvSpPr>
          <p:cNvPr id="12" name="Rectangle 11"/>
          <p:cNvSpPr/>
          <p:nvPr/>
        </p:nvSpPr>
        <p:spPr>
          <a:xfrm>
            <a:off x="3415284" y="1543050"/>
            <a:ext cx="23145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3" name="TextBox 12"/>
          <p:cNvSpPr txBox="1"/>
          <p:nvPr/>
        </p:nvSpPr>
        <p:spPr>
          <a:xfrm>
            <a:off x="3497580" y="1632205"/>
            <a:ext cx="21671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Derivation</a:t>
            </a:r>
          </a:p>
        </p:txBody>
      </p:sp>
      <p:sp>
        <p:nvSpPr>
          <p:cNvPr id="14" name="Rectangle 13"/>
          <p:cNvSpPr/>
          <p:nvPr/>
        </p:nvSpPr>
        <p:spPr>
          <a:xfrm>
            <a:off x="5747003" y="1543050"/>
            <a:ext cx="3000375" cy="517779"/>
          </a:xfrm>
          <a:prstGeom prst="rect">
            <a:avLst/>
          </a:prstGeom>
          <a:solidFill>
            <a:srgbClr val="1020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5829299" y="1632205"/>
            <a:ext cx="2852928" cy="182358"/>
          </a:xfrm>
          <a:prstGeom prst="rect">
            <a:avLst/>
          </a:prstGeom>
          <a:noFill/>
        </p:spPr>
        <p:txBody>
          <a:bodyPr wrap="square" lIns="10287" tIns="10287" rIns="10287" bIns="10287">
            <a:spAutoFit/>
          </a:bodyPr>
          <a:lstStyle/>
          <a:p>
            <a:pPr>
              <a:spcAft>
                <a:spcPts val="375"/>
              </a:spcAft>
              <a:defRPr sz="1400" b="1">
                <a:solidFill>
                  <a:srgbClr val="FFFFFF"/>
                </a:solidFill>
                <a:latin typeface="Arial"/>
              </a:defRPr>
            </a:pPr>
            <a:r>
              <a:rPr sz="1050" cap="none">
                <a:latin typeface="Arial"/>
              </a:rPr>
              <a:t>Decision support</a:t>
            </a:r>
          </a:p>
        </p:txBody>
      </p:sp>
      <p:sp>
        <p:nvSpPr>
          <p:cNvPr id="16" name="Rectangle 15"/>
          <p:cNvSpPr/>
          <p:nvPr/>
        </p:nvSpPr>
        <p:spPr>
          <a:xfrm>
            <a:off x="377191" y="2077974"/>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459487" y="2167128"/>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18" name="Rectangle 17"/>
          <p:cNvSpPr/>
          <p:nvPr/>
        </p:nvSpPr>
        <p:spPr>
          <a:xfrm>
            <a:off x="3415284" y="2077974"/>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9" name="TextBox 18"/>
          <p:cNvSpPr txBox="1"/>
          <p:nvPr/>
        </p:nvSpPr>
        <p:spPr>
          <a:xfrm>
            <a:off x="3497580" y="2167128"/>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max(role samples)</a:t>
            </a:r>
          </a:p>
        </p:txBody>
      </p:sp>
      <p:sp>
        <p:nvSpPr>
          <p:cNvPr id="20" name="Rectangle 19"/>
          <p:cNvSpPr/>
          <p:nvPr/>
        </p:nvSpPr>
        <p:spPr>
          <a:xfrm>
            <a:off x="5747003" y="2077974"/>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5829299" y="2167128"/>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Candidate downscale guard</a:t>
            </a:r>
          </a:p>
        </p:txBody>
      </p:sp>
      <p:sp>
        <p:nvSpPr>
          <p:cNvPr id="22" name="Rectangle 21"/>
          <p:cNvSpPr/>
          <p:nvPr/>
        </p:nvSpPr>
        <p:spPr>
          <a:xfrm>
            <a:off x="377191" y="2612898"/>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3" name="TextBox 22"/>
          <p:cNvSpPr txBox="1"/>
          <p:nvPr/>
        </p:nvSpPr>
        <p:spPr>
          <a:xfrm>
            <a:off x="459487" y="2702052"/>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kv_cache_usage_perc</a:t>
            </a:r>
          </a:p>
        </p:txBody>
      </p:sp>
      <p:sp>
        <p:nvSpPr>
          <p:cNvPr id="24" name="Rectangle 23"/>
          <p:cNvSpPr/>
          <p:nvPr/>
        </p:nvSpPr>
        <p:spPr>
          <a:xfrm>
            <a:off x="3415284" y="2612898"/>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5" name="TextBox 24"/>
          <p:cNvSpPr txBox="1"/>
          <p:nvPr/>
        </p:nvSpPr>
        <p:spPr>
          <a:xfrm>
            <a:off x="3497580" y="2702052"/>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1 - max(role samples)</a:t>
            </a:r>
          </a:p>
        </p:txBody>
      </p:sp>
      <p:sp>
        <p:nvSpPr>
          <p:cNvPr id="26" name="Rectangle 25"/>
          <p:cNvSpPr/>
          <p:nvPr/>
        </p:nvSpPr>
        <p:spPr>
          <a:xfrm>
            <a:off x="5747003" y="2612898"/>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7" name="TextBox 26"/>
          <p:cNvSpPr txBox="1"/>
          <p:nvPr/>
        </p:nvSpPr>
        <p:spPr>
          <a:xfrm>
            <a:off x="5829299" y="2702052"/>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Minimum free fraction;</a:t>
            </a:r>
          </a:p>
          <a:p>
            <a:pPr>
              <a:spcAft>
                <a:spcPts val="375"/>
              </a:spcAft>
              <a:defRPr sz="1500" b="0">
                <a:solidFill>
                  <a:srgbClr val="172941"/>
                </a:solidFill>
                <a:latin typeface="Arial"/>
              </a:defRPr>
            </a:pPr>
            <a:r>
              <a:rPr sz="1125" cap="none">
                <a:latin typeface="Arial"/>
              </a:rPr>
              <a:t>not effective request capacity</a:t>
            </a:r>
          </a:p>
        </p:txBody>
      </p:sp>
      <p:sp>
        <p:nvSpPr>
          <p:cNvPr id="28" name="Rectangle 27"/>
          <p:cNvSpPr/>
          <p:nvPr/>
        </p:nvSpPr>
        <p:spPr>
          <a:xfrm>
            <a:off x="377191" y="3147822"/>
            <a:ext cx="3020948"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9" name="TextBox 28"/>
          <p:cNvSpPr txBox="1"/>
          <p:nvPr/>
        </p:nvSpPr>
        <p:spPr>
          <a:xfrm>
            <a:off x="459487" y="3236976"/>
            <a:ext cx="2873501" cy="418320"/>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time_to_first_token_seconds</a:t>
            </a:r>
          </a:p>
          <a:p>
            <a:pPr>
              <a:spcAft>
                <a:spcPts val="375"/>
              </a:spcAft>
              <a:defRPr sz="1500" b="0">
                <a:solidFill>
                  <a:srgbClr val="2563EB"/>
                </a:solidFill>
                <a:latin typeface="Arial"/>
              </a:defRPr>
            </a:pPr>
            <a:r>
              <a:rPr sz="1125" cap="none">
                <a:latin typeface="Arial"/>
              </a:rPr>
              <a:t>(histogram buckets)</a:t>
            </a:r>
          </a:p>
        </p:txBody>
      </p:sp>
      <p:sp>
        <p:nvSpPr>
          <p:cNvPr id="30" name="Rectangle 29"/>
          <p:cNvSpPr/>
          <p:nvPr/>
        </p:nvSpPr>
        <p:spPr>
          <a:xfrm>
            <a:off x="3415284" y="3147822"/>
            <a:ext cx="23145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1" name="TextBox 30"/>
          <p:cNvSpPr txBox="1"/>
          <p:nvPr/>
        </p:nvSpPr>
        <p:spPr>
          <a:xfrm>
            <a:off x="3497580" y="3236976"/>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P95 over bucket rates</a:t>
            </a:r>
          </a:p>
        </p:txBody>
      </p:sp>
      <p:sp>
        <p:nvSpPr>
          <p:cNvPr id="32" name="Rectangle 31"/>
          <p:cNvSpPr/>
          <p:nvPr/>
        </p:nvSpPr>
        <p:spPr>
          <a:xfrm>
            <a:off x="5747003" y="3147822"/>
            <a:ext cx="3000375" cy="517779"/>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3" name="TextBox 32"/>
          <p:cNvSpPr txBox="1"/>
          <p:nvPr/>
        </p:nvSpPr>
        <p:spPr>
          <a:xfrm>
            <a:off x="5829299" y="3236976"/>
            <a:ext cx="28529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Latency tail; tune prefill policy</a:t>
            </a:r>
          </a:p>
        </p:txBody>
      </p:sp>
      <p:sp>
        <p:nvSpPr>
          <p:cNvPr id="34" name="Rectangle 33"/>
          <p:cNvSpPr/>
          <p:nvPr/>
        </p:nvSpPr>
        <p:spPr>
          <a:xfrm>
            <a:off x="377191" y="3682746"/>
            <a:ext cx="3020948"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5" name="TextBox 34"/>
          <p:cNvSpPr txBox="1"/>
          <p:nvPr/>
        </p:nvSpPr>
        <p:spPr>
          <a:xfrm>
            <a:off x="459487" y="3771900"/>
            <a:ext cx="2873501" cy="193899"/>
          </a:xfrm>
          <a:prstGeom prst="rect">
            <a:avLst/>
          </a:prstGeom>
          <a:noFill/>
        </p:spPr>
        <p:txBody>
          <a:bodyPr wrap="square" lIns="10287" tIns="10287" rIns="10287" bIns="10287">
            <a:spAutoFit/>
          </a:bodyPr>
          <a:lstStyle/>
          <a:p>
            <a:pPr>
              <a:spcAft>
                <a:spcPts val="375"/>
              </a:spcAft>
              <a:defRPr sz="1500" b="0">
                <a:solidFill>
                  <a:srgbClr val="2563EB"/>
                </a:solidFill>
                <a:latin typeface="Arial"/>
              </a:defRPr>
            </a:pPr>
            <a:r>
              <a:rPr sz="1125" cap="none">
                <a:latin typeface="Arial"/>
              </a:rPr>
              <a:t>generation_tokens_total</a:t>
            </a:r>
          </a:p>
        </p:txBody>
      </p:sp>
      <p:sp>
        <p:nvSpPr>
          <p:cNvPr id="36" name="Rectangle 35"/>
          <p:cNvSpPr/>
          <p:nvPr/>
        </p:nvSpPr>
        <p:spPr>
          <a:xfrm>
            <a:off x="3415284" y="3682746"/>
            <a:ext cx="23145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7" name="TextBox 36"/>
          <p:cNvSpPr txBox="1"/>
          <p:nvPr/>
        </p:nvSpPr>
        <p:spPr>
          <a:xfrm>
            <a:off x="3497580" y="3771900"/>
            <a:ext cx="2167128" cy="193899"/>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sum(rate(counter[5m]))</a:t>
            </a:r>
          </a:p>
        </p:txBody>
      </p:sp>
      <p:sp>
        <p:nvSpPr>
          <p:cNvPr id="38" name="Rectangle 37"/>
          <p:cNvSpPr/>
          <p:nvPr/>
        </p:nvSpPr>
        <p:spPr>
          <a:xfrm>
            <a:off x="5747003" y="3682746"/>
            <a:ext cx="3000375" cy="517779"/>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39" name="TextBox 38"/>
          <p:cNvSpPr txBox="1"/>
          <p:nvPr/>
        </p:nvSpPr>
        <p:spPr>
          <a:xfrm>
            <a:off x="5829299" y="3771900"/>
            <a:ext cx="2852928"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Output throughput;</a:t>
            </a:r>
          </a:p>
          <a:p>
            <a:pPr>
              <a:spcAft>
                <a:spcPts val="375"/>
              </a:spcAft>
              <a:defRPr sz="1500" b="0">
                <a:solidFill>
                  <a:srgbClr val="172941"/>
                </a:solidFill>
                <a:latin typeface="Arial"/>
              </a:defRPr>
            </a:pPr>
            <a:r>
              <a:rPr sz="1125" cap="none">
                <a:latin typeface="Arial"/>
              </a:rPr>
              <a:t>observe and benchmark</a:t>
            </a:r>
          </a:p>
        </p:txBody>
      </p:sp>
      <p:sp>
        <p:nvSpPr>
          <p:cNvPr id="40" name="TextBox 39"/>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41" name="TextBox 40"/>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43 / 49</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365760" y="539496"/>
            <a:ext cx="8412480" cy="411480"/>
          </a:xfrm>
          <a:prstGeom prst="rect">
            <a:avLst/>
          </a:prstGeom>
          <a:noFill/>
        </p:spPr>
        <p:txBody>
          <a:bodyPr wrap="square" lIns="0" rIns="0" tIns="0" bIns="0">
            <a:spAutoFit/>
          </a:bodyPr>
          <a:lstStyle/>
          <a:p>
            <a:pPr>
              <a:spcAft>
                <a:spcPts val="500"/>
              </a:spcAft>
              <a:defRPr sz="2100" b="1">
                <a:solidFill>
                  <a:srgbClr val="142C46"/>
                </a:solidFill>
                <a:latin typeface="Arial"/>
              </a:defRPr>
            </a:pPr>
            <a:r>
              <a:rPr cap="none"/>
              <a:t>Proposed MRI policy: independent role decisions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Aft>
                <a:spcPts val="500"/>
              </a:spcAft>
              <a:defRPr sz="1200" b="0">
                <a:solidFill>
                  <a:srgbClr val="52677D"/>
                </a:solidFill>
                <a:latin typeface="Arial"/>
              </a:defRPr>
            </a:pPr>
            <a:r>
              <a:rPr cap="none"/>
              <a:t>Illustrative design—not a ready-to-apply API. Full example and schema are in the notes.</a:t>
            </a:r>
          </a:p>
        </p:txBody>
      </p:sp>
      <p:sp>
        <p:nvSpPr>
          <p:cNvPr id="4" name="Rounded Rectangle 3"/>
          <p:cNvSpPr/>
          <p:nvPr/>
        </p:nvSpPr>
        <p:spPr>
          <a:xfrm>
            <a:off x="41148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09928"/>
            <a:ext cx="3749039" cy="365760"/>
          </a:xfrm>
          <a:prstGeom prst="rect">
            <a:avLst/>
          </a:prstGeom>
          <a:noFill/>
        </p:spPr>
        <p:txBody>
          <a:bodyPr wrap="square" lIns="0" rIns="0" tIns="0" bIns="0">
            <a:spAutoFit/>
          </a:bodyPr>
          <a:lstStyle/>
          <a:p>
            <a:pPr>
              <a:spcAft>
                <a:spcPts val="500"/>
              </a:spcAft>
              <a:defRPr sz="1600" b="1">
                <a:solidFill>
                  <a:srgbClr val="168C96"/>
                </a:solidFill>
                <a:latin typeface="Arial"/>
              </a:defRPr>
            </a:pPr>
            <a:r>
              <a:rPr cap="none"/>
              <a:t>Prefill policy</a:t>
            </a:r>
          </a:p>
        </p:txBody>
      </p:sp>
      <p:sp>
        <p:nvSpPr>
          <p:cNvPr id="6" name="TextBox 5"/>
          <p:cNvSpPr txBox="1"/>
          <p:nvPr/>
        </p:nvSpPr>
        <p:spPr>
          <a:xfrm>
            <a:off x="576072"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waiting requests</a:t>
            </a:r>
          </a:p>
          <a:p>
            <a:pPr>
              <a:spcAft>
                <a:spcPts val="500"/>
              </a:spcAft>
              <a:defRPr sz="1500" b="0">
                <a:solidFill>
                  <a:srgbClr val="142C46"/>
                </a:solidFill>
                <a:latin typeface="Arial"/>
              </a:defRPr>
            </a:pPr>
            <a:r>
              <a:rPr cap="none"/>
              <a:t>Replica range: 1–8</a:t>
            </a:r>
          </a:p>
          <a:p>
            <a:pPr>
              <a:spcAft>
                <a:spcPts val="500"/>
              </a:spcAft>
              <a:defRPr sz="1500" b="0">
                <a:solidFill>
                  <a:srgbClr val="142C46"/>
                </a:solidFill>
                <a:latin typeface="Arial"/>
              </a:defRPr>
            </a:pPr>
            <a:r>
              <a:rPr cap="none"/>
              <a:t>Scale up above 8; down below 1</a:t>
            </a:r>
          </a:p>
          <a:p>
            <a:pPr>
              <a:spcAft>
                <a:spcPts val="500"/>
              </a:spcAft>
              <a:defRPr sz="1500" b="0">
                <a:solidFill>
                  <a:srgbClr val="142C46"/>
                </a:solidFill>
                <a:latin typeface="Arial"/>
              </a:defRPr>
            </a:pPr>
            <a:r>
              <a:rPr cap="none"/>
              <a:t>At waiting = 12: scale up</a:t>
            </a:r>
          </a:p>
        </p:txBody>
      </p:sp>
      <p:sp>
        <p:nvSpPr>
          <p:cNvPr id="7" name="Rounded Rectangle 6"/>
          <p:cNvSpPr/>
          <p:nvPr/>
        </p:nvSpPr>
        <p:spPr>
          <a:xfrm>
            <a:off x="4663440" y="1554480"/>
            <a:ext cx="4078224" cy="2523744"/>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28031" y="1709928"/>
            <a:ext cx="3749039" cy="365760"/>
          </a:xfrm>
          <a:prstGeom prst="rect">
            <a:avLst/>
          </a:prstGeom>
          <a:noFill/>
        </p:spPr>
        <p:txBody>
          <a:bodyPr wrap="square" lIns="0" rIns="0" tIns="0" bIns="0">
            <a:spAutoFit/>
          </a:bodyPr>
          <a:lstStyle/>
          <a:p>
            <a:pPr>
              <a:spcAft>
                <a:spcPts val="500"/>
              </a:spcAft>
              <a:defRPr sz="1600" b="1">
                <a:solidFill>
                  <a:srgbClr val="8060C3"/>
                </a:solidFill>
                <a:latin typeface="Arial"/>
              </a:defRPr>
            </a:pPr>
            <a:r>
              <a:rPr cap="none"/>
              <a:t>Decode policy</a:t>
            </a:r>
          </a:p>
        </p:txBody>
      </p:sp>
      <p:sp>
        <p:nvSpPr>
          <p:cNvPr id="9" name="TextBox 8"/>
          <p:cNvSpPr txBox="1"/>
          <p:nvPr/>
        </p:nvSpPr>
        <p:spPr>
          <a:xfrm>
            <a:off x="4828031" y="2185415"/>
            <a:ext cx="3749039" cy="1792223"/>
          </a:xfrm>
          <a:prstGeom prst="rect">
            <a:avLst/>
          </a:prstGeom>
          <a:noFill/>
        </p:spPr>
        <p:txBody>
          <a:bodyPr wrap="square" lIns="0" rIns="0" tIns="0" bIns="0">
            <a:spAutoFit/>
          </a:bodyPr>
          <a:lstStyle/>
          <a:p>
            <a:pPr>
              <a:spcAft>
                <a:spcPts val="500"/>
              </a:spcAft>
              <a:defRPr sz="1500" b="0">
                <a:solidFill>
                  <a:srgbClr val="142C46"/>
                </a:solidFill>
                <a:latin typeface="Arial"/>
              </a:defRPr>
            </a:pPr>
            <a:r>
              <a:rPr cap="none"/>
              <a:t>Signal: average running requests</a:t>
            </a:r>
          </a:p>
          <a:p>
            <a:pPr>
              <a:spcAft>
                <a:spcPts val="500"/>
              </a:spcAft>
              <a:defRPr sz="1500" b="0">
                <a:solidFill>
                  <a:srgbClr val="142C46"/>
                </a:solidFill>
                <a:latin typeface="Arial"/>
              </a:defRPr>
            </a:pPr>
            <a:r>
              <a:rPr cap="none"/>
              <a:t>Replica range: 2–16</a:t>
            </a:r>
          </a:p>
          <a:p>
            <a:pPr>
              <a:spcAft>
                <a:spcPts val="500"/>
              </a:spcAft>
              <a:defRPr sz="1500" b="0">
                <a:solidFill>
                  <a:srgbClr val="142C46"/>
                </a:solidFill>
                <a:latin typeface="Arial"/>
              </a:defRPr>
            </a:pPr>
            <a:r>
              <a:rPr cap="none"/>
              <a:t>Scale up above 24; down below 4</a:t>
            </a:r>
          </a:p>
          <a:p>
            <a:pPr>
              <a:spcAft>
                <a:spcPts val="500"/>
              </a:spcAft>
              <a:defRPr sz="1500" b="0">
                <a:solidFill>
                  <a:srgbClr val="142C46"/>
                </a:solidFill>
                <a:latin typeface="Arial"/>
              </a:defRPr>
            </a:pPr>
            <a:r>
              <a:rPr cap="none"/>
              <a:t>At running = 12: hold</a:t>
            </a:r>
          </a:p>
        </p:txBody>
      </p:sp>
      <p:sp>
        <p:nvSpPr>
          <p:cNvPr id="10" name="Rounded Rectangle 9"/>
          <p:cNvSpPr/>
          <p:nvPr/>
        </p:nvSpPr>
        <p:spPr>
          <a:xfrm>
            <a:off x="365760" y="4425696"/>
            <a:ext cx="8412480" cy="3474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 y="4489704"/>
            <a:ext cx="8138160" cy="219456"/>
          </a:xfrm>
          <a:prstGeom prst="rect">
            <a:avLst/>
          </a:prstGeom>
          <a:noFill/>
        </p:spPr>
        <p:txBody>
          <a:bodyPr wrap="square" lIns="0" rIns="0" tIns="0" bIns="0">
            <a:spAutoFit/>
          </a:bodyPr>
          <a:lstStyle/>
          <a:p>
            <a:pPr>
              <a:spcAft>
                <a:spcPts val="500"/>
              </a:spcAft>
              <a:defRPr sz="1000" b="1">
                <a:solidFill>
                  <a:srgbClr val="142C46"/>
                </a:solidFill>
                <a:latin typeface="Arial"/>
              </a:defRPr>
            </a:pPr>
            <a:r>
              <a:rPr cap="none"/>
              <a:t>Requires an MRI adapter, child opt-in and one replica-count owner per role. Values are examples.</a:t>
            </a:r>
          </a:p>
        </p:txBody>
      </p:sp>
      <p:sp>
        <p:nvSpPr>
          <p:cNvPr id="12" name="TextBox 11"/>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13" name="TextBox 12"/>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44 / 49</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cap="none" b="1">
                <a:solidFill>
                  <a:srgbClr val="142C46"/>
                </a:solidFill>
                <a:latin typeface="Arial"/>
              </a:rPr>
              <a:t>When should you use P/D—and when not?</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Two axes matter: how different the roles are, and what the KV-transfer path costs.</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Use P/D when the roles want different capacity AND KV transfer does not erase the gain.</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632204" y="1488186"/>
            <a:ext cx="3326130" cy="170816"/>
          </a:xfrm>
          <a:prstGeom prst="rect">
            <a:avLst/>
          </a:prstGeom>
          <a:noFill/>
        </p:spPr>
        <p:txBody>
          <a:bodyPr wrap="square" lIns="10287" tIns="10287" rIns="10287" bIns="10287">
            <a:spAutoFit/>
          </a:bodyPr>
          <a:lstStyle/>
          <a:p>
            <a:pPr algn="ctr">
              <a:spcAft>
                <a:spcPts val="375"/>
              </a:spcAft>
              <a:defRPr sz="1300" b="1">
                <a:solidFill>
                  <a:srgbClr val="AE641A"/>
                </a:solidFill>
                <a:latin typeface="Arial"/>
              </a:defRPr>
            </a:pPr>
            <a:r>
              <a:rPr sz="975" cap="none">
                <a:latin typeface="Arial"/>
              </a:rPr>
              <a:t>Expensive / weak KV transfer</a:t>
            </a:r>
          </a:p>
        </p:txBody>
      </p:sp>
      <p:sp>
        <p:nvSpPr>
          <p:cNvPr id="11" name="TextBox 10"/>
          <p:cNvSpPr txBox="1"/>
          <p:nvPr/>
        </p:nvSpPr>
        <p:spPr>
          <a:xfrm>
            <a:off x="5273802" y="1488186"/>
            <a:ext cx="3326130" cy="170816"/>
          </a:xfrm>
          <a:prstGeom prst="rect">
            <a:avLst/>
          </a:prstGeom>
          <a:noFill/>
        </p:spPr>
        <p:txBody>
          <a:bodyPr wrap="square" lIns="10287" tIns="10287" rIns="10287" bIns="10287">
            <a:spAutoFit/>
          </a:bodyPr>
          <a:lstStyle/>
          <a:p>
            <a:pPr algn="ctr">
              <a:spcAft>
                <a:spcPts val="375"/>
              </a:spcAft>
              <a:defRPr sz="1300" b="1">
                <a:solidFill>
                  <a:srgbClr val="087F8C"/>
                </a:solidFill>
                <a:latin typeface="Arial"/>
              </a:defRPr>
            </a:pPr>
            <a:r>
              <a:rPr sz="975" cap="none">
                <a:latin typeface="Arial"/>
              </a:rPr>
              <a:t>Cheap / fast enough KV transfer</a:t>
            </a:r>
          </a:p>
        </p:txBody>
      </p:sp>
      <p:sp>
        <p:nvSpPr>
          <p:cNvPr id="12" name="TextBox 11"/>
          <p:cNvSpPr txBox="1"/>
          <p:nvPr/>
        </p:nvSpPr>
        <p:spPr>
          <a:xfrm>
            <a:off x="377190" y="1988820"/>
            <a:ext cx="1062990" cy="608115"/>
          </a:xfrm>
          <a:prstGeom prst="rect">
            <a:avLst/>
          </a:prstGeom>
          <a:noFill/>
        </p:spPr>
        <p:txBody>
          <a:bodyPr wrap="square" lIns="10287" tIns="10287" rIns="10287" bIns="10287">
            <a:spAutoFit/>
          </a:bodyPr>
          <a:lstStyle/>
          <a:p>
            <a:pPr>
              <a:spcAft>
                <a:spcPts val="375"/>
              </a:spcAft>
              <a:defRPr sz="1400" b="1">
                <a:solidFill>
                  <a:srgbClr val="172941"/>
                </a:solidFill>
                <a:latin typeface="Arial"/>
              </a:defRPr>
            </a:pPr>
            <a:r>
              <a:rPr sz="1050" cap="none">
                <a:latin typeface="Arial"/>
              </a:rPr>
              <a:t>Different</a:t>
            </a:r>
          </a:p>
          <a:p>
            <a:pPr>
              <a:spcAft>
                <a:spcPts val="375"/>
              </a:spcAft>
              <a:defRPr sz="1400" b="1">
                <a:solidFill>
                  <a:srgbClr val="172941"/>
                </a:solidFill>
                <a:latin typeface="Arial"/>
              </a:defRPr>
            </a:pPr>
            <a:r>
              <a:rPr sz="1050" cap="none">
                <a:latin typeface="Arial"/>
              </a:rPr>
              <a:t>bottlenecks /</a:t>
            </a:r>
          </a:p>
          <a:p>
            <a:pPr>
              <a:spcAft>
                <a:spcPts val="375"/>
              </a:spcAft>
              <a:defRPr sz="1400" b="1">
                <a:solidFill>
                  <a:srgbClr val="172941"/>
                </a:solidFill>
                <a:latin typeface="Arial"/>
              </a:defRPr>
            </a:pPr>
            <a:r>
              <a:rPr sz="1050" cap="none">
                <a:latin typeface="Arial"/>
              </a:rPr>
              <a:t>scaling needs</a:t>
            </a:r>
          </a:p>
        </p:txBody>
      </p:sp>
      <p:sp>
        <p:nvSpPr>
          <p:cNvPr id="13" name="TextBox 12"/>
          <p:cNvSpPr txBox="1"/>
          <p:nvPr/>
        </p:nvSpPr>
        <p:spPr>
          <a:xfrm>
            <a:off x="377190" y="3250692"/>
            <a:ext cx="1062990" cy="608115"/>
          </a:xfrm>
          <a:prstGeom prst="rect">
            <a:avLst/>
          </a:prstGeom>
          <a:noFill/>
        </p:spPr>
        <p:txBody>
          <a:bodyPr wrap="square" lIns="10287" tIns="10287" rIns="10287" bIns="10287">
            <a:spAutoFit/>
          </a:bodyPr>
          <a:lstStyle/>
          <a:p>
            <a:pPr>
              <a:spcAft>
                <a:spcPts val="375"/>
              </a:spcAft>
              <a:defRPr sz="1400" b="1">
                <a:solidFill>
                  <a:srgbClr val="586A80"/>
                </a:solidFill>
                <a:latin typeface="Arial"/>
              </a:defRPr>
            </a:pPr>
            <a:r>
              <a:rPr sz="1050" cap="none">
                <a:latin typeface="Arial"/>
              </a:rPr>
              <a:t>Similar</a:t>
            </a:r>
          </a:p>
          <a:p>
            <a:pPr>
              <a:spcAft>
                <a:spcPts val="375"/>
              </a:spcAft>
              <a:defRPr sz="1400" b="1">
                <a:solidFill>
                  <a:srgbClr val="586A80"/>
                </a:solidFill>
                <a:latin typeface="Arial"/>
              </a:defRPr>
            </a:pPr>
            <a:r>
              <a:rPr sz="1050" cap="none">
                <a:latin typeface="Arial"/>
              </a:rPr>
              <a:t>bottlenecks /</a:t>
            </a:r>
          </a:p>
          <a:p>
            <a:pPr>
              <a:spcAft>
                <a:spcPts val="375"/>
              </a:spcAft>
              <a:defRPr sz="1400" b="1">
                <a:solidFill>
                  <a:srgbClr val="586A80"/>
                </a:solidFill>
                <a:latin typeface="Arial"/>
              </a:defRPr>
            </a:pPr>
            <a:r>
              <a:rPr sz="1050" cap="none">
                <a:latin typeface="Arial"/>
              </a:rPr>
              <a:t>scaling needs</a:t>
            </a:r>
          </a:p>
        </p:txBody>
      </p:sp>
      <p:sp>
        <p:nvSpPr>
          <p:cNvPr id="14" name="Rounded Rectangle 13"/>
          <p:cNvSpPr/>
          <p:nvPr/>
        </p:nvSpPr>
        <p:spPr>
          <a:xfrm>
            <a:off x="1577340" y="1837944"/>
            <a:ext cx="3463290" cy="1014984"/>
          </a:xfrm>
          <a:prstGeom prst="roundRect">
            <a:avLst>
              <a:gd name="adj" fmla="val 10000"/>
            </a:avLst>
          </a:prstGeom>
          <a:solidFill>
            <a:srgbClr val="FFF3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5" name="TextBox 14"/>
          <p:cNvSpPr txBox="1"/>
          <p:nvPr/>
        </p:nvSpPr>
        <p:spPr>
          <a:xfrm>
            <a:off x="1700784" y="1947672"/>
            <a:ext cx="3216402" cy="205441"/>
          </a:xfrm>
          <a:prstGeom prst="rect">
            <a:avLst/>
          </a:prstGeom>
          <a:noFill/>
        </p:spPr>
        <p:txBody>
          <a:bodyPr wrap="square" lIns="10287" tIns="10287" rIns="10287" bIns="10287">
            <a:spAutoFit/>
          </a:bodyPr>
          <a:lstStyle/>
          <a:p>
            <a:pPr>
              <a:spcAft>
                <a:spcPts val="375"/>
              </a:spcAft>
              <a:defRPr sz="1600" b="1">
                <a:solidFill>
                  <a:srgbClr val="AE641A"/>
                </a:solidFill>
                <a:latin typeface="Arial"/>
              </a:defRPr>
            </a:pPr>
            <a:r>
              <a:rPr sz="1200" cap="none">
                <a:latin typeface="Arial"/>
              </a:rPr>
              <a:t>Improve topology first</a:t>
            </a:r>
          </a:p>
        </p:txBody>
      </p:sp>
      <p:sp>
        <p:nvSpPr>
          <p:cNvPr id="16" name="TextBox 15"/>
          <p:cNvSpPr txBox="1"/>
          <p:nvPr/>
        </p:nvSpPr>
        <p:spPr>
          <a:xfrm>
            <a:off x="1700784" y="2297430"/>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Independent capacity may help.</a:t>
            </a:r>
          </a:p>
          <a:p>
            <a:pPr>
              <a:spcAft>
                <a:spcPts val="375"/>
              </a:spcAft>
              <a:defRPr sz="1500" b="0">
                <a:solidFill>
                  <a:srgbClr val="172941"/>
                </a:solidFill>
                <a:latin typeface="Arial"/>
              </a:defRPr>
            </a:pPr>
            <a:r>
              <a:rPr sz="1125" cap="none">
                <a:latin typeface="Arial"/>
              </a:rPr>
              <a:t>Transfer overhead may erase the gain.</a:t>
            </a:r>
          </a:p>
        </p:txBody>
      </p:sp>
      <p:sp>
        <p:nvSpPr>
          <p:cNvPr id="17" name="Rounded Rectangle 16"/>
          <p:cNvSpPr/>
          <p:nvPr/>
        </p:nvSpPr>
        <p:spPr>
          <a:xfrm>
            <a:off x="5225796" y="1837944"/>
            <a:ext cx="3538728" cy="1014984"/>
          </a:xfrm>
          <a:prstGeom prst="roundRect">
            <a:avLst>
              <a:gd name="adj" fmla="val 10000"/>
            </a:avLst>
          </a:prstGeom>
          <a:solidFill>
            <a:srgbClr val="E4F4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8" name="TextBox 17"/>
          <p:cNvSpPr txBox="1"/>
          <p:nvPr/>
        </p:nvSpPr>
        <p:spPr>
          <a:xfrm>
            <a:off x="5349240" y="1947672"/>
            <a:ext cx="3291840" cy="205441"/>
          </a:xfrm>
          <a:prstGeom prst="rect">
            <a:avLst/>
          </a:prstGeom>
          <a:noFill/>
        </p:spPr>
        <p:txBody>
          <a:bodyPr wrap="square" lIns="10287" tIns="10287" rIns="10287" bIns="10287">
            <a:spAutoFit/>
          </a:bodyPr>
          <a:lstStyle/>
          <a:p>
            <a:pPr>
              <a:spcAft>
                <a:spcPts val="375"/>
              </a:spcAft>
              <a:defRPr sz="1600" b="1">
                <a:solidFill>
                  <a:srgbClr val="247952"/>
                </a:solidFill>
                <a:latin typeface="Arial"/>
              </a:defRPr>
            </a:pPr>
            <a:r>
              <a:rPr sz="1200" cap="none">
                <a:latin typeface="Arial"/>
              </a:rPr>
              <a:t>Strong P/D candidate</a:t>
            </a:r>
          </a:p>
        </p:txBody>
      </p:sp>
      <p:sp>
        <p:nvSpPr>
          <p:cNvPr id="19" name="TextBox 18"/>
          <p:cNvSpPr txBox="1"/>
          <p:nvPr/>
        </p:nvSpPr>
        <p:spPr>
          <a:xfrm>
            <a:off x="5349240" y="2297430"/>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Different role capacity or parallelism.</a:t>
            </a:r>
          </a:p>
          <a:p>
            <a:pPr>
              <a:spcAft>
                <a:spcPts val="375"/>
              </a:spcAft>
              <a:defRPr sz="1500" b="0">
                <a:solidFill>
                  <a:srgbClr val="172941"/>
                </a:solidFill>
                <a:latin typeface="Arial"/>
              </a:defRPr>
            </a:pPr>
            <a:r>
              <a:rPr sz="1125" cap="none">
                <a:latin typeface="Arial"/>
              </a:rPr>
              <a:t>Validate the gain at matched SLO + cost.</a:t>
            </a:r>
          </a:p>
        </p:txBody>
      </p:sp>
      <p:sp>
        <p:nvSpPr>
          <p:cNvPr id="20" name="Rounded Rectangle 19"/>
          <p:cNvSpPr/>
          <p:nvPr/>
        </p:nvSpPr>
        <p:spPr>
          <a:xfrm>
            <a:off x="1577340" y="3010661"/>
            <a:ext cx="3463290" cy="1014984"/>
          </a:xfrm>
          <a:prstGeom prst="roundRect">
            <a:avLst>
              <a:gd name="adj" fmla="val 10000"/>
            </a:avLst>
          </a:prstGeom>
          <a:solidFill>
            <a:srgbClr val="D9E2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TextBox 20"/>
          <p:cNvSpPr txBox="1"/>
          <p:nvPr/>
        </p:nvSpPr>
        <p:spPr>
          <a:xfrm>
            <a:off x="1700784" y="3120390"/>
            <a:ext cx="3216402" cy="205441"/>
          </a:xfrm>
          <a:prstGeom prst="rect">
            <a:avLst/>
          </a:prstGeom>
          <a:noFill/>
        </p:spPr>
        <p:txBody>
          <a:bodyPr wrap="square" lIns="10287" tIns="10287" rIns="10287" bIns="10287">
            <a:spAutoFit/>
          </a:bodyPr>
          <a:lstStyle/>
          <a:p>
            <a:pPr>
              <a:spcAft>
                <a:spcPts val="375"/>
              </a:spcAft>
              <a:defRPr sz="1600" b="1">
                <a:solidFill>
                  <a:srgbClr val="586A80"/>
                </a:solidFill>
                <a:latin typeface="Arial"/>
              </a:defRPr>
            </a:pPr>
            <a:r>
              <a:rPr sz="1200" cap="none">
                <a:latin typeface="Arial"/>
              </a:rPr>
              <a:t>Stay aggregated</a:t>
            </a:r>
          </a:p>
        </p:txBody>
      </p:sp>
      <p:sp>
        <p:nvSpPr>
          <p:cNvPr id="22" name="TextBox 21"/>
          <p:cNvSpPr txBox="1"/>
          <p:nvPr/>
        </p:nvSpPr>
        <p:spPr>
          <a:xfrm>
            <a:off x="1700784" y="3470148"/>
            <a:ext cx="3216402"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Little role separation benefit,</a:t>
            </a:r>
          </a:p>
          <a:p>
            <a:pPr>
              <a:spcAft>
                <a:spcPts val="375"/>
              </a:spcAft>
              <a:defRPr sz="1500" b="0">
                <a:solidFill>
                  <a:srgbClr val="172941"/>
                </a:solidFill>
                <a:latin typeface="Arial"/>
              </a:defRPr>
            </a:pPr>
            <a:r>
              <a:rPr sz="1125" cap="none">
                <a:latin typeface="Arial"/>
              </a:rPr>
              <a:t>plus an expensive transfer path.</a:t>
            </a:r>
          </a:p>
        </p:txBody>
      </p:sp>
      <p:sp>
        <p:nvSpPr>
          <p:cNvPr id="23" name="Rounded Rectangle 22"/>
          <p:cNvSpPr/>
          <p:nvPr/>
        </p:nvSpPr>
        <p:spPr>
          <a:xfrm>
            <a:off x="5225796" y="3010661"/>
            <a:ext cx="3538728" cy="1014984"/>
          </a:xfrm>
          <a:prstGeom prst="roundRect">
            <a:avLst>
              <a:gd name="adj" fmla="val 10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4" name="TextBox 23"/>
          <p:cNvSpPr txBox="1"/>
          <p:nvPr/>
        </p:nvSpPr>
        <p:spPr>
          <a:xfrm>
            <a:off x="5349240" y="3120390"/>
            <a:ext cx="3291840" cy="205441"/>
          </a:xfrm>
          <a:prstGeom prst="rect">
            <a:avLst/>
          </a:prstGeom>
          <a:noFill/>
        </p:spPr>
        <p:txBody>
          <a:bodyPr wrap="square" lIns="10287" tIns="10287" rIns="10287" bIns="10287">
            <a:spAutoFit/>
          </a:bodyPr>
          <a:lstStyle/>
          <a:p>
            <a:pPr>
              <a:spcAft>
                <a:spcPts val="375"/>
              </a:spcAft>
              <a:defRPr sz="1600" b="1">
                <a:solidFill>
                  <a:srgbClr val="2563EB"/>
                </a:solidFill>
                <a:latin typeface="Arial"/>
              </a:defRPr>
            </a:pPr>
            <a:r>
              <a:rPr sz="1200" cap="none">
                <a:latin typeface="Arial"/>
              </a:rPr>
              <a:t>Usually stay aggregated</a:t>
            </a:r>
          </a:p>
        </p:txBody>
      </p:sp>
      <p:sp>
        <p:nvSpPr>
          <p:cNvPr id="25" name="TextBox 24"/>
          <p:cNvSpPr txBox="1"/>
          <p:nvPr/>
        </p:nvSpPr>
        <p:spPr>
          <a:xfrm>
            <a:off x="5349240" y="3470148"/>
            <a:ext cx="3291840" cy="418320"/>
          </a:xfrm>
          <a:prstGeom prst="rect">
            <a:avLst/>
          </a:prstGeom>
          <a:noFill/>
        </p:spPr>
        <p:txBody>
          <a:bodyPr wrap="square" lIns="10287" tIns="10287" rIns="10287" bIns="10287">
            <a:spAutoFit/>
          </a:bodyPr>
          <a:lstStyle/>
          <a:p>
            <a:pPr>
              <a:spcAft>
                <a:spcPts val="375"/>
              </a:spcAft>
              <a:defRPr sz="1500" b="0">
                <a:solidFill>
                  <a:srgbClr val="172941"/>
                </a:solidFill>
                <a:latin typeface="Arial"/>
              </a:defRPr>
            </a:pPr>
            <a:r>
              <a:rPr sz="1125" cap="none">
                <a:latin typeface="Arial"/>
              </a:rPr>
              <a:t>Fast fabric alone is not a reason to split.</a:t>
            </a:r>
          </a:p>
          <a:p>
            <a:pPr>
              <a:spcAft>
                <a:spcPts val="375"/>
              </a:spcAft>
              <a:defRPr sz="1500" b="0">
                <a:solidFill>
                  <a:srgbClr val="172941"/>
                </a:solidFill>
                <a:latin typeface="Arial"/>
              </a:defRPr>
            </a:pPr>
            <a:r>
              <a:rPr sz="1125" cap="none">
                <a:latin typeface="Arial"/>
              </a:rPr>
              <a:t>Operational gains may be limited.</a:t>
            </a:r>
          </a:p>
        </p:txBody>
      </p:sp>
      <p:sp>
        <p:nvSpPr>
          <p:cNvPr id="26" name="TextBox 25"/>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7" name="TextBox 26"/>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45 / 49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65760" y="539496"/>
            <a:ext cx="8412480" cy="420624"/>
          </a:xfrm>
          <a:prstGeom prst="rect">
            <a:avLst/>
          </a:prstGeom>
          <a:noFill/>
        </p:spPr>
        <p:txBody>
          <a:bodyPr wrap="none" lIns="0" tIns="0" rIns="0" bIns="0">
            <a:spAutoFit/>
          </a:bodyPr>
          <a:lstStyle/>
          <a:p>
            <a:pPr>
              <a:spcAft>
                <a:spcPts val="375"/>
              </a:spcAft>
              <a:defRPr sz="2900" b="1">
                <a:solidFill>
                  <a:srgbClr val="172941"/>
                </a:solidFill>
                <a:latin typeface="Arial"/>
              </a:defRPr>
            </a:pPr>
            <a:r>
              <a:rPr sz="2100" dirty="0" cap="none" b="1">
                <a:solidFill>
                  <a:srgbClr val="142C46"/>
                </a:solidFill>
                <a:latin typeface="Arial"/>
              </a:rPr>
              <a:t>What’s next for KAITO + </a:t>
            </a:r>
            <a:r>
              <a:rPr sz="2100" dirty="0" err="1" cap="none" b="1">
                <a:solidFill>
                  <a:srgbClr val="142C46"/>
                </a:solidFill>
                <a:latin typeface="Arial"/>
              </a:rPr>
              <a:t>llm</a:t>
            </a:r>
            <a:r>
              <a:rPr sz="2100" dirty="0" cap="none" b="1">
                <a:solidFill>
                  <a:srgbClr val="142C46"/>
                </a:solidFill>
                <a:latin typeface="Arial"/>
              </a:rPr>
              <a:t>-d</a:t>
            </a:r>
          </a:p>
        </p:txBody>
      </p:sp>
      <p:sp>
        <p:nvSpPr>
          <p:cNvPr id="4" name="TextBox 3"/>
          <p:cNvSpPr txBox="1"/>
          <p:nvPr/>
        </p:nvSpPr>
        <p:spPr>
          <a:xfrm>
            <a:off x="384048" y="1033271"/>
            <a:ext cx="8321040" cy="329184"/>
          </a:xfrm>
          <a:prstGeom prst="rect">
            <a:avLst/>
          </a:prstGeom>
          <a:noFill/>
        </p:spPr>
        <p:txBody>
          <a:bodyPr wrap="square" lIns="10287" tIns="10287" rIns="10287" bIns="10287">
            <a:spAutoFit/>
          </a:bodyPr>
          <a:lstStyle/>
          <a:p>
            <a:pPr>
              <a:spcAft>
                <a:spcPts val="375"/>
              </a:spcAft>
              <a:defRPr sz="1700" b="0">
                <a:solidFill>
                  <a:srgbClr val="586A80"/>
                </a:solidFill>
                <a:latin typeface="Arial"/>
              </a:defRPr>
            </a:pPr>
            <a:r>
              <a:rPr sz="1200" cap="none">
                <a:solidFill>
                  <a:srgbClr val="52677D"/>
                </a:solidFill>
                <a:latin typeface="Arial"/>
              </a:rPr>
              <a:t>Build on P/D with better cache reuse, richer role layouts and larger-scale execution.</a:t>
            </a:r>
          </a:p>
        </p:txBody>
      </p:sp>
      <p:sp>
        <p:nvSpPr>
          <p:cNvPr id="5" name="Rectangle 4"/>
          <p:cNvSpPr/>
          <p:nvPr/>
        </p:nvSpPr>
        <p:spPr>
          <a:xfrm>
            <a:off x="342900" y="4375404"/>
            <a:ext cx="8455914" cy="363474"/>
          </a:xfrm>
          <a:prstGeom prst="rect">
            <a:avLst/>
          </a:prstGeom>
          <a:solidFill>
            <a:srgbClr val="EAF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6" name="TextBox 5"/>
          <p:cNvSpPr txBox="1"/>
          <p:nvPr/>
        </p:nvSpPr>
        <p:spPr>
          <a:xfrm>
            <a:off x="466344" y="4450842"/>
            <a:ext cx="8209026" cy="193899"/>
          </a:xfrm>
          <a:prstGeom prst="rect">
            <a:avLst/>
          </a:prstGeom>
          <a:noFill/>
        </p:spPr>
        <p:txBody>
          <a:bodyPr wrap="square" lIns="10287" tIns="10287" rIns="10287" bIns="10287">
            <a:spAutoFit/>
          </a:bodyPr>
          <a:lstStyle/>
          <a:p>
            <a:pPr>
              <a:spcAft>
                <a:spcPts val="375"/>
              </a:spcAft>
              <a:defRPr sz="1500" b="1">
                <a:solidFill>
                  <a:srgbClr val="172941"/>
                </a:solidFill>
                <a:latin typeface="Arial"/>
              </a:defRPr>
            </a:pPr>
            <a:r>
              <a:rPr sz="1125" cap="none">
                <a:latin typeface="Arial"/>
              </a:rPr>
              <a:t>Integration directions—not release dates or claims that every upstream capability is new.</a:t>
            </a:r>
          </a:p>
        </p:txBody>
      </p:sp>
      <p:cxnSp>
        <p:nvCxnSpPr>
          <p:cNvPr id="7" name="Connector 6"/>
          <p:cNvCxnSpPr/>
          <p:nvPr/>
        </p:nvCxnSpPr>
        <p:spPr>
          <a:xfrm>
            <a:off x="342900" y="4882896"/>
            <a:ext cx="8455914" cy="0"/>
          </a:xfrm>
          <a:prstGeom prst="line">
            <a:avLst/>
          </a:prstGeom>
          <a:ln w="8890">
            <a:solidFill>
              <a:srgbClr val="D9E2E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377190"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1" name="Rectangle 10"/>
          <p:cNvSpPr/>
          <p:nvPr/>
        </p:nvSpPr>
        <p:spPr>
          <a:xfrm>
            <a:off x="500634" y="1748790"/>
            <a:ext cx="260604" cy="44577"/>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2" name="TextBox 11"/>
          <p:cNvSpPr txBox="1"/>
          <p:nvPr/>
        </p:nvSpPr>
        <p:spPr>
          <a:xfrm>
            <a:off x="514350" y="1865376"/>
            <a:ext cx="2434590" cy="147733"/>
          </a:xfrm>
          <a:prstGeom prst="rect">
            <a:avLst/>
          </a:prstGeom>
          <a:noFill/>
        </p:spPr>
        <p:txBody>
          <a:bodyPr wrap="square" lIns="10287" tIns="10287" rIns="10287" bIns="10287">
            <a:spAutoFit/>
          </a:bodyPr>
          <a:lstStyle/>
          <a:p>
            <a:pPr>
              <a:spcAft>
                <a:spcPts val="375"/>
              </a:spcAft>
              <a:defRPr sz="1100" b="1">
                <a:solidFill>
                  <a:srgbClr val="087F8C"/>
                </a:solidFill>
                <a:latin typeface="Arial"/>
              </a:defRPr>
            </a:pPr>
            <a:r>
              <a:rPr sz="825" cap="none">
                <a:latin typeface="Arial"/>
              </a:rPr>
              <a:t>Near term</a:t>
            </a:r>
          </a:p>
        </p:txBody>
      </p:sp>
      <p:sp>
        <p:nvSpPr>
          <p:cNvPr id="13" name="TextBox 12"/>
          <p:cNvSpPr txBox="1"/>
          <p:nvPr/>
        </p:nvSpPr>
        <p:spPr>
          <a:xfrm>
            <a:off x="514350" y="2146554"/>
            <a:ext cx="2434590" cy="251607"/>
          </a:xfrm>
          <a:prstGeom prst="rect">
            <a:avLst/>
          </a:prstGeom>
          <a:noFill/>
        </p:spPr>
        <p:txBody>
          <a:bodyPr wrap="square" lIns="10287" tIns="10287" rIns="10287" bIns="10287">
            <a:spAutoFit/>
          </a:bodyPr>
          <a:lstStyle/>
          <a:p>
            <a:pPr>
              <a:spcAft>
                <a:spcPts val="375"/>
              </a:spcAft>
              <a:defRPr sz="2000" b="1">
                <a:solidFill>
                  <a:srgbClr val="087F8C"/>
                </a:solidFill>
                <a:latin typeface="Arial"/>
              </a:defRPr>
            </a:pPr>
            <a:r>
              <a:rPr sz="1500" cap="none">
                <a:latin typeface="Arial"/>
              </a:rPr>
              <a:t>Cache-aware serving</a:t>
            </a:r>
          </a:p>
        </p:txBody>
      </p:sp>
      <p:sp>
        <p:nvSpPr>
          <p:cNvPr id="14" name="TextBox 13"/>
          <p:cNvSpPr txBox="1"/>
          <p:nvPr/>
        </p:nvSpPr>
        <p:spPr>
          <a:xfrm>
            <a:off x="514350"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KV-event-based</a:t>
            </a:r>
          </a:p>
          <a:p>
            <a:pPr>
              <a:spcAft>
                <a:spcPts val="375"/>
              </a:spcAft>
              <a:defRPr sz="1700" b="0">
                <a:solidFill>
                  <a:srgbClr val="172941"/>
                </a:solidFill>
                <a:latin typeface="Arial"/>
              </a:defRPr>
            </a:pPr>
            <a:r>
              <a:rPr sz="1275" cap="none">
                <a:latin typeface="Arial"/>
              </a:rPr>
              <a:t>prefix-cache routing</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Tiered cache: HBM + CPU RAM</a:t>
            </a:r>
          </a:p>
          <a:p>
            <a:pPr>
              <a:spcAft>
                <a:spcPts val="375"/>
              </a:spcAft>
              <a:defRPr sz="1700" b="0">
                <a:solidFill>
                  <a:srgbClr val="172941"/>
                </a:solidFill>
                <a:latin typeface="Arial"/>
              </a:defRPr>
            </a:pPr>
            <a:r>
              <a:rPr sz="1275" cap="none">
                <a:latin typeface="Arial"/>
              </a:rPr>
              <a:t>+ optional filesystem tiers</a:t>
            </a:r>
          </a:p>
        </p:txBody>
      </p:sp>
      <p:sp>
        <p:nvSpPr>
          <p:cNvPr id="15" name="Rounded Rectangle 14"/>
          <p:cNvSpPr/>
          <p:nvPr/>
        </p:nvSpPr>
        <p:spPr>
          <a:xfrm>
            <a:off x="3216402"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6" name="Rectangle 15"/>
          <p:cNvSpPr/>
          <p:nvPr/>
        </p:nvSpPr>
        <p:spPr>
          <a:xfrm>
            <a:off x="3339845" y="1748790"/>
            <a:ext cx="260604" cy="44577"/>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17" name="TextBox 16"/>
          <p:cNvSpPr txBox="1"/>
          <p:nvPr/>
        </p:nvSpPr>
        <p:spPr>
          <a:xfrm>
            <a:off x="3353562" y="1865376"/>
            <a:ext cx="2434590" cy="147733"/>
          </a:xfrm>
          <a:prstGeom prst="rect">
            <a:avLst/>
          </a:prstGeom>
          <a:noFill/>
        </p:spPr>
        <p:txBody>
          <a:bodyPr wrap="square" lIns="10287" tIns="10287" rIns="10287" bIns="10287">
            <a:spAutoFit/>
          </a:bodyPr>
          <a:lstStyle/>
          <a:p>
            <a:pPr>
              <a:spcAft>
                <a:spcPts val="375"/>
              </a:spcAft>
              <a:defRPr sz="1100" b="1">
                <a:solidFill>
                  <a:srgbClr val="2563EB"/>
                </a:solidFill>
                <a:latin typeface="Arial"/>
              </a:defRPr>
            </a:pPr>
            <a:r>
              <a:rPr sz="825" cap="none">
                <a:latin typeface="Arial"/>
              </a:rPr>
              <a:t>Next topology</a:t>
            </a:r>
          </a:p>
        </p:txBody>
      </p:sp>
      <p:sp>
        <p:nvSpPr>
          <p:cNvPr id="18" name="TextBox 17"/>
          <p:cNvSpPr txBox="1"/>
          <p:nvPr/>
        </p:nvSpPr>
        <p:spPr>
          <a:xfrm>
            <a:off x="3353562" y="2146554"/>
            <a:ext cx="2434590" cy="251607"/>
          </a:xfrm>
          <a:prstGeom prst="rect">
            <a:avLst/>
          </a:prstGeom>
          <a:noFill/>
        </p:spPr>
        <p:txBody>
          <a:bodyPr wrap="square" lIns="10287" tIns="10287" rIns="10287" bIns="10287">
            <a:spAutoFit/>
          </a:bodyPr>
          <a:lstStyle/>
          <a:p>
            <a:pPr>
              <a:spcAft>
                <a:spcPts val="375"/>
              </a:spcAft>
              <a:defRPr sz="2000" b="1">
                <a:solidFill>
                  <a:srgbClr val="2563EB"/>
                </a:solidFill>
                <a:latin typeface="Arial"/>
              </a:defRPr>
            </a:pPr>
            <a:r>
              <a:rPr sz="1500" cap="none">
                <a:latin typeface="Arial"/>
              </a:rPr>
              <a:t>E/P/D</a:t>
            </a:r>
          </a:p>
        </p:txBody>
      </p:sp>
      <p:sp>
        <p:nvSpPr>
          <p:cNvPr id="19" name="TextBox 18"/>
          <p:cNvSpPr txBox="1"/>
          <p:nvPr/>
        </p:nvSpPr>
        <p:spPr>
          <a:xfrm>
            <a:off x="3353562" y="2599182"/>
            <a:ext cx="2434590" cy="959493"/>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Encode / Prefill / Decode</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Extend role-based serving</a:t>
            </a:r>
          </a:p>
          <a:p>
            <a:pPr>
              <a:spcAft>
                <a:spcPts val="375"/>
              </a:spcAft>
              <a:defRPr sz="1700" b="0">
                <a:solidFill>
                  <a:srgbClr val="172941"/>
                </a:solidFill>
                <a:latin typeface="Arial"/>
              </a:defRPr>
            </a:pPr>
            <a:r>
              <a:rPr sz="1275" cap="none">
                <a:latin typeface="Arial"/>
              </a:rPr>
              <a:t>to richer inference topologies.</a:t>
            </a:r>
          </a:p>
        </p:txBody>
      </p:sp>
      <p:sp>
        <p:nvSpPr>
          <p:cNvPr id="20" name="Rounded Rectangle 19"/>
          <p:cNvSpPr/>
          <p:nvPr/>
        </p:nvSpPr>
        <p:spPr>
          <a:xfrm>
            <a:off x="6055614" y="1611630"/>
            <a:ext cx="2708910" cy="2551176"/>
          </a:xfrm>
          <a:prstGeom prst="roundRect">
            <a:avLst>
              <a:gd name="adj" fmla="val 10000"/>
            </a:avLst>
          </a:prstGeom>
          <a:solidFill>
            <a:srgbClr val="FFFFFF"/>
          </a:solidFill>
          <a:ln w="12700">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1" name="Rectangle 20"/>
          <p:cNvSpPr/>
          <p:nvPr/>
        </p:nvSpPr>
        <p:spPr>
          <a:xfrm>
            <a:off x="6179058" y="1748790"/>
            <a:ext cx="260604" cy="44577"/>
          </a:xfrm>
          <a:prstGeom prst="rect">
            <a:avLst/>
          </a:prstGeom>
          <a:solidFill>
            <a:srgbClr val="7354B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050"/>
          </a:p>
        </p:txBody>
      </p:sp>
      <p:sp>
        <p:nvSpPr>
          <p:cNvPr id="22" name="TextBox 21"/>
          <p:cNvSpPr txBox="1"/>
          <p:nvPr/>
        </p:nvSpPr>
        <p:spPr>
          <a:xfrm>
            <a:off x="6192773" y="1865376"/>
            <a:ext cx="2434590" cy="147733"/>
          </a:xfrm>
          <a:prstGeom prst="rect">
            <a:avLst/>
          </a:prstGeom>
          <a:noFill/>
        </p:spPr>
        <p:txBody>
          <a:bodyPr wrap="square" lIns="10287" tIns="10287" rIns="10287" bIns="10287">
            <a:spAutoFit/>
          </a:bodyPr>
          <a:lstStyle/>
          <a:p>
            <a:pPr>
              <a:spcAft>
                <a:spcPts val="375"/>
              </a:spcAft>
              <a:defRPr sz="1100" b="1">
                <a:solidFill>
                  <a:srgbClr val="7354B8"/>
                </a:solidFill>
                <a:latin typeface="Arial"/>
              </a:defRPr>
            </a:pPr>
            <a:r>
              <a:rPr sz="825" cap="none">
                <a:latin typeface="Arial"/>
              </a:rPr>
              <a:t>At larger scale</a:t>
            </a:r>
          </a:p>
        </p:txBody>
      </p:sp>
      <p:sp>
        <p:nvSpPr>
          <p:cNvPr id="23" name="TextBox 22"/>
          <p:cNvSpPr txBox="1"/>
          <p:nvPr/>
        </p:nvSpPr>
        <p:spPr>
          <a:xfrm>
            <a:off x="6192773" y="2146554"/>
            <a:ext cx="2434590" cy="251607"/>
          </a:xfrm>
          <a:prstGeom prst="rect">
            <a:avLst/>
          </a:prstGeom>
          <a:noFill/>
        </p:spPr>
        <p:txBody>
          <a:bodyPr wrap="square" lIns="10287" tIns="10287" rIns="10287" bIns="10287">
            <a:spAutoFit/>
          </a:bodyPr>
          <a:lstStyle/>
          <a:p>
            <a:pPr>
              <a:spcAft>
                <a:spcPts val="375"/>
              </a:spcAft>
              <a:defRPr sz="2000" b="1">
                <a:solidFill>
                  <a:srgbClr val="7354B8"/>
                </a:solidFill>
                <a:latin typeface="Arial"/>
              </a:defRPr>
            </a:pPr>
            <a:r>
              <a:rPr sz="1500" cap="none">
                <a:latin typeface="Arial"/>
              </a:rPr>
              <a:t>Larger-scale systems</a:t>
            </a:r>
          </a:p>
        </p:txBody>
      </p:sp>
      <p:sp>
        <p:nvSpPr>
          <p:cNvPr id="24" name="TextBox 23"/>
          <p:cNvSpPr txBox="1"/>
          <p:nvPr/>
        </p:nvSpPr>
        <p:spPr>
          <a:xfrm>
            <a:off x="6192773" y="2599182"/>
            <a:ext cx="2434590" cy="1206997"/>
          </a:xfrm>
          <a:prstGeom prst="rect">
            <a:avLst/>
          </a:prstGeom>
          <a:noFill/>
        </p:spPr>
        <p:txBody>
          <a:bodyPr wrap="square" lIns="10287" tIns="10287" rIns="10287" bIns="10287">
            <a:spAutoFit/>
          </a:bodyPr>
          <a:lstStyle/>
          <a:p>
            <a:pPr>
              <a:spcAft>
                <a:spcPts val="375"/>
              </a:spcAft>
              <a:defRPr sz="1700" b="0">
                <a:solidFill>
                  <a:srgbClr val="172941"/>
                </a:solidFill>
                <a:latin typeface="Arial"/>
              </a:defRPr>
            </a:pPr>
            <a:r>
              <a:rPr sz="1275" cap="none">
                <a:latin typeface="Arial"/>
              </a:rPr>
              <a:t>Wide Expert Parallelism</a:t>
            </a:r>
          </a:p>
          <a:p>
            <a:pPr>
              <a:spcAft>
                <a:spcPts val="375"/>
              </a:spcAft>
              <a:defRPr sz="1700" b="0">
                <a:solidFill>
                  <a:srgbClr val="172941"/>
                </a:solidFill>
                <a:latin typeface="Arial"/>
              </a:defRPr>
            </a:pPr>
            <a:endParaRPr sz="1275"/>
          </a:p>
          <a:p>
            <a:pPr>
              <a:spcAft>
                <a:spcPts val="375"/>
              </a:spcAft>
              <a:defRPr sz="1700" b="0">
                <a:solidFill>
                  <a:srgbClr val="172941"/>
                </a:solidFill>
                <a:latin typeface="Arial"/>
              </a:defRPr>
            </a:pPr>
            <a:r>
              <a:rPr sz="1275" cap="none">
                <a:latin typeface="Arial"/>
              </a:rPr>
              <a:t>Cross-node transport</a:t>
            </a:r>
          </a:p>
          <a:p>
            <a:pPr>
              <a:spcAft>
                <a:spcPts val="375"/>
              </a:spcAft>
              <a:defRPr sz="1700" b="0">
                <a:solidFill>
                  <a:srgbClr val="172941"/>
                </a:solidFill>
                <a:latin typeface="Arial"/>
              </a:defRPr>
            </a:pPr>
            <a:r>
              <a:rPr sz="1275" cap="none">
                <a:latin typeface="Arial"/>
              </a:rPr>
              <a:t>and communication</a:t>
            </a:r>
          </a:p>
          <a:p>
            <a:pPr>
              <a:spcAft>
                <a:spcPts val="375"/>
              </a:spcAft>
              <a:defRPr sz="1700" b="0">
                <a:solidFill>
                  <a:srgbClr val="172941"/>
                </a:solidFill>
                <a:latin typeface="Arial"/>
              </a:defRPr>
            </a:pPr>
            <a:r>
              <a:rPr sz="1275" cap="none">
                <a:latin typeface="Arial"/>
              </a:rPr>
              <a:t>optimization</a:t>
            </a:r>
          </a:p>
        </p:txBody>
      </p:sp>
      <p:sp>
        <p:nvSpPr>
          <p:cNvPr id="25" name="TextBox 2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26" name="TextBox 2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46 / 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539496"/>
            <a:ext cx="8412480" cy="420624"/>
          </a:xfrm>
          <a:prstGeom prst="rect">
            <a:avLst/>
          </a:prstGeom>
          <a:noFill/>
        </p:spPr>
        <p:txBody>
          <a:bodyPr wrap="square" lIns="0" rIns="0" tIns="0" bIns="0">
            <a:spAutoFit/>
          </a:bodyPr>
          <a:lstStyle/>
          <a:p>
            <a:pPr>
              <a:spcBef>
                <a:spcPts val="0"/>
              </a:spcBef>
              <a:spcAft>
                <a:spcPts val="300"/>
              </a:spcAft>
            </a:pPr>
            <a:r>
              <a:rPr sz="2400" b="1" cap="none">
                <a:solidFill>
                  <a:srgbClr val="142C46"/>
                </a:solidFill>
                <a:latin typeface="Arial"/>
              </a:rPr>
              <a:t>Summary</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Bef>
                <a:spcPts val="0"/>
              </a:spcBef>
              <a:spcAft>
                <a:spcPts val="300"/>
              </a:spcAft>
            </a:pPr>
            <a:r>
              <a:rPr sz="1400" b="0" cap="none">
                <a:solidFill>
                  <a:srgbClr val="52677D"/>
                </a:solidFill>
                <a:latin typeface="Arial"/>
              </a:rPr>
              <a:t>Three takeaways for operating P/D on Kubernetes</a:t>
            </a:r>
          </a:p>
        </p:txBody>
      </p:sp>
      <p:sp>
        <p:nvSpPr>
          <p:cNvPr id="4" name="Rounded Rectangle 3"/>
          <p:cNvSpPr/>
          <p:nvPr/>
        </p:nvSpPr>
        <p:spPr>
          <a:xfrm>
            <a:off x="411480" y="1572768"/>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76072" y="1746504"/>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346CEC"/>
                </a:solidFill>
                <a:latin typeface="Arial"/>
              </a:rPr>
              <a:t>01</a:t>
            </a:r>
          </a:p>
        </p:txBody>
      </p:sp>
      <p:sp>
        <p:nvSpPr>
          <p:cNvPr id="6" name="TextBox 5"/>
          <p:cNvSpPr txBox="1"/>
          <p:nvPr/>
        </p:nvSpPr>
        <p:spPr>
          <a:xfrm>
            <a:off x="1133856" y="1664208"/>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346CEC"/>
                </a:solidFill>
                <a:latin typeface="Arial"/>
              </a:rPr>
              <a:t>Separate capacity, protect latency</a:t>
            </a:r>
          </a:p>
        </p:txBody>
      </p:sp>
      <p:sp>
        <p:nvSpPr>
          <p:cNvPr id="7" name="TextBox 6"/>
          <p:cNvSpPr txBox="1"/>
          <p:nvPr/>
        </p:nvSpPr>
        <p:spPr>
          <a:xfrm>
            <a:off x="1133856" y="1993392"/>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Prefill shapes time to first token; decode shapes token delivery.</a:t>
            </a:r>
          </a:p>
        </p:txBody>
      </p:sp>
      <p:sp>
        <p:nvSpPr>
          <p:cNvPr id="8" name="Rounded Rectangle 7"/>
          <p:cNvSpPr/>
          <p:nvPr/>
        </p:nvSpPr>
        <p:spPr>
          <a:xfrm>
            <a:off x="411480" y="2432304"/>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2606040"/>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168C96"/>
                </a:solidFill>
                <a:latin typeface="Arial"/>
              </a:rPr>
              <a:t>02</a:t>
            </a:r>
          </a:p>
        </p:txBody>
      </p:sp>
      <p:sp>
        <p:nvSpPr>
          <p:cNvPr id="10" name="TextBox 9"/>
          <p:cNvSpPr txBox="1"/>
          <p:nvPr/>
        </p:nvSpPr>
        <p:spPr>
          <a:xfrm>
            <a:off x="1133856" y="2523744"/>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168C96"/>
                </a:solidFill>
                <a:latin typeface="Arial"/>
              </a:rPr>
              <a:t>Compose clear responsibilities</a:t>
            </a:r>
          </a:p>
        </p:txBody>
      </p:sp>
      <p:sp>
        <p:nvSpPr>
          <p:cNvPr id="11" name="TextBox 10"/>
          <p:cNvSpPr txBox="1"/>
          <p:nvPr/>
        </p:nvSpPr>
        <p:spPr>
          <a:xfrm>
            <a:off x="1133856" y="2852928"/>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KAITO manages roles; llm-d routes; vLLM + NIXL execute and move KV.</a:t>
            </a:r>
          </a:p>
        </p:txBody>
      </p:sp>
      <p:sp>
        <p:nvSpPr>
          <p:cNvPr id="12" name="Rounded Rectangle 11"/>
          <p:cNvSpPr/>
          <p:nvPr/>
        </p:nvSpPr>
        <p:spPr>
          <a:xfrm>
            <a:off x="411480" y="3291839"/>
            <a:ext cx="8321040" cy="749808"/>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 y="3465575"/>
            <a:ext cx="457200" cy="320040"/>
          </a:xfrm>
          <a:prstGeom prst="rect">
            <a:avLst/>
          </a:prstGeom>
          <a:noFill/>
        </p:spPr>
        <p:txBody>
          <a:bodyPr wrap="square" lIns="0" rIns="0" tIns="0" bIns="0">
            <a:spAutoFit/>
          </a:bodyPr>
          <a:lstStyle/>
          <a:p>
            <a:pPr>
              <a:spcBef>
                <a:spcPts val="0"/>
              </a:spcBef>
              <a:spcAft>
                <a:spcPts val="300"/>
              </a:spcAft>
            </a:pPr>
            <a:r>
              <a:rPr sz="1900" b="1" cap="none">
                <a:solidFill>
                  <a:srgbClr val="8060C3"/>
                </a:solidFill>
                <a:latin typeface="Arial"/>
              </a:rPr>
              <a:t>03</a:t>
            </a:r>
          </a:p>
        </p:txBody>
      </p:sp>
      <p:sp>
        <p:nvSpPr>
          <p:cNvPr id="14" name="TextBox 13"/>
          <p:cNvSpPr txBox="1"/>
          <p:nvPr/>
        </p:nvSpPr>
        <p:spPr>
          <a:xfrm>
            <a:off x="1133856" y="3383279"/>
            <a:ext cx="7315200" cy="274320"/>
          </a:xfrm>
          <a:prstGeom prst="rect">
            <a:avLst/>
          </a:prstGeom>
          <a:noFill/>
        </p:spPr>
        <p:txBody>
          <a:bodyPr wrap="square" lIns="0" rIns="0" tIns="0" bIns="0">
            <a:spAutoFit/>
          </a:bodyPr>
          <a:lstStyle/>
          <a:p>
            <a:pPr>
              <a:spcBef>
                <a:spcPts val="0"/>
              </a:spcBef>
              <a:spcAft>
                <a:spcPts val="300"/>
              </a:spcAft>
            </a:pPr>
            <a:r>
              <a:rPr sz="1800" b="1" cap="none">
                <a:solidFill>
                  <a:srgbClr val="8060C3"/>
                </a:solidFill>
                <a:latin typeface="Arial"/>
              </a:rPr>
              <a:t>Scale each role with safeguards</a:t>
            </a:r>
          </a:p>
        </p:txBody>
      </p:sp>
      <p:sp>
        <p:nvSpPr>
          <p:cNvPr id="15" name="TextBox 14"/>
          <p:cNvSpPr txBox="1"/>
          <p:nvPr/>
        </p:nvSpPr>
        <p:spPr>
          <a:xfrm>
            <a:off x="1133856" y="3712463"/>
            <a:ext cx="7315200" cy="246888"/>
          </a:xfrm>
          <a:prstGeom prst="rect">
            <a:avLst/>
          </a:prstGeom>
          <a:noFill/>
        </p:spPr>
        <p:txBody>
          <a:bodyPr wrap="square" lIns="0" rIns="0" tIns="0" bIns="0">
            <a:spAutoFit/>
          </a:bodyPr>
          <a:lstStyle/>
          <a:p>
            <a:pPr>
              <a:spcBef>
                <a:spcPts val="0"/>
              </a:spcBef>
              <a:spcAft>
                <a:spcPts val="300"/>
              </a:spcAft>
            </a:pPr>
            <a:r>
              <a:rPr sz="1400" b="0" cap="none">
                <a:solidFill>
                  <a:srgbClr val="142C46"/>
                </a:solidFill>
                <a:latin typeface="Arial"/>
              </a:rPr>
              <a:t>Use role-specific signals, model readiness and safe scale-down.</a:t>
            </a:r>
          </a:p>
        </p:txBody>
      </p:sp>
      <p:sp>
        <p:nvSpPr>
          <p:cNvPr id="16" name="TextBox 15"/>
          <p:cNvSpPr txBox="1"/>
          <p:nvPr/>
        </p:nvSpPr>
        <p:spPr>
          <a:xfrm>
            <a:off x="521207" y="4279392"/>
            <a:ext cx="8101583" cy="457200"/>
          </a:xfrm>
          <a:prstGeom prst="rect">
            <a:avLst/>
          </a:prstGeom>
          <a:noFill/>
        </p:spPr>
        <p:txBody>
          <a:bodyPr wrap="square" lIns="0" rIns="0" tIns="0" bIns="0">
            <a:spAutoFit/>
          </a:bodyPr>
          <a:lstStyle/>
          <a:p>
            <a:pPr>
              <a:spcBef>
                <a:spcPts val="0"/>
              </a:spcBef>
              <a:spcAft>
                <a:spcPts val="300"/>
              </a:spcAft>
            </a:pPr>
            <a:r>
              <a:rPr sz="1400" b="1" cap="none">
                <a:solidFill>
                  <a:srgbClr val="142C46"/>
                </a:solidFill>
                <a:latin typeface="Arial"/>
              </a:rPr>
              <a:t>Validate P/D against aggregated serving at matched workload, cost and latency targets.</a:t>
            </a:r>
          </a:p>
        </p:txBody>
      </p:sp>
      <p:sp>
        <p:nvSpPr>
          <p:cNvPr id="17" name="TextBox 16"/>
          <p:cNvSpPr txBox="1"/>
          <p:nvPr/>
        </p:nvSpPr>
        <p:spPr>
          <a:xfrm>
            <a:off x="384048" y="4901184"/>
            <a:ext cx="7680960" cy="146304"/>
          </a:xfrm>
          <a:prstGeom prst="rect">
            <a:avLst/>
          </a:prstGeom>
          <a:noFill/>
        </p:spPr>
        <p:txBody>
          <a:bodyPr wrap="square" lIns="0" rIns="0" t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8" name="TextBox 17"/>
          <p:cNvSpPr txBox="1"/>
          <p:nvPr/>
        </p:nvSpPr>
        <p:spPr>
          <a:xfrm>
            <a:off x="8257031" y="4873752"/>
            <a:ext cx="502920" cy="201168"/>
          </a:xfrm>
          <a:prstGeom prst="rect">
            <a:avLst/>
          </a:prstGeom>
          <a:noFill/>
        </p:spPr>
        <p:txBody>
          <a:bodyPr wrap="square" lIns="0" rIns="0" tIns="0" bIns="0">
            <a:spAutoFit/>
          </a:bodyPr>
          <a:lstStyle/>
          <a:p>
            <a:pPr algn="r">
              <a:spcBef>
                <a:spcPts val="0"/>
              </a:spcBef>
              <a:spcAft>
                <a:spcPts val="300"/>
              </a:spcAft>
            </a:pPr>
            <a:r>
              <a:rPr sz="800" b="0" cap="none">
                <a:solidFill>
                  <a:srgbClr val="52677D"/>
                </a:solidFill>
                <a:latin typeface="Arial"/>
              </a:rPr>
              <a:t>47 / 49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40080" y="1371600"/>
            <a:ext cx="7863840" cy="685800"/>
          </a:xfrm>
          <a:prstGeom prst="rect">
            <a:avLst/>
          </a:prstGeom>
          <a:noFill/>
        </p:spPr>
        <p:txBody>
          <a:bodyPr wrap="square" lIns="0" rIns="0" tIns="0" bIns="0">
            <a:spAutoFit/>
          </a:bodyPr>
          <a:lstStyle/>
          <a:p>
            <a:pPr>
              <a:spcAft>
                <a:spcPts val="500"/>
              </a:spcAft>
              <a:defRPr sz="3800" b="1">
                <a:solidFill>
                  <a:srgbClr val="142C46"/>
                </a:solidFill>
                <a:latin typeface="Arial"/>
              </a:defRPr>
            </a:pPr>
            <a:r>
              <a:rPr cap="none"/>
              <a:t>Thank you</a:t>
            </a:r>
          </a:p>
        </p:txBody>
      </p:sp>
      <p:sp>
        <p:nvSpPr>
          <p:cNvPr id="3" name="TextBox 2"/>
          <p:cNvSpPr txBox="1"/>
          <p:nvPr/>
        </p:nvSpPr>
        <p:spPr>
          <a:xfrm>
            <a:off x="658368" y="2267712"/>
            <a:ext cx="7863840" cy="502920"/>
          </a:xfrm>
          <a:prstGeom prst="rect">
            <a:avLst/>
          </a:prstGeom>
          <a:noFill/>
        </p:spPr>
        <p:txBody>
          <a:bodyPr wrap="square" lIns="0" rIns="0" tIns="0" bIns="0">
            <a:spAutoFit/>
          </a:bodyPr>
          <a:lstStyle/>
          <a:p>
            <a:pPr>
              <a:spcAft>
                <a:spcPts val="500"/>
              </a:spcAft>
              <a:defRPr sz="2500" b="0">
                <a:solidFill>
                  <a:srgbClr val="346CEC"/>
                </a:solidFill>
                <a:latin typeface="Arial"/>
              </a:defRPr>
            </a:pPr>
            <a:r>
              <a:rPr cap="none"/>
              <a:t>Questions and discussion</a:t>
            </a:r>
          </a:p>
        </p:txBody>
      </p:sp>
      <p:sp>
        <p:nvSpPr>
          <p:cNvPr id="4" name="TextBox 3"/>
          <p:cNvSpPr txBox="1"/>
          <p:nvPr/>
        </p:nvSpPr>
        <p:spPr>
          <a:xfrm>
            <a:off x="667512" y="3264408"/>
            <a:ext cx="7772400" cy="594360"/>
          </a:xfrm>
          <a:prstGeom prst="rect">
            <a:avLst/>
          </a:prstGeom>
          <a:noFill/>
        </p:spPr>
        <p:txBody>
          <a:bodyPr wrap="square" lIns="0" rIns="0" tIns="0" bIns="0">
            <a:spAutoFit/>
          </a:bodyPr>
          <a:lstStyle/>
          <a:p>
            <a:pPr>
              <a:spcAft>
                <a:spcPts val="500"/>
              </a:spcAft>
              <a:defRPr sz="1700" b="0">
                <a:solidFill>
                  <a:srgbClr val="52677D"/>
                </a:solidFill>
                <a:latin typeface="Arial"/>
              </a:defRPr>
            </a:pPr>
            <a:r>
              <a:rPr cap="none"/>
              <a:t>Andy Zhang  •  Linbo He</a:t>
            </a:r>
          </a:p>
          <a:p>
            <a:pPr>
              <a:spcAft>
                <a:spcPts val="500"/>
              </a:spcAft>
              <a:defRPr sz="1700" b="0">
                <a:solidFill>
                  <a:srgbClr val="52677D"/>
                </a:solidFill>
                <a:latin typeface="Arial"/>
              </a:defRPr>
            </a:pPr>
            <a:r>
              <a:rPr cap="none"/>
              <a:t>Microsoft  |  KAITO + llm-d</a:t>
            </a:r>
          </a:p>
        </p:txBody>
      </p:sp>
      <p:sp>
        <p:nvSpPr>
          <p:cNvPr id="5" name="TextBox 4"/>
          <p:cNvSpPr txBox="1"/>
          <p:nvPr/>
        </p:nvSpPr>
        <p:spPr>
          <a:xfrm>
            <a:off x="384048" y="4901184"/>
            <a:ext cx="7680960" cy="146304"/>
          </a:xfrm>
          <a:prstGeom prst="rect">
            <a:avLst/>
          </a:prstGeom>
          <a:noFill/>
        </p:spPr>
        <p:txBody>
          <a:bodyPr wrap="square" lIns="0" rIns="0" tIns="0" bIns="0">
            <a:spAutoFit/>
          </a:bodyPr>
          <a:lstStyle/>
          <a:p>
            <a:pPr>
              <a:spcAft>
                <a:spcPts val="500"/>
              </a:spcAft>
              <a:defRPr sz="650" b="0">
                <a:solidFill>
                  <a:srgbClr val="52677D"/>
                </a:solidFill>
                <a:latin typeface="Arial"/>
              </a:defRPr>
            </a:pPr>
            <a:r>
              <a:t>Cloud Native AI + Inference Day North America 2026  /  KAITO + llm-d</a:t>
            </a:r>
          </a:p>
        </p:txBody>
      </p:sp>
      <p:sp>
        <p:nvSpPr>
          <p:cNvPr id="6" name="TextBox 5"/>
          <p:cNvSpPr txBox="1"/>
          <p:nvPr/>
        </p:nvSpPr>
        <p:spPr>
          <a:xfrm>
            <a:off x="8257031" y="4873752"/>
            <a:ext cx="502920" cy="201168"/>
          </a:xfrm>
          <a:prstGeom prst="rect">
            <a:avLst/>
          </a:prstGeom>
          <a:noFill/>
        </p:spPr>
        <p:txBody>
          <a:bodyPr wrap="square" lIns="0" rIns="0" tIns="0" bIns="0">
            <a:spAutoFit/>
          </a:bodyPr>
          <a:lstStyle/>
          <a:p>
            <a:pPr algn="r">
              <a:spcAft>
                <a:spcPts val="500"/>
              </a:spcAft>
              <a:defRPr sz="800" b="0">
                <a:solidFill>
                  <a:srgbClr val="52677D"/>
                </a:solidFill>
                <a:latin typeface="Arial"/>
              </a:defRPr>
            </a:pPr>
            <a:r>
              <a:t>49 / 49</a:t>
            </a:r>
          </a:p>
        </p:txBody>
      </p:sp>
    </p:spTree>
    <p:extLst>
      <p:ext uri="{BB962C8B-B14F-4D97-AF65-F5344CB8AC3E}">
        <p14:creationId xmlns:p14="http://schemas.microsoft.com/office/powerpoint/2010/main" val="3810862077"/>
      </p:ext>
    </p:extLst>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539496"/>
            <a:ext cx="8412480" cy="420624"/>
          </a:xfrm>
          <a:prstGeom prst="rect">
            <a:avLst/>
          </a:prstGeom>
          <a:noFill/>
        </p:spPr>
        <p:txBody>
          <a:bodyPr wrap="square" lIns="0" rIns="0" tIns="0" bIns="0">
            <a:spAutoFit/>
          </a:bodyPr>
          <a:lstStyle/>
          <a:p>
            <a:pPr>
              <a:spcBef>
                <a:spcPts val="0"/>
              </a:spcBef>
              <a:spcAft>
                <a:spcPts val="300"/>
              </a:spcAft>
            </a:pPr>
            <a:r>
              <a:rPr sz="2400" b="1" cap="none">
                <a:solidFill>
                  <a:srgbClr val="142C46"/>
                </a:solidFill>
                <a:latin typeface="Arial"/>
              </a:rPr>
              <a:t>Resources</a:t>
            </a:r>
          </a:p>
        </p:txBody>
      </p:sp>
      <p:sp>
        <p:nvSpPr>
          <p:cNvPr id="3" name="TextBox 2"/>
          <p:cNvSpPr txBox="1"/>
          <p:nvPr/>
        </p:nvSpPr>
        <p:spPr>
          <a:xfrm>
            <a:off x="384048" y="1033271"/>
            <a:ext cx="8321040" cy="365760"/>
          </a:xfrm>
          <a:prstGeom prst="rect">
            <a:avLst/>
          </a:prstGeom>
          <a:noFill/>
        </p:spPr>
        <p:txBody>
          <a:bodyPr wrap="square" lIns="0" rIns="0" tIns="0" bIns="0">
            <a:spAutoFit/>
          </a:bodyPr>
          <a:lstStyle/>
          <a:p>
            <a:pPr>
              <a:spcBef>
                <a:spcPts val="0"/>
              </a:spcBef>
              <a:spcAft>
                <a:spcPts val="300"/>
              </a:spcAft>
            </a:pPr>
            <a:r>
              <a:rPr sz="1400" b="0" cap="none">
                <a:solidFill>
                  <a:srgbClr val="52677D"/>
                </a:solidFill>
                <a:latin typeface="Arial"/>
              </a:rPr>
              <a:t>Explore the projects and try KAITO + llm-d P/D serving</a:t>
            </a:r>
          </a:p>
        </p:txBody>
      </p:sp>
      <p:sp>
        <p:nvSpPr>
          <p:cNvPr id="4" name="Rounded Rectangle 3"/>
          <p:cNvSpPr/>
          <p:nvPr/>
        </p:nvSpPr>
        <p:spPr>
          <a:xfrm>
            <a:off x="411480" y="1554480"/>
            <a:ext cx="8321040"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4" y="1664207"/>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346CEC"/>
                </a:solidFill>
                <a:latin typeface="Arial"/>
              </a:rPr>
              <a:t>llm-d  |  CNCF Sandbox</a:t>
            </a:r>
          </a:p>
        </p:txBody>
      </p:sp>
      <p:sp>
        <p:nvSpPr>
          <p:cNvPr id="6" name="TextBox 5"/>
          <p:cNvSpPr txBox="1"/>
          <p:nvPr/>
        </p:nvSpPr>
        <p:spPr>
          <a:xfrm>
            <a:off x="603504" y="2020824"/>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2"/>
              </a:rPr>
              <a:t>https://github.com/llm-d</a:t>
            </a:r>
          </a:p>
        </p:txBody>
      </p:sp>
      <p:sp>
        <p:nvSpPr>
          <p:cNvPr id="7" name="Rounded Rectangle 6"/>
          <p:cNvSpPr/>
          <p:nvPr/>
        </p:nvSpPr>
        <p:spPr>
          <a:xfrm>
            <a:off x="411480" y="2505456"/>
            <a:ext cx="8321040"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 y="2615184"/>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168C96"/>
                </a:solidFill>
                <a:latin typeface="Arial"/>
              </a:rPr>
              <a:t>KAITO  |  CNCF Sandbox</a:t>
            </a:r>
          </a:p>
        </p:txBody>
      </p:sp>
      <p:sp>
        <p:nvSpPr>
          <p:cNvPr id="9" name="TextBox 8"/>
          <p:cNvSpPr txBox="1"/>
          <p:nvPr/>
        </p:nvSpPr>
        <p:spPr>
          <a:xfrm>
            <a:off x="603504" y="2971800"/>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3"/>
              </a:rPr>
              <a:t>https://github.com/kaito-project/kaito</a:t>
            </a:r>
          </a:p>
        </p:txBody>
      </p:sp>
      <p:sp>
        <p:nvSpPr>
          <p:cNvPr id="10" name="Rounded Rectangle 9"/>
          <p:cNvSpPr/>
          <p:nvPr/>
        </p:nvSpPr>
        <p:spPr>
          <a:xfrm>
            <a:off x="411480" y="3456432"/>
            <a:ext cx="8321040" cy="804672"/>
          </a:xfrm>
          <a:prstGeom prst="roundRect">
            <a:avLst/>
          </a:prstGeom>
          <a:solidFill>
            <a:srgbClr val="EEF3FA"/>
          </a:solidFill>
          <a:ln>
            <a:solidFill>
              <a:srgbClr val="D9E2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3504" y="3566160"/>
            <a:ext cx="7936992" cy="274320"/>
          </a:xfrm>
          <a:prstGeom prst="rect">
            <a:avLst/>
          </a:prstGeom>
          <a:noFill/>
        </p:spPr>
        <p:txBody>
          <a:bodyPr wrap="square" lIns="0" rIns="0" tIns="0" bIns="0">
            <a:spAutoFit/>
          </a:bodyPr>
          <a:lstStyle/>
          <a:p>
            <a:pPr>
              <a:spcBef>
                <a:spcPts val="0"/>
              </a:spcBef>
              <a:spcAft>
                <a:spcPts val="300"/>
              </a:spcAft>
            </a:pPr>
            <a:r>
              <a:rPr sz="1800" b="1" cap="none">
                <a:solidFill>
                  <a:srgbClr val="8060C3"/>
                </a:solidFill>
                <a:latin typeface="Arial"/>
              </a:rPr>
              <a:t>KAITO + llm-d: P/D guide</a:t>
            </a:r>
          </a:p>
        </p:txBody>
      </p:sp>
      <p:sp>
        <p:nvSpPr>
          <p:cNvPr id="12" name="TextBox 11"/>
          <p:cNvSpPr txBox="1"/>
          <p:nvPr/>
        </p:nvSpPr>
        <p:spPr>
          <a:xfrm>
            <a:off x="603504" y="3922776"/>
            <a:ext cx="7936992" cy="246888"/>
          </a:xfrm>
          <a:prstGeom prst="rect">
            <a:avLst/>
          </a:prstGeom>
          <a:noFill/>
        </p:spPr>
        <p:txBody>
          <a:bodyPr wrap="square" lIns="0" rIns="0" tIns="0" bIns="0">
            <a:spAutoFit/>
          </a:bodyPr>
          <a:lstStyle/>
          <a:p>
            <a:pPr>
              <a:spcBef>
                <a:spcPts val="0"/>
              </a:spcBef>
              <a:spcAft>
                <a:spcPts val="300"/>
              </a:spcAft>
            </a:pPr>
            <a:r>
              <a:rPr sz="1350" b="0" cap="none" u="sng">
                <a:solidFill>
                  <a:srgbClr val="346CEC"/>
                </a:solidFill>
                <a:latin typeface="Arial"/>
                <a:hlinkClick r:id="rId4"/>
              </a:rPr>
              <a:t>https://kaito-project.github.io/kaito/docs/prefill-decode-disaggregation/</a:t>
            </a:r>
          </a:p>
        </p:txBody>
      </p:sp>
      <p:sp>
        <p:nvSpPr>
          <p:cNvPr id="13" name="TextBox 12"/>
          <p:cNvSpPr txBox="1"/>
          <p:nvPr/>
        </p:nvSpPr>
        <p:spPr>
          <a:xfrm>
            <a:off x="384048" y="4901184"/>
            <a:ext cx="7680960" cy="146304"/>
          </a:xfrm>
          <a:prstGeom prst="rect">
            <a:avLst/>
          </a:prstGeom>
          <a:noFill/>
        </p:spPr>
        <p:txBody>
          <a:bodyPr wrap="square" lIns="0" rIns="0" tIns="0" bIns="0">
            <a:spAutoFit/>
          </a:bodyPr>
          <a:lstStyle/>
          <a:p>
            <a:pPr>
              <a:spcBef>
                <a:spcPts val="0"/>
              </a:spcBef>
              <a:spcAft>
                <a:spcPts val="300"/>
              </a:spcAft>
            </a:pPr>
            <a:r>
              <a:rPr sz="650" b="0" cap="none">
                <a:solidFill>
                  <a:srgbClr val="52677D"/>
                </a:solidFill>
                <a:latin typeface="Arial"/>
              </a:rPr>
              <a:t>Cloud Native AI + Inference Day North America 2026  /  KAITO + llm-d</a:t>
            </a:r>
          </a:p>
        </p:txBody>
      </p:sp>
      <p:sp>
        <p:nvSpPr>
          <p:cNvPr id="14" name="TextBox 13"/>
          <p:cNvSpPr txBox="1"/>
          <p:nvPr/>
        </p:nvSpPr>
        <p:spPr>
          <a:xfrm>
            <a:off x="8257031" y="4873752"/>
            <a:ext cx="502920" cy="201168"/>
          </a:xfrm>
          <a:prstGeom prst="rect">
            <a:avLst/>
          </a:prstGeom>
          <a:noFill/>
        </p:spPr>
        <p:txBody>
          <a:bodyPr wrap="square" lIns="0" rIns="0" tIns="0" bIns="0">
            <a:spAutoFit/>
          </a:bodyPr>
          <a:lstStyle/>
          <a:p>
            <a:pPr algn="r">
              <a:spcBef>
                <a:spcPts val="0"/>
              </a:spcBef>
              <a:spcAft>
                <a:spcPts val="300"/>
              </a:spcAft>
            </a:pPr>
            <a:r>
              <a:rPr sz="800" b="0" cap="none">
                <a:solidFill>
                  <a:srgbClr val="52677D"/>
                </a:solidFill>
                <a:latin typeface="Arial"/>
              </a:rPr>
              <a:t>48 / 49</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7799</TotalTime>
  <Words>16612</Words>
  <Application>Microsoft Office PowerPoint</Application>
  <PresentationFormat>On-screen Show (16:9)</PresentationFormat>
  <Paragraphs>1406</Paragraphs>
  <Slides>49</Slides>
  <Notes>48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49</vt:i4>
      </vt:variant>
    </vt:vector>
  </HeadingPairs>
  <TitlesOfParts>
    <vt:vector size="62" baseType="lpstr">
      <vt:lpstr>Noto Sans Symbols</vt:lpstr>
      <vt:lpstr>Red Hat Display</vt:lpstr>
      <vt:lpstr>Red Hat Display SemiBold</vt:lpstr>
      <vt:lpstr>Red Hat Text</vt:lpstr>
      <vt:lpstr>Red Hat Text Medium</vt:lpstr>
      <vt:lpstr>Aptos Display</vt:lpstr>
      <vt:lpstr>Arial</vt:lpstr>
      <vt:lpstr>Calibri</vt:lpstr>
      <vt:lpstr>Consolas</vt:lpstr>
      <vt:lpstr>Courier New</vt:lpstr>
      <vt:lpstr>IBM Plex Sans</vt:lpstr>
      <vt:lpstr>IBM Plex Sans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Production Distributed Inference Architecture</vt:lpstr>
      <vt:lpstr>LLM-D: Scheduling &amp; Distributed Inference</vt:lpstr>
      <vt:lpstr>LLM-D has achieved so far</vt:lpstr>
      <vt:lpstr>LLM-D “Well-lit” Paths</vt:lpstr>
      <vt:lpstr>What is KAITO?</vt:lpstr>
      <vt:lpstr>KAITO workload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llm-d composes vLLM and Gateway to enable P/D disaggregation</vt:lpstr>
      <vt:lpstr>Efficient KV Transfer in vLLM via NIXL</vt:lpstr>
      <vt:lpstr>PowerPoint Presentation</vt:lpstr>
      <vt:lpstr>PowerPoint Presentation</vt:lpstr>
      <vt:lpstr>KAITO autoscaling: keda-kaito-scaler</vt:lpstr>
      <vt:lpstr>KAITO autoscaling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Alex Contini</dc:creator>
  <cp:lastModifiedBy>Andy Zhang (OSTC)</cp:lastModifiedBy>
  <cp:revision>94</cp:revision>
  <dcterms:created xsi:type="dcterms:W3CDTF">2019-07-29T21:37:05Z</dcterms:created>
  <dcterms:modified xsi:type="dcterms:W3CDTF">2026-10-24T04:00:37Z</dcterms:modified>
</cp:coreProperties>
</file>