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5"/>
  </p:notesMasterIdLst>
  <p:sldIdLst>
    <p:sldId id="258" r:id="rId2"/>
    <p:sldId id="260" r:id="rId3"/>
    <p:sldId id="259" r:id="rId4"/>
    <p:sldId id="261" r:id="rId5"/>
    <p:sldId id="2147375730" r:id="rId6"/>
    <p:sldId id="2147375731" r:id="rId7"/>
    <p:sldId id="2147375740" r:id="rId8"/>
    <p:sldId id="2147375733" r:id="rId9"/>
    <p:sldId id="262" r:id="rId10"/>
    <p:sldId id="263" r:id="rId11"/>
    <p:sldId id="264" r:id="rId12"/>
    <p:sldId id="268" r:id="rId13"/>
    <p:sldId id="2147375741"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2" r:id="rId26"/>
    <p:sldId id="2147375723" r:id="rId27"/>
    <p:sldId id="2147375724" r:id="rId28"/>
    <p:sldId id="2147375725" r:id="rId29"/>
    <p:sldId id="295" r:id="rId30"/>
    <p:sldId id="277" r:id="rId31"/>
    <p:sldId id="2147375729" r:id="rId32"/>
    <p:sldId id="273" r:id="rId33"/>
    <p:sldId id="279" r:id="rId34"/>
    <p:sldId id="280" r:id="rId35"/>
    <p:sldId id="281" r:id="rId36"/>
    <p:sldId id="287" r:id="rId37"/>
    <p:sldId id="282" r:id="rId38"/>
    <p:sldId id="285" r:id="rId39"/>
    <p:sldId id="301" r:id="rId40"/>
    <p:sldId id="2147375736" r:id="rId41"/>
    <p:sldId id="266" r:id="rId42"/>
    <p:sldId id="265" r:id="rId43"/>
    <p:sldId id="283" r:id="rId44"/>
    <p:sldId id="2147375721" r:id="rId45"/>
    <p:sldId id="2147375719" r:id="rId46"/>
    <p:sldId id="2147375714" r:id="rId47"/>
    <p:sldId id="2147375726" r:id="rId48"/>
    <p:sldId id="296" r:id="rId49"/>
    <p:sldId id="2147375735" r:id="rId50"/>
    <p:sldId id="275" r:id="rId51"/>
    <p:sldId id="2147375697" r:id="rId52"/>
    <p:sldId id="284" r:id="rId53"/>
    <p:sldId id="2147375700" r:id="rId5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6"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OK, let's start now, this session is “</a:t>
            </a:r>
            <a:r>
              <a:rPr lang="en-US" altLang="zh-CN" sz="1200" b="0" cap="none" dirty="0">
                <a:solidFill>
                  <a:srgbClr val="142C46"/>
                </a:solidFill>
                <a:latin typeface="Arial"/>
              </a:rPr>
              <a:t>Prefill here, decode there</a:t>
            </a:r>
            <a:r>
              <a:rPr lang="en-US" altLang="zh-CN" sz="1200" b="1" cap="none" dirty="0">
                <a:solidFill>
                  <a:srgbClr val="142C46"/>
                </a:solidFill>
                <a:latin typeface="Arial"/>
              </a:rPr>
              <a:t>, </a:t>
            </a:r>
            <a:r>
              <a:rPr lang="en-US" altLang="zh-CN" sz="1200" cap="none" dirty="0">
                <a:solidFill>
                  <a:srgbClr val="142C46"/>
                </a:solidFill>
                <a:latin typeface="Arial"/>
              </a:rPr>
              <a:t>Kubernetes-native LLM inference with KAITO and </a:t>
            </a:r>
            <a:r>
              <a:rPr lang="en-US" altLang="zh-CN" sz="1200" cap="none" dirty="0" err="1">
                <a:solidFill>
                  <a:srgbClr val="142C46"/>
                </a:solidFill>
                <a:latin typeface="Arial"/>
              </a:rPr>
              <a:t>llm</a:t>
            </a:r>
            <a:r>
              <a:rPr lang="en-US" altLang="zh-CN" sz="1200" cap="none" dirty="0">
                <a:solidFill>
                  <a:srgbClr val="142C46"/>
                </a:solidFill>
                <a:latin typeface="Arial"/>
              </a:rPr>
              <a:t>-d”, I will explain what’s the prefill and decode processes in LLM inference, and how we implement this p/d disaggregation using KAITO and </a:t>
            </a:r>
            <a:r>
              <a:rPr lang="en-US" altLang="zh-CN" sz="1200" cap="none" dirty="0" err="1">
                <a:solidFill>
                  <a:srgbClr val="142C46"/>
                </a:solidFill>
                <a:latin typeface="Arial"/>
              </a:rPr>
              <a:t>llm</a:t>
            </a:r>
            <a:r>
              <a:rPr lang="en-US" altLang="zh-CN" sz="1200" cap="none" dirty="0">
                <a:solidFill>
                  <a:srgbClr val="142C46"/>
                </a:solidFill>
                <a:latin typeface="Arial"/>
              </a:rPr>
              <a:t>-d projects and how we perform autoscaling for these two processes </a:t>
            </a:r>
            <a:r>
              <a:rPr lang="zh-CN" altLang="zh-CN" sz="1200" b="0" i="0" u="none" strike="noStrike" cap="none" spc="0" dirty="0">
                <a:solidFill>
                  <a:srgbClr val="000000"/>
                </a:solidFill>
                <a:effectLst/>
                <a:latin typeface="Arial"/>
                <a:ea typeface="Arial"/>
                <a:cs typeface="Arial"/>
                <a:sym typeface="Arial"/>
              </a:rPr>
              <a:t>independently as traffic changes.</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To begin with, let me introduce myself. I am Andy Zhang, </a:t>
            </a:r>
            <a:r>
              <a:rPr lang="en-US" altLang="zh-CN" sz="1200" dirty="0"/>
              <a:t>Software Engineer </a:t>
            </a:r>
            <a:r>
              <a:rPr lang="en-US" sz="1200" dirty="0"/>
              <a:t>at Microsoft AKS team, and </a:t>
            </a:r>
            <a:r>
              <a:rPr lang="en-US" altLang="zh-CN" sz="1200" dirty="0"/>
              <a:t>I </a:t>
            </a:r>
            <a:r>
              <a:rPr lang="en-US" altLang="zh-CN" sz="1200"/>
              <a:t>am the </a:t>
            </a:r>
            <a:r>
              <a:rPr lang="en-US" altLang="zh-CN" sz="1200" dirty="0"/>
              <a:t>maintainer of KAITO and several CSI drivers.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Unfortunately, my co-presenter Linbo couldn’t join us because he cannot get his visa in time, so I’ll be presenting alone today.</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altLang="zh-CN" sz="1200" dirty="0"/>
          </a:p>
          <a:p>
            <a:pPr marL="457200" lvl="0" indent="-298450">
              <a:buClr>
                <a:srgbClr val="000000"/>
              </a:buClr>
              <a:buSzPts val="1100"/>
              <a:buFont typeface="Arial"/>
              <a:buChar char="●"/>
            </a:pPr>
            <a:endParaRPr lang="en-US" sz="1200" dirty="0"/>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457200" lvl="0" indent="-298450">
              <a:buClr>
                <a:srgbClr val="000000"/>
              </a:buClr>
              <a:buSzPts val="1100"/>
              <a:buFont typeface="Arial"/>
              <a:buChar char="●"/>
            </a:pPr>
            <a:r>
              <a:rPr lang="en-US" altLang="zh-CN" sz="1200" dirty="0"/>
              <a:t>Here’s the agenda. We’ll start with inference basics, what are the prefill and decode processes, and why it makes sense to separate them. Then, , I will  introduce </a:t>
            </a:r>
            <a:r>
              <a:rPr lang="en-US" altLang="zh-CN" sz="1200" dirty="0" err="1"/>
              <a:t>llm</a:t>
            </a:r>
            <a:r>
              <a:rPr lang="en-US" altLang="zh-CN" sz="1200" dirty="0"/>
              <a:t>-d and KAITO and show how they work together to support P/D disaggregation. Finally, I will explore how to scale prefill and decode independently when traffic changes.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lvl="0" indent="-298450">
              <a:buClr>
                <a:srgbClr val="000000"/>
              </a:buClr>
              <a:buSzPts val="1100"/>
              <a:buFont typeface="Arial"/>
              <a:buChar char="●"/>
            </a:pPr>
            <a:r>
              <a:rPr lang="en-US" altLang="zh-CN" sz="1200" dirty="0"/>
              <a:t>Here is an example for prefill process. </a:t>
            </a:r>
            <a:r>
              <a:rPr lang="en-US" sz="1200" dirty="0"/>
              <a:t>Our prompt is “What does Kubernetes do?” Assume one token per word, plus punctuation: five prompt positions. These word-level tokens are illustrative, not a real tokenizer’s output.</a:t>
            </a:r>
          </a:p>
          <a:p>
            <a:r>
              <a:rPr lang="en-US" sz="1200" dirty="0"/>
              <a:t>We process prompt positions together; each sees only itself and earlier positions. We cache attention keys and values for all five prompt positions at every layer. </a:t>
            </a:r>
          </a:p>
          <a:p>
            <a:pPr marL="158750" indent="0">
              <a:buNone/>
            </a:pPr>
            <a:r>
              <a:rPr lang="en-US" sz="1200" dirty="0"/>
              <a:t>       </a:t>
            </a:r>
            <a:r>
              <a:rPr lang="en-US" sz="1200" b="1" dirty="0"/>
              <a:t>Prefill process will use the final position’s scores to select “Kubernetes”. And then </a:t>
            </a:r>
            <a:r>
              <a:rPr lang="en-US" sz="1200" b="1" dirty="0" err="1"/>
              <a:t>dDecode</a:t>
            </a:r>
            <a:r>
              <a:rPr lang="en-US" sz="1200" b="1" dirty="0"/>
              <a:t> will consume it and cache its K/V.</a:t>
            </a:r>
          </a:p>
          <a:p>
            <a:endParaRPr lang="en-US" sz="1200" dirty="0"/>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Decode consumes “Kubernetes”, reads past KV, appends K/V for “Kubernetes” to each layer, and selects “helps”. Next, it consumes “helps” and selects “teams”. We cache the token we consume, not the one we just select. We reuse past KV.</a:t>
            </a:r>
          </a:p>
          <a:p>
            <a:r>
              <a:rPr lang="en-US" sz="1200" dirty="0"/>
              <a:t>Each selected token becomes the next input. Repeat until the answer is complete. Below, TTFT is the wait from the request to the first token. ITL is the time between token arrivals.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1" dirty="0"/>
              <a:t>The timeline below switches to the client’s view. The wait from sending the request to receiving ‘Kubernetes’ is time to first token, which is TTFT. The gaps between later arrivals are inter-token latency, which is ITL. They show why starting an answer quickly and keeping it flowing smoothly are two different goals. </a:t>
            </a:r>
            <a:endParaRPr lang="en-US" sz="1200" dirty="0"/>
          </a:p>
          <a:p>
            <a:endParaRPr lang="en-US" sz="1200"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We want answers to start quickly—and keep going smoothly. </a:t>
            </a:r>
          </a:p>
          <a:p>
            <a:pPr>
              <a:spcAft>
                <a:spcPts val="375"/>
              </a:spcAft>
              <a:defRPr sz="1700" b="0">
                <a:solidFill>
                  <a:srgbClr val="586A80"/>
                </a:solidFill>
                <a:latin typeface="Arial"/>
              </a:defRPr>
            </a:pPr>
            <a:r>
              <a:rPr lang="en-US" altLang="zh-CN" sz="1200" dirty="0"/>
              <a:t>Prefill determines </a:t>
            </a:r>
            <a:r>
              <a:rPr lang="en-US" altLang="zh-CN" sz="1200" cap="none" dirty="0">
                <a:latin typeface="Arial"/>
              </a:rPr>
              <a:t>how soon the answer starts, so it determines </a:t>
            </a:r>
            <a:r>
              <a:rPr lang="en-US" altLang="zh-CN" sz="1200" dirty="0"/>
              <a:t>time to first token, TTFT, and </a:t>
            </a:r>
            <a:r>
              <a:rPr lang="en-US" altLang="zh-CN" sz="1200" cap="none" dirty="0">
                <a:latin typeface="Arial"/>
              </a:rPr>
              <a:t>Prefill processes the input and is often compute-bound.</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dirty="0"/>
              <a:t>Decode determines whether the answer keeps flowing, </a:t>
            </a:r>
            <a:r>
              <a:rPr lang="en-US" altLang="zh-CN" sz="1200" cap="none" dirty="0">
                <a:latin typeface="Arial"/>
              </a:rPr>
              <a:t>so it determines </a:t>
            </a:r>
            <a:r>
              <a:rPr lang="en-US" altLang="zh-CN" sz="1200" dirty="0"/>
              <a:t>inter-token, ITL, and decode is often </a:t>
            </a:r>
            <a:r>
              <a:rPr lang="en-US" altLang="zh-CN" sz="1200" b="0" cap="none" dirty="0">
                <a:latin typeface="Arial"/>
              </a:rPr>
              <a:t>memory bandwidth bound</a:t>
            </a:r>
            <a:r>
              <a:rPr lang="en-US" altLang="zh-CN" sz="1200" dirty="0"/>
              <a:t>. Queueing and delivery matter too.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Our goal is to serve more requests while meeting both latency targets. SLO goodput means the number of requests per second that meet both targets. </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Delete</a:t>
            </a:r>
            <a:r>
              <a:rPr lang="en-US" sz="1200" dirty="0"/>
              <a:t>: If we complete 100 requests per second, but only 70 meet both targets, our SLO goodput is 70 requests per second. </a:t>
            </a:r>
          </a:p>
          <a:p>
            <a:endParaRPr lang="en-US" sz="1200"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A shared pool is simple, but prefill bursts compete with active decoding. </a:t>
            </a:r>
            <a:r>
              <a:rPr lang="en-US" sz="1200" b="1" dirty="0"/>
              <a:t>Every worker handles both phases</a:t>
            </a:r>
            <a:r>
              <a:rPr lang="en-US" sz="1200" b="0" dirty="0"/>
              <a:t>. One deployment scales both phases together.</a:t>
            </a:r>
          </a:p>
          <a:p>
            <a:r>
              <a:rPr lang="en-US" sz="1200" dirty="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Long prefills can interrupt token delivery.</a:t>
            </a:r>
          </a:p>
          <a:p>
            <a:pPr marL="457200" lvl="0" indent="-298450">
              <a:buClr>
                <a:srgbClr val="000000"/>
              </a:buClr>
              <a:buSzPts val="1100"/>
              <a:buFont typeface="Arial"/>
              <a:buChar char="●"/>
            </a:pPr>
            <a:r>
              <a:rPr lang="en-US" altLang="zh-CN" sz="1200" dirty="0"/>
              <a:t>In this slide, </a:t>
            </a:r>
            <a:r>
              <a:rPr lang="en-US" sz="1200" dirty="0"/>
              <a:t>D is ongoing decode. P is prefill for a new request. Where should P run? On the shared GPU, prefill can pause decode. On separate GPUs, decode can continue while prefill runs elsewhere. The new request still needs a KV handoff in </a:t>
            </a:r>
            <a:r>
              <a:rPr lang="en-US" altLang="zh-CN" sz="1200" dirty="0"/>
              <a:t>separate GPUs scenario.</a:t>
            </a:r>
            <a:endParaRPr lang="en-US" sz="1200" dirty="0"/>
          </a:p>
          <a:p>
            <a:pPr marL="457200" lvl="0" indent="-298450">
              <a:buClr>
                <a:srgbClr val="000000"/>
              </a:buClr>
              <a:buSzPts val="1100"/>
              <a:buFont typeface="Arial"/>
              <a:buChar char="●"/>
            </a:pPr>
            <a:r>
              <a:rPr lang="en-US" sz="1200" b="1" dirty="0"/>
              <a:t>So </a:t>
            </a:r>
            <a:r>
              <a:rPr lang="en-US" sz="1200" b="0" dirty="0"/>
              <a:t>s</a:t>
            </a:r>
            <a:r>
              <a:rPr lang="en-US" sz="1200" dirty="0"/>
              <a:t>eparate GPUs remove this execution conflict, but not every source of latency. </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Prefill and decode batch different work, </a:t>
            </a:r>
            <a:r>
              <a:rPr lang="en-US" sz="1200" dirty="0"/>
              <a:t>Prefill batches prompt positions; ordinary decode batches independent requests. On the left, prefill processes many input positions in one pass. We can batch positions from multiple prompts, while keeping causal attention.</a:t>
            </a:r>
          </a:p>
          <a:p>
            <a:pPr marL="457200" lvl="0" indent="-298450">
              <a:buClr>
                <a:srgbClr val="000000"/>
              </a:buClr>
              <a:buSzPts val="1100"/>
              <a:buFont typeface="Arial"/>
              <a:buChar char="●"/>
            </a:pPr>
            <a:r>
              <a:rPr lang="en-US" sz="1200" dirty="0"/>
              <a:t>On the right, decode consumes one new token per active request, </a:t>
            </a:r>
            <a:r>
              <a:rPr lang="en-US" sz="1200" b="1" dirty="0"/>
              <a:t>read its past KV cache</a:t>
            </a:r>
            <a:r>
              <a:rPr lang="en-US" sz="1200" dirty="0"/>
              <a:t>, then select its next output token. Prefill gets parallel work from prompt length; decode gets it from active requests. More decode concurrency can raise ITL. Stay within latency and KV-memory budgets.</a:t>
            </a:r>
          </a:p>
          <a:p>
            <a:endParaRPr lang="en-US" sz="1200"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Separate GPU pools let us tune each phase independently. </a:t>
            </a:r>
            <a:r>
              <a:rPr lang="en-US" altLang="zh-CN" sz="1200" dirty="0"/>
              <a:t>The </a:t>
            </a:r>
            <a:r>
              <a:rPr lang="en-US" sz="1200" dirty="0"/>
              <a:t>real benefit is scaling prefill and decode independently to match demand—not simply splitting them into two deployments.</a:t>
            </a:r>
          </a:p>
          <a:p>
            <a:r>
              <a:rPr lang="en-US" sz="1200" dirty="0"/>
              <a:t>Prefill is often compute-bound. Tune its capacity and parallelism for TTFT. On the other hand, decode is often </a:t>
            </a:r>
            <a:r>
              <a:rPr lang="en-US" altLang="zh-CN" sz="1200" cap="none" dirty="0">
                <a:latin typeface="Arial"/>
              </a:rPr>
              <a:t>memory-</a:t>
            </a:r>
            <a:r>
              <a:rPr lang="en-US" sz="1200" dirty="0"/>
              <a:t>bandwidth-bound. Tune its capacity and batching for ITL. </a:t>
            </a:r>
            <a:r>
              <a:rPr lang="en-US" sz="1200" b="1" dirty="0"/>
              <a:t>Different latency targets and resource needs can call for different replicas, tensor parallelism and batching policies</a:t>
            </a:r>
            <a:r>
              <a:rPr lang="en-US" sz="1200" dirty="0"/>
              <a:t>. Split only if the gains outweigh KV transfer, extra weight copies and operating costs.</a:t>
            </a:r>
          </a:p>
          <a:p>
            <a:endParaRPr lang="en-US" sz="1200" dirty="0"/>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b="0" cap="none" dirty="0">
                <a:solidFill>
                  <a:srgbClr val="142C46"/>
                </a:solidFill>
                <a:latin typeface="Arial"/>
              </a:rPr>
              <a:t>The hard part is the Kubernetes wiring to support prefill and decode disaggregation.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US" sz="1200" dirty="0"/>
          </a:p>
          <a:p>
            <a:r>
              <a:rPr lang="en-US" sz="1200" dirty="0"/>
              <a:t>Two pools still have to work together as one model service. The EPP, or Endpoint Picker, picks workers. KV transfer settings must match. The decode-side proxy coordinates requests. We must keep pods ready as replicas change.</a:t>
            </a:r>
          </a:p>
          <a:p>
            <a:r>
              <a:rPr lang="en-US" sz="1200" dirty="0"/>
              <a:t>Routing, KV transfer, labels, ports and readiness must stay in sync, </a:t>
            </a:r>
            <a:r>
              <a:rPr lang="en-US" sz="1200" b="1" dirty="0"/>
              <a:t>even when pods restart or we scale. That is why the hard part is the Kubernetes wiring. Let’s see how existing projects approach it.</a:t>
            </a:r>
          </a:p>
          <a:p>
            <a:endParaRPr lang="en-US" sz="1200" dirty="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a:t>So, this is the bigger picture. Running an LLM in production takes more than just starting a model server.</a:t>
            </a:r>
          </a:p>
          <a:p>
            <a:r>
              <a:rPr lang="en-US"/>
              <a:t>There's a lot on this slide, but don't worry—we don't need to go through every box. Let's focus on how the main pieces fit together.</a:t>
            </a:r>
          </a:p>
          <a:p>
            <a:r>
              <a:rPr lang="en-US"/>
              <a:t>At the top, we have the applications and the gateway. That's where requests come in.</a:t>
            </a:r>
          </a:p>
          <a:p>
            <a:r>
              <a:rPr lang="en-US"/>
              <a:t>In the middle is the orchestration layer. This is where projects like KAITO and llm-d fit. It's about getting requests to the right workers, managing the workloads, and scaling them as demand changes.</a:t>
            </a:r>
          </a:p>
          <a:p>
            <a:r>
              <a:rPr lang="en-US"/>
              <a:t>Below that, runtimes like vLLM do the actual model inference. The KV cache layers help store, reuse, and move the model's cached context, so we can avoid repeating work. With prefill and decode on separate workers, moving that context efficiently becomes especially important.</a:t>
            </a:r>
          </a:p>
          <a:p>
            <a:r>
              <a:rPr lang="en-US"/>
              <a:t>Underneath it all, Kubernetes and the infrastructure provide the compute, networking, and storage. Around the serving stack, we also need things like security, monitoring, and usage tracking.</a:t>
            </a:r>
          </a:p>
          <a:p>
            <a:r>
              <a:rPr lang="en-US"/>
              <a:t>The key point is that these layers need to work together. A fast inference engine is important, but it's only one part of the system.</a:t>
            </a:r>
          </a:p>
          <a:p>
            <a:r>
              <a:rPr lang="en-US"/>
              <a:t>For the rest of this talk, we'll focus on the orchestration layer: how KAITO and llm-d can make P/D disaggregation easier to run on Kubernetes. First, let's look at some of the open-source options.</a:t>
            </a:r>
          </a:p>
        </p:txBody>
      </p:sp>
    </p:spTree>
    <p:extLst>
      <p:ext uri="{BB962C8B-B14F-4D97-AF65-F5344CB8AC3E}">
        <p14:creationId xmlns:p14="http://schemas.microsoft.com/office/powerpoint/2010/main" val="4177393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dirty="0"/>
              <a:t>Open-source P/D has several paths, not one winner. </a:t>
            </a:r>
            <a:r>
              <a:rPr lang="zh-CN" altLang="zh-CN" sz="1100" b="0" i="0" u="none" strike="noStrike" cap="none" spc="0" dirty="0">
                <a:solidFill>
                  <a:srgbClr val="000000"/>
                </a:solidFill>
                <a:effectLst/>
                <a:latin typeface="Arial"/>
                <a:ea typeface="Arial"/>
                <a:cs typeface="Arial"/>
                <a:sym typeface="Arial"/>
              </a:rPr>
              <a:t>The following table presents examples, not a ranking. Some approaches can be used together.</a:t>
            </a:r>
            <a:endParaRPr lang="en-US" altLang="zh-CN" sz="1100" b="0" i="0" u="none" strike="noStrike" cap="none" spc="0" dirty="0">
              <a:solidFill>
                <a:srgbClr val="000000"/>
              </a:solidFill>
              <a:effectLst/>
              <a:latin typeface="Arial"/>
              <a:ea typeface="Arial"/>
              <a:cs typeface="Arial"/>
              <a:sym typeface="Arial"/>
            </a:endParaRPr>
          </a:p>
          <a:p>
            <a:r>
              <a:rPr lang="en-US" sz="1200" dirty="0"/>
              <a:t>The middle column shows the serving and routing path; the right column shows what users configure in Kubernetes. Dynamo, </a:t>
            </a:r>
            <a:r>
              <a:rPr lang="en-US" sz="1200" dirty="0" err="1"/>
              <a:t>llm</a:t>
            </a:r>
            <a:r>
              <a:rPr lang="en-US" sz="1200" dirty="0"/>
              <a:t>-d, </a:t>
            </a:r>
            <a:r>
              <a:rPr lang="en-US" sz="1200" dirty="0" err="1"/>
              <a:t>AIBrix</a:t>
            </a:r>
            <a:r>
              <a:rPr lang="en-US" sz="1200" dirty="0"/>
              <a:t>, </a:t>
            </a:r>
            <a:r>
              <a:rPr lang="en-US" sz="1200" dirty="0" err="1"/>
              <a:t>KServe</a:t>
            </a:r>
            <a:r>
              <a:rPr lang="en-US" sz="1200" dirty="0"/>
              <a:t>, Ray Serve and </a:t>
            </a:r>
            <a:r>
              <a:rPr lang="en-US" sz="1200" dirty="0" err="1"/>
              <a:t>vLLM</a:t>
            </a:r>
            <a:r>
              <a:rPr lang="en-US" sz="1200" dirty="0"/>
              <a:t> Production Stack offer different combinations. </a:t>
            </a:r>
            <a:r>
              <a:rPr lang="en-US" sz="1200" b="1" dirty="0"/>
              <a:t>Declarative APIs already exist</a:t>
            </a:r>
            <a:r>
              <a:rPr lang="en-US" sz="1200" dirty="0"/>
              <a:t>. P/D deployment options already exist. KAITO aims to make them easier to use. </a:t>
            </a:r>
            <a:r>
              <a:rPr lang="en-US" sz="1200" b="1" dirty="0"/>
              <a:t>For KAITO users, that means less manual configuration to maintain. Let’s start with </a:t>
            </a:r>
            <a:r>
              <a:rPr lang="en-US" sz="1200" b="1" dirty="0" err="1"/>
              <a:t>llm</a:t>
            </a:r>
            <a:r>
              <a:rPr lang="en-US" sz="1200" b="1" dirty="0"/>
              <a:t>-d.</a:t>
            </a:r>
          </a:p>
          <a:p>
            <a:endParaRPr lang="en-US" sz="1200"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zh-CN" altLang="zh-CN" sz="1200" b="0" i="0" u="none" strike="noStrike" cap="none" dirty="0">
                <a:solidFill>
                  <a:srgbClr val="000000"/>
                </a:solidFill>
                <a:effectLst/>
                <a:latin typeface="Arial"/>
                <a:ea typeface="Arial"/>
                <a:cs typeface="Arial"/>
                <a:sym typeface="Arial"/>
              </a:rPr>
              <a:t>llm-d is a Kubernetes-native framework for high-performance distributed inference. </a:t>
            </a:r>
            <a:r>
              <a:rPr lang="en-US" altLang="zh-CN" sz="1200" dirty="0"/>
              <a:t>It joined the CNCF Sandbox in March 2026. </a:t>
            </a:r>
            <a:r>
              <a:rPr lang="zh-CN" altLang="zh-CN" sz="1200" b="1" i="0" u="none" strike="noStrike" cap="none" dirty="0">
                <a:solidFill>
                  <a:srgbClr val="000000"/>
                </a:solidFill>
                <a:effectLst/>
                <a:latin typeface="Arial"/>
                <a:ea typeface="Arial"/>
                <a:cs typeface="Arial"/>
                <a:sym typeface="Arial"/>
              </a:rPr>
              <a:t>It does not replace vLLM, gateways, or storage systems; it composes them</a:t>
            </a:r>
            <a:r>
              <a:rPr lang="zh-CN" altLang="zh-CN" sz="1200" b="0" i="0" u="none" strike="noStrike" cap="none" dirty="0">
                <a:solidFill>
                  <a:srgbClr val="000000"/>
                </a:solidFill>
                <a:effectLst/>
                <a:latin typeface="Arial"/>
                <a:ea typeface="Arial"/>
                <a:cs typeface="Arial"/>
                <a:sym typeface="Arial"/>
              </a:rPr>
              <a:t>. </a:t>
            </a:r>
            <a:r>
              <a:rPr lang="zh-CN" altLang="zh-CN" sz="1200" b="1" i="0" u="none" strike="noStrike" cap="none" dirty="0">
                <a:solidFill>
                  <a:srgbClr val="000000"/>
                </a:solidFill>
                <a:effectLst/>
                <a:latin typeface="Arial"/>
                <a:ea typeface="Arial"/>
                <a:cs typeface="Arial"/>
                <a:sym typeface="Arial"/>
              </a:rPr>
              <a:t>Its value is organized</a:t>
            </a:r>
            <a:r>
              <a:rPr lang="en-US" altLang="zh-CN" sz="1200" b="1" i="0" u="none" strike="noStrike" cap="none" dirty="0">
                <a:solidFill>
                  <a:srgbClr val="000000"/>
                </a:solidFill>
                <a:effectLst/>
                <a:latin typeface="Arial"/>
                <a:ea typeface="Arial"/>
                <a:cs typeface="Arial"/>
                <a:sym typeface="Arial"/>
              </a:rPr>
              <a:t> into </a:t>
            </a:r>
            <a:r>
              <a:rPr lang="zh-CN" altLang="zh-CN" sz="1200" b="1" i="0" u="none" strike="noStrike" cap="none" dirty="0">
                <a:solidFill>
                  <a:srgbClr val="000000"/>
                </a:solidFill>
                <a:effectLst/>
                <a:latin typeface="Arial"/>
                <a:ea typeface="Arial"/>
                <a:cs typeface="Arial"/>
                <a:sym typeface="Arial"/>
              </a:rPr>
              <a:t>three ideas</a:t>
            </a:r>
            <a:r>
              <a:rPr lang="zh-CN" altLang="zh-CN" sz="1200" b="0" i="0" u="none" strike="noStrike" cap="none" dirty="0">
                <a:solidFill>
                  <a:srgbClr val="000000"/>
                </a:solidFill>
                <a:effectLst/>
                <a:latin typeface="Arial"/>
                <a:ea typeface="Arial"/>
                <a:cs typeface="Arial"/>
                <a:sym typeface="Arial"/>
              </a:rPr>
              <a:t>:</a:t>
            </a:r>
            <a:r>
              <a:rPr lang="en-US" altLang="zh-CN" sz="1200" b="0" i="0" u="none" strike="noStrike" cap="none" dirty="0">
                <a:solidFill>
                  <a:srgbClr val="000000"/>
                </a:solidFill>
                <a:effectLst/>
                <a:latin typeface="Arial"/>
                <a:ea typeface="Arial"/>
                <a:cs typeface="Arial"/>
                <a:sym typeface="Arial"/>
              </a:rPr>
              <a:t> first </a:t>
            </a:r>
            <a:r>
              <a:rPr lang="en-US" altLang="zh-CN" sz="1200" b="0" dirty="0">
                <a:solidFill>
                  <a:srgbClr val="346CEC"/>
                </a:solidFill>
                <a:latin typeface="Arial"/>
              </a:rPr>
              <a:t>modular architecture: </a:t>
            </a:r>
            <a:r>
              <a:rPr lang="en-US" altLang="zh-CN" sz="1200" b="0" dirty="0">
                <a:solidFill>
                  <a:srgbClr val="142C46"/>
                </a:solidFill>
                <a:latin typeface="Arial"/>
              </a:rPr>
              <a:t>Gateway API connects inference routing to Kubernetes, second, </a:t>
            </a:r>
            <a:r>
              <a:rPr lang="en-US" altLang="zh-CN" sz="1200" b="0" dirty="0">
                <a:solidFill>
                  <a:srgbClr val="346CEC"/>
                </a:solidFill>
                <a:latin typeface="Arial"/>
              </a:rPr>
              <a:t>Extensible components: </a:t>
            </a:r>
            <a:r>
              <a:rPr lang="en-US" altLang="zh-CN" sz="1200" b="0" dirty="0">
                <a:solidFill>
                  <a:srgbClr val="142C46"/>
                </a:solidFill>
                <a:latin typeface="Arial"/>
              </a:rPr>
              <a:t>combine runtimes, routing plugins and KV transport,</a:t>
            </a:r>
            <a:r>
              <a:rPr lang="zh-CN" altLang="en-US" sz="1200" b="0" dirty="0">
                <a:solidFill>
                  <a:srgbClr val="142C46"/>
                </a:solidFill>
                <a:latin typeface="Arial"/>
              </a:rPr>
              <a:t> </a:t>
            </a:r>
            <a:r>
              <a:rPr lang="en-US" altLang="zh-CN" sz="1200" b="0" dirty="0">
                <a:solidFill>
                  <a:srgbClr val="142C46"/>
                </a:solidFill>
                <a:latin typeface="Arial"/>
              </a:rPr>
              <a:t>third, </a:t>
            </a:r>
            <a:r>
              <a:rPr lang="en-US" altLang="zh-CN" sz="1200" b="0" dirty="0">
                <a:solidFill>
                  <a:srgbClr val="346CEC"/>
                </a:solidFill>
                <a:latin typeface="Arial"/>
              </a:rPr>
              <a:t>Well-lit paths, there are </a:t>
            </a:r>
            <a:r>
              <a:rPr lang="en-US" altLang="zh-CN" sz="1200" b="0" dirty="0">
                <a:solidFill>
                  <a:srgbClr val="142C46"/>
                </a:solidFill>
                <a:latin typeface="Arial"/>
              </a:rPr>
              <a:t>tested deployment patterns make trade-offs clear.</a:t>
            </a:r>
          </a:p>
          <a:p>
            <a:endParaRPr lang="en-US" sz="1200" dirty="0"/>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These are reusable capabilities, not a performance guarantee. We build on the serving runtime, not replace it. And we combine reusable </a:t>
            </a:r>
            <a:r>
              <a:rPr lang="en-US" altLang="zh-CN" sz="1200" b="0" dirty="0" err="1">
                <a:solidFill>
                  <a:srgbClr val="142C46"/>
                </a:solidFill>
                <a:latin typeface="Arial"/>
              </a:rPr>
              <a:t>llm</a:t>
            </a:r>
            <a:r>
              <a:rPr lang="en-US" altLang="zh-CN" sz="1200" b="0" dirty="0">
                <a:solidFill>
                  <a:srgbClr val="142C46"/>
                </a:solidFill>
                <a:latin typeface="Arial"/>
              </a:rPr>
              <a:t>-d </a:t>
            </a:r>
            <a:r>
              <a:rPr lang="en-US" sz="1200" dirty="0"/>
              <a:t>components, </a:t>
            </a:r>
            <a:r>
              <a:rPr lang="en-US" altLang="zh-CN" sz="1200" b="0" dirty="0">
                <a:solidFill>
                  <a:srgbClr val="142C46"/>
                </a:solidFill>
                <a:latin typeface="Arial"/>
              </a:rPr>
              <a:t>Deployment paths explain the trade-offs.</a:t>
            </a:r>
            <a:endParaRPr lang="en-US" sz="1200"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There are mainly </a:t>
            </a:r>
            <a:r>
              <a:rPr lang="en-US" altLang="zh-CN" sz="1200" b="0" dirty="0">
                <a:solidFill>
                  <a:srgbClr val="087F8C"/>
                </a:solidFill>
                <a:latin typeface="Arial"/>
              </a:rPr>
              <a:t>four areas of capability for </a:t>
            </a:r>
            <a:r>
              <a:rPr lang="en-US" altLang="zh-CN" sz="1200" b="0" dirty="0" err="1">
                <a:solidFill>
                  <a:srgbClr val="087F8C"/>
                </a:solidFill>
                <a:latin typeface="Arial"/>
              </a:rPr>
              <a:t>llm</a:t>
            </a:r>
            <a:r>
              <a:rPr lang="en-US" altLang="zh-CN" sz="1200" b="0" dirty="0">
                <a:solidFill>
                  <a:srgbClr val="087F8C"/>
                </a:solidFill>
                <a:latin typeface="Arial"/>
              </a:rPr>
              <a:t>-d projects:</a:t>
            </a:r>
            <a:endParaRPr lang="en-US" sz="1200" b="0" dirty="0"/>
          </a:p>
          <a:p>
            <a:pPr>
              <a:lnSpc>
                <a:spcPct val="108000"/>
              </a:lnSpc>
              <a:spcAft>
                <a:spcPts val="500"/>
              </a:spcAft>
              <a:defRPr sz="1050" b="0">
                <a:solidFill>
                  <a:srgbClr val="142C46"/>
                </a:solidFill>
                <a:latin typeface="Arial"/>
              </a:defRPr>
            </a:pPr>
            <a:r>
              <a:rPr lang="en-US" sz="1200" dirty="0"/>
              <a:t>first: </a:t>
            </a:r>
            <a:r>
              <a:rPr lang="en-US" altLang="zh-CN" sz="1400" b="0" dirty="0">
                <a:solidFill>
                  <a:srgbClr val="346CEC"/>
                </a:solidFill>
              </a:rPr>
              <a:t>State-of-the-art </a:t>
            </a:r>
            <a:r>
              <a:rPr lang="en-US" altLang="zh-CN" sz="1400" b="0" dirty="0" err="1">
                <a:solidFill>
                  <a:srgbClr val="346CEC"/>
                </a:solidFill>
                <a:latin typeface="Arial"/>
              </a:rPr>
              <a:t>MoE</a:t>
            </a:r>
            <a:r>
              <a:rPr lang="en-US" altLang="zh-CN" sz="1400" b="0" dirty="0">
                <a:solidFill>
                  <a:srgbClr val="346CEC"/>
                </a:solidFill>
                <a:latin typeface="Arial"/>
              </a:rPr>
              <a:t> serving, </a:t>
            </a:r>
            <a:r>
              <a:rPr lang="en-US" altLang="zh-CN" sz="1400" b="1" dirty="0">
                <a:solidFill>
                  <a:srgbClr val="346CEC"/>
                </a:solidFill>
                <a:latin typeface="Arial"/>
              </a:rPr>
              <a:t>Here, </a:t>
            </a:r>
            <a:r>
              <a:rPr lang="en-US" altLang="zh-CN" sz="1400" b="1" dirty="0" err="1">
                <a:solidFill>
                  <a:srgbClr val="346CEC"/>
                </a:solidFill>
                <a:latin typeface="Arial"/>
              </a:rPr>
              <a:t>MoE</a:t>
            </a:r>
            <a:r>
              <a:rPr lang="en-US" altLang="zh-CN" sz="1400" b="1" dirty="0">
                <a:solidFill>
                  <a:srgbClr val="346CEC"/>
                </a:solidFill>
                <a:latin typeface="Arial"/>
              </a:rPr>
              <a:t> stands for Mixture of Experts, which is widely used in mainstream LLMs. </a:t>
            </a:r>
            <a:r>
              <a:rPr lang="en-US" altLang="zh-CN" sz="1200" b="0" dirty="0">
                <a:solidFill>
                  <a:srgbClr val="142C46"/>
                </a:solidFill>
                <a:latin typeface="Arial"/>
              </a:rPr>
              <a:t>Expert parallelism spreads expert computation across GPUs, second, p</a:t>
            </a:r>
            <a:r>
              <a:rPr lang="en-US" altLang="zh-CN" sz="1400" b="0" dirty="0">
                <a:solidFill>
                  <a:srgbClr val="346CEC"/>
                </a:solidFill>
                <a:latin typeface="Arial"/>
              </a:rPr>
              <a:t>refill/decode disaggregation, w</a:t>
            </a:r>
            <a:r>
              <a:rPr lang="en-US" altLang="zh-CN" sz="1200" b="0" dirty="0">
                <a:solidFill>
                  <a:srgbClr val="142C46"/>
                </a:solidFill>
                <a:latin typeface="Arial"/>
              </a:rPr>
              <a:t>e separate the phases and transfer KV between roles. Third, </a:t>
            </a:r>
            <a:r>
              <a:rPr lang="en-US" altLang="zh-CN" sz="1400" b="0" dirty="0">
                <a:solidFill>
                  <a:srgbClr val="346CEC"/>
                </a:solidFill>
                <a:latin typeface="Arial"/>
              </a:rPr>
              <a:t>State-aware scheduling: </a:t>
            </a:r>
            <a:r>
              <a:rPr lang="en-US" altLang="zh-CN" sz="1200" b="0" dirty="0">
                <a:solidFill>
                  <a:srgbClr val="142C46"/>
                </a:solidFill>
                <a:latin typeface="Arial"/>
              </a:rPr>
              <a:t>Routing plugins use cache and load signals to pick workers. Last is a</a:t>
            </a:r>
            <a:r>
              <a:rPr lang="en-US" altLang="zh-CN" sz="1400" b="0" dirty="0">
                <a:solidFill>
                  <a:srgbClr val="346CEC"/>
                </a:solidFill>
                <a:latin typeface="Arial"/>
              </a:rPr>
              <a:t>utoscaling architecture: w</a:t>
            </a:r>
            <a:r>
              <a:rPr lang="en-US" altLang="zh-CN" sz="1200" b="0" dirty="0">
                <a:solidFill>
                  <a:srgbClr val="142C46"/>
                </a:solidFill>
                <a:latin typeface="Arial"/>
              </a:rPr>
              <a:t>orkload signals and SLOs guide capacity; each integration chooses its policy.</a:t>
            </a:r>
          </a:p>
          <a:p>
            <a:endParaRPr lang="en-US" sz="1200"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zh-CN" sz="1100" b="0" i="0" u="none" strike="noStrike" cap="none" spc="0" dirty="0">
                <a:solidFill>
                  <a:srgbClr val="000000"/>
                </a:solidFill>
                <a:effectLst/>
                <a:latin typeface="Arial"/>
                <a:ea typeface="Arial"/>
                <a:cs typeface="Arial"/>
                <a:sym typeface="Arial"/>
              </a:rPr>
              <a:t>llm-d calls these “well-lit paths”—tested ways to deploy, with clear guidance on what works well and what the limitations are.</a:t>
            </a:r>
            <a:endParaRPr lang="en-US" altLang="zh-CN" sz="1100" b="0" i="0" u="none" strike="noStrike" cap="none" spc="0"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Intelligent scheduling determines where should this request run</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KV cache management determines where should reusable state live?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Wide expert parallelism determines how should a large </a:t>
            </a:r>
            <a:r>
              <a:rPr lang="en-US" altLang="zh-CN" sz="1200" cap="none" dirty="0" err="1"/>
              <a:t>MoE</a:t>
            </a:r>
            <a:r>
              <a:rPr lang="en-US" altLang="zh-CN" sz="1200" cap="none" dirty="0"/>
              <a:t> model run across GPUs?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1200" cap="none" dirty="0"/>
              <a:t>P/D disaggregation determines how should prompt and generation capacity differ?</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b="1" dirty="0"/>
              <a:t>These paths can work together, but we don’t need all of them at once. Results depend on the hardware. Today, we’ll focus on P/D disaggregation and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pPr marL="457200" lvl="0" indent="-298450">
              <a:buClr>
                <a:srgbClr val="000000"/>
              </a:buClr>
              <a:buSzPts val="1100"/>
              <a:buFont typeface="Arial"/>
              <a:buChar char="●"/>
            </a:pPr>
            <a:r>
              <a:rPr lang="en-US" sz="1200" dirty="0"/>
              <a:t>Next, what is KAITO, </a:t>
            </a:r>
            <a:r>
              <a:rPr lang="en-US" altLang="zh-CN" sz="1200" dirty="0"/>
              <a:t>KAITO is</a:t>
            </a:r>
            <a:r>
              <a:rPr lang="en-US" sz="1200" dirty="0"/>
              <a:t> a </a:t>
            </a:r>
            <a:r>
              <a:rPr lang="en-US" altLang="zh-CN" sz="1200" b="0" dirty="0">
                <a:solidFill>
                  <a:srgbClr val="142C46"/>
                </a:solidFill>
                <a:latin typeface="Arial"/>
              </a:rPr>
              <a:t>Kubernetes AI Toolchain Operator, which </a:t>
            </a:r>
            <a:r>
              <a:rPr lang="en-US" sz="1200" dirty="0"/>
              <a:t>automates LLM inference, fine-tuning and RAG with Kubernetes operators. It is also a CNCF Sandbox project.</a:t>
            </a:r>
          </a:p>
          <a:p>
            <a:r>
              <a:rPr lang="en-US" altLang="zh-CN" sz="1200" cap="none" dirty="0">
                <a:solidFill>
                  <a:srgbClr val="142C46"/>
                </a:solidFill>
                <a:latin typeface="Arial"/>
              </a:rPr>
              <a:t>With KAITO, you only need to specify a model name and GPU VM SKU. KAITO sizes the nodes to fit the model’s memory requirements, handles model setup and caching, manages inference workloads and rolling updates on Kubernetes, and uses KEDA to automatically scale workloads.</a:t>
            </a:r>
          </a:p>
          <a:p>
            <a:endParaRPr lang="en-US" sz="1200" dirty="0"/>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dirty="0"/>
              <a:t>Here is a KAITO </a:t>
            </a:r>
            <a:r>
              <a:rPr lang="en-US" altLang="zh-CN" sz="800" b="0" dirty="0">
                <a:solidFill>
                  <a:srgbClr val="346CEC"/>
                </a:solidFill>
                <a:latin typeface="Arial"/>
              </a:rPr>
              <a:t>inference workload example, user only needs to </a:t>
            </a:r>
            <a:r>
              <a:rPr lang="en-US" altLang="zh-CN" sz="800" b="0" cap="none" dirty="0">
                <a:solidFill>
                  <a:srgbClr val="52677D"/>
                </a:solidFill>
                <a:latin typeface="Arial"/>
              </a:rPr>
              <a:t>Specify the model name, GPU instance type and replica count.</a:t>
            </a:r>
          </a:p>
          <a:p>
            <a:pPr marL="457200" lvl="0" indent="-298450">
              <a:buClr>
                <a:srgbClr val="000000"/>
              </a:buClr>
              <a:buSzPts val="1100"/>
              <a:buFont typeface="Arial"/>
              <a:buChar char="●"/>
            </a:pPr>
            <a:r>
              <a:rPr lang="en-US" altLang="zh-CN" sz="800" b="0" cap="none" dirty="0">
                <a:solidFill>
                  <a:srgbClr val="52677D"/>
                </a:solidFill>
                <a:latin typeface="Arial"/>
              </a:rPr>
              <a:t>In this example, user specifies a qwen3 model name which is a </a:t>
            </a:r>
            <a:r>
              <a:rPr lang="en-US" altLang="zh-CN" sz="800" b="0" cap="none" dirty="0" err="1">
                <a:solidFill>
                  <a:srgbClr val="52677D"/>
                </a:solidFill>
                <a:latin typeface="Arial"/>
              </a:rPr>
              <a:t>huggingface</a:t>
            </a:r>
            <a:r>
              <a:rPr lang="en-US" altLang="zh-CN" sz="800" b="0" cap="none" dirty="0">
                <a:solidFill>
                  <a:srgbClr val="52677D"/>
                </a:solidFill>
                <a:latin typeface="Arial"/>
              </a:rPr>
              <a:t> model id and specifies A100 GPU instance type with 3 replicas, </a:t>
            </a:r>
            <a:r>
              <a:rPr lang="en-US" altLang="zh-CN" sz="800" b="1" dirty="0"/>
              <a:t>three replicas does not necessarily mean three GPUs; each replica’s GPU and node needs depend on the model and runtime settings. </a:t>
            </a:r>
            <a:endParaRPr lang="en-US" altLang="zh-CN" sz="800" b="1" cap="none" dirty="0">
              <a:solidFill>
                <a:srgbClr val="52677D"/>
              </a:solidFill>
              <a:latin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altLang="zh-CN" sz="800" b="1" cap="none" dirty="0">
                <a:solidFill>
                  <a:srgbClr val="52677D"/>
                </a:solidFill>
                <a:latin typeface="Arial"/>
              </a:rPr>
              <a:t>KAITO does all the rest of work, like provisioning the required GPU nodes </a:t>
            </a:r>
            <a:r>
              <a:rPr lang="en-US" altLang="zh-CN" sz="800" b="1" cap="none" dirty="0">
                <a:solidFill>
                  <a:srgbClr val="142C46"/>
                </a:solidFill>
                <a:latin typeface="Arial"/>
              </a:rPr>
              <a:t>to fit the model’s memory requirements, handles model setup and caching, manages inference workloads and rolling updates on Kubernetes, and uses KEDA to automatically scale workloads.</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b="1" dirty="0"/>
              <a:t>This slide shows how does the KAITO do the math.</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200" dirty="0"/>
              <a:t>User </a:t>
            </a:r>
            <a:r>
              <a:rPr lang="en-US" altLang="zh-CN" sz="1200" b="0" dirty="0">
                <a:solidFill>
                  <a:schemeClr val="accent2">
                    <a:lumMod val="75000"/>
                  </a:schemeClr>
                </a:solidFill>
              </a:rPr>
              <a:t>specifies a model name and GPU SKU. KAITO estimates how many nodes the model needs.</a:t>
            </a:r>
          </a:p>
          <a:p>
            <a:r>
              <a:rPr lang="en-US" sz="1200" dirty="0"/>
              <a:t>KAITO reserves memory for overhead and KV cache, then fits the weights into the remaining GPU memory.</a:t>
            </a:r>
          </a:p>
          <a:p>
            <a:r>
              <a:rPr lang="en-US" sz="1200" dirty="0"/>
              <a:t>KAITO saves the result as </a:t>
            </a:r>
            <a:r>
              <a:rPr lang="en-US" sz="1200" dirty="0" err="1"/>
              <a:t>status.targetNodeCount</a:t>
            </a:r>
            <a:r>
              <a:rPr lang="en-US" sz="1200" dirty="0"/>
              <a:t>. This path uses tensor parallelism within nodes and pipeline parallelism across nodes. It sizes memory, not traffic capacity. </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endParaRPr lang="en-US" sz="1200"/>
          </a:p>
          <a:p>
            <a:r>
              <a:rPr dirty="0"/>
              <a:t>Technical reference (not part of the spoken script)</a:t>
            </a:r>
          </a:p>
          <a:p>
            <a:endParaRPr dirty="0"/>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endParaRPr lang="en-US" sz="1200"/>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endParaRPr lang="en-US" sz="1200"/>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endParaRPr lang="en-US" sz="1200"/>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endParaRPr lang="en-US" sz="1200"/>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endParaRPr lang="en-US" sz="120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endParaRPr lang="en-US" sz="1200"/>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endParaRPr lang="en-US" sz="1200"/>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endParaRPr lang="en-US" sz="1200"/>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endParaRPr lang="en-US" sz="1200"/>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endParaRPr lang="en-US" sz="1200"/>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endParaRPr lang="en-US" sz="1200"/>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endParaRPr lang="en-US" sz="1200"/>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endParaRPr lang="en-US" sz="1200"/>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Thank you. We’re happy to take questions.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endParaRPr lang="en-US" sz="1200"/>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endParaRPr lang="en-US" sz="1200"/>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endParaRPr lang="en-US" sz="1200"/>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endParaRPr lang="en-US" sz="1200"/>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endParaRPr lang="en-US" sz="1200"/>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endParaRPr lang="en-US" sz="1200"/>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endParaRPr lang="en-US" sz="1200"/>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a:t>
            </a:r>
            <a:r>
              <a:rPr lang="en-US" altLang="zh-CN" sz="1200" dirty="0">
                <a:solidFill>
                  <a:srgbClr val="52677D"/>
                </a:solidFill>
              </a:rPr>
              <a:t>Microsoft AKS team</a:t>
            </a:r>
            <a:endParaRPr lang="en-US" altLang="zh-CN" sz="1200" cap="none" dirty="0">
              <a:solidFill>
                <a:srgbClr val="52677D"/>
              </a:solidFill>
              <a:latin typeface="Arial"/>
            </a:endParaRP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646331"/>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 AKS team</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30650" y="4243533"/>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latency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45720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398264"/>
            <a:ext cx="8209026" cy="393192"/>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Our goal: serve more requests while meeting both latency targets.</a:t>
            </a:r>
          </a:p>
          <a:p>
            <a:pPr>
              <a:spcAft>
                <a:spcPts val="375"/>
              </a:spcAft>
              <a:defRPr sz="1500" b="1">
                <a:solidFill>
                  <a:srgbClr val="172941"/>
                </a:solidFill>
                <a:latin typeface="Arial"/>
              </a:defRPr>
            </a:pPr>
            <a:r>
              <a:rPr sz="1125" cap="none" dirty="0">
                <a:latin typeface="Arial"/>
              </a:rPr>
              <a:t>SLO goodput = requests per second that meet both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Prefill processes the input and is 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 smoothly?</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generates tokens and is 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dirty="0">
                <a:latin typeface="Arial"/>
              </a:rPr>
              <a:t>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dirty="0">
                <a:latin typeface="Arial"/>
              </a:rPr>
              <a:t>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745556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Separate </a:t>
            </a:r>
            <a:r>
              <a:rPr lang="en-US" sz="2100" b="1" cap="none" dirty="0">
                <a:solidFill>
                  <a:srgbClr val="142C46"/>
                </a:solidFill>
                <a:latin typeface="Arial"/>
              </a:rPr>
              <a:t>GPU </a:t>
            </a:r>
            <a:r>
              <a:rPr sz="2100" b="1" cap="none" dirty="0">
                <a:solidFill>
                  <a:srgbClr val="142C46"/>
                </a:solidFill>
                <a:latin typeface="Arial"/>
              </a:rPr>
              <a:t>pools let us tune each phase independently</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lang="en-US" sz="1200" dirty="0">
                <a:solidFill>
                  <a:srgbClr val="52677D"/>
                </a:solidFill>
              </a:rPr>
              <a:t>real benefit is scaling prefill and decode independently to match demand—not simply splitting them into two deployments</a:t>
            </a:r>
            <a:endParaRPr sz="1200" cap="none" dirty="0">
              <a:solidFill>
                <a:srgbClr val="52677D"/>
              </a:solidFill>
              <a:latin typeface="Arial"/>
            </a:endParaRP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dirty="0">
                <a:latin typeface="Arial"/>
              </a:rPr>
              <a:t>Decode is often </a:t>
            </a:r>
            <a:r>
              <a:rPr lang="en-US" sz="1350" cap="none" dirty="0">
                <a:latin typeface="Arial"/>
              </a:rPr>
              <a:t>memory-</a:t>
            </a:r>
            <a:r>
              <a:rPr sz="1350" cap="none" dirty="0">
                <a:latin typeface="Arial"/>
              </a:rPr>
              <a:t>bandwidth-bound.</a:t>
            </a:r>
          </a:p>
          <a:p>
            <a:pPr>
              <a:spcAft>
                <a:spcPts val="375"/>
              </a:spcAft>
              <a:defRPr sz="1800" b="0">
                <a:solidFill>
                  <a:srgbClr val="172941"/>
                </a:solidFill>
                <a:latin typeface="Arial"/>
              </a:defRPr>
            </a:pPr>
            <a:r>
              <a:rPr sz="1350" cap="none" dirty="0">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dirty="0">
                <a:latin typeface="Arial"/>
              </a:rPr>
              <a:t>Different capacity </a:t>
            </a:r>
            <a:r>
              <a:rPr lang="en-US" sz="1350" cap="none" dirty="0">
                <a:latin typeface="Arial"/>
              </a:rPr>
              <a:t>needs</a:t>
            </a:r>
            <a:endParaRPr sz="1350" cap="none" dirty="0">
              <a:latin typeface="Arial"/>
            </a:endParaRPr>
          </a:p>
        </p:txBody>
      </p:sp>
      <p:sp>
        <p:nvSpPr>
          <p:cNvPr id="31" name="TextBox 30"/>
          <p:cNvSpPr txBox="1"/>
          <p:nvPr/>
        </p:nvSpPr>
        <p:spPr>
          <a:xfrm>
            <a:off x="6165342" y="3792474"/>
            <a:ext cx="2420874" cy="343940"/>
          </a:xfrm>
          <a:prstGeom prst="rect">
            <a:avLst/>
          </a:prstGeom>
          <a:noFill/>
        </p:spPr>
        <p:txBody>
          <a:bodyPr wrap="square" lIns="10287" tIns="10287" rIns="10287" bIns="10287">
            <a:spAutoFit/>
          </a:bodyPr>
          <a:lstStyle/>
          <a:p>
            <a:pPr marL="457200" indent="-298450" algn="ctr">
              <a:spcAft>
                <a:spcPts val="375"/>
              </a:spcAft>
              <a:buSzPts val="1100"/>
              <a:buFont typeface="Arial"/>
              <a:buChar char="●"/>
              <a:defRPr sz="1400" b="0">
                <a:solidFill>
                  <a:srgbClr val="586A80"/>
                </a:solidFill>
                <a:latin typeface="Arial"/>
              </a:defRPr>
            </a:pPr>
            <a:r>
              <a:rPr sz="1050" cap="none" dirty="0">
                <a:latin typeface="Arial"/>
              </a:rPr>
              <a:t>Replicas, </a:t>
            </a:r>
            <a:r>
              <a:rPr lang="en-US" altLang="zh-CN" sz="1050" dirty="0"/>
              <a:t>tensor parallelism</a:t>
            </a:r>
            <a:r>
              <a:rPr sz="1050" cap="none" dirty="0">
                <a:latin typeface="Arial"/>
              </a:rPr>
              <a:t>,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6859250"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The hard part is the Kubernetes wiring</a:t>
            </a:r>
            <a:r>
              <a:rPr lang="en-US" sz="2100" b="1" cap="none" dirty="0">
                <a:solidFill>
                  <a:srgbClr val="142C46"/>
                </a:solidFill>
                <a:latin typeface="Arial"/>
              </a:rPr>
              <a:t> to support P/D</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dirty="0">
                <a:latin typeface="Arial"/>
              </a:rPr>
              <a:t>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108608-17E5-7B6D-7E28-99CBA2F215A6}"/>
              </a:ext>
            </a:extLst>
          </p:cNvPr>
          <p:cNvSpPr>
            <a:spLocks noGrp="1"/>
          </p:cNvSpPr>
          <p:nvPr>
            <p:ph type="title" idx="4294967295"/>
          </p:nvPr>
        </p:nvSpPr>
        <p:spPr>
          <a:xfrm>
            <a:off x="0" y="0"/>
            <a:ext cx="6950075" cy="1047750"/>
          </a:xfrm>
        </p:spPr>
        <p:txBody>
          <a:bodyPr>
            <a:normAutofit/>
          </a:bodyPr>
          <a:lstStyle/>
          <a:p>
            <a:r>
              <a:rPr lang="zh-CN" altLang="zh-CN" sz="2800" dirty="0"/>
              <a:t>Production Distributed Inference Architecture</a:t>
            </a:r>
            <a:endParaRPr lang="zh-CN" altLang="en-US" sz="2800" dirty="0"/>
          </a:p>
        </p:txBody>
      </p:sp>
      <p:sp>
        <p:nvSpPr>
          <p:cNvPr id="85" name="application-rail-box">
            <a:extLst>
              <a:ext uri="{FF2B5EF4-FFF2-40B4-BE49-F238E27FC236}">
                <a16:creationId xmlns:a16="http://schemas.microsoft.com/office/drawing/2014/main" id="{A7F0BE18-D8B7-6DC5-F1F5-9FFE9AA4A4EC}"/>
              </a:ext>
            </a:extLst>
          </p:cNvPr>
          <p:cNvSpPr>
            <a:spLocks noGrp="1"/>
          </p:cNvSpPr>
          <p:nvPr/>
        </p:nvSpPr>
        <p:spPr>
          <a:xfrm>
            <a:off x="76201" y="1214619"/>
            <a:ext cx="762000" cy="381000"/>
          </a:xfrm>
          <a:prstGeom prst="roundRect">
            <a:avLst>
              <a:gd name="adj" fmla="val 10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a:solidFill>
                  <a:srgbClr val="FFFFFF"/>
                </a:solidFill>
                <a:latin typeface="Arial"/>
                <a:ea typeface="Arial"/>
                <a:cs typeface="Arial"/>
              </a:rPr>
              <a:t>Application</a:t>
            </a:r>
          </a:p>
          <a:p>
            <a:pPr algn="ctr">
              <a:defRPr sz="750" b="1">
                <a:solidFill>
                  <a:srgbClr val="FFFFFF"/>
                </a:solidFill>
                <a:latin typeface="Arial"/>
                <a:ea typeface="Arial"/>
                <a:cs typeface="Arial"/>
              </a:defRPr>
            </a:pPr>
            <a:r>
              <a:rPr sz="800" b="1">
                <a:solidFill>
                  <a:srgbClr val="FFFFFF"/>
                </a:solidFill>
                <a:latin typeface="Arial"/>
                <a:ea typeface="Arial"/>
                <a:cs typeface="Arial"/>
              </a:rPr>
              <a:t>Layer</a:t>
            </a:r>
          </a:p>
        </p:txBody>
      </p:sp>
      <p:sp>
        <p:nvSpPr>
          <p:cNvPr id="86" name="application-surface">
            <a:extLst>
              <a:ext uri="{FF2B5EF4-FFF2-40B4-BE49-F238E27FC236}">
                <a16:creationId xmlns:a16="http://schemas.microsoft.com/office/drawing/2014/main" id="{FC6739DF-595B-0861-5B4C-3EB609F0BE25}"/>
              </a:ext>
            </a:extLst>
          </p:cNvPr>
          <p:cNvSpPr>
            <a:spLocks noGrp="1"/>
          </p:cNvSpPr>
          <p:nvPr/>
        </p:nvSpPr>
        <p:spPr>
          <a:xfrm>
            <a:off x="933451" y="1214619"/>
            <a:ext cx="6191250" cy="381000"/>
          </a:xfrm>
          <a:prstGeom prst="roundRect">
            <a:avLst>
              <a:gd name="adj" fmla="val 10000"/>
            </a:avLst>
          </a:prstGeom>
          <a:solidFill>
            <a:srgbClr val="FFFFFF"/>
          </a:solidFill>
          <a:ln w="9525">
            <a:solidFill>
              <a:srgbClr val="D7DEE8"/>
            </a:solidFill>
            <a:prstDash val="solid"/>
          </a:ln>
        </p:spPr>
        <p:txBody>
          <a:bodyPr/>
          <a:lstStyle/>
          <a:p>
            <a:endParaRPr lang="zh-CN" altLang="en-US" sz="1600"/>
          </a:p>
        </p:txBody>
      </p:sp>
      <p:sp>
        <p:nvSpPr>
          <p:cNvPr id="87" name="application-items-1-box">
            <a:extLst>
              <a:ext uri="{FF2B5EF4-FFF2-40B4-BE49-F238E27FC236}">
                <a16:creationId xmlns:a16="http://schemas.microsoft.com/office/drawing/2014/main" id="{BEA3F104-EC15-50E4-8804-0470EBD25CC5}"/>
              </a:ext>
            </a:extLst>
          </p:cNvPr>
          <p:cNvSpPr>
            <a:spLocks noGrp="1"/>
          </p:cNvSpPr>
          <p:nvPr/>
        </p:nvSpPr>
        <p:spPr>
          <a:xfrm>
            <a:off x="100965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Web / H5</a:t>
            </a:r>
          </a:p>
        </p:txBody>
      </p:sp>
      <p:sp>
        <p:nvSpPr>
          <p:cNvPr id="88" name="application-items-2-box">
            <a:extLst>
              <a:ext uri="{FF2B5EF4-FFF2-40B4-BE49-F238E27FC236}">
                <a16:creationId xmlns:a16="http://schemas.microsoft.com/office/drawing/2014/main" id="{57E157B9-D48E-A70C-5494-69B0C8A18EAB}"/>
              </a:ext>
            </a:extLst>
          </p:cNvPr>
          <p:cNvSpPr>
            <a:spLocks noGrp="1"/>
          </p:cNvSpPr>
          <p:nvPr/>
        </p:nvSpPr>
        <p:spPr>
          <a:xfrm>
            <a:off x="222504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Mobile Apps</a:t>
            </a:r>
          </a:p>
        </p:txBody>
      </p:sp>
      <p:sp>
        <p:nvSpPr>
          <p:cNvPr id="89" name="application-items-3-box">
            <a:extLst>
              <a:ext uri="{FF2B5EF4-FFF2-40B4-BE49-F238E27FC236}">
                <a16:creationId xmlns:a16="http://schemas.microsoft.com/office/drawing/2014/main" id="{AF6EAF3A-86AC-BECC-5A7D-DE5355C98487}"/>
              </a:ext>
            </a:extLst>
          </p:cNvPr>
          <p:cNvSpPr>
            <a:spLocks noGrp="1"/>
          </p:cNvSpPr>
          <p:nvPr/>
        </p:nvSpPr>
        <p:spPr>
          <a:xfrm>
            <a:off x="344043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Enterprise Applications</a:t>
            </a:r>
          </a:p>
        </p:txBody>
      </p:sp>
      <p:sp>
        <p:nvSpPr>
          <p:cNvPr id="90" name="application-items-4-box">
            <a:extLst>
              <a:ext uri="{FF2B5EF4-FFF2-40B4-BE49-F238E27FC236}">
                <a16:creationId xmlns:a16="http://schemas.microsoft.com/office/drawing/2014/main" id="{34B4D230-2C91-F76F-810B-3B7C3D5A2CB2}"/>
              </a:ext>
            </a:extLst>
          </p:cNvPr>
          <p:cNvSpPr>
            <a:spLocks noGrp="1"/>
          </p:cNvSpPr>
          <p:nvPr/>
        </p:nvSpPr>
        <p:spPr>
          <a:xfrm>
            <a:off x="465582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Third-party Applications</a:t>
            </a:r>
          </a:p>
        </p:txBody>
      </p:sp>
      <p:sp>
        <p:nvSpPr>
          <p:cNvPr id="91" name="application-items-5-box">
            <a:extLst>
              <a:ext uri="{FF2B5EF4-FFF2-40B4-BE49-F238E27FC236}">
                <a16:creationId xmlns:a16="http://schemas.microsoft.com/office/drawing/2014/main" id="{1D1A6355-73EA-D445-E7EF-D9224D4305DF}"/>
              </a:ext>
            </a:extLst>
          </p:cNvPr>
          <p:cNvSpPr>
            <a:spLocks noGrp="1"/>
          </p:cNvSpPr>
          <p:nvPr/>
        </p:nvSpPr>
        <p:spPr>
          <a:xfrm>
            <a:off x="5871211" y="1281294"/>
            <a:ext cx="1177290" cy="247650"/>
          </a:xfrm>
          <a:prstGeom prst="roundRect">
            <a:avLst>
              <a:gd name="adj" fmla="val 15385"/>
            </a:avLst>
          </a:prstGeom>
          <a:solidFill>
            <a:srgbClr val="FFFFFF"/>
          </a:solidFill>
          <a:ln w="9525">
            <a:solidFill>
              <a:srgbClr val="D7DEE8"/>
            </a:solidFill>
            <a:prstDash val="solid"/>
          </a:ln>
        </p:spPr>
        <p:txBody>
          <a:bodyPr wrap="square" lIns="28575" tIns="9525" rIns="28575" bIns="9525" anchor="ctr">
            <a:normAutofit/>
          </a:bodyPr>
          <a:lstStyle/>
          <a:p>
            <a:pPr algn="ctr">
              <a:defRPr sz="563" b="0">
                <a:solidFill>
                  <a:srgbClr val="102031"/>
                </a:solidFill>
                <a:latin typeface="Arial"/>
                <a:ea typeface="Arial"/>
                <a:cs typeface="Arial"/>
              </a:defRPr>
            </a:pPr>
            <a:r>
              <a:rPr sz="700" b="0">
                <a:solidFill>
                  <a:srgbClr val="102031"/>
                </a:solidFill>
                <a:latin typeface="Arial"/>
                <a:ea typeface="Arial"/>
                <a:cs typeface="Arial"/>
              </a:rPr>
              <a:t>…</a:t>
            </a:r>
          </a:p>
        </p:txBody>
      </p:sp>
      <p:sp>
        <p:nvSpPr>
          <p:cNvPr id="92" name="inference-rail-box">
            <a:extLst>
              <a:ext uri="{FF2B5EF4-FFF2-40B4-BE49-F238E27FC236}">
                <a16:creationId xmlns:a16="http://schemas.microsoft.com/office/drawing/2014/main" id="{18DF6413-76FC-31B2-239D-B1BF29732B34}"/>
              </a:ext>
            </a:extLst>
          </p:cNvPr>
          <p:cNvSpPr>
            <a:spLocks noGrp="1"/>
          </p:cNvSpPr>
          <p:nvPr/>
        </p:nvSpPr>
        <p:spPr>
          <a:xfrm>
            <a:off x="76201" y="1652769"/>
            <a:ext cx="762000" cy="2057400"/>
          </a:xfrm>
          <a:prstGeom prst="roundRect">
            <a:avLst>
              <a:gd name="adj" fmla="val 5000"/>
            </a:avLst>
          </a:prstGeom>
          <a:solidFill>
            <a:srgbClr val="102031"/>
          </a:solidFill>
          <a:ln w="9525">
            <a:solidFill>
              <a:srgbClr val="102031"/>
            </a:solidFill>
            <a:prstDash val="solid"/>
          </a:ln>
        </p:spPr>
        <p:txBody>
          <a:bodyPr wrap="square" lIns="28575" tIns="9525" rIns="28575" bIns="9525" anchor="ctr">
            <a:normAutofit/>
          </a:bodyPr>
          <a:lstStyle/>
          <a:p>
            <a:pPr algn="ctr">
              <a:defRPr sz="750" b="1">
                <a:solidFill>
                  <a:srgbClr val="FFFFFF"/>
                </a:solidFill>
                <a:latin typeface="Arial"/>
                <a:ea typeface="Arial"/>
                <a:cs typeface="Arial"/>
              </a:defRPr>
            </a:pPr>
            <a:r>
              <a:rPr sz="800" b="1" dirty="0">
                <a:solidFill>
                  <a:srgbClr val="FFFFFF"/>
                </a:solidFill>
                <a:latin typeface="Arial"/>
                <a:ea typeface="Arial"/>
                <a:cs typeface="Arial"/>
              </a:rPr>
              <a:t>Inference</a:t>
            </a:r>
          </a:p>
          <a:p>
            <a:pPr algn="ctr">
              <a:defRPr sz="750" b="1">
                <a:solidFill>
                  <a:srgbClr val="FFFFFF"/>
                </a:solidFill>
                <a:latin typeface="Arial"/>
                <a:ea typeface="Arial"/>
                <a:cs typeface="Arial"/>
              </a:defRPr>
            </a:pPr>
            <a:r>
              <a:rPr sz="800" b="1" dirty="0">
                <a:solidFill>
                  <a:srgbClr val="FFFFFF"/>
                </a:solidFill>
                <a:latin typeface="Arial"/>
                <a:ea typeface="Arial"/>
                <a:cs typeface="Arial"/>
              </a:rPr>
              <a:t>Layer</a:t>
            </a:r>
          </a:p>
        </p:txBody>
      </p:sp>
      <p:sp>
        <p:nvSpPr>
          <p:cNvPr id="93" name="inference-core-surface">
            <a:extLst>
              <a:ext uri="{FF2B5EF4-FFF2-40B4-BE49-F238E27FC236}">
                <a16:creationId xmlns:a16="http://schemas.microsoft.com/office/drawing/2014/main" id="{318E048E-0E1C-139B-BB3F-18BC924CB124}"/>
              </a:ext>
            </a:extLst>
          </p:cNvPr>
          <p:cNvSpPr>
            <a:spLocks noGrp="1"/>
          </p:cNvSpPr>
          <p:nvPr/>
        </p:nvSpPr>
        <p:spPr>
          <a:xfrm>
            <a:off x="933451" y="1652769"/>
            <a:ext cx="6191250" cy="2057400"/>
          </a:xfrm>
          <a:prstGeom prst="roundRect">
            <a:avLst>
              <a:gd name="adj" fmla="val 2315"/>
            </a:avLst>
          </a:prstGeom>
          <a:solidFill>
            <a:srgbClr val="F9FCF7"/>
          </a:solidFill>
          <a:ln w="9525">
            <a:solidFill>
              <a:srgbClr val="CFE3C7"/>
            </a:solidFill>
            <a:prstDash val="solid"/>
          </a:ln>
        </p:spPr>
        <p:txBody>
          <a:bodyPr/>
          <a:lstStyle/>
          <a:p>
            <a:endParaRPr lang="zh-CN" altLang="en-US" sz="1600"/>
          </a:p>
        </p:txBody>
      </p:sp>
      <p:sp>
        <p:nvSpPr>
          <p:cNvPr id="94" name="inferx-box">
            <a:extLst>
              <a:ext uri="{FF2B5EF4-FFF2-40B4-BE49-F238E27FC236}">
                <a16:creationId xmlns:a16="http://schemas.microsoft.com/office/drawing/2014/main" id="{220BC63F-1079-1FEB-140C-CF510E2917AD}"/>
              </a:ext>
            </a:extLst>
          </p:cNvPr>
          <p:cNvSpPr>
            <a:spLocks noGrp="1"/>
          </p:cNvSpPr>
          <p:nvPr/>
        </p:nvSpPr>
        <p:spPr>
          <a:xfrm>
            <a:off x="990601" y="1709919"/>
            <a:ext cx="6019800" cy="219075"/>
          </a:xfrm>
          <a:prstGeom prst="roundRect">
            <a:avLst>
              <a:gd name="adj" fmla="val 21739"/>
            </a:avLst>
          </a:prstGeom>
          <a:solidFill>
            <a:srgbClr val="247A06"/>
          </a:solidFill>
          <a:ln w="9525">
            <a:solidFill>
              <a:srgbClr val="247A06"/>
            </a:solidFill>
            <a:prstDash val="solid"/>
          </a:ln>
        </p:spPr>
        <p:txBody>
          <a:bodyPr wrap="square" lIns="28575" tIns="9525" rIns="28575" bIns="9525" anchor="ctr">
            <a:normAutofit/>
          </a:bodyPr>
          <a:lstStyle/>
          <a:p>
            <a:pPr algn="ctr">
              <a:defRPr sz="825" b="1">
                <a:solidFill>
                  <a:srgbClr val="FFFFFF"/>
                </a:solidFill>
                <a:latin typeface="Arial"/>
                <a:ea typeface="Arial"/>
                <a:cs typeface="Arial"/>
              </a:defRPr>
            </a:pPr>
            <a:r>
              <a:rPr lang="en-US" sz="900" b="1" dirty="0">
                <a:solidFill>
                  <a:srgbClr val="FFFFFF"/>
                </a:solidFill>
              </a:rPr>
              <a:t>AI</a:t>
            </a:r>
            <a:r>
              <a:rPr lang="en-US" sz="900" b="1" dirty="0">
                <a:solidFill>
                  <a:srgbClr val="FFFFFF"/>
                </a:solidFill>
                <a:latin typeface="Arial"/>
                <a:ea typeface="Arial"/>
                <a:cs typeface="Arial"/>
              </a:rPr>
              <a:t> </a:t>
            </a:r>
            <a:r>
              <a:rPr lang="en-US" sz="900" b="1" dirty="0">
                <a:solidFill>
                  <a:srgbClr val="FFFFFF"/>
                </a:solidFill>
              </a:rPr>
              <a:t>G</a:t>
            </a:r>
            <a:r>
              <a:rPr lang="en-US" sz="900" b="1" dirty="0">
                <a:solidFill>
                  <a:srgbClr val="FFFFFF"/>
                </a:solidFill>
                <a:latin typeface="Arial"/>
                <a:ea typeface="Arial"/>
                <a:cs typeface="Arial"/>
              </a:rPr>
              <a:t>ateway</a:t>
            </a:r>
            <a:r>
              <a:rPr sz="900" b="1" dirty="0">
                <a:solidFill>
                  <a:srgbClr val="FFFFFF"/>
                </a:solidFill>
                <a:latin typeface="Arial"/>
                <a:ea typeface="Arial"/>
                <a:cs typeface="Arial"/>
              </a:rPr>
              <a:t> </a:t>
            </a:r>
            <a:r>
              <a:rPr lang="en-US" sz="900" b="1" dirty="0">
                <a:solidFill>
                  <a:srgbClr val="FFFFFF"/>
                </a:solidFill>
                <a:latin typeface="Arial"/>
                <a:ea typeface="Arial"/>
                <a:cs typeface="Arial"/>
              </a:rPr>
              <a:t>(Business Logic)</a:t>
            </a:r>
            <a:r>
              <a:rPr sz="900" b="1" dirty="0">
                <a:solidFill>
                  <a:srgbClr val="FFFFFF"/>
                </a:solidFill>
                <a:latin typeface="Arial"/>
                <a:ea typeface="Arial"/>
                <a:cs typeface="Arial"/>
              </a:rPr>
              <a:t> (</a:t>
            </a:r>
            <a:r>
              <a:rPr lang="en-US" sz="900" b="1" dirty="0" err="1">
                <a:solidFill>
                  <a:srgbClr val="FFFFFF"/>
                </a:solidFill>
                <a:latin typeface="Arial"/>
                <a:ea typeface="Arial"/>
                <a:cs typeface="Arial"/>
              </a:rPr>
              <a:t>AgentGateway</a:t>
            </a:r>
            <a:r>
              <a:rPr lang="en-US" sz="900" b="1" dirty="0">
                <a:solidFill>
                  <a:srgbClr val="FFFFFF"/>
                </a:solidFill>
              </a:rPr>
              <a:t> , Higress</a:t>
            </a:r>
            <a:r>
              <a:rPr sz="900" b="1" dirty="0">
                <a:solidFill>
                  <a:srgbClr val="FFFFFF"/>
                </a:solidFill>
                <a:latin typeface="Arial"/>
                <a:ea typeface="Arial"/>
                <a:cs typeface="Arial"/>
              </a:rPr>
              <a:t>)</a:t>
            </a:r>
          </a:p>
        </p:txBody>
      </p:sp>
      <p:sp>
        <p:nvSpPr>
          <p:cNvPr id="95" name="orchestration-frame">
            <a:extLst>
              <a:ext uri="{FF2B5EF4-FFF2-40B4-BE49-F238E27FC236}">
                <a16:creationId xmlns:a16="http://schemas.microsoft.com/office/drawing/2014/main" id="{8FB5F1C0-3018-7932-FBBC-E52D91340907}"/>
              </a:ext>
            </a:extLst>
          </p:cNvPr>
          <p:cNvSpPr>
            <a:spLocks noGrp="1"/>
          </p:cNvSpPr>
          <p:nvPr/>
        </p:nvSpPr>
        <p:spPr>
          <a:xfrm>
            <a:off x="990601" y="1976619"/>
            <a:ext cx="6076950" cy="514350"/>
          </a:xfrm>
          <a:prstGeom prst="roundRect">
            <a:avLst>
              <a:gd name="adj" fmla="val 7407"/>
            </a:avLst>
          </a:prstGeom>
          <a:solidFill>
            <a:srgbClr val="FFFFFF"/>
          </a:solidFill>
          <a:ln w="9525">
            <a:solidFill>
              <a:srgbClr val="CFE3C7"/>
            </a:solidFill>
            <a:prstDash val="solid"/>
          </a:ln>
        </p:spPr>
        <p:txBody>
          <a:bodyPr/>
          <a:lstStyle/>
          <a:p>
            <a:endParaRPr lang="zh-CN" altLang="en-US" sz="1600"/>
          </a:p>
        </p:txBody>
      </p:sp>
      <p:sp>
        <p:nvSpPr>
          <p:cNvPr id="96" name="orchestration-title">
            <a:extLst>
              <a:ext uri="{FF2B5EF4-FFF2-40B4-BE49-F238E27FC236}">
                <a16:creationId xmlns:a16="http://schemas.microsoft.com/office/drawing/2014/main" id="{5BA7DF17-5A3A-A056-85FE-9BB04DABD02F}"/>
              </a:ext>
            </a:extLst>
          </p:cNvPr>
          <p:cNvSpPr>
            <a:spLocks noGrp="1"/>
          </p:cNvSpPr>
          <p:nvPr/>
        </p:nvSpPr>
        <p:spPr>
          <a:xfrm>
            <a:off x="1047751" y="2005194"/>
            <a:ext cx="5962650" cy="133350"/>
          </a:xfrm>
          <a:prstGeom prst="rect">
            <a:avLst/>
          </a:prstGeom>
          <a:noFill/>
          <a:ln w="0">
            <a:noFill/>
            <a:prstDash val="solid"/>
          </a:ln>
        </p:spPr>
        <p:txBody>
          <a:bodyPr wrap="square" lIns="19050" tIns="9525" rIns="19050" bIns="9525" anchor="ctr">
            <a:noAutofit/>
          </a:bodyPr>
          <a:lstStyle/>
          <a:p>
            <a:pPr algn="ctr">
              <a:defRPr sz="675" b="1">
                <a:solidFill>
                  <a:srgbClr val="2F8B45"/>
                </a:solidFill>
                <a:latin typeface="Arial"/>
                <a:ea typeface="Arial"/>
                <a:cs typeface="Arial"/>
              </a:defRPr>
            </a:pPr>
            <a:r>
              <a:rPr sz="800" b="1" dirty="0">
                <a:solidFill>
                  <a:srgbClr val="2F8B45"/>
                </a:solidFill>
                <a:latin typeface="Arial"/>
                <a:ea typeface="Arial"/>
                <a:cs typeface="Arial"/>
              </a:rPr>
              <a:t>Orchestration Layer  (LLM-D</a:t>
            </a:r>
            <a:r>
              <a:rPr lang="en-US" sz="800" b="1" dirty="0">
                <a:solidFill>
                  <a:srgbClr val="2F8B45"/>
                </a:solidFill>
                <a:latin typeface="Arial"/>
                <a:ea typeface="Arial"/>
                <a:cs typeface="Arial"/>
              </a:rPr>
              <a:t>, KAITO, Dynamo</a:t>
            </a:r>
            <a:r>
              <a:rPr sz="800" b="1" dirty="0">
                <a:solidFill>
                  <a:srgbClr val="2F8B45"/>
                </a:solidFill>
                <a:latin typeface="Arial"/>
                <a:ea typeface="Arial"/>
                <a:cs typeface="Arial"/>
              </a:rPr>
              <a:t>)</a:t>
            </a:r>
          </a:p>
        </p:txBody>
      </p:sp>
      <p:sp>
        <p:nvSpPr>
          <p:cNvPr id="97" name="orchestration-capabilities-1-box">
            <a:extLst>
              <a:ext uri="{FF2B5EF4-FFF2-40B4-BE49-F238E27FC236}">
                <a16:creationId xmlns:a16="http://schemas.microsoft.com/office/drawing/2014/main" id="{0B42DAF5-12F5-56C0-C211-F8B2FA28F646}"/>
              </a:ext>
            </a:extLst>
          </p:cNvPr>
          <p:cNvSpPr>
            <a:spLocks noGrp="1"/>
          </p:cNvSpPr>
          <p:nvPr/>
        </p:nvSpPr>
        <p:spPr>
          <a:xfrm>
            <a:off x="1711146"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Service</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Orchestration</a:t>
            </a:r>
          </a:p>
        </p:txBody>
      </p:sp>
      <p:sp>
        <p:nvSpPr>
          <p:cNvPr id="98" name="orchestration-capabilities-2-box">
            <a:extLst>
              <a:ext uri="{FF2B5EF4-FFF2-40B4-BE49-F238E27FC236}">
                <a16:creationId xmlns:a16="http://schemas.microsoft.com/office/drawing/2014/main" id="{C460F9DE-7201-3B00-BFAC-6B4779F72D19}"/>
              </a:ext>
            </a:extLst>
          </p:cNvPr>
          <p:cNvSpPr>
            <a:spLocks noGrp="1"/>
          </p:cNvSpPr>
          <p:nvPr/>
        </p:nvSpPr>
        <p:spPr>
          <a:xfrm>
            <a:off x="256703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Routing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Load Balancing</a:t>
            </a:r>
          </a:p>
        </p:txBody>
      </p:sp>
      <p:sp>
        <p:nvSpPr>
          <p:cNvPr id="99" name="orchestration-capabilities-3-box">
            <a:extLst>
              <a:ext uri="{FF2B5EF4-FFF2-40B4-BE49-F238E27FC236}">
                <a16:creationId xmlns:a16="http://schemas.microsoft.com/office/drawing/2014/main" id="{CDDCCF35-840B-3FA3-7C86-F00B5F1D7F12}"/>
              </a:ext>
            </a:extLst>
          </p:cNvPr>
          <p:cNvSpPr>
            <a:spLocks noGrp="1"/>
          </p:cNvSpPr>
          <p:nvPr/>
        </p:nvSpPr>
        <p:spPr>
          <a:xfrm>
            <a:off x="3422925"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Scheduling &amp;</a:t>
            </a:r>
          </a:p>
          <a:p>
            <a:pPr algn="ctr">
              <a:defRPr sz="465" b="0">
                <a:solidFill>
                  <a:srgbClr val="102031"/>
                </a:solidFill>
                <a:latin typeface="Arial"/>
                <a:ea typeface="Arial"/>
                <a:cs typeface="Arial"/>
              </a:defRPr>
            </a:pPr>
            <a:r>
              <a:rPr sz="600" b="0">
                <a:solidFill>
                  <a:srgbClr val="102031"/>
                </a:solidFill>
                <a:latin typeface="Arial"/>
                <a:ea typeface="Arial"/>
                <a:cs typeface="Arial"/>
              </a:rPr>
              <a:t>Autoscaling</a:t>
            </a:r>
          </a:p>
        </p:txBody>
      </p:sp>
      <p:sp>
        <p:nvSpPr>
          <p:cNvPr id="100" name="orchestration-capabilities-4-box">
            <a:extLst>
              <a:ext uri="{FF2B5EF4-FFF2-40B4-BE49-F238E27FC236}">
                <a16:creationId xmlns:a16="http://schemas.microsoft.com/office/drawing/2014/main" id="{DB1B3049-C44C-3902-4B37-8DAB89330443}"/>
              </a:ext>
            </a:extLst>
          </p:cNvPr>
          <p:cNvSpPr>
            <a:spLocks noGrp="1"/>
          </p:cNvSpPr>
          <p:nvPr/>
        </p:nvSpPr>
        <p:spPr>
          <a:xfrm>
            <a:off x="4278814"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Policy &amp; Strategy</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Management</a:t>
            </a:r>
          </a:p>
        </p:txBody>
      </p:sp>
      <p:sp>
        <p:nvSpPr>
          <p:cNvPr id="102" name="orchestration-capabilities-6-box">
            <a:extLst>
              <a:ext uri="{FF2B5EF4-FFF2-40B4-BE49-F238E27FC236}">
                <a16:creationId xmlns:a16="http://schemas.microsoft.com/office/drawing/2014/main" id="{D4C56765-5941-5A9B-11A7-CA3184DF781D}"/>
              </a:ext>
            </a:extLst>
          </p:cNvPr>
          <p:cNvSpPr>
            <a:spLocks noGrp="1"/>
          </p:cNvSpPr>
          <p:nvPr/>
        </p:nvSpPr>
        <p:spPr>
          <a:xfrm>
            <a:off x="520409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a:solidFill>
                  <a:srgbClr val="102031"/>
                </a:solidFill>
                <a:latin typeface="Arial"/>
                <a:ea typeface="Arial"/>
                <a:cs typeface="Arial"/>
              </a:rPr>
              <a:t>Elastic</a:t>
            </a:r>
          </a:p>
          <a:p>
            <a:pPr algn="ctr">
              <a:defRPr sz="465" b="0">
                <a:solidFill>
                  <a:srgbClr val="102031"/>
                </a:solidFill>
                <a:latin typeface="Arial"/>
                <a:ea typeface="Arial"/>
                <a:cs typeface="Arial"/>
              </a:defRPr>
            </a:pPr>
            <a:r>
              <a:rPr sz="600" b="0">
                <a:solidFill>
                  <a:srgbClr val="102031"/>
                </a:solidFill>
                <a:latin typeface="Arial"/>
                <a:ea typeface="Arial"/>
                <a:cs typeface="Arial"/>
              </a:rPr>
              <a:t>Scaling</a:t>
            </a:r>
          </a:p>
        </p:txBody>
      </p:sp>
      <p:sp>
        <p:nvSpPr>
          <p:cNvPr id="103" name="orchestration-capabilities-7-box">
            <a:extLst>
              <a:ext uri="{FF2B5EF4-FFF2-40B4-BE49-F238E27FC236}">
                <a16:creationId xmlns:a16="http://schemas.microsoft.com/office/drawing/2014/main" id="{142455BB-019D-478E-144D-E85B309E82DD}"/>
              </a:ext>
            </a:extLst>
          </p:cNvPr>
          <p:cNvSpPr>
            <a:spLocks noGrp="1"/>
          </p:cNvSpPr>
          <p:nvPr/>
        </p:nvSpPr>
        <p:spPr>
          <a:xfrm>
            <a:off x="6059989" y="2160017"/>
            <a:ext cx="827314" cy="266700"/>
          </a:xfrm>
          <a:prstGeom prst="roundRect">
            <a:avLst>
              <a:gd name="adj" fmla="val 14286"/>
            </a:avLst>
          </a:prstGeom>
          <a:solidFill>
            <a:srgbClr val="F7FBF4"/>
          </a:solidFill>
          <a:ln w="9525">
            <a:solidFill>
              <a:srgbClr val="D4E8CB"/>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Observability &amp;</a:t>
            </a:r>
          </a:p>
          <a:p>
            <a:pPr algn="ctr">
              <a:defRPr sz="465" b="0">
                <a:solidFill>
                  <a:srgbClr val="102031"/>
                </a:solidFill>
                <a:latin typeface="Arial"/>
                <a:ea typeface="Arial"/>
                <a:cs typeface="Arial"/>
              </a:defRPr>
            </a:pPr>
            <a:r>
              <a:rPr sz="600" b="0" dirty="0">
                <a:solidFill>
                  <a:srgbClr val="102031"/>
                </a:solidFill>
                <a:latin typeface="Arial"/>
                <a:ea typeface="Arial"/>
                <a:cs typeface="Arial"/>
              </a:rPr>
              <a:t>Monitoring</a:t>
            </a:r>
          </a:p>
        </p:txBody>
      </p:sp>
      <p:sp>
        <p:nvSpPr>
          <p:cNvPr id="104" name="runtime-frame">
            <a:extLst>
              <a:ext uri="{FF2B5EF4-FFF2-40B4-BE49-F238E27FC236}">
                <a16:creationId xmlns:a16="http://schemas.microsoft.com/office/drawing/2014/main" id="{1FAF42A9-034D-2498-9D21-870CF65024CE}"/>
              </a:ext>
            </a:extLst>
          </p:cNvPr>
          <p:cNvSpPr>
            <a:spLocks noGrp="1"/>
          </p:cNvSpPr>
          <p:nvPr/>
        </p:nvSpPr>
        <p:spPr>
          <a:xfrm>
            <a:off x="990601" y="2538594"/>
            <a:ext cx="6076950" cy="409575"/>
          </a:xfrm>
          <a:prstGeom prst="roundRect">
            <a:avLst>
              <a:gd name="adj" fmla="val 9302"/>
            </a:avLst>
          </a:prstGeom>
          <a:solidFill>
            <a:srgbClr val="FFFFFF"/>
          </a:solidFill>
          <a:ln w="9525">
            <a:solidFill>
              <a:srgbClr val="CFE3C7"/>
            </a:solidFill>
            <a:prstDash val="solid"/>
          </a:ln>
        </p:spPr>
        <p:txBody>
          <a:bodyPr/>
          <a:lstStyle/>
          <a:p>
            <a:endParaRPr lang="zh-CN" altLang="en-US" sz="1600"/>
          </a:p>
        </p:txBody>
      </p:sp>
      <p:sp>
        <p:nvSpPr>
          <p:cNvPr id="105" name="runtime-title">
            <a:extLst>
              <a:ext uri="{FF2B5EF4-FFF2-40B4-BE49-F238E27FC236}">
                <a16:creationId xmlns:a16="http://schemas.microsoft.com/office/drawing/2014/main" id="{B1F77162-90B2-16C0-A95B-FBEEFECB9417}"/>
              </a:ext>
            </a:extLst>
          </p:cNvPr>
          <p:cNvSpPr>
            <a:spLocks noGrp="1"/>
          </p:cNvSpPr>
          <p:nvPr/>
        </p:nvSpPr>
        <p:spPr>
          <a:xfrm>
            <a:off x="1666876" y="2567169"/>
            <a:ext cx="5334000" cy="123825"/>
          </a:xfrm>
          <a:prstGeom prst="rect">
            <a:avLst/>
          </a:prstGeom>
          <a:noFill/>
          <a:ln w="0">
            <a:noFill/>
            <a:prstDash val="solid"/>
          </a:ln>
        </p:spPr>
        <p:txBody>
          <a:bodyPr wrap="square" lIns="19050" tIns="9525" rIns="19050" bIns="9525" anchor="ctr">
            <a:noAutofit/>
          </a:bodyPr>
          <a:lstStyle/>
          <a:p>
            <a:pPr algn="ctr">
              <a:defRPr sz="638" b="1">
                <a:solidFill>
                  <a:srgbClr val="2F8B45"/>
                </a:solidFill>
                <a:latin typeface="Arial"/>
                <a:ea typeface="Arial"/>
                <a:cs typeface="Arial"/>
              </a:defRPr>
            </a:pPr>
            <a:r>
              <a:rPr sz="700" b="1" dirty="0">
                <a:solidFill>
                  <a:srgbClr val="2F8B45"/>
                </a:solidFill>
                <a:latin typeface="Arial"/>
                <a:ea typeface="Arial"/>
                <a:cs typeface="Arial"/>
              </a:rPr>
              <a:t>Inference Runtime Layer  (</a:t>
            </a:r>
            <a:r>
              <a:rPr sz="700" b="1" dirty="0" err="1">
                <a:solidFill>
                  <a:srgbClr val="2F8B45"/>
                </a:solidFill>
                <a:latin typeface="Arial"/>
                <a:ea typeface="Arial"/>
                <a:cs typeface="Arial"/>
              </a:rPr>
              <a:t>vLLM</a:t>
            </a:r>
            <a:r>
              <a:rPr lang="en-US" sz="700" b="1" dirty="0">
                <a:solidFill>
                  <a:srgbClr val="2F8B45"/>
                </a:solidFill>
                <a:latin typeface="Arial"/>
                <a:ea typeface="Arial"/>
                <a:cs typeface="Arial"/>
              </a:rPr>
              <a:t>, </a:t>
            </a:r>
            <a:r>
              <a:rPr lang="en-US" sz="700" b="1" dirty="0" err="1">
                <a:solidFill>
                  <a:srgbClr val="2F8B45"/>
                </a:solidFill>
                <a:latin typeface="Arial"/>
                <a:ea typeface="Arial"/>
                <a:cs typeface="Arial"/>
              </a:rPr>
              <a:t>SGLang</a:t>
            </a:r>
            <a:r>
              <a:rPr lang="en-US" sz="700" b="1" dirty="0">
                <a:solidFill>
                  <a:srgbClr val="2F8B45"/>
                </a:solidFill>
                <a:latin typeface="Arial"/>
                <a:ea typeface="Arial"/>
                <a:cs typeface="Arial"/>
              </a:rPr>
              <a:t>, Triton </a:t>
            </a:r>
            <a:r>
              <a:rPr sz="700" b="1" dirty="0">
                <a:solidFill>
                  <a:srgbClr val="2F8B45"/>
                </a:solidFill>
                <a:latin typeface="Arial"/>
                <a:ea typeface="Arial"/>
                <a:cs typeface="Arial"/>
              </a:rPr>
              <a:t>)</a:t>
            </a:r>
          </a:p>
        </p:txBody>
      </p:sp>
      <p:sp>
        <p:nvSpPr>
          <p:cNvPr id="106" name="vllm-wordmark">
            <a:extLst>
              <a:ext uri="{FF2B5EF4-FFF2-40B4-BE49-F238E27FC236}">
                <a16:creationId xmlns:a16="http://schemas.microsoft.com/office/drawing/2014/main" id="{1735F861-B3FD-E358-3BB5-BA350EE256E2}"/>
              </a:ext>
            </a:extLst>
          </p:cNvPr>
          <p:cNvSpPr>
            <a:spLocks noGrp="1"/>
          </p:cNvSpPr>
          <p:nvPr/>
        </p:nvSpPr>
        <p:spPr>
          <a:xfrm>
            <a:off x="1066801" y="2681469"/>
            <a:ext cx="552450" cy="190500"/>
          </a:xfrm>
          <a:prstGeom prst="rect">
            <a:avLst/>
          </a:prstGeom>
          <a:noFill/>
          <a:ln w="0">
            <a:noFill/>
            <a:prstDash val="solid"/>
          </a:ln>
        </p:spPr>
        <p:txBody>
          <a:bodyPr wrap="square" lIns="19050" tIns="9525" rIns="19050" bIns="9525" anchor="ctr">
            <a:noAutofit/>
          </a:bodyPr>
          <a:lstStyle/>
          <a:p>
            <a:pPr algn="ctr">
              <a:defRPr sz="1200" b="1">
                <a:solidFill>
                  <a:srgbClr val="475569"/>
                </a:solidFill>
                <a:latin typeface="Arial"/>
                <a:ea typeface="Arial"/>
                <a:cs typeface="Arial"/>
              </a:defRPr>
            </a:pPr>
            <a:r>
              <a:rPr sz="1200" b="1" dirty="0" err="1">
                <a:solidFill>
                  <a:srgbClr val="475569"/>
                </a:solidFill>
                <a:latin typeface="Arial"/>
                <a:ea typeface="Arial"/>
                <a:cs typeface="Arial"/>
              </a:rPr>
              <a:t>vLLM</a:t>
            </a:r>
            <a:endParaRPr sz="1200" b="1" dirty="0">
              <a:solidFill>
                <a:srgbClr val="475569"/>
              </a:solidFill>
              <a:latin typeface="Arial"/>
              <a:ea typeface="Arial"/>
              <a:cs typeface="Arial"/>
            </a:endParaRPr>
          </a:p>
        </p:txBody>
      </p:sp>
      <p:sp>
        <p:nvSpPr>
          <p:cNvPr id="107" name="runtime-capabilities-1-box">
            <a:extLst>
              <a:ext uri="{FF2B5EF4-FFF2-40B4-BE49-F238E27FC236}">
                <a16:creationId xmlns:a16="http://schemas.microsoft.com/office/drawing/2014/main" id="{1B5EEE5A-CE88-FD07-0F39-5C91565950A2}"/>
              </a:ext>
            </a:extLst>
          </p:cNvPr>
          <p:cNvSpPr>
            <a:spLocks noGrp="1"/>
          </p:cNvSpPr>
          <p:nvPr/>
        </p:nvSpPr>
        <p:spPr>
          <a:xfrm>
            <a:off x="167640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Continuous Batching</a:t>
            </a:r>
          </a:p>
        </p:txBody>
      </p:sp>
      <p:sp>
        <p:nvSpPr>
          <p:cNvPr id="108" name="runtime-capabilities-2-box">
            <a:extLst>
              <a:ext uri="{FF2B5EF4-FFF2-40B4-BE49-F238E27FC236}">
                <a16:creationId xmlns:a16="http://schemas.microsoft.com/office/drawing/2014/main" id="{8231CD6F-71C3-8B76-1B47-9F0F0DC17A8F}"/>
              </a:ext>
            </a:extLst>
          </p:cNvPr>
          <p:cNvSpPr>
            <a:spLocks noGrp="1"/>
          </p:cNvSpPr>
          <p:nvPr/>
        </p:nvSpPr>
        <p:spPr>
          <a:xfrm>
            <a:off x="256698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Paged Attention</a:t>
            </a:r>
          </a:p>
        </p:txBody>
      </p:sp>
      <p:sp>
        <p:nvSpPr>
          <p:cNvPr id="109" name="runtime-capabilities-3-box">
            <a:extLst>
              <a:ext uri="{FF2B5EF4-FFF2-40B4-BE49-F238E27FC236}">
                <a16:creationId xmlns:a16="http://schemas.microsoft.com/office/drawing/2014/main" id="{0D66DF2C-42DA-189C-E7EA-7816A229F0E3}"/>
              </a:ext>
            </a:extLst>
          </p:cNvPr>
          <p:cNvSpPr>
            <a:spLocks noGrp="1"/>
          </p:cNvSpPr>
          <p:nvPr/>
        </p:nvSpPr>
        <p:spPr>
          <a:xfrm>
            <a:off x="3457576"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Speculative Decoding</a:t>
            </a:r>
          </a:p>
        </p:txBody>
      </p:sp>
      <p:sp>
        <p:nvSpPr>
          <p:cNvPr id="110" name="runtime-capabilities-4-box">
            <a:extLst>
              <a:ext uri="{FF2B5EF4-FFF2-40B4-BE49-F238E27FC236}">
                <a16:creationId xmlns:a16="http://schemas.microsoft.com/office/drawing/2014/main" id="{30C600C0-E27C-C2C8-5F01-5F570FB8A7E4}"/>
              </a:ext>
            </a:extLst>
          </p:cNvPr>
          <p:cNvSpPr>
            <a:spLocks noGrp="1"/>
          </p:cNvSpPr>
          <p:nvPr/>
        </p:nvSpPr>
        <p:spPr>
          <a:xfrm>
            <a:off x="4348164"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Multi-LoRA</a:t>
            </a:r>
          </a:p>
        </p:txBody>
      </p:sp>
      <p:sp>
        <p:nvSpPr>
          <p:cNvPr id="111" name="runtime-capabilities-5-box">
            <a:extLst>
              <a:ext uri="{FF2B5EF4-FFF2-40B4-BE49-F238E27FC236}">
                <a16:creationId xmlns:a16="http://schemas.microsoft.com/office/drawing/2014/main" id="{BF57638F-BE9A-670B-FBAF-FD8B9860ED44}"/>
              </a:ext>
            </a:extLst>
          </p:cNvPr>
          <p:cNvSpPr>
            <a:spLocks noGrp="1"/>
          </p:cNvSpPr>
          <p:nvPr/>
        </p:nvSpPr>
        <p:spPr>
          <a:xfrm>
            <a:off x="5238751"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Prefix Cache</a:t>
            </a:r>
          </a:p>
        </p:txBody>
      </p:sp>
      <p:sp>
        <p:nvSpPr>
          <p:cNvPr id="112" name="runtime-capabilities-6-box">
            <a:extLst>
              <a:ext uri="{FF2B5EF4-FFF2-40B4-BE49-F238E27FC236}">
                <a16:creationId xmlns:a16="http://schemas.microsoft.com/office/drawing/2014/main" id="{79144BC9-1D6E-9DDF-CC7A-1C253E4EA11F}"/>
              </a:ext>
            </a:extLst>
          </p:cNvPr>
          <p:cNvSpPr>
            <a:spLocks noGrp="1"/>
          </p:cNvSpPr>
          <p:nvPr/>
        </p:nvSpPr>
        <p:spPr>
          <a:xfrm>
            <a:off x="6129339" y="2710044"/>
            <a:ext cx="862013" cy="171450"/>
          </a:xfrm>
          <a:prstGeom prst="roundRect">
            <a:avLst>
              <a:gd name="adj" fmla="val 22222"/>
            </a:avLst>
          </a:prstGeom>
          <a:solidFill>
            <a:srgbClr val="F8FAF5"/>
          </a:solidFill>
          <a:ln w="9525">
            <a:solidFill>
              <a:srgbClr val="D8E6D1"/>
            </a:solidFill>
            <a:prstDash val="solid"/>
          </a:ln>
        </p:spPr>
        <p:txBody>
          <a:bodyPr wrap="square" lIns="28575" tIns="9525" rIns="28575" bIns="9525" anchor="ctr">
            <a:normAutofit/>
          </a:bodyPr>
          <a:lstStyle/>
          <a:p>
            <a:pPr algn="ctr">
              <a:defRPr sz="480" b="0">
                <a:solidFill>
                  <a:srgbClr val="102031"/>
                </a:solidFill>
                <a:latin typeface="Arial"/>
                <a:ea typeface="Arial"/>
                <a:cs typeface="Arial"/>
              </a:defRPr>
            </a:pPr>
            <a:r>
              <a:rPr sz="600" b="0">
                <a:solidFill>
                  <a:srgbClr val="102031"/>
                </a:solidFill>
                <a:latin typeface="Arial"/>
                <a:ea typeface="Arial"/>
                <a:cs typeface="Arial"/>
              </a:rPr>
              <a:t>…</a:t>
            </a:r>
          </a:p>
        </p:txBody>
      </p:sp>
      <p:sp>
        <p:nvSpPr>
          <p:cNvPr id="113" name="kv-frame">
            <a:extLst>
              <a:ext uri="{FF2B5EF4-FFF2-40B4-BE49-F238E27FC236}">
                <a16:creationId xmlns:a16="http://schemas.microsoft.com/office/drawing/2014/main" id="{2AEC3F3C-C0AE-2DCE-C52A-5FD994AE1283}"/>
              </a:ext>
            </a:extLst>
          </p:cNvPr>
          <p:cNvSpPr>
            <a:spLocks noGrp="1"/>
          </p:cNvSpPr>
          <p:nvPr/>
        </p:nvSpPr>
        <p:spPr>
          <a:xfrm>
            <a:off x="990601" y="2995794"/>
            <a:ext cx="6076950" cy="657225"/>
          </a:xfrm>
          <a:prstGeom prst="roundRect">
            <a:avLst>
              <a:gd name="adj" fmla="val 5797"/>
            </a:avLst>
          </a:prstGeom>
          <a:solidFill>
            <a:srgbClr val="FFFFFF"/>
          </a:solidFill>
          <a:ln w="9525">
            <a:solidFill>
              <a:srgbClr val="CFE3C7"/>
            </a:solidFill>
            <a:prstDash val="solid"/>
          </a:ln>
        </p:spPr>
        <p:txBody>
          <a:bodyPr/>
          <a:lstStyle/>
          <a:p>
            <a:endParaRPr lang="zh-CN" altLang="en-US" sz="1600"/>
          </a:p>
        </p:txBody>
      </p:sp>
      <p:sp>
        <p:nvSpPr>
          <p:cNvPr id="114" name="kv-title">
            <a:extLst>
              <a:ext uri="{FF2B5EF4-FFF2-40B4-BE49-F238E27FC236}">
                <a16:creationId xmlns:a16="http://schemas.microsoft.com/office/drawing/2014/main" id="{47181DCF-CFDD-7158-04D6-90A5F078E914}"/>
              </a:ext>
            </a:extLst>
          </p:cNvPr>
          <p:cNvSpPr>
            <a:spLocks noGrp="1"/>
          </p:cNvSpPr>
          <p:nvPr/>
        </p:nvSpPr>
        <p:spPr>
          <a:xfrm>
            <a:off x="1047751" y="3014844"/>
            <a:ext cx="5962650" cy="123825"/>
          </a:xfrm>
          <a:prstGeom prst="rect">
            <a:avLst/>
          </a:prstGeom>
          <a:noFill/>
          <a:ln w="0">
            <a:noFill/>
            <a:prstDash val="solid"/>
          </a:ln>
        </p:spPr>
        <p:txBody>
          <a:bodyPr wrap="square" lIns="19050" tIns="9525" rIns="19050" bIns="9525" anchor="ctr">
            <a:noAutofit/>
          </a:bodyPr>
          <a:lstStyle/>
          <a:p>
            <a:pPr algn="ctr">
              <a:defRPr sz="653" b="1">
                <a:solidFill>
                  <a:srgbClr val="2F8B45"/>
                </a:solidFill>
                <a:latin typeface="Arial"/>
                <a:ea typeface="Arial"/>
                <a:cs typeface="Arial"/>
              </a:defRPr>
            </a:pPr>
            <a:r>
              <a:rPr sz="800" b="1" dirty="0">
                <a:solidFill>
                  <a:srgbClr val="2F8B45"/>
                </a:solidFill>
                <a:latin typeface="Arial"/>
                <a:ea typeface="Arial"/>
                <a:cs typeface="Arial"/>
              </a:rPr>
              <a:t>KV-Cache Offload &amp; Management Layer  (</a:t>
            </a:r>
            <a:r>
              <a:rPr lang="en-US" sz="800" b="1" dirty="0" err="1">
                <a:solidFill>
                  <a:srgbClr val="2F8B45"/>
                </a:solidFill>
                <a:latin typeface="Arial"/>
                <a:ea typeface="Arial"/>
                <a:cs typeface="Arial"/>
              </a:rPr>
              <a:t>LMCache</a:t>
            </a:r>
            <a:r>
              <a:rPr lang="en-US" sz="800" b="1" dirty="0">
                <a:solidFill>
                  <a:srgbClr val="2F8B45"/>
                </a:solidFill>
                <a:latin typeface="Arial"/>
                <a:ea typeface="Arial"/>
                <a:cs typeface="Arial"/>
              </a:rPr>
              <a:t>, KVBM</a:t>
            </a:r>
            <a:r>
              <a:rPr lang="en-US" sz="800" b="1" dirty="0">
                <a:solidFill>
                  <a:srgbClr val="2F8B45"/>
                </a:solidFill>
              </a:rPr>
              <a:t>, </a:t>
            </a:r>
            <a:r>
              <a:rPr lang="en-US" sz="800" b="1" dirty="0">
                <a:solidFill>
                  <a:srgbClr val="2F8B45"/>
                </a:solidFill>
                <a:latin typeface="Arial"/>
                <a:ea typeface="Arial"/>
                <a:cs typeface="Arial"/>
              </a:rPr>
              <a:t>Mooncake</a:t>
            </a:r>
            <a:r>
              <a:rPr sz="800" b="1" dirty="0">
                <a:solidFill>
                  <a:srgbClr val="2F8B45"/>
                </a:solidFill>
                <a:latin typeface="Arial"/>
                <a:ea typeface="Arial"/>
                <a:cs typeface="Arial"/>
              </a:rPr>
              <a:t>)</a:t>
            </a:r>
          </a:p>
        </p:txBody>
      </p:sp>
      <p:sp>
        <p:nvSpPr>
          <p:cNvPr id="115" name="kv-col-1">
            <a:extLst>
              <a:ext uri="{FF2B5EF4-FFF2-40B4-BE49-F238E27FC236}">
                <a16:creationId xmlns:a16="http://schemas.microsoft.com/office/drawing/2014/main" id="{EA1F52F3-EE9D-BB92-FE97-4D6B1DFAA101}"/>
              </a:ext>
            </a:extLst>
          </p:cNvPr>
          <p:cNvSpPr>
            <a:spLocks noGrp="1"/>
          </p:cNvSpPr>
          <p:nvPr/>
        </p:nvSpPr>
        <p:spPr>
          <a:xfrm>
            <a:off x="10477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6" name="kv-col-1-title">
            <a:extLst>
              <a:ext uri="{FF2B5EF4-FFF2-40B4-BE49-F238E27FC236}">
                <a16:creationId xmlns:a16="http://schemas.microsoft.com/office/drawing/2014/main" id="{BE4C0944-2FC8-C97E-1732-615921EF4C8D}"/>
              </a:ext>
            </a:extLst>
          </p:cNvPr>
          <p:cNvSpPr>
            <a:spLocks noGrp="1"/>
          </p:cNvSpPr>
          <p:nvPr/>
        </p:nvSpPr>
        <p:spPr>
          <a:xfrm>
            <a:off x="10668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KV Cache Management</a:t>
            </a:r>
          </a:p>
        </p:txBody>
      </p:sp>
      <p:sp>
        <p:nvSpPr>
          <p:cNvPr id="117" name="kv-col-1-body">
            <a:extLst>
              <a:ext uri="{FF2B5EF4-FFF2-40B4-BE49-F238E27FC236}">
                <a16:creationId xmlns:a16="http://schemas.microsoft.com/office/drawing/2014/main" id="{BC40F0CE-8360-1C41-8532-6F898F7566E3}"/>
              </a:ext>
            </a:extLst>
          </p:cNvPr>
          <p:cNvSpPr>
            <a:spLocks noGrp="1"/>
          </p:cNvSpPr>
          <p:nvPr/>
        </p:nvSpPr>
        <p:spPr>
          <a:xfrm>
            <a:off x="10763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KVBM</a:t>
            </a:r>
          </a:p>
          <a:p>
            <a:pPr algn="ctr">
              <a:defRPr sz="397" b="0">
                <a:solidFill>
                  <a:srgbClr val="102031"/>
                </a:solidFill>
                <a:latin typeface="Arial"/>
                <a:ea typeface="Arial"/>
                <a:cs typeface="Arial"/>
              </a:defRPr>
            </a:pPr>
            <a:r>
              <a:rPr sz="500" b="0">
                <a:solidFill>
                  <a:srgbClr val="102031"/>
                </a:solidFill>
                <a:latin typeface="Arial"/>
                <a:ea typeface="Arial"/>
                <a:cs typeface="Arial"/>
              </a:rPr>
              <a:t>LMCache</a:t>
            </a:r>
          </a:p>
          <a:p>
            <a:pPr algn="ctr">
              <a:defRPr sz="397" b="0">
                <a:solidFill>
                  <a:srgbClr val="102031"/>
                </a:solidFill>
                <a:latin typeface="Arial"/>
                <a:ea typeface="Arial"/>
                <a:cs typeface="Arial"/>
              </a:defRPr>
            </a:pPr>
            <a:r>
              <a:rPr sz="500" b="0">
                <a:solidFill>
                  <a:srgbClr val="102031"/>
                </a:solidFill>
                <a:latin typeface="Arial"/>
                <a:ea typeface="Arial"/>
                <a:cs typeface="Arial"/>
              </a:rPr>
              <a:t>Mooncake</a:t>
            </a:r>
          </a:p>
          <a:p>
            <a:pPr algn="ctr">
              <a:defRPr sz="397" b="0">
                <a:solidFill>
                  <a:srgbClr val="102031"/>
                </a:solidFill>
                <a:latin typeface="Arial"/>
                <a:ea typeface="Arial"/>
                <a:cs typeface="Arial"/>
              </a:defRPr>
            </a:pPr>
            <a:r>
              <a:rPr sz="500" b="0">
                <a:solidFill>
                  <a:srgbClr val="102031"/>
                </a:solidFill>
                <a:latin typeface="Arial"/>
                <a:ea typeface="Arial"/>
                <a:cs typeface="Arial"/>
              </a:rPr>
              <a:t>…</a:t>
            </a:r>
          </a:p>
        </p:txBody>
      </p:sp>
      <p:sp>
        <p:nvSpPr>
          <p:cNvPr id="118" name="kv-col-2">
            <a:extLst>
              <a:ext uri="{FF2B5EF4-FFF2-40B4-BE49-F238E27FC236}">
                <a16:creationId xmlns:a16="http://schemas.microsoft.com/office/drawing/2014/main" id="{5D38B01C-3D48-22EC-122E-E7DDB21B7DA1}"/>
              </a:ext>
            </a:extLst>
          </p:cNvPr>
          <p:cNvSpPr>
            <a:spLocks noGrp="1"/>
          </p:cNvSpPr>
          <p:nvPr/>
        </p:nvSpPr>
        <p:spPr>
          <a:xfrm>
            <a:off x="22479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19" name="kv-col-2-title">
            <a:extLst>
              <a:ext uri="{FF2B5EF4-FFF2-40B4-BE49-F238E27FC236}">
                <a16:creationId xmlns:a16="http://schemas.microsoft.com/office/drawing/2014/main" id="{223D98C9-3BE5-99F9-577E-D11575812298}"/>
              </a:ext>
            </a:extLst>
          </p:cNvPr>
          <p:cNvSpPr>
            <a:spLocks noGrp="1"/>
          </p:cNvSpPr>
          <p:nvPr/>
        </p:nvSpPr>
        <p:spPr>
          <a:xfrm>
            <a:off x="22669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Abstraction (NIXL)</a:t>
            </a:r>
          </a:p>
        </p:txBody>
      </p:sp>
      <p:sp>
        <p:nvSpPr>
          <p:cNvPr id="120" name="kv-col-2-body">
            <a:extLst>
              <a:ext uri="{FF2B5EF4-FFF2-40B4-BE49-F238E27FC236}">
                <a16:creationId xmlns:a16="http://schemas.microsoft.com/office/drawing/2014/main" id="{5A7AAD5E-D4A8-3867-7636-7C37C780A8CC}"/>
              </a:ext>
            </a:extLst>
          </p:cNvPr>
          <p:cNvSpPr>
            <a:spLocks noGrp="1"/>
          </p:cNvSpPr>
          <p:nvPr/>
        </p:nvSpPr>
        <p:spPr>
          <a:xfrm>
            <a:off x="227647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a:solidFill>
                  <a:srgbClr val="102031"/>
                </a:solidFill>
                <a:latin typeface="Arial"/>
                <a:ea typeface="Arial"/>
                <a:cs typeface="Arial"/>
              </a:rPr>
              <a:t>Unified Interface</a:t>
            </a:r>
          </a:p>
          <a:p>
            <a:pPr algn="ctr">
              <a:defRPr sz="397" b="0">
                <a:solidFill>
                  <a:srgbClr val="102031"/>
                </a:solidFill>
                <a:latin typeface="Arial"/>
                <a:ea typeface="Arial"/>
                <a:cs typeface="Arial"/>
              </a:defRPr>
            </a:pPr>
            <a:r>
              <a:rPr sz="500" b="0">
                <a:solidFill>
                  <a:srgbClr val="102031"/>
                </a:solidFill>
                <a:latin typeface="Arial"/>
                <a:ea typeface="Arial"/>
                <a:cs typeface="Arial"/>
              </a:rPr>
              <a:t>Tiered Storage Mgmt.</a:t>
            </a:r>
          </a:p>
          <a:p>
            <a:pPr algn="ctr">
              <a:defRPr sz="397" b="0">
                <a:solidFill>
                  <a:srgbClr val="102031"/>
                </a:solidFill>
                <a:latin typeface="Arial"/>
                <a:ea typeface="Arial"/>
                <a:cs typeface="Arial"/>
              </a:defRPr>
            </a:pPr>
            <a:r>
              <a:rPr sz="500" b="0">
                <a:solidFill>
                  <a:srgbClr val="102031"/>
                </a:solidFill>
                <a:latin typeface="Arial"/>
                <a:ea typeface="Arial"/>
                <a:cs typeface="Arial"/>
              </a:rPr>
              <a:t>Cache Policy</a:t>
            </a:r>
          </a:p>
          <a:p>
            <a:pPr algn="ctr">
              <a:defRPr sz="397" b="0">
                <a:solidFill>
                  <a:srgbClr val="102031"/>
                </a:solidFill>
                <a:latin typeface="Arial"/>
                <a:ea typeface="Arial"/>
                <a:cs typeface="Arial"/>
              </a:defRPr>
            </a:pPr>
            <a:r>
              <a:rPr sz="500" b="0">
                <a:solidFill>
                  <a:srgbClr val="102031"/>
                </a:solidFill>
                <a:latin typeface="Arial"/>
                <a:ea typeface="Arial"/>
                <a:cs typeface="Arial"/>
              </a:rPr>
              <a:t>Data Consistency</a:t>
            </a:r>
          </a:p>
        </p:txBody>
      </p:sp>
      <p:sp>
        <p:nvSpPr>
          <p:cNvPr id="121" name="kv-col-3">
            <a:extLst>
              <a:ext uri="{FF2B5EF4-FFF2-40B4-BE49-F238E27FC236}">
                <a16:creationId xmlns:a16="http://schemas.microsoft.com/office/drawing/2014/main" id="{03E3C4CC-A53E-7325-CD9B-FFCEB733698E}"/>
              </a:ext>
            </a:extLst>
          </p:cNvPr>
          <p:cNvSpPr>
            <a:spLocks noGrp="1"/>
          </p:cNvSpPr>
          <p:nvPr/>
        </p:nvSpPr>
        <p:spPr>
          <a:xfrm>
            <a:off x="34480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2" name="kv-col-3-title">
            <a:extLst>
              <a:ext uri="{FF2B5EF4-FFF2-40B4-BE49-F238E27FC236}">
                <a16:creationId xmlns:a16="http://schemas.microsoft.com/office/drawing/2014/main" id="{CB1131DB-E96F-8364-712C-33FD2CFD269A}"/>
              </a:ext>
            </a:extLst>
          </p:cNvPr>
          <p:cNvSpPr>
            <a:spLocks noGrp="1"/>
          </p:cNvSpPr>
          <p:nvPr/>
        </p:nvSpPr>
        <p:spPr>
          <a:xfrm>
            <a:off x="34671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Distributed Memory KV Transport</a:t>
            </a:r>
          </a:p>
        </p:txBody>
      </p:sp>
      <p:sp>
        <p:nvSpPr>
          <p:cNvPr id="123" name="kv-col-3-body">
            <a:extLst>
              <a:ext uri="{FF2B5EF4-FFF2-40B4-BE49-F238E27FC236}">
                <a16:creationId xmlns:a16="http://schemas.microsoft.com/office/drawing/2014/main" id="{8B80068E-4C4C-3A0E-5B67-3C766C4AFE41}"/>
              </a:ext>
            </a:extLst>
          </p:cNvPr>
          <p:cNvSpPr>
            <a:spLocks noGrp="1"/>
          </p:cNvSpPr>
          <p:nvPr/>
        </p:nvSpPr>
        <p:spPr>
          <a:xfrm>
            <a:off x="3476626" y="3281544"/>
            <a:ext cx="1104900" cy="295275"/>
          </a:xfrm>
          <a:prstGeom prst="rect">
            <a:avLst/>
          </a:prstGeom>
          <a:noFill/>
          <a:ln w="0">
            <a:noFill/>
            <a:prstDash val="solid"/>
          </a:ln>
        </p:spPr>
        <p:txBody>
          <a:bodyPr wrap="square" lIns="19050" tIns="9525" rIns="19050" bIns="9525" anchor="ctr">
            <a:noAutofit/>
          </a:bodyPr>
          <a:lstStyle/>
          <a:p>
            <a:pPr algn="ctr">
              <a:defRPr sz="397" b="0">
                <a:solidFill>
                  <a:srgbClr val="102031"/>
                </a:solidFill>
                <a:latin typeface="Arial"/>
                <a:ea typeface="Arial"/>
                <a:cs typeface="Arial"/>
              </a:defRPr>
            </a:pPr>
            <a:r>
              <a:rPr sz="500" b="0" dirty="0" err="1">
                <a:solidFill>
                  <a:srgbClr val="102031"/>
                </a:solidFill>
                <a:latin typeface="Arial"/>
                <a:ea typeface="Arial"/>
                <a:cs typeface="Arial"/>
              </a:rPr>
              <a:t>Redhare</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(Distributed Memory KV Transport)</a:t>
            </a:r>
          </a:p>
          <a:p>
            <a:pPr algn="ctr">
              <a:defRPr sz="397" b="0">
                <a:solidFill>
                  <a:srgbClr val="102031"/>
                </a:solidFill>
                <a:latin typeface="Arial"/>
                <a:ea typeface="Arial"/>
                <a:cs typeface="Arial"/>
              </a:defRPr>
            </a:pPr>
            <a:r>
              <a:rPr sz="500" b="0" dirty="0" err="1">
                <a:solidFill>
                  <a:srgbClr val="102031"/>
                </a:solidFill>
                <a:latin typeface="Arial"/>
                <a:ea typeface="Arial"/>
                <a:cs typeface="Arial"/>
              </a:rPr>
              <a:t>ContextStor</a:t>
            </a:r>
            <a:endParaRPr sz="500" b="0" dirty="0">
              <a:solidFill>
                <a:srgbClr val="102031"/>
              </a:solidFill>
              <a:latin typeface="Arial"/>
              <a:ea typeface="Arial"/>
              <a:cs typeface="Arial"/>
            </a:endParaRPr>
          </a:p>
          <a:p>
            <a:pPr algn="ctr">
              <a:defRPr sz="397" b="0">
                <a:solidFill>
                  <a:srgbClr val="102031"/>
                </a:solidFill>
                <a:latin typeface="Arial"/>
                <a:ea typeface="Arial"/>
                <a:cs typeface="Arial"/>
              </a:defRPr>
            </a:pPr>
            <a:r>
              <a:rPr sz="500" b="0" dirty="0">
                <a:solidFill>
                  <a:srgbClr val="102031"/>
                </a:solidFill>
                <a:latin typeface="Arial"/>
                <a:ea typeface="Arial"/>
                <a:cs typeface="Arial"/>
              </a:rPr>
              <a:t>(Large Context Storage)</a:t>
            </a:r>
          </a:p>
        </p:txBody>
      </p:sp>
      <p:sp>
        <p:nvSpPr>
          <p:cNvPr id="124" name="kv-col-4">
            <a:extLst>
              <a:ext uri="{FF2B5EF4-FFF2-40B4-BE49-F238E27FC236}">
                <a16:creationId xmlns:a16="http://schemas.microsoft.com/office/drawing/2014/main" id="{C0067503-6750-50A1-6C54-7120A8D8D9AD}"/>
              </a:ext>
            </a:extLst>
          </p:cNvPr>
          <p:cNvSpPr>
            <a:spLocks noGrp="1"/>
          </p:cNvSpPr>
          <p:nvPr/>
        </p:nvSpPr>
        <p:spPr>
          <a:xfrm>
            <a:off x="464820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5" name="kv-col-4-title">
            <a:extLst>
              <a:ext uri="{FF2B5EF4-FFF2-40B4-BE49-F238E27FC236}">
                <a16:creationId xmlns:a16="http://schemas.microsoft.com/office/drawing/2014/main" id="{B9D81905-06C0-BAB5-C490-190A118C5448}"/>
              </a:ext>
            </a:extLst>
          </p:cNvPr>
          <p:cNvSpPr>
            <a:spLocks noGrp="1"/>
          </p:cNvSpPr>
          <p:nvPr/>
        </p:nvSpPr>
        <p:spPr>
          <a:xfrm>
            <a:off x="466725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Storage Backend</a:t>
            </a:r>
          </a:p>
        </p:txBody>
      </p:sp>
      <p:sp>
        <p:nvSpPr>
          <p:cNvPr id="126" name="kv-col-4-body">
            <a:extLst>
              <a:ext uri="{FF2B5EF4-FFF2-40B4-BE49-F238E27FC236}">
                <a16:creationId xmlns:a16="http://schemas.microsoft.com/office/drawing/2014/main" id="{45628B75-DA1D-EE1F-A039-FB875A2BA173}"/>
              </a:ext>
            </a:extLst>
          </p:cNvPr>
          <p:cNvSpPr>
            <a:spLocks noGrp="1"/>
          </p:cNvSpPr>
          <p:nvPr/>
        </p:nvSpPr>
        <p:spPr>
          <a:xfrm>
            <a:off x="467677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Object / File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High-performance Storage</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Cloud / On-prem Storage</a:t>
            </a:r>
          </a:p>
        </p:txBody>
      </p:sp>
      <p:sp>
        <p:nvSpPr>
          <p:cNvPr id="127" name="kv-col-5">
            <a:extLst>
              <a:ext uri="{FF2B5EF4-FFF2-40B4-BE49-F238E27FC236}">
                <a16:creationId xmlns:a16="http://schemas.microsoft.com/office/drawing/2014/main" id="{1EE7A009-20AF-7E11-FF5A-4EE1664C9665}"/>
              </a:ext>
            </a:extLst>
          </p:cNvPr>
          <p:cNvSpPr>
            <a:spLocks noGrp="1"/>
          </p:cNvSpPr>
          <p:nvPr/>
        </p:nvSpPr>
        <p:spPr>
          <a:xfrm>
            <a:off x="5848351" y="3157719"/>
            <a:ext cx="1162050" cy="447675"/>
          </a:xfrm>
          <a:prstGeom prst="roundRect">
            <a:avLst>
              <a:gd name="adj" fmla="val 6383"/>
            </a:avLst>
          </a:prstGeom>
          <a:solidFill>
            <a:srgbClr val="FAFCF8"/>
          </a:solidFill>
          <a:ln w="9525">
            <a:solidFill>
              <a:srgbClr val="DAE9D4"/>
            </a:solidFill>
            <a:prstDash val="solid"/>
          </a:ln>
        </p:spPr>
        <p:txBody>
          <a:bodyPr/>
          <a:lstStyle/>
          <a:p>
            <a:endParaRPr lang="zh-CN" altLang="en-US" sz="1600"/>
          </a:p>
        </p:txBody>
      </p:sp>
      <p:sp>
        <p:nvSpPr>
          <p:cNvPr id="128" name="kv-col-5-title">
            <a:extLst>
              <a:ext uri="{FF2B5EF4-FFF2-40B4-BE49-F238E27FC236}">
                <a16:creationId xmlns:a16="http://schemas.microsoft.com/office/drawing/2014/main" id="{6B4B0ECF-0BE7-F0E1-DE94-AFEEA2DDB242}"/>
              </a:ext>
            </a:extLst>
          </p:cNvPr>
          <p:cNvSpPr>
            <a:spLocks noGrp="1"/>
          </p:cNvSpPr>
          <p:nvPr/>
        </p:nvSpPr>
        <p:spPr>
          <a:xfrm>
            <a:off x="5867401" y="3176769"/>
            <a:ext cx="1123950" cy="95250"/>
          </a:xfrm>
          <a:prstGeom prst="rect">
            <a:avLst/>
          </a:prstGeom>
          <a:noFill/>
          <a:ln w="0">
            <a:noFill/>
            <a:prstDash val="solid"/>
          </a:ln>
        </p:spPr>
        <p:txBody>
          <a:bodyPr wrap="square" lIns="19050" tIns="9525" rIns="19050" bIns="9525" anchor="ctr">
            <a:normAutofit/>
          </a:bodyPr>
          <a:lstStyle/>
          <a:p>
            <a:pPr algn="ctr">
              <a:defRPr sz="435" b="1">
                <a:solidFill>
                  <a:srgbClr val="2F8B45"/>
                </a:solidFill>
                <a:latin typeface="Arial"/>
                <a:ea typeface="Arial"/>
                <a:cs typeface="Arial"/>
              </a:defRPr>
            </a:pPr>
            <a:r>
              <a:rPr sz="500" b="1">
                <a:solidFill>
                  <a:srgbClr val="2F8B45"/>
                </a:solidFill>
                <a:latin typeface="Arial"/>
                <a:ea typeface="Arial"/>
                <a:cs typeface="Arial"/>
              </a:rPr>
              <a:t>DPU Storage Gateway</a:t>
            </a:r>
          </a:p>
        </p:txBody>
      </p:sp>
      <p:sp>
        <p:nvSpPr>
          <p:cNvPr id="129" name="kv-col-5-body">
            <a:extLst>
              <a:ext uri="{FF2B5EF4-FFF2-40B4-BE49-F238E27FC236}">
                <a16:creationId xmlns:a16="http://schemas.microsoft.com/office/drawing/2014/main" id="{C779D286-49EA-452F-945C-071D5E11C130}"/>
              </a:ext>
            </a:extLst>
          </p:cNvPr>
          <p:cNvSpPr>
            <a:spLocks noGrp="1"/>
          </p:cNvSpPr>
          <p:nvPr/>
        </p:nvSpPr>
        <p:spPr>
          <a:xfrm>
            <a:off x="5876926" y="3281544"/>
            <a:ext cx="1104900" cy="295275"/>
          </a:xfrm>
          <a:prstGeom prst="rect">
            <a:avLst/>
          </a:prstGeom>
          <a:noFill/>
          <a:ln w="0">
            <a:noFill/>
            <a:prstDash val="solid"/>
          </a:ln>
        </p:spPr>
        <p:txBody>
          <a:bodyPr wrap="square" lIns="19050" tIns="9525" rIns="19050" bIns="9525" anchor="ctr">
            <a:normAutofit/>
          </a:bodyPr>
          <a:lstStyle/>
          <a:p>
            <a:pPr algn="ctr">
              <a:defRPr sz="397" b="0">
                <a:solidFill>
                  <a:srgbClr val="102031"/>
                </a:solidFill>
                <a:latin typeface="Arial"/>
                <a:ea typeface="Arial"/>
                <a:cs typeface="Arial"/>
              </a:defRPr>
            </a:pPr>
            <a:r>
              <a:rPr sz="500" b="0" dirty="0">
                <a:solidFill>
                  <a:srgbClr val="102031"/>
                </a:solidFill>
                <a:latin typeface="Arial"/>
                <a:ea typeface="Arial"/>
                <a:cs typeface="Arial"/>
              </a:rPr>
              <a:t>DPU Acceleration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Protocol Offload · Data Optimization</a:t>
            </a:r>
          </a:p>
          <a:p>
            <a:pPr algn="ctr">
              <a:defRPr sz="397" b="0">
                <a:solidFill>
                  <a:srgbClr val="102031"/>
                </a:solidFill>
                <a:latin typeface="Arial"/>
                <a:ea typeface="Arial"/>
                <a:cs typeface="Arial"/>
              </a:defRPr>
            </a:pPr>
            <a:r>
              <a:rPr sz="500" b="0" dirty="0">
                <a:solidFill>
                  <a:srgbClr val="102031"/>
                </a:solidFill>
                <a:latin typeface="Arial"/>
                <a:ea typeface="Arial"/>
                <a:cs typeface="Arial"/>
              </a:rPr>
              <a:t>Security Isolation · High Performance</a:t>
            </a:r>
          </a:p>
        </p:txBody>
      </p:sp>
      <p:sp>
        <p:nvSpPr>
          <p:cNvPr id="130" name="maas-surface">
            <a:extLst>
              <a:ext uri="{FF2B5EF4-FFF2-40B4-BE49-F238E27FC236}">
                <a16:creationId xmlns:a16="http://schemas.microsoft.com/office/drawing/2014/main" id="{4ADEFAD5-77C8-137A-8AD9-1C31AC61F5EE}"/>
              </a:ext>
            </a:extLst>
          </p:cNvPr>
          <p:cNvSpPr>
            <a:spLocks noGrp="1"/>
          </p:cNvSpPr>
          <p:nvPr/>
        </p:nvSpPr>
        <p:spPr>
          <a:xfrm>
            <a:off x="7219950" y="1214618"/>
            <a:ext cx="1847849" cy="3609975"/>
          </a:xfrm>
          <a:prstGeom prst="roundRect">
            <a:avLst>
              <a:gd name="adj" fmla="val 2577"/>
            </a:avLst>
          </a:prstGeom>
          <a:solidFill>
            <a:srgbClr val="F9FCF7"/>
          </a:solidFill>
          <a:ln w="9525">
            <a:solidFill>
              <a:srgbClr val="CFE3C7"/>
            </a:solidFill>
            <a:prstDash val="solid"/>
          </a:ln>
        </p:spPr>
        <p:txBody>
          <a:bodyPr/>
          <a:lstStyle/>
          <a:p>
            <a:endParaRPr lang="zh-CN" altLang="en-US" sz="1600"/>
          </a:p>
        </p:txBody>
      </p:sp>
      <p:sp>
        <p:nvSpPr>
          <p:cNvPr id="131" name="maas-title">
            <a:extLst>
              <a:ext uri="{FF2B5EF4-FFF2-40B4-BE49-F238E27FC236}">
                <a16:creationId xmlns:a16="http://schemas.microsoft.com/office/drawing/2014/main" id="{3D8EA3ED-CB2E-8143-2480-4035C5254D03}"/>
              </a:ext>
            </a:extLst>
          </p:cNvPr>
          <p:cNvSpPr>
            <a:spLocks noGrp="1"/>
          </p:cNvSpPr>
          <p:nvPr/>
        </p:nvSpPr>
        <p:spPr>
          <a:xfrm>
            <a:off x="7277100" y="1241606"/>
            <a:ext cx="1733550" cy="142875"/>
          </a:xfrm>
          <a:prstGeom prst="rect">
            <a:avLst/>
          </a:prstGeom>
          <a:noFill/>
          <a:ln w="0">
            <a:noFill/>
            <a:prstDash val="solid"/>
          </a:ln>
        </p:spPr>
        <p:txBody>
          <a:bodyPr wrap="square" lIns="19050" tIns="9525" rIns="19050" bIns="9525" anchor="ctr">
            <a:normAutofit/>
          </a:bodyPr>
          <a:lstStyle/>
          <a:p>
            <a:pPr algn="ctr">
              <a:defRPr sz="638" b="1">
                <a:solidFill>
                  <a:srgbClr val="2F8B45"/>
                </a:solidFill>
                <a:latin typeface="Arial"/>
                <a:ea typeface="Arial"/>
                <a:cs typeface="Arial"/>
              </a:defRPr>
            </a:pPr>
            <a:r>
              <a:rPr sz="700" b="1">
                <a:solidFill>
                  <a:srgbClr val="2F8B45"/>
                </a:solidFill>
                <a:latin typeface="Arial"/>
                <a:ea typeface="Arial"/>
                <a:cs typeface="Arial"/>
              </a:rPr>
              <a:t>MaaS Operations  (Token as a Service)</a:t>
            </a:r>
          </a:p>
        </p:txBody>
      </p:sp>
      <p:sp>
        <p:nvSpPr>
          <p:cNvPr id="132" name="gateway-security-frame">
            <a:extLst>
              <a:ext uri="{FF2B5EF4-FFF2-40B4-BE49-F238E27FC236}">
                <a16:creationId xmlns:a16="http://schemas.microsoft.com/office/drawing/2014/main" id="{7D679BF6-1FB5-8E05-B8C8-975BEA84951C}"/>
              </a:ext>
            </a:extLst>
          </p:cNvPr>
          <p:cNvSpPr>
            <a:spLocks noGrp="1"/>
          </p:cNvSpPr>
          <p:nvPr/>
        </p:nvSpPr>
        <p:spPr>
          <a:xfrm>
            <a:off x="7277100" y="1432106"/>
            <a:ext cx="1733550" cy="742950"/>
          </a:xfrm>
          <a:prstGeom prst="roundRect">
            <a:avLst>
              <a:gd name="adj" fmla="val 3846"/>
            </a:avLst>
          </a:prstGeom>
          <a:solidFill>
            <a:srgbClr val="FFFFFF"/>
          </a:solidFill>
          <a:ln w="9525">
            <a:solidFill>
              <a:srgbClr val="D5E8CD"/>
            </a:solidFill>
            <a:prstDash val="solid"/>
          </a:ln>
        </p:spPr>
        <p:txBody>
          <a:bodyPr/>
          <a:lstStyle/>
          <a:p>
            <a:endParaRPr lang="zh-CN" altLang="en-US" sz="1600"/>
          </a:p>
        </p:txBody>
      </p:sp>
      <p:sp>
        <p:nvSpPr>
          <p:cNvPr id="133" name="gateway-security-title">
            <a:extLst>
              <a:ext uri="{FF2B5EF4-FFF2-40B4-BE49-F238E27FC236}">
                <a16:creationId xmlns:a16="http://schemas.microsoft.com/office/drawing/2014/main" id="{8E03BDBC-917F-0366-F0BB-964AD34605A1}"/>
              </a:ext>
            </a:extLst>
          </p:cNvPr>
          <p:cNvSpPr>
            <a:spLocks noGrp="1"/>
          </p:cNvSpPr>
          <p:nvPr/>
        </p:nvSpPr>
        <p:spPr>
          <a:xfrm>
            <a:off x="7334250" y="1460681"/>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Gateway &amp; Security</a:t>
            </a:r>
          </a:p>
        </p:txBody>
      </p:sp>
      <p:sp>
        <p:nvSpPr>
          <p:cNvPr id="134" name="gateway-security-item-1">
            <a:extLst>
              <a:ext uri="{FF2B5EF4-FFF2-40B4-BE49-F238E27FC236}">
                <a16:creationId xmlns:a16="http://schemas.microsoft.com/office/drawing/2014/main" id="{BEBEB976-1737-6FBF-ACE0-D80AA4F94515}"/>
              </a:ext>
            </a:extLst>
          </p:cNvPr>
          <p:cNvSpPr>
            <a:spLocks noGrp="1"/>
          </p:cNvSpPr>
          <p:nvPr/>
        </p:nvSpPr>
        <p:spPr>
          <a:xfrm>
            <a:off x="7343775" y="1594031"/>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Unified API Gateway (OpenAI Compatible)</a:t>
            </a:r>
          </a:p>
        </p:txBody>
      </p:sp>
      <p:sp>
        <p:nvSpPr>
          <p:cNvPr id="135" name="gateway-security-item-2">
            <a:extLst>
              <a:ext uri="{FF2B5EF4-FFF2-40B4-BE49-F238E27FC236}">
                <a16:creationId xmlns:a16="http://schemas.microsoft.com/office/drawing/2014/main" id="{495EACE3-B22B-FDDB-2727-3CD3490863E2}"/>
              </a:ext>
            </a:extLst>
          </p:cNvPr>
          <p:cNvSpPr>
            <a:spLocks noGrp="1"/>
          </p:cNvSpPr>
          <p:nvPr/>
        </p:nvSpPr>
        <p:spPr>
          <a:xfrm>
            <a:off x="7343775" y="1732144"/>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Safety &amp; Content Filtering</a:t>
            </a:r>
          </a:p>
        </p:txBody>
      </p:sp>
      <p:sp>
        <p:nvSpPr>
          <p:cNvPr id="136" name="gateway-security-item-3">
            <a:extLst>
              <a:ext uri="{FF2B5EF4-FFF2-40B4-BE49-F238E27FC236}">
                <a16:creationId xmlns:a16="http://schemas.microsoft.com/office/drawing/2014/main" id="{4B64571A-7B6F-6C57-1E24-4F142205428B}"/>
              </a:ext>
            </a:extLst>
          </p:cNvPr>
          <p:cNvSpPr>
            <a:spLocks noGrp="1"/>
          </p:cNvSpPr>
          <p:nvPr/>
        </p:nvSpPr>
        <p:spPr>
          <a:xfrm>
            <a:off x="7343775" y="1870256"/>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Rate Limiting &amp; Access Control</a:t>
            </a:r>
          </a:p>
        </p:txBody>
      </p:sp>
      <p:sp>
        <p:nvSpPr>
          <p:cNvPr id="137" name="gateway-security-item-4">
            <a:extLst>
              <a:ext uri="{FF2B5EF4-FFF2-40B4-BE49-F238E27FC236}">
                <a16:creationId xmlns:a16="http://schemas.microsoft.com/office/drawing/2014/main" id="{E1D3FFD9-545B-9825-E750-EECE096478E1}"/>
              </a:ext>
            </a:extLst>
          </p:cNvPr>
          <p:cNvSpPr>
            <a:spLocks noGrp="1"/>
          </p:cNvSpPr>
          <p:nvPr/>
        </p:nvSpPr>
        <p:spPr>
          <a:xfrm>
            <a:off x="7343775" y="2008369"/>
            <a:ext cx="1600200" cy="138113"/>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WAF / DDoS / Shield</a:t>
            </a:r>
          </a:p>
        </p:txBody>
      </p:sp>
      <p:sp>
        <p:nvSpPr>
          <p:cNvPr id="138" name="metering-billing-frame">
            <a:extLst>
              <a:ext uri="{FF2B5EF4-FFF2-40B4-BE49-F238E27FC236}">
                <a16:creationId xmlns:a16="http://schemas.microsoft.com/office/drawing/2014/main" id="{EFA8CABD-F361-9692-B5E7-4056AA8F927D}"/>
              </a:ext>
            </a:extLst>
          </p:cNvPr>
          <p:cNvSpPr>
            <a:spLocks noGrp="1"/>
          </p:cNvSpPr>
          <p:nvPr/>
        </p:nvSpPr>
        <p:spPr>
          <a:xfrm>
            <a:off x="7277100" y="2222681"/>
            <a:ext cx="1733550" cy="581025"/>
          </a:xfrm>
          <a:prstGeom prst="roundRect">
            <a:avLst>
              <a:gd name="adj" fmla="val 4918"/>
            </a:avLst>
          </a:prstGeom>
          <a:solidFill>
            <a:srgbClr val="FFFFFF"/>
          </a:solidFill>
          <a:ln w="9525">
            <a:solidFill>
              <a:srgbClr val="D5E8CD"/>
            </a:solidFill>
            <a:prstDash val="solid"/>
          </a:ln>
        </p:spPr>
        <p:txBody>
          <a:bodyPr/>
          <a:lstStyle/>
          <a:p>
            <a:endParaRPr lang="zh-CN" altLang="en-US" sz="1600"/>
          </a:p>
        </p:txBody>
      </p:sp>
      <p:sp>
        <p:nvSpPr>
          <p:cNvPr id="139" name="metering-billing-title">
            <a:extLst>
              <a:ext uri="{FF2B5EF4-FFF2-40B4-BE49-F238E27FC236}">
                <a16:creationId xmlns:a16="http://schemas.microsoft.com/office/drawing/2014/main" id="{12D60C8D-4D23-D55D-0FB4-5B51EEB805F5}"/>
              </a:ext>
            </a:extLst>
          </p:cNvPr>
          <p:cNvSpPr>
            <a:spLocks noGrp="1"/>
          </p:cNvSpPr>
          <p:nvPr/>
        </p:nvSpPr>
        <p:spPr>
          <a:xfrm>
            <a:off x="7334250" y="2251256"/>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Metering &amp; Billing</a:t>
            </a:r>
          </a:p>
        </p:txBody>
      </p:sp>
      <p:sp>
        <p:nvSpPr>
          <p:cNvPr id="140" name="metering-billing-item-1">
            <a:extLst>
              <a:ext uri="{FF2B5EF4-FFF2-40B4-BE49-F238E27FC236}">
                <a16:creationId xmlns:a16="http://schemas.microsoft.com/office/drawing/2014/main" id="{85762D1B-6C9C-0EC2-6072-24EED45E2A60}"/>
              </a:ext>
            </a:extLst>
          </p:cNvPr>
          <p:cNvSpPr>
            <a:spLocks noGrp="1"/>
          </p:cNvSpPr>
          <p:nvPr/>
        </p:nvSpPr>
        <p:spPr>
          <a:xfrm>
            <a:off x="7343775" y="238460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Metering (Tokens / Requests)</a:t>
            </a:r>
          </a:p>
        </p:txBody>
      </p:sp>
      <p:sp>
        <p:nvSpPr>
          <p:cNvPr id="141" name="metering-billing-item-2">
            <a:extLst>
              <a:ext uri="{FF2B5EF4-FFF2-40B4-BE49-F238E27FC236}">
                <a16:creationId xmlns:a16="http://schemas.microsoft.com/office/drawing/2014/main" id="{774E5C02-91AC-A2ED-90FB-9380957F5859}"/>
              </a:ext>
            </a:extLst>
          </p:cNvPr>
          <p:cNvSpPr>
            <a:spLocks noGrp="1"/>
          </p:cNvSpPr>
          <p:nvPr/>
        </p:nvSpPr>
        <p:spPr>
          <a:xfrm>
            <a:off x="7343775" y="2514781"/>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Billing &amp; Invoicing</a:t>
            </a:r>
          </a:p>
        </p:txBody>
      </p:sp>
      <p:sp>
        <p:nvSpPr>
          <p:cNvPr id="142" name="metering-billing-item-3">
            <a:extLst>
              <a:ext uri="{FF2B5EF4-FFF2-40B4-BE49-F238E27FC236}">
                <a16:creationId xmlns:a16="http://schemas.microsoft.com/office/drawing/2014/main" id="{37550AC2-90D4-7118-2831-79CEEA622880}"/>
              </a:ext>
            </a:extLst>
          </p:cNvPr>
          <p:cNvSpPr>
            <a:spLocks noGrp="1"/>
          </p:cNvSpPr>
          <p:nvPr/>
        </p:nvSpPr>
        <p:spPr>
          <a:xfrm>
            <a:off x="7343775" y="2644956"/>
            <a:ext cx="1600200" cy="1301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Usage Analytics &amp; Reporting</a:t>
            </a:r>
          </a:p>
        </p:txBody>
      </p:sp>
      <p:sp>
        <p:nvSpPr>
          <p:cNvPr id="143" name="operations-management-frame">
            <a:extLst>
              <a:ext uri="{FF2B5EF4-FFF2-40B4-BE49-F238E27FC236}">
                <a16:creationId xmlns:a16="http://schemas.microsoft.com/office/drawing/2014/main" id="{85ABA155-6141-0BA4-40E4-5394247A1977}"/>
              </a:ext>
            </a:extLst>
          </p:cNvPr>
          <p:cNvSpPr>
            <a:spLocks noGrp="1"/>
          </p:cNvSpPr>
          <p:nvPr/>
        </p:nvSpPr>
        <p:spPr>
          <a:xfrm>
            <a:off x="7277100" y="2857557"/>
            <a:ext cx="1676400" cy="1252661"/>
          </a:xfrm>
          <a:prstGeom prst="roundRect">
            <a:avLst>
              <a:gd name="adj" fmla="val 2113"/>
            </a:avLst>
          </a:prstGeom>
          <a:solidFill>
            <a:srgbClr val="FFFFFF"/>
          </a:solidFill>
          <a:ln w="9525">
            <a:solidFill>
              <a:srgbClr val="D5E8CD"/>
            </a:solidFill>
            <a:prstDash val="solid"/>
          </a:ln>
        </p:spPr>
        <p:txBody>
          <a:bodyPr/>
          <a:lstStyle/>
          <a:p>
            <a:endParaRPr lang="zh-CN" altLang="en-US" sz="1600" dirty="0"/>
          </a:p>
        </p:txBody>
      </p:sp>
      <p:sp>
        <p:nvSpPr>
          <p:cNvPr id="144" name="operations-management-title">
            <a:extLst>
              <a:ext uri="{FF2B5EF4-FFF2-40B4-BE49-F238E27FC236}">
                <a16:creationId xmlns:a16="http://schemas.microsoft.com/office/drawing/2014/main" id="{0C82BDCC-AF92-2253-52DA-3C95CC167E7D}"/>
              </a:ext>
            </a:extLst>
          </p:cNvPr>
          <p:cNvSpPr>
            <a:spLocks noGrp="1"/>
          </p:cNvSpPr>
          <p:nvPr/>
        </p:nvSpPr>
        <p:spPr>
          <a:xfrm>
            <a:off x="7334250" y="2880310"/>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dirty="0">
                <a:solidFill>
                  <a:srgbClr val="2F8B45"/>
                </a:solidFill>
                <a:latin typeface="Arial"/>
                <a:ea typeface="Arial"/>
                <a:cs typeface="Arial"/>
              </a:rPr>
              <a:t>Operations Management</a:t>
            </a:r>
          </a:p>
        </p:txBody>
      </p:sp>
      <p:sp>
        <p:nvSpPr>
          <p:cNvPr id="145" name="operations-management-item-1">
            <a:extLst>
              <a:ext uri="{FF2B5EF4-FFF2-40B4-BE49-F238E27FC236}">
                <a16:creationId xmlns:a16="http://schemas.microsoft.com/office/drawing/2014/main" id="{BD21C4E8-3B90-58FD-406F-2274469F4A88}"/>
              </a:ext>
            </a:extLst>
          </p:cNvPr>
          <p:cNvSpPr>
            <a:spLocks noGrp="1"/>
          </p:cNvSpPr>
          <p:nvPr/>
        </p:nvSpPr>
        <p:spPr>
          <a:xfrm>
            <a:off x="7343775" y="3013014"/>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SKU &amp; Model Management</a:t>
            </a:r>
          </a:p>
        </p:txBody>
      </p:sp>
      <p:sp>
        <p:nvSpPr>
          <p:cNvPr id="146" name="operations-management-item-2">
            <a:extLst>
              <a:ext uri="{FF2B5EF4-FFF2-40B4-BE49-F238E27FC236}">
                <a16:creationId xmlns:a16="http://schemas.microsoft.com/office/drawing/2014/main" id="{4B6C752F-7B8C-587D-A084-724CE588E0F4}"/>
              </a:ext>
            </a:extLst>
          </p:cNvPr>
          <p:cNvSpPr>
            <a:spLocks noGrp="1"/>
          </p:cNvSpPr>
          <p:nvPr/>
        </p:nvSpPr>
        <p:spPr>
          <a:xfrm>
            <a:off x="7343775" y="3188005"/>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a:solidFill>
                  <a:srgbClr val="102031"/>
                </a:solidFill>
                <a:latin typeface="Arial"/>
                <a:ea typeface="Arial"/>
                <a:cs typeface="Arial"/>
              </a:rPr>
              <a:t>•  Pricing &amp; Policy Management</a:t>
            </a:r>
          </a:p>
        </p:txBody>
      </p:sp>
      <p:sp>
        <p:nvSpPr>
          <p:cNvPr id="147" name="operations-management-item-3">
            <a:extLst>
              <a:ext uri="{FF2B5EF4-FFF2-40B4-BE49-F238E27FC236}">
                <a16:creationId xmlns:a16="http://schemas.microsoft.com/office/drawing/2014/main" id="{C98CA1BC-0608-0FD7-5708-F9C6D3E525F2}"/>
              </a:ext>
            </a:extLst>
          </p:cNvPr>
          <p:cNvSpPr>
            <a:spLocks noGrp="1"/>
          </p:cNvSpPr>
          <p:nvPr/>
        </p:nvSpPr>
        <p:spPr>
          <a:xfrm>
            <a:off x="7343775" y="3362996"/>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Coupon &amp; Promotion</a:t>
            </a:r>
          </a:p>
        </p:txBody>
      </p:sp>
      <p:sp>
        <p:nvSpPr>
          <p:cNvPr id="148" name="operations-management-item-4">
            <a:extLst>
              <a:ext uri="{FF2B5EF4-FFF2-40B4-BE49-F238E27FC236}">
                <a16:creationId xmlns:a16="http://schemas.microsoft.com/office/drawing/2014/main" id="{F649213F-EFD9-5E49-A547-92972987A86F}"/>
              </a:ext>
            </a:extLst>
          </p:cNvPr>
          <p:cNvSpPr>
            <a:spLocks noGrp="1"/>
          </p:cNvSpPr>
          <p:nvPr/>
        </p:nvSpPr>
        <p:spPr>
          <a:xfrm>
            <a:off x="7343775" y="3537987"/>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Quota &amp; Share Management</a:t>
            </a:r>
          </a:p>
        </p:txBody>
      </p:sp>
      <p:sp>
        <p:nvSpPr>
          <p:cNvPr id="149" name="operations-management-item-5">
            <a:extLst>
              <a:ext uri="{FF2B5EF4-FFF2-40B4-BE49-F238E27FC236}">
                <a16:creationId xmlns:a16="http://schemas.microsoft.com/office/drawing/2014/main" id="{19F684F8-33E0-E692-D154-8C0C7D93A23D}"/>
              </a:ext>
            </a:extLst>
          </p:cNvPr>
          <p:cNvSpPr>
            <a:spLocks noGrp="1"/>
          </p:cNvSpPr>
          <p:nvPr/>
        </p:nvSpPr>
        <p:spPr>
          <a:xfrm>
            <a:off x="7343775" y="3712978"/>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Cost Allocation &amp; Chargeback</a:t>
            </a:r>
          </a:p>
        </p:txBody>
      </p:sp>
      <p:sp>
        <p:nvSpPr>
          <p:cNvPr id="150" name="operations-management-item-6">
            <a:extLst>
              <a:ext uri="{FF2B5EF4-FFF2-40B4-BE49-F238E27FC236}">
                <a16:creationId xmlns:a16="http://schemas.microsoft.com/office/drawing/2014/main" id="{0742CF17-89A0-59FF-EF05-6E5DF5178BDB}"/>
              </a:ext>
            </a:extLst>
          </p:cNvPr>
          <p:cNvSpPr>
            <a:spLocks noGrp="1"/>
          </p:cNvSpPr>
          <p:nvPr/>
        </p:nvSpPr>
        <p:spPr>
          <a:xfrm>
            <a:off x="7343775" y="3887969"/>
            <a:ext cx="1600200" cy="193675"/>
          </a:xfrm>
          <a:prstGeom prst="rect">
            <a:avLst/>
          </a:prstGeom>
          <a:noFill/>
          <a:ln w="0">
            <a:noFill/>
            <a:prstDash val="solid"/>
          </a:ln>
        </p:spPr>
        <p:txBody>
          <a:bodyPr wrap="square" lIns="19050" tIns="9525" rIns="19050" bIns="9525" anchor="ctr">
            <a:normAutofit/>
          </a:bodyPr>
          <a:lstStyle/>
          <a:p>
            <a:pPr algn="l">
              <a:defRPr sz="458" b="0">
                <a:solidFill>
                  <a:srgbClr val="102031"/>
                </a:solidFill>
                <a:latin typeface="Arial"/>
                <a:ea typeface="Arial"/>
                <a:cs typeface="Arial"/>
              </a:defRPr>
            </a:pPr>
            <a:r>
              <a:rPr sz="600" b="0" dirty="0">
                <a:solidFill>
                  <a:srgbClr val="102031"/>
                </a:solidFill>
                <a:latin typeface="Arial"/>
                <a:ea typeface="Arial"/>
                <a:cs typeface="Arial"/>
              </a:rPr>
              <a:t>•  FinOps &amp; Cost Optimization</a:t>
            </a:r>
          </a:p>
        </p:txBody>
      </p:sp>
      <p:sp>
        <p:nvSpPr>
          <p:cNvPr id="151" name="serving-targets-frame">
            <a:extLst>
              <a:ext uri="{FF2B5EF4-FFF2-40B4-BE49-F238E27FC236}">
                <a16:creationId xmlns:a16="http://schemas.microsoft.com/office/drawing/2014/main" id="{E9073987-98BC-81EA-D12B-D1855FB43E25}"/>
              </a:ext>
            </a:extLst>
          </p:cNvPr>
          <p:cNvSpPr>
            <a:spLocks noGrp="1"/>
          </p:cNvSpPr>
          <p:nvPr/>
        </p:nvSpPr>
        <p:spPr>
          <a:xfrm>
            <a:off x="7277100" y="4157844"/>
            <a:ext cx="1733550" cy="609600"/>
          </a:xfrm>
          <a:prstGeom prst="roundRect">
            <a:avLst>
              <a:gd name="adj" fmla="val 4688"/>
            </a:avLst>
          </a:prstGeom>
          <a:solidFill>
            <a:srgbClr val="FFFFFF"/>
          </a:solidFill>
          <a:ln w="9525">
            <a:solidFill>
              <a:srgbClr val="D5E8CD"/>
            </a:solidFill>
            <a:prstDash val="solid"/>
          </a:ln>
        </p:spPr>
        <p:txBody>
          <a:bodyPr/>
          <a:lstStyle/>
          <a:p>
            <a:endParaRPr lang="zh-CN" altLang="en-US" sz="1600"/>
          </a:p>
        </p:txBody>
      </p:sp>
      <p:sp>
        <p:nvSpPr>
          <p:cNvPr id="152" name="serving-targets-title">
            <a:extLst>
              <a:ext uri="{FF2B5EF4-FFF2-40B4-BE49-F238E27FC236}">
                <a16:creationId xmlns:a16="http://schemas.microsoft.com/office/drawing/2014/main" id="{499DA736-9F02-538E-441B-43126E348696}"/>
              </a:ext>
            </a:extLst>
          </p:cNvPr>
          <p:cNvSpPr>
            <a:spLocks noGrp="1"/>
          </p:cNvSpPr>
          <p:nvPr/>
        </p:nvSpPr>
        <p:spPr>
          <a:xfrm>
            <a:off x="7334250" y="4186419"/>
            <a:ext cx="1619250" cy="114300"/>
          </a:xfrm>
          <a:prstGeom prst="rect">
            <a:avLst/>
          </a:prstGeom>
          <a:noFill/>
          <a:ln w="0">
            <a:noFill/>
            <a:prstDash val="solid"/>
          </a:ln>
        </p:spPr>
        <p:txBody>
          <a:bodyPr wrap="square" lIns="19050" tIns="9525" rIns="19050" bIns="9525" anchor="ctr">
            <a:normAutofit/>
          </a:bodyPr>
          <a:lstStyle/>
          <a:p>
            <a:pPr algn="l">
              <a:defRPr sz="495" b="1">
                <a:solidFill>
                  <a:srgbClr val="2F8B45"/>
                </a:solidFill>
                <a:latin typeface="Arial"/>
                <a:ea typeface="Arial"/>
                <a:cs typeface="Arial"/>
              </a:defRPr>
            </a:pPr>
            <a:r>
              <a:rPr sz="600" b="1">
                <a:solidFill>
                  <a:srgbClr val="2F8B45"/>
                </a:solidFill>
                <a:latin typeface="Arial"/>
                <a:ea typeface="Arial"/>
                <a:cs typeface="Arial"/>
              </a:rPr>
              <a:t>Serving Targets</a:t>
            </a:r>
          </a:p>
        </p:txBody>
      </p:sp>
      <p:sp>
        <p:nvSpPr>
          <p:cNvPr id="153" name="serving-targets-items-1-box">
            <a:extLst>
              <a:ext uri="{FF2B5EF4-FFF2-40B4-BE49-F238E27FC236}">
                <a16:creationId xmlns:a16="http://schemas.microsoft.com/office/drawing/2014/main" id="{2555DF3E-6C98-3508-9ABE-58C359A550C7}"/>
              </a:ext>
            </a:extLst>
          </p:cNvPr>
          <p:cNvSpPr>
            <a:spLocks noGrp="1"/>
          </p:cNvSpPr>
          <p:nvPr/>
        </p:nvSpPr>
        <p:spPr>
          <a:xfrm>
            <a:off x="7334250"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Cloud</a:t>
            </a:r>
          </a:p>
        </p:txBody>
      </p:sp>
      <p:sp>
        <p:nvSpPr>
          <p:cNvPr id="154" name="serving-targets-items-2-box">
            <a:extLst>
              <a:ext uri="{FF2B5EF4-FFF2-40B4-BE49-F238E27FC236}">
                <a16:creationId xmlns:a16="http://schemas.microsoft.com/office/drawing/2014/main" id="{F7419E93-1D4C-C492-E787-34F58C36C675}"/>
              </a:ext>
            </a:extLst>
          </p:cNvPr>
          <p:cNvSpPr>
            <a:spLocks noGrp="1"/>
          </p:cNvSpPr>
          <p:nvPr/>
        </p:nvSpPr>
        <p:spPr>
          <a:xfrm>
            <a:off x="8162925" y="4338819"/>
            <a:ext cx="790575" cy="361950"/>
          </a:xfrm>
          <a:prstGeom prst="roundRect">
            <a:avLst>
              <a:gd name="adj" fmla="val 10526"/>
            </a:avLst>
          </a:prstGeom>
          <a:solidFill>
            <a:srgbClr val="F8FBF5"/>
          </a:solidFill>
          <a:ln w="9525">
            <a:solidFill>
              <a:srgbClr val="D5E8CD"/>
            </a:solidFill>
            <a:prstDash val="solid"/>
          </a:ln>
        </p:spPr>
        <p:txBody>
          <a:bodyPr wrap="square" lIns="28575" tIns="9525" rIns="28575" bIns="9525" anchor="ctr">
            <a:normAutofit/>
          </a:bodyPr>
          <a:lstStyle/>
          <a:p>
            <a:pPr algn="ctr">
              <a:defRPr sz="465" b="0">
                <a:solidFill>
                  <a:srgbClr val="102031"/>
                </a:solidFill>
                <a:latin typeface="Arial"/>
                <a:ea typeface="Arial"/>
                <a:cs typeface="Arial"/>
              </a:defRPr>
            </a:pPr>
            <a:r>
              <a:rPr sz="600" b="0" dirty="0">
                <a:solidFill>
                  <a:srgbClr val="102031"/>
                </a:solidFill>
                <a:latin typeface="Arial"/>
                <a:ea typeface="Arial"/>
                <a:cs typeface="Arial"/>
              </a:rPr>
              <a:t>Enterprise</a:t>
            </a:r>
          </a:p>
        </p:txBody>
      </p:sp>
      <p:sp>
        <p:nvSpPr>
          <p:cNvPr id="156" name="data-management-surface">
            <a:extLst>
              <a:ext uri="{FF2B5EF4-FFF2-40B4-BE49-F238E27FC236}">
                <a16:creationId xmlns:a16="http://schemas.microsoft.com/office/drawing/2014/main" id="{2A8A5E81-E831-80B3-55A3-495464D3BCC4}"/>
              </a:ext>
            </a:extLst>
          </p:cNvPr>
          <p:cNvSpPr>
            <a:spLocks noGrp="1"/>
          </p:cNvSpPr>
          <p:nvPr/>
        </p:nvSpPr>
        <p:spPr>
          <a:xfrm>
            <a:off x="933450" y="3773723"/>
            <a:ext cx="6191250" cy="238125"/>
          </a:xfrm>
          <a:prstGeom prst="roundRect">
            <a:avLst>
              <a:gd name="adj" fmla="val 16000"/>
            </a:avLst>
          </a:prstGeom>
          <a:solidFill>
            <a:srgbClr val="F7FCFC"/>
          </a:solidFill>
          <a:ln w="9525">
            <a:solidFill>
              <a:srgbClr val="C8E1DF"/>
            </a:solidFill>
            <a:prstDash val="solid"/>
          </a:ln>
        </p:spPr>
        <p:txBody>
          <a:bodyPr/>
          <a:lstStyle/>
          <a:p>
            <a:endParaRPr lang="zh-CN" altLang="en-US" sz="1600"/>
          </a:p>
        </p:txBody>
      </p:sp>
      <p:sp>
        <p:nvSpPr>
          <p:cNvPr id="157" name="data-management-items-1-box">
            <a:extLst>
              <a:ext uri="{FF2B5EF4-FFF2-40B4-BE49-F238E27FC236}">
                <a16:creationId xmlns:a16="http://schemas.microsoft.com/office/drawing/2014/main" id="{F83F80F0-5534-A3C2-97AA-E7B9DC33E652}"/>
              </a:ext>
            </a:extLst>
          </p:cNvPr>
          <p:cNvSpPr>
            <a:spLocks noGrp="1"/>
          </p:cNvSpPr>
          <p:nvPr/>
        </p:nvSpPr>
        <p:spPr>
          <a:xfrm>
            <a:off x="100965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Model Hub (MatrixHub)</a:t>
            </a:r>
          </a:p>
        </p:txBody>
      </p:sp>
      <p:sp>
        <p:nvSpPr>
          <p:cNvPr id="158" name="data-management-items-2-box">
            <a:extLst>
              <a:ext uri="{FF2B5EF4-FFF2-40B4-BE49-F238E27FC236}">
                <a16:creationId xmlns:a16="http://schemas.microsoft.com/office/drawing/2014/main" id="{4ECDE597-794C-A826-42B9-9A8E339143B2}"/>
              </a:ext>
            </a:extLst>
          </p:cNvPr>
          <p:cNvSpPr>
            <a:spLocks noGrp="1"/>
          </p:cNvSpPr>
          <p:nvPr/>
        </p:nvSpPr>
        <p:spPr>
          <a:xfrm>
            <a:off x="202088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500" b="0">
                <a:solidFill>
                  <a:srgbClr val="102031"/>
                </a:solidFill>
                <a:latin typeface="Arial"/>
                <a:ea typeface="Arial"/>
                <a:cs typeface="Arial"/>
              </a:rPr>
              <a:t>Model Distribution (ModelExpress)</a:t>
            </a:r>
          </a:p>
        </p:txBody>
      </p:sp>
      <p:sp>
        <p:nvSpPr>
          <p:cNvPr id="159" name="data-management-items-3-box">
            <a:extLst>
              <a:ext uri="{FF2B5EF4-FFF2-40B4-BE49-F238E27FC236}">
                <a16:creationId xmlns:a16="http://schemas.microsoft.com/office/drawing/2014/main" id="{378708FC-8BBE-4F38-6951-B9E5CC1B9B0A}"/>
              </a:ext>
            </a:extLst>
          </p:cNvPr>
          <p:cNvSpPr>
            <a:spLocks noGrp="1"/>
          </p:cNvSpPr>
          <p:nvPr/>
        </p:nvSpPr>
        <p:spPr>
          <a:xfrm>
            <a:off x="3032125"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Dataset Management</a:t>
            </a:r>
          </a:p>
        </p:txBody>
      </p:sp>
      <p:sp>
        <p:nvSpPr>
          <p:cNvPr id="160" name="data-management-items-4-box">
            <a:extLst>
              <a:ext uri="{FF2B5EF4-FFF2-40B4-BE49-F238E27FC236}">
                <a16:creationId xmlns:a16="http://schemas.microsoft.com/office/drawing/2014/main" id="{52CF88E4-04EE-4775-FA49-2838E88BDD39}"/>
              </a:ext>
            </a:extLst>
          </p:cNvPr>
          <p:cNvSpPr>
            <a:spLocks noGrp="1"/>
          </p:cNvSpPr>
          <p:nvPr/>
        </p:nvSpPr>
        <p:spPr>
          <a:xfrm>
            <a:off x="4043363"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Catalog</a:t>
            </a:r>
          </a:p>
        </p:txBody>
      </p:sp>
      <p:sp>
        <p:nvSpPr>
          <p:cNvPr id="161" name="data-management-items-5-box">
            <a:extLst>
              <a:ext uri="{FF2B5EF4-FFF2-40B4-BE49-F238E27FC236}">
                <a16:creationId xmlns:a16="http://schemas.microsoft.com/office/drawing/2014/main" id="{96681C94-E86E-3CEB-F2B5-04115534E42E}"/>
              </a:ext>
            </a:extLst>
          </p:cNvPr>
          <p:cNvSpPr>
            <a:spLocks noGrp="1"/>
          </p:cNvSpPr>
          <p:nvPr/>
        </p:nvSpPr>
        <p:spPr>
          <a:xfrm>
            <a:off x="5054600"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Processing</a:t>
            </a:r>
          </a:p>
        </p:txBody>
      </p:sp>
      <p:sp>
        <p:nvSpPr>
          <p:cNvPr id="162" name="data-management-items-6-box">
            <a:extLst>
              <a:ext uri="{FF2B5EF4-FFF2-40B4-BE49-F238E27FC236}">
                <a16:creationId xmlns:a16="http://schemas.microsoft.com/office/drawing/2014/main" id="{99276E16-3013-20C4-4893-965A8B38EA32}"/>
              </a:ext>
            </a:extLst>
          </p:cNvPr>
          <p:cNvSpPr>
            <a:spLocks noGrp="1"/>
          </p:cNvSpPr>
          <p:nvPr/>
        </p:nvSpPr>
        <p:spPr>
          <a:xfrm>
            <a:off x="6065838" y="3811823"/>
            <a:ext cx="982663" cy="161925"/>
          </a:xfrm>
          <a:prstGeom prst="roundRect">
            <a:avLst>
              <a:gd name="adj" fmla="val 23529"/>
            </a:avLst>
          </a:prstGeom>
          <a:solidFill>
            <a:srgbClr val="FFFFFF"/>
          </a:solidFill>
          <a:ln w="9525">
            <a:solidFill>
              <a:srgbClr val="C8E1DF"/>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Data Quality</a:t>
            </a:r>
          </a:p>
        </p:txBody>
      </p:sp>
      <p:sp>
        <p:nvSpPr>
          <p:cNvPr id="163" name="compute-orchestration-rail-box">
            <a:extLst>
              <a:ext uri="{FF2B5EF4-FFF2-40B4-BE49-F238E27FC236}">
                <a16:creationId xmlns:a16="http://schemas.microsoft.com/office/drawing/2014/main" id="{1CEC1F22-F880-46CC-B47A-75E4080E216A}"/>
              </a:ext>
            </a:extLst>
          </p:cNvPr>
          <p:cNvSpPr>
            <a:spLocks noGrp="1"/>
          </p:cNvSpPr>
          <p:nvPr/>
        </p:nvSpPr>
        <p:spPr>
          <a:xfrm>
            <a:off x="76200" y="3773723"/>
            <a:ext cx="755100" cy="800727"/>
          </a:xfrm>
          <a:prstGeom prst="roundRect">
            <a:avLst>
              <a:gd name="adj" fmla="val 16000"/>
            </a:avLst>
          </a:prstGeom>
          <a:solidFill>
            <a:srgbClr val="2F8B45"/>
          </a:solidFill>
          <a:ln w="9525">
            <a:solidFill>
              <a:srgbClr val="2F8B45"/>
            </a:solidFill>
            <a:prstDash val="solid"/>
          </a:ln>
        </p:spPr>
        <p:txBody>
          <a:bodyPr wrap="square" lIns="28575" tIns="9525" rIns="28575" bIns="9525" anchor="ctr">
            <a:normAutofit fontScale="99064"/>
          </a:bodyPr>
          <a:lstStyle/>
          <a:p>
            <a:pPr algn="ctr">
              <a:defRPr sz="525" b="1">
                <a:solidFill>
                  <a:srgbClr val="FFFFFF"/>
                </a:solidFill>
                <a:latin typeface="Arial"/>
                <a:ea typeface="Arial"/>
                <a:cs typeface="Arial"/>
              </a:defRPr>
            </a:pPr>
            <a:r>
              <a:rPr lang="en" sz="800" dirty="0">
                <a:solidFill>
                  <a:srgbClr val="FFFFFF"/>
                </a:solidFill>
              </a:rPr>
              <a:t>Kubernetes</a:t>
            </a:r>
            <a:r>
              <a:rPr lang="en" sz="800" b="1" dirty="0">
                <a:solidFill>
                  <a:srgbClr val="FFFFFF"/>
                </a:solidFill>
              </a:rPr>
              <a:t> GPU</a:t>
            </a:r>
            <a:r>
              <a:rPr lang="zh-CN" altLang="en-US" sz="800" b="1" dirty="0">
                <a:solidFill>
                  <a:srgbClr val="FFFFFF"/>
                </a:solidFill>
              </a:rPr>
              <a:t> </a:t>
            </a:r>
            <a:r>
              <a:rPr lang="en-US" altLang="zh-CN" sz="800" b="1" dirty="0">
                <a:solidFill>
                  <a:srgbClr val="FFFFFF"/>
                </a:solidFill>
              </a:rPr>
              <a:t>&amp;</a:t>
            </a:r>
            <a:r>
              <a:rPr lang="zh-CN" altLang="en-US" sz="800" b="1" dirty="0">
                <a:solidFill>
                  <a:srgbClr val="FFFFFF"/>
                </a:solidFill>
              </a:rPr>
              <a:t> </a:t>
            </a:r>
            <a:r>
              <a:rPr lang="en" altLang="zh-CN" sz="800" b="1" dirty="0">
                <a:solidFill>
                  <a:srgbClr val="FFFFFF"/>
                </a:solidFill>
              </a:rPr>
              <a:t>Data</a:t>
            </a:r>
            <a:r>
              <a:rPr lang="en" sz="800" b="1" dirty="0">
                <a:solidFill>
                  <a:srgbClr val="FFFFFF"/>
                </a:solidFill>
              </a:rPr>
              <a:t> Scheduling</a:t>
            </a:r>
          </a:p>
        </p:txBody>
      </p:sp>
      <p:sp>
        <p:nvSpPr>
          <p:cNvPr id="164" name="compute-orchestration-surface">
            <a:extLst>
              <a:ext uri="{FF2B5EF4-FFF2-40B4-BE49-F238E27FC236}">
                <a16:creationId xmlns:a16="http://schemas.microsoft.com/office/drawing/2014/main" id="{654999C4-3805-4C4D-5FCC-B0099477929E}"/>
              </a:ext>
            </a:extLst>
          </p:cNvPr>
          <p:cNvSpPr>
            <a:spLocks noGrp="1"/>
          </p:cNvSpPr>
          <p:nvPr/>
        </p:nvSpPr>
        <p:spPr>
          <a:xfrm>
            <a:off x="933450" y="4069052"/>
            <a:ext cx="6191250" cy="250717"/>
          </a:xfrm>
          <a:prstGeom prst="roundRect">
            <a:avLst>
              <a:gd name="adj" fmla="val 16000"/>
            </a:avLst>
          </a:prstGeom>
          <a:solidFill>
            <a:srgbClr val="F8FCF5"/>
          </a:solidFill>
          <a:ln w="9525">
            <a:solidFill>
              <a:srgbClr val="CFE3C7"/>
            </a:solidFill>
            <a:prstDash val="solid"/>
          </a:ln>
        </p:spPr>
        <p:txBody>
          <a:bodyPr/>
          <a:lstStyle/>
          <a:p>
            <a:endParaRPr lang="zh-CN" altLang="en-US" sz="1600"/>
          </a:p>
        </p:txBody>
      </p:sp>
      <p:sp>
        <p:nvSpPr>
          <p:cNvPr id="165" name="compute-orchestration-items-1-box">
            <a:extLst>
              <a:ext uri="{FF2B5EF4-FFF2-40B4-BE49-F238E27FC236}">
                <a16:creationId xmlns:a16="http://schemas.microsoft.com/office/drawing/2014/main" id="{699A0DB5-EABD-FB32-F820-B8580B8FEAF1}"/>
              </a:ext>
            </a:extLst>
          </p:cNvPr>
          <p:cNvSpPr>
            <a:spLocks noGrp="1"/>
          </p:cNvSpPr>
          <p:nvPr/>
        </p:nvSpPr>
        <p:spPr>
          <a:xfrm>
            <a:off x="100965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Resource Pool Management</a:t>
            </a:r>
          </a:p>
        </p:txBody>
      </p:sp>
      <p:sp>
        <p:nvSpPr>
          <p:cNvPr id="166" name="compute-orchestration-items-2-box">
            <a:extLst>
              <a:ext uri="{FF2B5EF4-FFF2-40B4-BE49-F238E27FC236}">
                <a16:creationId xmlns:a16="http://schemas.microsoft.com/office/drawing/2014/main" id="{B9C5958C-E1B0-659E-0F38-DA0AE9A594FE}"/>
              </a:ext>
            </a:extLst>
          </p:cNvPr>
          <p:cNvSpPr>
            <a:spLocks noGrp="1"/>
          </p:cNvSpPr>
          <p:nvPr/>
        </p:nvSpPr>
        <p:spPr>
          <a:xfrm>
            <a:off x="202088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Priority &amp; Preemption</a:t>
            </a:r>
          </a:p>
        </p:txBody>
      </p:sp>
      <p:sp>
        <p:nvSpPr>
          <p:cNvPr id="167" name="compute-orchestration-items-3-box">
            <a:extLst>
              <a:ext uri="{FF2B5EF4-FFF2-40B4-BE49-F238E27FC236}">
                <a16:creationId xmlns:a16="http://schemas.microsoft.com/office/drawing/2014/main" id="{4D81ECD1-3C38-FC31-5237-AAEE099890D8}"/>
              </a:ext>
            </a:extLst>
          </p:cNvPr>
          <p:cNvSpPr>
            <a:spLocks noGrp="1"/>
          </p:cNvSpPr>
          <p:nvPr/>
        </p:nvSpPr>
        <p:spPr>
          <a:xfrm>
            <a:off x="3032125"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Fair Scheduling</a:t>
            </a:r>
          </a:p>
        </p:txBody>
      </p:sp>
      <p:sp>
        <p:nvSpPr>
          <p:cNvPr id="168" name="compute-orchestration-items-4-box">
            <a:extLst>
              <a:ext uri="{FF2B5EF4-FFF2-40B4-BE49-F238E27FC236}">
                <a16:creationId xmlns:a16="http://schemas.microsoft.com/office/drawing/2014/main" id="{4BCA633C-6E74-0A91-2707-241D402DE11A}"/>
              </a:ext>
            </a:extLst>
          </p:cNvPr>
          <p:cNvSpPr>
            <a:spLocks noGrp="1"/>
          </p:cNvSpPr>
          <p:nvPr/>
        </p:nvSpPr>
        <p:spPr>
          <a:xfrm>
            <a:off x="4043363"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Elastic Resource Allocation</a:t>
            </a:r>
          </a:p>
        </p:txBody>
      </p:sp>
      <p:sp>
        <p:nvSpPr>
          <p:cNvPr id="169" name="compute-orchestration-items-5-box">
            <a:extLst>
              <a:ext uri="{FF2B5EF4-FFF2-40B4-BE49-F238E27FC236}">
                <a16:creationId xmlns:a16="http://schemas.microsoft.com/office/drawing/2014/main" id="{1F32C19F-D03F-6CD4-FDDA-1E7BC79FAD21}"/>
              </a:ext>
            </a:extLst>
          </p:cNvPr>
          <p:cNvSpPr>
            <a:spLocks noGrp="1"/>
          </p:cNvSpPr>
          <p:nvPr/>
        </p:nvSpPr>
        <p:spPr>
          <a:xfrm>
            <a:off x="5054600"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70" name="compute-orchestration-items-6-box">
            <a:extLst>
              <a:ext uri="{FF2B5EF4-FFF2-40B4-BE49-F238E27FC236}">
                <a16:creationId xmlns:a16="http://schemas.microsoft.com/office/drawing/2014/main" id="{08E4B0D7-DDA6-3DEE-B4F7-4698F400DB03}"/>
              </a:ext>
            </a:extLst>
          </p:cNvPr>
          <p:cNvSpPr>
            <a:spLocks noGrp="1"/>
          </p:cNvSpPr>
          <p:nvPr/>
        </p:nvSpPr>
        <p:spPr>
          <a:xfrm>
            <a:off x="6065838" y="4119744"/>
            <a:ext cx="982663" cy="161925"/>
          </a:xfrm>
          <a:prstGeom prst="roundRect">
            <a:avLst>
              <a:gd name="adj" fmla="val 23529"/>
            </a:avLst>
          </a:prstGeom>
          <a:solidFill>
            <a:srgbClr val="FFFFFF"/>
          </a:solidFill>
          <a:ln w="9525">
            <a:solidFill>
              <a:srgbClr val="CFE3C7"/>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Workflow Orchestration</a:t>
            </a:r>
          </a:p>
        </p:txBody>
      </p:sp>
      <p:sp>
        <p:nvSpPr>
          <p:cNvPr id="172" name="kubernetes-gpu-surface">
            <a:extLst>
              <a:ext uri="{FF2B5EF4-FFF2-40B4-BE49-F238E27FC236}">
                <a16:creationId xmlns:a16="http://schemas.microsoft.com/office/drawing/2014/main" id="{6AEDF670-2B7A-B129-36C0-FBE6F1475138}"/>
              </a:ext>
            </a:extLst>
          </p:cNvPr>
          <p:cNvSpPr>
            <a:spLocks noGrp="1"/>
          </p:cNvSpPr>
          <p:nvPr/>
        </p:nvSpPr>
        <p:spPr>
          <a:xfrm>
            <a:off x="933450" y="4367394"/>
            <a:ext cx="6191250" cy="238125"/>
          </a:xfrm>
          <a:prstGeom prst="roundRect">
            <a:avLst>
              <a:gd name="adj" fmla="val 16000"/>
            </a:avLst>
          </a:prstGeom>
          <a:solidFill>
            <a:srgbClr val="F7FAFF"/>
          </a:solidFill>
          <a:ln w="9525">
            <a:solidFill>
              <a:srgbClr val="C8D8F1"/>
            </a:solidFill>
            <a:prstDash val="solid"/>
          </a:ln>
        </p:spPr>
        <p:txBody>
          <a:bodyPr/>
          <a:lstStyle/>
          <a:p>
            <a:endParaRPr lang="zh-CN" altLang="en-US" sz="1600"/>
          </a:p>
        </p:txBody>
      </p:sp>
      <p:sp>
        <p:nvSpPr>
          <p:cNvPr id="173" name="kubernetes-gpu-items-1-box">
            <a:extLst>
              <a:ext uri="{FF2B5EF4-FFF2-40B4-BE49-F238E27FC236}">
                <a16:creationId xmlns:a16="http://schemas.microsoft.com/office/drawing/2014/main" id="{61CDCF19-8242-EDBB-F5F3-5C3474D7F50B}"/>
              </a:ext>
            </a:extLst>
          </p:cNvPr>
          <p:cNvSpPr>
            <a:spLocks noGrp="1"/>
          </p:cNvSpPr>
          <p:nvPr/>
        </p:nvSpPr>
        <p:spPr>
          <a:xfrm>
            <a:off x="10096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1" dirty="0">
                <a:solidFill>
                  <a:srgbClr val="102031"/>
                </a:solidFill>
                <a:latin typeface="Arial"/>
                <a:ea typeface="Arial"/>
                <a:cs typeface="Arial"/>
              </a:rPr>
              <a:t>Kubernetes</a:t>
            </a:r>
          </a:p>
        </p:txBody>
      </p:sp>
      <p:sp>
        <p:nvSpPr>
          <p:cNvPr id="174" name="kubernetes-gpu-items-2-box">
            <a:extLst>
              <a:ext uri="{FF2B5EF4-FFF2-40B4-BE49-F238E27FC236}">
                <a16:creationId xmlns:a16="http://schemas.microsoft.com/office/drawing/2014/main" id="{C77AB38E-B910-0067-928F-19F5BD32D598}"/>
              </a:ext>
            </a:extLst>
          </p:cNvPr>
          <p:cNvSpPr>
            <a:spLocks noGrp="1"/>
          </p:cNvSpPr>
          <p:nvPr/>
        </p:nvSpPr>
        <p:spPr>
          <a:xfrm>
            <a:off x="18764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Operator</a:t>
            </a:r>
          </a:p>
        </p:txBody>
      </p:sp>
      <p:sp>
        <p:nvSpPr>
          <p:cNvPr id="175" name="kubernetes-gpu-items-3-box">
            <a:extLst>
              <a:ext uri="{FF2B5EF4-FFF2-40B4-BE49-F238E27FC236}">
                <a16:creationId xmlns:a16="http://schemas.microsoft.com/office/drawing/2014/main" id="{22972BFF-687C-6A8C-8863-7D96B585133F}"/>
              </a:ext>
            </a:extLst>
          </p:cNvPr>
          <p:cNvSpPr>
            <a:spLocks noGrp="1"/>
          </p:cNvSpPr>
          <p:nvPr/>
        </p:nvSpPr>
        <p:spPr>
          <a:xfrm>
            <a:off x="27432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Device Plugin</a:t>
            </a:r>
          </a:p>
        </p:txBody>
      </p:sp>
      <p:sp>
        <p:nvSpPr>
          <p:cNvPr id="176" name="kubernetes-gpu-items-4-box">
            <a:extLst>
              <a:ext uri="{FF2B5EF4-FFF2-40B4-BE49-F238E27FC236}">
                <a16:creationId xmlns:a16="http://schemas.microsoft.com/office/drawing/2014/main" id="{51152C1A-2883-D420-D486-527933149EEF}"/>
              </a:ext>
            </a:extLst>
          </p:cNvPr>
          <p:cNvSpPr>
            <a:spLocks noGrp="1"/>
          </p:cNvSpPr>
          <p:nvPr/>
        </p:nvSpPr>
        <p:spPr>
          <a:xfrm>
            <a:off x="360997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GPU Monitoring</a:t>
            </a:r>
          </a:p>
        </p:txBody>
      </p:sp>
      <p:sp>
        <p:nvSpPr>
          <p:cNvPr id="177" name="kubernetes-gpu-items-5-box">
            <a:extLst>
              <a:ext uri="{FF2B5EF4-FFF2-40B4-BE49-F238E27FC236}">
                <a16:creationId xmlns:a16="http://schemas.microsoft.com/office/drawing/2014/main" id="{F1C4C1AD-9BD0-9A7E-00D3-97C5A8273808}"/>
              </a:ext>
            </a:extLst>
          </p:cNvPr>
          <p:cNvSpPr>
            <a:spLocks noGrp="1"/>
          </p:cNvSpPr>
          <p:nvPr/>
        </p:nvSpPr>
        <p:spPr>
          <a:xfrm>
            <a:off x="447675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Topology Manager</a:t>
            </a:r>
          </a:p>
        </p:txBody>
      </p:sp>
      <p:sp>
        <p:nvSpPr>
          <p:cNvPr id="178" name="kubernetes-gpu-items-6-box">
            <a:extLst>
              <a:ext uri="{FF2B5EF4-FFF2-40B4-BE49-F238E27FC236}">
                <a16:creationId xmlns:a16="http://schemas.microsoft.com/office/drawing/2014/main" id="{51FB50EB-6A4A-18DB-7A55-E941FFDD2068}"/>
              </a:ext>
            </a:extLst>
          </p:cNvPr>
          <p:cNvSpPr>
            <a:spLocks noGrp="1"/>
          </p:cNvSpPr>
          <p:nvPr/>
        </p:nvSpPr>
        <p:spPr>
          <a:xfrm>
            <a:off x="5343525"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Node Auto-discovery</a:t>
            </a:r>
          </a:p>
        </p:txBody>
      </p:sp>
      <p:sp>
        <p:nvSpPr>
          <p:cNvPr id="179" name="kubernetes-gpu-items-7-box">
            <a:extLst>
              <a:ext uri="{FF2B5EF4-FFF2-40B4-BE49-F238E27FC236}">
                <a16:creationId xmlns:a16="http://schemas.microsoft.com/office/drawing/2014/main" id="{22245C04-67A9-80DF-84B9-860EAB67B4E1}"/>
              </a:ext>
            </a:extLst>
          </p:cNvPr>
          <p:cNvSpPr>
            <a:spLocks noGrp="1"/>
          </p:cNvSpPr>
          <p:nvPr/>
        </p:nvSpPr>
        <p:spPr>
          <a:xfrm>
            <a:off x="6210300" y="4405494"/>
            <a:ext cx="838200" cy="161925"/>
          </a:xfrm>
          <a:prstGeom prst="roundRect">
            <a:avLst>
              <a:gd name="adj" fmla="val 23529"/>
            </a:avLst>
          </a:prstGeom>
          <a:solidFill>
            <a:srgbClr val="FFFFFF"/>
          </a:solidFill>
          <a:ln w="9525">
            <a:solidFill>
              <a:srgbClr val="C8D8F1"/>
            </a:solidFill>
            <a:prstDash val="solid"/>
          </a:ln>
        </p:spPr>
        <p:txBody>
          <a:bodyPr wrap="square" lIns="28575" tIns="9525" rIns="28575" bIns="9525" anchor="ctr">
            <a:normAutofit/>
          </a:bodyPr>
          <a:lstStyle/>
          <a:p>
            <a:pPr algn="ctr">
              <a:defRPr sz="495" b="0">
                <a:solidFill>
                  <a:srgbClr val="102031"/>
                </a:solidFill>
                <a:latin typeface="Arial"/>
                <a:ea typeface="Arial"/>
                <a:cs typeface="Arial"/>
              </a:defRPr>
            </a:pPr>
            <a:r>
              <a:rPr sz="600" b="0">
                <a:solidFill>
                  <a:srgbClr val="102031"/>
                </a:solidFill>
                <a:latin typeface="Arial"/>
                <a:ea typeface="Arial"/>
                <a:cs typeface="Arial"/>
              </a:rPr>
              <a:t>Multi-tenant Isolation</a:t>
            </a:r>
          </a:p>
        </p:txBody>
      </p:sp>
      <p:sp>
        <p:nvSpPr>
          <p:cNvPr id="180" name="infrastructure-rail-box">
            <a:extLst>
              <a:ext uri="{FF2B5EF4-FFF2-40B4-BE49-F238E27FC236}">
                <a16:creationId xmlns:a16="http://schemas.microsoft.com/office/drawing/2014/main" id="{E8A91F7C-D116-EA58-9A8A-F819E1B42313}"/>
              </a:ext>
            </a:extLst>
          </p:cNvPr>
          <p:cNvSpPr>
            <a:spLocks noGrp="1"/>
          </p:cNvSpPr>
          <p:nvPr/>
        </p:nvSpPr>
        <p:spPr>
          <a:xfrm>
            <a:off x="76200" y="4653144"/>
            <a:ext cx="762000" cy="190500"/>
          </a:xfrm>
          <a:prstGeom prst="roundRect">
            <a:avLst>
              <a:gd name="adj" fmla="val 20000"/>
            </a:avLst>
          </a:prstGeom>
          <a:solidFill>
            <a:srgbClr val="102031"/>
          </a:solidFill>
          <a:ln w="9525">
            <a:solidFill>
              <a:srgbClr val="102031"/>
            </a:solidFill>
            <a:prstDash val="solid"/>
          </a:ln>
        </p:spPr>
        <p:txBody>
          <a:bodyPr wrap="square" lIns="28575" tIns="9525" rIns="28575" bIns="9525" anchor="ctr">
            <a:noAutofit/>
          </a:bodyPr>
          <a:lstStyle/>
          <a:p>
            <a:pPr algn="ctr">
              <a:defRPr sz="525" b="1">
                <a:solidFill>
                  <a:srgbClr val="FFFFFF"/>
                </a:solidFill>
                <a:latin typeface="Arial"/>
                <a:ea typeface="Arial"/>
                <a:cs typeface="Arial"/>
              </a:defRPr>
            </a:pPr>
            <a:r>
              <a:rPr sz="600" b="1">
                <a:solidFill>
                  <a:srgbClr val="FFFFFF"/>
                </a:solidFill>
                <a:latin typeface="Arial"/>
                <a:ea typeface="Arial"/>
                <a:cs typeface="Arial"/>
              </a:rPr>
              <a:t>Infrastructure</a:t>
            </a:r>
          </a:p>
          <a:p>
            <a:pPr algn="ctr">
              <a:defRPr sz="525" b="1">
                <a:solidFill>
                  <a:srgbClr val="FFFFFF"/>
                </a:solidFill>
                <a:latin typeface="Arial"/>
                <a:ea typeface="Arial"/>
                <a:cs typeface="Arial"/>
              </a:defRPr>
            </a:pPr>
            <a:r>
              <a:rPr sz="600" b="1">
                <a:solidFill>
                  <a:srgbClr val="FFFFFF"/>
                </a:solidFill>
                <a:latin typeface="Arial"/>
                <a:ea typeface="Arial"/>
                <a:cs typeface="Arial"/>
              </a:rPr>
              <a:t>Operations</a:t>
            </a:r>
          </a:p>
        </p:txBody>
      </p:sp>
      <p:sp>
        <p:nvSpPr>
          <p:cNvPr id="181" name="infrastructure-surface">
            <a:extLst>
              <a:ext uri="{FF2B5EF4-FFF2-40B4-BE49-F238E27FC236}">
                <a16:creationId xmlns:a16="http://schemas.microsoft.com/office/drawing/2014/main" id="{E9666790-F5E6-786E-4021-DCD511CCA1E2}"/>
              </a:ext>
            </a:extLst>
          </p:cNvPr>
          <p:cNvSpPr>
            <a:spLocks noGrp="1"/>
          </p:cNvSpPr>
          <p:nvPr/>
        </p:nvSpPr>
        <p:spPr>
          <a:xfrm>
            <a:off x="933450" y="4653144"/>
            <a:ext cx="6191250" cy="190500"/>
          </a:xfrm>
          <a:prstGeom prst="roundRect">
            <a:avLst>
              <a:gd name="adj" fmla="val 20000"/>
            </a:avLst>
          </a:prstGeom>
          <a:solidFill>
            <a:srgbClr val="F7FAFF"/>
          </a:solidFill>
          <a:ln w="9525">
            <a:solidFill>
              <a:srgbClr val="C8D8F1"/>
            </a:solidFill>
            <a:prstDash val="solid"/>
          </a:ln>
        </p:spPr>
        <p:txBody>
          <a:bodyPr/>
          <a:lstStyle/>
          <a:p>
            <a:endParaRPr lang="zh-CN" altLang="en-US" sz="1600"/>
          </a:p>
        </p:txBody>
      </p:sp>
      <p:sp>
        <p:nvSpPr>
          <p:cNvPr id="182" name="infrastructure-items-1-box">
            <a:extLst>
              <a:ext uri="{FF2B5EF4-FFF2-40B4-BE49-F238E27FC236}">
                <a16:creationId xmlns:a16="http://schemas.microsoft.com/office/drawing/2014/main" id="{F02F3BB5-5C1A-B2C2-142C-AFFAB3E2934D}"/>
              </a:ext>
            </a:extLst>
          </p:cNvPr>
          <p:cNvSpPr>
            <a:spLocks noGrp="1"/>
          </p:cNvSpPr>
          <p:nvPr/>
        </p:nvSpPr>
        <p:spPr>
          <a:xfrm>
            <a:off x="1009650"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Compute</a:t>
            </a:r>
          </a:p>
          <a:p>
            <a:pPr algn="ctr">
              <a:defRPr sz="435" b="0">
                <a:solidFill>
                  <a:srgbClr val="102031"/>
                </a:solidFill>
                <a:latin typeface="Arial"/>
                <a:ea typeface="Arial"/>
                <a:cs typeface="Arial"/>
              </a:defRPr>
            </a:pPr>
            <a:r>
              <a:rPr sz="300" b="0">
                <a:solidFill>
                  <a:srgbClr val="102031"/>
                </a:solidFill>
                <a:latin typeface="Arial"/>
                <a:ea typeface="Arial"/>
                <a:cs typeface="Arial"/>
              </a:rPr>
              <a:t>(VM / Bare Metal)</a:t>
            </a:r>
          </a:p>
        </p:txBody>
      </p:sp>
      <p:sp>
        <p:nvSpPr>
          <p:cNvPr id="183" name="infrastructure-items-2-box">
            <a:extLst>
              <a:ext uri="{FF2B5EF4-FFF2-40B4-BE49-F238E27FC236}">
                <a16:creationId xmlns:a16="http://schemas.microsoft.com/office/drawing/2014/main" id="{9B0BBF7D-394A-50D2-0FD2-FF9329BB6D39}"/>
              </a:ext>
            </a:extLst>
          </p:cNvPr>
          <p:cNvSpPr>
            <a:spLocks noGrp="1"/>
          </p:cNvSpPr>
          <p:nvPr/>
        </p:nvSpPr>
        <p:spPr>
          <a:xfrm>
            <a:off x="1768078"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Network</a:t>
            </a:r>
          </a:p>
          <a:p>
            <a:pPr algn="ctr">
              <a:defRPr sz="435" b="0">
                <a:solidFill>
                  <a:srgbClr val="102031"/>
                </a:solidFill>
                <a:latin typeface="Arial"/>
                <a:ea typeface="Arial"/>
                <a:cs typeface="Arial"/>
              </a:defRPr>
            </a:pPr>
            <a:r>
              <a:rPr sz="300" b="0">
                <a:solidFill>
                  <a:srgbClr val="102031"/>
                </a:solidFill>
                <a:latin typeface="Arial"/>
                <a:ea typeface="Arial"/>
                <a:cs typeface="Arial"/>
              </a:rPr>
              <a:t>(VPC / SDN)</a:t>
            </a:r>
          </a:p>
        </p:txBody>
      </p:sp>
      <p:sp>
        <p:nvSpPr>
          <p:cNvPr id="184" name="infrastructure-items-3-box">
            <a:extLst>
              <a:ext uri="{FF2B5EF4-FFF2-40B4-BE49-F238E27FC236}">
                <a16:creationId xmlns:a16="http://schemas.microsoft.com/office/drawing/2014/main" id="{1863AA5E-7510-42EE-8E75-96EDC8DE25BD}"/>
              </a:ext>
            </a:extLst>
          </p:cNvPr>
          <p:cNvSpPr>
            <a:spLocks noGrp="1"/>
          </p:cNvSpPr>
          <p:nvPr/>
        </p:nvSpPr>
        <p:spPr>
          <a:xfrm>
            <a:off x="2526506"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Storage</a:t>
            </a:r>
          </a:p>
          <a:p>
            <a:pPr algn="ctr">
              <a:defRPr sz="435" b="0">
                <a:solidFill>
                  <a:srgbClr val="102031"/>
                </a:solidFill>
                <a:latin typeface="Arial"/>
                <a:ea typeface="Arial"/>
                <a:cs typeface="Arial"/>
              </a:defRPr>
            </a:pPr>
            <a:r>
              <a:rPr sz="300" b="0">
                <a:solidFill>
                  <a:srgbClr val="102031"/>
                </a:solidFill>
                <a:latin typeface="Arial"/>
                <a:ea typeface="Arial"/>
                <a:cs typeface="Arial"/>
              </a:rPr>
              <a:t>(Distributed)</a:t>
            </a:r>
          </a:p>
        </p:txBody>
      </p:sp>
      <p:sp>
        <p:nvSpPr>
          <p:cNvPr id="185" name="infrastructure-items-4-box">
            <a:extLst>
              <a:ext uri="{FF2B5EF4-FFF2-40B4-BE49-F238E27FC236}">
                <a16:creationId xmlns:a16="http://schemas.microsoft.com/office/drawing/2014/main" id="{1DC82E08-D77B-5A04-E9A3-4799EF0513A2}"/>
              </a:ext>
            </a:extLst>
          </p:cNvPr>
          <p:cNvSpPr>
            <a:spLocks noGrp="1"/>
          </p:cNvSpPr>
          <p:nvPr/>
        </p:nvSpPr>
        <p:spPr>
          <a:xfrm>
            <a:off x="3284934"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Security</a:t>
            </a:r>
          </a:p>
          <a:p>
            <a:pPr algn="ctr">
              <a:defRPr sz="435" b="0">
                <a:solidFill>
                  <a:srgbClr val="102031"/>
                </a:solidFill>
                <a:latin typeface="Arial"/>
                <a:ea typeface="Arial"/>
                <a:cs typeface="Arial"/>
              </a:defRPr>
            </a:pPr>
            <a:r>
              <a:rPr sz="300" b="0">
                <a:solidFill>
                  <a:srgbClr val="102031"/>
                </a:solidFill>
                <a:latin typeface="Arial"/>
                <a:ea typeface="Arial"/>
                <a:cs typeface="Arial"/>
              </a:rPr>
              <a:t>(FW / IDS)</a:t>
            </a:r>
          </a:p>
        </p:txBody>
      </p:sp>
      <p:sp>
        <p:nvSpPr>
          <p:cNvPr id="186" name="infrastructure-items-5-box">
            <a:extLst>
              <a:ext uri="{FF2B5EF4-FFF2-40B4-BE49-F238E27FC236}">
                <a16:creationId xmlns:a16="http://schemas.microsoft.com/office/drawing/2014/main" id="{3BA4C529-07B3-59B6-8AA1-5BE025F17DAA}"/>
              </a:ext>
            </a:extLst>
          </p:cNvPr>
          <p:cNvSpPr>
            <a:spLocks noGrp="1"/>
          </p:cNvSpPr>
          <p:nvPr/>
        </p:nvSpPr>
        <p:spPr>
          <a:xfrm>
            <a:off x="4043363"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Monitoring</a:t>
            </a:r>
          </a:p>
          <a:p>
            <a:pPr algn="ctr">
              <a:defRPr sz="435" b="0">
                <a:solidFill>
                  <a:srgbClr val="102031"/>
                </a:solidFill>
                <a:latin typeface="Arial"/>
                <a:ea typeface="Arial"/>
                <a:cs typeface="Arial"/>
              </a:defRPr>
            </a:pPr>
            <a:r>
              <a:rPr sz="300" b="0">
                <a:solidFill>
                  <a:srgbClr val="102031"/>
                </a:solidFill>
                <a:latin typeface="Arial"/>
                <a:ea typeface="Arial"/>
                <a:cs typeface="Arial"/>
              </a:rPr>
              <a:t>(Prometheus)</a:t>
            </a:r>
          </a:p>
        </p:txBody>
      </p:sp>
      <p:sp>
        <p:nvSpPr>
          <p:cNvPr id="187" name="infrastructure-items-6-box">
            <a:extLst>
              <a:ext uri="{FF2B5EF4-FFF2-40B4-BE49-F238E27FC236}">
                <a16:creationId xmlns:a16="http://schemas.microsoft.com/office/drawing/2014/main" id="{2DBCD637-1B48-A53C-5C31-1DF3173E650F}"/>
              </a:ext>
            </a:extLst>
          </p:cNvPr>
          <p:cNvSpPr>
            <a:spLocks noGrp="1"/>
          </p:cNvSpPr>
          <p:nvPr/>
        </p:nvSpPr>
        <p:spPr>
          <a:xfrm>
            <a:off x="4801791"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Logging</a:t>
            </a:r>
          </a:p>
          <a:p>
            <a:pPr algn="ctr">
              <a:defRPr sz="435" b="0">
                <a:solidFill>
                  <a:srgbClr val="102031"/>
                </a:solidFill>
                <a:latin typeface="Arial"/>
                <a:ea typeface="Arial"/>
                <a:cs typeface="Arial"/>
              </a:defRPr>
            </a:pPr>
            <a:r>
              <a:rPr sz="300" b="0">
                <a:solidFill>
                  <a:srgbClr val="102031"/>
                </a:solidFill>
                <a:latin typeface="Arial"/>
                <a:ea typeface="Arial"/>
                <a:cs typeface="Arial"/>
              </a:rPr>
              <a:t>(ELK)</a:t>
            </a:r>
          </a:p>
        </p:txBody>
      </p:sp>
      <p:sp>
        <p:nvSpPr>
          <p:cNvPr id="188" name="infrastructure-items-7-box">
            <a:extLst>
              <a:ext uri="{FF2B5EF4-FFF2-40B4-BE49-F238E27FC236}">
                <a16:creationId xmlns:a16="http://schemas.microsoft.com/office/drawing/2014/main" id="{7332C11D-84AF-EB39-4669-407DAF74ED90}"/>
              </a:ext>
            </a:extLst>
          </p:cNvPr>
          <p:cNvSpPr>
            <a:spLocks noGrp="1"/>
          </p:cNvSpPr>
          <p:nvPr/>
        </p:nvSpPr>
        <p:spPr>
          <a:xfrm>
            <a:off x="5560219"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Automation</a:t>
            </a:r>
          </a:p>
          <a:p>
            <a:pPr algn="ctr">
              <a:defRPr sz="435" b="0">
                <a:solidFill>
                  <a:srgbClr val="102031"/>
                </a:solidFill>
                <a:latin typeface="Arial"/>
                <a:ea typeface="Arial"/>
                <a:cs typeface="Arial"/>
              </a:defRPr>
            </a:pPr>
            <a:r>
              <a:rPr sz="300" b="0">
                <a:solidFill>
                  <a:srgbClr val="102031"/>
                </a:solidFill>
                <a:latin typeface="Arial"/>
                <a:ea typeface="Arial"/>
                <a:cs typeface="Arial"/>
              </a:rPr>
              <a:t>(Ansible)</a:t>
            </a:r>
          </a:p>
        </p:txBody>
      </p:sp>
      <p:sp>
        <p:nvSpPr>
          <p:cNvPr id="189" name="infrastructure-items-8-box">
            <a:extLst>
              <a:ext uri="{FF2B5EF4-FFF2-40B4-BE49-F238E27FC236}">
                <a16:creationId xmlns:a16="http://schemas.microsoft.com/office/drawing/2014/main" id="{1EBAF33E-9853-62AF-AC8E-2920247E635B}"/>
              </a:ext>
            </a:extLst>
          </p:cNvPr>
          <p:cNvSpPr>
            <a:spLocks noGrp="1"/>
          </p:cNvSpPr>
          <p:nvPr/>
        </p:nvSpPr>
        <p:spPr>
          <a:xfrm>
            <a:off x="6318647" y="4691244"/>
            <a:ext cx="729853" cy="114300"/>
          </a:xfrm>
          <a:prstGeom prst="roundRect">
            <a:avLst>
              <a:gd name="adj" fmla="val 33333"/>
            </a:avLst>
          </a:prstGeom>
          <a:solidFill>
            <a:srgbClr val="FFFFFF"/>
          </a:solidFill>
          <a:ln w="9525">
            <a:solidFill>
              <a:srgbClr val="C8D8F1"/>
            </a:solidFill>
            <a:prstDash val="solid"/>
          </a:ln>
        </p:spPr>
        <p:txBody>
          <a:bodyPr wrap="square" lIns="28575" tIns="9525" rIns="28575" bIns="9525" anchor="ctr">
            <a:noAutofit/>
          </a:bodyPr>
          <a:lstStyle/>
          <a:p>
            <a:pPr algn="ctr">
              <a:defRPr sz="435" b="0">
                <a:solidFill>
                  <a:srgbClr val="102031"/>
                </a:solidFill>
                <a:latin typeface="Arial"/>
                <a:ea typeface="Arial"/>
                <a:cs typeface="Arial"/>
              </a:defRPr>
            </a:pPr>
            <a:r>
              <a:rPr sz="300" b="0">
                <a:solidFill>
                  <a:srgbClr val="102031"/>
                </a:solidFill>
                <a:latin typeface="Arial"/>
                <a:ea typeface="Arial"/>
                <a:cs typeface="Arial"/>
              </a:rPr>
              <a:t>CI/CD</a:t>
            </a:r>
          </a:p>
          <a:p>
            <a:pPr algn="ctr">
              <a:defRPr sz="435" b="0">
                <a:solidFill>
                  <a:srgbClr val="102031"/>
                </a:solidFill>
                <a:latin typeface="Arial"/>
                <a:ea typeface="Arial"/>
                <a:cs typeface="Arial"/>
              </a:defRPr>
            </a:pPr>
            <a:r>
              <a:rPr sz="300" b="0">
                <a:solidFill>
                  <a:srgbClr val="102031"/>
                </a:solidFill>
                <a:latin typeface="Arial"/>
                <a:ea typeface="Arial"/>
                <a:cs typeface="Arial"/>
              </a:rPr>
              <a:t>(GitOps)</a:t>
            </a:r>
          </a:p>
        </p:txBody>
      </p:sp>
      <p:sp>
        <p:nvSpPr>
          <p:cNvPr id="6" name="文本框 5">
            <a:extLst>
              <a:ext uri="{FF2B5EF4-FFF2-40B4-BE49-F238E27FC236}">
                <a16:creationId xmlns:a16="http://schemas.microsoft.com/office/drawing/2014/main" id="{0DC8EAE8-7214-0CAB-B297-4A9BD9A4B529}"/>
              </a:ext>
            </a:extLst>
          </p:cNvPr>
          <p:cNvSpPr txBox="1"/>
          <p:nvPr/>
        </p:nvSpPr>
        <p:spPr>
          <a:xfrm>
            <a:off x="1103735" y="2040678"/>
            <a:ext cx="648868" cy="461665"/>
          </a:xfrm>
          <a:prstGeom prst="rect">
            <a:avLst/>
          </a:prstGeom>
          <a:noFill/>
          <a:ln w="0">
            <a:noFill/>
            <a:prstDash val="solid"/>
          </a:ln>
        </p:spPr>
        <p:txBody>
          <a:bodyPr wrap="square" lIns="19050" tIns="9525" rIns="19050" bIns="9525" anchor="ctr">
            <a:normAutofit fontScale="93750"/>
          </a:bodyPr>
          <a:lstStyle>
            <a:defPPr marR="0" lvl="0" algn="l" rtl="0">
              <a:lnSpc>
                <a:spcPct val="100000"/>
              </a:lnSpc>
              <a:spcBef>
                <a:spcPts val="0"/>
              </a:spcBef>
              <a:spcAft>
                <a:spcPts val="0"/>
              </a:spcAft>
            </a:defPPr>
            <a:lvl1pPr algn="ctr">
              <a:defRPr sz="1200" b="1">
                <a:solidFill>
                  <a:srgbClr val="475569"/>
                </a:solidFill>
              </a:defRPr>
            </a:lvl1pPr>
          </a:lstStyle>
          <a:p>
            <a:pPr algn="l"/>
            <a:r>
              <a:rPr lang="en" altLang="zh-CN" dirty="0"/>
              <a:t>LLM-D</a:t>
            </a:r>
          </a:p>
          <a:p>
            <a:pPr algn="l"/>
            <a:r>
              <a:rPr lang="en" altLang="zh-CN" dirty="0"/>
              <a:t>KAITO</a:t>
            </a:r>
            <a:endParaRPr lang="zh-CN" altLang="en-US" dirty="0"/>
          </a:p>
        </p:txBody>
      </p:sp>
    </p:spTree>
    <p:extLst>
      <p:ext uri="{BB962C8B-B14F-4D97-AF65-F5344CB8AC3E}">
        <p14:creationId xmlns:p14="http://schemas.microsoft.com/office/powerpoint/2010/main" val="31577067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205441"/>
          </a:xfrm>
          <a:prstGeom prst="rect">
            <a:avLst/>
          </a:prstGeom>
          <a:noFill/>
        </p:spPr>
        <p:txBody>
          <a:bodyPr wrap="square" lIns="10287" tIns="10287" rIns="10287" bIns="10287">
            <a:spAutoFit/>
          </a:bodyPr>
          <a:lstStyle/>
          <a:p>
            <a:pPr marL="158750">
              <a:buSzPts val="1100"/>
            </a:pPr>
            <a:r>
              <a:rPr lang="zh-CN" altLang="zh-CN" sz="1200" dirty="0"/>
              <a:t>The following table presents examples, not a ranking. Some approaches can be used together.</a:t>
            </a:r>
            <a:endParaRPr lang="en-US" altLang="zh-CN" sz="1200" dirty="0"/>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lang="en-US" sz="1125" dirty="0"/>
              <a:t>P/D deployment options already exist. KAITO aims to make them easier to use.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14</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dirty="0" err="1">
                <a:solidFill>
                  <a:srgbClr val="142C46"/>
                </a:solidFill>
                <a:latin typeface="Arial"/>
              </a:rPr>
              <a:t>llm</a:t>
            </a:r>
            <a:r>
              <a:rPr sz="2100" b="1" dirty="0">
                <a:solidFill>
                  <a:srgbClr val="142C46"/>
                </a:solidFill>
                <a:latin typeface="Arial"/>
              </a:rPr>
              <a:t>-d: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a:lnSpc>
                <a:spcPct val="108000"/>
              </a:lnSpc>
              <a:defRPr sz="1200" b="0">
                <a:solidFill>
                  <a:srgbClr val="52677D"/>
                </a:solidFill>
                <a:latin typeface="Arial"/>
              </a:defRPr>
            </a:pPr>
            <a:r>
              <a:rPr lang="en-US" sz="1200" dirty="0">
                <a:solidFill>
                  <a:srgbClr val="52677D"/>
                </a:solidFill>
              </a:rPr>
              <a:t>Kubernetes-native high-performance distributed LLM inference framework</a:t>
            </a:r>
            <a:endParaRPr sz="1200" b="0" dirty="0">
              <a:solidFill>
                <a:srgbClr val="52677D"/>
              </a:solidFill>
              <a:latin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15</a:t>
            </a:fld>
            <a:endParaRPr lang="en-US"/>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combine reusable </a:t>
            </a:r>
            <a:r>
              <a:rPr lang="en-US" sz="1100" b="0" dirty="0" err="1">
                <a:solidFill>
                  <a:srgbClr val="142C46"/>
                </a:solidFill>
                <a:latin typeface="Arial"/>
              </a:rPr>
              <a:t>llm</a:t>
            </a:r>
            <a:r>
              <a:rPr lang="en-US" sz="1100" b="0" dirty="0">
                <a:solidFill>
                  <a:srgbClr val="142C46"/>
                </a:solidFill>
                <a:latin typeface="Arial"/>
              </a:rPr>
              <a:t>-d </a:t>
            </a:r>
            <a:r>
              <a:rPr sz="1100" b="0" dirty="0">
                <a:solidFill>
                  <a:srgbClr val="142C46"/>
                </a:solidFill>
                <a:latin typeface="Arial"/>
              </a:rPr>
              <a:t>components.</a:t>
            </a:r>
          </a:p>
          <a:p>
            <a:pPr marL="0" indent="0" algn="l">
              <a:lnSpc>
                <a:spcPct val="108000"/>
              </a:lnSpc>
              <a:spcBef>
                <a:spcPts val="0"/>
              </a:spcBef>
              <a:spcAft>
                <a:spcPts val="700"/>
              </a:spcAft>
              <a:buNone/>
              <a:defRPr sz="1100" b="0">
                <a:solidFill>
                  <a:srgbClr val="142C46"/>
                </a:solidFill>
                <a:latin typeface="Arial"/>
              </a:defRPr>
            </a:pPr>
            <a:r>
              <a:rPr sz="1100" b="0" dirty="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dirty="0">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nSpc>
                <a:spcPct val="108000"/>
              </a:lnSpc>
              <a:spcAft>
                <a:spcPts val="500"/>
              </a:spcAft>
              <a:defRPr sz="1050" b="0">
                <a:solidFill>
                  <a:srgbClr val="142C46"/>
                </a:solidFill>
                <a:latin typeface="Arial"/>
              </a:defRPr>
            </a:pPr>
            <a:r>
              <a:rPr lang="en-US" sz="1100" b="1" dirty="0">
                <a:solidFill>
                  <a:srgbClr val="346CEC"/>
                </a:solidFill>
              </a:rPr>
              <a:t>State-of-the-art </a:t>
            </a:r>
            <a:r>
              <a:rPr sz="1100" b="1" dirty="0" err="1">
                <a:solidFill>
                  <a:srgbClr val="346CEC"/>
                </a:solidFill>
                <a:latin typeface="Arial"/>
              </a:rPr>
              <a:t>MoE</a:t>
            </a:r>
            <a:r>
              <a:rPr sz="1100" b="1" dirty="0">
                <a:solidFill>
                  <a:srgbClr val="346CEC"/>
                </a:solidFill>
                <a:latin typeface="Arial"/>
              </a:rPr>
              <a:t> serving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dirty="0">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dirty="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dirty="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16</a:t>
            </a:fld>
            <a:endParaRPr 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184666"/>
          </a:xfrm>
          <a:prstGeom prst="rect">
            <a:avLst/>
          </a:prstGeom>
          <a:noFill/>
        </p:spPr>
        <p:txBody>
          <a:bodyPr wrap="square" lIns="0" tIns="0" rIns="0" bIns="0">
            <a:spAutoFit/>
          </a:bodyPr>
          <a:lstStyle/>
          <a:p>
            <a:pPr marL="158750">
              <a:buSzPts val="1100"/>
            </a:pPr>
            <a:r>
              <a:rPr lang="zh-CN" altLang="zh-CN" sz="1200" dirty="0"/>
              <a:t>tested ways to deploy, with clear guidance on what works well and what the limitations are.</a:t>
            </a:r>
            <a:endParaRPr lang="en-US" altLang="zh-CN" sz="1200" dirty="0"/>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dirty="0"/>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dirty="0"/>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a large </a:t>
            </a:r>
            <a:r>
              <a:rPr cap="none" dirty="0" err="1"/>
              <a:t>MoE</a:t>
            </a:r>
            <a:r>
              <a:rPr cap="none" dirty="0"/>
              <a:t> model run across GPUs?</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dirty="0"/>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dirty="0"/>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17</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
        <p:nvSpPr>
          <p:cNvPr id="19" name="MoE explained in plain English"/>
          <p:cNvSpPr txBox="1"/>
          <p:nvPr/>
        </p:nvSpPr>
        <p:spPr>
          <a:xfrm>
            <a:off x="576072" y="4270248"/>
            <a:ext cx="7991856" cy="466344"/>
          </a:xfrm>
          <a:prstGeom prst="rect">
            <a:avLst/>
          </a:prstGeom>
          <a:noFill/>
        </p:spPr>
        <p:txBody>
          <a:bodyPr wrap="square" lIns="0" tIns="0" rIns="0" bIns="0">
            <a:noAutofit/>
          </a:bodyPr>
          <a:lstStyle/>
          <a:p>
            <a:pPr>
              <a:spcAft>
                <a:spcPts val="100"/>
              </a:spcAft>
              <a:defRPr sz="1350" b="1">
                <a:solidFill>
                  <a:srgbClr val="8060C3"/>
                </a:solidFill>
                <a:latin typeface="Arial"/>
              </a:defRPr>
            </a:pPr>
            <a:r>
              <a:rPr cap="none" dirty="0" err="1"/>
              <a:t>MoE</a:t>
            </a:r>
            <a:r>
              <a:rPr lang="en-US" dirty="0"/>
              <a:t>:</a:t>
            </a:r>
            <a:r>
              <a:rPr lang="zh-CN" altLang="en-US" dirty="0"/>
              <a:t> </a:t>
            </a:r>
            <a:r>
              <a:rPr cap="none" dirty="0"/>
              <a:t>Mixture of Experts—a team of specialists.</a:t>
            </a:r>
          </a:p>
          <a:p>
            <a:pPr>
              <a:spcAft>
                <a:spcPts val="100"/>
              </a:spcAft>
              <a:defRPr sz="1350" b="0">
                <a:solidFill>
                  <a:srgbClr val="142C46"/>
                </a:solidFill>
                <a:latin typeface="Arial"/>
              </a:defRPr>
            </a:pPr>
            <a:r>
              <a:rPr cap="none" dirty="0"/>
              <a:t>The model picks a few experts to help process each token</a:t>
            </a:r>
            <a:r>
              <a:rPr lang="en-US" dirty="0"/>
              <a:t> instead of using all experts every time.</a:t>
            </a:r>
            <a:endParaRPr cap="none" dirty="0"/>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1800" b="1" cap="none" dirty="0">
                <a:solidFill>
                  <a:srgbClr val="142C46"/>
                </a:solidFill>
                <a:latin typeface="Arial"/>
              </a:rPr>
              <a:t>What is KAITO </a:t>
            </a:r>
            <a:r>
              <a:rPr lang="en-US" sz="1800" b="1" dirty="0">
                <a:solidFill>
                  <a:srgbClr val="142C46"/>
                </a:solidFill>
                <a:latin typeface="Arial"/>
              </a:rPr>
              <a:t>(Kubernetes AI Toolchain Operator)</a:t>
            </a:r>
            <a:r>
              <a:rPr lang="en-US" sz="1800" b="1" cap="none" dirty="0">
                <a:solidFill>
                  <a:srgbClr val="142C46"/>
                </a:solidFill>
                <a:latin typeface="Arial"/>
              </a:rPr>
              <a:t>?</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5885848" y="2184839"/>
            <a:ext cx="3407344"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Specify a model name and GPU SKU</a:t>
            </a:r>
          </a:p>
          <a:p>
            <a:pPr marL="285750" indent="-285750">
              <a:buFont typeface="Arial" panose="020B0604020202020204" pitchFamily="34" charset="0"/>
              <a:buChar char="•"/>
            </a:pPr>
            <a:r>
              <a:rPr lang="en-US" sz="1300" dirty="0">
                <a:solidFill>
                  <a:srgbClr val="142C46"/>
                </a:solidFill>
              </a:rPr>
              <a:t>sizes the nodes to fit the model’s memory requirements</a:t>
            </a:r>
          </a:p>
          <a:p>
            <a:pPr marL="285750" indent="-285750">
              <a:buFont typeface="Arial" panose="020B0604020202020204" pitchFamily="34" charset="0"/>
              <a:buChar char="•"/>
            </a:pPr>
            <a:r>
              <a:rPr lang="en-US" sz="1300" dirty="0">
                <a:solidFill>
                  <a:srgbClr val="142C46"/>
                </a:solidFill>
              </a:rPr>
              <a:t>handles model setup and caching</a:t>
            </a:r>
          </a:p>
          <a:p>
            <a:pPr marL="285750" indent="-285750">
              <a:buFont typeface="Arial" panose="020B0604020202020204" pitchFamily="34" charset="0"/>
              <a:buChar char="•"/>
            </a:pPr>
            <a:r>
              <a:rPr lang="en-US" sz="1300" dirty="0">
                <a:solidFill>
                  <a:srgbClr val="142C46"/>
                </a:solidFill>
              </a:rPr>
              <a:t>manages inference workloads and rolling updates on Kubernetes</a:t>
            </a:r>
          </a:p>
          <a:p>
            <a:pPr marL="285750" indent="-285750">
              <a:buFont typeface="Arial" panose="020B0604020202020204" pitchFamily="34" charset="0"/>
              <a:buChar char="•"/>
            </a:pPr>
            <a:r>
              <a:rPr lang="en-US" sz="1300" dirty="0">
                <a:solidFill>
                  <a:srgbClr val="142C46"/>
                </a:solidFill>
              </a:rPr>
              <a:t>uses KEDA to automatically scale workloads</a:t>
            </a:r>
            <a:endParaRPr sz="1300" cap="none" dirty="0">
              <a:solidFill>
                <a:srgbClr val="142C46"/>
              </a:solidFill>
              <a:latin typeface="Arial"/>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18</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Specify the model name,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dirty="0">
                <a:solidFill>
                  <a:srgbClr val="346CEC"/>
                </a:solidFill>
                <a:latin typeface="Arial"/>
              </a:rPr>
              <a:t>03 / </a:t>
            </a:r>
            <a:r>
              <a:rPr sz="750" b="1" dirty="0" err="1">
                <a:solidFill>
                  <a:srgbClr val="346CEC"/>
                </a:solidFill>
                <a:latin typeface="Arial"/>
              </a:rPr>
              <a:t>llm</a:t>
            </a:r>
            <a:r>
              <a:rPr sz="750" b="1" dirty="0">
                <a:solidFill>
                  <a:srgbClr val="346CEC"/>
                </a:solidFill>
                <a:latin typeface="Arial"/>
              </a:rPr>
              <a:t>-d and KAITO — </a:t>
            </a:r>
            <a:r>
              <a:rPr lang="en-US" sz="750" b="1" dirty="0">
                <a:solidFill>
                  <a:srgbClr val="346CEC"/>
                </a:solidFill>
                <a:latin typeface="Arial"/>
              </a:rPr>
              <a:t>inference </a:t>
            </a:r>
            <a:r>
              <a:rPr sz="750" b="1" dirty="0">
                <a:solidFill>
                  <a:srgbClr val="346CEC"/>
                </a:solidFill>
                <a:latin typeface="Arial"/>
              </a:rPr>
              <a:t>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b="1" dirty="0">
                <a:solidFill>
                  <a:schemeClr val="accent2">
                    <a:lumMod val="75000"/>
                  </a:schemeClr>
                </a:solidFill>
              </a:rPr>
              <a:t>Specify a model name and GPU SKU</a:t>
            </a:r>
            <a:r>
              <a:rPr lang="en-US" sz="1400" b="1" dirty="0">
                <a:solidFill>
                  <a:schemeClr val="accent2">
                    <a:lumMod val="75000"/>
                  </a:schemeClr>
                </a:solidFill>
              </a:rPr>
              <a:t>.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22</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23</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29</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32</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36</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39</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40</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41</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45</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46</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48</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49</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50</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51</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53</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9832</TotalTime>
  <Words>14507</Words>
  <Application>Microsoft Office PowerPoint</Application>
  <PresentationFormat>On-screen Show (16:9)</PresentationFormat>
  <Paragraphs>1436</Paragraphs>
  <Slides>53</Slides>
  <Notes>53</Notes>
  <HiddenSlides>12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PowerPoint Presentation</vt:lpstr>
      <vt:lpstr>llm-d: a distributed inference stack</vt:lpstr>
      <vt:lpstr>llm-d: capabilities for distributed inference</vt:lpstr>
      <vt:lpstr>PowerPoint Presentation</vt:lpstr>
      <vt:lpstr>What is KAITO (Kubernetes AI Toolchain Operator)?</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419</cp:revision>
  <dcterms:created xsi:type="dcterms:W3CDTF">2019-07-29T21:37:05Z</dcterms:created>
  <dcterms:modified xsi:type="dcterms:W3CDTF">2026-10-29T09:46:07Z</dcterms:modified>
</cp:coreProperties>
</file>