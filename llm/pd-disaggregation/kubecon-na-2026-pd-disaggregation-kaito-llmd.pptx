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147375734" r:id="rId14"/>
    <p:sldId id="267" r:id="rId15"/>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customschemas.google.com/relationships/presentationmetadata" Target="metadata"/><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Let's start with what the model actually does. For this teaching example, we're treating each word and punctuation mark as a token. Prefill processes the five prompt positions with causal attention and builds their per-layer keys and values. The final prompt position predicts the first output token, 'Kubernetes.' Importantly, selecting that token doesn't put its keys and values in the cache yet. Those appear when the next step consumes it.</a:t>
            </a:r>
          </a:p>
          <a:p>
            <a:endParaRPr/>
          </a:p>
          <a:p>
            <a:r>
              <a:t>REFERENCE NOTES (NOT SPOKEN)</a:t>
            </a:r>
          </a:p>
          <a:p>
            <a:endParaRPr/>
          </a:p>
          <a:p>
            <a:r>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subwords and handle whitespace and punctuation differently. No tokenizer or model inference was run; the completion is authored, not a captured model response or evidence of a KAITO model deployment. Exact prompt: What does Kubernetes do? Exact output: Kubernetes helps teams deploy and scale applications. Scope: a standard decoder-only autoregressive Transformer with KV caching and no speculative decoding. Tokenization precedes model execution. Prefill processes all uncached prompt positions; operations across positions can be batched within a layer while a causal mask prevents attention to future positions. Layers still follow model dependencies. Every attention layer builds K/V for the positions it processes. KV tensors are model state, not prompt text, weights or cached answers. Final prompt-position logits select y1, illustrated as the complete word Kubernetes. This authored selection is a hypothetical model path, not a measured probability. Immediately after selection, only prompt KV is cached. The next forward pass consumes y1 and appends its K/V. Chunked prefill splits uncached positions into scheduled chunks; prefix caching can reuse cached prompt positions. Prefill is not necessarily one physical kernel or uninterrupted scheduler iteration. Phase semantics do not assign first-token selection or delivery to a particular worker or specify the KAITO/llm-d transfer protocol. Client TTFT also includes queueing, tokenization, orchestration, transfer and delivery.</a:t>
            </a:r>
          </a:p>
          <a:p>
            <a:endParaRPr/>
          </a:p>
          <a:p>
            <a:r>
              <a:t>Narrative source: kubecon-na-2026-pd-disaggregation.md</a:t>
            </a:r>
          </a:p>
          <a:p>
            <a:r>
              <a:t>References:</a:t>
            </a:r>
          </a:p>
          <a:p>
            <a:r>
              <a:t>https://huggingface.co/docs/transformers/en/cache_explanation</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Now decode consumes 'Kubernetes,' reads the existing history, adds that consumed token's keys and values, and predicts 'helps.' Then it repeats. We're reusing old keys and values, not avoiding all attention work. On the client timeline, time to first token is the initial wait. Inter-token latency is each subsequent gap. Average time per output token summarizes those later intervals; it isn't the same thing as an individual gap or its percentile.</a:t>
            </a:r>
          </a:p>
          <a:p>
            <a:endParaRPr dirty="0"/>
          </a:p>
          <a:p>
            <a:r>
              <a:rPr dirty="0"/>
              <a:t>REFERENCE NOTES (NOT SPOKEN)</a:t>
            </a:r>
          </a:p>
          <a:p>
            <a:endParaRPr dirty="0"/>
          </a:p>
          <a:p>
            <a:r>
              <a:rPr dirty="0"/>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a:t>
            </a:r>
            <a:r>
              <a:rPr dirty="0" err="1"/>
              <a:t>subwords</a:t>
            </a:r>
            <a:r>
              <a:rPr dirty="0"/>
              <a:t> and handle whitespace and punctuation differently. No tokenizer or model inference was run; the completion is authored, not a captured model response or evidence of a KAITO model deployment. Continue slide 3. Exact output: Kubernetes helps teams deploy and scale applications. Prefill selected y1 = Kubernetes with only prompt KV cached. Decode step </a:t>
            </a:r>
            <a:r>
              <a:rPr dirty="0" err="1"/>
              <a:t>i</a:t>
            </a:r>
            <a:r>
              <a:rPr dirty="0"/>
              <a:t> consumes </a:t>
            </a:r>
            <a:r>
              <a:rPr dirty="0" err="1"/>
              <a:t>yi</a:t>
            </a:r>
            <a:r>
              <a:rPr dirty="0"/>
              <a:t> with cache for prompt plus y1 through y(i-1), appends per-layer K/V for </a:t>
            </a:r>
            <a:r>
              <a:rPr dirty="0" err="1"/>
              <a:t>yi</a:t>
            </a:r>
            <a:r>
              <a:rPr dirty="0"/>
              <a:t>, then selects y(i+1) from the new position logits. Six rows: Kubernetes -&gt; helps; helps -&gt; teams; teams -&gt; deploy; deploy -&gt; and; and -&gt; scale; scale -&gt; applications. After row 6, cached output positions are y1-y6 and y7 (applications) is selected but not consumed or cached. The omitted final step consumes y7 (applications) and selects y8 (period). If generation continues, consuming the period could select EOS; EOS is normally hidden and need not be consumed into KV on stopping. No EOS ID or actual model decision is asserted. A token limit or stop string can also stop generation. With full-context attention each new query still reads cached history; caching avoids recomputing old K/V, not all attention work or history reads. Cache memory behavior depends on static allocation, sliding windows and eviction. Ordinary autoregressive decode is sequential within one request; cross-request batching is possible, and speculative decoding may accept multiple tokens per physical iteration. Client timeline shows the first six words under the one-word-per-token teaching assumption; the later word applications and punctuation are omitted. TTFT means time to first token: request submission to first received token, which is a whole word only in this schematic. Each ITL is the gap between successive received tokens. Five gaps are shown, not timing measurements; durations are not to scale. In real systems the first token need not be a complete word. Queueing, orchestration, transport, detokenization and stream buffering may change client-observed arrival grouping and latency. A real stream chunk may contain multiple tokens. Average time per output token is not each ITL sample or percentile. These phase semantics cover </a:t>
            </a:r>
            <a:r>
              <a:rPr dirty="0" err="1"/>
              <a:t>colocated</a:t>
            </a:r>
            <a:r>
              <a:rPr dirty="0"/>
              <a:t> and disaggregated serving and do not mandate a worker boundary; </a:t>
            </a:r>
            <a:r>
              <a:rPr dirty="0" err="1"/>
              <a:t>colocated</a:t>
            </a:r>
            <a:r>
              <a:rPr dirty="0"/>
              <a:t> serving needs no inter-worker KV transfer.</a:t>
            </a:r>
          </a:p>
          <a:p>
            <a:endParaRPr dirty="0"/>
          </a:p>
          <a:p>
            <a:r>
              <a:rPr dirty="0"/>
              <a:t>Narrative source: kubecon-na-2026-pd-disaggregation.md</a:t>
            </a:r>
          </a:p>
          <a:p>
            <a:r>
              <a:rPr dirty="0"/>
              <a:t>References:</a:t>
            </a:r>
          </a:p>
          <a:p>
            <a:r>
              <a:rPr dirty="0"/>
              <a:t>https://huggingface.co/docs/transformers/en/cache_explanation</a:t>
            </a:r>
          </a:p>
          <a:p>
            <a:r>
              <a:rPr dirty="0"/>
              <a:t>https://docs.vllm.ai/en/stable/usage/metrics/</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These phases create two different performance targets. Prefill often stresses compute and mainly shapes time to first token. Decode often stresses memory bandwidth and shapes the pace of the stream. Neither relationship is exclusive: queues and delivery matter too. What we ultimately want is goodput: requests that meet both latency targets, not just a large aggregate token counter.</a:t>
            </a:r>
          </a:p>
          <a:p>
            <a:endParaRPr/>
          </a:p>
          <a:p>
            <a:r>
              <a:t>REFERENCE NOTES (NOT SPOKEN)</a:t>
            </a:r>
          </a:p>
          <a:p>
            <a:endParaRPr/>
          </a:p>
          <a:p>
            <a:r>
              <a:t>Primary mapping, not exclusive causation: prefill latency mainly shapes TTFT (time to first token), while decode mainly shapes ITL (inter-token latency) and per-request TPOT (average time per output token after the first). Lower latency is better at matched workload and quality. TTFT is not pure prefill compute: request queueing, routing, input processing/tokenization, scheduling, and delivery contribute; disaggregated serving can also add KV-transfer and coordination time on the first-token critical path, depending on the protocol. No worker ordering or first-token delivery worker is mandated.</a:t>
            </a:r>
          </a:p>
          <a:p>
            <a:endParaRPr/>
          </a:p>
          <a:p>
            <a:r>
              <a:t>At a client measurement boundary, TTFT is request submission to receipt of the first output token. ITL describes gaps between successive output tokens in a one-token-per-event stream. The cited vLLM inter_token_latency_seconds histogram actually records consecutive streamed output events, which can contain multiple tokens; request_time_per_output_token_seconds records one TPOT sample per finished request. For Nout &gt; 1, TPOT = (end-to-end latency - TTFT)/(Nout - 1) at the source metric boundaries. ITL and TPOT distributions, means and percentiles are not interchangeable: multi-token events and different request/event weighting change them. With consistent client boundaries and TPOT measured from first to last received token, total response latency to the last token is approximately TTFT + (Nout - 1) × TPOT. This is not an exact claim about HTTP request-close time. For no more than one generated token, vLLM server records TPOT as zero whereas its benchmark excludes the request from TPOT statistics.</a:t>
            </a:r>
          </a:p>
          <a:p>
            <a:endParaRPr/>
          </a:p>
          <a:p>
            <a:r>
              <a:t>vLLM frontend/engine timing is not identical to client timing: the documented frontend arrival_time starts at tokenization, and engine prefill time runs from the most recent SCHEDULED to first NEW_TOKENS. Client timing additionally observes network and delivery overhead. ITL/TPOT can include scheduling gaps, preemption, contention, detokenization, transport and stream buffering rather than only GPU decode compute. Colocated prefill bursts can stall existing decode streams; chunked prefill and scheduling can mitigate this.</a:t>
            </a:r>
          </a:p>
          <a:p>
            <a:endParaRPr/>
          </a:p>
          <a:p>
            <a:r>
              <a:t>Supporting role metrics: prefill latency and input-token processing throughput (input tok/s); decode output-token throughput (output tok/s). State the aggregation scope, time window, prompt/output lengths and prefix-cache accounting. Aggregate output tok/s is across concurrent requests and is not the speed experienced by one request. After the first token, a single request has approximately 1/TPOT output tok/s at matching boundaries; larger decode batches may raise aggregate throughput while worsening per-request ITL/TPOT. Input and output tok/s measure different work and must not be compared as equivalent productivity.</a:t>
            </a:r>
          </a:p>
          <a:p>
            <a:endParaRPr/>
          </a:p>
          <a:p>
            <a:r>
              <a:t>Both phases affect end-to-end latency and system capacity. SLO goodput here means requests/s meeting both TTFT and token-delivery latency targets, not all completed requests or raw token throughput. The word often qualifies compute-bound prefill and memory-bandwidth-bound decode: bottlenecks depend on model, batch size, context, hardware and scheduling. Prefill populates the KV cache; longer prompts also increase decode attention/KV cost. HBM KV occupancy is a resource-capacity pressure indicator, not memory bandwidth or a primary latency metric. Conceptual mapping only: no measured speedups or performance data.</a:t>
            </a:r>
          </a:p>
          <a:p>
            <a:endParaRPr/>
          </a:p>
          <a:p>
            <a:r>
              <a:t>Narrative source: kubecon-na-2026-pd-disaggregation.md</a:t>
            </a:r>
          </a:p>
          <a:p>
            <a:r>
              <a:t>References:</a:t>
            </a:r>
          </a:p>
          <a:p>
            <a:r>
              <a:t>https://docs.vllm.ai/en/latest/design/metrics/</a:t>
            </a:r>
          </a:p>
          <a:p>
            <a:r>
              <a:t>https://docs.vllm.ai/en/latest/benchmarking/cli/#understanding-the-latency-metrics</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In aggregated serving, both phases share a GPU pool and scaling boundary. That's a reasonable starting point. But prompt bursts can compete with ongoing generation, and scaling adds both phases together. Even with good scheduling, capacity remains a coupled decision.</a:t>
            </a:r>
          </a:p>
          <a:p>
            <a:endParaRPr/>
          </a:p>
          <a:p>
            <a:r>
              <a:t>REFERENCE NOTES (NOT SPOKEN)</a:t>
            </a:r>
          </a:p>
          <a:p>
            <a:endParaRPr/>
          </a:p>
          <a:p>
            <a:r>
              <a:t>Do not claim every aggregated deployment performs poorly. Continuous batching and chunked prefill can reduce interference. The point is that a shared resource and scaling boundary still constrains independent capacity shaping.</a:t>
            </a:r>
          </a:p>
          <a:p>
            <a:endParaRPr/>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Here, A is an ongoing request and B is a new arrival. Each D block means a decode execution step for A; D isn't a token or a request name. On the shared GPU, B's prefill can interrupt A. Chunked prefill can reduce that pause. Separate workers remove that direct execution conflict, although B still needs a KV handoff and other latency sources remain.</a:t>
            </a:r>
          </a:p>
          <a:p>
            <a:endParaRPr/>
          </a:p>
          <a:p>
            <a:r>
              <a:t>REFERENCE NOTES (NOT SPOKEN)</a:t>
            </a:r>
          </a:p>
          <a:p>
            <a:endParaRPr/>
          </a:p>
          <a:p>
            <a:r>
              <a:t>Original author-created conceptual schedule, not a reproduced research figure, trace or benchmark. Source basis: NVIDIA Dynamo introduction, published 18 March 2025 (page metadata), and current disaggregated-serving overview, accessed 22 October 2026. A is one ongoing request; B is a different newly arriving request. Each purple A block represents some decode execution, not a measured token duration or count. The shared-GPU example chooses a simple non-chunked prefill scheduling interval to explain how prompt processing can delay ongoing decode. Real schedulers can chunk or interleave prefill, use decode-priority policies or mixed batches, and mitigate interference; not all colocated serving has a contiguous pause. Separate GPUs let A continue without executing B prefill on its decode GPU. Equally spaced symbols are for readability only, not a promise of constant ITL or a measured improvement. B still requires KV transfer before its own decode; that transfer and B decode are omitted from this schedule, not assumed free. Queueing, KV movement, memory contention, batching and shared infrastructure can still affect either stream. The split uses an additional worker in this structural sketch; it is not an equal-budget performance comparison. No latency numbers, speedup, throughput, model or GPU recommendation is inferred.</a:t>
            </a:r>
          </a:p>
          <a:p>
            <a:endParaRPr/>
          </a:p>
          <a:p>
            <a:r>
              <a:t>Narrative source: kubecon-na-2026-pd-disaggregation.md</a:t>
            </a: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batching opportunities are different too. Prefill can process many prompt positions together, while respecting causal attention. Ordinary decode advances one newest input position for each independent request. So decode finds parallelism across active sequences. More concurrency can improve aggregate efficiency, but it can also lengthen each iteration and consume more KV memory. The latency budget still matters.</a:t>
            </a:r>
          </a:p>
          <a:p>
            <a:endParaRPr/>
          </a:p>
          <a:p>
            <a:r>
              <a:t>REFERENCE NOTES (NOT SPOKEN)</a:t>
            </a:r>
          </a:p>
          <a:p>
            <a:endParaRPr/>
          </a:p>
          <a:p>
            <a:r>
              <a:t>Original author-created conceptual batching illustration, not measured curves or reproduced vendor artwork. Dated sources: NVIDIA Dynamo introduction, 18 March 2025; Anatomy of vLLM, article dated 5 September 2025 (published repository 8 September; analyzes an August 9 snapshot). Also current vLLM disaggregated-prefill and Dynamo disaggregated-serving documentation, accessed 22 October 2026. Prefill has many prompt input positions from one or more requests in a forward pass; their p/q labels are schematic positions, not words, actual tokenizer IDs or optimal batch counts. Causal attention still applies: parallel processing does not let a position attend to future positions. Uncached prompt positions may be split across multiple chunks/passes, and prefix reuse can skip cached positions. Ordinary autoregressive decode consumes one newest input position per active sequence, attends to the sequence’s previous KV history, appends that position’s per-layer KV, then selects the next output token. The consumed token is not the newly selected output token of that same step. Independent requests can share a decode batch, but generation remains sequential within each request. The diagram represents three independent sequences, not three successive tokens from one sequence. Speculative decoding and multi-token methods are outside this ordinary-decode illustration. vLLM V1 can mix decode with chunked prefill in one scheduled step, so these conceptual units do not mandate separate physical passes or workers. Longer prompts provide within-request parallel work for prefill; more active sequences provide cross-request decode batching. Larger decode batches can amortize work but increase iteration time, ITL and KV-memory demand; no monotonic throughput improvement, ideal batch size, fixed worker count or latency number is claimed. Both phases use memory and compute. Independent phase tuning may help but remains workload-dependent. P/D additionally requires KV transfer and coordination; see slide7 and slide9 for that tradeoff. This slide deliberately explains batching units, not the independent capacity allocation shown on slide9.</a:t>
            </a:r>
          </a:p>
          <a:p>
            <a:endParaRPr/>
          </a:p>
          <a:p>
            <a:r>
              <a:t>Narrative source: kubecon-na-2026-pd-disaggregation.md</a:t>
            </a: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is the real motivation: two capacity decisions instead of one compromise. Prompt-heavy demand may need a different replica count or parallelism setting from generation-heavy demand. Those choices remain runtime-dependent. Separation is worthwhile only when the benefit exceeds KV transfer, duplicated model weights, and the extra work of operating two pools.</a:t>
            </a:r>
          </a:p>
          <a:p>
            <a:endParaRPr/>
          </a:p>
          <a:p>
            <a:r>
              <a:t>REFERENCE NOTES (NOT SPOKEN)</a:t>
            </a:r>
          </a:p>
          <a:p>
            <a:endParaRPr/>
          </a:p>
          <a:p>
            <a:r>
              <a:t>NVIDIA Dynamo disaggregated-serving overview describes compute-bound prefill and memory-bandwidth-bound decode, with independent pools, batching, hardware and parallelism choices. These are common regimes rather than universal laws: model, context length, batch size and hardware change the limiting resource. Dynamo-specific worker orchestration and NIXL setup are not presented as KAITO architecture. Conceptual synthesis, not measured performance data. DistServe section 2.3 identifies resource and parallelism coupling as distinct from prefill/decode execution interference: a colocated deployment shares devices, resource allocation and a parallelism plan even when the two phases have different bottlenecks and latency constraints. Separate pools permit different hardware, tensor-parallel degrees, batching policies and replica counts, subject to runtime/connector compatibility; they do not imply every choice is supported by current KAITO. The two demand cards are first investigation directions, not a deterministic scaler: longer prompts also increase decode KV state and transfer bytes, so inspect both roles and the end-to-end SLO before changing capacity. Likewise larger decode batches must respect ITL and KV limits. Shared pools can still benefit from chunked prefill, continuous batching and scheduling improvements. P/D becomes worthwhile only when independent capacity tuning or interference isolation creates a measured gain larger than transfer, duplicated model residency and operational overhead. No fixed P:D ratio, GPU savings or current autoscaler implementation is claimed.</a:t>
            </a:r>
          </a:p>
          <a:p>
            <a:endParaRPr/>
          </a:p>
          <a:p>
            <a:r>
              <a:t>Narrative source: kubecon-na-2026-pd-disaggregation.md</a:t>
            </a:r>
          </a:p>
          <a:p>
            <a:r>
              <a:t>References:</a:t>
            </a:r>
          </a:p>
          <a:p>
            <a:r>
              <a:t>https://docs.nvidia.com/dynamo/dev/kubernetes/disaggregated-serving/overview</a:t>
            </a:r>
          </a:p>
          <a:p>
            <a:r>
              <a:t>https://arxiv.org/html/2401.09670v2#S2.SS3</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Here's the resulting shape: prefill and decode pools with a new boundary between them. Data moves from prefill memory to decode memory, even when decode initiates the read. Transfer and coordination must fit the service's latency and cost budgets.</a:t>
            </a:r>
          </a:p>
          <a:p>
            <a:endParaRPr/>
          </a:p>
          <a:p>
            <a:r>
              <a:t>REFERENCE NOTES (NOT SPOKEN)</a:t>
            </a:r>
          </a:p>
          <a:p>
            <a:endParaRPr/>
          </a:p>
          <a:p>
            <a:r>
              <a:t>Conceptual data direction is prefill to decode. The low-level transfer can be a decode-initiated pull. Network and transport support depend on the deployment. Separate pools allow different instance types, replica counts, and tensor-parallel settings.</a:t>
            </a:r>
          </a:p>
          <a:p>
            <a:endParaRPr/>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Look for phases that want different shapes. Retrieval-heavy prompts create prefill pressure. Long answers and high concurrency keep decode busy with resident state. These are reasons to investigate, not automatic wins. Can independent capacity address a bottleneck we actually observe?</a:t>
            </a:r>
          </a:p>
          <a:p>
            <a:endParaRPr/>
          </a:p>
          <a:p>
            <a:r>
              <a:t>REFERENCE NOTES (NOT SPOKEN)</a:t>
            </a:r>
          </a:p>
          <a:p>
            <a:endParaRPr/>
          </a:p>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endParaRPr/>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Sometimes the right answer is to stay aggregated. Small models, short prompts, and low concurrency often don't justify another transfer path and more failure boundaries. If the existing service meets its targets simply and predictably, splitting it because it's fashionable would be a step backward.</a:t>
            </a:r>
          </a:p>
          <a:p>
            <a:endParaRPr/>
          </a:p>
          <a:p>
            <a:r>
              <a:t>REFERENCE NOTES (NOT SPOKEN)</a:t>
            </a:r>
          </a:p>
          <a:p>
            <a:endParaRPr/>
          </a:p>
          <a:p>
            <a:r>
              <a:t>Avoid blanket promises. The break-even point is empirical and model-, traffic-, and fabric-dependent. Aggregated serving can be simpler and faster for the wrong P/D workload.</a:t>
            </a:r>
          </a:p>
          <a:p>
            <a:endParaRPr/>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conceptual split is easy. The Kubernetes wiring is where the work expands. Endpoint selection, the decode proxy, transfer settings, labels, ports, and readiness all have to agree. Individually valid manifests can still form a broken service. That's the orchestration gap we're trying to close, rather than inventing another model execution engine.</a:t>
            </a:r>
          </a:p>
          <a:p>
            <a:endParaRPr/>
          </a:p>
          <a:p>
            <a:r>
              <a:t>REFERENCE NOTES (NOT SPOKEN)</a:t>
            </a:r>
          </a:p>
          <a:p>
            <a:endParaRPr/>
          </a:p>
          <a:p>
            <a:r>
              <a:t>This is an operational dependency map, not a request-flow diagram. Explain why assembling correct components by hand still leaves brittle contracts between them.</a:t>
            </a:r>
          </a:p>
          <a:p>
            <a:endParaRPr/>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There are already several credible approaches here. Dynamo offers an integrated stack; llm-d provides reusable routing components; KServe, AIBrix, Ray, and the vLLM Production Stack bring different packaging choices. Declarative APIs are not new. Our question is narrower: what's the cleanest way to bring this capability into KAITO's existing operating model?</a:t>
            </a:r>
          </a:p>
          <a:p>
            <a:endParaRPr/>
          </a:p>
          <a:p>
            <a:r>
              <a:t>REFERENCE NOTES (NOT SPOKEN)</a:t>
            </a:r>
          </a:p>
          <a:p>
            <a:endParaRPr/>
          </a:p>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endParaRPr/>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endParaRPr/>
          </a:p>
          <a:p>
            <a:r>
              <a:t>REFERENCE NOTES (NOT SPOKEN)</a:t>
            </a:r>
          </a:p>
          <a:p>
            <a:endParaRPr/>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endParaRPr/>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这些目标需要一套完整的平台架构，而不是再加一个更大的 model server。</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Meeting these goals requires a complete platform architecture, not simply a larger model server.</a:t>
            </a:r>
          </a:p>
          <a:p>
            <a:br>
              <a:rPr lang="zh-CN" altLang="zh-CN" dirty="0"/>
            </a:br>
            <a:endParaRPr kumimoji="1" lang="zh-CN" altLang="en-US" dirty="0"/>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是 Kubernetes-native 的高性能分布式推理框架。它不是替换 vLLM、gateway 或 storage，而是组合这些组件。它强调三个价值：可运营的模块化架构、跨平台的可扩展实现，以及 well-lit paths。Well-lit path 的意义，是把经过验证的部署模式和 trade-off 直接交给平台团队。</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llm-d is a Kubernetes-native framework for high-performance distributed inference. It does not replace vLLM, gateways, or storage systems; it composes them. Its value is organized around three ideas: an operable modular architecture, extensible cross-platform implementations, and well-lit paths. A well-lit path gives platform teams a validated deployment pattern together with the trade-offs behind it.</a:t>
            </a:r>
          </a:p>
          <a:p>
            <a:br>
              <a:rPr lang="zh-CN" altLang="zh-CN" dirty="0"/>
            </a:br>
            <a:endParaRPr kumimoji="1" lang="zh-CN" altLang="en-US" dirty="0"/>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社区正在建立一个跨厂商的分布式推理公共栈，并把关键能力从实验推进到可复现路径。这里包括 MoE serving、P/D disaggregation、state-aware scheduling 和 predictive autoscaling。后面不会逐条重复这些结果，而是挑四个架构模式，看它们各自解决什么瓶颈。</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The llm-d community is building a cross-vendor common stack for distributed inference and turning important techniques into reproducible paths. These include MoE serving, prefill/decode disaggregation, state-aware scheduling, and predictive autoscaling. Rather than reading every result on this slide, I will focus on four architectural patterns and the bottleneck each one addresses.</a:t>
            </a:r>
          </a:p>
          <a:p>
            <a:br>
              <a:rPr lang="zh-CN" altLang="zh-CN" dirty="0"/>
            </a:br>
            <a:endParaRPr kumimoji="1" lang="zh-CN" altLang="en-US" dirty="0"/>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今天选择四条 well-lit paths。第一，智能调度决定请求去哪里。第二，KV cache management 决定可复用状态放在哪里。第三，Wide EP 解决 MoE 的分布式执行。第四，P/D disaggregation 让 prefill 和 decode 使用不同资源配置。</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Today we will follow four well-lit paths. Intelligent scheduling decides where a request should run. KV cache management decides where reusable state should live. Wide Expert Parallelism addresses distributed execution for MoE models. Prefill/decode disaggregation allows the two phases to use different resource configurations.</a:t>
            </a:r>
          </a:p>
          <a:p>
            <a:br>
              <a:rPr lang="zh-CN" altLang="zh-CN" dirty="0"/>
            </a:br>
            <a:endParaRPr kumimoji="1" lang="zh-CN" altLang="en-US" dirty="0"/>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dirty="0"/>
              <a:t>We just saw how llm-d handles the request path. Now let's look at the other side: KAITO.</a:t>
            </a:r>
          </a:p>
          <a:p>
            <a:r>
              <a:rPr lang="en-US" dirty="0"/>
              <a:t>So what is KAITO? It is one operator for Kubernetes that runs large language models for you. It covers three jobs - inference, fine-tuning, and RAG - so you do not have to build and connect them yourself.</a:t>
            </a:r>
          </a:p>
          <a:p>
            <a:r>
              <a:rPr lang="en-US" dirty="0"/>
              <a:t>It is mainly for teams who host open models on their own cluster, but who do not have a dedicated GPU or inference platform team.</a:t>
            </a:r>
          </a:p>
          <a:p>
            <a:r>
              <a:rPr lang="en-US" dirty="0"/>
              <a:t>The main idea is simple: you give KAITO only two things, the model name and the GPU type. From there it does the rest - it sizes and creates the GPU nodes, loads the weights, serves the model, and scales it with traffic.</a:t>
            </a:r>
          </a:p>
          <a:p>
            <a:r>
              <a:rPr lang="en-US" dirty="0"/>
              <a:t>So you bring a model and a GPU type, and KAITO handles the machines, the weights, the serving, and the scaling. Let's look at a few of these, starting with the workload lifecycle.</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dirty="0"/>
              <a:t>On the last slide I said KAITO manages the full workload lifecycle. Here is a small example.</a:t>
            </a:r>
          </a:p>
          <a:p>
            <a:r>
              <a:rPr lang="en-US" dirty="0"/>
              <a:t>This is an InferenceSet - the object you use to serve a model in production. Notice how short it is. Really, only two lines matter: the model name, and the GPU type. You write no vLLM flags, no node count, no parallelism - KAITO fills all of that in.</a:t>
            </a:r>
          </a:p>
          <a:p>
            <a:r>
              <a:rPr lang="en-US" dirty="0"/>
              <a:t>replicas is optional; here it runs three copies for more capacity and higher availability, and it heals them if one dies. And autoUpgrade, when on, rolls your copies to a new tested image one at a time, with no downtime.</a:t>
            </a:r>
          </a:p>
          <a:p>
            <a:r>
              <a:rPr lang="en-US" dirty="0"/>
              <a:t>I also turned on Model Mirror here, with this annotation. It downloads the weights once into shared blob storage, in parallel with node startup, so cold starts are much faster.</a:t>
            </a:r>
          </a:p>
          <a:p>
            <a:r>
              <a:rPr lang="en-US" dirty="0"/>
              <a:t>One more thing worth showing is how KAITO decides the number of GPU nodes. Let's look at that next.</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dirty="0"/>
              <a:t>You might wonder how KAITO picks the number of GPU nodes. You do not set it - KAITO computes it from the model and the GPU type.</a:t>
            </a:r>
          </a:p>
          <a:p>
            <a:r>
              <a:rPr lang="en-US" dirty="0"/>
              <a:t>The idea is simple. First, it takes the GPU memory and keeps about 84 percent, the part vLLM can actually use. From that it subtracts a small fixed overhead, and the KV cache, which grows with the context length. What is left is the budget on each GPU for the model weights.</a:t>
            </a:r>
          </a:p>
          <a:p>
            <a:r>
              <a:rPr lang="en-US" dirty="0"/>
              <a:t>Then it divides the model size by that budget to get the smallest number of GPUs, and divides again by the GPUs per node to get the node count.</a:t>
            </a:r>
          </a:p>
          <a:p>
            <a:r>
              <a:rPr lang="en-US" dirty="0"/>
              <a:t>This number is saved as targetNodeCount. And if it is more than one, KAITO serves the model across nodes on its own - tensor parallel inside a node, and pipeline parallel across nodes. So both the sizing and the parallel setup are automatic. Now, once it is running, how do we handle changing traffic? That is autoscaling, which is next.</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Opening: KAITO owns the control plane; Gateway API Inference Extension (GWIE) defines the gateway-facing contract; llm-d Router supplies the Endpoint Picker (EPP); vLLM and NIXL execute inference and transfer KV cache. This is a responsibility stack, not a network packet path.</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EPP means Endpoint Picker. The arrows show the decision flow, not a proxy hop carrying the inference payload. Endpoint selection may choose a decode worker and, when needed, a prefill worker. Advanced scheduling remains an extension surface, not a claim that every policy is implemented.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Keep APIs separate from implementations. KAITO uses GWIE objects and integration patterns, but the P/D routing implementation is llm-d Router, not GWIE’s reference EPP implementation. InferencePool is an API object, not an inline traffic proxy.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7.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Based on llm-d-router docs/disaggregation.md#pd-sequence. Step 2 follows EPP selection; the EPP consultation is omitted from this sequence and shown on slide 4.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在 disaggregated flow 中，gateway 接收请求，scheduler 决定是否使用独立 prefill worker。Prefill worker 计算 prompt 并产生 KV state；sidecar 协调传输；decode worker 接收 KV 后继续生成 token。这个决定可以根据 workload 和 SLO 动态做出，因此 prefill pool 与 decode pool 可以独立扩展。</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In the disaggregated flow, the gateway receives the request and the scheduler decides whether to use a separate prefill worker. The prefill worker processes the prompt and produces KV state. A sidecar coordinates the transfer, and the decode worker continues token generation after receiving the KV. This decision can be made dynamically from workload and SLO requirements, allowing the prefill and decode pools to scale independently.</a:t>
            </a:r>
          </a:p>
          <a:p>
            <a:br>
              <a:rPr lang="zh-CN" altLang="zh-CN" dirty="0"/>
            </a:br>
            <a:endParaRPr kumimoji="1" lang="zh-CN" altLang="en-US" dirty="0"/>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P/D 分离只有在 KV transfer 足够高效时才有意义。vLLM 通过 NIXL 集成，在支持的 RDMA path 上实现 GPU-direct transfer，避免不必要的 host staging。底层可以使用 UCX，并运行在 InfiniBand、RoCE 或 TCP 等网络上。这里应该理解为降低 copy 和 staging overhead，而不是绝对零开销。</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P/D disaggregation only works when KV transfer is efficient. Through the NIXL integration, vLLM can use GPU-direct transfer on supported RDMA paths and avoid unnecessary host staging. The transport can use UCX over InfiniBand, RoCE, or TCP. The correct takeaway is reduced copy and staging overhead, not literally zero overhead.</a:t>
            </a:r>
          </a:p>
          <a:p>
            <a:br>
              <a:rPr lang="zh-CN" altLang="zh-CN" sz="1000" dirty="0"/>
            </a:br>
            <a:endParaRPr sz="1000" dirty="0">
              <a:latin typeface="Red Hat Text"/>
              <a:ea typeface="Red Hat Text"/>
              <a:cs typeface="Red Hat Text"/>
              <a:sym typeface="Red Hat Text"/>
            </a:endParaRP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endParaRPr/>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endParaRPr/>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dirty="0"/>
              <a:t>Now, autoscaling. This is how KAITO changes the number of copies as load moves. The component is keda-kaito-scaler.</a:t>
            </a:r>
          </a:p>
          <a:p>
            <a:r>
              <a:rPr lang="en-US" dirty="0"/>
              <a:t>It builds on KEDA, but adds three things that matter for GPUs.</a:t>
            </a:r>
          </a:p>
          <a:p>
            <a:r>
              <a:rPr lang="en-US" dirty="0"/>
              <a:t>First, no extra dependencies - it does not need Prometheus. It reads metrics straight from vLLM, on each pod. Less to install, less to break.</a:t>
            </a:r>
          </a:p>
          <a:p>
            <a:r>
              <a:rPr lang="en-US" dirty="0"/>
              <a:t>Second, it is GPU-safe. GPU nodes are expensive and slow to start, so it moves gently - only one copy up or down at a time. That keeps things smooth and avoids waste.</a:t>
            </a:r>
          </a:p>
          <a:p>
            <a:r>
              <a:rPr lang="en-US" dirty="0"/>
              <a:t>Third, it can watch more than one signal at once - like queue length and latency together - and it only scales up when both agree there is real pressure.</a:t>
            </a:r>
          </a:p>
          <a:p>
            <a:r>
              <a:rPr lang="en-US" dirty="0"/>
              <a:t>So it is autoscaling made for GPU inference: simple, safe on cost, driven by what the server really sees. Next, how you configure these signals.</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dirty="0"/>
              <a:t>Here is how you configure it - all through annotations on the InferenceSet, with no extra objects.</a:t>
            </a:r>
          </a:p>
          <a:p>
            <a:r>
              <a:rPr lang="en-US" dirty="0"/>
              <a:t>On the left is the full config today. You list the metrics you care about - here the queue length and the request wait time - and for each you set an up and a down threshold. Then the shared rules: the AND policy, the evaluation window, the cooldowns, and the min and max copies.</a:t>
            </a:r>
          </a:p>
          <a:p>
            <a:r>
              <a:rPr lang="en-US" dirty="0"/>
              <a:t>This gives full control, but I will be honest - it is the hard part. Today every threshold, window, and cooldown must be tuned by hand.</a:t>
            </a:r>
          </a:p>
          <a:p>
            <a:r>
              <a:rPr lang="en-US" dirty="0"/>
              <a:t>So we are building something simpler, on the right: you set just the min and max copies, and everything else is tuned for you to safe defaults.</a:t>
            </a:r>
          </a:p>
          <a:p>
            <a:r>
              <a:rPr lang="en-US" dirty="0"/>
              <a:t>It is the same idea as the rest of KAITO - you set what you care about, and the system fills in the rest. Now let's see how this comes together in production.</a:t>
            </a:r>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endParaRPr/>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endParaRPr/>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endParaRPr/>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endParaRPr/>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20.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700" i="1" dirty="0">
                <a:solidFill>
                  <a:schemeClr val="tx1"/>
                </a:solidFill>
              </a:rPr>
              <a:t>Andy Zhang </a:t>
            </a:r>
            <a:r>
              <a:rPr lang="en-US" altLang="zh-CN" sz="2700" i="1" dirty="0">
                <a:solidFill>
                  <a:schemeClr val="tx1"/>
                </a:solidFill>
              </a:rPr>
              <a:t>- Microsoft</a:t>
            </a:r>
            <a:endParaRPr lang="en-US" sz="2700" i="1" dirty="0">
              <a:solidFill>
                <a:schemeClr val="tx1"/>
              </a:solidFill>
            </a:endParaRPr>
          </a:p>
          <a:p>
            <a:pPr lvl="0">
              <a:lnSpc>
                <a:spcPct val="90000"/>
              </a:lnSpc>
              <a:buClr>
                <a:schemeClr val="lt1"/>
              </a:buClr>
              <a:buSzPts val="2700"/>
            </a:pPr>
            <a:r>
              <a:rPr lang="en-US" altLang="zh-CN" sz="2700" i="1" dirty="0">
                <a:solidFill>
                  <a:schemeClr val="tx1"/>
                </a:solidFill>
              </a:rPr>
              <a:t>Linbo He </a:t>
            </a:r>
            <a:r>
              <a:rPr lang="en-US" sz="2700" i="1" dirty="0">
                <a:solidFill>
                  <a:schemeClr val="tx1"/>
                </a:solidFill>
              </a:rPr>
              <a:t>- Microsoft</a:t>
            </a:r>
            <a:endParaRPr sz="1100" b="0" i="0" u="none" strike="noStrike" cap="none" dirty="0">
              <a:solidFill>
                <a:schemeClr val="tx1"/>
              </a:solidFill>
              <a:latin typeface="Arial"/>
              <a:ea typeface="Arial"/>
              <a:cs typeface="Arial"/>
              <a:sym typeface="Arial"/>
            </a:endParaRPr>
          </a:p>
        </p:txBody>
      </p:sp>
      <p:sp>
        <p:nvSpPr>
          <p:cNvPr id="109" name="Google Shape;109;p2"/>
          <p:cNvSpPr txBox="1"/>
          <p:nvPr/>
        </p:nvSpPr>
        <p:spPr>
          <a:xfrm>
            <a:off x="470842" y="1082277"/>
            <a:ext cx="8148092" cy="2082403"/>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3200" b="1" dirty="0">
                <a:solidFill>
                  <a:schemeClr val="tx1"/>
                </a:solidFill>
              </a:rPr>
              <a:t>Prefill Here, Decode There: </a:t>
            </a:r>
          </a:p>
          <a:p>
            <a:pPr lvl="0">
              <a:lnSpc>
                <a:spcPct val="90000"/>
              </a:lnSpc>
              <a:buClr>
                <a:schemeClr val="lt1"/>
              </a:buClr>
              <a:buSzPts val="5600"/>
            </a:pPr>
            <a:r>
              <a:rPr lang="en-US" sz="2800" b="1" dirty="0">
                <a:solidFill>
                  <a:schemeClr val="tx1"/>
                </a:solidFill>
              </a:rPr>
              <a:t>Kubernetes-Native LLM Inference Disaggregation with KAITO and </a:t>
            </a:r>
            <a:r>
              <a:rPr lang="en-US" sz="2800" b="1" dirty="0" err="1">
                <a:solidFill>
                  <a:schemeClr val="tx1"/>
                </a:solidFill>
              </a:rPr>
              <a:t>llm</a:t>
            </a:r>
            <a:r>
              <a:rPr lang="en-US" sz="2800" b="1" dirty="0">
                <a:solidFill>
                  <a:schemeClr val="tx1"/>
                </a:solidFill>
              </a:rPr>
              <a:t>-d</a:t>
            </a:r>
            <a:endParaRPr sz="400" b="0" i="0" u="none" strike="noStrike" cap="none" dirty="0">
              <a:solidFill>
                <a:schemeClr val="tx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276819" y="-140082"/>
            <a:ext cx="7886700" cy="99420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400" b="1" i="0" u="none" strike="noStrike" cap="none" dirty="0">
                <a:solidFill>
                  <a:srgbClr val="316CE5"/>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5293259" y="3516573"/>
            <a:ext cx="3784227" cy="800179"/>
          </a:xfrm>
          <a:prstGeom prst="rect">
            <a:avLst/>
          </a:prstGeom>
          <a:noFill/>
          <a:ln>
            <a:noFill/>
          </a:ln>
        </p:spPr>
        <p:txBody>
          <a:bodyPr spcFirstLastPara="1" wrap="square" lIns="91425" tIns="45700" rIns="91425" bIns="45700" anchor="t" anchorCtr="0">
            <a:spAutoFit/>
          </a:bodyPr>
          <a:lstStyle/>
          <a:p>
            <a:pPr lvl="0">
              <a:buSzPts val="3200"/>
            </a:pPr>
            <a:r>
              <a:rPr lang="zh-CN" altLang="zh-CN" sz="3200" b="1" dirty="0"/>
              <a:t>Linbo He</a:t>
            </a:r>
            <a:r>
              <a:rPr lang="zh-CN" altLang="en-US" sz="3200" b="1" dirty="0"/>
              <a:t> </a:t>
            </a:r>
            <a:endParaRPr lang="en-US" altLang="zh-CN" sz="3200" b="1" dirty="0"/>
          </a:p>
          <a:p>
            <a:pPr lvl="0">
              <a:buSzPts val="3200"/>
            </a:pPr>
            <a:endParaRPr lang="zh-CN" altLang="en-US"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5181009" y="4148065"/>
            <a:ext cx="5232400" cy="738664"/>
          </a:xfrm>
          <a:prstGeom prst="rect">
            <a:avLst/>
          </a:prstGeom>
          <a:noFill/>
        </p:spPr>
        <p:txBody>
          <a:bodyPr wrap="square">
            <a:spAutoFit/>
          </a:bodyPr>
          <a:lstStyle/>
          <a:p>
            <a:pPr marL="114300"/>
            <a:r>
              <a:rPr lang="en-US" altLang="zh-CN" sz="1400" dirty="0"/>
              <a:t>Principal Software Engineer, Microsoft</a:t>
            </a:r>
          </a:p>
          <a:p>
            <a:pPr marL="114300"/>
            <a:r>
              <a:rPr lang="en-US" altLang="zh-CN" sz="1400" dirty="0"/>
              <a:t>KAITO &amp; OpenYurt maintainer</a:t>
            </a:r>
          </a:p>
          <a:p>
            <a:pPr marL="114300"/>
            <a:r>
              <a:rPr lang="en-US" altLang="zh-CN" sz="1400" dirty="0"/>
              <a:t>GitHub: </a:t>
            </a:r>
            <a:r>
              <a:rPr lang="en-US" altLang="zh-CN" sz="1400" dirty="0" err="1"/>
              <a:t>rambohe</a:t>
            </a:r>
            <a:r>
              <a:rPr lang="en-US" altLang="zh-CN" sz="1400" dirty="0"/>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27187" y="3479663"/>
            <a:ext cx="3784227" cy="800179"/>
          </a:xfrm>
          <a:prstGeom prst="rect">
            <a:avLst/>
          </a:prstGeom>
          <a:noFill/>
          <a:ln>
            <a:noFill/>
          </a:ln>
        </p:spPr>
        <p:txBody>
          <a:bodyPr spcFirstLastPara="1" wrap="square" lIns="91425" tIns="45700" rIns="91425" bIns="45700" anchor="t" anchorCtr="0">
            <a:spAutoFit/>
          </a:bodyPr>
          <a:lstStyle/>
          <a:p>
            <a:pPr lvl="0">
              <a:buSzPts val="3200"/>
            </a:pPr>
            <a:r>
              <a:rPr lang="en-US" altLang="zh-CN" sz="3200" b="1" dirty="0"/>
              <a:t>Andy Zhang</a:t>
            </a:r>
          </a:p>
          <a:p>
            <a:pPr lvl="0">
              <a:buSzPts val="3200"/>
            </a:pPr>
            <a:endParaRPr lang="zh-CN" altLang="en-US" dirty="0"/>
          </a:p>
        </p:txBody>
      </p:sp>
      <p:sp>
        <p:nvSpPr>
          <p:cNvPr id="29" name="文本框 20">
            <a:extLst>
              <a:ext uri="{FF2B5EF4-FFF2-40B4-BE49-F238E27FC236}">
                <a16:creationId xmlns:a16="http://schemas.microsoft.com/office/drawing/2014/main" id="{BDBB3C74-44FB-90A6-8DFB-D9B7E6EA4542}"/>
              </a:ext>
            </a:extLst>
          </p:cNvPr>
          <p:cNvSpPr txBox="1"/>
          <p:nvPr/>
        </p:nvSpPr>
        <p:spPr>
          <a:xfrm>
            <a:off x="414937" y="4111155"/>
            <a:ext cx="5232400" cy="738664"/>
          </a:xfrm>
          <a:prstGeom prst="rect">
            <a:avLst/>
          </a:prstGeom>
          <a:noFill/>
        </p:spPr>
        <p:txBody>
          <a:bodyPr wrap="square">
            <a:spAutoFit/>
          </a:bodyPr>
          <a:lstStyle/>
          <a:p>
            <a:pPr marL="114300"/>
            <a:r>
              <a:rPr lang="en-US" altLang="zh-CN" sz="1400" dirty="0"/>
              <a:t>Principal Software Engineer, Microsoft</a:t>
            </a:r>
          </a:p>
          <a:p>
            <a:pPr marL="114300"/>
            <a:r>
              <a:rPr lang="en-US" altLang="zh-CN" sz="1400" dirty="0"/>
              <a:t>KAITO &amp; </a:t>
            </a:r>
            <a:r>
              <a:rPr lang="en-US" altLang="zh-CN" dirty="0"/>
              <a:t>CSI driver</a:t>
            </a:r>
            <a:r>
              <a:rPr lang="en-US" altLang="zh-CN" sz="1400" dirty="0"/>
              <a:t> maintainer</a:t>
            </a:r>
          </a:p>
          <a:p>
            <a:pPr marL="114300"/>
            <a:r>
              <a:rPr lang="en-US" altLang="zh-CN" sz="1400" dirty="0"/>
              <a:t>GitHub: </a:t>
            </a:r>
            <a:r>
              <a:rPr lang="en-US" altLang="zh-CN" sz="1400" dirty="0" err="1"/>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102" name="Google Shape;102;p3">
            <a:extLst>
              <a:ext uri="{FF2B5EF4-FFF2-40B4-BE49-F238E27FC236}">
                <a16:creationId xmlns:a16="http://schemas.microsoft.com/office/drawing/2014/main" id="{967A9BE1-E03C-F369-8D29-1FD0A29844F5}"/>
              </a:ext>
            </a:extLst>
          </p:cNvPr>
          <p:cNvSpPr txBox="1"/>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p>
            <a:pPr marL="0" lvl="0" indent="0">
              <a:spcAft>
                <a:spcPts val="600"/>
              </a:spcAft>
              <a:buClr>
                <a:schemeClr val="dk1"/>
              </a:buClr>
              <a:buSzPts val="1400"/>
            </a:pPr>
            <a:r>
              <a:rPr lang="en-US" sz="3300" b="0" i="0" u="none" strike="noStrike" cap="none" spc="0" dirty="0">
                <a:solidFill>
                  <a:schemeClr val="dk1"/>
                </a:solidFill>
              </a:rPr>
              <a:t>Agenda</a:t>
            </a:r>
          </a:p>
        </p:txBody>
      </p:sp>
      <p:graphicFrame>
        <p:nvGraphicFramePr>
          <p:cNvPr id="105" name="Google Shape;103;p3">
            <a:extLst>
              <a:ext uri="{FF2B5EF4-FFF2-40B4-BE49-F238E27FC236}">
                <a16:creationId xmlns:a16="http://schemas.microsoft.com/office/drawing/2014/main" id="{264E948F-FDD4-52CA-DB7B-22980F3C2F81}"/>
              </a:ext>
            </a:extLst>
          </p:cNvPr>
          <p:cNvGraphicFramePr/>
          <p:nvPr>
            <p:extLst>
              <p:ext uri="{D42A27DB-BD31-4B8C-83A1-F6EECF244321}">
                <p14:modId xmlns:p14="http://schemas.microsoft.com/office/powerpoint/2010/main" val="4199666108"/>
              </p:ext>
            </p:extLst>
          </p:nvPr>
        </p:nvGraphicFramePr>
        <p:xfrm>
          <a:off x="628650" y="1458544"/>
          <a:ext cx="7886700" cy="32644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Foundations — prefill</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Prefill: read the prompt, select the first output token</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03 / 56</a:t>
            </a:r>
          </a:p>
        </p:txBody>
      </p: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a:t>Illustrative word-level tokens; not a real model tokenizer.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Foundations — decode</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Decode: consume one token, select the next, repeat</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04 / 56</a:t>
            </a:r>
          </a:p>
        </p:txBody>
      </p: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a:t>ITL 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The problem</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One request. Two different performance targets.</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05 / 56</a:t>
            </a:r>
          </a:p>
        </p:txBody>
      </p: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Track prefill latency + input tok/s</a:t>
            </a:r>
          </a:p>
          <a:p>
            <a:pPr>
              <a:spcAft>
                <a:spcPts val="375"/>
              </a:spcAft>
              <a:defRPr sz="1700" b="0">
                <a:solidFill>
                  <a:srgbClr val="586A80"/>
                </a:solidFill>
                <a:latin typeface="Arial"/>
              </a:defRPr>
            </a:pPr>
            <a:r>
              <a:rPr sz="1275"/>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Lower is better • track aggregate output tok/s</a:t>
            </a:r>
          </a:p>
          <a:p>
            <a:pPr>
              <a:spcAft>
                <a:spcPts val="375"/>
              </a:spcAft>
              <a:defRPr sz="1700" b="0">
                <a:solidFill>
                  <a:srgbClr val="586A80"/>
                </a:solidFill>
                <a:latin typeface="Arial"/>
              </a:defRPr>
            </a:pPr>
            <a:r>
              <a:rPr sz="1275"/>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a:t>Not exclusive: queueing / delivery also affect TTFT; shared prefill can stall decode. Sources: vLLM metrics; NVIDIA Dynamo.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The problem</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One shared pool couples two capacity decisions</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06 / 56</a:t>
            </a:r>
          </a:p>
        </p:txBody>
      </p: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a:t>Scaling adds both phases, even when only one is saturated.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Why split — execution interference</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Long prefills can interrupt token delivery</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07 / 56</a:t>
            </a:r>
          </a:p>
        </p:txBody>
      </p: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Original conceptual illustration; sources: NVIDIA and vLLM (2025) + current documentation.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Why split — different batching units</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Prefill and decode batch different work</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08 / 56</a:t>
            </a:r>
          </a:p>
        </p:txBody>
      </p: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Original conceptual illustration; sources: NVIDIA and vLLM (2025) + current documentation.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Why split — capacity control</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Independent pools remove a forced compromise</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09 / 56</a:t>
            </a:r>
          </a:p>
        </p:txBody>
      </p: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a:t>Usually compute-bound; target TTFT.</a:t>
            </a:r>
          </a:p>
          <a:p>
            <a:pPr>
              <a:spcAft>
                <a:spcPts val="375"/>
              </a:spcAft>
              <a:defRPr sz="1800" b="0">
                <a:solidFill>
                  <a:srgbClr val="172941"/>
                </a:solidFill>
                <a:latin typeface="Arial"/>
              </a:defRPr>
            </a:pPr>
            <a:r>
              <a:rPr sz="1350"/>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a:t>Often bandwidth-bound; target ITL.</a:t>
            </a:r>
          </a:p>
          <a:p>
            <a:pPr>
              <a:spcAft>
                <a:spcPts val="375"/>
              </a:spcAft>
              <a:defRPr sz="1800" b="0">
                <a:solidFill>
                  <a:srgbClr val="172941"/>
                </a:solidFill>
                <a:latin typeface="Arial"/>
              </a:defRPr>
            </a:pPr>
            <a:r>
              <a:rPr sz="1350"/>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Sources: NVIDIA Dynamo disaggregated-serving overview + DistServe §2.3 • Conceptual; bottlenecks depend on workload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The problem</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Split the phases. Tune the pools independently.</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10 / 56</a:t>
            </a:r>
          </a:p>
        </p:txBody>
      </p: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Choose replicas and parallelism</a:t>
            </a:r>
          </a:p>
          <a:p>
            <a:pPr>
              <a:spcAft>
                <a:spcPts val="375"/>
              </a:spcAft>
              <a:defRPr sz="1700" b="0">
                <a:solidFill>
                  <a:srgbClr val="087F8C"/>
                </a:solidFill>
                <a:latin typeface="Arial"/>
              </a:defRPr>
            </a:pPr>
            <a:r>
              <a:rPr sz="1275"/>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a:t>Choose replicas and parallelism</a:t>
            </a:r>
          </a:p>
          <a:p>
            <a:pPr>
              <a:spcAft>
                <a:spcPts val="375"/>
              </a:spcAft>
              <a:defRPr sz="1700" b="0">
                <a:solidFill>
                  <a:srgbClr val="7354B8"/>
                </a:solidFill>
                <a:latin typeface="Arial"/>
              </a:defRPr>
            </a:pPr>
            <a:r>
              <a:rPr sz="1275"/>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a:t>New cost:</a:t>
            </a:r>
          </a:p>
          <a:p>
            <a:pPr algn="ctr">
              <a:spcAft>
                <a:spcPts val="375"/>
              </a:spcAft>
              <a:defRPr sz="1700" b="0">
                <a:solidFill>
                  <a:srgbClr val="586A80"/>
                </a:solidFill>
                <a:latin typeface="Arial"/>
              </a:defRPr>
            </a:pPr>
            <a:r>
              <a:rPr sz="1275"/>
              <a:t>transfer + coordination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The problem</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P/D fits when the phases need different shapes</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Start with the traffic profile, not the architecture trend.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7" name="TextBox 6"/>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11 / 56</a:t>
            </a:r>
          </a:p>
        </p:txBody>
      </p:sp>
      <p:sp>
        <p:nvSpPr>
          <p:cNvPr id="8" name="Rounded Rectangle 7"/>
          <p:cNvSpPr/>
          <p:nvPr/>
        </p:nvSpPr>
        <p:spPr>
          <a:xfrm>
            <a:off x="377190"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Rectangle 8"/>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a:t>Prompt pressure</a:t>
            </a:r>
          </a:p>
        </p:txBody>
      </p:sp>
      <p:sp>
        <p:nvSpPr>
          <p:cNvPr id="11" name="TextBox 10"/>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a:t>Long prompts</a:t>
            </a:r>
          </a:p>
        </p:txBody>
      </p:sp>
      <p:sp>
        <p:nvSpPr>
          <p:cNvPr id="12" name="TextBox 11"/>
          <p:cNvSpPr txBox="1"/>
          <p:nvPr/>
        </p:nvSpPr>
        <p:spPr>
          <a:xfrm>
            <a:off x="514350" y="2599182"/>
            <a:ext cx="2434590" cy="482440"/>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a:t>RAG and retrieval add significant prefill work.</a:t>
            </a:r>
          </a:p>
        </p:txBody>
      </p:sp>
      <p:sp>
        <p:nvSpPr>
          <p:cNvPr id="13" name="Rounded Rectangle 12"/>
          <p:cNvSpPr/>
          <p:nvPr/>
        </p:nvSpPr>
        <p:spPr>
          <a:xfrm>
            <a:off x="3216402"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Rectangle 13"/>
          <p:cNvSpPr/>
          <p:nvPr/>
        </p:nvSpPr>
        <p:spPr>
          <a:xfrm>
            <a:off x="3339845"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a:t>Generation pressure</a:t>
            </a:r>
          </a:p>
        </p:txBody>
      </p:sp>
      <p:sp>
        <p:nvSpPr>
          <p:cNvPr id="16" name="TextBox 15"/>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a:t>Long generations</a:t>
            </a:r>
          </a:p>
        </p:txBody>
      </p:sp>
      <p:sp>
        <p:nvSpPr>
          <p:cNvPr id="17" name="TextBox 16"/>
          <p:cNvSpPr txBox="1"/>
          <p:nvPr/>
        </p:nvSpPr>
        <p:spPr>
          <a:xfrm>
            <a:off x="3353562"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a:t>High concurrency keeps decode busy and KV state resident.</a:t>
            </a:r>
          </a:p>
        </p:txBody>
      </p:sp>
      <p:sp>
        <p:nvSpPr>
          <p:cNvPr id="18" name="Rounded Rectangle 17"/>
          <p:cNvSpPr/>
          <p:nvPr/>
        </p:nvSpPr>
        <p:spPr>
          <a:xfrm>
            <a:off x="6055614"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179058"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a:t>Capacity mismatch</a:t>
            </a:r>
          </a:p>
        </p:txBody>
      </p:sp>
      <p:sp>
        <p:nvSpPr>
          <p:cNvPr id="21" name="TextBox 20"/>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a:t>Different resources</a:t>
            </a:r>
          </a:p>
        </p:txBody>
      </p:sp>
      <p:sp>
        <p:nvSpPr>
          <p:cNvPr id="22" name="TextBox 21"/>
          <p:cNvSpPr txBox="1"/>
          <p:nvPr/>
        </p:nvSpPr>
        <p:spPr>
          <a:xfrm>
            <a:off x="6192773"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a:t>Each phase needs its own scaling or parallelism choices.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01 / The problem</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Keep aggregated serving when simplicity wins</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P/D is an option, not a default.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Small workload + slow transfer fabric is a strong reason not to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12 / 56</a:t>
            </a:r>
          </a:p>
        </p:txBody>
      </p:sp>
      <p:sp>
        <p:nvSpPr>
          <p:cNvPr id="10" name="Rounded Rectangle 9"/>
          <p:cNvSpPr/>
          <p:nvPr/>
        </p:nvSpPr>
        <p:spPr>
          <a:xfrm>
            <a:off x="377190"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6936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906524"/>
            <a:ext cx="38061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a:t>When aggregated fits</a:t>
            </a:r>
          </a:p>
        </p:txBody>
      </p:sp>
      <p:sp>
        <p:nvSpPr>
          <p:cNvPr id="13" name="TextBox 12"/>
          <p:cNvSpPr txBox="1"/>
          <p:nvPr/>
        </p:nvSpPr>
        <p:spPr>
          <a:xfrm>
            <a:off x="514350"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a:t>Small models or short prompts</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a:t>Low request concurrency</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a:t>Simple, stable capacity needs</a:t>
            </a:r>
          </a:p>
        </p:txBody>
      </p:sp>
      <p:sp>
        <p:nvSpPr>
          <p:cNvPr id="14" name="Rounded Rectangle 13"/>
          <p:cNvSpPr/>
          <p:nvPr/>
        </p:nvSpPr>
        <p:spPr>
          <a:xfrm>
            <a:off x="4649724"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773168" y="1769364"/>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786884" y="1906524"/>
            <a:ext cx="3806190"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a:t>The split adds real costs</a:t>
            </a:r>
          </a:p>
        </p:txBody>
      </p:sp>
      <p:sp>
        <p:nvSpPr>
          <p:cNvPr id="17" name="TextBox 16"/>
          <p:cNvSpPr txBox="1"/>
          <p:nvPr/>
        </p:nvSpPr>
        <p:spPr>
          <a:xfrm>
            <a:off x="4786884"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a:t>KV transfer across the fabric</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a:t>More routing and runtime wiring</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a:t>Additional failure boundaries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02 / The orchestration gap</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The hard part is the Kubernetes wiring</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13 / 56</a:t>
            </a:r>
          </a:p>
        </p:txBody>
      </p: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02 / Ecosystem landscape</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Open-source P/D: several paths, different abstractions</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14 / 56</a:t>
            </a:r>
          </a:p>
        </p:txBody>
      </p: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a:t>Also: LWS DisaggregatedSet orchestrates roles; engines and KV transport remain separate.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03 / Integration rationale</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Why llm-d is the best fit for KAITO’s P/D integration</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15 / 56</a:t>
            </a:r>
          </a:p>
        </p:txBody>
      </p: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Keep Workspace / InferenceSet.</a:t>
            </a:r>
          </a:p>
          <a:p>
            <a:pPr>
              <a:spcAft>
                <a:spcPts val="375"/>
              </a:spcAft>
              <a:defRPr sz="1400" b="0">
                <a:solidFill>
                  <a:srgbClr val="172941"/>
                </a:solidFill>
                <a:latin typeface="Arial"/>
              </a:defRPr>
            </a:pPr>
            <a:r>
              <a:rPr sz="1050"/>
              <a:t>Add role-specific replicas, GPU</a:t>
            </a:r>
          </a:p>
          <a:p>
            <a:pPr>
              <a:spcAft>
                <a:spcPts val="375"/>
              </a:spcAft>
              <a:defRPr sz="1400" b="0">
                <a:solidFill>
                  <a:srgbClr val="172941"/>
                </a:solidFill>
                <a:latin typeface="Arial"/>
              </a:defRPr>
            </a:pPr>
            <a:r>
              <a:rPr sz="1050"/>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Reuse P/D-aware endpoint selection</a:t>
            </a:r>
          </a:p>
          <a:p>
            <a:pPr>
              <a:spcAft>
                <a:spcPts val="375"/>
              </a:spcAft>
              <a:defRPr sz="1400" b="0">
                <a:solidFill>
                  <a:srgbClr val="172941"/>
                </a:solidFill>
                <a:latin typeface="Arial"/>
              </a:defRPr>
            </a:pPr>
            <a:r>
              <a:rPr sz="1050"/>
              <a:t>and request orchestration. KAITO</a:t>
            </a:r>
          </a:p>
          <a:p>
            <a:pPr>
              <a:spcAft>
                <a:spcPts val="375"/>
              </a:spcAft>
              <a:defRPr sz="1400" b="0">
                <a:solidFill>
                  <a:srgbClr val="172941"/>
                </a:solidFill>
                <a:latin typeface="Arial"/>
              </a:defRPr>
            </a:pPr>
            <a:r>
              <a:rPr sz="1050"/>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a:t>Use Gateway API / InferencePool.</a:t>
            </a:r>
          </a:p>
          <a:p>
            <a:pPr>
              <a:spcAft>
                <a:spcPts val="375"/>
              </a:spcAft>
              <a:defRPr sz="1400" b="0">
                <a:solidFill>
                  <a:srgbClr val="172941"/>
                </a:solidFill>
                <a:latin typeface="Arial"/>
              </a:defRPr>
            </a:pPr>
            <a:r>
              <a:rPr sz="1050"/>
              <a:t>Keep routing plugins upstream;</a:t>
            </a:r>
          </a:p>
          <a:p>
            <a:pPr>
              <a:spcAft>
                <a:spcPts val="375"/>
              </a:spcAft>
              <a:defRPr sz="1400" b="0">
                <a:solidFill>
                  <a:srgbClr val="172941"/>
                </a:solidFill>
                <a:latin typeface="Arial"/>
              </a:defRPr>
            </a:pPr>
            <a:r>
              <a:rPr sz="1050"/>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a:t>Current scope: alpha MRI • vLLM + Istio • GPU connectivity for KV transfer • scaling policy still needs design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108608-17E5-7B6D-7E28-99CBA2F215A6}"/>
              </a:ext>
            </a:extLst>
          </p:cNvPr>
          <p:cNvSpPr>
            <a:spLocks noGrp="1"/>
          </p:cNvSpPr>
          <p:nvPr>
            <p:ph type="title" idx="4294967295"/>
          </p:nvPr>
        </p:nvSpPr>
        <p:spPr>
          <a:xfrm>
            <a:off x="0" y="0"/>
            <a:ext cx="6950075" cy="1047750"/>
          </a:xfrm>
        </p:spPr>
        <p:txBody>
          <a:bodyPr>
            <a:normAutofit/>
          </a:bodyPr>
          <a:lstStyle/>
          <a:p>
            <a:r>
              <a:rPr lang="zh-CN" altLang="zh-CN" sz="2800" dirty="0"/>
              <a:t>Production Distributed Inference Architecture</a:t>
            </a:r>
            <a:endParaRPr lang="zh-CN" altLang="en-US" sz="2800" dirty="0"/>
          </a:p>
        </p:txBody>
      </p:sp>
      <p:sp>
        <p:nvSpPr>
          <p:cNvPr id="85" name="application-rail-box">
            <a:extLst>
              <a:ext uri="{FF2B5EF4-FFF2-40B4-BE49-F238E27FC236}">
                <a16:creationId xmlns:a16="http://schemas.microsoft.com/office/drawing/2014/main" id="{A7F0BE18-D8B7-6DC5-F1F5-9FFE9AA4A4EC}"/>
              </a:ext>
            </a:extLst>
          </p:cNvPr>
          <p:cNvSpPr>
            <a:spLocks noGrp="1"/>
          </p:cNvSpPr>
          <p:nvPr/>
        </p:nvSpPr>
        <p:spPr>
          <a:xfrm>
            <a:off x="76201" y="1214619"/>
            <a:ext cx="762000" cy="381000"/>
          </a:xfrm>
          <a:prstGeom prst="roundRect">
            <a:avLst>
              <a:gd name="adj" fmla="val 10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a:solidFill>
                  <a:srgbClr val="FFFFFF"/>
                </a:solidFill>
                <a:latin typeface="Arial"/>
                <a:ea typeface="Arial"/>
                <a:cs typeface="Arial"/>
              </a:rPr>
              <a:t>Application</a:t>
            </a:r>
          </a:p>
          <a:p>
            <a:pPr algn="ctr">
              <a:defRPr sz="750" b="1">
                <a:solidFill>
                  <a:srgbClr val="FFFFFF"/>
                </a:solidFill>
                <a:latin typeface="Arial"/>
                <a:ea typeface="Arial"/>
                <a:cs typeface="Arial"/>
              </a:defRPr>
            </a:pPr>
            <a:r>
              <a:rPr sz="800" b="1">
                <a:solidFill>
                  <a:srgbClr val="FFFFFF"/>
                </a:solidFill>
                <a:latin typeface="Arial"/>
                <a:ea typeface="Arial"/>
                <a:cs typeface="Arial"/>
              </a:rPr>
              <a:t>Layer</a:t>
            </a:r>
          </a:p>
        </p:txBody>
      </p:sp>
      <p:sp>
        <p:nvSpPr>
          <p:cNvPr id="86" name="application-surface">
            <a:extLst>
              <a:ext uri="{FF2B5EF4-FFF2-40B4-BE49-F238E27FC236}">
                <a16:creationId xmlns:a16="http://schemas.microsoft.com/office/drawing/2014/main" id="{FC6739DF-595B-0861-5B4C-3EB609F0BE25}"/>
              </a:ext>
            </a:extLst>
          </p:cNvPr>
          <p:cNvSpPr>
            <a:spLocks noGrp="1"/>
          </p:cNvSpPr>
          <p:nvPr/>
        </p:nvSpPr>
        <p:spPr>
          <a:xfrm>
            <a:off x="933451" y="1214619"/>
            <a:ext cx="6191250" cy="381000"/>
          </a:xfrm>
          <a:prstGeom prst="roundRect">
            <a:avLst>
              <a:gd name="adj" fmla="val 10000"/>
            </a:avLst>
          </a:prstGeom>
          <a:solidFill>
            <a:srgbClr val="FFFFFF"/>
          </a:solidFill>
          <a:ln w="9525">
            <a:solidFill>
              <a:srgbClr val="D7DEE8"/>
            </a:solidFill>
            <a:prstDash val="solid"/>
          </a:ln>
        </p:spPr>
        <p:txBody>
          <a:bodyPr/>
          <a:lstStyle/>
          <a:p>
            <a:endParaRPr lang="zh-CN" altLang="en-US" sz="1600"/>
          </a:p>
        </p:txBody>
      </p:sp>
      <p:sp>
        <p:nvSpPr>
          <p:cNvPr id="87" name="application-items-1-box">
            <a:extLst>
              <a:ext uri="{FF2B5EF4-FFF2-40B4-BE49-F238E27FC236}">
                <a16:creationId xmlns:a16="http://schemas.microsoft.com/office/drawing/2014/main" id="{BEA3F104-EC15-50E4-8804-0470EBD25CC5}"/>
              </a:ext>
            </a:extLst>
          </p:cNvPr>
          <p:cNvSpPr>
            <a:spLocks noGrp="1"/>
          </p:cNvSpPr>
          <p:nvPr/>
        </p:nvSpPr>
        <p:spPr>
          <a:xfrm>
            <a:off x="100965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Web / H5</a:t>
            </a:r>
          </a:p>
        </p:txBody>
      </p:sp>
      <p:sp>
        <p:nvSpPr>
          <p:cNvPr id="88" name="application-items-2-box">
            <a:extLst>
              <a:ext uri="{FF2B5EF4-FFF2-40B4-BE49-F238E27FC236}">
                <a16:creationId xmlns:a16="http://schemas.microsoft.com/office/drawing/2014/main" id="{57E157B9-D48E-A70C-5494-69B0C8A18EAB}"/>
              </a:ext>
            </a:extLst>
          </p:cNvPr>
          <p:cNvSpPr>
            <a:spLocks noGrp="1"/>
          </p:cNvSpPr>
          <p:nvPr/>
        </p:nvSpPr>
        <p:spPr>
          <a:xfrm>
            <a:off x="222504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Mobile Apps</a:t>
            </a:r>
          </a:p>
        </p:txBody>
      </p:sp>
      <p:sp>
        <p:nvSpPr>
          <p:cNvPr id="89" name="application-items-3-box">
            <a:extLst>
              <a:ext uri="{FF2B5EF4-FFF2-40B4-BE49-F238E27FC236}">
                <a16:creationId xmlns:a16="http://schemas.microsoft.com/office/drawing/2014/main" id="{AF6EAF3A-86AC-BECC-5A7D-DE5355C98487}"/>
              </a:ext>
            </a:extLst>
          </p:cNvPr>
          <p:cNvSpPr>
            <a:spLocks noGrp="1"/>
          </p:cNvSpPr>
          <p:nvPr/>
        </p:nvSpPr>
        <p:spPr>
          <a:xfrm>
            <a:off x="344043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Enterprise Applications</a:t>
            </a:r>
          </a:p>
        </p:txBody>
      </p:sp>
      <p:sp>
        <p:nvSpPr>
          <p:cNvPr id="90" name="application-items-4-box">
            <a:extLst>
              <a:ext uri="{FF2B5EF4-FFF2-40B4-BE49-F238E27FC236}">
                <a16:creationId xmlns:a16="http://schemas.microsoft.com/office/drawing/2014/main" id="{34B4D230-2C91-F76F-810B-3B7C3D5A2CB2}"/>
              </a:ext>
            </a:extLst>
          </p:cNvPr>
          <p:cNvSpPr>
            <a:spLocks noGrp="1"/>
          </p:cNvSpPr>
          <p:nvPr/>
        </p:nvSpPr>
        <p:spPr>
          <a:xfrm>
            <a:off x="465582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Third-party Applications</a:t>
            </a:r>
          </a:p>
        </p:txBody>
      </p:sp>
      <p:sp>
        <p:nvSpPr>
          <p:cNvPr id="91" name="application-items-5-box">
            <a:extLst>
              <a:ext uri="{FF2B5EF4-FFF2-40B4-BE49-F238E27FC236}">
                <a16:creationId xmlns:a16="http://schemas.microsoft.com/office/drawing/2014/main" id="{1D1A6355-73EA-D445-E7EF-D9224D4305DF}"/>
              </a:ext>
            </a:extLst>
          </p:cNvPr>
          <p:cNvSpPr>
            <a:spLocks noGrp="1"/>
          </p:cNvSpPr>
          <p:nvPr/>
        </p:nvSpPr>
        <p:spPr>
          <a:xfrm>
            <a:off x="587121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a:t>
            </a:r>
          </a:p>
        </p:txBody>
      </p:sp>
      <p:sp>
        <p:nvSpPr>
          <p:cNvPr id="92" name="inference-rail-box">
            <a:extLst>
              <a:ext uri="{FF2B5EF4-FFF2-40B4-BE49-F238E27FC236}">
                <a16:creationId xmlns:a16="http://schemas.microsoft.com/office/drawing/2014/main" id="{18DF6413-76FC-31B2-239D-B1BF29732B34}"/>
              </a:ext>
            </a:extLst>
          </p:cNvPr>
          <p:cNvSpPr>
            <a:spLocks noGrp="1"/>
          </p:cNvSpPr>
          <p:nvPr/>
        </p:nvSpPr>
        <p:spPr>
          <a:xfrm>
            <a:off x="76201" y="1652769"/>
            <a:ext cx="762000" cy="2057400"/>
          </a:xfrm>
          <a:prstGeom prst="roundRect">
            <a:avLst>
              <a:gd name="adj" fmla="val 5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dirty="0">
                <a:solidFill>
                  <a:srgbClr val="FFFFFF"/>
                </a:solidFill>
                <a:latin typeface="Arial"/>
                <a:ea typeface="Arial"/>
                <a:cs typeface="Arial"/>
              </a:rPr>
              <a:t>Inference</a:t>
            </a:r>
          </a:p>
          <a:p>
            <a:pPr algn="ctr">
              <a:defRPr sz="750" b="1">
                <a:solidFill>
                  <a:srgbClr val="FFFFFF"/>
                </a:solidFill>
                <a:latin typeface="Arial"/>
                <a:ea typeface="Arial"/>
                <a:cs typeface="Arial"/>
              </a:defRPr>
            </a:pPr>
            <a:r>
              <a:rPr sz="800" b="1" dirty="0">
                <a:solidFill>
                  <a:srgbClr val="FFFFFF"/>
                </a:solidFill>
                <a:latin typeface="Arial"/>
                <a:ea typeface="Arial"/>
                <a:cs typeface="Arial"/>
              </a:rPr>
              <a:t>Layer</a:t>
            </a:r>
          </a:p>
        </p:txBody>
      </p:sp>
      <p:sp>
        <p:nvSpPr>
          <p:cNvPr id="93" name="inference-core-surface">
            <a:extLst>
              <a:ext uri="{FF2B5EF4-FFF2-40B4-BE49-F238E27FC236}">
                <a16:creationId xmlns:a16="http://schemas.microsoft.com/office/drawing/2014/main" id="{318E048E-0E1C-139B-BB3F-18BC924CB124}"/>
              </a:ext>
            </a:extLst>
          </p:cNvPr>
          <p:cNvSpPr>
            <a:spLocks noGrp="1"/>
          </p:cNvSpPr>
          <p:nvPr/>
        </p:nvSpPr>
        <p:spPr>
          <a:xfrm>
            <a:off x="933451" y="1652769"/>
            <a:ext cx="6191250" cy="2057400"/>
          </a:xfrm>
          <a:prstGeom prst="roundRect">
            <a:avLst>
              <a:gd name="adj" fmla="val 2315"/>
            </a:avLst>
          </a:prstGeom>
          <a:solidFill>
            <a:srgbClr val="F9FCF7"/>
          </a:solidFill>
          <a:ln w="9525">
            <a:solidFill>
              <a:srgbClr val="CFE3C7"/>
            </a:solidFill>
            <a:prstDash val="solid"/>
          </a:ln>
        </p:spPr>
        <p:txBody>
          <a:bodyPr/>
          <a:lstStyle/>
          <a:p>
            <a:endParaRPr lang="zh-CN" altLang="en-US" sz="1600"/>
          </a:p>
        </p:txBody>
      </p:sp>
      <p:sp>
        <p:nvSpPr>
          <p:cNvPr id="94" name="inferx-box">
            <a:extLst>
              <a:ext uri="{FF2B5EF4-FFF2-40B4-BE49-F238E27FC236}">
                <a16:creationId xmlns:a16="http://schemas.microsoft.com/office/drawing/2014/main" id="{220BC63F-1079-1FEB-140C-CF510E2917AD}"/>
              </a:ext>
            </a:extLst>
          </p:cNvPr>
          <p:cNvSpPr>
            <a:spLocks noGrp="1"/>
          </p:cNvSpPr>
          <p:nvPr/>
        </p:nvSpPr>
        <p:spPr>
          <a:xfrm>
            <a:off x="990601" y="1709919"/>
            <a:ext cx="6019800" cy="219075"/>
          </a:xfrm>
          <a:prstGeom prst="roundRect">
            <a:avLst>
              <a:gd name="adj" fmla="val 21739"/>
            </a:avLst>
          </a:prstGeom>
          <a:solidFill>
            <a:srgbClr val="247A06"/>
          </a:solidFill>
          <a:ln w="9525">
            <a:solidFill>
              <a:srgbClr val="247A06"/>
            </a:solidFill>
            <a:prstDash val="solid"/>
          </a:ln>
        </p:spPr>
        <p:txBody>
          <a:bodyPr wrap="square" lIns="28575" tIns="9525" rIns="28575" bIns="9525" anchor="ctr">
            <a:normAutofit/>
          </a:bodyPr>
          <a:lstStyle/>
          <a:p>
            <a:pPr algn="ctr">
              <a:defRPr sz="825" b="1">
                <a:solidFill>
                  <a:srgbClr val="FFFFFF"/>
                </a:solidFill>
                <a:latin typeface="Arial"/>
                <a:ea typeface="Arial"/>
                <a:cs typeface="Arial"/>
              </a:defRPr>
            </a:pPr>
            <a:r>
              <a:rPr lang="en-US" sz="900" b="1" dirty="0">
                <a:solidFill>
                  <a:srgbClr val="FFFFFF"/>
                </a:solidFill>
              </a:rPr>
              <a:t>AI</a:t>
            </a:r>
            <a:r>
              <a:rPr lang="en-US" sz="900" b="1" dirty="0">
                <a:solidFill>
                  <a:srgbClr val="FFFFFF"/>
                </a:solidFill>
                <a:latin typeface="Arial"/>
                <a:ea typeface="Arial"/>
                <a:cs typeface="Arial"/>
              </a:rPr>
              <a:t> </a:t>
            </a:r>
            <a:r>
              <a:rPr lang="en-US" sz="900" b="1" dirty="0">
                <a:solidFill>
                  <a:srgbClr val="FFFFFF"/>
                </a:solidFill>
              </a:rPr>
              <a:t>G</a:t>
            </a:r>
            <a:r>
              <a:rPr lang="en-US" sz="900" b="1" dirty="0">
                <a:solidFill>
                  <a:srgbClr val="FFFFFF"/>
                </a:solidFill>
                <a:latin typeface="Arial"/>
                <a:ea typeface="Arial"/>
                <a:cs typeface="Arial"/>
              </a:rPr>
              <a:t>ateway</a:t>
            </a:r>
            <a:r>
              <a:rPr sz="900" b="1" dirty="0">
                <a:solidFill>
                  <a:srgbClr val="FFFFFF"/>
                </a:solidFill>
                <a:latin typeface="Arial"/>
                <a:ea typeface="Arial"/>
                <a:cs typeface="Arial"/>
              </a:rPr>
              <a:t> </a:t>
            </a:r>
            <a:r>
              <a:rPr lang="en-US" sz="900" b="1" dirty="0">
                <a:solidFill>
                  <a:srgbClr val="FFFFFF"/>
                </a:solidFill>
                <a:latin typeface="Arial"/>
                <a:ea typeface="Arial"/>
                <a:cs typeface="Arial"/>
              </a:rPr>
              <a:t>(Business Logic)</a:t>
            </a:r>
            <a:r>
              <a:rPr sz="900" b="1" dirty="0">
                <a:solidFill>
                  <a:srgbClr val="FFFFFF"/>
                </a:solidFill>
                <a:latin typeface="Arial"/>
                <a:ea typeface="Arial"/>
                <a:cs typeface="Arial"/>
              </a:rPr>
              <a:t> (</a:t>
            </a:r>
            <a:r>
              <a:rPr lang="en-US" sz="900" b="1" dirty="0" err="1">
                <a:solidFill>
                  <a:srgbClr val="FFFFFF"/>
                </a:solidFill>
                <a:latin typeface="Arial"/>
                <a:ea typeface="Arial"/>
                <a:cs typeface="Arial"/>
              </a:rPr>
              <a:t>AgentGateway</a:t>
            </a:r>
            <a:r>
              <a:rPr lang="en-US" sz="900" b="1" dirty="0">
                <a:solidFill>
                  <a:srgbClr val="FFFFFF"/>
                </a:solidFill>
              </a:rPr>
              <a:t> , Higress</a:t>
            </a:r>
            <a:r>
              <a:rPr sz="900" b="1" dirty="0">
                <a:solidFill>
                  <a:srgbClr val="FFFFFF"/>
                </a:solidFill>
                <a:latin typeface="Arial"/>
                <a:ea typeface="Arial"/>
                <a:cs typeface="Arial"/>
              </a:rPr>
              <a:t>)</a:t>
            </a:r>
          </a:p>
        </p:txBody>
      </p:sp>
      <p:sp>
        <p:nvSpPr>
          <p:cNvPr id="95" name="orchestration-frame">
            <a:extLst>
              <a:ext uri="{FF2B5EF4-FFF2-40B4-BE49-F238E27FC236}">
                <a16:creationId xmlns:a16="http://schemas.microsoft.com/office/drawing/2014/main" id="{8FB5F1C0-3018-7932-FBBC-E52D91340907}"/>
              </a:ext>
            </a:extLst>
          </p:cNvPr>
          <p:cNvSpPr>
            <a:spLocks noGrp="1"/>
          </p:cNvSpPr>
          <p:nvPr/>
        </p:nvSpPr>
        <p:spPr>
          <a:xfrm>
            <a:off x="990601" y="1976619"/>
            <a:ext cx="6076950" cy="514350"/>
          </a:xfrm>
          <a:prstGeom prst="roundRect">
            <a:avLst>
              <a:gd name="adj" fmla="val 7407"/>
            </a:avLst>
          </a:prstGeom>
          <a:solidFill>
            <a:srgbClr val="FFFFFF"/>
          </a:solidFill>
          <a:ln w="9525">
            <a:solidFill>
              <a:srgbClr val="CFE3C7"/>
            </a:solidFill>
            <a:prstDash val="solid"/>
          </a:ln>
        </p:spPr>
        <p:txBody>
          <a:bodyPr/>
          <a:lstStyle/>
          <a:p>
            <a:endParaRPr lang="zh-CN" altLang="en-US" sz="1600"/>
          </a:p>
        </p:txBody>
      </p:sp>
      <p:sp>
        <p:nvSpPr>
          <p:cNvPr id="96" name="orchestration-title">
            <a:extLst>
              <a:ext uri="{FF2B5EF4-FFF2-40B4-BE49-F238E27FC236}">
                <a16:creationId xmlns:a16="http://schemas.microsoft.com/office/drawing/2014/main" id="{5BA7DF17-5A3A-A056-85FE-9BB04DABD02F}"/>
              </a:ext>
            </a:extLst>
          </p:cNvPr>
          <p:cNvSpPr>
            <a:spLocks noGrp="1"/>
          </p:cNvSpPr>
          <p:nvPr/>
        </p:nvSpPr>
        <p:spPr>
          <a:xfrm>
            <a:off x="1047751" y="2005194"/>
            <a:ext cx="5962650" cy="133350"/>
          </a:xfrm>
          <a:prstGeom prst="rect">
            <a:avLst/>
          </a:prstGeom>
          <a:noFill/>
          <a:ln w="0">
            <a:noFill/>
            <a:prstDash val="solid"/>
          </a:ln>
        </p:spPr>
        <p:txBody>
          <a:bodyPr wrap="square" lIns="19050" tIns="9525" rIns="19050" bIns="9525" anchor="ctr">
            <a:noAutofit/>
          </a:bodyPr>
          <a:lstStyle/>
          <a:p>
            <a:pPr algn="ctr">
              <a:defRPr sz="675" b="1">
                <a:solidFill>
                  <a:srgbClr val="2F8B45"/>
                </a:solidFill>
                <a:latin typeface="Arial"/>
                <a:ea typeface="Arial"/>
                <a:cs typeface="Arial"/>
              </a:defRPr>
            </a:pPr>
            <a:r>
              <a:rPr sz="800" b="1" dirty="0">
                <a:solidFill>
                  <a:srgbClr val="2F8B45"/>
                </a:solidFill>
                <a:latin typeface="Arial"/>
                <a:ea typeface="Arial"/>
                <a:cs typeface="Arial"/>
              </a:rPr>
              <a:t>Orchestration Layer  (LLM-D</a:t>
            </a:r>
            <a:r>
              <a:rPr lang="en-US" sz="800" b="1" dirty="0">
                <a:solidFill>
                  <a:srgbClr val="2F8B45"/>
                </a:solidFill>
                <a:latin typeface="Arial"/>
                <a:ea typeface="Arial"/>
                <a:cs typeface="Arial"/>
              </a:rPr>
              <a:t>, KAITO, Dynamo</a:t>
            </a:r>
            <a:r>
              <a:rPr sz="800" b="1" dirty="0">
                <a:solidFill>
                  <a:srgbClr val="2F8B45"/>
                </a:solidFill>
                <a:latin typeface="Arial"/>
                <a:ea typeface="Arial"/>
                <a:cs typeface="Arial"/>
              </a:rPr>
              <a:t>)</a:t>
            </a:r>
          </a:p>
        </p:txBody>
      </p:sp>
      <p:sp>
        <p:nvSpPr>
          <p:cNvPr id="97" name="orchestration-capabilities-1-box">
            <a:extLst>
              <a:ext uri="{FF2B5EF4-FFF2-40B4-BE49-F238E27FC236}">
                <a16:creationId xmlns:a16="http://schemas.microsoft.com/office/drawing/2014/main" id="{0B42DAF5-12F5-56C0-C211-F8B2FA28F646}"/>
              </a:ext>
            </a:extLst>
          </p:cNvPr>
          <p:cNvSpPr>
            <a:spLocks noGrp="1"/>
          </p:cNvSpPr>
          <p:nvPr/>
        </p:nvSpPr>
        <p:spPr>
          <a:xfrm>
            <a:off x="1711146"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Service</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Orchestration</a:t>
            </a:r>
          </a:p>
        </p:txBody>
      </p:sp>
      <p:sp>
        <p:nvSpPr>
          <p:cNvPr id="98" name="orchestration-capabilities-2-box">
            <a:extLst>
              <a:ext uri="{FF2B5EF4-FFF2-40B4-BE49-F238E27FC236}">
                <a16:creationId xmlns:a16="http://schemas.microsoft.com/office/drawing/2014/main" id="{C460F9DE-7201-3B00-BFAC-6B4779F72D19}"/>
              </a:ext>
            </a:extLst>
          </p:cNvPr>
          <p:cNvSpPr>
            <a:spLocks noGrp="1"/>
          </p:cNvSpPr>
          <p:nvPr/>
        </p:nvSpPr>
        <p:spPr>
          <a:xfrm>
            <a:off x="256703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Routing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Load Balancing</a:t>
            </a:r>
          </a:p>
        </p:txBody>
      </p:sp>
      <p:sp>
        <p:nvSpPr>
          <p:cNvPr id="99" name="orchestration-capabilities-3-box">
            <a:extLst>
              <a:ext uri="{FF2B5EF4-FFF2-40B4-BE49-F238E27FC236}">
                <a16:creationId xmlns:a16="http://schemas.microsoft.com/office/drawing/2014/main" id="{CDDCCF35-840B-3FA3-7C86-F00B5F1D7F12}"/>
              </a:ext>
            </a:extLst>
          </p:cNvPr>
          <p:cNvSpPr>
            <a:spLocks noGrp="1"/>
          </p:cNvSpPr>
          <p:nvPr/>
        </p:nvSpPr>
        <p:spPr>
          <a:xfrm>
            <a:off x="342292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Scheduling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Autoscaling</a:t>
            </a:r>
          </a:p>
        </p:txBody>
      </p:sp>
      <p:sp>
        <p:nvSpPr>
          <p:cNvPr id="100" name="orchestration-capabilities-4-box">
            <a:extLst>
              <a:ext uri="{FF2B5EF4-FFF2-40B4-BE49-F238E27FC236}">
                <a16:creationId xmlns:a16="http://schemas.microsoft.com/office/drawing/2014/main" id="{DB1B3049-C44C-3902-4B37-8DAB89330443}"/>
              </a:ext>
            </a:extLst>
          </p:cNvPr>
          <p:cNvSpPr>
            <a:spLocks noGrp="1"/>
          </p:cNvSpPr>
          <p:nvPr/>
        </p:nvSpPr>
        <p:spPr>
          <a:xfrm>
            <a:off x="4278814"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Policy &amp; Strategy</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Management</a:t>
            </a:r>
          </a:p>
        </p:txBody>
      </p:sp>
      <p:sp>
        <p:nvSpPr>
          <p:cNvPr id="102" name="orchestration-capabilities-6-box">
            <a:extLst>
              <a:ext uri="{FF2B5EF4-FFF2-40B4-BE49-F238E27FC236}">
                <a16:creationId xmlns:a16="http://schemas.microsoft.com/office/drawing/2014/main" id="{D4C56765-5941-5A9B-11A7-CA3184DF781D}"/>
              </a:ext>
            </a:extLst>
          </p:cNvPr>
          <p:cNvSpPr>
            <a:spLocks noGrp="1"/>
          </p:cNvSpPr>
          <p:nvPr/>
        </p:nvSpPr>
        <p:spPr>
          <a:xfrm>
            <a:off x="520409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Elastic</a:t>
            </a:r>
          </a:p>
          <a:p>
            <a:pPr algn="ctr">
              <a:defRPr sz="465" b="0">
                <a:solidFill>
                  <a:srgbClr val="102031"/>
                </a:solidFill>
                <a:latin typeface="Arial"/>
                <a:ea typeface="Arial"/>
                <a:cs typeface="Arial"/>
              </a:defRPr>
            </a:pPr>
            <a:r>
              <a:rPr sz="600" b="0">
                <a:solidFill>
                  <a:srgbClr val="102031"/>
                </a:solidFill>
                <a:latin typeface="Arial"/>
                <a:ea typeface="Arial"/>
                <a:cs typeface="Arial"/>
              </a:rPr>
              <a:t>Scaling</a:t>
            </a:r>
          </a:p>
        </p:txBody>
      </p:sp>
      <p:sp>
        <p:nvSpPr>
          <p:cNvPr id="103" name="orchestration-capabilities-7-box">
            <a:extLst>
              <a:ext uri="{FF2B5EF4-FFF2-40B4-BE49-F238E27FC236}">
                <a16:creationId xmlns:a16="http://schemas.microsoft.com/office/drawing/2014/main" id="{142455BB-019D-478E-144D-E85B309E82DD}"/>
              </a:ext>
            </a:extLst>
          </p:cNvPr>
          <p:cNvSpPr>
            <a:spLocks noGrp="1"/>
          </p:cNvSpPr>
          <p:nvPr/>
        </p:nvSpPr>
        <p:spPr>
          <a:xfrm>
            <a:off x="605998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Observability &amp;</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Monitoring</a:t>
            </a:r>
          </a:p>
        </p:txBody>
      </p:sp>
      <p:sp>
        <p:nvSpPr>
          <p:cNvPr id="104" name="runtime-frame">
            <a:extLst>
              <a:ext uri="{FF2B5EF4-FFF2-40B4-BE49-F238E27FC236}">
                <a16:creationId xmlns:a16="http://schemas.microsoft.com/office/drawing/2014/main" id="{1FAF42A9-034D-2498-9D21-870CF65024CE}"/>
              </a:ext>
            </a:extLst>
          </p:cNvPr>
          <p:cNvSpPr>
            <a:spLocks noGrp="1"/>
          </p:cNvSpPr>
          <p:nvPr/>
        </p:nvSpPr>
        <p:spPr>
          <a:xfrm>
            <a:off x="990601" y="2538594"/>
            <a:ext cx="6076950" cy="409575"/>
          </a:xfrm>
          <a:prstGeom prst="roundRect">
            <a:avLst>
              <a:gd name="adj" fmla="val 9302"/>
            </a:avLst>
          </a:prstGeom>
          <a:solidFill>
            <a:srgbClr val="FFFFFF"/>
          </a:solidFill>
          <a:ln w="9525">
            <a:solidFill>
              <a:srgbClr val="CFE3C7"/>
            </a:solidFill>
            <a:prstDash val="solid"/>
          </a:ln>
        </p:spPr>
        <p:txBody>
          <a:bodyPr/>
          <a:lstStyle/>
          <a:p>
            <a:endParaRPr lang="zh-CN" altLang="en-US" sz="1600"/>
          </a:p>
        </p:txBody>
      </p:sp>
      <p:sp>
        <p:nvSpPr>
          <p:cNvPr id="105" name="runtime-title">
            <a:extLst>
              <a:ext uri="{FF2B5EF4-FFF2-40B4-BE49-F238E27FC236}">
                <a16:creationId xmlns:a16="http://schemas.microsoft.com/office/drawing/2014/main" id="{B1F77162-90B2-16C0-A95B-FBEEFECB9417}"/>
              </a:ext>
            </a:extLst>
          </p:cNvPr>
          <p:cNvSpPr>
            <a:spLocks noGrp="1"/>
          </p:cNvSpPr>
          <p:nvPr/>
        </p:nvSpPr>
        <p:spPr>
          <a:xfrm>
            <a:off x="1666876" y="2567169"/>
            <a:ext cx="5334000" cy="123825"/>
          </a:xfrm>
          <a:prstGeom prst="rect">
            <a:avLst/>
          </a:prstGeom>
          <a:noFill/>
          <a:ln w="0">
            <a:noFill/>
            <a:prstDash val="solid"/>
          </a:ln>
        </p:spPr>
        <p:txBody>
          <a:bodyPr wrap="square" lIns="19050" tIns="9525" rIns="19050" bIns="9525" anchor="ctr">
            <a:noAutofit/>
          </a:bodyPr>
          <a:lstStyle/>
          <a:p>
            <a:pPr algn="ctr">
              <a:defRPr sz="638" b="1">
                <a:solidFill>
                  <a:srgbClr val="2F8B45"/>
                </a:solidFill>
                <a:latin typeface="Arial"/>
                <a:ea typeface="Arial"/>
                <a:cs typeface="Arial"/>
              </a:defRPr>
            </a:pPr>
            <a:r>
              <a:rPr sz="700" b="1" dirty="0">
                <a:solidFill>
                  <a:srgbClr val="2F8B45"/>
                </a:solidFill>
                <a:latin typeface="Arial"/>
                <a:ea typeface="Arial"/>
                <a:cs typeface="Arial"/>
              </a:rPr>
              <a:t>Inference Runtime Layer  (</a:t>
            </a:r>
            <a:r>
              <a:rPr sz="700" b="1" dirty="0" err="1">
                <a:solidFill>
                  <a:srgbClr val="2F8B45"/>
                </a:solidFill>
                <a:latin typeface="Arial"/>
                <a:ea typeface="Arial"/>
                <a:cs typeface="Arial"/>
              </a:rPr>
              <a:t>vLLM</a:t>
            </a:r>
            <a:r>
              <a:rPr lang="en-US" sz="700" b="1" dirty="0">
                <a:solidFill>
                  <a:srgbClr val="2F8B45"/>
                </a:solidFill>
                <a:latin typeface="Arial"/>
                <a:ea typeface="Arial"/>
                <a:cs typeface="Arial"/>
              </a:rPr>
              <a:t>, </a:t>
            </a:r>
            <a:r>
              <a:rPr lang="en-US" sz="700" b="1" dirty="0" err="1">
                <a:solidFill>
                  <a:srgbClr val="2F8B45"/>
                </a:solidFill>
                <a:latin typeface="Arial"/>
                <a:ea typeface="Arial"/>
                <a:cs typeface="Arial"/>
              </a:rPr>
              <a:t>SGLang</a:t>
            </a:r>
            <a:r>
              <a:rPr lang="en-US" sz="700" b="1" dirty="0">
                <a:solidFill>
                  <a:srgbClr val="2F8B45"/>
                </a:solidFill>
                <a:latin typeface="Arial"/>
                <a:ea typeface="Arial"/>
                <a:cs typeface="Arial"/>
              </a:rPr>
              <a:t>, Triton </a:t>
            </a:r>
            <a:r>
              <a:rPr sz="700" b="1" dirty="0">
                <a:solidFill>
                  <a:srgbClr val="2F8B45"/>
                </a:solidFill>
                <a:latin typeface="Arial"/>
                <a:ea typeface="Arial"/>
                <a:cs typeface="Arial"/>
              </a:rPr>
              <a:t>)</a:t>
            </a:r>
          </a:p>
        </p:txBody>
      </p:sp>
      <p:sp>
        <p:nvSpPr>
          <p:cNvPr id="106" name="vllm-wordmark">
            <a:extLst>
              <a:ext uri="{FF2B5EF4-FFF2-40B4-BE49-F238E27FC236}">
                <a16:creationId xmlns:a16="http://schemas.microsoft.com/office/drawing/2014/main" id="{1735F861-B3FD-E358-3BB5-BA350EE256E2}"/>
              </a:ext>
            </a:extLst>
          </p:cNvPr>
          <p:cNvSpPr>
            <a:spLocks noGrp="1"/>
          </p:cNvSpPr>
          <p:nvPr/>
        </p:nvSpPr>
        <p:spPr>
          <a:xfrm>
            <a:off x="1066801" y="2681469"/>
            <a:ext cx="552450" cy="190500"/>
          </a:xfrm>
          <a:prstGeom prst="rect">
            <a:avLst/>
          </a:prstGeom>
          <a:noFill/>
          <a:ln w="0">
            <a:noFill/>
            <a:prstDash val="solid"/>
          </a:ln>
        </p:spPr>
        <p:txBody>
          <a:bodyPr wrap="square" lIns="19050" tIns="9525" rIns="19050" bIns="9525" anchor="ctr">
            <a:noAutofit/>
          </a:bodyPr>
          <a:lstStyle/>
          <a:p>
            <a:pPr algn="ctr">
              <a:defRPr sz="1200" b="1">
                <a:solidFill>
                  <a:srgbClr val="475569"/>
                </a:solidFill>
                <a:latin typeface="Arial"/>
                <a:ea typeface="Arial"/>
                <a:cs typeface="Arial"/>
              </a:defRPr>
            </a:pPr>
            <a:r>
              <a:rPr sz="1200" b="1" dirty="0" err="1">
                <a:solidFill>
                  <a:srgbClr val="475569"/>
                </a:solidFill>
                <a:latin typeface="Arial"/>
                <a:ea typeface="Arial"/>
                <a:cs typeface="Arial"/>
              </a:rPr>
              <a:t>vLLM</a:t>
            </a:r>
            <a:endParaRPr sz="1200" b="1" dirty="0">
              <a:solidFill>
                <a:srgbClr val="475569"/>
              </a:solidFill>
              <a:latin typeface="Arial"/>
              <a:ea typeface="Arial"/>
              <a:cs typeface="Arial"/>
            </a:endParaRPr>
          </a:p>
        </p:txBody>
      </p:sp>
      <p:sp>
        <p:nvSpPr>
          <p:cNvPr id="107" name="runtime-capabilities-1-box">
            <a:extLst>
              <a:ext uri="{FF2B5EF4-FFF2-40B4-BE49-F238E27FC236}">
                <a16:creationId xmlns:a16="http://schemas.microsoft.com/office/drawing/2014/main" id="{1B5EEE5A-CE88-FD07-0F39-5C91565950A2}"/>
              </a:ext>
            </a:extLst>
          </p:cNvPr>
          <p:cNvSpPr>
            <a:spLocks noGrp="1"/>
          </p:cNvSpPr>
          <p:nvPr/>
        </p:nvSpPr>
        <p:spPr>
          <a:xfrm>
            <a:off x="167640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Continuous Batching</a:t>
            </a:r>
          </a:p>
        </p:txBody>
      </p:sp>
      <p:sp>
        <p:nvSpPr>
          <p:cNvPr id="108" name="runtime-capabilities-2-box">
            <a:extLst>
              <a:ext uri="{FF2B5EF4-FFF2-40B4-BE49-F238E27FC236}">
                <a16:creationId xmlns:a16="http://schemas.microsoft.com/office/drawing/2014/main" id="{8231CD6F-71C3-8B76-1B47-9F0F0DC17A8F}"/>
              </a:ext>
            </a:extLst>
          </p:cNvPr>
          <p:cNvSpPr>
            <a:spLocks noGrp="1"/>
          </p:cNvSpPr>
          <p:nvPr/>
        </p:nvSpPr>
        <p:spPr>
          <a:xfrm>
            <a:off x="256698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Paged Attention</a:t>
            </a:r>
          </a:p>
        </p:txBody>
      </p:sp>
      <p:sp>
        <p:nvSpPr>
          <p:cNvPr id="109" name="runtime-capabilities-3-box">
            <a:extLst>
              <a:ext uri="{FF2B5EF4-FFF2-40B4-BE49-F238E27FC236}">
                <a16:creationId xmlns:a16="http://schemas.microsoft.com/office/drawing/2014/main" id="{0D66DF2C-42DA-189C-E7EA-7816A229F0E3}"/>
              </a:ext>
            </a:extLst>
          </p:cNvPr>
          <p:cNvSpPr>
            <a:spLocks noGrp="1"/>
          </p:cNvSpPr>
          <p:nvPr/>
        </p:nvSpPr>
        <p:spPr>
          <a:xfrm>
            <a:off x="3457576"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Speculative Decoding</a:t>
            </a:r>
          </a:p>
        </p:txBody>
      </p:sp>
      <p:sp>
        <p:nvSpPr>
          <p:cNvPr id="110" name="runtime-capabilities-4-box">
            <a:extLst>
              <a:ext uri="{FF2B5EF4-FFF2-40B4-BE49-F238E27FC236}">
                <a16:creationId xmlns:a16="http://schemas.microsoft.com/office/drawing/2014/main" id="{30C600C0-E27C-C2C8-5F01-5F570FB8A7E4}"/>
              </a:ext>
            </a:extLst>
          </p:cNvPr>
          <p:cNvSpPr>
            <a:spLocks noGrp="1"/>
          </p:cNvSpPr>
          <p:nvPr/>
        </p:nvSpPr>
        <p:spPr>
          <a:xfrm>
            <a:off x="4348164"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Multi-LoRA</a:t>
            </a:r>
          </a:p>
        </p:txBody>
      </p:sp>
      <p:sp>
        <p:nvSpPr>
          <p:cNvPr id="111" name="runtime-capabilities-5-box">
            <a:extLst>
              <a:ext uri="{FF2B5EF4-FFF2-40B4-BE49-F238E27FC236}">
                <a16:creationId xmlns:a16="http://schemas.microsoft.com/office/drawing/2014/main" id="{BF57638F-BE9A-670B-FBAF-FD8B9860ED44}"/>
              </a:ext>
            </a:extLst>
          </p:cNvPr>
          <p:cNvSpPr>
            <a:spLocks noGrp="1"/>
          </p:cNvSpPr>
          <p:nvPr/>
        </p:nvSpPr>
        <p:spPr>
          <a:xfrm>
            <a:off x="523875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Prefix Cache</a:t>
            </a:r>
          </a:p>
        </p:txBody>
      </p:sp>
      <p:sp>
        <p:nvSpPr>
          <p:cNvPr id="112" name="runtime-capabilities-6-box">
            <a:extLst>
              <a:ext uri="{FF2B5EF4-FFF2-40B4-BE49-F238E27FC236}">
                <a16:creationId xmlns:a16="http://schemas.microsoft.com/office/drawing/2014/main" id="{79144BC9-1D6E-9DDF-CC7A-1C253E4EA11F}"/>
              </a:ext>
            </a:extLst>
          </p:cNvPr>
          <p:cNvSpPr>
            <a:spLocks noGrp="1"/>
          </p:cNvSpPr>
          <p:nvPr/>
        </p:nvSpPr>
        <p:spPr>
          <a:xfrm>
            <a:off x="612933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a:t>
            </a:r>
          </a:p>
        </p:txBody>
      </p:sp>
      <p:sp>
        <p:nvSpPr>
          <p:cNvPr id="113" name="kv-frame">
            <a:extLst>
              <a:ext uri="{FF2B5EF4-FFF2-40B4-BE49-F238E27FC236}">
                <a16:creationId xmlns:a16="http://schemas.microsoft.com/office/drawing/2014/main" id="{2AEC3F3C-C0AE-2DCE-C52A-5FD994AE1283}"/>
              </a:ext>
            </a:extLst>
          </p:cNvPr>
          <p:cNvSpPr>
            <a:spLocks noGrp="1"/>
          </p:cNvSpPr>
          <p:nvPr/>
        </p:nvSpPr>
        <p:spPr>
          <a:xfrm>
            <a:off x="990601" y="2995794"/>
            <a:ext cx="6076950" cy="657225"/>
          </a:xfrm>
          <a:prstGeom prst="roundRect">
            <a:avLst>
              <a:gd name="adj" fmla="val 5797"/>
            </a:avLst>
          </a:prstGeom>
          <a:solidFill>
            <a:srgbClr val="FFFFFF"/>
          </a:solidFill>
          <a:ln w="9525">
            <a:solidFill>
              <a:srgbClr val="CFE3C7"/>
            </a:solidFill>
            <a:prstDash val="solid"/>
          </a:ln>
        </p:spPr>
        <p:txBody>
          <a:bodyPr/>
          <a:lstStyle/>
          <a:p>
            <a:endParaRPr lang="zh-CN" altLang="en-US" sz="1600"/>
          </a:p>
        </p:txBody>
      </p:sp>
      <p:sp>
        <p:nvSpPr>
          <p:cNvPr id="114" name="kv-title">
            <a:extLst>
              <a:ext uri="{FF2B5EF4-FFF2-40B4-BE49-F238E27FC236}">
                <a16:creationId xmlns:a16="http://schemas.microsoft.com/office/drawing/2014/main" id="{47181DCF-CFDD-7158-04D6-90A5F078E914}"/>
              </a:ext>
            </a:extLst>
          </p:cNvPr>
          <p:cNvSpPr>
            <a:spLocks noGrp="1"/>
          </p:cNvSpPr>
          <p:nvPr/>
        </p:nvSpPr>
        <p:spPr>
          <a:xfrm>
            <a:off x="1047751" y="3014844"/>
            <a:ext cx="5962650" cy="123825"/>
          </a:xfrm>
          <a:prstGeom prst="rect">
            <a:avLst/>
          </a:prstGeom>
          <a:noFill/>
          <a:ln w="0">
            <a:noFill/>
            <a:prstDash val="solid"/>
          </a:ln>
        </p:spPr>
        <p:txBody>
          <a:bodyPr wrap="square" lIns="19050" tIns="9525" rIns="19050" bIns="9525" anchor="ctr">
            <a:noAutofit/>
          </a:bodyPr>
          <a:lstStyle/>
          <a:p>
            <a:pPr algn="ctr">
              <a:defRPr sz="653" b="1">
                <a:solidFill>
                  <a:srgbClr val="2F8B45"/>
                </a:solidFill>
                <a:latin typeface="Arial"/>
                <a:ea typeface="Arial"/>
                <a:cs typeface="Arial"/>
              </a:defRPr>
            </a:pPr>
            <a:r>
              <a:rPr sz="800" b="1" dirty="0">
                <a:solidFill>
                  <a:srgbClr val="2F8B45"/>
                </a:solidFill>
                <a:latin typeface="Arial"/>
                <a:ea typeface="Arial"/>
                <a:cs typeface="Arial"/>
              </a:rPr>
              <a:t>KV-Cache Offload &amp; Management Layer  (</a:t>
            </a:r>
            <a:r>
              <a:rPr lang="en-US" sz="800" b="1" dirty="0" err="1">
                <a:solidFill>
                  <a:srgbClr val="2F8B45"/>
                </a:solidFill>
                <a:latin typeface="Arial"/>
                <a:ea typeface="Arial"/>
                <a:cs typeface="Arial"/>
              </a:rPr>
              <a:t>LMCache</a:t>
            </a:r>
            <a:r>
              <a:rPr lang="en-US" sz="800" b="1" dirty="0">
                <a:solidFill>
                  <a:srgbClr val="2F8B45"/>
                </a:solidFill>
                <a:latin typeface="Arial"/>
                <a:ea typeface="Arial"/>
                <a:cs typeface="Arial"/>
              </a:rPr>
              <a:t>, KVBM</a:t>
            </a:r>
            <a:r>
              <a:rPr lang="en-US" sz="800" b="1" dirty="0">
                <a:solidFill>
                  <a:srgbClr val="2F8B45"/>
                </a:solidFill>
              </a:rPr>
              <a:t>, </a:t>
            </a:r>
            <a:r>
              <a:rPr lang="en-US" sz="800" b="1" dirty="0">
                <a:solidFill>
                  <a:srgbClr val="2F8B45"/>
                </a:solidFill>
                <a:latin typeface="Arial"/>
                <a:ea typeface="Arial"/>
                <a:cs typeface="Arial"/>
              </a:rPr>
              <a:t>Mooncake</a:t>
            </a:r>
            <a:r>
              <a:rPr sz="800" b="1" dirty="0">
                <a:solidFill>
                  <a:srgbClr val="2F8B45"/>
                </a:solidFill>
                <a:latin typeface="Arial"/>
                <a:ea typeface="Arial"/>
                <a:cs typeface="Arial"/>
              </a:rPr>
              <a:t>)</a:t>
            </a:r>
          </a:p>
        </p:txBody>
      </p:sp>
      <p:sp>
        <p:nvSpPr>
          <p:cNvPr id="115" name="kv-col-1">
            <a:extLst>
              <a:ext uri="{FF2B5EF4-FFF2-40B4-BE49-F238E27FC236}">
                <a16:creationId xmlns:a16="http://schemas.microsoft.com/office/drawing/2014/main" id="{EA1F52F3-EE9D-BB92-FE97-4D6B1DFAA101}"/>
              </a:ext>
            </a:extLst>
          </p:cNvPr>
          <p:cNvSpPr>
            <a:spLocks noGrp="1"/>
          </p:cNvSpPr>
          <p:nvPr/>
        </p:nvSpPr>
        <p:spPr>
          <a:xfrm>
            <a:off x="10477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6" name="kv-col-1-title">
            <a:extLst>
              <a:ext uri="{FF2B5EF4-FFF2-40B4-BE49-F238E27FC236}">
                <a16:creationId xmlns:a16="http://schemas.microsoft.com/office/drawing/2014/main" id="{BE4C0944-2FC8-C97E-1732-615921EF4C8D}"/>
              </a:ext>
            </a:extLst>
          </p:cNvPr>
          <p:cNvSpPr>
            <a:spLocks noGrp="1"/>
          </p:cNvSpPr>
          <p:nvPr/>
        </p:nvSpPr>
        <p:spPr>
          <a:xfrm>
            <a:off x="10668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KV Cache Management</a:t>
            </a:r>
          </a:p>
        </p:txBody>
      </p:sp>
      <p:sp>
        <p:nvSpPr>
          <p:cNvPr id="117" name="kv-col-1-body">
            <a:extLst>
              <a:ext uri="{FF2B5EF4-FFF2-40B4-BE49-F238E27FC236}">
                <a16:creationId xmlns:a16="http://schemas.microsoft.com/office/drawing/2014/main" id="{BC40F0CE-8360-1C41-8532-6F898F7566E3}"/>
              </a:ext>
            </a:extLst>
          </p:cNvPr>
          <p:cNvSpPr>
            <a:spLocks noGrp="1"/>
          </p:cNvSpPr>
          <p:nvPr/>
        </p:nvSpPr>
        <p:spPr>
          <a:xfrm>
            <a:off x="10763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KVBM</a:t>
            </a:r>
          </a:p>
          <a:p>
            <a:pPr algn="ctr">
              <a:defRPr sz="397" b="0">
                <a:solidFill>
                  <a:srgbClr val="102031"/>
                </a:solidFill>
                <a:latin typeface="Arial"/>
                <a:ea typeface="Arial"/>
                <a:cs typeface="Arial"/>
              </a:defRPr>
            </a:pPr>
            <a:r>
              <a:rPr sz="500" b="0">
                <a:solidFill>
                  <a:srgbClr val="102031"/>
                </a:solidFill>
                <a:latin typeface="Arial"/>
                <a:ea typeface="Arial"/>
                <a:cs typeface="Arial"/>
              </a:rPr>
              <a:t>LMCache</a:t>
            </a:r>
          </a:p>
          <a:p>
            <a:pPr algn="ctr">
              <a:defRPr sz="397" b="0">
                <a:solidFill>
                  <a:srgbClr val="102031"/>
                </a:solidFill>
                <a:latin typeface="Arial"/>
                <a:ea typeface="Arial"/>
                <a:cs typeface="Arial"/>
              </a:defRPr>
            </a:pPr>
            <a:r>
              <a:rPr sz="500" b="0">
                <a:solidFill>
                  <a:srgbClr val="102031"/>
                </a:solidFill>
                <a:latin typeface="Arial"/>
                <a:ea typeface="Arial"/>
                <a:cs typeface="Arial"/>
              </a:rPr>
              <a:t>Mooncake</a:t>
            </a:r>
          </a:p>
          <a:p>
            <a:pPr algn="ctr">
              <a:defRPr sz="397" b="0">
                <a:solidFill>
                  <a:srgbClr val="102031"/>
                </a:solidFill>
                <a:latin typeface="Arial"/>
                <a:ea typeface="Arial"/>
                <a:cs typeface="Arial"/>
              </a:defRPr>
            </a:pPr>
            <a:r>
              <a:rPr sz="500" b="0">
                <a:solidFill>
                  <a:srgbClr val="102031"/>
                </a:solidFill>
                <a:latin typeface="Arial"/>
                <a:ea typeface="Arial"/>
                <a:cs typeface="Arial"/>
              </a:rPr>
              <a:t>…</a:t>
            </a:r>
          </a:p>
        </p:txBody>
      </p:sp>
      <p:sp>
        <p:nvSpPr>
          <p:cNvPr id="118" name="kv-col-2">
            <a:extLst>
              <a:ext uri="{FF2B5EF4-FFF2-40B4-BE49-F238E27FC236}">
                <a16:creationId xmlns:a16="http://schemas.microsoft.com/office/drawing/2014/main" id="{5D38B01C-3D48-22EC-122E-E7DDB21B7DA1}"/>
              </a:ext>
            </a:extLst>
          </p:cNvPr>
          <p:cNvSpPr>
            <a:spLocks noGrp="1"/>
          </p:cNvSpPr>
          <p:nvPr/>
        </p:nvSpPr>
        <p:spPr>
          <a:xfrm>
            <a:off x="22479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9" name="kv-col-2-title">
            <a:extLst>
              <a:ext uri="{FF2B5EF4-FFF2-40B4-BE49-F238E27FC236}">
                <a16:creationId xmlns:a16="http://schemas.microsoft.com/office/drawing/2014/main" id="{223D98C9-3BE5-99F9-577E-D11575812298}"/>
              </a:ext>
            </a:extLst>
          </p:cNvPr>
          <p:cNvSpPr>
            <a:spLocks noGrp="1"/>
          </p:cNvSpPr>
          <p:nvPr/>
        </p:nvSpPr>
        <p:spPr>
          <a:xfrm>
            <a:off x="22669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Abstraction (NIXL)</a:t>
            </a:r>
          </a:p>
        </p:txBody>
      </p:sp>
      <p:sp>
        <p:nvSpPr>
          <p:cNvPr id="120" name="kv-col-2-body">
            <a:extLst>
              <a:ext uri="{FF2B5EF4-FFF2-40B4-BE49-F238E27FC236}">
                <a16:creationId xmlns:a16="http://schemas.microsoft.com/office/drawing/2014/main" id="{5A7AAD5E-D4A8-3867-7636-7C37C780A8CC}"/>
              </a:ext>
            </a:extLst>
          </p:cNvPr>
          <p:cNvSpPr>
            <a:spLocks noGrp="1"/>
          </p:cNvSpPr>
          <p:nvPr/>
        </p:nvSpPr>
        <p:spPr>
          <a:xfrm>
            <a:off x="227647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Unified Interface</a:t>
            </a:r>
          </a:p>
          <a:p>
            <a:pPr algn="ctr">
              <a:defRPr sz="397" b="0">
                <a:solidFill>
                  <a:srgbClr val="102031"/>
                </a:solidFill>
                <a:latin typeface="Arial"/>
                <a:ea typeface="Arial"/>
                <a:cs typeface="Arial"/>
              </a:defRPr>
            </a:pPr>
            <a:r>
              <a:rPr sz="500" b="0">
                <a:solidFill>
                  <a:srgbClr val="102031"/>
                </a:solidFill>
                <a:latin typeface="Arial"/>
                <a:ea typeface="Arial"/>
                <a:cs typeface="Arial"/>
              </a:rPr>
              <a:t>Tiered Storage Mgmt.</a:t>
            </a:r>
          </a:p>
          <a:p>
            <a:pPr algn="ctr">
              <a:defRPr sz="397" b="0">
                <a:solidFill>
                  <a:srgbClr val="102031"/>
                </a:solidFill>
                <a:latin typeface="Arial"/>
                <a:ea typeface="Arial"/>
                <a:cs typeface="Arial"/>
              </a:defRPr>
            </a:pPr>
            <a:r>
              <a:rPr sz="500" b="0">
                <a:solidFill>
                  <a:srgbClr val="102031"/>
                </a:solidFill>
                <a:latin typeface="Arial"/>
                <a:ea typeface="Arial"/>
                <a:cs typeface="Arial"/>
              </a:rPr>
              <a:t>Cache Policy</a:t>
            </a:r>
          </a:p>
          <a:p>
            <a:pPr algn="ctr">
              <a:defRPr sz="397" b="0">
                <a:solidFill>
                  <a:srgbClr val="102031"/>
                </a:solidFill>
                <a:latin typeface="Arial"/>
                <a:ea typeface="Arial"/>
                <a:cs typeface="Arial"/>
              </a:defRPr>
            </a:pPr>
            <a:r>
              <a:rPr sz="500" b="0">
                <a:solidFill>
                  <a:srgbClr val="102031"/>
                </a:solidFill>
                <a:latin typeface="Arial"/>
                <a:ea typeface="Arial"/>
                <a:cs typeface="Arial"/>
              </a:rPr>
              <a:t>Data Consistency</a:t>
            </a:r>
          </a:p>
        </p:txBody>
      </p:sp>
      <p:sp>
        <p:nvSpPr>
          <p:cNvPr id="121" name="kv-col-3">
            <a:extLst>
              <a:ext uri="{FF2B5EF4-FFF2-40B4-BE49-F238E27FC236}">
                <a16:creationId xmlns:a16="http://schemas.microsoft.com/office/drawing/2014/main" id="{03E3C4CC-A53E-7325-CD9B-FFCEB733698E}"/>
              </a:ext>
            </a:extLst>
          </p:cNvPr>
          <p:cNvSpPr>
            <a:spLocks noGrp="1"/>
          </p:cNvSpPr>
          <p:nvPr/>
        </p:nvSpPr>
        <p:spPr>
          <a:xfrm>
            <a:off x="34480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2" name="kv-col-3-title">
            <a:extLst>
              <a:ext uri="{FF2B5EF4-FFF2-40B4-BE49-F238E27FC236}">
                <a16:creationId xmlns:a16="http://schemas.microsoft.com/office/drawing/2014/main" id="{CB1131DB-E96F-8364-712C-33FD2CFD269A}"/>
              </a:ext>
            </a:extLst>
          </p:cNvPr>
          <p:cNvSpPr>
            <a:spLocks noGrp="1"/>
          </p:cNvSpPr>
          <p:nvPr/>
        </p:nvSpPr>
        <p:spPr>
          <a:xfrm>
            <a:off x="34671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Distributed Memory KV Transport</a:t>
            </a:r>
          </a:p>
        </p:txBody>
      </p:sp>
      <p:sp>
        <p:nvSpPr>
          <p:cNvPr id="123" name="kv-col-3-body">
            <a:extLst>
              <a:ext uri="{FF2B5EF4-FFF2-40B4-BE49-F238E27FC236}">
                <a16:creationId xmlns:a16="http://schemas.microsoft.com/office/drawing/2014/main" id="{8B80068E-4C4C-3A0E-5B67-3C766C4AFE41}"/>
              </a:ext>
            </a:extLst>
          </p:cNvPr>
          <p:cNvSpPr>
            <a:spLocks noGrp="1"/>
          </p:cNvSpPr>
          <p:nvPr/>
        </p:nvSpPr>
        <p:spPr>
          <a:xfrm>
            <a:off x="34766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dirty="0" err="1">
                <a:solidFill>
                  <a:srgbClr val="102031"/>
                </a:solidFill>
                <a:latin typeface="Arial"/>
                <a:ea typeface="Arial"/>
                <a:cs typeface="Arial"/>
              </a:rPr>
              <a:t>Redhare</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(Distributed Memory KV Transport)</a:t>
            </a:r>
          </a:p>
          <a:p>
            <a:pPr algn="ctr">
              <a:defRPr sz="397" b="0">
                <a:solidFill>
                  <a:srgbClr val="102031"/>
                </a:solidFill>
                <a:latin typeface="Arial"/>
                <a:ea typeface="Arial"/>
                <a:cs typeface="Arial"/>
              </a:defRPr>
            </a:pPr>
            <a:r>
              <a:rPr sz="500" b="0" dirty="0" err="1">
                <a:solidFill>
                  <a:srgbClr val="102031"/>
                </a:solidFill>
                <a:latin typeface="Arial"/>
                <a:ea typeface="Arial"/>
                <a:cs typeface="Arial"/>
              </a:rPr>
              <a:t>ContextStor</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(Large Context Storage)</a:t>
            </a:r>
          </a:p>
        </p:txBody>
      </p:sp>
      <p:sp>
        <p:nvSpPr>
          <p:cNvPr id="124" name="kv-col-4">
            <a:extLst>
              <a:ext uri="{FF2B5EF4-FFF2-40B4-BE49-F238E27FC236}">
                <a16:creationId xmlns:a16="http://schemas.microsoft.com/office/drawing/2014/main" id="{C0067503-6750-50A1-6C54-7120A8D8D9AD}"/>
              </a:ext>
            </a:extLst>
          </p:cNvPr>
          <p:cNvSpPr>
            <a:spLocks noGrp="1"/>
          </p:cNvSpPr>
          <p:nvPr/>
        </p:nvSpPr>
        <p:spPr>
          <a:xfrm>
            <a:off x="46482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5" name="kv-col-4-title">
            <a:extLst>
              <a:ext uri="{FF2B5EF4-FFF2-40B4-BE49-F238E27FC236}">
                <a16:creationId xmlns:a16="http://schemas.microsoft.com/office/drawing/2014/main" id="{B9D81905-06C0-BAB5-C490-190A118C5448}"/>
              </a:ext>
            </a:extLst>
          </p:cNvPr>
          <p:cNvSpPr>
            <a:spLocks noGrp="1"/>
          </p:cNvSpPr>
          <p:nvPr/>
        </p:nvSpPr>
        <p:spPr>
          <a:xfrm>
            <a:off x="46672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Backend</a:t>
            </a:r>
          </a:p>
        </p:txBody>
      </p:sp>
      <p:sp>
        <p:nvSpPr>
          <p:cNvPr id="126" name="kv-col-4-body">
            <a:extLst>
              <a:ext uri="{FF2B5EF4-FFF2-40B4-BE49-F238E27FC236}">
                <a16:creationId xmlns:a16="http://schemas.microsoft.com/office/drawing/2014/main" id="{45628B75-DA1D-EE1F-A039-FB875A2BA173}"/>
              </a:ext>
            </a:extLst>
          </p:cNvPr>
          <p:cNvSpPr>
            <a:spLocks noGrp="1"/>
          </p:cNvSpPr>
          <p:nvPr/>
        </p:nvSpPr>
        <p:spPr>
          <a:xfrm>
            <a:off x="467677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Object / File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High-performance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Cloud / On-prem Storage</a:t>
            </a:r>
          </a:p>
        </p:txBody>
      </p:sp>
      <p:sp>
        <p:nvSpPr>
          <p:cNvPr id="127" name="kv-col-5">
            <a:extLst>
              <a:ext uri="{FF2B5EF4-FFF2-40B4-BE49-F238E27FC236}">
                <a16:creationId xmlns:a16="http://schemas.microsoft.com/office/drawing/2014/main" id="{1EE7A009-20AF-7E11-FF5A-4EE1664C9665}"/>
              </a:ext>
            </a:extLst>
          </p:cNvPr>
          <p:cNvSpPr>
            <a:spLocks noGrp="1"/>
          </p:cNvSpPr>
          <p:nvPr/>
        </p:nvSpPr>
        <p:spPr>
          <a:xfrm>
            <a:off x="58483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8" name="kv-col-5-title">
            <a:extLst>
              <a:ext uri="{FF2B5EF4-FFF2-40B4-BE49-F238E27FC236}">
                <a16:creationId xmlns:a16="http://schemas.microsoft.com/office/drawing/2014/main" id="{6B4B0ECF-0BE7-F0E1-DE94-AFEEA2DDB242}"/>
              </a:ext>
            </a:extLst>
          </p:cNvPr>
          <p:cNvSpPr>
            <a:spLocks noGrp="1"/>
          </p:cNvSpPr>
          <p:nvPr/>
        </p:nvSpPr>
        <p:spPr>
          <a:xfrm>
            <a:off x="58674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DPU Storage Gateway</a:t>
            </a:r>
          </a:p>
        </p:txBody>
      </p:sp>
      <p:sp>
        <p:nvSpPr>
          <p:cNvPr id="129" name="kv-col-5-body">
            <a:extLst>
              <a:ext uri="{FF2B5EF4-FFF2-40B4-BE49-F238E27FC236}">
                <a16:creationId xmlns:a16="http://schemas.microsoft.com/office/drawing/2014/main" id="{C779D286-49EA-452F-945C-071D5E11C130}"/>
              </a:ext>
            </a:extLst>
          </p:cNvPr>
          <p:cNvSpPr>
            <a:spLocks noGrp="1"/>
          </p:cNvSpPr>
          <p:nvPr/>
        </p:nvSpPr>
        <p:spPr>
          <a:xfrm>
            <a:off x="587692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DPU Acceleration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Protocol Offload · Data Optimization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Security Isolation · High Performance</a:t>
            </a:r>
          </a:p>
        </p:txBody>
      </p:sp>
      <p:sp>
        <p:nvSpPr>
          <p:cNvPr id="130" name="maas-surface">
            <a:extLst>
              <a:ext uri="{FF2B5EF4-FFF2-40B4-BE49-F238E27FC236}">
                <a16:creationId xmlns:a16="http://schemas.microsoft.com/office/drawing/2014/main" id="{4ADEFAD5-77C8-137A-8AD9-1C31AC61F5EE}"/>
              </a:ext>
            </a:extLst>
          </p:cNvPr>
          <p:cNvSpPr>
            <a:spLocks noGrp="1"/>
          </p:cNvSpPr>
          <p:nvPr/>
        </p:nvSpPr>
        <p:spPr>
          <a:xfrm>
            <a:off x="7219950" y="1214618"/>
            <a:ext cx="1847849" cy="3609975"/>
          </a:xfrm>
          <a:prstGeom prst="roundRect">
            <a:avLst>
              <a:gd name="adj" fmla="val 2577"/>
            </a:avLst>
          </a:prstGeom>
          <a:solidFill>
            <a:srgbClr val="F9FCF7"/>
          </a:solidFill>
          <a:ln w="9525">
            <a:solidFill>
              <a:srgbClr val="CFE3C7"/>
            </a:solidFill>
            <a:prstDash val="solid"/>
          </a:ln>
        </p:spPr>
        <p:txBody>
          <a:bodyPr/>
          <a:lstStyle/>
          <a:p>
            <a:endParaRPr lang="zh-CN" altLang="en-US" sz="1600"/>
          </a:p>
        </p:txBody>
      </p:sp>
      <p:sp>
        <p:nvSpPr>
          <p:cNvPr id="131" name="maas-title">
            <a:extLst>
              <a:ext uri="{FF2B5EF4-FFF2-40B4-BE49-F238E27FC236}">
                <a16:creationId xmlns:a16="http://schemas.microsoft.com/office/drawing/2014/main" id="{3D8EA3ED-CB2E-8143-2480-4035C5254D03}"/>
              </a:ext>
            </a:extLst>
          </p:cNvPr>
          <p:cNvSpPr>
            <a:spLocks noGrp="1"/>
          </p:cNvSpPr>
          <p:nvPr/>
        </p:nvSpPr>
        <p:spPr>
          <a:xfrm>
            <a:off x="7277100" y="1241606"/>
            <a:ext cx="1733550" cy="142875"/>
          </a:xfrm>
          <a:prstGeom prst="rect">
            <a:avLst/>
          </a:prstGeom>
          <a:noFill/>
          <a:ln w="0">
            <a:noFill/>
            <a:prstDash val="solid"/>
          </a:ln>
        </p:spPr>
        <p:txBody>
          <a:bodyPr wrap="square" lIns="19050" tIns="9525" rIns="19050" bIns="9525" anchor="ctr">
            <a:normAutofit/>
          </a:bodyPr>
          <a:lstStyle/>
          <a:p>
            <a:pPr algn="ctr">
              <a:defRPr sz="638" b="1">
                <a:solidFill>
                  <a:srgbClr val="2F8B45"/>
                </a:solidFill>
                <a:latin typeface="Arial"/>
                <a:ea typeface="Arial"/>
                <a:cs typeface="Arial"/>
              </a:defRPr>
            </a:pPr>
            <a:r>
              <a:rPr sz="700" b="1">
                <a:solidFill>
                  <a:srgbClr val="2F8B45"/>
                </a:solidFill>
                <a:latin typeface="Arial"/>
                <a:ea typeface="Arial"/>
                <a:cs typeface="Arial"/>
              </a:rPr>
              <a:t>MaaS Operations  (Token as a Service)</a:t>
            </a:r>
          </a:p>
        </p:txBody>
      </p:sp>
      <p:sp>
        <p:nvSpPr>
          <p:cNvPr id="132" name="gateway-security-frame">
            <a:extLst>
              <a:ext uri="{FF2B5EF4-FFF2-40B4-BE49-F238E27FC236}">
                <a16:creationId xmlns:a16="http://schemas.microsoft.com/office/drawing/2014/main" id="{7D679BF6-1FB5-8E05-B8C8-975BEA84951C}"/>
              </a:ext>
            </a:extLst>
          </p:cNvPr>
          <p:cNvSpPr>
            <a:spLocks noGrp="1"/>
          </p:cNvSpPr>
          <p:nvPr/>
        </p:nvSpPr>
        <p:spPr>
          <a:xfrm>
            <a:off x="7277100" y="1432106"/>
            <a:ext cx="1733550" cy="742950"/>
          </a:xfrm>
          <a:prstGeom prst="roundRect">
            <a:avLst>
              <a:gd name="adj" fmla="val 3846"/>
            </a:avLst>
          </a:prstGeom>
          <a:solidFill>
            <a:srgbClr val="FFFFFF"/>
          </a:solidFill>
          <a:ln w="9525">
            <a:solidFill>
              <a:srgbClr val="D5E8CD"/>
            </a:solidFill>
            <a:prstDash val="solid"/>
          </a:ln>
        </p:spPr>
        <p:txBody>
          <a:bodyPr/>
          <a:lstStyle/>
          <a:p>
            <a:endParaRPr lang="zh-CN" altLang="en-US" sz="1600"/>
          </a:p>
        </p:txBody>
      </p:sp>
      <p:sp>
        <p:nvSpPr>
          <p:cNvPr id="133" name="gateway-security-title">
            <a:extLst>
              <a:ext uri="{FF2B5EF4-FFF2-40B4-BE49-F238E27FC236}">
                <a16:creationId xmlns:a16="http://schemas.microsoft.com/office/drawing/2014/main" id="{8E03BDBC-917F-0366-F0BB-964AD34605A1}"/>
              </a:ext>
            </a:extLst>
          </p:cNvPr>
          <p:cNvSpPr>
            <a:spLocks noGrp="1"/>
          </p:cNvSpPr>
          <p:nvPr/>
        </p:nvSpPr>
        <p:spPr>
          <a:xfrm>
            <a:off x="7334250" y="1460681"/>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Gateway &amp; Security</a:t>
            </a:r>
          </a:p>
        </p:txBody>
      </p:sp>
      <p:sp>
        <p:nvSpPr>
          <p:cNvPr id="134" name="gateway-security-item-1">
            <a:extLst>
              <a:ext uri="{FF2B5EF4-FFF2-40B4-BE49-F238E27FC236}">
                <a16:creationId xmlns:a16="http://schemas.microsoft.com/office/drawing/2014/main" id="{BEBEB976-1737-6FBF-ACE0-D80AA4F94515}"/>
              </a:ext>
            </a:extLst>
          </p:cNvPr>
          <p:cNvSpPr>
            <a:spLocks noGrp="1"/>
          </p:cNvSpPr>
          <p:nvPr/>
        </p:nvSpPr>
        <p:spPr>
          <a:xfrm>
            <a:off x="7343775" y="1594031"/>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Unified API Gateway (OpenAI Compatible)</a:t>
            </a:r>
          </a:p>
        </p:txBody>
      </p:sp>
      <p:sp>
        <p:nvSpPr>
          <p:cNvPr id="135" name="gateway-security-item-2">
            <a:extLst>
              <a:ext uri="{FF2B5EF4-FFF2-40B4-BE49-F238E27FC236}">
                <a16:creationId xmlns:a16="http://schemas.microsoft.com/office/drawing/2014/main" id="{495EACE3-B22B-FDDB-2727-3CD3490863E2}"/>
              </a:ext>
            </a:extLst>
          </p:cNvPr>
          <p:cNvSpPr>
            <a:spLocks noGrp="1"/>
          </p:cNvSpPr>
          <p:nvPr/>
        </p:nvSpPr>
        <p:spPr>
          <a:xfrm>
            <a:off x="7343775" y="1732144"/>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Safety &amp; Content Filtering</a:t>
            </a:r>
          </a:p>
        </p:txBody>
      </p:sp>
      <p:sp>
        <p:nvSpPr>
          <p:cNvPr id="136" name="gateway-security-item-3">
            <a:extLst>
              <a:ext uri="{FF2B5EF4-FFF2-40B4-BE49-F238E27FC236}">
                <a16:creationId xmlns:a16="http://schemas.microsoft.com/office/drawing/2014/main" id="{4B64571A-7B6F-6C57-1E24-4F142205428B}"/>
              </a:ext>
            </a:extLst>
          </p:cNvPr>
          <p:cNvSpPr>
            <a:spLocks noGrp="1"/>
          </p:cNvSpPr>
          <p:nvPr/>
        </p:nvSpPr>
        <p:spPr>
          <a:xfrm>
            <a:off x="7343775" y="1870256"/>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Rate Limiting &amp; Access Control</a:t>
            </a:r>
          </a:p>
        </p:txBody>
      </p:sp>
      <p:sp>
        <p:nvSpPr>
          <p:cNvPr id="137" name="gateway-security-item-4">
            <a:extLst>
              <a:ext uri="{FF2B5EF4-FFF2-40B4-BE49-F238E27FC236}">
                <a16:creationId xmlns:a16="http://schemas.microsoft.com/office/drawing/2014/main" id="{E1D3FFD9-545B-9825-E750-EECE096478E1}"/>
              </a:ext>
            </a:extLst>
          </p:cNvPr>
          <p:cNvSpPr>
            <a:spLocks noGrp="1"/>
          </p:cNvSpPr>
          <p:nvPr/>
        </p:nvSpPr>
        <p:spPr>
          <a:xfrm>
            <a:off x="7343775" y="2008369"/>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WAF / DDoS / Shield</a:t>
            </a:r>
          </a:p>
        </p:txBody>
      </p:sp>
      <p:sp>
        <p:nvSpPr>
          <p:cNvPr id="138" name="metering-billing-frame">
            <a:extLst>
              <a:ext uri="{FF2B5EF4-FFF2-40B4-BE49-F238E27FC236}">
                <a16:creationId xmlns:a16="http://schemas.microsoft.com/office/drawing/2014/main" id="{EFA8CABD-F361-9692-B5E7-4056AA8F927D}"/>
              </a:ext>
            </a:extLst>
          </p:cNvPr>
          <p:cNvSpPr>
            <a:spLocks noGrp="1"/>
          </p:cNvSpPr>
          <p:nvPr/>
        </p:nvSpPr>
        <p:spPr>
          <a:xfrm>
            <a:off x="7277100" y="2222681"/>
            <a:ext cx="1733550" cy="581025"/>
          </a:xfrm>
          <a:prstGeom prst="roundRect">
            <a:avLst>
              <a:gd name="adj" fmla="val 4918"/>
            </a:avLst>
          </a:prstGeom>
          <a:solidFill>
            <a:srgbClr val="FFFFFF"/>
          </a:solidFill>
          <a:ln w="9525">
            <a:solidFill>
              <a:srgbClr val="D5E8CD"/>
            </a:solidFill>
            <a:prstDash val="solid"/>
          </a:ln>
        </p:spPr>
        <p:txBody>
          <a:bodyPr/>
          <a:lstStyle/>
          <a:p>
            <a:endParaRPr lang="zh-CN" altLang="en-US" sz="1600"/>
          </a:p>
        </p:txBody>
      </p:sp>
      <p:sp>
        <p:nvSpPr>
          <p:cNvPr id="139" name="metering-billing-title">
            <a:extLst>
              <a:ext uri="{FF2B5EF4-FFF2-40B4-BE49-F238E27FC236}">
                <a16:creationId xmlns:a16="http://schemas.microsoft.com/office/drawing/2014/main" id="{12D60C8D-4D23-D55D-0FB4-5B51EEB805F5}"/>
              </a:ext>
            </a:extLst>
          </p:cNvPr>
          <p:cNvSpPr>
            <a:spLocks noGrp="1"/>
          </p:cNvSpPr>
          <p:nvPr/>
        </p:nvSpPr>
        <p:spPr>
          <a:xfrm>
            <a:off x="7334250" y="2251256"/>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Metering &amp; Billing</a:t>
            </a:r>
          </a:p>
        </p:txBody>
      </p:sp>
      <p:sp>
        <p:nvSpPr>
          <p:cNvPr id="140" name="metering-billing-item-1">
            <a:extLst>
              <a:ext uri="{FF2B5EF4-FFF2-40B4-BE49-F238E27FC236}">
                <a16:creationId xmlns:a16="http://schemas.microsoft.com/office/drawing/2014/main" id="{85762D1B-6C9C-0EC2-6072-24EED45E2A60}"/>
              </a:ext>
            </a:extLst>
          </p:cNvPr>
          <p:cNvSpPr>
            <a:spLocks noGrp="1"/>
          </p:cNvSpPr>
          <p:nvPr/>
        </p:nvSpPr>
        <p:spPr>
          <a:xfrm>
            <a:off x="7343775" y="238460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Metering (Tokens / Requests)</a:t>
            </a:r>
          </a:p>
        </p:txBody>
      </p:sp>
      <p:sp>
        <p:nvSpPr>
          <p:cNvPr id="141" name="metering-billing-item-2">
            <a:extLst>
              <a:ext uri="{FF2B5EF4-FFF2-40B4-BE49-F238E27FC236}">
                <a16:creationId xmlns:a16="http://schemas.microsoft.com/office/drawing/2014/main" id="{774E5C02-91AC-A2ED-90FB-9380957F5859}"/>
              </a:ext>
            </a:extLst>
          </p:cNvPr>
          <p:cNvSpPr>
            <a:spLocks noGrp="1"/>
          </p:cNvSpPr>
          <p:nvPr/>
        </p:nvSpPr>
        <p:spPr>
          <a:xfrm>
            <a:off x="7343775" y="2514781"/>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Billing &amp; Invoicing</a:t>
            </a:r>
          </a:p>
        </p:txBody>
      </p:sp>
      <p:sp>
        <p:nvSpPr>
          <p:cNvPr id="142" name="metering-billing-item-3">
            <a:extLst>
              <a:ext uri="{FF2B5EF4-FFF2-40B4-BE49-F238E27FC236}">
                <a16:creationId xmlns:a16="http://schemas.microsoft.com/office/drawing/2014/main" id="{37550AC2-90D4-7118-2831-79CEEA622880}"/>
              </a:ext>
            </a:extLst>
          </p:cNvPr>
          <p:cNvSpPr>
            <a:spLocks noGrp="1"/>
          </p:cNvSpPr>
          <p:nvPr/>
        </p:nvSpPr>
        <p:spPr>
          <a:xfrm>
            <a:off x="7343775" y="264495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Analytics &amp; Reporting</a:t>
            </a:r>
          </a:p>
        </p:txBody>
      </p:sp>
      <p:sp>
        <p:nvSpPr>
          <p:cNvPr id="143" name="operations-management-frame">
            <a:extLst>
              <a:ext uri="{FF2B5EF4-FFF2-40B4-BE49-F238E27FC236}">
                <a16:creationId xmlns:a16="http://schemas.microsoft.com/office/drawing/2014/main" id="{85ABA155-6141-0BA4-40E4-5394247A1977}"/>
              </a:ext>
            </a:extLst>
          </p:cNvPr>
          <p:cNvSpPr>
            <a:spLocks noGrp="1"/>
          </p:cNvSpPr>
          <p:nvPr/>
        </p:nvSpPr>
        <p:spPr>
          <a:xfrm>
            <a:off x="7277100" y="2857557"/>
            <a:ext cx="1676400" cy="1252661"/>
          </a:xfrm>
          <a:prstGeom prst="roundRect">
            <a:avLst>
              <a:gd name="adj" fmla="val 2113"/>
            </a:avLst>
          </a:prstGeom>
          <a:solidFill>
            <a:srgbClr val="FFFFFF"/>
          </a:solidFill>
          <a:ln w="9525">
            <a:solidFill>
              <a:srgbClr val="D5E8CD"/>
            </a:solidFill>
            <a:prstDash val="solid"/>
          </a:ln>
        </p:spPr>
        <p:txBody>
          <a:bodyPr/>
          <a:lstStyle/>
          <a:p>
            <a:endParaRPr lang="zh-CN" altLang="en-US" sz="1600" dirty="0"/>
          </a:p>
        </p:txBody>
      </p:sp>
      <p:sp>
        <p:nvSpPr>
          <p:cNvPr id="144" name="operations-management-title">
            <a:extLst>
              <a:ext uri="{FF2B5EF4-FFF2-40B4-BE49-F238E27FC236}">
                <a16:creationId xmlns:a16="http://schemas.microsoft.com/office/drawing/2014/main" id="{0C82BDCC-AF92-2253-52DA-3C95CC167E7D}"/>
              </a:ext>
            </a:extLst>
          </p:cNvPr>
          <p:cNvSpPr>
            <a:spLocks noGrp="1"/>
          </p:cNvSpPr>
          <p:nvPr/>
        </p:nvSpPr>
        <p:spPr>
          <a:xfrm>
            <a:off x="7334250" y="2880310"/>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dirty="0">
                <a:solidFill>
                  <a:srgbClr val="2F8B45"/>
                </a:solidFill>
                <a:latin typeface="Arial"/>
                <a:ea typeface="Arial"/>
                <a:cs typeface="Arial"/>
              </a:rPr>
              <a:t>Operations Management</a:t>
            </a:r>
          </a:p>
        </p:txBody>
      </p:sp>
      <p:sp>
        <p:nvSpPr>
          <p:cNvPr id="145" name="operations-management-item-1">
            <a:extLst>
              <a:ext uri="{FF2B5EF4-FFF2-40B4-BE49-F238E27FC236}">
                <a16:creationId xmlns:a16="http://schemas.microsoft.com/office/drawing/2014/main" id="{BD21C4E8-3B90-58FD-406F-2274469F4A88}"/>
              </a:ext>
            </a:extLst>
          </p:cNvPr>
          <p:cNvSpPr>
            <a:spLocks noGrp="1"/>
          </p:cNvSpPr>
          <p:nvPr/>
        </p:nvSpPr>
        <p:spPr>
          <a:xfrm>
            <a:off x="7343775" y="3013014"/>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SKU &amp; Model Management</a:t>
            </a:r>
          </a:p>
        </p:txBody>
      </p:sp>
      <p:sp>
        <p:nvSpPr>
          <p:cNvPr id="146" name="operations-management-item-2">
            <a:extLst>
              <a:ext uri="{FF2B5EF4-FFF2-40B4-BE49-F238E27FC236}">
                <a16:creationId xmlns:a16="http://schemas.microsoft.com/office/drawing/2014/main" id="{4B6C752F-7B8C-587D-A084-724CE588E0F4}"/>
              </a:ext>
            </a:extLst>
          </p:cNvPr>
          <p:cNvSpPr>
            <a:spLocks noGrp="1"/>
          </p:cNvSpPr>
          <p:nvPr/>
        </p:nvSpPr>
        <p:spPr>
          <a:xfrm>
            <a:off x="7343775" y="3188005"/>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Pricing &amp; Policy Management</a:t>
            </a:r>
          </a:p>
        </p:txBody>
      </p:sp>
      <p:sp>
        <p:nvSpPr>
          <p:cNvPr id="147" name="operations-management-item-3">
            <a:extLst>
              <a:ext uri="{FF2B5EF4-FFF2-40B4-BE49-F238E27FC236}">
                <a16:creationId xmlns:a16="http://schemas.microsoft.com/office/drawing/2014/main" id="{C98CA1BC-0608-0FD7-5708-F9C6D3E525F2}"/>
              </a:ext>
            </a:extLst>
          </p:cNvPr>
          <p:cNvSpPr>
            <a:spLocks noGrp="1"/>
          </p:cNvSpPr>
          <p:nvPr/>
        </p:nvSpPr>
        <p:spPr>
          <a:xfrm>
            <a:off x="7343775" y="3362996"/>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Coupon &amp; Promotion</a:t>
            </a:r>
          </a:p>
        </p:txBody>
      </p:sp>
      <p:sp>
        <p:nvSpPr>
          <p:cNvPr id="148" name="operations-management-item-4">
            <a:extLst>
              <a:ext uri="{FF2B5EF4-FFF2-40B4-BE49-F238E27FC236}">
                <a16:creationId xmlns:a16="http://schemas.microsoft.com/office/drawing/2014/main" id="{F649213F-EFD9-5E49-A547-92972987A86F}"/>
              </a:ext>
            </a:extLst>
          </p:cNvPr>
          <p:cNvSpPr>
            <a:spLocks noGrp="1"/>
          </p:cNvSpPr>
          <p:nvPr/>
        </p:nvSpPr>
        <p:spPr>
          <a:xfrm>
            <a:off x="7343775" y="3537987"/>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Quota &amp; Share Management</a:t>
            </a:r>
          </a:p>
        </p:txBody>
      </p:sp>
      <p:sp>
        <p:nvSpPr>
          <p:cNvPr id="149" name="operations-management-item-5">
            <a:extLst>
              <a:ext uri="{FF2B5EF4-FFF2-40B4-BE49-F238E27FC236}">
                <a16:creationId xmlns:a16="http://schemas.microsoft.com/office/drawing/2014/main" id="{19F684F8-33E0-E692-D154-8C0C7D93A23D}"/>
              </a:ext>
            </a:extLst>
          </p:cNvPr>
          <p:cNvSpPr>
            <a:spLocks noGrp="1"/>
          </p:cNvSpPr>
          <p:nvPr/>
        </p:nvSpPr>
        <p:spPr>
          <a:xfrm>
            <a:off x="7343775" y="3712978"/>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Cost Allocation &amp; Chargeback</a:t>
            </a:r>
          </a:p>
        </p:txBody>
      </p:sp>
      <p:sp>
        <p:nvSpPr>
          <p:cNvPr id="150" name="operations-management-item-6">
            <a:extLst>
              <a:ext uri="{FF2B5EF4-FFF2-40B4-BE49-F238E27FC236}">
                <a16:creationId xmlns:a16="http://schemas.microsoft.com/office/drawing/2014/main" id="{0742CF17-89A0-59FF-EF05-6E5DF5178BDB}"/>
              </a:ext>
            </a:extLst>
          </p:cNvPr>
          <p:cNvSpPr>
            <a:spLocks noGrp="1"/>
          </p:cNvSpPr>
          <p:nvPr/>
        </p:nvSpPr>
        <p:spPr>
          <a:xfrm>
            <a:off x="7343775" y="3887969"/>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FinOps &amp; Cost Optimization</a:t>
            </a:r>
          </a:p>
        </p:txBody>
      </p:sp>
      <p:sp>
        <p:nvSpPr>
          <p:cNvPr id="151" name="serving-targets-frame">
            <a:extLst>
              <a:ext uri="{FF2B5EF4-FFF2-40B4-BE49-F238E27FC236}">
                <a16:creationId xmlns:a16="http://schemas.microsoft.com/office/drawing/2014/main" id="{E9073987-98BC-81EA-D12B-D1855FB43E25}"/>
              </a:ext>
            </a:extLst>
          </p:cNvPr>
          <p:cNvSpPr>
            <a:spLocks noGrp="1"/>
          </p:cNvSpPr>
          <p:nvPr/>
        </p:nvSpPr>
        <p:spPr>
          <a:xfrm>
            <a:off x="7277100" y="4157844"/>
            <a:ext cx="1733550" cy="609600"/>
          </a:xfrm>
          <a:prstGeom prst="roundRect">
            <a:avLst>
              <a:gd name="adj" fmla="val 4688"/>
            </a:avLst>
          </a:prstGeom>
          <a:solidFill>
            <a:srgbClr val="FFFFFF"/>
          </a:solidFill>
          <a:ln w="9525">
            <a:solidFill>
              <a:srgbClr val="D5E8CD"/>
            </a:solidFill>
            <a:prstDash val="solid"/>
          </a:ln>
        </p:spPr>
        <p:txBody>
          <a:bodyPr/>
          <a:lstStyle/>
          <a:p>
            <a:endParaRPr lang="zh-CN" altLang="en-US" sz="1600"/>
          </a:p>
        </p:txBody>
      </p:sp>
      <p:sp>
        <p:nvSpPr>
          <p:cNvPr id="152" name="serving-targets-title">
            <a:extLst>
              <a:ext uri="{FF2B5EF4-FFF2-40B4-BE49-F238E27FC236}">
                <a16:creationId xmlns:a16="http://schemas.microsoft.com/office/drawing/2014/main" id="{499DA736-9F02-538E-441B-43126E348696}"/>
              </a:ext>
            </a:extLst>
          </p:cNvPr>
          <p:cNvSpPr>
            <a:spLocks noGrp="1"/>
          </p:cNvSpPr>
          <p:nvPr/>
        </p:nvSpPr>
        <p:spPr>
          <a:xfrm>
            <a:off x="7334250" y="4186419"/>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Serving Targets</a:t>
            </a:r>
          </a:p>
        </p:txBody>
      </p:sp>
      <p:sp>
        <p:nvSpPr>
          <p:cNvPr id="153" name="serving-targets-items-1-box">
            <a:extLst>
              <a:ext uri="{FF2B5EF4-FFF2-40B4-BE49-F238E27FC236}">
                <a16:creationId xmlns:a16="http://schemas.microsoft.com/office/drawing/2014/main" id="{2555DF3E-6C98-3508-9ABE-58C359A550C7}"/>
              </a:ext>
            </a:extLst>
          </p:cNvPr>
          <p:cNvSpPr>
            <a:spLocks noGrp="1"/>
          </p:cNvSpPr>
          <p:nvPr/>
        </p:nvSpPr>
        <p:spPr>
          <a:xfrm>
            <a:off x="7334250"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Cloud</a:t>
            </a:r>
          </a:p>
        </p:txBody>
      </p:sp>
      <p:sp>
        <p:nvSpPr>
          <p:cNvPr id="154" name="serving-targets-items-2-box">
            <a:extLst>
              <a:ext uri="{FF2B5EF4-FFF2-40B4-BE49-F238E27FC236}">
                <a16:creationId xmlns:a16="http://schemas.microsoft.com/office/drawing/2014/main" id="{F7419E93-1D4C-C492-E787-34F58C36C675}"/>
              </a:ext>
            </a:extLst>
          </p:cNvPr>
          <p:cNvSpPr>
            <a:spLocks noGrp="1"/>
          </p:cNvSpPr>
          <p:nvPr/>
        </p:nvSpPr>
        <p:spPr>
          <a:xfrm>
            <a:off x="8162925"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Enterprise</a:t>
            </a:r>
          </a:p>
        </p:txBody>
      </p:sp>
      <p:sp>
        <p:nvSpPr>
          <p:cNvPr id="156" name="data-management-surface">
            <a:extLst>
              <a:ext uri="{FF2B5EF4-FFF2-40B4-BE49-F238E27FC236}">
                <a16:creationId xmlns:a16="http://schemas.microsoft.com/office/drawing/2014/main" id="{2A8A5E81-E831-80B3-55A3-495464D3BCC4}"/>
              </a:ext>
            </a:extLst>
          </p:cNvPr>
          <p:cNvSpPr>
            <a:spLocks noGrp="1"/>
          </p:cNvSpPr>
          <p:nvPr/>
        </p:nvSpPr>
        <p:spPr>
          <a:xfrm>
            <a:off x="933450" y="3773723"/>
            <a:ext cx="6191250" cy="238125"/>
          </a:xfrm>
          <a:prstGeom prst="roundRect">
            <a:avLst>
              <a:gd name="adj" fmla="val 16000"/>
            </a:avLst>
          </a:prstGeom>
          <a:solidFill>
            <a:srgbClr val="F7FCFC"/>
          </a:solidFill>
          <a:ln w="9525">
            <a:solidFill>
              <a:srgbClr val="C8E1DF"/>
            </a:solidFill>
            <a:prstDash val="solid"/>
          </a:ln>
        </p:spPr>
        <p:txBody>
          <a:bodyPr/>
          <a:lstStyle/>
          <a:p>
            <a:endParaRPr lang="zh-CN" altLang="en-US" sz="1600"/>
          </a:p>
        </p:txBody>
      </p:sp>
      <p:sp>
        <p:nvSpPr>
          <p:cNvPr id="157" name="data-management-items-1-box">
            <a:extLst>
              <a:ext uri="{FF2B5EF4-FFF2-40B4-BE49-F238E27FC236}">
                <a16:creationId xmlns:a16="http://schemas.microsoft.com/office/drawing/2014/main" id="{F83F80F0-5534-A3C2-97AA-E7B9DC33E652}"/>
              </a:ext>
            </a:extLst>
          </p:cNvPr>
          <p:cNvSpPr>
            <a:spLocks noGrp="1"/>
          </p:cNvSpPr>
          <p:nvPr/>
        </p:nvSpPr>
        <p:spPr>
          <a:xfrm>
            <a:off x="100965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Model Hub (MatrixHub)</a:t>
            </a:r>
          </a:p>
        </p:txBody>
      </p:sp>
      <p:sp>
        <p:nvSpPr>
          <p:cNvPr id="158" name="data-management-items-2-box">
            <a:extLst>
              <a:ext uri="{FF2B5EF4-FFF2-40B4-BE49-F238E27FC236}">
                <a16:creationId xmlns:a16="http://schemas.microsoft.com/office/drawing/2014/main" id="{4ECDE597-794C-A826-42B9-9A8E339143B2}"/>
              </a:ext>
            </a:extLst>
          </p:cNvPr>
          <p:cNvSpPr>
            <a:spLocks noGrp="1"/>
          </p:cNvSpPr>
          <p:nvPr/>
        </p:nvSpPr>
        <p:spPr>
          <a:xfrm>
            <a:off x="202088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500" b="0">
                <a:solidFill>
                  <a:srgbClr val="102031"/>
                </a:solidFill>
                <a:latin typeface="Arial"/>
                <a:ea typeface="Arial"/>
                <a:cs typeface="Arial"/>
              </a:rPr>
              <a:t>Model Distribution (ModelExpress)</a:t>
            </a:r>
          </a:p>
        </p:txBody>
      </p:sp>
      <p:sp>
        <p:nvSpPr>
          <p:cNvPr id="159" name="data-management-items-3-box">
            <a:extLst>
              <a:ext uri="{FF2B5EF4-FFF2-40B4-BE49-F238E27FC236}">
                <a16:creationId xmlns:a16="http://schemas.microsoft.com/office/drawing/2014/main" id="{378708FC-8BBE-4F38-6951-B9E5CC1B9B0A}"/>
              </a:ext>
            </a:extLst>
          </p:cNvPr>
          <p:cNvSpPr>
            <a:spLocks noGrp="1"/>
          </p:cNvSpPr>
          <p:nvPr/>
        </p:nvSpPr>
        <p:spPr>
          <a:xfrm>
            <a:off x="3032125"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Dataset Management</a:t>
            </a:r>
          </a:p>
        </p:txBody>
      </p:sp>
      <p:sp>
        <p:nvSpPr>
          <p:cNvPr id="160" name="data-management-items-4-box">
            <a:extLst>
              <a:ext uri="{FF2B5EF4-FFF2-40B4-BE49-F238E27FC236}">
                <a16:creationId xmlns:a16="http://schemas.microsoft.com/office/drawing/2014/main" id="{52CF88E4-04EE-4775-FA49-2838E88BDD39}"/>
              </a:ext>
            </a:extLst>
          </p:cNvPr>
          <p:cNvSpPr>
            <a:spLocks noGrp="1"/>
          </p:cNvSpPr>
          <p:nvPr/>
        </p:nvSpPr>
        <p:spPr>
          <a:xfrm>
            <a:off x="4043363"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Catalog</a:t>
            </a:r>
          </a:p>
        </p:txBody>
      </p:sp>
      <p:sp>
        <p:nvSpPr>
          <p:cNvPr id="161" name="data-management-items-5-box">
            <a:extLst>
              <a:ext uri="{FF2B5EF4-FFF2-40B4-BE49-F238E27FC236}">
                <a16:creationId xmlns:a16="http://schemas.microsoft.com/office/drawing/2014/main" id="{96681C94-E86E-3CEB-F2B5-04115534E42E}"/>
              </a:ext>
            </a:extLst>
          </p:cNvPr>
          <p:cNvSpPr>
            <a:spLocks noGrp="1"/>
          </p:cNvSpPr>
          <p:nvPr/>
        </p:nvSpPr>
        <p:spPr>
          <a:xfrm>
            <a:off x="505460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Processing</a:t>
            </a:r>
          </a:p>
        </p:txBody>
      </p:sp>
      <p:sp>
        <p:nvSpPr>
          <p:cNvPr id="162" name="data-management-items-6-box">
            <a:extLst>
              <a:ext uri="{FF2B5EF4-FFF2-40B4-BE49-F238E27FC236}">
                <a16:creationId xmlns:a16="http://schemas.microsoft.com/office/drawing/2014/main" id="{99276E16-3013-20C4-4893-965A8B38EA32}"/>
              </a:ext>
            </a:extLst>
          </p:cNvPr>
          <p:cNvSpPr>
            <a:spLocks noGrp="1"/>
          </p:cNvSpPr>
          <p:nvPr/>
        </p:nvSpPr>
        <p:spPr>
          <a:xfrm>
            <a:off x="606583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Quality</a:t>
            </a:r>
          </a:p>
        </p:txBody>
      </p:sp>
      <p:sp>
        <p:nvSpPr>
          <p:cNvPr id="163" name="compute-orchestration-rail-box">
            <a:extLst>
              <a:ext uri="{FF2B5EF4-FFF2-40B4-BE49-F238E27FC236}">
                <a16:creationId xmlns:a16="http://schemas.microsoft.com/office/drawing/2014/main" id="{1CEC1F22-F880-46CC-B47A-75E4080E216A}"/>
              </a:ext>
            </a:extLst>
          </p:cNvPr>
          <p:cNvSpPr>
            <a:spLocks noGrp="1"/>
          </p:cNvSpPr>
          <p:nvPr/>
        </p:nvSpPr>
        <p:spPr>
          <a:xfrm>
            <a:off x="76200" y="3773723"/>
            <a:ext cx="755100" cy="800727"/>
          </a:xfrm>
          <a:prstGeom prst="roundRect">
            <a:avLst>
              <a:gd name="adj" fmla="val 16000"/>
            </a:avLst>
          </a:prstGeom>
          <a:solidFill>
            <a:srgbClr val="2F8B45"/>
          </a:solidFill>
          <a:ln w="9525">
            <a:solidFill>
              <a:srgbClr val="2F8B45"/>
            </a:solidFill>
            <a:prstDash val="solid"/>
          </a:ln>
        </p:spPr>
        <p:txBody>
          <a:bodyPr wrap="square" lIns="28575" tIns="9525" rIns="28575" bIns="9525" anchor="ctr">
            <a:normAutofit fontScale="99064"/>
          </a:bodyPr>
          <a:lstStyle/>
          <a:p>
            <a:pPr algn="ctr">
              <a:defRPr sz="525" b="1">
                <a:solidFill>
                  <a:srgbClr val="FFFFFF"/>
                </a:solidFill>
                <a:latin typeface="Arial"/>
                <a:ea typeface="Arial"/>
                <a:cs typeface="Arial"/>
              </a:defRPr>
            </a:pPr>
            <a:r>
              <a:rPr lang="en" sz="800" dirty="0">
                <a:solidFill>
                  <a:srgbClr val="FFFFFF"/>
                </a:solidFill>
              </a:rPr>
              <a:t>Kubernetes</a:t>
            </a:r>
            <a:r>
              <a:rPr lang="en" sz="800" b="1" dirty="0">
                <a:solidFill>
                  <a:srgbClr val="FFFFFF"/>
                </a:solidFill>
              </a:rPr>
              <a:t> GPU</a:t>
            </a:r>
            <a:r>
              <a:rPr lang="zh-CN" altLang="en-US" sz="800" b="1" dirty="0">
                <a:solidFill>
                  <a:srgbClr val="FFFFFF"/>
                </a:solidFill>
              </a:rPr>
              <a:t> </a:t>
            </a:r>
            <a:r>
              <a:rPr lang="en-US" altLang="zh-CN" sz="800" b="1" dirty="0">
                <a:solidFill>
                  <a:srgbClr val="FFFFFF"/>
                </a:solidFill>
              </a:rPr>
              <a:t>&amp;</a:t>
            </a:r>
            <a:r>
              <a:rPr lang="zh-CN" altLang="en-US" sz="800" b="1" dirty="0">
                <a:solidFill>
                  <a:srgbClr val="FFFFFF"/>
                </a:solidFill>
              </a:rPr>
              <a:t> </a:t>
            </a:r>
            <a:r>
              <a:rPr lang="en" altLang="zh-CN" sz="800" b="1" dirty="0">
                <a:solidFill>
                  <a:srgbClr val="FFFFFF"/>
                </a:solidFill>
              </a:rPr>
              <a:t>Data</a:t>
            </a:r>
            <a:r>
              <a:rPr lang="en" sz="800" b="1" dirty="0">
                <a:solidFill>
                  <a:srgbClr val="FFFFFF"/>
                </a:solidFill>
              </a:rPr>
              <a:t> Scheduling</a:t>
            </a:r>
          </a:p>
        </p:txBody>
      </p:sp>
      <p:sp>
        <p:nvSpPr>
          <p:cNvPr id="164" name="compute-orchestration-surface">
            <a:extLst>
              <a:ext uri="{FF2B5EF4-FFF2-40B4-BE49-F238E27FC236}">
                <a16:creationId xmlns:a16="http://schemas.microsoft.com/office/drawing/2014/main" id="{654999C4-3805-4C4D-5FCC-B0099477929E}"/>
              </a:ext>
            </a:extLst>
          </p:cNvPr>
          <p:cNvSpPr>
            <a:spLocks noGrp="1"/>
          </p:cNvSpPr>
          <p:nvPr/>
        </p:nvSpPr>
        <p:spPr>
          <a:xfrm>
            <a:off x="933450" y="4069052"/>
            <a:ext cx="6191250" cy="250717"/>
          </a:xfrm>
          <a:prstGeom prst="roundRect">
            <a:avLst>
              <a:gd name="adj" fmla="val 16000"/>
            </a:avLst>
          </a:prstGeom>
          <a:solidFill>
            <a:srgbClr val="F8FCF5"/>
          </a:solidFill>
          <a:ln w="9525">
            <a:solidFill>
              <a:srgbClr val="CFE3C7"/>
            </a:solidFill>
            <a:prstDash val="solid"/>
          </a:ln>
        </p:spPr>
        <p:txBody>
          <a:bodyPr/>
          <a:lstStyle/>
          <a:p>
            <a:endParaRPr lang="zh-CN" altLang="en-US" sz="1600"/>
          </a:p>
        </p:txBody>
      </p:sp>
      <p:sp>
        <p:nvSpPr>
          <p:cNvPr id="165" name="compute-orchestration-items-1-box">
            <a:extLst>
              <a:ext uri="{FF2B5EF4-FFF2-40B4-BE49-F238E27FC236}">
                <a16:creationId xmlns:a16="http://schemas.microsoft.com/office/drawing/2014/main" id="{699A0DB5-EABD-FB32-F820-B8580B8FEAF1}"/>
              </a:ext>
            </a:extLst>
          </p:cNvPr>
          <p:cNvSpPr>
            <a:spLocks noGrp="1"/>
          </p:cNvSpPr>
          <p:nvPr/>
        </p:nvSpPr>
        <p:spPr>
          <a:xfrm>
            <a:off x="100965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Resource Pool Management</a:t>
            </a:r>
          </a:p>
        </p:txBody>
      </p:sp>
      <p:sp>
        <p:nvSpPr>
          <p:cNvPr id="166" name="compute-orchestration-items-2-box">
            <a:extLst>
              <a:ext uri="{FF2B5EF4-FFF2-40B4-BE49-F238E27FC236}">
                <a16:creationId xmlns:a16="http://schemas.microsoft.com/office/drawing/2014/main" id="{B9C5958C-E1B0-659E-0F38-DA0AE9A594FE}"/>
              </a:ext>
            </a:extLst>
          </p:cNvPr>
          <p:cNvSpPr>
            <a:spLocks noGrp="1"/>
          </p:cNvSpPr>
          <p:nvPr/>
        </p:nvSpPr>
        <p:spPr>
          <a:xfrm>
            <a:off x="202088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Priority &amp; Preemption</a:t>
            </a:r>
          </a:p>
        </p:txBody>
      </p:sp>
      <p:sp>
        <p:nvSpPr>
          <p:cNvPr id="167" name="compute-orchestration-items-3-box">
            <a:extLst>
              <a:ext uri="{FF2B5EF4-FFF2-40B4-BE49-F238E27FC236}">
                <a16:creationId xmlns:a16="http://schemas.microsoft.com/office/drawing/2014/main" id="{4D81ECD1-3C38-FC31-5237-AAEE099890D8}"/>
              </a:ext>
            </a:extLst>
          </p:cNvPr>
          <p:cNvSpPr>
            <a:spLocks noGrp="1"/>
          </p:cNvSpPr>
          <p:nvPr/>
        </p:nvSpPr>
        <p:spPr>
          <a:xfrm>
            <a:off x="3032125"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Fair Scheduling</a:t>
            </a:r>
          </a:p>
        </p:txBody>
      </p:sp>
      <p:sp>
        <p:nvSpPr>
          <p:cNvPr id="168" name="compute-orchestration-items-4-box">
            <a:extLst>
              <a:ext uri="{FF2B5EF4-FFF2-40B4-BE49-F238E27FC236}">
                <a16:creationId xmlns:a16="http://schemas.microsoft.com/office/drawing/2014/main" id="{4BCA633C-6E74-0A91-2707-241D402DE11A}"/>
              </a:ext>
            </a:extLst>
          </p:cNvPr>
          <p:cNvSpPr>
            <a:spLocks noGrp="1"/>
          </p:cNvSpPr>
          <p:nvPr/>
        </p:nvSpPr>
        <p:spPr>
          <a:xfrm>
            <a:off x="4043363"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Elastic Resource Allocation</a:t>
            </a:r>
          </a:p>
        </p:txBody>
      </p:sp>
      <p:sp>
        <p:nvSpPr>
          <p:cNvPr id="169" name="compute-orchestration-items-5-box">
            <a:extLst>
              <a:ext uri="{FF2B5EF4-FFF2-40B4-BE49-F238E27FC236}">
                <a16:creationId xmlns:a16="http://schemas.microsoft.com/office/drawing/2014/main" id="{1F32C19F-D03F-6CD4-FDDA-1E7BC79FAD21}"/>
              </a:ext>
            </a:extLst>
          </p:cNvPr>
          <p:cNvSpPr>
            <a:spLocks noGrp="1"/>
          </p:cNvSpPr>
          <p:nvPr/>
        </p:nvSpPr>
        <p:spPr>
          <a:xfrm>
            <a:off x="505460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70" name="compute-orchestration-items-6-box">
            <a:extLst>
              <a:ext uri="{FF2B5EF4-FFF2-40B4-BE49-F238E27FC236}">
                <a16:creationId xmlns:a16="http://schemas.microsoft.com/office/drawing/2014/main" id="{08E4B0D7-DDA6-3DEE-B4F7-4698F400DB03}"/>
              </a:ext>
            </a:extLst>
          </p:cNvPr>
          <p:cNvSpPr>
            <a:spLocks noGrp="1"/>
          </p:cNvSpPr>
          <p:nvPr/>
        </p:nvSpPr>
        <p:spPr>
          <a:xfrm>
            <a:off x="606583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Workflow Orchestration</a:t>
            </a:r>
          </a:p>
        </p:txBody>
      </p:sp>
      <p:sp>
        <p:nvSpPr>
          <p:cNvPr id="172" name="kubernetes-gpu-surface">
            <a:extLst>
              <a:ext uri="{FF2B5EF4-FFF2-40B4-BE49-F238E27FC236}">
                <a16:creationId xmlns:a16="http://schemas.microsoft.com/office/drawing/2014/main" id="{6AEDF670-2B7A-B129-36C0-FBE6F1475138}"/>
              </a:ext>
            </a:extLst>
          </p:cNvPr>
          <p:cNvSpPr>
            <a:spLocks noGrp="1"/>
          </p:cNvSpPr>
          <p:nvPr/>
        </p:nvSpPr>
        <p:spPr>
          <a:xfrm>
            <a:off x="933450" y="4367394"/>
            <a:ext cx="6191250" cy="238125"/>
          </a:xfrm>
          <a:prstGeom prst="roundRect">
            <a:avLst>
              <a:gd name="adj" fmla="val 16000"/>
            </a:avLst>
          </a:prstGeom>
          <a:solidFill>
            <a:srgbClr val="F7FAFF"/>
          </a:solidFill>
          <a:ln w="9525">
            <a:solidFill>
              <a:srgbClr val="C8D8F1"/>
            </a:solidFill>
            <a:prstDash val="solid"/>
          </a:ln>
        </p:spPr>
        <p:txBody>
          <a:bodyPr/>
          <a:lstStyle/>
          <a:p>
            <a:endParaRPr lang="zh-CN" altLang="en-US" sz="1600"/>
          </a:p>
        </p:txBody>
      </p:sp>
      <p:sp>
        <p:nvSpPr>
          <p:cNvPr id="173" name="kubernetes-gpu-items-1-box">
            <a:extLst>
              <a:ext uri="{FF2B5EF4-FFF2-40B4-BE49-F238E27FC236}">
                <a16:creationId xmlns:a16="http://schemas.microsoft.com/office/drawing/2014/main" id="{61CDCF19-8242-EDBB-F5F3-5C3474D7F50B}"/>
              </a:ext>
            </a:extLst>
          </p:cNvPr>
          <p:cNvSpPr>
            <a:spLocks noGrp="1"/>
          </p:cNvSpPr>
          <p:nvPr/>
        </p:nvSpPr>
        <p:spPr>
          <a:xfrm>
            <a:off x="10096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1" dirty="0">
                <a:solidFill>
                  <a:srgbClr val="102031"/>
                </a:solidFill>
                <a:latin typeface="Arial"/>
                <a:ea typeface="Arial"/>
                <a:cs typeface="Arial"/>
              </a:rPr>
              <a:t>Kubernetes</a:t>
            </a:r>
          </a:p>
        </p:txBody>
      </p:sp>
      <p:sp>
        <p:nvSpPr>
          <p:cNvPr id="174" name="kubernetes-gpu-items-2-box">
            <a:extLst>
              <a:ext uri="{FF2B5EF4-FFF2-40B4-BE49-F238E27FC236}">
                <a16:creationId xmlns:a16="http://schemas.microsoft.com/office/drawing/2014/main" id="{C77AB38E-B910-0067-928F-19F5BD32D598}"/>
              </a:ext>
            </a:extLst>
          </p:cNvPr>
          <p:cNvSpPr>
            <a:spLocks noGrp="1"/>
          </p:cNvSpPr>
          <p:nvPr/>
        </p:nvSpPr>
        <p:spPr>
          <a:xfrm>
            <a:off x="18764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Operator</a:t>
            </a:r>
          </a:p>
        </p:txBody>
      </p:sp>
      <p:sp>
        <p:nvSpPr>
          <p:cNvPr id="175" name="kubernetes-gpu-items-3-box">
            <a:extLst>
              <a:ext uri="{FF2B5EF4-FFF2-40B4-BE49-F238E27FC236}">
                <a16:creationId xmlns:a16="http://schemas.microsoft.com/office/drawing/2014/main" id="{22972BFF-687C-6A8C-8863-7D96B585133F}"/>
              </a:ext>
            </a:extLst>
          </p:cNvPr>
          <p:cNvSpPr>
            <a:spLocks noGrp="1"/>
          </p:cNvSpPr>
          <p:nvPr/>
        </p:nvSpPr>
        <p:spPr>
          <a:xfrm>
            <a:off x="27432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Device Plugin</a:t>
            </a:r>
          </a:p>
        </p:txBody>
      </p:sp>
      <p:sp>
        <p:nvSpPr>
          <p:cNvPr id="176" name="kubernetes-gpu-items-4-box">
            <a:extLst>
              <a:ext uri="{FF2B5EF4-FFF2-40B4-BE49-F238E27FC236}">
                <a16:creationId xmlns:a16="http://schemas.microsoft.com/office/drawing/2014/main" id="{51152C1A-2883-D420-D486-527933149EEF}"/>
              </a:ext>
            </a:extLst>
          </p:cNvPr>
          <p:cNvSpPr>
            <a:spLocks noGrp="1"/>
          </p:cNvSpPr>
          <p:nvPr/>
        </p:nvSpPr>
        <p:spPr>
          <a:xfrm>
            <a:off x="360997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Monitoring</a:t>
            </a:r>
          </a:p>
        </p:txBody>
      </p:sp>
      <p:sp>
        <p:nvSpPr>
          <p:cNvPr id="177" name="kubernetes-gpu-items-5-box">
            <a:extLst>
              <a:ext uri="{FF2B5EF4-FFF2-40B4-BE49-F238E27FC236}">
                <a16:creationId xmlns:a16="http://schemas.microsoft.com/office/drawing/2014/main" id="{F1C4C1AD-9BD0-9A7E-00D3-97C5A8273808}"/>
              </a:ext>
            </a:extLst>
          </p:cNvPr>
          <p:cNvSpPr>
            <a:spLocks noGrp="1"/>
          </p:cNvSpPr>
          <p:nvPr/>
        </p:nvSpPr>
        <p:spPr>
          <a:xfrm>
            <a:off x="44767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Topology Manager</a:t>
            </a:r>
          </a:p>
        </p:txBody>
      </p:sp>
      <p:sp>
        <p:nvSpPr>
          <p:cNvPr id="178" name="kubernetes-gpu-items-6-box">
            <a:extLst>
              <a:ext uri="{FF2B5EF4-FFF2-40B4-BE49-F238E27FC236}">
                <a16:creationId xmlns:a16="http://schemas.microsoft.com/office/drawing/2014/main" id="{51FB50EB-6A4A-18DB-7A55-E941FFDD2068}"/>
              </a:ext>
            </a:extLst>
          </p:cNvPr>
          <p:cNvSpPr>
            <a:spLocks noGrp="1"/>
          </p:cNvSpPr>
          <p:nvPr/>
        </p:nvSpPr>
        <p:spPr>
          <a:xfrm>
            <a:off x="53435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Node Auto-discovery</a:t>
            </a:r>
          </a:p>
        </p:txBody>
      </p:sp>
      <p:sp>
        <p:nvSpPr>
          <p:cNvPr id="179" name="kubernetes-gpu-items-7-box">
            <a:extLst>
              <a:ext uri="{FF2B5EF4-FFF2-40B4-BE49-F238E27FC236}">
                <a16:creationId xmlns:a16="http://schemas.microsoft.com/office/drawing/2014/main" id="{22245C04-67A9-80DF-84B9-860EAB67B4E1}"/>
              </a:ext>
            </a:extLst>
          </p:cNvPr>
          <p:cNvSpPr>
            <a:spLocks noGrp="1"/>
          </p:cNvSpPr>
          <p:nvPr/>
        </p:nvSpPr>
        <p:spPr>
          <a:xfrm>
            <a:off x="62103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80" name="infrastructure-rail-box">
            <a:extLst>
              <a:ext uri="{FF2B5EF4-FFF2-40B4-BE49-F238E27FC236}">
                <a16:creationId xmlns:a16="http://schemas.microsoft.com/office/drawing/2014/main" id="{E8A91F7C-D116-EA58-9A8A-F819E1B42313}"/>
              </a:ext>
            </a:extLst>
          </p:cNvPr>
          <p:cNvSpPr>
            <a:spLocks noGrp="1"/>
          </p:cNvSpPr>
          <p:nvPr/>
        </p:nvSpPr>
        <p:spPr>
          <a:xfrm>
            <a:off x="76200" y="4653144"/>
            <a:ext cx="762000" cy="190500"/>
          </a:xfrm>
          <a:prstGeom prst="roundRect">
            <a:avLst>
              <a:gd name="adj" fmla="val 20000"/>
            </a:avLst>
          </a:prstGeom>
          <a:solidFill>
            <a:srgbClr val="102031"/>
          </a:solidFill>
          <a:ln w="9525">
            <a:solidFill>
              <a:srgbClr val="102031"/>
            </a:solidFill>
            <a:prstDash val="solid"/>
          </a:ln>
        </p:spPr>
        <p:txBody>
          <a:bodyPr wrap="square" lIns="28575" tIns="9525" rIns="28575" bIns="9525" anchor="ctr">
            <a:noAutofit/>
          </a:bodyPr>
          <a:lstStyle/>
          <a:p>
            <a:pPr algn="ctr">
              <a:defRPr sz="525" b="1">
                <a:solidFill>
                  <a:srgbClr val="FFFFFF"/>
                </a:solidFill>
                <a:latin typeface="Arial"/>
                <a:ea typeface="Arial"/>
                <a:cs typeface="Arial"/>
              </a:defRPr>
            </a:pPr>
            <a:r>
              <a:rPr sz="600" b="1">
                <a:solidFill>
                  <a:srgbClr val="FFFFFF"/>
                </a:solidFill>
                <a:latin typeface="Arial"/>
                <a:ea typeface="Arial"/>
                <a:cs typeface="Arial"/>
              </a:rPr>
              <a:t>Infrastructure</a:t>
            </a:r>
          </a:p>
          <a:p>
            <a:pPr algn="ctr">
              <a:defRPr sz="525" b="1">
                <a:solidFill>
                  <a:srgbClr val="FFFFFF"/>
                </a:solidFill>
                <a:latin typeface="Arial"/>
                <a:ea typeface="Arial"/>
                <a:cs typeface="Arial"/>
              </a:defRPr>
            </a:pPr>
            <a:r>
              <a:rPr sz="600" b="1">
                <a:solidFill>
                  <a:srgbClr val="FFFFFF"/>
                </a:solidFill>
                <a:latin typeface="Arial"/>
                <a:ea typeface="Arial"/>
                <a:cs typeface="Arial"/>
              </a:rPr>
              <a:t>Operations</a:t>
            </a:r>
          </a:p>
        </p:txBody>
      </p:sp>
      <p:sp>
        <p:nvSpPr>
          <p:cNvPr id="181" name="infrastructure-surface">
            <a:extLst>
              <a:ext uri="{FF2B5EF4-FFF2-40B4-BE49-F238E27FC236}">
                <a16:creationId xmlns:a16="http://schemas.microsoft.com/office/drawing/2014/main" id="{E9666790-F5E6-786E-4021-DCD511CCA1E2}"/>
              </a:ext>
            </a:extLst>
          </p:cNvPr>
          <p:cNvSpPr>
            <a:spLocks noGrp="1"/>
          </p:cNvSpPr>
          <p:nvPr/>
        </p:nvSpPr>
        <p:spPr>
          <a:xfrm>
            <a:off x="933450" y="4653144"/>
            <a:ext cx="6191250" cy="190500"/>
          </a:xfrm>
          <a:prstGeom prst="roundRect">
            <a:avLst>
              <a:gd name="adj" fmla="val 20000"/>
            </a:avLst>
          </a:prstGeom>
          <a:solidFill>
            <a:srgbClr val="F7FAFF"/>
          </a:solidFill>
          <a:ln w="9525">
            <a:solidFill>
              <a:srgbClr val="C8D8F1"/>
            </a:solidFill>
            <a:prstDash val="solid"/>
          </a:ln>
        </p:spPr>
        <p:txBody>
          <a:bodyPr/>
          <a:lstStyle/>
          <a:p>
            <a:endParaRPr lang="zh-CN" altLang="en-US" sz="1600"/>
          </a:p>
        </p:txBody>
      </p:sp>
      <p:sp>
        <p:nvSpPr>
          <p:cNvPr id="182" name="infrastructure-items-1-box">
            <a:extLst>
              <a:ext uri="{FF2B5EF4-FFF2-40B4-BE49-F238E27FC236}">
                <a16:creationId xmlns:a16="http://schemas.microsoft.com/office/drawing/2014/main" id="{F02F3BB5-5C1A-B2C2-142C-AFFAB3E2934D}"/>
              </a:ext>
            </a:extLst>
          </p:cNvPr>
          <p:cNvSpPr>
            <a:spLocks noGrp="1"/>
          </p:cNvSpPr>
          <p:nvPr/>
        </p:nvSpPr>
        <p:spPr>
          <a:xfrm>
            <a:off x="1009650"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Compute</a:t>
            </a:r>
          </a:p>
          <a:p>
            <a:pPr algn="ctr">
              <a:defRPr sz="435" b="0">
                <a:solidFill>
                  <a:srgbClr val="102031"/>
                </a:solidFill>
                <a:latin typeface="Arial"/>
                <a:ea typeface="Arial"/>
                <a:cs typeface="Arial"/>
              </a:defRPr>
            </a:pPr>
            <a:r>
              <a:rPr sz="300" b="0">
                <a:solidFill>
                  <a:srgbClr val="102031"/>
                </a:solidFill>
                <a:latin typeface="Arial"/>
                <a:ea typeface="Arial"/>
                <a:cs typeface="Arial"/>
              </a:rPr>
              <a:t>(VM / Bare Metal)</a:t>
            </a:r>
          </a:p>
        </p:txBody>
      </p:sp>
      <p:sp>
        <p:nvSpPr>
          <p:cNvPr id="183" name="infrastructure-items-2-box">
            <a:extLst>
              <a:ext uri="{FF2B5EF4-FFF2-40B4-BE49-F238E27FC236}">
                <a16:creationId xmlns:a16="http://schemas.microsoft.com/office/drawing/2014/main" id="{9B0BBF7D-394A-50D2-0FD2-FF9329BB6D39}"/>
              </a:ext>
            </a:extLst>
          </p:cNvPr>
          <p:cNvSpPr>
            <a:spLocks noGrp="1"/>
          </p:cNvSpPr>
          <p:nvPr/>
        </p:nvSpPr>
        <p:spPr>
          <a:xfrm>
            <a:off x="1768078"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Network</a:t>
            </a:r>
          </a:p>
          <a:p>
            <a:pPr algn="ctr">
              <a:defRPr sz="435" b="0">
                <a:solidFill>
                  <a:srgbClr val="102031"/>
                </a:solidFill>
                <a:latin typeface="Arial"/>
                <a:ea typeface="Arial"/>
                <a:cs typeface="Arial"/>
              </a:defRPr>
            </a:pPr>
            <a:r>
              <a:rPr sz="300" b="0">
                <a:solidFill>
                  <a:srgbClr val="102031"/>
                </a:solidFill>
                <a:latin typeface="Arial"/>
                <a:ea typeface="Arial"/>
                <a:cs typeface="Arial"/>
              </a:rPr>
              <a:t>(VPC / SDN)</a:t>
            </a:r>
          </a:p>
        </p:txBody>
      </p:sp>
      <p:sp>
        <p:nvSpPr>
          <p:cNvPr id="184" name="infrastructure-items-3-box">
            <a:extLst>
              <a:ext uri="{FF2B5EF4-FFF2-40B4-BE49-F238E27FC236}">
                <a16:creationId xmlns:a16="http://schemas.microsoft.com/office/drawing/2014/main" id="{1863AA5E-7510-42EE-8E75-96EDC8DE25BD}"/>
              </a:ext>
            </a:extLst>
          </p:cNvPr>
          <p:cNvSpPr>
            <a:spLocks noGrp="1"/>
          </p:cNvSpPr>
          <p:nvPr/>
        </p:nvSpPr>
        <p:spPr>
          <a:xfrm>
            <a:off x="2526506"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Storage</a:t>
            </a:r>
          </a:p>
          <a:p>
            <a:pPr algn="ctr">
              <a:defRPr sz="435" b="0">
                <a:solidFill>
                  <a:srgbClr val="102031"/>
                </a:solidFill>
                <a:latin typeface="Arial"/>
                <a:ea typeface="Arial"/>
                <a:cs typeface="Arial"/>
              </a:defRPr>
            </a:pPr>
            <a:r>
              <a:rPr sz="300" b="0">
                <a:solidFill>
                  <a:srgbClr val="102031"/>
                </a:solidFill>
                <a:latin typeface="Arial"/>
                <a:ea typeface="Arial"/>
                <a:cs typeface="Arial"/>
              </a:rPr>
              <a:t>(Distributed)</a:t>
            </a:r>
          </a:p>
        </p:txBody>
      </p:sp>
      <p:sp>
        <p:nvSpPr>
          <p:cNvPr id="185" name="infrastructure-items-4-box">
            <a:extLst>
              <a:ext uri="{FF2B5EF4-FFF2-40B4-BE49-F238E27FC236}">
                <a16:creationId xmlns:a16="http://schemas.microsoft.com/office/drawing/2014/main" id="{1DC82E08-D77B-5A04-E9A3-4799EF0513A2}"/>
              </a:ext>
            </a:extLst>
          </p:cNvPr>
          <p:cNvSpPr>
            <a:spLocks noGrp="1"/>
          </p:cNvSpPr>
          <p:nvPr/>
        </p:nvSpPr>
        <p:spPr>
          <a:xfrm>
            <a:off x="3284934"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Security</a:t>
            </a:r>
          </a:p>
          <a:p>
            <a:pPr algn="ctr">
              <a:defRPr sz="435" b="0">
                <a:solidFill>
                  <a:srgbClr val="102031"/>
                </a:solidFill>
                <a:latin typeface="Arial"/>
                <a:ea typeface="Arial"/>
                <a:cs typeface="Arial"/>
              </a:defRPr>
            </a:pPr>
            <a:r>
              <a:rPr sz="300" b="0">
                <a:solidFill>
                  <a:srgbClr val="102031"/>
                </a:solidFill>
                <a:latin typeface="Arial"/>
                <a:ea typeface="Arial"/>
                <a:cs typeface="Arial"/>
              </a:rPr>
              <a:t>(FW / IDS)</a:t>
            </a:r>
          </a:p>
        </p:txBody>
      </p:sp>
      <p:sp>
        <p:nvSpPr>
          <p:cNvPr id="186" name="infrastructure-items-5-box">
            <a:extLst>
              <a:ext uri="{FF2B5EF4-FFF2-40B4-BE49-F238E27FC236}">
                <a16:creationId xmlns:a16="http://schemas.microsoft.com/office/drawing/2014/main" id="{3BA4C529-07B3-59B6-8AA1-5BE025F17DAA}"/>
              </a:ext>
            </a:extLst>
          </p:cNvPr>
          <p:cNvSpPr>
            <a:spLocks noGrp="1"/>
          </p:cNvSpPr>
          <p:nvPr/>
        </p:nvSpPr>
        <p:spPr>
          <a:xfrm>
            <a:off x="4043363"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Monitoring</a:t>
            </a:r>
          </a:p>
          <a:p>
            <a:pPr algn="ctr">
              <a:defRPr sz="435" b="0">
                <a:solidFill>
                  <a:srgbClr val="102031"/>
                </a:solidFill>
                <a:latin typeface="Arial"/>
                <a:ea typeface="Arial"/>
                <a:cs typeface="Arial"/>
              </a:defRPr>
            </a:pPr>
            <a:r>
              <a:rPr sz="300" b="0">
                <a:solidFill>
                  <a:srgbClr val="102031"/>
                </a:solidFill>
                <a:latin typeface="Arial"/>
                <a:ea typeface="Arial"/>
                <a:cs typeface="Arial"/>
              </a:rPr>
              <a:t>(Prometheus)</a:t>
            </a:r>
          </a:p>
        </p:txBody>
      </p:sp>
      <p:sp>
        <p:nvSpPr>
          <p:cNvPr id="187" name="infrastructure-items-6-box">
            <a:extLst>
              <a:ext uri="{FF2B5EF4-FFF2-40B4-BE49-F238E27FC236}">
                <a16:creationId xmlns:a16="http://schemas.microsoft.com/office/drawing/2014/main" id="{2DBCD637-1B48-A53C-5C31-1DF3173E650F}"/>
              </a:ext>
            </a:extLst>
          </p:cNvPr>
          <p:cNvSpPr>
            <a:spLocks noGrp="1"/>
          </p:cNvSpPr>
          <p:nvPr/>
        </p:nvSpPr>
        <p:spPr>
          <a:xfrm>
            <a:off x="4801791"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Logging</a:t>
            </a:r>
          </a:p>
          <a:p>
            <a:pPr algn="ctr">
              <a:defRPr sz="435" b="0">
                <a:solidFill>
                  <a:srgbClr val="102031"/>
                </a:solidFill>
                <a:latin typeface="Arial"/>
                <a:ea typeface="Arial"/>
                <a:cs typeface="Arial"/>
              </a:defRPr>
            </a:pPr>
            <a:r>
              <a:rPr sz="300" b="0">
                <a:solidFill>
                  <a:srgbClr val="102031"/>
                </a:solidFill>
                <a:latin typeface="Arial"/>
                <a:ea typeface="Arial"/>
                <a:cs typeface="Arial"/>
              </a:rPr>
              <a:t>(ELK)</a:t>
            </a:r>
          </a:p>
        </p:txBody>
      </p:sp>
      <p:sp>
        <p:nvSpPr>
          <p:cNvPr id="188" name="infrastructure-items-7-box">
            <a:extLst>
              <a:ext uri="{FF2B5EF4-FFF2-40B4-BE49-F238E27FC236}">
                <a16:creationId xmlns:a16="http://schemas.microsoft.com/office/drawing/2014/main" id="{7332C11D-84AF-EB39-4669-407DAF74ED90}"/>
              </a:ext>
            </a:extLst>
          </p:cNvPr>
          <p:cNvSpPr>
            <a:spLocks noGrp="1"/>
          </p:cNvSpPr>
          <p:nvPr/>
        </p:nvSpPr>
        <p:spPr>
          <a:xfrm>
            <a:off x="5560219"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Automation</a:t>
            </a:r>
          </a:p>
          <a:p>
            <a:pPr algn="ctr">
              <a:defRPr sz="435" b="0">
                <a:solidFill>
                  <a:srgbClr val="102031"/>
                </a:solidFill>
                <a:latin typeface="Arial"/>
                <a:ea typeface="Arial"/>
                <a:cs typeface="Arial"/>
              </a:defRPr>
            </a:pPr>
            <a:r>
              <a:rPr sz="300" b="0">
                <a:solidFill>
                  <a:srgbClr val="102031"/>
                </a:solidFill>
                <a:latin typeface="Arial"/>
                <a:ea typeface="Arial"/>
                <a:cs typeface="Arial"/>
              </a:rPr>
              <a:t>(Ansible)</a:t>
            </a:r>
          </a:p>
        </p:txBody>
      </p:sp>
      <p:sp>
        <p:nvSpPr>
          <p:cNvPr id="189" name="infrastructure-items-8-box">
            <a:extLst>
              <a:ext uri="{FF2B5EF4-FFF2-40B4-BE49-F238E27FC236}">
                <a16:creationId xmlns:a16="http://schemas.microsoft.com/office/drawing/2014/main" id="{1EBAF33E-9853-62AF-AC8E-2920247E635B}"/>
              </a:ext>
            </a:extLst>
          </p:cNvPr>
          <p:cNvSpPr>
            <a:spLocks noGrp="1"/>
          </p:cNvSpPr>
          <p:nvPr/>
        </p:nvSpPr>
        <p:spPr>
          <a:xfrm>
            <a:off x="6318647"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CI/CD</a:t>
            </a:r>
          </a:p>
          <a:p>
            <a:pPr algn="ctr">
              <a:defRPr sz="435" b="0">
                <a:solidFill>
                  <a:srgbClr val="102031"/>
                </a:solidFill>
                <a:latin typeface="Arial"/>
                <a:ea typeface="Arial"/>
                <a:cs typeface="Arial"/>
              </a:defRPr>
            </a:pPr>
            <a:r>
              <a:rPr sz="300" b="0">
                <a:solidFill>
                  <a:srgbClr val="102031"/>
                </a:solidFill>
                <a:latin typeface="Arial"/>
                <a:ea typeface="Arial"/>
                <a:cs typeface="Arial"/>
              </a:rPr>
              <a:t>(GitOps)</a:t>
            </a:r>
          </a:p>
        </p:txBody>
      </p:sp>
      <p:sp>
        <p:nvSpPr>
          <p:cNvPr id="6" name="文本框 5">
            <a:extLst>
              <a:ext uri="{FF2B5EF4-FFF2-40B4-BE49-F238E27FC236}">
                <a16:creationId xmlns:a16="http://schemas.microsoft.com/office/drawing/2014/main" id="{0DC8EAE8-7214-0CAB-B297-4A9BD9A4B529}"/>
              </a:ext>
            </a:extLst>
          </p:cNvPr>
          <p:cNvSpPr txBox="1"/>
          <p:nvPr/>
        </p:nvSpPr>
        <p:spPr>
          <a:xfrm>
            <a:off x="1103735" y="2040678"/>
            <a:ext cx="648868" cy="461665"/>
          </a:xfrm>
          <a:prstGeom prst="rect">
            <a:avLst/>
          </a:prstGeom>
          <a:noFill/>
          <a:ln w="0">
            <a:noFill/>
            <a:prstDash val="solid"/>
          </a:ln>
        </p:spPr>
        <p:txBody>
          <a:bodyPr wrap="square" lIns="19050" tIns="9525" rIns="19050" bIns="9525" anchor="ctr">
            <a:normAutofit fontScale="93750"/>
          </a:bodyPr>
          <a:lstStyle>
            <a:defPPr marR="0" lvl="0" algn="l" rtl="0">
              <a:lnSpc>
                <a:spcPct val="100000"/>
              </a:lnSpc>
              <a:spcBef>
                <a:spcPts val="0"/>
              </a:spcBef>
              <a:spcAft>
                <a:spcPts val="0"/>
              </a:spcAft>
            </a:defPPr>
            <a:lvl1pPr algn="ctr">
              <a:defRPr sz="1200" b="1">
                <a:solidFill>
                  <a:srgbClr val="475569"/>
                </a:solidFill>
              </a:defRPr>
            </a:lvl1pPr>
          </a:lstStyle>
          <a:p>
            <a:pPr algn="l"/>
            <a:r>
              <a:rPr lang="en" altLang="zh-CN" dirty="0"/>
              <a:t>LLM-D</a:t>
            </a:r>
          </a:p>
          <a:p>
            <a:pPr algn="l"/>
            <a:r>
              <a:rPr lang="en" altLang="zh-CN" dirty="0"/>
              <a:t>KAITO</a:t>
            </a:r>
            <a:endParaRPr lang="zh-CN" altLang="en-US" dirty="0"/>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0" y="-115888"/>
            <a:ext cx="6950075" cy="1047751"/>
          </a:xfrm>
        </p:spPr>
        <p:txBody>
          <a:bodyPr>
            <a:normAutofit/>
          </a:bodyPr>
          <a:lstStyle/>
          <a:p>
            <a:r>
              <a:rPr lang="en-US" altLang="zh-CN" sz="2800" dirty="0"/>
              <a:t>LLM-D</a:t>
            </a:r>
            <a:r>
              <a:rPr lang="zh-CN" altLang="zh-CN" sz="2800" dirty="0"/>
              <a:t>: Scheduling &amp; Distributed </a:t>
            </a:r>
            <a:r>
              <a:rPr lang="en-US" altLang="zh-CN" sz="2800" dirty="0"/>
              <a:t>Inference</a:t>
            </a:r>
            <a:endParaRPr lang="zh-CN" altLang="en-US" sz="2800" dirty="0"/>
          </a:p>
        </p:txBody>
      </p:sp>
      <p:sp>
        <p:nvSpPr>
          <p:cNvPr id="5" name="文本框 4">
            <a:extLst>
              <a:ext uri="{FF2B5EF4-FFF2-40B4-BE49-F238E27FC236}">
                <a16:creationId xmlns:a16="http://schemas.microsoft.com/office/drawing/2014/main" id="{1C6AC1EF-B30F-D9A1-EAC6-2BE45494A30E}"/>
              </a:ext>
            </a:extLst>
          </p:cNvPr>
          <p:cNvSpPr txBox="1"/>
          <p:nvPr/>
        </p:nvSpPr>
        <p:spPr>
          <a:xfrm>
            <a:off x="213586" y="615293"/>
            <a:ext cx="6669156" cy="307777"/>
          </a:xfrm>
          <a:prstGeom prst="rect">
            <a:avLst/>
          </a:prstGeom>
          <a:noFill/>
        </p:spPr>
        <p:txBody>
          <a:bodyPr wrap="square">
            <a:spAutoFit/>
          </a:bodyPr>
          <a:lstStyle/>
          <a:p>
            <a:pPr lvl="0">
              <a:defRPr/>
            </a:pPr>
            <a:r>
              <a:rPr lang="en" altLang="zh-CN" dirty="0">
                <a:solidFill>
                  <a:schemeClr val="bg1"/>
                </a:solidFill>
                <a:sym typeface="IBM Plex Sans Light"/>
              </a:rPr>
              <a:t>A Kubernetes-native high-performance distributed LLM inference framework</a:t>
            </a:r>
            <a:endParaRPr lang="en" altLang="zh-CN" dirty="0">
              <a:solidFill>
                <a:schemeClr val="bg1"/>
              </a:solidFil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948" y="1512733"/>
            <a:ext cx="5280887" cy="2811770"/>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7087967" y="1797754"/>
            <a:ext cx="1918300" cy="2442976"/>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800" b="1" i="0" u="none" strike="noStrike" kern="0" cap="none" spc="0" normalizeH="0" baseline="0" noProof="0">
                <a:ln>
                  <a:noFill/>
                </a:ln>
                <a:solidFill>
                  <a:srgbClr val="1C1E21"/>
                </a:solidFill>
                <a:effectLst/>
                <a:uLnTx/>
                <a:uFillTx/>
                <a:latin typeface="+mn-lt"/>
                <a:ea typeface="IBM Plex Sans"/>
                <a:cs typeface="IBM Plex Sans"/>
                <a:sym typeface="IBM Plex Sans"/>
              </a:rPr>
              <a:t>Operationalizability</a:t>
            </a:r>
            <a:endParaRPr kumimoji="0" sz="800" b="1"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0" i="0" u="none" strike="noStrike" kern="0" cap="none" spc="0" normalizeH="0" baseline="0" noProof="0">
                <a:ln>
                  <a:noFill/>
                </a:ln>
                <a:solidFill>
                  <a:srgbClr val="1C1E21"/>
                </a:solidFill>
                <a:effectLst/>
                <a:uLnTx/>
                <a:uFillTx/>
                <a:latin typeface="+mn-lt"/>
                <a:ea typeface="IBM Plex Sans Light"/>
                <a:cs typeface="IBM Plex Sans Light"/>
                <a:sym typeface="IBM Plex Sans Light"/>
              </a:rPr>
              <a:t>modular and resilient architecture with native integration into Kubernetes via Inference Gateway API</a:t>
            </a:r>
            <a:endParaRPr kumimoji="0" sz="1100" b="0" i="0" u="none" strike="noStrike" kern="0" cap="none" spc="0" normalizeH="0" baseline="0" noProof="0">
              <a:ln>
                <a:noFill/>
              </a:ln>
              <a:solidFill>
                <a:sysClr val="windowText" lastClr="000000"/>
              </a:solidFill>
              <a:effectLst/>
              <a:uLnTx/>
              <a:uFillTx/>
              <a:latin typeface="+mn-lt"/>
            </a:endParaRPr>
          </a:p>
          <a:p>
            <a:pPr marL="0" marR="0" lvl="0" indent="0" defTabSz="914400" eaLnBrk="1" fontAlgn="auto" latinLnBrk="0" hangingPunct="1">
              <a:lnSpc>
                <a:spcPct val="100000"/>
              </a:lnSpc>
              <a:spcBef>
                <a:spcPts val="600"/>
              </a:spcBef>
              <a:spcAft>
                <a:spcPts val="0"/>
              </a:spcAft>
              <a:buClrTx/>
              <a:buSzTx/>
              <a:buFontTx/>
              <a:buNone/>
              <a:tabLst/>
              <a:defRPr/>
            </a:pPr>
            <a:endParaRPr kumimoji="0" sz="800" b="1"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1" i="0" u="none" strike="noStrike" kern="0" cap="none" spc="0" normalizeH="0" baseline="0" noProof="0">
                <a:ln>
                  <a:noFill/>
                </a:ln>
                <a:solidFill>
                  <a:srgbClr val="1C1E21"/>
                </a:solidFill>
                <a:effectLst/>
                <a:uLnTx/>
                <a:uFillTx/>
                <a:latin typeface="+mn-lt"/>
                <a:ea typeface="IBM Plex Sans"/>
                <a:cs typeface="IBM Plex Sans"/>
                <a:sym typeface="IBM Plex Sans"/>
              </a:rPr>
              <a:t>Flexibility</a:t>
            </a:r>
            <a:endParaRPr kumimoji="0" sz="800" b="1"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0" i="0" u="none" strike="noStrike" kern="0" cap="none" spc="0" normalizeH="0" baseline="0" noProof="0">
                <a:ln>
                  <a:noFill/>
                </a:ln>
                <a:solidFill>
                  <a:srgbClr val="1C1E21"/>
                </a:solidFill>
                <a:effectLst/>
                <a:uLnTx/>
                <a:uFillTx/>
                <a:latin typeface="+mn-lt"/>
                <a:ea typeface="IBM Plex Sans Light"/>
                <a:cs typeface="IBM Plex Sans Light"/>
                <a:sym typeface="IBM Plex Sans Light"/>
              </a:rPr>
              <a:t>cross-platform with extensible implementations of key composable layers of the stack</a:t>
            </a:r>
            <a:endParaRPr kumimoji="0" sz="1100" b="0" i="0" u="none" strike="noStrike" kern="0" cap="none" spc="0" normalizeH="0" baseline="0" noProof="0">
              <a:ln>
                <a:noFill/>
              </a:ln>
              <a:solidFill>
                <a:sysClr val="windowText" lastClr="000000"/>
              </a:solidFill>
              <a:effectLst/>
              <a:uLnTx/>
              <a:uFillTx/>
              <a:latin typeface="+mn-lt"/>
            </a:endParaRPr>
          </a:p>
          <a:p>
            <a:pPr marL="0" marR="0" lvl="0" indent="0" defTabSz="914400" eaLnBrk="1" fontAlgn="auto" latinLnBrk="0" hangingPunct="1">
              <a:lnSpc>
                <a:spcPct val="100000"/>
              </a:lnSpc>
              <a:spcBef>
                <a:spcPts val="600"/>
              </a:spcBef>
              <a:spcAft>
                <a:spcPts val="0"/>
              </a:spcAft>
              <a:buClrTx/>
              <a:buSzTx/>
              <a:buFontTx/>
              <a:buNone/>
              <a:tabLst/>
              <a:defRPr/>
            </a:pPr>
            <a:endParaRPr kumimoji="0" sz="800" b="1"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1" i="0" u="none" strike="noStrike" kern="0" cap="none" spc="0" normalizeH="0" baseline="0" noProof="0">
                <a:ln>
                  <a:noFill/>
                </a:ln>
                <a:solidFill>
                  <a:srgbClr val="1C1E21"/>
                </a:solidFill>
                <a:effectLst/>
                <a:uLnTx/>
                <a:uFillTx/>
                <a:latin typeface="+mn-lt"/>
                <a:ea typeface="IBM Plex Sans"/>
                <a:cs typeface="IBM Plex Sans"/>
                <a:sym typeface="IBM Plex Sans"/>
              </a:rPr>
              <a:t>Well-lit paths</a:t>
            </a:r>
            <a:endParaRPr kumimoji="0" sz="900" b="0"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0" i="0" u="none" strike="noStrike" kern="0" cap="none" spc="0" normalizeH="0" baseline="0" noProof="0">
                <a:ln>
                  <a:noFill/>
                </a:ln>
                <a:solidFill>
                  <a:srgbClr val="1C1E21"/>
                </a:solidFill>
                <a:effectLst/>
                <a:uLnTx/>
                <a:uFillTx/>
                <a:latin typeface="+mn-lt"/>
                <a:ea typeface="IBM Plex Sans Light"/>
                <a:cs typeface="IBM Plex Sans Light"/>
                <a:sym typeface="IBM Plex Sans Light"/>
              </a:rPr>
              <a:t>Helping deployers navigate key decisions from experimentation to production by exposing trade-offs through tested blueprints</a:t>
            </a:r>
            <a:endParaRPr kumimoji="0" sz="1100" b="0" i="0" u="none" strike="noStrike" kern="0" cap="none" spc="0" normalizeH="0" baseline="0" noProof="0">
              <a:ln>
                <a:noFill/>
              </a:ln>
              <a:solidFill>
                <a:sysClr val="windowText" lastClr="000000"/>
              </a:solidFill>
              <a:effectLst/>
              <a:uLnTx/>
              <a:uFillTx/>
              <a:latin typeface="+mn-lt"/>
            </a:endParaRPr>
          </a:p>
        </p:txBody>
      </p:sp>
      <p:sp>
        <p:nvSpPr>
          <p:cNvPr id="8" name="Google Shape;1968;p206">
            <a:extLst>
              <a:ext uri="{FF2B5EF4-FFF2-40B4-BE49-F238E27FC236}">
                <a16:creationId xmlns:a16="http://schemas.microsoft.com/office/drawing/2014/main" id="{38453113-39B8-B5B2-327B-7027AD87F63C}"/>
              </a:ext>
            </a:extLst>
          </p:cNvPr>
          <p:cNvSpPr/>
          <p:nvPr/>
        </p:nvSpPr>
        <p:spPr>
          <a:xfrm rot="5400000">
            <a:off x="7940970" y="358226"/>
            <a:ext cx="60939" cy="2177394"/>
          </a:xfrm>
          <a:prstGeom prst="leftBracket">
            <a:avLst>
              <a:gd name="adj" fmla="val 8333"/>
            </a:avLst>
          </a:prstGeom>
          <a:noFill/>
          <a:ln w="12700" cap="flat" cmpd="sng">
            <a:solidFill>
              <a:srgbClr val="A5A5A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7310029" y="1316525"/>
            <a:ext cx="1481203" cy="196208"/>
          </a:xfrm>
          <a:prstGeom prst="rect">
            <a:avLst/>
          </a:prstGeom>
          <a:solidFill>
            <a:srgbClr val="FFFFFF"/>
          </a:solidFill>
          <a:ln>
            <a:noFill/>
          </a:ln>
        </p:spPr>
        <p:txBody>
          <a:bodyPr spcFirstLastPara="1" wrap="square" lIns="68575" tIns="34275" rIns="68575" bIns="34275" anchor="t" anchorCtr="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 sz="800" b="1" i="0" u="none" strike="noStrike" kern="0" cap="none" spc="0" normalizeH="0" baseline="0" noProof="0">
                <a:ln>
                  <a:noFill/>
                </a:ln>
                <a:solidFill>
                  <a:srgbClr val="351436"/>
                </a:solidFill>
                <a:effectLst/>
                <a:uLnTx/>
                <a:uFillTx/>
                <a:latin typeface="+mn-lt"/>
                <a:ea typeface="IBM Plex Sans"/>
                <a:cs typeface="IBM Plex Sans"/>
                <a:sym typeface="IBM Plex Sans"/>
              </a:rPr>
              <a:t>Unique value proposition</a:t>
            </a:r>
            <a:endParaRPr kumimoji="0" sz="1100" b="0" i="0" u="none" strike="noStrike" kern="0" cap="none" spc="0" normalizeH="0" baseline="0" noProof="0" dirty="0">
              <a:ln>
                <a:noFill/>
              </a:ln>
              <a:solidFill>
                <a:sysClr val="windowText" lastClr="000000"/>
              </a:solidFill>
              <a:effectLst/>
              <a:uLnTx/>
              <a:uFillTx/>
              <a:latin typeface="+mn-lt"/>
            </a:endParaRP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12700" cap="flat" cmpd="sng">
            <a:solidFill>
              <a:srgbClr val="D8D8D8"/>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12700" cap="flat" cmpd="sng">
            <a:solidFill>
              <a:srgbClr val="D8D8D8"/>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12700" cap="flat" cmpd="sng">
            <a:solidFill>
              <a:srgbClr val="D8D8D8"/>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rot="5400000">
            <a:off x="1030262" y="893078"/>
            <a:ext cx="84868" cy="1385305"/>
          </a:xfrm>
          <a:prstGeom prst="leftBracket">
            <a:avLst>
              <a:gd name="adj" fmla="val 8333"/>
            </a:avLst>
          </a:prstGeom>
          <a:noFill/>
          <a:ln w="12700" cap="flat" cmpd="sng">
            <a:solidFill>
              <a:srgbClr val="A5A5A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506894" y="1416453"/>
            <a:ext cx="1185054" cy="438551"/>
          </a:xfrm>
          <a:prstGeom prst="rect">
            <a:avLst/>
          </a:prstGeom>
          <a:solidFill>
            <a:srgbClr val="FFFFFF"/>
          </a:solid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800" b="1" i="0" u="none" strike="noStrike" kern="0" cap="none" spc="0" normalizeH="0" baseline="0" noProof="0">
                <a:ln>
                  <a:noFill/>
                </a:ln>
                <a:solidFill>
                  <a:srgbClr val="351436"/>
                </a:solidFill>
                <a:effectLst/>
                <a:uLnTx/>
                <a:uFillTx/>
                <a:latin typeface="+mn-lt"/>
                <a:ea typeface="IBM Plex Sans"/>
                <a:cs typeface="IBM Plex Sans"/>
                <a:sym typeface="IBM Plex Sans"/>
              </a:rPr>
              <a:t>Leveraging middleware and engaging partners</a:t>
            </a:r>
            <a:endParaRPr kumimoji="0" sz="1100" b="0" i="0" u="none" strike="noStrike" kern="0" cap="none" spc="0" normalizeH="0" baseline="0" noProof="0">
              <a:ln>
                <a:noFill/>
              </a:ln>
              <a:solidFill>
                <a:sysClr val="windowText" lastClr="000000"/>
              </a:solidFill>
              <a:effectLst/>
              <a:uLnTx/>
              <a:uFillTx/>
              <a:latin typeface="+mn-lt"/>
            </a:endParaRP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700" b="1" i="0" u="none" strike="noStrike" kern="0" cap="none" spc="0" normalizeH="0" baseline="0" noProof="0">
                <a:ln>
                  <a:noFill/>
                </a:ln>
                <a:solidFill>
                  <a:srgbClr val="1A1A1A"/>
                </a:solidFill>
                <a:effectLst/>
                <a:uLnTx/>
                <a:uFillTx/>
                <a:latin typeface="+mn-lt"/>
                <a:ea typeface="IBM Plex Sans"/>
                <a:cs typeface="IBM Plex Sans"/>
                <a:sym typeface="IBM Plex Sans"/>
              </a:rPr>
              <a:t>KV storage providers</a:t>
            </a:r>
            <a:endParaRPr kumimoji="0" sz="1100" b="0" i="0" u="none" strike="noStrike" kern="0" cap="none" spc="0" normalizeH="0" baseline="0" noProof="0">
              <a:ln>
                <a:noFill/>
              </a:ln>
              <a:solidFill>
                <a:sysClr val="windowText" lastClr="000000"/>
              </a:solidFill>
              <a:effectLst/>
              <a:uLnTx/>
              <a:uFillTx/>
              <a:latin typeface="+mn-lt"/>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27000" tIns="27000" rIns="27000" bIns="27000" anchor="t" anchorCtr="0">
              <a:noAutofit/>
            </a:bodyPr>
            <a:lstStyle/>
            <a:p>
              <a:pPr marL="0" marR="0" lvl="0" indent="0" defTabSz="914400" eaLnBrk="1" fontAlgn="auto" latinLnBrk="0" hangingPunct="1">
                <a:lnSpc>
                  <a:spcPct val="90000"/>
                </a:lnSpc>
                <a:spcBef>
                  <a:spcPts val="0"/>
                </a:spcBef>
                <a:spcAft>
                  <a:spcPts val="0"/>
                </a:spcAft>
                <a:buClrTx/>
                <a:buSzPts val="1400"/>
                <a:buFont typeface="IBM Plex Sans Light"/>
                <a:buNone/>
                <a:tabLst/>
                <a:defRPr/>
              </a:pPr>
              <a:endParaRPr kumimoji="0" sz="1800" b="0" i="0" u="none" strike="noStrike" kern="0" cap="none" spc="0" normalizeH="0" baseline="0" noProof="0">
                <a:ln>
                  <a:noFill/>
                </a:ln>
                <a:solidFill>
                  <a:srgbClr val="191919"/>
                </a:solidFill>
                <a:effectLst/>
                <a:uLnTx/>
                <a:uFillTx/>
                <a:latin typeface="+mn-lt"/>
                <a:ea typeface="IBM Plex Sans"/>
                <a:cs typeface="IBM Plex Sans"/>
                <a:sym typeface="IBM Plex Sans"/>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68575" tIns="34275" rIns="68575" bIns="34275" anchor="t" anchorCtr="0">
            <a:spAutoFit/>
          </a:bodyPr>
          <a:lstStyle/>
          <a:p>
            <a:pPr marL="0" marR="0" lvl="0" indent="0" algn="ctr" defTabSz="914400" eaLnBrk="1" fontAlgn="auto" latinLnBrk="0" hangingPunct="1">
              <a:lnSpc>
                <a:spcPct val="100000"/>
              </a:lnSpc>
              <a:spcBef>
                <a:spcPts val="0"/>
              </a:spcBef>
              <a:spcAft>
                <a:spcPts val="0"/>
              </a:spcAft>
              <a:buClrTx/>
              <a:buSzPts val="1100"/>
              <a:buFont typeface="IBM Plex Sans"/>
              <a:buNone/>
              <a:tabLst/>
              <a:defRPr/>
            </a:pPr>
            <a:r>
              <a:rPr kumimoji="0" lang="en" sz="1000" b="1"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NIXL</a:t>
            </a:r>
            <a:endParaRPr kumimoji="0" sz="1000" b="0" i="0" u="none" strike="noStrike" kern="0" cap="none" spc="0" normalizeH="0" baseline="0" noProof="0">
              <a:ln>
                <a:noFill/>
              </a:ln>
              <a:solidFill>
                <a:sysClr val="windowText" lastClr="000000"/>
              </a:solidFill>
              <a:effectLst/>
              <a:uLnTx/>
              <a:uFillTx/>
              <a:latin typeface="+mn-lt"/>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95488" y="4503884"/>
            <a:ext cx="1498475" cy="458500"/>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584970" y="4575728"/>
            <a:ext cx="1780961" cy="31480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55538" y="4536333"/>
            <a:ext cx="1373164" cy="393600"/>
          </a:xfrm>
          <a:prstGeom prst="rect">
            <a:avLst/>
          </a:prstGeom>
          <a:noFill/>
          <a:ln>
            <a:noFill/>
          </a:ln>
        </p:spPr>
      </p:pic>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0" y="0"/>
            <a:ext cx="6950075" cy="1047750"/>
          </a:xfrm>
        </p:spPr>
        <p:txBody>
          <a:bodyPr>
            <a:normAutofit/>
          </a:bodyPr>
          <a:lstStyle/>
          <a:p>
            <a:r>
              <a:rPr lang="en-US" altLang="zh-CN" dirty="0"/>
              <a:t>LLM-D</a:t>
            </a:r>
            <a:r>
              <a:rPr lang="zh-CN" altLang="en-US" dirty="0"/>
              <a:t> </a:t>
            </a:r>
            <a:r>
              <a:rPr lang="en" altLang="zh-CN" dirty="0">
                <a:sym typeface="IBM Plex Sans Light"/>
              </a:rPr>
              <a:t>has achieved so far</a:t>
            </a:r>
            <a:endParaRPr lang="zh-CN" altLang="en-US" dirty="0"/>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961146" y="4201279"/>
            <a:ext cx="1208906" cy="90869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609484" y="2571750"/>
            <a:ext cx="3962516" cy="1930987"/>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marR="0" lvl="1" indent="0" algn="l" defTabSz="914400" rtl="0" eaLnBrk="1" fontAlgn="auto" latinLnBrk="0" hangingPunct="1">
              <a:lnSpc>
                <a:spcPct val="110000"/>
              </a:lnSpc>
              <a:spcBef>
                <a:spcPts val="0"/>
              </a:spcBef>
              <a:spcAft>
                <a:spcPts val="0"/>
              </a:spcAft>
              <a:buClr>
                <a:srgbClr val="000000"/>
              </a:buClr>
              <a:buSzPts val="800"/>
              <a:buFont typeface="IBM Plex Sans"/>
              <a:buNone/>
              <a:tabLst/>
              <a:defRPr/>
            </a:pPr>
            <a:r>
              <a:rPr kumimoji="0" lang="en" sz="900" b="0"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Cross-vendor</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 effort establishing a common stack for distributed inference</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Light"/>
              <a:buNone/>
              <a:tabLst/>
              <a:defRPr/>
            </a:pPr>
            <a:r>
              <a:rPr kumimoji="0" lang="en" sz="900" b="0" i="0" u="none" strike="noStrike" kern="0" cap="none" spc="0" normalizeH="0" baseline="0" noProof="0" dirty="0">
                <a:ln>
                  <a:noFill/>
                </a:ln>
                <a:solidFill>
                  <a:srgbClr val="000000"/>
                </a:solidFill>
                <a:effectLst/>
                <a:uLnTx/>
                <a:uFillTx/>
                <a:latin typeface="IBM Plex Sans Light"/>
                <a:sym typeface="IBM Plex Sans Light"/>
              </a:rPr>
              <a:t>Pioneered </a:t>
            </a:r>
            <a:r>
              <a:rPr kumimoji="0" lang="en" sz="900" b="0"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core primitives </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for scaling serving cost-efficiently on Kubernetes</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Light"/>
              <a:buNone/>
              <a:tabLst/>
              <a:defRPr/>
            </a:pPr>
            <a:r>
              <a:rPr kumimoji="0" lang="en" sz="900" b="0" i="0" u="none" strike="noStrike" kern="0" cap="none" spc="0" normalizeH="0" baseline="0" noProof="0" dirty="0">
                <a:ln>
                  <a:noFill/>
                </a:ln>
                <a:solidFill>
                  <a:srgbClr val="000000"/>
                </a:solidFill>
                <a:effectLst/>
                <a:uLnTx/>
                <a:uFillTx/>
                <a:latin typeface="IBM Plex Sans Light"/>
                <a:sym typeface="IBM Plex Sans Light"/>
              </a:rPr>
              <a:t>Among the fastest-growing projects in the inference space</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Light"/>
              <a:buNone/>
              <a:tabLst/>
              <a:defRPr/>
            </a:pPr>
            <a:r>
              <a:rPr kumimoji="0" lang="en" sz="900" b="0" i="0" u="none" strike="noStrike" kern="0" cap="none" spc="0" normalizeH="0" baseline="0" noProof="0" dirty="0">
                <a:ln>
                  <a:noFill/>
                </a:ln>
                <a:solidFill>
                  <a:srgbClr val="000000"/>
                </a:solidFill>
                <a:effectLst/>
                <a:uLnTx/>
                <a:uFillTx/>
                <a:latin typeface="IBM Plex Sans Light"/>
                <a:sym typeface="IBM Plex Sans Light"/>
              </a:rPr>
              <a:t>GitHub stars from </a:t>
            </a:r>
            <a:r>
              <a:rPr kumimoji="0" lang="en" sz="900" b="0"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500+ </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unique institutions across commercial, academic, </a:t>
            </a:r>
            <a:br>
              <a:rPr kumimoji="0" lang="en" sz="900" b="0" i="0" u="none" strike="noStrike" kern="0" cap="none" spc="0" normalizeH="0" baseline="0" noProof="0" dirty="0">
                <a:ln>
                  <a:noFill/>
                </a:ln>
                <a:solidFill>
                  <a:srgbClr val="000000"/>
                </a:solidFill>
                <a:effectLst/>
                <a:uLnTx/>
                <a:uFillTx/>
                <a:latin typeface="IBM Plex Sans Light"/>
                <a:sym typeface="IBM Plex Sans Light"/>
              </a:rPr>
            </a:br>
            <a:r>
              <a:rPr kumimoji="0" lang="en" sz="900" b="0" i="0" u="none" strike="noStrike" kern="0" cap="none" spc="0" normalizeH="0" baseline="0" noProof="0" dirty="0">
                <a:ln>
                  <a:noFill/>
                </a:ln>
                <a:solidFill>
                  <a:srgbClr val="000000"/>
                </a:solidFill>
                <a:effectLst/>
                <a:uLnTx/>
                <a:uFillTx/>
                <a:latin typeface="IBM Plex Sans Light"/>
                <a:sym typeface="IBM Plex Sans Light"/>
              </a:rPr>
              <a:t>and research communities</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a:buNone/>
              <a:tabLst/>
              <a:defRPr/>
            </a:pPr>
            <a:r>
              <a:rPr kumimoji="0" lang="en" sz="900" b="1"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Organic engagement</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 exploration, and </a:t>
            </a:r>
            <a:r>
              <a:rPr kumimoji="0" lang="en" sz="900" b="0"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adoption</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 from  self-hosting startups to large enterprises </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Light"/>
              <a:buNone/>
              <a:tabLst/>
              <a:defRPr/>
            </a:pPr>
            <a:r>
              <a:rPr kumimoji="0" lang="en" sz="900" b="0" i="0" u="none" strike="noStrike" kern="0" cap="none" spc="0" normalizeH="0" baseline="0" noProof="0" dirty="0">
                <a:ln>
                  <a:noFill/>
                </a:ln>
                <a:solidFill>
                  <a:srgbClr val="000000"/>
                </a:solidFill>
                <a:effectLst/>
                <a:uLnTx/>
                <a:uFillTx/>
                <a:latin typeface="IBM Plex Sans Light"/>
                <a:sym typeface="IBM Plex Sans Light"/>
              </a:rPr>
              <a:t>Downstream in existing and upcoming commercial offerings (e.g. Red Hat® AI 3)</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251456" y="1242915"/>
            <a:ext cx="3865107" cy="344846"/>
          </a:xfrm>
          <a:prstGeom prst="rect">
            <a:avLst/>
          </a:prstGeom>
          <a:noFill/>
          <a:ln>
            <a:noFill/>
          </a:ln>
        </p:spPr>
        <p:txBody>
          <a:bodyPr spcFirstLastPara="1" wrap="square" lIns="0" tIns="0" rIns="0" bIns="0" anchor="t" anchorCtr="0">
            <a:noAutofit/>
          </a:bodyPr>
          <a:lstStyle/>
          <a:p>
            <a:pPr marL="0" marR="0" lvl="0" indent="0" defTabSz="914400" eaLnBrk="1" fontAlgn="auto" latinLnBrk="0" hangingPunct="1">
              <a:lnSpc>
                <a:spcPct val="110000"/>
              </a:lnSpc>
              <a:spcBef>
                <a:spcPts val="0"/>
              </a:spcBef>
              <a:spcAft>
                <a:spcPts val="0"/>
              </a:spcAft>
              <a:buClrTx/>
              <a:buSzPts val="1100"/>
              <a:buFont typeface="IBM Plex Sans"/>
              <a:buNone/>
              <a:tabLst/>
              <a:defRPr/>
            </a:pPr>
            <a:r>
              <a:rPr kumimoji="0" lang="en" sz="1100" b="0" i="0" u="none" strike="noStrike" kern="0" cap="none" spc="0" normalizeH="0" baseline="0" noProof="0">
                <a:ln>
                  <a:noFill/>
                </a:ln>
                <a:solidFill>
                  <a:sysClr val="windowText" lastClr="000000"/>
                </a:solidFill>
                <a:effectLst/>
                <a:uLnTx/>
                <a:uFillTx/>
                <a:latin typeface="IBM Plex Sans"/>
                <a:ea typeface="IBM Plex Sans"/>
                <a:cs typeface="IBM Plex Sans"/>
                <a:sym typeface="IBM Plex Sans"/>
              </a:rPr>
              <a:t>Laying the foundation for a common platform…</a:t>
            </a:r>
            <a:endParaRPr kumimoji="0" sz="1100" b="0" i="0" u="none" strike="noStrike" kern="0" cap="none" spc="0" normalizeH="0" baseline="0" noProof="0">
              <a:ln>
                <a:noFill/>
              </a:ln>
              <a:solidFill>
                <a:sysClr val="windowText" lastClr="000000"/>
              </a:solidFill>
              <a:effectLst/>
              <a:uLnTx/>
              <a:uFillTx/>
            </a:endParaRP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769432"/>
            <a:ext cx="3801680" cy="620646"/>
          </a:xfrm>
          <a:prstGeom prst="rect">
            <a:avLst/>
          </a:prstGeom>
          <a:noFill/>
          <a:ln w="12700" cap="flat" cmpd="sng">
            <a:solidFill>
              <a:srgbClr val="7F317F"/>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161935" y="2390078"/>
            <a:ext cx="4357314" cy="0"/>
          </a:xfrm>
          <a:prstGeom prst="straightConnector1">
            <a:avLst/>
          </a:prstGeom>
          <a:noFill/>
          <a:ln w="12700" cap="flat" cmpd="sng">
            <a:solidFill>
              <a:srgbClr val="7F317F"/>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594176" y="4201279"/>
            <a:ext cx="222993" cy="20986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192204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16431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191753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193364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191753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161935" y="2056153"/>
            <a:ext cx="448292" cy="155847"/>
          </a:xfrm>
          <a:prstGeom prst="rect">
            <a:avLst/>
          </a:prstGeom>
          <a:noFill/>
          <a:ln>
            <a:noFill/>
          </a:ln>
        </p:spPr>
        <p:txBody>
          <a:bodyPr spcFirstLastPara="1" wrap="square" lIns="34275" tIns="17150" rIns="34275" bIns="17150" anchor="ctr" anchorCtr="0">
            <a:noAutofit/>
          </a:bodyPr>
          <a:lstStyle/>
          <a:p>
            <a:pPr algn="ctr">
              <a:lnSpc>
                <a:spcPct val="90000"/>
              </a:lnSpc>
              <a:buSzPts val="600"/>
              <a:buFont typeface="IBM Plex Sans"/>
              <a:buNone/>
              <a:defRPr/>
            </a:pPr>
            <a:r>
              <a:rPr lang="en" sz="600">
                <a:latin typeface="IBM Plex Sans"/>
                <a:ea typeface="IBM Plex Sans"/>
                <a:cs typeface="IBM Plex Sans"/>
                <a:sym typeface="IBM Plex Sans"/>
              </a:rPr>
              <a:t>May ’25</a:t>
            </a:r>
            <a:endParaRPr sz="600" baseline="30000">
              <a:latin typeface="IBM Plex Sans"/>
              <a:ea typeface="IBM Plex Sans"/>
              <a:cs typeface="IBM Plex Sans"/>
              <a:sym typeface="IBM Plex Sans"/>
            </a:endParaRP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386081" y="2212000"/>
            <a:ext cx="600" cy="181500"/>
          </a:xfrm>
          <a:prstGeom prst="straightConnector1">
            <a:avLst/>
          </a:prstGeom>
          <a:noFill/>
          <a:ln w="12700" cap="flat" cmpd="sng">
            <a:solidFill>
              <a:srgbClr val="7F317F"/>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16222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15746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191753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190759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17028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850629"/>
            <a:ext cx="0" cy="428492"/>
          </a:xfrm>
          <a:prstGeom prst="straightConnector1">
            <a:avLst/>
          </a:prstGeom>
          <a:noFill/>
          <a:ln w="12700" cap="flat" cmpd="sng">
            <a:solidFill>
              <a:srgbClr val="BFBFBF"/>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850629"/>
            <a:ext cx="0" cy="428492"/>
          </a:xfrm>
          <a:prstGeom prst="straightConnector1">
            <a:avLst/>
          </a:prstGeom>
          <a:noFill/>
          <a:ln w="12700" cap="flat" cmpd="sng">
            <a:solidFill>
              <a:srgbClr val="BFBFBF"/>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715983" y="1339917"/>
            <a:ext cx="0" cy="4097324"/>
          </a:xfrm>
          <a:prstGeom prst="straightConnector1">
            <a:avLst/>
          </a:prstGeom>
          <a:noFill/>
          <a:ln w="12700" cap="flat" cmpd="sng">
            <a:solidFill>
              <a:srgbClr val="D8D8D8"/>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892467" y="1242915"/>
            <a:ext cx="4025548" cy="344846"/>
          </a:xfrm>
          <a:prstGeom prst="rect">
            <a:avLst/>
          </a:prstGeom>
          <a:noFill/>
          <a:ln>
            <a:noFill/>
          </a:ln>
        </p:spPr>
        <p:txBody>
          <a:bodyPr spcFirstLastPara="1" wrap="square" lIns="0" tIns="0" rIns="0" bIns="0" anchor="t" anchorCtr="0">
            <a:noAutofit/>
          </a:bodyPr>
          <a:lstStyle/>
          <a:p>
            <a:pPr>
              <a:lnSpc>
                <a:spcPct val="110000"/>
              </a:lnSpc>
              <a:buSzPts val="1100"/>
              <a:buFont typeface="IBM Plex Sans"/>
              <a:buNone/>
              <a:defRPr/>
            </a:pPr>
            <a:r>
              <a:rPr lang="en" sz="1100" dirty="0">
                <a:latin typeface="IBM Plex Sans"/>
                <a:ea typeface="IBM Plex Sans"/>
                <a:cs typeface="IBM Plex Sans"/>
                <a:sym typeface="IBM Plex Sans"/>
              </a:rPr>
              <a:t>... delivering </a:t>
            </a:r>
            <a:r>
              <a:rPr lang="en" dirty="0" err="1">
                <a:solidFill>
                  <a:schemeClr val="accent3"/>
                </a:solidFill>
                <a:sym typeface="IBM Plex Sans"/>
              </a:rPr>
              <a:t>SoTA</a:t>
            </a:r>
            <a:r>
              <a:rPr lang="zh-CN" altLang="en-US" dirty="0">
                <a:solidFill>
                  <a:schemeClr val="accent3"/>
                </a:solidFill>
                <a:sym typeface="IBM Plex Sans"/>
              </a:rPr>
              <a:t>（</a:t>
            </a:r>
            <a:r>
              <a:rPr lang="zh-CN" altLang="zh-CN" dirty="0">
                <a:solidFill>
                  <a:schemeClr val="accent3"/>
                </a:solidFill>
              </a:rPr>
              <a:t> state-of-the-art </a:t>
            </a:r>
            <a:r>
              <a:rPr lang="zh-CN" altLang="en-US" dirty="0">
                <a:solidFill>
                  <a:schemeClr val="accent3"/>
                </a:solidFill>
                <a:sym typeface="IBM Plex Sans"/>
              </a:rPr>
              <a:t>）</a:t>
            </a:r>
            <a:r>
              <a:rPr lang="en-US" altLang="zh-CN" sz="1100" dirty="0">
                <a:latin typeface="IBM Plex Sans"/>
                <a:sym typeface="IBM Plex Sans"/>
              </a:rPr>
              <a:t>LLM</a:t>
            </a:r>
            <a:r>
              <a:rPr lang="zh-CN" altLang="en-US" sz="1100" dirty="0">
                <a:latin typeface="IBM Plex Sans"/>
                <a:sym typeface="IBM Plex Sans"/>
              </a:rPr>
              <a:t> </a:t>
            </a:r>
            <a:r>
              <a:rPr lang="en-US" altLang="zh-CN" sz="1100" dirty="0">
                <a:latin typeface="IBM Plex Sans"/>
                <a:sym typeface="IBM Plex Sans"/>
              </a:rPr>
              <a:t>model</a:t>
            </a:r>
            <a:endParaRPr sz="1100" dirty="0">
              <a:latin typeface="IBM Plex Sans"/>
              <a:sym typeface="IBM Plex Sans"/>
            </a:endParaRP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5452223" y="1934506"/>
            <a:ext cx="2792700" cy="2985423"/>
          </a:xfrm>
          <a:prstGeom prst="rect">
            <a:avLst/>
          </a:prstGeom>
          <a:noFill/>
          <a:ln>
            <a:noFill/>
          </a:ln>
        </p:spPr>
        <p:txBody>
          <a:bodyPr spcFirstLastPara="1" wrap="square" lIns="68575" tIns="68575" rIns="68575" bIns="68575" anchor="t" anchorCtr="0">
            <a:spAutoFit/>
          </a:bodyPr>
          <a:lstStyle/>
          <a:p>
            <a:pPr marL="0" marR="0" lvl="0" indent="0" defTabSz="914400" eaLnBrk="1" fontAlgn="auto" latinLnBrk="0" hangingPunct="1">
              <a:lnSpc>
                <a:spcPct val="100000"/>
              </a:lnSpc>
              <a:spcBef>
                <a:spcPts val="0"/>
              </a:spcBef>
              <a:spcAft>
                <a:spcPts val="0"/>
              </a:spcAft>
              <a:buClrTx/>
              <a:buSzPts val="800"/>
              <a:buFont typeface="IBM Plex Sans"/>
              <a:buNone/>
              <a:tabLst/>
              <a:defRPr/>
            </a:pP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State-of-the-art </a:t>
            </a:r>
            <a:r>
              <a:rPr kumimoji="0" lang="en" sz="900" b="1" i="0" u="none" strike="noStrike" kern="0" cap="none" spc="0" normalizeH="0" baseline="0" noProof="0" dirty="0" err="1">
                <a:ln>
                  <a:noFill/>
                </a:ln>
                <a:solidFill>
                  <a:sysClr val="windowText" lastClr="000000"/>
                </a:solidFill>
                <a:effectLst/>
                <a:uLnTx/>
                <a:uFillTx/>
                <a:latin typeface="IBM Plex Sans"/>
                <a:ea typeface="IBM Plex Sans"/>
                <a:cs typeface="IBM Plex Sans"/>
                <a:sym typeface="IBM Plex Sans"/>
              </a:rPr>
              <a:t>MoE</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 serving</a:t>
            </a:r>
            <a:endParaRPr kumimoji="0" sz="1200" b="0" i="0" u="none" strike="noStrike" kern="0" cap="none" spc="0" normalizeH="0" baseline="0" noProof="0" dirty="0">
              <a:ln>
                <a:noFill/>
              </a:ln>
              <a:solidFill>
                <a:sysClr val="windowText" lastClr="000000"/>
              </a:solidFill>
              <a:effectLst/>
              <a:uLnTx/>
              <a:uFillTx/>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Advanced communication strategies like Dual Batch Overlap reaching </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2.2k tokens/second per GPU</a:t>
            </a:r>
            <a:endParaRPr kumimoji="0" sz="1200" b="0" i="0" u="none" strike="noStrike" kern="0" cap="none" spc="0" normalizeH="0" baseline="0" noProof="0" dirty="0">
              <a:ln>
                <a:noFill/>
              </a:ln>
              <a:solidFill>
                <a:sysClr val="windowText" lastClr="000000"/>
              </a:solidFill>
              <a:effectLst/>
              <a:uLnTx/>
              <a:uFillTx/>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endParaRPr kumimoji="0"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endParaRPr>
          </a:p>
          <a:p>
            <a:pPr marL="0" marR="0" lvl="0" indent="0" defTabSz="914400" eaLnBrk="1" fontAlgn="auto" latinLnBrk="0" hangingPunct="1">
              <a:lnSpc>
                <a:spcPct val="100000"/>
              </a:lnSpc>
              <a:spcBef>
                <a:spcPts val="600"/>
              </a:spcBef>
              <a:spcAft>
                <a:spcPts val="0"/>
              </a:spcAft>
              <a:buClrTx/>
              <a:buSzPts val="800"/>
              <a:buFont typeface="IBM Plex Sans"/>
              <a:buNone/>
              <a:tabLst/>
              <a:defRPr/>
            </a:pP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Production-ready prefill/decode disaggregation</a:t>
            </a:r>
            <a:endParaRPr kumimoji="0" sz="900" b="1"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Adaptive SLO balancer, improving P90 latency </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by up to 3x</a:t>
            </a: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 in long-prefill workloads.</a:t>
            </a:r>
            <a:endParaRPr kumimoji="0" sz="1200" b="0" i="0" u="none" strike="noStrike" kern="0" cap="none" spc="0" normalizeH="0" baseline="0" noProof="0" dirty="0">
              <a:ln>
                <a:noFill/>
              </a:ln>
              <a:solidFill>
                <a:sysClr val="windowText" lastClr="000000"/>
              </a:solidFill>
              <a:effectLst/>
              <a:uLnTx/>
              <a:uFillTx/>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endParaRPr kumimoji="0"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Pts val="800"/>
              <a:buFont typeface="IBM Plex Sans"/>
              <a:buNone/>
              <a:tabLst/>
              <a:defRPr/>
            </a:pP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Pioneered state-aware scheduler</a:t>
            </a:r>
            <a:endParaRPr kumimoji="0" sz="1200" b="0" i="0" u="none" strike="noStrike" kern="0" cap="none" spc="0" normalizeH="0" baseline="0" noProof="0" dirty="0">
              <a:ln>
                <a:noFill/>
              </a:ln>
              <a:solidFill>
                <a:sysClr val="windowText" lastClr="000000"/>
              </a:solidFill>
              <a:effectLst/>
              <a:uLnTx/>
              <a:uFillTx/>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Precise prefix-caching </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57x faster</a:t>
            </a: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 than the default intelligent scheduler under heavy, multi-tenant load.</a:t>
            </a:r>
            <a:endParaRPr kumimoji="0"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endParaRPr kumimoji="0"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Pts val="800"/>
              <a:buFont typeface="IBM Plex Sans"/>
              <a:buNone/>
              <a:tabLst/>
              <a:defRPr/>
            </a:pP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Predictive, SLO-driven </a:t>
            </a:r>
            <a:r>
              <a:rPr kumimoji="0" lang="en" sz="900" b="1" i="0" u="none" strike="noStrike" kern="0" cap="none" spc="0" normalizeH="0" baseline="0" noProof="0" dirty="0" err="1">
                <a:ln>
                  <a:noFill/>
                </a:ln>
                <a:solidFill>
                  <a:sysClr val="windowText" lastClr="000000"/>
                </a:solidFill>
                <a:effectLst/>
                <a:uLnTx/>
                <a:uFillTx/>
                <a:latin typeface="IBM Plex Sans"/>
                <a:ea typeface="IBM Plex Sans"/>
                <a:cs typeface="IBM Plex Sans"/>
                <a:sym typeface="IBM Plex Sans"/>
              </a:rPr>
              <a:t>autoscaler</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 architecture</a:t>
            </a:r>
            <a:endParaRPr kumimoji="0" sz="900" b="1"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Enabled </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scale-to-zero</a:t>
            </a: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 enabling dynamic resource allocation to maximize cluster utilization</a:t>
            </a:r>
            <a:endParaRPr kumimoji="0" sz="1200" b="0" i="0" u="none" strike="noStrike" kern="0" cap="none" spc="0" normalizeH="0" baseline="0" noProof="0" dirty="0">
              <a:ln>
                <a:noFill/>
              </a:ln>
              <a:solidFill>
                <a:sysClr val="windowText" lastClr="000000"/>
              </a:solidFill>
              <a:effectLst/>
              <a:uLnTx/>
              <a:uFillTx/>
            </a:endParaRP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208873" y="2855060"/>
            <a:ext cx="985430" cy="0"/>
          </a:xfrm>
          <a:prstGeom prst="straightConnector1">
            <a:avLst/>
          </a:prstGeom>
          <a:noFill/>
          <a:ln w="12700" cap="flat" cmpd="sng">
            <a:solidFill>
              <a:srgbClr val="7F317F"/>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5194303" y="1981987"/>
            <a:ext cx="81437" cy="2855263"/>
          </a:xfrm>
          <a:prstGeom prst="leftBracket">
            <a:avLst>
              <a:gd name="adj" fmla="val 8333"/>
            </a:avLst>
          </a:prstGeom>
          <a:noFill/>
          <a:ln w="12700" cap="flat" cmpd="sng">
            <a:solidFill>
              <a:srgbClr val="7F317F"/>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66152" y="5314326"/>
            <a:ext cx="0" cy="232875"/>
          </a:xfrm>
          <a:prstGeom prst="straightConnector1">
            <a:avLst/>
          </a:prstGeom>
          <a:noFill/>
          <a:ln w="9525" cap="flat" cmpd="sng">
            <a:solidFill>
              <a:srgbClr val="D5D5D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19924" y="5314326"/>
            <a:ext cx="697923" cy="213510"/>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13264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4892467" y="1559850"/>
            <a:ext cx="4572000" cy="400110"/>
          </a:xfrm>
          <a:prstGeom prst="rect">
            <a:avLst/>
          </a:prstGeom>
          <a:noFill/>
        </p:spPr>
        <p:txBody>
          <a:bodyPr wrap="square">
            <a:spAutoFit/>
          </a:bodyPr>
          <a:lstStyle/>
          <a:p>
            <a:r>
              <a:rPr lang="zh-CN" altLang="zh-CN" sz="1000" dirty="0">
                <a:solidFill>
                  <a:schemeClr val="accent3"/>
                </a:solidFill>
              </a:rPr>
              <a:t>a large language model with the most advanced capabilities currently available.</a:t>
            </a:r>
            <a:endParaRPr lang="zh-CN" altLang="en-US" sz="1000" dirty="0">
              <a:solidFill>
                <a:schemeClr val="accent3"/>
              </a:solidFill>
            </a:endParaRPr>
          </a:p>
        </p:txBody>
      </p:sp>
      <p:sp>
        <p:nvSpPr>
          <p:cNvPr id="35" name="右大括号 34">
            <a:extLst>
              <a:ext uri="{FF2B5EF4-FFF2-40B4-BE49-F238E27FC236}">
                <a16:creationId xmlns:a16="http://schemas.microsoft.com/office/drawing/2014/main" id="{C0325AD1-219F-E5EF-2E15-5CB33A2144CD}"/>
              </a:ext>
            </a:extLst>
          </p:cNvPr>
          <p:cNvSpPr/>
          <p:nvPr/>
        </p:nvSpPr>
        <p:spPr>
          <a:xfrm rot="16200000">
            <a:off x="6403160" y="1046611"/>
            <a:ext cx="129588" cy="97474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D7F2E7-6CB6-3505-F92E-2B0E5132BB9E}"/>
              </a:ext>
            </a:extLst>
          </p:cNvPr>
          <p:cNvSpPr>
            <a:spLocks noGrp="1"/>
          </p:cNvSpPr>
          <p:nvPr>
            <p:ph type="title" idx="4294967295"/>
          </p:nvPr>
        </p:nvSpPr>
        <p:spPr>
          <a:xfrm>
            <a:off x="0" y="0"/>
            <a:ext cx="6950075" cy="1047750"/>
          </a:xfrm>
        </p:spPr>
        <p:txBody>
          <a:bodyPr/>
          <a:lstStyle/>
          <a:p>
            <a:r>
              <a:rPr lang="en" altLang="zh-CN" dirty="0">
                <a:sym typeface="Red Hat Display"/>
              </a:rPr>
              <a:t>LLM-D “Well-lit” Paths</a:t>
            </a:r>
            <a:endParaRPr lang="zh-CN" altLang="en-US" dirty="0"/>
          </a:p>
        </p:txBody>
      </p:sp>
      <p:sp>
        <p:nvSpPr>
          <p:cNvPr id="3" name="文本占位符 2">
            <a:extLst>
              <a:ext uri="{FF2B5EF4-FFF2-40B4-BE49-F238E27FC236}">
                <a16:creationId xmlns:a16="http://schemas.microsoft.com/office/drawing/2014/main" id="{77D357A9-8935-800E-F394-06F60FE6BE5F}"/>
              </a:ext>
            </a:extLst>
          </p:cNvPr>
          <p:cNvSpPr>
            <a:spLocks noGrp="1"/>
          </p:cNvSpPr>
          <p:nvPr>
            <p:ph type="body" idx="4294967295"/>
          </p:nvPr>
        </p:nvSpPr>
        <p:spPr>
          <a:xfrm>
            <a:off x="0" y="1152525"/>
            <a:ext cx="8521700" cy="3317875"/>
          </a:xfrm>
        </p:spPr>
        <p:txBody>
          <a:bodyPr/>
          <a:lstStyle/>
          <a:p>
            <a:pPr marL="285750" lvl="0" indent="-285750">
              <a:buSzPts val="2600"/>
              <a:buFont typeface="Arial" panose="020B0604020202020204" pitchFamily="34" charset="0"/>
              <a:buChar char="•"/>
              <a:defRPr/>
            </a:pPr>
            <a:r>
              <a:rPr lang="en" altLang="zh-CN" sz="2400" dirty="0">
                <a:sym typeface="IBM Plex Sans Light"/>
              </a:rPr>
              <a:t>Intelligent Inference Scheduling</a:t>
            </a:r>
            <a:endParaRPr lang="en" altLang="zh-CN" sz="2400" dirty="0"/>
          </a:p>
          <a:p>
            <a:pPr marL="285750" lvl="0" indent="-285750">
              <a:spcBef>
                <a:spcPts val="900"/>
              </a:spcBef>
              <a:buSzPts val="2600"/>
              <a:buFont typeface="Arial" panose="020B0604020202020204" pitchFamily="34" charset="0"/>
              <a:buChar char="•"/>
              <a:defRPr/>
            </a:pPr>
            <a:r>
              <a:rPr lang="en" altLang="zh-CN" sz="2400" dirty="0">
                <a:sym typeface="IBM Plex Sans Light"/>
              </a:rPr>
              <a:t>KV Cache Management</a:t>
            </a:r>
          </a:p>
          <a:p>
            <a:pPr marL="285750" indent="-285750">
              <a:spcBef>
                <a:spcPts val="900"/>
              </a:spcBef>
              <a:buSzPts val="2600"/>
              <a:buFont typeface="Arial" panose="020B0604020202020204" pitchFamily="34" charset="0"/>
              <a:buChar char="•"/>
              <a:defRPr/>
            </a:pPr>
            <a:r>
              <a:rPr lang="en" altLang="zh-CN" sz="2400" dirty="0">
                <a:sym typeface="IBM Plex Sans Light"/>
              </a:rPr>
              <a:t>Wide Expert Parallelism</a:t>
            </a:r>
          </a:p>
          <a:p>
            <a:pPr marL="285750" indent="-285750">
              <a:spcBef>
                <a:spcPts val="900"/>
              </a:spcBef>
              <a:buSzPts val="2600"/>
              <a:buFont typeface="Arial" panose="020B0604020202020204" pitchFamily="34" charset="0"/>
              <a:buChar char="•"/>
              <a:defRPr/>
            </a:pPr>
            <a:r>
              <a:rPr lang="en" altLang="zh-CN" sz="2400" dirty="0">
                <a:sym typeface="IBM Plex Sans Light"/>
              </a:rPr>
              <a:t>P/D Disaggregation</a:t>
            </a:r>
            <a:endParaRPr lang="en" altLang="zh-CN" sz="2400" dirty="0"/>
          </a:p>
        </p:txBody>
      </p:sp>
      <p:sp>
        <p:nvSpPr>
          <p:cNvPr id="7" name="文本框 6">
            <a:extLst>
              <a:ext uri="{FF2B5EF4-FFF2-40B4-BE49-F238E27FC236}">
                <a16:creationId xmlns:a16="http://schemas.microsoft.com/office/drawing/2014/main" id="{2C67B86B-48AD-F2AC-60C9-E23ED20D91AB}"/>
              </a:ext>
            </a:extLst>
          </p:cNvPr>
          <p:cNvSpPr txBox="1"/>
          <p:nvPr/>
        </p:nvSpPr>
        <p:spPr>
          <a:xfrm>
            <a:off x="234917" y="740123"/>
            <a:ext cx="8162205" cy="307777"/>
          </a:xfrm>
          <a:prstGeom prst="rect">
            <a:avLst/>
          </a:prstGeom>
          <a:noFill/>
        </p:spPr>
        <p:txBody>
          <a:bodyPr wrap="square">
            <a:spAutoFit/>
          </a:bodyPr>
          <a:lstStyle/>
          <a:p>
            <a:r>
              <a:rPr lang="en" altLang="zh-CN" dirty="0">
                <a:solidFill>
                  <a:schemeClr val="bg1"/>
                </a:solidFill>
                <a:sym typeface="IBM Plex Sans Light"/>
              </a:rPr>
              <a:t>“well-lit paths” philosophy: validated, production-ready deployment patterns for </a:t>
            </a:r>
            <a:r>
              <a:rPr lang="en" altLang="zh-CN" dirty="0" err="1">
                <a:solidFill>
                  <a:schemeClr val="bg1"/>
                </a:solidFill>
                <a:sym typeface="IBM Plex Sans Light"/>
              </a:rPr>
              <a:t>SoTA</a:t>
            </a:r>
            <a:r>
              <a:rPr lang="en" altLang="zh-CN" dirty="0">
                <a:solidFill>
                  <a:schemeClr val="bg1"/>
                </a:solidFill>
                <a:sym typeface="IBM Plex Sans Light"/>
              </a:rPr>
              <a:t> performance</a:t>
            </a:r>
            <a:endParaRPr lang="zh-CN" altLang="en-US" dirty="0">
              <a:solidFill>
                <a:schemeClr val="bg1"/>
              </a:solidFill>
            </a:endParaRP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0" y="0"/>
            <a:ext cx="6950075" cy="1047750"/>
          </a:xfrm>
        </p:spPr>
        <p:txBody>
          <a:bodyPr>
            <a:normAutofit/>
          </a:bodyPr>
          <a:lstStyle/>
          <a:p>
            <a:r>
              <a:rPr lang="en-US" dirty="0"/>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457199" y="1118700"/>
            <a:ext cx="7900000" cy="360000"/>
          </a:xfrm>
          <a:prstGeom prst="rect">
            <a:avLst/>
          </a:prstGeom>
          <a:noFill/>
        </p:spPr>
        <p:txBody>
          <a:bodyPr wrap="square" rtlCol="0">
            <a:normAutofit/>
          </a:bodyPr>
          <a:lstStyle/>
          <a:p>
            <a:r>
              <a:rPr lang="en-US" sz="1400" b="1" dirty="0">
                <a:solidFill>
                  <a:schemeClr val="accent2">
                    <a:lumMod val="75000"/>
                  </a:schemeClr>
                </a:solidFil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200" b="1" dirty="0">
                <a:solidFill>
                  <a:schemeClr val="accent2">
                    <a:lumMod val="75000"/>
                  </a:schemeClr>
                </a:solidFill>
              </a:rPr>
              <a:t>You bring a model name + GPU SKU — KAITO does the rest.</a:t>
            </a:r>
          </a:p>
          <a:p>
            <a:pPr marL="228600" indent="-228600">
              <a:buFont typeface="Arial" panose="020B0604020202020204" pitchFamily="34" charset="0"/>
              <a:buChar char="•"/>
            </a:pPr>
            <a:r>
              <a:rPr lang="en-US" sz="1100" dirty="0"/>
              <a:t>Node Auto Provisioning — node count auto-sized from model memory footprint</a:t>
            </a:r>
          </a:p>
          <a:p>
            <a:pPr marL="228600" indent="-228600">
              <a:buFont typeface="Arial" panose="020B0604020202020204" pitchFamily="34" charset="0"/>
              <a:buChar char="•"/>
            </a:pPr>
            <a:r>
              <a:rPr lang="en-US" sz="1100" dirty="0"/>
              <a:t>Model onboarding — any vLLM HF model, Model Mirror + local NVMe cache</a:t>
            </a:r>
          </a:p>
          <a:p>
            <a:pPr marL="228600" indent="-228600">
              <a:buFont typeface="Arial" panose="020B0604020202020204" pitchFamily="34" charset="0"/>
              <a:buChar char="•"/>
            </a:pPr>
            <a:r>
              <a:rPr lang="en-US" sz="1100" dirty="0"/>
              <a:t>Workload lifecycle — InferenceSet: multi-replica, rolling upgrade</a:t>
            </a:r>
          </a:p>
          <a:p>
            <a:pPr marL="228600" indent="-228600">
              <a:buFont typeface="Arial" panose="020B0604020202020204" pitchFamily="34" charset="0"/>
              <a:buChar char="•"/>
            </a:pPr>
            <a:r>
              <a:rPr lang="en-US" sz="1100" dirty="0"/>
              <a:t>Autoscaling — KEDA on live vLLM metrics (queue / latency) or cron schedule</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0" y="0"/>
            <a:ext cx="6950075" cy="1047750"/>
          </a:xfrm>
        </p:spPr>
        <p:txBody>
          <a:bodyPr>
            <a:normAutofit/>
          </a:bodyPr>
          <a:lstStyle/>
          <a:p>
            <a:r>
              <a:rPr lang="en-US" dirty="0"/>
              <a:t>KAITO workload example</a:t>
            </a:r>
          </a:p>
        </p:txBody>
      </p:sp>
      <p:sp>
        <p:nvSpPr>
          <p:cNvPr id="10" name="Caption"/>
          <p:cNvSpPr txBox="1"/>
          <p:nvPr/>
        </p:nvSpPr>
        <p:spPr>
          <a:xfrm>
            <a:off x="457200" y="1040000"/>
            <a:ext cx="8229600" cy="360000"/>
          </a:xfrm>
          <a:prstGeom prst="rect">
            <a:avLst/>
          </a:prstGeom>
          <a:noFill/>
        </p:spPr>
        <p:txBody>
          <a:bodyPr wrap="square" rtlCol="0">
            <a:normAutofit/>
          </a:bodyPr>
          <a:lstStyle/>
          <a:p>
            <a:r>
              <a:rPr lang="en-US" sz="1400" b="1" dirty="0">
                <a:solidFill>
                  <a:schemeClr val="accent2">
                    <a:lumMod val="75000"/>
                  </a:schemeClr>
                </a:solidFill>
              </a:rPr>
              <a:t>Set only the model and GPU SKU name</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a:latin typeface="Consolas" panose="020B0609020204030204" pitchFamily="49" charset="0"/>
              </a:rPr>
              <a:t>apiVersion: kaito.sh/v1beta1</a:t>
            </a:r>
          </a:p>
          <a:p>
            <a:r>
              <a:rPr lang="en-US" sz="1200" dirty="0">
                <a:latin typeface="Consolas" panose="020B0609020204030204" pitchFamily="49" charset="0"/>
              </a:rPr>
              <a:t>kind: InferenceSet</a:t>
            </a:r>
          </a:p>
          <a:p>
            <a:r>
              <a:rPr lang="en-US" sz="1200" dirty="0">
                <a:latin typeface="Consolas" panose="020B0609020204030204" pitchFamily="49" charset="0"/>
              </a:rPr>
              <a:t>metadata:</a:t>
            </a:r>
          </a:p>
          <a:p>
            <a:r>
              <a:rPr lang="en-US" sz="1200" dirty="0">
                <a:latin typeface="Consolas" panose="020B0609020204030204" pitchFamily="49" charset="0"/>
              </a:rPr>
              <a:t>  name: qwen3-8b</a:t>
            </a:r>
          </a:p>
          <a:p>
            <a:r>
              <a:rPr lang="en-US" sz="1200" dirty="0">
                <a:latin typeface="Consolas" panose="020B0609020204030204" pitchFamily="49" charset="0"/>
              </a:rPr>
              <a:t>spec:</a:t>
            </a:r>
          </a:p>
          <a:p>
            <a:r>
              <a:rPr lang="en-US" sz="1200" dirty="0">
                <a:latin typeface="Consolas" panose="020B0609020204030204" pitchFamily="49" charset="0"/>
              </a:rPr>
              <a:t>  replicas: 3</a:t>
            </a:r>
          </a:p>
          <a:p>
            <a:r>
              <a:rPr lang="en-US" sz="1200" dirty="0">
                <a:latin typeface="Consolas" panose="020B0609020204030204" pitchFamily="49" charset="0"/>
              </a:rPr>
              <a:t>  labelSelector:</a:t>
            </a:r>
          </a:p>
          <a:p>
            <a:r>
              <a:rPr lang="en-US" sz="1200" dirty="0">
                <a:latin typeface="Consolas" panose="020B0609020204030204" pitchFamily="49" charset="0"/>
              </a:rPr>
              <a:t>    matchLabels:</a:t>
            </a:r>
          </a:p>
          <a:p>
            <a:r>
              <a:rPr lang="en-US" sz="1200" dirty="0">
                <a:latin typeface="Consolas" panose="020B0609020204030204" pitchFamily="49" charset="0"/>
              </a:rPr>
              <a:t>      app: qwen3-8b</a:t>
            </a:r>
          </a:p>
          <a:p>
            <a:r>
              <a:rPr lang="en-US" sz="1200" dirty="0">
                <a:latin typeface="Consolas" panose="020B0609020204030204" pitchFamily="49" charset="0"/>
              </a:rPr>
              <a:t>  template:</a:t>
            </a:r>
          </a:p>
          <a:p>
            <a:r>
              <a:rPr lang="en-US" sz="1200" dirty="0">
                <a:latin typeface="Consolas" panose="020B0609020204030204" pitchFamily="49" charset="0"/>
              </a:rPr>
              <a:t>    resource:</a:t>
            </a:r>
          </a:p>
          <a:p>
            <a:r>
              <a:rPr lang="en-US" sz="1200" dirty="0">
                <a:latin typeface="Consolas" panose="020B0609020204030204" pitchFamily="49" charset="0"/>
              </a:rPr>
              <a:t>      </a:t>
            </a:r>
            <a:r>
              <a:rPr lang="en-US" sz="1200" b="1" dirty="0">
                <a:solidFill>
                  <a:srgbClr val="0070C0"/>
                </a:solidFill>
                <a:latin typeface="Consolas" panose="020B0609020204030204" pitchFamily="49" charset="0"/>
              </a:rPr>
              <a:t>instanceType</a:t>
            </a:r>
            <a:r>
              <a:rPr lang="en-US" sz="1200" dirty="0">
                <a:latin typeface="Consolas" panose="020B0609020204030204" pitchFamily="49" charset="0"/>
              </a:rPr>
              <a:t>: Standard_NC24ads_A100_v4</a:t>
            </a:r>
            <a:r>
              <a:rPr lang="en-US" sz="1200" dirty="0">
                <a:solidFill>
                  <a:srgbClr val="2E7D32"/>
                </a:solidFill>
                <a:latin typeface="Consolas" panose="020B0609020204030204" pitchFamily="49" charset="0"/>
              </a:rPr>
              <a:t>   # &lt;- GPU SKU</a:t>
            </a:r>
          </a:p>
          <a:p>
            <a:r>
              <a:rPr lang="en-US" sz="1200" dirty="0">
                <a:latin typeface="Consolas" panose="020B0609020204030204" pitchFamily="49" charset="0"/>
              </a:rPr>
              <a:t>    inference:</a:t>
            </a:r>
          </a:p>
          <a:p>
            <a:r>
              <a:rPr lang="en-US" sz="1200" dirty="0">
                <a:latin typeface="Consolas" panose="020B0609020204030204" pitchFamily="49" charset="0"/>
              </a:rPr>
              <a:t>      preset:</a:t>
            </a:r>
          </a:p>
          <a:p>
            <a:r>
              <a:rPr lang="en-US" sz="1200" dirty="0">
                <a:latin typeface="Consolas" panose="020B0609020204030204" pitchFamily="49" charset="0"/>
              </a:rPr>
              <a:t>        </a:t>
            </a:r>
            <a:r>
              <a:rPr lang="en-US" sz="1200" b="1" dirty="0">
                <a:solidFill>
                  <a:srgbClr val="0070C0"/>
                </a:solidFill>
                <a:latin typeface="Consolas" panose="020B0609020204030204" pitchFamily="49" charset="0"/>
              </a:rPr>
              <a:t>name</a:t>
            </a:r>
            <a:r>
              <a:rPr lang="en-US" sz="1200" dirty="0">
                <a:latin typeface="Consolas" panose="020B0609020204030204" pitchFamily="49" charset="0"/>
              </a:rPr>
              <a:t>: Qwen/Qwen3-Coder-30B-A3B-Instruct</a:t>
            </a:r>
            <a:r>
              <a:rPr lang="en-US" sz="1200" dirty="0">
                <a:solidFill>
                  <a:srgbClr val="2E7D32"/>
                </a:solidFill>
                <a:latin typeface="Consolas" panose="020B0609020204030204" pitchFamily="49" charset="0"/>
              </a:rPr>
              <a:t> # &lt;- model (https://huggingface.co/Qwen/Qwen3-Coder-30B-A3B-Instruct)</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80000"/>
            <a:ext cx="8229600" cy="650000"/>
          </a:xfrm>
          <a:prstGeom prst="rect">
            <a:avLst/>
          </a:prstGeom>
          <a:noFill/>
        </p:spPr>
        <p:txBody>
          <a:bodyPr wrap="square" lIns="91440" tIns="45720" rIns="91440" bIns="45720" rtlCol="0">
            <a:normAutofit/>
          </a:bodyPr>
          <a:lstStyle/>
          <a:p>
            <a:r>
              <a:rPr lang="en-US" sz="2400" b="1" dirty="0"/>
              <a:t>How KAITO calculates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80000"/>
            <a:ext cx="8229600" cy="1850000"/>
          </a:xfrm>
          <a:prstGeom prst="rect">
            <a:avLst/>
          </a:prstGeom>
          <a:solidFill>
            <a:srgbClr val="F5F5F5"/>
          </a:solidFill>
          <a:ln w="9525">
            <a:solidFill>
              <a:srgbClr val="D0D0D0"/>
            </a:solidFill>
          </a:ln>
        </p:spPr>
        <p:txBody>
          <a:bodyPr wrap="square" lIns="91440" tIns="45720" rIns="91440" bIns="45720" rtlCol="0">
            <a:normAutofit/>
          </a:bodyPr>
          <a:lstStyle/>
          <a:p>
            <a:r>
              <a:rPr lang="en-US" dirty="0">
                <a:latin typeface="Consolas" panose="020B0609020204030204" pitchFamily="49" charset="0"/>
              </a:rPr>
              <a:t>per-GPU budget = GPU memory  ×  0.84            (vLLM memory utilization)</a:t>
            </a:r>
          </a:p>
          <a:p>
            <a:r>
              <a:rPr lang="en-US" dirty="0">
                <a:latin typeface="Consolas" panose="020B0609020204030204" pitchFamily="49" charset="0"/>
              </a:rPr>
              <a:t>               −  ~2.3 GiB   fixed overhead</a:t>
            </a:r>
          </a:p>
          <a:p>
            <a:r>
              <a:rPr lang="en-US" dirty="0">
                <a:latin typeface="Consolas" panose="020B0609020204030204" pitchFamily="49" charset="0"/>
              </a:rPr>
              <a:t>               −  KV cache   ( max-model-len × bytes-per-token )</a:t>
            </a:r>
          </a:p>
          <a:p>
            <a:r>
              <a:rPr lang="en-US" dirty="0">
                <a:latin typeface="Consolas" panose="020B0609020204030204" pitchFamily="49" charset="0"/>
              </a:rPr>
              <a:t> </a:t>
            </a:r>
          </a:p>
          <a:p>
            <a:r>
              <a:rPr lang="en-US" dirty="0">
                <a:latin typeface="Consolas" panose="020B0609020204030204" pitchFamily="49" charset="0"/>
              </a:rPr>
              <a:t>min GPUs    = ceil( model weights  ÷  per-GPU budget )   (weights × 1.02)</a:t>
            </a:r>
          </a:p>
          <a:p>
            <a:r>
              <a:rPr lang="en-US"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5932171" y="0"/>
            <a:ext cx="3211601" cy="5143500"/>
          </a:xfrm>
          <a:prstGeom prst="rect">
            <a:avLst/>
          </a:prstGeom>
          <a:solidFill>
            <a:srgbClr val="1934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 name="KAITO + llm-d"/>
          <p:cNvSpPr txBox="1"/>
          <p:nvPr/>
        </p:nvSpPr>
        <p:spPr>
          <a:xfrm>
            <a:off x="480060" y="939546"/>
            <a:ext cx="5349240" cy="548640"/>
          </a:xfrm>
          <a:prstGeom prst="rect">
            <a:avLst/>
          </a:prstGeom>
          <a:noFill/>
        </p:spPr>
        <p:txBody>
          <a:bodyPr wrap="square" lIns="0" tIns="0" rIns="0" bIns="0" anchor="t">
            <a:noAutofit/>
          </a:bodyPr>
          <a:lstStyle/>
          <a:p>
            <a:pPr>
              <a:spcAft>
                <a:spcPts val="300"/>
              </a:spcAft>
              <a:defRPr sz="4200" b="1">
                <a:solidFill>
                  <a:srgbClr val="FFFFFF"/>
                </a:solidFill>
                <a:latin typeface="Arial"/>
              </a:defRPr>
            </a:pPr>
            <a:r>
              <a:rPr sz="3150"/>
              <a:t>KAITO + llm-d</a:t>
            </a:r>
          </a:p>
        </p:txBody>
      </p:sp>
      <p:sp>
        <p:nvSpPr>
          <p:cNvPr id="5" name="Prefill/Decode / Disaggregation"/>
          <p:cNvSpPr txBox="1"/>
          <p:nvPr/>
        </p:nvSpPr>
        <p:spPr>
          <a:xfrm>
            <a:off x="493776" y="1659636"/>
            <a:ext cx="5212080" cy="1028700"/>
          </a:xfrm>
          <a:prstGeom prst="rect">
            <a:avLst/>
          </a:prstGeom>
          <a:noFill/>
        </p:spPr>
        <p:txBody>
          <a:bodyPr wrap="square" lIns="0" tIns="0" rIns="0" bIns="0" anchor="t">
            <a:noAutofit/>
          </a:bodyPr>
          <a:lstStyle/>
          <a:p>
            <a:pPr>
              <a:spcAft>
                <a:spcPts val="300"/>
              </a:spcAft>
              <a:defRPr sz="3600" b="1">
                <a:solidFill>
                  <a:srgbClr val="FFFFFF"/>
                </a:solidFill>
                <a:latin typeface="Arial"/>
              </a:defRPr>
            </a:pPr>
            <a:r>
              <a:rPr sz="2700" dirty="0">
                <a:solidFill>
                  <a:schemeClr val="tx1"/>
                </a:solidFill>
              </a:rPr>
              <a:t>Prefill/Decode</a:t>
            </a:r>
          </a:p>
          <a:p>
            <a:pPr>
              <a:spcAft>
                <a:spcPts val="300"/>
              </a:spcAft>
              <a:defRPr sz="3600" b="1">
                <a:solidFill>
                  <a:srgbClr val="FFFFFF"/>
                </a:solidFill>
                <a:latin typeface="Arial"/>
              </a:defRPr>
            </a:pPr>
            <a:r>
              <a:rPr sz="2700" dirty="0">
                <a:solidFill>
                  <a:schemeClr val="tx1"/>
                </a:solidFill>
              </a:rPr>
              <a:t>Disaggregation</a:t>
            </a:r>
          </a:p>
        </p:txBody>
      </p:sp>
      <p:sp>
        <p:nvSpPr>
          <p:cNvPr id="6" name="One declarative topology. / One serving endpoint. Two specialized roles."/>
          <p:cNvSpPr txBox="1"/>
          <p:nvPr/>
        </p:nvSpPr>
        <p:spPr>
          <a:xfrm>
            <a:off x="507492" y="2846070"/>
            <a:ext cx="4800600" cy="603504"/>
          </a:xfrm>
          <a:prstGeom prst="rect">
            <a:avLst/>
          </a:prstGeom>
          <a:noFill/>
        </p:spPr>
        <p:txBody>
          <a:bodyPr wrap="square" lIns="0" tIns="0" rIns="0" bIns="0" anchor="t">
            <a:noAutofit/>
          </a:bodyPr>
          <a:lstStyle/>
          <a:p>
            <a:pPr>
              <a:spcAft>
                <a:spcPts val="300"/>
              </a:spcAft>
              <a:defRPr sz="2200" b="0">
                <a:solidFill>
                  <a:srgbClr val="C8D8E7"/>
                </a:solidFill>
                <a:latin typeface="Arial"/>
              </a:defRPr>
            </a:pPr>
            <a:r>
              <a:rPr sz="1650"/>
              <a:t>One declarative topology.</a:t>
            </a:r>
          </a:p>
          <a:p>
            <a:pPr>
              <a:spcAft>
                <a:spcPts val="300"/>
              </a:spcAft>
              <a:defRPr sz="2200" b="0">
                <a:solidFill>
                  <a:srgbClr val="C8D8E7"/>
                </a:solidFill>
                <a:latin typeface="Arial"/>
              </a:defRPr>
            </a:pPr>
            <a:r>
              <a:rPr sz="1650"/>
              <a:t>One serving endpoint. Two specialized roles.</a:t>
            </a:r>
          </a:p>
        </p:txBody>
      </p:sp>
      <p:sp>
        <p:nvSpPr>
          <p:cNvPr id="7" name="DECLARE TOPOLOGY"/>
          <p:cNvSpPr/>
          <p:nvPr/>
        </p:nvSpPr>
        <p:spPr>
          <a:xfrm>
            <a:off x="507492" y="3874770"/>
            <a:ext cx="1440180" cy="21945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000" b="1">
                <a:solidFill>
                  <a:srgbClr val="7150C8"/>
                </a:solidFill>
                <a:latin typeface="Arial"/>
              </a:defRPr>
            </a:pPr>
            <a:r>
              <a:rPr sz="750"/>
              <a:t>DECLARE TOPOLOGY</a:t>
            </a:r>
          </a:p>
        </p:txBody>
      </p:sp>
      <p:sp>
        <p:nvSpPr>
          <p:cNvPr id="8" name="ROUTE BY ROLE"/>
          <p:cNvSpPr/>
          <p:nvPr/>
        </p:nvSpPr>
        <p:spPr>
          <a:xfrm>
            <a:off x="2071116" y="3874770"/>
            <a:ext cx="1330452" cy="21945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000" b="1">
                <a:solidFill>
                  <a:srgbClr val="2463D4"/>
                </a:solidFill>
                <a:latin typeface="Arial"/>
              </a:defRPr>
            </a:pPr>
            <a:r>
              <a:rPr sz="750"/>
              <a:t>ROUTE BY ROLE</a:t>
            </a:r>
          </a:p>
        </p:txBody>
      </p:sp>
      <p:sp>
        <p:nvSpPr>
          <p:cNvPr id="9" name="TRANSFER KV"/>
          <p:cNvSpPr/>
          <p:nvPr/>
        </p:nvSpPr>
        <p:spPr>
          <a:xfrm>
            <a:off x="3518154" y="3874770"/>
            <a:ext cx="1426464" cy="219456"/>
          </a:xfrm>
          <a:prstGeom prst="roundRect">
            <a:avLst>
              <a:gd name="adj" fmla="val 12000"/>
            </a:avLst>
          </a:prstGeom>
          <a:solidFill>
            <a:srgbClr val="E9F6EC"/>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000" b="1">
                <a:solidFill>
                  <a:srgbClr val="24824C"/>
                </a:solidFill>
                <a:latin typeface="Arial"/>
              </a:defRPr>
            </a:pPr>
            <a:r>
              <a:rPr sz="750"/>
              <a:t>TRANSFER KV</a:t>
            </a:r>
          </a:p>
        </p:txBody>
      </p:sp>
      <p:sp>
        <p:nvSpPr>
          <p:cNvPr id="10" name="THE PLATFORM STACK"/>
          <p:cNvSpPr txBox="1"/>
          <p:nvPr/>
        </p:nvSpPr>
        <p:spPr>
          <a:xfrm>
            <a:off x="6185916" y="685800"/>
            <a:ext cx="2400300" cy="20574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a:t>THE PLATFORM STACK</a:t>
            </a:r>
          </a:p>
        </p:txBody>
      </p:sp>
      <p:sp>
        <p:nvSpPr>
          <p:cNvPr id="11" name="KAITO"/>
          <p:cNvSpPr/>
          <p:nvPr/>
        </p:nvSpPr>
        <p:spPr>
          <a:xfrm>
            <a:off x="6185916" y="1131570"/>
            <a:ext cx="2455164" cy="589788"/>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a:t>KAITO</a:t>
            </a:r>
          </a:p>
          <a:p>
            <a:pPr algn="ctr">
              <a:spcBef>
                <a:spcPts val="225"/>
              </a:spcBef>
              <a:defRPr sz="1200" b="0">
                <a:solidFill>
                  <a:srgbClr val="5B6E80"/>
                </a:solidFill>
                <a:latin typeface="Arial"/>
              </a:defRPr>
            </a:pPr>
            <a:r>
              <a:rPr sz="900"/>
              <a:t>MultiRoleInference</a:t>
            </a:r>
          </a:p>
        </p:txBody>
      </p:sp>
      <p:sp>
        <p:nvSpPr>
          <p:cNvPr id="12" name="GWIE"/>
          <p:cNvSpPr/>
          <p:nvPr/>
        </p:nvSpPr>
        <p:spPr>
          <a:xfrm>
            <a:off x="6185916" y="1879092"/>
            <a:ext cx="245516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a:t>GWIE</a:t>
            </a:r>
          </a:p>
          <a:p>
            <a:pPr algn="ctr">
              <a:spcBef>
                <a:spcPts val="225"/>
              </a:spcBef>
              <a:defRPr sz="1200" b="0">
                <a:solidFill>
                  <a:srgbClr val="5B6E80"/>
                </a:solidFill>
                <a:latin typeface="Arial"/>
              </a:defRPr>
            </a:pPr>
            <a:r>
              <a:rPr sz="900"/>
              <a:t>InferencePool contract</a:t>
            </a:r>
          </a:p>
        </p:txBody>
      </p:sp>
      <p:sp>
        <p:nvSpPr>
          <p:cNvPr id="13" name="llm-d Router"/>
          <p:cNvSpPr/>
          <p:nvPr/>
        </p:nvSpPr>
        <p:spPr>
          <a:xfrm>
            <a:off x="6185916" y="2626614"/>
            <a:ext cx="245516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a:t>llm-d Router</a:t>
            </a:r>
          </a:p>
          <a:p>
            <a:pPr algn="ctr">
              <a:spcBef>
                <a:spcPts val="225"/>
              </a:spcBef>
              <a:defRPr sz="1200" b="0">
                <a:solidFill>
                  <a:srgbClr val="5B6E80"/>
                </a:solidFill>
                <a:latin typeface="Arial"/>
              </a:defRPr>
            </a:pPr>
            <a:r>
              <a:rPr sz="900"/>
              <a:t>Endpoint Picker (EPP)</a:t>
            </a:r>
          </a:p>
        </p:txBody>
      </p:sp>
      <p:sp>
        <p:nvSpPr>
          <p:cNvPr id="14" name="vLLM + NIXL"/>
          <p:cNvSpPr/>
          <p:nvPr/>
        </p:nvSpPr>
        <p:spPr>
          <a:xfrm>
            <a:off x="6185916" y="3374136"/>
            <a:ext cx="2455164" cy="58978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a:t>vLLM + NIXL</a:t>
            </a:r>
          </a:p>
          <a:p>
            <a:pPr algn="ctr">
              <a:spcBef>
                <a:spcPts val="225"/>
              </a:spcBef>
              <a:defRPr sz="1200" b="0">
                <a:solidFill>
                  <a:srgbClr val="5B6E80"/>
                </a:solidFill>
                <a:latin typeface="Arial"/>
              </a:defRPr>
            </a:pPr>
            <a:r>
              <a:rPr sz="900"/>
              <a:t>Runtime + direct KV transfer</a:t>
            </a:r>
          </a:p>
        </p:txBody>
      </p:sp>
      <p:cxnSp>
        <p:nvCxnSpPr>
          <p:cNvPr id="15" name="KAITO → GWIE"/>
          <p:cNvCxnSpPr>
            <a:stCxn id="11" idx="2"/>
            <a:endCxn id="12" idx="0"/>
          </p:cNvCxnSpPr>
          <p:nvPr/>
        </p:nvCxnSpPr>
        <p:spPr>
          <a:xfrm flipH="1">
            <a:off x="7413498" y="1721358"/>
            <a:ext cx="0" cy="157734"/>
          </a:xfrm>
          <a:prstGeom prst="line">
            <a:avLst/>
          </a:prstGeom>
          <a:ln w="22860">
            <a:solidFill>
              <a:srgbClr val="C8D8E7"/>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6" name="GWIE → llm-d Router"/>
          <p:cNvCxnSpPr>
            <a:stCxn id="12" idx="2"/>
            <a:endCxn id="13" idx="0"/>
          </p:cNvCxnSpPr>
          <p:nvPr/>
        </p:nvCxnSpPr>
        <p:spPr>
          <a:xfrm flipH="1">
            <a:off x="7413498" y="2468880"/>
            <a:ext cx="0" cy="157734"/>
          </a:xfrm>
          <a:prstGeom prst="line">
            <a:avLst/>
          </a:prstGeom>
          <a:ln w="22860">
            <a:solidFill>
              <a:srgbClr val="C8D8E7"/>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7" name="llm-d Router → vLLM + NIXL"/>
          <p:cNvCxnSpPr>
            <a:stCxn id="13" idx="2"/>
            <a:endCxn id="14" idx="0"/>
          </p:cNvCxnSpPr>
          <p:nvPr/>
        </p:nvCxnSpPr>
        <p:spPr>
          <a:xfrm flipH="1">
            <a:off x="7413498" y="3216402"/>
            <a:ext cx="0" cy="157734"/>
          </a:xfrm>
          <a:prstGeom prst="line">
            <a:avLst/>
          </a:prstGeom>
          <a:ln w="22860">
            <a:solidFill>
              <a:srgbClr val="C8D8E7"/>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KAITO + llm-d  /  PREFILL–DECODE DISAGGREGATION"/>
          <p:cNvSpPr txBox="1"/>
          <p:nvPr/>
        </p:nvSpPr>
        <p:spPr>
          <a:xfrm>
            <a:off x="411480" y="4889754"/>
            <a:ext cx="5486400" cy="123444"/>
          </a:xfrm>
          <a:prstGeom prst="rect">
            <a:avLst/>
          </a:prstGeom>
          <a:noFill/>
        </p:spPr>
        <p:txBody>
          <a:bodyPr wrap="square" lIns="0" tIns="0" rIns="0" bIns="0" anchor="t">
            <a:noAutofit/>
          </a:bodyPr>
          <a:lstStyle/>
          <a:p>
            <a:pPr>
              <a:spcAft>
                <a:spcPts val="150"/>
              </a:spcAft>
              <a:defRPr sz="900" b="0">
                <a:solidFill>
                  <a:srgbClr val="C8D8E7"/>
                </a:solidFill>
                <a:latin typeface="Arial"/>
              </a:defRPr>
            </a:pPr>
            <a:r>
              <a:rPr sz="675"/>
              <a:t>KAITO + llm-d  /  PREFILL–DECODE DISAGGREGATION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a:t>ROUTING  /  KAITO + llm-d</a:t>
            </a:r>
          </a:p>
        </p:txBody>
      </p:sp>
      <p:sp>
        <p:nvSpPr>
          <p:cNvPr id="4" name="llm-d Router brings role-aware decisions"/>
          <p:cNvSpPr txBox="1"/>
          <p:nvPr/>
        </p:nvSpPr>
        <p:spPr>
          <a:xfrm>
            <a:off x="411480" y="493776"/>
            <a:ext cx="8298180" cy="418338"/>
          </a:xfrm>
          <a:prstGeom prst="rect">
            <a:avLst/>
          </a:prstGeom>
          <a:noFill/>
        </p:spPr>
        <p:txBody>
          <a:bodyPr wrap="square" lIns="0" tIns="0" rIns="0" bIns="0" anchor="t">
            <a:noAutofit/>
          </a:bodyPr>
          <a:lstStyle/>
          <a:p>
            <a:pPr>
              <a:spcAft>
                <a:spcPts val="300"/>
              </a:spcAft>
              <a:defRPr sz="3000" b="1">
                <a:solidFill>
                  <a:srgbClr val="10243A"/>
                </a:solidFill>
                <a:latin typeface="Arial"/>
              </a:defRPr>
            </a:pPr>
            <a:r>
              <a:rPr sz="2250"/>
              <a:t>llm-d Router brings role-aware decisions</a:t>
            </a:r>
          </a:p>
        </p:txBody>
      </p:sp>
      <p:sp>
        <p:nvSpPr>
          <p:cNvPr id="5" name="The Endpoint Picker selects workers; the serving path executes the decision."/>
          <p:cNvSpPr txBox="1"/>
          <p:nvPr/>
        </p:nvSpPr>
        <p:spPr>
          <a:xfrm>
            <a:off x="425196" y="953262"/>
            <a:ext cx="8229600" cy="233172"/>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a:t>The Endpoint Picker selects workers; the serving path executes the decision.</a:t>
            </a:r>
          </a:p>
        </p:txBody>
      </p:sp>
      <p:sp>
        <p:nvSpPr>
          <p:cNvPr id="6" name="KAITO + llm-d  /  PREFILL–DECODE DISAGGREGATION"/>
          <p:cNvSpPr txBox="1"/>
          <p:nvPr/>
        </p:nvSpPr>
        <p:spPr>
          <a:xfrm>
            <a:off x="411480" y="4889754"/>
            <a:ext cx="5486400" cy="123444"/>
          </a:xfrm>
          <a:prstGeom prst="rect">
            <a:avLst/>
          </a:prstGeom>
          <a:noFill/>
        </p:spPr>
        <p:txBody>
          <a:bodyPr wrap="square" lIns="0" tIns="0" rIns="0" bIns="0" anchor="t">
            <a:noAutofit/>
          </a:bodyPr>
          <a:lstStyle/>
          <a:p>
            <a:pPr>
              <a:spcAft>
                <a:spcPts val="150"/>
              </a:spcAft>
              <a:defRPr sz="900" b="0">
                <a:solidFill>
                  <a:srgbClr val="5B6E80"/>
                </a:solidFill>
                <a:latin typeface="Arial"/>
              </a:defRPr>
            </a:pPr>
            <a:r>
              <a:rPr sz="675"/>
              <a:t>KAITO + llm-d  /  PREFILL–DECODE DISAGGREGATION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a:t>Gateway</a:t>
            </a:r>
          </a:p>
          <a:p>
            <a:pPr algn="ctr">
              <a:spcBef>
                <a:spcPts val="225"/>
              </a:spcBef>
              <a:defRPr sz="1200" b="0">
                <a:solidFill>
                  <a:srgbClr val="5B6E80"/>
                </a:solidFill>
                <a:latin typeface="Arial"/>
              </a:defRPr>
            </a:pPr>
            <a:r>
              <a:rPr sz="900"/>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a:t>llm-d Router EPP</a:t>
            </a:r>
          </a:p>
          <a:p>
            <a:pPr algn="ctr">
              <a:spcBef>
                <a:spcPts val="225"/>
              </a:spcBef>
              <a:defRPr sz="1200" b="0">
                <a:solidFill>
                  <a:srgbClr val="5B6E80"/>
                </a:solidFill>
                <a:latin typeface="Arial"/>
              </a:defRPr>
            </a:pPr>
            <a:r>
              <a:rPr sz="900"/>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a:t>Selected workers</a:t>
            </a:r>
          </a:p>
          <a:p>
            <a:pPr algn="ctr">
              <a:spcBef>
                <a:spcPts val="225"/>
              </a:spcBef>
              <a:defRPr sz="1200" b="0">
                <a:solidFill>
                  <a:srgbClr val="5B6E80"/>
                </a:solidFill>
                <a:latin typeface="Arial"/>
              </a:defRPr>
            </a:pPr>
            <a:r>
              <a:rPr sz="900"/>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a:t>Model-aware selection</a:t>
            </a:r>
          </a:p>
          <a:p>
            <a:pPr>
              <a:spcAft>
                <a:spcPts val="150"/>
              </a:spcAft>
              <a:defRPr sz="1600" b="0">
                <a:solidFill>
                  <a:srgbClr val="5B6E80"/>
                </a:solidFill>
                <a:latin typeface="Arial"/>
              </a:defRPr>
            </a:pPr>
            <a:r>
              <a:rPr sz="1200"/>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a:t>KV-cache-aware logic</a:t>
            </a:r>
          </a:p>
          <a:p>
            <a:pPr>
              <a:spcAft>
                <a:spcPts val="150"/>
              </a:spcAft>
              <a:defRPr sz="1600" b="0">
                <a:solidFill>
                  <a:srgbClr val="5B6E80"/>
                </a:solidFill>
                <a:latin typeface="Arial"/>
              </a:defRPr>
            </a:pPr>
            <a:r>
              <a:rPr sz="1200"/>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a:t>A plugin surface for</a:t>
            </a:r>
          </a:p>
          <a:p>
            <a:pPr>
              <a:spcAft>
                <a:spcPts val="150"/>
              </a:spcAft>
              <a:defRPr sz="1600" b="0">
                <a:solidFill>
                  <a:srgbClr val="5B6E80"/>
                </a:solidFill>
                <a:latin typeface="Arial"/>
              </a:defRPr>
            </a:pPr>
            <a:r>
              <a:rPr sz="1200"/>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a:t>KAITO builds on llm-d’s routing intelligence — it does not invent a second routing engine.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a:t>RESPONSIBILITIES  /  KAITO + llm-d</a:t>
            </a:r>
          </a:p>
        </p:txBody>
      </p:sp>
      <p:sp>
        <p:nvSpPr>
          <p:cNvPr id="4" name="Three layers. Three clear responsibilities."/>
          <p:cNvSpPr txBox="1"/>
          <p:nvPr/>
        </p:nvSpPr>
        <p:spPr>
          <a:xfrm>
            <a:off x="411480" y="493776"/>
            <a:ext cx="8298180" cy="418338"/>
          </a:xfrm>
          <a:prstGeom prst="rect">
            <a:avLst/>
          </a:prstGeom>
          <a:noFill/>
        </p:spPr>
        <p:txBody>
          <a:bodyPr wrap="square" lIns="0" tIns="0" rIns="0" bIns="0" anchor="t">
            <a:noAutofit/>
          </a:bodyPr>
          <a:lstStyle/>
          <a:p>
            <a:pPr>
              <a:spcAft>
                <a:spcPts val="300"/>
              </a:spcAft>
              <a:defRPr sz="3000" b="1">
                <a:solidFill>
                  <a:srgbClr val="10243A"/>
                </a:solidFill>
                <a:latin typeface="Arial"/>
              </a:defRPr>
            </a:pPr>
            <a:r>
              <a:rPr sz="2250"/>
              <a:t>Three layers. Three clear responsibilities.</a:t>
            </a:r>
          </a:p>
        </p:txBody>
      </p:sp>
      <p:sp>
        <p:nvSpPr>
          <p:cNvPr id="5" name="The InferencePool contract connects platform orchestration to routing."/>
          <p:cNvSpPr txBox="1"/>
          <p:nvPr/>
        </p:nvSpPr>
        <p:spPr>
          <a:xfrm>
            <a:off x="425196" y="953262"/>
            <a:ext cx="8229600" cy="233172"/>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a:t>The InferencePool contract connects platform orchestration to routing.</a:t>
            </a:r>
          </a:p>
        </p:txBody>
      </p:sp>
      <p:sp>
        <p:nvSpPr>
          <p:cNvPr id="6" name="KAITO + llm-d  /  PREFILL–DECODE DISAGGREGATION"/>
          <p:cNvSpPr txBox="1"/>
          <p:nvPr/>
        </p:nvSpPr>
        <p:spPr>
          <a:xfrm>
            <a:off x="411480" y="4889754"/>
            <a:ext cx="5486400" cy="123444"/>
          </a:xfrm>
          <a:prstGeom prst="rect">
            <a:avLst/>
          </a:prstGeom>
          <a:noFill/>
        </p:spPr>
        <p:txBody>
          <a:bodyPr wrap="square" lIns="0" tIns="0" rIns="0" bIns="0" anchor="t">
            <a:noAutofit/>
          </a:bodyPr>
          <a:lstStyle/>
          <a:p>
            <a:pPr>
              <a:spcAft>
                <a:spcPts val="150"/>
              </a:spcAft>
              <a:defRPr sz="900" b="0">
                <a:solidFill>
                  <a:srgbClr val="5B6E80"/>
                </a:solidFill>
                <a:latin typeface="Arial"/>
              </a:defRPr>
            </a:pPr>
            <a:r>
              <a:rPr sz="675"/>
              <a:t>KAITO + llm-d  /  PREFILL–DECODE DISAGGREGATION</a:t>
            </a:r>
          </a:p>
        </p:txBody>
      </p:sp>
      <p:sp>
        <p:nvSpPr>
          <p:cNvPr id="7" name="03 / 12"/>
          <p:cNvSpPr txBox="1"/>
          <p:nvPr/>
        </p:nvSpPr>
        <p:spPr>
          <a:xfrm>
            <a:off x="8092440" y="4869180"/>
            <a:ext cx="617220" cy="157734"/>
          </a:xfrm>
          <a:prstGeom prst="rect">
            <a:avLst/>
          </a:prstGeom>
          <a:noFill/>
        </p:spPr>
        <p:txBody>
          <a:bodyPr wrap="square" lIns="0" tIns="0" rIns="0" bIns="0" anchor="t">
            <a:noAutofit/>
          </a:bodyPr>
          <a:lstStyle/>
          <a:p>
            <a:pPr algn="r">
              <a:spcAft>
                <a:spcPts val="150"/>
              </a:spcAft>
              <a:defRPr sz="1000" b="0">
                <a:solidFill>
                  <a:srgbClr val="5B6E80"/>
                </a:solidFill>
                <a:latin typeface="Arial"/>
              </a:defRPr>
            </a:pPr>
            <a:r>
              <a:rPr sz="750"/>
              <a:t>03 / 12</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a:t>KAITO owns the topology. GWIE defines the contract. llm-d Router makes the selection.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a:t>ARCHITECTURE  /  KAITO + llm-d</a:t>
            </a:r>
          </a:p>
        </p:txBody>
      </p:sp>
      <p:sp>
        <p:nvSpPr>
          <p:cNvPr id="4" name="One endpoint. Separate control, request and KV paths."/>
          <p:cNvSpPr txBox="1"/>
          <p:nvPr/>
        </p:nvSpPr>
        <p:spPr>
          <a:xfrm>
            <a:off x="411480" y="493776"/>
            <a:ext cx="8298180" cy="418338"/>
          </a:xfrm>
          <a:prstGeom prst="rect">
            <a:avLst/>
          </a:prstGeom>
          <a:noFill/>
        </p:spPr>
        <p:txBody>
          <a:bodyPr wrap="square" lIns="0" tIns="0" rIns="0" bIns="0" anchor="t">
            <a:noAutofit/>
          </a:bodyPr>
          <a:lstStyle/>
          <a:p>
            <a:pPr>
              <a:spcAft>
                <a:spcPts val="300"/>
              </a:spcAft>
              <a:defRPr sz="3000" b="1">
                <a:solidFill>
                  <a:srgbClr val="10243A"/>
                </a:solidFill>
                <a:latin typeface="Arial"/>
              </a:defRPr>
            </a:pPr>
            <a:r>
              <a:rPr sz="2250"/>
              <a:t>One endpoint. Separate control, request and KV paths.</a:t>
            </a:r>
          </a:p>
        </p:txBody>
      </p:sp>
      <p:sp>
        <p:nvSpPr>
          <p:cNvPr id="5" name="Read the serving path left to right; endpoint selection is an out-of-band decisi"/>
          <p:cNvSpPr txBox="1"/>
          <p:nvPr/>
        </p:nvSpPr>
        <p:spPr>
          <a:xfrm>
            <a:off x="425196" y="953262"/>
            <a:ext cx="8229600" cy="233172"/>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a:t>Read the serving path left to right; endpoint selection is an out-of-band decision.</a:t>
            </a:r>
          </a:p>
        </p:txBody>
      </p:sp>
      <p:sp>
        <p:nvSpPr>
          <p:cNvPr id="6" name="KAITO + llm-d  /  PREFILL–DECODE DISAGGREGATION"/>
          <p:cNvSpPr txBox="1"/>
          <p:nvPr/>
        </p:nvSpPr>
        <p:spPr>
          <a:xfrm>
            <a:off x="411480" y="4889754"/>
            <a:ext cx="5486400" cy="123444"/>
          </a:xfrm>
          <a:prstGeom prst="rect">
            <a:avLst/>
          </a:prstGeom>
          <a:noFill/>
        </p:spPr>
        <p:txBody>
          <a:bodyPr wrap="square" lIns="0" tIns="0" rIns="0" bIns="0" anchor="t">
            <a:noAutofit/>
          </a:bodyPr>
          <a:lstStyle/>
          <a:p>
            <a:pPr>
              <a:spcAft>
                <a:spcPts val="150"/>
              </a:spcAft>
              <a:defRPr sz="900" b="0">
                <a:solidFill>
                  <a:srgbClr val="5B6E80"/>
                </a:solidFill>
                <a:latin typeface="Arial"/>
              </a:defRPr>
            </a:pPr>
            <a:r>
              <a:rPr sz="675"/>
              <a:t>KAITO + llm-d  /  PREFILL–DECODE DISAGGREGATION</a:t>
            </a:r>
          </a:p>
        </p:txBody>
      </p:sp>
      <p:sp>
        <p:nvSpPr>
          <p:cNvPr id="7" name="04 / 12"/>
          <p:cNvSpPr txBox="1"/>
          <p:nvPr/>
        </p:nvSpPr>
        <p:spPr>
          <a:xfrm>
            <a:off x="8092440" y="4869180"/>
            <a:ext cx="617220" cy="157734"/>
          </a:xfrm>
          <a:prstGeom prst="rect">
            <a:avLst/>
          </a:prstGeom>
          <a:noFill/>
        </p:spPr>
        <p:txBody>
          <a:bodyPr wrap="square" lIns="0" tIns="0" rIns="0" bIns="0" anchor="t">
            <a:noAutofit/>
          </a:bodyPr>
          <a:lstStyle/>
          <a:p>
            <a:pPr algn="r">
              <a:spcAft>
                <a:spcPts val="150"/>
              </a:spcAft>
              <a:defRPr sz="1000" b="0">
                <a:solidFill>
                  <a:srgbClr val="5B6E80"/>
                </a:solidFill>
                <a:latin typeface="Arial"/>
              </a:defRPr>
            </a:pPr>
            <a:r>
              <a:rPr sz="750"/>
              <a:t>04 / 12</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a:t>endpoint selection</a:t>
            </a:r>
          </a:p>
          <a:p>
            <a:pPr algn="r">
              <a:spcAft>
                <a:spcPts val="150"/>
              </a:spcAft>
              <a:defRPr sz="1000" b="0">
                <a:solidFill>
                  <a:srgbClr val="7150C8"/>
                </a:solidFill>
                <a:latin typeface="Arial"/>
              </a:defRPr>
            </a:pPr>
            <a:r>
              <a:rPr sz="750"/>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a:t>The client sees one endpoint; KV data never needs to pass through the gateway.</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a:t>DECLARATIVE API  /  KAITO + llm-d</a:t>
            </a:r>
          </a:p>
        </p:txBody>
      </p:sp>
      <p:sp>
        <p:nvSpPr>
          <p:cNvPr id="4" name="One object declares the serving topology"/>
          <p:cNvSpPr txBox="1"/>
          <p:nvPr/>
        </p:nvSpPr>
        <p:spPr>
          <a:xfrm>
            <a:off x="411480" y="493776"/>
            <a:ext cx="8298180" cy="418338"/>
          </a:xfrm>
          <a:prstGeom prst="rect">
            <a:avLst/>
          </a:prstGeom>
          <a:noFill/>
        </p:spPr>
        <p:txBody>
          <a:bodyPr wrap="square" lIns="0" tIns="0" rIns="0" bIns="0" anchor="t">
            <a:noAutofit/>
          </a:bodyPr>
          <a:lstStyle/>
          <a:p>
            <a:r>
              <a:rPr lang="en-US" altLang="zh-CN" sz="2400" b="1" dirty="0">
                <a:latin typeface="Aptos Display"/>
              </a:rPr>
              <a:t>One KAITO </a:t>
            </a:r>
            <a:r>
              <a:rPr lang="en-US" altLang="zh-CN" sz="2400" b="1" dirty="0" err="1">
                <a:latin typeface="Aptos Display"/>
              </a:rPr>
              <a:t>MultiRoleInference</a:t>
            </a:r>
            <a:r>
              <a:rPr lang="en-US" altLang="zh-CN" sz="2400" b="1" dirty="0">
                <a:latin typeface="Aptos Display"/>
              </a:rPr>
              <a:t> describes the topology</a:t>
            </a:r>
          </a:p>
        </p:txBody>
      </p:sp>
      <p:sp>
        <p:nvSpPr>
          <p:cNvPr id="5" name="One model, distinct instance types: 1 A100 prefill replica + 2 H100 decode repli"/>
          <p:cNvSpPr txBox="1"/>
          <p:nvPr/>
        </p:nvSpPr>
        <p:spPr>
          <a:xfrm>
            <a:off x="425196" y="953262"/>
            <a:ext cx="8229600" cy="233172"/>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dirty="0"/>
              <a:t>One model, distinct instance types: 1 A100 prefill replica + 2 H100 decode replicas.</a:t>
            </a:r>
          </a:p>
        </p:txBody>
      </p:sp>
      <p:sp>
        <p:nvSpPr>
          <p:cNvPr id="6" name="KAITO + llm-d  /  PREFILL–DECODE DISAGGREGATION"/>
          <p:cNvSpPr txBox="1"/>
          <p:nvPr/>
        </p:nvSpPr>
        <p:spPr>
          <a:xfrm>
            <a:off x="411480" y="4889754"/>
            <a:ext cx="5486400" cy="123444"/>
          </a:xfrm>
          <a:prstGeom prst="rect">
            <a:avLst/>
          </a:prstGeom>
          <a:noFill/>
        </p:spPr>
        <p:txBody>
          <a:bodyPr wrap="square" lIns="0" tIns="0" rIns="0" bIns="0" anchor="t">
            <a:noAutofit/>
          </a:bodyPr>
          <a:lstStyle/>
          <a:p>
            <a:pPr>
              <a:spcAft>
                <a:spcPts val="150"/>
              </a:spcAft>
              <a:defRPr sz="900" b="0">
                <a:solidFill>
                  <a:srgbClr val="5B6E80"/>
                </a:solidFill>
                <a:latin typeface="Arial"/>
              </a:defRPr>
            </a:pPr>
            <a:r>
              <a:rPr sz="675"/>
              <a:t>KAITO + llm-d  /  PREFILL–DECODE DISAGGREGATION</a:t>
            </a:r>
          </a:p>
        </p:txBody>
      </p:sp>
      <p:sp>
        <p:nvSpPr>
          <p:cNvPr id="7" name="05 / 12"/>
          <p:cNvSpPr txBox="1"/>
          <p:nvPr/>
        </p:nvSpPr>
        <p:spPr>
          <a:xfrm>
            <a:off x="8092440" y="4869180"/>
            <a:ext cx="617220" cy="157734"/>
          </a:xfrm>
          <a:prstGeom prst="rect">
            <a:avLst/>
          </a:prstGeom>
          <a:noFill/>
        </p:spPr>
        <p:txBody>
          <a:bodyPr wrap="square" lIns="0" tIns="0" rIns="0" bIns="0" anchor="t">
            <a:noAutofit/>
          </a:bodyPr>
          <a:lstStyle/>
          <a:p>
            <a:pPr algn="r">
              <a:spcAft>
                <a:spcPts val="150"/>
              </a:spcAft>
              <a:defRPr sz="1000" b="0">
                <a:solidFill>
                  <a:srgbClr val="5B6E80"/>
                </a:solidFill>
                <a:latin typeface="Arial"/>
              </a:defRPr>
            </a:pPr>
            <a:r>
              <a:rPr sz="750"/>
              <a:t>05 / 12</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a:t>apiVersion: kaito.sh/v1alpha1</a:t>
            </a:r>
          </a:p>
          <a:p>
            <a:pPr>
              <a:lnSpc>
                <a:spcPts val="1223"/>
              </a:lnSpc>
              <a:defRPr sz="1400" b="0">
                <a:solidFill>
                  <a:srgbClr val="FFFFFF"/>
                </a:solidFill>
                <a:latin typeface="Consolas"/>
              </a:defRPr>
            </a:pPr>
            <a:r>
              <a:rPr sz="1050"/>
              <a:t>kind: MultiRoleInference</a:t>
            </a:r>
          </a:p>
          <a:p>
            <a:pPr>
              <a:lnSpc>
                <a:spcPts val="1223"/>
              </a:lnSpc>
              <a:defRPr sz="1400" b="0">
                <a:solidFill>
                  <a:srgbClr val="FFFFFF"/>
                </a:solidFill>
                <a:latin typeface="Consolas"/>
              </a:defRPr>
            </a:pPr>
            <a:r>
              <a:rPr sz="1050"/>
              <a:t>metadata:</a:t>
            </a:r>
          </a:p>
          <a:p>
            <a:pPr>
              <a:lnSpc>
                <a:spcPts val="1223"/>
              </a:lnSpc>
              <a:defRPr sz="1400" b="0">
                <a:solidFill>
                  <a:srgbClr val="FFFFFF"/>
                </a:solidFill>
                <a:latin typeface="Consolas"/>
              </a:defRPr>
            </a:pPr>
            <a:r>
              <a:rPr sz="1050"/>
              <a:t>  name: qwen-3-8-27b</a:t>
            </a:r>
          </a:p>
          <a:p>
            <a:pPr>
              <a:lnSpc>
                <a:spcPts val="1223"/>
              </a:lnSpc>
              <a:defRPr sz="1400" b="0">
                <a:solidFill>
                  <a:srgbClr val="FFFFFF"/>
                </a:solidFill>
                <a:latin typeface="Consolas"/>
              </a:defRPr>
            </a:pPr>
            <a:r>
              <a:rPr sz="1050"/>
              <a:t>spec:</a:t>
            </a:r>
          </a:p>
          <a:p>
            <a:pPr>
              <a:lnSpc>
                <a:spcPts val="1223"/>
              </a:lnSpc>
              <a:defRPr sz="1400" b="0">
                <a:solidFill>
                  <a:srgbClr val="FFFFFF"/>
                </a:solidFill>
                <a:latin typeface="Consolas"/>
              </a:defRPr>
            </a:pPr>
            <a:r>
              <a:rPr sz="1050"/>
              <a:t>  model:</a:t>
            </a:r>
          </a:p>
          <a:p>
            <a:pPr>
              <a:lnSpc>
                <a:spcPts val="1223"/>
              </a:lnSpc>
              <a:defRPr sz="1400" b="0">
                <a:solidFill>
                  <a:srgbClr val="FFFFFF"/>
                </a:solidFill>
                <a:latin typeface="Consolas"/>
              </a:defRPr>
            </a:pPr>
            <a:r>
              <a:rPr sz="1050"/>
              <a:t>    name: Qwen/Qwen3.8-27B</a:t>
            </a:r>
          </a:p>
          <a:p>
            <a:pPr>
              <a:lnSpc>
                <a:spcPts val="1223"/>
              </a:lnSpc>
              <a:defRPr sz="1400" b="0">
                <a:solidFill>
                  <a:srgbClr val="FFFFFF"/>
                </a:solidFill>
                <a:latin typeface="Consolas"/>
              </a:defRPr>
            </a:pPr>
            <a:r>
              <a:rPr sz="1050"/>
              <a:t>  roles:</a:t>
            </a:r>
          </a:p>
          <a:p>
            <a:pPr>
              <a:lnSpc>
                <a:spcPts val="1223"/>
              </a:lnSpc>
              <a:defRPr sz="1400" b="0">
                <a:solidFill>
                  <a:srgbClr val="FFFFFF"/>
                </a:solidFill>
                <a:latin typeface="Consolas"/>
              </a:defRPr>
            </a:pPr>
            <a:r>
              <a:rPr sz="1050"/>
              <a:t>    - type: prefill</a:t>
            </a:r>
          </a:p>
          <a:p>
            <a:pPr>
              <a:lnSpc>
                <a:spcPts val="1223"/>
              </a:lnSpc>
              <a:defRPr sz="1400" b="0">
                <a:solidFill>
                  <a:srgbClr val="FFFFFF"/>
                </a:solidFill>
                <a:latin typeface="Consolas"/>
              </a:defRPr>
            </a:pPr>
            <a:r>
              <a:rPr sz="1050"/>
              <a:t>      replicas: 1</a:t>
            </a:r>
          </a:p>
          <a:p>
            <a:pPr>
              <a:lnSpc>
                <a:spcPts val="1223"/>
              </a:lnSpc>
              <a:defRPr sz="1400" b="0">
                <a:solidFill>
                  <a:srgbClr val="FFFFFF"/>
                </a:solidFill>
                <a:latin typeface="Consolas"/>
              </a:defRPr>
            </a:pPr>
            <a:r>
              <a:rPr sz="1050"/>
              <a:t>      instanceType: Standard_NC24ads_A100_v4</a:t>
            </a:r>
          </a:p>
          <a:p>
            <a:pPr>
              <a:lnSpc>
                <a:spcPts val="1223"/>
              </a:lnSpc>
              <a:defRPr sz="1400" b="0">
                <a:solidFill>
                  <a:srgbClr val="FFFFFF"/>
                </a:solidFill>
                <a:latin typeface="Consolas"/>
              </a:defRPr>
            </a:pPr>
            <a:r>
              <a:rPr sz="1050"/>
              <a:t>    - type: decode</a:t>
            </a:r>
          </a:p>
          <a:p>
            <a:pPr>
              <a:lnSpc>
                <a:spcPts val="1223"/>
              </a:lnSpc>
              <a:defRPr sz="1400" b="0">
                <a:solidFill>
                  <a:srgbClr val="FFFFFF"/>
                </a:solidFill>
                <a:latin typeface="Consolas"/>
              </a:defRPr>
            </a:pPr>
            <a:r>
              <a:rPr sz="1050"/>
              <a:t>      replicas: 2</a:t>
            </a:r>
          </a:p>
          <a:p>
            <a:pPr>
              <a:lnSpc>
                <a:spcPts val="1223"/>
              </a:lnSpc>
              <a:defRPr sz="1400" b="0">
                <a:solidFill>
                  <a:srgbClr val="FFFFFF"/>
                </a:solidFill>
                <a:latin typeface="Consolas"/>
              </a:defRPr>
            </a:pPr>
            <a:r>
              <a:rPr sz="1050"/>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a:t>qwen-3-8-27b</a:t>
            </a:r>
          </a:p>
          <a:p>
            <a:pPr algn="ctr">
              <a:spcBef>
                <a:spcPts val="225"/>
              </a:spcBef>
              <a:defRPr sz="1200" b="0">
                <a:solidFill>
                  <a:srgbClr val="5B6E80"/>
                </a:solidFill>
                <a:latin typeface="Arial"/>
              </a:defRPr>
            </a:pPr>
            <a:r>
              <a:rPr sz="900"/>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a:t>Same model, independent role placement — A100 for prefill; H100 for decode.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a:t>RECONCILIATION  /  KAITO + llm-d</a:t>
            </a:r>
          </a:p>
        </p:txBody>
      </p:sp>
      <p:sp>
        <p:nvSpPr>
          <p:cNvPr id="4" name="KAITO generates resources — and keeps them aligned"/>
          <p:cNvSpPr txBox="1"/>
          <p:nvPr/>
        </p:nvSpPr>
        <p:spPr>
          <a:xfrm>
            <a:off x="411480" y="493776"/>
            <a:ext cx="8298180" cy="418338"/>
          </a:xfrm>
          <a:prstGeom prst="rect">
            <a:avLst/>
          </a:prstGeom>
          <a:noFill/>
        </p:spPr>
        <p:txBody>
          <a:bodyPr wrap="square" lIns="0" tIns="0" rIns="0" bIns="0" anchor="t">
            <a:noAutofit/>
          </a:bodyPr>
          <a:lstStyle/>
          <a:p>
            <a:pPr>
              <a:spcAft>
                <a:spcPts val="300"/>
              </a:spcAft>
              <a:defRPr sz="3000" b="1">
                <a:solidFill>
                  <a:srgbClr val="10243A"/>
                </a:solidFill>
                <a:latin typeface="Arial"/>
              </a:defRPr>
            </a:pPr>
            <a:r>
              <a:rPr sz="2250"/>
              <a:t>KAITO generates resources — and keeps them aligned</a:t>
            </a:r>
          </a:p>
        </p:txBody>
      </p:sp>
      <p:sp>
        <p:nvSpPr>
          <p:cNvPr id="5" name="A declarative topology becomes owned resources, runtime wiring and a shared rout"/>
          <p:cNvSpPr txBox="1"/>
          <p:nvPr/>
        </p:nvSpPr>
        <p:spPr>
          <a:xfrm>
            <a:off x="425196" y="953262"/>
            <a:ext cx="8229600" cy="233172"/>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a:t>A declarative topology becomes owned resources, runtime wiring and a shared routing contract.</a:t>
            </a:r>
          </a:p>
        </p:txBody>
      </p:sp>
      <p:sp>
        <p:nvSpPr>
          <p:cNvPr id="6" name="KAITO + llm-d  /  PREFILL–DECODE DISAGGREGATION"/>
          <p:cNvSpPr txBox="1"/>
          <p:nvPr/>
        </p:nvSpPr>
        <p:spPr>
          <a:xfrm>
            <a:off x="411480" y="4889754"/>
            <a:ext cx="5486400" cy="123444"/>
          </a:xfrm>
          <a:prstGeom prst="rect">
            <a:avLst/>
          </a:prstGeom>
          <a:noFill/>
        </p:spPr>
        <p:txBody>
          <a:bodyPr wrap="square" lIns="0" tIns="0" rIns="0" bIns="0" anchor="t">
            <a:noAutofit/>
          </a:bodyPr>
          <a:lstStyle/>
          <a:p>
            <a:pPr>
              <a:spcAft>
                <a:spcPts val="150"/>
              </a:spcAft>
              <a:defRPr sz="900" b="0">
                <a:solidFill>
                  <a:srgbClr val="5B6E80"/>
                </a:solidFill>
                <a:latin typeface="Arial"/>
              </a:defRPr>
            </a:pPr>
            <a:r>
              <a:rPr sz="675"/>
              <a:t>KAITO + llm-d  /  PREFILL–DECODE DISAGGREGATION</a:t>
            </a:r>
          </a:p>
        </p:txBody>
      </p:sp>
      <p:sp>
        <p:nvSpPr>
          <p:cNvPr id="7" name="06 / 12"/>
          <p:cNvSpPr txBox="1"/>
          <p:nvPr/>
        </p:nvSpPr>
        <p:spPr>
          <a:xfrm>
            <a:off x="8092440" y="4869180"/>
            <a:ext cx="617220" cy="157734"/>
          </a:xfrm>
          <a:prstGeom prst="rect">
            <a:avLst/>
          </a:prstGeom>
          <a:noFill/>
        </p:spPr>
        <p:txBody>
          <a:bodyPr wrap="square" lIns="0" tIns="0" rIns="0" bIns="0" anchor="t">
            <a:noAutofit/>
          </a:bodyPr>
          <a:lstStyle/>
          <a:p>
            <a:pPr algn="r">
              <a:spcAft>
                <a:spcPts val="150"/>
              </a:spcAft>
              <a:defRPr sz="1000" b="0">
                <a:solidFill>
                  <a:srgbClr val="5B6E80"/>
                </a:solidFill>
                <a:latin typeface="Arial"/>
              </a:defRPr>
            </a:pPr>
            <a:r>
              <a:rPr sz="750"/>
              <a:t>06 / 12</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a:t>Prefill InferenceSet</a:t>
            </a:r>
          </a:p>
          <a:p>
            <a:pPr algn="ctr">
              <a:spcBef>
                <a:spcPts val="225"/>
              </a:spcBef>
              <a:defRPr sz="1200" b="0">
                <a:solidFill>
                  <a:srgbClr val="5B6E80"/>
                </a:solidFill>
                <a:latin typeface="Arial"/>
              </a:defRPr>
            </a:pPr>
            <a:r>
              <a:rPr sz="900"/>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a:t>Decode InferenceSet</a:t>
            </a:r>
          </a:p>
          <a:p>
            <a:pPr algn="ctr">
              <a:spcBef>
                <a:spcPts val="225"/>
              </a:spcBef>
              <a:defRPr sz="1200" b="0">
                <a:solidFill>
                  <a:srgbClr val="5B6E80"/>
                </a:solidFill>
                <a:latin typeface="Arial"/>
              </a:defRPr>
            </a:pPr>
            <a:r>
              <a:rPr sz="900"/>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a:t>Routing resources</a:t>
            </a:r>
          </a:p>
          <a:p>
            <a:pPr algn="ctr">
              <a:spcBef>
                <a:spcPts val="225"/>
              </a:spcBef>
              <a:defRPr sz="1200" b="0">
                <a:solidFill>
                  <a:srgbClr val="5B6E80"/>
                </a:solidFill>
                <a:latin typeface="Arial"/>
              </a:defRPr>
            </a:pPr>
            <a:r>
              <a:rPr sz="900"/>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a:t>Role labels</a:t>
            </a:r>
          </a:p>
          <a:p>
            <a:pPr>
              <a:spcAft>
                <a:spcPts val="150"/>
              </a:spcAft>
              <a:defRPr sz="1700" b="0">
                <a:solidFill>
                  <a:srgbClr val="5B6E80"/>
                </a:solidFill>
                <a:latin typeface="Arial"/>
              </a:defRPr>
            </a:pPr>
            <a:r>
              <a:rPr sz="1275"/>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a:t>Routing sidecar injection</a:t>
            </a:r>
          </a:p>
          <a:p>
            <a:pPr>
              <a:spcAft>
                <a:spcPts val="150"/>
              </a:spcAft>
              <a:defRPr sz="1700" b="0">
                <a:solidFill>
                  <a:srgbClr val="5B6E80"/>
                </a:solidFill>
                <a:latin typeface="Arial"/>
              </a:defRPr>
            </a:pPr>
            <a:r>
              <a:rPr sz="1275"/>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a:t>Services + targetPorts</a:t>
            </a:r>
          </a:p>
          <a:p>
            <a:pPr>
              <a:spcAft>
                <a:spcPts val="150"/>
              </a:spcAft>
              <a:defRPr sz="1700" b="0">
                <a:solidFill>
                  <a:srgbClr val="5B6E80"/>
                </a:solidFill>
                <a:latin typeface="Arial"/>
              </a:defRPr>
            </a:pPr>
            <a:r>
              <a:rPr sz="1275"/>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a:t>Not just generated YAML: controller-owned relationships and consistent runtime contracts.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a:t>REQUEST LIFECYCLE  /  KAITO + llm-d</a:t>
            </a:r>
          </a:p>
        </p:txBody>
      </p:sp>
      <p:sp>
        <p:nvSpPr>
          <p:cNvPr id="4" name="The decode sidecar coordinates the P/D request"/>
          <p:cNvSpPr txBox="1"/>
          <p:nvPr/>
        </p:nvSpPr>
        <p:spPr>
          <a:xfrm>
            <a:off x="411480" y="493776"/>
            <a:ext cx="8298180" cy="418338"/>
          </a:xfrm>
          <a:prstGeom prst="rect">
            <a:avLst/>
          </a:prstGeom>
          <a:noFill/>
        </p:spPr>
        <p:txBody>
          <a:bodyPr wrap="square" lIns="0" tIns="0" rIns="0" bIns="0" anchor="t">
            <a:noAutofit/>
          </a:bodyPr>
          <a:lstStyle/>
          <a:p>
            <a:pPr>
              <a:spcAft>
                <a:spcPts val="300"/>
              </a:spcAft>
              <a:defRPr sz="3000" b="1">
                <a:solidFill>
                  <a:srgbClr val="10243A"/>
                </a:solidFill>
                <a:latin typeface="Arial"/>
              </a:defRPr>
            </a:pPr>
            <a:r>
              <a:rPr sz="2250"/>
              <a:t>The decode sidecar coordinates the P/D request</a:t>
            </a:r>
          </a:p>
        </p:txBody>
      </p:sp>
      <p:sp>
        <p:nvSpPr>
          <p:cNvPr id="5" name="Remote prefill when needed; local decode on the selected worker."/>
          <p:cNvSpPr txBox="1"/>
          <p:nvPr/>
        </p:nvSpPr>
        <p:spPr>
          <a:xfrm>
            <a:off x="425196" y="953262"/>
            <a:ext cx="8229600" cy="233172"/>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a:t>Remote prefill when needed; local decode on the selected worker.</a:t>
            </a:r>
          </a:p>
        </p:txBody>
      </p:sp>
      <p:sp>
        <p:nvSpPr>
          <p:cNvPr id="6" name="KAITO + llm-d  /  PREFILL–DECODE DISAGGREGATION"/>
          <p:cNvSpPr txBox="1"/>
          <p:nvPr/>
        </p:nvSpPr>
        <p:spPr>
          <a:xfrm>
            <a:off x="411480" y="4889754"/>
            <a:ext cx="5486400" cy="123444"/>
          </a:xfrm>
          <a:prstGeom prst="rect">
            <a:avLst/>
          </a:prstGeom>
          <a:noFill/>
        </p:spPr>
        <p:txBody>
          <a:bodyPr wrap="square" lIns="0" tIns="0" rIns="0" bIns="0" anchor="t">
            <a:noAutofit/>
          </a:bodyPr>
          <a:lstStyle/>
          <a:p>
            <a:pPr>
              <a:spcAft>
                <a:spcPts val="150"/>
              </a:spcAft>
              <a:defRPr sz="900" b="0">
                <a:solidFill>
                  <a:srgbClr val="5B6E80"/>
                </a:solidFill>
                <a:latin typeface="Arial"/>
              </a:defRPr>
            </a:pPr>
            <a:r>
              <a:rPr sz="675"/>
              <a:t>KAITO + llm-d  /  PREFILL–DECODE DISAGGREGATION</a:t>
            </a:r>
          </a:p>
        </p:txBody>
      </p:sp>
      <p:sp>
        <p:nvSpPr>
          <p:cNvPr id="7" name="07 / 12"/>
          <p:cNvSpPr txBox="1"/>
          <p:nvPr/>
        </p:nvSpPr>
        <p:spPr>
          <a:xfrm>
            <a:off x="8092440" y="4869180"/>
            <a:ext cx="617220" cy="157734"/>
          </a:xfrm>
          <a:prstGeom prst="rect">
            <a:avLst/>
          </a:prstGeom>
          <a:noFill/>
        </p:spPr>
        <p:txBody>
          <a:bodyPr wrap="square" lIns="0" tIns="0" rIns="0" bIns="0" anchor="t">
            <a:noAutofit/>
          </a:bodyPr>
          <a:lstStyle/>
          <a:p>
            <a:pPr algn="r">
              <a:spcAft>
                <a:spcPts val="150"/>
              </a:spcAft>
              <a:defRPr sz="1000" b="0">
                <a:solidFill>
                  <a:srgbClr val="5B6E80"/>
                </a:solidFill>
                <a:latin typeface="Arial"/>
              </a:defRPr>
            </a:pPr>
            <a:r>
              <a:rPr sz="750"/>
              <a:t>07 / 12</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a:t>2  Route to decode sidecar</a:t>
            </a:r>
          </a:p>
          <a:p>
            <a:pPr algn="ctr">
              <a:spcAft>
                <a:spcPts val="150"/>
              </a:spcAft>
              <a:defRPr sz="1050" b="0">
                <a:solidFill>
                  <a:srgbClr val="2463D4"/>
                </a:solidFill>
                <a:latin typeface="Arial"/>
              </a:defRPr>
            </a:pPr>
            <a:r>
              <a:rPr sz="788"/>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a:t>3  Remote prefill</a:t>
            </a:r>
          </a:p>
          <a:p>
            <a:pPr algn="ctr">
              <a:spcAft>
                <a:spcPts val="150"/>
              </a:spcAft>
              <a:defRPr sz="1050" b="0">
                <a:solidFill>
                  <a:srgbClr val="A85C05"/>
                </a:solidFill>
                <a:latin typeface="Arial"/>
              </a:defRPr>
            </a:pPr>
            <a:r>
              <a:rPr sz="788"/>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a:t>6  KV data → decode</a:t>
            </a:r>
          </a:p>
          <a:p>
            <a:pPr algn="ctr">
              <a:spcAft>
                <a:spcPts val="150"/>
              </a:spcAft>
              <a:defRPr sz="1050" b="0">
                <a:solidFill>
                  <a:srgbClr val="24824C"/>
                </a:solidFill>
                <a:latin typeface="Arial"/>
              </a:defRPr>
            </a:pPr>
            <a:r>
              <a:rPr sz="788"/>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a:t>The sidecar coordinates the request; KV data moves directly between the two runtimes.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a:t>POD BOUNDARY  /  KAITO + llm-d</a:t>
            </a:r>
          </a:p>
        </p:txBody>
      </p:sp>
      <p:sp>
        <p:nvSpPr>
          <p:cNvPr id="4" name="Why the sidecar belongs on the decode pod"/>
          <p:cNvSpPr txBox="1"/>
          <p:nvPr/>
        </p:nvSpPr>
        <p:spPr>
          <a:xfrm>
            <a:off x="411480" y="493776"/>
            <a:ext cx="8298180" cy="418338"/>
          </a:xfrm>
          <a:prstGeom prst="rect">
            <a:avLst/>
          </a:prstGeom>
          <a:noFill/>
        </p:spPr>
        <p:txBody>
          <a:bodyPr wrap="square" lIns="0" tIns="0" rIns="0" bIns="0" anchor="t">
            <a:noAutofit/>
          </a:bodyPr>
          <a:lstStyle/>
          <a:p>
            <a:pPr>
              <a:spcAft>
                <a:spcPts val="300"/>
              </a:spcAft>
              <a:defRPr sz="3000" b="1">
                <a:solidFill>
                  <a:srgbClr val="10243A"/>
                </a:solidFill>
                <a:latin typeface="Arial"/>
              </a:defRPr>
            </a:pPr>
            <a:r>
              <a:rPr sz="2250"/>
              <a:t>Why the sidecar belongs on the decode pod</a:t>
            </a:r>
          </a:p>
        </p:txBody>
      </p:sp>
      <p:sp>
        <p:nvSpPr>
          <p:cNvPr id="5" name="A single decode endpoint coordinates remote prefill and returns the final respon"/>
          <p:cNvSpPr txBox="1"/>
          <p:nvPr/>
        </p:nvSpPr>
        <p:spPr>
          <a:xfrm>
            <a:off x="425196" y="953262"/>
            <a:ext cx="8229600" cy="233172"/>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a:t>A single decode endpoint coordinates remote prefill and returns the final response.</a:t>
            </a:r>
          </a:p>
        </p:txBody>
      </p:sp>
      <p:sp>
        <p:nvSpPr>
          <p:cNvPr id="6" name="KAITO + llm-d  /  PREFILL–DECODE DISAGGREGATION"/>
          <p:cNvSpPr txBox="1"/>
          <p:nvPr/>
        </p:nvSpPr>
        <p:spPr>
          <a:xfrm>
            <a:off x="411480" y="4889754"/>
            <a:ext cx="5486400" cy="123444"/>
          </a:xfrm>
          <a:prstGeom prst="rect">
            <a:avLst/>
          </a:prstGeom>
          <a:noFill/>
        </p:spPr>
        <p:txBody>
          <a:bodyPr wrap="square" lIns="0" tIns="0" rIns="0" bIns="0" anchor="t">
            <a:noAutofit/>
          </a:bodyPr>
          <a:lstStyle/>
          <a:p>
            <a:pPr>
              <a:spcAft>
                <a:spcPts val="150"/>
              </a:spcAft>
              <a:defRPr sz="900" b="0">
                <a:solidFill>
                  <a:srgbClr val="5B6E80"/>
                </a:solidFill>
                <a:latin typeface="Arial"/>
              </a:defRPr>
            </a:pPr>
            <a:r>
              <a:rPr sz="675"/>
              <a:t>KAITO + llm-d  /  PREFILL–DECODE DISAGGREGATION</a:t>
            </a:r>
          </a:p>
        </p:txBody>
      </p:sp>
      <p:sp>
        <p:nvSpPr>
          <p:cNvPr id="7" name="08 / 12"/>
          <p:cNvSpPr txBox="1"/>
          <p:nvPr/>
        </p:nvSpPr>
        <p:spPr>
          <a:xfrm>
            <a:off x="8092440" y="4869180"/>
            <a:ext cx="617220" cy="157734"/>
          </a:xfrm>
          <a:prstGeom prst="rect">
            <a:avLst/>
          </a:prstGeom>
          <a:noFill/>
        </p:spPr>
        <p:txBody>
          <a:bodyPr wrap="square" lIns="0" tIns="0" rIns="0" bIns="0" anchor="t">
            <a:noAutofit/>
          </a:bodyPr>
          <a:lstStyle/>
          <a:p>
            <a:pPr algn="r">
              <a:spcAft>
                <a:spcPts val="150"/>
              </a:spcAft>
              <a:defRPr sz="1000" b="0">
                <a:solidFill>
                  <a:srgbClr val="5B6E80"/>
                </a:solidFill>
                <a:latin typeface="Arial"/>
              </a:defRPr>
            </a:pPr>
            <a:r>
              <a:rPr sz="750"/>
              <a:t>08 / 12</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a:t>Gateway</a:t>
            </a:r>
          </a:p>
          <a:p>
            <a:pPr algn="ctr">
              <a:spcBef>
                <a:spcPts val="225"/>
              </a:spcBef>
              <a:defRPr sz="1200" b="0">
                <a:solidFill>
                  <a:srgbClr val="5B6E80"/>
                </a:solidFill>
                <a:latin typeface="Arial"/>
              </a:defRPr>
            </a:pPr>
            <a:r>
              <a:rPr sz="900"/>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a:t>Routing sidecar</a:t>
            </a:r>
          </a:p>
          <a:p>
            <a:pPr algn="ctr">
              <a:spcBef>
                <a:spcPts val="225"/>
              </a:spcBef>
              <a:defRPr sz="1200" b="0">
                <a:solidFill>
                  <a:srgbClr val="5B6E80"/>
                </a:solidFill>
                <a:latin typeface="Arial"/>
              </a:defRPr>
            </a:pPr>
            <a:r>
              <a:rPr sz="900"/>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a:t>Local decode vLLM</a:t>
            </a:r>
          </a:p>
          <a:p>
            <a:pPr algn="ctr">
              <a:spcBef>
                <a:spcPts val="225"/>
              </a:spcBef>
              <a:defRPr sz="1200" b="0">
                <a:solidFill>
                  <a:srgbClr val="5B6E80"/>
                </a:solidFill>
                <a:latin typeface="Arial"/>
              </a:defRPr>
            </a:pPr>
            <a:r>
              <a:rPr sz="900"/>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a:t>local request</a:t>
            </a:r>
          </a:p>
          <a:p>
            <a:pPr algn="ctr">
              <a:spcAft>
                <a:spcPts val="150"/>
              </a:spcAft>
              <a:defRPr sz="1100" b="0">
                <a:solidFill>
                  <a:srgbClr val="2463D4"/>
                </a:solidFill>
                <a:latin typeface="Arial"/>
              </a:defRPr>
            </a:pPr>
            <a:r>
              <a:rPr sz="825"/>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a:t>Remote prefill</a:t>
            </a:r>
          </a:p>
          <a:p>
            <a:pPr algn="ctr">
              <a:spcBef>
                <a:spcPts val="225"/>
              </a:spcBef>
              <a:defRPr sz="1200" b="0">
                <a:solidFill>
                  <a:srgbClr val="5B6E80"/>
                </a:solidFill>
                <a:latin typeface="Arial"/>
              </a:defRPr>
            </a:pPr>
            <a:r>
              <a:rPr sz="900"/>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a:t>STABLE EXTERNAL</a:t>
            </a:r>
          </a:p>
          <a:p>
            <a:pPr>
              <a:spcAft>
                <a:spcPts val="150"/>
              </a:spcAft>
              <a:defRPr sz="1100" b="1">
                <a:solidFill>
                  <a:srgbClr val="2463D4"/>
                </a:solidFill>
                <a:latin typeface="Arial"/>
              </a:defRPr>
            </a:pPr>
            <a:r>
              <a:rPr sz="825"/>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a:t>Coordination lives in the sidecar. KV transport terminates at the decode runtime.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0" y="0"/>
            <a:ext cx="7067826" cy="1047750"/>
          </a:xfrm>
        </p:spPr>
        <p:txBody>
          <a:bodyPr>
            <a:normAutofit/>
          </a:bodyPr>
          <a:lstStyle/>
          <a:p>
            <a:pPr lvl="0">
              <a:spcAft>
                <a:spcPts val="400"/>
              </a:spcAft>
              <a:buClr>
                <a:srgbClr val="000000"/>
              </a:buClr>
              <a:buSzPts val="1200"/>
              <a:defRPr/>
            </a:pPr>
            <a:r>
              <a:rPr lang="en" altLang="zh-CN" sz="2000" dirty="0" err="1">
                <a:sym typeface="IBM Plex Sans Light"/>
              </a:rPr>
              <a:t>llm</a:t>
            </a:r>
            <a:r>
              <a:rPr lang="en" altLang="zh-CN" sz="2000" dirty="0">
                <a:sym typeface="IBM Plex Sans Light"/>
              </a:rPr>
              <a:t>-d composes </a:t>
            </a:r>
            <a:r>
              <a:rPr lang="en" altLang="zh-CN" sz="2000" dirty="0" err="1">
                <a:sym typeface="IBM Plex Sans Light"/>
              </a:rPr>
              <a:t>vLLM</a:t>
            </a:r>
            <a:r>
              <a:rPr lang="en" altLang="zh-CN" sz="2000" dirty="0">
                <a:sym typeface="IBM Plex Sans Light"/>
              </a:rPr>
              <a:t> and Gateway to enable P/D disaggregation</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3488" name="Google Shape;3488;p355"/>
          <p:cNvSpPr/>
          <p:nvPr/>
        </p:nvSpPr>
        <p:spPr>
          <a:xfrm>
            <a:off x="1513181" y="2432535"/>
            <a:ext cx="1906800" cy="1349700"/>
          </a:xfrm>
          <a:prstGeom prst="rect">
            <a:avLst/>
          </a:prstGeom>
          <a:solidFill>
            <a:schemeClr val="lt2"/>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489" name="Google Shape;3489;p355"/>
          <p:cNvSpPr/>
          <p:nvPr/>
        </p:nvSpPr>
        <p:spPr>
          <a:xfrm>
            <a:off x="5621934" y="2432535"/>
            <a:ext cx="1906800" cy="1349700"/>
          </a:xfrm>
          <a:prstGeom prst="rect">
            <a:avLst/>
          </a:prstGeom>
          <a:solidFill>
            <a:schemeClr val="lt2"/>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2" name="标题 1">
            <a:extLst>
              <a:ext uri="{FF2B5EF4-FFF2-40B4-BE49-F238E27FC236}">
                <a16:creationId xmlns:a16="http://schemas.microsoft.com/office/drawing/2014/main" id="{8ACBD176-B708-7C24-28E2-9944F2AF9A51}"/>
              </a:ext>
            </a:extLst>
          </p:cNvPr>
          <p:cNvSpPr>
            <a:spLocks noGrp="1"/>
          </p:cNvSpPr>
          <p:nvPr>
            <p:ph type="title" idx="4294967295"/>
          </p:nvPr>
        </p:nvSpPr>
        <p:spPr>
          <a:xfrm>
            <a:off x="0" y="0"/>
            <a:ext cx="6950075" cy="1047750"/>
          </a:xfrm>
        </p:spPr>
        <p:txBody>
          <a:bodyPr/>
          <a:lstStyle/>
          <a:p>
            <a:r>
              <a:rPr lang="en" altLang="zh-CN" dirty="0">
                <a:sym typeface="Red Hat Display SemiBold"/>
              </a:rPr>
              <a:t>Efficient KV Transfer in vLLM vi</a:t>
            </a:r>
            <a:r>
              <a:rPr lang="en-US" altLang="zh-CN" dirty="0">
                <a:sym typeface="Red Hat Display SemiBold"/>
              </a:rPr>
              <a:t>a</a:t>
            </a:r>
            <a:r>
              <a:rPr lang="en" altLang="zh-CN" dirty="0">
                <a:sym typeface="Red Hat Display SemiBold"/>
              </a:rPr>
              <a:t> NIXL</a:t>
            </a:r>
            <a:endParaRPr lang="zh-CN" altLang="en-US" dirty="0"/>
          </a:p>
        </p:txBody>
      </p:sp>
      <p:sp>
        <p:nvSpPr>
          <p:cNvPr id="3490" name="Google Shape;3490;p355"/>
          <p:cNvSpPr txBox="1">
            <a:spLocks noGrp="1"/>
          </p:cNvSpPr>
          <p:nvPr>
            <p:ph type="sldNum" idx="4294967295"/>
          </p:nvPr>
        </p:nvSpPr>
        <p:spPr>
          <a:xfrm>
            <a:off x="8594725" y="4662488"/>
            <a:ext cx="549275" cy="393700"/>
          </a:xfrm>
          <a:prstGeom prst="rect">
            <a:avLst/>
          </a:prstGeom>
        </p:spPr>
        <p:txBody>
          <a:bodyPr spcFirstLastPara="1" wrap="square" lIns="0" tIns="0" rIns="0" bIns="0" anchor="b" anchorCtr="0">
            <a:norm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600" b="0" i="0" u="none" strike="noStrike" kern="0" cap="none" spc="0" normalizeH="0" baseline="0" noProof="0">
                <a:ln>
                  <a:noFill/>
                </a:ln>
                <a:solidFill>
                  <a:srgbClr val="595959"/>
                </a:solidFill>
                <a:effectLst/>
                <a:uLnTx/>
                <a:uFillTx/>
                <a:latin typeface="Red Hat Text Medium"/>
                <a:ea typeface="Red Hat Text Medium"/>
                <a:cs typeface="Red Hat Text Medium"/>
                <a:sym typeface="Red Hat Text Medium"/>
              </a:rPr>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t>34</a:t>
            </a:fld>
            <a:endParaRPr kumimoji="0" sz="600" b="0" i="0" u="none" strike="noStrike" kern="0" cap="none" spc="0" normalizeH="0" baseline="0" noProof="0">
              <a:ln>
                <a:noFill/>
              </a:ln>
              <a:solidFill>
                <a:srgbClr val="595959"/>
              </a:solidFill>
              <a:effectLst/>
              <a:uLnTx/>
              <a:uFillTx/>
              <a:latin typeface="Red Hat Text Medium"/>
              <a:ea typeface="Red Hat Text Medium"/>
              <a:cs typeface="Red Hat Text Medium"/>
              <a:sym typeface="Red Hat Text Medium"/>
            </a:endParaRPr>
          </a:p>
        </p:txBody>
      </p:sp>
      <p:sp>
        <p:nvSpPr>
          <p:cNvPr id="3491" name="Google Shape;3491;p355"/>
          <p:cNvSpPr txBox="1"/>
          <p:nvPr/>
        </p:nvSpPr>
        <p:spPr>
          <a:xfrm>
            <a:off x="1901751" y="1998349"/>
            <a:ext cx="1129500" cy="219000"/>
          </a:xfrm>
          <a:prstGeom prst="rect">
            <a:avLst/>
          </a:prstGeom>
          <a:noFill/>
          <a:ln>
            <a:noFill/>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D Worker</a:t>
            </a:r>
            <a:endParaRPr kumimoji="0" sz="1400" b="1"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KV Cache</a:t>
            </a:r>
            <a:endParaRPr kumimoji="0" sz="1400" b="1"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492" name="Google Shape;3492;p355"/>
          <p:cNvSpPr txBox="1"/>
          <p:nvPr/>
        </p:nvSpPr>
        <p:spPr>
          <a:xfrm>
            <a:off x="663844" y="828075"/>
            <a:ext cx="7816500" cy="414900"/>
          </a:xfrm>
          <a:prstGeom prst="rect">
            <a:avLst/>
          </a:prstGeom>
          <a:no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100" b="0" i="0" u="none" strike="noStrike" kern="0" cap="none" spc="0" normalizeH="0" baseline="0" noProof="0" dirty="0">
              <a:ln>
                <a:noFill/>
              </a:ln>
              <a:solidFill>
                <a:srgbClr val="151515"/>
              </a:solidFill>
              <a:effectLst/>
              <a:uLnTx/>
              <a:uFillTx/>
              <a:latin typeface="Red Hat Display SemiBold"/>
              <a:ea typeface="Red Hat Display SemiBold"/>
              <a:cs typeface="Red Hat Display SemiBold"/>
              <a:sym typeface="Red Hat Display SemiBold"/>
            </a:endParaRPr>
          </a:p>
        </p:txBody>
      </p:sp>
      <p:sp>
        <p:nvSpPr>
          <p:cNvPr id="3493" name="Google Shape;3493;p355"/>
          <p:cNvSpPr txBox="1"/>
          <p:nvPr/>
        </p:nvSpPr>
        <p:spPr>
          <a:xfrm>
            <a:off x="663844" y="1240163"/>
            <a:ext cx="7816500" cy="219000"/>
          </a:xfrm>
          <a:prstGeom prst="rect">
            <a:avLst/>
          </a:prstGeom>
          <a:noFill/>
          <a:ln>
            <a:noFill/>
          </a:ln>
        </p:spPr>
        <p:txBody>
          <a:bodyPr spcFirstLastPara="1" wrap="square" lIns="0" tIns="0" rIns="0" bIns="0" anchor="t" anchorCtr="0">
            <a:noAutofit/>
          </a:bodyPr>
          <a:lstStyle/>
          <a:p>
            <a:pPr marL="0" marR="0" lvl="0" indent="0" algn="ctr" defTabSz="914400" rtl="0" eaLnBrk="1" fontAlgn="auto" latinLnBrk="0" hangingPunct="1">
              <a:lnSpc>
                <a:spcPct val="140000"/>
              </a:lnSpc>
              <a:spcBef>
                <a:spcPts val="0"/>
              </a:spcBef>
              <a:spcAft>
                <a:spcPts val="400"/>
              </a:spcAft>
              <a:buClr>
                <a:srgbClr val="000000"/>
              </a:buClr>
              <a:buSzTx/>
              <a:buFont typeface="Arial"/>
              <a:buNone/>
              <a:tabLst/>
              <a:defRPr/>
            </a:pPr>
            <a:r>
              <a:rPr lang="en" dirty="0">
                <a:sym typeface="Red Hat Display"/>
              </a:rPr>
              <a:t>For high performance KV Transfer, </a:t>
            </a:r>
            <a:r>
              <a:rPr lang="en" dirty="0" err="1">
                <a:sym typeface="Red Hat Display"/>
              </a:rPr>
              <a:t>vLLM</a:t>
            </a:r>
            <a:r>
              <a:rPr lang="en" dirty="0">
                <a:sym typeface="Red Hat Display"/>
              </a:rPr>
              <a:t> uses GPU direct RDMA via our NIXL integration</a:t>
            </a:r>
          </a:p>
        </p:txBody>
      </p:sp>
      <p:sp>
        <p:nvSpPr>
          <p:cNvPr id="3494" name="Google Shape;3494;p355"/>
          <p:cNvSpPr txBox="1"/>
          <p:nvPr/>
        </p:nvSpPr>
        <p:spPr>
          <a:xfrm>
            <a:off x="6010509" y="1998349"/>
            <a:ext cx="1129500" cy="219000"/>
          </a:xfrm>
          <a:prstGeom prst="rect">
            <a:avLst/>
          </a:prstGeom>
          <a:noFill/>
          <a:ln>
            <a:noFill/>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P Worker KV Cache</a:t>
            </a:r>
            <a:endParaRPr kumimoji="0" sz="1400" b="1"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495" name="Google Shape;3495;p355"/>
          <p:cNvSpPr/>
          <p:nvPr/>
        </p:nvSpPr>
        <p:spPr>
          <a:xfrm>
            <a:off x="5714990" y="2585835"/>
            <a:ext cx="543300" cy="271500"/>
          </a:xfrm>
          <a:prstGeom prst="rect">
            <a:avLst/>
          </a:prstGeom>
          <a:solidFill>
            <a:srgbClr val="D9EAD3"/>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0</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496" name="Google Shape;3496;p355"/>
          <p:cNvSpPr/>
          <p:nvPr/>
        </p:nvSpPr>
        <p:spPr>
          <a:xfrm>
            <a:off x="6303572" y="2585835"/>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1</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497" name="Google Shape;3497;p355"/>
          <p:cNvSpPr/>
          <p:nvPr/>
        </p:nvSpPr>
        <p:spPr>
          <a:xfrm>
            <a:off x="6892153" y="2585835"/>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2</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498" name="Google Shape;3498;p355"/>
          <p:cNvSpPr/>
          <p:nvPr/>
        </p:nvSpPr>
        <p:spPr>
          <a:xfrm>
            <a:off x="5714990" y="2971626"/>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3</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499" name="Google Shape;3499;p355"/>
          <p:cNvSpPr/>
          <p:nvPr/>
        </p:nvSpPr>
        <p:spPr>
          <a:xfrm>
            <a:off x="6303572" y="2971626"/>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4</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0" name="Google Shape;3500;p355"/>
          <p:cNvSpPr/>
          <p:nvPr/>
        </p:nvSpPr>
        <p:spPr>
          <a:xfrm>
            <a:off x="6892153" y="2971626"/>
            <a:ext cx="543300" cy="271500"/>
          </a:xfrm>
          <a:prstGeom prst="rect">
            <a:avLst/>
          </a:prstGeom>
          <a:solidFill>
            <a:srgbClr val="D9EAD3"/>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5</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1" name="Google Shape;3501;p355"/>
          <p:cNvSpPr/>
          <p:nvPr/>
        </p:nvSpPr>
        <p:spPr>
          <a:xfrm>
            <a:off x="5714990" y="3357416"/>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6</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2" name="Google Shape;3502;p355"/>
          <p:cNvSpPr/>
          <p:nvPr/>
        </p:nvSpPr>
        <p:spPr>
          <a:xfrm>
            <a:off x="6303572" y="3357416"/>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7</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3" name="Google Shape;3503;p355"/>
          <p:cNvSpPr/>
          <p:nvPr/>
        </p:nvSpPr>
        <p:spPr>
          <a:xfrm>
            <a:off x="6892153" y="3357416"/>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8</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4" name="Google Shape;3504;p355"/>
          <p:cNvSpPr/>
          <p:nvPr/>
        </p:nvSpPr>
        <p:spPr>
          <a:xfrm>
            <a:off x="1606238" y="2585844"/>
            <a:ext cx="543300" cy="271500"/>
          </a:xfrm>
          <a:prstGeom prst="rect">
            <a:avLst/>
          </a:prstGeom>
          <a:solidFill>
            <a:schemeClr val="accent5"/>
          </a:solidFill>
          <a:ln w="7150" cap="flat" cmpd="sng">
            <a:solidFill>
              <a:schemeClr val="accent6"/>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0</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5" name="Google Shape;3505;p355"/>
          <p:cNvSpPr/>
          <p:nvPr/>
        </p:nvSpPr>
        <p:spPr>
          <a:xfrm>
            <a:off x="2194819" y="2585844"/>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1</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6" name="Google Shape;3506;p355"/>
          <p:cNvSpPr/>
          <p:nvPr/>
        </p:nvSpPr>
        <p:spPr>
          <a:xfrm>
            <a:off x="2783400" y="2585844"/>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2</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7" name="Google Shape;3507;p355"/>
          <p:cNvSpPr/>
          <p:nvPr/>
        </p:nvSpPr>
        <p:spPr>
          <a:xfrm>
            <a:off x="1606238" y="2971635"/>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3</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8" name="Google Shape;3508;p355"/>
          <p:cNvSpPr/>
          <p:nvPr/>
        </p:nvSpPr>
        <p:spPr>
          <a:xfrm>
            <a:off x="2194819" y="2971635"/>
            <a:ext cx="543300" cy="271500"/>
          </a:xfrm>
          <a:prstGeom prst="rect">
            <a:avLst/>
          </a:prstGeom>
          <a:solidFill>
            <a:srgbClr val="D9EAD3"/>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4</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09" name="Google Shape;3509;p355"/>
          <p:cNvSpPr/>
          <p:nvPr/>
        </p:nvSpPr>
        <p:spPr>
          <a:xfrm>
            <a:off x="2783400" y="2971635"/>
            <a:ext cx="543300" cy="271500"/>
          </a:xfrm>
          <a:prstGeom prst="rect">
            <a:avLst/>
          </a:prstGeom>
          <a:solidFill>
            <a:schemeClr val="accent5"/>
          </a:solidFill>
          <a:ln w="7150" cap="flat" cmpd="sng">
            <a:solidFill>
              <a:schemeClr val="accent6"/>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5</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10" name="Google Shape;3510;p355"/>
          <p:cNvSpPr/>
          <p:nvPr/>
        </p:nvSpPr>
        <p:spPr>
          <a:xfrm>
            <a:off x="1606238" y="3357426"/>
            <a:ext cx="543300" cy="271500"/>
          </a:xfrm>
          <a:prstGeom prst="rect">
            <a:avLst/>
          </a:prstGeom>
          <a:solidFill>
            <a:srgbClr val="D9EAD3"/>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6</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11" name="Google Shape;3511;p355"/>
          <p:cNvSpPr/>
          <p:nvPr/>
        </p:nvSpPr>
        <p:spPr>
          <a:xfrm>
            <a:off x="2194819" y="3357426"/>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7</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12" name="Google Shape;3512;p355"/>
          <p:cNvSpPr/>
          <p:nvPr/>
        </p:nvSpPr>
        <p:spPr>
          <a:xfrm>
            <a:off x="2783400" y="3357426"/>
            <a:ext cx="543300" cy="271500"/>
          </a:xfrm>
          <a:prstGeom prst="rect">
            <a:avLst/>
          </a:prstGeom>
          <a:solidFill>
            <a:schemeClr val="accent5"/>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8</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13" name="Google Shape;3513;p355"/>
          <p:cNvSpPr/>
          <p:nvPr/>
        </p:nvSpPr>
        <p:spPr>
          <a:xfrm>
            <a:off x="3691031" y="2749821"/>
            <a:ext cx="1659600" cy="219000"/>
          </a:xfrm>
          <a:prstGeom prst="rect">
            <a:avLst/>
          </a:prstGeom>
          <a:solidFill>
            <a:schemeClr val="lt2"/>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NIXL</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14" name="Google Shape;3514;p355"/>
          <p:cNvSpPr/>
          <p:nvPr/>
        </p:nvSpPr>
        <p:spPr>
          <a:xfrm>
            <a:off x="3691125" y="3037221"/>
            <a:ext cx="1659600" cy="219000"/>
          </a:xfrm>
          <a:prstGeom prst="rect">
            <a:avLst/>
          </a:prstGeom>
          <a:solidFill>
            <a:schemeClr val="lt2"/>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UCX</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15" name="Google Shape;3515;p355"/>
          <p:cNvSpPr/>
          <p:nvPr/>
        </p:nvSpPr>
        <p:spPr>
          <a:xfrm>
            <a:off x="3691078" y="3324621"/>
            <a:ext cx="1659600" cy="219000"/>
          </a:xfrm>
          <a:prstGeom prst="rect">
            <a:avLst/>
          </a:prstGeom>
          <a:solidFill>
            <a:schemeClr val="lt2"/>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IB / RoCE / TCP</a:t>
            </a:r>
            <a:endParaRPr kumimoji="0" sz="1100" b="0"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cxnSp>
        <p:nvCxnSpPr>
          <p:cNvPr id="3516" name="Google Shape;3516;p355"/>
          <p:cNvCxnSpPr/>
          <p:nvPr/>
        </p:nvCxnSpPr>
        <p:spPr>
          <a:xfrm rot="10800000">
            <a:off x="3489666" y="2585858"/>
            <a:ext cx="2062500" cy="0"/>
          </a:xfrm>
          <a:prstGeom prst="straightConnector1">
            <a:avLst/>
          </a:prstGeom>
          <a:noFill/>
          <a:ln w="7150" cap="flat" cmpd="sng">
            <a:solidFill>
              <a:schemeClr val="dk2"/>
            </a:solidFill>
            <a:prstDash val="solid"/>
            <a:round/>
            <a:headEnd type="none" w="med" len="med"/>
            <a:tailEnd type="triangle" w="med" len="med"/>
          </a:ln>
        </p:spPr>
      </p:cxnSp>
      <p:sp>
        <p:nvSpPr>
          <p:cNvPr id="3517" name="Google Shape;3517;p355"/>
          <p:cNvSpPr txBox="1"/>
          <p:nvPr/>
        </p:nvSpPr>
        <p:spPr>
          <a:xfrm>
            <a:off x="2283056" y="4094872"/>
            <a:ext cx="4578000" cy="414900"/>
          </a:xfrm>
          <a:prstGeom prst="rect">
            <a:avLst/>
          </a:prstGeom>
          <a:noFill/>
          <a:ln>
            <a:noFill/>
          </a:ln>
        </p:spPr>
        <p:txBody>
          <a:bodyPr spcFirstLastPara="1" wrap="square" lIns="68575" tIns="68575" rIns="68575" bIns="68575" anchor="t"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a:ln>
                  <a:noFill/>
                </a:ln>
                <a:solidFill>
                  <a:srgbClr val="000000"/>
                </a:solidFill>
                <a:effectLst/>
                <a:uLnTx/>
                <a:uFillTx/>
                <a:latin typeface="Red Hat Display"/>
                <a:ea typeface="Red Hat Display"/>
                <a:cs typeface="Red Hat Display"/>
                <a:sym typeface="Red Hat Display"/>
              </a:rPr>
              <a:t>Zero Copy, GPU Direct, Zero Memory Overhead</a:t>
            </a:r>
            <a:endParaRPr kumimoji="0" sz="1400" b="1" i="0"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
        <p:nvSpPr>
          <p:cNvPr id="3518" name="Google Shape;3518;p355"/>
          <p:cNvSpPr txBox="1"/>
          <p:nvPr/>
        </p:nvSpPr>
        <p:spPr>
          <a:xfrm>
            <a:off x="3640481" y="2314278"/>
            <a:ext cx="1863300" cy="271500"/>
          </a:xfrm>
          <a:prstGeom prst="rect">
            <a:avLst/>
          </a:prstGeom>
          <a:noFill/>
          <a:ln>
            <a:noFill/>
          </a:ln>
        </p:spPr>
        <p:txBody>
          <a:bodyPr spcFirstLastPara="1" wrap="square" lIns="68575" tIns="68575" rIns="68575" bIns="68575" anchor="t"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0" i="1" u="none" strike="noStrike" kern="0" cap="none" spc="0" normalizeH="0" baseline="0" noProof="0">
                <a:ln>
                  <a:noFill/>
                </a:ln>
                <a:solidFill>
                  <a:srgbClr val="000000"/>
                </a:solidFill>
                <a:effectLst/>
                <a:uLnTx/>
                <a:uFillTx/>
                <a:latin typeface="Red Hat Display"/>
                <a:ea typeface="Red Hat Display"/>
                <a:cs typeface="Red Hat Display"/>
                <a:sym typeface="Red Hat Display"/>
              </a:rPr>
              <a:t>“RDMA [0,5] to [4,6]”</a:t>
            </a:r>
            <a:endParaRPr kumimoji="0" sz="800" b="0" i="1" u="none" strike="noStrike" kern="0" cap="none" spc="0" normalizeH="0" baseline="0" noProof="0">
              <a:ln>
                <a:noFill/>
              </a:ln>
              <a:solidFill>
                <a:srgbClr val="000000"/>
              </a:solidFill>
              <a:effectLst/>
              <a:uLnTx/>
              <a:uFillTx/>
              <a:latin typeface="Red Hat Display"/>
              <a:ea typeface="Red Hat Display"/>
              <a:cs typeface="Red Hat Display"/>
              <a:sym typeface="Red Hat Display"/>
            </a:endParaRP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04 / PER-ROLE AUTOSCALING</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dirty="0" err="1"/>
              <a:t>Autoscale</a:t>
            </a:r>
            <a:r>
              <a:rPr sz="2175" dirty="0"/>
              <a:t> the role that is actually saturated</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22 / 43</a:t>
            </a:r>
          </a:p>
        </p:txBody>
      </p: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a:t>Protect prompt latency</a:t>
            </a:r>
          </a:p>
          <a:p>
            <a:pPr>
              <a:spcAft>
                <a:spcPts val="375"/>
              </a:spcAft>
              <a:defRPr sz="2200" b="0">
                <a:solidFill>
                  <a:srgbClr val="172941"/>
                </a:solidFill>
                <a:latin typeface="Arial"/>
              </a:defRPr>
            </a:pPr>
            <a:r>
              <a:rPr sz="1650"/>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a:t>Protect token delivery</a:t>
            </a:r>
          </a:p>
          <a:p>
            <a:pPr>
              <a:spcAft>
                <a:spcPts val="375"/>
              </a:spcAft>
              <a:defRPr sz="2200" b="0">
                <a:solidFill>
                  <a:srgbClr val="172941"/>
                </a:solidFill>
                <a:latin typeface="Arial"/>
              </a:defRPr>
            </a:pPr>
            <a:r>
              <a:rPr sz="1650"/>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a:t>Primary signal: vLLM running requests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04 / EXISTING CAPABILITY</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Today: KEDA targets the InferenceSet scale API</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23 / 43</a:t>
            </a:r>
          </a:p>
        </p:txBody>
      </p: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a:t>vllm:num_requests_waiting</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0" y="0"/>
            <a:ext cx="6950075" cy="1047750"/>
          </a:xfrm>
        </p:spPr>
        <p:txBody>
          <a:bodyPr>
            <a:normAutofit/>
          </a:bodyPr>
          <a:lstStyle/>
          <a:p>
            <a:r>
              <a:rPr lang="en-US" dirty="0"/>
              <a:t>KAITO autoscaling: keda-</a:t>
            </a:r>
            <a:r>
              <a:rPr lang="en-US" dirty="0" err="1"/>
              <a:t>kaito</a:t>
            </a:r>
            <a:r>
              <a:rPr lang="en-US" dirty="0"/>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1000" y="1150000"/>
            <a:ext cx="8300000" cy="340000"/>
          </a:xfrm>
          <a:prstGeom prst="rect">
            <a:avLst/>
          </a:prstGeom>
          <a:noFill/>
        </p:spPr>
        <p:txBody>
          <a:bodyPr wrap="square" rtlCol="0">
            <a:normAutofit fontScale="92500"/>
          </a:bodyPr>
          <a:lstStyle/>
          <a:p>
            <a:r>
              <a:rPr lang="en-US" sz="1400" b="1" dirty="0">
                <a:solidFill>
                  <a:schemeClr val="accent2">
                    <a:lumMod val="75000"/>
                  </a:schemeClr>
                </a:solidFill>
              </a:rPr>
              <a:t>Load-aware autoscaling: KEDA-driven, metric-aware scaling for GPU inference (no Prometheus).</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a:solidFill>
                  <a:schemeClr val="accent2">
                    <a:lumMod val="75000"/>
                  </a:schemeClr>
                </a:solidFill>
              </a:rPr>
              <a:t>What makes it special</a:t>
            </a:r>
          </a:p>
          <a:p>
            <a:pPr marL="228600" indent="-228600">
              <a:spcBef>
                <a:spcPts val="600"/>
              </a:spcBef>
              <a:buFont typeface="Arial" panose="020B0604020202020204" pitchFamily="34" charset="0"/>
              <a:buChar char="•"/>
            </a:pPr>
            <a:r>
              <a:rPr lang="en-US" sz="1150" b="1" dirty="0"/>
              <a:t>Zero dependencies</a:t>
            </a:r>
            <a:r>
              <a:rPr lang="en-US" sz="1150" dirty="0"/>
              <a:t> — no Prometheus; scrapes vLLM directly</a:t>
            </a:r>
          </a:p>
          <a:p>
            <a:pPr marL="228600" indent="-228600">
              <a:spcBef>
                <a:spcPts val="600"/>
              </a:spcBef>
              <a:buFont typeface="Arial" panose="020B0604020202020204" pitchFamily="34" charset="0"/>
              <a:buChar char="•"/>
            </a:pPr>
            <a:r>
              <a:rPr lang="en-US" sz="1150" b="1" dirty="0"/>
              <a:t>GPU-safe scaling</a:t>
            </a:r>
            <a:r>
              <a:rPr lang="en-US" sz="1150" dirty="0"/>
              <a:t> — conservative ±1 replica per step</a:t>
            </a:r>
          </a:p>
          <a:p>
            <a:pPr marL="228600" indent="-228600">
              <a:spcBef>
                <a:spcPts val="600"/>
              </a:spcBef>
              <a:buFont typeface="Arial" panose="020B0604020202020204" pitchFamily="34" charset="0"/>
              <a:buChar char="•"/>
            </a:pPr>
            <a:r>
              <a:rPr lang="en-US" sz="1150" b="1" dirty="0"/>
              <a:t>Composite metrics</a:t>
            </a:r>
            <a:r>
              <a:rPr lang="en-US" sz="1150" dirty="0"/>
              <a:t> — combine queue length + latency under a conservative AND policy</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58DF3-00F5-9C28-319B-8E742B63A5C0}"/>
              </a:ext>
            </a:extLst>
          </p:cNvPr>
          <p:cNvSpPr>
            <a:spLocks noGrp="1"/>
          </p:cNvSpPr>
          <p:nvPr>
            <p:ph type="title" idx="4294967295"/>
          </p:nvPr>
        </p:nvSpPr>
        <p:spPr>
          <a:xfrm>
            <a:off x="1" y="0"/>
            <a:ext cx="6743700" cy="690563"/>
          </a:xfrm>
        </p:spPr>
        <p:txBody>
          <a:bodyPr>
            <a:normAutofit/>
          </a:bodyPr>
          <a:lstStyle/>
          <a:p>
            <a:r>
              <a:rPr lang="en-US" dirty="0"/>
              <a:t>KAITO autoscaling example</a:t>
            </a:r>
          </a:p>
        </p:txBody>
      </p:sp>
      <p:sp>
        <p:nvSpPr>
          <p:cNvPr id="20" name="TextBox Subtitle"/>
          <p:cNvSpPr txBox="1"/>
          <p:nvPr/>
        </p:nvSpPr>
        <p:spPr>
          <a:xfrm>
            <a:off x="223837" y="784995"/>
            <a:ext cx="8300000" cy="340000"/>
          </a:xfrm>
          <a:prstGeom prst="rect">
            <a:avLst/>
          </a:prstGeom>
          <a:noFill/>
        </p:spPr>
        <p:txBody>
          <a:bodyPr wrap="square" rtlCol="0">
            <a:normAutofit/>
          </a:bodyPr>
          <a:lstStyle/>
          <a:p>
            <a:r>
              <a:rPr lang="en-US" sz="1400" b="1" dirty="0">
                <a:solidFill>
                  <a:schemeClr val="accent2">
                    <a:lumMod val="75000"/>
                  </a:schemeClr>
                </a:solidFill>
              </a:rPr>
              <a:t>One annotation combines multiple signals under a conservative AND policy.</a:t>
            </a:r>
          </a:p>
        </p:txBody>
      </p:sp>
      <p:sp>
        <p:nvSpPr>
          <p:cNvPr id="21" name="Code Panel"/>
          <p:cNvSpPr/>
          <p:nvPr/>
        </p:nvSpPr>
        <p:spPr>
          <a:xfrm>
            <a:off x="380999" y="1219427"/>
            <a:ext cx="5286625" cy="3843111"/>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200" b="1" dirty="0">
                <a:solidFill>
                  <a:schemeClr val="accent2">
                    <a:lumMod val="75000"/>
                  </a:schemeClr>
                </a:solidFill>
              </a:rPr>
              <a:t>InferenceSet — full composite-metric config</a:t>
            </a:r>
          </a:p>
          <a:p>
            <a:pPr marL="0" indent="0">
              <a:lnSpc>
                <a:spcPct val="100000"/>
              </a:lnSpc>
            </a:pPr>
            <a:r>
              <a:rPr lang="en-US" sz="1000" dirty="0">
                <a:latin typeface="Consolas" panose="020B0609020204030204" pitchFamily="49" charset="0"/>
              </a:rPr>
              <a:t>metadata:</a:t>
            </a:r>
          </a:p>
          <a:p>
            <a:pPr marL="0" indent="0">
              <a:lnSpc>
                <a:spcPct val="100000"/>
              </a:lnSpc>
            </a:pPr>
            <a:r>
              <a:rPr lang="en-US" sz="1000" dirty="0">
                <a:latin typeface="Consolas" panose="020B0609020204030204" pitchFamily="49" charset="0"/>
              </a:rPr>
              <a:t>  annotations:</a:t>
            </a:r>
          </a:p>
          <a:p>
            <a:pPr marL="0" indent="0">
              <a:lnSpc>
                <a:spcPct val="100000"/>
              </a:lnSpc>
            </a:pPr>
            <a:r>
              <a:rPr lang="en-US" sz="1000" dirty="0">
                <a:latin typeface="Consolas" panose="020B0609020204030204" pitchFamily="49" charset="0"/>
              </a:rPr>
              <a:t>    scaledobject.kaito.sh/auto-provision: "true"</a:t>
            </a:r>
          </a:p>
          <a:p>
            <a:pPr marL="0" indent="0">
              <a:lnSpc>
                <a:spcPct val="100000"/>
              </a:lnSpc>
            </a:pPr>
            <a:r>
              <a:rPr lang="en-US" sz="1000" dirty="0">
                <a:latin typeface="Consolas" panose="020B0609020204030204" pitchFamily="49" charset="0"/>
              </a:rPr>
              <a:t>    scaledobject.kaito.sh/metrics: |</a:t>
            </a:r>
          </a:p>
          <a:p>
            <a:pPr marL="0" indent="0">
              <a:lnSpc>
                <a:spcPct val="100000"/>
              </a:lnSpc>
            </a:pPr>
            <a:r>
              <a:rPr lang="en-US" sz="1000" dirty="0">
                <a:latin typeface="Consolas" panose="020B0609020204030204" pitchFamily="49" charset="0"/>
              </a:rPr>
              <a:t>      - name: </a:t>
            </a:r>
            <a:r>
              <a:rPr lang="en-US" sz="1100" b="1" dirty="0">
                <a:solidFill>
                  <a:srgbClr val="00B050"/>
                </a:solidFill>
                <a:latin typeface="Consolas" panose="020B0609020204030204" pitchFamily="49" charset="0"/>
              </a:rPr>
              <a:t>vllm:num_requests_waiting</a:t>
            </a:r>
          </a:p>
          <a:p>
            <a:pPr marL="0" indent="0">
              <a:lnSpc>
                <a:spcPct val="100000"/>
              </a:lnSpc>
            </a:pPr>
            <a:r>
              <a:rPr lang="en-US" sz="1000" dirty="0">
                <a:latin typeface="Consolas" panose="020B0609020204030204" pitchFamily="49" charset="0"/>
              </a:rPr>
              <a:t>        type: gauge</a:t>
            </a:r>
          </a:p>
          <a:p>
            <a:pPr marL="0" indent="0">
              <a:lnSpc>
                <a:spcPct val="100000"/>
              </a:lnSpc>
            </a:pPr>
            <a:r>
              <a:rPr lang="en-US" sz="1000" dirty="0">
                <a:latin typeface="Consolas" panose="020B0609020204030204" pitchFamily="49" charset="0"/>
              </a:rPr>
              <a:t>        source: modelpod</a:t>
            </a:r>
          </a:p>
          <a:p>
            <a:pPr marL="0" indent="0">
              <a:lnSpc>
                <a:spcPct val="100000"/>
              </a:lnSpc>
            </a:pPr>
            <a:r>
              <a:rPr lang="en-US" sz="1000" dirty="0">
                <a:latin typeface="Consolas" panose="020B0609020204030204" pitchFamily="49" charset="0"/>
              </a:rPr>
              <a:t>        upthreshold: 10</a:t>
            </a:r>
          </a:p>
          <a:p>
            <a:pPr marL="0" indent="0">
              <a:lnSpc>
                <a:spcPct val="100000"/>
              </a:lnSpc>
            </a:pPr>
            <a:r>
              <a:rPr lang="en-US" sz="1000" dirty="0">
                <a:latin typeface="Consolas" panose="020B0609020204030204" pitchFamily="49" charset="0"/>
              </a:rPr>
              <a:t>        downthreshold: 1</a:t>
            </a:r>
          </a:p>
          <a:p>
            <a:pPr>
              <a:lnSpc>
                <a:spcPct val="110000"/>
              </a:lnSpc>
            </a:pPr>
            <a:r>
              <a:rPr lang="en-US" sz="1000" dirty="0">
                <a:latin typeface="Consolas" panose="020B0609020204030204" pitchFamily="49" charset="0"/>
              </a:rPr>
              <a:t>      - name: </a:t>
            </a:r>
            <a:r>
              <a:rPr lang="en-US" sz="1100" b="1" dirty="0" err="1">
                <a:solidFill>
                  <a:srgbClr val="00B050"/>
                </a:solidFill>
                <a:latin typeface="Consolas" panose="020B0609020204030204" pitchFamily="49" charset="0"/>
              </a:rPr>
              <a:t>vllm:request_queue_time_seconds</a:t>
            </a:r>
            <a:endParaRPr lang="en-US" sz="1100" b="1" dirty="0">
              <a:solidFill>
                <a:srgbClr val="00B050"/>
              </a:solidFill>
              <a:latin typeface="Consolas" panose="020B0609020204030204" pitchFamily="49" charset="0"/>
            </a:endParaRPr>
          </a:p>
          <a:p>
            <a:pPr marL="0" indent="0">
              <a:lnSpc>
                <a:spcPct val="100000"/>
              </a:lnSpc>
            </a:pPr>
            <a:r>
              <a:rPr lang="en-US" sz="1000" dirty="0">
                <a:latin typeface="Consolas" panose="020B0609020204030204" pitchFamily="49" charset="0"/>
              </a:rPr>
              <a:t>        type: histogram</a:t>
            </a:r>
          </a:p>
          <a:p>
            <a:pPr marL="0" indent="0">
              <a:lnSpc>
                <a:spcPct val="100000"/>
              </a:lnSpc>
            </a:pPr>
            <a:r>
              <a:rPr lang="en-US" sz="1000" dirty="0">
                <a:latin typeface="Consolas" panose="020B0609020204030204" pitchFamily="49" charset="0"/>
              </a:rPr>
              <a:t>        source: modelpod</a:t>
            </a:r>
          </a:p>
          <a:p>
            <a:pPr marL="0" indent="0">
              <a:lnSpc>
                <a:spcPct val="100000"/>
              </a:lnSpc>
            </a:pPr>
            <a:r>
              <a:rPr lang="en-US" sz="1000" dirty="0">
                <a:latin typeface="Consolas" panose="020B0609020204030204" pitchFamily="49" charset="0"/>
              </a:rPr>
              <a:t>        upthreshold: 30</a:t>
            </a:r>
          </a:p>
          <a:p>
            <a:pPr marL="0" indent="0">
              <a:lnSpc>
                <a:spcPct val="100000"/>
              </a:lnSpc>
            </a:pPr>
            <a:r>
              <a:rPr lang="en-US" sz="1000" dirty="0">
                <a:latin typeface="Consolas" panose="020B0609020204030204" pitchFamily="49" charset="0"/>
              </a:rPr>
              <a:t>        downthreshold: 1</a:t>
            </a:r>
          </a:p>
          <a:p>
            <a:pPr marL="0" indent="0">
              <a:lnSpc>
                <a:spcPct val="100000"/>
              </a:lnSpc>
            </a:pPr>
            <a:r>
              <a:rPr lang="en-US" sz="1000" dirty="0">
                <a:latin typeface="Consolas" panose="020B0609020204030204" pitchFamily="49" charset="0"/>
              </a:rPr>
              <a:t>        metriccachewindow: 300</a:t>
            </a:r>
          </a:p>
          <a:p>
            <a:pPr marL="0" indent="0">
              <a:lnSpc>
                <a:spcPct val="100000"/>
              </a:lnSpc>
            </a:pPr>
            <a:r>
              <a:rPr lang="en-US" sz="1000" dirty="0">
                <a:latin typeface="Consolas" panose="020B0609020204030204" pitchFamily="49" charset="0"/>
              </a:rPr>
              <a:t>    scaledobject.kaito.sh/combinepolicy: "AND"</a:t>
            </a:r>
          </a:p>
          <a:p>
            <a:pPr marL="0" indent="0">
              <a:lnSpc>
                <a:spcPct val="100000"/>
              </a:lnSpc>
            </a:pPr>
            <a:r>
              <a:rPr lang="en-US" sz="1000" dirty="0">
                <a:latin typeface="Consolas" panose="020B0609020204030204" pitchFamily="49" charset="0"/>
              </a:rPr>
              <a:t>    scaledobject.kaito.sh/evaluationwindow: "60"</a:t>
            </a:r>
          </a:p>
          <a:p>
            <a:pPr marL="0" indent="0">
              <a:lnSpc>
                <a:spcPct val="100000"/>
              </a:lnSpc>
            </a:pPr>
            <a:r>
              <a:rPr lang="en-US" sz="1000" dirty="0">
                <a:latin typeface="Consolas" panose="020B0609020204030204" pitchFamily="49" charset="0"/>
              </a:rPr>
              <a:t>    scaledobject.kaito.sh/scaleupcooldown: "300"</a:t>
            </a:r>
          </a:p>
          <a:p>
            <a:pPr marL="0" indent="0">
              <a:lnSpc>
                <a:spcPct val="100000"/>
              </a:lnSpc>
            </a:pPr>
            <a:r>
              <a:rPr lang="en-US" sz="1000" dirty="0">
                <a:latin typeface="Consolas" panose="020B0609020204030204" pitchFamily="49" charset="0"/>
              </a:rPr>
              <a:t>    scaledobject.kaito.sh/scaledowncooldown: "300"</a:t>
            </a:r>
          </a:p>
          <a:p>
            <a:pPr marL="0" indent="0">
              <a:lnSpc>
                <a:spcPct val="100000"/>
              </a:lnSpc>
            </a:pPr>
            <a:r>
              <a:rPr lang="en-US" sz="1000" dirty="0">
                <a:latin typeface="Consolas" panose="020B0609020204030204" pitchFamily="49" charset="0"/>
              </a:rPr>
              <a:t>    scaledobject.kaito.sh/</a:t>
            </a:r>
            <a:r>
              <a:rPr lang="en-US" sz="1000" b="1" dirty="0">
                <a:solidFill>
                  <a:srgbClr val="00B050"/>
                </a:solidFill>
                <a:latin typeface="Consolas" panose="020B0609020204030204" pitchFamily="49" charset="0"/>
              </a:rPr>
              <a:t>min-replicas: "1"</a:t>
            </a:r>
          </a:p>
          <a:p>
            <a:pPr marL="0" indent="0">
              <a:lnSpc>
                <a:spcPct val="100000"/>
              </a:lnSpc>
            </a:pPr>
            <a:r>
              <a:rPr lang="en-US" sz="1000" dirty="0">
                <a:latin typeface="Consolas" panose="020B0609020204030204" pitchFamily="49" charset="0"/>
              </a:rPr>
              <a:t>    scaledobject.kaito.sh/</a:t>
            </a:r>
            <a:r>
              <a:rPr lang="en-US" sz="1000" b="1" dirty="0">
                <a:solidFill>
                  <a:srgbClr val="00B050"/>
                </a:solidFill>
                <a:latin typeface="Consolas" panose="020B0609020204030204" pitchFamily="49" charset="0"/>
              </a:rPr>
              <a:t>max-replicas: "5"</a:t>
            </a:r>
          </a:p>
          <a:p>
            <a:pPr marL="0" indent="0">
              <a:lnSpc>
                <a:spcPct val="100000"/>
              </a:lnSpc>
            </a:pPr>
            <a:r>
              <a:rPr lang="en-US" sz="1000" dirty="0">
                <a:latin typeface="Consolas" panose="020B0609020204030204" pitchFamily="49" charset="0"/>
              </a:rPr>
              <a:t>  name: phi-4</a:t>
            </a:r>
          </a:p>
          <a:p>
            <a:pPr marL="0" indent="0">
              <a:lnSpc>
                <a:spcPct val="100000"/>
              </a:lnSpc>
            </a:pPr>
            <a:r>
              <a:rPr lang="en-US" sz="1000" dirty="0">
                <a:latin typeface="Consolas" panose="020B0609020204030204" pitchFamily="49" charset="0"/>
              </a:rPr>
              <a:t>spec:</a:t>
            </a:r>
          </a:p>
          <a:p>
            <a:pPr marL="0" indent="0">
              <a:lnSpc>
                <a:spcPct val="100000"/>
              </a:lnSpc>
            </a:pPr>
            <a:r>
              <a:rPr lang="en-US" sz="1000" dirty="0">
                <a:latin typeface="Consolas" panose="020B0609020204030204" pitchFamily="49" charset="0"/>
              </a:rPr>
              <a:t>  replicas: 1</a:t>
            </a:r>
          </a:p>
          <a:p>
            <a:pPr marL="0" indent="0"/>
            <a:r>
              <a:rPr lang="en-US" sz="1100" b="1" i="1" dirty="0">
                <a:solidFill>
                  <a:schemeClr val="accent2">
                    <a:lumMod val="75000"/>
                  </a:schemeClr>
                </a:solidFill>
              </a:rPr>
              <a:t>→ every threshold, window &amp; cooldown must be tuned today.</a:t>
            </a:r>
          </a:p>
        </p:txBody>
      </p:sp>
      <p:sp>
        <p:nvSpPr>
          <p:cNvPr id="22" name="InProgress Label"/>
          <p:cNvSpPr txBox="1"/>
          <p:nvPr/>
        </p:nvSpPr>
        <p:spPr>
          <a:xfrm>
            <a:off x="5477625" y="2794432"/>
            <a:ext cx="980000" cy="330000"/>
          </a:xfrm>
          <a:prstGeom prst="rect">
            <a:avLst/>
          </a:prstGeom>
          <a:noFill/>
        </p:spPr>
        <p:txBody>
          <a:bodyPr wrap="none" rtlCol="0">
            <a:spAutoFit/>
          </a:bodyPr>
          <a:lstStyle/>
          <a:p>
            <a:pPr algn="ctr"/>
            <a:r>
              <a:rPr lang="en-US" sz="1000" b="1" dirty="0">
                <a:solidFill>
                  <a:schemeClr val="accent2">
                    <a:lumMod val="75000"/>
                  </a:schemeClr>
                </a:solidFill>
              </a:rPr>
              <a:t>In progress</a:t>
            </a:r>
          </a:p>
        </p:txBody>
      </p:sp>
      <p:sp>
        <p:nvSpPr>
          <p:cNvPr id="23" name="Arrow"/>
          <p:cNvSpPr/>
          <p:nvPr/>
        </p:nvSpPr>
        <p:spPr>
          <a:xfrm>
            <a:off x="5667625" y="3010000"/>
            <a:ext cx="600000" cy="560000"/>
          </a:xfrm>
          <a:prstGeom prst="rightArrow">
            <a:avLst/>
          </a:prstGeom>
          <a:solidFill>
            <a:schemeClr val="accent2"/>
          </a:solidFill>
          <a:ln>
            <a:noFill/>
          </a:ln>
        </p:spPr>
        <p:txBody>
          <a:bodyPr rtlCol="0" anchor="ctr"/>
          <a:lstStyle/>
          <a:p>
            <a:endParaRPr lang="en-US"/>
          </a:p>
        </p:txBody>
      </p:sp>
      <p:sp>
        <p:nvSpPr>
          <p:cNvPr id="24" name="Future Config"/>
          <p:cNvSpPr/>
          <p:nvPr/>
        </p:nvSpPr>
        <p:spPr>
          <a:xfrm>
            <a:off x="6328575" y="2360000"/>
            <a:ext cx="2640000" cy="1880000"/>
          </a:xfrm>
          <a:prstGeom prst="roundRect">
            <a:avLst/>
          </a:prstGeom>
          <a:solidFill>
            <a:schemeClr val="accent2">
              <a:lumMod val="20000"/>
              <a:lumOff val="80000"/>
            </a:schemeClr>
          </a:solidFill>
          <a:ln w="12700">
            <a:solidFill>
              <a:schemeClr val="accent2"/>
            </a:solidFill>
          </a:ln>
        </p:spPr>
        <p:txBody>
          <a:bodyPr rtlCol="0" anchor="t">
            <a:normAutofit/>
          </a:bodyPr>
          <a:lstStyle/>
          <a:p>
            <a:r>
              <a:rPr lang="en-US" sz="1050" b="1" dirty="0">
                <a:solidFill>
                  <a:schemeClr val="accent2">
                    <a:lumMod val="75000"/>
                  </a:schemeClr>
                </a:solidFill>
              </a:rPr>
              <a:t>You configure just this</a:t>
            </a:r>
          </a:p>
          <a:p>
            <a:pPr marL="0" indent="0">
              <a:lnSpc>
                <a:spcPct val="100000"/>
              </a:lnSpc>
            </a:pPr>
            <a:r>
              <a:rPr lang="en-US" sz="950" dirty="0">
                <a:latin typeface="Consolas" panose="020B0609020204030204" pitchFamily="49" charset="0"/>
              </a:rPr>
              <a:t>metadata:</a:t>
            </a:r>
          </a:p>
          <a:p>
            <a:pPr marL="0" indent="0">
              <a:lnSpc>
                <a:spcPct val="100000"/>
              </a:lnSpc>
            </a:pPr>
            <a:r>
              <a:rPr lang="en-US" sz="950" dirty="0">
                <a:latin typeface="Consolas" panose="020B0609020204030204" pitchFamily="49" charset="0"/>
              </a:rPr>
              <a:t>  annotations:</a:t>
            </a:r>
          </a:p>
          <a:p>
            <a:pPr marL="0" indent="0">
              <a:lnSpc>
                <a:spcPct val="100000"/>
              </a:lnSpc>
            </a:pPr>
            <a:r>
              <a:rPr lang="en-US" sz="950" dirty="0">
                <a:latin typeface="Consolas" panose="020B0609020204030204" pitchFamily="49" charset="0"/>
              </a:rPr>
              <a:t>    .../min-replicas: "1"</a:t>
            </a:r>
          </a:p>
          <a:p>
            <a:pPr marL="0" indent="0">
              <a:lnSpc>
                <a:spcPct val="100000"/>
              </a:lnSpc>
            </a:pPr>
            <a:r>
              <a:rPr lang="en-US" sz="950" dirty="0">
                <a:latin typeface="Consolas" panose="020B0609020204030204" pitchFamily="49" charset="0"/>
              </a:rPr>
              <a:t>    .../max-replicas: "5"</a:t>
            </a:r>
          </a:p>
          <a:p>
            <a:pPr marL="0" indent="0">
              <a:spcBef>
                <a:spcPts val="400"/>
              </a:spcBef>
            </a:pPr>
            <a:r>
              <a:rPr lang="en-US" sz="900" b="1" i="1" dirty="0">
                <a:solidFill>
                  <a:schemeClr val="accent2">
                    <a:lumMod val="75000"/>
                  </a:schemeClr>
                </a:solidFill>
              </a:rPr>
              <a:t>everything else → auto-tuned to best practice</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04 / PER-ROLE AUTOSCALING</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Two independent control loops, one logical service</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7" name="TextBox 6"/>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24 / 43</a:t>
            </a:r>
          </a:p>
        </p:txBody>
      </p: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a:t>Add stabilization, warm-up awareness, and safe scale-down behavior to each loop.</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04 / POLICY BOUNDARY</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One service, independently managed role capacity</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25 / 43</a:t>
            </a:r>
          </a:p>
        </p:txBody>
      </p: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Prefill: latency objective</a:t>
            </a:r>
          </a:p>
          <a:p>
            <a:pPr algn="ctr">
              <a:spcAft>
                <a:spcPts val="375"/>
              </a:spcAft>
              <a:defRPr sz="1400" b="0">
                <a:solidFill>
                  <a:srgbClr val="586A80"/>
                </a:solidFill>
                <a:latin typeface="Arial"/>
              </a:defRPr>
            </a:pPr>
            <a:r>
              <a:rPr sz="1050"/>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04 / CONTROL-LOOP DESIGN</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Observe each role. Act on its own capacity.</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26 / 43</a:t>
            </a:r>
          </a:p>
        </p:txBody>
      </p: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04 / VLLM-NATIVE METRICS</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lang="en-US" sz="2175" dirty="0"/>
              <a:t>t</a:t>
            </a:r>
            <a:r>
              <a:rPr sz="2175" dirty="0"/>
              <a:t>wo native gauges, two scaling decisions</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27 / 43</a:t>
            </a:r>
          </a:p>
        </p:txBody>
      </p: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a:t>Queue inside the prefill engine.</a:t>
            </a:r>
          </a:p>
          <a:p>
            <a:pPr>
              <a:spcAft>
                <a:spcPts val="375"/>
              </a:spcAft>
              <a:defRPr sz="1800" b="0">
                <a:solidFill>
                  <a:srgbClr val="172941"/>
                </a:solidFill>
                <a:latin typeface="Arial"/>
              </a:defRPr>
            </a:pPr>
            <a:r>
              <a:rPr sz="1350"/>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a:t>Requests in decode execution batches.</a:t>
            </a:r>
          </a:p>
          <a:p>
            <a:pPr>
              <a:spcAft>
                <a:spcPts val="375"/>
              </a:spcAft>
              <a:defRPr sz="1800" b="0">
                <a:solidFill>
                  <a:srgbClr val="172941"/>
                </a:solidFill>
                <a:latin typeface="Arial"/>
              </a:defRPr>
            </a:pPr>
            <a:r>
              <a:rPr sz="1350"/>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a:t>Example bounds: 2–16 role replicas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a:t>04 / ROLE-SPECIFIC DECISIONS</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dirty="0"/>
              <a:t>Different roles need different scaling policies</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28 / 43</a:t>
            </a:r>
          </a:p>
        </p:txBody>
      </p: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Readiness + fresh metrics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04 / OPERATIONAL SAFEGUARDS</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Safe autoscaling starts with ownership and valid data</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29 / 43</a:t>
            </a:r>
          </a:p>
        </p:txBody>
      </p: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a:t>One policy owns replica count</a:t>
            </a:r>
          </a:p>
          <a:p>
            <a:pPr>
              <a:spcAft>
                <a:spcPts val="375"/>
              </a:spcAft>
              <a:defRPr sz="1700" b="0">
                <a:solidFill>
                  <a:srgbClr val="172941"/>
                </a:solidFill>
                <a:latin typeface="Arial"/>
              </a:defRPr>
            </a:pPr>
            <a:r>
              <a:rPr sz="1275"/>
              <a:t>Separate targets for P and D</a:t>
            </a:r>
          </a:p>
          <a:p>
            <a:pPr>
              <a:spcAft>
                <a:spcPts val="375"/>
              </a:spcAft>
              <a:defRPr sz="1700" b="0">
                <a:solidFill>
                  <a:srgbClr val="172941"/>
                </a:solidFill>
                <a:latin typeface="Arial"/>
              </a:defRPr>
            </a:pPr>
            <a:r>
              <a:rPr sz="1275"/>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a:t>Inspect actual /metrics</a:t>
            </a:r>
          </a:p>
          <a:p>
            <a:pPr>
              <a:spcAft>
                <a:spcPts val="375"/>
              </a:spcAft>
              <a:defRPr sz="1700" b="0">
                <a:solidFill>
                  <a:srgbClr val="172941"/>
                </a:solidFill>
                <a:latin typeface="Arial"/>
              </a:defRPr>
            </a:pPr>
            <a:r>
              <a:rPr sz="1275"/>
              <a:t>Scope samples per role</a:t>
            </a:r>
          </a:p>
          <a:p>
            <a:pPr>
              <a:spcAft>
                <a:spcPts val="375"/>
              </a:spcAft>
              <a:defRPr sz="1700" b="0">
                <a:solidFill>
                  <a:srgbClr val="172941"/>
                </a:solidFill>
                <a:latin typeface="Arial"/>
              </a:defRPr>
            </a:pPr>
            <a:r>
              <a:rPr sz="1275"/>
              <a:t>Missing is not zero</a:t>
            </a:r>
          </a:p>
          <a:p>
            <a:pPr>
              <a:spcAft>
                <a:spcPts val="375"/>
              </a:spcAft>
              <a:defRPr sz="1700" b="0">
                <a:solidFill>
                  <a:srgbClr val="172941"/>
                </a:solidFill>
                <a:latin typeface="Arial"/>
              </a:defRPr>
            </a:pPr>
            <a:r>
              <a:rPr sz="1275"/>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a:t>Stop the old writer first</a:t>
            </a:r>
          </a:p>
          <a:p>
            <a:pPr>
              <a:spcAft>
                <a:spcPts val="375"/>
              </a:spcAft>
              <a:defRPr sz="1700" b="0">
                <a:solidFill>
                  <a:srgbClr val="172941"/>
                </a:solidFill>
                <a:latin typeface="Arial"/>
              </a:defRPr>
            </a:pPr>
            <a:r>
              <a:rPr sz="1275"/>
              <a:t>Delete only owned scalers</a:t>
            </a:r>
          </a:p>
          <a:p>
            <a:pPr>
              <a:spcAft>
                <a:spcPts val="375"/>
              </a:spcAft>
              <a:defRPr sz="1700" b="0">
                <a:solidFill>
                  <a:srgbClr val="172941"/>
                </a:solidFill>
                <a:latin typeface="Arial"/>
              </a:defRPr>
            </a:pPr>
            <a:r>
              <a:rPr sz="1275"/>
              <a:t>Allow model warm-up</a:t>
            </a:r>
          </a:p>
          <a:p>
            <a:pPr>
              <a:spcAft>
                <a:spcPts val="375"/>
              </a:spcAft>
              <a:defRPr sz="1700" b="0">
                <a:solidFill>
                  <a:srgbClr val="172941"/>
                </a:solidFill>
                <a:latin typeface="Arial"/>
              </a:defRPr>
            </a:pPr>
            <a:r>
              <a:rPr sz="1275"/>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a:t>On missing or invalid signals: hold decisions and report the problem. Missing is not zero.</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a:t>04 / SIGNAL INTERPRETATION</a:t>
            </a:r>
          </a:p>
        </p:txBody>
      </p:sp>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Derived signals add context to scaling decisions</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30 / 43</a:t>
            </a:r>
          </a:p>
        </p:txBody>
      </p: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Minimum free fraction;</a:t>
            </a:r>
          </a:p>
          <a:p>
            <a:pPr>
              <a:spcAft>
                <a:spcPts val="375"/>
              </a:spcAft>
              <a:defRPr sz="1500" b="0">
                <a:solidFill>
                  <a:srgbClr val="172941"/>
                </a:solidFill>
                <a:latin typeface="Arial"/>
              </a:defRPr>
            </a:pPr>
            <a:r>
              <a:rPr sz="1125"/>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a:t>time_to_first_token_seconds</a:t>
            </a:r>
          </a:p>
          <a:p>
            <a:pPr>
              <a:spcAft>
                <a:spcPts val="375"/>
              </a:spcAft>
              <a:defRPr sz="1500" b="0">
                <a:solidFill>
                  <a:srgbClr val="2563EB"/>
                </a:solidFill>
                <a:latin typeface="Arial"/>
              </a:defRPr>
            </a:pPr>
            <a:r>
              <a:rPr sz="1125"/>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Output throughput;</a:t>
            </a:r>
          </a:p>
          <a:p>
            <a:pPr>
              <a:spcAft>
                <a:spcPts val="375"/>
              </a:spcAft>
              <a:defRPr sz="1500" b="0">
                <a:solidFill>
                  <a:srgbClr val="172941"/>
                </a:solidFill>
                <a:latin typeface="Arial"/>
              </a:defRPr>
            </a:pPr>
            <a:r>
              <a:rPr sz="1125"/>
              <a:t>observe and benchmark</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190296"/>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dirty="0"/>
              <a:t>Example: one MRI policy, independent P/D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32 / 48</a:t>
            </a:r>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42900" y="569215"/>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a:t>When should you use P/D—and when not?</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41 / 48</a:t>
            </a:r>
          </a:p>
        </p:txBody>
      </p: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a:t>Different</a:t>
            </a:r>
          </a:p>
          <a:p>
            <a:pPr>
              <a:spcAft>
                <a:spcPts val="375"/>
              </a:spcAft>
              <a:defRPr sz="1400" b="1">
                <a:solidFill>
                  <a:srgbClr val="172941"/>
                </a:solidFill>
                <a:latin typeface="Arial"/>
              </a:defRPr>
            </a:pPr>
            <a:r>
              <a:rPr sz="1050"/>
              <a:t>bottlenecks /</a:t>
            </a:r>
          </a:p>
          <a:p>
            <a:pPr>
              <a:spcAft>
                <a:spcPts val="375"/>
              </a:spcAft>
              <a:defRPr sz="1400" b="1">
                <a:solidFill>
                  <a:srgbClr val="172941"/>
                </a:solidFill>
                <a:latin typeface="Arial"/>
              </a:defRPr>
            </a:pPr>
            <a:r>
              <a:rPr sz="1050"/>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a:t>Similar</a:t>
            </a:r>
          </a:p>
          <a:p>
            <a:pPr>
              <a:spcAft>
                <a:spcPts val="375"/>
              </a:spcAft>
              <a:defRPr sz="1400" b="1">
                <a:solidFill>
                  <a:srgbClr val="586A80"/>
                </a:solidFill>
                <a:latin typeface="Arial"/>
              </a:defRPr>
            </a:pPr>
            <a:r>
              <a:rPr sz="1050"/>
              <a:t>bottlenecks /</a:t>
            </a:r>
          </a:p>
          <a:p>
            <a:pPr>
              <a:spcAft>
                <a:spcPts val="375"/>
              </a:spcAft>
              <a:defRPr sz="1400" b="1">
                <a:solidFill>
                  <a:srgbClr val="586A80"/>
                </a:solidFill>
                <a:latin typeface="Arial"/>
              </a:defRPr>
            </a:pPr>
            <a:r>
              <a:rPr sz="1050"/>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Independent capacity may help.</a:t>
            </a:r>
          </a:p>
          <a:p>
            <a:pPr>
              <a:spcAft>
                <a:spcPts val="375"/>
              </a:spcAft>
              <a:defRPr sz="1500" b="0">
                <a:solidFill>
                  <a:srgbClr val="172941"/>
                </a:solidFill>
                <a:latin typeface="Arial"/>
              </a:defRPr>
            </a:pPr>
            <a:r>
              <a:rPr sz="1125"/>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Different role capacity or parallelism.</a:t>
            </a:r>
          </a:p>
          <a:p>
            <a:pPr>
              <a:spcAft>
                <a:spcPts val="375"/>
              </a:spcAft>
              <a:defRPr sz="1500" b="0">
                <a:solidFill>
                  <a:srgbClr val="172941"/>
                </a:solidFill>
                <a:latin typeface="Arial"/>
              </a:defRPr>
            </a:pPr>
            <a:r>
              <a:rPr sz="1125"/>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Little role separation benefit,</a:t>
            </a:r>
          </a:p>
          <a:p>
            <a:pPr>
              <a:spcAft>
                <a:spcPts val="375"/>
              </a:spcAft>
              <a:defRPr sz="1500" b="0">
                <a:solidFill>
                  <a:srgbClr val="172941"/>
                </a:solidFill>
                <a:latin typeface="Arial"/>
              </a:defRPr>
            </a:pPr>
            <a:r>
              <a:rPr sz="1125"/>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a:t>Fast fabric alone is not a reason to split.</a:t>
            </a:r>
          </a:p>
          <a:p>
            <a:pPr>
              <a:spcAft>
                <a:spcPts val="375"/>
              </a:spcAft>
              <a:defRPr sz="1500" b="0">
                <a:solidFill>
                  <a:srgbClr val="172941"/>
                </a:solidFill>
                <a:latin typeface="Arial"/>
              </a:defRPr>
            </a:pPr>
            <a:r>
              <a:rPr sz="1125"/>
              <a:t>Operational gains may be limited.</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2326" y="267403"/>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dirty="0"/>
              <a:t>What’s next for KAITO + </a:t>
            </a:r>
            <a:r>
              <a:rPr sz="2175" dirty="0" err="1"/>
              <a:t>llm</a:t>
            </a:r>
            <a:r>
              <a:rPr sz="2175" dirty="0"/>
              <a:t>-d</a:t>
            </a:r>
          </a:p>
        </p:txBody>
      </p:sp>
      <p:sp>
        <p:nvSpPr>
          <p:cNvPr id="4" name="TextBox 3"/>
          <p:cNvSpPr txBox="1"/>
          <p:nvPr/>
        </p:nvSpPr>
        <p:spPr>
          <a:xfrm>
            <a:off x="356616" y="1049275"/>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46 / 48</a:t>
            </a:r>
          </a:p>
        </p:txBody>
      </p: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a:t>KV-event-based</a:t>
            </a:r>
          </a:p>
          <a:p>
            <a:pPr>
              <a:spcAft>
                <a:spcPts val="375"/>
              </a:spcAft>
              <a:defRPr sz="1700" b="0">
                <a:solidFill>
                  <a:srgbClr val="172941"/>
                </a:solidFill>
                <a:latin typeface="Arial"/>
              </a:defRPr>
            </a:pPr>
            <a:r>
              <a:rPr sz="1275"/>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a:t>Tiered cache: HBM + CPU RAM</a:t>
            </a:r>
          </a:p>
          <a:p>
            <a:pPr>
              <a:spcAft>
                <a:spcPts val="375"/>
              </a:spcAft>
              <a:defRPr sz="1700" b="0">
                <a:solidFill>
                  <a:srgbClr val="172941"/>
                </a:solidFill>
                <a:latin typeface="Arial"/>
              </a:defRPr>
            </a:pPr>
            <a:r>
              <a:rPr sz="1275"/>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a:t>Extend role-based serving</a:t>
            </a:r>
          </a:p>
          <a:p>
            <a:pPr>
              <a:spcAft>
                <a:spcPts val="375"/>
              </a:spcAft>
              <a:defRPr sz="1700" b="0">
                <a:solidFill>
                  <a:srgbClr val="172941"/>
                </a:solidFill>
                <a:latin typeface="Arial"/>
              </a:defRPr>
            </a:pPr>
            <a:r>
              <a:rPr sz="1275"/>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a:t>Cross-node transport</a:t>
            </a:r>
          </a:p>
          <a:p>
            <a:pPr>
              <a:spcAft>
                <a:spcPts val="375"/>
              </a:spcAft>
              <a:defRPr sz="1700" b="0">
                <a:solidFill>
                  <a:srgbClr val="172941"/>
                </a:solidFill>
                <a:latin typeface="Arial"/>
              </a:defRPr>
            </a:pPr>
            <a:r>
              <a:rPr sz="1275"/>
              <a:t>and communication</a:t>
            </a:r>
          </a:p>
          <a:p>
            <a:pPr>
              <a:spcAft>
                <a:spcPts val="375"/>
              </a:spcAft>
              <a:defRPr sz="1700" b="0">
                <a:solidFill>
                  <a:srgbClr val="172941"/>
                </a:solidFill>
                <a:latin typeface="Arial"/>
              </a:defRPr>
            </a:pPr>
            <a:r>
              <a:rPr sz="1275"/>
              <a:t>optimization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956E7-2E20-2E55-380F-70FAAE261D5A}"/>
              </a:ext>
            </a:extLst>
          </p:cNvPr>
          <p:cNvSpPr>
            <a:spLocks noGrp="1"/>
          </p:cNvSpPr>
          <p:nvPr>
            <p:ph type="title"/>
          </p:nvPr>
        </p:nvSpPr>
        <p:spPr/>
        <p:txBody>
          <a:bodyPr/>
          <a:lstStyle/>
          <a:p>
            <a:endParaRPr lang="zh-CN" altLang="en-US" dirty="0"/>
          </a:p>
        </p:txBody>
      </p:sp>
      <p:sp>
        <p:nvSpPr>
          <p:cNvPr id="4" name="Slide Number Placeholder 3">
            <a:extLst>
              <a:ext uri="{FF2B5EF4-FFF2-40B4-BE49-F238E27FC236}">
                <a16:creationId xmlns:a16="http://schemas.microsoft.com/office/drawing/2014/main" id="{CC154C41-AC67-C412-F049-F897739D7B74}"/>
              </a:ext>
            </a:extLst>
          </p:cNvPr>
          <p:cNvSpPr>
            <a:spLocks noGrp="1"/>
          </p:cNvSpPr>
          <p:nvPr>
            <p:ph type="sldNum" idx="12"/>
          </p:nvPr>
        </p:nvSpPr>
        <p:spPr/>
        <p:txBody>
          <a:bodyPr/>
          <a:lstStyle/>
          <a:p>
            <a:fld id="{00000000-1234-1234-1234-123412341234}" type="slidenum">
              <a:rPr lang="en-CA" smtClean="0"/>
              <a:pPr/>
              <a:t>49</a:t>
            </a:fld>
            <a:endParaRPr lang="en-CA"/>
          </a:p>
        </p:txBody>
      </p:sp>
      <p:pic>
        <p:nvPicPr>
          <p:cNvPr id="6" name="Picture 5" descr="A person standing on a rock by a body of water&#10;&#10;Description automatically generated">
            <a:extLst>
              <a:ext uri="{FF2B5EF4-FFF2-40B4-BE49-F238E27FC236}">
                <a16:creationId xmlns:a16="http://schemas.microsoft.com/office/drawing/2014/main" id="{946925E4-5C6E-D43A-A315-11E396471BAB}"/>
              </a:ext>
            </a:extLst>
          </p:cNvPr>
          <p:cNvPicPr>
            <a:picLocks noChangeAspect="1"/>
          </p:cNvPicPr>
          <p:nvPr/>
        </p:nvPicPr>
        <p:blipFill>
          <a:blip r:embed="rId2"/>
          <a:stretch>
            <a:fillRect/>
          </a:stretch>
        </p:blipFill>
        <p:spPr>
          <a:xfrm>
            <a:off x="-25265" y="-43313"/>
            <a:ext cx="9169266" cy="5186814"/>
          </a:xfrm>
          <a:prstGeom prst="rect">
            <a:avLst/>
          </a:prstGeom>
        </p:spPr>
      </p:pic>
      <p:sp>
        <p:nvSpPr>
          <p:cNvPr id="3" name="Text Placeholder 2">
            <a:extLst>
              <a:ext uri="{FF2B5EF4-FFF2-40B4-BE49-F238E27FC236}">
                <a16:creationId xmlns:a16="http://schemas.microsoft.com/office/drawing/2014/main" id="{C91C843E-4899-3DBD-28C1-85B74BAF18CA}"/>
              </a:ext>
            </a:extLst>
          </p:cNvPr>
          <p:cNvSpPr>
            <a:spLocks noGrp="1"/>
          </p:cNvSpPr>
          <p:nvPr>
            <p:ph type="body" idx="1"/>
          </p:nvPr>
        </p:nvSpPr>
        <p:spPr/>
        <p:txBody>
          <a:bodyPr>
            <a:normAutofit/>
          </a:bodyPr>
          <a:lstStyle/>
          <a:p>
            <a:pPr marL="85725" indent="0" algn="ctr">
              <a:buNone/>
            </a:pPr>
            <a:r>
              <a:rPr lang="en-US" altLang="zh-CN" sz="10350" dirty="0">
                <a:solidFill>
                  <a:schemeClr val="bg2">
                    <a:lumMod val="50000"/>
                    <a:lumOff val="50000"/>
                  </a:schemeClr>
                </a:solidFill>
              </a:rPr>
              <a:t>Thanks!</a:t>
            </a:r>
          </a:p>
          <a:p>
            <a:pPr marL="85725" indent="0" algn="ctr">
              <a:buNone/>
            </a:pPr>
            <a:r>
              <a:rPr lang="en-US" altLang="zh-CN" sz="10350" dirty="0">
                <a:solidFill>
                  <a:schemeClr val="bg2">
                    <a:lumMod val="50000"/>
                    <a:lumOff val="50000"/>
                  </a:schemeClr>
                </a:solidFill>
              </a:rPr>
              <a:t>Q &amp; A</a:t>
            </a:r>
            <a:endParaRPr lang="zh-CN" altLang="en-US" sz="10350" dirty="0">
              <a:solidFill>
                <a:schemeClr val="bg2">
                  <a:lumMod val="50000"/>
                  <a:lumOff val="50000"/>
                </a:schemeClr>
              </a:solidFill>
            </a:endParaRP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