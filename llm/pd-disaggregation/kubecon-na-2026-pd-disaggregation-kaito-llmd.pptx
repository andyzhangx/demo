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5.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1"/>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5" r:id="rId13"/>
    <p:sldId id="2147375734" r:id="rId14"/>
    <p:sldId id="267" r:id="rId15"/>
    <p:sldId id="268" r:id="rId16"/>
    <p:sldId id="269" r:id="rId17"/>
    <p:sldId id="270" r:id="rId18"/>
    <p:sldId id="2147375706" r:id="rId19"/>
    <p:sldId id="2147375697" r:id="rId20"/>
    <p:sldId id="2147375700" r:id="rId21"/>
    <p:sldId id="2147375701" r:id="rId22"/>
    <p:sldId id="278" r:id="rId23"/>
    <p:sldId id="2147375718" r:id="rId24"/>
    <p:sldId id="2147375719" r:id="rId25"/>
    <p:sldId id="256" r:id="rId26"/>
    <p:sldId id="257" r:id="rId27"/>
    <p:sldId id="2147375721" r:id="rId28"/>
    <p:sldId id="2147375722" r:id="rId29"/>
    <p:sldId id="2147375723" r:id="rId30"/>
    <p:sldId id="2147375724" r:id="rId31"/>
    <p:sldId id="2147375725" r:id="rId32"/>
    <p:sldId id="2147375726" r:id="rId33"/>
    <p:sldId id="2147375714" r:id="rId34"/>
    <p:sldId id="295" r:id="rId35"/>
    <p:sldId id="277" r:id="rId36"/>
    <p:sldId id="2147375729" r:id="rId37"/>
    <p:sldId id="273" r:id="rId38"/>
    <p:sldId id="275" r:id="rId39"/>
    <p:sldId id="279" r:id="rId40"/>
    <p:sldId id="280" r:id="rId41"/>
    <p:sldId id="281" r:id="rId42"/>
    <p:sldId id="282" r:id="rId43"/>
    <p:sldId id="283" r:id="rId44"/>
    <p:sldId id="284" r:id="rId45"/>
    <p:sldId id="285" r:id="rId46"/>
    <p:sldId id="287" r:id="rId47"/>
    <p:sldId id="296" r:id="rId48"/>
    <p:sldId id="301" r:id="rId49"/>
    <p:sldId id="266" r:id="rId5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3"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7273" autoAdjust="0"/>
  </p:normalViewPr>
  <p:slideViewPr>
    <p:cSldViewPr snapToGrid="0">
      <p:cViewPr varScale="1">
        <p:scale>
          <a:sx n="67" d="100"/>
          <a:sy n="67" d="100"/>
        </p:scale>
        <p:origin x="1264"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3" Type="http://customschemas.google.com/relationships/presentationmetadata" Target="metadata"/><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019A22C-6702-4553-A4E5-F6384627C34D}" type="doc">
      <dgm:prSet loTypeId="urn:microsoft.com/office/officeart/2008/layout/LinedList" loCatId="list" qsTypeId="urn:microsoft.com/office/officeart/2005/8/quickstyle/simple4" qsCatId="simple" csTypeId="urn:microsoft.com/office/officeart/2005/8/colors/accent3_2" csCatId="accent3" phldr="1"/>
      <dgm:spPr/>
      <dgm:t>
        <a:bodyPr/>
        <a:lstStyle/>
        <a:p>
          <a:endParaRPr lang="en-US"/>
        </a:p>
      </dgm:t>
    </dgm:pt>
    <dgm:pt modelId="{F6179A96-FB08-4F12-8FC7-D4A247637A7E}">
      <dgm:prSet/>
      <dgm:spPr/>
      <dgm:t>
        <a:bodyPr/>
        <a:lstStyle/>
        <a:p>
          <a:r>
            <a:rPr lang="en-US" b="0" i="0" dirty="0"/>
            <a:t>Why separate prefill and decode?</a:t>
          </a:r>
          <a:endParaRPr lang="en-US" dirty="0"/>
        </a:p>
      </dgm:t>
    </dgm:pt>
    <dgm:pt modelId="{8C39974D-B1B3-402D-B23C-EBC0CDDCFDC5}" type="parTrans" cxnId="{05F812C0-9469-44F9-96FD-F3C8C3E65962}">
      <dgm:prSet/>
      <dgm:spPr/>
      <dgm:t>
        <a:bodyPr/>
        <a:lstStyle/>
        <a:p>
          <a:endParaRPr lang="en-US"/>
        </a:p>
      </dgm:t>
    </dgm:pt>
    <dgm:pt modelId="{4BC765CE-CC1A-4608-81DB-BDCEFEBECF95}" type="sibTrans" cxnId="{05F812C0-9469-44F9-96FD-F3C8C3E65962}">
      <dgm:prSet/>
      <dgm:spPr/>
      <dgm:t>
        <a:bodyPr/>
        <a:lstStyle/>
        <a:p>
          <a:endParaRPr lang="en-US"/>
        </a:p>
      </dgm:t>
    </dgm:pt>
    <dgm:pt modelId="{684DCF20-C166-4FC4-AAA6-D7F336CE5188}">
      <dgm:prSet custT="1"/>
      <dgm:spPr/>
      <dgm:t>
        <a:bodyPr/>
        <a:lstStyle/>
        <a:p>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gm:t>
    </dgm:pt>
    <dgm:pt modelId="{B127EC52-5914-418C-BF51-718BD3305111}" type="parTrans" cxnId="{7DED4325-D9DB-424C-87D8-3E5DCD3CD8C2}">
      <dgm:prSet/>
      <dgm:spPr/>
      <dgm:t>
        <a:bodyPr/>
        <a:lstStyle/>
        <a:p>
          <a:endParaRPr lang="en-US"/>
        </a:p>
      </dgm:t>
    </dgm:pt>
    <dgm:pt modelId="{90A92338-283C-4406-8EA8-75038FF0BCCB}" type="sibTrans" cxnId="{7DED4325-D9DB-424C-87D8-3E5DCD3CD8C2}">
      <dgm:prSet/>
      <dgm:spPr/>
      <dgm:t>
        <a:bodyPr/>
        <a:lstStyle/>
        <a:p>
          <a:endParaRPr lang="en-US"/>
        </a:p>
      </dgm:t>
    </dgm:pt>
    <dgm:pt modelId="{647D59D8-F992-4FEA-AF7E-A2E792A5F292}">
      <dgm:prSet/>
      <dgm:spPr/>
      <dgm:t>
        <a:bodyPr/>
        <a:lstStyle/>
        <a:p>
          <a:r>
            <a:rPr lang="en-US" b="0" i="0" dirty="0"/>
            <a:t>KAITO + </a:t>
          </a:r>
          <a:r>
            <a:rPr lang="en-US" b="0" i="0" dirty="0" err="1"/>
            <a:t>llm</a:t>
          </a:r>
          <a:r>
            <a:rPr lang="en-US" b="0" i="0" dirty="0"/>
            <a:t>-d architecture</a:t>
          </a:r>
          <a:endParaRPr lang="en-US" dirty="0"/>
        </a:p>
      </dgm:t>
    </dgm:pt>
    <dgm:pt modelId="{0835BC66-97DE-4F83-966B-AC146821383C}" type="parTrans" cxnId="{83F493E2-5B1C-41D0-BCE2-68E2D101EAEE}">
      <dgm:prSet/>
      <dgm:spPr/>
      <dgm:t>
        <a:bodyPr/>
        <a:lstStyle/>
        <a:p>
          <a:endParaRPr lang="en-US"/>
        </a:p>
      </dgm:t>
    </dgm:pt>
    <dgm:pt modelId="{58691E8A-10F1-4DF6-8004-0FEB4609038D}" type="sibTrans" cxnId="{83F493E2-5B1C-41D0-BCE2-68E2D101EAEE}">
      <dgm:prSet/>
      <dgm:spPr/>
      <dgm:t>
        <a:bodyPr/>
        <a:lstStyle/>
        <a:p>
          <a:endParaRPr lang="en-US"/>
        </a:p>
      </dgm:t>
    </dgm:pt>
    <dgm:pt modelId="{75AAE208-C1AD-4CC9-9F70-3CAA236FE51C}">
      <dgm:prSet/>
      <dgm:spPr/>
      <dgm:t>
        <a:bodyPr/>
        <a:lstStyle/>
        <a:p>
          <a:r>
            <a:rPr lang="en-US" b="0" i="0" dirty="0"/>
            <a:t>How KAITO + </a:t>
          </a:r>
          <a:r>
            <a:rPr lang="en-US" b="0" i="0" dirty="0" err="1"/>
            <a:t>llm</a:t>
          </a:r>
          <a:r>
            <a:rPr lang="en-US" b="0" i="0" dirty="0"/>
            <a:t>-d supports P/D</a:t>
          </a:r>
          <a:endParaRPr lang="en-US" dirty="0"/>
        </a:p>
      </dgm:t>
    </dgm:pt>
    <dgm:pt modelId="{877CC7DC-8753-4EE6-97FA-DDA62A2A1464}" type="parTrans" cxnId="{31278B97-0A81-42CB-920C-776F5AAF2C82}">
      <dgm:prSet/>
      <dgm:spPr/>
      <dgm:t>
        <a:bodyPr/>
        <a:lstStyle/>
        <a:p>
          <a:endParaRPr lang="en-US"/>
        </a:p>
      </dgm:t>
    </dgm:pt>
    <dgm:pt modelId="{26340508-F9C4-43AF-98F1-FBB8BC691B55}" type="sibTrans" cxnId="{31278B97-0A81-42CB-920C-776F5AAF2C82}">
      <dgm:prSet/>
      <dgm:spPr/>
      <dgm:t>
        <a:bodyPr/>
        <a:lstStyle/>
        <a:p>
          <a:endParaRPr lang="en-US"/>
        </a:p>
      </dgm:t>
    </dgm:pt>
    <dgm:pt modelId="{F26A0DFB-3FD3-407F-93D3-0136C781FE27}">
      <dgm:prSet/>
      <dgm:spPr/>
      <dgm:t>
        <a:bodyPr/>
        <a:lstStyle/>
        <a:p>
          <a:r>
            <a:rPr lang="en-US" b="0" i="0" dirty="0"/>
            <a:t>How does P/D auto scale</a:t>
          </a:r>
          <a:endParaRPr lang="en-US" dirty="0"/>
        </a:p>
      </dgm:t>
    </dgm:pt>
    <dgm:pt modelId="{946D02BF-ADA1-4188-9F7A-7ECC7201110A}" type="parTrans" cxnId="{5E6DABF0-AF24-4A84-8669-D58C1BEA6B37}">
      <dgm:prSet/>
      <dgm:spPr/>
      <dgm:t>
        <a:bodyPr/>
        <a:lstStyle/>
        <a:p>
          <a:endParaRPr lang="en-US"/>
        </a:p>
      </dgm:t>
    </dgm:pt>
    <dgm:pt modelId="{51E0ABB6-2AAD-4456-9812-6B7C9B632AEF}" type="sibTrans" cxnId="{5E6DABF0-AF24-4A84-8669-D58C1BEA6B37}">
      <dgm:prSet/>
      <dgm:spPr/>
      <dgm:t>
        <a:bodyPr/>
        <a:lstStyle/>
        <a:p>
          <a:endParaRPr lang="en-US"/>
        </a:p>
      </dgm:t>
    </dgm:pt>
    <dgm:pt modelId="{6A4F5EA4-89B5-4266-8DE7-5F7C49BF4432}">
      <dgm:prSet/>
      <dgm:spPr/>
      <dgm:t>
        <a:bodyPr/>
        <a:lstStyle/>
        <a:p>
          <a:r>
            <a:rPr lang="en-US" b="0" i="0"/>
            <a:t>What comes next</a:t>
          </a:r>
          <a:endParaRPr lang="en-US"/>
        </a:p>
      </dgm:t>
    </dgm:pt>
    <dgm:pt modelId="{56EF1DEE-1169-4E6A-9A1E-E1C6F1D539FC}" type="parTrans" cxnId="{E9B4A946-567C-4C8E-A74F-36FCD6BFB1FC}">
      <dgm:prSet/>
      <dgm:spPr/>
      <dgm:t>
        <a:bodyPr/>
        <a:lstStyle/>
        <a:p>
          <a:endParaRPr lang="en-US"/>
        </a:p>
      </dgm:t>
    </dgm:pt>
    <dgm:pt modelId="{26177335-033A-472A-AB8F-F49EAE180A8E}" type="sibTrans" cxnId="{E9B4A946-567C-4C8E-A74F-36FCD6BFB1FC}">
      <dgm:prSet/>
      <dgm:spPr/>
      <dgm:t>
        <a:bodyPr/>
        <a:lstStyle/>
        <a:p>
          <a:endParaRPr lang="en-US"/>
        </a:p>
      </dgm:t>
    </dgm:pt>
    <dgm:pt modelId="{0839C05E-E5D9-4E99-A810-80D7D5323A91}" type="pres">
      <dgm:prSet presAssocID="{4019A22C-6702-4553-A4E5-F6384627C34D}" presName="vert0" presStyleCnt="0">
        <dgm:presLayoutVars>
          <dgm:dir/>
          <dgm:animOne val="branch"/>
          <dgm:animLvl val="lvl"/>
        </dgm:presLayoutVars>
      </dgm:prSet>
      <dgm:spPr/>
    </dgm:pt>
    <dgm:pt modelId="{4AB45A69-BCF6-45B5-B087-DE0790034E11}" type="pres">
      <dgm:prSet presAssocID="{F6179A96-FB08-4F12-8FC7-D4A247637A7E}" presName="thickLine" presStyleLbl="alignNode1" presStyleIdx="0" presStyleCnt="6"/>
      <dgm:spPr/>
    </dgm:pt>
    <dgm:pt modelId="{583A3A07-A38B-41B6-89BB-0B302DAED886}" type="pres">
      <dgm:prSet presAssocID="{F6179A96-FB08-4F12-8FC7-D4A247637A7E}" presName="horz1" presStyleCnt="0"/>
      <dgm:spPr/>
    </dgm:pt>
    <dgm:pt modelId="{28462BA5-7A38-4C40-9C4F-1F95293E9969}" type="pres">
      <dgm:prSet presAssocID="{F6179A96-FB08-4F12-8FC7-D4A247637A7E}" presName="tx1" presStyleLbl="revTx" presStyleIdx="0" presStyleCnt="6"/>
      <dgm:spPr/>
    </dgm:pt>
    <dgm:pt modelId="{C4659E0D-1A38-4807-9A43-66F48ADEF2DC}" type="pres">
      <dgm:prSet presAssocID="{F6179A96-FB08-4F12-8FC7-D4A247637A7E}" presName="vert1" presStyleCnt="0"/>
      <dgm:spPr/>
    </dgm:pt>
    <dgm:pt modelId="{05D7F976-F886-4351-A2FC-77D5B0014DF2}" type="pres">
      <dgm:prSet presAssocID="{684DCF20-C166-4FC4-AAA6-D7F336CE5188}" presName="thickLine" presStyleLbl="alignNode1" presStyleIdx="1" presStyleCnt="6"/>
      <dgm:spPr/>
    </dgm:pt>
    <dgm:pt modelId="{6DA174AF-A1A5-42C3-9322-26C93E938117}" type="pres">
      <dgm:prSet presAssocID="{684DCF20-C166-4FC4-AAA6-D7F336CE5188}" presName="horz1" presStyleCnt="0"/>
      <dgm:spPr/>
    </dgm:pt>
    <dgm:pt modelId="{3635B788-A54E-4F52-8C60-16CBF7672555}" type="pres">
      <dgm:prSet presAssocID="{684DCF20-C166-4FC4-AAA6-D7F336CE5188}" presName="tx1" presStyleLbl="revTx" presStyleIdx="1" presStyleCnt="6"/>
      <dgm:spPr/>
    </dgm:pt>
    <dgm:pt modelId="{940424B9-08EF-4628-A6D5-F3832F0B7F3C}" type="pres">
      <dgm:prSet presAssocID="{684DCF20-C166-4FC4-AAA6-D7F336CE5188}" presName="vert1" presStyleCnt="0"/>
      <dgm:spPr/>
    </dgm:pt>
    <dgm:pt modelId="{648C4BDA-5BEA-433A-A849-5BB24C35588C}" type="pres">
      <dgm:prSet presAssocID="{647D59D8-F992-4FEA-AF7E-A2E792A5F292}" presName="thickLine" presStyleLbl="alignNode1" presStyleIdx="2" presStyleCnt="6"/>
      <dgm:spPr/>
    </dgm:pt>
    <dgm:pt modelId="{71E9A0F1-BE8C-44F6-99BD-1C1EA6D2A8A7}" type="pres">
      <dgm:prSet presAssocID="{647D59D8-F992-4FEA-AF7E-A2E792A5F292}" presName="horz1" presStyleCnt="0"/>
      <dgm:spPr/>
    </dgm:pt>
    <dgm:pt modelId="{597E659A-C577-4506-8A68-DE11C7C64A33}" type="pres">
      <dgm:prSet presAssocID="{647D59D8-F992-4FEA-AF7E-A2E792A5F292}" presName="tx1" presStyleLbl="revTx" presStyleIdx="2" presStyleCnt="6"/>
      <dgm:spPr/>
    </dgm:pt>
    <dgm:pt modelId="{3C342D57-51E2-42B3-8341-8B1BF1E14997}" type="pres">
      <dgm:prSet presAssocID="{647D59D8-F992-4FEA-AF7E-A2E792A5F292}" presName="vert1" presStyleCnt="0"/>
      <dgm:spPr/>
    </dgm:pt>
    <dgm:pt modelId="{71302073-2EC4-4C31-BC3A-CEA00A974B0B}" type="pres">
      <dgm:prSet presAssocID="{75AAE208-C1AD-4CC9-9F70-3CAA236FE51C}" presName="thickLine" presStyleLbl="alignNode1" presStyleIdx="3" presStyleCnt="6"/>
      <dgm:spPr/>
    </dgm:pt>
    <dgm:pt modelId="{BF525C7E-F337-42E9-B755-662303022DCD}" type="pres">
      <dgm:prSet presAssocID="{75AAE208-C1AD-4CC9-9F70-3CAA236FE51C}" presName="horz1" presStyleCnt="0"/>
      <dgm:spPr/>
    </dgm:pt>
    <dgm:pt modelId="{85ECF1A5-AC62-4111-AA0F-8CA2F18C9346}" type="pres">
      <dgm:prSet presAssocID="{75AAE208-C1AD-4CC9-9F70-3CAA236FE51C}" presName="tx1" presStyleLbl="revTx" presStyleIdx="3" presStyleCnt="6"/>
      <dgm:spPr/>
    </dgm:pt>
    <dgm:pt modelId="{DA0C3119-CFCF-447D-B6B3-F46326927B47}" type="pres">
      <dgm:prSet presAssocID="{75AAE208-C1AD-4CC9-9F70-3CAA236FE51C}" presName="vert1" presStyleCnt="0"/>
      <dgm:spPr/>
    </dgm:pt>
    <dgm:pt modelId="{8B1DAD49-0802-4123-8751-7911B88CCC27}" type="pres">
      <dgm:prSet presAssocID="{F26A0DFB-3FD3-407F-93D3-0136C781FE27}" presName="thickLine" presStyleLbl="alignNode1" presStyleIdx="4" presStyleCnt="6"/>
      <dgm:spPr/>
    </dgm:pt>
    <dgm:pt modelId="{1805B2A5-3666-4098-961C-B659F399EBE8}" type="pres">
      <dgm:prSet presAssocID="{F26A0DFB-3FD3-407F-93D3-0136C781FE27}" presName="horz1" presStyleCnt="0"/>
      <dgm:spPr/>
    </dgm:pt>
    <dgm:pt modelId="{F53770F9-1F91-4111-AC93-8C7B0E431D14}" type="pres">
      <dgm:prSet presAssocID="{F26A0DFB-3FD3-407F-93D3-0136C781FE27}" presName="tx1" presStyleLbl="revTx" presStyleIdx="4" presStyleCnt="6"/>
      <dgm:spPr/>
    </dgm:pt>
    <dgm:pt modelId="{A9EFFFC1-8460-476B-B4B6-08108CD47548}" type="pres">
      <dgm:prSet presAssocID="{F26A0DFB-3FD3-407F-93D3-0136C781FE27}" presName="vert1" presStyleCnt="0"/>
      <dgm:spPr/>
    </dgm:pt>
    <dgm:pt modelId="{5742A4F9-2B50-4971-83E9-0A5DABFBAF69}" type="pres">
      <dgm:prSet presAssocID="{6A4F5EA4-89B5-4266-8DE7-5F7C49BF4432}" presName="thickLine" presStyleLbl="alignNode1" presStyleIdx="5" presStyleCnt="6"/>
      <dgm:spPr/>
    </dgm:pt>
    <dgm:pt modelId="{F3A94397-9147-464D-B980-025FED510606}" type="pres">
      <dgm:prSet presAssocID="{6A4F5EA4-89B5-4266-8DE7-5F7C49BF4432}" presName="horz1" presStyleCnt="0"/>
      <dgm:spPr/>
    </dgm:pt>
    <dgm:pt modelId="{4CF1FDAC-8C13-48DE-8A19-25A2BCEEDF02}" type="pres">
      <dgm:prSet presAssocID="{6A4F5EA4-89B5-4266-8DE7-5F7C49BF4432}" presName="tx1" presStyleLbl="revTx" presStyleIdx="5" presStyleCnt="6"/>
      <dgm:spPr/>
    </dgm:pt>
    <dgm:pt modelId="{82F83A6B-858C-4A78-B7C7-C6EACF7713F1}" type="pres">
      <dgm:prSet presAssocID="{6A4F5EA4-89B5-4266-8DE7-5F7C49BF4432}" presName="vert1" presStyleCnt="0"/>
      <dgm:spPr/>
    </dgm:pt>
  </dgm:ptLst>
  <dgm:cxnLst>
    <dgm:cxn modelId="{F545890B-4B38-4B42-AF65-4A136CA783F6}" type="presOf" srcId="{75AAE208-C1AD-4CC9-9F70-3CAA236FE51C}" destId="{85ECF1A5-AC62-4111-AA0F-8CA2F18C9346}" srcOrd="0" destOrd="0" presId="urn:microsoft.com/office/officeart/2008/layout/LinedList"/>
    <dgm:cxn modelId="{7DED4325-D9DB-424C-87D8-3E5DCD3CD8C2}" srcId="{4019A22C-6702-4553-A4E5-F6384627C34D}" destId="{684DCF20-C166-4FC4-AAA6-D7F336CE5188}" srcOrd="1" destOrd="0" parTransId="{B127EC52-5914-418C-BF51-718BD3305111}" sibTransId="{90A92338-283C-4406-8EA8-75038FF0BCCB}"/>
    <dgm:cxn modelId="{0F36BB27-20FA-4242-99C3-3AE1A8979594}" type="presOf" srcId="{F6179A96-FB08-4F12-8FC7-D4A247637A7E}" destId="{28462BA5-7A38-4C40-9C4F-1F95293E9969}" srcOrd="0" destOrd="0" presId="urn:microsoft.com/office/officeart/2008/layout/LinedList"/>
    <dgm:cxn modelId="{E9B4A946-567C-4C8E-A74F-36FCD6BFB1FC}" srcId="{4019A22C-6702-4553-A4E5-F6384627C34D}" destId="{6A4F5EA4-89B5-4266-8DE7-5F7C49BF4432}" srcOrd="5" destOrd="0" parTransId="{56EF1DEE-1169-4E6A-9A1E-E1C6F1D539FC}" sibTransId="{26177335-033A-472A-AB8F-F49EAE180A8E}"/>
    <dgm:cxn modelId="{9088834F-46B3-4C1D-847F-526889A28717}" type="presOf" srcId="{4019A22C-6702-4553-A4E5-F6384627C34D}" destId="{0839C05E-E5D9-4E99-A810-80D7D5323A91}" srcOrd="0" destOrd="0" presId="urn:microsoft.com/office/officeart/2008/layout/LinedList"/>
    <dgm:cxn modelId="{31278B97-0A81-42CB-920C-776F5AAF2C82}" srcId="{4019A22C-6702-4553-A4E5-F6384627C34D}" destId="{75AAE208-C1AD-4CC9-9F70-3CAA236FE51C}" srcOrd="3" destOrd="0" parTransId="{877CC7DC-8753-4EE6-97FA-DDA62A2A1464}" sibTransId="{26340508-F9C4-43AF-98F1-FBB8BC691B55}"/>
    <dgm:cxn modelId="{F32EF5B6-0774-44BF-A32E-B59D286C10A2}" type="presOf" srcId="{6A4F5EA4-89B5-4266-8DE7-5F7C49BF4432}" destId="{4CF1FDAC-8C13-48DE-8A19-25A2BCEEDF02}" srcOrd="0" destOrd="0" presId="urn:microsoft.com/office/officeart/2008/layout/LinedList"/>
    <dgm:cxn modelId="{05F812C0-9469-44F9-96FD-F3C8C3E65962}" srcId="{4019A22C-6702-4553-A4E5-F6384627C34D}" destId="{F6179A96-FB08-4F12-8FC7-D4A247637A7E}" srcOrd="0" destOrd="0" parTransId="{8C39974D-B1B3-402D-B23C-EBC0CDDCFDC5}" sibTransId="{4BC765CE-CC1A-4608-81DB-BDCEFEBECF95}"/>
    <dgm:cxn modelId="{55A56DD1-3E7E-4FB9-9E28-2218A8AA4C36}" type="presOf" srcId="{647D59D8-F992-4FEA-AF7E-A2E792A5F292}" destId="{597E659A-C577-4506-8A68-DE11C7C64A33}" srcOrd="0" destOrd="0" presId="urn:microsoft.com/office/officeart/2008/layout/LinedList"/>
    <dgm:cxn modelId="{D69787D7-6769-4BF0-8CE3-8252CA317676}" type="presOf" srcId="{684DCF20-C166-4FC4-AAA6-D7F336CE5188}" destId="{3635B788-A54E-4F52-8C60-16CBF7672555}" srcOrd="0" destOrd="0" presId="urn:microsoft.com/office/officeart/2008/layout/LinedList"/>
    <dgm:cxn modelId="{121064DD-5843-4073-B8B8-95F359219B5E}" type="presOf" srcId="{F26A0DFB-3FD3-407F-93D3-0136C781FE27}" destId="{F53770F9-1F91-4111-AC93-8C7B0E431D14}" srcOrd="0" destOrd="0" presId="urn:microsoft.com/office/officeart/2008/layout/LinedList"/>
    <dgm:cxn modelId="{83F493E2-5B1C-41D0-BCE2-68E2D101EAEE}" srcId="{4019A22C-6702-4553-A4E5-F6384627C34D}" destId="{647D59D8-F992-4FEA-AF7E-A2E792A5F292}" srcOrd="2" destOrd="0" parTransId="{0835BC66-97DE-4F83-966B-AC146821383C}" sibTransId="{58691E8A-10F1-4DF6-8004-0FEB4609038D}"/>
    <dgm:cxn modelId="{5E6DABF0-AF24-4A84-8669-D58C1BEA6B37}" srcId="{4019A22C-6702-4553-A4E5-F6384627C34D}" destId="{F26A0DFB-3FD3-407F-93D3-0136C781FE27}" srcOrd="4" destOrd="0" parTransId="{946D02BF-ADA1-4188-9F7A-7ECC7201110A}" sibTransId="{51E0ABB6-2AAD-4456-9812-6B7C9B632AEF}"/>
    <dgm:cxn modelId="{A834791F-30DB-4056-B3CA-F5C0FF1A4BF2}" type="presParOf" srcId="{0839C05E-E5D9-4E99-A810-80D7D5323A91}" destId="{4AB45A69-BCF6-45B5-B087-DE0790034E11}" srcOrd="0" destOrd="0" presId="urn:microsoft.com/office/officeart/2008/layout/LinedList"/>
    <dgm:cxn modelId="{21F36B45-3F51-42DF-B0AA-C4F71587991B}" type="presParOf" srcId="{0839C05E-E5D9-4E99-A810-80D7D5323A91}" destId="{583A3A07-A38B-41B6-89BB-0B302DAED886}" srcOrd="1" destOrd="0" presId="urn:microsoft.com/office/officeart/2008/layout/LinedList"/>
    <dgm:cxn modelId="{D6E50E13-1231-45CC-86F6-A01EBCBE16A7}" type="presParOf" srcId="{583A3A07-A38B-41B6-89BB-0B302DAED886}" destId="{28462BA5-7A38-4C40-9C4F-1F95293E9969}" srcOrd="0" destOrd="0" presId="urn:microsoft.com/office/officeart/2008/layout/LinedList"/>
    <dgm:cxn modelId="{F8E3E152-B4C1-4A4F-866A-CE5673B5715E}" type="presParOf" srcId="{583A3A07-A38B-41B6-89BB-0B302DAED886}" destId="{C4659E0D-1A38-4807-9A43-66F48ADEF2DC}" srcOrd="1" destOrd="0" presId="urn:microsoft.com/office/officeart/2008/layout/LinedList"/>
    <dgm:cxn modelId="{16060255-2499-45DD-8DC1-7590A13295A5}" type="presParOf" srcId="{0839C05E-E5D9-4E99-A810-80D7D5323A91}" destId="{05D7F976-F886-4351-A2FC-77D5B0014DF2}" srcOrd="2" destOrd="0" presId="urn:microsoft.com/office/officeart/2008/layout/LinedList"/>
    <dgm:cxn modelId="{4E41BABC-713E-4DB2-ADB3-4D46D4F91D21}" type="presParOf" srcId="{0839C05E-E5D9-4E99-A810-80D7D5323A91}" destId="{6DA174AF-A1A5-42C3-9322-26C93E938117}" srcOrd="3" destOrd="0" presId="urn:microsoft.com/office/officeart/2008/layout/LinedList"/>
    <dgm:cxn modelId="{4DC2BE8D-CBAE-412D-895B-5ABAB0CC413E}" type="presParOf" srcId="{6DA174AF-A1A5-42C3-9322-26C93E938117}" destId="{3635B788-A54E-4F52-8C60-16CBF7672555}" srcOrd="0" destOrd="0" presId="urn:microsoft.com/office/officeart/2008/layout/LinedList"/>
    <dgm:cxn modelId="{44E60BB1-E635-4BDF-B862-A6453C86283D}" type="presParOf" srcId="{6DA174AF-A1A5-42C3-9322-26C93E938117}" destId="{940424B9-08EF-4628-A6D5-F3832F0B7F3C}" srcOrd="1" destOrd="0" presId="urn:microsoft.com/office/officeart/2008/layout/LinedList"/>
    <dgm:cxn modelId="{E22B8F0B-B039-4701-BBA4-D72F5592374E}" type="presParOf" srcId="{0839C05E-E5D9-4E99-A810-80D7D5323A91}" destId="{648C4BDA-5BEA-433A-A849-5BB24C35588C}" srcOrd="4" destOrd="0" presId="urn:microsoft.com/office/officeart/2008/layout/LinedList"/>
    <dgm:cxn modelId="{04C64C32-BA60-4DFE-AE6C-ECD599AD7396}" type="presParOf" srcId="{0839C05E-E5D9-4E99-A810-80D7D5323A91}" destId="{71E9A0F1-BE8C-44F6-99BD-1C1EA6D2A8A7}" srcOrd="5" destOrd="0" presId="urn:microsoft.com/office/officeart/2008/layout/LinedList"/>
    <dgm:cxn modelId="{EF8B4E8C-197A-4E90-A969-4CEFBAC8A183}" type="presParOf" srcId="{71E9A0F1-BE8C-44F6-99BD-1C1EA6D2A8A7}" destId="{597E659A-C577-4506-8A68-DE11C7C64A33}" srcOrd="0" destOrd="0" presId="urn:microsoft.com/office/officeart/2008/layout/LinedList"/>
    <dgm:cxn modelId="{A65619ED-BD0C-41DD-902D-5E8E20CDAC0C}" type="presParOf" srcId="{71E9A0F1-BE8C-44F6-99BD-1C1EA6D2A8A7}" destId="{3C342D57-51E2-42B3-8341-8B1BF1E14997}" srcOrd="1" destOrd="0" presId="urn:microsoft.com/office/officeart/2008/layout/LinedList"/>
    <dgm:cxn modelId="{669DABE2-F81C-467A-A5B3-EEB54A2E27B5}" type="presParOf" srcId="{0839C05E-E5D9-4E99-A810-80D7D5323A91}" destId="{71302073-2EC4-4C31-BC3A-CEA00A974B0B}" srcOrd="6" destOrd="0" presId="urn:microsoft.com/office/officeart/2008/layout/LinedList"/>
    <dgm:cxn modelId="{F5017A92-BC80-4FA2-BFC5-23B4A1306B23}" type="presParOf" srcId="{0839C05E-E5D9-4E99-A810-80D7D5323A91}" destId="{BF525C7E-F337-42E9-B755-662303022DCD}" srcOrd="7" destOrd="0" presId="urn:microsoft.com/office/officeart/2008/layout/LinedList"/>
    <dgm:cxn modelId="{189A63AC-0777-440A-A019-7C15330437BE}" type="presParOf" srcId="{BF525C7E-F337-42E9-B755-662303022DCD}" destId="{85ECF1A5-AC62-4111-AA0F-8CA2F18C9346}" srcOrd="0" destOrd="0" presId="urn:microsoft.com/office/officeart/2008/layout/LinedList"/>
    <dgm:cxn modelId="{8270BA8C-0C07-4AE0-ACB7-87EC4D14F123}" type="presParOf" srcId="{BF525C7E-F337-42E9-B755-662303022DCD}" destId="{DA0C3119-CFCF-447D-B6B3-F46326927B47}" srcOrd="1" destOrd="0" presId="urn:microsoft.com/office/officeart/2008/layout/LinedList"/>
    <dgm:cxn modelId="{01BC6F47-1B65-4B0D-A07D-36A1DE8DB94D}" type="presParOf" srcId="{0839C05E-E5D9-4E99-A810-80D7D5323A91}" destId="{8B1DAD49-0802-4123-8751-7911B88CCC27}" srcOrd="8" destOrd="0" presId="urn:microsoft.com/office/officeart/2008/layout/LinedList"/>
    <dgm:cxn modelId="{2BCD0928-FEF0-4E5C-A503-3D9FBC67E773}" type="presParOf" srcId="{0839C05E-E5D9-4E99-A810-80D7D5323A91}" destId="{1805B2A5-3666-4098-961C-B659F399EBE8}" srcOrd="9" destOrd="0" presId="urn:microsoft.com/office/officeart/2008/layout/LinedList"/>
    <dgm:cxn modelId="{32C8AD0B-0750-497B-9E6B-DA263714CD98}" type="presParOf" srcId="{1805B2A5-3666-4098-961C-B659F399EBE8}" destId="{F53770F9-1F91-4111-AC93-8C7B0E431D14}" srcOrd="0" destOrd="0" presId="urn:microsoft.com/office/officeart/2008/layout/LinedList"/>
    <dgm:cxn modelId="{761A3DE1-B8B1-4D50-BF67-1E5C1FC04EBA}" type="presParOf" srcId="{1805B2A5-3666-4098-961C-B659F399EBE8}" destId="{A9EFFFC1-8460-476B-B4B6-08108CD47548}" srcOrd="1" destOrd="0" presId="urn:microsoft.com/office/officeart/2008/layout/LinedList"/>
    <dgm:cxn modelId="{316DEC10-462D-4812-AE32-2F246DE9091E}" type="presParOf" srcId="{0839C05E-E5D9-4E99-A810-80D7D5323A91}" destId="{5742A4F9-2B50-4971-83E9-0A5DABFBAF69}" srcOrd="10" destOrd="0" presId="urn:microsoft.com/office/officeart/2008/layout/LinedList"/>
    <dgm:cxn modelId="{A98D0B13-1DBE-45F6-8044-333FB22A74A8}" type="presParOf" srcId="{0839C05E-E5D9-4E99-A810-80D7D5323A91}" destId="{F3A94397-9147-464D-B980-025FED510606}" srcOrd="11" destOrd="0" presId="urn:microsoft.com/office/officeart/2008/layout/LinedList"/>
    <dgm:cxn modelId="{17E72731-E105-418D-81DC-04995CF69482}" type="presParOf" srcId="{F3A94397-9147-464D-B980-025FED510606}" destId="{4CF1FDAC-8C13-48DE-8A19-25A2BCEEDF02}" srcOrd="0" destOrd="0" presId="urn:microsoft.com/office/officeart/2008/layout/LinedList"/>
    <dgm:cxn modelId="{0E8C99DC-6040-4ACD-99C2-3145FB7DED78}" type="presParOf" srcId="{F3A94397-9147-464D-B980-025FED510606}" destId="{82F83A6B-858C-4A78-B7C7-C6EACF7713F1}"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B45A69-BCF6-45B5-B087-DE0790034E11}">
      <dsp:nvSpPr>
        <dsp:cNvPr id="0" name=""/>
        <dsp:cNvSpPr/>
      </dsp:nvSpPr>
      <dsp:spPr>
        <a:xfrm>
          <a:off x="0" y="1593"/>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28462BA5-7A38-4C40-9C4F-1F95293E9969}">
      <dsp:nvSpPr>
        <dsp:cNvPr id="0" name=""/>
        <dsp:cNvSpPr/>
      </dsp:nvSpPr>
      <dsp:spPr>
        <a:xfrm>
          <a:off x="0" y="1593"/>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Why separate prefill and decode?</a:t>
          </a:r>
          <a:endParaRPr lang="en-US" sz="2600" kern="1200" dirty="0"/>
        </a:p>
      </dsp:txBody>
      <dsp:txXfrm>
        <a:off x="0" y="1593"/>
        <a:ext cx="7886700" cy="543536"/>
      </dsp:txXfrm>
    </dsp:sp>
    <dsp:sp modelId="{05D7F976-F886-4351-A2FC-77D5B0014DF2}">
      <dsp:nvSpPr>
        <dsp:cNvPr id="0" name=""/>
        <dsp:cNvSpPr/>
      </dsp:nvSpPr>
      <dsp:spPr>
        <a:xfrm>
          <a:off x="0" y="54513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3635B788-A54E-4F52-8C60-16CBF7672555}">
      <dsp:nvSpPr>
        <dsp:cNvPr id="0" name=""/>
        <dsp:cNvSpPr/>
      </dsp:nvSpPr>
      <dsp:spPr>
        <a:xfrm>
          <a:off x="0" y="54513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sp:txBody>
      <dsp:txXfrm>
        <a:off x="0" y="545130"/>
        <a:ext cx="7886700" cy="543536"/>
      </dsp:txXfrm>
    </dsp:sp>
    <dsp:sp modelId="{648C4BDA-5BEA-433A-A849-5BB24C35588C}">
      <dsp:nvSpPr>
        <dsp:cNvPr id="0" name=""/>
        <dsp:cNvSpPr/>
      </dsp:nvSpPr>
      <dsp:spPr>
        <a:xfrm>
          <a:off x="0" y="108866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597E659A-C577-4506-8A68-DE11C7C64A33}">
      <dsp:nvSpPr>
        <dsp:cNvPr id="0" name=""/>
        <dsp:cNvSpPr/>
      </dsp:nvSpPr>
      <dsp:spPr>
        <a:xfrm>
          <a:off x="0" y="108866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KAITO + </a:t>
          </a:r>
          <a:r>
            <a:rPr lang="en-US" sz="2600" b="0" i="0" kern="1200" dirty="0" err="1"/>
            <a:t>llm</a:t>
          </a:r>
          <a:r>
            <a:rPr lang="en-US" sz="2600" b="0" i="0" kern="1200" dirty="0"/>
            <a:t>-d architecture</a:t>
          </a:r>
          <a:endParaRPr lang="en-US" sz="2600" kern="1200" dirty="0"/>
        </a:p>
      </dsp:txBody>
      <dsp:txXfrm>
        <a:off x="0" y="1088667"/>
        <a:ext cx="7886700" cy="543536"/>
      </dsp:txXfrm>
    </dsp:sp>
    <dsp:sp modelId="{71302073-2EC4-4C31-BC3A-CEA00A974B0B}">
      <dsp:nvSpPr>
        <dsp:cNvPr id="0" name=""/>
        <dsp:cNvSpPr/>
      </dsp:nvSpPr>
      <dsp:spPr>
        <a:xfrm>
          <a:off x="0" y="1632204"/>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85ECF1A5-AC62-4111-AA0F-8CA2F18C9346}">
      <dsp:nvSpPr>
        <dsp:cNvPr id="0" name=""/>
        <dsp:cNvSpPr/>
      </dsp:nvSpPr>
      <dsp:spPr>
        <a:xfrm>
          <a:off x="0" y="1632204"/>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KAITO + </a:t>
          </a:r>
          <a:r>
            <a:rPr lang="en-US" sz="2600" b="0" i="0" kern="1200" dirty="0" err="1"/>
            <a:t>llm</a:t>
          </a:r>
          <a:r>
            <a:rPr lang="en-US" sz="2600" b="0" i="0" kern="1200" dirty="0"/>
            <a:t>-d supports P/D</a:t>
          </a:r>
          <a:endParaRPr lang="en-US" sz="2600" kern="1200" dirty="0"/>
        </a:p>
      </dsp:txBody>
      <dsp:txXfrm>
        <a:off x="0" y="1632204"/>
        <a:ext cx="7886700" cy="543536"/>
      </dsp:txXfrm>
    </dsp:sp>
    <dsp:sp modelId="{8B1DAD49-0802-4123-8751-7911B88CCC27}">
      <dsp:nvSpPr>
        <dsp:cNvPr id="0" name=""/>
        <dsp:cNvSpPr/>
      </dsp:nvSpPr>
      <dsp:spPr>
        <a:xfrm>
          <a:off x="0" y="217574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F53770F9-1F91-4111-AC93-8C7B0E431D14}">
      <dsp:nvSpPr>
        <dsp:cNvPr id="0" name=""/>
        <dsp:cNvSpPr/>
      </dsp:nvSpPr>
      <dsp:spPr>
        <a:xfrm>
          <a:off x="0" y="217574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does P/D auto scale</a:t>
          </a:r>
          <a:endParaRPr lang="en-US" sz="2600" kern="1200" dirty="0"/>
        </a:p>
      </dsp:txBody>
      <dsp:txXfrm>
        <a:off x="0" y="2175740"/>
        <a:ext cx="7886700" cy="543536"/>
      </dsp:txXfrm>
    </dsp:sp>
    <dsp:sp modelId="{5742A4F9-2B50-4971-83E9-0A5DABFBAF69}">
      <dsp:nvSpPr>
        <dsp:cNvPr id="0" name=""/>
        <dsp:cNvSpPr/>
      </dsp:nvSpPr>
      <dsp:spPr>
        <a:xfrm>
          <a:off x="0" y="271927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4CF1FDAC-8C13-48DE-8A19-25A2BCEEDF02}">
      <dsp:nvSpPr>
        <dsp:cNvPr id="0" name=""/>
        <dsp:cNvSpPr/>
      </dsp:nvSpPr>
      <dsp:spPr>
        <a:xfrm>
          <a:off x="0" y="271927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a:t>What comes next</a:t>
          </a:r>
          <a:endParaRPr lang="en-US" sz="2600" kern="1200"/>
        </a:p>
      </dsp:txBody>
      <dsp:txXfrm>
        <a:off x="0" y="2719277"/>
        <a:ext cx="7886700" cy="543536"/>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Welcome, everyone. Thanks for joining us at Cloud Native AI and Inference Day North America. Today we will look at how Kubernetes can help us operate large language model inference when prompt processing and token generation need different resources.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Our talk is called Prefill Here, Decode There. We will explain why separating these two phases can help, what it costs, and how KAITO and llm-d fit together to make the topology manageable on Kubernetes. The goal is not separation for its own sake. It is better control over capacity while protecting the experience users actually see.</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 are Andy Zhang and Linbo He, both principal software engineers at Microsoft. Andy maintains KAITO and Container Storage Interface drivers. Linbo maintains KAITO and OpenYurt. We will connect the inference concepts to the Kubernetes resources and operational decisions that platform teams need to understand.</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 will cover six topics. First, inference basics: prefill, decode, and the key latency metrics. Second, why prefill/decode disaggregation matters. Third, an overview of KAITO and llm-d and their responsibilities. Fourth, how they support P/D through topology, routing, and KV transfer. Fifth, per-role autoscaling for P/D, with independent scaling decisions for prefill and decode. Finally, we will wrap up with the key takeaways and ways to contribute. Throughout the talk, we will distinguish existing capabilities from proposed integration work.</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In this simplified example, the prompt “What does Kubernetes do?” has five tokens. Prefill processes them together and stores their keys and values in the KV cache. It then selects “Kubernetes” as the first output token. Its KV is added only when the next decode step processes it.</a:t>
            </a:r>
          </a:p>
          <a:p/>
          <a:p>
            <a:r>
              <a:t>References</a:t>
            </a:r>
          </a:p>
          <a:p>
            <a:r>
              <a:t>https://huggingface.co/docs/transformers/en/cache_explanation</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Decode now consumes Kubernetes, reads the cached history, adds that consumed token's keys and values, and selects helps. Then it repeats. Caching avoids recomputing old keys and values, not all attention work. On the client timeline, time to first token, or TTFT, is the initial wait. Inter-token latency, or ITL, is each subsequent gap. Average time per output token summarizes the later intervals; it is not interchangeable with an individual gap or its percentile. The timeline is schematic, not measured.</a:t>
            </a:r>
          </a:p>
          <a:p/>
          <a:p>
            <a:r>
              <a:t>References</a:t>
            </a:r>
          </a:p>
          <a:p>
            <a:r>
              <a:t>https://huggingface.co/docs/transformers/en/cache_explanation</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These phases create two different performance targets. Prefill often stresses compute and mainly shapes time to first token. Decode often stresses memory bandwidth and shapes the pace of the stream. Neither relationship is exclusive: queueing, scheduling, transfer, and delivery matter too. Average time per output token, or TPOT, describes the per-request pace after the first token. Our ultimate target is service-level objective, or SLO, goodput: requests per second that meet both latency targets, rather than simply maximizing aggregate tokens per second.</a:t>
            </a:r>
          </a:p>
          <a:p/>
          <a:p>
            <a:r>
              <a:t>References</a:t>
            </a:r>
          </a:p>
          <a:p>
            <a:r>
              <a:t>https://docs.vllm.ai/en/latest/design/metrics/</a:t>
            </a:r>
          </a:p>
          <a:p>
            <a:r>
              <a:t>https://docs.vllm.ai/en/latest/benchmarking/cli/#understanding-the-latency-metrics</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In aggregated serving, both phases share a GPU pool and a scaling boundary. That is a sensible starting point, and continuous batching or chunked prefill can make it work well. The operational tension appears when prompt bursts compete with ongoing generation. Adding capacity also adds both phases together, even if only one is under pressure. The issue is therefore not that aggregated serving is inherently slow. It is that capacity decisions remain coupled.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Here, A is an ongoing request and B is a new arrival. Each D block represents a decode execution step, not a measured token duration. On the shared GPU, B's prefill can interrupt A. Chunked prefill can reduce that pause. Separate workers remove the direct execution conflict, but B still needs a KV handoff, and queueing or shared infrastructure can still affect latency. This is a conceptual schedule, not an equal-budget benchmark or a promise of perfectly even token delivery.</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batching opportunities are different too. Prefill can process many prompt positions together while preserving causal attention. Ordinary decode advances one newest input position for each independent request, so it finds parallelism across active sequences. More decode concurrency can improve aggregate efficiency, but it also consumes KV memory and may lengthen each iteration. Generation remains sequential within an individual request in this example. We still have to batch within the latency and memory budgets; more concurrency is not automatically better.</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is the central motivation: two capacity decisions instead of one forced compromise. Prompt-heavy demand may need different replica counts, batching, or tensor parallelism from generation-heavy demand. Tensor parallelism splits model computation across devices. The available choices depend on runtime and connector compatibility, so separate pools do not imply that every hardware combination works. Separation is worthwhile only when the measured benefit exceeds KV transfer, duplicated model weights, and the operational cost of managing two pools.</a:t>
            </a:r>
          </a:p>
          <a:p/>
          <a:p>
            <a:r>
              <a:t>References</a:t>
            </a:r>
          </a:p>
          <a:p>
            <a:r>
              <a:t>https://docs.nvidia.com/dynamo/dev/kubernetes/disaggregated-serving/overview</a:t>
            </a:r>
          </a:p>
          <a:p>
            <a:r>
              <a:t>https://arxiv.org/html/2401.09670v2#S2.SS3</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resulting topology has a prefill pool and a decode pool, with a new transfer boundary between them. Prefill capacity follows prompt pressure; decode capacity follows sustained generation and active KV memory. The data moves from prefill memory to decode memory, even if decode initiates the read. That movement and its coordination are real costs. They must fit the service's latency and cost budgets, and the supported transport depends on the deployment.</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Start with the traffic profile, not the architecture trend. Retrieval-augmented generation, or RAG, can add substantial prompt processing. Long answers and high concurrency keep decode busy and KV state resident. These are reasons to investigate independent capacity, not automatic evidence that disaggregation wins. Longer prompts also increase transfer volume and decode attention work. The useful question is whether separate capacity choices address a bottleneck we actually observe, after accounting for the transfer path and operational complexity.</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Sometimes the right answer is to stay aggregated. Small models, short prompts, low concurrency, and stable capacity needs may not justify another transfer path or more failure boundaries. A shared deployment also has useful scheduling optimizations available. If it already meets the service targets simply and predictably, splitting it may be a step backward. The break-even point is empirical: it depends on the model, traffic, hardware, and fabric, not on an architectural preference.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conceptual split is straightforward. The Kubernetes wiring is where the work expands. The Endpoint Picker, or EPP, selects workers; the decode-side proxy coordinates the request; and the runtimes must agree on KV transfer. Labels, ports, readiness, and lifecycle settings connect those pieces. Individually valid manifests can still form a broken service when their contracts disagree. This is the orchestration gap KAITO aims to close, rather than replacing the model execution engine.</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ecosystem already offers several approaches with different abstractions. Dynamo provides an integrated stack; llm-d offers reusable routing components; KServe, AIBrix, Ray, and the vLLM Production Stack provide other packaging and operating models. These are not mutually exclusive categories or an adoption ranking. Declarative Kubernetes APIs already exist. Our narrower question is how to integrate disaggregation cleanly into KAITO's operating model, while checking the release compatibility and maturity of the components we choose.</a:t>
            </a:r>
          </a:p>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For teams already using KAITO, llm-d is a good architectural fit. KAITO retains deployment intent and lifecycle through MultiRoleInference, or MRI, and role-specific InferenceSets. llm-d contributes endpoint selection and request orchestration. vLLM executes inference, and the NVIDIA Inference Xfer Library, or NIXL, supports KV transfer. This is an integration choice, not a universal platform ranking. The documented MRI scope is alpha, with vLLM, Istio, and suitable GPU connectivity as important constraints. Independent replica settings do not mean automatic role-level policy is already available.</a:t>
            </a:r>
          </a:p>
          <a:p/>
          <a:p>
            <a:r>
              <a:t>Technical reference (not part of the spoken script)</a:t>
            </a:r>
          </a:p>
          <a:p/>
          <a:p>
            <a:r>
              <a:t>SPEAKER SCRIPT</a:t>
            </a:r>
          </a:p>
          <a:p/>
          <a:p>
            <a:r>
              <a:t>For that goal, llm-d is a good fit. KAITO keeps deployment intent and lifecycle. llm-d contributes endpoint selection and request orchestration. vLLM and NIXL execute the phases and move the state. This is an integration choice, not a universal platform ranking. Today's documented MRI scope is alpha, with vLLM, Istio, and suitable GPU connectivity as important constraints.</a:t>
            </a:r>
          </a:p>
          <a:p/>
          <a:p>
            <a:r>
              <a:t>REFERENCE NOTES (NOT SPOKEN)</a:t>
            </a:r>
          </a:p>
          <a:p/>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It helps to place this integration in a smaller platform map. Applications call a gateway. Orchestration manages the serving topology. A runtime executes the model, while the KV layer handles transfer and, where configured, reuse or tiering. Infrastructure supplies compute, network, storage, and observability. Our focus is KAITO and llm-d in the orchestration and routing layers, working with vLLM and NIXL beneath them. These layers are responsibilities, not a requirement to install every project in the ecosystem.</a:t>
            </a:r>
          </a:p>
        </p:txBody>
      </p:sp>
    </p:spTree>
    <p:extLst>
      <p:ext uri="{BB962C8B-B14F-4D97-AF65-F5344CB8AC3E}">
        <p14:creationId xmlns:p14="http://schemas.microsoft.com/office/powerpoint/2010/main" val="4177393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llm-d composes existing inference components rather than replacing the runtime, gateway, or storage system. Its architecture emphasizes modular Kubernetes integration, extensible implementations, and well-lit paths. A well-lit path gives a platform team a tested deployment pattern and makes its trade-offs easier to understand. That is valuable because distributed inference has many compatibility boundaries. A documented path reduces integration guesswork, but teams still need to validate its versions, hardware requirements, and production behavior for their own environment.</a:t>
            </a:r>
          </a:p>
        </p:txBody>
      </p:sp>
    </p:spTree>
    <p:extLst>
      <p:ext uri="{BB962C8B-B14F-4D97-AF65-F5344CB8AC3E}">
        <p14:creationId xmlns:p14="http://schemas.microsoft.com/office/powerpoint/2010/main" val="1651347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The useful story here is the set of capabilities the community is developing, not a leaderboard. These include distributed mixture-of-experts serving, prefill/decode disaggregation, state-aware scheduling, and approaches to predictive autoscaling. Mixture-of-experts models activate selected expert networks for each token, creating their own communication and placement challenges. Each capability addresses a different bottleneck. We are not attaching universal speedups or adoption claims to them; performance and operational readiness must be evaluated against a specific configuration and workload.</a:t>
            </a:r>
          </a:p>
        </p:txBody>
      </p:sp>
    </p:spTree>
    <p:extLst>
      <p:ext uri="{BB962C8B-B14F-4D97-AF65-F5344CB8AC3E}">
        <p14:creationId xmlns:p14="http://schemas.microsoft.com/office/powerpoint/2010/main" val="32811512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These four paths give us a way to organize the design space. Intelligent scheduling decides where a request should run. KV cache management decides where reusable attention state lives. Wide expert parallelism distributes experts across devices for mixture-of-experts execution. Prefill/decode disaggregation gives prompt processing and token generation separate resource configurations. They can complement one another, but they are not interchangeable optimizations. Our detailed walkthrough focuses on the last path and the routing and state-transfer contracts that make it work.</a:t>
            </a:r>
          </a:p>
        </p:txBody>
      </p:sp>
    </p:spTree>
    <p:extLst>
      <p:ext uri="{BB962C8B-B14F-4D97-AF65-F5344CB8AC3E}">
        <p14:creationId xmlns:p14="http://schemas.microsoft.com/office/powerpoint/2010/main" val="19007602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t>Speaker script</a:t>
            </a:r>
          </a:p>
          <a:p/>
          <a:p>
            <a:r>
              <a:t>KAITO is a Kubernetes operator suite for model inference, fine-tuning, and retrieval-augmented generation. It aims to reduce the work of onboarding a model and managing its serving lifecycle. Depending on the supported configuration, that includes GPU provisioning, model distribution, InferenceSet reconciliation, and integration with autoscaling. The model and GPU instance type are important inputs, but platform prerequisites and workload-specific settings still matter. Think of KAITO as automation around the model service, not a guarantee that every model or cluster needs no configuration.</a:t>
            </a:r>
          </a:p>
        </p:txBody>
      </p:sp>
    </p:spTree>
    <p:extLst>
      <p:ext uri="{BB962C8B-B14F-4D97-AF65-F5344CB8AC3E}">
        <p14:creationId xmlns:p14="http://schemas.microsoft.com/office/powerpoint/2010/main" val="25355860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This InferenceSet example uses the name qwen3-coder-30b to match the Qwen3-Coder-30B model being requested. The preset identifies the model, the instance type identifies the GPU virtual machine, and replicas requests three serving copies. KAITO reconciles the workload from that intent. This excerpt does not enable Model Mirror or demonstrate an upgrade policy, so we should not infer either capability from it. Before deployment, validate model support, the installed API schema, GPU availability, and the resulting memory requirements.</a:t>
            </a:r>
          </a:p>
        </p:txBody>
      </p:sp>
    </p:spTree>
    <p:extLst>
      <p:ext uri="{BB962C8B-B14F-4D97-AF65-F5344CB8AC3E}">
        <p14:creationId xmlns:p14="http://schemas.microsoft.com/office/powerpoint/2010/main" val="14492462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KAITO estimates the initial capacity from the model and the selected GPU instance type. Start with GPU memory, reserve space for runtime overhead and KV state, then estimate how many GPUs can hold the weights. Map those GPUs to nodes and check the supported parallelism. This is a starting point, not a production capacity guarantee. Context length, precision, concurrency, and the installed KAITO and runtime versions all matter. Verify the computed node count and load-test before relying on the estimate.</a:t>
            </a:r>
          </a:p>
        </p:txBody>
      </p:sp>
    </p:spTree>
    <p:extLst>
      <p:ext uri="{BB962C8B-B14F-4D97-AF65-F5344CB8AC3E}">
        <p14:creationId xmlns:p14="http://schemas.microsoft.com/office/powerpoint/2010/main" val="14492462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Now we can combine the pieces into one serving topology. KAITO's MultiRoleInference declares the roles and manages their lifecycle. The Gateway API Inference Extension, or GWIE, provides the InferencePool contract. The llm-d router supplies endpoint selection and request orchestration, while vLLM and NIXL execute the phases and move KV state. This is a responsibility stack, not a network packet path. The client sees one serving endpoint even though the platform manages two specialized roles.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Endpoint Picker makes a routing decision; it is not the proxy carrying the inference payload. The gateway asks it to select appropriate workers, which can include a decode worker and, when needed, a prefill worker. A plugin chain provides the scheduling extension points, including role-aware and cache-aware logic where configured. KAITO builds on that llm-d routing implementation instead of creating a second engine. The extension surface does not mean every possible scheduling policy is implemented or enabled by default.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Keep the API contract separate from its implementation. KAITO declares and reconciles the role topology. The Gateway API Inference Extension defines Kubernetes objects and gateway integration, including InferencePool. The llm-d router implements endpoint selection and prefill/decode-aware decisions. An InferencePool is not an inline traffic proxy, and this integration does not imply use of a reference Endpoint Picker implementation. These ownership boundaries help us understand which component to inspect when deployment, discovery, or routing goes wrong.</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There are three paths here. The upper control plane reconciles resources; it does not carry requests. The gateway consults the Endpoint Picker, then sends the inference request to the selected decode pod's routing sidecar. That sidecar coordinates optional remote prefill and local decode. KV data takes a separate, direct path between runtimes, with decode initiating the read. InferenceSets are managed resources, not network hops. We will trace the response path in the request lifecycle on slide 31.</a:t>
            </a:r>
          </a:p>
          <a:p/>
          <a:p>
            <a:r>
              <a:t>Technical reference (not part of the spoken script)</a:t>
            </a:r>
          </a:p>
          <a:p/>
          <a:p>
            <a:r>
              <a:t>The upper band is resource ownership, not traffic. The gateway consults the llm-d Router EPP through the InferencePool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31. InferenceSets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example declares one logical model service with one prefill replica and two decode replicas, using different GPU instance types. Each role is managed through its own InferenceSet. The important feature is independent role placement, not a recommended one-to-two ratio or hardware pairing. The cards represent serving replicas, not GPU counts inside each virtual machine. Model identifiers, instance availability, quota, the installed schema, and cross-role runtime and transfer compatibility still need validation before this becomes a deployable configuration.</a:t>
            </a:r>
          </a:p>
          <a:p/>
          <a:p>
            <a:r>
              <a:t>Technical reference (not part of the spoken script)</a:t>
            </a:r>
          </a:p>
          <a:p/>
          <a:p>
            <a:r>
              <a:t>User-supplied example: kaito.sh/v1alpha1 MultiRoleInference named qwen-3-8-27b, model Qwen/Qwen3.8-27B. The prefill role has replicas: 1 and instanceType: Standard_NC24ads_A100_v4; the decode role has replicas: 2 and instanceType: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InferenceSet.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Reconciliation turns the declared topology into serving resources and keeps their contracts aligned. That includes role-specific InferenceSets, routing resources, labels, sidecar injection, transfer addresses, and matching ports. The diagram is a responsibility map: some resources can be managed through child controllers rather than being direct children of MultiRoleInference. The value is not merely producing YAML once. It is maintaining relationships through updates and failures. Automatic per-role scaling policy remains a separate integration concern, not something this resource tree proves is available.</a:t>
            </a:r>
          </a:p>
          <a:p/>
          <a:p>
            <a:r>
              <a:t>Technical reference (not part of the spoken script)</a:t>
            </a:r>
          </a:p>
          <a:p/>
          <a:p>
            <a:r>
              <a:t>The dashed tree is a resource and responsibility map, not an exact claim that every depicted object is a direct Kubernetes child of the MultiRoleInference.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After endpoint selection, the gateway forwards to the decode sidecar with the selected prefill information. The sidecar invokes remote prefill, then receives transfer metadata rather than the KV payload itself. It passes that metadata and remote-prefill identifiers to local decode. The decode runtime initiates a NIXL read, moving KV data from prefill to decode, and generation continues. The response returns through the sidecar and gateway. Endpoint selection is omitted from this sequence because we covered it in the architecture diagram on slide 28.</a:t>
            </a:r>
          </a:p>
          <a:p/>
          <a:p>
            <a:r>
              <a:t>Technical reference (not part of the spoken script)</a:t>
            </a:r>
          </a:p>
          <a:p/>
          <a:p>
            <a:r>
              <a:t>Based on llm-d-router docs/disaggregation.md#pd-sequence. Step 2 follows EPP selection; the EPP consultation is omitted from this sequence and shown on slide 28. Step 4 returns transfer metadata, not the KV payload. Step 5 carries remote_prefill=true, prefill request ID and memory block IDs to local decode. Step 6 shows KV DATA direction (prefill → decode); decode initiates the NIXL read. Response arrows return via sidecar and gateway. Source: https://github.com/llm-d/llm-d-router/blob/main/docs/disaggregation.md#pd-sequence</a:t>
            </a:r>
          </a:p>
          <a:p/>
          <a:p>
            <a:r>
              <a:t>References</a:t>
            </a:r>
          </a:p>
          <a:p>
            <a:r>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Putting the sidecar on the decode pod gives the gateway one endpoint for coordination and response delivery. The sidecar can call a remote prefill worker, then send the local decode runtime the metadata it needs. The KV payload bypasses the HTTP sidecar and terminates at the runtime. Ports 5000 and 5001 are this configuration's choices, not universal llm-d requirements. What must remain consistent is the InferencePool target port, the sidecar listener, and the local runtime endpoint.</a:t>
            </a:r>
          </a:p>
          <a:p/>
          <a:p>
            <a:r>
              <a:t>Technical reference (not part of the spoken script)</a:t>
            </a:r>
          </a:p>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t>Speaker script</a:t>
            </a:r>
          </a:p>
          <a:p/>
          <a:p>
            <a:r>
              <a:t>Stepping back, llm-d composes the gateway and runtime into a coordinated disaggregated flow. Scheduling can select a separate prefill worker when the configured policy calls for one. The sidecar orchestrates the requests, while the runtimes handle the KV data path. Separate pools make independent resource allocation possible, but they do not automatically provide an autoscaling policy or guarantee better latency. We still need to choose routing behavior, capacity, and transfer configuration against the service's first-token and token-delivery objectives.</a:t>
            </a:r>
          </a:p>
        </p:txBody>
      </p:sp>
    </p:spTree>
    <p:extLst>
      <p:ext uri="{BB962C8B-B14F-4D97-AF65-F5344CB8AC3E}">
        <p14:creationId xmlns:p14="http://schemas.microsoft.com/office/powerpoint/2010/main" val="16989503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Speaker script</a:t>
            </a:r>
          </a:p>
          <a:p/>
          <a:p>
            <a:r>
              <a:t>Efficient transfer is essential to making the split worthwhile. Through NIXL, vLLM can use GPU-direct remote direct memory access, or RDMA, on supported hardware and backends, potentially avoiding host staging. The Unified Communication X framework, or UCX, can provide transport over different networks. InfiniBand and RDMA over Converged Ethernet, or RoCE, can support RDMA paths; TCP is a different transport, not RDMA. The takeaway is reduced copying and staging where supported, never literally zero overhead. Measure the actual deployment's transfer behavior.</a:t>
            </a:r>
          </a:p>
        </p:txBody>
      </p:sp>
    </p:spTree>
    <p:extLst>
      <p:ext uri="{BB962C8B-B14F-4D97-AF65-F5344CB8AC3E}">
        <p14:creationId xmlns:p14="http://schemas.microsoft.com/office/powerpoint/2010/main" val="23366575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Once the roles are separate, scale the role that is actually under pressure. Waiting requests inside the prefill engine are a useful starting signal for prompt pressure. Running requests on decode are a useful starting signal for active generation load. These are control-pattern recommendations, not an automatically available MRI feature. Verify the metrics on your runtime and aggregate them by role. Latency and KV utilization add context, but any signal used to control capacity needs validated semantics and a safety policy.</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There is already a documented foundation: Kubernetes Event-driven Autoscaling, or KEDA, can target an InferenceSet through its scale API. KAITO examples use scheduled triggers or Prometheus queries, including the vLLM waiting-request metric. KEDA works with the Horizontal Pod Autoscaler, or HPA, and the InferenceSet controller reconciles the desired serving capacity. KEDA is installed separately. This existing capability is important, but it does not by itself establish a native MultiRoleInference policy that automatically manages both roles.</a:t>
            </a:r>
          </a:p>
          <a:p/>
          <a:p>
            <a:r>
              <a:t>Technical reference (not part of the spoken script)</a:t>
            </a:r>
          </a:p>
          <a:p/>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References</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t>Speaker script</a:t>
            </a:r>
          </a:p>
          <a:p/>
          <a:p>
            <a:r>
              <a:t>The keda-kaito-scaler approach reads vLLM metrics directly, avoiding a Prometheus requirement for that path. It still depends on KEDA, the scaler, runtime endpoints, and their configuration, so no Prometheus does not mean no dependencies. The design uses conservative replica changes and can combine signals under an AND policy. Those choices can reduce abrupt reactions, but they do not guarantee GPU safety or minimum cost. Model warm-up, metric validity, ownership, and safe scale-down remain essential parts of the deployment.</a:t>
            </a:r>
          </a:p>
        </p:txBody>
      </p:sp>
    </p:spTree>
    <p:extLst>
      <p:ext uri="{BB962C8B-B14F-4D97-AF65-F5344CB8AC3E}">
        <p14:creationId xmlns:p14="http://schemas.microsoft.com/office/powerpoint/2010/main" val="31905224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t>Speaker script</a:t>
            </a:r>
          </a:p>
          <a:p/>
          <a:p>
            <a:r>
              <a:t>The annotations provide a compact way to configure the scaler, including metrics, thresholds, evaluation windows, cooldowns, and replica bounds. They do not eliminate Kubernetes objects: auto-provisioning creates the scaling objects on the user's behalf. With an AND policy, all configured signals must satisfy the relevant condition, which needs careful workload testing. The proposed simplification on the right would reduce manual tuning; it is not a shipped auto-tuning guarantee. Today, treat thresholds and timing values as explicit choices to validate, rather than assuming universal best-practice defaults.</a:t>
            </a:r>
          </a:p>
          <a:p/>
          <a:p>
            <a:r>
              <a:t>Configuration reference (from the original deck; validate against the installed scaler version)</a:t>
            </a:r>
          </a:p>
          <a:p/>
          <a:p/>
        </p:txBody>
      </p:sp>
    </p:spTree>
    <p:extLst>
      <p:ext uri="{BB962C8B-B14F-4D97-AF65-F5344CB8AC3E}">
        <p14:creationId xmlns:p14="http://schemas.microsoft.com/office/powerpoint/2010/main" val="362140088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proposed control pattern has two independent loops behind one logical service. Prefill observes waiting requests and changes prefill serving capacity. Decode observes running requests and changes decode capacity. One KEDA ScaledObject per target InferenceSet is a possible implementation, but avoid competing autoscalers on the same target. Each loop needs stabilization, model warm-up awareness, fresh and correctly aggregated metrics, and safe scale-down. Independence means one role can act without requiring the other role to be equally busy.</a:t>
            </a:r>
          </a:p>
          <a:p/>
          <a:p>
            <a:r>
              <a:t>Technical reference (not part of the spoken script)</a:t>
            </a:r>
          </a:p>
          <a:p/>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Service objectives should coordinate the overall experience without forcing both roles to share a capacity decision. Prefill has a prompt-latency objective; decode has a token-delivery objective. A policy layer can translate those into separate role targets. This is a design pattern, not a claim that automatic service-level policy projection is already available. The scaling unit must be a complete serving replica, potentially spanning multiple workers, rather than an individual tensor-parallel process. Each target should have one authoritative replica controller.</a:t>
            </a:r>
          </a:p>
          <a:p/>
          <a:p>
            <a:r>
              <a:t>Technical reference (not part of the spoken script)</a:t>
            </a:r>
          </a:p>
          <a:p/>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Routing and autoscaling solve different problems. Routing chooses where the next request goes; autoscaling changes how much serving capacity exists. In each loop, scope the metric samples to the correct role, remove duplicate engine or worker series, and evaluate that role's policy independently. New replicas should count as capacity only when the model is loaded and eligible to serve. The arrows describe policy and measurement relationships, not a requirement for push-based metrics or a particular Kubernetes ownership tree.</a:t>
            </a:r>
          </a:p>
          <a:p/>
          <a:p>
            <a:r>
              <a:t>Technical reference (not part of the spoken script)</a:t>
            </a:r>
          </a:p>
          <a:p/>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example uses two native gauges: waiting requests for prefill and running requests for decode. The thresholds and replica bounds are illustrative, not production recommendations. Aggregate them per serving replica within the role, and remember that an engine-local queue excludes requests still waiting upstream. Strictly above or below a threshold requests a change; equality and the middle range hold. Missing, stale, or invalid samples must not become zero. Validate that hold-and-report behavior in the actual controller before enabling the policy.</a:t>
            </a:r>
          </a:p>
          <a:p/>
          <a:p>
            <a:r>
              <a:t>Technical reference (not part of the spoken script)</a:t>
            </a:r>
          </a:p>
          <a:p/>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two roles share a safety contract, not identical tuning. In this example, prefill has a one-to-eight replica range and reacts to waiting requests. Decode has a two-to-sixteen range and reacts to running requests. These values only illustrate independent decisions. Both policies need fresh role-scoped data, readiness checks, stabilization, cooldowns, and clear ownership. A low signal is not sufficient justification to remove capacity immediately: scale-down must also protect in-flight requests and respect the minimum replica count.</a:t>
            </a:r>
          </a:p>
          <a:p/>
          <a:p>
            <a:r>
              <a:t>Technical reference (not part of the spoken script)</a:t>
            </a:r>
          </a:p>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Most autoscaling failures happen outside the happy path. First, choose one writer for each replica count, and stop the old writer before handing over control. Second, verify complete, fresh metric coverage; a failed scrape is not zero load. Third, account for model loading and protect active requests and KV state during removal. Hold and report on invalid data is the required safety contract here, not an assertion that every fallback path already implements it. Test these failures end to end.</a:t>
            </a:r>
          </a:p>
          <a:p/>
          <a:p>
            <a:r>
              <a:t>Technical reference (not part of the spoken script)</a:t>
            </a:r>
          </a:p>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Derived signals help explain pressure, but they need careful interpretation. KV usage is a fraction; its maximum and the complementary free fraction are not independent evidence or effective request capacity. A latency percentile requires histogram bucket rates and enough observations, and engine timing is not end-to-end client timing. Throughput counters need reset-aware rates before aggregation. These derived outputs require a query or adapter integration; they are not new native vLLM metrics. Start with observation, and do not let an indiscriminate AND rule suppress needed scale-up.</a:t>
            </a:r>
          </a:p>
          <a:p/>
          <a:p>
            <a:r>
              <a:t>Technical reference (not part of the spoken script)</a:t>
            </a:r>
          </a:p>
          <a:p/>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is a proposed annotation schema, not ready-to-apply configuration. It requires an MRI adapter, child scaling opt-in, ownership handoff, and complete-coverage metric hardening. With prefill waiting at twelve and decode running at twelve, prefill can request scale-up while decode holds. Later, decode can act independently. AND applies within a role, not across both roles. Outcomes remain subject to readiness, cooldowns, stabilization, and bounds. The full proposed YAML is linked in these notes for design review, not as a validated deployment recipe.</a:t>
            </a:r>
          </a:p>
          <a:p/>
          <a:p>
            <a:r>
              <a:t>Full proposed YAML: https://github.com/andyzhangx/demo/blob/master/llm/kaito-llm-d/examples/proposed-pd-autoscaling-annotations.yaml</a:t>
            </a:r>
          </a:p>
          <a:p/>
          <a:p>
            <a:r>
              <a:t>Technical reference (not part of the spoken script)</a:t>
            </a:r>
          </a:p>
          <a:p/>
          <a:p>
            <a:r>
              <a:t>The slide summarizes a proposed per-role policy; the linked file contains the full resource example. Full YAML: llm/kaito-llm-d/examples/proposed-pd-autoscaling-annotations.yaml in this repository. Model and instanceType values in that file are illustrative and not deployment-validated. Annotation policy is a proposal and needs the integration work described in this technical reference.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p>
            <a:r>
              <a:t>Full proposed YAML (design example; requires adapter integration)</a:t>
            </a:r>
          </a:p>
          <a:p/>
          <a:p>
            <a:r>
              <a:t># PROPOSAL ONLY: not a currently deployable MRI autoscaling API.</a:t>
            </a:r>
          </a:p>
          <a:p>
            <a:r>
              <a:t># Requires a validated MRI role-policy adapter and explicit scaler opt-in for MRI children.</a:t>
            </a:r>
          </a:p>
          <a:p>
            <a:r>
              <a:t># Model, SKUs, bounds and thresholds are illustrative; no cluster validation was performed.</a:t>
            </a:r>
          </a:p>
          <a:p>
            <a:r>
              <a:t># See ../kaito-role-aware-autoscaling-for-pd.md for ownership, prerequisites and safety.</a:t>
            </a:r>
          </a:p>
          <a:p>
            <a:r>
              <a:t>apiVersion: kaito.sh/v1alpha1</a:t>
            </a:r>
          </a:p>
          <a:p>
            <a:r>
              <a:t>kind: MultiRoleInference</a:t>
            </a:r>
          </a:p>
          <a:p>
            <a:r>
              <a:t>metadata:</a:t>
            </a:r>
          </a:p>
          <a:p>
            <a:r>
              <a:t>  name: deepseek-v3</a:t>
            </a:r>
          </a:p>
          <a:p>
            <a:r>
              <a:t>  annotations:</a:t>
            </a:r>
          </a:p>
          <a:p>
            <a:r>
              <a:t>    autoscaling.kaito.sh/roles: |</a:t>
            </a:r>
          </a:p>
          <a:p>
            <a:r>
              <a:t>      version: v1alpha1</a:t>
            </a:r>
          </a:p>
          <a:p>
            <a:r>
              <a:t>      roles:</a:t>
            </a:r>
          </a:p>
          <a:p>
            <a:r>
              <a:t>        prefill:</a:t>
            </a:r>
          </a:p>
          <a:p>
            <a:r>
              <a:t>          min-replicas: "1"</a:t>
            </a:r>
          </a:p>
          <a:p>
            <a:r>
              <a:t>          max-replicas: "8"</a:t>
            </a:r>
          </a:p>
          <a:p>
            <a:r>
              <a:t>          combinepolicy: AND</a:t>
            </a:r>
          </a:p>
          <a:p>
            <a:r>
              <a:t>          metrics:</a:t>
            </a:r>
          </a:p>
          <a:p>
            <a:r>
              <a:t>          - name: vllm:num_requests_waiting</a:t>
            </a:r>
          </a:p>
          <a:p>
            <a:r>
              <a:t>            type: gauge</a:t>
            </a:r>
          </a:p>
          <a:p>
            <a:r>
              <a:t>            upthreshold: 8</a:t>
            </a:r>
          </a:p>
          <a:p>
            <a:r>
              <a:t>            downthreshold: 1</a:t>
            </a:r>
          </a:p>
          <a:p>
            <a:r>
              <a:t>        decode:</a:t>
            </a:r>
          </a:p>
          <a:p>
            <a:r>
              <a:t>          min-replicas: "2"</a:t>
            </a:r>
          </a:p>
          <a:p>
            <a:r>
              <a:t>          max-replicas: "16"</a:t>
            </a:r>
          </a:p>
          <a:p>
            <a:r>
              <a:t>          combinepolicy: AND</a:t>
            </a:r>
          </a:p>
          <a:p>
            <a:r>
              <a:t>          metrics:</a:t>
            </a:r>
          </a:p>
          <a:p>
            <a:r>
              <a:t>          - name: vllm:num_requests_running</a:t>
            </a:r>
          </a:p>
          <a:p>
            <a:r>
              <a:t>            type: gauge</a:t>
            </a:r>
          </a:p>
          <a:p>
            <a:r>
              <a:t>            upthreshold: 24</a:t>
            </a:r>
          </a:p>
          <a:p>
            <a:r>
              <a:t>            downthreshold: 4</a:t>
            </a:r>
          </a:p>
          <a:p>
            <a:r>
              <a:t>spec:</a:t>
            </a:r>
          </a:p>
          <a:p>
            <a:r>
              <a:t>  labelSelector:</a:t>
            </a:r>
          </a:p>
          <a:p>
            <a:r>
              <a:t>    matchLabels:</a:t>
            </a:r>
          </a:p>
          <a:p>
            <a:r>
              <a:t>      apps: deepseek-v3</a:t>
            </a:r>
          </a:p>
          <a:p>
            <a:r>
              <a:t>  model:</a:t>
            </a:r>
          </a:p>
          <a:p>
            <a:r>
              <a:t>    name: deepseek-ai/DeepSeek-V3</a:t>
            </a:r>
          </a:p>
          <a:p>
            <a:r>
              <a:t>  roles:</a:t>
            </a:r>
          </a:p>
          <a:p>
            <a:r>
              <a:t>  - type: prefill</a:t>
            </a:r>
          </a:p>
          <a:p>
            <a:r>
              <a:t>    instanceType: Standard_ND96isr_H100_v5</a:t>
            </a:r>
          </a:p>
          <a:p>
            <a:r>
              <a:t>    replicas: null</a:t>
            </a:r>
          </a:p>
          <a:p>
            <a:r>
              <a:t>  - type: decode</a:t>
            </a:r>
          </a:p>
          <a:p>
            <a:r>
              <a:t>    instanceType: Standard_ND96isr_H100_v5</a:t>
            </a:r>
          </a:p>
          <a:p>
            <a:r>
              <a:t>    replicas: null</a:t>
            </a:r>
          </a:p>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Use this as a qualitative decision framework, not a benchmark. The strongest candidate has meaningfully different role capacity needs and a transfer path cheap enough to preserve the benefit. If the roles differ but transfer is expensive, improve locality or transport first. If the roles have similar needs, fast fabric alone is not a reason to split. Cross-node transfer is not automatically slow, and same-node transfer is not free. Validate the result with matched workloads, cost, and latency objectives, including operational complexity.</a:t>
            </a:r>
          </a:p>
          <a:p/>
          <a:p>
            <a:r>
              <a:t>Technical reference (not part of the spoken script)</a:t>
            </a:r>
          </a:p>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next directions build on the same architecture. Cache-aware routing can use KV events to improve prefix reuse, with tiered storage across GPU high-bandwidth memory, CPU memory, and optional filesystem tiers. Richer topologies can separate encode, prefill, and decode. Larger deployments also motivate wide expert parallelism and communication optimization. These are KAITO integration directions, not release dates or claims that upstream projects lack these capabilities today. Availability must remain tied to the deployed KAITO, llm-d, runtime, and transport versions.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Speaker script</a:t>
            </a:r>
          </a:p>
          <a:p/>
          <a:p>
            <a:r>
              <a:t>Thanks for joining us. The takeaway is simple: separate prefill and decode when independent capacity solves a measured problem, keep request coordination distinct from KV movement, and scale each role with validated signals and safeguards. We are happy to take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9.jpe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jpg"/><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dirty="0" cap="none">
                <a:solidFill>
                  <a:srgbClr val="142C46"/>
                </a:solidFill>
                <a:latin typeface="Arial"/>
              </a:rPr>
              <a:t>Andy Zhang — Microsoft</a:t>
            </a:r>
            <a:br/>
            <a:r>
              <a:rPr cap="none" sz="2000">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dirty="0" cap="none">
                <a:solidFill>
                  <a:srgbClr val="142C46"/>
                </a:solidFill>
                <a:latin typeface="Arial"/>
              </a:rPr>
              <a:t>Prefill here, decode there</a:t>
            </a:r>
            <a:br/>
            <a:r>
              <a:rPr cap="none" sz="2700">
                <a:solidFill>
                  <a:srgbClr val="142C46"/>
                </a:solidFill>
                <a:latin typeface="Arial"/>
              </a:rPr>
              <a:t>Kubernetes-native LLM inference</a:t>
            </a:r>
            <a:br/>
            <a:r>
              <a:rPr cap="none" sz="2700">
                <a:solidFill>
                  <a:srgbClr val="142C46"/>
                </a:solidFill>
                <a:latin typeface="Arial"/>
              </a:rPr>
              <a:t>with KAITO and llm-d</a:t>
            </a:r>
          </a:p>
        </p:txBody>
      </p:sp>
      <p:sp>
        <p:nvSpPr>
          <p:cNvPr id="110" name="TextBox 10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1" name="TextBox 1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02 / 49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dirty="0" cap="none">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r>
              <a:rPr lang="en-US" altLang="zh-CN" sz="1200" dirty="0" cap="none">
                <a:solidFill>
                  <a:srgbClr val="52677D"/>
                </a:solidFill>
                <a:latin typeface="Arial"/>
              </a:rPr>
              <a:t>Principal Software Engineer, Microsoft</a:t>
            </a:r>
          </a:p>
          <a:p>
            <a:pPr marL="114300"/>
            <a:r>
              <a:rPr lang="en-US" altLang="zh-CN" sz="1200" dirty="0" cap="none">
                <a:solidFill>
                  <a:srgbClr val="52677D"/>
                </a:solidFill>
                <a:latin typeface="Arial"/>
              </a:rPr>
              <a:t>KAITO &amp; OpenYurt maintainer</a:t>
            </a:r>
          </a:p>
          <a:p>
            <a:pPr marL="114300"/>
            <a:r>
              <a:rPr lang="en-US" altLang="zh-CN" sz="1200" dirty="0" cap="none">
                <a:solidFill>
                  <a:srgbClr val="52677D"/>
                </a:solidFill>
                <a:latin typeface="Arial"/>
              </a:rPr>
              <a:t>GitHub: </a:t>
            </a:r>
            <a:r>
              <a:rPr lang="en-US" altLang="zh-CN" sz="1200" dirty="0" err="1" cap="none">
                <a:solidFill>
                  <a:srgbClr val="52677D"/>
                </a:solidFill>
                <a:latin typeface="Arial"/>
              </a:rPr>
              <a:t>rambohe</a:t>
            </a:r>
            <a:r>
              <a:rPr lang="en-US" altLang="zh-CN" sz="1200" dirty="0" cap="none">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dirty="0" cap="none">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r>
              <a:rPr lang="en-US" altLang="zh-CN" sz="1200" dirty="0" cap="none">
                <a:solidFill>
                  <a:srgbClr val="52677D"/>
                </a:solidFill>
                <a:latin typeface="Arial"/>
              </a:rPr>
              <a:t>Principal Software Engineer, Microsoft</a:t>
            </a:r>
          </a:p>
          <a:p>
            <a:pPr marL="114300"/>
            <a:r>
              <a:rPr lang="en-US" altLang="zh-CN" sz="1200" dirty="0" cap="none">
                <a:solidFill>
                  <a:srgbClr val="52677D"/>
                </a:solidFill>
                <a:latin typeface="Arial"/>
              </a:rPr>
              <a:t>KAITO &amp; </a:t>
            </a:r>
            <a:r>
              <a:rPr lang="en-US" altLang="zh-CN" dirty="0" cap="none" sz="1200">
                <a:solidFill>
                  <a:srgbClr val="52677D"/>
                </a:solidFill>
                <a:latin typeface="Arial"/>
              </a:rPr>
              <a:t>CSI driver</a:t>
            </a:r>
            <a:r>
              <a:rPr lang="en-US" altLang="zh-CN" sz="1200" dirty="0" cap="none">
                <a:solidFill>
                  <a:srgbClr val="52677D"/>
                </a:solidFill>
                <a:latin typeface="Arial"/>
              </a:rPr>
              <a:t> maintainer</a:t>
            </a:r>
          </a:p>
          <a:p>
            <a:pPr marL="114300"/>
            <a:r>
              <a:rPr lang="en-US" altLang="zh-CN" sz="1200" dirty="0" cap="none">
                <a:solidFill>
                  <a:srgbClr val="52677D"/>
                </a:solidFill>
                <a:latin typeface="Arial"/>
              </a:rPr>
              <a:t>GitHub: </a:t>
            </a:r>
            <a:r>
              <a:rPr lang="en-US" altLang="zh-CN" sz="1200" dirty="0" err="1" cap="none">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4" name="TextBox 10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03 / 49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From the inference basics to a Kubernetes operating model</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0352" y="170078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sz="1400"/>
              <a:t>Inference basics: prefill and decode</a:t>
            </a:r>
          </a:p>
        </p:txBody>
      </p:sp>
      <p:sp>
        <p:nvSpPr>
          <p:cNvPr id="7" name="TextBox 6"/>
          <p:cNvSpPr txBox="1"/>
          <p:nvPr/>
        </p:nvSpPr>
        <p:spPr>
          <a:xfrm>
            <a:off x="1078992" y="202082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Inference phases and latency metrics</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00600" y="170078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Why P/D disaggregation</a:t>
            </a:r>
          </a:p>
        </p:txBody>
      </p:sp>
      <p:sp>
        <p:nvSpPr>
          <p:cNvPr id="11" name="TextBox 10"/>
          <p:cNvSpPr txBox="1"/>
          <p:nvPr/>
        </p:nvSpPr>
        <p:spPr>
          <a:xfrm>
            <a:off x="5349240" y="202082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Benefits, costs and the orchestration gap</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66090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KAITO + llm-d overview</a:t>
            </a:r>
          </a:p>
        </p:txBody>
      </p:sp>
      <p:sp>
        <p:nvSpPr>
          <p:cNvPr id="15" name="TextBox 14"/>
          <p:cNvSpPr txBox="1"/>
          <p:nvPr/>
        </p:nvSpPr>
        <p:spPr>
          <a:xfrm>
            <a:off x="1078992" y="298094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Components and ownership boundaries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0600" y="266090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sz="1400"/>
              <a:t>How KAITO + llm-d supports P/D</a:t>
            </a:r>
          </a:p>
        </p:txBody>
      </p:sp>
      <p:sp>
        <p:nvSpPr>
          <p:cNvPr id="19" name="TextBox 18"/>
          <p:cNvSpPr txBox="1"/>
          <p:nvPr/>
        </p:nvSpPr>
        <p:spPr>
          <a:xfrm>
            <a:off x="5349240" y="298094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Topology,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0352" y="362102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Signals, policies and safe control loops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00600" y="362102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Wrap-up and next steps</a:t>
            </a:r>
          </a:p>
        </p:txBody>
      </p:sp>
      <p:sp>
        <p:nvSpPr>
          <p:cNvPr id="27" name="TextBox 26"/>
          <p:cNvSpPr txBox="1"/>
          <p:nvPr/>
        </p:nvSpPr>
        <p:spPr>
          <a:xfrm>
            <a:off x="5349240" y="394106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Key takeaways and ways to contribute</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04 / 49</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Prefill: process the prompt and select the first token</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caches the prompt, then selects “Kubernetes”. Its K/V is not cached until it is consumed.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One word per token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Process the prompt positions together, with attention only to earlier or current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attention to future positions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Final prompt-position logits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Prompt KV = per-layer attention keys + values for the 5 processed prompt positions.</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05 / 49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Append KV for the consumed token—not the newly selected token. Read past KV; do not recompute 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Repeat until the answer is complete. Each selected token becomes the next input.</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First 6 words shown  /  Schematic,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word</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TextBox 7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06 / 49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mainly shapes the wait for the first token; decode shapes the pace after it.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Both affect total response latency and SLO goodput: requests/s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Time to first token • lower is better</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Track prefill latency + input tok/s</a:t>
            </a:r>
          </a:p>
          <a:p>
            <a:pPr>
              <a:spcAft>
                <a:spcPts val="375"/>
              </a:spcAft>
              <a:defRPr sz="1700" b="0">
                <a:solidFill>
                  <a:srgbClr val="586A80"/>
                </a:solidFill>
                <a:latin typeface="Arial"/>
              </a:defRPr>
            </a:pPr>
            <a:r>
              <a:rPr sz="1275" cap="none">
                <a:latin typeface="Arial"/>
              </a:rPr>
              <a:t>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Inter-token latency / avg. time per output token</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Lower is better • track aggregate output tok/s</a:t>
            </a:r>
          </a:p>
          <a:p>
            <a:pPr>
              <a:spcAft>
                <a:spcPts val="375"/>
              </a:spcAft>
              <a:defRPr sz="1700" b="0">
                <a:solidFill>
                  <a:srgbClr val="586A80"/>
                </a:solidFill>
                <a:latin typeface="Arial"/>
              </a:defRPr>
            </a:pPr>
            <a:r>
              <a:rPr sz="1275" cap="none">
                <a:latin typeface="Arial"/>
              </a:rPr>
              <a:t>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Not exclusive: queueing / delivery also affect TTFT; shared prefill can stall decode. Sources: vLLM metrics; NVIDIA Dynamo.</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07 / 49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shared pool couples two capacity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Aggregated serving is simple—but prefill bursts and active decoding share resources.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compromise is not only performance. It is how you size and scale the service.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 one coupled scaling boundary</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operational tension</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Scaling adds both phases, even when only one is saturated.</a:t>
            </a:r>
          </a:p>
        </p:txBody>
      </p:sp>
      <p:sp>
        <p:nvSpPr>
          <p:cNvPr id="32" name="TextBox 3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TextBox 3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08 / 49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 is already decoding. B arrives with a new prompt. Where should B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Separate GPUs remove direct prefill execution from the decode GPU—not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Prefill B</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A waits while B runs prefill</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Prefill B</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cap="none">
                <a:latin typeface="Arial"/>
              </a:rPr>
              <a:t>B still needs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 can continue decoding while B runs prefill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A = ongoing decode; B = new request. Chunked prefill can mitigate the shared-worker pause.</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TextBox 4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09 / 49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different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processes many prompt positions; ordinary decode advances many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finds parallel work in prompt length; decode finds it across active sequences.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Many input positions in one forward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One newest input position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Batch prompt positions from one or more requests.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select a next output token for each request.</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increase ITL. Batch within latency and KV-memory budgets.</a:t>
            </a:r>
          </a:p>
        </p:txBody>
      </p:sp>
      <p:sp>
        <p:nvSpPr>
          <p:cNvPr id="59" name="TextBox 58"/>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60" name="TextBox 5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TextBox 6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10 / 49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Independent pools remove a forced compromise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a separate capacity decision for each phase—not separation for its own sake.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when phase-specific gains outweigh KV transfer, duplicated weights and operational cost.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Usually compute-bound; target TTFT.</a:t>
            </a:r>
          </a:p>
          <a:p>
            <a:pPr>
              <a:spcAft>
                <a:spcPts val="375"/>
              </a:spcAft>
              <a:defRPr sz="1800" b="0">
                <a:solidFill>
                  <a:srgbClr val="172941"/>
                </a:solidFill>
                <a:latin typeface="Arial"/>
              </a:defRPr>
            </a:pPr>
            <a:r>
              <a:rPr sz="1350" cap="none">
                <a:latin typeface="Arial"/>
              </a:rPr>
              <a:t>Tune prefill capacity / parallelism first.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Often bandwidth-bound; target ITL.</a:t>
            </a:r>
          </a:p>
          <a:p>
            <a:pPr>
              <a:spcAft>
                <a:spcPts val="375"/>
              </a:spcAft>
              <a:defRPr sz="1800" b="0">
                <a:solidFill>
                  <a:srgbClr val="172941"/>
                </a:solidFill>
                <a:latin typeface="Arial"/>
              </a:defRPr>
            </a:pPr>
            <a:r>
              <a:rPr sz="1350" cap="none">
                <a:latin typeface="Arial"/>
              </a:rPr>
              <a:t>Tune decode capacity / batching first.</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TextBox 3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11 / 49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introduces a KV-transfer boundary between prompt processing and generation.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Choose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Choose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New cost:</a:t>
            </a:r>
          </a:p>
          <a:p>
            <a:pPr algn="ctr">
              <a:spcAft>
                <a:spcPts val="375"/>
              </a:spcAft>
              <a:defRPr sz="1700" b="0">
                <a:solidFill>
                  <a:srgbClr val="586A80"/>
                </a:solidFill>
                <a:latin typeface="Arial"/>
              </a:defRPr>
            </a:pPr>
            <a:r>
              <a:rPr sz="1275" cap="none">
                <a:latin typeface="Arial"/>
              </a:rPr>
              <a:t>transfer + coordination</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12 / 49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P/D fits when the phases need different shapes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Start with the traffic profile, not the architecture trend.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Rectangle 8"/>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0" name="TextBox 9"/>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Prompt pressure</a:t>
            </a:r>
          </a:p>
        </p:txBody>
      </p:sp>
      <p:sp>
        <p:nvSpPr>
          <p:cNvPr id="11" name="TextBox 10"/>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Long prompts</a:t>
            </a:r>
          </a:p>
        </p:txBody>
      </p:sp>
      <p:sp>
        <p:nvSpPr>
          <p:cNvPr id="12" name="TextBox 11"/>
          <p:cNvSpPr txBox="1"/>
          <p:nvPr/>
        </p:nvSpPr>
        <p:spPr>
          <a:xfrm>
            <a:off x="514350" y="2599182"/>
            <a:ext cx="2434590" cy="482440"/>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RAG and retrieval add significant prefill work.</a:t>
            </a:r>
          </a:p>
        </p:txBody>
      </p:sp>
      <p:sp>
        <p:nvSpPr>
          <p:cNvPr id="13" name="Rounded Rectangle 12"/>
          <p:cNvSpPr/>
          <p:nvPr/>
        </p:nvSpPr>
        <p:spPr>
          <a:xfrm>
            <a:off x="3216402"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Rectangle 13"/>
          <p:cNvSpPr/>
          <p:nvPr/>
        </p:nvSpPr>
        <p:spPr>
          <a:xfrm>
            <a:off x="3339845"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Generation pressure</a:t>
            </a:r>
          </a:p>
        </p:txBody>
      </p:sp>
      <p:sp>
        <p:nvSpPr>
          <p:cNvPr id="16" name="TextBox 15"/>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Long generations</a:t>
            </a:r>
          </a:p>
        </p:txBody>
      </p:sp>
      <p:sp>
        <p:nvSpPr>
          <p:cNvPr id="17" name="TextBox 16"/>
          <p:cNvSpPr txBox="1"/>
          <p:nvPr/>
        </p:nvSpPr>
        <p:spPr>
          <a:xfrm>
            <a:off x="3353562" y="2599182"/>
            <a:ext cx="2434590" cy="713272"/>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High concurrency keeps decode busy and KV state resident.</a:t>
            </a:r>
          </a:p>
        </p:txBody>
      </p:sp>
      <p:sp>
        <p:nvSpPr>
          <p:cNvPr id="18" name="Rounded Rectangle 17"/>
          <p:cNvSpPr/>
          <p:nvPr/>
        </p:nvSpPr>
        <p:spPr>
          <a:xfrm>
            <a:off x="6055614"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179058"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Capacity mismatch</a:t>
            </a:r>
          </a:p>
        </p:txBody>
      </p:sp>
      <p:sp>
        <p:nvSpPr>
          <p:cNvPr id="21" name="TextBox 20"/>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Different resources</a:t>
            </a:r>
          </a:p>
        </p:txBody>
      </p:sp>
      <p:sp>
        <p:nvSpPr>
          <p:cNvPr id="22" name="TextBox 21"/>
          <p:cNvSpPr txBox="1"/>
          <p:nvPr/>
        </p:nvSpPr>
        <p:spPr>
          <a:xfrm>
            <a:off x="6192773" y="2599182"/>
            <a:ext cx="2434590" cy="713272"/>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Each phase needs its own scaling or parallelism choices.</a:t>
            </a:r>
          </a:p>
        </p:txBody>
      </p:sp>
      <p:sp>
        <p:nvSpPr>
          <p:cNvPr id="23" name="TextBox 2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4" name="TextBox 2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13 / 49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Keep aggregated serving when simplicity wins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is an option, not a default.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Small workload + slow transfer fabric is a strong reason not to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32204"/>
            <a:ext cx="4080510" cy="24345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6936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906524"/>
            <a:ext cx="38061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When aggregated fits</a:t>
            </a:r>
          </a:p>
        </p:txBody>
      </p:sp>
      <p:sp>
        <p:nvSpPr>
          <p:cNvPr id="13" name="TextBox 12"/>
          <p:cNvSpPr txBox="1"/>
          <p:nvPr/>
        </p:nvSpPr>
        <p:spPr>
          <a:xfrm>
            <a:off x="514350" y="2359152"/>
            <a:ext cx="3806190" cy="1380121"/>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Small models or short prompts</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Low request concurrency</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Simple, stable capacity needs</a:t>
            </a:r>
          </a:p>
        </p:txBody>
      </p:sp>
      <p:sp>
        <p:nvSpPr>
          <p:cNvPr id="14" name="Rounded Rectangle 13"/>
          <p:cNvSpPr/>
          <p:nvPr/>
        </p:nvSpPr>
        <p:spPr>
          <a:xfrm>
            <a:off x="4649724" y="1632204"/>
            <a:ext cx="4080510" cy="24345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773168" y="1769364"/>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786884" y="1906524"/>
            <a:ext cx="3806190"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split adds real costs</a:t>
            </a:r>
          </a:p>
        </p:txBody>
      </p:sp>
      <p:sp>
        <p:nvSpPr>
          <p:cNvPr id="17" name="TextBox 16"/>
          <p:cNvSpPr txBox="1"/>
          <p:nvPr/>
        </p:nvSpPr>
        <p:spPr>
          <a:xfrm>
            <a:off x="4786884" y="2359152"/>
            <a:ext cx="3806190" cy="1380121"/>
          </a:xfrm>
          <a:prstGeom prst="rect">
            <a:avLst/>
          </a:prstGeom>
          <a:noFill/>
        </p:spPr>
        <p:txBody>
          <a:bodyPr wrap="square" lIns="10287" tIns="10287" rIns="10287" bIns="10287">
            <a:spAutoFit/>
          </a:bodyPr>
          <a:lstStyle/>
          <a:p>
            <a:pPr>
              <a:spcAft>
                <a:spcPts val="375"/>
              </a:spcAft>
              <a:defRPr sz="2000" b="0">
                <a:solidFill>
                  <a:srgbClr val="172941"/>
                </a:solidFill>
                <a:latin typeface="Arial"/>
              </a:defRPr>
            </a:pPr>
            <a:r>
              <a:rPr sz="1500" cap="none">
                <a:latin typeface="Arial"/>
              </a:rPr>
              <a:t>KV transfer across the fabric</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More routing and runtime wiring</a:t>
            </a:r>
          </a:p>
          <a:p>
            <a:pPr>
              <a:spcAft>
                <a:spcPts val="375"/>
              </a:spcAft>
              <a:defRPr sz="2000" b="0">
                <a:solidFill>
                  <a:srgbClr val="172941"/>
                </a:solidFill>
                <a:latin typeface="Arial"/>
              </a:defRPr>
            </a:pPr>
            <a:endParaRPr sz="1500"/>
          </a:p>
          <a:p>
            <a:pPr>
              <a:spcAft>
                <a:spcPts val="375"/>
              </a:spcAft>
              <a:defRPr sz="2000" b="0">
                <a:solidFill>
                  <a:srgbClr val="172941"/>
                </a:solidFill>
                <a:latin typeface="Arial"/>
              </a:defRPr>
            </a:pPr>
            <a:r>
              <a:rPr sz="1500" cap="none">
                <a:latin typeface="Arial"/>
              </a:rPr>
              <a:t>Additional failure boundaries</a:t>
            </a:r>
          </a:p>
        </p:txBody>
      </p:sp>
      <p:sp>
        <p:nvSpPr>
          <p:cNvPr id="18" name="TextBox 1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14 / 49</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The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two-pool idea expands into a network of runtime contracts.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Correct routing, transfer settings, labels, ports, and readiness must agree.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Two role-specific backends</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endpoint selection</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Connector + transport settings</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Request orchestration</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Ports, labels, probes, replicas</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TextBox 4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15 / 49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Open-source P/D: several paths, different abstractions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Representative approaches—not an adoption ranking or mutually exclusive stacks.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Declarative APIs already exist. The opportunity is simpler integration—not the first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Also: LWS DisaggregatedSet orchestrates roles; engines and KV transport remain separate.</a:t>
            </a:r>
          </a:p>
        </p:txBody>
      </p:sp>
      <p:sp>
        <p:nvSpPr>
          <p:cNvPr id="54" name="TextBox 53"/>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TextBox 5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16 / 49</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03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Why KAITO integrates with llm-d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For teams choosing KAITO’s Kubernetes operating model—not a universal best-platform claim.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owns deployment intent and lifecycle; llm-d supplies reusable inference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Execute phases + move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 InferenceSet.</a:t>
            </a:r>
          </a:p>
          <a:p>
            <a:pPr>
              <a:spcAft>
                <a:spcPts val="375"/>
              </a:spcAft>
              <a:defRPr sz="1400" b="0">
                <a:solidFill>
                  <a:srgbClr val="172941"/>
                </a:solidFill>
                <a:latin typeface="Arial"/>
              </a:defRPr>
            </a:pPr>
            <a:r>
              <a:rPr sz="1050" cap="none">
                <a:latin typeface="Arial"/>
              </a:rPr>
              <a:t>Add role-specific replicas, GPU</a:t>
            </a:r>
          </a:p>
          <a:p>
            <a:pPr>
              <a:spcAft>
                <a:spcPts val="375"/>
              </a:spcAft>
              <a:defRPr sz="1400" b="0">
                <a:solidFill>
                  <a:srgbClr val="172941"/>
                </a:solidFill>
                <a:latin typeface="Arial"/>
              </a:defRPr>
            </a:pPr>
            <a:r>
              <a:rPr sz="1050" cap="none">
                <a:latin typeface="Arial"/>
              </a:rPr>
              <a:t>instance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P/D-aware endpoint selection</a:t>
            </a:r>
          </a:p>
          <a:p>
            <a:pPr>
              <a:spcAft>
                <a:spcPts val="375"/>
              </a:spcAft>
              <a:defRPr sz="1400" b="0">
                <a:solidFill>
                  <a:srgbClr val="172941"/>
                </a:solidFill>
                <a:latin typeface="Arial"/>
              </a:defRPr>
            </a:pPr>
            <a:r>
              <a:rPr sz="1050" cap="none">
                <a:latin typeface="Arial"/>
              </a:rPr>
              <a:t>and request orchestration. KAITO</a:t>
            </a:r>
          </a:p>
          <a:p>
            <a:pPr>
              <a:spcAft>
                <a:spcPts val="375"/>
              </a:spcAft>
              <a:defRPr sz="1400" b="0">
                <a:solidFill>
                  <a:srgbClr val="172941"/>
                </a:solidFill>
                <a:latin typeface="Arial"/>
              </a:defRPr>
            </a:pPr>
            <a:r>
              <a:rPr sz="1050" cap="none">
                <a:latin typeface="Arial"/>
              </a:rPr>
              <a:t>wires sidecars, ports and the 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avoid adding a second serving API.</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Current scope: alpha MRI • vLLM + Istio • GPU connectivity for KV transfer • scaling policy still needs design</a:t>
            </a:r>
          </a:p>
        </p:txBody>
      </p:sp>
      <p:sp>
        <p:nvSpPr>
          <p:cNvPr id="37" name="TextBox 3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TextBox 3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17 / 49</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Where KAITO and llm-d fit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A focused view of the distributed inference stack—not a required bill of materials</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72768"/>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Chat, agents and enterprise services</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79"/>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API ingress, authentication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450591"/>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Orchestration</a:t>
            </a:r>
          </a:p>
        </p:txBody>
      </p:sp>
      <p:sp>
        <p:nvSpPr>
          <p:cNvPr id="12" name="TextBox 11"/>
          <p:cNvSpPr txBox="1"/>
          <p:nvPr/>
        </p:nvSpPr>
        <p:spPr>
          <a:xfrm>
            <a:off x="2633472" y="2450591"/>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KAITO: lifecycle  •  llm-d: endpoint selection</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889503"/>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vLLM: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28415"/>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NIXL: transfer  •  cache systems: reuse and offload</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767328"/>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Kubernetes, GPUs, networking and storage</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This talk focuses on role topology,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TextBox 2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18 / 49</a:t>
            </a:r>
          </a:p>
        </p:txBody>
      </p:sp>
    </p:spTree>
    <p:extLst>
      <p:ext uri="{BB962C8B-B14F-4D97-AF65-F5344CB8AC3E}">
        <p14:creationId xmlns:p14="http://schemas.microsoft.com/office/powerpoint/2010/main" val="36272095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Reuse the serving stack;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47088"/>
            <a:ext cx="2414016"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Modular components</a:t>
            </a:r>
          </a:p>
          <a:p>
            <a:pPr>
              <a:spcAft>
                <a:spcPts val="500"/>
              </a:spcAft>
              <a:defRPr sz="1500" b="0">
                <a:solidFill>
                  <a:srgbClr val="142C46"/>
                </a:solidFill>
                <a:latin typeface="Arial"/>
              </a:defRPr>
            </a:pPr>
            <a:r>
              <a:rPr cap="none"/>
              <a:t>Kubernetes integration</a:t>
            </a:r>
          </a:p>
          <a:p>
            <a:pPr>
              <a:spcAft>
                <a:spcPts val="500"/>
              </a:spcAft>
              <a:defRPr sz="1500" b="0">
                <a:solidFill>
                  <a:srgbClr val="142C46"/>
                </a:solidFill>
                <a:latin typeface="Arial"/>
              </a:defRPr>
            </a:pPr>
            <a:r>
              <a:rPr cap="none"/>
              <a:t>Clear failure boundaries</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10712" y="1847088"/>
            <a:ext cx="2414016"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Gateway integration</a:t>
            </a:r>
          </a:p>
          <a:p>
            <a:pPr>
              <a:spcAft>
                <a:spcPts val="500"/>
              </a:spcAft>
              <a:defRPr sz="1500" b="0">
                <a:solidFill>
                  <a:srgbClr val="142C46"/>
                </a:solidFill>
                <a:latin typeface="Arial"/>
              </a:defRPr>
            </a:pPr>
            <a:r>
              <a:rPr cap="none"/>
              <a:t>Extensible routing</a:t>
            </a:r>
          </a:p>
          <a:p>
            <a:pPr>
              <a:spcAft>
                <a:spcPts val="500"/>
              </a:spcAft>
              <a:defRPr sz="1500" b="0">
                <a:solidFill>
                  <a:srgbClr val="142C46"/>
                </a:solidFill>
                <a:latin typeface="Arial"/>
              </a:defRPr>
            </a:pPr>
            <a:r>
              <a:rPr cap="none"/>
              <a:t>Runtime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47088"/>
            <a:ext cx="2414016"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Tested reference paths</a:t>
            </a:r>
          </a:p>
          <a:p>
            <a:pPr>
              <a:spcAft>
                <a:spcPts val="500"/>
              </a:spcAft>
              <a:defRPr sz="1500" b="0">
                <a:solidFill>
                  <a:srgbClr val="142C46"/>
                </a:solidFill>
                <a:latin typeface="Arial"/>
              </a:defRPr>
            </a:pPr>
            <a:r>
              <a:rPr cap="none"/>
              <a:t>Explicit trade-offs</a:t>
            </a:r>
          </a:p>
          <a:p>
            <a:pPr>
              <a:spcAft>
                <a:spcPts val="500"/>
              </a:spcAft>
              <a:defRPr sz="1500" b="0">
                <a:solidFill>
                  <a:srgbClr val="142C46"/>
                </a:solidFill>
                <a:latin typeface="Arial"/>
              </a:defRPr>
            </a:pPr>
            <a:r>
              <a:rPr cap="none"/>
              <a:t>Workload-specific tuning</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19 / 49</a:t>
            </a:r>
          </a:p>
        </p:txBody>
      </p:sp>
    </p:spTree>
    <p:extLst>
      <p:ext uri="{BB962C8B-B14F-4D97-AF65-F5344CB8AC3E}">
        <p14:creationId xmlns:p14="http://schemas.microsoft.com/office/powerpoint/2010/main" val="12465624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Architecture building blocks—not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664207"/>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Expert parallelism and communication strategies for large models.</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664207"/>
            <a:ext cx="3767328"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Different placement, batching and capacity choices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17520"/>
            <a:ext cx="3767328"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17520"/>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Use workload signals and latency objectives to guide scaling.</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Results depend on model, hardware, traffic and SLOs. Validate your own workload.</a:t>
            </a:r>
          </a:p>
        </p:txBody>
      </p:sp>
      <p:sp>
        <p:nvSpPr>
          <p:cNvPr id="18" name="TextBox 1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20 / 49</a:t>
            </a:r>
          </a:p>
        </p:txBody>
      </p:sp>
    </p:spTree>
    <p:extLst>
      <p:ext uri="{BB962C8B-B14F-4D97-AF65-F5344CB8AC3E}">
        <p14:creationId xmlns:p14="http://schemas.microsoft.com/office/powerpoint/2010/main" val="10464560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“well-lit paths”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Tested deployment patterns that make important trade-offs explicit</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709928"/>
            <a:ext cx="3767328"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63239"/>
            <a:ext cx="3767328"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63239"/>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TextBox 1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21 / 49</a:t>
            </a:r>
          </a:p>
        </p:txBody>
      </p:sp>
    </p:spTree>
    <p:extLst>
      <p:ext uri="{BB962C8B-B14F-4D97-AF65-F5344CB8AC3E}">
        <p14:creationId xmlns:p14="http://schemas.microsoft.com/office/powerpoint/2010/main" val="18811374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dirty="0" cap="none">
                <a:solidFill>
                  <a:srgbClr val="52677D"/>
                </a:solidFill>
                <a:latin typeface="Arial"/>
              </a:rPr>
              <a:t>An operator suite that automates LLM inference, fine-tuning &amp; RAG on Kubernetes.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fontScale="92500" lnSpcReduction="10000"/>
          </a:bodyPr>
          <a:lstStyle/>
          <a:p>
            <a:r>
              <a:rPr lang="en-US" sz="1300" b="1" dirty="0" cap="none">
                <a:solidFill>
                  <a:srgbClr val="142C46"/>
                </a:solidFill>
                <a:latin typeface="Arial"/>
              </a:rPr>
              <a:t>Model and GPU selection</a:t>
            </a:r>
            <a:br/>
            <a:r>
              <a:rPr cap="none" sz="1300">
                <a:solidFill>
                  <a:srgbClr val="142C46"/>
                </a:solidFill>
                <a:latin typeface="Arial"/>
              </a:rPr>
              <a:t>Node provisioning from model memory needs</a:t>
            </a:r>
            <a:br/>
            <a:r>
              <a:rPr cap="none" sz="1300">
                <a:solidFill>
                  <a:srgbClr val="142C46"/>
                </a:solidFill>
                <a:latin typeface="Arial"/>
              </a:rPr>
              <a:t>Model onboarding and local caching</a:t>
            </a:r>
            <a:br/>
            <a:r>
              <a:rPr cap="none" sz="1300">
                <a:solidFill>
                  <a:srgbClr val="142C46"/>
                </a:solidFill>
                <a:latin typeface="Arial"/>
              </a:rPr>
              <a:t>InferenceSet lifecycle and rolling upgrades</a:t>
            </a:r>
            <a:br/>
            <a:r>
              <a:rPr cap="none" sz="1300">
                <a:solidFill>
                  <a:srgbClr val="142C46"/>
                </a:solidFill>
                <a:latin typeface="Arial"/>
              </a:rPr>
              <a:t>KEDA-based workload scaling</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22 / 49</a:t>
            </a:r>
          </a:p>
        </p:txBody>
      </p:sp>
    </p:spTree>
    <p:extLst>
      <p:ext uri="{BB962C8B-B14F-4D97-AF65-F5344CB8AC3E}">
        <p14:creationId xmlns:p14="http://schemas.microsoft.com/office/powerpoint/2010/main" val="26212137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dirty="0" cap="none">
                <a:solidFill>
                  <a:srgbClr val="52677D"/>
                </a:solidFill>
                <a:latin typeface="Arial"/>
              </a:rPr>
              <a:t>Declare a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a:bodyPr>
          <a:lstStyle/>
          <a:p>
            <a:r>
              <a:rPr lang="en-US" sz="1200" dirty="0" cap="none">
                <a:solidFill>
                  <a:srgbClr val="142C46"/>
                </a:solidFill>
                <a:latin typeface="Consolas" panose="020B0609020204030204" pitchFamily="49" charset="0"/>
              </a:rPr>
              <a:t>apiVersion: kaito.sh/v1beta1</a:t>
            </a:r>
            <a:br/>
            <a:r>
              <a:rPr cap="none" sz="1200">
                <a:solidFill>
                  <a:srgbClr val="142C46"/>
                </a:solidFill>
                <a:latin typeface="Consolas"/>
              </a:rPr>
              <a:t>kind: InferenceSet</a:t>
            </a:r>
            <a:br/>
            <a:r>
              <a:rPr cap="none" sz="1200">
                <a:solidFill>
                  <a:srgbClr val="142C46"/>
                </a:solidFill>
                <a:latin typeface="Consolas"/>
              </a:rPr>
              <a:t>metadata:</a:t>
            </a:r>
            <a:br/>
            <a:r>
              <a:rPr cap="none" sz="1200">
                <a:solidFill>
                  <a:srgbClr val="142C46"/>
                </a:solidFill>
                <a:latin typeface="Consolas"/>
              </a:rPr>
              <a:t>  name: qwen3-coder-30b</a:t>
            </a:r>
            <a:br/>
            <a:r>
              <a:rPr cap="none" sz="1200">
                <a:solidFill>
                  <a:srgbClr val="142C46"/>
                </a:solidFill>
                <a:latin typeface="Consolas"/>
              </a:rPr>
              <a:t>spec:</a:t>
            </a:r>
            <a:br/>
            <a:r>
              <a:rPr cap="none" sz="1200">
                <a:solidFill>
                  <a:srgbClr val="142C46"/>
                </a:solidFill>
                <a:latin typeface="Consolas"/>
              </a:rPr>
              <a:t>  replicas: 3</a:t>
            </a:r>
            <a:br/>
            <a:r>
              <a:rPr cap="none" sz="1200">
                <a:solidFill>
                  <a:srgbClr val="142C46"/>
                </a:solidFill>
                <a:latin typeface="Consolas"/>
              </a:rPr>
              <a:t>  labelSelector:</a:t>
            </a:r>
            <a:br/>
            <a:r>
              <a:rPr cap="none" sz="1200">
                <a:solidFill>
                  <a:srgbClr val="142C46"/>
                </a:solidFill>
                <a:latin typeface="Consolas"/>
              </a:rPr>
              <a:t>    matchLabels:</a:t>
            </a:r>
            <a:br/>
            <a:r>
              <a:rPr cap="none" sz="1200">
                <a:solidFill>
                  <a:srgbClr val="142C46"/>
                </a:solidFill>
                <a:latin typeface="Consolas"/>
              </a:rPr>
              <a:t>      app: qwen3-coder-30b</a:t>
            </a:r>
            <a:br/>
            <a:r>
              <a:rPr cap="none" sz="1200">
                <a:solidFill>
                  <a:srgbClr val="142C46"/>
                </a:solidFill>
                <a:latin typeface="Consolas"/>
              </a:rPr>
              <a:t>  template:</a:t>
            </a:r>
            <a:br/>
            <a:r>
              <a:rPr cap="none" sz="1200">
                <a:solidFill>
                  <a:srgbClr val="142C46"/>
                </a:solidFill>
                <a:latin typeface="Consolas"/>
              </a:rPr>
              <a:t>    resource:</a:t>
            </a:r>
            <a:br/>
            <a:r>
              <a:rPr cap="none" sz="1200">
                <a:solidFill>
                  <a:srgbClr val="142C46"/>
                </a:solidFill>
                <a:latin typeface="Consolas"/>
              </a:rPr>
              <a:t>      instanceType: Standard_NC24ads_A100_v4   # &lt;- GPU SKU</a:t>
            </a:r>
            <a:br/>
            <a:r>
              <a:rPr cap="none" sz="1200">
                <a:solidFill>
                  <a:srgbClr val="142C46"/>
                </a:solidFill>
                <a:latin typeface="Consolas"/>
              </a:rPr>
              <a:t>    inference:</a:t>
            </a:r>
            <a:br/>
            <a:r>
              <a:rPr cap="none" sz="1200">
                <a:solidFill>
                  <a:srgbClr val="142C46"/>
                </a:solidFill>
                <a:latin typeface="Consolas"/>
              </a:rPr>
              <a:t>      preset:</a:t>
            </a:r>
            <a:br/>
            <a:r>
              <a:rPr cap="none" sz="1200">
                <a:solidFill>
                  <a:srgbClr val="142C46"/>
                </a:solidFill>
                <a:latin typeface="Consolas"/>
              </a:rPr>
              <a:t>        name: Qwen/Qwen3-Coder-30B-A3B-Instruct  # model</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23 / 49</a:t>
            </a:r>
          </a:p>
        </p:txBody>
      </p:sp>
    </p:spTree>
    <p:extLst>
      <p:ext uri="{BB962C8B-B14F-4D97-AF65-F5344CB8AC3E}">
        <p14:creationId xmlns:p14="http://schemas.microsoft.com/office/powerpoint/2010/main" val="17304667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Model size, context length and GPU memory determine the initial capacity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28216"/>
            <a:ext cx="2249424"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space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7288" y="1728216"/>
            <a:ext cx="2249424"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Fit model weights into</a:t>
            </a:r>
          </a:p>
          <a:p>
            <a:pPr>
              <a:spcAft>
                <a:spcPts val="500"/>
              </a:spcAft>
              <a:defRPr sz="1500" b="0">
                <a:solidFill>
                  <a:srgbClr val="142C46"/>
                </a:solidFill>
                <a:latin typeface="Arial"/>
              </a:defRPr>
            </a:pPr>
            <a:r>
              <a:rPr cap="none"/>
              <a:t>the usable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8504" y="1728216"/>
            <a:ext cx="2249424"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Map required GPUs to</a:t>
            </a:r>
          </a:p>
          <a:p>
            <a:pPr>
              <a:spcAft>
                <a:spcPts val="500"/>
              </a:spcAft>
              <a:defRPr sz="1500" b="0">
                <a:solidFill>
                  <a:srgbClr val="142C46"/>
                </a:solidFill>
                <a:latin typeface="Arial"/>
              </a:defRPr>
            </a:pPr>
            <a:r>
              <a:rPr cap="none"/>
              <a:t>GPUs per node.</a:t>
            </a:r>
          </a:p>
          <a:p>
            <a:pPr>
              <a:spcAft>
                <a:spcPts val="500"/>
              </a:spcAft>
              <a:defRPr sz="1500" b="0">
                <a:solidFill>
                  <a:srgbClr val="142C46"/>
                </a:solidFill>
                <a:latin typeface="Arial"/>
              </a:defRPr>
            </a:pPr>
            <a:r>
              <a:rPr cap="none"/>
              <a:t>Reconcile 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24 / 49</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Declare the topology once; separate orchestration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01368"/>
            <a:ext cx="3374136"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rIns="0" tIns="0" bIns="0">
            <a:spAutoFit/>
          </a:bodyPr>
          <a:lstStyle/>
          <a:p>
            <a:pPr>
              <a:spcAft>
                <a:spcPts val="500"/>
              </a:spcAft>
              <a:defRPr sz="1600" b="0">
                <a:solidFill>
                  <a:srgbClr val="142C46"/>
                </a:solidFill>
                <a:latin typeface="Arial"/>
              </a:defRPr>
            </a:pPr>
            <a:r>
              <a:rPr cap="none"/>
              <a:t>One model and endpoint</a:t>
            </a:r>
          </a:p>
          <a:p>
            <a:pPr>
              <a:spcAft>
                <a:spcPts val="500"/>
              </a:spcAft>
              <a:defRPr sz="1600" b="0">
                <a:solidFill>
                  <a:srgbClr val="142C46"/>
                </a:solidFill>
                <a:latin typeface="Arial"/>
              </a:defRPr>
            </a:pPr>
            <a:r>
              <a:rPr cap="none"/>
              <a:t>Independent prefill and decode roles</a:t>
            </a:r>
          </a:p>
          <a:p>
            <a:pPr>
              <a:spcAft>
                <a:spcPts val="500"/>
              </a:spcAft>
              <a:defRPr sz="1600" b="0">
                <a:solidFill>
                  <a:srgbClr val="142C46"/>
                </a:solidFill>
                <a:latin typeface="Arial"/>
              </a:defRPr>
            </a:pPr>
            <a:r>
              <a:rPr cap="none"/>
              <a:t>Role-specific placement and replicas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0288" y="1609344"/>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MultiRoleInference and lifecycle</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2267712"/>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InferencePool contract</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0288" y="2926079"/>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Endpoint selection and sidecar</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3584448"/>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Execution and direct KV transfer</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Declare topology → select workers → coordinate the request → transfer KV directly.</a:t>
            </a:r>
          </a:p>
        </p:txBody>
      </p:sp>
      <p:sp>
        <p:nvSpPr>
          <p:cNvPr id="21" name="TextBox 2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TextBox 2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25 / 49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ROUTING  /  KAITO + llm-d</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llm-d Router brings role-aware decisions</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the serving path executes the decision.</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Model-aware selection</a:t>
            </a:r>
          </a:p>
          <a:p>
            <a:pPr>
              <a:spcAft>
                <a:spcPts val="150"/>
              </a:spcAft>
              <a:defRPr sz="1600" b="0">
                <a:solidFill>
                  <a:srgbClr val="5B6E80"/>
                </a:solidFill>
                <a:latin typeface="Arial"/>
              </a:defRPr>
            </a:pPr>
            <a:r>
              <a:rPr sz="1200" cap="none">
                <a:latin typeface="Arial"/>
              </a:rPr>
              <a:t>across 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KV-cache-aware logic</a:t>
            </a:r>
          </a:p>
          <a:p>
            <a:pPr>
              <a:spcAft>
                <a:spcPts val="150"/>
              </a:spcAft>
              <a:defRPr sz="1600" b="0">
                <a:solidFill>
                  <a:srgbClr val="5B6E80"/>
                </a:solidFill>
                <a:latin typeface="Arial"/>
              </a:defRPr>
            </a:pPr>
            <a:r>
              <a:rPr sz="1200" cap="none">
                <a:latin typeface="Arial"/>
              </a:rPr>
              <a:t>and P/D-aware scheduling.</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 plugin surface for</a:t>
            </a:r>
          </a:p>
          <a:p>
            <a:pPr>
              <a:spcAft>
                <a:spcPts val="150"/>
              </a:spcAft>
              <a:defRPr sz="1600" b="0">
                <a:solidFill>
                  <a:srgbClr val="5B6E80"/>
                </a:solidFill>
                <a:latin typeface="Arial"/>
              </a:defRPr>
            </a:pPr>
            <a:r>
              <a:rPr sz="1200" cap="none">
                <a:latin typeface="Arial"/>
              </a:rPr>
              <a:t>future scheduling policy.</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builds on llm-d’s routing intelligence — it does not invent a second routing engine.</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26 / 49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RESPONSIBILITIES  /  KAITO + llm-d</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MultiRoleInference →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Resource generation • ownership •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InferencePool + gateway integration</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Kubernetes API surface • backend discovery</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EPP + P/D-aware scheduling</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Endpoint picking •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27 / 49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ARCHITECTURE  /  KAITO + llm-d</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Read the serving path left to right; endpoint selection is an out-of-band decision.</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sees one endpoint; KV data never needs to pass through the gateway.</a:t>
            </a:r>
          </a:p>
        </p:txBody>
      </p:sp>
      <p:sp>
        <p:nvSpPr>
          <p:cNvPr id="45" name="TextBox 4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TextBox 4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28 / 49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DECLARATIVE API  /  KAITO + llm-d</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dirty="0" cap="none">
                <a:solidFill>
                  <a:srgbClr val="142C46"/>
                </a:solidFill>
                <a:latin typeface="Arial"/>
              </a:rPr>
              <a:t>One MultiRoleInference defines the topology</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dirty="0" cap="none">
                <a:solidFill>
                  <a:srgbClr val="52677D"/>
                </a:solidFill>
                <a:latin typeface="Arial"/>
              </a:rPr>
              <a:t>One model, distinct instance types: 1 A100 prefill replica + 2 H100 decode replicas.</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a:latin typeface="Consolas"/>
              </a:rPr>
              <a:t>apiVersion: kaito.sh/v1alpha1</a:t>
            </a:r>
          </a:p>
          <a:p>
            <a:pPr>
              <a:lnSpc>
                <a:spcPts val="1223"/>
              </a:lnSpc>
              <a:defRPr sz="1400" b="0">
                <a:solidFill>
                  <a:srgbClr val="FFFFFF"/>
                </a:solidFill>
                <a:latin typeface="Consolas"/>
              </a:defRPr>
            </a:pPr>
            <a:r>
              <a:rPr sz="1050" cap="none">
                <a:latin typeface="Consolas"/>
              </a:rPr>
              <a:t>kind: MultiRoleInference</a:t>
            </a:r>
          </a:p>
          <a:p>
            <a:pPr>
              <a:lnSpc>
                <a:spcPts val="1223"/>
              </a:lnSpc>
              <a:defRPr sz="1400" b="0">
                <a:solidFill>
                  <a:srgbClr val="FFFFFF"/>
                </a:solidFill>
                <a:latin typeface="Consolas"/>
              </a:defRPr>
            </a:pPr>
            <a:r>
              <a:rPr sz="1050" cap="none">
                <a:latin typeface="Consolas"/>
              </a:rPr>
              <a:t>metadata:</a:t>
            </a:r>
          </a:p>
          <a:p>
            <a:pPr>
              <a:lnSpc>
                <a:spcPts val="1223"/>
              </a:lnSpc>
              <a:defRPr sz="1400" b="0">
                <a:solidFill>
                  <a:srgbClr val="FFFFFF"/>
                </a:solidFill>
                <a:latin typeface="Consolas"/>
              </a:defRPr>
            </a:pPr>
            <a:r>
              <a:rPr sz="1050" cap="none">
                <a:latin typeface="Consolas"/>
              </a:rPr>
              <a:t>  name: qwen-3-8-27b</a:t>
            </a:r>
          </a:p>
          <a:p>
            <a:pPr>
              <a:lnSpc>
                <a:spcPts val="1223"/>
              </a:lnSpc>
              <a:defRPr sz="1400" b="0">
                <a:solidFill>
                  <a:srgbClr val="FFFFFF"/>
                </a:solidFill>
                <a:latin typeface="Consolas"/>
              </a:defRPr>
            </a:pPr>
            <a:r>
              <a:rPr sz="1050" cap="none">
                <a:latin typeface="Consolas"/>
              </a:rPr>
              <a:t>spec:</a:t>
            </a:r>
          </a:p>
          <a:p>
            <a:pPr>
              <a:lnSpc>
                <a:spcPts val="1223"/>
              </a:lnSpc>
              <a:defRPr sz="1400" b="0">
                <a:solidFill>
                  <a:srgbClr val="FFFFFF"/>
                </a:solidFill>
                <a:latin typeface="Consolas"/>
              </a:defRPr>
            </a:pPr>
            <a:r>
              <a:rPr sz="1050" cap="none">
                <a:latin typeface="Consolas"/>
              </a:rPr>
              <a:t>  model:</a:t>
            </a:r>
          </a:p>
          <a:p>
            <a:pPr>
              <a:lnSpc>
                <a:spcPts val="1223"/>
              </a:lnSpc>
              <a:defRPr sz="1400" b="0">
                <a:solidFill>
                  <a:srgbClr val="FFFFFF"/>
                </a:solidFill>
                <a:latin typeface="Consolas"/>
              </a:defRPr>
            </a:pPr>
            <a:r>
              <a:rPr sz="1050" cap="none">
                <a:latin typeface="Consolas"/>
              </a:rPr>
              <a:t>    name: Qwen/Qwen3.8-27B</a:t>
            </a:r>
          </a:p>
          <a:p>
            <a:pPr>
              <a:lnSpc>
                <a:spcPts val="1223"/>
              </a:lnSpc>
              <a:defRPr sz="1400" b="0">
                <a:solidFill>
                  <a:srgbClr val="FFFFFF"/>
                </a:solidFill>
                <a:latin typeface="Consolas"/>
              </a:defRPr>
            </a:pPr>
            <a:r>
              <a:rPr sz="1050" cap="none">
                <a:latin typeface="Consolas"/>
              </a:rPr>
              <a:t>  roles:</a:t>
            </a:r>
          </a:p>
          <a:p>
            <a:pPr>
              <a:lnSpc>
                <a:spcPts val="1223"/>
              </a:lnSpc>
              <a:defRPr sz="1400" b="0">
                <a:solidFill>
                  <a:srgbClr val="FFFFFF"/>
                </a:solidFill>
                <a:latin typeface="Consolas"/>
              </a:defRPr>
            </a:pPr>
            <a:r>
              <a:rPr sz="1050" cap="none">
                <a:latin typeface="Consolas"/>
              </a:rPr>
              <a:t>    - type: prefill</a:t>
            </a:r>
          </a:p>
          <a:p>
            <a:pPr>
              <a:lnSpc>
                <a:spcPts val="1223"/>
              </a:lnSpc>
              <a:defRPr sz="1400" b="0">
                <a:solidFill>
                  <a:srgbClr val="FFFFFF"/>
                </a:solidFill>
                <a:latin typeface="Consolas"/>
              </a:defRPr>
            </a:pPr>
            <a:r>
              <a:rPr sz="1050" cap="none">
                <a:latin typeface="Consolas"/>
              </a:rPr>
              <a:t>      replicas: 1</a:t>
            </a:r>
          </a:p>
          <a:p>
            <a:pPr>
              <a:lnSpc>
                <a:spcPts val="1223"/>
              </a:lnSpc>
              <a:defRPr sz="1400" b="0">
                <a:solidFill>
                  <a:srgbClr val="FFFFFF"/>
                </a:solidFill>
                <a:latin typeface="Consolas"/>
              </a:defRPr>
            </a:pPr>
            <a:r>
              <a:rPr sz="1050" cap="none">
                <a:latin typeface="Consolas"/>
              </a:rPr>
              <a:t>      instanceType: Standard_NC24ads_A100_v4</a:t>
            </a:r>
          </a:p>
          <a:p>
            <a:pPr>
              <a:lnSpc>
                <a:spcPts val="1223"/>
              </a:lnSpc>
              <a:defRPr sz="1400" b="0">
                <a:solidFill>
                  <a:srgbClr val="FFFFFF"/>
                </a:solidFill>
                <a:latin typeface="Consolas"/>
              </a:defRPr>
            </a:pPr>
            <a:r>
              <a:rPr sz="1050" cap="none">
                <a:latin typeface="Consolas"/>
              </a:rPr>
              <a:t>    - type: decode</a:t>
            </a:r>
          </a:p>
          <a:p>
            <a:pPr>
              <a:lnSpc>
                <a:spcPts val="1223"/>
              </a:lnSpc>
              <a:defRPr sz="1400" b="0">
                <a:solidFill>
                  <a:srgbClr val="FFFFFF"/>
                </a:solidFill>
                <a:latin typeface="Consolas"/>
              </a:defRPr>
            </a:pPr>
            <a:r>
              <a:rPr sz="1050" cap="none">
                <a:latin typeface="Consolas"/>
              </a:rPr>
              <a:t>      replicas: 2</a:t>
            </a:r>
          </a:p>
          <a:p>
            <a:pPr>
              <a:lnSpc>
                <a:spcPts val="1223"/>
              </a:lnSpc>
              <a:defRPr sz="1400" b="0">
                <a:solidFill>
                  <a:srgbClr val="FFFFFF"/>
                </a:solidFill>
                <a:latin typeface="Consolas"/>
              </a:defRPr>
            </a:pPr>
            <a:r>
              <a:rPr sz="1050" cap="none">
                <a:latin typeface="Consolas"/>
              </a:rPr>
              <a:t>      instanceType: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Same model, independent role placement — A100 for prefill; H100 for decode.</a:t>
            </a:r>
          </a:p>
        </p:txBody>
      </p:sp>
      <p:sp>
        <p:nvSpPr>
          <p:cNvPr id="31" name="TextBox 3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TextBox 3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29 / 49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RECONCILIATION  /  KAITO + llm-d</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KAITO generates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declarative topology becomes owned resources, runtime wiring and a shared routing contract.</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Role labels</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Routing sidecar injection</a:t>
            </a:r>
          </a:p>
          <a:p>
            <a:pPr>
              <a:spcAft>
                <a:spcPts val="150"/>
              </a:spcAft>
              <a:defRPr sz="1700" b="0">
                <a:solidFill>
                  <a:srgbClr val="5B6E80"/>
                </a:solidFill>
                <a:latin typeface="Arial"/>
              </a:defRPr>
            </a:pPr>
            <a:r>
              <a:rPr sz="1275" cap="none">
                <a:latin typeface="Arial"/>
              </a:rPr>
              <a:t>NIXL + local vLLM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Services + targetPorts</a:t>
            </a:r>
          </a:p>
          <a:p>
            <a:pPr>
              <a:spcAft>
                <a:spcPts val="150"/>
              </a:spcAft>
              <a:defRPr sz="1700" b="0">
                <a:solidFill>
                  <a:srgbClr val="5B6E80"/>
                </a:solidFill>
                <a:latin typeface="Arial"/>
              </a:defRPr>
            </a:pPr>
            <a:r>
              <a:rPr sz="1275" cap="none">
                <a:latin typeface="Arial"/>
              </a:rPr>
              <a:t>Endpoint selection config</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Shared invariants: ownership references • role consistency • labels • ports • lifecycle</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Not just generated YAML: controller-owned relationships and consistent runtime contracts.</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30 / 49</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REQUEST LIFECYCLE  /  KAITO + llm-d</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Remote prefill when needed; local decode on the selected worker.</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the request; KV data moves directly between the two runtimes.</a:t>
            </a:r>
          </a:p>
        </p:txBody>
      </p:sp>
      <p:sp>
        <p:nvSpPr>
          <p:cNvPr id="41" name="TextBox 4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TextBox 4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31 / 49</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POD BOUNDARY  /  KAITO + llm-d</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Why the sidecar belongs on the decode pod</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single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Coordination lives in the sidecar. KV transport terminates at the decode runtime.</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32 / 49</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lIns="0" rIns="0" tIns="0" bIns="0" wrap="none">
            <a:normAutofit/>
          </a:bodyPr>
          <a:lstStyle/>
          <a:p>
            <a:pPr lvl="0">
              <a:spcAft>
                <a:spcPts val="400"/>
              </a:spcAft>
              <a:buClr>
                <a:srgbClr val="000000"/>
              </a:buClr>
              <a:buSzPts val="1200"/>
              <a:defRPr/>
            </a:pPr>
            <a:r>
              <a:rPr lang="en" altLang="zh-CN" sz="2100" dirty="0" err="1" cap="none" b="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186569"/>
            <a:ext cx="4147200" cy="1469603"/>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sz="1100" dirty="0" cap="none">
                <a:latin typeface="Arial"/>
                <a:sym typeface="IBM Plex Sans Light"/>
              </a:rPr>
              <a:t>Separate requests for the prefill and decode stages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Dynamically decided  </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Dedicated Prefill and Decode nodes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Optimize resource allocation, utilization, and scheduling</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Easier to meet TTFT and ITL SLO requirements</a:t>
            </a:r>
            <a:endParaRPr sz="1100" dirty="0">
              <a:sym typeface="IBM Plex Sans Light"/>
            </a:endParaRPr>
          </a:p>
          <a:p>
            <a:pPr marL="0" marR="0" lvl="0" indent="101600" algn="l" defTabSz="914400" rtl="0" eaLnBrk="1" fontAlgn="auto" latinLnBrk="0" hangingPunct="1">
              <a:lnSpc>
                <a:spcPct val="100000"/>
              </a:lnSpc>
              <a:spcBef>
                <a:spcPts val="600"/>
              </a:spcBef>
              <a:spcAft>
                <a:spcPts val="0"/>
              </a:spcAft>
              <a:buClr>
                <a:srgbClr val="000000"/>
              </a:buClr>
              <a:buSzPts val="1600"/>
              <a:buFont typeface="Noto Sans Symbols"/>
              <a:buNone/>
              <a:tabLst/>
              <a:defRPr/>
            </a:pPr>
            <a:endParaRPr sz="1100"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TextBox 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33 / 49</a:t>
            </a:r>
          </a:p>
        </p:txBody>
      </p:sp>
    </p:spTree>
    <p:extLst>
      <p:ext uri="{BB962C8B-B14F-4D97-AF65-F5344CB8AC3E}">
        <p14:creationId xmlns:p14="http://schemas.microsoft.com/office/powerpoint/2010/main" val="12328865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Efficient KV transfer with vLLM and NIXL</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KV data moves between runtimes—not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2029967"/>
            <a:ext cx="2231136"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Prompt KV state</a:t>
            </a:r>
          </a:p>
          <a:p>
            <a:pPr>
              <a:spcAft>
                <a:spcPts val="500"/>
              </a:spcAft>
              <a:defRPr sz="1700" b="0">
                <a:solidFill>
                  <a:srgbClr val="142C46"/>
                </a:solidFill>
                <a:latin typeface="Arial"/>
              </a:defRPr>
            </a:pPr>
            <a:r>
              <a:rPr cap="none"/>
              <a:t>Source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45352" y="2029967"/>
            <a:ext cx="2231136"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Reuse received KV</a:t>
            </a:r>
          </a:p>
          <a:p>
            <a:pPr>
              <a:spcAft>
                <a:spcPts val="500"/>
              </a:spcAft>
              <a:defRPr sz="1700" b="0">
                <a:solidFill>
                  <a:srgbClr val="142C46"/>
                </a:solidFill>
                <a:latin typeface="Arial"/>
              </a:defRPr>
            </a:pPr>
            <a:r>
              <a:rPr cap="none"/>
              <a:t>Continue generation</a:t>
            </a:r>
          </a:p>
        </p:txBody>
      </p:sp>
      <p:sp>
        <p:nvSpPr>
          <p:cNvPr id="10" name="TextBox 9"/>
          <p:cNvSpPr txBox="1"/>
          <p:nvPr/>
        </p:nvSpPr>
        <p:spPr>
          <a:xfrm>
            <a:off x="3310128" y="2176272"/>
            <a:ext cx="2542032" cy="457200"/>
          </a:xfrm>
          <a:prstGeom prst="rect">
            <a:avLst/>
          </a:prstGeom>
          <a:noFill/>
        </p:spPr>
        <p:txBody>
          <a:bodyPr wrap="square" lIns="0" rIns="0" t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rIns="0" tIns="0" bIns="0">
            <a:spAutoFit/>
          </a:bodyPr>
          <a:lstStyle/>
          <a:p>
            <a:pPr>
              <a:spcAft>
                <a:spcPts val="500"/>
              </a:spcAft>
              <a:defRPr sz="1100" b="0">
                <a:solidFill>
                  <a:srgbClr val="52677D"/>
                </a:solidFill>
                <a:latin typeface="Arial"/>
              </a:defRPr>
            </a:pPr>
            <a:r>
              <a:rPr cap="none"/>
              <a:t>NIXL +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rIns="0" tIns="0" bIns="0">
            <a:spAutoFit/>
          </a:bodyPr>
          <a:lstStyle/>
          <a:p>
            <a:pPr>
              <a:spcAft>
                <a:spcPts val="500"/>
              </a:spcAft>
              <a:defRPr sz="1400" b="0">
                <a:solidFill>
                  <a:srgbClr val="142C46"/>
                </a:solidFill>
                <a:latin typeface="Arial"/>
              </a:defRPr>
            </a:pPr>
            <a:r>
              <a:rPr cap="none"/>
              <a:t>GPU-direct RDMA requires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34 / 49</a:t>
            </a:r>
          </a:p>
        </p:txBody>
      </p:sp>
    </p:spTree>
    <p:extLst>
      <p:ext uri="{BB962C8B-B14F-4D97-AF65-F5344CB8AC3E}">
        <p14:creationId xmlns:p14="http://schemas.microsoft.com/office/powerpoint/2010/main" val="23995013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err="1" cap="none" b="1">
                <a:solidFill>
                  <a:srgbClr val="142C46"/>
                </a:solidFill>
                <a:latin typeface="Arial"/>
              </a:rPr>
              <a:t>Autoscale</a:t>
            </a:r>
            <a:r>
              <a:rPr sz="2100" dirty="0" cap="none" b="1">
                <a:solidFill>
                  <a:srgbClr val="142C46"/>
                </a:solidFill>
                <a:latin typeface="Arial"/>
              </a:rPr>
              <a:t> the role that is actually saturated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Different bottlenecks deserve different signals and scale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Independent scaling only helps when the metrics match each role.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prompt latency</a:t>
            </a:r>
          </a:p>
          <a:p>
            <a:pPr>
              <a:spcAft>
                <a:spcPts val="375"/>
              </a:spcAft>
              <a:defRPr sz="2200" b="0">
                <a:solidFill>
                  <a:srgbClr val="172941"/>
                </a:solidFill>
                <a:latin typeface="Arial"/>
              </a:defRPr>
            </a:pPr>
            <a:r>
              <a:rPr sz="1650" cap="none">
                <a:latin typeface="Arial"/>
              </a:rPr>
              <a:t>and time to first token.</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Primary signal: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token delivery</a:t>
            </a:r>
          </a:p>
          <a:p>
            <a:pPr>
              <a:spcAft>
                <a:spcPts val="375"/>
              </a:spcAft>
              <a:defRPr sz="2200" b="0">
                <a:solidFill>
                  <a:srgbClr val="172941"/>
                </a:solidFill>
                <a:latin typeface="Arial"/>
              </a:defRPr>
            </a:pPr>
            <a:r>
              <a:rPr sz="1650" cap="none">
                <a:latin typeface="Arial"/>
              </a:rPr>
              <a:t>and sustained throughput.</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Primary signal: vLLM running requests</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35 / 49</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Today: KEDA targets the InferenceSet scale API</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Documented KAITO examples cover both scheduled and metric-based scaling.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scale target is the InferenceSet—not a manually scaled workload Pod.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Documented queue signal</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36 / 49</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KAITO autoscaling: keda-</a:t>
            </a:r>
            <a:r>
              <a:rPr lang="en-US" dirty="0" err="1" cap="none" sz="2100" b="1">
                <a:solidFill>
                  <a:srgbClr val="142C46"/>
                </a:solidFill>
                <a:latin typeface="Arial"/>
              </a:rPr>
              <a:t>kaito</a:t>
            </a:r>
            <a:r>
              <a:rPr lang="en-US" dirty="0" cap="none" sz="2100" b="1">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fontScale="92500"/>
          </a:bodyPr>
          <a:lstStyle/>
          <a:p>
            <a:r>
              <a:rPr lang="en-US" sz="1200" b="1" dirty="0" cap="none">
                <a:solidFill>
                  <a:srgbClr val="52677D"/>
                </a:solidFill>
                <a:latin typeface="Arial"/>
              </a:rPr>
              <a:t>KEDA-driven scaling with metrics scraped directly from vLLM</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r>
              <a:rPr lang="en-US" sz="1300" b="1" dirty="0" cap="none">
                <a:solidFill>
                  <a:srgbClr val="142C46"/>
                </a:solidFill>
                <a:latin typeface="Arial"/>
              </a:rPr>
              <a:t>What it adds</a:t>
            </a:r>
            <a:br/>
            <a:r>
              <a:rPr cap="none" sz="1300">
                <a:solidFill>
                  <a:srgbClr val="142C46"/>
                </a:solidFill>
                <a:latin typeface="Arial"/>
              </a:rPr>
              <a:t>No Prometheus required</a:t>
            </a:r>
            <a:br/>
            <a:r>
              <a:rPr cap="none" sz="1300">
                <a:solidFill>
                  <a:srgbClr val="142C46"/>
                </a:solidFill>
                <a:latin typeface="Arial"/>
              </a:rPr>
              <a:t>Direct vLLM metric scraping</a:t>
            </a:r>
            <a:br/>
            <a:r>
              <a:rPr cap="none" sz="1300">
                <a:solidFill>
                  <a:srgbClr val="142C46"/>
                </a:solidFill>
                <a:latin typeface="Arial"/>
              </a:rPr>
              <a:t>Conservative replica steps</a:t>
            </a:r>
            <a:br/>
            <a:r>
              <a:rPr cap="none" sz="1300">
                <a:solidFill>
                  <a:srgbClr val="142C46"/>
                </a:solidFill>
                <a:latin typeface="Arial"/>
              </a:rPr>
              <a:t>Queue and latency signals</a:t>
            </a:r>
            <a:br/>
            <a:r>
              <a:rPr cap="none" sz="1300">
                <a:solidFill>
                  <a:srgbClr val="142C46"/>
                </a:solidFill>
                <a:latin typeface="Arial"/>
              </a:rPr>
              <a:t>Configurable AND policy</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37 / 49</a:t>
            </a:r>
          </a:p>
        </p:txBody>
      </p:sp>
    </p:spTree>
    <p:extLst>
      <p:ext uri="{BB962C8B-B14F-4D97-AF65-F5344CB8AC3E}">
        <p14:creationId xmlns:p14="http://schemas.microsoft.com/office/powerpoint/2010/main" val="17103403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Today: explicit tuning. Future direction: fewer knobs.</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46504"/>
            <a:ext cx="3749039"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Available configuration</a:t>
            </a:r>
          </a:p>
        </p:txBody>
      </p:sp>
      <p:sp>
        <p:nvSpPr>
          <p:cNvPr id="6" name="TextBox 5"/>
          <p:cNvSpPr txBox="1"/>
          <p:nvPr/>
        </p:nvSpPr>
        <p:spPr>
          <a:xfrm>
            <a:off x="576072" y="2221991"/>
            <a:ext cx="3749039" cy="1773936"/>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Select queue and latency metrics</a:t>
            </a:r>
          </a:p>
          <a:p>
            <a:pPr>
              <a:spcAft>
                <a:spcPts val="500"/>
              </a:spcAft>
              <a:defRPr sz="1500" b="0">
                <a:solidFill>
                  <a:srgbClr val="142C46"/>
                </a:solidFill>
                <a:latin typeface="Arial"/>
              </a:defRPr>
            </a:pPr>
            <a:r>
              <a:rPr cap="none"/>
              <a:t>Set thresholds and aggregation windows</a:t>
            </a:r>
          </a:p>
          <a:p>
            <a:pPr>
              <a:spcAft>
                <a:spcPts val="500"/>
              </a:spcAft>
              <a:defRPr sz="1500" b="0">
                <a:solidFill>
                  <a:srgbClr val="142C46"/>
                </a:solidFill>
                <a:latin typeface="Arial"/>
              </a:defRPr>
            </a:pPr>
            <a:r>
              <a:rPr cap="none"/>
              <a:t>Choose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46504"/>
            <a:ext cx="3749039"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against the model and workload</a:t>
            </a:r>
          </a:p>
          <a:p>
            <a:pPr>
              <a:spcAft>
                <a:spcPts val="500"/>
              </a:spcAft>
              <a:defRPr sz="1500" b="0">
                <a:solidFill>
                  <a:srgbClr val="142C46"/>
                </a:solidFill>
                <a:latin typeface="Arial"/>
              </a:defRPr>
            </a:pPr>
            <a:r>
              <a:rPr cap="none"/>
              <a:t>Not a shipped auto-tuning guarantee</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Annotations express intent; controllers still create and manage scaling resources.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38 / 49</a:t>
            </a:r>
          </a:p>
        </p:txBody>
      </p:sp>
    </p:spTree>
    <p:extLst>
      <p:ext uri="{BB962C8B-B14F-4D97-AF65-F5344CB8AC3E}">
        <p14:creationId xmlns:p14="http://schemas.microsoft.com/office/powerpoint/2010/main" val="33449363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Two independent control loops, one logical service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Conceptual design: validate signals and thresholds for the actual workload.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Add stabilization, warm-up awareness, and safe scale-down behavior to each loop.</a:t>
            </a:r>
          </a:p>
        </p:txBody>
      </p:sp>
      <p:sp>
        <p:nvSpPr>
          <p:cNvPr id="47" name="TextBox 4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TextBox 4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39 / 49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service, independently managed role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Coordinate P/D at the service level; make capacity decisions separately for each role.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Design pattern / per-role control</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Prefill: latency objective</a:t>
            </a:r>
          </a:p>
          <a:p>
            <a:pPr algn="ctr">
              <a:spcAft>
                <a:spcPts val="375"/>
              </a:spcAft>
              <a:defRPr sz="1400" b="0">
                <a:solidFill>
                  <a:srgbClr val="586A80"/>
                </a:solidFill>
                <a:latin typeface="Arial"/>
              </a:defRPr>
            </a:pPr>
            <a:r>
              <a:rPr sz="1050" cap="none">
                <a:latin typeface="Arial"/>
              </a:rPr>
              <a:t>Decode: delivery objective</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Independent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TextBox 3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40 / 49</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Independent feedback loops connect role-specific load to role-specific serving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Signals, thresholds and bounds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One controller per target</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model-ready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TextBox 5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41 / 49</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dirty="0" cap="none" b="1">
                <a:solidFill>
                  <a:srgbClr val="142C46"/>
                </a:solidFill>
                <a:latin typeface="Arial"/>
              </a:rPr>
              <a:t>Two native gauges, two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per-replica role aggregation; tune thresholds against the deployed model and workload.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thresholds only. Verify actual /metrics output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a:latin typeface="Arial"/>
              </a:rPr>
              <a:t>vllm:num_requests_waiting</a:t>
            </a: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Queue inside the prefill engine.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a:latin typeface="Arial"/>
              </a:rPr>
              <a:t>vllm:num_requests_running</a:t>
            </a: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Requests in decode execution batches.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42 / 49</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dirty="0" cap="none">
                <a:latin typeface="Arial"/>
              </a:rPr>
              <a:t>04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cap="none" b="1">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the same safety contract, but tune each role against its own workload and objective.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policy—not universal tuning.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TextBox 4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43 / 49</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Safe autoscaling starts with ownership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happy path is small. Correct handoff and failure behavior make it operable.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One policy owns replica count</a:t>
            </a:r>
          </a:p>
          <a:p>
            <a:pPr>
              <a:spcAft>
                <a:spcPts val="375"/>
              </a:spcAft>
              <a:defRPr sz="1700" b="0">
                <a:solidFill>
                  <a:srgbClr val="172941"/>
                </a:solidFill>
                <a:latin typeface="Arial"/>
              </a:defRPr>
            </a:pPr>
            <a:r>
              <a:rPr sz="1275" cap="none">
                <a:latin typeface="Arial"/>
              </a:rPr>
              <a:t>Separate targets for P and D</a:t>
            </a:r>
          </a:p>
          <a:p>
            <a:pPr>
              <a:spcAft>
                <a:spcPts val="375"/>
              </a:spcAft>
              <a:defRPr sz="1700" b="0">
                <a:solidFill>
                  <a:srgbClr val="172941"/>
                </a:solidFill>
                <a:latin typeface="Arial"/>
              </a:defRPr>
            </a:pPr>
            <a:r>
              <a:rPr sz="1275" cap="none">
                <a:latin typeface="Arial"/>
              </a:rPr>
              <a:t>No competing autoscalers</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On failure: hold + report</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On missing or invalid signals: hold decisions and report the problem. Missing is not zero.</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44 / 49</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Derived signals add context to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 native vLLM metrics to understand KV utilization, latency and throughput.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High or low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Candidate downscale guard</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Minimum free fraction;</a:t>
            </a:r>
          </a:p>
          <a:p>
            <a:pPr>
              <a:spcAft>
                <a:spcPts val="375"/>
              </a:spcAft>
              <a:defRPr sz="1500" b="0">
                <a:solidFill>
                  <a:srgbClr val="172941"/>
                </a:solidFill>
                <a:latin typeface="Arial"/>
              </a:defRPr>
            </a:pPr>
            <a:r>
              <a:rPr sz="1125" cap="none">
                <a:latin typeface="Arial"/>
              </a:rPr>
              <a:t>not effective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Latency tail; tune prefill policy</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Output throughput;</a:t>
            </a:r>
          </a:p>
          <a:p>
            <a:pPr>
              <a:spcAft>
                <a:spcPts val="375"/>
              </a:spcAft>
              <a:defRPr sz="1500" b="0">
                <a:solidFill>
                  <a:srgbClr val="172941"/>
                </a:solidFill>
                <a:latin typeface="Arial"/>
              </a:defRPr>
            </a:pPr>
            <a:r>
              <a:rPr sz="1125" cap="none">
                <a:latin typeface="Arial"/>
              </a:rPr>
              <a:t>observe and benchmark</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45 / 49</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Proposed MRI policy: independent role decisions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Illustrative design—not a ready-to-apply API. Full example and schema are in the notes.</a:t>
            </a:r>
          </a:p>
        </p:txBody>
      </p:sp>
      <p:sp>
        <p:nvSpPr>
          <p:cNvPr id="4" name="Rounded Rectangle 3"/>
          <p:cNvSpPr/>
          <p:nvPr/>
        </p:nvSpPr>
        <p:spPr>
          <a:xfrm>
            <a:off x="41148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49039"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 policy</a:t>
            </a:r>
          </a:p>
        </p:txBody>
      </p:sp>
      <p:sp>
        <p:nvSpPr>
          <p:cNvPr id="6" name="TextBox 5"/>
          <p:cNvSpPr txBox="1"/>
          <p:nvPr/>
        </p:nvSpPr>
        <p:spPr>
          <a:xfrm>
            <a:off x="576072" y="2185415"/>
            <a:ext cx="3749039" cy="1792223"/>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Signal: average waiting requests</a:t>
            </a:r>
          </a:p>
          <a:p>
            <a:pPr>
              <a:spcAft>
                <a:spcPts val="500"/>
              </a:spcAft>
              <a:defRPr sz="1500" b="0">
                <a:solidFill>
                  <a:srgbClr val="142C46"/>
                </a:solidFill>
                <a:latin typeface="Arial"/>
              </a:defRPr>
            </a:pPr>
            <a:r>
              <a:rPr cap="none"/>
              <a:t>Replica range: 1–8</a:t>
            </a:r>
          </a:p>
          <a:p>
            <a:pPr>
              <a:spcAft>
                <a:spcPts val="500"/>
              </a:spcAft>
              <a:defRPr sz="1500" b="0">
                <a:solidFill>
                  <a:srgbClr val="142C46"/>
                </a:solidFill>
                <a:latin typeface="Arial"/>
              </a:defRPr>
            </a:pPr>
            <a:r>
              <a:rPr cap="none"/>
              <a:t>Scale up above 8; down below 1</a:t>
            </a:r>
          </a:p>
          <a:p>
            <a:pPr>
              <a:spcAft>
                <a:spcPts val="500"/>
              </a:spcAft>
              <a:defRPr sz="1500" b="0">
                <a:solidFill>
                  <a:srgbClr val="142C46"/>
                </a:solidFill>
                <a:latin typeface="Arial"/>
              </a:defRPr>
            </a:pPr>
            <a:r>
              <a:rPr cap="none"/>
              <a:t>At waiting = 12: scale up</a:t>
            </a:r>
          </a:p>
        </p:txBody>
      </p:sp>
      <p:sp>
        <p:nvSpPr>
          <p:cNvPr id="7" name="Rounded Rectangle 6"/>
          <p:cNvSpPr/>
          <p:nvPr/>
        </p:nvSpPr>
        <p:spPr>
          <a:xfrm>
            <a:off x="466344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09928"/>
            <a:ext cx="3749039"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Decode policy</a:t>
            </a:r>
          </a:p>
        </p:txBody>
      </p:sp>
      <p:sp>
        <p:nvSpPr>
          <p:cNvPr id="9" name="TextBox 8"/>
          <p:cNvSpPr txBox="1"/>
          <p:nvPr/>
        </p:nvSpPr>
        <p:spPr>
          <a:xfrm>
            <a:off x="4828031" y="2185415"/>
            <a:ext cx="3749039" cy="1792223"/>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Signal: average running requests</a:t>
            </a:r>
          </a:p>
          <a:p>
            <a:pPr>
              <a:spcAft>
                <a:spcPts val="500"/>
              </a:spcAft>
              <a:defRPr sz="1500" b="0">
                <a:solidFill>
                  <a:srgbClr val="142C46"/>
                </a:solidFill>
                <a:latin typeface="Arial"/>
              </a:defRPr>
            </a:pPr>
            <a:r>
              <a:rPr cap="none"/>
              <a:t>Replica range: 2–16</a:t>
            </a:r>
          </a:p>
          <a:p>
            <a:pPr>
              <a:spcAft>
                <a:spcPts val="500"/>
              </a:spcAft>
              <a:defRPr sz="1500" b="0">
                <a:solidFill>
                  <a:srgbClr val="142C46"/>
                </a:solidFill>
                <a:latin typeface="Arial"/>
              </a:defRPr>
            </a:pPr>
            <a:r>
              <a:rPr cap="none"/>
              <a:t>Scale up above 24; down below 4</a:t>
            </a:r>
          </a:p>
          <a:p>
            <a:pPr>
              <a:spcAft>
                <a:spcPts val="500"/>
              </a:spcAft>
              <a:defRPr sz="1500" b="0">
                <a:solidFill>
                  <a:srgbClr val="142C46"/>
                </a:solidFill>
                <a:latin typeface="Arial"/>
              </a:defRPr>
            </a:pPr>
            <a:r>
              <a:rPr cap="none"/>
              <a:t>At running = 12: hold</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Requires an MRI adapter, child opt-in and one replica-count owner per role. Values are examples.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46 / 49</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axes matter: how different the roles are, and what the KV-transfer path costs.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the roles want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Independent capacity may help.</a:t>
            </a:r>
          </a:p>
          <a:p>
            <a:pPr>
              <a:spcAft>
                <a:spcPts val="375"/>
              </a:spcAft>
              <a:defRPr sz="1500" b="0">
                <a:solidFill>
                  <a:srgbClr val="172941"/>
                </a:solidFill>
                <a:latin typeface="Arial"/>
              </a:defRPr>
            </a:pPr>
            <a:r>
              <a:rPr sz="1125" cap="none">
                <a:latin typeface="Arial"/>
              </a:rPr>
              <a:t>Transfer overhead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Different role capacity or parallelism.</a:t>
            </a:r>
          </a:p>
          <a:p>
            <a:pPr>
              <a:spcAft>
                <a:spcPts val="375"/>
              </a:spcAft>
              <a:defRPr sz="1500" b="0">
                <a:solidFill>
                  <a:srgbClr val="172941"/>
                </a:solidFill>
                <a:latin typeface="Arial"/>
              </a:defRPr>
            </a:pPr>
            <a:r>
              <a:rPr sz="1125" cap="none">
                <a:latin typeface="Arial"/>
              </a:rPr>
              <a:t>Validate the gain at matched SLO +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Little role separation benefit,</a:t>
            </a:r>
          </a:p>
          <a:p>
            <a:pPr>
              <a:spcAft>
                <a:spcPts val="375"/>
              </a:spcAft>
              <a:defRPr sz="1500" b="0">
                <a:solidFill>
                  <a:srgbClr val="172941"/>
                </a:solidFill>
                <a:latin typeface="Arial"/>
              </a:defRPr>
            </a:pPr>
            <a:r>
              <a:rPr sz="1125" cap="none">
                <a:latin typeface="Arial"/>
              </a:rPr>
              <a:t>plus an expensive transfer path.</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not a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47 / 49</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cap="none" b="1">
                <a:solidFill>
                  <a:srgbClr val="142C46"/>
                </a:solidFill>
                <a:latin typeface="Arial"/>
              </a:rPr>
              <a:t>What’s next for KAITO + </a:t>
            </a:r>
            <a:r>
              <a:rPr sz="2100" dirty="0" err="1" cap="none" b="1">
                <a:solidFill>
                  <a:srgbClr val="142C46"/>
                </a:solidFill>
                <a:latin typeface="Arial"/>
              </a:rPr>
              <a:t>llm</a:t>
            </a:r>
            <a:r>
              <a:rPr sz="2100" dirty="0" cap="none" b="1">
                <a:solidFill>
                  <a:srgbClr val="142C46"/>
                </a:solidFill>
                <a:latin typeface="Arial"/>
              </a:rPr>
              <a:t>-d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Build on P/D with better cache reuse, richer role layouts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Integration directions—not release dates or claims that every upstream capability is new.</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KV-event-based</a:t>
            </a:r>
          </a:p>
          <a:p>
            <a:pPr>
              <a:spcAft>
                <a:spcPts val="375"/>
              </a:spcAft>
              <a:defRPr sz="1700" b="0">
                <a:solidFill>
                  <a:srgbClr val="172941"/>
                </a:solidFill>
                <a:latin typeface="Arial"/>
              </a:defRPr>
            </a:pPr>
            <a:r>
              <a:rPr sz="1275" cap="none">
                <a:latin typeface="Arial"/>
              </a:rPr>
              <a:t>prefix-cache routing</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Tiered cache: HBM + CPU RAM</a:t>
            </a:r>
          </a:p>
          <a:p>
            <a:pPr>
              <a:spcAft>
                <a:spcPts val="375"/>
              </a:spcAft>
              <a:defRPr sz="1700" b="0">
                <a:solidFill>
                  <a:srgbClr val="172941"/>
                </a:solidFill>
                <a:latin typeface="Arial"/>
              </a:defRPr>
            </a:pPr>
            <a:r>
              <a:rPr sz="1275" cap="none">
                <a:latin typeface="Arial"/>
              </a:rPr>
              <a:t>+ optional filesystem tiers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Encode / Prefill / Decode</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Extend role-based serving</a:t>
            </a:r>
          </a:p>
          <a:p>
            <a:pPr>
              <a:spcAft>
                <a:spcPts val="375"/>
              </a:spcAft>
              <a:defRPr sz="1700" b="0">
                <a:solidFill>
                  <a:srgbClr val="172941"/>
                </a:solidFill>
                <a:latin typeface="Arial"/>
              </a:defRPr>
            </a:pPr>
            <a:r>
              <a:rPr sz="1275" cap="none">
                <a:latin typeface="Arial"/>
              </a:rPr>
              <a:t>to richer inference topologies.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Wide Expert Parallelism</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Cross-node transport</a:t>
            </a:r>
          </a:p>
          <a:p>
            <a:pPr>
              <a:spcAft>
                <a:spcPts val="375"/>
              </a:spcAft>
              <a:defRPr sz="1700" b="0">
                <a:solidFill>
                  <a:srgbClr val="172941"/>
                </a:solidFill>
                <a:latin typeface="Arial"/>
              </a:defRPr>
            </a:pPr>
            <a:r>
              <a:rPr sz="1275" cap="none">
                <a:latin typeface="Arial"/>
              </a:rPr>
              <a:t>and communication</a:t>
            </a:r>
          </a:p>
          <a:p>
            <a:pPr>
              <a:spcAft>
                <a:spcPts val="375"/>
              </a:spcAft>
              <a:defRPr sz="1700" b="0">
                <a:solidFill>
                  <a:srgbClr val="172941"/>
                </a:solidFill>
                <a:latin typeface="Arial"/>
              </a:defRPr>
            </a:pPr>
            <a:r>
              <a:rPr sz="1275" cap="none">
                <a:latin typeface="Arial"/>
              </a:rPr>
              <a:t>optimization</a:t>
            </a:r>
          </a:p>
        </p:txBody>
      </p:sp>
      <p:sp>
        <p:nvSpPr>
          <p:cNvPr id="25" name="TextBox 2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TextBox 2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48 / 49</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rIns="0" t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502920"/>
          </a:xfrm>
          <a:prstGeom prst="rect">
            <a:avLst/>
          </a:prstGeom>
          <a:noFill/>
        </p:spPr>
        <p:txBody>
          <a:bodyPr wrap="square" lIns="0" rIns="0" tIns="0" bIns="0">
            <a:spAutoFit/>
          </a:bodyPr>
          <a:lstStyle/>
          <a:p>
            <a:pPr>
              <a:spcAft>
                <a:spcPts val="500"/>
              </a:spcAft>
              <a:defRPr sz="2500" b="0">
                <a:solidFill>
                  <a:srgbClr val="346CEC"/>
                </a:solidFill>
                <a:latin typeface="Arial"/>
              </a:defRPr>
            </a:pPr>
            <a:r>
              <a:rPr cap="none"/>
              <a:t>Questions and discussion</a:t>
            </a:r>
          </a:p>
        </p:txBody>
      </p:sp>
      <p:sp>
        <p:nvSpPr>
          <p:cNvPr id="4" name="TextBox 3"/>
          <p:cNvSpPr txBox="1"/>
          <p:nvPr/>
        </p:nvSpPr>
        <p:spPr>
          <a:xfrm>
            <a:off x="667512" y="3264408"/>
            <a:ext cx="7772400" cy="594360"/>
          </a:xfrm>
          <a:prstGeom prst="rect">
            <a:avLst/>
          </a:prstGeom>
          <a:noFill/>
        </p:spPr>
        <p:txBody>
          <a:bodyPr wrap="square" lIns="0" rIns="0" tIns="0" bIns="0">
            <a:spAutoFit/>
          </a:bodyPr>
          <a:lstStyle/>
          <a:p>
            <a:pPr>
              <a:spcAft>
                <a:spcPts val="500"/>
              </a:spcAft>
              <a:defRPr sz="1700" b="0">
                <a:solidFill>
                  <a:srgbClr val="52677D"/>
                </a:solidFill>
                <a:latin typeface="Arial"/>
              </a:defRPr>
            </a:pPr>
            <a:r>
              <a:rPr cap="none"/>
              <a:t>Andy Zhang  •  Linbo He</a:t>
            </a:r>
          </a:p>
          <a:p>
            <a:pPr>
              <a:spcAft>
                <a:spcPts val="500"/>
              </a:spcAft>
              <a:defRPr sz="1700" b="0">
                <a:solidFill>
                  <a:srgbClr val="52677D"/>
                </a:solidFill>
                <a:latin typeface="Arial"/>
              </a:defRPr>
            </a:pPr>
            <a:r>
              <a:rPr cap="none"/>
              <a:t>Microsoft  |  KAITO + llm-d</a:t>
            </a:r>
          </a:p>
        </p:txBody>
      </p:sp>
      <p:sp>
        <p:nvSpPr>
          <p:cNvPr id="5" name="TextBox 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TextBox 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49 / 49</a:t>
            </a:r>
          </a:p>
        </p:txBody>
      </p:sp>
    </p:spTree>
    <p:extLst>
      <p:ext uri="{BB962C8B-B14F-4D97-AF65-F5344CB8AC3E}">
        <p14:creationId xmlns:p14="http://schemas.microsoft.com/office/powerpoint/2010/main" val="381086207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7799</TotalTime>
  <Words>16612</Words>
  <Application>Microsoft Office PowerPoint</Application>
  <PresentationFormat>On-screen Show (16:9)</PresentationFormat>
  <Paragraphs>1406</Paragraphs>
  <Slides>49</Slides>
  <Notes>48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49</vt:i4>
      </vt:variant>
    </vt:vector>
  </HeadingPairs>
  <TitlesOfParts>
    <vt:vector size="62" baseType="lpstr">
      <vt:lpstr>Noto Sans Symbols</vt:lpstr>
      <vt:lpstr>Red Hat Display</vt:lpstr>
      <vt:lpstr>Red Hat Display SemiBold</vt:lpstr>
      <vt:lpstr>Red Hat Text</vt:lpstr>
      <vt:lpstr>Red Hat Text Medium</vt:lpstr>
      <vt:lpstr>Aptos Display</vt: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Production Distributed Inference Architecture</vt:lpstr>
      <vt:lpstr>LLM-D: Scheduling &amp; Distributed Inference</vt:lpstr>
      <vt:lpstr>LLM-D has achieved so far</vt:lpstr>
      <vt:lpstr>LLM-D “Well-lit” Paths</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composes vLLM and Gateway to enable P/D disaggregation</vt:lpstr>
      <vt:lpstr>Efficient KV Transfer in vLLM via NIXL</vt:lpstr>
      <vt:lpstr>PowerPoint Presentation</vt:lpstr>
      <vt:lpstr>PowerPoint Presentation</vt:lpstr>
      <vt:lpstr>KAITO autoscaling: keda-kaito-scaler</vt:lpstr>
      <vt:lpstr>KAITO autoscaling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94</cp:revision>
  <dcterms:created xsi:type="dcterms:W3CDTF">2019-07-29T21:37:05Z</dcterms:created>
  <dcterms:modified xsi:type="dcterms:W3CDTF">2026-10-24T04:00:37Z</dcterms:modified>
</cp:coreProperties>
</file>