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7"/>
  </p:notesMasterIdLst>
  <p:sldIdLst>
    <p:sldId id="258" r:id="rId2"/>
    <p:sldId id="260" r:id="rId3"/>
    <p:sldId id="259" r:id="rId4"/>
    <p:sldId id="261" r:id="rId5"/>
    <p:sldId id="2147375730" r:id="rId6"/>
    <p:sldId id="2147375731" r:id="rId7"/>
    <p:sldId id="2147375740" r:id="rId8"/>
    <p:sldId id="2147375733" r:id="rId9"/>
    <p:sldId id="262" r:id="rId10"/>
    <p:sldId id="263" r:id="rId11"/>
    <p:sldId id="264" r:id="rId12"/>
    <p:sldId id="268" r:id="rId13"/>
    <p:sldId id="2147375741"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2" r:id="rId26"/>
    <p:sldId id="2147375723" r:id="rId27"/>
    <p:sldId id="2147375724" r:id="rId28"/>
    <p:sldId id="2147375725" r:id="rId29"/>
    <p:sldId id="277" r:id="rId30"/>
    <p:sldId id="2147375742" r:id="rId31"/>
    <p:sldId id="2147375743" r:id="rId32"/>
    <p:sldId id="279" r:id="rId33"/>
    <p:sldId id="287" r:id="rId34"/>
    <p:sldId id="282" r:id="rId35"/>
    <p:sldId id="285" r:id="rId36"/>
    <p:sldId id="301" r:id="rId37"/>
    <p:sldId id="2147375736" r:id="rId38"/>
    <p:sldId id="316" r:id="rId39"/>
    <p:sldId id="266" r:id="rId40"/>
    <p:sldId id="265" r:id="rId41"/>
    <p:sldId id="283" r:id="rId42"/>
    <p:sldId id="2147375729" r:id="rId43"/>
    <p:sldId id="281" r:id="rId44"/>
    <p:sldId id="2147375721" r:id="rId45"/>
    <p:sldId id="295" r:id="rId46"/>
    <p:sldId id="2147375719" r:id="rId47"/>
    <p:sldId id="280" r:id="rId48"/>
    <p:sldId id="2147375714" r:id="rId49"/>
    <p:sldId id="2147375726" r:id="rId50"/>
    <p:sldId id="296" r:id="rId51"/>
    <p:sldId id="2147375735" r:id="rId52"/>
    <p:sldId id="275" r:id="rId53"/>
    <p:sldId id="2147375697" r:id="rId54"/>
    <p:sldId id="284" r:id="rId55"/>
    <p:sldId id="2147375700" r:id="rId5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8"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091" autoAdjust="0"/>
  </p:normalViewPr>
  <p:slideViewPr>
    <p:cSldViewPr snapToGrid="0">
      <p:cViewPr varScale="1">
        <p:scale>
          <a:sx n="65" d="100"/>
          <a:sy n="65" d="100"/>
        </p:scale>
        <p:origin x="1314" y="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customschemas.google.com/relationships/presentationmetadata" Target="meta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t>
            </a:r>
            <a:r>
              <a:rPr lang="en-US" altLang="zh-CN" sz="1200" b="0" i="0" u="none" strike="noStrike" cap="none" spc="0" dirty="0">
                <a:solidFill>
                  <a:srgbClr val="000000"/>
                </a:solidFill>
                <a:effectLst/>
                <a:latin typeface="Arial"/>
                <a:ea typeface="Arial"/>
                <a:cs typeface="Arial"/>
                <a:sym typeface="Arial"/>
              </a:rPr>
              <a:t>when</a:t>
            </a:r>
            <a:r>
              <a:rPr lang="zh-CN" altLang="zh-CN" sz="1200" b="0" i="0" u="none" strike="noStrike" cap="none" spc="0" dirty="0">
                <a:solidFill>
                  <a:srgbClr val="000000"/>
                </a:solidFill>
                <a:effectLst/>
                <a:latin typeface="Arial"/>
                <a:ea typeface="Arial"/>
                <a:cs typeface="Arial"/>
                <a:sym typeface="Arial"/>
              </a:rPr>
              <a:t> </a:t>
            </a:r>
            <a:r>
              <a:rPr lang="en-US" altLang="zh-CN" sz="1200" b="0" i="0" u="none" strike="noStrike" cap="none" spc="0" dirty="0">
                <a:solidFill>
                  <a:srgbClr val="000000"/>
                </a:solidFill>
                <a:effectLst/>
                <a:latin typeface="Arial"/>
                <a:ea typeface="Arial"/>
                <a:cs typeface="Arial"/>
                <a:sym typeface="Arial"/>
              </a:rPr>
              <a:t>the </a:t>
            </a:r>
            <a:r>
              <a:rPr lang="zh-CN" altLang="zh-CN" sz="1200" b="0" i="0" u="none" strike="noStrike" cap="none" spc="0" dirty="0">
                <a:solidFill>
                  <a:srgbClr val="000000"/>
                </a:solidFill>
                <a:effectLst/>
                <a:latin typeface="Arial"/>
                <a:ea typeface="Arial"/>
                <a:cs typeface="Arial"/>
                <a:sym typeface="Arial"/>
              </a:rPr>
              <a:t>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t>
            </a:r>
            <a:r>
              <a:rPr lang="en-US" altLang="zh-CN" sz="1200"/>
              <a:t>am the </a:t>
            </a:r>
            <a:r>
              <a:rPr lang="en-US" altLang="zh-CN" sz="1200" dirty="0"/>
              <a:t>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inference basics, what are the prefill and decode processes, and why it makes sense to separate them. Then, I will  introduce </a:t>
            </a:r>
            <a:r>
              <a:rPr lang="en-US" altLang="zh-CN" sz="1200" dirty="0" err="1"/>
              <a:t>llm</a:t>
            </a:r>
            <a:r>
              <a:rPr lang="en-US" altLang="zh-CN" sz="1200" dirty="0"/>
              <a:t>-d and KAITO and show how they work together to support P/D disaggregation. Finally, I will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b="1" dirty="0"/>
              <a:t>Here is an example for prefill process</a:t>
            </a:r>
            <a:r>
              <a:rPr lang="en-US" altLang="zh-CN" sz="1200" dirty="0"/>
              <a:t>.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a:t>
            </a:r>
          </a:p>
          <a:p>
            <a:pPr marL="158750" indent="0">
              <a:buNone/>
            </a:pPr>
            <a:r>
              <a:rPr lang="en-US" sz="1200" dirty="0"/>
              <a:t>       </a:t>
            </a:r>
            <a:r>
              <a:rPr lang="en-US" sz="1200" b="0" dirty="0"/>
              <a:t>Prefill process will use the final position’s scores to select “Kubernetes”. And then Decode will consume it and cache its K/V.</a:t>
            </a:r>
          </a:p>
          <a:p>
            <a:pPr marL="158750" indent="0">
              <a:buNone/>
            </a:pPr>
            <a:r>
              <a:rPr lang="en-US" sz="1200" b="1" dirty="0"/>
              <a:t>So next let’s go to decode process.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Decode consumes “Kubernetes”, reads past KV, appends K/V for “Kubernetes” to each layer, and selects “helps”. </a:t>
            </a:r>
            <a:r>
              <a:rPr lang="en-US" sz="1200" dirty="0"/>
              <a:t>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The timeline below switches to the client’s view. The wait from sending the request to receiving ‘Kubernetes’ is time to first token, which is TTFT. </a:t>
            </a:r>
            <a:r>
              <a:rPr lang="zh-CN" altLang="zh-CN" sz="1100" b="1" i="0" u="none" strike="noStrike" cap="none" spc="0" dirty="0">
                <a:solidFill>
                  <a:srgbClr val="000000"/>
                </a:solidFill>
                <a:effectLst/>
                <a:latin typeface="Arial"/>
                <a:ea typeface="Arial"/>
                <a:cs typeface="Arial"/>
                <a:sym typeface="Arial"/>
              </a:rPr>
              <a:t>Once the first token arrives, how long do we wait for the next one? That’s inter-token latency, or ITL</a:t>
            </a:r>
            <a:r>
              <a:rPr lang="en-US" altLang="zh-CN" sz="1200" b="1" dirty="0"/>
              <a:t>.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You could see that these two metrics are different, it shows why starting an answer quickly and keeping it flowing smoothly are two different goals. </a:t>
            </a: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So for </a:t>
            </a:r>
            <a:r>
              <a:rPr lang="en-US" altLang="zh-CN" sz="1200" b="0" cap="none" dirty="0">
                <a:solidFill>
                  <a:srgbClr val="142C46"/>
                </a:solidFill>
                <a:latin typeface="Arial"/>
              </a:rPr>
              <a:t>one request, there two latency targets.</a:t>
            </a:r>
            <a:endParaRPr lang="en-US" altLang="zh-CN" sz="1200" b="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We want answers to start quickly—and keep going smoothly, </a:t>
            </a:r>
            <a:r>
              <a:rPr lang="en-US" altLang="zh-CN" sz="1200" b="1" dirty="0"/>
              <a:t>that’s our goal.</a:t>
            </a:r>
          </a:p>
          <a:p>
            <a:pPr>
              <a:spcAft>
                <a:spcPts val="375"/>
              </a:spcAft>
              <a:defRPr sz="1700" b="0">
                <a:solidFill>
                  <a:srgbClr val="586A80"/>
                </a:solidFill>
                <a:latin typeface="Arial"/>
              </a:defRPr>
            </a:pPr>
            <a:r>
              <a:rPr lang="en-US" altLang="zh-CN" sz="1200" dirty="0"/>
              <a:t>Prefill determines </a:t>
            </a:r>
            <a:r>
              <a:rPr lang="en-US" altLang="zh-CN" sz="1200" cap="none" dirty="0">
                <a:latin typeface="Arial"/>
              </a:rPr>
              <a:t>how soon the answer starts, so it determines </a:t>
            </a:r>
            <a:r>
              <a:rPr lang="en-US" altLang="zh-CN" sz="1200" dirty="0"/>
              <a:t>time to first token, TTFT, and </a:t>
            </a:r>
            <a:r>
              <a:rPr lang="en-US" altLang="zh-CN" sz="1200" cap="none" dirty="0">
                <a:latin typeface="Arial"/>
              </a:rPr>
              <a:t>Prefill processes the input and is often compute-bound.</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Decode determines whether the answer keeps flowing, </a:t>
            </a:r>
            <a:r>
              <a:rPr lang="en-US" altLang="zh-CN" sz="1200" cap="none" dirty="0">
                <a:latin typeface="Arial"/>
              </a:rPr>
              <a:t>so it determines </a:t>
            </a:r>
            <a:r>
              <a:rPr lang="en-US" altLang="zh-CN" sz="1200" dirty="0"/>
              <a:t>inter-token, ITL, and decode is often </a:t>
            </a:r>
            <a:r>
              <a:rPr lang="en-US" altLang="zh-CN" sz="1200" b="0" cap="none" dirty="0">
                <a:latin typeface="Arial"/>
              </a:rPr>
              <a:t>memory bandwidth bound</a:t>
            </a:r>
            <a:r>
              <a:rPr lang="en-US" altLang="zh-CN" sz="1200" dirty="0"/>
              <a:t>. Queueing and delivery matter too.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Our goal is to serve more requests while meeting both latency targets. SLO goodput means the number of requests per second that meet both targets.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One shared pool ties two capacity decisions together</a:t>
            </a:r>
            <a:endParaRPr lang="en-US" sz="1200" b="0" dirty="0"/>
          </a:p>
          <a:p>
            <a:r>
              <a:rPr lang="en-US" sz="1200" dirty="0"/>
              <a:t>A shared pool is simple, but prefill bursts compete with active decoding. </a:t>
            </a:r>
            <a:r>
              <a:rPr lang="en-US" sz="1200" b="1" dirty="0"/>
              <a:t>Every worker handles both phases</a:t>
            </a:r>
            <a:r>
              <a:rPr lang="en-US" sz="1200" b="0" dirty="0"/>
              <a:t>. One deployment scales both phases together.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Where is the trade-off? Prompt bursts can disrupt token delivery. </a:t>
            </a:r>
            <a:r>
              <a:rPr lang="en-US" altLang="zh-CN" sz="1200" dirty="0"/>
              <a:t>We scale the whole replica, even when only prefill or decode needs more </a:t>
            </a:r>
            <a:r>
              <a:rPr lang="en-US" altLang="zh-CN" sz="1200" dirty="0" err="1"/>
              <a:t>capacity.</a:t>
            </a:r>
            <a:r>
              <a:rPr lang="en-US" sz="1200" dirty="0" err="1"/>
              <a:t>We</a:t>
            </a:r>
            <a:r>
              <a:rPr lang="en-US" sz="1200" dirty="0"/>
              <a:t> must decide how to run each phase and how much shared capacity to add. </a:t>
            </a:r>
            <a:endParaRPr lang="en-US" sz="1200" b="1"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Long prefills can interrupt token delivery.</a:t>
            </a:r>
          </a:p>
          <a:p>
            <a:pPr marL="457200" lvl="0" indent="-298450">
              <a:buClr>
                <a:srgbClr val="000000"/>
              </a:buClr>
              <a:buSzPts val="1100"/>
              <a:buFont typeface="Arial"/>
              <a:buChar char="●"/>
            </a:pPr>
            <a:r>
              <a:rPr lang="en-US" altLang="zh-CN" sz="1200" dirty="0"/>
              <a:t>In this slide, </a:t>
            </a:r>
            <a:r>
              <a:rPr lang="en-US" sz="1200" dirty="0"/>
              <a:t>D is ongoing decode. P is prefill for a new request. Where should P run? </a:t>
            </a:r>
          </a:p>
          <a:p>
            <a:pPr marL="457200" lvl="0" indent="-298450">
              <a:buClr>
                <a:srgbClr val="000000"/>
              </a:buClr>
              <a:buSzPts val="1100"/>
              <a:buFont typeface="Arial"/>
              <a:buChar char="●"/>
            </a:pPr>
            <a:r>
              <a:rPr lang="en-US" sz="1200" dirty="0"/>
              <a:t>On the shared GPU graph, </a:t>
            </a:r>
            <a:r>
              <a:rPr lang="en-US" sz="1200" b="1" dirty="0"/>
              <a:t>there are one prefill task and 4 ongoing decoding workers, you could see </a:t>
            </a:r>
            <a:r>
              <a:rPr lang="en-US" sz="1200" dirty="0"/>
              <a:t>that prefill can pause decode. </a:t>
            </a:r>
          </a:p>
          <a:p>
            <a:pPr marL="457200" lvl="0" indent="-298450">
              <a:buClr>
                <a:srgbClr val="000000"/>
              </a:buClr>
              <a:buSzPts val="1100"/>
              <a:buFont typeface="Arial"/>
              <a:buChar char="●"/>
            </a:pPr>
            <a:r>
              <a:rPr lang="en-US" sz="1200" dirty="0"/>
              <a:t>On the separate GPUs </a:t>
            </a:r>
            <a:r>
              <a:rPr lang="en-US" altLang="zh-CN" sz="1200" dirty="0"/>
              <a:t>graph</a:t>
            </a:r>
            <a:r>
              <a:rPr lang="en-US" sz="1200" dirty="0"/>
              <a:t>, </a:t>
            </a:r>
            <a:r>
              <a:rPr lang="en-US" sz="1200" b="1" dirty="0"/>
              <a:t>prefill and decode runs on different GPU nodes</a:t>
            </a:r>
            <a:r>
              <a:rPr lang="en-US" sz="1200" dirty="0"/>
              <a:t>, and decode can continue while prefill runs elsewhere. The new request still needs a KV handoff </a:t>
            </a:r>
            <a:r>
              <a:rPr lang="en-US" sz="1200" b="1" dirty="0"/>
              <a:t>between prefill and decode runtimes </a:t>
            </a:r>
            <a:r>
              <a:rPr lang="en-US" sz="1200" dirty="0"/>
              <a:t>in </a:t>
            </a:r>
            <a:r>
              <a:rPr lang="en-US" altLang="zh-CN" sz="1200" dirty="0"/>
              <a:t>separate GPUs scenario.</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0" dirty="0"/>
              <a:t>So</a:t>
            </a:r>
            <a:r>
              <a:rPr lang="en-US" sz="1200" b="1" dirty="0"/>
              <a:t> </a:t>
            </a:r>
            <a:r>
              <a:rPr lang="en-US" altLang="zh-CN" sz="1200" cap="none" dirty="0">
                <a:latin typeface="Arial"/>
              </a:rPr>
              <a:t>Separate GPUs remove this execution conflict, but not every source of latency since it requires KV handoff between nodes.</a:t>
            </a:r>
          </a:p>
          <a:p>
            <a:pPr marL="158750" lvl="0" indent="0">
              <a:buClr>
                <a:srgbClr val="000000"/>
              </a:buClr>
              <a:buSzPts val="1100"/>
              <a:buFont typeface="Arial"/>
              <a:buNone/>
            </a:pP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Prefill and decode batch different work, </a:t>
            </a:r>
            <a:r>
              <a:rPr lang="en-US" sz="1200" dirty="0"/>
              <a:t>Prefill batches prompt positions; decode batches independent requests.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100" b="0" i="0" u="none" strike="noStrike" cap="none" spc="0" dirty="0">
                <a:solidFill>
                  <a:srgbClr val="000000"/>
                </a:solidFill>
                <a:effectLst/>
                <a:latin typeface="Arial"/>
                <a:ea typeface="Arial"/>
                <a:cs typeface="Arial"/>
                <a:sym typeface="Arial"/>
              </a:rPr>
              <a:t>On the left</a:t>
            </a:r>
            <a:r>
              <a:rPr lang="en-US" altLang="zh-CN" sz="1100" b="0" i="0" u="none" strike="noStrike" cap="none" spc="0" dirty="0">
                <a:solidFill>
                  <a:srgbClr val="000000"/>
                </a:solidFill>
                <a:effectLst/>
                <a:latin typeface="Arial"/>
                <a:ea typeface="Arial"/>
                <a:cs typeface="Arial"/>
                <a:sym typeface="Arial"/>
              </a:rPr>
              <a:t> graph</a:t>
            </a:r>
            <a:r>
              <a:rPr lang="zh-CN" altLang="zh-CN" sz="1100" b="0" i="0" u="none" strike="noStrike" cap="none" spc="0" dirty="0">
                <a:solidFill>
                  <a:srgbClr val="000000"/>
                </a:solidFill>
                <a:effectLst/>
                <a:latin typeface="Arial"/>
                <a:ea typeface="Arial"/>
                <a:cs typeface="Arial"/>
                <a:sym typeface="Arial"/>
              </a:rPr>
              <a:t>, prefill processes the prompt’s tokens in parallel. It can also batch multiple prompts together for efficiency. </a:t>
            </a:r>
            <a:r>
              <a:rPr lang="zh-CN" altLang="zh-CN" sz="1100" b="1" i="0" u="none" strike="noStrike" cap="none" spc="0" dirty="0">
                <a:solidFill>
                  <a:srgbClr val="000000"/>
                </a:solidFill>
                <a:effectLst/>
                <a:latin typeface="Arial"/>
                <a:ea typeface="Arial"/>
                <a:cs typeface="Arial"/>
                <a:sym typeface="Arial"/>
              </a:rPr>
              <a:t>But within each prompt, every token can only attend to itself and the tokens before it</a:t>
            </a:r>
            <a:r>
              <a:rPr lang="en-US" altLang="zh-CN" sz="1100" b="1" i="0" u="none" strike="noStrike" cap="none" spc="0" dirty="0">
                <a:solidFill>
                  <a:srgbClr val="000000"/>
                </a:solidFill>
                <a:effectLst/>
                <a:latin typeface="Arial"/>
                <a:ea typeface="Arial"/>
                <a:cs typeface="Arial"/>
                <a:sym typeface="Arial"/>
              </a:rPr>
              <a:t>, that’s called causal attention.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On the right </a:t>
            </a:r>
            <a:r>
              <a:rPr lang="en-US" altLang="zh-CN" sz="1200" dirty="0"/>
              <a:t>graph</a:t>
            </a:r>
            <a:r>
              <a:rPr lang="en-US" sz="1200" dirty="0"/>
              <a:t>, decode consumes one new token per active request, </a:t>
            </a:r>
            <a:r>
              <a:rPr lang="en-US" sz="1200" b="1" dirty="0"/>
              <a:t>read its past KV cache</a:t>
            </a:r>
            <a:r>
              <a:rPr lang="en-US" sz="1200" dirty="0"/>
              <a:t>, then select its next output token. </a:t>
            </a:r>
          </a:p>
          <a:p>
            <a:pPr marL="457200" lvl="0" indent="-298450">
              <a:buClr>
                <a:srgbClr val="000000"/>
              </a:buClr>
              <a:buSzPts val="1100"/>
              <a:buFont typeface="Arial"/>
              <a:buChar char="●"/>
            </a:pPr>
            <a:r>
              <a:rPr lang="en-US" sz="1200" dirty="0"/>
              <a:t>Prefill gets parallel work from prompt length; decode gets it from active requests. More decode concurrency can raise ITL. Stay within latency and KV-memory budgets.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GPU pools let us tune each phase independently. </a:t>
            </a:r>
            <a:r>
              <a:rPr lang="en-US" altLang="zh-CN" sz="1200" dirty="0"/>
              <a:t>The </a:t>
            </a:r>
            <a:r>
              <a:rPr lang="en-US" sz="1200" dirty="0"/>
              <a:t>real benefit is scaling prefill and decode independently to match demand—not simply splitting them into two deployments.</a:t>
            </a:r>
          </a:p>
          <a:p>
            <a:r>
              <a:rPr lang="en-US" sz="1200" dirty="0"/>
              <a:t>Prefill is often compute-bound. Tune its capacity and parallelism to get better TTFT. On the other hand, decode is often </a:t>
            </a:r>
            <a:r>
              <a:rPr lang="en-US" altLang="zh-CN" sz="1200" cap="none" dirty="0">
                <a:latin typeface="Arial"/>
              </a:rPr>
              <a:t>memory-</a:t>
            </a:r>
            <a:r>
              <a:rPr lang="en-US" sz="1200" dirty="0"/>
              <a:t>bandwidth-bound. Tune its capacity and batching to get better ITL. </a:t>
            </a:r>
            <a:r>
              <a:rPr lang="en-US" sz="1200" b="1" dirty="0"/>
              <a:t>Different latency targets and resource needs can call for different replicas, tensor parallelism and batching policies</a:t>
            </a:r>
            <a:r>
              <a:rPr lang="en-US" sz="1200" dirty="0"/>
              <a:t>. Split only if the gains outweigh KV transfer, extra weight copies and operating costs.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hard part is the Kubernetes wiring to support prefill and decode disaggregation.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r>
              <a:rPr lang="en-US" sz="1200" dirty="0"/>
              <a:t>Two pools still have to work together as one model service. The EPP, or Endpoint Picker, picks workers. KV transfer settings must match. The decode-side proxy coordinates requests. We must keep pods ready as replicas change.</a:t>
            </a:r>
          </a:p>
          <a:p>
            <a:r>
              <a:rPr lang="en-US" sz="1200" dirty="0"/>
              <a:t>Routing, KV transfer, labels, ports and readiness must stay in sync, </a:t>
            </a:r>
            <a:r>
              <a:rPr lang="en-US" sz="1200" b="0" dirty="0"/>
              <a:t>even when pods restart or we scale. </a:t>
            </a:r>
          </a:p>
          <a:p>
            <a:r>
              <a:rPr lang="en-US" sz="1200" b="1" dirty="0"/>
              <a:t>There are lots of things to combine, that is why the hard part is the Kubernetes wiring. </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dirty="0"/>
              <a:t>So, this slide shows the big picture.</a:t>
            </a:r>
          </a:p>
          <a:p>
            <a:r>
              <a:rPr lang="en-US" dirty="0"/>
              <a:t>Running an inference workload takes more than just a model and a GPU. We also need to route requests, manage workloads, and scale when traffic changes.</a:t>
            </a:r>
          </a:p>
          <a:p>
            <a:r>
              <a:rPr lang="en-US" dirty="0"/>
              <a:t>That’s where </a:t>
            </a:r>
            <a:r>
              <a:rPr lang="en-US" b="1" dirty="0"/>
              <a:t>KAITO and </a:t>
            </a:r>
            <a:r>
              <a:rPr lang="en-US" b="1" dirty="0" err="1"/>
              <a:t>llm</a:t>
            </a:r>
            <a:r>
              <a:rPr lang="en-US" b="1" dirty="0"/>
              <a:t>-d </a:t>
            </a:r>
            <a:r>
              <a:rPr lang="en-US" dirty="0"/>
              <a:t>come in—the orchestration layer in the middle.</a:t>
            </a:r>
          </a:p>
          <a:p>
            <a:r>
              <a:rPr lang="en-US" dirty="0"/>
              <a:t>Below that, </a:t>
            </a:r>
            <a:r>
              <a:rPr lang="en-US" b="1" dirty="0" err="1"/>
              <a:t>vLLM</a:t>
            </a:r>
            <a:r>
              <a:rPr lang="en-US" dirty="0"/>
              <a:t> runs the model, and the </a:t>
            </a:r>
            <a:r>
              <a:rPr lang="en-US" b="1" dirty="0"/>
              <a:t>KV cache </a:t>
            </a:r>
            <a:r>
              <a:rPr lang="en-US" dirty="0"/>
              <a:t>helps us reuse work instead of doing it again. Kubernetes provides the infrastructure underneath.</a:t>
            </a:r>
          </a:p>
          <a:p>
            <a:r>
              <a:rPr lang="en-US" dirty="0"/>
              <a:t>We also need things like security and monitoring around the whole system.</a:t>
            </a:r>
          </a:p>
          <a:p>
            <a:r>
              <a:rPr lang="en-US" dirty="0"/>
              <a:t>The main takeaway is simple: all these pieces need to work together.</a:t>
            </a:r>
          </a:p>
          <a:p>
            <a:r>
              <a:rPr lang="en-US" dirty="0"/>
              <a:t>Today, we’ll focus on how KAITO and </a:t>
            </a:r>
            <a:r>
              <a:rPr lang="en-US" dirty="0" err="1"/>
              <a:t>llm</a:t>
            </a:r>
            <a:r>
              <a:rPr lang="en-US" dirty="0"/>
              <a:t>-d help with that. Let’s look at some of the open-source options.</a:t>
            </a:r>
          </a:p>
        </p:txBody>
      </p:sp>
    </p:spTree>
    <p:extLst>
      <p:ext uri="{BB962C8B-B14F-4D97-AF65-F5344CB8AC3E}">
        <p14:creationId xmlns:p14="http://schemas.microsoft.com/office/powerpoint/2010/main" val="4177393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a:t>
            </a:r>
            <a:r>
              <a:rPr lang="zh-CN" altLang="zh-CN" sz="1100" b="0" i="0" u="none" strike="noStrike" cap="none" spc="0" dirty="0">
                <a:solidFill>
                  <a:srgbClr val="000000"/>
                </a:solidFill>
                <a:effectLst/>
                <a:latin typeface="Arial"/>
                <a:ea typeface="Arial"/>
                <a:cs typeface="Arial"/>
                <a:sym typeface="Arial"/>
              </a:rPr>
              <a:t>The following table presents examples, not a ranking. Some approaches can be used together.</a:t>
            </a:r>
            <a:endParaRPr lang="en-US" altLang="zh-CN" sz="1100" b="0" i="0" u="none" strike="noStrike" cap="none" spc="0" dirty="0">
              <a:solidFill>
                <a:srgbClr val="000000"/>
              </a:solidFill>
              <a:effectLst/>
              <a:latin typeface="Arial"/>
              <a:ea typeface="Arial"/>
              <a:cs typeface="Arial"/>
              <a:sym typeface="Arial"/>
            </a:endParaRPr>
          </a:p>
          <a:p>
            <a:r>
              <a:rPr lang="en-US" sz="1200" b="1" dirty="0"/>
              <a:t>The middle column </a:t>
            </a:r>
            <a:r>
              <a:rPr lang="en-US" sz="1200" dirty="0"/>
              <a:t>shows the serving and routing path; </a:t>
            </a:r>
            <a:r>
              <a:rPr lang="en-US" sz="1200" b="1" dirty="0"/>
              <a:t>the right column </a:t>
            </a:r>
            <a:r>
              <a:rPr lang="en-US" sz="1200" dirty="0"/>
              <a:t>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P/D deployment options already exist. KAITO aims to make them easier to use. </a:t>
            </a:r>
            <a:r>
              <a:rPr lang="en-US" sz="1200" b="1" dirty="0"/>
              <a:t>For KAITO users, they want less manual configuration to maintain. Let’s start with </a:t>
            </a:r>
            <a:r>
              <a:rPr lang="en-US" sz="1200" b="1" dirty="0" err="1"/>
              <a:t>llm</a:t>
            </a:r>
            <a:r>
              <a:rPr lang="en-US" sz="1200" b="1" dirty="0"/>
              <a:t>-d.</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200" b="0" i="0" u="none" strike="noStrike" cap="none" dirty="0">
                <a:solidFill>
                  <a:srgbClr val="000000"/>
                </a:solidFill>
                <a:effectLst/>
                <a:latin typeface="Arial"/>
                <a:ea typeface="Arial"/>
                <a:cs typeface="Arial"/>
                <a:sym typeface="Arial"/>
              </a:rPr>
              <a:t>llm-d is a Kubernetes-native framework for high-performance distributed inference. </a:t>
            </a:r>
            <a:r>
              <a:rPr lang="en-US" altLang="zh-CN" sz="1200" dirty="0"/>
              <a:t>It joined the CNCF Sandbox in March 2026. </a:t>
            </a:r>
            <a:r>
              <a:rPr lang="zh-CN" altLang="zh-CN" sz="1200" b="1" i="0" u="none" strike="noStrike" cap="none" dirty="0">
                <a:solidFill>
                  <a:srgbClr val="000000"/>
                </a:solidFill>
                <a:effectLst/>
                <a:latin typeface="Arial"/>
                <a:ea typeface="Arial"/>
                <a:cs typeface="Arial"/>
                <a:sym typeface="Arial"/>
              </a:rPr>
              <a:t>It does not replace vLLM, gateways, or storage systems; it composes them</a:t>
            </a:r>
            <a:r>
              <a:rPr lang="zh-CN" altLang="zh-CN" sz="1200" b="0" i="0" u="none" strike="noStrike" cap="none" dirty="0">
                <a:solidFill>
                  <a:srgbClr val="000000"/>
                </a:solidFill>
                <a:effectLst/>
                <a:latin typeface="Arial"/>
                <a:ea typeface="Arial"/>
                <a:cs typeface="Arial"/>
                <a:sym typeface="Arial"/>
              </a:rPr>
              <a:t>. </a:t>
            </a:r>
            <a:r>
              <a:rPr lang="zh-CN" altLang="zh-CN" sz="1200" b="1" i="0" u="none" strike="noStrike" cap="none" dirty="0">
                <a:solidFill>
                  <a:srgbClr val="000000"/>
                </a:solidFill>
                <a:effectLst/>
                <a:latin typeface="Arial"/>
                <a:ea typeface="Arial"/>
                <a:cs typeface="Arial"/>
                <a:sym typeface="Arial"/>
              </a:rPr>
              <a:t>Its value is organized</a:t>
            </a:r>
            <a:r>
              <a:rPr lang="en-US" altLang="zh-CN" sz="1200" b="1" i="0" u="none" strike="noStrike" cap="none" dirty="0">
                <a:solidFill>
                  <a:srgbClr val="000000"/>
                </a:solidFill>
                <a:effectLst/>
                <a:latin typeface="Arial"/>
                <a:ea typeface="Arial"/>
                <a:cs typeface="Arial"/>
                <a:sym typeface="Arial"/>
              </a:rPr>
              <a:t> into </a:t>
            </a:r>
            <a:r>
              <a:rPr lang="zh-CN" altLang="zh-CN" sz="1200" b="1" i="0" u="none" strike="noStrike" cap="none" dirty="0">
                <a:solidFill>
                  <a:srgbClr val="000000"/>
                </a:solidFill>
                <a:effectLst/>
                <a:latin typeface="Arial"/>
                <a:ea typeface="Arial"/>
                <a:cs typeface="Arial"/>
                <a:sym typeface="Arial"/>
              </a:rPr>
              <a:t>three ideas</a:t>
            </a:r>
            <a:r>
              <a:rPr lang="zh-CN" altLang="zh-CN" sz="1200" b="0" i="0" u="none" strike="noStrike" cap="none" dirty="0">
                <a:solidFill>
                  <a:srgbClr val="000000"/>
                </a:solidFill>
                <a:effectLst/>
                <a:latin typeface="Arial"/>
                <a:ea typeface="Arial"/>
                <a:cs typeface="Arial"/>
                <a:sym typeface="Arial"/>
              </a:rPr>
              <a:t>:</a:t>
            </a:r>
            <a:r>
              <a:rPr lang="en-US" altLang="zh-CN" sz="1200" b="0" i="0" u="none" strike="noStrike" cap="none" dirty="0">
                <a:solidFill>
                  <a:srgbClr val="000000"/>
                </a:solidFill>
                <a:effectLst/>
                <a:latin typeface="Arial"/>
                <a:ea typeface="Arial"/>
                <a:cs typeface="Arial"/>
                <a:sym typeface="Arial"/>
              </a:rPr>
              <a:t> first </a:t>
            </a:r>
            <a:r>
              <a:rPr lang="en-US" altLang="zh-CN" sz="1200" b="0" dirty="0">
                <a:solidFill>
                  <a:srgbClr val="346CEC"/>
                </a:solidFill>
                <a:latin typeface="Arial"/>
              </a:rPr>
              <a:t>modular architecture: </a:t>
            </a:r>
            <a:r>
              <a:rPr lang="en-US" altLang="zh-CN" sz="1200" b="0" dirty="0">
                <a:solidFill>
                  <a:srgbClr val="142C46"/>
                </a:solidFill>
                <a:latin typeface="Arial"/>
              </a:rPr>
              <a:t>Gateway API connects inference routing to Kubernetes, second, </a:t>
            </a:r>
            <a:r>
              <a:rPr lang="en-US" altLang="zh-CN" sz="1200" b="0" dirty="0">
                <a:solidFill>
                  <a:srgbClr val="346CEC"/>
                </a:solidFill>
                <a:latin typeface="Arial"/>
              </a:rPr>
              <a:t>Extensible components: </a:t>
            </a:r>
            <a:r>
              <a:rPr lang="en-US" altLang="zh-CN" sz="1200" b="0" dirty="0">
                <a:solidFill>
                  <a:srgbClr val="142C46"/>
                </a:solidFill>
                <a:latin typeface="Arial"/>
              </a:rPr>
              <a:t>combine runtimes, routing plugins and KV transport,</a:t>
            </a:r>
            <a:r>
              <a:rPr lang="zh-CN" altLang="en-US" sz="1200" b="0" dirty="0">
                <a:solidFill>
                  <a:srgbClr val="142C46"/>
                </a:solidFill>
                <a:latin typeface="Arial"/>
              </a:rPr>
              <a:t> </a:t>
            </a:r>
            <a:r>
              <a:rPr lang="en-US" altLang="zh-CN" sz="1200" b="0" dirty="0">
                <a:solidFill>
                  <a:srgbClr val="142C46"/>
                </a:solidFill>
                <a:latin typeface="Arial"/>
              </a:rPr>
              <a:t>third, </a:t>
            </a:r>
            <a:r>
              <a:rPr lang="en-US" altLang="zh-CN" sz="1200" b="0" dirty="0">
                <a:solidFill>
                  <a:srgbClr val="346CEC"/>
                </a:solidFill>
                <a:latin typeface="Arial"/>
              </a:rPr>
              <a:t>Well-lit paths, there are </a:t>
            </a:r>
            <a:r>
              <a:rPr lang="en-US" altLang="zh-CN" sz="1200" b="0" dirty="0">
                <a:solidFill>
                  <a:srgbClr val="142C46"/>
                </a:solidFill>
                <a:latin typeface="Arial"/>
              </a:rPr>
              <a:t>tested deployment patterns make trade-offs clear.</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These are reusable capabilities, not a performance guarantee. </a:t>
            </a:r>
            <a:r>
              <a:rPr lang="en-US" sz="1200" dirty="0" err="1"/>
              <a:t>llm</a:t>
            </a:r>
            <a:r>
              <a:rPr lang="en-US" sz="1200" dirty="0"/>
              <a:t>-d builds on the serving runtime, not replace it. And we combine reusable </a:t>
            </a:r>
            <a:r>
              <a:rPr lang="en-US" altLang="zh-CN" sz="1200" b="0" dirty="0" err="1">
                <a:solidFill>
                  <a:srgbClr val="142C46"/>
                </a:solidFill>
                <a:latin typeface="Arial"/>
              </a:rPr>
              <a:t>llm</a:t>
            </a:r>
            <a:r>
              <a:rPr lang="en-US" altLang="zh-CN" sz="1200" b="0" dirty="0">
                <a:solidFill>
                  <a:srgbClr val="142C46"/>
                </a:solidFill>
                <a:latin typeface="Arial"/>
              </a:rPr>
              <a:t>-d </a:t>
            </a:r>
            <a:r>
              <a:rPr lang="en-US" sz="1200" dirty="0"/>
              <a:t>components, </a:t>
            </a:r>
            <a:r>
              <a:rPr lang="en-US" altLang="zh-CN" sz="1200" b="0" dirty="0">
                <a:solidFill>
                  <a:srgbClr val="142C46"/>
                </a:solidFill>
                <a:latin typeface="Arial"/>
              </a:rPr>
              <a:t>Deployment paths explain the trade-offs.</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pPr>
              <a:lnSpc>
                <a:spcPct val="108000"/>
              </a:lnSpc>
              <a:spcAft>
                <a:spcPts val="500"/>
              </a:spcAft>
              <a:defRPr sz="1050" b="0">
                <a:solidFill>
                  <a:srgbClr val="142C46"/>
                </a:solidFill>
                <a:latin typeface="Arial"/>
              </a:defRPr>
            </a:pPr>
            <a:r>
              <a:rPr lang="en-US" sz="1200" dirty="0"/>
              <a:t>first: </a:t>
            </a:r>
            <a:r>
              <a:rPr lang="en-US" altLang="zh-CN" sz="1400" b="0" dirty="0">
                <a:solidFill>
                  <a:srgbClr val="346CEC"/>
                </a:solidFill>
              </a:rPr>
              <a:t>State-of-the-art </a:t>
            </a:r>
            <a:r>
              <a:rPr lang="en-US" altLang="zh-CN" sz="1400" b="0" dirty="0" err="1">
                <a:solidFill>
                  <a:srgbClr val="346CEC"/>
                </a:solidFill>
                <a:latin typeface="Arial"/>
              </a:rPr>
              <a:t>MoE</a:t>
            </a:r>
            <a:r>
              <a:rPr lang="en-US" altLang="zh-CN" sz="1400" b="0" dirty="0">
                <a:solidFill>
                  <a:srgbClr val="346CEC"/>
                </a:solidFill>
                <a:latin typeface="Arial"/>
              </a:rPr>
              <a:t> serving, </a:t>
            </a:r>
            <a:r>
              <a:rPr lang="en-US" altLang="zh-CN" sz="1400" b="1" dirty="0">
                <a:solidFill>
                  <a:srgbClr val="346CEC"/>
                </a:solidFill>
                <a:latin typeface="Arial"/>
              </a:rPr>
              <a:t>Here, </a:t>
            </a:r>
            <a:r>
              <a:rPr lang="en-US" altLang="zh-CN" sz="1400" b="1" dirty="0" err="1">
                <a:solidFill>
                  <a:srgbClr val="346CEC"/>
                </a:solidFill>
                <a:latin typeface="Arial"/>
              </a:rPr>
              <a:t>MoE</a:t>
            </a:r>
            <a:r>
              <a:rPr lang="en-US" altLang="zh-CN" sz="1400" b="1" dirty="0">
                <a:solidFill>
                  <a:srgbClr val="346CEC"/>
                </a:solidFill>
                <a:latin typeface="Arial"/>
              </a:rPr>
              <a:t> stands for Mixture of Experts, which is widely used in mainstream LLMs. </a:t>
            </a:r>
            <a:r>
              <a:rPr lang="en-US" altLang="zh-CN" sz="1200" b="0" dirty="0">
                <a:solidFill>
                  <a:srgbClr val="142C46"/>
                </a:solidFill>
                <a:latin typeface="Arial"/>
              </a:rPr>
              <a:t>Expert parallelism spreads expert computation across GPUs, second, p</a:t>
            </a:r>
            <a:r>
              <a:rPr lang="en-US" altLang="zh-CN" sz="1400" b="0" dirty="0">
                <a:solidFill>
                  <a:srgbClr val="346CEC"/>
                </a:solidFill>
                <a:latin typeface="Arial"/>
              </a:rPr>
              <a:t>refill/decode disaggregation, w</a:t>
            </a:r>
            <a:r>
              <a:rPr lang="en-US" altLang="zh-CN" sz="1200" b="0" dirty="0">
                <a:solidFill>
                  <a:srgbClr val="142C46"/>
                </a:solidFill>
                <a:latin typeface="Arial"/>
              </a:rPr>
              <a:t>e separate the phases and transfer KV between roles. Third, </a:t>
            </a:r>
            <a:r>
              <a:rPr lang="en-US" altLang="zh-CN" sz="1400" b="0" dirty="0">
                <a:solidFill>
                  <a:srgbClr val="346CEC"/>
                </a:solidFill>
                <a:latin typeface="Arial"/>
              </a:rPr>
              <a:t>State-aware scheduling: </a:t>
            </a:r>
            <a:r>
              <a:rPr lang="en-US" altLang="zh-CN" sz="1200" b="0" dirty="0">
                <a:solidFill>
                  <a:srgbClr val="142C46"/>
                </a:solidFill>
                <a:latin typeface="Arial"/>
              </a:rPr>
              <a:t>Routing plugins use cache and load signals to pick workers. Last is a</a:t>
            </a:r>
            <a:r>
              <a:rPr lang="en-US" altLang="zh-CN" sz="1400" b="0" dirty="0">
                <a:solidFill>
                  <a:srgbClr val="346CEC"/>
                </a:solidFill>
                <a:latin typeface="Arial"/>
              </a:rPr>
              <a:t>utoscaling architecture: w</a:t>
            </a:r>
            <a:r>
              <a:rPr lang="en-US" altLang="zh-CN" sz="1200" b="0" dirty="0">
                <a:solidFill>
                  <a:srgbClr val="142C46"/>
                </a:solidFill>
                <a:latin typeface="Arial"/>
              </a:rPr>
              <a:t>orkload signals and SLOs guide capacity; each integration chooses its policy.</a:t>
            </a:r>
          </a:p>
          <a:p>
            <a:endParaRPr lang="en-US" sz="1200"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calls these “well-lit paths”—</a:t>
            </a:r>
            <a:r>
              <a:rPr lang="en-US" altLang="zh-CN" sz="1100" b="0" i="0" u="none" strike="noStrike" cap="none" spc="0" dirty="0">
                <a:solidFill>
                  <a:srgbClr val="000000"/>
                </a:solidFill>
                <a:effectLst/>
                <a:latin typeface="Arial"/>
                <a:ea typeface="Arial"/>
                <a:cs typeface="Arial"/>
                <a:sym typeface="Arial"/>
              </a:rPr>
              <a:t>these are </a:t>
            </a:r>
            <a:r>
              <a:rPr lang="zh-CN" altLang="zh-CN" sz="1100" b="0" i="0" u="none" strike="noStrike" cap="none" spc="0" dirty="0">
                <a:solidFill>
                  <a:srgbClr val="000000"/>
                </a:solidFill>
                <a:effectLst/>
                <a:latin typeface="Arial"/>
                <a:ea typeface="Arial"/>
                <a:cs typeface="Arial"/>
                <a:sym typeface="Arial"/>
              </a:rPr>
              <a:t>tested ways to deploy, with clear guidance on what works well and what the limitations are.</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Intelligent scheduling determines where this request should run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KV cache management determines where should reusable state live?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Wide expert parallelism determines how should a large </a:t>
            </a:r>
            <a:r>
              <a:rPr lang="en-US" altLang="zh-CN" sz="1200" cap="none" dirty="0" err="1"/>
              <a:t>MoE</a:t>
            </a:r>
            <a:r>
              <a:rPr lang="en-US" altLang="zh-CN" sz="1200" cap="none" dirty="0"/>
              <a:t> model run across GPUs?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P/D disaggregation determines how should prompt and generation capacity differ?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pPr marL="457200" lvl="0" indent="-298450">
              <a:buClr>
                <a:srgbClr val="000000"/>
              </a:buClr>
              <a:buSzPts val="1100"/>
              <a:buFont typeface="Arial"/>
              <a:buChar char="●"/>
            </a:pPr>
            <a:r>
              <a:rPr lang="en-US" sz="1200" dirty="0"/>
              <a:t>Next, what is KAITO, </a:t>
            </a:r>
            <a:r>
              <a:rPr lang="en-US" altLang="zh-CN" sz="1200" dirty="0"/>
              <a:t>KAITO stands for </a:t>
            </a:r>
            <a:r>
              <a:rPr lang="en-US" altLang="zh-CN" sz="1200" b="0" dirty="0">
                <a:solidFill>
                  <a:srgbClr val="142C46"/>
                </a:solidFill>
                <a:latin typeface="Arial"/>
              </a:rPr>
              <a:t>Kubernetes AI Toolchain Operator, which </a:t>
            </a:r>
            <a:r>
              <a:rPr lang="en-US" sz="1200" dirty="0"/>
              <a:t>automates LLM inference, fine-tuning and RAG with Kubernetes operators. It is also a CNCF Sandbox project.</a:t>
            </a:r>
          </a:p>
          <a:p>
            <a:r>
              <a:rPr lang="en-US" altLang="zh-CN" sz="1200" b="1" cap="none" dirty="0">
                <a:solidFill>
                  <a:srgbClr val="142C46"/>
                </a:solidFill>
                <a:latin typeface="Arial"/>
              </a:rPr>
              <a:t>With KAITO, you only need to </a:t>
            </a:r>
            <a:r>
              <a:rPr lang="en-US" altLang="zh-CN" sz="1200" cap="none" dirty="0">
                <a:solidFill>
                  <a:srgbClr val="142C46"/>
                </a:solidFill>
                <a:latin typeface="Arial"/>
              </a:rPr>
              <a:t>specify a model name and GPU VM SKU. KAITO sizes the nodes to fit the model’s memory requirements, handles model setup and caching, manages inference workloads and rolling updates on Kubernetes, and uses KEDA to automatically scale </a:t>
            </a:r>
            <a:r>
              <a:rPr lang="en-US" altLang="zh-CN" sz="1200" dirty="0">
                <a:solidFill>
                  <a:srgbClr val="142C46"/>
                </a:solidFill>
              </a:rPr>
              <a:t>inference </a:t>
            </a:r>
            <a:r>
              <a:rPr lang="en-US" altLang="zh-CN" sz="1200" cap="none" dirty="0">
                <a:solidFill>
                  <a:srgbClr val="142C46"/>
                </a:solidFill>
                <a:latin typeface="Arial"/>
              </a:rPr>
              <a:t>workloads.</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Here is a KAITO </a:t>
            </a:r>
            <a:r>
              <a:rPr lang="en-US" altLang="zh-CN" sz="800" b="0" dirty="0">
                <a:solidFill>
                  <a:srgbClr val="346CEC"/>
                </a:solidFill>
                <a:latin typeface="Arial"/>
              </a:rPr>
              <a:t>inference workload example, user only needs to </a:t>
            </a:r>
            <a:r>
              <a:rPr lang="en-US" altLang="zh-CN" sz="800" b="0" cap="none" dirty="0">
                <a:solidFill>
                  <a:srgbClr val="52677D"/>
                </a:solidFill>
                <a:latin typeface="Arial"/>
              </a:rPr>
              <a:t>specify the model name, GPU instance type and replica count.</a:t>
            </a:r>
          </a:p>
          <a:p>
            <a:pPr marL="457200" lvl="0" indent="-298450">
              <a:buClr>
                <a:srgbClr val="000000"/>
              </a:buClr>
              <a:buSzPts val="1100"/>
              <a:buFont typeface="Arial"/>
              <a:buChar char="●"/>
            </a:pPr>
            <a:r>
              <a:rPr lang="en-US" altLang="zh-CN" sz="800" b="0" cap="none" dirty="0">
                <a:solidFill>
                  <a:srgbClr val="52677D"/>
                </a:solidFill>
                <a:latin typeface="Arial"/>
              </a:rPr>
              <a:t>In this example, user specifies a qwen3 model name which is a </a:t>
            </a:r>
            <a:r>
              <a:rPr lang="en-US" altLang="zh-CN" sz="800" b="0" cap="none" dirty="0" err="1">
                <a:solidFill>
                  <a:srgbClr val="52677D"/>
                </a:solidFill>
                <a:latin typeface="Arial"/>
              </a:rPr>
              <a:t>huggingface</a:t>
            </a:r>
            <a:r>
              <a:rPr lang="en-US" altLang="zh-CN" sz="800" b="0" cap="none" dirty="0">
                <a:solidFill>
                  <a:srgbClr val="52677D"/>
                </a:solidFill>
                <a:latin typeface="Arial"/>
              </a:rPr>
              <a:t> model id and specifies A100 GPU instance type with 3 replicas, </a:t>
            </a:r>
            <a:r>
              <a:rPr lang="en-US" altLang="zh-CN" sz="800" b="1" dirty="0"/>
              <a:t>three replicas does not necessarily mean three GPUs; each replica’s GPU and node needs depend on the model and runtime settings. </a:t>
            </a:r>
            <a:endParaRPr lang="en-US" altLang="zh-CN" sz="800" b="1" cap="none" dirty="0">
              <a:solidFill>
                <a:srgbClr val="52677D"/>
              </a:solidFill>
              <a:latin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800" b="1" cap="none" dirty="0">
                <a:solidFill>
                  <a:srgbClr val="52677D"/>
                </a:solidFill>
                <a:latin typeface="Arial"/>
              </a:rPr>
              <a:t>KAITO does all the rest of work, like provisioning the required GPU nodes </a:t>
            </a:r>
            <a:r>
              <a:rPr lang="en-US" altLang="zh-CN" sz="800" b="1" cap="none" dirty="0">
                <a:solidFill>
                  <a:srgbClr val="142C46"/>
                </a:solidFill>
                <a:latin typeface="Arial"/>
              </a:rPr>
              <a:t>to fit the model’s memory requirements, handles model setup and caching, manages inference workloads and rolling updates on Kubernetes.</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b="1" dirty="0"/>
              <a:t>This slide shows how KAITO do</a:t>
            </a:r>
            <a:r>
              <a:rPr lang="en-US" altLang="zh-CN" sz="1200" b="1" dirty="0"/>
              <a:t>es</a:t>
            </a:r>
            <a:r>
              <a:rPr lang="en-US" sz="1200" b="1" dirty="0"/>
              <a:t> the math.</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User </a:t>
            </a:r>
            <a:r>
              <a:rPr lang="en-US" altLang="zh-CN" sz="1200" b="0" dirty="0">
                <a:solidFill>
                  <a:schemeClr val="accent2">
                    <a:lumMod val="75000"/>
                  </a:schemeClr>
                </a:solidFill>
              </a:rPr>
              <a:t>specifies a model name and GPU SKU. KAITO estimates how many nodes the model needs.</a:t>
            </a:r>
          </a:p>
          <a:p>
            <a:r>
              <a:rPr lang="en-US" sz="1200" dirty="0"/>
              <a:t>KAITO reserves memory for overhead and KV cache, then fits the weights into the remaining GPU memory.</a:t>
            </a:r>
          </a:p>
          <a:p>
            <a:r>
              <a:rPr lang="en-US" sz="1200" dirty="0"/>
              <a:t>KAITO saves the result as </a:t>
            </a:r>
            <a:r>
              <a:rPr lang="en-US" sz="1200" dirty="0" err="1"/>
              <a:t>status.targetNodeCount</a:t>
            </a:r>
            <a:r>
              <a:rPr lang="en-US" sz="1200" dirty="0"/>
              <a:t>. This path uses tensor parallelism within nodes and pipeline parallelism across nodes. It sizes memory, </a:t>
            </a:r>
            <a:r>
              <a:rPr lang="zh-CN" altLang="zh-CN" sz="1200" dirty="0"/>
              <a:t>not how much traffic it can handle.</a:t>
            </a:r>
            <a:r>
              <a:rPr lang="en-US" sz="1200" dirty="0"/>
              <a:t> </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So why do we bring </a:t>
            </a:r>
            <a:r>
              <a:rPr lang="en-US" altLang="zh-CN" sz="1200" b="0" cap="none" dirty="0" err="1">
                <a:solidFill>
                  <a:srgbClr val="142C46"/>
                </a:solidFill>
                <a:latin typeface="Arial"/>
              </a:rPr>
              <a:t>llm</a:t>
            </a:r>
            <a:r>
              <a:rPr lang="en-US" altLang="zh-CN" sz="1200" b="0" cap="none" dirty="0">
                <a:solidFill>
                  <a:srgbClr val="142C46"/>
                </a:solidFill>
                <a:latin typeface="Arial"/>
              </a:rPr>
              <a:t>-d into KAITO?</a:t>
            </a:r>
            <a:r>
              <a:rPr lang="en-US" sz="1200" b="0" dirty="0"/>
              <a:t> </a:t>
            </a:r>
          </a:p>
          <a:p>
            <a:r>
              <a:rPr lang="en-US" sz="1200" dirty="0"/>
              <a:t>We want P/D routing without replacing KAITO’s Kubernetes operating model. KAITO manages deployment and lifecycle. </a:t>
            </a:r>
            <a:r>
              <a:rPr lang="en-US" sz="1200" dirty="0" err="1"/>
              <a:t>llm</a:t>
            </a:r>
            <a:r>
              <a:rPr lang="en-US" sz="1200" dirty="0"/>
              <a:t>-d adds endpoint selection and request routing. </a:t>
            </a:r>
            <a:r>
              <a:rPr lang="en-US" sz="1200" b="1" dirty="0" err="1"/>
              <a:t>vLLM</a:t>
            </a:r>
            <a:r>
              <a:rPr lang="en-US" sz="1200" b="1" dirty="0"/>
              <a:t> runs the prefill and decode phases, and NIXL moves KV.</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So where </a:t>
            </a:r>
            <a:r>
              <a:rPr lang="en-US" altLang="zh-CN" sz="1200" b="0" cap="none" dirty="0">
                <a:solidFill>
                  <a:srgbClr val="346CEC"/>
                </a:solidFill>
              </a:rPr>
              <a:t>KAITO</a:t>
            </a:r>
            <a:r>
              <a:rPr lang="en-US" altLang="zh-CN" sz="1200" b="0" cap="none" dirty="0"/>
              <a:t> and </a:t>
            </a:r>
            <a:r>
              <a:rPr lang="en-US" altLang="zh-CN" sz="1200" b="0" cap="none" dirty="0" err="1">
                <a:solidFill>
                  <a:srgbClr val="168C96"/>
                </a:solidFill>
              </a:rPr>
              <a:t>llm</a:t>
            </a:r>
            <a:r>
              <a:rPr lang="en-US" altLang="zh-CN" sz="1200" b="0" cap="none" dirty="0">
                <a:solidFill>
                  <a:srgbClr val="168C96"/>
                </a:solidFill>
              </a:rPr>
              <a:t>-d</a:t>
            </a:r>
            <a:r>
              <a:rPr lang="en-US" altLang="zh-CN" sz="1200" b="0" cap="none" dirty="0"/>
              <a:t> fit.</a:t>
            </a:r>
            <a:endParaRPr lang="en-US" sz="1200" b="0" dirty="0"/>
          </a:p>
          <a:p>
            <a:r>
              <a:rPr lang="en-US" sz="1200" dirty="0"/>
              <a:t>This is a map of responsibilities, not a required installation checklist. Applications call the inference API. The gateway handles ingress, auth and traffic policy. KAITO manages lifecycle; </a:t>
            </a:r>
            <a:r>
              <a:rPr lang="en-US" sz="1200" dirty="0" err="1"/>
              <a:t>llm</a:t>
            </a:r>
            <a:r>
              <a:rPr lang="en-US" sz="1200" dirty="0"/>
              <a:t>-d selects endpoints.</a:t>
            </a:r>
          </a:p>
          <a:p>
            <a:r>
              <a:rPr lang="en-US" sz="1200" dirty="0" err="1"/>
              <a:t>vLLM</a:t>
            </a:r>
            <a:r>
              <a:rPr lang="en-US" sz="1200" dirty="0"/>
              <a:t> runs prefill, decode and batching. NIXL moves KV; cache systems reuse or offload it. </a:t>
            </a:r>
            <a:r>
              <a:rPr lang="en-US" sz="1200" b="1" dirty="0"/>
              <a:t>And we depend on Kubernetes to provide</a:t>
            </a:r>
            <a:r>
              <a:rPr lang="en-US" sz="1200" dirty="0"/>
              <a:t> the whole infrastructure to support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With KAITO and </a:t>
            </a:r>
            <a:r>
              <a:rPr lang="en-US" sz="1200" b="1" dirty="0" err="1"/>
              <a:t>llm</a:t>
            </a:r>
            <a:r>
              <a:rPr lang="en-US" sz="1200" b="1" dirty="0"/>
              <a:t>-d</a:t>
            </a:r>
            <a:r>
              <a:rPr lang="en-US" sz="1200" dirty="0"/>
              <a:t>, we </a:t>
            </a:r>
            <a:r>
              <a:rPr lang="en-US" sz="1200" dirty="0" err="1"/>
              <a:t>eeclare</a:t>
            </a:r>
            <a:r>
              <a:rPr lang="en-US" sz="1200" dirty="0"/>
              <a:t> both roles together. Keep orchestration separate from execution. Serve one model through one endpoint. Give prefill and decode their own placement and replica counts.</a:t>
            </a:r>
          </a:p>
          <a:p>
            <a:r>
              <a:rPr lang="en-US" sz="1200" dirty="0"/>
              <a:t>KAITO maintains the role topology. </a:t>
            </a:r>
            <a:r>
              <a:rPr lang="en-US" sz="1200" dirty="0" err="1"/>
              <a:t>InferencePool</a:t>
            </a:r>
            <a:r>
              <a:rPr lang="en-US" sz="1200" dirty="0"/>
              <a:t> links to the gateway. </a:t>
            </a:r>
            <a:r>
              <a:rPr lang="en-US" sz="1200" dirty="0" err="1"/>
              <a:t>llm</a:t>
            </a:r>
            <a:r>
              <a:rPr lang="en-US" sz="1200" dirty="0"/>
              <a:t>-d selects workers and coordinates requests. </a:t>
            </a:r>
            <a:r>
              <a:rPr lang="en-US" sz="1200" dirty="0" err="1"/>
              <a:t>vLLM</a:t>
            </a:r>
            <a:r>
              <a:rPr lang="en-US" sz="1200" dirty="0"/>
              <a:t> runs the prefill and decode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Now that we have separate prefill and decode workers, the next question is: which workers should handle each request?</a:t>
            </a:r>
          </a:p>
          <a:p>
            <a:r>
              <a:rPr lang="zh-CN" altLang="zh-CN" sz="1100" b="1" i="0" u="none" strike="noStrike" cap="none" spc="0" dirty="0">
                <a:solidFill>
                  <a:srgbClr val="000000"/>
                </a:solidFill>
                <a:effectLst/>
                <a:latin typeface="Arial"/>
                <a:ea typeface="Arial"/>
                <a:cs typeface="Arial"/>
                <a:sym typeface="Arial"/>
              </a:rPr>
              <a:t>That’s where llm-d’s Endpoint Picker, or EPP, comes in. </a:t>
            </a:r>
            <a:endParaRPr lang="en-US" altLang="zh-CN" sz="1100" b="1" i="0" u="none" strike="noStrike" cap="none" spc="0" dirty="0">
              <a:solidFill>
                <a:srgbClr val="000000"/>
              </a:solidFill>
              <a:effectLst/>
              <a:latin typeface="Arial"/>
              <a:ea typeface="Arial"/>
              <a:cs typeface="Arial"/>
              <a:sym typeface="Arial"/>
            </a:endParaRPr>
          </a:p>
          <a:p>
            <a:r>
              <a:rPr lang="en-US" altLang="zh-CN" sz="1100" b="1" i="0" u="none" strike="noStrike" cap="none" spc="0" dirty="0">
                <a:solidFill>
                  <a:srgbClr val="000000"/>
                </a:solidFill>
                <a:effectLst/>
                <a:latin typeface="Arial"/>
                <a:ea typeface="Arial"/>
                <a:cs typeface="Arial"/>
                <a:sym typeface="Arial"/>
              </a:rPr>
              <a:t>When there is a new request, t</a:t>
            </a:r>
            <a:r>
              <a:rPr lang="zh-CN" altLang="zh-CN" sz="1100" b="1" i="0" u="none" strike="noStrike" cap="none" spc="0" dirty="0">
                <a:solidFill>
                  <a:srgbClr val="000000"/>
                </a:solidFill>
                <a:effectLst/>
                <a:latin typeface="Arial"/>
                <a:ea typeface="Arial"/>
                <a:cs typeface="Arial"/>
                <a:sym typeface="Arial"/>
              </a:rPr>
              <a:t>he gateway asks the EPP to choose a decode worker—and, when remote prefill is needed, a prefill worker as well.</a:t>
            </a:r>
          </a:p>
          <a:p>
            <a:pPr>
              <a:spcAft>
                <a:spcPts val="150"/>
              </a:spcAft>
              <a:defRPr sz="1600" b="0">
                <a:solidFill>
                  <a:srgbClr val="5B6E80"/>
                </a:solidFill>
                <a:latin typeface="Arial"/>
              </a:defRPr>
            </a:pPr>
            <a:r>
              <a:rPr lang="zh-CN" altLang="zh-CN" sz="1100" b="1" i="0" u="none" strike="noStrike" cap="none" spc="0" dirty="0">
                <a:solidFill>
                  <a:srgbClr val="000000"/>
                </a:solidFill>
                <a:effectLst/>
                <a:latin typeface="Arial"/>
                <a:ea typeface="Arial"/>
                <a:cs typeface="Arial"/>
                <a:sym typeface="Arial"/>
              </a:rPr>
              <a:t>The selection logic is built from plugins. </a:t>
            </a:r>
            <a:r>
              <a:rPr lang="zh-CN" altLang="zh-CN" sz="1100" b="0" i="0" u="none" strike="noStrike" cap="none" spc="0" dirty="0">
                <a:solidFill>
                  <a:srgbClr val="000000"/>
                </a:solidFill>
                <a:effectLst/>
                <a:latin typeface="Arial"/>
                <a:ea typeface="Arial"/>
                <a:cs typeface="Arial"/>
                <a:sym typeface="Arial"/>
              </a:rPr>
              <a:t>We can combine </a:t>
            </a:r>
            <a:r>
              <a:rPr lang="en-US" altLang="zh-CN" sz="1100" cap="none" dirty="0">
                <a:latin typeface="Arial"/>
              </a:rPr>
              <a:t>KV-aware and P/D-aware plugins, </a:t>
            </a:r>
            <a:r>
              <a:rPr lang="zh-CN" altLang="zh-CN" sz="1100" b="0" i="0" u="none" strike="noStrike" cap="none" spc="0" dirty="0">
                <a:solidFill>
                  <a:srgbClr val="000000"/>
                </a:solidFill>
                <a:effectLst/>
                <a:latin typeface="Arial"/>
                <a:ea typeface="Arial"/>
                <a:cs typeface="Arial"/>
                <a:sym typeface="Arial"/>
              </a:rPr>
              <a:t>add new policies through </a:t>
            </a:r>
            <a:r>
              <a:rPr lang="en-US" altLang="zh-CN" sz="1100" cap="none" dirty="0">
                <a:latin typeface="Arial"/>
              </a:rPr>
              <a:t>plugins</a:t>
            </a:r>
            <a:r>
              <a:rPr lang="zh-CN" altLang="zh-CN" sz="1100" b="0" i="0" u="none" strike="noStrike" cap="none" spc="0" dirty="0">
                <a:solidFill>
                  <a:srgbClr val="000000"/>
                </a:solidFill>
                <a:effectLst/>
                <a:latin typeface="Arial"/>
                <a:ea typeface="Arial"/>
                <a:cs typeface="Arial"/>
                <a:sym typeface="Arial"/>
              </a:rPr>
              <a:t>.</a:t>
            </a:r>
          </a:p>
          <a:p>
            <a:pPr>
              <a:spcAft>
                <a:spcPts val="150"/>
              </a:spcAft>
              <a:defRPr sz="1400" b="1">
                <a:solidFill>
                  <a:srgbClr val="10243A"/>
                </a:solidFill>
                <a:latin typeface="Arial"/>
              </a:defRPr>
            </a:pPr>
            <a:r>
              <a:rPr lang="en-US" altLang="zh-CN" sz="1100" b="0" cap="none" dirty="0">
                <a:latin typeface="Arial"/>
              </a:rPr>
              <a:t>KAITO reuses </a:t>
            </a:r>
            <a:r>
              <a:rPr lang="en-US" altLang="zh-CN" sz="1100" b="0" cap="none" dirty="0" err="1">
                <a:latin typeface="Arial"/>
              </a:rPr>
              <a:t>llm</a:t>
            </a:r>
            <a:r>
              <a:rPr lang="en-US" altLang="zh-CN" sz="1100" b="0" cap="none" dirty="0">
                <a:latin typeface="Arial"/>
              </a:rPr>
              <a:t>-d’s routing decisions instead of building a second routing engine.</a:t>
            </a:r>
          </a:p>
          <a:p>
            <a:r>
              <a:rPr lang="zh-CN" altLang="zh-CN" sz="1100" b="1" i="0" u="none" strike="noStrike" cap="none" spc="0" dirty="0">
                <a:solidFill>
                  <a:srgbClr val="000000"/>
                </a:solidFill>
                <a:effectLst/>
                <a:latin typeface="Arial"/>
                <a:ea typeface="Arial"/>
                <a:cs typeface="Arial"/>
                <a:sym typeface="Arial"/>
              </a:rPr>
              <a:t>Next, let’s see how those choices fit into the full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KAITO manages resources. HTTP carries requests. NIXL moves KV between runtimes. </a:t>
            </a:r>
          </a:p>
          <a:p>
            <a:r>
              <a:rPr lang="en-US" sz="1200" b="1" dirty="0"/>
              <a:t>Start at the top</a:t>
            </a:r>
            <a:r>
              <a:rPr lang="en-US" sz="1200" dirty="0"/>
              <a:t>: KAITO maintains the role </a:t>
            </a:r>
            <a:r>
              <a:rPr lang="en-US" sz="1200" dirty="0" err="1"/>
              <a:t>InferenceSets</a:t>
            </a:r>
            <a:r>
              <a:rPr lang="en-US" sz="1200" dirty="0"/>
              <a:t>, </a:t>
            </a:r>
            <a:r>
              <a:rPr lang="en-US" sz="1200" dirty="0" err="1"/>
              <a:t>InferencePool</a:t>
            </a:r>
            <a:r>
              <a:rPr lang="en-US" sz="1200" dirty="0"/>
              <a:t> and runtime wiring.</a:t>
            </a:r>
          </a:p>
          <a:p>
            <a:r>
              <a:rPr lang="en-US" sz="1200" b="1" dirty="0"/>
              <a:t>For a request, the gateway consults the EPP, then forwards to the selected decode sidecar. The sidecar calls remote prefill when needed and local decode. </a:t>
            </a:r>
            <a:r>
              <a:rPr lang="en-US" sz="1200" dirty="0"/>
              <a:t>The client uses one endpoint. KV data bypasses the gateway, EPP and routing sidecar. </a:t>
            </a:r>
            <a:r>
              <a:rPr lang="en-US" sz="1200" b="1" dirty="0"/>
              <a:t>NIXL would move KV data between prefill and decode </a:t>
            </a:r>
            <a:r>
              <a:rPr lang="en-US" sz="1200" b="1" dirty="0" err="1"/>
              <a:t>vLLM</a:t>
            </a:r>
            <a:r>
              <a:rPr lang="en-US" sz="1200" b="1" dirty="0"/>
              <a:t> runtime directly.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One </a:t>
            </a:r>
            <a:r>
              <a:rPr lang="en-US" sz="1200" dirty="0" err="1"/>
              <a:t>MultiRoleInference</a:t>
            </a:r>
            <a:r>
              <a:rPr lang="en-US" sz="1200" dirty="0"/>
              <a:t> declares both roles. This KAITO </a:t>
            </a:r>
            <a:r>
              <a:rPr lang="en-US" sz="1200" dirty="0" err="1"/>
              <a:t>yaml</a:t>
            </a:r>
            <a:r>
              <a:rPr lang="en-US" sz="1200" dirty="0"/>
              <a:t> example sets one prefill replica on A100 and two decode replicas on H100</a:t>
            </a:r>
          </a:p>
          <a:p>
            <a:r>
              <a:rPr lang="en-US" sz="1200" dirty="0"/>
              <a:t>On the right, we still have one logical service and </a:t>
            </a:r>
            <a:r>
              <a:rPr lang="en-US" sz="1200" dirty="0" err="1"/>
              <a:t>InferencePool</a:t>
            </a:r>
            <a:r>
              <a:rPr lang="en-US" sz="1200" dirty="0"/>
              <a:t>. </a:t>
            </a:r>
            <a:r>
              <a:rPr lang="en-US" sz="1200" b="1" dirty="0"/>
              <a:t>Both roles serve the same model. </a:t>
            </a:r>
            <a:r>
              <a:rPr lang="en-US" sz="1200" dirty="0"/>
              <a:t>Each has its own </a:t>
            </a:r>
            <a:r>
              <a:rPr lang="en-US" sz="1200" dirty="0" err="1"/>
              <a:t>InferenceSet</a:t>
            </a:r>
            <a:r>
              <a:rPr lang="en-US" sz="1200" dirty="0"/>
              <a:t> and capacity settings. </a:t>
            </a:r>
          </a:p>
          <a:p>
            <a:pPr marL="158750" indent="0">
              <a:buNone/>
            </a:pP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KAITO creates resources and keeps them aligned</a:t>
            </a:r>
            <a:endParaRPr lang="en-US" sz="1200" b="0" dirty="0"/>
          </a:p>
          <a:p>
            <a:r>
              <a:rPr lang="en-US" sz="1200" dirty="0"/>
              <a:t>KAITO turns the declared topology into workers, routing resources and runtime wiring. For prefill, KAITO set </a:t>
            </a:r>
            <a:r>
              <a:rPr lang="en-US" altLang="zh-CN" sz="1200" cap="none" dirty="0" err="1">
                <a:latin typeface="Arial"/>
              </a:rPr>
              <a:t>lm</a:t>
            </a:r>
            <a:r>
              <a:rPr lang="en-US" altLang="zh-CN" sz="1200" cap="none" dirty="0">
                <a:latin typeface="Arial"/>
              </a:rPr>
              <a:t>-d </a:t>
            </a:r>
            <a:r>
              <a:rPr lang="en-US" sz="1200" dirty="0"/>
              <a:t>role labels and the NIXL host or Pod IP. For decode, KAITO injects the </a:t>
            </a:r>
            <a:r>
              <a:rPr lang="en-US" sz="1200" dirty="0" err="1"/>
              <a:t>llm</a:t>
            </a:r>
            <a:r>
              <a:rPr lang="en-US" sz="1200" dirty="0"/>
              <a:t>-d sidecar. Align NIXL and </a:t>
            </a:r>
            <a:r>
              <a:rPr lang="en-US" sz="1200" dirty="0" err="1"/>
              <a:t>vLLM</a:t>
            </a:r>
            <a:r>
              <a:rPr lang="en-US" sz="1200" dirty="0"/>
              <a:t> ports.</a:t>
            </a:r>
          </a:p>
          <a:p>
            <a:r>
              <a:rPr lang="en-US" sz="1200" dirty="0"/>
              <a:t>For routing, </a:t>
            </a:r>
            <a:r>
              <a:rPr lang="en-US" sz="1200" dirty="0" err="1"/>
              <a:t>llm</a:t>
            </a:r>
            <a:r>
              <a:rPr lang="en-US" sz="1200" dirty="0"/>
              <a:t>-d connect Services, ports and endpoint selection. </a:t>
            </a:r>
            <a:r>
              <a:rPr lang="en-US" sz="1200" b="1" dirty="0"/>
              <a:t>So with KAITO and </a:t>
            </a:r>
            <a:r>
              <a:rPr lang="en-US" sz="1200" b="1" dirty="0" err="1"/>
              <a:t>llm</a:t>
            </a:r>
            <a:r>
              <a:rPr lang="en-US" sz="1200" b="1" dirty="0"/>
              <a:t>-d</a:t>
            </a:r>
            <a:r>
              <a:rPr lang="en-US" sz="1200" dirty="0"/>
              <a:t>, we keep ownership, roles, labels, ports and lifecycle consistent. </a:t>
            </a:r>
          </a:p>
          <a:p>
            <a:r>
              <a:rPr lang="en-US" sz="1200" dirty="0"/>
              <a:t>KAITO keeps the resources working together; it does not just generate YAML.</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decode sidecar coordinates the P/D request</a:t>
            </a:r>
            <a:endParaRPr lang="en-US" sz="1200" b="0" dirty="0"/>
          </a:p>
          <a:p>
            <a:r>
              <a:rPr lang="en-US" sz="1200" dirty="0"/>
              <a:t>The sidecar calls remote prefill when needed, then invokes local decode. </a:t>
            </a:r>
          </a:p>
          <a:p>
            <a:r>
              <a:rPr lang="en-US" sz="1200" b="1" dirty="0"/>
              <a:t>So here is the graph which shows the whole process.</a:t>
            </a:r>
          </a:p>
          <a:p>
            <a:endParaRPr lang="en-US" sz="1200" dirty="0"/>
          </a:p>
          <a:p>
            <a:r>
              <a:rPr lang="zh-CN" altLang="zh-CN" sz="1100" b="1" i="0" u="none" strike="noStrike" cap="none" spc="0" dirty="0">
                <a:solidFill>
                  <a:srgbClr val="000000"/>
                </a:solidFill>
                <a:effectLst/>
                <a:latin typeface="Arial"/>
                <a:ea typeface="Arial"/>
                <a:cs typeface="Arial"/>
                <a:sym typeface="Arial"/>
              </a:rPr>
              <a:t>Starting with step one, the gateway sends the request to the decode sidecar.</a:t>
            </a:r>
          </a:p>
          <a:p>
            <a:r>
              <a:rPr lang="zh-CN" altLang="zh-CN" sz="1100" b="1" i="0" u="none" strike="noStrike" cap="none" spc="0" dirty="0">
                <a:solidFill>
                  <a:srgbClr val="000000"/>
                </a:solidFill>
                <a:effectLst/>
                <a:latin typeface="Arial"/>
                <a:ea typeface="Arial"/>
                <a:cs typeface="Arial"/>
                <a:sym typeface="Arial"/>
              </a:rPr>
              <a:t>The sidecar calls the remote prefill worker to process the prompt. Prefill returns the KV cache metadata—not the actual KV data.</a:t>
            </a:r>
          </a:p>
          <a:p>
            <a:r>
              <a:rPr lang="zh-CN" altLang="zh-CN" sz="1100" b="1" i="0" u="none" strike="noStrike" cap="none" spc="0" dirty="0">
                <a:solidFill>
                  <a:srgbClr val="000000"/>
                </a:solidFill>
                <a:effectLst/>
                <a:latin typeface="Arial"/>
                <a:ea typeface="Arial"/>
                <a:cs typeface="Arial"/>
                <a:sym typeface="Arial"/>
              </a:rPr>
              <a:t>The sidecar passes that metadata to the local decode worker, which uses NIXL to fetch the KV cache directly from prefill and generate the response.</a:t>
            </a:r>
          </a:p>
          <a:p>
            <a:r>
              <a:rPr lang="zh-CN" altLang="zh-CN" sz="1100" b="1" i="0" u="none" strike="noStrike" cap="none" spc="0" dirty="0">
                <a:solidFill>
                  <a:srgbClr val="000000"/>
                </a:solidFill>
                <a:effectLst/>
                <a:latin typeface="Arial"/>
                <a:ea typeface="Arial"/>
                <a:cs typeface="Arial"/>
                <a:sym typeface="Arial"/>
              </a:rPr>
              <a:t>The response then goes back through the sidecar and gateway to the client.</a:t>
            </a:r>
          </a:p>
          <a:p>
            <a:r>
              <a:rPr lang="zh-CN" altLang="zh-CN" sz="1100" b="1" i="0" u="none" strike="noStrike" cap="none" spc="0" dirty="0">
                <a:solidFill>
                  <a:srgbClr val="000000"/>
                </a:solidFill>
                <a:effectLst/>
                <a:latin typeface="Arial"/>
                <a:ea typeface="Arial"/>
                <a:cs typeface="Arial"/>
                <a:sym typeface="Arial"/>
              </a:rPr>
              <a:t>So, the sidecar coordinates the request, while the runtimes transfer the KV data directly.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Next  is how do we </a:t>
            </a:r>
            <a:r>
              <a:rPr lang="en-US" sz="1200" dirty="0" err="1"/>
              <a:t>autoscale</a:t>
            </a:r>
            <a:r>
              <a:rPr lang="en-US" sz="1200" dirty="0"/>
              <a:t> in p/d disaggregation scenario.</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We scale the role that needs more capacity and </a:t>
            </a:r>
            <a:r>
              <a:rPr lang="en-US" sz="1200" dirty="0"/>
              <a:t>let prefill and decode make separate capacity decisions. Match signals to each role’s load. Tune thresholds against latency targets.</a:t>
            </a:r>
          </a:p>
          <a:p>
            <a:pPr marL="457200" lvl="0" indent="-298450">
              <a:buClr>
                <a:srgbClr val="000000"/>
              </a:buClr>
              <a:buSzPts val="1100"/>
              <a:buFont typeface="Arial"/>
              <a:buChar char="●"/>
            </a:pPr>
            <a:r>
              <a:rPr lang="en-US" sz="1200" dirty="0"/>
              <a:t>Prefill needs to protect time to first token. Start with </a:t>
            </a:r>
            <a:r>
              <a:rPr lang="en-US" sz="1200" dirty="0" err="1"/>
              <a:t>vLLM</a:t>
            </a:r>
            <a:r>
              <a:rPr lang="en-US" sz="1200" dirty="0"/>
              <a:t> waiting requests. Decode needs to sustain steady token delivery, which is </a:t>
            </a:r>
            <a:r>
              <a:rPr lang="en-US" altLang="zh-CN" sz="1200" dirty="0"/>
              <a:t>Inter-Token Latency, that is ITL. It starts with </a:t>
            </a:r>
            <a:r>
              <a:rPr lang="en-US" altLang="zh-CN" sz="1200" dirty="0" err="1"/>
              <a:t>vLLM</a:t>
            </a:r>
            <a:r>
              <a:rPr lang="en-US" altLang="zh-CN" sz="1200" dirty="0"/>
              <a:t> running requests.</a:t>
            </a:r>
            <a:endParaRPr lang="en-US" sz="1200" dirty="0"/>
          </a:p>
          <a:p>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dirty="0"/>
              <a:t>Now, autoscaling. This is how KAITO changes the number of replicas as load moves. The component is keda-kaito-scaler.</a:t>
            </a:r>
          </a:p>
          <a:p>
            <a:r>
              <a:rPr lang="en-US" dirty="0"/>
              <a:t>It builds on KEDA, but adds three things that matter for GPUs.</a:t>
            </a:r>
          </a:p>
          <a:p>
            <a:r>
              <a:rPr lang="en-US" dirty="0"/>
              <a:t>First, no extra dependencies - it does not need Prometheus. It reads metrics directly from vLLM, on each pod. Less to install, less to break.</a:t>
            </a:r>
          </a:p>
          <a:p>
            <a:r>
              <a:rPr lang="en-US" dirty="0"/>
              <a:t>Second, it is GPU-safe. GPU nodes are expensive and slow to start, so it moves gently - only one copy up or down at a time. That keeps things smooth and avoids waste.</a:t>
            </a:r>
          </a:p>
          <a:p>
            <a:r>
              <a:rPr lang="en-US" dirty="0"/>
              <a:t>Third, it can watch more than one signal at once - like queue length and latency together - and it only scales up when both agree there is real pressure.</a:t>
            </a:r>
          </a:p>
          <a:p>
            <a:r>
              <a:rPr lang="en-US" dirty="0"/>
              <a:t>So it is autoscaling made for GPU inference: simple, safe on cost, driven by what the server really sees. Next, how does KAITO configures these signals.</a:t>
            </a:r>
          </a:p>
        </p:txBody>
      </p:sp>
    </p:spTree>
    <p:extLst>
      <p:ext uri="{BB962C8B-B14F-4D97-AF65-F5344CB8AC3E}">
        <p14:creationId xmlns:p14="http://schemas.microsoft.com/office/powerpoint/2010/main" val="31905224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dirty="0"/>
              <a:t>Here is the example config about how KAITO configures autoscaling based on two </a:t>
            </a:r>
            <a:r>
              <a:rPr lang="en-US" dirty="0" err="1"/>
              <a:t>vLLM</a:t>
            </a:r>
            <a:r>
              <a:rPr lang="en-US" dirty="0"/>
              <a:t> metrics, it’s all defined in the annotations of </a:t>
            </a:r>
            <a:r>
              <a:rPr lang="en-US" dirty="0" err="1"/>
              <a:t>InferenceSet</a:t>
            </a:r>
            <a:r>
              <a:rPr lang="en-US" dirty="0"/>
              <a:t>.</a:t>
            </a:r>
          </a:p>
          <a:p>
            <a:r>
              <a:rPr lang="en-US" dirty="0"/>
              <a:t>While this example only works for P/D aggregation mode.</a:t>
            </a:r>
          </a:p>
        </p:txBody>
      </p:sp>
    </p:spTree>
    <p:extLst>
      <p:ext uri="{BB962C8B-B14F-4D97-AF65-F5344CB8AC3E}">
        <p14:creationId xmlns:p14="http://schemas.microsoft.com/office/powerpoint/2010/main" val="36214008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And for p/d disaggregation mode, there is new problem.</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We want to </a:t>
            </a:r>
            <a:r>
              <a:rPr lang="en-US" altLang="zh-CN" sz="1200" b="0" cap="none" dirty="0">
                <a:solidFill>
                  <a:srgbClr val="142C46"/>
                </a:solidFill>
                <a:latin typeface="Arial"/>
              </a:rPr>
              <a:t>let prefill and decode scale independently.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Prefill watches waiting requests and scales prefill </a:t>
            </a:r>
            <a:r>
              <a:rPr lang="en-US" sz="1200" dirty="0" err="1"/>
              <a:t>InferenceSet</a:t>
            </a:r>
            <a:r>
              <a:rPr lang="en-US" sz="1200" dirty="0"/>
              <a:t>. Decode watches running requests and scales decode </a:t>
            </a:r>
            <a:r>
              <a:rPr lang="en-US" sz="1200" dirty="0" err="1"/>
              <a:t>InferenceSet</a:t>
            </a:r>
            <a:r>
              <a:rPr lang="en-US" sz="1200" dirty="0"/>
              <a:t>.</a:t>
            </a:r>
          </a:p>
          <a:p>
            <a:r>
              <a:rPr lang="en-US" sz="1200" dirty="0"/>
              <a:t>Give each target one owner. Allow warm-up time, stabilize changes and scale down safely. </a:t>
            </a:r>
          </a:p>
          <a:p>
            <a:r>
              <a:rPr lang="en-US" sz="1200" b="1" dirty="0"/>
              <a:t>Independent capacity decisions are the goal; KEDA and HPA are the way to implement them.</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Here is the KAITO autoscaling example which could </a:t>
            </a:r>
            <a:r>
              <a:rPr lang="en-US" altLang="zh-CN" sz="1200" dirty="0"/>
              <a:t>scale prefill and decode separately.</a:t>
            </a:r>
          </a:p>
          <a:p>
            <a:pPr marL="457200" lvl="0" indent="-298450">
              <a:buClr>
                <a:srgbClr val="000000"/>
              </a:buClr>
              <a:buSzPts val="1100"/>
              <a:buFont typeface="Arial"/>
              <a:buChar char="●"/>
            </a:pPr>
            <a:r>
              <a:rPr lang="en-US" sz="1200" dirty="0"/>
              <a:t>In the </a:t>
            </a:r>
            <a:r>
              <a:rPr lang="en-US" sz="1200" dirty="0" err="1"/>
              <a:t>yaml</a:t>
            </a:r>
            <a:r>
              <a:rPr lang="en-US" sz="1200" dirty="0"/>
              <a:t> config, we have set minimum replicas as 1, maximum replicas as 8 for prefill role, prefill would watch on </a:t>
            </a:r>
            <a:r>
              <a:rPr lang="en-US" sz="1200" dirty="0" err="1"/>
              <a:t>vLLM</a:t>
            </a:r>
            <a:r>
              <a:rPr lang="en-US" sz="1200" dirty="0"/>
              <a:t> </a:t>
            </a:r>
            <a:r>
              <a:rPr lang="en-US" altLang="zh-CN" sz="1200" b="0" dirty="0">
                <a:solidFill>
                  <a:srgbClr val="00B050"/>
                </a:solidFill>
              </a:rPr>
              <a:t>number of waiting requests metrics. And we have set </a:t>
            </a:r>
            <a:r>
              <a:rPr lang="en-US" altLang="zh-CN" sz="1200" dirty="0"/>
              <a:t>minimum replicas as 2, maximum replicas as 16 for decode role, decode would watch on </a:t>
            </a:r>
            <a:r>
              <a:rPr lang="en-US" altLang="zh-CN" sz="1200" dirty="0" err="1"/>
              <a:t>vLLM</a:t>
            </a:r>
            <a:r>
              <a:rPr lang="en-US" altLang="zh-CN" sz="1200" dirty="0"/>
              <a:t> </a:t>
            </a:r>
            <a:r>
              <a:rPr lang="en-US" altLang="zh-CN" sz="1200" b="0" dirty="0">
                <a:solidFill>
                  <a:srgbClr val="00B050"/>
                </a:solidFill>
              </a:rPr>
              <a:t>number of running requests metrics. </a:t>
            </a:r>
          </a:p>
          <a:p>
            <a:pPr marL="457200" lvl="0" indent="-298450">
              <a:buClr>
                <a:srgbClr val="000000"/>
              </a:buClr>
              <a:buSzPts val="1100"/>
              <a:buFont typeface="Arial"/>
              <a:buChar char="●"/>
            </a:pPr>
            <a:r>
              <a:rPr lang="en-US" sz="1200" b="0" dirty="0">
                <a:solidFill>
                  <a:srgbClr val="00B050"/>
                </a:solidFill>
              </a:rPr>
              <a:t>On the right side, if waiting requests is 12, running is 12, then prefill requests scale up, decode holds. And later on if running requests exceeds 24, decode can scale up on it’s own.</a:t>
            </a:r>
            <a:endParaRPr lang="en-US" sz="1200" b="0"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This slide just explains the former </a:t>
            </a:r>
            <a:r>
              <a:rPr lang="en-US" sz="1200" dirty="0" err="1"/>
              <a:t>yaml</a:t>
            </a:r>
            <a:r>
              <a:rPr lang="en-US" sz="1200" dirty="0"/>
              <a:t> config, KAITO </a:t>
            </a:r>
            <a:r>
              <a:rPr lang="en-US" altLang="zh-CN" sz="1200" b="0" dirty="0">
                <a:solidFill>
                  <a:srgbClr val="142C46"/>
                </a:solidFill>
              </a:rPr>
              <a:t>scales prefill and decode using separate metrics</a:t>
            </a:r>
            <a:r>
              <a:rPr lang="en-US" altLang="zh-CN" sz="1200" b="0" cap="none" dirty="0">
                <a:solidFill>
                  <a:srgbClr val="142C46"/>
                </a:solidFill>
                <a:latin typeface="Arial"/>
              </a:rPr>
              <a:t>. </a:t>
            </a:r>
            <a:r>
              <a:rPr lang="en-US" sz="1200" dirty="0"/>
              <a:t>Verify service-to-replica mapping before averaging each role’s load.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Besides the former </a:t>
            </a:r>
            <a:r>
              <a:rPr lang="en-US" sz="1200" dirty="0" err="1"/>
              <a:t>vLLM</a:t>
            </a:r>
            <a:r>
              <a:rPr lang="en-US" sz="1200" dirty="0"/>
              <a:t> number of waiting requests, number of running requests, we have other </a:t>
            </a:r>
            <a:r>
              <a:rPr lang="en-US" sz="1200" dirty="0" err="1"/>
              <a:t>vLL</a:t>
            </a:r>
            <a:r>
              <a:rPr lang="en-US" altLang="zh-CN" sz="1200" dirty="0" err="1"/>
              <a:t>M</a:t>
            </a:r>
            <a:r>
              <a:rPr lang="en-US" sz="1200" dirty="0"/>
              <a:t> metrics, like </a:t>
            </a:r>
            <a:r>
              <a:rPr lang="en-US" sz="1200" dirty="0" err="1"/>
              <a:t>kv_cache_usage_percentage</a:t>
            </a:r>
            <a:r>
              <a:rPr lang="en-US" sz="1200" dirty="0"/>
              <a:t>, which monitors the </a:t>
            </a:r>
            <a:r>
              <a:rPr lang="en-US" sz="1200" dirty="0" err="1"/>
              <a:t>kv</a:t>
            </a:r>
            <a:r>
              <a:rPr lang="en-US" sz="1200" dirty="0"/>
              <a:t> cache usage, and time to first token seconds which </a:t>
            </a:r>
            <a:r>
              <a:rPr lang="en-US" altLang="zh-CN" sz="1200" cap="none" dirty="0">
                <a:latin typeface="Arial"/>
              </a:rPr>
              <a:t>shows engine-side TTFT tails</a:t>
            </a:r>
            <a:r>
              <a:rPr lang="en-US" sz="1200" dirty="0"/>
              <a:t>, and generation token total which shows the output rate. We could monitor on those metrics to write different autoscaling strategy for prefill and decode roles.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What’s the next plan for KAITO and </a:t>
            </a:r>
            <a:r>
              <a:rPr lang="en-US" sz="1200" dirty="0" err="1"/>
              <a:t>llm</a:t>
            </a:r>
            <a:r>
              <a:rPr lang="en-US" sz="1200" dirty="0"/>
              <a:t>-d integration.</a:t>
            </a:r>
          </a:p>
          <a:p>
            <a:r>
              <a:rPr lang="en-US" sz="1200" dirty="0"/>
              <a:t>There are mainly three parts. </a:t>
            </a:r>
          </a:p>
          <a:p>
            <a:pPr>
              <a:spcAft>
                <a:spcPts val="375"/>
              </a:spcAft>
              <a:defRPr sz="1700" b="0">
                <a:solidFill>
                  <a:srgbClr val="172941"/>
                </a:solidFill>
                <a:latin typeface="Arial"/>
              </a:defRPr>
            </a:pPr>
            <a:r>
              <a:rPr lang="en-US" sz="1200" dirty="0"/>
              <a:t>First, we should enable precise cache aware severing, make KAITO route </a:t>
            </a:r>
            <a:r>
              <a:rPr lang="en-US" altLang="zh-CN" sz="1200" cap="none" dirty="0">
                <a:latin typeface="Arial"/>
              </a:rPr>
              <a:t>using KV cache events, and supports tier cache </a:t>
            </a:r>
            <a:r>
              <a:rPr lang="en-US" altLang="zh-CN" sz="1050" cap="none" dirty="0">
                <a:latin typeface="Arial"/>
              </a:rPr>
              <a:t>across HBM, CPU RAM</a:t>
            </a:r>
          </a:p>
          <a:p>
            <a:pPr>
              <a:spcAft>
                <a:spcPts val="375"/>
              </a:spcAft>
              <a:defRPr sz="1700" b="0">
                <a:solidFill>
                  <a:srgbClr val="172941"/>
                </a:solidFill>
                <a:latin typeface="Arial"/>
              </a:defRPr>
            </a:pPr>
            <a:r>
              <a:rPr lang="en-US" altLang="zh-CN" sz="1200" dirty="0"/>
              <a:t>and optional filesystems.</a:t>
            </a:r>
          </a:p>
          <a:p>
            <a:pPr>
              <a:spcAft>
                <a:spcPts val="375"/>
              </a:spcAft>
              <a:defRPr sz="1700" b="0">
                <a:solidFill>
                  <a:srgbClr val="172941"/>
                </a:solidFill>
                <a:latin typeface="Arial"/>
              </a:defRPr>
            </a:pPr>
            <a:r>
              <a:rPr lang="en-US" sz="1200" dirty="0"/>
              <a:t>Second, </a:t>
            </a:r>
            <a:r>
              <a:rPr lang="en-US" altLang="zh-CN" sz="1200" cap="none" dirty="0">
                <a:latin typeface="Arial"/>
              </a:rPr>
              <a:t>add Encode to Prefill / Decode, s</a:t>
            </a:r>
            <a:r>
              <a:rPr lang="en-US" altLang="zh-CN" sz="1200" dirty="0">
                <a:solidFill>
                  <a:srgbClr val="172941"/>
                </a:solidFill>
              </a:rPr>
              <a:t>upport more inference roles.</a:t>
            </a:r>
          </a:p>
          <a:p>
            <a:pPr>
              <a:spcAft>
                <a:spcPts val="375"/>
              </a:spcAft>
              <a:defRPr sz="1700" b="0">
                <a:solidFill>
                  <a:srgbClr val="172941"/>
                </a:solidFill>
                <a:latin typeface="Arial"/>
              </a:defRPr>
            </a:pPr>
            <a:r>
              <a:rPr lang="en-US" altLang="zh-CN" sz="1200" dirty="0">
                <a:solidFill>
                  <a:srgbClr val="172941"/>
                </a:solidFill>
              </a:rPr>
              <a:t>Third, support explore wide expert parallelism, improve cross-node transport </a:t>
            </a:r>
            <a:r>
              <a:rPr lang="en-US" altLang="zh-CN" sz="1200" cap="none" dirty="0">
                <a:latin typeface="Arial"/>
              </a:rPr>
              <a:t>and communication.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dirty="0"/>
              <a:t>Explore the projects, then try the KAITO + </a:t>
            </a:r>
            <a:r>
              <a:rPr lang="en-US" sz="1200" dirty="0" err="1"/>
              <a:t>llm</a:t>
            </a:r>
            <a:r>
              <a:rPr lang="en-US" sz="1200" dirty="0"/>
              <a:t>-d P/D guide. </a:t>
            </a:r>
            <a:r>
              <a:rPr lang="en-US" sz="1200" dirty="0" err="1"/>
              <a:t>llm</a:t>
            </a:r>
            <a:r>
              <a:rPr lang="en-US" sz="1200" dirty="0"/>
              <a:t>-d and KAITO are both CNCF Sandbox projects. Start with their repositories for the code, check </a:t>
            </a:r>
            <a:r>
              <a:rPr lang="en-US" sz="1200" dirty="0" err="1"/>
              <a:t>keda</a:t>
            </a:r>
            <a:r>
              <a:rPr lang="en-US" sz="1200" dirty="0"/>
              <a:t>-</a:t>
            </a:r>
            <a:r>
              <a:rPr lang="en-US" sz="1200" dirty="0" err="1"/>
              <a:t>kaito</a:t>
            </a:r>
            <a:r>
              <a:rPr lang="en-US" sz="1200" dirty="0"/>
              <a:t>-scaler for scaling details, and use the P/D guide for prerequisites and configuration.</a:t>
            </a:r>
          </a:p>
          <a:p>
            <a:endParaRPr lang="en-US" sz="1200" dirty="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6"/>
        <p:cNvGrpSpPr/>
        <p:nvPr/>
      </p:nvGrpSpPr>
      <p:grpSpPr>
        <a:xfrm>
          <a:off x="0" y="0"/>
          <a:ext cx="0" cy="0"/>
          <a:chOff x="0" y="0"/>
          <a:chExt cx="0" cy="0"/>
        </a:xfrm>
      </p:grpSpPr>
      <p:sp>
        <p:nvSpPr>
          <p:cNvPr id="3047" name="Google Shape;3047;g3ce3da0444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048" name="Google Shape;3048;g3ce3da04442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zh-CN" altLang="zh-CN" sz="1100" b="0" i="0" u="none" strike="noStrike" cap="none" dirty="0">
                <a:solidFill>
                  <a:srgbClr val="000000"/>
                </a:solidFill>
                <a:effectLst/>
                <a:latin typeface="Arial"/>
                <a:ea typeface="Arial"/>
                <a:cs typeface="Arial"/>
                <a:sym typeface="Arial"/>
              </a:rPr>
              <a:t>All of these components are open. On the left, you can find the llm-d website, GitHub organization, and community Slack. On the right are the KAITO documentation and GitHub organization. We welcome you to try the well-lit paths, reproduce the experiments, and bring your real workloads and feedback back to the communities.</a:t>
            </a:r>
            <a:br>
              <a:rPr lang="zh-CN" altLang="zh-CN" dirty="0"/>
            </a:br>
            <a:endParaRP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Today, KEDA scales an </a:t>
            </a:r>
            <a:r>
              <a:rPr lang="en-US" sz="1200" dirty="0" err="1"/>
              <a:t>InferenceSet</a:t>
            </a:r>
            <a:r>
              <a:rPr lang="en-US" sz="1200" dirty="0"/>
              <a:t>. KAITO documents scheduled scaling and metric-based scaling with KEDA. KEDA and HPA set replicas on the </a:t>
            </a:r>
            <a:r>
              <a:rPr lang="en-US" sz="1200" dirty="0" err="1"/>
              <a:t>InferenceSet</a:t>
            </a:r>
            <a:r>
              <a:rPr lang="en-US" sz="1200" dirty="0"/>
              <a:t>. KAITO adjusts serving resources.</a:t>
            </a:r>
          </a:p>
          <a:p>
            <a:r>
              <a:rPr lang="en-US" sz="1200" dirty="0"/>
              <a:t>One example watches queues, using </a:t>
            </a:r>
            <a:r>
              <a:rPr lang="en-US" sz="1200" dirty="0" err="1"/>
              <a:t>vllm:num_requests_waiting</a:t>
            </a:r>
            <a:r>
              <a:rPr lang="en-US" sz="1200" dirty="0"/>
              <a:t>. KEDA is installed separately. This is the existing scaling mechanism, not a finished MRI policy. Scale the complete serving replica, not an individual tensor-parallel worker.</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dirty="0"/>
              <a:t>KV moves between runtimes, not through the gateway or routing sidecar. Prefill builds KV in GPU memory. Decode reuses KV to keep generating. NIXL uses a transport backend. Decode may initiate the read.</a:t>
            </a:r>
          </a:p>
          <a:p>
            <a:r>
              <a:rPr lang="en-US" sz="1200" dirty="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38.xml.rels><?xml version="1.0" encoding="UTF-8" standalone="yes"?>
<Relationships xmlns="http://schemas.openxmlformats.org/package/2006/relationships"><Relationship Id="rId8" Type="http://schemas.openxmlformats.org/officeDocument/2006/relationships/hyperlink" Target="https://kaito-project.github.io/kaito/docs/" TargetMode="External"/><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hyperlink" Target="http://llm-d.ai/slack" TargetMode="External"/><Relationship Id="rId11" Type="http://schemas.openxmlformats.org/officeDocument/2006/relationships/image" Target="../media/image34.png"/><Relationship Id="rId5" Type="http://schemas.openxmlformats.org/officeDocument/2006/relationships/hyperlink" Target="http://github.com/llm-d" TargetMode="External"/><Relationship Id="rId10" Type="http://schemas.openxmlformats.org/officeDocument/2006/relationships/image" Target="../media/image33.png"/><Relationship Id="rId4" Type="http://schemas.openxmlformats.org/officeDocument/2006/relationships/hyperlink" Target="http://llm-d.ai/" TargetMode="External"/><Relationship Id="rId9" Type="http://schemas.openxmlformats.org/officeDocument/2006/relationships/hyperlink" Target="https://github.com/kaito-project"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050084"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841057" y="3934733"/>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Prefill </a:t>
            </a:r>
            <a:r>
              <a:rPr lang="en-US" sz="1125" dirty="0"/>
              <a:t>use the final position’s scores to select “Kubernetes”</a:t>
            </a:r>
            <a:r>
              <a:rPr sz="1125" cap="none" dirty="0">
                <a:latin typeface="Arial"/>
              </a:rPr>
              <a:t>.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lang="en-US" sz="1275" cap="none" dirty="0">
                <a:latin typeface="Arial"/>
              </a:rPr>
              <a:t>Prefill </a:t>
            </a:r>
            <a:r>
              <a:rPr sz="1275" cap="none" dirty="0">
                <a:latin typeface="Arial"/>
              </a:rPr>
              <a:t>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lang="en-US" sz="1200" cap="none" dirty="0">
                <a:latin typeface="Arial"/>
              </a:rPr>
              <a:t>prefill</a:t>
            </a:r>
            <a:r>
              <a:rPr sz="1200" cap="none" dirty="0">
                <a:latin typeface="Arial"/>
              </a:rPr>
              <a:t>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13190"/>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a:t>
            </a:r>
            <a:r>
              <a:rPr sz="1275" b="1" cap="none" dirty="0">
                <a:latin typeface="Arial"/>
              </a:rPr>
              <a:t>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13190"/>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a:t>
            </a:r>
            <a:r>
              <a:rPr sz="1275" b="1" cap="none" dirty="0">
                <a:latin typeface="Arial"/>
              </a:rPr>
              <a:t>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439112"/>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dirty="0">
                <a:latin typeface="Arial"/>
              </a:rPr>
              <a:t>Prompt bursts can disrupt token delivery.</a:t>
            </a:r>
          </a:p>
          <a:p>
            <a:pPr>
              <a:spcAft>
                <a:spcPts val="375"/>
              </a:spcAft>
              <a:defRPr sz="1900" b="0">
                <a:solidFill>
                  <a:srgbClr val="172941"/>
                </a:solidFill>
                <a:latin typeface="Arial"/>
              </a:defRPr>
            </a:pPr>
            <a:endParaRPr sz="1425" dirty="0"/>
          </a:p>
          <a:p>
            <a:pPr>
              <a:spcAft>
                <a:spcPts val="375"/>
              </a:spcAft>
              <a:defRPr sz="1900" b="0">
                <a:solidFill>
                  <a:srgbClr val="172941"/>
                </a:solidFill>
                <a:latin typeface="Arial"/>
              </a:defRPr>
            </a:pPr>
            <a:r>
              <a:rPr lang="en-US" sz="1425" dirty="0"/>
              <a:t>We scale the whole replica, even when only prefill or decode needs more capacity.</a:t>
            </a:r>
            <a:endParaRPr sz="1425" cap="none" dirty="0">
              <a:latin typeface="Arial"/>
            </a:endParaRP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3" y="4450842"/>
            <a:ext cx="8455913"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r>
              <a:rPr lang="en-US" sz="1125" cap="none" dirty="0">
                <a:latin typeface="Arial"/>
              </a:rPr>
              <a:t> since it requires KV handoff between nodes.</a:t>
            </a:r>
            <a:endParaRPr sz="1125" cap="none" dirty="0">
              <a:latin typeface="Arial"/>
            </a:endParaRP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dirty="0">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dirty="0">
                <a:latin typeface="Arial"/>
              </a:rPr>
              <a:t>One worker does both</a:t>
            </a:r>
            <a:r>
              <a:rPr lang="en-US" sz="1050" cap="none" dirty="0">
                <a:latin typeface="Arial"/>
              </a:rPr>
              <a:t> </a:t>
            </a:r>
            <a:r>
              <a:rPr lang="en-US" altLang="zh-CN" sz="1050" cap="none" dirty="0">
                <a:latin typeface="Arial"/>
              </a:rPr>
              <a:t>P &amp; D</a:t>
            </a:r>
            <a:endParaRPr sz="1050" cap="none" dirty="0">
              <a:latin typeface="Arial"/>
            </a:endParaRP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lang="en-US" sz="975" b="1" dirty="0"/>
              <a:t>Requests </a:t>
            </a:r>
            <a:r>
              <a:rPr sz="975" b="1" cap="none" dirty="0">
                <a:latin typeface="Arial"/>
              </a:rPr>
              <a:t>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Prefill and decode batch different work</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Prefill batches prompt positions;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process </a:t>
            </a:r>
            <a:r>
              <a:rPr lang="en-US" sz="1200" dirty="0"/>
              <a:t>the prompt’s tokens in parallel</a:t>
            </a:r>
            <a:endParaRPr sz="1200" cap="none" dirty="0">
              <a:latin typeface="Arial"/>
            </a:endParaRP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lang="en-US" sz="1050" dirty="0"/>
              <a:t>batch multiple prompts together for efficiency</a:t>
            </a:r>
            <a:endParaRPr sz="1050" cap="none" dirty="0">
              <a:latin typeface="Arial"/>
            </a:endParaRP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74663"/>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1000" cap="none" dirty="0">
                <a:latin typeface="Arial"/>
              </a:rPr>
              <a:t>Then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745556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Separate </a:t>
            </a:r>
            <a:r>
              <a:rPr lang="en-US" sz="2100" b="1" cap="none" dirty="0">
                <a:solidFill>
                  <a:srgbClr val="142C46"/>
                </a:solidFill>
                <a:latin typeface="Arial"/>
              </a:rPr>
              <a:t>GPU </a:t>
            </a:r>
            <a:r>
              <a:rPr sz="2100" b="1" cap="none" dirty="0">
                <a:solidFill>
                  <a:srgbClr val="142C46"/>
                </a:solidFill>
                <a:latin typeface="Arial"/>
              </a:rPr>
              <a:t>pools let us tune each phase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lang="en-US" sz="1200" dirty="0">
                <a:solidFill>
                  <a:srgbClr val="52677D"/>
                </a:solidFill>
              </a:rPr>
              <a:t>real benefit is scaling prefill and decode independently to match demand—not simply splitting them into two deployments</a:t>
            </a:r>
            <a:endParaRPr sz="1200" cap="none" dirty="0">
              <a:solidFill>
                <a:srgbClr val="52677D"/>
              </a:solidFill>
              <a:latin typeface="Arial"/>
            </a:endParaRP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Prefill is often </a:t>
            </a:r>
            <a:r>
              <a:rPr sz="1350" b="1" cap="none" dirty="0">
                <a:latin typeface="Arial"/>
              </a:rPr>
              <a:t>compute-bound</a:t>
            </a:r>
          </a:p>
          <a:p>
            <a:pPr>
              <a:spcAft>
                <a:spcPts val="375"/>
              </a:spcAft>
              <a:defRPr sz="1800" b="0">
                <a:solidFill>
                  <a:srgbClr val="172941"/>
                </a:solidFill>
                <a:latin typeface="Arial"/>
              </a:defRPr>
            </a:pPr>
            <a:r>
              <a:rPr sz="1350" cap="none" dirty="0">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Decode is often </a:t>
            </a:r>
            <a:r>
              <a:rPr lang="en-US" sz="1350" b="1" cap="none" dirty="0">
                <a:latin typeface="Arial"/>
              </a:rPr>
              <a:t>memory-</a:t>
            </a:r>
            <a:r>
              <a:rPr sz="1350" b="1" cap="none" dirty="0">
                <a:latin typeface="Arial"/>
              </a:rPr>
              <a:t>bandwidth-bound</a:t>
            </a:r>
          </a:p>
          <a:p>
            <a:pPr>
              <a:spcAft>
                <a:spcPts val="375"/>
              </a:spcAft>
              <a:defRPr sz="1800" b="0">
                <a:solidFill>
                  <a:srgbClr val="172941"/>
                </a:solidFill>
                <a:latin typeface="Arial"/>
              </a:defRPr>
            </a:pPr>
            <a:r>
              <a:rPr sz="1350" cap="none" dirty="0">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dirty="0">
                <a:latin typeface="Arial"/>
              </a:rPr>
              <a:t>Different capacity </a:t>
            </a:r>
            <a:r>
              <a:rPr lang="en-US" sz="1350" cap="none" dirty="0">
                <a:latin typeface="Arial"/>
              </a:rPr>
              <a:t>needs</a:t>
            </a:r>
            <a:endParaRPr sz="1350" cap="none" dirty="0">
              <a:latin typeface="Arial"/>
            </a:endParaRP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158750" algn="ctr">
              <a:spcAft>
                <a:spcPts val="375"/>
              </a:spcAft>
              <a:buSzPts val="1100"/>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a:t>
            </a:r>
            <a:r>
              <a:rPr lang="en-US" sz="1050" cap="none" dirty="0">
                <a:latin typeface="Arial"/>
              </a:rPr>
              <a:t>ies</a:t>
            </a:r>
            <a:endParaRPr sz="1050" cap="none" dirty="0">
              <a:latin typeface="Arial"/>
            </a:endParaRP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685925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The hard part is the Kubernetes wiring</a:t>
            </a:r>
            <a:r>
              <a:rPr lang="en-US" sz="2100" b="1" cap="none" dirty="0">
                <a:solidFill>
                  <a:srgbClr val="142C46"/>
                </a:solidFill>
                <a:latin typeface="Arial"/>
              </a:rPr>
              <a:t> to support P/D</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Routing, KV transfer, labels, ports and readiness must stay in sync</a:t>
            </a:r>
            <a:r>
              <a:rPr lang="en-US" sz="1125" dirty="0"/>
              <a:t>, even when pods restart or we scale. </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dirty="0">
                <a:latin typeface="Arial"/>
              </a:rPr>
              <a:t>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108608-17E5-7B6D-7E28-99CBA2F215A6}"/>
              </a:ext>
            </a:extLst>
          </p:cNvPr>
          <p:cNvSpPr>
            <a:spLocks noGrp="1"/>
          </p:cNvSpPr>
          <p:nvPr>
            <p:ph type="title" idx="4294967295"/>
          </p:nvPr>
        </p:nvSpPr>
        <p:spPr>
          <a:xfrm>
            <a:off x="0" y="0"/>
            <a:ext cx="6950075" cy="1047750"/>
          </a:xfrm>
        </p:spPr>
        <p:txBody>
          <a:bodyPr>
            <a:normAutofit/>
          </a:bodyPr>
          <a:lstStyle/>
          <a:p>
            <a:r>
              <a:rPr lang="zh-CN" altLang="zh-CN" sz="2800" dirty="0"/>
              <a:t>Production Distributed Inference Architecture</a:t>
            </a:r>
            <a:endParaRPr lang="zh-CN" altLang="en-US" sz="2800" dirty="0"/>
          </a:p>
        </p:txBody>
      </p:sp>
      <p:sp>
        <p:nvSpPr>
          <p:cNvPr id="85" name="application-rail-box">
            <a:extLst>
              <a:ext uri="{FF2B5EF4-FFF2-40B4-BE49-F238E27FC236}">
                <a16:creationId xmlns:a16="http://schemas.microsoft.com/office/drawing/2014/main" id="{A7F0BE18-D8B7-6DC5-F1F5-9FFE9AA4A4EC}"/>
              </a:ext>
            </a:extLst>
          </p:cNvPr>
          <p:cNvSpPr>
            <a:spLocks noGrp="1"/>
          </p:cNvSpPr>
          <p:nvPr/>
        </p:nvSpPr>
        <p:spPr>
          <a:xfrm>
            <a:off x="76201" y="1214619"/>
            <a:ext cx="762000" cy="381000"/>
          </a:xfrm>
          <a:prstGeom prst="roundRect">
            <a:avLst>
              <a:gd name="adj" fmla="val 10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a:solidFill>
                  <a:srgbClr val="FFFFFF"/>
                </a:solidFill>
                <a:latin typeface="Arial"/>
                <a:ea typeface="Arial"/>
                <a:cs typeface="Arial"/>
              </a:rPr>
              <a:t>Application</a:t>
            </a:r>
          </a:p>
          <a:p>
            <a:pPr algn="ctr">
              <a:defRPr sz="750" b="1">
                <a:solidFill>
                  <a:srgbClr val="FFFFFF"/>
                </a:solidFill>
                <a:latin typeface="Arial"/>
                <a:ea typeface="Arial"/>
                <a:cs typeface="Arial"/>
              </a:defRPr>
            </a:pPr>
            <a:r>
              <a:rPr sz="800" b="1">
                <a:solidFill>
                  <a:srgbClr val="FFFFFF"/>
                </a:solidFill>
                <a:latin typeface="Arial"/>
                <a:ea typeface="Arial"/>
                <a:cs typeface="Arial"/>
              </a:rPr>
              <a:t>Layer</a:t>
            </a:r>
          </a:p>
        </p:txBody>
      </p:sp>
      <p:sp>
        <p:nvSpPr>
          <p:cNvPr id="86" name="application-surface">
            <a:extLst>
              <a:ext uri="{FF2B5EF4-FFF2-40B4-BE49-F238E27FC236}">
                <a16:creationId xmlns:a16="http://schemas.microsoft.com/office/drawing/2014/main" id="{FC6739DF-595B-0861-5B4C-3EB609F0BE25}"/>
              </a:ext>
            </a:extLst>
          </p:cNvPr>
          <p:cNvSpPr>
            <a:spLocks noGrp="1"/>
          </p:cNvSpPr>
          <p:nvPr/>
        </p:nvSpPr>
        <p:spPr>
          <a:xfrm>
            <a:off x="933451" y="1214619"/>
            <a:ext cx="6191250" cy="381000"/>
          </a:xfrm>
          <a:prstGeom prst="roundRect">
            <a:avLst>
              <a:gd name="adj" fmla="val 10000"/>
            </a:avLst>
          </a:prstGeom>
          <a:solidFill>
            <a:srgbClr val="FFFFFF"/>
          </a:solidFill>
          <a:ln w="9525">
            <a:solidFill>
              <a:srgbClr val="D7DEE8"/>
            </a:solidFill>
            <a:prstDash val="solid"/>
          </a:ln>
        </p:spPr>
        <p:txBody>
          <a:bodyPr/>
          <a:lstStyle/>
          <a:p>
            <a:endParaRPr lang="zh-CN" altLang="en-US" sz="1600"/>
          </a:p>
        </p:txBody>
      </p:sp>
      <p:sp>
        <p:nvSpPr>
          <p:cNvPr id="87" name="application-items-1-box">
            <a:extLst>
              <a:ext uri="{FF2B5EF4-FFF2-40B4-BE49-F238E27FC236}">
                <a16:creationId xmlns:a16="http://schemas.microsoft.com/office/drawing/2014/main" id="{BEA3F104-EC15-50E4-8804-0470EBD25CC5}"/>
              </a:ext>
            </a:extLst>
          </p:cNvPr>
          <p:cNvSpPr>
            <a:spLocks noGrp="1"/>
          </p:cNvSpPr>
          <p:nvPr/>
        </p:nvSpPr>
        <p:spPr>
          <a:xfrm>
            <a:off x="100965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Web / H5</a:t>
            </a:r>
          </a:p>
        </p:txBody>
      </p:sp>
      <p:sp>
        <p:nvSpPr>
          <p:cNvPr id="88" name="application-items-2-box">
            <a:extLst>
              <a:ext uri="{FF2B5EF4-FFF2-40B4-BE49-F238E27FC236}">
                <a16:creationId xmlns:a16="http://schemas.microsoft.com/office/drawing/2014/main" id="{57E157B9-D48E-A70C-5494-69B0C8A18EAB}"/>
              </a:ext>
            </a:extLst>
          </p:cNvPr>
          <p:cNvSpPr>
            <a:spLocks noGrp="1"/>
          </p:cNvSpPr>
          <p:nvPr/>
        </p:nvSpPr>
        <p:spPr>
          <a:xfrm>
            <a:off x="222504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Mobile Apps</a:t>
            </a:r>
          </a:p>
        </p:txBody>
      </p:sp>
      <p:sp>
        <p:nvSpPr>
          <p:cNvPr id="89" name="application-items-3-box">
            <a:extLst>
              <a:ext uri="{FF2B5EF4-FFF2-40B4-BE49-F238E27FC236}">
                <a16:creationId xmlns:a16="http://schemas.microsoft.com/office/drawing/2014/main" id="{AF6EAF3A-86AC-BECC-5A7D-DE5355C98487}"/>
              </a:ext>
            </a:extLst>
          </p:cNvPr>
          <p:cNvSpPr>
            <a:spLocks noGrp="1"/>
          </p:cNvSpPr>
          <p:nvPr/>
        </p:nvSpPr>
        <p:spPr>
          <a:xfrm>
            <a:off x="344043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Enterprise Applications</a:t>
            </a:r>
          </a:p>
        </p:txBody>
      </p:sp>
      <p:sp>
        <p:nvSpPr>
          <p:cNvPr id="90" name="application-items-4-box">
            <a:extLst>
              <a:ext uri="{FF2B5EF4-FFF2-40B4-BE49-F238E27FC236}">
                <a16:creationId xmlns:a16="http://schemas.microsoft.com/office/drawing/2014/main" id="{34B4D230-2C91-F76F-810B-3B7C3D5A2CB2}"/>
              </a:ext>
            </a:extLst>
          </p:cNvPr>
          <p:cNvSpPr>
            <a:spLocks noGrp="1"/>
          </p:cNvSpPr>
          <p:nvPr/>
        </p:nvSpPr>
        <p:spPr>
          <a:xfrm>
            <a:off x="465582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Third-party Applications</a:t>
            </a:r>
          </a:p>
        </p:txBody>
      </p:sp>
      <p:sp>
        <p:nvSpPr>
          <p:cNvPr id="91" name="application-items-5-box">
            <a:extLst>
              <a:ext uri="{FF2B5EF4-FFF2-40B4-BE49-F238E27FC236}">
                <a16:creationId xmlns:a16="http://schemas.microsoft.com/office/drawing/2014/main" id="{1D1A6355-73EA-D445-E7EF-D9224D4305DF}"/>
              </a:ext>
            </a:extLst>
          </p:cNvPr>
          <p:cNvSpPr>
            <a:spLocks noGrp="1"/>
          </p:cNvSpPr>
          <p:nvPr/>
        </p:nvSpPr>
        <p:spPr>
          <a:xfrm>
            <a:off x="587121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a:t>
            </a:r>
          </a:p>
        </p:txBody>
      </p:sp>
      <p:sp>
        <p:nvSpPr>
          <p:cNvPr id="92" name="inference-rail-box">
            <a:extLst>
              <a:ext uri="{FF2B5EF4-FFF2-40B4-BE49-F238E27FC236}">
                <a16:creationId xmlns:a16="http://schemas.microsoft.com/office/drawing/2014/main" id="{18DF6413-76FC-31B2-239D-B1BF29732B34}"/>
              </a:ext>
            </a:extLst>
          </p:cNvPr>
          <p:cNvSpPr>
            <a:spLocks noGrp="1"/>
          </p:cNvSpPr>
          <p:nvPr/>
        </p:nvSpPr>
        <p:spPr>
          <a:xfrm>
            <a:off x="76201" y="1652769"/>
            <a:ext cx="762000" cy="2057400"/>
          </a:xfrm>
          <a:prstGeom prst="roundRect">
            <a:avLst>
              <a:gd name="adj" fmla="val 5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dirty="0">
                <a:solidFill>
                  <a:srgbClr val="FFFFFF"/>
                </a:solidFill>
                <a:latin typeface="Arial"/>
                <a:ea typeface="Arial"/>
                <a:cs typeface="Arial"/>
              </a:rPr>
              <a:t>Inference</a:t>
            </a:r>
          </a:p>
          <a:p>
            <a:pPr algn="ctr">
              <a:defRPr sz="750" b="1">
                <a:solidFill>
                  <a:srgbClr val="FFFFFF"/>
                </a:solidFill>
                <a:latin typeface="Arial"/>
                <a:ea typeface="Arial"/>
                <a:cs typeface="Arial"/>
              </a:defRPr>
            </a:pPr>
            <a:r>
              <a:rPr sz="800" b="1" dirty="0">
                <a:solidFill>
                  <a:srgbClr val="FFFFFF"/>
                </a:solidFill>
                <a:latin typeface="Arial"/>
                <a:ea typeface="Arial"/>
                <a:cs typeface="Arial"/>
              </a:rPr>
              <a:t>Layer</a:t>
            </a:r>
          </a:p>
        </p:txBody>
      </p:sp>
      <p:sp>
        <p:nvSpPr>
          <p:cNvPr id="93" name="inference-core-surface">
            <a:extLst>
              <a:ext uri="{FF2B5EF4-FFF2-40B4-BE49-F238E27FC236}">
                <a16:creationId xmlns:a16="http://schemas.microsoft.com/office/drawing/2014/main" id="{318E048E-0E1C-139B-BB3F-18BC924CB124}"/>
              </a:ext>
            </a:extLst>
          </p:cNvPr>
          <p:cNvSpPr>
            <a:spLocks noGrp="1"/>
          </p:cNvSpPr>
          <p:nvPr/>
        </p:nvSpPr>
        <p:spPr>
          <a:xfrm>
            <a:off x="933451" y="1652769"/>
            <a:ext cx="6191250" cy="2057400"/>
          </a:xfrm>
          <a:prstGeom prst="roundRect">
            <a:avLst>
              <a:gd name="adj" fmla="val 2315"/>
            </a:avLst>
          </a:prstGeom>
          <a:solidFill>
            <a:srgbClr val="F9FCF7"/>
          </a:solidFill>
          <a:ln w="9525">
            <a:solidFill>
              <a:srgbClr val="CFE3C7"/>
            </a:solidFill>
            <a:prstDash val="solid"/>
          </a:ln>
        </p:spPr>
        <p:txBody>
          <a:bodyPr/>
          <a:lstStyle/>
          <a:p>
            <a:endParaRPr lang="zh-CN" altLang="en-US" sz="1600"/>
          </a:p>
        </p:txBody>
      </p:sp>
      <p:sp>
        <p:nvSpPr>
          <p:cNvPr id="94" name="inferx-box">
            <a:extLst>
              <a:ext uri="{FF2B5EF4-FFF2-40B4-BE49-F238E27FC236}">
                <a16:creationId xmlns:a16="http://schemas.microsoft.com/office/drawing/2014/main" id="{220BC63F-1079-1FEB-140C-CF510E2917AD}"/>
              </a:ext>
            </a:extLst>
          </p:cNvPr>
          <p:cNvSpPr>
            <a:spLocks noGrp="1"/>
          </p:cNvSpPr>
          <p:nvPr/>
        </p:nvSpPr>
        <p:spPr>
          <a:xfrm>
            <a:off x="990601" y="1709919"/>
            <a:ext cx="6019800" cy="219075"/>
          </a:xfrm>
          <a:prstGeom prst="roundRect">
            <a:avLst>
              <a:gd name="adj" fmla="val 21739"/>
            </a:avLst>
          </a:prstGeom>
          <a:solidFill>
            <a:srgbClr val="247A06"/>
          </a:solidFill>
          <a:ln w="9525">
            <a:solidFill>
              <a:srgbClr val="247A06"/>
            </a:solidFill>
            <a:prstDash val="solid"/>
          </a:ln>
        </p:spPr>
        <p:txBody>
          <a:bodyPr wrap="square" lIns="28575" tIns="9525" rIns="28575" bIns="9525" anchor="ctr">
            <a:normAutofit/>
          </a:bodyPr>
          <a:lstStyle/>
          <a:p>
            <a:pPr algn="ctr">
              <a:defRPr sz="825" b="1">
                <a:solidFill>
                  <a:srgbClr val="FFFFFF"/>
                </a:solidFill>
                <a:latin typeface="Arial"/>
                <a:ea typeface="Arial"/>
                <a:cs typeface="Arial"/>
              </a:defRPr>
            </a:pPr>
            <a:r>
              <a:rPr lang="en-US" sz="900" b="1" dirty="0">
                <a:solidFill>
                  <a:srgbClr val="FFFFFF"/>
                </a:solidFill>
              </a:rPr>
              <a:t>AI</a:t>
            </a:r>
            <a:r>
              <a:rPr lang="en-US" sz="900" b="1" dirty="0">
                <a:solidFill>
                  <a:srgbClr val="FFFFFF"/>
                </a:solidFill>
                <a:latin typeface="Arial"/>
                <a:ea typeface="Arial"/>
                <a:cs typeface="Arial"/>
              </a:rPr>
              <a:t> </a:t>
            </a:r>
            <a:r>
              <a:rPr lang="en-US" sz="900" b="1" dirty="0">
                <a:solidFill>
                  <a:srgbClr val="FFFFFF"/>
                </a:solidFill>
              </a:rPr>
              <a:t>G</a:t>
            </a:r>
            <a:r>
              <a:rPr lang="en-US" sz="900" b="1" dirty="0">
                <a:solidFill>
                  <a:srgbClr val="FFFFFF"/>
                </a:solidFill>
                <a:latin typeface="Arial"/>
                <a:ea typeface="Arial"/>
                <a:cs typeface="Arial"/>
              </a:rPr>
              <a:t>ateway</a:t>
            </a:r>
            <a:r>
              <a:rPr sz="900" b="1" dirty="0">
                <a:solidFill>
                  <a:srgbClr val="FFFFFF"/>
                </a:solidFill>
                <a:latin typeface="Arial"/>
                <a:ea typeface="Arial"/>
                <a:cs typeface="Arial"/>
              </a:rPr>
              <a:t> </a:t>
            </a:r>
            <a:r>
              <a:rPr lang="en-US" sz="900" b="1" dirty="0">
                <a:solidFill>
                  <a:srgbClr val="FFFFFF"/>
                </a:solidFill>
                <a:latin typeface="Arial"/>
                <a:ea typeface="Arial"/>
                <a:cs typeface="Arial"/>
              </a:rPr>
              <a:t>(Business Logic)</a:t>
            </a:r>
            <a:r>
              <a:rPr sz="900" b="1" dirty="0">
                <a:solidFill>
                  <a:srgbClr val="FFFFFF"/>
                </a:solidFill>
                <a:latin typeface="Arial"/>
                <a:ea typeface="Arial"/>
                <a:cs typeface="Arial"/>
              </a:rPr>
              <a:t> (</a:t>
            </a:r>
            <a:r>
              <a:rPr lang="en-US" sz="900" b="1" dirty="0" err="1">
                <a:solidFill>
                  <a:srgbClr val="FFFFFF"/>
                </a:solidFill>
                <a:latin typeface="Arial"/>
                <a:ea typeface="Arial"/>
                <a:cs typeface="Arial"/>
              </a:rPr>
              <a:t>AgentGateway</a:t>
            </a:r>
            <a:r>
              <a:rPr lang="en-US" sz="900" b="1" dirty="0">
                <a:solidFill>
                  <a:srgbClr val="FFFFFF"/>
                </a:solidFill>
              </a:rPr>
              <a:t> , Higress</a:t>
            </a:r>
            <a:r>
              <a:rPr sz="900" b="1" dirty="0">
                <a:solidFill>
                  <a:srgbClr val="FFFFFF"/>
                </a:solidFill>
                <a:latin typeface="Arial"/>
                <a:ea typeface="Arial"/>
                <a:cs typeface="Arial"/>
              </a:rPr>
              <a:t>)</a:t>
            </a:r>
          </a:p>
        </p:txBody>
      </p:sp>
      <p:sp>
        <p:nvSpPr>
          <p:cNvPr id="95" name="orchestration-frame">
            <a:extLst>
              <a:ext uri="{FF2B5EF4-FFF2-40B4-BE49-F238E27FC236}">
                <a16:creationId xmlns:a16="http://schemas.microsoft.com/office/drawing/2014/main" id="{8FB5F1C0-3018-7932-FBBC-E52D91340907}"/>
              </a:ext>
            </a:extLst>
          </p:cNvPr>
          <p:cNvSpPr>
            <a:spLocks noGrp="1"/>
          </p:cNvSpPr>
          <p:nvPr/>
        </p:nvSpPr>
        <p:spPr>
          <a:xfrm>
            <a:off x="990601" y="1976619"/>
            <a:ext cx="6076950" cy="514350"/>
          </a:xfrm>
          <a:prstGeom prst="roundRect">
            <a:avLst>
              <a:gd name="adj" fmla="val 7407"/>
            </a:avLst>
          </a:prstGeom>
          <a:solidFill>
            <a:srgbClr val="FFFFFF"/>
          </a:solidFill>
          <a:ln w="9525">
            <a:solidFill>
              <a:srgbClr val="CFE3C7"/>
            </a:solidFill>
            <a:prstDash val="solid"/>
          </a:ln>
        </p:spPr>
        <p:txBody>
          <a:bodyPr/>
          <a:lstStyle/>
          <a:p>
            <a:endParaRPr lang="zh-CN" altLang="en-US" sz="1600"/>
          </a:p>
        </p:txBody>
      </p:sp>
      <p:sp>
        <p:nvSpPr>
          <p:cNvPr id="96" name="orchestration-title">
            <a:extLst>
              <a:ext uri="{FF2B5EF4-FFF2-40B4-BE49-F238E27FC236}">
                <a16:creationId xmlns:a16="http://schemas.microsoft.com/office/drawing/2014/main" id="{5BA7DF17-5A3A-A056-85FE-9BB04DABD02F}"/>
              </a:ext>
            </a:extLst>
          </p:cNvPr>
          <p:cNvSpPr>
            <a:spLocks noGrp="1"/>
          </p:cNvSpPr>
          <p:nvPr/>
        </p:nvSpPr>
        <p:spPr>
          <a:xfrm>
            <a:off x="1047751" y="2005194"/>
            <a:ext cx="5962650" cy="133350"/>
          </a:xfrm>
          <a:prstGeom prst="rect">
            <a:avLst/>
          </a:prstGeom>
          <a:noFill/>
          <a:ln w="0">
            <a:noFill/>
            <a:prstDash val="solid"/>
          </a:ln>
        </p:spPr>
        <p:txBody>
          <a:bodyPr wrap="square" lIns="19050" tIns="9525" rIns="19050" bIns="9525" anchor="ctr">
            <a:noAutofit/>
          </a:bodyPr>
          <a:lstStyle/>
          <a:p>
            <a:pPr algn="ctr">
              <a:defRPr sz="675" b="1">
                <a:solidFill>
                  <a:srgbClr val="2F8B45"/>
                </a:solidFill>
                <a:latin typeface="Arial"/>
                <a:ea typeface="Arial"/>
                <a:cs typeface="Arial"/>
              </a:defRPr>
            </a:pPr>
            <a:r>
              <a:rPr sz="800" b="1" dirty="0">
                <a:solidFill>
                  <a:srgbClr val="2F8B45"/>
                </a:solidFill>
                <a:latin typeface="Arial"/>
                <a:ea typeface="Arial"/>
                <a:cs typeface="Arial"/>
              </a:rPr>
              <a:t>Orchestration Layer  (LLM-D</a:t>
            </a:r>
            <a:r>
              <a:rPr lang="en-US" sz="800" b="1" dirty="0">
                <a:solidFill>
                  <a:srgbClr val="2F8B45"/>
                </a:solidFill>
                <a:latin typeface="Arial"/>
                <a:ea typeface="Arial"/>
                <a:cs typeface="Arial"/>
              </a:rPr>
              <a:t>, KAITO, Dynamo</a:t>
            </a:r>
            <a:r>
              <a:rPr sz="800" b="1" dirty="0">
                <a:solidFill>
                  <a:srgbClr val="2F8B45"/>
                </a:solidFill>
                <a:latin typeface="Arial"/>
                <a:ea typeface="Arial"/>
                <a:cs typeface="Arial"/>
              </a:rPr>
              <a:t>)</a:t>
            </a:r>
          </a:p>
        </p:txBody>
      </p:sp>
      <p:sp>
        <p:nvSpPr>
          <p:cNvPr id="97" name="orchestration-capabilities-1-box">
            <a:extLst>
              <a:ext uri="{FF2B5EF4-FFF2-40B4-BE49-F238E27FC236}">
                <a16:creationId xmlns:a16="http://schemas.microsoft.com/office/drawing/2014/main" id="{0B42DAF5-12F5-56C0-C211-F8B2FA28F646}"/>
              </a:ext>
            </a:extLst>
          </p:cNvPr>
          <p:cNvSpPr>
            <a:spLocks noGrp="1"/>
          </p:cNvSpPr>
          <p:nvPr/>
        </p:nvSpPr>
        <p:spPr>
          <a:xfrm>
            <a:off x="1711146"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Service</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Orchestration</a:t>
            </a:r>
          </a:p>
        </p:txBody>
      </p:sp>
      <p:sp>
        <p:nvSpPr>
          <p:cNvPr id="98" name="orchestration-capabilities-2-box">
            <a:extLst>
              <a:ext uri="{FF2B5EF4-FFF2-40B4-BE49-F238E27FC236}">
                <a16:creationId xmlns:a16="http://schemas.microsoft.com/office/drawing/2014/main" id="{C460F9DE-7201-3B00-BFAC-6B4779F72D19}"/>
              </a:ext>
            </a:extLst>
          </p:cNvPr>
          <p:cNvSpPr>
            <a:spLocks noGrp="1"/>
          </p:cNvSpPr>
          <p:nvPr/>
        </p:nvSpPr>
        <p:spPr>
          <a:xfrm>
            <a:off x="256703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Routing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Load Balancing</a:t>
            </a:r>
          </a:p>
        </p:txBody>
      </p:sp>
      <p:sp>
        <p:nvSpPr>
          <p:cNvPr id="99" name="orchestration-capabilities-3-box">
            <a:extLst>
              <a:ext uri="{FF2B5EF4-FFF2-40B4-BE49-F238E27FC236}">
                <a16:creationId xmlns:a16="http://schemas.microsoft.com/office/drawing/2014/main" id="{CDDCCF35-840B-3FA3-7C86-F00B5F1D7F12}"/>
              </a:ext>
            </a:extLst>
          </p:cNvPr>
          <p:cNvSpPr>
            <a:spLocks noGrp="1"/>
          </p:cNvSpPr>
          <p:nvPr/>
        </p:nvSpPr>
        <p:spPr>
          <a:xfrm>
            <a:off x="342292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Scheduling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Autoscaling</a:t>
            </a:r>
          </a:p>
        </p:txBody>
      </p:sp>
      <p:sp>
        <p:nvSpPr>
          <p:cNvPr id="100" name="orchestration-capabilities-4-box">
            <a:extLst>
              <a:ext uri="{FF2B5EF4-FFF2-40B4-BE49-F238E27FC236}">
                <a16:creationId xmlns:a16="http://schemas.microsoft.com/office/drawing/2014/main" id="{DB1B3049-C44C-3902-4B37-8DAB89330443}"/>
              </a:ext>
            </a:extLst>
          </p:cNvPr>
          <p:cNvSpPr>
            <a:spLocks noGrp="1"/>
          </p:cNvSpPr>
          <p:nvPr/>
        </p:nvSpPr>
        <p:spPr>
          <a:xfrm>
            <a:off x="4278814"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Policy &amp; Strategy</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Management</a:t>
            </a:r>
          </a:p>
        </p:txBody>
      </p:sp>
      <p:sp>
        <p:nvSpPr>
          <p:cNvPr id="102" name="orchestration-capabilities-6-box">
            <a:extLst>
              <a:ext uri="{FF2B5EF4-FFF2-40B4-BE49-F238E27FC236}">
                <a16:creationId xmlns:a16="http://schemas.microsoft.com/office/drawing/2014/main" id="{D4C56765-5941-5A9B-11A7-CA3184DF781D}"/>
              </a:ext>
            </a:extLst>
          </p:cNvPr>
          <p:cNvSpPr>
            <a:spLocks noGrp="1"/>
          </p:cNvSpPr>
          <p:nvPr/>
        </p:nvSpPr>
        <p:spPr>
          <a:xfrm>
            <a:off x="520409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Elastic</a:t>
            </a:r>
          </a:p>
          <a:p>
            <a:pPr algn="ctr">
              <a:defRPr sz="465" b="0">
                <a:solidFill>
                  <a:srgbClr val="102031"/>
                </a:solidFill>
                <a:latin typeface="Arial"/>
                <a:ea typeface="Arial"/>
                <a:cs typeface="Arial"/>
              </a:defRPr>
            </a:pPr>
            <a:r>
              <a:rPr sz="600" b="0">
                <a:solidFill>
                  <a:srgbClr val="102031"/>
                </a:solidFill>
                <a:latin typeface="Arial"/>
                <a:ea typeface="Arial"/>
                <a:cs typeface="Arial"/>
              </a:rPr>
              <a:t>Scaling</a:t>
            </a:r>
          </a:p>
        </p:txBody>
      </p:sp>
      <p:sp>
        <p:nvSpPr>
          <p:cNvPr id="103" name="orchestration-capabilities-7-box">
            <a:extLst>
              <a:ext uri="{FF2B5EF4-FFF2-40B4-BE49-F238E27FC236}">
                <a16:creationId xmlns:a16="http://schemas.microsoft.com/office/drawing/2014/main" id="{142455BB-019D-478E-144D-E85B309E82DD}"/>
              </a:ext>
            </a:extLst>
          </p:cNvPr>
          <p:cNvSpPr>
            <a:spLocks noGrp="1"/>
          </p:cNvSpPr>
          <p:nvPr/>
        </p:nvSpPr>
        <p:spPr>
          <a:xfrm>
            <a:off x="605998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Observability &amp;</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Monitoring</a:t>
            </a:r>
          </a:p>
        </p:txBody>
      </p:sp>
      <p:sp>
        <p:nvSpPr>
          <p:cNvPr id="104" name="runtime-frame">
            <a:extLst>
              <a:ext uri="{FF2B5EF4-FFF2-40B4-BE49-F238E27FC236}">
                <a16:creationId xmlns:a16="http://schemas.microsoft.com/office/drawing/2014/main" id="{1FAF42A9-034D-2498-9D21-870CF65024CE}"/>
              </a:ext>
            </a:extLst>
          </p:cNvPr>
          <p:cNvSpPr>
            <a:spLocks noGrp="1"/>
          </p:cNvSpPr>
          <p:nvPr/>
        </p:nvSpPr>
        <p:spPr>
          <a:xfrm>
            <a:off x="990601" y="2538594"/>
            <a:ext cx="6076950" cy="409575"/>
          </a:xfrm>
          <a:prstGeom prst="roundRect">
            <a:avLst>
              <a:gd name="adj" fmla="val 9302"/>
            </a:avLst>
          </a:prstGeom>
          <a:solidFill>
            <a:srgbClr val="FFFFFF"/>
          </a:solidFill>
          <a:ln w="9525">
            <a:solidFill>
              <a:srgbClr val="CFE3C7"/>
            </a:solidFill>
            <a:prstDash val="solid"/>
          </a:ln>
        </p:spPr>
        <p:txBody>
          <a:bodyPr/>
          <a:lstStyle/>
          <a:p>
            <a:endParaRPr lang="zh-CN" altLang="en-US" sz="1600"/>
          </a:p>
        </p:txBody>
      </p:sp>
      <p:sp>
        <p:nvSpPr>
          <p:cNvPr id="105" name="runtime-title">
            <a:extLst>
              <a:ext uri="{FF2B5EF4-FFF2-40B4-BE49-F238E27FC236}">
                <a16:creationId xmlns:a16="http://schemas.microsoft.com/office/drawing/2014/main" id="{B1F77162-90B2-16C0-A95B-FBEEFECB9417}"/>
              </a:ext>
            </a:extLst>
          </p:cNvPr>
          <p:cNvSpPr>
            <a:spLocks noGrp="1"/>
          </p:cNvSpPr>
          <p:nvPr/>
        </p:nvSpPr>
        <p:spPr>
          <a:xfrm>
            <a:off x="1666876" y="2567169"/>
            <a:ext cx="5334000" cy="123825"/>
          </a:xfrm>
          <a:prstGeom prst="rect">
            <a:avLst/>
          </a:prstGeom>
          <a:noFill/>
          <a:ln w="0">
            <a:noFill/>
            <a:prstDash val="solid"/>
          </a:ln>
        </p:spPr>
        <p:txBody>
          <a:bodyPr wrap="square" lIns="19050" tIns="9525" rIns="19050" bIns="9525" anchor="ctr">
            <a:noAutofit/>
          </a:bodyPr>
          <a:lstStyle/>
          <a:p>
            <a:pPr algn="ctr">
              <a:defRPr sz="638" b="1">
                <a:solidFill>
                  <a:srgbClr val="2F8B45"/>
                </a:solidFill>
                <a:latin typeface="Arial"/>
                <a:ea typeface="Arial"/>
                <a:cs typeface="Arial"/>
              </a:defRPr>
            </a:pPr>
            <a:r>
              <a:rPr sz="700" b="1" dirty="0">
                <a:solidFill>
                  <a:srgbClr val="2F8B45"/>
                </a:solidFill>
                <a:latin typeface="Arial"/>
                <a:ea typeface="Arial"/>
                <a:cs typeface="Arial"/>
              </a:rPr>
              <a:t>Inference Runtime Layer  (</a:t>
            </a:r>
            <a:r>
              <a:rPr sz="700" b="1" dirty="0" err="1">
                <a:solidFill>
                  <a:srgbClr val="2F8B45"/>
                </a:solidFill>
                <a:latin typeface="Arial"/>
                <a:ea typeface="Arial"/>
                <a:cs typeface="Arial"/>
              </a:rPr>
              <a:t>vLLM</a:t>
            </a:r>
            <a:r>
              <a:rPr lang="en-US" sz="700" b="1" dirty="0">
                <a:solidFill>
                  <a:srgbClr val="2F8B45"/>
                </a:solidFill>
                <a:latin typeface="Arial"/>
                <a:ea typeface="Arial"/>
                <a:cs typeface="Arial"/>
              </a:rPr>
              <a:t>, </a:t>
            </a:r>
            <a:r>
              <a:rPr lang="en-US" sz="700" b="1" dirty="0" err="1">
                <a:solidFill>
                  <a:srgbClr val="2F8B45"/>
                </a:solidFill>
                <a:latin typeface="Arial"/>
                <a:ea typeface="Arial"/>
                <a:cs typeface="Arial"/>
              </a:rPr>
              <a:t>SGLang</a:t>
            </a:r>
            <a:r>
              <a:rPr lang="en-US" sz="700" b="1" dirty="0">
                <a:solidFill>
                  <a:srgbClr val="2F8B45"/>
                </a:solidFill>
                <a:latin typeface="Arial"/>
                <a:ea typeface="Arial"/>
                <a:cs typeface="Arial"/>
              </a:rPr>
              <a:t>, Triton </a:t>
            </a:r>
            <a:r>
              <a:rPr sz="700" b="1" dirty="0">
                <a:solidFill>
                  <a:srgbClr val="2F8B45"/>
                </a:solidFill>
                <a:latin typeface="Arial"/>
                <a:ea typeface="Arial"/>
                <a:cs typeface="Arial"/>
              </a:rPr>
              <a:t>)</a:t>
            </a:r>
          </a:p>
        </p:txBody>
      </p:sp>
      <p:sp>
        <p:nvSpPr>
          <p:cNvPr id="106" name="vllm-wordmark">
            <a:extLst>
              <a:ext uri="{FF2B5EF4-FFF2-40B4-BE49-F238E27FC236}">
                <a16:creationId xmlns:a16="http://schemas.microsoft.com/office/drawing/2014/main" id="{1735F861-B3FD-E358-3BB5-BA350EE256E2}"/>
              </a:ext>
            </a:extLst>
          </p:cNvPr>
          <p:cNvSpPr>
            <a:spLocks noGrp="1"/>
          </p:cNvSpPr>
          <p:nvPr/>
        </p:nvSpPr>
        <p:spPr>
          <a:xfrm>
            <a:off x="1066801" y="2681469"/>
            <a:ext cx="552450" cy="190500"/>
          </a:xfrm>
          <a:prstGeom prst="rect">
            <a:avLst/>
          </a:prstGeom>
          <a:noFill/>
          <a:ln w="0">
            <a:noFill/>
            <a:prstDash val="solid"/>
          </a:ln>
        </p:spPr>
        <p:txBody>
          <a:bodyPr wrap="square" lIns="19050" tIns="9525" rIns="19050" bIns="9525" anchor="ctr">
            <a:noAutofit/>
          </a:bodyPr>
          <a:lstStyle/>
          <a:p>
            <a:pPr algn="ctr">
              <a:defRPr sz="1200" b="1">
                <a:solidFill>
                  <a:srgbClr val="475569"/>
                </a:solidFill>
                <a:latin typeface="Arial"/>
                <a:ea typeface="Arial"/>
                <a:cs typeface="Arial"/>
              </a:defRPr>
            </a:pPr>
            <a:r>
              <a:rPr sz="1200" b="1" dirty="0" err="1">
                <a:solidFill>
                  <a:srgbClr val="475569"/>
                </a:solidFill>
                <a:latin typeface="Arial"/>
                <a:ea typeface="Arial"/>
                <a:cs typeface="Arial"/>
              </a:rPr>
              <a:t>vLLM</a:t>
            </a:r>
            <a:endParaRPr sz="1200" b="1" dirty="0">
              <a:solidFill>
                <a:srgbClr val="475569"/>
              </a:solidFill>
              <a:latin typeface="Arial"/>
              <a:ea typeface="Arial"/>
              <a:cs typeface="Arial"/>
            </a:endParaRPr>
          </a:p>
        </p:txBody>
      </p:sp>
      <p:sp>
        <p:nvSpPr>
          <p:cNvPr id="107" name="runtime-capabilities-1-box">
            <a:extLst>
              <a:ext uri="{FF2B5EF4-FFF2-40B4-BE49-F238E27FC236}">
                <a16:creationId xmlns:a16="http://schemas.microsoft.com/office/drawing/2014/main" id="{1B5EEE5A-CE88-FD07-0F39-5C91565950A2}"/>
              </a:ext>
            </a:extLst>
          </p:cNvPr>
          <p:cNvSpPr>
            <a:spLocks noGrp="1"/>
          </p:cNvSpPr>
          <p:nvPr/>
        </p:nvSpPr>
        <p:spPr>
          <a:xfrm>
            <a:off x="167640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Continuous Batching</a:t>
            </a:r>
          </a:p>
        </p:txBody>
      </p:sp>
      <p:sp>
        <p:nvSpPr>
          <p:cNvPr id="108" name="runtime-capabilities-2-box">
            <a:extLst>
              <a:ext uri="{FF2B5EF4-FFF2-40B4-BE49-F238E27FC236}">
                <a16:creationId xmlns:a16="http://schemas.microsoft.com/office/drawing/2014/main" id="{8231CD6F-71C3-8B76-1B47-9F0F0DC17A8F}"/>
              </a:ext>
            </a:extLst>
          </p:cNvPr>
          <p:cNvSpPr>
            <a:spLocks noGrp="1"/>
          </p:cNvSpPr>
          <p:nvPr/>
        </p:nvSpPr>
        <p:spPr>
          <a:xfrm>
            <a:off x="256698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Paged Attention</a:t>
            </a:r>
          </a:p>
        </p:txBody>
      </p:sp>
      <p:sp>
        <p:nvSpPr>
          <p:cNvPr id="109" name="runtime-capabilities-3-box">
            <a:extLst>
              <a:ext uri="{FF2B5EF4-FFF2-40B4-BE49-F238E27FC236}">
                <a16:creationId xmlns:a16="http://schemas.microsoft.com/office/drawing/2014/main" id="{0D66DF2C-42DA-189C-E7EA-7816A229F0E3}"/>
              </a:ext>
            </a:extLst>
          </p:cNvPr>
          <p:cNvSpPr>
            <a:spLocks noGrp="1"/>
          </p:cNvSpPr>
          <p:nvPr/>
        </p:nvSpPr>
        <p:spPr>
          <a:xfrm>
            <a:off x="3457576"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Speculative Decoding</a:t>
            </a:r>
          </a:p>
        </p:txBody>
      </p:sp>
      <p:sp>
        <p:nvSpPr>
          <p:cNvPr id="110" name="runtime-capabilities-4-box">
            <a:extLst>
              <a:ext uri="{FF2B5EF4-FFF2-40B4-BE49-F238E27FC236}">
                <a16:creationId xmlns:a16="http://schemas.microsoft.com/office/drawing/2014/main" id="{30C600C0-E27C-C2C8-5F01-5F570FB8A7E4}"/>
              </a:ext>
            </a:extLst>
          </p:cNvPr>
          <p:cNvSpPr>
            <a:spLocks noGrp="1"/>
          </p:cNvSpPr>
          <p:nvPr/>
        </p:nvSpPr>
        <p:spPr>
          <a:xfrm>
            <a:off x="4348164"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Multi-LoRA</a:t>
            </a:r>
          </a:p>
        </p:txBody>
      </p:sp>
      <p:sp>
        <p:nvSpPr>
          <p:cNvPr id="111" name="runtime-capabilities-5-box">
            <a:extLst>
              <a:ext uri="{FF2B5EF4-FFF2-40B4-BE49-F238E27FC236}">
                <a16:creationId xmlns:a16="http://schemas.microsoft.com/office/drawing/2014/main" id="{BF57638F-BE9A-670B-FBAF-FD8B9860ED44}"/>
              </a:ext>
            </a:extLst>
          </p:cNvPr>
          <p:cNvSpPr>
            <a:spLocks noGrp="1"/>
          </p:cNvSpPr>
          <p:nvPr/>
        </p:nvSpPr>
        <p:spPr>
          <a:xfrm>
            <a:off x="523875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Prefix Cache</a:t>
            </a:r>
          </a:p>
        </p:txBody>
      </p:sp>
      <p:sp>
        <p:nvSpPr>
          <p:cNvPr id="112" name="runtime-capabilities-6-box">
            <a:extLst>
              <a:ext uri="{FF2B5EF4-FFF2-40B4-BE49-F238E27FC236}">
                <a16:creationId xmlns:a16="http://schemas.microsoft.com/office/drawing/2014/main" id="{79144BC9-1D6E-9DDF-CC7A-1C253E4EA11F}"/>
              </a:ext>
            </a:extLst>
          </p:cNvPr>
          <p:cNvSpPr>
            <a:spLocks noGrp="1"/>
          </p:cNvSpPr>
          <p:nvPr/>
        </p:nvSpPr>
        <p:spPr>
          <a:xfrm>
            <a:off x="612933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a:t>
            </a:r>
          </a:p>
        </p:txBody>
      </p:sp>
      <p:sp>
        <p:nvSpPr>
          <p:cNvPr id="113" name="kv-frame">
            <a:extLst>
              <a:ext uri="{FF2B5EF4-FFF2-40B4-BE49-F238E27FC236}">
                <a16:creationId xmlns:a16="http://schemas.microsoft.com/office/drawing/2014/main" id="{2AEC3F3C-C0AE-2DCE-C52A-5FD994AE1283}"/>
              </a:ext>
            </a:extLst>
          </p:cNvPr>
          <p:cNvSpPr>
            <a:spLocks noGrp="1"/>
          </p:cNvSpPr>
          <p:nvPr/>
        </p:nvSpPr>
        <p:spPr>
          <a:xfrm>
            <a:off x="990601" y="2995794"/>
            <a:ext cx="6076950" cy="657225"/>
          </a:xfrm>
          <a:prstGeom prst="roundRect">
            <a:avLst>
              <a:gd name="adj" fmla="val 5797"/>
            </a:avLst>
          </a:prstGeom>
          <a:solidFill>
            <a:srgbClr val="FFFFFF"/>
          </a:solidFill>
          <a:ln w="9525">
            <a:solidFill>
              <a:srgbClr val="CFE3C7"/>
            </a:solidFill>
            <a:prstDash val="solid"/>
          </a:ln>
        </p:spPr>
        <p:txBody>
          <a:bodyPr/>
          <a:lstStyle/>
          <a:p>
            <a:endParaRPr lang="zh-CN" altLang="en-US" sz="1600"/>
          </a:p>
        </p:txBody>
      </p:sp>
      <p:sp>
        <p:nvSpPr>
          <p:cNvPr id="114" name="kv-title">
            <a:extLst>
              <a:ext uri="{FF2B5EF4-FFF2-40B4-BE49-F238E27FC236}">
                <a16:creationId xmlns:a16="http://schemas.microsoft.com/office/drawing/2014/main" id="{47181DCF-CFDD-7158-04D6-90A5F078E914}"/>
              </a:ext>
            </a:extLst>
          </p:cNvPr>
          <p:cNvSpPr>
            <a:spLocks noGrp="1"/>
          </p:cNvSpPr>
          <p:nvPr/>
        </p:nvSpPr>
        <p:spPr>
          <a:xfrm>
            <a:off x="1047751" y="3014844"/>
            <a:ext cx="5962650" cy="123825"/>
          </a:xfrm>
          <a:prstGeom prst="rect">
            <a:avLst/>
          </a:prstGeom>
          <a:noFill/>
          <a:ln w="0">
            <a:noFill/>
            <a:prstDash val="solid"/>
          </a:ln>
        </p:spPr>
        <p:txBody>
          <a:bodyPr wrap="square" lIns="19050" tIns="9525" rIns="19050" bIns="9525" anchor="ctr">
            <a:noAutofit/>
          </a:bodyPr>
          <a:lstStyle/>
          <a:p>
            <a:pPr algn="ctr">
              <a:defRPr sz="653" b="1">
                <a:solidFill>
                  <a:srgbClr val="2F8B45"/>
                </a:solidFill>
                <a:latin typeface="Arial"/>
                <a:ea typeface="Arial"/>
                <a:cs typeface="Arial"/>
              </a:defRPr>
            </a:pPr>
            <a:r>
              <a:rPr sz="800" b="1" dirty="0">
                <a:solidFill>
                  <a:srgbClr val="2F8B45"/>
                </a:solidFill>
                <a:latin typeface="Arial"/>
                <a:ea typeface="Arial"/>
                <a:cs typeface="Arial"/>
              </a:rPr>
              <a:t>KV-Cache Offload &amp; Management Layer  (</a:t>
            </a:r>
            <a:r>
              <a:rPr lang="en-US" sz="800" b="1" dirty="0" err="1">
                <a:solidFill>
                  <a:srgbClr val="2F8B45"/>
                </a:solidFill>
                <a:latin typeface="Arial"/>
                <a:ea typeface="Arial"/>
                <a:cs typeface="Arial"/>
              </a:rPr>
              <a:t>LMCache</a:t>
            </a:r>
            <a:r>
              <a:rPr lang="en-US" sz="800" b="1" dirty="0">
                <a:solidFill>
                  <a:srgbClr val="2F8B45"/>
                </a:solidFill>
                <a:latin typeface="Arial"/>
                <a:ea typeface="Arial"/>
                <a:cs typeface="Arial"/>
              </a:rPr>
              <a:t>, KVBM</a:t>
            </a:r>
            <a:r>
              <a:rPr lang="en-US" sz="800" b="1" dirty="0">
                <a:solidFill>
                  <a:srgbClr val="2F8B45"/>
                </a:solidFill>
              </a:rPr>
              <a:t>, </a:t>
            </a:r>
            <a:r>
              <a:rPr lang="en-US" sz="800" b="1" dirty="0">
                <a:solidFill>
                  <a:srgbClr val="2F8B45"/>
                </a:solidFill>
                <a:latin typeface="Arial"/>
                <a:ea typeface="Arial"/>
                <a:cs typeface="Arial"/>
              </a:rPr>
              <a:t>Mooncake</a:t>
            </a:r>
            <a:r>
              <a:rPr sz="800" b="1" dirty="0">
                <a:solidFill>
                  <a:srgbClr val="2F8B45"/>
                </a:solidFill>
                <a:latin typeface="Arial"/>
                <a:ea typeface="Arial"/>
                <a:cs typeface="Arial"/>
              </a:rPr>
              <a:t>)</a:t>
            </a:r>
          </a:p>
        </p:txBody>
      </p:sp>
      <p:sp>
        <p:nvSpPr>
          <p:cNvPr id="115" name="kv-col-1">
            <a:extLst>
              <a:ext uri="{FF2B5EF4-FFF2-40B4-BE49-F238E27FC236}">
                <a16:creationId xmlns:a16="http://schemas.microsoft.com/office/drawing/2014/main" id="{EA1F52F3-EE9D-BB92-FE97-4D6B1DFAA101}"/>
              </a:ext>
            </a:extLst>
          </p:cNvPr>
          <p:cNvSpPr>
            <a:spLocks noGrp="1"/>
          </p:cNvSpPr>
          <p:nvPr/>
        </p:nvSpPr>
        <p:spPr>
          <a:xfrm>
            <a:off x="10477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6" name="kv-col-1-title">
            <a:extLst>
              <a:ext uri="{FF2B5EF4-FFF2-40B4-BE49-F238E27FC236}">
                <a16:creationId xmlns:a16="http://schemas.microsoft.com/office/drawing/2014/main" id="{BE4C0944-2FC8-C97E-1732-615921EF4C8D}"/>
              </a:ext>
            </a:extLst>
          </p:cNvPr>
          <p:cNvSpPr>
            <a:spLocks noGrp="1"/>
          </p:cNvSpPr>
          <p:nvPr/>
        </p:nvSpPr>
        <p:spPr>
          <a:xfrm>
            <a:off x="10668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KV Cache Management</a:t>
            </a:r>
          </a:p>
        </p:txBody>
      </p:sp>
      <p:sp>
        <p:nvSpPr>
          <p:cNvPr id="117" name="kv-col-1-body">
            <a:extLst>
              <a:ext uri="{FF2B5EF4-FFF2-40B4-BE49-F238E27FC236}">
                <a16:creationId xmlns:a16="http://schemas.microsoft.com/office/drawing/2014/main" id="{BC40F0CE-8360-1C41-8532-6F898F7566E3}"/>
              </a:ext>
            </a:extLst>
          </p:cNvPr>
          <p:cNvSpPr>
            <a:spLocks noGrp="1"/>
          </p:cNvSpPr>
          <p:nvPr/>
        </p:nvSpPr>
        <p:spPr>
          <a:xfrm>
            <a:off x="10763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KVBM</a:t>
            </a:r>
          </a:p>
          <a:p>
            <a:pPr algn="ctr">
              <a:defRPr sz="397" b="0">
                <a:solidFill>
                  <a:srgbClr val="102031"/>
                </a:solidFill>
                <a:latin typeface="Arial"/>
                <a:ea typeface="Arial"/>
                <a:cs typeface="Arial"/>
              </a:defRPr>
            </a:pPr>
            <a:r>
              <a:rPr sz="500" b="0">
                <a:solidFill>
                  <a:srgbClr val="102031"/>
                </a:solidFill>
                <a:latin typeface="Arial"/>
                <a:ea typeface="Arial"/>
                <a:cs typeface="Arial"/>
              </a:rPr>
              <a:t>LMCache</a:t>
            </a:r>
          </a:p>
          <a:p>
            <a:pPr algn="ctr">
              <a:defRPr sz="397" b="0">
                <a:solidFill>
                  <a:srgbClr val="102031"/>
                </a:solidFill>
                <a:latin typeface="Arial"/>
                <a:ea typeface="Arial"/>
                <a:cs typeface="Arial"/>
              </a:defRPr>
            </a:pPr>
            <a:r>
              <a:rPr sz="500" b="0">
                <a:solidFill>
                  <a:srgbClr val="102031"/>
                </a:solidFill>
                <a:latin typeface="Arial"/>
                <a:ea typeface="Arial"/>
                <a:cs typeface="Arial"/>
              </a:rPr>
              <a:t>Mooncake</a:t>
            </a:r>
          </a:p>
          <a:p>
            <a:pPr algn="ctr">
              <a:defRPr sz="397" b="0">
                <a:solidFill>
                  <a:srgbClr val="102031"/>
                </a:solidFill>
                <a:latin typeface="Arial"/>
                <a:ea typeface="Arial"/>
                <a:cs typeface="Arial"/>
              </a:defRPr>
            </a:pPr>
            <a:r>
              <a:rPr sz="500" b="0">
                <a:solidFill>
                  <a:srgbClr val="102031"/>
                </a:solidFill>
                <a:latin typeface="Arial"/>
                <a:ea typeface="Arial"/>
                <a:cs typeface="Arial"/>
              </a:rPr>
              <a:t>…</a:t>
            </a:r>
          </a:p>
        </p:txBody>
      </p:sp>
      <p:sp>
        <p:nvSpPr>
          <p:cNvPr id="118" name="kv-col-2">
            <a:extLst>
              <a:ext uri="{FF2B5EF4-FFF2-40B4-BE49-F238E27FC236}">
                <a16:creationId xmlns:a16="http://schemas.microsoft.com/office/drawing/2014/main" id="{5D38B01C-3D48-22EC-122E-E7DDB21B7DA1}"/>
              </a:ext>
            </a:extLst>
          </p:cNvPr>
          <p:cNvSpPr>
            <a:spLocks noGrp="1"/>
          </p:cNvSpPr>
          <p:nvPr/>
        </p:nvSpPr>
        <p:spPr>
          <a:xfrm>
            <a:off x="22479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9" name="kv-col-2-title">
            <a:extLst>
              <a:ext uri="{FF2B5EF4-FFF2-40B4-BE49-F238E27FC236}">
                <a16:creationId xmlns:a16="http://schemas.microsoft.com/office/drawing/2014/main" id="{223D98C9-3BE5-99F9-577E-D11575812298}"/>
              </a:ext>
            </a:extLst>
          </p:cNvPr>
          <p:cNvSpPr>
            <a:spLocks noGrp="1"/>
          </p:cNvSpPr>
          <p:nvPr/>
        </p:nvSpPr>
        <p:spPr>
          <a:xfrm>
            <a:off x="22669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Abstraction (NIXL)</a:t>
            </a:r>
          </a:p>
        </p:txBody>
      </p:sp>
      <p:sp>
        <p:nvSpPr>
          <p:cNvPr id="120" name="kv-col-2-body">
            <a:extLst>
              <a:ext uri="{FF2B5EF4-FFF2-40B4-BE49-F238E27FC236}">
                <a16:creationId xmlns:a16="http://schemas.microsoft.com/office/drawing/2014/main" id="{5A7AAD5E-D4A8-3867-7636-7C37C780A8CC}"/>
              </a:ext>
            </a:extLst>
          </p:cNvPr>
          <p:cNvSpPr>
            <a:spLocks noGrp="1"/>
          </p:cNvSpPr>
          <p:nvPr/>
        </p:nvSpPr>
        <p:spPr>
          <a:xfrm>
            <a:off x="227647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Unified Interface</a:t>
            </a:r>
          </a:p>
          <a:p>
            <a:pPr algn="ctr">
              <a:defRPr sz="397" b="0">
                <a:solidFill>
                  <a:srgbClr val="102031"/>
                </a:solidFill>
                <a:latin typeface="Arial"/>
                <a:ea typeface="Arial"/>
                <a:cs typeface="Arial"/>
              </a:defRPr>
            </a:pPr>
            <a:r>
              <a:rPr sz="500" b="0">
                <a:solidFill>
                  <a:srgbClr val="102031"/>
                </a:solidFill>
                <a:latin typeface="Arial"/>
                <a:ea typeface="Arial"/>
                <a:cs typeface="Arial"/>
              </a:rPr>
              <a:t>Tiered Storage Mgmt.</a:t>
            </a:r>
          </a:p>
          <a:p>
            <a:pPr algn="ctr">
              <a:defRPr sz="397" b="0">
                <a:solidFill>
                  <a:srgbClr val="102031"/>
                </a:solidFill>
                <a:latin typeface="Arial"/>
                <a:ea typeface="Arial"/>
                <a:cs typeface="Arial"/>
              </a:defRPr>
            </a:pPr>
            <a:r>
              <a:rPr sz="500" b="0">
                <a:solidFill>
                  <a:srgbClr val="102031"/>
                </a:solidFill>
                <a:latin typeface="Arial"/>
                <a:ea typeface="Arial"/>
                <a:cs typeface="Arial"/>
              </a:rPr>
              <a:t>Cache Policy</a:t>
            </a:r>
          </a:p>
          <a:p>
            <a:pPr algn="ctr">
              <a:defRPr sz="397" b="0">
                <a:solidFill>
                  <a:srgbClr val="102031"/>
                </a:solidFill>
                <a:latin typeface="Arial"/>
                <a:ea typeface="Arial"/>
                <a:cs typeface="Arial"/>
              </a:defRPr>
            </a:pPr>
            <a:r>
              <a:rPr sz="500" b="0">
                <a:solidFill>
                  <a:srgbClr val="102031"/>
                </a:solidFill>
                <a:latin typeface="Arial"/>
                <a:ea typeface="Arial"/>
                <a:cs typeface="Arial"/>
              </a:rPr>
              <a:t>Data Consistency</a:t>
            </a:r>
          </a:p>
        </p:txBody>
      </p:sp>
      <p:sp>
        <p:nvSpPr>
          <p:cNvPr id="121" name="kv-col-3">
            <a:extLst>
              <a:ext uri="{FF2B5EF4-FFF2-40B4-BE49-F238E27FC236}">
                <a16:creationId xmlns:a16="http://schemas.microsoft.com/office/drawing/2014/main" id="{03E3C4CC-A53E-7325-CD9B-FFCEB733698E}"/>
              </a:ext>
            </a:extLst>
          </p:cNvPr>
          <p:cNvSpPr>
            <a:spLocks noGrp="1"/>
          </p:cNvSpPr>
          <p:nvPr/>
        </p:nvSpPr>
        <p:spPr>
          <a:xfrm>
            <a:off x="34480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2" name="kv-col-3-title">
            <a:extLst>
              <a:ext uri="{FF2B5EF4-FFF2-40B4-BE49-F238E27FC236}">
                <a16:creationId xmlns:a16="http://schemas.microsoft.com/office/drawing/2014/main" id="{CB1131DB-E96F-8364-712C-33FD2CFD269A}"/>
              </a:ext>
            </a:extLst>
          </p:cNvPr>
          <p:cNvSpPr>
            <a:spLocks noGrp="1"/>
          </p:cNvSpPr>
          <p:nvPr/>
        </p:nvSpPr>
        <p:spPr>
          <a:xfrm>
            <a:off x="34671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Distributed Memory KV Transport</a:t>
            </a:r>
          </a:p>
        </p:txBody>
      </p:sp>
      <p:sp>
        <p:nvSpPr>
          <p:cNvPr id="123" name="kv-col-3-body">
            <a:extLst>
              <a:ext uri="{FF2B5EF4-FFF2-40B4-BE49-F238E27FC236}">
                <a16:creationId xmlns:a16="http://schemas.microsoft.com/office/drawing/2014/main" id="{8B80068E-4C4C-3A0E-5B67-3C766C4AFE41}"/>
              </a:ext>
            </a:extLst>
          </p:cNvPr>
          <p:cNvSpPr>
            <a:spLocks noGrp="1"/>
          </p:cNvSpPr>
          <p:nvPr/>
        </p:nvSpPr>
        <p:spPr>
          <a:xfrm>
            <a:off x="34766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dirty="0" err="1">
                <a:solidFill>
                  <a:srgbClr val="102031"/>
                </a:solidFill>
                <a:latin typeface="Arial"/>
                <a:ea typeface="Arial"/>
                <a:cs typeface="Arial"/>
              </a:rPr>
              <a:t>Redhare</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(Distributed Memory KV Transport)</a:t>
            </a:r>
          </a:p>
          <a:p>
            <a:pPr algn="ctr">
              <a:defRPr sz="397" b="0">
                <a:solidFill>
                  <a:srgbClr val="102031"/>
                </a:solidFill>
                <a:latin typeface="Arial"/>
                <a:ea typeface="Arial"/>
                <a:cs typeface="Arial"/>
              </a:defRPr>
            </a:pPr>
            <a:r>
              <a:rPr sz="500" b="0" dirty="0" err="1">
                <a:solidFill>
                  <a:srgbClr val="102031"/>
                </a:solidFill>
                <a:latin typeface="Arial"/>
                <a:ea typeface="Arial"/>
                <a:cs typeface="Arial"/>
              </a:rPr>
              <a:t>ContextStor</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(Large Context Storage)</a:t>
            </a:r>
          </a:p>
        </p:txBody>
      </p:sp>
      <p:sp>
        <p:nvSpPr>
          <p:cNvPr id="124" name="kv-col-4">
            <a:extLst>
              <a:ext uri="{FF2B5EF4-FFF2-40B4-BE49-F238E27FC236}">
                <a16:creationId xmlns:a16="http://schemas.microsoft.com/office/drawing/2014/main" id="{C0067503-6750-50A1-6C54-7120A8D8D9AD}"/>
              </a:ext>
            </a:extLst>
          </p:cNvPr>
          <p:cNvSpPr>
            <a:spLocks noGrp="1"/>
          </p:cNvSpPr>
          <p:nvPr/>
        </p:nvSpPr>
        <p:spPr>
          <a:xfrm>
            <a:off x="46482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5" name="kv-col-4-title">
            <a:extLst>
              <a:ext uri="{FF2B5EF4-FFF2-40B4-BE49-F238E27FC236}">
                <a16:creationId xmlns:a16="http://schemas.microsoft.com/office/drawing/2014/main" id="{B9D81905-06C0-BAB5-C490-190A118C5448}"/>
              </a:ext>
            </a:extLst>
          </p:cNvPr>
          <p:cNvSpPr>
            <a:spLocks noGrp="1"/>
          </p:cNvSpPr>
          <p:nvPr/>
        </p:nvSpPr>
        <p:spPr>
          <a:xfrm>
            <a:off x="46672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Backend</a:t>
            </a:r>
          </a:p>
        </p:txBody>
      </p:sp>
      <p:sp>
        <p:nvSpPr>
          <p:cNvPr id="126" name="kv-col-4-body">
            <a:extLst>
              <a:ext uri="{FF2B5EF4-FFF2-40B4-BE49-F238E27FC236}">
                <a16:creationId xmlns:a16="http://schemas.microsoft.com/office/drawing/2014/main" id="{45628B75-DA1D-EE1F-A039-FB875A2BA173}"/>
              </a:ext>
            </a:extLst>
          </p:cNvPr>
          <p:cNvSpPr>
            <a:spLocks noGrp="1"/>
          </p:cNvSpPr>
          <p:nvPr/>
        </p:nvSpPr>
        <p:spPr>
          <a:xfrm>
            <a:off x="467677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Object / File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High-performance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Cloud / On-prem Storage</a:t>
            </a:r>
          </a:p>
        </p:txBody>
      </p:sp>
      <p:sp>
        <p:nvSpPr>
          <p:cNvPr id="127" name="kv-col-5">
            <a:extLst>
              <a:ext uri="{FF2B5EF4-FFF2-40B4-BE49-F238E27FC236}">
                <a16:creationId xmlns:a16="http://schemas.microsoft.com/office/drawing/2014/main" id="{1EE7A009-20AF-7E11-FF5A-4EE1664C9665}"/>
              </a:ext>
            </a:extLst>
          </p:cNvPr>
          <p:cNvSpPr>
            <a:spLocks noGrp="1"/>
          </p:cNvSpPr>
          <p:nvPr/>
        </p:nvSpPr>
        <p:spPr>
          <a:xfrm>
            <a:off x="58483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8" name="kv-col-5-title">
            <a:extLst>
              <a:ext uri="{FF2B5EF4-FFF2-40B4-BE49-F238E27FC236}">
                <a16:creationId xmlns:a16="http://schemas.microsoft.com/office/drawing/2014/main" id="{6B4B0ECF-0BE7-F0E1-DE94-AFEEA2DDB242}"/>
              </a:ext>
            </a:extLst>
          </p:cNvPr>
          <p:cNvSpPr>
            <a:spLocks noGrp="1"/>
          </p:cNvSpPr>
          <p:nvPr/>
        </p:nvSpPr>
        <p:spPr>
          <a:xfrm>
            <a:off x="58674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DPU Storage Gateway</a:t>
            </a:r>
          </a:p>
        </p:txBody>
      </p:sp>
      <p:sp>
        <p:nvSpPr>
          <p:cNvPr id="129" name="kv-col-5-body">
            <a:extLst>
              <a:ext uri="{FF2B5EF4-FFF2-40B4-BE49-F238E27FC236}">
                <a16:creationId xmlns:a16="http://schemas.microsoft.com/office/drawing/2014/main" id="{C779D286-49EA-452F-945C-071D5E11C130}"/>
              </a:ext>
            </a:extLst>
          </p:cNvPr>
          <p:cNvSpPr>
            <a:spLocks noGrp="1"/>
          </p:cNvSpPr>
          <p:nvPr/>
        </p:nvSpPr>
        <p:spPr>
          <a:xfrm>
            <a:off x="587692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DPU Acceleration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Protocol Offload · Data Optimization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Security Isolation · High Performance</a:t>
            </a:r>
          </a:p>
        </p:txBody>
      </p:sp>
      <p:sp>
        <p:nvSpPr>
          <p:cNvPr id="130" name="maas-surface">
            <a:extLst>
              <a:ext uri="{FF2B5EF4-FFF2-40B4-BE49-F238E27FC236}">
                <a16:creationId xmlns:a16="http://schemas.microsoft.com/office/drawing/2014/main" id="{4ADEFAD5-77C8-137A-8AD9-1C31AC61F5EE}"/>
              </a:ext>
            </a:extLst>
          </p:cNvPr>
          <p:cNvSpPr>
            <a:spLocks noGrp="1"/>
          </p:cNvSpPr>
          <p:nvPr/>
        </p:nvSpPr>
        <p:spPr>
          <a:xfrm>
            <a:off x="7219950" y="1214618"/>
            <a:ext cx="1847849" cy="3609975"/>
          </a:xfrm>
          <a:prstGeom prst="roundRect">
            <a:avLst>
              <a:gd name="adj" fmla="val 2577"/>
            </a:avLst>
          </a:prstGeom>
          <a:solidFill>
            <a:srgbClr val="F9FCF7"/>
          </a:solidFill>
          <a:ln w="9525">
            <a:solidFill>
              <a:srgbClr val="CFE3C7"/>
            </a:solidFill>
            <a:prstDash val="solid"/>
          </a:ln>
        </p:spPr>
        <p:txBody>
          <a:bodyPr/>
          <a:lstStyle/>
          <a:p>
            <a:endParaRPr lang="zh-CN" altLang="en-US" sz="1600"/>
          </a:p>
        </p:txBody>
      </p:sp>
      <p:sp>
        <p:nvSpPr>
          <p:cNvPr id="131" name="maas-title">
            <a:extLst>
              <a:ext uri="{FF2B5EF4-FFF2-40B4-BE49-F238E27FC236}">
                <a16:creationId xmlns:a16="http://schemas.microsoft.com/office/drawing/2014/main" id="{3D8EA3ED-CB2E-8143-2480-4035C5254D03}"/>
              </a:ext>
            </a:extLst>
          </p:cNvPr>
          <p:cNvSpPr>
            <a:spLocks noGrp="1"/>
          </p:cNvSpPr>
          <p:nvPr/>
        </p:nvSpPr>
        <p:spPr>
          <a:xfrm>
            <a:off x="7277100" y="1241606"/>
            <a:ext cx="1733550" cy="142875"/>
          </a:xfrm>
          <a:prstGeom prst="rect">
            <a:avLst/>
          </a:prstGeom>
          <a:noFill/>
          <a:ln w="0">
            <a:noFill/>
            <a:prstDash val="solid"/>
          </a:ln>
        </p:spPr>
        <p:txBody>
          <a:bodyPr wrap="square" lIns="19050" tIns="9525" rIns="19050" bIns="9525" anchor="ctr">
            <a:normAutofit/>
          </a:bodyPr>
          <a:lstStyle/>
          <a:p>
            <a:pPr algn="ctr">
              <a:defRPr sz="638" b="1">
                <a:solidFill>
                  <a:srgbClr val="2F8B45"/>
                </a:solidFill>
                <a:latin typeface="Arial"/>
                <a:ea typeface="Arial"/>
                <a:cs typeface="Arial"/>
              </a:defRPr>
            </a:pPr>
            <a:r>
              <a:rPr sz="700" b="1">
                <a:solidFill>
                  <a:srgbClr val="2F8B45"/>
                </a:solidFill>
                <a:latin typeface="Arial"/>
                <a:ea typeface="Arial"/>
                <a:cs typeface="Arial"/>
              </a:rPr>
              <a:t>MaaS Operations  (Token as a Service)</a:t>
            </a:r>
          </a:p>
        </p:txBody>
      </p:sp>
      <p:sp>
        <p:nvSpPr>
          <p:cNvPr id="132" name="gateway-security-frame">
            <a:extLst>
              <a:ext uri="{FF2B5EF4-FFF2-40B4-BE49-F238E27FC236}">
                <a16:creationId xmlns:a16="http://schemas.microsoft.com/office/drawing/2014/main" id="{7D679BF6-1FB5-8E05-B8C8-975BEA84951C}"/>
              </a:ext>
            </a:extLst>
          </p:cNvPr>
          <p:cNvSpPr>
            <a:spLocks noGrp="1"/>
          </p:cNvSpPr>
          <p:nvPr/>
        </p:nvSpPr>
        <p:spPr>
          <a:xfrm>
            <a:off x="7277100" y="1432106"/>
            <a:ext cx="1733550" cy="742950"/>
          </a:xfrm>
          <a:prstGeom prst="roundRect">
            <a:avLst>
              <a:gd name="adj" fmla="val 3846"/>
            </a:avLst>
          </a:prstGeom>
          <a:solidFill>
            <a:srgbClr val="FFFFFF"/>
          </a:solidFill>
          <a:ln w="9525">
            <a:solidFill>
              <a:srgbClr val="D5E8CD"/>
            </a:solidFill>
            <a:prstDash val="solid"/>
          </a:ln>
        </p:spPr>
        <p:txBody>
          <a:bodyPr/>
          <a:lstStyle/>
          <a:p>
            <a:endParaRPr lang="zh-CN" altLang="en-US" sz="1600"/>
          </a:p>
        </p:txBody>
      </p:sp>
      <p:sp>
        <p:nvSpPr>
          <p:cNvPr id="133" name="gateway-security-title">
            <a:extLst>
              <a:ext uri="{FF2B5EF4-FFF2-40B4-BE49-F238E27FC236}">
                <a16:creationId xmlns:a16="http://schemas.microsoft.com/office/drawing/2014/main" id="{8E03BDBC-917F-0366-F0BB-964AD34605A1}"/>
              </a:ext>
            </a:extLst>
          </p:cNvPr>
          <p:cNvSpPr>
            <a:spLocks noGrp="1"/>
          </p:cNvSpPr>
          <p:nvPr/>
        </p:nvSpPr>
        <p:spPr>
          <a:xfrm>
            <a:off x="7334250" y="1460681"/>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Gateway &amp; Security</a:t>
            </a:r>
          </a:p>
        </p:txBody>
      </p:sp>
      <p:sp>
        <p:nvSpPr>
          <p:cNvPr id="134" name="gateway-security-item-1">
            <a:extLst>
              <a:ext uri="{FF2B5EF4-FFF2-40B4-BE49-F238E27FC236}">
                <a16:creationId xmlns:a16="http://schemas.microsoft.com/office/drawing/2014/main" id="{BEBEB976-1737-6FBF-ACE0-D80AA4F94515}"/>
              </a:ext>
            </a:extLst>
          </p:cNvPr>
          <p:cNvSpPr>
            <a:spLocks noGrp="1"/>
          </p:cNvSpPr>
          <p:nvPr/>
        </p:nvSpPr>
        <p:spPr>
          <a:xfrm>
            <a:off x="7343775" y="1594031"/>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Unified API Gateway (OpenAI Compatible)</a:t>
            </a:r>
          </a:p>
        </p:txBody>
      </p:sp>
      <p:sp>
        <p:nvSpPr>
          <p:cNvPr id="135" name="gateway-security-item-2">
            <a:extLst>
              <a:ext uri="{FF2B5EF4-FFF2-40B4-BE49-F238E27FC236}">
                <a16:creationId xmlns:a16="http://schemas.microsoft.com/office/drawing/2014/main" id="{495EACE3-B22B-FDDB-2727-3CD3490863E2}"/>
              </a:ext>
            </a:extLst>
          </p:cNvPr>
          <p:cNvSpPr>
            <a:spLocks noGrp="1"/>
          </p:cNvSpPr>
          <p:nvPr/>
        </p:nvSpPr>
        <p:spPr>
          <a:xfrm>
            <a:off x="7343775" y="1732144"/>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Safety &amp; Content Filtering</a:t>
            </a:r>
          </a:p>
        </p:txBody>
      </p:sp>
      <p:sp>
        <p:nvSpPr>
          <p:cNvPr id="136" name="gateway-security-item-3">
            <a:extLst>
              <a:ext uri="{FF2B5EF4-FFF2-40B4-BE49-F238E27FC236}">
                <a16:creationId xmlns:a16="http://schemas.microsoft.com/office/drawing/2014/main" id="{4B64571A-7B6F-6C57-1E24-4F142205428B}"/>
              </a:ext>
            </a:extLst>
          </p:cNvPr>
          <p:cNvSpPr>
            <a:spLocks noGrp="1"/>
          </p:cNvSpPr>
          <p:nvPr/>
        </p:nvSpPr>
        <p:spPr>
          <a:xfrm>
            <a:off x="7343775" y="1870256"/>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Rate Limiting &amp; Access Control</a:t>
            </a:r>
          </a:p>
        </p:txBody>
      </p:sp>
      <p:sp>
        <p:nvSpPr>
          <p:cNvPr id="137" name="gateway-security-item-4">
            <a:extLst>
              <a:ext uri="{FF2B5EF4-FFF2-40B4-BE49-F238E27FC236}">
                <a16:creationId xmlns:a16="http://schemas.microsoft.com/office/drawing/2014/main" id="{E1D3FFD9-545B-9825-E750-EECE096478E1}"/>
              </a:ext>
            </a:extLst>
          </p:cNvPr>
          <p:cNvSpPr>
            <a:spLocks noGrp="1"/>
          </p:cNvSpPr>
          <p:nvPr/>
        </p:nvSpPr>
        <p:spPr>
          <a:xfrm>
            <a:off x="7343775" y="2008369"/>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WAF / DDoS / Shield</a:t>
            </a:r>
          </a:p>
        </p:txBody>
      </p:sp>
      <p:sp>
        <p:nvSpPr>
          <p:cNvPr id="138" name="metering-billing-frame">
            <a:extLst>
              <a:ext uri="{FF2B5EF4-FFF2-40B4-BE49-F238E27FC236}">
                <a16:creationId xmlns:a16="http://schemas.microsoft.com/office/drawing/2014/main" id="{EFA8CABD-F361-9692-B5E7-4056AA8F927D}"/>
              </a:ext>
            </a:extLst>
          </p:cNvPr>
          <p:cNvSpPr>
            <a:spLocks noGrp="1"/>
          </p:cNvSpPr>
          <p:nvPr/>
        </p:nvSpPr>
        <p:spPr>
          <a:xfrm>
            <a:off x="7277100" y="2222681"/>
            <a:ext cx="1733550" cy="581025"/>
          </a:xfrm>
          <a:prstGeom prst="roundRect">
            <a:avLst>
              <a:gd name="adj" fmla="val 4918"/>
            </a:avLst>
          </a:prstGeom>
          <a:solidFill>
            <a:srgbClr val="FFFFFF"/>
          </a:solidFill>
          <a:ln w="9525">
            <a:solidFill>
              <a:srgbClr val="D5E8CD"/>
            </a:solidFill>
            <a:prstDash val="solid"/>
          </a:ln>
        </p:spPr>
        <p:txBody>
          <a:bodyPr/>
          <a:lstStyle/>
          <a:p>
            <a:endParaRPr lang="zh-CN" altLang="en-US" sz="1600"/>
          </a:p>
        </p:txBody>
      </p:sp>
      <p:sp>
        <p:nvSpPr>
          <p:cNvPr id="139" name="metering-billing-title">
            <a:extLst>
              <a:ext uri="{FF2B5EF4-FFF2-40B4-BE49-F238E27FC236}">
                <a16:creationId xmlns:a16="http://schemas.microsoft.com/office/drawing/2014/main" id="{12D60C8D-4D23-D55D-0FB4-5B51EEB805F5}"/>
              </a:ext>
            </a:extLst>
          </p:cNvPr>
          <p:cNvSpPr>
            <a:spLocks noGrp="1"/>
          </p:cNvSpPr>
          <p:nvPr/>
        </p:nvSpPr>
        <p:spPr>
          <a:xfrm>
            <a:off x="7334250" y="2251256"/>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Metering &amp; Billing</a:t>
            </a:r>
          </a:p>
        </p:txBody>
      </p:sp>
      <p:sp>
        <p:nvSpPr>
          <p:cNvPr id="140" name="metering-billing-item-1">
            <a:extLst>
              <a:ext uri="{FF2B5EF4-FFF2-40B4-BE49-F238E27FC236}">
                <a16:creationId xmlns:a16="http://schemas.microsoft.com/office/drawing/2014/main" id="{85762D1B-6C9C-0EC2-6072-24EED45E2A60}"/>
              </a:ext>
            </a:extLst>
          </p:cNvPr>
          <p:cNvSpPr>
            <a:spLocks noGrp="1"/>
          </p:cNvSpPr>
          <p:nvPr/>
        </p:nvSpPr>
        <p:spPr>
          <a:xfrm>
            <a:off x="7343775" y="238460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Metering (Tokens / Requests)</a:t>
            </a:r>
          </a:p>
        </p:txBody>
      </p:sp>
      <p:sp>
        <p:nvSpPr>
          <p:cNvPr id="141" name="metering-billing-item-2">
            <a:extLst>
              <a:ext uri="{FF2B5EF4-FFF2-40B4-BE49-F238E27FC236}">
                <a16:creationId xmlns:a16="http://schemas.microsoft.com/office/drawing/2014/main" id="{774E5C02-91AC-A2ED-90FB-9380957F5859}"/>
              </a:ext>
            </a:extLst>
          </p:cNvPr>
          <p:cNvSpPr>
            <a:spLocks noGrp="1"/>
          </p:cNvSpPr>
          <p:nvPr/>
        </p:nvSpPr>
        <p:spPr>
          <a:xfrm>
            <a:off x="7343775" y="2514781"/>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Billing &amp; Invoicing</a:t>
            </a:r>
          </a:p>
        </p:txBody>
      </p:sp>
      <p:sp>
        <p:nvSpPr>
          <p:cNvPr id="142" name="metering-billing-item-3">
            <a:extLst>
              <a:ext uri="{FF2B5EF4-FFF2-40B4-BE49-F238E27FC236}">
                <a16:creationId xmlns:a16="http://schemas.microsoft.com/office/drawing/2014/main" id="{37550AC2-90D4-7118-2831-79CEEA622880}"/>
              </a:ext>
            </a:extLst>
          </p:cNvPr>
          <p:cNvSpPr>
            <a:spLocks noGrp="1"/>
          </p:cNvSpPr>
          <p:nvPr/>
        </p:nvSpPr>
        <p:spPr>
          <a:xfrm>
            <a:off x="7343775" y="264495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Analytics &amp; Reporting</a:t>
            </a:r>
          </a:p>
        </p:txBody>
      </p:sp>
      <p:sp>
        <p:nvSpPr>
          <p:cNvPr id="143" name="operations-management-frame">
            <a:extLst>
              <a:ext uri="{FF2B5EF4-FFF2-40B4-BE49-F238E27FC236}">
                <a16:creationId xmlns:a16="http://schemas.microsoft.com/office/drawing/2014/main" id="{85ABA155-6141-0BA4-40E4-5394247A1977}"/>
              </a:ext>
            </a:extLst>
          </p:cNvPr>
          <p:cNvSpPr>
            <a:spLocks noGrp="1"/>
          </p:cNvSpPr>
          <p:nvPr/>
        </p:nvSpPr>
        <p:spPr>
          <a:xfrm>
            <a:off x="7277100" y="2857557"/>
            <a:ext cx="1676400" cy="1252661"/>
          </a:xfrm>
          <a:prstGeom prst="roundRect">
            <a:avLst>
              <a:gd name="adj" fmla="val 2113"/>
            </a:avLst>
          </a:prstGeom>
          <a:solidFill>
            <a:srgbClr val="FFFFFF"/>
          </a:solidFill>
          <a:ln w="9525">
            <a:solidFill>
              <a:srgbClr val="D5E8CD"/>
            </a:solidFill>
            <a:prstDash val="solid"/>
          </a:ln>
        </p:spPr>
        <p:txBody>
          <a:bodyPr/>
          <a:lstStyle/>
          <a:p>
            <a:endParaRPr lang="zh-CN" altLang="en-US" sz="1600" dirty="0"/>
          </a:p>
        </p:txBody>
      </p:sp>
      <p:sp>
        <p:nvSpPr>
          <p:cNvPr id="144" name="operations-management-title">
            <a:extLst>
              <a:ext uri="{FF2B5EF4-FFF2-40B4-BE49-F238E27FC236}">
                <a16:creationId xmlns:a16="http://schemas.microsoft.com/office/drawing/2014/main" id="{0C82BDCC-AF92-2253-52DA-3C95CC167E7D}"/>
              </a:ext>
            </a:extLst>
          </p:cNvPr>
          <p:cNvSpPr>
            <a:spLocks noGrp="1"/>
          </p:cNvSpPr>
          <p:nvPr/>
        </p:nvSpPr>
        <p:spPr>
          <a:xfrm>
            <a:off x="7334250" y="2880310"/>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dirty="0">
                <a:solidFill>
                  <a:srgbClr val="2F8B45"/>
                </a:solidFill>
                <a:latin typeface="Arial"/>
                <a:ea typeface="Arial"/>
                <a:cs typeface="Arial"/>
              </a:rPr>
              <a:t>Operations Management</a:t>
            </a:r>
          </a:p>
        </p:txBody>
      </p:sp>
      <p:sp>
        <p:nvSpPr>
          <p:cNvPr id="145" name="operations-management-item-1">
            <a:extLst>
              <a:ext uri="{FF2B5EF4-FFF2-40B4-BE49-F238E27FC236}">
                <a16:creationId xmlns:a16="http://schemas.microsoft.com/office/drawing/2014/main" id="{BD21C4E8-3B90-58FD-406F-2274469F4A88}"/>
              </a:ext>
            </a:extLst>
          </p:cNvPr>
          <p:cNvSpPr>
            <a:spLocks noGrp="1"/>
          </p:cNvSpPr>
          <p:nvPr/>
        </p:nvSpPr>
        <p:spPr>
          <a:xfrm>
            <a:off x="7343775" y="3013014"/>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SKU &amp; Model Management</a:t>
            </a:r>
          </a:p>
        </p:txBody>
      </p:sp>
      <p:sp>
        <p:nvSpPr>
          <p:cNvPr id="146" name="operations-management-item-2">
            <a:extLst>
              <a:ext uri="{FF2B5EF4-FFF2-40B4-BE49-F238E27FC236}">
                <a16:creationId xmlns:a16="http://schemas.microsoft.com/office/drawing/2014/main" id="{4B6C752F-7B8C-587D-A084-724CE588E0F4}"/>
              </a:ext>
            </a:extLst>
          </p:cNvPr>
          <p:cNvSpPr>
            <a:spLocks noGrp="1"/>
          </p:cNvSpPr>
          <p:nvPr/>
        </p:nvSpPr>
        <p:spPr>
          <a:xfrm>
            <a:off x="7343775" y="3188005"/>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Pricing &amp; Policy Management</a:t>
            </a:r>
          </a:p>
        </p:txBody>
      </p:sp>
      <p:sp>
        <p:nvSpPr>
          <p:cNvPr id="147" name="operations-management-item-3">
            <a:extLst>
              <a:ext uri="{FF2B5EF4-FFF2-40B4-BE49-F238E27FC236}">
                <a16:creationId xmlns:a16="http://schemas.microsoft.com/office/drawing/2014/main" id="{C98CA1BC-0608-0FD7-5708-F9C6D3E525F2}"/>
              </a:ext>
            </a:extLst>
          </p:cNvPr>
          <p:cNvSpPr>
            <a:spLocks noGrp="1"/>
          </p:cNvSpPr>
          <p:nvPr/>
        </p:nvSpPr>
        <p:spPr>
          <a:xfrm>
            <a:off x="7343775" y="3362996"/>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Coupon &amp; Promotion</a:t>
            </a:r>
          </a:p>
        </p:txBody>
      </p:sp>
      <p:sp>
        <p:nvSpPr>
          <p:cNvPr id="148" name="operations-management-item-4">
            <a:extLst>
              <a:ext uri="{FF2B5EF4-FFF2-40B4-BE49-F238E27FC236}">
                <a16:creationId xmlns:a16="http://schemas.microsoft.com/office/drawing/2014/main" id="{F649213F-EFD9-5E49-A547-92972987A86F}"/>
              </a:ext>
            </a:extLst>
          </p:cNvPr>
          <p:cNvSpPr>
            <a:spLocks noGrp="1"/>
          </p:cNvSpPr>
          <p:nvPr/>
        </p:nvSpPr>
        <p:spPr>
          <a:xfrm>
            <a:off x="7343775" y="3537987"/>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Quota &amp; Share Management</a:t>
            </a:r>
          </a:p>
        </p:txBody>
      </p:sp>
      <p:sp>
        <p:nvSpPr>
          <p:cNvPr id="149" name="operations-management-item-5">
            <a:extLst>
              <a:ext uri="{FF2B5EF4-FFF2-40B4-BE49-F238E27FC236}">
                <a16:creationId xmlns:a16="http://schemas.microsoft.com/office/drawing/2014/main" id="{19F684F8-33E0-E692-D154-8C0C7D93A23D}"/>
              </a:ext>
            </a:extLst>
          </p:cNvPr>
          <p:cNvSpPr>
            <a:spLocks noGrp="1"/>
          </p:cNvSpPr>
          <p:nvPr/>
        </p:nvSpPr>
        <p:spPr>
          <a:xfrm>
            <a:off x="7343775" y="3712978"/>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Cost Allocation &amp; Chargeback</a:t>
            </a:r>
          </a:p>
        </p:txBody>
      </p:sp>
      <p:sp>
        <p:nvSpPr>
          <p:cNvPr id="150" name="operations-management-item-6">
            <a:extLst>
              <a:ext uri="{FF2B5EF4-FFF2-40B4-BE49-F238E27FC236}">
                <a16:creationId xmlns:a16="http://schemas.microsoft.com/office/drawing/2014/main" id="{0742CF17-89A0-59FF-EF05-6E5DF5178BDB}"/>
              </a:ext>
            </a:extLst>
          </p:cNvPr>
          <p:cNvSpPr>
            <a:spLocks noGrp="1"/>
          </p:cNvSpPr>
          <p:nvPr/>
        </p:nvSpPr>
        <p:spPr>
          <a:xfrm>
            <a:off x="7343775" y="3887969"/>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FinOps &amp; Cost Optimization</a:t>
            </a:r>
          </a:p>
        </p:txBody>
      </p:sp>
      <p:sp>
        <p:nvSpPr>
          <p:cNvPr id="151" name="serving-targets-frame">
            <a:extLst>
              <a:ext uri="{FF2B5EF4-FFF2-40B4-BE49-F238E27FC236}">
                <a16:creationId xmlns:a16="http://schemas.microsoft.com/office/drawing/2014/main" id="{E9073987-98BC-81EA-D12B-D1855FB43E25}"/>
              </a:ext>
            </a:extLst>
          </p:cNvPr>
          <p:cNvSpPr>
            <a:spLocks noGrp="1"/>
          </p:cNvSpPr>
          <p:nvPr/>
        </p:nvSpPr>
        <p:spPr>
          <a:xfrm>
            <a:off x="7277100" y="4157844"/>
            <a:ext cx="1733550" cy="609600"/>
          </a:xfrm>
          <a:prstGeom prst="roundRect">
            <a:avLst>
              <a:gd name="adj" fmla="val 4688"/>
            </a:avLst>
          </a:prstGeom>
          <a:solidFill>
            <a:srgbClr val="FFFFFF"/>
          </a:solidFill>
          <a:ln w="9525">
            <a:solidFill>
              <a:srgbClr val="D5E8CD"/>
            </a:solidFill>
            <a:prstDash val="solid"/>
          </a:ln>
        </p:spPr>
        <p:txBody>
          <a:bodyPr/>
          <a:lstStyle/>
          <a:p>
            <a:endParaRPr lang="zh-CN" altLang="en-US" sz="1600"/>
          </a:p>
        </p:txBody>
      </p:sp>
      <p:sp>
        <p:nvSpPr>
          <p:cNvPr id="152" name="serving-targets-title">
            <a:extLst>
              <a:ext uri="{FF2B5EF4-FFF2-40B4-BE49-F238E27FC236}">
                <a16:creationId xmlns:a16="http://schemas.microsoft.com/office/drawing/2014/main" id="{499DA736-9F02-538E-441B-43126E348696}"/>
              </a:ext>
            </a:extLst>
          </p:cNvPr>
          <p:cNvSpPr>
            <a:spLocks noGrp="1"/>
          </p:cNvSpPr>
          <p:nvPr/>
        </p:nvSpPr>
        <p:spPr>
          <a:xfrm>
            <a:off x="7334250" y="4186419"/>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Serving Targets</a:t>
            </a:r>
          </a:p>
        </p:txBody>
      </p:sp>
      <p:sp>
        <p:nvSpPr>
          <p:cNvPr id="153" name="serving-targets-items-1-box">
            <a:extLst>
              <a:ext uri="{FF2B5EF4-FFF2-40B4-BE49-F238E27FC236}">
                <a16:creationId xmlns:a16="http://schemas.microsoft.com/office/drawing/2014/main" id="{2555DF3E-6C98-3508-9ABE-58C359A550C7}"/>
              </a:ext>
            </a:extLst>
          </p:cNvPr>
          <p:cNvSpPr>
            <a:spLocks noGrp="1"/>
          </p:cNvSpPr>
          <p:nvPr/>
        </p:nvSpPr>
        <p:spPr>
          <a:xfrm>
            <a:off x="7334250"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Cloud</a:t>
            </a:r>
          </a:p>
        </p:txBody>
      </p:sp>
      <p:sp>
        <p:nvSpPr>
          <p:cNvPr id="154" name="serving-targets-items-2-box">
            <a:extLst>
              <a:ext uri="{FF2B5EF4-FFF2-40B4-BE49-F238E27FC236}">
                <a16:creationId xmlns:a16="http://schemas.microsoft.com/office/drawing/2014/main" id="{F7419E93-1D4C-C492-E787-34F58C36C675}"/>
              </a:ext>
            </a:extLst>
          </p:cNvPr>
          <p:cNvSpPr>
            <a:spLocks noGrp="1"/>
          </p:cNvSpPr>
          <p:nvPr/>
        </p:nvSpPr>
        <p:spPr>
          <a:xfrm>
            <a:off x="8162925"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Enterprise</a:t>
            </a:r>
          </a:p>
        </p:txBody>
      </p:sp>
      <p:sp>
        <p:nvSpPr>
          <p:cNvPr id="156" name="data-management-surface">
            <a:extLst>
              <a:ext uri="{FF2B5EF4-FFF2-40B4-BE49-F238E27FC236}">
                <a16:creationId xmlns:a16="http://schemas.microsoft.com/office/drawing/2014/main" id="{2A8A5E81-E831-80B3-55A3-495464D3BCC4}"/>
              </a:ext>
            </a:extLst>
          </p:cNvPr>
          <p:cNvSpPr>
            <a:spLocks noGrp="1"/>
          </p:cNvSpPr>
          <p:nvPr/>
        </p:nvSpPr>
        <p:spPr>
          <a:xfrm>
            <a:off x="933450" y="3773723"/>
            <a:ext cx="6191250" cy="238125"/>
          </a:xfrm>
          <a:prstGeom prst="roundRect">
            <a:avLst>
              <a:gd name="adj" fmla="val 16000"/>
            </a:avLst>
          </a:prstGeom>
          <a:solidFill>
            <a:srgbClr val="F7FCFC"/>
          </a:solidFill>
          <a:ln w="9525">
            <a:solidFill>
              <a:srgbClr val="C8E1DF"/>
            </a:solidFill>
            <a:prstDash val="solid"/>
          </a:ln>
        </p:spPr>
        <p:txBody>
          <a:bodyPr/>
          <a:lstStyle/>
          <a:p>
            <a:endParaRPr lang="zh-CN" altLang="en-US" sz="1600"/>
          </a:p>
        </p:txBody>
      </p:sp>
      <p:sp>
        <p:nvSpPr>
          <p:cNvPr id="157" name="data-management-items-1-box">
            <a:extLst>
              <a:ext uri="{FF2B5EF4-FFF2-40B4-BE49-F238E27FC236}">
                <a16:creationId xmlns:a16="http://schemas.microsoft.com/office/drawing/2014/main" id="{F83F80F0-5534-A3C2-97AA-E7B9DC33E652}"/>
              </a:ext>
            </a:extLst>
          </p:cNvPr>
          <p:cNvSpPr>
            <a:spLocks noGrp="1"/>
          </p:cNvSpPr>
          <p:nvPr/>
        </p:nvSpPr>
        <p:spPr>
          <a:xfrm>
            <a:off x="100965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Model Hub (MatrixHub)</a:t>
            </a:r>
          </a:p>
        </p:txBody>
      </p:sp>
      <p:sp>
        <p:nvSpPr>
          <p:cNvPr id="158" name="data-management-items-2-box">
            <a:extLst>
              <a:ext uri="{FF2B5EF4-FFF2-40B4-BE49-F238E27FC236}">
                <a16:creationId xmlns:a16="http://schemas.microsoft.com/office/drawing/2014/main" id="{4ECDE597-794C-A826-42B9-9A8E339143B2}"/>
              </a:ext>
            </a:extLst>
          </p:cNvPr>
          <p:cNvSpPr>
            <a:spLocks noGrp="1"/>
          </p:cNvSpPr>
          <p:nvPr/>
        </p:nvSpPr>
        <p:spPr>
          <a:xfrm>
            <a:off x="202088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500" b="0">
                <a:solidFill>
                  <a:srgbClr val="102031"/>
                </a:solidFill>
                <a:latin typeface="Arial"/>
                <a:ea typeface="Arial"/>
                <a:cs typeface="Arial"/>
              </a:rPr>
              <a:t>Model Distribution (ModelExpress)</a:t>
            </a:r>
          </a:p>
        </p:txBody>
      </p:sp>
      <p:sp>
        <p:nvSpPr>
          <p:cNvPr id="159" name="data-management-items-3-box">
            <a:extLst>
              <a:ext uri="{FF2B5EF4-FFF2-40B4-BE49-F238E27FC236}">
                <a16:creationId xmlns:a16="http://schemas.microsoft.com/office/drawing/2014/main" id="{378708FC-8BBE-4F38-6951-B9E5CC1B9B0A}"/>
              </a:ext>
            </a:extLst>
          </p:cNvPr>
          <p:cNvSpPr>
            <a:spLocks noGrp="1"/>
          </p:cNvSpPr>
          <p:nvPr/>
        </p:nvSpPr>
        <p:spPr>
          <a:xfrm>
            <a:off x="3032125"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Dataset Management</a:t>
            </a:r>
          </a:p>
        </p:txBody>
      </p:sp>
      <p:sp>
        <p:nvSpPr>
          <p:cNvPr id="160" name="data-management-items-4-box">
            <a:extLst>
              <a:ext uri="{FF2B5EF4-FFF2-40B4-BE49-F238E27FC236}">
                <a16:creationId xmlns:a16="http://schemas.microsoft.com/office/drawing/2014/main" id="{52CF88E4-04EE-4775-FA49-2838E88BDD39}"/>
              </a:ext>
            </a:extLst>
          </p:cNvPr>
          <p:cNvSpPr>
            <a:spLocks noGrp="1"/>
          </p:cNvSpPr>
          <p:nvPr/>
        </p:nvSpPr>
        <p:spPr>
          <a:xfrm>
            <a:off x="4043363"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Catalog</a:t>
            </a:r>
          </a:p>
        </p:txBody>
      </p:sp>
      <p:sp>
        <p:nvSpPr>
          <p:cNvPr id="161" name="data-management-items-5-box">
            <a:extLst>
              <a:ext uri="{FF2B5EF4-FFF2-40B4-BE49-F238E27FC236}">
                <a16:creationId xmlns:a16="http://schemas.microsoft.com/office/drawing/2014/main" id="{96681C94-E86E-3CEB-F2B5-04115534E42E}"/>
              </a:ext>
            </a:extLst>
          </p:cNvPr>
          <p:cNvSpPr>
            <a:spLocks noGrp="1"/>
          </p:cNvSpPr>
          <p:nvPr/>
        </p:nvSpPr>
        <p:spPr>
          <a:xfrm>
            <a:off x="505460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Processing</a:t>
            </a:r>
          </a:p>
        </p:txBody>
      </p:sp>
      <p:sp>
        <p:nvSpPr>
          <p:cNvPr id="162" name="data-management-items-6-box">
            <a:extLst>
              <a:ext uri="{FF2B5EF4-FFF2-40B4-BE49-F238E27FC236}">
                <a16:creationId xmlns:a16="http://schemas.microsoft.com/office/drawing/2014/main" id="{99276E16-3013-20C4-4893-965A8B38EA32}"/>
              </a:ext>
            </a:extLst>
          </p:cNvPr>
          <p:cNvSpPr>
            <a:spLocks noGrp="1"/>
          </p:cNvSpPr>
          <p:nvPr/>
        </p:nvSpPr>
        <p:spPr>
          <a:xfrm>
            <a:off x="606583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Quality</a:t>
            </a:r>
          </a:p>
        </p:txBody>
      </p:sp>
      <p:sp>
        <p:nvSpPr>
          <p:cNvPr id="163" name="compute-orchestration-rail-box">
            <a:extLst>
              <a:ext uri="{FF2B5EF4-FFF2-40B4-BE49-F238E27FC236}">
                <a16:creationId xmlns:a16="http://schemas.microsoft.com/office/drawing/2014/main" id="{1CEC1F22-F880-46CC-B47A-75E4080E216A}"/>
              </a:ext>
            </a:extLst>
          </p:cNvPr>
          <p:cNvSpPr>
            <a:spLocks noGrp="1"/>
          </p:cNvSpPr>
          <p:nvPr/>
        </p:nvSpPr>
        <p:spPr>
          <a:xfrm>
            <a:off x="76200" y="3773723"/>
            <a:ext cx="755100" cy="800727"/>
          </a:xfrm>
          <a:prstGeom prst="roundRect">
            <a:avLst>
              <a:gd name="adj" fmla="val 16000"/>
            </a:avLst>
          </a:prstGeom>
          <a:solidFill>
            <a:srgbClr val="2F8B45"/>
          </a:solidFill>
          <a:ln w="9525">
            <a:solidFill>
              <a:srgbClr val="2F8B45"/>
            </a:solidFill>
            <a:prstDash val="solid"/>
          </a:ln>
        </p:spPr>
        <p:txBody>
          <a:bodyPr wrap="square" lIns="28575" tIns="9525" rIns="28575" bIns="9525" anchor="ctr">
            <a:normAutofit fontScale="99064"/>
          </a:bodyPr>
          <a:lstStyle/>
          <a:p>
            <a:pPr algn="ctr">
              <a:defRPr sz="525" b="1">
                <a:solidFill>
                  <a:srgbClr val="FFFFFF"/>
                </a:solidFill>
                <a:latin typeface="Arial"/>
                <a:ea typeface="Arial"/>
                <a:cs typeface="Arial"/>
              </a:defRPr>
            </a:pPr>
            <a:r>
              <a:rPr lang="en" sz="800" dirty="0">
                <a:solidFill>
                  <a:srgbClr val="FFFFFF"/>
                </a:solidFill>
              </a:rPr>
              <a:t>Kubernetes</a:t>
            </a:r>
            <a:r>
              <a:rPr lang="en" sz="800" b="1" dirty="0">
                <a:solidFill>
                  <a:srgbClr val="FFFFFF"/>
                </a:solidFill>
              </a:rPr>
              <a:t> GPU</a:t>
            </a:r>
            <a:r>
              <a:rPr lang="zh-CN" altLang="en-US" sz="800" b="1" dirty="0">
                <a:solidFill>
                  <a:srgbClr val="FFFFFF"/>
                </a:solidFill>
              </a:rPr>
              <a:t> </a:t>
            </a:r>
            <a:r>
              <a:rPr lang="en-US" altLang="zh-CN" sz="800" b="1" dirty="0">
                <a:solidFill>
                  <a:srgbClr val="FFFFFF"/>
                </a:solidFill>
              </a:rPr>
              <a:t>&amp;</a:t>
            </a:r>
            <a:r>
              <a:rPr lang="zh-CN" altLang="en-US" sz="800" b="1" dirty="0">
                <a:solidFill>
                  <a:srgbClr val="FFFFFF"/>
                </a:solidFill>
              </a:rPr>
              <a:t> </a:t>
            </a:r>
            <a:r>
              <a:rPr lang="en" altLang="zh-CN" sz="800" b="1" dirty="0">
                <a:solidFill>
                  <a:srgbClr val="FFFFFF"/>
                </a:solidFill>
              </a:rPr>
              <a:t>Data</a:t>
            </a:r>
            <a:r>
              <a:rPr lang="en" sz="800" b="1" dirty="0">
                <a:solidFill>
                  <a:srgbClr val="FFFFFF"/>
                </a:solidFill>
              </a:rPr>
              <a:t> Scheduling</a:t>
            </a:r>
          </a:p>
        </p:txBody>
      </p:sp>
      <p:sp>
        <p:nvSpPr>
          <p:cNvPr id="164" name="compute-orchestration-surface">
            <a:extLst>
              <a:ext uri="{FF2B5EF4-FFF2-40B4-BE49-F238E27FC236}">
                <a16:creationId xmlns:a16="http://schemas.microsoft.com/office/drawing/2014/main" id="{654999C4-3805-4C4D-5FCC-B0099477929E}"/>
              </a:ext>
            </a:extLst>
          </p:cNvPr>
          <p:cNvSpPr>
            <a:spLocks noGrp="1"/>
          </p:cNvSpPr>
          <p:nvPr/>
        </p:nvSpPr>
        <p:spPr>
          <a:xfrm>
            <a:off x="933450" y="4069052"/>
            <a:ext cx="6191250" cy="250717"/>
          </a:xfrm>
          <a:prstGeom prst="roundRect">
            <a:avLst>
              <a:gd name="adj" fmla="val 16000"/>
            </a:avLst>
          </a:prstGeom>
          <a:solidFill>
            <a:srgbClr val="F8FCF5"/>
          </a:solidFill>
          <a:ln w="9525">
            <a:solidFill>
              <a:srgbClr val="CFE3C7"/>
            </a:solidFill>
            <a:prstDash val="solid"/>
          </a:ln>
        </p:spPr>
        <p:txBody>
          <a:bodyPr/>
          <a:lstStyle/>
          <a:p>
            <a:endParaRPr lang="zh-CN" altLang="en-US" sz="1600"/>
          </a:p>
        </p:txBody>
      </p:sp>
      <p:sp>
        <p:nvSpPr>
          <p:cNvPr id="165" name="compute-orchestration-items-1-box">
            <a:extLst>
              <a:ext uri="{FF2B5EF4-FFF2-40B4-BE49-F238E27FC236}">
                <a16:creationId xmlns:a16="http://schemas.microsoft.com/office/drawing/2014/main" id="{699A0DB5-EABD-FB32-F820-B8580B8FEAF1}"/>
              </a:ext>
            </a:extLst>
          </p:cNvPr>
          <p:cNvSpPr>
            <a:spLocks noGrp="1"/>
          </p:cNvSpPr>
          <p:nvPr/>
        </p:nvSpPr>
        <p:spPr>
          <a:xfrm>
            <a:off x="100965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Resource Pool Management</a:t>
            </a:r>
          </a:p>
        </p:txBody>
      </p:sp>
      <p:sp>
        <p:nvSpPr>
          <p:cNvPr id="166" name="compute-orchestration-items-2-box">
            <a:extLst>
              <a:ext uri="{FF2B5EF4-FFF2-40B4-BE49-F238E27FC236}">
                <a16:creationId xmlns:a16="http://schemas.microsoft.com/office/drawing/2014/main" id="{B9C5958C-E1B0-659E-0F38-DA0AE9A594FE}"/>
              </a:ext>
            </a:extLst>
          </p:cNvPr>
          <p:cNvSpPr>
            <a:spLocks noGrp="1"/>
          </p:cNvSpPr>
          <p:nvPr/>
        </p:nvSpPr>
        <p:spPr>
          <a:xfrm>
            <a:off x="202088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Priority &amp; Preemption</a:t>
            </a:r>
          </a:p>
        </p:txBody>
      </p:sp>
      <p:sp>
        <p:nvSpPr>
          <p:cNvPr id="167" name="compute-orchestration-items-3-box">
            <a:extLst>
              <a:ext uri="{FF2B5EF4-FFF2-40B4-BE49-F238E27FC236}">
                <a16:creationId xmlns:a16="http://schemas.microsoft.com/office/drawing/2014/main" id="{4D81ECD1-3C38-FC31-5237-AAEE099890D8}"/>
              </a:ext>
            </a:extLst>
          </p:cNvPr>
          <p:cNvSpPr>
            <a:spLocks noGrp="1"/>
          </p:cNvSpPr>
          <p:nvPr/>
        </p:nvSpPr>
        <p:spPr>
          <a:xfrm>
            <a:off x="3032125"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Fair Scheduling</a:t>
            </a:r>
          </a:p>
        </p:txBody>
      </p:sp>
      <p:sp>
        <p:nvSpPr>
          <p:cNvPr id="168" name="compute-orchestration-items-4-box">
            <a:extLst>
              <a:ext uri="{FF2B5EF4-FFF2-40B4-BE49-F238E27FC236}">
                <a16:creationId xmlns:a16="http://schemas.microsoft.com/office/drawing/2014/main" id="{4BCA633C-6E74-0A91-2707-241D402DE11A}"/>
              </a:ext>
            </a:extLst>
          </p:cNvPr>
          <p:cNvSpPr>
            <a:spLocks noGrp="1"/>
          </p:cNvSpPr>
          <p:nvPr/>
        </p:nvSpPr>
        <p:spPr>
          <a:xfrm>
            <a:off x="4043363"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Elastic Resource Allocation</a:t>
            </a:r>
          </a:p>
        </p:txBody>
      </p:sp>
      <p:sp>
        <p:nvSpPr>
          <p:cNvPr id="169" name="compute-orchestration-items-5-box">
            <a:extLst>
              <a:ext uri="{FF2B5EF4-FFF2-40B4-BE49-F238E27FC236}">
                <a16:creationId xmlns:a16="http://schemas.microsoft.com/office/drawing/2014/main" id="{1F32C19F-D03F-6CD4-FDDA-1E7BC79FAD21}"/>
              </a:ext>
            </a:extLst>
          </p:cNvPr>
          <p:cNvSpPr>
            <a:spLocks noGrp="1"/>
          </p:cNvSpPr>
          <p:nvPr/>
        </p:nvSpPr>
        <p:spPr>
          <a:xfrm>
            <a:off x="505460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70" name="compute-orchestration-items-6-box">
            <a:extLst>
              <a:ext uri="{FF2B5EF4-FFF2-40B4-BE49-F238E27FC236}">
                <a16:creationId xmlns:a16="http://schemas.microsoft.com/office/drawing/2014/main" id="{08E4B0D7-DDA6-3DEE-B4F7-4698F400DB03}"/>
              </a:ext>
            </a:extLst>
          </p:cNvPr>
          <p:cNvSpPr>
            <a:spLocks noGrp="1"/>
          </p:cNvSpPr>
          <p:nvPr/>
        </p:nvSpPr>
        <p:spPr>
          <a:xfrm>
            <a:off x="606583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Workflow Orchestration</a:t>
            </a:r>
          </a:p>
        </p:txBody>
      </p:sp>
      <p:sp>
        <p:nvSpPr>
          <p:cNvPr id="172" name="kubernetes-gpu-surface">
            <a:extLst>
              <a:ext uri="{FF2B5EF4-FFF2-40B4-BE49-F238E27FC236}">
                <a16:creationId xmlns:a16="http://schemas.microsoft.com/office/drawing/2014/main" id="{6AEDF670-2B7A-B129-36C0-FBE6F1475138}"/>
              </a:ext>
            </a:extLst>
          </p:cNvPr>
          <p:cNvSpPr>
            <a:spLocks noGrp="1"/>
          </p:cNvSpPr>
          <p:nvPr/>
        </p:nvSpPr>
        <p:spPr>
          <a:xfrm>
            <a:off x="933450" y="4367394"/>
            <a:ext cx="6191250" cy="238125"/>
          </a:xfrm>
          <a:prstGeom prst="roundRect">
            <a:avLst>
              <a:gd name="adj" fmla="val 16000"/>
            </a:avLst>
          </a:prstGeom>
          <a:solidFill>
            <a:srgbClr val="F7FAFF"/>
          </a:solidFill>
          <a:ln w="9525">
            <a:solidFill>
              <a:srgbClr val="C8D8F1"/>
            </a:solidFill>
            <a:prstDash val="solid"/>
          </a:ln>
        </p:spPr>
        <p:txBody>
          <a:bodyPr/>
          <a:lstStyle/>
          <a:p>
            <a:endParaRPr lang="zh-CN" altLang="en-US" sz="1600"/>
          </a:p>
        </p:txBody>
      </p:sp>
      <p:sp>
        <p:nvSpPr>
          <p:cNvPr id="173" name="kubernetes-gpu-items-1-box">
            <a:extLst>
              <a:ext uri="{FF2B5EF4-FFF2-40B4-BE49-F238E27FC236}">
                <a16:creationId xmlns:a16="http://schemas.microsoft.com/office/drawing/2014/main" id="{61CDCF19-8242-EDBB-F5F3-5C3474D7F50B}"/>
              </a:ext>
            </a:extLst>
          </p:cNvPr>
          <p:cNvSpPr>
            <a:spLocks noGrp="1"/>
          </p:cNvSpPr>
          <p:nvPr/>
        </p:nvSpPr>
        <p:spPr>
          <a:xfrm>
            <a:off x="10096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1" dirty="0">
                <a:solidFill>
                  <a:srgbClr val="102031"/>
                </a:solidFill>
                <a:latin typeface="Arial"/>
                <a:ea typeface="Arial"/>
                <a:cs typeface="Arial"/>
              </a:rPr>
              <a:t>Kubernetes</a:t>
            </a:r>
          </a:p>
        </p:txBody>
      </p:sp>
      <p:sp>
        <p:nvSpPr>
          <p:cNvPr id="174" name="kubernetes-gpu-items-2-box">
            <a:extLst>
              <a:ext uri="{FF2B5EF4-FFF2-40B4-BE49-F238E27FC236}">
                <a16:creationId xmlns:a16="http://schemas.microsoft.com/office/drawing/2014/main" id="{C77AB38E-B910-0067-928F-19F5BD32D598}"/>
              </a:ext>
            </a:extLst>
          </p:cNvPr>
          <p:cNvSpPr>
            <a:spLocks noGrp="1"/>
          </p:cNvSpPr>
          <p:nvPr/>
        </p:nvSpPr>
        <p:spPr>
          <a:xfrm>
            <a:off x="18764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Operator</a:t>
            </a:r>
          </a:p>
        </p:txBody>
      </p:sp>
      <p:sp>
        <p:nvSpPr>
          <p:cNvPr id="175" name="kubernetes-gpu-items-3-box">
            <a:extLst>
              <a:ext uri="{FF2B5EF4-FFF2-40B4-BE49-F238E27FC236}">
                <a16:creationId xmlns:a16="http://schemas.microsoft.com/office/drawing/2014/main" id="{22972BFF-687C-6A8C-8863-7D96B585133F}"/>
              </a:ext>
            </a:extLst>
          </p:cNvPr>
          <p:cNvSpPr>
            <a:spLocks noGrp="1"/>
          </p:cNvSpPr>
          <p:nvPr/>
        </p:nvSpPr>
        <p:spPr>
          <a:xfrm>
            <a:off x="27432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Device Plugin</a:t>
            </a:r>
          </a:p>
        </p:txBody>
      </p:sp>
      <p:sp>
        <p:nvSpPr>
          <p:cNvPr id="176" name="kubernetes-gpu-items-4-box">
            <a:extLst>
              <a:ext uri="{FF2B5EF4-FFF2-40B4-BE49-F238E27FC236}">
                <a16:creationId xmlns:a16="http://schemas.microsoft.com/office/drawing/2014/main" id="{51152C1A-2883-D420-D486-527933149EEF}"/>
              </a:ext>
            </a:extLst>
          </p:cNvPr>
          <p:cNvSpPr>
            <a:spLocks noGrp="1"/>
          </p:cNvSpPr>
          <p:nvPr/>
        </p:nvSpPr>
        <p:spPr>
          <a:xfrm>
            <a:off x="360997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Monitoring</a:t>
            </a:r>
          </a:p>
        </p:txBody>
      </p:sp>
      <p:sp>
        <p:nvSpPr>
          <p:cNvPr id="177" name="kubernetes-gpu-items-5-box">
            <a:extLst>
              <a:ext uri="{FF2B5EF4-FFF2-40B4-BE49-F238E27FC236}">
                <a16:creationId xmlns:a16="http://schemas.microsoft.com/office/drawing/2014/main" id="{F1C4C1AD-9BD0-9A7E-00D3-97C5A8273808}"/>
              </a:ext>
            </a:extLst>
          </p:cNvPr>
          <p:cNvSpPr>
            <a:spLocks noGrp="1"/>
          </p:cNvSpPr>
          <p:nvPr/>
        </p:nvSpPr>
        <p:spPr>
          <a:xfrm>
            <a:off x="44767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Topology Manager</a:t>
            </a:r>
          </a:p>
        </p:txBody>
      </p:sp>
      <p:sp>
        <p:nvSpPr>
          <p:cNvPr id="178" name="kubernetes-gpu-items-6-box">
            <a:extLst>
              <a:ext uri="{FF2B5EF4-FFF2-40B4-BE49-F238E27FC236}">
                <a16:creationId xmlns:a16="http://schemas.microsoft.com/office/drawing/2014/main" id="{51FB50EB-6A4A-18DB-7A55-E941FFDD2068}"/>
              </a:ext>
            </a:extLst>
          </p:cNvPr>
          <p:cNvSpPr>
            <a:spLocks noGrp="1"/>
          </p:cNvSpPr>
          <p:nvPr/>
        </p:nvSpPr>
        <p:spPr>
          <a:xfrm>
            <a:off x="53435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Node Auto-discovery</a:t>
            </a:r>
          </a:p>
        </p:txBody>
      </p:sp>
      <p:sp>
        <p:nvSpPr>
          <p:cNvPr id="179" name="kubernetes-gpu-items-7-box">
            <a:extLst>
              <a:ext uri="{FF2B5EF4-FFF2-40B4-BE49-F238E27FC236}">
                <a16:creationId xmlns:a16="http://schemas.microsoft.com/office/drawing/2014/main" id="{22245C04-67A9-80DF-84B9-860EAB67B4E1}"/>
              </a:ext>
            </a:extLst>
          </p:cNvPr>
          <p:cNvSpPr>
            <a:spLocks noGrp="1"/>
          </p:cNvSpPr>
          <p:nvPr/>
        </p:nvSpPr>
        <p:spPr>
          <a:xfrm>
            <a:off x="62103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80" name="infrastructure-rail-box">
            <a:extLst>
              <a:ext uri="{FF2B5EF4-FFF2-40B4-BE49-F238E27FC236}">
                <a16:creationId xmlns:a16="http://schemas.microsoft.com/office/drawing/2014/main" id="{E8A91F7C-D116-EA58-9A8A-F819E1B42313}"/>
              </a:ext>
            </a:extLst>
          </p:cNvPr>
          <p:cNvSpPr>
            <a:spLocks noGrp="1"/>
          </p:cNvSpPr>
          <p:nvPr/>
        </p:nvSpPr>
        <p:spPr>
          <a:xfrm>
            <a:off x="76200" y="4653144"/>
            <a:ext cx="762000" cy="190500"/>
          </a:xfrm>
          <a:prstGeom prst="roundRect">
            <a:avLst>
              <a:gd name="adj" fmla="val 20000"/>
            </a:avLst>
          </a:prstGeom>
          <a:solidFill>
            <a:srgbClr val="102031"/>
          </a:solidFill>
          <a:ln w="9525">
            <a:solidFill>
              <a:srgbClr val="102031"/>
            </a:solidFill>
            <a:prstDash val="solid"/>
          </a:ln>
        </p:spPr>
        <p:txBody>
          <a:bodyPr wrap="square" lIns="28575" tIns="9525" rIns="28575" bIns="9525" anchor="ctr">
            <a:noAutofit/>
          </a:bodyPr>
          <a:lstStyle/>
          <a:p>
            <a:pPr algn="ctr">
              <a:defRPr sz="525" b="1">
                <a:solidFill>
                  <a:srgbClr val="FFFFFF"/>
                </a:solidFill>
                <a:latin typeface="Arial"/>
                <a:ea typeface="Arial"/>
                <a:cs typeface="Arial"/>
              </a:defRPr>
            </a:pPr>
            <a:r>
              <a:rPr sz="600" b="1">
                <a:solidFill>
                  <a:srgbClr val="FFFFFF"/>
                </a:solidFill>
                <a:latin typeface="Arial"/>
                <a:ea typeface="Arial"/>
                <a:cs typeface="Arial"/>
              </a:rPr>
              <a:t>Infrastructure</a:t>
            </a:r>
          </a:p>
          <a:p>
            <a:pPr algn="ctr">
              <a:defRPr sz="525" b="1">
                <a:solidFill>
                  <a:srgbClr val="FFFFFF"/>
                </a:solidFill>
                <a:latin typeface="Arial"/>
                <a:ea typeface="Arial"/>
                <a:cs typeface="Arial"/>
              </a:defRPr>
            </a:pPr>
            <a:r>
              <a:rPr sz="600" b="1">
                <a:solidFill>
                  <a:srgbClr val="FFFFFF"/>
                </a:solidFill>
                <a:latin typeface="Arial"/>
                <a:ea typeface="Arial"/>
                <a:cs typeface="Arial"/>
              </a:rPr>
              <a:t>Operations</a:t>
            </a:r>
          </a:p>
        </p:txBody>
      </p:sp>
      <p:sp>
        <p:nvSpPr>
          <p:cNvPr id="181" name="infrastructure-surface">
            <a:extLst>
              <a:ext uri="{FF2B5EF4-FFF2-40B4-BE49-F238E27FC236}">
                <a16:creationId xmlns:a16="http://schemas.microsoft.com/office/drawing/2014/main" id="{E9666790-F5E6-786E-4021-DCD511CCA1E2}"/>
              </a:ext>
            </a:extLst>
          </p:cNvPr>
          <p:cNvSpPr>
            <a:spLocks noGrp="1"/>
          </p:cNvSpPr>
          <p:nvPr/>
        </p:nvSpPr>
        <p:spPr>
          <a:xfrm>
            <a:off x="933450" y="4653144"/>
            <a:ext cx="6191250" cy="190500"/>
          </a:xfrm>
          <a:prstGeom prst="roundRect">
            <a:avLst>
              <a:gd name="adj" fmla="val 20000"/>
            </a:avLst>
          </a:prstGeom>
          <a:solidFill>
            <a:srgbClr val="F7FAFF"/>
          </a:solidFill>
          <a:ln w="9525">
            <a:solidFill>
              <a:srgbClr val="C8D8F1"/>
            </a:solidFill>
            <a:prstDash val="solid"/>
          </a:ln>
        </p:spPr>
        <p:txBody>
          <a:bodyPr/>
          <a:lstStyle/>
          <a:p>
            <a:endParaRPr lang="zh-CN" altLang="en-US" sz="1600"/>
          </a:p>
        </p:txBody>
      </p:sp>
      <p:sp>
        <p:nvSpPr>
          <p:cNvPr id="182" name="infrastructure-items-1-box">
            <a:extLst>
              <a:ext uri="{FF2B5EF4-FFF2-40B4-BE49-F238E27FC236}">
                <a16:creationId xmlns:a16="http://schemas.microsoft.com/office/drawing/2014/main" id="{F02F3BB5-5C1A-B2C2-142C-AFFAB3E2934D}"/>
              </a:ext>
            </a:extLst>
          </p:cNvPr>
          <p:cNvSpPr>
            <a:spLocks noGrp="1"/>
          </p:cNvSpPr>
          <p:nvPr/>
        </p:nvSpPr>
        <p:spPr>
          <a:xfrm>
            <a:off x="1009650"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Compute</a:t>
            </a:r>
          </a:p>
          <a:p>
            <a:pPr algn="ctr">
              <a:defRPr sz="435" b="0">
                <a:solidFill>
                  <a:srgbClr val="102031"/>
                </a:solidFill>
                <a:latin typeface="Arial"/>
                <a:ea typeface="Arial"/>
                <a:cs typeface="Arial"/>
              </a:defRPr>
            </a:pPr>
            <a:r>
              <a:rPr sz="300" b="0">
                <a:solidFill>
                  <a:srgbClr val="102031"/>
                </a:solidFill>
                <a:latin typeface="Arial"/>
                <a:ea typeface="Arial"/>
                <a:cs typeface="Arial"/>
              </a:rPr>
              <a:t>(VM / Bare Metal)</a:t>
            </a:r>
          </a:p>
        </p:txBody>
      </p:sp>
      <p:sp>
        <p:nvSpPr>
          <p:cNvPr id="183" name="infrastructure-items-2-box">
            <a:extLst>
              <a:ext uri="{FF2B5EF4-FFF2-40B4-BE49-F238E27FC236}">
                <a16:creationId xmlns:a16="http://schemas.microsoft.com/office/drawing/2014/main" id="{9B0BBF7D-394A-50D2-0FD2-FF9329BB6D39}"/>
              </a:ext>
            </a:extLst>
          </p:cNvPr>
          <p:cNvSpPr>
            <a:spLocks noGrp="1"/>
          </p:cNvSpPr>
          <p:nvPr/>
        </p:nvSpPr>
        <p:spPr>
          <a:xfrm>
            <a:off x="1768078"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Network</a:t>
            </a:r>
          </a:p>
          <a:p>
            <a:pPr algn="ctr">
              <a:defRPr sz="435" b="0">
                <a:solidFill>
                  <a:srgbClr val="102031"/>
                </a:solidFill>
                <a:latin typeface="Arial"/>
                <a:ea typeface="Arial"/>
                <a:cs typeface="Arial"/>
              </a:defRPr>
            </a:pPr>
            <a:r>
              <a:rPr sz="300" b="0">
                <a:solidFill>
                  <a:srgbClr val="102031"/>
                </a:solidFill>
                <a:latin typeface="Arial"/>
                <a:ea typeface="Arial"/>
                <a:cs typeface="Arial"/>
              </a:rPr>
              <a:t>(VPC / SDN)</a:t>
            </a:r>
          </a:p>
        </p:txBody>
      </p:sp>
      <p:sp>
        <p:nvSpPr>
          <p:cNvPr id="184" name="infrastructure-items-3-box">
            <a:extLst>
              <a:ext uri="{FF2B5EF4-FFF2-40B4-BE49-F238E27FC236}">
                <a16:creationId xmlns:a16="http://schemas.microsoft.com/office/drawing/2014/main" id="{1863AA5E-7510-42EE-8E75-96EDC8DE25BD}"/>
              </a:ext>
            </a:extLst>
          </p:cNvPr>
          <p:cNvSpPr>
            <a:spLocks noGrp="1"/>
          </p:cNvSpPr>
          <p:nvPr/>
        </p:nvSpPr>
        <p:spPr>
          <a:xfrm>
            <a:off x="2526506"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Storage</a:t>
            </a:r>
          </a:p>
          <a:p>
            <a:pPr algn="ctr">
              <a:defRPr sz="435" b="0">
                <a:solidFill>
                  <a:srgbClr val="102031"/>
                </a:solidFill>
                <a:latin typeface="Arial"/>
                <a:ea typeface="Arial"/>
                <a:cs typeface="Arial"/>
              </a:defRPr>
            </a:pPr>
            <a:r>
              <a:rPr sz="300" b="0">
                <a:solidFill>
                  <a:srgbClr val="102031"/>
                </a:solidFill>
                <a:latin typeface="Arial"/>
                <a:ea typeface="Arial"/>
                <a:cs typeface="Arial"/>
              </a:rPr>
              <a:t>(Distributed)</a:t>
            </a:r>
          </a:p>
        </p:txBody>
      </p:sp>
      <p:sp>
        <p:nvSpPr>
          <p:cNvPr id="185" name="infrastructure-items-4-box">
            <a:extLst>
              <a:ext uri="{FF2B5EF4-FFF2-40B4-BE49-F238E27FC236}">
                <a16:creationId xmlns:a16="http://schemas.microsoft.com/office/drawing/2014/main" id="{1DC82E08-D77B-5A04-E9A3-4799EF0513A2}"/>
              </a:ext>
            </a:extLst>
          </p:cNvPr>
          <p:cNvSpPr>
            <a:spLocks noGrp="1"/>
          </p:cNvSpPr>
          <p:nvPr/>
        </p:nvSpPr>
        <p:spPr>
          <a:xfrm>
            <a:off x="3284934"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Security</a:t>
            </a:r>
          </a:p>
          <a:p>
            <a:pPr algn="ctr">
              <a:defRPr sz="435" b="0">
                <a:solidFill>
                  <a:srgbClr val="102031"/>
                </a:solidFill>
                <a:latin typeface="Arial"/>
                <a:ea typeface="Arial"/>
                <a:cs typeface="Arial"/>
              </a:defRPr>
            </a:pPr>
            <a:r>
              <a:rPr sz="300" b="0">
                <a:solidFill>
                  <a:srgbClr val="102031"/>
                </a:solidFill>
                <a:latin typeface="Arial"/>
                <a:ea typeface="Arial"/>
                <a:cs typeface="Arial"/>
              </a:rPr>
              <a:t>(FW / IDS)</a:t>
            </a:r>
          </a:p>
        </p:txBody>
      </p:sp>
      <p:sp>
        <p:nvSpPr>
          <p:cNvPr id="186" name="infrastructure-items-5-box">
            <a:extLst>
              <a:ext uri="{FF2B5EF4-FFF2-40B4-BE49-F238E27FC236}">
                <a16:creationId xmlns:a16="http://schemas.microsoft.com/office/drawing/2014/main" id="{3BA4C529-07B3-59B6-8AA1-5BE025F17DAA}"/>
              </a:ext>
            </a:extLst>
          </p:cNvPr>
          <p:cNvSpPr>
            <a:spLocks noGrp="1"/>
          </p:cNvSpPr>
          <p:nvPr/>
        </p:nvSpPr>
        <p:spPr>
          <a:xfrm>
            <a:off x="4043363"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Monitoring</a:t>
            </a:r>
          </a:p>
          <a:p>
            <a:pPr algn="ctr">
              <a:defRPr sz="435" b="0">
                <a:solidFill>
                  <a:srgbClr val="102031"/>
                </a:solidFill>
                <a:latin typeface="Arial"/>
                <a:ea typeface="Arial"/>
                <a:cs typeface="Arial"/>
              </a:defRPr>
            </a:pPr>
            <a:r>
              <a:rPr sz="300" b="0">
                <a:solidFill>
                  <a:srgbClr val="102031"/>
                </a:solidFill>
                <a:latin typeface="Arial"/>
                <a:ea typeface="Arial"/>
                <a:cs typeface="Arial"/>
              </a:rPr>
              <a:t>(Prometheus)</a:t>
            </a:r>
          </a:p>
        </p:txBody>
      </p:sp>
      <p:sp>
        <p:nvSpPr>
          <p:cNvPr id="187" name="infrastructure-items-6-box">
            <a:extLst>
              <a:ext uri="{FF2B5EF4-FFF2-40B4-BE49-F238E27FC236}">
                <a16:creationId xmlns:a16="http://schemas.microsoft.com/office/drawing/2014/main" id="{2DBCD637-1B48-A53C-5C31-1DF3173E650F}"/>
              </a:ext>
            </a:extLst>
          </p:cNvPr>
          <p:cNvSpPr>
            <a:spLocks noGrp="1"/>
          </p:cNvSpPr>
          <p:nvPr/>
        </p:nvSpPr>
        <p:spPr>
          <a:xfrm>
            <a:off x="4801791"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Logging</a:t>
            </a:r>
          </a:p>
          <a:p>
            <a:pPr algn="ctr">
              <a:defRPr sz="435" b="0">
                <a:solidFill>
                  <a:srgbClr val="102031"/>
                </a:solidFill>
                <a:latin typeface="Arial"/>
                <a:ea typeface="Arial"/>
                <a:cs typeface="Arial"/>
              </a:defRPr>
            </a:pPr>
            <a:r>
              <a:rPr sz="300" b="0">
                <a:solidFill>
                  <a:srgbClr val="102031"/>
                </a:solidFill>
                <a:latin typeface="Arial"/>
                <a:ea typeface="Arial"/>
                <a:cs typeface="Arial"/>
              </a:rPr>
              <a:t>(ELK)</a:t>
            </a:r>
          </a:p>
        </p:txBody>
      </p:sp>
      <p:sp>
        <p:nvSpPr>
          <p:cNvPr id="188" name="infrastructure-items-7-box">
            <a:extLst>
              <a:ext uri="{FF2B5EF4-FFF2-40B4-BE49-F238E27FC236}">
                <a16:creationId xmlns:a16="http://schemas.microsoft.com/office/drawing/2014/main" id="{7332C11D-84AF-EB39-4669-407DAF74ED90}"/>
              </a:ext>
            </a:extLst>
          </p:cNvPr>
          <p:cNvSpPr>
            <a:spLocks noGrp="1"/>
          </p:cNvSpPr>
          <p:nvPr/>
        </p:nvSpPr>
        <p:spPr>
          <a:xfrm>
            <a:off x="5560219"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Automation</a:t>
            </a:r>
          </a:p>
          <a:p>
            <a:pPr algn="ctr">
              <a:defRPr sz="435" b="0">
                <a:solidFill>
                  <a:srgbClr val="102031"/>
                </a:solidFill>
                <a:latin typeface="Arial"/>
                <a:ea typeface="Arial"/>
                <a:cs typeface="Arial"/>
              </a:defRPr>
            </a:pPr>
            <a:r>
              <a:rPr sz="300" b="0">
                <a:solidFill>
                  <a:srgbClr val="102031"/>
                </a:solidFill>
                <a:latin typeface="Arial"/>
                <a:ea typeface="Arial"/>
                <a:cs typeface="Arial"/>
              </a:rPr>
              <a:t>(Ansible)</a:t>
            </a:r>
          </a:p>
        </p:txBody>
      </p:sp>
      <p:sp>
        <p:nvSpPr>
          <p:cNvPr id="189" name="infrastructure-items-8-box">
            <a:extLst>
              <a:ext uri="{FF2B5EF4-FFF2-40B4-BE49-F238E27FC236}">
                <a16:creationId xmlns:a16="http://schemas.microsoft.com/office/drawing/2014/main" id="{1EBAF33E-9853-62AF-AC8E-2920247E635B}"/>
              </a:ext>
            </a:extLst>
          </p:cNvPr>
          <p:cNvSpPr>
            <a:spLocks noGrp="1"/>
          </p:cNvSpPr>
          <p:nvPr/>
        </p:nvSpPr>
        <p:spPr>
          <a:xfrm>
            <a:off x="6318647"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CI/CD</a:t>
            </a:r>
          </a:p>
          <a:p>
            <a:pPr algn="ctr">
              <a:defRPr sz="435" b="0">
                <a:solidFill>
                  <a:srgbClr val="102031"/>
                </a:solidFill>
                <a:latin typeface="Arial"/>
                <a:ea typeface="Arial"/>
                <a:cs typeface="Arial"/>
              </a:defRPr>
            </a:pPr>
            <a:r>
              <a:rPr sz="300" b="0">
                <a:solidFill>
                  <a:srgbClr val="102031"/>
                </a:solidFill>
                <a:latin typeface="Arial"/>
                <a:ea typeface="Arial"/>
                <a:cs typeface="Arial"/>
              </a:rPr>
              <a:t>(GitOps)</a:t>
            </a:r>
          </a:p>
        </p:txBody>
      </p:sp>
      <p:sp>
        <p:nvSpPr>
          <p:cNvPr id="6" name="文本框 5">
            <a:extLst>
              <a:ext uri="{FF2B5EF4-FFF2-40B4-BE49-F238E27FC236}">
                <a16:creationId xmlns:a16="http://schemas.microsoft.com/office/drawing/2014/main" id="{0DC8EAE8-7214-0CAB-B297-4A9BD9A4B529}"/>
              </a:ext>
            </a:extLst>
          </p:cNvPr>
          <p:cNvSpPr txBox="1"/>
          <p:nvPr/>
        </p:nvSpPr>
        <p:spPr>
          <a:xfrm>
            <a:off x="1103735" y="2040678"/>
            <a:ext cx="648868" cy="461665"/>
          </a:xfrm>
          <a:prstGeom prst="rect">
            <a:avLst/>
          </a:prstGeom>
          <a:noFill/>
          <a:ln w="0">
            <a:noFill/>
            <a:prstDash val="solid"/>
          </a:ln>
        </p:spPr>
        <p:txBody>
          <a:bodyPr wrap="square" lIns="19050" tIns="9525" rIns="19050" bIns="9525" anchor="ctr">
            <a:normAutofit fontScale="93750"/>
          </a:bodyPr>
          <a:lstStyle>
            <a:defPPr marR="0" lvl="0" algn="l" rtl="0">
              <a:lnSpc>
                <a:spcPct val="100000"/>
              </a:lnSpc>
              <a:spcBef>
                <a:spcPts val="0"/>
              </a:spcBef>
              <a:spcAft>
                <a:spcPts val="0"/>
              </a:spcAft>
            </a:defPPr>
            <a:lvl1pPr algn="ctr">
              <a:defRPr sz="1200" b="1">
                <a:solidFill>
                  <a:srgbClr val="475569"/>
                </a:solidFill>
              </a:defRPr>
            </a:lvl1pPr>
          </a:lstStyle>
          <a:p>
            <a:pPr algn="l"/>
            <a:r>
              <a:rPr lang="en" altLang="zh-CN" dirty="0"/>
              <a:t>LLM-D</a:t>
            </a:r>
          </a:p>
          <a:p>
            <a:pPr algn="l"/>
            <a:r>
              <a:rPr lang="en" altLang="zh-CN" dirty="0"/>
              <a:t>KAITO</a:t>
            </a:r>
            <a:endParaRPr lang="zh-CN" altLang="en-US" dirty="0"/>
          </a:p>
        </p:txBody>
      </p:sp>
    </p:spTree>
    <p:extLst>
      <p:ext uri="{BB962C8B-B14F-4D97-AF65-F5344CB8AC3E}">
        <p14:creationId xmlns:p14="http://schemas.microsoft.com/office/powerpoint/2010/main" val="31577067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marL="158750">
              <a:buSzPts val="1100"/>
            </a:pPr>
            <a:r>
              <a:rPr lang="zh-CN" altLang="zh-CN" sz="1200" dirty="0"/>
              <a:t>The following table presents examples, not a ranking. Some approaches can be used together.</a:t>
            </a:r>
            <a:endParaRPr lang="en-US" altLang="zh-CN" sz="1200" dirty="0"/>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14</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dirty="0" err="1">
                <a:solidFill>
                  <a:srgbClr val="142C46"/>
                </a:solidFill>
                <a:latin typeface="Arial"/>
              </a:rPr>
              <a:t>llm</a:t>
            </a:r>
            <a:r>
              <a:rPr sz="2100" b="1" dirty="0">
                <a:solidFill>
                  <a:srgbClr val="142C46"/>
                </a:solidFill>
                <a:latin typeface="Arial"/>
              </a:rPr>
              <a:t>-d: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a:lnSpc>
                <a:spcPct val="108000"/>
              </a:lnSpc>
              <a:defRPr sz="1200" b="0">
                <a:solidFill>
                  <a:srgbClr val="52677D"/>
                </a:solidFill>
                <a:latin typeface="Arial"/>
              </a:defRPr>
            </a:pPr>
            <a:r>
              <a:rPr lang="en-US" sz="1200" dirty="0">
                <a:solidFill>
                  <a:srgbClr val="52677D"/>
                </a:solidFill>
              </a:rPr>
              <a:t>Kubernetes-native high-performance distributed LLM inference framework</a:t>
            </a:r>
            <a:endParaRPr sz="1200" b="0" dirty="0">
              <a:solidFill>
                <a:srgbClr val="52677D"/>
              </a:solidFill>
              <a:latin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15</a:t>
            </a:fld>
            <a:endParaRPr lang="en-US"/>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combine reusable </a:t>
            </a:r>
            <a:r>
              <a:rPr lang="en-US" sz="1100" b="0" dirty="0" err="1">
                <a:solidFill>
                  <a:srgbClr val="142C46"/>
                </a:solidFill>
                <a:latin typeface="Arial"/>
              </a:rPr>
              <a:t>llm</a:t>
            </a:r>
            <a:r>
              <a:rPr lang="en-US" sz="1100" b="0" dirty="0">
                <a:solidFill>
                  <a:srgbClr val="142C46"/>
                </a:solidFill>
                <a:latin typeface="Arial"/>
              </a:rPr>
              <a:t>-d </a:t>
            </a:r>
            <a:r>
              <a:rPr sz="1100" b="0" dirty="0">
                <a:solidFill>
                  <a:srgbClr val="142C46"/>
                </a:solidFill>
                <a:latin typeface="Arial"/>
              </a:rPr>
              <a:t>components.</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nSpc>
                <a:spcPct val="108000"/>
              </a:lnSpc>
              <a:spcAft>
                <a:spcPts val="500"/>
              </a:spcAft>
              <a:defRPr sz="1050" b="0">
                <a:solidFill>
                  <a:srgbClr val="142C46"/>
                </a:solidFill>
                <a:latin typeface="Arial"/>
              </a:defRPr>
            </a:pPr>
            <a:r>
              <a:rPr lang="en-US" sz="1100" b="1" dirty="0">
                <a:solidFill>
                  <a:srgbClr val="346CEC"/>
                </a:solidFill>
              </a:rPr>
              <a:t>State-of-the-art </a:t>
            </a:r>
            <a:r>
              <a:rPr sz="1100" b="1" dirty="0" err="1">
                <a:solidFill>
                  <a:srgbClr val="346CEC"/>
                </a:solidFill>
                <a:latin typeface="Arial"/>
              </a:rPr>
              <a:t>MoE</a:t>
            </a:r>
            <a:r>
              <a:rPr sz="1100" b="1" dirty="0">
                <a:solidFill>
                  <a:srgbClr val="346CEC"/>
                </a:solidFill>
                <a:latin typeface="Arial"/>
              </a:rPr>
              <a:t> serving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16</a:t>
            </a:fld>
            <a:endParaRPr 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184666"/>
          </a:xfrm>
          <a:prstGeom prst="rect">
            <a:avLst/>
          </a:prstGeom>
          <a:noFill/>
        </p:spPr>
        <p:txBody>
          <a:bodyPr wrap="square" lIns="0" tIns="0" rIns="0" bIns="0">
            <a:spAutoFit/>
          </a:bodyPr>
          <a:lstStyle/>
          <a:p>
            <a:pPr marL="158750">
              <a:buSzPts val="1100"/>
            </a:pPr>
            <a:r>
              <a:rPr lang="zh-CN" altLang="zh-CN" sz="1200" dirty="0"/>
              <a:t>tested ways to deploy, with clear guidance on what works well and what the limitations are.</a:t>
            </a:r>
            <a:endParaRPr lang="en-US" altLang="zh-CN" sz="1200" dirty="0"/>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dirty="0"/>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dirty="0"/>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a large </a:t>
            </a:r>
            <a:r>
              <a:rPr cap="none" dirty="0" err="1"/>
              <a:t>MoE</a:t>
            </a:r>
            <a:r>
              <a:rPr cap="none" dirty="0"/>
              <a:t>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17</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sz="1200" cap="none" dirty="0" err="1">
                <a:solidFill>
                  <a:schemeClr val="tx1"/>
                </a:solidFill>
              </a:rPr>
              <a:t>MoE</a:t>
            </a:r>
            <a:r>
              <a:rPr lang="en-US" sz="1200" dirty="0">
                <a:solidFill>
                  <a:schemeClr val="tx1"/>
                </a:solidFill>
              </a:rPr>
              <a:t>:</a:t>
            </a:r>
            <a:r>
              <a:rPr lang="zh-CN" altLang="en-US" sz="1200" dirty="0">
                <a:solidFill>
                  <a:schemeClr val="tx1"/>
                </a:solidFill>
              </a:rPr>
              <a:t> </a:t>
            </a:r>
            <a:r>
              <a:rPr sz="1200" cap="none" dirty="0">
                <a:solidFill>
                  <a:schemeClr val="tx1"/>
                </a:solidFill>
              </a:rPr>
              <a:t>Mixture of Experts—a team of specialists.</a:t>
            </a:r>
          </a:p>
          <a:p>
            <a:pPr>
              <a:spcAft>
                <a:spcPts val="100"/>
              </a:spcAft>
              <a:defRPr sz="1350" b="0">
                <a:solidFill>
                  <a:srgbClr val="142C46"/>
                </a:solidFill>
                <a:latin typeface="Arial"/>
              </a:defRPr>
            </a:pPr>
            <a:r>
              <a:rPr sz="1200" cap="none" dirty="0"/>
              <a:t>The model picks a few experts to help process each token</a:t>
            </a:r>
            <a:r>
              <a:rPr lang="en-US" sz="1200" dirty="0"/>
              <a:t> instead of using all experts every time.</a:t>
            </a:r>
            <a:endParaRPr sz="1200" cap="none" dirty="0"/>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1800" b="1" cap="none" dirty="0">
                <a:solidFill>
                  <a:srgbClr val="142C46"/>
                </a:solidFill>
                <a:latin typeface="Arial"/>
              </a:rPr>
              <a:t>What is KAITO </a:t>
            </a:r>
            <a:r>
              <a:rPr lang="en-US" sz="1800" b="1" dirty="0">
                <a:solidFill>
                  <a:srgbClr val="142C46"/>
                </a:solidFill>
                <a:latin typeface="Arial"/>
              </a:rPr>
              <a:t>(Kubernetes AI Toolchain Operator)</a:t>
            </a:r>
            <a:r>
              <a:rPr lang="en-US" sz="1800" b="1" cap="none" dirty="0">
                <a:solidFill>
                  <a:srgbClr val="142C46"/>
                </a:solidFill>
                <a:latin typeface="Arial"/>
              </a:rPr>
              <a:t>?</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5881035" y="2151151"/>
            <a:ext cx="3262965"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Specify a model name and GPU SKU</a:t>
            </a:r>
          </a:p>
          <a:p>
            <a:pPr marL="285750" indent="-285750">
              <a:buFont typeface="Arial" panose="020B0604020202020204" pitchFamily="34" charset="0"/>
              <a:buChar char="•"/>
            </a:pPr>
            <a:r>
              <a:rPr lang="en-US" sz="1300" dirty="0">
                <a:solidFill>
                  <a:srgbClr val="142C46"/>
                </a:solidFill>
              </a:rPr>
              <a:t>sizes the nodes to fit the model’s memory requirements</a:t>
            </a:r>
          </a:p>
          <a:p>
            <a:pPr marL="285750" indent="-285750">
              <a:buFont typeface="Arial" panose="020B0604020202020204" pitchFamily="34" charset="0"/>
              <a:buChar char="•"/>
            </a:pPr>
            <a:r>
              <a:rPr lang="en-US" sz="1300" dirty="0">
                <a:solidFill>
                  <a:srgbClr val="142C46"/>
                </a:solidFill>
              </a:rPr>
              <a:t>handles model setup and caching</a:t>
            </a:r>
          </a:p>
          <a:p>
            <a:pPr marL="285750" indent="-285750">
              <a:buFont typeface="Arial" panose="020B0604020202020204" pitchFamily="34" charset="0"/>
              <a:buChar char="•"/>
            </a:pPr>
            <a:r>
              <a:rPr lang="en-US" sz="1300" dirty="0">
                <a:solidFill>
                  <a:srgbClr val="142C46"/>
                </a:solidFill>
              </a:rPr>
              <a:t>manages inference workloads and rolling updates on Kubernetes</a:t>
            </a:r>
          </a:p>
          <a:p>
            <a:pPr marL="285750" indent="-285750">
              <a:buFont typeface="Arial" panose="020B0604020202020204" pitchFamily="34" charset="0"/>
              <a:buChar char="•"/>
            </a:pPr>
            <a:r>
              <a:rPr lang="en-US" sz="1300" dirty="0">
                <a:solidFill>
                  <a:srgbClr val="142C46"/>
                </a:solidFill>
              </a:rPr>
              <a:t>uses KEDA to automatically scale inference workloads</a:t>
            </a:r>
            <a:endParaRPr sz="1300" cap="none" dirty="0">
              <a:solidFill>
                <a:srgbClr val="142C46"/>
              </a:solidFill>
              <a:latin typeface="Arial"/>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18</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Specify the model name,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03 / </a:t>
            </a:r>
            <a:r>
              <a:rPr sz="750" b="1" dirty="0" err="1">
                <a:solidFill>
                  <a:srgbClr val="346CEC"/>
                </a:solidFill>
                <a:latin typeface="Arial"/>
              </a:rPr>
              <a:t>llm</a:t>
            </a:r>
            <a:r>
              <a:rPr sz="750" b="1" dirty="0">
                <a:solidFill>
                  <a:srgbClr val="346CEC"/>
                </a:solidFill>
                <a:latin typeface="Arial"/>
              </a:rPr>
              <a:t>-d and KAITO — </a:t>
            </a:r>
            <a:r>
              <a:rPr lang="en-US" sz="750" b="1" dirty="0">
                <a:solidFill>
                  <a:srgbClr val="346CEC"/>
                </a:solidFill>
                <a:latin typeface="Arial"/>
              </a:rPr>
              <a:t>inference </a:t>
            </a:r>
            <a:r>
              <a:rPr sz="750" b="1" dirty="0">
                <a:solidFill>
                  <a:srgbClr val="346CEC"/>
                </a:solidFill>
                <a:latin typeface="Arial"/>
              </a:rPr>
              <a:t>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b="1" dirty="0">
                <a:solidFill>
                  <a:schemeClr val="accent2">
                    <a:lumMod val="75000"/>
                  </a:schemeClr>
                </a:solidFill>
              </a:rPr>
              <a:t>Specify a model name and GPU SKU</a:t>
            </a:r>
            <a:r>
              <a:rPr lang="en-US" sz="1400" b="1" dirty="0">
                <a:solidFill>
                  <a:schemeClr val="accent2">
                    <a:lumMod val="75000"/>
                  </a:schemeClr>
                </a:solidFill>
              </a:rPr>
              <a:t>.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a:t>
            </a:r>
            <a:r>
              <a:rPr lang="zh-CN" altLang="zh-CN" sz="1200" dirty="0"/>
              <a:t>not how much traffic it can handle.</a:t>
            </a:r>
            <a:endParaRPr lang="en-US" sz="1200" dirty="0"/>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Why bring </a:t>
            </a:r>
            <a:r>
              <a:rPr sz="2100" b="1" cap="none" dirty="0" err="1">
                <a:solidFill>
                  <a:srgbClr val="142C46"/>
                </a:solidFill>
                <a:latin typeface="Arial"/>
              </a:rPr>
              <a:t>llm</a:t>
            </a:r>
            <a:r>
              <a:rPr sz="2100" b="1" cap="none" dirty="0">
                <a:solidFill>
                  <a:srgbClr val="142C46"/>
                </a:solidFill>
                <a:latin typeface="Arial"/>
              </a:rPr>
              <a:t>-d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22</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23</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err="1">
                <a:solidFill>
                  <a:srgbClr val="142C46"/>
                </a:solidFill>
                <a:latin typeface="Arial"/>
              </a:rPr>
              <a:t>llm</a:t>
            </a:r>
            <a:r>
              <a:rPr sz="2100" b="1" cap="none" dirty="0">
                <a:solidFill>
                  <a:srgbClr val="142C46"/>
                </a:solidFill>
                <a:latin typeface="Arial"/>
              </a:rPr>
              <a:t>-d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dirty="0" err="1">
                <a:latin typeface="Arial"/>
              </a:rPr>
              <a:t>llm</a:t>
            </a:r>
            <a:r>
              <a:rPr sz="1500" cap="none" dirty="0">
                <a:latin typeface="Arial"/>
              </a:rPr>
              <a:t>-d Router EPP</a:t>
            </a:r>
          </a:p>
          <a:p>
            <a:pPr algn="ctr">
              <a:spcBef>
                <a:spcPts val="225"/>
              </a:spcBef>
              <a:defRPr sz="1200" b="0">
                <a:solidFill>
                  <a:srgbClr val="5B6E80"/>
                </a:solidFill>
                <a:latin typeface="Arial"/>
              </a:defRPr>
            </a:pPr>
            <a:r>
              <a:rPr sz="900" cap="none" dirty="0">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2811779" y="2882647"/>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099815" y="2862073"/>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dirty="0">
                <a:latin typeface="Arial"/>
              </a:rPr>
              <a:t>Compose plugins</a:t>
            </a:r>
          </a:p>
        </p:txBody>
      </p:sp>
      <p:sp>
        <p:nvSpPr>
          <p:cNvPr id="21" name="KV-cache-aware logic / and P/D-aware scheduling."/>
          <p:cNvSpPr txBox="1"/>
          <p:nvPr/>
        </p:nvSpPr>
        <p:spPr>
          <a:xfrm>
            <a:off x="3099815" y="3198115"/>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dirty="0">
                <a:latin typeface="Arial"/>
              </a:rPr>
              <a:t>Combine KV-aware and</a:t>
            </a:r>
          </a:p>
          <a:p>
            <a:pPr>
              <a:spcAft>
                <a:spcPts val="150"/>
              </a:spcAft>
              <a:defRPr sz="1600" b="0">
                <a:solidFill>
                  <a:srgbClr val="5B6E80"/>
                </a:solidFill>
                <a:latin typeface="Arial"/>
              </a:defRPr>
            </a:pPr>
            <a:r>
              <a:rPr sz="1200" cap="none" dirty="0">
                <a:latin typeface="Arial"/>
              </a:rPr>
              <a:t>P/D-aware plugins.</a:t>
            </a:r>
          </a:p>
        </p:txBody>
      </p:sp>
      <p:sp>
        <p:nvSpPr>
          <p:cNvPr id="22" name="Step 03"/>
          <p:cNvSpPr/>
          <p:nvPr/>
        </p:nvSpPr>
        <p:spPr>
          <a:xfrm>
            <a:off x="583844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12648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12648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dirty="0">
                <a:latin typeface="Arial"/>
              </a:rPr>
              <a:t>Add new policies</a:t>
            </a:r>
          </a:p>
          <a:p>
            <a:pPr>
              <a:spcAft>
                <a:spcPts val="150"/>
              </a:spcAft>
              <a:defRPr sz="1600" b="0">
                <a:solidFill>
                  <a:srgbClr val="5B6E80"/>
                </a:solidFill>
                <a:latin typeface="Arial"/>
              </a:defRPr>
            </a:pPr>
            <a:r>
              <a:rPr sz="1200" cap="none" dirty="0">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dirty="0">
                <a:latin typeface="Arial"/>
              </a:rPr>
              <a:t>KAITO reuses </a:t>
            </a:r>
            <a:r>
              <a:rPr sz="1050" cap="none" dirty="0" err="1">
                <a:latin typeface="Arial"/>
              </a:rPr>
              <a:t>llm</a:t>
            </a:r>
            <a:r>
              <a:rPr sz="1050" cap="none" dirty="0">
                <a:latin typeface="Arial"/>
              </a:rPr>
              <a:t>-d’s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KAITO manages resources. HTTP carries requests. NIXL moves KV between</a:t>
            </a:r>
            <a:r>
              <a:rPr lang="en-US" sz="1200" cap="none" dirty="0">
                <a:solidFill>
                  <a:srgbClr val="52677D"/>
                </a:solidFill>
                <a:latin typeface="Arial"/>
              </a:rPr>
              <a:t> </a:t>
            </a:r>
            <a:r>
              <a:rPr lang="en-US" sz="1200" cap="none" dirty="0" err="1">
                <a:solidFill>
                  <a:srgbClr val="52677D"/>
                </a:solidFill>
                <a:latin typeface="Arial"/>
              </a:rPr>
              <a:t>vLLM</a:t>
            </a:r>
            <a:r>
              <a:rPr sz="1200" cap="none" dirty="0">
                <a:solidFill>
                  <a:srgbClr val="52677D"/>
                </a:solidFill>
                <a:latin typeface="Arial"/>
              </a:rPr>
              <a:t>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dirty="0">
                <a:latin typeface="Arial"/>
              </a:rPr>
              <a:t>Both roles serve the same model. Each has its own </a:t>
            </a:r>
            <a:r>
              <a:rPr sz="1050" cap="none" dirty="0" err="1">
                <a:latin typeface="Arial"/>
              </a:rPr>
              <a:t>InferenceSet</a:t>
            </a:r>
            <a:r>
              <a:rPr sz="1050" cap="none" dirty="0">
                <a:latin typeface="Arial"/>
              </a:rPr>
              <a: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Set </a:t>
            </a:r>
            <a:r>
              <a:rPr lang="en-US" sz="1275" cap="none" dirty="0" err="1">
                <a:latin typeface="Arial"/>
              </a:rPr>
              <a:t>llm</a:t>
            </a:r>
            <a:r>
              <a:rPr lang="en-US" sz="1275" cap="none" dirty="0">
                <a:latin typeface="Arial"/>
              </a:rPr>
              <a:t>-d </a:t>
            </a:r>
            <a:r>
              <a:rPr sz="1275" cap="none" dirty="0">
                <a:latin typeface="Arial"/>
              </a:rPr>
              <a:t>role labels and</a:t>
            </a:r>
          </a:p>
          <a:p>
            <a:pPr>
              <a:spcAft>
                <a:spcPts val="150"/>
              </a:spcAft>
              <a:defRPr sz="1700" b="0">
                <a:solidFill>
                  <a:srgbClr val="5B6E80"/>
                </a:solidFill>
                <a:latin typeface="Arial"/>
              </a:defRPr>
            </a:pPr>
            <a:r>
              <a:rPr sz="1275" cap="none" dirty="0">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a:t>
            </a:r>
            <a:r>
              <a:rPr lang="en-US" sz="1275" cap="none" dirty="0">
                <a:latin typeface="Arial"/>
              </a:rPr>
              <a:t> </a:t>
            </a:r>
            <a:r>
              <a:rPr lang="en-US" sz="1275" cap="none" dirty="0" err="1">
                <a:latin typeface="Arial"/>
              </a:rPr>
              <a:t>llm</a:t>
            </a:r>
            <a:r>
              <a:rPr lang="en-US" sz="1275" cap="none" dirty="0">
                <a:latin typeface="Arial"/>
              </a:rPr>
              <a:t>-d</a:t>
            </a:r>
            <a:r>
              <a:rPr sz="1275" cap="none" dirty="0">
                <a:latin typeface="Arial"/>
              </a:rPr>
              <a:t>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endParaRPr sz="1650" cap="none" dirty="0">
              <a:latin typeface="Arial"/>
            </a:endParaRP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dirty="0">
                <a:latin typeface="Arial"/>
              </a:rPr>
              <a:t>Start with </a:t>
            </a:r>
            <a:r>
              <a:rPr sz="750" cap="none" dirty="0" err="1">
                <a:latin typeface="Arial"/>
              </a:rPr>
              <a:t>vLLM</a:t>
            </a:r>
            <a:r>
              <a:rPr sz="750" cap="none" dirty="0">
                <a:latin typeface="Arial"/>
              </a:rPr>
              <a:t>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885114"/>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Decode needs to sustain</a:t>
            </a:r>
          </a:p>
          <a:p>
            <a:pPr>
              <a:spcAft>
                <a:spcPts val="375"/>
              </a:spcAft>
              <a:defRPr sz="2200" b="0">
                <a:solidFill>
                  <a:srgbClr val="172941"/>
                </a:solidFill>
                <a:latin typeface="Arial"/>
              </a:defRPr>
            </a:pPr>
            <a:r>
              <a:rPr sz="1650" cap="none" dirty="0">
                <a:latin typeface="Arial"/>
              </a:rPr>
              <a:t>steady token delivery</a:t>
            </a:r>
            <a:r>
              <a:rPr lang="en-US" sz="1650" cap="none" dirty="0">
                <a:latin typeface="Arial"/>
              </a:rPr>
              <a:t> </a:t>
            </a:r>
          </a:p>
          <a:p>
            <a:pPr>
              <a:spcAft>
                <a:spcPts val="375"/>
              </a:spcAft>
              <a:defRPr sz="2200" b="0">
                <a:solidFill>
                  <a:srgbClr val="172941"/>
                </a:solidFill>
                <a:latin typeface="Arial"/>
              </a:defRPr>
            </a:pPr>
            <a:r>
              <a:rPr lang="en-US" sz="1650" dirty="0"/>
              <a:t>Inter-Token Latency </a:t>
            </a:r>
            <a:r>
              <a:rPr lang="en-US" sz="1650" cap="none" dirty="0">
                <a:latin typeface="Arial"/>
              </a:rPr>
              <a:t>(ITL)</a:t>
            </a:r>
            <a:endParaRPr sz="1650" cap="none" dirty="0">
              <a:latin typeface="Arial"/>
            </a:endParaRP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dirty="0">
                <a:latin typeface="Arial"/>
              </a:rPr>
              <a:t>Start with </a:t>
            </a:r>
            <a:r>
              <a:rPr sz="750" cap="none" dirty="0" err="1">
                <a:latin typeface="Arial"/>
              </a:rPr>
              <a:t>vLLM</a:t>
            </a:r>
            <a:r>
              <a:rPr sz="750" cap="none" dirty="0">
                <a:latin typeface="Arial"/>
              </a:rPr>
              <a:t>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105879" y="152416"/>
            <a:ext cx="6795436" cy="798897"/>
          </a:xfrm>
        </p:spPr>
        <p:txBody>
          <a:bodyPr>
            <a:normAutofit/>
          </a:bodyPr>
          <a:lstStyle/>
          <a:p>
            <a:r>
              <a:rPr lang="en-US" sz="2800" dirty="0"/>
              <a:t>KAITO Autoscaling: keda-</a:t>
            </a:r>
            <a:r>
              <a:rPr lang="en-US" sz="2800" dirty="0" err="1"/>
              <a:t>kaito</a:t>
            </a:r>
            <a:r>
              <a:rPr lang="en-US" sz="2800" dirty="0"/>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1000" y="1033609"/>
            <a:ext cx="8300000" cy="340000"/>
          </a:xfrm>
          <a:prstGeom prst="rect">
            <a:avLst/>
          </a:prstGeom>
          <a:noFill/>
        </p:spPr>
        <p:txBody>
          <a:bodyPr wrap="square" rtlCol="0">
            <a:normAutofit fontScale="92500"/>
          </a:bodyPr>
          <a:lstStyle/>
          <a:p>
            <a:r>
              <a:rPr lang="en-US" sz="1400" b="1" dirty="0">
                <a:solidFill>
                  <a:schemeClr val="accent2">
                    <a:lumMod val="75000"/>
                  </a:schemeClr>
                </a:solidFill>
              </a:rPr>
              <a:t>Load-aware autoscaling: KEDA-driven, metric-aware scaling for GPU inference (no Prometheus).</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a:solidFill>
                  <a:schemeClr val="accent2">
                    <a:lumMod val="75000"/>
                  </a:schemeClr>
                </a:solidFill>
              </a:rPr>
              <a:t>What makes it special</a:t>
            </a:r>
          </a:p>
          <a:p>
            <a:pPr marL="228600" indent="-228600">
              <a:spcBef>
                <a:spcPts val="600"/>
              </a:spcBef>
              <a:buFont typeface="Arial" panose="020B0604020202020204" pitchFamily="34" charset="0"/>
              <a:buChar char="•"/>
            </a:pPr>
            <a:r>
              <a:rPr lang="en-US" sz="1150" b="1" dirty="0"/>
              <a:t>Zero dependencies</a:t>
            </a:r>
            <a:r>
              <a:rPr lang="en-US" sz="1150" dirty="0"/>
              <a:t> — no Prometheus; scrapes vLLM directly</a:t>
            </a:r>
          </a:p>
          <a:p>
            <a:pPr marL="228600" indent="-228600">
              <a:spcBef>
                <a:spcPts val="600"/>
              </a:spcBef>
              <a:buFont typeface="Arial" panose="020B0604020202020204" pitchFamily="34" charset="0"/>
              <a:buChar char="•"/>
            </a:pPr>
            <a:r>
              <a:rPr lang="en-US" sz="1150" b="1" dirty="0"/>
              <a:t>GPU-safe scaling</a:t>
            </a:r>
            <a:r>
              <a:rPr lang="en-US" sz="1150" dirty="0"/>
              <a:t> — conservative ±1 replica per step</a:t>
            </a:r>
          </a:p>
          <a:p>
            <a:pPr marL="228600" indent="-228600">
              <a:spcBef>
                <a:spcPts val="600"/>
              </a:spcBef>
              <a:buFont typeface="Arial" panose="020B0604020202020204" pitchFamily="34" charset="0"/>
              <a:buChar char="•"/>
            </a:pPr>
            <a:r>
              <a:rPr lang="en-US" sz="1150" b="1" dirty="0"/>
              <a:t>Composite metrics</a:t>
            </a:r>
            <a:r>
              <a:rPr lang="en-US" sz="1150" dirty="0"/>
              <a:t> — combine queue length + latency under a conservative AND policy</a:t>
            </a:r>
          </a:p>
        </p:txBody>
      </p:sp>
      <p:sp>
        <p:nvSpPr>
          <p:cNvPr id="4" name="Numbered section eyebrow">
            <a:extLst>
              <a:ext uri="{FF2B5EF4-FFF2-40B4-BE49-F238E27FC236}">
                <a16:creationId xmlns:a16="http://schemas.microsoft.com/office/drawing/2014/main" id="{FDBFD394-6641-D7A0-0128-6ECC940DDC32}"/>
              </a:ext>
            </a:extLst>
          </p:cNvPr>
          <p:cNvSpPr txBox="1"/>
          <p:nvPr/>
        </p:nvSpPr>
        <p:spPr>
          <a:xfrm>
            <a:off x="241835" y="70120"/>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05 / Per-role autoscaling — KEDA scaler</a:t>
            </a:r>
          </a:p>
        </p:txBody>
      </p:sp>
    </p:spTree>
    <p:extLst>
      <p:ext uri="{BB962C8B-B14F-4D97-AF65-F5344CB8AC3E}">
        <p14:creationId xmlns:p14="http://schemas.microsoft.com/office/powerpoint/2010/main" val="14993213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58DF3-00F5-9C28-319B-8E742B63A5C0}"/>
              </a:ext>
            </a:extLst>
          </p:cNvPr>
          <p:cNvSpPr>
            <a:spLocks noGrp="1"/>
          </p:cNvSpPr>
          <p:nvPr>
            <p:ph type="title" idx="4294967295"/>
          </p:nvPr>
        </p:nvSpPr>
        <p:spPr>
          <a:xfrm>
            <a:off x="0" y="0"/>
            <a:ext cx="6950075" cy="1047750"/>
          </a:xfrm>
        </p:spPr>
        <p:txBody>
          <a:bodyPr>
            <a:normAutofit/>
          </a:bodyPr>
          <a:lstStyle/>
          <a:p>
            <a:r>
              <a:rPr lang="en-US" sz="2800" dirty="0"/>
              <a:t>KAITO Autoscaling: Composite Metrics</a:t>
            </a:r>
          </a:p>
        </p:txBody>
      </p:sp>
      <p:sp>
        <p:nvSpPr>
          <p:cNvPr id="20" name="TextBox Subtitle"/>
          <p:cNvSpPr txBox="1"/>
          <p:nvPr/>
        </p:nvSpPr>
        <p:spPr>
          <a:xfrm>
            <a:off x="381000" y="1118862"/>
            <a:ext cx="8300000" cy="340000"/>
          </a:xfrm>
          <a:prstGeom prst="rect">
            <a:avLst/>
          </a:prstGeom>
          <a:noFill/>
        </p:spPr>
        <p:txBody>
          <a:bodyPr wrap="square" rtlCol="0">
            <a:normAutofit/>
          </a:bodyPr>
          <a:lstStyle/>
          <a:p>
            <a:r>
              <a:rPr lang="en-US" sz="1400" b="1" dirty="0">
                <a:solidFill>
                  <a:schemeClr val="accent2">
                    <a:lumMod val="75000"/>
                  </a:schemeClr>
                </a:solidFill>
              </a:rPr>
              <a:t>One annotation combines multiple signals under a conservative AND policy.</a:t>
            </a:r>
          </a:p>
        </p:txBody>
      </p:sp>
      <p:sp>
        <p:nvSpPr>
          <p:cNvPr id="21" name="Code Panel"/>
          <p:cNvSpPr/>
          <p:nvPr/>
        </p:nvSpPr>
        <p:spPr>
          <a:xfrm>
            <a:off x="381000" y="1559999"/>
            <a:ext cx="5200000" cy="3365375"/>
          </a:xfrm>
          <a:prstGeom prst="roundRect">
            <a:avLst/>
          </a:prstGeom>
          <a:solidFill>
            <a:schemeClr val="bg1">
              <a:lumMod val="95000"/>
            </a:schemeClr>
          </a:solidFill>
          <a:ln w="12700">
            <a:solidFill>
              <a:schemeClr val="accent2"/>
            </a:solidFill>
          </a:ln>
        </p:spPr>
        <p:txBody>
          <a:bodyPr rtlCol="0" anchor="t">
            <a:normAutofit lnSpcReduction="10000"/>
          </a:bodyPr>
          <a:lstStyle/>
          <a:p>
            <a:r>
              <a:rPr lang="en-US" sz="1000" b="1" dirty="0">
                <a:solidFill>
                  <a:schemeClr val="accent2">
                    <a:lumMod val="75000"/>
                  </a:schemeClr>
                </a:solidFill>
              </a:rPr>
              <a:t>InferenceSet — full composite-metric config</a:t>
            </a:r>
          </a:p>
          <a:p>
            <a:pPr marL="0" indent="0">
              <a:lnSpc>
                <a:spcPct val="100000"/>
              </a:lnSpc>
            </a:pPr>
            <a:r>
              <a:rPr lang="en-US" sz="750" dirty="0">
                <a:latin typeface="Consolas" panose="020B0609020204030204" pitchFamily="49" charset="0"/>
              </a:rPr>
              <a:t>metadata:</a:t>
            </a:r>
          </a:p>
          <a:p>
            <a:pPr marL="0" indent="0">
              <a:lnSpc>
                <a:spcPct val="100000"/>
              </a:lnSpc>
            </a:pPr>
            <a:r>
              <a:rPr lang="en-US" sz="750" dirty="0">
                <a:latin typeface="Consolas" panose="020B0609020204030204" pitchFamily="49" charset="0"/>
              </a:rPr>
              <a:t>  annotations:</a:t>
            </a:r>
          </a:p>
          <a:p>
            <a:pPr marL="0" indent="0">
              <a:lnSpc>
                <a:spcPct val="100000"/>
              </a:lnSpc>
            </a:pPr>
            <a:r>
              <a:rPr lang="en-US" sz="750" dirty="0">
                <a:latin typeface="Consolas" panose="020B0609020204030204" pitchFamily="49" charset="0"/>
              </a:rPr>
              <a:t>    scaledobject.kaito.sh/auto-provision: "true"</a:t>
            </a:r>
          </a:p>
          <a:p>
            <a:pPr marL="0" indent="0">
              <a:lnSpc>
                <a:spcPct val="100000"/>
              </a:lnSpc>
            </a:pPr>
            <a:r>
              <a:rPr lang="en-US" sz="750" dirty="0">
                <a:latin typeface="Consolas" panose="020B0609020204030204" pitchFamily="49" charset="0"/>
              </a:rPr>
              <a:t>    scaledobject.kaito.sh/metrics: |</a:t>
            </a:r>
          </a:p>
          <a:p>
            <a:pPr marL="0" indent="0">
              <a:lnSpc>
                <a:spcPct val="100000"/>
              </a:lnSpc>
            </a:pPr>
            <a:r>
              <a:rPr lang="en-US" sz="750" dirty="0">
                <a:latin typeface="Consolas" panose="020B0609020204030204" pitchFamily="49" charset="0"/>
              </a:rPr>
              <a:t>      - name: </a:t>
            </a:r>
            <a:r>
              <a:rPr lang="en-US" sz="750" b="1" dirty="0">
                <a:solidFill>
                  <a:srgbClr val="00B050"/>
                </a:solidFill>
                <a:latin typeface="Consolas" panose="020B0609020204030204" pitchFamily="49" charset="0"/>
              </a:rPr>
              <a:t>vllm:num_requests_waiting</a:t>
            </a:r>
          </a:p>
          <a:p>
            <a:pPr marL="0" indent="0">
              <a:lnSpc>
                <a:spcPct val="100000"/>
              </a:lnSpc>
            </a:pPr>
            <a:r>
              <a:rPr lang="en-US" sz="750" dirty="0">
                <a:latin typeface="Consolas" panose="020B0609020204030204" pitchFamily="49" charset="0"/>
              </a:rPr>
              <a:t>        type: gauge</a:t>
            </a:r>
          </a:p>
          <a:p>
            <a:pPr marL="0" indent="0">
              <a:lnSpc>
                <a:spcPct val="100000"/>
              </a:lnSpc>
            </a:pPr>
            <a:r>
              <a:rPr lang="en-US" sz="750" dirty="0">
                <a:latin typeface="Consolas" panose="020B0609020204030204" pitchFamily="49" charset="0"/>
              </a:rPr>
              <a:t>        source: modelpod</a:t>
            </a:r>
          </a:p>
          <a:p>
            <a:pPr marL="0" indent="0">
              <a:lnSpc>
                <a:spcPct val="100000"/>
              </a:lnSpc>
            </a:pPr>
            <a:r>
              <a:rPr lang="en-US" sz="750" dirty="0">
                <a:latin typeface="Consolas" panose="020B0609020204030204" pitchFamily="49" charset="0"/>
              </a:rPr>
              <a:t>        upthreshold: 10</a:t>
            </a:r>
          </a:p>
          <a:p>
            <a:pPr marL="0" indent="0">
              <a:lnSpc>
                <a:spcPct val="100000"/>
              </a:lnSpc>
            </a:pPr>
            <a:r>
              <a:rPr lang="en-US" sz="750" dirty="0">
                <a:latin typeface="Consolas" panose="020B0609020204030204" pitchFamily="49" charset="0"/>
              </a:rPr>
              <a:t>        downthreshold: 1</a:t>
            </a:r>
          </a:p>
          <a:p>
            <a:pPr marL="0" indent="0">
              <a:lnSpc>
                <a:spcPct val="100000"/>
              </a:lnSpc>
            </a:pPr>
            <a:r>
              <a:rPr lang="en-US" sz="750" dirty="0">
                <a:latin typeface="Consolas" panose="020B0609020204030204" pitchFamily="49" charset="0"/>
              </a:rPr>
              <a:t>      - name: </a:t>
            </a:r>
            <a:r>
              <a:rPr lang="en-US" sz="750" b="1" dirty="0">
                <a:solidFill>
                  <a:srgbClr val="00B050"/>
                </a:solidFill>
                <a:latin typeface="Consolas" panose="020B0609020204030204" pitchFamily="49" charset="0"/>
              </a:rPr>
              <a:t>vllm:request_queue_time_seconds</a:t>
            </a:r>
          </a:p>
          <a:p>
            <a:pPr marL="0" indent="0">
              <a:lnSpc>
                <a:spcPct val="100000"/>
              </a:lnSpc>
            </a:pPr>
            <a:r>
              <a:rPr lang="en-US" sz="750" dirty="0">
                <a:latin typeface="Consolas" panose="020B0609020204030204" pitchFamily="49" charset="0"/>
              </a:rPr>
              <a:t>        type: histogram</a:t>
            </a:r>
          </a:p>
          <a:p>
            <a:pPr marL="0" indent="0">
              <a:lnSpc>
                <a:spcPct val="100000"/>
              </a:lnSpc>
            </a:pPr>
            <a:r>
              <a:rPr lang="en-US" sz="750" dirty="0">
                <a:latin typeface="Consolas" panose="020B0609020204030204" pitchFamily="49" charset="0"/>
              </a:rPr>
              <a:t>        source: modelpod</a:t>
            </a:r>
          </a:p>
          <a:p>
            <a:pPr marL="0" indent="0">
              <a:lnSpc>
                <a:spcPct val="100000"/>
              </a:lnSpc>
            </a:pPr>
            <a:r>
              <a:rPr lang="en-US" sz="750" dirty="0">
                <a:latin typeface="Consolas" panose="020B0609020204030204" pitchFamily="49" charset="0"/>
              </a:rPr>
              <a:t>        upthreshold: 30</a:t>
            </a:r>
          </a:p>
          <a:p>
            <a:pPr marL="0" indent="0">
              <a:lnSpc>
                <a:spcPct val="100000"/>
              </a:lnSpc>
            </a:pPr>
            <a:r>
              <a:rPr lang="en-US" sz="750" dirty="0">
                <a:latin typeface="Consolas" panose="020B0609020204030204" pitchFamily="49" charset="0"/>
              </a:rPr>
              <a:t>        downthreshold: 1</a:t>
            </a:r>
          </a:p>
          <a:p>
            <a:pPr marL="0" indent="0">
              <a:lnSpc>
                <a:spcPct val="100000"/>
              </a:lnSpc>
            </a:pPr>
            <a:r>
              <a:rPr lang="en-US" sz="750" dirty="0">
                <a:latin typeface="Consolas" panose="020B0609020204030204" pitchFamily="49" charset="0"/>
              </a:rPr>
              <a:t>        metriccachewindow: 300</a:t>
            </a:r>
          </a:p>
          <a:p>
            <a:pPr marL="0" indent="0">
              <a:lnSpc>
                <a:spcPct val="100000"/>
              </a:lnSpc>
            </a:pPr>
            <a:r>
              <a:rPr lang="en-US" sz="750" dirty="0">
                <a:latin typeface="Consolas" panose="020B0609020204030204" pitchFamily="49" charset="0"/>
              </a:rPr>
              <a:t>    scaledobject.kaito.sh/combinepolicy: "AND"</a:t>
            </a:r>
          </a:p>
          <a:p>
            <a:pPr marL="0" indent="0">
              <a:lnSpc>
                <a:spcPct val="100000"/>
              </a:lnSpc>
            </a:pPr>
            <a:r>
              <a:rPr lang="en-US" sz="750" dirty="0">
                <a:latin typeface="Consolas" panose="020B0609020204030204" pitchFamily="49" charset="0"/>
              </a:rPr>
              <a:t>    scaledobject.kaito.sh/evaluationwindow: "60"</a:t>
            </a:r>
          </a:p>
          <a:p>
            <a:pPr marL="0" indent="0">
              <a:lnSpc>
                <a:spcPct val="100000"/>
              </a:lnSpc>
            </a:pPr>
            <a:r>
              <a:rPr lang="en-US" sz="750" dirty="0">
                <a:latin typeface="Consolas" panose="020B0609020204030204" pitchFamily="49" charset="0"/>
              </a:rPr>
              <a:t>    scaledobject.kaito.sh/scaleupcooldown: "300"</a:t>
            </a:r>
          </a:p>
          <a:p>
            <a:pPr marL="0" indent="0">
              <a:lnSpc>
                <a:spcPct val="100000"/>
              </a:lnSpc>
            </a:pPr>
            <a:r>
              <a:rPr lang="en-US" sz="750" dirty="0">
                <a:latin typeface="Consolas" panose="020B0609020204030204" pitchFamily="49" charset="0"/>
              </a:rPr>
              <a:t>    scaledobject.kaito.sh/scaledowncooldown: "300"</a:t>
            </a:r>
          </a:p>
          <a:p>
            <a:pPr marL="0" indent="0">
              <a:lnSpc>
                <a:spcPct val="100000"/>
              </a:lnSpc>
            </a:pPr>
            <a:r>
              <a:rPr lang="en-US" sz="750" dirty="0">
                <a:latin typeface="Consolas" panose="020B0609020204030204" pitchFamily="49" charset="0"/>
              </a:rPr>
              <a:t>    scaledobject.kaito.sh/min-replicas: "1"</a:t>
            </a:r>
          </a:p>
          <a:p>
            <a:pPr marL="0" indent="0">
              <a:lnSpc>
                <a:spcPct val="100000"/>
              </a:lnSpc>
            </a:pPr>
            <a:r>
              <a:rPr lang="en-US" sz="750" dirty="0">
                <a:latin typeface="Consolas" panose="020B0609020204030204" pitchFamily="49" charset="0"/>
              </a:rPr>
              <a:t>    scaledobject.kaito.sh/max-replicas: "5"</a:t>
            </a:r>
          </a:p>
          <a:p>
            <a:pPr marL="0" indent="0">
              <a:lnSpc>
                <a:spcPct val="100000"/>
              </a:lnSpc>
            </a:pPr>
            <a:r>
              <a:rPr lang="en-US" sz="750" dirty="0">
                <a:latin typeface="Consolas" panose="020B0609020204030204" pitchFamily="49" charset="0"/>
              </a:rPr>
              <a:t>  name: phi-4</a:t>
            </a:r>
          </a:p>
          <a:p>
            <a:pPr marL="0" indent="0">
              <a:lnSpc>
                <a:spcPct val="100000"/>
              </a:lnSpc>
            </a:pPr>
            <a:r>
              <a:rPr lang="en-US" sz="750" dirty="0">
                <a:latin typeface="Consolas" panose="020B0609020204030204" pitchFamily="49" charset="0"/>
              </a:rPr>
              <a:t>spec:</a:t>
            </a:r>
          </a:p>
          <a:p>
            <a:pPr marL="0" indent="0">
              <a:lnSpc>
                <a:spcPct val="100000"/>
              </a:lnSpc>
            </a:pPr>
            <a:r>
              <a:rPr lang="en-US" sz="750" dirty="0">
                <a:latin typeface="Consolas" panose="020B0609020204030204" pitchFamily="49" charset="0"/>
              </a:rPr>
              <a:t>  replicas: 1</a:t>
            </a:r>
          </a:p>
          <a:p>
            <a:pPr marL="0" indent="0"/>
            <a:r>
              <a:rPr lang="en-US" sz="800" b="1" i="1" dirty="0">
                <a:solidFill>
                  <a:schemeClr val="accent2">
                    <a:lumMod val="75000"/>
                  </a:schemeClr>
                </a:solidFill>
              </a:rPr>
              <a:t>→ every threshold, window &amp; cooldown must be tuned today.</a:t>
            </a:r>
          </a:p>
        </p:txBody>
      </p:sp>
      <p:sp>
        <p:nvSpPr>
          <p:cNvPr id="22" name="InProgress Label"/>
          <p:cNvSpPr txBox="1"/>
          <p:nvPr/>
        </p:nvSpPr>
        <p:spPr>
          <a:xfrm>
            <a:off x="5477625" y="2794432"/>
            <a:ext cx="980000" cy="330000"/>
          </a:xfrm>
          <a:prstGeom prst="rect">
            <a:avLst/>
          </a:prstGeom>
          <a:noFill/>
        </p:spPr>
        <p:txBody>
          <a:bodyPr wrap="none" rtlCol="0">
            <a:spAutoFit/>
          </a:bodyPr>
          <a:lstStyle/>
          <a:p>
            <a:pPr algn="ctr"/>
            <a:r>
              <a:rPr lang="en-US" sz="1000" b="1" dirty="0">
                <a:solidFill>
                  <a:schemeClr val="accent2">
                    <a:lumMod val="75000"/>
                  </a:schemeClr>
                </a:solidFill>
              </a:rPr>
              <a:t>In progress</a:t>
            </a:r>
          </a:p>
        </p:txBody>
      </p:sp>
      <p:sp>
        <p:nvSpPr>
          <p:cNvPr id="23" name="Arrow"/>
          <p:cNvSpPr/>
          <p:nvPr/>
        </p:nvSpPr>
        <p:spPr>
          <a:xfrm>
            <a:off x="5667625" y="3010000"/>
            <a:ext cx="600000" cy="560000"/>
          </a:xfrm>
          <a:prstGeom prst="rightArrow">
            <a:avLst/>
          </a:prstGeom>
          <a:solidFill>
            <a:schemeClr val="accent2"/>
          </a:solidFill>
          <a:ln>
            <a:noFill/>
          </a:ln>
        </p:spPr>
        <p:txBody>
          <a:bodyPr rtlCol="0" anchor="ctr"/>
          <a:lstStyle/>
          <a:p>
            <a:endParaRPr lang="en-US"/>
          </a:p>
        </p:txBody>
      </p:sp>
      <p:sp>
        <p:nvSpPr>
          <p:cNvPr id="24" name="Future Config"/>
          <p:cNvSpPr/>
          <p:nvPr/>
        </p:nvSpPr>
        <p:spPr>
          <a:xfrm>
            <a:off x="6328575" y="2360000"/>
            <a:ext cx="2640000" cy="1880000"/>
          </a:xfrm>
          <a:prstGeom prst="roundRect">
            <a:avLst/>
          </a:prstGeom>
          <a:solidFill>
            <a:schemeClr val="accent2">
              <a:lumMod val="20000"/>
              <a:lumOff val="80000"/>
            </a:schemeClr>
          </a:solidFill>
          <a:ln w="12700">
            <a:solidFill>
              <a:schemeClr val="accent2"/>
            </a:solidFill>
          </a:ln>
        </p:spPr>
        <p:txBody>
          <a:bodyPr rtlCol="0" anchor="t">
            <a:normAutofit/>
          </a:bodyPr>
          <a:lstStyle/>
          <a:p>
            <a:r>
              <a:rPr lang="en-US" sz="1050" b="1" dirty="0">
                <a:solidFill>
                  <a:schemeClr val="accent2">
                    <a:lumMod val="75000"/>
                  </a:schemeClr>
                </a:solidFill>
              </a:rPr>
              <a:t>You configure just this</a:t>
            </a:r>
          </a:p>
          <a:p>
            <a:pPr marL="0" indent="0">
              <a:lnSpc>
                <a:spcPct val="100000"/>
              </a:lnSpc>
            </a:pPr>
            <a:r>
              <a:rPr lang="en-US" sz="950" dirty="0">
                <a:latin typeface="Consolas" panose="020B0609020204030204" pitchFamily="49" charset="0"/>
              </a:rPr>
              <a:t>metadata:</a:t>
            </a:r>
          </a:p>
          <a:p>
            <a:pPr marL="0" indent="0">
              <a:lnSpc>
                <a:spcPct val="100000"/>
              </a:lnSpc>
            </a:pPr>
            <a:r>
              <a:rPr lang="en-US" sz="950" dirty="0">
                <a:latin typeface="Consolas" panose="020B0609020204030204" pitchFamily="49" charset="0"/>
              </a:rPr>
              <a:t>  annotations:</a:t>
            </a:r>
          </a:p>
          <a:p>
            <a:pPr marL="0" indent="0">
              <a:lnSpc>
                <a:spcPct val="100000"/>
              </a:lnSpc>
            </a:pPr>
            <a:r>
              <a:rPr lang="en-US" sz="950" dirty="0">
                <a:latin typeface="Consolas" panose="020B0609020204030204" pitchFamily="49" charset="0"/>
              </a:rPr>
              <a:t>    .../min-replicas: "1"</a:t>
            </a:r>
          </a:p>
          <a:p>
            <a:pPr marL="0" indent="0">
              <a:lnSpc>
                <a:spcPct val="100000"/>
              </a:lnSpc>
            </a:pPr>
            <a:r>
              <a:rPr lang="en-US" sz="950" dirty="0">
                <a:latin typeface="Consolas" panose="020B0609020204030204" pitchFamily="49" charset="0"/>
              </a:rPr>
              <a:t>    .../max-replicas: "5"</a:t>
            </a:r>
          </a:p>
          <a:p>
            <a:pPr marL="0" indent="0">
              <a:spcBef>
                <a:spcPts val="400"/>
              </a:spcBef>
            </a:pPr>
            <a:r>
              <a:rPr lang="en-US" sz="900" b="1" i="1" dirty="0">
                <a:solidFill>
                  <a:schemeClr val="accent2">
                    <a:lumMod val="75000"/>
                  </a:schemeClr>
                </a:solidFill>
              </a:rPr>
              <a:t>everything else → auto-tuned to best practice</a:t>
            </a:r>
          </a:p>
        </p:txBody>
      </p:sp>
      <p:sp>
        <p:nvSpPr>
          <p:cNvPr id="4" name="Numbered section eyebrow">
            <a:extLst>
              <a:ext uri="{FF2B5EF4-FFF2-40B4-BE49-F238E27FC236}">
                <a16:creationId xmlns:a16="http://schemas.microsoft.com/office/drawing/2014/main" id="{5873AEB4-4AA7-68A1-93C4-4696DC57AB40}"/>
              </a:ext>
            </a:extLst>
          </p:cNvPr>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05 / Per-role autoscaling — KEDA scaler</a:t>
            </a:r>
          </a:p>
        </p:txBody>
      </p:sp>
    </p:spTree>
    <p:extLst>
      <p:ext uri="{BB962C8B-B14F-4D97-AF65-F5344CB8AC3E}">
        <p14:creationId xmlns:p14="http://schemas.microsoft.com/office/powerpoint/2010/main" val="35490149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28551"/>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lang="en-US" sz="2000" dirty="0"/>
              <a:t>KAITO autoscaling</a:t>
            </a:r>
            <a:r>
              <a:rPr sz="2000" dirty="0"/>
              <a:t> </a:t>
            </a:r>
            <a:r>
              <a:rPr lang="en-US" sz="2000" dirty="0"/>
              <a:t>example</a:t>
            </a:r>
            <a:r>
              <a:rPr sz="2000" dirty="0"/>
              <a:t>: scale prefill and decode separately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33</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a:t>
            </a:r>
            <a:r>
              <a:rPr sz="1200" b="1" dirty="0"/>
              <a:t>prefill</a:t>
            </a:r>
            <a:r>
              <a:rPr sz="1200" dirty="0"/>
              <a:t>:</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a:t>
            </a:r>
            <a:r>
              <a:rPr sz="1200" b="1" dirty="0"/>
              <a:t>decode</a:t>
            </a:r>
            <a:r>
              <a:rPr sz="1200" dirty="0"/>
              <a:t>:</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dirty="0"/>
              <a:t>If running later exceeds 24,</a:t>
            </a:r>
          </a:p>
          <a:p>
            <a:pPr>
              <a:spcAft>
                <a:spcPts val="375"/>
              </a:spcAft>
              <a:defRPr sz="1600" b="0">
                <a:solidFill>
                  <a:srgbClr val="7354B8"/>
                </a:solidFill>
                <a:latin typeface="Arial"/>
              </a:defRPr>
            </a:pPr>
            <a:r>
              <a:rPr sz="1200" dirty="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6089809"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dirty="0">
                <a:solidFill>
                  <a:srgbClr val="142C46"/>
                </a:solidFill>
              </a:rPr>
              <a:t>Scale prefill and decode using separate metrics</a:t>
            </a:r>
            <a:endParaRPr lang="en-US"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lang="en-US" sz="1050" cap="none" dirty="0">
                <a:latin typeface="Arial"/>
              </a:rPr>
              <a:t>Native input </a:t>
            </a:r>
            <a:r>
              <a:rPr sz="1050" cap="none" dirty="0">
                <a:latin typeface="Arial"/>
              </a:rPr>
              <a:t>(</a:t>
            </a:r>
            <a:r>
              <a:rPr sz="1050" cap="none" dirty="0" err="1">
                <a:latin typeface="Arial"/>
              </a:rPr>
              <a:t>vllm</a:t>
            </a:r>
            <a:r>
              <a:rPr sz="1050" cap="none" dirty="0">
                <a:latin typeface="Arial"/>
              </a:rPr>
              <a:t>: </a:t>
            </a:r>
            <a:r>
              <a:rPr lang="en-US" sz="1050" cap="none" dirty="0">
                <a:latin typeface="Arial"/>
              </a:rPr>
              <a:t>prefix</a:t>
            </a:r>
            <a:r>
              <a:rPr sz="1050" cap="none" dirty="0">
                <a:latin typeface="Arial"/>
              </a:rPr>
              <a:t>)</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44379" y="1611630"/>
            <a:ext cx="2941721"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379477" y="2146554"/>
            <a:ext cx="2657294"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lang="en-US" sz="1500" cap="none" dirty="0">
                <a:latin typeface="Arial"/>
              </a:rPr>
              <a:t>Precise </a:t>
            </a:r>
            <a:r>
              <a:rPr lang="en-US" sz="1500" dirty="0"/>
              <a:t>c</a:t>
            </a:r>
            <a:r>
              <a:rPr sz="1500" cap="none" dirty="0">
                <a:latin typeface="Arial"/>
              </a:rPr>
              <a:t>ache-aware serving</a:t>
            </a:r>
          </a:p>
        </p:txBody>
      </p:sp>
      <p:sp>
        <p:nvSpPr>
          <p:cNvPr id="14" name="TextBox 13"/>
          <p:cNvSpPr txBox="1"/>
          <p:nvPr/>
        </p:nvSpPr>
        <p:spPr>
          <a:xfrm>
            <a:off x="397944" y="2623870"/>
            <a:ext cx="2434590" cy="9081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dirty="0">
                <a:latin typeface="Arial"/>
              </a:rPr>
              <a:t>Route using KV cache events.</a:t>
            </a:r>
          </a:p>
          <a:p>
            <a:pPr>
              <a:spcAft>
                <a:spcPts val="375"/>
              </a:spcAft>
              <a:defRPr sz="1700" b="0">
                <a:solidFill>
                  <a:srgbClr val="172941"/>
                </a:solidFill>
                <a:latin typeface="Arial"/>
              </a:defRPr>
            </a:pPr>
            <a:r>
              <a:rPr sz="1275" cap="none" dirty="0">
                <a:latin typeface="Arial"/>
              </a:rPr>
              <a:t>Tier cache across HBM, CPU RAM</a:t>
            </a:r>
          </a:p>
          <a:p>
            <a:pPr>
              <a:spcAft>
                <a:spcPts val="375"/>
              </a:spcAft>
              <a:defRPr sz="1700" b="0">
                <a:solidFill>
                  <a:srgbClr val="172941"/>
                </a:solidFill>
                <a:latin typeface="Arial"/>
              </a:defRPr>
            </a:pPr>
            <a:r>
              <a:rPr sz="1275" dirty="0">
                <a:solidFill>
                  <a:srgbClr val="172941"/>
                </a:solidFill>
              </a:rPr>
              <a:t>and optional filesystems.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464486"/>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dirty="0">
                <a:latin typeface="Arial"/>
              </a:rPr>
              <a:t>Add Encode to Prefill / Decode.</a:t>
            </a:r>
          </a:p>
          <a:p>
            <a:pPr>
              <a:spcAft>
                <a:spcPts val="375"/>
              </a:spcAft>
              <a:defRPr sz="1700" b="0">
                <a:solidFill>
                  <a:srgbClr val="172941"/>
                </a:solidFill>
                <a:latin typeface="Arial"/>
              </a:defRPr>
            </a:pPr>
            <a:r>
              <a:rPr sz="1275" dirty="0">
                <a:solidFill>
                  <a:srgbClr val="172941"/>
                </a:solidFill>
              </a:rPr>
              <a:t>Support more inference roles.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dirty="0">
                <a:solidFill>
                  <a:srgbClr val="172941"/>
                </a:solidFill>
              </a:rPr>
              <a:t>Explore wide expert parallelism.</a:t>
            </a:r>
          </a:p>
          <a:p>
            <a:pPr>
              <a:spcAft>
                <a:spcPts val="375"/>
              </a:spcAft>
              <a:defRPr sz="1700" b="0">
                <a:solidFill>
                  <a:srgbClr val="172941"/>
                </a:solidFill>
                <a:latin typeface="Arial"/>
              </a:defRPr>
            </a:pPr>
            <a:r>
              <a:rPr sz="1275" dirty="0">
                <a:solidFill>
                  <a:srgbClr val="172941"/>
                </a:solidFill>
              </a:rPr>
              <a:t>Improve cross-node transport</a:t>
            </a:r>
          </a:p>
          <a:p>
            <a:pPr>
              <a:spcAft>
                <a:spcPts val="375"/>
              </a:spcAft>
              <a:defRPr sz="1700" b="0">
                <a:solidFill>
                  <a:srgbClr val="172941"/>
                </a:solidFill>
                <a:latin typeface="Arial"/>
              </a:defRPr>
            </a:pPr>
            <a:r>
              <a:rPr sz="1275" cap="none" dirty="0">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36</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37</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049"/>
        <p:cNvGrpSpPr/>
        <p:nvPr/>
      </p:nvGrpSpPr>
      <p:grpSpPr>
        <a:xfrm>
          <a:off x="0" y="0"/>
          <a:ext cx="0" cy="0"/>
          <a:chOff x="0" y="0"/>
          <a:chExt cx="0" cy="0"/>
        </a:xfrm>
      </p:grpSpPr>
      <p:sp>
        <p:nvSpPr>
          <p:cNvPr id="3050" name="Google Shape;3050;p257"/>
          <p:cNvSpPr/>
          <p:nvPr/>
        </p:nvSpPr>
        <p:spPr>
          <a:xfrm>
            <a:off x="613072" y="4391360"/>
            <a:ext cx="1544700" cy="375300"/>
          </a:xfrm>
          <a:prstGeom prst="rect">
            <a:avLst/>
          </a:prstGeom>
          <a:solidFill>
            <a:schemeClr val="accent1"/>
          </a:solidFill>
          <a:ln w="8475" cap="flat" cmpd="sng">
            <a:solidFill>
              <a:schemeClr val="accent1"/>
            </a:solidFill>
            <a:prstDash val="solid"/>
            <a:round/>
            <a:headEnd type="none" w="sm" len="sm"/>
            <a:tailEnd type="none" w="sm" len="sm"/>
          </a:ln>
        </p:spPr>
        <p:txBody>
          <a:bodyPr spcFirstLastPara="1" wrap="square" lIns="81375" tIns="81375" rIns="81375" bIns="81375" anchor="ctr" anchorCtr="0">
            <a:noAutofit/>
          </a:bodyPr>
          <a:lstStyle/>
          <a:p>
            <a:pPr marL="0" lvl="0" indent="0" algn="ctr" rtl="0">
              <a:spcBef>
                <a:spcPts val="0"/>
              </a:spcBef>
              <a:spcAft>
                <a:spcPts val="0"/>
              </a:spcAft>
              <a:buClr>
                <a:schemeClr val="dk1"/>
              </a:buClr>
              <a:buSzPts val="949"/>
              <a:buFont typeface="Arial"/>
              <a:buNone/>
            </a:pPr>
            <a:r>
              <a:rPr lang="en" sz="949" b="1" dirty="0">
                <a:solidFill>
                  <a:schemeClr val="lt1"/>
                </a:solidFill>
                <a:latin typeface="Red Hat Display"/>
                <a:ea typeface="Red Hat Display"/>
                <a:cs typeface="Red Hat Display"/>
                <a:sym typeface="Red Hat Display"/>
              </a:rPr>
              <a:t>https://</a:t>
            </a:r>
            <a:r>
              <a:rPr lang="en" sz="949" b="1" dirty="0" err="1">
                <a:solidFill>
                  <a:schemeClr val="lt1"/>
                </a:solidFill>
                <a:latin typeface="Red Hat Display"/>
                <a:ea typeface="Red Hat Display"/>
                <a:cs typeface="Red Hat Display"/>
                <a:sym typeface="Red Hat Display"/>
              </a:rPr>
              <a:t>llm-d.ai</a:t>
            </a:r>
            <a:endParaRPr sz="949" b="1" dirty="0">
              <a:solidFill>
                <a:schemeClr val="lt1"/>
              </a:solidFill>
              <a:latin typeface="Red Hat Display"/>
              <a:ea typeface="Red Hat Display"/>
              <a:cs typeface="Red Hat Display"/>
              <a:sym typeface="Red Hat Display"/>
            </a:endParaRPr>
          </a:p>
        </p:txBody>
      </p:sp>
      <p:pic>
        <p:nvPicPr>
          <p:cNvPr id="3052" name="Google Shape;3052;p257"/>
          <p:cNvPicPr preferRelativeResize="0"/>
          <p:nvPr/>
        </p:nvPicPr>
        <p:blipFill>
          <a:blip r:embed="rId3">
            <a:alphaModFix/>
          </a:blip>
          <a:stretch>
            <a:fillRect/>
          </a:stretch>
        </p:blipFill>
        <p:spPr>
          <a:xfrm>
            <a:off x="562209" y="2653826"/>
            <a:ext cx="1695345" cy="1695345"/>
          </a:xfrm>
          <a:prstGeom prst="rect">
            <a:avLst/>
          </a:prstGeom>
          <a:noFill/>
          <a:ln>
            <a:noFill/>
          </a:ln>
        </p:spPr>
      </p:pic>
      <p:sp>
        <p:nvSpPr>
          <p:cNvPr id="3053" name="Google Shape;3053;p257"/>
          <p:cNvSpPr/>
          <p:nvPr/>
        </p:nvSpPr>
        <p:spPr>
          <a:xfrm>
            <a:off x="2815630" y="4376747"/>
            <a:ext cx="1604700" cy="390000"/>
          </a:xfrm>
          <a:prstGeom prst="rect">
            <a:avLst/>
          </a:prstGeom>
          <a:solidFill>
            <a:schemeClr val="accent1"/>
          </a:solidFill>
          <a:ln w="8800" cap="flat" cmpd="sng">
            <a:solidFill>
              <a:schemeClr val="accent1"/>
            </a:solidFill>
            <a:prstDash val="solid"/>
            <a:round/>
            <a:headEnd type="none" w="sm" len="sm"/>
            <a:tailEnd type="none" w="sm" len="sm"/>
          </a:ln>
        </p:spPr>
        <p:txBody>
          <a:bodyPr spcFirstLastPara="1" wrap="square" lIns="84525" tIns="84525" rIns="84525" bIns="84525" anchor="ctr" anchorCtr="0">
            <a:noAutofit/>
          </a:bodyPr>
          <a:lstStyle/>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Join Community Slack</a:t>
            </a:r>
            <a:endParaRPr sz="986" b="1" dirty="0">
              <a:solidFill>
                <a:schemeClr val="lt1"/>
              </a:solidFill>
              <a:latin typeface="Red Hat Display"/>
              <a:ea typeface="Red Hat Display"/>
              <a:cs typeface="Red Hat Display"/>
              <a:sym typeface="Red Hat Display"/>
            </a:endParaRPr>
          </a:p>
          <a:p>
            <a:pPr marL="0" lvl="0" indent="0" algn="ctr" rtl="0">
              <a:spcBef>
                <a:spcPts val="0"/>
              </a:spcBef>
              <a:spcAft>
                <a:spcPts val="0"/>
              </a:spcAft>
              <a:buClr>
                <a:schemeClr val="dk1"/>
              </a:buClr>
              <a:buSzPts val="986"/>
              <a:buFont typeface="Arial"/>
              <a:buNone/>
            </a:pPr>
            <a:r>
              <a:rPr lang="en" sz="986" b="1" dirty="0" err="1">
                <a:solidFill>
                  <a:schemeClr val="lt1"/>
                </a:solidFill>
                <a:latin typeface="Red Hat Display"/>
                <a:ea typeface="Red Hat Display"/>
                <a:cs typeface="Red Hat Display"/>
                <a:sym typeface="Red Hat Display"/>
              </a:rPr>
              <a:t>llm-d.ai</a:t>
            </a:r>
            <a:r>
              <a:rPr lang="en" sz="986" b="1" dirty="0">
                <a:solidFill>
                  <a:schemeClr val="lt1"/>
                </a:solidFill>
                <a:latin typeface="Red Hat Display"/>
                <a:ea typeface="Red Hat Display"/>
                <a:cs typeface="Red Hat Display"/>
                <a:sym typeface="Red Hat Display"/>
              </a:rPr>
              <a:t>/slack</a:t>
            </a:r>
            <a:endParaRPr sz="986" b="1" dirty="0">
              <a:solidFill>
                <a:schemeClr val="lt1"/>
              </a:solidFill>
              <a:latin typeface="Red Hat Display"/>
              <a:ea typeface="Red Hat Display"/>
              <a:cs typeface="Red Hat Display"/>
              <a:sym typeface="Red Hat Display"/>
            </a:endParaRPr>
          </a:p>
        </p:txBody>
      </p:sp>
      <p:sp>
        <p:nvSpPr>
          <p:cNvPr id="3054" name="Google Shape;3054;p257"/>
          <p:cNvSpPr txBox="1"/>
          <p:nvPr/>
        </p:nvSpPr>
        <p:spPr>
          <a:xfrm>
            <a:off x="370823" y="1067902"/>
            <a:ext cx="5060656" cy="1830304"/>
          </a:xfrm>
          <a:prstGeom prst="rect">
            <a:avLst/>
          </a:prstGeom>
          <a:noFill/>
          <a:ln>
            <a:noFill/>
          </a:ln>
        </p:spPr>
        <p:txBody>
          <a:bodyPr spcFirstLastPara="1" wrap="square" lIns="91425" tIns="91425" rIns="91425" bIns="91425" anchor="t" anchorCtr="0">
            <a:noAutofit/>
          </a:bodyPr>
          <a:lstStyle/>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4"/>
              </a:rPr>
              <a:t>llm-d.ai</a:t>
            </a:r>
            <a:endParaRPr sz="1800" dirty="0">
              <a:solidFill>
                <a:schemeClr val="dk2"/>
              </a:solidFill>
            </a:endParaRPr>
          </a:p>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5"/>
              </a:rPr>
              <a:t>github.com/llm-d</a:t>
            </a:r>
            <a:endParaRPr sz="1800" dirty="0">
              <a:solidFill>
                <a:schemeClr val="dk2"/>
              </a:solidFill>
            </a:endParaRPr>
          </a:p>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6"/>
              </a:rPr>
              <a:t>llm-d.ai/slack</a:t>
            </a:r>
            <a:endParaRPr sz="1800" dirty="0">
              <a:solidFill>
                <a:schemeClr val="dk2"/>
              </a:solidFill>
            </a:endParaRPr>
          </a:p>
        </p:txBody>
      </p:sp>
      <p:pic>
        <p:nvPicPr>
          <p:cNvPr id="3055" name="Google Shape;3055;p257"/>
          <p:cNvPicPr preferRelativeResize="0"/>
          <p:nvPr/>
        </p:nvPicPr>
        <p:blipFill>
          <a:blip r:embed="rId7">
            <a:alphaModFix/>
          </a:blip>
          <a:stretch>
            <a:fillRect/>
          </a:stretch>
        </p:blipFill>
        <p:spPr>
          <a:xfrm>
            <a:off x="2762795" y="2571750"/>
            <a:ext cx="1761167" cy="1761167"/>
          </a:xfrm>
          <a:prstGeom prst="rect">
            <a:avLst/>
          </a:prstGeom>
          <a:noFill/>
          <a:ln>
            <a:noFill/>
          </a:ln>
        </p:spPr>
      </p:pic>
      <p:sp>
        <p:nvSpPr>
          <p:cNvPr id="4" name="标题 3">
            <a:extLst>
              <a:ext uri="{FF2B5EF4-FFF2-40B4-BE49-F238E27FC236}">
                <a16:creationId xmlns:a16="http://schemas.microsoft.com/office/drawing/2014/main" id="{DAE5BCA3-226B-FE2E-A106-86065FE86305}"/>
              </a:ext>
            </a:extLst>
          </p:cNvPr>
          <p:cNvSpPr>
            <a:spLocks noGrp="1"/>
          </p:cNvSpPr>
          <p:nvPr>
            <p:ph type="title" idx="4294967295"/>
          </p:nvPr>
        </p:nvSpPr>
        <p:spPr>
          <a:xfrm>
            <a:off x="0" y="0"/>
            <a:ext cx="6950075" cy="1047750"/>
          </a:xfrm>
        </p:spPr>
        <p:txBody>
          <a:bodyPr/>
          <a:lstStyle/>
          <a:p>
            <a:r>
              <a:rPr lang="en" altLang="zh-CN" dirty="0">
                <a:sym typeface="Red Hat Display"/>
              </a:rPr>
              <a:t>Where can you find us</a:t>
            </a:r>
            <a:endParaRPr lang="zh-CN" altLang="en-US" dirty="0"/>
          </a:p>
        </p:txBody>
      </p:sp>
      <p:sp>
        <p:nvSpPr>
          <p:cNvPr id="6" name="Google Shape;3054;p257">
            <a:extLst>
              <a:ext uri="{FF2B5EF4-FFF2-40B4-BE49-F238E27FC236}">
                <a16:creationId xmlns:a16="http://schemas.microsoft.com/office/drawing/2014/main" id="{68C14C85-0A31-0CCB-286F-8695818B09D3}"/>
              </a:ext>
            </a:extLst>
          </p:cNvPr>
          <p:cNvSpPr txBox="1"/>
          <p:nvPr/>
        </p:nvSpPr>
        <p:spPr>
          <a:xfrm>
            <a:off x="4401369" y="1011211"/>
            <a:ext cx="5060656" cy="1830304"/>
          </a:xfrm>
          <a:prstGeom prst="rect">
            <a:avLst/>
          </a:prstGeom>
          <a:noFill/>
          <a:ln>
            <a:noFill/>
          </a:ln>
        </p:spPr>
        <p:txBody>
          <a:bodyPr spcFirstLastPara="1" wrap="square" lIns="91425" tIns="91425" rIns="91425" bIns="91425" anchor="t" anchorCtr="0">
            <a:noAutofit/>
          </a:bodyPr>
          <a:lstStyle/>
          <a:p>
            <a:pPr marL="457200" lvl="0" indent="-342900">
              <a:lnSpc>
                <a:spcPct val="150000"/>
              </a:lnSpc>
              <a:buClr>
                <a:schemeClr val="dk2"/>
              </a:buClr>
              <a:buSzPts val="1800"/>
              <a:buChar char="●"/>
            </a:pPr>
            <a:r>
              <a:rPr lang="en" sz="1800" u="sng" dirty="0">
                <a:solidFill>
                  <a:schemeClr val="hlink"/>
                </a:solidFill>
                <a:hlinkClick r:id="rId8"/>
              </a:rPr>
              <a:t>https://kaito-project.github.io/kaito/docs/</a:t>
            </a:r>
            <a:endParaRPr lang="en" sz="1800" u="sng" dirty="0">
              <a:solidFill>
                <a:schemeClr val="hlink"/>
              </a:solidFill>
            </a:endParaRPr>
          </a:p>
          <a:p>
            <a:pPr marL="457200" lvl="0" indent="-342900">
              <a:lnSpc>
                <a:spcPct val="150000"/>
              </a:lnSpc>
              <a:buClr>
                <a:schemeClr val="dk2"/>
              </a:buClr>
              <a:buSzPts val="1800"/>
              <a:buChar char="●"/>
            </a:pPr>
            <a:r>
              <a:rPr lang="en" sz="1800" u="sng" dirty="0">
                <a:solidFill>
                  <a:schemeClr val="hlink"/>
                </a:solidFill>
                <a:hlinkClick r:id="rId9"/>
              </a:rPr>
              <a:t>https://github.com/kaito-project</a:t>
            </a:r>
            <a:endParaRPr lang="en" sz="1800" u="sng" dirty="0">
              <a:solidFill>
                <a:schemeClr val="hlink"/>
              </a:solidFill>
            </a:endParaRPr>
          </a:p>
        </p:txBody>
      </p:sp>
      <p:pic>
        <p:nvPicPr>
          <p:cNvPr id="9" name="图片 8">
            <a:extLst>
              <a:ext uri="{FF2B5EF4-FFF2-40B4-BE49-F238E27FC236}">
                <a16:creationId xmlns:a16="http://schemas.microsoft.com/office/drawing/2014/main" id="{14E2BD00-4724-5BA3-40C0-09043CFB0A77}"/>
              </a:ext>
            </a:extLst>
          </p:cNvPr>
          <p:cNvPicPr>
            <a:picLocks noChangeAspect="1"/>
          </p:cNvPicPr>
          <p:nvPr/>
        </p:nvPicPr>
        <p:blipFill>
          <a:blip r:embed="rId10"/>
          <a:stretch>
            <a:fillRect/>
          </a:stretch>
        </p:blipFill>
        <p:spPr>
          <a:xfrm>
            <a:off x="4963842" y="2469435"/>
            <a:ext cx="1945755" cy="1945755"/>
          </a:xfrm>
          <a:prstGeom prst="rect">
            <a:avLst/>
          </a:prstGeom>
        </p:spPr>
      </p:pic>
      <p:sp>
        <p:nvSpPr>
          <p:cNvPr id="10" name="Google Shape;3050;p257">
            <a:extLst>
              <a:ext uri="{FF2B5EF4-FFF2-40B4-BE49-F238E27FC236}">
                <a16:creationId xmlns:a16="http://schemas.microsoft.com/office/drawing/2014/main" id="{9F05F732-6A76-96CF-3366-AD28D030FC42}"/>
              </a:ext>
            </a:extLst>
          </p:cNvPr>
          <p:cNvSpPr/>
          <p:nvPr/>
        </p:nvSpPr>
        <p:spPr>
          <a:xfrm>
            <a:off x="5151186" y="4371689"/>
            <a:ext cx="1604700" cy="390000"/>
          </a:xfrm>
          <a:prstGeom prst="rect">
            <a:avLst/>
          </a:prstGeom>
          <a:solidFill>
            <a:schemeClr val="accent1"/>
          </a:solidFill>
          <a:ln w="8475" cap="flat" cmpd="sng">
            <a:solidFill>
              <a:schemeClr val="accent1"/>
            </a:solidFill>
            <a:prstDash val="solid"/>
            <a:round/>
            <a:headEnd type="none" w="sm" len="sm"/>
            <a:tailEnd type="none" w="sm" len="sm"/>
          </a:ln>
        </p:spPr>
        <p:txBody>
          <a:bodyPr spcFirstLastPara="1" wrap="square" lIns="81375" tIns="81375" rIns="81375" bIns="81375" anchor="ctr" anchorCtr="0">
            <a:noAutofit/>
          </a:bodyPr>
          <a:lstStyle/>
          <a:p>
            <a:pPr marL="114300" lvl="0">
              <a:lnSpc>
                <a:spcPct val="150000"/>
              </a:lnSpc>
              <a:buClr>
                <a:schemeClr val="dk2"/>
              </a:buClr>
              <a:buSzPts val="1800"/>
            </a:pPr>
            <a:r>
              <a:rPr lang="en" altLang="zh-CN" sz="986" b="1" dirty="0">
                <a:solidFill>
                  <a:schemeClr val="lt1"/>
                </a:solidFill>
                <a:latin typeface="Red Hat Display"/>
                <a:hlinkClick r:id="rId9">
                  <a:extLst>
                    <a:ext uri="{A12FA001-AC4F-418D-AE19-62706E023703}">
                      <ahyp:hlinkClr xmlns:ahyp="http://schemas.microsoft.com/office/drawing/2018/hyperlinkcolor" val="tx"/>
                    </a:ext>
                  </a:extLst>
                </a:hlinkClick>
              </a:rPr>
              <a:t>https://github.com/kaito-project</a:t>
            </a:r>
            <a:endParaRPr lang="en" altLang="zh-CN" sz="986" b="1" dirty="0">
              <a:solidFill>
                <a:schemeClr val="lt1"/>
              </a:solidFill>
              <a:latin typeface="Red Hat Display"/>
            </a:endParaRPr>
          </a:p>
        </p:txBody>
      </p:sp>
      <p:pic>
        <p:nvPicPr>
          <p:cNvPr id="5" name="Picture 4" descr="QR code for workspace invite link">
            <a:extLst>
              <a:ext uri="{FF2B5EF4-FFF2-40B4-BE49-F238E27FC236}">
                <a16:creationId xmlns:a16="http://schemas.microsoft.com/office/drawing/2014/main" id="{FE59655E-20FF-FD8C-5C51-25CEB47A845D}"/>
              </a:ext>
            </a:extLst>
          </p:cNvPr>
          <p:cNvPicPr>
            <a:picLocks noChangeAspect="1"/>
          </p:cNvPicPr>
          <p:nvPr/>
        </p:nvPicPr>
        <p:blipFill>
          <a:blip r:embed="rId11"/>
          <a:stretch>
            <a:fillRect/>
          </a:stretch>
        </p:blipFill>
        <p:spPr>
          <a:xfrm>
            <a:off x="7070054" y="2523856"/>
            <a:ext cx="1809062" cy="1809062"/>
          </a:xfrm>
          <a:prstGeom prst="rect">
            <a:avLst/>
          </a:prstGeom>
        </p:spPr>
      </p:pic>
      <p:sp>
        <p:nvSpPr>
          <p:cNvPr id="7" name="Google Shape;3053;p257">
            <a:extLst>
              <a:ext uri="{FF2B5EF4-FFF2-40B4-BE49-F238E27FC236}">
                <a16:creationId xmlns:a16="http://schemas.microsoft.com/office/drawing/2014/main" id="{AC8E5B99-AD42-5250-077B-A0502E2AA79F}"/>
              </a:ext>
            </a:extLst>
          </p:cNvPr>
          <p:cNvSpPr/>
          <p:nvPr/>
        </p:nvSpPr>
        <p:spPr>
          <a:xfrm>
            <a:off x="7150962" y="4365491"/>
            <a:ext cx="1604700" cy="390000"/>
          </a:xfrm>
          <a:prstGeom prst="rect">
            <a:avLst/>
          </a:prstGeom>
          <a:solidFill>
            <a:schemeClr val="accent1"/>
          </a:solidFill>
          <a:ln w="8800" cap="flat" cmpd="sng">
            <a:solidFill>
              <a:schemeClr val="accent1"/>
            </a:solidFill>
            <a:prstDash val="solid"/>
            <a:round/>
            <a:headEnd type="none" w="sm" len="sm"/>
            <a:tailEnd type="none" w="sm" len="sm"/>
          </a:ln>
        </p:spPr>
        <p:txBody>
          <a:bodyPr spcFirstLastPara="1" wrap="square" lIns="84525" tIns="84525" rIns="84525" bIns="84525" anchor="ctr" anchorCtr="0">
            <a:noAutofit/>
          </a:bodyPr>
          <a:lstStyle/>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Join Community Slack</a:t>
            </a:r>
            <a:endParaRPr sz="986" b="1" dirty="0">
              <a:solidFill>
                <a:schemeClr val="lt1"/>
              </a:solidFill>
              <a:latin typeface="Red Hat Display"/>
              <a:ea typeface="Red Hat Display"/>
              <a:cs typeface="Red Hat Display"/>
              <a:sym typeface="Red Hat Display"/>
            </a:endParaRPr>
          </a:p>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KAITO/slack</a:t>
            </a:r>
            <a:endParaRPr sz="986" b="1" dirty="0">
              <a:solidFill>
                <a:schemeClr val="lt1"/>
              </a:solidFill>
              <a:latin typeface="Red Hat Display"/>
              <a:ea typeface="Red Hat Display"/>
              <a:cs typeface="Red Hat Display"/>
              <a:sym typeface="Red Hat Display"/>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39</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559448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Today, KEDA scales a</a:t>
            </a:r>
            <a:r>
              <a:rPr lang="en-US" sz="2100" b="1" cap="none" dirty="0">
                <a:solidFill>
                  <a:srgbClr val="142C46"/>
                </a:solidFill>
                <a:latin typeface="Arial"/>
              </a:rPr>
              <a:t> KAITO </a:t>
            </a:r>
            <a:r>
              <a:rPr sz="2100" b="1" cap="none" dirty="0" err="1">
                <a:solidFill>
                  <a:srgbClr val="142C46"/>
                </a:solidFill>
                <a:latin typeface="Arial"/>
              </a:rPr>
              <a:t>InferenceSet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dirty="0" err="1">
                <a:latin typeface="Arial"/>
              </a:rPr>
              <a:t>vllm:num_requests_waiting</a:t>
            </a:r>
            <a:endParaRPr sz="1425" cap="none" dirty="0">
              <a:latin typeface="Arial"/>
            </a:endParaRP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45</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46</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48</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50</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51</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52</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53</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55</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11647</TotalTime>
  <Words>13673</Words>
  <Application>Microsoft Office PowerPoint</Application>
  <PresentationFormat>On-screen Show (16:9)</PresentationFormat>
  <Paragraphs>1396</Paragraphs>
  <Slides>55</Slides>
  <Notes>55</Notes>
  <HiddenSlides>16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55</vt:i4>
      </vt:variant>
    </vt:vector>
  </HeadingPairs>
  <TitlesOfParts>
    <vt:vector size="63" baseType="lpstr">
      <vt:lpstr>Red Hat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PowerPoint Presentation</vt:lpstr>
      <vt:lpstr>llm-d: a distributed inference stack</vt:lpstr>
      <vt:lpstr>llm-d: capabilities for distributed inference</vt:lpstr>
      <vt:lpstr>PowerPoint Presentation</vt:lpstr>
      <vt:lpstr>What is KAITO (Kubernetes AI Toolchain Operator)?</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KAITO Autoscaling: Composite Metrics</vt:lpstr>
      <vt:lpstr>PowerPoint Presentation</vt:lpstr>
      <vt:lpstr>PowerPoint Presentation</vt:lpstr>
      <vt:lpstr>PowerPoint Presentation</vt:lpstr>
      <vt:lpstr>PowerPoint Presentation</vt:lpstr>
      <vt:lpstr>PowerPoint Presentation</vt:lpstr>
      <vt:lpstr>PowerPoint Presentation</vt:lpstr>
      <vt:lpstr>Where can you find us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624</cp:revision>
  <dcterms:created xsi:type="dcterms:W3CDTF">2019-07-29T21:37:05Z</dcterms:created>
  <dcterms:modified xsi:type="dcterms:W3CDTF">2026-10-31T03:22:35Z</dcterms:modified>
</cp:coreProperties>
</file>