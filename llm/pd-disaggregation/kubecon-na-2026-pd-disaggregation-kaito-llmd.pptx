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Prefill here, decode there: Kubernetes-native LLM inference with KAITO and llm-d. We’ll start with what the two phases do, then show how they fit together and how we can scale their capacity separately.</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I’m Andy Zhang, a Principal Software Engineer at Microsoft. I maintain KAITO and CSI drivers. Linbo He is also a Principal Software Engineer at Microsoft and maintains KAITO and OpenYurt. Unfortunately, Linbo couldn’t get his visa in time, so I’ll present on my own today.</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We’ll go from inference basics to running P/D on Kubernetes. First, see how each phase affects latency and weigh the benefits against the costs. Then see what each project owns, follow routing and KV transfer, and scale each role with its own signals. We’ll finish with what’s next.</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Our prompt is “What does Kubernetes do?” Assume one token per word, plus punctuation: five prompt positions. These word-level tokens are illustrative, not a real tokenizer’s output.</a:t>
            </a:r>
          </a:p>
          <a:p>
            <a:r>
              <a:rPr lang="en-US" sz="1200"/>
              <a:t>We process prompt positions together; each sees only itself and earlier positions. We cache attention keys and values for all five prompt positions at every layer. Use the final position’s scores to select “Kubernetes”. Decode will consume it and cache its K/V.</a:t>
            </a:r>
          </a:p>
          <a:p>
            <a:r>
              <a:rPr lang="en-US" sz="1200"/>
              <a:t/>
            </a:r>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Decode consumes “Kubernetes”, reads past KV, appends K/V for “Kubernetes”, and selects “helps”. Next, it consumes “helps” and selects “teams”. We cache the token we consume, not the one we just select. We reuse past KV.</a:t>
            </a:r>
          </a:p>
          <a:p>
            <a:r>
              <a:rPr lang="en-US" sz="1200"/>
              <a:t>Each selected token becomes the next input. Repeat until the answer is complete. Below, TTFT is the wait from the request to the first token. ITL is the time between token arrivals. Starting quickly and streaming smoothly are different goals.</a:t>
            </a:r>
          </a:p>
          <a:p>
            <a:r>
              <a:rPr lang="en-US" sz="1200"/>
              <a:t/>
            </a:r>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answers to start quickly—and keep going smoothly. Prefill shapes the wait for the first token. Decode shapes the gaps between tokens. We call those time to first token, and inter-token latency.</a:t>
            </a:r>
          </a:p>
          <a:p>
            <a:r>
              <a:rPr lang="en-US" sz="1200"/>
              <a:t>Prefill often needs more compute; decode often needs more memory bandwidth. Queueing and delivery matter too. We measure both phases, then ask: how many requests per second can meet our latency targets? That’s SLO goodput.</a:t>
            </a:r>
          </a:p>
          <a:p>
            <a:r>
              <a:rPr lang="en-US" sz="1200"/>
              <a:t/>
            </a:r>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 shared pool is simple, but prefill bursts compete with active decoding. Every worker handles both phases. One deployment scales both phases together.</a:t>
            </a:r>
          </a:p>
          <a:p>
            <a:r>
              <a:rPr lang="en-US" sz="120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 is ongoing decode. P is prefill for a new request. Where should P run? On the shared GPU, prefill can pause decode. On separate GPUs, decode can continue while prefill runs elsewhere.</a:t>
            </a:r>
          </a:p>
          <a:p>
            <a:r>
              <a:rPr lang="en-US" sz="1200"/>
              <a:t>The new request still needs a KV handoff. Separate GPUs remove this execution conflict, but not every source of latency. This is a conceptual schedule, not a benchmark; the widths are not timings. Chunked prefill can also reduce shared-GPU pauses.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Prefill batches prompt positions; ordinary decode batches independent requests. On the left, we process many input positions in one pass. We can batch positions from multiple prompts, while keeping causal attention.</a:t>
            </a:r>
          </a:p>
          <a:p>
            <a:r>
              <a:rPr lang="en-US" sz="1200"/>
              <a:t>On the right, we consume one new token per active request, read its past KV, then select its next output token. Prefill gets parallel work from prompt length; decode gets it from active requests. More decode concurrency can raise ITL. Stay within latency and KV-memory budgets.</a:t>
            </a:r>
          </a:p>
          <a:p>
            <a:r>
              <a:rPr lang="en-US" sz="1200"/>
              <a:t/>
            </a:r>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Separate pools let us tune each phase independently. The payoff is choosing capacity for each phase, not just running two deployments.</a:t>
            </a:r>
          </a:p>
          <a:p>
            <a:r>
              <a:rPr lang="en-US" sz="1200"/>
              <a:t>Prefill is often compute-bound. Tune its capacity and parallelism for TTFT. Decode is often bandwidth-bound. Tune its capacity and batching for ITL. Different latency targets and resource needs can call for different replica counts, tensor parallelism and batching policies. Split only if the gains outweigh KV transfer, extra weight copies and operating costs.</a:t>
            </a:r>
          </a:p>
          <a:p>
            <a:r>
              <a:rPr lang="en-US" sz="1200"/>
              <a:t/>
            </a:r>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Two pools still have to work together as one model service. The EPP, or Endpoint Picker, picks workers. KV transfer settings must match. The decode-side proxy coordinates requests. We must keep pods ready as replicas change.</a:t>
            </a:r>
          </a:p>
          <a:p>
            <a:r>
              <a:rPr lang="en-US" sz="1200"/>
              <a:t>Routing, KV transfer, labels, ports and readiness must stay in sync, even when pods restart or we scale. That is why the hard part is the Kubernetes wiring. Let’s see how existing projects approach it.</a:t>
            </a:r>
          </a:p>
          <a:p>
            <a:r>
              <a:rPr lang="en-US" sz="1200"/>
              <a:t/>
            </a:r>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Open-source P/D has several paths, not one winner. These are examples, not a ranking. Some approaches can work together.</a:t>
            </a:r>
          </a:p>
          <a:p>
            <a:r>
              <a:rPr lang="en-US" sz="1200"/>
              <a:t>The middle column shows the serving and routing path; the right shows what users configure in Kubernetes. Dynamo, llm-d, AIBrix, KServe, Ray Serve and vLLM Production Stack offer different combinations. Declarative APIs already exist. We want simpler integration, not the first P/D CRD. For KAITO users, that means less manual configuration to maintain. Let’s start with llm-d.</a:t>
            </a:r>
          </a:p>
          <a:p>
            <a:r>
              <a:rPr lang="en-US" sz="1200"/>
              <a:t/>
            </a:r>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llm-d connects serving runtimes, routing and KV transport on Kubernetes. It joined the CNCF Sandbox in March 2026.</a:t>
            </a:r>
          </a:p>
          <a:p>
            <a:r>
              <a:rPr lang="en-US" sz="1200"/>
              <a:t>Gateway API connects inference routing to Kubernetes. We combine runtimes, routing plugins and KV transport. Tested deployment patterns make trade-offs clear. The idea is to connect existing tools, not replace them. We still need to validate those patterns with our own models, hardware and traffic.</a:t>
            </a:r>
          </a:p>
          <a:p>
            <a:r>
              <a:rPr lang="en-US" sz="1200"/>
              <a:t/>
            </a:r>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reusable capabilities, not a performance guarantee. We build on the serving runtime, not replace it. The community graphic shows project history, not serving performance.</a:t>
            </a:r>
          </a:p>
          <a:p>
            <a:r>
              <a:rPr lang="en-US" sz="1200"/>
              <a:t>Expert parallelism spreads expert computation across GPUs. For P/D, we separate the phases and transfer KV between roles. Routing plugins use cache and load signals to pick workers. Workload signals and SLOs guide capacity; each integration chooses its policy. Choosing a worker and adding workers are different decisions.</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llm-d calls these “well-lit paths”: tested deployment patterns that explain the trade-offs. Where should this request run? Where should reusable state live? How should a large MoE model execute? How should prompt and generation capacity differ?</a:t>
            </a:r>
          </a:p>
          <a:p>
            <a:r>
              <a:rPr lang="en-US" sz="1200"/>
              <a:t>These paths can work together, but we don’t need all of them at once. They do not guarantee the same performance on every hardware setup. Today we’ll focus on P/D disaggregation, then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KAITO automates LLM inference, fine-tuning and RAG with Kubernetes operators. It is a CNCF Sandbox project.</a:t>
            </a:r>
          </a:p>
          <a:p>
            <a:r>
              <a:rPr lang="en-US" sz="1200"/>
              <a:t>Choose a model and GPU. KAITO sizes nodes for model memory. It sets up and caches models. It manages InferenceSets and rolling updates. KEDA scales the workload. llm-d provides serving components; KAITO deploys and manages model workloads. You declare the desired state, and KAITO keeps the workload in that state. Next, let’s look at that declaration.</a:t>
            </a:r>
          </a:p>
          <a:p>
            <a:r>
              <a:rPr lang="en-US" sz="1200"/>
              <a:t/>
            </a:r>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We declare the model, GPU instance type and replica count. This InferenceSet uses Qwen3-Coder-30B-A3B-Instruct, Standard_NC24ads_A100_v4 and three replicas. The labels identify the related workloads.</a:t>
            </a:r>
          </a:p>
          <a:p>
            <a:r>
              <a:rPr lang="en-US" sz="1200"/>
              <a:t>Three replicas does not necessarily mean three GPUs; each replica’s GPU and node needs depend on the model and runtime settings. KAITO keeps the actual resources in sync with this desired state. Next, how does it work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Choose the model and GPU SKU. KAITO estimates how many nodes the model needs. KAITO reserves memory for overhead and KV cache, then fits the weights into the remaining GPU memory.</a:t>
            </a:r>
          </a:p>
          <a:p>
            <a:r>
              <a:rPr lang="en-US" sz="1200"/>
              <a:t>Save the result as status.targetNodeCount. This path uses tensor parallelism within nodes and pipeline parallelism across nodes. It sizes memory, not traffic capacity.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r>
              <a:rPr lang="en-US" sz="1200"/>
              <a:t/>
            </a:r>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r>
              <a:rPr lang="en-US" sz="1200"/>
              <a:t/>
            </a:r>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r>
              <a:rPr lang="en-US" sz="1200"/>
              <a:t/>
            </a:r>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r>
              <a:rPr lang="en-US" sz="1200"/>
              <a:t/>
            </a:r>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r>
              <a:rPr lang="en-US" sz="1200"/>
              <a:t/>
            </a:r>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r>
              <a:rPr lang="en-US" sz="1200"/>
              <a:t/>
            </a:r>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r>
              <a:rPr lang="en-US" sz="1200"/>
              <a:t/>
            </a:r>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r>
              <a:rPr lang="en-US" sz="1200"/>
              <a:t/>
            </a:r>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r>
              <a:rPr lang="en-US" sz="1200"/>
              <a:t/>
            </a:r>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r>
              <a:rPr lang="en-US" sz="1200"/>
              <a:t/>
            </a:r>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r>
              <a:rPr lang="en-US" sz="1200"/>
              <a:t/>
            </a:r>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r>
              <a:rPr lang="en-US" sz="1200"/>
              <a:t/>
            </a:r>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r>
              <a:rPr lang="en-US" sz="1200"/>
              <a:t/>
            </a:r>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r>
              <a:rPr lang="en-US" sz="1200"/>
              <a:t/>
            </a:r>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r>
              <a:rPr lang="en-US" sz="1200"/>
              <a:t/>
            </a:r>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r>
              <a:rPr lang="en-US" sz="1200"/>
              <a:t/>
            </a: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r>
              <a:rPr lang="en-US" sz="1200"/>
              <a:t/>
            </a: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r>
              <a:rPr lang="en-US" sz="1200"/>
              <a:t/>
            </a: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r>
              <a:rPr lang="en-US" sz="1200"/>
              <a:t/>
            </a: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r>
              <a:rPr lang="en-US" sz="1200"/>
              <a:t/>
            </a: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r>
              <a:rPr lang="en-US" sz="1200"/>
              <a:t/>
            </a: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Both affect total latency and SLO goodput: requests per second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Often compute-b</a:t>
            </a:r>
            <a:r>
              <a:rPr sz="1275" cap="none" dirty="0" err="1">
                <a:latin typeface="Arial"/>
              </a:rPr>
              <a:t>o</a:t>
            </a:r>
            <a:r>
              <a:rPr sz="1275" cap="none" dirty="0">
                <a:latin typeface="Arial"/>
              </a:rPr>
              <a:t>und.</a:t>
            </a:r>
          </a:p>
          <a:p>
            <a:pPr>
              <a:spcAft>
                <a:spcPts val="375"/>
              </a:spcAft>
              <a:defRPr sz="1700" b="0">
                <a:solidFill>
                  <a:srgbClr val="586A80"/>
                </a:solidFill>
                <a:latin typeface="Arial"/>
              </a:defRPr>
            </a:pPr>
            <a:r>
              <a:rPr sz="1275" b="1" cap="none" dirty="0">
                <a:solidFill>
                  <a:srgbClr val="00B0F0"/>
                </a:solidFill>
                <a:latin typeface="Arial"/>
              </a:rPr>
              <a:t>Track pre</a:t>
            </a:r>
            <a:r>
              <a:rPr sz="1275" cap="none" dirty="0">
                <a:latin typeface="Arial"/>
              </a:rPr>
              <a:t>f</a:t>
            </a:r>
            <a:r>
              <a:rPr sz="1275" b="1" cap="none" dirty="0">
                <a:solidFill>
                  <a:srgbClr val="00B0F0"/>
                </a:solidFill>
                <a:latin typeface="Arial"/>
              </a:rPr>
              <a:t>ill la</a:t>
            </a:r>
            <a:r>
              <a:rPr sz="1275" cap="none" dirty="0">
                <a:latin typeface="Arial"/>
              </a:rPr>
              <a:t>ten</a:t>
            </a:r>
            <a:r>
              <a:rPr sz="1275" b="1" cap="none" dirty="0">
                <a:solidFill>
                  <a:srgbClr val="00B0F0"/>
                </a:solidFill>
                <a:latin typeface="Arial"/>
              </a:rPr>
              <a:t>cy</a:t>
            </a:r>
            <a:r>
              <a:rPr sz="1275" cap="none" dirty="0">
                <a:latin typeface="Arial"/>
              </a:rPr>
              <a:t> </a:t>
            </a:r>
            <a:r>
              <a:rPr sz="1275" b="1" cap="none" dirty="0">
                <a:solidFill>
                  <a:srgbClr val="00B0F0"/>
                </a:solidFill>
                <a:latin typeface="Arial"/>
              </a:rPr>
              <a:t>and input tok/s.</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is often memory-bandwidth-bound.</a:t>
            </a:r>
          </a:p>
          <a:p>
            <a:pPr>
              <a:spcAft>
                <a:spcPts val="375"/>
              </a:spcAft>
              <a:defRPr sz="1700" b="0">
                <a:solidFill>
                  <a:srgbClr val="586A80"/>
                </a:solidFill>
                <a:latin typeface="Arial"/>
              </a:defRPr>
            </a:pPr>
            <a:r>
              <a:rPr sz="1275" b="1" cap="none" dirty="0">
                <a:solidFill>
                  <a:srgbClr val="00B0F0"/>
                </a:solidFill>
                <a:latin typeface="Arial"/>
              </a:rPr>
              <a:t>Track ITL, TP</a:t>
            </a:r>
            <a:r>
              <a:rPr sz="1275" cap="none" dirty="0">
                <a:latin typeface="Arial"/>
              </a:rPr>
              <a:t>O</a:t>
            </a:r>
            <a:r>
              <a:rPr sz="1275" b="1" cap="none" dirty="0">
                <a:solidFill>
                  <a:srgbClr val="00B0F0"/>
                </a:solidFill>
                <a:latin typeface="Arial"/>
              </a:rPr>
              <a:t>T</a:t>
            </a:r>
            <a:r>
              <a:rPr sz="1275" cap="none" dirty="0">
                <a:latin typeface="Arial"/>
              </a:rPr>
              <a:t> </a:t>
            </a:r>
            <a:r>
              <a:rPr sz="1275" b="1" cap="none" dirty="0">
                <a:solidFill>
                  <a:srgbClr val="00B0F0"/>
                </a:solidFill>
                <a:latin typeface="Arial"/>
              </a:rPr>
              <a:t>and total output tok/s.</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We want simpler integration, not the first P/D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rP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rP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rP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9093</TotalTime>
  <Words>24946</Words>
  <Application>Microsoft Office PowerPoint</Application>
  <PresentationFormat>On-screen Show (16:9)</PresentationFormat>
  <Paragraphs>1375</Paragraphs>
  <Slides>52</Slides>
  <Notes>52</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289</cp:revision>
  <dcterms:created xsi:type="dcterms:W3CDTF">2019-07-29T21:37:05Z</dcterms:created>
  <dcterms:modified xsi:type="dcterms:W3CDTF">2026-10-27T07:41:40Z</dcterms:modified>
</cp:coreProperties>
</file>