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8" r:id="rId13"/>
    <p:sldId id="269" r:id="rId14"/>
    <p:sldId id="2147375737" r:id="rId15"/>
    <p:sldId id="2147375738" r:id="rId16"/>
    <p:sldId id="2147375701" r:id="rId17"/>
    <p:sldId id="278" r:id="rId18"/>
    <p:sldId id="2147375718" r:id="rId19"/>
    <p:sldId id="2147375739" r:id="rId20"/>
    <p:sldId id="270" r:id="rId21"/>
    <p:sldId id="2147375706" r:id="rId22"/>
    <p:sldId id="256" r:id="rId23"/>
    <p:sldId id="257" r:id="rId24"/>
    <p:sldId id="2147375722" r:id="rId25"/>
    <p:sldId id="2147375723" r:id="rId26"/>
    <p:sldId id="2147375724" r:id="rId27"/>
    <p:sldId id="2147375725" r:id="rId28"/>
    <p:sldId id="295" r:id="rId29"/>
    <p:sldId id="277" r:id="rId30"/>
    <p:sldId id="2147375729" r:id="rId31"/>
    <p:sldId id="273" r:id="rId32"/>
    <p:sldId id="279" r:id="rId33"/>
    <p:sldId id="280" r:id="rId34"/>
    <p:sldId id="281" r:id="rId35"/>
    <p:sldId id="287" r:id="rId36"/>
    <p:sldId id="282" r:id="rId37"/>
    <p:sldId id="285" r:id="rId38"/>
    <p:sldId id="301" r:id="rId39"/>
    <p:sldId id="2147375736" r:id="rId40"/>
    <p:sldId id="266" r:id="rId41"/>
    <p:sldId id="265" r:id="rId42"/>
    <p:sldId id="283" r:id="rId43"/>
    <p:sldId id="2147375721" r:id="rId44"/>
    <p:sldId id="2147375719" r:id="rId45"/>
    <p:sldId id="2147375714"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939" autoAdjust="0"/>
  </p:normalViewPr>
  <p:slideViewPr>
    <p:cSldViewPr snapToGrid="0">
      <p:cViewPr varScale="1">
        <p:scale>
          <a:sx n="66" d="100"/>
          <a:sy n="66" d="100"/>
        </p:scale>
        <p:origin x="1284"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欢迎来到 Cloud Native AI and Inference Day。今天我们来看，为什么让大模型开始回答和让回答持续流畅，需要不同的资源，以及什么时候值得在 Kubernetes 上把这两部分拆开。</a:t>
            </a:r>
          </a:p>
          <a:p>
            <a:r>
              <a:rPr lang="en-US" sz="1200"/>
              <a:t/>
            </a:r>
          </a:p>
          <a:p>
            <a:r>
              <a:rPr lang="en-US" sz="1200"/>
              <a:t>English</a:t>
            </a:r>
          </a:p>
          <a:p>
            <a:r>
              <a:rPr lang="en-US" sz="1200"/>
              <a:t>Welcome to Cloud Native AI and Inference Day. Today we’ll look at why starting an LLM answer and keeping it flowing need different things—and when it makes sense to separate them on Kubernetes.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Prefill 在这里，decode 在那里：用 KAITO 和 llm-d 实现 Kubernetes 原生的大模型推理。我们先看这两个阶段各自做什么，再看它们如何配合，以及怎样分别扩缩容。</a:t>
            </a:r>
          </a:p>
          <a:p>
            <a:r>
              <a:rPr lang="en-US" sz="1200"/>
              <a:t/>
            </a:r>
          </a:p>
          <a:p>
            <a:r>
              <a:rPr lang="en-US" sz="1200"/>
              <a:t>English</a:t>
            </a:r>
          </a:p>
          <a:p>
            <a:r>
              <a:rPr lang="en-US" sz="1200"/>
              <a:t>Prefill here, decode there: Kubernetes-native LLM inference with KAITO and llm-d. We’ll start with what the two phases do, then show how they fit together and how we can scale their capacity separately.</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我是 Andy Zhang，在微软担任首席软件工程师，也是 KAITO 和 CSI 驱动的维护者。Linbo He 同样是微软的首席软件工程师，维护 KAITO 和 OpenYurt。很遗憾，Linbo 没能及时拿到签证，所以今天由我一个人来分享。</a:t>
            </a:r>
          </a:p>
          <a:p>
            <a:r>
              <a:rPr lang="en-US" sz="1200"/>
              <a:t/>
            </a:r>
          </a:p>
          <a:p>
            <a:r>
              <a:rPr lang="en-US" sz="1200"/>
              <a:t>English</a:t>
            </a:r>
          </a:p>
          <a:p>
            <a:r>
              <a:rPr lang="en-US" sz="1200"/>
              <a:t>I’m Andy Zhang, a Principal Software Engineer at Microsoft. I maintain KAITO and CSI drivers. Linbo He is also a Principal Software Engineer at Microsoft and maintains KAITO and OpenYurt. Unfortunately, Linbo couldn’t get his visa in time, so I’ll present on my own today.</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lang="en-US" sz="1200"/>
              <a:t>Speaker script</a:t>
            </a:r>
          </a:p>
          <a:p>
            <a:r>
              <a:rPr lang="en-US" sz="1200"/>
              <a:t>中文</a:t>
            </a:r>
          </a:p>
          <a:p>
            <a:r>
              <a:rPr lang="en-US" sz="1200"/>
              <a:t>我们会从推理基础讲到如何在 Kubernetes 上运行 P/D。先看每个阶段怎样影响延迟，再权衡收益和成本。然后看看两个项目各自负责什么，沿着请求走一遍路由和 KV 传输，最后用各自的信号分别扩缩容，再聊聊后续计划。</a:t>
            </a:r>
          </a:p>
          <a:p>
            <a:r>
              <a:rPr lang="en-US" sz="1200"/>
              <a:t/>
            </a:r>
          </a:p>
          <a:p>
            <a:r>
              <a:rPr lang="en-US" sz="1200"/>
              <a:t>English</a:t>
            </a:r>
          </a:p>
          <a:p>
            <a:r>
              <a:rPr lang="en-US" sz="1200"/>
              <a:t>We’ll go from inference basics to running P/D on Kubernetes. First, see how each phase affects latency and weigh the benefits against the costs. Then see what each project owns, follow routing and KV transfer, and scale each role with its own signals. We’ll finish with what’s next.</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我们的提示词是“What does Kubernetes do?”。这里假设每个单词是一个 token，标点再占一个，一共五个位置。这只是教学示例，不是真实分词器的结果。</a:t>
            </a:r>
          </a:p>
          <a:p>
            <a:r>
              <a:rPr lang="en-US" sz="1200"/>
              <a:t>这些位置可以一起处理，但每个位置只能看到自己和之前的位置。我们在每一层缓存这五个位置的注意力 key 和 value，再用最后一个位置的分数选出“Kubernetes”。接下来 decode 才会处理这个 token，并缓存它的 K/V。</a:t>
            </a:r>
          </a:p>
          <a:p>
            <a:r>
              <a:rPr lang="en-US" sz="1200"/>
              <a:t/>
            </a:r>
          </a:p>
          <a:p>
            <a:r>
              <a:rPr lang="en-US" sz="1200"/>
              <a:t>English</a:t>
            </a:r>
          </a:p>
          <a:p>
            <a:r>
              <a:rPr lang="en-US" sz="1200"/>
              <a:t>Our prompt is “What does Kubernetes do?” Assume one token per word, plus punctuation: five prompt positions. These word-level tokens are illustrative, not a real tokenizer’s output.</a:t>
            </a:r>
          </a:p>
          <a:p>
            <a:r>
              <a:rPr lang="en-US" sz="1200"/>
              <a:t>We process prompt positions together; each sees only itself and earlier positions. We cache attention keys and values for all five prompt positions at every layer. Use the final position’s scores to select “Kubernetes”. Decode will consume it and cache its K/V.</a:t>
            </a:r>
          </a:p>
          <a:p>
            <a:r>
              <a:rPr lang="en-US" sz="1200"/>
              <a:t/>
            </a:r>
          </a:p>
          <a:p>
            <a:r>
              <a:rPr dirty="0"/>
              <a:t>References</a:t>
            </a:r>
          </a:p>
          <a:p>
            <a:r>
              <a:rPr dirty="0"/>
              <a:t>https://huggingface.co/docs/transformers/en/cache_explanation</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Decode 先处理“Kubernetes”，读取之前的 KV，加入“Kubernetes”的 K/V，再选出“helps”。下一步处理“helps”，选出“teams”。缓存的是刚处理的 token，而不是刚选出的那个。之前的 KV 会直接复用。</a:t>
            </a:r>
          </a:p>
          <a:p>
            <a:r>
              <a:rPr lang="en-US" sz="1200"/>
              <a:t>每次选出的 token 都成为下一次的输入，一直重复到回答结束。下方时间线上，TTFT 是从发出请求到收到第一个 token 的等待时间；ITL 是后续 token 到达的间隔。开始得快和输出得流畅，是两个不同的目标。</a:t>
            </a:r>
          </a:p>
          <a:p>
            <a:r>
              <a:rPr lang="en-US" sz="1200"/>
              <a:t/>
            </a:r>
          </a:p>
          <a:p>
            <a:r>
              <a:rPr lang="en-US" sz="1200"/>
              <a:t>English</a:t>
            </a:r>
          </a:p>
          <a:p>
            <a:r>
              <a:rPr lang="en-US" sz="1200"/>
              <a:t>Decode consumes “Kubernetes”, reads past KV, appends K/V for “Kubernetes”, and selects “helps”. Next, it consumes “helps” and selects “teams”. We cache the token we consume, not the one we just select. We reuse past KV.</a:t>
            </a:r>
          </a:p>
          <a:p>
            <a:r>
              <a:rPr lang="en-US" sz="1200"/>
              <a:t>Each selected token becomes the next input. Repeat until the answer is complete. Below, TTFT is the wait from the request to the first token. ITL is the time between token arrivals. Starting quickly and streaming smoothly are different goals.</a:t>
            </a:r>
          </a:p>
          <a:p>
            <a:r>
              <a:rPr lang="en-US" sz="1200"/>
              <a:t/>
            </a:r>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我们希望回答尽快开始，然后流畅地继续输出。Prefill 主要影响第一个 token 出来前的等待；decode 主要影响后续 token 之间的间隔。这两个指标分别叫首 token 延迟和 token 间延迟。</a:t>
            </a:r>
          </a:p>
          <a:p>
            <a:r>
              <a:rPr lang="en-US" sz="1200"/>
              <a:t>Prefill 往往更需要计算能力，decode 往往更需要内存带宽。排队和结果交付也会影响体验。我们分别测量这两个阶段，再看每秒有多少请求能满足延迟目标，这就是 SLO goodput。</a:t>
            </a:r>
          </a:p>
          <a:p>
            <a:r>
              <a:rPr lang="en-US" sz="1200"/>
              <a:t/>
            </a:r>
          </a:p>
          <a:p>
            <a:r>
              <a:rPr lang="en-US" sz="1200"/>
              <a:t>English</a:t>
            </a:r>
          </a:p>
          <a:p>
            <a:r>
              <a:rPr lang="en-US" sz="1200"/>
              <a:t>We want answers to start quickly—and keep going smoothly. Prefill shapes the wait for the first token. Decode shapes the gaps between tokens. We call those time to first token, and inter-token latency.</a:t>
            </a:r>
          </a:p>
          <a:p>
            <a:r>
              <a:rPr lang="en-US" sz="1200"/>
              <a:t>Prefill often needs more compute; decode often needs more memory bandwidth. Queueing and delivery matter too. We measure both phases, then ask: how many requests per second can meet our latency targets? That’s SLO goodput.</a:t>
            </a:r>
          </a:p>
          <a:p>
            <a:r>
              <a:rPr lang="en-US" sz="1200"/>
              <a:t/>
            </a:r>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共享资源池很简单，但 prefill 的突发负载会和正在进行的 decode 争抢资源。每个 worker 都处理两个阶段，一个 Deployment 也会把两个阶段一起扩容。</a:t>
            </a:r>
          </a:p>
          <a:p>
            <a:r>
              <a:rPr lang="en-US" sz="1200"/>
              <a:t>取舍在哪里？大量提示词涌入可能打断 token 的流畅输出。即使只有一个阶段忙，增加副本也会同时增加两个阶段的容量。我们既要决定各阶段怎样运行，也要决定增加多少共享容量。先来看执行时的冲突。</a:t>
            </a:r>
          </a:p>
          <a:p>
            <a:r>
              <a:rPr lang="en-US" sz="1200"/>
              <a:t/>
            </a:r>
          </a:p>
          <a:p>
            <a:r>
              <a:rPr lang="en-US" sz="1200"/>
              <a:t>English</a:t>
            </a:r>
          </a:p>
          <a:p>
            <a:r>
              <a:rPr lang="en-US" sz="1200"/>
              <a:t>A shared pool is simple, but prefill bursts compete with active decoding. Every worker handles both phases. One deployment scales both phases together.</a:t>
            </a:r>
          </a:p>
          <a:p>
            <a:r>
              <a:rPr lang="en-US" sz="1200"/>
              <a:t>Where is the trade-off? Prompt bursts can disrupt token delivery. Adding a replica adds both phases, even if only one is busy. We must decide how to run each phase and how much shared capacity to add. First, let’s look at that execution conflict.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D 表示正在进行的 decode，P 表示新请求的 prefill。P 应该在哪里运行？在共享 GPU 上，prefill 可能让 decode 暂停。拆到不同 GPU 后，prefill 在别处运行，decode 就可以继续。</a:t>
            </a:r>
          </a:p>
          <a:p>
            <a:r>
              <a:rPr lang="en-US" sz="1200"/>
              <a:t>不过，新请求仍然需要交接 KV。分开 GPU 消除的是这类执行冲突，不是所有延迟来源。这是概念示意，不是基准测试，方块宽度也不代表真实耗时。分块 prefill 同样可以减少共享 GPU 上的停顿。</a:t>
            </a:r>
          </a:p>
          <a:p>
            <a:r>
              <a:rPr lang="en-US" sz="1200"/>
              <a:t/>
            </a:r>
          </a:p>
          <a:p>
            <a:r>
              <a:rPr lang="en-US" sz="1200"/>
              <a:t>English</a:t>
            </a:r>
          </a:p>
          <a:p>
            <a:r>
              <a:rPr lang="en-US" sz="1200"/>
              <a:t>D is ongoing decode. P is prefill for a new request. Where should P run? On the shared GPU, prefill can pause decode. On separate GPUs, decode can continue while prefill runs elsewhere.</a:t>
            </a:r>
          </a:p>
          <a:p>
            <a:r>
              <a:rPr lang="en-US" sz="1200"/>
              <a:t>The new request still needs a KV handoff. Separate GPUs remove this execution conflict, but not every source of latency. This is a conceptual schedule, not a benchmark; the widths are not timings. Chunked prefill can also reduce shared-GPU pauses.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Prefill 把提示词的位置组成批次；普通 decode 则把不同请求组成批次。左边，一次前向计算可以处理多个输入位置，也可以把多个提示词的位置放在一起，但仍然遵守因果注意力。</a:t>
            </a:r>
          </a:p>
          <a:p>
            <a:r>
              <a:rPr lang="en-US" sz="1200"/>
              <a:t>右边，每个活跃请求只处理一个新的 token，读取自己的历史 KV，再选出下一个输出 token。Prefill 的并行工作来自提示词长度，decode 的并行工作来自多个活跃请求。Decode 并发更多，ITL 也可能更高，所以批处理必须同时满足延迟和 KV 内存预算。</a:t>
            </a:r>
          </a:p>
          <a:p>
            <a:r>
              <a:rPr lang="en-US" sz="1200"/>
              <a:t/>
            </a:r>
          </a:p>
          <a:p>
            <a:r>
              <a:rPr lang="en-US" sz="1200"/>
              <a:t>English</a:t>
            </a:r>
          </a:p>
          <a:p>
            <a:r>
              <a:rPr lang="en-US" sz="1200"/>
              <a:t>Prefill batches prompt positions; ordinary decode batches independent requests. On the left, we process many input positions in one pass. We can batch positions from multiple prompts, while keeping causal attention.</a:t>
            </a:r>
          </a:p>
          <a:p>
            <a:r>
              <a:rPr lang="en-US" sz="1200"/>
              <a:t>On the right, we consume one new token per active request, read its past KV, then select its next output token. Prefill gets parallel work from prompt length; decode gets it from active requests. More decode concurrency can raise ITL. Stay within latency and KV-memory budgets.</a:t>
            </a:r>
          </a:p>
          <a:p>
            <a:r>
              <a:rPr lang="en-US" sz="1200"/>
              <a:t/>
            </a:r>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独立的资源池让我们能分别调整每个阶段。收益是可以分别选择容量，而不只是运行两个 Deployment。</a:t>
            </a:r>
          </a:p>
          <a:p>
            <a:r>
              <a:rPr lang="en-US" sz="1200"/>
              <a:t>Prefill 往往受计算能力限制，可以围绕 TTFT 调整容量和并行方式。Decode 往往受带宽限制，可以围绕 ITL 调整容量和批处理。延迟目标和资源需求不同，副本数、张量并行和批处理策略也可能不同。只有当收益超过 KV 传输、额外权重副本和运维成本时，才值得拆分。</a:t>
            </a:r>
          </a:p>
          <a:p>
            <a:r>
              <a:rPr lang="en-US" sz="1200"/>
              <a:t/>
            </a:r>
          </a:p>
          <a:p>
            <a:r>
              <a:rPr lang="en-US" sz="1200"/>
              <a:t>English</a:t>
            </a:r>
          </a:p>
          <a:p>
            <a:r>
              <a:rPr lang="en-US" sz="1200"/>
              <a:t>Separate pools let us tune each phase independently. The payoff is choosing capacity for each phase, not just running two deployments.</a:t>
            </a:r>
          </a:p>
          <a:p>
            <a:r>
              <a:rPr lang="en-US" sz="1200"/>
              <a:t>Prefill is often compute-bound. Tune its capacity and parallelism for TTFT. Decode is often bandwidth-bound. Tune its capacity and batching for ITL. Different latency targets and resource needs can call for different replica counts, tensor parallelism and batching policies. Split only if the gains outweigh KV transfer, extra weight copies and operating costs.</a:t>
            </a:r>
          </a:p>
          <a:p>
            <a:r>
              <a:rPr lang="en-US" sz="1200"/>
              <a:t/>
            </a:r>
          </a:p>
          <a:p>
            <a:r>
              <a:rPr dirty="0"/>
              <a:t>References</a:t>
            </a:r>
          </a:p>
          <a:p>
            <a:r>
              <a:rPr dirty="0"/>
              <a:t>https://docs.nvidia.com/dynamo/dev/kubernetes/disaggregated-serving/overview</a:t>
            </a:r>
          </a:p>
          <a:p>
            <a:r>
              <a:rPr dirty="0"/>
              <a:t>https://arxiv.org/html/2401.09670v2#S2.SS3</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两个资源池仍然要共同提供一个模型服务。EPP，也就是 Endpoint Picker，负责选 worker。KV 传输设置必须匹配，decode 侧的代理负责协调请求，副本变化时也要保证 Pod 就绪。</a:t>
            </a:r>
          </a:p>
          <a:p>
            <a:r>
              <a:rPr lang="en-US" sz="1200"/>
              <a:t>即使 Pod 重启或发生扩缩容，路由、KV 传输、标签、端口和就绪状态也必须保持一致。所以难点在于把这些 Kubernetes 组件持续连接好。接下来看看现有项目是怎么做的。</a:t>
            </a:r>
          </a:p>
          <a:p>
            <a:r>
              <a:rPr lang="en-US" sz="1200"/>
              <a:t/>
            </a:r>
          </a:p>
          <a:p>
            <a:r>
              <a:rPr lang="en-US" sz="1200"/>
              <a:t>English</a:t>
            </a:r>
          </a:p>
          <a:p>
            <a:r>
              <a:rPr lang="en-US" sz="1200"/>
              <a:t>Two pools still have to work together as one model service. The EPP, or Endpoint Picker, picks workers. KV transfer settings must match. The decode-side proxy coordinates requests. We must keep pods ready as replicas change.</a:t>
            </a:r>
          </a:p>
          <a:p>
            <a:r>
              <a:rPr lang="en-US" sz="1200"/>
              <a:t>Routing, KV transfer, labels, ports and readiness must stay in sync, even when pods restart or we scale. That is why the hard part is the Kubernetes wiring. Let’s see how existing projects approach it.</a:t>
            </a:r>
          </a:p>
          <a:p>
            <a:r>
              <a:rPr lang="en-US" sz="1200"/>
              <a:t/>
            </a:r>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开源 P/D 有多条实现路径，并不是只有一个赢家。这里列的是例子，不是排名，有些方案也可以组合使用。</a:t>
            </a:r>
          </a:p>
          <a:p>
            <a:r>
              <a:rPr lang="en-US" sz="1200"/>
              <a:t>中间一列看服务和路由怎么配合，右边一列看用户在 Kubernetes 里配置什么。Dynamo、llm-d、AIBrix、KServe、Ray Serve 和 vLLM Production Stack 提供了不同组合。声明式 API 已经存在，我们希望简化集成，而不是发明第一个 P/D CRD。对 KAITO 用户来说，就是少维护一些手动配置。先从 llm-d 看起。</a:t>
            </a:r>
          </a:p>
          <a:p>
            <a:r>
              <a:rPr lang="en-US" sz="1200"/>
              <a:t/>
            </a:r>
          </a:p>
          <a:p>
            <a:r>
              <a:rPr lang="en-US" sz="1200"/>
              <a:t>English</a:t>
            </a:r>
          </a:p>
          <a:p>
            <a:r>
              <a:rPr lang="en-US" sz="1200"/>
              <a:t>Open-source P/D has several paths, not one winner. These are examples, not a ranking. Some approaches can work together.</a:t>
            </a:r>
          </a:p>
          <a:p>
            <a:r>
              <a:rPr lang="en-US" sz="1200"/>
              <a:t>The middle column shows the serving and routing path; the right shows what users configure in Kubernetes. Dynamo, llm-d, AIBrix, KServe, Ray Serve and vLLM Production Stack offer different combinations. Declarative APIs already exist. We want simpler integration, not the first P/D CRD. For KAITO users, that means less manual configuration to maintain. Let’s start with llm-d.</a:t>
            </a:r>
          </a:p>
          <a:p>
            <a:r>
              <a:rPr lang="en-US" sz="1200"/>
              <a:t/>
            </a:r>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llm-d 在 Kubernetes 上连接推理运行时、路由和 KV 传输。它在 2026 年 3 月加入了 CNCF Sandbox。</a:t>
            </a:r>
          </a:p>
          <a:p>
            <a:r>
              <a:rPr lang="en-US" sz="1200"/>
              <a:t>Gateway API 把推理路由接入 Kubernetes。我们可以组合运行时、路由插件和 KV 传输组件。经过测试的部署模式会说明各自的取舍。重点是把现有工具连接起来，而不是替换它们。不过，仍然需要用自己的模型、硬件和流量来验证这些模式。</a:t>
            </a:r>
          </a:p>
          <a:p>
            <a:r>
              <a:rPr lang="en-US" sz="1200"/>
              <a:t/>
            </a:r>
          </a:p>
          <a:p>
            <a:r>
              <a:rPr lang="en-US" sz="1200"/>
              <a:t>English</a:t>
            </a:r>
          </a:p>
          <a:p>
            <a:r>
              <a:rPr lang="en-US" sz="1200"/>
              <a:t>llm-d connects serving runtimes, routing and KV transport on Kubernetes. It joined the CNCF Sandbox in March 2026.</a:t>
            </a:r>
          </a:p>
          <a:p>
            <a:r>
              <a:rPr lang="en-US" sz="1200"/>
              <a:t>Gateway API connects inference routing to Kubernetes. We combine runtimes, routing plugins and KV transport. Tested deployment patterns make trade-offs clear. The idea is to connect existing tools, not replace them. We still need to validate those patterns with our own models, hardware and traffic.</a:t>
            </a:r>
          </a:p>
          <a:p>
            <a:r>
              <a:rPr lang="en-US" sz="1200"/>
              <a:t/>
            </a:r>
          </a:p>
          <a:p>
            <a:r>
              <a:rPr dirty="0"/>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这里展示的是可复用的能力，不是性能保证。我们基于推理运行时来构建，而不是替换它。社区图展示的是项目历史，不是推理性能。</a:t>
            </a:r>
          </a:p>
          <a:p>
            <a:r>
              <a:rPr lang="en-US" sz="1200"/>
              <a:t>专家并行把专家计算分布到多张 GPU 上。P/D 把两个阶段拆开，并在角色之间传输 KV。路由插件根据缓存和负载信号选择 worker。工作负载信号和 SLO 用于指导容量，但具体策略由各个集成方案决定。选择哪个 worker，和增加多少 worker，是两个不同的决策。</a:t>
            </a:r>
          </a:p>
          <a:p>
            <a:r>
              <a:rPr lang="en-US" sz="1200"/>
              <a:t/>
            </a:r>
          </a:p>
          <a:p>
            <a:r>
              <a:rPr lang="en-US" sz="1200"/>
              <a:t>English</a:t>
            </a:r>
          </a:p>
          <a:p>
            <a:r>
              <a:rPr lang="en-US" sz="1200"/>
              <a:t>These are reusable capabilities, not a performance guarantee. We build on the serving runtime, not replace it. The community graphic shows project history, not serving performance.</a:t>
            </a:r>
          </a:p>
          <a:p>
            <a:r>
              <a:rPr lang="en-US" sz="1200"/>
              <a:t>Expert parallelism spreads expert computation across GPUs. For P/D, we separate the phases and transfer KV between roles. Routing plugins use cache and load signals to pick workers. Workload signals and SLOs guide capacity; each integration chooses its policy. Choosing a worker and adding workers are different decisions.</a:t>
            </a:r>
          </a:p>
        </p:txBody>
      </p:sp>
    </p:spTree>
    <p:extLst>
      <p:ext uri="{BB962C8B-B14F-4D97-AF65-F5344CB8AC3E}">
        <p14:creationId xmlns:p14="http://schemas.microsoft.com/office/powerpoint/2010/main" val="3281151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llm-d 把这些叫作“well-lit paths”，也就是说明取舍、经过测试的部署模式。请求应该在哪里运行？可复用的状态应该放在哪里？大型 MoE 模型应该怎样执行？提示词处理和生成阶段的容量应该怎样分别配置？</a:t>
            </a:r>
          </a:p>
          <a:p>
            <a:r>
              <a:rPr lang="en-US" sz="1200"/>
              <a:t>这些模式可以组合，但不必一次用上全部，也不保证在所有硬件上都有相同的性能。今天我们聚焦 P/D 拆分，再用 KAITO 管理这些工作负载。</a:t>
            </a:r>
          </a:p>
          <a:p>
            <a:r>
              <a:rPr lang="en-US" sz="1200"/>
              <a:t/>
            </a:r>
          </a:p>
          <a:p>
            <a:r>
              <a:rPr lang="en-US" sz="1200"/>
              <a:t>English</a:t>
            </a:r>
          </a:p>
          <a:p>
            <a:r>
              <a:rPr lang="en-US" sz="1200"/>
              <a:t>llm-d calls these “well-lit paths”: tested deployment patterns that explain the trade-offs. Where should this request run? Where should reusable state live? How should a large MoE model execute? How should prompt and generation capacity differ?</a:t>
            </a:r>
          </a:p>
          <a:p>
            <a:r>
              <a:rPr lang="en-US" sz="1200"/>
              <a:t>These paths can work together, but we don’t need all of them at once. They do not guarantee the same performance on every hardware setup. Today we’ll focus on P/D disaggregation, then use KAITO to manage the workloads.</a:t>
            </a:r>
          </a:p>
        </p:txBody>
      </p:sp>
    </p:spTree>
    <p:extLst>
      <p:ext uri="{BB962C8B-B14F-4D97-AF65-F5344CB8AC3E}">
        <p14:creationId xmlns:p14="http://schemas.microsoft.com/office/powerpoint/2010/main" val="19007602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rPr lang="en-US" sz="1200"/>
              <a:t>Speaker script</a:t>
            </a:r>
          </a:p>
          <a:p>
            <a:r>
              <a:rPr lang="en-US" sz="1200"/>
              <a:t>中文</a:t>
            </a:r>
          </a:p>
          <a:p>
            <a:r>
              <a:rPr lang="en-US" sz="1200"/>
              <a:t>KAITO 通过 Kubernetes Operator 自动化大模型推理、微调和 RAG。它是一个 CNCF Sandbox 项目。</a:t>
            </a:r>
          </a:p>
          <a:p>
            <a:r>
              <a:rPr lang="en-US" sz="1200"/>
              <a:t>先选择模型和 GPU。KAITO 根据模型内存需求配置节点，完成模型准备和缓存，并管理 InferenceSet 和滚动更新。KEDA 负责工作负载扩缩容。llm-d 提供服务组件，KAITO 部署和管理模型工作负载。你声明期望状态，KAITO 持续让工作负载保持这个状态。接下来看这个声明是什么样。</a:t>
            </a:r>
          </a:p>
          <a:p>
            <a:r>
              <a:rPr lang="en-US" sz="1200"/>
              <a:t/>
            </a:r>
          </a:p>
          <a:p>
            <a:r>
              <a:rPr lang="en-US" sz="1200"/>
              <a:t>English</a:t>
            </a:r>
          </a:p>
          <a:p>
            <a:r>
              <a:rPr lang="en-US" sz="1200"/>
              <a:t>KAITO automates LLM inference, fine-tuning and RAG with Kubernetes operators. It is a CNCF Sandbox project.</a:t>
            </a:r>
          </a:p>
          <a:p>
            <a:r>
              <a:rPr lang="en-US" sz="1200"/>
              <a:t>Choose a model and GPU. KAITO sizes nodes for model memory. It sets up and caches models. It manages InferenceSets and rolling updates. KEDA scales the workload. llm-d provides serving components; KAITO deploys and manages model workloads. You declare the desired state, and KAITO keeps the workload in that state. Next, let’s look at that declaration.</a:t>
            </a:r>
          </a:p>
          <a:p>
            <a:r>
              <a:rPr lang="en-US" sz="1200"/>
              <a:t/>
            </a:r>
          </a:p>
          <a:p>
            <a:r>
              <a:rPr dirty="0"/>
              <a:t>References</a:t>
            </a:r>
          </a:p>
          <a:p>
            <a:r>
              <a:rPr dirty="0"/>
              <a:t>https://www.cncf.io/projects/kaito/</a:t>
            </a:r>
          </a:p>
          <a:p>
            <a:r>
              <a:rPr dirty="0"/>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我们声明模型、GPU 实例类型和副本数。这个 InferenceSet 使用 Qwen3-Coder-30B-A3B-Instruct、Standard_NC24ads_A100_v4，以及三个副本。标签用来识别相关的工作负载。</a:t>
            </a:r>
          </a:p>
          <a:p>
            <a:r>
              <a:rPr lang="en-US" sz="1200"/>
              <a:t>三个副本不一定等于三张 GPU；每个副本需要多少 GPU 和节点，取决于模型及运行时设置。KAITO 会持续让实际资源与这个期望状态保持一致。接下来，它怎样算出每个副本需要多少资源？</a:t>
            </a:r>
          </a:p>
          <a:p>
            <a:r>
              <a:rPr lang="en-US" sz="1200"/>
              <a:t/>
            </a:r>
          </a:p>
          <a:p>
            <a:r>
              <a:rPr lang="en-US" sz="1200"/>
              <a:t>English</a:t>
            </a:r>
          </a:p>
          <a:p>
            <a:r>
              <a:rPr lang="en-US" sz="1200"/>
              <a:t>We declare the model, GPU instance type and replica count. This InferenceSet uses Qwen3-Coder-30B-A3B-Instruct, Standard_NC24ads_A100_v4 and three replicas. The labels identify the related workloads.</a:t>
            </a:r>
          </a:p>
          <a:p>
            <a:r>
              <a:rPr lang="en-US" sz="1200"/>
              <a:t>Three replicas does not necessarily mean three GPUs; each replica’s GPU and node needs depend on the model and runtime settings. KAITO keeps the actual resources in sync with this desired state. Next, how does it work out what each replica needs?</a:t>
            </a:r>
          </a:p>
        </p:txBody>
      </p:sp>
    </p:spTree>
    <p:extLst>
      <p:ext uri="{BB962C8B-B14F-4D97-AF65-F5344CB8AC3E}">
        <p14:creationId xmlns:p14="http://schemas.microsoft.com/office/powerpoint/2010/main" val="14492462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选好模型和 GPU SKU，KAITO 就会估算模型需要多少节点。它先为固定开销和 KV 缓存预留显存，再用剩下的显存装模型权重。</a:t>
            </a:r>
          </a:p>
          <a:p>
            <a:r>
              <a:rPr lang="en-US" sz="1200"/>
              <a:t>结果保存在 status.targetNodeCount 中。这条多节点路径在节点内用张量并行，节点间用流水线并行。这里算的是内存需求，不是能承受多少流量；具体计算还要核对安装版本。</a:t>
            </a:r>
          </a:p>
          <a:p>
            <a:r>
              <a:rPr lang="en-US" sz="1200"/>
              <a:t/>
            </a:r>
          </a:p>
          <a:p>
            <a:r>
              <a:rPr lang="en-US" sz="1200"/>
              <a:t>English</a:t>
            </a:r>
          </a:p>
          <a:p>
            <a:r>
              <a:rPr lang="en-US" sz="1200"/>
              <a:t>Choose the model and GPU SKU. KAITO estimates how many nodes the model needs. KAITO reserves memory for overhead and KV cache, then fits the weights into the remaining GPU memory.</a:t>
            </a:r>
          </a:p>
          <a:p>
            <a:r>
              <a:rPr lang="en-US" sz="1200"/>
              <a:t>Save the result as status.targetNodeCount. This path uses tensor parallelism within nodes and pipeline parallelism across nodes. It sizes memory, not traffic capacity. Check the calculation against your installed version.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我们希望加上 P/D 路由，但不替换 KAITO 原有的 Kubernetes 管理方式。KAITO 管部署和生命周期，llm-d 负责端点选择和请求路由。阶段计算由 vLLM 执行，KV 由 NIXL 传输。</a:t>
            </a:r>
          </a:p>
          <a:p>
            <a:r>
              <a:rPr lang="en-US" sz="1200"/>
              <a:t>Workspace 和 InferenceSet 继续保留，每个角色可以有自己的副本数、GPU 类型和运行时设置。路由能力直接复用 llm-d。MultiRoleInference，简称 MRI，仍是 alpha；当前涉及 vLLM、Istio 和 GPU 间连通性，自动按角色扩缩容还需要集成。</a:t>
            </a:r>
          </a:p>
          <a:p>
            <a:r>
              <a:rPr lang="en-US" sz="1200"/>
              <a:t/>
            </a:r>
          </a:p>
          <a:p>
            <a:r>
              <a:rPr lang="en-US" sz="1200"/>
              <a:t>English</a:t>
            </a:r>
          </a:p>
          <a:p>
            <a:r>
              <a:rPr lang="en-US" sz="1200"/>
              <a:t>We want P/D routing without replacing KAITO’s Kubernetes operating model. KAITO manages deployment and lifecycle. llm-d adds endpoint selection and request routing. vLLM runs the phases, and NIXL moves KV.</a:t>
            </a:r>
          </a:p>
          <a:p>
            <a:r>
              <a:rPr lang="en-US" sz="1200"/>
              <a:t>Keep Workspace and InferenceSet. Give each role its own replicas, GPU types and runtime settings. Reuse llm-d’s P/D routing. MultiRoleInference, or MRI, is alpha: vLLM, Istio and GPU connectivity. Automatic per-role scaling still needs integration.</a:t>
            </a:r>
          </a:p>
          <a:p>
            <a:r>
              <a:rPr lang="en-US" sz="1200"/>
              <a:t/>
            </a:r>
          </a:p>
          <a:p>
            <a:r>
              <a:rPr dirty="0"/>
              <a:t>Technical reference (not part of the spoken script)</a:t>
            </a:r>
          </a:p>
          <a:p>
            <a:endParaRPr dirty="0"/>
          </a:p>
          <a:p>
            <a:r>
              <a:rPr dirty="0"/>
              <a:t>SPEAKER SCRIPT</a:t>
            </a:r>
          </a:p>
          <a:p>
            <a:endParaRPr dirty="0"/>
          </a:p>
          <a:p>
            <a:r>
              <a:rPr dirty="0"/>
              <a:t>For that goal, </a:t>
            </a:r>
            <a:r>
              <a:rPr dirty="0" err="1"/>
              <a:t>llm</a:t>
            </a:r>
            <a:r>
              <a:rPr dirty="0"/>
              <a:t>-d is a good fit. KAITO keeps deployment intent and lifecycle. </a:t>
            </a:r>
            <a:r>
              <a:rPr dirty="0" err="1"/>
              <a:t>llm</a:t>
            </a:r>
            <a:r>
              <a:rPr dirty="0"/>
              <a:t>-d contributes endpoint selection and request orchestration. </a:t>
            </a:r>
            <a:r>
              <a:rPr dirty="0" err="1"/>
              <a:t>vLLM</a:t>
            </a:r>
            <a:r>
              <a:rPr dirty="0"/>
              <a:t> and NIXL execute the phases and move the state. This is an integration choice, not a universal platform ranking. Today's documented MRI scope is alpha, with </a:t>
            </a:r>
            <a:r>
              <a:rPr dirty="0" err="1"/>
              <a:t>vLLM</a:t>
            </a:r>
            <a:r>
              <a:rPr dirty="0"/>
              <a:t>, Istio, and suitable GPU connectivity as important constraints.</a:t>
            </a:r>
          </a:p>
          <a:p>
            <a:endParaRPr dirty="0"/>
          </a:p>
          <a:p>
            <a:r>
              <a:rPr dirty="0"/>
              <a:t>REFERENCE NOTES (NOT SPOKEN)</a:t>
            </a:r>
          </a:p>
          <a:p>
            <a:endParaRPr dirty="0"/>
          </a:p>
          <a:p>
            <a:r>
              <a:rPr dirty="0"/>
              <a:t>Best fit is an architecture recommendation relative to the goal of extending KAITO, not evidence that KAITO beats every serving platform. KAITO users already have Workspace/</a:t>
            </a:r>
            <a:r>
              <a:rPr dirty="0" err="1"/>
              <a:t>InferenceSet</a:t>
            </a:r>
            <a:r>
              <a:rPr dirty="0"/>
              <a:t> APIs, model presets and infrastructure lifecycle workflows. MRI reuses that model through role-specific child </a:t>
            </a:r>
            <a:r>
              <a:rPr dirty="0" err="1"/>
              <a:t>InferenceSets</a:t>
            </a:r>
            <a:r>
              <a:rPr dirty="0"/>
              <a:t>. The documented controller creates an </a:t>
            </a:r>
            <a:r>
              <a:rPr dirty="0" err="1"/>
              <a:t>InferencePool</a:t>
            </a:r>
            <a:r>
              <a:rPr dirty="0"/>
              <a:t> and </a:t>
            </a:r>
            <a:r>
              <a:rPr dirty="0" err="1"/>
              <a:t>llm</a:t>
            </a:r>
            <a:r>
              <a:rPr dirty="0"/>
              <a:t>-d EPP, injects the decode routing sidecar, and sets </a:t>
            </a:r>
            <a:r>
              <a:rPr dirty="0" err="1"/>
              <a:t>vLLM</a:t>
            </a:r>
            <a:r>
              <a:rPr dirty="0"/>
              <a:t> NIXL side-channel configuration. </a:t>
            </a:r>
            <a:r>
              <a:rPr dirty="0" err="1"/>
              <a:t>llm</a:t>
            </a:r>
            <a:r>
              <a:rPr dirty="0"/>
              <a:t>-d contributes P/D endpoint-selection plugins and request orchestration; </a:t>
            </a:r>
            <a:r>
              <a:rPr dirty="0" err="1"/>
              <a:t>vLLM</a:t>
            </a:r>
            <a:r>
              <a:rPr dirty="0"/>
              <a:t> and NIXL execute inference and transfer KV directly between pods. The three boxes are a composition diagram, not a sequential request path. Gateway/</a:t>
            </a:r>
            <a:r>
              <a:rPr dirty="0" err="1"/>
              <a:t>HTTPRoute</a:t>
            </a:r>
            <a:r>
              <a:rPr dirty="0"/>
              <a:t>, certificates, GPU capacity and fabric setup remain platform prerequisites; do not claim MRI provisions every cluster dependency automatically. Compared with introducing another serving platform API alongside KAITO, reusing </a:t>
            </a:r>
            <a:r>
              <a:rPr dirty="0" err="1"/>
              <a:t>llm</a:t>
            </a:r>
            <a:r>
              <a:rPr dirty="0"/>
              <a:t>-d components preserves KAITO as the user-facing orchestration entry point. </a:t>
            </a:r>
            <a:r>
              <a:rPr dirty="0" err="1"/>
              <a:t>KServe</a:t>
            </a:r>
            <a:r>
              <a:rPr dirty="0"/>
              <a:t> and </a:t>
            </a:r>
            <a:r>
              <a:rPr dirty="0" err="1"/>
              <a:t>AIBrix</a:t>
            </a:r>
            <a:r>
              <a:rPr dirty="0"/>
              <a:t> are legitimate alternative orchestration platforms; Dynamo offers an integrated stack; Ray Serve fits Ray-centric applications. Existing users of those platforms need not migrate solely to obtain P/D. Documented KAITO limitations: MRI is alpha, currently </a:t>
            </a:r>
            <a:r>
              <a:rPr dirty="0" err="1"/>
              <a:t>vLLM</a:t>
            </a:r>
            <a:r>
              <a:rPr dirty="0"/>
              <a:t>-only and requires Istio plus suitable GPU-to-GPU connectivity. Independent role replica settings do not imply an automatic MRI-level autoscaling policy. The existing KEDA-</a:t>
            </a:r>
            <a:r>
              <a:rPr dirty="0" err="1"/>
              <a:t>InferenceSet</a:t>
            </a:r>
            <a:r>
              <a:rPr dirty="0"/>
              <a:t> capability and proposed MRI policy UX are discussed later. No throughput, latency, cost, hardware-portability or superiority claim is made. Sources checked 2026-10-20.</a:t>
            </a:r>
          </a:p>
          <a:p>
            <a:endParaRPr dirty="0"/>
          </a:p>
          <a:p>
            <a:r>
              <a:rPr dirty="0"/>
              <a:t>References</a:t>
            </a:r>
          </a:p>
          <a:p>
            <a:r>
              <a:rPr dirty="0"/>
              <a:t>https://kaito-project.github.io/kaito/docs/prefill-decode-disaggregation</a:t>
            </a:r>
          </a:p>
          <a:p>
            <a:r>
              <a:rPr dirty="0"/>
              <a:t>https://kaito-project.github.io/kaito/docs/keda-autoscaler-inference</a:t>
            </a:r>
          </a:p>
          <a:p>
            <a:r>
              <a:rPr dirty="0"/>
              <a:t>https://llm-d.ai/docs/architecture</a:t>
            </a:r>
          </a:p>
          <a:p>
            <a:r>
              <a:rPr dirty="0"/>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这张图讲的是职责分工，不是必须全部安装的组件清单。应用调用推理 API，网关处理入口、认证和流量策略。KAITO 管生命周期，llm-d 选端点。</a:t>
            </a:r>
          </a:p>
          <a:p>
            <a:r>
              <a:rPr lang="en-US" sz="1200"/>
              <a:t>vLLM 执行 prefill、decode 和批处理。NIXL 传 KV，缓存系统负责复用或卸载。底层基础设施支撑整个系统。接下来我们沿着角色、请求路由、KV 传输和容量控制往下看。</a:t>
            </a:r>
          </a:p>
          <a:p>
            <a:r>
              <a:rPr lang="en-US" sz="1200"/>
              <a:t/>
            </a:r>
          </a:p>
          <a:p>
            <a:r>
              <a:rPr lang="en-US" sz="1200"/>
              <a:t>English</a:t>
            </a:r>
          </a:p>
          <a:p>
            <a:r>
              <a:rPr lang="en-US" sz="1200"/>
              <a:t>This is a map of responsibilities, not a required installation checklist. Applications call the inference API. The gateway handles ingress, auth and traffic policy. KAITO manages lifecycle; llm-d selects endpoints.</a:t>
            </a:r>
          </a:p>
          <a:p>
            <a:r>
              <a:rPr lang="en-US" sz="1200"/>
              <a:t>vLLM runs prefill, decode and batching. NIXL moves KV; cache systems reuse or offload it. The infrastructure supports the stack. We will follow the roles, request routing, KV transfer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把两个角色一起声明，但把编排和执行分开。同一个模型对外只有一个入口，prefill 和 decode 各自设置部署位置和副本数。</a:t>
            </a:r>
          </a:p>
          <a:p>
            <a:r>
              <a:rPr lang="en-US" sz="1200"/>
              <a:t>KAITO 维护角色拓扑，InferencePool 对接网关。llm-d 选 worker 并协调请求，vLLM 执行计算，NIXL 传输 KV。同一个服务协调 P/D 请求，但两个角色保留各自的容量设置。</a:t>
            </a:r>
          </a:p>
          <a:p>
            <a:r>
              <a:rPr lang="en-US" sz="1200"/>
              <a:t/>
            </a:r>
          </a:p>
          <a:p>
            <a:r>
              <a:rPr lang="en-US" sz="1200"/>
              <a:t>English</a:t>
            </a:r>
          </a:p>
          <a:p>
            <a:r>
              <a:rPr lang="en-US" sz="1200"/>
              <a:t>Declare both roles together. Keep orchestration separate from execution. Serve one model through one endpoint. Give prefill and decode their own placement and replica counts.</a:t>
            </a:r>
          </a:p>
          <a:p>
            <a:r>
              <a:rPr lang="en-US" sz="1200"/>
              <a:t>KAITO maintains the role topology. InferencePool links to the gateway. llm-d selects workers and coordinates requests. vLLM runs the phases; NIXL transfers KV. One service coordinates P/D requests, while each role keeps its own capacity settings.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Endpoint Picker 负责选 worker，vLLM 才真正执行推理。网关向 EPP 请求决策，得到 decode worker；需要远端 prefill 时，也会选择 prefill worker。</a:t>
            </a:r>
          </a:p>
          <a:p>
            <a:r>
              <a:rPr lang="en-US" sz="1200"/>
              <a:t>按角色选 worker，把 KV 感知和 P/D 感知插件组合起来，新的策略也通过插件扩展。KAITO 复用 llm-d 的路由决策，而不是再造一套路由引擎。</a:t>
            </a:r>
          </a:p>
          <a:p>
            <a:r>
              <a:rPr lang="en-US" sz="1200"/>
              <a:t/>
            </a:r>
          </a:p>
          <a:p>
            <a:r>
              <a:rPr lang="en-US" sz="1200"/>
              <a:t>English</a:t>
            </a:r>
          </a:p>
          <a:p>
            <a:r>
              <a:rPr lang="en-US" sz="1200"/>
              <a:t>The Endpoint Picker selects workers. vLLM executes the inference phases. The gateway asks the EPP for a decision: a decode worker, and a prefill worker when remote prefill is needed.</a:t>
            </a:r>
          </a:p>
          <a:p>
            <a:r>
              <a:rPr lang="en-US" sz="1200"/>
              <a:t>Choose workers for prefill and decode. Combine KV-aware and P/D-aware plugins. Add new policies through plugins. KAITO reuses llm-d’s routing decisions instead of building a second routing engine.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KAITO 管资源，HTTP 传请求，NIXL 在运行时之间传 KV。先看上面：KAITO 维护两个角色的 InferenceSet、InferencePool 和运行时连接配置。</a:t>
            </a:r>
          </a:p>
          <a:p>
            <a:r>
              <a:rPr lang="en-US" sz="1200"/>
              <a:t>请求到来时，网关先咨询 EPP，再转发给选中的 decode sidecar。sidecar 按需调用远端 prefill，再调用本地 decode。客户端只用一个入口，KV 数据则绕过网关、EPP 和路由 sidecar。</a:t>
            </a:r>
          </a:p>
          <a:p>
            <a:r>
              <a:rPr lang="en-US" sz="1200"/>
              <a:t/>
            </a:r>
          </a:p>
          <a:p>
            <a:r>
              <a:rPr lang="en-US" sz="1200"/>
              <a:t>English</a:t>
            </a:r>
          </a:p>
          <a:p>
            <a:r>
              <a:rPr lang="en-US" sz="1200"/>
              <a:t>KAITO manages resources. HTTP carries requests. NIXL moves KV between runtimes. Start at the top: KAITO maintains the role InferenceSets, InferencePool and runtime wiring.</a:t>
            </a:r>
          </a:p>
          <a:p>
            <a:r>
              <a:rPr lang="en-US" sz="1200"/>
              <a:t>For a request, the gateway consults the EPP, then forwards to the selected decode sidecar. The sidecar calls remote prefill when needed and local decode. The client uses one endpoint. KV data bypasses the gateway, EPP and routing sidecar.</a:t>
            </a:r>
          </a:p>
          <a:p>
            <a:r>
              <a:rPr lang="en-US" sz="1200"/>
              <a:t/>
            </a:r>
          </a:p>
          <a:p>
            <a:r>
              <a:rPr dirty="0"/>
              <a:t>Technical reference (not part of the spoken script)</a:t>
            </a:r>
          </a:p>
          <a:p>
            <a:endParaRPr dirty="0"/>
          </a:p>
          <a:p>
            <a:r>
              <a:rPr dirty="0"/>
              <a:t>The upper band is resource ownership, not traffic. The gateway consults the </a:t>
            </a:r>
            <a:r>
              <a:rPr dirty="0" err="1"/>
              <a:t>llm</a:t>
            </a:r>
            <a:r>
              <a:rPr dirty="0"/>
              <a:t>-d Router EPP through the </a:t>
            </a:r>
            <a:r>
              <a:rPr dirty="0" err="1"/>
              <a:t>InferencePool</a:t>
            </a:r>
            <a:r>
              <a:rPr dirty="0"/>
              <a:t>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a:t>
            </a:r>
            <a:r>
              <a:rPr dirty="0" err="1"/>
              <a:t>InferenceSets</a:t>
            </a:r>
            <a:r>
              <a:rPr dirty="0"/>
              <a:t>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一个 MultiRoleInference 声明两个角色。这个例子把一个 prefill 副本放在 A100 上，把两个 decode 副本放在 H100 上。YAML 声明模型和各角色的设置。</a:t>
            </a:r>
          </a:p>
          <a:p>
            <a:r>
              <a:rPr lang="en-US" sz="1200"/>
              <a:t>右侧仍然是一个逻辑服务和一个 InferencePool。两个角色服务同一个模型，但各有自己的 InferenceSet 和容量设置。这里的模型和 SKU 值是示例，没有经过部署验证。</a:t>
            </a:r>
          </a:p>
          <a:p>
            <a:r>
              <a:rPr lang="en-US" sz="1200"/>
              <a:t/>
            </a:r>
          </a:p>
          <a:p>
            <a:r>
              <a:rPr lang="en-US" sz="1200"/>
              <a:t>English</a:t>
            </a:r>
          </a:p>
          <a:p>
            <a:r>
              <a:rPr lang="en-US" sz="1200"/>
              <a:t>One MultiRoleInference declares both roles. This example puts one prefill replica on A100 and two decode replicas on H100. The YAML declares the model and the settings for each role.</a:t>
            </a:r>
          </a:p>
          <a:p>
            <a:r>
              <a:rPr lang="en-US" sz="1200"/>
              <a:t>On the right, we still have one logical service and InferencePool. Both roles serve the same model. Each has its own InferenceSet and capacity settings. The model and SKU values are illustrative, not deployment-validated.</a:t>
            </a:r>
          </a:p>
          <a:p>
            <a:r>
              <a:rPr lang="en-US" sz="1200"/>
              <a:t/>
            </a:r>
          </a:p>
          <a:p>
            <a:r>
              <a:rPr dirty="0"/>
              <a:t>Technical reference (not part of the spoken script)</a:t>
            </a:r>
          </a:p>
          <a:p>
            <a:endParaRPr dirty="0"/>
          </a:p>
          <a:p>
            <a:r>
              <a:rPr dirty="0"/>
              <a:t>User-supplied example: kaito.sh/v1alpha1 </a:t>
            </a:r>
            <a:r>
              <a:rPr dirty="0" err="1"/>
              <a:t>MultiRoleInference</a:t>
            </a:r>
            <a:r>
              <a:rPr dirty="0"/>
              <a:t> named qwen-3-8-27b, model Qwen/Qwen3.8-27B. The prefill role has replicas: 1 and </a:t>
            </a:r>
            <a:r>
              <a:rPr dirty="0" err="1"/>
              <a:t>instanceType</a:t>
            </a:r>
            <a:r>
              <a:rPr dirty="0"/>
              <a:t>: Standard_NC24ads_A100_v4; the decode role has replicas: 2 and </a:t>
            </a:r>
            <a:r>
              <a:rPr dirty="0" err="1"/>
              <a:t>instanceType</a:t>
            </a:r>
            <a:r>
              <a:rPr dirty="0"/>
              <a:t>: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a:t>
            </a:r>
            <a:r>
              <a:rPr dirty="0" err="1"/>
              <a:t>InferenceSet</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KAITO 把声明的拓扑变成 worker、路由资源和运行时配置。prefill 这边设置角色标签以及 NIXL 主机地址或 Pod IP；decode 这边注入 sidecar，并对齐 NIXL 和 vLLM 端口。</a:t>
            </a:r>
          </a:p>
          <a:p>
            <a:r>
              <a:rPr lang="en-US" sz="1200"/>
              <a:t>路由这边把 Service、端口和端点选择连起来。所有资源的归属、角色、标签、端口和生命周期要保持一致。KAITO 不只是生成 YAML，还要让这些资源持续协同工作。</a:t>
            </a:r>
          </a:p>
          <a:p>
            <a:r>
              <a:rPr lang="en-US" sz="1200"/>
              <a:t/>
            </a:r>
          </a:p>
          <a:p>
            <a:r>
              <a:rPr lang="en-US" sz="1200"/>
              <a:t>English</a:t>
            </a:r>
          </a:p>
          <a:p>
            <a:r>
              <a:rPr lang="en-US" sz="1200"/>
              <a:t>KAITO turns the declared topology into workers, routing resources and runtime wiring. For prefill, set role labels and the NIXL host or Pod IP. For decode, inject the sidecar. Align NIXL and vLLM ports.</a:t>
            </a:r>
          </a:p>
          <a:p>
            <a:r>
              <a:rPr lang="en-US" sz="1200"/>
              <a:t>For routing, connect Services, ports and endpoint selection. Keep ownership, roles, labels, ports and lifecycle consistent. KAITO keeps the resources working together; it does not just generate YAML.</a:t>
            </a:r>
          </a:p>
          <a:p>
            <a:r>
              <a:rPr lang="en-US" sz="1200"/>
              <a:t/>
            </a:r>
          </a:p>
          <a:p>
            <a:r>
              <a:rPr dirty="0"/>
              <a:t>Technical reference (not part of the spoken script)</a:t>
            </a:r>
          </a:p>
          <a:p>
            <a:endParaRPr dirty="0"/>
          </a:p>
          <a:p>
            <a:r>
              <a:rPr dirty="0"/>
              <a:t>The dashed tree is a resource and responsibility map, not an exact claim that every depicted object is a direct Kubernetes child of the </a:t>
            </a:r>
            <a:r>
              <a:rPr dirty="0" err="1"/>
              <a:t>MultiRoleInference</a:t>
            </a:r>
            <a:r>
              <a:rPr dirty="0"/>
              <a:t>.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sidecar 按需调用远端 prefill，再调用本地 decode。重点看第三到第六步：prefill 返回的是远端 KV 参数，不是 KV 数据本身。sidecar 把这些参数交给本地 decode。</a:t>
            </a:r>
          </a:p>
          <a:p>
            <a:r>
              <a:rPr lang="en-US" sz="1200"/>
              <a:t>decode 发起 NIXL 读取，数据从 prefill 流向 decode。响应经过 sidecar 和网关返回。sidecar 传递调用和 KV 元数据，真正的 KV 数据由两个运行时直接传输。</a:t>
            </a:r>
          </a:p>
          <a:p>
            <a:r>
              <a:rPr lang="en-US" sz="1200"/>
              <a:t/>
            </a:r>
          </a:p>
          <a:p>
            <a:r>
              <a:rPr lang="en-US" sz="1200"/>
              <a:t>English</a:t>
            </a:r>
          </a:p>
          <a:p>
            <a:r>
              <a:rPr lang="en-US" sz="1200"/>
              <a:t>The sidecar calls remote prefill when needed, then invokes local decode. Follow steps three to six: prefill returns remote KV parameters, not the KV payload. The sidecar passes those parameters to local decode.</a:t>
            </a:r>
          </a:p>
          <a:p>
            <a:r>
              <a:rPr lang="en-US" sz="1200"/>
              <a:t>Decode initiates the NIXL read; the data moves from prefill to decode. The response returns through the sidecar and gateway. The sidecar passes calls and KV metadata. The runtimes transfer the actual KV data.</a:t>
            </a:r>
          </a:p>
          <a:p>
            <a:r>
              <a:rPr lang="en-US" sz="1200"/>
              <a:t/>
            </a:r>
          </a:p>
          <a:p>
            <a:r>
              <a:rPr dirty="0"/>
              <a:t>Technical reference (not part of the spoken script)</a:t>
            </a:r>
          </a:p>
          <a:p>
            <a:endParaRPr dirty="0"/>
          </a:p>
          <a:p>
            <a:r>
              <a:rPr dirty="0"/>
              <a:t>Based on </a:t>
            </a:r>
            <a:r>
              <a:rPr dirty="0" err="1"/>
              <a:t>llm</a:t>
            </a:r>
            <a:r>
              <a:rPr dirty="0"/>
              <a:t>-d-router docs/</a:t>
            </a:r>
            <a:r>
              <a:rPr dirty="0" err="1"/>
              <a:t>disaggregation.md#pd-sequence</a:t>
            </a:r>
            <a:r>
              <a:rPr dirty="0"/>
              <a:t>. Step 2 follows EPP selection; the EPP consultation is omitted from this sequence and shown on slide 26. Step 4 returns transfer metadata, not the KV payload. Step 5 carries </a:t>
            </a:r>
            <a:r>
              <a:rPr dirty="0" err="1"/>
              <a:t>remote_prefill</a:t>
            </a:r>
            <a:r>
              <a:rPr dirty="0"/>
              <a:t>=true,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dirty="0"/>
          </a:p>
          <a:p>
            <a:r>
              <a:rPr dirty="0"/>
              <a:t>References</a:t>
            </a:r>
          </a:p>
          <a:p>
            <a:r>
              <a:rPr dirty="0"/>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200"/>
              <a:t>Speaker script</a:t>
            </a:r>
          </a:p>
          <a:p>
            <a:r>
              <a:rPr lang="en-US" sz="1200"/>
              <a:t>中文</a:t>
            </a:r>
          </a:p>
          <a:p>
            <a:r>
              <a:rPr lang="en-US" sz="1200"/>
              <a:t>KV 在两个运行时之间传输，不经过网关或路由 sidecar。prefill 在 GPU 显存中生成 KV，decode 复用这些 KV 继续生成 token。NIXL 使用具体的传输后端，读取可以由 decode 发起。</a:t>
            </a:r>
          </a:p>
          <a:p>
            <a:r>
              <a:rPr lang="en-US" sz="1200"/>
              <a:t>GPU-direct RDMA 需要 GPU、网卡、网络和后端都支持。TCP 路径不是 RDMA，要在实际部署里测传输延迟和中转开销。接下来我们看容量。</a:t>
            </a:r>
          </a:p>
          <a:p>
            <a:r>
              <a:rPr lang="en-US" sz="1200"/>
              <a:t/>
            </a:r>
          </a:p>
          <a:p>
            <a:r>
              <a:rPr lang="en-US" sz="1200"/>
              <a:t>English</a:t>
            </a:r>
          </a:p>
          <a:p>
            <a:r>
              <a:rPr lang="en-US" sz="1200"/>
              <a:t>KV moves between runtimes, not through the gateway or routing sidecar. Prefill builds KV in GPU memory. Decode reuses KV to keep generating. NIXL uses a transport backend. Decode may initiate the read.</a:t>
            </a:r>
          </a:p>
          <a:p>
            <a:r>
              <a:rPr lang="en-US" sz="1200"/>
              <a:t>GPU-direct RDMA needs a supported GPU, NIC, fabric and backend. A TCP path is not RDMA. Measure transfer latency and staging cost on your deployment. Next, let’s look at capacity.</a:t>
            </a:r>
          </a:p>
        </p:txBody>
      </p:sp>
    </p:spTree>
    <p:extLst>
      <p:ext uri="{BB962C8B-B14F-4D97-AF65-F5344CB8AC3E}">
        <p14:creationId xmlns:p14="http://schemas.microsoft.com/office/powerpoint/2010/main" val="23366575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我们提出的思路是：prefill 和 decode 分别决定自己需要多少容量。信号要反映各角色的负载，阈值则要根据延迟目标来调。</a:t>
            </a:r>
          </a:p>
          <a:p>
            <a:r>
              <a:rPr lang="en-US" sz="1200"/>
              <a:t>prefill 要保护首 token 延迟，可以先看 vLLM 的等待请求数，再验证阈值。decode 要维持稳定的 token 输出，可以先看运行中的请求数，再验证阈值。这些计数反映负载，不直接等于延迟或 GPU 饱和度。</a:t>
            </a:r>
          </a:p>
          <a:p>
            <a:r>
              <a:rPr lang="en-US" sz="1200"/>
              <a:t/>
            </a:r>
          </a:p>
          <a:p>
            <a:r>
              <a:rPr lang="en-US" sz="1200"/>
              <a:t>English</a:t>
            </a:r>
          </a:p>
          <a:p>
            <a:r>
              <a:rPr lang="en-US" sz="1200"/>
              <a:t>Proposed approach: let prefill and decode make separate capacity decisions. Match signals to each role’s load. Tune thresholds against latency targets.</a:t>
            </a:r>
          </a:p>
          <a:p>
            <a:r>
              <a:rPr lang="en-US" sz="1200"/>
              <a:t>Prefill needs to protect time to first token. Start with vLLM waiting requests. Decode needs to sustain steady token delivery. Start with vLLM running requests. These counts indicate load, not latency or GPU saturation.</a:t>
            </a:r>
          </a:p>
          <a:p>
            <a:r>
              <a:rPr lang="en-US" sz="1200"/>
              <a:t/>
            </a:r>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现在 KEDA 已经可以扩缩 InferenceSet。KAITO 文档里有定时扩缩和基于指标的扩缩示例。KEDA 和 HPA 修改 InferenceSet 的副本数，KAITO 再调整实际的服务资源。</a:t>
            </a:r>
          </a:p>
          <a:p>
            <a:r>
              <a:rPr lang="en-US" sz="1200"/>
              <a:t>其中一个例子用 vllm:num_requests_waiting 观察队列。KEDA 需要单独安装。这是已有的扩缩机制，还不是完整的 MRI 策略。扩缩的单位是完整的服务副本，不是张量并行组里的单个 worker。</a:t>
            </a:r>
          </a:p>
          <a:p>
            <a:r>
              <a:rPr lang="en-US" sz="1200"/>
              <a:t/>
            </a:r>
          </a:p>
          <a:p>
            <a:r>
              <a:rPr lang="en-US" sz="1200"/>
              <a:t>English</a:t>
            </a:r>
          </a:p>
          <a:p>
            <a:r>
              <a:rPr lang="en-US" sz="1200"/>
              <a:t>Today, KEDA scales an InferenceSet. KAITO documents scheduled scaling and metric-based scaling with KEDA. KEDA and HPA set replicas on the InferenceSet. KAITO adjusts serving resources.</a:t>
            </a:r>
          </a:p>
          <a:p>
            <a:r>
              <a:rPr lang="en-US" sz="1200"/>
              <a:t>One example watches queues, using vllm:num_requests_waiting. KEDA is installed separately. This is the existing scaling mechanism, not a finished MRI policy. Scale the complete serving replica, not an individual tensor-parallel worker.</a:t>
            </a:r>
          </a:p>
          <a:p>
            <a:r>
              <a:rPr lang="en-US" sz="1200"/>
              <a:t/>
            </a:r>
          </a:p>
          <a:p>
            <a:r>
              <a:rPr dirty="0"/>
              <a:t>Technical reference (not part of the spoken script)</a:t>
            </a:r>
          </a:p>
          <a:p>
            <a:endParaRPr dirty="0"/>
          </a:p>
          <a:p>
            <a:r>
              <a:rPr dirty="0"/>
              <a:t>KEDA is installed separately. The KAITO documentation shows Cron and Prometheus triggers with a </a:t>
            </a:r>
            <a:r>
              <a:rPr dirty="0" err="1"/>
              <a:t>ScaledObject</a:t>
            </a:r>
            <a:r>
              <a:rPr dirty="0"/>
              <a:t> </a:t>
            </a:r>
            <a:r>
              <a:rPr dirty="0" err="1"/>
              <a:t>scaleTargetRef</a:t>
            </a:r>
            <a:r>
              <a:rPr dirty="0"/>
              <a:t> pointing to a kaito.sh </a:t>
            </a:r>
            <a:r>
              <a:rPr dirty="0" err="1"/>
              <a:t>InferenceSet</a:t>
            </a:r>
            <a:r>
              <a:rPr dirty="0"/>
              <a:t>. The controller reconciles the desired replicas into serving resources. The queue metric example is real; it does not establish native per-role MRI autoscaling policy.</a:t>
            </a:r>
          </a:p>
          <a:p>
            <a:endParaRPr dirty="0"/>
          </a:p>
          <a:p>
            <a:r>
              <a:rPr dirty="0"/>
              <a:t>References</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rPr lang="en-US" sz="1200"/>
              <a:t>Speaker script</a:t>
            </a:r>
          </a:p>
          <a:p>
            <a:r>
              <a:rPr lang="en-US" sz="1200"/>
              <a:t>中文</a:t>
            </a:r>
          </a:p>
          <a:p>
            <a:r>
              <a:rPr lang="en-US" sz="1200"/>
              <a:t>这个 scaler 直接读取 vLLM 指标，不需要 Prometheus。它可以使用队列和延迟信号，保守地调整副本数，也可以用 AND 组合条件。</a:t>
            </a:r>
          </a:p>
          <a:p>
            <a:r>
              <a:rPr lang="en-US" sz="1200"/>
              <a:t>AND 能减少不必要的扩缩，也可能延迟补充容量。要核对安装的 scaler 版本，并针对模型测试策略。它面向 InferenceSet；分别用于 MRI 的两个角色，还需要集成。</a:t>
            </a:r>
          </a:p>
          <a:p>
            <a:r>
              <a:rPr lang="en-US" sz="1200"/>
              <a:t/>
            </a:r>
          </a:p>
          <a:p>
            <a:r>
              <a:rPr lang="en-US" sz="1200"/>
              <a:t>English</a:t>
            </a:r>
          </a:p>
          <a:p>
            <a:r>
              <a:rPr lang="en-US" sz="1200"/>
              <a:t>Read vLLM metrics directly, without Prometheus. Use queue and latency signals. Take conservative replica steps. Combine conditions with AND.</a:t>
            </a:r>
          </a:p>
          <a:p>
            <a:r>
              <a:rPr lang="en-US" sz="1200"/>
              <a:t>AND can reduce unnecessary scaling, but it can also delay capacity. Check the installed scaler version and test the policy for your model. This works with InferenceSet; applying it separately to MRI roles still needs integration.</a:t>
            </a:r>
          </a:p>
        </p:txBody>
      </p:sp>
    </p:spTree>
    <p:extLst>
      <p:ext uri="{BB962C8B-B14F-4D97-AF65-F5344CB8AC3E}">
        <p14:creationId xmlns:p14="http://schemas.microsoft.com/office/powerpoint/2010/main" val="31905224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让 prefill 和 decode 独立扩缩。这是设计方案：每个角色有自己的信号、阈值和副本目标。prefill 看等待请求数，调整自己的 InferenceSet；decode 看运行中请求数，调整自己的 InferenceSet。</a:t>
            </a:r>
          </a:p>
          <a:p>
            <a:r>
              <a:rPr lang="en-US" sz="1200"/>
              <a:t>每个目标只能有一个副本数控制方。要留出模型预热时间，避免频繁变化，并安全缩容。核心是容量决策独立，KEDA 和 HPA 只是实现方式之一。</a:t>
            </a:r>
          </a:p>
          <a:p>
            <a:r>
              <a:rPr lang="en-US" sz="1200"/>
              <a:t/>
            </a:r>
          </a:p>
          <a:p>
            <a:r>
              <a:rPr lang="en-US" sz="1200"/>
              <a:t>English</a:t>
            </a:r>
          </a:p>
          <a:p>
            <a:r>
              <a:rPr lang="en-US" sz="1200"/>
              <a:t>Let prefill and decode scale independently. Proposed design: each role gets its own signal, threshold and replica target. Prefill watches waiting requests and scales its InferenceSet. Decode watches running requests and scales its InferenceSet.</a:t>
            </a:r>
          </a:p>
          <a:p>
            <a:r>
              <a:rPr lang="en-US" sz="1200"/>
              <a:t>Give each target one owner. Allow warm-up time, stabilize changes and scale down safely. Independent capacity decisions are the goal; KEDA and HPA are one way to implement them.</a:t>
            </a:r>
          </a:p>
          <a:p>
            <a:r>
              <a:rPr lang="en-US" sz="1200"/>
              <a:t/>
            </a:r>
          </a:p>
          <a:p>
            <a:r>
              <a:rPr dirty="0"/>
              <a:t>Technical reference (not part of the spoken script)</a:t>
            </a:r>
          </a:p>
          <a:p>
            <a:endParaRPr dirty="0"/>
          </a:p>
          <a:p>
            <a:r>
              <a:rPr dirty="0"/>
              <a:t>Conceptual two-loop design. A KEDA deployment can use one </a:t>
            </a:r>
            <a:r>
              <a:rPr dirty="0" err="1"/>
              <a:t>ScaledObject</a:t>
            </a:r>
            <a:r>
              <a:rPr dirty="0"/>
              <a:t> per target </a:t>
            </a:r>
            <a:r>
              <a:rPr dirty="0" err="1"/>
              <a:t>InferenceSet</a:t>
            </a:r>
            <a:r>
              <a:rPr dirty="0"/>
              <a:t>. Native </a:t>
            </a:r>
            <a:r>
              <a:rPr dirty="0" err="1"/>
              <a:t>vLLM</a:t>
            </a:r>
            <a:r>
              <a:rPr dirty="0"/>
              <a:t> waiting and running request gauges supply role-specific signals. Do not install conflicting </a:t>
            </a:r>
            <a:r>
              <a:rPr dirty="0" err="1"/>
              <a:t>autoscalers</a:t>
            </a:r>
            <a:r>
              <a:rPr dirty="0"/>
              <a:t> for one target. Metric aggregation, freshness, model warm-up and safe scale-down require verification. The following slides explain policy and signal choices independently of the configuration API.</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一个服务可以分别扩缩两个角色。这里提出的设计是：先定服务目标，再给每个角色自己的扩缩策略。既要保护 prompt 延迟，也要让 token 持续输出。两个角色分别设目标。</a:t>
            </a:r>
          </a:p>
          <a:p>
            <a:r>
              <a:rPr lang="en-US" sz="1200"/>
              <a:t>prefill 应用自己的策略，decode 也应用自己的策略。扩缩的单位是完整的服务副本，不是张量并行中的单个 worker。把服务目标映射成策略，并安全交接副本数控制权，仍需要 MRI 集成。</a:t>
            </a:r>
          </a:p>
          <a:p>
            <a:r>
              <a:rPr lang="en-US" sz="1200"/>
              <a:t/>
            </a:r>
          </a:p>
          <a:p>
            <a:r>
              <a:rPr lang="en-US" sz="1200"/>
              <a:t>English</a:t>
            </a:r>
          </a:p>
          <a:p>
            <a:r>
              <a:rPr lang="en-US" sz="1200"/>
              <a:t>One service can scale its two roles separately. Proposed design: set service goals, then give each role its own scaling policy. Protect prompt latency. Keep tokens flowing. Set separate role targets.</a:t>
            </a:r>
          </a:p>
          <a:p>
            <a:r>
              <a:rPr lang="en-US" sz="1200"/>
              <a:t>Apply the prefill policy. Apply the decode policy. Scale a complete serving replica—not an individual tensor-parallel worker. Mapping service goals to those policies and handing over replica ownership still require MRI integration.</a:t>
            </a:r>
          </a:p>
          <a:p>
            <a:r>
              <a:rPr lang="en-US" sz="1200"/>
              <a:t/>
            </a:r>
          </a:p>
          <a:p>
            <a:r>
              <a:rPr dirty="0"/>
              <a:t>Technical reference (not part of the spoken script)</a:t>
            </a:r>
          </a:p>
          <a:p>
            <a:endParaRPr dirty="0"/>
          </a:p>
          <a:p>
            <a:r>
              <a:rPr dirty="0"/>
              <a:t>Public-facing design pattern: express service objectives, reconcile independent role policies, and scale each role as a complete serving replica. Policy representation and controller-specific wiring are implementation details and intentionally omitted here. Existing KEDA/</a:t>
            </a:r>
            <a:r>
              <a:rPr dirty="0" err="1"/>
              <a:t>InferenceSet</a:t>
            </a:r>
            <a:r>
              <a:rPr dirty="0"/>
              <a:t> capability is described on the earlier slide; this diagram is not a claim that automatic service-level policy projection is already available. Keep one authoritative </a:t>
            </a:r>
            <a:r>
              <a:rPr dirty="0" err="1"/>
              <a:t>autoscaler</a:t>
            </a:r>
            <a:r>
              <a:rPr dirty="0"/>
              <a:t> per target.</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这些拟议的控制循环用有效的角色指标决定容量，而不是只看 GPU 利用率。路由决定请求去哪里，扩缩容决定有多少容量可用。</a:t>
            </a:r>
          </a:p>
          <a:p>
            <a:r>
              <a:rPr lang="en-US" sz="1200"/>
              <a:t>先验证信号和限制，每个目标只设一个控制方，只把就绪副本算作容量。等待请求数帮助判断 prefill 容量，运行中请求数帮助判断 decode 容量。运行中请求数衡量的是并发，不是 GPU 饱和度。只有角色指标新鲜、完整，扩缩决策才可信。</a:t>
            </a:r>
          </a:p>
          <a:p>
            <a:r>
              <a:rPr lang="en-US" sz="1200"/>
              <a:t/>
            </a:r>
          </a:p>
          <a:p>
            <a:r>
              <a:rPr lang="en-US" sz="1200"/>
              <a:t>English</a:t>
            </a:r>
          </a:p>
          <a:p>
            <a:r>
              <a:rPr lang="en-US" sz="1200"/>
              <a:t>Proposed loops use valid role metrics—not GPU utilization alone—to decide capacity. Routing chooses where requests go; autoscaling changes how much capacity is available.</a:t>
            </a:r>
          </a:p>
          <a:p>
            <a:r>
              <a:rPr lang="en-US" sz="1200"/>
              <a:t>Validate signals and limits. Give each target one owner. Count only ready replicas. Waiting requests inform prefill capacity; running requests inform decode capacity. Running requests measure concurrency, not GPU saturation. Require fresh, complete role metrics before trusting a scaling decision.</a:t>
            </a:r>
          </a:p>
          <a:p>
            <a:r>
              <a:rPr lang="en-US" sz="1200"/>
              <a:t/>
            </a:r>
          </a:p>
          <a:p>
            <a:r>
              <a:rPr dirty="0"/>
              <a:t>Technical reference (not part of the spoken script)</a:t>
            </a:r>
          </a:p>
          <a:p>
            <a:endParaRPr dirty="0"/>
          </a:p>
          <a:p>
            <a:r>
              <a:rPr dirty="0"/>
              <a:t>Architectural control pattern, independent of how policies are encoded. Each role has its own signals, controller decision and serving-replica target. KEDA/HPA targeting an </a:t>
            </a:r>
            <a:r>
              <a:rPr dirty="0" err="1"/>
              <a:t>InferenceSet</a:t>
            </a:r>
            <a:r>
              <a:rPr dirty="0"/>
              <a: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dirty="0"/>
          </a:p>
          <a:p>
            <a:r>
              <a:rPr dirty="0"/>
              <a:t>References</a:t>
            </a:r>
          </a:p>
          <a:p>
            <a:r>
              <a:rPr dirty="0"/>
              <a:t>https://github.com/andyzhangx/demo/blob/26c3e14a340d4b0aae5c820b43087d71b85d1554/llm/kaito-llm-d/kaito-role-aware-autoscaling-for-pd.md</a:t>
            </a:r>
          </a:p>
          <a:p>
            <a:r>
              <a:rPr dirty="0"/>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这只是拟议策略的片段，不是可以直接部署的完整配置。MRI adapter 和子资源的启用机制还需要集成，阈值也只是示例。</a:t>
            </a:r>
          </a:p>
          <a:p>
            <a:r>
              <a:rPr lang="en-US" sz="1200"/>
              <a:t>从一个 prefill 副本、两个 decode 副本开始。两个角色的指标平均值都是十二时，prefill 请求扩容，decode 保持不变；decode 超过二十四时也可以请求扩容。AND 只组合各角色内部的条件，不耦合两个角色。公式请求副本数翻倍、减半或不变，并向上取整；HPA 行为规则限制变化速度，就绪状态、副本上下限和稳定窗口仍然适用。</a:t>
            </a:r>
          </a:p>
          <a:p>
            <a:r>
              <a:rPr lang="en-US" sz="1200"/>
              <a:t/>
            </a:r>
          </a:p>
          <a:p>
            <a:r>
              <a:rPr lang="en-US" sz="1200"/>
              <a:t>English</a:t>
            </a:r>
          </a:p>
          <a:p>
            <a:r>
              <a:rPr lang="en-US" sz="1200"/>
              <a:t>This is a proposed policy excerpt, not a ready-to-deploy manifest. The MRI adapter and child opt-in still need integration. These thresholds are examples.</a:t>
            </a:r>
          </a:p>
          <a:p>
            <a:r>
              <a:rPr lang="en-US" sz="1200"/>
              <a:t>Start with one prefill replica and two decode replicas. With role averages of twelve, prefill requests scale-up and decode holds. Decode can request scale-up above twenty-four. AND applies within each role, not across roles. The formula requests double, half or unchanged replicas, rounded up. HPA behavior limits the pace; readiness, bounds and stabilization still apply.</a:t>
            </a:r>
          </a:p>
          <a:p>
            <a:r>
              <a:rPr lang="en-US" sz="1200"/>
              <a:t/>
            </a:r>
          </a:p>
          <a:p>
            <a:r>
              <a:rPr dirty="0"/>
              <a:t>Technical reference (not part of the spoken script)</a:t>
            </a:r>
          </a:p>
          <a:p>
            <a:endParaRPr dirty="0"/>
          </a:p>
          <a:p>
            <a:r>
              <a:rPr dirty="0"/>
              <a:t>The left panel is a literal excerpt under MRI </a:t>
            </a:r>
            <a:r>
              <a:rPr dirty="0" err="1"/>
              <a:t>metadata.annotations</a:t>
            </a:r>
            <a:r>
              <a:rPr dirty="0"/>
              <a:t>; the right is a </a:t>
            </a:r>
            <a:r>
              <a:rPr dirty="0" err="1"/>
              <a:t>spec.roles</a:t>
            </a:r>
            <a:r>
              <a:rPr dirty="0"/>
              <a:t> excerpt, not the entire deployable resource. Full YAML: </a:t>
            </a:r>
            <a:r>
              <a:rPr dirty="0" err="1"/>
              <a:t>llm</a:t>
            </a:r>
            <a:r>
              <a:rPr dirty="0"/>
              <a:t>/</a:t>
            </a:r>
            <a:r>
              <a:rPr dirty="0" err="1"/>
              <a:t>kaito</a:t>
            </a:r>
            <a:r>
              <a:rPr dirty="0"/>
              <a:t>-</a:t>
            </a:r>
            <a:r>
              <a:rPr dirty="0" err="1"/>
              <a:t>llm</a:t>
            </a:r>
            <a:r>
              <a:rPr dirty="0"/>
              <a:t>-d/examples/proposed-pd-autoscaling-</a:t>
            </a:r>
            <a:r>
              <a:rPr dirty="0" err="1"/>
              <a:t>annotations.yaml</a:t>
            </a:r>
            <a:r>
              <a:rPr dirty="0"/>
              <a:t> in this repository. Model and </a:t>
            </a:r>
            <a:r>
              <a:rPr dirty="0" err="1"/>
              <a:t>instanceType</a:t>
            </a:r>
            <a:r>
              <a:rPr dirty="0"/>
              <a:t>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a:t>
            </a:r>
            <a:r>
              <a:rPr dirty="0" err="1"/>
              <a:t>modelpod</a:t>
            </a:r>
            <a:r>
              <a:rPr dirty="0"/>
              <a:t> source discovers Workspaces owned by the target </a:t>
            </a:r>
            <a:r>
              <a:rPr dirty="0" err="1"/>
              <a:t>InferenceSet</a:t>
            </a:r>
            <a:r>
              <a:rPr dirty="0"/>
              <a: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a:t>
            </a:r>
            <a:r>
              <a:rPr dirty="0" err="1"/>
              <a:t>vLLM</a:t>
            </a:r>
            <a:r>
              <a:rPr dirty="0"/>
              <a:t> /metrics verification and full-role sample coverage before activation.</a:t>
            </a:r>
          </a:p>
          <a:p>
            <a:endParaRPr dirty="0"/>
          </a:p>
          <a:p>
            <a:r>
              <a:rPr dirty="0"/>
              <a:t>Narrative source: kubecon-na-2026-pd-disaggregation.md</a:t>
            </a:r>
          </a:p>
          <a:p>
            <a:r>
              <a:rPr dirty="0"/>
              <a:t>References:</a:t>
            </a:r>
          </a:p>
          <a:p>
            <a:r>
              <a:rPr dirty="0"/>
              <a:t>https://github.com/andyzhangx/demo/blob/26c3e14a340d4b0aae5c820b43087d71b85d1554/llm/kaito-llm-d/kaito-role-aware-autoscaling-for-pd.md</a:t>
            </a:r>
          </a:p>
          <a:p>
            <a:r>
              <a:rPr dirty="0"/>
              <a:t>https://docs.vllm.ai/en/stable/usage/metrics/</a:t>
            </a:r>
          </a:p>
          <a:p>
            <a:r>
              <a:rPr dirty="0"/>
              <a:t>https://github.com/andyzhangx/demo/blob/master/llm/kaito-llm-d/examples/proposed-pd-autoscaling-annotations.yaml</a:t>
            </a:r>
          </a:p>
          <a:p>
            <a:r>
              <a:rPr dirty="0"/>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用两个指标，分别决定两个角色怎么扩缩容。计算角色平均负载前，要确认 service 和副本的对应关系。默认先对每个 service 内匹配的时间序列求和，再对成功抓取的 service 求平均。要确认抓取覆盖完整，缺失数据不等于零。Prefill 看引擎内部排队请求，decode 看正在处理的请求。</a:t>
            </a:r>
          </a:p>
          <a:p>
            <a:r>
              <a:rPr lang="en-US" sz="1200"/>
              <a:t>这个例子中，prefill 超过八时扩容，低于一时缩容；decode 超过二十四时扩容，低于四时缩容。两者在阈值之间，包括等于阈值时，都保持不变。这些阈值只是示例，启用策略前要确认实际的 /metrics。</a:t>
            </a:r>
          </a:p>
          <a:p>
            <a:r>
              <a:rPr lang="en-US" sz="1200"/>
              <a:t/>
            </a:r>
          </a:p>
          <a:p>
            <a:r>
              <a:rPr lang="en-US" sz="1200"/>
              <a:t>English</a:t>
            </a:r>
          </a:p>
          <a:p>
            <a:r>
              <a:rPr lang="en-US" sz="1200"/>
              <a:t>Use two gauges to scale the two roles. Verify service-to-replica mapping before averaging each role’s load. The default sums matching series within each service, then averages scraped services. Check full coverage: missing data is not zero. Watch the prefill engine queue and active decode requests.</a:t>
            </a:r>
          </a:p>
          <a:p>
            <a:r>
              <a:rPr lang="en-US" sz="1200"/>
              <a:t>In this example, prefill scales up above eight and down below one; decode scales up above twenty-four and down below four. Both hold between the thresholds, including equality. These thresholds are examples. Verify /metrics before enabling either policy.</a:t>
            </a:r>
          </a:p>
          <a:p>
            <a:r>
              <a:rPr lang="en-US" sz="1200"/>
              <a:t/>
            </a:r>
          </a:p>
          <a:p>
            <a:r>
              <a:rPr dirty="0"/>
              <a:t>Technical reference (not part of the spoken script)</a:t>
            </a:r>
          </a:p>
          <a:p>
            <a:endParaRPr dirty="0"/>
          </a:p>
          <a:p>
            <a:r>
              <a:rPr dirty="0"/>
              <a:t>Native </a:t>
            </a:r>
            <a:r>
              <a:rPr dirty="0" err="1"/>
              <a:t>vllm:num_requests_waiting</a:t>
            </a:r>
            <a:r>
              <a:rPr dirty="0"/>
              <a:t> and </a:t>
            </a:r>
            <a:r>
              <a:rPr dirty="0" err="1"/>
              <a:t>vllm:num_requests_running</a:t>
            </a:r>
            <a:r>
              <a:rPr dirty="0"/>
              <a:t>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用派生指标来解释负载。计算 KV 使用率、延迟和吞吐量，使用前先验证查询。最大的 KV 使用率可以作为缩容保护的候选信号。它的补值表示空闲比例，不是可接纳请求的容量。首 token 的 P95 反映引擎侧的尾延迟。Token 吞吐量表示输出速率，需要通过基准测试来评估。</a:t>
            </a:r>
          </a:p>
          <a:p>
            <a:r>
              <a:rPr lang="en-US" sz="1200"/>
              <a:t>KV 占用率不等于需求。不能只凭吞吐量改变副本数。这些是拟议的派生信号，不是已经集成到 MRI 的指标。</a:t>
            </a:r>
          </a:p>
          <a:p>
            <a:r>
              <a:rPr lang="en-US" sz="1200"/>
              <a:t/>
            </a:r>
          </a:p>
          <a:p>
            <a:r>
              <a:rPr lang="en-US" sz="1200"/>
              <a:t>English</a:t>
            </a:r>
          </a:p>
          <a:p>
            <a:r>
              <a:rPr lang="en-US" sz="1200"/>
              <a:t>Use derived signals to explain the load. Derive KV usage, latency and throughput. Check queries before use. Maximum KV usage could guard scale-down. Its complement shows free fraction, not request capacity. First-token P95 shows engine-side TTFT tails. Token throughput shows output rate; benchmark it.</a:t>
            </a:r>
          </a:p>
          <a:p>
            <a:r>
              <a:rPr lang="en-US" sz="1200"/>
              <a:t>KV occupancy is not demand. Throughput alone should not change replica counts. These are proposed derived signals, not metrics already integrated into MRI.</a:t>
            </a:r>
          </a:p>
          <a:p>
            <a:r>
              <a:rPr lang="en-US" sz="1200"/>
              <a:t/>
            </a:r>
          </a:p>
          <a:p>
            <a:r>
              <a:rPr dirty="0"/>
              <a:t>Technical reference (not part of the spoken script)</a:t>
            </a:r>
          </a:p>
          <a:p>
            <a:endParaRPr dirty="0"/>
          </a:p>
          <a:p>
            <a:r>
              <a:rPr dirty="0"/>
              <a:t>These are derived-signal design examples, not metrics natively emitted by </a:t>
            </a:r>
            <a:r>
              <a:rPr dirty="0" err="1"/>
              <a:t>vLLM</a:t>
            </a:r>
            <a:r>
              <a:rPr dirty="0"/>
              <a:t> or a claim of current MRI integration support. All table input names have the </a:t>
            </a:r>
            <a:r>
              <a:rPr dirty="0" err="1"/>
              <a:t>vllm</a:t>
            </a:r>
            <a:r>
              <a:rPr dirty="0"/>
              <a:t>: prefix. Proposed recording-rule names: </a:t>
            </a:r>
            <a:r>
              <a:rPr dirty="0" err="1"/>
              <a:t>kaito:decode_kv_cache_usage_max</a:t>
            </a:r>
            <a:r>
              <a:rPr dirty="0"/>
              <a:t> = max valid role-scoped </a:t>
            </a:r>
            <a:r>
              <a:rPr dirty="0" err="1"/>
              <a:t>vllm:kv_cache_usage_perc</a:t>
            </a:r>
            <a:r>
              <a:rPr dirty="0"/>
              <a:t>; </a:t>
            </a:r>
            <a:r>
              <a:rPr dirty="0" err="1"/>
              <a:t>kaito:decode_kv_cache_free_fraction_min</a:t>
            </a:r>
            <a:r>
              <a:rPr dirty="0"/>
              <a:t> = 1 - that maximum; kaito:prefill_ttft_p95_seconds = </a:t>
            </a:r>
            <a:r>
              <a:rPr dirty="0" err="1"/>
              <a:t>histogram_quantile</a:t>
            </a:r>
            <a:r>
              <a:rPr dirty="0"/>
              <a:t>(0.95, summed per-series 5m bucket rates preserving workload/role and le); </a:t>
            </a:r>
            <a:r>
              <a:rPr dirty="0" err="1"/>
              <a:t>kaito:decode_generation_tokens_per_second</a:t>
            </a:r>
            <a:r>
              <a:rPr dirty="0"/>
              <a:t> = sum of reset-aware rate(</a:t>
            </a:r>
            <a:r>
              <a:rPr dirty="0" err="1"/>
              <a:t>vllm:generation_tokens_total</a:t>
            </a:r>
            <a:r>
              <a:rPr dirty="0"/>
              <a:t>[5m]).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a:t>
            </a:r>
            <a:r>
              <a:rPr dirty="0" err="1"/>
              <a:t>vLLM</a:t>
            </a:r>
            <a:r>
              <a:rPr dirty="0"/>
              <a:t>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dirty="0"/>
          </a:p>
          <a:p>
            <a:r>
              <a:rPr dirty="0"/>
              <a:t>References</a:t>
            </a:r>
          </a:p>
          <a:p>
            <a:r>
              <a:rPr dirty="0"/>
              <a:t>https://github.com/andyzhangx/demo/blob/26c3e14a340d4b0aae5c820b43087d71b85d1554/llm/kaito-llm-d/kaito-role-aware-autoscaling-for-pd.md</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接下来，探索更好的缓存复用、更多推理角色，以及更大规模的执行。利用 KV 缓存事件做路由，在 HBM、CPU 内存和可选的文件系统之间分层存放缓存。在 Prefill / Decode 之外增加 Encode，支持更多推理角色。探索更大范围的专家并行，改进跨节点传输和通信。</a:t>
            </a:r>
          </a:p>
          <a:p>
            <a:r>
              <a:rPr lang="en-US" sz="1200"/>
              <a:t>这些是集成方向，不是发布日期承诺；有些能力上游已经具备。</a:t>
            </a:r>
          </a:p>
          <a:p>
            <a:r>
              <a:rPr lang="en-US" sz="1200"/>
              <a:t/>
            </a:r>
          </a:p>
          <a:p>
            <a:r>
              <a:rPr lang="en-US" sz="1200"/>
              <a:t>English</a:t>
            </a:r>
          </a:p>
          <a:p>
            <a:r>
              <a:rPr lang="en-US" sz="1200"/>
              <a:t>Next, explore better cache reuse, more inference roles and larger-scale execution. Route using KV cache events. Tier cache across HBM, CPU RAM and optional filesystems. Add Encode to Prefill / Decode. Support more inference roles. Explore wide expert parallelism. Improve cross-node transport and communication.</a:t>
            </a:r>
          </a:p>
          <a:p>
            <a:r>
              <a:rPr lang="en-US" sz="1200"/>
              <a:t>These are integration directions, not release dates; some capabilities already exist upstream.</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可以先看看这两个项目，再试试 KAITO + llm-d 的 P/D 指南。llm-d 和 KAITO 都是 CNCF Sandbox 项目。代码从项目仓库开始看，扩缩容细节看 keda-kaito-scaler，前置条件和配置则看 P/D 指南。</a:t>
            </a:r>
          </a:p>
          <a:p>
            <a:r>
              <a:rPr lang="en-US" sz="1200"/>
              <a:t/>
            </a:r>
          </a:p>
          <a:p>
            <a:r>
              <a:rPr lang="en-US" sz="1200"/>
              <a:t>English</a:t>
            </a:r>
          </a:p>
          <a:p>
            <a:r>
              <a:rPr lang="en-US" sz="1200"/>
              <a:t>Explore the projects, then try the KAITO + llm-d P/D guide. llm-d and KAITO are both CNCF Sandbox projects. Start with their repositories for the code, check keda-kaito-scaler for scaling details, and use the P/D guide for prerequisites and configuration.</a:t>
            </a:r>
          </a:p>
          <a:p>
            <a:r>
              <a:rPr lang="en-US" sz="1200"/>
              <a:t/>
            </a:r>
          </a:p>
          <a:p>
            <a:r>
              <a:rPr dirty="0"/>
              <a:t>References</a:t>
            </a:r>
          </a:p>
          <a:p>
            <a:r>
              <a:rPr dirty="0"/>
              <a:t>https://github.com/llm-d</a:t>
            </a:r>
          </a:p>
          <a:p>
            <a:r>
              <a:rPr dirty="0"/>
              <a:t>https://github.com/kaito-project/kaito</a:t>
            </a:r>
          </a:p>
          <a:p>
            <a:r>
              <a:rPr dirty="0"/>
              <a:t>https://kaito-project.github.io/kaito/docs/prefill-decode-disaggregation/</a:t>
            </a:r>
          </a:p>
          <a:p>
            <a:r>
              <a:rPr dirty="0"/>
              <a:t>https://www.cncf.io/projects/llm-d/</a:t>
            </a:r>
          </a:p>
          <a:p>
            <a:r>
              <a:rPr dirty="0"/>
              <a:t>https://www.cncf.io/projects/kaito/</a:t>
            </a:r>
          </a:p>
          <a:p>
            <a:r>
              <a:rPr dirty="0"/>
              <a:t>https://github.com/kaito-project/keda-kaito-scaler</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谢谢大家，欢迎提问。</a:t>
            </a:r>
          </a:p>
          <a:p>
            <a:r>
              <a:rPr lang="en-US" sz="1200"/>
              <a:t/>
            </a:r>
          </a:p>
          <a:p>
            <a:r>
              <a:rPr lang="en-US" sz="1200"/>
              <a:t>English</a:t>
            </a:r>
          </a:p>
          <a:p>
            <a:r>
              <a:rPr lang="en-US" sz="1200"/>
              <a:t>Thank you. We’re happy to take questions.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把两个阶段拆开，分别调整两个资源池。P/D 将提示词处理和生成分开，两个阶段之间需要传输 KV。根据提示词压力配置 prefill 的副本数和并行度，根据持续生成的需求配置 decode 的副本数和并行度。</a:t>
            </a:r>
          </a:p>
          <a:p>
            <a:r>
              <a:rPr lang="en-US" sz="1200"/>
              <a:t>传输和协调都会增加成本。即使由 decode 发起读取，KV 数据仍然是从 prefill 流向 decode。传输路径必须足够快，拆分才值得。</a:t>
            </a:r>
          </a:p>
          <a:p>
            <a:r>
              <a:rPr lang="en-US" sz="1200"/>
              <a:t/>
            </a:r>
          </a:p>
          <a:p>
            <a:r>
              <a:rPr lang="en-US" sz="1200"/>
              <a:t>English</a:t>
            </a:r>
          </a:p>
          <a:p>
            <a:r>
              <a:rPr lang="en-US" sz="1200"/>
              <a:t>Split the phases. Tune the pools independently. P/D separates prompt processing from generation, with KV transfer between them. Size prefill replicas and parallelism for prompt pressure. Size decode replicas and parallelism for sustained generation.</a:t>
            </a:r>
          </a:p>
          <a:p>
            <a:r>
              <a:rPr lang="en-US" sz="1200"/>
              <a:t>Transfer and coordination add cost. KV data moves from prefill to decode, even when decode initiates the read. The transfer path must be fast enough to justify the split.</a:t>
            </a:r>
          </a:p>
          <a:p>
            <a:r>
              <a:rPr lang="en-US" sz="1200"/>
              <a:t/>
            </a:r>
          </a:p>
          <a:p>
            <a:r>
              <a:rPr dirty="0"/>
              <a:t>References</a:t>
            </a:r>
          </a:p>
          <a:p>
            <a:r>
              <a:rPr dirty="0"/>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不同角色需要不同的扩缩容策略。根据各自的工作负载调参，使用每个副本的信号，并遵循共同的安全检查。Prefill 看排队请求，decode 看正在处理的请求。示例副本范围分别是一到八、二到十六。</a:t>
            </a:r>
          </a:p>
          <a:p>
            <a:r>
              <a:rPr lang="en-US" sz="1200"/>
              <a:t>Prefill 超过八时扩容，低于一时缩容；decode 超过二十四时扩容，低于四时缩容，其余情况保持不变。两者都需要就绪状态和新鲜指标。这些策略只是示例，要验证阈值、冷却时间和模型预热。这些是安全要求，不是当前 MRI 集成已经满足的保证。</a:t>
            </a:r>
          </a:p>
          <a:p>
            <a:r>
              <a:rPr lang="en-US" sz="1200"/>
              <a:t/>
            </a:r>
          </a:p>
          <a:p>
            <a:r>
              <a:rPr lang="en-US" sz="1200"/>
              <a:t>English</a:t>
            </a:r>
          </a:p>
          <a:p>
            <a:r>
              <a:rPr lang="en-US" sz="1200"/>
              <a:t>Different roles need different scaling policies. Tune each role for its workload, using per-replica signals and shared safety checks. Prefill watches waiting requests; decode watches running requests. The example ranges are one to eight and two to sixteen replicas.</a:t>
            </a:r>
          </a:p>
          <a:p>
            <a:r>
              <a:rPr lang="en-US" sz="1200"/>
              <a:t>Prefill scales up above eight and down below one; decode scales up above twenty-four and down below four. Otherwise, hold. Both need readiness and fresh metrics. These policies are examples. Validate thresholds, cooldown and model warm-up. These are safety requirements, not guarantees of current MRI integration.</a:t>
            </a:r>
          </a:p>
          <a:p>
            <a:r>
              <a:rPr lang="en-US" sz="1200"/>
              <a:t/>
            </a: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三层，各有清晰的职责。InferencePool 契约把平台编排和路由连接起来。KAITO 调谐角色拓扑，创建资源并管理生命周期。GWIE 定义 InferencePool 契约，将后端连接到网关集成。llm-d Router 通过 EPP 选择端点，做出感知角色的路由决策。</a:t>
            </a:r>
          </a:p>
          <a:p>
            <a:r>
              <a:rPr lang="en-US" sz="1200"/>
              <a:t>KAITO 负责拓扑，GWIE 定义契约，llm-d Router 负责选择。InferencePool 是一个 API 资源，不是另一个转发代理。</a:t>
            </a:r>
          </a:p>
          <a:p>
            <a:r>
              <a:rPr lang="en-US" sz="1200"/>
              <a:t/>
            </a:r>
          </a:p>
          <a:p>
            <a:r>
              <a:rPr lang="en-US" sz="1200"/>
              <a:t>English</a:t>
            </a:r>
          </a:p>
          <a:p>
            <a:r>
              <a:rPr lang="en-US" sz="1200"/>
              <a:t>Three layers. Three clear responsibilities. The InferencePool contract connects platform orchestration to routing. KAITO reconciles the role topology. It creates resources and manages their lifecycle. GWIE defines the InferencePool contract. It connects backends to gateway integration. llm-d Router selects endpoints via EPP. It makes role-aware routing decisions.</a:t>
            </a:r>
          </a:p>
          <a:p>
            <a:r>
              <a:rPr lang="en-US" sz="1200"/>
              <a:t>KAITO owns the topology. GWIE defines the contract. llm-d Router makes the selection. InferencePool is an API resource, not another forwarding proxy.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sz="1200"/>
              <a:t>Speaker script</a:t>
            </a:r>
          </a:p>
          <a:p>
            <a:r>
              <a:rPr lang="en-US" sz="1200"/>
              <a:t>中文</a:t>
            </a:r>
          </a:p>
          <a:p>
            <a:r>
              <a:rPr lang="en-US" sz="1200"/>
              <a:t>这里看 KAITO 怎么估算 GPU 节点数。根据模型和 GPU 显存估算初始内存容量，而不是吞吐能力。从 GPU 显存开始，预留运行时开销和 KV 缓存空间。把模型权重放进可用显存，同时考虑并行方式。再除以每个节点的 GPU 数量，向上取整，然后调谐工作负载。</a:t>
            </a:r>
          </a:p>
          <a:p>
            <a:r>
              <a:rPr lang="en-US" sz="1200"/>
              <a:t>具体的估算公式和安全余量取决于 KAITO 和运行时版本。模型能放得下，不代表延迟或吞吐量就有保证。</a:t>
            </a:r>
          </a:p>
          <a:p>
            <a:r>
              <a:rPr lang="en-US" sz="1200"/>
              <a:t/>
            </a:r>
          </a:p>
          <a:p>
            <a:r>
              <a:rPr lang="en-US" sz="1200"/>
              <a:t>English</a:t>
            </a:r>
          </a:p>
          <a:p>
            <a:r>
              <a:rPr lang="en-US" sz="1200"/>
              <a:t>Here is how KAITO estimates GPU node count. Estimate initial memory capacity—not throughput—from the model and GPU memory. Start with GPU memory. Reserve runtime overhead and room for KV cache. Fit the weights into usable GPU memory. Account for parallelism. Divide by GPUs per node. Round up, then reconcile the workload.</a:t>
            </a:r>
          </a:p>
          <a:p>
            <a:r>
              <a:rPr lang="en-US" sz="1200"/>
              <a:t>The sizing formula and safety margins depend on the KAITO and runtime version. Fitting the model is not a latency or throughput guarantee.</a:t>
            </a:r>
          </a:p>
        </p:txBody>
      </p:sp>
    </p:spTree>
    <p:extLst>
      <p:ext uri="{BB962C8B-B14F-4D97-AF65-F5344CB8AC3E}">
        <p14:creationId xmlns:p14="http://schemas.microsoft.com/office/powerpoint/2010/main" val="144924624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rPr lang="en-US" sz="1200"/>
              <a:t>Speaker script</a:t>
            </a:r>
          </a:p>
          <a:p>
            <a:r>
              <a:rPr lang="en-US" sz="1200"/>
              <a:t>中文</a:t>
            </a:r>
          </a:p>
          <a:p>
            <a:r>
              <a:rPr lang="en-US" sz="1200"/>
              <a:t>llm-d 把路由、prefill 和 decode 连接起来。分别路由 prefill 和 decode，动态选择 worker，并为每个角色调整容量和调度。以 TTFT 和 ITL 的 SLO 为目标，再测量交接的成本。</a:t>
            </a:r>
          </a:p>
          <a:p>
            <a:r>
              <a:rPr lang="en-US" sz="1200"/>
              <a:t>一个客户端请求可以对应多个内部请求。独立资源池让我们有更多调节空间，但不保证一定满足延迟目标。Sidecar 负责协调交接，vLLM 和 NIXL 负责传输 KV 数据。</a:t>
            </a:r>
          </a:p>
          <a:p>
            <a:r>
              <a:rPr lang="en-US" sz="1200"/>
              <a:t/>
            </a:r>
          </a:p>
          <a:p>
            <a:r>
              <a:rPr lang="en-US" sz="1200"/>
              <a:t>English</a:t>
            </a:r>
          </a:p>
          <a:p>
            <a:r>
              <a:rPr lang="en-US" sz="1200"/>
              <a:t>llm-d connects routing, prefill and decode. Route prefill and decode separately. Choose workers dynamically. Tune each role’s capacity and scheduling. Target TTFT and ITL SLOs—then measure the handoff cost.</a:t>
            </a:r>
          </a:p>
          <a:p>
            <a:r>
              <a:rPr lang="en-US" sz="1200"/>
              <a:t>One client request can become separate internal requests. Separate pools give us more control, not a guarantee of meeting latency targets. The sidecar coordinates the handoff; vLLM and NIXL move the KV data.</a:t>
            </a:r>
          </a:p>
        </p:txBody>
      </p:sp>
    </p:spTree>
    <p:extLst>
      <p:ext uri="{BB962C8B-B14F-4D97-AF65-F5344CB8AC3E}">
        <p14:creationId xmlns:p14="http://schemas.microsoft.com/office/powerpoint/2010/main" val="16989503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Decode sidecar 负责协调请求。一个 decode 端点协调远端 prefill，并返回最终响应。网关访问所选 decode pod 中的 sidecar。需要时，sidecar 请求远端 prefill，再把请求和 KV 元数据传给本地的 decode vLLM。</a:t>
            </a:r>
          </a:p>
          <a:p>
            <a:r>
              <a:rPr lang="en-US" sz="1200"/>
              <a:t>Sidecar 负责协调请求，KV 数据直接进入 decode 运行时。读取由 decode 发起，KV 数据绕过 sidecar。五千和五千零一只是这个配置中的端口示例。</a:t>
            </a:r>
          </a:p>
          <a:p>
            <a:r>
              <a:rPr lang="en-US" sz="1200"/>
              <a:t/>
            </a:r>
          </a:p>
          <a:p>
            <a:r>
              <a:rPr lang="en-US" sz="1200"/>
              <a:t>English</a:t>
            </a:r>
          </a:p>
          <a:p>
            <a:r>
              <a:rPr lang="en-US" sz="1200"/>
              <a:t>The decode sidecar coordinates the request. One decode endpoint coordinates remote prefill and returns the final response. The gateway reaches the selected decode pod’s sidecar. When needed, the sidecar requests remote prefill, then passes the request and KV metadata to local decode vLLM.</a:t>
            </a:r>
          </a:p>
          <a:p>
            <a:r>
              <a:rPr lang="en-US" sz="1200"/>
              <a:t>The sidecar coordinates requests. KV data goes directly to the decode runtime. Decode initiates the read; KV data bypasses the sidecar. Ports five thousand and five thousand one are configuration examples.</a:t>
            </a:r>
          </a:p>
          <a:p>
            <a:r>
              <a:rPr lang="en-US" sz="1200"/>
              <a:t/>
            </a: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问两个问题：两个角色是否需要不同的容量，KV 传输又要付出多少成本？如果角色需求不同，但传输昂贵，就先改进拓扑。独立容量可能有帮助，但收益可能被传输抵消。如果角色需求不同，传输成本也能接受，就分别调整两个角色，并在相同 SLO 和成本下验证。</a:t>
            </a:r>
          </a:p>
          <a:p>
            <a:r>
              <a:rPr lang="en-US" sz="1200"/>
              <a:t>如果需求相似，通常继续使用聚合部署。角色相似时拆分收益有限，而昂贵的传输还会增加成本。网络快，本身不是拆分的理由。只有角色需要不同容量，而且 KV 传输没有抵消收益时，才考虑使用 P/D。</a:t>
            </a:r>
          </a:p>
          <a:p>
            <a:r>
              <a:rPr lang="en-US" sz="1200"/>
              <a:t/>
            </a:r>
          </a:p>
          <a:p>
            <a:r>
              <a:rPr lang="en-US" sz="1200"/>
              <a:t>English</a:t>
            </a:r>
          </a:p>
          <a:p>
            <a:r>
              <a:rPr lang="en-US" sz="1200"/>
              <a:t>Ask two questions: do the roles need different capacity, and what does KV transfer cost? With different role needs but costly transfer, improve topology first: separate capacity may help, but transfer may erase the gain. With different needs and affordable transfer, tune each role separately. Validate at matched SLOs and cost.</a:t>
            </a:r>
          </a:p>
          <a:p>
            <a:r>
              <a:rPr lang="en-US" sz="1200"/>
              <a:t>With similar needs, usually stay aggregated. Similar roles gain little, while expensive transfer adds cost. Fast fabric alone is no reason to split. Use P/D when roles need different capacity and KV transfer does not erase the gain.</a:t>
            </a:r>
          </a:p>
          <a:p>
            <a:r>
              <a:rPr lang="en-US" sz="1200"/>
              <a:t/>
            </a: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en-US" sz="1200"/>
              <a:t>Speaker script</a:t>
            </a:r>
          </a:p>
          <a:p>
            <a:r>
              <a:rPr lang="en-US" sz="1200"/>
              <a:t>中文</a:t>
            </a:r>
          </a:p>
          <a:p>
            <a:r>
              <a:rPr lang="en-US" sz="1200"/>
              <a:t>在 Kubernetes 上运行 P/D，有三点需要记住。拆分容量是为了保护延迟。Prefill 影响首 token 延迟，decode 影响后续 token 的输出节奏。每一层都要有明确的职责：KAITO 管理角色，llm-d 做路由，vLLM 和 NIXL 执行推理并传输 KV。</a:t>
            </a:r>
          </a:p>
          <a:p>
            <a:r>
              <a:rPr lang="en-US" sz="1200"/>
              <a:t>每个角色都要安全地扩缩容。使用角色级信号并确保安全缩容；MRI 集成仍有工作要做。在相同工作负载、成本和延迟目标下，将 P/D 与聚合部署进行对比验证。</a:t>
            </a:r>
          </a:p>
          <a:p>
            <a:r>
              <a:rPr lang="en-US" sz="1200"/>
              <a:t/>
            </a:r>
          </a:p>
          <a:p>
            <a:r>
              <a:rPr lang="en-US" sz="1200"/>
              <a:t>English</a:t>
            </a:r>
          </a:p>
          <a:p>
            <a:r>
              <a:rPr lang="en-US" sz="1200"/>
              <a:t>Three takeaways for operating P/D on Kubernetes. Separate capacity to protect latency. Prefill shapes first-token latency; decode shapes ongoing token delivery. Give each layer a clear job. KAITO manages roles; llm-d routes; vLLM + NIXL execute and move KV.</a:t>
            </a:r>
          </a:p>
          <a:p>
            <a:r>
              <a:rPr lang="en-US" sz="1200"/>
              <a:t>Scale each role safely. Use role signals and safe scale-down; MRI integration still needs work. Validate P/D against aggregated serving at matched workload, cost and latency targets.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rPr lang="en-US" sz="1200"/>
              <a:t>Speaker script</a:t>
            </a:r>
          </a:p>
          <a:p>
            <a:r>
              <a:rPr lang="en-US" sz="1200"/>
              <a:t>中文</a:t>
            </a:r>
          </a:p>
          <a:p>
            <a:r>
              <a:rPr lang="en-US" sz="1200"/>
              <a:t>今天需要显式调参，更简单的默认值是未来方向。选择排队和延迟指标，设置阈值和时间窗口，设置副本上下限和冷却时间，并用 AND 策略组合信号。具体可用配置要以安装的 scaler 版本为准。</a:t>
            </a:r>
          </a:p>
          <a:p>
            <a:r>
              <a:rPr lang="en-US" sz="1200"/>
              <a:t>拟议的简化方式是保留最小和最大副本数，自动推导更多默认值，再根据模型和工作负载验证。这不是已经交付的自动调参功能。现有 InferenceSet 扩缩容是基础，MRI 角色策略的集成仍有工作要做。</a:t>
            </a:r>
          </a:p>
          <a:p>
            <a:r>
              <a:rPr lang="en-US" sz="1200"/>
              <a:t/>
            </a:r>
          </a:p>
          <a:p>
            <a:r>
              <a:rPr lang="en-US" sz="1200"/>
              <a:t>English</a:t>
            </a:r>
          </a:p>
          <a:p>
            <a:r>
              <a:rPr lang="en-US" sz="1200"/>
              <a:t>Tune explicitly today; aim for simpler defaults next. Choose queue and latency metrics. Set thresholds and time windows. Set replica bounds and cooldowns. Combine signals with an AND policy. Check available settings against your installed scaler version.</a:t>
            </a:r>
          </a:p>
          <a:p>
            <a:r>
              <a:rPr lang="en-US" sz="1200"/>
              <a:t>The proposal is to keep minimum and maximum replicas, derive more defaults automatically, and validate for the model and workload. This is not shipped auto-tuning. Existing InferenceSet scaling is the base; MRI role-policy integration still needs work.</a:t>
            </a:r>
          </a:p>
          <a:p>
            <a:r>
              <a:rPr lang="en-US" sz="1200"/>
              <a:t/>
            </a: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复用已有的服务栈，再加入 Kubernetes 原生的协调能力。在 Kubernetes 上运行模块化组件，并保持清晰的故障边界。连接网关、路由、运行时和 KV 接口。从经过测试的部署路径开始，权衡取舍，再针对自己的工作负载调优。</a:t>
            </a:r>
          </a:p>
          <a:p>
            <a:r>
              <a:rPr lang="en-US" sz="1200"/>
              <a:t>llm-d 组合网关、运行时和传输组件，而不是把它们全部替换掉。这些参考路径是起点，不是对所有模型和硬件组合的性能保证。</a:t>
            </a:r>
          </a:p>
          <a:p>
            <a:r>
              <a:rPr lang="en-US" sz="1200"/>
              <a:t/>
            </a:r>
          </a:p>
          <a:p>
            <a:r>
              <a:rPr lang="en-US" sz="1200"/>
              <a:t>English</a:t>
            </a:r>
          </a:p>
          <a:p>
            <a:r>
              <a:rPr lang="en-US" sz="1200"/>
              <a:t>Reuse the serving stack and add Kubernetes-native coordination. Run modular components on Kubernetes. Keep failure boundaries clear. Connect gateways, routing, runtimes and KV interfaces. Start with tested paths. Weigh the trade-offs. Tune for your workload.</a:t>
            </a:r>
          </a:p>
          <a:p>
            <a:r>
              <a:rPr lang="en-US" sz="1200"/>
              <a:t>llm-d composes gateways, runtimes and transport; it does not replace them all. These reference paths are starting points, not performance guarantees for every model and hardware combination.</a:t>
            </a:r>
          </a:p>
          <a:p>
            <a:r>
              <a:rPr lang="en-US" sz="1200"/>
              <a:t/>
            </a: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sz="1200"/>
              <a:t>Speaker script</a:t>
            </a:r>
          </a:p>
          <a:p>
            <a:r>
              <a:rPr lang="en-US" sz="1200"/>
              <a:t>中文</a:t>
            </a:r>
          </a:p>
          <a:p>
            <a:r>
              <a:rPr lang="en-US" sz="1200"/>
              <a:t>安全扩缩容需要唯一的写入方和有效数据。这些是需要验证的安全要求，不是当前 MRI 集成已经具备的保证。每个角色的副本数只能由一个控制方写入，不要让 autoscaler 相互竞争。检查实际的 /metrics，按角色限定采样范围。指标缺失不等于零，失败时保持当前决策并报告。</a:t>
            </a:r>
          </a:p>
          <a:p>
            <a:r>
              <a:rPr lang="en-US" sz="1200"/>
              <a:t>先停止旧的写入方，只删除自己拥有的 scaler。留出模型预热时间，并测试安全缩容。避免控制器竞争，只把真正就绪的容量算进去，同时保护处理中的请求。</a:t>
            </a:r>
          </a:p>
          <a:p>
            <a:r>
              <a:rPr lang="en-US" sz="1200"/>
              <a:t/>
            </a:r>
          </a:p>
          <a:p>
            <a:r>
              <a:rPr lang="en-US" sz="1200"/>
              <a:t>English</a:t>
            </a:r>
          </a:p>
          <a:p>
            <a:r>
              <a:rPr lang="en-US" sz="1200"/>
              <a:t>Safe autoscaling needs one writer and valid data. These are safety requirements to verify, not guarantees of current MRI integration. Give each role one replica writer. Do not let autoscalers compete. Inspect actual /metrics. Scope samples per role. Missing is not zero. Hold and report on failure.</a:t>
            </a:r>
          </a:p>
          <a:p>
            <a:r>
              <a:rPr lang="en-US" sz="1200"/>
              <a:t>Stop the old writer first. Delete only owned scalers. Allow model warm-up. Test safe scale-down. Avoid competing controllers, count only ready capacity, and protect in-flight requests.</a:t>
            </a:r>
          </a:p>
          <a:p>
            <a:r>
              <a:rPr lang="en-US" sz="1200"/>
              <a:t/>
            </a: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rPr lang="en-US" sz="1200"/>
              <a:t>Speaker script</a:t>
            </a:r>
          </a:p>
          <a:p>
            <a:r>
              <a:rPr lang="en-US" sz="1200"/>
              <a:t>中文</a:t>
            </a:r>
          </a:p>
          <a:p>
            <a:r>
              <a:rPr lang="en-US" sz="1200"/>
              <a:t>这些是架构构件，不是基准测试的性能保证。用专家并行和经过调优的通信运行大模型，为每个阶段选择部署位置、批处理方式和容量。路由时考虑缓存局部性和运行时负载，用工作负载信号和延迟目标指导扩缩容。</a:t>
            </a:r>
          </a:p>
          <a:p>
            <a:r>
              <a:rPr lang="en-US" sz="1200"/>
              <a:t>选择一个 worker 和增加容量是两种不同的决策。要验证自己的模型、硬件、流量和 SLO。MRI 角色策略的集成仍有工作要做。</a:t>
            </a:r>
          </a:p>
          <a:p>
            <a:r>
              <a:rPr lang="en-US" sz="1200"/>
              <a:t/>
            </a:r>
          </a:p>
          <a:p>
            <a:r>
              <a:rPr lang="en-US" sz="1200"/>
              <a:t>English</a:t>
            </a:r>
          </a:p>
          <a:p>
            <a:r>
              <a:rPr lang="en-US" sz="1200"/>
              <a:t>These are building blocks, not benchmark guarantees. Run large models with expert parallelism and tuned communication. Choose placement, batching and capacity for each phase. Route with cache locality and runtime load in mind. Guide scaling with workload signals and latency targets.</a:t>
            </a:r>
          </a:p>
          <a:p>
            <a:r>
              <a:rPr lang="en-US" sz="1200"/>
              <a:t>Choosing a worker and adding capacity are different decisions. Validate your model, hardware, traffic and SLOs. MRI policy integration still needs work.</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5.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Pr dirty="0"/>
            </a:br>
            <a:r>
              <a:rPr sz="2700" cap="none" dirty="0">
                <a:solidFill>
                  <a:srgbClr val="142C46"/>
                </a:solidFill>
                <a:latin typeface="Arial"/>
              </a:rPr>
              <a:t>Kubernetes-native LLM inference</a:t>
            </a:r>
            <a:br>
              <a:rPr dirty="0"/>
            </a:br>
            <a:r>
              <a:rPr sz="2700" cap="none" dirty="0">
                <a:solidFill>
                  <a:srgbClr val="142C46"/>
                </a:solidFill>
                <a:latin typeface="Arial"/>
              </a:rPr>
              <a:t>with KAITO and </a:t>
            </a:r>
            <a:r>
              <a:rPr sz="2700" cap="none" dirty="0" err="1">
                <a:solidFill>
                  <a:srgbClr val="142C46"/>
                </a:solidFill>
                <a:latin typeface="Arial"/>
              </a:rPr>
              <a:t>llm</a:t>
            </a:r>
            <a:r>
              <a:rPr sz="2700" cap="none" dirty="0">
                <a:solidFill>
                  <a:srgbClr val="142C46"/>
                </a:solidFill>
                <a:latin typeface="Arial"/>
              </a:rPr>
              <a:t>-d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I maintain KAITO and OpenYurt.</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I maintain KAITO and CSI drivers.</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We’ll go from inference basics to running P/D on Kubernetes.</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how each phase affects latency.</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dirty="0"/>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Weigh the benefits against the costs.</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See what each project owns.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Follow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Scale each role with its own signals.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selects “Kubernetes”. Decode will consume it and cache its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Words + punctuation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We process prompt positions together; each sees only itself and earlier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position sees future tokens.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Use the final position’s scores.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We cache attention keys and values for all 5 prompt positions at every layer.</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These are teaching tokens, not a real tokenizer’s output.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09E1CB-202C-5945-B1F8-E2D475FB5EAB}" type="slidenum">
              <a:rPr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cache the token we consume, not the one we just select. We reuse past KV.</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Each selected token becomes the next input. Repeat until the answer is complete.</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ITL = gaps / First 6 words shown /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token</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41D5DA8-AB86-57A3-AD75-484E857A5432}" type="slidenum">
              <a:rPr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answers to start quickly—and keep going smoothly.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Both affect total latency and SLO goodput: requests per second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How soon does the answer start?</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Often compute-b</a:t>
            </a:r>
            <a:r>
              <a:rPr sz="1275" cap="none" dirty="0" err="1">
                <a:latin typeface="Arial"/>
              </a:rPr>
              <a:t>o</a:t>
            </a:r>
            <a:r>
              <a:rPr sz="1275" cap="none" dirty="0">
                <a:latin typeface="Arial"/>
              </a:rPr>
              <a:t>und.</a:t>
            </a:r>
          </a:p>
          <a:p>
            <a:pPr>
              <a:spcAft>
                <a:spcPts val="375"/>
              </a:spcAft>
              <a:defRPr sz="1700" b="0">
                <a:solidFill>
                  <a:srgbClr val="586A80"/>
                </a:solidFill>
                <a:latin typeface="Arial"/>
              </a:defRPr>
            </a:pPr>
            <a:r>
              <a:rPr sz="1275" b="1" cap="none" dirty="0">
                <a:solidFill>
                  <a:srgbClr val="00B0F0"/>
                </a:solidFill>
                <a:latin typeface="Arial"/>
              </a:rPr>
              <a:t>Track pre</a:t>
            </a:r>
            <a:r>
              <a:rPr sz="1275" cap="none" dirty="0">
                <a:latin typeface="Arial"/>
              </a:rPr>
              <a:t>f</a:t>
            </a:r>
            <a:r>
              <a:rPr sz="1275" b="1" cap="none" dirty="0">
                <a:solidFill>
                  <a:srgbClr val="00B0F0"/>
                </a:solidFill>
                <a:latin typeface="Arial"/>
              </a:rPr>
              <a:t>ill la</a:t>
            </a:r>
            <a:r>
              <a:rPr sz="1275" cap="none" dirty="0">
                <a:latin typeface="Arial"/>
              </a:rPr>
              <a:t>ten</a:t>
            </a:r>
            <a:r>
              <a:rPr sz="1275" b="1" cap="none" dirty="0">
                <a:solidFill>
                  <a:srgbClr val="00B0F0"/>
                </a:solidFill>
                <a:latin typeface="Arial"/>
              </a:rPr>
              <a:t>cy</a:t>
            </a:r>
            <a:r>
              <a:rPr sz="1275" cap="none" dirty="0">
                <a:latin typeface="Arial"/>
              </a:rPr>
              <a:t> </a:t>
            </a:r>
            <a:r>
              <a:rPr sz="1275" b="1" cap="none" dirty="0">
                <a:solidFill>
                  <a:srgbClr val="00B0F0"/>
                </a:solidFill>
                <a:latin typeface="Arial"/>
              </a:rPr>
              <a:t>and input tok/s.</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Does the answer keep flowing?</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dirty="0">
                <a:latin typeface="Arial"/>
              </a:rPr>
              <a:t>Decode is often memory-bandwidth-bound.</a:t>
            </a:r>
          </a:p>
          <a:p>
            <a:pPr>
              <a:spcAft>
                <a:spcPts val="375"/>
              </a:spcAft>
              <a:defRPr sz="1700" b="0">
                <a:solidFill>
                  <a:srgbClr val="586A80"/>
                </a:solidFill>
                <a:latin typeface="Arial"/>
              </a:defRPr>
            </a:pPr>
            <a:r>
              <a:rPr sz="1275" b="1" cap="none" dirty="0">
                <a:solidFill>
                  <a:srgbClr val="00B0F0"/>
                </a:solidFill>
                <a:latin typeface="Arial"/>
              </a:rPr>
              <a:t>Track ITL, TP</a:t>
            </a:r>
            <a:r>
              <a:rPr sz="1275" cap="none" dirty="0">
                <a:latin typeface="Arial"/>
              </a:rPr>
              <a:t>O</a:t>
            </a:r>
            <a:r>
              <a:rPr sz="1275" b="1" cap="none" dirty="0">
                <a:solidFill>
                  <a:srgbClr val="00B0F0"/>
                </a:solidFill>
                <a:latin typeface="Arial"/>
              </a:rPr>
              <a:t>T</a:t>
            </a:r>
            <a:r>
              <a:rPr sz="1275" cap="none" dirty="0">
                <a:latin typeface="Arial"/>
              </a:rPr>
              <a:t> </a:t>
            </a:r>
            <a:r>
              <a:rPr sz="1275" b="1" cap="none" dirty="0">
                <a:solidFill>
                  <a:srgbClr val="00B0F0"/>
                </a:solidFill>
                <a:latin typeface="Arial"/>
              </a:rPr>
              <a:t>and total output tok/s.</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dirty="0">
                <a:latin typeface="Arial"/>
              </a:rPr>
              <a:t>TTFT also includes delivery; ITL is not just decode time. TPOT = avg. time per output token. Sources: </a:t>
            </a:r>
            <a:r>
              <a:rPr sz="825" cap="none" dirty="0" err="1">
                <a:latin typeface="Arial"/>
              </a:rPr>
              <a:t>vLLM</a:t>
            </a:r>
            <a:r>
              <a:rPr sz="825" cap="none" dirty="0">
                <a:latin typeface="Arial"/>
              </a:rPr>
              <a:t>;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169D348-B678-52F2-9658-8DF9984D4975}"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ties two capacity decisions together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shared pool is simple, but prefill bursts compete with active decoding.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We must decide how to run each phase and how much shared capacity to add.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scales both phases together.</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Where is the trade-off?</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Adding a replica adds both phases, even if only one is busy.</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28DA5E-1BFD-54E8-B3C9-4F5FB8E58F81}"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is ongoing decode.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dirty="0">
                <a:latin typeface="Arial"/>
              </a:rPr>
              <a:t>Separate GPUs remove this execution conflict, but 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b="1" cap="none" dirty="0">
                <a:latin typeface="Arial"/>
              </a:rPr>
              <a:t>We still need a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can continue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B4C7E29-4AB2-5620-8B05-D5887A69BEA0}"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batches prompt positions; ordinary decode batches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gets parallel work from prompt length; decode gets it from active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process many input positions in one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We consume one new token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We can batch positions from multiple prompts.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we select each request’s next output token.</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raise ITL. Stay within latency and KV-memory budgets.</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44E89BC-B2E2-55EA-8424-6B46D6F453FE}" type="slidenum">
              <a:rPr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Separate pools let us tune each phase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choosing capacity for each phase, not just running two deployments.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if the gains outweigh KV transfer, extra weight copies and operating costs.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Prefill is often compute-bound.</a:t>
            </a:r>
          </a:p>
          <a:p>
            <a:pPr>
              <a:spcAft>
                <a:spcPts val="375"/>
              </a:spcAft>
              <a:defRPr sz="1800" b="0">
                <a:solidFill>
                  <a:srgbClr val="172941"/>
                </a:solidFill>
                <a:latin typeface="Arial"/>
              </a:defRPr>
            </a:pPr>
            <a:r>
              <a:rPr sz="1350" cap="none">
                <a:latin typeface="Arial"/>
              </a:rPr>
              <a:t>Tune its capacity and parallelism for TTFT.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Decode is often bandwidth-bound.</a:t>
            </a:r>
          </a:p>
          <a:p>
            <a:pPr>
              <a:spcAft>
                <a:spcPts val="375"/>
              </a:spcAft>
              <a:defRPr sz="1800" b="0">
                <a:solidFill>
                  <a:srgbClr val="172941"/>
                </a:solidFill>
                <a:latin typeface="Arial"/>
              </a:defRPr>
            </a:pPr>
            <a:r>
              <a:rPr sz="1350" cap="none">
                <a:latin typeface="Arial"/>
              </a:rPr>
              <a:t>Tune its capacity and batching for ITL.</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08DF92D-F553-51E4-BFEF-426FDAA9E6C4}"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pools still have to work together as one model service.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KV transfer, labels, ports and readiness must stay in sync.</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Both roles serve one model.</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The EPP picks workers.</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KV transfer settings must match.</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We coordinate requests.</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Keep pods ready as replicas change.</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8225035-027D-52F9-82D5-82890CDA2AAC}" type="slidenum">
              <a:rPr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has several paths, not one winner</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examples, not a ranking. Some approaches can work together.</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We want simpler integration, not the first P/D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LWS DisaggregatedSet manages roles; engines and KV transport are still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A0110B-285A-5FA0-8058-78B52F37C189}" type="slidenum">
              <a:rPr lang="en-US"/>
              <a:t>13</a:t>
            </a:fld>
            <a:endParaRPr lang="en-US"/>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llm-d connects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Modular architecture</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Gateway API connects inference routing to Kubernetes.</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Extensible components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We combine runtimes, routing plugins and KV transport.</a:t>
            </a:r>
          </a:p>
          <a:p>
            <a:pPr marL="0" indent="0" algn="l">
              <a:lnSpc>
                <a:spcPct val="108000"/>
              </a:lnSpc>
              <a:spcBef>
                <a:spcPts val="0"/>
              </a:spcBef>
              <a:spcAft>
                <a:spcPts val="500"/>
              </a:spcAft>
              <a:buNone/>
              <a:defRPr sz="1000" b="0">
                <a:solidFill>
                  <a:srgbClr val="142C46"/>
                </a:solidFill>
                <a:latin typeface="Arial"/>
              </a:defRPr>
            </a:pPr>
            <a:r>
              <a:rPr sz="1100" b="1" dirty="0">
                <a:solidFill>
                  <a:srgbClr val="346CEC"/>
                </a:solidFill>
                <a:latin typeface="Arial"/>
              </a:rPr>
              <a:t>Well-lit paths</a:t>
            </a:r>
          </a:p>
          <a:p>
            <a:pPr marL="0" indent="0" algn="l">
              <a:lnSpc>
                <a:spcPct val="108000"/>
              </a:lnSpc>
              <a:spcBef>
                <a:spcPts val="0"/>
              </a:spcBef>
              <a:spcAft>
                <a:spcPts val="1200"/>
              </a:spcAft>
              <a:buNone/>
              <a:defRPr sz="1000" b="0">
                <a:solidFill>
                  <a:srgbClr val="142C46"/>
                </a:solidFill>
                <a:latin typeface="Arial"/>
              </a:defRPr>
            </a:pPr>
            <a:r>
              <a:rPr sz="1000" b="0" dirty="0">
                <a:solidFill>
                  <a:srgbClr val="142C46"/>
                </a:solidFill>
                <a:latin typeface="Arial"/>
              </a:rPr>
              <a:t>Tested deployment patterns make trade-offs clear.</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marL="0" indent="0" algn="l">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A7F602-171C-5CC4-A39F-59E0A94CBFBA}" type="slidenum">
              <a:rPr lang="en-US"/>
              <a:t>14</a:t>
            </a:fld>
            <a:endParaRPr lang="en-US"/>
          </a:p>
        </p:txBody>
      </p:sp>
    </p:spTree>
    <p:extLst>
      <p:ext uri="{BB962C8B-B14F-4D97-AF65-F5344CB8AC3E}">
        <p14:creationId xmlns:p14="http://schemas.microsoft.com/office/powerpoint/2010/main" val="33483791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wrap="square" lIns="0" tIns="0" rIns="0" bIns="0" anchor="t">
            <a:noAutofit/>
          </a:bodyPr>
          <a:lstStyle/>
          <a:p>
            <a:pPr marL="0" indent="0" algn="l">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build on the serving runtime, not replace it.</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We combine reusable components.</a:t>
            </a:r>
          </a:p>
          <a:p>
            <a:pPr marL="0" indent="0" algn="l">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Deployment paths explain the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Expert parallelism spreads expert computation across GPUs.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We separate the phases and transfer KV between roles.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Routing plugins use cache and load signals to pick workers.</a:t>
            </a:r>
          </a:p>
          <a:p>
            <a:pPr marL="0" indent="0" algn="l">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marL="0" indent="0" algn="l">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Workload signals and SLOs guide capacity; each integration chooses its policy.</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200" b="0">
                <a:solidFill>
                  <a:srgbClr val="52677D"/>
                </a:solidFill>
                <a:latin typeface="Arial"/>
              </a:defRPr>
            </a:pPr>
            <a:r>
              <a:rPr sz="1200" b="0">
                <a:solidFill>
                  <a:srgbClr val="52677D"/>
                </a:solidFill>
                <a:latin typeface="Arial"/>
              </a:rPr>
              <a:t>These are reusable capabilities, not a performance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tIns="0" rIns="0" bIns="0" anchor="t">
            <a:noAutofit/>
          </a:bodyPr>
          <a:lstStyle/>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This shows project history,</a:t>
            </a:r>
          </a:p>
          <a:p>
            <a:pPr marL="0" indent="0" algn="l">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serving performance.</a:t>
            </a:r>
          </a:p>
        </p:txBody>
      </p:sp>
      <p:sp>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
        <p:nvSpPr>
          <p:cNvPr id="3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A1FC9AA-8A27-5007-8CA3-E320F79495E1}" type="slidenum">
              <a:rPr lang="en-US"/>
              <a:t>15</a:t>
            </a:fld>
            <a:endParaRPr lang="en-US"/>
          </a:p>
        </p:txBody>
      </p:sp>
    </p:spTree>
    <p:extLst>
      <p:ext uri="{BB962C8B-B14F-4D97-AF65-F5344CB8AC3E}">
        <p14:creationId xmlns:p14="http://schemas.microsoft.com/office/powerpoint/2010/main" val="27049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tested deployment patterns explain the trade-offs.</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35F917B-C6BC-5F81-B5BA-F01A8FB9B5B8}" type="slidenum">
              <a:rPr lang="en-US"/>
              <a:t>16</a:t>
            </a:fld>
            <a:endParaRPr lang="en-US"/>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KAITO automates LLM inference, fine-tuning and RAG with Kubernetes operators.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Choose a model and GPU.</a:t>
            </a:r>
            <a:br/>
            <a:r>
              <a:rPr sz="1300" cap="none">
                <a:solidFill>
                  <a:srgbClr val="142C46"/>
                </a:solidFill>
                <a:latin typeface="Arial"/>
              </a:rPr>
              <a:t>KAITO sizes nodes for model memory.</a:t>
            </a:r>
            <a:br/>
            <a:r>
              <a:rPr sz="1300" cap="none">
                <a:solidFill>
                  <a:srgbClr val="142C46"/>
                </a:solidFill>
                <a:latin typeface="Arial"/>
              </a:rPr>
              <a:t>It sets up and caches models.</a:t>
            </a:r>
            <a:br/>
            <a:r>
              <a:rPr sz="1300" cap="none">
                <a:solidFill>
                  <a:srgbClr val="142C46"/>
                </a:solidFill>
                <a:latin typeface="Arial"/>
              </a:rPr>
              <a:t>It manages InferenceSets and rolling updates.</a:t>
            </a:r>
            <a:br/>
            <a:r>
              <a:rPr sz="1300" cap="none">
                <a:solidFill>
                  <a:srgbClr val="142C46"/>
                </a:solidFill>
                <a:latin typeface="Arial"/>
              </a:rPr>
              <a:t>KEDA scales the workload.</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B26C1FB-63EB-594A-A3FB-E44458705754}" type="slidenum">
              <a:rPr lang="en-US"/>
              <a:t>17</a:t>
            </a:fld>
            <a:endParaRPr lang="en-US"/>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
        <p:nvSpPr>
          <p:cNvPr id="5" name="TextBox 4">
            <a:extLst>
              <a:ext uri="{FF2B5EF4-FFF2-40B4-BE49-F238E27FC236}">
                <a16:creationId xmlns:a16="http://schemas.microsoft.com/office/drawing/2014/main" id="{6053000E-CF1E-C0D3-11FA-D4E8ED1A7F6C}"/>
              </a:ext>
            </a:extLst>
          </p:cNvPr>
          <p:cNvSpPr txBox="1"/>
          <p:nvPr/>
        </p:nvSpPr>
        <p:spPr>
          <a:xfrm>
            <a:off x="2286000" y="2428494"/>
            <a:ext cx="4572000" cy="288541"/>
          </a:xfrm>
          <a:prstGeom prst="rect">
            <a:avLst/>
          </a:prstGeom>
          <a:noFill/>
        </p:spPr>
        <p:txBody>
          <a:bodyPr wrap="square">
            <a:spAutoFit/>
          </a:bodyPr>
          <a:lstStyle/>
          <a:p>
            <a:r>
              <a:rPr lang="en-US" altLang="zh-CN" sz="1275" cap="none" dirty="0">
                <a:latin typeface="Arial"/>
              </a:rPr>
              <a:t>injection</a:t>
            </a:r>
            <a:endParaRPr lang="zh-CN" altLang="en-US" dirty="0"/>
          </a:p>
        </p:txBody>
      </p:sp>
      <p:sp>
        <p:nvSpPr>
          <p:cNvPr id="7" name="CNCF Sandbox project badge">
            <a:extLst>
              <a:ext uri="{FF2B5EF4-FFF2-40B4-BE49-F238E27FC236}">
                <a16:creationId xmlns:a16="http://schemas.microsoft.com/office/drawing/2014/main" id="{ECBBFB4C-B88F-CC6E-89AE-FE8C9C420F16}"/>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marL="0" indent="0" algn="l">
              <a:lnSpc>
                <a:spcPct val="108000"/>
              </a:lnSpc>
              <a:spcBef>
                <a:spcPts val="0"/>
              </a:spcBef>
              <a:spcAft>
                <a:spcPts val="0"/>
              </a:spcAft>
              <a:buNone/>
              <a:defRPr sz="1100" b="1">
                <a:solidFill>
                  <a:srgbClr val="087F8C"/>
                </a:solidFill>
                <a:latin typeface="Arial"/>
              </a:defRPr>
            </a:pPr>
            <a:r>
              <a:rPr sz="1100" b="1" dirty="0">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We declare the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lnSpcReduction="10000"/>
          </a:bodyPr>
          <a:lstStyle/>
          <a:p>
            <a:r>
              <a:rPr lang="en-US" sz="1600" cap="none" dirty="0">
                <a:solidFill>
                  <a:srgbClr val="142C46"/>
                </a:solidFill>
                <a:latin typeface="Consolas" panose="020B0609020204030204" pitchFamily="49" charset="0"/>
              </a:rPr>
              <a:t>apiVersion: kaito.sh/v1beta1</a:t>
            </a:r>
            <a:br>
              <a:rPr sz="1800" dirty="0"/>
            </a:br>
            <a:r>
              <a:rPr sz="1600" cap="none" dirty="0">
                <a:solidFill>
                  <a:srgbClr val="142C46"/>
                </a:solidFill>
                <a:latin typeface="Consolas"/>
              </a:rPr>
              <a:t>kind: </a:t>
            </a:r>
            <a:r>
              <a:rPr sz="1600" cap="none" dirty="0" err="1">
                <a:solidFill>
                  <a:srgbClr val="142C46"/>
                </a:solidFill>
                <a:latin typeface="Consolas"/>
              </a:rPr>
              <a:t>InferenceSet</a:t>
            </a:r>
            <a:br>
              <a:rPr sz="1800" dirty="0"/>
            </a:br>
            <a:r>
              <a:rPr sz="1600" cap="none" dirty="0">
                <a:solidFill>
                  <a:srgbClr val="142C46"/>
                </a:solidFill>
                <a:latin typeface="Consolas"/>
              </a:rPr>
              <a:t>metadata:</a:t>
            </a:r>
            <a:br>
              <a:rPr sz="1800" dirty="0"/>
            </a:br>
            <a:r>
              <a:rPr sz="1600" cap="none" dirty="0">
                <a:solidFill>
                  <a:srgbClr val="142C46"/>
                </a:solidFill>
                <a:latin typeface="Consolas"/>
              </a:rPr>
              <a:t>  name: qwen3-coder-30b</a:t>
            </a:r>
            <a:br>
              <a:rPr sz="1800" dirty="0"/>
            </a:br>
            <a:r>
              <a:rPr sz="1600" cap="none" dirty="0">
                <a:solidFill>
                  <a:srgbClr val="142C46"/>
                </a:solidFill>
                <a:latin typeface="Consolas"/>
              </a:rPr>
              <a:t>spec:</a:t>
            </a:r>
            <a:br>
              <a:rPr sz="1800" dirty="0"/>
            </a:br>
            <a:r>
              <a:rPr sz="1600" cap="none" dirty="0">
                <a:solidFill>
                  <a:srgbClr val="142C46"/>
                </a:solidFill>
                <a:latin typeface="Consolas"/>
              </a:rPr>
              <a:t>  replicas: </a:t>
            </a:r>
            <a:r>
              <a:rPr sz="1600" cap="none" dirty="0">
                <a:solidFill>
                  <a:srgbClr val="00B050"/>
                </a:solidFill>
                <a:latin typeface="Consolas"/>
              </a:rPr>
              <a:t>3</a:t>
            </a:r>
            <a:br>
              <a:rPr sz="1800" dirty="0"/>
            </a:br>
            <a:r>
              <a:rPr sz="1600" cap="none" dirty="0">
                <a:solidFill>
                  <a:srgbClr val="142C46"/>
                </a:solidFill>
                <a:latin typeface="Consolas"/>
              </a:rPr>
              <a:t>  </a:t>
            </a:r>
            <a:r>
              <a:rPr sz="1600" cap="none" dirty="0" err="1">
                <a:solidFill>
                  <a:srgbClr val="142C46"/>
                </a:solidFill>
                <a:latin typeface="Consolas"/>
              </a:rPr>
              <a:t>labelSelector</a:t>
            </a:r>
            <a:r>
              <a:rPr sz="1600" cap="none" dirty="0">
                <a:solidFill>
                  <a:srgbClr val="142C46"/>
                </a:solidFill>
                <a:latin typeface="Consolas"/>
              </a:rPr>
              <a:t>:</a:t>
            </a:r>
            <a:br>
              <a:rPr sz="1800" dirty="0"/>
            </a:br>
            <a:r>
              <a:rPr sz="1600" cap="none" dirty="0">
                <a:solidFill>
                  <a:srgbClr val="142C46"/>
                </a:solidFill>
                <a:latin typeface="Consolas"/>
              </a:rPr>
              <a:t>    </a:t>
            </a:r>
            <a:r>
              <a:rPr sz="1600" cap="none" dirty="0" err="1">
                <a:solidFill>
                  <a:srgbClr val="142C46"/>
                </a:solidFill>
                <a:latin typeface="Consolas"/>
              </a:rPr>
              <a:t>matchLabels</a:t>
            </a:r>
            <a:r>
              <a:rPr sz="1600" cap="none" dirty="0">
                <a:solidFill>
                  <a:srgbClr val="142C46"/>
                </a:solidFill>
                <a:latin typeface="Consolas"/>
              </a:rPr>
              <a:t>:</a:t>
            </a:r>
            <a:br>
              <a:rPr sz="1800" dirty="0"/>
            </a:br>
            <a:r>
              <a:rPr sz="1600" cap="none" dirty="0">
                <a:solidFill>
                  <a:srgbClr val="142C46"/>
                </a:solidFill>
                <a:latin typeface="Consolas"/>
              </a:rPr>
              <a:t>      app: qwen3-coder-30b</a:t>
            </a:r>
            <a:br>
              <a:rPr sz="1800" dirty="0"/>
            </a:br>
            <a:r>
              <a:rPr sz="1600" cap="none" dirty="0">
                <a:solidFill>
                  <a:srgbClr val="142C46"/>
                </a:solidFill>
                <a:latin typeface="Consolas"/>
              </a:rPr>
              <a:t>  template:</a:t>
            </a:r>
            <a:br>
              <a:rPr sz="1800" dirty="0"/>
            </a:br>
            <a:r>
              <a:rPr sz="1600" cap="none" dirty="0">
                <a:solidFill>
                  <a:srgbClr val="142C46"/>
                </a:solidFill>
                <a:latin typeface="Consolas"/>
              </a:rPr>
              <a:t>    resource:</a:t>
            </a:r>
            <a:br>
              <a:rPr sz="1800" dirty="0"/>
            </a:br>
            <a:r>
              <a:rPr sz="1600" cap="none" dirty="0">
                <a:solidFill>
                  <a:srgbClr val="142C46"/>
                </a:solidFill>
                <a:latin typeface="Consolas"/>
              </a:rPr>
              <a:t>      </a:t>
            </a:r>
            <a:r>
              <a:rPr sz="1600" cap="none" dirty="0" err="1">
                <a:solidFill>
                  <a:srgbClr val="142C46"/>
                </a:solidFill>
                <a:latin typeface="Consolas"/>
              </a:rPr>
              <a:t>instanceType</a:t>
            </a:r>
            <a:r>
              <a:rPr sz="1600" cap="none" dirty="0">
                <a:solidFill>
                  <a:srgbClr val="142C46"/>
                </a:solidFill>
                <a:latin typeface="Consolas"/>
              </a:rPr>
              <a:t>: </a:t>
            </a:r>
            <a:r>
              <a:rPr sz="1600" b="1" cap="none" dirty="0">
                <a:solidFill>
                  <a:srgbClr val="00B050"/>
                </a:solidFill>
                <a:latin typeface="Consolas"/>
              </a:rPr>
              <a:t>Standard_NC24ads_A100_v4</a:t>
            </a:r>
            <a:r>
              <a:rPr sz="1600" cap="none" dirty="0">
                <a:solidFill>
                  <a:srgbClr val="142C46"/>
                </a:solidFill>
                <a:latin typeface="Consolas"/>
              </a:rPr>
              <a:t>   # &lt;- GPU SKU</a:t>
            </a:r>
            <a:br>
              <a:rPr sz="1800" dirty="0"/>
            </a:br>
            <a:r>
              <a:rPr sz="1600" cap="none" dirty="0">
                <a:solidFill>
                  <a:srgbClr val="142C46"/>
                </a:solidFill>
                <a:latin typeface="Consolas"/>
              </a:rPr>
              <a:t>    inference:</a:t>
            </a:r>
            <a:br>
              <a:rPr sz="1800" dirty="0"/>
            </a:br>
            <a:r>
              <a:rPr sz="1600" cap="none" dirty="0">
                <a:solidFill>
                  <a:srgbClr val="142C46"/>
                </a:solidFill>
                <a:latin typeface="Consolas"/>
              </a:rPr>
              <a:t>      preset:</a:t>
            </a:r>
            <a:br>
              <a:rPr sz="1800" dirty="0"/>
            </a:br>
            <a:r>
              <a:rPr sz="1600" cap="none" dirty="0">
                <a:solidFill>
                  <a:srgbClr val="142C46"/>
                </a:solidFill>
                <a:latin typeface="Consolas"/>
              </a:rPr>
              <a:t>        name: </a:t>
            </a:r>
            <a:r>
              <a:rPr sz="1600" b="1" dirty="0">
                <a:solidFill>
                  <a:srgbClr val="00B050"/>
                </a:solidFill>
                <a:latin typeface="Consolas"/>
              </a:rPr>
              <a:t>Qwen/Qwen3-Coder-30B-A3B-Instruct  </a:t>
            </a:r>
            <a:r>
              <a:rPr sz="1600" cap="none" dirty="0">
                <a:solidFill>
                  <a:srgbClr val="142C46"/>
                </a:solidFill>
                <a:latin typeface="Consolas"/>
              </a:rPr>
              <a:t># </a:t>
            </a:r>
            <a:r>
              <a:rPr lang="en-US" sz="1600" b="1" cap="none" dirty="0" err="1">
                <a:solidFill>
                  <a:srgbClr val="142C46"/>
                </a:solidFill>
                <a:latin typeface="Consolas"/>
              </a:rPr>
              <a:t>huggingface</a:t>
            </a:r>
            <a:r>
              <a:rPr lang="en-US" sz="1600" cap="none" dirty="0">
                <a:solidFill>
                  <a:srgbClr val="142C46"/>
                </a:solidFill>
                <a:latin typeface="Consolas"/>
              </a:rPr>
              <a:t> </a:t>
            </a:r>
            <a:r>
              <a:rPr sz="1600" cap="none" dirty="0">
                <a:solidFill>
                  <a:srgbClr val="142C46"/>
                </a:solidFill>
                <a:latin typeface="Consolas"/>
              </a:rPr>
              <a:t>model</a:t>
            </a:r>
            <a:r>
              <a:rPr lang="en-US" sz="1600" cap="none" dirty="0">
                <a:solidFill>
                  <a:srgbClr val="142C46"/>
                </a:solidFill>
                <a:latin typeface="Consolas"/>
              </a:rPr>
              <a:t> ID</a:t>
            </a:r>
            <a:endParaRPr sz="1600" cap="none" dirty="0">
              <a:solidFill>
                <a:srgbClr val="142C46"/>
              </a:solidFill>
              <a:latin typeface="Consolas"/>
            </a:endParaRP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9D51930-7DCB-554E-97B0-66A030D60AD4}" type="slidenum">
              <a:rPr lang="en-US"/>
              <a:t>18</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lnSpcReduction="10000"/>
          </a:bodyPr>
          <a:lstStyle/>
          <a:p>
            <a:r>
              <a:rPr lang="en-US" sz="2400" b="1" dirty="0"/>
              <a:t>KAITO works out the initial GPU node count</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Choose the model and GPU SKU. KAITO estimates how many nodes the model needs.</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KAITO reserves memory for overhead and KV cache, then fits the weights into the remaining GPU memory.</a:t>
            </a:r>
          </a:p>
        </p:txBody>
      </p:sp>
      <p:sp>
        <p:nvSpPr>
          <p:cNvPr id="5" name="Formula"/>
          <p:cNvSpPr txBox="1"/>
          <p:nvPr/>
        </p:nvSpPr>
        <p:spPr>
          <a:xfrm>
            <a:off x="457200" y="1979999"/>
            <a:ext cx="8567766" cy="1899437"/>
          </a:xfrm>
          <a:prstGeom prst="rect">
            <a:avLst/>
          </a:prstGeom>
          <a:solidFill>
            <a:srgbClr val="F5F5F5"/>
          </a:solidFill>
          <a:ln w="9525">
            <a:solidFill>
              <a:srgbClr val="D0D0D0"/>
            </a:solidFill>
          </a:ln>
        </p:spPr>
        <p:txBody>
          <a:bodyPr wrap="square" lIns="91440" tIns="45720" rIns="91440" bIns="45720" rtlCol="0">
            <a:normAutofit/>
          </a:bodyPr>
          <a:lstStyle/>
          <a:p>
            <a:r>
              <a:rPr lang="en-US" sz="1600" dirty="0">
                <a:latin typeface="Consolas" panose="020B0609020204030204" pitchFamily="49" charset="0"/>
              </a:rPr>
              <a:t>per-GPU budget = GPU memory  ×  0.84            (vLLM memory utilization)</a:t>
            </a:r>
          </a:p>
          <a:p>
            <a:r>
              <a:rPr lang="en-US" sz="1600" dirty="0">
                <a:latin typeface="Consolas" panose="020B0609020204030204" pitchFamily="49" charset="0"/>
              </a:rPr>
              <a:t>               −  ~2.3 GiB   fixed overhead</a:t>
            </a:r>
          </a:p>
          <a:p>
            <a:r>
              <a:rPr lang="en-US" sz="1600" dirty="0">
                <a:latin typeface="Consolas" panose="020B0609020204030204" pitchFamily="49" charset="0"/>
              </a:rPr>
              <a:t>               −  KV cache   ( max-model-len × bytes-per-token )</a:t>
            </a:r>
          </a:p>
          <a:p>
            <a:r>
              <a:rPr lang="en-US" sz="1600" dirty="0">
                <a:latin typeface="Consolas" panose="020B0609020204030204" pitchFamily="49" charset="0"/>
              </a:rPr>
              <a:t> </a:t>
            </a:r>
          </a:p>
          <a:p>
            <a:r>
              <a:rPr lang="en-US" sz="1600" dirty="0">
                <a:latin typeface="Consolas" panose="020B0609020204030204" pitchFamily="49" charset="0"/>
              </a:rPr>
              <a:t>min GPUs    = ceil( model weights  ÷  per-GPU budget )   (weights × 1.02)</a:t>
            </a:r>
          </a:p>
          <a:p>
            <a:r>
              <a:rPr lang="en-US" sz="160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Save the result as status.targetNodeCount.</a:t>
            </a:r>
          </a:p>
          <a:p>
            <a:r>
              <a:rPr lang="en-US" sz="1200" dirty="0"/>
              <a:t>This path uses tensor parallelism within nodes and pipeline parallelism across nodes. It sizes memory, not traffic capacity.</a:t>
            </a:r>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
        <p:nvSpPr>
          <p:cNvPr id="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E9836E9-72EC-5255-94D6-C8ED7AE999CF}"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bring llm-d into KAITO?</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We want P/D routing without replacing KAITO’s Kubernetes operating model.</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manages deployment and lifecycle. llm-d adds endpoint selection and request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vLLM runs; NIXL moves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and InferenceSet.</a:t>
            </a:r>
          </a:p>
          <a:p>
            <a:pPr>
              <a:spcAft>
                <a:spcPts val="375"/>
              </a:spcAft>
              <a:defRPr sz="1400" b="0">
                <a:solidFill>
                  <a:srgbClr val="172941"/>
                </a:solidFill>
                <a:latin typeface="Arial"/>
              </a:defRPr>
            </a:pPr>
            <a:r>
              <a:rPr sz="1050" cap="none">
                <a:latin typeface="Arial"/>
              </a:rPr>
              <a:t>Give each role its own replicas,</a:t>
            </a:r>
          </a:p>
          <a:p>
            <a:pPr>
              <a:spcAft>
                <a:spcPts val="375"/>
              </a:spcAft>
              <a:defRPr sz="1400" b="0">
                <a:solidFill>
                  <a:srgbClr val="172941"/>
                </a:solidFill>
                <a:latin typeface="Arial"/>
              </a:defRPr>
            </a:pPr>
            <a:r>
              <a:rPr sz="1050" cap="none">
                <a:latin typeface="Arial"/>
              </a:rPr>
              <a:t>GPU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llm-d’s P/D routing.</a:t>
            </a:r>
          </a:p>
          <a:p>
            <a:pPr>
              <a:spcAft>
                <a:spcPts val="375"/>
              </a:spcAft>
              <a:defRPr sz="1400" b="0">
                <a:solidFill>
                  <a:srgbClr val="172941"/>
                </a:solidFill>
                <a:latin typeface="Arial"/>
              </a:defRPr>
            </a:pPr>
            <a:r>
              <a:rPr sz="1050" cap="none">
                <a:latin typeface="Arial"/>
              </a:rPr>
              <a:t>KAITO connects the sidecars,</a:t>
            </a:r>
          </a:p>
          <a:p>
            <a:pPr>
              <a:spcAft>
                <a:spcPts val="375"/>
              </a:spcAft>
              <a:defRPr sz="1400" b="0">
                <a:solidFill>
                  <a:srgbClr val="172941"/>
                </a:solidFill>
                <a:latin typeface="Arial"/>
              </a:defRPr>
            </a:pPr>
            <a:r>
              <a:rPr sz="1050" cap="none">
                <a:latin typeface="Arial"/>
              </a:rPr>
              <a:t>ports and InferencePool.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and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not in a second KAITO router.</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MultiRoleInference (MRI) is alpha: vLLM + Istio + GPU connectivity. Per-role autoscaling still needs integration.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2F19952-092E-53EE-BF11-96488629C97D}"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Where </a:t>
            </a:r>
            <a:r>
              <a:rPr b="1" cap="none" dirty="0">
                <a:solidFill>
                  <a:srgbClr val="346CEC"/>
                </a:solidFill>
              </a:rPr>
              <a:t>KAITO</a:t>
            </a:r>
            <a:r>
              <a:rPr cap="none" dirty="0"/>
              <a:t> and </a:t>
            </a:r>
            <a:r>
              <a:rPr b="1" cap="none" dirty="0" err="1">
                <a:solidFill>
                  <a:srgbClr val="168C96"/>
                </a:solidFill>
              </a:rPr>
              <a:t>llm</a:t>
            </a:r>
            <a:r>
              <a:rPr b="1" cap="none" dirty="0">
                <a:solidFill>
                  <a:srgbClr val="168C96"/>
                </a:solidFill>
              </a:rPr>
              <a:t>-d</a:t>
            </a:r>
            <a:r>
              <a:rPr cap="none" dirty="0"/>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This is a map of responsibilities, not a required installation checklist.</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Applications call the inference API.</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gateway handles ingress, auth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manages lifecycle; </a:t>
            </a:r>
            <a:r>
              <a:rPr b="1" cap="none" dirty="0" err="1">
                <a:solidFill>
                  <a:srgbClr val="168C96"/>
                </a:solidFill>
              </a:rPr>
              <a:t>llm</a:t>
            </a:r>
            <a:r>
              <a:rPr b="1" cap="none" dirty="0">
                <a:solidFill>
                  <a:srgbClr val="168C96"/>
                </a:solidFill>
              </a:rPr>
              <a:t>-d</a:t>
            </a:r>
            <a:r>
              <a:rPr cap="none" dirty="0"/>
              <a:t> selects endpoints.</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runs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moves KV; cache systems reuse or offload it.</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The infrastructure supports the stack.</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We will follow the roles,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DD80BB0-C4A7-5D0F-8AC6-E9BAA6625D0E}" type="slidenum">
              <a:rPr lang="en-US"/>
              <a:t>21</a:t>
            </a:fld>
            <a:endParaRPr lang="en-US"/>
          </a:p>
        </p:txBody>
      </p:sp>
      <p:sp>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both roles together. Keep orchestration separate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Serve one model through one endpoint.</a:t>
            </a:r>
          </a:p>
          <a:p>
            <a:pPr>
              <a:spcAft>
                <a:spcPts val="500"/>
              </a:spcAft>
              <a:defRPr sz="1600" b="0">
                <a:solidFill>
                  <a:srgbClr val="142C46"/>
                </a:solidFill>
                <a:latin typeface="Arial"/>
              </a:defRPr>
            </a:pPr>
            <a:r>
              <a:rPr cap="none"/>
              <a:t>Give prefill and decode their own</a:t>
            </a:r>
          </a:p>
          <a:p>
            <a:pPr>
              <a:spcAft>
                <a:spcPts val="500"/>
              </a:spcAft>
              <a:defRPr sz="1600" b="0">
                <a:solidFill>
                  <a:srgbClr val="142C46"/>
                </a:solidFill>
                <a:latin typeface="Arial"/>
              </a:defRPr>
            </a:pPr>
            <a:r>
              <a:rPr cap="none"/>
              <a:t>placement and replica counts.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KAITO maintains the role topology.</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links to the gateway.</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llm-d selects and coordinates.</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vLLM runs; NIXL transfers KV.</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One service coordinates P/D requests, while each role keeps its own capacity settings.</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5A6428B-490A-53AA-8214-D5799B07E23F}" type="slidenum">
              <a:rPr lang="en-US"/>
              <a:t>22</a:t>
            </a:fld>
            <a:endParaRPr lang="en-US"/>
          </a:p>
        </p:txBody>
      </p:sp>
      <p:sp>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picks workers for each role</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vLLM executes the inference phases.</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Choose workers for</a:t>
            </a:r>
          </a:p>
          <a:p>
            <a:pPr>
              <a:spcAft>
                <a:spcPts val="150"/>
              </a:spcAft>
              <a:defRPr sz="1600" b="0">
                <a:solidFill>
                  <a:srgbClr val="5B6E80"/>
                </a:solidFill>
                <a:latin typeface="Arial"/>
              </a:defRPr>
            </a:pPr>
            <a:r>
              <a:rPr sz="1200" cap="none">
                <a:latin typeface="Arial"/>
              </a:rPr>
              <a:t>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Combine KV-aware and</a:t>
            </a:r>
          </a:p>
          <a:p>
            <a:pPr>
              <a:spcAft>
                <a:spcPts val="150"/>
              </a:spcAft>
              <a:defRPr sz="1600" b="0">
                <a:solidFill>
                  <a:srgbClr val="5B6E80"/>
                </a:solidFill>
                <a:latin typeface="Arial"/>
              </a:defRPr>
            </a:pPr>
            <a:r>
              <a:rPr sz="1200" cap="none">
                <a:latin typeface="Arial"/>
              </a:rPr>
              <a:t>P/D-aware plugins.</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Add new policies</a:t>
            </a:r>
          </a:p>
          <a:p>
            <a:pPr>
              <a:spcAft>
                <a:spcPts val="150"/>
              </a:spcAft>
              <a:defRPr sz="1600" b="0">
                <a:solidFill>
                  <a:srgbClr val="5B6E80"/>
                </a:solidFill>
                <a:latin typeface="Arial"/>
              </a:defRPr>
            </a:pPr>
            <a:r>
              <a:rPr sz="1200" cap="none">
                <a:latin typeface="Arial"/>
              </a:rPr>
              <a:t>through plugins.</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reuses llm-d’s routing decisions instead of building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67E9DD2-B1D3-54D6-9EE1-5859D70BE723}"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manages resources. HTTP carries requests. NIXL moves KV between runtimes.</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uses one endpoint. KV data bypasses the gateway, EPP and routing sidecar.</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B5E8E64-6832-5599-A743-0C9BB1EDEEF0}"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declares both roles</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This example puts one prefill replica on A100 and two decode replicas on H100.</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Both roles serve the same model. Each has its own InferenceSet and capacity settings.</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C9D11D3-B3E0-5610-AEC2-EA17DC1E4AC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creates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KAITO turns the declared topology into workers, routing resources and runtime wiring.</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Set role labels and</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dirty="0">
                <a:latin typeface="Arial"/>
              </a:rPr>
              <a:t>Inject the sidecar.</a:t>
            </a:r>
          </a:p>
          <a:p>
            <a:pPr>
              <a:spcAft>
                <a:spcPts val="150"/>
              </a:spcAft>
              <a:defRPr sz="1700" b="0">
                <a:solidFill>
                  <a:srgbClr val="5B6E80"/>
                </a:solidFill>
                <a:latin typeface="Arial"/>
              </a:defRPr>
            </a:pPr>
            <a:r>
              <a:rPr sz="1275" cap="none" dirty="0">
                <a:latin typeface="Arial"/>
              </a:rPr>
              <a:t>Align NIXL and </a:t>
            </a:r>
            <a:r>
              <a:rPr sz="1275" cap="none" dirty="0" err="1">
                <a:latin typeface="Arial"/>
              </a:rPr>
              <a:t>vLLM</a:t>
            </a:r>
            <a:r>
              <a:rPr sz="1275" cap="none" dirty="0">
                <a:latin typeface="Arial"/>
              </a:rPr>
              <a:t>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Connect Services, ports</a:t>
            </a:r>
          </a:p>
          <a:p>
            <a:pPr>
              <a:spcAft>
                <a:spcPts val="150"/>
              </a:spcAft>
              <a:defRPr sz="1700" b="0">
                <a:solidFill>
                  <a:srgbClr val="5B6E80"/>
                </a:solidFill>
                <a:latin typeface="Arial"/>
              </a:defRPr>
            </a:pPr>
            <a:r>
              <a:rPr sz="1275" cap="none">
                <a:latin typeface="Arial"/>
              </a:rPr>
              <a:t>and endpoint selection.</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Keep ownership, roles, labels, ports and lifecycle consistent.</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keeps the resources working together; it does not just generate YAML.</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08E8023-5113-5A9C-8494-14DFEC31E5A7}"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sidecar calls remote prefill when needed, then invokes local decode.</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passes calls and KV metadata. The runtimes transfer the actual KV data.</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7EAFE44-CF2A-55A1-80B8-E6C294FE352D}"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vLLM</a:t>
            </a:r>
            <a:r>
              <a:rPr cap="none" dirty="0"/>
              <a:t> and NIXL move KV between workers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moves between runtimes, 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Prefill builds KV</a:t>
            </a:r>
          </a:p>
          <a:p>
            <a:pPr>
              <a:spcAft>
                <a:spcPts val="500"/>
              </a:spcAft>
              <a:defRPr sz="1700" b="0">
                <a:solidFill>
                  <a:srgbClr val="142C46"/>
                </a:solidFill>
                <a:latin typeface="Arial"/>
              </a:defRPr>
            </a:pPr>
            <a:r>
              <a:rPr cap="none"/>
              <a:t>in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Decode reuses KV</a:t>
            </a:r>
          </a:p>
          <a:p>
            <a:pPr>
              <a:spcAft>
                <a:spcPts val="500"/>
              </a:spcAft>
              <a:defRPr sz="1700" b="0">
                <a:solidFill>
                  <a:srgbClr val="142C46"/>
                </a:solidFill>
                <a:latin typeface="Arial"/>
              </a:defRPr>
            </a:pPr>
            <a:r>
              <a:rPr cap="none"/>
              <a:t>to keep generating.</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uses a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needs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062C535-6B0B-59C1-8350-D9EEDE62CC85}" type="slidenum">
              <a:rPr lang="en-US"/>
              <a:t>28</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Scale the role that needs more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approach: let prefill and decode make separate capacity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Match signals to each role’s load. Tune thresholds against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dirty="0">
                <a:latin typeface="Arial"/>
              </a:rPr>
              <a:t>Prefill needs to protect</a:t>
            </a:r>
          </a:p>
          <a:p>
            <a:pPr>
              <a:spcAft>
                <a:spcPts val="375"/>
              </a:spcAft>
              <a:defRPr sz="2200" b="0">
                <a:solidFill>
                  <a:srgbClr val="172941"/>
                </a:solidFill>
                <a:latin typeface="Arial"/>
              </a:defRPr>
            </a:pPr>
            <a:r>
              <a:rPr sz="1650" cap="none" dirty="0">
                <a:latin typeface="Arial"/>
              </a:rPr>
              <a:t>time to first token </a:t>
            </a:r>
            <a:r>
              <a:rPr lang="en-US" sz="1650" cap="none" dirty="0">
                <a:latin typeface="Arial"/>
              </a:rPr>
              <a:t>(TTFT)</a:t>
            </a:r>
            <a:r>
              <a:rPr sz="1650" cap="none" dirty="0">
                <a:latin typeface="Arial"/>
              </a:rPr>
              <a:t>.</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Start with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Decode needs to sustain</a:t>
            </a:r>
          </a:p>
          <a:p>
            <a:pPr>
              <a:spcAft>
                <a:spcPts val="375"/>
              </a:spcAft>
              <a:defRPr sz="2200" b="0">
                <a:solidFill>
                  <a:srgbClr val="172941"/>
                </a:solidFill>
                <a:latin typeface="Arial"/>
              </a:defRPr>
            </a:pPr>
            <a:r>
              <a:rPr sz="1650" cap="none">
                <a:latin typeface="Arial"/>
              </a:rPr>
              <a:t>steady token delivery.</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Start with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202DEC2-6049-5BA3-9AA2-F2C508CD9D51}"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scales an InferenceSet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KAITO documents scheduled scaling and metric-based scaling with KEDA.</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KEDA / HPA sets replicas on the InferenceSet. KAITO adjusts serving resources.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One example watches queues.</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D337148B-DEC8-5D32-8406-A5C22C53566C}" type="slidenum">
              <a:rPr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94235" y="1504419"/>
            <a:ext cx="6382660" cy="3045938"/>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b="1" cap="none" dirty="0">
                <a:solidFill>
                  <a:srgbClr val="52677D"/>
                </a:solidFill>
                <a:latin typeface="Arial"/>
              </a:rPr>
              <a:t>Read vLLM metrics directly, without Prometheus.</a:t>
            </a:r>
          </a:p>
        </p:txBody>
      </p:sp>
      <p:sp>
        <p:nvSpPr>
          <p:cNvPr id="21" name="How It Works"/>
          <p:cNvSpPr/>
          <p:nvPr/>
        </p:nvSpPr>
        <p:spPr>
          <a:xfrm>
            <a:off x="6347776" y="1504419"/>
            <a:ext cx="2688895" cy="2883619"/>
          </a:xfrm>
          <a:prstGeom prst="roundRect">
            <a:avLst/>
          </a:prstGeom>
          <a:solidFill>
            <a:schemeClr val="bg1">
              <a:lumMod val="95000"/>
            </a:schemeClr>
          </a:solidFill>
          <a:ln w="12700">
            <a:solidFill>
              <a:schemeClr val="accent2"/>
            </a:solidFill>
          </a:ln>
        </p:spPr>
        <p:txBody>
          <a:bodyPr rtlCol="0" anchor="ctr">
            <a:normAutofit/>
          </a:bodyPr>
          <a:lstStyle/>
          <a:p>
            <a:r>
              <a:rPr lang="en-US" b="1" cap="none" dirty="0">
                <a:solidFill>
                  <a:srgbClr val="142C46"/>
                </a:solidFill>
                <a:latin typeface="Arial"/>
              </a:rPr>
              <a:t>What it adds</a:t>
            </a:r>
            <a:br/>
            <a:r>
              <a:rPr cap="none" dirty="0">
                <a:solidFill>
                  <a:srgbClr val="142C46"/>
                </a:solidFill>
                <a:latin typeface="Arial"/>
              </a:rPr>
              <a:t>Read vLLM metrics directly.</a:t>
            </a:r>
            <a:br/>
            <a:r>
              <a:rPr cap="none" dirty="0">
                <a:solidFill>
                  <a:srgbClr val="142C46"/>
                </a:solidFill>
                <a:latin typeface="Arial"/>
              </a:rPr>
              <a:t>Use queue and latency signals.</a:t>
            </a:r>
            <a:br/>
            <a:r>
              <a:rPr cap="none" dirty="0">
                <a:solidFill>
                  <a:srgbClr val="142C46"/>
                </a:solidFill>
                <a:latin typeface="Arial"/>
              </a:rPr>
              <a:t>Take conservative replica steps.</a:t>
            </a:r>
            <a:br/>
            <a:r>
              <a:rPr cap="none" dirty="0">
                <a:solidFill>
                  <a:srgbClr val="142C46"/>
                </a:solidFill>
                <a:latin typeface="Arial"/>
              </a:rPr>
              <a:t>Combine conditions with AND.</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4CAF5E7-4DC8-598E-BD3A-4D97034839AB}" type="slidenum">
              <a:rPr lang="en-US"/>
              <a:t>31</a:t>
            </a:fld>
            <a:endParaRPr lang="en-US"/>
          </a:p>
        </p:txBody>
      </p:sp>
      <p:sp>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Let prefill and decode scale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each role gets its own signal, threshold and replica target.</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Give each target one owner. Allow warm-up time, stabilize changes and scale down safely.</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C6F3D18-8EB6-51B5-B5A3-8E4C82745150}"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can scale its two roles separately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design: set service goals, then give each role its own scaling policy.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Proposed service-to-role policy</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Protect prompt latency.</a:t>
            </a:r>
          </a:p>
          <a:p>
            <a:pPr algn="ctr">
              <a:spcAft>
                <a:spcPts val="375"/>
              </a:spcAft>
              <a:defRPr sz="1400" b="0">
                <a:solidFill>
                  <a:srgbClr val="586A80"/>
                </a:solidFill>
                <a:latin typeface="Arial"/>
              </a:defRPr>
            </a:pPr>
            <a:r>
              <a:rPr sz="1050" cap="none">
                <a:latin typeface="Arial"/>
              </a:rPr>
              <a:t>Keep tokens flowing.</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Set separate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prefill policy.</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Apply the decode policy.</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470E9173-506D-50F7-B564-D2BFC63AB0DC}" type="slidenum">
              <a:rPr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Proposed loops use valid role metrics—not GPU utilization alone—to decide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Validate signals and limits.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Give each target one owner.</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only 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prefill alone.</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prefill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 for decode alone.</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Adjust decode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18DF736C-6335-5EF1-92B1-3FF1CB399460}"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Proposed policy: scale prefill and decode separately</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This is a proposed policy excerpt, not a ready-to-deploy manifest.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The MRI adapter and child opt-in still need integration. These thresholds are examples.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Slide Number"/>
          <p:cNvSpPr>
            <a:spLocks noGrp="1"/>
          </p:cNvSpPr>
          <p:nvPr>
            <p:ph type="sldNum" sz="quarter" idx="12"/>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fld id="{826CDA2B-5A8C-5399-A974-BBF866DEE846}" type="slidenum">
              <a:rPr lang="en-US" sz="675"/>
              <a:t>35</a:t>
            </a:fld>
            <a:endParaRPr lang="en-US" sz="675"/>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 is 12; running is 12.</a:t>
            </a:r>
          </a:p>
          <a:p>
            <a:pPr>
              <a:spcAft>
                <a:spcPts val="375"/>
              </a:spcAft>
              <a:defRPr sz="1700" b="0">
                <a:solidFill>
                  <a:srgbClr val="087F8C"/>
                </a:solidFill>
                <a:latin typeface="Arial"/>
              </a:defRPr>
            </a:pPr>
            <a:r>
              <a:rPr sz="1275"/>
              <a:t>Prefill requests scale-up;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If running later exceeds 24,</a:t>
            </a:r>
          </a:p>
          <a:p>
            <a:pPr>
              <a:spcAft>
                <a:spcPts val="375"/>
              </a:spcAft>
              <a:defRPr sz="1600" b="0">
                <a:solidFill>
                  <a:srgbClr val="7354B8"/>
                </a:solidFill>
                <a:latin typeface="Arial"/>
              </a:defRPr>
            </a:pPr>
            <a:r>
              <a:rPr sz="1200"/>
              <a:t>decode can scale up on its own.</a:t>
            </a: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Use two gauges to scale the two roles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Verify service-to-replica mapping before averaging each role’s 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thresholds are examples. Verify /metrics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43886"/>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800" cap="none" dirty="0">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the prefill engine queue.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43886"/>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800" cap="none" dirty="0">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Watch active decode requests.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675B330E-544A-5373-A72D-2D5230A988E3}"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Use derived signals to explain the load</a:t>
            </a:r>
          </a:p>
        </p:txBody>
      </p:sp>
      <p:sp>
        <p:nvSpPr>
          <p:cNvPr id="4" name="TextBox 3"/>
          <p:cNvSpPr txBox="1"/>
          <p:nvPr/>
        </p:nvSpPr>
        <p:spPr>
          <a:xfrm>
            <a:off x="384048" y="1033271"/>
            <a:ext cx="8321040" cy="282385"/>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cap="none" dirty="0">
                <a:solidFill>
                  <a:srgbClr val="52677D"/>
                </a:solidFill>
                <a:latin typeface="Arial"/>
              </a:rPr>
              <a:t>Derive KV usage, latency and throughput. Check queries before use.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Could guard scale-down</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dirty="0">
                <a:latin typeface="Arial"/>
              </a:rPr>
              <a:t>Shows free fraction,</a:t>
            </a:r>
          </a:p>
          <a:p>
            <a:pPr>
              <a:spcAft>
                <a:spcPts val="375"/>
              </a:spcAft>
              <a:defRPr sz="1500" b="0">
                <a:solidFill>
                  <a:srgbClr val="172941"/>
                </a:solidFill>
                <a:latin typeface="Arial"/>
              </a:defRPr>
            </a:pPr>
            <a:r>
              <a:rPr sz="1125" cap="none" dirty="0">
                <a:latin typeface="Arial"/>
              </a:rPr>
              <a:t>not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engine-side TTFT tails.</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Shows output rate;</a:t>
            </a:r>
          </a:p>
          <a:p>
            <a:pPr>
              <a:spcAft>
                <a:spcPts val="375"/>
              </a:spcAft>
              <a:defRPr sz="1500" b="0">
                <a:solidFill>
                  <a:srgbClr val="172941"/>
                </a:solidFill>
                <a:latin typeface="Arial"/>
              </a:defRPr>
            </a:pPr>
            <a:r>
              <a:rPr sz="1125" cap="none">
                <a:latin typeface="Arial"/>
              </a:rPr>
              <a:t>benchmark it.</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B9DD8370-845C-582D-8657-3333045C93B5}"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Where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sz="2100" b="1" cap="none" dirty="0">
                <a:solidFill>
                  <a:srgbClr val="142C46"/>
                </a:solidFill>
                <a:latin typeface="Arial"/>
              </a:rPr>
              <a:t>goes </a:t>
            </a:r>
            <a:r>
              <a:rPr lang="en-US" altLang="zh-CN" sz="2100" b="1" cap="none" dirty="0">
                <a:solidFill>
                  <a:srgbClr val="142C46"/>
                </a:solidFill>
                <a:latin typeface="Arial"/>
              </a:rPr>
              <a:t>n</a:t>
            </a:r>
            <a:r>
              <a:rPr sz="2100" b="1" cap="none" dirty="0">
                <a:solidFill>
                  <a:srgbClr val="142C46"/>
                </a:solidFill>
                <a:latin typeface="Arial"/>
              </a:rPr>
              <a:t>ex</a:t>
            </a:r>
            <a:r>
              <a:rPr lang="en-US" altLang="zh-CN" sz="2100" b="1" cap="none" dirty="0">
                <a:solidFill>
                  <a:srgbClr val="142C46"/>
                </a:solidFill>
                <a:latin typeface="Arial"/>
              </a:rPr>
              <a:t>t</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Next, explore better cache reuse, more inference roles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are integration directions, not release dates; some capabilities already exist upstream.</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Route using KV cache events.</a:t>
            </a:r>
          </a:p>
          <a:p>
            <a:pPr>
              <a:spcAft>
                <a:spcPts val="375"/>
              </a:spcAft>
              <a:defRPr sz="1700" b="0">
                <a:solidFill>
                  <a:srgbClr val="172941"/>
                </a:solidFill>
                <a:latin typeface="Arial"/>
              </a:defRPr>
            </a:pPr>
            <a:r>
              <a:rPr sz="1275" cap="none">
                <a:latin typeface="Arial"/>
              </a:rPr>
              <a:t>Tier cache across HBM, CPU RAM</a:t>
            </a:r>
          </a:p>
          <a:p>
            <a:pPr>
              <a:spcAft>
                <a:spcPts val="375"/>
              </a:spcAft>
              <a:defRPr sz="1700" b="0">
                <a:solidFill>
                  <a:srgbClr val="172941"/>
                </a:solidFill>
                <a:latin typeface="Arial"/>
              </a:defRPr>
            </a:pPr>
            <a:r>
              <a:rPr/>
              <a:t>and optional filesystems.</a:t>
            </a:r>
            <a:endParaRPr sz="1275"/>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Add Encode to Prefill / Decode.</a:t>
            </a:r>
          </a:p>
          <a:p>
            <a:pPr>
              <a:spcAft>
                <a:spcPts val="375"/>
              </a:spcAft>
              <a:defRPr sz="1700" b="0">
                <a:solidFill>
                  <a:srgbClr val="172941"/>
                </a:solidFill>
                <a:latin typeface="Arial"/>
              </a:defRPr>
            </a:pPr>
            <a:r>
              <a:rPr/>
              <a:t>Support more inference roles.</a:t>
            </a:r>
            <a:endParaRPr sz="1275"/>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Explore wide expert parallelism.</a:t>
            </a:r>
          </a:p>
          <a:p>
            <a:pPr>
              <a:spcAft>
                <a:spcPts val="375"/>
              </a:spcAft>
              <a:defRPr sz="1700" b="0">
                <a:solidFill>
                  <a:srgbClr val="172941"/>
                </a:solidFill>
                <a:latin typeface="Arial"/>
              </a:defRPr>
            </a:pPr>
            <a:r>
              <a:rPr/>
              <a:t>Improve cross-node transport</a:t>
            </a:r>
            <a:endParaRPr sz="1275"/>
          </a:p>
          <a:p>
            <a:pPr>
              <a:spcAft>
                <a:spcPts val="375"/>
              </a:spcAft>
              <a:defRPr sz="1700" b="0">
                <a:solidFill>
                  <a:srgbClr val="172941"/>
                </a:solidFill>
                <a:latin typeface="Arial"/>
              </a:defRPr>
            </a:pPr>
            <a:r>
              <a:rPr sz="1275" cap="none">
                <a:latin typeface="Arial"/>
              </a:rPr>
              <a:t>and communication.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0346B10-A62A-5F92-AEE1-7EB8A137B3F0}" type="slidenum">
              <a:rPr lang="en-US"/>
              <a:t>38</a:t>
            </a:fld>
            <a:endParaRPr lang="en-US"/>
          </a:p>
        </p:txBody>
      </p:sp>
      <p:sp>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then try the KAITO + llm-d P/D guide.</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D633AFF8-0903-5210-BA25-743C5DEC4FDA}" type="slidenum">
              <a:rPr lang="en-US" sz="800" b="0" cap="none">
                <a:solidFill>
                  <a:srgbClr val="52677D"/>
                </a:solidFill>
                <a:latin typeface="Arial"/>
              </a:rPr>
              <a:t>39</a:t>
            </a:fld>
            <a:endParaRPr lang="en-US" sz="800" b="0" cap="none">
              <a:solidFill>
                <a:srgbClr val="52677D"/>
              </a:solidFill>
              <a:latin typeface="Arial"/>
            </a:endParaRP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CE02EB4C-7898-5CBA-A75B-544C98B72AE1}" type="slidenum">
              <a:rPr lang="en-US"/>
              <a:t>40</a:t>
            </a:fld>
            <a:endParaRPr lang="en-US"/>
          </a:p>
        </p:txBody>
      </p:sp>
      <p:sp>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separates prompt processing from generation, with KV transfer between them.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Size prefill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Size decode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Transfer and coordination</a:t>
            </a:r>
          </a:p>
          <a:p>
            <a:pPr algn="ctr">
              <a:spcAft>
                <a:spcPts val="375"/>
              </a:spcAft>
              <a:defRPr sz="1700" b="0">
                <a:solidFill>
                  <a:srgbClr val="586A80"/>
                </a:solidFill>
                <a:latin typeface="Arial"/>
              </a:defRPr>
            </a:pPr>
            <a:r>
              <a:rPr sz="1275" cap="none">
                <a:latin typeface="Arial"/>
              </a:rPr>
              <a:t>add cost.</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289DE900-23AE-5BF8-8C54-374C4C08B548}"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Tune each role for its workload, using per-replica signals and shared safety checks.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These policies are examples.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7FB163AD-841B-551D-A793-197F41A80D17}"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KAITO reconciles the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creates resources and manages their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GWIE defines the InferencePool contract.</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connects backends to gateway integration.</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It selects endpoints via EPP.</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It makes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BFA6CB5-8150-5BE4-9269-43115AE52D6E}" type="slidenum">
              <a:rPr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Estimate initial memory capacity—not throughput—from the model and GPU memory.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room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the weights into</a:t>
            </a:r>
          </a:p>
          <a:p>
            <a:pPr>
              <a:spcAft>
                <a:spcPts val="500"/>
              </a:spcAft>
              <a:defRPr sz="1500" b="0">
                <a:solidFill>
                  <a:srgbClr val="142C46"/>
                </a:solidFill>
                <a:latin typeface="Arial"/>
              </a:defRPr>
            </a:pPr>
            <a:r>
              <a:rPr cap="none"/>
              <a:t>usable GPU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Divide by GPUs per node.</a:t>
            </a:r>
          </a:p>
          <a:p>
            <a:pPr>
              <a:spcAft>
                <a:spcPts val="500"/>
              </a:spcAft>
              <a:defRPr sz="1500" b="0">
                <a:solidFill>
                  <a:srgbClr val="142C46"/>
                </a:solidFill>
                <a:latin typeface="Arial"/>
              </a:defRPr>
            </a:pPr>
            <a:r>
              <a:rPr cap="none"/>
              <a:t>Round up, then reconcile</a:t>
            </a:r>
          </a:p>
          <a:p>
            <a:pPr>
              <a:spcAft>
                <a:spcPts val="500"/>
              </a:spcAft>
              <a:defRPr sz="1500" b="0">
                <a:solidFill>
                  <a:srgbClr val="142C46"/>
                </a:solidFill>
                <a:latin typeface="Arial"/>
              </a:defRPr>
            </a:pPr>
            <a:r>
              <a:rPr cap="none"/>
              <a:t>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81A79EE-4F0A-5063-A577-E6A601BB1D9D}" type="slidenum">
              <a:rPr lang="en-US"/>
              <a:t>44</a:t>
            </a:fld>
            <a:endParaRPr lang="en-US"/>
          </a:p>
        </p:txBody>
      </p:sp>
      <p:sp>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045892"/>
            <a:ext cx="4512104" cy="1962045"/>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cap="none" dirty="0">
                <a:latin typeface="Arial"/>
                <a:sym typeface="IBM Plex Sans Light"/>
              </a:rPr>
              <a:t>Route prefill and decode separately.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Choose workers dynamically.</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Tune each role’s capacity and scheduling.</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Target TTFT and ITL SLOs—</a:t>
            </a:r>
            <a:endParaRPr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cap="none" dirty="0">
                <a:latin typeface="Arial"/>
                <a:sym typeface="IBM Plex Sans Light"/>
              </a:rPr>
              <a:t>then measure the handoff cost.</a:t>
            </a:r>
            <a:endParaRPr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3E883C4E-6416-56F1-8D7F-29D6D517D45E}" type="slidenum">
              <a:rPr lang="en-US"/>
              <a:t>45</a:t>
            </a:fld>
            <a:endParaRPr lang="en-US"/>
          </a:p>
        </p:txBody>
      </p:sp>
      <p:sp>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The decode sidecar coordinates the request</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One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requests. KV data goes directly to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E2AF91C-7097-5D02-9E7A-369A1A37DE7A}"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Ask two questions: do the roles need different capacity, and what does KV transfer cost?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roles need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Separate capacity may help,</a:t>
            </a:r>
          </a:p>
          <a:p>
            <a:pPr>
              <a:spcAft>
                <a:spcPts val="375"/>
              </a:spcAft>
              <a:defRPr sz="1500" b="0">
                <a:solidFill>
                  <a:srgbClr val="172941"/>
                </a:solidFill>
                <a:latin typeface="Arial"/>
              </a:defRPr>
            </a:pPr>
            <a:r>
              <a:rPr sz="1125" cap="none">
                <a:latin typeface="Arial"/>
              </a:rPr>
              <a:t>but transfer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Tune each role separately.</a:t>
            </a:r>
          </a:p>
          <a:p>
            <a:pPr>
              <a:spcAft>
                <a:spcPts val="375"/>
              </a:spcAft>
              <a:defRPr sz="1500" b="0">
                <a:solidFill>
                  <a:srgbClr val="172941"/>
                </a:solidFill>
                <a:latin typeface="Arial"/>
              </a:defRPr>
            </a:pPr>
            <a:r>
              <a:rPr sz="1125" cap="none">
                <a:latin typeface="Arial"/>
              </a:rPr>
              <a:t>Validate at matched SLOs and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Similar roles gain little,</a:t>
            </a:r>
          </a:p>
          <a:p>
            <a:pPr>
              <a:spcAft>
                <a:spcPts val="375"/>
              </a:spcAft>
              <a:defRPr sz="1500" b="0">
                <a:solidFill>
                  <a:srgbClr val="172941"/>
                </a:solidFill>
                <a:latin typeface="Arial"/>
              </a:defRPr>
            </a:pPr>
            <a:r>
              <a:rPr sz="1125" cap="none">
                <a:latin typeface="Arial"/>
              </a:rPr>
              <a:t>while expensive transfer adds cost.</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E3448FEC-71FB-543C-9A5C-F0E202744C57}" type="slidenum">
              <a:rPr lang="en-US"/>
              <a:t>47</a:t>
            </a:fld>
            <a:endParaRPr lang="en-US"/>
          </a:p>
        </p:txBody>
      </p:sp>
      <p:sp>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to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first-token latency; decode shapes ongoing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Give each layer a clear job</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safely</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 signals and safe scale-down; MRI integration still needs work.</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fld id="{600300ED-A470-5611-A9C7-AFAC6DDB14A8}" type="slidenum">
              <a:rPr lang="en-US" sz="800" b="0" cap="none">
                <a:solidFill>
                  <a:srgbClr val="52677D"/>
                </a:solidFill>
                <a:latin typeface="Arial"/>
              </a:rPr>
              <a:t>48</a:t>
            </a:fld>
            <a:endParaRPr lang="en-US" sz="800" b="0" cap="none">
              <a:solidFill>
                <a:srgbClr val="52677D"/>
              </a:solidFill>
              <a:latin typeface="Arial"/>
            </a:endParaRPr>
          </a:p>
        </p:txBody>
      </p:sp>
      <p:sp>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Tune explicitly today; aim for simpler defaults next.</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Existing scaler settings</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Choose queue and latency metrics.</a:t>
            </a:r>
          </a:p>
          <a:p>
            <a:pPr>
              <a:spcAft>
                <a:spcPts val="500"/>
              </a:spcAft>
              <a:defRPr sz="1500" b="0">
                <a:solidFill>
                  <a:srgbClr val="142C46"/>
                </a:solidFill>
                <a:latin typeface="Arial"/>
              </a:defRPr>
            </a:pPr>
            <a:r>
              <a:rPr cap="none"/>
              <a:t>Set thresholds and time windows.</a:t>
            </a:r>
          </a:p>
          <a:p>
            <a:pPr>
              <a:spcAft>
                <a:spcPts val="500"/>
              </a:spcAft>
              <a:defRPr sz="1500" b="0">
                <a:solidFill>
                  <a:srgbClr val="142C46"/>
                </a:solidFill>
                <a:latin typeface="Arial"/>
              </a:defRPr>
            </a:pPr>
            <a:r>
              <a:rPr cap="none"/>
              <a:t>Set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for the model and workload.</a:t>
            </a:r>
          </a:p>
          <a:p>
            <a:pPr>
              <a:spcAft>
                <a:spcPts val="500"/>
              </a:spcAft>
              <a:defRPr sz="1500" b="0">
                <a:solidFill>
                  <a:srgbClr val="142C46"/>
                </a:solidFill>
                <a:latin typeface="Arial"/>
              </a:defRPr>
            </a:pPr>
            <a:r>
              <a:rPr cap="none"/>
              <a:t>This is not shipped auto-tuning.</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Existing InferenceSet scaling is the base; MRI role-policy integration still needs work.</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5578AE0C-1FD5-5FB5-86C9-FF2A0BA10B22}" type="slidenum">
              <a:rPr lang="en-US"/>
              <a:t>49</a:t>
            </a:fld>
            <a:endParaRPr lang="en-US"/>
          </a:p>
        </p:txBody>
      </p:sp>
      <p:sp>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and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Run modular components</a:t>
            </a:r>
          </a:p>
          <a:p>
            <a:pPr>
              <a:spcAft>
                <a:spcPts val="500"/>
              </a:spcAft>
              <a:defRPr sz="1500" b="0">
                <a:solidFill>
                  <a:srgbClr val="142C46"/>
                </a:solidFill>
                <a:latin typeface="Arial"/>
              </a:defRPr>
            </a:pPr>
            <a:r>
              <a:rPr cap="none"/>
              <a:t>on Kubernetes.</a:t>
            </a:r>
          </a:p>
          <a:p>
            <a:pPr>
              <a:spcAft>
                <a:spcPts val="500"/>
              </a:spcAft>
              <a:defRPr sz="1500" b="0">
                <a:solidFill>
                  <a:srgbClr val="142C46"/>
                </a:solidFill>
                <a:latin typeface="Arial"/>
              </a:defRPr>
            </a:pPr>
            <a:r>
              <a:rPr cap="none"/>
              <a:t>Keep failure boundaries clear.</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Connect gateways, routing,</a:t>
            </a:r>
          </a:p>
          <a:p>
            <a:pPr>
              <a:spcAft>
                <a:spcPts val="500"/>
              </a:spcAft>
              <a:defRPr sz="1500" b="0">
                <a:solidFill>
                  <a:srgbClr val="142C46"/>
                </a:solidFill>
                <a:latin typeface="Arial"/>
              </a:defRPr>
            </a:pPr>
            <a:r>
              <a:rPr cap="none"/>
              <a:t>runtimes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tested paths.</a:t>
            </a:r>
          </a:p>
          <a:p>
            <a:pPr>
              <a:spcAft>
                <a:spcPts val="500"/>
              </a:spcAft>
              <a:defRPr sz="1500" b="0">
                <a:solidFill>
                  <a:srgbClr val="142C46"/>
                </a:solidFill>
                <a:latin typeface="Arial"/>
              </a:defRPr>
            </a:pPr>
            <a:r>
              <a:rPr cap="none"/>
              <a:t>Weigh the trade-offs.</a:t>
            </a:r>
          </a:p>
          <a:p>
            <a:pPr>
              <a:spcAft>
                <a:spcPts val="500"/>
              </a:spcAft>
              <a:defRPr sz="1500" b="0">
                <a:solidFill>
                  <a:srgbClr val="142C46"/>
                </a:solidFill>
                <a:latin typeface="Arial"/>
              </a:defRPr>
            </a:pPr>
            <a:r>
              <a:rPr cap="none"/>
              <a:t>Tune for your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9D3306F0-A800-5FBC-BD9B-6EAD0952F3BA}" type="slidenum">
              <a:rPr lang="en-US"/>
              <a:t>50</a:t>
            </a:fld>
            <a:endParaRPr lang="en-US"/>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needs one writer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These are safety requirements to verify, not guarantees of current MRI integration.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Give each role one replica writer.</a:t>
            </a:r>
          </a:p>
          <a:p>
            <a:pPr>
              <a:spcAft>
                <a:spcPts val="375"/>
              </a:spcAft>
              <a:defRPr sz="1700" b="0">
                <a:solidFill>
                  <a:srgbClr val="172941"/>
                </a:solidFill>
                <a:latin typeface="Arial"/>
              </a:defRPr>
            </a:pPr>
            <a:r>
              <a:rPr sz="1275" cap="none">
                <a:latin typeface="Arial"/>
              </a:rPr>
              <a:t>Do not let autoscalers compete.</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Hold and report on failure.</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Missing or invalid signals must hold decisions and report a problem—not look like zero load.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F61E26E7-CEE3-5331-8A9F-38E40821A4F4}"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These are building blocks, 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Run large models with expert parallelism and tuned communication.</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Choose placement, batching and capacity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Guide scaling with workload signals and latency targets.</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Validate your model, hardware, traffic and SLOs. MRI policy integration still needs work.</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Slide Number"/>
          <p:cNvSpPr>
            <a:spLocks noGrp="1"/>
          </p:cNvSpPr>
          <p:nvPr>
            <p:ph type="sldNum" sz="quarter" idx="12"/>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fld id="{08975329-D20F-58E0-8E2C-5B0A9B26DC8D}" type="slidenum">
              <a:rPr lang="en-US"/>
              <a:t>52</a:t>
            </a:fld>
            <a:endParaRPr lang="en-US"/>
          </a:p>
        </p:txBody>
      </p:sp>
      <p:sp>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9093</TotalTime>
  <Words>24946</Words>
  <Application>Microsoft Office PowerPoint</Application>
  <PresentationFormat>On-screen Show (16:9)</PresentationFormat>
  <Paragraphs>1375</Paragraphs>
  <Slides>52</Slides>
  <Notes>52</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a distributed inference stack</vt:lpstr>
      <vt:lpstr>llm-d: capabilities for distributed inference</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289</cp:revision>
  <dcterms:created xsi:type="dcterms:W3CDTF">2019-07-29T21:37:05Z</dcterms:created>
  <dcterms:modified xsi:type="dcterms:W3CDTF">2026-10-27T07:41:40Z</dcterms:modified>
</cp:coreProperties>
</file>