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5"/>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147375741"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2" r:id="rId26"/>
    <p:sldId id="2147375723" r:id="rId27"/>
    <p:sldId id="2147375724" r:id="rId28"/>
    <p:sldId id="2147375725" r:id="rId29"/>
    <p:sldId id="295" r:id="rId30"/>
    <p:sldId id="277" r:id="rId31"/>
    <p:sldId id="2147375729" r:id="rId32"/>
    <p:sldId id="273" r:id="rId33"/>
    <p:sldId id="279" r:id="rId34"/>
    <p:sldId id="280" r:id="rId35"/>
    <p:sldId id="281" r:id="rId36"/>
    <p:sldId id="287" r:id="rId37"/>
    <p:sldId id="282" r:id="rId38"/>
    <p:sldId id="285" r:id="rId39"/>
    <p:sldId id="301" r:id="rId40"/>
    <p:sldId id="2147375736" r:id="rId41"/>
    <p:sldId id="266" r:id="rId42"/>
    <p:sldId id="265" r:id="rId43"/>
    <p:sldId id="283" r:id="rId44"/>
    <p:sldId id="2147375721" r:id="rId45"/>
    <p:sldId id="2147375719" r:id="rId46"/>
    <p:sldId id="2147375714" r:id="rId47"/>
    <p:sldId id="2147375726" r:id="rId48"/>
    <p:sldId id="296" r:id="rId49"/>
    <p:sldId id="2147375735" r:id="rId50"/>
    <p:sldId id="275" r:id="rId51"/>
    <p:sldId id="2147375697" r:id="rId52"/>
    <p:sldId id="284" r:id="rId53"/>
    <p:sldId id="2147375700"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1" dirty="0"/>
              <a:t>Prefill process will use the final position’s scores to select “Kubernetes”. And then </a:t>
            </a:r>
            <a:r>
              <a:rPr lang="en-US" sz="1200" b="1" dirty="0" err="1"/>
              <a:t>dDecode</a:t>
            </a:r>
            <a:r>
              <a:rPr lang="en-US" sz="1200" b="1" dirty="0"/>
              <a:t>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to each layer,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The gaps between later arrivals are inter-token latency, which is ITL. They show why starting an answer quickly and keeping it flowing smoothly are two different goals. </a:t>
            </a:r>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Delete</a:t>
            </a:r>
            <a:r>
              <a:rPr lang="en-US" sz="1200" dirty="0"/>
              <a:t>: If we complete 100 requests per second, but only 70 meet both targets, our SLO goodput is 70 requests per second. </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r>
              <a:rPr lang="en-US" sz="1200" dirty="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On the shared GPU, prefill can pause decode. On separate GPUs, decode can continue while prefill runs elsewhere. The new request still needs a KV handoff in </a:t>
            </a:r>
            <a:r>
              <a:rPr lang="en-US" altLang="zh-CN" sz="1200" dirty="0"/>
              <a:t>separate GPUs scenario.</a:t>
            </a:r>
            <a:endParaRPr lang="en-US" sz="1200" dirty="0"/>
          </a:p>
          <a:p>
            <a:pPr marL="457200" lvl="0" indent="-298450">
              <a:buClr>
                <a:srgbClr val="000000"/>
              </a:buClr>
              <a:buSzPts val="1100"/>
              <a:buFont typeface="Arial"/>
              <a:buChar char="●"/>
            </a:pPr>
            <a:r>
              <a:rPr lang="en-US" sz="1200" b="1" dirty="0"/>
              <a:t>So </a:t>
            </a:r>
            <a:r>
              <a:rPr lang="en-US" sz="1200" b="0" dirty="0"/>
              <a:t>s</a:t>
            </a:r>
            <a:r>
              <a:rPr lang="en-US" sz="1200" dirty="0"/>
              <a:t>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ordinary decode batches independent requests. On the left, prefill processes many input positions in one pass. We can batch positions from multiple prompts, while keeping causal attention.</a:t>
            </a:r>
          </a:p>
          <a:p>
            <a:pPr marL="457200" lvl="0" indent="-298450">
              <a:buClr>
                <a:srgbClr val="000000"/>
              </a:buClr>
              <a:buSzPts val="1100"/>
              <a:buFont typeface="Arial"/>
              <a:buChar char="●"/>
            </a:pPr>
            <a:r>
              <a:rPr lang="en-US" sz="1200" dirty="0"/>
              <a:t>On the right, decode consumes one new token per active request, </a:t>
            </a:r>
            <a:r>
              <a:rPr lang="en-US" sz="1200" b="1" dirty="0"/>
              <a:t>read its past KV cache</a:t>
            </a:r>
            <a:r>
              <a:rPr lang="en-US" sz="1200" dirty="0"/>
              <a:t>, then select its next output token. Prefill gets parallel work from prompt length; decode gets it from active requests. More decode concurrency can raise ITL. Stay within latency and KV-memory budgets.</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for TTFT. On the other hand, decode is often </a:t>
            </a:r>
            <a:r>
              <a:rPr lang="en-US" altLang="zh-CN" sz="1200" cap="none" dirty="0">
                <a:latin typeface="Arial"/>
              </a:rPr>
              <a:t>memory-</a:t>
            </a:r>
            <a:r>
              <a:rPr lang="en-US" sz="1200" dirty="0"/>
              <a:t>bandwidth-bound. Tune its capacity and batching for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1" dirty="0"/>
              <a:t>even when pods restart or we scale. That is why the hard part is the Kubernetes wiring. Let’s see how existing projects approach it.</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dirty="0">
                <a:solidFill>
                  <a:srgbClr val="000000"/>
                </a:solidFill>
                <a:effectLst/>
                <a:latin typeface="Arial"/>
                <a:ea typeface="Arial"/>
                <a:cs typeface="Arial"/>
                <a:sym typeface="Arial"/>
              </a:rPr>
              <a:t>Meeting these goals requires a complete platform architecture, not simply a larger model server.</a:t>
            </a:r>
          </a:p>
          <a:p>
            <a:br>
              <a:rPr lang="zh-CN" altLang="zh-CN" dirty="0"/>
            </a:br>
            <a:endParaRPr kumimoji="1" lang="zh-CN" altLang="en-US" dirty="0"/>
          </a:p>
        </p:txBody>
      </p:sp>
    </p:spTree>
    <p:extLst>
      <p:ext uri="{BB962C8B-B14F-4D97-AF65-F5344CB8AC3E}">
        <p14:creationId xmlns:p14="http://schemas.microsoft.com/office/powerpoint/2010/main" val="417739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dirty="0"/>
              <a:t>The middle column shows the serving and routing path; the right column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a:t>
            </a:r>
            <a:r>
              <a:rPr lang="en-US" sz="1200" b="1" dirty="0"/>
              <a:t>Declarative APIs already exist</a:t>
            </a:r>
            <a:r>
              <a:rPr lang="en-US" sz="1200" dirty="0"/>
              <a:t>. P/D deployment options already exist. KAITO aims to make them easier to use. </a:t>
            </a:r>
            <a:r>
              <a:rPr lang="en-US" sz="1200" b="1" dirty="0"/>
              <a:t>For KAITO users, that means less manual configuration to maintain. Let’s start with </a:t>
            </a:r>
            <a:r>
              <a:rPr lang="en-US" sz="1200" b="1" dirty="0" err="1"/>
              <a:t>llm</a:t>
            </a:r>
            <a:r>
              <a:rPr lang="en-US" sz="1200" b="1"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We build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400" b="1" dirty="0">
                <a:solidFill>
                  <a:srgbClr val="346CEC"/>
                </a:solidFill>
                <a:latin typeface="Arial"/>
              </a:rPr>
              <a:t>Here, </a:t>
            </a:r>
            <a:r>
              <a:rPr lang="en-US" altLang="zh-CN" sz="1400" b="1" dirty="0" err="1">
                <a:solidFill>
                  <a:srgbClr val="346CEC"/>
                </a:solidFill>
                <a:latin typeface="Arial"/>
              </a:rPr>
              <a:t>MoE</a:t>
            </a:r>
            <a:r>
              <a:rPr lang="en-US" altLang="zh-CN" sz="1400" b="1" dirty="0">
                <a:solidFill>
                  <a:srgbClr val="346CEC"/>
                </a:solidFill>
                <a:latin typeface="Arial"/>
              </a:rPr>
              <a:t> stands for Mixture of Experts, which is widely used in mainstream LLMs.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should this request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is</a:t>
            </a:r>
            <a:r>
              <a:rPr lang="en-US" sz="1200" dirty="0"/>
              <a:t> a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cap="none" dirty="0">
                <a:solidFill>
                  <a:srgbClr val="142C46"/>
                </a:solidFill>
                <a:latin typeface="Arial"/>
              </a:rPr>
              <a:t>With KAITO, you only need to specify a model name and GPU VM SKU. KAITO sizes the nodes to fit the model’s memory requirements, handles model setup and caching, manages inference workloads and rolling updates on Kubernetes, and uses KEDA to automatically scale workloads.</a:t>
            </a:r>
          </a:p>
          <a:p>
            <a:endParaRPr lang="en-US" sz="1200" dirty="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 and uses KEDA to automatically scale workloads.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does the KAITO do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not traffic capacity. </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dirty="0">
                <a:latin typeface="Arial"/>
              </a:rPr>
              <a:t>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cap="none" dirty="0">
                <a:latin typeface="Arial"/>
              </a:rPr>
              <a:t>memory-</a:t>
            </a:r>
            <a:r>
              <a:rPr sz="1350"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endParaRPr lang="en-US"/>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endParaRPr 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dirty="0" err="1"/>
              <a:t>MoE</a:t>
            </a:r>
            <a:r>
              <a:rPr lang="en-US" dirty="0"/>
              <a:t>:</a:t>
            </a:r>
            <a:r>
              <a:rPr lang="zh-CN" altLang="en-US" dirty="0"/>
              <a:t> </a:t>
            </a:r>
            <a:r>
              <a:rPr cap="none" dirty="0"/>
              <a:t>Mixture of Experts—a team of specialists.</a:t>
            </a:r>
          </a:p>
          <a:p>
            <a:pPr>
              <a:spcAft>
                <a:spcPts val="100"/>
              </a:spcAft>
              <a:defRPr sz="1350" b="0">
                <a:solidFill>
                  <a:srgbClr val="142C46"/>
                </a:solidFill>
                <a:latin typeface="Arial"/>
              </a:defRPr>
            </a:pPr>
            <a:r>
              <a:rPr cap="none" dirty="0"/>
              <a:t>The model picks a few experts to help process each token</a:t>
            </a:r>
            <a:r>
              <a:rPr lang="en-US" dirty="0"/>
              <a:t> instead of using all experts every time.</a:t>
            </a:r>
            <a:endParaRPr cap="none" dirty="0"/>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5848" y="2184839"/>
            <a:ext cx="3407344"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29</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32</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36</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39</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40</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41</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46</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48</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49</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50</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51</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53</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9832</TotalTime>
  <Words>14507</Words>
  <Application>Microsoft Office PowerPoint</Application>
  <PresentationFormat>On-screen Show (16:9)</PresentationFormat>
  <Paragraphs>1436</Paragraphs>
  <Slides>53</Slides>
  <Notes>53</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PowerPoint Presentation</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419</cp:revision>
  <dcterms:created xsi:type="dcterms:W3CDTF">2019-07-29T21:37:05Z</dcterms:created>
  <dcterms:modified xsi:type="dcterms:W3CDTF">2026-10-29T09:46:07Z</dcterms:modified>
</cp:coreProperties>
</file>