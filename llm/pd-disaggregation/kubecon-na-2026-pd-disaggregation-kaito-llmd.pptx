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40" r:id="rId8"/>
    <p:sldId id="2147375733" r:id="rId9"/>
    <p:sldId id="262" r:id="rId10"/>
    <p:sldId id="263" r:id="rId11"/>
    <p:sldId id="264" r:id="rId12"/>
    <p:sldId id="268" r:id="rId13"/>
    <p:sldId id="269" r:id="rId14"/>
    <p:sldId id="2147375737" r:id="rId15"/>
    <p:sldId id="2147375738" r:id="rId16"/>
    <p:sldId id="2147375701" r:id="rId17"/>
    <p:sldId id="278" r:id="rId18"/>
    <p:sldId id="2147375718" r:id="rId19"/>
    <p:sldId id="2147375739" r:id="rId20"/>
    <p:sldId id="270" r:id="rId21"/>
    <p:sldId id="2147375706" r:id="rId22"/>
    <p:sldId id="256" r:id="rId23"/>
    <p:sldId id="257" r:id="rId24"/>
    <p:sldId id="2147375722" r:id="rId25"/>
    <p:sldId id="2147375723" r:id="rId26"/>
    <p:sldId id="2147375724" r:id="rId27"/>
    <p:sldId id="2147375725" r:id="rId28"/>
    <p:sldId id="295" r:id="rId29"/>
    <p:sldId id="277" r:id="rId30"/>
    <p:sldId id="2147375729" r:id="rId31"/>
    <p:sldId id="273" r:id="rId32"/>
    <p:sldId id="279" r:id="rId33"/>
    <p:sldId id="280" r:id="rId34"/>
    <p:sldId id="281" r:id="rId35"/>
    <p:sldId id="287" r:id="rId36"/>
    <p:sldId id="282" r:id="rId37"/>
    <p:sldId id="285" r:id="rId38"/>
    <p:sldId id="301" r:id="rId39"/>
    <p:sldId id="2147375736" r:id="rId40"/>
    <p:sldId id="266" r:id="rId41"/>
    <p:sldId id="265" r:id="rId42"/>
    <p:sldId id="283" r:id="rId43"/>
    <p:sldId id="2147375721" r:id="rId44"/>
    <p:sldId id="2147375719" r:id="rId45"/>
    <p:sldId id="2147375714"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5939" autoAdjust="0"/>
  </p:normalViewPr>
  <p:slideViewPr>
    <p:cSldViewPr snapToGrid="0">
      <p:cViewPr varScale="1">
        <p:scale>
          <a:sx n="66" d="100"/>
          <a:sy n="66" d="100"/>
        </p:scale>
        <p:origin x="1284"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Welcome to Cloud Native AI and Inference Day. Today we’ll look at why starting an LLM answer and keeping it flowing need different things—and when it makes sense to separate them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OK, let's start now, this session is “</a:t>
            </a:r>
            <a:r>
              <a:rPr lang="en-US" altLang="zh-CN" sz="1200" b="0" cap="none" dirty="0">
                <a:solidFill>
                  <a:srgbClr val="142C46"/>
                </a:solidFill>
                <a:latin typeface="Arial"/>
              </a:rPr>
              <a:t>Prefill here, decode there</a:t>
            </a:r>
            <a:r>
              <a:rPr lang="en-US" altLang="zh-CN" sz="1200" b="1" cap="none" dirty="0">
                <a:solidFill>
                  <a:srgbClr val="142C46"/>
                </a:solidFill>
                <a:latin typeface="Arial"/>
              </a:rPr>
              <a:t>, </a:t>
            </a:r>
            <a:r>
              <a:rPr lang="en-US" altLang="zh-CN" sz="1200" cap="none" dirty="0">
                <a:solidFill>
                  <a:srgbClr val="142C46"/>
                </a:solidFill>
                <a:latin typeface="Arial"/>
              </a:rPr>
              <a:t>Kubernetes-native LLM inference with KAITO and </a:t>
            </a:r>
            <a:r>
              <a:rPr lang="en-US" altLang="zh-CN" sz="1200" cap="none" dirty="0" err="1">
                <a:solidFill>
                  <a:srgbClr val="142C46"/>
                </a:solidFill>
                <a:latin typeface="Arial"/>
              </a:rPr>
              <a:t>llm</a:t>
            </a:r>
            <a:r>
              <a:rPr lang="en-US" altLang="zh-CN" sz="1200" cap="none" dirty="0">
                <a:solidFill>
                  <a:srgbClr val="142C46"/>
                </a:solidFill>
                <a:latin typeface="Arial"/>
              </a:rPr>
              <a:t>-d”, I will explain what’s the prefill and decode processes in LLM inference, and how we implement this p/d disaggregation using KAITO and </a:t>
            </a:r>
            <a:r>
              <a:rPr lang="en-US" altLang="zh-CN" sz="1200" cap="none" dirty="0" err="1">
                <a:solidFill>
                  <a:srgbClr val="142C46"/>
                </a:solidFill>
                <a:latin typeface="Arial"/>
              </a:rPr>
              <a:t>llm</a:t>
            </a:r>
            <a:r>
              <a:rPr lang="en-US" altLang="zh-CN" sz="1200" cap="none" dirty="0">
                <a:solidFill>
                  <a:srgbClr val="142C46"/>
                </a:solidFill>
                <a:latin typeface="Arial"/>
              </a:rPr>
              <a:t>-d projects and how we perform autoscaling for these two processes </a:t>
            </a:r>
            <a:r>
              <a:rPr lang="zh-CN" altLang="zh-CN" sz="1200" b="0" i="0" u="none" strike="noStrike" cap="none" spc="0" dirty="0">
                <a:solidFill>
                  <a:srgbClr val="000000"/>
                </a:solidFill>
                <a:effectLst/>
                <a:latin typeface="Arial"/>
                <a:ea typeface="Arial"/>
                <a:cs typeface="Arial"/>
                <a:sym typeface="Arial"/>
              </a:rPr>
              <a:t>independently as 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To begin with, let me introduce myself. I am Andy Zhang, </a:t>
            </a:r>
            <a:r>
              <a:rPr lang="en-US" altLang="zh-CN" sz="1200" dirty="0"/>
              <a:t>Software Engineer </a:t>
            </a:r>
            <a:r>
              <a:rPr lang="en-US" sz="1200" dirty="0"/>
              <a:t>at Microsoft AKS team, and </a:t>
            </a:r>
            <a:r>
              <a:rPr lang="en-US" altLang="zh-CN" sz="1200" dirty="0"/>
              <a:t>I am a maintainer of KAITO and several CSI drivers.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Unfortunately, my co-presenter Linbo couldn’t join us because he cannot get his visa in time, so I’ll be presenting alone today.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200" dirty="0"/>
          </a:p>
          <a:p>
            <a:pPr marL="457200" lvl="0" indent="-298450">
              <a:buClr>
                <a:srgbClr val="000000"/>
              </a:buClr>
              <a:buSzPts val="1100"/>
              <a:buFont typeface="Arial"/>
              <a:buChar char="●"/>
            </a:pPr>
            <a:endParaRPr lang="en-US" sz="1200" dirty="0"/>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Here’s the agenda. We’ll start with the basics of prefill and decode, and why it makes sense to separate them. Then, we’ll introduce </a:t>
            </a:r>
            <a:r>
              <a:rPr lang="en-US" altLang="zh-CN" sz="1200" dirty="0" err="1"/>
              <a:t>llm</a:t>
            </a:r>
            <a:r>
              <a:rPr lang="en-US" altLang="zh-CN" sz="1200" dirty="0"/>
              <a:t>-d and KAITO and show how they work together to support P/D disaggregation. Finally, we’ll explore how to scale prefill and decode independently when traffic changes.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Here is an example for prefill process. </a:t>
            </a:r>
            <a:r>
              <a:rPr lang="en-US" sz="1200" dirty="0"/>
              <a:t>Our prompt is “What does Kubernetes do?” Assume one token per word, plus punctuation: five prompt positions. These word-level tokens are illustrative, not a real tokenizer’s output.</a:t>
            </a:r>
          </a:p>
          <a:p>
            <a:r>
              <a:rPr lang="en-US" sz="1200" dirty="0"/>
              <a:t>We process prompt positions together; each sees only itself and earlier positions. We cache attention keys and values for all five prompt positions at every layer. Use the final position’s scores to select “Kubernetes”. Decode will consume it and cache its K/V.</a:t>
            </a:r>
          </a:p>
          <a:p>
            <a:endParaRPr lang="en-US" sz="1200" dirty="0"/>
          </a:p>
          <a:p>
            <a:r>
              <a:rPr dirty="0"/>
              <a:t>References</a:t>
            </a:r>
          </a:p>
          <a:p>
            <a:r>
              <a:rPr dirty="0"/>
              <a:t>https://huggingface.co/docs/transformers/en/cache_explanation</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Decode consumes “Kubernetes”, reads past KV, appends K/V for “Kubernetes”, and selects “helps”. Next, it consumes “helps” and selects “teams”. We cache the token we consume, not the one we just select. We reuse past KV.</a:t>
            </a:r>
          </a:p>
          <a:p>
            <a:r>
              <a:rPr lang="en-US" sz="1200" dirty="0"/>
              <a:t>Each selected token becomes the next input. Repeat until the answer is complete. Below, TTFT is the wait from the request to the first token. ITL is the time between token arrivals. </a:t>
            </a:r>
          </a:p>
          <a:p>
            <a:r>
              <a:rPr lang="en-US" altLang="zh-CN" sz="1200" b="1" dirty="0"/>
              <a:t>They show why starting an answer quickly and keeping it flowing smoothly are two different goals.</a:t>
            </a:r>
          </a:p>
          <a:p>
            <a:endParaRPr lang="en-US" sz="1200" dirty="0"/>
          </a:p>
          <a:p>
            <a:endParaRPr lang="en-US" sz="1200"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We want answers to start quickly—and keep going smoothly.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Prefill determines </a:t>
            </a:r>
            <a:r>
              <a:rPr lang="en-US" altLang="zh-CN" sz="1200" cap="none" dirty="0">
                <a:latin typeface="Arial"/>
              </a:rPr>
              <a:t>how soon the answer starts, so it determines </a:t>
            </a:r>
            <a:r>
              <a:rPr lang="en-US" altLang="zh-CN" sz="1200" dirty="0"/>
              <a:t>time to first token, TTFT </a:t>
            </a:r>
            <a:r>
              <a:rPr lang="en-US" altLang="zh-CN" sz="1200" cap="none" dirty="0">
                <a:latin typeface="Arial"/>
              </a:rPr>
              <a:t>and d</a:t>
            </a:r>
            <a:r>
              <a:rPr lang="en-US" altLang="zh-CN" sz="1200" dirty="0"/>
              <a:t>ecode determines whether the answer keeps flowing, </a:t>
            </a:r>
            <a:r>
              <a:rPr lang="en-US" altLang="zh-CN" sz="1200" cap="none" dirty="0">
                <a:latin typeface="Arial"/>
              </a:rPr>
              <a:t>so it determines </a:t>
            </a:r>
            <a:r>
              <a:rPr lang="en-US" altLang="zh-CN" sz="1200" dirty="0"/>
              <a:t>inter-token, ITL.</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Prefill is often </a:t>
            </a:r>
            <a:r>
              <a:rPr lang="en-US" altLang="zh-CN" sz="1200" b="0" cap="none" dirty="0">
                <a:latin typeface="Arial"/>
              </a:rPr>
              <a:t>compute-bound</a:t>
            </a:r>
            <a:r>
              <a:rPr lang="en-US" altLang="zh-CN" sz="1200" dirty="0"/>
              <a:t> and decode is often </a:t>
            </a:r>
            <a:r>
              <a:rPr lang="en-US" altLang="zh-CN" sz="1200" b="0" cap="none" dirty="0">
                <a:latin typeface="Arial"/>
              </a:rPr>
              <a:t>memory bandwidth bound</a:t>
            </a:r>
            <a:r>
              <a:rPr lang="en-US" altLang="zh-CN" sz="1200" dirty="0"/>
              <a:t>. Queueing and delivery matter too.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Our goal is to serve more requests while meeting both latency targets. SLO goodput means the number of requests per second that meet both targets. If we complete 100 requests per second, but only 70 meet both targets, our SLO goodput is 70 requests per second. </a:t>
            </a:r>
          </a:p>
          <a:p>
            <a:endParaRPr lang="en-US" sz="1200"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 shared pool is simple, but prefill bursts compete with active decoding. Every worker handles both phases. One deployment scales both phases together.</a:t>
            </a:r>
          </a:p>
          <a:p>
            <a:r>
              <a:rPr lang="en-US" sz="1200"/>
              <a:t>Where is the trade-off? Prompt bursts can disrupt token delivery. Adding a replica adds both phases, even if only one is busy. We must decide how to run each phase and how much shared capacity to add. First, let’s look at that execution conflict.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Here, </a:t>
            </a:r>
            <a:r>
              <a:rPr lang="en-US" sz="1200" dirty="0"/>
              <a:t>D is ongoing decode. P is prefill for a new request. Where should P run? On the shared GPU, prefill can pause decode. On separate GPUs, decode can continue while prefill runs elsewhere.</a:t>
            </a:r>
          </a:p>
          <a:p>
            <a:r>
              <a:rPr lang="en-US" sz="1200" dirty="0"/>
              <a:t>The new request still needs a KV handoff. Separate GPUs remove this execution conflict, but not every source of latency. </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Prefill batches prompt positions; ordinary decode batches independent requests. On the left, we process many input positions in one pass. We can batch positions from multiple prompts, while keeping causal attention.</a:t>
            </a:r>
          </a:p>
          <a:p>
            <a:r>
              <a:rPr lang="en-US" sz="1200"/>
              <a:t>On the right, we consume one new token per active request, read its past KV, then select its next output token. Prefill gets parallel work from prompt length; decode gets it from active requests. More decode concurrency can raise ITL. Stay within latency and KV-memory budgets.</a:t>
            </a:r>
          </a:p>
          <a:p>
            <a:endParaRPr lang="en-US" sz="120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Separate pools let us tune each phase independently. The payoff is choosing capacity for each phase, not just running two deployments.</a:t>
            </a:r>
          </a:p>
          <a:p>
            <a:r>
              <a:rPr lang="en-US" sz="1200" dirty="0"/>
              <a:t>Prefill is often compute-bound. Tune its capacity and parallelism for TTFT. On the other hand, decode is often bandwidth-bound. Tune its capacity and batching for ITL. Different latency targets and resource needs can call for different replica counts, tensor parallelism and batching policies. Split only if the gains outweigh KV transfer, extra weight copies and operating costs.</a:t>
            </a:r>
          </a:p>
          <a:p>
            <a:endParaRPr lang="en-US" sz="1200" dirty="0"/>
          </a:p>
          <a:p>
            <a:r>
              <a:rPr dirty="0"/>
              <a:t>References</a:t>
            </a:r>
          </a:p>
          <a:p>
            <a:r>
              <a:rPr dirty="0"/>
              <a:t>https://docs.nvidia.com/dynamo/dev/kubernetes/disaggregated-serving/overview</a:t>
            </a:r>
          </a:p>
          <a:p>
            <a:r>
              <a:rPr dirty="0"/>
              <a:t>https://arxiv.org/html/2401.09670v2#S2.SS3</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Two pools still have to work together as one model service. The EPP, or Endpoint Picker, picks workers. KV transfer settings must match. The decode-side proxy coordinates requests. We must keep pods ready as replicas change.</a:t>
            </a:r>
          </a:p>
          <a:p>
            <a:r>
              <a:rPr lang="en-US" sz="1200"/>
              <a:t>Routing, KV transfer, labels, ports and readiness must stay in sync, even when pods restart or we scale. That is why the hard part is the Kubernetes wiring. Let’s see how existing projects approach 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Open-source P/D has several paths, not one winner. These are examples, not a ranking. Some approaches can work together.</a:t>
            </a:r>
          </a:p>
          <a:p>
            <a:r>
              <a:rPr lang="en-US" sz="1200" dirty="0"/>
              <a:t>The middle column shows the serving and routing path; the right shows what users configure in Kubernetes. Dynamo, </a:t>
            </a:r>
            <a:r>
              <a:rPr lang="en-US" sz="1200" dirty="0" err="1"/>
              <a:t>llm</a:t>
            </a:r>
            <a:r>
              <a:rPr lang="en-US" sz="1200" dirty="0"/>
              <a:t>-d, </a:t>
            </a:r>
            <a:r>
              <a:rPr lang="en-US" sz="1200" dirty="0" err="1"/>
              <a:t>AIBrix</a:t>
            </a:r>
            <a:r>
              <a:rPr lang="en-US" sz="1200" dirty="0"/>
              <a:t>, </a:t>
            </a:r>
            <a:r>
              <a:rPr lang="en-US" sz="1200" dirty="0" err="1"/>
              <a:t>KServe</a:t>
            </a:r>
            <a:r>
              <a:rPr lang="en-US" sz="1200" dirty="0"/>
              <a:t>, Ray Serve and </a:t>
            </a:r>
            <a:r>
              <a:rPr lang="en-US" sz="1200" dirty="0" err="1"/>
              <a:t>vLLM</a:t>
            </a:r>
            <a:r>
              <a:rPr lang="en-US" sz="1200" dirty="0"/>
              <a:t> Production Stack offer different combinations. Declarative APIs already exist. P/D deployment options already exist. KAITO aims to make them easier to use. For KAITO users, that means less manual configuration to maintain. Let’s start with </a:t>
            </a:r>
            <a:r>
              <a:rPr lang="en-US" sz="1200" dirty="0" err="1"/>
              <a:t>llm</a:t>
            </a:r>
            <a:r>
              <a:rPr lang="en-US" sz="1200" dirty="0"/>
              <a:t>-d.</a:t>
            </a:r>
          </a:p>
          <a:p>
            <a:endParaRPr lang="en-US" sz="1200"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err="1"/>
              <a:t>llm</a:t>
            </a:r>
            <a:r>
              <a:rPr lang="en-US" sz="1200" dirty="0"/>
              <a:t>-d connects serving runtimes, routing and KV transport on Kubernetes. It joined the CNCF Sandbox in March 2026.</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Gateway API connects inference routing to Kubernetes. We combine runtimes, routing plugins and KV transport. </a:t>
            </a:r>
            <a:r>
              <a:rPr lang="en-US" altLang="zh-CN" sz="1200" dirty="0"/>
              <a:t>We have 4 </a:t>
            </a:r>
            <a:r>
              <a:rPr lang="en-US" altLang="zh-CN" sz="1200" b="0" i="0" u="none" strike="noStrike" cap="none" spc="0" dirty="0">
                <a:solidFill>
                  <a:srgbClr val="000000"/>
                </a:solidFill>
                <a:latin typeface="Arial"/>
                <a:cs typeface="Arial"/>
                <a:sym typeface="Arial"/>
              </a:rPr>
              <a:t>well-lit paths with t</a:t>
            </a:r>
            <a:r>
              <a:rPr lang="en-US" sz="1200" dirty="0"/>
              <a:t>ested deployment patterns make trade-offs clear. The idea is to connect existing tools, not replace them. We still need to validate those patterns with our own models, hardware and traffic.</a:t>
            </a:r>
          </a:p>
          <a:p>
            <a:endParaRPr lang="en-US" sz="1200" dirty="0"/>
          </a:p>
          <a:p>
            <a:r>
              <a:rPr dirty="0"/>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a:t>These are reusable capabilities, not a performance guarantee. We build on the serving runtime, not replace it. The community graphic shows project history, not serving performance.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There are mainly </a:t>
            </a:r>
            <a:r>
              <a:rPr lang="en-US" altLang="zh-CN" sz="1200" b="0" dirty="0">
                <a:solidFill>
                  <a:srgbClr val="087F8C"/>
                </a:solidFill>
                <a:latin typeface="Arial"/>
              </a:rPr>
              <a:t>four areas of capability for </a:t>
            </a:r>
            <a:r>
              <a:rPr lang="en-US" altLang="zh-CN" sz="1200" b="0" dirty="0" err="1">
                <a:solidFill>
                  <a:srgbClr val="087F8C"/>
                </a:solidFill>
                <a:latin typeface="Arial"/>
              </a:rPr>
              <a:t>llm</a:t>
            </a:r>
            <a:r>
              <a:rPr lang="en-US" altLang="zh-CN" sz="1200" b="0" dirty="0">
                <a:solidFill>
                  <a:srgbClr val="087F8C"/>
                </a:solidFill>
                <a:latin typeface="Arial"/>
              </a:rPr>
              <a:t>-d projects:</a:t>
            </a:r>
            <a:endParaRPr lang="en-US" sz="1200" b="0" dirty="0"/>
          </a:p>
          <a:p>
            <a:r>
              <a:rPr lang="en-US" sz="1200" dirty="0"/>
              <a:t>Expert parallelism spreads expert computation across GPUs. For P/D, we separate the phases and transfer KV between roles. Routing plugins use cache and load signals to pick workers. Workload signals and SLOs guide capacity; each integration chooses its policy. Choosing a worker and adding workers are different decisions.</a:t>
            </a:r>
          </a:p>
        </p:txBody>
      </p:sp>
    </p:spTree>
    <p:extLst>
      <p:ext uri="{BB962C8B-B14F-4D97-AF65-F5344CB8AC3E}">
        <p14:creationId xmlns:p14="http://schemas.microsoft.com/office/powerpoint/2010/main" val="3281151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err="1"/>
              <a:t>llm</a:t>
            </a:r>
            <a:r>
              <a:rPr lang="en-US" sz="1200" dirty="0"/>
              <a:t>-d calls these “well-lit paths”: tested deployment patterns that explain the trade-offs.</a:t>
            </a:r>
          </a:p>
          <a:p>
            <a:r>
              <a:rPr lang="en-US" sz="1200" dirty="0"/>
              <a:t>Where should this request run? Where should reusable state live? How should a large </a:t>
            </a:r>
            <a:r>
              <a:rPr lang="en-US" sz="1200" dirty="0" err="1"/>
              <a:t>MoE</a:t>
            </a:r>
            <a:r>
              <a:rPr lang="en-US" sz="1200" dirty="0"/>
              <a:t> model run across GPUs?</a:t>
            </a:r>
          </a:p>
          <a:p>
            <a:r>
              <a:rPr lang="en-US" sz="1200" dirty="0" err="1"/>
              <a:t>MoE</a:t>
            </a:r>
            <a:r>
              <a:rPr lang="en-US" sz="1200" dirty="0"/>
              <a:t> means Mixture of Experts—a team of specialists. The model picks a few experts to help process each token.</a:t>
            </a:r>
          </a:p>
          <a:p>
            <a:r>
              <a:rPr lang="en-US" sz="1200" dirty="0"/>
              <a:t>And how should prompt and generation capacity differ? These paths can work together, but we don’t need all of them at once. Results depend on the hardware. Today, we’ll focus on P/D disaggregation and use KAITO to manage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rPr lang="en-US" sz="1200"/>
              <a:t>KAITO automates LLM inference, fine-tuning and RAG with Kubernetes operators. It is a CNCF Sandbox project.</a:t>
            </a:r>
          </a:p>
          <a:p>
            <a:r>
              <a:rPr lang="en-US" sz="1200"/>
              <a:t>Choose a model and GPU. KAITO sizes nodes for model memory. It sets up and caches models. It manages InferenceSets and rolling updates. KEDA scales the workload. llm-d provides serving components; KAITO deploys and manages model workloads. You declare the desired state, and KAITO keeps the workload in that state. Next, let’s look at that declaration.</a:t>
            </a:r>
          </a:p>
          <a:p>
            <a:endParaRPr lang="en-US" sz="1200"/>
          </a:p>
          <a:p>
            <a:r>
              <a:rPr dirty="0"/>
              <a:t>References</a:t>
            </a:r>
          </a:p>
          <a:p>
            <a:r>
              <a:rPr dirty="0"/>
              <a:t>https://www.cncf.io/projects/kaito/</a:t>
            </a:r>
          </a:p>
          <a:p>
            <a:r>
              <a:rPr dirty="0"/>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We declare the model, GPU instance type and replica count. This InferenceSet uses Qwen3-Coder-30B-A3B-Instruct, Standard_NC24ads_A100_v4 and three replicas. The labels identify the related workloads.</a:t>
            </a:r>
          </a:p>
          <a:p>
            <a:r>
              <a:rPr lang="en-US" sz="1200"/>
              <a:t>Three replicas does not necessarily mean three GPUs; each replica’s GPU and node needs depend on the model and runtime settings. KAITO keeps the actual resources in sync with this desired state. Next, how does it work out what each replica needs?</a:t>
            </a:r>
          </a:p>
        </p:txBody>
      </p:sp>
    </p:spTree>
    <p:extLst>
      <p:ext uri="{BB962C8B-B14F-4D97-AF65-F5344CB8AC3E}">
        <p14:creationId xmlns:p14="http://schemas.microsoft.com/office/powerpoint/2010/main" val="14492462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Choose the model and GPU SKU. KAITO estimates how many nodes the model needs. KAITO reserves memory for overhead and KV cache, then fits the weights into the remaining GPU memory.</a:t>
            </a:r>
          </a:p>
          <a:p>
            <a:r>
              <a:rPr lang="en-US" sz="1200"/>
              <a:t>Save the result as status.targetNodeCount. This path uses tensor parallelism within nodes and pipeline parallelism across nodes. It sizes memory, not traffic capacity. Check the calculation against your installed version.</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We want P/D routing without replacing KAITO’s Kubernetes operating model. KAITO manages deployment and lifecycle. llm-d adds endpoint selection and request routing. vLLM runs the phases, and NIXL moves KV.</a:t>
            </a:r>
          </a:p>
          <a:p>
            <a:r>
              <a:rPr lang="en-US" sz="1200"/>
              <a:t>Keep Workspace and InferenceSet. Give each role its own replicas, GPU types and runtime settings. Reuse llm-d’s P/D routing. MultiRoleInference, or MRI, is alpha: vLLM, Istio and GPU connectivity. Automatic per-role scaling still needs integration.</a:t>
            </a:r>
          </a:p>
          <a:p>
            <a:endParaRPr lang="en-US" sz="1200"/>
          </a:p>
          <a:p>
            <a:r>
              <a:rPr dirty="0"/>
              <a:t>Technical reference (not part of the spoken script)</a:t>
            </a:r>
          </a:p>
          <a:p>
            <a:endParaRPr dirty="0"/>
          </a:p>
          <a:p>
            <a:endParaRPr dirty="0"/>
          </a:p>
          <a:p>
            <a:r>
              <a:rPr dirty="0"/>
              <a:t>For that goal, </a:t>
            </a:r>
            <a:r>
              <a:rPr dirty="0" err="1"/>
              <a:t>llm</a:t>
            </a:r>
            <a:r>
              <a:rPr dirty="0"/>
              <a:t>-d is a good fit. KAITO keeps deployment intent and lifecycle. </a:t>
            </a:r>
            <a:r>
              <a:rPr dirty="0" err="1"/>
              <a:t>llm</a:t>
            </a:r>
            <a:r>
              <a:rPr dirty="0"/>
              <a:t>-d contributes endpoint selection and request orchestration. </a:t>
            </a:r>
            <a:r>
              <a:rPr dirty="0" err="1"/>
              <a:t>vLLM</a:t>
            </a:r>
            <a:r>
              <a:rPr dirty="0"/>
              <a:t> and NIXL execute the phases and move the state. This is an integration choice, not a universal platform ranking. Today's documented MRI scope is alpha, with </a:t>
            </a:r>
            <a:r>
              <a:rPr dirty="0" err="1"/>
              <a:t>vLLM</a:t>
            </a:r>
            <a:r>
              <a:rPr dirty="0"/>
              <a:t>, Istio, and suitable GPU connectivity as important constraints.</a:t>
            </a:r>
          </a:p>
          <a:p>
            <a:endParaRPr dirty="0"/>
          </a:p>
          <a:p>
            <a:r>
              <a:rPr dirty="0"/>
              <a:t>REFERENCE NOTES (NOT SPOKEN)</a:t>
            </a:r>
          </a:p>
          <a:p>
            <a:endParaRPr dirty="0"/>
          </a:p>
          <a:p>
            <a:r>
              <a:rPr dirty="0"/>
              <a:t>Best fit is an architecture recommendation relative to the goal of extending KAITO, not evidence that KAITO beats every serving platform. KAITO users already have Workspace/</a:t>
            </a:r>
            <a:r>
              <a:rPr dirty="0" err="1"/>
              <a:t>InferenceSet</a:t>
            </a:r>
            <a:r>
              <a:rPr dirty="0"/>
              <a:t> APIs, model presets and infrastructure lifecycle workflows. MRI reuses that model through role-specific child </a:t>
            </a:r>
            <a:r>
              <a:rPr dirty="0" err="1"/>
              <a:t>InferenceSets</a:t>
            </a:r>
            <a:r>
              <a:rPr dirty="0"/>
              <a:t>. The documented controller creates an </a:t>
            </a:r>
            <a:r>
              <a:rPr dirty="0" err="1"/>
              <a:t>InferencePool</a:t>
            </a:r>
            <a:r>
              <a:rPr dirty="0"/>
              <a:t> and </a:t>
            </a:r>
            <a:r>
              <a:rPr dirty="0" err="1"/>
              <a:t>llm</a:t>
            </a:r>
            <a:r>
              <a:rPr dirty="0"/>
              <a:t>-d EPP, injects the decode routing sidecar, and sets </a:t>
            </a:r>
            <a:r>
              <a:rPr dirty="0" err="1"/>
              <a:t>vLLM</a:t>
            </a:r>
            <a:r>
              <a:rPr dirty="0"/>
              <a:t> NIXL side-channel configuration. </a:t>
            </a:r>
            <a:r>
              <a:rPr dirty="0" err="1"/>
              <a:t>llm</a:t>
            </a:r>
            <a:r>
              <a:rPr dirty="0"/>
              <a:t>-d contributes P/D endpoint-selection plugins and request orchestration; </a:t>
            </a:r>
            <a:r>
              <a:rPr dirty="0" err="1"/>
              <a:t>vLLM</a:t>
            </a:r>
            <a:r>
              <a:rPr dirty="0"/>
              <a:t> and NIXL execute inference and transfer KV directly between pods. The three boxes are a composition diagram, not a sequential request path. Gateway/</a:t>
            </a:r>
            <a:r>
              <a:rPr dirty="0" err="1"/>
              <a:t>HTTPRoute</a:t>
            </a:r>
            <a:r>
              <a:rPr dirty="0"/>
              <a:t>, certificates, GPU capacity and fabric setup remain platform prerequisites; do not claim MRI provisions every cluster dependency automatically. Compared with introducing another serving platform API alongside KAITO, reusing </a:t>
            </a:r>
            <a:r>
              <a:rPr dirty="0" err="1"/>
              <a:t>llm</a:t>
            </a:r>
            <a:r>
              <a:rPr dirty="0"/>
              <a:t>-d components preserves KAITO as the user-facing orchestration entry point. </a:t>
            </a:r>
            <a:r>
              <a:rPr dirty="0" err="1"/>
              <a:t>KServe</a:t>
            </a:r>
            <a:r>
              <a:rPr dirty="0"/>
              <a:t> and </a:t>
            </a:r>
            <a:r>
              <a:rPr dirty="0" err="1"/>
              <a:t>AIBrix</a:t>
            </a:r>
            <a:r>
              <a:rPr dirty="0"/>
              <a:t> are legitimate alternative orchestration platforms; Dynamo offers an integrated stack; Ray Serve fits Ray-centric applications. Existing users of those platforms need not migrate solely to obtain P/D. Documented KAITO limitations: MRI is alpha, currently </a:t>
            </a:r>
            <a:r>
              <a:rPr dirty="0" err="1"/>
              <a:t>vLLM</a:t>
            </a:r>
            <a:r>
              <a:rPr dirty="0"/>
              <a:t>-only and requires Istio plus suitable GPU-to-GPU connectivity. Independent role replica settings do not imply an automatic MRI-level autoscaling policy. The existing KEDA-</a:t>
            </a:r>
            <a:r>
              <a:rPr dirty="0" err="1"/>
              <a:t>InferenceSet</a:t>
            </a:r>
            <a:r>
              <a:rPr dirty="0"/>
              <a:t> capability and proposed MRI policy UX are discussed later. No throughput, latency, cost, hardware-portability or superiority claim is made. Sources checked 2026-10-20.</a:t>
            </a:r>
          </a:p>
          <a:p>
            <a:endParaRPr dirty="0"/>
          </a:p>
          <a:p>
            <a:r>
              <a:rPr dirty="0"/>
              <a:t>References</a:t>
            </a:r>
          </a:p>
          <a:p>
            <a:r>
              <a:rPr dirty="0"/>
              <a:t>https://kaito-project.github.io/kaito/docs/prefill-decode-disaggregation</a:t>
            </a:r>
          </a:p>
          <a:p>
            <a:r>
              <a:rPr dirty="0"/>
              <a:t>https://kaito-project.github.io/kaito/docs/keda-autoscaler-inference</a:t>
            </a:r>
          </a:p>
          <a:p>
            <a:r>
              <a:rPr dirty="0"/>
              <a:t>https://llm-d.ai/docs/architecture</a:t>
            </a:r>
          </a:p>
          <a:p>
            <a:r>
              <a:rPr dirty="0"/>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This is a map of responsibilities, not a required installation checklist. Applications call the inference API. The gateway handles ingress, auth and traffic policy. KAITO manages lifecycle; llm-d selects endpoints.</a:t>
            </a:r>
          </a:p>
          <a:p>
            <a:r>
              <a:rPr lang="en-US" sz="1200"/>
              <a:t>vLLM runs prefill, decode and batching. NIXL moves KV; cache systems reuse or offload it. The infrastructure supports the stack. We will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Declare both roles together. Keep orchestration separate from execution. Serve one model through one endpoint. Give prefill and decode their own placement and replica counts.</a:t>
            </a:r>
          </a:p>
          <a:p>
            <a:r>
              <a:rPr lang="en-US" sz="1200"/>
              <a:t>KAITO maintains the role topology. InferencePool links to the gateway. llm-d selects workers and coordinates requests. vLLM runs the phases; NIXL transfers KV. One service coordinates P/D requests, while each role keeps its own capacity settings.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Endpoint Picker selects workers. vLLM executes the inference phases. The gateway asks the EPP for a decision: a decode worker, and a prefill worker when remote prefill is needed.</a:t>
            </a:r>
          </a:p>
          <a:p>
            <a:r>
              <a:rPr lang="en-US" sz="1200"/>
              <a:t>Choose workers for prefill and decode. Combine KV-aware and P/D-aware plugins. Add new policies through plugins. KAITO reuses llm-d’s routing decisions instead of building a second routing engine.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manages resources. HTTP carries requests. NIXL moves KV between runtimes. Start at the top: KAITO maintains the role InferenceSets, InferencePool and runtime wiring.</a:t>
            </a:r>
          </a:p>
          <a:p>
            <a:r>
              <a:rPr lang="en-US" sz="1200"/>
              <a:t>For a request, the gateway consults the EPP, then forwards to the selected decode sidecar. The sidecar calls remote prefill when needed and local decode. The client uses one endpoint. KV data bypasses the gateway, EPP and routing sidecar.</a:t>
            </a:r>
          </a:p>
          <a:p>
            <a:endParaRPr lang="en-US" sz="1200"/>
          </a:p>
          <a:p>
            <a:r>
              <a:rPr dirty="0"/>
              <a:t>Technical reference (not part of the spoken script)</a:t>
            </a:r>
          </a:p>
          <a:p>
            <a:endParaRPr dirty="0"/>
          </a:p>
          <a:p>
            <a:r>
              <a:rPr dirty="0"/>
              <a:t>The upper band is resource ownership, not traffic. The gateway consults the </a:t>
            </a:r>
            <a:r>
              <a:rPr dirty="0" err="1"/>
              <a:t>llm</a:t>
            </a:r>
            <a:r>
              <a:rPr dirty="0"/>
              <a:t>-d Router EPP through the </a:t>
            </a:r>
            <a:r>
              <a:rPr dirty="0" err="1"/>
              <a:t>InferencePool</a:t>
            </a:r>
            <a:r>
              <a:rPr dirty="0"/>
              <a:t>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a:t>
            </a:r>
            <a:r>
              <a:rPr dirty="0" err="1"/>
              <a:t>InferenceSets</a:t>
            </a:r>
            <a:r>
              <a:rPr dirty="0"/>
              <a:t>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MultiRoleInference declares both roles. This example puts one prefill replica on A100 and two decode replicas on H100. The YAML declares the model and the settings for each role.</a:t>
            </a:r>
          </a:p>
          <a:p>
            <a:r>
              <a:rPr lang="en-US" sz="1200"/>
              <a:t>On the right, we still have one logical service and InferencePool. Both roles serve the same model. Each has its own InferenceSet and capacity settings. The model and SKU values are illustrative, not deployment-validated.</a:t>
            </a:r>
          </a:p>
          <a:p>
            <a:endParaRPr lang="en-US" sz="1200"/>
          </a:p>
          <a:p>
            <a:r>
              <a:rPr dirty="0"/>
              <a:t>Technical reference (not part of the spoken script)</a:t>
            </a:r>
          </a:p>
          <a:p>
            <a:endParaRPr dirty="0"/>
          </a:p>
          <a:p>
            <a:r>
              <a:rPr dirty="0"/>
              <a:t>User-supplied example: kaito.sh/v1alpha1 </a:t>
            </a:r>
            <a:r>
              <a:rPr dirty="0" err="1"/>
              <a:t>MultiRoleInference</a:t>
            </a:r>
            <a:r>
              <a:rPr dirty="0"/>
              <a:t> named qwen-3-8-27b, model Qwen/Qwen3.8-27B. The prefill role has replicas: 1 and </a:t>
            </a:r>
            <a:r>
              <a:rPr dirty="0" err="1"/>
              <a:t>instanceType</a:t>
            </a:r>
            <a:r>
              <a:rPr dirty="0"/>
              <a:t>: Standard_NC24ads_A100_v4; the decode role has replicas: 2 and </a:t>
            </a:r>
            <a:r>
              <a:rPr dirty="0" err="1"/>
              <a:t>instanceType</a:t>
            </a:r>
            <a:r>
              <a:rPr dirty="0"/>
              <a:t>: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a:t>
            </a:r>
            <a:r>
              <a:rPr dirty="0" err="1"/>
              <a:t>InferenceSet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turns the declared topology into workers, routing resources and runtime wiring. For prefill, set role labels and the NIXL host or Pod IP. For decode, inject the sidecar. Align NIXL and vLLM ports.</a:t>
            </a:r>
          </a:p>
          <a:p>
            <a:r>
              <a:rPr lang="en-US" sz="1200"/>
              <a:t>For routing, connect Services, ports and endpoint selection. Keep ownership, roles, labels, ports and lifecycle consistent. KAITO keeps the resources working together; it does not just generate YAML.</a:t>
            </a:r>
          </a:p>
          <a:p>
            <a:endParaRPr lang="en-US" sz="1200"/>
          </a:p>
          <a:p>
            <a:r>
              <a:rPr dirty="0"/>
              <a:t>Technical reference (not part of the spoken script)</a:t>
            </a:r>
          </a:p>
          <a:p>
            <a:endParaRPr dirty="0"/>
          </a:p>
          <a:p>
            <a:r>
              <a:rPr dirty="0"/>
              <a:t>The dashed tree is a resource and responsibility map, not an exact claim that every depicted object is a direct Kubernetes child of the </a:t>
            </a:r>
            <a:r>
              <a:rPr dirty="0" err="1"/>
              <a:t>MultiRoleInference</a:t>
            </a:r>
            <a:r>
              <a:rPr dirty="0"/>
              <a:t>.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sidecar calls remote prefill when needed, then invokes local decode. Follow steps three to six: prefill returns remote KV parameters, not the KV payload. The sidecar passes those parameters to local decode.</a:t>
            </a:r>
          </a:p>
          <a:p>
            <a:r>
              <a:rPr lang="en-US" sz="1200"/>
              <a:t>Decode initiates the NIXL read; the data moves from prefill to decode. The response returns through the sidecar and gateway. The sidecar passes calls and KV metadata. The runtimes transfer the actual KV data.</a:t>
            </a:r>
          </a:p>
          <a:p>
            <a:endParaRPr lang="en-US" sz="1200"/>
          </a:p>
          <a:p>
            <a:r>
              <a:rPr dirty="0"/>
              <a:t>Technical reference (not part of the spoken script)</a:t>
            </a:r>
          </a:p>
          <a:p>
            <a:endParaRPr dirty="0"/>
          </a:p>
          <a:p>
            <a:r>
              <a:rPr dirty="0"/>
              <a:t>Based on </a:t>
            </a:r>
            <a:r>
              <a:rPr dirty="0" err="1"/>
              <a:t>llm</a:t>
            </a:r>
            <a:r>
              <a:rPr dirty="0"/>
              <a:t>-d-router docs/</a:t>
            </a:r>
            <a:r>
              <a:rPr dirty="0" err="1"/>
              <a:t>disaggregation.md#pd-sequence</a:t>
            </a:r>
            <a:r>
              <a:rPr dirty="0"/>
              <a:t>. Step 2 follows EPP selection; the EPP consultation is omitted from this sequence and shown on slide 26. Step 4 returns transfer metadata, not the KV payload. Step 5 carries </a:t>
            </a:r>
            <a:r>
              <a:rPr dirty="0" err="1"/>
              <a:t>remote_prefill</a:t>
            </a:r>
            <a:r>
              <a:rPr dirty="0"/>
              <a:t>=true,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dirty="0"/>
          </a:p>
          <a:p>
            <a:r>
              <a:rPr dirty="0"/>
              <a:t>References</a:t>
            </a:r>
          </a:p>
          <a:p>
            <a:r>
              <a:rPr dirty="0"/>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a:t>KV moves between runtimes, not through the gateway or routing sidecar. Prefill builds KV in GPU memory. Decode reuses KV to keep generating. NIXL uses a transport backend. Decode may initiate the read.</a:t>
            </a:r>
          </a:p>
          <a:p>
            <a:r>
              <a:rPr lang="en-US" sz="1200"/>
              <a:t>GPU-direct RDMA needs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approach: let prefill and decode make separate capacity decisions. Match signals to each role’s load. Tune thresholds against latency targets.</a:t>
            </a:r>
          </a:p>
          <a:p>
            <a:r>
              <a:rPr lang="en-US" sz="1200"/>
              <a:t>Prefill needs to protect time to first token. Start with vLLM waiting requests. Decode needs to sustain steady token delivery. Start with vLLM running requests. These counts indicate load, not latency or GPU saturation.</a:t>
            </a:r>
          </a:p>
          <a:p>
            <a:endParaRPr lang="en-US" sz="120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Today, KEDA scales an InferenceSet. KAITO documents scheduled scaling and metric-based scaling with KEDA. KEDA and HPA set replicas on the InferenceSet. KAITO adjusts serving resources.</a:t>
            </a:r>
          </a:p>
          <a:p>
            <a:r>
              <a:rPr lang="en-US" sz="1200"/>
              <a:t>One example watches queues, using vllm:num_requests_waiting. KEDA is installed separately. This is the existing scaling mechanism, not a finished MRI policy. Scale the complete serving replica, not an individual tensor-parallel worker.</a:t>
            </a:r>
          </a:p>
          <a:p>
            <a:endParaRPr lang="en-US" sz="1200"/>
          </a:p>
          <a:p>
            <a:r>
              <a:rPr dirty="0"/>
              <a:t>Technical reference (not part of the spoken script)</a:t>
            </a:r>
          </a:p>
          <a:p>
            <a:endParaRPr dirty="0"/>
          </a:p>
          <a:p>
            <a:r>
              <a:rPr dirty="0"/>
              <a:t>KEDA is installed separately. The KAITO documentation shows Cron and Prometheus triggers with a </a:t>
            </a:r>
            <a:r>
              <a:rPr dirty="0" err="1"/>
              <a:t>ScaledObject</a:t>
            </a:r>
            <a:r>
              <a:rPr dirty="0"/>
              <a:t> </a:t>
            </a:r>
            <a:r>
              <a:rPr dirty="0" err="1"/>
              <a:t>scaleTargetRef</a:t>
            </a:r>
            <a:r>
              <a:rPr dirty="0"/>
              <a:t> pointing to a kaito.sh </a:t>
            </a:r>
            <a:r>
              <a:rPr dirty="0" err="1"/>
              <a:t>InferenceSet</a:t>
            </a:r>
            <a:r>
              <a:rPr dirty="0"/>
              <a:t>. The controller reconciles the desired replicas into serving resources. The queue metric example is real; it does not establish native per-role MRI autoscaling policy.</a:t>
            </a:r>
          </a:p>
          <a:p>
            <a:endParaRPr dirty="0"/>
          </a:p>
          <a:p>
            <a:r>
              <a:rPr dirty="0"/>
              <a:t>References</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sz="1200"/>
              <a:t>Read vLLM metrics directly, without Prometheus. Use queue and latency signals. Take conservative replica steps. Combine conditions with AND.</a:t>
            </a:r>
          </a:p>
          <a:p>
            <a:r>
              <a:rPr lang="en-US" sz="1200"/>
              <a:t>AND can reduce unnecessary scaling, but it can also delay capacity. Check the installed scaler version and test the policy for your model. This works with InferenceSet; applying it separately to MRI roles still needs integration.</a:t>
            </a:r>
          </a:p>
        </p:txBody>
      </p:sp>
    </p:spTree>
    <p:extLst>
      <p:ext uri="{BB962C8B-B14F-4D97-AF65-F5344CB8AC3E}">
        <p14:creationId xmlns:p14="http://schemas.microsoft.com/office/powerpoint/2010/main" val="31905224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Let prefill and decode scale independently. Proposed design: each role gets its own signal, threshold and replica target. Prefill watches waiting requests and scales its InferenceSet. Decode watches running requests and scales its InferenceSet.</a:t>
            </a:r>
          </a:p>
          <a:p>
            <a:r>
              <a:rPr lang="en-US" sz="1200"/>
              <a:t>Give each target one owner. Allow warm-up time, stabilize changes and scale down safely. Independent capacity decisions are the goal; KEDA and HPA are one way to implement them.</a:t>
            </a:r>
          </a:p>
          <a:p>
            <a:endParaRPr lang="en-US" sz="1200"/>
          </a:p>
          <a:p>
            <a:r>
              <a:rPr dirty="0"/>
              <a:t>Technical reference (not part of the spoken script)</a:t>
            </a:r>
          </a:p>
          <a:p>
            <a:endParaRPr dirty="0"/>
          </a:p>
          <a:p>
            <a:r>
              <a:rPr dirty="0"/>
              <a:t>Conceptual two-loop design. A KEDA deployment can use one </a:t>
            </a:r>
            <a:r>
              <a:rPr dirty="0" err="1"/>
              <a:t>ScaledObject</a:t>
            </a:r>
            <a:r>
              <a:rPr dirty="0"/>
              <a:t> per target </a:t>
            </a:r>
            <a:r>
              <a:rPr dirty="0" err="1"/>
              <a:t>InferenceSet</a:t>
            </a:r>
            <a:r>
              <a:rPr dirty="0"/>
              <a:t>. Native </a:t>
            </a:r>
            <a:r>
              <a:rPr dirty="0" err="1"/>
              <a:t>vLLM</a:t>
            </a:r>
            <a:r>
              <a:rPr dirty="0"/>
              <a:t> waiting and running request gauges supply role-specific signals. Do not install conflicting </a:t>
            </a:r>
            <a:r>
              <a:rPr dirty="0" err="1"/>
              <a:t>autoscalers</a:t>
            </a:r>
            <a:r>
              <a:rPr dirty="0"/>
              <a:t> for one target. Metric aggregation, freshness, model warm-up and safe scale-down require verification. The following slides explain policy and signal choices independently of the configuration API.</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service can scale its two roles separately. Proposed design: set service goals, then give each role its own scaling policy. Protect prompt latency. Keep tokens flowing. Set separate role targets.</a:t>
            </a:r>
          </a:p>
          <a:p>
            <a:r>
              <a:rPr lang="en-US" sz="1200"/>
              <a:t>Apply the prefill policy. Apply the decode policy. Scale a complete serving replica—not an individual tensor-parallel worker. Mapping service goals to those policies and handing over replica ownership still require MRI integration.</a:t>
            </a:r>
          </a:p>
          <a:p>
            <a:endParaRPr lang="en-US" sz="120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loops use valid role metrics—not GPU utilization alone—to decide capacity. Routing chooses where requests go; autoscaling changes how much capacity is available.</a:t>
            </a:r>
          </a:p>
          <a:p>
            <a:r>
              <a:rPr lang="en-US" sz="1200"/>
              <a:t>Validate signals and limits. Give each target one owner. Count only ready replicas. Waiting requests inform prefill capacity; running requests inform decode capacity. Running requests measure concurrency, not GPU saturation. Require fresh, complete role metrics before trusting a scaling decision.</a:t>
            </a:r>
          </a:p>
          <a:p>
            <a:endParaRPr lang="en-US" sz="120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is a proposed policy excerpt, not a ready-to-deploy manifest. The MRI adapter and child opt-in still need integration. These thresholds are examples.</a:t>
            </a:r>
          </a:p>
          <a:p>
            <a:r>
              <a:rPr lang="en-US" sz="1200"/>
              <a:t>Start with one prefill replica and two decode replicas. With role averages of twelve, prefill requests scale-up and decode holds. Decode can request scale-up above twenty-four. AND applies within each role, not across roles. The formula requests double, half or unchanged replicas, rounded up. HPA behavior limits the pace; readiness, bounds and stabilization still apply.</a:t>
            </a:r>
          </a:p>
          <a:p>
            <a:endParaRPr lang="en-US" sz="1200"/>
          </a:p>
          <a:p>
            <a:r>
              <a:rPr dirty="0"/>
              <a:t>Technical reference (not part of the spoken script)</a:t>
            </a:r>
          </a:p>
          <a:p>
            <a:endParaRPr dirty="0"/>
          </a:p>
          <a:p>
            <a:r>
              <a:rPr dirty="0"/>
              <a:t>The left panel is a literal excerpt under MRI </a:t>
            </a:r>
            <a:r>
              <a:rPr dirty="0" err="1"/>
              <a:t>metadata.annotations</a:t>
            </a:r>
            <a:r>
              <a:rPr dirty="0"/>
              <a:t>; the right is a </a:t>
            </a:r>
            <a:r>
              <a:rPr dirty="0" err="1"/>
              <a:t>spec.roles</a:t>
            </a:r>
            <a:r>
              <a:rPr dirty="0"/>
              <a:t> excerpt, not the entire deployable resource. Full YAML: </a:t>
            </a:r>
            <a:r>
              <a:rPr dirty="0" err="1"/>
              <a:t>llm</a:t>
            </a:r>
            <a:r>
              <a:rPr dirty="0"/>
              <a:t>/</a:t>
            </a:r>
            <a:r>
              <a:rPr dirty="0" err="1"/>
              <a:t>kaito</a:t>
            </a:r>
            <a:r>
              <a:rPr dirty="0"/>
              <a:t>-</a:t>
            </a:r>
            <a:r>
              <a:rPr dirty="0" err="1"/>
              <a:t>llm</a:t>
            </a:r>
            <a:r>
              <a:rPr dirty="0"/>
              <a:t>-d/examples/proposed-pd-autoscaling-</a:t>
            </a:r>
            <a:r>
              <a:rPr dirty="0" err="1"/>
              <a:t>annotations.yaml</a:t>
            </a:r>
            <a:r>
              <a:rPr dirty="0"/>
              <a:t> in this repository. Model and </a:t>
            </a:r>
            <a:r>
              <a:rPr dirty="0" err="1"/>
              <a:t>instanceType</a:t>
            </a:r>
            <a:r>
              <a:rPr dirty="0"/>
              <a:t>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a:t>
            </a:r>
            <a:r>
              <a:rPr dirty="0" err="1"/>
              <a:t>modelpod</a:t>
            </a:r>
            <a:r>
              <a:rPr dirty="0"/>
              <a:t> source discovers Workspaces owned by the target </a:t>
            </a:r>
            <a:r>
              <a:rPr dirty="0" err="1"/>
              <a:t>InferenceSet</a:t>
            </a:r>
            <a:r>
              <a:rPr dirty="0"/>
              <a: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a:t>
            </a:r>
            <a:r>
              <a:rPr dirty="0" err="1"/>
              <a:t>vLLM</a:t>
            </a:r>
            <a:r>
              <a:rPr dirty="0"/>
              <a:t> /metrics verification and full-role sample coverage before activation.</a:t>
            </a:r>
          </a:p>
          <a:p>
            <a:endParaRPr dirty="0"/>
          </a:p>
          <a:p>
            <a:r>
              <a:rPr dirty="0"/>
              <a:t>Narrative source: kubecon-na-2026-pd-disaggregation.md</a:t>
            </a:r>
          </a:p>
          <a:p>
            <a:r>
              <a:rPr dirty="0"/>
              <a:t>References:</a:t>
            </a:r>
          </a:p>
          <a:p>
            <a:r>
              <a:rPr dirty="0"/>
              <a:t>https://github.com/andyzhangx/demo/blob/26c3e14a340d4b0aae5c820b43087d71b85d1554/llm/kaito-llm-d/kaito-role-aware-autoscaling-for-pd.md</a:t>
            </a:r>
          </a:p>
          <a:p>
            <a:r>
              <a:rPr dirty="0"/>
              <a:t>https://docs.vllm.ai/en/stable/usage/metrics/</a:t>
            </a:r>
          </a:p>
          <a:p>
            <a:r>
              <a:rPr dirty="0"/>
              <a:t>https://github.com/andyzhangx/demo/blob/master/llm/kaito-llm-d/examples/proposed-pd-autoscaling-annotations.yaml</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two gauges to scale the two roles. Verify service-to-replica mapping before averaging each role’s load. The default sums matching series within each service, then averages scraped services. Check full coverage: missing data is not zero. Watch the prefill engine queue and active decode requests.</a:t>
            </a:r>
          </a:p>
          <a:p>
            <a:r>
              <a:rPr lang="en-US" sz="1200"/>
              <a:t>In this example, prefill scales up above eight and down below one; decode scales up above twenty-four and down below four. Both hold between the thresholds, including equality. These thresholds are examples. Verify /metrics before enabling either policy.</a:t>
            </a:r>
          </a:p>
          <a:p>
            <a:endParaRPr lang="en-US" sz="1200"/>
          </a:p>
          <a:p>
            <a:r>
              <a:rPr dirty="0"/>
              <a:t>Technical reference (not part of the spoken script)</a:t>
            </a:r>
          </a:p>
          <a:p>
            <a:endParaRPr dirty="0"/>
          </a:p>
          <a:p>
            <a:r>
              <a:rPr dirty="0"/>
              <a:t>Native </a:t>
            </a:r>
            <a:r>
              <a:rPr dirty="0" err="1"/>
              <a:t>vllm:num_requests_waiting</a:t>
            </a:r>
            <a:r>
              <a:rPr dirty="0"/>
              <a:t> and </a:t>
            </a:r>
            <a:r>
              <a:rPr dirty="0" err="1"/>
              <a:t>vllm:num_requests_running</a:t>
            </a:r>
            <a:r>
              <a:rPr dirty="0"/>
              <a:t>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derived signals to explain the load. Derive KV usage, latency and throughput. Check queries before use. Maximum KV usage could guard scale-down. Its complement shows free fraction, not request capacity. First-token P95 shows engine-side TTFT tails. Token throughput shows output rate; benchmark it.</a:t>
            </a:r>
          </a:p>
          <a:p>
            <a:r>
              <a:rPr lang="en-US" sz="1200"/>
              <a:t>KV occupancy is not demand. Throughput alone should not change replica counts. These are proposed derived signals, not metrics already integrated into MRI.</a:t>
            </a:r>
          </a:p>
          <a:p>
            <a:endParaRPr lang="en-US" sz="1200"/>
          </a:p>
          <a:p>
            <a:r>
              <a:rPr dirty="0"/>
              <a:t>Technical reference (not part of the spoken script)</a:t>
            </a:r>
          </a:p>
          <a:p>
            <a:endParaRPr dirty="0"/>
          </a:p>
          <a:p>
            <a:r>
              <a:rPr dirty="0"/>
              <a:t>These are derived-signal design examples, not metrics natively emitted by </a:t>
            </a:r>
            <a:r>
              <a:rPr dirty="0" err="1"/>
              <a:t>vLLM</a:t>
            </a:r>
            <a:r>
              <a:rPr dirty="0"/>
              <a:t> or a claim of current MRI integration support. All table input names have the </a:t>
            </a:r>
            <a:r>
              <a:rPr dirty="0" err="1"/>
              <a:t>vllm</a:t>
            </a:r>
            <a:r>
              <a:rPr dirty="0"/>
              <a:t>: prefix. Proposed recording-rule names: </a:t>
            </a:r>
            <a:r>
              <a:rPr dirty="0" err="1"/>
              <a:t>kaito:decode_kv_cache_usage_max</a:t>
            </a:r>
            <a:r>
              <a:rPr dirty="0"/>
              <a:t> = max valid role-scoped </a:t>
            </a:r>
            <a:r>
              <a:rPr dirty="0" err="1"/>
              <a:t>vllm:kv_cache_usage_perc</a:t>
            </a:r>
            <a:r>
              <a:rPr dirty="0"/>
              <a:t>; </a:t>
            </a:r>
            <a:r>
              <a:rPr dirty="0" err="1"/>
              <a:t>kaito:decode_kv_cache_free_fraction_min</a:t>
            </a:r>
            <a:r>
              <a:rPr dirty="0"/>
              <a:t> = 1 - that maximum; kaito:prefill_ttft_p95_seconds = </a:t>
            </a:r>
            <a:r>
              <a:rPr dirty="0" err="1"/>
              <a:t>histogram_quantile</a:t>
            </a:r>
            <a:r>
              <a:rPr dirty="0"/>
              <a:t>(0.95, summed per-series 5m bucket rates preserving workload/role and le); </a:t>
            </a:r>
            <a:r>
              <a:rPr dirty="0" err="1"/>
              <a:t>kaito:decode_generation_tokens_per_second</a:t>
            </a:r>
            <a:r>
              <a:rPr dirty="0"/>
              <a:t> = sum of reset-aware rate(</a:t>
            </a:r>
            <a:r>
              <a:rPr dirty="0" err="1"/>
              <a:t>vllm:generation_tokens_total</a:t>
            </a:r>
            <a:r>
              <a:rPr dirty="0"/>
              <a:t>[5m]).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a:t>
            </a:r>
            <a:r>
              <a:rPr dirty="0" err="1"/>
              <a:t>vLLM</a:t>
            </a:r>
            <a:r>
              <a:rPr dirty="0"/>
              <a:t>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Next, explore better cache reuse, more inference roles and larger-scale execution. Route using KV cache events. Tier cache across HBM, CPU RAM and optional filesystems. Add Encode to Prefill / Decode. Support more inference roles. Explore wide expert parallelism. Improve cross-node transport and communication.</a:t>
            </a:r>
          </a:p>
          <a:p>
            <a:r>
              <a:rPr lang="en-US" sz="1200"/>
              <a:t>These are integration directions, not release dates; some capabilities already exist upstream.</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Explore the projects, then try the KAITO + llm-d P/D guide. llm-d and KAITO are both CNCF Sandbox projects. Start with their repositories for the code, check keda-kaito-scaler for scaling details, and use the P/D guide for prerequisites and configuration.</a:t>
            </a:r>
          </a:p>
          <a:p>
            <a:endParaRPr lang="en-US" sz="1200"/>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Thank you. We’re happy to take questions.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Split the phases. Tune the pools independently. P/D separates prompt processing from generation, with KV transfer between them. Size prefill replicas and parallelism for prompt pressure. Size decode replicas and parallelism for sustained generation.</a:t>
            </a:r>
          </a:p>
          <a:p>
            <a:r>
              <a:rPr lang="en-US" sz="1200"/>
              <a:t>Transfer and coordination add cost. KV data moves from prefill to decode, even when decode initiates the read. The transfer path must be fast enough to justify the split.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Different roles need different scaling policies. Tune each role for its workload, using per-replica signals and shared safety checks. Prefill watches waiting requests; decode watches running requests. The example ranges are one to eight and two to sixteen replicas.</a:t>
            </a:r>
          </a:p>
          <a:p>
            <a:r>
              <a:rPr lang="en-US" sz="1200"/>
              <a:t>Prefill scales up above eight and down below one; decode scales up above twenty-four and down below four. Otherwise, hold. Both need readiness and fresh metrics. These policies are examples. Validate thresholds, cooldown and model warm-up. These are safety requirements, not guarantees of current MRI integration.</a:t>
            </a:r>
          </a:p>
          <a:p>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Three layers. Three clear responsibilities. The InferencePool contract connects platform orchestration to routing. KAITO reconciles the role topology. It creates resources and manages their lifecycle. GWIE defines the InferencePool contract. It connects backends to gateway integration. llm-d Router selects endpoints via EPP. It makes role-aware routing decisions.</a:t>
            </a:r>
          </a:p>
          <a:p>
            <a:r>
              <a:rPr lang="en-US" sz="1200"/>
              <a:t>KAITO owns the topology. GWIE defines the contract. llm-d Router makes the selection. InferencePool is an API resource, not another forwarding proxy.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Here is how KAITO estimates GPU node count. Estimate initial memory capacity—not throughput—from the model and GPU memory. Start with GPU memory. Reserve runtime overhead and room for KV cache. Fit the weights into usable GPU memory. Account for parallelism. Divide by GPUs per node. Round up, then reconcile the workload.</a:t>
            </a:r>
          </a:p>
          <a:p>
            <a:r>
              <a:rPr lang="en-US" sz="1200"/>
              <a:t>The sizing formula and safety margins depend on the KAITO and runtime version. Fitting the model is not a latency or throughput guarantee.</a:t>
            </a:r>
          </a:p>
        </p:txBody>
      </p:sp>
    </p:spTree>
    <p:extLst>
      <p:ext uri="{BB962C8B-B14F-4D97-AF65-F5344CB8AC3E}">
        <p14:creationId xmlns:p14="http://schemas.microsoft.com/office/powerpoint/2010/main" val="144924624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llm-d connects routing, prefill and decode. Route prefill and decode separately. Choose workers dynamically. Tune each role’s capacity and scheduling. Target TTFT and ITL SLOs—then measure the handoff cost.</a:t>
            </a:r>
          </a:p>
          <a:p>
            <a:r>
              <a:rPr lang="en-US" sz="1200"/>
              <a:t>One client request can become separate internal requests. Separate pools give us more control, not a guarantee of meeting latency targets. The sidecar coordinates the handoff; vLLM and NIXL move the KV data.</a:t>
            </a:r>
          </a:p>
        </p:txBody>
      </p:sp>
    </p:spTree>
    <p:extLst>
      <p:ext uri="{BB962C8B-B14F-4D97-AF65-F5344CB8AC3E}">
        <p14:creationId xmlns:p14="http://schemas.microsoft.com/office/powerpoint/2010/main" val="1698950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decode sidecar coordinates the request. One decode endpoint coordinates remote prefill and returns the final response. The gateway reaches the selected decode pod’s sidecar. When needed, the sidecar requests remote prefill, then passes the request and KV metadata to local decode vLLM.</a:t>
            </a:r>
          </a:p>
          <a:p>
            <a:r>
              <a:rPr lang="en-US" sz="1200"/>
              <a:t>The sidecar coordinates requests. KV data goes directly to the decode runtime. Decode initiates the read; KV data bypasses the sidecar. Ports five thousand and five thousand one are configuration examples.</a:t>
            </a:r>
          </a:p>
          <a:p>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Ask two questions: do the roles need different capacity, and what does KV transfer cost? With different role needs but costly transfer, improve topology first: separate capacity may help, but transfer may erase the gain. With different needs and affordable transfer, tune each role separately. Validate at matched SLOs and cost.</a:t>
            </a:r>
          </a:p>
          <a:p>
            <a:r>
              <a:rPr lang="en-US" sz="1200"/>
              <a:t>With similar needs, usually stay aggregated. Similar roles gain little, while expensive transfer adds cost. Fast fabric alone is no reason to split. Use P/D when roles need different capacity and KV transfer does not erase the gain.</a:t>
            </a:r>
          </a:p>
          <a:p>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Three takeaways for operating P/D on Kubernetes. Separate capacity to protect latency. Prefill shapes first-token latency; decode shapes ongoing token delivery. Give each layer a clear job. KAITO manages roles; llm-d routes; vLLM + NIXL execute and move KV.</a:t>
            </a:r>
          </a:p>
          <a:p>
            <a:r>
              <a:rPr lang="en-US" sz="1200"/>
              <a:t>Scale each role safely. Use role signals and safe scale-down; MRI integration still needs work. Validate P/D against aggregated serving at matched workload, cost and latency targets.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Tune explicitly today; aim for simpler defaults next. Choose queue and latency metrics. Set thresholds and time windows. Set replica bounds and cooldowns. Combine signals with an AND policy. Check available settings against your installed scaler version.</a:t>
            </a:r>
          </a:p>
          <a:p>
            <a:r>
              <a:rPr lang="en-US" sz="1200"/>
              <a:t>The proposal is to keep minimum and maximum replicas, derive more defaults automatically, and validate for the model and workload. This is not shipped auto-tuning. Existing InferenceSet scaling is the base; MRI role-policy integration still needs work.</a:t>
            </a:r>
          </a:p>
          <a:p>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Reuse the serving stack and add Kubernetes-native coordination. Run modular components on Kubernetes. Keep failure boundaries clear. Connect gateways, routing, runtimes and KV interfaces. Start with tested paths. Weigh the trade-offs. Tune for your workload.</a:t>
            </a:r>
          </a:p>
          <a:p>
            <a:r>
              <a:rPr lang="en-US" sz="1200"/>
              <a:t>llm-d composes gateways, runtimes and transport; it does not replace them all. These reference paths are starting points, not performance guarantees for every model and hardware combination.</a:t>
            </a:r>
          </a:p>
          <a:p>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Safe autoscaling needs one writer and valid data. These are safety requirements to verify, not guarantees of current MRI integration. Give each role one replica writer. Do not let autoscalers compete. Inspect actual /metrics. Scope samples per role. Missing is not zero. Hold and report on failure.</a:t>
            </a:r>
          </a:p>
          <a:p>
            <a:r>
              <a:rPr lang="en-US" sz="1200"/>
              <a:t>Stop the old writer first. Delete only owned scalers. Allow model warm-up. Test safe scale-down. Avoid competing controllers, count only ready capacity, and protect in-flight requests.</a:t>
            </a:r>
          </a:p>
          <a:p>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are building blocks, not benchmark guarantees. Run large models with expert parallelism and tuned communication. Choose placement, batching and capacity for each phase. Route with cache locality and runtime load in mind. Guide scaling with workload signals and latency targets.</a:t>
            </a:r>
          </a:p>
          <a:p>
            <a:r>
              <a:rPr lang="en-US" sz="1200"/>
              <a:t>Choosing a worker and adding capacity are different decisions. Validate your model, hardware, traffic and SLOs.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5.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a:t>
            </a:r>
            <a:r>
              <a:rPr lang="en-US" altLang="zh-CN" sz="1200" dirty="0">
                <a:solidFill>
                  <a:srgbClr val="52677D"/>
                </a:solidFill>
              </a:rPr>
              <a:t>Microsoft AKS team</a:t>
            </a:r>
            <a:endParaRPr lang="en-US" altLang="zh-CN" sz="1200" cap="none" dirty="0">
              <a:solidFill>
                <a:srgbClr val="52677D"/>
              </a:solidFill>
              <a:latin typeface="Arial"/>
            </a:endParaRP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 AKS team</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30650" y="4243533"/>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selects “Kubernetes”.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We 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We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latency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45720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398264"/>
            <a:ext cx="8209026" cy="393192"/>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Our goal: serve more requests while meeting both latency targets.</a:t>
            </a:r>
          </a:p>
          <a:p>
            <a:pPr>
              <a:spcAft>
                <a:spcPts val="375"/>
              </a:spcAft>
              <a:defRPr sz="1500" b="1">
                <a:solidFill>
                  <a:srgbClr val="172941"/>
                </a:solidFill>
                <a:latin typeface="Arial"/>
              </a:defRPr>
            </a:pPr>
            <a:r>
              <a:rPr sz="1125" cap="none" dirty="0">
                <a:latin typeface="Arial"/>
              </a:rPr>
              <a:t>SLO goodput = requests per second that meet both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Prefill processes the input and is 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 smoothly?</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generates tokens and is 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Adding a replica adds both phases, even if only one is busy.</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b="1" cap="none" dirty="0">
                <a:latin typeface="Arial"/>
              </a:rPr>
              <a:t>We still 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batches prompt positions; ordinary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process many input positions in one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We can batch positions from multiple prompts.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we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Separate pools let us tune each phase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choosing capacity for each phase, not just running two deployments.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Prefill is often compute-bound.</a:t>
            </a:r>
          </a:p>
          <a:p>
            <a:pPr>
              <a:spcAft>
                <a:spcPts val="375"/>
              </a:spcAft>
              <a:defRPr sz="1800" b="0">
                <a:solidFill>
                  <a:srgbClr val="172941"/>
                </a:solidFill>
                <a:latin typeface="Arial"/>
              </a:defRPr>
            </a:pPr>
            <a:r>
              <a:rPr sz="1350" cap="none">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Decode is often bandwidth-bound.</a:t>
            </a:r>
          </a:p>
          <a:p>
            <a:pPr>
              <a:spcAft>
                <a:spcPts val="375"/>
              </a:spcAft>
              <a:defRPr sz="1800" b="0">
                <a:solidFill>
                  <a:srgbClr val="172941"/>
                </a:solidFill>
                <a:latin typeface="Arial"/>
              </a:defRPr>
            </a:pPr>
            <a:r>
              <a:rPr sz="1350" cap="none">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343940"/>
          </a:xfrm>
          <a:prstGeom prst="rect">
            <a:avLst/>
          </a:prstGeom>
          <a:noFill/>
        </p:spPr>
        <p:txBody>
          <a:bodyPr wrap="square" lIns="10287" tIns="10287" rIns="10287" bIns="10287">
            <a:spAutoFit/>
          </a:bodyPr>
          <a:lstStyle/>
          <a:p>
            <a:pPr marL="457200" indent="-298450" algn="ctr">
              <a:spcAft>
                <a:spcPts val="375"/>
              </a:spcAft>
              <a:buSzPts val="1100"/>
              <a:buFont typeface="Arial"/>
              <a:buChar char="●"/>
              <a:defRPr sz="1400" b="0">
                <a:solidFill>
                  <a:srgbClr val="586A80"/>
                </a:solidFill>
                <a:latin typeface="Arial"/>
              </a:defRPr>
            </a:pPr>
            <a:r>
              <a:rPr sz="1050" cap="none" dirty="0">
                <a:latin typeface="Arial"/>
              </a:rPr>
              <a:t>Replicas, </a:t>
            </a:r>
            <a:r>
              <a:rPr lang="en-US" altLang="zh-CN" sz="1050" dirty="0"/>
              <a:t>tensor parallelism</a:t>
            </a:r>
            <a:r>
              <a:rPr sz="1050" cap="none" dirty="0">
                <a:latin typeface="Arial"/>
              </a:rPr>
              <a:t>,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KV transfer, labels, ports and readiness must stay in sync.</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We 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examples, not a ranking. Some approaches can work together.</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lang="en-US" sz="1125" dirty="0"/>
              <a:t>P/D deployment options already exist. KAITO aims to make them easier to use.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13</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llm-d connects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We 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14</a:t>
            </a:fld>
            <a:endParaRPr lang="en-US"/>
          </a:p>
        </p:txBody>
      </p:sp>
    </p:spTree>
    <p:extLst>
      <p:ext uri="{BB962C8B-B14F-4D97-AF65-F5344CB8AC3E}">
        <p14:creationId xmlns:p14="http://schemas.microsoft.com/office/powerpoint/2010/main" val="3348379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combine reusable components.</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dirty="0">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15</a:t>
            </a:fld>
            <a:endParaRPr lang="en-US"/>
          </a:p>
        </p:txBody>
      </p:sp>
    </p:spTree>
    <p:extLst>
      <p:ext uri="{BB962C8B-B14F-4D97-AF65-F5344CB8AC3E}">
        <p14:creationId xmlns:p14="http://schemas.microsoft.com/office/powerpoint/2010/main" val="2704963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tested deployment patterns explain the trade-offs.</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run across GPUs?</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16</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
        <p:nvSpPr>
          <p:cNvPr id="19" name="MoE explained in plain English"/>
          <p:cNvSpPr txBox="1"/>
          <p:nvPr/>
        </p:nvSpPr>
        <p:spPr>
          <a:xfrm>
            <a:off x="576072" y="4270248"/>
            <a:ext cx="7991856" cy="466344"/>
          </a:xfrm>
          <a:prstGeom prst="rect">
            <a:avLst/>
          </a:prstGeom>
          <a:noFill/>
        </p:spPr>
        <p:txBody>
          <a:bodyPr wrap="square" lIns="0" tIns="0" rIns="0" bIns="0">
            <a:noAutofit/>
          </a:bodyPr>
          <a:lstStyle/>
          <a:p>
            <a:pPr>
              <a:spcAft>
                <a:spcPts val="100"/>
              </a:spcAft>
              <a:defRPr sz="1350" b="1">
                <a:solidFill>
                  <a:srgbClr val="8060C3"/>
                </a:solidFill>
                <a:latin typeface="Arial"/>
              </a:defRPr>
            </a:pPr>
            <a:r>
              <a:rPr cap="none" dirty="0" err="1"/>
              <a:t>MoE</a:t>
            </a:r>
            <a:r>
              <a:rPr lang="en-US" dirty="0"/>
              <a:t>:</a:t>
            </a:r>
            <a:r>
              <a:rPr lang="zh-CN" altLang="en-US" dirty="0"/>
              <a:t> </a:t>
            </a:r>
            <a:r>
              <a:rPr cap="none" dirty="0"/>
              <a:t>Mixture of Experts—a team of specialists.</a:t>
            </a:r>
          </a:p>
          <a:p>
            <a:pPr>
              <a:spcAft>
                <a:spcPts val="100"/>
              </a:spcAft>
              <a:defRPr sz="1350" b="0">
                <a:solidFill>
                  <a:srgbClr val="142C46"/>
                </a:solidFill>
                <a:latin typeface="Arial"/>
              </a:defRPr>
            </a:pPr>
            <a:r>
              <a:rPr cap="none" dirty="0"/>
              <a:t>The model picks a few experts to help process each token.</a:t>
            </a:r>
          </a:p>
        </p:txBody>
      </p:sp>
    </p:spTree>
    <p:extLst>
      <p:ext uri="{BB962C8B-B14F-4D97-AF65-F5344CB8AC3E}">
        <p14:creationId xmlns:p14="http://schemas.microsoft.com/office/powerpoint/2010/main" val="1881137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Choose a model and GPU.</a:t>
            </a:r>
            <a:br/>
            <a:r>
              <a:rPr sz="1300" cap="none">
                <a:solidFill>
                  <a:srgbClr val="142C46"/>
                </a:solidFill>
                <a:latin typeface="Arial"/>
              </a:rPr>
              <a:t>KAITO sizes nodes for model memory.</a:t>
            </a:r>
            <a:br/>
            <a:r>
              <a:rPr sz="1300" cap="none">
                <a:solidFill>
                  <a:srgbClr val="142C46"/>
                </a:solidFill>
                <a:latin typeface="Arial"/>
              </a:rPr>
              <a:t>It sets up and caches models.</a:t>
            </a:r>
            <a:br/>
            <a:r>
              <a:rPr sz="1300" cap="none">
                <a:solidFill>
                  <a:srgbClr val="142C46"/>
                </a:solidFill>
                <a:latin typeface="Arial"/>
              </a:rPr>
              <a:t>It manages InferenceSets and rolling updates.</a:t>
            </a:r>
            <a:br/>
            <a:r>
              <a:rPr sz="1300" cap="none">
                <a:solidFill>
                  <a:srgbClr val="142C46"/>
                </a:solidFill>
                <a:latin typeface="Arial"/>
              </a:rPr>
              <a:t>KEDA scales the workload.</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17</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We declare the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18</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workload example</a:t>
            </a:r>
          </a:p>
        </p:txBody>
      </p:sp>
    </p:spTree>
    <p:extLst>
      <p:ext uri="{BB962C8B-B14F-4D97-AF65-F5344CB8AC3E}">
        <p14:creationId xmlns:p14="http://schemas.microsoft.com/office/powerpoint/2010/main" val="1730466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Choose the model and GPU SKU.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not traffic capacity.</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bring llm-d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MultiRoleInference (MRI) is alpha: vLLM + Istio + GPU connectivity. Per-role autoscaling still needs integration.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21</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22</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Combine KV-aware and</a:t>
            </a:r>
          </a:p>
          <a:p>
            <a:pPr>
              <a:spcAft>
                <a:spcPts val="150"/>
              </a:spcAft>
              <a:defRPr sz="1600" b="0">
                <a:solidFill>
                  <a:srgbClr val="5B6E80"/>
                </a:solidFill>
                <a:latin typeface="Arial"/>
              </a:defRPr>
            </a:pPr>
            <a:r>
              <a:rPr sz="1200" cap="none">
                <a:latin typeface="Arial"/>
              </a:rPr>
              <a:t>P/D-aware plugins.</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Add new policies</a:t>
            </a:r>
          </a:p>
          <a:p>
            <a:pPr>
              <a:spcAft>
                <a:spcPts val="150"/>
              </a:spcAft>
              <a:defRPr sz="1600" b="0">
                <a:solidFill>
                  <a:srgbClr val="5B6E80"/>
                </a:solidFill>
                <a:latin typeface="Arial"/>
              </a:defRPr>
            </a:pPr>
            <a:r>
              <a:rPr sz="1200" cap="none">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reuses llm-d’s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manages resources. HTTP carries requests. NIXL moves KV between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Both roles serve the same model. Each has its own InferenceSet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Set role labels and</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28</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approach: 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r>
              <a:rPr sz="1650" cap="none" dirty="0">
                <a:latin typeface="Arial"/>
              </a:rPr>
              <a:t>.</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Start with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Decode needs to sustain</a:t>
            </a:r>
          </a:p>
          <a:p>
            <a:pPr>
              <a:spcAft>
                <a:spcPts val="375"/>
              </a:spcAft>
              <a:defRPr sz="2200" b="0">
                <a:solidFill>
                  <a:srgbClr val="172941"/>
                </a:solidFill>
                <a:latin typeface="Arial"/>
              </a:defRPr>
            </a:pPr>
            <a:r>
              <a:rPr sz="1650" cap="none">
                <a:latin typeface="Arial"/>
              </a:rPr>
              <a:t>steady token delivery.</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Start with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scales an InferenceSet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94235" y="1504419"/>
            <a:ext cx="6382660" cy="3045938"/>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b="1" cap="none" dirty="0">
                <a:solidFill>
                  <a:srgbClr val="52677D"/>
                </a:solidFill>
                <a:latin typeface="Arial"/>
              </a:rPr>
              <a:t>Read vLLM metrics directly, without Prometheus.</a:t>
            </a:r>
          </a:p>
        </p:txBody>
      </p:sp>
      <p:sp>
        <p:nvSpPr>
          <p:cNvPr id="21" name="How It Works"/>
          <p:cNvSpPr/>
          <p:nvPr/>
        </p:nvSpPr>
        <p:spPr>
          <a:xfrm>
            <a:off x="6347776" y="1504419"/>
            <a:ext cx="2688895" cy="2883619"/>
          </a:xfrm>
          <a:prstGeom prst="roundRect">
            <a:avLst/>
          </a:prstGeom>
          <a:solidFill>
            <a:schemeClr val="bg1">
              <a:lumMod val="95000"/>
            </a:schemeClr>
          </a:solidFill>
          <a:ln w="12700">
            <a:solidFill>
              <a:schemeClr val="accent2"/>
            </a:solidFill>
          </a:ln>
        </p:spPr>
        <p:txBody>
          <a:bodyPr rtlCol="0" anchor="ctr">
            <a:normAutofit/>
          </a:bodyPr>
          <a:lstStyle/>
          <a:p>
            <a:r>
              <a:rPr lang="en-US" b="1" cap="none" dirty="0">
                <a:solidFill>
                  <a:srgbClr val="142C46"/>
                </a:solidFill>
                <a:latin typeface="Arial"/>
              </a:rPr>
              <a:t>What it adds</a:t>
            </a:r>
            <a:br/>
            <a:r>
              <a:rPr cap="none" dirty="0">
                <a:solidFill>
                  <a:srgbClr val="142C46"/>
                </a:solidFill>
                <a:latin typeface="Arial"/>
              </a:rPr>
              <a:t>Read vLLM metrics directly.</a:t>
            </a:r>
            <a:br/>
            <a:r>
              <a:rPr cap="none" dirty="0">
                <a:solidFill>
                  <a:srgbClr val="142C46"/>
                </a:solidFill>
                <a:latin typeface="Arial"/>
              </a:rPr>
              <a:t>Use queue and latency signals.</a:t>
            </a:r>
            <a:br/>
            <a:r>
              <a:rPr cap="none" dirty="0">
                <a:solidFill>
                  <a:srgbClr val="142C46"/>
                </a:solidFill>
                <a:latin typeface="Arial"/>
              </a:rPr>
              <a:t>Take conservative replica steps.</a:t>
            </a:r>
            <a:br/>
            <a:r>
              <a:rPr cap="none" dirty="0">
                <a:solidFill>
                  <a:srgbClr val="142C46"/>
                </a:solidFill>
                <a:latin typeface="Arial"/>
              </a:rPr>
              <a:t>Combine conditions with AND.</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31</a:t>
            </a:fld>
            <a:endParaRPr lang="en-US"/>
          </a:p>
        </p:txBody>
      </p:sp>
      <p:sp>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Proposed policy: scale prefill and decode separately</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This is a proposed policy excerpt, not a ready-to-deploy manifest.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MRI adapter and child opt-in still need integration. These thresholds are examples.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35</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If running later exceeds 24,</a:t>
            </a:r>
          </a:p>
          <a:p>
            <a:pPr>
              <a:spcAft>
                <a:spcPts val="375"/>
              </a:spcAft>
              <a:defRPr sz="1600" b="0">
                <a:solidFill>
                  <a:srgbClr val="7354B8"/>
                </a:solidFill>
                <a:latin typeface="Arial"/>
              </a:defRPr>
            </a:pPr>
            <a:r>
              <a:rPr sz="120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Use two gauges to scale the two roles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are integration directions, not release dates; some capabilities already exist upstream.</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Route using KV cache events.</a:t>
            </a:r>
          </a:p>
          <a:p>
            <a:pPr>
              <a:spcAft>
                <a:spcPts val="375"/>
              </a:spcAft>
              <a:defRPr sz="1700" b="0">
                <a:solidFill>
                  <a:srgbClr val="172941"/>
                </a:solidFill>
                <a:latin typeface="Arial"/>
              </a:defRPr>
            </a:pPr>
            <a:r>
              <a:rPr sz="1275" cap="none">
                <a:latin typeface="Arial"/>
              </a:rPr>
              <a:t>Tier cache across HBM, CPU RAM</a:t>
            </a:r>
          </a:p>
          <a:p>
            <a:pPr>
              <a:spcAft>
                <a:spcPts val="375"/>
              </a:spcAft>
              <a:defRPr sz="1700" b="0">
                <a:solidFill>
                  <a:srgbClr val="172941"/>
                </a:solidFill>
                <a:latin typeface="Arial"/>
              </a:defRPr>
            </a:pPr>
            <a:r>
              <a:t>and optional filesystems.</a:t>
            </a:r>
            <a:endParaRPr sz="1275"/>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Add Encode to Prefill / Decode.</a:t>
            </a:r>
          </a:p>
          <a:p>
            <a:pPr>
              <a:spcAft>
                <a:spcPts val="375"/>
              </a:spcAft>
              <a:defRPr sz="1700" b="0">
                <a:solidFill>
                  <a:srgbClr val="172941"/>
                </a:solidFill>
                <a:latin typeface="Arial"/>
              </a:defRPr>
            </a:pPr>
            <a:r>
              <a:t>Support more inference roles.</a:t>
            </a:r>
            <a:endParaRPr sz="1275"/>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Explore wide expert parallelism.</a:t>
            </a:r>
          </a:p>
          <a:p>
            <a:pPr>
              <a:spcAft>
                <a:spcPts val="375"/>
              </a:spcAft>
              <a:defRPr sz="1700" b="0">
                <a:solidFill>
                  <a:srgbClr val="172941"/>
                </a:solidFill>
                <a:latin typeface="Arial"/>
              </a:defRPr>
            </a:pPr>
            <a:r>
              <a:t>Improve cross-node transport</a:t>
            </a:r>
            <a:endParaRPr sz="1275"/>
          </a:p>
          <a:p>
            <a:pPr>
              <a:spcAft>
                <a:spcPts val="375"/>
              </a:spcAft>
              <a:defRPr sz="1700" b="0">
                <a:solidFill>
                  <a:srgbClr val="172941"/>
                </a:solidFill>
                <a:latin typeface="Arial"/>
              </a:defRPr>
            </a:pPr>
            <a:r>
              <a:rPr sz="1275" cap="none">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38</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then try the KAITO + llm-d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39</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40</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44</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45</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47</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48</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49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50</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52</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9430</TotalTime>
  <Words>13440</Words>
  <Application>Microsoft Office PowerPoint</Application>
  <PresentationFormat>On-screen Show (16:9)</PresentationFormat>
  <Paragraphs>1305</Paragraphs>
  <Slides>52</Slides>
  <Notes>52</Notes>
  <HiddenSlides>12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52</vt:i4>
      </vt:variant>
    </vt:vector>
  </HeadingPairs>
  <TitlesOfParts>
    <vt:vector size="59" baseType="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a distributed inference stack</vt:lpstr>
      <vt:lpstr>llm-d: capabilities for distributed inference</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326</cp:revision>
  <dcterms:created xsi:type="dcterms:W3CDTF">2019-07-29T21:37:05Z</dcterms:created>
  <dcterms:modified xsi:type="dcterms:W3CDTF">2026-10-27T14:41:33Z</dcterms:modified>
</cp:coreProperties>
</file>