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am a 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the basics of prefill and decode, and why it makes sense to separate them. Then, we’ll introduce </a:t>
            </a:r>
            <a:r>
              <a:rPr lang="en-US" altLang="zh-CN" sz="1200" dirty="0" err="1"/>
              <a:t>llm</a:t>
            </a:r>
            <a:r>
              <a:rPr lang="en-US" altLang="zh-CN" sz="1200" dirty="0"/>
              <a:t>-d and KAITO and show how they work together to support P/D disaggregation. Finally, we’ll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Use the final position’s scores to select “Kubernetes”. Decode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r>
              <a:rPr lang="en-US" altLang="zh-CN" sz="1200" dirty="0"/>
              <a:t>They show why starting an answer quickly and keeping it flowing smoothly are two different goals.</a:t>
            </a:r>
          </a:p>
          <a:p>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We want answers to start quickly—and keep going smoothly. Prefill shapes the wait for the first token. Decode shapes the gaps between tokens. We call those time to first token, and inter-token latency.</a:t>
            </a:r>
          </a:p>
          <a:p>
            <a:r>
              <a:rPr lang="en-US" sz="1200" dirty="0"/>
              <a:t>Prefill often needs more compute; decode often needs more memory bandwidth. Queueing and delivery matter too. We measure both phases, then ask: how many requests per second can meet our latency targets? That’s SLO goodput.</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 shared pool is simple, but prefill bursts compete with active decoding. Every worker handles both phases. One deployment scales both phases together.</a:t>
            </a:r>
          </a:p>
          <a:p>
            <a:r>
              <a:rPr lang="en-US" sz="120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a:t>
            </a:r>
            <a:r>
              <a:rPr lang="en-US" sz="1200" dirty="0"/>
              <a:t>D is ongoing decode. P is prefill for a new request. Where should P run? On the shared GPU, prefill can pause decode. On separate GPUs, decode can continue while prefill runs elsewhere.</a:t>
            </a:r>
          </a:p>
          <a:p>
            <a:r>
              <a:rPr lang="en-US" sz="1200" dirty="0"/>
              <a:t>The new request still needs a KV handoff. Separate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Prefill batches prompt positions; ordinary decode batches independent requests. On the left, we process many input positions in one pass. We can batch positions from multiple prompts, while keeping causal attention.</a:t>
            </a:r>
          </a:p>
          <a:p>
            <a:r>
              <a:rPr lang="en-US" sz="1200"/>
              <a:t>On the right, we consume one new token per active request, read its past KV, then select its next output token. Prefill gets parallel work from prompt length; decode gets it from active requests. More decode concurrency can raise ITL. Stay within latency and KV-memory budgets.</a:t>
            </a:r>
          </a:p>
          <a:p>
            <a:endParaRPr lang="en-US" sz="120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pools let us tune each phase independently. The payoff is choosing capacity for each phase, not just running two deployments.</a:t>
            </a:r>
          </a:p>
          <a:p>
            <a:r>
              <a:rPr lang="en-US" sz="1200" dirty="0"/>
              <a:t>Prefill is often compute-bound. Tune its capacity and parallelism for TTFT. On the other hand, decode is often bandwidth-bound. Tune its capacity and batching for ITL. Different latency targets and resource needs can call for different replica counts, tensor parallelism and batching policies.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Two pools still have to work together as one model service. The EPP, or Endpoint Picker, picks workers. KV transfer settings must match. The decode-side proxy coordinates requests. We must keep pods ready as replicas change.</a:t>
            </a:r>
          </a:p>
          <a:p>
            <a:r>
              <a:rPr lang="en-US" sz="1200"/>
              <a:t>Routing, KV transfer, labels, ports and readiness must stay in sync, even when pods restart or we scale. That is why the hard part is the Kubernetes wiring. Let’s see how existing projects approach 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These are examples, not a ranking. Some approaches can work together.</a:t>
            </a:r>
          </a:p>
          <a:p>
            <a:r>
              <a:rPr lang="en-US" sz="1200" dirty="0"/>
              <a:t>The middle column shows the serving and routing path; the right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Declarative APIs already exist. P/D deployment options already exist. KAITO aims to make them easier to use. For KAITO users, that means less manual configuration to maintain. Let’s start with </a:t>
            </a:r>
            <a:r>
              <a:rPr lang="en-US" sz="1200" dirty="0" err="1"/>
              <a:t>llm</a:t>
            </a:r>
            <a:r>
              <a:rPr lang="en-US" sz="1200"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llm</a:t>
            </a:r>
            <a:r>
              <a:rPr lang="en-US" sz="1200" dirty="0"/>
              <a:t>-d connects serving runtimes, routing and KV transport on Kubernetes. It joined the CNCF Sandbox in March 2026.</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Gateway API connects inference routing to Kubernetes. We combine runtimes, routing plugins and KV transport. </a:t>
            </a:r>
            <a:r>
              <a:rPr lang="en-US" altLang="zh-CN" sz="1200" dirty="0"/>
              <a:t>We have 4 </a:t>
            </a:r>
            <a:r>
              <a:rPr lang="en-US" altLang="zh-CN" sz="1200" b="0" i="0" u="none" strike="noStrike" cap="none" spc="0" dirty="0">
                <a:solidFill>
                  <a:srgbClr val="000000"/>
                </a:solidFill>
                <a:latin typeface="Arial"/>
                <a:cs typeface="Arial"/>
                <a:sym typeface="Arial"/>
              </a:rPr>
              <a:t>well-lit paths with t</a:t>
            </a:r>
            <a:r>
              <a:rPr lang="en-US" sz="1200" dirty="0"/>
              <a:t>ested deployment patterns make trade-offs clear. The idea is to connect existing tools, not replace them. We still need to validate those patterns with our own models, hardware and traffic.</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a:t>These are reusable capabilities, not a performance guarantee. We build on the serving runtime, not replace it. The community graphic shows project history, not serving performance.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r>
              <a:rPr lang="en-US" sz="1200" dirty="0"/>
              <a:t>Expert parallelism spreads expert computation across GPUs. For P/D, we separate the phases and transfer KV between roles. Routing plugins use cache and load signals to pick workers. Workload signals and SLOs guide capacity; each integration chooses its policy. Choosing a worker and adding workers are different decisions.</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dirty="0" err="1"/>
              <a:t>llm</a:t>
            </a:r>
            <a:r>
              <a:rPr lang="en-US" sz="1200" dirty="0"/>
              <a:t>-d calls these “well-lit paths”: tested deployment patterns that explain the trade-offs. Where should this request run? Where should reusable state live? How should a large </a:t>
            </a:r>
            <a:r>
              <a:rPr lang="en-US" sz="1200" dirty="0" err="1"/>
              <a:t>MoE</a:t>
            </a:r>
            <a:r>
              <a:rPr lang="en-US" sz="1200" dirty="0"/>
              <a:t> model execute? How should prompt and generation capacity differ?</a:t>
            </a:r>
          </a:p>
          <a:p>
            <a:r>
              <a:rPr lang="en-US" sz="1200" dirty="0"/>
              <a:t>These paths can work together, but we don’t need all of them at once. They do not guarantee the same performance on every hardware setup. Today we’ll focus on P/D disaggregation, then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KAITO automates LLM inference, fine-tuning and RAG with Kubernetes operators. It is a CNCF Sandbox project.</a:t>
            </a:r>
          </a:p>
          <a:p>
            <a:r>
              <a:rPr lang="en-US" sz="1200"/>
              <a:t>Choose a model and GPU. KAITO sizes nodes for model memory. It sets up and caches models. It manages InferenceSets and rolling updates. KEDA scales the workload. llm-d provides serving components; KAITO deploys and manages model workloads. You declare the desired state, and KAITO keeps the workload in that state. Next, let’s look at that declaration.</a:t>
            </a:r>
          </a:p>
          <a:p>
            <a:endParaRPr lang="en-US" sz="120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We declare the model, GPU instance type and replica count. This InferenceSet uses Qwen3-Coder-30B-A3B-Instruct, Standard_NC24ads_A100_v4 and three replicas. The labels identify the related workloads.</a:t>
            </a:r>
          </a:p>
          <a:p>
            <a:r>
              <a:rPr lang="en-US" sz="1200"/>
              <a:t>Three replicas does not necessarily mean three GPUs; each replica’s GPU and node needs depend on the model and runtime settings. KAITO keeps the actual resources in sync with this desired state. Next, how does it work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Choose the model and GPU SKU. KAITO estimates how many nodes the model needs. KAITO reserves memory for overhead and KV cache, then fits the weights into the remaining GPU memory.</a:t>
            </a:r>
          </a:p>
          <a:p>
            <a:r>
              <a:rPr lang="en-US" sz="1200"/>
              <a:t>Save the result as status.targetNodeCount. This path uses tensor parallelism within nodes and pipeline parallelism across nodes. It sizes memory, not traffic capacity. Check the calculation against your installed version.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Both affect total latency and SLO goodput: requests per second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Often </a:t>
            </a:r>
            <a:r>
              <a:rPr sz="1275" b="1" cap="none" dirty="0">
                <a:latin typeface="Arial"/>
              </a:rPr>
              <a:t>compute-b</a:t>
            </a:r>
            <a:r>
              <a:rPr sz="1275" b="1" cap="none" dirty="0" err="1">
                <a:latin typeface="Arial"/>
              </a:rPr>
              <a:t>o</a:t>
            </a:r>
            <a:r>
              <a:rPr sz="1275" b="1" cap="none" dirty="0">
                <a:latin typeface="Arial"/>
              </a:rPr>
              <a:t>und</a:t>
            </a:r>
            <a:r>
              <a:rPr sz="1275" cap="none" dirty="0">
                <a:latin typeface="Arial"/>
              </a:rPr>
              <a:t>.</a:t>
            </a:r>
          </a:p>
          <a:p>
            <a:pPr>
              <a:spcAft>
                <a:spcPts val="375"/>
              </a:spcAft>
              <a:defRPr sz="1700" b="0">
                <a:solidFill>
                  <a:srgbClr val="586A80"/>
                </a:solidFill>
                <a:latin typeface="Arial"/>
              </a:defRPr>
            </a:pPr>
            <a:r>
              <a:rPr sz="1275" b="1" cap="none" dirty="0">
                <a:solidFill>
                  <a:srgbClr val="00B0F0"/>
                </a:solidFill>
                <a:latin typeface="Arial"/>
              </a:rPr>
              <a:t>Track pre</a:t>
            </a:r>
            <a:r>
              <a:rPr sz="1275" cap="none" dirty="0">
                <a:latin typeface="Arial"/>
              </a:rPr>
              <a:t>f</a:t>
            </a:r>
            <a:r>
              <a:rPr sz="1275" b="1" cap="none" dirty="0">
                <a:solidFill>
                  <a:srgbClr val="00B0F0"/>
                </a:solidFill>
                <a:latin typeface="Arial"/>
              </a:rPr>
              <a:t>ill la</a:t>
            </a:r>
            <a:r>
              <a:rPr sz="1275" cap="none" dirty="0">
                <a:latin typeface="Arial"/>
              </a:rPr>
              <a:t>ten</a:t>
            </a:r>
            <a:r>
              <a:rPr sz="1275" b="1" cap="none" dirty="0">
                <a:solidFill>
                  <a:srgbClr val="00B0F0"/>
                </a:solidFill>
                <a:latin typeface="Arial"/>
              </a:rPr>
              <a:t>cy</a:t>
            </a:r>
            <a:r>
              <a:rPr sz="1275" cap="none" dirty="0">
                <a:latin typeface="Arial"/>
              </a:rPr>
              <a:t> </a:t>
            </a:r>
            <a:r>
              <a:rPr sz="1275" b="1" cap="none" dirty="0">
                <a:solidFill>
                  <a:srgbClr val="00B0F0"/>
                </a:solidFill>
                <a:latin typeface="Arial"/>
              </a:rPr>
              <a:t>and input tok/s.</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is often </a:t>
            </a:r>
            <a:r>
              <a:rPr sz="1275" b="1" cap="none" dirty="0">
                <a:latin typeface="Arial"/>
              </a:rPr>
              <a:t>memory-bandwidth-bound</a:t>
            </a:r>
            <a:r>
              <a:rPr sz="1275" cap="none" dirty="0">
                <a:latin typeface="Arial"/>
              </a:rPr>
              <a:t>.</a:t>
            </a:r>
          </a:p>
          <a:p>
            <a:pPr>
              <a:spcAft>
                <a:spcPts val="375"/>
              </a:spcAft>
              <a:defRPr sz="1700" b="0">
                <a:solidFill>
                  <a:srgbClr val="586A80"/>
                </a:solidFill>
                <a:latin typeface="Arial"/>
              </a:defRPr>
            </a:pPr>
            <a:r>
              <a:rPr sz="1275" b="1" cap="none" dirty="0">
                <a:solidFill>
                  <a:srgbClr val="00B0F0"/>
                </a:solidFill>
                <a:latin typeface="Arial"/>
              </a:rPr>
              <a:t>Track ITL, TP</a:t>
            </a:r>
            <a:r>
              <a:rPr sz="1275" cap="none" dirty="0">
                <a:latin typeface="Arial"/>
              </a:rPr>
              <a:t>O</a:t>
            </a:r>
            <a:r>
              <a:rPr sz="1275" b="1" cap="none" dirty="0">
                <a:solidFill>
                  <a:srgbClr val="00B0F0"/>
                </a:solidFill>
                <a:latin typeface="Arial"/>
              </a:rPr>
              <a:t>T</a:t>
            </a:r>
            <a:r>
              <a:rPr sz="1275" cap="none" dirty="0">
                <a:latin typeface="Arial"/>
              </a:rPr>
              <a:t> </a:t>
            </a:r>
            <a:r>
              <a:rPr sz="1275" b="1" cap="none" dirty="0">
                <a:solidFill>
                  <a:srgbClr val="00B0F0"/>
                </a:solidFill>
                <a:latin typeface="Arial"/>
              </a:rPr>
              <a:t>and total output tok/s.</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We can 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Separate pools let us tune each phase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choosing capacity for each phase, not just running two deployments.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Decode is often bandwidth-bound.</a:t>
            </a:r>
          </a:p>
          <a:p>
            <a:pPr>
              <a:spcAft>
                <a:spcPts val="375"/>
              </a:spcAft>
              <a:defRPr sz="1800" b="0">
                <a:solidFill>
                  <a:srgbClr val="172941"/>
                </a:solidFill>
                <a:latin typeface="Arial"/>
              </a:defRPr>
            </a:pPr>
            <a:r>
              <a:rPr sz="1350" cap="none">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We 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examples, not a ranking. Some approaches can work together.</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llm-d connects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We 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combine reusable components.</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tested deployment patterns explain the trade-offs.</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Choose a model and GPU.</a:t>
            </a:r>
            <a:br/>
            <a:r>
              <a:rPr sz="1300" cap="none">
                <a:solidFill>
                  <a:srgbClr val="142C46"/>
                </a:solidFill>
                <a:latin typeface="Arial"/>
              </a:rPr>
              <a:t>KAITO sizes nodes for model memory.</a:t>
            </a:r>
            <a:br/>
            <a:r>
              <a:rPr sz="1300" cap="none">
                <a:solidFill>
                  <a:srgbClr val="142C46"/>
                </a:solidFill>
                <a:latin typeface="Arial"/>
              </a:rPr>
              <a:t>It sets up and caches models.</a:t>
            </a:r>
            <a:br/>
            <a:r>
              <a:rPr sz="1300" cap="none">
                <a:solidFill>
                  <a:srgbClr val="142C46"/>
                </a:solidFill>
                <a:latin typeface="Arial"/>
              </a:rPr>
              <a:t>It manages InferenceSets and rolling updates.</a:t>
            </a:r>
            <a:br/>
            <a:r>
              <a:rPr sz="1300" cap="none">
                <a:solidFill>
                  <a:srgbClr val="142C46"/>
                </a:solidFill>
                <a:latin typeface="Arial"/>
              </a:rPr>
              <a:t>KEDA scales the workload.</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We declare the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Choose the model and GPU SKU.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9119</TotalTime>
  <Words>13367</Words>
  <Application>Microsoft Office PowerPoint</Application>
  <PresentationFormat>On-screen Show (16:9)</PresentationFormat>
  <Paragraphs>1300</Paragraphs>
  <Slides>52</Slides>
  <Notes>52</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310</cp:revision>
  <dcterms:created xsi:type="dcterms:W3CDTF">2019-07-29T21:37:05Z</dcterms:created>
  <dcterms:modified xsi:type="dcterms:W3CDTF">2026-10-27T09:23:00Z</dcterms:modified>
</cp:coreProperties>
</file>