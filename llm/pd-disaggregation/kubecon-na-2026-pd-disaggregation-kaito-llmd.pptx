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147375734" r:id="rId14"/>
    <p:sldId id="267" r:id="rId15"/>
    <p:sldId id="268" r:id="rId16"/>
    <p:sldId id="269" r:id="rId17"/>
    <p:sldId id="270" r:id="rId18"/>
    <p:sldId id="2147375706" r:id="rId19"/>
    <p:sldId id="2147375697" r:id="rId20"/>
    <p:sldId id="2147375700" r:id="rId21"/>
    <p:sldId id="2147375701" r:id="rId22"/>
    <p:sldId id="278" r:id="rId23"/>
    <p:sldId id="2147375718" r:id="rId24"/>
    <p:sldId id="2147375719" r:id="rId25"/>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We’re Andy Zhang and Linbo He, both principal software engineers at Microsoft. We both maintain KAITO. Andy also works on CSI drivers, and Linbo also maintains OpenYurt.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Our prompt is “What does Kubernetes do?” Here, we treat it as five tokens. Prefill processes them together and builds the KV cache. It picks “Kubernetes” as the first output token. That token’s KV gets added in the next decode step.</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decode takes “Kubernetes,” reuses the KV cache, and picks “helps.” Then it takes “helps” and picks “teams.” Each step adds KV for the token going in, not the new token coming out.</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we want the first token quickly: that’s TTFT. For decode, we want short gaps between tokens: ITL, or average TPOT. Prefill is often compute-bound; decode is often memory-bandwidth-bound. We want more requests to meet both latency targets.</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One shared GPU pool is simple to start with. But a burst of prompts can slow down tokens we’re already generating. And when we add capacity, we scale both phases—even if only one needs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 is already decoding when B arrives. On a shared GPU, B’s prefill can make A wait. With separate GPUs, A keeps decoding while B runs prefill. B still needs KV transfer. This is an example schedule, not a benchmark.</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Prefill handles many prompt tokens at once. Ordinary decode takes one token per active request at each step. So, to keep decode busy, we batch more requests together. The trade-off is more KV memory and potentially slower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With separate pools, we can tune replicas, parallelism, and batching for each phase. We no longer need one setup to serve two different needs. But the gain must cover KV transfer, extra model copies, and the work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prefill pool handles the prompt, then passes KV to the decode pool. Each pool can have its own size and setup. That’s the benefit—but the handoff still needs to fit our latency and cost budgets.</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Long prompts put more pressure on prefill. Long answers and many active requests keep decode busy. If those needs are different, P/D may help. Start with your traffic and transfer costs, not with a preference for one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If small models, short prompts, or low traffic already meet your targets, keeping one pool may be better. Splitting adds transfer, routing, and more things that can fail. We don’t need P/D just because it’s available.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Creating two deployments is only the start. Routing, the decode proxy, KV connectors, labels, ports, and readiness all need to line up. KAITO helps keep that wiring consistent; it doesn’t replace the inference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There are several ways to build this, including Dynamo, llm-d, and other serving platforms. Some already have declarative APIs. KAITO’s goal isn’t to invent another CRD—it’s to make this easier to operate within KAITO.</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KAITO handles deployment and lifecycle. llm-d handles routing, while vLLM and NIXL run inference and move KV. The MRI integration is alpha, with runtime, gateway, and GPU-connectivity limits. Automatic per-role scaling is separate work.</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Here’s where the pieces fit. KAITO manages lifecycle, llm-d picks endpoints, vLLM runs inference, and NIXL moves KV. Read this as a map of responsibilities, not a list of everything you must install.</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brings gateways, runtimes, and transport together; it doesn’t replace them. Its modular pieces and tested deployment paths give us a starting point. We still need to check compatibility and tune for our workload.</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capabilities solve different problems: running across GPUs, splitting prefill and decode, routing with state in mind, and adjusting capacity. They’re building blocks, not performance promises. We still need to test our model and traffic.</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helps run inference, fine-tuning, and RAG on Kubernetes. It handles model and GPU selection, node provisioning, caching, and workload lifecycle. It also supports KEDA-based scaling, so we don’t have to wire all of this by hand.</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Here, we ask for a Qwen model, an A100 instance type, and three replicas. That’s the desired state. KAITO takes this InferenceSet and works to provision and maintain the workload we asked for.</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Start with GPU memory and leave room for runtime overhead and KV cache. Next, estimate how many GPUs the weights need, then map those GPUs to nodes. This gives us a starting point—not a substitute for load testing.</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expose one service, but configure prefill and decode separately. KAITO manages the topology. InferencePool connects it to the gateway, llm-d picks and coordinates workers, and vLLM with NIXL runs inference and moves KV.</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asks the Endpoint Picker which workers to use. The picker can consider roles and cache state, depending on its plugins. It returns a routing decision; the actual inference request doesn’t pass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Think of three jobs. KAITO manages the topology. The Gateway API Inference Extension defines how the gateway connects to it. llm-d picks the endpoints. InferencePool connects discovery and routing; it isn’t another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Follow the three paths. KAITO creates and updates resources. The gateway asks the picker, then sends the request to the decode sidecar. The sidecar coordinates prefill and decode, while KV moves directly between the runtimes—not through the gateway.</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31.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uses one A100 prefill replica and two H100 decode replicas. The point is that each role can have its own placement and replica count. It’s not a recommended ratio; we still need to check hardware and transfer compatibility.</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From one topology, KAITO creates the role-specific InferenceSets and routing resources. It keeps labels, ports, sidecars, and ownership aligned as things change. That handles the wiring; it doesn’t automatically decide how each role should scale.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request reaches the decode sidecar, which calls prefill and gets KV metadata back. Local decode uses that metadata to read KV directly from prefill through NIXL. The answer then returns through the sidecar and gateway.</a:t>
            </a:r>
          </a:p>
          <a:p/>
          <a:p>
            <a:r>
              <a:t>Technical reference (not part of the spoken script)</a:t>
            </a:r>
          </a:p>
          <a:p/>
          <a:p>
            <a:r>
              <a:t>Based on llm-d-router docs/disaggregation.md#pd-sequence. Step 2 follows EPP selection; the EPP consultation is omitted from this sequence and shown on slide 28.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talks to one endpoint: the decode sidecar. The sidecar calls remote prefill and local decode, then returns the response. KV takes a separate, direct path. The port numbers here are configuration choices, not fixed requirements.</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Here, routing connects two separate stages: prefill and decode. Each stage has its own nodes, so we can choose different resources and schedules. That gives us more control over first-token latency and the pace of later tokens.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Scale the role that needs more capacity. Waiting requests can show prefill pressure; running requests can show decode load. This is a proposed role-aware pattern, not something MRI does automatically. We still need to validate the signals and safeguards.</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Today, KEDA can scale an InferenceSet using a schedule or Prometheus metrics. KEDA is installed separately. This gives us workload scaling, but it doesn’t yet give us native MRI-level policies for each role.</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Today, we choose the metrics, thresholds, timing windows, replica limits, and cooldowns. The idea on the right is to derive more defaults for us; that isn’t shipped auto-tuning. Annotations express what we want, and controllers manage the scaling resources.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Give prefill and decode their own feedback loops, each targeting its own InferenceSet. Keep one autoscaler per target. Both loops need time to settle, time to load the model, and a safe way to scale down.</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start with one service-level goal, then manage each role’s capacity separately. Scale a complete serving replica, not one tensor-parallel worker. And make sure only one controller owns the replica count for each role.</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decides where a request goes; autoscaling decides how much capacity exists. Each role needs its own metrics and decisions. Watch out for duplicated metrics, and don’t count a new replica until its model is ready.</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more than eight waiting requests means scale up; fewer than one means scale down. For decode, the running-request thresholds are twenty-four and four. Otherwise, hold. These are example values—we need to test our own thresholds.</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use different signals, thresholds, and replica limits. They share the same basic safeguards: ready replicas and fresh metrics. These numbers are examples. Before scaling down, allow for cooldown and model warm-up, and protect active requests.</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Only one controller should write each role’s replica count. Stop the old writer before handing over. If metrics are missing or invalid, hold and report the problem—don’t treat them as zero. Then test warm-up and safe scale-down.</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can derive cache usage, free space, latency, and throughput from native metrics. But free cache space isn’t the same as room for more requests, and throughput alone doesn’t tell us demand. Start by using these signals to understand the workload.</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this proposed policy, twelve waiting requests make prefill scale up. Twelve running requests leave decode unchanged. The thresholds differ because the roles differ. This still needs an MRI adapter, child opt-in, and one replica-count owner per role.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P/D looks most useful when the roles need different capacity and KV transfer is affordable. If transfer costs too much, fix the topology first. If both roles need similar capacity, one pool may be enough. Compare under the same workload, cost, and latency targets.</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 you for joining us. We’re happy to take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defRPr/>
            </a:pPr>
            <a:r>
              <a:rPr lang="en-US" sz="2270" i="1" dirty="0" cap="none">
                <a:solidFill>
                  <a:srgbClr val="142C46"/>
                </a:solidFill>
                <a:latin typeface="Arial"/>
              </a:rPr>
              <a:t>Andy Zhang — Microsoft</a:t>
            </a:r>
            <a:br/>
            <a:r>
              <a:rPr cap="none" sz="227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defRPr/>
            </a:pPr>
            <a:r>
              <a:rPr lang="en-US" sz="3000" b="1" dirty="0" cap="none">
                <a:solidFill>
                  <a:srgbClr val="142C46"/>
                </a:solidFill>
                <a:latin typeface="Arial"/>
              </a:rPr>
              <a:t>Prefill here, decode there</a:t>
            </a:r>
            <a:br/>
            <a:r>
              <a:rPr cap="none" sz="3000">
                <a:solidFill>
                  <a:srgbClr val="142C46"/>
                </a:solidFill>
                <a:latin typeface="Arial"/>
              </a:rPr>
              <a:t>Kubernetes-native LLM inference</a:t>
            </a:r>
            <a:br/>
            <a:r>
              <a:rPr cap="none" sz="30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defRPr/>
            </a:pPr>
            <a:r>
              <a:rPr lang="en-US" altLang="zh-CN" sz="239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84845"/>
          </a:xfrm>
          <a:prstGeom prst="rect">
            <a:avLst/>
          </a:prstGeom>
          <a:noFill/>
          <a:ln>
            <a:noFill/>
          </a:ln>
        </p:spPr>
        <p:txBody>
          <a:bodyPr spcFirstLastPara="1" wrap="square" lIns="91425" tIns="45700" rIns="91425" bIns="45700" anchor="t" anchorCtr="0">
            <a:spAutoFit/>
          </a:bodyPr>
          <a:lstStyle/>
          <a:p>
            <a:pPr lvl="0">
              <a:buSzPts val="3200"/>
              <a:defRPr/>
            </a:pPr>
            <a:r>
              <a:rPr lang="zh-CN" altLang="zh-CN" sz="26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defRPr/>
            </a:pPr>
            <a:r>
              <a:rPr lang="en-US" altLang="zh-CN" sz="1360" dirty="0" cap="none">
                <a:solidFill>
                  <a:srgbClr val="52677D"/>
                </a:solidFill>
                <a:latin typeface="Arial"/>
              </a:rPr>
              <a:t>Principal Software Engineer, Microsoft</a:t>
            </a:r>
          </a:p>
          <a:p>
            <a:pPr marL="114300">
              <a:defRPr/>
            </a:pPr>
            <a:r>
              <a:rPr lang="en-US" altLang="zh-CN" sz="1360" dirty="0" cap="none">
                <a:solidFill>
                  <a:srgbClr val="52677D"/>
                </a:solidFill>
                <a:latin typeface="Arial"/>
              </a:rPr>
              <a:t>KAITO &amp; OpenYurt maintainer</a:t>
            </a:r>
          </a:p>
          <a:p>
            <a:pPr marL="114300">
              <a:defRPr/>
            </a:pPr>
            <a:r>
              <a:rPr lang="en-US" altLang="zh-CN" sz="1360" dirty="0" cap="none">
                <a:solidFill>
                  <a:srgbClr val="52677D"/>
                </a:solidFill>
                <a:latin typeface="Arial"/>
              </a:rPr>
              <a:t>GitHub: </a:t>
            </a:r>
            <a:r>
              <a:rPr lang="en-US" altLang="zh-CN" sz="1360" dirty="0" err="1" cap="none">
                <a:solidFill>
                  <a:srgbClr val="52677D"/>
                </a:solidFill>
                <a:latin typeface="Arial"/>
              </a:rPr>
              <a:t>rambohe</a:t>
            </a:r>
            <a:r>
              <a:rPr lang="en-US" altLang="zh-CN" sz="136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84845"/>
          </a:xfrm>
          <a:prstGeom prst="rect">
            <a:avLst/>
          </a:prstGeom>
          <a:noFill/>
          <a:ln>
            <a:noFill/>
          </a:ln>
        </p:spPr>
        <p:txBody>
          <a:bodyPr spcFirstLastPara="1" wrap="square" lIns="91425" tIns="45700" rIns="91425" bIns="45700" anchor="t" anchorCtr="0">
            <a:spAutoFit/>
          </a:bodyPr>
          <a:lstStyle/>
          <a:p>
            <a:pPr lvl="0">
              <a:buSzPts val="3200"/>
              <a:defRPr/>
            </a:pPr>
            <a:r>
              <a:rPr lang="en-US" altLang="zh-CN" sz="26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defRPr/>
            </a:pPr>
            <a:r>
              <a:rPr lang="en-US" altLang="zh-CN" sz="1360" dirty="0" cap="none">
                <a:solidFill>
                  <a:srgbClr val="52677D"/>
                </a:solidFill>
                <a:latin typeface="Arial"/>
              </a:rPr>
              <a:t>Principal Software Engineer, Microsoft</a:t>
            </a:r>
          </a:p>
          <a:p>
            <a:pPr marL="114300">
              <a:defRPr/>
            </a:pPr>
            <a:r>
              <a:rPr lang="en-US" altLang="zh-CN" sz="1360" dirty="0" cap="none">
                <a:solidFill>
                  <a:srgbClr val="52677D"/>
                </a:solidFill>
                <a:latin typeface="Arial"/>
              </a:rPr>
              <a:t>KAITO &amp; </a:t>
            </a:r>
            <a:r>
              <a:rPr lang="en-US" altLang="zh-CN" dirty="0" cap="none" sz="1360">
                <a:solidFill>
                  <a:srgbClr val="52677D"/>
                </a:solidFill>
                <a:latin typeface="Arial"/>
              </a:rPr>
              <a:t>CSI driver</a:t>
            </a:r>
            <a:r>
              <a:rPr lang="en-US" altLang="zh-CN" sz="1360" dirty="0" cap="none">
                <a:solidFill>
                  <a:srgbClr val="52677D"/>
                </a:solidFill>
                <a:latin typeface="Arial"/>
              </a:rPr>
              <a:t> maintainer</a:t>
            </a:r>
          </a:p>
          <a:p>
            <a:pPr marL="114300">
              <a:defRPr/>
            </a:pPr>
            <a:r>
              <a:rPr lang="en-US" altLang="zh-CN" sz="1360" dirty="0" cap="none">
                <a:solidFill>
                  <a:srgbClr val="52677D"/>
                </a:solidFill>
                <a:latin typeface="Arial"/>
              </a:rPr>
              <a:t>GitHub: </a:t>
            </a:r>
            <a:r>
              <a:rPr lang="en-US" altLang="zh-CN" sz="136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3039"/>
          </a:xfrm>
          <a:prstGeom prst="rect">
            <a:avLst/>
          </a:prstGeom>
          <a:noFill/>
        </p:spPr>
        <p:txBody>
          <a:bodyPr wrap="square" lIns="0" rIns="0" tIns="0" bIns="0">
            <a:spAutoFit/>
          </a:bodyPr>
          <a:lstStyle/>
          <a:p>
            <a:pPr>
              <a:spcAft>
                <a:spcPts val="500"/>
              </a:spcAft>
              <a:defRPr sz="193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1"/>
          </a:xfrm>
          <a:prstGeom prst="rect">
            <a:avLst/>
          </a:prstGeom>
          <a:noFill/>
        </p:spPr>
        <p:txBody>
          <a:bodyPr wrap="square" lIns="0" rIns="0" tIns="0" bIns="0">
            <a:spAutoFit/>
          </a:bodyPr>
          <a:lstStyle/>
          <a:p>
            <a:pPr>
              <a:spcAft>
                <a:spcPts val="500"/>
              </a:spcAft>
              <a:defRPr sz="119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3039"/>
          </a:xfrm>
          <a:prstGeom prst="rect">
            <a:avLst/>
          </a:prstGeom>
          <a:noFill/>
        </p:spPr>
        <p:txBody>
          <a:bodyPr wrap="square" lIns="0" rIns="0" tIns="0" bIns="0">
            <a:spAutoFit/>
          </a:bodyPr>
          <a:lstStyle/>
          <a:p>
            <a:pPr>
              <a:spcAft>
                <a:spcPts val="500"/>
              </a:spcAft>
              <a:defRPr sz="1930" b="1">
                <a:solidFill>
                  <a:srgbClr val="346CEC"/>
                </a:solidFill>
                <a:latin typeface="Arial"/>
              </a:defRPr>
            </a:pPr>
            <a:r>
              <a:rPr cap="none"/>
              <a:t>02</a:t>
            </a:r>
          </a:p>
        </p:txBody>
      </p:sp>
      <p:sp>
        <p:nvSpPr>
          <p:cNvPr id="10" name="TextBox 9"/>
          <p:cNvSpPr txBox="1"/>
          <p:nvPr/>
        </p:nvSpPr>
        <p:spPr>
          <a:xfrm>
            <a:off x="5349240" y="1682495"/>
            <a:ext cx="3218688" cy="281051"/>
          </a:xfrm>
          <a:prstGeom prst="rect">
            <a:avLst/>
          </a:prstGeom>
          <a:noFill/>
        </p:spPr>
        <p:txBody>
          <a:bodyPr wrap="square" lIns="0" rIns="0" tIns="0" bIns="0">
            <a:spAutoFit/>
          </a:bodyPr>
          <a:lstStyle/>
          <a:p>
            <a:pPr>
              <a:spcAft>
                <a:spcPts val="500"/>
              </a:spcAft>
              <a:defRPr sz="1850" b="1">
                <a:solidFill>
                  <a:srgbClr val="142C46"/>
                </a:solidFill>
                <a:latin typeface="Arial"/>
              </a:defRPr>
            </a:pPr>
            <a:r>
              <a:rPr cap="none"/>
              <a:t>Why P/D disaggregation</a:t>
            </a:r>
          </a:p>
        </p:txBody>
      </p:sp>
      <p:sp>
        <p:nvSpPr>
          <p:cNvPr id="11" name="TextBox 10"/>
          <p:cNvSpPr txBox="1"/>
          <p:nvPr/>
        </p:nvSpPr>
        <p:spPr>
          <a:xfrm>
            <a:off x="5349240" y="2020824"/>
            <a:ext cx="3218688" cy="210311"/>
          </a:xfrm>
          <a:prstGeom prst="rect">
            <a:avLst/>
          </a:prstGeom>
          <a:noFill/>
        </p:spPr>
        <p:txBody>
          <a:bodyPr wrap="square" lIns="0" rIns="0" tIns="0" bIns="0">
            <a:spAutoFit/>
          </a:bodyPr>
          <a:lstStyle/>
          <a:p>
            <a:pPr>
              <a:spcAft>
                <a:spcPts val="500"/>
              </a:spcAft>
              <a:defRPr sz="119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3039"/>
          </a:xfrm>
          <a:prstGeom prst="rect">
            <a:avLst/>
          </a:prstGeom>
          <a:noFill/>
        </p:spPr>
        <p:txBody>
          <a:bodyPr wrap="square" lIns="0" rIns="0" tIns="0" bIns="0">
            <a:spAutoFit/>
          </a:bodyPr>
          <a:lstStyle/>
          <a:p>
            <a:pPr>
              <a:spcAft>
                <a:spcPts val="500"/>
              </a:spcAft>
              <a:defRPr sz="1930" b="1">
                <a:solidFill>
                  <a:srgbClr val="346CEC"/>
                </a:solidFill>
                <a:latin typeface="Arial"/>
              </a:defRPr>
            </a:pPr>
            <a:r>
              <a:rPr cap="none"/>
              <a:t>03</a:t>
            </a:r>
          </a:p>
        </p:txBody>
      </p:sp>
      <p:sp>
        <p:nvSpPr>
          <p:cNvPr id="14" name="TextBox 13"/>
          <p:cNvSpPr txBox="1"/>
          <p:nvPr/>
        </p:nvSpPr>
        <p:spPr>
          <a:xfrm>
            <a:off x="1078992" y="2642616"/>
            <a:ext cx="3218688" cy="288544"/>
          </a:xfrm>
          <a:prstGeom prst="rect">
            <a:avLst/>
          </a:prstGeom>
          <a:noFill/>
        </p:spPr>
        <p:txBody>
          <a:bodyPr wrap="square" lIns="0" rIns="0" tIns="0" bIns="0">
            <a:spAutoFit/>
          </a:bodyPr>
          <a:lstStyle/>
          <a:p>
            <a:pPr>
              <a:spcAft>
                <a:spcPts val="500"/>
              </a:spcAft>
              <a:defRPr sz="1900" b="1">
                <a:solidFill>
                  <a:srgbClr val="142C46"/>
                </a:solidFill>
                <a:latin typeface="Arial"/>
              </a:defRPr>
            </a:pPr>
            <a:r>
              <a:rPr cap="none"/>
              <a:t>KAITO + llm-d overview</a:t>
            </a:r>
          </a:p>
        </p:txBody>
      </p:sp>
      <p:sp>
        <p:nvSpPr>
          <p:cNvPr id="15" name="TextBox 14"/>
          <p:cNvSpPr txBox="1"/>
          <p:nvPr/>
        </p:nvSpPr>
        <p:spPr>
          <a:xfrm>
            <a:off x="1078992" y="2980944"/>
            <a:ext cx="3218688" cy="210311"/>
          </a:xfrm>
          <a:prstGeom prst="rect">
            <a:avLst/>
          </a:prstGeom>
          <a:noFill/>
        </p:spPr>
        <p:txBody>
          <a:bodyPr wrap="square" lIns="0" rIns="0" tIns="0" bIns="0">
            <a:spAutoFit/>
          </a:bodyPr>
          <a:lstStyle/>
          <a:p>
            <a:pPr>
              <a:spcAft>
                <a:spcPts val="500"/>
              </a:spcAft>
              <a:defRPr sz="119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3039"/>
          </a:xfrm>
          <a:prstGeom prst="rect">
            <a:avLst/>
          </a:prstGeom>
          <a:noFill/>
        </p:spPr>
        <p:txBody>
          <a:bodyPr wrap="square" lIns="0" rIns="0" tIns="0" bIns="0">
            <a:spAutoFit/>
          </a:bodyPr>
          <a:lstStyle/>
          <a:p>
            <a:pPr>
              <a:spcAft>
                <a:spcPts val="500"/>
              </a:spcAft>
              <a:defRPr sz="193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1"/>
          </a:xfrm>
          <a:prstGeom prst="rect">
            <a:avLst/>
          </a:prstGeom>
          <a:noFill/>
        </p:spPr>
        <p:txBody>
          <a:bodyPr wrap="square" lIns="0" rIns="0" tIns="0" bIns="0">
            <a:spAutoFit/>
          </a:bodyPr>
          <a:lstStyle/>
          <a:p>
            <a:pPr>
              <a:spcAft>
                <a:spcPts val="500"/>
              </a:spcAft>
              <a:defRPr sz="119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3039"/>
          </a:xfrm>
          <a:prstGeom prst="rect">
            <a:avLst/>
          </a:prstGeom>
          <a:noFill/>
        </p:spPr>
        <p:txBody>
          <a:bodyPr wrap="square" lIns="0" rIns="0" tIns="0" bIns="0">
            <a:spAutoFit/>
          </a:bodyPr>
          <a:lstStyle/>
          <a:p>
            <a:pPr>
              <a:spcAft>
                <a:spcPts val="500"/>
              </a:spcAft>
              <a:defRPr sz="193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1"/>
          </a:xfrm>
          <a:prstGeom prst="rect">
            <a:avLst/>
          </a:prstGeom>
          <a:noFill/>
        </p:spPr>
        <p:txBody>
          <a:bodyPr wrap="square" lIns="0" rIns="0" tIns="0" bIns="0">
            <a:spAutoFit/>
          </a:bodyPr>
          <a:lstStyle/>
          <a:p>
            <a:pPr>
              <a:spcAft>
                <a:spcPts val="500"/>
              </a:spcAft>
              <a:defRPr sz="119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3039"/>
          </a:xfrm>
          <a:prstGeom prst="rect">
            <a:avLst/>
          </a:prstGeom>
          <a:noFill/>
        </p:spPr>
        <p:txBody>
          <a:bodyPr wrap="square" lIns="0" rIns="0" tIns="0" bIns="0">
            <a:spAutoFit/>
          </a:bodyPr>
          <a:lstStyle/>
          <a:p>
            <a:pPr>
              <a:spcAft>
                <a:spcPts val="500"/>
              </a:spcAft>
              <a:defRPr sz="1930" b="1">
                <a:solidFill>
                  <a:srgbClr val="346CEC"/>
                </a:solidFill>
                <a:latin typeface="Arial"/>
              </a:defRPr>
            </a:pPr>
            <a:r>
              <a:rPr cap="none"/>
              <a:t>06</a:t>
            </a:r>
          </a:p>
        </p:txBody>
      </p:sp>
      <p:sp>
        <p:nvSpPr>
          <p:cNvPr id="26" name="TextBox 25"/>
          <p:cNvSpPr txBox="1"/>
          <p:nvPr/>
        </p:nvSpPr>
        <p:spPr>
          <a:xfrm>
            <a:off x="5349240" y="3602736"/>
            <a:ext cx="3218688" cy="282549"/>
          </a:xfrm>
          <a:prstGeom prst="rect">
            <a:avLst/>
          </a:prstGeom>
          <a:noFill/>
        </p:spPr>
        <p:txBody>
          <a:bodyPr wrap="square" lIns="0" rIns="0" tIns="0" bIns="0">
            <a:spAutoFit/>
          </a:bodyPr>
          <a:lstStyle/>
          <a:p>
            <a:pPr>
              <a:spcAft>
                <a:spcPts val="500"/>
              </a:spcAft>
              <a:defRPr sz="1860" b="1">
                <a:solidFill>
                  <a:srgbClr val="142C46"/>
                </a:solidFill>
                <a:latin typeface="Arial"/>
              </a:defRPr>
            </a:pPr>
            <a:r>
              <a:rPr cap="none"/>
              <a:t>Wrap-up and next steps</a:t>
            </a:r>
          </a:p>
        </p:txBody>
      </p:sp>
      <p:sp>
        <p:nvSpPr>
          <p:cNvPr id="27" name="TextBox 26"/>
          <p:cNvSpPr txBox="1"/>
          <p:nvPr/>
        </p:nvSpPr>
        <p:spPr>
          <a:xfrm>
            <a:off x="5349240" y="3941064"/>
            <a:ext cx="3218688" cy="210311"/>
          </a:xfrm>
          <a:prstGeom prst="rect">
            <a:avLst/>
          </a:prstGeom>
          <a:noFill/>
        </p:spPr>
        <p:txBody>
          <a:bodyPr wrap="square" lIns="0" rIns="0" tIns="0" bIns="0">
            <a:spAutoFit/>
          </a:bodyPr>
          <a:lstStyle/>
          <a:p>
            <a:pPr>
              <a:spcAft>
                <a:spcPts val="500"/>
              </a:spcAft>
              <a:defRPr sz="119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Foundations — prefill</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066" b="1">
                <a:solidFill>
                  <a:srgbClr val="172941"/>
                </a:solidFill>
                <a:latin typeface="Arial"/>
              </a:defRPr>
            </a:pPr>
            <a:r>
              <a:rPr sz="222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02717"/>
          </a:xfrm>
          <a:prstGeom prst="rect">
            <a:avLst/>
          </a:prstGeom>
          <a:noFill/>
        </p:spPr>
        <p:txBody>
          <a:bodyPr wrap="square" lIns="10287" tIns="10287" rIns="10287" bIns="10287">
            <a:spAutoFit/>
          </a:bodyPr>
          <a:lstStyle/>
          <a:p>
            <a:pPr>
              <a:spcAft>
                <a:spcPts val="375"/>
              </a:spcAft>
              <a:defRPr sz="1587" b="1">
                <a:solidFill>
                  <a:srgbClr val="172941"/>
                </a:solidFill>
                <a:latin typeface="Arial"/>
              </a:defRPr>
            </a:pPr>
            <a:r>
              <a:rPr sz="1190"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80238"/>
          </a:xfrm>
          <a:prstGeom prst="rect">
            <a:avLst/>
          </a:prstGeom>
          <a:noFill/>
        </p:spPr>
        <p:txBody>
          <a:bodyPr wrap="square" lIns="10287" tIns="10287" rIns="10287" bIns="10287">
            <a:spAutoFit/>
          </a:bodyPr>
          <a:lstStyle/>
          <a:p>
            <a:pPr>
              <a:spcAft>
                <a:spcPts val="375"/>
              </a:spcAft>
              <a:defRPr sz="1387" b="1">
                <a:solidFill>
                  <a:srgbClr val="2563EB"/>
                </a:solidFill>
                <a:latin typeface="Arial"/>
              </a:defRPr>
            </a:pPr>
            <a:r>
              <a:rPr sz="104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306120"/>
          </a:xfrm>
          <a:prstGeom prst="rect">
            <a:avLst/>
          </a:prstGeom>
          <a:noFill/>
        </p:spPr>
        <p:txBody>
          <a:bodyPr wrap="square" lIns="10287" tIns="10287" rIns="10287" bIns="10287">
            <a:spAutoFit/>
          </a:bodyPr>
          <a:lstStyle/>
          <a:p>
            <a:pPr algn="ctr">
              <a:spcAft>
                <a:spcPts val="375"/>
              </a:spcAft>
              <a:defRPr sz="2507" b="1">
                <a:solidFill>
                  <a:srgbClr val="2563EB"/>
                </a:solidFill>
                <a:latin typeface="Arial"/>
              </a:defRPr>
            </a:pPr>
            <a:r>
              <a:rPr sz="188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306120"/>
          </a:xfrm>
          <a:prstGeom prst="rect">
            <a:avLst/>
          </a:prstGeom>
          <a:noFill/>
        </p:spPr>
        <p:txBody>
          <a:bodyPr wrap="square" lIns="10287" tIns="10287" rIns="10287" bIns="10287">
            <a:spAutoFit/>
          </a:bodyPr>
          <a:lstStyle/>
          <a:p>
            <a:pPr algn="ctr">
              <a:spcAft>
                <a:spcPts val="375"/>
              </a:spcAft>
              <a:defRPr sz="2507" b="1">
                <a:solidFill>
                  <a:srgbClr val="2563EB"/>
                </a:solidFill>
                <a:latin typeface="Arial"/>
              </a:defRPr>
            </a:pPr>
            <a:r>
              <a:rPr sz="188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95630"/>
          </a:xfrm>
          <a:prstGeom prst="rect">
            <a:avLst/>
          </a:prstGeom>
          <a:noFill/>
        </p:spPr>
        <p:txBody>
          <a:bodyPr wrap="square" lIns="10287" tIns="10287" rIns="10287" bIns="10287">
            <a:spAutoFit/>
          </a:bodyPr>
          <a:lstStyle/>
          <a:p>
            <a:pPr algn="ctr">
              <a:spcAft>
                <a:spcPts val="375"/>
              </a:spcAft>
              <a:defRPr sz="2413" b="1">
                <a:solidFill>
                  <a:srgbClr val="2563EB"/>
                </a:solidFill>
                <a:latin typeface="Arial"/>
              </a:defRPr>
            </a:pPr>
            <a:r>
              <a:rPr sz="181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306120"/>
          </a:xfrm>
          <a:prstGeom prst="rect">
            <a:avLst/>
          </a:prstGeom>
          <a:noFill/>
        </p:spPr>
        <p:txBody>
          <a:bodyPr wrap="square" lIns="10287" tIns="10287" rIns="10287" bIns="10287">
            <a:spAutoFit/>
          </a:bodyPr>
          <a:lstStyle/>
          <a:p>
            <a:pPr algn="ctr">
              <a:spcAft>
                <a:spcPts val="375"/>
              </a:spcAft>
              <a:defRPr sz="2507" b="1">
                <a:solidFill>
                  <a:srgbClr val="2563EB"/>
                </a:solidFill>
                <a:latin typeface="Arial"/>
              </a:defRPr>
            </a:pPr>
            <a:r>
              <a:rPr sz="188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306120"/>
          </a:xfrm>
          <a:prstGeom prst="rect">
            <a:avLst/>
          </a:prstGeom>
          <a:noFill/>
        </p:spPr>
        <p:txBody>
          <a:bodyPr wrap="square" lIns="10287" tIns="10287" rIns="10287" bIns="10287">
            <a:spAutoFit/>
          </a:bodyPr>
          <a:lstStyle/>
          <a:p>
            <a:pPr algn="ctr">
              <a:spcAft>
                <a:spcPts val="375"/>
              </a:spcAft>
              <a:defRPr sz="2507" b="1">
                <a:solidFill>
                  <a:srgbClr val="2563EB"/>
                </a:solidFill>
                <a:latin typeface="Arial"/>
              </a:defRPr>
            </a:pPr>
            <a:r>
              <a:rPr sz="1880" cap="none">
                <a:latin typeface="Arial"/>
              </a:rPr>
              <a:t>?</a:t>
            </a:r>
          </a:p>
        </p:txBody>
      </p:sp>
      <p:sp>
        <p:nvSpPr>
          <p:cNvPr id="21" name="TextBox 20"/>
          <p:cNvSpPr txBox="1"/>
          <p:nvPr/>
        </p:nvSpPr>
        <p:spPr>
          <a:xfrm>
            <a:off x="445770" y="2427733"/>
            <a:ext cx="8243316" cy="241681"/>
          </a:xfrm>
          <a:prstGeom prst="rect">
            <a:avLst/>
          </a:prstGeom>
          <a:noFill/>
        </p:spPr>
        <p:txBody>
          <a:bodyPr wrap="square" lIns="10287" tIns="10287" rIns="10287" bIns="10287">
            <a:spAutoFit/>
          </a:bodyPr>
          <a:lstStyle/>
          <a:p>
            <a:pPr>
              <a:spcAft>
                <a:spcPts val="375"/>
              </a:spcAft>
              <a:defRPr sz="1932" b="0">
                <a:solidFill>
                  <a:srgbClr val="172941"/>
                </a:solidFill>
                <a:latin typeface="Arial"/>
              </a:defRPr>
            </a:pPr>
            <a:r>
              <a:rPr sz="1450"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79146"/>
          </a:xfrm>
          <a:prstGeom prst="rect">
            <a:avLst/>
          </a:prstGeom>
          <a:noFill/>
        </p:spPr>
        <p:txBody>
          <a:bodyPr wrap="square" lIns="10287" tIns="10287" rIns="10287" bIns="10287">
            <a:spAutoFit/>
          </a:bodyPr>
          <a:lstStyle/>
          <a:p>
            <a:pPr algn="ctr">
              <a:spcAft>
                <a:spcPts val="375"/>
              </a:spcAft>
              <a:defRPr sz="2267" b="1">
                <a:solidFill>
                  <a:srgbClr val="087F8C"/>
                </a:solidFill>
                <a:latin typeface="Arial"/>
              </a:defRPr>
            </a:pPr>
            <a:r>
              <a:rPr sz="1700" cap="none">
                <a:latin typeface="Arial"/>
              </a:rPr>
              <a:t>Causal prefill</a:t>
            </a:r>
          </a:p>
        </p:txBody>
      </p:sp>
      <p:sp>
        <p:nvSpPr>
          <p:cNvPr id="29" name="TextBox 28"/>
          <p:cNvSpPr txBox="1"/>
          <p:nvPr/>
        </p:nvSpPr>
        <p:spPr>
          <a:xfrm>
            <a:off x="2955798" y="3278124"/>
            <a:ext cx="2633472"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5168"/>
          </a:xfrm>
          <a:prstGeom prst="rect">
            <a:avLst/>
          </a:prstGeom>
          <a:noFill/>
        </p:spPr>
        <p:txBody>
          <a:bodyPr wrap="square" lIns="10287" tIns="10287" rIns="10287" bIns="10287">
            <a:spAutoFit/>
          </a:bodyPr>
          <a:lstStyle/>
          <a:p>
            <a:pPr algn="ctr">
              <a:spcAft>
                <a:spcPts val="375"/>
              </a:spcAft>
              <a:defRPr sz="2053" b="1">
                <a:solidFill>
                  <a:srgbClr val="7354B8"/>
                </a:solidFill>
                <a:latin typeface="Arial"/>
              </a:defRPr>
            </a:pPr>
            <a:r>
              <a:rPr sz="1540" cap="none">
                <a:latin typeface="Arial"/>
              </a:rPr>
              <a:t>Select “Kubernetes”</a:t>
            </a:r>
          </a:p>
        </p:txBody>
      </p:sp>
      <p:sp>
        <p:nvSpPr>
          <p:cNvPr id="33" name="TextBox 32"/>
          <p:cNvSpPr txBox="1"/>
          <p:nvPr/>
        </p:nvSpPr>
        <p:spPr>
          <a:xfrm>
            <a:off x="6281928" y="3278124"/>
            <a:ext cx="2297430"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28193"/>
          </a:xfrm>
          <a:prstGeom prst="rect">
            <a:avLst/>
          </a:prstGeom>
          <a:noFill/>
        </p:spPr>
        <p:txBody>
          <a:bodyPr wrap="square" lIns="10287" tIns="10287" rIns="10287" bIns="10287">
            <a:spAutoFit/>
          </a:bodyPr>
          <a:lstStyle/>
          <a:p>
            <a:pPr>
              <a:spcAft>
                <a:spcPts val="375"/>
              </a:spcAft>
              <a:defRPr sz="1813" b="0">
                <a:solidFill>
                  <a:srgbClr val="087F8C"/>
                </a:solidFill>
                <a:latin typeface="Arial"/>
              </a:defRPr>
            </a:pPr>
            <a:r>
              <a:rPr sz="1360" cap="none">
                <a:latin typeface="Arial"/>
              </a:rPr>
              <a:t>Prompt KV = per-layer attention keys + values for the 5 processed prompt positions.</a:t>
            </a:r>
          </a:p>
        </p:txBody>
      </p:sp>
      <p:sp>
        <p:nvSpPr>
          <p:cNvPr id="39" name="TextBox 38"/>
          <p:cNvSpPr txBox="1"/>
          <p:nvPr/>
        </p:nvSpPr>
        <p:spPr>
          <a:xfrm>
            <a:off x="445770" y="4197096"/>
            <a:ext cx="8243316" cy="168249"/>
          </a:xfrm>
          <a:prstGeom prst="rect">
            <a:avLst/>
          </a:prstGeom>
          <a:noFill/>
        </p:spPr>
        <p:txBody>
          <a:bodyPr wrap="square" lIns="10287" tIns="10287" rIns="10287" bIns="10287">
            <a:spAutoFit/>
          </a:bodyPr>
          <a:lstStyle/>
          <a:p>
            <a:pPr>
              <a:spcAft>
                <a:spcPts val="375"/>
              </a:spcAft>
              <a:defRPr sz="1280" b="0">
                <a:solidFill>
                  <a:srgbClr val="586A80"/>
                </a:solidFill>
                <a:latin typeface="Arial"/>
              </a:defRPr>
            </a:pPr>
            <a:r>
              <a:rPr sz="960"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Foundations — decode</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245" b="1">
                <a:solidFill>
                  <a:srgbClr val="172941"/>
                </a:solidFill>
                <a:latin typeface="Arial"/>
              </a:defRPr>
            </a:pPr>
            <a:r>
              <a:rPr sz="235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68249"/>
          </a:xfrm>
          <a:prstGeom prst="rect">
            <a:avLst/>
          </a:prstGeom>
          <a:noFill/>
        </p:spPr>
        <p:txBody>
          <a:bodyPr wrap="square" lIns="10287" tIns="10287" rIns="10287" bIns="10287">
            <a:spAutoFit/>
          </a:bodyPr>
          <a:lstStyle/>
          <a:p>
            <a:pPr>
              <a:spcAft>
                <a:spcPts val="375"/>
              </a:spcAft>
              <a:defRPr sz="1280" b="0">
                <a:solidFill>
                  <a:srgbClr val="586A80"/>
                </a:solidFill>
                <a:latin typeface="Arial"/>
              </a:defRPr>
            </a:pPr>
            <a:r>
              <a:rPr sz="960"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57759"/>
          </a:xfrm>
          <a:prstGeom prst="rect">
            <a:avLst/>
          </a:prstGeom>
          <a:noFill/>
        </p:spPr>
        <p:txBody>
          <a:bodyPr wrap="square" lIns="10287" tIns="10287" rIns="10287" bIns="10287">
            <a:spAutoFit/>
          </a:bodyPr>
          <a:lstStyle/>
          <a:p>
            <a:pPr>
              <a:spcAft>
                <a:spcPts val="375"/>
              </a:spcAft>
              <a:defRPr sz="1187" b="1">
                <a:solidFill>
                  <a:srgbClr val="FFFFFF"/>
                </a:solidFill>
                <a:latin typeface="Arial"/>
              </a:defRPr>
            </a:pPr>
            <a:r>
              <a:rPr sz="89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57759"/>
          </a:xfrm>
          <a:prstGeom prst="rect">
            <a:avLst/>
          </a:prstGeom>
          <a:noFill/>
        </p:spPr>
        <p:txBody>
          <a:bodyPr wrap="square" lIns="10287" tIns="10287" rIns="10287" bIns="10287">
            <a:spAutoFit/>
          </a:bodyPr>
          <a:lstStyle/>
          <a:p>
            <a:pPr>
              <a:spcAft>
                <a:spcPts val="375"/>
              </a:spcAft>
              <a:defRPr sz="1187" b="1">
                <a:solidFill>
                  <a:srgbClr val="FFFFFF"/>
                </a:solidFill>
                <a:latin typeface="Arial"/>
              </a:defRPr>
            </a:pPr>
            <a:r>
              <a:rPr sz="89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57759"/>
          </a:xfrm>
          <a:prstGeom prst="rect">
            <a:avLst/>
          </a:prstGeom>
          <a:noFill/>
        </p:spPr>
        <p:txBody>
          <a:bodyPr wrap="square" lIns="10287" tIns="10287" rIns="10287" bIns="10287">
            <a:spAutoFit/>
          </a:bodyPr>
          <a:lstStyle/>
          <a:p>
            <a:pPr>
              <a:spcAft>
                <a:spcPts val="375"/>
              </a:spcAft>
              <a:defRPr sz="1187" b="1">
                <a:solidFill>
                  <a:srgbClr val="FFFFFF"/>
                </a:solidFill>
                <a:latin typeface="Arial"/>
              </a:defRPr>
            </a:pPr>
            <a:r>
              <a:rPr sz="89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57759"/>
          </a:xfrm>
          <a:prstGeom prst="rect">
            <a:avLst/>
          </a:prstGeom>
          <a:noFill/>
        </p:spPr>
        <p:txBody>
          <a:bodyPr wrap="square" lIns="10287" tIns="10287" rIns="10287" bIns="10287">
            <a:spAutoFit/>
          </a:bodyPr>
          <a:lstStyle/>
          <a:p>
            <a:pPr>
              <a:spcAft>
                <a:spcPts val="375"/>
              </a:spcAft>
              <a:defRPr sz="1187" b="1">
                <a:solidFill>
                  <a:srgbClr val="FFFFFF"/>
                </a:solidFill>
                <a:latin typeface="Arial"/>
              </a:defRPr>
            </a:pPr>
            <a:r>
              <a:rPr sz="89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200406"/>
          </a:xfrm>
          <a:prstGeom prst="rect">
            <a:avLst/>
          </a:prstGeom>
          <a:noFill/>
        </p:spPr>
        <p:txBody>
          <a:bodyPr wrap="square" lIns="10287" tIns="10287" rIns="10287" bIns="10287">
            <a:spAutoFit/>
          </a:bodyPr>
          <a:lstStyle/>
          <a:p>
            <a:pPr>
              <a:spcAft>
                <a:spcPts val="375"/>
              </a:spcAft>
              <a:defRPr sz="1587" b="1">
                <a:solidFill>
                  <a:srgbClr val="586A80"/>
                </a:solidFill>
                <a:latin typeface="Arial"/>
              </a:defRPr>
            </a:pPr>
            <a:r>
              <a:rPr sz="1190" cap="none">
                <a:latin typeface="Arial"/>
              </a:rPr>
              <a:t>1</a:t>
            </a:r>
          </a:p>
        </p:txBody>
      </p:sp>
      <p:sp>
        <p:nvSpPr>
          <p:cNvPr id="21" name="TextBox 20"/>
          <p:cNvSpPr txBox="1"/>
          <p:nvPr/>
        </p:nvSpPr>
        <p:spPr>
          <a:xfrm>
            <a:off x="1021842" y="1964818"/>
            <a:ext cx="198882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Kubernetes</a:t>
            </a:r>
          </a:p>
        </p:txBody>
      </p:sp>
      <p:sp>
        <p:nvSpPr>
          <p:cNvPr id="22" name="TextBox 21"/>
          <p:cNvSpPr txBox="1"/>
          <p:nvPr/>
        </p:nvSpPr>
        <p:spPr>
          <a:xfrm>
            <a:off x="3182112" y="1964818"/>
            <a:ext cx="2619756" cy="200406"/>
          </a:xfrm>
          <a:prstGeom prst="rect">
            <a:avLst/>
          </a:prstGeom>
          <a:noFill/>
        </p:spPr>
        <p:txBody>
          <a:bodyPr wrap="square" lIns="10287" tIns="10287" rIns="10287" bIns="10287">
            <a:spAutoFit/>
          </a:bodyPr>
          <a:lstStyle/>
          <a:p>
            <a:pPr>
              <a:spcAft>
                <a:spcPts val="375"/>
              </a:spcAft>
              <a:defRPr sz="1587" b="1">
                <a:solidFill>
                  <a:srgbClr val="087F8C"/>
                </a:solidFill>
                <a:latin typeface="Arial"/>
              </a:defRPr>
            </a:pPr>
            <a:r>
              <a:rPr sz="1190" cap="none">
                <a:latin typeface="Arial"/>
              </a:rPr>
              <a:t>K/V for “Kubernetes”</a:t>
            </a:r>
          </a:p>
        </p:txBody>
      </p:sp>
      <p:sp>
        <p:nvSpPr>
          <p:cNvPr id="23" name="TextBox 22"/>
          <p:cNvSpPr txBox="1"/>
          <p:nvPr/>
        </p:nvSpPr>
        <p:spPr>
          <a:xfrm>
            <a:off x="5973318" y="1964818"/>
            <a:ext cx="264033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200406"/>
          </a:xfrm>
          <a:prstGeom prst="rect">
            <a:avLst/>
          </a:prstGeom>
          <a:noFill/>
        </p:spPr>
        <p:txBody>
          <a:bodyPr wrap="square" lIns="10287" tIns="10287" rIns="10287" bIns="10287">
            <a:spAutoFit/>
          </a:bodyPr>
          <a:lstStyle/>
          <a:p>
            <a:pPr>
              <a:spcAft>
                <a:spcPts val="375"/>
              </a:spcAft>
              <a:defRPr sz="1587" b="1">
                <a:solidFill>
                  <a:srgbClr val="586A80"/>
                </a:solidFill>
                <a:latin typeface="Arial"/>
              </a:defRPr>
            </a:pPr>
            <a:r>
              <a:rPr sz="1190" cap="none">
                <a:latin typeface="Arial"/>
              </a:rPr>
              <a:t>2</a:t>
            </a:r>
          </a:p>
        </p:txBody>
      </p:sp>
      <p:sp>
        <p:nvSpPr>
          <p:cNvPr id="26" name="TextBox 25"/>
          <p:cNvSpPr txBox="1"/>
          <p:nvPr/>
        </p:nvSpPr>
        <p:spPr>
          <a:xfrm>
            <a:off x="1021842" y="2184274"/>
            <a:ext cx="198882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helps</a:t>
            </a:r>
          </a:p>
        </p:txBody>
      </p:sp>
      <p:sp>
        <p:nvSpPr>
          <p:cNvPr id="27" name="TextBox 26"/>
          <p:cNvSpPr txBox="1"/>
          <p:nvPr/>
        </p:nvSpPr>
        <p:spPr>
          <a:xfrm>
            <a:off x="3182112" y="2184274"/>
            <a:ext cx="2619756" cy="200406"/>
          </a:xfrm>
          <a:prstGeom prst="rect">
            <a:avLst/>
          </a:prstGeom>
          <a:noFill/>
        </p:spPr>
        <p:txBody>
          <a:bodyPr wrap="square" lIns="10287" tIns="10287" rIns="10287" bIns="10287">
            <a:spAutoFit/>
          </a:bodyPr>
          <a:lstStyle/>
          <a:p>
            <a:pPr>
              <a:spcAft>
                <a:spcPts val="375"/>
              </a:spcAft>
              <a:defRPr sz="1587" b="1">
                <a:solidFill>
                  <a:srgbClr val="087F8C"/>
                </a:solidFill>
                <a:latin typeface="Arial"/>
              </a:defRPr>
            </a:pPr>
            <a:r>
              <a:rPr sz="1190" cap="none">
                <a:latin typeface="Arial"/>
              </a:rPr>
              <a:t>K/V for “helps”</a:t>
            </a:r>
          </a:p>
        </p:txBody>
      </p:sp>
      <p:sp>
        <p:nvSpPr>
          <p:cNvPr id="28" name="TextBox 27"/>
          <p:cNvSpPr txBox="1"/>
          <p:nvPr/>
        </p:nvSpPr>
        <p:spPr>
          <a:xfrm>
            <a:off x="5973318" y="2184274"/>
            <a:ext cx="264033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200406"/>
          </a:xfrm>
          <a:prstGeom prst="rect">
            <a:avLst/>
          </a:prstGeom>
          <a:noFill/>
        </p:spPr>
        <p:txBody>
          <a:bodyPr wrap="square" lIns="10287" tIns="10287" rIns="10287" bIns="10287">
            <a:spAutoFit/>
          </a:bodyPr>
          <a:lstStyle/>
          <a:p>
            <a:pPr>
              <a:spcAft>
                <a:spcPts val="375"/>
              </a:spcAft>
              <a:defRPr sz="1587" b="1">
                <a:solidFill>
                  <a:srgbClr val="586A80"/>
                </a:solidFill>
                <a:latin typeface="Arial"/>
              </a:defRPr>
            </a:pPr>
            <a:r>
              <a:rPr sz="1190" cap="none">
                <a:latin typeface="Arial"/>
              </a:rPr>
              <a:t>3</a:t>
            </a:r>
          </a:p>
        </p:txBody>
      </p:sp>
      <p:sp>
        <p:nvSpPr>
          <p:cNvPr id="31" name="TextBox 30"/>
          <p:cNvSpPr txBox="1"/>
          <p:nvPr/>
        </p:nvSpPr>
        <p:spPr>
          <a:xfrm>
            <a:off x="1021842" y="2403730"/>
            <a:ext cx="198882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teams</a:t>
            </a:r>
          </a:p>
        </p:txBody>
      </p:sp>
      <p:sp>
        <p:nvSpPr>
          <p:cNvPr id="32" name="TextBox 31"/>
          <p:cNvSpPr txBox="1"/>
          <p:nvPr/>
        </p:nvSpPr>
        <p:spPr>
          <a:xfrm>
            <a:off x="3182112" y="2403730"/>
            <a:ext cx="2619756" cy="200406"/>
          </a:xfrm>
          <a:prstGeom prst="rect">
            <a:avLst/>
          </a:prstGeom>
          <a:noFill/>
        </p:spPr>
        <p:txBody>
          <a:bodyPr wrap="square" lIns="10287" tIns="10287" rIns="10287" bIns="10287">
            <a:spAutoFit/>
          </a:bodyPr>
          <a:lstStyle/>
          <a:p>
            <a:pPr>
              <a:spcAft>
                <a:spcPts val="375"/>
              </a:spcAft>
              <a:defRPr sz="1587" b="1">
                <a:solidFill>
                  <a:srgbClr val="087F8C"/>
                </a:solidFill>
                <a:latin typeface="Arial"/>
              </a:defRPr>
            </a:pPr>
            <a:r>
              <a:rPr sz="1190" cap="none">
                <a:latin typeface="Arial"/>
              </a:rPr>
              <a:t>K/V for “teams”</a:t>
            </a:r>
          </a:p>
        </p:txBody>
      </p:sp>
      <p:sp>
        <p:nvSpPr>
          <p:cNvPr id="33" name="TextBox 32"/>
          <p:cNvSpPr txBox="1"/>
          <p:nvPr/>
        </p:nvSpPr>
        <p:spPr>
          <a:xfrm>
            <a:off x="5973318" y="2403730"/>
            <a:ext cx="264033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200406"/>
          </a:xfrm>
          <a:prstGeom prst="rect">
            <a:avLst/>
          </a:prstGeom>
          <a:noFill/>
        </p:spPr>
        <p:txBody>
          <a:bodyPr wrap="square" lIns="10287" tIns="10287" rIns="10287" bIns="10287">
            <a:spAutoFit/>
          </a:bodyPr>
          <a:lstStyle/>
          <a:p>
            <a:pPr>
              <a:spcAft>
                <a:spcPts val="375"/>
              </a:spcAft>
              <a:defRPr sz="1587" b="1">
                <a:solidFill>
                  <a:srgbClr val="586A80"/>
                </a:solidFill>
                <a:latin typeface="Arial"/>
              </a:defRPr>
            </a:pPr>
            <a:r>
              <a:rPr sz="1190" cap="none">
                <a:latin typeface="Arial"/>
              </a:rPr>
              <a:t>4</a:t>
            </a:r>
          </a:p>
        </p:txBody>
      </p:sp>
      <p:sp>
        <p:nvSpPr>
          <p:cNvPr id="36" name="TextBox 35"/>
          <p:cNvSpPr txBox="1"/>
          <p:nvPr/>
        </p:nvSpPr>
        <p:spPr>
          <a:xfrm>
            <a:off x="1021842" y="2623186"/>
            <a:ext cx="198882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deploy</a:t>
            </a:r>
          </a:p>
        </p:txBody>
      </p:sp>
      <p:sp>
        <p:nvSpPr>
          <p:cNvPr id="37" name="TextBox 36"/>
          <p:cNvSpPr txBox="1"/>
          <p:nvPr/>
        </p:nvSpPr>
        <p:spPr>
          <a:xfrm>
            <a:off x="3182112" y="2623186"/>
            <a:ext cx="2619756" cy="200406"/>
          </a:xfrm>
          <a:prstGeom prst="rect">
            <a:avLst/>
          </a:prstGeom>
          <a:noFill/>
        </p:spPr>
        <p:txBody>
          <a:bodyPr wrap="square" lIns="10287" tIns="10287" rIns="10287" bIns="10287">
            <a:spAutoFit/>
          </a:bodyPr>
          <a:lstStyle/>
          <a:p>
            <a:pPr>
              <a:spcAft>
                <a:spcPts val="375"/>
              </a:spcAft>
              <a:defRPr sz="1587" b="1">
                <a:solidFill>
                  <a:srgbClr val="087F8C"/>
                </a:solidFill>
                <a:latin typeface="Arial"/>
              </a:defRPr>
            </a:pPr>
            <a:r>
              <a:rPr sz="1190" cap="none">
                <a:latin typeface="Arial"/>
              </a:rPr>
              <a:t>K/V for “deploy”</a:t>
            </a:r>
          </a:p>
        </p:txBody>
      </p:sp>
      <p:sp>
        <p:nvSpPr>
          <p:cNvPr id="38" name="TextBox 37"/>
          <p:cNvSpPr txBox="1"/>
          <p:nvPr/>
        </p:nvSpPr>
        <p:spPr>
          <a:xfrm>
            <a:off x="5973318" y="2623186"/>
            <a:ext cx="264033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200406"/>
          </a:xfrm>
          <a:prstGeom prst="rect">
            <a:avLst/>
          </a:prstGeom>
          <a:noFill/>
        </p:spPr>
        <p:txBody>
          <a:bodyPr wrap="square" lIns="10287" tIns="10287" rIns="10287" bIns="10287">
            <a:spAutoFit/>
          </a:bodyPr>
          <a:lstStyle/>
          <a:p>
            <a:pPr>
              <a:spcAft>
                <a:spcPts val="375"/>
              </a:spcAft>
              <a:defRPr sz="1587" b="1">
                <a:solidFill>
                  <a:srgbClr val="586A80"/>
                </a:solidFill>
                <a:latin typeface="Arial"/>
              </a:defRPr>
            </a:pPr>
            <a:r>
              <a:rPr sz="1190" cap="none">
                <a:latin typeface="Arial"/>
              </a:rPr>
              <a:t>5</a:t>
            </a:r>
          </a:p>
        </p:txBody>
      </p:sp>
      <p:sp>
        <p:nvSpPr>
          <p:cNvPr id="41" name="TextBox 40"/>
          <p:cNvSpPr txBox="1"/>
          <p:nvPr/>
        </p:nvSpPr>
        <p:spPr>
          <a:xfrm>
            <a:off x="1021842" y="2842642"/>
            <a:ext cx="198882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and</a:t>
            </a:r>
          </a:p>
        </p:txBody>
      </p:sp>
      <p:sp>
        <p:nvSpPr>
          <p:cNvPr id="42" name="TextBox 41"/>
          <p:cNvSpPr txBox="1"/>
          <p:nvPr/>
        </p:nvSpPr>
        <p:spPr>
          <a:xfrm>
            <a:off x="3182112" y="2842642"/>
            <a:ext cx="2619756" cy="200406"/>
          </a:xfrm>
          <a:prstGeom prst="rect">
            <a:avLst/>
          </a:prstGeom>
          <a:noFill/>
        </p:spPr>
        <p:txBody>
          <a:bodyPr wrap="square" lIns="10287" tIns="10287" rIns="10287" bIns="10287">
            <a:spAutoFit/>
          </a:bodyPr>
          <a:lstStyle/>
          <a:p>
            <a:pPr>
              <a:spcAft>
                <a:spcPts val="375"/>
              </a:spcAft>
              <a:defRPr sz="1587" b="1">
                <a:solidFill>
                  <a:srgbClr val="087F8C"/>
                </a:solidFill>
                <a:latin typeface="Arial"/>
              </a:defRPr>
            </a:pPr>
            <a:r>
              <a:rPr sz="1190" cap="none">
                <a:latin typeface="Arial"/>
              </a:rPr>
              <a:t>K/V for “and”</a:t>
            </a:r>
          </a:p>
        </p:txBody>
      </p:sp>
      <p:sp>
        <p:nvSpPr>
          <p:cNvPr id="43" name="TextBox 42"/>
          <p:cNvSpPr txBox="1"/>
          <p:nvPr/>
        </p:nvSpPr>
        <p:spPr>
          <a:xfrm>
            <a:off x="5973318" y="2842642"/>
            <a:ext cx="2640330" cy="200406"/>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202717"/>
          </a:xfrm>
          <a:prstGeom prst="rect">
            <a:avLst/>
          </a:prstGeom>
          <a:noFill/>
        </p:spPr>
        <p:txBody>
          <a:bodyPr wrap="square" lIns="10287" tIns="10287" rIns="10287" bIns="10287">
            <a:spAutoFit/>
          </a:bodyPr>
          <a:lstStyle/>
          <a:p>
            <a:pPr>
              <a:spcAft>
                <a:spcPts val="375"/>
              </a:spcAft>
              <a:defRPr sz="1587" b="1">
                <a:solidFill>
                  <a:srgbClr val="586A80"/>
                </a:solidFill>
                <a:latin typeface="Arial"/>
              </a:defRPr>
            </a:pPr>
            <a:r>
              <a:rPr sz="1190" cap="none">
                <a:latin typeface="Arial"/>
              </a:rPr>
              <a:t>6</a:t>
            </a:r>
          </a:p>
        </p:txBody>
      </p:sp>
      <p:sp>
        <p:nvSpPr>
          <p:cNvPr id="46" name="TextBox 45"/>
          <p:cNvSpPr txBox="1"/>
          <p:nvPr/>
        </p:nvSpPr>
        <p:spPr>
          <a:xfrm>
            <a:off x="1021842" y="3062098"/>
            <a:ext cx="1988820" cy="202717"/>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scale</a:t>
            </a:r>
          </a:p>
        </p:txBody>
      </p:sp>
      <p:sp>
        <p:nvSpPr>
          <p:cNvPr id="47" name="TextBox 46"/>
          <p:cNvSpPr txBox="1"/>
          <p:nvPr/>
        </p:nvSpPr>
        <p:spPr>
          <a:xfrm>
            <a:off x="3182112" y="3062098"/>
            <a:ext cx="2619756" cy="202717"/>
          </a:xfrm>
          <a:prstGeom prst="rect">
            <a:avLst/>
          </a:prstGeom>
          <a:noFill/>
        </p:spPr>
        <p:txBody>
          <a:bodyPr wrap="square" lIns="10287" tIns="10287" rIns="10287" bIns="10287">
            <a:spAutoFit/>
          </a:bodyPr>
          <a:lstStyle/>
          <a:p>
            <a:pPr>
              <a:spcAft>
                <a:spcPts val="375"/>
              </a:spcAft>
              <a:defRPr sz="1587" b="1">
                <a:solidFill>
                  <a:srgbClr val="087F8C"/>
                </a:solidFill>
                <a:latin typeface="Arial"/>
              </a:defRPr>
            </a:pPr>
            <a:r>
              <a:rPr sz="1190" cap="none">
                <a:latin typeface="Arial"/>
              </a:rPr>
              <a:t>K/V for “scale”</a:t>
            </a:r>
          </a:p>
        </p:txBody>
      </p:sp>
      <p:sp>
        <p:nvSpPr>
          <p:cNvPr id="48" name="TextBox 47"/>
          <p:cNvSpPr txBox="1"/>
          <p:nvPr/>
        </p:nvSpPr>
        <p:spPr>
          <a:xfrm>
            <a:off x="5973318" y="3062098"/>
            <a:ext cx="2640330" cy="202717"/>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applications</a:t>
            </a:r>
          </a:p>
        </p:txBody>
      </p:sp>
      <p:sp>
        <p:nvSpPr>
          <p:cNvPr id="49" name="TextBox 48"/>
          <p:cNvSpPr txBox="1"/>
          <p:nvPr/>
        </p:nvSpPr>
        <p:spPr>
          <a:xfrm>
            <a:off x="445770" y="3319273"/>
            <a:ext cx="8243316" cy="202717"/>
          </a:xfrm>
          <a:prstGeom prst="rect">
            <a:avLst/>
          </a:prstGeom>
          <a:noFill/>
        </p:spPr>
        <p:txBody>
          <a:bodyPr wrap="square" lIns="10287" tIns="10287" rIns="10287" bIns="10287">
            <a:spAutoFit/>
          </a:bodyPr>
          <a:lstStyle/>
          <a:p>
            <a:pPr>
              <a:spcAft>
                <a:spcPts val="375"/>
              </a:spcAft>
              <a:defRPr sz="1587" b="0">
                <a:solidFill>
                  <a:srgbClr val="586A80"/>
                </a:solidFill>
                <a:latin typeface="Arial"/>
              </a:defRPr>
            </a:pPr>
            <a:r>
              <a:rPr sz="1190" cap="none">
                <a:latin typeface="Arial"/>
              </a:rPr>
              <a:t>Repeat until the answer is complete. Each selected token becomes the next input.</a:t>
            </a:r>
          </a:p>
        </p:txBody>
      </p:sp>
      <p:sp>
        <p:nvSpPr>
          <p:cNvPr id="50" name="TextBox 49"/>
          <p:cNvSpPr txBox="1"/>
          <p:nvPr/>
        </p:nvSpPr>
        <p:spPr>
          <a:xfrm>
            <a:off x="445770" y="3552444"/>
            <a:ext cx="816102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80238"/>
          </a:xfrm>
          <a:prstGeom prst="rect">
            <a:avLst/>
          </a:prstGeom>
          <a:noFill/>
        </p:spPr>
        <p:txBody>
          <a:bodyPr wrap="square" lIns="10287" tIns="10287" rIns="10287" bIns="10287">
            <a:spAutoFit/>
          </a:bodyPr>
          <a:lstStyle/>
          <a:p>
            <a:pPr algn="ctr">
              <a:spcAft>
                <a:spcPts val="375"/>
              </a:spcAft>
              <a:defRPr sz="1387" b="1">
                <a:solidFill>
                  <a:srgbClr val="2563EB"/>
                </a:solidFill>
                <a:latin typeface="Arial"/>
              </a:defRPr>
            </a:pPr>
            <a:r>
              <a:rPr sz="104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80238"/>
          </a:xfrm>
          <a:prstGeom prst="rect">
            <a:avLst/>
          </a:prstGeom>
          <a:noFill/>
        </p:spPr>
        <p:txBody>
          <a:bodyPr wrap="square" lIns="10287" tIns="10287" rIns="10287" bIns="10287">
            <a:spAutoFit/>
          </a:bodyPr>
          <a:lstStyle/>
          <a:p>
            <a:pPr algn="ctr">
              <a:spcAft>
                <a:spcPts val="375"/>
              </a:spcAft>
              <a:defRPr sz="1387" b="1">
                <a:solidFill>
                  <a:srgbClr val="087F8C"/>
                </a:solidFill>
                <a:latin typeface="Arial"/>
              </a:defRPr>
            </a:pPr>
            <a:r>
              <a:rPr sz="104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68249"/>
          </a:xfrm>
          <a:prstGeom prst="rect">
            <a:avLst/>
          </a:prstGeom>
          <a:noFill/>
        </p:spPr>
        <p:txBody>
          <a:bodyPr wrap="square" lIns="10287" tIns="10287" rIns="10287" bIns="10287">
            <a:spAutoFit/>
          </a:bodyPr>
          <a:lstStyle/>
          <a:p>
            <a:pPr algn="ctr">
              <a:spcAft>
                <a:spcPts val="375"/>
              </a:spcAft>
              <a:defRPr sz="1280" b="1">
                <a:solidFill>
                  <a:srgbClr val="087F8C"/>
                </a:solidFill>
                <a:latin typeface="Arial"/>
              </a:defRPr>
            </a:pPr>
            <a:r>
              <a:rPr sz="960"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80238"/>
          </a:xfrm>
          <a:prstGeom prst="rect">
            <a:avLst/>
          </a:prstGeom>
          <a:noFill/>
        </p:spPr>
        <p:txBody>
          <a:bodyPr wrap="square" lIns="10287" tIns="10287" rIns="10287" bIns="10287">
            <a:spAutoFit/>
          </a:bodyPr>
          <a:lstStyle/>
          <a:p>
            <a:pPr algn="ctr">
              <a:spcAft>
                <a:spcPts val="375"/>
              </a:spcAft>
              <a:defRPr sz="1387" b="1">
                <a:solidFill>
                  <a:srgbClr val="7354B8"/>
                </a:solidFill>
                <a:latin typeface="Arial"/>
              </a:defRPr>
            </a:pPr>
            <a:r>
              <a:rPr sz="104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68249"/>
          </a:xfrm>
          <a:prstGeom prst="rect">
            <a:avLst/>
          </a:prstGeom>
          <a:noFill/>
        </p:spPr>
        <p:txBody>
          <a:bodyPr wrap="square" lIns="10287" tIns="10287" rIns="10287" bIns="10287">
            <a:spAutoFit/>
          </a:bodyPr>
          <a:lstStyle/>
          <a:p>
            <a:pPr algn="ctr">
              <a:spcAft>
                <a:spcPts val="375"/>
              </a:spcAft>
              <a:defRPr sz="1280" b="1">
                <a:solidFill>
                  <a:srgbClr val="7354B8"/>
                </a:solidFill>
                <a:latin typeface="Arial"/>
              </a:defRPr>
            </a:pPr>
            <a:r>
              <a:rPr sz="960"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80238"/>
          </a:xfrm>
          <a:prstGeom prst="rect">
            <a:avLst/>
          </a:prstGeom>
          <a:noFill/>
        </p:spPr>
        <p:txBody>
          <a:bodyPr wrap="square" lIns="10287" tIns="10287" rIns="10287" bIns="10287">
            <a:spAutoFit/>
          </a:bodyPr>
          <a:lstStyle/>
          <a:p>
            <a:pPr algn="ctr">
              <a:spcAft>
                <a:spcPts val="375"/>
              </a:spcAft>
              <a:defRPr sz="1387" b="1">
                <a:solidFill>
                  <a:srgbClr val="7354B8"/>
                </a:solidFill>
                <a:latin typeface="Arial"/>
              </a:defRPr>
            </a:pPr>
            <a:r>
              <a:rPr sz="104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68249"/>
          </a:xfrm>
          <a:prstGeom prst="rect">
            <a:avLst/>
          </a:prstGeom>
          <a:noFill/>
        </p:spPr>
        <p:txBody>
          <a:bodyPr wrap="square" lIns="10287" tIns="10287" rIns="10287" bIns="10287">
            <a:spAutoFit/>
          </a:bodyPr>
          <a:lstStyle/>
          <a:p>
            <a:pPr algn="ctr">
              <a:spcAft>
                <a:spcPts val="375"/>
              </a:spcAft>
              <a:defRPr sz="1280" b="1">
                <a:solidFill>
                  <a:srgbClr val="7354B8"/>
                </a:solidFill>
                <a:latin typeface="Arial"/>
              </a:defRPr>
            </a:pPr>
            <a:r>
              <a:rPr sz="960"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80238"/>
          </a:xfrm>
          <a:prstGeom prst="rect">
            <a:avLst/>
          </a:prstGeom>
          <a:noFill/>
        </p:spPr>
        <p:txBody>
          <a:bodyPr wrap="square" lIns="10287" tIns="10287" rIns="10287" bIns="10287">
            <a:spAutoFit/>
          </a:bodyPr>
          <a:lstStyle/>
          <a:p>
            <a:pPr algn="ctr">
              <a:spcAft>
                <a:spcPts val="375"/>
              </a:spcAft>
              <a:defRPr sz="1387" b="1">
                <a:solidFill>
                  <a:srgbClr val="7354B8"/>
                </a:solidFill>
                <a:latin typeface="Arial"/>
              </a:defRPr>
            </a:pPr>
            <a:r>
              <a:rPr sz="104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68249"/>
          </a:xfrm>
          <a:prstGeom prst="rect">
            <a:avLst/>
          </a:prstGeom>
          <a:noFill/>
        </p:spPr>
        <p:txBody>
          <a:bodyPr wrap="square" lIns="10287" tIns="10287" rIns="10287" bIns="10287">
            <a:spAutoFit/>
          </a:bodyPr>
          <a:lstStyle/>
          <a:p>
            <a:pPr algn="ctr">
              <a:spcAft>
                <a:spcPts val="375"/>
              </a:spcAft>
              <a:defRPr sz="1280" b="1">
                <a:solidFill>
                  <a:srgbClr val="7354B8"/>
                </a:solidFill>
                <a:latin typeface="Arial"/>
              </a:defRPr>
            </a:pPr>
            <a:r>
              <a:rPr sz="960"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80238"/>
          </a:xfrm>
          <a:prstGeom prst="rect">
            <a:avLst/>
          </a:prstGeom>
          <a:noFill/>
        </p:spPr>
        <p:txBody>
          <a:bodyPr wrap="square" lIns="10287" tIns="10287" rIns="10287" bIns="10287">
            <a:spAutoFit/>
          </a:bodyPr>
          <a:lstStyle/>
          <a:p>
            <a:pPr algn="ctr">
              <a:spcAft>
                <a:spcPts val="375"/>
              </a:spcAft>
              <a:defRPr sz="1387" b="1">
                <a:solidFill>
                  <a:srgbClr val="7354B8"/>
                </a:solidFill>
                <a:latin typeface="Arial"/>
              </a:defRPr>
            </a:pPr>
            <a:r>
              <a:rPr sz="104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68249"/>
          </a:xfrm>
          <a:prstGeom prst="rect">
            <a:avLst/>
          </a:prstGeom>
          <a:noFill/>
        </p:spPr>
        <p:txBody>
          <a:bodyPr wrap="square" lIns="10287" tIns="10287" rIns="10287" bIns="10287">
            <a:spAutoFit/>
          </a:bodyPr>
          <a:lstStyle/>
          <a:p>
            <a:pPr algn="ctr">
              <a:spcAft>
                <a:spcPts val="375"/>
              </a:spcAft>
              <a:defRPr sz="1280" b="1">
                <a:solidFill>
                  <a:srgbClr val="7354B8"/>
                </a:solidFill>
                <a:latin typeface="Arial"/>
              </a:defRPr>
            </a:pPr>
            <a:r>
              <a:rPr sz="960"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80238"/>
          </a:xfrm>
          <a:prstGeom prst="rect">
            <a:avLst/>
          </a:prstGeom>
          <a:noFill/>
        </p:spPr>
        <p:txBody>
          <a:bodyPr wrap="square" lIns="10287" tIns="10287" rIns="10287" bIns="10287">
            <a:spAutoFit/>
          </a:bodyPr>
          <a:lstStyle/>
          <a:p>
            <a:pPr algn="ctr">
              <a:spcAft>
                <a:spcPts val="375"/>
              </a:spcAft>
              <a:defRPr sz="1387" b="1">
                <a:solidFill>
                  <a:srgbClr val="7354B8"/>
                </a:solidFill>
                <a:latin typeface="Arial"/>
              </a:defRPr>
            </a:pPr>
            <a:r>
              <a:rPr sz="104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68249"/>
          </a:xfrm>
          <a:prstGeom prst="rect">
            <a:avLst/>
          </a:prstGeom>
          <a:noFill/>
        </p:spPr>
        <p:txBody>
          <a:bodyPr wrap="square" lIns="10287" tIns="10287" rIns="10287" bIns="10287">
            <a:spAutoFit/>
          </a:bodyPr>
          <a:lstStyle/>
          <a:p>
            <a:pPr algn="ctr">
              <a:spcAft>
                <a:spcPts val="375"/>
              </a:spcAft>
              <a:defRPr sz="1280" b="1">
                <a:solidFill>
                  <a:srgbClr val="7354B8"/>
                </a:solidFill>
                <a:latin typeface="Arial"/>
              </a:defRPr>
            </a:pPr>
            <a:r>
              <a:rPr sz="960"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The problem</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07213"/>
          </a:xfrm>
          <a:prstGeom prst="rect">
            <a:avLst/>
          </a:prstGeom>
          <a:noFill/>
        </p:spPr>
        <p:txBody>
          <a:bodyPr wrap="square" lIns="10287" tIns="10287" rIns="10287" bIns="10287">
            <a:spAutoFit/>
          </a:bodyPr>
          <a:lstStyle/>
          <a:p>
            <a:pPr>
              <a:spcAft>
                <a:spcPts val="375"/>
              </a:spcAft>
              <a:defRPr sz="1627" b="1">
                <a:solidFill>
                  <a:srgbClr val="172941"/>
                </a:solidFill>
                <a:latin typeface="Arial"/>
              </a:defRPr>
            </a:pPr>
            <a:r>
              <a:rPr sz="1220"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67157"/>
          </a:xfrm>
          <a:prstGeom prst="rect">
            <a:avLst/>
          </a:prstGeom>
          <a:noFill/>
        </p:spPr>
        <p:txBody>
          <a:bodyPr wrap="square" lIns="10287" tIns="10287" rIns="10287" bIns="10287">
            <a:spAutoFit/>
          </a:bodyPr>
          <a:lstStyle/>
          <a:p>
            <a:pPr algn="ctr">
              <a:spcAft>
                <a:spcPts val="375"/>
              </a:spcAft>
              <a:defRPr sz="2160" b="1">
                <a:solidFill>
                  <a:srgbClr val="2563EB"/>
                </a:solidFill>
                <a:latin typeface="Arial"/>
              </a:defRPr>
            </a:pPr>
            <a:r>
              <a:rPr sz="1620" cap="none">
                <a:latin typeface="Arial"/>
              </a:rPr>
              <a:t>Prompt</a:t>
            </a:r>
          </a:p>
        </p:txBody>
      </p:sp>
      <p:sp>
        <p:nvSpPr>
          <p:cNvPr id="13" name="TextBox 12"/>
          <p:cNvSpPr txBox="1"/>
          <p:nvPr/>
        </p:nvSpPr>
        <p:spPr>
          <a:xfrm>
            <a:off x="486918" y="1899667"/>
            <a:ext cx="11521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67157"/>
          </a:xfrm>
          <a:prstGeom prst="rect">
            <a:avLst/>
          </a:prstGeom>
          <a:noFill/>
        </p:spPr>
        <p:txBody>
          <a:bodyPr wrap="square" lIns="10287" tIns="10287" rIns="10287" bIns="10287">
            <a:spAutoFit/>
          </a:bodyPr>
          <a:lstStyle/>
          <a:p>
            <a:pPr algn="ctr">
              <a:spcAft>
                <a:spcPts val="375"/>
              </a:spcAft>
              <a:defRPr sz="2160" b="1">
                <a:solidFill>
                  <a:srgbClr val="087F8C"/>
                </a:solidFill>
                <a:latin typeface="Arial"/>
              </a:defRPr>
            </a:pPr>
            <a:r>
              <a:rPr sz="1620" cap="none">
                <a:latin typeface="Arial"/>
              </a:rPr>
              <a:t>Prefill</a:t>
            </a:r>
          </a:p>
        </p:txBody>
      </p:sp>
      <p:sp>
        <p:nvSpPr>
          <p:cNvPr id="17" name="TextBox 16"/>
          <p:cNvSpPr txBox="1"/>
          <p:nvPr/>
        </p:nvSpPr>
        <p:spPr>
          <a:xfrm>
            <a:off x="2167128" y="1899667"/>
            <a:ext cx="18379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67157"/>
          </a:xfrm>
          <a:prstGeom prst="rect">
            <a:avLst/>
          </a:prstGeom>
          <a:noFill/>
        </p:spPr>
        <p:txBody>
          <a:bodyPr wrap="square" lIns="10287" tIns="10287" rIns="10287" bIns="10287">
            <a:spAutoFit/>
          </a:bodyPr>
          <a:lstStyle/>
          <a:p>
            <a:pPr algn="ctr">
              <a:spcAft>
                <a:spcPts val="375"/>
              </a:spcAft>
              <a:defRPr sz="2160" b="1">
                <a:solidFill>
                  <a:srgbClr val="AE641A"/>
                </a:solidFill>
                <a:latin typeface="Arial"/>
              </a:defRPr>
            </a:pPr>
            <a:r>
              <a:rPr sz="1620" cap="none">
                <a:latin typeface="Arial"/>
              </a:rPr>
              <a:t>KV cache</a:t>
            </a:r>
          </a:p>
        </p:txBody>
      </p:sp>
      <p:sp>
        <p:nvSpPr>
          <p:cNvPr id="21" name="TextBox 20"/>
          <p:cNvSpPr txBox="1"/>
          <p:nvPr/>
        </p:nvSpPr>
        <p:spPr>
          <a:xfrm>
            <a:off x="4567428" y="1899667"/>
            <a:ext cx="1152144" cy="201218"/>
          </a:xfrm>
          <a:prstGeom prst="rect">
            <a:avLst/>
          </a:prstGeom>
          <a:noFill/>
        </p:spPr>
        <p:txBody>
          <a:bodyPr wrap="square" lIns="10287" tIns="10287" rIns="10287" bIns="10287">
            <a:spAutoFit/>
          </a:bodyPr>
          <a:lstStyle/>
          <a:p>
            <a:pPr algn="ctr">
              <a:spcAft>
                <a:spcPts val="375"/>
              </a:spcAft>
              <a:defRPr sz="1573" b="0">
                <a:solidFill>
                  <a:srgbClr val="586A80"/>
                </a:solidFill>
                <a:latin typeface="Arial"/>
              </a:defRPr>
            </a:pPr>
            <a:r>
              <a:rPr sz="118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67157"/>
          </a:xfrm>
          <a:prstGeom prst="rect">
            <a:avLst/>
          </a:prstGeom>
          <a:noFill/>
        </p:spPr>
        <p:txBody>
          <a:bodyPr wrap="square" lIns="10287" tIns="10287" rIns="10287" bIns="10287">
            <a:spAutoFit/>
          </a:bodyPr>
          <a:lstStyle/>
          <a:p>
            <a:pPr algn="ctr">
              <a:spcAft>
                <a:spcPts val="375"/>
              </a:spcAft>
              <a:defRPr sz="2160" b="1">
                <a:solidFill>
                  <a:srgbClr val="7354B8"/>
                </a:solidFill>
                <a:latin typeface="Arial"/>
              </a:defRPr>
            </a:pPr>
            <a:r>
              <a:rPr sz="1620" cap="none">
                <a:latin typeface="Arial"/>
              </a:rPr>
              <a:t>Decode</a:t>
            </a:r>
          </a:p>
        </p:txBody>
      </p:sp>
      <p:sp>
        <p:nvSpPr>
          <p:cNvPr id="25" name="TextBox 24"/>
          <p:cNvSpPr txBox="1"/>
          <p:nvPr/>
        </p:nvSpPr>
        <p:spPr>
          <a:xfrm>
            <a:off x="6281928" y="1899667"/>
            <a:ext cx="235229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316992"/>
          </a:xfrm>
          <a:prstGeom prst="rect">
            <a:avLst/>
          </a:prstGeom>
          <a:noFill/>
        </p:spPr>
        <p:txBody>
          <a:bodyPr wrap="square" lIns="10287" tIns="10287" rIns="10287" bIns="10287">
            <a:spAutoFit/>
          </a:bodyPr>
          <a:lstStyle/>
          <a:p>
            <a:pPr>
              <a:spcAft>
                <a:spcPts val="375"/>
              </a:spcAft>
              <a:defRPr sz="2613" b="1">
                <a:solidFill>
                  <a:srgbClr val="087F8C"/>
                </a:solidFill>
                <a:latin typeface="Arial"/>
              </a:defRPr>
            </a:pPr>
            <a:r>
              <a:rPr sz="1960" cap="none">
                <a:latin typeface="Arial"/>
              </a:rPr>
              <a:t>Prefill → TTFT</a:t>
            </a:r>
          </a:p>
        </p:txBody>
      </p:sp>
      <p:sp>
        <p:nvSpPr>
          <p:cNvPr id="34" name="TextBox 33"/>
          <p:cNvSpPr txBox="1"/>
          <p:nvPr/>
        </p:nvSpPr>
        <p:spPr>
          <a:xfrm>
            <a:off x="521208" y="3010662"/>
            <a:ext cx="3771900" cy="243179"/>
          </a:xfrm>
          <a:prstGeom prst="rect">
            <a:avLst/>
          </a:prstGeom>
          <a:noFill/>
        </p:spPr>
        <p:txBody>
          <a:bodyPr wrap="square" lIns="10287" tIns="10287" rIns="10287" bIns="10287">
            <a:spAutoFit/>
          </a:bodyPr>
          <a:lstStyle/>
          <a:p>
            <a:pPr>
              <a:spcAft>
                <a:spcPts val="375"/>
              </a:spcAft>
              <a:defRPr sz="1947" b="1">
                <a:solidFill>
                  <a:srgbClr val="172941"/>
                </a:solidFill>
                <a:latin typeface="Arial"/>
              </a:defRPr>
            </a:pPr>
            <a:r>
              <a:rPr sz="1460" cap="none">
                <a:latin typeface="Arial"/>
              </a:rPr>
              <a:t>Time to first token • lower is better</a:t>
            </a:r>
          </a:p>
        </p:txBody>
      </p:sp>
      <p:sp>
        <p:nvSpPr>
          <p:cNvPr id="35" name="TextBox 34"/>
          <p:cNvSpPr txBox="1"/>
          <p:nvPr/>
        </p:nvSpPr>
        <p:spPr>
          <a:xfrm>
            <a:off x="521208" y="3374137"/>
            <a:ext cx="3771900" cy="506602"/>
          </a:xfrm>
          <a:prstGeom prst="rect">
            <a:avLst/>
          </a:prstGeom>
          <a:noFill/>
        </p:spPr>
        <p:txBody>
          <a:bodyPr wrap="square" lIns="10287" tIns="10287" rIns="10287" bIns="10287">
            <a:spAutoFit/>
          </a:bodyPr>
          <a:lstStyle/>
          <a:p>
            <a:pPr>
              <a:spcAft>
                <a:spcPts val="375"/>
              </a:spcAft>
              <a:defRPr sz="1932" b="0">
                <a:solidFill>
                  <a:srgbClr val="586A80"/>
                </a:solidFill>
                <a:latin typeface="Arial"/>
              </a:defRPr>
            </a:pPr>
            <a:r>
              <a:rPr sz="1450" cap="none">
                <a:latin typeface="Arial"/>
              </a:rPr>
              <a:t>Track prefill latency + input tok/s</a:t>
            </a:r>
          </a:p>
          <a:p>
            <a:pPr>
              <a:spcAft>
                <a:spcPts val="375"/>
              </a:spcAft>
              <a:defRPr sz="1932" b="0">
                <a:solidFill>
                  <a:srgbClr val="586A80"/>
                </a:solidFill>
                <a:latin typeface="Arial"/>
              </a:defRPr>
            </a:pPr>
            <a:r>
              <a:rPr sz="1450" cap="none">
                <a:latin typeface="Arial"/>
              </a:rPr>
              <a:t>Often compute-bound</a:t>
            </a:r>
          </a:p>
        </p:txBody>
      </p:sp>
      <p:sp>
        <p:nvSpPr>
          <p:cNvPr id="36" name="TextBox 35"/>
          <p:cNvSpPr txBox="1"/>
          <p:nvPr/>
        </p:nvSpPr>
        <p:spPr>
          <a:xfrm>
            <a:off x="4793742" y="2674620"/>
            <a:ext cx="3771900" cy="316991"/>
          </a:xfrm>
          <a:prstGeom prst="rect">
            <a:avLst/>
          </a:prstGeom>
          <a:noFill/>
        </p:spPr>
        <p:txBody>
          <a:bodyPr wrap="square" lIns="10287" tIns="10287" rIns="10287" bIns="10287">
            <a:spAutoFit/>
          </a:bodyPr>
          <a:lstStyle/>
          <a:p>
            <a:pPr>
              <a:spcAft>
                <a:spcPts val="375"/>
              </a:spcAft>
              <a:defRPr sz="2613" b="1">
                <a:solidFill>
                  <a:srgbClr val="7354B8"/>
                </a:solidFill>
                <a:latin typeface="Arial"/>
              </a:defRPr>
            </a:pPr>
            <a:r>
              <a:rPr sz="1960"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68249"/>
          </a:xfrm>
          <a:prstGeom prst="rect">
            <a:avLst/>
          </a:prstGeom>
          <a:noFill/>
        </p:spPr>
        <p:txBody>
          <a:bodyPr wrap="square" lIns="10287" tIns="10287" rIns="10287" bIns="10287">
            <a:spAutoFit/>
          </a:bodyPr>
          <a:lstStyle/>
          <a:p>
            <a:pPr>
              <a:spcAft>
                <a:spcPts val="375"/>
              </a:spcAft>
              <a:defRPr sz="1280" b="0">
                <a:solidFill>
                  <a:srgbClr val="586A80"/>
                </a:solidFill>
                <a:latin typeface="Arial"/>
              </a:defRPr>
            </a:pPr>
            <a:r>
              <a:rPr sz="960"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The problem</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41681"/>
          </a:xfrm>
          <a:prstGeom prst="rect">
            <a:avLst/>
          </a:prstGeom>
          <a:noFill/>
        </p:spPr>
        <p:txBody>
          <a:bodyPr wrap="square" lIns="10287" tIns="10287" rIns="10287" bIns="10287">
            <a:spAutoFit/>
          </a:bodyPr>
          <a:lstStyle/>
          <a:p>
            <a:pPr>
              <a:spcAft>
                <a:spcPts val="375"/>
              </a:spcAft>
              <a:defRPr sz="1932" b="1">
                <a:solidFill>
                  <a:srgbClr val="2563EB"/>
                </a:solidFill>
                <a:latin typeface="Arial"/>
              </a:defRPr>
            </a:pPr>
            <a:r>
              <a:rPr sz="1450"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57759"/>
          </a:xfrm>
          <a:prstGeom prst="rect">
            <a:avLst/>
          </a:prstGeom>
          <a:noFill/>
        </p:spPr>
        <p:txBody>
          <a:bodyPr wrap="square" lIns="10287" tIns="10287" rIns="10287" bIns="10287">
            <a:spAutoFit/>
          </a:bodyPr>
          <a:lstStyle/>
          <a:p>
            <a:pPr algn="ctr">
              <a:spcAft>
                <a:spcPts val="375"/>
              </a:spcAft>
              <a:defRPr sz="1187" b="1">
                <a:solidFill>
                  <a:srgbClr val="087F8C"/>
                </a:solidFill>
                <a:latin typeface="Arial"/>
              </a:defRPr>
            </a:pPr>
            <a:r>
              <a:rPr sz="89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57759"/>
          </a:xfrm>
          <a:prstGeom prst="rect">
            <a:avLst/>
          </a:prstGeom>
          <a:noFill/>
        </p:spPr>
        <p:txBody>
          <a:bodyPr wrap="square" lIns="10287" tIns="10287" rIns="10287" bIns="10287">
            <a:spAutoFit/>
          </a:bodyPr>
          <a:lstStyle/>
          <a:p>
            <a:pPr algn="ctr">
              <a:spcAft>
                <a:spcPts val="375"/>
              </a:spcAft>
              <a:defRPr sz="1187" b="1">
                <a:solidFill>
                  <a:srgbClr val="7354B8"/>
                </a:solidFill>
                <a:latin typeface="Arial"/>
              </a:defRPr>
            </a:pPr>
            <a:r>
              <a:rPr sz="89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57759"/>
          </a:xfrm>
          <a:prstGeom prst="rect">
            <a:avLst/>
          </a:prstGeom>
          <a:noFill/>
        </p:spPr>
        <p:txBody>
          <a:bodyPr wrap="square" lIns="10287" tIns="10287" rIns="10287" bIns="10287">
            <a:spAutoFit/>
          </a:bodyPr>
          <a:lstStyle/>
          <a:p>
            <a:pPr algn="ctr">
              <a:spcAft>
                <a:spcPts val="375"/>
              </a:spcAft>
              <a:defRPr sz="1187" b="1">
                <a:solidFill>
                  <a:srgbClr val="087F8C"/>
                </a:solidFill>
                <a:latin typeface="Arial"/>
              </a:defRPr>
            </a:pPr>
            <a:r>
              <a:rPr sz="89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57759"/>
          </a:xfrm>
          <a:prstGeom prst="rect">
            <a:avLst/>
          </a:prstGeom>
          <a:noFill/>
        </p:spPr>
        <p:txBody>
          <a:bodyPr wrap="square" lIns="10287" tIns="10287" rIns="10287" bIns="10287">
            <a:spAutoFit/>
          </a:bodyPr>
          <a:lstStyle/>
          <a:p>
            <a:pPr algn="ctr">
              <a:spcAft>
                <a:spcPts val="375"/>
              </a:spcAft>
              <a:defRPr sz="1187" b="1">
                <a:solidFill>
                  <a:srgbClr val="7354B8"/>
                </a:solidFill>
                <a:latin typeface="Arial"/>
              </a:defRPr>
            </a:pPr>
            <a:r>
              <a:rPr sz="89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57759"/>
          </a:xfrm>
          <a:prstGeom prst="rect">
            <a:avLst/>
          </a:prstGeom>
          <a:noFill/>
        </p:spPr>
        <p:txBody>
          <a:bodyPr wrap="square" lIns="10287" tIns="10287" rIns="10287" bIns="10287">
            <a:spAutoFit/>
          </a:bodyPr>
          <a:lstStyle/>
          <a:p>
            <a:pPr algn="ctr">
              <a:spcAft>
                <a:spcPts val="375"/>
              </a:spcAft>
              <a:defRPr sz="1187" b="1">
                <a:solidFill>
                  <a:srgbClr val="087F8C"/>
                </a:solidFill>
                <a:latin typeface="Arial"/>
              </a:defRPr>
            </a:pPr>
            <a:r>
              <a:rPr sz="89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57759"/>
          </a:xfrm>
          <a:prstGeom prst="rect">
            <a:avLst/>
          </a:prstGeom>
          <a:noFill/>
        </p:spPr>
        <p:txBody>
          <a:bodyPr wrap="square" lIns="10287" tIns="10287" rIns="10287" bIns="10287">
            <a:spAutoFit/>
          </a:bodyPr>
          <a:lstStyle/>
          <a:p>
            <a:pPr algn="ctr">
              <a:spcAft>
                <a:spcPts val="375"/>
              </a:spcAft>
              <a:defRPr sz="1187" b="1">
                <a:solidFill>
                  <a:srgbClr val="7354B8"/>
                </a:solidFill>
                <a:latin typeface="Arial"/>
              </a:defRPr>
            </a:pPr>
            <a:r>
              <a:rPr sz="890" cap="none">
                <a:latin typeface="Arial"/>
              </a:rPr>
              <a:t>Decode</a:t>
            </a:r>
          </a:p>
        </p:txBody>
      </p:sp>
      <p:sp>
        <p:nvSpPr>
          <p:cNvPr id="27" name="TextBox 26"/>
          <p:cNvSpPr txBox="1"/>
          <p:nvPr/>
        </p:nvSpPr>
        <p:spPr>
          <a:xfrm>
            <a:off x="562356" y="3607309"/>
            <a:ext cx="4457700" cy="235686"/>
          </a:xfrm>
          <a:prstGeom prst="rect">
            <a:avLst/>
          </a:prstGeom>
          <a:noFill/>
        </p:spPr>
        <p:txBody>
          <a:bodyPr wrap="square" lIns="10287" tIns="10287" rIns="10287" bIns="10287">
            <a:spAutoFit/>
          </a:bodyPr>
          <a:lstStyle/>
          <a:p>
            <a:pPr>
              <a:spcAft>
                <a:spcPts val="375"/>
              </a:spcAft>
              <a:defRPr sz="1880" b="0">
                <a:solidFill>
                  <a:srgbClr val="586A80"/>
                </a:solidFill>
                <a:latin typeface="Arial"/>
              </a:defRPr>
            </a:pPr>
            <a:r>
              <a:rPr sz="1410"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79146"/>
          </a:xfrm>
          <a:prstGeom prst="rect">
            <a:avLst/>
          </a:prstGeom>
          <a:noFill/>
        </p:spPr>
        <p:txBody>
          <a:bodyPr wrap="square" lIns="10287" tIns="10287" rIns="10287" bIns="10287">
            <a:spAutoFit/>
          </a:bodyPr>
          <a:lstStyle/>
          <a:p>
            <a:pPr>
              <a:spcAft>
                <a:spcPts val="375"/>
              </a:spcAft>
              <a:defRPr sz="2267" b="1">
                <a:solidFill>
                  <a:srgbClr val="AE641A"/>
                </a:solidFill>
                <a:latin typeface="Arial"/>
              </a:defRPr>
            </a:pPr>
            <a:r>
              <a:rPr sz="17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Why split — execution interference</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Request A is decoding when request B arrives.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8221"/>
          </a:xfrm>
          <a:prstGeom prst="rect">
            <a:avLst/>
          </a:prstGeom>
          <a:noFill/>
        </p:spPr>
        <p:txBody>
          <a:bodyPr wrap="square" lIns="10287" tIns="10287" rIns="10287" bIns="10287">
            <a:spAutoFit/>
          </a:bodyPr>
          <a:lstStyle/>
          <a:p>
            <a:pPr>
              <a:spcAft>
                <a:spcPts val="375"/>
              </a:spcAft>
              <a:defRPr sz="1547" b="1">
                <a:solidFill>
                  <a:srgbClr val="172941"/>
                </a:solidFill>
                <a:latin typeface="Arial"/>
              </a:defRPr>
            </a:pPr>
            <a:r>
              <a:rPr sz="1160"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80238"/>
          </a:xfrm>
          <a:prstGeom prst="rect">
            <a:avLst/>
          </a:prstGeom>
          <a:noFill/>
        </p:spPr>
        <p:txBody>
          <a:bodyPr wrap="square" lIns="10287" tIns="10287" rIns="10287" bIns="10287">
            <a:spAutoFit/>
          </a:bodyPr>
          <a:lstStyle/>
          <a:p>
            <a:pPr>
              <a:spcAft>
                <a:spcPts val="375"/>
              </a:spcAft>
              <a:defRPr sz="1387" b="1">
                <a:solidFill>
                  <a:srgbClr val="AE641A"/>
                </a:solidFill>
                <a:latin typeface="Arial"/>
              </a:defRPr>
            </a:pPr>
            <a:r>
              <a:rPr sz="104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92633"/>
          </a:xfrm>
          <a:prstGeom prst="rect">
            <a:avLst/>
          </a:prstGeom>
          <a:noFill/>
        </p:spPr>
        <p:txBody>
          <a:bodyPr wrap="square" lIns="10287" tIns="10287" rIns="10287" bIns="10287">
            <a:spAutoFit/>
          </a:bodyPr>
          <a:lstStyle/>
          <a:p>
            <a:pPr>
              <a:spcAft>
                <a:spcPts val="375"/>
              </a:spcAft>
              <a:defRPr sz="2387" b="1">
                <a:solidFill>
                  <a:srgbClr val="172941"/>
                </a:solidFill>
                <a:latin typeface="Arial"/>
              </a:defRPr>
            </a:pPr>
            <a:r>
              <a:rPr sz="1789" cap="none">
                <a:latin typeface="Arial"/>
              </a:rPr>
              <a:t>Shared GPU</a:t>
            </a:r>
          </a:p>
        </p:txBody>
      </p:sp>
      <p:sp>
        <p:nvSpPr>
          <p:cNvPr id="13" name="TextBox 12"/>
          <p:cNvSpPr txBox="1"/>
          <p:nvPr/>
        </p:nvSpPr>
        <p:spPr>
          <a:xfrm>
            <a:off x="521208" y="2256283"/>
            <a:ext cx="1817370" cy="202717"/>
          </a:xfrm>
          <a:prstGeom prst="rect">
            <a:avLst/>
          </a:prstGeom>
          <a:noFill/>
        </p:spPr>
        <p:txBody>
          <a:bodyPr wrap="square" lIns="10287" tIns="10287" rIns="10287" bIns="10287">
            <a:spAutoFit/>
          </a:bodyPr>
          <a:lstStyle/>
          <a:p>
            <a:pPr>
              <a:spcAft>
                <a:spcPts val="375"/>
              </a:spcAft>
              <a:defRPr sz="1587" b="0">
                <a:solidFill>
                  <a:srgbClr val="586A80"/>
                </a:solidFill>
                <a:latin typeface="Arial"/>
              </a:defRPr>
            </a:pPr>
            <a:r>
              <a:rPr sz="119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28193"/>
          </a:xfrm>
          <a:prstGeom prst="rect">
            <a:avLst/>
          </a:prstGeom>
          <a:noFill/>
        </p:spPr>
        <p:txBody>
          <a:bodyPr wrap="square" lIns="10287" tIns="10287" rIns="10287" bIns="10287">
            <a:spAutoFit/>
          </a:bodyPr>
          <a:lstStyle/>
          <a:p>
            <a:pPr algn="ctr">
              <a:spcAft>
                <a:spcPts val="375"/>
              </a:spcAft>
              <a:defRPr sz="1813" b="1">
                <a:solidFill>
                  <a:srgbClr val="7354B8"/>
                </a:solidFill>
                <a:latin typeface="Arial"/>
              </a:defRPr>
            </a:pPr>
            <a:r>
              <a:rPr sz="1360" cap="none">
                <a:latin typeface="Arial"/>
              </a:rPr>
              <a:t>A</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28193"/>
          </a:xfrm>
          <a:prstGeom prst="rect">
            <a:avLst/>
          </a:prstGeom>
          <a:noFill/>
        </p:spPr>
        <p:txBody>
          <a:bodyPr wrap="square" lIns="10287" tIns="10287" rIns="10287" bIns="10287">
            <a:spAutoFit/>
          </a:bodyPr>
          <a:lstStyle/>
          <a:p>
            <a:pPr algn="ctr">
              <a:spcAft>
                <a:spcPts val="375"/>
              </a:spcAft>
              <a:defRPr sz="1813" b="1">
                <a:solidFill>
                  <a:srgbClr val="7354B8"/>
                </a:solidFill>
                <a:latin typeface="Arial"/>
              </a:defRPr>
            </a:pPr>
            <a:r>
              <a:rPr sz="1360" cap="none">
                <a:latin typeface="Arial"/>
              </a:rPr>
              <a:t>A</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28193"/>
          </a:xfrm>
          <a:prstGeom prst="rect">
            <a:avLst/>
          </a:prstGeom>
          <a:noFill/>
        </p:spPr>
        <p:txBody>
          <a:bodyPr wrap="square" lIns="10287" tIns="10287" rIns="10287" bIns="10287">
            <a:spAutoFit/>
          </a:bodyPr>
          <a:lstStyle/>
          <a:p>
            <a:pPr algn="ctr">
              <a:spcAft>
                <a:spcPts val="375"/>
              </a:spcAft>
              <a:defRPr sz="1813" b="1">
                <a:solidFill>
                  <a:srgbClr val="7354B8"/>
                </a:solidFill>
                <a:latin typeface="Arial"/>
              </a:defRPr>
            </a:pPr>
            <a:r>
              <a:rPr sz="1360" cap="none">
                <a:latin typeface="Arial"/>
              </a:rPr>
              <a:t>A</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28193"/>
          </a:xfrm>
          <a:prstGeom prst="rect">
            <a:avLst/>
          </a:prstGeom>
          <a:noFill/>
        </p:spPr>
        <p:txBody>
          <a:bodyPr wrap="square" lIns="10287" tIns="10287" rIns="10287" bIns="10287">
            <a:spAutoFit/>
          </a:bodyPr>
          <a:lstStyle/>
          <a:p>
            <a:pPr algn="ctr">
              <a:spcAft>
                <a:spcPts val="375"/>
              </a:spcAft>
              <a:defRPr sz="1813" b="1">
                <a:solidFill>
                  <a:srgbClr val="7354B8"/>
                </a:solidFill>
                <a:latin typeface="Arial"/>
              </a:defRPr>
            </a:pPr>
            <a:r>
              <a:rPr sz="1360" cap="none">
                <a:latin typeface="Arial"/>
              </a:rPr>
              <a:t>A</a:t>
            </a:r>
          </a:p>
        </p:txBody>
      </p:sp>
      <p:sp>
        <p:nvSpPr>
          <p:cNvPr id="24" name="TextBox 23"/>
          <p:cNvSpPr txBox="1"/>
          <p:nvPr/>
        </p:nvSpPr>
        <p:spPr>
          <a:xfrm>
            <a:off x="4272534" y="1837944"/>
            <a:ext cx="2228850" cy="195224"/>
          </a:xfrm>
          <a:prstGeom prst="rect">
            <a:avLst/>
          </a:prstGeom>
          <a:noFill/>
        </p:spPr>
        <p:txBody>
          <a:bodyPr wrap="square" lIns="10287" tIns="10287" rIns="10287" bIns="10287">
            <a:spAutoFit/>
          </a:bodyPr>
          <a:lstStyle/>
          <a:p>
            <a:pPr algn="ctr">
              <a:spcAft>
                <a:spcPts val="375"/>
              </a:spcAft>
              <a:defRPr sz="1520" b="1">
                <a:solidFill>
                  <a:srgbClr val="AE641A"/>
                </a:solidFill>
                <a:latin typeface="Arial"/>
              </a:defRPr>
            </a:pPr>
            <a:r>
              <a:rPr sz="1140" cap="none">
                <a:latin typeface="Arial"/>
              </a:rPr>
              <a:t>A pauses for prefill B</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74650"/>
          </a:xfrm>
          <a:prstGeom prst="rect">
            <a:avLst/>
          </a:prstGeom>
          <a:noFill/>
        </p:spPr>
        <p:txBody>
          <a:bodyPr wrap="square" lIns="10287" tIns="10287" rIns="10287" bIns="10287">
            <a:spAutoFit/>
          </a:bodyPr>
          <a:lstStyle/>
          <a:p>
            <a:pPr>
              <a:spcAft>
                <a:spcPts val="375"/>
              </a:spcAft>
              <a:defRPr sz="2227" b="1">
                <a:solidFill>
                  <a:srgbClr val="172941"/>
                </a:solidFill>
                <a:latin typeface="Arial"/>
              </a:defRPr>
            </a:pPr>
            <a:r>
              <a:rPr sz="1670" cap="none">
                <a:latin typeface="Arial"/>
              </a:rPr>
              <a:t>Separate GPUs</a:t>
            </a:r>
          </a:p>
        </p:txBody>
      </p:sp>
      <p:sp>
        <p:nvSpPr>
          <p:cNvPr id="27" name="TextBox 26"/>
          <p:cNvSpPr txBox="1"/>
          <p:nvPr/>
        </p:nvSpPr>
        <p:spPr>
          <a:xfrm>
            <a:off x="521208" y="3326131"/>
            <a:ext cx="1817370" cy="202717"/>
          </a:xfrm>
          <a:prstGeom prst="rect">
            <a:avLst/>
          </a:prstGeom>
          <a:noFill/>
        </p:spPr>
        <p:txBody>
          <a:bodyPr wrap="square" lIns="10287" tIns="10287" rIns="10287" bIns="10287">
            <a:spAutoFit/>
          </a:bodyPr>
          <a:lstStyle/>
          <a:p>
            <a:pPr>
              <a:spcAft>
                <a:spcPts val="375"/>
              </a:spcAft>
              <a:defRPr sz="1587" b="1">
                <a:solidFill>
                  <a:srgbClr val="087F8C"/>
                </a:solidFill>
                <a:latin typeface="Arial"/>
              </a:defRPr>
            </a:pPr>
            <a:r>
              <a:rPr sz="1190" cap="none">
                <a:latin typeface="Arial"/>
              </a:rPr>
              <a:t>Prefill worker</a:t>
            </a:r>
          </a:p>
        </p:txBody>
      </p:sp>
      <p:sp>
        <p:nvSpPr>
          <p:cNvPr id="28" name="TextBox 27"/>
          <p:cNvSpPr txBox="1"/>
          <p:nvPr/>
        </p:nvSpPr>
        <p:spPr>
          <a:xfrm>
            <a:off x="521208" y="3675889"/>
            <a:ext cx="1817370" cy="202717"/>
          </a:xfrm>
          <a:prstGeom prst="rect">
            <a:avLst/>
          </a:prstGeom>
          <a:noFill/>
        </p:spPr>
        <p:txBody>
          <a:bodyPr wrap="square" lIns="10287" tIns="10287" rIns="10287" bIns="10287">
            <a:spAutoFit/>
          </a:bodyPr>
          <a:lstStyle/>
          <a:p>
            <a:pPr>
              <a:spcAft>
                <a:spcPts val="375"/>
              </a:spcAft>
              <a:defRPr sz="1587" b="1">
                <a:solidFill>
                  <a:srgbClr val="7354B8"/>
                </a:solidFill>
                <a:latin typeface="Arial"/>
              </a:defRPr>
            </a:pPr>
            <a:r>
              <a:rPr sz="119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Prefill B</a:t>
            </a:r>
          </a:p>
        </p:txBody>
      </p:sp>
      <p:sp>
        <p:nvSpPr>
          <p:cNvPr id="31" name="TextBox 30"/>
          <p:cNvSpPr txBox="1"/>
          <p:nvPr/>
        </p:nvSpPr>
        <p:spPr>
          <a:xfrm>
            <a:off x="6563106" y="3298698"/>
            <a:ext cx="1920240" cy="190728"/>
          </a:xfrm>
          <a:prstGeom prst="rect">
            <a:avLst/>
          </a:prstGeom>
          <a:noFill/>
        </p:spPr>
        <p:txBody>
          <a:bodyPr wrap="square" lIns="10287" tIns="10287" rIns="10287" bIns="10287">
            <a:spAutoFit/>
          </a:bodyPr>
          <a:lstStyle/>
          <a:p>
            <a:pPr>
              <a:spcAft>
                <a:spcPts val="375"/>
              </a:spcAft>
              <a:defRPr sz="1480" b="0">
                <a:solidFill>
                  <a:srgbClr val="AE641A"/>
                </a:solidFill>
                <a:latin typeface="Arial"/>
              </a:defRPr>
            </a:pPr>
            <a:r>
              <a:rPr sz="1110"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216204"/>
          </a:xfrm>
          <a:prstGeom prst="rect">
            <a:avLst/>
          </a:prstGeom>
          <a:noFill/>
        </p:spPr>
        <p:txBody>
          <a:bodyPr wrap="square" lIns="10287" tIns="10287" rIns="10287" bIns="10287">
            <a:spAutoFit/>
          </a:bodyPr>
          <a:lstStyle/>
          <a:p>
            <a:pPr algn="ctr">
              <a:spcAft>
                <a:spcPts val="375"/>
              </a:spcAft>
              <a:defRPr sz="1707" b="1">
                <a:solidFill>
                  <a:srgbClr val="7354B8"/>
                </a:solidFill>
                <a:latin typeface="Arial"/>
              </a:defRPr>
            </a:pPr>
            <a:r>
              <a:rPr sz="1280" cap="none">
                <a:latin typeface="Arial"/>
              </a:rPr>
              <a:t>A</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216204"/>
          </a:xfrm>
          <a:prstGeom prst="rect">
            <a:avLst/>
          </a:prstGeom>
          <a:noFill/>
        </p:spPr>
        <p:txBody>
          <a:bodyPr wrap="square" lIns="10287" tIns="10287" rIns="10287" bIns="10287">
            <a:spAutoFit/>
          </a:bodyPr>
          <a:lstStyle/>
          <a:p>
            <a:pPr algn="ctr">
              <a:spcAft>
                <a:spcPts val="375"/>
              </a:spcAft>
              <a:defRPr sz="1707" b="1">
                <a:solidFill>
                  <a:srgbClr val="7354B8"/>
                </a:solidFill>
                <a:latin typeface="Arial"/>
              </a:defRPr>
            </a:pPr>
            <a:r>
              <a:rPr sz="1280" cap="none">
                <a:latin typeface="Arial"/>
              </a:rPr>
              <a:t>A</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216204"/>
          </a:xfrm>
          <a:prstGeom prst="rect">
            <a:avLst/>
          </a:prstGeom>
          <a:noFill/>
        </p:spPr>
        <p:txBody>
          <a:bodyPr wrap="square" lIns="10287" tIns="10287" rIns="10287" bIns="10287">
            <a:spAutoFit/>
          </a:bodyPr>
          <a:lstStyle/>
          <a:p>
            <a:pPr algn="ctr">
              <a:spcAft>
                <a:spcPts val="375"/>
              </a:spcAft>
              <a:defRPr sz="1707" b="1">
                <a:solidFill>
                  <a:srgbClr val="7354B8"/>
                </a:solidFill>
                <a:latin typeface="Arial"/>
              </a:defRPr>
            </a:pPr>
            <a:r>
              <a:rPr sz="1280" cap="none">
                <a:latin typeface="Arial"/>
              </a:rPr>
              <a:t>A</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216204"/>
          </a:xfrm>
          <a:prstGeom prst="rect">
            <a:avLst/>
          </a:prstGeom>
          <a:noFill/>
        </p:spPr>
        <p:txBody>
          <a:bodyPr wrap="square" lIns="10287" tIns="10287" rIns="10287" bIns="10287">
            <a:spAutoFit/>
          </a:bodyPr>
          <a:lstStyle/>
          <a:p>
            <a:pPr algn="ctr">
              <a:spcAft>
                <a:spcPts val="375"/>
              </a:spcAft>
              <a:defRPr sz="1707" b="1">
                <a:solidFill>
                  <a:srgbClr val="7354B8"/>
                </a:solidFill>
                <a:latin typeface="Arial"/>
              </a:defRPr>
            </a:pPr>
            <a:r>
              <a:rPr sz="1280" cap="none">
                <a:latin typeface="Arial"/>
              </a:rPr>
              <a:t>A</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216204"/>
          </a:xfrm>
          <a:prstGeom prst="rect">
            <a:avLst/>
          </a:prstGeom>
          <a:noFill/>
        </p:spPr>
        <p:txBody>
          <a:bodyPr wrap="square" lIns="10287" tIns="10287" rIns="10287" bIns="10287">
            <a:spAutoFit/>
          </a:bodyPr>
          <a:lstStyle/>
          <a:p>
            <a:pPr algn="ctr">
              <a:spcAft>
                <a:spcPts val="375"/>
              </a:spcAft>
              <a:defRPr sz="1707" b="1">
                <a:solidFill>
                  <a:srgbClr val="7354B8"/>
                </a:solidFill>
                <a:latin typeface="Arial"/>
              </a:defRPr>
            </a:pPr>
            <a:r>
              <a:rPr sz="1280" cap="none">
                <a:latin typeface="Arial"/>
              </a:rPr>
              <a:t>A</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216204"/>
          </a:xfrm>
          <a:prstGeom prst="rect">
            <a:avLst/>
          </a:prstGeom>
          <a:noFill/>
        </p:spPr>
        <p:txBody>
          <a:bodyPr wrap="square" lIns="10287" tIns="10287" rIns="10287" bIns="10287">
            <a:spAutoFit/>
          </a:bodyPr>
          <a:lstStyle/>
          <a:p>
            <a:pPr algn="ctr">
              <a:spcAft>
                <a:spcPts val="375"/>
              </a:spcAft>
              <a:defRPr sz="1707" b="1">
                <a:solidFill>
                  <a:srgbClr val="7354B8"/>
                </a:solidFill>
                <a:latin typeface="Arial"/>
              </a:defRPr>
            </a:pPr>
            <a:r>
              <a:rPr sz="1280" cap="none">
                <a:latin typeface="Arial"/>
              </a:rPr>
              <a:t>A</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216204"/>
          </a:xfrm>
          <a:prstGeom prst="rect">
            <a:avLst/>
          </a:prstGeom>
          <a:noFill/>
        </p:spPr>
        <p:txBody>
          <a:bodyPr wrap="square" lIns="10287" tIns="10287" rIns="10287" bIns="10287">
            <a:spAutoFit/>
          </a:bodyPr>
          <a:lstStyle/>
          <a:p>
            <a:pPr algn="ctr">
              <a:spcAft>
                <a:spcPts val="375"/>
              </a:spcAft>
              <a:defRPr sz="1707" b="1">
                <a:solidFill>
                  <a:srgbClr val="7354B8"/>
                </a:solidFill>
                <a:latin typeface="Arial"/>
              </a:defRPr>
            </a:pPr>
            <a:r>
              <a:rPr sz="1280" cap="none">
                <a:latin typeface="Arial"/>
              </a:rPr>
              <a:t>A</a:t>
            </a:r>
          </a:p>
        </p:txBody>
      </p:sp>
      <p:sp>
        <p:nvSpPr>
          <p:cNvPr id="46" name="TextBox 45"/>
          <p:cNvSpPr txBox="1"/>
          <p:nvPr/>
        </p:nvSpPr>
        <p:spPr>
          <a:xfrm>
            <a:off x="2571750" y="2900934"/>
            <a:ext cx="5932170" cy="228193"/>
          </a:xfrm>
          <a:prstGeom prst="rect">
            <a:avLst/>
          </a:prstGeom>
          <a:noFill/>
        </p:spPr>
        <p:txBody>
          <a:bodyPr wrap="square" lIns="10287" tIns="10287" rIns="10287" bIns="10287">
            <a:spAutoFit/>
          </a:bodyPr>
          <a:lstStyle/>
          <a:p>
            <a:pPr>
              <a:spcAft>
                <a:spcPts val="375"/>
              </a:spcAft>
              <a:defRPr sz="1813" b="1">
                <a:solidFill>
                  <a:srgbClr val="7354B8"/>
                </a:solidFill>
                <a:latin typeface="Arial"/>
              </a:defRPr>
            </a:pPr>
            <a:r>
              <a:rPr sz="1360" cap="none">
                <a:latin typeface="Arial"/>
              </a:rPr>
              <a:t>A keeps decoding while B runs prefill</a:t>
            </a:r>
          </a:p>
        </p:txBody>
      </p:sp>
      <p:sp>
        <p:nvSpPr>
          <p:cNvPr id="47" name="TextBox 46"/>
          <p:cNvSpPr txBox="1"/>
          <p:nvPr/>
        </p:nvSpPr>
        <p:spPr>
          <a:xfrm>
            <a:off x="445770" y="4094226"/>
            <a:ext cx="8195310" cy="152400"/>
          </a:xfrm>
          <a:prstGeom prst="rect">
            <a:avLst/>
          </a:prstGeom>
          <a:noFill/>
        </p:spPr>
        <p:txBody>
          <a:bodyPr wrap="square" lIns="10287" tIns="10287" rIns="10287" bIns="10287">
            <a:spAutoFit/>
          </a:bodyPr>
          <a:lstStyle/>
          <a:p>
            <a:pPr>
              <a:spcAft>
                <a:spcPts val="375"/>
              </a:spcAft>
              <a:defRPr sz="1187" b="0">
                <a:solidFill>
                  <a:srgbClr val="586A80"/>
                </a:solidFill>
                <a:latin typeface="Arial"/>
              </a:defRPr>
            </a:pPr>
            <a:r>
              <a:rPr sz="890" cap="none">
                <a:latin typeface="Arial"/>
              </a:rPr>
              <a:t>A = ongoing decode; Prefill B = prompt processing for B. Chunked prefill can reduce shared-GPU pauses.</a:t>
            </a:r>
          </a:p>
        </p:txBody>
      </p:sp>
      <p:sp>
        <p:nvSpPr>
          <p:cNvPr id="48" name="TextBox 47"/>
          <p:cNvSpPr txBox="1"/>
          <p:nvPr/>
        </p:nvSpPr>
        <p:spPr>
          <a:xfrm>
            <a:off x="445770" y="4265676"/>
            <a:ext cx="8195310" cy="135280"/>
          </a:xfrm>
          <a:prstGeom prst="rect">
            <a:avLst/>
          </a:prstGeom>
          <a:noFill/>
        </p:spPr>
        <p:txBody>
          <a:bodyPr wrap="square" lIns="10287" tIns="10287" rIns="10287" bIns="10287">
            <a:spAutoFit/>
          </a:bodyPr>
          <a:lstStyle/>
          <a:p>
            <a:pPr>
              <a:spcAft>
                <a:spcPts val="375"/>
              </a:spcAft>
              <a:defRPr sz="986" b="0">
                <a:solidFill>
                  <a:srgbClr val="586A80"/>
                </a:solidFill>
                <a:latin typeface="Arial"/>
              </a:defRPr>
            </a:pPr>
            <a:r>
              <a:rPr sz="74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Why split — different batching units</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898" b="0">
                <a:solidFill>
                  <a:srgbClr val="586A80"/>
                </a:solidFill>
                <a:latin typeface="Arial"/>
              </a:defRPr>
            </a:pPr>
            <a:r>
              <a:rPr sz="134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80238"/>
          </a:xfrm>
          <a:prstGeom prst="rect">
            <a:avLst/>
          </a:prstGeom>
          <a:noFill/>
        </p:spPr>
        <p:txBody>
          <a:bodyPr wrap="square" lIns="10287" tIns="10287" rIns="10287" bIns="10287">
            <a:spAutoFit/>
          </a:bodyPr>
          <a:lstStyle/>
          <a:p>
            <a:pPr>
              <a:spcAft>
                <a:spcPts val="375"/>
              </a:spcAft>
              <a:defRPr sz="1387" b="1">
                <a:solidFill>
                  <a:srgbClr val="AE641A"/>
                </a:solidFill>
                <a:latin typeface="Arial"/>
              </a:defRPr>
            </a:pPr>
            <a:r>
              <a:rPr sz="104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331597"/>
          </a:xfrm>
          <a:prstGeom prst="rect">
            <a:avLst/>
          </a:prstGeom>
          <a:noFill/>
        </p:spPr>
        <p:txBody>
          <a:bodyPr wrap="square" lIns="10287" tIns="10287" rIns="10287" bIns="10287">
            <a:spAutoFit/>
          </a:bodyPr>
          <a:lstStyle/>
          <a:p>
            <a:pPr>
              <a:spcAft>
                <a:spcPts val="375"/>
              </a:spcAft>
              <a:defRPr sz="2733" b="1">
                <a:solidFill>
                  <a:srgbClr val="087F8C"/>
                </a:solidFill>
                <a:latin typeface="Arial"/>
              </a:defRPr>
            </a:pPr>
            <a:r>
              <a:rPr sz="2050" cap="none">
                <a:latin typeface="Arial"/>
              </a:rPr>
              <a:t>Prefill</a:t>
            </a:r>
          </a:p>
        </p:txBody>
      </p:sp>
      <p:sp>
        <p:nvSpPr>
          <p:cNvPr id="14" name="TextBox 13"/>
          <p:cNvSpPr txBox="1"/>
          <p:nvPr/>
        </p:nvSpPr>
        <p:spPr>
          <a:xfrm>
            <a:off x="528066" y="2269998"/>
            <a:ext cx="3806190" cy="228193"/>
          </a:xfrm>
          <a:prstGeom prst="rect">
            <a:avLst/>
          </a:prstGeom>
          <a:noFill/>
        </p:spPr>
        <p:txBody>
          <a:bodyPr wrap="square" lIns="10287" tIns="10287" rIns="10287" bIns="10287">
            <a:spAutoFit/>
          </a:bodyPr>
          <a:lstStyle/>
          <a:p>
            <a:pPr>
              <a:spcAft>
                <a:spcPts val="375"/>
              </a:spcAft>
              <a:defRPr sz="1813" b="0">
                <a:solidFill>
                  <a:srgbClr val="172941"/>
                </a:solidFill>
                <a:latin typeface="Arial"/>
              </a:defRPr>
            </a:pPr>
            <a:r>
              <a:rPr sz="136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331597"/>
          </a:xfrm>
          <a:prstGeom prst="rect">
            <a:avLst/>
          </a:prstGeom>
          <a:noFill/>
        </p:spPr>
        <p:txBody>
          <a:bodyPr wrap="square" lIns="10287" tIns="10287" rIns="10287" bIns="10287">
            <a:spAutoFit/>
          </a:bodyPr>
          <a:lstStyle/>
          <a:p>
            <a:pPr>
              <a:spcAft>
                <a:spcPts val="375"/>
              </a:spcAft>
              <a:defRPr sz="2733" b="1">
                <a:solidFill>
                  <a:srgbClr val="7354B8"/>
                </a:solidFill>
                <a:latin typeface="Arial"/>
              </a:defRPr>
            </a:pPr>
            <a:r>
              <a:rPr sz="2050" cap="none">
                <a:latin typeface="Arial"/>
              </a:rPr>
              <a:t>Decode</a:t>
            </a:r>
          </a:p>
        </p:txBody>
      </p:sp>
      <p:sp>
        <p:nvSpPr>
          <p:cNvPr id="18" name="TextBox 17"/>
          <p:cNvSpPr txBox="1"/>
          <p:nvPr/>
        </p:nvSpPr>
        <p:spPr>
          <a:xfrm>
            <a:off x="4807458" y="2269998"/>
            <a:ext cx="3806190" cy="220700"/>
          </a:xfrm>
          <a:prstGeom prst="rect">
            <a:avLst/>
          </a:prstGeom>
          <a:noFill/>
        </p:spPr>
        <p:txBody>
          <a:bodyPr wrap="square" lIns="10287" tIns="10287" rIns="10287" bIns="10287">
            <a:spAutoFit/>
          </a:bodyPr>
          <a:lstStyle/>
          <a:p>
            <a:pPr>
              <a:spcAft>
                <a:spcPts val="375"/>
              </a:spcAft>
              <a:defRPr sz="1747" b="0">
                <a:solidFill>
                  <a:srgbClr val="172941"/>
                </a:solidFill>
                <a:latin typeface="Arial"/>
              </a:defRPr>
            </a:pPr>
            <a:r>
              <a:rPr sz="1310" cap="none">
                <a:latin typeface="Arial"/>
              </a:rPr>
              <a:t>One newest input position per active request</a:t>
            </a:r>
          </a:p>
        </p:txBody>
      </p:sp>
      <p:sp>
        <p:nvSpPr>
          <p:cNvPr id="19" name="TextBox 18"/>
          <p:cNvSpPr txBox="1"/>
          <p:nvPr/>
        </p:nvSpPr>
        <p:spPr>
          <a:xfrm>
            <a:off x="534924" y="2743200"/>
            <a:ext cx="918972" cy="205714"/>
          </a:xfrm>
          <a:prstGeom prst="rect">
            <a:avLst/>
          </a:prstGeom>
          <a:noFill/>
        </p:spPr>
        <p:txBody>
          <a:bodyPr wrap="square" lIns="10287" tIns="10287" rIns="10287" bIns="10287">
            <a:spAutoFit/>
          </a:bodyPr>
          <a:lstStyle/>
          <a:p>
            <a:pPr>
              <a:spcAft>
                <a:spcPts val="375"/>
              </a:spcAft>
              <a:defRPr sz="1613" b="1">
                <a:solidFill>
                  <a:srgbClr val="586A80"/>
                </a:solidFill>
                <a:latin typeface="Arial"/>
              </a:defRPr>
            </a:pPr>
            <a:r>
              <a:rPr sz="1210"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p4</a:t>
            </a:r>
          </a:p>
        </p:txBody>
      </p:sp>
      <p:sp>
        <p:nvSpPr>
          <p:cNvPr id="28" name="TextBox 27"/>
          <p:cNvSpPr txBox="1"/>
          <p:nvPr/>
        </p:nvSpPr>
        <p:spPr>
          <a:xfrm>
            <a:off x="534924" y="3140963"/>
            <a:ext cx="918972" cy="207213"/>
          </a:xfrm>
          <a:prstGeom prst="rect">
            <a:avLst/>
          </a:prstGeom>
          <a:noFill/>
        </p:spPr>
        <p:txBody>
          <a:bodyPr wrap="square" lIns="10287" tIns="10287" rIns="10287" bIns="10287">
            <a:spAutoFit/>
          </a:bodyPr>
          <a:lstStyle/>
          <a:p>
            <a:pPr>
              <a:spcAft>
                <a:spcPts val="375"/>
              </a:spcAft>
              <a:defRPr sz="1627" b="1">
                <a:solidFill>
                  <a:srgbClr val="586A80"/>
                </a:solidFill>
                <a:latin typeface="Arial"/>
              </a:defRPr>
            </a:pPr>
            <a:r>
              <a:rPr sz="1220"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68249"/>
          </a:xfrm>
          <a:prstGeom prst="rect">
            <a:avLst/>
          </a:prstGeom>
          <a:noFill/>
        </p:spPr>
        <p:txBody>
          <a:bodyPr wrap="square" lIns="10287" tIns="10287" rIns="10287" bIns="10287">
            <a:spAutoFit/>
          </a:bodyPr>
          <a:lstStyle/>
          <a:p>
            <a:pPr>
              <a:spcAft>
                <a:spcPts val="375"/>
              </a:spcAft>
              <a:defRPr sz="1280" b="1">
                <a:solidFill>
                  <a:srgbClr val="586A80"/>
                </a:solidFill>
                <a:latin typeface="Arial"/>
              </a:defRPr>
            </a:pPr>
            <a:r>
              <a:rPr sz="960" cap="none">
                <a:latin typeface="Arial"/>
              </a:rPr>
              <a:t>Request</a:t>
            </a:r>
          </a:p>
        </p:txBody>
      </p:sp>
      <p:sp>
        <p:nvSpPr>
          <p:cNvPr id="37" name="TextBox 36"/>
          <p:cNvSpPr txBox="1"/>
          <p:nvPr/>
        </p:nvSpPr>
        <p:spPr>
          <a:xfrm>
            <a:off x="5774436" y="2578608"/>
            <a:ext cx="898398" cy="166751"/>
          </a:xfrm>
          <a:prstGeom prst="rect">
            <a:avLst/>
          </a:prstGeom>
          <a:noFill/>
        </p:spPr>
        <p:txBody>
          <a:bodyPr wrap="square" lIns="10287" tIns="10287" rIns="10287" bIns="10287">
            <a:spAutoFit/>
          </a:bodyPr>
          <a:lstStyle/>
          <a:p>
            <a:pPr>
              <a:spcAft>
                <a:spcPts val="375"/>
              </a:spcAft>
              <a:defRPr sz="1267" b="1">
                <a:solidFill>
                  <a:srgbClr val="586A80"/>
                </a:solidFill>
                <a:latin typeface="Arial"/>
              </a:defRPr>
            </a:pPr>
            <a:r>
              <a:rPr sz="950" cap="none">
                <a:latin typeface="Arial"/>
              </a:rPr>
              <a:t>Read history</a:t>
            </a:r>
          </a:p>
        </p:txBody>
      </p:sp>
      <p:sp>
        <p:nvSpPr>
          <p:cNvPr id="38" name="TextBox 37"/>
          <p:cNvSpPr txBox="1"/>
          <p:nvPr/>
        </p:nvSpPr>
        <p:spPr>
          <a:xfrm>
            <a:off x="6933438" y="2578608"/>
            <a:ext cx="1611630" cy="168249"/>
          </a:xfrm>
          <a:prstGeom prst="rect">
            <a:avLst/>
          </a:prstGeom>
          <a:noFill/>
        </p:spPr>
        <p:txBody>
          <a:bodyPr wrap="square" lIns="10287" tIns="10287" rIns="10287" bIns="10287">
            <a:spAutoFit/>
          </a:bodyPr>
          <a:lstStyle/>
          <a:p>
            <a:pPr>
              <a:spcAft>
                <a:spcPts val="375"/>
              </a:spcAft>
              <a:defRPr sz="1280" b="1">
                <a:solidFill>
                  <a:srgbClr val="586A80"/>
                </a:solidFill>
                <a:latin typeface="Arial"/>
              </a:defRPr>
            </a:pPr>
            <a:r>
              <a:rPr sz="960" cap="none">
                <a:latin typeface="Arial"/>
              </a:rPr>
              <a:t>Consume newest input</a:t>
            </a:r>
          </a:p>
        </p:txBody>
      </p:sp>
      <p:sp>
        <p:nvSpPr>
          <p:cNvPr id="39" name="TextBox 38"/>
          <p:cNvSpPr txBox="1"/>
          <p:nvPr/>
        </p:nvSpPr>
        <p:spPr>
          <a:xfrm>
            <a:off x="4814316" y="2839211"/>
            <a:ext cx="829818" cy="228193"/>
          </a:xfrm>
          <a:prstGeom prst="rect">
            <a:avLst/>
          </a:prstGeom>
          <a:noFill/>
        </p:spPr>
        <p:txBody>
          <a:bodyPr wrap="square" lIns="10287" tIns="10287" rIns="10287" bIns="10287">
            <a:spAutoFit/>
          </a:bodyPr>
          <a:lstStyle/>
          <a:p>
            <a:pPr>
              <a:spcAft>
                <a:spcPts val="375"/>
              </a:spcAft>
              <a:defRPr sz="1813" b="1">
                <a:solidFill>
                  <a:srgbClr val="7354B8"/>
                </a:solidFill>
                <a:latin typeface="Arial"/>
              </a:defRPr>
            </a:pPr>
            <a:r>
              <a:rPr sz="136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90728"/>
          </a:xfrm>
          <a:prstGeom prst="rect">
            <a:avLst/>
          </a:prstGeom>
          <a:noFill/>
        </p:spPr>
        <p:txBody>
          <a:bodyPr wrap="square" lIns="10287" tIns="10287" rIns="10287" bIns="10287">
            <a:spAutoFit/>
          </a:bodyPr>
          <a:lstStyle/>
          <a:p>
            <a:pPr algn="ctr">
              <a:spcAft>
                <a:spcPts val="375"/>
              </a:spcAft>
              <a:defRPr sz="1480" b="1">
                <a:solidFill>
                  <a:srgbClr val="087F8C"/>
                </a:solidFill>
                <a:latin typeface="Arial"/>
              </a:defRPr>
            </a:pPr>
            <a:r>
              <a:rPr sz="1110" cap="none">
                <a:latin typeface="Arial"/>
              </a:rPr>
              <a:t>Prior KV</a:t>
            </a:r>
          </a:p>
        </p:txBody>
      </p:sp>
      <p:sp>
        <p:nvSpPr>
          <p:cNvPr id="42" name="TextBox 41"/>
          <p:cNvSpPr txBox="1"/>
          <p:nvPr/>
        </p:nvSpPr>
        <p:spPr>
          <a:xfrm>
            <a:off x="6665976" y="2825495"/>
            <a:ext cx="192024" cy="216204"/>
          </a:xfrm>
          <a:prstGeom prst="rect">
            <a:avLst/>
          </a:prstGeom>
          <a:noFill/>
        </p:spPr>
        <p:txBody>
          <a:bodyPr wrap="square" lIns="10287" tIns="10287" rIns="10287" bIns="10287">
            <a:spAutoFit/>
          </a:bodyPr>
          <a:lstStyle/>
          <a:p>
            <a:pPr algn="ctr">
              <a:spcAft>
                <a:spcPts val="375"/>
              </a:spcAft>
              <a:defRPr sz="1707" b="1">
                <a:solidFill>
                  <a:srgbClr val="586A80"/>
                </a:solidFill>
                <a:latin typeface="Arial"/>
              </a:defRPr>
            </a:pPr>
            <a:r>
              <a:rPr sz="1280"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90728"/>
          </a:xfrm>
          <a:prstGeom prst="rect">
            <a:avLst/>
          </a:prstGeom>
          <a:noFill/>
        </p:spPr>
        <p:txBody>
          <a:bodyPr wrap="square" lIns="10287" tIns="10287" rIns="10287" bIns="10287">
            <a:spAutoFit/>
          </a:bodyPr>
          <a:lstStyle/>
          <a:p>
            <a:pPr algn="ctr">
              <a:spcAft>
                <a:spcPts val="375"/>
              </a:spcAft>
              <a:defRPr sz="1480" b="1">
                <a:solidFill>
                  <a:srgbClr val="7354B8"/>
                </a:solidFill>
                <a:latin typeface="Arial"/>
              </a:defRPr>
            </a:pPr>
            <a:r>
              <a:rPr sz="1110" cap="none">
                <a:latin typeface="Arial"/>
              </a:rPr>
              <a:t>One token</a:t>
            </a:r>
          </a:p>
        </p:txBody>
      </p:sp>
      <p:sp>
        <p:nvSpPr>
          <p:cNvPr id="45" name="TextBox 44"/>
          <p:cNvSpPr txBox="1"/>
          <p:nvPr/>
        </p:nvSpPr>
        <p:spPr>
          <a:xfrm>
            <a:off x="4814316" y="3168396"/>
            <a:ext cx="829818" cy="228193"/>
          </a:xfrm>
          <a:prstGeom prst="rect">
            <a:avLst/>
          </a:prstGeom>
          <a:noFill/>
        </p:spPr>
        <p:txBody>
          <a:bodyPr wrap="square" lIns="10287" tIns="10287" rIns="10287" bIns="10287">
            <a:spAutoFit/>
          </a:bodyPr>
          <a:lstStyle/>
          <a:p>
            <a:pPr>
              <a:spcAft>
                <a:spcPts val="375"/>
              </a:spcAft>
              <a:defRPr sz="1813" b="1">
                <a:solidFill>
                  <a:srgbClr val="7354B8"/>
                </a:solidFill>
                <a:latin typeface="Arial"/>
              </a:defRPr>
            </a:pPr>
            <a:r>
              <a:rPr sz="136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90728"/>
          </a:xfrm>
          <a:prstGeom prst="rect">
            <a:avLst/>
          </a:prstGeom>
          <a:noFill/>
        </p:spPr>
        <p:txBody>
          <a:bodyPr wrap="square" lIns="10287" tIns="10287" rIns="10287" bIns="10287">
            <a:spAutoFit/>
          </a:bodyPr>
          <a:lstStyle/>
          <a:p>
            <a:pPr algn="ctr">
              <a:spcAft>
                <a:spcPts val="375"/>
              </a:spcAft>
              <a:defRPr sz="1480" b="1">
                <a:solidFill>
                  <a:srgbClr val="087F8C"/>
                </a:solidFill>
                <a:latin typeface="Arial"/>
              </a:defRPr>
            </a:pPr>
            <a:r>
              <a:rPr sz="1110" cap="none">
                <a:latin typeface="Arial"/>
              </a:rPr>
              <a:t>Prior KV</a:t>
            </a:r>
          </a:p>
        </p:txBody>
      </p:sp>
      <p:sp>
        <p:nvSpPr>
          <p:cNvPr id="48" name="TextBox 47"/>
          <p:cNvSpPr txBox="1"/>
          <p:nvPr/>
        </p:nvSpPr>
        <p:spPr>
          <a:xfrm>
            <a:off x="6665976" y="3154680"/>
            <a:ext cx="192024" cy="216204"/>
          </a:xfrm>
          <a:prstGeom prst="rect">
            <a:avLst/>
          </a:prstGeom>
          <a:noFill/>
        </p:spPr>
        <p:txBody>
          <a:bodyPr wrap="square" lIns="10287" tIns="10287" rIns="10287" bIns="10287">
            <a:spAutoFit/>
          </a:bodyPr>
          <a:lstStyle/>
          <a:p>
            <a:pPr algn="ctr">
              <a:spcAft>
                <a:spcPts val="375"/>
              </a:spcAft>
              <a:defRPr sz="1707" b="1">
                <a:solidFill>
                  <a:srgbClr val="586A80"/>
                </a:solidFill>
                <a:latin typeface="Arial"/>
              </a:defRPr>
            </a:pPr>
            <a:r>
              <a:rPr sz="1280"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90728"/>
          </a:xfrm>
          <a:prstGeom prst="rect">
            <a:avLst/>
          </a:prstGeom>
          <a:noFill/>
        </p:spPr>
        <p:txBody>
          <a:bodyPr wrap="square" lIns="10287" tIns="10287" rIns="10287" bIns="10287">
            <a:spAutoFit/>
          </a:bodyPr>
          <a:lstStyle/>
          <a:p>
            <a:pPr algn="ctr">
              <a:spcAft>
                <a:spcPts val="375"/>
              </a:spcAft>
              <a:defRPr sz="1480" b="1">
                <a:solidFill>
                  <a:srgbClr val="7354B8"/>
                </a:solidFill>
                <a:latin typeface="Arial"/>
              </a:defRPr>
            </a:pPr>
            <a:r>
              <a:rPr sz="1110" cap="none">
                <a:latin typeface="Arial"/>
              </a:rPr>
              <a:t>One token</a:t>
            </a:r>
          </a:p>
        </p:txBody>
      </p:sp>
      <p:sp>
        <p:nvSpPr>
          <p:cNvPr id="51" name="TextBox 50"/>
          <p:cNvSpPr txBox="1"/>
          <p:nvPr/>
        </p:nvSpPr>
        <p:spPr>
          <a:xfrm>
            <a:off x="4814316" y="3497580"/>
            <a:ext cx="829818" cy="228193"/>
          </a:xfrm>
          <a:prstGeom prst="rect">
            <a:avLst/>
          </a:prstGeom>
          <a:noFill/>
        </p:spPr>
        <p:txBody>
          <a:bodyPr wrap="square" lIns="10287" tIns="10287" rIns="10287" bIns="10287">
            <a:spAutoFit/>
          </a:bodyPr>
          <a:lstStyle/>
          <a:p>
            <a:pPr>
              <a:spcAft>
                <a:spcPts val="375"/>
              </a:spcAft>
              <a:defRPr sz="1813" b="1">
                <a:solidFill>
                  <a:srgbClr val="7354B8"/>
                </a:solidFill>
                <a:latin typeface="Arial"/>
              </a:defRPr>
            </a:pPr>
            <a:r>
              <a:rPr sz="136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90728"/>
          </a:xfrm>
          <a:prstGeom prst="rect">
            <a:avLst/>
          </a:prstGeom>
          <a:noFill/>
        </p:spPr>
        <p:txBody>
          <a:bodyPr wrap="square" lIns="10287" tIns="10287" rIns="10287" bIns="10287">
            <a:spAutoFit/>
          </a:bodyPr>
          <a:lstStyle/>
          <a:p>
            <a:pPr algn="ctr">
              <a:spcAft>
                <a:spcPts val="375"/>
              </a:spcAft>
              <a:defRPr sz="1480" b="1">
                <a:solidFill>
                  <a:srgbClr val="087F8C"/>
                </a:solidFill>
                <a:latin typeface="Arial"/>
              </a:defRPr>
            </a:pPr>
            <a:r>
              <a:rPr sz="1110" cap="none">
                <a:latin typeface="Arial"/>
              </a:rPr>
              <a:t>Prior KV</a:t>
            </a:r>
          </a:p>
        </p:txBody>
      </p:sp>
      <p:sp>
        <p:nvSpPr>
          <p:cNvPr id="54" name="TextBox 53"/>
          <p:cNvSpPr txBox="1"/>
          <p:nvPr/>
        </p:nvSpPr>
        <p:spPr>
          <a:xfrm>
            <a:off x="6665976" y="3483863"/>
            <a:ext cx="192024" cy="216204"/>
          </a:xfrm>
          <a:prstGeom prst="rect">
            <a:avLst/>
          </a:prstGeom>
          <a:noFill/>
        </p:spPr>
        <p:txBody>
          <a:bodyPr wrap="square" lIns="10287" tIns="10287" rIns="10287" bIns="10287">
            <a:spAutoFit/>
          </a:bodyPr>
          <a:lstStyle/>
          <a:p>
            <a:pPr algn="ctr">
              <a:spcAft>
                <a:spcPts val="375"/>
              </a:spcAft>
              <a:defRPr sz="1707" b="1">
                <a:solidFill>
                  <a:srgbClr val="586A80"/>
                </a:solidFill>
                <a:latin typeface="Arial"/>
              </a:defRPr>
            </a:pPr>
            <a:r>
              <a:rPr sz="1280"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90728"/>
          </a:xfrm>
          <a:prstGeom prst="rect">
            <a:avLst/>
          </a:prstGeom>
          <a:noFill/>
        </p:spPr>
        <p:txBody>
          <a:bodyPr wrap="square" lIns="10287" tIns="10287" rIns="10287" bIns="10287">
            <a:spAutoFit/>
          </a:bodyPr>
          <a:lstStyle/>
          <a:p>
            <a:pPr algn="ctr">
              <a:spcAft>
                <a:spcPts val="375"/>
              </a:spcAft>
              <a:defRPr sz="1480" b="1">
                <a:solidFill>
                  <a:srgbClr val="7354B8"/>
                </a:solidFill>
                <a:latin typeface="Arial"/>
              </a:defRPr>
            </a:pPr>
            <a:r>
              <a:rPr sz="1110" cap="none">
                <a:latin typeface="Arial"/>
              </a:rPr>
              <a:t>One token</a:t>
            </a:r>
          </a:p>
        </p:txBody>
      </p:sp>
      <p:sp>
        <p:nvSpPr>
          <p:cNvPr id="57" name="TextBox 56"/>
          <p:cNvSpPr txBox="1"/>
          <p:nvPr/>
        </p:nvSpPr>
        <p:spPr>
          <a:xfrm>
            <a:off x="4814316" y="3833623"/>
            <a:ext cx="3737610" cy="178739"/>
          </a:xfrm>
          <a:prstGeom prst="rect">
            <a:avLst/>
          </a:prstGeom>
          <a:noFill/>
        </p:spPr>
        <p:txBody>
          <a:bodyPr wrap="square" lIns="10287" tIns="10287" rIns="10287" bIns="10287">
            <a:spAutoFit/>
          </a:bodyPr>
          <a:lstStyle/>
          <a:p>
            <a:pPr>
              <a:spcAft>
                <a:spcPts val="375"/>
              </a:spcAft>
              <a:defRPr sz="1373" b="1">
                <a:solidFill>
                  <a:srgbClr val="7354B8"/>
                </a:solidFill>
                <a:latin typeface="Arial"/>
              </a:defRPr>
            </a:pPr>
            <a:r>
              <a:rPr sz="103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47" b="1">
                <a:solidFill>
                  <a:srgbClr val="AE641A"/>
                </a:solidFill>
                <a:latin typeface="Arial"/>
              </a:defRPr>
            </a:pPr>
            <a:r>
              <a:rPr sz="1010" cap="none">
                <a:latin typeface="Arial"/>
              </a:rPr>
              <a:t>More decode concurrency can increase ITL. Batch within latency and KV-memory budgets.</a:t>
            </a:r>
          </a:p>
        </p:txBody>
      </p:sp>
      <p:sp>
        <p:nvSpPr>
          <p:cNvPr id="59" name="TextBox 58"/>
          <p:cNvSpPr txBox="1"/>
          <p:nvPr/>
        </p:nvSpPr>
        <p:spPr>
          <a:xfrm>
            <a:off x="445770" y="4265676"/>
            <a:ext cx="8195310" cy="135280"/>
          </a:xfrm>
          <a:prstGeom prst="rect">
            <a:avLst/>
          </a:prstGeom>
          <a:noFill/>
        </p:spPr>
        <p:txBody>
          <a:bodyPr wrap="square" lIns="10287" tIns="10287" rIns="10287" bIns="10287">
            <a:spAutoFit/>
          </a:bodyPr>
          <a:lstStyle/>
          <a:p>
            <a:pPr>
              <a:spcAft>
                <a:spcPts val="375"/>
              </a:spcAft>
              <a:defRPr sz="986" b="0">
                <a:solidFill>
                  <a:srgbClr val="586A80"/>
                </a:solidFill>
                <a:latin typeface="Arial"/>
              </a:defRPr>
            </a:pPr>
            <a:r>
              <a:rPr sz="74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Why split — capacity control</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7" b="1">
                <a:solidFill>
                  <a:srgbClr val="172941"/>
                </a:solidFill>
                <a:latin typeface="Arial"/>
              </a:defRPr>
            </a:pPr>
            <a:r>
              <a:rPr sz="1130"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68249"/>
          </a:xfrm>
          <a:prstGeom prst="rect">
            <a:avLst/>
          </a:prstGeom>
          <a:noFill/>
        </p:spPr>
        <p:txBody>
          <a:bodyPr wrap="square" lIns="10287" tIns="10287" rIns="10287" bIns="10287">
            <a:spAutoFit/>
          </a:bodyPr>
          <a:lstStyle/>
          <a:p>
            <a:pPr>
              <a:spcAft>
                <a:spcPts val="375"/>
              </a:spcAft>
              <a:defRPr sz="1280" b="1">
                <a:solidFill>
                  <a:srgbClr val="087F8C"/>
                </a:solidFill>
                <a:latin typeface="Arial"/>
              </a:defRPr>
            </a:pPr>
            <a:r>
              <a:rPr sz="960" cap="none">
                <a:latin typeface="Arial"/>
              </a:rPr>
              <a:t>Input side</a:t>
            </a:r>
          </a:p>
        </p:txBody>
      </p:sp>
      <p:sp>
        <p:nvSpPr>
          <p:cNvPr id="13" name="TextBox 12"/>
          <p:cNvSpPr txBox="1"/>
          <p:nvPr/>
        </p:nvSpPr>
        <p:spPr>
          <a:xfrm>
            <a:off x="514350" y="2146554"/>
            <a:ext cx="3813048" cy="279146"/>
          </a:xfrm>
          <a:prstGeom prst="rect">
            <a:avLst/>
          </a:prstGeom>
          <a:noFill/>
        </p:spPr>
        <p:txBody>
          <a:bodyPr wrap="square" lIns="10287" tIns="10287" rIns="10287" bIns="10287">
            <a:spAutoFit/>
          </a:bodyPr>
          <a:lstStyle/>
          <a:p>
            <a:pPr>
              <a:spcAft>
                <a:spcPts val="375"/>
              </a:spcAft>
              <a:defRPr sz="2267" b="1">
                <a:solidFill>
                  <a:srgbClr val="087F8C"/>
                </a:solidFill>
                <a:latin typeface="Arial"/>
              </a:defRPr>
            </a:pPr>
            <a:r>
              <a:rPr sz="1700" cap="none">
                <a:latin typeface="Arial"/>
              </a:rPr>
              <a:t>Prompt-heavy demand</a:t>
            </a:r>
          </a:p>
        </p:txBody>
      </p:sp>
      <p:sp>
        <p:nvSpPr>
          <p:cNvPr id="14" name="TextBox 13"/>
          <p:cNvSpPr txBox="1"/>
          <p:nvPr/>
        </p:nvSpPr>
        <p:spPr>
          <a:xfrm>
            <a:off x="514350" y="2599182"/>
            <a:ext cx="3813048" cy="530580"/>
          </a:xfrm>
          <a:prstGeom prst="rect">
            <a:avLst/>
          </a:prstGeom>
          <a:noFill/>
        </p:spPr>
        <p:txBody>
          <a:bodyPr wrap="square" lIns="10287" tIns="10287" rIns="10287" bIns="10287">
            <a:spAutoFit/>
          </a:bodyPr>
          <a:lstStyle/>
          <a:p>
            <a:pPr>
              <a:spcAft>
                <a:spcPts val="375"/>
              </a:spcAft>
              <a:defRPr sz="2039" b="0">
                <a:solidFill>
                  <a:srgbClr val="172941"/>
                </a:solidFill>
                <a:latin typeface="Arial"/>
              </a:defRPr>
            </a:pPr>
            <a:r>
              <a:rPr sz="1530" cap="none">
                <a:latin typeface="Arial"/>
              </a:rPr>
              <a:t>Usually compute-bound; target TTFT.</a:t>
            </a:r>
          </a:p>
          <a:p>
            <a:pPr>
              <a:spcAft>
                <a:spcPts val="375"/>
              </a:spcAft>
              <a:defRPr sz="2039" b="0">
                <a:solidFill>
                  <a:srgbClr val="172941"/>
                </a:solidFill>
                <a:latin typeface="Arial"/>
              </a:defRPr>
            </a:pPr>
            <a:r>
              <a:rPr sz="153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68249"/>
          </a:xfrm>
          <a:prstGeom prst="rect">
            <a:avLst/>
          </a:prstGeom>
          <a:noFill/>
        </p:spPr>
        <p:txBody>
          <a:bodyPr wrap="square" lIns="10287" tIns="10287" rIns="10287" bIns="10287">
            <a:spAutoFit/>
          </a:bodyPr>
          <a:lstStyle/>
          <a:p>
            <a:pPr>
              <a:spcAft>
                <a:spcPts val="375"/>
              </a:spcAft>
              <a:defRPr sz="1280" b="1">
                <a:solidFill>
                  <a:srgbClr val="7354B8"/>
                </a:solidFill>
                <a:latin typeface="Arial"/>
              </a:defRPr>
            </a:pPr>
            <a:r>
              <a:rPr sz="960" cap="none">
                <a:latin typeface="Arial"/>
              </a:rPr>
              <a:t>Output side</a:t>
            </a:r>
          </a:p>
        </p:txBody>
      </p:sp>
      <p:sp>
        <p:nvSpPr>
          <p:cNvPr id="18" name="TextBox 17"/>
          <p:cNvSpPr txBox="1"/>
          <p:nvPr/>
        </p:nvSpPr>
        <p:spPr>
          <a:xfrm>
            <a:off x="4786884" y="2146554"/>
            <a:ext cx="3813048" cy="279146"/>
          </a:xfrm>
          <a:prstGeom prst="rect">
            <a:avLst/>
          </a:prstGeom>
          <a:noFill/>
        </p:spPr>
        <p:txBody>
          <a:bodyPr wrap="square" lIns="10287" tIns="10287" rIns="10287" bIns="10287">
            <a:spAutoFit/>
          </a:bodyPr>
          <a:lstStyle/>
          <a:p>
            <a:pPr>
              <a:spcAft>
                <a:spcPts val="375"/>
              </a:spcAft>
              <a:defRPr sz="2267" b="1">
                <a:solidFill>
                  <a:srgbClr val="7354B8"/>
                </a:solidFill>
                <a:latin typeface="Arial"/>
              </a:defRPr>
            </a:pPr>
            <a:r>
              <a:rPr sz="1700" cap="none">
                <a:latin typeface="Arial"/>
              </a:rPr>
              <a:t>Generation-heavy demand</a:t>
            </a:r>
          </a:p>
        </p:txBody>
      </p:sp>
      <p:sp>
        <p:nvSpPr>
          <p:cNvPr id="19" name="TextBox 18"/>
          <p:cNvSpPr txBox="1"/>
          <p:nvPr/>
        </p:nvSpPr>
        <p:spPr>
          <a:xfrm>
            <a:off x="4786884" y="2599182"/>
            <a:ext cx="3813048" cy="530580"/>
          </a:xfrm>
          <a:prstGeom prst="rect">
            <a:avLst/>
          </a:prstGeom>
          <a:noFill/>
        </p:spPr>
        <p:txBody>
          <a:bodyPr wrap="square" lIns="10287" tIns="10287" rIns="10287" bIns="10287">
            <a:spAutoFit/>
          </a:bodyPr>
          <a:lstStyle/>
          <a:p>
            <a:pPr>
              <a:spcAft>
                <a:spcPts val="375"/>
              </a:spcAft>
              <a:defRPr sz="2039" b="0">
                <a:solidFill>
                  <a:srgbClr val="172941"/>
                </a:solidFill>
                <a:latin typeface="Arial"/>
              </a:defRPr>
            </a:pPr>
            <a:r>
              <a:rPr sz="1530" cap="none">
                <a:latin typeface="Arial"/>
              </a:rPr>
              <a:t>Often bandwidth-bound; target ITL.</a:t>
            </a:r>
          </a:p>
          <a:p>
            <a:pPr>
              <a:spcAft>
                <a:spcPts val="375"/>
              </a:spcAft>
              <a:defRPr sz="2039" b="0">
                <a:solidFill>
                  <a:srgbClr val="172941"/>
                </a:solidFill>
                <a:latin typeface="Arial"/>
              </a:defRPr>
            </a:pPr>
            <a:r>
              <a:rPr sz="153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9692"/>
          </a:xfrm>
          <a:prstGeom prst="rect">
            <a:avLst/>
          </a:prstGeom>
          <a:noFill/>
        </p:spPr>
        <p:txBody>
          <a:bodyPr wrap="square" lIns="10287" tIns="10287" rIns="10287" bIns="10287">
            <a:spAutoFit/>
          </a:bodyPr>
          <a:lstStyle/>
          <a:p>
            <a:pPr algn="ctr">
              <a:spcAft>
                <a:spcPts val="375"/>
              </a:spcAft>
              <a:defRPr sz="1827" b="1">
                <a:solidFill>
                  <a:srgbClr val="7354B8"/>
                </a:solidFill>
                <a:latin typeface="Arial"/>
              </a:defRPr>
            </a:pPr>
            <a:r>
              <a:rPr sz="1370" cap="none">
                <a:latin typeface="Arial"/>
              </a:rPr>
              <a:t>Different capacity knobs</a:t>
            </a:r>
          </a:p>
        </p:txBody>
      </p:sp>
      <p:sp>
        <p:nvSpPr>
          <p:cNvPr id="31" name="TextBox 30"/>
          <p:cNvSpPr txBox="1"/>
          <p:nvPr/>
        </p:nvSpPr>
        <p:spPr>
          <a:xfrm>
            <a:off x="6165342" y="3792474"/>
            <a:ext cx="242087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Replicas, TP, batching policy</a:t>
            </a:r>
          </a:p>
        </p:txBody>
      </p:sp>
      <p:sp>
        <p:nvSpPr>
          <p:cNvPr id="32" name="TextBox 31"/>
          <p:cNvSpPr txBox="1"/>
          <p:nvPr/>
        </p:nvSpPr>
        <p:spPr>
          <a:xfrm>
            <a:off x="445770" y="4231386"/>
            <a:ext cx="8092440" cy="135280"/>
          </a:xfrm>
          <a:prstGeom prst="rect">
            <a:avLst/>
          </a:prstGeom>
          <a:noFill/>
        </p:spPr>
        <p:txBody>
          <a:bodyPr wrap="square" lIns="10287" tIns="10287" rIns="10287" bIns="10287">
            <a:spAutoFit/>
          </a:bodyPr>
          <a:lstStyle/>
          <a:p>
            <a:pPr>
              <a:spcAft>
                <a:spcPts val="375"/>
              </a:spcAft>
              <a:defRPr sz="986" b="0">
                <a:solidFill>
                  <a:srgbClr val="586A80"/>
                </a:solidFill>
                <a:latin typeface="Arial"/>
              </a:defRPr>
            </a:pPr>
            <a:r>
              <a:rPr sz="74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The problem</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318109"/>
          </a:xfrm>
          <a:prstGeom prst="rect">
            <a:avLst/>
          </a:prstGeom>
          <a:noFill/>
        </p:spPr>
        <p:txBody>
          <a:bodyPr wrap="square" lIns="10287" tIns="10287" rIns="10287" bIns="10287">
            <a:spAutoFit/>
          </a:bodyPr>
          <a:lstStyle/>
          <a:p>
            <a:pPr>
              <a:spcAft>
                <a:spcPts val="375"/>
              </a:spcAft>
              <a:defRPr sz="2613" b="1">
                <a:solidFill>
                  <a:srgbClr val="087F8C"/>
                </a:solidFill>
                <a:latin typeface="Arial"/>
              </a:defRPr>
            </a:pPr>
            <a:r>
              <a:rPr sz="1960"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67157"/>
          </a:xfrm>
          <a:prstGeom prst="rect">
            <a:avLst/>
          </a:prstGeom>
          <a:noFill/>
        </p:spPr>
        <p:txBody>
          <a:bodyPr wrap="square" lIns="10287" tIns="10287" rIns="10287" bIns="10287">
            <a:spAutoFit/>
          </a:bodyPr>
          <a:lstStyle/>
          <a:p>
            <a:pPr algn="ctr">
              <a:spcAft>
                <a:spcPts val="375"/>
              </a:spcAft>
              <a:defRPr sz="2160" b="1">
                <a:solidFill>
                  <a:srgbClr val="087F8C"/>
                </a:solidFill>
                <a:latin typeface="Arial"/>
              </a:defRPr>
            </a:pPr>
            <a:r>
              <a:rPr sz="1620" cap="none">
                <a:latin typeface="Arial"/>
              </a:rPr>
              <a:t>Prompt processing</a:t>
            </a:r>
          </a:p>
        </p:txBody>
      </p:sp>
      <p:sp>
        <p:nvSpPr>
          <p:cNvPr id="15" name="TextBox 14"/>
          <p:cNvSpPr txBox="1"/>
          <p:nvPr/>
        </p:nvSpPr>
        <p:spPr>
          <a:xfrm>
            <a:off x="692658" y="2750059"/>
            <a:ext cx="245516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Compute + latency</a:t>
            </a:r>
          </a:p>
        </p:txBody>
      </p:sp>
      <p:sp>
        <p:nvSpPr>
          <p:cNvPr id="16" name="TextBox 15"/>
          <p:cNvSpPr txBox="1"/>
          <p:nvPr/>
        </p:nvSpPr>
        <p:spPr>
          <a:xfrm>
            <a:off x="562356" y="3415285"/>
            <a:ext cx="2674620" cy="464642"/>
          </a:xfrm>
          <a:prstGeom prst="rect">
            <a:avLst/>
          </a:prstGeom>
          <a:noFill/>
        </p:spPr>
        <p:txBody>
          <a:bodyPr wrap="square" lIns="10287" tIns="10287" rIns="10287" bIns="10287">
            <a:spAutoFit/>
          </a:bodyPr>
          <a:lstStyle/>
          <a:p>
            <a:pPr>
              <a:spcAft>
                <a:spcPts val="375"/>
              </a:spcAft>
              <a:defRPr sz="1747" b="0">
                <a:solidFill>
                  <a:srgbClr val="087F8C"/>
                </a:solidFill>
                <a:latin typeface="Arial"/>
              </a:defRPr>
            </a:pPr>
            <a:r>
              <a:rPr sz="1310" cap="none">
                <a:latin typeface="Arial"/>
              </a:rPr>
              <a:t>Choose replicas and parallelism</a:t>
            </a:r>
          </a:p>
          <a:p>
            <a:pPr>
              <a:spcAft>
                <a:spcPts val="375"/>
              </a:spcAft>
              <a:defRPr sz="1747" b="0">
                <a:solidFill>
                  <a:srgbClr val="087F8C"/>
                </a:solidFill>
                <a:latin typeface="Arial"/>
              </a:defRPr>
            </a:pPr>
            <a:r>
              <a:rPr sz="1310"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318109"/>
          </a:xfrm>
          <a:prstGeom prst="rect">
            <a:avLst/>
          </a:prstGeom>
          <a:noFill/>
        </p:spPr>
        <p:txBody>
          <a:bodyPr wrap="square" lIns="10287" tIns="10287" rIns="10287" bIns="10287">
            <a:spAutoFit/>
          </a:bodyPr>
          <a:lstStyle/>
          <a:p>
            <a:pPr>
              <a:spcAft>
                <a:spcPts val="375"/>
              </a:spcAft>
              <a:defRPr sz="2613" b="1">
                <a:solidFill>
                  <a:srgbClr val="7354B8"/>
                </a:solidFill>
                <a:latin typeface="Arial"/>
              </a:defRPr>
            </a:pPr>
            <a:r>
              <a:rPr sz="1960"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67157"/>
          </a:xfrm>
          <a:prstGeom prst="rect">
            <a:avLst/>
          </a:prstGeom>
          <a:noFill/>
        </p:spPr>
        <p:txBody>
          <a:bodyPr wrap="square" lIns="10287" tIns="10287" rIns="10287" bIns="10287">
            <a:spAutoFit/>
          </a:bodyPr>
          <a:lstStyle/>
          <a:p>
            <a:pPr algn="ctr">
              <a:spcAft>
                <a:spcPts val="375"/>
              </a:spcAft>
              <a:defRPr sz="2160" b="1">
                <a:solidFill>
                  <a:srgbClr val="7354B8"/>
                </a:solidFill>
                <a:latin typeface="Arial"/>
              </a:defRPr>
            </a:pPr>
            <a:r>
              <a:rPr sz="1620" cap="none">
                <a:latin typeface="Arial"/>
              </a:rPr>
              <a:t>Token generation</a:t>
            </a:r>
          </a:p>
        </p:txBody>
      </p:sp>
      <p:sp>
        <p:nvSpPr>
          <p:cNvPr id="22" name="TextBox 21"/>
          <p:cNvSpPr txBox="1"/>
          <p:nvPr/>
        </p:nvSpPr>
        <p:spPr>
          <a:xfrm>
            <a:off x="5993892" y="2750059"/>
            <a:ext cx="245516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Bandwidth + active KV memory</a:t>
            </a:r>
          </a:p>
        </p:txBody>
      </p:sp>
      <p:sp>
        <p:nvSpPr>
          <p:cNvPr id="23" name="TextBox 22"/>
          <p:cNvSpPr txBox="1"/>
          <p:nvPr/>
        </p:nvSpPr>
        <p:spPr>
          <a:xfrm>
            <a:off x="5863590" y="3415285"/>
            <a:ext cx="2674620" cy="464642"/>
          </a:xfrm>
          <a:prstGeom prst="rect">
            <a:avLst/>
          </a:prstGeom>
          <a:noFill/>
        </p:spPr>
        <p:txBody>
          <a:bodyPr wrap="square" lIns="10287" tIns="10287" rIns="10287" bIns="10287">
            <a:spAutoFit/>
          </a:bodyPr>
          <a:lstStyle/>
          <a:p>
            <a:pPr>
              <a:spcAft>
                <a:spcPts val="375"/>
              </a:spcAft>
              <a:defRPr sz="1747" b="0">
                <a:solidFill>
                  <a:srgbClr val="7354B8"/>
                </a:solidFill>
                <a:latin typeface="Arial"/>
              </a:defRPr>
            </a:pPr>
            <a:r>
              <a:rPr sz="1310" cap="none">
                <a:latin typeface="Arial"/>
              </a:rPr>
              <a:t>Choose replicas and parallelism</a:t>
            </a:r>
          </a:p>
          <a:p>
            <a:pPr>
              <a:spcAft>
                <a:spcPts val="375"/>
              </a:spcAft>
              <a:defRPr sz="1747" b="0">
                <a:solidFill>
                  <a:srgbClr val="7354B8"/>
                </a:solidFill>
                <a:latin typeface="Arial"/>
              </a:defRPr>
            </a:pPr>
            <a:r>
              <a:rPr sz="1310"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3669"/>
          </a:xfrm>
          <a:prstGeom prst="rect">
            <a:avLst/>
          </a:prstGeom>
          <a:noFill/>
        </p:spPr>
        <p:txBody>
          <a:bodyPr wrap="square" lIns="10287" tIns="10287" rIns="10287" bIns="10287">
            <a:spAutoFit/>
          </a:bodyPr>
          <a:lstStyle/>
          <a:p>
            <a:pPr algn="ctr">
              <a:spcAft>
                <a:spcPts val="375"/>
              </a:spcAft>
              <a:defRPr sz="2039" b="1">
                <a:solidFill>
                  <a:srgbClr val="087F8C"/>
                </a:solidFill>
                <a:latin typeface="Arial"/>
              </a:defRPr>
            </a:pPr>
            <a:r>
              <a:rPr sz="1530" cap="none">
                <a:latin typeface="Arial"/>
              </a:rPr>
              <a:t>KV cache transfer</a:t>
            </a:r>
          </a:p>
        </p:txBody>
      </p:sp>
      <p:sp>
        <p:nvSpPr>
          <p:cNvPr id="26" name="TextBox 25"/>
          <p:cNvSpPr txBox="1"/>
          <p:nvPr/>
        </p:nvSpPr>
        <p:spPr>
          <a:xfrm>
            <a:off x="3552444" y="2983230"/>
            <a:ext cx="2023110" cy="473633"/>
          </a:xfrm>
          <a:prstGeom prst="rect">
            <a:avLst/>
          </a:prstGeom>
          <a:noFill/>
        </p:spPr>
        <p:txBody>
          <a:bodyPr wrap="square" lIns="10287" tIns="10287" rIns="10287" bIns="10287">
            <a:spAutoFit/>
          </a:bodyPr>
          <a:lstStyle/>
          <a:p>
            <a:pPr algn="ctr">
              <a:spcAft>
                <a:spcPts val="375"/>
              </a:spcAft>
              <a:defRPr sz="1787" b="0">
                <a:solidFill>
                  <a:srgbClr val="586A80"/>
                </a:solidFill>
                <a:latin typeface="Arial"/>
              </a:defRPr>
            </a:pPr>
            <a:r>
              <a:rPr sz="1340" cap="none">
                <a:latin typeface="Arial"/>
              </a:rPr>
              <a:t>New cost:</a:t>
            </a:r>
          </a:p>
          <a:p>
            <a:pPr algn="ctr">
              <a:spcAft>
                <a:spcPts val="375"/>
              </a:spcAft>
              <a:defRPr sz="1787" b="0">
                <a:solidFill>
                  <a:srgbClr val="586A80"/>
                </a:solidFill>
                <a:latin typeface="Arial"/>
              </a:defRPr>
            </a:pPr>
            <a:r>
              <a:rPr sz="1340"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The problem</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P/D fits when the phases need different shapes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Start with the traffic profile, not the architecture trend.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Rectangle 8"/>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0" name="TextBox 9"/>
          <p:cNvSpPr txBox="1"/>
          <p:nvPr/>
        </p:nvSpPr>
        <p:spPr>
          <a:xfrm>
            <a:off x="514350" y="1865376"/>
            <a:ext cx="2434590" cy="168249"/>
          </a:xfrm>
          <a:prstGeom prst="rect">
            <a:avLst/>
          </a:prstGeom>
          <a:noFill/>
        </p:spPr>
        <p:txBody>
          <a:bodyPr wrap="square" lIns="10287" tIns="10287" rIns="10287" bIns="10287">
            <a:spAutoFit/>
          </a:bodyPr>
          <a:lstStyle/>
          <a:p>
            <a:pPr>
              <a:spcAft>
                <a:spcPts val="375"/>
              </a:spcAft>
              <a:defRPr sz="1280" b="1">
                <a:solidFill>
                  <a:srgbClr val="087F8C"/>
                </a:solidFill>
                <a:latin typeface="Arial"/>
              </a:defRPr>
            </a:pPr>
            <a:r>
              <a:rPr sz="960" cap="none">
                <a:latin typeface="Arial"/>
              </a:rPr>
              <a:t>Prompt pressure</a:t>
            </a:r>
          </a:p>
        </p:txBody>
      </p:sp>
      <p:sp>
        <p:nvSpPr>
          <p:cNvPr id="11" name="TextBox 10"/>
          <p:cNvSpPr txBox="1"/>
          <p:nvPr/>
        </p:nvSpPr>
        <p:spPr>
          <a:xfrm>
            <a:off x="514350" y="2146554"/>
            <a:ext cx="2434590" cy="279146"/>
          </a:xfrm>
          <a:prstGeom prst="rect">
            <a:avLst/>
          </a:prstGeom>
          <a:noFill/>
        </p:spPr>
        <p:txBody>
          <a:bodyPr wrap="square" lIns="10287" tIns="10287" rIns="10287" bIns="10287">
            <a:spAutoFit/>
          </a:bodyPr>
          <a:lstStyle/>
          <a:p>
            <a:pPr>
              <a:spcAft>
                <a:spcPts val="375"/>
              </a:spcAft>
              <a:defRPr sz="2267" b="1">
                <a:solidFill>
                  <a:srgbClr val="087F8C"/>
                </a:solidFill>
                <a:latin typeface="Arial"/>
              </a:defRPr>
            </a:pPr>
            <a:r>
              <a:rPr sz="1700" cap="none">
                <a:latin typeface="Arial"/>
              </a:rPr>
              <a:t>Long prompts</a:t>
            </a:r>
          </a:p>
        </p:txBody>
      </p:sp>
      <p:sp>
        <p:nvSpPr>
          <p:cNvPr id="12" name="TextBox 11"/>
          <p:cNvSpPr txBox="1"/>
          <p:nvPr/>
        </p:nvSpPr>
        <p:spPr>
          <a:xfrm>
            <a:off x="514350" y="2599182"/>
            <a:ext cx="2434590" cy="521919"/>
          </a:xfrm>
          <a:prstGeom prst="rect">
            <a:avLst/>
          </a:prstGeom>
          <a:noFill/>
        </p:spPr>
        <p:txBody>
          <a:bodyPr wrap="square" lIns="10287" tIns="10287" rIns="10287" bIns="10287">
            <a:spAutoFit/>
          </a:bodyPr>
          <a:lstStyle/>
          <a:p>
            <a:pPr>
              <a:spcAft>
                <a:spcPts val="375"/>
              </a:spcAft>
              <a:defRPr sz="2213" b="0">
                <a:solidFill>
                  <a:srgbClr val="172941"/>
                </a:solidFill>
                <a:latin typeface="Arial"/>
              </a:defRPr>
            </a:pPr>
            <a:r>
              <a:rPr sz="1660" cap="none">
                <a:latin typeface="Arial"/>
              </a:rPr>
              <a:t>RAG and retrieval add significant prefill work.</a:t>
            </a:r>
          </a:p>
        </p:txBody>
      </p:sp>
      <p:sp>
        <p:nvSpPr>
          <p:cNvPr id="13" name="Rounded Rectangle 12"/>
          <p:cNvSpPr/>
          <p:nvPr/>
        </p:nvSpPr>
        <p:spPr>
          <a:xfrm>
            <a:off x="3216402"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Rectangle 13"/>
          <p:cNvSpPr/>
          <p:nvPr/>
        </p:nvSpPr>
        <p:spPr>
          <a:xfrm>
            <a:off x="3339845"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3353562" y="1865376"/>
            <a:ext cx="2434590" cy="168249"/>
          </a:xfrm>
          <a:prstGeom prst="rect">
            <a:avLst/>
          </a:prstGeom>
          <a:noFill/>
        </p:spPr>
        <p:txBody>
          <a:bodyPr wrap="square" lIns="10287" tIns="10287" rIns="10287" bIns="10287">
            <a:spAutoFit/>
          </a:bodyPr>
          <a:lstStyle/>
          <a:p>
            <a:pPr>
              <a:spcAft>
                <a:spcPts val="375"/>
              </a:spcAft>
              <a:defRPr sz="1280" b="1">
                <a:solidFill>
                  <a:srgbClr val="7354B8"/>
                </a:solidFill>
                <a:latin typeface="Arial"/>
              </a:defRPr>
            </a:pPr>
            <a:r>
              <a:rPr sz="960" cap="none">
                <a:latin typeface="Arial"/>
              </a:rPr>
              <a:t>Generation pressure</a:t>
            </a:r>
          </a:p>
        </p:txBody>
      </p:sp>
      <p:sp>
        <p:nvSpPr>
          <p:cNvPr id="16" name="TextBox 15"/>
          <p:cNvSpPr txBox="1"/>
          <p:nvPr/>
        </p:nvSpPr>
        <p:spPr>
          <a:xfrm>
            <a:off x="3353562" y="2146554"/>
            <a:ext cx="2434590" cy="279146"/>
          </a:xfrm>
          <a:prstGeom prst="rect">
            <a:avLst/>
          </a:prstGeom>
          <a:noFill/>
        </p:spPr>
        <p:txBody>
          <a:bodyPr wrap="square" lIns="10287" tIns="10287" rIns="10287" bIns="10287">
            <a:spAutoFit/>
          </a:bodyPr>
          <a:lstStyle/>
          <a:p>
            <a:pPr>
              <a:spcAft>
                <a:spcPts val="375"/>
              </a:spcAft>
              <a:defRPr sz="2267" b="1">
                <a:solidFill>
                  <a:srgbClr val="7354B8"/>
                </a:solidFill>
                <a:latin typeface="Arial"/>
              </a:defRPr>
            </a:pPr>
            <a:r>
              <a:rPr sz="1700" cap="none">
                <a:latin typeface="Arial"/>
              </a:rPr>
              <a:t>Long generations</a:t>
            </a:r>
          </a:p>
        </p:txBody>
      </p:sp>
      <p:sp>
        <p:nvSpPr>
          <p:cNvPr id="17" name="TextBox 16"/>
          <p:cNvSpPr txBox="1"/>
          <p:nvPr/>
        </p:nvSpPr>
        <p:spPr>
          <a:xfrm>
            <a:off x="3353562" y="2599182"/>
            <a:ext cx="2434590" cy="788669"/>
          </a:xfrm>
          <a:prstGeom prst="rect">
            <a:avLst/>
          </a:prstGeom>
          <a:noFill/>
        </p:spPr>
        <p:txBody>
          <a:bodyPr wrap="square" lIns="10287" tIns="10287" rIns="10287" bIns="10287">
            <a:spAutoFit/>
          </a:bodyPr>
          <a:lstStyle/>
          <a:p>
            <a:pPr>
              <a:spcAft>
                <a:spcPts val="375"/>
              </a:spcAft>
              <a:defRPr sz="2267" b="0">
                <a:solidFill>
                  <a:srgbClr val="172941"/>
                </a:solidFill>
                <a:latin typeface="Arial"/>
              </a:defRPr>
            </a:pPr>
            <a:r>
              <a:rPr sz="1700" cap="none">
                <a:latin typeface="Arial"/>
              </a:rPr>
              <a:t>High concurrency keeps decode busy and KV state resident.</a:t>
            </a:r>
          </a:p>
        </p:txBody>
      </p:sp>
      <p:sp>
        <p:nvSpPr>
          <p:cNvPr id="18" name="Rounded Rectangle 17"/>
          <p:cNvSpPr/>
          <p:nvPr/>
        </p:nvSpPr>
        <p:spPr>
          <a:xfrm>
            <a:off x="6055614" y="1611630"/>
            <a:ext cx="2708910" cy="23660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179058"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192773" y="1865376"/>
            <a:ext cx="2434590" cy="168249"/>
          </a:xfrm>
          <a:prstGeom prst="rect">
            <a:avLst/>
          </a:prstGeom>
          <a:noFill/>
        </p:spPr>
        <p:txBody>
          <a:bodyPr wrap="square" lIns="10287" tIns="10287" rIns="10287" bIns="10287">
            <a:spAutoFit/>
          </a:bodyPr>
          <a:lstStyle/>
          <a:p>
            <a:pPr>
              <a:spcAft>
                <a:spcPts val="375"/>
              </a:spcAft>
              <a:defRPr sz="1280" b="1">
                <a:solidFill>
                  <a:srgbClr val="2563EB"/>
                </a:solidFill>
                <a:latin typeface="Arial"/>
              </a:defRPr>
            </a:pPr>
            <a:r>
              <a:rPr sz="960" cap="none">
                <a:latin typeface="Arial"/>
              </a:rPr>
              <a:t>Capacity mismatch</a:t>
            </a:r>
          </a:p>
        </p:txBody>
      </p:sp>
      <p:sp>
        <p:nvSpPr>
          <p:cNvPr id="21" name="TextBox 20"/>
          <p:cNvSpPr txBox="1"/>
          <p:nvPr/>
        </p:nvSpPr>
        <p:spPr>
          <a:xfrm>
            <a:off x="6192773" y="2146554"/>
            <a:ext cx="2434590" cy="279146"/>
          </a:xfrm>
          <a:prstGeom prst="rect">
            <a:avLst/>
          </a:prstGeom>
          <a:noFill/>
        </p:spPr>
        <p:txBody>
          <a:bodyPr wrap="square" lIns="10287" tIns="10287" rIns="10287" bIns="10287">
            <a:spAutoFit/>
          </a:bodyPr>
          <a:lstStyle/>
          <a:p>
            <a:pPr>
              <a:spcAft>
                <a:spcPts val="375"/>
              </a:spcAft>
              <a:defRPr sz="2267" b="1">
                <a:solidFill>
                  <a:srgbClr val="2563EB"/>
                </a:solidFill>
                <a:latin typeface="Arial"/>
              </a:defRPr>
            </a:pPr>
            <a:r>
              <a:rPr sz="1700" cap="none">
                <a:latin typeface="Arial"/>
              </a:rPr>
              <a:t>Different resources</a:t>
            </a:r>
          </a:p>
        </p:txBody>
      </p:sp>
      <p:sp>
        <p:nvSpPr>
          <p:cNvPr id="22" name="TextBox 21"/>
          <p:cNvSpPr txBox="1"/>
          <p:nvPr/>
        </p:nvSpPr>
        <p:spPr>
          <a:xfrm>
            <a:off x="6192773" y="2599182"/>
            <a:ext cx="2434590" cy="788669"/>
          </a:xfrm>
          <a:prstGeom prst="rect">
            <a:avLst/>
          </a:prstGeom>
          <a:noFill/>
        </p:spPr>
        <p:txBody>
          <a:bodyPr wrap="square" lIns="10287" tIns="10287" rIns="10287" bIns="10287">
            <a:spAutoFit/>
          </a:bodyPr>
          <a:lstStyle/>
          <a:p>
            <a:pPr>
              <a:spcAft>
                <a:spcPts val="375"/>
              </a:spcAft>
              <a:defRPr sz="2267" b="0">
                <a:solidFill>
                  <a:srgbClr val="172941"/>
                </a:solidFill>
                <a:latin typeface="Arial"/>
              </a:defRPr>
            </a:pPr>
            <a:r>
              <a:rPr sz="1700" cap="none">
                <a:latin typeface="Arial"/>
              </a:rPr>
              <a:t>Each phase needs its own scaling or parallelism choices.</a:t>
            </a:r>
          </a:p>
        </p:txBody>
      </p:sp>
      <p:sp>
        <p:nvSpPr>
          <p:cNvPr id="23" name="TextBox 22"/>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4" name="TextBox 2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01 / The problem</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Keep aggregated serving when simplicity wins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P/D is an option, not a default.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Small workload + slow transfer fabric is a strong reason not to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6936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906524"/>
            <a:ext cx="3806190" cy="279146"/>
          </a:xfrm>
          <a:prstGeom prst="rect">
            <a:avLst/>
          </a:prstGeom>
          <a:noFill/>
        </p:spPr>
        <p:txBody>
          <a:bodyPr wrap="square" lIns="10287" tIns="10287" rIns="10287" bIns="10287">
            <a:spAutoFit/>
          </a:bodyPr>
          <a:lstStyle/>
          <a:p>
            <a:pPr>
              <a:spcAft>
                <a:spcPts val="375"/>
              </a:spcAft>
              <a:defRPr sz="2267" b="1">
                <a:solidFill>
                  <a:srgbClr val="2563EB"/>
                </a:solidFill>
                <a:latin typeface="Arial"/>
              </a:defRPr>
            </a:pPr>
            <a:r>
              <a:rPr sz="1700" cap="none">
                <a:latin typeface="Arial"/>
              </a:rPr>
              <a:t>When aggregated fits</a:t>
            </a:r>
          </a:p>
        </p:txBody>
      </p:sp>
      <p:sp>
        <p:nvSpPr>
          <p:cNvPr id="13" name="TextBox 12"/>
          <p:cNvSpPr txBox="1"/>
          <p:nvPr/>
        </p:nvSpPr>
        <p:spPr>
          <a:xfrm>
            <a:off x="514350" y="2359152"/>
            <a:ext cx="3806190" cy="1658535"/>
          </a:xfrm>
          <a:prstGeom prst="rect">
            <a:avLst/>
          </a:prstGeom>
          <a:noFill/>
        </p:spPr>
        <p:txBody>
          <a:bodyPr wrap="square" lIns="10287" tIns="10287" rIns="10287" bIns="10287">
            <a:spAutoFit/>
          </a:bodyPr>
          <a:lstStyle/>
          <a:p>
            <a:pPr>
              <a:spcAft>
                <a:spcPts val="375"/>
              </a:spcAft>
              <a:defRPr sz="2267" b="0">
                <a:solidFill>
                  <a:srgbClr val="172941"/>
                </a:solidFill>
                <a:latin typeface="Arial"/>
              </a:defRPr>
            </a:pPr>
            <a:r>
              <a:rPr sz="1700" cap="none">
                <a:latin typeface="Arial"/>
              </a:rPr>
              <a:t>Small models or short prompts</a:t>
            </a:r>
          </a:p>
          <a:p>
            <a:pPr>
              <a:spcAft>
                <a:spcPts val="375"/>
              </a:spcAft>
              <a:defRPr sz="2267" b="0">
                <a:solidFill>
                  <a:srgbClr val="172941"/>
                </a:solidFill>
                <a:latin typeface="Arial"/>
              </a:defRPr>
            </a:pPr>
            <a:endParaRPr sz="1500"/>
          </a:p>
          <a:p>
            <a:pPr>
              <a:spcAft>
                <a:spcPts val="375"/>
              </a:spcAft>
              <a:defRPr sz="2267" b="0">
                <a:solidFill>
                  <a:srgbClr val="172941"/>
                </a:solidFill>
                <a:latin typeface="Arial"/>
              </a:defRPr>
            </a:pPr>
            <a:r>
              <a:rPr sz="1700" cap="none">
                <a:latin typeface="Arial"/>
              </a:rPr>
              <a:t>Low request concurrency</a:t>
            </a:r>
          </a:p>
          <a:p>
            <a:pPr>
              <a:spcAft>
                <a:spcPts val="375"/>
              </a:spcAft>
              <a:defRPr sz="2267" b="0">
                <a:solidFill>
                  <a:srgbClr val="172941"/>
                </a:solidFill>
                <a:latin typeface="Arial"/>
              </a:defRPr>
            </a:pPr>
            <a:endParaRPr sz="1500"/>
          </a:p>
          <a:p>
            <a:pPr>
              <a:spcAft>
                <a:spcPts val="375"/>
              </a:spcAft>
              <a:defRPr sz="2267" b="0">
                <a:solidFill>
                  <a:srgbClr val="172941"/>
                </a:solidFill>
                <a:latin typeface="Arial"/>
              </a:defRPr>
            </a:pPr>
            <a:r>
              <a:rPr sz="1700" cap="none">
                <a:latin typeface="Arial"/>
              </a:rPr>
              <a:t>Simple, stable capacity needs</a:t>
            </a:r>
          </a:p>
        </p:txBody>
      </p:sp>
      <p:sp>
        <p:nvSpPr>
          <p:cNvPr id="14" name="Rounded Rectangle 13"/>
          <p:cNvSpPr/>
          <p:nvPr/>
        </p:nvSpPr>
        <p:spPr>
          <a:xfrm>
            <a:off x="4649724" y="1632204"/>
            <a:ext cx="4080510" cy="24345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773168" y="1769364"/>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786884" y="1906524"/>
            <a:ext cx="3806190" cy="279146"/>
          </a:xfrm>
          <a:prstGeom prst="rect">
            <a:avLst/>
          </a:prstGeom>
          <a:noFill/>
        </p:spPr>
        <p:txBody>
          <a:bodyPr wrap="square" lIns="10287" tIns="10287" rIns="10287" bIns="10287">
            <a:spAutoFit/>
          </a:bodyPr>
          <a:lstStyle/>
          <a:p>
            <a:pPr>
              <a:spcAft>
                <a:spcPts val="375"/>
              </a:spcAft>
              <a:defRPr sz="2267" b="1">
                <a:solidFill>
                  <a:srgbClr val="AE641A"/>
                </a:solidFill>
                <a:latin typeface="Arial"/>
              </a:defRPr>
            </a:pPr>
            <a:r>
              <a:rPr sz="1700" cap="none">
                <a:latin typeface="Arial"/>
              </a:rPr>
              <a:t>The split adds real costs</a:t>
            </a:r>
          </a:p>
        </p:txBody>
      </p:sp>
      <p:sp>
        <p:nvSpPr>
          <p:cNvPr id="17" name="TextBox 16"/>
          <p:cNvSpPr txBox="1"/>
          <p:nvPr/>
        </p:nvSpPr>
        <p:spPr>
          <a:xfrm>
            <a:off x="4786884" y="2359152"/>
            <a:ext cx="3806190" cy="1658535"/>
          </a:xfrm>
          <a:prstGeom prst="rect">
            <a:avLst/>
          </a:prstGeom>
          <a:noFill/>
        </p:spPr>
        <p:txBody>
          <a:bodyPr wrap="square" lIns="10287" tIns="10287" rIns="10287" bIns="10287">
            <a:spAutoFit/>
          </a:bodyPr>
          <a:lstStyle/>
          <a:p>
            <a:pPr>
              <a:spcAft>
                <a:spcPts val="375"/>
              </a:spcAft>
              <a:defRPr sz="2267" b="0">
                <a:solidFill>
                  <a:srgbClr val="172941"/>
                </a:solidFill>
                <a:latin typeface="Arial"/>
              </a:defRPr>
            </a:pPr>
            <a:r>
              <a:rPr sz="1700" cap="none">
                <a:latin typeface="Arial"/>
              </a:rPr>
              <a:t>KV transfer across the fabric</a:t>
            </a:r>
          </a:p>
          <a:p>
            <a:pPr>
              <a:spcAft>
                <a:spcPts val="375"/>
              </a:spcAft>
              <a:defRPr sz="2267" b="0">
                <a:solidFill>
                  <a:srgbClr val="172941"/>
                </a:solidFill>
                <a:latin typeface="Arial"/>
              </a:defRPr>
            </a:pPr>
            <a:endParaRPr sz="1500"/>
          </a:p>
          <a:p>
            <a:pPr>
              <a:spcAft>
                <a:spcPts val="375"/>
              </a:spcAft>
              <a:defRPr sz="2267" b="0">
                <a:solidFill>
                  <a:srgbClr val="172941"/>
                </a:solidFill>
                <a:latin typeface="Arial"/>
              </a:defRPr>
            </a:pPr>
            <a:r>
              <a:rPr sz="1700" cap="none">
                <a:latin typeface="Arial"/>
              </a:rPr>
              <a:t>More routing and runtime wiring</a:t>
            </a:r>
          </a:p>
          <a:p>
            <a:pPr>
              <a:spcAft>
                <a:spcPts val="375"/>
              </a:spcAft>
              <a:defRPr sz="2267" b="0">
                <a:solidFill>
                  <a:srgbClr val="172941"/>
                </a:solidFill>
                <a:latin typeface="Arial"/>
              </a:defRPr>
            </a:pPr>
            <a:endParaRPr sz="1500"/>
          </a:p>
          <a:p>
            <a:pPr>
              <a:spcAft>
                <a:spcPts val="375"/>
              </a:spcAft>
              <a:defRPr sz="2267" b="0">
                <a:solidFill>
                  <a:srgbClr val="172941"/>
                </a:solidFill>
                <a:latin typeface="Arial"/>
              </a:defRPr>
            </a:pPr>
            <a:r>
              <a:rPr sz="1700" cap="none">
                <a:latin typeface="Arial"/>
              </a:rPr>
              <a:t>Additional failure boundaries</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14 / 49</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02 / The orchestration gap</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67157"/>
          </a:xfrm>
          <a:prstGeom prst="rect">
            <a:avLst/>
          </a:prstGeom>
          <a:noFill/>
        </p:spPr>
        <p:txBody>
          <a:bodyPr wrap="square" lIns="10287" tIns="10287" rIns="10287" bIns="10287">
            <a:spAutoFit/>
          </a:bodyPr>
          <a:lstStyle/>
          <a:p>
            <a:pPr algn="ctr">
              <a:spcAft>
                <a:spcPts val="375"/>
              </a:spcAft>
              <a:defRPr sz="2160" b="1">
                <a:solidFill>
                  <a:srgbClr val="2563EB"/>
                </a:solidFill>
                <a:latin typeface="Arial"/>
              </a:defRPr>
            </a:pPr>
            <a:r>
              <a:rPr sz="1620" cap="none">
                <a:latin typeface="Arial"/>
              </a:rPr>
              <a:t>One model service</a:t>
            </a:r>
          </a:p>
        </p:txBody>
      </p:sp>
      <p:sp>
        <p:nvSpPr>
          <p:cNvPr id="13" name="TextBox 12"/>
          <p:cNvSpPr txBox="1"/>
          <p:nvPr/>
        </p:nvSpPr>
        <p:spPr>
          <a:xfrm>
            <a:off x="3415284" y="2770633"/>
            <a:ext cx="231800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53669"/>
          </a:xfrm>
          <a:prstGeom prst="rect">
            <a:avLst/>
          </a:prstGeom>
          <a:noFill/>
        </p:spPr>
        <p:txBody>
          <a:bodyPr wrap="square" lIns="10287" tIns="10287" rIns="10287" bIns="10287">
            <a:spAutoFit/>
          </a:bodyPr>
          <a:lstStyle/>
          <a:p>
            <a:pPr algn="ctr">
              <a:spcAft>
                <a:spcPts val="375"/>
              </a:spcAft>
              <a:defRPr sz="2039" b="1">
                <a:solidFill>
                  <a:srgbClr val="2563EB"/>
                </a:solidFill>
                <a:latin typeface="Arial"/>
              </a:defRPr>
            </a:pPr>
            <a:r>
              <a:rPr sz="1530" cap="none">
                <a:latin typeface="Arial"/>
              </a:rPr>
              <a:t>Routing topology</a:t>
            </a:r>
          </a:p>
        </p:txBody>
      </p:sp>
      <p:sp>
        <p:nvSpPr>
          <p:cNvPr id="17" name="TextBox 16"/>
          <p:cNvSpPr txBox="1"/>
          <p:nvPr/>
        </p:nvSpPr>
        <p:spPr>
          <a:xfrm>
            <a:off x="486918" y="1995679"/>
            <a:ext cx="235229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53669"/>
          </a:xfrm>
          <a:prstGeom prst="rect">
            <a:avLst/>
          </a:prstGeom>
          <a:noFill/>
        </p:spPr>
        <p:txBody>
          <a:bodyPr wrap="square" lIns="10287" tIns="10287" rIns="10287" bIns="10287">
            <a:spAutoFit/>
          </a:bodyPr>
          <a:lstStyle/>
          <a:p>
            <a:pPr algn="ctr">
              <a:spcAft>
                <a:spcPts val="375"/>
              </a:spcAft>
              <a:defRPr sz="2039" b="1">
                <a:solidFill>
                  <a:srgbClr val="087F8C"/>
                </a:solidFill>
                <a:latin typeface="Arial"/>
              </a:defRPr>
            </a:pPr>
            <a:r>
              <a:rPr sz="1530" cap="none">
                <a:latin typeface="Arial"/>
              </a:rPr>
              <a:t>KV-transfer contract</a:t>
            </a:r>
          </a:p>
        </p:txBody>
      </p:sp>
      <p:sp>
        <p:nvSpPr>
          <p:cNvPr id="21" name="TextBox 20"/>
          <p:cNvSpPr txBox="1"/>
          <p:nvPr/>
        </p:nvSpPr>
        <p:spPr>
          <a:xfrm>
            <a:off x="486918" y="3559303"/>
            <a:ext cx="2352294" cy="199720"/>
          </a:xfrm>
          <a:prstGeom prst="rect">
            <a:avLst/>
          </a:prstGeom>
          <a:noFill/>
        </p:spPr>
        <p:txBody>
          <a:bodyPr wrap="square" lIns="10287" tIns="10287" rIns="10287" bIns="10287">
            <a:spAutoFit/>
          </a:bodyPr>
          <a:lstStyle/>
          <a:p>
            <a:pPr algn="ctr">
              <a:spcAft>
                <a:spcPts val="375"/>
              </a:spcAft>
              <a:defRPr sz="1560" b="0">
                <a:solidFill>
                  <a:srgbClr val="586A80"/>
                </a:solidFill>
                <a:latin typeface="Arial"/>
              </a:defRPr>
            </a:pPr>
            <a:r>
              <a:rPr sz="117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53669"/>
          </a:xfrm>
          <a:prstGeom prst="rect">
            <a:avLst/>
          </a:prstGeom>
          <a:noFill/>
        </p:spPr>
        <p:txBody>
          <a:bodyPr wrap="square" lIns="10287" tIns="10287" rIns="10287" bIns="10287">
            <a:spAutoFit/>
          </a:bodyPr>
          <a:lstStyle/>
          <a:p>
            <a:pPr algn="ctr">
              <a:spcAft>
                <a:spcPts val="375"/>
              </a:spcAft>
              <a:defRPr sz="2039" b="1">
                <a:solidFill>
                  <a:srgbClr val="7354B8"/>
                </a:solidFill>
                <a:latin typeface="Arial"/>
              </a:defRPr>
            </a:pPr>
            <a:r>
              <a:rPr sz="1530" cap="none">
                <a:latin typeface="Arial"/>
              </a:rPr>
              <a:t>Decode-side proxy</a:t>
            </a:r>
          </a:p>
        </p:txBody>
      </p:sp>
      <p:sp>
        <p:nvSpPr>
          <p:cNvPr id="25" name="TextBox 24"/>
          <p:cNvSpPr txBox="1"/>
          <p:nvPr/>
        </p:nvSpPr>
        <p:spPr>
          <a:xfrm>
            <a:off x="6302502" y="1995679"/>
            <a:ext cx="235229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53669"/>
          </a:xfrm>
          <a:prstGeom prst="rect">
            <a:avLst/>
          </a:prstGeom>
          <a:noFill/>
        </p:spPr>
        <p:txBody>
          <a:bodyPr wrap="square" lIns="10287" tIns="10287" rIns="10287" bIns="10287">
            <a:spAutoFit/>
          </a:bodyPr>
          <a:lstStyle/>
          <a:p>
            <a:pPr algn="ctr">
              <a:spcAft>
                <a:spcPts val="375"/>
              </a:spcAft>
              <a:defRPr sz="2039" b="1">
                <a:solidFill>
                  <a:srgbClr val="AE641A"/>
                </a:solidFill>
                <a:latin typeface="Arial"/>
              </a:defRPr>
            </a:pPr>
            <a:r>
              <a:rPr sz="1530" cap="none">
                <a:latin typeface="Arial"/>
              </a:rPr>
              <a:t>Lifecycle + scaling</a:t>
            </a:r>
          </a:p>
        </p:txBody>
      </p:sp>
      <p:sp>
        <p:nvSpPr>
          <p:cNvPr id="29" name="TextBox 28"/>
          <p:cNvSpPr txBox="1"/>
          <p:nvPr/>
        </p:nvSpPr>
        <p:spPr>
          <a:xfrm>
            <a:off x="6302502" y="3559303"/>
            <a:ext cx="235229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15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02 / Ecosystem landscape</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2955" b="1">
                <a:solidFill>
                  <a:srgbClr val="172941"/>
                </a:solidFill>
                <a:latin typeface="Arial"/>
              </a:defRPr>
            </a:pPr>
            <a:r>
              <a:rPr sz="214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90728"/>
          </a:xfrm>
          <a:prstGeom prst="rect">
            <a:avLst/>
          </a:prstGeom>
          <a:noFill/>
        </p:spPr>
        <p:txBody>
          <a:bodyPr wrap="square" lIns="10287" tIns="10287" rIns="10287" bIns="10287">
            <a:spAutoFit/>
          </a:bodyPr>
          <a:lstStyle/>
          <a:p>
            <a:pPr>
              <a:spcAft>
                <a:spcPts val="375"/>
              </a:spcAft>
              <a:defRPr sz="1480" b="1">
                <a:solidFill>
                  <a:srgbClr val="FFFFFF"/>
                </a:solidFill>
                <a:latin typeface="Arial"/>
              </a:defRPr>
            </a:pPr>
            <a:r>
              <a:rPr sz="1110"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90728"/>
          </a:xfrm>
          <a:prstGeom prst="rect">
            <a:avLst/>
          </a:prstGeom>
          <a:noFill/>
        </p:spPr>
        <p:txBody>
          <a:bodyPr wrap="square" lIns="10287" tIns="10287" rIns="10287" bIns="10287">
            <a:spAutoFit/>
          </a:bodyPr>
          <a:lstStyle/>
          <a:p>
            <a:pPr>
              <a:spcAft>
                <a:spcPts val="375"/>
              </a:spcAft>
              <a:defRPr sz="1480" b="1">
                <a:solidFill>
                  <a:srgbClr val="FFFFFF"/>
                </a:solidFill>
                <a:latin typeface="Arial"/>
              </a:defRPr>
            </a:pPr>
            <a:r>
              <a:rPr sz="1110"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90728"/>
          </a:xfrm>
          <a:prstGeom prst="rect">
            <a:avLst/>
          </a:prstGeom>
          <a:noFill/>
        </p:spPr>
        <p:txBody>
          <a:bodyPr wrap="square" lIns="10287" tIns="10287" rIns="10287" bIns="10287">
            <a:spAutoFit/>
          </a:bodyPr>
          <a:lstStyle/>
          <a:p>
            <a:pPr>
              <a:spcAft>
                <a:spcPts val="375"/>
              </a:spcAft>
              <a:defRPr sz="1480" b="1">
                <a:solidFill>
                  <a:srgbClr val="FFFFFF"/>
                </a:solidFill>
                <a:latin typeface="Arial"/>
              </a:defRPr>
            </a:pPr>
            <a:r>
              <a:rPr sz="1110"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202717"/>
          </a:xfrm>
          <a:prstGeom prst="rect">
            <a:avLst/>
          </a:prstGeom>
          <a:noFill/>
        </p:spPr>
        <p:txBody>
          <a:bodyPr wrap="square" lIns="10287" tIns="10287" rIns="10287" bIns="10287">
            <a:spAutoFit/>
          </a:bodyPr>
          <a:lstStyle/>
          <a:p>
            <a:pPr>
              <a:spcAft>
                <a:spcPts val="375"/>
              </a:spcAft>
              <a:defRPr sz="1587" b="1">
                <a:solidFill>
                  <a:srgbClr val="2563EB"/>
                </a:solidFill>
                <a:latin typeface="Arial"/>
              </a:defRPr>
            </a:pPr>
            <a:r>
              <a:rPr sz="119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202717"/>
          </a:xfrm>
          <a:prstGeom prst="rect">
            <a:avLst/>
          </a:prstGeom>
          <a:noFill/>
        </p:spPr>
        <p:txBody>
          <a:bodyPr wrap="square" lIns="10287" tIns="10287" rIns="10287" bIns="10287">
            <a:spAutoFit/>
          </a:bodyPr>
          <a:lstStyle/>
          <a:p>
            <a:pPr>
              <a:spcAft>
                <a:spcPts val="375"/>
              </a:spcAft>
              <a:defRPr sz="1587" b="1">
                <a:solidFill>
                  <a:srgbClr val="2563EB"/>
                </a:solidFill>
                <a:latin typeface="Arial"/>
              </a:defRPr>
            </a:pPr>
            <a:r>
              <a:rPr sz="1190" cap="none">
                <a:latin typeface="Arial"/>
              </a:rPr>
              <a:t>llm-d</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202717"/>
          </a:xfrm>
          <a:prstGeom prst="rect">
            <a:avLst/>
          </a:prstGeom>
          <a:noFill/>
        </p:spPr>
        <p:txBody>
          <a:bodyPr wrap="square" lIns="10287" tIns="10287" rIns="10287" bIns="10287">
            <a:spAutoFit/>
          </a:bodyPr>
          <a:lstStyle/>
          <a:p>
            <a:pPr>
              <a:spcAft>
                <a:spcPts val="375"/>
              </a:spcAft>
              <a:defRPr sz="1587" b="1">
                <a:solidFill>
                  <a:srgbClr val="2563EB"/>
                </a:solidFill>
                <a:latin typeface="Arial"/>
              </a:defRPr>
            </a:pPr>
            <a:r>
              <a:rPr sz="119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202717"/>
          </a:xfrm>
          <a:prstGeom prst="rect">
            <a:avLst/>
          </a:prstGeom>
          <a:noFill/>
        </p:spPr>
        <p:txBody>
          <a:bodyPr wrap="square" lIns="10287" tIns="10287" rIns="10287" bIns="10287">
            <a:spAutoFit/>
          </a:bodyPr>
          <a:lstStyle/>
          <a:p>
            <a:pPr>
              <a:spcAft>
                <a:spcPts val="375"/>
              </a:spcAft>
              <a:defRPr sz="1587" b="1">
                <a:solidFill>
                  <a:srgbClr val="2563EB"/>
                </a:solidFill>
                <a:latin typeface="Arial"/>
              </a:defRPr>
            </a:pPr>
            <a:r>
              <a:rPr sz="1190" cap="none">
                <a:latin typeface="Arial"/>
              </a:rPr>
              <a:t>KServe + llm-d</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202717"/>
          </a:xfrm>
          <a:prstGeom prst="rect">
            <a:avLst/>
          </a:prstGeom>
          <a:noFill/>
        </p:spPr>
        <p:txBody>
          <a:bodyPr wrap="square" lIns="10287" tIns="10287" rIns="10287" bIns="10287">
            <a:spAutoFit/>
          </a:bodyPr>
          <a:lstStyle/>
          <a:p>
            <a:pPr>
              <a:spcAft>
                <a:spcPts val="375"/>
              </a:spcAft>
              <a:defRPr sz="1587" b="1">
                <a:solidFill>
                  <a:srgbClr val="2563EB"/>
                </a:solidFill>
                <a:latin typeface="Arial"/>
              </a:defRPr>
            </a:pPr>
            <a:r>
              <a:rPr sz="119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202717"/>
          </a:xfrm>
          <a:prstGeom prst="rect">
            <a:avLst/>
          </a:prstGeom>
          <a:noFill/>
        </p:spPr>
        <p:txBody>
          <a:bodyPr wrap="square" lIns="10287" tIns="10287" rIns="10287" bIns="10287">
            <a:spAutoFit/>
          </a:bodyPr>
          <a:lstStyle/>
          <a:p>
            <a:pPr>
              <a:spcAft>
                <a:spcPts val="375"/>
              </a:spcAft>
              <a:defRPr sz="1587" b="1">
                <a:solidFill>
                  <a:srgbClr val="2563EB"/>
                </a:solidFill>
                <a:latin typeface="Arial"/>
              </a:defRPr>
            </a:pPr>
            <a:r>
              <a:rPr sz="119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202717"/>
          </a:xfrm>
          <a:prstGeom prst="rect">
            <a:avLst/>
          </a:prstGeom>
          <a:noFill/>
        </p:spPr>
        <p:txBody>
          <a:bodyPr wrap="square" lIns="10287" tIns="10287" rIns="10287" bIns="10287">
            <a:spAutoFit/>
          </a:bodyPr>
          <a:lstStyle/>
          <a:p>
            <a:pPr>
              <a:spcAft>
                <a:spcPts val="375"/>
              </a:spcAft>
              <a:defRPr sz="1587" b="0">
                <a:solidFill>
                  <a:srgbClr val="172941"/>
                </a:solidFill>
                <a:latin typeface="Arial"/>
              </a:defRPr>
            </a:pPr>
            <a:r>
              <a:rPr sz="119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216204"/>
          </a:xfrm>
          <a:prstGeom prst="rect">
            <a:avLst/>
          </a:prstGeom>
          <a:noFill/>
        </p:spPr>
        <p:txBody>
          <a:bodyPr wrap="square" lIns="10287" tIns="10287" rIns="10287" bIns="10287">
            <a:spAutoFit/>
          </a:bodyPr>
          <a:lstStyle/>
          <a:p>
            <a:pPr>
              <a:spcAft>
                <a:spcPts val="375"/>
              </a:spcAft>
              <a:defRPr sz="1707" b="0">
                <a:solidFill>
                  <a:srgbClr val="087F8C"/>
                </a:solidFill>
                <a:latin typeface="Arial"/>
              </a:defRPr>
            </a:pPr>
            <a:r>
              <a:rPr sz="1280"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16 / 49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03 / Integration rationale</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92633"/>
          </a:xfrm>
          <a:prstGeom prst="rect">
            <a:avLst/>
          </a:prstGeom>
          <a:noFill/>
        </p:spPr>
        <p:txBody>
          <a:bodyPr wrap="square" lIns="10287" tIns="10287" rIns="10287" bIns="10287">
            <a:spAutoFit/>
          </a:bodyPr>
          <a:lstStyle/>
          <a:p>
            <a:pPr algn="ctr">
              <a:spcAft>
                <a:spcPts val="375"/>
              </a:spcAft>
              <a:defRPr sz="2387" b="1">
                <a:solidFill>
                  <a:srgbClr val="2563EB"/>
                </a:solidFill>
                <a:latin typeface="Arial"/>
              </a:defRPr>
            </a:pPr>
            <a:r>
              <a:rPr sz="1789" cap="none">
                <a:latin typeface="Arial"/>
              </a:rPr>
              <a:t>KAITO</a:t>
            </a:r>
          </a:p>
        </p:txBody>
      </p:sp>
      <p:sp>
        <p:nvSpPr>
          <p:cNvPr id="13" name="TextBox 12"/>
          <p:cNvSpPr txBox="1"/>
          <p:nvPr/>
        </p:nvSpPr>
        <p:spPr>
          <a:xfrm>
            <a:off x="486918" y="1899667"/>
            <a:ext cx="2263140"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92633"/>
          </a:xfrm>
          <a:prstGeom prst="rect">
            <a:avLst/>
          </a:prstGeom>
          <a:noFill/>
        </p:spPr>
        <p:txBody>
          <a:bodyPr wrap="square" lIns="10287" tIns="10287" rIns="10287" bIns="10287">
            <a:spAutoFit/>
          </a:bodyPr>
          <a:lstStyle/>
          <a:p>
            <a:pPr algn="ctr">
              <a:spcAft>
                <a:spcPts val="375"/>
              </a:spcAft>
              <a:defRPr sz="2387" b="1">
                <a:solidFill>
                  <a:srgbClr val="087F8C"/>
                </a:solidFill>
                <a:latin typeface="Arial"/>
              </a:defRPr>
            </a:pPr>
            <a:r>
              <a:rPr sz="1789" cap="none">
                <a:latin typeface="Arial"/>
              </a:rPr>
              <a:t>llm-d</a:t>
            </a:r>
          </a:p>
        </p:txBody>
      </p:sp>
      <p:sp>
        <p:nvSpPr>
          <p:cNvPr id="17" name="TextBox 16"/>
          <p:cNvSpPr txBox="1"/>
          <p:nvPr/>
        </p:nvSpPr>
        <p:spPr>
          <a:xfrm>
            <a:off x="3442716" y="1899667"/>
            <a:ext cx="2263140" cy="201218"/>
          </a:xfrm>
          <a:prstGeom prst="rect">
            <a:avLst/>
          </a:prstGeom>
          <a:noFill/>
        </p:spPr>
        <p:txBody>
          <a:bodyPr wrap="square" lIns="10287" tIns="10287" rIns="10287" bIns="10287">
            <a:spAutoFit/>
          </a:bodyPr>
          <a:lstStyle/>
          <a:p>
            <a:pPr algn="ctr">
              <a:spcAft>
                <a:spcPts val="375"/>
              </a:spcAft>
              <a:defRPr sz="1573" b="0">
                <a:solidFill>
                  <a:srgbClr val="586A80"/>
                </a:solidFill>
                <a:latin typeface="Arial"/>
              </a:defRPr>
            </a:pPr>
            <a:r>
              <a:rPr sz="118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92633"/>
          </a:xfrm>
          <a:prstGeom prst="rect">
            <a:avLst/>
          </a:prstGeom>
          <a:noFill/>
        </p:spPr>
        <p:txBody>
          <a:bodyPr wrap="square" lIns="10287" tIns="10287" rIns="10287" bIns="10287">
            <a:spAutoFit/>
          </a:bodyPr>
          <a:lstStyle/>
          <a:p>
            <a:pPr algn="ctr">
              <a:spcAft>
                <a:spcPts val="375"/>
              </a:spcAft>
              <a:defRPr sz="2387" b="1">
                <a:solidFill>
                  <a:srgbClr val="7354B8"/>
                </a:solidFill>
                <a:latin typeface="Arial"/>
              </a:defRPr>
            </a:pPr>
            <a:r>
              <a:rPr sz="1789" cap="none">
                <a:latin typeface="Arial"/>
              </a:rPr>
              <a:t>vLLM + NIXL</a:t>
            </a:r>
          </a:p>
        </p:txBody>
      </p:sp>
      <p:sp>
        <p:nvSpPr>
          <p:cNvPr id="21" name="TextBox 20"/>
          <p:cNvSpPr txBox="1"/>
          <p:nvPr/>
        </p:nvSpPr>
        <p:spPr>
          <a:xfrm>
            <a:off x="6398514" y="1899667"/>
            <a:ext cx="2256282"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Execute phases + move KV</a:t>
            </a:r>
          </a:p>
        </p:txBody>
      </p:sp>
      <p:sp>
        <p:nvSpPr>
          <p:cNvPr id="22" name="TextBox 21"/>
          <p:cNvSpPr txBox="1"/>
          <p:nvPr/>
        </p:nvSpPr>
        <p:spPr>
          <a:xfrm>
            <a:off x="2907792" y="1728216"/>
            <a:ext cx="370332" cy="357073"/>
          </a:xfrm>
          <a:prstGeom prst="rect">
            <a:avLst/>
          </a:prstGeom>
          <a:noFill/>
        </p:spPr>
        <p:txBody>
          <a:bodyPr wrap="square" lIns="10287" tIns="10287" rIns="10287" bIns="10287">
            <a:spAutoFit/>
          </a:bodyPr>
          <a:lstStyle/>
          <a:p>
            <a:pPr algn="ctr">
              <a:spcAft>
                <a:spcPts val="375"/>
              </a:spcAft>
              <a:defRPr sz="2960" b="1">
                <a:solidFill>
                  <a:srgbClr val="586A80"/>
                </a:solidFill>
                <a:latin typeface="Arial"/>
              </a:defRPr>
            </a:pPr>
            <a:r>
              <a:rPr sz="2220" cap="none">
                <a:latin typeface="Arial"/>
              </a:rPr>
              <a:t>+</a:t>
            </a:r>
          </a:p>
        </p:txBody>
      </p:sp>
      <p:sp>
        <p:nvSpPr>
          <p:cNvPr id="23" name="TextBox 22"/>
          <p:cNvSpPr txBox="1"/>
          <p:nvPr/>
        </p:nvSpPr>
        <p:spPr>
          <a:xfrm>
            <a:off x="5863590" y="1728216"/>
            <a:ext cx="370332" cy="357073"/>
          </a:xfrm>
          <a:prstGeom prst="rect">
            <a:avLst/>
          </a:prstGeom>
          <a:noFill/>
        </p:spPr>
        <p:txBody>
          <a:bodyPr wrap="square" lIns="10287" tIns="10287" rIns="10287" bIns="10287">
            <a:spAutoFit/>
          </a:bodyPr>
          <a:lstStyle/>
          <a:p>
            <a:pPr algn="ctr">
              <a:spcAft>
                <a:spcPts val="375"/>
              </a:spcAft>
              <a:defRPr sz="2960" b="1">
                <a:solidFill>
                  <a:srgbClr val="586A80"/>
                </a:solidFill>
                <a:latin typeface="Arial"/>
              </a:defRPr>
            </a:pPr>
            <a:r>
              <a:rPr sz="222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67157"/>
          </a:xfrm>
          <a:prstGeom prst="rect">
            <a:avLst/>
          </a:prstGeom>
          <a:noFill/>
        </p:spPr>
        <p:txBody>
          <a:bodyPr wrap="square" lIns="10287" tIns="10287" rIns="10287" bIns="10287">
            <a:spAutoFit/>
          </a:bodyPr>
          <a:lstStyle/>
          <a:p>
            <a:pPr>
              <a:spcAft>
                <a:spcPts val="375"/>
              </a:spcAft>
              <a:defRPr sz="2160" b="1">
                <a:solidFill>
                  <a:srgbClr val="2563EB"/>
                </a:solidFill>
                <a:latin typeface="Arial"/>
              </a:defRPr>
            </a:pPr>
            <a:r>
              <a:rPr sz="1620" cap="none">
                <a:latin typeface="Arial"/>
              </a:rPr>
              <a:t>Reuse the API model</a:t>
            </a:r>
          </a:p>
        </p:txBody>
      </p:sp>
      <p:sp>
        <p:nvSpPr>
          <p:cNvPr id="27" name="TextBox 26"/>
          <p:cNvSpPr txBox="1"/>
          <p:nvPr/>
        </p:nvSpPr>
        <p:spPr>
          <a:xfrm>
            <a:off x="514350" y="3182112"/>
            <a:ext cx="2434590" cy="762762"/>
          </a:xfrm>
          <a:prstGeom prst="rect">
            <a:avLst/>
          </a:prstGeom>
          <a:noFill/>
        </p:spPr>
        <p:txBody>
          <a:bodyPr wrap="square" lIns="10287" tIns="10287" rIns="10287" bIns="10287">
            <a:spAutoFit/>
          </a:bodyPr>
          <a:lstStyle/>
          <a:p>
            <a:pPr>
              <a:spcAft>
                <a:spcPts val="375"/>
              </a:spcAft>
              <a:defRPr sz="1440" b="0">
                <a:solidFill>
                  <a:srgbClr val="172941"/>
                </a:solidFill>
                <a:latin typeface="Arial"/>
              </a:defRPr>
            </a:pPr>
            <a:r>
              <a:rPr sz="1080" cap="none">
                <a:latin typeface="Arial"/>
              </a:rPr>
              <a:t>Keep Workspace / InferenceSet.</a:t>
            </a:r>
          </a:p>
          <a:p>
            <a:pPr>
              <a:spcAft>
                <a:spcPts val="375"/>
              </a:spcAft>
              <a:defRPr sz="1440" b="0">
                <a:solidFill>
                  <a:srgbClr val="172941"/>
                </a:solidFill>
                <a:latin typeface="Arial"/>
              </a:defRPr>
            </a:pPr>
            <a:r>
              <a:rPr sz="1080" cap="none">
                <a:latin typeface="Arial"/>
              </a:rPr>
              <a:t>Add role-specific replicas, GPU</a:t>
            </a:r>
          </a:p>
          <a:p>
            <a:pPr>
              <a:spcAft>
                <a:spcPts val="375"/>
              </a:spcAft>
              <a:defRPr sz="1440" b="0">
                <a:solidFill>
                  <a:srgbClr val="172941"/>
                </a:solidFill>
                <a:latin typeface="Arial"/>
              </a:defRPr>
            </a:pPr>
            <a:r>
              <a:rPr sz="108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79146"/>
          </a:xfrm>
          <a:prstGeom prst="rect">
            <a:avLst/>
          </a:prstGeom>
          <a:noFill/>
        </p:spPr>
        <p:txBody>
          <a:bodyPr wrap="square" lIns="10287" tIns="10287" rIns="10287" bIns="10287">
            <a:spAutoFit/>
          </a:bodyPr>
          <a:lstStyle/>
          <a:p>
            <a:pPr>
              <a:spcAft>
                <a:spcPts val="375"/>
              </a:spcAft>
              <a:defRPr sz="2267" b="1">
                <a:solidFill>
                  <a:srgbClr val="7354B8"/>
                </a:solidFill>
                <a:latin typeface="Arial"/>
              </a:defRPr>
            </a:pPr>
            <a:r>
              <a:rPr sz="17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40" b="0">
                <a:solidFill>
                  <a:srgbClr val="172941"/>
                </a:solidFill>
                <a:latin typeface="Arial"/>
              </a:defRPr>
            </a:pPr>
            <a:r>
              <a:rPr sz="1080" cap="none">
                <a:latin typeface="Arial"/>
              </a:rPr>
              <a:t>Use Gateway API / InferencePool.</a:t>
            </a:r>
          </a:p>
          <a:p>
            <a:pPr>
              <a:spcAft>
                <a:spcPts val="375"/>
              </a:spcAft>
              <a:defRPr sz="1440" b="0">
                <a:solidFill>
                  <a:srgbClr val="172941"/>
                </a:solidFill>
                <a:latin typeface="Arial"/>
              </a:defRPr>
            </a:pPr>
            <a:r>
              <a:rPr sz="1080" cap="none">
                <a:latin typeface="Arial"/>
              </a:rPr>
              <a:t>Keep routing plugins upstream;</a:t>
            </a:r>
          </a:p>
          <a:p>
            <a:pPr>
              <a:spcAft>
                <a:spcPts val="375"/>
              </a:spcAft>
              <a:defRPr sz="1440" b="0">
                <a:solidFill>
                  <a:srgbClr val="172941"/>
                </a:solidFill>
                <a:latin typeface="Arial"/>
              </a:defRPr>
            </a:pPr>
            <a:r>
              <a:rPr sz="1080" cap="none">
                <a:latin typeface="Arial"/>
              </a:rPr>
              <a:t>avoid adding a second serving API.</a:t>
            </a:r>
          </a:p>
        </p:txBody>
      </p:sp>
      <p:sp>
        <p:nvSpPr>
          <p:cNvPr id="36" name="TextBox 35"/>
          <p:cNvSpPr txBox="1"/>
          <p:nvPr/>
        </p:nvSpPr>
        <p:spPr>
          <a:xfrm>
            <a:off x="397764" y="3963924"/>
            <a:ext cx="8332470" cy="190728"/>
          </a:xfrm>
          <a:prstGeom prst="rect">
            <a:avLst/>
          </a:prstGeom>
          <a:noFill/>
        </p:spPr>
        <p:txBody>
          <a:bodyPr wrap="square" lIns="10287" tIns="10287" rIns="10287" bIns="10287">
            <a:spAutoFit/>
          </a:bodyPr>
          <a:lstStyle/>
          <a:p>
            <a:pPr>
              <a:spcAft>
                <a:spcPts val="375"/>
              </a:spcAft>
              <a:defRPr sz="1480" b="0">
                <a:solidFill>
                  <a:srgbClr val="586A80"/>
                </a:solidFill>
                <a:latin typeface="Arial"/>
              </a:defRPr>
            </a:pPr>
            <a:r>
              <a:rPr sz="1110"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17 / 49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48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48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48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48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48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48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18 / 49</a:t>
            </a:r>
          </a:p>
        </p:txBody>
      </p:sp>
    </p:spTree>
    <p:extLst>
      <p:ext uri="{BB962C8B-B14F-4D97-AF65-F5344CB8AC3E}">
        <p14:creationId xmlns:p14="http://schemas.microsoft.com/office/powerpoint/2010/main" val="3627209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82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70" b="0">
                <a:solidFill>
                  <a:srgbClr val="142C46"/>
                </a:solidFill>
                <a:latin typeface="Arial"/>
              </a:defRPr>
            </a:pPr>
            <a:r>
              <a:rPr cap="none"/>
              <a:t>Modular components</a:t>
            </a:r>
          </a:p>
          <a:p>
            <a:pPr>
              <a:spcAft>
                <a:spcPts val="500"/>
              </a:spcAft>
              <a:defRPr sz="1570" b="0">
                <a:solidFill>
                  <a:srgbClr val="142C46"/>
                </a:solidFill>
                <a:latin typeface="Arial"/>
              </a:defRPr>
            </a:pPr>
            <a:r>
              <a:rPr cap="none"/>
              <a:t>Kubernetes integration</a:t>
            </a:r>
          </a:p>
          <a:p>
            <a:pPr>
              <a:spcAft>
                <a:spcPts val="500"/>
              </a:spcAft>
              <a:defRPr sz="157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82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Gateway integration</a:t>
            </a:r>
          </a:p>
          <a:p>
            <a:pPr>
              <a:spcAft>
                <a:spcPts val="500"/>
              </a:spcAft>
              <a:defRPr sz="1700" b="0">
                <a:solidFill>
                  <a:srgbClr val="142C46"/>
                </a:solidFill>
                <a:latin typeface="Arial"/>
              </a:defRPr>
            </a:pPr>
            <a:r>
              <a:rPr cap="none"/>
              <a:t>Extensible routing</a:t>
            </a:r>
          </a:p>
          <a:p>
            <a:pPr>
              <a:spcAft>
                <a:spcPts val="500"/>
              </a:spcAft>
              <a:defRPr sz="17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82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30" b="0">
                <a:solidFill>
                  <a:srgbClr val="142C46"/>
                </a:solidFill>
                <a:latin typeface="Arial"/>
              </a:defRPr>
            </a:pPr>
            <a:r>
              <a:rPr cap="none"/>
              <a:t>Tested reference paths</a:t>
            </a:r>
          </a:p>
          <a:p>
            <a:pPr>
              <a:spcAft>
                <a:spcPts val="500"/>
              </a:spcAft>
              <a:defRPr sz="1530" b="0">
                <a:solidFill>
                  <a:srgbClr val="142C46"/>
                </a:solidFill>
                <a:latin typeface="Arial"/>
              </a:defRPr>
            </a:pPr>
            <a:r>
              <a:rPr cap="none"/>
              <a:t>Explicit trade-offs</a:t>
            </a:r>
          </a:p>
          <a:p>
            <a:pPr>
              <a:spcAft>
                <a:spcPts val="500"/>
              </a:spcAft>
              <a:defRPr sz="153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19 / 49</a:t>
            </a:r>
          </a:p>
        </p:txBody>
      </p:sp>
    </p:spTree>
    <p:extLst>
      <p:ext uri="{BB962C8B-B14F-4D97-AF65-F5344CB8AC3E}">
        <p14:creationId xmlns:p14="http://schemas.microsoft.com/office/powerpoint/2010/main" val="12465624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82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36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82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34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82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36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82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36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20 / 49</a:t>
            </a:r>
          </a:p>
        </p:txBody>
      </p:sp>
    </p:spTree>
    <p:extLst>
      <p:ext uri="{BB962C8B-B14F-4D97-AF65-F5344CB8AC3E}">
        <p14:creationId xmlns:p14="http://schemas.microsoft.com/office/powerpoint/2010/main" val="10464560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82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82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82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46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82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48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21 / 49</a:t>
            </a:r>
          </a:p>
        </p:txBody>
      </p:sp>
    </p:spTree>
    <p:extLst>
      <p:ext uri="{BB962C8B-B14F-4D97-AF65-F5344CB8AC3E}">
        <p14:creationId xmlns:p14="http://schemas.microsoft.com/office/powerpoint/2010/main" val="18811374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3"/>
          </a:xfrm>
        </p:spPr>
        <p:txBody>
          <a:bodyPr lIns="0" rIns="0" tIns="0" bIns="0" wrap="none">
            <a:normAutofit/>
          </a:bodyPr>
          <a:lstStyle/>
          <a:p>
            <a:pPr>
              <a:defRPr/>
            </a:pPr>
            <a:r>
              <a:rPr lang="en-US" dirty="0" cap="none" sz="239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pPr>
              <a:defRPr/>
            </a:pPr>
            <a:r>
              <a:rPr lang="en-US" sz="135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pPr>
              <a:defRPr/>
            </a:pPr>
            <a:r>
              <a:rPr lang="en-US" sz="1390" b="1" dirty="0" cap="none">
                <a:solidFill>
                  <a:srgbClr val="142C46"/>
                </a:solidFill>
                <a:latin typeface="Arial"/>
              </a:rPr>
              <a:t>Model and GPU selection</a:t>
            </a:r>
            <a:br/>
            <a:r>
              <a:rPr cap="none" sz="1390">
                <a:solidFill>
                  <a:srgbClr val="142C46"/>
                </a:solidFill>
                <a:latin typeface="Arial"/>
              </a:rPr>
              <a:t>Node provisioning from model memory needs</a:t>
            </a:r>
            <a:br/>
            <a:r>
              <a:rPr cap="none" sz="1390">
                <a:solidFill>
                  <a:srgbClr val="142C46"/>
                </a:solidFill>
                <a:latin typeface="Arial"/>
              </a:rPr>
              <a:t>Model onboarding and local caching</a:t>
            </a:r>
            <a:br/>
            <a:r>
              <a:rPr cap="none" sz="1390">
                <a:solidFill>
                  <a:srgbClr val="142C46"/>
                </a:solidFill>
                <a:latin typeface="Arial"/>
              </a:rPr>
              <a:t>InferenceSet lifecycle and rolling upgrades</a:t>
            </a:r>
            <a:br/>
            <a:r>
              <a:rPr cap="none" sz="139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22 / 49</a:t>
            </a:r>
          </a:p>
        </p:txBody>
      </p:sp>
    </p:spTree>
    <p:extLst>
      <p:ext uri="{BB962C8B-B14F-4D97-AF65-F5344CB8AC3E}">
        <p14:creationId xmlns:p14="http://schemas.microsoft.com/office/powerpoint/2010/main" val="26212137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3"/>
          </a:xfrm>
        </p:spPr>
        <p:txBody>
          <a:bodyPr lIns="0" rIns="0" tIns="0" bIns="0" wrap="none">
            <a:normAutofit/>
          </a:bodyPr>
          <a:lstStyle/>
          <a:p>
            <a:pPr>
              <a:defRPr/>
            </a:pPr>
            <a:r>
              <a:rPr lang="en-US" dirty="0" cap="none" sz="239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pPr>
              <a:defRPr/>
            </a:pPr>
            <a:r>
              <a:rPr lang="en-US" sz="136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pPr>
              <a:defRPr/>
            </a:pPr>
            <a:r>
              <a:rPr lang="en-US" sz="1360" dirty="0" cap="none">
                <a:solidFill>
                  <a:srgbClr val="142C46"/>
                </a:solidFill>
                <a:latin typeface="Consolas" panose="020B0609020204030204" pitchFamily="49" charset="0"/>
              </a:rPr>
              <a:t>apiVersion: kaito.sh/v1beta1</a:t>
            </a:r>
            <a:br/>
            <a:r>
              <a:rPr cap="none" sz="1360">
                <a:solidFill>
                  <a:srgbClr val="142C46"/>
                </a:solidFill>
                <a:latin typeface="Consolas"/>
              </a:rPr>
              <a:t>kind: InferenceSet</a:t>
            </a:r>
            <a:br/>
            <a:r>
              <a:rPr cap="none" sz="1360">
                <a:solidFill>
                  <a:srgbClr val="142C46"/>
                </a:solidFill>
                <a:latin typeface="Consolas"/>
              </a:rPr>
              <a:t>metadata:</a:t>
            </a:r>
            <a:br/>
            <a:r>
              <a:rPr cap="none" sz="1360">
                <a:solidFill>
                  <a:srgbClr val="142C46"/>
                </a:solidFill>
                <a:latin typeface="Consolas"/>
              </a:rPr>
              <a:t>  name: qwen3-coder-30b</a:t>
            </a:r>
            <a:br/>
            <a:r>
              <a:rPr cap="none" sz="1360">
                <a:solidFill>
                  <a:srgbClr val="142C46"/>
                </a:solidFill>
                <a:latin typeface="Consolas"/>
              </a:rPr>
              <a:t>spec:</a:t>
            </a:r>
            <a:br/>
            <a:r>
              <a:rPr cap="none" sz="1360">
                <a:solidFill>
                  <a:srgbClr val="142C46"/>
                </a:solidFill>
                <a:latin typeface="Consolas"/>
              </a:rPr>
              <a:t>  replicas: 3</a:t>
            </a:r>
            <a:br/>
            <a:r>
              <a:rPr cap="none" sz="1360">
                <a:solidFill>
                  <a:srgbClr val="142C46"/>
                </a:solidFill>
                <a:latin typeface="Consolas"/>
              </a:rPr>
              <a:t>  labelSelector:</a:t>
            </a:r>
            <a:br/>
            <a:r>
              <a:rPr cap="none" sz="1360">
                <a:solidFill>
                  <a:srgbClr val="142C46"/>
                </a:solidFill>
                <a:latin typeface="Consolas"/>
              </a:rPr>
              <a:t>    matchLabels:</a:t>
            </a:r>
            <a:br/>
            <a:r>
              <a:rPr cap="none" sz="1360">
                <a:solidFill>
                  <a:srgbClr val="142C46"/>
                </a:solidFill>
                <a:latin typeface="Consolas"/>
              </a:rPr>
              <a:t>      app: qwen3-coder-30b</a:t>
            </a:r>
            <a:br/>
            <a:r>
              <a:rPr cap="none" sz="1360">
                <a:solidFill>
                  <a:srgbClr val="142C46"/>
                </a:solidFill>
                <a:latin typeface="Consolas"/>
              </a:rPr>
              <a:t>  template:</a:t>
            </a:r>
            <a:br/>
            <a:r>
              <a:rPr cap="none" sz="1360">
                <a:solidFill>
                  <a:srgbClr val="142C46"/>
                </a:solidFill>
                <a:latin typeface="Consolas"/>
              </a:rPr>
              <a:t>    resource:</a:t>
            </a:r>
            <a:br/>
            <a:r>
              <a:rPr cap="none" sz="1360">
                <a:solidFill>
                  <a:srgbClr val="142C46"/>
                </a:solidFill>
                <a:latin typeface="Consolas"/>
              </a:rPr>
              <a:t>      instanceType: Standard_NC24ads_A100_v4   # &lt;- GPU SKU</a:t>
            </a:r>
            <a:br/>
            <a:r>
              <a:rPr cap="none" sz="1360">
                <a:solidFill>
                  <a:srgbClr val="142C46"/>
                </a:solidFill>
                <a:latin typeface="Consolas"/>
              </a:rPr>
              <a:t>    inference:</a:t>
            </a:r>
            <a:br/>
            <a:r>
              <a:rPr cap="none" sz="1360">
                <a:solidFill>
                  <a:srgbClr val="142C46"/>
                </a:solidFill>
                <a:latin typeface="Consolas"/>
              </a:rPr>
              <a:t>      preset:</a:t>
            </a:r>
            <a:br/>
            <a:r>
              <a:rPr cap="none" sz="136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23 / 49</a:t>
            </a:r>
          </a:p>
        </p:txBody>
      </p:sp>
    </p:spTree>
    <p:extLst>
      <p:ext uri="{BB962C8B-B14F-4D97-AF65-F5344CB8AC3E}">
        <p14:creationId xmlns:p14="http://schemas.microsoft.com/office/powerpoint/2010/main" val="17304667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710" b="1">
                <a:solidFill>
                  <a:srgbClr val="346CEC"/>
                </a:solidFill>
                <a:latin typeface="Arial"/>
              </a:defRPr>
            </a:pPr>
            <a:r>
              <a:rPr cap="none"/>
              <a:t>1  Memory budget</a:t>
            </a:r>
          </a:p>
        </p:txBody>
      </p:sp>
      <p:sp>
        <p:nvSpPr>
          <p:cNvPr id="6" name="TextBox 5"/>
          <p:cNvSpPr txBox="1"/>
          <p:nvPr/>
        </p:nvSpPr>
        <p:spPr>
          <a:xfrm>
            <a:off x="576072" y="2203704"/>
            <a:ext cx="2249424" cy="165938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Start with GPU memory.</a:t>
            </a:r>
          </a:p>
          <a:p>
            <a:pPr>
              <a:spcAft>
                <a:spcPts val="500"/>
              </a:spcAft>
              <a:defRPr sz="1700" b="0">
                <a:solidFill>
                  <a:srgbClr val="142C46"/>
                </a:solidFill>
                <a:latin typeface="Arial"/>
              </a:defRPr>
            </a:pPr>
            <a:r>
              <a:rPr cap="none"/>
              <a:t>Reserve runtime overhead</a:t>
            </a:r>
          </a:p>
          <a:p>
            <a:pPr>
              <a:spcAft>
                <a:spcPts val="500"/>
              </a:spcAft>
              <a:defRPr sz="17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82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90" b="0">
                <a:solidFill>
                  <a:srgbClr val="142C46"/>
                </a:solidFill>
                <a:latin typeface="Arial"/>
              </a:defRPr>
            </a:pPr>
            <a:r>
              <a:rPr cap="none"/>
              <a:t>Fit model weights into</a:t>
            </a:r>
          </a:p>
          <a:p>
            <a:pPr>
              <a:spcAft>
                <a:spcPts val="500"/>
              </a:spcAft>
              <a:defRPr sz="1590" b="0">
                <a:solidFill>
                  <a:srgbClr val="142C46"/>
                </a:solidFill>
                <a:latin typeface="Arial"/>
              </a:defRPr>
            </a:pPr>
            <a:r>
              <a:rPr cap="none"/>
              <a:t>the usable memory.</a:t>
            </a:r>
          </a:p>
          <a:p>
            <a:pPr>
              <a:spcAft>
                <a:spcPts val="500"/>
              </a:spcAft>
              <a:defRPr sz="159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82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620" b="0">
                <a:solidFill>
                  <a:srgbClr val="142C46"/>
                </a:solidFill>
                <a:latin typeface="Arial"/>
              </a:defRPr>
            </a:pPr>
            <a:r>
              <a:rPr cap="none"/>
              <a:t>Map required GPUs to</a:t>
            </a:r>
          </a:p>
          <a:p>
            <a:pPr>
              <a:spcAft>
                <a:spcPts val="500"/>
              </a:spcAft>
              <a:defRPr sz="1620" b="0">
                <a:solidFill>
                  <a:srgbClr val="142C46"/>
                </a:solidFill>
                <a:latin typeface="Arial"/>
              </a:defRPr>
            </a:pPr>
            <a:r>
              <a:rPr cap="none"/>
              <a:t>GPUs per node.</a:t>
            </a:r>
          </a:p>
          <a:p>
            <a:pPr>
              <a:spcAft>
                <a:spcPts val="500"/>
              </a:spcAft>
              <a:defRPr sz="162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82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820" b="0">
                <a:solidFill>
                  <a:srgbClr val="142C46"/>
                </a:solidFill>
                <a:latin typeface="Arial"/>
              </a:defRPr>
            </a:pPr>
            <a:r>
              <a:rPr cap="none"/>
              <a:t>One model and endpoint</a:t>
            </a:r>
          </a:p>
          <a:p>
            <a:pPr>
              <a:spcAft>
                <a:spcPts val="500"/>
              </a:spcAft>
              <a:defRPr sz="1820" b="0">
                <a:solidFill>
                  <a:srgbClr val="142C46"/>
                </a:solidFill>
                <a:latin typeface="Arial"/>
              </a:defRPr>
            </a:pPr>
            <a:r>
              <a:rPr cap="none"/>
              <a:t>Independent prefill and decode roles</a:t>
            </a:r>
          </a:p>
          <a:p>
            <a:pPr>
              <a:spcAft>
                <a:spcPts val="500"/>
              </a:spcAft>
              <a:defRPr sz="182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8694"/>
          </a:xfrm>
          <a:prstGeom prst="rect">
            <a:avLst/>
          </a:prstGeom>
          <a:noFill/>
        </p:spPr>
        <p:txBody>
          <a:bodyPr wrap="square" lIns="0" rIns="0" tIns="0" bIns="0">
            <a:spAutoFit/>
          </a:bodyPr>
          <a:lstStyle/>
          <a:p>
            <a:pPr>
              <a:spcAft>
                <a:spcPts val="500"/>
              </a:spcAft>
              <a:defRPr sz="147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25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8694"/>
          </a:xfrm>
          <a:prstGeom prst="rect">
            <a:avLst/>
          </a:prstGeom>
          <a:noFill/>
        </p:spPr>
        <p:txBody>
          <a:bodyPr wrap="square" lIns="0" rIns="0" tIns="0" bIns="0">
            <a:spAutoFit/>
          </a:bodyPr>
          <a:lstStyle/>
          <a:p>
            <a:pPr>
              <a:spcAft>
                <a:spcPts val="500"/>
              </a:spcAft>
              <a:defRPr sz="147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25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8694"/>
          </a:xfrm>
          <a:prstGeom prst="rect">
            <a:avLst/>
          </a:prstGeom>
          <a:noFill/>
        </p:spPr>
        <p:txBody>
          <a:bodyPr wrap="square" lIns="0" rIns="0" tIns="0" bIns="0">
            <a:spAutoFit/>
          </a:bodyPr>
          <a:lstStyle/>
          <a:p>
            <a:pPr>
              <a:spcAft>
                <a:spcPts val="500"/>
              </a:spcAft>
              <a:defRPr sz="147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25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8693"/>
          </a:xfrm>
          <a:prstGeom prst="rect">
            <a:avLst/>
          </a:prstGeom>
          <a:noFill/>
        </p:spPr>
        <p:txBody>
          <a:bodyPr wrap="square" lIns="0" rIns="0" tIns="0" bIns="0">
            <a:spAutoFit/>
          </a:bodyPr>
          <a:lstStyle/>
          <a:p>
            <a:pPr>
              <a:spcAft>
                <a:spcPts val="500"/>
              </a:spcAft>
              <a:defRPr sz="147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25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85"/>
          </a:xfrm>
          <a:prstGeom prst="rect">
            <a:avLst/>
          </a:prstGeom>
          <a:noFill/>
        </p:spPr>
        <p:txBody>
          <a:bodyPr wrap="square" lIns="0" tIns="0" rIns="0" bIns="0" anchor="t">
            <a:noAutofit/>
          </a:bodyPr>
          <a:lstStyle/>
          <a:p>
            <a:pPr>
              <a:spcAft>
                <a:spcPts val="150"/>
              </a:spcAft>
              <a:defRPr sz="1187" b="1">
                <a:solidFill>
                  <a:srgbClr val="5B6E80"/>
                </a:solidFill>
                <a:latin typeface="Arial"/>
              </a:defRPr>
            </a:pPr>
            <a:r>
              <a:rPr sz="890" cap="none">
                <a:latin typeface="Arial"/>
              </a:rPr>
              <a:t>ROUTING  /  KAITO + llm-d</a:t>
            </a:r>
          </a:p>
        </p:txBody>
      </p:sp>
      <p:sp>
        <p:nvSpPr>
          <p:cNvPr id="4" name="llm-d Router brings role-aware decisions"/>
          <p:cNvSpPr txBox="1"/>
          <p:nvPr/>
        </p:nvSpPr>
        <p:spPr>
          <a:xfrm>
            <a:off x="365760" y="539496"/>
            <a:ext cx="8412480" cy="420623"/>
          </a:xfrm>
          <a:prstGeom prst="rect">
            <a:avLst/>
          </a:prstGeom>
          <a:noFill/>
        </p:spPr>
        <p:txBody>
          <a:bodyPr wrap="none" lIns="0" tIns="0" rIns="0" bIns="0" anchor="t">
            <a:noAutofit/>
          </a:bodyPr>
          <a:lstStyle/>
          <a:p>
            <a:pPr>
              <a:spcAft>
                <a:spcPts val="300"/>
              </a:spcAft>
              <a:defRPr sz="3414" b="1">
                <a:solidFill>
                  <a:srgbClr val="10243A"/>
                </a:solidFill>
                <a:latin typeface="Arial"/>
              </a:defRPr>
            </a:pPr>
            <a:r>
              <a:rPr sz="239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36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39" b="1">
                <a:solidFill>
                  <a:srgbClr val="2463D4"/>
                </a:solidFill>
                <a:latin typeface="Arial"/>
              </a:defRPr>
            </a:pPr>
            <a:r>
              <a:rPr sz="1530" cap="none">
                <a:latin typeface="Arial"/>
              </a:rPr>
              <a:t>Gateway</a:t>
            </a:r>
          </a:p>
          <a:p>
            <a:pPr algn="ctr">
              <a:spcBef>
                <a:spcPts val="225"/>
              </a:spcBef>
              <a:defRPr sz="1360" b="0">
                <a:solidFill>
                  <a:srgbClr val="5B6E80"/>
                </a:solidFill>
                <a:latin typeface="Arial"/>
              </a:defRPr>
            </a:pPr>
            <a:r>
              <a:rPr sz="1019"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60" b="1">
                <a:solidFill>
                  <a:srgbClr val="7150C8"/>
                </a:solidFill>
                <a:latin typeface="Arial"/>
              </a:defRPr>
            </a:pPr>
            <a:r>
              <a:rPr sz="1620" cap="none">
                <a:latin typeface="Arial"/>
              </a:rPr>
              <a:t>llm-d Router EPP</a:t>
            </a:r>
          </a:p>
          <a:p>
            <a:pPr algn="ctr">
              <a:spcBef>
                <a:spcPts val="225"/>
              </a:spcBef>
              <a:defRPr sz="1296" b="0">
                <a:solidFill>
                  <a:srgbClr val="5B6E80"/>
                </a:solidFill>
                <a:latin typeface="Arial"/>
              </a:defRPr>
            </a:pPr>
            <a:r>
              <a:rPr sz="972"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67" b="1">
                <a:solidFill>
                  <a:srgbClr val="087F82"/>
                </a:solidFill>
                <a:latin typeface="Arial"/>
              </a:defRPr>
            </a:pPr>
            <a:r>
              <a:rPr sz="1700" cap="none">
                <a:latin typeface="Arial"/>
              </a:rPr>
              <a:t>Selected workers</a:t>
            </a:r>
          </a:p>
          <a:p>
            <a:pPr algn="ctr">
              <a:spcBef>
                <a:spcPts val="225"/>
              </a:spcBef>
              <a:defRPr sz="1360" b="0">
                <a:solidFill>
                  <a:srgbClr val="5B6E80"/>
                </a:solidFill>
                <a:latin typeface="Arial"/>
              </a:defRPr>
            </a:pPr>
            <a:r>
              <a:rPr sz="1019"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187" b="0">
                <a:solidFill>
                  <a:srgbClr val="5B6E80"/>
                </a:solidFill>
                <a:latin typeface="Arial"/>
              </a:defRPr>
            </a:pPr>
            <a:r>
              <a:rPr sz="89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187" b="0">
                <a:solidFill>
                  <a:srgbClr val="5B6E80"/>
                </a:solidFill>
                <a:latin typeface="Arial"/>
              </a:defRPr>
            </a:pPr>
            <a:r>
              <a:rPr sz="89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187" b="1">
                <a:solidFill>
                  <a:srgbClr val="FFFFFF"/>
                </a:solidFill>
                <a:latin typeface="Arial"/>
              </a:defRPr>
            </a:pPr>
            <a:r>
              <a:rPr sz="89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2039" b="1">
                <a:solidFill>
                  <a:srgbClr val="10243A"/>
                </a:solidFill>
                <a:latin typeface="Arial"/>
              </a:defRPr>
            </a:pPr>
            <a:r>
              <a:rPr sz="153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773" b="0">
                <a:solidFill>
                  <a:srgbClr val="5B6E80"/>
                </a:solidFill>
                <a:latin typeface="Arial"/>
              </a:defRPr>
            </a:pPr>
            <a:r>
              <a:rPr sz="1330" cap="none">
                <a:latin typeface="Arial"/>
              </a:rPr>
              <a:t>Model-aware selection</a:t>
            </a:r>
          </a:p>
          <a:p>
            <a:pPr>
              <a:spcAft>
                <a:spcPts val="150"/>
              </a:spcAft>
              <a:defRPr sz="1773" b="0">
                <a:solidFill>
                  <a:srgbClr val="5B6E80"/>
                </a:solidFill>
                <a:latin typeface="Arial"/>
              </a:defRPr>
            </a:pPr>
            <a:r>
              <a:rPr sz="133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187" b="1">
                <a:solidFill>
                  <a:srgbClr val="FFFFFF"/>
                </a:solidFill>
                <a:latin typeface="Arial"/>
              </a:defRPr>
            </a:pPr>
            <a:r>
              <a:rPr sz="89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2039" b="1">
                <a:solidFill>
                  <a:srgbClr val="10243A"/>
                </a:solidFill>
                <a:latin typeface="Arial"/>
              </a:defRPr>
            </a:pPr>
            <a:r>
              <a:rPr sz="153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707" b="0">
                <a:solidFill>
                  <a:srgbClr val="5B6E80"/>
                </a:solidFill>
                <a:latin typeface="Arial"/>
              </a:defRPr>
            </a:pPr>
            <a:r>
              <a:rPr sz="1280" cap="none">
                <a:latin typeface="Arial"/>
              </a:rPr>
              <a:t>KV-cache-aware logic</a:t>
            </a:r>
          </a:p>
          <a:p>
            <a:pPr>
              <a:spcAft>
                <a:spcPts val="150"/>
              </a:spcAft>
              <a:defRPr sz="1707" b="0">
                <a:solidFill>
                  <a:srgbClr val="5B6E80"/>
                </a:solidFill>
                <a:latin typeface="Arial"/>
              </a:defRPr>
            </a:pPr>
            <a:r>
              <a:rPr sz="128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187" b="1">
                <a:solidFill>
                  <a:srgbClr val="FFFFFF"/>
                </a:solidFill>
                <a:latin typeface="Arial"/>
              </a:defRPr>
            </a:pPr>
            <a:r>
              <a:rPr sz="89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2039" b="1">
                <a:solidFill>
                  <a:srgbClr val="10243A"/>
                </a:solidFill>
                <a:latin typeface="Arial"/>
              </a:defRPr>
            </a:pPr>
            <a:r>
              <a:rPr sz="153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747" b="0">
                <a:solidFill>
                  <a:srgbClr val="5B6E80"/>
                </a:solidFill>
                <a:latin typeface="Arial"/>
              </a:defRPr>
            </a:pPr>
            <a:r>
              <a:rPr sz="1310" cap="none">
                <a:latin typeface="Arial"/>
              </a:rPr>
              <a:t>A plugin surface for</a:t>
            </a:r>
          </a:p>
          <a:p>
            <a:pPr>
              <a:spcAft>
                <a:spcPts val="150"/>
              </a:spcAft>
              <a:defRPr sz="1747" b="0">
                <a:solidFill>
                  <a:srgbClr val="5B6E80"/>
                </a:solidFill>
                <a:latin typeface="Arial"/>
              </a:defRPr>
            </a:pPr>
            <a:r>
              <a:rPr sz="131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82143"/>
          </a:xfrm>
          <a:prstGeom prst="rect">
            <a:avLst/>
          </a:prstGeom>
          <a:noFill/>
        </p:spPr>
        <p:txBody>
          <a:bodyPr wrap="square" lIns="0" tIns="0" rIns="0" bIns="0" anchor="t">
            <a:noAutofit/>
          </a:bodyPr>
          <a:lstStyle/>
          <a:p>
            <a:pPr>
              <a:spcAft>
                <a:spcPts val="150"/>
              </a:spcAft>
              <a:defRPr sz="1587" b="1">
                <a:solidFill>
                  <a:srgbClr val="10243A"/>
                </a:solidFill>
                <a:latin typeface="Arial"/>
              </a:defRPr>
            </a:pPr>
            <a:r>
              <a:rPr sz="119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85"/>
          </a:xfrm>
          <a:prstGeom prst="rect">
            <a:avLst/>
          </a:prstGeom>
          <a:noFill/>
        </p:spPr>
        <p:txBody>
          <a:bodyPr wrap="square" lIns="0" tIns="0" rIns="0" bIns="0" anchor="t">
            <a:noAutofit/>
          </a:bodyPr>
          <a:lstStyle/>
          <a:p>
            <a:pPr>
              <a:spcAft>
                <a:spcPts val="150"/>
              </a:spcAft>
              <a:defRPr sz="1187" b="1">
                <a:solidFill>
                  <a:srgbClr val="5B6E80"/>
                </a:solidFill>
                <a:latin typeface="Arial"/>
              </a:defRPr>
            </a:pPr>
            <a:r>
              <a:rPr sz="890" cap="none">
                <a:latin typeface="Arial"/>
              </a:rPr>
              <a:t>RESPONSIBILITIES  /  KAITO + llm-d</a:t>
            </a:r>
          </a:p>
        </p:txBody>
      </p:sp>
      <p:sp>
        <p:nvSpPr>
          <p:cNvPr id="4" name="Three layers. Three clear responsibilities."/>
          <p:cNvSpPr txBox="1"/>
          <p:nvPr/>
        </p:nvSpPr>
        <p:spPr>
          <a:xfrm>
            <a:off x="365760" y="539496"/>
            <a:ext cx="8412480" cy="420623"/>
          </a:xfrm>
          <a:prstGeom prst="rect">
            <a:avLst/>
          </a:prstGeom>
          <a:noFill/>
        </p:spPr>
        <p:txBody>
          <a:bodyPr wrap="none" lIns="0" tIns="0" rIns="0" bIns="0" anchor="t">
            <a:noAutofit/>
          </a:bodyPr>
          <a:lstStyle/>
          <a:p>
            <a:pPr>
              <a:spcAft>
                <a:spcPts val="300"/>
              </a:spcAft>
              <a:defRPr sz="3414" b="1">
                <a:solidFill>
                  <a:srgbClr val="10243A"/>
                </a:solidFill>
                <a:latin typeface="Arial"/>
              </a:defRPr>
            </a:pPr>
            <a:r>
              <a:rPr sz="239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36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97535"/>
          </a:xfrm>
          <a:prstGeom prst="rect">
            <a:avLst/>
          </a:prstGeom>
          <a:noFill/>
        </p:spPr>
        <p:txBody>
          <a:bodyPr wrap="square" lIns="0" tIns="0" rIns="0" bIns="0" anchor="t">
            <a:noAutofit/>
          </a:bodyPr>
          <a:lstStyle/>
          <a:p>
            <a:pPr>
              <a:spcAft>
                <a:spcPts val="300"/>
              </a:spcAft>
              <a:defRPr sz="2613" b="1">
                <a:solidFill>
                  <a:srgbClr val="7150C8"/>
                </a:solidFill>
                <a:latin typeface="Arial"/>
              </a:defRPr>
            </a:pPr>
            <a:r>
              <a:rPr sz="1960" cap="none">
                <a:latin typeface="Arial"/>
              </a:rPr>
              <a:t>KAITO</a:t>
            </a:r>
          </a:p>
        </p:txBody>
      </p:sp>
      <p:sp>
        <p:nvSpPr>
          <p:cNvPr id="10" name="DECLARE + RECONCILE"/>
          <p:cNvSpPr txBox="1"/>
          <p:nvPr/>
        </p:nvSpPr>
        <p:spPr>
          <a:xfrm>
            <a:off x="603504" y="1858518"/>
            <a:ext cx="1851660" cy="137185"/>
          </a:xfrm>
          <a:prstGeom prst="rect">
            <a:avLst/>
          </a:prstGeom>
          <a:noFill/>
        </p:spPr>
        <p:txBody>
          <a:bodyPr wrap="square" lIns="0" tIns="0" rIns="0" bIns="0" anchor="t">
            <a:noAutofit/>
          </a:bodyPr>
          <a:lstStyle/>
          <a:p>
            <a:pPr>
              <a:spcAft>
                <a:spcPts val="150"/>
              </a:spcAft>
              <a:defRPr sz="1187" b="1">
                <a:solidFill>
                  <a:srgbClr val="7150C8"/>
                </a:solidFill>
                <a:latin typeface="Arial"/>
              </a:defRPr>
            </a:pPr>
            <a:r>
              <a:rPr sz="89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72059"/>
          </a:xfrm>
          <a:prstGeom prst="rect">
            <a:avLst/>
          </a:prstGeom>
          <a:noFill/>
        </p:spPr>
        <p:txBody>
          <a:bodyPr wrap="square" lIns="0" tIns="0" rIns="0" bIns="0" anchor="t">
            <a:noAutofit/>
          </a:bodyPr>
          <a:lstStyle/>
          <a:p>
            <a:pPr>
              <a:spcAft>
                <a:spcPts val="300"/>
              </a:spcAft>
              <a:defRPr sz="2387" b="1">
                <a:solidFill>
                  <a:srgbClr val="10243A"/>
                </a:solidFill>
                <a:latin typeface="Arial"/>
              </a:defRPr>
            </a:pPr>
            <a:r>
              <a:rPr sz="1789" cap="none">
                <a:latin typeface="Arial"/>
              </a:rPr>
              <a:t>MultiRoleInference → role topology</a:t>
            </a:r>
          </a:p>
        </p:txBody>
      </p:sp>
      <p:sp>
        <p:nvSpPr>
          <p:cNvPr id="13" name="Resource generation • ownership • lifecycle"/>
          <p:cNvSpPr txBox="1"/>
          <p:nvPr/>
        </p:nvSpPr>
        <p:spPr>
          <a:xfrm>
            <a:off x="2839211" y="1844802"/>
            <a:ext cx="5486400" cy="195630"/>
          </a:xfrm>
          <a:prstGeom prst="rect">
            <a:avLst/>
          </a:prstGeom>
          <a:noFill/>
        </p:spPr>
        <p:txBody>
          <a:bodyPr wrap="square" lIns="0" tIns="0" rIns="0" bIns="0" anchor="t">
            <a:noAutofit/>
          </a:bodyPr>
          <a:lstStyle/>
          <a:p>
            <a:pPr>
              <a:spcAft>
                <a:spcPts val="150"/>
              </a:spcAft>
              <a:defRPr sz="1707" b="0">
                <a:solidFill>
                  <a:srgbClr val="5B6E80"/>
                </a:solidFill>
                <a:latin typeface="Arial"/>
              </a:defRPr>
            </a:pPr>
            <a:r>
              <a:rPr sz="1280"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97535"/>
          </a:xfrm>
          <a:prstGeom prst="rect">
            <a:avLst/>
          </a:prstGeom>
          <a:noFill/>
        </p:spPr>
        <p:txBody>
          <a:bodyPr wrap="square" lIns="0" tIns="0" rIns="0" bIns="0" anchor="t">
            <a:noAutofit/>
          </a:bodyPr>
          <a:lstStyle/>
          <a:p>
            <a:pPr>
              <a:spcAft>
                <a:spcPts val="300"/>
              </a:spcAft>
              <a:defRPr sz="2613" b="1">
                <a:solidFill>
                  <a:srgbClr val="2463D4"/>
                </a:solidFill>
                <a:latin typeface="Arial"/>
              </a:defRPr>
            </a:pPr>
            <a:r>
              <a:rPr sz="1960" cap="none">
                <a:latin typeface="Arial"/>
              </a:rPr>
              <a:t>GWIE</a:t>
            </a:r>
          </a:p>
        </p:txBody>
      </p:sp>
      <p:sp>
        <p:nvSpPr>
          <p:cNvPr id="16" name="DEFINE THE CONTRACT"/>
          <p:cNvSpPr txBox="1"/>
          <p:nvPr/>
        </p:nvSpPr>
        <p:spPr>
          <a:xfrm>
            <a:off x="603504" y="2784347"/>
            <a:ext cx="1851660" cy="137185"/>
          </a:xfrm>
          <a:prstGeom prst="rect">
            <a:avLst/>
          </a:prstGeom>
          <a:noFill/>
        </p:spPr>
        <p:txBody>
          <a:bodyPr wrap="square" lIns="0" tIns="0" rIns="0" bIns="0" anchor="t">
            <a:noAutofit/>
          </a:bodyPr>
          <a:lstStyle/>
          <a:p>
            <a:pPr>
              <a:spcAft>
                <a:spcPts val="150"/>
              </a:spcAft>
              <a:defRPr sz="1187" b="1">
                <a:solidFill>
                  <a:srgbClr val="2463D4"/>
                </a:solidFill>
                <a:latin typeface="Arial"/>
              </a:defRPr>
            </a:pPr>
            <a:r>
              <a:rPr sz="89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72059"/>
          </a:xfrm>
          <a:prstGeom prst="rect">
            <a:avLst/>
          </a:prstGeom>
          <a:noFill/>
        </p:spPr>
        <p:txBody>
          <a:bodyPr wrap="square" lIns="0" tIns="0" rIns="0" bIns="0" anchor="t">
            <a:noAutofit/>
          </a:bodyPr>
          <a:lstStyle/>
          <a:p>
            <a:pPr>
              <a:spcAft>
                <a:spcPts val="300"/>
              </a:spcAft>
              <a:defRPr sz="2387" b="1">
                <a:solidFill>
                  <a:srgbClr val="10243A"/>
                </a:solidFill>
                <a:latin typeface="Arial"/>
              </a:defRPr>
            </a:pPr>
            <a:r>
              <a:rPr sz="1789" cap="none">
                <a:latin typeface="Arial"/>
              </a:rPr>
              <a:t>InferencePool + gateway integration</a:t>
            </a:r>
          </a:p>
        </p:txBody>
      </p:sp>
      <p:sp>
        <p:nvSpPr>
          <p:cNvPr id="19" name="Kubernetes API surface • backend discovery"/>
          <p:cNvSpPr txBox="1"/>
          <p:nvPr/>
        </p:nvSpPr>
        <p:spPr>
          <a:xfrm>
            <a:off x="2839211" y="2770632"/>
            <a:ext cx="5486400" cy="195630"/>
          </a:xfrm>
          <a:prstGeom prst="rect">
            <a:avLst/>
          </a:prstGeom>
          <a:noFill/>
        </p:spPr>
        <p:txBody>
          <a:bodyPr wrap="square" lIns="0" tIns="0" rIns="0" bIns="0" anchor="t">
            <a:noAutofit/>
          </a:bodyPr>
          <a:lstStyle/>
          <a:p>
            <a:pPr>
              <a:spcAft>
                <a:spcPts val="150"/>
              </a:spcAft>
              <a:defRPr sz="1707" b="0">
                <a:solidFill>
                  <a:srgbClr val="5B6E80"/>
                </a:solidFill>
                <a:latin typeface="Arial"/>
              </a:defRPr>
            </a:pPr>
            <a:r>
              <a:rPr sz="1280"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97535"/>
          </a:xfrm>
          <a:prstGeom prst="rect">
            <a:avLst/>
          </a:prstGeom>
          <a:noFill/>
        </p:spPr>
        <p:txBody>
          <a:bodyPr wrap="square" lIns="0" tIns="0" rIns="0" bIns="0" anchor="t">
            <a:noAutofit/>
          </a:bodyPr>
          <a:lstStyle/>
          <a:p>
            <a:pPr>
              <a:spcAft>
                <a:spcPts val="300"/>
              </a:spcAft>
              <a:defRPr sz="2613" b="1">
                <a:solidFill>
                  <a:srgbClr val="087F82"/>
                </a:solidFill>
                <a:latin typeface="Arial"/>
              </a:defRPr>
            </a:pPr>
            <a:r>
              <a:rPr sz="1960" cap="none">
                <a:latin typeface="Arial"/>
              </a:rPr>
              <a:t>llm-d Router</a:t>
            </a:r>
          </a:p>
        </p:txBody>
      </p:sp>
      <p:sp>
        <p:nvSpPr>
          <p:cNvPr id="22" name="SELECT ENDPOINTS"/>
          <p:cNvSpPr txBox="1"/>
          <p:nvPr/>
        </p:nvSpPr>
        <p:spPr>
          <a:xfrm>
            <a:off x="603504" y="3710178"/>
            <a:ext cx="1851660" cy="137185"/>
          </a:xfrm>
          <a:prstGeom prst="rect">
            <a:avLst/>
          </a:prstGeom>
          <a:noFill/>
        </p:spPr>
        <p:txBody>
          <a:bodyPr wrap="square" lIns="0" tIns="0" rIns="0" bIns="0" anchor="t">
            <a:noAutofit/>
          </a:bodyPr>
          <a:lstStyle/>
          <a:p>
            <a:pPr>
              <a:spcAft>
                <a:spcPts val="150"/>
              </a:spcAft>
              <a:defRPr sz="1187" b="1">
                <a:solidFill>
                  <a:srgbClr val="087F82"/>
                </a:solidFill>
                <a:latin typeface="Arial"/>
              </a:defRPr>
            </a:pPr>
            <a:r>
              <a:rPr sz="89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72059"/>
          </a:xfrm>
          <a:prstGeom prst="rect">
            <a:avLst/>
          </a:prstGeom>
          <a:noFill/>
        </p:spPr>
        <p:txBody>
          <a:bodyPr wrap="square" lIns="0" tIns="0" rIns="0" bIns="0" anchor="t">
            <a:noAutofit/>
          </a:bodyPr>
          <a:lstStyle/>
          <a:p>
            <a:pPr>
              <a:spcAft>
                <a:spcPts val="300"/>
              </a:spcAft>
              <a:defRPr sz="2387" b="1">
                <a:solidFill>
                  <a:srgbClr val="10243A"/>
                </a:solidFill>
                <a:latin typeface="Arial"/>
              </a:defRPr>
            </a:pPr>
            <a:r>
              <a:rPr sz="1789" cap="none">
                <a:latin typeface="Arial"/>
              </a:rPr>
              <a:t>EPP + P/D-aware scheduling</a:t>
            </a:r>
          </a:p>
        </p:txBody>
      </p:sp>
      <p:sp>
        <p:nvSpPr>
          <p:cNvPr id="25" name="Endpoint picking • role-aware routing decisions"/>
          <p:cNvSpPr txBox="1"/>
          <p:nvPr/>
        </p:nvSpPr>
        <p:spPr>
          <a:xfrm>
            <a:off x="2839211" y="3696462"/>
            <a:ext cx="5486400" cy="195630"/>
          </a:xfrm>
          <a:prstGeom prst="rect">
            <a:avLst/>
          </a:prstGeom>
          <a:noFill/>
        </p:spPr>
        <p:txBody>
          <a:bodyPr wrap="square" lIns="0" tIns="0" rIns="0" bIns="0" anchor="t">
            <a:noAutofit/>
          </a:bodyPr>
          <a:lstStyle/>
          <a:p>
            <a:pPr>
              <a:spcAft>
                <a:spcPts val="150"/>
              </a:spcAft>
              <a:defRPr sz="1707" b="0">
                <a:solidFill>
                  <a:srgbClr val="5B6E80"/>
                </a:solidFill>
                <a:latin typeface="Arial"/>
              </a:defRPr>
            </a:pPr>
            <a:r>
              <a:rPr sz="1280"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82143"/>
          </a:xfrm>
          <a:prstGeom prst="rect">
            <a:avLst/>
          </a:prstGeom>
          <a:noFill/>
        </p:spPr>
        <p:txBody>
          <a:bodyPr wrap="square" lIns="0" tIns="0" rIns="0" bIns="0" anchor="t">
            <a:noAutofit/>
          </a:bodyPr>
          <a:lstStyle/>
          <a:p>
            <a:pPr>
              <a:spcAft>
                <a:spcPts val="150"/>
              </a:spcAft>
              <a:defRPr sz="1587" b="1">
                <a:solidFill>
                  <a:srgbClr val="10243A"/>
                </a:solidFill>
                <a:latin typeface="Arial"/>
              </a:defRPr>
            </a:pPr>
            <a:r>
              <a:rPr sz="119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85"/>
          </a:xfrm>
          <a:prstGeom prst="rect">
            <a:avLst/>
          </a:prstGeom>
          <a:noFill/>
        </p:spPr>
        <p:txBody>
          <a:bodyPr wrap="square" lIns="0" tIns="0" rIns="0" bIns="0" anchor="t">
            <a:noAutofit/>
          </a:bodyPr>
          <a:lstStyle/>
          <a:p>
            <a:pPr>
              <a:spcAft>
                <a:spcPts val="150"/>
              </a:spcAft>
              <a:defRPr sz="1187" b="1">
                <a:solidFill>
                  <a:srgbClr val="5B6E80"/>
                </a:solidFill>
                <a:latin typeface="Arial"/>
              </a:defRPr>
            </a:pPr>
            <a:r>
              <a:rPr sz="890" cap="none">
                <a:latin typeface="Arial"/>
              </a:rPr>
              <a:t>ARCHITECTURE  /  KAITO + llm-d</a:t>
            </a:r>
          </a:p>
        </p:txBody>
      </p:sp>
      <p:sp>
        <p:nvSpPr>
          <p:cNvPr id="4" name="One endpoint. Separate control, request and KV paths."/>
          <p:cNvSpPr txBox="1"/>
          <p:nvPr/>
        </p:nvSpPr>
        <p:spPr>
          <a:xfrm>
            <a:off x="365760" y="539496"/>
            <a:ext cx="8412480" cy="420623"/>
          </a:xfrm>
          <a:prstGeom prst="rect">
            <a:avLst/>
          </a:prstGeom>
          <a:noFill/>
        </p:spPr>
        <p:txBody>
          <a:bodyPr wrap="none" lIns="0" tIns="0" rIns="0" bIns="0" anchor="t">
            <a:noAutofit/>
          </a:bodyPr>
          <a:lstStyle/>
          <a:p>
            <a:pPr>
              <a:spcAft>
                <a:spcPts val="300"/>
              </a:spcAft>
              <a:defRPr sz="3414" b="1">
                <a:solidFill>
                  <a:srgbClr val="10243A"/>
                </a:solidFill>
                <a:latin typeface="Arial"/>
              </a:defRPr>
            </a:pPr>
            <a:r>
              <a:rPr sz="239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36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37185"/>
          </a:xfrm>
          <a:prstGeom prst="rect">
            <a:avLst/>
          </a:prstGeom>
          <a:noFill/>
        </p:spPr>
        <p:txBody>
          <a:bodyPr wrap="square" lIns="0" tIns="0" rIns="0" bIns="0" anchor="t">
            <a:noAutofit/>
          </a:bodyPr>
          <a:lstStyle/>
          <a:p>
            <a:pPr>
              <a:spcAft>
                <a:spcPts val="150"/>
              </a:spcAft>
              <a:defRPr sz="1187" b="1">
                <a:solidFill>
                  <a:srgbClr val="7150C8"/>
                </a:solidFill>
                <a:latin typeface="Arial"/>
              </a:defRPr>
            </a:pPr>
            <a:r>
              <a:rPr sz="89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13" b="1">
                <a:solidFill>
                  <a:srgbClr val="7150C8"/>
                </a:solidFill>
                <a:latin typeface="Arial"/>
              </a:defRPr>
            </a:pPr>
            <a:r>
              <a:rPr sz="1210"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707" b="1">
                <a:solidFill>
                  <a:srgbClr val="7150C8"/>
                </a:solidFill>
                <a:latin typeface="Arial"/>
              </a:defRPr>
            </a:pPr>
            <a:r>
              <a:rPr sz="1280"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53" b="1">
                <a:solidFill>
                  <a:srgbClr val="7150C8"/>
                </a:solidFill>
                <a:latin typeface="Arial"/>
              </a:defRPr>
            </a:pPr>
            <a:r>
              <a:rPr sz="1240"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13" b="1">
                <a:solidFill>
                  <a:srgbClr val="A85C05"/>
                </a:solidFill>
                <a:latin typeface="Arial"/>
              </a:defRPr>
            </a:pPr>
            <a:r>
              <a:rPr sz="136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1080" b="1">
                <a:solidFill>
                  <a:srgbClr val="A85C05"/>
                </a:solidFill>
                <a:latin typeface="Arial"/>
              </a:defRPr>
            </a:pPr>
            <a:r>
              <a:rPr sz="810"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1080" b="1">
                <a:solidFill>
                  <a:srgbClr val="087F82"/>
                </a:solidFill>
                <a:latin typeface="Arial"/>
              </a:defRPr>
            </a:pPr>
            <a:r>
              <a:rPr sz="810"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707" b="1">
                <a:solidFill>
                  <a:srgbClr val="2463D4"/>
                </a:solidFill>
                <a:latin typeface="Arial"/>
              </a:defRPr>
            </a:pPr>
            <a:r>
              <a:rPr sz="1280"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13" b="1">
                <a:solidFill>
                  <a:srgbClr val="2463D4"/>
                </a:solidFill>
                <a:latin typeface="Arial"/>
              </a:defRPr>
            </a:pPr>
            <a:r>
              <a:rPr sz="136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93" b="1">
                <a:solidFill>
                  <a:srgbClr val="2463D4"/>
                </a:solidFill>
                <a:latin typeface="Arial"/>
              </a:defRPr>
            </a:pPr>
            <a:r>
              <a:rPr sz="1270"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707" b="1">
                <a:solidFill>
                  <a:srgbClr val="087F82"/>
                </a:solidFill>
                <a:latin typeface="Arial"/>
              </a:defRPr>
            </a:pPr>
            <a:r>
              <a:rPr sz="1280"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187" b="0">
                <a:solidFill>
                  <a:srgbClr val="2463D4"/>
                </a:solidFill>
                <a:latin typeface="Arial"/>
              </a:defRPr>
            </a:pPr>
            <a:r>
              <a:rPr sz="890" cap="none">
                <a:latin typeface="Arial"/>
              </a:rPr>
              <a:t>request</a:t>
            </a:r>
          </a:p>
        </p:txBody>
      </p:sp>
      <p:sp>
        <p:nvSpPr>
          <p:cNvPr id="28" name="local proxy"/>
          <p:cNvSpPr txBox="1"/>
          <p:nvPr/>
        </p:nvSpPr>
        <p:spPr>
          <a:xfrm>
            <a:off x="5884164" y="3346704"/>
            <a:ext cx="864108" cy="137185"/>
          </a:xfrm>
          <a:prstGeom prst="rect">
            <a:avLst/>
          </a:prstGeom>
          <a:noFill/>
        </p:spPr>
        <p:txBody>
          <a:bodyPr wrap="square" lIns="0" tIns="0" rIns="0" bIns="0" anchor="t">
            <a:noAutofit/>
          </a:bodyPr>
          <a:lstStyle/>
          <a:p>
            <a:pPr algn="ctr">
              <a:spcAft>
                <a:spcPts val="150"/>
              </a:spcAft>
              <a:defRPr sz="1187" b="0">
                <a:solidFill>
                  <a:srgbClr val="2463D4"/>
                </a:solidFill>
                <a:latin typeface="Arial"/>
              </a:defRPr>
            </a:pPr>
            <a:r>
              <a:rPr sz="89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187" b="0">
                <a:solidFill>
                  <a:srgbClr val="7150C8"/>
                </a:solidFill>
                <a:latin typeface="Arial"/>
              </a:defRPr>
            </a:pPr>
            <a:r>
              <a:rPr sz="890" cap="none">
                <a:latin typeface="Arial"/>
              </a:rPr>
              <a:t>endpoint selection</a:t>
            </a:r>
          </a:p>
          <a:p>
            <a:pPr algn="r">
              <a:spcAft>
                <a:spcPts val="150"/>
              </a:spcAft>
              <a:defRPr sz="1187" b="0">
                <a:solidFill>
                  <a:srgbClr val="7150C8"/>
                </a:solidFill>
                <a:latin typeface="Arial"/>
              </a:defRPr>
            </a:pPr>
            <a:r>
              <a:rPr sz="89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187" b="0">
                <a:solidFill>
                  <a:srgbClr val="A85C05"/>
                </a:solidFill>
                <a:latin typeface="Arial"/>
              </a:defRPr>
            </a:pPr>
            <a:r>
              <a:rPr sz="89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387" b="1">
                <a:solidFill>
                  <a:srgbClr val="24824C"/>
                </a:solidFill>
                <a:latin typeface="Arial"/>
              </a:defRPr>
            </a:pPr>
            <a:r>
              <a:rPr sz="104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387" b="0">
                <a:solidFill>
                  <a:srgbClr val="5B6E80"/>
                </a:solidFill>
                <a:latin typeface="Arial"/>
              </a:defRPr>
            </a:pPr>
            <a:r>
              <a:rPr sz="104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387" b="0">
                <a:solidFill>
                  <a:srgbClr val="5B6E80"/>
                </a:solidFill>
                <a:latin typeface="Arial"/>
              </a:defRPr>
            </a:pPr>
            <a:r>
              <a:rPr sz="104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387" b="0">
                <a:solidFill>
                  <a:srgbClr val="5B6E80"/>
                </a:solidFill>
                <a:latin typeface="Arial"/>
              </a:defRPr>
            </a:pPr>
            <a:r>
              <a:rPr sz="104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82143"/>
          </a:xfrm>
          <a:prstGeom prst="rect">
            <a:avLst/>
          </a:prstGeom>
          <a:noFill/>
        </p:spPr>
        <p:txBody>
          <a:bodyPr wrap="square" lIns="0" tIns="0" rIns="0" bIns="0" anchor="t">
            <a:noAutofit/>
          </a:bodyPr>
          <a:lstStyle/>
          <a:p>
            <a:pPr>
              <a:spcAft>
                <a:spcPts val="150"/>
              </a:spcAft>
              <a:defRPr sz="1587" b="1">
                <a:solidFill>
                  <a:srgbClr val="10243A"/>
                </a:solidFill>
                <a:latin typeface="Arial"/>
              </a:defRPr>
            </a:pPr>
            <a:r>
              <a:rPr sz="119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85"/>
          </a:xfrm>
          <a:prstGeom prst="rect">
            <a:avLst/>
          </a:prstGeom>
          <a:noFill/>
        </p:spPr>
        <p:txBody>
          <a:bodyPr wrap="square" lIns="0" tIns="0" rIns="0" bIns="0" anchor="t">
            <a:noAutofit/>
          </a:bodyPr>
          <a:lstStyle/>
          <a:p>
            <a:pPr>
              <a:spcAft>
                <a:spcPts val="150"/>
              </a:spcAft>
              <a:defRPr sz="1187" b="1">
                <a:solidFill>
                  <a:srgbClr val="5B6E80"/>
                </a:solidFill>
                <a:latin typeface="Arial"/>
              </a:defRPr>
            </a:pPr>
            <a:r>
              <a:rPr sz="890" cap="none">
                <a:latin typeface="Arial"/>
              </a:rPr>
              <a:t>DECLARATIVE API  /  KAITO + llm-d</a:t>
            </a:r>
          </a:p>
        </p:txBody>
      </p:sp>
      <p:sp>
        <p:nvSpPr>
          <p:cNvPr id="4" name="One object declares the serving topology"/>
          <p:cNvSpPr txBox="1"/>
          <p:nvPr/>
        </p:nvSpPr>
        <p:spPr>
          <a:xfrm>
            <a:off x="365760" y="539496"/>
            <a:ext cx="8412480" cy="420623"/>
          </a:xfrm>
          <a:prstGeom prst="rect">
            <a:avLst/>
          </a:prstGeom>
          <a:noFill/>
        </p:spPr>
        <p:txBody>
          <a:bodyPr wrap="none" lIns="0" tIns="0" rIns="0" bIns="0" anchor="t">
            <a:noAutofit/>
          </a:bodyPr>
          <a:lstStyle/>
          <a:p>
            <a:pPr>
              <a:defRPr/>
            </a:pPr>
            <a:r>
              <a:rPr lang="en-US" altLang="zh-CN" sz="239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36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387" b="1">
                <a:solidFill>
                  <a:srgbClr val="C8D8E7"/>
                </a:solidFill>
                <a:latin typeface="Arial"/>
              </a:defRPr>
            </a:pPr>
            <a:r>
              <a:rPr sz="104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468236"/>
          </a:xfrm>
          <a:prstGeom prst="rect">
            <a:avLst/>
          </a:prstGeom>
          <a:noFill/>
        </p:spPr>
        <p:txBody>
          <a:bodyPr wrap="square" lIns="0" tIns="0" rIns="0" bIns="0" anchor="t">
            <a:noAutofit/>
          </a:bodyPr>
          <a:lstStyle/>
          <a:p>
            <a:pPr>
              <a:lnSpc>
                <a:spcPts val="1386"/>
              </a:lnSpc>
              <a:defRPr sz="1587" b="0">
                <a:solidFill>
                  <a:srgbClr val="FFFFFF"/>
                </a:solidFill>
                <a:latin typeface="Consolas"/>
              </a:defRPr>
            </a:pPr>
            <a:r>
              <a:rPr sz="1190" cap="none">
                <a:latin typeface="Consolas"/>
              </a:rPr>
              <a:t>apiVersion: kaito.sh/v1alpha1</a:t>
            </a:r>
          </a:p>
          <a:p>
            <a:pPr>
              <a:lnSpc>
                <a:spcPts val="1386"/>
              </a:lnSpc>
              <a:defRPr sz="1587" b="0">
                <a:solidFill>
                  <a:srgbClr val="FFFFFF"/>
                </a:solidFill>
                <a:latin typeface="Consolas"/>
              </a:defRPr>
            </a:pPr>
            <a:r>
              <a:rPr sz="1190" cap="none">
                <a:latin typeface="Consolas"/>
              </a:rPr>
              <a:t>kind: MultiRoleInference</a:t>
            </a:r>
          </a:p>
          <a:p>
            <a:pPr>
              <a:lnSpc>
                <a:spcPts val="1386"/>
              </a:lnSpc>
              <a:defRPr sz="1587" b="0">
                <a:solidFill>
                  <a:srgbClr val="FFFFFF"/>
                </a:solidFill>
                <a:latin typeface="Consolas"/>
              </a:defRPr>
            </a:pPr>
            <a:r>
              <a:rPr sz="1190" cap="none">
                <a:latin typeface="Consolas"/>
              </a:rPr>
              <a:t>metadata:</a:t>
            </a:r>
          </a:p>
          <a:p>
            <a:pPr>
              <a:lnSpc>
                <a:spcPts val="1386"/>
              </a:lnSpc>
              <a:defRPr sz="1587" b="0">
                <a:solidFill>
                  <a:srgbClr val="FFFFFF"/>
                </a:solidFill>
                <a:latin typeface="Consolas"/>
              </a:defRPr>
            </a:pPr>
            <a:r>
              <a:rPr sz="1190" cap="none">
                <a:latin typeface="Consolas"/>
              </a:rPr>
              <a:t>  name: qwen-3-8-27b</a:t>
            </a:r>
          </a:p>
          <a:p>
            <a:pPr>
              <a:lnSpc>
                <a:spcPts val="1386"/>
              </a:lnSpc>
              <a:defRPr sz="1587" b="0">
                <a:solidFill>
                  <a:srgbClr val="FFFFFF"/>
                </a:solidFill>
                <a:latin typeface="Consolas"/>
              </a:defRPr>
            </a:pPr>
            <a:r>
              <a:rPr sz="1190" cap="none">
                <a:latin typeface="Consolas"/>
              </a:rPr>
              <a:t>spec:</a:t>
            </a:r>
          </a:p>
          <a:p>
            <a:pPr>
              <a:lnSpc>
                <a:spcPts val="1386"/>
              </a:lnSpc>
              <a:defRPr sz="1587" b="0">
                <a:solidFill>
                  <a:srgbClr val="FFFFFF"/>
                </a:solidFill>
                <a:latin typeface="Consolas"/>
              </a:defRPr>
            </a:pPr>
            <a:r>
              <a:rPr sz="1190" cap="none">
                <a:latin typeface="Consolas"/>
              </a:rPr>
              <a:t>  model:</a:t>
            </a:r>
          </a:p>
          <a:p>
            <a:pPr>
              <a:lnSpc>
                <a:spcPts val="1386"/>
              </a:lnSpc>
              <a:defRPr sz="1587" b="0">
                <a:solidFill>
                  <a:srgbClr val="FFFFFF"/>
                </a:solidFill>
                <a:latin typeface="Consolas"/>
              </a:defRPr>
            </a:pPr>
            <a:r>
              <a:rPr sz="1190" cap="none">
                <a:latin typeface="Consolas"/>
              </a:rPr>
              <a:t>    name: Qwen/Qwen3.8-27B</a:t>
            </a:r>
          </a:p>
          <a:p>
            <a:pPr>
              <a:lnSpc>
                <a:spcPts val="1386"/>
              </a:lnSpc>
              <a:defRPr sz="1587" b="0">
                <a:solidFill>
                  <a:srgbClr val="FFFFFF"/>
                </a:solidFill>
                <a:latin typeface="Consolas"/>
              </a:defRPr>
            </a:pPr>
            <a:r>
              <a:rPr sz="1190" cap="none">
                <a:latin typeface="Consolas"/>
              </a:rPr>
              <a:t>  roles:</a:t>
            </a:r>
          </a:p>
          <a:p>
            <a:pPr>
              <a:lnSpc>
                <a:spcPts val="1386"/>
              </a:lnSpc>
              <a:defRPr sz="1587" b="0">
                <a:solidFill>
                  <a:srgbClr val="FFFFFF"/>
                </a:solidFill>
                <a:latin typeface="Consolas"/>
              </a:defRPr>
            </a:pPr>
            <a:r>
              <a:rPr sz="1190" cap="none">
                <a:latin typeface="Consolas"/>
              </a:rPr>
              <a:t>    - type: prefill</a:t>
            </a:r>
          </a:p>
          <a:p>
            <a:pPr>
              <a:lnSpc>
                <a:spcPts val="1386"/>
              </a:lnSpc>
              <a:defRPr sz="1587" b="0">
                <a:solidFill>
                  <a:srgbClr val="FFFFFF"/>
                </a:solidFill>
                <a:latin typeface="Consolas"/>
              </a:defRPr>
            </a:pPr>
            <a:r>
              <a:rPr sz="1190" cap="none">
                <a:latin typeface="Consolas"/>
              </a:rPr>
              <a:t>      replicas: 1</a:t>
            </a:r>
          </a:p>
          <a:p>
            <a:pPr>
              <a:lnSpc>
                <a:spcPts val="1386"/>
              </a:lnSpc>
              <a:defRPr sz="1587" b="0">
                <a:solidFill>
                  <a:srgbClr val="FFFFFF"/>
                </a:solidFill>
                <a:latin typeface="Consolas"/>
              </a:defRPr>
            </a:pPr>
            <a:r>
              <a:rPr sz="1190" cap="none">
                <a:latin typeface="Consolas"/>
              </a:rPr>
              <a:t>      instanceType: Standard_NC24ads_A100_v4</a:t>
            </a:r>
          </a:p>
          <a:p>
            <a:pPr>
              <a:lnSpc>
                <a:spcPts val="1386"/>
              </a:lnSpc>
              <a:defRPr sz="1587" b="0">
                <a:solidFill>
                  <a:srgbClr val="FFFFFF"/>
                </a:solidFill>
                <a:latin typeface="Consolas"/>
              </a:defRPr>
            </a:pPr>
            <a:r>
              <a:rPr sz="1190" cap="none">
                <a:latin typeface="Consolas"/>
              </a:rPr>
              <a:t>    - type: decode</a:t>
            </a:r>
          </a:p>
          <a:p>
            <a:pPr>
              <a:lnSpc>
                <a:spcPts val="1386"/>
              </a:lnSpc>
              <a:defRPr sz="1587" b="0">
                <a:solidFill>
                  <a:srgbClr val="FFFFFF"/>
                </a:solidFill>
                <a:latin typeface="Consolas"/>
              </a:defRPr>
            </a:pPr>
            <a:r>
              <a:rPr sz="1190" cap="none">
                <a:latin typeface="Consolas"/>
              </a:rPr>
              <a:t>      replicas: 2</a:t>
            </a:r>
          </a:p>
          <a:p>
            <a:pPr>
              <a:lnSpc>
                <a:spcPts val="1386"/>
              </a:lnSpc>
              <a:defRPr sz="1587" b="0">
                <a:solidFill>
                  <a:srgbClr val="FFFFFF"/>
                </a:solidFill>
                <a:latin typeface="Consolas"/>
              </a:defRPr>
            </a:pPr>
            <a:r>
              <a:rPr sz="119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1080" b="0">
                <a:solidFill>
                  <a:srgbClr val="7150C8"/>
                </a:solidFill>
                <a:latin typeface="Arial"/>
              </a:defRPr>
            </a:pPr>
            <a:r>
              <a:rPr sz="810"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387" b="1">
                <a:solidFill>
                  <a:srgbClr val="2463D4"/>
                </a:solidFill>
                <a:latin typeface="Arial"/>
              </a:defRPr>
            </a:pPr>
            <a:r>
              <a:rPr sz="1789" cap="none">
                <a:latin typeface="Arial"/>
              </a:rPr>
              <a:t>qwen-3-8-27b</a:t>
            </a:r>
          </a:p>
          <a:p>
            <a:pPr algn="ctr">
              <a:spcBef>
                <a:spcPts val="225"/>
              </a:spcBef>
              <a:defRPr sz="1364" b="0">
                <a:solidFill>
                  <a:srgbClr val="5B6E80"/>
                </a:solidFill>
                <a:latin typeface="Arial"/>
              </a:defRPr>
            </a:pPr>
            <a:r>
              <a:rPr sz="1023"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280" b="1">
                <a:solidFill>
                  <a:srgbClr val="5B6E80"/>
                </a:solidFill>
                <a:latin typeface="Arial"/>
              </a:defRPr>
            </a:pPr>
            <a:r>
              <a:rPr sz="960"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58572"/>
          </a:xfrm>
          <a:prstGeom prst="rect">
            <a:avLst/>
          </a:prstGeom>
          <a:noFill/>
        </p:spPr>
        <p:txBody>
          <a:bodyPr wrap="square" lIns="0" tIns="0" rIns="0" bIns="0" anchor="t">
            <a:noAutofit/>
          </a:bodyPr>
          <a:lstStyle/>
          <a:p>
            <a:pPr>
              <a:spcAft>
                <a:spcPts val="300"/>
              </a:spcAft>
              <a:defRPr sz="2267" b="1">
                <a:solidFill>
                  <a:srgbClr val="A85C05"/>
                </a:solidFill>
                <a:latin typeface="Arial"/>
              </a:defRPr>
            </a:pPr>
            <a:r>
              <a:rPr sz="1700" cap="none">
                <a:latin typeface="Arial"/>
              </a:rPr>
              <a:t>Prefill role</a:t>
            </a:r>
          </a:p>
        </p:txBody>
      </p:sp>
      <p:sp>
        <p:nvSpPr>
          <p:cNvPr id="18" name="Decode role"/>
          <p:cNvSpPr txBox="1"/>
          <p:nvPr/>
        </p:nvSpPr>
        <p:spPr>
          <a:xfrm>
            <a:off x="7194042" y="2503170"/>
            <a:ext cx="1399032" cy="246583"/>
          </a:xfrm>
          <a:prstGeom prst="rect">
            <a:avLst/>
          </a:prstGeom>
          <a:noFill/>
        </p:spPr>
        <p:txBody>
          <a:bodyPr wrap="square" lIns="0" tIns="0" rIns="0" bIns="0" anchor="t">
            <a:noAutofit/>
          </a:bodyPr>
          <a:lstStyle/>
          <a:p>
            <a:pPr>
              <a:spcAft>
                <a:spcPts val="300"/>
              </a:spcAft>
              <a:defRPr sz="2160" b="1">
                <a:solidFill>
                  <a:srgbClr val="087F82"/>
                </a:solidFill>
                <a:latin typeface="Arial"/>
              </a:defRPr>
            </a:pPr>
            <a:r>
              <a:rPr sz="1620" cap="none">
                <a:latin typeface="Arial"/>
              </a:rPr>
              <a:t>Decode role</a:t>
            </a:r>
          </a:p>
        </p:txBody>
      </p:sp>
      <p:sp>
        <p:nvSpPr>
          <p:cNvPr id="19" name="replicas: 1"/>
          <p:cNvSpPr txBox="1"/>
          <p:nvPr/>
        </p:nvSpPr>
        <p:spPr>
          <a:xfrm>
            <a:off x="5349241" y="2798064"/>
            <a:ext cx="1392173" cy="170154"/>
          </a:xfrm>
          <a:prstGeom prst="rect">
            <a:avLst/>
          </a:prstGeom>
          <a:noFill/>
        </p:spPr>
        <p:txBody>
          <a:bodyPr wrap="square" lIns="0" tIns="0" rIns="0" bIns="0" anchor="t">
            <a:noAutofit/>
          </a:bodyPr>
          <a:lstStyle/>
          <a:p>
            <a:pPr>
              <a:spcAft>
                <a:spcPts val="150"/>
              </a:spcAft>
              <a:defRPr sz="1480" b="0">
                <a:solidFill>
                  <a:srgbClr val="A85C05"/>
                </a:solidFill>
                <a:latin typeface="Arial"/>
              </a:defRPr>
            </a:pPr>
            <a:r>
              <a:rPr sz="1110" cap="none">
                <a:latin typeface="Arial"/>
              </a:rPr>
              <a:t>replicas: 1</a:t>
            </a:r>
          </a:p>
        </p:txBody>
      </p:sp>
      <p:sp>
        <p:nvSpPr>
          <p:cNvPr id="20" name="replicas: 2"/>
          <p:cNvSpPr txBox="1"/>
          <p:nvPr/>
        </p:nvSpPr>
        <p:spPr>
          <a:xfrm>
            <a:off x="7194042" y="2798064"/>
            <a:ext cx="1399032" cy="170154"/>
          </a:xfrm>
          <a:prstGeom prst="rect">
            <a:avLst/>
          </a:prstGeom>
          <a:noFill/>
        </p:spPr>
        <p:txBody>
          <a:bodyPr wrap="square" lIns="0" tIns="0" rIns="0" bIns="0" anchor="t">
            <a:noAutofit/>
          </a:bodyPr>
          <a:lstStyle/>
          <a:p>
            <a:pPr>
              <a:spcAft>
                <a:spcPts val="150"/>
              </a:spcAft>
              <a:defRPr sz="1480" b="0">
                <a:solidFill>
                  <a:srgbClr val="087F82"/>
                </a:solidFill>
                <a:latin typeface="Arial"/>
              </a:defRPr>
            </a:pPr>
            <a:r>
              <a:rPr sz="1110"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27" b="1">
                <a:solidFill>
                  <a:srgbClr val="A85C05"/>
                </a:solidFill>
                <a:latin typeface="Arial"/>
              </a:defRPr>
            </a:pPr>
            <a:r>
              <a:rPr sz="107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27" b="1">
                <a:solidFill>
                  <a:srgbClr val="087F82"/>
                </a:solidFill>
                <a:latin typeface="Arial"/>
              </a:defRPr>
            </a:pPr>
            <a:r>
              <a:rPr sz="107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27" b="1">
                <a:solidFill>
                  <a:srgbClr val="087F82"/>
                </a:solidFill>
                <a:latin typeface="Arial"/>
              </a:defRPr>
            </a:pPr>
            <a:r>
              <a:rPr sz="1070" cap="none">
                <a:latin typeface="Arial"/>
              </a:rPr>
              <a:t>H100 / replica 2</a:t>
            </a:r>
          </a:p>
        </p:txBody>
      </p:sp>
      <p:sp>
        <p:nvSpPr>
          <p:cNvPr id="24" name="Standard_NC24ads_A100_v4"/>
          <p:cNvSpPr txBox="1"/>
          <p:nvPr/>
        </p:nvSpPr>
        <p:spPr>
          <a:xfrm>
            <a:off x="5301234" y="4025646"/>
            <a:ext cx="1488186" cy="125196"/>
          </a:xfrm>
          <a:prstGeom prst="rect">
            <a:avLst/>
          </a:prstGeom>
          <a:noFill/>
        </p:spPr>
        <p:txBody>
          <a:bodyPr wrap="square" lIns="0" tIns="0" rIns="0" bIns="0" anchor="t">
            <a:noAutofit/>
          </a:bodyPr>
          <a:lstStyle/>
          <a:p>
            <a:pPr algn="ctr">
              <a:spcAft>
                <a:spcPts val="150"/>
              </a:spcAft>
              <a:defRPr sz="1080" b="0">
                <a:solidFill>
                  <a:srgbClr val="A85C05"/>
                </a:solidFill>
                <a:latin typeface="Arial"/>
              </a:defRPr>
            </a:pPr>
            <a:r>
              <a:rPr sz="810"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1053" b="0">
                <a:solidFill>
                  <a:srgbClr val="087F82"/>
                </a:solidFill>
                <a:latin typeface="Arial"/>
              </a:defRPr>
            </a:pPr>
            <a:r>
              <a:rPr sz="790"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82143"/>
          </a:xfrm>
          <a:prstGeom prst="rect">
            <a:avLst/>
          </a:prstGeom>
          <a:noFill/>
        </p:spPr>
        <p:txBody>
          <a:bodyPr wrap="square" lIns="0" tIns="0" rIns="0" bIns="0" anchor="t">
            <a:noAutofit/>
          </a:bodyPr>
          <a:lstStyle/>
          <a:p>
            <a:pPr>
              <a:spcAft>
                <a:spcPts val="150"/>
              </a:spcAft>
              <a:defRPr sz="1587" b="1">
                <a:solidFill>
                  <a:srgbClr val="10243A"/>
                </a:solidFill>
                <a:latin typeface="Arial"/>
              </a:defRPr>
            </a:pPr>
            <a:r>
              <a:rPr sz="119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85"/>
          </a:xfrm>
          <a:prstGeom prst="rect">
            <a:avLst/>
          </a:prstGeom>
          <a:noFill/>
        </p:spPr>
        <p:txBody>
          <a:bodyPr wrap="square" lIns="0" tIns="0" rIns="0" bIns="0" anchor="t">
            <a:noAutofit/>
          </a:bodyPr>
          <a:lstStyle/>
          <a:p>
            <a:pPr>
              <a:spcAft>
                <a:spcPts val="150"/>
              </a:spcAft>
              <a:defRPr sz="1187" b="1">
                <a:solidFill>
                  <a:srgbClr val="5B6E80"/>
                </a:solidFill>
                <a:latin typeface="Arial"/>
              </a:defRPr>
            </a:pPr>
            <a:r>
              <a:rPr sz="890" cap="none">
                <a:latin typeface="Arial"/>
              </a:rPr>
              <a:t>RECONCILIATION  /  KAITO + llm-d</a:t>
            </a:r>
          </a:p>
        </p:txBody>
      </p:sp>
      <p:sp>
        <p:nvSpPr>
          <p:cNvPr id="4" name="KAITO generates resources — and keeps them aligned"/>
          <p:cNvSpPr txBox="1"/>
          <p:nvPr/>
        </p:nvSpPr>
        <p:spPr>
          <a:xfrm>
            <a:off x="365760" y="539496"/>
            <a:ext cx="8412480" cy="420623"/>
          </a:xfrm>
          <a:prstGeom prst="rect">
            <a:avLst/>
          </a:prstGeom>
          <a:noFill/>
        </p:spPr>
        <p:txBody>
          <a:bodyPr wrap="none" lIns="0" tIns="0" rIns="0" bIns="0" anchor="t">
            <a:noAutofit/>
          </a:bodyPr>
          <a:lstStyle/>
          <a:p>
            <a:pPr>
              <a:spcAft>
                <a:spcPts val="300"/>
              </a:spcAft>
              <a:defRPr sz="3229" b="1">
                <a:solidFill>
                  <a:srgbClr val="10243A"/>
                </a:solidFill>
                <a:latin typeface="Arial"/>
              </a:defRPr>
            </a:pPr>
            <a:r>
              <a:rPr sz="226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688" b="0">
                <a:solidFill>
                  <a:srgbClr val="5B6E80"/>
                </a:solidFill>
                <a:latin typeface="Arial"/>
              </a:defRPr>
            </a:pPr>
            <a:r>
              <a:rPr sz="135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507" b="1">
                <a:solidFill>
                  <a:srgbClr val="7150C8"/>
                </a:solidFill>
                <a:latin typeface="Arial"/>
              </a:defRPr>
            </a:pPr>
            <a:r>
              <a:rPr sz="188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280" b="1">
                <a:solidFill>
                  <a:srgbClr val="7150C8"/>
                </a:solidFill>
                <a:latin typeface="Arial"/>
              </a:defRPr>
            </a:pPr>
            <a:r>
              <a:rPr sz="960"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60" b="1">
                <a:solidFill>
                  <a:srgbClr val="A85C05"/>
                </a:solidFill>
                <a:latin typeface="Arial"/>
              </a:defRPr>
            </a:pPr>
            <a:r>
              <a:rPr sz="1620" cap="none">
                <a:latin typeface="Arial"/>
              </a:rPr>
              <a:t>Prefill InferenceSet</a:t>
            </a:r>
          </a:p>
          <a:p>
            <a:pPr algn="ctr">
              <a:spcBef>
                <a:spcPts val="225"/>
              </a:spcBef>
              <a:defRPr sz="1364" b="0">
                <a:solidFill>
                  <a:srgbClr val="5B6E80"/>
                </a:solidFill>
                <a:latin typeface="Arial"/>
              </a:defRPr>
            </a:pPr>
            <a:r>
              <a:rPr sz="1023"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93" b="1">
                <a:solidFill>
                  <a:srgbClr val="087F82"/>
                </a:solidFill>
                <a:latin typeface="Arial"/>
              </a:defRPr>
            </a:pPr>
            <a:r>
              <a:rPr sz="1570" cap="none">
                <a:latin typeface="Arial"/>
              </a:rPr>
              <a:t>Decode InferenceSet</a:t>
            </a:r>
          </a:p>
          <a:p>
            <a:pPr algn="ctr">
              <a:spcBef>
                <a:spcPts val="225"/>
              </a:spcBef>
              <a:defRPr sz="1322" b="0">
                <a:solidFill>
                  <a:srgbClr val="5B6E80"/>
                </a:solidFill>
                <a:latin typeface="Arial"/>
              </a:defRPr>
            </a:pPr>
            <a:r>
              <a:rPr sz="992"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60" b="1">
                <a:solidFill>
                  <a:srgbClr val="2463D4"/>
                </a:solidFill>
                <a:latin typeface="Arial"/>
              </a:defRPr>
            </a:pPr>
            <a:r>
              <a:rPr sz="1620" cap="none">
                <a:latin typeface="Arial"/>
              </a:rPr>
              <a:t>Routing resources</a:t>
            </a:r>
          </a:p>
          <a:p>
            <a:pPr algn="ctr">
              <a:spcBef>
                <a:spcPts val="225"/>
              </a:spcBef>
              <a:defRPr sz="1364" b="0">
                <a:solidFill>
                  <a:srgbClr val="5B6E80"/>
                </a:solidFill>
                <a:latin typeface="Arial"/>
              </a:defRPr>
            </a:pPr>
            <a:r>
              <a:rPr sz="1023"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932" b="0">
                <a:solidFill>
                  <a:srgbClr val="5B6E80"/>
                </a:solidFill>
                <a:latin typeface="Arial"/>
              </a:defRPr>
            </a:pPr>
            <a:r>
              <a:rPr sz="1450" cap="none">
                <a:latin typeface="Arial"/>
              </a:rPr>
              <a:t>Role labels</a:t>
            </a:r>
          </a:p>
          <a:p>
            <a:pPr>
              <a:spcAft>
                <a:spcPts val="150"/>
              </a:spcAft>
              <a:defRPr sz="1932" b="0">
                <a:solidFill>
                  <a:srgbClr val="5B6E80"/>
                </a:solidFill>
                <a:latin typeface="Arial"/>
              </a:defRPr>
            </a:pPr>
            <a:r>
              <a:rPr sz="1450"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827" b="0">
                <a:solidFill>
                  <a:srgbClr val="5B6E80"/>
                </a:solidFill>
                <a:latin typeface="Arial"/>
              </a:defRPr>
            </a:pPr>
            <a:r>
              <a:rPr sz="1370" cap="none">
                <a:latin typeface="Arial"/>
              </a:rPr>
              <a:t>Routing sidecar injection</a:t>
            </a:r>
          </a:p>
          <a:p>
            <a:pPr>
              <a:spcAft>
                <a:spcPts val="150"/>
              </a:spcAft>
              <a:defRPr sz="1827" b="0">
                <a:solidFill>
                  <a:srgbClr val="5B6E80"/>
                </a:solidFill>
                <a:latin typeface="Arial"/>
              </a:defRPr>
            </a:pPr>
            <a:r>
              <a:rPr sz="1370"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87" b="0">
                <a:solidFill>
                  <a:srgbClr val="5B6E80"/>
                </a:solidFill>
                <a:latin typeface="Arial"/>
              </a:defRPr>
            </a:pPr>
            <a:r>
              <a:rPr sz="1340" cap="none">
                <a:latin typeface="Arial"/>
              </a:rPr>
              <a:t>Services + targetPorts</a:t>
            </a:r>
          </a:p>
          <a:p>
            <a:pPr>
              <a:spcAft>
                <a:spcPts val="150"/>
              </a:spcAft>
              <a:defRPr sz="1787" b="0">
                <a:solidFill>
                  <a:srgbClr val="5B6E80"/>
                </a:solidFill>
                <a:latin typeface="Arial"/>
              </a:defRPr>
            </a:pPr>
            <a:r>
              <a:rPr sz="1340"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70154"/>
          </a:xfrm>
          <a:prstGeom prst="rect">
            <a:avLst/>
          </a:prstGeom>
          <a:noFill/>
        </p:spPr>
        <p:txBody>
          <a:bodyPr wrap="square" lIns="0" tIns="0" rIns="0" bIns="0" anchor="t">
            <a:noAutofit/>
          </a:bodyPr>
          <a:lstStyle/>
          <a:p>
            <a:pPr algn="ctr">
              <a:spcAft>
                <a:spcPts val="150"/>
              </a:spcAft>
              <a:defRPr sz="1480" b="0">
                <a:solidFill>
                  <a:srgbClr val="5B6E80"/>
                </a:solidFill>
                <a:latin typeface="Arial"/>
              </a:defRPr>
            </a:pPr>
            <a:r>
              <a:rPr sz="1110"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82143"/>
          </a:xfrm>
          <a:prstGeom prst="rect">
            <a:avLst/>
          </a:prstGeom>
          <a:noFill/>
        </p:spPr>
        <p:txBody>
          <a:bodyPr wrap="square" lIns="0" tIns="0" rIns="0" bIns="0" anchor="t">
            <a:noAutofit/>
          </a:bodyPr>
          <a:lstStyle/>
          <a:p>
            <a:pPr>
              <a:spcAft>
                <a:spcPts val="150"/>
              </a:spcAft>
              <a:defRPr sz="1587" b="1">
                <a:solidFill>
                  <a:srgbClr val="10243A"/>
                </a:solidFill>
                <a:latin typeface="Arial"/>
              </a:defRPr>
            </a:pPr>
            <a:r>
              <a:rPr sz="119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85"/>
          </a:xfrm>
          <a:prstGeom prst="rect">
            <a:avLst/>
          </a:prstGeom>
          <a:noFill/>
        </p:spPr>
        <p:txBody>
          <a:bodyPr wrap="square" lIns="0" tIns="0" rIns="0" bIns="0" anchor="t">
            <a:noAutofit/>
          </a:bodyPr>
          <a:lstStyle/>
          <a:p>
            <a:pPr>
              <a:spcAft>
                <a:spcPts val="150"/>
              </a:spcAft>
              <a:defRPr sz="1187" b="1">
                <a:solidFill>
                  <a:srgbClr val="5B6E80"/>
                </a:solidFill>
                <a:latin typeface="Arial"/>
              </a:defRPr>
            </a:pPr>
            <a:r>
              <a:rPr sz="890" cap="none">
                <a:latin typeface="Arial"/>
              </a:rPr>
              <a:t>REQUEST LIFECYCLE  /  KAITO + llm-d</a:t>
            </a:r>
          </a:p>
        </p:txBody>
      </p:sp>
      <p:sp>
        <p:nvSpPr>
          <p:cNvPr id="4" name="The decode sidecar coordinates the P/D request"/>
          <p:cNvSpPr txBox="1"/>
          <p:nvPr/>
        </p:nvSpPr>
        <p:spPr>
          <a:xfrm>
            <a:off x="365760" y="539496"/>
            <a:ext cx="8412480" cy="420623"/>
          </a:xfrm>
          <a:prstGeom prst="rect">
            <a:avLst/>
          </a:prstGeom>
          <a:noFill/>
        </p:spPr>
        <p:txBody>
          <a:bodyPr wrap="none" lIns="0" tIns="0" rIns="0" bIns="0" anchor="t">
            <a:noAutofit/>
          </a:bodyPr>
          <a:lstStyle/>
          <a:p>
            <a:pPr>
              <a:spcAft>
                <a:spcPts val="300"/>
              </a:spcAft>
              <a:defRPr sz="3414" b="1">
                <a:solidFill>
                  <a:srgbClr val="10243A"/>
                </a:solidFill>
                <a:latin typeface="Arial"/>
              </a:defRPr>
            </a:pPr>
            <a:r>
              <a:rPr sz="239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36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87" b="1">
                <a:solidFill>
                  <a:srgbClr val="2463D4"/>
                </a:solidFill>
                <a:latin typeface="Arial"/>
              </a:defRPr>
            </a:pPr>
            <a:r>
              <a:rPr sz="119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87" b="1">
                <a:solidFill>
                  <a:srgbClr val="2463D4"/>
                </a:solidFill>
                <a:latin typeface="Arial"/>
              </a:defRPr>
            </a:pPr>
            <a:r>
              <a:rPr sz="119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40" b="1">
                <a:solidFill>
                  <a:srgbClr val="2463D4"/>
                </a:solidFill>
                <a:latin typeface="Arial"/>
              </a:defRPr>
            </a:pPr>
            <a:r>
              <a:rPr sz="108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87" b="1">
                <a:solidFill>
                  <a:srgbClr val="A85C05"/>
                </a:solidFill>
                <a:latin typeface="Arial"/>
              </a:defRPr>
            </a:pPr>
            <a:r>
              <a:rPr sz="119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87" b="1">
                <a:solidFill>
                  <a:srgbClr val="087F82"/>
                </a:solidFill>
                <a:latin typeface="Arial"/>
              </a:defRPr>
            </a:pPr>
            <a:r>
              <a:rPr sz="119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47675"/>
          </a:xfrm>
          <a:prstGeom prst="rect">
            <a:avLst/>
          </a:prstGeom>
          <a:noFill/>
        </p:spPr>
        <p:txBody>
          <a:bodyPr wrap="square" lIns="0" tIns="0" rIns="0" bIns="0" anchor="t">
            <a:noAutofit/>
          </a:bodyPr>
          <a:lstStyle/>
          <a:p>
            <a:pPr algn="ctr">
              <a:spcAft>
                <a:spcPts val="150"/>
              </a:spcAft>
              <a:defRPr sz="1280" b="0">
                <a:solidFill>
                  <a:srgbClr val="2463D4"/>
                </a:solidFill>
                <a:latin typeface="Arial"/>
              </a:defRPr>
            </a:pPr>
            <a:r>
              <a:rPr sz="960"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98602"/>
          </a:xfrm>
          <a:prstGeom prst="rect">
            <a:avLst/>
          </a:prstGeom>
          <a:noFill/>
        </p:spPr>
        <p:txBody>
          <a:bodyPr wrap="square" lIns="0" tIns="0" rIns="0" bIns="0" anchor="t">
            <a:noAutofit/>
          </a:bodyPr>
          <a:lstStyle/>
          <a:p>
            <a:pPr algn="ctr">
              <a:spcAft>
                <a:spcPts val="150"/>
              </a:spcAft>
              <a:defRPr sz="1226" b="0">
                <a:solidFill>
                  <a:srgbClr val="2463D4"/>
                </a:solidFill>
                <a:latin typeface="Arial"/>
              </a:defRPr>
            </a:pPr>
            <a:r>
              <a:rPr sz="919" cap="none">
                <a:latin typeface="Arial"/>
              </a:rPr>
              <a:t>2  Route to decode sidecar</a:t>
            </a:r>
          </a:p>
          <a:p>
            <a:pPr algn="ctr">
              <a:spcAft>
                <a:spcPts val="150"/>
              </a:spcAft>
              <a:defRPr sz="1226" b="0">
                <a:solidFill>
                  <a:srgbClr val="2463D4"/>
                </a:solidFill>
                <a:latin typeface="Arial"/>
              </a:defRPr>
            </a:pPr>
            <a:r>
              <a:rPr sz="919"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98602"/>
          </a:xfrm>
          <a:prstGeom prst="rect">
            <a:avLst/>
          </a:prstGeom>
          <a:noFill/>
        </p:spPr>
        <p:txBody>
          <a:bodyPr wrap="square" lIns="0" tIns="0" rIns="0" bIns="0" anchor="t">
            <a:noAutofit/>
          </a:bodyPr>
          <a:lstStyle/>
          <a:p>
            <a:pPr algn="ctr">
              <a:spcAft>
                <a:spcPts val="150"/>
              </a:spcAft>
              <a:defRPr sz="1226" b="0">
                <a:solidFill>
                  <a:srgbClr val="A85C05"/>
                </a:solidFill>
                <a:latin typeface="Arial"/>
              </a:defRPr>
            </a:pPr>
            <a:r>
              <a:rPr sz="919" cap="none">
                <a:latin typeface="Arial"/>
              </a:rPr>
              <a:t>3  Remote prefill</a:t>
            </a:r>
          </a:p>
          <a:p>
            <a:pPr algn="ctr">
              <a:spcAft>
                <a:spcPts val="150"/>
              </a:spcAft>
              <a:defRPr sz="1226" b="0">
                <a:solidFill>
                  <a:srgbClr val="A85C05"/>
                </a:solidFill>
                <a:latin typeface="Arial"/>
              </a:defRPr>
            </a:pPr>
            <a:r>
              <a:rPr sz="919"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47675"/>
          </a:xfrm>
          <a:prstGeom prst="rect">
            <a:avLst/>
          </a:prstGeom>
          <a:noFill/>
        </p:spPr>
        <p:txBody>
          <a:bodyPr wrap="square" lIns="0" tIns="0" rIns="0" bIns="0" anchor="t">
            <a:noAutofit/>
          </a:bodyPr>
          <a:lstStyle/>
          <a:p>
            <a:pPr algn="ctr">
              <a:spcAft>
                <a:spcPts val="150"/>
              </a:spcAft>
              <a:defRPr sz="1280" b="0">
                <a:solidFill>
                  <a:srgbClr val="A85C05"/>
                </a:solidFill>
                <a:latin typeface="Arial"/>
              </a:defRPr>
            </a:pPr>
            <a:r>
              <a:rPr sz="960"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47675"/>
          </a:xfrm>
          <a:prstGeom prst="rect">
            <a:avLst/>
          </a:prstGeom>
          <a:noFill/>
        </p:spPr>
        <p:txBody>
          <a:bodyPr wrap="square" lIns="0" tIns="0" rIns="0" bIns="0" anchor="t">
            <a:noAutofit/>
          </a:bodyPr>
          <a:lstStyle/>
          <a:p>
            <a:pPr algn="ctr">
              <a:spcAft>
                <a:spcPts val="150"/>
              </a:spcAft>
              <a:defRPr sz="1280" b="0">
                <a:solidFill>
                  <a:srgbClr val="2463D4"/>
                </a:solidFill>
                <a:latin typeface="Arial"/>
              </a:defRPr>
            </a:pPr>
            <a:r>
              <a:rPr sz="960"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98602"/>
          </a:xfrm>
          <a:prstGeom prst="rect">
            <a:avLst/>
          </a:prstGeom>
          <a:noFill/>
        </p:spPr>
        <p:txBody>
          <a:bodyPr wrap="square" lIns="0" tIns="0" rIns="0" bIns="0" anchor="t">
            <a:noAutofit/>
          </a:bodyPr>
          <a:lstStyle/>
          <a:p>
            <a:pPr algn="ctr">
              <a:spcAft>
                <a:spcPts val="150"/>
              </a:spcAft>
              <a:defRPr sz="1226" b="0">
                <a:solidFill>
                  <a:srgbClr val="24824C"/>
                </a:solidFill>
                <a:latin typeface="Arial"/>
              </a:defRPr>
            </a:pPr>
            <a:r>
              <a:rPr sz="919" cap="none">
                <a:latin typeface="Arial"/>
              </a:rPr>
              <a:t>6  KV data → decode</a:t>
            </a:r>
          </a:p>
          <a:p>
            <a:pPr algn="ctr">
              <a:spcAft>
                <a:spcPts val="150"/>
              </a:spcAft>
              <a:defRPr sz="1226" b="0">
                <a:solidFill>
                  <a:srgbClr val="24824C"/>
                </a:solidFill>
                <a:latin typeface="Arial"/>
              </a:defRPr>
            </a:pPr>
            <a:r>
              <a:rPr sz="919"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47675"/>
          </a:xfrm>
          <a:prstGeom prst="rect">
            <a:avLst/>
          </a:prstGeom>
          <a:noFill/>
        </p:spPr>
        <p:txBody>
          <a:bodyPr wrap="square" lIns="0" tIns="0" rIns="0" bIns="0" anchor="t">
            <a:noAutofit/>
          </a:bodyPr>
          <a:lstStyle/>
          <a:p>
            <a:pPr algn="ctr">
              <a:spcAft>
                <a:spcPts val="150"/>
              </a:spcAft>
              <a:defRPr sz="1280" b="0">
                <a:solidFill>
                  <a:srgbClr val="087F82"/>
                </a:solidFill>
                <a:latin typeface="Arial"/>
              </a:defRPr>
            </a:pPr>
            <a:r>
              <a:rPr sz="960"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47675"/>
          </a:xfrm>
          <a:prstGeom prst="rect">
            <a:avLst/>
          </a:prstGeom>
          <a:noFill/>
        </p:spPr>
        <p:txBody>
          <a:bodyPr wrap="square" lIns="0" tIns="0" rIns="0" bIns="0" anchor="t">
            <a:noAutofit/>
          </a:bodyPr>
          <a:lstStyle/>
          <a:p>
            <a:pPr algn="ctr">
              <a:spcAft>
                <a:spcPts val="150"/>
              </a:spcAft>
              <a:defRPr sz="1280" b="0">
                <a:solidFill>
                  <a:srgbClr val="087F82"/>
                </a:solidFill>
                <a:latin typeface="Arial"/>
              </a:defRPr>
            </a:pPr>
            <a:r>
              <a:rPr sz="960"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47675"/>
          </a:xfrm>
          <a:prstGeom prst="rect">
            <a:avLst/>
          </a:prstGeom>
          <a:noFill/>
        </p:spPr>
        <p:txBody>
          <a:bodyPr wrap="square" lIns="0" tIns="0" rIns="0" bIns="0" anchor="t">
            <a:noAutofit/>
          </a:bodyPr>
          <a:lstStyle/>
          <a:p>
            <a:pPr algn="ctr">
              <a:spcAft>
                <a:spcPts val="150"/>
              </a:spcAft>
              <a:defRPr sz="1280" b="0">
                <a:solidFill>
                  <a:srgbClr val="087F82"/>
                </a:solidFill>
                <a:latin typeface="Arial"/>
              </a:defRPr>
            </a:pPr>
            <a:r>
              <a:rPr sz="960"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187" b="1">
                <a:solidFill>
                  <a:srgbClr val="087F82"/>
                </a:solidFill>
                <a:latin typeface="Arial"/>
              </a:defRPr>
            </a:pPr>
            <a:r>
              <a:rPr sz="89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187" b="1">
                <a:solidFill>
                  <a:srgbClr val="A85C05"/>
                </a:solidFill>
                <a:latin typeface="Arial"/>
              </a:defRPr>
            </a:pPr>
            <a:r>
              <a:rPr sz="89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82143"/>
          </a:xfrm>
          <a:prstGeom prst="rect">
            <a:avLst/>
          </a:prstGeom>
          <a:noFill/>
        </p:spPr>
        <p:txBody>
          <a:bodyPr wrap="square" lIns="0" tIns="0" rIns="0" bIns="0" anchor="t">
            <a:noAutofit/>
          </a:bodyPr>
          <a:lstStyle/>
          <a:p>
            <a:pPr>
              <a:spcAft>
                <a:spcPts val="150"/>
              </a:spcAft>
              <a:defRPr sz="1587" b="1">
                <a:solidFill>
                  <a:srgbClr val="10243A"/>
                </a:solidFill>
                <a:latin typeface="Arial"/>
              </a:defRPr>
            </a:pPr>
            <a:r>
              <a:rPr sz="119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31 / 49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85"/>
          </a:xfrm>
          <a:prstGeom prst="rect">
            <a:avLst/>
          </a:prstGeom>
          <a:noFill/>
        </p:spPr>
        <p:txBody>
          <a:bodyPr wrap="square" lIns="0" tIns="0" rIns="0" bIns="0" anchor="t">
            <a:noAutofit/>
          </a:bodyPr>
          <a:lstStyle/>
          <a:p>
            <a:pPr>
              <a:spcAft>
                <a:spcPts val="150"/>
              </a:spcAft>
              <a:defRPr sz="1187" b="1">
                <a:solidFill>
                  <a:srgbClr val="5B6E80"/>
                </a:solidFill>
                <a:latin typeface="Arial"/>
              </a:defRPr>
            </a:pPr>
            <a:r>
              <a:rPr sz="890" cap="none">
                <a:latin typeface="Arial"/>
              </a:rPr>
              <a:t>POD BOUNDARY  /  KAITO + llm-d</a:t>
            </a:r>
          </a:p>
        </p:txBody>
      </p:sp>
      <p:sp>
        <p:nvSpPr>
          <p:cNvPr id="4" name="Why the sidecar belongs on the decode pod"/>
          <p:cNvSpPr txBox="1"/>
          <p:nvPr/>
        </p:nvSpPr>
        <p:spPr>
          <a:xfrm>
            <a:off x="365760" y="539496"/>
            <a:ext cx="8412480" cy="420623"/>
          </a:xfrm>
          <a:prstGeom prst="rect">
            <a:avLst/>
          </a:prstGeom>
          <a:noFill/>
        </p:spPr>
        <p:txBody>
          <a:bodyPr wrap="none" lIns="0" tIns="0" rIns="0" bIns="0" anchor="t">
            <a:noAutofit/>
          </a:bodyPr>
          <a:lstStyle/>
          <a:p>
            <a:pPr>
              <a:spcAft>
                <a:spcPts val="300"/>
              </a:spcAft>
              <a:defRPr sz="3414" b="1">
                <a:solidFill>
                  <a:srgbClr val="10243A"/>
                </a:solidFill>
                <a:latin typeface="Arial"/>
              </a:defRPr>
            </a:pPr>
            <a:r>
              <a:rPr sz="239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36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387" b="1">
                <a:solidFill>
                  <a:srgbClr val="087F82"/>
                </a:solidFill>
                <a:latin typeface="Arial"/>
              </a:defRPr>
            </a:pPr>
            <a:r>
              <a:rPr sz="104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39" b="1">
                <a:solidFill>
                  <a:srgbClr val="2463D4"/>
                </a:solidFill>
                <a:latin typeface="Arial"/>
              </a:defRPr>
            </a:pPr>
            <a:r>
              <a:rPr sz="1530" cap="none">
                <a:latin typeface="Arial"/>
              </a:rPr>
              <a:t>Gateway</a:t>
            </a:r>
          </a:p>
          <a:p>
            <a:pPr algn="ctr">
              <a:spcBef>
                <a:spcPts val="225"/>
              </a:spcBef>
              <a:defRPr sz="1360" b="0">
                <a:solidFill>
                  <a:srgbClr val="5B6E80"/>
                </a:solidFill>
                <a:latin typeface="Arial"/>
              </a:defRPr>
            </a:pPr>
            <a:r>
              <a:rPr sz="1019"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7" b="1">
                <a:solidFill>
                  <a:srgbClr val="2463D4"/>
                </a:solidFill>
                <a:latin typeface="Arial"/>
              </a:defRPr>
            </a:pPr>
            <a:r>
              <a:rPr sz="1580" cap="none">
                <a:latin typeface="Arial"/>
              </a:rPr>
              <a:t>Routing sidecar</a:t>
            </a:r>
          </a:p>
          <a:p>
            <a:pPr algn="ctr">
              <a:spcBef>
                <a:spcPts val="225"/>
              </a:spcBef>
              <a:defRPr sz="1264" b="0">
                <a:solidFill>
                  <a:srgbClr val="5B6E80"/>
                </a:solidFill>
                <a:latin typeface="Arial"/>
              </a:defRPr>
            </a:pPr>
            <a:r>
              <a:rPr sz="948"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60" b="1">
                <a:solidFill>
                  <a:srgbClr val="087F82"/>
                </a:solidFill>
                <a:latin typeface="Arial"/>
              </a:defRPr>
            </a:pPr>
            <a:r>
              <a:rPr sz="1620" cap="none">
                <a:latin typeface="Arial"/>
              </a:rPr>
              <a:t>Local decode vLLM</a:t>
            </a:r>
          </a:p>
          <a:p>
            <a:pPr algn="ctr">
              <a:spcBef>
                <a:spcPts val="225"/>
              </a:spcBef>
              <a:defRPr sz="1364" b="0">
                <a:solidFill>
                  <a:srgbClr val="5B6E80"/>
                </a:solidFill>
                <a:latin typeface="Arial"/>
              </a:defRPr>
            </a:pPr>
            <a:r>
              <a:rPr sz="1023"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10591"/>
          </a:xfrm>
          <a:prstGeom prst="rect">
            <a:avLst/>
          </a:prstGeom>
          <a:noFill/>
        </p:spPr>
        <p:txBody>
          <a:bodyPr wrap="square" lIns="0" tIns="0" rIns="0" bIns="0" anchor="t">
            <a:noAutofit/>
          </a:bodyPr>
          <a:lstStyle/>
          <a:p>
            <a:pPr algn="ctr">
              <a:spcAft>
                <a:spcPts val="150"/>
              </a:spcAft>
              <a:defRPr sz="1280" b="0">
                <a:solidFill>
                  <a:srgbClr val="2463D4"/>
                </a:solidFill>
                <a:latin typeface="Arial"/>
              </a:defRPr>
            </a:pPr>
            <a:r>
              <a:rPr sz="960" cap="none">
                <a:latin typeface="Arial"/>
              </a:rPr>
              <a:t>local request</a:t>
            </a:r>
          </a:p>
          <a:p>
            <a:pPr algn="ctr">
              <a:spcAft>
                <a:spcPts val="150"/>
              </a:spcAft>
              <a:defRPr sz="1280" b="0">
                <a:solidFill>
                  <a:srgbClr val="2463D4"/>
                </a:solidFill>
                <a:latin typeface="Arial"/>
              </a:defRPr>
            </a:pPr>
            <a:r>
              <a:rPr sz="960"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39" b="1">
                <a:solidFill>
                  <a:srgbClr val="A85C05"/>
                </a:solidFill>
                <a:latin typeface="Arial"/>
              </a:defRPr>
            </a:pPr>
            <a:r>
              <a:rPr sz="1530" cap="none">
                <a:latin typeface="Arial"/>
              </a:rPr>
              <a:t>Remote prefill</a:t>
            </a:r>
          </a:p>
          <a:p>
            <a:pPr algn="ctr">
              <a:spcBef>
                <a:spcPts val="225"/>
              </a:spcBef>
              <a:defRPr sz="1360" b="0">
                <a:solidFill>
                  <a:srgbClr val="5B6E80"/>
                </a:solidFill>
                <a:latin typeface="Arial"/>
              </a:defRPr>
            </a:pPr>
            <a:r>
              <a:rPr sz="1019"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280" b="0">
                <a:solidFill>
                  <a:srgbClr val="A85C05"/>
                </a:solidFill>
                <a:latin typeface="Arial"/>
              </a:defRPr>
            </a:pPr>
            <a:r>
              <a:rPr sz="960"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387" b="1">
                <a:solidFill>
                  <a:srgbClr val="24824C"/>
                </a:solidFill>
                <a:latin typeface="Arial"/>
              </a:defRPr>
            </a:pPr>
            <a:r>
              <a:rPr sz="1040" cap="none">
                <a:latin typeface="Arial"/>
              </a:rPr>
              <a:t>Direct KV data • bypasses sidecar</a:t>
            </a:r>
          </a:p>
        </p:txBody>
      </p:sp>
      <p:sp>
        <p:nvSpPr>
          <p:cNvPr id="22" name="STABLE EXTERNAL / ROUTING CONTRACT"/>
          <p:cNvSpPr txBox="1"/>
          <p:nvPr/>
        </p:nvSpPr>
        <p:spPr>
          <a:xfrm>
            <a:off x="507492" y="1604772"/>
            <a:ext cx="1920240" cy="387451"/>
          </a:xfrm>
          <a:prstGeom prst="rect">
            <a:avLst/>
          </a:prstGeom>
          <a:noFill/>
        </p:spPr>
        <p:txBody>
          <a:bodyPr wrap="square" lIns="0" tIns="0" rIns="0" bIns="0" anchor="t">
            <a:noAutofit/>
          </a:bodyPr>
          <a:lstStyle/>
          <a:p>
            <a:pPr>
              <a:spcAft>
                <a:spcPts val="150"/>
              </a:spcAft>
              <a:defRPr sz="1280" b="1">
                <a:solidFill>
                  <a:srgbClr val="2463D4"/>
                </a:solidFill>
                <a:latin typeface="Arial"/>
              </a:defRPr>
            </a:pPr>
            <a:r>
              <a:rPr sz="960"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82143"/>
          </a:xfrm>
          <a:prstGeom prst="rect">
            <a:avLst/>
          </a:prstGeom>
          <a:noFill/>
        </p:spPr>
        <p:txBody>
          <a:bodyPr wrap="square" lIns="0" tIns="0" rIns="0" bIns="0" anchor="t">
            <a:noAutofit/>
          </a:bodyPr>
          <a:lstStyle/>
          <a:p>
            <a:pPr>
              <a:spcAft>
                <a:spcPts val="150"/>
              </a:spcAft>
              <a:defRPr sz="1587" b="1">
                <a:solidFill>
                  <a:srgbClr val="10243A"/>
                </a:solidFill>
                <a:latin typeface="Arial"/>
              </a:defRPr>
            </a:pPr>
            <a:r>
              <a:rPr sz="119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32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3"/>
          </a:xfrm>
        </p:spPr>
        <p:txBody>
          <a:bodyPr lIns="0" rIns="0" tIns="0" bIns="0" wrap="none">
            <a:normAutofit/>
          </a:bodyPr>
          <a:lstStyle/>
          <a:p>
            <a:pPr lvl="0">
              <a:spcAft>
                <a:spcPts val="400"/>
              </a:spcAft>
              <a:buClr>
                <a:srgbClr val="000000"/>
              </a:buClr>
              <a:buSzPts val="1200"/>
              <a:defRPr/>
            </a:pPr>
            <a:r>
              <a:rPr lang="en" altLang="zh-CN" sz="239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75677"/>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2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2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2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2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2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33 / 49</a:t>
            </a:r>
          </a:p>
        </p:txBody>
      </p:sp>
    </p:spTree>
    <p:extLst>
      <p:ext uri="{BB962C8B-B14F-4D97-AF65-F5344CB8AC3E}">
        <p14:creationId xmlns:p14="http://schemas.microsoft.com/office/powerpoint/2010/main" val="12328865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820" b="1">
                <a:solidFill>
                  <a:srgbClr val="168C96"/>
                </a:solidFill>
                <a:latin typeface="Arial"/>
              </a:defRPr>
            </a:pPr>
            <a:r>
              <a:rPr cap="none"/>
              <a:t>Prefill worker</a:t>
            </a:r>
          </a:p>
        </p:txBody>
      </p:sp>
      <p:sp>
        <p:nvSpPr>
          <p:cNvPr id="6" name="TextBox 5"/>
          <p:cNvSpPr txBox="1"/>
          <p:nvPr/>
        </p:nvSpPr>
        <p:spPr>
          <a:xfrm>
            <a:off x="667512" y="2505456"/>
            <a:ext cx="2231136" cy="934999"/>
          </a:xfrm>
          <a:prstGeom prst="rect">
            <a:avLst/>
          </a:prstGeom>
          <a:noFill/>
        </p:spPr>
        <p:txBody>
          <a:bodyPr wrap="square" lIns="0" rIns="0" tIns="0" bIns="0">
            <a:spAutoFit/>
          </a:bodyPr>
          <a:lstStyle/>
          <a:p>
            <a:pPr>
              <a:spcAft>
                <a:spcPts val="500"/>
              </a:spcAft>
              <a:defRPr sz="1930" b="0">
                <a:solidFill>
                  <a:srgbClr val="142C46"/>
                </a:solidFill>
                <a:latin typeface="Arial"/>
              </a:defRPr>
            </a:pPr>
            <a:r>
              <a:rPr cap="none"/>
              <a:t>Prompt KV state</a:t>
            </a:r>
          </a:p>
          <a:p>
            <a:pPr>
              <a:spcAft>
                <a:spcPts val="500"/>
              </a:spcAft>
              <a:defRPr sz="193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82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5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250" b="0">
                <a:solidFill>
                  <a:srgbClr val="52677D"/>
                </a:solidFill>
                <a:latin typeface="Arial"/>
              </a:defRPr>
            </a:pPr>
            <a:r>
              <a:rPr cap="none"/>
              <a:t>NIXL + transport backend</a:t>
            </a:r>
          </a:p>
          <a:p>
            <a:pPr>
              <a:spcAft>
                <a:spcPts val="500"/>
              </a:spcAft>
              <a:defRPr sz="125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59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34 / 49</a:t>
            </a:r>
          </a:p>
        </p:txBody>
      </p:sp>
    </p:spTree>
    <p:extLst>
      <p:ext uri="{BB962C8B-B14F-4D97-AF65-F5344CB8AC3E}">
        <p14:creationId xmlns:p14="http://schemas.microsoft.com/office/powerpoint/2010/main" val="23995013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Per-role autoscaling</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dirty="0" err="1" cap="none" b="1">
                <a:solidFill>
                  <a:srgbClr val="142C46"/>
                </a:solidFill>
                <a:latin typeface="Arial"/>
              </a:rPr>
              <a:t>Autoscale</a:t>
            </a:r>
            <a:r>
              <a:rPr sz="239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79146"/>
          </a:xfrm>
          <a:prstGeom prst="rect">
            <a:avLst/>
          </a:prstGeom>
          <a:noFill/>
        </p:spPr>
        <p:txBody>
          <a:bodyPr wrap="square" lIns="10287" tIns="10287" rIns="10287" bIns="10287">
            <a:spAutoFit/>
          </a:bodyPr>
          <a:lstStyle/>
          <a:p>
            <a:pPr>
              <a:spcAft>
                <a:spcPts val="375"/>
              </a:spcAft>
              <a:defRPr sz="2267" b="1">
                <a:solidFill>
                  <a:srgbClr val="087F8C"/>
                </a:solidFill>
                <a:latin typeface="Arial"/>
              </a:defRPr>
            </a:pPr>
            <a:r>
              <a:rPr sz="1700" cap="none">
                <a:latin typeface="Arial"/>
              </a:rPr>
              <a:t>Prefill</a:t>
            </a:r>
          </a:p>
        </p:txBody>
      </p:sp>
      <p:sp>
        <p:nvSpPr>
          <p:cNvPr id="13" name="TextBox 12"/>
          <p:cNvSpPr txBox="1"/>
          <p:nvPr/>
        </p:nvSpPr>
        <p:spPr>
          <a:xfrm>
            <a:off x="514350" y="2338579"/>
            <a:ext cx="3806190" cy="635482"/>
          </a:xfrm>
          <a:prstGeom prst="rect">
            <a:avLst/>
          </a:prstGeom>
          <a:noFill/>
        </p:spPr>
        <p:txBody>
          <a:bodyPr wrap="square" lIns="10287" tIns="10287" rIns="10287" bIns="10287">
            <a:spAutoFit/>
          </a:bodyPr>
          <a:lstStyle/>
          <a:p>
            <a:pPr>
              <a:spcAft>
                <a:spcPts val="375"/>
              </a:spcAft>
              <a:defRPr sz="2507" b="0">
                <a:solidFill>
                  <a:srgbClr val="172941"/>
                </a:solidFill>
                <a:latin typeface="Arial"/>
              </a:defRPr>
            </a:pPr>
            <a:r>
              <a:rPr sz="1880" cap="none">
                <a:latin typeface="Arial"/>
              </a:rPr>
              <a:t>Protect prompt latency</a:t>
            </a:r>
          </a:p>
          <a:p>
            <a:pPr>
              <a:spcAft>
                <a:spcPts val="375"/>
              </a:spcAft>
              <a:defRPr sz="2507" b="0">
                <a:solidFill>
                  <a:srgbClr val="172941"/>
                </a:solidFill>
                <a:latin typeface="Arial"/>
              </a:defRPr>
            </a:pPr>
            <a:r>
              <a:rPr sz="188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57759"/>
          </a:xfrm>
          <a:prstGeom prst="rect">
            <a:avLst/>
          </a:prstGeom>
          <a:noFill/>
        </p:spPr>
        <p:txBody>
          <a:bodyPr wrap="square" lIns="10287" tIns="10287" rIns="10287" bIns="10287">
            <a:spAutoFit/>
          </a:bodyPr>
          <a:lstStyle/>
          <a:p>
            <a:pPr algn="ctr">
              <a:spcAft>
                <a:spcPts val="375"/>
              </a:spcAft>
              <a:defRPr sz="1187" b="1">
                <a:solidFill>
                  <a:srgbClr val="087F8C"/>
                </a:solidFill>
                <a:latin typeface="Arial"/>
              </a:defRPr>
            </a:pPr>
            <a:r>
              <a:rPr sz="89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79146"/>
          </a:xfrm>
          <a:prstGeom prst="rect">
            <a:avLst/>
          </a:prstGeom>
          <a:noFill/>
        </p:spPr>
        <p:txBody>
          <a:bodyPr wrap="square" lIns="10287" tIns="10287" rIns="10287" bIns="10287">
            <a:spAutoFit/>
          </a:bodyPr>
          <a:lstStyle/>
          <a:p>
            <a:pPr>
              <a:spcAft>
                <a:spcPts val="375"/>
              </a:spcAft>
              <a:defRPr sz="2267" b="1">
                <a:solidFill>
                  <a:srgbClr val="7354B8"/>
                </a:solidFill>
                <a:latin typeface="Arial"/>
              </a:defRPr>
            </a:pPr>
            <a:r>
              <a:rPr sz="1700" cap="none">
                <a:latin typeface="Arial"/>
              </a:rPr>
              <a:t>Decode</a:t>
            </a:r>
          </a:p>
        </p:txBody>
      </p:sp>
      <p:sp>
        <p:nvSpPr>
          <p:cNvPr id="19" name="TextBox 18"/>
          <p:cNvSpPr txBox="1"/>
          <p:nvPr/>
        </p:nvSpPr>
        <p:spPr>
          <a:xfrm>
            <a:off x="4786884" y="2338579"/>
            <a:ext cx="3806190" cy="635482"/>
          </a:xfrm>
          <a:prstGeom prst="rect">
            <a:avLst/>
          </a:prstGeom>
          <a:noFill/>
        </p:spPr>
        <p:txBody>
          <a:bodyPr wrap="square" lIns="10287" tIns="10287" rIns="10287" bIns="10287">
            <a:spAutoFit/>
          </a:bodyPr>
          <a:lstStyle/>
          <a:p>
            <a:pPr>
              <a:spcAft>
                <a:spcPts val="375"/>
              </a:spcAft>
              <a:defRPr sz="2507" b="0">
                <a:solidFill>
                  <a:srgbClr val="172941"/>
                </a:solidFill>
                <a:latin typeface="Arial"/>
              </a:defRPr>
            </a:pPr>
            <a:r>
              <a:rPr sz="1880" cap="none">
                <a:latin typeface="Arial"/>
              </a:rPr>
              <a:t>Protect token delivery</a:t>
            </a:r>
          </a:p>
          <a:p>
            <a:pPr>
              <a:spcAft>
                <a:spcPts val="375"/>
              </a:spcAft>
              <a:defRPr sz="2507" b="0">
                <a:solidFill>
                  <a:srgbClr val="172941"/>
                </a:solidFill>
                <a:latin typeface="Arial"/>
              </a:defRPr>
            </a:pPr>
            <a:r>
              <a:rPr sz="188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57759"/>
          </a:xfrm>
          <a:prstGeom prst="rect">
            <a:avLst/>
          </a:prstGeom>
          <a:noFill/>
        </p:spPr>
        <p:txBody>
          <a:bodyPr wrap="square" lIns="10287" tIns="10287" rIns="10287" bIns="10287">
            <a:spAutoFit/>
          </a:bodyPr>
          <a:lstStyle/>
          <a:p>
            <a:pPr algn="ctr">
              <a:spcAft>
                <a:spcPts val="375"/>
              </a:spcAft>
              <a:defRPr sz="1187" b="1">
                <a:solidFill>
                  <a:srgbClr val="7354B8"/>
                </a:solidFill>
                <a:latin typeface="Arial"/>
              </a:defRPr>
            </a:pPr>
            <a:r>
              <a:rPr sz="89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35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Existing capability</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57759"/>
          </a:xfrm>
          <a:prstGeom prst="rect">
            <a:avLst/>
          </a:prstGeom>
          <a:noFill/>
        </p:spPr>
        <p:txBody>
          <a:bodyPr wrap="square" lIns="10287" tIns="10287" rIns="10287" bIns="10287">
            <a:spAutoFit/>
          </a:bodyPr>
          <a:lstStyle/>
          <a:p>
            <a:pPr algn="ctr">
              <a:spcAft>
                <a:spcPts val="375"/>
              </a:spcAft>
              <a:defRPr sz="1187" b="1">
                <a:solidFill>
                  <a:srgbClr val="2563EB"/>
                </a:solidFill>
                <a:latin typeface="Arial"/>
              </a:defRPr>
            </a:pPr>
            <a:r>
              <a:rPr sz="89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306120"/>
          </a:xfrm>
          <a:prstGeom prst="rect">
            <a:avLst/>
          </a:prstGeom>
          <a:noFill/>
        </p:spPr>
        <p:txBody>
          <a:bodyPr wrap="square" lIns="10287" tIns="10287" rIns="10287" bIns="10287">
            <a:spAutoFit/>
          </a:bodyPr>
          <a:lstStyle/>
          <a:p>
            <a:pPr algn="ctr">
              <a:spcAft>
                <a:spcPts val="375"/>
              </a:spcAft>
              <a:defRPr sz="2507" b="1">
                <a:solidFill>
                  <a:srgbClr val="AE641A"/>
                </a:solidFill>
                <a:latin typeface="Arial"/>
              </a:defRPr>
            </a:pPr>
            <a:r>
              <a:rPr sz="1880" cap="none">
                <a:latin typeface="Arial"/>
              </a:rPr>
              <a:t>Trigger</a:t>
            </a:r>
          </a:p>
        </p:txBody>
      </p:sp>
      <p:sp>
        <p:nvSpPr>
          <p:cNvPr id="15" name="TextBox 14"/>
          <p:cNvSpPr txBox="1"/>
          <p:nvPr/>
        </p:nvSpPr>
        <p:spPr>
          <a:xfrm>
            <a:off x="486918" y="2558035"/>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306120"/>
          </a:xfrm>
          <a:prstGeom prst="rect">
            <a:avLst/>
          </a:prstGeom>
          <a:noFill/>
        </p:spPr>
        <p:txBody>
          <a:bodyPr wrap="square" lIns="10287" tIns="10287" rIns="10287" bIns="10287">
            <a:spAutoFit/>
          </a:bodyPr>
          <a:lstStyle/>
          <a:p>
            <a:pPr algn="ctr">
              <a:spcAft>
                <a:spcPts val="375"/>
              </a:spcAft>
              <a:defRPr sz="2507" b="1">
                <a:solidFill>
                  <a:srgbClr val="2563EB"/>
                </a:solidFill>
                <a:latin typeface="Arial"/>
              </a:defRPr>
            </a:pPr>
            <a:r>
              <a:rPr sz="1880" cap="none">
                <a:latin typeface="Arial"/>
              </a:rPr>
              <a:t>KEDA / HPA</a:t>
            </a:r>
          </a:p>
        </p:txBody>
      </p:sp>
      <p:sp>
        <p:nvSpPr>
          <p:cNvPr id="19" name="TextBox 18"/>
          <p:cNvSpPr txBox="1"/>
          <p:nvPr/>
        </p:nvSpPr>
        <p:spPr>
          <a:xfrm>
            <a:off x="3483864" y="2558035"/>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306120"/>
          </a:xfrm>
          <a:prstGeom prst="rect">
            <a:avLst/>
          </a:prstGeom>
          <a:noFill/>
        </p:spPr>
        <p:txBody>
          <a:bodyPr wrap="square" lIns="10287" tIns="10287" rIns="10287" bIns="10287">
            <a:spAutoFit/>
          </a:bodyPr>
          <a:lstStyle/>
          <a:p>
            <a:pPr algn="ctr">
              <a:spcAft>
                <a:spcPts val="375"/>
              </a:spcAft>
              <a:defRPr sz="2507" b="1">
                <a:solidFill>
                  <a:srgbClr val="087F8C"/>
                </a:solidFill>
                <a:latin typeface="Arial"/>
              </a:defRPr>
            </a:pPr>
            <a:r>
              <a:rPr sz="1880" cap="none">
                <a:latin typeface="Arial"/>
              </a:rPr>
              <a:t>InferenceSet</a:t>
            </a:r>
          </a:p>
        </p:txBody>
      </p:sp>
      <p:sp>
        <p:nvSpPr>
          <p:cNvPr id="23" name="TextBox 22"/>
          <p:cNvSpPr txBox="1"/>
          <p:nvPr/>
        </p:nvSpPr>
        <p:spPr>
          <a:xfrm>
            <a:off x="6473952" y="2558035"/>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9202"/>
          </a:xfrm>
          <a:prstGeom prst="rect">
            <a:avLst/>
          </a:prstGeom>
          <a:noFill/>
        </p:spPr>
        <p:txBody>
          <a:bodyPr wrap="square" lIns="10287" tIns="10287" rIns="10287" bIns="10287">
            <a:spAutoFit/>
          </a:bodyPr>
          <a:lstStyle/>
          <a:p>
            <a:pPr>
              <a:spcAft>
                <a:spcPts val="375"/>
              </a:spcAft>
              <a:defRPr sz="1732" b="1">
                <a:solidFill>
                  <a:srgbClr val="586A80"/>
                </a:solidFill>
                <a:latin typeface="Arial"/>
              </a:defRPr>
            </a:pPr>
            <a:r>
              <a:rPr sz="1300" cap="none">
                <a:latin typeface="Arial"/>
              </a:rPr>
              <a:t>Documented queue signal</a:t>
            </a:r>
          </a:p>
        </p:txBody>
      </p:sp>
      <p:sp>
        <p:nvSpPr>
          <p:cNvPr id="28" name="TextBox 27"/>
          <p:cNvSpPr txBox="1"/>
          <p:nvPr/>
        </p:nvSpPr>
        <p:spPr>
          <a:xfrm>
            <a:off x="3223260" y="3641599"/>
            <a:ext cx="5280660" cy="267157"/>
          </a:xfrm>
          <a:prstGeom prst="rect">
            <a:avLst/>
          </a:prstGeom>
          <a:noFill/>
        </p:spPr>
        <p:txBody>
          <a:bodyPr wrap="square" lIns="10287" tIns="10287" rIns="10287" bIns="10287">
            <a:spAutoFit/>
          </a:bodyPr>
          <a:lstStyle/>
          <a:p>
            <a:pPr>
              <a:spcAft>
                <a:spcPts val="375"/>
              </a:spcAft>
              <a:defRPr sz="2160" b="0">
                <a:solidFill>
                  <a:srgbClr val="087F8C"/>
                </a:solidFill>
                <a:latin typeface="Courier New"/>
              </a:defRPr>
            </a:pPr>
            <a:r>
              <a:rPr sz="1620"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36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3"/>
          </a:xfrm>
        </p:spPr>
        <p:txBody>
          <a:bodyPr lIns="0" rIns="0" tIns="0" bIns="0" wrap="none">
            <a:normAutofit/>
          </a:bodyPr>
          <a:lstStyle/>
          <a:p>
            <a:pPr>
              <a:defRPr/>
            </a:pPr>
            <a:r>
              <a:rPr lang="en-US" dirty="0" cap="none" sz="2390" b="1">
                <a:solidFill>
                  <a:srgbClr val="142C46"/>
                </a:solidFill>
                <a:latin typeface="Arial"/>
              </a:rPr>
              <a:t>KAITO autoscaling: keda-</a:t>
            </a:r>
            <a:r>
              <a:rPr lang="en-US" dirty="0" err="1" cap="none" sz="2390" b="1">
                <a:solidFill>
                  <a:srgbClr val="142C46"/>
                </a:solidFill>
                <a:latin typeface="Arial"/>
              </a:rPr>
              <a:t>kaito</a:t>
            </a:r>
            <a:r>
              <a:rPr lang="en-US" dirty="0" cap="none" sz="239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pPr>
              <a:defRPr/>
            </a:pPr>
            <a:r>
              <a:rPr lang="en-US" sz="136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pPr>
              <a:defRPr/>
            </a:pPr>
            <a:r>
              <a:rPr lang="en-US" sz="1360" b="1" dirty="0" cap="none">
                <a:solidFill>
                  <a:srgbClr val="142C46"/>
                </a:solidFill>
                <a:latin typeface="Arial"/>
              </a:rPr>
              <a:t>What it adds</a:t>
            </a:r>
            <a:br/>
            <a:r>
              <a:rPr cap="none" sz="1360">
                <a:solidFill>
                  <a:srgbClr val="142C46"/>
                </a:solidFill>
                <a:latin typeface="Arial"/>
              </a:rPr>
              <a:t>No Prometheus required</a:t>
            </a:r>
            <a:br/>
            <a:r>
              <a:rPr cap="none" sz="1360">
                <a:solidFill>
                  <a:srgbClr val="142C46"/>
                </a:solidFill>
                <a:latin typeface="Arial"/>
              </a:rPr>
              <a:t>Direct vLLM metric scraping</a:t>
            </a:r>
            <a:br/>
            <a:r>
              <a:rPr cap="none" sz="1360">
                <a:solidFill>
                  <a:srgbClr val="142C46"/>
                </a:solidFill>
                <a:latin typeface="Arial"/>
              </a:rPr>
              <a:t>Conservative replica steps</a:t>
            </a:r>
            <a:br/>
            <a:r>
              <a:rPr cap="none" sz="1360">
                <a:solidFill>
                  <a:srgbClr val="142C46"/>
                </a:solidFill>
                <a:latin typeface="Arial"/>
              </a:rPr>
              <a:t>Queue and latency signals</a:t>
            </a:r>
            <a:br/>
            <a:r>
              <a:rPr cap="none" sz="136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37 / 49</a:t>
            </a:r>
          </a:p>
        </p:txBody>
      </p:sp>
    </p:spTree>
    <p:extLst>
      <p:ext uri="{BB962C8B-B14F-4D97-AF65-F5344CB8AC3E}">
        <p14:creationId xmlns:p14="http://schemas.microsoft.com/office/powerpoint/2010/main" val="1710340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82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30" b="0">
                <a:solidFill>
                  <a:srgbClr val="142C46"/>
                </a:solidFill>
                <a:latin typeface="Arial"/>
              </a:defRPr>
            </a:pPr>
            <a:r>
              <a:rPr cap="none"/>
              <a:t>Select queue and latency metrics</a:t>
            </a:r>
          </a:p>
          <a:p>
            <a:pPr>
              <a:spcAft>
                <a:spcPts val="500"/>
              </a:spcAft>
              <a:defRPr sz="1530" b="0">
                <a:solidFill>
                  <a:srgbClr val="142C46"/>
                </a:solidFill>
                <a:latin typeface="Arial"/>
              </a:defRPr>
            </a:pPr>
            <a:r>
              <a:rPr cap="none"/>
              <a:t>Set thresholds and aggregation windows</a:t>
            </a:r>
          </a:p>
          <a:p>
            <a:pPr>
              <a:spcAft>
                <a:spcPts val="500"/>
              </a:spcAft>
              <a:defRPr sz="1530" b="0">
                <a:solidFill>
                  <a:srgbClr val="142C46"/>
                </a:solidFill>
                <a:latin typeface="Arial"/>
              </a:defRPr>
            </a:pPr>
            <a:r>
              <a:rPr cap="none"/>
              <a:t>Choose replica bounds and cooldowns</a:t>
            </a:r>
          </a:p>
          <a:p>
            <a:pPr>
              <a:spcAft>
                <a:spcPts val="500"/>
              </a:spcAft>
              <a:defRPr sz="153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82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20" b="0">
                <a:solidFill>
                  <a:srgbClr val="142C46"/>
                </a:solidFill>
                <a:latin typeface="Arial"/>
              </a:defRPr>
            </a:pPr>
            <a:r>
              <a:rPr cap="none"/>
              <a:t>Keep minimum and maximum replicas</a:t>
            </a:r>
          </a:p>
          <a:p>
            <a:pPr>
              <a:spcAft>
                <a:spcPts val="500"/>
              </a:spcAft>
              <a:defRPr sz="1520" b="0">
                <a:solidFill>
                  <a:srgbClr val="142C46"/>
                </a:solidFill>
                <a:latin typeface="Arial"/>
              </a:defRPr>
            </a:pPr>
            <a:r>
              <a:rPr cap="none"/>
              <a:t>Derive more defaults automatically</a:t>
            </a:r>
          </a:p>
          <a:p>
            <a:pPr>
              <a:spcAft>
                <a:spcPts val="500"/>
              </a:spcAft>
              <a:defRPr sz="1520" b="0">
                <a:solidFill>
                  <a:srgbClr val="142C46"/>
                </a:solidFill>
                <a:latin typeface="Arial"/>
              </a:defRPr>
            </a:pPr>
            <a:r>
              <a:rPr cap="none"/>
              <a:t>Validate against the model and workload</a:t>
            </a:r>
          </a:p>
          <a:p>
            <a:pPr>
              <a:spcAft>
                <a:spcPts val="500"/>
              </a:spcAft>
              <a:defRPr sz="152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38 / 49</a:t>
            </a:r>
          </a:p>
        </p:txBody>
      </p:sp>
    </p:spTree>
    <p:extLst>
      <p:ext uri="{BB962C8B-B14F-4D97-AF65-F5344CB8AC3E}">
        <p14:creationId xmlns:p14="http://schemas.microsoft.com/office/powerpoint/2010/main" val="33449363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Per-role autoscaling</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190" b="1">
                <a:solidFill>
                  <a:srgbClr val="172941"/>
                </a:solidFill>
                <a:latin typeface="Arial"/>
              </a:defRPr>
            </a:pPr>
            <a:r>
              <a:rPr sz="231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57759"/>
          </a:xfrm>
          <a:prstGeom prst="rect">
            <a:avLst/>
          </a:prstGeom>
          <a:noFill/>
        </p:spPr>
        <p:txBody>
          <a:bodyPr wrap="square" lIns="10287" tIns="10287" rIns="10287" bIns="10287">
            <a:spAutoFit/>
          </a:bodyPr>
          <a:lstStyle/>
          <a:p>
            <a:pPr algn="ctr">
              <a:spcAft>
                <a:spcPts val="375"/>
              </a:spcAft>
              <a:defRPr sz="1187" b="1">
                <a:solidFill>
                  <a:srgbClr val="087F8C"/>
                </a:solidFill>
                <a:latin typeface="Arial"/>
              </a:defRPr>
            </a:pPr>
            <a:r>
              <a:rPr sz="89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34188"/>
          </a:xfrm>
          <a:prstGeom prst="rect">
            <a:avLst/>
          </a:prstGeom>
          <a:noFill/>
        </p:spPr>
        <p:txBody>
          <a:bodyPr wrap="square" lIns="10287" tIns="10287" rIns="10287" bIns="10287">
            <a:spAutoFit/>
          </a:bodyPr>
          <a:lstStyle/>
          <a:p>
            <a:pPr algn="ctr">
              <a:spcAft>
                <a:spcPts val="375"/>
              </a:spcAft>
              <a:defRPr sz="1867" b="1">
                <a:solidFill>
                  <a:srgbClr val="087F8C"/>
                </a:solidFill>
                <a:latin typeface="Arial"/>
              </a:defRPr>
            </a:pPr>
            <a:r>
              <a:rPr sz="1400" cap="none">
                <a:latin typeface="Arial"/>
              </a:rPr>
              <a:t>Waiting requests</a:t>
            </a:r>
          </a:p>
        </p:txBody>
      </p:sp>
      <p:sp>
        <p:nvSpPr>
          <p:cNvPr id="13" name="TextBox 12"/>
          <p:cNvSpPr txBox="1"/>
          <p:nvPr/>
        </p:nvSpPr>
        <p:spPr>
          <a:xfrm>
            <a:off x="1769364" y="2064259"/>
            <a:ext cx="173507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41681"/>
          </a:xfrm>
          <a:prstGeom prst="rect">
            <a:avLst/>
          </a:prstGeom>
          <a:noFill/>
        </p:spPr>
        <p:txBody>
          <a:bodyPr wrap="square" lIns="10287" tIns="10287" rIns="10287" bIns="10287">
            <a:spAutoFit/>
          </a:bodyPr>
          <a:lstStyle/>
          <a:p>
            <a:pPr algn="ctr">
              <a:spcAft>
                <a:spcPts val="375"/>
              </a:spcAft>
              <a:defRPr sz="1932" b="1">
                <a:solidFill>
                  <a:srgbClr val="087F8C"/>
                </a:solidFill>
                <a:latin typeface="Arial"/>
              </a:defRPr>
            </a:pPr>
            <a:r>
              <a:rPr sz="1450" cap="none">
                <a:latin typeface="Arial"/>
              </a:rPr>
              <a:t>KEDA / HPA</a:t>
            </a:r>
          </a:p>
        </p:txBody>
      </p:sp>
      <p:sp>
        <p:nvSpPr>
          <p:cNvPr id="17" name="TextBox 16"/>
          <p:cNvSpPr txBox="1"/>
          <p:nvPr/>
        </p:nvSpPr>
        <p:spPr>
          <a:xfrm>
            <a:off x="4224528" y="2064259"/>
            <a:ext cx="156362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41681"/>
          </a:xfrm>
          <a:prstGeom prst="rect">
            <a:avLst/>
          </a:prstGeom>
          <a:noFill/>
        </p:spPr>
        <p:txBody>
          <a:bodyPr wrap="square" lIns="10287" tIns="10287" rIns="10287" bIns="10287">
            <a:spAutoFit/>
          </a:bodyPr>
          <a:lstStyle/>
          <a:p>
            <a:pPr algn="ctr">
              <a:spcAft>
                <a:spcPts val="375"/>
              </a:spcAft>
              <a:defRPr sz="1932" b="1">
                <a:solidFill>
                  <a:srgbClr val="087F8C"/>
                </a:solidFill>
                <a:latin typeface="Arial"/>
              </a:defRPr>
            </a:pPr>
            <a:r>
              <a:rPr sz="1450" cap="none">
                <a:latin typeface="Arial"/>
              </a:rPr>
              <a:t>Prefill InferenceSet</a:t>
            </a:r>
          </a:p>
        </p:txBody>
      </p:sp>
      <p:sp>
        <p:nvSpPr>
          <p:cNvPr id="21" name="TextBox 20"/>
          <p:cNvSpPr txBox="1"/>
          <p:nvPr/>
        </p:nvSpPr>
        <p:spPr>
          <a:xfrm>
            <a:off x="6501384" y="2064259"/>
            <a:ext cx="2153412"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57759"/>
          </a:xfrm>
          <a:prstGeom prst="rect">
            <a:avLst/>
          </a:prstGeom>
          <a:noFill/>
        </p:spPr>
        <p:txBody>
          <a:bodyPr wrap="square" lIns="10287" tIns="10287" rIns="10287" bIns="10287">
            <a:spAutoFit/>
          </a:bodyPr>
          <a:lstStyle/>
          <a:p>
            <a:pPr algn="ctr">
              <a:spcAft>
                <a:spcPts val="375"/>
              </a:spcAft>
              <a:defRPr sz="1187" b="1">
                <a:solidFill>
                  <a:srgbClr val="7354B8"/>
                </a:solidFill>
                <a:latin typeface="Arial"/>
              </a:defRPr>
            </a:pPr>
            <a:r>
              <a:rPr sz="89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26695"/>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Running requests</a:t>
            </a:r>
          </a:p>
        </p:txBody>
      </p:sp>
      <p:sp>
        <p:nvSpPr>
          <p:cNvPr id="32" name="TextBox 31"/>
          <p:cNvSpPr txBox="1"/>
          <p:nvPr/>
        </p:nvSpPr>
        <p:spPr>
          <a:xfrm>
            <a:off x="1769364" y="3483864"/>
            <a:ext cx="173507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41681"/>
          </a:xfrm>
          <a:prstGeom prst="rect">
            <a:avLst/>
          </a:prstGeom>
          <a:noFill/>
        </p:spPr>
        <p:txBody>
          <a:bodyPr wrap="square" lIns="10287" tIns="10287" rIns="10287" bIns="10287">
            <a:spAutoFit/>
          </a:bodyPr>
          <a:lstStyle/>
          <a:p>
            <a:pPr algn="ctr">
              <a:spcAft>
                <a:spcPts val="375"/>
              </a:spcAft>
              <a:defRPr sz="1932" b="1">
                <a:solidFill>
                  <a:srgbClr val="7354B8"/>
                </a:solidFill>
                <a:latin typeface="Arial"/>
              </a:defRPr>
            </a:pPr>
            <a:r>
              <a:rPr sz="1450" cap="none">
                <a:latin typeface="Arial"/>
              </a:rPr>
              <a:t>KEDA / HPA</a:t>
            </a:r>
          </a:p>
        </p:txBody>
      </p:sp>
      <p:sp>
        <p:nvSpPr>
          <p:cNvPr id="36" name="TextBox 35"/>
          <p:cNvSpPr txBox="1"/>
          <p:nvPr/>
        </p:nvSpPr>
        <p:spPr>
          <a:xfrm>
            <a:off x="4224528" y="3483864"/>
            <a:ext cx="156362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38683"/>
          </a:xfrm>
          <a:prstGeom prst="rect">
            <a:avLst/>
          </a:prstGeom>
          <a:noFill/>
        </p:spPr>
        <p:txBody>
          <a:bodyPr wrap="square" lIns="10287" tIns="10287" rIns="10287" bIns="10287">
            <a:spAutoFit/>
          </a:bodyPr>
          <a:lstStyle/>
          <a:p>
            <a:pPr algn="ctr">
              <a:spcAft>
                <a:spcPts val="375"/>
              </a:spcAft>
              <a:defRPr sz="1907" b="1">
                <a:solidFill>
                  <a:srgbClr val="7354B8"/>
                </a:solidFill>
                <a:latin typeface="Arial"/>
              </a:defRPr>
            </a:pPr>
            <a:r>
              <a:rPr sz="1430" cap="none">
                <a:latin typeface="Arial"/>
              </a:rPr>
              <a:t>Decode InferenceSet</a:t>
            </a:r>
          </a:p>
        </p:txBody>
      </p:sp>
      <p:sp>
        <p:nvSpPr>
          <p:cNvPr id="40" name="TextBox 39"/>
          <p:cNvSpPr txBox="1"/>
          <p:nvPr/>
        </p:nvSpPr>
        <p:spPr>
          <a:xfrm>
            <a:off x="6501384" y="3483864"/>
            <a:ext cx="2153412"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28193"/>
          </a:xfrm>
          <a:prstGeom prst="rect">
            <a:avLst/>
          </a:prstGeom>
          <a:noFill/>
        </p:spPr>
        <p:txBody>
          <a:bodyPr wrap="square" lIns="10287" tIns="10287" rIns="10287" bIns="10287">
            <a:spAutoFit/>
          </a:bodyPr>
          <a:lstStyle/>
          <a:p>
            <a:pPr>
              <a:spcAft>
                <a:spcPts val="375"/>
              </a:spcAft>
              <a:defRPr sz="1813" b="0">
                <a:solidFill>
                  <a:srgbClr val="586A80"/>
                </a:solidFill>
                <a:latin typeface="Arial"/>
              </a:defRPr>
            </a:pPr>
            <a:r>
              <a:rPr sz="136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Policy boundary</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176" b="1">
                <a:solidFill>
                  <a:srgbClr val="172941"/>
                </a:solidFill>
                <a:latin typeface="Arial"/>
              </a:defRPr>
            </a:pPr>
            <a:r>
              <a:rPr sz="23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57759"/>
          </a:xfrm>
          <a:prstGeom prst="rect">
            <a:avLst/>
          </a:prstGeom>
          <a:noFill/>
        </p:spPr>
        <p:txBody>
          <a:bodyPr wrap="square" lIns="10287" tIns="10287" rIns="10287" bIns="10287">
            <a:spAutoFit/>
          </a:bodyPr>
          <a:lstStyle/>
          <a:p>
            <a:pPr algn="ctr">
              <a:spcAft>
                <a:spcPts val="375"/>
              </a:spcAft>
              <a:defRPr sz="1187" b="1">
                <a:solidFill>
                  <a:srgbClr val="AE641A"/>
                </a:solidFill>
                <a:latin typeface="Arial"/>
              </a:defRPr>
            </a:pPr>
            <a:r>
              <a:rPr sz="89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428675"/>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Prefill: latency objective</a:t>
            </a:r>
          </a:p>
          <a:p>
            <a:pPr algn="ctr">
              <a:spcAft>
                <a:spcPts val="375"/>
              </a:spcAft>
              <a:defRPr sz="1587" b="0">
                <a:solidFill>
                  <a:srgbClr val="586A80"/>
                </a:solidFill>
                <a:latin typeface="Arial"/>
              </a:defRPr>
            </a:pPr>
            <a:r>
              <a:rPr sz="119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53669"/>
          </a:xfrm>
          <a:prstGeom prst="rect">
            <a:avLst/>
          </a:prstGeom>
          <a:noFill/>
        </p:spPr>
        <p:txBody>
          <a:bodyPr wrap="square" lIns="10287" tIns="10287" rIns="10287" bIns="10287">
            <a:spAutoFit/>
          </a:bodyPr>
          <a:lstStyle/>
          <a:p>
            <a:pPr algn="ctr">
              <a:spcAft>
                <a:spcPts val="375"/>
              </a:spcAft>
              <a:defRPr sz="2039" b="1">
                <a:solidFill>
                  <a:srgbClr val="087F8C"/>
                </a:solidFill>
                <a:latin typeface="Arial"/>
              </a:defRPr>
            </a:pPr>
            <a:r>
              <a:rPr sz="1530" cap="none">
                <a:latin typeface="Arial"/>
              </a:rPr>
              <a:t>Prefill scale target</a:t>
            </a:r>
          </a:p>
        </p:txBody>
      </p:sp>
      <p:sp>
        <p:nvSpPr>
          <p:cNvPr id="23" name="TextBox 22"/>
          <p:cNvSpPr txBox="1"/>
          <p:nvPr/>
        </p:nvSpPr>
        <p:spPr>
          <a:xfrm>
            <a:off x="6384798" y="2448307"/>
            <a:ext cx="2269998"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53669"/>
          </a:xfrm>
          <a:prstGeom prst="rect">
            <a:avLst/>
          </a:prstGeom>
          <a:noFill/>
        </p:spPr>
        <p:txBody>
          <a:bodyPr wrap="square" lIns="10287" tIns="10287" rIns="10287" bIns="10287">
            <a:spAutoFit/>
          </a:bodyPr>
          <a:lstStyle/>
          <a:p>
            <a:pPr algn="ctr">
              <a:spcAft>
                <a:spcPts val="375"/>
              </a:spcAft>
              <a:defRPr sz="2039" b="1">
                <a:solidFill>
                  <a:srgbClr val="7354B8"/>
                </a:solidFill>
                <a:latin typeface="Arial"/>
              </a:defRPr>
            </a:pPr>
            <a:r>
              <a:rPr sz="1530" cap="none">
                <a:latin typeface="Arial"/>
              </a:rPr>
              <a:t>Decode scale target</a:t>
            </a:r>
          </a:p>
        </p:txBody>
      </p:sp>
      <p:sp>
        <p:nvSpPr>
          <p:cNvPr id="27" name="TextBox 26"/>
          <p:cNvSpPr txBox="1"/>
          <p:nvPr/>
        </p:nvSpPr>
        <p:spPr>
          <a:xfrm>
            <a:off x="6384798" y="3593592"/>
            <a:ext cx="2269998"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Control-loop design</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3207"/>
          </a:xfrm>
          <a:prstGeom prst="rect">
            <a:avLst/>
          </a:prstGeom>
          <a:noFill/>
        </p:spPr>
        <p:txBody>
          <a:bodyPr wrap="square" lIns="10287" tIns="10287" rIns="10287" bIns="10287">
            <a:spAutoFit/>
          </a:bodyPr>
          <a:lstStyle/>
          <a:p>
            <a:pPr>
              <a:spcAft>
                <a:spcPts val="375"/>
              </a:spcAft>
              <a:defRPr sz="1680" b="1">
                <a:solidFill>
                  <a:srgbClr val="172941"/>
                </a:solidFill>
                <a:latin typeface="Arial"/>
              </a:defRPr>
            </a:pPr>
            <a:r>
              <a:rPr sz="1260"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6232"/>
          </a:xfrm>
          <a:prstGeom prst="rect">
            <a:avLst/>
          </a:prstGeom>
          <a:noFill/>
        </p:spPr>
        <p:txBody>
          <a:bodyPr wrap="square" lIns="10287" tIns="10287" rIns="10287" bIns="10287">
            <a:spAutoFit/>
          </a:bodyPr>
          <a:lstStyle/>
          <a:p>
            <a:pPr algn="ctr">
              <a:spcAft>
                <a:spcPts val="375"/>
              </a:spcAft>
              <a:defRPr sz="1440" b="0">
                <a:solidFill>
                  <a:srgbClr val="586A80"/>
                </a:solidFill>
                <a:latin typeface="Arial"/>
              </a:defRPr>
            </a:pPr>
            <a:r>
              <a:rPr sz="108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92633"/>
          </a:xfrm>
          <a:prstGeom prst="rect">
            <a:avLst/>
          </a:prstGeom>
          <a:noFill/>
        </p:spPr>
        <p:txBody>
          <a:bodyPr wrap="square" lIns="10287" tIns="10287" rIns="10287" bIns="10287">
            <a:spAutoFit/>
          </a:bodyPr>
          <a:lstStyle/>
          <a:p>
            <a:pPr algn="ctr">
              <a:spcAft>
                <a:spcPts val="375"/>
              </a:spcAft>
              <a:defRPr sz="2387" b="1">
                <a:solidFill>
                  <a:srgbClr val="2563EB"/>
                </a:solidFill>
                <a:latin typeface="Arial"/>
              </a:defRPr>
            </a:pPr>
            <a:r>
              <a:rPr sz="1789" cap="none">
                <a:latin typeface="Arial"/>
              </a:rPr>
              <a:t>Serving capacity</a:t>
            </a:r>
          </a:p>
        </p:txBody>
      </p:sp>
      <p:sp>
        <p:nvSpPr>
          <p:cNvPr id="21" name="TextBox 20"/>
          <p:cNvSpPr txBox="1"/>
          <p:nvPr/>
        </p:nvSpPr>
        <p:spPr>
          <a:xfrm>
            <a:off x="6473952" y="1947673"/>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44678"/>
          </a:xfrm>
          <a:prstGeom prst="rect">
            <a:avLst/>
          </a:prstGeom>
          <a:noFill/>
        </p:spPr>
        <p:txBody>
          <a:bodyPr wrap="square" lIns="10287" tIns="10287" rIns="10287" bIns="10287">
            <a:spAutoFit/>
          </a:bodyPr>
          <a:lstStyle/>
          <a:p>
            <a:pPr algn="ctr">
              <a:spcAft>
                <a:spcPts val="375"/>
              </a:spcAft>
              <a:defRPr sz="1960" b="1">
                <a:solidFill>
                  <a:srgbClr val="087F8C"/>
                </a:solidFill>
                <a:latin typeface="Arial"/>
              </a:defRPr>
            </a:pPr>
            <a:r>
              <a:rPr sz="1470" cap="none">
                <a:latin typeface="Arial"/>
              </a:rPr>
              <a:t>Prefill vLLM /metrics</a:t>
            </a:r>
          </a:p>
        </p:txBody>
      </p:sp>
      <p:sp>
        <p:nvSpPr>
          <p:cNvPr id="27" name="TextBox 26"/>
          <p:cNvSpPr txBox="1"/>
          <p:nvPr/>
        </p:nvSpPr>
        <p:spPr>
          <a:xfrm>
            <a:off x="486918" y="3086101"/>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53669"/>
          </a:xfrm>
          <a:prstGeom prst="rect">
            <a:avLst/>
          </a:prstGeom>
          <a:noFill/>
        </p:spPr>
        <p:txBody>
          <a:bodyPr wrap="square" lIns="10287" tIns="10287" rIns="10287" bIns="10287">
            <a:spAutoFit/>
          </a:bodyPr>
          <a:lstStyle/>
          <a:p>
            <a:pPr algn="ctr">
              <a:spcAft>
                <a:spcPts val="375"/>
              </a:spcAft>
              <a:defRPr sz="2039" b="1">
                <a:solidFill>
                  <a:srgbClr val="087F8C"/>
                </a:solidFill>
                <a:latin typeface="Arial"/>
              </a:defRPr>
            </a:pPr>
            <a:r>
              <a:rPr sz="153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53669"/>
          </a:xfrm>
          <a:prstGeom prst="rect">
            <a:avLst/>
          </a:prstGeom>
          <a:noFill/>
        </p:spPr>
        <p:txBody>
          <a:bodyPr wrap="square" lIns="10287" tIns="10287" rIns="10287" bIns="10287">
            <a:spAutoFit/>
          </a:bodyPr>
          <a:lstStyle/>
          <a:p>
            <a:pPr algn="ctr">
              <a:spcAft>
                <a:spcPts val="375"/>
              </a:spcAft>
              <a:defRPr sz="2039" b="1">
                <a:solidFill>
                  <a:srgbClr val="087F8C"/>
                </a:solidFill>
                <a:latin typeface="Arial"/>
              </a:defRPr>
            </a:pPr>
            <a:r>
              <a:rPr sz="1530" cap="none">
                <a:latin typeface="Arial"/>
              </a:rPr>
              <a:t>Prefill replicas</a:t>
            </a:r>
          </a:p>
        </p:txBody>
      </p:sp>
      <p:sp>
        <p:nvSpPr>
          <p:cNvPr id="35" name="TextBox 34"/>
          <p:cNvSpPr txBox="1"/>
          <p:nvPr/>
        </p:nvSpPr>
        <p:spPr>
          <a:xfrm>
            <a:off x="6473952" y="3086101"/>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9692"/>
          </a:xfrm>
          <a:prstGeom prst="rect">
            <a:avLst/>
          </a:prstGeom>
          <a:noFill/>
        </p:spPr>
        <p:txBody>
          <a:bodyPr wrap="square" lIns="10287" tIns="10287" rIns="10287" bIns="10287">
            <a:spAutoFit/>
          </a:bodyPr>
          <a:lstStyle/>
          <a:p>
            <a:pPr algn="ctr">
              <a:spcAft>
                <a:spcPts val="375"/>
              </a:spcAft>
              <a:defRPr sz="1827" b="1">
                <a:solidFill>
                  <a:srgbClr val="7354B8"/>
                </a:solidFill>
                <a:latin typeface="Arial"/>
              </a:defRPr>
            </a:pPr>
            <a:r>
              <a:rPr sz="1370" cap="none">
                <a:latin typeface="Arial"/>
              </a:rPr>
              <a:t>Decode vLLM /metrics</a:t>
            </a:r>
          </a:p>
        </p:txBody>
      </p:sp>
      <p:sp>
        <p:nvSpPr>
          <p:cNvPr id="41" name="TextBox 40"/>
          <p:cNvSpPr txBox="1"/>
          <p:nvPr/>
        </p:nvSpPr>
        <p:spPr>
          <a:xfrm>
            <a:off x="486918" y="3895345"/>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53669"/>
          </a:xfrm>
          <a:prstGeom prst="rect">
            <a:avLst/>
          </a:prstGeom>
          <a:noFill/>
        </p:spPr>
        <p:txBody>
          <a:bodyPr wrap="square" lIns="10287" tIns="10287" rIns="10287" bIns="10287">
            <a:spAutoFit/>
          </a:bodyPr>
          <a:lstStyle/>
          <a:p>
            <a:pPr algn="ctr">
              <a:spcAft>
                <a:spcPts val="375"/>
              </a:spcAft>
              <a:defRPr sz="2039" b="1">
                <a:solidFill>
                  <a:srgbClr val="7354B8"/>
                </a:solidFill>
                <a:latin typeface="Arial"/>
              </a:defRPr>
            </a:pPr>
            <a:r>
              <a:rPr sz="153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53669"/>
          </a:xfrm>
          <a:prstGeom prst="rect">
            <a:avLst/>
          </a:prstGeom>
          <a:noFill/>
        </p:spPr>
        <p:txBody>
          <a:bodyPr wrap="square" lIns="10287" tIns="10287" rIns="10287" bIns="10287">
            <a:spAutoFit/>
          </a:bodyPr>
          <a:lstStyle/>
          <a:p>
            <a:pPr algn="ctr">
              <a:spcAft>
                <a:spcPts val="375"/>
              </a:spcAft>
              <a:defRPr sz="2039" b="1">
                <a:solidFill>
                  <a:srgbClr val="7354B8"/>
                </a:solidFill>
                <a:latin typeface="Arial"/>
              </a:defRPr>
            </a:pPr>
            <a:r>
              <a:rPr sz="1530" cap="none">
                <a:latin typeface="Arial"/>
              </a:rPr>
              <a:t>Decode replicas</a:t>
            </a:r>
          </a:p>
        </p:txBody>
      </p:sp>
      <p:sp>
        <p:nvSpPr>
          <p:cNvPr id="49" name="TextBox 48"/>
          <p:cNvSpPr txBox="1"/>
          <p:nvPr/>
        </p:nvSpPr>
        <p:spPr>
          <a:xfrm>
            <a:off x="6473952" y="3895345"/>
            <a:ext cx="2180844" cy="202717"/>
          </a:xfrm>
          <a:prstGeom prst="rect">
            <a:avLst/>
          </a:prstGeom>
          <a:noFill/>
        </p:spPr>
        <p:txBody>
          <a:bodyPr wrap="square" lIns="10287" tIns="10287" rIns="10287" bIns="10287">
            <a:spAutoFit/>
          </a:bodyPr>
          <a:lstStyle/>
          <a:p>
            <a:pPr algn="ctr">
              <a:spcAft>
                <a:spcPts val="375"/>
              </a:spcAft>
              <a:defRPr sz="1587" b="0">
                <a:solidFill>
                  <a:srgbClr val="586A80"/>
                </a:solidFill>
                <a:latin typeface="Arial"/>
              </a:defRPr>
            </a:pPr>
            <a:r>
              <a:rPr sz="119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Vllm-native metrics</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lang="en-US" sz="239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57759"/>
          </a:xfrm>
          <a:prstGeom prst="rect">
            <a:avLst/>
          </a:prstGeom>
          <a:noFill/>
        </p:spPr>
        <p:txBody>
          <a:bodyPr wrap="square" lIns="10287" tIns="10287" rIns="10287" bIns="10287">
            <a:spAutoFit/>
          </a:bodyPr>
          <a:lstStyle/>
          <a:p>
            <a:pPr algn="ctr">
              <a:spcAft>
                <a:spcPts val="375"/>
              </a:spcAft>
              <a:defRPr sz="1187" b="1">
                <a:solidFill>
                  <a:srgbClr val="087F8C"/>
                </a:solidFill>
                <a:latin typeface="Arial"/>
              </a:defRPr>
            </a:pPr>
            <a:r>
              <a:rPr sz="890" cap="none">
                <a:latin typeface="Arial"/>
              </a:rPr>
              <a:t>Prefill</a:t>
            </a:r>
          </a:p>
        </p:txBody>
      </p:sp>
      <p:sp>
        <p:nvSpPr>
          <p:cNvPr id="13" name="TextBox 12"/>
          <p:cNvSpPr txBox="1"/>
          <p:nvPr/>
        </p:nvSpPr>
        <p:spPr>
          <a:xfrm>
            <a:off x="514350" y="2098548"/>
            <a:ext cx="3806190" cy="279146"/>
          </a:xfrm>
          <a:prstGeom prst="rect">
            <a:avLst/>
          </a:prstGeom>
          <a:noFill/>
        </p:spPr>
        <p:txBody>
          <a:bodyPr wrap="square" lIns="10287" tIns="10287" rIns="10287" bIns="10287">
            <a:spAutoFit/>
          </a:bodyPr>
          <a:lstStyle/>
          <a:p>
            <a:pPr>
              <a:spcAft>
                <a:spcPts val="375"/>
              </a:spcAft>
              <a:defRPr sz="2267" b="1">
                <a:solidFill>
                  <a:srgbClr val="087F8C"/>
                </a:solidFill>
                <a:latin typeface="Courier New"/>
              </a:defRPr>
            </a:pPr>
            <a:r>
              <a:rPr sz="1700" cap="none">
                <a:latin typeface="Arial"/>
              </a:rPr>
              <a:t>vllm:num_requests_waiting</a:t>
            </a:r>
          </a:p>
        </p:txBody>
      </p:sp>
      <p:sp>
        <p:nvSpPr>
          <p:cNvPr id="14" name="TextBox 13"/>
          <p:cNvSpPr txBox="1"/>
          <p:nvPr/>
        </p:nvSpPr>
        <p:spPr>
          <a:xfrm>
            <a:off x="514350" y="2510028"/>
            <a:ext cx="3806190" cy="530580"/>
          </a:xfrm>
          <a:prstGeom prst="rect">
            <a:avLst/>
          </a:prstGeom>
          <a:noFill/>
        </p:spPr>
        <p:txBody>
          <a:bodyPr wrap="square" lIns="10287" tIns="10287" rIns="10287" bIns="10287">
            <a:spAutoFit/>
          </a:bodyPr>
          <a:lstStyle/>
          <a:p>
            <a:pPr>
              <a:spcAft>
                <a:spcPts val="375"/>
              </a:spcAft>
              <a:defRPr sz="2039" b="0">
                <a:solidFill>
                  <a:srgbClr val="172941"/>
                </a:solidFill>
                <a:latin typeface="Arial"/>
              </a:defRPr>
            </a:pPr>
            <a:r>
              <a:rPr sz="1530" cap="none">
                <a:latin typeface="Arial"/>
              </a:rPr>
              <a:t>Queue inside the prefill engine.</a:t>
            </a:r>
          </a:p>
          <a:p>
            <a:pPr>
              <a:spcAft>
                <a:spcPts val="375"/>
              </a:spcAft>
              <a:defRPr sz="2039" b="0">
                <a:solidFill>
                  <a:srgbClr val="172941"/>
                </a:solidFill>
                <a:latin typeface="Arial"/>
              </a:defRPr>
            </a:pPr>
            <a:r>
              <a:rPr sz="153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&lt; 1</a:t>
            </a:r>
          </a:p>
        </p:txBody>
      </p:sp>
      <p:sp>
        <p:nvSpPr>
          <p:cNvPr id="17" name="TextBox 16"/>
          <p:cNvSpPr txBox="1"/>
          <p:nvPr/>
        </p:nvSpPr>
        <p:spPr>
          <a:xfrm>
            <a:off x="555498" y="3504438"/>
            <a:ext cx="1097280" cy="190728"/>
          </a:xfrm>
          <a:prstGeom prst="rect">
            <a:avLst/>
          </a:prstGeom>
          <a:noFill/>
        </p:spPr>
        <p:txBody>
          <a:bodyPr wrap="square" lIns="10287" tIns="10287" rIns="10287" bIns="10287">
            <a:spAutoFit/>
          </a:bodyPr>
          <a:lstStyle/>
          <a:p>
            <a:pPr algn="ctr">
              <a:spcAft>
                <a:spcPts val="375"/>
              </a:spcAft>
              <a:defRPr sz="1480" b="0">
                <a:solidFill>
                  <a:srgbClr val="087F8C"/>
                </a:solidFill>
                <a:latin typeface="Arial"/>
              </a:defRPr>
            </a:pPr>
            <a:r>
              <a:rPr sz="1110"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Between</a:t>
            </a:r>
          </a:p>
        </p:txBody>
      </p:sp>
      <p:sp>
        <p:nvSpPr>
          <p:cNvPr id="20" name="TextBox 19"/>
          <p:cNvSpPr txBox="1"/>
          <p:nvPr/>
        </p:nvSpPr>
        <p:spPr>
          <a:xfrm>
            <a:off x="1831086" y="3504438"/>
            <a:ext cx="1097280" cy="190728"/>
          </a:xfrm>
          <a:prstGeom prst="rect">
            <a:avLst/>
          </a:prstGeom>
          <a:noFill/>
        </p:spPr>
        <p:txBody>
          <a:bodyPr wrap="square" lIns="10287" tIns="10287" rIns="10287" bIns="10287">
            <a:spAutoFit/>
          </a:bodyPr>
          <a:lstStyle/>
          <a:p>
            <a:pPr algn="ctr">
              <a:spcAft>
                <a:spcPts val="375"/>
              </a:spcAft>
              <a:defRPr sz="1480" b="0">
                <a:solidFill>
                  <a:srgbClr val="087F8C"/>
                </a:solidFill>
                <a:latin typeface="Arial"/>
              </a:defRPr>
            </a:pPr>
            <a:r>
              <a:rPr sz="1110"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28193"/>
          </a:xfrm>
          <a:prstGeom prst="rect">
            <a:avLst/>
          </a:prstGeom>
          <a:noFill/>
        </p:spPr>
        <p:txBody>
          <a:bodyPr wrap="square" lIns="10287" tIns="10287" rIns="10287" bIns="10287">
            <a:spAutoFit/>
          </a:bodyPr>
          <a:lstStyle/>
          <a:p>
            <a:pPr algn="ctr">
              <a:spcAft>
                <a:spcPts val="375"/>
              </a:spcAft>
              <a:defRPr sz="1813" b="1">
                <a:solidFill>
                  <a:srgbClr val="087F8C"/>
                </a:solidFill>
                <a:latin typeface="Arial"/>
              </a:defRPr>
            </a:pPr>
            <a:r>
              <a:rPr sz="1360" cap="none">
                <a:latin typeface="Arial"/>
              </a:rPr>
              <a:t>&gt; 8</a:t>
            </a:r>
          </a:p>
        </p:txBody>
      </p:sp>
      <p:sp>
        <p:nvSpPr>
          <p:cNvPr id="23" name="TextBox 22"/>
          <p:cNvSpPr txBox="1"/>
          <p:nvPr/>
        </p:nvSpPr>
        <p:spPr>
          <a:xfrm>
            <a:off x="3106674" y="3504438"/>
            <a:ext cx="1097280" cy="190728"/>
          </a:xfrm>
          <a:prstGeom prst="rect">
            <a:avLst/>
          </a:prstGeom>
          <a:noFill/>
        </p:spPr>
        <p:txBody>
          <a:bodyPr wrap="square" lIns="10287" tIns="10287" rIns="10287" bIns="10287">
            <a:spAutoFit/>
          </a:bodyPr>
          <a:lstStyle/>
          <a:p>
            <a:pPr algn="ctr">
              <a:spcAft>
                <a:spcPts val="375"/>
              </a:spcAft>
              <a:defRPr sz="1480" b="0">
                <a:solidFill>
                  <a:srgbClr val="087F8C"/>
                </a:solidFill>
                <a:latin typeface="Arial"/>
              </a:defRPr>
            </a:pPr>
            <a:r>
              <a:rPr sz="1110" cap="none">
                <a:latin typeface="Arial"/>
              </a:rPr>
              <a:t>Scale up</a:t>
            </a:r>
          </a:p>
        </p:txBody>
      </p:sp>
      <p:sp>
        <p:nvSpPr>
          <p:cNvPr id="24" name="TextBox 23"/>
          <p:cNvSpPr txBox="1"/>
          <p:nvPr/>
        </p:nvSpPr>
        <p:spPr>
          <a:xfrm>
            <a:off x="514350" y="3902202"/>
            <a:ext cx="3806190" cy="216204"/>
          </a:xfrm>
          <a:prstGeom prst="rect">
            <a:avLst/>
          </a:prstGeom>
          <a:noFill/>
        </p:spPr>
        <p:txBody>
          <a:bodyPr wrap="square" lIns="10287" tIns="10287" rIns="10287" bIns="10287">
            <a:spAutoFit/>
          </a:bodyPr>
          <a:lstStyle/>
          <a:p>
            <a:pPr>
              <a:spcAft>
                <a:spcPts val="375"/>
              </a:spcAft>
              <a:defRPr sz="1707" b="0">
                <a:solidFill>
                  <a:srgbClr val="586A80"/>
                </a:solidFill>
                <a:latin typeface="Arial"/>
              </a:defRPr>
            </a:pPr>
            <a:r>
              <a:rPr sz="1280"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57759"/>
          </a:xfrm>
          <a:prstGeom prst="rect">
            <a:avLst/>
          </a:prstGeom>
          <a:noFill/>
        </p:spPr>
        <p:txBody>
          <a:bodyPr wrap="square" lIns="10287" tIns="10287" rIns="10287" bIns="10287">
            <a:spAutoFit/>
          </a:bodyPr>
          <a:lstStyle/>
          <a:p>
            <a:pPr algn="ctr">
              <a:spcAft>
                <a:spcPts val="375"/>
              </a:spcAft>
              <a:defRPr sz="1187" b="1">
                <a:solidFill>
                  <a:srgbClr val="7354B8"/>
                </a:solidFill>
                <a:latin typeface="Arial"/>
              </a:defRPr>
            </a:pPr>
            <a:r>
              <a:rPr sz="890" cap="none">
                <a:latin typeface="Arial"/>
              </a:rPr>
              <a:t>Decode</a:t>
            </a:r>
          </a:p>
        </p:txBody>
      </p:sp>
      <p:sp>
        <p:nvSpPr>
          <p:cNvPr id="28" name="TextBox 27"/>
          <p:cNvSpPr txBox="1"/>
          <p:nvPr/>
        </p:nvSpPr>
        <p:spPr>
          <a:xfrm>
            <a:off x="4786884" y="2098548"/>
            <a:ext cx="3806190" cy="279146"/>
          </a:xfrm>
          <a:prstGeom prst="rect">
            <a:avLst/>
          </a:prstGeom>
          <a:noFill/>
        </p:spPr>
        <p:txBody>
          <a:bodyPr wrap="square" lIns="10287" tIns="10287" rIns="10287" bIns="10287">
            <a:spAutoFit/>
          </a:bodyPr>
          <a:lstStyle/>
          <a:p>
            <a:pPr>
              <a:spcAft>
                <a:spcPts val="375"/>
              </a:spcAft>
              <a:defRPr sz="2267" b="1">
                <a:solidFill>
                  <a:srgbClr val="7354B8"/>
                </a:solidFill>
                <a:latin typeface="Courier New"/>
              </a:defRPr>
            </a:pPr>
            <a:r>
              <a:rPr sz="1700" cap="none">
                <a:latin typeface="Arial"/>
              </a:rPr>
              <a:t>vllm:num_requests_running</a:t>
            </a:r>
          </a:p>
        </p:txBody>
      </p:sp>
      <p:sp>
        <p:nvSpPr>
          <p:cNvPr id="29" name="TextBox 28"/>
          <p:cNvSpPr txBox="1"/>
          <p:nvPr/>
        </p:nvSpPr>
        <p:spPr>
          <a:xfrm>
            <a:off x="4786884" y="2510028"/>
            <a:ext cx="3806190" cy="524586"/>
          </a:xfrm>
          <a:prstGeom prst="rect">
            <a:avLst/>
          </a:prstGeom>
          <a:noFill/>
        </p:spPr>
        <p:txBody>
          <a:bodyPr wrap="square" lIns="10287" tIns="10287" rIns="10287" bIns="10287">
            <a:spAutoFit/>
          </a:bodyPr>
          <a:lstStyle/>
          <a:p>
            <a:pPr>
              <a:spcAft>
                <a:spcPts val="375"/>
              </a:spcAft>
              <a:defRPr sz="2013" b="0">
                <a:solidFill>
                  <a:srgbClr val="172941"/>
                </a:solidFill>
                <a:latin typeface="Arial"/>
              </a:defRPr>
            </a:pPr>
            <a:r>
              <a:rPr sz="1510" cap="none">
                <a:latin typeface="Arial"/>
              </a:rPr>
              <a:t>Requests in decode execution batches.</a:t>
            </a:r>
          </a:p>
          <a:p>
            <a:pPr>
              <a:spcAft>
                <a:spcPts val="375"/>
              </a:spcAft>
              <a:defRPr sz="2013" b="0">
                <a:solidFill>
                  <a:srgbClr val="172941"/>
                </a:solidFill>
                <a:latin typeface="Arial"/>
              </a:defRPr>
            </a:pPr>
            <a:r>
              <a:rPr sz="151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28193"/>
          </a:xfrm>
          <a:prstGeom prst="rect">
            <a:avLst/>
          </a:prstGeom>
          <a:noFill/>
        </p:spPr>
        <p:txBody>
          <a:bodyPr wrap="square" lIns="10287" tIns="10287" rIns="10287" bIns="10287">
            <a:spAutoFit/>
          </a:bodyPr>
          <a:lstStyle/>
          <a:p>
            <a:pPr algn="ctr">
              <a:spcAft>
                <a:spcPts val="375"/>
              </a:spcAft>
              <a:defRPr sz="1813" b="1">
                <a:solidFill>
                  <a:srgbClr val="7354B8"/>
                </a:solidFill>
                <a:latin typeface="Arial"/>
              </a:defRPr>
            </a:pPr>
            <a:r>
              <a:rPr sz="1360" cap="none">
                <a:latin typeface="Arial"/>
              </a:rPr>
              <a:t>&lt; 4</a:t>
            </a:r>
          </a:p>
        </p:txBody>
      </p:sp>
      <p:sp>
        <p:nvSpPr>
          <p:cNvPr id="32" name="TextBox 31"/>
          <p:cNvSpPr txBox="1"/>
          <p:nvPr/>
        </p:nvSpPr>
        <p:spPr>
          <a:xfrm>
            <a:off x="4828032" y="3504438"/>
            <a:ext cx="1097280" cy="190728"/>
          </a:xfrm>
          <a:prstGeom prst="rect">
            <a:avLst/>
          </a:prstGeom>
          <a:noFill/>
        </p:spPr>
        <p:txBody>
          <a:bodyPr wrap="square" lIns="10287" tIns="10287" rIns="10287" bIns="10287">
            <a:spAutoFit/>
          </a:bodyPr>
          <a:lstStyle/>
          <a:p>
            <a:pPr algn="ctr">
              <a:spcAft>
                <a:spcPts val="375"/>
              </a:spcAft>
              <a:defRPr sz="1480" b="0">
                <a:solidFill>
                  <a:srgbClr val="7354B8"/>
                </a:solidFill>
                <a:latin typeface="Arial"/>
              </a:defRPr>
            </a:pPr>
            <a:r>
              <a:rPr sz="1110"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28193"/>
          </a:xfrm>
          <a:prstGeom prst="rect">
            <a:avLst/>
          </a:prstGeom>
          <a:noFill/>
        </p:spPr>
        <p:txBody>
          <a:bodyPr wrap="square" lIns="10287" tIns="10287" rIns="10287" bIns="10287">
            <a:spAutoFit/>
          </a:bodyPr>
          <a:lstStyle/>
          <a:p>
            <a:pPr algn="ctr">
              <a:spcAft>
                <a:spcPts val="375"/>
              </a:spcAft>
              <a:defRPr sz="1813" b="1">
                <a:solidFill>
                  <a:srgbClr val="7354B8"/>
                </a:solidFill>
                <a:latin typeface="Arial"/>
              </a:defRPr>
            </a:pPr>
            <a:r>
              <a:rPr sz="1360" cap="none">
                <a:latin typeface="Arial"/>
              </a:rPr>
              <a:t>Between</a:t>
            </a:r>
          </a:p>
        </p:txBody>
      </p:sp>
      <p:sp>
        <p:nvSpPr>
          <p:cNvPr id="35" name="TextBox 34"/>
          <p:cNvSpPr txBox="1"/>
          <p:nvPr/>
        </p:nvSpPr>
        <p:spPr>
          <a:xfrm>
            <a:off x="6103620" y="3504438"/>
            <a:ext cx="1097280" cy="190728"/>
          </a:xfrm>
          <a:prstGeom prst="rect">
            <a:avLst/>
          </a:prstGeom>
          <a:noFill/>
        </p:spPr>
        <p:txBody>
          <a:bodyPr wrap="square" lIns="10287" tIns="10287" rIns="10287" bIns="10287">
            <a:spAutoFit/>
          </a:bodyPr>
          <a:lstStyle/>
          <a:p>
            <a:pPr algn="ctr">
              <a:spcAft>
                <a:spcPts val="375"/>
              </a:spcAft>
              <a:defRPr sz="1480" b="0">
                <a:solidFill>
                  <a:srgbClr val="7354B8"/>
                </a:solidFill>
                <a:latin typeface="Arial"/>
              </a:defRPr>
            </a:pPr>
            <a:r>
              <a:rPr sz="1110"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28193"/>
          </a:xfrm>
          <a:prstGeom prst="rect">
            <a:avLst/>
          </a:prstGeom>
          <a:noFill/>
        </p:spPr>
        <p:txBody>
          <a:bodyPr wrap="square" lIns="10287" tIns="10287" rIns="10287" bIns="10287">
            <a:spAutoFit/>
          </a:bodyPr>
          <a:lstStyle/>
          <a:p>
            <a:pPr algn="ctr">
              <a:spcAft>
                <a:spcPts val="375"/>
              </a:spcAft>
              <a:defRPr sz="1813" b="1">
                <a:solidFill>
                  <a:srgbClr val="7354B8"/>
                </a:solidFill>
                <a:latin typeface="Arial"/>
              </a:defRPr>
            </a:pPr>
            <a:r>
              <a:rPr sz="1360" cap="none">
                <a:latin typeface="Arial"/>
              </a:rPr>
              <a:t>&gt; 24</a:t>
            </a:r>
          </a:p>
        </p:txBody>
      </p:sp>
      <p:sp>
        <p:nvSpPr>
          <p:cNvPr id="38" name="TextBox 37"/>
          <p:cNvSpPr txBox="1"/>
          <p:nvPr/>
        </p:nvSpPr>
        <p:spPr>
          <a:xfrm>
            <a:off x="7379208" y="3504438"/>
            <a:ext cx="1097280" cy="190728"/>
          </a:xfrm>
          <a:prstGeom prst="rect">
            <a:avLst/>
          </a:prstGeom>
          <a:noFill/>
        </p:spPr>
        <p:txBody>
          <a:bodyPr wrap="square" lIns="10287" tIns="10287" rIns="10287" bIns="10287">
            <a:spAutoFit/>
          </a:bodyPr>
          <a:lstStyle/>
          <a:p>
            <a:pPr algn="ctr">
              <a:spcAft>
                <a:spcPts val="375"/>
              </a:spcAft>
              <a:defRPr sz="1480" b="0">
                <a:solidFill>
                  <a:srgbClr val="7354B8"/>
                </a:solidFill>
                <a:latin typeface="Arial"/>
              </a:defRPr>
            </a:pPr>
            <a:r>
              <a:rPr sz="1110" cap="none">
                <a:latin typeface="Arial"/>
              </a:rPr>
              <a:t>Scale up</a:t>
            </a:r>
          </a:p>
        </p:txBody>
      </p:sp>
      <p:sp>
        <p:nvSpPr>
          <p:cNvPr id="39" name="TextBox 38"/>
          <p:cNvSpPr txBox="1"/>
          <p:nvPr/>
        </p:nvSpPr>
        <p:spPr>
          <a:xfrm>
            <a:off x="4786884" y="3902202"/>
            <a:ext cx="3806190" cy="216204"/>
          </a:xfrm>
          <a:prstGeom prst="rect">
            <a:avLst/>
          </a:prstGeom>
          <a:noFill/>
        </p:spPr>
        <p:txBody>
          <a:bodyPr wrap="square" lIns="10287" tIns="10287" rIns="10287" bIns="10287">
            <a:spAutoFit/>
          </a:bodyPr>
          <a:lstStyle/>
          <a:p>
            <a:pPr>
              <a:spcAft>
                <a:spcPts val="375"/>
              </a:spcAft>
              <a:defRPr sz="1707" b="0">
                <a:solidFill>
                  <a:srgbClr val="586A80"/>
                </a:solidFill>
                <a:latin typeface="Arial"/>
              </a:defRPr>
            </a:pPr>
            <a:r>
              <a:rPr sz="1280"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dirty="0" cap="none">
                <a:latin typeface="Arial"/>
              </a:rPr>
              <a:t>04 / Role-specific decisions</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08711"/>
          </a:xfrm>
          <a:prstGeom prst="rect">
            <a:avLst/>
          </a:prstGeom>
          <a:noFill/>
        </p:spPr>
        <p:txBody>
          <a:bodyPr wrap="square" lIns="10287" tIns="10287" rIns="10287" bIns="10287">
            <a:spAutoFit/>
          </a:bodyPr>
          <a:lstStyle/>
          <a:p>
            <a:pPr>
              <a:spcAft>
                <a:spcPts val="375"/>
              </a:spcAft>
              <a:defRPr sz="1639" b="1">
                <a:solidFill>
                  <a:srgbClr val="172941"/>
                </a:solidFill>
                <a:latin typeface="Arial"/>
              </a:defRPr>
            </a:pPr>
            <a:r>
              <a:rPr sz="1230"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202717"/>
          </a:xfrm>
          <a:prstGeom prst="rect">
            <a:avLst/>
          </a:prstGeom>
          <a:noFill/>
        </p:spPr>
        <p:txBody>
          <a:bodyPr wrap="square" lIns="10287" tIns="10287" rIns="10287" bIns="10287">
            <a:spAutoFit/>
          </a:bodyPr>
          <a:lstStyle/>
          <a:p>
            <a:pPr>
              <a:spcAft>
                <a:spcPts val="375"/>
              </a:spcAft>
              <a:defRPr sz="1587" b="1">
                <a:solidFill>
                  <a:srgbClr val="FFFFFF"/>
                </a:solidFill>
                <a:latin typeface="Arial"/>
              </a:defRPr>
            </a:pPr>
            <a:r>
              <a:rPr sz="119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202717"/>
          </a:xfrm>
          <a:prstGeom prst="rect">
            <a:avLst/>
          </a:prstGeom>
          <a:noFill/>
        </p:spPr>
        <p:txBody>
          <a:bodyPr wrap="square" lIns="10287" tIns="10287" rIns="10287" bIns="10287">
            <a:spAutoFit/>
          </a:bodyPr>
          <a:lstStyle/>
          <a:p>
            <a:pPr>
              <a:spcAft>
                <a:spcPts val="375"/>
              </a:spcAft>
              <a:defRPr sz="1587" b="1">
                <a:solidFill>
                  <a:srgbClr val="FFFFFF"/>
                </a:solidFill>
                <a:latin typeface="Arial"/>
              </a:defRPr>
            </a:pPr>
            <a:r>
              <a:rPr sz="119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202717"/>
          </a:xfrm>
          <a:prstGeom prst="rect">
            <a:avLst/>
          </a:prstGeom>
          <a:noFill/>
        </p:spPr>
        <p:txBody>
          <a:bodyPr wrap="square" lIns="10287" tIns="10287" rIns="10287" bIns="10287">
            <a:spAutoFit/>
          </a:bodyPr>
          <a:lstStyle/>
          <a:p>
            <a:pPr>
              <a:spcAft>
                <a:spcPts val="375"/>
              </a:spcAft>
              <a:defRPr sz="1587" b="1">
                <a:solidFill>
                  <a:srgbClr val="FFFFFF"/>
                </a:solidFill>
                <a:latin typeface="Arial"/>
              </a:defRPr>
            </a:pPr>
            <a:r>
              <a:rPr sz="119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Operational safeguards</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2997" b="1">
                <a:solidFill>
                  <a:srgbClr val="172941"/>
                </a:solidFill>
                <a:latin typeface="Arial"/>
              </a:defRPr>
            </a:pPr>
            <a:r>
              <a:rPr sz="217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68249"/>
          </a:xfrm>
          <a:prstGeom prst="rect">
            <a:avLst/>
          </a:prstGeom>
          <a:noFill/>
        </p:spPr>
        <p:txBody>
          <a:bodyPr wrap="square" lIns="10287" tIns="10287" rIns="10287" bIns="10287">
            <a:spAutoFit/>
          </a:bodyPr>
          <a:lstStyle/>
          <a:p>
            <a:pPr>
              <a:spcAft>
                <a:spcPts val="375"/>
              </a:spcAft>
              <a:defRPr sz="1280" b="1">
                <a:solidFill>
                  <a:srgbClr val="2563EB"/>
                </a:solidFill>
                <a:latin typeface="Arial"/>
              </a:defRPr>
            </a:pPr>
            <a:r>
              <a:rPr sz="960" cap="none">
                <a:latin typeface="Arial"/>
              </a:rPr>
              <a:t>01 / Replica ownership</a:t>
            </a:r>
          </a:p>
        </p:txBody>
      </p:sp>
      <p:sp>
        <p:nvSpPr>
          <p:cNvPr id="13" name="TextBox 12"/>
          <p:cNvSpPr txBox="1"/>
          <p:nvPr/>
        </p:nvSpPr>
        <p:spPr>
          <a:xfrm>
            <a:off x="514350" y="2146554"/>
            <a:ext cx="2434590" cy="279146"/>
          </a:xfrm>
          <a:prstGeom prst="rect">
            <a:avLst/>
          </a:prstGeom>
          <a:noFill/>
        </p:spPr>
        <p:txBody>
          <a:bodyPr wrap="square" lIns="10287" tIns="10287" rIns="10287" bIns="10287">
            <a:spAutoFit/>
          </a:bodyPr>
          <a:lstStyle/>
          <a:p>
            <a:pPr>
              <a:spcAft>
                <a:spcPts val="375"/>
              </a:spcAft>
              <a:defRPr sz="2267" b="1">
                <a:solidFill>
                  <a:srgbClr val="2563EB"/>
                </a:solidFill>
                <a:latin typeface="Arial"/>
              </a:defRPr>
            </a:pPr>
            <a:r>
              <a:rPr sz="1700" cap="none">
                <a:latin typeface="Arial"/>
              </a:rPr>
              <a:t>Choose one writer</a:t>
            </a:r>
          </a:p>
        </p:txBody>
      </p:sp>
      <p:sp>
        <p:nvSpPr>
          <p:cNvPr id="14" name="TextBox 13"/>
          <p:cNvSpPr txBox="1"/>
          <p:nvPr/>
        </p:nvSpPr>
        <p:spPr>
          <a:xfrm>
            <a:off x="514350" y="2599183"/>
            <a:ext cx="2434590" cy="892487"/>
          </a:xfrm>
          <a:prstGeom prst="rect">
            <a:avLst/>
          </a:prstGeom>
          <a:noFill/>
        </p:spPr>
        <p:txBody>
          <a:bodyPr wrap="square" lIns="10287" tIns="10287" rIns="10287" bIns="10287">
            <a:spAutoFit/>
          </a:bodyPr>
          <a:lstStyle/>
          <a:p>
            <a:pPr>
              <a:spcAft>
                <a:spcPts val="375"/>
              </a:spcAft>
              <a:defRPr sz="1720" b="0">
                <a:solidFill>
                  <a:srgbClr val="172941"/>
                </a:solidFill>
                <a:latin typeface="Arial"/>
              </a:defRPr>
            </a:pPr>
            <a:r>
              <a:rPr sz="1290" cap="none">
                <a:latin typeface="Arial"/>
              </a:rPr>
              <a:t>One policy owns replica count</a:t>
            </a:r>
          </a:p>
          <a:p>
            <a:pPr>
              <a:spcAft>
                <a:spcPts val="375"/>
              </a:spcAft>
              <a:defRPr sz="1720" b="0">
                <a:solidFill>
                  <a:srgbClr val="172941"/>
                </a:solidFill>
                <a:latin typeface="Arial"/>
              </a:defRPr>
            </a:pPr>
            <a:r>
              <a:rPr sz="1290" cap="none">
                <a:latin typeface="Arial"/>
              </a:rPr>
              <a:t>Separate targets for P and D</a:t>
            </a:r>
          </a:p>
          <a:p>
            <a:pPr>
              <a:spcAft>
                <a:spcPts val="375"/>
              </a:spcAft>
              <a:defRPr sz="1720" b="0">
                <a:solidFill>
                  <a:srgbClr val="172941"/>
                </a:solidFill>
                <a:latin typeface="Arial"/>
              </a:defRPr>
            </a:pPr>
            <a:r>
              <a:rPr sz="1290"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68249"/>
          </a:xfrm>
          <a:prstGeom prst="rect">
            <a:avLst/>
          </a:prstGeom>
          <a:noFill/>
        </p:spPr>
        <p:txBody>
          <a:bodyPr wrap="square" lIns="10287" tIns="10287" rIns="10287" bIns="10287">
            <a:spAutoFit/>
          </a:bodyPr>
          <a:lstStyle/>
          <a:p>
            <a:pPr>
              <a:spcAft>
                <a:spcPts val="375"/>
              </a:spcAft>
              <a:defRPr sz="1280" b="1">
                <a:solidFill>
                  <a:srgbClr val="087F8C"/>
                </a:solidFill>
                <a:latin typeface="Arial"/>
              </a:defRPr>
            </a:pPr>
            <a:r>
              <a:rPr sz="960" cap="none">
                <a:latin typeface="Arial"/>
              </a:rPr>
              <a:t>02 / Metric availability</a:t>
            </a:r>
          </a:p>
        </p:txBody>
      </p:sp>
      <p:sp>
        <p:nvSpPr>
          <p:cNvPr id="18" name="TextBox 17"/>
          <p:cNvSpPr txBox="1"/>
          <p:nvPr/>
        </p:nvSpPr>
        <p:spPr>
          <a:xfrm>
            <a:off x="3353562" y="2146554"/>
            <a:ext cx="2434590" cy="279146"/>
          </a:xfrm>
          <a:prstGeom prst="rect">
            <a:avLst/>
          </a:prstGeom>
          <a:noFill/>
        </p:spPr>
        <p:txBody>
          <a:bodyPr wrap="square" lIns="10287" tIns="10287" rIns="10287" bIns="10287">
            <a:spAutoFit/>
          </a:bodyPr>
          <a:lstStyle/>
          <a:p>
            <a:pPr>
              <a:spcAft>
                <a:spcPts val="375"/>
              </a:spcAft>
              <a:defRPr sz="2267" b="1">
                <a:solidFill>
                  <a:srgbClr val="087F8C"/>
                </a:solidFill>
                <a:latin typeface="Arial"/>
              </a:defRPr>
            </a:pPr>
            <a:r>
              <a:rPr sz="1700" cap="none">
                <a:latin typeface="Arial"/>
              </a:rPr>
              <a:t>Verify real signals</a:t>
            </a:r>
          </a:p>
        </p:txBody>
      </p:sp>
      <p:sp>
        <p:nvSpPr>
          <p:cNvPr id="19" name="TextBox 18"/>
          <p:cNvSpPr txBox="1"/>
          <p:nvPr/>
        </p:nvSpPr>
        <p:spPr>
          <a:xfrm>
            <a:off x="3353562" y="2599182"/>
            <a:ext cx="2434590" cy="1036447"/>
          </a:xfrm>
          <a:prstGeom prst="rect">
            <a:avLst/>
          </a:prstGeom>
          <a:noFill/>
        </p:spPr>
        <p:txBody>
          <a:bodyPr wrap="square" lIns="10287" tIns="10287" rIns="10287" bIns="10287">
            <a:spAutoFit/>
          </a:bodyPr>
          <a:lstStyle/>
          <a:p>
            <a:pPr>
              <a:spcAft>
                <a:spcPts val="375"/>
              </a:spcAft>
              <a:defRPr sz="1932" b="0">
                <a:solidFill>
                  <a:srgbClr val="172941"/>
                </a:solidFill>
                <a:latin typeface="Arial"/>
              </a:defRPr>
            </a:pPr>
            <a:r>
              <a:rPr sz="1450" cap="none">
                <a:latin typeface="Arial"/>
              </a:rPr>
              <a:t>Inspect actual /metrics</a:t>
            </a:r>
          </a:p>
          <a:p>
            <a:pPr>
              <a:spcAft>
                <a:spcPts val="375"/>
              </a:spcAft>
              <a:defRPr sz="1932" b="0">
                <a:solidFill>
                  <a:srgbClr val="172941"/>
                </a:solidFill>
                <a:latin typeface="Arial"/>
              </a:defRPr>
            </a:pPr>
            <a:r>
              <a:rPr sz="1450" cap="none">
                <a:latin typeface="Arial"/>
              </a:rPr>
              <a:t>Scope samples per role</a:t>
            </a:r>
          </a:p>
          <a:p>
            <a:pPr>
              <a:spcAft>
                <a:spcPts val="375"/>
              </a:spcAft>
              <a:defRPr sz="1932" b="0">
                <a:solidFill>
                  <a:srgbClr val="172941"/>
                </a:solidFill>
                <a:latin typeface="Arial"/>
              </a:defRPr>
            </a:pPr>
            <a:r>
              <a:rPr sz="1450" cap="none">
                <a:latin typeface="Arial"/>
              </a:rPr>
              <a:t>Missing is not zero</a:t>
            </a:r>
          </a:p>
          <a:p>
            <a:pPr>
              <a:spcAft>
                <a:spcPts val="375"/>
              </a:spcAft>
              <a:defRPr sz="1932" b="0">
                <a:solidFill>
                  <a:srgbClr val="172941"/>
                </a:solidFill>
                <a:latin typeface="Arial"/>
              </a:defRPr>
            </a:pPr>
            <a:r>
              <a:rPr sz="1450"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68249"/>
          </a:xfrm>
          <a:prstGeom prst="rect">
            <a:avLst/>
          </a:prstGeom>
          <a:noFill/>
        </p:spPr>
        <p:txBody>
          <a:bodyPr wrap="square" lIns="10287" tIns="10287" rIns="10287" bIns="10287">
            <a:spAutoFit/>
          </a:bodyPr>
          <a:lstStyle/>
          <a:p>
            <a:pPr>
              <a:spcAft>
                <a:spcPts val="375"/>
              </a:spcAft>
              <a:defRPr sz="1280" b="1">
                <a:solidFill>
                  <a:srgbClr val="7354B8"/>
                </a:solidFill>
                <a:latin typeface="Arial"/>
              </a:defRPr>
            </a:pPr>
            <a:r>
              <a:rPr sz="960" cap="none">
                <a:latin typeface="Arial"/>
              </a:rPr>
              <a:t>03 / Lifecycle</a:t>
            </a:r>
          </a:p>
        </p:txBody>
      </p:sp>
      <p:sp>
        <p:nvSpPr>
          <p:cNvPr id="23" name="TextBox 22"/>
          <p:cNvSpPr txBox="1"/>
          <p:nvPr/>
        </p:nvSpPr>
        <p:spPr>
          <a:xfrm>
            <a:off x="6192773" y="2146554"/>
            <a:ext cx="2434590" cy="258165"/>
          </a:xfrm>
          <a:prstGeom prst="rect">
            <a:avLst/>
          </a:prstGeom>
          <a:noFill/>
        </p:spPr>
        <p:txBody>
          <a:bodyPr wrap="square" lIns="10287" tIns="10287" rIns="10287" bIns="10287">
            <a:spAutoFit/>
          </a:bodyPr>
          <a:lstStyle/>
          <a:p>
            <a:pPr>
              <a:spcAft>
                <a:spcPts val="375"/>
              </a:spcAft>
              <a:defRPr sz="2080" b="1">
                <a:solidFill>
                  <a:srgbClr val="7354B8"/>
                </a:solidFill>
                <a:latin typeface="Arial"/>
              </a:defRPr>
            </a:pPr>
            <a:r>
              <a:rPr sz="1560" cap="none">
                <a:latin typeface="Arial"/>
              </a:rPr>
              <a:t>Make handoff explicit</a:t>
            </a:r>
          </a:p>
        </p:txBody>
      </p:sp>
      <p:sp>
        <p:nvSpPr>
          <p:cNvPr id="24" name="TextBox 23"/>
          <p:cNvSpPr txBox="1"/>
          <p:nvPr/>
        </p:nvSpPr>
        <p:spPr>
          <a:xfrm>
            <a:off x="6192773" y="2599182"/>
            <a:ext cx="2434590" cy="1024458"/>
          </a:xfrm>
          <a:prstGeom prst="rect">
            <a:avLst/>
          </a:prstGeom>
          <a:noFill/>
        </p:spPr>
        <p:txBody>
          <a:bodyPr wrap="square" lIns="10287" tIns="10287" rIns="10287" bIns="10287">
            <a:spAutoFit/>
          </a:bodyPr>
          <a:lstStyle/>
          <a:p>
            <a:pPr>
              <a:spcAft>
                <a:spcPts val="375"/>
              </a:spcAft>
              <a:defRPr sz="1907" b="0">
                <a:solidFill>
                  <a:srgbClr val="172941"/>
                </a:solidFill>
                <a:latin typeface="Arial"/>
              </a:defRPr>
            </a:pPr>
            <a:r>
              <a:rPr sz="1430" cap="none">
                <a:latin typeface="Arial"/>
              </a:rPr>
              <a:t>Stop the old writer first</a:t>
            </a:r>
          </a:p>
          <a:p>
            <a:pPr>
              <a:spcAft>
                <a:spcPts val="375"/>
              </a:spcAft>
              <a:defRPr sz="1907" b="0">
                <a:solidFill>
                  <a:srgbClr val="172941"/>
                </a:solidFill>
                <a:latin typeface="Arial"/>
              </a:defRPr>
            </a:pPr>
            <a:r>
              <a:rPr sz="1430" cap="none">
                <a:latin typeface="Arial"/>
              </a:rPr>
              <a:t>Delete only owned scalers</a:t>
            </a:r>
          </a:p>
          <a:p>
            <a:pPr>
              <a:spcAft>
                <a:spcPts val="375"/>
              </a:spcAft>
              <a:defRPr sz="1907" b="0">
                <a:solidFill>
                  <a:srgbClr val="172941"/>
                </a:solidFill>
                <a:latin typeface="Arial"/>
              </a:defRPr>
            </a:pPr>
            <a:r>
              <a:rPr sz="1430" cap="none">
                <a:latin typeface="Arial"/>
              </a:rPr>
              <a:t>Allow model warm-up</a:t>
            </a:r>
          </a:p>
          <a:p>
            <a:pPr>
              <a:spcAft>
                <a:spcPts val="375"/>
              </a:spcAft>
              <a:defRPr sz="1907" b="0">
                <a:solidFill>
                  <a:srgbClr val="172941"/>
                </a:solidFill>
                <a:latin typeface="Arial"/>
              </a:defRPr>
            </a:pPr>
            <a:r>
              <a:rPr sz="1430" cap="none">
                <a:latin typeface="Arial"/>
              </a:rPr>
              <a:t>Test safe scale-down</a:t>
            </a:r>
          </a:p>
        </p:txBody>
      </p:sp>
      <p:sp>
        <p:nvSpPr>
          <p:cNvPr id="25" name="TextBox 24"/>
          <p:cNvSpPr txBox="1"/>
          <p:nvPr/>
        </p:nvSpPr>
        <p:spPr>
          <a:xfrm>
            <a:off x="390905" y="4094226"/>
            <a:ext cx="8298180" cy="228193"/>
          </a:xfrm>
          <a:prstGeom prst="rect">
            <a:avLst/>
          </a:prstGeom>
          <a:noFill/>
        </p:spPr>
        <p:txBody>
          <a:bodyPr wrap="square" lIns="10287" tIns="10287" rIns="10287" bIns="10287">
            <a:spAutoFit/>
          </a:bodyPr>
          <a:lstStyle/>
          <a:p>
            <a:pPr>
              <a:spcAft>
                <a:spcPts val="375"/>
              </a:spcAft>
              <a:defRPr sz="1813" b="0">
                <a:solidFill>
                  <a:srgbClr val="586A80"/>
                </a:solidFill>
                <a:latin typeface="Arial"/>
              </a:defRPr>
            </a:pPr>
            <a:r>
              <a:rPr sz="136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57759"/>
          </a:xfrm>
          <a:prstGeom prst="rect">
            <a:avLst/>
          </a:prstGeom>
          <a:noFill/>
        </p:spPr>
        <p:txBody>
          <a:bodyPr wrap="square" lIns="10287" tIns="10287" rIns="10287" bIns="10287">
            <a:spAutoFit/>
          </a:bodyPr>
          <a:lstStyle/>
          <a:p>
            <a:pPr>
              <a:spcAft>
                <a:spcPts val="375"/>
              </a:spcAft>
              <a:defRPr sz="1187" b="1">
                <a:solidFill>
                  <a:srgbClr val="2563EB"/>
                </a:solidFill>
                <a:latin typeface="Arial"/>
              </a:defRPr>
            </a:pPr>
            <a:r>
              <a:rPr sz="890" cap="none">
                <a:latin typeface="Arial"/>
              </a:rPr>
              <a:t>04 / Signal interpretation</a:t>
            </a:r>
          </a:p>
        </p:txBody>
      </p:sp>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05714"/>
          </a:xfrm>
          <a:prstGeom prst="rect">
            <a:avLst/>
          </a:prstGeom>
          <a:noFill/>
        </p:spPr>
        <p:txBody>
          <a:bodyPr wrap="square" lIns="10287" tIns="10287" rIns="10287" bIns="10287">
            <a:spAutoFit/>
          </a:bodyPr>
          <a:lstStyle/>
          <a:p>
            <a:pPr>
              <a:spcAft>
                <a:spcPts val="375"/>
              </a:spcAft>
              <a:defRPr sz="1613" b="1">
                <a:solidFill>
                  <a:srgbClr val="172941"/>
                </a:solidFill>
                <a:latin typeface="Arial"/>
              </a:defRPr>
            </a:pPr>
            <a:r>
              <a:rPr sz="1210"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202717"/>
          </a:xfrm>
          <a:prstGeom prst="rect">
            <a:avLst/>
          </a:prstGeom>
          <a:noFill/>
        </p:spPr>
        <p:txBody>
          <a:bodyPr wrap="square" lIns="10287" tIns="10287" rIns="10287" bIns="10287">
            <a:spAutoFit/>
          </a:bodyPr>
          <a:lstStyle/>
          <a:p>
            <a:pPr>
              <a:spcAft>
                <a:spcPts val="375"/>
              </a:spcAft>
              <a:defRPr sz="1587" b="1">
                <a:solidFill>
                  <a:srgbClr val="FFFFFF"/>
                </a:solidFill>
                <a:latin typeface="Arial"/>
              </a:defRPr>
            </a:pPr>
            <a:r>
              <a:rPr sz="119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202717"/>
          </a:xfrm>
          <a:prstGeom prst="rect">
            <a:avLst/>
          </a:prstGeom>
          <a:noFill/>
        </p:spPr>
        <p:txBody>
          <a:bodyPr wrap="square" lIns="10287" tIns="10287" rIns="10287" bIns="10287">
            <a:spAutoFit/>
          </a:bodyPr>
          <a:lstStyle/>
          <a:p>
            <a:pPr>
              <a:spcAft>
                <a:spcPts val="375"/>
              </a:spcAft>
              <a:defRPr sz="1587" b="1">
                <a:solidFill>
                  <a:srgbClr val="FFFFFF"/>
                </a:solidFill>
                <a:latin typeface="Arial"/>
              </a:defRPr>
            </a:pPr>
            <a:r>
              <a:rPr sz="119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202717"/>
          </a:xfrm>
          <a:prstGeom prst="rect">
            <a:avLst/>
          </a:prstGeom>
          <a:noFill/>
        </p:spPr>
        <p:txBody>
          <a:bodyPr wrap="square" lIns="10287" tIns="10287" rIns="10287" bIns="10287">
            <a:spAutoFit/>
          </a:bodyPr>
          <a:lstStyle/>
          <a:p>
            <a:pPr>
              <a:spcAft>
                <a:spcPts val="375"/>
              </a:spcAft>
              <a:defRPr sz="1587" b="1">
                <a:solidFill>
                  <a:srgbClr val="FFFFFF"/>
                </a:solidFill>
                <a:latin typeface="Arial"/>
              </a:defRPr>
            </a:pPr>
            <a:r>
              <a:rPr sz="119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55650"/>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Minimum free fraction;</a:t>
            </a:r>
          </a:p>
          <a:p>
            <a:pPr>
              <a:spcAft>
                <a:spcPts val="375"/>
              </a:spcAft>
              <a:defRPr sz="1707" b="0">
                <a:solidFill>
                  <a:srgbClr val="172941"/>
                </a:solidFill>
                <a:latin typeface="Arial"/>
              </a:defRPr>
            </a:pPr>
            <a:r>
              <a:rPr sz="1280"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55650"/>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time_to_first_token_seconds</a:t>
            </a:r>
          </a:p>
          <a:p>
            <a:pPr>
              <a:spcAft>
                <a:spcPts val="375"/>
              </a:spcAft>
              <a:defRPr sz="1707" b="0">
                <a:solidFill>
                  <a:srgbClr val="2563EB"/>
                </a:solidFill>
                <a:latin typeface="Arial"/>
              </a:defRPr>
            </a:pPr>
            <a:r>
              <a:rPr sz="1280"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216204"/>
          </a:xfrm>
          <a:prstGeom prst="rect">
            <a:avLst/>
          </a:prstGeom>
          <a:noFill/>
        </p:spPr>
        <p:txBody>
          <a:bodyPr wrap="square" lIns="10287" tIns="10287" rIns="10287" bIns="10287">
            <a:spAutoFit/>
          </a:bodyPr>
          <a:lstStyle/>
          <a:p>
            <a:pPr>
              <a:spcAft>
                <a:spcPts val="375"/>
              </a:spcAft>
              <a:defRPr sz="1707" b="0">
                <a:solidFill>
                  <a:srgbClr val="2563EB"/>
                </a:solidFill>
                <a:latin typeface="Arial"/>
              </a:defRPr>
            </a:pPr>
            <a:r>
              <a:rPr sz="1280"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216204"/>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55650"/>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Output throughput;</a:t>
            </a:r>
          </a:p>
          <a:p>
            <a:pPr>
              <a:spcAft>
                <a:spcPts val="375"/>
              </a:spcAft>
              <a:defRPr sz="1707" b="0">
                <a:solidFill>
                  <a:srgbClr val="172941"/>
                </a:solidFill>
                <a:latin typeface="Arial"/>
              </a:defRPr>
            </a:pPr>
            <a:r>
              <a:rPr sz="1280"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39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36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82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Signal: average waiting requests</a:t>
            </a:r>
          </a:p>
          <a:p>
            <a:pPr>
              <a:spcAft>
                <a:spcPts val="500"/>
              </a:spcAft>
              <a:defRPr sz="1700" b="0">
                <a:solidFill>
                  <a:srgbClr val="142C46"/>
                </a:solidFill>
                <a:latin typeface="Arial"/>
              </a:defRPr>
            </a:pPr>
            <a:r>
              <a:rPr cap="none"/>
              <a:t>Replica range: 1–8</a:t>
            </a:r>
          </a:p>
          <a:p>
            <a:pPr>
              <a:spcAft>
                <a:spcPts val="500"/>
              </a:spcAft>
              <a:defRPr sz="1700" b="0">
                <a:solidFill>
                  <a:srgbClr val="142C46"/>
                </a:solidFill>
                <a:latin typeface="Arial"/>
              </a:defRPr>
            </a:pPr>
            <a:r>
              <a:rPr cap="none"/>
              <a:t>Scale up above 8; down below 1</a:t>
            </a:r>
          </a:p>
          <a:p>
            <a:pPr>
              <a:spcAft>
                <a:spcPts val="500"/>
              </a:spcAft>
              <a:defRPr sz="17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82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Signal: average running requests</a:t>
            </a:r>
          </a:p>
          <a:p>
            <a:pPr>
              <a:spcAft>
                <a:spcPts val="500"/>
              </a:spcAft>
              <a:defRPr sz="1700" b="0">
                <a:solidFill>
                  <a:srgbClr val="142C46"/>
                </a:solidFill>
                <a:latin typeface="Arial"/>
              </a:defRPr>
            </a:pPr>
            <a:r>
              <a:rPr cap="none"/>
              <a:t>Replica range: 2–16</a:t>
            </a:r>
          </a:p>
          <a:p>
            <a:pPr>
              <a:spcAft>
                <a:spcPts val="500"/>
              </a:spcAft>
              <a:defRPr sz="1700" b="0">
                <a:solidFill>
                  <a:srgbClr val="142C46"/>
                </a:solidFill>
                <a:latin typeface="Arial"/>
              </a:defRPr>
            </a:pPr>
            <a:r>
              <a:rPr cap="none"/>
              <a:t>Scale up above 24; down below 4</a:t>
            </a:r>
          </a:p>
          <a:p>
            <a:pPr>
              <a:spcAft>
                <a:spcPts val="500"/>
              </a:spcAft>
              <a:defRPr sz="17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14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46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6204"/>
          </a:xfrm>
          <a:prstGeom prst="rect">
            <a:avLst/>
          </a:prstGeom>
          <a:noFill/>
        </p:spPr>
        <p:txBody>
          <a:bodyPr wrap="square" lIns="10287" tIns="10287" rIns="10287" bIns="10287">
            <a:spAutoFit/>
          </a:bodyPr>
          <a:lstStyle/>
          <a:p>
            <a:pPr>
              <a:spcAft>
                <a:spcPts val="375"/>
              </a:spcAft>
              <a:defRPr sz="1707" b="1">
                <a:solidFill>
                  <a:srgbClr val="172941"/>
                </a:solidFill>
                <a:latin typeface="Arial"/>
              </a:defRPr>
            </a:pPr>
            <a:r>
              <a:rPr sz="1280"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90728"/>
          </a:xfrm>
          <a:prstGeom prst="rect">
            <a:avLst/>
          </a:prstGeom>
          <a:noFill/>
        </p:spPr>
        <p:txBody>
          <a:bodyPr wrap="square" lIns="10287" tIns="10287" rIns="10287" bIns="10287">
            <a:spAutoFit/>
          </a:bodyPr>
          <a:lstStyle/>
          <a:p>
            <a:pPr algn="ctr">
              <a:spcAft>
                <a:spcPts val="375"/>
              </a:spcAft>
              <a:defRPr sz="1480" b="1">
                <a:solidFill>
                  <a:srgbClr val="AE641A"/>
                </a:solidFill>
                <a:latin typeface="Arial"/>
              </a:defRPr>
            </a:pPr>
            <a:r>
              <a:rPr sz="1110" cap="none">
                <a:latin typeface="Arial"/>
              </a:rPr>
              <a:t>Expensive / weak KV transfer</a:t>
            </a:r>
          </a:p>
        </p:txBody>
      </p:sp>
      <p:sp>
        <p:nvSpPr>
          <p:cNvPr id="11" name="TextBox 10"/>
          <p:cNvSpPr txBox="1"/>
          <p:nvPr/>
        </p:nvSpPr>
        <p:spPr>
          <a:xfrm>
            <a:off x="5273802" y="1488186"/>
            <a:ext cx="3326130" cy="190728"/>
          </a:xfrm>
          <a:prstGeom prst="rect">
            <a:avLst/>
          </a:prstGeom>
          <a:noFill/>
        </p:spPr>
        <p:txBody>
          <a:bodyPr wrap="square" lIns="10287" tIns="10287" rIns="10287" bIns="10287">
            <a:spAutoFit/>
          </a:bodyPr>
          <a:lstStyle/>
          <a:p>
            <a:pPr algn="ctr">
              <a:spcAft>
                <a:spcPts val="375"/>
              </a:spcAft>
              <a:defRPr sz="1480" b="1">
                <a:solidFill>
                  <a:srgbClr val="087F8C"/>
                </a:solidFill>
                <a:latin typeface="Arial"/>
              </a:defRPr>
            </a:pPr>
            <a:r>
              <a:rPr sz="1110"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28193"/>
          </a:xfrm>
          <a:prstGeom prst="rect">
            <a:avLst/>
          </a:prstGeom>
          <a:noFill/>
        </p:spPr>
        <p:txBody>
          <a:bodyPr wrap="square" lIns="10287" tIns="10287" rIns="10287" bIns="10287">
            <a:spAutoFit/>
          </a:bodyPr>
          <a:lstStyle/>
          <a:p>
            <a:pPr>
              <a:spcAft>
                <a:spcPts val="375"/>
              </a:spcAft>
              <a:defRPr sz="1813" b="1">
                <a:solidFill>
                  <a:srgbClr val="AE641A"/>
                </a:solidFill>
                <a:latin typeface="Arial"/>
              </a:defRPr>
            </a:pPr>
            <a:r>
              <a:rPr sz="1360" cap="none">
                <a:latin typeface="Arial"/>
              </a:rPr>
              <a:t>Improve topology first</a:t>
            </a:r>
          </a:p>
        </p:txBody>
      </p:sp>
      <p:sp>
        <p:nvSpPr>
          <p:cNvPr id="16" name="TextBox 15"/>
          <p:cNvSpPr txBox="1"/>
          <p:nvPr/>
        </p:nvSpPr>
        <p:spPr>
          <a:xfrm>
            <a:off x="1700784" y="2297430"/>
            <a:ext cx="3216402" cy="455650"/>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Independent capacity may help.</a:t>
            </a:r>
          </a:p>
          <a:p>
            <a:pPr>
              <a:spcAft>
                <a:spcPts val="375"/>
              </a:spcAft>
              <a:defRPr sz="1707" b="0">
                <a:solidFill>
                  <a:srgbClr val="172941"/>
                </a:solidFill>
                <a:latin typeface="Arial"/>
              </a:defRPr>
            </a:pPr>
            <a:r>
              <a:rPr sz="1280"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28193"/>
          </a:xfrm>
          <a:prstGeom prst="rect">
            <a:avLst/>
          </a:prstGeom>
          <a:noFill/>
        </p:spPr>
        <p:txBody>
          <a:bodyPr wrap="square" lIns="10287" tIns="10287" rIns="10287" bIns="10287">
            <a:spAutoFit/>
          </a:bodyPr>
          <a:lstStyle/>
          <a:p>
            <a:pPr>
              <a:spcAft>
                <a:spcPts val="375"/>
              </a:spcAft>
              <a:defRPr sz="1813" b="1">
                <a:solidFill>
                  <a:srgbClr val="247952"/>
                </a:solidFill>
                <a:latin typeface="Arial"/>
              </a:defRPr>
            </a:pPr>
            <a:r>
              <a:rPr sz="1360" cap="none">
                <a:latin typeface="Arial"/>
              </a:rPr>
              <a:t>Strong P/D candidate</a:t>
            </a:r>
          </a:p>
        </p:txBody>
      </p:sp>
      <p:sp>
        <p:nvSpPr>
          <p:cNvPr id="19" name="TextBox 18"/>
          <p:cNvSpPr txBox="1"/>
          <p:nvPr/>
        </p:nvSpPr>
        <p:spPr>
          <a:xfrm>
            <a:off x="5349240" y="2297430"/>
            <a:ext cx="3291840" cy="443661"/>
          </a:xfrm>
          <a:prstGeom prst="rect">
            <a:avLst/>
          </a:prstGeom>
          <a:noFill/>
        </p:spPr>
        <p:txBody>
          <a:bodyPr wrap="square" lIns="10287" tIns="10287" rIns="10287" bIns="10287">
            <a:spAutoFit/>
          </a:bodyPr>
          <a:lstStyle/>
          <a:p>
            <a:pPr>
              <a:spcAft>
                <a:spcPts val="375"/>
              </a:spcAft>
              <a:defRPr sz="1653" b="0">
                <a:solidFill>
                  <a:srgbClr val="172941"/>
                </a:solidFill>
                <a:latin typeface="Arial"/>
              </a:defRPr>
            </a:pPr>
            <a:r>
              <a:rPr sz="1240" cap="none">
                <a:latin typeface="Arial"/>
              </a:rPr>
              <a:t>Different role capacity or parallelism.</a:t>
            </a:r>
          </a:p>
          <a:p>
            <a:pPr>
              <a:spcAft>
                <a:spcPts val="375"/>
              </a:spcAft>
              <a:defRPr sz="1653" b="0">
                <a:solidFill>
                  <a:srgbClr val="172941"/>
                </a:solidFill>
                <a:latin typeface="Arial"/>
              </a:defRPr>
            </a:pPr>
            <a:r>
              <a:rPr sz="1240"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28193"/>
          </a:xfrm>
          <a:prstGeom prst="rect">
            <a:avLst/>
          </a:prstGeom>
          <a:noFill/>
        </p:spPr>
        <p:txBody>
          <a:bodyPr wrap="square" lIns="10287" tIns="10287" rIns="10287" bIns="10287">
            <a:spAutoFit/>
          </a:bodyPr>
          <a:lstStyle/>
          <a:p>
            <a:pPr>
              <a:spcAft>
                <a:spcPts val="375"/>
              </a:spcAft>
              <a:defRPr sz="1813" b="1">
                <a:solidFill>
                  <a:srgbClr val="586A80"/>
                </a:solidFill>
                <a:latin typeface="Arial"/>
              </a:defRPr>
            </a:pPr>
            <a:r>
              <a:rPr sz="1360" cap="none">
                <a:latin typeface="Arial"/>
              </a:rPr>
              <a:t>Stay aggregated</a:t>
            </a:r>
          </a:p>
        </p:txBody>
      </p:sp>
      <p:sp>
        <p:nvSpPr>
          <p:cNvPr id="22" name="TextBox 21"/>
          <p:cNvSpPr txBox="1"/>
          <p:nvPr/>
        </p:nvSpPr>
        <p:spPr>
          <a:xfrm>
            <a:off x="1700784" y="3470148"/>
            <a:ext cx="3216402" cy="455650"/>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Little role separation benefit,</a:t>
            </a:r>
          </a:p>
          <a:p>
            <a:pPr>
              <a:spcAft>
                <a:spcPts val="375"/>
              </a:spcAft>
              <a:defRPr sz="1707" b="0">
                <a:solidFill>
                  <a:srgbClr val="172941"/>
                </a:solidFill>
                <a:latin typeface="Arial"/>
              </a:defRPr>
            </a:pPr>
            <a:r>
              <a:rPr sz="1280"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28193"/>
          </a:xfrm>
          <a:prstGeom prst="rect">
            <a:avLst/>
          </a:prstGeom>
          <a:noFill/>
        </p:spPr>
        <p:txBody>
          <a:bodyPr wrap="square" lIns="10287" tIns="10287" rIns="10287" bIns="10287">
            <a:spAutoFit/>
          </a:bodyPr>
          <a:lstStyle/>
          <a:p>
            <a:pPr>
              <a:spcAft>
                <a:spcPts val="375"/>
              </a:spcAft>
              <a:defRPr sz="1813" b="1">
                <a:solidFill>
                  <a:srgbClr val="2563EB"/>
                </a:solidFill>
                <a:latin typeface="Arial"/>
              </a:defRPr>
            </a:pPr>
            <a:r>
              <a:rPr sz="1360" cap="none">
                <a:latin typeface="Arial"/>
              </a:rPr>
              <a:t>Usually stay aggregated</a:t>
            </a:r>
          </a:p>
        </p:txBody>
      </p:sp>
      <p:sp>
        <p:nvSpPr>
          <p:cNvPr id="25" name="TextBox 24"/>
          <p:cNvSpPr txBox="1"/>
          <p:nvPr/>
        </p:nvSpPr>
        <p:spPr>
          <a:xfrm>
            <a:off x="5349240" y="3470148"/>
            <a:ext cx="3291840" cy="455650"/>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Fast fabric alone is not a reason to split.</a:t>
            </a:r>
          </a:p>
          <a:p>
            <a:pPr>
              <a:spcAft>
                <a:spcPts val="375"/>
              </a:spcAft>
              <a:defRPr sz="1707" b="0">
                <a:solidFill>
                  <a:srgbClr val="172941"/>
                </a:solidFill>
                <a:latin typeface="Arial"/>
              </a:defRPr>
            </a:pPr>
            <a:r>
              <a:rPr sz="1280"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3"/>
          </a:xfrm>
          <a:prstGeom prst="rect">
            <a:avLst/>
          </a:prstGeom>
          <a:noFill/>
        </p:spPr>
        <p:txBody>
          <a:bodyPr wrap="none" lIns="0" tIns="0" rIns="0" bIns="0">
            <a:spAutoFit/>
          </a:bodyPr>
          <a:lstStyle/>
          <a:p>
            <a:pPr>
              <a:spcAft>
                <a:spcPts val="375"/>
              </a:spcAft>
              <a:defRPr sz="3300" b="1">
                <a:solidFill>
                  <a:srgbClr val="172941"/>
                </a:solidFill>
                <a:latin typeface="Arial"/>
              </a:defRPr>
            </a:pPr>
            <a:r>
              <a:rPr sz="2390" dirty="0" cap="none" b="1">
                <a:solidFill>
                  <a:srgbClr val="142C46"/>
                </a:solidFill>
                <a:latin typeface="Arial"/>
              </a:rPr>
              <a:t>What’s next for KAITO + </a:t>
            </a:r>
            <a:r>
              <a:rPr sz="2390" dirty="0" err="1" cap="none" b="1">
                <a:solidFill>
                  <a:srgbClr val="142C46"/>
                </a:solidFill>
                <a:latin typeface="Arial"/>
              </a:rPr>
              <a:t>llm</a:t>
            </a:r>
            <a:r>
              <a:rPr sz="239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927" b="0">
                <a:solidFill>
                  <a:srgbClr val="586A80"/>
                </a:solidFill>
                <a:latin typeface="Arial"/>
              </a:defRPr>
            </a:pPr>
            <a:r>
              <a:rPr sz="136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213207"/>
          </a:xfrm>
          <a:prstGeom prst="rect">
            <a:avLst/>
          </a:prstGeom>
          <a:noFill/>
        </p:spPr>
        <p:txBody>
          <a:bodyPr wrap="square" lIns="10287" tIns="10287" rIns="10287" bIns="10287">
            <a:spAutoFit/>
          </a:bodyPr>
          <a:lstStyle/>
          <a:p>
            <a:pPr>
              <a:spcAft>
                <a:spcPts val="375"/>
              </a:spcAft>
              <a:defRPr sz="1680" b="1">
                <a:solidFill>
                  <a:srgbClr val="172941"/>
                </a:solidFill>
                <a:latin typeface="Arial"/>
              </a:defRPr>
            </a:pPr>
            <a:r>
              <a:rPr sz="1260"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68249"/>
          </a:xfrm>
          <a:prstGeom prst="rect">
            <a:avLst/>
          </a:prstGeom>
          <a:noFill/>
        </p:spPr>
        <p:txBody>
          <a:bodyPr wrap="square" lIns="10287" tIns="10287" rIns="10287" bIns="10287">
            <a:spAutoFit/>
          </a:bodyPr>
          <a:lstStyle/>
          <a:p>
            <a:pPr>
              <a:spcAft>
                <a:spcPts val="375"/>
              </a:spcAft>
              <a:defRPr sz="1280" b="1">
                <a:solidFill>
                  <a:srgbClr val="087F8C"/>
                </a:solidFill>
                <a:latin typeface="Arial"/>
              </a:defRPr>
            </a:pPr>
            <a:r>
              <a:rPr sz="960" cap="none">
                <a:latin typeface="Arial"/>
              </a:rPr>
              <a:t>Near term</a:t>
            </a:r>
          </a:p>
        </p:txBody>
      </p:sp>
      <p:sp>
        <p:nvSpPr>
          <p:cNvPr id="13" name="TextBox 12"/>
          <p:cNvSpPr txBox="1"/>
          <p:nvPr/>
        </p:nvSpPr>
        <p:spPr>
          <a:xfrm>
            <a:off x="514350" y="2146554"/>
            <a:ext cx="2434590" cy="264160"/>
          </a:xfrm>
          <a:prstGeom prst="rect">
            <a:avLst/>
          </a:prstGeom>
          <a:noFill/>
        </p:spPr>
        <p:txBody>
          <a:bodyPr wrap="square" lIns="10287" tIns="10287" rIns="10287" bIns="10287">
            <a:spAutoFit/>
          </a:bodyPr>
          <a:lstStyle/>
          <a:p>
            <a:pPr>
              <a:spcAft>
                <a:spcPts val="375"/>
              </a:spcAft>
              <a:defRPr sz="2133" b="1">
                <a:solidFill>
                  <a:srgbClr val="087F8C"/>
                </a:solidFill>
                <a:latin typeface="Arial"/>
              </a:defRPr>
            </a:pPr>
            <a:r>
              <a:rPr sz="1600" cap="none">
                <a:latin typeface="Arial"/>
              </a:rPr>
              <a:t>Cache-aware serving</a:t>
            </a:r>
          </a:p>
        </p:txBody>
      </p:sp>
      <p:sp>
        <p:nvSpPr>
          <p:cNvPr id="14" name="TextBox 13"/>
          <p:cNvSpPr txBox="1"/>
          <p:nvPr/>
        </p:nvSpPr>
        <p:spPr>
          <a:xfrm>
            <a:off x="514350" y="2599182"/>
            <a:ext cx="2434590" cy="1486496"/>
          </a:xfrm>
          <a:prstGeom prst="rect">
            <a:avLst/>
          </a:prstGeom>
          <a:noFill/>
        </p:spPr>
        <p:txBody>
          <a:bodyPr wrap="square" lIns="10287" tIns="10287" rIns="10287" bIns="10287">
            <a:spAutoFit/>
          </a:bodyPr>
          <a:lstStyle/>
          <a:p>
            <a:pPr>
              <a:spcAft>
                <a:spcPts val="375"/>
              </a:spcAft>
              <a:defRPr sz="1787" b="0">
                <a:solidFill>
                  <a:srgbClr val="172941"/>
                </a:solidFill>
                <a:latin typeface="Arial"/>
              </a:defRPr>
            </a:pPr>
            <a:r>
              <a:rPr sz="1340" cap="none">
                <a:latin typeface="Arial"/>
              </a:rPr>
              <a:t>KV-event-based</a:t>
            </a:r>
          </a:p>
          <a:p>
            <a:pPr>
              <a:spcAft>
                <a:spcPts val="375"/>
              </a:spcAft>
              <a:defRPr sz="1787" b="0">
                <a:solidFill>
                  <a:srgbClr val="172941"/>
                </a:solidFill>
                <a:latin typeface="Arial"/>
              </a:defRPr>
            </a:pPr>
            <a:r>
              <a:rPr sz="1340" cap="none">
                <a:latin typeface="Arial"/>
              </a:rPr>
              <a:t>prefix-cache routing</a:t>
            </a:r>
          </a:p>
          <a:p>
            <a:pPr>
              <a:spcAft>
                <a:spcPts val="375"/>
              </a:spcAft>
              <a:defRPr sz="1787" b="0">
                <a:solidFill>
                  <a:srgbClr val="172941"/>
                </a:solidFill>
                <a:latin typeface="Arial"/>
              </a:defRPr>
            </a:pPr>
            <a:endParaRPr sz="1275"/>
          </a:p>
          <a:p>
            <a:pPr>
              <a:spcAft>
                <a:spcPts val="375"/>
              </a:spcAft>
              <a:defRPr sz="1787" b="0">
                <a:solidFill>
                  <a:srgbClr val="172941"/>
                </a:solidFill>
                <a:latin typeface="Arial"/>
              </a:defRPr>
            </a:pPr>
            <a:r>
              <a:rPr sz="1340" cap="none">
                <a:latin typeface="Arial"/>
              </a:rPr>
              <a:t>Tiered cache: HBM + CPU RAM</a:t>
            </a:r>
          </a:p>
          <a:p>
            <a:pPr>
              <a:spcAft>
                <a:spcPts val="375"/>
              </a:spcAft>
              <a:defRPr sz="1787" b="0">
                <a:solidFill>
                  <a:srgbClr val="172941"/>
                </a:solidFill>
                <a:latin typeface="Arial"/>
              </a:defRPr>
            </a:pPr>
            <a:r>
              <a:rPr sz="1340"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68249"/>
          </a:xfrm>
          <a:prstGeom prst="rect">
            <a:avLst/>
          </a:prstGeom>
          <a:noFill/>
        </p:spPr>
        <p:txBody>
          <a:bodyPr wrap="square" lIns="10287" tIns="10287" rIns="10287" bIns="10287">
            <a:spAutoFit/>
          </a:bodyPr>
          <a:lstStyle/>
          <a:p>
            <a:pPr>
              <a:spcAft>
                <a:spcPts val="375"/>
              </a:spcAft>
              <a:defRPr sz="1280" b="1">
                <a:solidFill>
                  <a:srgbClr val="2563EB"/>
                </a:solidFill>
                <a:latin typeface="Arial"/>
              </a:defRPr>
            </a:pPr>
            <a:r>
              <a:rPr sz="960" cap="none">
                <a:latin typeface="Arial"/>
              </a:rPr>
              <a:t>Next topology</a:t>
            </a:r>
          </a:p>
        </p:txBody>
      </p:sp>
      <p:sp>
        <p:nvSpPr>
          <p:cNvPr id="18" name="TextBox 17"/>
          <p:cNvSpPr txBox="1"/>
          <p:nvPr/>
        </p:nvSpPr>
        <p:spPr>
          <a:xfrm>
            <a:off x="3353562" y="2146554"/>
            <a:ext cx="2434590" cy="279146"/>
          </a:xfrm>
          <a:prstGeom prst="rect">
            <a:avLst/>
          </a:prstGeom>
          <a:noFill/>
        </p:spPr>
        <p:txBody>
          <a:bodyPr wrap="square" lIns="10287" tIns="10287" rIns="10287" bIns="10287">
            <a:spAutoFit/>
          </a:bodyPr>
          <a:lstStyle/>
          <a:p>
            <a:pPr>
              <a:spcAft>
                <a:spcPts val="375"/>
              </a:spcAft>
              <a:defRPr sz="2267" b="1">
                <a:solidFill>
                  <a:srgbClr val="2563EB"/>
                </a:solidFill>
                <a:latin typeface="Arial"/>
              </a:defRPr>
            </a:pPr>
            <a:r>
              <a:rPr sz="1700" cap="none">
                <a:latin typeface="Arial"/>
              </a:rPr>
              <a:t>E/P/D</a:t>
            </a:r>
          </a:p>
        </p:txBody>
      </p:sp>
      <p:sp>
        <p:nvSpPr>
          <p:cNvPr id="19" name="TextBox 18"/>
          <p:cNvSpPr txBox="1"/>
          <p:nvPr/>
        </p:nvSpPr>
        <p:spPr>
          <a:xfrm>
            <a:off x="3353562" y="2599182"/>
            <a:ext cx="2434590" cy="1189491"/>
          </a:xfrm>
          <a:prstGeom prst="rect">
            <a:avLst/>
          </a:prstGeom>
          <a:noFill/>
        </p:spPr>
        <p:txBody>
          <a:bodyPr wrap="square" lIns="10287" tIns="10287" rIns="10287" bIns="10287">
            <a:spAutoFit/>
          </a:bodyPr>
          <a:lstStyle/>
          <a:p>
            <a:pPr>
              <a:spcAft>
                <a:spcPts val="375"/>
              </a:spcAft>
              <a:defRPr sz="1707" b="0">
                <a:solidFill>
                  <a:srgbClr val="172941"/>
                </a:solidFill>
                <a:latin typeface="Arial"/>
              </a:defRPr>
            </a:pPr>
            <a:r>
              <a:rPr sz="1280" cap="none">
                <a:latin typeface="Arial"/>
              </a:rPr>
              <a:t>Encode / Prefill / Decode</a:t>
            </a:r>
          </a:p>
          <a:p>
            <a:pPr>
              <a:spcAft>
                <a:spcPts val="375"/>
              </a:spcAft>
              <a:defRPr sz="1707" b="0">
                <a:solidFill>
                  <a:srgbClr val="172941"/>
                </a:solidFill>
                <a:latin typeface="Arial"/>
              </a:defRPr>
            </a:pPr>
            <a:endParaRPr sz="1275"/>
          </a:p>
          <a:p>
            <a:pPr>
              <a:spcAft>
                <a:spcPts val="375"/>
              </a:spcAft>
              <a:defRPr sz="1707" b="0">
                <a:solidFill>
                  <a:srgbClr val="172941"/>
                </a:solidFill>
                <a:latin typeface="Arial"/>
              </a:defRPr>
            </a:pPr>
            <a:r>
              <a:rPr sz="1280" cap="none">
                <a:latin typeface="Arial"/>
              </a:rPr>
              <a:t>Extend role-based serving</a:t>
            </a:r>
          </a:p>
          <a:p>
            <a:pPr>
              <a:spcAft>
                <a:spcPts val="375"/>
              </a:spcAft>
              <a:defRPr sz="1707" b="0">
                <a:solidFill>
                  <a:srgbClr val="172941"/>
                </a:solidFill>
                <a:latin typeface="Arial"/>
              </a:defRPr>
            </a:pPr>
            <a:r>
              <a:rPr sz="1280"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68249"/>
          </a:xfrm>
          <a:prstGeom prst="rect">
            <a:avLst/>
          </a:prstGeom>
          <a:noFill/>
        </p:spPr>
        <p:txBody>
          <a:bodyPr wrap="square" lIns="10287" tIns="10287" rIns="10287" bIns="10287">
            <a:spAutoFit/>
          </a:bodyPr>
          <a:lstStyle/>
          <a:p>
            <a:pPr>
              <a:spcAft>
                <a:spcPts val="375"/>
              </a:spcAft>
              <a:defRPr sz="1280" b="1">
                <a:solidFill>
                  <a:srgbClr val="7354B8"/>
                </a:solidFill>
                <a:latin typeface="Arial"/>
              </a:defRPr>
            </a:pPr>
            <a:r>
              <a:rPr sz="960" cap="none">
                <a:latin typeface="Arial"/>
              </a:rPr>
              <a:t>At larger scale</a:t>
            </a:r>
          </a:p>
        </p:txBody>
      </p:sp>
      <p:sp>
        <p:nvSpPr>
          <p:cNvPr id="23" name="TextBox 22"/>
          <p:cNvSpPr txBox="1"/>
          <p:nvPr/>
        </p:nvSpPr>
        <p:spPr>
          <a:xfrm>
            <a:off x="6192773" y="2146554"/>
            <a:ext cx="2434590" cy="261162"/>
          </a:xfrm>
          <a:prstGeom prst="rect">
            <a:avLst/>
          </a:prstGeom>
          <a:noFill/>
        </p:spPr>
        <p:txBody>
          <a:bodyPr wrap="square" lIns="10287" tIns="10287" rIns="10287" bIns="10287">
            <a:spAutoFit/>
          </a:bodyPr>
          <a:lstStyle/>
          <a:p>
            <a:pPr>
              <a:spcAft>
                <a:spcPts val="375"/>
              </a:spcAft>
              <a:defRPr sz="2107" b="1">
                <a:solidFill>
                  <a:srgbClr val="7354B8"/>
                </a:solidFill>
                <a:latin typeface="Arial"/>
              </a:defRPr>
            </a:pPr>
            <a:r>
              <a:rPr sz="1580" cap="none">
                <a:latin typeface="Arial"/>
              </a:rPr>
              <a:t>Larger-scale systems</a:t>
            </a:r>
          </a:p>
        </p:txBody>
      </p:sp>
      <p:sp>
        <p:nvSpPr>
          <p:cNvPr id="24" name="TextBox 23"/>
          <p:cNvSpPr txBox="1"/>
          <p:nvPr/>
        </p:nvSpPr>
        <p:spPr>
          <a:xfrm>
            <a:off x="6192773" y="2599182"/>
            <a:ext cx="2434590" cy="1373801"/>
          </a:xfrm>
          <a:prstGeom prst="rect">
            <a:avLst/>
          </a:prstGeom>
          <a:noFill/>
        </p:spPr>
        <p:txBody>
          <a:bodyPr wrap="square" lIns="10287" tIns="10287" rIns="10287" bIns="10287">
            <a:spAutoFit/>
          </a:bodyPr>
          <a:lstStyle/>
          <a:p>
            <a:pPr>
              <a:spcAft>
                <a:spcPts val="375"/>
              </a:spcAft>
              <a:defRPr sz="1932" b="0">
                <a:solidFill>
                  <a:srgbClr val="172941"/>
                </a:solidFill>
                <a:latin typeface="Arial"/>
              </a:defRPr>
            </a:pPr>
            <a:r>
              <a:rPr sz="1450" cap="none">
                <a:latin typeface="Arial"/>
              </a:rPr>
              <a:t>Wide Expert Parallelism</a:t>
            </a:r>
          </a:p>
          <a:p>
            <a:pPr>
              <a:spcAft>
                <a:spcPts val="375"/>
              </a:spcAft>
              <a:defRPr sz="1932" b="0">
                <a:solidFill>
                  <a:srgbClr val="172941"/>
                </a:solidFill>
                <a:latin typeface="Arial"/>
              </a:defRPr>
            </a:pPr>
            <a:endParaRPr sz="1275"/>
          </a:p>
          <a:p>
            <a:pPr>
              <a:spcAft>
                <a:spcPts val="375"/>
              </a:spcAft>
              <a:defRPr sz="1932" b="0">
                <a:solidFill>
                  <a:srgbClr val="172941"/>
                </a:solidFill>
                <a:latin typeface="Arial"/>
              </a:defRPr>
            </a:pPr>
            <a:r>
              <a:rPr sz="1450" cap="none">
                <a:latin typeface="Arial"/>
              </a:rPr>
              <a:t>Cross-node transport</a:t>
            </a:r>
          </a:p>
          <a:p>
            <a:pPr>
              <a:spcAft>
                <a:spcPts val="375"/>
              </a:spcAft>
              <a:defRPr sz="1932" b="0">
                <a:solidFill>
                  <a:srgbClr val="172941"/>
                </a:solidFill>
                <a:latin typeface="Arial"/>
              </a:defRPr>
            </a:pPr>
            <a:r>
              <a:rPr sz="1450" cap="none">
                <a:latin typeface="Arial"/>
              </a:rPr>
              <a:t>and communication</a:t>
            </a:r>
          </a:p>
          <a:p>
            <a:pPr>
              <a:spcAft>
                <a:spcPts val="375"/>
              </a:spcAft>
              <a:defRPr sz="1932" b="0">
                <a:solidFill>
                  <a:srgbClr val="172941"/>
                </a:solidFill>
                <a:latin typeface="Arial"/>
              </a:defRPr>
            </a:pPr>
            <a:r>
              <a:rPr sz="1450"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48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41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800" b="0">
                <a:solidFill>
                  <a:srgbClr val="346CEC"/>
                </a:solidFill>
                <a:latin typeface="Arial"/>
              </a:defRPr>
            </a:pPr>
            <a:r>
              <a:rPr cap="none"/>
              <a:t>Questions and discussion</a:t>
            </a:r>
          </a:p>
        </p:txBody>
      </p:sp>
      <p:sp>
        <p:nvSpPr>
          <p:cNvPr id="4" name="TextBox 3"/>
          <p:cNvSpPr txBox="1"/>
          <p:nvPr/>
        </p:nvSpPr>
        <p:spPr>
          <a:xfrm>
            <a:off x="667512" y="3264408"/>
            <a:ext cx="7772400" cy="645769"/>
          </a:xfrm>
          <a:prstGeom prst="rect">
            <a:avLst/>
          </a:prstGeom>
          <a:noFill/>
        </p:spPr>
        <p:txBody>
          <a:bodyPr wrap="square" lIns="0" rIns="0" tIns="0" bIns="0">
            <a:spAutoFit/>
          </a:bodyPr>
          <a:lstStyle/>
          <a:p>
            <a:pPr>
              <a:spcAft>
                <a:spcPts val="500"/>
              </a:spcAft>
              <a:defRPr sz="1930" b="0">
                <a:solidFill>
                  <a:srgbClr val="52677D"/>
                </a:solidFill>
                <a:latin typeface="Arial"/>
              </a:defRPr>
            </a:pPr>
            <a:r>
              <a:rPr cap="none"/>
              <a:t>Andy Zhang  •  Linbo He</a:t>
            </a:r>
          </a:p>
          <a:p>
            <a:pPr>
              <a:spcAft>
                <a:spcPts val="500"/>
              </a:spcAft>
              <a:defRPr sz="193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800" b="0">
                <a:solidFill>
                  <a:srgbClr val="52677D"/>
                </a:solidFill>
                <a:latin typeface="Arial"/>
              </a:defRPr>
            </a:pPr>
            <a:r>
              <a:rP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900" b="0">
                <a:solidFill>
                  <a:srgbClr val="52677D"/>
                </a:solidFill>
                <a:latin typeface="Arial"/>
              </a:defRPr>
            </a:pPr>
            <a:r>
              <a:rPr/>
              <a:t>49 / 49</a:t>
            </a:r>
          </a:p>
        </p:txBody>
      </p:sp>
    </p:spTree>
    <p:extLst>
      <p:ext uri="{BB962C8B-B14F-4D97-AF65-F5344CB8AC3E}">
        <p14:creationId xmlns:p14="http://schemas.microsoft.com/office/powerpoint/2010/main" val="3810862077"/>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